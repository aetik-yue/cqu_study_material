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15.fntdata" ContentType="application/x-fontdata"/>
  <Override PartName="/ppt/fonts/font16.fntdata" ContentType="application/x-fontdata"/>
  <Override PartName="/ppt/fonts/font17.fntdata" ContentType="application/x-fontdata"/>
  <Override PartName="/ppt/fonts/font18.fntdata" ContentType="application/x-fontdata"/>
  <Override PartName="/ppt/fonts/font19.fntdata" ContentType="application/x-fontdata"/>
  <Override PartName="/ppt/fonts/font2.fntdata" ContentType="application/x-fontdata"/>
  <Override PartName="/ppt/fonts/font20.fntdata" ContentType="application/x-fontdata"/>
  <Override PartName="/ppt/fonts/font21.fntdata" ContentType="application/x-fontdata"/>
  <Override PartName="/ppt/fonts/font22.fntdata" ContentType="application/x-fontdata"/>
  <Override PartName="/ppt/fonts/font23.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11.svg" ContentType="image/svg+xml"/>
  <Override PartName="/ppt/media/image16.webp" ContentType="image/webp"/>
  <Override PartName="/ppt/media/image22.svg" ContentType="image/svg+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4"/>
  </p:notesMasterIdLst>
  <p:sldIdLst>
    <p:sldId id="256" r:id="rId3"/>
    <p:sldId id="341" r:id="rId5"/>
    <p:sldId id="343" r:id="rId6"/>
    <p:sldId id="345" r:id="rId7"/>
    <p:sldId id="362" r:id="rId8"/>
    <p:sldId id="367" r:id="rId9"/>
    <p:sldId id="365" r:id="rId10"/>
    <p:sldId id="366" r:id="rId11"/>
    <p:sldId id="368" r:id="rId12"/>
    <p:sldId id="383" r:id="rId13"/>
    <p:sldId id="373" r:id="rId14"/>
    <p:sldId id="375" r:id="rId15"/>
    <p:sldId id="374" r:id="rId16"/>
    <p:sldId id="376" r:id="rId17"/>
    <p:sldId id="381" r:id="rId18"/>
    <p:sldId id="379" r:id="rId19"/>
    <p:sldId id="390" r:id="rId20"/>
    <p:sldId id="391" r:id="rId21"/>
    <p:sldId id="392" r:id="rId22"/>
    <p:sldId id="393" r:id="rId23"/>
    <p:sldId id="394" r:id="rId24"/>
    <p:sldId id="396" r:id="rId25"/>
    <p:sldId id="398" r:id="rId26"/>
    <p:sldId id="401" r:id="rId27"/>
    <p:sldId id="402" r:id="rId28"/>
    <p:sldId id="418" r:id="rId29"/>
    <p:sldId id="403" r:id="rId30"/>
    <p:sldId id="404" r:id="rId31"/>
    <p:sldId id="405" r:id="rId32"/>
    <p:sldId id="409" r:id="rId33"/>
    <p:sldId id="410" r:id="rId34"/>
    <p:sldId id="420" r:id="rId35"/>
    <p:sldId id="263" r:id="rId36"/>
  </p:sldIdLst>
  <p:sldSz cx="12192000" cy="6858000"/>
  <p:notesSz cx="6858000" cy="9144000"/>
  <p:embeddedFontLst>
    <p:embeddedFont>
      <p:font typeface="黑体" panose="02010609060101010101" charset="-122"/>
      <p:regular r:id="rId41"/>
    </p:embeddedFont>
    <p:embeddedFont>
      <p:font typeface="微软雅黑" panose="020B0503020204020204" pitchFamily="34" charset="-122"/>
      <p:regular r:id="rId42"/>
      <p:bold r:id="rId43"/>
    </p:embeddedFont>
    <p:embeddedFont>
      <p:font typeface="汉仪铸字美心体简" panose="00020600040101010101" charset="-122"/>
      <p:regular r:id="rId44"/>
    </p:embeddedFont>
    <p:embeddedFont>
      <p:font typeface="方正大黑简体" panose="02000000000000000000" charset="-122"/>
      <p:regular r:id="rId45"/>
    </p:embeddedFont>
    <p:embeddedFont>
      <p:font typeface="方正粗黑宋简体" panose="02000000000000000000" charset="-122"/>
      <p:regular r:id="rId46"/>
    </p:embeddedFont>
    <p:embeddedFont>
      <p:font typeface="方正楷体_GBK" panose="02000000000000000000" charset="-122"/>
      <p:regular r:id="rId47"/>
    </p:embeddedFont>
    <p:embeddedFont>
      <p:font typeface="华文行楷" panose="02010800040101010101" charset="-122"/>
      <p:regular r:id="rId48"/>
    </p:embeddedFont>
    <p:embeddedFont>
      <p:font typeface="Calibri" panose="020F0502020204030204" charset="0"/>
      <p:regular r:id="rId49"/>
      <p:bold r:id="rId50"/>
      <p:italic r:id="rId51"/>
      <p:boldItalic r:id="rId52"/>
    </p:embeddedFont>
    <p:embeddedFont>
      <p:font typeface="Bahnschrift Light" panose="020B0502040204020203" charset="0"/>
      <p:regular r:id="rId53"/>
    </p:embeddedFont>
    <p:embeddedFont>
      <p:font typeface="华文细黑" panose="02010600040101010101" charset="-122"/>
      <p:regular r:id="rId54"/>
    </p:embeddedFont>
    <p:embeddedFont>
      <p:font typeface="华文楷体" panose="02010600040101010101" pitchFamily="2" charset="-122"/>
      <p:regular r:id="rId55"/>
    </p:embeddedFont>
    <p:embeddedFont>
      <p:font typeface="等线" panose="02010600030101010101" charset="-122"/>
      <p:regular r:id="rId56"/>
      <p:bold r:id="rId57"/>
    </p:embeddedFont>
    <p:embeddedFont>
      <p:font typeface="等线 Light" panose="02010600030101010101" charset="-122"/>
      <p:regular r:id="rId58"/>
    </p:embeddedFont>
    <p:embeddedFont>
      <p:font typeface="楷体" panose="02010609060101010101" pitchFamily="49" charset="-122"/>
      <p:regular r:id="rId59"/>
    </p:embeddedFont>
    <p:embeddedFont>
      <p:font typeface="Calibri" panose="020F0502020204030204"/>
      <p:regular r:id="rId60"/>
      <p:bold r:id="rId61"/>
      <p:italic r:id="rId62"/>
      <p:boldItalic r:id="rId63"/>
    </p:embeddedFont>
  </p:embeddedFontLst>
  <p:custDataLst>
    <p:tags r:id="rId6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0"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660000"/>
    <a:srgbClr val="E9F6F8"/>
    <a:srgbClr val="004C9E"/>
    <a:srgbClr val="FFFDE7"/>
    <a:srgbClr val="5B9BD5"/>
    <a:srgbClr val="E6E6E6"/>
    <a:srgbClr val="D3BA6B"/>
    <a:srgbClr val="F9FAF6"/>
    <a:srgbClr val="A6A6A6"/>
    <a:srgbClr val="AEAEA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66" d="100"/>
          <a:sy n="66" d="100"/>
        </p:scale>
        <p:origin x="422" y="55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4" Type="http://schemas.openxmlformats.org/officeDocument/2006/relationships/tags" Target="tags/tag34.xml"/><Relationship Id="rId63" Type="http://schemas.openxmlformats.org/officeDocument/2006/relationships/font" Target="fonts/font23.fntdata"/><Relationship Id="rId62" Type="http://schemas.openxmlformats.org/officeDocument/2006/relationships/font" Target="fonts/font22.fntdata"/><Relationship Id="rId61" Type="http://schemas.openxmlformats.org/officeDocument/2006/relationships/font" Target="fonts/font21.fntdata"/><Relationship Id="rId60" Type="http://schemas.openxmlformats.org/officeDocument/2006/relationships/font" Target="fonts/font20.fntdata"/><Relationship Id="rId6" Type="http://schemas.openxmlformats.org/officeDocument/2006/relationships/slide" Target="slides/slide3.xml"/><Relationship Id="rId59" Type="http://schemas.openxmlformats.org/officeDocument/2006/relationships/font" Target="fonts/font19.fntdata"/><Relationship Id="rId58" Type="http://schemas.openxmlformats.org/officeDocument/2006/relationships/font" Target="fonts/font18.fntdata"/><Relationship Id="rId57" Type="http://schemas.openxmlformats.org/officeDocument/2006/relationships/font" Target="fonts/font17.fntdata"/><Relationship Id="rId56" Type="http://schemas.openxmlformats.org/officeDocument/2006/relationships/font" Target="fonts/font16.fntdata"/><Relationship Id="rId55" Type="http://schemas.openxmlformats.org/officeDocument/2006/relationships/font" Target="fonts/font15.fntdata"/><Relationship Id="rId54" Type="http://schemas.openxmlformats.org/officeDocument/2006/relationships/font" Target="fonts/font14.fntdata"/><Relationship Id="rId53" Type="http://schemas.openxmlformats.org/officeDocument/2006/relationships/font" Target="fonts/font13.fntdata"/><Relationship Id="rId52" Type="http://schemas.openxmlformats.org/officeDocument/2006/relationships/font" Target="fonts/font12.fntdata"/><Relationship Id="rId51" Type="http://schemas.openxmlformats.org/officeDocument/2006/relationships/font" Target="fonts/font11.fntdata"/><Relationship Id="rId50" Type="http://schemas.openxmlformats.org/officeDocument/2006/relationships/font" Target="fonts/font10.fntdata"/><Relationship Id="rId5" Type="http://schemas.openxmlformats.org/officeDocument/2006/relationships/slide" Target="slides/slide2.xml"/><Relationship Id="rId49" Type="http://schemas.openxmlformats.org/officeDocument/2006/relationships/font" Target="fonts/font9.fntdata"/><Relationship Id="rId48" Type="http://schemas.openxmlformats.org/officeDocument/2006/relationships/font" Target="fonts/font8.fntdata"/><Relationship Id="rId47" Type="http://schemas.openxmlformats.org/officeDocument/2006/relationships/font" Target="fonts/font7.fntdata"/><Relationship Id="rId46" Type="http://schemas.openxmlformats.org/officeDocument/2006/relationships/font" Target="fonts/font6.fntdata"/><Relationship Id="rId45" Type="http://schemas.openxmlformats.org/officeDocument/2006/relationships/font" Target="fonts/font5.fntdata"/><Relationship Id="rId44" Type="http://schemas.openxmlformats.org/officeDocument/2006/relationships/font" Target="fonts/font4.fntdata"/><Relationship Id="rId43" Type="http://schemas.openxmlformats.org/officeDocument/2006/relationships/font" Target="fonts/font3.fntdata"/><Relationship Id="rId42" Type="http://schemas.openxmlformats.org/officeDocument/2006/relationships/font" Target="fonts/font2.fntdata"/><Relationship Id="rId41" Type="http://schemas.openxmlformats.org/officeDocument/2006/relationships/font" Target="fonts/font1.fntdata"/><Relationship Id="rId40" Type="http://schemas.openxmlformats.org/officeDocument/2006/relationships/commentAuthors" Target="commentAuthors.xml"/><Relationship Id="rId4" Type="http://schemas.openxmlformats.org/officeDocument/2006/relationships/notesMaster" Target="notesMasters/notesMaster1.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855365B7-FDB0-4531-9BA8-C9E46FCB432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0C40F59-DB9F-42C9-8670-FD5C2598E646}" type="slidenum">
              <a:rPr lang="zh-CN" altLang="en-US" smtClean="0"/>
            </a:fld>
            <a:endParaRPr lang="zh-CN" altLang="en-US"/>
          </a:p>
        </p:txBody>
      </p:sp>
      <p:grpSp>
        <p:nvGrpSpPr>
          <p:cNvPr id="7" name="组合 6"/>
          <p:cNvGrpSpPr/>
          <p:nvPr userDrawn="1"/>
        </p:nvGrpSpPr>
        <p:grpSpPr>
          <a:xfrm>
            <a:off x="2540" y="-22860"/>
            <a:ext cx="12192000" cy="6858000"/>
            <a:chOff x="0" y="0"/>
            <a:chExt cx="12192000" cy="6858000"/>
          </a:xfrm>
        </p:grpSpPr>
        <p:sp>
          <p:nvSpPr>
            <p:cNvPr id="8" name="直角三角形 7"/>
            <p:cNvSpPr/>
            <p:nvPr userDrawn="1"/>
          </p:nvSpPr>
          <p:spPr>
            <a:xfrm>
              <a:off x="0" y="3165895"/>
              <a:ext cx="3692105" cy="3692105"/>
            </a:xfrm>
            <a:prstGeom prst="rtTriangle">
              <a:avLst/>
            </a:prstGeom>
            <a:solidFill>
              <a:srgbClr val="004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4B9D"/>
                </a:solidFill>
              </a:endParaRPr>
            </a:p>
          </p:txBody>
        </p:sp>
        <p:sp>
          <p:nvSpPr>
            <p:cNvPr id="9" name="直角三角形 8"/>
            <p:cNvSpPr/>
            <p:nvPr userDrawn="1"/>
          </p:nvSpPr>
          <p:spPr>
            <a:xfrm rot="10800000">
              <a:off x="8499895" y="0"/>
              <a:ext cx="3692105" cy="3692105"/>
            </a:xfrm>
            <a:prstGeom prst="rtTriangle">
              <a:avLst/>
            </a:prstGeom>
            <a:solidFill>
              <a:srgbClr val="004B9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组合 9"/>
            <p:cNvGrpSpPr/>
            <p:nvPr/>
          </p:nvGrpSpPr>
          <p:grpSpPr>
            <a:xfrm>
              <a:off x="490484" y="441960"/>
              <a:ext cx="11211033" cy="6019801"/>
              <a:chOff x="490484" y="441960"/>
              <a:chExt cx="11211033" cy="6019801"/>
            </a:xfrm>
          </p:grpSpPr>
          <p:pic>
            <p:nvPicPr>
              <p:cNvPr id="11" name="图片 10"/>
              <p:cNvPicPr>
                <a:picLocks noChangeAspect="1"/>
              </p:cNvPicPr>
              <p:nvPr userDrawn="1"/>
            </p:nvPicPr>
            <p:blipFill rotWithShape="1">
              <a:blip r:embed="rId2">
                <a:extLst>
                  <a:ext uri="{28A0092B-C50C-407E-A947-70E740481C1C}">
                    <a14:useLocalDpi xmlns:a14="http://schemas.microsoft.com/office/drawing/2010/main" val="0"/>
                  </a:ext>
                </a:extLst>
              </a:blip>
              <a:srcRect l="1515" t="4277" r="530" b="14319"/>
              <a:stretch>
                <a:fillRect/>
              </a:stretch>
            </p:blipFill>
            <p:spPr>
              <a:xfrm>
                <a:off x="490484" y="441960"/>
                <a:ext cx="11211033" cy="6019801"/>
              </a:xfrm>
              <a:prstGeom prst="rect">
                <a:avLst/>
              </a:prstGeom>
              <a:effectLst>
                <a:outerShdw blurRad="355600" dist="139700" dir="2700000" algn="tl" rotWithShape="0">
                  <a:prstClr val="black">
                    <a:alpha val="61000"/>
                  </a:prstClr>
                </a:outerShdw>
              </a:effectLst>
            </p:spPr>
          </p:pic>
          <p:sp>
            <p:nvSpPr>
              <p:cNvPr id="12" name="矩形 11"/>
              <p:cNvSpPr/>
              <p:nvPr/>
            </p:nvSpPr>
            <p:spPr>
              <a:xfrm>
                <a:off x="490484" y="441960"/>
                <a:ext cx="11211032" cy="6019801"/>
              </a:xfrm>
              <a:prstGeom prst="rect">
                <a:avLst/>
              </a:prstGeom>
              <a:solidFill>
                <a:srgbClr val="FFFEF7">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solidFill>
                    <a:srgbClr val="004C9E"/>
                  </a:solidFill>
                  <a:latin typeface="微软雅黑" panose="020B0503020204020204" pitchFamily="34" charset="-122"/>
                  <a:ea typeface="微软雅黑" panose="020B0503020204020204" pitchFamily="34" charset="-122"/>
                </a:endParaRPr>
              </a:p>
            </p:txBody>
          </p:sp>
        </p:grpSp>
      </p:grpSp>
      <p:sp>
        <p:nvSpPr>
          <p:cNvPr id="13" name="矩形 12"/>
          <p:cNvSpPr/>
          <p:nvPr userDrawn="1"/>
        </p:nvSpPr>
        <p:spPr>
          <a:xfrm>
            <a:off x="492760" y="429260"/>
            <a:ext cx="11211560" cy="6005195"/>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 name="图片 1" descr="图片1"/>
          <p:cNvPicPr>
            <a:picLocks noChangeAspect="1"/>
          </p:cNvPicPr>
          <p:nvPr userDrawn="1"/>
        </p:nvPicPr>
        <p:blipFill>
          <a:blip r:embed="rId3"/>
          <a:stretch>
            <a:fillRect/>
          </a:stretch>
        </p:blipFill>
        <p:spPr>
          <a:xfrm>
            <a:off x="480060" y="424815"/>
            <a:ext cx="512445" cy="51244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55365B7-FDB0-4531-9BA8-C9E46FCB432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0C40F59-DB9F-42C9-8670-FD5C2598E646}"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endParaRPr lang="zh-CN" altLang="en-US" smtClean="0"/>
          </a:p>
        </p:txBody>
      </p:sp>
      <p:sp>
        <p:nvSpPr>
          <p:cNvPr id="4" name="日期占位符 3"/>
          <p:cNvSpPr>
            <a:spLocks noGrp="1"/>
          </p:cNvSpPr>
          <p:nvPr>
            <p:ph type="dt" sz="half" idx="10"/>
          </p:nvPr>
        </p:nvSpPr>
        <p:spPr/>
        <p:txBody>
          <a:bodyPr/>
          <a:lstStyle/>
          <a:p>
            <a:fld id="{855365B7-FDB0-4531-9BA8-C9E46FCB432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0C40F59-DB9F-42C9-8670-FD5C2598E646}"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55365B7-FDB0-4531-9BA8-C9E46FCB432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0C40F59-DB9F-42C9-8670-FD5C2598E646}"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55365B7-FDB0-4531-9BA8-C9E46FCB4329}"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0C40F59-DB9F-42C9-8670-FD5C2598E646}"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55365B7-FDB0-4531-9BA8-C9E46FCB4329}"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0C40F59-DB9F-42C9-8670-FD5C2598E646}"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55365B7-FDB0-4531-9BA8-C9E46FCB4329}"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0C40F59-DB9F-42C9-8670-FD5C2598E646}"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
        <p:nvSpPr>
          <p:cNvPr id="5" name="日期占位符 4"/>
          <p:cNvSpPr>
            <a:spLocks noGrp="1"/>
          </p:cNvSpPr>
          <p:nvPr>
            <p:ph type="dt" sz="half" idx="10"/>
          </p:nvPr>
        </p:nvSpPr>
        <p:spPr/>
        <p:txBody>
          <a:bodyPr/>
          <a:lstStyle/>
          <a:p>
            <a:fld id="{855365B7-FDB0-4531-9BA8-C9E46FCB432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0C40F59-DB9F-42C9-8670-FD5C2598E646}"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
        <p:nvSpPr>
          <p:cNvPr id="5" name="日期占位符 4"/>
          <p:cNvSpPr>
            <a:spLocks noGrp="1"/>
          </p:cNvSpPr>
          <p:nvPr>
            <p:ph type="dt" sz="half" idx="10"/>
          </p:nvPr>
        </p:nvSpPr>
        <p:spPr/>
        <p:txBody>
          <a:bodyPr/>
          <a:lstStyle/>
          <a:p>
            <a:fld id="{855365B7-FDB0-4531-9BA8-C9E46FCB432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0C40F59-DB9F-42C9-8670-FD5C2598E646}"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55365B7-FDB0-4531-9BA8-C9E46FCB432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0C40F59-DB9F-42C9-8670-FD5C2598E646}"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55365B7-FDB0-4531-9BA8-C9E46FCB432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0C40F59-DB9F-42C9-8670-FD5C2598E646}"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段文字版式">
    <p:bg>
      <p:bgPr>
        <a:pattFill prst="dotGrid">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19" name="任意多边形: 形状 18"/>
          <p:cNvSpPr/>
          <p:nvPr userDrawn="1"/>
        </p:nvSpPr>
        <p:spPr>
          <a:xfrm>
            <a:off x="3" y="243694"/>
            <a:ext cx="12191999" cy="579395"/>
          </a:xfrm>
          <a:custGeom>
            <a:avLst/>
            <a:gdLst>
              <a:gd name="connsiteX0" fmla="*/ 9472293 w 9486459"/>
              <a:gd name="connsiteY0" fmla="*/ 0 h 579395"/>
              <a:gd name="connsiteX1" fmla="*/ 9486459 w 9486459"/>
              <a:gd name="connsiteY1" fmla="*/ 0 h 579395"/>
              <a:gd name="connsiteX2" fmla="*/ 9122539 w 9486459"/>
              <a:gd name="connsiteY2" fmla="*/ 579395 h 579395"/>
              <a:gd name="connsiteX3" fmla="*/ 9108373 w 9486459"/>
              <a:gd name="connsiteY3" fmla="*/ 579395 h 579395"/>
              <a:gd name="connsiteX4" fmla="*/ 9383852 w 9486459"/>
              <a:gd name="connsiteY4" fmla="*/ 0 h 579395"/>
              <a:gd name="connsiteX5" fmla="*/ 9434831 w 9486459"/>
              <a:gd name="connsiteY5" fmla="*/ 0 h 579395"/>
              <a:gd name="connsiteX6" fmla="*/ 9070911 w 9486459"/>
              <a:gd name="connsiteY6" fmla="*/ 579395 h 579395"/>
              <a:gd name="connsiteX7" fmla="*/ 9019932 w 9486459"/>
              <a:gd name="connsiteY7" fmla="*/ 579395 h 579395"/>
              <a:gd name="connsiteX8" fmla="*/ 0 w 9486459"/>
              <a:gd name="connsiteY8" fmla="*/ 0 h 579395"/>
              <a:gd name="connsiteX9" fmla="*/ 9345418 w 9486459"/>
              <a:gd name="connsiteY9" fmla="*/ 0 h 579395"/>
              <a:gd name="connsiteX10" fmla="*/ 8977879 w 9486459"/>
              <a:gd name="connsiteY10" fmla="*/ 579395 h 579395"/>
              <a:gd name="connsiteX11" fmla="*/ 0 w 9486459"/>
              <a:gd name="connsiteY11" fmla="*/ 579395 h 579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86459" h="579395">
                <a:moveTo>
                  <a:pt x="9472293" y="0"/>
                </a:moveTo>
                <a:lnTo>
                  <a:pt x="9486459" y="0"/>
                </a:lnTo>
                <a:lnTo>
                  <a:pt x="9122539" y="579395"/>
                </a:lnTo>
                <a:lnTo>
                  <a:pt x="9108373" y="579395"/>
                </a:lnTo>
                <a:close/>
                <a:moveTo>
                  <a:pt x="9383852" y="0"/>
                </a:moveTo>
                <a:lnTo>
                  <a:pt x="9434831" y="0"/>
                </a:lnTo>
                <a:lnTo>
                  <a:pt x="9070911" y="579395"/>
                </a:lnTo>
                <a:lnTo>
                  <a:pt x="9019932" y="579395"/>
                </a:lnTo>
                <a:close/>
                <a:moveTo>
                  <a:pt x="0" y="0"/>
                </a:moveTo>
                <a:lnTo>
                  <a:pt x="9345418" y="0"/>
                </a:lnTo>
                <a:lnTo>
                  <a:pt x="8977879" y="579395"/>
                </a:lnTo>
                <a:lnTo>
                  <a:pt x="0" y="579395"/>
                </a:lnTo>
                <a:close/>
              </a:path>
            </a:pathLst>
          </a:custGeom>
          <a:pattFill prst="wdUpDiag">
            <a:fgClr>
              <a:srgbClr val="00449A"/>
            </a:fgClr>
            <a:bgClr>
              <a:srgbClr val="003A8F"/>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noAutofit/>
          </a:bodyPr>
          <a:lstStyle/>
          <a:p>
            <a:pPr lvl="0" algn="ctr"/>
            <a:endParaRPr lang="zh-CN" altLang="en-US" sz="1350" dirty="0">
              <a:solidFill>
                <a:srgbClr val="0064B8"/>
              </a:solidFill>
            </a:endParaRPr>
          </a:p>
        </p:txBody>
      </p:sp>
      <p:grpSp>
        <p:nvGrpSpPr>
          <p:cNvPr id="4" name="组合 3"/>
          <p:cNvGrpSpPr/>
          <p:nvPr userDrawn="1"/>
        </p:nvGrpSpPr>
        <p:grpSpPr>
          <a:xfrm>
            <a:off x="443029" y="435940"/>
            <a:ext cx="257171" cy="208413"/>
            <a:chOff x="337460" y="322200"/>
            <a:chExt cx="257171" cy="208413"/>
          </a:xfrm>
        </p:grpSpPr>
        <p:sp>
          <p:nvSpPr>
            <p:cNvPr id="5" name="箭头: V 形 4"/>
            <p:cNvSpPr/>
            <p:nvPr userDrawn="1"/>
          </p:nvSpPr>
          <p:spPr>
            <a:xfrm>
              <a:off x="424769" y="322200"/>
              <a:ext cx="169862" cy="208413"/>
            </a:xfrm>
            <a:prstGeom prst="chevron">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chemeClr val="tx1"/>
                </a:solidFill>
              </a:endParaRPr>
            </a:p>
          </p:txBody>
        </p:sp>
        <p:sp>
          <p:nvSpPr>
            <p:cNvPr id="6" name="任意多边形: 形状 5"/>
            <p:cNvSpPr/>
            <p:nvPr userDrawn="1"/>
          </p:nvSpPr>
          <p:spPr>
            <a:xfrm>
              <a:off x="371973" y="322200"/>
              <a:ext cx="120110" cy="208413"/>
            </a:xfrm>
            <a:custGeom>
              <a:avLst/>
              <a:gdLst>
                <a:gd name="connsiteX0" fmla="*/ 0 w 120110"/>
                <a:gd name="connsiteY0" fmla="*/ 0 h 208413"/>
                <a:gd name="connsiteX1" fmla="*/ 35179 w 120110"/>
                <a:gd name="connsiteY1" fmla="*/ 0 h 208413"/>
                <a:gd name="connsiteX2" fmla="*/ 120110 w 120110"/>
                <a:gd name="connsiteY2" fmla="*/ 104207 h 208413"/>
                <a:gd name="connsiteX3" fmla="*/ 35179 w 120110"/>
                <a:gd name="connsiteY3" fmla="*/ 208413 h 208413"/>
                <a:gd name="connsiteX4" fmla="*/ 0 w 120110"/>
                <a:gd name="connsiteY4" fmla="*/ 208413 h 208413"/>
                <a:gd name="connsiteX5" fmla="*/ 84931 w 120110"/>
                <a:gd name="connsiteY5" fmla="*/ 104207 h 208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0110" h="208413">
                  <a:moveTo>
                    <a:pt x="0" y="0"/>
                  </a:moveTo>
                  <a:lnTo>
                    <a:pt x="35179" y="0"/>
                  </a:lnTo>
                  <a:lnTo>
                    <a:pt x="120110" y="104207"/>
                  </a:lnTo>
                  <a:lnTo>
                    <a:pt x="35179" y="208413"/>
                  </a:lnTo>
                  <a:lnTo>
                    <a:pt x="0" y="208413"/>
                  </a:lnTo>
                  <a:lnTo>
                    <a:pt x="84931" y="104207"/>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chemeClr val="tx1"/>
                </a:solidFill>
              </a:endParaRPr>
            </a:p>
          </p:txBody>
        </p:sp>
        <p:sp>
          <p:nvSpPr>
            <p:cNvPr id="7" name="任意多边形: 形状 6"/>
            <p:cNvSpPr/>
            <p:nvPr userDrawn="1"/>
          </p:nvSpPr>
          <p:spPr>
            <a:xfrm>
              <a:off x="337460" y="322200"/>
              <a:ext cx="101826" cy="208413"/>
            </a:xfrm>
            <a:custGeom>
              <a:avLst/>
              <a:gdLst>
                <a:gd name="connsiteX0" fmla="*/ 0 w 101826"/>
                <a:gd name="connsiteY0" fmla="*/ 0 h 208413"/>
                <a:gd name="connsiteX1" fmla="*/ 16895 w 101826"/>
                <a:gd name="connsiteY1" fmla="*/ 0 h 208413"/>
                <a:gd name="connsiteX2" fmla="*/ 101826 w 101826"/>
                <a:gd name="connsiteY2" fmla="*/ 104207 h 208413"/>
                <a:gd name="connsiteX3" fmla="*/ 16895 w 101826"/>
                <a:gd name="connsiteY3" fmla="*/ 208413 h 208413"/>
                <a:gd name="connsiteX4" fmla="*/ 0 w 101826"/>
                <a:gd name="connsiteY4" fmla="*/ 208413 h 208413"/>
                <a:gd name="connsiteX5" fmla="*/ 84931 w 101826"/>
                <a:gd name="connsiteY5" fmla="*/ 104207 h 208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1826" h="208413">
                  <a:moveTo>
                    <a:pt x="0" y="0"/>
                  </a:moveTo>
                  <a:lnTo>
                    <a:pt x="16895" y="0"/>
                  </a:lnTo>
                  <a:lnTo>
                    <a:pt x="101826" y="104207"/>
                  </a:lnTo>
                  <a:lnTo>
                    <a:pt x="16895" y="208413"/>
                  </a:lnTo>
                  <a:lnTo>
                    <a:pt x="0" y="208413"/>
                  </a:lnTo>
                  <a:lnTo>
                    <a:pt x="84931" y="104207"/>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chemeClr val="tx1"/>
                </a:solidFill>
              </a:endParaRPr>
            </a:p>
          </p:txBody>
        </p:sp>
      </p:grpSp>
      <p:sp>
        <p:nvSpPr>
          <p:cNvPr id="12" name="文本占位符 11"/>
          <p:cNvSpPr>
            <a:spLocks noGrp="1"/>
          </p:cNvSpPr>
          <p:nvPr>
            <p:ph type="body" sz="quarter" idx="12" hasCustomPrompt="1"/>
          </p:nvPr>
        </p:nvSpPr>
        <p:spPr>
          <a:xfrm>
            <a:off x="660401" y="315258"/>
            <a:ext cx="7601971" cy="507831"/>
          </a:xfrm>
          <a:prstGeom prst="rect">
            <a:avLst/>
          </a:prstGeom>
        </p:spPr>
        <p:txBody>
          <a:bodyPr/>
          <a:lstStyle>
            <a:lvl1pPr marL="0" indent="0">
              <a:buFontTx/>
              <a:buNone/>
              <a:defRPr sz="1575" b="1" spc="169">
                <a:solidFill>
                  <a:schemeClr val="bg1"/>
                </a:solidFill>
                <a:latin typeface="+mj-ea"/>
                <a:ea typeface="+mj-ea"/>
              </a:defRPr>
            </a:lvl1pPr>
            <a:lvl2pPr marL="257175" indent="0">
              <a:buFontTx/>
              <a:buNone/>
              <a:defRPr sz="1575" b="1">
                <a:solidFill>
                  <a:schemeClr val="bg1"/>
                </a:solidFill>
                <a:latin typeface="+mj-ea"/>
                <a:ea typeface="+mj-ea"/>
              </a:defRPr>
            </a:lvl2pPr>
            <a:lvl3pPr marL="514350" indent="0">
              <a:buFontTx/>
              <a:buNone/>
              <a:defRPr sz="1575" b="1">
                <a:solidFill>
                  <a:schemeClr val="bg1"/>
                </a:solidFill>
                <a:latin typeface="+mj-ea"/>
                <a:ea typeface="+mj-ea"/>
              </a:defRPr>
            </a:lvl3pPr>
            <a:lvl4pPr marL="771525" indent="0">
              <a:buFontTx/>
              <a:buNone/>
              <a:defRPr sz="1575" b="1">
                <a:solidFill>
                  <a:schemeClr val="bg1"/>
                </a:solidFill>
                <a:latin typeface="+mj-ea"/>
                <a:ea typeface="+mj-ea"/>
              </a:defRPr>
            </a:lvl4pPr>
            <a:lvl5pPr marL="1028700" indent="0">
              <a:buFontTx/>
              <a:buNone/>
              <a:defRPr sz="1575" b="1">
                <a:solidFill>
                  <a:schemeClr val="bg1"/>
                </a:solidFill>
                <a:latin typeface="+mj-ea"/>
                <a:ea typeface="+mj-ea"/>
              </a:defRPr>
            </a:lvl5pPr>
          </a:lstStyle>
          <a:p>
            <a:pPr lvl="0"/>
            <a:r>
              <a:rPr lang="en-US" altLang="zh-CN" dirty="0"/>
              <a:t>Click to edit Master title style</a:t>
            </a:r>
            <a:endParaRPr lang="en-US" altLang="zh-CN" dirty="0"/>
          </a:p>
        </p:txBody>
      </p:sp>
      <p:sp>
        <p:nvSpPr>
          <p:cNvPr id="14" name="矩形 13"/>
          <p:cNvSpPr/>
          <p:nvPr userDrawn="1"/>
        </p:nvSpPr>
        <p:spPr>
          <a:xfrm>
            <a:off x="5133733" y="6405430"/>
            <a:ext cx="1906169" cy="229870"/>
          </a:xfrm>
          <a:prstGeom prst="rect">
            <a:avLst/>
          </a:prstGeom>
        </p:spPr>
        <p:txBody>
          <a:bodyPr wrap="square" anchor="ctr" anchorCtr="0">
            <a:spAutoFit/>
          </a:bodyPr>
          <a:lstStyle/>
          <a:p>
            <a:pPr algn="ctr"/>
            <a:r>
              <a:rPr lang="en-US" altLang="zh-CN" sz="900" b="1" spc="169" dirty="0">
                <a:solidFill>
                  <a:schemeClr val="tx2"/>
                </a:solidFill>
                <a:latin typeface="+mj-ea"/>
                <a:ea typeface="+mj-ea"/>
              </a:rPr>
              <a:t>《</a:t>
            </a:r>
            <a:r>
              <a:rPr lang="zh-CN" altLang="en-US" sz="900" b="1" spc="169" dirty="0">
                <a:solidFill>
                  <a:schemeClr val="tx2"/>
                </a:solidFill>
                <a:latin typeface="+mj-ea"/>
                <a:ea typeface="+mj-ea"/>
              </a:rPr>
              <a:t>操作系统</a:t>
            </a:r>
            <a:r>
              <a:rPr lang="en-US" altLang="zh-CN" sz="900" b="1" spc="169" dirty="0">
                <a:solidFill>
                  <a:schemeClr val="tx2"/>
                </a:solidFill>
                <a:latin typeface="+mj-ea"/>
                <a:ea typeface="+mj-ea"/>
              </a:rPr>
              <a:t>》</a:t>
            </a:r>
            <a:endParaRPr lang="zh-CN" altLang="en-US" sz="900" b="1" spc="169" dirty="0">
              <a:solidFill>
                <a:schemeClr val="tx2"/>
              </a:solidFill>
              <a:latin typeface="+mj-ea"/>
              <a:ea typeface="+mj-ea"/>
            </a:endParaRPr>
          </a:p>
        </p:txBody>
      </p:sp>
      <p:grpSp>
        <p:nvGrpSpPr>
          <p:cNvPr id="17" name="组合 16"/>
          <p:cNvGrpSpPr/>
          <p:nvPr userDrawn="1"/>
        </p:nvGrpSpPr>
        <p:grpSpPr>
          <a:xfrm>
            <a:off x="666751" y="6520363"/>
            <a:ext cx="10858500" cy="0"/>
            <a:chOff x="666750" y="6520363"/>
            <a:chExt cx="10858500" cy="0"/>
          </a:xfrm>
        </p:grpSpPr>
        <p:cxnSp>
          <p:nvCxnSpPr>
            <p:cNvPr id="15" name="直接连接符 14"/>
            <p:cNvCxnSpPr/>
            <p:nvPr userDrawn="1"/>
          </p:nvCxnSpPr>
          <p:spPr>
            <a:xfrm flipH="1">
              <a:off x="7049084" y="6520363"/>
              <a:ext cx="4476166" cy="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nvCxnSpPr>
          <p:spPr>
            <a:xfrm flipH="1">
              <a:off x="666750" y="6520363"/>
              <a:ext cx="4476166" cy="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1" name="内容占位符 2"/>
          <p:cNvSpPr>
            <a:spLocks noGrp="1"/>
          </p:cNvSpPr>
          <p:nvPr>
            <p:ph sz="quarter" idx="13"/>
          </p:nvPr>
        </p:nvSpPr>
        <p:spPr>
          <a:xfrm>
            <a:off x="850905" y="1304142"/>
            <a:ext cx="10674351" cy="370501"/>
          </a:xfrm>
          <a:prstGeom prst="rect">
            <a:avLst/>
          </a:prstGeom>
        </p:spPr>
        <p:txBody>
          <a:bodyPr/>
          <a:lstStyle>
            <a:lvl1pPr marL="0" indent="0">
              <a:buFontTx/>
              <a:buNone/>
              <a:defRPr sz="1350" b="1">
                <a:solidFill>
                  <a:schemeClr val="tx2"/>
                </a:solidFill>
                <a:latin typeface="+mj-ea"/>
                <a:ea typeface="+mj-ea"/>
              </a:defRPr>
            </a:lvl1pPr>
            <a:lvl2pPr marL="257175" indent="0">
              <a:buFontTx/>
              <a:buNone/>
              <a:defRPr sz="1350" b="1">
                <a:solidFill>
                  <a:schemeClr val="tx1"/>
                </a:solidFill>
                <a:latin typeface="+mj-ea"/>
                <a:ea typeface="+mj-ea"/>
              </a:defRPr>
            </a:lvl2pPr>
            <a:lvl3pPr marL="514350" indent="0">
              <a:buFontTx/>
              <a:buNone/>
              <a:defRPr sz="1350" b="1">
                <a:solidFill>
                  <a:schemeClr val="tx1"/>
                </a:solidFill>
                <a:latin typeface="+mj-ea"/>
                <a:ea typeface="+mj-ea"/>
              </a:defRPr>
            </a:lvl3pPr>
            <a:lvl4pPr marL="771525" indent="0">
              <a:buFontTx/>
              <a:buNone/>
              <a:defRPr sz="1350" b="1">
                <a:solidFill>
                  <a:schemeClr val="tx1"/>
                </a:solidFill>
                <a:latin typeface="+mj-ea"/>
                <a:ea typeface="+mj-ea"/>
              </a:defRPr>
            </a:lvl4pPr>
            <a:lvl5pPr marL="1028700" indent="0">
              <a:buFontTx/>
              <a:buNone/>
              <a:defRPr sz="1350" b="1">
                <a:solidFill>
                  <a:schemeClr val="tx1"/>
                </a:solidFill>
                <a:latin typeface="+mj-ea"/>
                <a:ea typeface="+mj-ea"/>
              </a:defRPr>
            </a:lvl5pPr>
          </a:lstStyle>
          <a:p>
            <a:pPr lvl="0"/>
            <a:r>
              <a:rPr lang="zh-CN" altLang="en-US" dirty="0"/>
              <a:t>单击此处编辑母版文本样式</a:t>
            </a:r>
            <a:endParaRPr lang="zh-CN" altLang="en-US" dirty="0"/>
          </a:p>
        </p:txBody>
      </p:sp>
      <p:pic>
        <p:nvPicPr>
          <p:cNvPr id="18" name="Picture 17"/>
          <p:cNvPicPr>
            <a:picLocks noChangeAspect="1"/>
          </p:cNvPicPr>
          <p:nvPr userDrawn="1"/>
        </p:nvPicPr>
        <p:blipFill>
          <a:blip r:embed="rId2"/>
          <a:stretch>
            <a:fillRect/>
          </a:stretch>
        </p:blipFill>
        <p:spPr>
          <a:xfrm>
            <a:off x="10032437" y="5903958"/>
            <a:ext cx="1953155" cy="616409"/>
          </a:xfrm>
          <a:prstGeom prst="rect">
            <a:avLst/>
          </a:prstGeom>
        </p:spPr>
      </p:pic>
    </p:spTree>
  </p:cSld>
  <p:clrMapOvr>
    <a:masterClrMapping/>
  </p:clrMapOvr>
  <p:transition spd="med">
    <p:rand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1段文字版式">
    <p:bg>
      <p:bgPr>
        <a:pattFill prst="dotGrid">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19" name="任意多边形: 形状 18"/>
          <p:cNvSpPr/>
          <p:nvPr userDrawn="1"/>
        </p:nvSpPr>
        <p:spPr>
          <a:xfrm>
            <a:off x="0" y="243694"/>
            <a:ext cx="12192000" cy="579395"/>
          </a:xfrm>
          <a:custGeom>
            <a:avLst/>
            <a:gdLst>
              <a:gd name="connsiteX0" fmla="*/ 9472293 w 9486459"/>
              <a:gd name="connsiteY0" fmla="*/ 0 h 579395"/>
              <a:gd name="connsiteX1" fmla="*/ 9486459 w 9486459"/>
              <a:gd name="connsiteY1" fmla="*/ 0 h 579395"/>
              <a:gd name="connsiteX2" fmla="*/ 9122539 w 9486459"/>
              <a:gd name="connsiteY2" fmla="*/ 579395 h 579395"/>
              <a:gd name="connsiteX3" fmla="*/ 9108373 w 9486459"/>
              <a:gd name="connsiteY3" fmla="*/ 579395 h 579395"/>
              <a:gd name="connsiteX4" fmla="*/ 9383852 w 9486459"/>
              <a:gd name="connsiteY4" fmla="*/ 0 h 579395"/>
              <a:gd name="connsiteX5" fmla="*/ 9434831 w 9486459"/>
              <a:gd name="connsiteY5" fmla="*/ 0 h 579395"/>
              <a:gd name="connsiteX6" fmla="*/ 9070911 w 9486459"/>
              <a:gd name="connsiteY6" fmla="*/ 579395 h 579395"/>
              <a:gd name="connsiteX7" fmla="*/ 9019932 w 9486459"/>
              <a:gd name="connsiteY7" fmla="*/ 579395 h 579395"/>
              <a:gd name="connsiteX8" fmla="*/ 0 w 9486459"/>
              <a:gd name="connsiteY8" fmla="*/ 0 h 579395"/>
              <a:gd name="connsiteX9" fmla="*/ 9345418 w 9486459"/>
              <a:gd name="connsiteY9" fmla="*/ 0 h 579395"/>
              <a:gd name="connsiteX10" fmla="*/ 8977879 w 9486459"/>
              <a:gd name="connsiteY10" fmla="*/ 579395 h 579395"/>
              <a:gd name="connsiteX11" fmla="*/ 0 w 9486459"/>
              <a:gd name="connsiteY11" fmla="*/ 579395 h 579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86459" h="579395">
                <a:moveTo>
                  <a:pt x="9472293" y="0"/>
                </a:moveTo>
                <a:lnTo>
                  <a:pt x="9486459" y="0"/>
                </a:lnTo>
                <a:lnTo>
                  <a:pt x="9122539" y="579395"/>
                </a:lnTo>
                <a:lnTo>
                  <a:pt x="9108373" y="579395"/>
                </a:lnTo>
                <a:close/>
                <a:moveTo>
                  <a:pt x="9383852" y="0"/>
                </a:moveTo>
                <a:lnTo>
                  <a:pt x="9434831" y="0"/>
                </a:lnTo>
                <a:lnTo>
                  <a:pt x="9070911" y="579395"/>
                </a:lnTo>
                <a:lnTo>
                  <a:pt x="9019932" y="579395"/>
                </a:lnTo>
                <a:close/>
                <a:moveTo>
                  <a:pt x="0" y="0"/>
                </a:moveTo>
                <a:lnTo>
                  <a:pt x="9345418" y="0"/>
                </a:lnTo>
                <a:lnTo>
                  <a:pt x="8977879" y="579395"/>
                </a:lnTo>
                <a:lnTo>
                  <a:pt x="0" y="579395"/>
                </a:lnTo>
                <a:close/>
              </a:path>
            </a:pathLst>
          </a:custGeom>
          <a:pattFill prst="wdUpDiag">
            <a:fgClr>
              <a:srgbClr val="00449A"/>
            </a:fgClr>
            <a:bgClr>
              <a:srgbClr val="003A8F"/>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noAutofit/>
          </a:bodyPr>
          <a:lstStyle/>
          <a:p>
            <a:pPr lvl="0" algn="ctr"/>
            <a:endParaRPr lang="zh-CN" altLang="en-US" sz="1350" dirty="0">
              <a:solidFill>
                <a:srgbClr val="0064B8"/>
              </a:solidFill>
            </a:endParaRPr>
          </a:p>
        </p:txBody>
      </p:sp>
      <p:grpSp>
        <p:nvGrpSpPr>
          <p:cNvPr id="4" name="组合 3"/>
          <p:cNvGrpSpPr/>
          <p:nvPr userDrawn="1"/>
        </p:nvGrpSpPr>
        <p:grpSpPr>
          <a:xfrm>
            <a:off x="443029" y="435940"/>
            <a:ext cx="257171" cy="208413"/>
            <a:chOff x="337460" y="322200"/>
            <a:chExt cx="257171" cy="208413"/>
          </a:xfrm>
        </p:grpSpPr>
        <p:sp>
          <p:nvSpPr>
            <p:cNvPr id="5" name="箭头: V 形 4"/>
            <p:cNvSpPr/>
            <p:nvPr userDrawn="1"/>
          </p:nvSpPr>
          <p:spPr>
            <a:xfrm>
              <a:off x="424769" y="322200"/>
              <a:ext cx="169862" cy="208413"/>
            </a:xfrm>
            <a:prstGeom prst="chevron">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chemeClr val="tx1"/>
                </a:solidFill>
              </a:endParaRPr>
            </a:p>
          </p:txBody>
        </p:sp>
        <p:sp>
          <p:nvSpPr>
            <p:cNvPr id="6" name="任意多边形: 形状 5"/>
            <p:cNvSpPr/>
            <p:nvPr userDrawn="1"/>
          </p:nvSpPr>
          <p:spPr>
            <a:xfrm>
              <a:off x="371973" y="322200"/>
              <a:ext cx="120110" cy="208413"/>
            </a:xfrm>
            <a:custGeom>
              <a:avLst/>
              <a:gdLst>
                <a:gd name="connsiteX0" fmla="*/ 0 w 120110"/>
                <a:gd name="connsiteY0" fmla="*/ 0 h 208413"/>
                <a:gd name="connsiteX1" fmla="*/ 35179 w 120110"/>
                <a:gd name="connsiteY1" fmla="*/ 0 h 208413"/>
                <a:gd name="connsiteX2" fmla="*/ 120110 w 120110"/>
                <a:gd name="connsiteY2" fmla="*/ 104207 h 208413"/>
                <a:gd name="connsiteX3" fmla="*/ 35179 w 120110"/>
                <a:gd name="connsiteY3" fmla="*/ 208413 h 208413"/>
                <a:gd name="connsiteX4" fmla="*/ 0 w 120110"/>
                <a:gd name="connsiteY4" fmla="*/ 208413 h 208413"/>
                <a:gd name="connsiteX5" fmla="*/ 84931 w 120110"/>
                <a:gd name="connsiteY5" fmla="*/ 104207 h 208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0110" h="208413">
                  <a:moveTo>
                    <a:pt x="0" y="0"/>
                  </a:moveTo>
                  <a:lnTo>
                    <a:pt x="35179" y="0"/>
                  </a:lnTo>
                  <a:lnTo>
                    <a:pt x="120110" y="104207"/>
                  </a:lnTo>
                  <a:lnTo>
                    <a:pt x="35179" y="208413"/>
                  </a:lnTo>
                  <a:lnTo>
                    <a:pt x="0" y="208413"/>
                  </a:lnTo>
                  <a:lnTo>
                    <a:pt x="84931" y="104207"/>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chemeClr val="tx1"/>
                </a:solidFill>
              </a:endParaRPr>
            </a:p>
          </p:txBody>
        </p:sp>
        <p:sp>
          <p:nvSpPr>
            <p:cNvPr id="7" name="任意多边形: 形状 6"/>
            <p:cNvSpPr/>
            <p:nvPr userDrawn="1"/>
          </p:nvSpPr>
          <p:spPr>
            <a:xfrm>
              <a:off x="337460" y="322200"/>
              <a:ext cx="101826" cy="208413"/>
            </a:xfrm>
            <a:custGeom>
              <a:avLst/>
              <a:gdLst>
                <a:gd name="connsiteX0" fmla="*/ 0 w 101826"/>
                <a:gd name="connsiteY0" fmla="*/ 0 h 208413"/>
                <a:gd name="connsiteX1" fmla="*/ 16895 w 101826"/>
                <a:gd name="connsiteY1" fmla="*/ 0 h 208413"/>
                <a:gd name="connsiteX2" fmla="*/ 101826 w 101826"/>
                <a:gd name="connsiteY2" fmla="*/ 104207 h 208413"/>
                <a:gd name="connsiteX3" fmla="*/ 16895 w 101826"/>
                <a:gd name="connsiteY3" fmla="*/ 208413 h 208413"/>
                <a:gd name="connsiteX4" fmla="*/ 0 w 101826"/>
                <a:gd name="connsiteY4" fmla="*/ 208413 h 208413"/>
                <a:gd name="connsiteX5" fmla="*/ 84931 w 101826"/>
                <a:gd name="connsiteY5" fmla="*/ 104207 h 208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1826" h="208413">
                  <a:moveTo>
                    <a:pt x="0" y="0"/>
                  </a:moveTo>
                  <a:lnTo>
                    <a:pt x="16895" y="0"/>
                  </a:lnTo>
                  <a:lnTo>
                    <a:pt x="101826" y="104207"/>
                  </a:lnTo>
                  <a:lnTo>
                    <a:pt x="16895" y="208413"/>
                  </a:lnTo>
                  <a:lnTo>
                    <a:pt x="0" y="208413"/>
                  </a:lnTo>
                  <a:lnTo>
                    <a:pt x="84931" y="104207"/>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chemeClr val="tx1"/>
                </a:solidFill>
              </a:endParaRPr>
            </a:p>
          </p:txBody>
        </p:sp>
      </p:grpSp>
      <p:sp>
        <p:nvSpPr>
          <p:cNvPr id="12" name="文本占位符 11"/>
          <p:cNvSpPr>
            <a:spLocks noGrp="1"/>
          </p:cNvSpPr>
          <p:nvPr>
            <p:ph type="body" sz="quarter" idx="12" hasCustomPrompt="1"/>
          </p:nvPr>
        </p:nvSpPr>
        <p:spPr>
          <a:xfrm>
            <a:off x="660401" y="315258"/>
            <a:ext cx="7601971" cy="507831"/>
          </a:xfrm>
          <a:prstGeom prst="rect">
            <a:avLst/>
          </a:prstGeom>
        </p:spPr>
        <p:txBody>
          <a:bodyPr/>
          <a:lstStyle>
            <a:lvl1pPr marL="0" indent="0">
              <a:buFontTx/>
              <a:buNone/>
              <a:defRPr sz="1575" b="1" spc="169">
                <a:solidFill>
                  <a:schemeClr val="bg1"/>
                </a:solidFill>
                <a:latin typeface="+mj-ea"/>
                <a:ea typeface="+mj-ea"/>
              </a:defRPr>
            </a:lvl1pPr>
            <a:lvl2pPr marL="257175" indent="0">
              <a:buFontTx/>
              <a:buNone/>
              <a:defRPr sz="1575" b="1">
                <a:solidFill>
                  <a:schemeClr val="bg1"/>
                </a:solidFill>
                <a:latin typeface="+mj-ea"/>
                <a:ea typeface="+mj-ea"/>
              </a:defRPr>
            </a:lvl2pPr>
            <a:lvl3pPr marL="514350" indent="0">
              <a:buFontTx/>
              <a:buNone/>
              <a:defRPr sz="1575" b="1">
                <a:solidFill>
                  <a:schemeClr val="bg1"/>
                </a:solidFill>
                <a:latin typeface="+mj-ea"/>
                <a:ea typeface="+mj-ea"/>
              </a:defRPr>
            </a:lvl3pPr>
            <a:lvl4pPr marL="771525" indent="0">
              <a:buFontTx/>
              <a:buNone/>
              <a:defRPr sz="1575" b="1">
                <a:solidFill>
                  <a:schemeClr val="bg1"/>
                </a:solidFill>
                <a:latin typeface="+mj-ea"/>
                <a:ea typeface="+mj-ea"/>
              </a:defRPr>
            </a:lvl4pPr>
            <a:lvl5pPr marL="1028700" indent="0">
              <a:buFontTx/>
              <a:buNone/>
              <a:defRPr sz="1575" b="1">
                <a:solidFill>
                  <a:schemeClr val="bg1"/>
                </a:solidFill>
                <a:latin typeface="+mj-ea"/>
                <a:ea typeface="+mj-ea"/>
              </a:defRPr>
            </a:lvl5pPr>
          </a:lstStyle>
          <a:p>
            <a:pPr lvl="0"/>
            <a:r>
              <a:rPr lang="en-US" altLang="zh-CN" dirty="0"/>
              <a:t>Click to edit Master title style</a:t>
            </a:r>
            <a:endParaRPr lang="en-US" altLang="zh-CN" dirty="0"/>
          </a:p>
        </p:txBody>
      </p:sp>
      <p:grpSp>
        <p:nvGrpSpPr>
          <p:cNvPr id="17" name="组合 16"/>
          <p:cNvGrpSpPr/>
          <p:nvPr userDrawn="1"/>
        </p:nvGrpSpPr>
        <p:grpSpPr>
          <a:xfrm>
            <a:off x="666751" y="6520363"/>
            <a:ext cx="10858500" cy="0"/>
            <a:chOff x="666750" y="6520363"/>
            <a:chExt cx="10858500" cy="0"/>
          </a:xfrm>
        </p:grpSpPr>
        <p:cxnSp>
          <p:nvCxnSpPr>
            <p:cNvPr id="15" name="直接连接符 14"/>
            <p:cNvCxnSpPr/>
            <p:nvPr userDrawn="1"/>
          </p:nvCxnSpPr>
          <p:spPr>
            <a:xfrm flipH="1">
              <a:off x="7049084" y="6520363"/>
              <a:ext cx="4476166" cy="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nvCxnSpPr>
          <p:spPr>
            <a:xfrm flipH="1">
              <a:off x="666750" y="6520363"/>
              <a:ext cx="4476166" cy="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3" name="矩形 12"/>
          <p:cNvSpPr/>
          <p:nvPr userDrawn="1"/>
        </p:nvSpPr>
        <p:spPr>
          <a:xfrm>
            <a:off x="5133733" y="6405430"/>
            <a:ext cx="1906169" cy="229870"/>
          </a:xfrm>
          <a:prstGeom prst="rect">
            <a:avLst/>
          </a:prstGeom>
        </p:spPr>
        <p:txBody>
          <a:bodyPr wrap="square" anchor="ctr" anchorCtr="0">
            <a:spAutoFit/>
          </a:bodyPr>
          <a:lstStyle/>
          <a:p>
            <a:pPr algn="ctr"/>
            <a:r>
              <a:rPr lang="en-US" altLang="zh-CN" sz="900" b="1" spc="169" dirty="0">
                <a:solidFill>
                  <a:schemeClr val="tx2"/>
                </a:solidFill>
                <a:latin typeface="+mj-ea"/>
                <a:ea typeface="+mj-ea"/>
              </a:rPr>
              <a:t>《</a:t>
            </a:r>
            <a:r>
              <a:rPr lang="zh-CN" altLang="en-US" sz="900" b="1" spc="169" dirty="0">
                <a:solidFill>
                  <a:schemeClr val="tx2"/>
                </a:solidFill>
                <a:latin typeface="+mj-ea"/>
                <a:ea typeface="+mj-ea"/>
              </a:rPr>
              <a:t>操作系统</a:t>
            </a:r>
            <a:r>
              <a:rPr lang="en-US" altLang="zh-CN" sz="900" b="1" spc="169" dirty="0">
                <a:solidFill>
                  <a:schemeClr val="tx2"/>
                </a:solidFill>
                <a:latin typeface="+mj-ea"/>
                <a:ea typeface="+mj-ea"/>
              </a:rPr>
              <a:t>》</a:t>
            </a:r>
            <a:endParaRPr lang="zh-CN" altLang="en-US" sz="900" b="1" spc="169" dirty="0">
              <a:solidFill>
                <a:schemeClr val="tx2"/>
              </a:solidFill>
              <a:latin typeface="+mj-ea"/>
              <a:ea typeface="+mj-ea"/>
            </a:endParaRPr>
          </a:p>
        </p:txBody>
      </p:sp>
    </p:spTree>
  </p:cSld>
  <p:clrMapOvr>
    <a:masterClrMapping/>
  </p:clrMapOvr>
  <p:transition spd="med">
    <p:random/>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5365B7-FDB0-4531-9BA8-C9E46FCB4329}"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C40F59-DB9F-42C9-8670-FD5C2598E64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5.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8.png"/><Relationship Id="rId1" Type="http://schemas.openxmlformats.org/officeDocument/2006/relationships/image" Target="../media/image7.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jpe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14.jpeg"/><Relationship Id="rId4" Type="http://schemas.openxmlformats.org/officeDocument/2006/relationships/tags" Target="../tags/tag5.xml"/><Relationship Id="rId3" Type="http://schemas.openxmlformats.org/officeDocument/2006/relationships/image" Target="../media/image13.png"/><Relationship Id="rId2" Type="http://schemas.openxmlformats.org/officeDocument/2006/relationships/tags" Target="../tags/tag4.xml"/><Relationship Id="rId1" Type="http://schemas.openxmlformats.org/officeDocument/2006/relationships/tags" Target="../tags/tag3.xml"/></Relationships>
</file>

<file path=ppt/slides/_rels/slide8.xml.rels><?xml version="1.0" encoding="UTF-8" standalone="yes"?>
<Relationships xmlns="http://schemas.openxmlformats.org/package/2006/relationships"><Relationship Id="rId9" Type="http://schemas.openxmlformats.org/officeDocument/2006/relationships/image" Target="../media/image16.webp"/><Relationship Id="rId8" Type="http://schemas.openxmlformats.org/officeDocument/2006/relationships/tags" Target="../tags/tag11.xml"/><Relationship Id="rId7" Type="http://schemas.openxmlformats.org/officeDocument/2006/relationships/tags" Target="../tags/tag10.xml"/><Relationship Id="rId6" Type="http://schemas.openxmlformats.org/officeDocument/2006/relationships/tags" Target="../tags/tag9.xml"/><Relationship Id="rId5" Type="http://schemas.openxmlformats.org/officeDocument/2006/relationships/image" Target="../media/image15.jpeg"/><Relationship Id="rId4" Type="http://schemas.openxmlformats.org/officeDocument/2006/relationships/tags" Target="../tags/tag8.xml"/><Relationship Id="rId3" Type="http://schemas.openxmlformats.org/officeDocument/2006/relationships/image" Target="../media/image13.png"/><Relationship Id="rId2" Type="http://schemas.openxmlformats.org/officeDocument/2006/relationships/tags" Target="../tags/tag7.xml"/><Relationship Id="rId10" Type="http://schemas.openxmlformats.org/officeDocument/2006/relationships/slideLayout" Target="../slideLayouts/slideLayout1.xml"/><Relationship Id="rId1" Type="http://schemas.openxmlformats.org/officeDocument/2006/relationships/tags" Target="../tags/tag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8.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9.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0.png"/></Relationships>
</file>

<file path=ppt/slides/_rels/slide15.xml.rels><?xml version="1.0" encoding="UTF-8" standalone="yes"?>
<Relationships xmlns="http://schemas.openxmlformats.org/package/2006/relationships"><Relationship Id="rId9" Type="http://schemas.openxmlformats.org/officeDocument/2006/relationships/image" Target="../media/image23.png"/><Relationship Id="rId8" Type="http://schemas.openxmlformats.org/officeDocument/2006/relationships/tags" Target="../tags/tag17.xml"/><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image" Target="../media/image22.svg"/><Relationship Id="rId10" Type="http://schemas.openxmlformats.org/officeDocument/2006/relationships/slideLayout" Target="../slideLayouts/slideLayout1.xml"/><Relationship Id="rId1" Type="http://schemas.openxmlformats.org/officeDocument/2006/relationships/image" Target="../media/image21.png"/></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xml"/><Relationship Id="rId3" Type="http://schemas.openxmlformats.org/officeDocument/2006/relationships/image" Target="../media/image25.jpeg"/><Relationship Id="rId2" Type="http://schemas.openxmlformats.org/officeDocument/2006/relationships/image" Target="../media/image4.svg"/><Relationship Id="rId1" Type="http://schemas.openxmlformats.org/officeDocument/2006/relationships/image" Target="../media/image24.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27.png"/><Relationship Id="rId1" Type="http://schemas.openxmlformats.org/officeDocument/2006/relationships/image" Target="../media/image26.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29.png"/><Relationship Id="rId1" Type="http://schemas.openxmlformats.org/officeDocument/2006/relationships/image" Target="../media/image28.png"/></Relationships>
</file>

<file path=ppt/slides/_rels/slide22.xml.rels><?xml version="1.0" encoding="UTF-8" standalone="yes"?>
<Relationships xmlns="http://schemas.openxmlformats.org/package/2006/relationships"><Relationship Id="rId9" Type="http://schemas.openxmlformats.org/officeDocument/2006/relationships/notesSlide" Target="../notesSlides/notesSlide8.xml"/><Relationship Id="rId8" Type="http://schemas.openxmlformats.org/officeDocument/2006/relationships/slideLayout" Target="../slideLayouts/slideLayout1.xml"/><Relationship Id="rId7" Type="http://schemas.openxmlformats.org/officeDocument/2006/relationships/image" Target="../media/image31.png"/><Relationship Id="rId6" Type="http://schemas.openxmlformats.org/officeDocument/2006/relationships/tags" Target="../tags/tag20.xml"/><Relationship Id="rId5" Type="http://schemas.openxmlformats.org/officeDocument/2006/relationships/image" Target="../media/image30.png"/><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image" Target="../media/image11.svg"/><Relationship Id="rId1" Type="http://schemas.openxmlformats.org/officeDocument/2006/relationships/image" Target="../media/image10.png"/></Relationships>
</file>

<file path=ppt/slides/_rels/slide23.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1.xml"/><Relationship Id="rId6" Type="http://schemas.openxmlformats.org/officeDocument/2006/relationships/image" Target="../media/image32.jpeg"/><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image" Target="../media/image34.png"/><Relationship Id="rId1" Type="http://schemas.openxmlformats.org/officeDocument/2006/relationships/image" Target="../media/image33.jpeg"/></Relationships>
</file>

<file path=ppt/slides/_rels/slide25.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1.xml"/><Relationship Id="rId4" Type="http://schemas.openxmlformats.org/officeDocument/2006/relationships/image" Target="../media/image37.png"/><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hyperlink" Target="https://openeuler.org/" TargetMode="External"/></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image" Target="../media/image39.png"/><Relationship Id="rId1" Type="http://schemas.openxmlformats.org/officeDocument/2006/relationships/image" Target="../media/image38.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40.jpe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1.xml"/><Relationship Id="rId4" Type="http://schemas.openxmlformats.org/officeDocument/2006/relationships/image" Target="../media/image44.jpeg"/><Relationship Id="rId3" Type="http://schemas.openxmlformats.org/officeDocument/2006/relationships/image" Target="../media/image43.png"/><Relationship Id="rId2" Type="http://schemas.openxmlformats.org/officeDocument/2006/relationships/image" Target="../media/image42.jpeg"/><Relationship Id="rId1" Type="http://schemas.openxmlformats.org/officeDocument/2006/relationships/image" Target="../media/image41.jpe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xml"/><Relationship Id="rId2" Type="http://schemas.openxmlformats.org/officeDocument/2006/relationships/image" Target="../media/image46.jpeg"/><Relationship Id="rId1" Type="http://schemas.openxmlformats.org/officeDocument/2006/relationships/image" Target="../media/image45.jpe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9" Type="http://schemas.openxmlformats.org/officeDocument/2006/relationships/tags" Target="../tags/tag32.xml"/><Relationship Id="rId8" Type="http://schemas.openxmlformats.org/officeDocument/2006/relationships/tags" Target="../tags/tag31.xml"/><Relationship Id="rId7" Type="http://schemas.openxmlformats.org/officeDocument/2006/relationships/tags" Target="../tags/tag30.xml"/><Relationship Id="rId6" Type="http://schemas.openxmlformats.org/officeDocument/2006/relationships/tags" Target="../tags/tag29.xml"/><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image" Target="../media/image5.png"/><Relationship Id="rId11" Type="http://schemas.openxmlformats.org/officeDocument/2006/relationships/slideLayout" Target="../slideLayouts/slideLayout1.xml"/><Relationship Id="rId10" Type="http://schemas.openxmlformats.org/officeDocument/2006/relationships/tags" Target="../tags/tag33.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 name="组合 3"/>
          <p:cNvGrpSpPr/>
          <p:nvPr/>
        </p:nvGrpSpPr>
        <p:grpSpPr>
          <a:xfrm>
            <a:off x="635" y="-22860"/>
            <a:ext cx="12192000" cy="6858000"/>
            <a:chOff x="0" y="0"/>
            <a:chExt cx="12192000" cy="6858000"/>
          </a:xfrm>
        </p:grpSpPr>
        <p:sp>
          <p:nvSpPr>
            <p:cNvPr id="5" name="直角三角形 4"/>
            <p:cNvSpPr/>
            <p:nvPr userDrawn="1"/>
          </p:nvSpPr>
          <p:spPr>
            <a:xfrm>
              <a:off x="0" y="3165895"/>
              <a:ext cx="3692105" cy="3692105"/>
            </a:xfrm>
            <a:prstGeom prst="rtTriangle">
              <a:avLst/>
            </a:prstGeom>
            <a:solidFill>
              <a:srgbClr val="004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4B9D"/>
                </a:solidFill>
              </a:endParaRPr>
            </a:p>
          </p:txBody>
        </p:sp>
        <p:sp>
          <p:nvSpPr>
            <p:cNvPr id="6" name="直角三角形 5"/>
            <p:cNvSpPr/>
            <p:nvPr userDrawn="1"/>
          </p:nvSpPr>
          <p:spPr>
            <a:xfrm rot="10800000">
              <a:off x="8499895" y="0"/>
              <a:ext cx="3692105" cy="3692105"/>
            </a:xfrm>
            <a:prstGeom prst="rtTriangle">
              <a:avLst/>
            </a:prstGeom>
            <a:solidFill>
              <a:srgbClr val="004B9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userDrawn="1"/>
          </p:nvGrpSpPr>
          <p:grpSpPr>
            <a:xfrm>
              <a:off x="490484" y="441960"/>
              <a:ext cx="11211033" cy="6019801"/>
              <a:chOff x="490484" y="441960"/>
              <a:chExt cx="11211033" cy="6019801"/>
            </a:xfrm>
          </p:grpSpPr>
          <p:pic>
            <p:nvPicPr>
              <p:cNvPr id="8" name="图片 7"/>
              <p:cNvPicPr>
                <a:picLocks noChangeAspect="1"/>
              </p:cNvPicPr>
              <p:nvPr userDrawn="1"/>
            </p:nvPicPr>
            <p:blipFill rotWithShape="1">
              <a:blip r:embed="rId1">
                <a:extLst>
                  <a:ext uri="{28A0092B-C50C-407E-A947-70E740481C1C}">
                    <a14:useLocalDpi xmlns:a14="http://schemas.microsoft.com/office/drawing/2010/main" val="0"/>
                  </a:ext>
                </a:extLst>
              </a:blip>
              <a:srcRect l="1515" t="4277" r="530" b="14319"/>
              <a:stretch>
                <a:fillRect/>
              </a:stretch>
            </p:blipFill>
            <p:spPr>
              <a:xfrm>
                <a:off x="490484" y="441960"/>
                <a:ext cx="11211033" cy="6019801"/>
              </a:xfrm>
              <a:prstGeom prst="rect">
                <a:avLst/>
              </a:prstGeom>
              <a:effectLst>
                <a:outerShdw blurRad="355600" dist="139700" dir="2700000" algn="tl" rotWithShape="0">
                  <a:prstClr val="black">
                    <a:alpha val="61000"/>
                  </a:prstClr>
                </a:outerShdw>
              </a:effectLst>
            </p:spPr>
          </p:pic>
          <p:sp>
            <p:nvSpPr>
              <p:cNvPr id="9" name="矩形 8"/>
              <p:cNvSpPr/>
              <p:nvPr userDrawn="1"/>
            </p:nvSpPr>
            <p:spPr>
              <a:xfrm>
                <a:off x="490484" y="441960"/>
                <a:ext cx="11211032" cy="6019801"/>
              </a:xfrm>
              <a:prstGeom prst="rect">
                <a:avLst/>
              </a:prstGeom>
              <a:solidFill>
                <a:srgbClr val="FFFEF7">
                  <a:alpha val="82745"/>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solidFill>
                    <a:srgbClr val="004C9E"/>
                  </a:solidFill>
                  <a:latin typeface="微软雅黑" panose="020B0503020204020204" pitchFamily="34" charset="-122"/>
                  <a:ea typeface="微软雅黑" panose="020B0503020204020204" pitchFamily="34" charset="-122"/>
                </a:endParaRPr>
              </a:p>
            </p:txBody>
          </p:sp>
        </p:grpSp>
      </p:grpSp>
      <p:pic>
        <p:nvPicPr>
          <p:cNvPr id="10" name="图片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499930" y="768378"/>
            <a:ext cx="2917715" cy="920774"/>
          </a:xfrm>
          <a:prstGeom prst="rect">
            <a:avLst/>
          </a:prstGeom>
        </p:spPr>
      </p:pic>
      <p:sp>
        <p:nvSpPr>
          <p:cNvPr id="11" name="文本框 10"/>
          <p:cNvSpPr txBox="1"/>
          <p:nvPr/>
        </p:nvSpPr>
        <p:spPr>
          <a:xfrm>
            <a:off x="2759710" y="1757045"/>
            <a:ext cx="5982970" cy="922020"/>
          </a:xfrm>
          <a:prstGeom prst="rect">
            <a:avLst/>
          </a:prstGeom>
          <a:noFill/>
        </p:spPr>
        <p:txBody>
          <a:bodyPr wrap="square" rtlCol="0">
            <a:spAutoFit/>
          </a:bodyPr>
          <a:lstStyle/>
          <a:p>
            <a:pPr algn="ctr"/>
            <a:r>
              <a:rPr lang="zh-CN" sz="5400" dirty="0" smtClean="0">
                <a:solidFill>
                  <a:srgbClr val="002060"/>
                </a:solidFill>
                <a:latin typeface="汉仪铸字美心体简" panose="00020600040101010101" charset="-122"/>
                <a:ea typeface="汉仪铸字美心体简" panose="00020600040101010101" charset="-122"/>
              </a:rPr>
              <a:t>操作系统</a:t>
            </a:r>
            <a:endParaRPr lang="zh-CN" sz="5400" dirty="0" smtClean="0">
              <a:solidFill>
                <a:srgbClr val="002060"/>
              </a:solidFill>
              <a:latin typeface="汉仪铸字美心体简" panose="00020600040101010101" charset="-122"/>
              <a:ea typeface="汉仪铸字美心体简" panose="00020600040101010101" charset="-122"/>
            </a:endParaRPr>
          </a:p>
        </p:txBody>
      </p:sp>
      <p:sp>
        <p:nvSpPr>
          <p:cNvPr id="12" name="图形"/>
          <p:cNvSpPr txBox="1"/>
          <p:nvPr>
            <p:custDataLst>
              <p:tags r:id="rId3"/>
            </p:custDataLst>
          </p:nvPr>
        </p:nvSpPr>
        <p:spPr>
          <a:xfrm>
            <a:off x="3812540" y="4120515"/>
            <a:ext cx="4475480" cy="398780"/>
          </a:xfrm>
          <a:prstGeom prst="rect">
            <a:avLst/>
          </a:prstGeom>
          <a:noFill/>
        </p:spPr>
        <p:txBody>
          <a:bodyPr wrap="square" rtlCol="0" anchor="t">
            <a:spAutoFit/>
          </a:bodyPr>
          <a:lstStyle/>
          <a:p>
            <a:pPr lvl="0" algn="l">
              <a:buClrTx/>
              <a:buSzTx/>
              <a:buFontTx/>
            </a:pPr>
            <a:r>
              <a:rPr lang="zh-CN" sz="2000" b="1" dirty="0" smtClean="0">
                <a:solidFill>
                  <a:schemeClr val="tx1">
                    <a:lumMod val="85000"/>
                    <a:lumOff val="15000"/>
                  </a:schemeClr>
                </a:solidFill>
                <a:latin typeface="微软雅黑" panose="020B0503020204020204" pitchFamily="34" charset="-122"/>
                <a:ea typeface="微软雅黑" panose="020B0503020204020204" pitchFamily="34" charset="-122"/>
                <a:cs typeface="包图粗黑体" panose="02000800000000000000" charset="-122"/>
                <a:sym typeface="Arial" panose="020B0604020202020204" pitchFamily="34" charset="0"/>
              </a:rPr>
              <a:t>重庆大学</a:t>
            </a:r>
            <a:r>
              <a:rPr lang="en-US" altLang="zh-CN" sz="2000" b="1" dirty="0" smtClean="0">
                <a:solidFill>
                  <a:schemeClr val="tx1">
                    <a:lumMod val="85000"/>
                    <a:lumOff val="15000"/>
                  </a:schemeClr>
                </a:solidFill>
                <a:latin typeface="微软雅黑" panose="020B0503020204020204" pitchFamily="34" charset="-122"/>
                <a:ea typeface="微软雅黑" panose="020B0503020204020204" pitchFamily="34" charset="-122"/>
                <a:cs typeface="包图粗黑体" panose="02000800000000000000" charset="-122"/>
                <a:sym typeface="Arial" panose="020B0604020202020204" pitchFamily="34" charset="0"/>
              </a:rPr>
              <a:t>  </a:t>
            </a:r>
            <a:r>
              <a:rPr lang="zh-CN" sz="2000" b="1" dirty="0" smtClean="0">
                <a:solidFill>
                  <a:schemeClr val="tx1">
                    <a:lumMod val="85000"/>
                    <a:lumOff val="15000"/>
                  </a:schemeClr>
                </a:solidFill>
                <a:latin typeface="微软雅黑" panose="020B0503020204020204" pitchFamily="34" charset="-122"/>
                <a:ea typeface="微软雅黑" panose="020B0503020204020204" pitchFamily="34" charset="-122"/>
                <a:cs typeface="包图粗黑体" panose="02000800000000000000" charset="-122"/>
                <a:sym typeface="Arial" panose="020B0604020202020204" pitchFamily="34" charset="0"/>
              </a:rPr>
              <a:t>计算机学院</a:t>
            </a:r>
            <a:r>
              <a:rPr lang="en-US" altLang="zh-CN" sz="2000" b="1" dirty="0" smtClean="0">
                <a:solidFill>
                  <a:schemeClr val="tx1">
                    <a:lumMod val="85000"/>
                    <a:lumOff val="15000"/>
                  </a:schemeClr>
                </a:solidFill>
                <a:latin typeface="微软雅黑" panose="020B0503020204020204" pitchFamily="34" charset="-122"/>
                <a:ea typeface="微软雅黑" panose="020B0503020204020204" pitchFamily="34" charset="-122"/>
                <a:cs typeface="包图粗黑体" panose="02000800000000000000" charset="-122"/>
                <a:sym typeface="Arial" panose="020B0604020202020204" pitchFamily="34" charset="0"/>
              </a:rPr>
              <a:t>    </a:t>
            </a:r>
            <a:r>
              <a:rPr lang="zh-CN" altLang="en-US" sz="2000" b="1" dirty="0" smtClean="0">
                <a:solidFill>
                  <a:schemeClr val="tx1">
                    <a:lumMod val="85000"/>
                    <a:lumOff val="15000"/>
                  </a:schemeClr>
                </a:solidFill>
                <a:latin typeface="微软雅黑" panose="020B0503020204020204" pitchFamily="34" charset="-122"/>
                <a:ea typeface="微软雅黑" panose="020B0503020204020204" pitchFamily="34" charset="-122"/>
                <a:cs typeface="包图粗黑体" panose="02000800000000000000" charset="-122"/>
                <a:sym typeface="Arial" panose="020B0604020202020204" pitchFamily="34" charset="0"/>
              </a:rPr>
              <a:t>欧阳德强</a:t>
            </a:r>
            <a:endParaRPr lang="zh-CN" altLang="en-US" sz="2000" b="1" dirty="0" smtClean="0">
              <a:solidFill>
                <a:schemeClr val="tx1">
                  <a:lumMod val="85000"/>
                  <a:lumOff val="15000"/>
                </a:schemeClr>
              </a:solidFill>
              <a:latin typeface="微软雅黑" panose="020B0503020204020204" pitchFamily="34" charset="-122"/>
              <a:ea typeface="微软雅黑" panose="020B0503020204020204" pitchFamily="34" charset="-122"/>
              <a:cs typeface="包图粗黑体" panose="02000800000000000000" charset="-122"/>
              <a:sym typeface="Arial" panose="020B0604020202020204" pitchFamily="34" charset="0"/>
            </a:endParaRPr>
          </a:p>
        </p:txBody>
      </p:sp>
      <p:sp>
        <p:nvSpPr>
          <p:cNvPr id="13" name="图形"/>
          <p:cNvSpPr txBox="1"/>
          <p:nvPr>
            <p:custDataLst>
              <p:tags r:id="rId4"/>
            </p:custDataLst>
          </p:nvPr>
        </p:nvSpPr>
        <p:spPr>
          <a:xfrm>
            <a:off x="3812540" y="4946015"/>
            <a:ext cx="6065520" cy="460375"/>
          </a:xfrm>
          <a:prstGeom prst="rect">
            <a:avLst/>
          </a:prstGeom>
          <a:noFill/>
        </p:spPr>
        <p:txBody>
          <a:bodyPr wrap="square" rtlCol="0" anchor="t">
            <a:spAutoFit/>
          </a:bodyPr>
          <a:lstStyle/>
          <a:p>
            <a:pPr lvl="0" algn="l">
              <a:buClrTx/>
              <a:buSzTx/>
              <a:buFontTx/>
            </a:pPr>
            <a:r>
              <a:rPr lang="zh-CN" sz="2400" b="1" dirty="0" smtClean="0">
                <a:solidFill>
                  <a:schemeClr val="tx1">
                    <a:lumMod val="85000"/>
                    <a:lumOff val="15000"/>
                  </a:schemeClr>
                </a:solidFill>
                <a:latin typeface="微软雅黑" panose="020B0503020204020204" pitchFamily="34" charset="-122"/>
                <a:ea typeface="微软雅黑" panose="020B0503020204020204" pitchFamily="34" charset="-122"/>
                <a:cs typeface="包图粗黑体" panose="02000800000000000000" charset="-122"/>
                <a:sym typeface="Arial" panose="020B0604020202020204" pitchFamily="34" charset="0"/>
              </a:rPr>
              <a:t>邮箱：</a:t>
            </a:r>
            <a:r>
              <a:rPr lang="en-US" altLang="zh-CN" sz="2400" b="1" dirty="0" smtClean="0">
                <a:solidFill>
                  <a:schemeClr val="tx1">
                    <a:lumMod val="85000"/>
                    <a:lumOff val="15000"/>
                  </a:schemeClr>
                </a:solidFill>
                <a:latin typeface="微软雅黑" panose="020B0503020204020204" pitchFamily="34" charset="-122"/>
                <a:ea typeface="微软雅黑" panose="020B0503020204020204" pitchFamily="34" charset="-122"/>
                <a:cs typeface="包图粗黑体" panose="02000800000000000000" charset="-122"/>
                <a:sym typeface="Arial" panose="020B0604020202020204" pitchFamily="34" charset="0"/>
              </a:rPr>
              <a:t>deqiangouyang</a:t>
            </a:r>
            <a:r>
              <a:rPr lang="en-US" altLang="zh-CN" sz="2400" b="1" dirty="0" smtClean="0">
                <a:solidFill>
                  <a:schemeClr val="tx1">
                    <a:lumMod val="85000"/>
                    <a:lumOff val="15000"/>
                  </a:schemeClr>
                </a:solidFill>
                <a:latin typeface="微软雅黑" panose="020B0503020204020204" pitchFamily="34" charset="-122"/>
                <a:ea typeface="微软雅黑" panose="020B0503020204020204" pitchFamily="34" charset="-122"/>
                <a:cs typeface="包图粗黑体" panose="02000800000000000000" charset="-122"/>
                <a:sym typeface="Arial" panose="020B0604020202020204" pitchFamily="34" charset="0"/>
              </a:rPr>
              <a:t>@cqu.edu.cn</a:t>
            </a:r>
            <a:endParaRPr lang="en-US" altLang="zh-CN" sz="2400" b="1" dirty="0" smtClean="0">
              <a:solidFill>
                <a:schemeClr val="tx1">
                  <a:lumMod val="85000"/>
                  <a:lumOff val="15000"/>
                </a:schemeClr>
              </a:solidFill>
              <a:latin typeface="微软雅黑" panose="020B0503020204020204" pitchFamily="34" charset="-122"/>
              <a:ea typeface="微软雅黑" panose="020B0503020204020204" pitchFamily="34" charset="-122"/>
              <a:cs typeface="包图粗黑体" panose="02000800000000000000" charset="-122"/>
              <a:sym typeface="Arial" panose="020B0604020202020204" pitchFamily="34" charset="0"/>
            </a:endParaRPr>
          </a:p>
        </p:txBody>
      </p:sp>
      <p:sp>
        <p:nvSpPr>
          <p:cNvPr id="2" name="文本框 1"/>
          <p:cNvSpPr txBox="1"/>
          <p:nvPr/>
        </p:nvSpPr>
        <p:spPr>
          <a:xfrm>
            <a:off x="3213735" y="3015615"/>
            <a:ext cx="5074285" cy="768350"/>
          </a:xfrm>
          <a:prstGeom prst="rect">
            <a:avLst/>
          </a:prstGeom>
          <a:noFill/>
        </p:spPr>
        <p:txBody>
          <a:bodyPr wrap="square" rtlCol="0">
            <a:spAutoFit/>
          </a:bodyPr>
          <a:lstStyle/>
          <a:p>
            <a:pPr algn="ctr"/>
            <a:r>
              <a:rPr lang="zh-CN" sz="4400" b="1" dirty="0" smtClean="0">
                <a:solidFill>
                  <a:srgbClr val="002060"/>
                </a:solidFill>
                <a:latin typeface="方正大黑简体" panose="02000000000000000000" charset="-122"/>
                <a:ea typeface="方正大黑简体" panose="02000000000000000000" charset="-122"/>
                <a:cs typeface="方正大黑简体" panose="02000000000000000000" charset="-122"/>
              </a:rPr>
              <a:t>第</a:t>
            </a:r>
            <a:r>
              <a:rPr lang="en-US" altLang="zh-CN" sz="4400" b="1" dirty="0" smtClean="0">
                <a:solidFill>
                  <a:srgbClr val="002060"/>
                </a:solidFill>
                <a:latin typeface="方正大黑简体" panose="02000000000000000000" charset="-122"/>
                <a:ea typeface="方正大黑简体" panose="02000000000000000000" charset="-122"/>
                <a:cs typeface="方正大黑简体" panose="02000000000000000000" charset="-122"/>
              </a:rPr>
              <a:t>1</a:t>
            </a:r>
            <a:r>
              <a:rPr lang="zh-CN" altLang="en-US" sz="4400" b="1" dirty="0" smtClean="0">
                <a:solidFill>
                  <a:srgbClr val="002060"/>
                </a:solidFill>
                <a:latin typeface="方正大黑简体" panose="02000000000000000000" charset="-122"/>
                <a:ea typeface="方正大黑简体" panose="02000000000000000000" charset="-122"/>
                <a:cs typeface="方正大黑简体" panose="02000000000000000000" charset="-122"/>
              </a:rPr>
              <a:t>章</a:t>
            </a:r>
            <a:r>
              <a:rPr lang="en-US" altLang="zh-CN" sz="4400" b="1" dirty="0" smtClean="0">
                <a:solidFill>
                  <a:srgbClr val="002060"/>
                </a:solidFill>
                <a:latin typeface="方正大黑简体" panose="02000000000000000000" charset="-122"/>
                <a:ea typeface="方正大黑简体" panose="02000000000000000000" charset="-122"/>
                <a:cs typeface="方正大黑简体" panose="02000000000000000000" charset="-122"/>
              </a:rPr>
              <a:t> </a:t>
            </a:r>
            <a:r>
              <a:rPr lang="zh-CN" altLang="en-US" sz="4400" b="1" dirty="0" smtClean="0">
                <a:solidFill>
                  <a:srgbClr val="002060"/>
                </a:solidFill>
                <a:latin typeface="方正大黑简体" panose="02000000000000000000" charset="-122"/>
                <a:ea typeface="方正大黑简体" panose="02000000000000000000" charset="-122"/>
                <a:cs typeface="方正大黑简体" panose="02000000000000000000" charset="-122"/>
              </a:rPr>
              <a:t>绪论</a:t>
            </a:r>
            <a:endParaRPr lang="zh-CN" altLang="en-US" sz="4400" b="1" dirty="0" smtClean="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4614545" y="2169160"/>
            <a:ext cx="2059940" cy="1960880"/>
          </a:xfrm>
          <a:prstGeom prst="rect">
            <a:avLst/>
          </a:prstGeom>
          <a:solidFill>
            <a:schemeClr val="accent6">
              <a:lumMod val="20000"/>
              <a:lumOff val="80000"/>
            </a:schemeClr>
          </a:solidFill>
        </p:spPr>
        <p:txBody>
          <a:bodyPr wrap="square">
            <a:spAutoFit/>
            <a:extLst>
              <a:ext uri="{4A0BC546-FE56-4ADE-93B0-CB8AF2F6F144}">
                <wpsdc:textFrameExt xmlns:wpsdc="http://www.wps.cn/officeDocument/2022/drawingmlCustomData" type="text"/>
              </a:ext>
            </a:extLst>
          </a:bodyPr>
          <a:p>
            <a:pPr algn="l">
              <a:lnSpc>
                <a:spcPct val="150000"/>
              </a:lnSpc>
            </a:pPr>
            <a:r>
              <a:rPr lang="en-US" altLang="zh-CN" sz="1350" b="1">
                <a:latin typeface="黑体" panose="02010609060101010101" charset="-122"/>
                <a:ea typeface="黑体" panose="02010609060101010101" charset="-122"/>
                <a:cs typeface="黑体" panose="02010609060101010101" charset="-122"/>
              </a:rPr>
              <a:t>PC</a:t>
            </a:r>
            <a:r>
              <a:rPr lang="zh-CN" altLang="en-US" sz="1350" b="1">
                <a:latin typeface="黑体" panose="02010609060101010101" charset="-122"/>
                <a:ea typeface="黑体" panose="02010609060101010101" charset="-122"/>
                <a:cs typeface="黑体" panose="02010609060101010101" charset="-122"/>
              </a:rPr>
              <a:t>：程序计数器</a:t>
            </a:r>
            <a:endParaRPr lang="zh-CN" altLang="en-US" sz="1350" b="1">
              <a:latin typeface="黑体" panose="02010609060101010101" charset="-122"/>
              <a:ea typeface="黑体" panose="02010609060101010101" charset="-122"/>
              <a:cs typeface="黑体" panose="02010609060101010101" charset="-122"/>
            </a:endParaRPr>
          </a:p>
          <a:p>
            <a:pPr algn="l">
              <a:lnSpc>
                <a:spcPct val="150000"/>
              </a:lnSpc>
            </a:pPr>
            <a:r>
              <a:rPr lang="en-US" altLang="zh-CN" sz="1350" b="1">
                <a:latin typeface="黑体" panose="02010609060101010101" charset="-122"/>
                <a:ea typeface="黑体" panose="02010609060101010101" charset="-122"/>
                <a:cs typeface="黑体" panose="02010609060101010101" charset="-122"/>
              </a:rPr>
              <a:t>IR</a:t>
            </a:r>
            <a:r>
              <a:rPr lang="zh-CN" altLang="en-US" sz="1350" b="1">
                <a:latin typeface="黑体" panose="02010609060101010101" charset="-122"/>
                <a:ea typeface="黑体" panose="02010609060101010101" charset="-122"/>
                <a:cs typeface="黑体" panose="02010609060101010101" charset="-122"/>
              </a:rPr>
              <a:t>：指令寄存器</a:t>
            </a:r>
            <a:endParaRPr lang="zh-CN" altLang="en-US" sz="1350" b="1">
              <a:latin typeface="黑体" panose="02010609060101010101" charset="-122"/>
              <a:ea typeface="黑体" panose="02010609060101010101" charset="-122"/>
              <a:cs typeface="黑体" panose="02010609060101010101" charset="-122"/>
            </a:endParaRPr>
          </a:p>
          <a:p>
            <a:pPr algn="l">
              <a:lnSpc>
                <a:spcPct val="150000"/>
              </a:lnSpc>
            </a:pPr>
            <a:r>
              <a:rPr lang="en-US" altLang="zh-CN" sz="1350" b="1">
                <a:latin typeface="黑体" panose="02010609060101010101" charset="-122"/>
                <a:ea typeface="黑体" panose="02010609060101010101" charset="-122"/>
                <a:cs typeface="黑体" panose="02010609060101010101" charset="-122"/>
              </a:rPr>
              <a:t>MAR</a:t>
            </a:r>
            <a:r>
              <a:rPr lang="zh-CN" altLang="en-US" sz="1350" b="1">
                <a:latin typeface="黑体" panose="02010609060101010101" charset="-122"/>
                <a:ea typeface="黑体" panose="02010609060101010101" charset="-122"/>
                <a:cs typeface="黑体" panose="02010609060101010101" charset="-122"/>
              </a:rPr>
              <a:t>：内存地址寄存器</a:t>
            </a:r>
            <a:endParaRPr lang="zh-CN" altLang="en-US" sz="1350" b="1">
              <a:latin typeface="黑体" panose="02010609060101010101" charset="-122"/>
              <a:ea typeface="黑体" panose="02010609060101010101" charset="-122"/>
              <a:cs typeface="黑体" panose="02010609060101010101" charset="-122"/>
            </a:endParaRPr>
          </a:p>
          <a:p>
            <a:pPr algn="l">
              <a:lnSpc>
                <a:spcPct val="150000"/>
              </a:lnSpc>
            </a:pPr>
            <a:r>
              <a:rPr lang="en-US" altLang="zh-CN" sz="1350" b="1">
                <a:latin typeface="黑体" panose="02010609060101010101" charset="-122"/>
                <a:ea typeface="黑体" panose="02010609060101010101" charset="-122"/>
                <a:cs typeface="黑体" panose="02010609060101010101" charset="-122"/>
              </a:rPr>
              <a:t>MDR</a:t>
            </a:r>
            <a:r>
              <a:rPr lang="zh-CN" altLang="en-US" sz="1350" b="1">
                <a:latin typeface="黑体" panose="02010609060101010101" charset="-122"/>
                <a:ea typeface="黑体" panose="02010609060101010101" charset="-122"/>
                <a:cs typeface="黑体" panose="02010609060101010101" charset="-122"/>
              </a:rPr>
              <a:t>：内存数据寄存器</a:t>
            </a:r>
            <a:endParaRPr lang="zh-CN" altLang="en-US" sz="1350" b="1">
              <a:latin typeface="黑体" panose="02010609060101010101" charset="-122"/>
              <a:ea typeface="黑体" panose="02010609060101010101" charset="-122"/>
              <a:cs typeface="黑体" panose="02010609060101010101" charset="-122"/>
            </a:endParaRPr>
          </a:p>
          <a:p>
            <a:pPr algn="l">
              <a:lnSpc>
                <a:spcPct val="150000"/>
              </a:lnSpc>
            </a:pPr>
            <a:r>
              <a:rPr lang="en-US" altLang="zh-CN" sz="1350" b="1">
                <a:latin typeface="黑体" panose="02010609060101010101" charset="-122"/>
                <a:ea typeface="黑体" panose="02010609060101010101" charset="-122"/>
                <a:cs typeface="黑体" panose="02010609060101010101" charset="-122"/>
              </a:rPr>
              <a:t>I/O AR</a:t>
            </a:r>
            <a:r>
              <a:rPr lang="zh-CN" altLang="en-US" sz="1350" b="1">
                <a:latin typeface="黑体" panose="02010609060101010101" charset="-122"/>
                <a:ea typeface="黑体" panose="02010609060101010101" charset="-122"/>
                <a:cs typeface="黑体" panose="02010609060101010101" charset="-122"/>
              </a:rPr>
              <a:t>：</a:t>
            </a:r>
            <a:r>
              <a:rPr lang="en-US" altLang="zh-CN" sz="1350" b="1">
                <a:latin typeface="黑体" panose="02010609060101010101" charset="-122"/>
                <a:ea typeface="黑体" panose="02010609060101010101" charset="-122"/>
                <a:cs typeface="黑体" panose="02010609060101010101" charset="-122"/>
              </a:rPr>
              <a:t>I/O</a:t>
            </a:r>
            <a:r>
              <a:rPr lang="zh-CN" altLang="en-US" sz="1350" b="1">
                <a:latin typeface="黑体" panose="02010609060101010101" charset="-122"/>
                <a:ea typeface="黑体" panose="02010609060101010101" charset="-122"/>
                <a:cs typeface="黑体" panose="02010609060101010101" charset="-122"/>
              </a:rPr>
              <a:t>地址寄存器</a:t>
            </a:r>
            <a:endParaRPr lang="zh-CN" altLang="en-US" sz="1350" b="1">
              <a:latin typeface="黑体" panose="02010609060101010101" charset="-122"/>
              <a:ea typeface="黑体" panose="02010609060101010101" charset="-122"/>
              <a:cs typeface="黑体" panose="02010609060101010101" charset="-122"/>
            </a:endParaRPr>
          </a:p>
          <a:p>
            <a:pPr algn="l">
              <a:lnSpc>
                <a:spcPct val="150000"/>
              </a:lnSpc>
            </a:pPr>
            <a:r>
              <a:rPr lang="en-US" altLang="zh-CN" sz="1350" b="1">
                <a:latin typeface="黑体" panose="02010609060101010101" charset="-122"/>
                <a:ea typeface="黑体" panose="02010609060101010101" charset="-122"/>
                <a:cs typeface="黑体" panose="02010609060101010101" charset="-122"/>
              </a:rPr>
              <a:t>I/O BR</a:t>
            </a:r>
            <a:r>
              <a:rPr lang="zh-CN" altLang="en-US" sz="1350" b="1">
                <a:latin typeface="黑体" panose="02010609060101010101" charset="-122"/>
                <a:ea typeface="黑体" panose="02010609060101010101" charset="-122"/>
                <a:cs typeface="黑体" panose="02010609060101010101" charset="-122"/>
              </a:rPr>
              <a:t>：</a:t>
            </a:r>
            <a:r>
              <a:rPr lang="en-US" altLang="zh-CN" sz="1350" b="1">
                <a:latin typeface="黑体" panose="02010609060101010101" charset="-122"/>
                <a:ea typeface="黑体" panose="02010609060101010101" charset="-122"/>
                <a:cs typeface="黑体" panose="02010609060101010101" charset="-122"/>
              </a:rPr>
              <a:t>I/O</a:t>
            </a:r>
            <a:r>
              <a:rPr lang="zh-CN" altLang="en-US" sz="1350" b="1">
                <a:latin typeface="黑体" panose="02010609060101010101" charset="-122"/>
                <a:ea typeface="黑体" panose="02010609060101010101" charset="-122"/>
                <a:cs typeface="黑体" panose="02010609060101010101" charset="-122"/>
              </a:rPr>
              <a:t>缓冲寄存器</a:t>
            </a:r>
            <a:endParaRPr lang="zh-CN" altLang="en-US" sz="1350" b="1">
              <a:latin typeface="黑体" panose="02010609060101010101" charset="-122"/>
              <a:ea typeface="黑体" panose="02010609060101010101" charset="-122"/>
              <a:cs typeface="黑体" panose="02010609060101010101" charset="-122"/>
            </a:endParaRPr>
          </a:p>
        </p:txBody>
      </p:sp>
      <p:grpSp>
        <p:nvGrpSpPr>
          <p:cNvPr id="33" name="组合 32"/>
          <p:cNvGrpSpPr/>
          <p:nvPr/>
        </p:nvGrpSpPr>
        <p:grpSpPr>
          <a:xfrm>
            <a:off x="1037749" y="1894046"/>
            <a:ext cx="3725228" cy="3316605"/>
            <a:chOff x="10324" y="286"/>
            <a:chExt cx="7822" cy="6964"/>
          </a:xfrm>
        </p:grpSpPr>
        <p:sp>
          <p:nvSpPr>
            <p:cNvPr id="27" name="矩形 26"/>
            <p:cNvSpPr/>
            <p:nvPr/>
          </p:nvSpPr>
          <p:spPr>
            <a:xfrm>
              <a:off x="10504" y="5926"/>
              <a:ext cx="2385" cy="1324"/>
            </a:xfrm>
            <a:prstGeom prst="rect">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800"/>
            </a:p>
          </p:txBody>
        </p:sp>
        <p:sp>
          <p:nvSpPr>
            <p:cNvPr id="4" name="矩形 3"/>
            <p:cNvSpPr/>
            <p:nvPr/>
          </p:nvSpPr>
          <p:spPr>
            <a:xfrm>
              <a:off x="10324" y="286"/>
              <a:ext cx="7313" cy="4826"/>
            </a:xfrm>
            <a:prstGeom prst="rect">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800"/>
            </a:p>
          </p:txBody>
        </p:sp>
        <p:grpSp>
          <p:nvGrpSpPr>
            <p:cNvPr id="10" name="组合 9"/>
            <p:cNvGrpSpPr/>
            <p:nvPr/>
          </p:nvGrpSpPr>
          <p:grpSpPr>
            <a:xfrm>
              <a:off x="10648" y="1084"/>
              <a:ext cx="3467" cy="2426"/>
              <a:chOff x="10648" y="1084"/>
              <a:chExt cx="3467" cy="2426"/>
            </a:xfrm>
          </p:grpSpPr>
          <p:sp>
            <p:nvSpPr>
              <p:cNvPr id="5" name="矩形 4"/>
              <p:cNvSpPr/>
              <p:nvPr/>
            </p:nvSpPr>
            <p:spPr>
              <a:xfrm>
                <a:off x="10648" y="1639"/>
                <a:ext cx="3467" cy="1871"/>
              </a:xfrm>
              <a:prstGeom prst="rect">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800"/>
              </a:p>
            </p:txBody>
          </p:sp>
          <p:sp>
            <p:nvSpPr>
              <p:cNvPr id="22" name="文本框 21"/>
              <p:cNvSpPr txBox="1"/>
              <p:nvPr/>
            </p:nvSpPr>
            <p:spPr>
              <a:xfrm>
                <a:off x="10872" y="1084"/>
                <a:ext cx="2651" cy="579"/>
              </a:xfrm>
              <a:prstGeom prst="rect">
                <a:avLst/>
              </a:prstGeom>
            </p:spPr>
            <p:txBody>
              <a:bodyPr wrap="square">
                <a:spAutoFit/>
                <a:extLst>
                  <a:ext uri="{4A0BC546-FE56-4ADE-93B0-CB8AF2F6F144}">
                    <wpsdc:textFrameExt xmlns:wpsdc="http://www.wps.cn/officeDocument/2022/drawingmlCustomData" type="text"/>
                  </a:ext>
                </a:extLst>
              </a:bodyPr>
              <a:p>
                <a:pPr algn="l"/>
                <a:r>
                  <a:rPr lang="zh-CN" altLang="en-US" sz="1200" b="1">
                    <a:latin typeface="Arial" panose="020B0604020202020204" pitchFamily="34" charset="0"/>
                    <a:ea typeface="微软雅黑" panose="020B0503020204020204" pitchFamily="34" charset="-122"/>
                  </a:rPr>
                  <a:t>内存访问单元</a:t>
                </a:r>
                <a:endParaRPr lang="zh-CN" altLang="en-US" sz="1200" b="1">
                  <a:latin typeface="Arial" panose="020B0604020202020204" pitchFamily="34" charset="0"/>
                  <a:ea typeface="微软雅黑" panose="020B0503020204020204" pitchFamily="34" charset="-122"/>
                </a:endParaRPr>
              </a:p>
            </p:txBody>
          </p:sp>
          <p:sp>
            <p:nvSpPr>
              <p:cNvPr id="6" name="矩形 5"/>
              <p:cNvSpPr/>
              <p:nvPr/>
            </p:nvSpPr>
            <p:spPr>
              <a:xfrm>
                <a:off x="10872" y="1863"/>
                <a:ext cx="1214" cy="592"/>
              </a:xfrm>
              <a:prstGeom prst="rect">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b="1">
                    <a:solidFill>
                      <a:schemeClr val="tx1"/>
                    </a:solidFill>
                  </a:rPr>
                  <a:t>PC</a:t>
                </a:r>
                <a:endParaRPr lang="en-US" altLang="zh-CN" sz="1600" b="1">
                  <a:solidFill>
                    <a:schemeClr val="tx1"/>
                  </a:solidFill>
                </a:endParaRPr>
              </a:p>
            </p:txBody>
          </p:sp>
          <p:sp>
            <p:nvSpPr>
              <p:cNvPr id="7" name="矩形 6"/>
              <p:cNvSpPr/>
              <p:nvPr/>
            </p:nvSpPr>
            <p:spPr>
              <a:xfrm>
                <a:off x="10872" y="2655"/>
                <a:ext cx="1214" cy="592"/>
              </a:xfrm>
              <a:prstGeom prst="rect">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b="1">
                    <a:solidFill>
                      <a:schemeClr val="tx1"/>
                    </a:solidFill>
                  </a:rPr>
                  <a:t>IR</a:t>
                </a:r>
                <a:endParaRPr lang="en-US" altLang="zh-CN" sz="1600" b="1">
                  <a:solidFill>
                    <a:schemeClr val="tx1"/>
                  </a:solidFill>
                </a:endParaRPr>
              </a:p>
            </p:txBody>
          </p:sp>
          <p:sp>
            <p:nvSpPr>
              <p:cNvPr id="8" name="矩形 7"/>
              <p:cNvSpPr/>
              <p:nvPr/>
            </p:nvSpPr>
            <p:spPr>
              <a:xfrm>
                <a:off x="12305" y="1863"/>
                <a:ext cx="1596" cy="592"/>
              </a:xfrm>
              <a:prstGeom prst="rect">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b="1">
                    <a:solidFill>
                      <a:schemeClr val="tx1"/>
                    </a:solidFill>
                  </a:rPr>
                  <a:t>MAR</a:t>
                </a:r>
                <a:endParaRPr lang="en-US" altLang="zh-CN" sz="1600" b="1">
                  <a:solidFill>
                    <a:schemeClr val="tx1"/>
                  </a:solidFill>
                </a:endParaRPr>
              </a:p>
            </p:txBody>
          </p:sp>
          <p:sp>
            <p:nvSpPr>
              <p:cNvPr id="9" name="矩形 8"/>
              <p:cNvSpPr/>
              <p:nvPr/>
            </p:nvSpPr>
            <p:spPr>
              <a:xfrm>
                <a:off x="12305" y="2655"/>
                <a:ext cx="1457" cy="592"/>
              </a:xfrm>
              <a:prstGeom prst="rect">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b="1">
                    <a:solidFill>
                      <a:schemeClr val="tx1"/>
                    </a:solidFill>
                  </a:rPr>
                  <a:t>MDR</a:t>
                </a:r>
                <a:endParaRPr lang="en-US" altLang="zh-CN" sz="1600" b="1">
                  <a:solidFill>
                    <a:schemeClr val="tx1"/>
                  </a:solidFill>
                </a:endParaRPr>
              </a:p>
            </p:txBody>
          </p:sp>
        </p:grpSp>
        <p:grpSp>
          <p:nvGrpSpPr>
            <p:cNvPr id="11" name="组合 10"/>
            <p:cNvGrpSpPr/>
            <p:nvPr/>
          </p:nvGrpSpPr>
          <p:grpSpPr>
            <a:xfrm>
              <a:off x="14973" y="1892"/>
              <a:ext cx="1879" cy="1365"/>
              <a:chOff x="10834" y="1892"/>
              <a:chExt cx="1879" cy="1365"/>
            </a:xfrm>
          </p:grpSpPr>
          <p:sp>
            <p:nvSpPr>
              <p:cNvPr id="14" name="矩形 13"/>
              <p:cNvSpPr/>
              <p:nvPr/>
            </p:nvSpPr>
            <p:spPr>
              <a:xfrm>
                <a:off x="10835" y="1892"/>
                <a:ext cx="1878" cy="592"/>
              </a:xfrm>
              <a:prstGeom prst="rect">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b="1">
                    <a:solidFill>
                      <a:schemeClr val="tx1"/>
                    </a:solidFill>
                  </a:rPr>
                  <a:t>I/O AR</a:t>
                </a:r>
                <a:endParaRPr lang="en-US" altLang="zh-CN" sz="1600" b="1">
                  <a:solidFill>
                    <a:schemeClr val="tx1"/>
                  </a:solidFill>
                </a:endParaRPr>
              </a:p>
            </p:txBody>
          </p:sp>
          <p:sp>
            <p:nvSpPr>
              <p:cNvPr id="15" name="矩形 14"/>
              <p:cNvSpPr/>
              <p:nvPr/>
            </p:nvSpPr>
            <p:spPr>
              <a:xfrm>
                <a:off x="10834" y="2665"/>
                <a:ext cx="1879" cy="592"/>
              </a:xfrm>
              <a:prstGeom prst="rect">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b="1">
                    <a:solidFill>
                      <a:schemeClr val="tx1"/>
                    </a:solidFill>
                  </a:rPr>
                  <a:t>I/O  BR </a:t>
                </a:r>
                <a:endParaRPr lang="en-US" altLang="zh-CN" sz="1600" b="1">
                  <a:solidFill>
                    <a:schemeClr val="tx1"/>
                  </a:solidFill>
                </a:endParaRPr>
              </a:p>
            </p:txBody>
          </p:sp>
        </p:grpSp>
        <p:grpSp>
          <p:nvGrpSpPr>
            <p:cNvPr id="18" name="组合 17"/>
            <p:cNvGrpSpPr/>
            <p:nvPr/>
          </p:nvGrpSpPr>
          <p:grpSpPr>
            <a:xfrm>
              <a:off x="11653" y="3946"/>
              <a:ext cx="4282" cy="882"/>
              <a:chOff x="10165" y="1666"/>
              <a:chExt cx="4282" cy="882"/>
            </a:xfrm>
          </p:grpSpPr>
          <p:sp>
            <p:nvSpPr>
              <p:cNvPr id="19" name="梯形 18"/>
              <p:cNvSpPr/>
              <p:nvPr/>
            </p:nvSpPr>
            <p:spPr>
              <a:xfrm>
                <a:off x="10165" y="1666"/>
                <a:ext cx="4282" cy="882"/>
              </a:xfrm>
              <a:prstGeom prst="trapezoid">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800"/>
              </a:p>
            </p:txBody>
          </p:sp>
          <p:sp>
            <p:nvSpPr>
              <p:cNvPr id="20" name="文本框 19"/>
              <p:cNvSpPr txBox="1"/>
              <p:nvPr/>
            </p:nvSpPr>
            <p:spPr>
              <a:xfrm>
                <a:off x="11024" y="1758"/>
                <a:ext cx="3119" cy="773"/>
              </a:xfrm>
              <a:prstGeom prst="rect">
                <a:avLst/>
              </a:prstGeom>
            </p:spPr>
            <p:txBody>
              <a:bodyPr wrap="square">
                <a:spAutoFit/>
                <a:extLst>
                  <a:ext uri="{4A0BC546-FE56-4ADE-93B0-CB8AF2F6F144}">
                    <wpsdc:textFrameExt xmlns:wpsdc="http://www.wps.cn/officeDocument/2022/drawingmlCustomData" type="text"/>
                  </a:ext>
                </a:extLst>
              </a:bodyPr>
              <a:p>
                <a:pPr algn="l"/>
                <a:r>
                  <a:rPr lang="zh-CN" sz="1800">
                    <a:latin typeface="Arial" panose="020B0604020202020204" pitchFamily="34" charset="0"/>
                    <a:ea typeface="微软雅黑" panose="020B0503020204020204" pitchFamily="34" charset="-122"/>
                  </a:rPr>
                  <a:t>执行</a:t>
                </a:r>
                <a:r>
                  <a:rPr lang="zh-CN" altLang="en-US" sz="1800">
                    <a:latin typeface="Arial" panose="020B0604020202020204" pitchFamily="34" charset="0"/>
                    <a:ea typeface="微软雅黑" panose="020B0503020204020204" pitchFamily="34" charset="-122"/>
                  </a:rPr>
                  <a:t>单元</a:t>
                </a:r>
                <a:endParaRPr lang="zh-CN" altLang="en-US" sz="1800">
                  <a:latin typeface="Arial" panose="020B0604020202020204" pitchFamily="34" charset="0"/>
                  <a:ea typeface="微软雅黑" panose="020B0503020204020204" pitchFamily="34" charset="-122"/>
                </a:endParaRPr>
              </a:p>
            </p:txBody>
          </p:sp>
        </p:grpSp>
        <p:sp>
          <p:nvSpPr>
            <p:cNvPr id="24" name="矩形 23"/>
            <p:cNvSpPr/>
            <p:nvPr/>
          </p:nvSpPr>
          <p:spPr>
            <a:xfrm>
              <a:off x="14973" y="6048"/>
              <a:ext cx="2385" cy="1182"/>
            </a:xfrm>
            <a:prstGeom prst="rect">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800"/>
            </a:p>
          </p:txBody>
        </p:sp>
        <p:sp>
          <p:nvSpPr>
            <p:cNvPr id="25" name="文本框 24"/>
            <p:cNvSpPr txBox="1"/>
            <p:nvPr/>
          </p:nvSpPr>
          <p:spPr>
            <a:xfrm>
              <a:off x="13522" y="462"/>
              <a:ext cx="1578" cy="676"/>
            </a:xfrm>
            <a:prstGeom prst="rect">
              <a:avLst/>
            </a:prstGeom>
          </p:spPr>
          <p:txBody>
            <a:bodyPr wrap="square">
              <a:spAutoFit/>
              <a:extLst>
                <a:ext uri="{4A0BC546-FE56-4ADE-93B0-CB8AF2F6F144}">
                  <wpsdc:textFrameExt xmlns:wpsdc="http://www.wps.cn/officeDocument/2022/drawingmlCustomData" type="text"/>
                </a:ext>
              </a:extLst>
            </a:bodyPr>
            <a:p>
              <a:pPr algn="l"/>
              <a:r>
                <a:rPr lang="en-US" altLang="zh-CN" sz="1500" b="1">
                  <a:latin typeface="Arial" panose="020B0604020202020204" pitchFamily="34" charset="0"/>
                  <a:ea typeface="微软雅黑" panose="020B0503020204020204" pitchFamily="34" charset="-122"/>
                </a:rPr>
                <a:t>CPU</a:t>
              </a:r>
              <a:endParaRPr lang="en-US" altLang="zh-CN" sz="1500" b="1">
                <a:latin typeface="Arial" panose="020B0604020202020204" pitchFamily="34" charset="0"/>
                <a:ea typeface="微软雅黑" panose="020B0503020204020204" pitchFamily="34" charset="-122"/>
              </a:endParaRPr>
            </a:p>
          </p:txBody>
        </p:sp>
        <p:sp>
          <p:nvSpPr>
            <p:cNvPr id="26" name="文本框 25"/>
            <p:cNvSpPr txBox="1"/>
            <p:nvPr/>
          </p:nvSpPr>
          <p:spPr>
            <a:xfrm>
              <a:off x="15630" y="6319"/>
              <a:ext cx="1752" cy="676"/>
            </a:xfrm>
            <a:prstGeom prst="rect">
              <a:avLst/>
            </a:prstGeom>
          </p:spPr>
          <p:txBody>
            <a:bodyPr wrap="square">
              <a:spAutoFit/>
              <a:extLst>
                <a:ext uri="{4A0BC546-FE56-4ADE-93B0-CB8AF2F6F144}">
                  <wpsdc:textFrameExt xmlns:wpsdc="http://www.wps.cn/officeDocument/2022/drawingmlCustomData" type="text"/>
                </a:ext>
              </a:extLst>
            </a:bodyPr>
            <a:p>
              <a:pPr algn="l"/>
              <a:r>
                <a:rPr lang="zh-CN" altLang="en-US" sz="1500" b="1">
                  <a:latin typeface="Arial" panose="020B0604020202020204" pitchFamily="34" charset="0"/>
                  <a:ea typeface="微软雅黑" panose="020B0503020204020204" pitchFamily="34" charset="-122"/>
                </a:rPr>
                <a:t>内存</a:t>
              </a:r>
              <a:endParaRPr lang="zh-CN" altLang="en-US" sz="1500" b="1">
                <a:latin typeface="Arial" panose="020B0604020202020204" pitchFamily="34" charset="0"/>
                <a:ea typeface="微软雅黑" panose="020B0503020204020204" pitchFamily="34" charset="-122"/>
              </a:endParaRPr>
            </a:p>
          </p:txBody>
        </p:sp>
        <p:sp>
          <p:nvSpPr>
            <p:cNvPr id="28" name="文本框 27"/>
            <p:cNvSpPr txBox="1"/>
            <p:nvPr/>
          </p:nvSpPr>
          <p:spPr>
            <a:xfrm>
              <a:off x="10796" y="6290"/>
              <a:ext cx="2093" cy="676"/>
            </a:xfrm>
            <a:prstGeom prst="rect">
              <a:avLst/>
            </a:prstGeom>
          </p:spPr>
          <p:txBody>
            <a:bodyPr wrap="square">
              <a:spAutoFit/>
              <a:extLst>
                <a:ext uri="{4A0BC546-FE56-4ADE-93B0-CB8AF2F6F144}">
                  <wpsdc:textFrameExt xmlns:wpsdc="http://www.wps.cn/officeDocument/2022/drawingmlCustomData" type="text"/>
                </a:ext>
              </a:extLst>
            </a:bodyPr>
            <a:p>
              <a:pPr algn="l"/>
              <a:r>
                <a:rPr lang="en-US" altLang="zh-CN" sz="1500" b="1">
                  <a:latin typeface="Arial" panose="020B0604020202020204" pitchFamily="34" charset="0"/>
                  <a:ea typeface="微软雅黑" panose="020B0503020204020204" pitchFamily="34" charset="-122"/>
                </a:rPr>
                <a:t>I/O </a:t>
              </a:r>
              <a:r>
                <a:rPr lang="zh-CN" altLang="en-US" sz="1500" b="1">
                  <a:latin typeface="Arial" panose="020B0604020202020204" pitchFamily="34" charset="0"/>
                  <a:ea typeface="微软雅黑" panose="020B0503020204020204" pitchFamily="34" charset="-122"/>
                </a:rPr>
                <a:t>设备</a:t>
              </a:r>
              <a:endParaRPr lang="zh-CN" altLang="en-US" sz="1500" b="1">
                <a:latin typeface="Arial" panose="020B0604020202020204" pitchFamily="34" charset="0"/>
                <a:ea typeface="微软雅黑" panose="020B0503020204020204" pitchFamily="34" charset="-122"/>
              </a:endParaRPr>
            </a:p>
          </p:txBody>
        </p:sp>
        <p:sp>
          <p:nvSpPr>
            <p:cNvPr id="29" name="上下箭头 28"/>
            <p:cNvSpPr/>
            <p:nvPr/>
          </p:nvSpPr>
          <p:spPr>
            <a:xfrm>
              <a:off x="11392" y="5124"/>
              <a:ext cx="302" cy="810"/>
            </a:xfrm>
            <a:prstGeom prst="upDownArrow">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800"/>
            </a:p>
          </p:txBody>
        </p:sp>
        <p:sp>
          <p:nvSpPr>
            <p:cNvPr id="30" name="上下箭头 29"/>
            <p:cNvSpPr/>
            <p:nvPr/>
          </p:nvSpPr>
          <p:spPr>
            <a:xfrm>
              <a:off x="15702" y="5179"/>
              <a:ext cx="305" cy="802"/>
            </a:xfrm>
            <a:prstGeom prst="upDownArrow">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800"/>
            </a:p>
          </p:txBody>
        </p:sp>
        <p:sp>
          <p:nvSpPr>
            <p:cNvPr id="31" name="文本框 30"/>
            <p:cNvSpPr txBox="1"/>
            <p:nvPr/>
          </p:nvSpPr>
          <p:spPr>
            <a:xfrm>
              <a:off x="11695" y="5296"/>
              <a:ext cx="2211" cy="579"/>
            </a:xfrm>
            <a:prstGeom prst="rect">
              <a:avLst/>
            </a:prstGeom>
          </p:spPr>
          <p:txBody>
            <a:bodyPr wrap="square">
              <a:spAutoFit/>
              <a:extLst>
                <a:ext uri="{4A0BC546-FE56-4ADE-93B0-CB8AF2F6F144}">
                  <wpsdc:textFrameExt xmlns:wpsdc="http://www.wps.cn/officeDocument/2022/drawingmlCustomData" type="text"/>
                </a:ext>
              </a:extLst>
            </a:bodyPr>
            <a:p>
              <a:pPr algn="l"/>
              <a:r>
                <a:rPr lang="en-US" altLang="zh-CN" sz="1200" b="1">
                  <a:latin typeface="Arial" panose="020B0604020202020204" pitchFamily="34" charset="0"/>
                  <a:ea typeface="微软雅黑" panose="020B0503020204020204" pitchFamily="34" charset="-122"/>
                </a:rPr>
                <a:t>I/O</a:t>
              </a:r>
              <a:r>
                <a:rPr lang="zh-CN" altLang="en-US" sz="1200" b="1">
                  <a:latin typeface="Arial" panose="020B0604020202020204" pitchFamily="34" charset="0"/>
                  <a:ea typeface="微软雅黑" panose="020B0503020204020204" pitchFamily="34" charset="-122"/>
                </a:rPr>
                <a:t>总线</a:t>
              </a:r>
              <a:endParaRPr lang="zh-CN" altLang="en-US" sz="1200" b="1">
                <a:latin typeface="Arial" panose="020B0604020202020204" pitchFamily="34" charset="0"/>
                <a:ea typeface="微软雅黑" panose="020B0503020204020204" pitchFamily="34" charset="-122"/>
              </a:endParaRPr>
            </a:p>
          </p:txBody>
        </p:sp>
        <p:sp>
          <p:nvSpPr>
            <p:cNvPr id="32" name="文本框 31"/>
            <p:cNvSpPr txBox="1"/>
            <p:nvPr/>
          </p:nvSpPr>
          <p:spPr>
            <a:xfrm>
              <a:off x="15935" y="5314"/>
              <a:ext cx="2211" cy="579"/>
            </a:xfrm>
            <a:prstGeom prst="rect">
              <a:avLst/>
            </a:prstGeom>
          </p:spPr>
          <p:txBody>
            <a:bodyPr wrap="square">
              <a:spAutoFit/>
              <a:extLst>
                <a:ext uri="{4A0BC546-FE56-4ADE-93B0-CB8AF2F6F144}">
                  <wpsdc:textFrameExt xmlns:wpsdc="http://www.wps.cn/officeDocument/2022/drawingmlCustomData" type="text"/>
                </a:ext>
              </a:extLst>
            </a:bodyPr>
            <a:p>
              <a:pPr algn="l"/>
              <a:r>
                <a:rPr lang="zh-CN" sz="1200" b="1">
                  <a:latin typeface="Arial" panose="020B0604020202020204" pitchFamily="34" charset="0"/>
                  <a:ea typeface="微软雅黑" panose="020B0503020204020204" pitchFamily="34" charset="-122"/>
                </a:rPr>
                <a:t>内存总线</a:t>
              </a:r>
              <a:endParaRPr lang="zh-CN" sz="1200" b="1">
                <a:latin typeface="Arial" panose="020B0604020202020204" pitchFamily="34" charset="0"/>
                <a:ea typeface="微软雅黑" panose="020B0503020204020204" pitchFamily="34" charset="-122"/>
              </a:endParaRPr>
            </a:p>
          </p:txBody>
        </p:sp>
      </p:grpSp>
      <p:sp>
        <p:nvSpPr>
          <p:cNvPr id="34" name="矩形 33"/>
          <p:cNvSpPr/>
          <p:nvPr/>
        </p:nvSpPr>
        <p:spPr>
          <a:xfrm>
            <a:off x="2938463" y="2538413"/>
            <a:ext cx="1478756" cy="891064"/>
          </a:xfrm>
          <a:prstGeom prst="rect">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800"/>
          </a:p>
        </p:txBody>
      </p:sp>
      <p:sp>
        <p:nvSpPr>
          <p:cNvPr id="35" name="文本框 34"/>
          <p:cNvSpPr txBox="1"/>
          <p:nvPr/>
        </p:nvSpPr>
        <p:spPr>
          <a:xfrm>
            <a:off x="3154204" y="2268379"/>
            <a:ext cx="1052989" cy="275590"/>
          </a:xfrm>
          <a:prstGeom prst="rect">
            <a:avLst/>
          </a:prstGeom>
        </p:spPr>
        <p:txBody>
          <a:bodyPr wrap="square">
            <a:spAutoFit/>
            <a:extLst>
              <a:ext uri="{4A0BC546-FE56-4ADE-93B0-CB8AF2F6F144}">
                <wpsdc:textFrameExt xmlns:wpsdc="http://www.wps.cn/officeDocument/2022/drawingmlCustomData" type="text"/>
              </a:ext>
            </a:extLst>
          </a:bodyPr>
          <a:p>
            <a:pPr algn="l"/>
            <a:r>
              <a:rPr lang="en-US" altLang="zh-CN" sz="1200" b="1">
                <a:latin typeface="Arial" panose="020B0604020202020204" pitchFamily="34" charset="0"/>
                <a:ea typeface="微软雅黑" panose="020B0503020204020204" pitchFamily="34" charset="-122"/>
              </a:rPr>
              <a:t>I/O</a:t>
            </a:r>
            <a:r>
              <a:rPr lang="zh-CN" altLang="en-US" sz="1200" b="1">
                <a:latin typeface="Arial" panose="020B0604020202020204" pitchFamily="34" charset="0"/>
                <a:ea typeface="微软雅黑" panose="020B0503020204020204" pitchFamily="34" charset="-122"/>
              </a:rPr>
              <a:t>接口单元</a:t>
            </a:r>
            <a:endParaRPr lang="zh-CN" altLang="en-US" sz="1200" b="1">
              <a:latin typeface="Arial" panose="020B0604020202020204" pitchFamily="34" charset="0"/>
              <a:ea typeface="微软雅黑" panose="020B0503020204020204" pitchFamily="34" charset="-122"/>
            </a:endParaRPr>
          </a:p>
        </p:txBody>
      </p:sp>
      <p:sp>
        <p:nvSpPr>
          <p:cNvPr id="2" name="文本框 1"/>
          <p:cNvSpPr txBox="1"/>
          <p:nvPr/>
        </p:nvSpPr>
        <p:spPr>
          <a:xfrm>
            <a:off x="1001395" y="544830"/>
            <a:ext cx="4074160" cy="521970"/>
          </a:xfrm>
          <a:prstGeom prst="rect">
            <a:avLst/>
          </a:prstGeom>
        </p:spPr>
        <p:txBody>
          <a:bodyPr wrap="square">
            <a:spAutoFit/>
          </a:bodyPr>
          <a:p>
            <a:r>
              <a:rPr lang="en-US" altLang="zh-CN" sz="2800" b="0">
                <a:solidFill>
                  <a:srgbClr val="002060"/>
                </a:solidFill>
                <a:latin typeface="方正大黑简体" panose="02000000000000000000" charset="-122"/>
                <a:ea typeface="方正大黑简体" panose="02000000000000000000" charset="-122"/>
                <a:cs typeface="方正大黑简体" panose="02000000000000000000" charset="-122"/>
              </a:rPr>
              <a:t>1.1</a:t>
            </a:r>
            <a:r>
              <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rPr>
              <a:t>操作系统的定义</a:t>
            </a:r>
            <a:endPar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17" name="文本框 16"/>
          <p:cNvSpPr txBox="1"/>
          <p:nvPr/>
        </p:nvSpPr>
        <p:spPr>
          <a:xfrm>
            <a:off x="814070" y="1234440"/>
            <a:ext cx="4261485" cy="368300"/>
          </a:xfrm>
          <a:prstGeom prst="rect">
            <a:avLst/>
          </a:prstGeom>
        </p:spPr>
        <p:txBody>
          <a:bodyPr wrap="square">
            <a:spAutoFit/>
          </a:bodyPr>
          <a:p>
            <a:r>
              <a:rPr lang="zh-CN" altLang="en-US" b="1">
                <a:solidFill>
                  <a:schemeClr val="tx1"/>
                </a:solidFill>
                <a:latin typeface="FZXSSK--GBK1-0"/>
                <a:ea typeface="FZXSSK--GBK1-0"/>
              </a:rPr>
              <a:t>从硬件的角度，计算机系统组成如图</a:t>
            </a:r>
            <a:endParaRPr lang="zh-CN" altLang="en-US" b="1">
              <a:solidFill>
                <a:schemeClr val="tx1"/>
              </a:solidFill>
              <a:latin typeface="FZXSSK--GBK1-0"/>
              <a:ea typeface="FZXSSK--GBK1-0"/>
            </a:endParaRPr>
          </a:p>
        </p:txBody>
      </p:sp>
      <p:sp>
        <p:nvSpPr>
          <p:cNvPr id="21" name="文本框 20"/>
          <p:cNvSpPr txBox="1"/>
          <p:nvPr/>
        </p:nvSpPr>
        <p:spPr>
          <a:xfrm>
            <a:off x="7009765" y="1009650"/>
            <a:ext cx="4172585" cy="968375"/>
          </a:xfrm>
          <a:prstGeom prst="rect">
            <a:avLst/>
          </a:prstGeom>
        </p:spPr>
        <p:txBody>
          <a:bodyPr wrap="square">
            <a:spAutoFit/>
          </a:bodyPr>
          <a:p>
            <a:pPr>
              <a:lnSpc>
                <a:spcPct val="150000"/>
              </a:lnSpc>
            </a:pPr>
            <a:r>
              <a:rPr lang="zh-CN" altLang="en-US" sz="2000" b="1">
                <a:solidFill>
                  <a:srgbClr val="002060"/>
                </a:solidFill>
                <a:latin typeface="方正粗黑宋简体" panose="02000000000000000000" charset="-122"/>
                <a:ea typeface="方正粗黑宋简体" panose="02000000000000000000" charset="-122"/>
              </a:rPr>
              <a:t>思考：</a:t>
            </a:r>
            <a:endParaRPr lang="zh-CN" altLang="en-US" sz="2000" b="1">
              <a:solidFill>
                <a:srgbClr val="002060"/>
              </a:solidFill>
              <a:latin typeface="方正粗黑宋简体" panose="02000000000000000000" charset="-122"/>
              <a:ea typeface="方正粗黑宋简体" panose="02000000000000000000" charset="-122"/>
            </a:endParaRPr>
          </a:p>
          <a:p>
            <a:pPr>
              <a:lnSpc>
                <a:spcPct val="150000"/>
              </a:lnSpc>
            </a:pPr>
            <a:r>
              <a:rPr lang="zh-CN" altLang="en-US" b="1">
                <a:solidFill>
                  <a:schemeClr val="tx1"/>
                </a:solidFill>
                <a:latin typeface="FZXSSK--GBK1-0"/>
                <a:ea typeface="FZXSSK--GBK1-0"/>
              </a:rPr>
              <a:t> </a:t>
            </a:r>
            <a:r>
              <a:rPr lang="en-US" altLang="zh-CN" b="1">
                <a:solidFill>
                  <a:schemeClr val="tx1"/>
                </a:solidFill>
                <a:latin typeface="FZXSSK--GBK1-0"/>
                <a:ea typeface="FZXSSK--GBK1-0"/>
              </a:rPr>
              <a:t>  </a:t>
            </a:r>
            <a:r>
              <a:rPr lang="zh-CN" altLang="en-US" b="1">
                <a:solidFill>
                  <a:schemeClr val="tx1"/>
                </a:solidFill>
                <a:latin typeface="FZXSSK--GBK1-0"/>
                <a:ea typeface="FZXSSK--GBK1-0"/>
              </a:rPr>
              <a:t>怎样在计算机上进行线性方程组求解？</a:t>
            </a:r>
            <a:endParaRPr lang="zh-CN" altLang="en-US" b="1">
              <a:solidFill>
                <a:schemeClr val="tx1"/>
              </a:solidFill>
              <a:latin typeface="FZXSSK--GBK1-0"/>
              <a:ea typeface="FZXSSK--GBK1-0"/>
            </a:endParaRPr>
          </a:p>
        </p:txBody>
      </p:sp>
      <p:sp>
        <p:nvSpPr>
          <p:cNvPr id="23" name="文本框 22"/>
          <p:cNvSpPr txBox="1"/>
          <p:nvPr/>
        </p:nvSpPr>
        <p:spPr>
          <a:xfrm>
            <a:off x="7187565" y="2096770"/>
            <a:ext cx="4231640" cy="829945"/>
          </a:xfrm>
          <a:prstGeom prst="rect">
            <a:avLst/>
          </a:prstGeom>
        </p:spPr>
        <p:txBody>
          <a:bodyPr wrap="square">
            <a:spAutoFit/>
          </a:bodyPr>
          <a:p>
            <a:pPr>
              <a:lnSpc>
                <a:spcPct val="150000"/>
              </a:lnSpc>
            </a:pPr>
            <a:r>
              <a:rPr lang="zh-CN" altLang="en-US" sz="1600" b="1">
                <a:solidFill>
                  <a:schemeClr val="tx1"/>
                </a:solidFill>
                <a:latin typeface="FZXSSK--GBK1-0"/>
                <a:ea typeface="FZXSSK--GBK1-0"/>
              </a:rPr>
              <a:t>（</a:t>
            </a:r>
            <a:r>
              <a:rPr lang="en-US" altLang="zh-CN" sz="1600" b="1">
                <a:solidFill>
                  <a:schemeClr val="tx1"/>
                </a:solidFill>
                <a:latin typeface="FZXSSK--GBK1-0"/>
                <a:ea typeface="FZXSSK--GBK1-0"/>
              </a:rPr>
              <a:t>1</a:t>
            </a:r>
            <a:r>
              <a:rPr lang="zh-CN" altLang="en-US" sz="1600" b="1">
                <a:solidFill>
                  <a:schemeClr val="tx1"/>
                </a:solidFill>
                <a:latin typeface="FZXSSK--GBK1-0"/>
                <a:ea typeface="FZXSSK--GBK1-0"/>
              </a:rPr>
              <a:t>）硬件完成具体的计算和存储；</a:t>
            </a:r>
            <a:endParaRPr lang="zh-CN" altLang="en-US" sz="1600" b="1">
              <a:solidFill>
                <a:schemeClr val="tx1"/>
              </a:solidFill>
              <a:latin typeface="FZXSSK--GBK1-0"/>
              <a:ea typeface="FZXSSK--GBK1-0"/>
            </a:endParaRPr>
          </a:p>
          <a:p>
            <a:pPr>
              <a:lnSpc>
                <a:spcPct val="150000"/>
              </a:lnSpc>
            </a:pPr>
            <a:r>
              <a:rPr lang="zh-CN" altLang="en-US" sz="1600" b="1">
                <a:solidFill>
                  <a:schemeClr val="tx1"/>
                </a:solidFill>
                <a:latin typeface="FZXSSK--GBK1-0"/>
                <a:ea typeface="FZXSSK--GBK1-0"/>
              </a:rPr>
              <a:t>（</a:t>
            </a:r>
            <a:r>
              <a:rPr lang="en-US" altLang="zh-CN" sz="1600" b="1">
                <a:solidFill>
                  <a:schemeClr val="tx1"/>
                </a:solidFill>
                <a:latin typeface="FZXSSK--GBK1-0"/>
                <a:ea typeface="FZXSSK--GBK1-0"/>
              </a:rPr>
              <a:t>2</a:t>
            </a:r>
            <a:r>
              <a:rPr lang="zh-CN" altLang="en-US" sz="1600" b="1">
                <a:solidFill>
                  <a:schemeClr val="tx1"/>
                </a:solidFill>
                <a:latin typeface="FZXSSK--GBK1-0"/>
                <a:ea typeface="FZXSSK--GBK1-0"/>
              </a:rPr>
              <a:t>）求解线性方程组的程序给出计算步骤。</a:t>
            </a:r>
            <a:endParaRPr lang="zh-CN" altLang="en-US" sz="1600" b="1">
              <a:solidFill>
                <a:schemeClr val="tx1"/>
              </a:solidFill>
              <a:latin typeface="FZXSSK--GBK1-0"/>
              <a:ea typeface="FZXSSK--GBK1-0"/>
            </a:endParaRPr>
          </a:p>
        </p:txBody>
      </p:sp>
      <p:sp>
        <p:nvSpPr>
          <p:cNvPr id="36" name="文本框 35"/>
          <p:cNvSpPr txBox="1"/>
          <p:nvPr/>
        </p:nvSpPr>
        <p:spPr>
          <a:xfrm>
            <a:off x="7142480" y="3429635"/>
            <a:ext cx="4241165" cy="1568450"/>
          </a:xfrm>
          <a:prstGeom prst="rect">
            <a:avLst/>
          </a:prstGeom>
          <a:ln>
            <a:solidFill>
              <a:schemeClr val="accent1"/>
            </a:solidFill>
          </a:ln>
        </p:spPr>
        <p:txBody>
          <a:bodyPr wrap="square">
            <a:spAutoFit/>
          </a:bodyPr>
          <a:p>
            <a:pPr marL="285750" indent="-285750">
              <a:lnSpc>
                <a:spcPct val="150000"/>
              </a:lnSpc>
              <a:buFont typeface="Wingdings" panose="05000000000000000000" charset="0"/>
              <a:buChar char="p"/>
            </a:pPr>
            <a:r>
              <a:rPr lang="zh-CN" altLang="en-US" sz="1600" b="1">
                <a:solidFill>
                  <a:srgbClr val="231F20"/>
                </a:solidFill>
                <a:latin typeface="FZXSSK--GBK1-0"/>
                <a:ea typeface="FZXSSK--GBK1-0"/>
              </a:rPr>
              <a:t>如何将程序中的计算步骤转换成硬件操作？</a:t>
            </a:r>
            <a:endParaRPr lang="zh-CN" altLang="en-US" sz="1600" b="1">
              <a:solidFill>
                <a:srgbClr val="231F20"/>
              </a:solidFill>
              <a:latin typeface="FZXSSK--GBK1-0"/>
              <a:ea typeface="FZXSSK--GBK1-0"/>
            </a:endParaRPr>
          </a:p>
          <a:p>
            <a:pPr marL="285750" indent="-285750">
              <a:lnSpc>
                <a:spcPct val="150000"/>
              </a:lnSpc>
              <a:buFont typeface="Wingdings" panose="05000000000000000000" charset="0"/>
              <a:buChar char="p"/>
            </a:pPr>
            <a:r>
              <a:rPr lang="zh-CN" altLang="en-US" sz="1600" b="1">
                <a:solidFill>
                  <a:srgbClr val="231F20"/>
                </a:solidFill>
                <a:latin typeface="FZXSSK--GBK1-0"/>
                <a:ea typeface="FZXSSK--GBK1-0"/>
              </a:rPr>
              <a:t>如何将计算结果通过屏幕显示出来？</a:t>
            </a:r>
            <a:endParaRPr lang="zh-CN" altLang="en-US" sz="1600" b="1">
              <a:solidFill>
                <a:srgbClr val="231F20"/>
              </a:solidFill>
              <a:latin typeface="FZXSSK--GBK1-0"/>
              <a:ea typeface="FZXSSK--GBK1-0"/>
            </a:endParaRPr>
          </a:p>
          <a:p>
            <a:pPr marL="285750" indent="-285750">
              <a:lnSpc>
                <a:spcPct val="150000"/>
              </a:lnSpc>
              <a:buFont typeface="Wingdings" panose="05000000000000000000" charset="0"/>
              <a:buChar char="p"/>
            </a:pPr>
            <a:r>
              <a:rPr lang="zh-CN" altLang="en-US" sz="1600" b="1">
                <a:solidFill>
                  <a:srgbClr val="231F20"/>
                </a:solidFill>
                <a:latin typeface="FZXSSK--GBK1-0"/>
                <a:ea typeface="FZXSSK--GBK1-0"/>
              </a:rPr>
              <a:t>如何将程序存储到硬件（硬盘）？</a:t>
            </a:r>
            <a:endParaRPr lang="zh-CN" altLang="en-US" sz="1600" b="1">
              <a:solidFill>
                <a:srgbClr val="231F20"/>
              </a:solidFill>
              <a:latin typeface="FZXSSK--GBK1-0"/>
              <a:ea typeface="FZXSSK--GBK1-0"/>
            </a:endParaRPr>
          </a:p>
          <a:p>
            <a:pPr marL="285750" indent="-285750">
              <a:lnSpc>
                <a:spcPct val="150000"/>
              </a:lnSpc>
              <a:buFont typeface="Wingdings" panose="05000000000000000000" charset="0"/>
              <a:buChar char="p"/>
            </a:pPr>
            <a:r>
              <a:rPr lang="zh-CN" altLang="en-US" sz="1600" b="1">
                <a:solidFill>
                  <a:srgbClr val="231F20"/>
                </a:solidFill>
                <a:latin typeface="FZXSSK--GBK1-0"/>
                <a:ea typeface="FZXSSK--GBK1-0"/>
              </a:rPr>
              <a:t>如何管理硬盘中存储的数据与程序？</a:t>
            </a:r>
            <a:endParaRPr lang="zh-CN" altLang="en-US" sz="1600" b="1">
              <a:solidFill>
                <a:srgbClr val="231F20"/>
              </a:solidFill>
              <a:latin typeface="FZXSSK--GBK1-0"/>
              <a:ea typeface="FZXSSK--GBK1-0"/>
            </a:endParaRPr>
          </a:p>
        </p:txBody>
      </p:sp>
      <p:sp>
        <p:nvSpPr>
          <p:cNvPr id="37" name="文本框 36"/>
          <p:cNvSpPr txBox="1"/>
          <p:nvPr/>
        </p:nvSpPr>
        <p:spPr>
          <a:xfrm>
            <a:off x="8384540" y="5210810"/>
            <a:ext cx="1837690" cy="460375"/>
          </a:xfrm>
          <a:prstGeom prst="rect">
            <a:avLst/>
          </a:prstGeom>
        </p:spPr>
        <p:txBody>
          <a:bodyPr wrap="square">
            <a:spAutoFit/>
            <a:extLst>
              <a:ext uri="{4A0BC546-FE56-4ADE-93B0-CB8AF2F6F144}">
                <wpsdc:textFrameExt xmlns:wpsdc="http://www.wps.cn/officeDocument/2022/drawingmlCustomData" type="text"/>
              </a:ext>
            </a:extLst>
          </a:bodyPr>
          <a:p>
            <a:pPr algn="l"/>
            <a:r>
              <a:rPr lang="zh-CN" altLang="en-US" sz="2400">
                <a:effectLst>
                  <a:glow rad="139700">
                    <a:schemeClr val="accent2">
                      <a:satMod val="175000"/>
                      <a:alpha val="40000"/>
                    </a:schemeClr>
                  </a:glow>
                </a:effectLst>
                <a:latin typeface="汉仪铸字美心体简" panose="00020600040101010101" charset="-122"/>
                <a:ea typeface="汉仪铸字美心体简" panose="00020600040101010101" charset="-122"/>
              </a:rPr>
              <a:t>操作系统</a:t>
            </a:r>
            <a:endParaRPr lang="zh-CN" altLang="en-US" sz="2400">
              <a:effectLst>
                <a:glow rad="139700">
                  <a:schemeClr val="accent2">
                    <a:satMod val="175000"/>
                    <a:alpha val="40000"/>
                  </a:schemeClr>
                </a:glow>
              </a:effectLst>
              <a:latin typeface="汉仪铸字美心体简" panose="00020600040101010101" charset="-122"/>
              <a:ea typeface="汉仪铸字美心体简" panose="00020600040101010101"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par>
                                <p:cTn id="15" presetID="16" presetClass="entr" presetSubtype="21" fill="hold" grpId="0" nodeType="with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barn(inVertical)">
                                      <p:cBhvr>
                                        <p:cTn id="1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1" grpId="1"/>
      <p:bldP spid="23" grpId="0"/>
      <p:bldP spid="23" grpId="1"/>
      <p:bldP spid="36" grpId="0" animBg="1"/>
      <p:bldP spid="36" grpId="1" animBg="1"/>
      <p:bldP spid="37" grpId="0"/>
      <p:bldP spid="37"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370965" y="1303020"/>
            <a:ext cx="9124950" cy="768350"/>
          </a:xfrm>
          <a:prstGeom prst="rect">
            <a:avLst/>
          </a:prstGeom>
        </p:spPr>
        <p:txBody>
          <a:bodyPr wrap="square">
            <a:spAutoFit/>
          </a:bodyPr>
          <a:p>
            <a:r>
              <a:rPr lang="zh-CN" altLang="en-US" sz="2400" b="1">
                <a:solidFill>
                  <a:srgbClr val="660000"/>
                </a:solidFill>
                <a:latin typeface="黑体" panose="02010609060101010101" charset="-122"/>
                <a:ea typeface="黑体" panose="02010609060101010101" charset="-122"/>
              </a:rPr>
              <a:t>操作系统</a:t>
            </a:r>
            <a:r>
              <a:rPr lang="zh-CN" altLang="en-US" sz="2000" b="1">
                <a:solidFill>
                  <a:schemeClr val="tx1"/>
                </a:solidFill>
                <a:latin typeface="黑体" panose="02010609060101010101" charset="-122"/>
                <a:ea typeface="黑体" panose="02010609060101010101" charset="-122"/>
              </a:rPr>
              <a:t>用于管理计算机系统中的软件与硬件资源，控制程序执行，优化人机界面，合理组织计算机工作流程，为用户使用计算机提供良好的运行环境。</a:t>
            </a:r>
            <a:endParaRPr lang="zh-CN" altLang="en-US" sz="2000" b="1">
              <a:solidFill>
                <a:schemeClr val="tx1"/>
              </a:solidFill>
              <a:latin typeface="黑体" panose="02010609060101010101" charset="-122"/>
              <a:ea typeface="黑体" panose="02010609060101010101" charset="-122"/>
            </a:endParaRPr>
          </a:p>
        </p:txBody>
      </p:sp>
      <p:sp>
        <p:nvSpPr>
          <p:cNvPr id="4" name="文本框 3"/>
          <p:cNvSpPr txBox="1"/>
          <p:nvPr/>
        </p:nvSpPr>
        <p:spPr>
          <a:xfrm>
            <a:off x="1001395" y="544830"/>
            <a:ext cx="3755390" cy="521970"/>
          </a:xfrm>
          <a:prstGeom prst="rect">
            <a:avLst/>
          </a:prstGeom>
        </p:spPr>
        <p:txBody>
          <a:bodyPr wrap="square">
            <a:spAutoFit/>
          </a:bodyPr>
          <a:p>
            <a:r>
              <a:rPr lang="en-US" altLang="zh-CN" sz="2800" b="0">
                <a:solidFill>
                  <a:srgbClr val="002060"/>
                </a:solidFill>
                <a:latin typeface="方正大黑简体" panose="02000000000000000000" charset="-122"/>
                <a:ea typeface="方正大黑简体" panose="02000000000000000000" charset="-122"/>
                <a:cs typeface="方正大黑简体" panose="02000000000000000000" charset="-122"/>
              </a:rPr>
              <a:t>1.1</a:t>
            </a:r>
            <a:r>
              <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rPr>
              <a:t>操作系统的定义</a:t>
            </a:r>
            <a:endPar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5" name="文本框 4"/>
          <p:cNvSpPr txBox="1"/>
          <p:nvPr/>
        </p:nvSpPr>
        <p:spPr>
          <a:xfrm>
            <a:off x="3161030" y="4547235"/>
            <a:ext cx="4180840" cy="337185"/>
          </a:xfrm>
          <a:prstGeom prst="rect">
            <a:avLst/>
          </a:prstGeom>
        </p:spPr>
        <p:txBody>
          <a:bodyPr wrap="square">
            <a:spAutoFit/>
          </a:bodyPr>
          <a:p>
            <a:r>
              <a:rPr lang="zh-CN" altLang="en-US" sz="1600" b="1">
                <a:solidFill>
                  <a:srgbClr val="231F20"/>
                </a:solidFill>
                <a:latin typeface="方正楷体_GBK" panose="02000000000000000000" charset="-122"/>
                <a:ea typeface="方正楷体_GBK" panose="02000000000000000000" charset="-122"/>
              </a:rPr>
              <a:t>用户、软件、操作系统以及硬件之间的关系</a:t>
            </a:r>
            <a:endParaRPr lang="zh-CN" altLang="en-US" sz="1600" b="1">
              <a:solidFill>
                <a:srgbClr val="231F20"/>
              </a:solidFill>
              <a:latin typeface="方正楷体_GBK" panose="02000000000000000000" charset="-122"/>
              <a:ea typeface="方正楷体_GBK" panose="02000000000000000000" charset="-122"/>
            </a:endParaRPr>
          </a:p>
        </p:txBody>
      </p:sp>
      <p:sp>
        <p:nvSpPr>
          <p:cNvPr id="6" name="文本框 5"/>
          <p:cNvSpPr txBox="1"/>
          <p:nvPr/>
        </p:nvSpPr>
        <p:spPr>
          <a:xfrm>
            <a:off x="1859280" y="5229225"/>
            <a:ext cx="8210550" cy="460375"/>
          </a:xfrm>
          <a:prstGeom prst="rect">
            <a:avLst/>
          </a:prstGeom>
        </p:spPr>
        <p:txBody>
          <a:bodyPr wrap="square">
            <a:spAutoFit/>
          </a:bodyPr>
          <a:p>
            <a:r>
              <a:rPr lang="zh-CN" altLang="en-US" sz="2400" b="1">
                <a:solidFill>
                  <a:srgbClr val="660000"/>
                </a:solidFill>
                <a:latin typeface="方正粗黑宋简体" panose="02000000000000000000" charset="-122"/>
                <a:ea typeface="方正粗黑宋简体" panose="02000000000000000000" charset="-122"/>
              </a:rPr>
              <a:t>操作系统设计目标</a:t>
            </a:r>
            <a:r>
              <a:rPr lang="zh-CN" altLang="en-US" sz="2400" b="1">
                <a:solidFill>
                  <a:srgbClr val="231F20"/>
                </a:solidFill>
                <a:latin typeface="方正粗黑宋简体" panose="02000000000000000000" charset="-122"/>
                <a:ea typeface="方正粗黑宋简体" panose="02000000000000000000" charset="-122"/>
              </a:rPr>
              <a:t>：方便性、高效性、易维护性、开放性</a:t>
            </a:r>
            <a:endParaRPr lang="zh-CN" altLang="en-US" sz="2400" b="1">
              <a:solidFill>
                <a:srgbClr val="231F20"/>
              </a:solidFill>
              <a:latin typeface="方正粗黑宋简体" panose="02000000000000000000" charset="-122"/>
              <a:ea typeface="方正粗黑宋简体" panose="02000000000000000000" charset="-122"/>
            </a:endParaRPr>
          </a:p>
        </p:txBody>
      </p:sp>
      <p:pic>
        <p:nvPicPr>
          <p:cNvPr id="7" name="图片 6"/>
          <p:cNvPicPr>
            <a:picLocks noChangeAspect="1"/>
          </p:cNvPicPr>
          <p:nvPr/>
        </p:nvPicPr>
        <p:blipFill>
          <a:blip r:embed="rId1"/>
          <a:stretch>
            <a:fillRect/>
          </a:stretch>
        </p:blipFill>
        <p:spPr>
          <a:xfrm>
            <a:off x="2999105" y="2071370"/>
            <a:ext cx="4343400" cy="247459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001395" y="544830"/>
            <a:ext cx="5095240" cy="521970"/>
          </a:xfrm>
          <a:prstGeom prst="rect">
            <a:avLst/>
          </a:prstGeom>
        </p:spPr>
        <p:txBody>
          <a:bodyPr wrap="square">
            <a:spAutoFit/>
          </a:bodyPr>
          <a:p>
            <a:r>
              <a:rPr lang="en-US" altLang="zh-CN" sz="2800" b="0">
                <a:solidFill>
                  <a:srgbClr val="002060"/>
                </a:solidFill>
                <a:latin typeface="方正大黑简体" panose="02000000000000000000" charset="-122"/>
                <a:ea typeface="方正大黑简体" panose="02000000000000000000" charset="-122"/>
                <a:cs typeface="方正大黑简体" panose="02000000000000000000" charset="-122"/>
              </a:rPr>
              <a:t>1.2 </a:t>
            </a:r>
            <a:r>
              <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rPr>
              <a:t>操作系统的发展历程</a:t>
            </a:r>
            <a:endPar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15" name="文本框 14"/>
          <p:cNvSpPr txBox="1"/>
          <p:nvPr/>
        </p:nvSpPr>
        <p:spPr>
          <a:xfrm>
            <a:off x="1236345" y="1198880"/>
            <a:ext cx="9501505" cy="1322070"/>
          </a:xfrm>
          <a:prstGeom prst="rect">
            <a:avLst/>
          </a:prstGeom>
          <a:noFill/>
        </p:spPr>
        <p:txBody>
          <a:bodyPr wrap="square" rtlCol="0">
            <a:spAutoFit/>
          </a:bodyPr>
          <a:lstStyle/>
          <a:p>
            <a:pPr marL="342900" indent="-342900">
              <a:buFont typeface="Wingdings" panose="05000000000000000000" charset="0"/>
              <a:buChar char="n"/>
            </a:pPr>
            <a:r>
              <a:rPr lang="zh-CN" sz="2000" b="1" dirty="0">
                <a:solidFill>
                  <a:srgbClr val="6C0000"/>
                </a:solidFill>
                <a:latin typeface="华文行楷" panose="02010800040101010101" charset="-122"/>
                <a:ea typeface="华文行楷" panose="02010800040101010101" charset="-122"/>
                <a:cs typeface="黑体" panose="02010609060101010101" charset="-122"/>
              </a:rPr>
              <a:t>无操作系统阶段</a:t>
            </a:r>
            <a:endParaRPr lang="zh-CN" sz="2000" b="1" dirty="0">
              <a:solidFill>
                <a:srgbClr val="6C0000"/>
              </a:solidFill>
              <a:latin typeface="华文行楷" panose="02010800040101010101" charset="-122"/>
              <a:ea typeface="华文行楷" panose="02010800040101010101" charset="-122"/>
              <a:cs typeface="黑体" panose="02010609060101010101" charset="-122"/>
            </a:endParaRPr>
          </a:p>
          <a:p>
            <a:pPr indent="0">
              <a:buFont typeface="Wingdings" panose="05000000000000000000" charset="0"/>
              <a:buNone/>
            </a:pPr>
            <a:endParaRPr lang="en-US" altLang="zh-CN" sz="2000" b="1" dirty="0">
              <a:latin typeface="黑体" panose="02010609060101010101" charset="-122"/>
              <a:ea typeface="黑体" panose="02010609060101010101" charset="-122"/>
              <a:cs typeface="黑体" panose="02010609060101010101" charset="-122"/>
            </a:endParaRPr>
          </a:p>
          <a:p>
            <a:pPr indent="0">
              <a:buFont typeface="Wingdings" panose="05000000000000000000" charset="0"/>
              <a:buNone/>
            </a:pPr>
            <a:r>
              <a:rPr lang="en-US" altLang="zh-CN" sz="2000" b="1" dirty="0">
                <a:latin typeface="黑体" panose="02010609060101010101" charset="-122"/>
                <a:ea typeface="黑体" panose="02010609060101010101" charset="-122"/>
                <a:cs typeface="黑体" panose="02010609060101010101" charset="-122"/>
              </a:rPr>
              <a:t>1</a:t>
            </a:r>
            <a:r>
              <a:rPr lang="zh-CN" altLang="zh-CN" sz="2000" b="1" dirty="0">
                <a:latin typeface="黑体" panose="02010609060101010101" charset="-122"/>
                <a:ea typeface="黑体" panose="02010609060101010101" charset="-122"/>
                <a:cs typeface="黑体" panose="02010609060101010101" charset="-122"/>
              </a:rPr>
              <a:t>）</a:t>
            </a:r>
            <a:r>
              <a:rPr lang="en-US" altLang="zh-CN" sz="2000" b="1" dirty="0">
                <a:latin typeface="黑体" panose="02010609060101010101" charset="-122"/>
                <a:ea typeface="黑体" panose="02010609060101010101" charset="-122"/>
                <a:cs typeface="黑体" panose="02010609060101010101" charset="-122"/>
              </a:rPr>
              <a:t>1946</a:t>
            </a:r>
            <a:r>
              <a:rPr lang="zh-CN" altLang="zh-CN" sz="2000" b="1" dirty="0">
                <a:latin typeface="黑体" panose="02010609060101010101" charset="-122"/>
                <a:ea typeface="黑体" panose="02010609060101010101" charset="-122"/>
                <a:cs typeface="黑体" panose="02010609060101010101" charset="-122"/>
              </a:rPr>
              <a:t>年</a:t>
            </a:r>
            <a:r>
              <a:rPr lang="en-US" altLang="zh-CN" sz="2000" b="1" dirty="0">
                <a:latin typeface="黑体" panose="02010609060101010101" charset="-122"/>
                <a:ea typeface="黑体" panose="02010609060101010101" charset="-122"/>
                <a:cs typeface="黑体" panose="02010609060101010101" charset="-122"/>
              </a:rPr>
              <a:t>~1950</a:t>
            </a:r>
            <a:r>
              <a:rPr lang="zh-CN" altLang="zh-CN" sz="2000" b="1" dirty="0">
                <a:latin typeface="黑体" panose="02010609060101010101" charset="-122"/>
                <a:ea typeface="黑体" panose="02010609060101010101" charset="-122"/>
                <a:cs typeface="黑体" panose="02010609060101010101" charset="-122"/>
              </a:rPr>
              <a:t>年代末期：第</a:t>
            </a:r>
            <a:r>
              <a:rPr lang="en-US" altLang="zh-CN" sz="2000" b="1" dirty="0">
                <a:latin typeface="黑体" panose="02010609060101010101" charset="-122"/>
                <a:ea typeface="黑体" panose="02010609060101010101" charset="-122"/>
                <a:cs typeface="黑体" panose="02010609060101010101" charset="-122"/>
              </a:rPr>
              <a:t>1</a:t>
            </a:r>
            <a:r>
              <a:rPr lang="zh-CN" altLang="zh-CN" sz="2000" b="1" dirty="0">
                <a:latin typeface="黑体" panose="02010609060101010101" charset="-122"/>
                <a:ea typeface="黑体" panose="02010609060101010101" charset="-122"/>
                <a:cs typeface="黑体" panose="02010609060101010101" charset="-122"/>
              </a:rPr>
              <a:t>代计算机产生，硬件以电子管为主，</a:t>
            </a:r>
            <a:r>
              <a:rPr lang="zh-CN" altLang="zh-CN" sz="2000" b="1" dirty="0">
                <a:solidFill>
                  <a:srgbClr val="C00000"/>
                </a:solidFill>
                <a:latin typeface="黑体" panose="02010609060101010101" charset="-122"/>
                <a:ea typeface="黑体" panose="02010609060101010101" charset="-122"/>
                <a:cs typeface="黑体" panose="02010609060101010101" charset="-122"/>
              </a:rPr>
              <a:t>无操作系统。</a:t>
            </a:r>
            <a:endParaRPr lang="zh-CN" altLang="zh-CN" sz="2000" b="1" dirty="0">
              <a:latin typeface="黑体" panose="02010609060101010101" charset="-122"/>
              <a:ea typeface="黑体" panose="02010609060101010101" charset="-122"/>
              <a:cs typeface="黑体" panose="02010609060101010101" charset="-122"/>
            </a:endParaRPr>
          </a:p>
          <a:p>
            <a:endParaRPr lang="zh-CN" altLang="en-US" sz="2000" b="1" dirty="0">
              <a:latin typeface="黑体" panose="02010609060101010101" charset="-122"/>
              <a:ea typeface="黑体" panose="02010609060101010101" charset="-122"/>
              <a:cs typeface="黑体" panose="02010609060101010101" charset="-122"/>
            </a:endParaRPr>
          </a:p>
        </p:txBody>
      </p:sp>
      <p:grpSp>
        <p:nvGrpSpPr>
          <p:cNvPr id="17" name="组合 16"/>
          <p:cNvGrpSpPr/>
          <p:nvPr/>
        </p:nvGrpSpPr>
        <p:grpSpPr>
          <a:xfrm>
            <a:off x="785268" y="2618719"/>
            <a:ext cx="4196763" cy="2339962"/>
            <a:chOff x="-371162" y="105469"/>
            <a:chExt cx="2453036" cy="1524116"/>
          </a:xfrm>
        </p:grpSpPr>
        <p:pic>
          <p:nvPicPr>
            <p:cNvPr id="18" name="图片 17" descr="http://file.elecfans.com/web1/M00/50/4A/pIYBAFrxT5CAWWPpAAFtfA8aqWc734.jpg"/>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71106" y="105469"/>
              <a:ext cx="2252980" cy="1266825"/>
            </a:xfrm>
            <a:prstGeom prst="rect">
              <a:avLst/>
            </a:prstGeom>
            <a:noFill/>
            <a:ln>
              <a:noFill/>
            </a:ln>
            <a:effectLst>
              <a:outerShdw blurRad="50800" dist="38100" dir="5400000" algn="t" rotWithShape="0">
                <a:prstClr val="black">
                  <a:alpha val="40000"/>
                </a:prstClr>
              </a:outerShdw>
            </a:effectLst>
          </p:spPr>
        </p:pic>
        <p:sp>
          <p:nvSpPr>
            <p:cNvPr id="19" name="矩形 18"/>
            <p:cNvSpPr/>
            <p:nvPr/>
          </p:nvSpPr>
          <p:spPr>
            <a:xfrm>
              <a:off x="-371162" y="1395905"/>
              <a:ext cx="2189480" cy="23368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Autofit/>
            </a:bodyPr>
            <a:lstStyle/>
            <a:p>
              <a:pPr algn="ctr">
                <a:spcAft>
                  <a:spcPts val="0"/>
                </a:spcAft>
              </a:pPr>
              <a:endParaRPr lang="zh-CN" altLang="en-US" sz="2000" b="1" kern="100" dirty="0">
                <a:solidFill>
                  <a:srgbClr val="000000"/>
                </a:solidFill>
                <a:latin typeface="黑体" panose="02010609060101010101" charset="-122"/>
                <a:ea typeface="黑体" panose="02010609060101010101" charset="-122"/>
                <a:cs typeface="黑体" panose="02010609060101010101" charset="-122"/>
              </a:endParaRPr>
            </a:p>
            <a:p>
              <a:pPr algn="ctr">
                <a:spcAft>
                  <a:spcPts val="0"/>
                </a:spcAft>
              </a:pPr>
              <a:r>
                <a:rPr lang="en-US" altLang="zh-CN" sz="2000" b="1" kern="100" dirty="0">
                  <a:solidFill>
                    <a:srgbClr val="000000"/>
                  </a:solidFill>
                  <a:latin typeface="黑体" panose="02010609060101010101" charset="-122"/>
                  <a:ea typeface="黑体" panose="02010609060101010101" charset="-122"/>
                  <a:cs typeface="黑体" panose="02010609060101010101" charset="-122"/>
                </a:rPr>
                <a:t> </a:t>
              </a:r>
              <a:r>
                <a:rPr lang="zh-CN" altLang="en-US" sz="2000" b="1" kern="100" dirty="0">
                  <a:solidFill>
                    <a:srgbClr val="000000"/>
                  </a:solidFill>
                  <a:latin typeface="黑体" panose="02010609060101010101" charset="-122"/>
                  <a:ea typeface="黑体" panose="02010609060101010101" charset="-122"/>
                  <a:cs typeface="黑体" panose="02010609060101010101" charset="-122"/>
                </a:rPr>
                <a:t>第</a:t>
              </a:r>
              <a:r>
                <a:rPr lang="en-US" sz="2000" b="1" kern="100" dirty="0">
                  <a:solidFill>
                    <a:srgbClr val="000000"/>
                  </a:solidFill>
                  <a:latin typeface="黑体" panose="02010609060101010101" charset="-122"/>
                  <a:ea typeface="黑体" panose="02010609060101010101" charset="-122"/>
                  <a:cs typeface="黑体" panose="02010609060101010101" charset="-122"/>
                </a:rPr>
                <a:t>1</a:t>
              </a:r>
              <a:r>
                <a:rPr lang="zh-CN" altLang="en-US" sz="2000" b="1" kern="100" dirty="0">
                  <a:solidFill>
                    <a:srgbClr val="000000"/>
                  </a:solidFill>
                  <a:latin typeface="黑体" panose="02010609060101010101" charset="-122"/>
                  <a:ea typeface="黑体" panose="02010609060101010101" charset="-122"/>
                  <a:cs typeface="黑体" panose="02010609060101010101" charset="-122"/>
                </a:rPr>
                <a:t>代电子管计算机</a:t>
              </a:r>
              <a:r>
                <a:rPr lang="en-US" altLang="zh-CN" sz="2000" b="1" kern="100" dirty="0">
                  <a:solidFill>
                    <a:srgbClr val="000000"/>
                  </a:solidFill>
                  <a:latin typeface="黑体" panose="02010609060101010101" charset="-122"/>
                  <a:ea typeface="黑体" panose="02010609060101010101" charset="-122"/>
                  <a:cs typeface="黑体" panose="02010609060101010101" charset="-122"/>
                </a:rPr>
                <a:t> </a:t>
              </a:r>
              <a:endParaRPr lang="en-US" altLang="zh-CN" sz="2000" b="1" kern="100" dirty="0">
                <a:solidFill>
                  <a:srgbClr val="000000"/>
                </a:solidFill>
                <a:latin typeface="黑体" panose="02010609060101010101" charset="-122"/>
                <a:ea typeface="黑体" panose="02010609060101010101" charset="-122"/>
                <a:cs typeface="黑体" panose="02010609060101010101" charset="-122"/>
              </a:endParaRPr>
            </a:p>
          </p:txBody>
        </p:sp>
      </p:grpSp>
      <p:sp>
        <p:nvSpPr>
          <p:cNvPr id="20" name="矩形 19"/>
          <p:cNvSpPr/>
          <p:nvPr/>
        </p:nvSpPr>
        <p:spPr>
          <a:xfrm>
            <a:off x="5212715" y="2438400"/>
            <a:ext cx="5936615" cy="553085"/>
          </a:xfrm>
          <a:prstGeom prst="rect">
            <a:avLst/>
          </a:prstGeom>
          <a:ln w="25400">
            <a:solidFill>
              <a:srgbClr val="C00000"/>
            </a:solidFill>
          </a:ln>
        </p:spPr>
        <p:txBody>
          <a:bodyPr wrap="square">
            <a:spAutoFit/>
          </a:bodyPr>
          <a:lstStyle/>
          <a:p>
            <a:pPr>
              <a:lnSpc>
                <a:spcPct val="150000"/>
              </a:lnSpc>
            </a:pPr>
            <a:r>
              <a:rPr lang="zh-CN" altLang="zh-CN" sz="2000" b="1" dirty="0">
                <a:solidFill>
                  <a:srgbClr val="000000"/>
                </a:solidFill>
                <a:latin typeface="黑体" panose="02010609060101010101" charset="-122"/>
                <a:ea typeface="黑体" panose="02010609060101010101" charset="-122"/>
                <a:cs typeface="黑体" panose="02010609060101010101" charset="-122"/>
              </a:rPr>
              <a:t>冯·诺伊曼机“程序存储”的概念：</a:t>
            </a:r>
            <a:endParaRPr lang="zh-CN" altLang="zh-CN" sz="2000" b="1" dirty="0">
              <a:solidFill>
                <a:srgbClr val="000000"/>
              </a:solidFill>
              <a:latin typeface="黑体" panose="02010609060101010101" charset="-122"/>
              <a:ea typeface="黑体" panose="02010609060101010101" charset="-122"/>
              <a:cs typeface="黑体" panose="02010609060101010101" charset="-122"/>
            </a:endParaRPr>
          </a:p>
        </p:txBody>
      </p:sp>
      <p:pic>
        <p:nvPicPr>
          <p:cNvPr id="22" name="图片 21"/>
          <p:cNvPicPr>
            <a:picLocks noChangeAspect="1"/>
          </p:cNvPicPr>
          <p:nvPr/>
        </p:nvPicPr>
        <p:blipFill>
          <a:blip r:embed="rId2"/>
          <a:srcRect l="230" t="4352" r="-230" b="4563"/>
          <a:stretch>
            <a:fillRect/>
          </a:stretch>
        </p:blipFill>
        <p:spPr>
          <a:xfrm>
            <a:off x="5479415" y="3135630"/>
            <a:ext cx="4968240" cy="301688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001395" y="544830"/>
            <a:ext cx="5095240" cy="521970"/>
          </a:xfrm>
          <a:prstGeom prst="rect">
            <a:avLst/>
          </a:prstGeom>
        </p:spPr>
        <p:txBody>
          <a:bodyPr wrap="square">
            <a:spAutoFit/>
          </a:bodyPr>
          <a:p>
            <a:r>
              <a:rPr lang="en-US" altLang="zh-CN" sz="2800" b="0">
                <a:solidFill>
                  <a:srgbClr val="002060"/>
                </a:solidFill>
                <a:latin typeface="方正大黑简体" panose="02000000000000000000" charset="-122"/>
                <a:ea typeface="方正大黑简体" panose="02000000000000000000" charset="-122"/>
                <a:cs typeface="方正大黑简体" panose="02000000000000000000" charset="-122"/>
              </a:rPr>
              <a:t>1.2 </a:t>
            </a:r>
            <a:r>
              <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rPr>
              <a:t>操作系统的发展历程</a:t>
            </a:r>
            <a:r>
              <a:rPr lang="en-US" altLang="zh-CN" sz="2800" b="0">
                <a:solidFill>
                  <a:srgbClr val="002060"/>
                </a:solidFill>
                <a:latin typeface="方正大黑简体" panose="02000000000000000000" charset="-122"/>
                <a:ea typeface="方正大黑简体" panose="02000000000000000000" charset="-122"/>
                <a:cs typeface="方正大黑简体" panose="02000000000000000000" charset="-122"/>
              </a:rPr>
              <a:t> </a:t>
            </a:r>
            <a:endParaRPr lang="en-US" altLang="zh-CN" sz="2800" b="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15" name="文本框 14"/>
          <p:cNvSpPr txBox="1"/>
          <p:nvPr/>
        </p:nvSpPr>
        <p:spPr>
          <a:xfrm>
            <a:off x="1236345" y="1186815"/>
            <a:ext cx="9501505" cy="706755"/>
          </a:xfrm>
          <a:prstGeom prst="rect">
            <a:avLst/>
          </a:prstGeom>
          <a:noFill/>
        </p:spPr>
        <p:txBody>
          <a:bodyPr wrap="square" rtlCol="0">
            <a:spAutoFit/>
          </a:bodyPr>
          <a:lstStyle/>
          <a:p>
            <a:pPr marL="342900" indent="-342900">
              <a:buFont typeface="Wingdings" panose="05000000000000000000" charset="0"/>
              <a:buChar char="n"/>
            </a:pPr>
            <a:r>
              <a:rPr lang="zh-CN" sz="2000" b="1" dirty="0">
                <a:solidFill>
                  <a:srgbClr val="6C0000"/>
                </a:solidFill>
                <a:latin typeface="华文行楷" panose="02010800040101010101" charset="-122"/>
                <a:ea typeface="华文行楷" panose="02010800040101010101" charset="-122"/>
                <a:cs typeface="黑体" panose="02010609060101010101" charset="-122"/>
              </a:rPr>
              <a:t>无操作系统阶段</a:t>
            </a:r>
            <a:endParaRPr lang="en-US" altLang="zh-CN" sz="2000" b="1" dirty="0">
              <a:latin typeface="华文行楷" panose="02010800040101010101" charset="-122"/>
              <a:ea typeface="华文行楷" panose="02010800040101010101" charset="-122"/>
              <a:cs typeface="黑体" panose="02010609060101010101" charset="-122"/>
            </a:endParaRPr>
          </a:p>
          <a:p>
            <a:r>
              <a:rPr lang="en-US" altLang="zh-CN" sz="2000" b="1" dirty="0">
                <a:latin typeface="黑体" panose="02010609060101010101" charset="-122"/>
                <a:ea typeface="黑体" panose="02010609060101010101" charset="-122"/>
                <a:cs typeface="黑体" panose="02010609060101010101" charset="-122"/>
              </a:rPr>
              <a:t> </a:t>
            </a:r>
            <a:endParaRPr lang="zh-CN" altLang="en-US" sz="2000" b="1" dirty="0">
              <a:latin typeface="黑体" panose="02010609060101010101" charset="-122"/>
              <a:ea typeface="黑体" panose="02010609060101010101" charset="-122"/>
              <a:cs typeface="黑体" panose="02010609060101010101" charset="-122"/>
            </a:endParaRPr>
          </a:p>
        </p:txBody>
      </p:sp>
      <p:sp>
        <p:nvSpPr>
          <p:cNvPr id="2" name="文本框 1"/>
          <p:cNvSpPr txBox="1"/>
          <p:nvPr/>
        </p:nvSpPr>
        <p:spPr>
          <a:xfrm>
            <a:off x="1308735" y="1640205"/>
            <a:ext cx="9934575" cy="1014730"/>
          </a:xfrm>
          <a:prstGeom prst="rect">
            <a:avLst/>
          </a:prstGeom>
        </p:spPr>
        <p:txBody>
          <a:bodyPr wrap="square">
            <a:spAutoFit/>
          </a:bodyPr>
          <a:p>
            <a:pPr marL="0" indent="0"/>
            <a:r>
              <a:rPr lang="en-US" altLang="zh-CN" sz="2000" b="0" i="0">
                <a:solidFill>
                  <a:schemeClr val="tx1"/>
                </a:solidFill>
                <a:latin typeface="黑体" panose="02010609060101010101" charset="-122"/>
                <a:ea typeface="黑体" panose="02010609060101010101" charset="-122"/>
                <a:cs typeface="黑体" panose="02010609060101010101" charset="-122"/>
              </a:rPr>
              <a:t>    </a:t>
            </a:r>
            <a:r>
              <a:rPr lang="zh-CN" altLang="en-US" sz="2000" b="0" i="0">
                <a:solidFill>
                  <a:schemeClr val="tx1"/>
                </a:solidFill>
                <a:latin typeface="黑体" panose="02010609060101010101" charset="-122"/>
                <a:ea typeface="黑体" panose="02010609060101010101" charset="-122"/>
                <a:cs typeface="黑体" panose="02010609060101010101" charset="-122"/>
              </a:rPr>
              <a:t>新中国第一台电子计算机是</a:t>
            </a:r>
            <a:r>
              <a:rPr lang="en-US" altLang="zh-CN" sz="2000" b="0" i="0">
                <a:solidFill>
                  <a:schemeClr val="tx1"/>
                </a:solidFill>
                <a:latin typeface="黑体" panose="02010609060101010101" charset="-122"/>
                <a:ea typeface="黑体" panose="02010609060101010101" charset="-122"/>
                <a:cs typeface="黑体" panose="02010609060101010101" charset="-122"/>
              </a:rPr>
              <a:t>103</a:t>
            </a:r>
            <a:r>
              <a:rPr lang="zh-CN" altLang="en-US" sz="2000" b="0" i="0">
                <a:solidFill>
                  <a:schemeClr val="tx1"/>
                </a:solidFill>
                <a:latin typeface="黑体" panose="02010609060101010101" charset="-122"/>
                <a:ea typeface="黑体" panose="02010609060101010101" charset="-122"/>
                <a:cs typeface="黑体" panose="02010609060101010101" charset="-122"/>
              </a:rPr>
              <a:t>型通用数字电子计算机，于</a:t>
            </a:r>
            <a:r>
              <a:rPr lang="en-US" altLang="zh-CN" sz="2000" b="0" i="0">
                <a:solidFill>
                  <a:schemeClr val="tx1"/>
                </a:solidFill>
                <a:latin typeface="黑体" panose="02010609060101010101" charset="-122"/>
                <a:ea typeface="黑体" panose="02010609060101010101" charset="-122"/>
                <a:cs typeface="黑体" panose="02010609060101010101" charset="-122"/>
              </a:rPr>
              <a:t>1958</a:t>
            </a:r>
            <a:r>
              <a:rPr lang="zh-CN" altLang="en-US" sz="2000" b="0" i="0">
                <a:solidFill>
                  <a:schemeClr val="tx1"/>
                </a:solidFill>
                <a:latin typeface="黑体" panose="02010609060101010101" charset="-122"/>
                <a:ea typeface="黑体" panose="02010609060101010101" charset="-122"/>
                <a:cs typeface="黑体" panose="02010609060101010101" charset="-122"/>
              </a:rPr>
              <a:t>年</a:t>
            </a:r>
            <a:r>
              <a:rPr lang="en-US" altLang="zh-CN" sz="2000" b="0" i="0">
                <a:solidFill>
                  <a:schemeClr val="tx1"/>
                </a:solidFill>
                <a:latin typeface="黑体" panose="02010609060101010101" charset="-122"/>
                <a:ea typeface="黑体" panose="02010609060101010101" charset="-122"/>
                <a:cs typeface="黑体" panose="02010609060101010101" charset="-122"/>
              </a:rPr>
              <a:t>8</a:t>
            </a:r>
            <a:r>
              <a:rPr lang="zh-CN" altLang="en-US" sz="2000" b="0" i="0">
                <a:solidFill>
                  <a:schemeClr val="tx1"/>
                </a:solidFill>
                <a:latin typeface="黑体" panose="02010609060101010101" charset="-122"/>
                <a:ea typeface="黑体" panose="02010609060101010101" charset="-122"/>
                <a:cs typeface="黑体" panose="02010609060101010101" charset="-122"/>
              </a:rPr>
              <a:t>月研制成功。它由中国科学院计算技术研究所、第七机械工业部（后并入电子工业部）等单位联合研制，是中国计算机技术的奠基性成果。</a:t>
            </a:r>
            <a:endParaRPr lang="zh-CN" altLang="en-US" sz="2000" b="0" i="0">
              <a:solidFill>
                <a:schemeClr val="tx1"/>
              </a:solidFill>
              <a:latin typeface="黑体" panose="02010609060101010101" charset="-122"/>
              <a:ea typeface="黑体" panose="02010609060101010101" charset="-122"/>
              <a:cs typeface="黑体" panose="02010609060101010101" charset="-122"/>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419350" y="2794587"/>
            <a:ext cx="2038350" cy="2857500"/>
          </a:xfrm>
          <a:prstGeom prst="rect">
            <a:avLst/>
          </a:prstGeom>
          <a:effectLst>
            <a:outerShdw blurRad="50800" dist="38100" dir="2700000" algn="tl" rotWithShape="0">
              <a:prstClr val="black">
                <a:alpha val="40000"/>
              </a:prstClr>
            </a:outerShdw>
          </a:effectLst>
        </p:spPr>
      </p:pic>
      <p:sp>
        <p:nvSpPr>
          <p:cNvPr id="5" name="矩形 4"/>
          <p:cNvSpPr/>
          <p:nvPr/>
        </p:nvSpPr>
        <p:spPr>
          <a:xfrm>
            <a:off x="1825315" y="5791980"/>
            <a:ext cx="3611880" cy="368300"/>
          </a:xfrm>
          <a:prstGeom prst="rect">
            <a:avLst/>
          </a:prstGeom>
        </p:spPr>
        <p:txBody>
          <a:bodyPr wrap="none">
            <a:spAutoFit/>
          </a:bodyPr>
          <a:lstStyle/>
          <a:p>
            <a:r>
              <a:rPr lang="zh-CN" altLang="en-US" sz="1800" dirty="0">
                <a:solidFill>
                  <a:srgbClr val="000000"/>
                </a:solidFill>
                <a:latin typeface="PingFang SC"/>
              </a:rPr>
              <a:t>工作人员在操纵我国第一台计算机</a:t>
            </a:r>
            <a:endParaRPr lang="zh-CN" altLang="en-US" sz="1800" dirty="0"/>
          </a:p>
        </p:txBody>
      </p:sp>
      <p:sp>
        <p:nvSpPr>
          <p:cNvPr id="6" name="文本框 5"/>
          <p:cNvSpPr txBox="1"/>
          <p:nvPr/>
        </p:nvSpPr>
        <p:spPr>
          <a:xfrm>
            <a:off x="5437505" y="3074353"/>
            <a:ext cx="5080000" cy="1076325"/>
          </a:xfrm>
          <a:prstGeom prst="rect">
            <a:avLst/>
          </a:prstGeom>
        </p:spPr>
        <p:txBody>
          <a:bodyPr>
            <a:spAutoFit/>
          </a:bodyPr>
          <a:p>
            <a:pPr marL="285750" indent="-285750">
              <a:buFont typeface="Wingdings" panose="05000000000000000000" charset="0"/>
              <a:buChar char="p"/>
            </a:pPr>
            <a:r>
              <a:rPr lang="zh-CN" altLang="en-US" sz="1600" b="1" i="0">
                <a:solidFill>
                  <a:schemeClr val="tx1"/>
                </a:solidFill>
                <a:latin typeface="黑体" panose="02010609060101010101" charset="-122"/>
                <a:ea typeface="黑体" panose="02010609060101010101" charset="-122"/>
                <a:cs typeface="黑体" panose="02010609060101010101" charset="-122"/>
              </a:rPr>
              <a:t>标志着中国计算机技术从无到有的突破。 </a:t>
            </a:r>
            <a:endParaRPr lang="zh-CN" altLang="en-US" sz="1600" b="1" i="0">
              <a:solidFill>
                <a:schemeClr val="tx1"/>
              </a:solidFill>
              <a:latin typeface="黑体" panose="02010609060101010101" charset="-122"/>
              <a:ea typeface="黑体" panose="02010609060101010101" charset="-122"/>
              <a:cs typeface="黑体" panose="02010609060101010101" charset="-122"/>
            </a:endParaRPr>
          </a:p>
          <a:p>
            <a:pPr marL="285750" indent="-285750">
              <a:buFont typeface="Wingdings" panose="05000000000000000000" charset="0"/>
              <a:buChar char="p"/>
            </a:pPr>
            <a:r>
              <a:rPr lang="zh-CN" altLang="en-US" sz="1600" b="1" i="0">
                <a:solidFill>
                  <a:schemeClr val="tx1"/>
                </a:solidFill>
                <a:latin typeface="黑体" panose="02010609060101010101" charset="-122"/>
                <a:ea typeface="黑体" panose="02010609060101010101" charset="-122"/>
                <a:cs typeface="黑体" panose="02010609060101010101" charset="-122"/>
              </a:rPr>
              <a:t>为后续的</a:t>
            </a:r>
            <a:r>
              <a:rPr lang="en-US" altLang="zh-CN" sz="1600" b="1" i="0">
                <a:solidFill>
                  <a:schemeClr val="tx1"/>
                </a:solidFill>
                <a:latin typeface="黑体" panose="02010609060101010101" charset="-122"/>
                <a:ea typeface="黑体" panose="02010609060101010101" charset="-122"/>
                <a:cs typeface="黑体" panose="02010609060101010101" charset="-122"/>
              </a:rPr>
              <a:t>104</a:t>
            </a:r>
            <a:r>
              <a:rPr lang="zh-CN" altLang="en-US" sz="1600" b="1" i="0">
                <a:solidFill>
                  <a:schemeClr val="tx1"/>
                </a:solidFill>
                <a:latin typeface="黑体" panose="02010609060101010101" charset="-122"/>
                <a:ea typeface="黑体" panose="02010609060101010101" charset="-122"/>
                <a:cs typeface="黑体" panose="02010609060101010101" charset="-122"/>
              </a:rPr>
              <a:t>机（</a:t>
            </a:r>
            <a:r>
              <a:rPr lang="en-US" altLang="zh-CN" sz="1600" b="1" i="0">
                <a:solidFill>
                  <a:schemeClr val="tx1"/>
                </a:solidFill>
                <a:latin typeface="黑体" panose="02010609060101010101" charset="-122"/>
                <a:ea typeface="黑体" panose="02010609060101010101" charset="-122"/>
                <a:cs typeface="黑体" panose="02010609060101010101" charset="-122"/>
              </a:rPr>
              <a:t>1959</a:t>
            </a:r>
            <a:r>
              <a:rPr lang="zh-CN" altLang="en-US" sz="1600" b="1" i="0">
                <a:solidFill>
                  <a:schemeClr val="tx1"/>
                </a:solidFill>
                <a:latin typeface="黑体" panose="02010609060101010101" charset="-122"/>
                <a:ea typeface="黑体" panose="02010609060101010101" charset="-122"/>
                <a:cs typeface="黑体" panose="02010609060101010101" charset="-122"/>
              </a:rPr>
              <a:t>年）、</a:t>
            </a:r>
            <a:r>
              <a:rPr lang="en-US" altLang="zh-CN" sz="1600" b="1" i="0">
                <a:solidFill>
                  <a:schemeClr val="tx1"/>
                </a:solidFill>
                <a:latin typeface="黑体" panose="02010609060101010101" charset="-122"/>
                <a:ea typeface="黑体" panose="02010609060101010101" charset="-122"/>
                <a:cs typeface="黑体" panose="02010609060101010101" charset="-122"/>
              </a:rPr>
              <a:t>107</a:t>
            </a:r>
            <a:r>
              <a:rPr lang="zh-CN" altLang="en-US" sz="1600" b="1" i="0">
                <a:solidFill>
                  <a:schemeClr val="tx1"/>
                </a:solidFill>
                <a:latin typeface="黑体" panose="02010609060101010101" charset="-122"/>
                <a:ea typeface="黑体" panose="02010609060101010101" charset="-122"/>
                <a:cs typeface="黑体" panose="02010609060101010101" charset="-122"/>
              </a:rPr>
              <a:t>机（</a:t>
            </a:r>
            <a:r>
              <a:rPr lang="en-US" altLang="zh-CN" sz="1600" b="1" i="0">
                <a:solidFill>
                  <a:schemeClr val="tx1"/>
                </a:solidFill>
                <a:latin typeface="黑体" panose="02010609060101010101" charset="-122"/>
                <a:ea typeface="黑体" panose="02010609060101010101" charset="-122"/>
                <a:cs typeface="黑体" panose="02010609060101010101" charset="-122"/>
              </a:rPr>
              <a:t>1960</a:t>
            </a:r>
            <a:r>
              <a:rPr lang="zh-CN" altLang="en-US" sz="1600" b="1" i="0">
                <a:solidFill>
                  <a:schemeClr val="tx1"/>
                </a:solidFill>
                <a:latin typeface="黑体" panose="02010609060101010101" charset="-122"/>
                <a:ea typeface="黑体" panose="02010609060101010101" charset="-122"/>
                <a:cs typeface="黑体" panose="02010609060101010101" charset="-122"/>
              </a:rPr>
              <a:t>年）等更先进计算机奠定了基础。</a:t>
            </a:r>
            <a:endParaRPr lang="zh-CN" altLang="en-US" sz="1600" b="1" i="0">
              <a:solidFill>
                <a:schemeClr val="tx1"/>
              </a:solidFill>
              <a:latin typeface="黑体" panose="02010609060101010101" charset="-122"/>
              <a:ea typeface="黑体" panose="02010609060101010101" charset="-122"/>
              <a:cs typeface="黑体" panose="02010609060101010101" charset="-122"/>
            </a:endParaRPr>
          </a:p>
          <a:p>
            <a:pPr marL="285750" indent="-285750">
              <a:buFont typeface="Wingdings" panose="05000000000000000000" charset="0"/>
              <a:buChar char="p"/>
            </a:pPr>
            <a:r>
              <a:rPr lang="zh-CN" altLang="en-US" sz="1600" b="1" i="0">
                <a:solidFill>
                  <a:schemeClr val="tx1"/>
                </a:solidFill>
                <a:latin typeface="黑体" panose="02010609060101010101" charset="-122"/>
                <a:ea typeface="黑体" panose="02010609060101010101" charset="-122"/>
                <a:cs typeface="黑体" panose="02010609060101010101" charset="-122"/>
              </a:rPr>
              <a:t>推动了中国国防、科研和工业的现代化进程。</a:t>
            </a:r>
            <a:endParaRPr lang="zh-CN" altLang="en-US" sz="1600" b="1" i="0">
              <a:solidFill>
                <a:schemeClr val="tx1"/>
              </a:solidFill>
              <a:latin typeface="黑体" panose="02010609060101010101" charset="-122"/>
              <a:ea typeface="黑体" panose="02010609060101010101" charset="-122"/>
              <a:cs typeface="黑体" panose="02010609060101010101" charset="-122"/>
            </a:endParaRPr>
          </a:p>
        </p:txBody>
      </p:sp>
      <p:sp>
        <p:nvSpPr>
          <p:cNvPr id="7" name="文本框 6"/>
          <p:cNvSpPr txBox="1"/>
          <p:nvPr/>
        </p:nvSpPr>
        <p:spPr>
          <a:xfrm>
            <a:off x="5124450" y="4500880"/>
            <a:ext cx="5685790" cy="829945"/>
          </a:xfrm>
          <a:prstGeom prst="rect">
            <a:avLst/>
          </a:prstGeom>
          <a:ln w="28575" cmpd="sng">
            <a:solidFill>
              <a:schemeClr val="tx1"/>
            </a:solidFill>
            <a:prstDash val="solid"/>
          </a:ln>
        </p:spPr>
        <p:txBody>
          <a:bodyPr wrap="square">
            <a:spAutoFit/>
          </a:bodyPr>
          <a:p>
            <a:pPr marL="0" indent="0"/>
            <a:r>
              <a:rPr lang="en-US" altLang="zh-CN" sz="1600" b="0" i="0">
                <a:solidFill>
                  <a:srgbClr val="660000"/>
                </a:solidFill>
                <a:latin typeface="方正粗黑宋简体" panose="02000000000000000000" charset="-122"/>
                <a:ea typeface="方正粗黑宋简体" panose="02000000000000000000" charset="-122"/>
                <a:cs typeface="方正粗黑宋简体" panose="02000000000000000000" charset="-122"/>
              </a:rPr>
              <a:t>103</a:t>
            </a:r>
            <a:r>
              <a:rPr lang="zh-CN" altLang="en-US" sz="1600" b="0" i="0">
                <a:solidFill>
                  <a:srgbClr val="660000"/>
                </a:solidFill>
                <a:latin typeface="方正粗黑宋简体" panose="02000000000000000000" charset="-122"/>
                <a:ea typeface="方正粗黑宋简体" panose="02000000000000000000" charset="-122"/>
                <a:cs typeface="方正粗黑宋简体" panose="02000000000000000000" charset="-122"/>
              </a:rPr>
              <a:t>机的诞生是中国科技自力更生的重要里程碑，体现了在特殊历史条件下科研人员的艰苦攻关精神，为中国信息化时代拉开了序幕。</a:t>
            </a:r>
            <a:endParaRPr lang="zh-CN" altLang="en-US" sz="1600" b="0" i="0">
              <a:solidFill>
                <a:srgbClr val="660000"/>
              </a:solidFill>
              <a:latin typeface="方正粗黑宋简体" panose="02000000000000000000" charset="-122"/>
              <a:ea typeface="方正粗黑宋简体" panose="02000000000000000000" charset="-122"/>
              <a:cs typeface="方正粗黑宋简体" panose="02000000000000000000"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001395" y="544830"/>
            <a:ext cx="5095240" cy="521970"/>
          </a:xfrm>
          <a:prstGeom prst="rect">
            <a:avLst/>
          </a:prstGeom>
        </p:spPr>
        <p:txBody>
          <a:bodyPr wrap="square">
            <a:spAutoFit/>
          </a:bodyPr>
          <a:p>
            <a:r>
              <a:rPr lang="en-US" altLang="zh-CN" sz="2800" b="0">
                <a:solidFill>
                  <a:srgbClr val="002060"/>
                </a:solidFill>
                <a:latin typeface="方正大黑简体" panose="02000000000000000000" charset="-122"/>
                <a:ea typeface="方正大黑简体" panose="02000000000000000000" charset="-122"/>
                <a:cs typeface="方正大黑简体" panose="02000000000000000000" charset="-122"/>
              </a:rPr>
              <a:t>1.2 </a:t>
            </a:r>
            <a:r>
              <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rPr>
              <a:t>操作系统的发展历程</a:t>
            </a:r>
            <a:endPar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15" name="文本框 14"/>
          <p:cNvSpPr txBox="1"/>
          <p:nvPr/>
        </p:nvSpPr>
        <p:spPr>
          <a:xfrm>
            <a:off x="1001395" y="1127760"/>
            <a:ext cx="3926205" cy="706755"/>
          </a:xfrm>
          <a:prstGeom prst="rect">
            <a:avLst/>
          </a:prstGeom>
          <a:noFill/>
        </p:spPr>
        <p:txBody>
          <a:bodyPr wrap="square" rtlCol="0">
            <a:spAutoFit/>
          </a:bodyPr>
          <a:lstStyle/>
          <a:p>
            <a:pPr marL="342900" indent="-342900">
              <a:buFont typeface="Wingdings" panose="05000000000000000000" charset="0"/>
              <a:buChar char="n"/>
            </a:pPr>
            <a:r>
              <a:rPr lang="zh-CN" sz="2000" b="1" dirty="0">
                <a:solidFill>
                  <a:srgbClr val="6C0000"/>
                </a:solidFill>
                <a:latin typeface="华文行楷" panose="02010800040101010101" charset="-122"/>
                <a:ea typeface="华文行楷" panose="02010800040101010101" charset="-122"/>
                <a:cs typeface="华文行楷" panose="02010800040101010101" charset="-122"/>
              </a:rPr>
              <a:t>无操作系统阶段</a:t>
            </a:r>
            <a:endParaRPr lang="en-US" altLang="zh-CN" sz="2000" b="1" dirty="0">
              <a:latin typeface="华文行楷" panose="02010800040101010101" charset="-122"/>
              <a:ea typeface="华文行楷" panose="02010800040101010101" charset="-122"/>
              <a:cs typeface="华文行楷" panose="02010800040101010101" charset="-122"/>
            </a:endParaRPr>
          </a:p>
          <a:p>
            <a:r>
              <a:rPr lang="en-US" altLang="zh-CN" sz="2000" b="1" dirty="0">
                <a:latin typeface="华文行楷" panose="02010800040101010101" charset="-122"/>
                <a:ea typeface="华文行楷" panose="02010800040101010101" charset="-122"/>
                <a:cs typeface="华文行楷" panose="02010800040101010101" charset="-122"/>
              </a:rPr>
              <a:t> </a:t>
            </a:r>
            <a:endParaRPr lang="zh-CN" altLang="en-US" sz="2000" b="1" dirty="0">
              <a:latin typeface="华文行楷" panose="02010800040101010101" charset="-122"/>
              <a:ea typeface="华文行楷" panose="02010800040101010101" charset="-122"/>
              <a:cs typeface="华文行楷" panose="02010800040101010101" charset="-122"/>
            </a:endParaRPr>
          </a:p>
        </p:txBody>
      </p:sp>
      <p:sp>
        <p:nvSpPr>
          <p:cNvPr id="9" name="文本框 8" descr="7b0a202020202262756c6c6574223a20227b5c2263617465676f727949645c223a5c225c222c5c2274656d706c61746549645c223a32303233313636357d220a7d0a"/>
          <p:cNvSpPr txBox="1"/>
          <p:nvPr/>
        </p:nvSpPr>
        <p:spPr>
          <a:xfrm>
            <a:off x="1001395" y="1644015"/>
            <a:ext cx="6807200" cy="2396490"/>
          </a:xfrm>
          <a:prstGeom prst="rect">
            <a:avLst/>
          </a:prstGeom>
          <a:ln>
            <a:solidFill>
              <a:schemeClr val="tx1"/>
            </a:solidFill>
          </a:ln>
        </p:spPr>
        <p:txBody>
          <a:bodyPr>
            <a:noAutofit/>
          </a:bodyPr>
          <a:p>
            <a:pPr marL="342900" indent="-342900">
              <a:lnSpc>
                <a:spcPct val="150000"/>
              </a:lnSpc>
              <a:buFont typeface="Wingdings" panose="05000000000000000000" charset="0"/>
              <a:buBlip>
                <a:blip r:embed="rId1">
                  <a:extLst>
                    <a:ext uri="{96DAC541-7B7A-43D3-8B79-37D633B846F1}">
                      <asvg:svgBlip xmlns:asvg="http://schemas.microsoft.com/office/drawing/2016/SVG/main" r:embed="rId2"/>
                    </a:ext>
                  </a:extLst>
                </a:blip>
              </a:buBlip>
            </a:pPr>
            <a:r>
              <a:rPr lang="zh-CN" altLang="en-US" sz="1600" b="0" i="0">
                <a:solidFill>
                  <a:schemeClr val="tx1"/>
                </a:solidFill>
                <a:latin typeface="方正粗黑宋简体" panose="02000000000000000000" charset="-122"/>
                <a:ea typeface="方正粗黑宋简体" panose="02000000000000000000" charset="-122"/>
                <a:cs typeface="方正粗黑宋简体" panose="02000000000000000000" charset="-122"/>
              </a:rPr>
              <a:t>方式： </a:t>
            </a:r>
            <a:endParaRPr lang="zh-CN" altLang="en-US" sz="1600" b="0" i="0">
              <a:solidFill>
                <a:schemeClr val="tx1"/>
              </a:solidFill>
              <a:latin typeface="方正粗黑宋简体" panose="02000000000000000000" charset="-122"/>
              <a:ea typeface="方正粗黑宋简体" panose="02000000000000000000" charset="-122"/>
              <a:cs typeface="方正粗黑宋简体" panose="02000000000000000000" charset="-122"/>
            </a:endParaRPr>
          </a:p>
          <a:p>
            <a:pPr indent="0">
              <a:lnSpc>
                <a:spcPct val="150000"/>
              </a:lnSpc>
              <a:buFont typeface="Wingdings" panose="05000000000000000000" charset="0"/>
              <a:buNone/>
            </a:pPr>
            <a:r>
              <a:rPr lang="en-US" altLang="zh-CN" sz="1600" b="0" i="0">
                <a:solidFill>
                  <a:schemeClr val="tx1"/>
                </a:solidFill>
                <a:latin typeface="方正粗黑宋简体" panose="02000000000000000000" charset="-122"/>
                <a:ea typeface="方正粗黑宋简体" panose="02000000000000000000" charset="-122"/>
                <a:cs typeface="方正粗黑宋简体" panose="02000000000000000000" charset="-122"/>
              </a:rPr>
              <a:t>     --</a:t>
            </a:r>
            <a:r>
              <a:rPr lang="zh-CN" altLang="en-US" sz="1600" b="0" i="0">
                <a:solidFill>
                  <a:schemeClr val="tx1"/>
                </a:solidFill>
                <a:latin typeface="方正粗黑宋简体" panose="02000000000000000000" charset="-122"/>
                <a:ea typeface="方正粗黑宋简体" panose="02000000000000000000" charset="-122"/>
                <a:cs typeface="方正粗黑宋简体" panose="02000000000000000000" charset="-122"/>
              </a:rPr>
              <a:t>纯手工操作，通过插拔线缆、开关控制输入、输出操作。</a:t>
            </a:r>
            <a:endParaRPr lang="zh-CN" altLang="en-US" sz="1600" b="0" i="0">
              <a:solidFill>
                <a:schemeClr val="tx1"/>
              </a:solidFill>
              <a:latin typeface="方正粗黑宋简体" panose="02000000000000000000" charset="-122"/>
              <a:ea typeface="方正粗黑宋简体" panose="02000000000000000000" charset="-122"/>
              <a:cs typeface="方正粗黑宋简体" panose="02000000000000000000" charset="-122"/>
            </a:endParaRPr>
          </a:p>
          <a:p>
            <a:pPr indent="0">
              <a:lnSpc>
                <a:spcPct val="150000"/>
              </a:lnSpc>
              <a:buFont typeface="Wingdings" panose="05000000000000000000" charset="0"/>
              <a:buNone/>
            </a:pPr>
            <a:r>
              <a:rPr lang="en-US" altLang="zh-CN" sz="1600" b="0" i="0">
                <a:solidFill>
                  <a:schemeClr val="tx1"/>
                </a:solidFill>
                <a:latin typeface="方正粗黑宋简体" panose="02000000000000000000" charset="-122"/>
                <a:ea typeface="方正粗黑宋简体" panose="02000000000000000000" charset="-122"/>
                <a:cs typeface="方正粗黑宋简体" panose="02000000000000000000" charset="-122"/>
              </a:rPr>
              <a:t>     --</a:t>
            </a:r>
            <a:r>
              <a:rPr lang="zh-CN" altLang="en-US" sz="1600" b="0" i="0">
                <a:solidFill>
                  <a:schemeClr val="tx1"/>
                </a:solidFill>
                <a:latin typeface="方正粗黑宋简体" panose="02000000000000000000" charset="-122"/>
                <a:ea typeface="方正粗黑宋简体" panose="02000000000000000000" charset="-122"/>
                <a:cs typeface="方正粗黑宋简体" panose="02000000000000000000" charset="-122"/>
              </a:rPr>
              <a:t>输入输出依靠读取纸带的打孔信息。</a:t>
            </a:r>
            <a:endParaRPr lang="zh-CN" altLang="en-US" sz="1600" b="0" i="0">
              <a:solidFill>
                <a:schemeClr val="tx1"/>
              </a:solidFill>
              <a:latin typeface="方正粗黑宋简体" panose="02000000000000000000" charset="-122"/>
              <a:ea typeface="方正粗黑宋简体" panose="02000000000000000000" charset="-122"/>
              <a:cs typeface="方正粗黑宋简体" panose="02000000000000000000" charset="-122"/>
            </a:endParaRPr>
          </a:p>
          <a:p>
            <a:pPr marL="342900" indent="-342900">
              <a:lnSpc>
                <a:spcPct val="150000"/>
              </a:lnSpc>
              <a:buFont typeface="Wingdings" panose="05000000000000000000" charset="0"/>
              <a:buBlip>
                <a:blip r:embed="rId1">
                  <a:extLst>
                    <a:ext uri="{96DAC541-7B7A-43D3-8B79-37D633B846F1}">
                      <asvg:svgBlip xmlns:asvg="http://schemas.microsoft.com/office/drawing/2016/SVG/main" r:embed="rId2"/>
                    </a:ext>
                  </a:extLst>
                </a:blip>
              </a:buBlip>
            </a:pPr>
            <a:r>
              <a:rPr lang="zh-CN" altLang="en-US" sz="1600" b="0" i="0">
                <a:solidFill>
                  <a:schemeClr val="tx1"/>
                </a:solidFill>
                <a:latin typeface="方正粗黑宋简体" panose="02000000000000000000" charset="-122"/>
                <a:ea typeface="方正粗黑宋简体" panose="02000000000000000000" charset="-122"/>
                <a:cs typeface="方正粗黑宋简体" panose="02000000000000000000" charset="-122"/>
              </a:rPr>
              <a:t>特点： </a:t>
            </a:r>
            <a:endParaRPr lang="zh-CN" altLang="en-US" sz="1600" b="0" i="0">
              <a:solidFill>
                <a:schemeClr val="tx1"/>
              </a:solidFill>
              <a:latin typeface="方正粗黑宋简体" panose="02000000000000000000" charset="-122"/>
              <a:ea typeface="方正粗黑宋简体" panose="02000000000000000000" charset="-122"/>
              <a:cs typeface="方正粗黑宋简体" panose="02000000000000000000" charset="-122"/>
            </a:endParaRPr>
          </a:p>
          <a:p>
            <a:pPr indent="0">
              <a:lnSpc>
                <a:spcPct val="150000"/>
              </a:lnSpc>
              <a:buFont typeface="Wingdings" panose="05000000000000000000" charset="0"/>
              <a:buNone/>
            </a:pPr>
            <a:r>
              <a:rPr lang="en-US" altLang="zh-CN" sz="1600" b="0" i="0">
                <a:solidFill>
                  <a:schemeClr val="tx1"/>
                </a:solidFill>
                <a:latin typeface="方正粗黑宋简体" panose="02000000000000000000" charset="-122"/>
                <a:ea typeface="方正粗黑宋简体" panose="02000000000000000000" charset="-122"/>
                <a:cs typeface="方正粗黑宋简体" panose="02000000000000000000" charset="-122"/>
              </a:rPr>
              <a:t>     </a:t>
            </a:r>
            <a:r>
              <a:rPr lang="zh-CN" altLang="en-US" sz="1600" b="0" i="0">
                <a:solidFill>
                  <a:schemeClr val="tx1"/>
                </a:solidFill>
                <a:latin typeface="方正粗黑宋简体" panose="02000000000000000000" charset="-122"/>
                <a:ea typeface="方正粗黑宋简体" panose="02000000000000000000" charset="-122"/>
                <a:cs typeface="方正粗黑宋简体" panose="02000000000000000000" charset="-122"/>
              </a:rPr>
              <a:t>计算机一次只能执行一个任务，效率极低，准备时间远超计算时间。 </a:t>
            </a:r>
            <a:endParaRPr lang="zh-CN" altLang="en-US" sz="1600" b="0" i="0">
              <a:solidFill>
                <a:schemeClr val="tx1"/>
              </a:solidFill>
              <a:latin typeface="方正粗黑宋简体" panose="02000000000000000000" charset="-122"/>
              <a:ea typeface="方正粗黑宋简体" panose="02000000000000000000" charset="-122"/>
              <a:cs typeface="方正粗黑宋简体" panose="02000000000000000000" charset="-122"/>
            </a:endParaRPr>
          </a:p>
          <a:p>
            <a:pPr marL="342900" indent="-342900">
              <a:lnSpc>
                <a:spcPct val="150000"/>
              </a:lnSpc>
              <a:buFont typeface="Wingdings" panose="05000000000000000000" charset="0"/>
              <a:buBlip>
                <a:blip r:embed="rId1">
                  <a:extLst>
                    <a:ext uri="{96DAC541-7B7A-43D3-8B79-37D633B846F1}">
                      <asvg:svgBlip xmlns:asvg="http://schemas.microsoft.com/office/drawing/2016/SVG/main" r:embed="rId2"/>
                    </a:ext>
                  </a:extLst>
                </a:blip>
              </a:buBlip>
            </a:pPr>
            <a:r>
              <a:rPr lang="zh-CN" altLang="en-US" sz="1600" b="0" i="0">
                <a:solidFill>
                  <a:schemeClr val="tx1"/>
                </a:solidFill>
                <a:latin typeface="方正粗黑宋简体" panose="02000000000000000000" charset="-122"/>
                <a:ea typeface="方正粗黑宋简体" panose="02000000000000000000" charset="-122"/>
                <a:cs typeface="方正粗黑宋简体" panose="02000000000000000000" charset="-122"/>
              </a:rPr>
              <a:t>痛点： 人机矛盾突出，计算机资源利用率极低。</a:t>
            </a:r>
            <a:endParaRPr lang="zh-CN" altLang="en-US" sz="1600" b="0" i="0">
              <a:solidFill>
                <a:schemeClr val="tx1"/>
              </a:solidFill>
              <a:latin typeface="方正粗黑宋简体" panose="02000000000000000000" charset="-122"/>
              <a:ea typeface="方正粗黑宋简体" panose="02000000000000000000" charset="-122"/>
              <a:cs typeface="方正粗黑宋简体" panose="02000000000000000000" charset="-122"/>
            </a:endParaRPr>
          </a:p>
        </p:txBody>
      </p:sp>
      <p:pic>
        <p:nvPicPr>
          <p:cNvPr id="10" name="图片 9" descr="7b0a202020202266696c746572223a202230220a7d0a"/>
          <p:cNvPicPr/>
          <p:nvPr/>
        </p:nvPicPr>
        <p:blipFill>
          <a:blip r:embed="rId3">
            <a:extLst>
              <a:ext uri="{28A0092B-C50C-407E-A947-70E740481C1C}">
                <a14:useLocalDpi xmlns:a14="http://schemas.microsoft.com/office/drawing/2010/main" val="0"/>
              </a:ext>
            </a:extLst>
          </a:blip>
          <a:srcRect/>
          <a:stretch>
            <a:fillRect/>
          </a:stretch>
        </p:blipFill>
        <p:spPr bwMode="auto">
          <a:xfrm>
            <a:off x="8268970" y="828040"/>
            <a:ext cx="2858135" cy="2239645"/>
          </a:xfrm>
          <a:prstGeom prst="rect">
            <a:avLst/>
          </a:prstGeom>
          <a:noFill/>
          <a:ln>
            <a:noFill/>
          </a:ln>
          <a:effectLst>
            <a:outerShdw blurRad="50800" dist="38100" dir="5400000" algn="t" rotWithShape="0">
              <a:prstClr val="black">
                <a:alpha val="40000"/>
              </a:prstClr>
            </a:outerShdw>
          </a:effectLst>
        </p:spPr>
      </p:pic>
      <p:sp>
        <p:nvSpPr>
          <p:cNvPr id="11" name="文本框 10"/>
          <p:cNvSpPr txBox="1"/>
          <p:nvPr/>
        </p:nvSpPr>
        <p:spPr>
          <a:xfrm>
            <a:off x="8375650" y="3359150"/>
            <a:ext cx="2786380" cy="337185"/>
          </a:xfrm>
          <a:prstGeom prst="rect">
            <a:avLst/>
          </a:prstGeom>
        </p:spPr>
        <p:txBody>
          <a:bodyPr wrap="square" anchor="t">
            <a:spAutoFit/>
          </a:bodyPr>
          <a:p>
            <a:pPr marL="0" indent="0"/>
            <a:r>
              <a:rPr lang="zh-CN" altLang="en-US" sz="1600" b="1" kern="100" dirty="0">
                <a:solidFill>
                  <a:schemeClr val="tx1"/>
                </a:solidFill>
                <a:latin typeface="+mj-ea"/>
                <a:ea typeface="+mj-ea"/>
                <a:cs typeface="Times New Roman" panose="02020603050405020304" pitchFamily="18" charset="0"/>
                <a:sym typeface="+mn-ea"/>
              </a:rPr>
              <a:t>记录程序和数据的穿孔纸带</a:t>
            </a:r>
            <a:endParaRPr lang="zh-CN" altLang="en-US" sz="1600" b="1" i="0" kern="100" dirty="0">
              <a:solidFill>
                <a:schemeClr val="tx1"/>
              </a:solidFill>
              <a:latin typeface="+mj-ea"/>
              <a:ea typeface="+mj-ea"/>
              <a:cs typeface="Times New Roman" panose="02020603050405020304" pitchFamily="18" charset="0"/>
              <a:sym typeface="+mn-ea"/>
            </a:endParaRPr>
          </a:p>
        </p:txBody>
      </p:sp>
      <p:grpSp>
        <p:nvGrpSpPr>
          <p:cNvPr id="14" name="组合 13"/>
          <p:cNvGrpSpPr/>
          <p:nvPr/>
        </p:nvGrpSpPr>
        <p:grpSpPr>
          <a:xfrm>
            <a:off x="2122805" y="4377690"/>
            <a:ext cx="6993890" cy="1809750"/>
            <a:chOff x="0" y="0"/>
            <a:chExt cx="4886401" cy="941350"/>
          </a:xfrm>
        </p:grpSpPr>
        <p:grpSp>
          <p:nvGrpSpPr>
            <p:cNvPr id="17" name="组合 16"/>
            <p:cNvGrpSpPr/>
            <p:nvPr/>
          </p:nvGrpSpPr>
          <p:grpSpPr>
            <a:xfrm>
              <a:off x="2267712" y="131674"/>
              <a:ext cx="453390" cy="809676"/>
              <a:chOff x="0" y="0"/>
              <a:chExt cx="453390" cy="809676"/>
            </a:xfrm>
          </p:grpSpPr>
          <p:sp>
            <p:nvSpPr>
              <p:cNvPr id="32" name="矩形 31"/>
              <p:cNvSpPr/>
              <p:nvPr/>
            </p:nvSpPr>
            <p:spPr>
              <a:xfrm>
                <a:off x="0" y="0"/>
                <a:ext cx="453390" cy="231775"/>
              </a:xfrm>
              <a:prstGeom prst="rect">
                <a:avLst/>
              </a:prstGeom>
              <a:noFill/>
              <a:ln w="12700" cap="flat" cmpd="sng" algn="ctr">
                <a:noFill/>
                <a:prstDash val="solid"/>
              </a:ln>
              <a:effectLst/>
            </p:spPr>
            <p:txBody>
              <a:bodyPr rot="0" spcFirstLastPara="0" vert="horz" wrap="square" lIns="0" tIns="0" rIns="0" bIns="0" numCol="1" spcCol="0" rtlCol="0" fromWordArt="0" anchor="ctr" anchorCtr="0" forceAA="0" compatLnSpc="1">
                <a:noAutofit/>
              </a:bodyPr>
              <a:lstStyle/>
              <a:p>
                <a:pPr algn="ctr">
                  <a:spcAft>
                    <a:spcPts val="0"/>
                  </a:spcAft>
                </a:pPr>
                <a:r>
                  <a:rPr lang="zh-CN" altLang="en-US" sz="1600" b="1" kern="100">
                    <a:solidFill>
                      <a:srgbClr val="000000"/>
                    </a:solidFill>
                    <a:latin typeface="Calibri" panose="020F0502020204030204" charset="0"/>
                    <a:ea typeface="宋体" panose="02010600030101010101" pitchFamily="2" charset="-122"/>
                    <a:cs typeface="Times New Roman" panose="02020603050405020304" pitchFamily="18" charset="0"/>
                  </a:rPr>
                  <a:t>计算机</a:t>
                </a:r>
                <a:endParaRPr lang="zh-CN" altLang="en-US" sz="1600" b="1" kern="100">
                  <a:solidFill>
                    <a:srgbClr val="000000"/>
                  </a:solidFill>
                  <a:latin typeface="Calibri" panose="020F0502020204030204" charset="0"/>
                  <a:ea typeface="宋体" panose="02010600030101010101" pitchFamily="2" charset="-122"/>
                  <a:cs typeface="Times New Roman" panose="02020603050405020304" pitchFamily="18" charset="0"/>
                </a:endParaRPr>
              </a:p>
            </p:txBody>
          </p:sp>
          <p:sp>
            <p:nvSpPr>
              <p:cNvPr id="33" name="矩形 32"/>
              <p:cNvSpPr/>
              <p:nvPr/>
            </p:nvSpPr>
            <p:spPr>
              <a:xfrm>
                <a:off x="0" y="577901"/>
                <a:ext cx="453390" cy="231775"/>
              </a:xfrm>
              <a:prstGeom prst="rect">
                <a:avLst/>
              </a:prstGeom>
              <a:noFill/>
              <a:ln w="12700" cap="flat" cmpd="sng" algn="ctr">
                <a:noFill/>
                <a:prstDash val="solid"/>
              </a:ln>
              <a:effectLst/>
            </p:spPr>
            <p:txBody>
              <a:bodyPr rot="0" spcFirstLastPara="0" vert="horz" wrap="square" lIns="0" tIns="0" rIns="0" bIns="0" numCol="1" spcCol="0" rtlCol="0" fromWordArt="0" anchor="ctr" anchorCtr="0" forceAA="0" compatLnSpc="1">
                <a:noAutofit/>
              </a:bodyPr>
              <a:lstStyle/>
              <a:p>
                <a:pPr algn="ctr">
                  <a:spcAft>
                    <a:spcPts val="0"/>
                  </a:spcAft>
                </a:pPr>
                <a:r>
                  <a:rPr lang="zh-CN" altLang="en-US" sz="1600" b="1" kern="100">
                    <a:solidFill>
                      <a:srgbClr val="000000"/>
                    </a:solidFill>
                    <a:latin typeface="Calibri" panose="020F0502020204030204" charset="0"/>
                    <a:ea typeface="宋体" panose="02010600030101010101" pitchFamily="2" charset="-122"/>
                    <a:cs typeface="Times New Roman" panose="02020603050405020304" pitchFamily="18" charset="0"/>
                  </a:rPr>
                  <a:t>用户</a:t>
                </a:r>
                <a:endParaRPr lang="zh-CN" altLang="en-US" sz="1600" b="1" kern="100">
                  <a:solidFill>
                    <a:srgbClr val="000000"/>
                  </a:solidFill>
                  <a:latin typeface="Calibri" panose="020F0502020204030204" charset="0"/>
                  <a:ea typeface="宋体" panose="02010600030101010101" pitchFamily="2" charset="-122"/>
                  <a:cs typeface="Times New Roman" panose="02020603050405020304" pitchFamily="18" charset="0"/>
                </a:endParaRPr>
              </a:p>
            </p:txBody>
          </p:sp>
        </p:grpSp>
        <p:grpSp>
          <p:nvGrpSpPr>
            <p:cNvPr id="18" name="组合 17"/>
            <p:cNvGrpSpPr/>
            <p:nvPr/>
          </p:nvGrpSpPr>
          <p:grpSpPr>
            <a:xfrm>
              <a:off x="0" y="0"/>
              <a:ext cx="4886401" cy="755649"/>
              <a:chOff x="0" y="0"/>
              <a:chExt cx="4886401" cy="755649"/>
            </a:xfrm>
          </p:grpSpPr>
          <p:grpSp>
            <p:nvGrpSpPr>
              <p:cNvPr id="19" name="组合 18"/>
              <p:cNvGrpSpPr/>
              <p:nvPr/>
            </p:nvGrpSpPr>
            <p:grpSpPr>
              <a:xfrm>
                <a:off x="885139" y="7316"/>
                <a:ext cx="3883152" cy="363448"/>
                <a:chOff x="0" y="0"/>
                <a:chExt cx="3883152" cy="363448"/>
              </a:xfrm>
            </p:grpSpPr>
            <p:sp>
              <p:nvSpPr>
                <p:cNvPr id="27" name="矩形 26"/>
                <p:cNvSpPr/>
                <p:nvPr/>
              </p:nvSpPr>
              <p:spPr>
                <a:xfrm>
                  <a:off x="0" y="109728"/>
                  <a:ext cx="453390" cy="231775"/>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Autofit/>
                </a:bodyPr>
                <a:lstStyle/>
                <a:p>
                  <a:pPr algn="ctr">
                    <a:spcAft>
                      <a:spcPts val="0"/>
                    </a:spcAft>
                  </a:pPr>
                  <a:r>
                    <a:rPr lang="zh-CN" altLang="en-US" sz="1600" b="1" kern="100" dirty="0">
                      <a:solidFill>
                        <a:srgbClr val="000000"/>
                      </a:solidFill>
                      <a:ea typeface="宋体" panose="02010600030101010101" pitchFamily="2" charset="-122"/>
                      <a:cs typeface="Times New Roman" panose="02020603050405020304" pitchFamily="18" charset="0"/>
                    </a:rPr>
                    <a:t>输入机</a:t>
                  </a:r>
                  <a:endParaRPr lang="zh-CN" altLang="en-US" sz="1600" b="1" kern="100" dirty="0">
                    <a:solidFill>
                      <a:srgbClr val="000000"/>
                    </a:solidFill>
                    <a:ea typeface="宋体" panose="02010600030101010101" pitchFamily="2" charset="-122"/>
                    <a:cs typeface="Times New Roman" panose="02020603050405020304" pitchFamily="18" charset="0"/>
                  </a:endParaRPr>
                </a:p>
              </p:txBody>
            </p:sp>
            <p:sp>
              <p:nvSpPr>
                <p:cNvPr id="28" name="矩形 27"/>
                <p:cNvSpPr/>
                <p:nvPr/>
              </p:nvSpPr>
              <p:spPr>
                <a:xfrm>
                  <a:off x="2728570" y="131673"/>
                  <a:ext cx="453390" cy="231775"/>
                </a:xfrm>
                <a:prstGeom prst="rect">
                  <a:avLst/>
                </a:prstGeom>
                <a:noFill/>
                <a:ln w="12700" cap="flat" cmpd="sng" algn="ctr">
                  <a:noFill/>
                  <a:prstDash val="solid"/>
                </a:ln>
                <a:effectLst/>
              </p:spPr>
              <p:txBody>
                <a:bodyPr rot="0" spcFirstLastPara="0" vert="horz" wrap="square" lIns="0" tIns="0" rIns="0" bIns="0" numCol="1" spcCol="0" rtlCol="0" fromWordArt="0" anchor="ctr" anchorCtr="0" forceAA="0" compatLnSpc="1">
                  <a:noAutofit/>
                </a:bodyPr>
                <a:lstStyle/>
                <a:p>
                  <a:pPr algn="ctr">
                    <a:spcAft>
                      <a:spcPts val="0"/>
                    </a:spcAft>
                  </a:pPr>
                  <a:r>
                    <a:rPr lang="zh-CN" altLang="en-US" sz="1600" b="1" kern="100" dirty="0">
                      <a:solidFill>
                        <a:srgbClr val="000000"/>
                      </a:solidFill>
                      <a:latin typeface="Calibri" panose="020F0502020204030204" charset="0"/>
                      <a:ea typeface="宋体" panose="02010600030101010101" pitchFamily="2" charset="-122"/>
                      <a:cs typeface="Times New Roman" panose="02020603050405020304" pitchFamily="18" charset="0"/>
                    </a:rPr>
                    <a:t>输出机</a:t>
                  </a:r>
                  <a:endParaRPr lang="zh-CN" altLang="en-US" sz="1600" b="1" kern="100" dirty="0">
                    <a:solidFill>
                      <a:srgbClr val="000000"/>
                    </a:solidFill>
                    <a:latin typeface="Calibri" panose="020F0502020204030204" charset="0"/>
                    <a:ea typeface="宋体" panose="02010600030101010101" pitchFamily="2" charset="-122"/>
                    <a:cs typeface="Times New Roman" panose="02020603050405020304" pitchFamily="18" charset="0"/>
                  </a:endParaRPr>
                </a:p>
              </p:txBody>
            </p:sp>
            <p:sp>
              <p:nvSpPr>
                <p:cNvPr id="29" name="矩形 28"/>
                <p:cNvSpPr/>
                <p:nvPr/>
              </p:nvSpPr>
              <p:spPr>
                <a:xfrm>
                  <a:off x="3182112" y="0"/>
                  <a:ext cx="701040" cy="231775"/>
                </a:xfrm>
                <a:prstGeom prst="rect">
                  <a:avLst/>
                </a:prstGeom>
                <a:noFill/>
                <a:ln w="12700" cap="flat" cmpd="sng" algn="ctr">
                  <a:noFill/>
                  <a:prstDash val="solid"/>
                </a:ln>
                <a:effectLst/>
              </p:spPr>
              <p:txBody>
                <a:bodyPr rot="0" spcFirstLastPara="0" vert="horz" wrap="square" lIns="0" tIns="0" rIns="0" bIns="0" numCol="1" spcCol="0" rtlCol="0" fromWordArt="0" anchor="ctr" anchorCtr="0" forceAA="0" compatLnSpc="1">
                  <a:noAutofit/>
                </a:bodyPr>
                <a:lstStyle/>
                <a:p>
                  <a:pPr algn="ctr">
                    <a:spcAft>
                      <a:spcPts val="0"/>
                    </a:spcAft>
                  </a:pPr>
                  <a:r>
                    <a:rPr lang="zh-CN" altLang="en-US" sz="1600" b="1" kern="100">
                      <a:solidFill>
                        <a:srgbClr val="000000"/>
                      </a:solidFill>
                      <a:latin typeface="Calibri" panose="020F0502020204030204" charset="0"/>
                      <a:ea typeface="宋体" panose="02010600030101010101" pitchFamily="2" charset="-122"/>
                      <a:cs typeface="Times New Roman" panose="02020603050405020304" pitchFamily="18" charset="0"/>
                    </a:rPr>
                    <a:t>纸带</a:t>
                  </a:r>
                  <a:r>
                    <a:rPr lang="en-US" sz="1600" b="1" kern="100">
                      <a:solidFill>
                        <a:srgbClr val="000000"/>
                      </a:solidFill>
                      <a:latin typeface="Calibri" panose="020F0502020204030204" charset="0"/>
                      <a:ea typeface="宋体" panose="02010600030101010101" pitchFamily="2" charset="-122"/>
                      <a:cs typeface="Times New Roman" panose="02020603050405020304" pitchFamily="18" charset="0"/>
                    </a:rPr>
                    <a:t>/</a:t>
                  </a:r>
                  <a:r>
                    <a:rPr lang="zh-CN" altLang="en-US" sz="1600" b="1" kern="100">
                      <a:solidFill>
                        <a:srgbClr val="000000"/>
                      </a:solidFill>
                      <a:latin typeface="Calibri" panose="020F0502020204030204" charset="0"/>
                      <a:ea typeface="宋体" panose="02010600030101010101" pitchFamily="2" charset="-122"/>
                      <a:cs typeface="Times New Roman" panose="02020603050405020304" pitchFamily="18" charset="0"/>
                    </a:rPr>
                    <a:t>卡片</a:t>
                  </a:r>
                  <a:endParaRPr lang="zh-CN" altLang="en-US" sz="1600" b="1" kern="100">
                    <a:latin typeface="Calibri" panose="020F0502020204030204" charset="0"/>
                    <a:ea typeface="宋体" panose="02010600030101010101" pitchFamily="2" charset="-122"/>
                    <a:cs typeface="Times New Roman" panose="02020603050405020304" pitchFamily="18" charset="0"/>
                  </a:endParaRPr>
                </a:p>
              </p:txBody>
            </p:sp>
            <p:sp>
              <p:nvSpPr>
                <p:cNvPr id="30" name="矩形 29"/>
                <p:cNvSpPr/>
                <p:nvPr/>
              </p:nvSpPr>
              <p:spPr>
                <a:xfrm>
                  <a:off x="534010" y="0"/>
                  <a:ext cx="701040" cy="231775"/>
                </a:xfrm>
                <a:prstGeom prst="rect">
                  <a:avLst/>
                </a:prstGeom>
                <a:noFill/>
                <a:ln w="12700" cap="flat" cmpd="sng" algn="ctr">
                  <a:noFill/>
                  <a:prstDash val="solid"/>
                </a:ln>
                <a:effectLst/>
              </p:spPr>
              <p:txBody>
                <a:bodyPr rot="0" spcFirstLastPara="0" vert="horz" wrap="square" lIns="0" tIns="0" rIns="0" bIns="0" numCol="1" spcCol="0" rtlCol="0" fromWordArt="0" anchor="ctr" anchorCtr="0" forceAA="0" compatLnSpc="1">
                  <a:noAutofit/>
                </a:bodyPr>
                <a:lstStyle/>
                <a:p>
                  <a:pPr algn="ctr">
                    <a:spcAft>
                      <a:spcPts val="0"/>
                    </a:spcAft>
                  </a:pPr>
                  <a:r>
                    <a:rPr lang="zh-CN" altLang="en-US" sz="1600" b="1" kern="100">
                      <a:solidFill>
                        <a:srgbClr val="000000"/>
                      </a:solidFill>
                      <a:latin typeface="Calibri" panose="020F0502020204030204" charset="0"/>
                      <a:ea typeface="宋体" panose="02010600030101010101" pitchFamily="2" charset="-122"/>
                      <a:cs typeface="Times New Roman" panose="02020603050405020304" pitchFamily="18" charset="0"/>
                    </a:rPr>
                    <a:t>程序</a:t>
                  </a:r>
                  <a:r>
                    <a:rPr lang="en-US" sz="1600" b="1" kern="100">
                      <a:solidFill>
                        <a:srgbClr val="000000"/>
                      </a:solidFill>
                      <a:latin typeface="Calibri" panose="020F0502020204030204" charset="0"/>
                      <a:ea typeface="宋体" panose="02010600030101010101" pitchFamily="2" charset="-122"/>
                      <a:cs typeface="Times New Roman" panose="02020603050405020304" pitchFamily="18" charset="0"/>
                    </a:rPr>
                    <a:t>+</a:t>
                  </a:r>
                  <a:r>
                    <a:rPr lang="zh-CN" altLang="en-US" sz="1600" b="1" kern="100">
                      <a:solidFill>
                        <a:srgbClr val="000000"/>
                      </a:solidFill>
                      <a:latin typeface="Calibri" panose="020F0502020204030204" charset="0"/>
                      <a:ea typeface="宋体" panose="02010600030101010101" pitchFamily="2" charset="-122"/>
                      <a:cs typeface="Times New Roman" panose="02020603050405020304" pitchFamily="18" charset="0"/>
                    </a:rPr>
                    <a:t>数据</a:t>
                  </a:r>
                  <a:endParaRPr lang="zh-CN" altLang="en-US" sz="1600" b="1" kern="100">
                    <a:latin typeface="Calibri" panose="020F0502020204030204" charset="0"/>
                    <a:ea typeface="宋体" panose="02010600030101010101" pitchFamily="2" charset="-122"/>
                    <a:cs typeface="Times New Roman" panose="02020603050405020304" pitchFamily="18" charset="0"/>
                  </a:endParaRPr>
                </a:p>
              </p:txBody>
            </p:sp>
            <p:sp>
              <p:nvSpPr>
                <p:cNvPr id="31" name="矩形 30"/>
                <p:cNvSpPr/>
                <p:nvPr/>
              </p:nvSpPr>
              <p:spPr>
                <a:xfrm>
                  <a:off x="1901952" y="7315"/>
                  <a:ext cx="592532" cy="231775"/>
                </a:xfrm>
                <a:prstGeom prst="rect">
                  <a:avLst/>
                </a:prstGeom>
                <a:noFill/>
                <a:ln w="12700" cap="flat" cmpd="sng" algn="ctr">
                  <a:noFill/>
                  <a:prstDash val="solid"/>
                </a:ln>
                <a:effectLst/>
              </p:spPr>
              <p:txBody>
                <a:bodyPr rot="0" spcFirstLastPara="0" vert="horz" wrap="square" lIns="0" tIns="0" rIns="0" bIns="0" numCol="1" spcCol="0" rtlCol="0" fromWordArt="0" anchor="ctr" anchorCtr="0" forceAA="0" compatLnSpc="1">
                  <a:noAutofit/>
                </a:bodyPr>
                <a:lstStyle/>
                <a:p>
                  <a:pPr algn="ctr">
                    <a:spcAft>
                      <a:spcPts val="0"/>
                    </a:spcAft>
                  </a:pPr>
                  <a:r>
                    <a:rPr lang="zh-CN" altLang="en-US" sz="1600" b="1" kern="100">
                      <a:solidFill>
                        <a:srgbClr val="000000"/>
                      </a:solidFill>
                      <a:latin typeface="Calibri" panose="020F0502020204030204" charset="0"/>
                      <a:ea typeface="宋体" panose="02010600030101010101" pitchFamily="2" charset="-122"/>
                      <a:cs typeface="Times New Roman" panose="02020603050405020304" pitchFamily="18" charset="0"/>
                    </a:rPr>
                    <a:t>计算结果</a:t>
                  </a:r>
                  <a:endParaRPr lang="zh-CN" altLang="en-US" sz="1600" b="1" kern="100">
                    <a:solidFill>
                      <a:srgbClr val="000000"/>
                    </a:solidFill>
                    <a:latin typeface="Calibri" panose="020F0502020204030204" charset="0"/>
                    <a:ea typeface="宋体" panose="02010600030101010101" pitchFamily="2" charset="-122"/>
                    <a:cs typeface="Times New Roman" panose="02020603050405020304" pitchFamily="18" charset="0"/>
                  </a:endParaRPr>
                </a:p>
              </p:txBody>
            </p:sp>
          </p:grpSp>
          <p:grpSp>
            <p:nvGrpSpPr>
              <p:cNvPr id="20" name="组合 19"/>
              <p:cNvGrpSpPr/>
              <p:nvPr/>
            </p:nvGrpSpPr>
            <p:grpSpPr>
              <a:xfrm>
                <a:off x="0" y="0"/>
                <a:ext cx="4886401" cy="755649"/>
                <a:chOff x="0" y="0"/>
                <a:chExt cx="4886401" cy="755649"/>
              </a:xfrm>
            </p:grpSpPr>
            <p:sp>
              <p:nvSpPr>
                <p:cNvPr id="21" name="矩形 20"/>
                <p:cNvSpPr/>
                <p:nvPr/>
              </p:nvSpPr>
              <p:spPr>
                <a:xfrm>
                  <a:off x="0" y="0"/>
                  <a:ext cx="701040" cy="231775"/>
                </a:xfrm>
                <a:prstGeom prst="rect">
                  <a:avLst/>
                </a:prstGeom>
                <a:noFill/>
                <a:ln w="12700" cap="flat" cmpd="sng" algn="ctr">
                  <a:noFill/>
                  <a:prstDash val="solid"/>
                </a:ln>
                <a:effectLst/>
              </p:spPr>
              <p:txBody>
                <a:bodyPr rot="0" spcFirstLastPara="0" vert="horz" wrap="square" lIns="0" tIns="0" rIns="0" bIns="0" numCol="1" spcCol="0" rtlCol="0" fromWordArt="0" anchor="ctr" anchorCtr="0" forceAA="0" compatLnSpc="1">
                  <a:noAutofit/>
                </a:bodyPr>
                <a:lstStyle/>
                <a:p>
                  <a:pPr algn="ctr">
                    <a:spcAft>
                      <a:spcPts val="0"/>
                    </a:spcAft>
                  </a:pPr>
                  <a:r>
                    <a:rPr lang="zh-CN" altLang="en-US" sz="1600" b="1" kern="100">
                      <a:solidFill>
                        <a:srgbClr val="000000"/>
                      </a:solidFill>
                      <a:latin typeface="Calibri" panose="020F0502020204030204" charset="0"/>
                      <a:ea typeface="宋体" panose="02010600030101010101" pitchFamily="2" charset="-122"/>
                      <a:cs typeface="Times New Roman" panose="02020603050405020304" pitchFamily="18" charset="0"/>
                    </a:rPr>
                    <a:t>纸带</a:t>
                  </a:r>
                  <a:r>
                    <a:rPr lang="en-US" sz="1600" b="1" kern="100">
                      <a:solidFill>
                        <a:srgbClr val="000000"/>
                      </a:solidFill>
                      <a:latin typeface="Calibri" panose="020F0502020204030204" charset="0"/>
                      <a:ea typeface="宋体" panose="02010600030101010101" pitchFamily="2" charset="-122"/>
                      <a:cs typeface="Times New Roman" panose="02020603050405020304" pitchFamily="18" charset="0"/>
                    </a:rPr>
                    <a:t>/</a:t>
                  </a:r>
                  <a:r>
                    <a:rPr lang="zh-CN" altLang="en-US" sz="1600" b="1" kern="100">
                      <a:solidFill>
                        <a:srgbClr val="000000"/>
                      </a:solidFill>
                      <a:latin typeface="Calibri" panose="020F0502020204030204" charset="0"/>
                      <a:ea typeface="宋体" panose="02010600030101010101" pitchFamily="2" charset="-122"/>
                      <a:cs typeface="Times New Roman" panose="02020603050405020304" pitchFamily="18" charset="0"/>
                    </a:rPr>
                    <a:t>卡片</a:t>
                  </a:r>
                  <a:endParaRPr lang="zh-CN" altLang="en-US" sz="1600" b="1" kern="100">
                    <a:latin typeface="Calibri" panose="020F0502020204030204" charset="0"/>
                    <a:ea typeface="宋体" panose="02010600030101010101" pitchFamily="2" charset="-122"/>
                    <a:cs typeface="Times New Roman" panose="02020603050405020304" pitchFamily="18" charset="0"/>
                  </a:endParaRPr>
                </a:p>
              </p:txBody>
            </p:sp>
            <p:cxnSp>
              <p:nvCxnSpPr>
                <p:cNvPr id="22" name="直接箭头连接符 21"/>
                <p:cNvCxnSpPr/>
                <p:nvPr/>
              </p:nvCxnSpPr>
              <p:spPr>
                <a:xfrm>
                  <a:off x="0" y="234087"/>
                  <a:ext cx="884555" cy="0"/>
                </a:xfrm>
                <a:prstGeom prst="straightConnector1">
                  <a:avLst/>
                </a:prstGeom>
                <a:ln w="15875">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flipV="1">
                  <a:off x="4067251" y="226772"/>
                  <a:ext cx="819150" cy="6985"/>
                </a:xfrm>
                <a:prstGeom prst="straightConnector1">
                  <a:avLst/>
                </a:prstGeom>
                <a:noFill/>
                <a:ln w="15875" cap="flat" cmpd="sng" algn="ctr">
                  <a:solidFill>
                    <a:sysClr val="windowText" lastClr="000000"/>
                  </a:solidFill>
                  <a:prstDash val="solid"/>
                  <a:tailEnd type="triangle" w="med" len="lg"/>
                </a:ln>
                <a:effectLst/>
              </p:spPr>
            </p:cxnSp>
            <p:cxnSp>
              <p:nvCxnSpPr>
                <p:cNvPr id="24" name="直接箭头连接符 23"/>
                <p:cNvCxnSpPr/>
                <p:nvPr/>
              </p:nvCxnSpPr>
              <p:spPr>
                <a:xfrm>
                  <a:off x="1338681" y="234087"/>
                  <a:ext cx="920750" cy="0"/>
                </a:xfrm>
                <a:prstGeom prst="straightConnector1">
                  <a:avLst/>
                </a:prstGeom>
                <a:noFill/>
                <a:ln w="15875" cap="flat" cmpd="sng" algn="ctr">
                  <a:solidFill>
                    <a:sysClr val="windowText" lastClr="000000"/>
                  </a:solidFill>
                  <a:prstDash val="solid"/>
                  <a:tailEnd type="triangle" w="med" len="lg"/>
                </a:ln>
                <a:effectLst/>
              </p:spPr>
            </p:cxnSp>
            <p:cxnSp>
              <p:nvCxnSpPr>
                <p:cNvPr id="25" name="直接箭头连接符 24"/>
                <p:cNvCxnSpPr/>
                <p:nvPr/>
              </p:nvCxnSpPr>
              <p:spPr>
                <a:xfrm>
                  <a:off x="2728569" y="241402"/>
                  <a:ext cx="884555" cy="0"/>
                </a:xfrm>
                <a:prstGeom prst="straightConnector1">
                  <a:avLst/>
                </a:prstGeom>
                <a:noFill/>
                <a:ln w="15875" cap="flat" cmpd="sng" algn="ctr">
                  <a:solidFill>
                    <a:sysClr val="windowText" lastClr="000000"/>
                  </a:solidFill>
                  <a:prstDash val="solid"/>
                  <a:tailEnd type="triangle" w="med" len="lg"/>
                </a:ln>
                <a:effectLst/>
              </p:spPr>
            </p:cxnSp>
            <p:cxnSp>
              <p:nvCxnSpPr>
                <p:cNvPr id="26" name="直接箭头连接符 25"/>
                <p:cNvCxnSpPr/>
                <p:nvPr/>
              </p:nvCxnSpPr>
              <p:spPr>
                <a:xfrm flipH="1" flipV="1">
                  <a:off x="1177747" y="365760"/>
                  <a:ext cx="1089660" cy="389255"/>
                </a:xfrm>
                <a:prstGeom prst="straightConnector1">
                  <a:avLst/>
                </a:prstGeom>
                <a:ln>
                  <a:solidFill>
                    <a:schemeClr val="tx1"/>
                  </a:solidFill>
                  <a:prstDash val="dash"/>
                  <a:tailEnd type="stealth" w="med" len="lg"/>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p:nvPr/>
              </p:nvCxnSpPr>
              <p:spPr>
                <a:xfrm flipV="1">
                  <a:off x="2487168" y="365760"/>
                  <a:ext cx="0" cy="336498"/>
                </a:xfrm>
                <a:prstGeom prst="straightConnector1">
                  <a:avLst/>
                </a:prstGeom>
                <a:noFill/>
                <a:ln w="9525" cap="flat" cmpd="sng" algn="ctr">
                  <a:solidFill>
                    <a:sysClr val="windowText" lastClr="000000"/>
                  </a:solidFill>
                  <a:prstDash val="dash"/>
                  <a:tailEnd type="stealth" w="med" len="lg"/>
                </a:ln>
                <a:effectLst/>
              </p:spPr>
            </p:cxnSp>
            <p:cxnSp>
              <p:nvCxnSpPr>
                <p:cNvPr id="35" name="直接箭头连接符 34"/>
                <p:cNvCxnSpPr/>
                <p:nvPr/>
              </p:nvCxnSpPr>
              <p:spPr>
                <a:xfrm flipV="1">
                  <a:off x="2662733" y="365760"/>
                  <a:ext cx="1075156" cy="389889"/>
                </a:xfrm>
                <a:prstGeom prst="straightConnector1">
                  <a:avLst/>
                </a:prstGeom>
                <a:noFill/>
                <a:ln w="9525" cap="flat" cmpd="sng" algn="ctr">
                  <a:solidFill>
                    <a:sysClr val="windowText" lastClr="000000"/>
                  </a:solidFill>
                  <a:prstDash val="dash"/>
                  <a:tailEnd type="stealth" w="med" len="lg"/>
                </a:ln>
                <a:effectLst/>
              </p:spPr>
            </p:cxnSp>
          </p:grpSp>
        </p:grpSp>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6" name="组合 25"/>
          <p:cNvGrpSpPr/>
          <p:nvPr>
            <p:custDataLst>
              <p:tags r:id="rId1"/>
            </p:custDataLst>
          </p:nvPr>
        </p:nvGrpSpPr>
        <p:grpSpPr>
          <a:xfrm rot="0">
            <a:off x="6073427" y="2620519"/>
            <a:ext cx="4570822" cy="2468981"/>
            <a:chOff x="2200" y="5301"/>
            <a:chExt cx="14758" cy="7970"/>
          </a:xfrm>
        </p:grpSpPr>
        <p:pic>
          <p:nvPicPr>
            <p:cNvPr id="27" name="图片 26" descr="border"/>
            <p:cNvPicPr>
              <a:picLocks noChangeAspect="1"/>
            </p:cNvPicPr>
            <p:nvPr>
              <p:custDataLst>
                <p:tags r:id="rId2"/>
              </p:custDataLst>
            </p:nvPr>
          </p:nvPicPr>
          <p:blipFill>
            <a:blip r:embed="rId3"/>
            <a:stretch>
              <a:fillRect/>
            </a:stretch>
          </p:blipFill>
          <p:spPr>
            <a:xfrm>
              <a:off x="2200" y="5301"/>
              <a:ext cx="14758" cy="7970"/>
            </a:xfrm>
            <a:prstGeom prst="rect">
              <a:avLst/>
            </a:prstGeom>
          </p:spPr>
        </p:pic>
        <p:pic>
          <p:nvPicPr>
            <p:cNvPr id="28" name="图片 27" descr="F:/素材图片2/xiezuo20241118-111810.pngxiezuo20241118-111810"/>
            <p:cNvPicPr>
              <a:picLocks noChangeAspect="1"/>
            </p:cNvPicPr>
            <p:nvPr>
              <p:custDataLst>
                <p:tags r:id="rId4"/>
              </p:custDataLst>
            </p:nvPr>
          </p:nvPicPr>
          <p:blipFill>
            <a:blip r:embed="rId5"/>
            <a:srcRect l="2112" t="-11" r="2112" b="-11"/>
            <a:stretch>
              <a:fillRect/>
            </a:stretch>
          </p:blipFill>
          <p:spPr>
            <a:xfrm>
              <a:off x="3908" y="5646"/>
              <a:ext cx="11342" cy="6936"/>
            </a:xfrm>
            <a:custGeom>
              <a:avLst/>
              <a:gdLst/>
              <a:ahLst/>
              <a:cxnLst>
                <a:cxn ang="3">
                  <a:pos x="hc" y="t"/>
                </a:cxn>
                <a:cxn ang="cd2">
                  <a:pos x="l" y="vc"/>
                </a:cxn>
                <a:cxn ang="cd4">
                  <a:pos x="hc" y="b"/>
                </a:cxn>
                <a:cxn ang="0">
                  <a:pos x="r" y="vc"/>
                </a:cxn>
              </a:cxnLst>
              <a:rect l="l" t="t" r="r" b="b"/>
              <a:pathLst>
                <a:path w="11775" h="7200">
                  <a:moveTo>
                    <a:pt x="0" y="0"/>
                  </a:moveTo>
                  <a:lnTo>
                    <a:pt x="11775" y="0"/>
                  </a:lnTo>
                  <a:lnTo>
                    <a:pt x="11775" y="7200"/>
                  </a:lnTo>
                  <a:lnTo>
                    <a:pt x="0" y="7200"/>
                  </a:lnTo>
                  <a:lnTo>
                    <a:pt x="0" y="0"/>
                  </a:lnTo>
                  <a:close/>
                </a:path>
              </a:pathLst>
            </a:custGeom>
            <a:ln w="6350">
              <a:noFill/>
            </a:ln>
          </p:spPr>
        </p:pic>
      </p:grpSp>
      <p:sp>
        <p:nvSpPr>
          <p:cNvPr id="4" name="文本框 3"/>
          <p:cNvSpPr txBox="1"/>
          <p:nvPr/>
        </p:nvSpPr>
        <p:spPr>
          <a:xfrm>
            <a:off x="1001395" y="544830"/>
            <a:ext cx="5095240" cy="521970"/>
          </a:xfrm>
          <a:prstGeom prst="rect">
            <a:avLst/>
          </a:prstGeom>
        </p:spPr>
        <p:txBody>
          <a:bodyPr wrap="square">
            <a:spAutoFit/>
          </a:bodyPr>
          <a:p>
            <a:r>
              <a:rPr lang="en-US" altLang="zh-CN" sz="2800" b="0">
                <a:solidFill>
                  <a:srgbClr val="002060"/>
                </a:solidFill>
                <a:latin typeface="方正大黑简体" panose="02000000000000000000" charset="-122"/>
                <a:ea typeface="方正大黑简体" panose="02000000000000000000" charset="-122"/>
                <a:cs typeface="方正大黑简体" panose="02000000000000000000" charset="-122"/>
              </a:rPr>
              <a:t>1.2 </a:t>
            </a:r>
            <a:r>
              <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rPr>
              <a:t>操作系统的发展历程</a:t>
            </a:r>
            <a:endPar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15" name="文本框 14"/>
          <p:cNvSpPr txBox="1"/>
          <p:nvPr/>
        </p:nvSpPr>
        <p:spPr>
          <a:xfrm>
            <a:off x="1236345" y="1198880"/>
            <a:ext cx="9501505" cy="1014730"/>
          </a:xfrm>
          <a:prstGeom prst="rect">
            <a:avLst/>
          </a:prstGeom>
          <a:noFill/>
        </p:spPr>
        <p:txBody>
          <a:bodyPr wrap="square" rtlCol="0">
            <a:spAutoFit/>
          </a:bodyPr>
          <a:lstStyle/>
          <a:p>
            <a:pPr marL="342900" indent="-342900">
              <a:buFont typeface="Wingdings" panose="05000000000000000000" charset="0"/>
              <a:buChar char="n"/>
            </a:pPr>
            <a:r>
              <a:rPr lang="zh-CN" altLang="en-US" sz="2000" b="1" dirty="0">
                <a:solidFill>
                  <a:srgbClr val="6C0000"/>
                </a:solidFill>
                <a:latin typeface="华文行楷" panose="02010800040101010101" charset="-122"/>
                <a:ea typeface="华文行楷" panose="02010800040101010101" charset="-122"/>
                <a:cs typeface="华文行楷" panose="02010800040101010101" charset="-122"/>
              </a:rPr>
              <a:t>监督程序阶段</a:t>
            </a:r>
            <a:endParaRPr lang="en-US" altLang="zh-CN" sz="2000" b="1" dirty="0">
              <a:solidFill>
                <a:srgbClr val="6C0000"/>
              </a:solidFill>
              <a:latin typeface="华文行楷" panose="02010800040101010101" charset="-122"/>
              <a:ea typeface="华文行楷" panose="02010800040101010101" charset="-122"/>
              <a:cs typeface="华文行楷" panose="02010800040101010101" charset="-122"/>
            </a:endParaRPr>
          </a:p>
          <a:p>
            <a:pPr marL="342900" indent="-342900">
              <a:buFont typeface="Wingdings" panose="05000000000000000000" charset="0"/>
              <a:buChar char="n"/>
            </a:pPr>
            <a:endParaRPr lang="en-US" altLang="zh-CN" sz="2000" b="1" dirty="0">
              <a:latin typeface="华文行楷" panose="02010800040101010101" charset="-122"/>
              <a:ea typeface="华文行楷" panose="02010800040101010101" charset="-122"/>
              <a:cs typeface="华文行楷" panose="02010800040101010101" charset="-122"/>
            </a:endParaRPr>
          </a:p>
          <a:p>
            <a:r>
              <a:rPr lang="en-US" altLang="zh-CN" sz="2000" b="1" dirty="0">
                <a:latin typeface="华文行楷" panose="02010800040101010101" charset="-122"/>
                <a:ea typeface="华文行楷" panose="02010800040101010101" charset="-122"/>
                <a:cs typeface="华文行楷" panose="02010800040101010101" charset="-122"/>
              </a:rPr>
              <a:t> </a:t>
            </a:r>
            <a:endParaRPr lang="zh-CN" altLang="en-US" sz="2000" b="1" dirty="0">
              <a:latin typeface="华文行楷" panose="02010800040101010101" charset="-122"/>
              <a:ea typeface="华文行楷" panose="02010800040101010101" charset="-122"/>
              <a:cs typeface="华文行楷" panose="02010800040101010101" charset="-122"/>
            </a:endParaRPr>
          </a:p>
        </p:txBody>
      </p:sp>
      <p:sp>
        <p:nvSpPr>
          <p:cNvPr id="8" name="文本框 7"/>
          <p:cNvSpPr txBox="1"/>
          <p:nvPr/>
        </p:nvSpPr>
        <p:spPr>
          <a:xfrm>
            <a:off x="1519555" y="1828165"/>
            <a:ext cx="9400540" cy="1014730"/>
          </a:xfrm>
          <a:prstGeom prst="rect">
            <a:avLst/>
          </a:prstGeom>
          <a:noFill/>
        </p:spPr>
        <p:txBody>
          <a:bodyPr wrap="square" rtlCol="0">
            <a:spAutoFit/>
          </a:bodyPr>
          <a:lstStyle/>
          <a:p>
            <a:r>
              <a:rPr lang="en-US" altLang="zh-CN" sz="2000" dirty="0">
                <a:solidFill>
                  <a:schemeClr val="tx1"/>
                </a:solidFill>
                <a:latin typeface="黑体" panose="02010609060101010101" charset="-122"/>
                <a:ea typeface="黑体" panose="02010609060101010101" charset="-122"/>
                <a:cs typeface="黑体" panose="02010609060101010101" charset="-122"/>
              </a:rPr>
              <a:t>1960</a:t>
            </a:r>
            <a:r>
              <a:rPr lang="zh-CN" altLang="zh-CN" sz="2000" dirty="0">
                <a:solidFill>
                  <a:schemeClr val="tx1"/>
                </a:solidFill>
                <a:latin typeface="黑体" panose="02010609060101010101" charset="-122"/>
                <a:ea typeface="黑体" panose="02010609060101010101" charset="-122"/>
                <a:cs typeface="黑体" panose="02010609060101010101" charset="-122"/>
              </a:rPr>
              <a:t>年代初期</a:t>
            </a:r>
            <a:r>
              <a:rPr lang="en-US" altLang="zh-CN" sz="2000" dirty="0">
                <a:solidFill>
                  <a:schemeClr val="tx1"/>
                </a:solidFill>
                <a:latin typeface="黑体" panose="02010609060101010101" charset="-122"/>
                <a:ea typeface="黑体" panose="02010609060101010101" charset="-122"/>
                <a:cs typeface="黑体" panose="02010609060101010101" charset="-122"/>
              </a:rPr>
              <a:t>~1960</a:t>
            </a:r>
            <a:r>
              <a:rPr lang="zh-CN" altLang="zh-CN" sz="2000" dirty="0">
                <a:solidFill>
                  <a:schemeClr val="tx1"/>
                </a:solidFill>
                <a:latin typeface="黑体" panose="02010609060101010101" charset="-122"/>
                <a:ea typeface="黑体" panose="02010609060101010101" charset="-122"/>
                <a:cs typeface="黑体" panose="02010609060101010101" charset="-122"/>
              </a:rPr>
              <a:t>年代中期：第</a:t>
            </a:r>
            <a:r>
              <a:rPr lang="en-US" altLang="zh-CN" sz="2000" dirty="0">
                <a:solidFill>
                  <a:schemeClr val="tx1"/>
                </a:solidFill>
                <a:latin typeface="黑体" panose="02010609060101010101" charset="-122"/>
                <a:ea typeface="黑体" panose="02010609060101010101" charset="-122"/>
                <a:cs typeface="黑体" panose="02010609060101010101" charset="-122"/>
              </a:rPr>
              <a:t>2</a:t>
            </a:r>
            <a:r>
              <a:rPr lang="zh-CN" altLang="zh-CN" sz="2000" dirty="0">
                <a:solidFill>
                  <a:schemeClr val="tx1"/>
                </a:solidFill>
                <a:latin typeface="黑体" panose="02010609060101010101" charset="-122"/>
                <a:ea typeface="黑体" panose="02010609060101010101" charset="-122"/>
                <a:cs typeface="黑体" panose="02010609060101010101" charset="-122"/>
              </a:rPr>
              <a:t>代计算机出现，硬件主要是晶体管，出现了以</a:t>
            </a:r>
            <a:r>
              <a:rPr lang="zh-CN" altLang="zh-CN" sz="2000" dirty="0">
                <a:solidFill>
                  <a:srgbClr val="C00000"/>
                </a:solidFill>
                <a:latin typeface="黑体" panose="02010609060101010101" charset="-122"/>
                <a:ea typeface="黑体" panose="02010609060101010101" charset="-122"/>
                <a:cs typeface="黑体" panose="02010609060101010101" charset="-122"/>
              </a:rPr>
              <a:t>监督程序（</a:t>
            </a:r>
            <a:r>
              <a:rPr lang="en-US" altLang="zh-CN" sz="2000" dirty="0">
                <a:solidFill>
                  <a:srgbClr val="C00000"/>
                </a:solidFill>
                <a:latin typeface="黑体" panose="02010609060101010101" charset="-122"/>
                <a:ea typeface="黑体" panose="02010609060101010101" charset="-122"/>
                <a:cs typeface="黑体" panose="02010609060101010101" charset="-122"/>
              </a:rPr>
              <a:t>monitor</a:t>
            </a:r>
            <a:r>
              <a:rPr lang="zh-CN" altLang="zh-CN" sz="2000" dirty="0">
                <a:solidFill>
                  <a:srgbClr val="C00000"/>
                </a:solidFill>
                <a:latin typeface="黑体" panose="02010609060101010101" charset="-122"/>
                <a:ea typeface="黑体" panose="02010609060101010101" charset="-122"/>
                <a:cs typeface="黑体" panose="02010609060101010101" charset="-122"/>
              </a:rPr>
              <a:t>）</a:t>
            </a:r>
            <a:r>
              <a:rPr lang="zh-CN" altLang="zh-CN" sz="2000" dirty="0">
                <a:solidFill>
                  <a:schemeClr val="tx1"/>
                </a:solidFill>
                <a:latin typeface="黑体" panose="02010609060101010101" charset="-122"/>
                <a:ea typeface="黑体" panose="02010609060101010101" charset="-122"/>
                <a:cs typeface="黑体" panose="02010609060101010101" charset="-122"/>
              </a:rPr>
              <a:t>为代表的批处理系统。</a:t>
            </a:r>
            <a:endParaRPr lang="zh-CN" altLang="zh-CN" sz="2000" dirty="0">
              <a:solidFill>
                <a:schemeClr val="tx1"/>
              </a:solidFill>
              <a:latin typeface="黑体" panose="02010609060101010101" charset="-122"/>
              <a:ea typeface="黑体" panose="02010609060101010101" charset="-122"/>
              <a:cs typeface="黑体" panose="02010609060101010101" charset="-122"/>
            </a:endParaRPr>
          </a:p>
          <a:p>
            <a:endParaRPr lang="zh-CN" altLang="zh-CN" sz="2000" dirty="0">
              <a:solidFill>
                <a:schemeClr val="tx1"/>
              </a:solidFill>
              <a:latin typeface="黑体" panose="02010609060101010101" charset="-122"/>
              <a:ea typeface="黑体" panose="02010609060101010101" charset="-122"/>
              <a:cs typeface="黑体" panose="02010609060101010101" charset="-122"/>
            </a:endParaRPr>
          </a:p>
        </p:txBody>
      </p:sp>
      <p:sp>
        <p:nvSpPr>
          <p:cNvPr id="9" name="矩形 8"/>
          <p:cNvSpPr/>
          <p:nvPr/>
        </p:nvSpPr>
        <p:spPr>
          <a:xfrm>
            <a:off x="6873240" y="5170170"/>
            <a:ext cx="2971800" cy="332105"/>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Autofit/>
          </a:bodyPr>
          <a:lstStyle/>
          <a:p>
            <a:pPr algn="ctr">
              <a:spcAft>
                <a:spcPts val="0"/>
              </a:spcAft>
            </a:pPr>
            <a:r>
              <a:rPr lang="zh-CN" altLang="en-US" sz="2000" kern="100" dirty="0">
                <a:solidFill>
                  <a:srgbClr val="000000"/>
                </a:solidFill>
                <a:latin typeface="黑体" panose="02010609060101010101" charset="-122"/>
                <a:ea typeface="黑体" panose="02010609060101010101" charset="-122"/>
                <a:cs typeface="黑体" panose="02010609060101010101" charset="-122"/>
              </a:rPr>
              <a:t>第</a:t>
            </a:r>
            <a:r>
              <a:rPr lang="en-US" sz="2000" kern="100" dirty="0">
                <a:solidFill>
                  <a:srgbClr val="000000"/>
                </a:solidFill>
                <a:latin typeface="黑体" panose="02010609060101010101" charset="-122"/>
                <a:ea typeface="黑体" panose="02010609060101010101" charset="-122"/>
                <a:cs typeface="黑体" panose="02010609060101010101" charset="-122"/>
              </a:rPr>
              <a:t>2</a:t>
            </a:r>
            <a:r>
              <a:rPr lang="zh-CN" altLang="en-US" sz="2000" kern="100" dirty="0">
                <a:solidFill>
                  <a:srgbClr val="000000"/>
                </a:solidFill>
                <a:latin typeface="黑体" panose="02010609060101010101" charset="-122"/>
                <a:ea typeface="黑体" panose="02010609060101010101" charset="-122"/>
                <a:cs typeface="黑体" panose="02010609060101010101" charset="-122"/>
              </a:rPr>
              <a:t>代晶体管计算机</a:t>
            </a:r>
            <a:endParaRPr lang="zh-CN" altLang="en-US" sz="2000" kern="100" dirty="0">
              <a:latin typeface="黑体" panose="02010609060101010101" charset="-122"/>
              <a:ea typeface="黑体" panose="02010609060101010101" charset="-122"/>
              <a:cs typeface="黑体" panose="02010609060101010101" charset="-122"/>
            </a:endParaRPr>
          </a:p>
        </p:txBody>
      </p:sp>
      <p:sp>
        <p:nvSpPr>
          <p:cNvPr id="14" name="矩形 13"/>
          <p:cNvSpPr/>
          <p:nvPr/>
        </p:nvSpPr>
        <p:spPr>
          <a:xfrm>
            <a:off x="1380810" y="3159662"/>
            <a:ext cx="4715674" cy="1630045"/>
          </a:xfrm>
          <a:prstGeom prst="rect">
            <a:avLst/>
          </a:prstGeom>
        </p:spPr>
        <p:txBody>
          <a:bodyPr wrap="square">
            <a:spAutoFit/>
          </a:bodyPr>
          <a:lstStyle/>
          <a:p>
            <a:pPr marL="214630" indent="-214630">
              <a:lnSpc>
                <a:spcPct val="125000"/>
              </a:lnSpc>
              <a:buFont typeface="Wingdings" panose="05000000000000000000" pitchFamily="2" charset="2"/>
              <a:buChar char="l"/>
            </a:pPr>
            <a:r>
              <a:rPr lang="zh-CN" altLang="zh-CN" sz="2000" kern="100" dirty="0">
                <a:solidFill>
                  <a:srgbClr val="000000"/>
                </a:solidFill>
                <a:latin typeface="黑体" panose="02010609060101010101" charset="-122"/>
                <a:ea typeface="黑体" panose="02010609060101010101" charset="-122"/>
                <a:cs typeface="黑体" panose="02010609060101010101" charset="-122"/>
              </a:rPr>
              <a:t>第二代计算机增加了</a:t>
            </a:r>
            <a:r>
              <a:rPr lang="en-US" altLang="zh-CN" sz="2000" kern="100" dirty="0">
                <a:solidFill>
                  <a:srgbClr val="000000"/>
                </a:solidFill>
                <a:latin typeface="黑体" panose="02010609060101010101" charset="-122"/>
                <a:ea typeface="黑体" panose="02010609060101010101" charset="-122"/>
                <a:cs typeface="黑体" panose="02010609060101010101" charset="-122"/>
              </a:rPr>
              <a:t>浮点运算</a:t>
            </a:r>
            <a:r>
              <a:rPr lang="zh-CN" altLang="zh-CN" sz="2000" kern="100" dirty="0">
                <a:solidFill>
                  <a:srgbClr val="000000"/>
                </a:solidFill>
                <a:latin typeface="黑体" panose="02010609060101010101" charset="-122"/>
                <a:ea typeface="黑体" panose="02010609060101010101" charset="-122"/>
                <a:cs typeface="黑体" panose="02010609060101010101" charset="-122"/>
              </a:rPr>
              <a:t>，使数据的绝对值可达</a:t>
            </a:r>
            <a:r>
              <a:rPr lang="en-US" altLang="zh-CN" sz="2000" kern="100" dirty="0">
                <a:solidFill>
                  <a:srgbClr val="000000"/>
                </a:solidFill>
                <a:latin typeface="黑体" panose="02010609060101010101" charset="-122"/>
                <a:ea typeface="黑体" panose="02010609060101010101" charset="-122"/>
                <a:cs typeface="黑体" panose="02010609060101010101" charset="-122"/>
              </a:rPr>
              <a:t>2</a:t>
            </a:r>
            <a:r>
              <a:rPr lang="zh-CN" altLang="zh-CN" sz="2000" kern="100" dirty="0">
                <a:solidFill>
                  <a:srgbClr val="000000"/>
                </a:solidFill>
                <a:latin typeface="黑体" panose="02010609060101010101" charset="-122"/>
                <a:ea typeface="黑体" panose="02010609060101010101" charset="-122"/>
                <a:cs typeface="黑体" panose="02010609060101010101" charset="-122"/>
              </a:rPr>
              <a:t>的几十次方或几百次方</a:t>
            </a:r>
            <a:r>
              <a:rPr lang="zh-CN" altLang="en-US" sz="2000" kern="100" dirty="0">
                <a:solidFill>
                  <a:srgbClr val="000000"/>
                </a:solidFill>
                <a:latin typeface="黑体" panose="02010609060101010101" charset="-122"/>
                <a:ea typeface="黑体" panose="02010609060101010101" charset="-122"/>
                <a:cs typeface="黑体" panose="02010609060101010101" charset="-122"/>
              </a:rPr>
              <a:t> 。</a:t>
            </a:r>
            <a:endParaRPr lang="en-US" altLang="zh-CN" sz="2000" kern="100" dirty="0">
              <a:solidFill>
                <a:srgbClr val="000000"/>
              </a:solidFill>
              <a:latin typeface="黑体" panose="02010609060101010101" charset="-122"/>
              <a:ea typeface="黑体" panose="02010609060101010101" charset="-122"/>
              <a:cs typeface="黑体" panose="02010609060101010101" charset="-122"/>
            </a:endParaRPr>
          </a:p>
          <a:p>
            <a:pPr marL="214630" indent="-214630">
              <a:lnSpc>
                <a:spcPct val="125000"/>
              </a:lnSpc>
              <a:buFont typeface="Wingdings" panose="05000000000000000000" pitchFamily="2" charset="2"/>
              <a:buChar char="l"/>
            </a:pPr>
            <a:r>
              <a:rPr lang="zh-CN" altLang="zh-CN" sz="2000" kern="100" dirty="0">
                <a:solidFill>
                  <a:srgbClr val="000000"/>
                </a:solidFill>
                <a:latin typeface="黑体" panose="02010609060101010101" charset="-122"/>
                <a:ea typeface="黑体" panose="02010609060101010101" charset="-122"/>
                <a:cs typeface="黑体" panose="02010609060101010101" charset="-122"/>
              </a:rPr>
              <a:t>计算机的计算能力实现了一次飞跃</a:t>
            </a:r>
            <a:r>
              <a:rPr lang="en-US" altLang="zh-CN" sz="2000" kern="100" dirty="0">
                <a:solidFill>
                  <a:srgbClr val="000000"/>
                </a:solidFill>
                <a:latin typeface="黑体" panose="02010609060101010101" charset="-122"/>
                <a:ea typeface="黑体" panose="02010609060101010101" charset="-122"/>
                <a:cs typeface="黑体" panose="02010609060101010101" charset="-122"/>
              </a:rPr>
              <a:t> </a:t>
            </a:r>
            <a:r>
              <a:rPr lang="zh-CN" altLang="en-US" sz="2000" kern="100" dirty="0">
                <a:solidFill>
                  <a:srgbClr val="000000"/>
                </a:solidFill>
                <a:latin typeface="黑体" panose="02010609060101010101" charset="-122"/>
                <a:ea typeface="黑体" panose="02010609060101010101" charset="-122"/>
                <a:cs typeface="黑体" panose="02010609060101010101" charset="-122"/>
              </a:rPr>
              <a:t>。</a:t>
            </a:r>
            <a:endParaRPr lang="en-US" altLang="zh-CN" sz="2000" kern="100" dirty="0">
              <a:solidFill>
                <a:srgbClr val="000000"/>
              </a:solidFill>
              <a:latin typeface="黑体" panose="02010609060101010101" charset="-122"/>
              <a:ea typeface="黑体" panose="02010609060101010101" charset="-122"/>
              <a:cs typeface="黑体" panose="02010609060101010101" charset="-122"/>
            </a:endParaRPr>
          </a:p>
          <a:p>
            <a:pPr marL="214630" indent="-214630">
              <a:lnSpc>
                <a:spcPct val="125000"/>
              </a:lnSpc>
              <a:buFont typeface="Wingdings" panose="05000000000000000000" pitchFamily="2" charset="2"/>
              <a:buChar char="l"/>
            </a:pPr>
            <a:r>
              <a:rPr lang="zh-CN" altLang="zh-CN" sz="2000" kern="100" dirty="0">
                <a:solidFill>
                  <a:srgbClr val="000000"/>
                </a:solidFill>
                <a:latin typeface="黑体" panose="02010609060101010101" charset="-122"/>
                <a:ea typeface="黑体" panose="02010609060101010101" charset="-122"/>
                <a:cs typeface="黑体" panose="02010609060101010101" charset="-122"/>
              </a:rPr>
              <a:t>体积减小，寿命大大延长，价格降低</a:t>
            </a:r>
            <a:r>
              <a:rPr lang="zh-CN" altLang="en-US" sz="2000" kern="100" dirty="0">
                <a:solidFill>
                  <a:srgbClr val="000000"/>
                </a:solidFill>
                <a:latin typeface="黑体" panose="02010609060101010101" charset="-122"/>
                <a:ea typeface="黑体" panose="02010609060101010101" charset="-122"/>
                <a:cs typeface="黑体" panose="02010609060101010101" charset="-122"/>
              </a:rPr>
              <a:t>。</a:t>
            </a:r>
            <a:endParaRPr lang="zh-CN" altLang="zh-CN" sz="2000" kern="100" dirty="0">
              <a:latin typeface="黑体" panose="02010609060101010101" charset="-122"/>
              <a:ea typeface="黑体" panose="02010609060101010101" charset="-122"/>
              <a:cs typeface="黑体" panose="02010609060101010101"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001395" y="544830"/>
            <a:ext cx="5095240" cy="521970"/>
          </a:xfrm>
          <a:prstGeom prst="rect">
            <a:avLst/>
          </a:prstGeom>
        </p:spPr>
        <p:txBody>
          <a:bodyPr wrap="square">
            <a:spAutoFit/>
          </a:bodyPr>
          <a:p>
            <a:r>
              <a:rPr lang="en-US" altLang="zh-CN" sz="2800" b="0">
                <a:solidFill>
                  <a:srgbClr val="002060"/>
                </a:solidFill>
                <a:latin typeface="方正大黑简体" panose="02000000000000000000" charset="-122"/>
                <a:ea typeface="方正大黑简体" panose="02000000000000000000" charset="-122"/>
                <a:cs typeface="方正大黑简体" panose="02000000000000000000" charset="-122"/>
              </a:rPr>
              <a:t>1.2 </a:t>
            </a:r>
            <a:r>
              <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rPr>
              <a:t>操作系统的发展历程</a:t>
            </a:r>
            <a:endPar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15" name="文本框 14"/>
          <p:cNvSpPr txBox="1"/>
          <p:nvPr/>
        </p:nvSpPr>
        <p:spPr>
          <a:xfrm>
            <a:off x="1236345" y="1198880"/>
            <a:ext cx="9501505" cy="1014730"/>
          </a:xfrm>
          <a:prstGeom prst="rect">
            <a:avLst/>
          </a:prstGeom>
          <a:noFill/>
        </p:spPr>
        <p:txBody>
          <a:bodyPr wrap="square" rtlCol="0">
            <a:spAutoFit/>
          </a:bodyPr>
          <a:lstStyle/>
          <a:p>
            <a:pPr marL="342900" indent="-342900">
              <a:buFont typeface="Wingdings" panose="05000000000000000000" charset="0"/>
              <a:buChar char="n"/>
            </a:pPr>
            <a:r>
              <a:rPr lang="zh-CN" altLang="en-US" sz="2000" b="1" dirty="0">
                <a:solidFill>
                  <a:srgbClr val="6C0000"/>
                </a:solidFill>
                <a:latin typeface="华文行楷" panose="02010800040101010101" charset="-122"/>
                <a:ea typeface="华文行楷" panose="02010800040101010101" charset="-122"/>
                <a:cs typeface="华文行楷" panose="02010800040101010101" charset="-122"/>
              </a:rPr>
              <a:t>监督程序阶段</a:t>
            </a:r>
            <a:endParaRPr lang="en-US" altLang="zh-CN" sz="2000" b="1" dirty="0">
              <a:solidFill>
                <a:srgbClr val="6C0000"/>
              </a:solidFill>
              <a:latin typeface="华文行楷" panose="02010800040101010101" charset="-122"/>
              <a:ea typeface="华文行楷" panose="02010800040101010101" charset="-122"/>
              <a:cs typeface="华文行楷" panose="02010800040101010101" charset="-122"/>
            </a:endParaRPr>
          </a:p>
          <a:p>
            <a:pPr marL="342900" indent="-342900">
              <a:buFont typeface="Wingdings" panose="05000000000000000000" charset="0"/>
              <a:buChar char="n"/>
            </a:pPr>
            <a:endParaRPr lang="en-US" altLang="zh-CN" sz="2000" b="1" dirty="0">
              <a:latin typeface="华文行楷" panose="02010800040101010101" charset="-122"/>
              <a:ea typeface="华文行楷" panose="02010800040101010101" charset="-122"/>
              <a:cs typeface="华文行楷" panose="02010800040101010101" charset="-122"/>
            </a:endParaRPr>
          </a:p>
          <a:p>
            <a:r>
              <a:rPr lang="en-US" altLang="zh-CN" sz="2000" b="1" dirty="0">
                <a:latin typeface="华文行楷" panose="02010800040101010101" charset="-122"/>
                <a:ea typeface="华文行楷" panose="02010800040101010101" charset="-122"/>
                <a:cs typeface="华文行楷" panose="02010800040101010101" charset="-122"/>
              </a:rPr>
              <a:t> </a:t>
            </a:r>
            <a:endParaRPr lang="zh-CN" altLang="en-US" sz="2000" b="1" dirty="0">
              <a:latin typeface="华文行楷" panose="02010800040101010101" charset="-122"/>
              <a:ea typeface="华文行楷" panose="02010800040101010101" charset="-122"/>
              <a:cs typeface="华文行楷" panose="02010800040101010101" charset="-122"/>
            </a:endParaRPr>
          </a:p>
        </p:txBody>
      </p:sp>
      <p:sp>
        <p:nvSpPr>
          <p:cNvPr id="3" name="矩形 2"/>
          <p:cNvSpPr/>
          <p:nvPr/>
        </p:nvSpPr>
        <p:spPr>
          <a:xfrm>
            <a:off x="1236345" y="1668780"/>
            <a:ext cx="9351645" cy="1014730"/>
          </a:xfrm>
          <a:prstGeom prst="rect">
            <a:avLst/>
          </a:prstGeom>
        </p:spPr>
        <p:txBody>
          <a:bodyPr wrap="square">
            <a:spAutoFit/>
          </a:bodyPr>
          <a:lstStyle/>
          <a:p>
            <a:r>
              <a:rPr lang="zh-CN" altLang="en-US" sz="2000" dirty="0">
                <a:latin typeface="黑体" panose="02010609060101010101" charset="-122"/>
                <a:ea typeface="黑体" panose="02010609060101010101" charset="-122"/>
                <a:cs typeface="黑体" panose="02010609060101010101" charset="-122"/>
              </a:rPr>
              <a:t>中国第一台晶体管计算机通常指</a:t>
            </a:r>
            <a:r>
              <a:rPr lang="en-US" altLang="zh-CN" sz="2000" dirty="0">
                <a:latin typeface="黑体" panose="02010609060101010101" charset="-122"/>
                <a:ea typeface="黑体" panose="02010609060101010101" charset="-122"/>
                <a:cs typeface="黑体" panose="02010609060101010101" charset="-122"/>
              </a:rPr>
              <a:t>1965</a:t>
            </a:r>
            <a:r>
              <a:rPr lang="zh-CN" altLang="en-US" sz="2000" dirty="0">
                <a:latin typeface="黑体" panose="02010609060101010101" charset="-122"/>
                <a:ea typeface="黑体" panose="02010609060101010101" charset="-122"/>
                <a:cs typeface="黑体" panose="02010609060101010101" charset="-122"/>
              </a:rPr>
              <a:t>年研制成功的</a:t>
            </a:r>
            <a:r>
              <a:rPr lang="en-US" altLang="zh-CN" sz="2000" dirty="0">
                <a:latin typeface="黑体" panose="02010609060101010101" charset="-122"/>
                <a:ea typeface="黑体" panose="02010609060101010101" charset="-122"/>
                <a:cs typeface="黑体" panose="02010609060101010101" charset="-122"/>
              </a:rPr>
              <a:t>109</a:t>
            </a:r>
            <a:r>
              <a:rPr lang="zh-CN" altLang="en-US" sz="2000" dirty="0">
                <a:latin typeface="黑体" panose="02010609060101010101" charset="-122"/>
                <a:ea typeface="黑体" panose="02010609060101010101" charset="-122"/>
                <a:cs typeface="黑体" panose="02010609060101010101" charset="-122"/>
              </a:rPr>
              <a:t>乙机（中国科学院计算技术研究所），但</a:t>
            </a:r>
            <a:r>
              <a:rPr lang="en-US" altLang="zh-CN" sz="2000" dirty="0">
                <a:latin typeface="黑体" panose="02010609060101010101" charset="-122"/>
                <a:ea typeface="黑体" panose="02010609060101010101" charset="-122"/>
                <a:cs typeface="黑体" panose="02010609060101010101" charset="-122"/>
              </a:rPr>
              <a:t>1964</a:t>
            </a:r>
            <a:r>
              <a:rPr lang="zh-CN" altLang="en-US" sz="2000" dirty="0">
                <a:latin typeface="黑体" panose="02010609060101010101" charset="-122"/>
                <a:ea typeface="黑体" panose="02010609060101010101" charset="-122"/>
                <a:cs typeface="黑体" panose="02010609060101010101" charset="-122"/>
              </a:rPr>
              <a:t>年研制成功的</a:t>
            </a:r>
            <a:r>
              <a:rPr lang="en-US" altLang="zh-CN" sz="2000" dirty="0">
                <a:latin typeface="黑体" panose="02010609060101010101" charset="-122"/>
                <a:ea typeface="黑体" panose="02010609060101010101" charset="-122"/>
                <a:cs typeface="黑体" panose="02010609060101010101" charset="-122"/>
              </a:rPr>
              <a:t>441B</a:t>
            </a:r>
            <a:r>
              <a:rPr lang="zh-CN" altLang="en-US" sz="2000" dirty="0">
                <a:latin typeface="黑体" panose="02010609060101010101" charset="-122"/>
                <a:ea typeface="黑体" panose="02010609060101010101" charset="-122"/>
                <a:cs typeface="黑体" panose="02010609060101010101" charset="-122"/>
              </a:rPr>
              <a:t>机（哈尔滨军事工程学院）也是我国最早投入实际运行的晶体管计算机之一，二者均为中国计算机进入晶体管时代的里程碑。</a:t>
            </a:r>
            <a:endParaRPr lang="zh-CN" altLang="en-US" sz="2000" dirty="0">
              <a:latin typeface="黑体" panose="02010609060101010101" charset="-122"/>
              <a:ea typeface="黑体" panose="02010609060101010101" charset="-122"/>
              <a:cs typeface="黑体" panose="02010609060101010101" charset="-122"/>
            </a:endParaRPr>
          </a:p>
        </p:txBody>
      </p:sp>
      <p:grpSp>
        <p:nvGrpSpPr>
          <p:cNvPr id="10" name="组合 9"/>
          <p:cNvGrpSpPr/>
          <p:nvPr>
            <p:custDataLst>
              <p:tags r:id="rId1"/>
            </p:custDataLst>
          </p:nvPr>
        </p:nvGrpSpPr>
        <p:grpSpPr>
          <a:xfrm rot="0">
            <a:off x="6281767" y="3046836"/>
            <a:ext cx="4482408" cy="2421223"/>
            <a:chOff x="2200" y="5301"/>
            <a:chExt cx="14758" cy="7970"/>
          </a:xfrm>
        </p:grpSpPr>
        <p:pic>
          <p:nvPicPr>
            <p:cNvPr id="12" name="图片 11" descr="border"/>
            <p:cNvPicPr>
              <a:picLocks noChangeAspect="1"/>
            </p:cNvPicPr>
            <p:nvPr>
              <p:custDataLst>
                <p:tags r:id="rId2"/>
              </p:custDataLst>
            </p:nvPr>
          </p:nvPicPr>
          <p:blipFill>
            <a:blip r:embed="rId3"/>
            <a:stretch>
              <a:fillRect/>
            </a:stretch>
          </p:blipFill>
          <p:spPr>
            <a:xfrm>
              <a:off x="2200" y="5301"/>
              <a:ext cx="14758" cy="7970"/>
            </a:xfrm>
            <a:prstGeom prst="rect">
              <a:avLst/>
            </a:prstGeom>
          </p:spPr>
        </p:pic>
        <p:pic>
          <p:nvPicPr>
            <p:cNvPr id="13" name="图片 12" descr="F:/素材图片2/xiezuo20241118-111810.pngxiezuo20241118-111810"/>
            <p:cNvPicPr>
              <a:picLocks noChangeAspect="1"/>
            </p:cNvPicPr>
            <p:nvPr>
              <p:custDataLst>
                <p:tags r:id="rId4"/>
              </p:custDataLst>
            </p:nvPr>
          </p:nvPicPr>
          <p:blipFill>
            <a:blip r:embed="rId5"/>
            <a:srcRect t="6396" b="6396"/>
            <a:stretch>
              <a:fillRect/>
            </a:stretch>
          </p:blipFill>
          <p:spPr>
            <a:xfrm>
              <a:off x="3908" y="5646"/>
              <a:ext cx="11342" cy="6936"/>
            </a:xfrm>
            <a:custGeom>
              <a:avLst/>
              <a:gdLst/>
              <a:ahLst/>
              <a:cxnLst>
                <a:cxn ang="3">
                  <a:pos x="hc" y="t"/>
                </a:cxn>
                <a:cxn ang="cd2">
                  <a:pos x="l" y="vc"/>
                </a:cxn>
                <a:cxn ang="cd4">
                  <a:pos x="hc" y="b"/>
                </a:cxn>
                <a:cxn ang="0">
                  <a:pos x="r" y="vc"/>
                </a:cxn>
              </a:cxnLst>
              <a:rect l="l" t="t" r="r" b="b"/>
              <a:pathLst>
                <a:path w="11775" h="7200">
                  <a:moveTo>
                    <a:pt x="0" y="0"/>
                  </a:moveTo>
                  <a:lnTo>
                    <a:pt x="11775" y="0"/>
                  </a:lnTo>
                  <a:lnTo>
                    <a:pt x="11775" y="7200"/>
                  </a:lnTo>
                  <a:lnTo>
                    <a:pt x="0" y="7200"/>
                  </a:lnTo>
                  <a:lnTo>
                    <a:pt x="0" y="0"/>
                  </a:lnTo>
                  <a:close/>
                </a:path>
              </a:pathLst>
            </a:custGeom>
            <a:ln w="6350">
              <a:noFill/>
            </a:ln>
          </p:spPr>
        </p:pic>
      </p:grpSp>
      <p:sp>
        <p:nvSpPr>
          <p:cNvPr id="5" name="矩形 4"/>
          <p:cNvSpPr/>
          <p:nvPr/>
        </p:nvSpPr>
        <p:spPr>
          <a:xfrm>
            <a:off x="5938870" y="5630892"/>
            <a:ext cx="6264696" cy="321945"/>
          </a:xfrm>
          <a:prstGeom prst="rect">
            <a:avLst/>
          </a:prstGeom>
        </p:spPr>
        <p:txBody>
          <a:bodyPr wrap="square">
            <a:spAutoFit/>
          </a:bodyPr>
          <a:lstStyle/>
          <a:p>
            <a:r>
              <a:rPr lang="zh-CN" altLang="en-US" sz="1500" b="1" dirty="0">
                <a:solidFill>
                  <a:srgbClr val="002060"/>
                </a:solidFill>
                <a:latin typeface="黑体" panose="02010609060101010101" charset="-122"/>
                <a:ea typeface="黑体" panose="02010609060101010101" charset="-122"/>
                <a:cs typeface="黑体" panose="02010609060101010101" charset="-122"/>
              </a:rPr>
              <a:t>成都电讯工程学院计算机专业仿制的</a:t>
            </a:r>
            <a:r>
              <a:rPr lang="en-US" altLang="zh-CN" sz="1500" b="1" dirty="0">
                <a:solidFill>
                  <a:srgbClr val="002060"/>
                </a:solidFill>
                <a:latin typeface="黑体" panose="02010609060101010101" charset="-122"/>
                <a:ea typeface="黑体" panose="02010609060101010101" charset="-122"/>
                <a:cs typeface="黑体" panose="02010609060101010101" charset="-122"/>
              </a:rPr>
              <a:t>441-B</a:t>
            </a:r>
            <a:r>
              <a:rPr lang="zh-CN" altLang="en-US" sz="1500" b="1" dirty="0">
                <a:solidFill>
                  <a:srgbClr val="002060"/>
                </a:solidFill>
                <a:latin typeface="黑体" panose="02010609060101010101" charset="-122"/>
                <a:ea typeface="黑体" panose="02010609060101010101" charset="-122"/>
                <a:cs typeface="黑体" panose="02010609060101010101" charset="-122"/>
              </a:rPr>
              <a:t>晶体管计算机照片</a:t>
            </a:r>
            <a:endParaRPr lang="zh-CN" altLang="en-US" sz="1500" b="1" dirty="0">
              <a:solidFill>
                <a:srgbClr val="002060"/>
              </a:solidFill>
              <a:latin typeface="黑体" panose="02010609060101010101" charset="-122"/>
              <a:ea typeface="黑体" panose="02010609060101010101" charset="-122"/>
              <a:cs typeface="黑体" panose="02010609060101010101" charset="-122"/>
            </a:endParaRPr>
          </a:p>
        </p:txBody>
      </p:sp>
      <p:grpSp>
        <p:nvGrpSpPr>
          <p:cNvPr id="8" name="组合 7"/>
          <p:cNvGrpSpPr/>
          <p:nvPr>
            <p:custDataLst>
              <p:tags r:id="rId6"/>
            </p:custDataLst>
          </p:nvPr>
        </p:nvGrpSpPr>
        <p:grpSpPr>
          <a:xfrm rot="0">
            <a:off x="1276487" y="3133449"/>
            <a:ext cx="4174216" cy="2254750"/>
            <a:chOff x="2200" y="5301"/>
            <a:chExt cx="14758" cy="7970"/>
          </a:xfrm>
        </p:grpSpPr>
        <p:pic>
          <p:nvPicPr>
            <p:cNvPr id="9" name="图片 8" descr="border"/>
            <p:cNvPicPr>
              <a:picLocks noChangeAspect="1"/>
            </p:cNvPicPr>
            <p:nvPr>
              <p:custDataLst>
                <p:tags r:id="rId7"/>
              </p:custDataLst>
            </p:nvPr>
          </p:nvPicPr>
          <p:blipFill>
            <a:blip r:embed="rId3"/>
            <a:stretch>
              <a:fillRect/>
            </a:stretch>
          </p:blipFill>
          <p:spPr>
            <a:xfrm>
              <a:off x="2200" y="5301"/>
              <a:ext cx="14758" cy="7970"/>
            </a:xfrm>
            <a:prstGeom prst="rect">
              <a:avLst/>
            </a:prstGeom>
          </p:spPr>
        </p:pic>
        <p:pic>
          <p:nvPicPr>
            <p:cNvPr id="11" name="图片 10" descr="F:/素材图片2/xiezuo20241118-111810.pngxiezuo20241118-111810"/>
            <p:cNvPicPr>
              <a:picLocks noChangeAspect="1"/>
            </p:cNvPicPr>
            <p:nvPr>
              <p:custDataLst>
                <p:tags r:id="rId8"/>
              </p:custDataLst>
            </p:nvPr>
          </p:nvPicPr>
          <p:blipFill>
            <a:blip r:embed="rId9"/>
            <a:srcRect t="9158" b="9158"/>
            <a:stretch>
              <a:fillRect/>
            </a:stretch>
          </p:blipFill>
          <p:spPr>
            <a:xfrm>
              <a:off x="3908" y="5646"/>
              <a:ext cx="11342" cy="6936"/>
            </a:xfrm>
            <a:custGeom>
              <a:avLst/>
              <a:gdLst/>
              <a:ahLst/>
              <a:cxnLst>
                <a:cxn ang="3">
                  <a:pos x="hc" y="t"/>
                </a:cxn>
                <a:cxn ang="cd2">
                  <a:pos x="l" y="vc"/>
                </a:cxn>
                <a:cxn ang="cd4">
                  <a:pos x="hc" y="b"/>
                </a:cxn>
                <a:cxn ang="0">
                  <a:pos x="r" y="vc"/>
                </a:cxn>
              </a:cxnLst>
              <a:rect l="l" t="t" r="r" b="b"/>
              <a:pathLst>
                <a:path w="11775" h="7200">
                  <a:moveTo>
                    <a:pt x="0" y="0"/>
                  </a:moveTo>
                  <a:lnTo>
                    <a:pt x="11775" y="0"/>
                  </a:lnTo>
                  <a:lnTo>
                    <a:pt x="11775" y="7200"/>
                  </a:lnTo>
                  <a:lnTo>
                    <a:pt x="0" y="7200"/>
                  </a:lnTo>
                  <a:lnTo>
                    <a:pt x="0" y="0"/>
                  </a:lnTo>
                  <a:close/>
                </a:path>
              </a:pathLst>
            </a:custGeom>
            <a:ln w="6350">
              <a:noFill/>
            </a:ln>
          </p:spPr>
        </p:pic>
      </p:grpSp>
      <p:sp>
        <p:nvSpPr>
          <p:cNvPr id="7" name="矩形 6"/>
          <p:cNvSpPr/>
          <p:nvPr/>
        </p:nvSpPr>
        <p:spPr>
          <a:xfrm>
            <a:off x="2252345" y="5572125"/>
            <a:ext cx="2408555" cy="321945"/>
          </a:xfrm>
          <a:prstGeom prst="rect">
            <a:avLst/>
          </a:prstGeom>
        </p:spPr>
        <p:txBody>
          <a:bodyPr wrap="square">
            <a:spAutoFit/>
          </a:bodyPr>
          <a:lstStyle/>
          <a:p>
            <a:r>
              <a:rPr lang="zh-CN" altLang="en-US" sz="1500" b="1" dirty="0">
                <a:solidFill>
                  <a:srgbClr val="002060"/>
                </a:solidFill>
                <a:latin typeface="黑体" panose="02010609060101010101" charset="-122"/>
                <a:ea typeface="黑体" panose="02010609060101010101" charset="-122"/>
                <a:cs typeface="黑体" panose="02010609060101010101" charset="-122"/>
              </a:rPr>
              <a:t>中科院供图</a:t>
            </a:r>
            <a:r>
              <a:rPr lang="en-US" altLang="zh-CN" sz="1500" b="1" dirty="0">
                <a:solidFill>
                  <a:srgbClr val="002060"/>
                </a:solidFill>
                <a:latin typeface="黑体" panose="02010609060101010101" charset="-122"/>
                <a:ea typeface="黑体" panose="02010609060101010101" charset="-122"/>
                <a:cs typeface="黑体" panose="02010609060101010101" charset="-122"/>
              </a:rPr>
              <a:t>109</a:t>
            </a:r>
            <a:r>
              <a:rPr lang="zh-CN" altLang="en-US" sz="1500" b="1" dirty="0">
                <a:solidFill>
                  <a:srgbClr val="002060"/>
                </a:solidFill>
                <a:latin typeface="黑体" panose="02010609060101010101" charset="-122"/>
                <a:ea typeface="黑体" panose="02010609060101010101" charset="-122"/>
                <a:cs typeface="黑体" panose="02010609060101010101" charset="-122"/>
              </a:rPr>
              <a:t>乙机</a:t>
            </a:r>
            <a:endParaRPr lang="zh-CN" altLang="en-US" sz="1500" b="1" dirty="0">
              <a:solidFill>
                <a:srgbClr val="002060"/>
              </a:solidFill>
              <a:latin typeface="黑体" panose="02010609060101010101" charset="-122"/>
              <a:ea typeface="黑体" panose="02010609060101010101" charset="-122"/>
              <a:cs typeface="黑体" panose="02010609060101010101"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001395" y="544830"/>
            <a:ext cx="5095240" cy="521970"/>
          </a:xfrm>
          <a:prstGeom prst="rect">
            <a:avLst/>
          </a:prstGeom>
        </p:spPr>
        <p:txBody>
          <a:bodyPr wrap="square">
            <a:spAutoFit/>
          </a:bodyPr>
          <a:p>
            <a:r>
              <a:rPr lang="en-US" altLang="zh-CN" sz="2800" b="0">
                <a:solidFill>
                  <a:srgbClr val="002060"/>
                </a:solidFill>
                <a:latin typeface="方正大黑简体" panose="02000000000000000000" charset="-122"/>
                <a:ea typeface="方正大黑简体" panose="02000000000000000000" charset="-122"/>
                <a:cs typeface="方正大黑简体" panose="02000000000000000000" charset="-122"/>
              </a:rPr>
              <a:t>1.2 </a:t>
            </a:r>
            <a:r>
              <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rPr>
              <a:t>操作系统的发展历程</a:t>
            </a:r>
            <a:endPar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15" name="文本框 14"/>
          <p:cNvSpPr txBox="1"/>
          <p:nvPr/>
        </p:nvSpPr>
        <p:spPr>
          <a:xfrm>
            <a:off x="1236345" y="1198880"/>
            <a:ext cx="9501505" cy="374650"/>
          </a:xfrm>
          <a:prstGeom prst="rect">
            <a:avLst/>
          </a:prstGeom>
          <a:noFill/>
        </p:spPr>
        <p:txBody>
          <a:bodyPr wrap="square" rtlCol="0">
            <a:noAutofit/>
          </a:bodyPr>
          <a:lstStyle/>
          <a:p>
            <a:pPr marL="342900" indent="-342900">
              <a:buFont typeface="Wingdings" panose="05000000000000000000" charset="0"/>
              <a:buChar char="n"/>
            </a:pPr>
            <a:r>
              <a:rPr lang="zh-CN" altLang="en-US" sz="2000" b="1" dirty="0">
                <a:solidFill>
                  <a:srgbClr val="6C0000"/>
                </a:solidFill>
                <a:latin typeface="华文行楷" panose="02010800040101010101" charset="-122"/>
                <a:ea typeface="华文行楷" panose="02010800040101010101" charset="-122"/>
                <a:cs typeface="华文行楷" panose="02010800040101010101" charset="-122"/>
              </a:rPr>
              <a:t>监督程序阶段</a:t>
            </a:r>
            <a:endParaRPr lang="en-US" altLang="zh-CN" sz="2000" b="1" dirty="0">
              <a:solidFill>
                <a:srgbClr val="6C0000"/>
              </a:solidFill>
              <a:latin typeface="华文行楷" panose="02010800040101010101" charset="-122"/>
              <a:ea typeface="华文行楷" panose="02010800040101010101" charset="-122"/>
              <a:cs typeface="华文行楷" panose="02010800040101010101" charset="-122"/>
            </a:endParaRPr>
          </a:p>
          <a:p>
            <a:pPr marL="342900" indent="-342900">
              <a:buFont typeface="Wingdings" panose="05000000000000000000" charset="0"/>
              <a:buChar char="n"/>
            </a:pPr>
            <a:endParaRPr lang="en-US" altLang="zh-CN" sz="2000" b="1" dirty="0">
              <a:latin typeface="华文行楷" panose="02010800040101010101" charset="-122"/>
              <a:ea typeface="华文行楷" panose="02010800040101010101" charset="-122"/>
              <a:cs typeface="华文行楷" panose="02010800040101010101" charset="-122"/>
            </a:endParaRPr>
          </a:p>
          <a:p>
            <a:r>
              <a:rPr lang="en-US" altLang="zh-CN" sz="2000" b="1" dirty="0">
                <a:latin typeface="华文行楷" panose="02010800040101010101" charset="-122"/>
                <a:ea typeface="华文行楷" panose="02010800040101010101" charset="-122"/>
                <a:cs typeface="华文行楷" panose="02010800040101010101" charset="-122"/>
              </a:rPr>
              <a:t> </a:t>
            </a:r>
            <a:endParaRPr lang="zh-CN" altLang="en-US" sz="2000" b="1" dirty="0">
              <a:latin typeface="华文行楷" panose="02010800040101010101" charset="-122"/>
              <a:ea typeface="华文行楷" panose="02010800040101010101" charset="-122"/>
              <a:cs typeface="华文行楷" panose="02010800040101010101" charset="-122"/>
            </a:endParaRPr>
          </a:p>
        </p:txBody>
      </p:sp>
      <p:sp>
        <p:nvSpPr>
          <p:cNvPr id="9" name="文本框 8"/>
          <p:cNvSpPr txBox="1"/>
          <p:nvPr/>
        </p:nvSpPr>
        <p:spPr>
          <a:xfrm>
            <a:off x="924560" y="4702810"/>
            <a:ext cx="4046855" cy="1322070"/>
          </a:xfrm>
          <a:prstGeom prst="rect">
            <a:avLst/>
          </a:prstGeom>
          <a:ln>
            <a:solidFill>
              <a:schemeClr val="tx1"/>
            </a:solidFill>
          </a:ln>
        </p:spPr>
        <p:txBody>
          <a:bodyPr wrap="square">
            <a:spAutoFit/>
          </a:bodyPr>
          <a:p>
            <a:pPr marL="342900" indent="-342900">
              <a:buFont typeface="Wingdings" panose="05000000000000000000" charset="0"/>
              <a:buChar char="n"/>
            </a:pPr>
            <a:r>
              <a:rPr lang="zh-CN" altLang="en-US" sz="2000" b="0" i="0">
                <a:solidFill>
                  <a:schemeClr val="tx1"/>
                </a:solidFill>
                <a:latin typeface="方正粗黑宋简体" panose="02000000000000000000" charset="-122"/>
                <a:ea typeface="方正粗黑宋简体" panose="02000000000000000000" charset="-122"/>
                <a:cs typeface="方正粗黑宋简体" panose="02000000000000000000" charset="-122"/>
              </a:rPr>
              <a:t> 有监督程序 </a:t>
            </a:r>
            <a:endParaRPr lang="zh-CN" altLang="en-US" sz="2000" b="0" i="0">
              <a:solidFill>
                <a:schemeClr val="tx1"/>
              </a:solidFill>
              <a:latin typeface="方正粗黑宋简体" panose="02000000000000000000" charset="-122"/>
              <a:ea typeface="方正粗黑宋简体" panose="02000000000000000000" charset="-122"/>
              <a:cs typeface="方正粗黑宋简体" panose="02000000000000000000" charset="-122"/>
            </a:endParaRPr>
          </a:p>
          <a:p>
            <a:pPr marL="342900" indent="-342900">
              <a:buFont typeface="Wingdings" panose="05000000000000000000" charset="0"/>
              <a:buChar char="n"/>
            </a:pPr>
            <a:r>
              <a:rPr lang="en-US" altLang="zh-CN" sz="2000" b="0" i="0">
                <a:solidFill>
                  <a:schemeClr val="tx1"/>
                </a:solidFill>
                <a:latin typeface="方正粗黑宋简体" panose="02000000000000000000" charset="-122"/>
                <a:ea typeface="方正粗黑宋简体" panose="02000000000000000000" charset="-122"/>
                <a:cs typeface="方正粗黑宋简体" panose="02000000000000000000" charset="-122"/>
              </a:rPr>
              <a:t> </a:t>
            </a:r>
            <a:r>
              <a:rPr lang="zh-CN" altLang="en-US" sz="2000" b="0" i="0">
                <a:solidFill>
                  <a:schemeClr val="tx1"/>
                </a:solidFill>
                <a:latin typeface="方正粗黑宋简体" panose="02000000000000000000" charset="-122"/>
                <a:ea typeface="方正粗黑宋简体" panose="02000000000000000000" charset="-122"/>
                <a:cs typeface="方正粗黑宋简体" panose="02000000000000000000" charset="-122"/>
              </a:rPr>
              <a:t>成批处理</a:t>
            </a:r>
            <a:endParaRPr lang="zh-CN" altLang="en-US" sz="2000" b="0" i="0">
              <a:solidFill>
                <a:schemeClr val="tx1"/>
              </a:solidFill>
              <a:latin typeface="方正粗黑宋简体" panose="02000000000000000000" charset="-122"/>
              <a:ea typeface="方正粗黑宋简体" panose="02000000000000000000" charset="-122"/>
              <a:cs typeface="方正粗黑宋简体" panose="02000000000000000000" charset="-122"/>
            </a:endParaRPr>
          </a:p>
          <a:p>
            <a:pPr marL="342900" indent="-342900">
              <a:buFont typeface="Wingdings" panose="05000000000000000000" charset="0"/>
              <a:buChar char="n"/>
            </a:pPr>
            <a:r>
              <a:rPr lang="zh-CN" altLang="en-US" sz="2000" b="0" i="0">
                <a:solidFill>
                  <a:schemeClr val="tx1"/>
                </a:solidFill>
                <a:latin typeface="方正粗黑宋简体" panose="02000000000000000000" charset="-122"/>
                <a:ea typeface="方正粗黑宋简体" panose="02000000000000000000" charset="-122"/>
                <a:cs typeface="方正粗黑宋简体" panose="02000000000000000000" charset="-122"/>
              </a:rPr>
              <a:t> 作业自动过渡</a:t>
            </a:r>
            <a:endParaRPr lang="zh-CN" altLang="en-US" sz="2000" b="0" i="0">
              <a:solidFill>
                <a:schemeClr val="tx1"/>
              </a:solidFill>
              <a:latin typeface="方正粗黑宋简体" panose="02000000000000000000" charset="-122"/>
              <a:ea typeface="方正粗黑宋简体" panose="02000000000000000000" charset="-122"/>
              <a:cs typeface="方正粗黑宋简体" panose="02000000000000000000" charset="-122"/>
            </a:endParaRPr>
          </a:p>
          <a:p>
            <a:pPr marL="342900" indent="-342900">
              <a:buFont typeface="Wingdings" panose="05000000000000000000" charset="0"/>
              <a:buChar char="n"/>
            </a:pPr>
            <a:r>
              <a:rPr lang="zh-CN" altLang="en-US" sz="2000" b="0" i="0">
                <a:solidFill>
                  <a:schemeClr val="tx1"/>
                </a:solidFill>
                <a:latin typeface="方正粗黑宋简体" panose="02000000000000000000" charset="-122"/>
                <a:ea typeface="方正粗黑宋简体" panose="02000000000000000000" charset="-122"/>
                <a:cs typeface="方正粗黑宋简体" panose="02000000000000000000" charset="-122"/>
              </a:rPr>
              <a:t> 内存中始终保持一道作业 </a:t>
            </a:r>
            <a:endParaRPr lang="zh-CN" altLang="en-US" sz="2000" b="0" i="0">
              <a:solidFill>
                <a:schemeClr val="tx1"/>
              </a:solidFill>
              <a:latin typeface="方正粗黑宋简体" panose="02000000000000000000" charset="-122"/>
              <a:ea typeface="方正粗黑宋简体" panose="02000000000000000000" charset="-122"/>
              <a:cs typeface="方正粗黑宋简体" panose="02000000000000000000" charset="-122"/>
            </a:endParaRPr>
          </a:p>
        </p:txBody>
      </p:sp>
      <p:sp>
        <p:nvSpPr>
          <p:cNvPr id="10" name="文本框 9"/>
          <p:cNvSpPr txBox="1"/>
          <p:nvPr/>
        </p:nvSpPr>
        <p:spPr>
          <a:xfrm>
            <a:off x="1020445" y="4222115"/>
            <a:ext cx="783590" cy="368935"/>
          </a:xfrm>
          <a:prstGeom prst="rect">
            <a:avLst/>
          </a:prstGeom>
          <a:noFill/>
          <a:ln>
            <a:noFill/>
          </a:ln>
        </p:spPr>
        <p:txBody>
          <a:bodyPr wrap="square" lIns="0" tIns="0" rIns="0" bIns="0" rtlCol="0" anchor="t">
            <a:spAutoFit/>
          </a:bodyPr>
          <a:p>
            <a:pPr marL="0" indent="0"/>
            <a:r>
              <a:rPr lang="zh-CN" altLang="en-US" sz="2400">
                <a:solidFill>
                  <a:schemeClr val="tx1"/>
                </a:solidFill>
                <a:latin typeface="方正粗黑宋简体" panose="02000000000000000000" charset="-122"/>
                <a:ea typeface="方正粗黑宋简体" panose="02000000000000000000" charset="-122"/>
                <a:cs typeface="方正粗黑宋简体" panose="02000000000000000000" charset="-122"/>
                <a:sym typeface="+mn-ea"/>
              </a:rPr>
              <a:t>特点</a:t>
            </a:r>
            <a:endParaRPr lang="zh-CN" altLang="en-US" sz="2400" b="1" dirty="0">
              <a:solidFill>
                <a:schemeClr val="tx1"/>
              </a:solidFill>
              <a:effectLst>
                <a:outerShdw blurRad="38100" dist="38100" dir="2700000" algn="tl">
                  <a:srgbClr val="000000">
                    <a:alpha val="43137"/>
                  </a:srgbClr>
                </a:outerShdw>
              </a:effectLst>
              <a:latin typeface="方正粗黑宋简体" panose="02000000000000000000" charset="-122"/>
              <a:ea typeface="方正粗黑宋简体" panose="02000000000000000000" charset="-122"/>
              <a:cs typeface="方正粗黑宋简体" panose="02000000000000000000" charset="-122"/>
              <a:sym typeface="+mn-ea"/>
            </a:endParaRPr>
          </a:p>
        </p:txBody>
      </p:sp>
      <p:sp>
        <p:nvSpPr>
          <p:cNvPr id="11" name="文本框 10"/>
          <p:cNvSpPr txBox="1"/>
          <p:nvPr/>
        </p:nvSpPr>
        <p:spPr>
          <a:xfrm>
            <a:off x="5608320" y="4923155"/>
            <a:ext cx="5508625" cy="307340"/>
          </a:xfrm>
          <a:prstGeom prst="rect">
            <a:avLst/>
          </a:prstGeom>
          <a:noFill/>
          <a:ln>
            <a:noFill/>
          </a:ln>
        </p:spPr>
        <p:txBody>
          <a:bodyPr wrap="square" lIns="0" tIns="0" rIns="0" bIns="0" rtlCol="0" anchor="t">
            <a:spAutoFit/>
          </a:bodyPr>
          <a:p>
            <a:pPr marL="0" indent="0"/>
            <a:r>
              <a:rPr lang="zh-CN" altLang="en-US" sz="2000">
                <a:solidFill>
                  <a:schemeClr val="tx1"/>
                </a:solidFill>
                <a:latin typeface="方正粗黑宋简体" panose="02000000000000000000" charset="-122"/>
                <a:ea typeface="方正粗黑宋简体" panose="02000000000000000000" charset="-122"/>
                <a:cs typeface="方正粗黑宋简体" panose="02000000000000000000" charset="-122"/>
                <a:sym typeface="+mn-ea"/>
              </a:rPr>
              <a:t>内存中仅有一道作业，系统资源不能很好地利用</a:t>
            </a:r>
            <a:endParaRPr lang="zh-CN" altLang="en-US" sz="2000" b="1" dirty="0">
              <a:solidFill>
                <a:schemeClr val="tx1"/>
              </a:solidFill>
              <a:effectLst>
                <a:outerShdw blurRad="38100" dist="38100" dir="2700000" algn="tl">
                  <a:srgbClr val="000000">
                    <a:alpha val="43137"/>
                  </a:srgbClr>
                </a:outerShdw>
              </a:effectLst>
              <a:latin typeface="方正粗黑宋简体" panose="02000000000000000000" charset="-122"/>
              <a:ea typeface="方正粗黑宋简体" panose="02000000000000000000" charset="-122"/>
              <a:cs typeface="方正粗黑宋简体" panose="02000000000000000000" charset="-122"/>
              <a:sym typeface="+mn-ea"/>
            </a:endParaRPr>
          </a:p>
        </p:txBody>
      </p:sp>
      <p:sp>
        <p:nvSpPr>
          <p:cNvPr id="8" name="文本框 7"/>
          <p:cNvSpPr txBox="1"/>
          <p:nvPr/>
        </p:nvSpPr>
        <p:spPr>
          <a:xfrm>
            <a:off x="5448300" y="4267200"/>
            <a:ext cx="1035050" cy="368935"/>
          </a:xfrm>
          <a:prstGeom prst="rect">
            <a:avLst/>
          </a:prstGeom>
          <a:noFill/>
          <a:ln>
            <a:noFill/>
          </a:ln>
        </p:spPr>
        <p:txBody>
          <a:bodyPr wrap="square" lIns="0" tIns="0" rIns="0" bIns="0" rtlCol="0" anchor="t">
            <a:spAutoFit/>
          </a:bodyPr>
          <a:p>
            <a:pPr algn="ctr"/>
            <a:r>
              <a:rPr lang="zh-CN" altLang="en-US" sz="2400">
                <a:solidFill>
                  <a:schemeClr val="tx1"/>
                </a:solidFill>
                <a:latin typeface="方正粗黑宋简体" panose="02000000000000000000" charset="-122"/>
                <a:ea typeface="方正粗黑宋简体" panose="02000000000000000000" charset="-122"/>
                <a:cs typeface="方正粗黑宋简体" panose="02000000000000000000" charset="-122"/>
                <a:sym typeface="+mn-ea"/>
              </a:rPr>
              <a:t>缺点 </a:t>
            </a:r>
            <a:endParaRPr lang="zh-CN" altLang="en-US" sz="2400" b="1" dirty="0">
              <a:solidFill>
                <a:schemeClr val="tx1"/>
              </a:solidFill>
              <a:effectLst>
                <a:outerShdw blurRad="38100" dist="38100" dir="2700000" algn="tl">
                  <a:srgbClr val="000000">
                    <a:alpha val="43137"/>
                  </a:srgbClr>
                </a:outerShdw>
              </a:effectLst>
              <a:latin typeface="方正粗黑宋简体" panose="02000000000000000000" charset="-122"/>
              <a:ea typeface="方正粗黑宋简体" panose="02000000000000000000" charset="-122"/>
              <a:cs typeface="方正粗黑宋简体" panose="02000000000000000000" charset="-122"/>
              <a:sym typeface="+mn-ea"/>
            </a:endParaRPr>
          </a:p>
        </p:txBody>
      </p:sp>
      <p:sp>
        <p:nvSpPr>
          <p:cNvPr id="14" name="文本框 13"/>
          <p:cNvSpPr txBox="1"/>
          <p:nvPr/>
        </p:nvSpPr>
        <p:spPr>
          <a:xfrm>
            <a:off x="3960495" y="1668145"/>
            <a:ext cx="2938780" cy="341206"/>
          </a:xfrm>
          <a:prstGeom prst="roundRect">
            <a:avLst/>
          </a:prstGeom>
          <a:solidFill>
            <a:schemeClr val="accent6">
              <a:lumMod val="20000"/>
              <a:lumOff val="80000"/>
            </a:schemeClr>
          </a:solidFill>
          <a:ln>
            <a:solidFill>
              <a:schemeClr val="tx1"/>
            </a:solidFill>
          </a:ln>
        </p:spPr>
        <p:txBody>
          <a:bodyPr wrap="square" lIns="0" tIns="0" rIns="0" bIns="0" rtlCol="0" anchor="t">
            <a:spAutoFit/>
          </a:bodyPr>
          <a:p>
            <a:pPr marL="0" indent="0" algn="ctr"/>
            <a:r>
              <a:rPr lang="zh-CN" altLang="en-US" sz="2000">
                <a:solidFill>
                  <a:schemeClr val="tx1"/>
                </a:solidFill>
                <a:latin typeface="方正粗黑宋简体" panose="02000000000000000000" charset="-122"/>
                <a:ea typeface="方正粗黑宋简体" panose="02000000000000000000" charset="-122"/>
                <a:cs typeface="方正粗黑宋简体" panose="02000000000000000000" charset="-122"/>
                <a:sym typeface="+mn-ea"/>
              </a:rPr>
              <a:t>单道批处理系统特点</a:t>
            </a:r>
            <a:endParaRPr lang="zh-CN" altLang="en-US" sz="2000" b="1" dirty="0">
              <a:solidFill>
                <a:schemeClr val="tx1"/>
              </a:solidFill>
              <a:effectLst>
                <a:outerShdw blurRad="38100" dist="38100" dir="2700000" algn="tl">
                  <a:srgbClr val="000000">
                    <a:alpha val="43137"/>
                  </a:srgbClr>
                </a:outerShdw>
              </a:effectLst>
              <a:latin typeface="方正粗黑宋简体" panose="02000000000000000000" charset="-122"/>
              <a:ea typeface="方正粗黑宋简体" panose="02000000000000000000" charset="-122"/>
              <a:cs typeface="方正粗黑宋简体" panose="02000000000000000000" charset="-122"/>
              <a:sym typeface="+mn-ea"/>
            </a:endParaRPr>
          </a:p>
        </p:txBody>
      </p:sp>
      <p:sp>
        <p:nvSpPr>
          <p:cNvPr id="17" name="椭圆 16"/>
          <p:cNvSpPr/>
          <p:nvPr/>
        </p:nvSpPr>
        <p:spPr>
          <a:xfrm>
            <a:off x="2270760" y="2819400"/>
            <a:ext cx="582930" cy="571500"/>
          </a:xfrm>
          <a:prstGeom prst="ellipse">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latin typeface="Bahnschrift Light" panose="020B0502040204020203" charset="0"/>
                <a:ea typeface="华文细黑" panose="02010600040101010101" charset="-122"/>
                <a:cs typeface="Bahnschrift Light" panose="020B0502040204020203" charset="0"/>
              </a:rPr>
              <a:t>I</a:t>
            </a:r>
            <a:r>
              <a:rPr lang="en-US" altLang="zh-CN" sz="1000">
                <a:solidFill>
                  <a:schemeClr val="tx1"/>
                </a:solidFill>
                <a:latin typeface="Bahnschrift Light" panose="020B0502040204020203" charset="0"/>
                <a:ea typeface="华文细黑" panose="02010600040101010101" charset="-122"/>
                <a:cs typeface="Bahnschrift Light" panose="020B0502040204020203" charset="0"/>
              </a:rPr>
              <a:t>1</a:t>
            </a:r>
            <a:endParaRPr lang="en-US" altLang="zh-CN" sz="1000">
              <a:solidFill>
                <a:schemeClr val="tx1"/>
              </a:solidFill>
              <a:latin typeface="Bahnschrift Light" panose="020B0502040204020203" charset="0"/>
              <a:ea typeface="华文细黑" panose="02010600040101010101" charset="-122"/>
              <a:cs typeface="Bahnschrift Light" panose="020B0502040204020203" charset="0"/>
            </a:endParaRPr>
          </a:p>
        </p:txBody>
      </p:sp>
      <p:sp>
        <p:nvSpPr>
          <p:cNvPr id="18" name="椭圆 17"/>
          <p:cNvSpPr/>
          <p:nvPr/>
        </p:nvSpPr>
        <p:spPr>
          <a:xfrm>
            <a:off x="3425190" y="2819400"/>
            <a:ext cx="582930" cy="571500"/>
          </a:xfrm>
          <a:prstGeom prst="ellipse">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latin typeface="Bahnschrift Light" panose="020B0502040204020203" charset="0"/>
                <a:ea typeface="华文细黑" panose="02010600040101010101" charset="-122"/>
                <a:cs typeface="Bahnschrift Light" panose="020B0502040204020203" charset="0"/>
              </a:rPr>
              <a:t>C</a:t>
            </a:r>
            <a:r>
              <a:rPr lang="en-US" altLang="zh-CN" sz="1000">
                <a:solidFill>
                  <a:schemeClr val="tx1"/>
                </a:solidFill>
                <a:latin typeface="Bahnschrift Light" panose="020B0502040204020203" charset="0"/>
                <a:ea typeface="华文细黑" panose="02010600040101010101" charset="-122"/>
                <a:cs typeface="Bahnschrift Light" panose="020B0502040204020203" charset="0"/>
              </a:rPr>
              <a:t>1</a:t>
            </a:r>
            <a:endParaRPr lang="en-US" altLang="zh-CN" sz="1000">
              <a:solidFill>
                <a:schemeClr val="tx1"/>
              </a:solidFill>
              <a:latin typeface="Bahnschrift Light" panose="020B0502040204020203" charset="0"/>
              <a:ea typeface="华文细黑" panose="02010600040101010101" charset="-122"/>
              <a:cs typeface="Bahnschrift Light" panose="020B0502040204020203" charset="0"/>
            </a:endParaRPr>
          </a:p>
        </p:txBody>
      </p:sp>
      <p:sp>
        <p:nvSpPr>
          <p:cNvPr id="19" name="椭圆 18"/>
          <p:cNvSpPr/>
          <p:nvPr/>
        </p:nvSpPr>
        <p:spPr>
          <a:xfrm>
            <a:off x="4579620" y="2830195"/>
            <a:ext cx="582930" cy="571500"/>
          </a:xfrm>
          <a:prstGeom prst="ellipse">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latin typeface="Bahnschrift Light" panose="020B0502040204020203" charset="0"/>
                <a:ea typeface="华文细黑" panose="02010600040101010101" charset="-122"/>
                <a:cs typeface="Bahnschrift Light" panose="020B0502040204020203" charset="0"/>
              </a:rPr>
              <a:t>O</a:t>
            </a:r>
            <a:r>
              <a:rPr lang="en-US" altLang="zh-CN" sz="1000">
                <a:solidFill>
                  <a:schemeClr val="tx1"/>
                </a:solidFill>
                <a:latin typeface="Bahnschrift Light" panose="020B0502040204020203" charset="0"/>
                <a:ea typeface="华文细黑" panose="02010600040101010101" charset="-122"/>
                <a:cs typeface="Bahnschrift Light" panose="020B0502040204020203" charset="0"/>
              </a:rPr>
              <a:t>1</a:t>
            </a:r>
            <a:endParaRPr lang="en-US" altLang="zh-CN" sz="1000">
              <a:solidFill>
                <a:schemeClr val="tx1"/>
              </a:solidFill>
              <a:latin typeface="Bahnschrift Light" panose="020B0502040204020203" charset="0"/>
              <a:ea typeface="华文细黑" panose="02010600040101010101" charset="-122"/>
              <a:cs typeface="Bahnschrift Light" panose="020B0502040204020203" charset="0"/>
            </a:endParaRPr>
          </a:p>
        </p:txBody>
      </p:sp>
      <p:cxnSp>
        <p:nvCxnSpPr>
          <p:cNvPr id="20" name="直接箭头连接符 19"/>
          <p:cNvCxnSpPr>
            <a:stCxn id="17" idx="6"/>
            <a:endCxn id="18" idx="2"/>
          </p:cNvCxnSpPr>
          <p:nvPr/>
        </p:nvCxnSpPr>
        <p:spPr>
          <a:xfrm>
            <a:off x="2853690" y="3105150"/>
            <a:ext cx="571500" cy="0"/>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21" name="直接箭头连接符 20"/>
          <p:cNvCxnSpPr/>
          <p:nvPr/>
        </p:nvCxnSpPr>
        <p:spPr>
          <a:xfrm>
            <a:off x="4008120" y="3105150"/>
            <a:ext cx="571500" cy="0"/>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22" name="椭圆 21"/>
          <p:cNvSpPr/>
          <p:nvPr/>
        </p:nvSpPr>
        <p:spPr>
          <a:xfrm>
            <a:off x="5744845" y="2840355"/>
            <a:ext cx="582930" cy="571500"/>
          </a:xfrm>
          <a:prstGeom prst="ellipse">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latin typeface="Bahnschrift Light" panose="020B0502040204020203" charset="0"/>
                <a:ea typeface="华文细黑" panose="02010600040101010101" charset="-122"/>
                <a:cs typeface="Bahnschrift Light" panose="020B0502040204020203" charset="0"/>
              </a:rPr>
              <a:t>I</a:t>
            </a:r>
            <a:r>
              <a:rPr lang="en-US" altLang="zh-CN" sz="1000">
                <a:solidFill>
                  <a:schemeClr val="tx1"/>
                </a:solidFill>
                <a:latin typeface="Bahnschrift Light" panose="020B0502040204020203" charset="0"/>
                <a:ea typeface="华文细黑" panose="02010600040101010101" charset="-122"/>
                <a:cs typeface="Bahnschrift Light" panose="020B0502040204020203" charset="0"/>
              </a:rPr>
              <a:t>2</a:t>
            </a:r>
            <a:endParaRPr lang="en-US" altLang="zh-CN" sz="1000">
              <a:solidFill>
                <a:schemeClr val="tx1"/>
              </a:solidFill>
              <a:latin typeface="Bahnschrift Light" panose="020B0502040204020203" charset="0"/>
              <a:ea typeface="华文细黑" panose="02010600040101010101" charset="-122"/>
              <a:cs typeface="Bahnschrift Light" panose="020B0502040204020203" charset="0"/>
            </a:endParaRPr>
          </a:p>
        </p:txBody>
      </p:sp>
      <p:sp>
        <p:nvSpPr>
          <p:cNvPr id="23" name="椭圆 22"/>
          <p:cNvSpPr/>
          <p:nvPr/>
        </p:nvSpPr>
        <p:spPr>
          <a:xfrm>
            <a:off x="6899275" y="2840355"/>
            <a:ext cx="582930" cy="571500"/>
          </a:xfrm>
          <a:prstGeom prst="ellipse">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latin typeface="Bahnschrift Light" panose="020B0502040204020203" charset="0"/>
                <a:ea typeface="华文细黑" panose="02010600040101010101" charset="-122"/>
                <a:cs typeface="Bahnschrift Light" panose="020B0502040204020203" charset="0"/>
              </a:rPr>
              <a:t>C</a:t>
            </a:r>
            <a:r>
              <a:rPr lang="en-US" altLang="zh-CN" sz="1000">
                <a:solidFill>
                  <a:schemeClr val="tx1"/>
                </a:solidFill>
                <a:latin typeface="Bahnschrift Light" panose="020B0502040204020203" charset="0"/>
                <a:ea typeface="华文细黑" panose="02010600040101010101" charset="-122"/>
                <a:cs typeface="Bahnschrift Light" panose="020B0502040204020203" charset="0"/>
              </a:rPr>
              <a:t>2</a:t>
            </a:r>
            <a:endParaRPr lang="en-US" altLang="zh-CN" sz="1000">
              <a:solidFill>
                <a:schemeClr val="tx1"/>
              </a:solidFill>
              <a:latin typeface="Bahnschrift Light" panose="020B0502040204020203" charset="0"/>
              <a:ea typeface="华文细黑" panose="02010600040101010101" charset="-122"/>
              <a:cs typeface="Bahnschrift Light" panose="020B0502040204020203" charset="0"/>
            </a:endParaRPr>
          </a:p>
        </p:txBody>
      </p:sp>
      <p:sp>
        <p:nvSpPr>
          <p:cNvPr id="24" name="椭圆 23"/>
          <p:cNvSpPr/>
          <p:nvPr/>
        </p:nvSpPr>
        <p:spPr>
          <a:xfrm>
            <a:off x="8053705" y="2851150"/>
            <a:ext cx="582930" cy="571500"/>
          </a:xfrm>
          <a:prstGeom prst="ellipse">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latin typeface="Bahnschrift Light" panose="020B0502040204020203" charset="0"/>
                <a:ea typeface="华文细黑" panose="02010600040101010101" charset="-122"/>
                <a:cs typeface="Bahnschrift Light" panose="020B0502040204020203" charset="0"/>
              </a:rPr>
              <a:t>O</a:t>
            </a:r>
            <a:r>
              <a:rPr lang="en-US" altLang="zh-CN" sz="1000">
                <a:solidFill>
                  <a:schemeClr val="tx1"/>
                </a:solidFill>
                <a:latin typeface="Bahnschrift Light" panose="020B0502040204020203" charset="0"/>
                <a:ea typeface="华文细黑" panose="02010600040101010101" charset="-122"/>
                <a:cs typeface="Bahnschrift Light" panose="020B0502040204020203" charset="0"/>
              </a:rPr>
              <a:t>2</a:t>
            </a:r>
            <a:endParaRPr lang="en-US" altLang="zh-CN" sz="1000">
              <a:solidFill>
                <a:schemeClr val="tx1"/>
              </a:solidFill>
              <a:latin typeface="Bahnschrift Light" panose="020B0502040204020203" charset="0"/>
              <a:ea typeface="华文细黑" panose="02010600040101010101" charset="-122"/>
              <a:cs typeface="Bahnschrift Light" panose="020B0502040204020203" charset="0"/>
            </a:endParaRPr>
          </a:p>
        </p:txBody>
      </p:sp>
      <p:cxnSp>
        <p:nvCxnSpPr>
          <p:cNvPr id="25" name="直接箭头连接符 24"/>
          <p:cNvCxnSpPr>
            <a:stCxn id="22" idx="6"/>
            <a:endCxn id="23" idx="2"/>
          </p:cNvCxnSpPr>
          <p:nvPr/>
        </p:nvCxnSpPr>
        <p:spPr>
          <a:xfrm>
            <a:off x="6327775" y="3126105"/>
            <a:ext cx="571500" cy="0"/>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26" name="直接箭头连接符 25"/>
          <p:cNvCxnSpPr/>
          <p:nvPr/>
        </p:nvCxnSpPr>
        <p:spPr>
          <a:xfrm>
            <a:off x="7482205" y="3126105"/>
            <a:ext cx="571500" cy="0"/>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27" name="左大括号 26"/>
          <p:cNvSpPr/>
          <p:nvPr/>
        </p:nvSpPr>
        <p:spPr>
          <a:xfrm rot="5400000">
            <a:off x="3535045" y="1381760"/>
            <a:ext cx="434975" cy="2439670"/>
          </a:xfrm>
          <a:prstGeom prst="leftBrace">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solidFill>
                <a:schemeClr val="tx1"/>
              </a:solidFill>
            </a:endParaRPr>
          </a:p>
        </p:txBody>
      </p:sp>
      <p:sp>
        <p:nvSpPr>
          <p:cNvPr id="28" name="文本框 27"/>
          <p:cNvSpPr txBox="1"/>
          <p:nvPr/>
        </p:nvSpPr>
        <p:spPr>
          <a:xfrm>
            <a:off x="3235325" y="2125345"/>
            <a:ext cx="1035050" cy="368935"/>
          </a:xfrm>
          <a:prstGeom prst="rect">
            <a:avLst/>
          </a:prstGeom>
          <a:noFill/>
          <a:ln>
            <a:noFill/>
          </a:ln>
        </p:spPr>
        <p:txBody>
          <a:bodyPr wrap="square" lIns="0" tIns="0" rIns="0" bIns="0" rtlCol="0" anchor="t">
            <a:spAutoFit/>
          </a:bodyPr>
          <a:p>
            <a:pPr algn="ctr"/>
            <a:r>
              <a:rPr lang="en-US" altLang="zh-CN" sz="2400">
                <a:solidFill>
                  <a:schemeClr val="tx1"/>
                </a:solidFill>
                <a:latin typeface="方正粗黑宋简体" panose="02000000000000000000" charset="-122"/>
                <a:ea typeface="方正粗黑宋简体" panose="02000000000000000000" charset="-122"/>
                <a:cs typeface="方正粗黑宋简体" panose="02000000000000000000" charset="-122"/>
                <a:sym typeface="+mn-ea"/>
              </a:rPr>
              <a:t>P</a:t>
            </a:r>
            <a:r>
              <a:rPr lang="en-US" altLang="zh-CN" sz="1200">
                <a:solidFill>
                  <a:schemeClr val="tx1"/>
                </a:solidFill>
                <a:latin typeface="方正粗黑宋简体" panose="02000000000000000000" charset="-122"/>
                <a:ea typeface="方正粗黑宋简体" panose="02000000000000000000" charset="-122"/>
                <a:cs typeface="方正粗黑宋简体" panose="02000000000000000000" charset="-122"/>
                <a:sym typeface="+mn-ea"/>
              </a:rPr>
              <a:t>1</a:t>
            </a:r>
            <a:endParaRPr lang="en-US" altLang="zh-CN" sz="1200" b="1" dirty="0">
              <a:solidFill>
                <a:schemeClr val="tx1"/>
              </a:solidFill>
              <a:effectLst>
                <a:outerShdw blurRad="38100" dist="38100" dir="2700000" algn="tl">
                  <a:srgbClr val="000000">
                    <a:alpha val="43137"/>
                  </a:srgbClr>
                </a:outerShdw>
              </a:effectLst>
              <a:latin typeface="方正粗黑宋简体" panose="02000000000000000000" charset="-122"/>
              <a:ea typeface="方正粗黑宋简体" panose="02000000000000000000" charset="-122"/>
              <a:cs typeface="方正粗黑宋简体" panose="02000000000000000000" charset="-122"/>
              <a:sym typeface="+mn-ea"/>
            </a:endParaRPr>
          </a:p>
        </p:txBody>
      </p:sp>
      <p:sp>
        <p:nvSpPr>
          <p:cNvPr id="30" name="左大括号 29"/>
          <p:cNvSpPr/>
          <p:nvPr/>
        </p:nvSpPr>
        <p:spPr>
          <a:xfrm rot="5400000">
            <a:off x="6972935" y="1392555"/>
            <a:ext cx="434975" cy="2439670"/>
          </a:xfrm>
          <a:prstGeom prst="leftBrace">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solidFill>
                <a:schemeClr val="tx1"/>
              </a:solidFill>
            </a:endParaRPr>
          </a:p>
        </p:txBody>
      </p:sp>
      <p:sp>
        <p:nvSpPr>
          <p:cNvPr id="31" name="文本框 30"/>
          <p:cNvSpPr txBox="1"/>
          <p:nvPr/>
        </p:nvSpPr>
        <p:spPr>
          <a:xfrm>
            <a:off x="6730365" y="2160905"/>
            <a:ext cx="1035050" cy="368935"/>
          </a:xfrm>
          <a:prstGeom prst="rect">
            <a:avLst/>
          </a:prstGeom>
          <a:noFill/>
          <a:ln>
            <a:noFill/>
          </a:ln>
        </p:spPr>
        <p:txBody>
          <a:bodyPr wrap="square" lIns="0" tIns="0" rIns="0" bIns="0" rtlCol="0" anchor="t">
            <a:spAutoFit/>
          </a:bodyPr>
          <a:p>
            <a:pPr algn="ctr"/>
            <a:r>
              <a:rPr lang="en-US" altLang="zh-CN" sz="2400">
                <a:solidFill>
                  <a:schemeClr val="tx1"/>
                </a:solidFill>
                <a:latin typeface="方正粗黑宋简体" panose="02000000000000000000" charset="-122"/>
                <a:ea typeface="方正粗黑宋简体" panose="02000000000000000000" charset="-122"/>
                <a:cs typeface="方正粗黑宋简体" panose="02000000000000000000" charset="-122"/>
                <a:sym typeface="+mn-ea"/>
              </a:rPr>
              <a:t>P</a:t>
            </a:r>
            <a:r>
              <a:rPr lang="en-US" altLang="zh-CN" sz="1000">
                <a:solidFill>
                  <a:schemeClr val="tx1"/>
                </a:solidFill>
                <a:latin typeface="方正粗黑宋简体" panose="02000000000000000000" charset="-122"/>
                <a:ea typeface="方正粗黑宋简体" panose="02000000000000000000" charset="-122"/>
                <a:cs typeface="方正粗黑宋简体" panose="02000000000000000000" charset="-122"/>
                <a:sym typeface="+mn-ea"/>
              </a:rPr>
              <a:t>2</a:t>
            </a:r>
            <a:endParaRPr lang="en-US" altLang="zh-CN" sz="1000" b="1" dirty="0">
              <a:solidFill>
                <a:schemeClr val="tx1"/>
              </a:solidFill>
              <a:effectLst>
                <a:outerShdw blurRad="38100" dist="38100" dir="2700000" algn="tl">
                  <a:srgbClr val="000000">
                    <a:alpha val="43137"/>
                  </a:srgbClr>
                </a:outerShdw>
              </a:effectLst>
              <a:latin typeface="方正粗黑宋简体" panose="02000000000000000000" charset="-122"/>
              <a:ea typeface="方正粗黑宋简体" panose="02000000000000000000" charset="-122"/>
              <a:cs typeface="方正粗黑宋简体" panose="02000000000000000000" charset="-122"/>
              <a:sym typeface="+mn-ea"/>
            </a:endParaRPr>
          </a:p>
        </p:txBody>
      </p:sp>
      <p:sp>
        <p:nvSpPr>
          <p:cNvPr id="32" name="右箭头 31"/>
          <p:cNvSpPr/>
          <p:nvPr/>
        </p:nvSpPr>
        <p:spPr>
          <a:xfrm>
            <a:off x="5269230" y="3062605"/>
            <a:ext cx="339090" cy="106045"/>
          </a:xfrm>
          <a:prstGeom prst="rightArrow">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33" name="文本框 32"/>
          <p:cNvSpPr txBox="1"/>
          <p:nvPr/>
        </p:nvSpPr>
        <p:spPr>
          <a:xfrm>
            <a:off x="2192655" y="3652520"/>
            <a:ext cx="738505" cy="368935"/>
          </a:xfrm>
          <a:prstGeom prst="rect">
            <a:avLst/>
          </a:prstGeom>
          <a:noFill/>
          <a:ln>
            <a:noFill/>
          </a:ln>
        </p:spPr>
        <p:txBody>
          <a:bodyPr wrap="square" lIns="0" tIns="0" rIns="0" bIns="0" rtlCol="0" anchor="t">
            <a:spAutoFit/>
          </a:bodyPr>
          <a:p>
            <a:pPr algn="ctr"/>
            <a:r>
              <a:rPr lang="en-US" altLang="zh-CN" sz="2400">
                <a:solidFill>
                  <a:schemeClr val="tx1"/>
                </a:solidFill>
                <a:latin typeface="方正粗黑宋简体" panose="02000000000000000000" charset="-122"/>
                <a:ea typeface="方正粗黑宋简体" panose="02000000000000000000" charset="-122"/>
                <a:cs typeface="方正粗黑宋简体" panose="02000000000000000000" charset="-122"/>
                <a:sym typeface="+mn-ea"/>
              </a:rPr>
              <a:t>t</a:t>
            </a:r>
            <a:r>
              <a:rPr lang="en-US" altLang="zh-CN" sz="1200">
                <a:solidFill>
                  <a:schemeClr val="tx1"/>
                </a:solidFill>
                <a:latin typeface="方正粗黑宋简体" panose="02000000000000000000" charset="-122"/>
                <a:ea typeface="方正粗黑宋简体" panose="02000000000000000000" charset="-122"/>
                <a:cs typeface="方正粗黑宋简体" panose="02000000000000000000" charset="-122"/>
                <a:sym typeface="+mn-ea"/>
              </a:rPr>
              <a:t>1</a:t>
            </a:r>
            <a:endParaRPr lang="en-US" altLang="zh-CN" sz="1200" b="1" dirty="0">
              <a:solidFill>
                <a:schemeClr val="tx1"/>
              </a:solidFill>
              <a:effectLst>
                <a:outerShdw blurRad="38100" dist="38100" dir="2700000" algn="tl">
                  <a:srgbClr val="000000">
                    <a:alpha val="43137"/>
                  </a:srgbClr>
                </a:outerShdw>
              </a:effectLst>
              <a:latin typeface="方正粗黑宋简体" panose="02000000000000000000" charset="-122"/>
              <a:ea typeface="方正粗黑宋简体" panose="02000000000000000000" charset="-122"/>
              <a:cs typeface="方正粗黑宋简体" panose="02000000000000000000" charset="-122"/>
              <a:sym typeface="+mn-ea"/>
            </a:endParaRPr>
          </a:p>
        </p:txBody>
      </p:sp>
      <p:sp>
        <p:nvSpPr>
          <p:cNvPr id="34" name="文本框 33"/>
          <p:cNvSpPr txBox="1"/>
          <p:nvPr/>
        </p:nvSpPr>
        <p:spPr>
          <a:xfrm>
            <a:off x="3347720" y="3651250"/>
            <a:ext cx="738505" cy="368935"/>
          </a:xfrm>
          <a:prstGeom prst="rect">
            <a:avLst/>
          </a:prstGeom>
          <a:noFill/>
          <a:ln>
            <a:noFill/>
          </a:ln>
        </p:spPr>
        <p:txBody>
          <a:bodyPr wrap="square" lIns="0" tIns="0" rIns="0" bIns="0" rtlCol="0" anchor="t">
            <a:spAutoFit/>
          </a:bodyPr>
          <a:p>
            <a:pPr algn="ctr"/>
            <a:r>
              <a:rPr lang="en-US" altLang="zh-CN" sz="2400">
                <a:solidFill>
                  <a:schemeClr val="tx1"/>
                </a:solidFill>
                <a:latin typeface="方正粗黑宋简体" panose="02000000000000000000" charset="-122"/>
                <a:ea typeface="方正粗黑宋简体" panose="02000000000000000000" charset="-122"/>
                <a:cs typeface="方正粗黑宋简体" panose="02000000000000000000" charset="-122"/>
                <a:sym typeface="+mn-ea"/>
              </a:rPr>
              <a:t>t</a:t>
            </a:r>
            <a:r>
              <a:rPr lang="en-US" altLang="zh-CN" sz="1200">
                <a:solidFill>
                  <a:schemeClr val="tx1"/>
                </a:solidFill>
                <a:latin typeface="方正粗黑宋简体" panose="02000000000000000000" charset="-122"/>
                <a:ea typeface="方正粗黑宋简体" panose="02000000000000000000" charset="-122"/>
                <a:cs typeface="方正粗黑宋简体" panose="02000000000000000000" charset="-122"/>
                <a:sym typeface="+mn-ea"/>
              </a:rPr>
              <a:t>2</a:t>
            </a:r>
            <a:endParaRPr lang="en-US" altLang="zh-CN" sz="1200" b="1" dirty="0">
              <a:solidFill>
                <a:schemeClr val="tx1"/>
              </a:solidFill>
              <a:effectLst>
                <a:outerShdw blurRad="38100" dist="38100" dir="2700000" algn="tl">
                  <a:srgbClr val="000000">
                    <a:alpha val="43137"/>
                  </a:srgbClr>
                </a:outerShdw>
              </a:effectLst>
              <a:latin typeface="方正粗黑宋简体" panose="02000000000000000000" charset="-122"/>
              <a:ea typeface="方正粗黑宋简体" panose="02000000000000000000" charset="-122"/>
              <a:cs typeface="方正粗黑宋简体" panose="02000000000000000000" charset="-122"/>
              <a:sym typeface="+mn-ea"/>
            </a:endParaRPr>
          </a:p>
        </p:txBody>
      </p:sp>
      <p:sp>
        <p:nvSpPr>
          <p:cNvPr id="35" name="文本框 34"/>
          <p:cNvSpPr txBox="1"/>
          <p:nvPr/>
        </p:nvSpPr>
        <p:spPr>
          <a:xfrm>
            <a:off x="4579620" y="3655060"/>
            <a:ext cx="738505" cy="368935"/>
          </a:xfrm>
          <a:prstGeom prst="rect">
            <a:avLst/>
          </a:prstGeom>
          <a:noFill/>
          <a:ln>
            <a:noFill/>
          </a:ln>
        </p:spPr>
        <p:txBody>
          <a:bodyPr wrap="square" lIns="0" tIns="0" rIns="0" bIns="0" rtlCol="0" anchor="t">
            <a:spAutoFit/>
          </a:bodyPr>
          <a:p>
            <a:pPr algn="ctr"/>
            <a:r>
              <a:rPr lang="en-US" altLang="zh-CN" sz="2400">
                <a:solidFill>
                  <a:schemeClr val="tx1"/>
                </a:solidFill>
                <a:latin typeface="方正粗黑宋简体" panose="02000000000000000000" charset="-122"/>
                <a:ea typeface="方正粗黑宋简体" panose="02000000000000000000" charset="-122"/>
                <a:cs typeface="方正粗黑宋简体" panose="02000000000000000000" charset="-122"/>
                <a:sym typeface="+mn-ea"/>
              </a:rPr>
              <a:t>t</a:t>
            </a:r>
            <a:r>
              <a:rPr lang="en-US" altLang="zh-CN" sz="1200">
                <a:solidFill>
                  <a:schemeClr val="tx1"/>
                </a:solidFill>
                <a:latin typeface="方正粗黑宋简体" panose="02000000000000000000" charset="-122"/>
                <a:ea typeface="方正粗黑宋简体" panose="02000000000000000000" charset="-122"/>
                <a:cs typeface="方正粗黑宋简体" panose="02000000000000000000" charset="-122"/>
                <a:sym typeface="+mn-ea"/>
              </a:rPr>
              <a:t>3</a:t>
            </a:r>
            <a:endParaRPr lang="en-US" altLang="zh-CN" sz="1200" b="1" dirty="0">
              <a:solidFill>
                <a:schemeClr val="tx1"/>
              </a:solidFill>
              <a:effectLst>
                <a:outerShdw blurRad="38100" dist="38100" dir="2700000" algn="tl">
                  <a:srgbClr val="000000">
                    <a:alpha val="43137"/>
                  </a:srgbClr>
                </a:outerShdw>
              </a:effectLst>
              <a:latin typeface="方正粗黑宋简体" panose="02000000000000000000" charset="-122"/>
              <a:ea typeface="方正粗黑宋简体" panose="02000000000000000000" charset="-122"/>
              <a:cs typeface="方正粗黑宋简体" panose="02000000000000000000" charset="-122"/>
              <a:sym typeface="+mn-ea"/>
            </a:endParaRPr>
          </a:p>
        </p:txBody>
      </p:sp>
      <p:sp>
        <p:nvSpPr>
          <p:cNvPr id="36" name="文本框 35"/>
          <p:cNvSpPr txBox="1"/>
          <p:nvPr/>
        </p:nvSpPr>
        <p:spPr>
          <a:xfrm>
            <a:off x="5744845" y="3655060"/>
            <a:ext cx="738505" cy="368935"/>
          </a:xfrm>
          <a:prstGeom prst="rect">
            <a:avLst/>
          </a:prstGeom>
          <a:noFill/>
          <a:ln>
            <a:noFill/>
          </a:ln>
        </p:spPr>
        <p:txBody>
          <a:bodyPr wrap="square" lIns="0" tIns="0" rIns="0" bIns="0" rtlCol="0" anchor="t">
            <a:spAutoFit/>
          </a:bodyPr>
          <a:p>
            <a:pPr algn="ctr"/>
            <a:r>
              <a:rPr lang="en-US" altLang="zh-CN" sz="2400">
                <a:solidFill>
                  <a:schemeClr val="tx1"/>
                </a:solidFill>
                <a:latin typeface="方正粗黑宋简体" panose="02000000000000000000" charset="-122"/>
                <a:ea typeface="方正粗黑宋简体" panose="02000000000000000000" charset="-122"/>
                <a:cs typeface="方正粗黑宋简体" panose="02000000000000000000" charset="-122"/>
                <a:sym typeface="+mn-ea"/>
              </a:rPr>
              <a:t>t</a:t>
            </a:r>
            <a:r>
              <a:rPr lang="en-US" altLang="zh-CN" sz="1200">
                <a:solidFill>
                  <a:schemeClr val="tx1"/>
                </a:solidFill>
                <a:latin typeface="方正粗黑宋简体" panose="02000000000000000000" charset="-122"/>
                <a:ea typeface="方正粗黑宋简体" panose="02000000000000000000" charset="-122"/>
                <a:cs typeface="方正粗黑宋简体" panose="02000000000000000000" charset="-122"/>
                <a:sym typeface="+mn-ea"/>
              </a:rPr>
              <a:t>4</a:t>
            </a:r>
            <a:endParaRPr lang="en-US" altLang="zh-CN" sz="1200" b="1" dirty="0">
              <a:solidFill>
                <a:schemeClr val="tx1"/>
              </a:solidFill>
              <a:effectLst>
                <a:outerShdw blurRad="38100" dist="38100" dir="2700000" algn="tl">
                  <a:srgbClr val="000000">
                    <a:alpha val="43137"/>
                  </a:srgbClr>
                </a:outerShdw>
              </a:effectLst>
              <a:latin typeface="方正粗黑宋简体" panose="02000000000000000000" charset="-122"/>
              <a:ea typeface="方正粗黑宋简体" panose="02000000000000000000" charset="-122"/>
              <a:cs typeface="方正粗黑宋简体" panose="02000000000000000000" charset="-122"/>
              <a:sym typeface="+mn-ea"/>
            </a:endParaRPr>
          </a:p>
        </p:txBody>
      </p:sp>
      <p:sp>
        <p:nvSpPr>
          <p:cNvPr id="37" name="文本框 36"/>
          <p:cNvSpPr txBox="1"/>
          <p:nvPr/>
        </p:nvSpPr>
        <p:spPr>
          <a:xfrm>
            <a:off x="6878320" y="3651250"/>
            <a:ext cx="738505" cy="368935"/>
          </a:xfrm>
          <a:prstGeom prst="rect">
            <a:avLst/>
          </a:prstGeom>
          <a:noFill/>
          <a:ln>
            <a:noFill/>
          </a:ln>
        </p:spPr>
        <p:txBody>
          <a:bodyPr wrap="square" lIns="0" tIns="0" rIns="0" bIns="0" rtlCol="0" anchor="t">
            <a:spAutoFit/>
          </a:bodyPr>
          <a:p>
            <a:pPr algn="ctr"/>
            <a:r>
              <a:rPr lang="en-US" altLang="zh-CN" sz="2400">
                <a:solidFill>
                  <a:schemeClr val="tx1"/>
                </a:solidFill>
                <a:latin typeface="方正粗黑宋简体" panose="02000000000000000000" charset="-122"/>
                <a:ea typeface="方正粗黑宋简体" panose="02000000000000000000" charset="-122"/>
                <a:cs typeface="方正粗黑宋简体" panose="02000000000000000000" charset="-122"/>
                <a:sym typeface="+mn-ea"/>
              </a:rPr>
              <a:t>t</a:t>
            </a:r>
            <a:r>
              <a:rPr lang="en-US" altLang="zh-CN" sz="1200">
                <a:solidFill>
                  <a:schemeClr val="tx1"/>
                </a:solidFill>
                <a:latin typeface="方正粗黑宋简体" panose="02000000000000000000" charset="-122"/>
                <a:ea typeface="方正粗黑宋简体" panose="02000000000000000000" charset="-122"/>
                <a:cs typeface="方正粗黑宋简体" panose="02000000000000000000" charset="-122"/>
                <a:sym typeface="+mn-ea"/>
              </a:rPr>
              <a:t>5</a:t>
            </a:r>
            <a:endParaRPr lang="en-US" altLang="zh-CN" sz="1200" b="1" dirty="0">
              <a:solidFill>
                <a:schemeClr val="tx1"/>
              </a:solidFill>
              <a:effectLst>
                <a:outerShdw blurRad="38100" dist="38100" dir="2700000" algn="tl">
                  <a:srgbClr val="000000">
                    <a:alpha val="43137"/>
                  </a:srgbClr>
                </a:outerShdw>
              </a:effectLst>
              <a:latin typeface="方正粗黑宋简体" panose="02000000000000000000" charset="-122"/>
              <a:ea typeface="方正粗黑宋简体" panose="02000000000000000000" charset="-122"/>
              <a:cs typeface="方正粗黑宋简体" panose="02000000000000000000" charset="-122"/>
              <a:sym typeface="+mn-ea"/>
            </a:endParaRPr>
          </a:p>
        </p:txBody>
      </p:sp>
      <p:sp>
        <p:nvSpPr>
          <p:cNvPr id="38" name="文本框 37"/>
          <p:cNvSpPr txBox="1"/>
          <p:nvPr/>
        </p:nvSpPr>
        <p:spPr>
          <a:xfrm>
            <a:off x="8011795" y="3655060"/>
            <a:ext cx="738505" cy="368935"/>
          </a:xfrm>
          <a:prstGeom prst="rect">
            <a:avLst/>
          </a:prstGeom>
          <a:noFill/>
          <a:ln>
            <a:noFill/>
          </a:ln>
        </p:spPr>
        <p:txBody>
          <a:bodyPr wrap="square" lIns="0" tIns="0" rIns="0" bIns="0" rtlCol="0" anchor="t">
            <a:spAutoFit/>
          </a:bodyPr>
          <a:p>
            <a:pPr algn="ctr"/>
            <a:r>
              <a:rPr lang="en-US" altLang="zh-CN" sz="2400">
                <a:solidFill>
                  <a:schemeClr val="tx1"/>
                </a:solidFill>
                <a:latin typeface="方正粗黑宋简体" panose="02000000000000000000" charset="-122"/>
                <a:ea typeface="方正粗黑宋简体" panose="02000000000000000000" charset="-122"/>
                <a:cs typeface="方正粗黑宋简体" panose="02000000000000000000" charset="-122"/>
                <a:sym typeface="+mn-ea"/>
              </a:rPr>
              <a:t>t</a:t>
            </a:r>
            <a:r>
              <a:rPr lang="en-US" altLang="zh-CN" sz="1200">
                <a:solidFill>
                  <a:schemeClr val="tx1"/>
                </a:solidFill>
                <a:latin typeface="方正粗黑宋简体" panose="02000000000000000000" charset="-122"/>
                <a:ea typeface="方正粗黑宋简体" panose="02000000000000000000" charset="-122"/>
                <a:cs typeface="方正粗黑宋简体" panose="02000000000000000000" charset="-122"/>
                <a:sym typeface="+mn-ea"/>
              </a:rPr>
              <a:t>6</a:t>
            </a:r>
            <a:endParaRPr lang="en-US" altLang="zh-CN" sz="1200" b="1" dirty="0">
              <a:solidFill>
                <a:schemeClr val="tx1"/>
              </a:solidFill>
              <a:effectLst>
                <a:outerShdw blurRad="38100" dist="38100" dir="2700000" algn="tl">
                  <a:srgbClr val="000000">
                    <a:alpha val="43137"/>
                  </a:srgbClr>
                </a:outerShdw>
              </a:effectLst>
              <a:latin typeface="方正粗黑宋简体" panose="02000000000000000000" charset="-122"/>
              <a:ea typeface="方正粗黑宋简体" panose="02000000000000000000" charset="-122"/>
              <a:cs typeface="方正粗黑宋简体" panose="02000000000000000000" charset="-122"/>
              <a:sym typeface="+mn-ea"/>
            </a:endParaRPr>
          </a:p>
        </p:txBody>
      </p:sp>
      <p:sp>
        <p:nvSpPr>
          <p:cNvPr id="39" name="文本框 38"/>
          <p:cNvSpPr txBox="1"/>
          <p:nvPr/>
        </p:nvSpPr>
        <p:spPr>
          <a:xfrm>
            <a:off x="8975090" y="2952750"/>
            <a:ext cx="2581910" cy="368935"/>
          </a:xfrm>
          <a:prstGeom prst="rect">
            <a:avLst/>
          </a:prstGeom>
          <a:noFill/>
          <a:ln>
            <a:noFill/>
          </a:ln>
        </p:spPr>
        <p:txBody>
          <a:bodyPr wrap="square" lIns="0" tIns="0" rIns="0" bIns="0" rtlCol="0" anchor="t">
            <a:spAutoFit/>
          </a:bodyPr>
          <a:p>
            <a:pPr algn="ctr"/>
            <a:r>
              <a:rPr lang="zh-CN" altLang="en-US" sz="2400">
                <a:solidFill>
                  <a:schemeClr val="tx1"/>
                </a:solidFill>
                <a:latin typeface="方正粗黑宋简体" panose="02000000000000000000" charset="-122"/>
                <a:ea typeface="方正粗黑宋简体" panose="02000000000000000000" charset="-122"/>
                <a:cs typeface="方正粗黑宋简体" panose="02000000000000000000" charset="-122"/>
                <a:sym typeface="+mn-ea"/>
              </a:rPr>
              <a:t>共耗</a:t>
            </a:r>
            <a:r>
              <a:rPr lang="en-US" altLang="zh-CN" sz="2400">
                <a:solidFill>
                  <a:schemeClr val="tx1"/>
                </a:solidFill>
                <a:latin typeface="方正粗黑宋简体" panose="02000000000000000000" charset="-122"/>
                <a:ea typeface="方正粗黑宋简体" panose="02000000000000000000" charset="-122"/>
                <a:cs typeface="方正粗黑宋简体" panose="02000000000000000000" charset="-122"/>
                <a:sym typeface="+mn-ea"/>
              </a:rPr>
              <a:t>6</a:t>
            </a:r>
            <a:r>
              <a:rPr lang="zh-CN" altLang="en-US" sz="2400">
                <a:solidFill>
                  <a:schemeClr val="tx1"/>
                </a:solidFill>
                <a:latin typeface="方正粗黑宋简体" panose="02000000000000000000" charset="-122"/>
                <a:ea typeface="方正粗黑宋简体" panose="02000000000000000000" charset="-122"/>
                <a:cs typeface="方正粗黑宋简体" panose="02000000000000000000" charset="-122"/>
                <a:sym typeface="+mn-ea"/>
              </a:rPr>
              <a:t>个时间单位 </a:t>
            </a:r>
            <a:endParaRPr lang="zh-CN" altLang="en-US" sz="2400" b="1" dirty="0">
              <a:solidFill>
                <a:schemeClr val="tx1"/>
              </a:solidFill>
              <a:effectLst>
                <a:outerShdw blurRad="38100" dist="38100" dir="2700000" algn="tl">
                  <a:srgbClr val="000000">
                    <a:alpha val="43137"/>
                  </a:srgbClr>
                </a:outerShdw>
              </a:effectLst>
              <a:latin typeface="方正粗黑宋简体" panose="02000000000000000000" charset="-122"/>
              <a:ea typeface="方正粗黑宋简体" panose="02000000000000000000" charset="-122"/>
              <a:cs typeface="方正粗黑宋简体" panose="02000000000000000000" charset="-122"/>
              <a:sym typeface="+mn-ea"/>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001395" y="544830"/>
            <a:ext cx="5095240" cy="521970"/>
          </a:xfrm>
          <a:prstGeom prst="rect">
            <a:avLst/>
          </a:prstGeom>
        </p:spPr>
        <p:txBody>
          <a:bodyPr wrap="square">
            <a:spAutoFit/>
          </a:bodyPr>
          <a:p>
            <a:r>
              <a:rPr lang="en-US" altLang="zh-CN" sz="2800" b="0">
                <a:solidFill>
                  <a:srgbClr val="002060"/>
                </a:solidFill>
                <a:latin typeface="方正大黑简体" panose="02000000000000000000" charset="-122"/>
                <a:ea typeface="方正大黑简体" panose="02000000000000000000" charset="-122"/>
                <a:cs typeface="方正大黑简体" panose="02000000000000000000" charset="-122"/>
              </a:rPr>
              <a:t>1.2 </a:t>
            </a:r>
            <a:r>
              <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rPr>
              <a:t>操作系统的发展历程</a:t>
            </a:r>
            <a:endPar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15" name="文本框 14"/>
          <p:cNvSpPr txBox="1"/>
          <p:nvPr/>
        </p:nvSpPr>
        <p:spPr>
          <a:xfrm>
            <a:off x="1236345" y="1198880"/>
            <a:ext cx="9501505" cy="440055"/>
          </a:xfrm>
          <a:prstGeom prst="rect">
            <a:avLst/>
          </a:prstGeom>
          <a:noFill/>
        </p:spPr>
        <p:txBody>
          <a:bodyPr wrap="square" rtlCol="0">
            <a:noAutofit/>
          </a:bodyPr>
          <a:lstStyle/>
          <a:p>
            <a:pPr marL="342900" indent="-342900">
              <a:buFont typeface="Wingdings" panose="05000000000000000000" charset="0"/>
              <a:buChar char="n"/>
            </a:pPr>
            <a:r>
              <a:rPr lang="zh-CN" altLang="en-US" sz="2000" b="1" dirty="0">
                <a:solidFill>
                  <a:srgbClr val="6C0000"/>
                </a:solidFill>
                <a:latin typeface="华文行楷" panose="02010800040101010101" charset="-122"/>
                <a:ea typeface="华文行楷" panose="02010800040101010101" charset="-122"/>
                <a:cs typeface="华文行楷" panose="02010800040101010101" charset="-122"/>
              </a:rPr>
              <a:t>监督程序阶段</a:t>
            </a:r>
            <a:endParaRPr lang="en-US" altLang="zh-CN" sz="2000" b="1" dirty="0">
              <a:solidFill>
                <a:srgbClr val="6C0000"/>
              </a:solidFill>
              <a:latin typeface="华文行楷" panose="02010800040101010101" charset="-122"/>
              <a:ea typeface="华文行楷" panose="02010800040101010101" charset="-122"/>
              <a:cs typeface="华文行楷" panose="02010800040101010101" charset="-122"/>
            </a:endParaRPr>
          </a:p>
          <a:p>
            <a:pPr marL="342900" indent="-342900">
              <a:buFont typeface="Wingdings" panose="05000000000000000000" charset="0"/>
              <a:buChar char="n"/>
            </a:pPr>
            <a:endParaRPr lang="en-US" altLang="zh-CN" sz="2000" b="1" dirty="0">
              <a:latin typeface="华文行楷" panose="02010800040101010101" charset="-122"/>
              <a:ea typeface="华文行楷" panose="02010800040101010101" charset="-122"/>
              <a:cs typeface="华文行楷" panose="02010800040101010101" charset="-122"/>
            </a:endParaRPr>
          </a:p>
          <a:p>
            <a:r>
              <a:rPr lang="en-US" altLang="zh-CN" sz="2000" b="1" dirty="0">
                <a:latin typeface="华文行楷" panose="02010800040101010101" charset="-122"/>
                <a:ea typeface="华文行楷" panose="02010800040101010101" charset="-122"/>
                <a:cs typeface="华文行楷" panose="02010800040101010101" charset="-122"/>
              </a:rPr>
              <a:t> </a:t>
            </a:r>
            <a:endParaRPr lang="zh-CN" altLang="en-US" sz="2000" b="1" dirty="0">
              <a:latin typeface="华文行楷" panose="02010800040101010101" charset="-122"/>
              <a:ea typeface="华文行楷" panose="02010800040101010101" charset="-122"/>
              <a:cs typeface="华文行楷" panose="02010800040101010101" charset="-122"/>
            </a:endParaRPr>
          </a:p>
        </p:txBody>
      </p:sp>
      <p:sp>
        <p:nvSpPr>
          <p:cNvPr id="2" name="矩形 1"/>
          <p:cNvSpPr/>
          <p:nvPr/>
        </p:nvSpPr>
        <p:spPr>
          <a:xfrm>
            <a:off x="1308724" y="1587017"/>
            <a:ext cx="2541270" cy="475615"/>
          </a:xfrm>
          <a:prstGeom prst="rect">
            <a:avLst/>
          </a:prstGeom>
        </p:spPr>
        <p:txBody>
          <a:bodyPr wrap="none">
            <a:spAutoFit/>
          </a:bodyPr>
          <a:lstStyle/>
          <a:p>
            <a:pPr indent="201295" algn="just">
              <a:lnSpc>
                <a:spcPct val="125000"/>
              </a:lnSpc>
              <a:spcBef>
                <a:spcPts val="450"/>
              </a:spcBef>
              <a:spcAft>
                <a:spcPts val="450"/>
              </a:spcAft>
            </a:pPr>
            <a:r>
              <a:rPr lang="en-US" altLang="zh-CN" sz="2000" b="1" kern="10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1</a:t>
            </a:r>
            <a:r>
              <a:rPr lang="zh-CN" altLang="zh-CN" sz="2000" b="1" kern="10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、联机批处理系统</a:t>
            </a:r>
            <a:endParaRPr lang="zh-CN" altLang="zh-CN" sz="2000" b="1" kern="10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endParaRPr>
          </a:p>
        </p:txBody>
      </p:sp>
      <p:pic>
        <p:nvPicPr>
          <p:cNvPr id="3" name="图片 2"/>
          <p:cNvPicPr>
            <a:picLocks noChangeAspect="1"/>
          </p:cNvPicPr>
          <p:nvPr/>
        </p:nvPicPr>
        <p:blipFill>
          <a:blip r:embed="rId1"/>
          <a:stretch>
            <a:fillRect/>
          </a:stretch>
        </p:blipFill>
        <p:spPr>
          <a:xfrm>
            <a:off x="2039314" y="2025670"/>
            <a:ext cx="7191029" cy="1422824"/>
          </a:xfrm>
          <a:prstGeom prst="rect">
            <a:avLst/>
          </a:prstGeom>
        </p:spPr>
      </p:pic>
      <p:sp>
        <p:nvSpPr>
          <p:cNvPr id="78" name="矩形 77"/>
          <p:cNvSpPr/>
          <p:nvPr/>
        </p:nvSpPr>
        <p:spPr>
          <a:xfrm>
            <a:off x="1278977" y="3312590"/>
            <a:ext cx="2326005" cy="437515"/>
          </a:xfrm>
          <a:prstGeom prst="rect">
            <a:avLst/>
          </a:prstGeom>
        </p:spPr>
        <p:txBody>
          <a:bodyPr wrap="none">
            <a:spAutoFit/>
          </a:bodyPr>
          <a:lstStyle/>
          <a:p>
            <a:pPr indent="201295" algn="just">
              <a:lnSpc>
                <a:spcPct val="125000"/>
              </a:lnSpc>
              <a:spcBef>
                <a:spcPts val="450"/>
              </a:spcBef>
              <a:spcAft>
                <a:spcPts val="450"/>
              </a:spcAft>
            </a:pPr>
            <a:r>
              <a:rPr lang="en-US" altLang="zh-CN" sz="1800" b="1" kern="10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2</a:t>
            </a:r>
            <a:r>
              <a:rPr lang="zh-CN" altLang="zh-CN" sz="1800" b="1" kern="10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a:t>
            </a:r>
            <a:r>
              <a:rPr lang="zh-CN" altLang="en-US" sz="1800" b="1" kern="10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脱</a:t>
            </a:r>
            <a:r>
              <a:rPr lang="zh-CN" altLang="zh-CN" sz="1800" b="1" kern="10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机批处理系统</a:t>
            </a:r>
            <a:endParaRPr lang="zh-CN" altLang="zh-CN" sz="1800" b="1" kern="10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endParaRPr>
          </a:p>
        </p:txBody>
      </p:sp>
      <p:grpSp>
        <p:nvGrpSpPr>
          <p:cNvPr id="79" name="组合 78"/>
          <p:cNvGrpSpPr/>
          <p:nvPr/>
        </p:nvGrpSpPr>
        <p:grpSpPr>
          <a:xfrm>
            <a:off x="2579359" y="3834750"/>
            <a:ext cx="5904647" cy="2160824"/>
            <a:chOff x="0" y="0"/>
            <a:chExt cx="3496234" cy="731444"/>
          </a:xfrm>
        </p:grpSpPr>
        <p:sp>
          <p:nvSpPr>
            <p:cNvPr id="80" name="矩形 79"/>
            <p:cNvSpPr/>
            <p:nvPr/>
          </p:nvSpPr>
          <p:spPr>
            <a:xfrm>
              <a:off x="0" y="0"/>
              <a:ext cx="614477" cy="226695"/>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Autofit/>
            </a:bodyPr>
            <a:lstStyle/>
            <a:p>
              <a:pPr algn="ctr">
                <a:spcAft>
                  <a:spcPts val="0"/>
                </a:spcAft>
              </a:pPr>
              <a:r>
                <a:rPr lang="zh-CN" altLang="en-US" sz="1600" b="1" kern="100">
                  <a:solidFill>
                    <a:schemeClr val="tx1"/>
                  </a:solidFill>
                  <a:ea typeface="宋体" panose="02010600030101010101" pitchFamily="2" charset="-122"/>
                  <a:cs typeface="Times New Roman" panose="02020603050405020304" pitchFamily="18" charset="0"/>
                </a:rPr>
                <a:t>输入机</a:t>
              </a:r>
              <a:endParaRPr lang="zh-CN" altLang="en-US" sz="1600" b="1" kern="100">
                <a:solidFill>
                  <a:schemeClr val="tx1"/>
                </a:solidFill>
                <a:ea typeface="宋体" panose="02010600030101010101" pitchFamily="2" charset="-122"/>
                <a:cs typeface="Times New Roman" panose="02020603050405020304" pitchFamily="18" charset="0"/>
              </a:endParaRPr>
            </a:p>
          </p:txBody>
        </p:sp>
        <p:sp>
          <p:nvSpPr>
            <p:cNvPr id="81" name="矩形 80"/>
            <p:cNvSpPr/>
            <p:nvPr/>
          </p:nvSpPr>
          <p:spPr>
            <a:xfrm>
              <a:off x="0" y="504749"/>
              <a:ext cx="614045" cy="226695"/>
            </a:xfrm>
            <a:prstGeom prst="rect">
              <a:avLst/>
            </a:prstGeom>
            <a:noFill/>
            <a:ln w="9525" cap="flat" cmpd="sng" algn="ctr">
              <a:solidFill>
                <a:sysClr val="windowText" lastClr="000000"/>
              </a:solidFill>
              <a:prstDash val="solid"/>
            </a:ln>
            <a:effectLst/>
          </p:spPr>
          <p:txBody>
            <a:bodyPr rot="0" spcFirstLastPara="0" vert="horz" wrap="square" lIns="0" tIns="0" rIns="0" bIns="0" numCol="1" spcCol="0" rtlCol="0" fromWordArt="0" anchor="ctr" anchorCtr="0" forceAA="0" compatLnSpc="1">
              <a:noAutofit/>
            </a:bodyPr>
            <a:lstStyle/>
            <a:p>
              <a:pPr algn="ctr">
                <a:spcAft>
                  <a:spcPts val="0"/>
                </a:spcAft>
              </a:pPr>
              <a:r>
                <a:rPr lang="zh-CN" altLang="en-US" sz="1600" b="1" kern="100">
                  <a:solidFill>
                    <a:schemeClr val="tx1"/>
                  </a:solidFill>
                  <a:latin typeface="Calibri" panose="020F0502020204030204" charset="0"/>
                  <a:ea typeface="宋体" panose="02010600030101010101" pitchFamily="2" charset="-122"/>
                  <a:cs typeface="Times New Roman" panose="02020603050405020304" pitchFamily="18" charset="0"/>
                </a:rPr>
                <a:t>输出机</a:t>
              </a:r>
              <a:endParaRPr lang="zh-CN" altLang="en-US" sz="1600" b="1" kern="100">
                <a:solidFill>
                  <a:schemeClr val="tx1"/>
                </a:solidFill>
                <a:latin typeface="Calibri" panose="020F0502020204030204" charset="0"/>
                <a:ea typeface="宋体" panose="02010600030101010101" pitchFamily="2" charset="-122"/>
                <a:cs typeface="Times New Roman" panose="02020603050405020304" pitchFamily="18" charset="0"/>
              </a:endParaRPr>
            </a:p>
          </p:txBody>
        </p:sp>
        <p:sp>
          <p:nvSpPr>
            <p:cNvPr id="82" name="矩形 81"/>
            <p:cNvSpPr/>
            <p:nvPr/>
          </p:nvSpPr>
          <p:spPr>
            <a:xfrm>
              <a:off x="929031" y="277978"/>
              <a:ext cx="614045" cy="226695"/>
            </a:xfrm>
            <a:prstGeom prst="rect">
              <a:avLst/>
            </a:prstGeom>
            <a:noFill/>
            <a:ln w="9525" cap="flat" cmpd="sng" algn="ctr">
              <a:solidFill>
                <a:sysClr val="windowText" lastClr="000000"/>
              </a:solidFill>
              <a:prstDash val="solid"/>
            </a:ln>
            <a:effectLst/>
          </p:spPr>
          <p:txBody>
            <a:bodyPr rot="0" spcFirstLastPara="0" vert="horz" wrap="square" lIns="0" tIns="0" rIns="0" bIns="0" numCol="1" spcCol="0" rtlCol="0" fromWordArt="0" anchor="ctr" anchorCtr="0" forceAA="0" compatLnSpc="1">
              <a:noAutofit/>
            </a:bodyPr>
            <a:lstStyle/>
            <a:p>
              <a:pPr algn="ctr">
                <a:spcAft>
                  <a:spcPts val="0"/>
                </a:spcAft>
              </a:pPr>
              <a:r>
                <a:rPr lang="zh-CN" altLang="en-US" sz="1600" b="1" kern="100">
                  <a:solidFill>
                    <a:schemeClr val="tx1"/>
                  </a:solidFill>
                  <a:latin typeface="Calibri" panose="020F0502020204030204" charset="0"/>
                  <a:ea typeface="宋体" panose="02010600030101010101" pitchFamily="2" charset="-122"/>
                  <a:cs typeface="Times New Roman" panose="02020603050405020304" pitchFamily="18" charset="0"/>
                </a:rPr>
                <a:t>卫星机</a:t>
              </a:r>
              <a:endParaRPr lang="zh-CN" altLang="en-US" sz="1600" b="1" kern="100">
                <a:solidFill>
                  <a:schemeClr val="tx1"/>
                </a:solidFill>
                <a:latin typeface="Calibri" panose="020F0502020204030204" charset="0"/>
                <a:ea typeface="宋体" panose="02010600030101010101" pitchFamily="2" charset="-122"/>
                <a:cs typeface="Times New Roman" panose="02020603050405020304" pitchFamily="18" charset="0"/>
              </a:endParaRPr>
            </a:p>
          </p:txBody>
        </p:sp>
        <p:sp>
          <p:nvSpPr>
            <p:cNvPr id="83" name="矩形 82"/>
            <p:cNvSpPr/>
            <p:nvPr/>
          </p:nvSpPr>
          <p:spPr>
            <a:xfrm>
              <a:off x="1887322" y="0"/>
              <a:ext cx="614045" cy="226695"/>
            </a:xfrm>
            <a:prstGeom prst="rect">
              <a:avLst/>
            </a:prstGeom>
            <a:noFill/>
            <a:ln w="9525" cap="flat" cmpd="sng" algn="ctr">
              <a:solidFill>
                <a:sysClr val="windowText" lastClr="000000"/>
              </a:solidFill>
              <a:prstDash val="solid"/>
            </a:ln>
            <a:effectLst/>
          </p:spPr>
          <p:txBody>
            <a:bodyPr rot="0" spcFirstLastPara="0" vert="horz" wrap="square" lIns="0" tIns="0" rIns="0" bIns="0" numCol="1" spcCol="0" rtlCol="0" fromWordArt="0" anchor="ctr" anchorCtr="0" forceAA="0" compatLnSpc="1">
              <a:noAutofit/>
            </a:bodyPr>
            <a:lstStyle/>
            <a:p>
              <a:pPr algn="ctr">
                <a:spcAft>
                  <a:spcPts val="0"/>
                </a:spcAft>
              </a:pPr>
              <a:r>
                <a:rPr lang="zh-CN" altLang="en-US" sz="1600" b="1" kern="100">
                  <a:solidFill>
                    <a:schemeClr val="tx1"/>
                  </a:solidFill>
                  <a:latin typeface="Calibri" panose="020F0502020204030204" charset="0"/>
                  <a:ea typeface="宋体" panose="02010600030101010101" pitchFamily="2" charset="-122"/>
                  <a:cs typeface="Times New Roman" panose="02020603050405020304" pitchFamily="18" charset="0"/>
                </a:rPr>
                <a:t>磁带机</a:t>
              </a:r>
              <a:endParaRPr lang="zh-CN" altLang="en-US" sz="1600" b="1" kern="100">
                <a:solidFill>
                  <a:schemeClr val="tx1"/>
                </a:solidFill>
                <a:latin typeface="Calibri" panose="020F0502020204030204" charset="0"/>
                <a:ea typeface="宋体" panose="02010600030101010101" pitchFamily="2" charset="-122"/>
                <a:cs typeface="Times New Roman" panose="02020603050405020304" pitchFamily="18" charset="0"/>
              </a:endParaRPr>
            </a:p>
          </p:txBody>
        </p:sp>
        <p:sp>
          <p:nvSpPr>
            <p:cNvPr id="84" name="矩形 83"/>
            <p:cNvSpPr/>
            <p:nvPr/>
          </p:nvSpPr>
          <p:spPr>
            <a:xfrm>
              <a:off x="1887322" y="504749"/>
              <a:ext cx="614045" cy="226695"/>
            </a:xfrm>
            <a:prstGeom prst="rect">
              <a:avLst/>
            </a:prstGeom>
            <a:noFill/>
            <a:ln w="9525" cap="flat" cmpd="sng" algn="ctr">
              <a:solidFill>
                <a:sysClr val="windowText" lastClr="000000"/>
              </a:solidFill>
              <a:prstDash val="solid"/>
            </a:ln>
            <a:effectLst/>
          </p:spPr>
          <p:txBody>
            <a:bodyPr rot="0" spcFirstLastPara="0" vert="horz" wrap="square" lIns="0" tIns="0" rIns="0" bIns="0" numCol="1" spcCol="0" rtlCol="0" fromWordArt="0" anchor="ctr" anchorCtr="0" forceAA="0" compatLnSpc="1">
              <a:noAutofit/>
            </a:bodyPr>
            <a:lstStyle/>
            <a:p>
              <a:pPr algn="ctr">
                <a:spcAft>
                  <a:spcPts val="0"/>
                </a:spcAft>
              </a:pPr>
              <a:r>
                <a:rPr lang="zh-CN" altLang="en-US" sz="1600" b="1" kern="100" dirty="0">
                  <a:solidFill>
                    <a:schemeClr val="tx1"/>
                  </a:solidFill>
                  <a:latin typeface="Calibri" panose="020F0502020204030204" charset="0"/>
                  <a:ea typeface="宋体" panose="02010600030101010101" pitchFamily="2" charset="-122"/>
                  <a:cs typeface="Times New Roman" panose="02020603050405020304" pitchFamily="18" charset="0"/>
                </a:rPr>
                <a:t>磁带机</a:t>
              </a:r>
              <a:endParaRPr lang="zh-CN" altLang="en-US" sz="1600" b="1" kern="100" dirty="0">
                <a:solidFill>
                  <a:schemeClr val="tx1"/>
                </a:solidFill>
                <a:latin typeface="Calibri" panose="020F0502020204030204" charset="0"/>
                <a:ea typeface="宋体" panose="02010600030101010101" pitchFamily="2" charset="-122"/>
                <a:cs typeface="Times New Roman" panose="02020603050405020304" pitchFamily="18" charset="0"/>
              </a:endParaRPr>
            </a:p>
          </p:txBody>
        </p:sp>
        <p:sp>
          <p:nvSpPr>
            <p:cNvPr id="85" name="矩形 84"/>
            <p:cNvSpPr/>
            <p:nvPr/>
          </p:nvSpPr>
          <p:spPr>
            <a:xfrm>
              <a:off x="2882189" y="146304"/>
              <a:ext cx="614045" cy="431597"/>
            </a:xfrm>
            <a:prstGeom prst="rect">
              <a:avLst/>
            </a:prstGeom>
            <a:solidFill>
              <a:schemeClr val="accent1">
                <a:lumMod val="20000"/>
                <a:lumOff val="80000"/>
              </a:schemeClr>
            </a:solidFill>
            <a:ln w="9525" cap="flat" cmpd="sng" algn="ctr">
              <a:solidFill>
                <a:sysClr val="windowText" lastClr="000000"/>
              </a:solidFill>
              <a:prstDash val="solid"/>
            </a:ln>
            <a:effectLst/>
          </p:spPr>
          <p:txBody>
            <a:bodyPr rot="0" spcFirstLastPara="0" vert="horz" wrap="square" lIns="0" tIns="0" rIns="0" bIns="0" numCol="1" spcCol="0" rtlCol="0" fromWordArt="0" anchor="ctr" anchorCtr="0" forceAA="0" compatLnSpc="1">
              <a:noAutofit/>
            </a:bodyPr>
            <a:lstStyle/>
            <a:p>
              <a:pPr algn="ctr">
                <a:spcAft>
                  <a:spcPts val="0"/>
                </a:spcAft>
              </a:pPr>
              <a:r>
                <a:rPr lang="zh-CN" altLang="en-US" sz="1600" b="1" kern="100">
                  <a:solidFill>
                    <a:schemeClr val="tx1"/>
                  </a:solidFill>
                  <a:latin typeface="Calibri" panose="020F0502020204030204" charset="0"/>
                  <a:ea typeface="宋体" panose="02010600030101010101" pitchFamily="2" charset="-122"/>
                  <a:cs typeface="Times New Roman" panose="02020603050405020304" pitchFamily="18" charset="0"/>
                </a:rPr>
                <a:t>主机</a:t>
              </a:r>
              <a:endParaRPr lang="zh-CN" altLang="en-US" sz="1600" b="1" kern="100">
                <a:solidFill>
                  <a:schemeClr val="tx1"/>
                </a:solidFill>
                <a:latin typeface="Calibri" panose="020F0502020204030204" charset="0"/>
                <a:ea typeface="宋体" panose="02010600030101010101" pitchFamily="2" charset="-122"/>
                <a:cs typeface="Times New Roman" panose="02020603050405020304" pitchFamily="18" charset="0"/>
              </a:endParaRPr>
            </a:p>
            <a:p>
              <a:pPr algn="ctr">
                <a:spcAft>
                  <a:spcPts val="0"/>
                </a:spcAft>
              </a:pPr>
              <a:r>
                <a:rPr lang="zh-CN" altLang="en-US" sz="1600" b="1" kern="100">
                  <a:solidFill>
                    <a:schemeClr val="tx1"/>
                  </a:solidFill>
                  <a:latin typeface="Calibri" panose="020F0502020204030204" charset="0"/>
                  <a:ea typeface="宋体" panose="02010600030101010101" pitchFamily="2" charset="-122"/>
                  <a:cs typeface="Times New Roman" panose="02020603050405020304" pitchFamily="18" charset="0"/>
                </a:rPr>
                <a:t>监督程序</a:t>
              </a:r>
              <a:endParaRPr lang="zh-CN" altLang="en-US" sz="1600" b="1" kern="100">
                <a:solidFill>
                  <a:schemeClr val="tx1"/>
                </a:solidFill>
                <a:latin typeface="Calibri" panose="020F0502020204030204" charset="0"/>
                <a:ea typeface="宋体" panose="02010600030101010101" pitchFamily="2" charset="-122"/>
                <a:cs typeface="Times New Roman" panose="02020603050405020304" pitchFamily="18" charset="0"/>
              </a:endParaRPr>
            </a:p>
          </p:txBody>
        </p:sp>
        <p:cxnSp>
          <p:nvCxnSpPr>
            <p:cNvPr id="86" name="直接箭头连接符 85"/>
            <p:cNvCxnSpPr/>
            <p:nvPr/>
          </p:nvCxnSpPr>
          <p:spPr>
            <a:xfrm>
              <a:off x="614477" y="102413"/>
              <a:ext cx="314986" cy="263347"/>
            </a:xfrm>
            <a:prstGeom prst="straightConnector1">
              <a:avLst/>
            </a:prstGeom>
            <a:ln w="9525">
              <a:solidFill>
                <a:schemeClr val="tx1"/>
              </a:solidFill>
              <a:headEnd type="none" w="med" len="lg"/>
              <a:tailEnd type="triangle" w="med" len="lg"/>
            </a:ln>
          </p:spPr>
          <p:style>
            <a:lnRef idx="1">
              <a:schemeClr val="accent1"/>
            </a:lnRef>
            <a:fillRef idx="0">
              <a:schemeClr val="accent1"/>
            </a:fillRef>
            <a:effectRef idx="0">
              <a:schemeClr val="accent1"/>
            </a:effectRef>
            <a:fontRef idx="minor">
              <a:schemeClr val="tx1"/>
            </a:fontRef>
          </p:style>
        </p:cxnSp>
        <p:cxnSp>
          <p:nvCxnSpPr>
            <p:cNvPr id="87" name="直接箭头连接符 86"/>
            <p:cNvCxnSpPr/>
            <p:nvPr/>
          </p:nvCxnSpPr>
          <p:spPr>
            <a:xfrm flipH="1">
              <a:off x="614477" y="416966"/>
              <a:ext cx="314553" cy="219431"/>
            </a:xfrm>
            <a:prstGeom prst="straightConnector1">
              <a:avLst/>
            </a:prstGeom>
            <a:noFill/>
            <a:ln w="9525" cap="flat" cmpd="sng" algn="ctr">
              <a:solidFill>
                <a:sysClr val="windowText" lastClr="000000"/>
              </a:solidFill>
              <a:prstDash val="solid"/>
              <a:headEnd type="none" w="med" len="lg"/>
              <a:tailEnd type="triangle" w="med" len="lg"/>
            </a:ln>
            <a:effectLst/>
          </p:spPr>
        </p:cxnSp>
        <p:cxnSp>
          <p:nvCxnSpPr>
            <p:cNvPr id="88" name="直接箭头连接符 87"/>
            <p:cNvCxnSpPr/>
            <p:nvPr/>
          </p:nvCxnSpPr>
          <p:spPr>
            <a:xfrm flipH="1" flipV="1">
              <a:off x="1543507" y="416966"/>
              <a:ext cx="343535" cy="189865"/>
            </a:xfrm>
            <a:prstGeom prst="straightConnector1">
              <a:avLst/>
            </a:prstGeom>
            <a:noFill/>
            <a:ln w="9525" cap="flat" cmpd="sng" algn="ctr">
              <a:solidFill>
                <a:sysClr val="windowText" lastClr="000000"/>
              </a:solidFill>
              <a:prstDash val="solid"/>
              <a:headEnd type="none" w="med" len="lg"/>
              <a:tailEnd type="triangle" w="med" len="lg"/>
            </a:ln>
            <a:effectLst/>
          </p:spPr>
        </p:cxnSp>
        <p:cxnSp>
          <p:nvCxnSpPr>
            <p:cNvPr id="89" name="直接箭头连接符 88"/>
            <p:cNvCxnSpPr/>
            <p:nvPr/>
          </p:nvCxnSpPr>
          <p:spPr>
            <a:xfrm flipV="1">
              <a:off x="1543507" y="102413"/>
              <a:ext cx="343688" cy="262889"/>
            </a:xfrm>
            <a:prstGeom prst="straightConnector1">
              <a:avLst/>
            </a:prstGeom>
            <a:noFill/>
            <a:ln w="9525" cap="flat" cmpd="sng" algn="ctr">
              <a:solidFill>
                <a:sysClr val="windowText" lastClr="000000"/>
              </a:solidFill>
              <a:prstDash val="solid"/>
              <a:headEnd type="none" w="med" len="lg"/>
              <a:tailEnd type="triangle" w="med" len="lg"/>
            </a:ln>
            <a:effectLst/>
          </p:spPr>
        </p:cxnSp>
        <p:cxnSp>
          <p:nvCxnSpPr>
            <p:cNvPr id="90" name="直接箭头连接符 89"/>
            <p:cNvCxnSpPr/>
            <p:nvPr/>
          </p:nvCxnSpPr>
          <p:spPr>
            <a:xfrm flipH="1">
              <a:off x="2501799" y="416966"/>
              <a:ext cx="380594" cy="219075"/>
            </a:xfrm>
            <a:prstGeom prst="straightConnector1">
              <a:avLst/>
            </a:prstGeom>
            <a:noFill/>
            <a:ln w="9525" cap="flat" cmpd="sng" algn="ctr">
              <a:solidFill>
                <a:sysClr val="windowText" lastClr="000000"/>
              </a:solidFill>
              <a:prstDash val="solid"/>
              <a:headEnd type="none" w="med" len="lg"/>
              <a:tailEnd type="triangle" w="med" len="lg"/>
            </a:ln>
            <a:effectLst/>
          </p:spPr>
        </p:cxnSp>
        <p:cxnSp>
          <p:nvCxnSpPr>
            <p:cNvPr id="91" name="直接箭头连接符 90"/>
            <p:cNvCxnSpPr/>
            <p:nvPr/>
          </p:nvCxnSpPr>
          <p:spPr>
            <a:xfrm>
              <a:off x="2501799" y="102413"/>
              <a:ext cx="380365" cy="175260"/>
            </a:xfrm>
            <a:prstGeom prst="straightConnector1">
              <a:avLst/>
            </a:prstGeom>
            <a:noFill/>
            <a:ln w="9525" cap="flat" cmpd="sng" algn="ctr">
              <a:solidFill>
                <a:sysClr val="windowText" lastClr="000000"/>
              </a:solidFill>
              <a:prstDash val="solid"/>
              <a:headEnd type="none" w="med" len="lg"/>
              <a:tailEnd type="triangle" w="med" len="lg"/>
            </a:ln>
            <a:effectLst/>
          </p:spPr>
        </p:cxnSp>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001395" y="544830"/>
            <a:ext cx="5095240" cy="521970"/>
          </a:xfrm>
          <a:prstGeom prst="rect">
            <a:avLst/>
          </a:prstGeom>
        </p:spPr>
        <p:txBody>
          <a:bodyPr wrap="square">
            <a:spAutoFit/>
          </a:bodyPr>
          <a:p>
            <a:r>
              <a:rPr lang="en-US" altLang="zh-CN" sz="2800" b="0">
                <a:solidFill>
                  <a:srgbClr val="002060"/>
                </a:solidFill>
                <a:latin typeface="方正大黑简体" panose="02000000000000000000" charset="-122"/>
                <a:ea typeface="方正大黑简体" panose="02000000000000000000" charset="-122"/>
                <a:cs typeface="方正大黑简体" panose="02000000000000000000" charset="-122"/>
              </a:rPr>
              <a:t>1.2 </a:t>
            </a:r>
            <a:r>
              <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rPr>
              <a:t>操作系统的发展历程</a:t>
            </a:r>
            <a:endPar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15" name="文本框 14"/>
          <p:cNvSpPr txBox="1"/>
          <p:nvPr/>
        </p:nvSpPr>
        <p:spPr>
          <a:xfrm>
            <a:off x="1236345" y="1198880"/>
            <a:ext cx="9501505" cy="490220"/>
          </a:xfrm>
          <a:prstGeom prst="rect">
            <a:avLst/>
          </a:prstGeom>
          <a:noFill/>
        </p:spPr>
        <p:txBody>
          <a:bodyPr wrap="square" rtlCol="0">
            <a:noAutofit/>
          </a:bodyPr>
          <a:lstStyle/>
          <a:p>
            <a:pPr marL="342900" indent="-342900">
              <a:buFont typeface="Wingdings" panose="05000000000000000000" charset="0"/>
              <a:buChar char="n"/>
            </a:pPr>
            <a:r>
              <a:rPr lang="zh-CN" altLang="en-US" sz="2000" b="1" dirty="0">
                <a:solidFill>
                  <a:srgbClr val="6C0000"/>
                </a:solidFill>
                <a:latin typeface="华文行楷" panose="02010800040101010101" charset="-122"/>
                <a:ea typeface="华文行楷" panose="02010800040101010101" charset="-122"/>
                <a:cs typeface="华文行楷" panose="02010800040101010101" charset="-122"/>
              </a:rPr>
              <a:t>多道程序阶段</a:t>
            </a:r>
            <a:endParaRPr lang="en-US" altLang="zh-CN" sz="2000" b="1" dirty="0">
              <a:solidFill>
                <a:srgbClr val="6C0000"/>
              </a:solidFill>
              <a:latin typeface="华文行楷" panose="02010800040101010101" charset="-122"/>
              <a:ea typeface="华文行楷" panose="02010800040101010101" charset="-122"/>
              <a:cs typeface="华文行楷" panose="02010800040101010101" charset="-122"/>
            </a:endParaRPr>
          </a:p>
          <a:p>
            <a:pPr marL="342900" indent="-342900">
              <a:buFont typeface="Wingdings" panose="05000000000000000000" charset="0"/>
              <a:buChar char="n"/>
            </a:pPr>
            <a:endParaRPr lang="en-US" altLang="zh-CN" sz="2000" b="1" dirty="0">
              <a:latin typeface="华文行楷" panose="02010800040101010101" charset="-122"/>
              <a:ea typeface="华文行楷" panose="02010800040101010101" charset="-122"/>
              <a:cs typeface="华文行楷" panose="02010800040101010101" charset="-122"/>
            </a:endParaRPr>
          </a:p>
          <a:p>
            <a:r>
              <a:rPr lang="en-US" altLang="zh-CN" sz="2000" b="1" dirty="0">
                <a:latin typeface="华文行楷" panose="02010800040101010101" charset="-122"/>
                <a:ea typeface="华文行楷" panose="02010800040101010101" charset="-122"/>
                <a:cs typeface="华文行楷" panose="02010800040101010101" charset="-122"/>
              </a:rPr>
              <a:t> </a:t>
            </a:r>
            <a:endParaRPr lang="zh-CN" altLang="en-US" sz="2000" b="1" dirty="0">
              <a:latin typeface="华文行楷" panose="02010800040101010101" charset="-122"/>
              <a:ea typeface="华文行楷" panose="02010800040101010101" charset="-122"/>
              <a:cs typeface="华文行楷" panose="02010800040101010101" charset="-122"/>
            </a:endParaRPr>
          </a:p>
        </p:txBody>
      </p:sp>
      <p:sp>
        <p:nvSpPr>
          <p:cNvPr id="5" name="文本框 4"/>
          <p:cNvSpPr txBox="1"/>
          <p:nvPr/>
        </p:nvSpPr>
        <p:spPr>
          <a:xfrm>
            <a:off x="1236345" y="1839595"/>
            <a:ext cx="9710420" cy="1014730"/>
          </a:xfrm>
          <a:prstGeom prst="rect">
            <a:avLst/>
          </a:prstGeom>
          <a:noFill/>
        </p:spPr>
        <p:txBody>
          <a:bodyPr wrap="square" rtlCol="0">
            <a:spAutoFit/>
          </a:bodyPr>
          <a:lstStyle/>
          <a:p>
            <a:r>
              <a:rPr lang="en-US" altLang="zh-CN" sz="2000" dirty="0">
                <a:solidFill>
                  <a:schemeClr val="tx1"/>
                </a:solidFill>
                <a:latin typeface="黑体" panose="02010609060101010101" charset="-122"/>
                <a:ea typeface="黑体" panose="02010609060101010101" charset="-122"/>
                <a:cs typeface="黑体" panose="02010609060101010101" charset="-122"/>
              </a:rPr>
              <a:t>1960</a:t>
            </a:r>
            <a:r>
              <a:rPr lang="zh-CN" altLang="zh-CN" sz="2000" dirty="0">
                <a:solidFill>
                  <a:schemeClr val="tx1"/>
                </a:solidFill>
                <a:latin typeface="黑体" panose="02010609060101010101" charset="-122"/>
                <a:ea typeface="黑体" panose="02010609060101010101" charset="-122"/>
                <a:cs typeface="黑体" panose="02010609060101010101" charset="-122"/>
              </a:rPr>
              <a:t>年代后期</a:t>
            </a:r>
            <a:r>
              <a:rPr lang="en-US" altLang="zh-CN" sz="2000" dirty="0">
                <a:solidFill>
                  <a:schemeClr val="tx1"/>
                </a:solidFill>
                <a:latin typeface="黑体" panose="02010609060101010101" charset="-122"/>
                <a:ea typeface="黑体" panose="02010609060101010101" charset="-122"/>
                <a:cs typeface="黑体" panose="02010609060101010101" charset="-122"/>
              </a:rPr>
              <a:t>~1970</a:t>
            </a:r>
            <a:r>
              <a:rPr lang="zh-CN" altLang="zh-CN" sz="2000" dirty="0">
                <a:solidFill>
                  <a:schemeClr val="tx1"/>
                </a:solidFill>
                <a:latin typeface="黑体" panose="02010609060101010101" charset="-122"/>
                <a:ea typeface="黑体" panose="02010609060101010101" charset="-122"/>
                <a:cs typeface="黑体" panose="02010609060101010101" charset="-122"/>
              </a:rPr>
              <a:t>年代中期：第</a:t>
            </a:r>
            <a:r>
              <a:rPr lang="en-US" altLang="zh-CN" sz="2000" dirty="0">
                <a:solidFill>
                  <a:schemeClr val="tx1"/>
                </a:solidFill>
                <a:latin typeface="黑体" panose="02010609060101010101" charset="-122"/>
                <a:ea typeface="黑体" panose="02010609060101010101" charset="-122"/>
                <a:cs typeface="黑体" panose="02010609060101010101" charset="-122"/>
              </a:rPr>
              <a:t>3</a:t>
            </a:r>
            <a:r>
              <a:rPr lang="zh-CN" altLang="zh-CN" sz="2000" dirty="0">
                <a:solidFill>
                  <a:schemeClr val="tx1"/>
                </a:solidFill>
                <a:latin typeface="黑体" panose="02010609060101010101" charset="-122"/>
                <a:ea typeface="黑体" panose="02010609060101010101" charset="-122"/>
                <a:cs typeface="黑体" panose="02010609060101010101" charset="-122"/>
              </a:rPr>
              <a:t>代计算机出现，集成电路成为硬件的主流，产生了以多道程序系统为代表的通用操作系统，</a:t>
            </a:r>
            <a:r>
              <a:rPr lang="zh-CN" altLang="en-US" sz="2000" dirty="0">
                <a:solidFill>
                  <a:schemeClr val="tx1"/>
                </a:solidFill>
                <a:latin typeface="黑体" panose="02010609060101010101" charset="-122"/>
                <a:ea typeface="黑体" panose="02010609060101010101" charset="-122"/>
                <a:cs typeface="黑体" panose="02010609060101010101" charset="-122"/>
              </a:rPr>
              <a:t>实现了</a:t>
            </a:r>
            <a:r>
              <a:rPr lang="zh-CN" altLang="en-US" sz="2000" dirty="0">
                <a:solidFill>
                  <a:srgbClr val="C00000"/>
                </a:solidFill>
                <a:latin typeface="黑体" panose="02010609060101010101" charset="-122"/>
                <a:ea typeface="黑体" panose="02010609060101010101" charset="-122"/>
                <a:cs typeface="黑体" panose="02010609060101010101" charset="-122"/>
              </a:rPr>
              <a:t>多道批处理和分时的早期结合</a:t>
            </a:r>
            <a:r>
              <a:rPr lang="zh-CN" altLang="zh-CN" sz="2000" dirty="0">
                <a:solidFill>
                  <a:schemeClr val="tx1"/>
                </a:solidFill>
                <a:latin typeface="黑体" panose="02010609060101010101" charset="-122"/>
                <a:ea typeface="黑体" panose="02010609060101010101" charset="-122"/>
                <a:cs typeface="黑体" panose="02010609060101010101" charset="-122"/>
              </a:rPr>
              <a:t>。</a:t>
            </a:r>
            <a:endParaRPr lang="zh-CN" altLang="zh-CN" sz="2000" dirty="0">
              <a:solidFill>
                <a:schemeClr val="tx1"/>
              </a:solidFill>
              <a:latin typeface="黑体" panose="02010609060101010101" charset="-122"/>
              <a:ea typeface="黑体" panose="02010609060101010101" charset="-122"/>
              <a:cs typeface="黑体" panose="02010609060101010101" charset="-122"/>
            </a:endParaRPr>
          </a:p>
          <a:p>
            <a:endParaRPr lang="zh-CN" altLang="zh-CN" sz="2000" dirty="0">
              <a:solidFill>
                <a:schemeClr val="tx1"/>
              </a:solidFill>
              <a:latin typeface="黑体" panose="02010609060101010101" charset="-122"/>
              <a:ea typeface="黑体" panose="02010609060101010101" charset="-122"/>
              <a:cs typeface="黑体" panose="02010609060101010101" charset="-122"/>
            </a:endParaRPr>
          </a:p>
        </p:txBody>
      </p:sp>
      <p:grpSp>
        <p:nvGrpSpPr>
          <p:cNvPr id="10" name="组合 9"/>
          <p:cNvGrpSpPr/>
          <p:nvPr/>
        </p:nvGrpSpPr>
        <p:grpSpPr>
          <a:xfrm>
            <a:off x="6096000" y="2660655"/>
            <a:ext cx="3764782" cy="3581367"/>
            <a:chOff x="-4655" y="-261583"/>
            <a:chExt cx="2189480" cy="2294425"/>
          </a:xfrm>
        </p:grpSpPr>
        <p:pic>
          <p:nvPicPr>
            <p:cNvPr id="11" name="图片 10" descr="https://ss3.bdstatic.com/70cFv8Sh_Q1YnxGkpoWK1HF6hhy/it/u=1560705970,3848461971&amp;fm=26&amp;gp=0.jpg"/>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52454" y="-261583"/>
              <a:ext cx="1491587" cy="1989334"/>
            </a:xfrm>
            <a:prstGeom prst="rect">
              <a:avLst/>
            </a:prstGeom>
            <a:noFill/>
            <a:ln>
              <a:noFill/>
            </a:ln>
          </p:spPr>
        </p:pic>
        <p:sp>
          <p:nvSpPr>
            <p:cNvPr id="2" name="矩形 1"/>
            <p:cNvSpPr/>
            <p:nvPr/>
          </p:nvSpPr>
          <p:spPr>
            <a:xfrm>
              <a:off x="-4655" y="1799162"/>
              <a:ext cx="2189480" cy="23368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Autofit/>
            </a:bodyPr>
            <a:lstStyle/>
            <a:p>
              <a:pPr algn="ctr">
                <a:spcAft>
                  <a:spcPts val="0"/>
                </a:spcAft>
              </a:pPr>
              <a:r>
                <a:rPr lang="en-US" sz="2000"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2000"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第</a:t>
              </a:r>
              <a:r>
                <a:rPr lang="en-US" sz="2000"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3</a:t>
              </a:r>
              <a:r>
                <a:rPr lang="zh-CN" altLang="en-US" sz="2000"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代</a:t>
              </a:r>
              <a:r>
                <a:rPr lang="zh-CN" altLang="en-US" sz="2000" kern="100" dirty="0">
                  <a:solidFill>
                    <a:srgbClr val="000000"/>
                  </a:solidFill>
                  <a:ea typeface="Times New Roman" panose="02020603050405020304" pitchFamily="18" charset="0"/>
                  <a:cs typeface="Times New Roman" panose="02020603050405020304" pitchFamily="18" charset="0"/>
                </a:rPr>
                <a:t> </a:t>
              </a:r>
              <a:r>
                <a:rPr lang="zh-CN" altLang="en-US" sz="2000"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集成电路计算机</a:t>
              </a:r>
              <a:endParaRPr lang="zh-CN" altLang="en-US" sz="2000" kern="100" dirty="0">
                <a:ea typeface="宋体" panose="02010600030101010101" pitchFamily="2" charset="-122"/>
                <a:cs typeface="Times New Roman" panose="02020603050405020304" pitchFamily="18" charset="0"/>
              </a:endParaRPr>
            </a:p>
          </p:txBody>
        </p:sp>
      </p:grpSp>
      <p:sp>
        <p:nvSpPr>
          <p:cNvPr id="3" name="圆角矩形 2"/>
          <p:cNvSpPr/>
          <p:nvPr/>
        </p:nvSpPr>
        <p:spPr>
          <a:xfrm>
            <a:off x="1236345" y="3096260"/>
            <a:ext cx="5045075" cy="1789189"/>
          </a:xfrm>
          <a:prstGeom prst="roundRect">
            <a:avLst/>
          </a:prstGeom>
          <a:ln>
            <a:solidFill>
              <a:schemeClr val="tx1"/>
            </a:solidFill>
          </a:ln>
        </p:spPr>
        <p:txBody>
          <a:bodyPr wrap="square">
            <a:spAutoFit/>
          </a:bodyPr>
          <a:lstStyle/>
          <a:p>
            <a:r>
              <a:rPr lang="en-US" altLang="zh-CN" sz="2000" dirty="0">
                <a:solidFill>
                  <a:srgbClr val="000000"/>
                </a:solidFill>
                <a:latin typeface="黑体" panose="02010609060101010101" charset="-122"/>
                <a:ea typeface="黑体" panose="02010609060101010101" charset="-122"/>
                <a:cs typeface="Times New Roman" panose="02020603050405020304" pitchFamily="18" charset="0"/>
              </a:rPr>
              <a:t>计算机软件</a:t>
            </a:r>
            <a:r>
              <a:rPr lang="zh-CN" altLang="zh-CN" sz="2000" dirty="0">
                <a:solidFill>
                  <a:srgbClr val="000000"/>
                </a:solidFill>
                <a:latin typeface="黑体" panose="02010609060101010101" charset="-122"/>
                <a:ea typeface="黑体" panose="02010609060101010101" charset="-122"/>
                <a:cs typeface="Times New Roman" panose="02020603050405020304" pitchFamily="18" charset="0"/>
              </a:rPr>
              <a:t>技术的进一步发展，尤其是操作系统的逐步成熟是第三代计算机的显著特点。</a:t>
            </a:r>
            <a:r>
              <a:rPr lang="en-US" altLang="zh-CN" sz="2000" dirty="0">
                <a:solidFill>
                  <a:srgbClr val="000000"/>
                </a:solidFill>
                <a:latin typeface="黑体" panose="02010609060101010101" charset="-122"/>
                <a:ea typeface="黑体" panose="02010609060101010101" charset="-122"/>
                <a:cs typeface="Times New Roman" panose="02020603050405020304" pitchFamily="18" charset="0"/>
              </a:rPr>
              <a:t>多处理机</a:t>
            </a:r>
            <a:r>
              <a:rPr lang="zh-CN" altLang="zh-CN" sz="2000" dirty="0">
                <a:solidFill>
                  <a:srgbClr val="000000"/>
                </a:solidFill>
                <a:latin typeface="黑体" panose="02010609060101010101" charset="-122"/>
                <a:ea typeface="黑体" panose="02010609060101010101" charset="-122"/>
                <a:cs typeface="Times New Roman" panose="02020603050405020304" pitchFamily="18" charset="0"/>
              </a:rPr>
              <a:t>、</a:t>
            </a:r>
            <a:r>
              <a:rPr lang="en-US" altLang="zh-CN" sz="2000" dirty="0">
                <a:solidFill>
                  <a:srgbClr val="000000"/>
                </a:solidFill>
                <a:latin typeface="黑体" panose="02010609060101010101" charset="-122"/>
                <a:ea typeface="黑体" panose="02010609060101010101" charset="-122"/>
                <a:cs typeface="Times New Roman" panose="02020603050405020304" pitchFamily="18" charset="0"/>
              </a:rPr>
              <a:t>虚拟存储器</a:t>
            </a:r>
            <a:r>
              <a:rPr lang="zh-CN" altLang="zh-CN" sz="2000" dirty="0">
                <a:solidFill>
                  <a:srgbClr val="000000"/>
                </a:solidFill>
                <a:latin typeface="黑体" panose="02010609060101010101" charset="-122"/>
                <a:ea typeface="黑体" panose="02010609060101010101" charset="-122"/>
                <a:cs typeface="Times New Roman" panose="02020603050405020304" pitchFamily="18" charset="0"/>
              </a:rPr>
              <a:t>系统以及面向用户的应用软件的发展，大大丰富了计算机软件资源。</a:t>
            </a:r>
            <a:endParaRPr lang="zh-CN" altLang="en-US" sz="2000" dirty="0">
              <a:latin typeface="黑体" panose="02010609060101010101" charset="-122"/>
              <a:ea typeface="黑体" panose="02010609060101010101"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001395" y="544830"/>
            <a:ext cx="5095240" cy="521970"/>
          </a:xfrm>
          <a:prstGeom prst="rect">
            <a:avLst/>
          </a:prstGeom>
        </p:spPr>
        <p:txBody>
          <a:bodyPr wrap="square">
            <a:spAutoFit/>
          </a:bodyPr>
          <a:p>
            <a:r>
              <a:rPr lang="en-US" altLang="zh-CN" sz="2800" b="0">
                <a:solidFill>
                  <a:srgbClr val="002060"/>
                </a:solidFill>
                <a:latin typeface="方正大黑简体" panose="02000000000000000000" charset="-122"/>
                <a:ea typeface="方正大黑简体" panose="02000000000000000000" charset="-122"/>
                <a:cs typeface="方正大黑简体" panose="02000000000000000000" charset="-122"/>
              </a:rPr>
              <a:t>1.2 </a:t>
            </a:r>
            <a:r>
              <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rPr>
              <a:t>操作系统的发展历程</a:t>
            </a:r>
            <a:endPar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15" name="文本框 14"/>
          <p:cNvSpPr txBox="1"/>
          <p:nvPr/>
        </p:nvSpPr>
        <p:spPr>
          <a:xfrm>
            <a:off x="1275715" y="1066800"/>
            <a:ext cx="9501505" cy="342265"/>
          </a:xfrm>
          <a:prstGeom prst="rect">
            <a:avLst/>
          </a:prstGeom>
          <a:noFill/>
        </p:spPr>
        <p:txBody>
          <a:bodyPr wrap="square" rtlCol="0">
            <a:noAutofit/>
          </a:bodyPr>
          <a:lstStyle/>
          <a:p>
            <a:pPr marL="342900" indent="-342900">
              <a:buFont typeface="Wingdings" panose="05000000000000000000" charset="0"/>
              <a:buChar char="n"/>
            </a:pPr>
            <a:r>
              <a:rPr lang="zh-CN" altLang="en-US" sz="2000" b="1" dirty="0">
                <a:solidFill>
                  <a:srgbClr val="6C0000"/>
                </a:solidFill>
                <a:latin typeface="华文行楷" panose="02010800040101010101" charset="-122"/>
                <a:ea typeface="华文行楷" panose="02010800040101010101" charset="-122"/>
                <a:cs typeface="华文行楷" panose="02010800040101010101" charset="-122"/>
              </a:rPr>
              <a:t>多道程序阶段（续）</a:t>
            </a:r>
            <a:endParaRPr lang="en-US" altLang="zh-CN" sz="2000" b="1" dirty="0">
              <a:solidFill>
                <a:srgbClr val="6C0000"/>
              </a:solidFill>
              <a:latin typeface="华文行楷" panose="02010800040101010101" charset="-122"/>
              <a:ea typeface="华文行楷" panose="02010800040101010101" charset="-122"/>
              <a:cs typeface="华文行楷" panose="02010800040101010101" charset="-122"/>
            </a:endParaRPr>
          </a:p>
          <a:p>
            <a:pPr marL="342900" indent="-342900">
              <a:buFont typeface="Wingdings" panose="05000000000000000000" charset="0"/>
              <a:buChar char="n"/>
            </a:pPr>
            <a:endParaRPr lang="en-US" altLang="zh-CN" sz="2000" b="1" dirty="0">
              <a:latin typeface="华文行楷" panose="02010800040101010101" charset="-122"/>
              <a:ea typeface="华文行楷" panose="02010800040101010101" charset="-122"/>
              <a:cs typeface="华文行楷" panose="02010800040101010101" charset="-122"/>
            </a:endParaRPr>
          </a:p>
          <a:p>
            <a:r>
              <a:rPr lang="en-US" altLang="zh-CN" sz="2000" b="1" dirty="0">
                <a:latin typeface="华文行楷" panose="02010800040101010101" charset="-122"/>
                <a:ea typeface="华文行楷" panose="02010800040101010101" charset="-122"/>
                <a:cs typeface="华文行楷" panose="02010800040101010101" charset="-122"/>
              </a:rPr>
              <a:t> </a:t>
            </a:r>
            <a:endParaRPr lang="zh-CN" altLang="en-US" sz="2000" b="1" dirty="0">
              <a:latin typeface="华文行楷" panose="02010800040101010101" charset="-122"/>
              <a:ea typeface="华文行楷" panose="02010800040101010101" charset="-122"/>
              <a:cs typeface="华文行楷" panose="02010800040101010101" charset="-122"/>
            </a:endParaRPr>
          </a:p>
        </p:txBody>
      </p:sp>
      <p:cxnSp>
        <p:nvCxnSpPr>
          <p:cNvPr id="71" name="直接连接符 70"/>
          <p:cNvCxnSpPr/>
          <p:nvPr/>
        </p:nvCxnSpPr>
        <p:spPr>
          <a:xfrm>
            <a:off x="1618615" y="4201160"/>
            <a:ext cx="6727190" cy="24130"/>
          </a:xfrm>
          <a:prstGeom prst="line">
            <a:avLst/>
          </a:prstGeom>
          <a:ln w="66675" cmpd="sng">
            <a:solidFill>
              <a:srgbClr val="002060"/>
            </a:solidFill>
          </a:ln>
        </p:spPr>
        <p:style>
          <a:lnRef idx="2">
            <a:schemeClr val="accent1"/>
          </a:lnRef>
          <a:fillRef idx="0">
            <a:srgbClr val="FFFFFF"/>
          </a:fillRef>
          <a:effectRef idx="0">
            <a:srgbClr val="FFFFFF"/>
          </a:effectRef>
          <a:fontRef idx="minor">
            <a:schemeClr val="tx1"/>
          </a:fontRef>
        </p:style>
      </p:cxnSp>
      <p:cxnSp>
        <p:nvCxnSpPr>
          <p:cNvPr id="70" name="直接连接符 69"/>
          <p:cNvCxnSpPr/>
          <p:nvPr/>
        </p:nvCxnSpPr>
        <p:spPr>
          <a:xfrm>
            <a:off x="1606550" y="3485515"/>
            <a:ext cx="5910580" cy="10795"/>
          </a:xfrm>
          <a:prstGeom prst="line">
            <a:avLst/>
          </a:prstGeom>
          <a:ln w="66675" cmpd="sng">
            <a:solidFill>
              <a:srgbClr val="002060"/>
            </a:solidFill>
          </a:ln>
        </p:spPr>
        <p:style>
          <a:lnRef idx="2">
            <a:schemeClr val="accent1"/>
          </a:lnRef>
          <a:fillRef idx="0">
            <a:srgbClr val="FFFFFF"/>
          </a:fillRef>
          <a:effectRef idx="0">
            <a:srgbClr val="FFFFFF"/>
          </a:effectRef>
          <a:fontRef idx="minor">
            <a:schemeClr val="tx1"/>
          </a:fontRef>
        </p:style>
      </p:cxnSp>
      <p:cxnSp>
        <p:nvCxnSpPr>
          <p:cNvPr id="69" name="直接连接符 68"/>
          <p:cNvCxnSpPr/>
          <p:nvPr/>
        </p:nvCxnSpPr>
        <p:spPr>
          <a:xfrm>
            <a:off x="1606550" y="2835275"/>
            <a:ext cx="5910580" cy="10795"/>
          </a:xfrm>
          <a:prstGeom prst="line">
            <a:avLst/>
          </a:prstGeom>
          <a:ln w="66675" cmpd="sng">
            <a:solidFill>
              <a:srgbClr val="002060"/>
            </a:solidFill>
          </a:ln>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2195195" y="5166995"/>
            <a:ext cx="4046855" cy="1014730"/>
          </a:xfrm>
          <a:prstGeom prst="rect">
            <a:avLst/>
          </a:prstGeom>
          <a:ln>
            <a:solidFill>
              <a:schemeClr val="accent1"/>
            </a:solidFill>
          </a:ln>
        </p:spPr>
        <p:txBody>
          <a:bodyPr wrap="square">
            <a:spAutoFit/>
          </a:bodyPr>
          <a:p>
            <a:pPr marL="342900" indent="-342900">
              <a:buFont typeface="Wingdings" panose="05000000000000000000" charset="0"/>
              <a:buChar char="n"/>
            </a:pPr>
            <a:r>
              <a:rPr lang="zh-CN" altLang="en-US" sz="2000" b="0" i="0">
                <a:solidFill>
                  <a:schemeClr val="tx1"/>
                </a:solidFill>
                <a:latin typeface="方正粗黑宋简体" panose="02000000000000000000" charset="-122"/>
                <a:ea typeface="方正粗黑宋简体" panose="02000000000000000000" charset="-122"/>
                <a:cs typeface="方正粗黑宋简体" panose="02000000000000000000" charset="-122"/>
              </a:rPr>
              <a:t>提高</a:t>
            </a:r>
            <a:r>
              <a:rPr lang="en-US" altLang="zh-CN" sz="2000" b="0" i="0">
                <a:solidFill>
                  <a:schemeClr val="tx1"/>
                </a:solidFill>
                <a:latin typeface="方正粗黑宋简体" panose="02000000000000000000" charset="-122"/>
                <a:ea typeface="方正粗黑宋简体" panose="02000000000000000000" charset="-122"/>
                <a:cs typeface="方正粗黑宋简体" panose="02000000000000000000" charset="-122"/>
              </a:rPr>
              <a:t>CPU</a:t>
            </a:r>
            <a:r>
              <a:rPr lang="zh-CN" altLang="en-US" sz="2000" b="0" i="0">
                <a:solidFill>
                  <a:schemeClr val="tx1"/>
                </a:solidFill>
                <a:latin typeface="方正粗黑宋简体" panose="02000000000000000000" charset="-122"/>
                <a:ea typeface="方正粗黑宋简体" panose="02000000000000000000" charset="-122"/>
                <a:cs typeface="方正粗黑宋简体" panose="02000000000000000000" charset="-122"/>
              </a:rPr>
              <a:t>的利用率</a:t>
            </a:r>
            <a:endParaRPr lang="zh-CN" altLang="en-US" sz="2000" b="0" i="0">
              <a:solidFill>
                <a:schemeClr val="tx1"/>
              </a:solidFill>
              <a:latin typeface="方正粗黑宋简体" panose="02000000000000000000" charset="-122"/>
              <a:ea typeface="方正粗黑宋简体" panose="02000000000000000000" charset="-122"/>
              <a:cs typeface="方正粗黑宋简体" panose="02000000000000000000" charset="-122"/>
            </a:endParaRPr>
          </a:p>
          <a:p>
            <a:pPr marL="342900" indent="-342900">
              <a:buFont typeface="Wingdings" panose="05000000000000000000" charset="0"/>
              <a:buChar char="n"/>
            </a:pPr>
            <a:r>
              <a:rPr lang="zh-CN" altLang="en-US" sz="2000" b="0" i="0">
                <a:solidFill>
                  <a:schemeClr val="tx1"/>
                </a:solidFill>
                <a:latin typeface="方正粗黑宋简体" panose="02000000000000000000" charset="-122"/>
                <a:ea typeface="方正粗黑宋简体" panose="02000000000000000000" charset="-122"/>
                <a:cs typeface="方正粗黑宋简体" panose="02000000000000000000" charset="-122"/>
              </a:rPr>
              <a:t>提高内存和</a:t>
            </a:r>
            <a:r>
              <a:rPr lang="en-US" altLang="zh-CN" sz="2000" b="0" i="0">
                <a:solidFill>
                  <a:schemeClr val="tx1"/>
                </a:solidFill>
                <a:latin typeface="方正粗黑宋简体" panose="02000000000000000000" charset="-122"/>
                <a:ea typeface="方正粗黑宋简体" panose="02000000000000000000" charset="-122"/>
                <a:cs typeface="方正粗黑宋简体" panose="02000000000000000000" charset="-122"/>
              </a:rPr>
              <a:t>I/O</a:t>
            </a:r>
            <a:r>
              <a:rPr lang="zh-CN" altLang="en-US" sz="2000" b="0" i="0">
                <a:solidFill>
                  <a:schemeClr val="tx1"/>
                </a:solidFill>
                <a:latin typeface="方正粗黑宋简体" panose="02000000000000000000" charset="-122"/>
                <a:ea typeface="方正粗黑宋简体" panose="02000000000000000000" charset="-122"/>
                <a:cs typeface="方正粗黑宋简体" panose="02000000000000000000" charset="-122"/>
              </a:rPr>
              <a:t>设备利用率</a:t>
            </a:r>
            <a:endParaRPr lang="zh-CN" altLang="en-US" sz="2000" b="0" i="0">
              <a:solidFill>
                <a:schemeClr val="tx1"/>
              </a:solidFill>
              <a:latin typeface="方正粗黑宋简体" panose="02000000000000000000" charset="-122"/>
              <a:ea typeface="方正粗黑宋简体" panose="02000000000000000000" charset="-122"/>
              <a:cs typeface="方正粗黑宋简体" panose="02000000000000000000" charset="-122"/>
            </a:endParaRPr>
          </a:p>
          <a:p>
            <a:pPr marL="342900" indent="-342900">
              <a:buFont typeface="Wingdings" panose="05000000000000000000" charset="0"/>
              <a:buChar char="n"/>
            </a:pPr>
            <a:r>
              <a:rPr lang="zh-CN" altLang="en-US" sz="2000" b="0" i="0">
                <a:solidFill>
                  <a:schemeClr val="tx1"/>
                </a:solidFill>
                <a:latin typeface="方正粗黑宋简体" panose="02000000000000000000" charset="-122"/>
                <a:ea typeface="方正粗黑宋简体" panose="02000000000000000000" charset="-122"/>
                <a:cs typeface="方正粗黑宋简体" panose="02000000000000000000" charset="-122"/>
              </a:rPr>
              <a:t>增加系统吞吐量</a:t>
            </a:r>
            <a:r>
              <a:rPr lang="en-US" altLang="zh-CN" sz="2000" b="0" i="0">
                <a:solidFill>
                  <a:schemeClr val="tx1"/>
                </a:solidFill>
                <a:latin typeface="方正粗黑宋简体" panose="02000000000000000000" charset="-122"/>
                <a:ea typeface="方正粗黑宋简体" panose="02000000000000000000" charset="-122"/>
                <a:cs typeface="方正粗黑宋简体" panose="02000000000000000000" charset="-122"/>
              </a:rPr>
              <a:t> </a:t>
            </a:r>
            <a:endParaRPr lang="en-US" altLang="zh-CN" sz="2000" b="0" i="0">
              <a:solidFill>
                <a:schemeClr val="tx1"/>
              </a:solidFill>
              <a:latin typeface="方正粗黑宋简体" panose="02000000000000000000" charset="-122"/>
              <a:ea typeface="方正粗黑宋简体" panose="02000000000000000000" charset="-122"/>
              <a:cs typeface="方正粗黑宋简体" panose="02000000000000000000" charset="-122"/>
            </a:endParaRPr>
          </a:p>
        </p:txBody>
      </p:sp>
      <p:sp>
        <p:nvSpPr>
          <p:cNvPr id="6" name="文本框 5"/>
          <p:cNvSpPr txBox="1"/>
          <p:nvPr/>
        </p:nvSpPr>
        <p:spPr>
          <a:xfrm>
            <a:off x="1158240" y="4914900"/>
            <a:ext cx="783590" cy="368935"/>
          </a:xfrm>
          <a:prstGeom prst="rect">
            <a:avLst/>
          </a:prstGeom>
          <a:noFill/>
          <a:ln>
            <a:noFill/>
          </a:ln>
        </p:spPr>
        <p:txBody>
          <a:bodyPr wrap="square" lIns="0" tIns="0" rIns="0" bIns="0" rtlCol="0" anchor="t">
            <a:spAutoFit/>
          </a:bodyPr>
          <a:p>
            <a:pPr marL="0" indent="0"/>
            <a:r>
              <a:rPr lang="zh-CN" altLang="en-US" sz="2400" b="1" dirty="0">
                <a:solidFill>
                  <a:schemeClr val="tx1"/>
                </a:solidFill>
                <a:effectLst>
                  <a:outerShdw blurRad="38100" dist="38100" dir="2700000" algn="tl">
                    <a:srgbClr val="000000">
                      <a:alpha val="43137"/>
                    </a:srgbClr>
                  </a:outerShdw>
                </a:effectLst>
                <a:latin typeface="方正粗黑宋简体" panose="02000000000000000000" charset="-122"/>
                <a:ea typeface="方正粗黑宋简体" panose="02000000000000000000" charset="-122"/>
                <a:cs typeface="方正粗黑宋简体" panose="02000000000000000000" charset="-122"/>
                <a:sym typeface="+mn-ea"/>
              </a:rPr>
              <a:t>优点</a:t>
            </a:r>
            <a:endParaRPr lang="zh-CN" altLang="en-US" sz="2400" b="1" dirty="0">
              <a:solidFill>
                <a:schemeClr val="tx1"/>
              </a:solidFill>
              <a:effectLst>
                <a:outerShdw blurRad="38100" dist="38100" dir="2700000" algn="tl">
                  <a:srgbClr val="000000">
                    <a:alpha val="43137"/>
                  </a:srgbClr>
                </a:outerShdw>
              </a:effectLst>
              <a:latin typeface="方正粗黑宋简体" panose="02000000000000000000" charset="-122"/>
              <a:ea typeface="方正粗黑宋简体" panose="02000000000000000000" charset="-122"/>
              <a:cs typeface="方正粗黑宋简体" panose="02000000000000000000" charset="-122"/>
              <a:sym typeface="+mn-ea"/>
            </a:endParaRPr>
          </a:p>
        </p:txBody>
      </p:sp>
      <p:sp>
        <p:nvSpPr>
          <p:cNvPr id="7" name="文本框 6"/>
          <p:cNvSpPr txBox="1"/>
          <p:nvPr/>
        </p:nvSpPr>
        <p:spPr>
          <a:xfrm>
            <a:off x="7981950" y="5467985"/>
            <a:ext cx="1518920" cy="413385"/>
          </a:xfrm>
          <a:prstGeom prst="rect">
            <a:avLst/>
          </a:prstGeom>
          <a:noFill/>
          <a:ln>
            <a:noFill/>
          </a:ln>
        </p:spPr>
        <p:txBody>
          <a:bodyPr wrap="square" lIns="0" tIns="0" rIns="0" bIns="0" rtlCol="0" anchor="t">
            <a:noAutofit/>
          </a:bodyPr>
          <a:p>
            <a:pPr marL="0" indent="0"/>
            <a:r>
              <a:rPr lang="zh-CN" altLang="en-US" sz="2000" b="1" dirty="0">
                <a:solidFill>
                  <a:srgbClr val="660000"/>
                </a:solidFill>
                <a:effectLst>
                  <a:outerShdw blurRad="38100" dist="38100" dir="2700000" algn="tl">
                    <a:srgbClr val="000000">
                      <a:alpha val="43137"/>
                    </a:srgbClr>
                  </a:outerShdw>
                </a:effectLst>
                <a:latin typeface="方正粗黑宋简体" panose="02000000000000000000" charset="-122"/>
                <a:ea typeface="方正粗黑宋简体" panose="02000000000000000000" charset="-122"/>
                <a:cs typeface="方正粗黑宋简体" panose="02000000000000000000" charset="-122"/>
                <a:sym typeface="+mn-ea"/>
              </a:rPr>
              <a:t>无交互能力</a:t>
            </a:r>
            <a:r>
              <a:rPr lang="en-US" altLang="zh-CN" sz="2000" b="1" dirty="0">
                <a:solidFill>
                  <a:srgbClr val="660000"/>
                </a:solidFill>
                <a:effectLst>
                  <a:outerShdw blurRad="38100" dist="38100" dir="2700000" algn="tl">
                    <a:srgbClr val="000000">
                      <a:alpha val="43137"/>
                    </a:srgbClr>
                  </a:outerShdw>
                </a:effectLst>
                <a:latin typeface="方正粗黑宋简体" panose="02000000000000000000" charset="-122"/>
                <a:ea typeface="方正粗黑宋简体" panose="02000000000000000000" charset="-122"/>
                <a:cs typeface="方正粗黑宋简体" panose="02000000000000000000" charset="-122"/>
                <a:sym typeface="+mn-ea"/>
              </a:rPr>
              <a:t>  </a:t>
            </a:r>
            <a:endParaRPr lang="en-US" altLang="zh-CN" sz="2000" b="1" dirty="0">
              <a:solidFill>
                <a:srgbClr val="660000"/>
              </a:solidFill>
              <a:effectLst>
                <a:outerShdw blurRad="38100" dist="38100" dir="2700000" algn="tl">
                  <a:srgbClr val="000000">
                    <a:alpha val="43137"/>
                  </a:srgbClr>
                </a:outerShdw>
              </a:effectLst>
              <a:latin typeface="方正粗黑宋简体" panose="02000000000000000000" charset="-122"/>
              <a:ea typeface="方正粗黑宋简体" panose="02000000000000000000" charset="-122"/>
              <a:cs typeface="方正粗黑宋简体" panose="02000000000000000000" charset="-122"/>
              <a:sym typeface="+mn-ea"/>
            </a:endParaRPr>
          </a:p>
        </p:txBody>
      </p:sp>
      <p:sp>
        <p:nvSpPr>
          <p:cNvPr id="8" name="文本框 7"/>
          <p:cNvSpPr txBox="1"/>
          <p:nvPr/>
        </p:nvSpPr>
        <p:spPr>
          <a:xfrm>
            <a:off x="7238365" y="4995545"/>
            <a:ext cx="1035050" cy="368935"/>
          </a:xfrm>
          <a:prstGeom prst="rect">
            <a:avLst/>
          </a:prstGeom>
          <a:noFill/>
          <a:ln>
            <a:noFill/>
          </a:ln>
        </p:spPr>
        <p:txBody>
          <a:bodyPr wrap="square" lIns="0" tIns="0" rIns="0" bIns="0" rtlCol="0" anchor="t">
            <a:spAutoFit/>
          </a:bodyPr>
          <a:p>
            <a:pPr algn="ctr"/>
            <a:r>
              <a:rPr lang="zh-CN" altLang="en-US" sz="2400">
                <a:solidFill>
                  <a:schemeClr val="tx1"/>
                </a:solidFill>
                <a:latin typeface="方正粗黑宋简体" panose="02000000000000000000" charset="-122"/>
                <a:ea typeface="方正粗黑宋简体" panose="02000000000000000000" charset="-122"/>
                <a:cs typeface="方正粗黑宋简体" panose="02000000000000000000" charset="-122"/>
                <a:sym typeface="+mn-ea"/>
              </a:rPr>
              <a:t>缺点 </a:t>
            </a:r>
            <a:endParaRPr lang="zh-CN" altLang="en-US" sz="2400" b="1" dirty="0">
              <a:solidFill>
                <a:schemeClr val="tx1"/>
              </a:solidFill>
              <a:effectLst>
                <a:outerShdw blurRad="38100" dist="38100" dir="2700000" algn="tl">
                  <a:srgbClr val="000000">
                    <a:alpha val="43137"/>
                  </a:srgbClr>
                </a:outerShdw>
              </a:effectLst>
              <a:latin typeface="方正粗黑宋简体" panose="02000000000000000000" charset="-122"/>
              <a:ea typeface="方正粗黑宋简体" panose="02000000000000000000" charset="-122"/>
              <a:cs typeface="方正粗黑宋简体" panose="02000000000000000000" charset="-122"/>
              <a:sym typeface="+mn-ea"/>
            </a:endParaRPr>
          </a:p>
        </p:txBody>
      </p:sp>
      <p:sp>
        <p:nvSpPr>
          <p:cNvPr id="14" name="椭圆 13"/>
          <p:cNvSpPr/>
          <p:nvPr/>
        </p:nvSpPr>
        <p:spPr>
          <a:xfrm>
            <a:off x="2683510" y="2411730"/>
            <a:ext cx="467360" cy="412750"/>
          </a:xfrm>
          <a:prstGeom prst="ellipse">
            <a:avLst/>
          </a:prstGeom>
          <a:no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latin typeface="Bahnschrift Light" panose="020B0502040204020203" charset="0"/>
                <a:ea typeface="华文细黑" panose="02010600040101010101" charset="-122"/>
                <a:cs typeface="Bahnschrift Light" panose="020B0502040204020203" charset="0"/>
              </a:rPr>
              <a:t>I</a:t>
            </a:r>
            <a:r>
              <a:rPr lang="en-US" altLang="zh-CN" sz="1000">
                <a:solidFill>
                  <a:schemeClr val="tx1"/>
                </a:solidFill>
                <a:latin typeface="Bahnschrift Light" panose="020B0502040204020203" charset="0"/>
                <a:ea typeface="华文细黑" panose="02010600040101010101" charset="-122"/>
                <a:cs typeface="Bahnschrift Light" panose="020B0502040204020203" charset="0"/>
              </a:rPr>
              <a:t>1</a:t>
            </a:r>
            <a:endParaRPr lang="en-US" altLang="zh-CN" sz="1000">
              <a:solidFill>
                <a:schemeClr val="tx1"/>
              </a:solidFill>
              <a:latin typeface="Bahnschrift Light" panose="020B0502040204020203" charset="0"/>
              <a:ea typeface="华文细黑" panose="02010600040101010101" charset="-122"/>
              <a:cs typeface="Bahnschrift Light" panose="020B0502040204020203" charset="0"/>
            </a:endParaRPr>
          </a:p>
        </p:txBody>
      </p:sp>
      <p:sp>
        <p:nvSpPr>
          <p:cNvPr id="17" name="椭圆 16"/>
          <p:cNvSpPr/>
          <p:nvPr/>
        </p:nvSpPr>
        <p:spPr>
          <a:xfrm>
            <a:off x="3630930" y="3085465"/>
            <a:ext cx="521970" cy="429260"/>
          </a:xfrm>
          <a:prstGeom prst="ellipse">
            <a:avLst/>
          </a:prstGeom>
          <a:no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latin typeface="Bahnschrift Light" panose="020B0502040204020203" charset="0"/>
                <a:ea typeface="华文细黑" panose="02010600040101010101" charset="-122"/>
                <a:cs typeface="Bahnschrift Light" panose="020B0502040204020203" charset="0"/>
              </a:rPr>
              <a:t>C</a:t>
            </a:r>
            <a:r>
              <a:rPr lang="en-US" altLang="zh-CN" sz="1000">
                <a:solidFill>
                  <a:schemeClr val="tx1"/>
                </a:solidFill>
                <a:latin typeface="Bahnschrift Light" panose="020B0502040204020203" charset="0"/>
                <a:ea typeface="华文细黑" panose="02010600040101010101" charset="-122"/>
                <a:cs typeface="Bahnschrift Light" panose="020B0502040204020203" charset="0"/>
              </a:rPr>
              <a:t>1</a:t>
            </a:r>
            <a:endParaRPr lang="en-US" altLang="zh-CN" sz="1000">
              <a:solidFill>
                <a:schemeClr val="tx1"/>
              </a:solidFill>
              <a:latin typeface="Bahnschrift Light" panose="020B0502040204020203" charset="0"/>
              <a:ea typeface="华文细黑" panose="02010600040101010101" charset="-122"/>
              <a:cs typeface="Bahnschrift Light" panose="020B0502040204020203" charset="0"/>
            </a:endParaRPr>
          </a:p>
        </p:txBody>
      </p:sp>
      <p:sp>
        <p:nvSpPr>
          <p:cNvPr id="18" name="椭圆 17"/>
          <p:cNvSpPr/>
          <p:nvPr/>
        </p:nvSpPr>
        <p:spPr>
          <a:xfrm>
            <a:off x="4603115" y="3728085"/>
            <a:ext cx="572135" cy="431165"/>
          </a:xfrm>
          <a:prstGeom prst="ellipse">
            <a:avLst/>
          </a:prstGeom>
          <a:no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latin typeface="Bahnschrift Light" panose="020B0502040204020203" charset="0"/>
                <a:ea typeface="华文细黑" panose="02010600040101010101" charset="-122"/>
                <a:cs typeface="Bahnschrift Light" panose="020B0502040204020203" charset="0"/>
              </a:rPr>
              <a:t>O</a:t>
            </a:r>
            <a:r>
              <a:rPr lang="en-US" altLang="zh-CN" sz="1000">
                <a:solidFill>
                  <a:schemeClr val="tx1"/>
                </a:solidFill>
                <a:latin typeface="Bahnschrift Light" panose="020B0502040204020203" charset="0"/>
                <a:ea typeface="华文细黑" panose="02010600040101010101" charset="-122"/>
                <a:cs typeface="Bahnschrift Light" panose="020B0502040204020203" charset="0"/>
              </a:rPr>
              <a:t>1</a:t>
            </a:r>
            <a:endParaRPr lang="en-US" altLang="zh-CN" sz="1000">
              <a:solidFill>
                <a:schemeClr val="tx1"/>
              </a:solidFill>
              <a:latin typeface="Bahnschrift Light" panose="020B0502040204020203" charset="0"/>
              <a:ea typeface="华文细黑" panose="02010600040101010101" charset="-122"/>
              <a:cs typeface="Bahnschrift Light" panose="020B0502040204020203" charset="0"/>
            </a:endParaRPr>
          </a:p>
        </p:txBody>
      </p:sp>
      <p:sp>
        <p:nvSpPr>
          <p:cNvPr id="19" name="椭圆 18"/>
          <p:cNvSpPr/>
          <p:nvPr/>
        </p:nvSpPr>
        <p:spPr>
          <a:xfrm>
            <a:off x="3611245" y="2421255"/>
            <a:ext cx="520065" cy="424815"/>
          </a:xfrm>
          <a:prstGeom prst="ellipse">
            <a:avLst/>
          </a:prstGeom>
          <a:no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latin typeface="Bahnschrift Light" panose="020B0502040204020203" charset="0"/>
                <a:ea typeface="华文细黑" panose="02010600040101010101" charset="-122"/>
                <a:cs typeface="Bahnschrift Light" panose="020B0502040204020203" charset="0"/>
              </a:rPr>
              <a:t>I</a:t>
            </a:r>
            <a:r>
              <a:rPr lang="en-US" altLang="zh-CN" sz="1000">
                <a:solidFill>
                  <a:schemeClr val="tx1"/>
                </a:solidFill>
                <a:latin typeface="Bahnschrift Light" panose="020B0502040204020203" charset="0"/>
                <a:ea typeface="华文细黑" panose="02010600040101010101" charset="-122"/>
                <a:cs typeface="Bahnschrift Light" panose="020B0502040204020203" charset="0"/>
              </a:rPr>
              <a:t>2</a:t>
            </a:r>
            <a:endParaRPr lang="en-US" altLang="zh-CN" sz="1000">
              <a:solidFill>
                <a:schemeClr val="tx1"/>
              </a:solidFill>
              <a:latin typeface="Bahnschrift Light" panose="020B0502040204020203" charset="0"/>
              <a:ea typeface="华文细黑" panose="02010600040101010101" charset="-122"/>
              <a:cs typeface="Bahnschrift Light" panose="020B0502040204020203" charset="0"/>
            </a:endParaRPr>
          </a:p>
        </p:txBody>
      </p:sp>
      <p:sp>
        <p:nvSpPr>
          <p:cNvPr id="20" name="椭圆 19"/>
          <p:cNvSpPr/>
          <p:nvPr/>
        </p:nvSpPr>
        <p:spPr>
          <a:xfrm>
            <a:off x="4540885" y="3077210"/>
            <a:ext cx="571500" cy="419100"/>
          </a:xfrm>
          <a:prstGeom prst="ellipse">
            <a:avLst/>
          </a:prstGeom>
          <a:no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latin typeface="Bahnschrift Light" panose="020B0502040204020203" charset="0"/>
                <a:ea typeface="华文细黑" panose="02010600040101010101" charset="-122"/>
                <a:cs typeface="Bahnschrift Light" panose="020B0502040204020203" charset="0"/>
              </a:rPr>
              <a:t>C</a:t>
            </a:r>
            <a:r>
              <a:rPr lang="en-US" altLang="zh-CN" sz="1000">
                <a:solidFill>
                  <a:schemeClr val="tx1"/>
                </a:solidFill>
                <a:latin typeface="Bahnschrift Light" panose="020B0502040204020203" charset="0"/>
                <a:ea typeface="华文细黑" panose="02010600040101010101" charset="-122"/>
                <a:cs typeface="Bahnschrift Light" panose="020B0502040204020203" charset="0"/>
              </a:rPr>
              <a:t>2</a:t>
            </a:r>
            <a:endParaRPr lang="en-US" altLang="zh-CN" sz="1000">
              <a:solidFill>
                <a:schemeClr val="tx1"/>
              </a:solidFill>
              <a:latin typeface="Bahnschrift Light" panose="020B0502040204020203" charset="0"/>
              <a:ea typeface="华文细黑" panose="02010600040101010101" charset="-122"/>
              <a:cs typeface="Bahnschrift Light" panose="020B0502040204020203" charset="0"/>
            </a:endParaRPr>
          </a:p>
        </p:txBody>
      </p:sp>
      <p:sp>
        <p:nvSpPr>
          <p:cNvPr id="21" name="椭圆 20"/>
          <p:cNvSpPr/>
          <p:nvPr/>
        </p:nvSpPr>
        <p:spPr>
          <a:xfrm>
            <a:off x="6499860" y="3759200"/>
            <a:ext cx="568960" cy="431165"/>
          </a:xfrm>
          <a:prstGeom prst="ellipse">
            <a:avLst/>
          </a:prstGeom>
          <a:no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latin typeface="Bahnschrift Light" panose="020B0502040204020203" charset="0"/>
                <a:ea typeface="华文细黑" panose="02010600040101010101" charset="-122"/>
                <a:cs typeface="Bahnschrift Light" panose="020B0502040204020203" charset="0"/>
              </a:rPr>
              <a:t>O</a:t>
            </a:r>
            <a:r>
              <a:rPr lang="en-US" altLang="zh-CN" sz="1000">
                <a:solidFill>
                  <a:schemeClr val="tx1"/>
                </a:solidFill>
                <a:latin typeface="Bahnschrift Light" panose="020B0502040204020203" charset="0"/>
                <a:ea typeface="华文细黑" panose="02010600040101010101" charset="-122"/>
                <a:cs typeface="Bahnschrift Light" panose="020B0502040204020203" charset="0"/>
              </a:rPr>
              <a:t>3</a:t>
            </a:r>
            <a:endParaRPr lang="en-US" altLang="zh-CN" sz="1000">
              <a:solidFill>
                <a:schemeClr val="tx1"/>
              </a:solidFill>
              <a:latin typeface="Bahnschrift Light" panose="020B0502040204020203" charset="0"/>
              <a:ea typeface="华文细黑" panose="02010600040101010101" charset="-122"/>
              <a:cs typeface="Bahnschrift Light" panose="020B0502040204020203" charset="0"/>
            </a:endParaRPr>
          </a:p>
        </p:txBody>
      </p:sp>
      <p:sp>
        <p:nvSpPr>
          <p:cNvPr id="26" name="文本框 25"/>
          <p:cNvSpPr txBox="1"/>
          <p:nvPr/>
        </p:nvSpPr>
        <p:spPr>
          <a:xfrm>
            <a:off x="1495425" y="2416175"/>
            <a:ext cx="1035050" cy="368935"/>
          </a:xfrm>
          <a:prstGeom prst="rect">
            <a:avLst/>
          </a:prstGeom>
          <a:noFill/>
          <a:ln>
            <a:noFill/>
          </a:ln>
        </p:spPr>
        <p:txBody>
          <a:bodyPr wrap="square" lIns="0" tIns="0" rIns="0" bIns="0" rtlCol="0" anchor="t">
            <a:spAutoFit/>
          </a:bodyPr>
          <a:p>
            <a:pPr algn="ctr"/>
            <a:r>
              <a:rPr lang="zh-CN" altLang="en-US" sz="2400">
                <a:solidFill>
                  <a:schemeClr val="tx1"/>
                </a:solidFill>
                <a:latin typeface="方正粗黑宋简体" panose="02000000000000000000" charset="-122"/>
                <a:ea typeface="方正粗黑宋简体" panose="02000000000000000000" charset="-122"/>
                <a:cs typeface="方正粗黑宋简体" panose="02000000000000000000" charset="-122"/>
                <a:sym typeface="+mn-ea"/>
              </a:rPr>
              <a:t>输入</a:t>
            </a:r>
            <a:endParaRPr lang="zh-CN" altLang="en-US" sz="2400" b="1" dirty="0">
              <a:solidFill>
                <a:schemeClr val="tx1"/>
              </a:solidFill>
              <a:effectLst>
                <a:outerShdw blurRad="38100" dist="38100" dir="2700000" algn="tl">
                  <a:srgbClr val="000000">
                    <a:alpha val="43137"/>
                  </a:srgbClr>
                </a:outerShdw>
              </a:effectLst>
              <a:latin typeface="方正粗黑宋简体" panose="02000000000000000000" charset="-122"/>
              <a:ea typeface="方正粗黑宋简体" panose="02000000000000000000" charset="-122"/>
              <a:cs typeface="方正粗黑宋简体" panose="02000000000000000000" charset="-122"/>
              <a:sym typeface="+mn-ea"/>
            </a:endParaRPr>
          </a:p>
        </p:txBody>
      </p:sp>
      <p:sp>
        <p:nvSpPr>
          <p:cNvPr id="31" name="文本框 30"/>
          <p:cNvSpPr txBox="1"/>
          <p:nvPr/>
        </p:nvSpPr>
        <p:spPr>
          <a:xfrm>
            <a:off x="3450590" y="1976755"/>
            <a:ext cx="840740" cy="368935"/>
          </a:xfrm>
          <a:prstGeom prst="rect">
            <a:avLst/>
          </a:prstGeom>
          <a:noFill/>
          <a:ln>
            <a:noFill/>
          </a:ln>
        </p:spPr>
        <p:txBody>
          <a:bodyPr wrap="square" lIns="0" tIns="0" rIns="0" bIns="0" rtlCol="0" anchor="t">
            <a:spAutoFit/>
          </a:bodyPr>
          <a:p>
            <a:pPr algn="ctr"/>
            <a:r>
              <a:rPr lang="en-US" altLang="zh-CN" sz="2400">
                <a:solidFill>
                  <a:schemeClr val="tx1"/>
                </a:solidFill>
                <a:latin typeface="方正粗黑宋简体" panose="02000000000000000000" charset="-122"/>
                <a:ea typeface="方正粗黑宋简体" panose="02000000000000000000" charset="-122"/>
                <a:cs typeface="方正粗黑宋简体" panose="02000000000000000000" charset="-122"/>
                <a:sym typeface="+mn-ea"/>
              </a:rPr>
              <a:t>P</a:t>
            </a:r>
            <a:r>
              <a:rPr lang="en-US" altLang="zh-CN" sz="1000">
                <a:solidFill>
                  <a:schemeClr val="tx1"/>
                </a:solidFill>
                <a:latin typeface="方正粗黑宋简体" panose="02000000000000000000" charset="-122"/>
                <a:ea typeface="方正粗黑宋简体" panose="02000000000000000000" charset="-122"/>
                <a:cs typeface="方正粗黑宋简体" panose="02000000000000000000" charset="-122"/>
                <a:sym typeface="+mn-ea"/>
              </a:rPr>
              <a:t>2</a:t>
            </a:r>
            <a:endParaRPr lang="en-US" altLang="zh-CN" sz="1000" b="1" dirty="0">
              <a:solidFill>
                <a:schemeClr val="tx1"/>
              </a:solidFill>
              <a:effectLst>
                <a:outerShdw blurRad="38100" dist="38100" dir="2700000" algn="tl">
                  <a:srgbClr val="000000">
                    <a:alpha val="43137"/>
                  </a:srgbClr>
                </a:outerShdw>
              </a:effectLst>
              <a:latin typeface="方正粗黑宋简体" panose="02000000000000000000" charset="-122"/>
              <a:ea typeface="方正粗黑宋简体" panose="02000000000000000000" charset="-122"/>
              <a:cs typeface="方正粗黑宋简体" panose="02000000000000000000" charset="-122"/>
              <a:sym typeface="+mn-ea"/>
            </a:endParaRPr>
          </a:p>
        </p:txBody>
      </p:sp>
      <p:sp>
        <p:nvSpPr>
          <p:cNvPr id="22" name="椭圆 21"/>
          <p:cNvSpPr/>
          <p:nvPr/>
        </p:nvSpPr>
        <p:spPr>
          <a:xfrm>
            <a:off x="4540885" y="2420620"/>
            <a:ext cx="520065" cy="424815"/>
          </a:xfrm>
          <a:prstGeom prst="ellipse">
            <a:avLst/>
          </a:prstGeom>
          <a:no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latin typeface="Bahnschrift Light" panose="020B0502040204020203" charset="0"/>
                <a:ea typeface="华文细黑" panose="02010600040101010101" charset="-122"/>
                <a:cs typeface="Bahnschrift Light" panose="020B0502040204020203" charset="0"/>
              </a:rPr>
              <a:t>I</a:t>
            </a:r>
            <a:r>
              <a:rPr lang="en-US" altLang="zh-CN" sz="1000">
                <a:solidFill>
                  <a:schemeClr val="tx1"/>
                </a:solidFill>
                <a:latin typeface="Bahnschrift Light" panose="020B0502040204020203" charset="0"/>
                <a:ea typeface="华文细黑" panose="02010600040101010101" charset="-122"/>
                <a:cs typeface="Bahnschrift Light" panose="020B0502040204020203" charset="0"/>
              </a:rPr>
              <a:t>3</a:t>
            </a:r>
            <a:endParaRPr lang="en-US" altLang="zh-CN" sz="1000">
              <a:solidFill>
                <a:schemeClr val="tx1"/>
              </a:solidFill>
              <a:latin typeface="Bahnschrift Light" panose="020B0502040204020203" charset="0"/>
              <a:ea typeface="华文细黑" panose="02010600040101010101" charset="-122"/>
              <a:cs typeface="Bahnschrift Light" panose="020B0502040204020203" charset="0"/>
            </a:endParaRPr>
          </a:p>
        </p:txBody>
      </p:sp>
      <p:sp>
        <p:nvSpPr>
          <p:cNvPr id="23" name="椭圆 22"/>
          <p:cNvSpPr/>
          <p:nvPr/>
        </p:nvSpPr>
        <p:spPr>
          <a:xfrm>
            <a:off x="5470525" y="2420620"/>
            <a:ext cx="520065" cy="424815"/>
          </a:xfrm>
          <a:prstGeom prst="ellipse">
            <a:avLst/>
          </a:prstGeom>
          <a:no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latin typeface="Bahnschrift Light" panose="020B0502040204020203" charset="0"/>
                <a:ea typeface="华文细黑" panose="02010600040101010101" charset="-122"/>
                <a:cs typeface="Bahnschrift Light" panose="020B0502040204020203" charset="0"/>
              </a:rPr>
              <a:t>I</a:t>
            </a:r>
            <a:r>
              <a:rPr lang="en-US" altLang="zh-CN" sz="1000">
                <a:solidFill>
                  <a:schemeClr val="tx1"/>
                </a:solidFill>
                <a:latin typeface="Bahnschrift Light" panose="020B0502040204020203" charset="0"/>
                <a:ea typeface="华文细黑" panose="02010600040101010101" charset="-122"/>
                <a:cs typeface="Bahnschrift Light" panose="020B0502040204020203" charset="0"/>
              </a:rPr>
              <a:t>4</a:t>
            </a:r>
            <a:endParaRPr lang="en-US" altLang="zh-CN" sz="1000">
              <a:solidFill>
                <a:schemeClr val="tx1"/>
              </a:solidFill>
              <a:latin typeface="Bahnschrift Light" panose="020B0502040204020203" charset="0"/>
              <a:ea typeface="华文细黑" panose="02010600040101010101" charset="-122"/>
              <a:cs typeface="Bahnschrift Light" panose="020B0502040204020203" charset="0"/>
            </a:endParaRPr>
          </a:p>
        </p:txBody>
      </p:sp>
      <p:sp>
        <p:nvSpPr>
          <p:cNvPr id="24" name="椭圆 23"/>
          <p:cNvSpPr/>
          <p:nvPr/>
        </p:nvSpPr>
        <p:spPr>
          <a:xfrm>
            <a:off x="5462270" y="3085465"/>
            <a:ext cx="571500" cy="419100"/>
          </a:xfrm>
          <a:prstGeom prst="ellipse">
            <a:avLst/>
          </a:prstGeom>
          <a:no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latin typeface="Bahnschrift Light" panose="020B0502040204020203" charset="0"/>
                <a:ea typeface="华文细黑" panose="02010600040101010101" charset="-122"/>
                <a:cs typeface="Bahnschrift Light" panose="020B0502040204020203" charset="0"/>
              </a:rPr>
              <a:t>C</a:t>
            </a:r>
            <a:r>
              <a:rPr lang="en-US" altLang="zh-CN" sz="1000">
                <a:solidFill>
                  <a:schemeClr val="tx1"/>
                </a:solidFill>
                <a:latin typeface="Bahnschrift Light" panose="020B0502040204020203" charset="0"/>
                <a:ea typeface="华文细黑" panose="02010600040101010101" charset="-122"/>
                <a:cs typeface="Bahnschrift Light" panose="020B0502040204020203" charset="0"/>
              </a:rPr>
              <a:t>3</a:t>
            </a:r>
            <a:endParaRPr lang="en-US" altLang="zh-CN" sz="1000">
              <a:solidFill>
                <a:schemeClr val="tx1"/>
              </a:solidFill>
              <a:latin typeface="Bahnschrift Light" panose="020B0502040204020203" charset="0"/>
              <a:ea typeface="华文细黑" panose="02010600040101010101" charset="-122"/>
              <a:cs typeface="Bahnschrift Light" panose="020B0502040204020203" charset="0"/>
            </a:endParaRPr>
          </a:p>
        </p:txBody>
      </p:sp>
      <p:sp>
        <p:nvSpPr>
          <p:cNvPr id="33" name="椭圆 32"/>
          <p:cNvSpPr/>
          <p:nvPr/>
        </p:nvSpPr>
        <p:spPr>
          <a:xfrm>
            <a:off x="6410325" y="3084830"/>
            <a:ext cx="571500" cy="419100"/>
          </a:xfrm>
          <a:prstGeom prst="ellipse">
            <a:avLst/>
          </a:prstGeom>
          <a:no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latin typeface="Bahnschrift Light" panose="020B0502040204020203" charset="0"/>
                <a:ea typeface="华文细黑" panose="02010600040101010101" charset="-122"/>
                <a:cs typeface="Bahnschrift Light" panose="020B0502040204020203" charset="0"/>
              </a:rPr>
              <a:t>C</a:t>
            </a:r>
            <a:r>
              <a:rPr lang="en-US" altLang="zh-CN" sz="1000">
                <a:solidFill>
                  <a:schemeClr val="tx1"/>
                </a:solidFill>
                <a:latin typeface="Bahnschrift Light" panose="020B0502040204020203" charset="0"/>
                <a:ea typeface="华文细黑" panose="02010600040101010101" charset="-122"/>
                <a:cs typeface="Bahnschrift Light" panose="020B0502040204020203" charset="0"/>
              </a:rPr>
              <a:t>4</a:t>
            </a:r>
            <a:endParaRPr lang="en-US" altLang="zh-CN" sz="1000">
              <a:solidFill>
                <a:schemeClr val="tx1"/>
              </a:solidFill>
              <a:latin typeface="Bahnschrift Light" panose="020B0502040204020203" charset="0"/>
              <a:ea typeface="华文细黑" panose="02010600040101010101" charset="-122"/>
              <a:cs typeface="Bahnschrift Light" panose="020B0502040204020203" charset="0"/>
            </a:endParaRPr>
          </a:p>
        </p:txBody>
      </p:sp>
      <p:sp>
        <p:nvSpPr>
          <p:cNvPr id="34" name="椭圆 33"/>
          <p:cNvSpPr/>
          <p:nvPr/>
        </p:nvSpPr>
        <p:spPr>
          <a:xfrm>
            <a:off x="5493385" y="3759200"/>
            <a:ext cx="572135" cy="431165"/>
          </a:xfrm>
          <a:prstGeom prst="ellipse">
            <a:avLst/>
          </a:prstGeom>
          <a:no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latin typeface="Bahnschrift Light" panose="020B0502040204020203" charset="0"/>
                <a:ea typeface="华文细黑" panose="02010600040101010101" charset="-122"/>
                <a:cs typeface="Bahnschrift Light" panose="020B0502040204020203" charset="0"/>
              </a:rPr>
              <a:t>O</a:t>
            </a:r>
            <a:r>
              <a:rPr lang="en-US" altLang="zh-CN" sz="1000">
                <a:solidFill>
                  <a:schemeClr val="tx1"/>
                </a:solidFill>
                <a:latin typeface="Bahnschrift Light" panose="020B0502040204020203" charset="0"/>
                <a:ea typeface="华文细黑" panose="02010600040101010101" charset="-122"/>
                <a:cs typeface="Bahnschrift Light" panose="020B0502040204020203" charset="0"/>
              </a:rPr>
              <a:t>2</a:t>
            </a:r>
            <a:endParaRPr lang="en-US" altLang="zh-CN" sz="1000">
              <a:solidFill>
                <a:schemeClr val="tx1"/>
              </a:solidFill>
              <a:latin typeface="Bahnschrift Light" panose="020B0502040204020203" charset="0"/>
              <a:ea typeface="华文细黑" panose="02010600040101010101" charset="-122"/>
              <a:cs typeface="Bahnschrift Light" panose="020B0502040204020203" charset="0"/>
            </a:endParaRPr>
          </a:p>
        </p:txBody>
      </p:sp>
      <p:sp>
        <p:nvSpPr>
          <p:cNvPr id="35" name="椭圆 34"/>
          <p:cNvSpPr/>
          <p:nvPr/>
        </p:nvSpPr>
        <p:spPr>
          <a:xfrm>
            <a:off x="7381240" y="3759200"/>
            <a:ext cx="622300" cy="431165"/>
          </a:xfrm>
          <a:prstGeom prst="ellipse">
            <a:avLst/>
          </a:prstGeom>
          <a:no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latin typeface="Bahnschrift Light" panose="020B0502040204020203" charset="0"/>
                <a:ea typeface="华文细黑" panose="02010600040101010101" charset="-122"/>
                <a:cs typeface="Bahnschrift Light" panose="020B0502040204020203" charset="0"/>
              </a:rPr>
              <a:t>O</a:t>
            </a:r>
            <a:r>
              <a:rPr lang="en-US" altLang="zh-CN" sz="1000">
                <a:solidFill>
                  <a:schemeClr val="tx1"/>
                </a:solidFill>
                <a:latin typeface="Bahnschrift Light" panose="020B0502040204020203" charset="0"/>
                <a:ea typeface="华文细黑" panose="02010600040101010101" charset="-122"/>
                <a:cs typeface="Bahnschrift Light" panose="020B0502040204020203" charset="0"/>
              </a:rPr>
              <a:t>4</a:t>
            </a:r>
            <a:endParaRPr lang="en-US" altLang="zh-CN" sz="1000">
              <a:solidFill>
                <a:schemeClr val="tx1"/>
              </a:solidFill>
              <a:latin typeface="Bahnschrift Light" panose="020B0502040204020203" charset="0"/>
              <a:ea typeface="华文细黑" panose="02010600040101010101" charset="-122"/>
              <a:cs typeface="Bahnschrift Light" panose="020B0502040204020203" charset="0"/>
            </a:endParaRPr>
          </a:p>
        </p:txBody>
      </p:sp>
      <p:sp>
        <p:nvSpPr>
          <p:cNvPr id="36" name="文本框 35"/>
          <p:cNvSpPr txBox="1"/>
          <p:nvPr/>
        </p:nvSpPr>
        <p:spPr>
          <a:xfrm>
            <a:off x="1495425" y="3145790"/>
            <a:ext cx="1035050" cy="368935"/>
          </a:xfrm>
          <a:prstGeom prst="rect">
            <a:avLst/>
          </a:prstGeom>
          <a:noFill/>
          <a:ln>
            <a:noFill/>
          </a:ln>
        </p:spPr>
        <p:txBody>
          <a:bodyPr wrap="square" lIns="0" tIns="0" rIns="0" bIns="0" rtlCol="0" anchor="t">
            <a:spAutoFit/>
          </a:bodyPr>
          <a:p>
            <a:pPr algn="ctr"/>
            <a:r>
              <a:rPr lang="zh-CN" altLang="en-US" sz="2400">
                <a:solidFill>
                  <a:schemeClr val="tx1"/>
                </a:solidFill>
                <a:latin typeface="方正粗黑宋简体" panose="02000000000000000000" charset="-122"/>
                <a:ea typeface="方正粗黑宋简体" panose="02000000000000000000" charset="-122"/>
                <a:cs typeface="方正粗黑宋简体" panose="02000000000000000000" charset="-122"/>
                <a:sym typeface="+mn-ea"/>
              </a:rPr>
              <a:t>计算</a:t>
            </a:r>
            <a:endParaRPr lang="zh-CN" altLang="en-US" sz="2400" b="1" dirty="0">
              <a:solidFill>
                <a:schemeClr val="tx1"/>
              </a:solidFill>
              <a:effectLst>
                <a:outerShdw blurRad="38100" dist="38100" dir="2700000" algn="tl">
                  <a:srgbClr val="000000">
                    <a:alpha val="43137"/>
                  </a:srgbClr>
                </a:outerShdw>
              </a:effectLst>
              <a:latin typeface="方正粗黑宋简体" panose="02000000000000000000" charset="-122"/>
              <a:ea typeface="方正粗黑宋简体" panose="02000000000000000000" charset="-122"/>
              <a:cs typeface="方正粗黑宋简体" panose="02000000000000000000" charset="-122"/>
              <a:sym typeface="+mn-ea"/>
            </a:endParaRPr>
          </a:p>
        </p:txBody>
      </p:sp>
      <p:sp>
        <p:nvSpPr>
          <p:cNvPr id="37" name="文本框 36"/>
          <p:cNvSpPr txBox="1"/>
          <p:nvPr/>
        </p:nvSpPr>
        <p:spPr>
          <a:xfrm>
            <a:off x="1513840" y="3790950"/>
            <a:ext cx="1035050" cy="368935"/>
          </a:xfrm>
          <a:prstGeom prst="rect">
            <a:avLst/>
          </a:prstGeom>
          <a:noFill/>
          <a:ln>
            <a:noFill/>
          </a:ln>
        </p:spPr>
        <p:txBody>
          <a:bodyPr wrap="square" lIns="0" tIns="0" rIns="0" bIns="0" rtlCol="0" anchor="t">
            <a:spAutoFit/>
          </a:bodyPr>
          <a:p>
            <a:pPr algn="ctr"/>
            <a:r>
              <a:rPr lang="zh-CN" altLang="en-US" sz="2400">
                <a:solidFill>
                  <a:schemeClr val="tx1"/>
                </a:solidFill>
                <a:latin typeface="方正粗黑宋简体" panose="02000000000000000000" charset="-122"/>
                <a:ea typeface="方正粗黑宋简体" panose="02000000000000000000" charset="-122"/>
                <a:cs typeface="方正粗黑宋简体" panose="02000000000000000000" charset="-122"/>
                <a:sym typeface="+mn-ea"/>
              </a:rPr>
              <a:t>输出</a:t>
            </a:r>
            <a:endParaRPr lang="zh-CN" altLang="en-US" sz="2400" b="1" dirty="0">
              <a:solidFill>
                <a:schemeClr val="tx1"/>
              </a:solidFill>
              <a:effectLst>
                <a:outerShdw blurRad="38100" dist="38100" dir="2700000" algn="tl">
                  <a:srgbClr val="000000">
                    <a:alpha val="43137"/>
                  </a:srgbClr>
                </a:outerShdw>
              </a:effectLst>
              <a:latin typeface="方正粗黑宋简体" panose="02000000000000000000" charset="-122"/>
              <a:ea typeface="方正粗黑宋简体" panose="02000000000000000000" charset="-122"/>
              <a:cs typeface="方正粗黑宋简体" panose="02000000000000000000" charset="-122"/>
              <a:sym typeface="+mn-ea"/>
            </a:endParaRPr>
          </a:p>
        </p:txBody>
      </p:sp>
      <p:cxnSp>
        <p:nvCxnSpPr>
          <p:cNvPr id="38" name="直接箭头连接符 37"/>
          <p:cNvCxnSpPr>
            <a:endCxn id="17" idx="1"/>
          </p:cNvCxnSpPr>
          <p:nvPr/>
        </p:nvCxnSpPr>
        <p:spPr>
          <a:xfrm>
            <a:off x="3102610" y="2743200"/>
            <a:ext cx="604520" cy="405130"/>
          </a:xfrm>
          <a:prstGeom prst="straightConnector1">
            <a:avLst/>
          </a:prstGeom>
          <a:ln>
            <a:solidFill>
              <a:schemeClr val="accent1"/>
            </a:solidFill>
            <a:tailEnd type="arrow"/>
          </a:ln>
        </p:spPr>
        <p:style>
          <a:lnRef idx="2">
            <a:schemeClr val="accent1"/>
          </a:lnRef>
          <a:fillRef idx="0">
            <a:srgbClr val="FFFFFF"/>
          </a:fillRef>
          <a:effectRef idx="0">
            <a:srgbClr val="FFFFFF"/>
          </a:effectRef>
          <a:fontRef idx="minor">
            <a:schemeClr val="tx1"/>
          </a:fontRef>
        </p:style>
      </p:cxnSp>
      <p:cxnSp>
        <p:nvCxnSpPr>
          <p:cNvPr id="39" name="直接箭头连接符 38"/>
          <p:cNvCxnSpPr>
            <a:endCxn id="18" idx="1"/>
          </p:cNvCxnSpPr>
          <p:nvPr/>
        </p:nvCxnSpPr>
        <p:spPr>
          <a:xfrm>
            <a:off x="4131310" y="3456305"/>
            <a:ext cx="555625" cy="334645"/>
          </a:xfrm>
          <a:prstGeom prst="straightConnector1">
            <a:avLst/>
          </a:prstGeom>
          <a:ln>
            <a:solidFill>
              <a:schemeClr val="accent1"/>
            </a:solidFill>
            <a:tailEnd type="arrow"/>
          </a:ln>
        </p:spPr>
        <p:style>
          <a:lnRef idx="2">
            <a:schemeClr val="accent1"/>
          </a:lnRef>
          <a:fillRef idx="0">
            <a:srgbClr val="FFFFFF"/>
          </a:fillRef>
          <a:effectRef idx="0">
            <a:srgbClr val="FFFFFF"/>
          </a:effectRef>
          <a:fontRef idx="minor">
            <a:schemeClr val="tx1"/>
          </a:fontRef>
        </p:style>
      </p:cxnSp>
      <p:cxnSp>
        <p:nvCxnSpPr>
          <p:cNvPr id="40" name="直接箭头连接符 39"/>
          <p:cNvCxnSpPr/>
          <p:nvPr/>
        </p:nvCxnSpPr>
        <p:spPr>
          <a:xfrm>
            <a:off x="4082415" y="2730500"/>
            <a:ext cx="567055" cy="362585"/>
          </a:xfrm>
          <a:prstGeom prst="straightConnector1">
            <a:avLst/>
          </a:prstGeom>
          <a:ln>
            <a:solidFill>
              <a:schemeClr val="accent1"/>
            </a:solidFill>
            <a:tailEnd type="arrow"/>
          </a:ln>
        </p:spPr>
        <p:style>
          <a:lnRef idx="2">
            <a:schemeClr val="accent1"/>
          </a:lnRef>
          <a:fillRef idx="0">
            <a:srgbClr val="FFFFFF"/>
          </a:fillRef>
          <a:effectRef idx="0">
            <a:srgbClr val="FFFFFF"/>
          </a:effectRef>
          <a:fontRef idx="minor">
            <a:schemeClr val="tx1"/>
          </a:fontRef>
        </p:style>
      </p:cxnSp>
      <p:cxnSp>
        <p:nvCxnSpPr>
          <p:cNvPr id="41" name="直接箭头连接符 40"/>
          <p:cNvCxnSpPr/>
          <p:nvPr/>
        </p:nvCxnSpPr>
        <p:spPr>
          <a:xfrm>
            <a:off x="5112385" y="3395980"/>
            <a:ext cx="567055" cy="362585"/>
          </a:xfrm>
          <a:prstGeom prst="straightConnector1">
            <a:avLst/>
          </a:prstGeom>
          <a:ln>
            <a:solidFill>
              <a:schemeClr val="accent1"/>
            </a:solidFill>
            <a:tailEnd type="arrow"/>
          </a:ln>
        </p:spPr>
        <p:style>
          <a:lnRef idx="2">
            <a:schemeClr val="accent1"/>
          </a:lnRef>
          <a:fillRef idx="0">
            <a:srgbClr val="FFFFFF"/>
          </a:fillRef>
          <a:effectRef idx="0">
            <a:srgbClr val="FFFFFF"/>
          </a:effectRef>
          <a:fontRef idx="minor">
            <a:schemeClr val="tx1"/>
          </a:fontRef>
        </p:style>
      </p:cxnSp>
      <p:cxnSp>
        <p:nvCxnSpPr>
          <p:cNvPr id="42" name="直接箭头连接符 41"/>
          <p:cNvCxnSpPr/>
          <p:nvPr/>
        </p:nvCxnSpPr>
        <p:spPr>
          <a:xfrm>
            <a:off x="5024755" y="2755900"/>
            <a:ext cx="567055" cy="362585"/>
          </a:xfrm>
          <a:prstGeom prst="straightConnector1">
            <a:avLst/>
          </a:prstGeom>
          <a:ln>
            <a:solidFill>
              <a:schemeClr val="accent1"/>
            </a:solidFill>
            <a:tailEnd type="arrow"/>
          </a:ln>
        </p:spPr>
        <p:style>
          <a:lnRef idx="2">
            <a:schemeClr val="accent1"/>
          </a:lnRef>
          <a:fillRef idx="0">
            <a:srgbClr val="FFFFFF"/>
          </a:fillRef>
          <a:effectRef idx="0">
            <a:srgbClr val="FFFFFF"/>
          </a:effectRef>
          <a:fontRef idx="minor">
            <a:schemeClr val="tx1"/>
          </a:fontRef>
        </p:style>
      </p:cxnSp>
      <p:cxnSp>
        <p:nvCxnSpPr>
          <p:cNvPr id="43" name="直接箭头连接符 42"/>
          <p:cNvCxnSpPr/>
          <p:nvPr/>
        </p:nvCxnSpPr>
        <p:spPr>
          <a:xfrm>
            <a:off x="6031230" y="3428365"/>
            <a:ext cx="567055" cy="362585"/>
          </a:xfrm>
          <a:prstGeom prst="straightConnector1">
            <a:avLst/>
          </a:prstGeom>
          <a:ln>
            <a:solidFill>
              <a:schemeClr val="accent1"/>
            </a:solidFill>
            <a:tailEnd type="arrow"/>
          </a:ln>
        </p:spPr>
        <p:style>
          <a:lnRef idx="2">
            <a:schemeClr val="accent1"/>
          </a:lnRef>
          <a:fillRef idx="0">
            <a:srgbClr val="FFFFFF"/>
          </a:fillRef>
          <a:effectRef idx="0">
            <a:srgbClr val="FFFFFF"/>
          </a:effectRef>
          <a:fontRef idx="minor">
            <a:schemeClr val="tx1"/>
          </a:fontRef>
        </p:style>
      </p:cxnSp>
      <p:cxnSp>
        <p:nvCxnSpPr>
          <p:cNvPr id="44" name="直接箭头连接符 43"/>
          <p:cNvCxnSpPr/>
          <p:nvPr/>
        </p:nvCxnSpPr>
        <p:spPr>
          <a:xfrm>
            <a:off x="5925820" y="2785745"/>
            <a:ext cx="567055" cy="362585"/>
          </a:xfrm>
          <a:prstGeom prst="straightConnector1">
            <a:avLst/>
          </a:prstGeom>
          <a:ln>
            <a:solidFill>
              <a:schemeClr val="accent1"/>
            </a:solidFill>
            <a:tailEnd type="arrow"/>
          </a:ln>
        </p:spPr>
        <p:style>
          <a:lnRef idx="2">
            <a:schemeClr val="accent1"/>
          </a:lnRef>
          <a:fillRef idx="0">
            <a:srgbClr val="FFFFFF"/>
          </a:fillRef>
          <a:effectRef idx="0">
            <a:srgbClr val="FFFFFF"/>
          </a:effectRef>
          <a:fontRef idx="minor">
            <a:schemeClr val="tx1"/>
          </a:fontRef>
        </p:style>
      </p:cxnSp>
      <p:cxnSp>
        <p:nvCxnSpPr>
          <p:cNvPr id="45" name="直接箭头连接符 44"/>
          <p:cNvCxnSpPr/>
          <p:nvPr/>
        </p:nvCxnSpPr>
        <p:spPr>
          <a:xfrm>
            <a:off x="6950075" y="3428365"/>
            <a:ext cx="567055" cy="362585"/>
          </a:xfrm>
          <a:prstGeom prst="straightConnector1">
            <a:avLst/>
          </a:prstGeom>
          <a:ln>
            <a:solidFill>
              <a:schemeClr val="accent1"/>
            </a:solidFill>
            <a:tailEnd type="arrow"/>
          </a:ln>
        </p:spPr>
        <p:style>
          <a:lnRef idx="2">
            <a:schemeClr val="accent1"/>
          </a:lnRef>
          <a:fillRef idx="0">
            <a:srgbClr val="FFFFFF"/>
          </a:fillRef>
          <a:effectRef idx="0">
            <a:srgbClr val="FFFFFF"/>
          </a:effectRef>
          <a:fontRef idx="minor">
            <a:schemeClr val="tx1"/>
          </a:fontRef>
        </p:style>
      </p:cxnSp>
      <p:sp>
        <p:nvSpPr>
          <p:cNvPr id="46" name="文本框 45"/>
          <p:cNvSpPr txBox="1"/>
          <p:nvPr/>
        </p:nvSpPr>
        <p:spPr>
          <a:xfrm>
            <a:off x="2570480" y="1976755"/>
            <a:ext cx="840740" cy="445135"/>
          </a:xfrm>
          <a:prstGeom prst="rect">
            <a:avLst/>
          </a:prstGeom>
          <a:noFill/>
          <a:ln>
            <a:noFill/>
          </a:ln>
        </p:spPr>
        <p:txBody>
          <a:bodyPr wrap="square" lIns="0" tIns="0" rIns="0" bIns="0" rtlCol="0" anchor="t">
            <a:noAutofit/>
          </a:bodyPr>
          <a:p>
            <a:pPr algn="ctr"/>
            <a:r>
              <a:rPr lang="en-US" altLang="zh-CN" sz="2400">
                <a:solidFill>
                  <a:schemeClr val="tx1"/>
                </a:solidFill>
                <a:latin typeface="方正粗黑宋简体" panose="02000000000000000000" charset="-122"/>
                <a:ea typeface="方正粗黑宋简体" panose="02000000000000000000" charset="-122"/>
                <a:cs typeface="方正粗黑宋简体" panose="02000000000000000000" charset="-122"/>
                <a:sym typeface="+mn-ea"/>
              </a:rPr>
              <a:t>P</a:t>
            </a:r>
            <a:r>
              <a:rPr lang="en-US" altLang="zh-CN" sz="1000">
                <a:solidFill>
                  <a:schemeClr val="tx1"/>
                </a:solidFill>
                <a:latin typeface="方正粗黑宋简体" panose="02000000000000000000" charset="-122"/>
                <a:ea typeface="方正粗黑宋简体" panose="02000000000000000000" charset="-122"/>
                <a:cs typeface="方正粗黑宋简体" panose="02000000000000000000" charset="-122"/>
                <a:sym typeface="+mn-ea"/>
              </a:rPr>
              <a:t>1</a:t>
            </a:r>
            <a:endParaRPr lang="en-US" altLang="zh-CN" sz="1000" b="1" dirty="0">
              <a:solidFill>
                <a:schemeClr val="tx1"/>
              </a:solidFill>
              <a:effectLst>
                <a:outerShdw blurRad="38100" dist="38100" dir="2700000" algn="tl">
                  <a:srgbClr val="000000">
                    <a:alpha val="43137"/>
                  </a:srgbClr>
                </a:outerShdw>
              </a:effectLst>
              <a:latin typeface="方正粗黑宋简体" panose="02000000000000000000" charset="-122"/>
              <a:ea typeface="方正粗黑宋简体" panose="02000000000000000000" charset="-122"/>
              <a:cs typeface="方正粗黑宋简体" panose="02000000000000000000" charset="-122"/>
              <a:sym typeface="+mn-ea"/>
            </a:endParaRPr>
          </a:p>
        </p:txBody>
      </p:sp>
      <p:sp>
        <p:nvSpPr>
          <p:cNvPr id="47" name="文本框 46"/>
          <p:cNvSpPr txBox="1"/>
          <p:nvPr/>
        </p:nvSpPr>
        <p:spPr>
          <a:xfrm>
            <a:off x="4385945" y="1998345"/>
            <a:ext cx="840740" cy="368935"/>
          </a:xfrm>
          <a:prstGeom prst="rect">
            <a:avLst/>
          </a:prstGeom>
          <a:noFill/>
          <a:ln>
            <a:noFill/>
          </a:ln>
        </p:spPr>
        <p:txBody>
          <a:bodyPr wrap="square" lIns="0" tIns="0" rIns="0" bIns="0" rtlCol="0" anchor="t">
            <a:spAutoFit/>
          </a:bodyPr>
          <a:p>
            <a:pPr algn="ctr"/>
            <a:r>
              <a:rPr lang="en-US" altLang="zh-CN" sz="2400">
                <a:solidFill>
                  <a:schemeClr val="tx1"/>
                </a:solidFill>
                <a:latin typeface="方正粗黑宋简体" panose="02000000000000000000" charset="-122"/>
                <a:ea typeface="方正粗黑宋简体" panose="02000000000000000000" charset="-122"/>
                <a:cs typeface="方正粗黑宋简体" panose="02000000000000000000" charset="-122"/>
                <a:sym typeface="+mn-ea"/>
              </a:rPr>
              <a:t>P</a:t>
            </a:r>
            <a:r>
              <a:rPr lang="en-US" altLang="zh-CN" sz="1000">
                <a:solidFill>
                  <a:schemeClr val="tx1"/>
                </a:solidFill>
                <a:latin typeface="方正粗黑宋简体" panose="02000000000000000000" charset="-122"/>
                <a:ea typeface="方正粗黑宋简体" panose="02000000000000000000" charset="-122"/>
                <a:cs typeface="方正粗黑宋简体" panose="02000000000000000000" charset="-122"/>
                <a:sym typeface="+mn-ea"/>
              </a:rPr>
              <a:t>3</a:t>
            </a:r>
            <a:endParaRPr lang="en-US" altLang="zh-CN" sz="1000" b="1" dirty="0">
              <a:solidFill>
                <a:schemeClr val="tx1"/>
              </a:solidFill>
              <a:effectLst>
                <a:outerShdw blurRad="38100" dist="38100" dir="2700000" algn="tl">
                  <a:srgbClr val="000000">
                    <a:alpha val="43137"/>
                  </a:srgbClr>
                </a:outerShdw>
              </a:effectLst>
              <a:latin typeface="方正粗黑宋简体" panose="02000000000000000000" charset="-122"/>
              <a:ea typeface="方正粗黑宋简体" panose="02000000000000000000" charset="-122"/>
              <a:cs typeface="方正粗黑宋简体" panose="02000000000000000000" charset="-122"/>
              <a:sym typeface="+mn-ea"/>
            </a:endParaRPr>
          </a:p>
        </p:txBody>
      </p:sp>
      <p:sp>
        <p:nvSpPr>
          <p:cNvPr id="48" name="文本框 47"/>
          <p:cNvSpPr txBox="1"/>
          <p:nvPr/>
        </p:nvSpPr>
        <p:spPr>
          <a:xfrm>
            <a:off x="5313045" y="1989455"/>
            <a:ext cx="840740" cy="368935"/>
          </a:xfrm>
          <a:prstGeom prst="rect">
            <a:avLst/>
          </a:prstGeom>
          <a:noFill/>
          <a:ln>
            <a:noFill/>
          </a:ln>
        </p:spPr>
        <p:txBody>
          <a:bodyPr wrap="square" lIns="0" tIns="0" rIns="0" bIns="0" rtlCol="0" anchor="t">
            <a:spAutoFit/>
          </a:bodyPr>
          <a:p>
            <a:pPr algn="ctr"/>
            <a:r>
              <a:rPr lang="en-US" altLang="zh-CN" sz="2400">
                <a:solidFill>
                  <a:schemeClr val="tx1"/>
                </a:solidFill>
                <a:latin typeface="方正粗黑宋简体" panose="02000000000000000000" charset="-122"/>
                <a:ea typeface="方正粗黑宋简体" panose="02000000000000000000" charset="-122"/>
                <a:cs typeface="方正粗黑宋简体" panose="02000000000000000000" charset="-122"/>
                <a:sym typeface="+mn-ea"/>
              </a:rPr>
              <a:t>P</a:t>
            </a:r>
            <a:r>
              <a:rPr lang="en-US" altLang="zh-CN" sz="1000">
                <a:solidFill>
                  <a:schemeClr val="tx1"/>
                </a:solidFill>
                <a:latin typeface="方正粗黑宋简体" panose="02000000000000000000" charset="-122"/>
                <a:ea typeface="方正粗黑宋简体" panose="02000000000000000000" charset="-122"/>
                <a:cs typeface="方正粗黑宋简体" panose="02000000000000000000" charset="-122"/>
                <a:sym typeface="+mn-ea"/>
              </a:rPr>
              <a:t>4</a:t>
            </a:r>
            <a:endParaRPr lang="en-US" altLang="zh-CN" sz="1000" b="1" dirty="0">
              <a:solidFill>
                <a:schemeClr val="tx1"/>
              </a:solidFill>
              <a:effectLst>
                <a:outerShdw blurRad="38100" dist="38100" dir="2700000" algn="tl">
                  <a:srgbClr val="000000">
                    <a:alpha val="43137"/>
                  </a:srgbClr>
                </a:outerShdw>
              </a:effectLst>
              <a:latin typeface="方正粗黑宋简体" panose="02000000000000000000" charset="-122"/>
              <a:ea typeface="方正粗黑宋简体" panose="02000000000000000000" charset="-122"/>
              <a:cs typeface="方正粗黑宋简体" panose="02000000000000000000" charset="-122"/>
              <a:sym typeface="+mn-ea"/>
            </a:endParaRPr>
          </a:p>
        </p:txBody>
      </p:sp>
      <p:cxnSp>
        <p:nvCxnSpPr>
          <p:cNvPr id="49" name="直接箭头连接符 48"/>
          <p:cNvCxnSpPr>
            <a:stCxn id="14" idx="6"/>
            <a:endCxn id="19" idx="2"/>
          </p:cNvCxnSpPr>
          <p:nvPr/>
        </p:nvCxnSpPr>
        <p:spPr>
          <a:xfrm>
            <a:off x="3150870" y="2618105"/>
            <a:ext cx="460375" cy="15875"/>
          </a:xfrm>
          <a:prstGeom prst="straightConnector1">
            <a:avLst/>
          </a:prstGeom>
          <a:ln>
            <a:solidFill>
              <a:schemeClr val="accent1"/>
            </a:solidFill>
            <a:prstDash val="sysDash"/>
            <a:tailEnd type="arrow"/>
          </a:ln>
        </p:spPr>
        <p:style>
          <a:lnRef idx="2">
            <a:schemeClr val="accent1"/>
          </a:lnRef>
          <a:fillRef idx="0">
            <a:srgbClr val="FFFFFF"/>
          </a:fillRef>
          <a:effectRef idx="0">
            <a:srgbClr val="FFFFFF"/>
          </a:effectRef>
          <a:fontRef idx="minor">
            <a:schemeClr val="tx1"/>
          </a:fontRef>
        </p:style>
      </p:cxnSp>
      <p:cxnSp>
        <p:nvCxnSpPr>
          <p:cNvPr id="50" name="直接箭头连接符 49"/>
          <p:cNvCxnSpPr/>
          <p:nvPr/>
        </p:nvCxnSpPr>
        <p:spPr>
          <a:xfrm>
            <a:off x="4129405" y="2632710"/>
            <a:ext cx="414020" cy="15240"/>
          </a:xfrm>
          <a:prstGeom prst="straightConnector1">
            <a:avLst/>
          </a:prstGeom>
          <a:ln>
            <a:solidFill>
              <a:schemeClr val="accent1"/>
            </a:solidFill>
            <a:prstDash val="sysDash"/>
            <a:tailEnd type="arrow"/>
          </a:ln>
        </p:spPr>
        <p:style>
          <a:lnRef idx="2">
            <a:schemeClr val="accent1"/>
          </a:lnRef>
          <a:fillRef idx="0">
            <a:srgbClr val="FFFFFF"/>
          </a:fillRef>
          <a:effectRef idx="0">
            <a:srgbClr val="FFFFFF"/>
          </a:effectRef>
          <a:fontRef idx="minor">
            <a:schemeClr val="tx1"/>
          </a:fontRef>
        </p:style>
      </p:cxnSp>
      <p:cxnSp>
        <p:nvCxnSpPr>
          <p:cNvPr id="51" name="直接箭头连接符 50"/>
          <p:cNvCxnSpPr/>
          <p:nvPr/>
        </p:nvCxnSpPr>
        <p:spPr>
          <a:xfrm>
            <a:off x="5060950" y="2602230"/>
            <a:ext cx="403860" cy="13970"/>
          </a:xfrm>
          <a:prstGeom prst="straightConnector1">
            <a:avLst/>
          </a:prstGeom>
          <a:ln>
            <a:solidFill>
              <a:schemeClr val="accent1"/>
            </a:solidFill>
            <a:prstDash val="sysDash"/>
            <a:tailEnd type="arrow"/>
          </a:ln>
        </p:spPr>
        <p:style>
          <a:lnRef idx="2">
            <a:schemeClr val="accent1"/>
          </a:lnRef>
          <a:fillRef idx="0">
            <a:srgbClr val="FFFFFF"/>
          </a:fillRef>
          <a:effectRef idx="0">
            <a:srgbClr val="FFFFFF"/>
          </a:effectRef>
          <a:fontRef idx="minor">
            <a:schemeClr val="tx1"/>
          </a:fontRef>
        </p:style>
      </p:cxnSp>
      <p:cxnSp>
        <p:nvCxnSpPr>
          <p:cNvPr id="52" name="直接箭头连接符 51"/>
          <p:cNvCxnSpPr/>
          <p:nvPr/>
        </p:nvCxnSpPr>
        <p:spPr>
          <a:xfrm>
            <a:off x="4133850" y="3264535"/>
            <a:ext cx="352425" cy="8255"/>
          </a:xfrm>
          <a:prstGeom prst="straightConnector1">
            <a:avLst/>
          </a:prstGeom>
          <a:ln>
            <a:solidFill>
              <a:schemeClr val="accent1"/>
            </a:solidFill>
            <a:prstDash val="sysDash"/>
            <a:tailEnd type="arrow"/>
          </a:ln>
        </p:spPr>
        <p:style>
          <a:lnRef idx="2">
            <a:schemeClr val="accent1"/>
          </a:lnRef>
          <a:fillRef idx="0">
            <a:srgbClr val="FFFFFF"/>
          </a:fillRef>
          <a:effectRef idx="0">
            <a:srgbClr val="FFFFFF"/>
          </a:effectRef>
          <a:fontRef idx="minor">
            <a:schemeClr val="tx1"/>
          </a:fontRef>
        </p:style>
      </p:cxnSp>
      <p:cxnSp>
        <p:nvCxnSpPr>
          <p:cNvPr id="53" name="直接箭头连接符 52"/>
          <p:cNvCxnSpPr/>
          <p:nvPr/>
        </p:nvCxnSpPr>
        <p:spPr>
          <a:xfrm>
            <a:off x="5112385" y="3279140"/>
            <a:ext cx="337820" cy="4445"/>
          </a:xfrm>
          <a:prstGeom prst="straightConnector1">
            <a:avLst/>
          </a:prstGeom>
          <a:ln>
            <a:solidFill>
              <a:schemeClr val="accent1"/>
            </a:solidFill>
            <a:prstDash val="sysDash"/>
            <a:tailEnd type="arrow"/>
          </a:ln>
        </p:spPr>
        <p:style>
          <a:lnRef idx="2">
            <a:schemeClr val="accent1"/>
          </a:lnRef>
          <a:fillRef idx="0">
            <a:srgbClr val="FFFFFF"/>
          </a:fillRef>
          <a:effectRef idx="0">
            <a:srgbClr val="FFFFFF"/>
          </a:effectRef>
          <a:fontRef idx="minor">
            <a:schemeClr val="tx1"/>
          </a:fontRef>
        </p:style>
      </p:cxnSp>
      <p:cxnSp>
        <p:nvCxnSpPr>
          <p:cNvPr id="54" name="直接箭头连接符 53"/>
          <p:cNvCxnSpPr/>
          <p:nvPr/>
        </p:nvCxnSpPr>
        <p:spPr>
          <a:xfrm>
            <a:off x="6043930" y="3248660"/>
            <a:ext cx="403860" cy="13970"/>
          </a:xfrm>
          <a:prstGeom prst="straightConnector1">
            <a:avLst/>
          </a:prstGeom>
          <a:ln>
            <a:solidFill>
              <a:schemeClr val="accent1"/>
            </a:solidFill>
            <a:prstDash val="sysDash"/>
            <a:tailEnd type="arrow"/>
          </a:ln>
        </p:spPr>
        <p:style>
          <a:lnRef idx="2">
            <a:schemeClr val="accent1"/>
          </a:lnRef>
          <a:fillRef idx="0">
            <a:srgbClr val="FFFFFF"/>
          </a:fillRef>
          <a:effectRef idx="0">
            <a:srgbClr val="FFFFFF"/>
          </a:effectRef>
          <a:fontRef idx="minor">
            <a:schemeClr val="tx1"/>
          </a:fontRef>
        </p:style>
      </p:cxnSp>
      <p:cxnSp>
        <p:nvCxnSpPr>
          <p:cNvPr id="55" name="直接箭头连接符 54"/>
          <p:cNvCxnSpPr/>
          <p:nvPr/>
        </p:nvCxnSpPr>
        <p:spPr>
          <a:xfrm>
            <a:off x="5175250" y="3921760"/>
            <a:ext cx="328295" cy="18415"/>
          </a:xfrm>
          <a:prstGeom prst="straightConnector1">
            <a:avLst/>
          </a:prstGeom>
          <a:ln>
            <a:solidFill>
              <a:schemeClr val="accent1"/>
            </a:solidFill>
            <a:prstDash val="sysDash"/>
            <a:tailEnd type="arrow"/>
          </a:ln>
        </p:spPr>
        <p:style>
          <a:lnRef idx="2">
            <a:schemeClr val="accent1"/>
          </a:lnRef>
          <a:fillRef idx="0">
            <a:srgbClr val="FFFFFF"/>
          </a:fillRef>
          <a:effectRef idx="0">
            <a:srgbClr val="FFFFFF"/>
          </a:effectRef>
          <a:fontRef idx="minor">
            <a:schemeClr val="tx1"/>
          </a:fontRef>
        </p:style>
      </p:cxnSp>
      <p:cxnSp>
        <p:nvCxnSpPr>
          <p:cNvPr id="56" name="直接箭头连接符 55"/>
          <p:cNvCxnSpPr/>
          <p:nvPr/>
        </p:nvCxnSpPr>
        <p:spPr>
          <a:xfrm>
            <a:off x="6085840" y="3951605"/>
            <a:ext cx="414020" cy="15240"/>
          </a:xfrm>
          <a:prstGeom prst="straightConnector1">
            <a:avLst/>
          </a:prstGeom>
          <a:ln>
            <a:solidFill>
              <a:schemeClr val="accent1"/>
            </a:solidFill>
            <a:prstDash val="sysDash"/>
            <a:tailEnd type="arrow"/>
          </a:ln>
        </p:spPr>
        <p:style>
          <a:lnRef idx="2">
            <a:schemeClr val="accent1"/>
          </a:lnRef>
          <a:fillRef idx="0">
            <a:srgbClr val="FFFFFF"/>
          </a:fillRef>
          <a:effectRef idx="0">
            <a:srgbClr val="FFFFFF"/>
          </a:effectRef>
          <a:fontRef idx="minor">
            <a:schemeClr val="tx1"/>
          </a:fontRef>
        </p:style>
      </p:cxnSp>
      <p:cxnSp>
        <p:nvCxnSpPr>
          <p:cNvPr id="57" name="直接箭头连接符 56"/>
          <p:cNvCxnSpPr>
            <a:endCxn id="35" idx="2"/>
          </p:cNvCxnSpPr>
          <p:nvPr/>
        </p:nvCxnSpPr>
        <p:spPr>
          <a:xfrm>
            <a:off x="7085330" y="3966845"/>
            <a:ext cx="295910" cy="8255"/>
          </a:xfrm>
          <a:prstGeom prst="straightConnector1">
            <a:avLst/>
          </a:prstGeom>
          <a:ln>
            <a:solidFill>
              <a:schemeClr val="accent1"/>
            </a:solidFill>
            <a:prstDash val="sysDash"/>
            <a:tailEnd type="arrow"/>
          </a:ln>
        </p:spPr>
        <p:style>
          <a:lnRef idx="2">
            <a:schemeClr val="accent1"/>
          </a:lnRef>
          <a:fillRef idx="0">
            <a:srgbClr val="FFFFFF"/>
          </a:fillRef>
          <a:effectRef idx="0">
            <a:srgbClr val="FFFFFF"/>
          </a:effectRef>
          <a:fontRef idx="minor">
            <a:schemeClr val="tx1"/>
          </a:fontRef>
        </p:style>
      </p:cxnSp>
      <p:cxnSp>
        <p:nvCxnSpPr>
          <p:cNvPr id="58" name="直接箭头连接符 57"/>
          <p:cNvCxnSpPr/>
          <p:nvPr/>
        </p:nvCxnSpPr>
        <p:spPr>
          <a:xfrm>
            <a:off x="5990590" y="2647950"/>
            <a:ext cx="403860" cy="13970"/>
          </a:xfrm>
          <a:prstGeom prst="straightConnector1">
            <a:avLst/>
          </a:prstGeom>
          <a:ln>
            <a:solidFill>
              <a:schemeClr val="accent1"/>
            </a:solidFill>
            <a:prstDash val="sysDash"/>
            <a:tailEnd type="arrow"/>
          </a:ln>
        </p:spPr>
        <p:style>
          <a:lnRef idx="2">
            <a:schemeClr val="accent1"/>
          </a:lnRef>
          <a:fillRef idx="0">
            <a:srgbClr val="FFFFFF"/>
          </a:fillRef>
          <a:effectRef idx="0">
            <a:srgbClr val="FFFFFF"/>
          </a:effectRef>
          <a:fontRef idx="minor">
            <a:schemeClr val="tx1"/>
          </a:fontRef>
        </p:style>
      </p:cxnSp>
      <p:cxnSp>
        <p:nvCxnSpPr>
          <p:cNvPr id="59" name="直接箭头连接符 58"/>
          <p:cNvCxnSpPr/>
          <p:nvPr/>
        </p:nvCxnSpPr>
        <p:spPr>
          <a:xfrm>
            <a:off x="6981825" y="3283585"/>
            <a:ext cx="403860" cy="13970"/>
          </a:xfrm>
          <a:prstGeom prst="straightConnector1">
            <a:avLst/>
          </a:prstGeom>
          <a:ln>
            <a:solidFill>
              <a:schemeClr val="accent1"/>
            </a:solidFill>
            <a:prstDash val="sysDash"/>
            <a:tailEnd type="arrow"/>
          </a:ln>
        </p:spPr>
        <p:style>
          <a:lnRef idx="2">
            <a:schemeClr val="accent1"/>
          </a:lnRef>
          <a:fillRef idx="0">
            <a:srgbClr val="FFFFFF"/>
          </a:fillRef>
          <a:effectRef idx="0">
            <a:srgbClr val="FFFFFF"/>
          </a:effectRef>
          <a:fontRef idx="minor">
            <a:schemeClr val="tx1"/>
          </a:fontRef>
        </p:style>
      </p:cxnSp>
      <p:cxnSp>
        <p:nvCxnSpPr>
          <p:cNvPr id="60" name="直接箭头连接符 59"/>
          <p:cNvCxnSpPr/>
          <p:nvPr/>
        </p:nvCxnSpPr>
        <p:spPr>
          <a:xfrm>
            <a:off x="8003540" y="3975100"/>
            <a:ext cx="403860" cy="13970"/>
          </a:xfrm>
          <a:prstGeom prst="straightConnector1">
            <a:avLst/>
          </a:prstGeom>
          <a:ln>
            <a:solidFill>
              <a:schemeClr val="accent1"/>
            </a:solidFill>
            <a:prstDash val="sysDash"/>
            <a:tailEnd type="arrow"/>
          </a:ln>
        </p:spPr>
        <p:style>
          <a:lnRef idx="2">
            <a:schemeClr val="accent1"/>
          </a:lnRef>
          <a:fillRef idx="0">
            <a:srgbClr val="FFFFFF"/>
          </a:fillRef>
          <a:effectRef idx="0">
            <a:srgbClr val="FFFFFF"/>
          </a:effectRef>
          <a:fontRef idx="minor">
            <a:schemeClr val="tx1"/>
          </a:fontRef>
        </p:style>
      </p:cxnSp>
      <p:sp>
        <p:nvSpPr>
          <p:cNvPr id="61" name="文本框 60"/>
          <p:cNvSpPr txBox="1"/>
          <p:nvPr/>
        </p:nvSpPr>
        <p:spPr>
          <a:xfrm>
            <a:off x="4214495" y="1409700"/>
            <a:ext cx="2938780" cy="341242"/>
          </a:xfrm>
          <a:prstGeom prst="roundRect">
            <a:avLst/>
          </a:prstGeom>
          <a:solidFill>
            <a:schemeClr val="accent6">
              <a:lumMod val="20000"/>
              <a:lumOff val="80000"/>
            </a:schemeClr>
          </a:solidFill>
          <a:ln>
            <a:solidFill>
              <a:schemeClr val="accent1"/>
            </a:solidFill>
          </a:ln>
        </p:spPr>
        <p:txBody>
          <a:bodyPr wrap="square" lIns="0" tIns="0" rIns="0" bIns="0" rtlCol="0" anchor="t">
            <a:spAutoFit/>
          </a:bodyPr>
          <a:p>
            <a:pPr marL="0" indent="0" algn="ctr"/>
            <a:r>
              <a:rPr lang="zh-CN" altLang="en-US" sz="2000">
                <a:solidFill>
                  <a:schemeClr val="tx1"/>
                </a:solidFill>
                <a:latin typeface="方正粗黑宋简体" panose="02000000000000000000" charset="-122"/>
                <a:ea typeface="方正粗黑宋简体" panose="02000000000000000000" charset="-122"/>
                <a:cs typeface="方正粗黑宋简体" panose="02000000000000000000" charset="-122"/>
                <a:sym typeface="+mn-ea"/>
              </a:rPr>
              <a:t>多道批处理系统特点</a:t>
            </a:r>
            <a:endParaRPr lang="zh-CN" altLang="en-US" sz="2000" b="1" dirty="0">
              <a:solidFill>
                <a:schemeClr val="tx1"/>
              </a:solidFill>
              <a:effectLst>
                <a:outerShdw blurRad="38100" dist="38100" dir="2700000" algn="tl">
                  <a:srgbClr val="000000">
                    <a:alpha val="43137"/>
                  </a:srgbClr>
                </a:outerShdw>
              </a:effectLst>
              <a:latin typeface="方正粗黑宋简体" panose="02000000000000000000" charset="-122"/>
              <a:ea typeface="方正粗黑宋简体" panose="02000000000000000000" charset="-122"/>
              <a:cs typeface="方正粗黑宋简体" panose="02000000000000000000" charset="-122"/>
              <a:sym typeface="+mn-ea"/>
            </a:endParaRPr>
          </a:p>
        </p:txBody>
      </p:sp>
      <p:sp>
        <p:nvSpPr>
          <p:cNvPr id="62" name="文本框 61"/>
          <p:cNvSpPr txBox="1"/>
          <p:nvPr/>
        </p:nvSpPr>
        <p:spPr>
          <a:xfrm>
            <a:off x="8656955" y="3248660"/>
            <a:ext cx="2581910" cy="368935"/>
          </a:xfrm>
          <a:prstGeom prst="rect">
            <a:avLst/>
          </a:prstGeom>
          <a:noFill/>
          <a:ln>
            <a:noFill/>
          </a:ln>
        </p:spPr>
        <p:txBody>
          <a:bodyPr wrap="square" lIns="0" tIns="0" rIns="0" bIns="0" rtlCol="0" anchor="t">
            <a:spAutoFit/>
          </a:bodyPr>
          <a:p>
            <a:pPr algn="ctr"/>
            <a:r>
              <a:rPr lang="zh-CN" altLang="en-US" sz="2400">
                <a:solidFill>
                  <a:schemeClr val="tx1"/>
                </a:solidFill>
                <a:latin typeface="方正粗黑宋简体" panose="02000000000000000000" charset="-122"/>
                <a:ea typeface="方正粗黑宋简体" panose="02000000000000000000" charset="-122"/>
                <a:cs typeface="方正粗黑宋简体" panose="02000000000000000000" charset="-122"/>
                <a:sym typeface="+mn-ea"/>
              </a:rPr>
              <a:t>共耗</a:t>
            </a:r>
            <a:r>
              <a:rPr lang="en-US" altLang="zh-CN" sz="2400">
                <a:solidFill>
                  <a:schemeClr val="tx1"/>
                </a:solidFill>
                <a:latin typeface="方正粗黑宋简体" panose="02000000000000000000" charset="-122"/>
                <a:ea typeface="方正粗黑宋简体" panose="02000000000000000000" charset="-122"/>
                <a:cs typeface="方正粗黑宋简体" panose="02000000000000000000" charset="-122"/>
                <a:sym typeface="+mn-ea"/>
              </a:rPr>
              <a:t>6</a:t>
            </a:r>
            <a:r>
              <a:rPr lang="zh-CN" altLang="en-US" sz="2400">
                <a:solidFill>
                  <a:schemeClr val="tx1"/>
                </a:solidFill>
                <a:latin typeface="方正粗黑宋简体" panose="02000000000000000000" charset="-122"/>
                <a:ea typeface="方正粗黑宋简体" panose="02000000000000000000" charset="-122"/>
                <a:cs typeface="方正粗黑宋简体" panose="02000000000000000000" charset="-122"/>
                <a:sym typeface="+mn-ea"/>
              </a:rPr>
              <a:t>个时间单位 </a:t>
            </a:r>
            <a:endParaRPr lang="zh-CN" altLang="en-US" sz="2400" b="1" dirty="0">
              <a:solidFill>
                <a:schemeClr val="tx1"/>
              </a:solidFill>
              <a:effectLst>
                <a:outerShdw blurRad="38100" dist="38100" dir="2700000" algn="tl">
                  <a:srgbClr val="000000">
                    <a:alpha val="43137"/>
                  </a:srgbClr>
                </a:outerShdw>
              </a:effectLst>
              <a:latin typeface="方正粗黑宋简体" panose="02000000000000000000" charset="-122"/>
              <a:ea typeface="方正粗黑宋简体" panose="02000000000000000000" charset="-122"/>
              <a:cs typeface="方正粗黑宋简体" panose="02000000000000000000" charset="-122"/>
              <a:sym typeface="+mn-ea"/>
            </a:endParaRPr>
          </a:p>
        </p:txBody>
      </p:sp>
      <p:sp>
        <p:nvSpPr>
          <p:cNvPr id="63" name="文本框 62"/>
          <p:cNvSpPr txBox="1"/>
          <p:nvPr/>
        </p:nvSpPr>
        <p:spPr>
          <a:xfrm>
            <a:off x="2672715" y="4345940"/>
            <a:ext cx="738505" cy="368935"/>
          </a:xfrm>
          <a:prstGeom prst="rect">
            <a:avLst/>
          </a:prstGeom>
          <a:noFill/>
          <a:ln>
            <a:noFill/>
          </a:ln>
        </p:spPr>
        <p:txBody>
          <a:bodyPr wrap="square" lIns="0" tIns="0" rIns="0" bIns="0" rtlCol="0" anchor="t">
            <a:spAutoFit/>
          </a:bodyPr>
          <a:p>
            <a:pPr algn="ctr"/>
            <a:r>
              <a:rPr lang="en-US" altLang="zh-CN" sz="2400">
                <a:solidFill>
                  <a:schemeClr val="tx1"/>
                </a:solidFill>
                <a:latin typeface="方正粗黑宋简体" panose="02000000000000000000" charset="-122"/>
                <a:ea typeface="方正粗黑宋简体" panose="02000000000000000000" charset="-122"/>
                <a:cs typeface="方正粗黑宋简体" panose="02000000000000000000" charset="-122"/>
                <a:sym typeface="+mn-ea"/>
              </a:rPr>
              <a:t>t</a:t>
            </a:r>
            <a:r>
              <a:rPr lang="en-US" altLang="zh-CN" sz="1200">
                <a:solidFill>
                  <a:schemeClr val="tx1"/>
                </a:solidFill>
                <a:latin typeface="方正粗黑宋简体" panose="02000000000000000000" charset="-122"/>
                <a:ea typeface="方正粗黑宋简体" panose="02000000000000000000" charset="-122"/>
                <a:cs typeface="方正粗黑宋简体" panose="02000000000000000000" charset="-122"/>
                <a:sym typeface="+mn-ea"/>
              </a:rPr>
              <a:t>1</a:t>
            </a:r>
            <a:endParaRPr lang="en-US" altLang="zh-CN" sz="1200" b="1" dirty="0">
              <a:solidFill>
                <a:schemeClr val="tx1"/>
              </a:solidFill>
              <a:effectLst>
                <a:outerShdw blurRad="38100" dist="38100" dir="2700000" algn="tl">
                  <a:srgbClr val="000000">
                    <a:alpha val="43137"/>
                  </a:srgbClr>
                </a:outerShdw>
              </a:effectLst>
              <a:latin typeface="方正粗黑宋简体" panose="02000000000000000000" charset="-122"/>
              <a:ea typeface="方正粗黑宋简体" panose="02000000000000000000" charset="-122"/>
              <a:cs typeface="方正粗黑宋简体" panose="02000000000000000000" charset="-122"/>
              <a:sym typeface="+mn-ea"/>
            </a:endParaRPr>
          </a:p>
        </p:txBody>
      </p:sp>
      <p:sp>
        <p:nvSpPr>
          <p:cNvPr id="64" name="文本框 63"/>
          <p:cNvSpPr txBox="1"/>
          <p:nvPr/>
        </p:nvSpPr>
        <p:spPr>
          <a:xfrm>
            <a:off x="3647440" y="4345940"/>
            <a:ext cx="738505" cy="368935"/>
          </a:xfrm>
          <a:prstGeom prst="rect">
            <a:avLst/>
          </a:prstGeom>
          <a:noFill/>
          <a:ln>
            <a:noFill/>
          </a:ln>
        </p:spPr>
        <p:txBody>
          <a:bodyPr wrap="square" lIns="0" tIns="0" rIns="0" bIns="0" rtlCol="0" anchor="t">
            <a:spAutoFit/>
          </a:bodyPr>
          <a:p>
            <a:pPr algn="ctr"/>
            <a:r>
              <a:rPr lang="en-US" altLang="zh-CN" sz="2400">
                <a:solidFill>
                  <a:schemeClr val="tx1"/>
                </a:solidFill>
                <a:latin typeface="方正粗黑宋简体" panose="02000000000000000000" charset="-122"/>
                <a:ea typeface="方正粗黑宋简体" panose="02000000000000000000" charset="-122"/>
                <a:cs typeface="方正粗黑宋简体" panose="02000000000000000000" charset="-122"/>
                <a:sym typeface="+mn-ea"/>
              </a:rPr>
              <a:t>t</a:t>
            </a:r>
            <a:r>
              <a:rPr lang="en-US" altLang="zh-CN" sz="1200">
                <a:solidFill>
                  <a:schemeClr val="tx1"/>
                </a:solidFill>
                <a:latin typeface="方正粗黑宋简体" panose="02000000000000000000" charset="-122"/>
                <a:ea typeface="方正粗黑宋简体" panose="02000000000000000000" charset="-122"/>
                <a:cs typeface="方正粗黑宋简体" panose="02000000000000000000" charset="-122"/>
                <a:sym typeface="+mn-ea"/>
              </a:rPr>
              <a:t>2</a:t>
            </a:r>
            <a:endParaRPr lang="en-US" altLang="zh-CN" sz="1200" b="1" dirty="0">
              <a:solidFill>
                <a:schemeClr val="tx1"/>
              </a:solidFill>
              <a:effectLst>
                <a:outerShdw blurRad="38100" dist="38100" dir="2700000" algn="tl">
                  <a:srgbClr val="000000">
                    <a:alpha val="43137"/>
                  </a:srgbClr>
                </a:outerShdw>
              </a:effectLst>
              <a:latin typeface="方正粗黑宋简体" panose="02000000000000000000" charset="-122"/>
              <a:ea typeface="方正粗黑宋简体" panose="02000000000000000000" charset="-122"/>
              <a:cs typeface="方正粗黑宋简体" panose="02000000000000000000" charset="-122"/>
              <a:sym typeface="+mn-ea"/>
            </a:endParaRPr>
          </a:p>
        </p:txBody>
      </p:sp>
      <p:sp>
        <p:nvSpPr>
          <p:cNvPr id="65" name="文本框 64"/>
          <p:cNvSpPr txBox="1"/>
          <p:nvPr/>
        </p:nvSpPr>
        <p:spPr>
          <a:xfrm>
            <a:off x="4540885" y="4349750"/>
            <a:ext cx="738505" cy="368935"/>
          </a:xfrm>
          <a:prstGeom prst="rect">
            <a:avLst/>
          </a:prstGeom>
          <a:noFill/>
          <a:ln>
            <a:noFill/>
          </a:ln>
        </p:spPr>
        <p:txBody>
          <a:bodyPr wrap="square" lIns="0" tIns="0" rIns="0" bIns="0" rtlCol="0" anchor="t">
            <a:spAutoFit/>
          </a:bodyPr>
          <a:p>
            <a:pPr algn="ctr"/>
            <a:r>
              <a:rPr lang="en-US" altLang="zh-CN" sz="2400">
                <a:solidFill>
                  <a:schemeClr val="tx1"/>
                </a:solidFill>
                <a:latin typeface="方正粗黑宋简体" panose="02000000000000000000" charset="-122"/>
                <a:ea typeface="方正粗黑宋简体" panose="02000000000000000000" charset="-122"/>
                <a:cs typeface="方正粗黑宋简体" panose="02000000000000000000" charset="-122"/>
                <a:sym typeface="+mn-ea"/>
              </a:rPr>
              <a:t>t</a:t>
            </a:r>
            <a:r>
              <a:rPr lang="en-US" altLang="zh-CN" sz="1200">
                <a:solidFill>
                  <a:schemeClr val="tx1"/>
                </a:solidFill>
                <a:latin typeface="方正粗黑宋简体" panose="02000000000000000000" charset="-122"/>
                <a:ea typeface="方正粗黑宋简体" panose="02000000000000000000" charset="-122"/>
                <a:cs typeface="方正粗黑宋简体" panose="02000000000000000000" charset="-122"/>
                <a:sym typeface="+mn-ea"/>
              </a:rPr>
              <a:t>3</a:t>
            </a:r>
            <a:endParaRPr lang="en-US" altLang="zh-CN" sz="1200" b="1" dirty="0">
              <a:solidFill>
                <a:schemeClr val="tx1"/>
              </a:solidFill>
              <a:effectLst>
                <a:outerShdw blurRad="38100" dist="38100" dir="2700000" algn="tl">
                  <a:srgbClr val="000000">
                    <a:alpha val="43137"/>
                  </a:srgbClr>
                </a:outerShdw>
              </a:effectLst>
              <a:latin typeface="方正粗黑宋简体" panose="02000000000000000000" charset="-122"/>
              <a:ea typeface="方正粗黑宋简体" panose="02000000000000000000" charset="-122"/>
              <a:cs typeface="方正粗黑宋简体" panose="02000000000000000000" charset="-122"/>
              <a:sym typeface="+mn-ea"/>
            </a:endParaRPr>
          </a:p>
        </p:txBody>
      </p:sp>
      <p:sp>
        <p:nvSpPr>
          <p:cNvPr id="66" name="文本框 65"/>
          <p:cNvSpPr txBox="1"/>
          <p:nvPr/>
        </p:nvSpPr>
        <p:spPr>
          <a:xfrm>
            <a:off x="5503545" y="4349750"/>
            <a:ext cx="738505" cy="368935"/>
          </a:xfrm>
          <a:prstGeom prst="rect">
            <a:avLst/>
          </a:prstGeom>
          <a:noFill/>
          <a:ln>
            <a:noFill/>
          </a:ln>
        </p:spPr>
        <p:txBody>
          <a:bodyPr wrap="square" lIns="0" tIns="0" rIns="0" bIns="0" rtlCol="0" anchor="t">
            <a:spAutoFit/>
          </a:bodyPr>
          <a:p>
            <a:pPr algn="ctr"/>
            <a:r>
              <a:rPr lang="en-US" altLang="zh-CN" sz="2400">
                <a:solidFill>
                  <a:schemeClr val="tx1"/>
                </a:solidFill>
                <a:latin typeface="方正粗黑宋简体" panose="02000000000000000000" charset="-122"/>
                <a:ea typeface="方正粗黑宋简体" panose="02000000000000000000" charset="-122"/>
                <a:cs typeface="方正粗黑宋简体" panose="02000000000000000000" charset="-122"/>
                <a:sym typeface="+mn-ea"/>
              </a:rPr>
              <a:t>t</a:t>
            </a:r>
            <a:r>
              <a:rPr lang="en-US" altLang="zh-CN" sz="1200">
                <a:solidFill>
                  <a:schemeClr val="tx1"/>
                </a:solidFill>
                <a:latin typeface="方正粗黑宋简体" panose="02000000000000000000" charset="-122"/>
                <a:ea typeface="方正粗黑宋简体" panose="02000000000000000000" charset="-122"/>
                <a:cs typeface="方正粗黑宋简体" panose="02000000000000000000" charset="-122"/>
                <a:sym typeface="+mn-ea"/>
              </a:rPr>
              <a:t>4</a:t>
            </a:r>
            <a:endParaRPr lang="en-US" altLang="zh-CN" sz="1200" b="1" dirty="0">
              <a:solidFill>
                <a:schemeClr val="tx1"/>
              </a:solidFill>
              <a:effectLst>
                <a:outerShdw blurRad="38100" dist="38100" dir="2700000" algn="tl">
                  <a:srgbClr val="000000">
                    <a:alpha val="43137"/>
                  </a:srgbClr>
                </a:outerShdw>
              </a:effectLst>
              <a:latin typeface="方正粗黑宋简体" panose="02000000000000000000" charset="-122"/>
              <a:ea typeface="方正粗黑宋简体" panose="02000000000000000000" charset="-122"/>
              <a:cs typeface="方正粗黑宋简体" panose="02000000000000000000" charset="-122"/>
              <a:sym typeface="+mn-ea"/>
            </a:endParaRPr>
          </a:p>
        </p:txBody>
      </p:sp>
      <p:sp>
        <p:nvSpPr>
          <p:cNvPr id="67" name="文本框 66"/>
          <p:cNvSpPr txBox="1"/>
          <p:nvPr/>
        </p:nvSpPr>
        <p:spPr>
          <a:xfrm>
            <a:off x="6499860" y="4349750"/>
            <a:ext cx="738505" cy="368935"/>
          </a:xfrm>
          <a:prstGeom prst="rect">
            <a:avLst/>
          </a:prstGeom>
          <a:noFill/>
          <a:ln>
            <a:noFill/>
          </a:ln>
        </p:spPr>
        <p:txBody>
          <a:bodyPr wrap="square" lIns="0" tIns="0" rIns="0" bIns="0" rtlCol="0" anchor="t">
            <a:spAutoFit/>
          </a:bodyPr>
          <a:p>
            <a:pPr algn="ctr"/>
            <a:r>
              <a:rPr lang="en-US" altLang="zh-CN" sz="2400">
                <a:solidFill>
                  <a:schemeClr val="tx1"/>
                </a:solidFill>
                <a:latin typeface="方正粗黑宋简体" panose="02000000000000000000" charset="-122"/>
                <a:ea typeface="方正粗黑宋简体" panose="02000000000000000000" charset="-122"/>
                <a:cs typeface="方正粗黑宋简体" panose="02000000000000000000" charset="-122"/>
                <a:sym typeface="+mn-ea"/>
              </a:rPr>
              <a:t>t</a:t>
            </a:r>
            <a:r>
              <a:rPr lang="en-US" altLang="zh-CN" sz="1200">
                <a:solidFill>
                  <a:schemeClr val="tx1"/>
                </a:solidFill>
                <a:latin typeface="方正粗黑宋简体" panose="02000000000000000000" charset="-122"/>
                <a:ea typeface="方正粗黑宋简体" panose="02000000000000000000" charset="-122"/>
                <a:cs typeface="方正粗黑宋简体" panose="02000000000000000000" charset="-122"/>
                <a:sym typeface="+mn-ea"/>
              </a:rPr>
              <a:t>5</a:t>
            </a:r>
            <a:endParaRPr lang="en-US" altLang="zh-CN" sz="1200" b="1" dirty="0">
              <a:solidFill>
                <a:schemeClr val="tx1"/>
              </a:solidFill>
              <a:effectLst>
                <a:outerShdw blurRad="38100" dist="38100" dir="2700000" algn="tl">
                  <a:srgbClr val="000000">
                    <a:alpha val="43137"/>
                  </a:srgbClr>
                </a:outerShdw>
              </a:effectLst>
              <a:latin typeface="方正粗黑宋简体" panose="02000000000000000000" charset="-122"/>
              <a:ea typeface="方正粗黑宋简体" panose="02000000000000000000" charset="-122"/>
              <a:cs typeface="方正粗黑宋简体" panose="02000000000000000000" charset="-122"/>
              <a:sym typeface="+mn-ea"/>
            </a:endParaRPr>
          </a:p>
        </p:txBody>
      </p:sp>
      <p:sp>
        <p:nvSpPr>
          <p:cNvPr id="68" name="文本框 67"/>
          <p:cNvSpPr txBox="1"/>
          <p:nvPr/>
        </p:nvSpPr>
        <p:spPr>
          <a:xfrm>
            <a:off x="7449820" y="4349750"/>
            <a:ext cx="738505" cy="368935"/>
          </a:xfrm>
          <a:prstGeom prst="rect">
            <a:avLst/>
          </a:prstGeom>
          <a:noFill/>
          <a:ln>
            <a:noFill/>
          </a:ln>
        </p:spPr>
        <p:txBody>
          <a:bodyPr wrap="square" lIns="0" tIns="0" rIns="0" bIns="0" rtlCol="0" anchor="t">
            <a:spAutoFit/>
          </a:bodyPr>
          <a:p>
            <a:pPr algn="ctr"/>
            <a:r>
              <a:rPr lang="en-US" altLang="zh-CN" sz="2400">
                <a:solidFill>
                  <a:schemeClr val="tx1"/>
                </a:solidFill>
                <a:latin typeface="方正粗黑宋简体" panose="02000000000000000000" charset="-122"/>
                <a:ea typeface="方正粗黑宋简体" panose="02000000000000000000" charset="-122"/>
                <a:cs typeface="方正粗黑宋简体" panose="02000000000000000000" charset="-122"/>
                <a:sym typeface="+mn-ea"/>
              </a:rPr>
              <a:t>t</a:t>
            </a:r>
            <a:r>
              <a:rPr lang="en-US" altLang="zh-CN" sz="1200">
                <a:solidFill>
                  <a:schemeClr val="tx1"/>
                </a:solidFill>
                <a:latin typeface="方正粗黑宋简体" panose="02000000000000000000" charset="-122"/>
                <a:ea typeface="方正粗黑宋简体" panose="02000000000000000000" charset="-122"/>
                <a:cs typeface="方正粗黑宋简体" panose="02000000000000000000" charset="-122"/>
                <a:sym typeface="+mn-ea"/>
              </a:rPr>
              <a:t>6</a:t>
            </a:r>
            <a:endParaRPr lang="en-US" altLang="zh-CN" sz="1200" b="1" dirty="0">
              <a:solidFill>
                <a:schemeClr val="tx1"/>
              </a:solidFill>
              <a:effectLst>
                <a:outerShdw blurRad="38100" dist="38100" dir="2700000" algn="tl">
                  <a:srgbClr val="000000">
                    <a:alpha val="43137"/>
                  </a:srgbClr>
                </a:outerShdw>
              </a:effectLst>
              <a:latin typeface="方正粗黑宋简体" panose="02000000000000000000" charset="-122"/>
              <a:ea typeface="方正粗黑宋简体" panose="02000000000000000000" charset="-122"/>
              <a:cs typeface="方正粗黑宋简体" panose="02000000000000000000" charset="-122"/>
              <a:sym typeface="+mn-ea"/>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001395" y="544830"/>
            <a:ext cx="5095240" cy="521970"/>
          </a:xfrm>
          <a:prstGeom prst="rect">
            <a:avLst/>
          </a:prstGeom>
        </p:spPr>
        <p:txBody>
          <a:bodyPr wrap="square">
            <a:spAutoFit/>
          </a:bodyPr>
          <a:p>
            <a:r>
              <a:rPr lang="en-US" altLang="zh-CN" sz="2800" b="0">
                <a:solidFill>
                  <a:srgbClr val="002060"/>
                </a:solidFill>
                <a:latin typeface="方正大黑简体" panose="02000000000000000000" charset="-122"/>
                <a:ea typeface="方正大黑简体" panose="02000000000000000000" charset="-122"/>
                <a:cs typeface="方正大黑简体" panose="02000000000000000000" charset="-122"/>
              </a:rPr>
              <a:t>1.2 </a:t>
            </a:r>
            <a:r>
              <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rPr>
              <a:t>操作系统的发展历程</a:t>
            </a:r>
            <a:endPar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15" name="文本框 14"/>
          <p:cNvSpPr txBox="1"/>
          <p:nvPr/>
        </p:nvSpPr>
        <p:spPr>
          <a:xfrm>
            <a:off x="1452880" y="1417320"/>
            <a:ext cx="1945640" cy="476250"/>
          </a:xfrm>
          <a:prstGeom prst="rect">
            <a:avLst/>
          </a:prstGeom>
          <a:noFill/>
        </p:spPr>
        <p:txBody>
          <a:bodyPr wrap="square" rtlCol="0">
            <a:noAutofit/>
          </a:bodyPr>
          <a:lstStyle/>
          <a:p>
            <a:pPr indent="0">
              <a:buFont typeface="Wingdings" panose="05000000000000000000" charset="0"/>
              <a:buNone/>
            </a:pPr>
            <a:r>
              <a:rPr lang="zh-CN" altLang="en-US" sz="2000" b="1" dirty="0">
                <a:solidFill>
                  <a:srgbClr val="6C0000"/>
                </a:solidFill>
                <a:latin typeface="黑体" panose="02010609060101010101" charset="-122"/>
                <a:ea typeface="黑体" panose="02010609060101010101" charset="-122"/>
                <a:cs typeface="黑体" panose="02010609060101010101" charset="-122"/>
              </a:rPr>
              <a:t>分时系统阶段</a:t>
            </a:r>
            <a:endParaRPr lang="en-US" altLang="zh-CN" sz="2000" b="1" dirty="0">
              <a:solidFill>
                <a:srgbClr val="6C0000"/>
              </a:solidFill>
              <a:latin typeface="黑体" panose="02010609060101010101" charset="-122"/>
              <a:ea typeface="黑体" panose="02010609060101010101" charset="-122"/>
              <a:cs typeface="黑体" panose="02010609060101010101" charset="-122"/>
            </a:endParaRPr>
          </a:p>
          <a:p>
            <a:pPr marL="342900" indent="-342900">
              <a:buFont typeface="Wingdings" panose="05000000000000000000" charset="0"/>
              <a:buChar char="n"/>
            </a:pPr>
            <a:endParaRPr lang="en-US" altLang="zh-CN" sz="2000" b="1" dirty="0">
              <a:latin typeface="黑体" panose="02010609060101010101" charset="-122"/>
              <a:ea typeface="黑体" panose="02010609060101010101" charset="-122"/>
              <a:cs typeface="黑体" panose="02010609060101010101" charset="-122"/>
            </a:endParaRPr>
          </a:p>
          <a:p>
            <a:r>
              <a:rPr lang="en-US" altLang="zh-CN" sz="2000" b="1" dirty="0">
                <a:latin typeface="黑体" panose="02010609060101010101" charset="-122"/>
                <a:ea typeface="黑体" panose="02010609060101010101" charset="-122"/>
                <a:cs typeface="黑体" panose="02010609060101010101" charset="-122"/>
              </a:rPr>
              <a:t> </a:t>
            </a:r>
            <a:endParaRPr lang="zh-CN" altLang="en-US" sz="2000" b="1" dirty="0">
              <a:latin typeface="黑体" panose="02010609060101010101" charset="-122"/>
              <a:ea typeface="黑体" panose="02010609060101010101" charset="-122"/>
              <a:cs typeface="黑体" panose="02010609060101010101" charset="-122"/>
            </a:endParaRPr>
          </a:p>
        </p:txBody>
      </p:sp>
      <p:sp>
        <p:nvSpPr>
          <p:cNvPr id="6" name="文本框 5"/>
          <p:cNvSpPr txBox="1"/>
          <p:nvPr/>
        </p:nvSpPr>
        <p:spPr>
          <a:xfrm>
            <a:off x="1452929" y="1786080"/>
            <a:ext cx="8329930" cy="1014730"/>
          </a:xfrm>
          <a:prstGeom prst="rect">
            <a:avLst/>
          </a:prstGeom>
          <a:noFill/>
        </p:spPr>
        <p:txBody>
          <a:bodyPr wrap="none" rtlCol="0">
            <a:spAutoFit/>
          </a:bodyPr>
          <a:lstStyle/>
          <a:p>
            <a:r>
              <a:rPr lang="en-US" altLang="zh-CN" sz="2000" dirty="0">
                <a:solidFill>
                  <a:schemeClr val="tx1"/>
                </a:solidFill>
                <a:latin typeface="黑体" panose="02010609060101010101" charset="-122"/>
                <a:ea typeface="黑体" panose="02010609060101010101" charset="-122"/>
                <a:cs typeface="黑体" panose="02010609060101010101" charset="-122"/>
              </a:rPr>
              <a:t>1970</a:t>
            </a:r>
            <a:r>
              <a:rPr lang="zh-CN" altLang="zh-CN" sz="2000" dirty="0">
                <a:solidFill>
                  <a:schemeClr val="tx1"/>
                </a:solidFill>
                <a:latin typeface="黑体" panose="02010609060101010101" charset="-122"/>
                <a:ea typeface="黑体" panose="02010609060101010101" charset="-122"/>
                <a:cs typeface="黑体" panose="02010609060101010101" charset="-122"/>
              </a:rPr>
              <a:t>年代后期</a:t>
            </a:r>
            <a:r>
              <a:rPr lang="en-US" altLang="zh-CN" sz="2000" dirty="0">
                <a:solidFill>
                  <a:schemeClr val="tx1"/>
                </a:solidFill>
                <a:latin typeface="黑体" panose="02010609060101010101" charset="-122"/>
                <a:ea typeface="黑体" panose="02010609060101010101" charset="-122"/>
                <a:cs typeface="黑体" panose="02010609060101010101" charset="-122"/>
              </a:rPr>
              <a:t>~</a:t>
            </a:r>
            <a:r>
              <a:rPr lang="zh-CN" altLang="zh-CN" sz="2000" dirty="0">
                <a:solidFill>
                  <a:schemeClr val="tx1"/>
                </a:solidFill>
                <a:latin typeface="黑体" panose="02010609060101010101" charset="-122"/>
                <a:ea typeface="黑体" panose="02010609060101010101" charset="-122"/>
                <a:cs typeface="黑体" panose="02010609060101010101" charset="-122"/>
              </a:rPr>
              <a:t>现在：第</a:t>
            </a:r>
            <a:r>
              <a:rPr lang="en-US" altLang="zh-CN" sz="2000" dirty="0">
                <a:solidFill>
                  <a:schemeClr val="tx1"/>
                </a:solidFill>
                <a:latin typeface="黑体" panose="02010609060101010101" charset="-122"/>
                <a:ea typeface="黑体" panose="02010609060101010101" charset="-122"/>
                <a:cs typeface="黑体" panose="02010609060101010101" charset="-122"/>
              </a:rPr>
              <a:t>4</a:t>
            </a:r>
            <a:r>
              <a:rPr lang="zh-CN" altLang="zh-CN" sz="2000" dirty="0">
                <a:solidFill>
                  <a:schemeClr val="tx1"/>
                </a:solidFill>
                <a:latin typeface="黑体" panose="02010609060101010101" charset="-122"/>
                <a:ea typeface="黑体" panose="02010609060101010101" charset="-122"/>
                <a:cs typeface="黑体" panose="02010609060101010101" charset="-122"/>
              </a:rPr>
              <a:t>代计算机，大规模集成电路和超大规模集成</a:t>
            </a:r>
            <a:endParaRPr lang="en-US" altLang="zh-CN" sz="2000" dirty="0">
              <a:solidFill>
                <a:schemeClr val="tx1"/>
              </a:solidFill>
              <a:latin typeface="黑体" panose="02010609060101010101" charset="-122"/>
              <a:ea typeface="黑体" panose="02010609060101010101" charset="-122"/>
              <a:cs typeface="黑体" panose="02010609060101010101" charset="-122"/>
            </a:endParaRPr>
          </a:p>
          <a:p>
            <a:r>
              <a:rPr lang="zh-CN" altLang="zh-CN" sz="2000" dirty="0">
                <a:solidFill>
                  <a:schemeClr val="tx1"/>
                </a:solidFill>
                <a:latin typeface="黑体" panose="02010609060101010101" charset="-122"/>
                <a:ea typeface="黑体" panose="02010609060101010101" charset="-122"/>
                <a:cs typeface="黑体" panose="02010609060101010101" charset="-122"/>
              </a:rPr>
              <a:t>电路是硬件的主流，</a:t>
            </a:r>
            <a:r>
              <a:rPr lang="zh-CN" altLang="zh-CN" sz="2000" b="1" dirty="0">
                <a:solidFill>
                  <a:srgbClr val="C00000"/>
                </a:solidFill>
                <a:latin typeface="黑体" panose="02010609060101010101" charset="-122"/>
                <a:ea typeface="黑体" panose="02010609060101010101" charset="-122"/>
                <a:cs typeface="黑体" panose="02010609060101010101" charset="-122"/>
              </a:rPr>
              <a:t>分时系统、实时系统、嵌入式系统</a:t>
            </a:r>
            <a:r>
              <a:rPr lang="zh-CN" altLang="zh-CN" sz="2000" dirty="0">
                <a:solidFill>
                  <a:schemeClr val="tx1"/>
                </a:solidFill>
                <a:latin typeface="黑体" panose="02010609060101010101" charset="-122"/>
                <a:ea typeface="黑体" panose="02010609060101010101" charset="-122"/>
                <a:cs typeface="黑体" panose="02010609060101010101" charset="-122"/>
              </a:rPr>
              <a:t>等适应不同应用场</a:t>
            </a:r>
            <a:endParaRPr lang="en-US" altLang="zh-CN" sz="2000" dirty="0">
              <a:solidFill>
                <a:schemeClr val="tx1"/>
              </a:solidFill>
              <a:latin typeface="黑体" panose="02010609060101010101" charset="-122"/>
              <a:ea typeface="黑体" panose="02010609060101010101" charset="-122"/>
              <a:cs typeface="黑体" panose="02010609060101010101" charset="-122"/>
            </a:endParaRPr>
          </a:p>
          <a:p>
            <a:r>
              <a:rPr lang="zh-CN" altLang="zh-CN" sz="2000" dirty="0">
                <a:solidFill>
                  <a:schemeClr val="tx1"/>
                </a:solidFill>
                <a:latin typeface="黑体" panose="02010609060101010101" charset="-122"/>
                <a:ea typeface="黑体" panose="02010609060101010101" charset="-122"/>
                <a:cs typeface="黑体" panose="02010609060101010101" charset="-122"/>
              </a:rPr>
              <a:t>景的操作系统相继涌现。</a:t>
            </a:r>
            <a:endParaRPr lang="zh-CN" altLang="zh-CN" sz="2000" dirty="0">
              <a:solidFill>
                <a:schemeClr val="tx1"/>
              </a:solidFill>
              <a:latin typeface="黑体" panose="02010609060101010101" charset="-122"/>
              <a:ea typeface="黑体" panose="02010609060101010101" charset="-122"/>
              <a:cs typeface="黑体" panose="02010609060101010101" charset="-122"/>
            </a:endParaRPr>
          </a:p>
        </p:txBody>
      </p:sp>
      <p:grpSp>
        <p:nvGrpSpPr>
          <p:cNvPr id="7" name="组合 6"/>
          <p:cNvGrpSpPr/>
          <p:nvPr/>
        </p:nvGrpSpPr>
        <p:grpSpPr>
          <a:xfrm>
            <a:off x="5901690" y="2527300"/>
            <a:ext cx="4185285" cy="3230880"/>
            <a:chOff x="0" y="145415"/>
            <a:chExt cx="2255405" cy="2107565"/>
          </a:xfrm>
        </p:grpSpPr>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64680" y="145415"/>
              <a:ext cx="1990725" cy="1990725"/>
            </a:xfrm>
            <a:prstGeom prst="rect">
              <a:avLst/>
            </a:prstGeom>
          </p:spPr>
        </p:pic>
        <p:sp>
          <p:nvSpPr>
            <p:cNvPr id="9" name="矩形 8"/>
            <p:cNvSpPr/>
            <p:nvPr/>
          </p:nvSpPr>
          <p:spPr>
            <a:xfrm>
              <a:off x="0" y="2019300"/>
              <a:ext cx="2189480" cy="23368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Autofit/>
            </a:bodyPr>
            <a:lstStyle/>
            <a:p>
              <a:pPr algn="ctr">
                <a:spcAft>
                  <a:spcPts val="0"/>
                </a:spcAft>
              </a:pPr>
              <a:r>
                <a:rPr lang="zh-CN" altLang="en-US" sz="1600"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第</a:t>
              </a:r>
              <a:r>
                <a:rPr lang="en-US" sz="1600"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4</a:t>
              </a:r>
              <a:r>
                <a:rPr lang="zh-CN" altLang="en-US" sz="1600"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代计算机</a:t>
              </a:r>
              <a:endParaRPr lang="zh-CN" altLang="en-US" sz="1600" kern="100" dirty="0">
                <a:ea typeface="宋体" panose="02010600030101010101" pitchFamily="2" charset="-122"/>
                <a:cs typeface="Times New Roman" panose="02020603050405020304" pitchFamily="18" charset="0"/>
              </a:endParaRPr>
            </a:p>
          </p:txBody>
        </p:sp>
      </p:grpSp>
      <p:sp>
        <p:nvSpPr>
          <p:cNvPr id="14" name="圆角矩形 13"/>
          <p:cNvSpPr/>
          <p:nvPr/>
        </p:nvSpPr>
        <p:spPr>
          <a:xfrm>
            <a:off x="1603898" y="3151049"/>
            <a:ext cx="4082223" cy="1804727"/>
          </a:xfrm>
          <a:prstGeom prst="roundRect">
            <a:avLst/>
          </a:prstGeom>
          <a:ln>
            <a:solidFill>
              <a:schemeClr val="tx1"/>
            </a:solidFill>
          </a:ln>
        </p:spPr>
        <p:txBody>
          <a:bodyPr wrap="square">
            <a:spAutoFit/>
          </a:bodyPr>
          <a:lstStyle/>
          <a:p>
            <a:r>
              <a:rPr lang="zh-CN" altLang="zh-CN" sz="2000" kern="0" dirty="0">
                <a:latin typeface="黑体" panose="02010609060101010101" charset="-122"/>
                <a:ea typeface="黑体" panose="02010609060101010101" charset="-122"/>
                <a:cs typeface="宋体" panose="02010600030101010101" pitchFamily="2" charset="-122"/>
              </a:rPr>
              <a:t>微型计算机体积小，价格便宜，使用方便</a:t>
            </a:r>
            <a:r>
              <a:rPr lang="zh-CN" altLang="zh-CN" sz="2000" dirty="0">
                <a:latin typeface="黑体" panose="02010609060101010101" charset="-122"/>
                <a:ea typeface="黑体" panose="02010609060101010101" charset="-122"/>
                <a:cs typeface="Arial" panose="020B0604020202020204" pitchFamily="34" charset="0"/>
              </a:rPr>
              <a:t>，掀起了计算机大普及的浪潮。</a:t>
            </a:r>
            <a:r>
              <a:rPr lang="zh-CN" altLang="zh-CN" sz="2000" kern="0" dirty="0">
                <a:latin typeface="黑体" panose="02010609060101010101" charset="-122"/>
                <a:ea typeface="黑体" panose="02010609060101010101" charset="-122"/>
                <a:cs typeface="宋体" panose="02010600030101010101" pitchFamily="2" charset="-122"/>
              </a:rPr>
              <a:t>软件方面出现了数据库管理系统、网络管理系统和面向对象语言等</a:t>
            </a:r>
            <a:endParaRPr lang="zh-CN" altLang="en-US" sz="2000" dirty="0">
              <a:latin typeface="黑体" panose="02010609060101010101" charset="-122"/>
              <a:ea typeface="黑体" panose="02010609060101010101" charset="-122"/>
            </a:endParaRPr>
          </a:p>
        </p:txBody>
      </p:sp>
      <p:sp>
        <p:nvSpPr>
          <p:cNvPr id="2" name="文本框 1"/>
          <p:cNvSpPr txBox="1"/>
          <p:nvPr/>
        </p:nvSpPr>
        <p:spPr>
          <a:xfrm>
            <a:off x="1452880" y="1066800"/>
            <a:ext cx="2743835" cy="369570"/>
          </a:xfrm>
          <a:prstGeom prst="rect">
            <a:avLst/>
          </a:prstGeom>
          <a:noFill/>
        </p:spPr>
        <p:txBody>
          <a:bodyPr wrap="square" rtlCol="0">
            <a:noAutofit/>
          </a:bodyPr>
          <a:lstStyle/>
          <a:p>
            <a:pPr marL="342900" indent="-342900">
              <a:buFont typeface="Wingdings" panose="05000000000000000000" charset="0"/>
              <a:buChar char="n"/>
            </a:pPr>
            <a:r>
              <a:rPr lang="zh-CN" altLang="en-US" sz="2000" b="1" dirty="0">
                <a:solidFill>
                  <a:srgbClr val="6C0000"/>
                </a:solidFill>
                <a:latin typeface="华文行楷" panose="02010800040101010101" charset="-122"/>
                <a:ea typeface="华文行楷" panose="02010800040101010101" charset="-122"/>
                <a:cs typeface="华文行楷" panose="02010800040101010101" charset="-122"/>
              </a:rPr>
              <a:t>快速发展阶段</a:t>
            </a:r>
            <a:r>
              <a:rPr lang="en-US" altLang="zh-CN" sz="2000" b="1" dirty="0">
                <a:solidFill>
                  <a:srgbClr val="6C0000"/>
                </a:solidFill>
                <a:latin typeface="华文行楷" panose="02010800040101010101" charset="-122"/>
                <a:ea typeface="华文行楷" panose="02010800040101010101" charset="-122"/>
                <a:cs typeface="华文行楷" panose="02010800040101010101" charset="-122"/>
                <a:sym typeface="+mn-ea"/>
              </a:rPr>
              <a:t> </a:t>
            </a:r>
            <a:endParaRPr lang="en-US" altLang="zh-CN" sz="2000" b="1" dirty="0">
              <a:latin typeface="华文行楷" panose="02010800040101010101" charset="-122"/>
              <a:ea typeface="华文行楷" panose="02010800040101010101" charset="-122"/>
              <a:cs typeface="华文行楷" panose="02010800040101010101" charset="-122"/>
            </a:endParaRPr>
          </a:p>
          <a:p>
            <a:r>
              <a:rPr lang="en-US" altLang="zh-CN" sz="2000" b="1" dirty="0">
                <a:latin typeface="华文行楷" panose="02010800040101010101" charset="-122"/>
                <a:ea typeface="华文行楷" panose="02010800040101010101" charset="-122"/>
                <a:cs typeface="华文行楷" panose="02010800040101010101" charset="-122"/>
              </a:rPr>
              <a:t> </a:t>
            </a:r>
            <a:endParaRPr lang="zh-CN" altLang="en-US" sz="2000" b="1" dirty="0">
              <a:latin typeface="华文行楷" panose="02010800040101010101" charset="-122"/>
              <a:ea typeface="华文行楷" panose="02010800040101010101" charset="-122"/>
              <a:cs typeface="华文行楷" panose="02010800040101010101"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001395" y="544830"/>
            <a:ext cx="5095240" cy="521970"/>
          </a:xfrm>
          <a:prstGeom prst="rect">
            <a:avLst/>
          </a:prstGeom>
        </p:spPr>
        <p:txBody>
          <a:bodyPr wrap="square">
            <a:spAutoFit/>
          </a:bodyPr>
          <a:p>
            <a:r>
              <a:rPr lang="en-US" altLang="zh-CN" sz="2800" b="0">
                <a:solidFill>
                  <a:srgbClr val="002060"/>
                </a:solidFill>
                <a:latin typeface="方正大黑简体" panose="02000000000000000000" charset="-122"/>
                <a:ea typeface="方正大黑简体" panose="02000000000000000000" charset="-122"/>
                <a:cs typeface="方正大黑简体" panose="02000000000000000000" charset="-122"/>
              </a:rPr>
              <a:t>1.2 </a:t>
            </a:r>
            <a:r>
              <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rPr>
              <a:t>操作系统的发展历程</a:t>
            </a:r>
            <a:endPar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15" name="文本框 14"/>
          <p:cNvSpPr txBox="1"/>
          <p:nvPr/>
        </p:nvSpPr>
        <p:spPr>
          <a:xfrm>
            <a:off x="1344930" y="1381125"/>
            <a:ext cx="2602230" cy="494030"/>
          </a:xfrm>
          <a:prstGeom prst="rect">
            <a:avLst/>
          </a:prstGeom>
          <a:noFill/>
        </p:spPr>
        <p:txBody>
          <a:bodyPr wrap="square" rtlCol="0">
            <a:noAutofit/>
          </a:bodyPr>
          <a:lstStyle/>
          <a:p>
            <a:pPr indent="0">
              <a:buFont typeface="Wingdings" panose="05000000000000000000" charset="0"/>
              <a:buNone/>
            </a:pPr>
            <a:r>
              <a:rPr lang="zh-CN" altLang="en-US" sz="2000" b="1" dirty="0">
                <a:solidFill>
                  <a:srgbClr val="6C0000"/>
                </a:solidFill>
                <a:latin typeface="黑体" panose="02010609060101010101" charset="-122"/>
                <a:ea typeface="黑体" panose="02010609060101010101" charset="-122"/>
                <a:cs typeface="黑体" panose="02010609060101010101" charset="-122"/>
              </a:rPr>
              <a:t>分时系统阶段</a:t>
            </a:r>
            <a:r>
              <a:rPr lang="zh-CN" altLang="en-US" sz="2000" b="1" dirty="0">
                <a:solidFill>
                  <a:srgbClr val="6C0000"/>
                </a:solidFill>
                <a:latin typeface="黑体" panose="02010609060101010101" charset="-122"/>
                <a:ea typeface="黑体" panose="02010609060101010101" charset="-122"/>
                <a:cs typeface="黑体" panose="02010609060101010101" charset="-122"/>
                <a:sym typeface="+mn-ea"/>
              </a:rPr>
              <a:t>（续）</a:t>
            </a:r>
            <a:endParaRPr lang="en-US" altLang="zh-CN" sz="2000" b="1" dirty="0">
              <a:solidFill>
                <a:srgbClr val="6C0000"/>
              </a:solidFill>
              <a:latin typeface="黑体" panose="02010609060101010101" charset="-122"/>
              <a:ea typeface="黑体" panose="02010609060101010101" charset="-122"/>
              <a:cs typeface="黑体" panose="02010609060101010101" charset="-122"/>
            </a:endParaRPr>
          </a:p>
          <a:p>
            <a:pPr marL="342900" indent="-342900">
              <a:buFont typeface="Wingdings" panose="05000000000000000000" charset="0"/>
              <a:buChar char="n"/>
            </a:pPr>
            <a:endParaRPr lang="en-US" altLang="zh-CN" sz="2000" b="1" dirty="0">
              <a:latin typeface="黑体" panose="02010609060101010101" charset="-122"/>
              <a:ea typeface="黑体" panose="02010609060101010101" charset="-122"/>
              <a:cs typeface="黑体" panose="02010609060101010101" charset="-122"/>
            </a:endParaRPr>
          </a:p>
          <a:p>
            <a:r>
              <a:rPr lang="en-US" altLang="zh-CN" sz="2000" b="1" dirty="0">
                <a:latin typeface="黑体" panose="02010609060101010101" charset="-122"/>
                <a:ea typeface="黑体" panose="02010609060101010101" charset="-122"/>
                <a:cs typeface="黑体" panose="02010609060101010101" charset="-122"/>
              </a:rPr>
              <a:t> </a:t>
            </a:r>
            <a:endParaRPr lang="zh-CN" altLang="en-US" sz="2000" b="1" dirty="0">
              <a:latin typeface="黑体" panose="02010609060101010101" charset="-122"/>
              <a:ea typeface="黑体" panose="02010609060101010101" charset="-122"/>
              <a:cs typeface="黑体" panose="02010609060101010101" charset="-122"/>
            </a:endParaRPr>
          </a:p>
        </p:txBody>
      </p:sp>
      <p:sp>
        <p:nvSpPr>
          <p:cNvPr id="2" name="矩形 1"/>
          <p:cNvSpPr/>
          <p:nvPr/>
        </p:nvSpPr>
        <p:spPr>
          <a:xfrm>
            <a:off x="1793930" y="1693068"/>
            <a:ext cx="7920880" cy="398780"/>
          </a:xfrm>
          <a:prstGeom prst="rect">
            <a:avLst/>
          </a:prstGeom>
        </p:spPr>
        <p:txBody>
          <a:bodyPr wrap="square">
            <a:spAutoFit/>
          </a:bodyPr>
          <a:lstStyle/>
          <a:p>
            <a:r>
              <a:rPr lang="zh-CN" altLang="en-US" sz="2000" dirty="0">
                <a:solidFill>
                  <a:schemeClr val="tx1"/>
                </a:solidFill>
                <a:latin typeface="黑体" panose="02010609060101010101" charset="-122"/>
                <a:ea typeface="黑体" panose="02010609060101010101" charset="-122"/>
                <a:cs typeface="黑体" panose="02010609060101010101" charset="-122"/>
              </a:rPr>
              <a:t>在</a:t>
            </a:r>
            <a:r>
              <a:rPr lang="en-US" altLang="zh-CN" sz="2000" dirty="0">
                <a:solidFill>
                  <a:schemeClr val="tx1"/>
                </a:solidFill>
                <a:latin typeface="黑体" panose="02010609060101010101" charset="-122"/>
                <a:ea typeface="黑体" panose="02010609060101010101" charset="-122"/>
                <a:cs typeface="黑体" panose="02010609060101010101" charset="-122"/>
              </a:rPr>
              <a:t>1983</a:t>
            </a:r>
            <a:r>
              <a:rPr lang="zh-CN" altLang="en-US" sz="2000" dirty="0">
                <a:solidFill>
                  <a:schemeClr val="tx1"/>
                </a:solidFill>
                <a:latin typeface="黑体" panose="02010609060101010101" charset="-122"/>
                <a:ea typeface="黑体" panose="02010609060101010101" charset="-122"/>
                <a:cs typeface="黑体" panose="02010609060101010101" charset="-122"/>
              </a:rPr>
              <a:t>年我国研制出了</a:t>
            </a:r>
            <a:r>
              <a:rPr lang="en-US" altLang="zh-CN" sz="2000" dirty="0">
                <a:solidFill>
                  <a:schemeClr val="tx1"/>
                </a:solidFill>
                <a:latin typeface="黑体" panose="02010609060101010101" charset="-122"/>
                <a:ea typeface="黑体" panose="02010609060101010101" charset="-122"/>
                <a:cs typeface="黑体" panose="02010609060101010101" charset="-122"/>
              </a:rPr>
              <a:t>“</a:t>
            </a:r>
            <a:r>
              <a:rPr lang="zh-CN" altLang="en-US" sz="2000" dirty="0">
                <a:solidFill>
                  <a:schemeClr val="tx1"/>
                </a:solidFill>
                <a:latin typeface="黑体" panose="02010609060101010101" charset="-122"/>
                <a:ea typeface="黑体" panose="02010609060101010101" charset="-122"/>
                <a:cs typeface="黑体" panose="02010609060101010101" charset="-122"/>
              </a:rPr>
              <a:t>银河</a:t>
            </a:r>
            <a:r>
              <a:rPr lang="en-US" altLang="zh-CN" sz="2000" dirty="0">
                <a:solidFill>
                  <a:schemeClr val="tx1"/>
                </a:solidFill>
                <a:latin typeface="黑体" panose="02010609060101010101" charset="-122"/>
                <a:ea typeface="黑体" panose="02010609060101010101" charset="-122"/>
                <a:cs typeface="黑体" panose="02010609060101010101" charset="-122"/>
              </a:rPr>
              <a:t>-I”</a:t>
            </a:r>
            <a:r>
              <a:rPr lang="zh-CN" altLang="en-US" sz="2000" dirty="0">
                <a:solidFill>
                  <a:schemeClr val="tx1"/>
                </a:solidFill>
                <a:latin typeface="黑体" panose="02010609060101010101" charset="-122"/>
                <a:ea typeface="黑体" panose="02010609060101010101" charset="-122"/>
                <a:cs typeface="黑体" panose="02010609060101010101" charset="-122"/>
              </a:rPr>
              <a:t>，这是我国第一台亿次超级计算机</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550035" y="2345690"/>
            <a:ext cx="3712210" cy="2487930"/>
          </a:xfrm>
          <a:prstGeom prst="rect">
            <a:avLst/>
          </a:prstGeom>
        </p:spPr>
      </p:pic>
      <p:sp>
        <p:nvSpPr>
          <p:cNvPr id="3" name="圆角矩形 2"/>
          <p:cNvSpPr/>
          <p:nvPr/>
        </p:nvSpPr>
        <p:spPr>
          <a:xfrm>
            <a:off x="1236345" y="5087620"/>
            <a:ext cx="9790430" cy="1124416"/>
          </a:xfrm>
          <a:prstGeom prst="roundRect">
            <a:avLst/>
          </a:prstGeom>
          <a:ln>
            <a:solidFill>
              <a:schemeClr val="tx1"/>
            </a:solidFill>
          </a:ln>
        </p:spPr>
        <p:txBody>
          <a:bodyPr wrap="square">
            <a:spAutoFit/>
          </a:bodyPr>
          <a:lstStyle/>
          <a:p>
            <a:r>
              <a:rPr lang="en-US" altLang="zh-CN" sz="2000" dirty="0">
                <a:solidFill>
                  <a:srgbClr val="262525"/>
                </a:solidFill>
                <a:latin typeface="黑体" panose="02010609060101010101" charset="-122"/>
                <a:ea typeface="黑体" panose="02010609060101010101" charset="-122"/>
              </a:rPr>
              <a:t>    </a:t>
            </a:r>
            <a:r>
              <a:rPr lang="zh-CN" altLang="en-US" sz="2000" dirty="0">
                <a:solidFill>
                  <a:srgbClr val="262525"/>
                </a:solidFill>
                <a:latin typeface="黑体" panose="02010609060101010101" charset="-122"/>
                <a:ea typeface="黑体" panose="02010609060101010101" charset="-122"/>
              </a:rPr>
              <a:t>它的诞生打破了西方在高性能计算领域对中国的技术封锁，被誉为</a:t>
            </a:r>
            <a:r>
              <a:rPr lang="en-US" altLang="zh-CN" sz="2000" dirty="0">
                <a:solidFill>
                  <a:srgbClr val="C00000"/>
                </a:solidFill>
                <a:latin typeface="黑体" panose="02010609060101010101" charset="-122"/>
                <a:ea typeface="黑体" panose="02010609060101010101" charset="-122"/>
              </a:rPr>
              <a:t>“</a:t>
            </a:r>
            <a:r>
              <a:rPr lang="zh-CN" altLang="en-US" sz="2000" dirty="0">
                <a:solidFill>
                  <a:srgbClr val="C00000"/>
                </a:solidFill>
                <a:latin typeface="黑体" panose="02010609060101010101" charset="-122"/>
                <a:ea typeface="黑体" panose="02010609060101010101" charset="-122"/>
              </a:rPr>
              <a:t>争气机</a:t>
            </a:r>
            <a:r>
              <a:rPr lang="en-US" altLang="zh-CN" sz="2000" dirty="0">
                <a:solidFill>
                  <a:srgbClr val="C00000"/>
                </a:solidFill>
                <a:latin typeface="黑体" panose="02010609060101010101" charset="-122"/>
                <a:ea typeface="黑体" panose="02010609060101010101" charset="-122"/>
              </a:rPr>
              <a:t>”</a:t>
            </a:r>
            <a:r>
              <a:rPr lang="zh-CN" altLang="en-US" sz="2000" dirty="0">
                <a:solidFill>
                  <a:srgbClr val="262525"/>
                </a:solidFill>
                <a:latin typeface="黑体" panose="02010609060101010101" charset="-122"/>
                <a:ea typeface="黑体" panose="02010609060101010101" charset="-122"/>
              </a:rPr>
              <a:t>，是中国计算机发展史上一个里程碑式的成就。为后续的银河</a:t>
            </a:r>
            <a:r>
              <a:rPr lang="en-US" altLang="zh-CN" sz="2000" dirty="0">
                <a:solidFill>
                  <a:srgbClr val="262525"/>
                </a:solidFill>
                <a:latin typeface="黑体" panose="02010609060101010101" charset="-122"/>
                <a:ea typeface="黑体" panose="02010609060101010101" charset="-122"/>
              </a:rPr>
              <a:t>-III</a:t>
            </a:r>
            <a:r>
              <a:rPr lang="zh-CN" altLang="en-US" sz="2000" dirty="0">
                <a:solidFill>
                  <a:srgbClr val="262525"/>
                </a:solidFill>
                <a:latin typeface="黑体" panose="02010609060101010101" charset="-122"/>
                <a:ea typeface="黑体" panose="02010609060101010101" charset="-122"/>
              </a:rPr>
              <a:t>、银河</a:t>
            </a:r>
            <a:r>
              <a:rPr lang="en-US" altLang="zh-CN" sz="2000" dirty="0">
                <a:solidFill>
                  <a:srgbClr val="262525"/>
                </a:solidFill>
                <a:latin typeface="黑体" panose="02010609060101010101" charset="-122"/>
                <a:ea typeface="黑体" panose="02010609060101010101" charset="-122"/>
              </a:rPr>
              <a:t>-IV</a:t>
            </a:r>
            <a:r>
              <a:rPr lang="zh-CN" altLang="en-US" sz="2000" dirty="0">
                <a:solidFill>
                  <a:srgbClr val="262525"/>
                </a:solidFill>
                <a:latin typeface="黑体" panose="02010609060101010101" charset="-122"/>
                <a:ea typeface="黑体" panose="02010609060101010101" charset="-122"/>
              </a:rPr>
              <a:t>，以及当今世界领先的</a:t>
            </a:r>
            <a:r>
              <a:rPr lang="en-US" altLang="zh-CN" sz="2000" dirty="0">
                <a:solidFill>
                  <a:srgbClr val="262525"/>
                </a:solidFill>
                <a:latin typeface="黑体" panose="02010609060101010101" charset="-122"/>
                <a:ea typeface="黑体" panose="02010609060101010101" charset="-122"/>
              </a:rPr>
              <a:t>“</a:t>
            </a:r>
            <a:r>
              <a:rPr lang="zh-CN" altLang="en-US" sz="2000" dirty="0">
                <a:solidFill>
                  <a:srgbClr val="262525"/>
                </a:solidFill>
                <a:latin typeface="黑体" panose="02010609060101010101" charset="-122"/>
                <a:ea typeface="黑体" panose="02010609060101010101" charset="-122"/>
              </a:rPr>
              <a:t>天河</a:t>
            </a:r>
            <a:r>
              <a:rPr lang="en-US" altLang="zh-CN" sz="2000" dirty="0">
                <a:solidFill>
                  <a:srgbClr val="262525"/>
                </a:solidFill>
                <a:latin typeface="黑体" panose="02010609060101010101" charset="-122"/>
                <a:ea typeface="黑体" panose="02010609060101010101" charset="-122"/>
              </a:rPr>
              <a:t>”</a:t>
            </a:r>
            <a:r>
              <a:rPr lang="zh-CN" altLang="en-US" sz="2000" dirty="0">
                <a:solidFill>
                  <a:srgbClr val="262525"/>
                </a:solidFill>
                <a:latin typeface="黑体" panose="02010609060101010101" charset="-122"/>
                <a:ea typeface="黑体" panose="02010609060101010101" charset="-122"/>
              </a:rPr>
              <a:t>系列和</a:t>
            </a:r>
            <a:r>
              <a:rPr lang="en-US" altLang="zh-CN" sz="2000" dirty="0">
                <a:solidFill>
                  <a:srgbClr val="262525"/>
                </a:solidFill>
                <a:latin typeface="黑体" panose="02010609060101010101" charset="-122"/>
                <a:ea typeface="黑体" panose="02010609060101010101" charset="-122"/>
              </a:rPr>
              <a:t>“</a:t>
            </a:r>
            <a:r>
              <a:rPr lang="zh-CN" altLang="en-US" sz="2000" dirty="0">
                <a:solidFill>
                  <a:srgbClr val="262525"/>
                </a:solidFill>
                <a:latin typeface="黑体" panose="02010609060101010101" charset="-122"/>
                <a:ea typeface="黑体" panose="02010609060101010101" charset="-122"/>
              </a:rPr>
              <a:t>神威</a:t>
            </a:r>
            <a:r>
              <a:rPr lang="en-US" altLang="zh-CN" sz="2000" dirty="0">
                <a:solidFill>
                  <a:srgbClr val="262525"/>
                </a:solidFill>
                <a:latin typeface="黑体" panose="02010609060101010101" charset="-122"/>
                <a:ea typeface="黑体" panose="02010609060101010101" charset="-122"/>
              </a:rPr>
              <a:t>”</a:t>
            </a:r>
            <a:r>
              <a:rPr lang="zh-CN" altLang="en-US" sz="2000" dirty="0">
                <a:solidFill>
                  <a:srgbClr val="262525"/>
                </a:solidFill>
                <a:latin typeface="黑体" panose="02010609060101010101" charset="-122"/>
                <a:ea typeface="黑体" panose="02010609060101010101" charset="-122"/>
              </a:rPr>
              <a:t>系列超级计算机开辟了道路。</a:t>
            </a:r>
            <a:endParaRPr lang="zh-CN" altLang="en-US" sz="2000" dirty="0">
              <a:solidFill>
                <a:srgbClr val="262525"/>
              </a:solidFill>
              <a:latin typeface="黑体" panose="02010609060101010101" charset="-122"/>
              <a:ea typeface="黑体" panose="02010609060101010101" charset="-122"/>
            </a:endParaRPr>
          </a:p>
        </p:txBody>
      </p:sp>
      <p:sp>
        <p:nvSpPr>
          <p:cNvPr id="10" name="文本框 9"/>
          <p:cNvSpPr txBox="1"/>
          <p:nvPr/>
        </p:nvSpPr>
        <p:spPr>
          <a:xfrm>
            <a:off x="5577205" y="2521585"/>
            <a:ext cx="5603240" cy="1983740"/>
          </a:xfrm>
          <a:prstGeom prst="rect">
            <a:avLst/>
          </a:prstGeom>
          <a:ln>
            <a:solidFill>
              <a:srgbClr val="002060"/>
            </a:solidFill>
          </a:ln>
        </p:spPr>
        <p:txBody>
          <a:bodyPr wrap="square">
            <a:spAutoFit/>
          </a:bodyPr>
          <a:p>
            <a:pPr marL="0" indent="0" algn="l">
              <a:lnSpc>
                <a:spcPct val="150000"/>
              </a:lnSpc>
            </a:pPr>
            <a:r>
              <a:rPr lang="zh-CN" altLang="en-US" b="0" i="0">
                <a:solidFill>
                  <a:srgbClr val="660000"/>
                </a:solidFill>
                <a:latin typeface="方正粗黑宋简体" panose="02000000000000000000" charset="-122"/>
                <a:ea typeface="方正粗黑宋简体" panose="02000000000000000000" charset="-122"/>
                <a:cs typeface="方正粗黑宋简体" panose="02000000000000000000" charset="-122"/>
              </a:rPr>
              <a:t>历史背景 </a:t>
            </a:r>
            <a:endParaRPr lang="zh-CN" altLang="en-US" b="0" i="0">
              <a:solidFill>
                <a:srgbClr val="660000"/>
              </a:solidFill>
              <a:latin typeface="方正粗黑宋简体" panose="02000000000000000000" charset="-122"/>
              <a:ea typeface="方正粗黑宋简体" panose="02000000000000000000" charset="-122"/>
              <a:cs typeface="方正粗黑宋简体" panose="02000000000000000000" charset="-122"/>
            </a:endParaRPr>
          </a:p>
          <a:p>
            <a:pPr marL="285750" indent="-285750" algn="l">
              <a:buFont typeface="Wingdings" panose="05000000000000000000" charset="0"/>
              <a:buChar char="p"/>
            </a:pPr>
            <a:r>
              <a:rPr lang="zh-CN" altLang="en-US" sz="1600" b="0" i="0">
                <a:solidFill>
                  <a:srgbClr val="333333"/>
                </a:solidFill>
                <a:latin typeface="方正粗黑宋简体" panose="02000000000000000000" charset="-122"/>
                <a:ea typeface="方正粗黑宋简体" panose="02000000000000000000" charset="-122"/>
                <a:cs typeface="方正粗黑宋简体" panose="02000000000000000000" charset="-122"/>
              </a:rPr>
              <a:t>由于国外技术封锁，中国急需独立自主研制高性能计算机，支撑国防与经济重大领域。 </a:t>
            </a:r>
            <a:endParaRPr lang="zh-CN" altLang="en-US" sz="1600" b="0" i="0">
              <a:solidFill>
                <a:srgbClr val="333333"/>
              </a:solidFill>
              <a:latin typeface="方正粗黑宋简体" panose="02000000000000000000" charset="-122"/>
              <a:ea typeface="方正粗黑宋简体" panose="02000000000000000000" charset="-122"/>
              <a:cs typeface="方正粗黑宋简体" panose="02000000000000000000" charset="-122"/>
            </a:endParaRPr>
          </a:p>
          <a:p>
            <a:pPr marL="285750" indent="-285750" algn="l">
              <a:buFont typeface="Wingdings" panose="05000000000000000000" charset="0"/>
              <a:buChar char="p"/>
            </a:pPr>
            <a:r>
              <a:rPr lang="zh-CN" altLang="en-US" sz="1600" b="0" i="0">
                <a:solidFill>
                  <a:srgbClr val="333333"/>
                </a:solidFill>
                <a:latin typeface="方正粗黑宋简体" panose="02000000000000000000" charset="-122"/>
                <a:ea typeface="方正粗黑宋简体" panose="02000000000000000000" charset="-122"/>
                <a:cs typeface="方正粗黑宋简体" panose="02000000000000000000" charset="-122"/>
              </a:rPr>
              <a:t>邓小平同志曾指出：“中国要搞四个现代化，不能没有巨型机！” </a:t>
            </a:r>
            <a:endParaRPr lang="zh-CN" altLang="en-US" sz="1600" b="0" i="0">
              <a:solidFill>
                <a:srgbClr val="333333"/>
              </a:solidFill>
              <a:latin typeface="方正粗黑宋简体" panose="02000000000000000000" charset="-122"/>
              <a:ea typeface="方正粗黑宋简体" panose="02000000000000000000" charset="-122"/>
              <a:cs typeface="方正粗黑宋简体" panose="02000000000000000000" charset="-122"/>
            </a:endParaRPr>
          </a:p>
          <a:p>
            <a:pPr marL="285750" indent="-285750" algn="l">
              <a:buFont typeface="Wingdings" panose="05000000000000000000" charset="0"/>
              <a:buChar char="p"/>
            </a:pPr>
            <a:r>
              <a:rPr lang="zh-CN" altLang="en-US" sz="1600" b="0" i="0">
                <a:solidFill>
                  <a:srgbClr val="333333"/>
                </a:solidFill>
                <a:latin typeface="方正粗黑宋简体" panose="02000000000000000000" charset="-122"/>
                <a:ea typeface="方正粗黑宋简体" panose="02000000000000000000" charset="-122"/>
                <a:cs typeface="方正粗黑宋简体" panose="02000000000000000000" charset="-122"/>
              </a:rPr>
              <a:t>国防科技大学慈云桂教授担任总指挥和总设计师，带领团队攻克多项关键技术，实现中国超算“零的突破”。</a:t>
            </a:r>
            <a:endParaRPr lang="zh-CN" altLang="en-US" sz="1600" b="0" i="0">
              <a:solidFill>
                <a:srgbClr val="333333"/>
              </a:solidFill>
              <a:latin typeface="方正粗黑宋简体" panose="02000000000000000000" charset="-122"/>
              <a:ea typeface="方正粗黑宋简体" panose="02000000000000000000" charset="-122"/>
              <a:cs typeface="方正粗黑宋简体" panose="02000000000000000000" charset="-122"/>
            </a:endParaRPr>
          </a:p>
        </p:txBody>
      </p:sp>
      <p:sp>
        <p:nvSpPr>
          <p:cNvPr id="6" name="文本框 5"/>
          <p:cNvSpPr txBox="1"/>
          <p:nvPr/>
        </p:nvSpPr>
        <p:spPr>
          <a:xfrm>
            <a:off x="1452880" y="1066800"/>
            <a:ext cx="2743835" cy="369570"/>
          </a:xfrm>
          <a:prstGeom prst="rect">
            <a:avLst/>
          </a:prstGeom>
          <a:noFill/>
        </p:spPr>
        <p:txBody>
          <a:bodyPr wrap="square" rtlCol="0">
            <a:noAutofit/>
          </a:bodyPr>
          <a:lstStyle/>
          <a:p>
            <a:pPr marL="342900" indent="-342900">
              <a:buFont typeface="Wingdings" panose="05000000000000000000" charset="0"/>
              <a:buChar char="n"/>
            </a:pPr>
            <a:r>
              <a:rPr lang="zh-CN" altLang="en-US" sz="2000" b="1" dirty="0">
                <a:solidFill>
                  <a:srgbClr val="6C0000"/>
                </a:solidFill>
                <a:latin typeface="华文行楷" panose="02010800040101010101" charset="-122"/>
                <a:ea typeface="华文行楷" panose="02010800040101010101" charset="-122"/>
                <a:cs typeface="华文行楷" panose="02010800040101010101" charset="-122"/>
              </a:rPr>
              <a:t>快速发展阶段</a:t>
            </a:r>
            <a:r>
              <a:rPr lang="zh-CN" altLang="en-US" sz="2000" b="1" dirty="0">
                <a:solidFill>
                  <a:srgbClr val="6C0000"/>
                </a:solidFill>
                <a:latin typeface="华文行楷" panose="02010800040101010101" charset="-122"/>
                <a:ea typeface="华文行楷" panose="02010800040101010101" charset="-122"/>
                <a:cs typeface="华文行楷" panose="02010800040101010101" charset="-122"/>
                <a:sym typeface="+mn-ea"/>
              </a:rPr>
              <a:t>（续）</a:t>
            </a:r>
            <a:endParaRPr lang="en-US" altLang="zh-CN" sz="2000" b="1" dirty="0">
              <a:solidFill>
                <a:srgbClr val="6C0000"/>
              </a:solidFill>
              <a:latin typeface="华文行楷" panose="02010800040101010101" charset="-122"/>
              <a:ea typeface="华文行楷" panose="02010800040101010101" charset="-122"/>
              <a:cs typeface="华文行楷" panose="02010800040101010101" charset="-122"/>
            </a:endParaRPr>
          </a:p>
          <a:p>
            <a:pPr marL="342900" indent="-342900">
              <a:buFont typeface="Wingdings" panose="05000000000000000000" charset="0"/>
              <a:buChar char="n"/>
            </a:pPr>
            <a:endParaRPr lang="en-US" altLang="zh-CN" sz="2000" b="1" dirty="0">
              <a:latin typeface="华文行楷" panose="02010800040101010101" charset="-122"/>
              <a:ea typeface="华文行楷" panose="02010800040101010101" charset="-122"/>
              <a:cs typeface="华文行楷" panose="02010800040101010101" charset="-122"/>
            </a:endParaRPr>
          </a:p>
          <a:p>
            <a:r>
              <a:rPr lang="en-US" altLang="zh-CN" sz="2000" b="1" dirty="0">
                <a:latin typeface="华文行楷" panose="02010800040101010101" charset="-122"/>
                <a:ea typeface="华文行楷" panose="02010800040101010101" charset="-122"/>
                <a:cs typeface="华文行楷" panose="02010800040101010101" charset="-122"/>
              </a:rPr>
              <a:t> </a:t>
            </a:r>
            <a:endParaRPr lang="zh-CN" altLang="en-US" sz="2000" b="1" dirty="0">
              <a:latin typeface="华文行楷" panose="02010800040101010101" charset="-122"/>
              <a:ea typeface="华文行楷" panose="02010800040101010101" charset="-122"/>
              <a:cs typeface="华文行楷" panose="02010800040101010101"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001395" y="544830"/>
            <a:ext cx="5095240" cy="521970"/>
          </a:xfrm>
          <a:prstGeom prst="rect">
            <a:avLst/>
          </a:prstGeom>
        </p:spPr>
        <p:txBody>
          <a:bodyPr wrap="square">
            <a:spAutoFit/>
          </a:bodyPr>
          <a:p>
            <a:r>
              <a:rPr lang="en-US" altLang="zh-CN" sz="2800" b="0">
                <a:solidFill>
                  <a:srgbClr val="002060"/>
                </a:solidFill>
                <a:latin typeface="方正大黑简体" panose="02000000000000000000" charset="-122"/>
                <a:ea typeface="方正大黑简体" panose="02000000000000000000" charset="-122"/>
                <a:cs typeface="方正大黑简体" panose="02000000000000000000" charset="-122"/>
              </a:rPr>
              <a:t>1.2 </a:t>
            </a:r>
            <a:r>
              <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rPr>
              <a:t>操作系统的发展历程</a:t>
            </a:r>
            <a:endPar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6" name="文本框 5"/>
          <p:cNvSpPr txBox="1"/>
          <p:nvPr/>
        </p:nvSpPr>
        <p:spPr>
          <a:xfrm>
            <a:off x="1330325" y="1696720"/>
            <a:ext cx="9175115" cy="843364"/>
          </a:xfrm>
          <a:prstGeom prst="roundRect">
            <a:avLst/>
          </a:prstGeom>
          <a:solidFill>
            <a:schemeClr val="bg1"/>
          </a:solidFill>
        </p:spPr>
        <p:txBody>
          <a:bodyPr wrap="square">
            <a:spAutoFit/>
          </a:bodyPr>
          <a:p>
            <a:pPr marL="0" indent="0"/>
            <a:r>
              <a:rPr lang="zh-CN" altLang="en-US" sz="2400" b="0" i="0">
                <a:solidFill>
                  <a:srgbClr val="C00000"/>
                </a:solidFill>
                <a:latin typeface="方正粗黑宋简体" panose="02000000000000000000" charset="-122"/>
                <a:ea typeface="方正粗黑宋简体" panose="02000000000000000000" charset="-122"/>
                <a:cs typeface="方正粗黑宋简体" panose="02000000000000000000" charset="-122"/>
              </a:rPr>
              <a:t>分时系统</a:t>
            </a:r>
            <a:r>
              <a:rPr lang="zh-CN" altLang="en-US" sz="2000" b="0" i="0">
                <a:solidFill>
                  <a:srgbClr val="002060"/>
                </a:solidFill>
                <a:latin typeface="方正粗黑宋简体" panose="02000000000000000000" charset="-122"/>
                <a:ea typeface="方正粗黑宋简体" panose="02000000000000000000" charset="-122"/>
                <a:cs typeface="方正粗黑宋简体" panose="02000000000000000000" charset="-122"/>
              </a:rPr>
              <a:t>将</a:t>
            </a:r>
            <a:r>
              <a:rPr lang="en-US" altLang="zh-CN" sz="2000" b="0" i="0">
                <a:solidFill>
                  <a:srgbClr val="002060"/>
                </a:solidFill>
                <a:latin typeface="方正粗黑宋简体" panose="02000000000000000000" charset="-122"/>
                <a:ea typeface="方正粗黑宋简体" panose="02000000000000000000" charset="-122"/>
                <a:cs typeface="方正粗黑宋简体" panose="02000000000000000000" charset="-122"/>
              </a:rPr>
              <a:t>CPU</a:t>
            </a:r>
            <a:r>
              <a:rPr lang="zh-CN" altLang="en-US" sz="2000" b="0" i="0">
                <a:solidFill>
                  <a:srgbClr val="002060"/>
                </a:solidFill>
                <a:latin typeface="方正粗黑宋简体" panose="02000000000000000000" charset="-122"/>
                <a:ea typeface="方正粗黑宋简体" panose="02000000000000000000" charset="-122"/>
                <a:cs typeface="方正粗黑宋简体" panose="02000000000000000000" charset="-122"/>
              </a:rPr>
              <a:t>时间划分为极短的片段（时间片），通过快速切换，让多个用户共享一台计算机，每个用户都感觉自己在独占机器。</a:t>
            </a:r>
            <a:endParaRPr lang="zh-CN" altLang="en-US" sz="2000" b="0" i="0">
              <a:solidFill>
                <a:srgbClr val="002060"/>
              </a:solidFill>
              <a:latin typeface="方正粗黑宋简体" panose="02000000000000000000" charset="-122"/>
              <a:ea typeface="方正粗黑宋简体" panose="02000000000000000000" charset="-122"/>
              <a:cs typeface="方正粗黑宋简体" panose="02000000000000000000" charset="-122"/>
            </a:endParaRPr>
          </a:p>
        </p:txBody>
      </p:sp>
      <p:sp>
        <p:nvSpPr>
          <p:cNvPr id="9" name="文本框 8" descr="7b0a202020202262756c6c6574223a20227b5c2263617465676f727949645c223a5c225c222c5c2274656d706c61746549645c223a32303233313634357d220a7d0a"/>
          <p:cNvSpPr txBox="1"/>
          <p:nvPr/>
        </p:nvSpPr>
        <p:spPr>
          <a:xfrm>
            <a:off x="1461770" y="4483735"/>
            <a:ext cx="8897620" cy="1463748"/>
          </a:xfrm>
          <a:prstGeom prst="roundRect">
            <a:avLst/>
          </a:prstGeom>
          <a:ln>
            <a:solidFill>
              <a:schemeClr val="tx1"/>
            </a:solidFill>
          </a:ln>
        </p:spPr>
        <p:txBody>
          <a:bodyPr wrap="square">
            <a:spAutoFit/>
          </a:bodyPr>
          <a:p>
            <a:pPr marL="342900" indent="-342900">
              <a:lnSpc>
                <a:spcPct val="100000"/>
              </a:lnSpc>
              <a:buFont typeface="Wingdings" panose="05000000000000000000" charset="0"/>
              <a:buBlip>
                <a:blip r:embed="rId1">
                  <a:extLst>
                    <a:ext uri="{96DAC541-7B7A-43D3-8B79-37D633B846F1}">
                      <asvg:svgBlip xmlns:asvg="http://schemas.microsoft.com/office/drawing/2016/SVG/main" r:embed="rId2"/>
                    </a:ext>
                  </a:extLst>
                </a:blip>
              </a:buBlip>
            </a:pPr>
            <a:r>
              <a:rPr lang="zh-CN" altLang="en-US" sz="2000" b="0" i="0">
                <a:solidFill>
                  <a:schemeClr val="tx1"/>
                </a:solidFill>
                <a:latin typeface="方正粗黑宋简体" panose="02000000000000000000" charset="-122"/>
                <a:ea typeface="方正粗黑宋简体" panose="02000000000000000000" charset="-122"/>
                <a:cs typeface="方正粗黑宋简体" panose="02000000000000000000" charset="-122"/>
              </a:rPr>
              <a:t>多路性：同时有多个用户使用一台计算机；微观上多个人在交替使用</a:t>
            </a:r>
            <a:r>
              <a:rPr lang="en-US" altLang="zh-CN" sz="2000" b="0" i="0">
                <a:solidFill>
                  <a:schemeClr val="tx1"/>
                </a:solidFill>
                <a:latin typeface="方正粗黑宋简体" panose="02000000000000000000" charset="-122"/>
                <a:ea typeface="方正粗黑宋简体" panose="02000000000000000000" charset="-122"/>
                <a:cs typeface="方正粗黑宋简体" panose="02000000000000000000" charset="-122"/>
              </a:rPr>
              <a:t>CPU</a:t>
            </a:r>
            <a:endParaRPr lang="en-US" altLang="zh-CN" sz="2000" b="0" i="0">
              <a:solidFill>
                <a:schemeClr val="tx1"/>
              </a:solidFill>
              <a:latin typeface="方正粗黑宋简体" panose="02000000000000000000" charset="-122"/>
              <a:ea typeface="方正粗黑宋简体" panose="02000000000000000000" charset="-122"/>
              <a:cs typeface="方正粗黑宋简体" panose="02000000000000000000" charset="-122"/>
            </a:endParaRPr>
          </a:p>
          <a:p>
            <a:pPr marL="342900" indent="-342900">
              <a:lnSpc>
                <a:spcPct val="100000"/>
              </a:lnSpc>
              <a:buFont typeface="Wingdings" panose="05000000000000000000" charset="0"/>
              <a:buBlip>
                <a:blip r:embed="rId1">
                  <a:extLst>
                    <a:ext uri="{96DAC541-7B7A-43D3-8B79-37D633B846F1}">
                      <asvg:svgBlip xmlns:asvg="http://schemas.microsoft.com/office/drawing/2016/SVG/main" r:embed="rId2"/>
                    </a:ext>
                  </a:extLst>
                </a:blip>
              </a:buBlip>
            </a:pPr>
            <a:r>
              <a:rPr lang="zh-CN" altLang="en-US" sz="2000" b="0" i="0">
                <a:solidFill>
                  <a:schemeClr val="tx1"/>
                </a:solidFill>
                <a:latin typeface="方正粗黑宋简体" panose="02000000000000000000" charset="-122"/>
                <a:ea typeface="方正粗黑宋简体" panose="02000000000000000000" charset="-122"/>
                <a:cs typeface="方正粗黑宋简体" panose="02000000000000000000" charset="-122"/>
              </a:rPr>
              <a:t>交互性：用户根据系统响应结果进一步提出新请求</a:t>
            </a:r>
            <a:endParaRPr lang="zh-CN" altLang="en-US" sz="2000" b="0" i="0">
              <a:solidFill>
                <a:schemeClr val="tx1"/>
              </a:solidFill>
              <a:latin typeface="方正粗黑宋简体" panose="02000000000000000000" charset="-122"/>
              <a:ea typeface="方正粗黑宋简体" panose="02000000000000000000" charset="-122"/>
              <a:cs typeface="方正粗黑宋简体" panose="02000000000000000000" charset="-122"/>
            </a:endParaRPr>
          </a:p>
          <a:p>
            <a:pPr marL="342900" indent="-342900">
              <a:lnSpc>
                <a:spcPct val="100000"/>
              </a:lnSpc>
              <a:buFont typeface="Wingdings" panose="05000000000000000000" charset="0"/>
              <a:buBlip>
                <a:blip r:embed="rId1">
                  <a:extLst>
                    <a:ext uri="{96DAC541-7B7A-43D3-8B79-37D633B846F1}">
                      <asvg:svgBlip xmlns:asvg="http://schemas.microsoft.com/office/drawing/2016/SVG/main" r:embed="rId2"/>
                    </a:ext>
                  </a:extLst>
                </a:blip>
              </a:buBlip>
            </a:pPr>
            <a:r>
              <a:rPr lang="zh-CN" altLang="en-US" sz="2000" b="0" i="0">
                <a:solidFill>
                  <a:schemeClr val="tx1"/>
                </a:solidFill>
                <a:latin typeface="方正粗黑宋简体" panose="02000000000000000000" charset="-122"/>
                <a:ea typeface="方正粗黑宋简体" panose="02000000000000000000" charset="-122"/>
                <a:cs typeface="方正粗黑宋简体" panose="02000000000000000000" charset="-122"/>
              </a:rPr>
              <a:t>独占性：用户感觉不到计算机为其他人服务</a:t>
            </a:r>
            <a:endParaRPr lang="zh-CN" altLang="en-US" sz="2000" b="0" i="0">
              <a:solidFill>
                <a:schemeClr val="tx1"/>
              </a:solidFill>
              <a:latin typeface="方正粗黑宋简体" panose="02000000000000000000" charset="-122"/>
              <a:ea typeface="方正粗黑宋简体" panose="02000000000000000000" charset="-122"/>
              <a:cs typeface="方正粗黑宋简体" panose="02000000000000000000" charset="-122"/>
            </a:endParaRPr>
          </a:p>
          <a:p>
            <a:pPr marL="342900" indent="-342900">
              <a:lnSpc>
                <a:spcPct val="100000"/>
              </a:lnSpc>
              <a:buFont typeface="Wingdings" panose="05000000000000000000" charset="0"/>
              <a:buBlip>
                <a:blip r:embed="rId1">
                  <a:extLst>
                    <a:ext uri="{96DAC541-7B7A-43D3-8B79-37D633B846F1}">
                      <asvg:svgBlip xmlns:asvg="http://schemas.microsoft.com/office/drawing/2016/SVG/main" r:embed="rId2"/>
                    </a:ext>
                  </a:extLst>
                </a:blip>
              </a:buBlip>
            </a:pPr>
            <a:r>
              <a:rPr lang="zh-CN" altLang="en-US" sz="2000" b="0" i="0">
                <a:solidFill>
                  <a:schemeClr val="tx1"/>
                </a:solidFill>
                <a:latin typeface="方正粗黑宋简体" panose="02000000000000000000" charset="-122"/>
                <a:ea typeface="方正粗黑宋简体" panose="02000000000000000000" charset="-122"/>
                <a:cs typeface="方正粗黑宋简体" panose="02000000000000000000" charset="-122"/>
              </a:rPr>
              <a:t>及时性：系统对用户提出的请求及时响应</a:t>
            </a:r>
            <a:endParaRPr lang="zh-CN" altLang="en-US" sz="2000" b="0" i="0">
              <a:solidFill>
                <a:schemeClr val="tx1"/>
              </a:solidFill>
              <a:latin typeface="方正粗黑宋简体" panose="02000000000000000000" charset="-122"/>
              <a:ea typeface="方正粗黑宋简体" panose="02000000000000000000" charset="-122"/>
              <a:cs typeface="方正粗黑宋简体" panose="02000000000000000000" charset="-122"/>
            </a:endParaRPr>
          </a:p>
        </p:txBody>
      </p:sp>
      <p:sp>
        <p:nvSpPr>
          <p:cNvPr id="7" name="文本框 6"/>
          <p:cNvSpPr txBox="1"/>
          <p:nvPr/>
        </p:nvSpPr>
        <p:spPr>
          <a:xfrm>
            <a:off x="1330325" y="3870325"/>
            <a:ext cx="783590" cy="368935"/>
          </a:xfrm>
          <a:prstGeom prst="rect">
            <a:avLst/>
          </a:prstGeom>
          <a:noFill/>
        </p:spPr>
        <p:txBody>
          <a:bodyPr wrap="square" lIns="0" tIns="0" rIns="0" bIns="0" rtlCol="0" anchor="t">
            <a:spAutoFit/>
          </a:bodyPr>
          <a:p>
            <a:pPr marL="0" indent="0"/>
            <a:r>
              <a:rPr lang="zh-CN" altLang="en-US" sz="2400" b="1" dirty="0">
                <a:solidFill>
                  <a:srgbClr val="660000"/>
                </a:solidFill>
                <a:effectLst>
                  <a:outerShdw blurRad="38100" dist="38100" dir="2700000" algn="tl">
                    <a:srgbClr val="000000">
                      <a:alpha val="43137"/>
                    </a:srgbClr>
                  </a:outerShdw>
                </a:effectLst>
                <a:latin typeface="方正粗黑宋简体" panose="02000000000000000000" charset="-122"/>
                <a:ea typeface="方正粗黑宋简体" panose="02000000000000000000" charset="-122"/>
                <a:cs typeface="方正粗黑宋简体" panose="02000000000000000000" charset="-122"/>
                <a:sym typeface="+mn-ea"/>
              </a:rPr>
              <a:t>特点</a:t>
            </a:r>
            <a:endParaRPr lang="zh-CN" altLang="en-US" sz="2400" b="1" dirty="0">
              <a:solidFill>
                <a:srgbClr val="660000"/>
              </a:solidFill>
              <a:effectLst>
                <a:outerShdw blurRad="38100" dist="38100" dir="2700000" algn="tl">
                  <a:srgbClr val="000000">
                    <a:alpha val="43137"/>
                  </a:srgbClr>
                </a:outerShdw>
              </a:effectLst>
              <a:latin typeface="方正粗黑宋简体" panose="02000000000000000000" charset="-122"/>
              <a:ea typeface="方正粗黑宋简体" panose="02000000000000000000" charset="-122"/>
              <a:cs typeface="方正粗黑宋简体" panose="02000000000000000000" charset="-122"/>
              <a:sym typeface="+mn-ea"/>
            </a:endParaRPr>
          </a:p>
        </p:txBody>
      </p:sp>
      <p:grpSp>
        <p:nvGrpSpPr>
          <p:cNvPr id="34" name="组合 33"/>
          <p:cNvGrpSpPr/>
          <p:nvPr>
            <p:custDataLst>
              <p:tags r:id="rId3"/>
            </p:custDataLst>
          </p:nvPr>
        </p:nvGrpSpPr>
        <p:grpSpPr>
          <a:xfrm rot="0">
            <a:off x="3966853" y="2561927"/>
            <a:ext cx="3090597" cy="1567082"/>
            <a:chOff x="2254" y="5805"/>
            <a:chExt cx="14722" cy="7464"/>
          </a:xfrm>
        </p:grpSpPr>
        <p:sp>
          <p:nvSpPr>
            <p:cNvPr id="36" name="任意多边形: 形状 59"/>
            <p:cNvSpPr/>
            <p:nvPr>
              <p:custDataLst>
                <p:tags r:id="rId4"/>
              </p:custDataLst>
            </p:nvPr>
          </p:nvSpPr>
          <p:spPr>
            <a:xfrm rot="16200000">
              <a:off x="5887" y="2180"/>
              <a:ext cx="7456" cy="14723"/>
            </a:xfrm>
            <a:custGeom>
              <a:avLst/>
              <a:gdLst>
                <a:gd name="connsiteX0" fmla="*/ 109049 w 3461997"/>
                <a:gd name="connsiteY0" fmla="*/ 151498 h 6837280"/>
                <a:gd name="connsiteX1" fmla="*/ 0 w 3461997"/>
                <a:gd name="connsiteY1" fmla="*/ 260547 h 6837280"/>
                <a:gd name="connsiteX2" fmla="*/ 0 w 3461997"/>
                <a:gd name="connsiteY2" fmla="*/ 6601007 h 6837280"/>
                <a:gd name="connsiteX3" fmla="*/ 236274 w 3461997"/>
                <a:gd name="connsiteY3" fmla="*/ 6837281 h 6837280"/>
                <a:gd name="connsiteX4" fmla="*/ 2238099 w 3461997"/>
                <a:gd name="connsiteY4" fmla="*/ 6837281 h 6837280"/>
                <a:gd name="connsiteX5" fmla="*/ 2356236 w 3461997"/>
                <a:gd name="connsiteY5" fmla="*/ 6719144 h 6837280"/>
                <a:gd name="connsiteX6" fmla="*/ 3089735 w 3461997"/>
                <a:gd name="connsiteY6" fmla="*/ 6719144 h 6837280"/>
                <a:gd name="connsiteX7" fmla="*/ 3221523 w 3461997"/>
                <a:gd name="connsiteY7" fmla="*/ 6587355 h 6837280"/>
                <a:gd name="connsiteX8" fmla="*/ 3221523 w 3461997"/>
                <a:gd name="connsiteY8" fmla="*/ 2509026 h 6837280"/>
                <a:gd name="connsiteX9" fmla="*/ 3461998 w 3461997"/>
                <a:gd name="connsiteY9" fmla="*/ 2268552 h 6837280"/>
                <a:gd name="connsiteX10" fmla="*/ 3461998 w 3461997"/>
                <a:gd name="connsiteY10" fmla="*/ 286517 h 6837280"/>
                <a:gd name="connsiteX11" fmla="*/ 3175480 w 3461997"/>
                <a:gd name="connsiteY11" fmla="*/ 0 h 6837280"/>
                <a:gd name="connsiteX12" fmla="*/ 1130318 w 3461997"/>
                <a:gd name="connsiteY12" fmla="*/ 0 h 6837280"/>
                <a:gd name="connsiteX13" fmla="*/ 985323 w 3461997"/>
                <a:gd name="connsiteY13" fmla="*/ 144995 h 6837280"/>
                <a:gd name="connsiteX14" fmla="*/ 109049 w 3461997"/>
                <a:gd name="connsiteY14" fmla="*/ 151498 h 6837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61997" h="6837280">
                  <a:moveTo>
                    <a:pt x="109049" y="151498"/>
                  </a:moveTo>
                  <a:lnTo>
                    <a:pt x="0" y="260547"/>
                  </a:lnTo>
                  <a:lnTo>
                    <a:pt x="0" y="6601007"/>
                  </a:lnTo>
                  <a:lnTo>
                    <a:pt x="236274" y="6837281"/>
                  </a:lnTo>
                  <a:lnTo>
                    <a:pt x="2238099" y="6837281"/>
                  </a:lnTo>
                  <a:lnTo>
                    <a:pt x="2356236" y="6719144"/>
                  </a:lnTo>
                  <a:lnTo>
                    <a:pt x="3089735" y="6719144"/>
                  </a:lnTo>
                  <a:lnTo>
                    <a:pt x="3221523" y="6587355"/>
                  </a:lnTo>
                  <a:lnTo>
                    <a:pt x="3221523" y="2509026"/>
                  </a:lnTo>
                  <a:lnTo>
                    <a:pt x="3461998" y="2268552"/>
                  </a:lnTo>
                  <a:lnTo>
                    <a:pt x="3461998" y="286517"/>
                  </a:lnTo>
                  <a:lnTo>
                    <a:pt x="3175480" y="0"/>
                  </a:lnTo>
                  <a:lnTo>
                    <a:pt x="1130318" y="0"/>
                  </a:lnTo>
                  <a:lnTo>
                    <a:pt x="985323" y="144995"/>
                  </a:lnTo>
                  <a:lnTo>
                    <a:pt x="109049" y="151498"/>
                  </a:lnTo>
                  <a:close/>
                </a:path>
              </a:pathLst>
            </a:custGeom>
            <a:gradFill flip="none" rotWithShape="1">
              <a:gsLst>
                <a:gs pos="51000">
                  <a:srgbClr val="016DFF">
                    <a:alpha val="0"/>
                  </a:srgbClr>
                </a:gs>
                <a:gs pos="2000">
                  <a:schemeClr val="accent1">
                    <a:alpha val="26000"/>
                  </a:schemeClr>
                </a:gs>
                <a:gs pos="100000">
                  <a:schemeClr val="accent1">
                    <a:alpha val="40000"/>
                  </a:schemeClr>
                </a:gs>
              </a:gsLst>
              <a:lin ang="8100000" scaled="1"/>
              <a:tileRect/>
            </a:gradFill>
            <a:ln w="6350" cap="flat">
              <a:solidFill>
                <a:schemeClr val="accent1">
                  <a:alpha val="63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black"/>
                </a:solidFill>
                <a:effectLst/>
                <a:uLnTx/>
                <a:uFillTx/>
                <a:latin typeface="思源黑体 CN Normal" panose="020B0400000000000000" charset="-122"/>
                <a:ea typeface="思源黑体 CN Normal" panose="020B0400000000000000" charset="-122"/>
              </a:endParaRPr>
            </a:p>
          </p:txBody>
        </p:sp>
        <p:sp>
          <p:nvSpPr>
            <p:cNvPr id="37" name="任意多边形: 形状 60"/>
            <p:cNvSpPr/>
            <p:nvPr>
              <p:custDataLst>
                <p:tags r:id="rId5"/>
              </p:custDataLst>
            </p:nvPr>
          </p:nvSpPr>
          <p:spPr>
            <a:xfrm rot="16200000">
              <a:off x="1383" y="12035"/>
              <a:ext cx="2104" cy="363"/>
            </a:xfrm>
            <a:custGeom>
              <a:avLst/>
              <a:gdLst>
                <a:gd name="connsiteX0" fmla="*/ 0 w 976235"/>
                <a:gd name="connsiteY0" fmla="*/ 144793 h 168380"/>
                <a:gd name="connsiteX1" fmla="*/ 0 w 976235"/>
                <a:gd name="connsiteY1" fmla="*/ 0 h 168380"/>
                <a:gd name="connsiteX2" fmla="*/ 976235 w 976235"/>
                <a:gd name="connsiteY2" fmla="*/ 0 h 168380"/>
                <a:gd name="connsiteX3" fmla="*/ 893317 w 976235"/>
                <a:gd name="connsiteY3" fmla="*/ 82918 h 168380"/>
                <a:gd name="connsiteX4" fmla="*/ 86553 w 976235"/>
                <a:gd name="connsiteY4" fmla="*/ 82918 h 168380"/>
                <a:gd name="connsiteX5" fmla="*/ 1090 w 976235"/>
                <a:gd name="connsiteY5" fmla="*/ 168380 h 168380"/>
                <a:gd name="connsiteX6" fmla="*/ 0 w 976235"/>
                <a:gd name="connsiteY6" fmla="*/ 144793 h 168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6235" h="168380">
                  <a:moveTo>
                    <a:pt x="0" y="144793"/>
                  </a:moveTo>
                  <a:lnTo>
                    <a:pt x="0" y="0"/>
                  </a:lnTo>
                  <a:lnTo>
                    <a:pt x="976235" y="0"/>
                  </a:lnTo>
                  <a:lnTo>
                    <a:pt x="893317" y="82918"/>
                  </a:lnTo>
                  <a:lnTo>
                    <a:pt x="86553" y="82918"/>
                  </a:lnTo>
                  <a:lnTo>
                    <a:pt x="1090" y="168380"/>
                  </a:lnTo>
                  <a:lnTo>
                    <a:pt x="0" y="144793"/>
                  </a:lnTo>
                  <a:close/>
                </a:path>
              </a:pathLst>
            </a:custGeom>
            <a:solidFill>
              <a:schemeClr val="accent1">
                <a:alpha val="38000"/>
              </a:schemeClr>
            </a:solidFill>
            <a:ln w="4038"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思源黑体 CN Normal" panose="020B0400000000000000" charset="-122"/>
                <a:ea typeface="思源黑体 CN Normal" panose="020B0400000000000000" charset="-122"/>
              </a:endParaRPr>
            </a:p>
          </p:txBody>
        </p:sp>
        <p:sp>
          <p:nvSpPr>
            <p:cNvPr id="40" name="任意多边形: 形状 62"/>
            <p:cNvSpPr/>
            <p:nvPr>
              <p:custDataLst>
                <p:tags r:id="rId6"/>
              </p:custDataLst>
            </p:nvPr>
          </p:nvSpPr>
          <p:spPr>
            <a:xfrm rot="16200000">
              <a:off x="7479" y="5702"/>
              <a:ext cx="341" cy="547"/>
            </a:xfrm>
            <a:custGeom>
              <a:avLst/>
              <a:gdLst>
                <a:gd name="connsiteX0" fmla="*/ 187000 w 188130"/>
                <a:gd name="connsiteY0" fmla="*/ 0 h 302349"/>
                <a:gd name="connsiteX1" fmla="*/ 0 w 188130"/>
                <a:gd name="connsiteY1" fmla="*/ 187000 h 302349"/>
                <a:gd name="connsiteX2" fmla="*/ 0 w 188130"/>
                <a:gd name="connsiteY2" fmla="*/ 302350 h 302349"/>
                <a:gd name="connsiteX3" fmla="*/ 188131 w 188130"/>
                <a:gd name="connsiteY3" fmla="*/ 114219 h 302349"/>
                <a:gd name="connsiteX4" fmla="*/ 187000 w 188130"/>
                <a:gd name="connsiteY4" fmla="*/ 0 h 302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8130" h="302349">
                  <a:moveTo>
                    <a:pt x="187000" y="0"/>
                  </a:moveTo>
                  <a:lnTo>
                    <a:pt x="0" y="187000"/>
                  </a:lnTo>
                  <a:lnTo>
                    <a:pt x="0" y="302350"/>
                  </a:lnTo>
                  <a:lnTo>
                    <a:pt x="188131" y="114219"/>
                  </a:lnTo>
                  <a:lnTo>
                    <a:pt x="187000" y="0"/>
                  </a:lnTo>
                  <a:close/>
                </a:path>
              </a:pathLst>
            </a:custGeom>
            <a:solidFill>
              <a:schemeClr val="accent1"/>
            </a:solidFill>
            <a:ln w="4038"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思源黑体 CN Normal" panose="020B0400000000000000" charset="-122"/>
                <a:ea typeface="思源黑体 CN Normal" panose="020B0400000000000000" charset="-122"/>
              </a:endParaRPr>
            </a:p>
          </p:txBody>
        </p:sp>
        <p:sp>
          <p:nvSpPr>
            <p:cNvPr id="42" name="任意多边形: 形状 63"/>
            <p:cNvSpPr/>
            <p:nvPr>
              <p:custDataLst>
                <p:tags r:id="rId7"/>
              </p:custDataLst>
            </p:nvPr>
          </p:nvSpPr>
          <p:spPr>
            <a:xfrm rot="16200000">
              <a:off x="9134" y="4417"/>
              <a:ext cx="341" cy="3118"/>
            </a:xfrm>
            <a:custGeom>
              <a:avLst/>
              <a:gdLst>
                <a:gd name="connsiteX0" fmla="*/ 187000 w 188130"/>
                <a:gd name="connsiteY0" fmla="*/ 0 h 302309"/>
                <a:gd name="connsiteX1" fmla="*/ 0 w 188130"/>
                <a:gd name="connsiteY1" fmla="*/ 187000 h 302309"/>
                <a:gd name="connsiteX2" fmla="*/ 0 w 188130"/>
                <a:gd name="connsiteY2" fmla="*/ 302309 h 302309"/>
                <a:gd name="connsiteX3" fmla="*/ 188131 w 188130"/>
                <a:gd name="connsiteY3" fmla="*/ 114179 h 302309"/>
                <a:gd name="connsiteX4" fmla="*/ 187000 w 188130"/>
                <a:gd name="connsiteY4" fmla="*/ 0 h 302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 h="1555">
                  <a:moveTo>
                    <a:pt x="169" y="0"/>
                  </a:moveTo>
                  <a:lnTo>
                    <a:pt x="0" y="169"/>
                  </a:lnTo>
                  <a:lnTo>
                    <a:pt x="0" y="273"/>
                  </a:lnTo>
                  <a:lnTo>
                    <a:pt x="170" y="103"/>
                  </a:lnTo>
                  <a:lnTo>
                    <a:pt x="169" y="0"/>
                  </a:lnTo>
                  <a:close/>
                  <a:moveTo>
                    <a:pt x="169" y="183"/>
                  </a:moveTo>
                  <a:lnTo>
                    <a:pt x="0" y="352"/>
                  </a:lnTo>
                  <a:lnTo>
                    <a:pt x="0" y="456"/>
                  </a:lnTo>
                  <a:lnTo>
                    <a:pt x="170" y="286"/>
                  </a:lnTo>
                  <a:lnTo>
                    <a:pt x="169" y="183"/>
                  </a:lnTo>
                  <a:close/>
                  <a:moveTo>
                    <a:pt x="169" y="366"/>
                  </a:moveTo>
                  <a:lnTo>
                    <a:pt x="0" y="535"/>
                  </a:lnTo>
                  <a:lnTo>
                    <a:pt x="0" y="639"/>
                  </a:lnTo>
                  <a:lnTo>
                    <a:pt x="170" y="469"/>
                  </a:lnTo>
                  <a:lnTo>
                    <a:pt x="169" y="366"/>
                  </a:lnTo>
                  <a:close/>
                  <a:moveTo>
                    <a:pt x="169" y="549"/>
                  </a:moveTo>
                  <a:lnTo>
                    <a:pt x="0" y="718"/>
                  </a:lnTo>
                  <a:lnTo>
                    <a:pt x="0" y="822"/>
                  </a:lnTo>
                  <a:lnTo>
                    <a:pt x="170" y="652"/>
                  </a:lnTo>
                  <a:lnTo>
                    <a:pt x="169" y="549"/>
                  </a:lnTo>
                  <a:close/>
                  <a:moveTo>
                    <a:pt x="169" y="732"/>
                  </a:moveTo>
                  <a:lnTo>
                    <a:pt x="0" y="901"/>
                  </a:lnTo>
                  <a:lnTo>
                    <a:pt x="0" y="1005"/>
                  </a:lnTo>
                  <a:lnTo>
                    <a:pt x="170" y="835"/>
                  </a:lnTo>
                  <a:lnTo>
                    <a:pt x="169" y="732"/>
                  </a:lnTo>
                  <a:close/>
                  <a:moveTo>
                    <a:pt x="169" y="915"/>
                  </a:moveTo>
                  <a:lnTo>
                    <a:pt x="0" y="1084"/>
                  </a:lnTo>
                  <a:lnTo>
                    <a:pt x="0" y="1188"/>
                  </a:lnTo>
                  <a:lnTo>
                    <a:pt x="170" y="1018"/>
                  </a:lnTo>
                  <a:lnTo>
                    <a:pt x="169" y="915"/>
                  </a:lnTo>
                  <a:close/>
                  <a:moveTo>
                    <a:pt x="169" y="1099"/>
                  </a:moveTo>
                  <a:lnTo>
                    <a:pt x="0" y="1268"/>
                  </a:lnTo>
                  <a:lnTo>
                    <a:pt x="0" y="1372"/>
                  </a:lnTo>
                  <a:lnTo>
                    <a:pt x="170" y="1202"/>
                  </a:lnTo>
                  <a:lnTo>
                    <a:pt x="169" y="1099"/>
                  </a:lnTo>
                  <a:close/>
                  <a:moveTo>
                    <a:pt x="169" y="1282"/>
                  </a:moveTo>
                  <a:lnTo>
                    <a:pt x="0" y="1451"/>
                  </a:lnTo>
                  <a:lnTo>
                    <a:pt x="0" y="1555"/>
                  </a:lnTo>
                  <a:lnTo>
                    <a:pt x="170" y="1385"/>
                  </a:lnTo>
                  <a:lnTo>
                    <a:pt x="169" y="1282"/>
                  </a:lnTo>
                  <a:close/>
                </a:path>
              </a:pathLst>
            </a:custGeom>
            <a:solidFill>
              <a:schemeClr val="accent1">
                <a:alpha val="33000"/>
              </a:schemeClr>
            </a:solidFill>
            <a:ln w="4038"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思源黑体 CN Normal" panose="020B0400000000000000" charset="-122"/>
                <a:ea typeface="思源黑体 CN Normal" panose="020B0400000000000000" charset="-122"/>
              </a:endParaRPr>
            </a:p>
          </p:txBody>
        </p:sp>
        <p:pic>
          <p:nvPicPr>
            <p:cNvPr id="43" name="图片 42" descr="7901717_"/>
            <p:cNvPicPr>
              <a:picLocks noChangeAspect="1"/>
            </p:cNvPicPr>
            <p:nvPr>
              <p:custDataLst>
                <p:tags r:id="rId8"/>
              </p:custDataLst>
            </p:nvPr>
          </p:nvPicPr>
          <p:blipFill>
            <a:blip r:embed="rId9" cstate="email"/>
            <a:srcRect t="11605" b="11605"/>
            <a:stretch>
              <a:fillRect/>
            </a:stretch>
          </p:blipFill>
          <p:spPr>
            <a:xfrm>
              <a:off x="2868" y="6715"/>
              <a:ext cx="13533" cy="6150"/>
            </a:xfrm>
            <a:custGeom>
              <a:avLst/>
              <a:gdLst/>
              <a:ahLst/>
              <a:cxnLst>
                <a:cxn ang="3">
                  <a:pos x="hc" y="t"/>
                </a:cxn>
                <a:cxn ang="cd2">
                  <a:pos x="l" y="vc"/>
                </a:cxn>
                <a:cxn ang="cd4">
                  <a:pos x="hc" y="b"/>
                </a:cxn>
                <a:cxn ang="0">
                  <a:pos x="r" y="vc"/>
                </a:cxn>
              </a:cxnLst>
              <a:rect l="l" t="t" r="r" b="b"/>
              <a:pathLst>
                <a:path w="6751" h="3068">
                  <a:moveTo>
                    <a:pt x="0" y="0"/>
                  </a:moveTo>
                  <a:lnTo>
                    <a:pt x="6751" y="0"/>
                  </a:lnTo>
                  <a:lnTo>
                    <a:pt x="6751" y="3068"/>
                  </a:lnTo>
                  <a:lnTo>
                    <a:pt x="0" y="3068"/>
                  </a:lnTo>
                  <a:lnTo>
                    <a:pt x="0" y="0"/>
                  </a:lnTo>
                  <a:close/>
                </a:path>
              </a:pathLst>
            </a:custGeom>
          </p:spPr>
        </p:pic>
      </p:grpSp>
      <p:sp>
        <p:nvSpPr>
          <p:cNvPr id="3" name="文本框 2"/>
          <p:cNvSpPr txBox="1"/>
          <p:nvPr/>
        </p:nvSpPr>
        <p:spPr>
          <a:xfrm>
            <a:off x="1452880" y="1304925"/>
            <a:ext cx="2743835" cy="369570"/>
          </a:xfrm>
          <a:prstGeom prst="rect">
            <a:avLst/>
          </a:prstGeom>
          <a:noFill/>
        </p:spPr>
        <p:txBody>
          <a:bodyPr wrap="square" rtlCol="0">
            <a:noAutofit/>
          </a:bodyPr>
          <a:lstStyle/>
          <a:p>
            <a:pPr marL="342900" indent="-342900">
              <a:buFont typeface="Wingdings" panose="05000000000000000000" charset="0"/>
              <a:buChar char="n"/>
            </a:pPr>
            <a:r>
              <a:rPr lang="zh-CN" altLang="en-US" sz="2000" b="1" dirty="0">
                <a:solidFill>
                  <a:srgbClr val="6C0000"/>
                </a:solidFill>
                <a:latin typeface="华文行楷" panose="02010800040101010101" charset="-122"/>
                <a:ea typeface="华文行楷" panose="02010800040101010101" charset="-122"/>
                <a:cs typeface="华文行楷" panose="02010800040101010101" charset="-122"/>
              </a:rPr>
              <a:t>快速发展阶段</a:t>
            </a:r>
            <a:r>
              <a:rPr lang="zh-CN" altLang="en-US" sz="2000" b="1" dirty="0">
                <a:solidFill>
                  <a:srgbClr val="6C0000"/>
                </a:solidFill>
                <a:latin typeface="华文行楷" panose="02010800040101010101" charset="-122"/>
                <a:ea typeface="华文行楷" panose="02010800040101010101" charset="-122"/>
                <a:cs typeface="华文行楷" panose="02010800040101010101" charset="-122"/>
                <a:sym typeface="+mn-ea"/>
              </a:rPr>
              <a:t>（续）</a:t>
            </a:r>
            <a:endParaRPr lang="en-US" altLang="zh-CN" sz="2000" b="1" dirty="0">
              <a:solidFill>
                <a:srgbClr val="6C0000"/>
              </a:solidFill>
              <a:latin typeface="华文行楷" panose="02010800040101010101" charset="-122"/>
              <a:ea typeface="华文行楷" panose="02010800040101010101" charset="-122"/>
              <a:cs typeface="华文行楷" panose="02010800040101010101" charset="-122"/>
            </a:endParaRPr>
          </a:p>
          <a:p>
            <a:pPr marL="342900" indent="-342900">
              <a:buFont typeface="Wingdings" panose="05000000000000000000" charset="0"/>
              <a:buChar char="n"/>
            </a:pPr>
            <a:endParaRPr lang="en-US" altLang="zh-CN" sz="2000" b="1" dirty="0">
              <a:latin typeface="华文行楷" panose="02010800040101010101" charset="-122"/>
              <a:ea typeface="华文行楷" panose="02010800040101010101" charset="-122"/>
              <a:cs typeface="华文行楷" panose="02010800040101010101" charset="-122"/>
            </a:endParaRPr>
          </a:p>
          <a:p>
            <a:r>
              <a:rPr lang="en-US" altLang="zh-CN" sz="2000" b="1" dirty="0">
                <a:latin typeface="华文行楷" panose="02010800040101010101" charset="-122"/>
                <a:ea typeface="华文行楷" panose="02010800040101010101" charset="-122"/>
                <a:cs typeface="华文行楷" panose="02010800040101010101" charset="-122"/>
              </a:rPr>
              <a:t> </a:t>
            </a:r>
            <a:endParaRPr lang="zh-CN" altLang="en-US" sz="2000" b="1" dirty="0">
              <a:latin typeface="华文行楷" panose="02010800040101010101" charset="-122"/>
              <a:ea typeface="华文行楷" panose="02010800040101010101" charset="-122"/>
              <a:cs typeface="华文行楷" panose="02010800040101010101"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001395" y="544830"/>
            <a:ext cx="5095240" cy="521970"/>
          </a:xfrm>
          <a:prstGeom prst="rect">
            <a:avLst/>
          </a:prstGeom>
        </p:spPr>
        <p:txBody>
          <a:bodyPr wrap="square">
            <a:spAutoFit/>
          </a:bodyPr>
          <a:p>
            <a:r>
              <a:rPr lang="en-US" altLang="zh-CN" sz="2800" b="0">
                <a:solidFill>
                  <a:srgbClr val="002060"/>
                </a:solidFill>
                <a:latin typeface="方正大黑简体" panose="02000000000000000000" charset="-122"/>
                <a:ea typeface="方正大黑简体" panose="02000000000000000000" charset="-122"/>
                <a:cs typeface="方正大黑简体" panose="02000000000000000000" charset="-122"/>
              </a:rPr>
              <a:t>1.2 </a:t>
            </a:r>
            <a:r>
              <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rPr>
              <a:t>操作系统的发展历程</a:t>
            </a:r>
            <a:endPar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11" name="文本框 10" descr="7b0a202020202262756c6c6574223a20227b5c2263617465676f727949645c223a5c225c222c5c2274656d706c61746549645c223a32303233313639367d220a7d0a"/>
          <p:cNvSpPr txBox="1"/>
          <p:nvPr/>
        </p:nvSpPr>
        <p:spPr>
          <a:xfrm>
            <a:off x="1701165" y="4622800"/>
            <a:ext cx="8897620" cy="1400175"/>
          </a:xfrm>
          <a:prstGeom prst="roundRect">
            <a:avLst/>
          </a:prstGeom>
          <a:ln>
            <a:solidFill>
              <a:schemeClr val="tx1"/>
            </a:solidFill>
          </a:ln>
        </p:spPr>
        <p:txBody>
          <a:bodyPr wrap="square">
            <a:noAutofit/>
          </a:bodyPr>
          <a:p>
            <a:pPr marL="214630" indent="-214630">
              <a:buFont typeface="Wingdings" panose="05000000000000000000" pitchFamily="2" charset="2"/>
              <a:buBlip>
                <a:blip r:embed="rId1">
                  <a:extLst>
                    <a:ext uri="{96DAC541-7B7A-43D3-8B79-37D633B846F1}">
                      <asvg:svgBlip xmlns:asvg="http://schemas.microsoft.com/office/drawing/2016/SVG/main" r:embed="rId2"/>
                    </a:ext>
                  </a:extLst>
                </a:blip>
              </a:buBlip>
            </a:pPr>
            <a:r>
              <a:rPr lang="zh-CN" altLang="zh-CN" sz="2000" b="1" dirty="0">
                <a:solidFill>
                  <a:schemeClr val="tx1"/>
                </a:solidFill>
                <a:latin typeface="黑体" panose="02010609060101010101" charset="-122"/>
                <a:ea typeface="黑体" panose="02010609060101010101" charset="-122"/>
                <a:cs typeface="黑体" panose="02010609060101010101" charset="-122"/>
                <a:sym typeface="+mn-ea"/>
              </a:rPr>
              <a:t>交互性：支持人机交互</a:t>
            </a:r>
            <a:r>
              <a:rPr lang="en-US" altLang="zh-CN" sz="2000" b="1" dirty="0">
                <a:solidFill>
                  <a:schemeClr val="tx1"/>
                </a:solidFill>
                <a:latin typeface="黑体" panose="02010609060101010101" charset="-122"/>
                <a:ea typeface="黑体" panose="02010609060101010101" charset="-122"/>
                <a:cs typeface="黑体" panose="02010609060101010101" charset="-122"/>
                <a:sym typeface="+mn-ea"/>
              </a:rPr>
              <a:t>  </a:t>
            </a:r>
            <a:endParaRPr lang="en-US" altLang="zh-CN" sz="2000" b="1" dirty="0">
              <a:solidFill>
                <a:schemeClr val="tx1"/>
              </a:solidFill>
              <a:latin typeface="黑体" panose="02010609060101010101" charset="-122"/>
              <a:ea typeface="黑体" panose="02010609060101010101" charset="-122"/>
              <a:cs typeface="黑体" panose="02010609060101010101" charset="-122"/>
            </a:endParaRPr>
          </a:p>
          <a:p>
            <a:pPr marL="214630" indent="-214630">
              <a:buFont typeface="Wingdings" panose="05000000000000000000" pitchFamily="2" charset="2"/>
              <a:buBlip>
                <a:blip r:embed="rId1">
                  <a:extLst>
                    <a:ext uri="{96DAC541-7B7A-43D3-8B79-37D633B846F1}">
                      <asvg:svgBlip xmlns:asvg="http://schemas.microsoft.com/office/drawing/2016/SVG/main" r:embed="rId2"/>
                    </a:ext>
                  </a:extLst>
                </a:blip>
              </a:buBlip>
            </a:pPr>
            <a:r>
              <a:rPr lang="zh-CN" altLang="zh-CN" sz="2000" b="1" dirty="0">
                <a:solidFill>
                  <a:schemeClr val="tx1"/>
                </a:solidFill>
                <a:latin typeface="黑体" panose="02010609060101010101" charset="-122"/>
                <a:ea typeface="黑体" panose="02010609060101010101" charset="-122"/>
                <a:cs typeface="黑体" panose="02010609060101010101" charset="-122"/>
                <a:sym typeface="+mn-ea"/>
              </a:rPr>
              <a:t>及时性</a:t>
            </a:r>
            <a:r>
              <a:rPr lang="zh-CN" altLang="en-US" sz="2000" b="1" dirty="0">
                <a:solidFill>
                  <a:schemeClr val="tx1"/>
                </a:solidFill>
                <a:latin typeface="黑体" panose="02010609060101010101" charset="-122"/>
                <a:ea typeface="黑体" panose="02010609060101010101" charset="-122"/>
                <a:cs typeface="黑体" panose="02010609060101010101" charset="-122"/>
                <a:sym typeface="+mn-ea"/>
              </a:rPr>
              <a:t>：</a:t>
            </a:r>
            <a:r>
              <a:rPr lang="zh-CN" altLang="en-US" sz="2000" b="1" dirty="0">
                <a:solidFill>
                  <a:schemeClr val="tx1"/>
                </a:solidFill>
                <a:latin typeface="黑体" panose="02010609060101010101" charset="-122"/>
                <a:ea typeface="黑体" panose="02010609060101010101" charset="-122"/>
                <a:cs typeface="黑体" panose="02010609060101010101" charset="-122"/>
              </a:rPr>
              <a:t>控制对象的开始截止时间或完成截止时间</a:t>
            </a:r>
            <a:endParaRPr lang="zh-CN" altLang="en-US" sz="2000" b="1" dirty="0">
              <a:solidFill>
                <a:schemeClr val="tx1"/>
              </a:solidFill>
              <a:latin typeface="黑体" panose="02010609060101010101" charset="-122"/>
              <a:ea typeface="黑体" panose="02010609060101010101" charset="-122"/>
              <a:cs typeface="黑体" panose="02010609060101010101" charset="-122"/>
            </a:endParaRPr>
          </a:p>
          <a:p>
            <a:pPr marL="214630" indent="-214630">
              <a:buFont typeface="Wingdings" panose="05000000000000000000" pitchFamily="2" charset="2"/>
              <a:buBlip>
                <a:blip r:embed="rId1">
                  <a:extLst>
                    <a:ext uri="{96DAC541-7B7A-43D3-8B79-37D633B846F1}">
                      <asvg:svgBlip xmlns:asvg="http://schemas.microsoft.com/office/drawing/2016/SVG/main" r:embed="rId2"/>
                    </a:ext>
                  </a:extLst>
                </a:blip>
              </a:buBlip>
            </a:pPr>
            <a:r>
              <a:rPr lang="zh-CN" altLang="en-US" sz="2000" b="1" dirty="0">
                <a:solidFill>
                  <a:schemeClr val="tx1"/>
                </a:solidFill>
                <a:latin typeface="黑体" panose="02010609060101010101" charset="-122"/>
                <a:ea typeface="黑体" panose="02010609060101010101" charset="-122"/>
                <a:cs typeface="黑体" panose="02010609060101010101" charset="-122"/>
              </a:rPr>
              <a:t>通用性：能够对一类或多类实时任务提供支撑，满足一般实时任务的要求。</a:t>
            </a:r>
            <a:endParaRPr lang="zh-CN" altLang="en-US" sz="2000" b="1" dirty="0">
              <a:solidFill>
                <a:schemeClr val="tx1"/>
              </a:solidFill>
              <a:latin typeface="黑体" panose="02010609060101010101" charset="-122"/>
              <a:ea typeface="黑体" panose="02010609060101010101" charset="-122"/>
              <a:cs typeface="黑体" panose="02010609060101010101" charset="-122"/>
            </a:endParaRPr>
          </a:p>
          <a:p>
            <a:pPr marL="214630" indent="-214630">
              <a:buFont typeface="Wingdings" panose="05000000000000000000" pitchFamily="2" charset="2"/>
              <a:buBlip>
                <a:blip r:embed="rId1">
                  <a:extLst>
                    <a:ext uri="{96DAC541-7B7A-43D3-8B79-37D633B846F1}">
                      <asvg:svgBlip xmlns:asvg="http://schemas.microsoft.com/office/drawing/2016/SVG/main" r:embed="rId2"/>
                    </a:ext>
                  </a:extLst>
                </a:blip>
              </a:buBlip>
            </a:pPr>
            <a:r>
              <a:rPr lang="zh-CN" altLang="zh-CN" sz="2000" b="1" dirty="0">
                <a:solidFill>
                  <a:schemeClr val="tx1"/>
                </a:solidFill>
                <a:latin typeface="黑体" panose="02010609060101010101" charset="-122"/>
                <a:ea typeface="黑体" panose="02010609060101010101" charset="-122"/>
                <a:cs typeface="黑体" panose="02010609060101010101" charset="-122"/>
                <a:sym typeface="+mn-ea"/>
              </a:rPr>
              <a:t>可靠性：</a:t>
            </a:r>
            <a:r>
              <a:rPr lang="zh-CN" altLang="en-US" sz="2000" b="1" i="0" dirty="0">
                <a:solidFill>
                  <a:schemeClr val="tx1"/>
                </a:solidFill>
                <a:latin typeface="黑体" panose="02010609060101010101" charset="-122"/>
                <a:ea typeface="黑体" panose="02010609060101010101" charset="-122"/>
                <a:cs typeface="黑体" panose="02010609060101010101" charset="-122"/>
                <a:sym typeface="+mn-ea"/>
              </a:rPr>
              <a:t>多级容错措施来保障系统的安全性及数据的安全性</a:t>
            </a:r>
            <a:endParaRPr lang="zh-CN" altLang="en-US" sz="2000" b="1" i="0" dirty="0">
              <a:solidFill>
                <a:schemeClr val="tx1"/>
              </a:solidFill>
              <a:latin typeface="黑体" panose="02010609060101010101" charset="-122"/>
              <a:ea typeface="黑体" panose="02010609060101010101" charset="-122"/>
              <a:cs typeface="黑体" panose="02010609060101010101" charset="-122"/>
              <a:sym typeface="+mn-ea"/>
            </a:endParaRPr>
          </a:p>
        </p:txBody>
      </p:sp>
      <p:sp>
        <p:nvSpPr>
          <p:cNvPr id="14" name="文本框 13"/>
          <p:cNvSpPr txBox="1"/>
          <p:nvPr/>
        </p:nvSpPr>
        <p:spPr>
          <a:xfrm>
            <a:off x="798830" y="4671060"/>
            <a:ext cx="783590" cy="368935"/>
          </a:xfrm>
          <a:prstGeom prst="rect">
            <a:avLst/>
          </a:prstGeom>
          <a:noFill/>
        </p:spPr>
        <p:txBody>
          <a:bodyPr wrap="square" lIns="0" tIns="0" rIns="0" bIns="0" rtlCol="0" anchor="t">
            <a:spAutoFit/>
          </a:bodyPr>
          <a:p>
            <a:pPr marL="0" indent="0"/>
            <a:r>
              <a:rPr lang="zh-CN" altLang="en-US" sz="2400" b="1" dirty="0">
                <a:solidFill>
                  <a:schemeClr val="tx1"/>
                </a:solidFill>
                <a:effectLst>
                  <a:outerShdw blurRad="38100" dist="38100" dir="2700000" algn="tl">
                    <a:srgbClr val="000000">
                      <a:alpha val="43137"/>
                    </a:srgbClr>
                  </a:outerShdw>
                </a:effectLst>
                <a:latin typeface="方正粗黑宋简体" panose="02000000000000000000" charset="-122"/>
                <a:ea typeface="方正粗黑宋简体" panose="02000000000000000000" charset="-122"/>
                <a:cs typeface="方正粗黑宋简体" panose="02000000000000000000" charset="-122"/>
                <a:sym typeface="+mn-ea"/>
              </a:rPr>
              <a:t>特点</a:t>
            </a:r>
            <a:endParaRPr lang="zh-CN" altLang="en-US" sz="2400" b="1" dirty="0">
              <a:solidFill>
                <a:schemeClr val="tx1"/>
              </a:solidFill>
              <a:effectLst>
                <a:outerShdw blurRad="38100" dist="38100" dir="2700000" algn="tl">
                  <a:srgbClr val="000000">
                    <a:alpha val="43137"/>
                  </a:srgbClr>
                </a:outerShdw>
              </a:effectLst>
              <a:latin typeface="方正粗黑宋简体" panose="02000000000000000000" charset="-122"/>
              <a:ea typeface="方正粗黑宋简体" panose="02000000000000000000" charset="-122"/>
              <a:cs typeface="方正粗黑宋简体" panose="02000000000000000000" charset="-122"/>
              <a:sym typeface="+mn-ea"/>
            </a:endParaRPr>
          </a:p>
        </p:txBody>
      </p:sp>
      <p:sp>
        <p:nvSpPr>
          <p:cNvPr id="17" name="文本框 16"/>
          <p:cNvSpPr txBox="1"/>
          <p:nvPr/>
        </p:nvSpPr>
        <p:spPr>
          <a:xfrm>
            <a:off x="1020445" y="1561465"/>
            <a:ext cx="10280015" cy="768350"/>
          </a:xfrm>
          <a:prstGeom prst="rect">
            <a:avLst/>
          </a:prstGeom>
          <a:solidFill>
            <a:schemeClr val="bg1"/>
          </a:solidFill>
        </p:spPr>
        <p:txBody>
          <a:bodyPr wrap="square">
            <a:spAutoFit/>
          </a:bodyPr>
          <a:p>
            <a:pPr marL="0" indent="0"/>
            <a:r>
              <a:rPr lang="zh-CN" altLang="en-US" sz="2400" b="0" i="0">
                <a:solidFill>
                  <a:srgbClr val="C00000"/>
                </a:solidFill>
                <a:latin typeface="方正粗黑宋简体" panose="02000000000000000000" charset="-122"/>
                <a:ea typeface="方正粗黑宋简体" panose="02000000000000000000" charset="-122"/>
                <a:cs typeface="方正粗黑宋简体" panose="02000000000000000000" charset="-122"/>
              </a:rPr>
              <a:t>实时系统</a:t>
            </a:r>
            <a:r>
              <a:rPr lang="en-US" altLang="zh-CN" sz="2400" b="0" i="0">
                <a:solidFill>
                  <a:srgbClr val="C00000"/>
                </a:solidFill>
                <a:latin typeface="方正粗黑宋简体" panose="02000000000000000000" charset="-122"/>
                <a:ea typeface="方正粗黑宋简体" panose="02000000000000000000" charset="-122"/>
                <a:cs typeface="方正粗黑宋简体" panose="02000000000000000000" charset="-122"/>
              </a:rPr>
              <a:t> </a:t>
            </a:r>
            <a:r>
              <a:rPr lang="zh-CN" altLang="en-US" sz="2000" b="0" i="0">
                <a:solidFill>
                  <a:schemeClr val="tx1"/>
                </a:solidFill>
                <a:latin typeface="方正粗黑宋简体" panose="02000000000000000000" charset="-122"/>
                <a:ea typeface="方正粗黑宋简体" panose="02000000000000000000" charset="-122"/>
                <a:cs typeface="方正粗黑宋简体" panose="02000000000000000000" charset="-122"/>
              </a:rPr>
              <a:t>是分时系统的特例，是指系统能及时响应外部事件的请求，在规定的时间内完成对该事件的处理，并控制所有实时任务协调一致地运行。</a:t>
            </a:r>
            <a:endParaRPr lang="zh-CN" altLang="en-US" sz="2000" b="0" i="0">
              <a:solidFill>
                <a:schemeClr val="tx1"/>
              </a:solidFill>
              <a:latin typeface="方正粗黑宋简体" panose="02000000000000000000" charset="-122"/>
              <a:ea typeface="方正粗黑宋简体" panose="02000000000000000000" charset="-122"/>
              <a:cs typeface="方正粗黑宋简体" panose="02000000000000000000" charset="-122"/>
            </a:endParaRPr>
          </a:p>
        </p:txBody>
      </p:sp>
      <p:pic>
        <p:nvPicPr>
          <p:cNvPr id="18" name="图片 17"/>
          <p:cNvPicPr/>
          <p:nvPr/>
        </p:nvPicPr>
        <p:blipFill>
          <a:blip r:embed="rId3">
            <a:extLst>
              <a:ext uri="{28A0092B-C50C-407E-A947-70E740481C1C}">
                <a14:useLocalDpi xmlns:a14="http://schemas.microsoft.com/office/drawing/2010/main" val="0"/>
              </a:ext>
            </a:extLst>
          </a:blip>
          <a:stretch>
            <a:fillRect/>
          </a:stretch>
        </p:blipFill>
        <p:spPr>
          <a:xfrm>
            <a:off x="6096635" y="2421890"/>
            <a:ext cx="2807335" cy="1691640"/>
          </a:xfrm>
          <a:prstGeom prst="rect">
            <a:avLst/>
          </a:prstGeom>
          <a:ln>
            <a:solidFill>
              <a:srgbClr val="FFFF00"/>
            </a:solidFill>
          </a:ln>
          <a:effectLst>
            <a:glow rad="101600">
              <a:schemeClr val="accent4">
                <a:satMod val="175000"/>
                <a:alpha val="40000"/>
              </a:schemeClr>
            </a:glow>
          </a:effectLst>
        </p:spPr>
      </p:pic>
      <p:sp>
        <p:nvSpPr>
          <p:cNvPr id="19" name="矩形 18"/>
          <p:cNvSpPr/>
          <p:nvPr/>
        </p:nvSpPr>
        <p:spPr>
          <a:xfrm>
            <a:off x="6096635" y="4205605"/>
            <a:ext cx="2591435" cy="32512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Autofit/>
          </a:bodyPr>
          <a:p>
            <a:pPr algn="ctr">
              <a:spcAft>
                <a:spcPts val="0"/>
              </a:spcAft>
            </a:pPr>
            <a:r>
              <a:rPr lang="en-US" sz="1600" b="1" kern="1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1" kern="1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飞行控制实时系统</a:t>
            </a:r>
            <a:endParaRPr lang="zh-CN" altLang="en-US" sz="1600" b="1" kern="1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0" name="文本框 19"/>
          <p:cNvSpPr txBox="1"/>
          <p:nvPr/>
        </p:nvSpPr>
        <p:spPr>
          <a:xfrm>
            <a:off x="1463675" y="2868930"/>
            <a:ext cx="3193415" cy="1014730"/>
          </a:xfrm>
          <a:prstGeom prst="rect">
            <a:avLst/>
          </a:prstGeom>
        </p:spPr>
        <p:txBody>
          <a:bodyPr wrap="square">
            <a:spAutoFit/>
          </a:bodyPr>
          <a:p>
            <a:pPr marL="285750" indent="-285750">
              <a:lnSpc>
                <a:spcPct val="150000"/>
              </a:lnSpc>
              <a:buFont typeface="Wingdings" panose="05000000000000000000" charset="0"/>
              <a:buChar char="n"/>
            </a:pPr>
            <a:r>
              <a:rPr lang="zh-CN" altLang="en-US" sz="2000" b="0" i="0">
                <a:solidFill>
                  <a:schemeClr val="tx1"/>
                </a:solidFill>
                <a:latin typeface="方正粗黑宋简体" panose="02000000000000000000" charset="-122"/>
                <a:ea typeface="方正粗黑宋简体" panose="02000000000000000000" charset="-122"/>
                <a:cs typeface="方正粗黑宋简体" panose="02000000000000000000" charset="-122"/>
              </a:rPr>
              <a:t>实时控制系统</a:t>
            </a:r>
            <a:endParaRPr lang="zh-CN" altLang="en-US" sz="2000" b="0" i="0">
              <a:solidFill>
                <a:schemeClr val="tx1"/>
              </a:solidFill>
              <a:latin typeface="方正粗黑宋简体" panose="02000000000000000000" charset="-122"/>
              <a:ea typeface="方正粗黑宋简体" panose="02000000000000000000" charset="-122"/>
              <a:cs typeface="方正粗黑宋简体" panose="02000000000000000000" charset="-122"/>
            </a:endParaRPr>
          </a:p>
          <a:p>
            <a:pPr marL="285750" indent="-285750">
              <a:lnSpc>
                <a:spcPct val="150000"/>
              </a:lnSpc>
              <a:buFont typeface="Wingdings" panose="05000000000000000000" charset="0"/>
              <a:buChar char="n"/>
            </a:pPr>
            <a:r>
              <a:rPr lang="zh-CN" altLang="en-US" sz="2000" b="0" i="0">
                <a:solidFill>
                  <a:schemeClr val="tx1"/>
                </a:solidFill>
                <a:latin typeface="方正粗黑宋简体" panose="02000000000000000000" charset="-122"/>
                <a:ea typeface="方正粗黑宋简体" panose="02000000000000000000" charset="-122"/>
                <a:cs typeface="方正粗黑宋简体" panose="02000000000000000000" charset="-122"/>
              </a:rPr>
              <a:t>实时信息处理系统</a:t>
            </a:r>
            <a:r>
              <a:rPr lang="en-US" altLang="zh-CN" sz="2000" b="0" i="0">
                <a:solidFill>
                  <a:schemeClr val="tx1"/>
                </a:solidFill>
                <a:latin typeface="方正粗黑宋简体" panose="02000000000000000000" charset="-122"/>
                <a:ea typeface="方正粗黑宋简体" panose="02000000000000000000" charset="-122"/>
                <a:cs typeface="方正粗黑宋简体" panose="02000000000000000000" charset="-122"/>
              </a:rPr>
              <a:t> </a:t>
            </a:r>
            <a:endParaRPr lang="en-US" altLang="zh-CN" sz="2000" b="0" i="0">
              <a:solidFill>
                <a:schemeClr val="tx1"/>
              </a:solidFill>
              <a:latin typeface="方正粗黑宋简体" panose="02000000000000000000" charset="-122"/>
              <a:ea typeface="方正粗黑宋简体" panose="02000000000000000000" charset="-122"/>
              <a:cs typeface="方正粗黑宋简体" panose="02000000000000000000" charset="-122"/>
            </a:endParaRPr>
          </a:p>
        </p:txBody>
      </p:sp>
      <p:sp>
        <p:nvSpPr>
          <p:cNvPr id="6" name="文本框 5"/>
          <p:cNvSpPr txBox="1"/>
          <p:nvPr/>
        </p:nvSpPr>
        <p:spPr>
          <a:xfrm>
            <a:off x="1119505" y="1099820"/>
            <a:ext cx="2743835" cy="369570"/>
          </a:xfrm>
          <a:prstGeom prst="rect">
            <a:avLst/>
          </a:prstGeom>
          <a:noFill/>
        </p:spPr>
        <p:txBody>
          <a:bodyPr wrap="square" rtlCol="0">
            <a:noAutofit/>
          </a:bodyPr>
          <a:lstStyle/>
          <a:p>
            <a:pPr marL="342900" indent="-342900">
              <a:buFont typeface="Wingdings" panose="05000000000000000000" charset="0"/>
              <a:buChar char="n"/>
            </a:pPr>
            <a:r>
              <a:rPr lang="zh-CN" altLang="en-US" sz="2000" b="1" dirty="0">
                <a:solidFill>
                  <a:srgbClr val="6C0000"/>
                </a:solidFill>
                <a:latin typeface="华文行楷" panose="02010800040101010101" charset="-122"/>
                <a:ea typeface="华文行楷" panose="02010800040101010101" charset="-122"/>
                <a:cs typeface="华文行楷" panose="02010800040101010101" charset="-122"/>
              </a:rPr>
              <a:t>快速发展阶段</a:t>
            </a:r>
            <a:r>
              <a:rPr lang="zh-CN" altLang="en-US" sz="2000" b="1" dirty="0">
                <a:solidFill>
                  <a:srgbClr val="6C0000"/>
                </a:solidFill>
                <a:latin typeface="华文行楷" panose="02010800040101010101" charset="-122"/>
                <a:ea typeface="华文行楷" panose="02010800040101010101" charset="-122"/>
                <a:cs typeface="华文行楷" panose="02010800040101010101" charset="-122"/>
                <a:sym typeface="+mn-ea"/>
              </a:rPr>
              <a:t>（续）</a:t>
            </a:r>
            <a:endParaRPr lang="en-US" altLang="zh-CN" sz="2000" b="1" dirty="0">
              <a:solidFill>
                <a:srgbClr val="6C0000"/>
              </a:solidFill>
              <a:latin typeface="华文行楷" panose="02010800040101010101" charset="-122"/>
              <a:ea typeface="华文行楷" panose="02010800040101010101" charset="-122"/>
              <a:cs typeface="华文行楷" panose="02010800040101010101" charset="-122"/>
            </a:endParaRPr>
          </a:p>
          <a:p>
            <a:pPr marL="342900" indent="-342900">
              <a:buFont typeface="Wingdings" panose="05000000000000000000" charset="0"/>
              <a:buChar char="n"/>
            </a:pPr>
            <a:endParaRPr lang="en-US" altLang="zh-CN" sz="2000" b="1" dirty="0">
              <a:latin typeface="华文行楷" panose="02010800040101010101" charset="-122"/>
              <a:ea typeface="华文行楷" panose="02010800040101010101" charset="-122"/>
              <a:cs typeface="华文行楷" panose="02010800040101010101" charset="-122"/>
            </a:endParaRPr>
          </a:p>
          <a:p>
            <a:r>
              <a:rPr lang="en-US" altLang="zh-CN" sz="2000" b="1" dirty="0">
                <a:latin typeface="华文行楷" panose="02010800040101010101" charset="-122"/>
                <a:ea typeface="华文行楷" panose="02010800040101010101" charset="-122"/>
                <a:cs typeface="华文行楷" panose="02010800040101010101" charset="-122"/>
              </a:rPr>
              <a:t> </a:t>
            </a:r>
            <a:endParaRPr lang="zh-CN" altLang="en-US" sz="2000" b="1" dirty="0">
              <a:latin typeface="华文行楷" panose="02010800040101010101" charset="-122"/>
              <a:ea typeface="华文行楷" panose="02010800040101010101" charset="-122"/>
              <a:cs typeface="华文行楷" panose="02010800040101010101"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001395" y="544830"/>
            <a:ext cx="5095240" cy="521970"/>
          </a:xfrm>
          <a:prstGeom prst="rect">
            <a:avLst/>
          </a:prstGeom>
        </p:spPr>
        <p:txBody>
          <a:bodyPr wrap="square">
            <a:spAutoFit/>
          </a:bodyPr>
          <a:p>
            <a:r>
              <a:rPr lang="en-US" altLang="zh-CN" sz="2800" b="0">
                <a:solidFill>
                  <a:srgbClr val="002060"/>
                </a:solidFill>
                <a:latin typeface="方正大黑简体" panose="02000000000000000000" charset="-122"/>
                <a:ea typeface="方正大黑简体" panose="02000000000000000000" charset="-122"/>
                <a:cs typeface="方正大黑简体" panose="02000000000000000000" charset="-122"/>
              </a:rPr>
              <a:t>1.2 </a:t>
            </a:r>
            <a:r>
              <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rPr>
              <a:t>操作系统的发展历程</a:t>
            </a:r>
            <a:endPar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15" name="文本框 14"/>
          <p:cNvSpPr txBox="1"/>
          <p:nvPr/>
        </p:nvSpPr>
        <p:spPr>
          <a:xfrm>
            <a:off x="1097280" y="1153795"/>
            <a:ext cx="9501505" cy="500380"/>
          </a:xfrm>
          <a:prstGeom prst="rect">
            <a:avLst/>
          </a:prstGeom>
          <a:noFill/>
        </p:spPr>
        <p:txBody>
          <a:bodyPr wrap="square" rtlCol="0">
            <a:noAutofit/>
          </a:bodyPr>
          <a:lstStyle/>
          <a:p>
            <a:pPr marL="342900" indent="-342900">
              <a:buFont typeface="Wingdings" panose="05000000000000000000" charset="0"/>
              <a:buChar char="n"/>
            </a:pPr>
            <a:r>
              <a:rPr lang="zh-CN" altLang="en-US" sz="2000" b="1" dirty="0">
                <a:solidFill>
                  <a:srgbClr val="6C0000"/>
                </a:solidFill>
                <a:latin typeface="华文行楷" panose="02010800040101010101" charset="-122"/>
                <a:ea typeface="华文行楷" panose="02010800040101010101" charset="-122"/>
                <a:cs typeface="华文行楷" panose="02010800040101010101" charset="-122"/>
              </a:rPr>
              <a:t>快速发展阶段</a:t>
            </a:r>
            <a:r>
              <a:rPr lang="zh-CN" altLang="en-US" sz="2000" b="1" dirty="0">
                <a:solidFill>
                  <a:srgbClr val="6C0000"/>
                </a:solidFill>
                <a:latin typeface="华文行楷" panose="02010800040101010101" charset="-122"/>
                <a:ea typeface="华文行楷" panose="02010800040101010101" charset="-122"/>
                <a:cs typeface="华文行楷" panose="02010800040101010101" charset="-122"/>
                <a:sym typeface="+mn-ea"/>
              </a:rPr>
              <a:t>（续）</a:t>
            </a:r>
            <a:endParaRPr lang="en-US" altLang="zh-CN" sz="2000" b="1" dirty="0">
              <a:solidFill>
                <a:srgbClr val="6C0000"/>
              </a:solidFill>
              <a:latin typeface="华文行楷" panose="02010800040101010101" charset="-122"/>
              <a:ea typeface="华文行楷" panose="02010800040101010101" charset="-122"/>
              <a:cs typeface="华文行楷" panose="02010800040101010101" charset="-122"/>
            </a:endParaRPr>
          </a:p>
          <a:p>
            <a:pPr marL="342900" indent="-342900">
              <a:buFont typeface="Wingdings" panose="05000000000000000000" charset="0"/>
              <a:buChar char="n"/>
            </a:pPr>
            <a:endParaRPr lang="en-US" altLang="zh-CN" sz="2000" b="1" dirty="0">
              <a:latin typeface="华文行楷" panose="02010800040101010101" charset="-122"/>
              <a:ea typeface="华文行楷" panose="02010800040101010101" charset="-122"/>
              <a:cs typeface="华文行楷" panose="02010800040101010101" charset="-122"/>
            </a:endParaRPr>
          </a:p>
          <a:p>
            <a:r>
              <a:rPr lang="en-US" altLang="zh-CN" sz="2000" b="1" dirty="0">
                <a:latin typeface="华文行楷" panose="02010800040101010101" charset="-122"/>
                <a:ea typeface="华文行楷" panose="02010800040101010101" charset="-122"/>
                <a:cs typeface="华文行楷" panose="02010800040101010101" charset="-122"/>
              </a:rPr>
              <a:t> </a:t>
            </a:r>
            <a:endParaRPr lang="zh-CN" altLang="en-US" sz="2000" b="1" dirty="0">
              <a:latin typeface="华文行楷" panose="02010800040101010101" charset="-122"/>
              <a:ea typeface="华文行楷" panose="02010800040101010101" charset="-122"/>
              <a:cs typeface="华文行楷" panose="02010800040101010101" charset="-122"/>
            </a:endParaRPr>
          </a:p>
        </p:txBody>
      </p:sp>
      <p:sp>
        <p:nvSpPr>
          <p:cNvPr id="5" name="文本框 4"/>
          <p:cNvSpPr txBox="1"/>
          <p:nvPr/>
        </p:nvSpPr>
        <p:spPr>
          <a:xfrm>
            <a:off x="1217930" y="1567180"/>
            <a:ext cx="9260840" cy="3476625"/>
          </a:xfrm>
          <a:prstGeom prst="rect">
            <a:avLst/>
          </a:prstGeom>
          <a:noFill/>
        </p:spPr>
        <p:txBody>
          <a:bodyPr wrap="square" rtlCol="0">
            <a:spAutoFit/>
          </a:bodyPr>
          <a:lstStyle/>
          <a:p>
            <a:pPr fontAlgn="auto">
              <a:lnSpc>
                <a:spcPct val="125000"/>
              </a:lnSpc>
            </a:pPr>
            <a:r>
              <a:rPr lang="zh-CN" altLang="zh-CN" sz="2000" dirty="0">
                <a:solidFill>
                  <a:srgbClr val="6C0000"/>
                </a:solidFill>
                <a:latin typeface="黑体" panose="02010609060101010101" charset="-122"/>
                <a:ea typeface="黑体" panose="02010609060101010101" charset="-122"/>
                <a:cs typeface="黑体" panose="02010609060101010101" charset="-122"/>
              </a:rPr>
              <a:t>网络操作系统</a:t>
            </a:r>
            <a:endParaRPr lang="en-US" altLang="zh-CN" sz="2000" dirty="0">
              <a:solidFill>
                <a:srgbClr val="6C0000"/>
              </a:solidFill>
              <a:latin typeface="黑体" panose="02010609060101010101" charset="-122"/>
              <a:ea typeface="黑体" panose="02010609060101010101" charset="-122"/>
              <a:cs typeface="黑体" panose="02010609060101010101" charset="-122"/>
            </a:endParaRPr>
          </a:p>
          <a:p>
            <a:pPr fontAlgn="auto">
              <a:lnSpc>
                <a:spcPct val="125000"/>
              </a:lnSpc>
            </a:pPr>
            <a:r>
              <a:rPr lang="en-US" altLang="zh-CN" sz="2000" dirty="0">
                <a:latin typeface="黑体" panose="02010609060101010101" charset="-122"/>
                <a:ea typeface="黑体" panose="02010609060101010101" charset="-122"/>
                <a:cs typeface="黑体" panose="02010609060101010101" charset="-122"/>
              </a:rPr>
              <a:t>    </a:t>
            </a:r>
            <a:r>
              <a:rPr lang="zh-CN" altLang="zh-CN" sz="2000" dirty="0">
                <a:latin typeface="黑体" panose="02010609060101010101" charset="-122"/>
                <a:ea typeface="黑体" panose="02010609060101010101" charset="-122"/>
                <a:cs typeface="黑体" panose="02010609060101010101" charset="-122"/>
              </a:rPr>
              <a:t>网络操作系统除了具有计算机系统软硬件资源管理与操作外，还须向计算机网络中计算机提供网络通信、网络资源共享和网络服务</a:t>
            </a:r>
            <a:r>
              <a:rPr lang="zh-CN" altLang="en-US" sz="2000" dirty="0">
                <a:latin typeface="黑体" panose="02010609060101010101" charset="-122"/>
                <a:ea typeface="黑体" panose="02010609060101010101" charset="-122"/>
                <a:cs typeface="黑体" panose="02010609060101010101" charset="-122"/>
              </a:rPr>
              <a:t>。其主要功能包括：</a:t>
            </a:r>
            <a:r>
              <a:rPr lang="en-US" altLang="zh-CN" sz="2000" dirty="0">
                <a:latin typeface="黑体" panose="02010609060101010101" charset="-122"/>
                <a:ea typeface="黑体" panose="02010609060101010101" charset="-122"/>
                <a:cs typeface="黑体" panose="02010609060101010101" charset="-122"/>
              </a:rPr>
              <a:t>      </a:t>
            </a:r>
            <a:endParaRPr lang="zh-CN" altLang="zh-CN" sz="2000" dirty="0">
              <a:latin typeface="黑体" panose="02010609060101010101" charset="-122"/>
              <a:ea typeface="黑体" panose="02010609060101010101" charset="-122"/>
              <a:cs typeface="黑体" panose="02010609060101010101" charset="-122"/>
            </a:endParaRPr>
          </a:p>
          <a:p>
            <a:pPr marL="214630" indent="-214630" fontAlgn="auto">
              <a:lnSpc>
                <a:spcPct val="125000"/>
              </a:lnSpc>
              <a:buFont typeface="Wingdings" panose="05000000000000000000" pitchFamily="2" charset="2"/>
              <a:buChar char="l"/>
            </a:pPr>
            <a:r>
              <a:rPr lang="zh-CN" altLang="zh-CN" sz="2000" dirty="0">
                <a:solidFill>
                  <a:srgbClr val="002C6C"/>
                </a:solidFill>
                <a:latin typeface="黑体" panose="02010609060101010101" charset="-122"/>
                <a:ea typeface="黑体" panose="02010609060101010101" charset="-122"/>
                <a:cs typeface="黑体" panose="02010609060101010101" charset="-122"/>
              </a:rPr>
              <a:t>网络通信：在网络中的计算机之间实现无差错高效的数据传输。</a:t>
            </a:r>
            <a:endParaRPr lang="zh-CN" altLang="zh-CN" sz="2000" dirty="0">
              <a:solidFill>
                <a:srgbClr val="002C6C"/>
              </a:solidFill>
              <a:latin typeface="黑体" panose="02010609060101010101" charset="-122"/>
              <a:ea typeface="黑体" panose="02010609060101010101" charset="-122"/>
              <a:cs typeface="黑体" panose="02010609060101010101" charset="-122"/>
            </a:endParaRPr>
          </a:p>
          <a:p>
            <a:pPr marL="214630" indent="-214630" fontAlgn="auto">
              <a:lnSpc>
                <a:spcPct val="125000"/>
              </a:lnSpc>
              <a:buFont typeface="Wingdings" panose="05000000000000000000" pitchFamily="2" charset="2"/>
              <a:buChar char="l"/>
            </a:pPr>
            <a:r>
              <a:rPr lang="zh-CN" altLang="zh-CN" sz="2000" dirty="0">
                <a:solidFill>
                  <a:srgbClr val="002C6C"/>
                </a:solidFill>
                <a:latin typeface="黑体" panose="02010609060101010101" charset="-122"/>
                <a:ea typeface="黑体" panose="02010609060101010101" charset="-122"/>
                <a:cs typeface="黑体" panose="02010609060101010101" charset="-122"/>
              </a:rPr>
              <a:t>资源管理：对网络中的所有软硬件资源实施有效管理，协调共享资源使用，保证数据的一致性、完整性。</a:t>
            </a:r>
            <a:endParaRPr lang="zh-CN" altLang="zh-CN" sz="2000" dirty="0">
              <a:solidFill>
                <a:srgbClr val="002C6C"/>
              </a:solidFill>
              <a:latin typeface="黑体" panose="02010609060101010101" charset="-122"/>
              <a:ea typeface="黑体" panose="02010609060101010101" charset="-122"/>
              <a:cs typeface="黑体" panose="02010609060101010101" charset="-122"/>
            </a:endParaRPr>
          </a:p>
          <a:p>
            <a:pPr marL="214630" indent="-214630" fontAlgn="auto">
              <a:lnSpc>
                <a:spcPct val="125000"/>
              </a:lnSpc>
              <a:buFont typeface="Wingdings" panose="05000000000000000000" pitchFamily="2" charset="2"/>
              <a:buChar char="l"/>
            </a:pPr>
            <a:r>
              <a:rPr lang="zh-CN" altLang="zh-CN" sz="2000" dirty="0">
                <a:solidFill>
                  <a:srgbClr val="002C6C"/>
                </a:solidFill>
                <a:latin typeface="黑体" panose="02010609060101010101" charset="-122"/>
                <a:ea typeface="黑体" panose="02010609060101010101" charset="-122"/>
                <a:cs typeface="黑体" panose="02010609060101010101" charset="-122"/>
              </a:rPr>
              <a:t>网络管理：能高效地进行安全控制、性能监视、系统维护。</a:t>
            </a:r>
            <a:endParaRPr lang="zh-CN" altLang="zh-CN" sz="2000" dirty="0">
              <a:solidFill>
                <a:srgbClr val="002C6C"/>
              </a:solidFill>
              <a:latin typeface="黑体" panose="02010609060101010101" charset="-122"/>
              <a:ea typeface="黑体" panose="02010609060101010101" charset="-122"/>
              <a:cs typeface="黑体" panose="02010609060101010101" charset="-122"/>
            </a:endParaRPr>
          </a:p>
          <a:p>
            <a:pPr marL="214630" indent="-214630" fontAlgn="auto">
              <a:lnSpc>
                <a:spcPct val="125000"/>
              </a:lnSpc>
              <a:buFont typeface="Wingdings" panose="05000000000000000000" pitchFamily="2" charset="2"/>
              <a:buChar char="l"/>
            </a:pPr>
            <a:r>
              <a:rPr lang="zh-CN" altLang="zh-CN" sz="2000" dirty="0">
                <a:solidFill>
                  <a:srgbClr val="002C6C"/>
                </a:solidFill>
                <a:latin typeface="黑体" panose="02010609060101010101" charset="-122"/>
                <a:ea typeface="黑体" panose="02010609060101010101" charset="-122"/>
                <a:cs typeface="黑体" panose="02010609060101010101" charset="-122"/>
              </a:rPr>
              <a:t>网络服务：提供如电子邮件、文件传输、共享设备等服务。</a:t>
            </a:r>
            <a:endParaRPr lang="zh-CN" altLang="zh-CN" sz="2000" dirty="0">
              <a:solidFill>
                <a:srgbClr val="002C6C"/>
              </a:solidFill>
              <a:latin typeface="黑体" panose="02010609060101010101" charset="-122"/>
              <a:ea typeface="黑体" panose="02010609060101010101" charset="-122"/>
              <a:cs typeface="黑体" panose="02010609060101010101" charset="-122"/>
            </a:endParaRPr>
          </a:p>
          <a:p>
            <a:endParaRPr lang="zh-CN" altLang="zh-CN" sz="2000" dirty="0">
              <a:solidFill>
                <a:srgbClr val="6C0000"/>
              </a:solidFill>
              <a:latin typeface="黑体" panose="02010609060101010101" charset="-122"/>
              <a:ea typeface="黑体" panose="02010609060101010101" charset="-122"/>
              <a:cs typeface="黑体" panose="02010609060101010101" charset="-122"/>
            </a:endParaRPr>
          </a:p>
        </p:txBody>
      </p:sp>
      <p:sp>
        <p:nvSpPr>
          <p:cNvPr id="2" name="矩形 1"/>
          <p:cNvSpPr/>
          <p:nvPr/>
        </p:nvSpPr>
        <p:spPr>
          <a:xfrm>
            <a:off x="2340583" y="5340697"/>
            <a:ext cx="6672580" cy="460375"/>
          </a:xfrm>
          <a:prstGeom prst="rect">
            <a:avLst/>
          </a:prstGeom>
        </p:spPr>
        <p:txBody>
          <a:bodyPr wrap="none">
            <a:spAutoFit/>
          </a:bodyPr>
          <a:lstStyle/>
          <a:p>
            <a:r>
              <a:rPr lang="zh-CN" altLang="en-US" sz="2400" b="1" dirty="0">
                <a:solidFill>
                  <a:srgbClr val="6C0000"/>
                </a:solidFill>
                <a:latin typeface="华文楷体" panose="02010600040101010101" pitchFamily="2" charset="-122"/>
                <a:ea typeface="华文楷体" panose="02010600040101010101" pitchFamily="2" charset="-122"/>
              </a:rPr>
              <a:t>常见</a:t>
            </a:r>
            <a:r>
              <a:rPr lang="zh-CN" altLang="zh-CN" sz="2400" b="1" dirty="0">
                <a:solidFill>
                  <a:srgbClr val="6C0000"/>
                </a:solidFill>
                <a:latin typeface="华文楷体" panose="02010600040101010101" pitchFamily="2" charset="-122"/>
                <a:ea typeface="华文楷体" panose="02010600040101010101" pitchFamily="2" charset="-122"/>
              </a:rPr>
              <a:t>网络操作系统</a:t>
            </a:r>
            <a:r>
              <a:rPr lang="zh-CN" altLang="en-US" sz="2400" b="1" dirty="0">
                <a:solidFill>
                  <a:srgbClr val="6C0000"/>
                </a:solidFill>
                <a:latin typeface="华文楷体" panose="02010600040101010101" pitchFamily="2" charset="-122"/>
                <a:ea typeface="华文楷体" panose="02010600040101010101" pitchFamily="2" charset="-122"/>
              </a:rPr>
              <a:t>：</a:t>
            </a:r>
            <a:r>
              <a:rPr lang="en-US" altLang="zh-CN" sz="2400" b="1" dirty="0">
                <a:solidFill>
                  <a:srgbClr val="6C0000"/>
                </a:solidFill>
                <a:latin typeface="华文楷体" panose="02010600040101010101" pitchFamily="2" charset="-122"/>
                <a:ea typeface="华文楷体" panose="02010600040101010101" pitchFamily="2" charset="-122"/>
              </a:rPr>
              <a:t>UNIX,   </a:t>
            </a:r>
            <a:r>
              <a:rPr lang="en-US" altLang="zh-CN" sz="2400" b="1" dirty="0" err="1">
                <a:solidFill>
                  <a:srgbClr val="6C0000"/>
                </a:solidFill>
                <a:latin typeface="华文楷体" panose="02010600040101010101" pitchFamily="2" charset="-122"/>
                <a:ea typeface="华文楷体" panose="02010600040101010101" pitchFamily="2" charset="-122"/>
              </a:rPr>
              <a:t>NETWare</a:t>
            </a:r>
            <a:r>
              <a:rPr lang="en-US" altLang="zh-CN" sz="2400" b="1" dirty="0">
                <a:solidFill>
                  <a:srgbClr val="6C0000"/>
                </a:solidFill>
                <a:latin typeface="华文楷体" panose="02010600040101010101" pitchFamily="2" charset="-122"/>
                <a:ea typeface="华文楷体" panose="02010600040101010101" pitchFamily="2" charset="-122"/>
              </a:rPr>
              <a:t>,   Windows</a:t>
            </a:r>
            <a:endParaRPr lang="zh-CN" altLang="en-US" sz="2400" b="1"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001395" y="544830"/>
            <a:ext cx="5095240" cy="521970"/>
          </a:xfrm>
          <a:prstGeom prst="rect">
            <a:avLst/>
          </a:prstGeom>
        </p:spPr>
        <p:txBody>
          <a:bodyPr wrap="square">
            <a:spAutoFit/>
          </a:bodyPr>
          <a:p>
            <a:r>
              <a:rPr lang="en-US" altLang="zh-CN" sz="2800" b="0">
                <a:solidFill>
                  <a:srgbClr val="002060"/>
                </a:solidFill>
                <a:latin typeface="方正大黑简体" panose="02000000000000000000" charset="-122"/>
                <a:ea typeface="方正大黑简体" panose="02000000000000000000" charset="-122"/>
                <a:cs typeface="方正大黑简体" panose="02000000000000000000" charset="-122"/>
              </a:rPr>
              <a:t>1.2 </a:t>
            </a:r>
            <a:r>
              <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rPr>
              <a:t>操作系统的发展历程</a:t>
            </a:r>
            <a:endPar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15" name="文本框 14"/>
          <p:cNvSpPr txBox="1"/>
          <p:nvPr/>
        </p:nvSpPr>
        <p:spPr>
          <a:xfrm>
            <a:off x="1097280" y="1066800"/>
            <a:ext cx="9501505" cy="1014730"/>
          </a:xfrm>
          <a:prstGeom prst="rect">
            <a:avLst/>
          </a:prstGeom>
          <a:noFill/>
        </p:spPr>
        <p:txBody>
          <a:bodyPr wrap="square" rtlCol="0">
            <a:spAutoFit/>
          </a:bodyPr>
          <a:lstStyle/>
          <a:p>
            <a:pPr marL="342900" indent="-342900">
              <a:buFont typeface="Wingdings" panose="05000000000000000000" charset="0"/>
              <a:buChar char="n"/>
            </a:pPr>
            <a:r>
              <a:rPr lang="zh-CN" altLang="en-US" sz="2000" b="1" dirty="0">
                <a:solidFill>
                  <a:srgbClr val="6C0000"/>
                </a:solidFill>
                <a:latin typeface="华文行楷" panose="02010800040101010101" charset="-122"/>
                <a:ea typeface="华文行楷" panose="02010800040101010101" charset="-122"/>
                <a:cs typeface="黑体" panose="02010609060101010101" charset="-122"/>
              </a:rPr>
              <a:t>快速发展阶段</a:t>
            </a:r>
            <a:r>
              <a:rPr lang="zh-CN" altLang="en-US" sz="2000" b="1" dirty="0">
                <a:solidFill>
                  <a:srgbClr val="6C0000"/>
                </a:solidFill>
                <a:latin typeface="华文行楷" panose="02010800040101010101" charset="-122"/>
                <a:ea typeface="华文行楷" panose="02010800040101010101" charset="-122"/>
                <a:cs typeface="华文行楷" panose="02010800040101010101" charset="-122"/>
                <a:sym typeface="+mn-ea"/>
              </a:rPr>
              <a:t>（续）</a:t>
            </a:r>
            <a:endParaRPr lang="en-US" altLang="zh-CN" sz="2000" b="1" dirty="0">
              <a:solidFill>
                <a:srgbClr val="6C0000"/>
              </a:solidFill>
              <a:latin typeface="华文行楷" panose="02010800040101010101" charset="-122"/>
              <a:ea typeface="华文行楷" panose="02010800040101010101" charset="-122"/>
              <a:cs typeface="黑体" panose="02010609060101010101" charset="-122"/>
            </a:endParaRPr>
          </a:p>
          <a:p>
            <a:pPr marL="342900" indent="-342900">
              <a:buFont typeface="Wingdings" panose="05000000000000000000" charset="0"/>
              <a:buChar char="n"/>
            </a:pPr>
            <a:endParaRPr lang="en-US" altLang="zh-CN" sz="2000" b="1" dirty="0">
              <a:latin typeface="黑体" panose="02010609060101010101" charset="-122"/>
              <a:ea typeface="黑体" panose="02010609060101010101" charset="-122"/>
              <a:cs typeface="黑体" panose="02010609060101010101" charset="-122"/>
            </a:endParaRPr>
          </a:p>
          <a:p>
            <a:r>
              <a:rPr lang="en-US" altLang="zh-CN" sz="2000" b="1" dirty="0">
                <a:latin typeface="黑体" panose="02010609060101010101" charset="-122"/>
                <a:ea typeface="黑体" panose="02010609060101010101" charset="-122"/>
                <a:cs typeface="黑体" panose="02010609060101010101" charset="-122"/>
              </a:rPr>
              <a:t> </a:t>
            </a:r>
            <a:endParaRPr lang="zh-CN" altLang="en-US" sz="2000" b="1" dirty="0">
              <a:latin typeface="黑体" panose="02010609060101010101" charset="-122"/>
              <a:ea typeface="黑体" panose="02010609060101010101" charset="-122"/>
              <a:cs typeface="黑体" panose="02010609060101010101" charset="-122"/>
            </a:endParaRPr>
          </a:p>
        </p:txBody>
      </p:sp>
      <p:sp>
        <p:nvSpPr>
          <p:cNvPr id="7" name="矩形 6"/>
          <p:cNvSpPr/>
          <p:nvPr/>
        </p:nvSpPr>
        <p:spPr>
          <a:xfrm>
            <a:off x="1001540" y="1577876"/>
            <a:ext cx="2162175" cy="475615"/>
          </a:xfrm>
          <a:prstGeom prst="rect">
            <a:avLst/>
          </a:prstGeom>
        </p:spPr>
        <p:txBody>
          <a:bodyPr wrap="none">
            <a:spAutoFit/>
          </a:bodyPr>
          <a:lstStyle/>
          <a:p>
            <a:pPr indent="201295" algn="just">
              <a:lnSpc>
                <a:spcPct val="125000"/>
              </a:lnSpc>
              <a:spcAft>
                <a:spcPts val="0"/>
              </a:spcAft>
            </a:pPr>
            <a:r>
              <a:rPr lang="zh-CN" altLang="zh-CN" sz="2000" kern="100" dirty="0">
                <a:solidFill>
                  <a:srgbClr val="6C0000"/>
                </a:solidFill>
                <a:latin typeface="黑体" panose="02010609060101010101" charset="-122"/>
                <a:ea typeface="黑体" panose="02010609060101010101" charset="-122"/>
                <a:cs typeface="Times New Roman" panose="02020603050405020304" pitchFamily="18" charset="0"/>
              </a:rPr>
              <a:t>分布式操作系统</a:t>
            </a:r>
            <a:endParaRPr lang="zh-CN" altLang="zh-CN" sz="2000" kern="100" dirty="0">
              <a:solidFill>
                <a:srgbClr val="6C0000"/>
              </a:solidFill>
              <a:latin typeface="黑体" panose="02010609060101010101" charset="-122"/>
              <a:ea typeface="黑体" panose="02010609060101010101" charset="-122"/>
              <a:cs typeface="Times New Roman" panose="02020603050405020304" pitchFamily="18" charset="0"/>
            </a:endParaRPr>
          </a:p>
        </p:txBody>
      </p:sp>
      <p:sp>
        <p:nvSpPr>
          <p:cNvPr id="3" name="矩形 2"/>
          <p:cNvSpPr/>
          <p:nvPr/>
        </p:nvSpPr>
        <p:spPr>
          <a:xfrm>
            <a:off x="1183701" y="2081641"/>
            <a:ext cx="9073008" cy="3553460"/>
          </a:xfrm>
          <a:prstGeom prst="rect">
            <a:avLst/>
          </a:prstGeom>
        </p:spPr>
        <p:txBody>
          <a:bodyPr wrap="square">
            <a:spAutoFit/>
          </a:bodyPr>
          <a:lstStyle/>
          <a:p>
            <a:pPr indent="200025" algn="just">
              <a:lnSpc>
                <a:spcPct val="125000"/>
              </a:lnSpc>
            </a:pPr>
            <a:r>
              <a:rPr lang="en-US" altLang="zh-CN" sz="2000" dirty="0">
                <a:latin typeface="黑体" panose="02010609060101010101" charset="-122"/>
                <a:ea typeface="黑体" panose="02010609060101010101" charset="-122"/>
                <a:cs typeface="黑体" panose="02010609060101010101" charset="-122"/>
              </a:rPr>
              <a:t>    </a:t>
            </a:r>
            <a:r>
              <a:rPr lang="zh-CN" altLang="zh-CN" sz="2000" dirty="0">
                <a:latin typeface="黑体" panose="02010609060101010101" charset="-122"/>
                <a:ea typeface="黑体" panose="02010609060101010101" charset="-122"/>
                <a:cs typeface="黑体" panose="02010609060101010101" charset="-122"/>
              </a:rPr>
              <a:t>分布式计算机系统是指由多台分散的计算机经网络连接而成的计算系统。其中的每台计算机既高度自治又相互协同，能在整个计算系统范围内实现资源管理、任务分配、并行地运行分布式程序。</a:t>
            </a:r>
            <a:r>
              <a:rPr lang="zh-CN" altLang="zh-CN" sz="2000" kern="100" dirty="0">
                <a:latin typeface="黑体" panose="02010609060101010101" charset="-122"/>
                <a:ea typeface="黑体" panose="02010609060101010101" charset="-122"/>
                <a:cs typeface="黑体" panose="02010609060101010101" charset="-122"/>
              </a:rPr>
              <a:t>分布式操作系统具有以下特征：</a:t>
            </a:r>
            <a:endParaRPr lang="en-US" altLang="zh-CN" sz="2000" kern="100" dirty="0">
              <a:latin typeface="黑体" panose="02010609060101010101" charset="-122"/>
              <a:ea typeface="黑体" panose="02010609060101010101" charset="-122"/>
              <a:cs typeface="黑体" panose="02010609060101010101" charset="-122"/>
            </a:endParaRPr>
          </a:p>
          <a:p>
            <a:pPr indent="200025" algn="just">
              <a:lnSpc>
                <a:spcPct val="125000"/>
              </a:lnSpc>
              <a:spcAft>
                <a:spcPts val="0"/>
              </a:spcAft>
            </a:pPr>
            <a:r>
              <a:rPr lang="zh-CN" altLang="zh-CN" sz="2000" kern="100" dirty="0">
                <a:solidFill>
                  <a:srgbClr val="002C6C"/>
                </a:solidFill>
                <a:latin typeface="黑体" panose="02010609060101010101" charset="-122"/>
                <a:ea typeface="黑体" panose="02010609060101010101" charset="-122"/>
                <a:cs typeface="黑体" panose="02010609060101010101" charset="-122"/>
              </a:rPr>
              <a:t>（</a:t>
            </a:r>
            <a:r>
              <a:rPr lang="en-US" altLang="zh-CN" sz="2000" kern="100" dirty="0">
                <a:solidFill>
                  <a:srgbClr val="002C6C"/>
                </a:solidFill>
                <a:latin typeface="黑体" panose="02010609060101010101" charset="-122"/>
                <a:ea typeface="黑体" panose="02010609060101010101" charset="-122"/>
                <a:cs typeface="黑体" panose="02010609060101010101" charset="-122"/>
              </a:rPr>
              <a:t>1</a:t>
            </a:r>
            <a:r>
              <a:rPr lang="zh-CN" altLang="zh-CN" sz="2000" kern="100" dirty="0">
                <a:solidFill>
                  <a:srgbClr val="002C6C"/>
                </a:solidFill>
                <a:latin typeface="黑体" panose="02010609060101010101" charset="-122"/>
                <a:ea typeface="黑体" panose="02010609060101010101" charset="-122"/>
                <a:cs typeface="黑体" panose="02010609060101010101" charset="-122"/>
              </a:rPr>
              <a:t>）统一管理：将分布式计算机系统作为一台计算机进行管理，实现管</a:t>
            </a:r>
            <a:endParaRPr lang="zh-CN" altLang="zh-CN" sz="2000" kern="100" dirty="0">
              <a:solidFill>
                <a:srgbClr val="002C6C"/>
              </a:solidFill>
              <a:latin typeface="黑体" panose="02010609060101010101" charset="-122"/>
              <a:ea typeface="黑体" panose="02010609060101010101" charset="-122"/>
              <a:cs typeface="黑体" panose="02010609060101010101" charset="-122"/>
            </a:endParaRPr>
          </a:p>
          <a:p>
            <a:pPr indent="200025" algn="just">
              <a:lnSpc>
                <a:spcPct val="125000"/>
              </a:lnSpc>
              <a:spcAft>
                <a:spcPts val="0"/>
              </a:spcAft>
            </a:pPr>
            <a:r>
              <a:rPr lang="en-US" altLang="zh-CN" sz="2000" kern="100" dirty="0">
                <a:solidFill>
                  <a:srgbClr val="002C6C"/>
                </a:solidFill>
                <a:latin typeface="黑体" panose="02010609060101010101" charset="-122"/>
                <a:ea typeface="黑体" panose="02010609060101010101" charset="-122"/>
                <a:cs typeface="黑体" panose="02010609060101010101" charset="-122"/>
              </a:rPr>
              <a:t>    </a:t>
            </a:r>
            <a:r>
              <a:rPr lang="zh-CN" altLang="zh-CN" sz="2000" kern="100" dirty="0">
                <a:solidFill>
                  <a:srgbClr val="002C6C"/>
                </a:solidFill>
                <a:latin typeface="黑体" panose="02010609060101010101" charset="-122"/>
                <a:ea typeface="黑体" panose="02010609060101010101" charset="-122"/>
                <a:cs typeface="黑体" panose="02010609060101010101" charset="-122"/>
              </a:rPr>
              <a:t>理的统一。</a:t>
            </a:r>
            <a:endParaRPr lang="zh-CN" altLang="zh-CN" sz="2000" kern="100" dirty="0">
              <a:solidFill>
                <a:srgbClr val="002C6C"/>
              </a:solidFill>
              <a:latin typeface="黑体" panose="02010609060101010101" charset="-122"/>
              <a:ea typeface="黑体" panose="02010609060101010101" charset="-122"/>
              <a:cs typeface="黑体" panose="02010609060101010101" charset="-122"/>
            </a:endParaRPr>
          </a:p>
          <a:p>
            <a:pPr indent="200025" algn="just">
              <a:lnSpc>
                <a:spcPct val="125000"/>
              </a:lnSpc>
              <a:spcAft>
                <a:spcPts val="0"/>
              </a:spcAft>
            </a:pPr>
            <a:r>
              <a:rPr lang="zh-CN" altLang="zh-CN" sz="2000" kern="100" dirty="0">
                <a:solidFill>
                  <a:srgbClr val="002C6C"/>
                </a:solidFill>
                <a:latin typeface="黑体" panose="02010609060101010101" charset="-122"/>
                <a:ea typeface="黑体" panose="02010609060101010101" charset="-122"/>
                <a:cs typeface="黑体" panose="02010609060101010101" charset="-122"/>
              </a:rPr>
              <a:t>（</a:t>
            </a:r>
            <a:r>
              <a:rPr lang="en-US" altLang="zh-CN" sz="2000" kern="100" dirty="0">
                <a:solidFill>
                  <a:srgbClr val="002C6C"/>
                </a:solidFill>
                <a:latin typeface="黑体" panose="02010609060101010101" charset="-122"/>
                <a:ea typeface="黑体" panose="02010609060101010101" charset="-122"/>
                <a:cs typeface="黑体" panose="02010609060101010101" charset="-122"/>
              </a:rPr>
              <a:t>2</a:t>
            </a:r>
            <a:r>
              <a:rPr lang="zh-CN" altLang="zh-CN" sz="2000" kern="100" dirty="0">
                <a:solidFill>
                  <a:srgbClr val="002C6C"/>
                </a:solidFill>
                <a:latin typeface="黑体" panose="02010609060101010101" charset="-122"/>
                <a:ea typeface="黑体" panose="02010609060101010101" charset="-122"/>
                <a:cs typeface="黑体" panose="02010609060101010101" charset="-122"/>
              </a:rPr>
              <a:t>）统一使用：所有资源统一分配与调度，实现统一使用。</a:t>
            </a:r>
            <a:endParaRPr lang="zh-CN" altLang="zh-CN" sz="2000" kern="100" dirty="0">
              <a:solidFill>
                <a:srgbClr val="002C6C"/>
              </a:solidFill>
              <a:latin typeface="黑体" panose="02010609060101010101" charset="-122"/>
              <a:ea typeface="黑体" panose="02010609060101010101" charset="-122"/>
              <a:cs typeface="黑体" panose="02010609060101010101" charset="-122"/>
            </a:endParaRPr>
          </a:p>
          <a:p>
            <a:pPr indent="200025" algn="just">
              <a:lnSpc>
                <a:spcPct val="125000"/>
              </a:lnSpc>
              <a:spcAft>
                <a:spcPts val="0"/>
              </a:spcAft>
            </a:pPr>
            <a:r>
              <a:rPr lang="zh-CN" altLang="zh-CN" sz="2000" kern="100" dirty="0">
                <a:solidFill>
                  <a:srgbClr val="002C6C"/>
                </a:solidFill>
                <a:latin typeface="黑体" panose="02010609060101010101" charset="-122"/>
                <a:ea typeface="黑体" panose="02010609060101010101" charset="-122"/>
                <a:cs typeface="黑体" panose="02010609060101010101" charset="-122"/>
              </a:rPr>
              <a:t>（</a:t>
            </a:r>
            <a:r>
              <a:rPr lang="en-US" altLang="zh-CN" sz="2000" kern="100" dirty="0">
                <a:solidFill>
                  <a:srgbClr val="002C6C"/>
                </a:solidFill>
                <a:latin typeface="黑体" panose="02010609060101010101" charset="-122"/>
                <a:ea typeface="黑体" panose="02010609060101010101" charset="-122"/>
                <a:cs typeface="黑体" panose="02010609060101010101" charset="-122"/>
              </a:rPr>
              <a:t>3</a:t>
            </a:r>
            <a:r>
              <a:rPr lang="zh-CN" altLang="zh-CN" sz="2000" kern="100" dirty="0">
                <a:solidFill>
                  <a:srgbClr val="002C6C"/>
                </a:solidFill>
                <a:latin typeface="黑体" panose="02010609060101010101" charset="-122"/>
                <a:ea typeface="黑体" panose="02010609060101010101" charset="-122"/>
                <a:cs typeface="黑体" panose="02010609060101010101" charset="-122"/>
              </a:rPr>
              <a:t>）统一界面：所有的计算机都有统一的用户操作接口，实现界面统一。</a:t>
            </a:r>
            <a:endParaRPr lang="zh-CN" altLang="zh-CN" sz="2000" kern="100" dirty="0">
              <a:solidFill>
                <a:srgbClr val="002C6C"/>
              </a:solidFill>
              <a:latin typeface="黑体" panose="02010609060101010101" charset="-122"/>
              <a:ea typeface="黑体" panose="02010609060101010101" charset="-122"/>
              <a:cs typeface="黑体" panose="02010609060101010101" charset="-122"/>
            </a:endParaRPr>
          </a:p>
          <a:p>
            <a:pPr indent="200025" algn="just">
              <a:lnSpc>
                <a:spcPct val="125000"/>
              </a:lnSpc>
              <a:spcAft>
                <a:spcPts val="0"/>
              </a:spcAft>
            </a:pPr>
            <a:r>
              <a:rPr lang="zh-CN" altLang="zh-CN" sz="2000" kern="100" dirty="0">
                <a:solidFill>
                  <a:srgbClr val="002C6C"/>
                </a:solidFill>
                <a:latin typeface="黑体" panose="02010609060101010101" charset="-122"/>
                <a:ea typeface="黑体" panose="02010609060101010101" charset="-122"/>
                <a:cs typeface="黑体" panose="02010609060101010101" charset="-122"/>
              </a:rPr>
              <a:t>（</a:t>
            </a:r>
            <a:r>
              <a:rPr lang="en-US" altLang="zh-CN" sz="2000" kern="100" dirty="0">
                <a:solidFill>
                  <a:srgbClr val="002C6C"/>
                </a:solidFill>
                <a:latin typeface="黑体" panose="02010609060101010101" charset="-122"/>
                <a:ea typeface="黑体" panose="02010609060101010101" charset="-122"/>
                <a:cs typeface="黑体" panose="02010609060101010101" charset="-122"/>
              </a:rPr>
              <a:t>4</a:t>
            </a:r>
            <a:r>
              <a:rPr lang="zh-CN" altLang="zh-CN" sz="2000" kern="100" dirty="0">
                <a:solidFill>
                  <a:srgbClr val="002C6C"/>
                </a:solidFill>
                <a:latin typeface="黑体" panose="02010609060101010101" charset="-122"/>
                <a:ea typeface="黑体" panose="02010609060101010101" charset="-122"/>
                <a:cs typeface="黑体" panose="02010609060101010101" charset="-122"/>
              </a:rPr>
              <a:t>）高容错性：任意一台计算机出错都不影响整个系统运行。</a:t>
            </a:r>
            <a:endParaRPr lang="zh-CN" altLang="zh-CN" sz="2000" kern="100" dirty="0">
              <a:solidFill>
                <a:srgbClr val="002C6C"/>
              </a:solidFill>
              <a:latin typeface="黑体" panose="02010609060101010101" charset="-122"/>
              <a:ea typeface="黑体" panose="02010609060101010101" charset="-122"/>
              <a:cs typeface="黑体" panose="02010609060101010101" charset="-122"/>
            </a:endParaRPr>
          </a:p>
          <a:p>
            <a:pPr indent="200025" algn="just">
              <a:lnSpc>
                <a:spcPct val="125000"/>
              </a:lnSpc>
              <a:spcAft>
                <a:spcPts val="0"/>
              </a:spcAft>
            </a:pPr>
            <a:r>
              <a:rPr lang="zh-CN" altLang="zh-CN" sz="2000" kern="100" dirty="0">
                <a:solidFill>
                  <a:srgbClr val="002C6C"/>
                </a:solidFill>
                <a:latin typeface="黑体" panose="02010609060101010101" charset="-122"/>
                <a:ea typeface="黑体" panose="02010609060101010101" charset="-122"/>
                <a:cs typeface="黑体" panose="02010609060101010101" charset="-122"/>
              </a:rPr>
              <a:t>（</a:t>
            </a:r>
            <a:r>
              <a:rPr lang="en-US" altLang="zh-CN" sz="2000" kern="100" dirty="0">
                <a:solidFill>
                  <a:srgbClr val="002C6C"/>
                </a:solidFill>
                <a:latin typeface="黑体" panose="02010609060101010101" charset="-122"/>
                <a:ea typeface="黑体" panose="02010609060101010101" charset="-122"/>
                <a:cs typeface="黑体" panose="02010609060101010101" charset="-122"/>
              </a:rPr>
              <a:t>5</a:t>
            </a:r>
            <a:r>
              <a:rPr lang="zh-CN" altLang="zh-CN" sz="2000" kern="100" dirty="0">
                <a:solidFill>
                  <a:srgbClr val="002C6C"/>
                </a:solidFill>
                <a:latin typeface="黑体" panose="02010609060101010101" charset="-122"/>
                <a:ea typeface="黑体" panose="02010609060101010101" charset="-122"/>
                <a:cs typeface="黑体" panose="02010609060101010101" charset="-122"/>
              </a:rPr>
              <a:t>）并行运算：提供分布式程序在系统中多个节点上并行执行支持</a:t>
            </a:r>
            <a:r>
              <a:rPr lang="zh-CN" altLang="zh-CN" sz="2000" kern="100" dirty="0">
                <a:latin typeface="黑体" panose="02010609060101010101" charset="-122"/>
                <a:ea typeface="黑体" panose="02010609060101010101" charset="-122"/>
                <a:cs typeface="黑体" panose="02010609060101010101" charset="-122"/>
              </a:rPr>
              <a:t>。</a:t>
            </a:r>
            <a:endParaRPr lang="zh-CN" altLang="zh-CN" sz="2000" kern="100" dirty="0">
              <a:latin typeface="黑体" panose="02010609060101010101" charset="-122"/>
              <a:ea typeface="黑体" panose="02010609060101010101" charset="-122"/>
              <a:cs typeface="黑体" panose="02010609060101010101"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001395" y="544830"/>
            <a:ext cx="5095240" cy="521970"/>
          </a:xfrm>
          <a:prstGeom prst="rect">
            <a:avLst/>
          </a:prstGeom>
        </p:spPr>
        <p:txBody>
          <a:bodyPr wrap="square">
            <a:spAutoFit/>
          </a:bodyPr>
          <a:p>
            <a:r>
              <a:rPr lang="en-US" altLang="zh-CN" sz="2800" b="0">
                <a:solidFill>
                  <a:srgbClr val="002060"/>
                </a:solidFill>
                <a:latin typeface="方正大黑简体" panose="02000000000000000000" charset="-122"/>
                <a:ea typeface="方正大黑简体" panose="02000000000000000000" charset="-122"/>
                <a:cs typeface="方正大黑简体" panose="02000000000000000000" charset="-122"/>
              </a:rPr>
              <a:t>1.2 </a:t>
            </a:r>
            <a:r>
              <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rPr>
              <a:t>操作系统的发展历程</a:t>
            </a:r>
            <a:endPar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15" name="文本框 14"/>
          <p:cNvSpPr txBox="1"/>
          <p:nvPr/>
        </p:nvSpPr>
        <p:spPr>
          <a:xfrm>
            <a:off x="1097280" y="1270000"/>
            <a:ext cx="2902585" cy="431800"/>
          </a:xfrm>
          <a:prstGeom prst="rect">
            <a:avLst/>
          </a:prstGeom>
          <a:noFill/>
        </p:spPr>
        <p:txBody>
          <a:bodyPr wrap="square" rtlCol="0">
            <a:noAutofit/>
          </a:bodyPr>
          <a:lstStyle/>
          <a:p>
            <a:pPr marL="342900" indent="-342900">
              <a:buFont typeface="Wingdings" panose="05000000000000000000" charset="0"/>
              <a:buChar char="n"/>
            </a:pPr>
            <a:r>
              <a:rPr lang="zh-CN" altLang="en-US" sz="2000" b="1" dirty="0">
                <a:solidFill>
                  <a:srgbClr val="6C0000"/>
                </a:solidFill>
                <a:latin typeface="华文行楷" panose="02010800040101010101" charset="-122"/>
                <a:ea typeface="华文行楷" panose="02010800040101010101" charset="-122"/>
                <a:cs typeface="华文行楷" panose="02010800040101010101" charset="-122"/>
              </a:rPr>
              <a:t>快速发展阶段</a:t>
            </a:r>
            <a:r>
              <a:rPr lang="zh-CN" altLang="en-US" sz="2000" b="1" dirty="0">
                <a:solidFill>
                  <a:srgbClr val="6C0000"/>
                </a:solidFill>
                <a:latin typeface="华文行楷" panose="02010800040101010101" charset="-122"/>
                <a:ea typeface="华文行楷" panose="02010800040101010101" charset="-122"/>
                <a:cs typeface="华文行楷" panose="02010800040101010101" charset="-122"/>
                <a:sym typeface="+mn-ea"/>
              </a:rPr>
              <a:t>（续）</a:t>
            </a:r>
            <a:endParaRPr lang="en-US" altLang="zh-CN" sz="2000" b="1" dirty="0">
              <a:solidFill>
                <a:srgbClr val="6C0000"/>
              </a:solidFill>
              <a:latin typeface="华文行楷" panose="02010800040101010101" charset="-122"/>
              <a:ea typeface="华文行楷" panose="02010800040101010101" charset="-122"/>
              <a:cs typeface="华文行楷" panose="02010800040101010101" charset="-122"/>
            </a:endParaRPr>
          </a:p>
          <a:p>
            <a:pPr indent="0">
              <a:buFont typeface="Wingdings" panose="05000000000000000000" charset="0"/>
              <a:buNone/>
            </a:pPr>
            <a:r>
              <a:rPr lang="en-US" altLang="zh-CN" sz="2000" b="1" dirty="0">
                <a:latin typeface="华文行楷" panose="02010800040101010101" charset="-122"/>
                <a:ea typeface="华文行楷" panose="02010800040101010101" charset="-122"/>
                <a:cs typeface="华文行楷" panose="02010800040101010101" charset="-122"/>
              </a:rPr>
              <a:t> </a:t>
            </a:r>
            <a:endParaRPr lang="zh-CN" altLang="en-US" sz="2000" b="1" dirty="0">
              <a:latin typeface="华文行楷" panose="02010800040101010101" charset="-122"/>
              <a:ea typeface="华文行楷" panose="02010800040101010101" charset="-122"/>
              <a:cs typeface="华文行楷" panose="02010800040101010101" charset="-122"/>
            </a:endParaRPr>
          </a:p>
        </p:txBody>
      </p:sp>
      <p:sp>
        <p:nvSpPr>
          <p:cNvPr id="7" name="矩形 6"/>
          <p:cNvSpPr/>
          <p:nvPr/>
        </p:nvSpPr>
        <p:spPr>
          <a:xfrm>
            <a:off x="1437437" y="1773409"/>
            <a:ext cx="2787543" cy="368300"/>
          </a:xfrm>
          <a:prstGeom prst="rect">
            <a:avLst/>
          </a:prstGeom>
        </p:spPr>
        <p:txBody>
          <a:bodyPr wrap="square">
            <a:spAutoFit/>
          </a:bodyPr>
          <a:lstStyle/>
          <a:p>
            <a:r>
              <a:rPr lang="zh-CN" altLang="zh-CN" sz="1800" b="1" dirty="0">
                <a:solidFill>
                  <a:srgbClr val="6C0000"/>
                </a:solidFill>
                <a:latin typeface="黑体" panose="02010609060101010101" charset="-122"/>
                <a:ea typeface="黑体" panose="02010609060101010101" charset="-122"/>
                <a:cs typeface="黑体" panose="02010609060101010101" charset="-122"/>
              </a:rPr>
              <a:t>嵌入式操作系统</a:t>
            </a:r>
            <a:endParaRPr lang="zh-CN" altLang="zh-CN" sz="1800" b="1" dirty="0">
              <a:solidFill>
                <a:srgbClr val="6C0000"/>
              </a:solidFill>
              <a:latin typeface="黑体" panose="02010609060101010101" charset="-122"/>
              <a:ea typeface="黑体" panose="02010609060101010101" charset="-122"/>
              <a:cs typeface="黑体" panose="02010609060101010101" charset="-122"/>
            </a:endParaRPr>
          </a:p>
        </p:txBody>
      </p:sp>
      <p:sp>
        <p:nvSpPr>
          <p:cNvPr id="3" name="矩形 2"/>
          <p:cNvSpPr/>
          <p:nvPr/>
        </p:nvSpPr>
        <p:spPr>
          <a:xfrm>
            <a:off x="1437640" y="2320925"/>
            <a:ext cx="8428990" cy="2861310"/>
          </a:xfrm>
          <a:prstGeom prst="rect">
            <a:avLst/>
          </a:prstGeom>
        </p:spPr>
        <p:txBody>
          <a:bodyPr wrap="square">
            <a:spAutoFit/>
          </a:bodyPr>
          <a:lstStyle/>
          <a:p>
            <a:pPr indent="200025" algn="just">
              <a:lnSpc>
                <a:spcPct val="125000"/>
              </a:lnSpc>
              <a:spcAft>
                <a:spcPts val="0"/>
              </a:spcAft>
            </a:pPr>
            <a:r>
              <a:rPr lang="zh-CN" altLang="zh-CN" sz="1800" kern="100" dirty="0">
                <a:latin typeface="黑体" panose="02010609060101010101" charset="-122"/>
                <a:ea typeface="黑体" panose="02010609060101010101" charset="-122"/>
                <a:cs typeface="黑体" panose="02010609060101010101" charset="-122"/>
              </a:rPr>
              <a:t>嵌入式操作系统具有以下特征：</a:t>
            </a:r>
            <a:endParaRPr lang="zh-CN" altLang="zh-CN" sz="1800" kern="100" dirty="0">
              <a:latin typeface="黑体" panose="02010609060101010101" charset="-122"/>
              <a:ea typeface="黑体" panose="02010609060101010101" charset="-122"/>
              <a:cs typeface="黑体" panose="02010609060101010101" charset="-122"/>
            </a:endParaRPr>
          </a:p>
          <a:p>
            <a:pPr indent="200025" algn="just">
              <a:lnSpc>
                <a:spcPct val="125000"/>
              </a:lnSpc>
              <a:spcAft>
                <a:spcPts val="0"/>
              </a:spcAft>
            </a:pPr>
            <a:r>
              <a:rPr lang="zh-CN" altLang="zh-CN" sz="1800" kern="100" dirty="0">
                <a:latin typeface="黑体" panose="02010609060101010101" charset="-122"/>
                <a:ea typeface="黑体" panose="02010609060101010101" charset="-122"/>
                <a:cs typeface="黑体" panose="02010609060101010101" charset="-122"/>
              </a:rPr>
              <a:t>（</a:t>
            </a:r>
            <a:r>
              <a:rPr lang="en-US" altLang="zh-CN" sz="1800" kern="100" dirty="0">
                <a:latin typeface="黑体" panose="02010609060101010101" charset="-122"/>
                <a:ea typeface="黑体" panose="02010609060101010101" charset="-122"/>
                <a:cs typeface="黑体" panose="02010609060101010101" charset="-122"/>
              </a:rPr>
              <a:t>1</a:t>
            </a:r>
            <a:r>
              <a:rPr lang="zh-CN" altLang="zh-CN" sz="1800" kern="100" dirty="0">
                <a:latin typeface="黑体" panose="02010609060101010101" charset="-122"/>
                <a:ea typeface="黑体" panose="02010609060101010101" charset="-122"/>
                <a:cs typeface="黑体" panose="02010609060101010101" charset="-122"/>
              </a:rPr>
              <a:t>）微型化：由于嵌入式系统一般是应用于小型电子装置，系统资源相对有限，因此，嵌入式操作系统较之传统的操作系统要小得多。</a:t>
            </a:r>
            <a:endParaRPr lang="zh-CN" altLang="zh-CN" sz="1800" kern="100" dirty="0">
              <a:latin typeface="黑体" panose="02010609060101010101" charset="-122"/>
              <a:ea typeface="黑体" panose="02010609060101010101" charset="-122"/>
              <a:cs typeface="黑体" panose="02010609060101010101" charset="-122"/>
            </a:endParaRPr>
          </a:p>
          <a:p>
            <a:pPr indent="200025" algn="just">
              <a:lnSpc>
                <a:spcPct val="125000"/>
              </a:lnSpc>
              <a:spcAft>
                <a:spcPts val="0"/>
              </a:spcAft>
            </a:pPr>
            <a:r>
              <a:rPr lang="zh-CN" altLang="zh-CN" sz="1800" kern="100" dirty="0">
                <a:latin typeface="黑体" panose="02010609060101010101" charset="-122"/>
                <a:ea typeface="黑体" panose="02010609060101010101" charset="-122"/>
                <a:cs typeface="黑体" panose="02010609060101010101" charset="-122"/>
              </a:rPr>
              <a:t>（</a:t>
            </a:r>
            <a:r>
              <a:rPr lang="en-US" altLang="zh-CN" sz="1800" kern="100" dirty="0">
                <a:latin typeface="黑体" panose="02010609060101010101" charset="-122"/>
                <a:ea typeface="黑体" panose="02010609060101010101" charset="-122"/>
                <a:cs typeface="黑体" panose="02010609060101010101" charset="-122"/>
              </a:rPr>
              <a:t>2</a:t>
            </a:r>
            <a:r>
              <a:rPr lang="zh-CN" altLang="zh-CN" sz="1800" kern="100" dirty="0">
                <a:latin typeface="黑体" panose="02010609060101010101" charset="-122"/>
                <a:ea typeface="黑体" panose="02010609060101010101" charset="-122"/>
                <a:cs typeface="黑体" panose="02010609060101010101" charset="-122"/>
              </a:rPr>
              <a:t>）专用性：由于嵌入式系统都是面向特定应用的，相应地，嵌入式操作系统必须也具有较强的专用性，精简传统操作系统中的多数功能。</a:t>
            </a:r>
            <a:endParaRPr lang="zh-CN" altLang="zh-CN" sz="1800" kern="100" dirty="0">
              <a:latin typeface="黑体" panose="02010609060101010101" charset="-122"/>
              <a:ea typeface="黑体" panose="02010609060101010101" charset="-122"/>
              <a:cs typeface="黑体" panose="02010609060101010101" charset="-122"/>
            </a:endParaRPr>
          </a:p>
          <a:p>
            <a:pPr indent="200025" algn="just">
              <a:lnSpc>
                <a:spcPct val="125000"/>
              </a:lnSpc>
              <a:spcAft>
                <a:spcPts val="0"/>
              </a:spcAft>
            </a:pPr>
            <a:r>
              <a:rPr lang="zh-CN" altLang="zh-CN" sz="1800" kern="100" dirty="0">
                <a:latin typeface="黑体" panose="02010609060101010101" charset="-122"/>
                <a:ea typeface="黑体" panose="02010609060101010101" charset="-122"/>
                <a:cs typeface="黑体" panose="02010609060101010101" charset="-122"/>
              </a:rPr>
              <a:t>（</a:t>
            </a:r>
            <a:r>
              <a:rPr lang="en-US" altLang="zh-CN" sz="1800" kern="100" dirty="0">
                <a:latin typeface="黑体" panose="02010609060101010101" charset="-122"/>
                <a:ea typeface="黑体" panose="02010609060101010101" charset="-122"/>
                <a:cs typeface="黑体" panose="02010609060101010101" charset="-122"/>
              </a:rPr>
              <a:t>3</a:t>
            </a:r>
            <a:r>
              <a:rPr lang="zh-CN" altLang="zh-CN" sz="1800" kern="100" dirty="0">
                <a:latin typeface="黑体" panose="02010609060101010101" charset="-122"/>
                <a:ea typeface="黑体" panose="02010609060101010101" charset="-122"/>
                <a:cs typeface="黑体" panose="02010609060101010101" charset="-122"/>
              </a:rPr>
              <a:t>）实时性：嵌入式系统广泛应用于过程控制、数据采集与通信等要求迅速响应的场景，嵌入式操作系统应该具有</a:t>
            </a:r>
            <a:r>
              <a:rPr lang="zh-CN" altLang="zh-CN" sz="1800" kern="100" dirty="0">
                <a:solidFill>
                  <a:srgbClr val="333333"/>
                </a:solidFill>
                <a:latin typeface="黑体" panose="02010609060101010101" charset="-122"/>
                <a:ea typeface="黑体" panose="02010609060101010101" charset="-122"/>
                <a:cs typeface="黑体" panose="02010609060101010101" charset="-122"/>
              </a:rPr>
              <a:t>高实时性</a:t>
            </a:r>
            <a:r>
              <a:rPr lang="zh-CN" altLang="zh-CN" sz="1800" kern="100" dirty="0">
                <a:latin typeface="黑体" panose="02010609060101010101" charset="-122"/>
                <a:ea typeface="黑体" panose="02010609060101010101" charset="-122"/>
                <a:cs typeface="黑体" panose="02010609060101010101" charset="-122"/>
              </a:rPr>
              <a:t>。</a:t>
            </a:r>
            <a:endParaRPr lang="zh-CN" altLang="zh-CN" sz="1800" kern="100" dirty="0">
              <a:latin typeface="黑体" panose="02010609060101010101" charset="-122"/>
              <a:ea typeface="黑体" panose="02010609060101010101" charset="-122"/>
              <a:cs typeface="黑体" panose="02010609060101010101" charset="-122"/>
            </a:endParaRPr>
          </a:p>
          <a:p>
            <a:pPr indent="200025" algn="just">
              <a:lnSpc>
                <a:spcPct val="125000"/>
              </a:lnSpc>
              <a:spcAft>
                <a:spcPts val="0"/>
              </a:spcAft>
            </a:pPr>
            <a:r>
              <a:rPr lang="zh-CN" altLang="zh-CN" sz="1800" kern="100" dirty="0">
                <a:latin typeface="黑体" panose="02010609060101010101" charset="-122"/>
                <a:ea typeface="黑体" panose="02010609060101010101" charset="-122"/>
                <a:cs typeface="黑体" panose="02010609060101010101" charset="-122"/>
              </a:rPr>
              <a:t>（</a:t>
            </a:r>
            <a:r>
              <a:rPr lang="en-US" altLang="zh-CN" sz="1800" kern="100" dirty="0">
                <a:latin typeface="黑体" panose="02010609060101010101" charset="-122"/>
                <a:ea typeface="黑体" panose="02010609060101010101" charset="-122"/>
                <a:cs typeface="黑体" panose="02010609060101010101" charset="-122"/>
              </a:rPr>
              <a:t>4</a:t>
            </a:r>
            <a:r>
              <a:rPr lang="zh-CN" altLang="zh-CN" sz="1800" kern="100" dirty="0">
                <a:latin typeface="黑体" panose="02010609060101010101" charset="-122"/>
                <a:ea typeface="黑体" panose="02010609060101010101" charset="-122"/>
                <a:cs typeface="黑体" panose="02010609060101010101" charset="-122"/>
              </a:rPr>
              <a:t>）可靠性：嵌入式系统的高可靠性必然要求嵌入式操作系统具有高可靠性。</a:t>
            </a:r>
            <a:endParaRPr lang="zh-CN" altLang="zh-CN" sz="1800" kern="100" dirty="0">
              <a:latin typeface="黑体" panose="02010609060101010101" charset="-122"/>
              <a:ea typeface="黑体" panose="02010609060101010101" charset="-122"/>
              <a:cs typeface="黑体" panose="02010609060101010101"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001395" y="544830"/>
            <a:ext cx="5095240" cy="521970"/>
          </a:xfrm>
          <a:prstGeom prst="rect">
            <a:avLst/>
          </a:prstGeom>
        </p:spPr>
        <p:txBody>
          <a:bodyPr wrap="square">
            <a:spAutoFit/>
          </a:bodyPr>
          <a:p>
            <a:r>
              <a:rPr lang="en-US" altLang="zh-CN" sz="2800" b="0">
                <a:solidFill>
                  <a:srgbClr val="002060"/>
                </a:solidFill>
                <a:latin typeface="方正大黑简体" panose="02000000000000000000" charset="-122"/>
                <a:ea typeface="方正大黑简体" panose="02000000000000000000" charset="-122"/>
                <a:cs typeface="方正大黑简体" panose="02000000000000000000" charset="-122"/>
              </a:rPr>
              <a:t>1.2 </a:t>
            </a:r>
            <a:r>
              <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rPr>
              <a:t>操作系统的发展历程</a:t>
            </a:r>
            <a:endPar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15" name="文本框 14"/>
          <p:cNvSpPr txBox="1"/>
          <p:nvPr/>
        </p:nvSpPr>
        <p:spPr>
          <a:xfrm>
            <a:off x="1097280" y="1066800"/>
            <a:ext cx="2581275" cy="415925"/>
          </a:xfrm>
          <a:prstGeom prst="rect">
            <a:avLst/>
          </a:prstGeom>
          <a:noFill/>
        </p:spPr>
        <p:txBody>
          <a:bodyPr wrap="square" rtlCol="0">
            <a:noAutofit/>
          </a:bodyPr>
          <a:lstStyle/>
          <a:p>
            <a:pPr marL="342900" indent="-342900">
              <a:buFont typeface="Wingdings" panose="05000000000000000000" charset="0"/>
              <a:buChar char="n"/>
            </a:pPr>
            <a:r>
              <a:rPr lang="zh-CN" altLang="en-US" sz="2000" b="1" dirty="0">
                <a:solidFill>
                  <a:srgbClr val="6C0000"/>
                </a:solidFill>
                <a:latin typeface="华文行楷" panose="02010800040101010101" charset="-122"/>
                <a:ea typeface="华文行楷" panose="02010800040101010101" charset="-122"/>
                <a:cs typeface="华文行楷" panose="02010800040101010101" charset="-122"/>
              </a:rPr>
              <a:t>快速发展阶段</a:t>
            </a:r>
            <a:r>
              <a:rPr lang="zh-CN" altLang="en-US" sz="2000" b="1" dirty="0">
                <a:solidFill>
                  <a:srgbClr val="6C0000"/>
                </a:solidFill>
                <a:latin typeface="华文行楷" panose="02010800040101010101" charset="-122"/>
                <a:ea typeface="华文行楷" panose="02010800040101010101" charset="-122"/>
                <a:cs typeface="华文行楷" panose="02010800040101010101" charset="-122"/>
                <a:sym typeface="+mn-ea"/>
              </a:rPr>
              <a:t>（续）</a:t>
            </a:r>
            <a:endParaRPr lang="en-US" altLang="zh-CN" sz="2000" b="1" dirty="0">
              <a:solidFill>
                <a:srgbClr val="6C0000"/>
              </a:solidFill>
              <a:latin typeface="华文行楷" panose="02010800040101010101" charset="-122"/>
              <a:ea typeface="华文行楷" panose="02010800040101010101" charset="-122"/>
              <a:cs typeface="华文行楷" panose="02010800040101010101" charset="-122"/>
            </a:endParaRPr>
          </a:p>
          <a:p>
            <a:pPr indent="0">
              <a:buFont typeface="Wingdings" panose="05000000000000000000" charset="0"/>
              <a:buNone/>
            </a:pPr>
            <a:r>
              <a:rPr lang="en-US" altLang="zh-CN" sz="2000" b="1" dirty="0">
                <a:latin typeface="华文行楷" panose="02010800040101010101" charset="-122"/>
                <a:ea typeface="华文行楷" panose="02010800040101010101" charset="-122"/>
                <a:cs typeface="华文行楷" panose="02010800040101010101" charset="-122"/>
              </a:rPr>
              <a:t> </a:t>
            </a:r>
            <a:endParaRPr lang="zh-CN" altLang="en-US" sz="2000" b="1" dirty="0">
              <a:latin typeface="华文行楷" panose="02010800040101010101" charset="-122"/>
              <a:ea typeface="华文行楷" panose="02010800040101010101" charset="-122"/>
              <a:cs typeface="华文行楷" panose="02010800040101010101" charset="-122"/>
            </a:endParaRPr>
          </a:p>
        </p:txBody>
      </p:sp>
      <p:sp>
        <p:nvSpPr>
          <p:cNvPr id="10" name="Text Box 13"/>
          <p:cNvSpPr txBox="1">
            <a:spLocks noChangeArrowheads="1"/>
          </p:cNvSpPr>
          <p:nvPr/>
        </p:nvSpPr>
        <p:spPr bwMode="auto">
          <a:xfrm>
            <a:off x="1991544" y="1628800"/>
            <a:ext cx="2484276" cy="368300"/>
          </a:xfrm>
          <a:prstGeom prst="rect">
            <a:avLst/>
          </a:prstGeom>
          <a:solidFill>
            <a:schemeClr val="accent5">
              <a:lumMod val="50000"/>
            </a:schemeClr>
          </a:solidFill>
          <a:ln w="9525">
            <a:noFill/>
            <a:miter lim="800000"/>
          </a:ln>
          <a:effectLst>
            <a:glow rad="101600">
              <a:schemeClr val="accent4">
                <a:satMod val="175000"/>
                <a:alpha val="40000"/>
              </a:schemeClr>
            </a:glow>
            <a:innerShdw blurRad="63500" dist="50800" dir="2700000">
              <a:prstClr val="black">
                <a:alpha val="50000"/>
              </a:prstClr>
            </a:innerShdw>
          </a:effectLst>
        </p:spPr>
        <p:txBody>
          <a:bodyPr wrap="square">
            <a:spAutoFit/>
          </a:bodyPr>
          <a:lstStyle/>
          <a:p>
            <a:pPr eaLnBrk="1" hangingPunct="1">
              <a:spcBef>
                <a:spcPct val="50000"/>
              </a:spcBef>
              <a:defRPr/>
            </a:pPr>
            <a:r>
              <a:rPr lang="zh-CN" altLang="en-US" sz="1800" b="1" dirty="0">
                <a:solidFill>
                  <a:schemeClr val="bg1"/>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常用嵌入式操作系统</a:t>
            </a:r>
            <a:endParaRPr lang="zh-CN" altLang="en-US" sz="1800" b="1" dirty="0">
              <a:solidFill>
                <a:schemeClr val="bg1"/>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p:txBody>
      </p:sp>
      <p:sp>
        <p:nvSpPr>
          <p:cNvPr id="6" name="AutoShape 7"/>
          <p:cNvSpPr>
            <a:spLocks noChangeArrowheads="1"/>
          </p:cNvSpPr>
          <p:nvPr/>
        </p:nvSpPr>
        <p:spPr bwMode="auto">
          <a:xfrm>
            <a:off x="4625196" y="4525506"/>
            <a:ext cx="1998222" cy="594066"/>
          </a:xfrm>
          <a:prstGeom prst="wedgeEllipseCallout">
            <a:avLst>
              <a:gd name="adj1" fmla="val -75299"/>
              <a:gd name="adj2" fmla="val -96047"/>
            </a:avLst>
          </a:prstGeom>
          <a:noFill/>
          <a:ln w="9525">
            <a:solidFill>
              <a:schemeClr val="tx1"/>
            </a:solidFill>
            <a:miter lim="800000"/>
          </a:ln>
          <a:effectLst>
            <a:outerShdw dist="107763" dir="2700000" algn="ctr" rotWithShape="0">
              <a:schemeClr val="bg2"/>
            </a:outerShdw>
          </a:effectLst>
        </p:spPr>
        <p:txBody>
          <a:bodyPr lIns="0" tIns="0" rIns="0" bIns="0" anchor="ctr" anchorCtr="1"/>
          <a:lstStyle/>
          <a:p>
            <a:pPr algn="ctr" eaLnBrk="1" hangingPunct="1">
              <a:spcBef>
                <a:spcPct val="0"/>
              </a:spcBef>
              <a:defRPr/>
            </a:pPr>
            <a:r>
              <a:rPr lang="en-US" altLang="zh-CN" sz="1500" dirty="0">
                <a:solidFill>
                  <a:srgbClr val="800000"/>
                </a:solidFill>
                <a:effectLst>
                  <a:outerShdw blurRad="38100" dist="38100" dir="2700000" algn="tl">
                    <a:srgbClr val="000000"/>
                  </a:outerShdw>
                </a:effectLst>
                <a:ea typeface="楷体" panose="02010609060101010101" pitchFamily="49" charset="-122"/>
              </a:rPr>
              <a:t>Apple  </a:t>
            </a:r>
            <a:r>
              <a:rPr lang="en-US" altLang="zh-CN" sz="1500" dirty="0" err="1">
                <a:solidFill>
                  <a:srgbClr val="800000"/>
                </a:solidFill>
                <a:effectLst>
                  <a:outerShdw blurRad="38100" dist="38100" dir="2700000" algn="tl">
                    <a:srgbClr val="000000"/>
                  </a:outerShdw>
                </a:effectLst>
                <a:ea typeface="楷体" panose="02010609060101010101" pitchFamily="49" charset="-122"/>
              </a:rPr>
              <a:t>iPhone</a:t>
            </a:r>
            <a:r>
              <a:rPr lang="zh-CN" altLang="en-US" sz="1500" dirty="0">
                <a:solidFill>
                  <a:srgbClr val="800000"/>
                </a:solidFill>
                <a:effectLst>
                  <a:outerShdw blurRad="38100" dist="38100" dir="2700000" algn="tl">
                    <a:srgbClr val="000000"/>
                  </a:outerShdw>
                </a:effectLst>
                <a:ea typeface="楷体" panose="02010609060101010101" pitchFamily="49" charset="-122"/>
              </a:rPr>
              <a:t>的</a:t>
            </a:r>
            <a:r>
              <a:rPr lang="en-US" altLang="zh-CN" sz="1500" dirty="0">
                <a:solidFill>
                  <a:srgbClr val="800000"/>
                </a:solidFill>
                <a:effectLst>
                  <a:outerShdw blurRad="38100" dist="38100" dir="2700000" algn="tl">
                    <a:srgbClr val="000000"/>
                  </a:outerShdw>
                </a:effectLst>
                <a:ea typeface="楷体" panose="02010609060101010101" pitchFamily="49" charset="-122"/>
              </a:rPr>
              <a:t> </a:t>
            </a:r>
            <a:endParaRPr lang="en-US" altLang="zh-CN" sz="1500" dirty="0">
              <a:solidFill>
                <a:srgbClr val="800000"/>
              </a:solidFill>
              <a:effectLst>
                <a:outerShdw blurRad="38100" dist="38100" dir="2700000" algn="tl">
                  <a:srgbClr val="000000"/>
                </a:outerShdw>
              </a:effectLst>
              <a:ea typeface="楷体" panose="02010609060101010101" pitchFamily="49" charset="-122"/>
            </a:endParaRPr>
          </a:p>
          <a:p>
            <a:pPr algn="ctr" eaLnBrk="1" hangingPunct="1">
              <a:spcBef>
                <a:spcPct val="0"/>
              </a:spcBef>
              <a:defRPr/>
            </a:pPr>
            <a:r>
              <a:rPr lang="en-US" altLang="zh-CN" sz="1500" dirty="0" err="1">
                <a:solidFill>
                  <a:srgbClr val="FF0000"/>
                </a:solidFill>
                <a:effectLst>
                  <a:outerShdw blurRad="38100" dist="38100" dir="2700000" algn="tl">
                    <a:srgbClr val="000000"/>
                  </a:outerShdw>
                </a:effectLst>
                <a:ea typeface="楷体" panose="02010609060101010101" pitchFamily="49" charset="-122"/>
              </a:rPr>
              <a:t>iOS</a:t>
            </a:r>
            <a:r>
              <a:rPr lang="zh-CN" altLang="en-US" sz="1500" dirty="0">
                <a:solidFill>
                  <a:srgbClr val="800000"/>
                </a:solidFill>
                <a:effectLst>
                  <a:outerShdw blurRad="38100" dist="38100" dir="2700000" algn="tl">
                    <a:srgbClr val="000000"/>
                  </a:outerShdw>
                </a:effectLst>
                <a:ea typeface="楷体" panose="02010609060101010101" pitchFamily="49" charset="-122"/>
              </a:rPr>
              <a:t>操作系统</a:t>
            </a:r>
            <a:endParaRPr lang="en-US" altLang="zh-CN" sz="1500" dirty="0">
              <a:solidFill>
                <a:srgbClr val="800000"/>
              </a:solidFill>
              <a:effectLst>
                <a:outerShdw blurRad="38100" dist="38100" dir="2700000" algn="tl">
                  <a:srgbClr val="000000"/>
                </a:outerShdw>
              </a:effectLst>
              <a:ea typeface="楷体" panose="02010609060101010101" pitchFamily="49" charset="-122"/>
            </a:endParaRPr>
          </a:p>
        </p:txBody>
      </p:sp>
      <p:pic>
        <p:nvPicPr>
          <p:cNvPr id="86019" name="Picture 3"/>
          <p:cNvPicPr>
            <a:picLocks noChangeAspect="1" noChangeArrowheads="1"/>
          </p:cNvPicPr>
          <p:nvPr/>
        </p:nvPicPr>
        <p:blipFill>
          <a:blip r:embed="rId1" cstate="print">
            <a:clrChange>
              <a:clrFrom>
                <a:srgbClr val="F2F2F2"/>
              </a:clrFrom>
              <a:clrTo>
                <a:srgbClr val="F2F2F2">
                  <a:alpha val="0"/>
                </a:srgbClr>
              </a:clrTo>
            </a:clrChange>
          </a:blip>
          <a:srcRect/>
          <a:stretch>
            <a:fillRect/>
          </a:stretch>
        </p:blipFill>
        <p:spPr bwMode="auto">
          <a:xfrm>
            <a:off x="1991360" y="1997075"/>
            <a:ext cx="2330450" cy="3829685"/>
          </a:xfrm>
          <a:prstGeom prst="rect">
            <a:avLst/>
          </a:prstGeom>
          <a:noFill/>
          <a:ln w="9525" cap="flat" cmpd="sng" algn="ctr">
            <a:noFill/>
            <a:prstDash val="solid"/>
            <a:miter lim="800000"/>
            <a:headEnd/>
            <a:tailEnd/>
          </a:ln>
        </p:spPr>
      </p:pic>
      <p:pic>
        <p:nvPicPr>
          <p:cNvPr id="87042" name="Picture 2"/>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7490460" y="2302510"/>
            <a:ext cx="2725420" cy="3218815"/>
          </a:xfrm>
          <a:prstGeom prst="rect">
            <a:avLst/>
          </a:prstGeom>
          <a:noFill/>
          <a:ln w="9525" cap="flat" cmpd="sng" algn="ctr">
            <a:noFill/>
            <a:prstDash val="solid"/>
            <a:miter lim="800000"/>
            <a:headEnd/>
            <a:tailEnd/>
          </a:ln>
        </p:spPr>
      </p:pic>
      <p:sp>
        <p:nvSpPr>
          <p:cNvPr id="2" name="AutoShape 7"/>
          <p:cNvSpPr>
            <a:spLocks noChangeArrowheads="1"/>
          </p:cNvSpPr>
          <p:nvPr/>
        </p:nvSpPr>
        <p:spPr bwMode="auto">
          <a:xfrm>
            <a:off x="5120640" y="3070225"/>
            <a:ext cx="2283460" cy="717550"/>
          </a:xfrm>
          <a:prstGeom prst="wedgeEllipseCallout">
            <a:avLst>
              <a:gd name="adj1" fmla="val 91879"/>
              <a:gd name="adj2" fmla="val -59292"/>
            </a:avLst>
          </a:prstGeom>
          <a:noFill/>
          <a:ln w="9525">
            <a:solidFill>
              <a:schemeClr val="tx1"/>
            </a:solidFill>
            <a:miter lim="800000"/>
          </a:ln>
          <a:effectLst>
            <a:outerShdw dist="107763" dir="2700000" algn="ctr" rotWithShape="0">
              <a:schemeClr val="bg2"/>
            </a:outerShdw>
          </a:effectLst>
        </p:spPr>
        <p:txBody>
          <a:bodyPr lIns="0" tIns="0" rIns="0" bIns="0" anchor="ctr" anchorCtr="1"/>
          <a:lstStyle/>
          <a:p>
            <a:pPr algn="ctr" eaLnBrk="1" hangingPunct="1">
              <a:spcBef>
                <a:spcPct val="0"/>
              </a:spcBef>
              <a:defRPr/>
            </a:pPr>
            <a:r>
              <a:rPr lang="en-US" altLang="zh-CN" sz="1800" dirty="0">
                <a:solidFill>
                  <a:srgbClr val="800000"/>
                </a:solidFill>
                <a:effectLst>
                  <a:outerShdw blurRad="38100" dist="38100" dir="2700000" algn="tl">
                    <a:srgbClr val="000000"/>
                  </a:outerShdw>
                </a:effectLst>
                <a:ea typeface="楷体" panose="02010609060101010101" pitchFamily="49" charset="-122"/>
              </a:rPr>
              <a:t>Apple  </a:t>
            </a:r>
            <a:r>
              <a:rPr lang="en-US" altLang="zh-CN" sz="1800" dirty="0" err="1">
                <a:solidFill>
                  <a:srgbClr val="800000"/>
                </a:solidFill>
                <a:effectLst>
                  <a:outerShdw blurRad="38100" dist="38100" dir="2700000" algn="tl">
                    <a:srgbClr val="000000"/>
                  </a:outerShdw>
                </a:effectLst>
                <a:ea typeface="楷体" panose="02010609060101010101" pitchFamily="49" charset="-122"/>
              </a:rPr>
              <a:t>iPad</a:t>
            </a:r>
            <a:r>
              <a:rPr lang="zh-CN" altLang="en-US" sz="1800" dirty="0">
                <a:solidFill>
                  <a:srgbClr val="800000"/>
                </a:solidFill>
                <a:effectLst>
                  <a:outerShdw blurRad="38100" dist="38100" dir="2700000" algn="tl">
                    <a:srgbClr val="000000"/>
                  </a:outerShdw>
                </a:effectLst>
                <a:ea typeface="楷体" panose="02010609060101010101" pitchFamily="49" charset="-122"/>
              </a:rPr>
              <a:t>的</a:t>
            </a:r>
            <a:r>
              <a:rPr lang="en-US" altLang="zh-CN" sz="1800" dirty="0">
                <a:solidFill>
                  <a:srgbClr val="800000"/>
                </a:solidFill>
                <a:effectLst>
                  <a:outerShdw blurRad="38100" dist="38100" dir="2700000" algn="tl">
                    <a:srgbClr val="000000"/>
                  </a:outerShdw>
                </a:effectLst>
                <a:ea typeface="楷体" panose="02010609060101010101" pitchFamily="49" charset="-122"/>
              </a:rPr>
              <a:t> </a:t>
            </a:r>
            <a:endParaRPr lang="en-US" altLang="zh-CN" sz="1800" dirty="0">
              <a:solidFill>
                <a:srgbClr val="800000"/>
              </a:solidFill>
              <a:effectLst>
                <a:outerShdw blurRad="38100" dist="38100" dir="2700000" algn="tl">
                  <a:srgbClr val="000000"/>
                </a:outerShdw>
              </a:effectLst>
              <a:ea typeface="楷体" panose="02010609060101010101" pitchFamily="49" charset="-122"/>
            </a:endParaRPr>
          </a:p>
          <a:p>
            <a:pPr algn="ctr" eaLnBrk="1" hangingPunct="1">
              <a:spcBef>
                <a:spcPct val="0"/>
              </a:spcBef>
              <a:defRPr/>
            </a:pPr>
            <a:r>
              <a:rPr lang="en-US" altLang="zh-CN" sz="1800" dirty="0" err="1">
                <a:solidFill>
                  <a:srgbClr val="FF0000"/>
                </a:solidFill>
                <a:effectLst>
                  <a:outerShdw blurRad="38100" dist="38100" dir="2700000" algn="tl">
                    <a:srgbClr val="000000"/>
                  </a:outerShdw>
                </a:effectLst>
                <a:ea typeface="楷体" panose="02010609060101010101" pitchFamily="49" charset="-122"/>
              </a:rPr>
              <a:t>iOS</a:t>
            </a:r>
            <a:r>
              <a:rPr lang="zh-CN" altLang="en-US" sz="1800" dirty="0">
                <a:solidFill>
                  <a:srgbClr val="800000"/>
                </a:solidFill>
                <a:effectLst>
                  <a:outerShdw blurRad="38100" dist="38100" dir="2700000" algn="tl">
                    <a:srgbClr val="000000"/>
                  </a:outerShdw>
                </a:effectLst>
                <a:ea typeface="楷体" panose="02010609060101010101" pitchFamily="49" charset="-122"/>
              </a:rPr>
              <a:t>操作系统</a:t>
            </a:r>
            <a:endParaRPr lang="en-US" altLang="zh-CN" sz="1800" dirty="0">
              <a:solidFill>
                <a:srgbClr val="800000"/>
              </a:solidFill>
              <a:effectLst>
                <a:outerShdw blurRad="38100" dist="38100" dir="2700000" algn="tl">
                  <a:srgbClr val="000000"/>
                </a:outerShdw>
              </a:effectLst>
              <a:ea typeface="楷体" panose="02010609060101010101" pitchFamily="49"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001395" y="544830"/>
            <a:ext cx="5095240" cy="521970"/>
          </a:xfrm>
          <a:prstGeom prst="rect">
            <a:avLst/>
          </a:prstGeom>
        </p:spPr>
        <p:txBody>
          <a:bodyPr wrap="square">
            <a:spAutoFit/>
          </a:bodyPr>
          <a:p>
            <a:r>
              <a:rPr lang="en-US" altLang="zh-CN" sz="2800" b="0">
                <a:solidFill>
                  <a:srgbClr val="002060"/>
                </a:solidFill>
                <a:latin typeface="方正大黑简体" panose="02000000000000000000" charset="-122"/>
                <a:ea typeface="方正大黑简体" panose="02000000000000000000" charset="-122"/>
                <a:cs typeface="方正大黑简体" panose="02000000000000000000" charset="-122"/>
              </a:rPr>
              <a:t>1.2 </a:t>
            </a:r>
            <a:r>
              <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rPr>
              <a:t>操作系统的发展历程</a:t>
            </a:r>
            <a:endPar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15" name="文本框 14"/>
          <p:cNvSpPr txBox="1"/>
          <p:nvPr/>
        </p:nvSpPr>
        <p:spPr>
          <a:xfrm>
            <a:off x="1097280" y="1066800"/>
            <a:ext cx="9501505" cy="480060"/>
          </a:xfrm>
          <a:prstGeom prst="rect">
            <a:avLst/>
          </a:prstGeom>
          <a:noFill/>
        </p:spPr>
        <p:txBody>
          <a:bodyPr wrap="square" rtlCol="0">
            <a:noAutofit/>
          </a:bodyPr>
          <a:lstStyle/>
          <a:p>
            <a:pPr marL="342900" indent="-342900">
              <a:buFont typeface="Wingdings" panose="05000000000000000000" charset="0"/>
              <a:buChar char="n"/>
            </a:pPr>
            <a:r>
              <a:rPr lang="zh-CN" altLang="en-US" sz="2000" b="1" dirty="0">
                <a:solidFill>
                  <a:srgbClr val="6C0000"/>
                </a:solidFill>
                <a:latin typeface="华文行楷" panose="02010800040101010101" charset="-122"/>
                <a:ea typeface="华文行楷" panose="02010800040101010101" charset="-122"/>
                <a:cs typeface="华文行楷" panose="02010800040101010101" charset="-122"/>
              </a:rPr>
              <a:t>快速发展阶段</a:t>
            </a:r>
            <a:r>
              <a:rPr lang="zh-CN" altLang="en-US" sz="2000" b="1" dirty="0">
                <a:solidFill>
                  <a:srgbClr val="6C0000"/>
                </a:solidFill>
                <a:latin typeface="华文行楷" panose="02010800040101010101" charset="-122"/>
                <a:ea typeface="华文行楷" panose="02010800040101010101" charset="-122"/>
                <a:cs typeface="华文行楷" panose="02010800040101010101" charset="-122"/>
                <a:sym typeface="+mn-ea"/>
              </a:rPr>
              <a:t>（续）</a:t>
            </a:r>
            <a:endParaRPr lang="en-US" altLang="zh-CN" sz="2000" b="1" dirty="0">
              <a:solidFill>
                <a:srgbClr val="6C0000"/>
              </a:solidFill>
              <a:latin typeface="华文行楷" panose="02010800040101010101" charset="-122"/>
              <a:ea typeface="华文行楷" panose="02010800040101010101" charset="-122"/>
              <a:cs typeface="华文行楷" panose="02010800040101010101" charset="-122"/>
            </a:endParaRPr>
          </a:p>
          <a:p>
            <a:pPr indent="0">
              <a:buFont typeface="Wingdings" panose="05000000000000000000" charset="0"/>
              <a:buNone/>
            </a:pPr>
            <a:r>
              <a:rPr lang="en-US" altLang="zh-CN" sz="2000" b="1" dirty="0">
                <a:latin typeface="华文行楷" panose="02010800040101010101" charset="-122"/>
                <a:ea typeface="华文行楷" panose="02010800040101010101" charset="-122"/>
                <a:cs typeface="华文行楷" panose="02010800040101010101" charset="-122"/>
              </a:rPr>
              <a:t> </a:t>
            </a:r>
            <a:endParaRPr lang="zh-CN" altLang="en-US" sz="2000" b="1" dirty="0">
              <a:latin typeface="华文行楷" panose="02010800040101010101" charset="-122"/>
              <a:ea typeface="华文行楷" panose="02010800040101010101" charset="-122"/>
              <a:cs typeface="华文行楷" panose="02010800040101010101" charset="-122"/>
            </a:endParaRPr>
          </a:p>
        </p:txBody>
      </p:sp>
      <p:sp>
        <p:nvSpPr>
          <p:cNvPr id="10" name="Text Box 13"/>
          <p:cNvSpPr txBox="1">
            <a:spLocks noChangeArrowheads="1"/>
          </p:cNvSpPr>
          <p:nvPr/>
        </p:nvSpPr>
        <p:spPr bwMode="auto">
          <a:xfrm>
            <a:off x="1991544" y="1628800"/>
            <a:ext cx="2484276" cy="368300"/>
          </a:xfrm>
          <a:prstGeom prst="rect">
            <a:avLst/>
          </a:prstGeom>
          <a:solidFill>
            <a:schemeClr val="accent5">
              <a:lumMod val="50000"/>
            </a:schemeClr>
          </a:solidFill>
          <a:ln w="9525">
            <a:noFill/>
            <a:miter lim="800000"/>
          </a:ln>
          <a:effectLst>
            <a:glow rad="101600">
              <a:schemeClr val="accent4">
                <a:satMod val="175000"/>
                <a:alpha val="40000"/>
              </a:schemeClr>
            </a:glow>
            <a:innerShdw blurRad="63500" dist="50800" dir="2700000">
              <a:prstClr val="black">
                <a:alpha val="50000"/>
              </a:prstClr>
            </a:innerShdw>
          </a:effectLst>
        </p:spPr>
        <p:txBody>
          <a:bodyPr wrap="square">
            <a:spAutoFit/>
          </a:bodyPr>
          <a:lstStyle/>
          <a:p>
            <a:pPr eaLnBrk="1" hangingPunct="1">
              <a:spcBef>
                <a:spcPct val="50000"/>
              </a:spcBef>
              <a:defRPr/>
            </a:pPr>
            <a:r>
              <a:rPr lang="zh-CN" altLang="en-US" sz="1800" b="1" dirty="0">
                <a:solidFill>
                  <a:schemeClr val="bg1"/>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常用嵌入式操作系统</a:t>
            </a:r>
            <a:endParaRPr lang="zh-CN" altLang="en-US" sz="1800" b="1" dirty="0">
              <a:solidFill>
                <a:schemeClr val="bg1"/>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p:txBody>
      </p:sp>
      <p:pic>
        <p:nvPicPr>
          <p:cNvPr id="89091" name="Picture 3"/>
          <p:cNvPicPr>
            <a:picLocks noChangeAspect="1" noChangeArrowheads="1"/>
          </p:cNvPicPr>
          <p:nvPr/>
        </p:nvPicPr>
        <p:blipFill>
          <a:blip r:embed="rId1" cstate="print">
            <a:clrChange>
              <a:clrFrom>
                <a:srgbClr val="FEFEFE"/>
              </a:clrFrom>
              <a:clrTo>
                <a:srgbClr val="FEFEFE">
                  <a:alpha val="0"/>
                </a:srgbClr>
              </a:clrTo>
            </a:clrChange>
          </a:blip>
          <a:srcRect/>
          <a:stretch>
            <a:fillRect/>
          </a:stretch>
        </p:blipFill>
        <p:spPr bwMode="auto">
          <a:xfrm rot="1746336">
            <a:off x="5658408" y="1912353"/>
            <a:ext cx="3096643" cy="3445742"/>
          </a:xfrm>
          <a:prstGeom prst="rect">
            <a:avLst/>
          </a:prstGeom>
          <a:noFill/>
          <a:ln w="9525" cap="flat" cmpd="sng" algn="ctr">
            <a:noFill/>
            <a:prstDash val="solid"/>
            <a:miter lim="800000"/>
            <a:headEnd/>
            <a:tailEnd/>
          </a:ln>
        </p:spPr>
      </p:pic>
      <p:sp>
        <p:nvSpPr>
          <p:cNvPr id="3" name="AutoShape 7"/>
          <p:cNvSpPr>
            <a:spLocks noChangeArrowheads="1"/>
          </p:cNvSpPr>
          <p:nvPr/>
        </p:nvSpPr>
        <p:spPr bwMode="auto">
          <a:xfrm>
            <a:off x="4475820" y="2078850"/>
            <a:ext cx="2106234" cy="756084"/>
          </a:xfrm>
          <a:prstGeom prst="wedgeEllipseCallout">
            <a:avLst>
              <a:gd name="adj1" fmla="val 55768"/>
              <a:gd name="adj2" fmla="val 81583"/>
            </a:avLst>
          </a:prstGeom>
          <a:noFill/>
          <a:ln w="9525">
            <a:solidFill>
              <a:schemeClr val="tx1"/>
            </a:solidFill>
            <a:miter lim="800000"/>
          </a:ln>
          <a:effectLst>
            <a:outerShdw dist="107763" dir="2700000" algn="ctr" rotWithShape="0">
              <a:schemeClr val="bg2"/>
            </a:outerShdw>
          </a:effectLst>
        </p:spPr>
        <p:txBody>
          <a:bodyPr lIns="0" tIns="0" rIns="0" bIns="0" anchor="ctr" anchorCtr="1"/>
          <a:lstStyle/>
          <a:p>
            <a:pPr algn="ctr" eaLnBrk="1" hangingPunct="1">
              <a:spcBef>
                <a:spcPct val="0"/>
              </a:spcBef>
              <a:defRPr/>
            </a:pPr>
            <a:endParaRPr lang="en-US" altLang="zh-CN" sz="1500" dirty="0">
              <a:solidFill>
                <a:srgbClr val="800000"/>
              </a:solidFill>
              <a:effectLst>
                <a:outerShdw blurRad="38100" dist="38100" dir="2700000" algn="tl">
                  <a:srgbClr val="000000"/>
                </a:outerShdw>
              </a:effectLst>
              <a:ea typeface="楷体" panose="02010609060101010101" pitchFamily="49" charset="-122"/>
            </a:endParaRPr>
          </a:p>
        </p:txBody>
      </p:sp>
      <p:pic>
        <p:nvPicPr>
          <p:cNvPr id="89090" name="Picture 2"/>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rot="19927591">
            <a:off x="3436707" y="2679384"/>
            <a:ext cx="1671581" cy="2900546"/>
          </a:xfrm>
          <a:prstGeom prst="rect">
            <a:avLst/>
          </a:prstGeom>
          <a:noFill/>
          <a:ln w="9525" cap="flat" cmpd="sng" algn="ctr">
            <a:noFill/>
            <a:prstDash val="solid"/>
            <a:miter lim="800000"/>
            <a:headEnd/>
            <a:tailEnd/>
          </a:ln>
        </p:spPr>
      </p:pic>
      <p:sp>
        <p:nvSpPr>
          <p:cNvPr id="11" name="AutoShape 7"/>
          <p:cNvSpPr>
            <a:spLocks noChangeArrowheads="1"/>
          </p:cNvSpPr>
          <p:nvPr/>
        </p:nvSpPr>
        <p:spPr bwMode="auto">
          <a:xfrm>
            <a:off x="4475185" y="2078850"/>
            <a:ext cx="2106234" cy="756084"/>
          </a:xfrm>
          <a:prstGeom prst="wedgeEllipseCallout">
            <a:avLst>
              <a:gd name="adj1" fmla="val -48019"/>
              <a:gd name="adj2" fmla="val 106149"/>
            </a:avLst>
          </a:prstGeom>
          <a:noFill/>
          <a:ln w="9525">
            <a:solidFill>
              <a:schemeClr val="tx1"/>
            </a:solidFill>
            <a:miter lim="800000"/>
          </a:ln>
          <a:effectLst>
            <a:outerShdw dist="107763" dir="2700000" algn="ctr" rotWithShape="0">
              <a:schemeClr val="bg2"/>
            </a:outerShdw>
          </a:effectLst>
        </p:spPr>
        <p:txBody>
          <a:bodyPr lIns="0" tIns="0" rIns="0" bIns="0" anchor="ctr" anchorCtr="1"/>
          <a:lstStyle/>
          <a:p>
            <a:pPr algn="ctr" eaLnBrk="1" hangingPunct="1">
              <a:spcBef>
                <a:spcPct val="0"/>
              </a:spcBef>
              <a:defRPr/>
            </a:pPr>
            <a:r>
              <a:rPr lang="zh-CN" altLang="en-US" sz="1500" dirty="0">
                <a:solidFill>
                  <a:srgbClr val="800000"/>
                </a:solidFill>
                <a:effectLst>
                  <a:outerShdw blurRad="38100" dist="38100" dir="2700000" algn="tl">
                    <a:srgbClr val="000000"/>
                  </a:outerShdw>
                </a:effectLst>
                <a:ea typeface="楷体" panose="02010609060101010101" pitchFamily="49" charset="-122"/>
              </a:rPr>
              <a:t>用于手机、平板电脑的</a:t>
            </a:r>
            <a:r>
              <a:rPr lang="en-US" altLang="zh-CN" sz="1500" dirty="0">
                <a:solidFill>
                  <a:srgbClr val="FF0000"/>
                </a:solidFill>
                <a:effectLst>
                  <a:outerShdw blurRad="38100" dist="38100" dir="2700000" algn="tl">
                    <a:srgbClr val="000000"/>
                  </a:outerShdw>
                </a:effectLst>
                <a:ea typeface="楷体" panose="02010609060101010101" pitchFamily="49" charset="-122"/>
              </a:rPr>
              <a:t>Android</a:t>
            </a:r>
            <a:r>
              <a:rPr lang="zh-CN" altLang="en-US" sz="1500" dirty="0">
                <a:solidFill>
                  <a:srgbClr val="800000"/>
                </a:solidFill>
                <a:effectLst>
                  <a:outerShdw blurRad="38100" dist="38100" dir="2700000" algn="tl">
                    <a:srgbClr val="000000"/>
                  </a:outerShdw>
                </a:effectLst>
                <a:ea typeface="楷体" panose="02010609060101010101" pitchFamily="49" charset="-122"/>
              </a:rPr>
              <a:t>操作系统</a:t>
            </a:r>
            <a:endParaRPr lang="en-US" altLang="zh-CN" sz="1500" dirty="0">
              <a:solidFill>
                <a:srgbClr val="800000"/>
              </a:solidFill>
              <a:effectLst>
                <a:outerShdw blurRad="38100" dist="38100" dir="2700000" algn="tl">
                  <a:srgbClr val="000000"/>
                </a:outerShdw>
              </a:effectLst>
              <a:ea typeface="楷体" panose="02010609060101010101" pitchFamily="49"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001395" y="544830"/>
            <a:ext cx="5095240" cy="521970"/>
          </a:xfrm>
          <a:prstGeom prst="rect">
            <a:avLst/>
          </a:prstGeom>
        </p:spPr>
        <p:txBody>
          <a:bodyPr wrap="square">
            <a:spAutoFit/>
          </a:bodyPr>
          <a:p>
            <a:r>
              <a:rPr lang="en-US" altLang="zh-CN" sz="2800" b="0">
                <a:solidFill>
                  <a:srgbClr val="002060"/>
                </a:solidFill>
                <a:latin typeface="方正大黑简体" panose="02000000000000000000" charset="-122"/>
                <a:ea typeface="方正大黑简体" panose="02000000000000000000" charset="-122"/>
                <a:cs typeface="方正大黑简体" panose="02000000000000000000" charset="-122"/>
              </a:rPr>
              <a:t>1.2 </a:t>
            </a:r>
            <a:r>
              <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rPr>
              <a:t>操作系统的发展历程</a:t>
            </a:r>
            <a:endPar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15" name="文本框 14"/>
          <p:cNvSpPr txBox="1"/>
          <p:nvPr/>
        </p:nvSpPr>
        <p:spPr>
          <a:xfrm>
            <a:off x="1097280" y="1180465"/>
            <a:ext cx="3081655" cy="406400"/>
          </a:xfrm>
          <a:prstGeom prst="rect">
            <a:avLst/>
          </a:prstGeom>
          <a:noFill/>
        </p:spPr>
        <p:txBody>
          <a:bodyPr wrap="square" rtlCol="0">
            <a:noAutofit/>
          </a:bodyPr>
          <a:lstStyle/>
          <a:p>
            <a:pPr marL="342900" indent="-342900">
              <a:buFont typeface="Wingdings" panose="05000000000000000000" charset="0"/>
              <a:buChar char="n"/>
            </a:pPr>
            <a:r>
              <a:rPr lang="zh-CN" altLang="en-US" sz="2000" b="1" dirty="0">
                <a:solidFill>
                  <a:srgbClr val="6C0000"/>
                </a:solidFill>
                <a:latin typeface="华文行楷" panose="02010800040101010101" charset="-122"/>
                <a:ea typeface="华文行楷" panose="02010800040101010101" charset="-122"/>
                <a:cs typeface="华文行楷" panose="02010800040101010101" charset="-122"/>
              </a:rPr>
              <a:t>快速发展阶段</a:t>
            </a:r>
            <a:r>
              <a:rPr lang="zh-CN" altLang="en-US" sz="2000" b="1" dirty="0">
                <a:solidFill>
                  <a:srgbClr val="6C0000"/>
                </a:solidFill>
                <a:latin typeface="华文行楷" panose="02010800040101010101" charset="-122"/>
                <a:ea typeface="华文行楷" panose="02010800040101010101" charset="-122"/>
                <a:cs typeface="华文行楷" panose="02010800040101010101" charset="-122"/>
                <a:sym typeface="+mn-ea"/>
              </a:rPr>
              <a:t>（续）</a:t>
            </a:r>
            <a:endParaRPr lang="en-US" altLang="zh-CN" sz="2000" b="1" dirty="0">
              <a:solidFill>
                <a:srgbClr val="6C0000"/>
              </a:solidFill>
              <a:latin typeface="华文行楷" panose="02010800040101010101" charset="-122"/>
              <a:ea typeface="华文行楷" panose="02010800040101010101" charset="-122"/>
              <a:cs typeface="华文行楷" panose="02010800040101010101" charset="-122"/>
            </a:endParaRPr>
          </a:p>
          <a:p>
            <a:pPr indent="0">
              <a:buFont typeface="Wingdings" panose="05000000000000000000" charset="0"/>
              <a:buNone/>
            </a:pPr>
            <a:r>
              <a:rPr lang="en-US" altLang="zh-CN" sz="2000" b="1" dirty="0">
                <a:latin typeface="华文行楷" panose="02010800040101010101" charset="-122"/>
                <a:ea typeface="华文行楷" panose="02010800040101010101" charset="-122"/>
                <a:cs typeface="华文行楷" panose="02010800040101010101" charset="-122"/>
              </a:rPr>
              <a:t> </a:t>
            </a:r>
            <a:endParaRPr lang="zh-CN" altLang="en-US" sz="2000" b="1" dirty="0">
              <a:latin typeface="华文行楷" panose="02010800040101010101" charset="-122"/>
              <a:ea typeface="华文行楷" panose="02010800040101010101" charset="-122"/>
              <a:cs typeface="华文行楷" panose="02010800040101010101" charset="-122"/>
            </a:endParaRPr>
          </a:p>
        </p:txBody>
      </p:sp>
      <p:sp>
        <p:nvSpPr>
          <p:cNvPr id="7" name="矩形 6" descr="7b0a202020202262756c6c6574223a20227b5c2263617465676f727949645c223a5c225c222c5c2274656d706c61746549645c223a32303233313636357d220a7d0a"/>
          <p:cNvSpPr/>
          <p:nvPr/>
        </p:nvSpPr>
        <p:spPr>
          <a:xfrm>
            <a:off x="1097557" y="1700809"/>
            <a:ext cx="5832648" cy="2245360"/>
          </a:xfrm>
          <a:prstGeom prst="rect">
            <a:avLst/>
          </a:prstGeom>
        </p:spPr>
        <p:txBody>
          <a:bodyPr wrap="square">
            <a:spAutoFit/>
          </a:bodyPr>
          <a:lstStyle/>
          <a:p>
            <a:pPr>
              <a:buBlip>
                <a:blip r:embed="rId1">
                  <a:extLst>
                    <a:ext uri="{96DAC541-7B7A-43D3-8B79-37D633B846F1}">
                      <asvg:svgBlip xmlns:asvg="http://schemas.microsoft.com/office/drawing/2016/SVG/main" r:embed="rId2"/>
                    </a:ext>
                  </a:extLst>
                </a:blip>
              </a:buBlip>
            </a:pPr>
            <a:r>
              <a:rPr lang="en-US" altLang="zh-CN" sz="2000" dirty="0">
                <a:gradFill>
                  <a:gsLst>
                    <a:gs pos="50410">
                      <a:srgbClr val="1F1F1F"/>
                    </a:gs>
                    <a:gs pos="0">
                      <a:srgbClr val="020202"/>
                    </a:gs>
                    <a:gs pos="100000">
                      <a:srgbClr val="424242"/>
                    </a:gs>
                  </a:gsLst>
                  <a:lin ang="5400000" scaled="1"/>
                </a:gradFill>
                <a:latin typeface="黑体" panose="02010609060101010101" charset="-122"/>
                <a:ea typeface="黑体" panose="02010609060101010101" charset="-122"/>
                <a:cs typeface="黑体" panose="02010609060101010101" charset="-122"/>
              </a:rPr>
              <a:t>2019</a:t>
            </a:r>
            <a:r>
              <a:rPr lang="zh-CN" altLang="en-US" sz="2000" dirty="0">
                <a:gradFill>
                  <a:gsLst>
                    <a:gs pos="50410">
                      <a:srgbClr val="1F1F1F"/>
                    </a:gs>
                    <a:gs pos="0">
                      <a:srgbClr val="020202"/>
                    </a:gs>
                    <a:gs pos="100000">
                      <a:srgbClr val="424242"/>
                    </a:gs>
                  </a:gsLst>
                  <a:lin ang="5400000" scaled="1"/>
                </a:gradFill>
                <a:latin typeface="黑体" panose="02010609060101010101" charset="-122"/>
                <a:ea typeface="黑体" panose="02010609060101010101" charset="-122"/>
                <a:cs typeface="黑体" panose="02010609060101010101" charset="-122"/>
              </a:rPr>
              <a:t>年</a:t>
            </a:r>
            <a:r>
              <a:rPr lang="en-US" altLang="zh-CN" sz="2000" dirty="0">
                <a:gradFill>
                  <a:gsLst>
                    <a:gs pos="50410">
                      <a:srgbClr val="1F1F1F"/>
                    </a:gs>
                    <a:gs pos="0">
                      <a:srgbClr val="020202"/>
                    </a:gs>
                    <a:gs pos="100000">
                      <a:srgbClr val="424242"/>
                    </a:gs>
                  </a:gsLst>
                  <a:lin ang="5400000" scaled="1"/>
                </a:gradFill>
                <a:latin typeface="黑体" panose="02010609060101010101" charset="-122"/>
                <a:ea typeface="黑体" panose="02010609060101010101" charset="-122"/>
                <a:cs typeface="黑体" panose="02010609060101010101" charset="-122"/>
              </a:rPr>
              <a:t>8</a:t>
            </a:r>
            <a:r>
              <a:rPr lang="zh-CN" altLang="en-US" sz="2000" dirty="0">
                <a:gradFill>
                  <a:gsLst>
                    <a:gs pos="50410">
                      <a:srgbClr val="1F1F1F"/>
                    </a:gs>
                    <a:gs pos="0">
                      <a:srgbClr val="020202"/>
                    </a:gs>
                    <a:gs pos="100000">
                      <a:srgbClr val="424242"/>
                    </a:gs>
                  </a:gsLst>
                  <a:lin ang="5400000" scaled="1"/>
                </a:gradFill>
                <a:latin typeface="黑体" panose="02010609060101010101" charset="-122"/>
                <a:ea typeface="黑体" panose="02010609060101010101" charset="-122"/>
                <a:cs typeface="黑体" panose="02010609060101010101" charset="-122"/>
              </a:rPr>
              <a:t>月</a:t>
            </a:r>
            <a:r>
              <a:rPr lang="en-US" altLang="zh-CN" sz="2000" dirty="0">
                <a:gradFill>
                  <a:gsLst>
                    <a:gs pos="50410">
                      <a:srgbClr val="1F1F1F"/>
                    </a:gs>
                    <a:gs pos="0">
                      <a:srgbClr val="020202"/>
                    </a:gs>
                    <a:gs pos="100000">
                      <a:srgbClr val="424242"/>
                    </a:gs>
                  </a:gsLst>
                  <a:lin ang="5400000" scaled="1"/>
                </a:gradFill>
                <a:latin typeface="黑体" panose="02010609060101010101" charset="-122"/>
                <a:ea typeface="黑体" panose="02010609060101010101" charset="-122"/>
                <a:cs typeface="黑体" panose="02010609060101010101" charset="-122"/>
              </a:rPr>
              <a:t>9</a:t>
            </a:r>
            <a:r>
              <a:rPr lang="zh-CN" altLang="en-US" sz="2000" dirty="0">
                <a:gradFill>
                  <a:gsLst>
                    <a:gs pos="50410">
                      <a:srgbClr val="1F1F1F"/>
                    </a:gs>
                    <a:gs pos="0">
                      <a:srgbClr val="020202"/>
                    </a:gs>
                    <a:gs pos="100000">
                      <a:srgbClr val="424242"/>
                    </a:gs>
                  </a:gsLst>
                  <a:lin ang="5400000" scaled="1"/>
                </a:gradFill>
                <a:latin typeface="黑体" panose="02010609060101010101" charset="-122"/>
                <a:ea typeface="黑体" panose="02010609060101010101" charset="-122"/>
                <a:cs typeface="黑体" panose="02010609060101010101" charset="-122"/>
              </a:rPr>
              <a:t>日</a:t>
            </a:r>
            <a:r>
              <a:rPr lang="en-US" altLang="zh-CN" sz="2000" dirty="0">
                <a:gradFill>
                  <a:gsLst>
                    <a:gs pos="50410">
                      <a:srgbClr val="1F1F1F"/>
                    </a:gs>
                    <a:gs pos="0">
                      <a:srgbClr val="020202"/>
                    </a:gs>
                    <a:gs pos="100000">
                      <a:srgbClr val="424242"/>
                    </a:gs>
                  </a:gsLst>
                  <a:lin ang="5400000" scaled="1"/>
                </a:gradFill>
                <a:latin typeface="黑体" panose="02010609060101010101" charset="-122"/>
                <a:ea typeface="黑体" panose="02010609060101010101" charset="-122"/>
                <a:cs typeface="黑体" panose="02010609060101010101" charset="-122"/>
              </a:rPr>
              <a:t>,</a:t>
            </a:r>
            <a:r>
              <a:rPr lang="zh-CN" altLang="en-US" sz="2000" dirty="0">
                <a:gradFill>
                  <a:gsLst>
                    <a:gs pos="50410">
                      <a:srgbClr val="1F1F1F"/>
                    </a:gs>
                    <a:gs pos="0">
                      <a:srgbClr val="020202"/>
                    </a:gs>
                    <a:gs pos="100000">
                      <a:srgbClr val="424242"/>
                    </a:gs>
                  </a:gsLst>
                  <a:lin ang="5400000" scaled="1"/>
                </a:gradFill>
                <a:latin typeface="黑体" panose="02010609060101010101" charset="-122"/>
                <a:ea typeface="黑体" panose="02010609060101010101" charset="-122"/>
                <a:cs typeface="黑体" panose="02010609060101010101" charset="-122"/>
              </a:rPr>
              <a:t>华为正式发布操作系统鸿蒙</a:t>
            </a:r>
            <a:r>
              <a:rPr lang="en-US" altLang="zh-CN" sz="2000" dirty="0">
                <a:gradFill>
                  <a:gsLst>
                    <a:gs pos="50410">
                      <a:srgbClr val="1F1F1F"/>
                    </a:gs>
                    <a:gs pos="0">
                      <a:srgbClr val="020202"/>
                    </a:gs>
                    <a:gs pos="100000">
                      <a:srgbClr val="424242"/>
                    </a:gs>
                  </a:gsLst>
                  <a:lin ang="5400000" scaled="1"/>
                </a:gradFill>
                <a:latin typeface="黑体" panose="02010609060101010101" charset="-122"/>
                <a:ea typeface="黑体" panose="02010609060101010101" charset="-122"/>
                <a:cs typeface="黑体" panose="02010609060101010101" charset="-122"/>
              </a:rPr>
              <a:t>OS</a:t>
            </a:r>
            <a:r>
              <a:rPr lang="zh-CN" altLang="en-US" sz="2000" dirty="0">
                <a:gradFill>
                  <a:gsLst>
                    <a:gs pos="50410">
                      <a:srgbClr val="1F1F1F"/>
                    </a:gs>
                    <a:gs pos="0">
                      <a:srgbClr val="020202"/>
                    </a:gs>
                    <a:gs pos="100000">
                      <a:srgbClr val="424242"/>
                    </a:gs>
                  </a:gsLst>
                  <a:lin ang="5400000" scaled="1"/>
                </a:gradFill>
                <a:latin typeface="黑体" panose="02010609060101010101" charset="-122"/>
                <a:ea typeface="黑体" panose="02010609060101010101" charset="-122"/>
                <a:cs typeface="黑体" panose="02010609060101010101" charset="-122"/>
              </a:rPr>
              <a:t> </a:t>
            </a:r>
            <a:endParaRPr lang="en-US" altLang="zh-CN" sz="2000" dirty="0">
              <a:gradFill>
                <a:gsLst>
                  <a:gs pos="50410">
                    <a:srgbClr val="1F1F1F"/>
                  </a:gs>
                  <a:gs pos="0">
                    <a:srgbClr val="020202"/>
                  </a:gs>
                  <a:gs pos="100000">
                    <a:srgbClr val="424242"/>
                  </a:gs>
                </a:gsLst>
                <a:lin ang="5400000" scaled="1"/>
              </a:gradFill>
              <a:latin typeface="黑体" panose="02010609060101010101" charset="-122"/>
              <a:ea typeface="黑体" panose="02010609060101010101" charset="-122"/>
              <a:cs typeface="黑体" panose="02010609060101010101" charset="-122"/>
            </a:endParaRPr>
          </a:p>
          <a:p>
            <a:endParaRPr lang="zh-CN" altLang="en-US" sz="2000" dirty="0">
              <a:gradFill>
                <a:gsLst>
                  <a:gs pos="50410">
                    <a:srgbClr val="1F1F1F"/>
                  </a:gs>
                  <a:gs pos="0">
                    <a:srgbClr val="020202"/>
                  </a:gs>
                  <a:gs pos="100000">
                    <a:srgbClr val="424242"/>
                  </a:gs>
                </a:gsLst>
                <a:lin ang="5400000" scaled="1"/>
              </a:gradFill>
              <a:latin typeface="黑体" panose="02010609060101010101" charset="-122"/>
              <a:ea typeface="黑体" panose="02010609060101010101" charset="-122"/>
              <a:cs typeface="黑体" panose="02010609060101010101" charset="-122"/>
            </a:endParaRPr>
          </a:p>
          <a:p>
            <a:r>
              <a:rPr lang="zh-CN" altLang="en-US" sz="2000" dirty="0">
                <a:gradFill>
                  <a:gsLst>
                    <a:gs pos="50410">
                      <a:srgbClr val="1F1F1F"/>
                    </a:gs>
                    <a:gs pos="0">
                      <a:srgbClr val="020202"/>
                    </a:gs>
                    <a:gs pos="100000">
                      <a:srgbClr val="424242"/>
                    </a:gs>
                  </a:gsLst>
                  <a:lin ang="5400000" scaled="1"/>
                </a:gradFill>
                <a:latin typeface="黑体" panose="02010609060101010101" charset="-122"/>
                <a:ea typeface="黑体" panose="02010609060101010101" charset="-122"/>
                <a:cs typeface="黑体" panose="02010609060101010101" charset="-122"/>
              </a:rPr>
              <a:t>   </a:t>
            </a:r>
            <a:r>
              <a:rPr lang="zh-CN" altLang="en-US" sz="2000" dirty="0">
                <a:solidFill>
                  <a:srgbClr val="C00000"/>
                </a:solidFill>
                <a:latin typeface="黑体" panose="02010609060101010101" charset="-122"/>
                <a:ea typeface="黑体" panose="02010609060101010101" charset="-122"/>
                <a:cs typeface="黑体" panose="02010609060101010101" charset="-122"/>
              </a:rPr>
              <a:t> 鸿蒙</a:t>
            </a:r>
            <a:r>
              <a:rPr lang="en-US" altLang="zh-CN" sz="2000" dirty="0">
                <a:solidFill>
                  <a:srgbClr val="C00000"/>
                </a:solidFill>
                <a:latin typeface="黑体" panose="02010609060101010101" charset="-122"/>
                <a:ea typeface="黑体" panose="02010609060101010101" charset="-122"/>
                <a:cs typeface="黑体" panose="02010609060101010101" charset="-122"/>
              </a:rPr>
              <a:t>OS</a:t>
            </a:r>
            <a:r>
              <a:rPr lang="zh-CN" altLang="en-US" sz="2000" dirty="0">
                <a:gradFill>
                  <a:gsLst>
                    <a:gs pos="50410">
                      <a:srgbClr val="1F1F1F"/>
                    </a:gs>
                    <a:gs pos="0">
                      <a:srgbClr val="020202"/>
                    </a:gs>
                    <a:gs pos="100000">
                      <a:srgbClr val="424242"/>
                    </a:gs>
                  </a:gsLst>
                  <a:lin ang="5400000" scaled="1"/>
                </a:gradFill>
                <a:latin typeface="黑体" panose="02010609060101010101" charset="-122"/>
                <a:ea typeface="黑体" panose="02010609060101010101" charset="-122"/>
                <a:cs typeface="黑体" panose="02010609060101010101" charset="-122"/>
              </a:rPr>
              <a:t>系统是一款全新的、面向全场景的分布式操作系统，能将人、设备、场景有机地联系在一起，针对全场景生活中的多种智能终端，实现极速发现、极速连接、硬件互助、资源共享。</a:t>
            </a:r>
            <a:endParaRPr lang="zh-CN" altLang="en-US" sz="2000" dirty="0">
              <a:gradFill>
                <a:gsLst>
                  <a:gs pos="50410">
                    <a:srgbClr val="1F1F1F"/>
                  </a:gs>
                  <a:gs pos="0">
                    <a:srgbClr val="020202"/>
                  </a:gs>
                  <a:gs pos="100000">
                    <a:srgbClr val="424242"/>
                  </a:gs>
                </a:gsLst>
                <a:lin ang="5400000" scaled="1"/>
              </a:gradFill>
              <a:latin typeface="黑体" panose="02010609060101010101" charset="-122"/>
              <a:ea typeface="黑体" panose="02010609060101010101" charset="-122"/>
              <a:cs typeface="黑体" panose="02010609060101010101" charset="-122"/>
            </a:endParaRPr>
          </a:p>
          <a:p>
            <a:pPr>
              <a:buBlip>
                <a:blip r:embed="rId1">
                  <a:extLst>
                    <a:ext uri="{96DAC541-7B7A-43D3-8B79-37D633B846F1}">
                      <asvg:svgBlip xmlns:asvg="http://schemas.microsoft.com/office/drawing/2016/SVG/main" r:embed="rId2"/>
                    </a:ext>
                  </a:extLst>
                </a:blip>
              </a:buBlip>
            </a:pPr>
            <a:endParaRPr lang="en-US" altLang="zh-CN" sz="2000" dirty="0">
              <a:gradFill>
                <a:gsLst>
                  <a:gs pos="50410">
                    <a:srgbClr val="1F1F1F"/>
                  </a:gs>
                  <a:gs pos="0">
                    <a:srgbClr val="020202"/>
                  </a:gs>
                  <a:gs pos="100000">
                    <a:srgbClr val="424242"/>
                  </a:gs>
                </a:gsLst>
                <a:lin ang="5400000" scaled="1"/>
              </a:gradFill>
              <a:latin typeface="黑体" panose="02010609060101010101" charset="-122"/>
              <a:ea typeface="黑体" panose="02010609060101010101" charset="-122"/>
              <a:cs typeface="黑体" panose="02010609060101010101" charset="-122"/>
            </a:endParaRPr>
          </a:p>
        </p:txBody>
      </p:sp>
      <p:sp>
        <p:nvSpPr>
          <p:cNvPr id="9" name="矩形 8" descr="7b0a202020202262756c6c6574223a20227b5c2263617465676f727949645c223a5c225c222c5c2274656d706c61746549645c223a32303233313636357d220a7d0a"/>
          <p:cNvSpPr/>
          <p:nvPr/>
        </p:nvSpPr>
        <p:spPr>
          <a:xfrm>
            <a:off x="1001395" y="3945890"/>
            <a:ext cx="8056245" cy="414020"/>
          </a:xfrm>
          <a:prstGeom prst="rect">
            <a:avLst/>
          </a:prstGeom>
        </p:spPr>
        <p:txBody>
          <a:bodyPr wrap="square">
            <a:spAutoFit/>
          </a:bodyPr>
          <a:lstStyle/>
          <a:p>
            <a:pPr>
              <a:buBlip>
                <a:blip r:embed="rId1">
                  <a:extLst>
                    <a:ext uri="{96DAC541-7B7A-43D3-8B79-37D633B846F1}">
                      <asvg:svgBlip xmlns:asvg="http://schemas.microsoft.com/office/drawing/2016/SVG/main" r:embed="rId2"/>
                    </a:ext>
                  </a:extLst>
                </a:blip>
              </a:buBlip>
            </a:pPr>
            <a:r>
              <a:rPr lang="en-US" altLang="zh-CN" sz="2100" dirty="0">
                <a:gradFill>
                  <a:gsLst>
                    <a:gs pos="50410">
                      <a:srgbClr val="1F1F1F"/>
                    </a:gs>
                    <a:gs pos="0">
                      <a:srgbClr val="020202"/>
                    </a:gs>
                    <a:gs pos="100000">
                      <a:srgbClr val="424242"/>
                    </a:gs>
                  </a:gsLst>
                  <a:lin ang="5400000" scaled="1"/>
                </a:gradFill>
                <a:latin typeface="黑体" panose="02010609060101010101" charset="-122"/>
                <a:ea typeface="黑体" panose="02010609060101010101" charset="-122"/>
                <a:cs typeface="黑体" panose="02010609060101010101" charset="-122"/>
              </a:rPr>
              <a:t>2020</a:t>
            </a:r>
            <a:r>
              <a:rPr lang="zh-CN" altLang="en-US" sz="2100" dirty="0">
                <a:gradFill>
                  <a:gsLst>
                    <a:gs pos="50410">
                      <a:srgbClr val="1F1F1F"/>
                    </a:gs>
                    <a:gs pos="0">
                      <a:srgbClr val="020202"/>
                    </a:gs>
                    <a:gs pos="100000">
                      <a:srgbClr val="424242"/>
                    </a:gs>
                  </a:gsLst>
                  <a:lin ang="5400000" scaled="1"/>
                </a:gradFill>
                <a:latin typeface="黑体" panose="02010609060101010101" charset="-122"/>
                <a:ea typeface="黑体" panose="02010609060101010101" charset="-122"/>
                <a:cs typeface="黑体" panose="02010609060101010101" charset="-122"/>
              </a:rPr>
              <a:t>年</a:t>
            </a:r>
            <a:r>
              <a:rPr lang="en-US" altLang="zh-CN" sz="2100" dirty="0">
                <a:gradFill>
                  <a:gsLst>
                    <a:gs pos="50410">
                      <a:srgbClr val="1F1F1F"/>
                    </a:gs>
                    <a:gs pos="0">
                      <a:srgbClr val="020202"/>
                    </a:gs>
                    <a:gs pos="100000">
                      <a:srgbClr val="424242"/>
                    </a:gs>
                  </a:gsLst>
                  <a:lin ang="5400000" scaled="1"/>
                </a:gradFill>
                <a:latin typeface="黑体" panose="02010609060101010101" charset="-122"/>
                <a:ea typeface="黑体" panose="02010609060101010101" charset="-122"/>
                <a:cs typeface="黑体" panose="02010609060101010101" charset="-122"/>
              </a:rPr>
              <a:t>9</a:t>
            </a:r>
            <a:r>
              <a:rPr lang="zh-CN" altLang="en-US" sz="2100" dirty="0">
                <a:gradFill>
                  <a:gsLst>
                    <a:gs pos="50410">
                      <a:srgbClr val="1F1F1F"/>
                    </a:gs>
                    <a:gs pos="0">
                      <a:srgbClr val="020202"/>
                    </a:gs>
                    <a:gs pos="100000">
                      <a:srgbClr val="424242"/>
                    </a:gs>
                  </a:gsLst>
                  <a:lin ang="5400000" scaled="1"/>
                </a:gradFill>
                <a:latin typeface="黑体" panose="02010609060101010101" charset="-122"/>
                <a:ea typeface="黑体" panose="02010609060101010101" charset="-122"/>
                <a:cs typeface="黑体" panose="02010609060101010101" charset="-122"/>
              </a:rPr>
              <a:t>月</a:t>
            </a:r>
            <a:r>
              <a:rPr lang="en-US" altLang="zh-CN" sz="2100" dirty="0">
                <a:gradFill>
                  <a:gsLst>
                    <a:gs pos="50410">
                      <a:srgbClr val="1F1F1F"/>
                    </a:gs>
                    <a:gs pos="0">
                      <a:srgbClr val="020202"/>
                    </a:gs>
                    <a:gs pos="100000">
                      <a:srgbClr val="424242"/>
                    </a:gs>
                  </a:gsLst>
                  <a:lin ang="5400000" scaled="1"/>
                </a:gradFill>
                <a:latin typeface="黑体" panose="02010609060101010101" charset="-122"/>
                <a:ea typeface="黑体" panose="02010609060101010101" charset="-122"/>
                <a:cs typeface="黑体" panose="02010609060101010101" charset="-122"/>
              </a:rPr>
              <a:t>10</a:t>
            </a:r>
            <a:r>
              <a:rPr lang="zh-CN" altLang="en-US" sz="2100" dirty="0">
                <a:gradFill>
                  <a:gsLst>
                    <a:gs pos="50410">
                      <a:srgbClr val="1F1F1F"/>
                    </a:gs>
                    <a:gs pos="0">
                      <a:srgbClr val="020202"/>
                    </a:gs>
                    <a:gs pos="100000">
                      <a:srgbClr val="424242"/>
                    </a:gs>
                  </a:gsLst>
                  <a:lin ang="5400000" scaled="1"/>
                </a:gradFill>
                <a:latin typeface="黑体" panose="02010609060101010101" charset="-122"/>
                <a:ea typeface="黑体" panose="02010609060101010101" charset="-122"/>
                <a:cs typeface="黑体" panose="02010609060101010101" charset="-122"/>
              </a:rPr>
              <a:t>日</a:t>
            </a:r>
            <a:r>
              <a:rPr lang="en-US" altLang="zh-CN" sz="2100" dirty="0">
                <a:gradFill>
                  <a:gsLst>
                    <a:gs pos="50410">
                      <a:srgbClr val="1F1F1F"/>
                    </a:gs>
                    <a:gs pos="0">
                      <a:srgbClr val="020202"/>
                    </a:gs>
                    <a:gs pos="100000">
                      <a:srgbClr val="424242"/>
                    </a:gs>
                  </a:gsLst>
                  <a:lin ang="5400000" scaled="1"/>
                </a:gradFill>
                <a:latin typeface="黑体" panose="02010609060101010101" charset="-122"/>
                <a:ea typeface="黑体" panose="02010609060101010101" charset="-122"/>
                <a:cs typeface="黑体" panose="02010609060101010101" charset="-122"/>
              </a:rPr>
              <a:t>,</a:t>
            </a:r>
            <a:r>
              <a:rPr lang="zh-CN" altLang="en-US" sz="2100" dirty="0">
                <a:gradFill>
                  <a:gsLst>
                    <a:gs pos="50410">
                      <a:srgbClr val="1F1F1F"/>
                    </a:gs>
                    <a:gs pos="0">
                      <a:srgbClr val="020202"/>
                    </a:gs>
                    <a:gs pos="100000">
                      <a:srgbClr val="424242"/>
                    </a:gs>
                  </a:gsLst>
                  <a:lin ang="5400000" scaled="1"/>
                </a:gradFill>
                <a:latin typeface="黑体" panose="02010609060101010101" charset="-122"/>
                <a:ea typeface="黑体" panose="02010609060101010101" charset="-122"/>
                <a:cs typeface="黑体" panose="02010609060101010101" charset="-122"/>
              </a:rPr>
              <a:t>华为鸿蒙系统升级至华为鸿蒙系统</a:t>
            </a:r>
            <a:r>
              <a:rPr lang="en-US" altLang="zh-CN" sz="2100" dirty="0">
                <a:gradFill>
                  <a:gsLst>
                    <a:gs pos="50410">
                      <a:srgbClr val="1F1F1F"/>
                    </a:gs>
                    <a:gs pos="0">
                      <a:srgbClr val="020202"/>
                    </a:gs>
                    <a:gs pos="100000">
                      <a:srgbClr val="424242"/>
                    </a:gs>
                  </a:gsLst>
                  <a:lin ang="5400000" scaled="1"/>
                </a:gradFill>
                <a:latin typeface="黑体" panose="02010609060101010101" charset="-122"/>
                <a:ea typeface="黑体" panose="02010609060101010101" charset="-122"/>
                <a:cs typeface="黑体" panose="02010609060101010101" charset="-122"/>
              </a:rPr>
              <a:t>2.0</a:t>
            </a:r>
            <a:r>
              <a:rPr lang="zh-CN" altLang="en-US" sz="2100" dirty="0">
                <a:gradFill>
                  <a:gsLst>
                    <a:gs pos="50410">
                      <a:srgbClr val="1F1F1F"/>
                    </a:gs>
                    <a:gs pos="0">
                      <a:srgbClr val="020202"/>
                    </a:gs>
                    <a:gs pos="100000">
                      <a:srgbClr val="424242"/>
                    </a:gs>
                  </a:gsLst>
                  <a:lin ang="5400000" scaled="1"/>
                </a:gradFill>
                <a:latin typeface="黑体" panose="02010609060101010101" charset="-122"/>
                <a:ea typeface="黑体" panose="02010609060101010101" charset="-122"/>
                <a:cs typeface="黑体" panose="02010609060101010101" charset="-122"/>
              </a:rPr>
              <a:t>版本</a:t>
            </a:r>
            <a:r>
              <a:rPr lang="en-US" altLang="zh-CN" sz="2100" baseline="30000" dirty="0">
                <a:gradFill>
                  <a:gsLst>
                    <a:gs pos="50410">
                      <a:srgbClr val="1F1F1F"/>
                    </a:gs>
                    <a:gs pos="0">
                      <a:srgbClr val="020202"/>
                    </a:gs>
                    <a:gs pos="100000">
                      <a:srgbClr val="424242"/>
                    </a:gs>
                  </a:gsLst>
                  <a:lin ang="5400000" scaled="1"/>
                </a:gradFill>
                <a:latin typeface="黑体" panose="02010609060101010101" charset="-122"/>
                <a:ea typeface="黑体" panose="02010609060101010101" charset="-122"/>
                <a:cs typeface="黑体" panose="02010609060101010101" charset="-122"/>
              </a:rPr>
              <a:t> </a:t>
            </a:r>
            <a:r>
              <a:rPr lang="zh-CN" altLang="en-US" sz="2100" dirty="0">
                <a:gradFill>
                  <a:gsLst>
                    <a:gs pos="50410">
                      <a:srgbClr val="1F1F1F"/>
                    </a:gs>
                    <a:gs pos="0">
                      <a:srgbClr val="020202"/>
                    </a:gs>
                    <a:gs pos="100000">
                      <a:srgbClr val="424242"/>
                    </a:gs>
                  </a:gsLst>
                  <a:lin ang="5400000" scaled="1"/>
                </a:gradFill>
                <a:latin typeface="黑体" panose="02010609060101010101" charset="-122"/>
                <a:ea typeface="黑体" panose="02010609060101010101" charset="-122"/>
                <a:cs typeface="黑体" panose="02010609060101010101" charset="-122"/>
              </a:rPr>
              <a:t> 。</a:t>
            </a:r>
            <a:endParaRPr lang="zh-CN" altLang="en-US" sz="2100" dirty="0">
              <a:gradFill>
                <a:gsLst>
                  <a:gs pos="50410">
                    <a:srgbClr val="1F1F1F"/>
                  </a:gs>
                  <a:gs pos="0">
                    <a:srgbClr val="020202"/>
                  </a:gs>
                  <a:gs pos="100000">
                    <a:srgbClr val="424242"/>
                  </a:gs>
                </a:gsLst>
                <a:lin ang="5400000" scaled="1"/>
              </a:gradFill>
              <a:latin typeface="黑体" panose="02010609060101010101" charset="-122"/>
              <a:ea typeface="黑体" panose="02010609060101010101" charset="-122"/>
              <a:cs typeface="黑体" panose="02010609060101010101" charset="-122"/>
            </a:endParaRPr>
          </a:p>
        </p:txBody>
      </p:sp>
      <p:sp>
        <p:nvSpPr>
          <p:cNvPr id="14" name="矩形 13" descr="7b0a202020202262756c6c6574223a20227b5c2263617465676f727949645c223a5c225c222c5c2274656d706c61746549645c223a32303233313636357d220a7d0a"/>
          <p:cNvSpPr/>
          <p:nvPr/>
        </p:nvSpPr>
        <p:spPr>
          <a:xfrm>
            <a:off x="1001314" y="4579927"/>
            <a:ext cx="7544429" cy="414020"/>
          </a:xfrm>
          <a:prstGeom prst="rect">
            <a:avLst/>
          </a:prstGeom>
        </p:spPr>
        <p:txBody>
          <a:bodyPr wrap="square">
            <a:spAutoFit/>
          </a:bodyPr>
          <a:lstStyle/>
          <a:p>
            <a:pPr>
              <a:buBlip>
                <a:blip r:embed="rId1">
                  <a:extLst>
                    <a:ext uri="{96DAC541-7B7A-43D3-8B79-37D633B846F1}">
                      <asvg:svgBlip xmlns:asvg="http://schemas.microsoft.com/office/drawing/2016/SVG/main" r:embed="rId2"/>
                    </a:ext>
                  </a:extLst>
                </a:blip>
              </a:buBlip>
            </a:pPr>
            <a:r>
              <a:rPr lang="en-US" altLang="zh-CN" sz="2100" dirty="0">
                <a:gradFill>
                  <a:gsLst>
                    <a:gs pos="50410">
                      <a:srgbClr val="1F1F1F"/>
                    </a:gs>
                    <a:gs pos="0">
                      <a:srgbClr val="020202"/>
                    </a:gs>
                    <a:gs pos="100000">
                      <a:srgbClr val="424242"/>
                    </a:gs>
                  </a:gsLst>
                  <a:lin ang="5400000" scaled="1"/>
                </a:gradFill>
                <a:latin typeface="黑体" panose="02010609060101010101" charset="-122"/>
                <a:ea typeface="黑体" panose="02010609060101010101" charset="-122"/>
                <a:cs typeface="黑体" panose="02010609060101010101" charset="-122"/>
              </a:rPr>
              <a:t>2020</a:t>
            </a:r>
            <a:r>
              <a:rPr lang="zh-CN" altLang="en-US" sz="2100" dirty="0">
                <a:gradFill>
                  <a:gsLst>
                    <a:gs pos="50410">
                      <a:srgbClr val="1F1F1F"/>
                    </a:gs>
                    <a:gs pos="0">
                      <a:srgbClr val="020202"/>
                    </a:gs>
                    <a:gs pos="100000">
                      <a:srgbClr val="424242"/>
                    </a:gs>
                  </a:gsLst>
                  <a:lin ang="5400000" scaled="1"/>
                </a:gradFill>
                <a:latin typeface="黑体" panose="02010609060101010101" charset="-122"/>
                <a:ea typeface="黑体" panose="02010609060101010101" charset="-122"/>
                <a:cs typeface="黑体" panose="02010609060101010101" charset="-122"/>
              </a:rPr>
              <a:t>年</a:t>
            </a:r>
            <a:r>
              <a:rPr lang="en-US" altLang="zh-CN" sz="2100" dirty="0">
                <a:gradFill>
                  <a:gsLst>
                    <a:gs pos="50410">
                      <a:srgbClr val="1F1F1F"/>
                    </a:gs>
                    <a:gs pos="0">
                      <a:srgbClr val="020202"/>
                    </a:gs>
                    <a:gs pos="100000">
                      <a:srgbClr val="424242"/>
                    </a:gs>
                  </a:gsLst>
                  <a:lin ang="5400000" scaled="1"/>
                </a:gradFill>
                <a:latin typeface="黑体" panose="02010609060101010101" charset="-122"/>
                <a:ea typeface="黑体" panose="02010609060101010101" charset="-122"/>
                <a:cs typeface="黑体" panose="02010609060101010101" charset="-122"/>
              </a:rPr>
              <a:t>12</a:t>
            </a:r>
            <a:r>
              <a:rPr lang="zh-CN" altLang="en-US" sz="2100" dirty="0">
                <a:gradFill>
                  <a:gsLst>
                    <a:gs pos="50410">
                      <a:srgbClr val="1F1F1F"/>
                    </a:gs>
                    <a:gs pos="0">
                      <a:srgbClr val="020202"/>
                    </a:gs>
                    <a:gs pos="100000">
                      <a:srgbClr val="424242"/>
                    </a:gs>
                  </a:gsLst>
                  <a:lin ang="5400000" scaled="1"/>
                </a:gradFill>
                <a:latin typeface="黑体" panose="02010609060101010101" charset="-122"/>
                <a:ea typeface="黑体" panose="02010609060101010101" charset="-122"/>
                <a:cs typeface="黑体" panose="02010609060101010101" charset="-122"/>
              </a:rPr>
              <a:t>月</a:t>
            </a:r>
            <a:r>
              <a:rPr lang="en-US" altLang="zh-CN" sz="2100" dirty="0">
                <a:gradFill>
                  <a:gsLst>
                    <a:gs pos="50410">
                      <a:srgbClr val="1F1F1F"/>
                    </a:gs>
                    <a:gs pos="0">
                      <a:srgbClr val="020202"/>
                    </a:gs>
                    <a:gs pos="100000">
                      <a:srgbClr val="424242"/>
                    </a:gs>
                  </a:gsLst>
                  <a:lin ang="5400000" scaled="1"/>
                </a:gradFill>
                <a:latin typeface="黑体" panose="02010609060101010101" charset="-122"/>
                <a:ea typeface="黑体" panose="02010609060101010101" charset="-122"/>
                <a:cs typeface="黑体" panose="02010609060101010101" charset="-122"/>
              </a:rPr>
              <a:t>16</a:t>
            </a:r>
            <a:r>
              <a:rPr lang="zh-CN" altLang="en-US" sz="2100" dirty="0">
                <a:gradFill>
                  <a:gsLst>
                    <a:gs pos="50410">
                      <a:srgbClr val="1F1F1F"/>
                    </a:gs>
                    <a:gs pos="0">
                      <a:srgbClr val="020202"/>
                    </a:gs>
                    <a:gs pos="100000">
                      <a:srgbClr val="424242"/>
                    </a:gs>
                  </a:gsLst>
                  <a:lin ang="5400000" scaled="1"/>
                </a:gradFill>
                <a:latin typeface="黑体" panose="02010609060101010101" charset="-122"/>
                <a:ea typeface="黑体" panose="02010609060101010101" charset="-122"/>
                <a:cs typeface="黑体" panose="02010609060101010101" charset="-122"/>
              </a:rPr>
              <a:t>日</a:t>
            </a:r>
            <a:r>
              <a:rPr lang="en-US" altLang="zh-CN" sz="2100" dirty="0">
                <a:gradFill>
                  <a:gsLst>
                    <a:gs pos="50410">
                      <a:srgbClr val="1F1F1F"/>
                    </a:gs>
                    <a:gs pos="0">
                      <a:srgbClr val="020202"/>
                    </a:gs>
                    <a:gs pos="100000">
                      <a:srgbClr val="424242"/>
                    </a:gs>
                  </a:gsLst>
                  <a:lin ang="5400000" scaled="1"/>
                </a:gradFill>
                <a:latin typeface="黑体" panose="02010609060101010101" charset="-122"/>
                <a:ea typeface="黑体" panose="02010609060101010101" charset="-122"/>
                <a:cs typeface="黑体" panose="02010609060101010101" charset="-122"/>
              </a:rPr>
              <a:t>,</a:t>
            </a:r>
            <a:r>
              <a:rPr lang="zh-CN" altLang="en-US" sz="2100" dirty="0">
                <a:gradFill>
                  <a:gsLst>
                    <a:gs pos="50410">
                      <a:srgbClr val="1F1F1F"/>
                    </a:gs>
                    <a:gs pos="0">
                      <a:srgbClr val="020202"/>
                    </a:gs>
                    <a:gs pos="100000">
                      <a:srgbClr val="424242"/>
                    </a:gs>
                  </a:gsLst>
                  <a:lin ang="5400000" scaled="1"/>
                </a:gradFill>
                <a:latin typeface="黑体" panose="02010609060101010101" charset="-122"/>
                <a:ea typeface="黑体" panose="02010609060101010101" charset="-122"/>
                <a:cs typeface="黑体" panose="02010609060101010101" charset="-122"/>
              </a:rPr>
              <a:t> 华为面向开发者提供鸿蒙</a:t>
            </a:r>
            <a:r>
              <a:rPr lang="en-US" altLang="zh-CN" sz="2100" dirty="0">
                <a:gradFill>
                  <a:gsLst>
                    <a:gs pos="50410">
                      <a:srgbClr val="1F1F1F"/>
                    </a:gs>
                    <a:gs pos="0">
                      <a:srgbClr val="020202"/>
                    </a:gs>
                    <a:gs pos="100000">
                      <a:srgbClr val="424242"/>
                    </a:gs>
                  </a:gsLst>
                  <a:lin ang="5400000" scaled="1"/>
                </a:gradFill>
                <a:latin typeface="黑体" panose="02010609060101010101" charset="-122"/>
                <a:ea typeface="黑体" panose="02010609060101010101" charset="-122"/>
                <a:cs typeface="黑体" panose="02010609060101010101" charset="-122"/>
              </a:rPr>
              <a:t>2.0</a:t>
            </a:r>
            <a:r>
              <a:rPr lang="zh-CN" altLang="en-US" sz="2100" dirty="0">
                <a:gradFill>
                  <a:gsLst>
                    <a:gs pos="50410">
                      <a:srgbClr val="1F1F1F"/>
                    </a:gs>
                    <a:gs pos="0">
                      <a:srgbClr val="020202"/>
                    </a:gs>
                    <a:gs pos="100000">
                      <a:srgbClr val="424242"/>
                    </a:gs>
                  </a:gsLst>
                  <a:lin ang="5400000" scaled="1"/>
                </a:gradFill>
                <a:latin typeface="黑体" panose="02010609060101010101" charset="-122"/>
                <a:ea typeface="黑体" panose="02010609060101010101" charset="-122"/>
                <a:cs typeface="黑体" panose="02010609060101010101" charset="-122"/>
              </a:rPr>
              <a:t>的</a:t>
            </a:r>
            <a:r>
              <a:rPr lang="en-US" altLang="zh-CN" sz="2100" dirty="0">
                <a:gradFill>
                  <a:gsLst>
                    <a:gs pos="50410">
                      <a:srgbClr val="1F1F1F"/>
                    </a:gs>
                    <a:gs pos="0">
                      <a:srgbClr val="020202"/>
                    </a:gs>
                    <a:gs pos="100000">
                      <a:srgbClr val="424242"/>
                    </a:gs>
                  </a:gsLst>
                  <a:lin ang="5400000" scaled="1"/>
                </a:gradFill>
                <a:latin typeface="黑体" panose="02010609060101010101" charset="-122"/>
                <a:ea typeface="黑体" panose="02010609060101010101" charset="-122"/>
                <a:cs typeface="黑体" panose="02010609060101010101" charset="-122"/>
              </a:rPr>
              <a:t>beta</a:t>
            </a:r>
            <a:r>
              <a:rPr lang="zh-CN" altLang="en-US" sz="2100" dirty="0">
                <a:gradFill>
                  <a:gsLst>
                    <a:gs pos="50410">
                      <a:srgbClr val="1F1F1F"/>
                    </a:gs>
                    <a:gs pos="0">
                      <a:srgbClr val="020202"/>
                    </a:gs>
                    <a:gs pos="100000">
                      <a:srgbClr val="424242"/>
                    </a:gs>
                  </a:gsLst>
                  <a:lin ang="5400000" scaled="1"/>
                </a:gradFill>
                <a:latin typeface="黑体" panose="02010609060101010101" charset="-122"/>
                <a:ea typeface="黑体" panose="02010609060101010101" charset="-122"/>
                <a:cs typeface="黑体" panose="02010609060101010101" charset="-122"/>
              </a:rPr>
              <a:t>版本</a:t>
            </a:r>
            <a:r>
              <a:rPr lang="en-US" altLang="zh-CN" sz="2100" baseline="30000" dirty="0">
                <a:gradFill>
                  <a:gsLst>
                    <a:gs pos="50410">
                      <a:srgbClr val="1F1F1F"/>
                    </a:gs>
                    <a:gs pos="0">
                      <a:srgbClr val="020202"/>
                    </a:gs>
                    <a:gs pos="100000">
                      <a:srgbClr val="424242"/>
                    </a:gs>
                  </a:gsLst>
                  <a:lin ang="5400000" scaled="1"/>
                </a:gradFill>
                <a:latin typeface="黑体" panose="02010609060101010101" charset="-122"/>
                <a:ea typeface="黑体" panose="02010609060101010101" charset="-122"/>
                <a:cs typeface="黑体" panose="02010609060101010101" charset="-122"/>
              </a:rPr>
              <a:t> </a:t>
            </a:r>
            <a:r>
              <a:rPr lang="zh-CN" altLang="en-US" sz="2100" dirty="0">
                <a:gradFill>
                  <a:gsLst>
                    <a:gs pos="50410">
                      <a:srgbClr val="1F1F1F"/>
                    </a:gs>
                    <a:gs pos="0">
                      <a:srgbClr val="020202"/>
                    </a:gs>
                    <a:gs pos="100000">
                      <a:srgbClr val="424242"/>
                    </a:gs>
                  </a:gsLst>
                  <a:lin ang="5400000" scaled="1"/>
                </a:gradFill>
                <a:latin typeface="黑体" panose="02010609060101010101" charset="-122"/>
                <a:ea typeface="黑体" panose="02010609060101010101" charset="-122"/>
                <a:cs typeface="黑体" panose="02010609060101010101" charset="-122"/>
              </a:rPr>
              <a:t> 。</a:t>
            </a:r>
            <a:endParaRPr lang="zh-CN" altLang="en-US" sz="2100" dirty="0">
              <a:gradFill>
                <a:gsLst>
                  <a:gs pos="50410">
                    <a:srgbClr val="1F1F1F"/>
                  </a:gs>
                  <a:gs pos="0">
                    <a:srgbClr val="020202"/>
                  </a:gs>
                  <a:gs pos="100000">
                    <a:srgbClr val="424242"/>
                  </a:gs>
                </a:gsLst>
                <a:lin ang="5400000" scaled="1"/>
              </a:gradFill>
              <a:latin typeface="黑体" panose="02010609060101010101" charset="-122"/>
              <a:ea typeface="黑体" panose="02010609060101010101" charset="-122"/>
              <a:cs typeface="黑体" panose="02010609060101010101" charset="-122"/>
            </a:endParaRPr>
          </a:p>
        </p:txBody>
      </p:sp>
      <p:grpSp>
        <p:nvGrpSpPr>
          <p:cNvPr id="72" name="组合 71"/>
          <p:cNvGrpSpPr/>
          <p:nvPr>
            <p:custDataLst>
              <p:tags r:id="rId3"/>
            </p:custDataLst>
          </p:nvPr>
        </p:nvGrpSpPr>
        <p:grpSpPr>
          <a:xfrm rot="0">
            <a:off x="8785225" y="631825"/>
            <a:ext cx="2684145" cy="5281295"/>
            <a:chOff x="5819" y="2146"/>
            <a:chExt cx="7602" cy="14942"/>
          </a:xfrm>
        </p:grpSpPr>
        <p:pic>
          <p:nvPicPr>
            <p:cNvPr id="73" name="图片 72" descr="2"/>
            <p:cNvPicPr>
              <a:picLocks noChangeAspect="1"/>
            </p:cNvPicPr>
            <p:nvPr>
              <p:custDataLst>
                <p:tags r:id="rId4"/>
              </p:custDataLst>
            </p:nvPr>
          </p:nvPicPr>
          <p:blipFill>
            <a:blip r:embed="rId5"/>
            <a:stretch>
              <a:fillRect/>
            </a:stretch>
          </p:blipFill>
          <p:spPr>
            <a:xfrm>
              <a:off x="5819" y="2146"/>
              <a:ext cx="7603" cy="14943"/>
            </a:xfrm>
            <a:prstGeom prst="rect">
              <a:avLst/>
            </a:prstGeom>
            <a:effectLst>
              <a:outerShdw blurRad="546100" dist="127000" dir="2700000" algn="tl" rotWithShape="0">
                <a:prstClr val="black">
                  <a:alpha val="20000"/>
                </a:prstClr>
              </a:outerShdw>
            </a:effectLst>
          </p:spPr>
        </p:pic>
        <p:pic>
          <p:nvPicPr>
            <p:cNvPr id="74" name="图片 73" descr="F:/素材图片2/xiezuo20241118-153032.pngxiezuo20241118-153032"/>
            <p:cNvPicPr>
              <a:picLocks noChangeAspect="1"/>
            </p:cNvPicPr>
            <p:nvPr>
              <p:custDataLst>
                <p:tags r:id="rId6"/>
              </p:custDataLst>
            </p:nvPr>
          </p:nvPicPr>
          <p:blipFill>
            <a:blip r:embed="rId7" cstate="email"/>
            <a:srcRect l="18058" t="10880" r="18249" b="11102"/>
            <a:stretch>
              <a:fillRect/>
            </a:stretch>
          </p:blipFill>
          <p:spPr>
            <a:xfrm>
              <a:off x="6231" y="2473"/>
              <a:ext cx="6788" cy="14288"/>
            </a:xfrm>
            <a:custGeom>
              <a:avLst/>
              <a:gdLst/>
              <a:ahLst/>
              <a:cxnLst>
                <a:cxn ang="3">
                  <a:pos x="hc" y="t"/>
                </a:cxn>
                <a:cxn ang="cd2">
                  <a:pos x="l" y="vc"/>
                </a:cxn>
                <a:cxn ang="cd4">
                  <a:pos x="hc" y="b"/>
                </a:cxn>
                <a:cxn ang="0">
                  <a:pos x="r" y="vc"/>
                </a:cxn>
              </a:cxnLst>
              <a:rect l="l" t="t" r="r" b="b"/>
              <a:pathLst>
                <a:path w="6788" h="14288">
                  <a:moveTo>
                    <a:pt x="2412" y="13865"/>
                  </a:moveTo>
                  <a:cubicBezTo>
                    <a:pt x="2388" y="13865"/>
                    <a:pt x="2369" y="13884"/>
                    <a:pt x="2369" y="13908"/>
                  </a:cubicBezTo>
                  <a:cubicBezTo>
                    <a:pt x="2369" y="13931"/>
                    <a:pt x="2388" y="13950"/>
                    <a:pt x="2412" y="13950"/>
                  </a:cubicBezTo>
                  <a:lnTo>
                    <a:pt x="4396" y="13950"/>
                  </a:lnTo>
                  <a:cubicBezTo>
                    <a:pt x="4420" y="13950"/>
                    <a:pt x="4439" y="13931"/>
                    <a:pt x="4439" y="13908"/>
                  </a:cubicBezTo>
                  <a:cubicBezTo>
                    <a:pt x="4439" y="13884"/>
                    <a:pt x="4420" y="13865"/>
                    <a:pt x="4396" y="13865"/>
                  </a:cubicBezTo>
                  <a:lnTo>
                    <a:pt x="2412" y="13865"/>
                  </a:lnTo>
                  <a:close/>
                  <a:moveTo>
                    <a:pt x="746" y="0"/>
                  </a:moveTo>
                  <a:lnTo>
                    <a:pt x="6042" y="0"/>
                  </a:lnTo>
                  <a:cubicBezTo>
                    <a:pt x="6454" y="0"/>
                    <a:pt x="6788" y="334"/>
                    <a:pt x="6788" y="746"/>
                  </a:cubicBezTo>
                  <a:lnTo>
                    <a:pt x="6788" y="13542"/>
                  </a:lnTo>
                  <a:cubicBezTo>
                    <a:pt x="6788" y="13954"/>
                    <a:pt x="6454" y="14288"/>
                    <a:pt x="6042" y="14288"/>
                  </a:cubicBezTo>
                  <a:lnTo>
                    <a:pt x="746" y="14288"/>
                  </a:lnTo>
                  <a:cubicBezTo>
                    <a:pt x="334" y="14288"/>
                    <a:pt x="0" y="13954"/>
                    <a:pt x="0" y="13542"/>
                  </a:cubicBezTo>
                  <a:lnTo>
                    <a:pt x="0" y="746"/>
                  </a:lnTo>
                  <a:cubicBezTo>
                    <a:pt x="0" y="334"/>
                    <a:pt x="334" y="0"/>
                    <a:pt x="746" y="0"/>
                  </a:cubicBezTo>
                  <a:close/>
                </a:path>
              </a:pathLst>
            </a:custGeom>
          </p:spPr>
        </p:pic>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7"/>
                                        </p:tgtEl>
                                      </p:cBhvr>
                                    </p:animEffect>
                                    <p:animScale>
                                      <p:cBhvr>
                                        <p:cTn id="7" dur="250" autoRev="1" fill="hold"/>
                                        <p:tgtEl>
                                          <p:spTgt spid="7"/>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grpId="0" nodeType="clickEffect">
                                  <p:stCondLst>
                                    <p:cond delay="0"/>
                                  </p:stCondLst>
                                  <p:childTnLst>
                                    <p:animEffect transition="out" filter="fade">
                                      <p:cBhvr>
                                        <p:cTn id="11" dur="500" tmFilter="0, 0; .2, .5; .8, .5; 1, 0"/>
                                        <p:tgtEl>
                                          <p:spTgt spid="9"/>
                                        </p:tgtEl>
                                      </p:cBhvr>
                                    </p:animEffect>
                                    <p:animScale>
                                      <p:cBhvr>
                                        <p:cTn id="12" dur="250" autoRev="1" fill="hold"/>
                                        <p:tgtEl>
                                          <p:spTgt spid="9"/>
                                        </p:tgtEl>
                                      </p:cBhvr>
                                      <p:by x="105000" y="105000"/>
                                    </p:animScale>
                                  </p:childTnLst>
                                </p:cTn>
                              </p:par>
                            </p:childTnLst>
                          </p:cTn>
                        </p:par>
                      </p:childTnLst>
                    </p:cTn>
                  </p:par>
                  <p:par>
                    <p:cTn id="13" fill="hold">
                      <p:stCondLst>
                        <p:cond delay="indefinite"/>
                      </p:stCondLst>
                      <p:childTnLst>
                        <p:par>
                          <p:cTn id="14" fill="hold">
                            <p:stCondLst>
                              <p:cond delay="0"/>
                            </p:stCondLst>
                            <p:childTnLst>
                              <p:par>
                                <p:cTn id="15" presetID="26" presetClass="emph" presetSubtype="0" fill="hold" grpId="0" nodeType="clickEffect">
                                  <p:stCondLst>
                                    <p:cond delay="0"/>
                                  </p:stCondLst>
                                  <p:childTnLst>
                                    <p:animEffect transition="out" filter="fade">
                                      <p:cBhvr>
                                        <p:cTn id="16" dur="500" tmFilter="0, 0; .2, .5; .8, .5; 1, 0"/>
                                        <p:tgtEl>
                                          <p:spTgt spid="14"/>
                                        </p:tgtEl>
                                      </p:cBhvr>
                                    </p:animEffect>
                                    <p:animScale>
                                      <p:cBhvr>
                                        <p:cTn id="17" dur="250" autoRev="1" fill="hold"/>
                                        <p:tgtEl>
                                          <p:spTgt spid="1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001395" y="544830"/>
            <a:ext cx="5095240" cy="521970"/>
          </a:xfrm>
          <a:prstGeom prst="rect">
            <a:avLst/>
          </a:prstGeom>
        </p:spPr>
        <p:txBody>
          <a:bodyPr wrap="square">
            <a:spAutoFit/>
          </a:bodyPr>
          <a:p>
            <a:r>
              <a:rPr lang="en-US" altLang="zh-CN" sz="2800" b="0">
                <a:solidFill>
                  <a:srgbClr val="002060"/>
                </a:solidFill>
                <a:latin typeface="方正大黑简体" panose="02000000000000000000" charset="-122"/>
                <a:ea typeface="方正大黑简体" panose="02000000000000000000" charset="-122"/>
                <a:cs typeface="方正大黑简体" panose="02000000000000000000" charset="-122"/>
              </a:rPr>
              <a:t>1.2 </a:t>
            </a:r>
            <a:r>
              <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rPr>
              <a:t>操作系统的发展历程</a:t>
            </a:r>
            <a:endPar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15" name="文本框 14"/>
          <p:cNvSpPr txBox="1"/>
          <p:nvPr/>
        </p:nvSpPr>
        <p:spPr>
          <a:xfrm>
            <a:off x="1097280" y="1209675"/>
            <a:ext cx="9501505" cy="706755"/>
          </a:xfrm>
          <a:prstGeom prst="rect">
            <a:avLst/>
          </a:prstGeom>
          <a:noFill/>
        </p:spPr>
        <p:txBody>
          <a:bodyPr wrap="square" rtlCol="0">
            <a:spAutoFit/>
          </a:bodyPr>
          <a:lstStyle/>
          <a:p>
            <a:pPr marL="342900" indent="-342900">
              <a:buFont typeface="Wingdings" panose="05000000000000000000" charset="0"/>
              <a:buChar char="n"/>
            </a:pPr>
            <a:r>
              <a:rPr lang="zh-CN" altLang="en-US" sz="2000" b="1" dirty="0">
                <a:solidFill>
                  <a:srgbClr val="6C0000"/>
                </a:solidFill>
                <a:latin typeface="华文行楷" panose="02010800040101010101" charset="-122"/>
                <a:ea typeface="华文行楷" panose="02010800040101010101" charset="-122"/>
                <a:cs typeface="华文行楷" panose="02010800040101010101" charset="-122"/>
              </a:rPr>
              <a:t>快速发展阶段</a:t>
            </a:r>
            <a:r>
              <a:rPr lang="zh-CN" altLang="en-US" sz="2000" b="1" dirty="0">
                <a:solidFill>
                  <a:srgbClr val="6C0000"/>
                </a:solidFill>
                <a:latin typeface="华文行楷" panose="02010800040101010101" charset="-122"/>
                <a:ea typeface="华文行楷" panose="02010800040101010101" charset="-122"/>
                <a:cs typeface="华文行楷" panose="02010800040101010101" charset="-122"/>
                <a:sym typeface="+mn-ea"/>
              </a:rPr>
              <a:t>（续）</a:t>
            </a:r>
            <a:endParaRPr lang="en-US" altLang="zh-CN" sz="2000" b="1" dirty="0">
              <a:solidFill>
                <a:srgbClr val="6C0000"/>
              </a:solidFill>
              <a:latin typeface="华文行楷" panose="02010800040101010101" charset="-122"/>
              <a:ea typeface="华文行楷" panose="02010800040101010101" charset="-122"/>
              <a:cs typeface="华文行楷" panose="02010800040101010101" charset="-122"/>
            </a:endParaRPr>
          </a:p>
          <a:p>
            <a:pPr indent="0">
              <a:buFont typeface="Wingdings" panose="05000000000000000000" charset="0"/>
              <a:buNone/>
            </a:pPr>
            <a:r>
              <a:rPr lang="en-US" altLang="zh-CN" sz="2000" b="1" dirty="0">
                <a:latin typeface="华文行楷" panose="02010800040101010101" charset="-122"/>
                <a:ea typeface="华文行楷" panose="02010800040101010101" charset="-122"/>
                <a:cs typeface="华文行楷" panose="02010800040101010101" charset="-122"/>
              </a:rPr>
              <a:t> </a:t>
            </a:r>
            <a:endParaRPr lang="zh-CN" altLang="en-US" sz="2000" b="1" dirty="0">
              <a:latin typeface="华文行楷" panose="02010800040101010101" charset="-122"/>
              <a:ea typeface="华文行楷" panose="02010800040101010101" charset="-122"/>
              <a:cs typeface="华文行楷" panose="02010800040101010101" charset="-122"/>
            </a:endParaRPr>
          </a:p>
        </p:txBody>
      </p:sp>
      <p:sp>
        <p:nvSpPr>
          <p:cNvPr id="3" name="矩形 2"/>
          <p:cNvSpPr/>
          <p:nvPr/>
        </p:nvSpPr>
        <p:spPr>
          <a:xfrm>
            <a:off x="1308725" y="1732329"/>
            <a:ext cx="1452880" cy="398780"/>
          </a:xfrm>
          <a:prstGeom prst="rect">
            <a:avLst/>
          </a:prstGeom>
        </p:spPr>
        <p:txBody>
          <a:bodyPr wrap="none">
            <a:spAutoFit/>
          </a:bodyPr>
          <a:lstStyle/>
          <a:p>
            <a:r>
              <a:rPr lang="zh-CN" altLang="zh-CN" sz="2000" dirty="0">
                <a:solidFill>
                  <a:srgbClr val="6C0000"/>
                </a:solidFill>
                <a:latin typeface="黑体" panose="02010609060101010101" charset="-122"/>
                <a:ea typeface="黑体" panose="02010609060101010101" charset="-122"/>
                <a:cs typeface="黑体" panose="02010609060101010101" charset="-122"/>
              </a:rPr>
              <a:t>云操作系统</a:t>
            </a:r>
            <a:endParaRPr lang="zh-CN" altLang="zh-CN" sz="2000" dirty="0">
              <a:solidFill>
                <a:srgbClr val="6C0000"/>
              </a:solidFill>
              <a:latin typeface="黑体" panose="02010609060101010101" charset="-122"/>
              <a:ea typeface="黑体" panose="02010609060101010101" charset="-122"/>
              <a:cs typeface="黑体" panose="02010609060101010101" charset="-122"/>
            </a:endParaRPr>
          </a:p>
        </p:txBody>
      </p:sp>
      <p:sp>
        <p:nvSpPr>
          <p:cNvPr id="8" name="矩形 7"/>
          <p:cNvSpPr/>
          <p:nvPr/>
        </p:nvSpPr>
        <p:spPr>
          <a:xfrm>
            <a:off x="1185218" y="3664611"/>
            <a:ext cx="2880320" cy="1014730"/>
          </a:xfrm>
          <a:prstGeom prst="rect">
            <a:avLst/>
          </a:prstGeom>
        </p:spPr>
        <p:txBody>
          <a:bodyPr wrap="square">
            <a:spAutoFit/>
          </a:bodyPr>
          <a:lstStyle/>
          <a:p>
            <a:r>
              <a:rPr lang="en-US" altLang="zh-CN" sz="2000" dirty="0">
                <a:solidFill>
                  <a:srgbClr val="002C6C"/>
                </a:solidFill>
                <a:latin typeface="黑体" panose="02010609060101010101" charset="-122"/>
                <a:ea typeface="黑体" panose="02010609060101010101" charset="-122"/>
                <a:cs typeface="黑体" panose="02010609060101010101" charset="-122"/>
              </a:rPr>
              <a:t>2019</a:t>
            </a:r>
            <a:r>
              <a:rPr lang="zh-CN" altLang="zh-CN" sz="2000" dirty="0">
                <a:solidFill>
                  <a:srgbClr val="002C6C"/>
                </a:solidFill>
                <a:latin typeface="黑体" panose="02010609060101010101" charset="-122"/>
                <a:ea typeface="黑体" panose="02010609060101010101" charset="-122"/>
                <a:cs typeface="黑体" panose="02010609060101010101" charset="-122"/>
              </a:rPr>
              <a:t>年</a:t>
            </a:r>
            <a:r>
              <a:rPr lang="en-US" altLang="zh-CN" sz="2000" dirty="0">
                <a:solidFill>
                  <a:srgbClr val="002C6C"/>
                </a:solidFill>
                <a:latin typeface="黑体" panose="02010609060101010101" charset="-122"/>
                <a:ea typeface="黑体" panose="02010609060101010101" charset="-122"/>
                <a:cs typeface="黑体" panose="02010609060101010101" charset="-122"/>
              </a:rPr>
              <a:t>8</a:t>
            </a:r>
            <a:r>
              <a:rPr lang="zh-CN" altLang="zh-CN" sz="2000" dirty="0">
                <a:solidFill>
                  <a:srgbClr val="002C6C"/>
                </a:solidFill>
                <a:latin typeface="黑体" panose="02010609060101010101" charset="-122"/>
                <a:ea typeface="黑体" panose="02010609060101010101" charset="-122"/>
                <a:cs typeface="黑体" panose="02010609060101010101" charset="-122"/>
              </a:rPr>
              <a:t>月</a:t>
            </a:r>
            <a:r>
              <a:rPr lang="en-US" altLang="zh-CN" sz="2000" dirty="0">
                <a:solidFill>
                  <a:srgbClr val="002C6C"/>
                </a:solidFill>
                <a:latin typeface="黑体" panose="02010609060101010101" charset="-122"/>
                <a:ea typeface="黑体" panose="02010609060101010101" charset="-122"/>
                <a:cs typeface="黑体" panose="02010609060101010101" charset="-122"/>
              </a:rPr>
              <a:t>8</a:t>
            </a:r>
            <a:r>
              <a:rPr lang="zh-CN" altLang="zh-CN" sz="2000" dirty="0">
                <a:solidFill>
                  <a:srgbClr val="002C6C"/>
                </a:solidFill>
                <a:latin typeface="黑体" panose="02010609060101010101" charset="-122"/>
                <a:ea typeface="黑体" panose="02010609060101010101" charset="-122"/>
                <a:cs typeface="黑体" panose="02010609060101010101" charset="-122"/>
              </a:rPr>
              <a:t>日，首款国产通用型云操作系统安超</a:t>
            </a:r>
            <a:r>
              <a:rPr lang="en-US" altLang="zh-CN" sz="2000" dirty="0">
                <a:solidFill>
                  <a:srgbClr val="002C6C"/>
                </a:solidFill>
                <a:latin typeface="黑体" panose="02010609060101010101" charset="-122"/>
                <a:ea typeface="黑体" panose="02010609060101010101" charset="-122"/>
                <a:cs typeface="黑体" panose="02010609060101010101" charset="-122"/>
              </a:rPr>
              <a:t>OS</a:t>
            </a:r>
            <a:r>
              <a:rPr lang="zh-CN" altLang="zh-CN" sz="2000" dirty="0">
                <a:solidFill>
                  <a:srgbClr val="002C6C"/>
                </a:solidFill>
                <a:latin typeface="黑体" panose="02010609060101010101" charset="-122"/>
                <a:ea typeface="黑体" panose="02010609060101010101" charset="-122"/>
                <a:cs typeface="黑体" panose="02010609060101010101" charset="-122"/>
              </a:rPr>
              <a:t>在北京隆重发布。</a:t>
            </a:r>
            <a:endParaRPr lang="zh-CN" altLang="en-US" sz="2000" dirty="0">
              <a:solidFill>
                <a:srgbClr val="002C6C"/>
              </a:solidFill>
              <a:latin typeface="黑体" panose="02010609060101010101" charset="-122"/>
              <a:ea typeface="黑体" panose="02010609060101010101" charset="-122"/>
              <a:cs typeface="黑体" panose="02010609060101010101" charset="-122"/>
            </a:endParaRPr>
          </a:p>
        </p:txBody>
      </p:sp>
      <p:grpSp>
        <p:nvGrpSpPr>
          <p:cNvPr id="111" name="组合 110"/>
          <p:cNvGrpSpPr/>
          <p:nvPr>
            <p:custDataLst>
              <p:tags r:id="rId1"/>
            </p:custDataLst>
          </p:nvPr>
        </p:nvGrpSpPr>
        <p:grpSpPr>
          <a:xfrm rot="0">
            <a:off x="4848937" y="3360621"/>
            <a:ext cx="4415963" cy="2970410"/>
            <a:chOff x="2182" y="4845"/>
            <a:chExt cx="14794" cy="9952"/>
          </a:xfrm>
        </p:grpSpPr>
        <p:sp>
          <p:nvSpPr>
            <p:cNvPr id="112" name="圆角矩形 111"/>
            <p:cNvSpPr/>
            <p:nvPr>
              <p:custDataLst>
                <p:tags r:id="rId2"/>
              </p:custDataLst>
            </p:nvPr>
          </p:nvSpPr>
          <p:spPr>
            <a:xfrm>
              <a:off x="2967" y="6703"/>
              <a:ext cx="13224" cy="8094"/>
            </a:xfrm>
            <a:prstGeom prst="roundRect">
              <a:avLst>
                <a:gd name="adj" fmla="val 7029"/>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custDataLst>
                <p:tags r:id="rId3"/>
              </p:custDataLst>
            </p:nvPr>
          </p:nvSpPr>
          <p:spPr>
            <a:xfrm>
              <a:off x="2558" y="5781"/>
              <a:ext cx="14042" cy="8595"/>
            </a:xfrm>
            <a:prstGeom prst="roundRect">
              <a:avLst>
                <a:gd name="adj" fmla="val 7029"/>
              </a:avLst>
            </a:prstGeom>
            <a:solidFill>
              <a:schemeClr val="accent1">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圆角矩形 113"/>
            <p:cNvSpPr/>
            <p:nvPr>
              <p:custDataLst>
                <p:tags r:id="rId4"/>
              </p:custDataLst>
            </p:nvPr>
          </p:nvSpPr>
          <p:spPr>
            <a:xfrm>
              <a:off x="2182" y="4845"/>
              <a:ext cx="14794" cy="9055"/>
            </a:xfrm>
            <a:prstGeom prst="roundRect">
              <a:avLst>
                <a:gd name="adj" fmla="val 947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5" name="图片 114" descr="E:/设计图片素材/marek-piwnicki-gGURH5X5O58-unsplash.jpgmarek-piwnicki-gGURH5X5O58-unsplash"/>
            <p:cNvPicPr>
              <a:picLocks noChangeAspect="1"/>
            </p:cNvPicPr>
            <p:nvPr>
              <p:custDataLst>
                <p:tags r:id="rId5"/>
              </p:custDataLst>
            </p:nvPr>
          </p:nvPicPr>
          <p:blipFill>
            <a:blip r:embed="rId6" cstate="email"/>
            <a:srcRect l="10024" r="10024"/>
            <a:stretch>
              <a:fillRect/>
            </a:stretch>
          </p:blipFill>
          <p:spPr>
            <a:xfrm>
              <a:off x="2558" y="5206"/>
              <a:ext cx="14042" cy="8327"/>
            </a:xfrm>
            <a:custGeom>
              <a:avLst/>
              <a:gdLst/>
              <a:ahLst/>
              <a:cxnLst>
                <a:cxn ang="3">
                  <a:pos x="hc" y="t"/>
                </a:cxn>
                <a:cxn ang="cd2">
                  <a:pos x="l" y="vc"/>
                </a:cxn>
                <a:cxn ang="cd4">
                  <a:pos x="hc" y="b"/>
                </a:cxn>
                <a:cxn ang="0">
                  <a:pos x="r" y="vc"/>
                </a:cxn>
              </a:cxnLst>
              <a:rect l="l" t="t" r="r" b="b"/>
              <a:pathLst>
                <a:path w="7804" h="4628">
                  <a:moveTo>
                    <a:pt x="325" y="0"/>
                  </a:moveTo>
                  <a:lnTo>
                    <a:pt x="7479" y="0"/>
                  </a:lnTo>
                  <a:cubicBezTo>
                    <a:pt x="7659" y="0"/>
                    <a:pt x="7804" y="146"/>
                    <a:pt x="7804" y="325"/>
                  </a:cubicBezTo>
                  <a:lnTo>
                    <a:pt x="7804" y="4303"/>
                  </a:lnTo>
                  <a:cubicBezTo>
                    <a:pt x="7804" y="4482"/>
                    <a:pt x="7659" y="4628"/>
                    <a:pt x="7479" y="4628"/>
                  </a:cubicBezTo>
                  <a:lnTo>
                    <a:pt x="325" y="4628"/>
                  </a:lnTo>
                  <a:cubicBezTo>
                    <a:pt x="146" y="4628"/>
                    <a:pt x="0" y="4482"/>
                    <a:pt x="0" y="4303"/>
                  </a:cubicBezTo>
                  <a:lnTo>
                    <a:pt x="0" y="325"/>
                  </a:lnTo>
                  <a:cubicBezTo>
                    <a:pt x="0" y="146"/>
                    <a:pt x="146" y="0"/>
                    <a:pt x="325" y="0"/>
                  </a:cubicBezTo>
                  <a:close/>
                </a:path>
              </a:pathLst>
            </a:custGeom>
          </p:spPr>
        </p:pic>
      </p:grpSp>
      <p:sp>
        <p:nvSpPr>
          <p:cNvPr id="10" name="文本框 9"/>
          <p:cNvSpPr txBox="1"/>
          <p:nvPr/>
        </p:nvSpPr>
        <p:spPr>
          <a:xfrm>
            <a:off x="1308735" y="2131060"/>
            <a:ext cx="9564370" cy="1014730"/>
          </a:xfrm>
          <a:prstGeom prst="rect">
            <a:avLst/>
          </a:prstGeom>
          <a:ln>
            <a:solidFill>
              <a:schemeClr val="bg1"/>
            </a:solidFill>
          </a:ln>
        </p:spPr>
        <p:txBody>
          <a:bodyPr wrap="square" anchor="t">
            <a:spAutoFit/>
          </a:bodyPr>
          <a:p>
            <a:pPr indent="0">
              <a:buFont typeface="Wingdings" panose="05000000000000000000" pitchFamily="2" charset="2"/>
              <a:buNone/>
            </a:pPr>
            <a:r>
              <a:rPr lang="en-US" altLang="zh-CN" sz="2000" dirty="0">
                <a:latin typeface="黑体" panose="02010609060101010101" charset="-122"/>
                <a:ea typeface="黑体" panose="02010609060101010101" charset="-122"/>
                <a:cs typeface="黑体" panose="02010609060101010101" charset="-122"/>
                <a:sym typeface="+mn-ea"/>
              </a:rPr>
              <a:t>    </a:t>
            </a:r>
            <a:r>
              <a:rPr lang="zh-CN" altLang="zh-CN" sz="2000" dirty="0">
                <a:latin typeface="黑体" panose="02010609060101010101" charset="-122"/>
                <a:ea typeface="黑体" panose="02010609060101010101" charset="-122"/>
                <a:cs typeface="黑体" panose="02010609060101010101" charset="-122"/>
                <a:sym typeface="+mn-ea"/>
              </a:rPr>
              <a:t>云操作系统，也叫云管理平台，是以云计算、云存储技术作为支撑的操作系统，它是指构架于服务器、存储、网络等基础硬件资源和单机操作系统、中间件、数据库等基础软件之上的、管理海量的基础硬件、软件资源的云平台综合管理系统。</a:t>
            </a:r>
            <a:endParaRPr lang="zh-CN" altLang="zh-CN" sz="2000" b="1" dirty="0">
              <a:solidFill>
                <a:schemeClr val="tx1"/>
              </a:solidFill>
              <a:latin typeface="黑体" panose="02010609060101010101" charset="-122"/>
              <a:ea typeface="黑体" panose="02010609060101010101" charset="-122"/>
              <a:cs typeface="黑体" panose="02010609060101010101" charset="-122"/>
              <a:sym typeface="+mn-ea"/>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001395" y="544830"/>
            <a:ext cx="5095240" cy="521970"/>
          </a:xfrm>
          <a:prstGeom prst="rect">
            <a:avLst/>
          </a:prstGeom>
        </p:spPr>
        <p:txBody>
          <a:bodyPr wrap="square">
            <a:spAutoFit/>
          </a:bodyPr>
          <a:p>
            <a:r>
              <a:rPr lang="en-US" altLang="zh-CN" sz="2800" b="0">
                <a:solidFill>
                  <a:srgbClr val="002060"/>
                </a:solidFill>
                <a:latin typeface="方正大黑简体" panose="02000000000000000000" charset="-122"/>
                <a:ea typeface="方正大黑简体" panose="02000000000000000000" charset="-122"/>
                <a:cs typeface="方正大黑简体" panose="02000000000000000000" charset="-122"/>
              </a:rPr>
              <a:t>1.2 </a:t>
            </a:r>
            <a:r>
              <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rPr>
              <a:t>操作系统的发展历程</a:t>
            </a:r>
            <a:endPar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15" name="文本框 14"/>
          <p:cNvSpPr txBox="1"/>
          <p:nvPr/>
        </p:nvSpPr>
        <p:spPr>
          <a:xfrm>
            <a:off x="1345565" y="1240790"/>
            <a:ext cx="4832350" cy="706755"/>
          </a:xfrm>
          <a:prstGeom prst="rect">
            <a:avLst/>
          </a:prstGeom>
          <a:noFill/>
        </p:spPr>
        <p:txBody>
          <a:bodyPr wrap="square" rtlCol="0">
            <a:spAutoFit/>
          </a:bodyPr>
          <a:lstStyle/>
          <a:p>
            <a:pPr marL="342900" indent="-342900">
              <a:buFont typeface="Wingdings" panose="05000000000000000000" charset="0"/>
              <a:buChar char="n"/>
            </a:pPr>
            <a:r>
              <a:rPr lang="zh-CN" altLang="zh-CN" sz="2000" b="1" dirty="0">
                <a:solidFill>
                  <a:srgbClr val="660000"/>
                </a:solidFill>
                <a:latin typeface="华文行楷" panose="02010800040101010101" charset="-122"/>
                <a:ea typeface="华文行楷" panose="02010800040101010101" charset="-122"/>
                <a:cs typeface="华文行楷" panose="02010800040101010101" charset="-122"/>
                <a:sym typeface="+mn-ea"/>
              </a:rPr>
              <a:t>促使操作系统不断发展的主要动力</a:t>
            </a:r>
            <a:r>
              <a:rPr lang="en-US" altLang="zh-CN" sz="2000" b="1" dirty="0">
                <a:solidFill>
                  <a:srgbClr val="660000"/>
                </a:solidFill>
                <a:latin typeface="华文行楷" panose="02010800040101010101" charset="-122"/>
                <a:ea typeface="华文行楷" panose="02010800040101010101" charset="-122"/>
                <a:cs typeface="华文行楷" panose="02010800040101010101" charset="-122"/>
                <a:sym typeface="+mn-ea"/>
              </a:rPr>
              <a:t> </a:t>
            </a:r>
            <a:endParaRPr lang="en-US" altLang="zh-CN" sz="2000" b="1" dirty="0">
              <a:solidFill>
                <a:srgbClr val="660000"/>
              </a:solidFill>
              <a:latin typeface="华文行楷" panose="02010800040101010101" charset="-122"/>
              <a:ea typeface="华文行楷" panose="02010800040101010101" charset="-122"/>
              <a:cs typeface="华文行楷" panose="02010800040101010101" charset="-122"/>
            </a:endParaRPr>
          </a:p>
          <a:p>
            <a:pPr indent="0">
              <a:buFont typeface="Wingdings" panose="05000000000000000000" charset="0"/>
              <a:buNone/>
            </a:pPr>
            <a:r>
              <a:rPr lang="en-US" altLang="zh-CN" sz="2000" b="1" dirty="0">
                <a:solidFill>
                  <a:srgbClr val="660000"/>
                </a:solidFill>
                <a:latin typeface="华文行楷" panose="02010800040101010101" charset="-122"/>
                <a:ea typeface="华文行楷" panose="02010800040101010101" charset="-122"/>
                <a:cs typeface="华文行楷" panose="02010800040101010101" charset="-122"/>
              </a:rPr>
              <a:t> </a:t>
            </a:r>
            <a:endParaRPr lang="en-US" altLang="zh-CN" sz="2000" b="1" dirty="0">
              <a:solidFill>
                <a:srgbClr val="660000"/>
              </a:solidFill>
              <a:latin typeface="华文行楷" panose="02010800040101010101" charset="-122"/>
              <a:ea typeface="华文行楷" panose="02010800040101010101" charset="-122"/>
              <a:cs typeface="华文行楷" panose="02010800040101010101" charset="-122"/>
            </a:endParaRPr>
          </a:p>
        </p:txBody>
      </p:sp>
      <p:sp>
        <p:nvSpPr>
          <p:cNvPr id="7" name="文本框 6"/>
          <p:cNvSpPr txBox="1"/>
          <p:nvPr/>
        </p:nvSpPr>
        <p:spPr>
          <a:xfrm>
            <a:off x="1270635" y="2121535"/>
            <a:ext cx="6096000" cy="2784475"/>
          </a:xfrm>
          <a:prstGeom prst="rect">
            <a:avLst/>
          </a:prstGeom>
          <a:ln>
            <a:solidFill>
              <a:schemeClr val="bg1"/>
            </a:solidFill>
          </a:ln>
        </p:spPr>
        <p:txBody>
          <a:bodyPr wrap="square" anchor="t">
            <a:spAutoFit/>
          </a:bodyPr>
          <a:p>
            <a:pPr indent="200025" algn="just">
              <a:lnSpc>
                <a:spcPct val="125000"/>
              </a:lnSpc>
              <a:spcAft>
                <a:spcPts val="0"/>
              </a:spcAft>
            </a:pPr>
            <a:r>
              <a:rPr lang="zh-CN" altLang="zh-CN" sz="2000" b="1" kern="100" dirty="0">
                <a:solidFill>
                  <a:srgbClr val="333333"/>
                </a:solidFill>
                <a:latin typeface="黑体" panose="02010609060101010101" charset="-122"/>
                <a:ea typeface="黑体" panose="02010609060101010101" charset="-122"/>
                <a:cs typeface="黑体" panose="02010609060101010101" charset="-122"/>
                <a:sym typeface="+mn-ea"/>
              </a:rPr>
              <a:t>（</a:t>
            </a:r>
            <a:r>
              <a:rPr lang="en-US" altLang="zh-CN" sz="2000" b="1" kern="100" dirty="0">
                <a:solidFill>
                  <a:srgbClr val="333333"/>
                </a:solidFill>
                <a:latin typeface="黑体" panose="02010609060101010101" charset="-122"/>
                <a:ea typeface="黑体" panose="02010609060101010101" charset="-122"/>
                <a:cs typeface="黑体" panose="02010609060101010101" charset="-122"/>
                <a:sym typeface="+mn-ea"/>
              </a:rPr>
              <a:t>1</a:t>
            </a:r>
            <a:r>
              <a:rPr lang="zh-CN" altLang="zh-CN" sz="2000" b="1" kern="100" dirty="0">
                <a:solidFill>
                  <a:srgbClr val="333333"/>
                </a:solidFill>
                <a:latin typeface="黑体" panose="02010609060101010101" charset="-122"/>
                <a:ea typeface="黑体" panose="02010609060101010101" charset="-122"/>
                <a:cs typeface="黑体" panose="02010609060101010101" charset="-122"/>
                <a:sym typeface="+mn-ea"/>
              </a:rPr>
              <a:t>）器件快速更新换代。</a:t>
            </a:r>
            <a:r>
              <a:rPr lang="en-US" altLang="zh-CN" sz="2000" b="1" kern="100" dirty="0">
                <a:solidFill>
                  <a:srgbClr val="333333"/>
                </a:solidFill>
                <a:latin typeface="黑体" panose="02010609060101010101" charset="-122"/>
                <a:ea typeface="黑体" panose="02010609060101010101" charset="-122"/>
                <a:cs typeface="黑体" panose="02010609060101010101" charset="-122"/>
                <a:sym typeface="+mn-ea"/>
              </a:rPr>
              <a:t> </a:t>
            </a:r>
            <a:endParaRPr lang="en-US" altLang="zh-CN" sz="2000" b="1" kern="100" dirty="0">
              <a:solidFill>
                <a:srgbClr val="333333"/>
              </a:solidFill>
              <a:latin typeface="黑体" panose="02010609060101010101" charset="-122"/>
              <a:ea typeface="黑体" panose="02010609060101010101" charset="-122"/>
              <a:cs typeface="黑体" panose="02010609060101010101" charset="-122"/>
            </a:endParaRPr>
          </a:p>
          <a:p>
            <a:pPr indent="200025" algn="just">
              <a:lnSpc>
                <a:spcPct val="125000"/>
              </a:lnSpc>
              <a:spcAft>
                <a:spcPts val="0"/>
              </a:spcAft>
            </a:pPr>
            <a:endParaRPr lang="zh-CN" altLang="zh-CN" sz="2000" b="1" kern="100" dirty="0">
              <a:latin typeface="黑体" panose="02010609060101010101" charset="-122"/>
              <a:ea typeface="黑体" panose="02010609060101010101" charset="-122"/>
              <a:cs typeface="黑体" panose="02010609060101010101" charset="-122"/>
            </a:endParaRPr>
          </a:p>
          <a:p>
            <a:pPr indent="200025" algn="just">
              <a:lnSpc>
                <a:spcPct val="125000"/>
              </a:lnSpc>
              <a:spcAft>
                <a:spcPts val="0"/>
              </a:spcAft>
            </a:pPr>
            <a:r>
              <a:rPr lang="zh-CN" altLang="zh-CN" sz="2000" b="1" kern="100" dirty="0">
                <a:solidFill>
                  <a:srgbClr val="333333"/>
                </a:solidFill>
                <a:latin typeface="黑体" panose="02010609060101010101" charset="-122"/>
                <a:ea typeface="黑体" panose="02010609060101010101" charset="-122"/>
                <a:cs typeface="黑体" panose="02010609060101010101" charset="-122"/>
                <a:sym typeface="+mn-ea"/>
              </a:rPr>
              <a:t>（</a:t>
            </a:r>
            <a:r>
              <a:rPr lang="en-US" altLang="zh-CN" sz="2000" b="1" kern="100" dirty="0">
                <a:solidFill>
                  <a:srgbClr val="333333"/>
                </a:solidFill>
                <a:latin typeface="黑体" panose="02010609060101010101" charset="-122"/>
                <a:ea typeface="黑体" panose="02010609060101010101" charset="-122"/>
                <a:cs typeface="黑体" panose="02010609060101010101" charset="-122"/>
                <a:sym typeface="+mn-ea"/>
              </a:rPr>
              <a:t>2</a:t>
            </a:r>
            <a:r>
              <a:rPr lang="zh-CN" altLang="zh-CN" sz="2000" b="1" kern="100" dirty="0">
                <a:solidFill>
                  <a:srgbClr val="333333"/>
                </a:solidFill>
                <a:latin typeface="黑体" panose="02010609060101010101" charset="-122"/>
                <a:ea typeface="黑体" panose="02010609060101010101" charset="-122"/>
                <a:cs typeface="黑体" panose="02010609060101010101" charset="-122"/>
                <a:sym typeface="+mn-ea"/>
              </a:rPr>
              <a:t>）计算体系结构的发展</a:t>
            </a:r>
            <a:r>
              <a:rPr lang="en-US" altLang="zh-CN" sz="2000" b="1" kern="100" dirty="0">
                <a:solidFill>
                  <a:srgbClr val="333333"/>
                </a:solidFill>
                <a:latin typeface="黑体" panose="02010609060101010101" charset="-122"/>
                <a:ea typeface="黑体" panose="02010609060101010101" charset="-122"/>
                <a:cs typeface="黑体" panose="02010609060101010101" charset="-122"/>
                <a:sym typeface="+mn-ea"/>
              </a:rPr>
              <a:t> </a:t>
            </a:r>
            <a:endParaRPr lang="en-US" altLang="zh-CN" sz="2000" b="1" kern="100" dirty="0">
              <a:solidFill>
                <a:srgbClr val="333333"/>
              </a:solidFill>
              <a:latin typeface="黑体" panose="02010609060101010101" charset="-122"/>
              <a:ea typeface="黑体" panose="02010609060101010101" charset="-122"/>
              <a:cs typeface="黑体" panose="02010609060101010101" charset="-122"/>
            </a:endParaRPr>
          </a:p>
          <a:p>
            <a:pPr indent="200025" algn="just">
              <a:lnSpc>
                <a:spcPct val="125000"/>
              </a:lnSpc>
              <a:spcAft>
                <a:spcPts val="0"/>
              </a:spcAft>
            </a:pPr>
            <a:endParaRPr lang="zh-CN" altLang="zh-CN" sz="2000" b="1" kern="100" dirty="0">
              <a:latin typeface="黑体" panose="02010609060101010101" charset="-122"/>
              <a:ea typeface="黑体" panose="02010609060101010101" charset="-122"/>
              <a:cs typeface="黑体" panose="02010609060101010101" charset="-122"/>
            </a:endParaRPr>
          </a:p>
          <a:p>
            <a:pPr indent="200025" algn="just">
              <a:lnSpc>
                <a:spcPct val="125000"/>
              </a:lnSpc>
              <a:spcAft>
                <a:spcPts val="0"/>
              </a:spcAft>
            </a:pPr>
            <a:r>
              <a:rPr lang="zh-CN" altLang="zh-CN" sz="2000" b="1" kern="100" dirty="0">
                <a:solidFill>
                  <a:srgbClr val="333333"/>
                </a:solidFill>
                <a:latin typeface="黑体" panose="02010609060101010101" charset="-122"/>
                <a:ea typeface="黑体" panose="02010609060101010101" charset="-122"/>
                <a:cs typeface="黑体" panose="02010609060101010101" charset="-122"/>
                <a:sym typeface="+mn-ea"/>
              </a:rPr>
              <a:t>（</a:t>
            </a:r>
            <a:r>
              <a:rPr lang="en-US" altLang="zh-CN" sz="2000" b="1" kern="100" dirty="0">
                <a:solidFill>
                  <a:srgbClr val="333333"/>
                </a:solidFill>
                <a:latin typeface="黑体" panose="02010609060101010101" charset="-122"/>
                <a:ea typeface="黑体" panose="02010609060101010101" charset="-122"/>
                <a:cs typeface="黑体" panose="02010609060101010101" charset="-122"/>
                <a:sym typeface="+mn-ea"/>
              </a:rPr>
              <a:t>3</a:t>
            </a:r>
            <a:r>
              <a:rPr lang="zh-CN" altLang="zh-CN" sz="2000" b="1" kern="100" dirty="0">
                <a:solidFill>
                  <a:srgbClr val="333333"/>
                </a:solidFill>
                <a:latin typeface="黑体" panose="02010609060101010101" charset="-122"/>
                <a:ea typeface="黑体" panose="02010609060101010101" charset="-122"/>
                <a:cs typeface="黑体" panose="02010609060101010101" charset="-122"/>
                <a:sym typeface="+mn-ea"/>
              </a:rPr>
              <a:t>）提高资源利用率的需要</a:t>
            </a:r>
            <a:r>
              <a:rPr lang="en-US" altLang="zh-CN" sz="2000" b="1" kern="100" dirty="0">
                <a:solidFill>
                  <a:srgbClr val="333333"/>
                </a:solidFill>
                <a:latin typeface="黑体" panose="02010609060101010101" charset="-122"/>
                <a:ea typeface="黑体" panose="02010609060101010101" charset="-122"/>
                <a:cs typeface="黑体" panose="02010609060101010101" charset="-122"/>
                <a:sym typeface="+mn-ea"/>
              </a:rPr>
              <a:t> </a:t>
            </a:r>
            <a:endParaRPr lang="en-US" altLang="zh-CN" sz="2000" b="1" kern="100" dirty="0">
              <a:solidFill>
                <a:srgbClr val="333333"/>
              </a:solidFill>
              <a:latin typeface="黑体" panose="02010609060101010101" charset="-122"/>
              <a:ea typeface="黑体" panose="02010609060101010101" charset="-122"/>
              <a:cs typeface="黑体" panose="02010609060101010101" charset="-122"/>
            </a:endParaRPr>
          </a:p>
          <a:p>
            <a:pPr indent="200025" algn="just">
              <a:lnSpc>
                <a:spcPct val="125000"/>
              </a:lnSpc>
              <a:spcAft>
                <a:spcPts val="0"/>
              </a:spcAft>
            </a:pPr>
            <a:endParaRPr lang="zh-CN" altLang="zh-CN" sz="2000" b="1" kern="100" dirty="0">
              <a:latin typeface="黑体" panose="02010609060101010101" charset="-122"/>
              <a:ea typeface="黑体" panose="02010609060101010101" charset="-122"/>
              <a:cs typeface="黑体" panose="02010609060101010101" charset="-122"/>
            </a:endParaRPr>
          </a:p>
          <a:p>
            <a:pPr indent="200025" algn="just">
              <a:lnSpc>
                <a:spcPct val="125000"/>
              </a:lnSpc>
              <a:spcAft>
                <a:spcPts val="0"/>
              </a:spcAft>
            </a:pPr>
            <a:r>
              <a:rPr lang="zh-CN" altLang="zh-CN" sz="2000" b="1" kern="100" dirty="0">
                <a:solidFill>
                  <a:srgbClr val="333333"/>
                </a:solidFill>
                <a:latin typeface="黑体" panose="02010609060101010101" charset="-122"/>
                <a:ea typeface="黑体" panose="02010609060101010101" charset="-122"/>
                <a:cs typeface="黑体" panose="02010609060101010101" charset="-122"/>
                <a:sym typeface="+mn-ea"/>
              </a:rPr>
              <a:t>（</a:t>
            </a:r>
            <a:r>
              <a:rPr lang="en-US" altLang="zh-CN" sz="2000" b="1" kern="100" dirty="0">
                <a:solidFill>
                  <a:srgbClr val="333333"/>
                </a:solidFill>
                <a:latin typeface="黑体" panose="02010609060101010101" charset="-122"/>
                <a:ea typeface="黑体" panose="02010609060101010101" charset="-122"/>
                <a:cs typeface="黑体" panose="02010609060101010101" charset="-122"/>
                <a:sym typeface="+mn-ea"/>
              </a:rPr>
              <a:t>4</a:t>
            </a:r>
            <a:r>
              <a:rPr lang="zh-CN" altLang="zh-CN" sz="2000" b="1" kern="100" dirty="0">
                <a:solidFill>
                  <a:srgbClr val="333333"/>
                </a:solidFill>
                <a:latin typeface="黑体" panose="02010609060101010101" charset="-122"/>
                <a:ea typeface="黑体" panose="02010609060101010101" charset="-122"/>
                <a:cs typeface="黑体" panose="02010609060101010101" charset="-122"/>
                <a:sym typeface="+mn-ea"/>
              </a:rPr>
              <a:t>）满足用户使用方便的需要</a:t>
            </a:r>
            <a:r>
              <a:rPr lang="en-US" altLang="zh-CN" sz="2000" b="1" kern="100" dirty="0">
                <a:solidFill>
                  <a:srgbClr val="333333"/>
                </a:solidFill>
                <a:latin typeface="黑体" panose="02010609060101010101" charset="-122"/>
                <a:ea typeface="黑体" panose="02010609060101010101" charset="-122"/>
                <a:cs typeface="黑体" panose="02010609060101010101" charset="-122"/>
                <a:sym typeface="+mn-ea"/>
              </a:rPr>
              <a:t> </a:t>
            </a:r>
            <a:endParaRPr lang="en-US" altLang="zh-CN" sz="2000" b="1" kern="100" dirty="0">
              <a:solidFill>
                <a:srgbClr val="333333"/>
              </a:solidFill>
              <a:latin typeface="黑体" panose="02010609060101010101" charset="-122"/>
              <a:ea typeface="黑体" panose="02010609060101010101" charset="-122"/>
              <a:cs typeface="黑体" panose="02010609060101010101" charset="-122"/>
              <a:sym typeface="+mn-ea"/>
            </a:endParaRPr>
          </a:p>
        </p:txBody>
      </p:sp>
      <p:pic>
        <p:nvPicPr>
          <p:cNvPr id="9" name="图片 8"/>
          <p:cNvPicPr/>
          <p:nvPr/>
        </p:nvPicPr>
        <p:blipFill>
          <a:blip r:embed="rId1"/>
          <a:stretch>
            <a:fillRect/>
          </a:stretch>
        </p:blipFill>
        <p:spPr>
          <a:xfrm>
            <a:off x="6436995" y="1865630"/>
            <a:ext cx="3880485" cy="3522980"/>
          </a:xfrm>
          <a:prstGeom prst="rect">
            <a:avLst/>
          </a:prstGeom>
        </p:spPr>
      </p:pic>
      <p:pic>
        <p:nvPicPr>
          <p:cNvPr id="11" name="图片 10"/>
          <p:cNvPicPr>
            <a:picLocks noChangeAspect="1"/>
          </p:cNvPicPr>
          <p:nvPr/>
        </p:nvPicPr>
        <p:blipFill>
          <a:blip r:embed="rId2"/>
          <a:stretch>
            <a:fillRect/>
          </a:stretch>
        </p:blipFill>
        <p:spPr>
          <a:xfrm>
            <a:off x="6631305" y="2007235"/>
            <a:ext cx="2150110" cy="29908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001395" y="544830"/>
            <a:ext cx="6419850" cy="521970"/>
          </a:xfrm>
          <a:prstGeom prst="rect">
            <a:avLst/>
          </a:prstGeom>
        </p:spPr>
        <p:txBody>
          <a:bodyPr wrap="square">
            <a:spAutoFit/>
          </a:bodyPr>
          <a:p>
            <a:r>
              <a:rPr lang="en-US" altLang="zh-CN" sz="2800" b="0">
                <a:solidFill>
                  <a:srgbClr val="002060"/>
                </a:solidFill>
                <a:latin typeface="方正大黑简体" panose="02000000000000000000" charset="-122"/>
                <a:ea typeface="方正大黑简体" panose="02000000000000000000" charset="-122"/>
                <a:cs typeface="方正大黑简体" panose="02000000000000000000" charset="-122"/>
              </a:rPr>
              <a:t>1.3 openEuler</a:t>
            </a:r>
            <a:r>
              <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rPr>
              <a:t>操作系统</a:t>
            </a:r>
            <a:r>
              <a:rPr lang="en-US" altLang="zh-CN" sz="2800" b="0">
                <a:solidFill>
                  <a:srgbClr val="002060"/>
                </a:solidFill>
                <a:latin typeface="方正大黑简体" panose="02000000000000000000" charset="-122"/>
                <a:ea typeface="方正大黑简体" panose="02000000000000000000" charset="-122"/>
                <a:cs typeface="方正大黑简体" panose="02000000000000000000" charset="-122"/>
              </a:rPr>
              <a:t>/Linux</a:t>
            </a:r>
            <a:r>
              <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rPr>
              <a:t>简介</a:t>
            </a:r>
            <a:endPar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2" name="矩形 1"/>
          <p:cNvSpPr/>
          <p:nvPr/>
        </p:nvSpPr>
        <p:spPr>
          <a:xfrm>
            <a:off x="1186359" y="3018953"/>
            <a:ext cx="7632848" cy="2553335"/>
          </a:xfrm>
          <a:prstGeom prst="rect">
            <a:avLst/>
          </a:prstGeom>
        </p:spPr>
        <p:txBody>
          <a:bodyPr wrap="square">
            <a:spAutoFit/>
          </a:bodyPr>
          <a:lstStyle/>
          <a:p>
            <a:r>
              <a:rPr lang="en-US" altLang="zh-CN" sz="2000" dirty="0">
                <a:solidFill>
                  <a:srgbClr val="800000"/>
                </a:solidFill>
                <a:latin typeface="黑体" panose="02010609060101010101" charset="-122"/>
                <a:ea typeface="黑体" panose="02010609060101010101" charset="-122"/>
                <a:cs typeface="黑体" panose="02010609060101010101" charset="-122"/>
              </a:rPr>
              <a:t> </a:t>
            </a:r>
            <a:endParaRPr lang="en-US" altLang="zh-CN" sz="2000" dirty="0">
              <a:latin typeface="黑体" panose="02010609060101010101" charset="-122"/>
              <a:ea typeface="黑体" panose="02010609060101010101" charset="-122"/>
              <a:cs typeface="黑体" panose="02010609060101010101" charset="-122"/>
            </a:endParaRPr>
          </a:p>
          <a:p>
            <a:r>
              <a:rPr lang="zh-CN" altLang="en-US" sz="2000" dirty="0">
                <a:latin typeface="黑体" panose="02010609060101010101" charset="-122"/>
                <a:ea typeface="黑体" panose="02010609060101010101" charset="-122"/>
                <a:cs typeface="黑体" panose="02010609060101010101" charset="-122"/>
              </a:rPr>
              <a:t>发布自己二次开发的操作系统版本。</a:t>
            </a:r>
            <a:endParaRPr lang="zh-CN" altLang="en-US" sz="2000" dirty="0">
              <a:latin typeface="黑体" panose="02010609060101010101" charset="-122"/>
              <a:ea typeface="黑体" panose="02010609060101010101" charset="-122"/>
              <a:cs typeface="黑体" panose="02010609060101010101" charset="-122"/>
            </a:endParaRPr>
          </a:p>
          <a:p>
            <a:endParaRPr lang="en-US" altLang="zh-CN" sz="2000" dirty="0">
              <a:latin typeface="黑体" panose="02010609060101010101" charset="-122"/>
              <a:ea typeface="黑体" panose="02010609060101010101" charset="-122"/>
              <a:cs typeface="黑体" panose="02010609060101010101" charset="-122"/>
              <a:hlinkClick r:id="rId1"/>
            </a:endParaRPr>
          </a:p>
          <a:p>
            <a:r>
              <a:rPr lang="zh-CN" altLang="en-US" sz="2000" dirty="0">
                <a:latin typeface="黑体" panose="02010609060101010101" charset="-122"/>
                <a:ea typeface="黑体" panose="02010609060101010101" charset="-122"/>
                <a:cs typeface="黑体" panose="02010609060101010101" charset="-122"/>
              </a:rPr>
              <a:t>https://openeuler.org/</a:t>
            </a:r>
            <a:endParaRPr lang="en-US" altLang="zh-CN" sz="2000" dirty="0">
              <a:latin typeface="黑体" panose="02010609060101010101" charset="-122"/>
              <a:ea typeface="黑体" panose="02010609060101010101" charset="-122"/>
              <a:cs typeface="黑体" panose="02010609060101010101" charset="-122"/>
            </a:endParaRPr>
          </a:p>
          <a:p>
            <a:endParaRPr lang="en-US" altLang="zh-CN" sz="2000" dirty="0">
              <a:latin typeface="黑体" panose="02010609060101010101" charset="-122"/>
              <a:ea typeface="黑体" panose="02010609060101010101" charset="-122"/>
              <a:cs typeface="黑体" panose="02010609060101010101" charset="-122"/>
            </a:endParaRPr>
          </a:p>
          <a:p>
            <a:endParaRPr lang="zh-CN" altLang="en-US" sz="2000" dirty="0">
              <a:latin typeface="黑体" panose="02010609060101010101" charset="-122"/>
              <a:ea typeface="黑体" panose="02010609060101010101" charset="-122"/>
              <a:cs typeface="黑体" panose="02010609060101010101" charset="-122"/>
            </a:endParaRPr>
          </a:p>
          <a:p>
            <a:r>
              <a:rPr lang="zh-CN" altLang="en-US" sz="2000" dirty="0">
                <a:latin typeface="黑体" panose="02010609060101010101" charset="-122"/>
                <a:ea typeface="黑体" panose="02010609060101010101" charset="-122"/>
                <a:cs typeface="黑体" panose="02010609060101010101" charset="-122"/>
              </a:rPr>
              <a:t>https://gitee.com/openeuler/</a:t>
            </a:r>
            <a:endParaRPr lang="en-US" altLang="zh-CN" sz="2000" dirty="0">
              <a:latin typeface="黑体" panose="02010609060101010101" charset="-122"/>
              <a:ea typeface="黑体" panose="02010609060101010101" charset="-122"/>
              <a:cs typeface="黑体" panose="02010609060101010101" charset="-122"/>
            </a:endParaRPr>
          </a:p>
          <a:p>
            <a:endParaRPr lang="zh-CN" altLang="en-US" sz="2000" dirty="0">
              <a:latin typeface="黑体" panose="02010609060101010101" charset="-122"/>
              <a:ea typeface="黑体" panose="02010609060101010101" charset="-122"/>
              <a:cs typeface="黑体" panose="02010609060101010101" charset="-122"/>
            </a:endParaRPr>
          </a:p>
        </p:txBody>
      </p:sp>
      <p:pic>
        <p:nvPicPr>
          <p:cNvPr id="3" name="图片 2"/>
          <p:cNvPicPr>
            <a:picLocks noChangeAspect="1"/>
          </p:cNvPicPr>
          <p:nvPr/>
        </p:nvPicPr>
        <p:blipFill>
          <a:blip r:embed="rId2"/>
          <a:stretch>
            <a:fillRect/>
          </a:stretch>
        </p:blipFill>
        <p:spPr>
          <a:xfrm>
            <a:off x="5689342" y="3281059"/>
            <a:ext cx="3240360" cy="911121"/>
          </a:xfrm>
          <a:prstGeom prst="rect">
            <a:avLst/>
          </a:prstGeom>
        </p:spPr>
      </p:pic>
      <p:pic>
        <p:nvPicPr>
          <p:cNvPr id="5" name="图片 4"/>
          <p:cNvPicPr>
            <a:picLocks noChangeAspect="1"/>
          </p:cNvPicPr>
          <p:nvPr/>
        </p:nvPicPr>
        <p:blipFill>
          <a:blip r:embed="rId3"/>
          <a:stretch>
            <a:fillRect/>
          </a:stretch>
        </p:blipFill>
        <p:spPr>
          <a:xfrm>
            <a:off x="5820660" y="4192071"/>
            <a:ext cx="3350769" cy="962865"/>
          </a:xfrm>
          <a:prstGeom prst="rect">
            <a:avLst/>
          </a:prstGeom>
        </p:spPr>
      </p:pic>
      <p:pic>
        <p:nvPicPr>
          <p:cNvPr id="6" name="图片 5"/>
          <p:cNvPicPr>
            <a:picLocks noChangeAspect="1"/>
          </p:cNvPicPr>
          <p:nvPr/>
        </p:nvPicPr>
        <p:blipFill>
          <a:blip r:embed="rId4"/>
          <a:stretch>
            <a:fillRect/>
          </a:stretch>
        </p:blipFill>
        <p:spPr>
          <a:xfrm>
            <a:off x="924540" y="987274"/>
            <a:ext cx="2232248" cy="661823"/>
          </a:xfrm>
          <a:prstGeom prst="rect">
            <a:avLst/>
          </a:prstGeom>
        </p:spPr>
      </p:pic>
      <p:sp>
        <p:nvSpPr>
          <p:cNvPr id="7" name="文本框 6"/>
          <p:cNvSpPr txBox="1"/>
          <p:nvPr/>
        </p:nvSpPr>
        <p:spPr>
          <a:xfrm>
            <a:off x="1186180" y="1653540"/>
            <a:ext cx="9411970" cy="1322070"/>
          </a:xfrm>
          <a:prstGeom prst="rect">
            <a:avLst/>
          </a:prstGeom>
          <a:ln>
            <a:solidFill>
              <a:schemeClr val="tx1"/>
            </a:solidFill>
          </a:ln>
        </p:spPr>
        <p:txBody>
          <a:bodyPr wrap="square">
            <a:spAutoFit/>
          </a:bodyPr>
          <a:p>
            <a:r>
              <a:rPr lang="en-US" altLang="zh-CN" sz="2000" b="0">
                <a:solidFill>
                  <a:schemeClr val="tx1"/>
                </a:solidFill>
                <a:latin typeface="黑体" panose="02010609060101010101" charset="-122"/>
                <a:ea typeface="黑体" panose="02010609060101010101" charset="-122"/>
                <a:cs typeface="黑体" panose="02010609060101010101" charset="-122"/>
              </a:rPr>
              <a:t>openEuler</a:t>
            </a:r>
            <a:r>
              <a:rPr lang="zh-CN" altLang="en-US" sz="2000" b="0">
                <a:solidFill>
                  <a:schemeClr val="tx1"/>
                </a:solidFill>
                <a:latin typeface="黑体" panose="02010609060101010101" charset="-122"/>
                <a:ea typeface="黑体" panose="02010609060101010101" charset="-122"/>
                <a:cs typeface="黑体" panose="02010609060101010101" charset="-122"/>
              </a:rPr>
              <a:t>是一款由华为研发的开源、免费的操作系统，由</a:t>
            </a:r>
            <a:r>
              <a:rPr lang="en-US" altLang="zh-CN" sz="2000" b="0">
                <a:solidFill>
                  <a:schemeClr val="tx1"/>
                </a:solidFill>
                <a:latin typeface="黑体" panose="02010609060101010101" charset="-122"/>
                <a:ea typeface="黑体" panose="02010609060101010101" charset="-122"/>
                <a:cs typeface="黑体" panose="02010609060101010101" charset="-122"/>
              </a:rPr>
              <a:t>openEuler</a:t>
            </a:r>
            <a:r>
              <a:rPr lang="zh-CN" altLang="en-US" sz="2000" b="0">
                <a:solidFill>
                  <a:schemeClr val="tx1"/>
                </a:solidFill>
                <a:latin typeface="黑体" panose="02010609060101010101" charset="-122"/>
                <a:ea typeface="黑体" panose="02010609060101010101" charset="-122"/>
                <a:cs typeface="黑体" panose="02010609060101010101" charset="-122"/>
              </a:rPr>
              <a:t>社区维护。</a:t>
            </a:r>
            <a:r>
              <a:rPr lang="en-US" altLang="zh-CN" sz="2000" b="0">
                <a:solidFill>
                  <a:schemeClr val="tx1"/>
                </a:solidFill>
                <a:latin typeface="黑体" panose="02010609060101010101" charset="-122"/>
                <a:ea typeface="黑体" panose="02010609060101010101" charset="-122"/>
                <a:cs typeface="黑体" panose="02010609060101010101" charset="-122"/>
              </a:rPr>
              <a:t>openEuler</a:t>
            </a:r>
            <a:r>
              <a:rPr lang="zh-CN" altLang="en-US" sz="2000" b="0">
                <a:solidFill>
                  <a:schemeClr val="tx1"/>
                </a:solidFill>
                <a:latin typeface="黑体" panose="02010609060101010101" charset="-122"/>
                <a:ea typeface="黑体" panose="02010609060101010101" charset="-122"/>
                <a:cs typeface="黑体" panose="02010609060101010101" charset="-122"/>
              </a:rPr>
              <a:t>的内核源于</a:t>
            </a:r>
            <a:r>
              <a:rPr lang="en-US" altLang="zh-CN" sz="2000" b="0">
                <a:solidFill>
                  <a:schemeClr val="tx1"/>
                </a:solidFill>
                <a:latin typeface="黑体" panose="02010609060101010101" charset="-122"/>
                <a:ea typeface="黑体" panose="02010609060101010101" charset="-122"/>
                <a:cs typeface="黑体" panose="02010609060101010101" charset="-122"/>
              </a:rPr>
              <a:t>Linux</a:t>
            </a:r>
            <a:r>
              <a:rPr lang="zh-CN" altLang="en-US" sz="2000" b="0">
                <a:solidFill>
                  <a:schemeClr val="tx1"/>
                </a:solidFill>
                <a:latin typeface="黑体" panose="02010609060101010101" charset="-122"/>
                <a:ea typeface="黑体" panose="02010609060101010101" charset="-122"/>
                <a:cs typeface="黑体" panose="02010609060101010101" charset="-122"/>
              </a:rPr>
              <a:t>，支持鲲鹏处理器及其他多种处理器，能够充分释放计算芯片的潜能，是由来自全球贡献者构建的高效、稳定、安全的开源操作系统，适用于大数据、云计算、人工智能等应用场景。</a:t>
            </a:r>
            <a:endParaRPr lang="zh-CN" altLang="en-US" sz="2000" b="0">
              <a:solidFill>
                <a:schemeClr val="tx1"/>
              </a:solidFill>
              <a:latin typeface="黑体" panose="02010609060101010101" charset="-122"/>
              <a:ea typeface="黑体" panose="02010609060101010101" charset="-122"/>
              <a:cs typeface="黑体" panose="02010609060101010101"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001395" y="544830"/>
            <a:ext cx="6419850" cy="521970"/>
          </a:xfrm>
          <a:prstGeom prst="rect">
            <a:avLst/>
          </a:prstGeom>
        </p:spPr>
        <p:txBody>
          <a:bodyPr wrap="square">
            <a:spAutoFit/>
          </a:bodyPr>
          <a:p>
            <a:r>
              <a:rPr lang="en-US" altLang="zh-CN" sz="2800" b="0">
                <a:solidFill>
                  <a:srgbClr val="002060"/>
                </a:solidFill>
                <a:latin typeface="方正大黑简体" panose="02000000000000000000" charset="-122"/>
                <a:ea typeface="方正大黑简体" panose="02000000000000000000" charset="-122"/>
                <a:cs typeface="方正大黑简体" panose="02000000000000000000" charset="-122"/>
              </a:rPr>
              <a:t>1.3 openEuler</a:t>
            </a:r>
            <a:r>
              <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rPr>
              <a:t>操作系统</a:t>
            </a:r>
            <a:r>
              <a:rPr lang="en-US" altLang="zh-CN" sz="2800" b="0">
                <a:solidFill>
                  <a:srgbClr val="002060"/>
                </a:solidFill>
                <a:latin typeface="方正大黑简体" panose="02000000000000000000" charset="-122"/>
                <a:ea typeface="方正大黑简体" panose="02000000000000000000" charset="-122"/>
                <a:cs typeface="方正大黑简体" panose="02000000000000000000" charset="-122"/>
              </a:rPr>
              <a:t>/Linux</a:t>
            </a:r>
            <a:r>
              <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rPr>
              <a:t>简介</a:t>
            </a:r>
            <a:endPar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14" name="文本框 13"/>
          <p:cNvSpPr txBox="1"/>
          <p:nvPr/>
        </p:nvSpPr>
        <p:spPr>
          <a:xfrm>
            <a:off x="1001395" y="1066800"/>
            <a:ext cx="4343400" cy="398780"/>
          </a:xfrm>
          <a:prstGeom prst="rect">
            <a:avLst/>
          </a:prstGeom>
          <a:ln>
            <a:noFill/>
          </a:ln>
        </p:spPr>
        <p:txBody>
          <a:bodyPr wrap="square">
            <a:spAutoFit/>
          </a:bodyPr>
          <a:p>
            <a:pPr marL="342900" indent="-342900">
              <a:buFont typeface="Wingdings" panose="05000000000000000000" charset="0"/>
              <a:buChar char="n"/>
            </a:pPr>
            <a:r>
              <a:rPr lang="en-US" altLang="zh-CN" sz="2000" b="1">
                <a:solidFill>
                  <a:srgbClr val="660000"/>
                </a:solidFill>
                <a:latin typeface="华文楷体" panose="02010600040101010101" pitchFamily="2" charset="-122"/>
                <a:ea typeface="华文楷体" panose="02010600040101010101" pitchFamily="2" charset="-122"/>
                <a:cs typeface="华文行楷" panose="02010800040101010101" charset="-122"/>
              </a:rPr>
              <a:t>openEuler</a:t>
            </a:r>
            <a:r>
              <a:rPr lang="zh-CN" altLang="en-US" sz="2000" b="1">
                <a:solidFill>
                  <a:srgbClr val="660000"/>
                </a:solidFill>
                <a:latin typeface="华文行楷" panose="02010800040101010101" charset="-122"/>
                <a:ea typeface="华文行楷" panose="02010800040101010101" charset="-122"/>
                <a:cs typeface="华文行楷" panose="02010800040101010101" charset="-122"/>
              </a:rPr>
              <a:t>与</a:t>
            </a:r>
            <a:r>
              <a:rPr lang="en-US" altLang="zh-CN" sz="2000" b="1">
                <a:solidFill>
                  <a:srgbClr val="660000"/>
                </a:solidFill>
                <a:latin typeface="华文行楷" panose="02010800040101010101" charset="-122"/>
                <a:ea typeface="华文行楷" panose="02010800040101010101" charset="-122"/>
                <a:cs typeface="华文行楷" panose="02010800040101010101" charset="-122"/>
              </a:rPr>
              <a:t>Linux</a:t>
            </a:r>
            <a:r>
              <a:rPr lang="zh-CN" altLang="en-US" sz="2000" b="1">
                <a:solidFill>
                  <a:srgbClr val="660000"/>
                </a:solidFill>
                <a:latin typeface="华文行楷" panose="02010800040101010101" charset="-122"/>
                <a:ea typeface="华文行楷" panose="02010800040101010101" charset="-122"/>
                <a:cs typeface="华文行楷" panose="02010800040101010101" charset="-122"/>
              </a:rPr>
              <a:t>家族的关系</a:t>
            </a:r>
            <a:endParaRPr lang="zh-CN" altLang="en-US" sz="2000" b="1">
              <a:solidFill>
                <a:srgbClr val="660000"/>
              </a:solidFill>
              <a:latin typeface="华文行楷" panose="02010800040101010101" charset="-122"/>
              <a:ea typeface="华文行楷" panose="02010800040101010101" charset="-122"/>
              <a:cs typeface="华文行楷" panose="02010800040101010101" charset="-122"/>
            </a:endParaRPr>
          </a:p>
        </p:txBody>
      </p:sp>
      <p:pic>
        <p:nvPicPr>
          <p:cNvPr id="2" name="图片 1"/>
          <p:cNvPicPr>
            <a:picLocks noChangeAspect="1"/>
          </p:cNvPicPr>
          <p:nvPr/>
        </p:nvPicPr>
        <p:blipFill>
          <a:blip r:embed="rId1"/>
          <a:stretch>
            <a:fillRect/>
          </a:stretch>
        </p:blipFill>
        <p:spPr>
          <a:xfrm>
            <a:off x="854710" y="3794760"/>
            <a:ext cx="5241290" cy="2167255"/>
          </a:xfrm>
          <a:prstGeom prst="rect">
            <a:avLst/>
          </a:prstGeom>
        </p:spPr>
      </p:pic>
      <p:grpSp>
        <p:nvGrpSpPr>
          <p:cNvPr id="7" name="组合 6"/>
          <p:cNvGrpSpPr/>
          <p:nvPr/>
        </p:nvGrpSpPr>
        <p:grpSpPr>
          <a:xfrm>
            <a:off x="4150995" y="1465580"/>
            <a:ext cx="6022340" cy="3050540"/>
            <a:chOff x="6537" y="2308"/>
            <a:chExt cx="9484" cy="4804"/>
          </a:xfrm>
        </p:grpSpPr>
        <p:pic>
          <p:nvPicPr>
            <p:cNvPr id="5" name="图片 4"/>
            <p:cNvPicPr>
              <a:picLocks noChangeAspect="1"/>
            </p:cNvPicPr>
            <p:nvPr/>
          </p:nvPicPr>
          <p:blipFill>
            <a:blip r:embed="rId2"/>
            <a:stretch>
              <a:fillRect/>
            </a:stretch>
          </p:blipFill>
          <p:spPr>
            <a:xfrm>
              <a:off x="6537" y="2308"/>
              <a:ext cx="9484" cy="4802"/>
            </a:xfrm>
            <a:prstGeom prst="rect">
              <a:avLst/>
            </a:prstGeom>
          </p:spPr>
        </p:pic>
        <p:cxnSp>
          <p:nvCxnSpPr>
            <p:cNvPr id="6" name="直接连接符 5"/>
            <p:cNvCxnSpPr/>
            <p:nvPr/>
          </p:nvCxnSpPr>
          <p:spPr>
            <a:xfrm flipV="1">
              <a:off x="13994" y="7098"/>
              <a:ext cx="1419" cy="1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001395" y="544830"/>
            <a:ext cx="6419850" cy="521970"/>
          </a:xfrm>
          <a:prstGeom prst="rect">
            <a:avLst/>
          </a:prstGeom>
        </p:spPr>
        <p:txBody>
          <a:bodyPr wrap="square">
            <a:spAutoFit/>
          </a:bodyPr>
          <a:p>
            <a:r>
              <a:rPr lang="en-US" altLang="zh-CN" sz="2800" b="0">
                <a:solidFill>
                  <a:srgbClr val="002060"/>
                </a:solidFill>
                <a:latin typeface="方正大黑简体" panose="02000000000000000000" charset="-122"/>
                <a:ea typeface="方正大黑简体" panose="02000000000000000000" charset="-122"/>
                <a:cs typeface="方正大黑简体" panose="02000000000000000000" charset="-122"/>
              </a:rPr>
              <a:t>1.3 openEuler</a:t>
            </a:r>
            <a:r>
              <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rPr>
              <a:t>操作系统</a:t>
            </a:r>
            <a:r>
              <a:rPr lang="en-US" altLang="zh-CN" sz="2800" b="0">
                <a:solidFill>
                  <a:srgbClr val="002060"/>
                </a:solidFill>
                <a:latin typeface="方正大黑简体" panose="02000000000000000000" charset="-122"/>
                <a:ea typeface="方正大黑简体" panose="02000000000000000000" charset="-122"/>
                <a:cs typeface="方正大黑简体" panose="02000000000000000000" charset="-122"/>
              </a:rPr>
              <a:t>/Linux</a:t>
            </a:r>
            <a:r>
              <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rPr>
              <a:t>简介</a:t>
            </a:r>
            <a:endPar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pic>
        <p:nvPicPr>
          <p:cNvPr id="2" name="图片 1"/>
          <p:cNvPicPr>
            <a:picLocks noChangeAspect="1"/>
          </p:cNvPicPr>
          <p:nvPr/>
        </p:nvPicPr>
        <p:blipFill>
          <a:blip r:embed="rId1"/>
          <a:srcRect l="9778" r="5740"/>
          <a:stretch>
            <a:fillRect/>
          </a:stretch>
        </p:blipFill>
        <p:spPr>
          <a:xfrm>
            <a:off x="1791335" y="1538605"/>
            <a:ext cx="7680325" cy="4291965"/>
          </a:xfrm>
          <a:prstGeom prst="rect">
            <a:avLst/>
          </a:prstGeom>
        </p:spPr>
      </p:pic>
      <p:sp>
        <p:nvSpPr>
          <p:cNvPr id="3" name="文本框 2"/>
          <p:cNvSpPr txBox="1"/>
          <p:nvPr/>
        </p:nvSpPr>
        <p:spPr>
          <a:xfrm>
            <a:off x="924560" y="1170305"/>
            <a:ext cx="4033520" cy="398780"/>
          </a:xfrm>
          <a:prstGeom prst="rect">
            <a:avLst/>
          </a:prstGeom>
        </p:spPr>
        <p:txBody>
          <a:bodyPr wrap="square">
            <a:spAutoFit/>
          </a:bodyPr>
          <a:p>
            <a:pPr marL="342900" indent="-342900">
              <a:buFont typeface="Wingdings" panose="05000000000000000000" charset="0"/>
              <a:buChar char="n"/>
            </a:pPr>
            <a:r>
              <a:rPr lang="en-US" altLang="zh-CN" sz="2000" b="1">
                <a:solidFill>
                  <a:srgbClr val="660000"/>
                </a:solidFill>
                <a:latin typeface="华文楷体" panose="02010600040101010101" pitchFamily="2" charset="-122"/>
                <a:ea typeface="华文楷体" panose="02010600040101010101" pitchFamily="2" charset="-122"/>
                <a:cs typeface="华文行楷" panose="02010800040101010101" charset="-122"/>
              </a:rPr>
              <a:t>openEuler</a:t>
            </a:r>
            <a:r>
              <a:rPr lang="zh-CN" altLang="en-US" sz="2000" b="1">
                <a:solidFill>
                  <a:srgbClr val="660000"/>
                </a:solidFill>
                <a:latin typeface="华文行楷" panose="02010800040101010101" charset="-122"/>
                <a:ea typeface="华文行楷" panose="02010800040101010101" charset="-122"/>
                <a:cs typeface="华文行楷" panose="02010800040101010101" charset="-122"/>
              </a:rPr>
              <a:t>系统架构</a:t>
            </a:r>
            <a:endParaRPr lang="zh-CN" altLang="en-US" sz="2000" b="1">
              <a:solidFill>
                <a:srgbClr val="660000"/>
              </a:solidFill>
              <a:latin typeface="华文行楷" panose="02010800040101010101" charset="-122"/>
              <a:ea typeface="华文行楷" panose="02010800040101010101" charset="-122"/>
              <a:cs typeface="华文行楷" panose="02010800040101010101"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001395" y="544830"/>
            <a:ext cx="6419850" cy="521970"/>
          </a:xfrm>
          <a:prstGeom prst="rect">
            <a:avLst/>
          </a:prstGeom>
        </p:spPr>
        <p:txBody>
          <a:bodyPr wrap="square">
            <a:spAutoFit/>
          </a:bodyPr>
          <a:p>
            <a:r>
              <a:rPr lang="en-US" altLang="zh-CN" sz="2800" b="0">
                <a:solidFill>
                  <a:srgbClr val="002060"/>
                </a:solidFill>
                <a:latin typeface="方正大黑简体" panose="02000000000000000000" charset="-122"/>
                <a:ea typeface="方正大黑简体" panose="02000000000000000000" charset="-122"/>
                <a:cs typeface="方正大黑简体" panose="02000000000000000000" charset="-122"/>
              </a:rPr>
              <a:t>1.3 openEuler</a:t>
            </a:r>
            <a:r>
              <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rPr>
              <a:t>操作系统</a:t>
            </a:r>
            <a:r>
              <a:rPr lang="en-US" altLang="zh-CN" sz="2800" b="0">
                <a:solidFill>
                  <a:srgbClr val="002060"/>
                </a:solidFill>
                <a:latin typeface="方正大黑简体" panose="02000000000000000000" charset="-122"/>
                <a:ea typeface="方正大黑简体" panose="02000000000000000000" charset="-122"/>
                <a:cs typeface="方正大黑简体" panose="02000000000000000000" charset="-122"/>
              </a:rPr>
              <a:t>/Linux</a:t>
            </a:r>
            <a:r>
              <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rPr>
              <a:t>简介</a:t>
            </a:r>
            <a:endPar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3" name="文本框 2"/>
          <p:cNvSpPr txBox="1"/>
          <p:nvPr/>
        </p:nvSpPr>
        <p:spPr>
          <a:xfrm>
            <a:off x="1256030" y="1333500"/>
            <a:ext cx="8656955" cy="398780"/>
          </a:xfrm>
          <a:prstGeom prst="rect">
            <a:avLst/>
          </a:prstGeom>
        </p:spPr>
        <p:txBody>
          <a:bodyPr wrap="square">
            <a:spAutoFit/>
          </a:bodyPr>
          <a:p>
            <a:r>
              <a:rPr lang="zh-CN" altLang="en-US" sz="2000" b="1">
                <a:solidFill>
                  <a:srgbClr val="231F20"/>
                </a:solidFill>
                <a:latin typeface="黑体" panose="02010609060101010101" charset="-122"/>
                <a:ea typeface="黑体" panose="02010609060101010101" charset="-122"/>
                <a:cs typeface="黑体" panose="02010609060101010101" charset="-122"/>
              </a:rPr>
              <a:t>为充分发挥鲲鹏芯片的优势，</a:t>
            </a:r>
            <a:r>
              <a:rPr lang="en-US" altLang="zh-CN" sz="2000" b="1">
                <a:solidFill>
                  <a:srgbClr val="231F20"/>
                </a:solidFill>
                <a:latin typeface="黑体" panose="02010609060101010101" charset="-122"/>
                <a:ea typeface="黑体" panose="02010609060101010101" charset="-122"/>
                <a:cs typeface="黑体" panose="02010609060101010101" charset="-122"/>
              </a:rPr>
              <a:t>openEuler</a:t>
            </a:r>
            <a:r>
              <a:rPr lang="zh-CN" altLang="en-US" sz="2000" b="1">
                <a:solidFill>
                  <a:srgbClr val="231F20"/>
                </a:solidFill>
                <a:latin typeface="黑体" panose="02010609060101010101" charset="-122"/>
                <a:ea typeface="黑体" panose="02010609060101010101" charset="-122"/>
                <a:cs typeface="黑体" panose="02010609060101010101" charset="-122"/>
              </a:rPr>
              <a:t>对通用</a:t>
            </a:r>
            <a:r>
              <a:rPr lang="en-US" altLang="zh-CN" sz="2000" b="1">
                <a:solidFill>
                  <a:srgbClr val="231F20"/>
                </a:solidFill>
                <a:latin typeface="黑体" panose="02010609060101010101" charset="-122"/>
                <a:ea typeface="黑体" panose="02010609060101010101" charset="-122"/>
                <a:cs typeface="黑体" panose="02010609060101010101" charset="-122"/>
              </a:rPr>
              <a:t>Linux</a:t>
            </a:r>
            <a:r>
              <a:rPr lang="zh-CN" altLang="en-US" sz="2000" b="1">
                <a:solidFill>
                  <a:srgbClr val="231F20"/>
                </a:solidFill>
                <a:latin typeface="黑体" panose="02010609060101010101" charset="-122"/>
                <a:ea typeface="黑体" panose="02010609060101010101" charset="-122"/>
                <a:cs typeface="黑体" panose="02010609060101010101" charset="-122"/>
              </a:rPr>
              <a:t>操作系统进行了增强</a:t>
            </a:r>
            <a:endParaRPr lang="zh-CN" altLang="en-US" sz="2000" b="1">
              <a:solidFill>
                <a:srgbClr val="231F20"/>
              </a:solidFill>
              <a:latin typeface="黑体" panose="02010609060101010101" charset="-122"/>
              <a:ea typeface="黑体" panose="02010609060101010101" charset="-122"/>
              <a:cs typeface="黑体" panose="02010609060101010101" charset="-122"/>
            </a:endParaRPr>
          </a:p>
        </p:txBody>
      </p:sp>
      <p:sp>
        <p:nvSpPr>
          <p:cNvPr id="6" name="文本框 5"/>
          <p:cNvSpPr txBox="1"/>
          <p:nvPr/>
        </p:nvSpPr>
        <p:spPr>
          <a:xfrm>
            <a:off x="1256030" y="1998980"/>
            <a:ext cx="9679305" cy="3692525"/>
          </a:xfrm>
          <a:prstGeom prst="rect">
            <a:avLst/>
          </a:prstGeom>
          <a:ln>
            <a:solidFill>
              <a:schemeClr val="tx1"/>
            </a:solidFill>
          </a:ln>
        </p:spPr>
        <p:txBody>
          <a:bodyPr wrap="square">
            <a:spAutoFit/>
          </a:bodyPr>
          <a:p>
            <a:r>
              <a:rPr lang="zh-CN" altLang="en-US" b="1">
                <a:solidFill>
                  <a:srgbClr val="002060"/>
                </a:solidFill>
                <a:latin typeface="黑体" panose="02010609060101010101" charset="-122"/>
                <a:ea typeface="黑体" panose="02010609060101010101" charset="-122"/>
                <a:cs typeface="黑体" panose="02010609060101010101" charset="-122"/>
              </a:rPr>
              <a:t>（</a:t>
            </a:r>
            <a:r>
              <a:rPr lang="en-US" altLang="zh-CN" b="1">
                <a:solidFill>
                  <a:srgbClr val="002060"/>
                </a:solidFill>
                <a:latin typeface="黑体" panose="02010609060101010101" charset="-122"/>
                <a:ea typeface="黑体" panose="02010609060101010101" charset="-122"/>
                <a:cs typeface="黑体" panose="02010609060101010101" charset="-122"/>
              </a:rPr>
              <a:t>1</a:t>
            </a:r>
            <a:r>
              <a:rPr lang="zh-CN" altLang="en-US" b="1">
                <a:solidFill>
                  <a:srgbClr val="002060"/>
                </a:solidFill>
                <a:latin typeface="黑体" panose="02010609060101010101" charset="-122"/>
                <a:ea typeface="黑体" panose="02010609060101010101" charset="-122"/>
                <a:cs typeface="黑体" panose="02010609060101010101" charset="-122"/>
              </a:rPr>
              <a:t>）多核调度技术：</a:t>
            </a:r>
            <a:endParaRPr lang="zh-CN" altLang="en-US" b="1">
              <a:solidFill>
                <a:srgbClr val="002060"/>
              </a:solidFill>
              <a:latin typeface="黑体" panose="02010609060101010101" charset="-122"/>
              <a:ea typeface="黑体" panose="02010609060101010101" charset="-122"/>
              <a:cs typeface="黑体" panose="02010609060101010101" charset="-122"/>
            </a:endParaRPr>
          </a:p>
          <a:p>
            <a:r>
              <a:rPr lang="zh-CN" altLang="en-US" b="0">
                <a:solidFill>
                  <a:srgbClr val="231F20"/>
                </a:solidFill>
                <a:latin typeface="黑体" panose="02010609060101010101" charset="-122"/>
                <a:ea typeface="黑体" panose="02010609060101010101" charset="-122"/>
                <a:cs typeface="黑体" panose="02010609060101010101" charset="-122"/>
              </a:rPr>
              <a:t> </a:t>
            </a:r>
            <a:r>
              <a:rPr lang="en-US" altLang="zh-CN" b="0">
                <a:solidFill>
                  <a:srgbClr val="231F20"/>
                </a:solidFill>
                <a:latin typeface="黑体" panose="02010609060101010101" charset="-122"/>
                <a:ea typeface="黑体" panose="02010609060101010101" charset="-122"/>
                <a:cs typeface="黑体" panose="02010609060101010101" charset="-122"/>
              </a:rPr>
              <a:t>   openEuler</a:t>
            </a:r>
            <a:r>
              <a:rPr lang="zh-CN" altLang="en-US" b="0">
                <a:solidFill>
                  <a:srgbClr val="231F20"/>
                </a:solidFill>
                <a:latin typeface="黑体" panose="02010609060101010101" charset="-122"/>
                <a:ea typeface="黑体" panose="02010609060101010101" charset="-122"/>
                <a:cs typeface="黑体" panose="02010609060101010101" charset="-122"/>
              </a:rPr>
              <a:t>提供了</a:t>
            </a:r>
            <a:r>
              <a:rPr lang="en-US" altLang="zh-CN" b="0">
                <a:solidFill>
                  <a:srgbClr val="231F20"/>
                </a:solidFill>
                <a:latin typeface="黑体" panose="02010609060101010101" charset="-122"/>
                <a:ea typeface="黑体" panose="02010609060101010101" charset="-122"/>
                <a:cs typeface="黑体" panose="02010609060101010101" charset="-122"/>
              </a:rPr>
              <a:t>NumaAware</a:t>
            </a:r>
            <a:r>
              <a:rPr lang="zh-CN" altLang="en-US" b="0">
                <a:solidFill>
                  <a:srgbClr val="231F20"/>
                </a:solidFill>
                <a:latin typeface="黑体" panose="02010609060101010101" charset="-122"/>
                <a:ea typeface="黑体" panose="02010609060101010101" charset="-122"/>
                <a:cs typeface="黑体" panose="02010609060101010101" charset="-122"/>
              </a:rPr>
              <a:t>解决方案。在线程绑定方面实现多核调度，减少了跨核数据拷贝和通信。在数据化结构处采用了异步并行拷贝，有效地提升了处理能力。</a:t>
            </a:r>
            <a:endParaRPr lang="zh-CN" altLang="en-US" b="0">
              <a:solidFill>
                <a:srgbClr val="231F20"/>
              </a:solidFill>
              <a:latin typeface="黑体" panose="02010609060101010101" charset="-122"/>
              <a:ea typeface="黑体" panose="02010609060101010101" charset="-122"/>
              <a:cs typeface="黑体" panose="02010609060101010101" charset="-122"/>
            </a:endParaRPr>
          </a:p>
          <a:p>
            <a:r>
              <a:rPr lang="zh-CN" altLang="en-US" b="1">
                <a:solidFill>
                  <a:srgbClr val="002060"/>
                </a:solidFill>
                <a:latin typeface="黑体" panose="02010609060101010101" charset="-122"/>
                <a:ea typeface="黑体" panose="02010609060101010101" charset="-122"/>
                <a:cs typeface="黑体" panose="02010609060101010101" charset="-122"/>
              </a:rPr>
              <a:t>（</a:t>
            </a:r>
            <a:r>
              <a:rPr lang="en-US" altLang="zh-CN" b="1">
                <a:solidFill>
                  <a:srgbClr val="002060"/>
                </a:solidFill>
                <a:latin typeface="黑体" panose="02010609060101010101" charset="-122"/>
                <a:ea typeface="黑体" panose="02010609060101010101" charset="-122"/>
                <a:cs typeface="黑体" panose="02010609060101010101" charset="-122"/>
              </a:rPr>
              <a:t>2</a:t>
            </a:r>
            <a:r>
              <a:rPr lang="zh-CN" altLang="en-US" b="1">
                <a:solidFill>
                  <a:srgbClr val="002060"/>
                </a:solidFill>
                <a:latin typeface="黑体" panose="02010609060101010101" charset="-122"/>
                <a:ea typeface="黑体" panose="02010609060101010101" charset="-122"/>
                <a:cs typeface="黑体" panose="02010609060101010101" charset="-122"/>
              </a:rPr>
              <a:t>）软硬件协同：</a:t>
            </a:r>
            <a:endParaRPr lang="zh-CN" altLang="en-US" b="1">
              <a:solidFill>
                <a:srgbClr val="002060"/>
              </a:solidFill>
              <a:latin typeface="黑体" panose="02010609060101010101" charset="-122"/>
              <a:ea typeface="黑体" panose="02010609060101010101" charset="-122"/>
              <a:cs typeface="黑体" panose="02010609060101010101" charset="-122"/>
            </a:endParaRPr>
          </a:p>
          <a:p>
            <a:r>
              <a:rPr lang="zh-CN" altLang="en-US" b="0">
                <a:solidFill>
                  <a:srgbClr val="231F20"/>
                </a:solidFill>
                <a:latin typeface="黑体" panose="02010609060101010101" charset="-122"/>
                <a:ea typeface="黑体" panose="02010609060101010101" charset="-122"/>
                <a:cs typeface="黑体" panose="02010609060101010101" charset="-122"/>
              </a:rPr>
              <a:t> </a:t>
            </a:r>
            <a:r>
              <a:rPr lang="en-US" altLang="zh-CN" b="0">
                <a:solidFill>
                  <a:srgbClr val="231F20"/>
                </a:solidFill>
                <a:latin typeface="黑体" panose="02010609060101010101" charset="-122"/>
                <a:ea typeface="黑体" panose="02010609060101010101" charset="-122"/>
                <a:cs typeface="黑体" panose="02010609060101010101" charset="-122"/>
              </a:rPr>
              <a:t>   </a:t>
            </a:r>
            <a:r>
              <a:rPr lang="zh-CN" altLang="en-US" b="0">
                <a:solidFill>
                  <a:srgbClr val="231F20"/>
                </a:solidFill>
                <a:latin typeface="黑体" panose="02010609060101010101" charset="-122"/>
                <a:ea typeface="黑体" panose="02010609060101010101" charset="-122"/>
                <a:cs typeface="黑体" panose="02010609060101010101" charset="-122"/>
              </a:rPr>
              <a:t>提供</a:t>
            </a:r>
            <a:r>
              <a:rPr lang="en-US" altLang="zh-CN" b="0">
                <a:solidFill>
                  <a:srgbClr val="231F20"/>
                </a:solidFill>
                <a:latin typeface="黑体" panose="02010609060101010101" charset="-122"/>
                <a:ea typeface="黑体" panose="02010609060101010101" charset="-122"/>
                <a:cs typeface="黑体" panose="02010609060101010101" charset="-122"/>
              </a:rPr>
              <a:t>KAE</a:t>
            </a:r>
            <a:r>
              <a:rPr lang="zh-CN" altLang="en-US" b="0">
                <a:solidFill>
                  <a:srgbClr val="231F20"/>
                </a:solidFill>
                <a:latin typeface="黑体" panose="02010609060101010101" charset="-122"/>
                <a:ea typeface="黑体" panose="02010609060101010101" charset="-122"/>
                <a:cs typeface="黑体" panose="02010609060101010101" charset="-122"/>
              </a:rPr>
              <a:t>插件，这是</a:t>
            </a:r>
            <a:r>
              <a:rPr lang="en-US" altLang="zh-CN" b="0">
                <a:solidFill>
                  <a:srgbClr val="231F20"/>
                </a:solidFill>
                <a:latin typeface="黑体" panose="02010609060101010101" charset="-122"/>
                <a:ea typeface="黑体" panose="02010609060101010101" charset="-122"/>
                <a:cs typeface="黑体" panose="02010609060101010101" charset="-122"/>
              </a:rPr>
              <a:t>openEuler</a:t>
            </a:r>
            <a:r>
              <a:rPr lang="zh-CN" altLang="en-US" b="0">
                <a:solidFill>
                  <a:srgbClr val="231F20"/>
                </a:solidFill>
                <a:latin typeface="黑体" panose="02010609060101010101" charset="-122"/>
                <a:ea typeface="黑体" panose="02010609060101010101" charset="-122"/>
                <a:cs typeface="黑体" panose="02010609060101010101" charset="-122"/>
              </a:rPr>
              <a:t>的一个软件加速库，搭载在鲲鹏</a:t>
            </a:r>
            <a:r>
              <a:rPr lang="en-US" altLang="zh-CN" b="0">
                <a:solidFill>
                  <a:srgbClr val="231F20"/>
                </a:solidFill>
                <a:latin typeface="黑体" panose="02010609060101010101" charset="-122"/>
                <a:ea typeface="黑体" panose="02010609060101010101" charset="-122"/>
                <a:cs typeface="黑体" panose="02010609060101010101" charset="-122"/>
              </a:rPr>
              <a:t>920</a:t>
            </a:r>
            <a:r>
              <a:rPr lang="zh-CN" altLang="en-US" b="0">
                <a:solidFill>
                  <a:srgbClr val="231F20"/>
                </a:solidFill>
                <a:latin typeface="黑体" panose="02010609060101010101" charset="-122"/>
                <a:ea typeface="黑体" panose="02010609060101010101" charset="-122"/>
                <a:cs typeface="黑体" panose="02010609060101010101" charset="-122"/>
              </a:rPr>
              <a:t>处理器上联合提供硬件加速引擎功能，可以显著降低处理器消耗，提高处理器效率。</a:t>
            </a:r>
            <a:endParaRPr lang="zh-CN" altLang="en-US" b="0">
              <a:solidFill>
                <a:srgbClr val="231F20"/>
              </a:solidFill>
              <a:latin typeface="黑体" panose="02010609060101010101" charset="-122"/>
              <a:ea typeface="黑体" panose="02010609060101010101" charset="-122"/>
              <a:cs typeface="黑体" panose="02010609060101010101" charset="-122"/>
            </a:endParaRPr>
          </a:p>
          <a:p>
            <a:r>
              <a:rPr lang="zh-CN" altLang="en-US" b="1">
                <a:solidFill>
                  <a:srgbClr val="002060"/>
                </a:solidFill>
                <a:latin typeface="黑体" panose="02010609060101010101" charset="-122"/>
                <a:ea typeface="黑体" panose="02010609060101010101" charset="-122"/>
                <a:cs typeface="黑体" panose="02010609060101010101" charset="-122"/>
              </a:rPr>
              <a:t>（</a:t>
            </a:r>
            <a:r>
              <a:rPr lang="en-US" altLang="zh-CN" b="1">
                <a:solidFill>
                  <a:srgbClr val="002060"/>
                </a:solidFill>
                <a:latin typeface="黑体" panose="02010609060101010101" charset="-122"/>
                <a:ea typeface="黑体" panose="02010609060101010101" charset="-122"/>
                <a:cs typeface="黑体" panose="02010609060101010101" charset="-122"/>
              </a:rPr>
              <a:t>3</a:t>
            </a:r>
            <a:r>
              <a:rPr lang="zh-CN" altLang="en-US" b="1">
                <a:solidFill>
                  <a:srgbClr val="002060"/>
                </a:solidFill>
                <a:latin typeface="黑体" panose="02010609060101010101" charset="-122"/>
                <a:ea typeface="黑体" panose="02010609060101010101" charset="-122"/>
                <a:cs typeface="黑体" panose="02010609060101010101" charset="-122"/>
              </a:rPr>
              <a:t>）轻量级虚拟化：</a:t>
            </a:r>
            <a:endParaRPr lang="zh-CN" altLang="en-US" b="1">
              <a:solidFill>
                <a:srgbClr val="002060"/>
              </a:solidFill>
              <a:latin typeface="黑体" panose="02010609060101010101" charset="-122"/>
              <a:ea typeface="黑体" panose="02010609060101010101" charset="-122"/>
              <a:cs typeface="黑体" panose="02010609060101010101" charset="-122"/>
            </a:endParaRPr>
          </a:p>
          <a:p>
            <a:r>
              <a:rPr lang="zh-CN" altLang="en-US" b="0">
                <a:solidFill>
                  <a:srgbClr val="231F20"/>
                </a:solidFill>
                <a:latin typeface="黑体" panose="02010609060101010101" charset="-122"/>
                <a:ea typeface="黑体" panose="02010609060101010101" charset="-122"/>
                <a:cs typeface="黑体" panose="02010609060101010101" charset="-122"/>
              </a:rPr>
              <a:t> </a:t>
            </a:r>
            <a:r>
              <a:rPr lang="en-US" altLang="zh-CN" b="0">
                <a:solidFill>
                  <a:srgbClr val="231F20"/>
                </a:solidFill>
                <a:latin typeface="黑体" panose="02010609060101010101" charset="-122"/>
                <a:ea typeface="黑体" panose="02010609060101010101" charset="-122"/>
                <a:cs typeface="黑体" panose="02010609060101010101" charset="-122"/>
              </a:rPr>
              <a:t>   </a:t>
            </a:r>
            <a:r>
              <a:rPr lang="zh-CN" altLang="en-US" b="0">
                <a:solidFill>
                  <a:srgbClr val="231F20"/>
                </a:solidFill>
                <a:latin typeface="黑体" panose="02010609060101010101" charset="-122"/>
                <a:ea typeface="黑体" panose="02010609060101010101" charset="-122"/>
                <a:cs typeface="黑体" panose="02010609060101010101" charset="-122"/>
              </a:rPr>
              <a:t>提供</a:t>
            </a:r>
            <a:r>
              <a:rPr lang="en-US" altLang="zh-CN" b="0">
                <a:solidFill>
                  <a:srgbClr val="231F20"/>
                </a:solidFill>
                <a:latin typeface="黑体" panose="02010609060101010101" charset="-122"/>
                <a:ea typeface="黑体" panose="02010609060101010101" charset="-122"/>
                <a:cs typeface="黑体" panose="02010609060101010101" charset="-122"/>
              </a:rPr>
              <a:t>iSulad</a:t>
            </a:r>
            <a:r>
              <a:rPr lang="zh-CN" altLang="en-US" b="0">
                <a:solidFill>
                  <a:srgbClr val="231F20"/>
                </a:solidFill>
                <a:latin typeface="黑体" panose="02010609060101010101" charset="-122"/>
                <a:ea typeface="黑体" panose="02010609060101010101" charset="-122"/>
                <a:cs typeface="黑体" panose="02010609060101010101" charset="-122"/>
              </a:rPr>
              <a:t>轻量级容器引擎。</a:t>
            </a:r>
            <a:r>
              <a:rPr lang="en-US" altLang="zh-CN" b="0">
                <a:solidFill>
                  <a:srgbClr val="231F20"/>
                </a:solidFill>
                <a:latin typeface="黑体" panose="02010609060101010101" charset="-122"/>
                <a:ea typeface="黑体" panose="02010609060101010101" charset="-122"/>
                <a:cs typeface="黑体" panose="02010609060101010101" charset="-122"/>
              </a:rPr>
              <a:t>iSulad</a:t>
            </a:r>
            <a:r>
              <a:rPr lang="zh-CN" altLang="en-US" b="0">
                <a:solidFill>
                  <a:srgbClr val="231F20"/>
                </a:solidFill>
                <a:latin typeface="黑体" panose="02010609060101010101" charset="-122"/>
                <a:ea typeface="黑体" panose="02010609060101010101" charset="-122"/>
                <a:cs typeface="黑体" panose="02010609060101010101" charset="-122"/>
              </a:rPr>
              <a:t>提供统一的架构设计来满足通信技术和信息技术领域的不同需求。具有轻、灵、巧、快的特点，不受硬件规格和架构的限制，可应用领域更为广泛。</a:t>
            </a:r>
            <a:endParaRPr lang="en-US" altLang="zh-CN" b="0">
              <a:solidFill>
                <a:srgbClr val="231F20"/>
              </a:solidFill>
              <a:latin typeface="黑体" panose="02010609060101010101" charset="-122"/>
              <a:ea typeface="黑体" panose="02010609060101010101" charset="-122"/>
              <a:cs typeface="黑体" panose="02010609060101010101" charset="-122"/>
            </a:endParaRPr>
          </a:p>
          <a:p>
            <a:r>
              <a:rPr lang="zh-CN" altLang="en-US" b="1">
                <a:solidFill>
                  <a:srgbClr val="002060"/>
                </a:solidFill>
                <a:latin typeface="黑体" panose="02010609060101010101" charset="-122"/>
                <a:ea typeface="黑体" panose="02010609060101010101" charset="-122"/>
                <a:cs typeface="黑体" panose="02010609060101010101" charset="-122"/>
              </a:rPr>
              <a:t>（</a:t>
            </a:r>
            <a:r>
              <a:rPr lang="en-US" altLang="zh-CN" b="1">
                <a:solidFill>
                  <a:srgbClr val="002060"/>
                </a:solidFill>
                <a:latin typeface="黑体" panose="02010609060101010101" charset="-122"/>
                <a:ea typeface="黑体" panose="02010609060101010101" charset="-122"/>
                <a:cs typeface="黑体" panose="02010609060101010101" charset="-122"/>
              </a:rPr>
              <a:t>4</a:t>
            </a:r>
            <a:r>
              <a:rPr lang="zh-CN" altLang="en-US" b="1">
                <a:solidFill>
                  <a:srgbClr val="002060"/>
                </a:solidFill>
                <a:latin typeface="黑体" panose="02010609060101010101" charset="-122"/>
                <a:ea typeface="黑体" panose="02010609060101010101" charset="-122"/>
                <a:cs typeface="黑体" panose="02010609060101010101" charset="-122"/>
              </a:rPr>
              <a:t>）智能优化引擎</a:t>
            </a:r>
            <a:r>
              <a:rPr lang="en-US" altLang="zh-CN" b="1">
                <a:solidFill>
                  <a:srgbClr val="002060"/>
                </a:solidFill>
                <a:latin typeface="黑体" panose="02010609060101010101" charset="-122"/>
                <a:ea typeface="黑体" panose="02010609060101010101" charset="-122"/>
                <a:cs typeface="黑体" panose="02010609060101010101" charset="-122"/>
              </a:rPr>
              <a:t>A-Tune</a:t>
            </a:r>
            <a:r>
              <a:rPr lang="zh-CN" altLang="en-US" b="1">
                <a:solidFill>
                  <a:srgbClr val="002060"/>
                </a:solidFill>
                <a:latin typeface="黑体" panose="02010609060101010101" charset="-122"/>
                <a:ea typeface="黑体" panose="02010609060101010101" charset="-122"/>
                <a:cs typeface="黑体" panose="02010609060101010101" charset="-122"/>
              </a:rPr>
              <a:t>：</a:t>
            </a:r>
            <a:endParaRPr lang="zh-CN" altLang="en-US" b="1">
              <a:solidFill>
                <a:srgbClr val="002060"/>
              </a:solidFill>
              <a:latin typeface="黑体" panose="02010609060101010101" charset="-122"/>
              <a:ea typeface="黑体" panose="02010609060101010101" charset="-122"/>
              <a:cs typeface="黑体" panose="02010609060101010101" charset="-122"/>
            </a:endParaRPr>
          </a:p>
          <a:p>
            <a:r>
              <a:rPr lang="zh-CN" altLang="en-US" b="0">
                <a:solidFill>
                  <a:srgbClr val="231F20"/>
                </a:solidFill>
                <a:latin typeface="黑体" panose="02010609060101010101" charset="-122"/>
                <a:ea typeface="黑体" panose="02010609060101010101" charset="-122"/>
                <a:cs typeface="黑体" panose="02010609060101010101" charset="-122"/>
              </a:rPr>
              <a:t> </a:t>
            </a:r>
            <a:r>
              <a:rPr lang="en-US" altLang="zh-CN" b="0">
                <a:solidFill>
                  <a:srgbClr val="231F20"/>
                </a:solidFill>
                <a:latin typeface="黑体" panose="02010609060101010101" charset="-122"/>
                <a:ea typeface="黑体" panose="02010609060101010101" charset="-122"/>
                <a:cs typeface="黑体" panose="02010609060101010101" charset="-122"/>
              </a:rPr>
              <a:t>   A-Tune</a:t>
            </a:r>
            <a:r>
              <a:rPr lang="zh-CN" altLang="en-US" b="0">
                <a:solidFill>
                  <a:srgbClr val="231F20"/>
                </a:solidFill>
                <a:latin typeface="黑体" panose="02010609060101010101" charset="-122"/>
                <a:ea typeface="黑体" panose="02010609060101010101" charset="-122"/>
                <a:cs typeface="黑体" panose="02010609060101010101" charset="-122"/>
              </a:rPr>
              <a:t>是一款基于人工智能开发的系统性能优化引擎，它利用人工智能技术，对业务场景建立精准的系统画像，感知并推理出业务特征，进而做出智能决策，匹配并推荐最佳的系统参数配置组合，使业务处于最佳运行状态。</a:t>
            </a:r>
            <a:endParaRPr lang="zh-CN" altLang="en-US" b="0">
              <a:solidFill>
                <a:srgbClr val="231F20"/>
              </a:solidFill>
              <a:latin typeface="黑体" panose="02010609060101010101" charset="-122"/>
              <a:ea typeface="黑体" panose="02010609060101010101" charset="-122"/>
              <a:cs typeface="黑体" panose="02010609060101010101"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矩形 6"/>
          <p:cNvSpPr/>
          <p:nvPr/>
        </p:nvSpPr>
        <p:spPr>
          <a:xfrm>
            <a:off x="1258570" y="1295400"/>
            <a:ext cx="9674860" cy="1783715"/>
          </a:xfrm>
          <a:prstGeom prst="rect">
            <a:avLst/>
          </a:prstGeom>
        </p:spPr>
        <p:txBody>
          <a:bodyPr wrap="square">
            <a:spAutoFit/>
          </a:bodyPr>
          <a:lstStyle/>
          <a:p>
            <a:r>
              <a:rPr lang="en-US" altLang="zh-CN" sz="1800" kern="0" dirty="0">
                <a:solidFill>
                  <a:srgbClr val="002C6C"/>
                </a:solidFill>
                <a:latin typeface="黑体" panose="02010609060101010101" charset="-122"/>
                <a:ea typeface="黑体" panose="02010609060101010101" charset="-122"/>
                <a:cs typeface="黑体" panose="02010609060101010101" charset="-122"/>
              </a:rPr>
              <a:t>   </a:t>
            </a:r>
            <a:r>
              <a:rPr lang="en-US" altLang="zh-CN" sz="2000" b="1" kern="0" dirty="0">
                <a:solidFill>
                  <a:srgbClr val="C00000"/>
                </a:solidFill>
                <a:latin typeface="黑体" panose="02010609060101010101" charset="-122"/>
                <a:ea typeface="黑体" panose="02010609060101010101" charset="-122"/>
                <a:cs typeface="黑体" panose="02010609060101010101" charset="-122"/>
              </a:rPr>
              <a:t> </a:t>
            </a:r>
            <a:r>
              <a:rPr lang="en-US" altLang="zh-CN" sz="2000" b="1" dirty="0">
                <a:solidFill>
                  <a:srgbClr val="C00000"/>
                </a:solidFill>
                <a:latin typeface="黑体" panose="02010609060101010101" charset="-122"/>
                <a:ea typeface="黑体" panose="02010609060101010101" charset="-122"/>
                <a:cs typeface="黑体" panose="02010609060101010101" charset="-122"/>
              </a:rPr>
              <a:t>Linux</a:t>
            </a:r>
            <a:r>
              <a:rPr lang="zh-CN" altLang="zh-CN" sz="1800" dirty="0">
                <a:latin typeface="黑体" panose="02010609060101010101" charset="-122"/>
                <a:ea typeface="黑体" panose="02010609060101010101" charset="-122"/>
                <a:cs typeface="黑体" panose="02010609060101010101" charset="-122"/>
              </a:rPr>
              <a:t>是由世界各地成千上万的程序员设计和开发实现的。在过去的</a:t>
            </a:r>
            <a:r>
              <a:rPr lang="en-US" altLang="zh-CN" sz="1800" dirty="0">
                <a:latin typeface="黑体" panose="02010609060101010101" charset="-122"/>
                <a:ea typeface="黑体" panose="02010609060101010101" charset="-122"/>
                <a:cs typeface="黑体" panose="02010609060101010101" charset="-122"/>
              </a:rPr>
              <a:t>20</a:t>
            </a:r>
            <a:r>
              <a:rPr lang="zh-CN" altLang="zh-CN" sz="1800" dirty="0">
                <a:latin typeface="黑体" panose="02010609060101010101" charset="-122"/>
                <a:ea typeface="黑体" panose="02010609060101010101" charset="-122"/>
                <a:cs typeface="黑体" panose="02010609060101010101" charset="-122"/>
              </a:rPr>
              <a:t>年里，</a:t>
            </a:r>
            <a:r>
              <a:rPr lang="en-US" altLang="zh-CN" sz="1800" dirty="0">
                <a:latin typeface="黑体" panose="02010609060101010101" charset="-122"/>
                <a:ea typeface="黑体" panose="02010609060101010101" charset="-122"/>
                <a:cs typeface="黑体" panose="02010609060101010101" charset="-122"/>
              </a:rPr>
              <a:t>Linux</a:t>
            </a:r>
            <a:r>
              <a:rPr lang="zh-CN" altLang="zh-CN" sz="1800" dirty="0">
                <a:latin typeface="黑体" panose="02010609060101010101" charset="-122"/>
                <a:ea typeface="黑体" panose="02010609060101010101" charset="-122"/>
                <a:cs typeface="黑体" panose="02010609060101010101" charset="-122"/>
              </a:rPr>
              <a:t>系统主要应用于服务器端、嵌入式开发和个人</a:t>
            </a:r>
            <a:r>
              <a:rPr lang="en-US" altLang="zh-CN" sz="1800" dirty="0">
                <a:latin typeface="黑体" panose="02010609060101010101" charset="-122"/>
                <a:ea typeface="黑体" panose="02010609060101010101" charset="-122"/>
                <a:cs typeface="黑体" panose="02010609060101010101" charset="-122"/>
              </a:rPr>
              <a:t>PC</a:t>
            </a:r>
            <a:r>
              <a:rPr lang="zh-CN" altLang="zh-CN" sz="1800" dirty="0">
                <a:latin typeface="黑体" panose="02010609060101010101" charset="-122"/>
                <a:ea typeface="黑体" panose="02010609060101010101" charset="-122"/>
                <a:cs typeface="黑体" panose="02010609060101010101" charset="-122"/>
              </a:rPr>
              <a:t>桌面三大领域，其中服务器端领域是重中之重。大型、超大型互联网企业</a:t>
            </a:r>
            <a:r>
              <a:rPr lang="zh-CN" altLang="zh-CN" sz="1800" dirty="0">
                <a:solidFill>
                  <a:srgbClr val="C00000"/>
                </a:solidFill>
                <a:latin typeface="黑体" panose="02010609060101010101" charset="-122"/>
                <a:ea typeface="黑体" panose="02010609060101010101" charset="-122"/>
                <a:cs typeface="黑体" panose="02010609060101010101" charset="-122"/>
              </a:rPr>
              <a:t>（百度、新浪、淘宝等）</a:t>
            </a:r>
            <a:r>
              <a:rPr lang="zh-CN" altLang="zh-CN" sz="1800" dirty="0">
                <a:latin typeface="黑体" panose="02010609060101010101" charset="-122"/>
                <a:ea typeface="黑体" panose="02010609060101010101" charset="-122"/>
                <a:cs typeface="黑体" panose="02010609060101010101" charset="-122"/>
              </a:rPr>
              <a:t>都在使用</a:t>
            </a:r>
            <a:r>
              <a:rPr lang="en-US" altLang="zh-CN" sz="1800" dirty="0">
                <a:latin typeface="黑体" panose="02010609060101010101" charset="-122"/>
                <a:ea typeface="黑体" panose="02010609060101010101" charset="-122"/>
                <a:cs typeface="黑体" panose="02010609060101010101" charset="-122"/>
              </a:rPr>
              <a:t>Linux</a:t>
            </a:r>
            <a:r>
              <a:rPr lang="zh-CN" altLang="zh-CN" sz="1800" dirty="0">
                <a:latin typeface="黑体" panose="02010609060101010101" charset="-122"/>
                <a:ea typeface="黑体" panose="02010609060101010101" charset="-122"/>
                <a:cs typeface="黑体" panose="02010609060101010101" charset="-122"/>
              </a:rPr>
              <a:t>系统作为其服务器端的程序运行平台，全球及国内排名前十的网站使用的主流系统几乎都是</a:t>
            </a:r>
            <a:r>
              <a:rPr lang="en-US" altLang="zh-CN" sz="1800" dirty="0">
                <a:latin typeface="黑体" panose="02010609060101010101" charset="-122"/>
                <a:ea typeface="黑体" panose="02010609060101010101" charset="-122"/>
                <a:cs typeface="黑体" panose="02010609060101010101" charset="-122"/>
              </a:rPr>
              <a:t>Linux</a:t>
            </a:r>
            <a:r>
              <a:rPr lang="zh-CN" altLang="zh-CN" sz="1800" dirty="0">
                <a:latin typeface="黑体" panose="02010609060101010101" charset="-122"/>
                <a:ea typeface="黑体" panose="02010609060101010101" charset="-122"/>
                <a:cs typeface="黑体" panose="02010609060101010101" charset="-122"/>
              </a:rPr>
              <a:t>系统。</a:t>
            </a:r>
            <a:endParaRPr lang="zh-CN" altLang="zh-CN" sz="1800" dirty="0">
              <a:latin typeface="黑体" panose="02010609060101010101" charset="-122"/>
              <a:ea typeface="黑体" panose="02010609060101010101" charset="-122"/>
              <a:cs typeface="黑体" panose="02010609060101010101" charset="-122"/>
            </a:endParaRPr>
          </a:p>
          <a:p>
            <a:r>
              <a:rPr lang="en-US" altLang="zh-CN" sz="1800" dirty="0">
                <a:latin typeface="黑体" panose="02010609060101010101" charset="-122"/>
                <a:ea typeface="黑体" panose="02010609060101010101" charset="-122"/>
                <a:cs typeface="黑体" panose="02010609060101010101" charset="-122"/>
              </a:rPr>
              <a:t>    </a:t>
            </a:r>
            <a:r>
              <a:rPr lang="en-US" altLang="zh-CN" sz="1800" dirty="0" err="1">
                <a:latin typeface="黑体" panose="02010609060101010101" charset="-122"/>
                <a:ea typeface="黑体" panose="02010609060101010101" charset="-122"/>
                <a:cs typeface="黑体" panose="02010609060101010101" charset="-122"/>
              </a:rPr>
              <a:t>linux</a:t>
            </a:r>
            <a:r>
              <a:rPr lang="zh-CN" altLang="zh-CN" sz="1800" dirty="0">
                <a:latin typeface="黑体" panose="02010609060101010101" charset="-122"/>
                <a:ea typeface="黑体" panose="02010609060101010101" charset="-122"/>
                <a:cs typeface="黑体" panose="02010609060101010101" charset="-122"/>
              </a:rPr>
              <a:t>的发行版本是免费的，但是很多企业都会在原有的基础上进行改编，然后这些新的版本需要收费，比如</a:t>
            </a:r>
            <a:r>
              <a:rPr lang="en-US" altLang="zh-CN" sz="1800" dirty="0" err="1">
                <a:solidFill>
                  <a:srgbClr val="C00000"/>
                </a:solidFill>
                <a:latin typeface="黑体" panose="02010609060101010101" charset="-122"/>
                <a:ea typeface="黑体" panose="02010609060101010101" charset="-122"/>
                <a:cs typeface="黑体" panose="02010609060101010101" charset="-122"/>
              </a:rPr>
              <a:t>redhat</a:t>
            </a:r>
            <a:r>
              <a:rPr lang="zh-CN" altLang="zh-CN" sz="1800" dirty="0">
                <a:solidFill>
                  <a:srgbClr val="C00000"/>
                </a:solidFill>
                <a:latin typeface="黑体" panose="02010609060101010101" charset="-122"/>
                <a:ea typeface="黑体" panose="02010609060101010101" charset="-122"/>
                <a:cs typeface="黑体" panose="02010609060101010101" charset="-122"/>
              </a:rPr>
              <a:t>、</a:t>
            </a:r>
            <a:r>
              <a:rPr lang="en-US" altLang="zh-CN" sz="1800" dirty="0">
                <a:solidFill>
                  <a:srgbClr val="C00000"/>
                </a:solidFill>
                <a:latin typeface="黑体" panose="02010609060101010101" charset="-122"/>
                <a:ea typeface="黑体" panose="02010609060101010101" charset="-122"/>
                <a:cs typeface="黑体" panose="02010609060101010101" charset="-122"/>
              </a:rPr>
              <a:t>Ubuntu</a:t>
            </a:r>
            <a:r>
              <a:rPr lang="zh-CN" altLang="zh-CN" sz="1800" dirty="0">
                <a:solidFill>
                  <a:srgbClr val="C00000"/>
                </a:solidFill>
                <a:latin typeface="黑体" panose="02010609060101010101" charset="-122"/>
                <a:ea typeface="黑体" panose="02010609060101010101" charset="-122"/>
                <a:cs typeface="黑体" panose="02010609060101010101" charset="-122"/>
              </a:rPr>
              <a:t>、国产的红旗、中标麒麟等版本。</a:t>
            </a:r>
            <a:endParaRPr lang="zh-CN" altLang="zh-CN" sz="1800" dirty="0">
              <a:solidFill>
                <a:srgbClr val="C00000"/>
              </a:solidFill>
              <a:latin typeface="黑体" panose="02010609060101010101" charset="-122"/>
              <a:ea typeface="黑体" panose="02010609060101010101" charset="-122"/>
              <a:cs typeface="黑体" panose="02010609060101010101" charset="-122"/>
            </a:endParaRPr>
          </a:p>
        </p:txBody>
      </p:sp>
      <p:grpSp>
        <p:nvGrpSpPr>
          <p:cNvPr id="8" name="组合 7"/>
          <p:cNvGrpSpPr/>
          <p:nvPr/>
        </p:nvGrpSpPr>
        <p:grpSpPr>
          <a:xfrm>
            <a:off x="3479964" y="3146010"/>
            <a:ext cx="4886592" cy="3170927"/>
            <a:chOff x="0" y="0"/>
            <a:chExt cx="4179969" cy="3266352"/>
          </a:xfrm>
          <a:solidFill>
            <a:schemeClr val="bg1"/>
          </a:solidFill>
        </p:grpSpPr>
        <p:pic>
          <p:nvPicPr>
            <p:cNvPr id="9" name="图片 8" descr="https://ss0.bdstatic.com/70cFuHSh_Q1YnxGkpoWK1HF6hhy/it/u=3774004438,3276374776&amp;fm=26&amp;gp=0.jpg"/>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0" y="61645"/>
              <a:ext cx="1817370" cy="1320800"/>
            </a:xfrm>
            <a:prstGeom prst="rect">
              <a:avLst/>
            </a:prstGeom>
            <a:grpFill/>
            <a:ln>
              <a:noFill/>
            </a:ln>
          </p:spPr>
        </p:pic>
        <p:pic>
          <p:nvPicPr>
            <p:cNvPr id="10" name="图片 9" descr="https://gss2.bdstatic.com/9fo3dSag_xI4khGkpoWK1HF6hhy/baike/s%3D220/sign=9f0a36bfd539b60049ce08b5d9513526/8435e5dde71190effc02a783ce1b9d16fcfa60f4.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24009" y="1510301"/>
              <a:ext cx="2094865" cy="1266825"/>
            </a:xfrm>
            <a:prstGeom prst="rect">
              <a:avLst/>
            </a:prstGeom>
            <a:grpFill/>
            <a:ln>
              <a:noFill/>
            </a:ln>
          </p:spPr>
        </p:pic>
        <p:pic>
          <p:nvPicPr>
            <p:cNvPr id="11" name="图片 10" descr="https://dss3.bdstatic.com/70cFv8Sh_Q1YnxGkpoWK1HF6hhy/it/u=1035973009,2153908598&amp;fm=26&amp;gp=0.jp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16477" y="0"/>
              <a:ext cx="2010410" cy="1266825"/>
            </a:xfrm>
            <a:prstGeom prst="rect">
              <a:avLst/>
            </a:prstGeom>
            <a:grpFill/>
            <a:ln>
              <a:noFill/>
            </a:ln>
          </p:spPr>
        </p:pic>
        <p:pic>
          <p:nvPicPr>
            <p:cNvPr id="2" name="图片 1" descr="https://timgsa.baidu.com/timg?image&amp;quality=80&amp;size=b9999_10000&amp;sec=1576328102662&amp;di=937b3f4b073461527d974c5a8593b234&amp;imgtype=0&amp;src=http%3A%2F%2Fimg.pconline.com.cn%2Fimages%2Fproduct%2F5045%2F504588%2FRedhat.jpg"/>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1097" y="1510301"/>
              <a:ext cx="1803400" cy="1353185"/>
            </a:xfrm>
            <a:prstGeom prst="rect">
              <a:avLst/>
            </a:prstGeom>
            <a:grpFill/>
            <a:ln>
              <a:noFill/>
            </a:ln>
          </p:spPr>
        </p:pic>
        <p:sp>
          <p:nvSpPr>
            <p:cNvPr id="5" name="文本框 2"/>
            <p:cNvSpPr txBox="1">
              <a:spLocks noChangeArrowheads="1"/>
            </p:cNvSpPr>
            <p:nvPr/>
          </p:nvSpPr>
          <p:spPr bwMode="auto">
            <a:xfrm>
              <a:off x="967830" y="2879119"/>
              <a:ext cx="3212139" cy="387233"/>
            </a:xfrm>
            <a:prstGeom prst="rect">
              <a:avLst/>
            </a:prstGeom>
            <a:grpFill/>
            <a:ln w="9525">
              <a:noFill/>
              <a:miter lim="800000"/>
            </a:ln>
          </p:spPr>
          <p:txBody>
            <a:bodyPr rot="0" vert="horz" wrap="square" lIns="68580" tIns="34290" rIns="68580" bIns="34290" anchor="t" anchorCtr="0">
              <a:spAutoFit/>
            </a:bodyPr>
            <a:lstStyle/>
            <a:p>
              <a:pPr algn="just">
                <a:spcAft>
                  <a:spcPts val="0"/>
                </a:spcAft>
              </a:pPr>
              <a:r>
                <a:rPr lang="zh-CN" altLang="en-US" sz="2000" kern="100">
                  <a:latin typeface="Calibri" panose="020F0502020204030204"/>
                  <a:ea typeface="宋体" panose="02010600030101010101" pitchFamily="2" charset="-122"/>
                  <a:cs typeface="Times New Roman" panose="02020603050405020304" pitchFamily="18" charset="0"/>
                </a:rPr>
                <a:t>各个版本的</a:t>
              </a:r>
              <a:r>
                <a:rPr lang="en-US" sz="2000" kern="100">
                  <a:latin typeface="Calibri" panose="020F0502020204030204"/>
                  <a:ea typeface="宋体" panose="02010600030101010101" pitchFamily="2" charset="-122"/>
                  <a:cs typeface="Times New Roman" panose="02020603050405020304" pitchFamily="18" charset="0"/>
                </a:rPr>
                <a:t>Linux </a:t>
              </a:r>
              <a:endParaRPr lang="zh-CN" altLang="en-US" sz="2000" kern="100">
                <a:latin typeface="Calibri" panose="020F0502020204030204"/>
                <a:ea typeface="宋体" panose="02010600030101010101" pitchFamily="2" charset="-122"/>
                <a:cs typeface="Times New Roman" panose="02020603050405020304" pitchFamily="18" charset="0"/>
              </a:endParaRPr>
            </a:p>
          </p:txBody>
        </p:sp>
      </p:grpSp>
      <p:sp>
        <p:nvSpPr>
          <p:cNvPr id="18" name="文本框 17"/>
          <p:cNvSpPr txBox="1"/>
          <p:nvPr/>
        </p:nvSpPr>
        <p:spPr>
          <a:xfrm>
            <a:off x="1001395" y="544830"/>
            <a:ext cx="6419850" cy="521970"/>
          </a:xfrm>
          <a:prstGeom prst="rect">
            <a:avLst/>
          </a:prstGeom>
        </p:spPr>
        <p:txBody>
          <a:bodyPr wrap="square">
            <a:spAutoFit/>
          </a:bodyPr>
          <a:p>
            <a:r>
              <a:rPr lang="en-US" altLang="zh-CN" sz="2800" b="0">
                <a:solidFill>
                  <a:srgbClr val="002060"/>
                </a:solidFill>
                <a:latin typeface="方正大黑简体" panose="02000000000000000000" charset="-122"/>
                <a:ea typeface="方正大黑简体" panose="02000000000000000000" charset="-122"/>
                <a:cs typeface="方正大黑简体" panose="02000000000000000000" charset="-122"/>
              </a:rPr>
              <a:t>1.3 openEuler</a:t>
            </a:r>
            <a:r>
              <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rPr>
              <a:t>操作系统</a:t>
            </a:r>
            <a:r>
              <a:rPr lang="en-US" altLang="zh-CN" sz="2800" b="0">
                <a:solidFill>
                  <a:srgbClr val="002060"/>
                </a:solidFill>
                <a:latin typeface="方正大黑简体" panose="02000000000000000000" charset="-122"/>
                <a:ea typeface="方正大黑简体" panose="02000000000000000000" charset="-122"/>
                <a:cs typeface="方正大黑简体" panose="02000000000000000000" charset="-122"/>
              </a:rPr>
              <a:t>/Linux</a:t>
            </a:r>
            <a:r>
              <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rPr>
              <a:t>简介</a:t>
            </a:r>
            <a:endPar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1148080" y="1267460"/>
            <a:ext cx="9627870" cy="4707890"/>
          </a:xfrm>
          <a:prstGeom prst="rect">
            <a:avLst/>
          </a:prstGeom>
        </p:spPr>
        <p:txBody>
          <a:bodyPr wrap="square">
            <a:spAutoFit/>
          </a:bodyPr>
          <a:lstStyle/>
          <a:p>
            <a:pPr marL="342900" indent="-342900">
              <a:lnSpc>
                <a:spcPct val="125000"/>
              </a:lnSpc>
              <a:buFont typeface="Wingdings" panose="05000000000000000000" charset="0"/>
              <a:buChar char="n"/>
            </a:pPr>
            <a:r>
              <a:rPr lang="en-US" altLang="zh-CN" sz="2000" b="1" kern="0" dirty="0">
                <a:solidFill>
                  <a:srgbClr val="660000"/>
                </a:solidFill>
                <a:latin typeface="华文楷体" panose="02010600040101010101" pitchFamily="2" charset="-122"/>
                <a:ea typeface="华文楷体" panose="02010600040101010101" pitchFamily="2" charset="-122"/>
                <a:cs typeface="华文行楷" panose="02010800040101010101" charset="-122"/>
              </a:rPr>
              <a:t>Linux</a:t>
            </a:r>
            <a:r>
              <a:rPr lang="zh-CN" altLang="zh-CN" sz="2000" b="1" kern="0" dirty="0">
                <a:solidFill>
                  <a:srgbClr val="660000"/>
                </a:solidFill>
                <a:latin typeface="华文行楷" panose="02010800040101010101" charset="-122"/>
                <a:ea typeface="华文行楷" panose="02010800040101010101" charset="-122"/>
                <a:cs typeface="华文行楷" panose="02010800040101010101" charset="-122"/>
              </a:rPr>
              <a:t>具备的优势</a:t>
            </a:r>
            <a:r>
              <a:rPr lang="en-US" altLang="zh-CN" sz="2000" b="1" kern="0" dirty="0">
                <a:solidFill>
                  <a:srgbClr val="660000"/>
                </a:solidFill>
                <a:latin typeface="华文行楷" panose="02010800040101010101" charset="-122"/>
                <a:ea typeface="华文行楷" panose="02010800040101010101" charset="-122"/>
                <a:cs typeface="华文行楷" panose="02010800040101010101" charset="-122"/>
              </a:rPr>
              <a:t> </a:t>
            </a:r>
            <a:endParaRPr lang="en-US" altLang="zh-CN" sz="2000" b="1" kern="0" dirty="0">
              <a:solidFill>
                <a:srgbClr val="660000"/>
              </a:solidFill>
              <a:latin typeface="华文行楷" panose="02010800040101010101" charset="-122"/>
              <a:ea typeface="华文行楷" panose="02010800040101010101" charset="-122"/>
              <a:cs typeface="华文行楷" panose="02010800040101010101" charset="-122"/>
            </a:endParaRPr>
          </a:p>
          <a:p>
            <a:pPr indent="200025">
              <a:lnSpc>
                <a:spcPct val="125000"/>
              </a:lnSpc>
            </a:pPr>
            <a:endParaRPr lang="zh-CN" altLang="zh-CN" sz="2000" b="1" kern="100" dirty="0">
              <a:solidFill>
                <a:srgbClr val="C00000"/>
              </a:solidFill>
              <a:latin typeface="黑体" panose="02010609060101010101" charset="-122"/>
              <a:ea typeface="黑体" panose="02010609060101010101" charset="-122"/>
              <a:cs typeface="黑体" panose="02010609060101010101" charset="-122"/>
            </a:endParaRPr>
          </a:p>
          <a:p>
            <a:pPr indent="200025">
              <a:lnSpc>
                <a:spcPct val="125000"/>
              </a:lnSpc>
            </a:pPr>
            <a:r>
              <a:rPr lang="en-US" altLang="zh-CN" sz="2000" b="1" kern="0" dirty="0">
                <a:solidFill>
                  <a:srgbClr val="000000"/>
                </a:solidFill>
                <a:latin typeface="黑体" panose="02010609060101010101" charset="-122"/>
                <a:ea typeface="黑体" panose="02010609060101010101" charset="-122"/>
                <a:cs typeface="黑体" panose="02010609060101010101" charset="-122"/>
              </a:rPr>
              <a:t>1</a:t>
            </a:r>
            <a:r>
              <a:rPr lang="zh-CN" altLang="zh-CN" sz="2000" b="1" kern="0" dirty="0">
                <a:solidFill>
                  <a:srgbClr val="000000"/>
                </a:solidFill>
                <a:latin typeface="黑体" panose="02010609060101010101" charset="-122"/>
                <a:ea typeface="黑体" panose="02010609060101010101" charset="-122"/>
                <a:cs typeface="黑体" panose="02010609060101010101" charset="-122"/>
              </a:rPr>
              <a:t>）</a:t>
            </a:r>
            <a:r>
              <a:rPr lang="zh-CN" altLang="en-US" sz="2000" b="1" kern="0" dirty="0">
                <a:solidFill>
                  <a:srgbClr val="000000"/>
                </a:solidFill>
                <a:latin typeface="黑体" panose="02010609060101010101" charset="-122"/>
                <a:ea typeface="黑体" panose="02010609060101010101" charset="-122"/>
                <a:cs typeface="黑体" panose="02010609060101010101" charset="-122"/>
              </a:rPr>
              <a:t>代码开源</a:t>
            </a:r>
            <a:r>
              <a:rPr lang="zh-CN" altLang="zh-CN" sz="2000" b="1" kern="0" dirty="0">
                <a:solidFill>
                  <a:srgbClr val="000000"/>
                </a:solidFill>
                <a:latin typeface="黑体" panose="02010609060101010101" charset="-122"/>
                <a:ea typeface="黑体" panose="02010609060101010101" charset="-122"/>
                <a:cs typeface="黑体" panose="02010609060101010101" charset="-122"/>
              </a:rPr>
              <a:t>。</a:t>
            </a:r>
            <a:endParaRPr lang="zh-CN" altLang="zh-CN" sz="2000" b="1" kern="0" dirty="0">
              <a:solidFill>
                <a:srgbClr val="000000"/>
              </a:solidFill>
              <a:latin typeface="黑体" panose="02010609060101010101" charset="-122"/>
              <a:ea typeface="黑体" panose="02010609060101010101" charset="-122"/>
              <a:cs typeface="黑体" panose="02010609060101010101" charset="-122"/>
            </a:endParaRPr>
          </a:p>
          <a:p>
            <a:pPr indent="200025">
              <a:lnSpc>
                <a:spcPct val="125000"/>
              </a:lnSpc>
            </a:pPr>
            <a:endParaRPr lang="en-US" altLang="zh-CN" sz="2000" b="1" kern="0" dirty="0">
              <a:solidFill>
                <a:srgbClr val="000000"/>
              </a:solidFill>
              <a:latin typeface="黑体" panose="02010609060101010101" charset="-122"/>
              <a:ea typeface="黑体" panose="02010609060101010101" charset="-122"/>
              <a:cs typeface="黑体" panose="02010609060101010101" charset="-122"/>
            </a:endParaRPr>
          </a:p>
          <a:p>
            <a:pPr indent="200025">
              <a:lnSpc>
                <a:spcPct val="125000"/>
              </a:lnSpc>
            </a:pPr>
            <a:r>
              <a:rPr lang="en-US" altLang="zh-CN" sz="2000" b="1" kern="0" dirty="0">
                <a:solidFill>
                  <a:srgbClr val="000000"/>
                </a:solidFill>
                <a:latin typeface="黑体" panose="02010609060101010101" charset="-122"/>
                <a:ea typeface="黑体" panose="02010609060101010101" charset="-122"/>
                <a:cs typeface="黑体" panose="02010609060101010101" charset="-122"/>
              </a:rPr>
              <a:t>2</a:t>
            </a:r>
            <a:r>
              <a:rPr lang="zh-CN" altLang="zh-CN" sz="2000" b="1" kern="0" dirty="0">
                <a:solidFill>
                  <a:srgbClr val="000000"/>
                </a:solidFill>
                <a:latin typeface="黑体" panose="02010609060101010101" charset="-122"/>
                <a:ea typeface="黑体" panose="02010609060101010101" charset="-122"/>
                <a:cs typeface="黑体" panose="02010609060101010101" charset="-122"/>
              </a:rPr>
              <a:t>）</a:t>
            </a:r>
            <a:r>
              <a:rPr lang="en-US" altLang="zh-CN" sz="2000" b="1" kern="0" dirty="0">
                <a:solidFill>
                  <a:srgbClr val="000000"/>
                </a:solidFill>
                <a:latin typeface="黑体" panose="02010609060101010101" charset="-122"/>
                <a:ea typeface="黑体" panose="02010609060101010101" charset="-122"/>
                <a:cs typeface="黑体" panose="02010609060101010101" charset="-122"/>
              </a:rPr>
              <a:t>Linux</a:t>
            </a:r>
            <a:r>
              <a:rPr lang="zh-CN" altLang="zh-CN" sz="2000" b="1" kern="0" dirty="0">
                <a:solidFill>
                  <a:srgbClr val="000000"/>
                </a:solidFill>
                <a:latin typeface="黑体" panose="02010609060101010101" charset="-122"/>
                <a:ea typeface="黑体" panose="02010609060101010101" charset="-122"/>
                <a:cs typeface="黑体" panose="02010609060101010101" charset="-122"/>
              </a:rPr>
              <a:t>具有</a:t>
            </a:r>
            <a:r>
              <a:rPr lang="en-US" altLang="zh-CN" sz="2000" b="1" kern="0" dirty="0">
                <a:solidFill>
                  <a:srgbClr val="000000"/>
                </a:solidFill>
                <a:latin typeface="黑体" panose="02010609060101010101" charset="-122"/>
                <a:ea typeface="黑体" panose="02010609060101010101" charset="-122"/>
                <a:cs typeface="黑体" panose="02010609060101010101" charset="-122"/>
              </a:rPr>
              <a:t>Unix</a:t>
            </a:r>
            <a:r>
              <a:rPr lang="zh-CN" altLang="zh-CN" sz="2000" b="1" kern="0" dirty="0">
                <a:solidFill>
                  <a:srgbClr val="000000"/>
                </a:solidFill>
                <a:latin typeface="黑体" panose="02010609060101010101" charset="-122"/>
                <a:ea typeface="黑体" panose="02010609060101010101" charset="-122"/>
                <a:cs typeface="黑体" panose="02010609060101010101" charset="-122"/>
              </a:rPr>
              <a:t>的全部优秀特性，任何使用</a:t>
            </a:r>
            <a:r>
              <a:rPr lang="en-US" altLang="zh-CN" sz="2000" b="1" kern="0" dirty="0">
                <a:solidFill>
                  <a:srgbClr val="000000"/>
                </a:solidFill>
                <a:latin typeface="黑体" panose="02010609060101010101" charset="-122"/>
                <a:ea typeface="黑体" panose="02010609060101010101" charset="-122"/>
                <a:cs typeface="黑体" panose="02010609060101010101" charset="-122"/>
              </a:rPr>
              <a:t>Unix</a:t>
            </a:r>
            <a:r>
              <a:rPr lang="zh-CN" altLang="zh-CN" sz="2000" b="1" kern="0" dirty="0">
                <a:solidFill>
                  <a:srgbClr val="000000"/>
                </a:solidFill>
                <a:latin typeface="黑体" panose="02010609060101010101" charset="-122"/>
                <a:ea typeface="黑体" panose="02010609060101010101" charset="-122"/>
                <a:cs typeface="黑体" panose="02010609060101010101" charset="-122"/>
              </a:rPr>
              <a:t>操作系统或想要学习</a:t>
            </a:r>
            <a:r>
              <a:rPr lang="en-US" altLang="zh-CN" sz="2000" b="1" kern="0" dirty="0">
                <a:solidFill>
                  <a:srgbClr val="000000"/>
                </a:solidFill>
                <a:latin typeface="黑体" panose="02010609060101010101" charset="-122"/>
                <a:ea typeface="黑体" panose="02010609060101010101" charset="-122"/>
                <a:cs typeface="黑体" panose="02010609060101010101" charset="-122"/>
              </a:rPr>
              <a:t>Unix</a:t>
            </a:r>
            <a:r>
              <a:rPr lang="zh-CN" altLang="zh-CN" sz="2000" b="1" kern="0" dirty="0">
                <a:solidFill>
                  <a:srgbClr val="000000"/>
                </a:solidFill>
                <a:latin typeface="黑体" panose="02010609060101010101" charset="-122"/>
                <a:ea typeface="黑体" panose="02010609060101010101" charset="-122"/>
                <a:cs typeface="黑体" panose="02010609060101010101" charset="-122"/>
              </a:rPr>
              <a:t>操作系统的人，都可以通过学习</a:t>
            </a:r>
            <a:r>
              <a:rPr lang="en-US" altLang="zh-CN" sz="2000" b="1" kern="0" dirty="0">
                <a:solidFill>
                  <a:srgbClr val="000000"/>
                </a:solidFill>
                <a:latin typeface="黑体" panose="02010609060101010101" charset="-122"/>
                <a:ea typeface="黑体" panose="02010609060101010101" charset="-122"/>
                <a:cs typeface="黑体" panose="02010609060101010101" charset="-122"/>
              </a:rPr>
              <a:t>Linux</a:t>
            </a:r>
            <a:r>
              <a:rPr lang="zh-CN" altLang="zh-CN" sz="2000" b="1" kern="0" dirty="0">
                <a:solidFill>
                  <a:srgbClr val="000000"/>
                </a:solidFill>
                <a:latin typeface="黑体" panose="02010609060101010101" charset="-122"/>
                <a:ea typeface="黑体" panose="02010609060101010101" charset="-122"/>
                <a:cs typeface="黑体" panose="02010609060101010101" charset="-122"/>
              </a:rPr>
              <a:t>来了解</a:t>
            </a:r>
            <a:r>
              <a:rPr lang="zh-CN" altLang="en-US" sz="2000" b="1" kern="0" dirty="0">
                <a:solidFill>
                  <a:srgbClr val="000000"/>
                </a:solidFill>
                <a:latin typeface="黑体" panose="02010609060101010101" charset="-122"/>
                <a:ea typeface="黑体" panose="02010609060101010101" charset="-122"/>
                <a:cs typeface="黑体" panose="02010609060101010101" charset="-122"/>
              </a:rPr>
              <a:t>。</a:t>
            </a:r>
            <a:endParaRPr lang="zh-CN" altLang="en-US" sz="2000" b="1" kern="0" dirty="0">
              <a:solidFill>
                <a:srgbClr val="000000"/>
              </a:solidFill>
              <a:latin typeface="黑体" panose="02010609060101010101" charset="-122"/>
              <a:ea typeface="黑体" panose="02010609060101010101" charset="-122"/>
              <a:cs typeface="黑体" panose="02010609060101010101" charset="-122"/>
            </a:endParaRPr>
          </a:p>
          <a:p>
            <a:pPr indent="200025">
              <a:lnSpc>
                <a:spcPct val="125000"/>
              </a:lnSpc>
            </a:pPr>
            <a:endParaRPr lang="en-US" altLang="zh-CN" sz="2000" b="1" kern="0" dirty="0">
              <a:solidFill>
                <a:srgbClr val="000000"/>
              </a:solidFill>
              <a:latin typeface="黑体" panose="02010609060101010101" charset="-122"/>
              <a:ea typeface="黑体" panose="02010609060101010101" charset="-122"/>
              <a:cs typeface="黑体" panose="02010609060101010101" charset="-122"/>
            </a:endParaRPr>
          </a:p>
          <a:p>
            <a:pPr indent="200025">
              <a:lnSpc>
                <a:spcPct val="125000"/>
              </a:lnSpc>
            </a:pPr>
            <a:r>
              <a:rPr lang="en-US" altLang="zh-CN" sz="2000" b="1" kern="0" dirty="0">
                <a:solidFill>
                  <a:srgbClr val="000000"/>
                </a:solidFill>
                <a:latin typeface="黑体" panose="02010609060101010101" charset="-122"/>
                <a:ea typeface="黑体" panose="02010609060101010101" charset="-122"/>
                <a:cs typeface="黑体" panose="02010609060101010101" charset="-122"/>
              </a:rPr>
              <a:t>3</a:t>
            </a:r>
            <a:r>
              <a:rPr lang="zh-CN" altLang="zh-CN" sz="2000" b="1" kern="0" dirty="0">
                <a:solidFill>
                  <a:srgbClr val="000000"/>
                </a:solidFill>
                <a:latin typeface="黑体" panose="02010609060101010101" charset="-122"/>
                <a:ea typeface="黑体" panose="02010609060101010101" charset="-122"/>
                <a:cs typeface="黑体" panose="02010609060101010101" charset="-122"/>
              </a:rPr>
              <a:t>）是一个完善的多用户、多任务，支持多进程、多</a:t>
            </a:r>
            <a:r>
              <a:rPr lang="en-US" altLang="zh-CN" sz="2000" b="1" kern="0" dirty="0">
                <a:solidFill>
                  <a:srgbClr val="000000"/>
                </a:solidFill>
                <a:latin typeface="黑体" panose="02010609060101010101" charset="-122"/>
                <a:ea typeface="黑体" panose="02010609060101010101" charset="-122"/>
                <a:cs typeface="黑体" panose="02010609060101010101" charset="-122"/>
              </a:rPr>
              <a:t>CPU</a:t>
            </a:r>
            <a:r>
              <a:rPr lang="zh-CN" altLang="zh-CN" sz="2000" b="1" kern="0" dirty="0">
                <a:solidFill>
                  <a:srgbClr val="000000"/>
                </a:solidFill>
                <a:latin typeface="黑体" panose="02010609060101010101" charset="-122"/>
                <a:ea typeface="黑体" panose="02010609060101010101" charset="-122"/>
                <a:cs typeface="黑体" panose="02010609060101010101" charset="-122"/>
              </a:rPr>
              <a:t>的系统。有完善的网络服务，支持</a:t>
            </a:r>
            <a:r>
              <a:rPr lang="en-US" altLang="zh-CN" sz="2000" b="1" kern="0" dirty="0">
                <a:solidFill>
                  <a:srgbClr val="000000"/>
                </a:solidFill>
                <a:latin typeface="黑体" panose="02010609060101010101" charset="-122"/>
                <a:ea typeface="黑体" panose="02010609060101010101" charset="-122"/>
                <a:cs typeface="黑体" panose="02010609060101010101" charset="-122"/>
              </a:rPr>
              <a:t>HTTP</a:t>
            </a:r>
            <a:r>
              <a:rPr lang="zh-CN" altLang="zh-CN" sz="2000" b="1" kern="0" dirty="0">
                <a:solidFill>
                  <a:srgbClr val="000000"/>
                </a:solidFill>
                <a:latin typeface="黑体" panose="02010609060101010101" charset="-122"/>
                <a:ea typeface="黑体" panose="02010609060101010101" charset="-122"/>
                <a:cs typeface="黑体" panose="02010609060101010101" charset="-122"/>
              </a:rPr>
              <a:t>、</a:t>
            </a:r>
            <a:r>
              <a:rPr lang="en-US" altLang="zh-CN" sz="2000" b="1" kern="0" dirty="0">
                <a:solidFill>
                  <a:srgbClr val="000000"/>
                </a:solidFill>
                <a:latin typeface="黑体" panose="02010609060101010101" charset="-122"/>
                <a:ea typeface="黑体" panose="02010609060101010101" charset="-122"/>
                <a:cs typeface="黑体" panose="02010609060101010101" charset="-122"/>
              </a:rPr>
              <a:t>FTP</a:t>
            </a:r>
            <a:r>
              <a:rPr lang="zh-CN" altLang="zh-CN" sz="2000" b="1" kern="0" dirty="0">
                <a:solidFill>
                  <a:srgbClr val="000000"/>
                </a:solidFill>
                <a:latin typeface="黑体" panose="02010609060101010101" charset="-122"/>
                <a:ea typeface="黑体" panose="02010609060101010101" charset="-122"/>
                <a:cs typeface="黑体" panose="02010609060101010101" charset="-122"/>
              </a:rPr>
              <a:t>、</a:t>
            </a:r>
            <a:r>
              <a:rPr lang="en-US" altLang="zh-CN" sz="2000" b="1" kern="0" dirty="0">
                <a:solidFill>
                  <a:srgbClr val="000000"/>
                </a:solidFill>
                <a:latin typeface="黑体" panose="02010609060101010101" charset="-122"/>
                <a:ea typeface="黑体" panose="02010609060101010101" charset="-122"/>
                <a:cs typeface="黑体" panose="02010609060101010101" charset="-122"/>
              </a:rPr>
              <a:t>SMTP</a:t>
            </a:r>
            <a:r>
              <a:rPr lang="zh-CN" altLang="zh-CN" sz="2000" b="1" kern="0" dirty="0">
                <a:solidFill>
                  <a:srgbClr val="000000"/>
                </a:solidFill>
                <a:latin typeface="黑体" panose="02010609060101010101" charset="-122"/>
                <a:ea typeface="黑体" panose="02010609060101010101" charset="-122"/>
                <a:cs typeface="黑体" panose="02010609060101010101" charset="-122"/>
              </a:rPr>
              <a:t>、</a:t>
            </a:r>
            <a:r>
              <a:rPr lang="en-US" altLang="zh-CN" sz="2000" b="1" kern="0" dirty="0">
                <a:solidFill>
                  <a:srgbClr val="000000"/>
                </a:solidFill>
                <a:latin typeface="黑体" panose="02010609060101010101" charset="-122"/>
                <a:ea typeface="黑体" panose="02010609060101010101" charset="-122"/>
                <a:cs typeface="黑体" panose="02010609060101010101" charset="-122"/>
              </a:rPr>
              <a:t>POP</a:t>
            </a:r>
            <a:r>
              <a:rPr lang="zh-CN" altLang="zh-CN" sz="2000" b="1" kern="0" dirty="0">
                <a:solidFill>
                  <a:srgbClr val="000000"/>
                </a:solidFill>
                <a:latin typeface="黑体" panose="02010609060101010101" charset="-122"/>
                <a:ea typeface="黑体" panose="02010609060101010101" charset="-122"/>
                <a:cs typeface="黑体" panose="02010609060101010101" charset="-122"/>
              </a:rPr>
              <a:t>、</a:t>
            </a:r>
            <a:r>
              <a:rPr lang="en-US" altLang="zh-CN" sz="2000" b="1" kern="0" dirty="0">
                <a:solidFill>
                  <a:srgbClr val="000000"/>
                </a:solidFill>
                <a:latin typeface="黑体" panose="02010609060101010101" charset="-122"/>
                <a:ea typeface="黑体" panose="02010609060101010101" charset="-122"/>
                <a:cs typeface="黑体" panose="02010609060101010101" charset="-122"/>
              </a:rPr>
              <a:t>SAMBA</a:t>
            </a:r>
            <a:r>
              <a:rPr lang="zh-CN" altLang="zh-CN" sz="2000" b="1" kern="0" dirty="0">
                <a:solidFill>
                  <a:srgbClr val="000000"/>
                </a:solidFill>
                <a:latin typeface="黑体" panose="02010609060101010101" charset="-122"/>
                <a:ea typeface="黑体" panose="02010609060101010101" charset="-122"/>
                <a:cs typeface="黑体" panose="02010609060101010101" charset="-122"/>
              </a:rPr>
              <a:t>、</a:t>
            </a:r>
            <a:r>
              <a:rPr lang="en-US" altLang="zh-CN" sz="2000" b="1" kern="0" dirty="0">
                <a:solidFill>
                  <a:srgbClr val="000000"/>
                </a:solidFill>
                <a:latin typeface="黑体" panose="02010609060101010101" charset="-122"/>
                <a:ea typeface="黑体" panose="02010609060101010101" charset="-122"/>
                <a:cs typeface="黑体" panose="02010609060101010101" charset="-122"/>
              </a:rPr>
              <a:t>SNMP</a:t>
            </a:r>
            <a:r>
              <a:rPr lang="zh-CN" altLang="zh-CN" sz="2000" b="1" kern="0" dirty="0">
                <a:solidFill>
                  <a:srgbClr val="000000"/>
                </a:solidFill>
                <a:latin typeface="黑体" panose="02010609060101010101" charset="-122"/>
                <a:ea typeface="黑体" panose="02010609060101010101" charset="-122"/>
                <a:cs typeface="黑体" panose="02010609060101010101" charset="-122"/>
              </a:rPr>
              <a:t>、</a:t>
            </a:r>
            <a:r>
              <a:rPr lang="en-US" altLang="zh-CN" sz="2000" b="1" kern="0" dirty="0">
                <a:solidFill>
                  <a:srgbClr val="000000"/>
                </a:solidFill>
                <a:latin typeface="黑体" panose="02010609060101010101" charset="-122"/>
                <a:ea typeface="黑体" panose="02010609060101010101" charset="-122"/>
                <a:cs typeface="黑体" panose="02010609060101010101" charset="-122"/>
              </a:rPr>
              <a:t>DNS</a:t>
            </a:r>
            <a:r>
              <a:rPr lang="zh-CN" altLang="zh-CN" sz="2000" b="1" kern="0" dirty="0">
                <a:solidFill>
                  <a:srgbClr val="000000"/>
                </a:solidFill>
                <a:latin typeface="黑体" panose="02010609060101010101" charset="-122"/>
                <a:ea typeface="黑体" panose="02010609060101010101" charset="-122"/>
                <a:cs typeface="黑体" panose="02010609060101010101" charset="-122"/>
              </a:rPr>
              <a:t>、</a:t>
            </a:r>
            <a:r>
              <a:rPr lang="en-US" altLang="zh-CN" sz="2000" b="1" kern="0" dirty="0">
                <a:solidFill>
                  <a:srgbClr val="000000"/>
                </a:solidFill>
                <a:latin typeface="黑体" panose="02010609060101010101" charset="-122"/>
                <a:ea typeface="黑体" panose="02010609060101010101" charset="-122"/>
                <a:cs typeface="黑体" panose="02010609060101010101" charset="-122"/>
              </a:rPr>
              <a:t>DHCP</a:t>
            </a:r>
            <a:r>
              <a:rPr lang="zh-CN" altLang="zh-CN" sz="2000" b="1" kern="0" dirty="0">
                <a:solidFill>
                  <a:srgbClr val="000000"/>
                </a:solidFill>
                <a:latin typeface="黑体" panose="02010609060101010101" charset="-122"/>
                <a:ea typeface="黑体" panose="02010609060101010101" charset="-122"/>
                <a:cs typeface="黑体" panose="02010609060101010101" charset="-122"/>
              </a:rPr>
              <a:t>、</a:t>
            </a:r>
            <a:r>
              <a:rPr lang="en-US" altLang="zh-CN" sz="2000" b="1" kern="0" dirty="0">
                <a:solidFill>
                  <a:srgbClr val="000000"/>
                </a:solidFill>
                <a:latin typeface="黑体" panose="02010609060101010101" charset="-122"/>
                <a:ea typeface="黑体" panose="02010609060101010101" charset="-122"/>
                <a:cs typeface="黑体" panose="02010609060101010101" charset="-122"/>
              </a:rPr>
              <a:t>SSH</a:t>
            </a:r>
            <a:r>
              <a:rPr lang="zh-CN" altLang="zh-CN" sz="2000" b="1" kern="0" dirty="0">
                <a:solidFill>
                  <a:srgbClr val="000000"/>
                </a:solidFill>
                <a:latin typeface="黑体" panose="02010609060101010101" charset="-122"/>
                <a:ea typeface="黑体" panose="02010609060101010101" charset="-122"/>
                <a:cs typeface="黑体" panose="02010609060101010101" charset="-122"/>
              </a:rPr>
              <a:t>、</a:t>
            </a:r>
            <a:r>
              <a:rPr lang="en-US" altLang="zh-CN" sz="2000" b="1" kern="0" dirty="0">
                <a:solidFill>
                  <a:srgbClr val="000000"/>
                </a:solidFill>
                <a:latin typeface="黑体" panose="02010609060101010101" charset="-122"/>
                <a:ea typeface="黑体" panose="02010609060101010101" charset="-122"/>
                <a:cs typeface="黑体" panose="02010609060101010101" charset="-122"/>
              </a:rPr>
              <a:t>TELNET</a:t>
            </a:r>
            <a:r>
              <a:rPr lang="zh-CN" altLang="zh-CN" sz="2000" b="1" kern="0" dirty="0">
                <a:solidFill>
                  <a:srgbClr val="000000"/>
                </a:solidFill>
                <a:latin typeface="黑体" panose="02010609060101010101" charset="-122"/>
                <a:ea typeface="黑体" panose="02010609060101010101" charset="-122"/>
                <a:cs typeface="黑体" panose="02010609060101010101" charset="-122"/>
              </a:rPr>
              <a:t>等。</a:t>
            </a:r>
            <a:endParaRPr lang="zh-CN" altLang="zh-CN" sz="2000" b="1" kern="0" dirty="0">
              <a:solidFill>
                <a:srgbClr val="000000"/>
              </a:solidFill>
              <a:latin typeface="黑体" panose="02010609060101010101" charset="-122"/>
              <a:ea typeface="黑体" panose="02010609060101010101" charset="-122"/>
              <a:cs typeface="黑体" panose="02010609060101010101" charset="-122"/>
            </a:endParaRPr>
          </a:p>
          <a:p>
            <a:pPr indent="200025">
              <a:lnSpc>
                <a:spcPct val="125000"/>
              </a:lnSpc>
            </a:pPr>
            <a:endParaRPr lang="zh-CN" altLang="zh-CN" sz="2000" b="1" kern="0" dirty="0">
              <a:solidFill>
                <a:srgbClr val="000000"/>
              </a:solidFill>
              <a:latin typeface="黑体" panose="02010609060101010101" charset="-122"/>
              <a:ea typeface="黑体" panose="02010609060101010101" charset="-122"/>
              <a:cs typeface="黑体" panose="02010609060101010101" charset="-122"/>
            </a:endParaRPr>
          </a:p>
          <a:p>
            <a:pPr indent="200025">
              <a:lnSpc>
                <a:spcPct val="125000"/>
              </a:lnSpc>
            </a:pPr>
            <a:r>
              <a:rPr lang="en-US" altLang="zh-CN" sz="2000" b="1" kern="0" dirty="0">
                <a:solidFill>
                  <a:srgbClr val="000000"/>
                </a:solidFill>
                <a:latin typeface="黑体" panose="02010609060101010101" charset="-122"/>
                <a:ea typeface="黑体" panose="02010609060101010101" charset="-122"/>
                <a:cs typeface="黑体" panose="02010609060101010101" charset="-122"/>
              </a:rPr>
              <a:t>4</a:t>
            </a:r>
            <a:r>
              <a:rPr lang="zh-CN" altLang="en-US" sz="2000" b="1" kern="0" dirty="0">
                <a:solidFill>
                  <a:srgbClr val="000000"/>
                </a:solidFill>
                <a:latin typeface="黑体" panose="02010609060101010101" charset="-122"/>
                <a:ea typeface="黑体" panose="02010609060101010101" charset="-122"/>
                <a:cs typeface="黑体" panose="02010609060101010101" charset="-122"/>
              </a:rPr>
              <a:t>）</a:t>
            </a:r>
            <a:r>
              <a:rPr lang="zh-CN" altLang="zh-CN" sz="2000" b="1" kern="0" dirty="0">
                <a:solidFill>
                  <a:srgbClr val="000000"/>
                </a:solidFill>
                <a:latin typeface="黑体" panose="02010609060101010101" charset="-122"/>
                <a:ea typeface="黑体" panose="02010609060101010101" charset="-122"/>
                <a:cs typeface="黑体" panose="02010609060101010101" charset="-122"/>
              </a:rPr>
              <a:t>基于</a:t>
            </a:r>
            <a:r>
              <a:rPr lang="en-US" altLang="zh-CN" sz="2000" b="1" kern="0" dirty="0">
                <a:solidFill>
                  <a:srgbClr val="000000"/>
                </a:solidFill>
                <a:latin typeface="黑体" panose="02010609060101010101" charset="-122"/>
                <a:ea typeface="黑体" panose="02010609060101010101" charset="-122"/>
                <a:cs typeface="黑体" panose="02010609060101010101" charset="-122"/>
              </a:rPr>
              <a:t>GNU</a:t>
            </a:r>
            <a:r>
              <a:rPr lang="zh-CN" altLang="zh-CN" sz="2000" b="1" kern="0" dirty="0">
                <a:solidFill>
                  <a:srgbClr val="000000"/>
                </a:solidFill>
                <a:latin typeface="黑体" panose="02010609060101010101" charset="-122"/>
                <a:ea typeface="黑体" panose="02010609060101010101" charset="-122"/>
                <a:cs typeface="黑体" panose="02010609060101010101" charset="-122"/>
              </a:rPr>
              <a:t>许可，自由开放的系统。有大量第三方免费应用程序，得到了众多业界厂商支持，如</a:t>
            </a:r>
            <a:r>
              <a:rPr lang="en-US" altLang="zh-CN" sz="2000" b="1" kern="0" dirty="0">
                <a:solidFill>
                  <a:srgbClr val="000000"/>
                </a:solidFill>
                <a:latin typeface="黑体" panose="02010609060101010101" charset="-122"/>
                <a:ea typeface="黑体" panose="02010609060101010101" charset="-122"/>
                <a:cs typeface="黑体" panose="02010609060101010101" charset="-122"/>
              </a:rPr>
              <a:t>IBM</a:t>
            </a:r>
            <a:r>
              <a:rPr lang="zh-CN" altLang="zh-CN" sz="2000" b="1" kern="0" dirty="0">
                <a:solidFill>
                  <a:srgbClr val="000000"/>
                </a:solidFill>
                <a:latin typeface="黑体" panose="02010609060101010101" charset="-122"/>
                <a:ea typeface="黑体" panose="02010609060101010101" charset="-122"/>
                <a:cs typeface="黑体" panose="02010609060101010101" charset="-122"/>
              </a:rPr>
              <a:t>、</a:t>
            </a:r>
            <a:r>
              <a:rPr lang="en-US" altLang="zh-CN" sz="2000" b="1" kern="0" dirty="0">
                <a:solidFill>
                  <a:srgbClr val="000000"/>
                </a:solidFill>
                <a:latin typeface="黑体" panose="02010609060101010101" charset="-122"/>
                <a:ea typeface="黑体" panose="02010609060101010101" charset="-122"/>
                <a:cs typeface="黑体" panose="02010609060101010101" charset="-122"/>
              </a:rPr>
              <a:t>ORACLE</a:t>
            </a:r>
            <a:r>
              <a:rPr lang="zh-CN" altLang="zh-CN" sz="2000" b="1" kern="0" dirty="0">
                <a:solidFill>
                  <a:srgbClr val="000000"/>
                </a:solidFill>
                <a:latin typeface="黑体" panose="02010609060101010101" charset="-122"/>
                <a:ea typeface="黑体" panose="02010609060101010101" charset="-122"/>
                <a:cs typeface="黑体" panose="02010609060101010101" charset="-122"/>
              </a:rPr>
              <a:t>、</a:t>
            </a:r>
            <a:r>
              <a:rPr lang="en-US" altLang="zh-CN" sz="2000" b="1" kern="0" dirty="0">
                <a:solidFill>
                  <a:srgbClr val="000000"/>
                </a:solidFill>
                <a:latin typeface="黑体" panose="02010609060101010101" charset="-122"/>
                <a:ea typeface="黑体" panose="02010609060101010101" charset="-122"/>
                <a:cs typeface="黑体" panose="02010609060101010101" charset="-122"/>
              </a:rPr>
              <a:t>INTEL</a:t>
            </a:r>
            <a:r>
              <a:rPr lang="zh-CN" altLang="zh-CN" sz="2000" b="1" kern="0" dirty="0">
                <a:solidFill>
                  <a:srgbClr val="000000"/>
                </a:solidFill>
                <a:latin typeface="黑体" panose="02010609060101010101" charset="-122"/>
                <a:ea typeface="黑体" panose="02010609060101010101" charset="-122"/>
                <a:cs typeface="黑体" panose="02010609060101010101" charset="-122"/>
              </a:rPr>
              <a:t>、</a:t>
            </a:r>
            <a:r>
              <a:rPr lang="en-US" altLang="zh-CN" sz="2000" b="1" kern="0" dirty="0">
                <a:solidFill>
                  <a:srgbClr val="000000"/>
                </a:solidFill>
                <a:latin typeface="黑体" panose="02010609060101010101" charset="-122"/>
                <a:ea typeface="黑体" panose="02010609060101010101" charset="-122"/>
                <a:cs typeface="黑体" panose="02010609060101010101" charset="-122"/>
              </a:rPr>
              <a:t>HP</a:t>
            </a:r>
            <a:r>
              <a:rPr lang="zh-CN" altLang="zh-CN" sz="2000" b="1" kern="0" dirty="0">
                <a:solidFill>
                  <a:srgbClr val="000000"/>
                </a:solidFill>
                <a:latin typeface="黑体" panose="02010609060101010101" charset="-122"/>
                <a:ea typeface="黑体" panose="02010609060101010101" charset="-122"/>
                <a:cs typeface="黑体" panose="02010609060101010101" charset="-122"/>
              </a:rPr>
              <a:t>、</a:t>
            </a:r>
            <a:r>
              <a:rPr lang="en-US" altLang="zh-CN" sz="2000" b="1" kern="0" dirty="0">
                <a:solidFill>
                  <a:srgbClr val="000000"/>
                </a:solidFill>
                <a:latin typeface="黑体" panose="02010609060101010101" charset="-122"/>
                <a:ea typeface="黑体" panose="02010609060101010101" charset="-122"/>
                <a:cs typeface="黑体" panose="02010609060101010101" charset="-122"/>
              </a:rPr>
              <a:t>MOTO</a:t>
            </a:r>
            <a:r>
              <a:rPr lang="zh-CN" altLang="zh-CN" sz="2000" b="1" kern="0" dirty="0">
                <a:solidFill>
                  <a:srgbClr val="000000"/>
                </a:solidFill>
                <a:latin typeface="黑体" panose="02010609060101010101" charset="-122"/>
                <a:ea typeface="黑体" panose="02010609060101010101" charset="-122"/>
                <a:cs typeface="黑体" panose="02010609060101010101" charset="-122"/>
              </a:rPr>
              <a:t>、</a:t>
            </a:r>
            <a:r>
              <a:rPr lang="en-US" altLang="zh-CN" sz="2000" b="1" kern="0" dirty="0">
                <a:solidFill>
                  <a:srgbClr val="000000"/>
                </a:solidFill>
                <a:latin typeface="黑体" panose="02010609060101010101" charset="-122"/>
                <a:ea typeface="黑体" panose="02010609060101010101" charset="-122"/>
                <a:cs typeface="黑体" panose="02010609060101010101" charset="-122"/>
              </a:rPr>
              <a:t>Google</a:t>
            </a:r>
            <a:r>
              <a:rPr lang="zh-CN" altLang="zh-CN" sz="2000" b="1" kern="0" dirty="0">
                <a:solidFill>
                  <a:srgbClr val="000000"/>
                </a:solidFill>
                <a:latin typeface="黑体" panose="02010609060101010101" charset="-122"/>
                <a:ea typeface="黑体" panose="02010609060101010101" charset="-122"/>
                <a:cs typeface="黑体" panose="02010609060101010101" charset="-122"/>
              </a:rPr>
              <a:t>等。</a:t>
            </a:r>
            <a:endParaRPr lang="zh-CN" altLang="zh-CN" sz="2000" b="1" kern="100" dirty="0">
              <a:latin typeface="黑体" panose="02010609060101010101" charset="-122"/>
              <a:ea typeface="黑体" panose="02010609060101010101" charset="-122"/>
              <a:cs typeface="黑体" panose="02010609060101010101" charset="-122"/>
            </a:endParaRPr>
          </a:p>
        </p:txBody>
      </p:sp>
      <p:sp>
        <p:nvSpPr>
          <p:cNvPr id="6" name="文本框 5"/>
          <p:cNvSpPr txBox="1"/>
          <p:nvPr/>
        </p:nvSpPr>
        <p:spPr>
          <a:xfrm>
            <a:off x="1001395" y="544830"/>
            <a:ext cx="6419850" cy="521970"/>
          </a:xfrm>
          <a:prstGeom prst="rect">
            <a:avLst/>
          </a:prstGeom>
        </p:spPr>
        <p:txBody>
          <a:bodyPr wrap="square">
            <a:spAutoFit/>
          </a:bodyPr>
          <a:p>
            <a:r>
              <a:rPr lang="en-US" altLang="zh-CN" sz="2800" b="0">
                <a:solidFill>
                  <a:srgbClr val="002060"/>
                </a:solidFill>
                <a:latin typeface="方正大黑简体" panose="02000000000000000000" charset="-122"/>
                <a:ea typeface="方正大黑简体" panose="02000000000000000000" charset="-122"/>
                <a:cs typeface="方正大黑简体" panose="02000000000000000000" charset="-122"/>
              </a:rPr>
              <a:t>1.3 openEuler</a:t>
            </a:r>
            <a:r>
              <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rPr>
              <a:t>操作系统</a:t>
            </a:r>
            <a:r>
              <a:rPr lang="en-US" altLang="zh-CN" sz="2800" b="0">
                <a:solidFill>
                  <a:srgbClr val="002060"/>
                </a:solidFill>
                <a:latin typeface="方正大黑简体" panose="02000000000000000000" charset="-122"/>
                <a:ea typeface="方正大黑简体" panose="02000000000000000000" charset="-122"/>
                <a:cs typeface="方正大黑简体" panose="02000000000000000000" charset="-122"/>
              </a:rPr>
              <a:t>/Linux</a:t>
            </a:r>
            <a:r>
              <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rPr>
              <a:t>简介</a:t>
            </a:r>
            <a:endPar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1148080" y="1267460"/>
            <a:ext cx="4948555" cy="443865"/>
          </a:xfrm>
          <a:prstGeom prst="rect">
            <a:avLst/>
          </a:prstGeom>
        </p:spPr>
        <p:txBody>
          <a:bodyPr wrap="square">
            <a:noAutofit/>
          </a:bodyPr>
          <a:lstStyle/>
          <a:p>
            <a:pPr marL="342900" indent="-342900">
              <a:lnSpc>
                <a:spcPct val="125000"/>
              </a:lnSpc>
              <a:buFont typeface="Wingdings" panose="05000000000000000000" charset="0"/>
              <a:buChar char="n"/>
            </a:pPr>
            <a:r>
              <a:rPr lang="en-US" altLang="zh-CN" sz="2000" b="1" kern="100" dirty="0">
                <a:solidFill>
                  <a:srgbClr val="660000"/>
                </a:solidFill>
                <a:latin typeface="华文楷体" panose="02010600040101010101" pitchFamily="2" charset="-122"/>
                <a:ea typeface="华文楷体" panose="02010600040101010101" pitchFamily="2" charset="-122"/>
                <a:cs typeface="华文行楷" panose="02010800040101010101" charset="-122"/>
              </a:rPr>
              <a:t>openEuler/Linux</a:t>
            </a:r>
            <a:r>
              <a:rPr lang="zh-CN" altLang="en-US" sz="2000" b="1" kern="100" dirty="0">
                <a:solidFill>
                  <a:srgbClr val="660000"/>
                </a:solidFill>
                <a:latin typeface="华文行楷" panose="02010800040101010101" charset="-122"/>
                <a:ea typeface="华文行楷" panose="02010800040101010101" charset="-122"/>
                <a:cs typeface="华文行楷" panose="02010800040101010101" charset="-122"/>
              </a:rPr>
              <a:t>内核架构</a:t>
            </a:r>
            <a:endParaRPr lang="zh-CN" altLang="en-US" sz="2000" b="1" kern="100" dirty="0">
              <a:solidFill>
                <a:srgbClr val="660000"/>
              </a:solidFill>
              <a:latin typeface="华文行楷" panose="02010800040101010101" charset="-122"/>
              <a:ea typeface="华文行楷" panose="02010800040101010101" charset="-122"/>
              <a:cs typeface="华文行楷" panose="02010800040101010101" charset="-122"/>
            </a:endParaRPr>
          </a:p>
          <a:p>
            <a:pPr indent="200025">
              <a:lnSpc>
                <a:spcPct val="125000"/>
              </a:lnSpc>
            </a:pPr>
            <a:endParaRPr lang="zh-CN" altLang="en-US" sz="2000" b="1" kern="100" dirty="0">
              <a:solidFill>
                <a:srgbClr val="660000"/>
              </a:solidFill>
              <a:latin typeface="华文行楷" panose="02010800040101010101" charset="-122"/>
              <a:ea typeface="华文行楷" panose="02010800040101010101" charset="-122"/>
              <a:cs typeface="华文行楷" panose="02010800040101010101" charset="-122"/>
            </a:endParaRPr>
          </a:p>
        </p:txBody>
      </p:sp>
      <p:sp>
        <p:nvSpPr>
          <p:cNvPr id="6" name="文本框 5"/>
          <p:cNvSpPr txBox="1"/>
          <p:nvPr/>
        </p:nvSpPr>
        <p:spPr>
          <a:xfrm>
            <a:off x="1001395" y="544830"/>
            <a:ext cx="6419850" cy="521970"/>
          </a:xfrm>
          <a:prstGeom prst="rect">
            <a:avLst/>
          </a:prstGeom>
        </p:spPr>
        <p:txBody>
          <a:bodyPr wrap="square">
            <a:spAutoFit/>
          </a:bodyPr>
          <a:p>
            <a:r>
              <a:rPr lang="en-US" altLang="zh-CN" sz="2800" b="0">
                <a:solidFill>
                  <a:srgbClr val="002060"/>
                </a:solidFill>
                <a:latin typeface="方正大黑简体" panose="02000000000000000000" charset="-122"/>
                <a:ea typeface="方正大黑简体" panose="02000000000000000000" charset="-122"/>
                <a:cs typeface="方正大黑简体" panose="02000000000000000000" charset="-122"/>
              </a:rPr>
              <a:t>1.3 openEuler</a:t>
            </a:r>
            <a:r>
              <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rPr>
              <a:t>操作系统</a:t>
            </a:r>
            <a:r>
              <a:rPr lang="en-US" altLang="zh-CN" sz="2800" b="0">
                <a:solidFill>
                  <a:srgbClr val="002060"/>
                </a:solidFill>
                <a:latin typeface="方正大黑简体" panose="02000000000000000000" charset="-122"/>
                <a:ea typeface="方正大黑简体" panose="02000000000000000000" charset="-122"/>
                <a:cs typeface="方正大黑简体" panose="02000000000000000000" charset="-122"/>
              </a:rPr>
              <a:t>/Linux</a:t>
            </a:r>
            <a:r>
              <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rPr>
              <a:t>简介</a:t>
            </a:r>
            <a:endPar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pic>
        <p:nvPicPr>
          <p:cNvPr id="2" name="图片 1"/>
          <p:cNvPicPr>
            <a:picLocks noChangeAspect="1"/>
          </p:cNvPicPr>
          <p:nvPr/>
        </p:nvPicPr>
        <p:blipFill>
          <a:blip r:embed="rId1"/>
          <a:stretch>
            <a:fillRect/>
          </a:stretch>
        </p:blipFill>
        <p:spPr>
          <a:xfrm>
            <a:off x="1663700" y="1911985"/>
            <a:ext cx="2428875" cy="2619375"/>
          </a:xfrm>
          <a:prstGeom prst="rect">
            <a:avLst/>
          </a:prstGeom>
        </p:spPr>
      </p:pic>
      <p:sp>
        <p:nvSpPr>
          <p:cNvPr id="4" name="文本框 3"/>
          <p:cNvSpPr txBox="1"/>
          <p:nvPr/>
        </p:nvSpPr>
        <p:spPr>
          <a:xfrm>
            <a:off x="1578610" y="4917440"/>
            <a:ext cx="2822575" cy="337185"/>
          </a:xfrm>
          <a:prstGeom prst="rect">
            <a:avLst/>
          </a:prstGeom>
        </p:spPr>
        <p:txBody>
          <a:bodyPr wrap="square">
            <a:spAutoFit/>
          </a:bodyPr>
          <a:p>
            <a:r>
              <a:rPr lang="en-US" altLang="zh-CN" sz="1600" b="1">
                <a:solidFill>
                  <a:srgbClr val="231F20"/>
                </a:solidFill>
                <a:latin typeface="Times New Roman PS MT"/>
                <a:ea typeface="Times New Roman PS MT"/>
              </a:rPr>
              <a:t>Linux</a:t>
            </a:r>
            <a:r>
              <a:rPr lang="zh-CN" altLang="en-US" sz="1600" b="1">
                <a:solidFill>
                  <a:srgbClr val="231F20"/>
                </a:solidFill>
                <a:latin typeface="方正楷体_GBK" panose="02000000000000000000" charset="-122"/>
                <a:ea typeface="方正楷体_GBK" panose="02000000000000000000" charset="-122"/>
              </a:rPr>
              <a:t>内核在系统中的位置</a:t>
            </a:r>
            <a:endParaRPr lang="zh-CN" altLang="en-US" sz="1600" b="1">
              <a:solidFill>
                <a:srgbClr val="231F20"/>
              </a:solidFill>
              <a:latin typeface="方正楷体_GBK" panose="02000000000000000000" charset="-122"/>
              <a:ea typeface="方正楷体_GBK" panose="02000000000000000000" charset="-122"/>
            </a:endParaRPr>
          </a:p>
        </p:txBody>
      </p:sp>
      <p:pic>
        <p:nvPicPr>
          <p:cNvPr id="5" name="图片 4"/>
          <p:cNvPicPr>
            <a:picLocks noChangeAspect="1"/>
          </p:cNvPicPr>
          <p:nvPr/>
        </p:nvPicPr>
        <p:blipFill>
          <a:blip r:embed="rId2"/>
          <a:stretch>
            <a:fillRect/>
          </a:stretch>
        </p:blipFill>
        <p:spPr>
          <a:xfrm>
            <a:off x="4585335" y="1911985"/>
            <a:ext cx="5461000" cy="2730500"/>
          </a:xfrm>
          <a:prstGeom prst="rect">
            <a:avLst/>
          </a:prstGeom>
        </p:spPr>
      </p:pic>
      <p:sp>
        <p:nvSpPr>
          <p:cNvPr id="7" name="文本框 6"/>
          <p:cNvSpPr txBox="1"/>
          <p:nvPr/>
        </p:nvSpPr>
        <p:spPr>
          <a:xfrm>
            <a:off x="6414770" y="4917440"/>
            <a:ext cx="2251075" cy="337185"/>
          </a:xfrm>
          <a:prstGeom prst="rect">
            <a:avLst/>
          </a:prstGeom>
        </p:spPr>
        <p:txBody>
          <a:bodyPr wrap="square">
            <a:spAutoFit/>
          </a:bodyPr>
          <a:p>
            <a:r>
              <a:rPr lang="en-US" altLang="zh-CN" sz="1600" b="1">
                <a:solidFill>
                  <a:srgbClr val="231F20"/>
                </a:solidFill>
                <a:latin typeface="Times New Roman PS MT"/>
                <a:ea typeface="Times New Roman PS MT"/>
              </a:rPr>
              <a:t>Linux</a:t>
            </a:r>
            <a:r>
              <a:rPr lang="zh-CN" altLang="en-US" sz="1600" b="1">
                <a:solidFill>
                  <a:srgbClr val="231F20"/>
                </a:solidFill>
                <a:latin typeface="方正楷体_GBK" panose="02000000000000000000" charset="-122"/>
                <a:ea typeface="方正楷体_GBK" panose="02000000000000000000" charset="-122"/>
              </a:rPr>
              <a:t>内核架构</a:t>
            </a:r>
            <a:endParaRPr lang="zh-CN" altLang="en-US" sz="1600" b="1">
              <a:solidFill>
                <a:srgbClr val="231F20"/>
              </a:solidFill>
              <a:latin typeface="方正楷体_GBK" panose="02000000000000000000" charset="-122"/>
              <a:ea typeface="方正楷体_GBK" panose="02000000000000000000"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1148080" y="1267460"/>
            <a:ext cx="4948555" cy="443865"/>
          </a:xfrm>
          <a:prstGeom prst="rect">
            <a:avLst/>
          </a:prstGeom>
        </p:spPr>
        <p:txBody>
          <a:bodyPr wrap="square">
            <a:noAutofit/>
          </a:bodyPr>
          <a:lstStyle/>
          <a:p>
            <a:pPr marL="342900" indent="-342900">
              <a:lnSpc>
                <a:spcPct val="125000"/>
              </a:lnSpc>
              <a:buFont typeface="Wingdings" panose="05000000000000000000" charset="0"/>
              <a:buChar char="n"/>
            </a:pPr>
            <a:r>
              <a:rPr lang="zh-CN" altLang="en-US" sz="2000" b="1" dirty="0">
                <a:solidFill>
                  <a:srgbClr val="660000"/>
                </a:solidFill>
                <a:latin typeface="华文行楷" panose="02010800040101010101" charset="-122"/>
                <a:ea typeface="华文行楷" panose="02010800040101010101" charset="-122"/>
                <a:sym typeface="+mn-ea"/>
              </a:rPr>
              <a:t>未来操作系统的展望</a:t>
            </a:r>
            <a:endParaRPr lang="zh-CN" altLang="en-US" sz="2000" b="1" dirty="0">
              <a:solidFill>
                <a:srgbClr val="660000"/>
              </a:solidFill>
              <a:latin typeface="华文行楷" panose="02010800040101010101" charset="-122"/>
              <a:ea typeface="华文行楷" panose="02010800040101010101" charset="-122"/>
            </a:endParaRPr>
          </a:p>
          <a:p>
            <a:pPr indent="200025">
              <a:lnSpc>
                <a:spcPct val="125000"/>
              </a:lnSpc>
            </a:pPr>
            <a:endParaRPr lang="zh-CN" altLang="en-US" sz="2000" b="1" kern="100" dirty="0">
              <a:solidFill>
                <a:srgbClr val="660000"/>
              </a:solidFill>
              <a:latin typeface="华文行楷" panose="02010800040101010101" charset="-122"/>
              <a:ea typeface="华文行楷" panose="02010800040101010101" charset="-122"/>
              <a:cs typeface="黑体" panose="02010609060101010101" charset="-122"/>
            </a:endParaRPr>
          </a:p>
        </p:txBody>
      </p:sp>
      <p:sp>
        <p:nvSpPr>
          <p:cNvPr id="6" name="文本框 5"/>
          <p:cNvSpPr txBox="1"/>
          <p:nvPr/>
        </p:nvSpPr>
        <p:spPr>
          <a:xfrm>
            <a:off x="1001395" y="544830"/>
            <a:ext cx="6419850" cy="521970"/>
          </a:xfrm>
          <a:prstGeom prst="rect">
            <a:avLst/>
          </a:prstGeom>
        </p:spPr>
        <p:txBody>
          <a:bodyPr wrap="square">
            <a:spAutoFit/>
          </a:bodyPr>
          <a:p>
            <a:r>
              <a:rPr lang="en-US" altLang="zh-CN" sz="2800" b="0">
                <a:solidFill>
                  <a:srgbClr val="002060"/>
                </a:solidFill>
                <a:latin typeface="方正大黑简体" panose="02000000000000000000" charset="-122"/>
                <a:ea typeface="方正大黑简体" panose="02000000000000000000" charset="-122"/>
                <a:cs typeface="方正大黑简体" panose="02000000000000000000" charset="-122"/>
              </a:rPr>
              <a:t>1.3 openEuler</a:t>
            </a:r>
            <a:r>
              <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rPr>
              <a:t>操作系统</a:t>
            </a:r>
            <a:r>
              <a:rPr lang="en-US" altLang="zh-CN" sz="2800" b="0">
                <a:solidFill>
                  <a:srgbClr val="002060"/>
                </a:solidFill>
                <a:latin typeface="方正大黑简体" panose="02000000000000000000" charset="-122"/>
                <a:ea typeface="方正大黑简体" panose="02000000000000000000" charset="-122"/>
                <a:cs typeface="方正大黑简体" panose="02000000000000000000" charset="-122"/>
              </a:rPr>
              <a:t>/Linux</a:t>
            </a:r>
            <a:r>
              <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rPr>
              <a:t>简介</a:t>
            </a:r>
            <a:endParaRPr lang="zh-CN" altLang="en-US" sz="2800" b="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9" name="文本框 8"/>
          <p:cNvSpPr txBox="1"/>
          <p:nvPr/>
        </p:nvSpPr>
        <p:spPr>
          <a:xfrm>
            <a:off x="1322014" y="1912010"/>
            <a:ext cx="1203960" cy="398780"/>
          </a:xfrm>
          <a:prstGeom prst="rect">
            <a:avLst/>
          </a:prstGeom>
          <a:noFill/>
        </p:spPr>
        <p:txBody>
          <a:bodyPr wrap="none" rtlCol="0">
            <a:spAutoFit/>
          </a:bodyPr>
          <a:lstStyle/>
          <a:p>
            <a:r>
              <a:rPr lang="zh-CN" altLang="en-US" sz="2000" b="1" dirty="0">
                <a:solidFill>
                  <a:srgbClr val="6C0000"/>
                </a:solidFill>
                <a:latin typeface="黑体" panose="02010609060101010101" charset="-122"/>
                <a:ea typeface="黑体" panose="02010609060101010101" charset="-122"/>
              </a:rPr>
              <a:t>课后思考</a:t>
            </a:r>
            <a:endParaRPr lang="zh-CN" altLang="en-US" sz="2000" b="1" dirty="0">
              <a:solidFill>
                <a:srgbClr val="6C0000"/>
              </a:solidFill>
              <a:latin typeface="黑体" panose="02010609060101010101" charset="-122"/>
              <a:ea typeface="黑体" panose="02010609060101010101" charset="-122"/>
            </a:endParaRPr>
          </a:p>
        </p:txBody>
      </p:sp>
      <p:sp>
        <p:nvSpPr>
          <p:cNvPr id="2" name="文本框 1"/>
          <p:cNvSpPr txBox="1"/>
          <p:nvPr/>
        </p:nvSpPr>
        <p:spPr>
          <a:xfrm>
            <a:off x="1322224" y="2614584"/>
            <a:ext cx="9124950" cy="1630045"/>
          </a:xfrm>
          <a:prstGeom prst="rect">
            <a:avLst/>
          </a:prstGeom>
          <a:noFill/>
        </p:spPr>
        <p:txBody>
          <a:bodyPr wrap="none" rtlCol="0">
            <a:spAutoFit/>
          </a:bodyPr>
          <a:lstStyle/>
          <a:p>
            <a:pPr algn="l"/>
            <a:r>
              <a:rPr lang="en-US" altLang="zh-CN" sz="2000" b="1" dirty="0">
                <a:solidFill>
                  <a:srgbClr val="002C6C"/>
                </a:solidFill>
                <a:latin typeface="黑体" panose="02010609060101010101" charset="-122"/>
                <a:ea typeface="黑体" panose="02010609060101010101" charset="-122"/>
                <a:cs typeface="黑体" panose="02010609060101010101" charset="-122"/>
              </a:rPr>
              <a:t>1</a:t>
            </a:r>
            <a:r>
              <a:rPr lang="zh-CN" altLang="en-US" sz="2000" b="1" dirty="0">
                <a:solidFill>
                  <a:srgbClr val="002C6C"/>
                </a:solidFill>
                <a:latin typeface="黑体" panose="02010609060101010101" charset="-122"/>
                <a:ea typeface="黑体" panose="02010609060101010101" charset="-122"/>
                <a:cs typeface="黑体" panose="02010609060101010101" charset="-122"/>
              </a:rPr>
              <a:t>）你对未来操作系统在人工智能集成或跨设备协同方面有哪些期望？</a:t>
            </a:r>
            <a:endParaRPr lang="zh-CN" altLang="en-US" sz="2000" b="1" dirty="0">
              <a:solidFill>
                <a:srgbClr val="002C6C"/>
              </a:solidFill>
              <a:latin typeface="黑体" panose="02010609060101010101" charset="-122"/>
              <a:ea typeface="黑体" panose="02010609060101010101" charset="-122"/>
              <a:cs typeface="黑体" panose="02010609060101010101" charset="-122"/>
            </a:endParaRPr>
          </a:p>
          <a:p>
            <a:pPr algn="l"/>
            <a:endParaRPr lang="en-US" altLang="zh-CN" sz="2000" b="1" dirty="0">
              <a:solidFill>
                <a:srgbClr val="002C6C"/>
              </a:solidFill>
              <a:latin typeface="黑体" panose="02010609060101010101" charset="-122"/>
              <a:ea typeface="黑体" panose="02010609060101010101" charset="-122"/>
              <a:cs typeface="黑体" panose="02010609060101010101" charset="-122"/>
            </a:endParaRPr>
          </a:p>
          <a:p>
            <a:pPr algn="l"/>
            <a:r>
              <a:rPr lang="en-US" altLang="zh-CN" sz="2000" b="1" dirty="0">
                <a:solidFill>
                  <a:srgbClr val="002C6C"/>
                </a:solidFill>
                <a:latin typeface="黑体" panose="02010609060101010101" charset="-122"/>
                <a:ea typeface="黑体" panose="02010609060101010101" charset="-122"/>
                <a:cs typeface="黑体" panose="02010609060101010101" charset="-122"/>
              </a:rPr>
              <a:t>2</a:t>
            </a:r>
            <a:r>
              <a:rPr lang="zh-CN" altLang="en-US" sz="2000" b="1" dirty="0">
                <a:solidFill>
                  <a:srgbClr val="002C6C"/>
                </a:solidFill>
                <a:latin typeface="黑体" panose="02010609060101010101" charset="-122"/>
                <a:ea typeface="黑体" panose="02010609060101010101" charset="-122"/>
                <a:cs typeface="黑体" panose="02010609060101010101" charset="-122"/>
              </a:rPr>
              <a:t>）国产操作系统要在服务器领域立足，最需要优先解决什么问题？</a:t>
            </a:r>
            <a:endParaRPr lang="zh-CN" altLang="en-US" sz="2000" b="1" dirty="0">
              <a:solidFill>
                <a:srgbClr val="002C6C"/>
              </a:solidFill>
              <a:latin typeface="黑体" panose="02010609060101010101" charset="-122"/>
              <a:ea typeface="黑体" panose="02010609060101010101" charset="-122"/>
              <a:cs typeface="黑体" panose="02010609060101010101" charset="-122"/>
            </a:endParaRPr>
          </a:p>
          <a:p>
            <a:pPr algn="l"/>
            <a:endParaRPr lang="en-US" altLang="zh-CN" sz="2000" b="1" dirty="0">
              <a:solidFill>
                <a:srgbClr val="002C6C"/>
              </a:solidFill>
              <a:latin typeface="黑体" panose="02010609060101010101" charset="-122"/>
              <a:ea typeface="黑体" panose="02010609060101010101" charset="-122"/>
              <a:cs typeface="黑体" panose="02010609060101010101" charset="-122"/>
            </a:endParaRPr>
          </a:p>
          <a:p>
            <a:pPr algn="l"/>
            <a:r>
              <a:rPr lang="en-US" altLang="zh-CN" sz="2000" b="1" dirty="0">
                <a:solidFill>
                  <a:srgbClr val="002C6C"/>
                </a:solidFill>
                <a:latin typeface="黑体" panose="02010609060101010101" charset="-122"/>
                <a:ea typeface="黑体" panose="02010609060101010101" charset="-122"/>
                <a:cs typeface="黑体" panose="02010609060101010101" charset="-122"/>
              </a:rPr>
              <a:t>3</a:t>
            </a:r>
            <a:r>
              <a:rPr lang="zh-CN" altLang="en-US" sz="2000" b="1" dirty="0">
                <a:solidFill>
                  <a:srgbClr val="002C6C"/>
                </a:solidFill>
                <a:latin typeface="黑体" panose="02010609060101010101" charset="-122"/>
                <a:ea typeface="黑体" panose="02010609060101010101" charset="-122"/>
                <a:cs typeface="黑体" panose="02010609060101010101" charset="-122"/>
              </a:rPr>
              <a:t>）从 </a:t>
            </a:r>
            <a:r>
              <a:rPr lang="en-US" altLang="zh-CN" sz="2000" b="1" dirty="0">
                <a:solidFill>
                  <a:srgbClr val="002C6C"/>
                </a:solidFill>
                <a:latin typeface="黑体" panose="02010609060101010101" charset="-122"/>
                <a:ea typeface="黑体" panose="02010609060101010101" charset="-122"/>
                <a:cs typeface="黑体" panose="02010609060101010101" charset="-122"/>
              </a:rPr>
              <a:t>openEuler </a:t>
            </a:r>
            <a:r>
              <a:rPr lang="zh-CN" altLang="en-US" sz="2000" b="1" dirty="0">
                <a:solidFill>
                  <a:srgbClr val="002C6C"/>
                </a:solidFill>
                <a:latin typeface="黑体" panose="02010609060101010101" charset="-122"/>
                <a:ea typeface="黑体" panose="02010609060101010101" charset="-122"/>
                <a:cs typeface="黑体" panose="02010609060101010101" charset="-122"/>
              </a:rPr>
              <a:t>的开源模式看，国产操作系统如何吸引更多开发者参与贡献？</a:t>
            </a:r>
            <a:endParaRPr lang="zh-CN" altLang="en-US" sz="2000" b="1" dirty="0">
              <a:solidFill>
                <a:srgbClr val="002C6C"/>
              </a:solidFill>
              <a:latin typeface="黑体" panose="02010609060101010101" charset="-122"/>
              <a:ea typeface="黑体" panose="02010609060101010101" charset="-122"/>
              <a:cs typeface="黑体" panose="02010609060101010101"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 name="组合 3"/>
          <p:cNvGrpSpPr/>
          <p:nvPr/>
        </p:nvGrpSpPr>
        <p:grpSpPr>
          <a:xfrm>
            <a:off x="-81280" y="-22860"/>
            <a:ext cx="12192000" cy="6858000"/>
            <a:chOff x="0" y="0"/>
            <a:chExt cx="12192000" cy="6858000"/>
          </a:xfrm>
        </p:grpSpPr>
        <p:sp>
          <p:nvSpPr>
            <p:cNvPr id="5" name="直角三角形 4"/>
            <p:cNvSpPr/>
            <p:nvPr userDrawn="1"/>
          </p:nvSpPr>
          <p:spPr>
            <a:xfrm>
              <a:off x="0" y="3165895"/>
              <a:ext cx="3692105" cy="3692105"/>
            </a:xfrm>
            <a:prstGeom prst="rtTriangle">
              <a:avLst/>
            </a:prstGeom>
            <a:solidFill>
              <a:srgbClr val="004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4B9D"/>
                </a:solidFill>
              </a:endParaRPr>
            </a:p>
          </p:txBody>
        </p:sp>
        <p:sp>
          <p:nvSpPr>
            <p:cNvPr id="6" name="直角三角形 5"/>
            <p:cNvSpPr/>
            <p:nvPr userDrawn="1"/>
          </p:nvSpPr>
          <p:spPr>
            <a:xfrm rot="10800000">
              <a:off x="8499895" y="0"/>
              <a:ext cx="3692105" cy="3692105"/>
            </a:xfrm>
            <a:prstGeom prst="rtTriangle">
              <a:avLst/>
            </a:prstGeom>
            <a:solidFill>
              <a:srgbClr val="004B9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userDrawn="1"/>
          </p:nvGrpSpPr>
          <p:grpSpPr>
            <a:xfrm>
              <a:off x="490484" y="441960"/>
              <a:ext cx="11211033" cy="6019801"/>
              <a:chOff x="490484" y="441960"/>
              <a:chExt cx="11211033" cy="6019801"/>
            </a:xfrm>
          </p:grpSpPr>
          <p:pic>
            <p:nvPicPr>
              <p:cNvPr id="8" name="图片 7"/>
              <p:cNvPicPr>
                <a:picLocks noChangeAspect="1"/>
              </p:cNvPicPr>
              <p:nvPr userDrawn="1"/>
            </p:nvPicPr>
            <p:blipFill rotWithShape="1">
              <a:blip r:embed="rId1">
                <a:extLst>
                  <a:ext uri="{28A0092B-C50C-407E-A947-70E740481C1C}">
                    <a14:useLocalDpi xmlns:a14="http://schemas.microsoft.com/office/drawing/2010/main" val="0"/>
                  </a:ext>
                </a:extLst>
              </a:blip>
              <a:srcRect l="1515" t="4277" r="530" b="14319"/>
              <a:stretch>
                <a:fillRect/>
              </a:stretch>
            </p:blipFill>
            <p:spPr>
              <a:xfrm>
                <a:off x="490484" y="441960"/>
                <a:ext cx="11211033" cy="6019801"/>
              </a:xfrm>
              <a:prstGeom prst="rect">
                <a:avLst/>
              </a:prstGeom>
              <a:effectLst>
                <a:outerShdw blurRad="355600" dist="139700" dir="2700000" algn="tl" rotWithShape="0">
                  <a:prstClr val="black">
                    <a:alpha val="61000"/>
                  </a:prstClr>
                </a:outerShdw>
              </a:effectLst>
            </p:spPr>
          </p:pic>
          <p:sp>
            <p:nvSpPr>
              <p:cNvPr id="9" name="矩形 8"/>
              <p:cNvSpPr/>
              <p:nvPr userDrawn="1"/>
            </p:nvSpPr>
            <p:spPr>
              <a:xfrm>
                <a:off x="490484" y="441960"/>
                <a:ext cx="11211032" cy="6019801"/>
              </a:xfrm>
              <a:prstGeom prst="rect">
                <a:avLst/>
              </a:prstGeom>
              <a:solidFill>
                <a:srgbClr val="FFFEF7">
                  <a:alpha val="82745"/>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solidFill>
                    <a:srgbClr val="004C9E"/>
                  </a:solidFill>
                  <a:latin typeface="微软雅黑" panose="020B0503020204020204" pitchFamily="34" charset="-122"/>
                  <a:ea typeface="微软雅黑" panose="020B0503020204020204" pitchFamily="34" charset="-122"/>
                </a:endParaRPr>
              </a:p>
            </p:txBody>
          </p:sp>
        </p:grpSp>
      </p:grpSp>
      <p:pic>
        <p:nvPicPr>
          <p:cNvPr id="10" name="图片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36590" y="1252062"/>
            <a:ext cx="2917715" cy="920774"/>
          </a:xfrm>
          <a:prstGeom prst="rect">
            <a:avLst/>
          </a:prstGeom>
        </p:spPr>
      </p:pic>
      <p:sp>
        <p:nvSpPr>
          <p:cNvPr id="11" name="文本框 10"/>
          <p:cNvSpPr txBox="1"/>
          <p:nvPr/>
        </p:nvSpPr>
        <p:spPr>
          <a:xfrm>
            <a:off x="2286000" y="2788222"/>
            <a:ext cx="7620000" cy="768350"/>
          </a:xfrm>
          <a:prstGeom prst="rect">
            <a:avLst/>
          </a:prstGeom>
          <a:noFill/>
        </p:spPr>
        <p:txBody>
          <a:bodyPr wrap="square" rtlCol="0">
            <a:spAutoFit/>
          </a:bodyPr>
          <a:lstStyle/>
          <a:p>
            <a:pPr algn="ctr"/>
            <a:r>
              <a:rPr lang="zh-CN" altLang="en-US" sz="4400" b="1" dirty="0" smtClean="0">
                <a:solidFill>
                  <a:srgbClr val="004C9E"/>
                </a:solidFill>
                <a:latin typeface="微软雅黑" panose="020B0503020204020204" pitchFamily="34" charset="-122"/>
                <a:ea typeface="微软雅黑" panose="020B0503020204020204" pitchFamily="34" charset="-122"/>
              </a:rPr>
              <a:t>本章结束</a:t>
            </a:r>
            <a:endParaRPr lang="zh-CN" altLang="en-US" sz="4400" b="1" dirty="0">
              <a:solidFill>
                <a:srgbClr val="004C9E"/>
              </a:solidFill>
              <a:latin typeface="微软雅黑" panose="020B0503020204020204" pitchFamily="34" charset="-122"/>
              <a:ea typeface="微软雅黑" panose="020B0503020204020204" pitchFamily="34" charset="-122"/>
            </a:endParaRPr>
          </a:p>
        </p:txBody>
      </p:sp>
      <p:sp>
        <p:nvSpPr>
          <p:cNvPr id="13" name="图形"/>
          <p:cNvSpPr txBox="1"/>
          <p:nvPr>
            <p:custDataLst>
              <p:tags r:id="rId3"/>
            </p:custDataLst>
          </p:nvPr>
        </p:nvSpPr>
        <p:spPr>
          <a:xfrm>
            <a:off x="4754245" y="4409440"/>
            <a:ext cx="3036570" cy="398780"/>
          </a:xfrm>
          <a:prstGeom prst="rect">
            <a:avLst/>
          </a:prstGeom>
          <a:noFill/>
        </p:spPr>
        <p:txBody>
          <a:bodyPr wrap="square" rtlCol="0" anchor="t">
            <a:spAutoFit/>
          </a:bodyPr>
          <a:lstStyle/>
          <a:p>
            <a:pPr lvl="0" algn="l">
              <a:buClrTx/>
              <a:buSzTx/>
              <a:buFontTx/>
            </a:pPr>
            <a:r>
              <a:rPr lang="zh-CN" sz="2000" b="1" dirty="0" smtClean="0">
                <a:solidFill>
                  <a:schemeClr val="tx1">
                    <a:lumMod val="85000"/>
                    <a:lumOff val="15000"/>
                  </a:schemeClr>
                </a:solidFill>
                <a:latin typeface="Arial" panose="020B0604020202020204" pitchFamily="34" charset="0"/>
                <a:ea typeface="微软雅黑" panose="020B0503020204020204" pitchFamily="34" charset="-122"/>
                <a:cs typeface="包图粗黑体" panose="02000800000000000000" charset="-122"/>
                <a:sym typeface="Arial" panose="020B0604020202020204" pitchFamily="34" charset="0"/>
              </a:rPr>
              <a:t>人民邮电出版社</a:t>
            </a:r>
            <a:r>
              <a:rPr lang="en-US" altLang="zh-CN" sz="2000" b="1" dirty="0" smtClean="0">
                <a:solidFill>
                  <a:schemeClr val="tx1">
                    <a:lumMod val="85000"/>
                    <a:lumOff val="15000"/>
                  </a:schemeClr>
                </a:solidFill>
                <a:latin typeface="Arial" panose="020B0604020202020204" pitchFamily="34" charset="0"/>
                <a:ea typeface="微软雅黑" panose="020B0503020204020204" pitchFamily="34" charset="-122"/>
                <a:cs typeface="包图粗黑体" panose="02000800000000000000" charset="-122"/>
                <a:sym typeface="Arial" panose="020B0604020202020204" pitchFamily="34" charset="0"/>
              </a:rPr>
              <a:t>  </a:t>
            </a:r>
            <a:r>
              <a:rPr lang="zh-CN" altLang="en-US" sz="2000" b="1" dirty="0" smtClean="0">
                <a:solidFill>
                  <a:schemeClr val="tx1">
                    <a:lumMod val="85000"/>
                    <a:lumOff val="15000"/>
                  </a:schemeClr>
                </a:solidFill>
                <a:latin typeface="Arial" panose="020B0604020202020204" pitchFamily="34" charset="0"/>
                <a:ea typeface="微软雅黑" panose="020B0503020204020204" pitchFamily="34" charset="-122"/>
                <a:cs typeface="包图粗黑体" panose="02000800000000000000" charset="-122"/>
                <a:sym typeface="Arial" panose="020B0604020202020204" pitchFamily="34" charset="0"/>
              </a:rPr>
              <a:t>第一版</a:t>
            </a:r>
            <a:endParaRPr lang="zh-CN" altLang="en-US" sz="2000" b="1" dirty="0" smtClean="0">
              <a:solidFill>
                <a:schemeClr val="tx1">
                  <a:lumMod val="85000"/>
                  <a:lumOff val="15000"/>
                </a:schemeClr>
              </a:solidFill>
              <a:latin typeface="Arial" panose="020B0604020202020204" pitchFamily="34" charset="0"/>
              <a:ea typeface="微软雅黑" panose="020B0503020204020204" pitchFamily="34" charset="-122"/>
              <a:cs typeface="包图粗黑体" panose="02000800000000000000" charset="-122"/>
              <a:sym typeface="Arial" panose="020B0604020202020204" pitchFamily="34" charset="0"/>
            </a:endParaRPr>
          </a:p>
        </p:txBody>
      </p:sp>
      <p:sp>
        <p:nvSpPr>
          <p:cNvPr id="16" name="图形"/>
          <p:cNvSpPr/>
          <p:nvPr>
            <p:custDataLst>
              <p:tags r:id="rId4"/>
            </p:custDataLst>
          </p:nvPr>
        </p:nvSpPr>
        <p:spPr>
          <a:xfrm>
            <a:off x="4008561" y="4330755"/>
            <a:ext cx="510566" cy="510566"/>
          </a:xfrm>
          <a:prstGeom prst="ellipse">
            <a:avLst/>
          </a:prstGeom>
          <a:solidFill>
            <a:srgbClr val="004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a:gsLst>
                  <a:gs pos="0">
                    <a:srgbClr val="FFEBC4"/>
                  </a:gs>
                  <a:gs pos="100000">
                    <a:srgbClr val="FEDA90"/>
                  </a:gs>
                </a:gsLst>
                <a:lin ang="2700000" scaled="0"/>
              </a:gra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p:txBody>
      </p:sp>
      <p:grpSp>
        <p:nvGrpSpPr>
          <p:cNvPr id="17" name="组合 16"/>
          <p:cNvGrpSpPr/>
          <p:nvPr/>
        </p:nvGrpSpPr>
        <p:grpSpPr>
          <a:xfrm>
            <a:off x="4087254" y="4457312"/>
            <a:ext cx="351985" cy="257452"/>
            <a:chOff x="2751138" y="4071938"/>
            <a:chExt cx="1558925" cy="1158875"/>
          </a:xfrm>
          <a:solidFill>
            <a:srgbClr val="0A0301"/>
          </a:solidFill>
        </p:grpSpPr>
        <p:sp>
          <p:nvSpPr>
            <p:cNvPr id="18" name="图形"/>
            <p:cNvSpPr/>
            <p:nvPr>
              <p:custDataLst>
                <p:tags r:id="rId5"/>
              </p:custDataLst>
            </p:nvPr>
          </p:nvSpPr>
          <p:spPr bwMode="auto">
            <a:xfrm>
              <a:off x="3770313" y="4562475"/>
              <a:ext cx="539750" cy="477838"/>
            </a:xfrm>
            <a:custGeom>
              <a:avLst/>
              <a:gdLst>
                <a:gd name="T0" fmla="*/ 255 w 340"/>
                <a:gd name="T1" fmla="*/ 0 h 301"/>
                <a:gd name="T2" fmla="*/ 136 w 340"/>
                <a:gd name="T3" fmla="*/ 99 h 301"/>
                <a:gd name="T4" fmla="*/ 28 w 340"/>
                <a:gd name="T5" fmla="*/ 8 h 301"/>
                <a:gd name="T6" fmla="*/ 28 w 340"/>
                <a:gd name="T7" fmla="*/ 8 h 301"/>
                <a:gd name="T8" fmla="*/ 14 w 340"/>
                <a:gd name="T9" fmla="*/ 31 h 301"/>
                <a:gd name="T10" fmla="*/ 0 w 340"/>
                <a:gd name="T11" fmla="*/ 50 h 301"/>
                <a:gd name="T12" fmla="*/ 0 w 340"/>
                <a:gd name="T13" fmla="*/ 50 h 301"/>
                <a:gd name="T14" fmla="*/ 24 w 340"/>
                <a:gd name="T15" fmla="*/ 70 h 301"/>
                <a:gd name="T16" fmla="*/ 47 w 340"/>
                <a:gd name="T17" fmla="*/ 95 h 301"/>
                <a:gd name="T18" fmla="*/ 68 w 340"/>
                <a:gd name="T19" fmla="*/ 122 h 301"/>
                <a:gd name="T20" fmla="*/ 84 w 340"/>
                <a:gd name="T21" fmla="*/ 149 h 301"/>
                <a:gd name="T22" fmla="*/ 99 w 340"/>
                <a:gd name="T23" fmla="*/ 180 h 301"/>
                <a:gd name="T24" fmla="*/ 109 w 340"/>
                <a:gd name="T25" fmla="*/ 213 h 301"/>
                <a:gd name="T26" fmla="*/ 115 w 340"/>
                <a:gd name="T27" fmla="*/ 248 h 301"/>
                <a:gd name="T28" fmla="*/ 117 w 340"/>
                <a:gd name="T29" fmla="*/ 283 h 301"/>
                <a:gd name="T30" fmla="*/ 117 w 340"/>
                <a:gd name="T31" fmla="*/ 283 h 301"/>
                <a:gd name="T32" fmla="*/ 115 w 340"/>
                <a:gd name="T33" fmla="*/ 301 h 301"/>
                <a:gd name="T34" fmla="*/ 115 w 340"/>
                <a:gd name="T35" fmla="*/ 301 h 301"/>
                <a:gd name="T36" fmla="*/ 136 w 340"/>
                <a:gd name="T37" fmla="*/ 301 h 301"/>
                <a:gd name="T38" fmla="*/ 136 w 340"/>
                <a:gd name="T39" fmla="*/ 301 h 301"/>
                <a:gd name="T40" fmla="*/ 167 w 340"/>
                <a:gd name="T41" fmla="*/ 299 h 301"/>
                <a:gd name="T42" fmla="*/ 200 w 340"/>
                <a:gd name="T43" fmla="*/ 293 h 301"/>
                <a:gd name="T44" fmla="*/ 233 w 340"/>
                <a:gd name="T45" fmla="*/ 285 h 301"/>
                <a:gd name="T46" fmla="*/ 266 w 340"/>
                <a:gd name="T47" fmla="*/ 270 h 301"/>
                <a:gd name="T48" fmla="*/ 282 w 340"/>
                <a:gd name="T49" fmla="*/ 262 h 301"/>
                <a:gd name="T50" fmla="*/ 295 w 340"/>
                <a:gd name="T51" fmla="*/ 252 h 301"/>
                <a:gd name="T52" fmla="*/ 307 w 340"/>
                <a:gd name="T53" fmla="*/ 242 h 301"/>
                <a:gd name="T54" fmla="*/ 319 w 340"/>
                <a:gd name="T55" fmla="*/ 229 h 301"/>
                <a:gd name="T56" fmla="*/ 328 w 340"/>
                <a:gd name="T57" fmla="*/ 217 h 301"/>
                <a:gd name="T58" fmla="*/ 334 w 340"/>
                <a:gd name="T59" fmla="*/ 204 h 301"/>
                <a:gd name="T60" fmla="*/ 338 w 340"/>
                <a:gd name="T61" fmla="*/ 190 h 301"/>
                <a:gd name="T62" fmla="*/ 340 w 340"/>
                <a:gd name="T63" fmla="*/ 176 h 301"/>
                <a:gd name="T64" fmla="*/ 340 w 340"/>
                <a:gd name="T65" fmla="*/ 176 h 301"/>
                <a:gd name="T66" fmla="*/ 338 w 340"/>
                <a:gd name="T67" fmla="*/ 149 h 301"/>
                <a:gd name="T68" fmla="*/ 334 w 340"/>
                <a:gd name="T69" fmla="*/ 122 h 301"/>
                <a:gd name="T70" fmla="*/ 328 w 340"/>
                <a:gd name="T71" fmla="*/ 97 h 301"/>
                <a:gd name="T72" fmla="*/ 317 w 340"/>
                <a:gd name="T73" fmla="*/ 74 h 301"/>
                <a:gd name="T74" fmla="*/ 305 w 340"/>
                <a:gd name="T75" fmla="*/ 54 h 301"/>
                <a:gd name="T76" fmla="*/ 290 w 340"/>
                <a:gd name="T77" fmla="*/ 33 h 301"/>
                <a:gd name="T78" fmla="*/ 274 w 340"/>
                <a:gd name="T79" fmla="*/ 15 h 301"/>
                <a:gd name="T80" fmla="*/ 255 w 340"/>
                <a:gd name="T81" fmla="*/ 0 h 301"/>
                <a:gd name="T82" fmla="*/ 255 w 340"/>
                <a:gd name="T83" fmla="*/ 0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40" h="301">
                  <a:moveTo>
                    <a:pt x="255" y="0"/>
                  </a:moveTo>
                  <a:lnTo>
                    <a:pt x="136" y="99"/>
                  </a:lnTo>
                  <a:lnTo>
                    <a:pt x="28" y="8"/>
                  </a:lnTo>
                  <a:lnTo>
                    <a:pt x="28" y="8"/>
                  </a:lnTo>
                  <a:lnTo>
                    <a:pt x="14" y="31"/>
                  </a:lnTo>
                  <a:lnTo>
                    <a:pt x="0" y="50"/>
                  </a:lnTo>
                  <a:lnTo>
                    <a:pt x="0" y="50"/>
                  </a:lnTo>
                  <a:lnTo>
                    <a:pt x="24" y="70"/>
                  </a:lnTo>
                  <a:lnTo>
                    <a:pt x="47" y="95"/>
                  </a:lnTo>
                  <a:lnTo>
                    <a:pt x="68" y="122"/>
                  </a:lnTo>
                  <a:lnTo>
                    <a:pt x="84" y="149"/>
                  </a:lnTo>
                  <a:lnTo>
                    <a:pt x="99" y="180"/>
                  </a:lnTo>
                  <a:lnTo>
                    <a:pt x="109" y="213"/>
                  </a:lnTo>
                  <a:lnTo>
                    <a:pt x="115" y="248"/>
                  </a:lnTo>
                  <a:lnTo>
                    <a:pt x="117" y="283"/>
                  </a:lnTo>
                  <a:lnTo>
                    <a:pt x="117" y="283"/>
                  </a:lnTo>
                  <a:lnTo>
                    <a:pt x="115" y="301"/>
                  </a:lnTo>
                  <a:lnTo>
                    <a:pt x="115" y="301"/>
                  </a:lnTo>
                  <a:lnTo>
                    <a:pt x="136" y="301"/>
                  </a:lnTo>
                  <a:lnTo>
                    <a:pt x="136" y="301"/>
                  </a:lnTo>
                  <a:lnTo>
                    <a:pt x="167" y="299"/>
                  </a:lnTo>
                  <a:lnTo>
                    <a:pt x="200" y="293"/>
                  </a:lnTo>
                  <a:lnTo>
                    <a:pt x="233" y="285"/>
                  </a:lnTo>
                  <a:lnTo>
                    <a:pt x="266" y="270"/>
                  </a:lnTo>
                  <a:lnTo>
                    <a:pt x="282" y="262"/>
                  </a:lnTo>
                  <a:lnTo>
                    <a:pt x="295" y="252"/>
                  </a:lnTo>
                  <a:lnTo>
                    <a:pt x="307" y="242"/>
                  </a:lnTo>
                  <a:lnTo>
                    <a:pt x="319" y="229"/>
                  </a:lnTo>
                  <a:lnTo>
                    <a:pt x="328" y="217"/>
                  </a:lnTo>
                  <a:lnTo>
                    <a:pt x="334" y="204"/>
                  </a:lnTo>
                  <a:lnTo>
                    <a:pt x="338" y="190"/>
                  </a:lnTo>
                  <a:lnTo>
                    <a:pt x="340" y="176"/>
                  </a:lnTo>
                  <a:lnTo>
                    <a:pt x="340" y="176"/>
                  </a:lnTo>
                  <a:lnTo>
                    <a:pt x="338" y="149"/>
                  </a:lnTo>
                  <a:lnTo>
                    <a:pt x="334" y="122"/>
                  </a:lnTo>
                  <a:lnTo>
                    <a:pt x="328" y="97"/>
                  </a:lnTo>
                  <a:lnTo>
                    <a:pt x="317" y="74"/>
                  </a:lnTo>
                  <a:lnTo>
                    <a:pt x="305" y="54"/>
                  </a:lnTo>
                  <a:lnTo>
                    <a:pt x="290" y="33"/>
                  </a:lnTo>
                  <a:lnTo>
                    <a:pt x="274" y="15"/>
                  </a:lnTo>
                  <a:lnTo>
                    <a:pt x="255" y="0"/>
                  </a:lnTo>
                  <a:lnTo>
                    <a:pt x="255" y="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gradFill>
                  <a:gsLst>
                    <a:gs pos="0">
                      <a:srgbClr val="FFEBC4"/>
                    </a:gs>
                    <a:gs pos="100000">
                      <a:srgbClr val="FEDA90"/>
                    </a:gs>
                  </a:gsLst>
                  <a:lin ang="2700000" scaled="0"/>
                </a:gra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p:txBody>
        </p:sp>
        <p:sp>
          <p:nvSpPr>
            <p:cNvPr id="19" name="图形"/>
            <p:cNvSpPr/>
            <p:nvPr>
              <p:custDataLst>
                <p:tags r:id="rId6"/>
              </p:custDataLst>
            </p:nvPr>
          </p:nvSpPr>
          <p:spPr bwMode="auto">
            <a:xfrm>
              <a:off x="3773488" y="4071938"/>
              <a:ext cx="441325" cy="450850"/>
            </a:xfrm>
            <a:custGeom>
              <a:avLst/>
              <a:gdLst>
                <a:gd name="T0" fmla="*/ 49 w 278"/>
                <a:gd name="T1" fmla="*/ 225 h 284"/>
                <a:gd name="T2" fmla="*/ 49 w 278"/>
                <a:gd name="T3" fmla="*/ 225 h 284"/>
                <a:gd name="T4" fmla="*/ 49 w 278"/>
                <a:gd name="T5" fmla="*/ 239 h 284"/>
                <a:gd name="T6" fmla="*/ 47 w 278"/>
                <a:gd name="T7" fmla="*/ 255 h 284"/>
                <a:gd name="T8" fmla="*/ 47 w 278"/>
                <a:gd name="T9" fmla="*/ 255 h 284"/>
                <a:gd name="T10" fmla="*/ 66 w 278"/>
                <a:gd name="T11" fmla="*/ 268 h 284"/>
                <a:gd name="T12" fmla="*/ 88 w 278"/>
                <a:gd name="T13" fmla="*/ 276 h 284"/>
                <a:gd name="T14" fmla="*/ 111 w 278"/>
                <a:gd name="T15" fmla="*/ 282 h 284"/>
                <a:gd name="T16" fmla="*/ 134 w 278"/>
                <a:gd name="T17" fmla="*/ 284 h 284"/>
                <a:gd name="T18" fmla="*/ 134 w 278"/>
                <a:gd name="T19" fmla="*/ 284 h 284"/>
                <a:gd name="T20" fmla="*/ 148 w 278"/>
                <a:gd name="T21" fmla="*/ 284 h 284"/>
                <a:gd name="T22" fmla="*/ 163 w 278"/>
                <a:gd name="T23" fmla="*/ 282 h 284"/>
                <a:gd name="T24" fmla="*/ 177 w 278"/>
                <a:gd name="T25" fmla="*/ 278 h 284"/>
                <a:gd name="T26" fmla="*/ 189 w 278"/>
                <a:gd name="T27" fmla="*/ 274 h 284"/>
                <a:gd name="T28" fmla="*/ 202 w 278"/>
                <a:gd name="T29" fmla="*/ 268 h 284"/>
                <a:gd name="T30" fmla="*/ 214 w 278"/>
                <a:gd name="T31" fmla="*/ 260 h 284"/>
                <a:gd name="T32" fmla="*/ 224 w 278"/>
                <a:gd name="T33" fmla="*/ 251 h 284"/>
                <a:gd name="T34" fmla="*/ 235 w 278"/>
                <a:gd name="T35" fmla="*/ 243 h 284"/>
                <a:gd name="T36" fmla="*/ 245 w 278"/>
                <a:gd name="T37" fmla="*/ 233 h 284"/>
                <a:gd name="T38" fmla="*/ 253 w 278"/>
                <a:gd name="T39" fmla="*/ 222 h 284"/>
                <a:gd name="T40" fmla="*/ 260 w 278"/>
                <a:gd name="T41" fmla="*/ 210 h 284"/>
                <a:gd name="T42" fmla="*/ 266 w 278"/>
                <a:gd name="T43" fmla="*/ 198 h 284"/>
                <a:gd name="T44" fmla="*/ 272 w 278"/>
                <a:gd name="T45" fmla="*/ 185 h 284"/>
                <a:gd name="T46" fmla="*/ 274 w 278"/>
                <a:gd name="T47" fmla="*/ 171 h 284"/>
                <a:gd name="T48" fmla="*/ 276 w 278"/>
                <a:gd name="T49" fmla="*/ 156 h 284"/>
                <a:gd name="T50" fmla="*/ 278 w 278"/>
                <a:gd name="T51" fmla="*/ 142 h 284"/>
                <a:gd name="T52" fmla="*/ 278 w 278"/>
                <a:gd name="T53" fmla="*/ 142 h 284"/>
                <a:gd name="T54" fmla="*/ 276 w 278"/>
                <a:gd name="T55" fmla="*/ 128 h 284"/>
                <a:gd name="T56" fmla="*/ 274 w 278"/>
                <a:gd name="T57" fmla="*/ 113 h 284"/>
                <a:gd name="T58" fmla="*/ 272 w 278"/>
                <a:gd name="T59" fmla="*/ 99 h 284"/>
                <a:gd name="T60" fmla="*/ 266 w 278"/>
                <a:gd name="T61" fmla="*/ 86 h 284"/>
                <a:gd name="T62" fmla="*/ 260 w 278"/>
                <a:gd name="T63" fmla="*/ 74 h 284"/>
                <a:gd name="T64" fmla="*/ 253 w 278"/>
                <a:gd name="T65" fmla="*/ 62 h 284"/>
                <a:gd name="T66" fmla="*/ 245 w 278"/>
                <a:gd name="T67" fmla="*/ 51 h 284"/>
                <a:gd name="T68" fmla="*/ 235 w 278"/>
                <a:gd name="T69" fmla="*/ 41 h 284"/>
                <a:gd name="T70" fmla="*/ 224 w 278"/>
                <a:gd name="T71" fmla="*/ 31 h 284"/>
                <a:gd name="T72" fmla="*/ 214 w 278"/>
                <a:gd name="T73" fmla="*/ 22 h 284"/>
                <a:gd name="T74" fmla="*/ 202 w 278"/>
                <a:gd name="T75" fmla="*/ 16 h 284"/>
                <a:gd name="T76" fmla="*/ 189 w 278"/>
                <a:gd name="T77" fmla="*/ 10 h 284"/>
                <a:gd name="T78" fmla="*/ 177 w 278"/>
                <a:gd name="T79" fmla="*/ 6 h 284"/>
                <a:gd name="T80" fmla="*/ 163 w 278"/>
                <a:gd name="T81" fmla="*/ 2 h 284"/>
                <a:gd name="T82" fmla="*/ 148 w 278"/>
                <a:gd name="T83" fmla="*/ 0 h 284"/>
                <a:gd name="T84" fmla="*/ 134 w 278"/>
                <a:gd name="T85" fmla="*/ 0 h 284"/>
                <a:gd name="T86" fmla="*/ 134 w 278"/>
                <a:gd name="T87" fmla="*/ 0 h 284"/>
                <a:gd name="T88" fmla="*/ 111 w 278"/>
                <a:gd name="T89" fmla="*/ 0 h 284"/>
                <a:gd name="T90" fmla="*/ 90 w 278"/>
                <a:gd name="T91" fmla="*/ 6 h 284"/>
                <a:gd name="T92" fmla="*/ 70 w 278"/>
                <a:gd name="T93" fmla="*/ 14 h 284"/>
                <a:gd name="T94" fmla="*/ 51 w 278"/>
                <a:gd name="T95" fmla="*/ 24 h 284"/>
                <a:gd name="T96" fmla="*/ 35 w 278"/>
                <a:gd name="T97" fmla="*/ 39 h 284"/>
                <a:gd name="T98" fmla="*/ 20 w 278"/>
                <a:gd name="T99" fmla="*/ 55 h 284"/>
                <a:gd name="T100" fmla="*/ 10 w 278"/>
                <a:gd name="T101" fmla="*/ 72 h 284"/>
                <a:gd name="T102" fmla="*/ 0 w 278"/>
                <a:gd name="T103" fmla="*/ 92 h 284"/>
                <a:gd name="T104" fmla="*/ 0 w 278"/>
                <a:gd name="T105" fmla="*/ 92 h 284"/>
                <a:gd name="T106" fmla="*/ 12 w 278"/>
                <a:gd name="T107" fmla="*/ 107 h 284"/>
                <a:gd name="T108" fmla="*/ 20 w 278"/>
                <a:gd name="T109" fmla="*/ 121 h 284"/>
                <a:gd name="T110" fmla="*/ 28 w 278"/>
                <a:gd name="T111" fmla="*/ 136 h 284"/>
                <a:gd name="T112" fmla="*/ 37 w 278"/>
                <a:gd name="T113" fmla="*/ 152 h 284"/>
                <a:gd name="T114" fmla="*/ 43 w 278"/>
                <a:gd name="T115" fmla="*/ 169 h 284"/>
                <a:gd name="T116" fmla="*/ 47 w 278"/>
                <a:gd name="T117" fmla="*/ 187 h 284"/>
                <a:gd name="T118" fmla="*/ 49 w 278"/>
                <a:gd name="T119" fmla="*/ 206 h 284"/>
                <a:gd name="T120" fmla="*/ 49 w 278"/>
                <a:gd name="T121" fmla="*/ 225 h 284"/>
                <a:gd name="T122" fmla="*/ 49 w 278"/>
                <a:gd name="T123" fmla="*/ 225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78" h="284">
                  <a:moveTo>
                    <a:pt x="49" y="225"/>
                  </a:moveTo>
                  <a:lnTo>
                    <a:pt x="49" y="225"/>
                  </a:lnTo>
                  <a:lnTo>
                    <a:pt x="49" y="239"/>
                  </a:lnTo>
                  <a:lnTo>
                    <a:pt x="47" y="255"/>
                  </a:lnTo>
                  <a:lnTo>
                    <a:pt x="47" y="255"/>
                  </a:lnTo>
                  <a:lnTo>
                    <a:pt x="66" y="268"/>
                  </a:lnTo>
                  <a:lnTo>
                    <a:pt x="88" y="276"/>
                  </a:lnTo>
                  <a:lnTo>
                    <a:pt x="111" y="282"/>
                  </a:lnTo>
                  <a:lnTo>
                    <a:pt x="134" y="284"/>
                  </a:lnTo>
                  <a:lnTo>
                    <a:pt x="134" y="284"/>
                  </a:lnTo>
                  <a:lnTo>
                    <a:pt x="148" y="284"/>
                  </a:lnTo>
                  <a:lnTo>
                    <a:pt x="163" y="282"/>
                  </a:lnTo>
                  <a:lnTo>
                    <a:pt x="177" y="278"/>
                  </a:lnTo>
                  <a:lnTo>
                    <a:pt x="189" y="274"/>
                  </a:lnTo>
                  <a:lnTo>
                    <a:pt x="202" y="268"/>
                  </a:lnTo>
                  <a:lnTo>
                    <a:pt x="214" y="260"/>
                  </a:lnTo>
                  <a:lnTo>
                    <a:pt x="224" y="251"/>
                  </a:lnTo>
                  <a:lnTo>
                    <a:pt x="235" y="243"/>
                  </a:lnTo>
                  <a:lnTo>
                    <a:pt x="245" y="233"/>
                  </a:lnTo>
                  <a:lnTo>
                    <a:pt x="253" y="222"/>
                  </a:lnTo>
                  <a:lnTo>
                    <a:pt x="260" y="210"/>
                  </a:lnTo>
                  <a:lnTo>
                    <a:pt x="266" y="198"/>
                  </a:lnTo>
                  <a:lnTo>
                    <a:pt x="272" y="185"/>
                  </a:lnTo>
                  <a:lnTo>
                    <a:pt x="274" y="171"/>
                  </a:lnTo>
                  <a:lnTo>
                    <a:pt x="276" y="156"/>
                  </a:lnTo>
                  <a:lnTo>
                    <a:pt x="278" y="142"/>
                  </a:lnTo>
                  <a:lnTo>
                    <a:pt x="278" y="142"/>
                  </a:lnTo>
                  <a:lnTo>
                    <a:pt x="276" y="128"/>
                  </a:lnTo>
                  <a:lnTo>
                    <a:pt x="274" y="113"/>
                  </a:lnTo>
                  <a:lnTo>
                    <a:pt x="272" y="99"/>
                  </a:lnTo>
                  <a:lnTo>
                    <a:pt x="266" y="86"/>
                  </a:lnTo>
                  <a:lnTo>
                    <a:pt x="260" y="74"/>
                  </a:lnTo>
                  <a:lnTo>
                    <a:pt x="253" y="62"/>
                  </a:lnTo>
                  <a:lnTo>
                    <a:pt x="245" y="51"/>
                  </a:lnTo>
                  <a:lnTo>
                    <a:pt x="235" y="41"/>
                  </a:lnTo>
                  <a:lnTo>
                    <a:pt x="224" y="31"/>
                  </a:lnTo>
                  <a:lnTo>
                    <a:pt x="214" y="22"/>
                  </a:lnTo>
                  <a:lnTo>
                    <a:pt x="202" y="16"/>
                  </a:lnTo>
                  <a:lnTo>
                    <a:pt x="189" y="10"/>
                  </a:lnTo>
                  <a:lnTo>
                    <a:pt x="177" y="6"/>
                  </a:lnTo>
                  <a:lnTo>
                    <a:pt x="163" y="2"/>
                  </a:lnTo>
                  <a:lnTo>
                    <a:pt x="148" y="0"/>
                  </a:lnTo>
                  <a:lnTo>
                    <a:pt x="134" y="0"/>
                  </a:lnTo>
                  <a:lnTo>
                    <a:pt x="134" y="0"/>
                  </a:lnTo>
                  <a:lnTo>
                    <a:pt x="111" y="0"/>
                  </a:lnTo>
                  <a:lnTo>
                    <a:pt x="90" y="6"/>
                  </a:lnTo>
                  <a:lnTo>
                    <a:pt x="70" y="14"/>
                  </a:lnTo>
                  <a:lnTo>
                    <a:pt x="51" y="24"/>
                  </a:lnTo>
                  <a:lnTo>
                    <a:pt x="35" y="39"/>
                  </a:lnTo>
                  <a:lnTo>
                    <a:pt x="20" y="55"/>
                  </a:lnTo>
                  <a:lnTo>
                    <a:pt x="10" y="72"/>
                  </a:lnTo>
                  <a:lnTo>
                    <a:pt x="0" y="92"/>
                  </a:lnTo>
                  <a:lnTo>
                    <a:pt x="0" y="92"/>
                  </a:lnTo>
                  <a:lnTo>
                    <a:pt x="12" y="107"/>
                  </a:lnTo>
                  <a:lnTo>
                    <a:pt x="20" y="121"/>
                  </a:lnTo>
                  <a:lnTo>
                    <a:pt x="28" y="136"/>
                  </a:lnTo>
                  <a:lnTo>
                    <a:pt x="37" y="152"/>
                  </a:lnTo>
                  <a:lnTo>
                    <a:pt x="43" y="169"/>
                  </a:lnTo>
                  <a:lnTo>
                    <a:pt x="47" y="187"/>
                  </a:lnTo>
                  <a:lnTo>
                    <a:pt x="49" y="206"/>
                  </a:lnTo>
                  <a:lnTo>
                    <a:pt x="49" y="225"/>
                  </a:lnTo>
                  <a:lnTo>
                    <a:pt x="49" y="225"/>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gradFill>
                  <a:gsLst>
                    <a:gs pos="0">
                      <a:srgbClr val="FFEBC4"/>
                    </a:gs>
                    <a:gs pos="100000">
                      <a:srgbClr val="FEDA90"/>
                    </a:gs>
                  </a:gsLst>
                  <a:lin ang="2700000" scaled="0"/>
                </a:gra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p:txBody>
        </p:sp>
        <p:sp>
          <p:nvSpPr>
            <p:cNvPr id="20" name="图形"/>
            <p:cNvSpPr/>
            <p:nvPr>
              <p:custDataLst>
                <p:tags r:id="rId7"/>
              </p:custDataLst>
            </p:nvPr>
          </p:nvSpPr>
          <p:spPr bwMode="auto">
            <a:xfrm>
              <a:off x="2751138" y="4562475"/>
              <a:ext cx="542925" cy="477838"/>
            </a:xfrm>
            <a:custGeom>
              <a:avLst/>
              <a:gdLst>
                <a:gd name="T0" fmla="*/ 204 w 342"/>
                <a:gd name="T1" fmla="*/ 301 h 301"/>
                <a:gd name="T2" fmla="*/ 204 w 342"/>
                <a:gd name="T3" fmla="*/ 301 h 301"/>
                <a:gd name="T4" fmla="*/ 225 w 342"/>
                <a:gd name="T5" fmla="*/ 301 h 301"/>
                <a:gd name="T6" fmla="*/ 225 w 342"/>
                <a:gd name="T7" fmla="*/ 301 h 301"/>
                <a:gd name="T8" fmla="*/ 225 w 342"/>
                <a:gd name="T9" fmla="*/ 283 h 301"/>
                <a:gd name="T10" fmla="*/ 225 w 342"/>
                <a:gd name="T11" fmla="*/ 283 h 301"/>
                <a:gd name="T12" fmla="*/ 227 w 342"/>
                <a:gd name="T13" fmla="*/ 248 h 301"/>
                <a:gd name="T14" fmla="*/ 233 w 342"/>
                <a:gd name="T15" fmla="*/ 213 h 301"/>
                <a:gd name="T16" fmla="*/ 243 w 342"/>
                <a:gd name="T17" fmla="*/ 180 h 301"/>
                <a:gd name="T18" fmla="*/ 256 w 342"/>
                <a:gd name="T19" fmla="*/ 149 h 301"/>
                <a:gd name="T20" fmla="*/ 272 w 342"/>
                <a:gd name="T21" fmla="*/ 122 h 301"/>
                <a:gd name="T22" fmla="*/ 293 w 342"/>
                <a:gd name="T23" fmla="*/ 95 h 301"/>
                <a:gd name="T24" fmla="*/ 316 w 342"/>
                <a:gd name="T25" fmla="*/ 70 h 301"/>
                <a:gd name="T26" fmla="*/ 342 w 342"/>
                <a:gd name="T27" fmla="*/ 50 h 301"/>
                <a:gd name="T28" fmla="*/ 342 w 342"/>
                <a:gd name="T29" fmla="*/ 50 h 301"/>
                <a:gd name="T30" fmla="*/ 326 w 342"/>
                <a:gd name="T31" fmla="*/ 31 h 301"/>
                <a:gd name="T32" fmla="*/ 313 w 342"/>
                <a:gd name="T33" fmla="*/ 8 h 301"/>
                <a:gd name="T34" fmla="*/ 204 w 342"/>
                <a:gd name="T35" fmla="*/ 99 h 301"/>
                <a:gd name="T36" fmla="*/ 84 w 342"/>
                <a:gd name="T37" fmla="*/ 0 h 301"/>
                <a:gd name="T38" fmla="*/ 84 w 342"/>
                <a:gd name="T39" fmla="*/ 0 h 301"/>
                <a:gd name="T40" fmla="*/ 66 w 342"/>
                <a:gd name="T41" fmla="*/ 15 h 301"/>
                <a:gd name="T42" fmla="*/ 49 w 342"/>
                <a:gd name="T43" fmla="*/ 33 h 301"/>
                <a:gd name="T44" fmla="*/ 35 w 342"/>
                <a:gd name="T45" fmla="*/ 54 h 301"/>
                <a:gd name="T46" fmla="*/ 23 w 342"/>
                <a:gd name="T47" fmla="*/ 74 h 301"/>
                <a:gd name="T48" fmla="*/ 14 w 342"/>
                <a:gd name="T49" fmla="*/ 97 h 301"/>
                <a:gd name="T50" fmla="*/ 6 w 342"/>
                <a:gd name="T51" fmla="*/ 122 h 301"/>
                <a:gd name="T52" fmla="*/ 2 w 342"/>
                <a:gd name="T53" fmla="*/ 149 h 301"/>
                <a:gd name="T54" fmla="*/ 0 w 342"/>
                <a:gd name="T55" fmla="*/ 176 h 301"/>
                <a:gd name="T56" fmla="*/ 0 w 342"/>
                <a:gd name="T57" fmla="*/ 176 h 301"/>
                <a:gd name="T58" fmla="*/ 2 w 342"/>
                <a:gd name="T59" fmla="*/ 190 h 301"/>
                <a:gd name="T60" fmla="*/ 6 w 342"/>
                <a:gd name="T61" fmla="*/ 204 h 301"/>
                <a:gd name="T62" fmla="*/ 12 w 342"/>
                <a:gd name="T63" fmla="*/ 217 h 301"/>
                <a:gd name="T64" fmla="*/ 23 w 342"/>
                <a:gd name="T65" fmla="*/ 229 h 301"/>
                <a:gd name="T66" fmla="*/ 33 w 342"/>
                <a:gd name="T67" fmla="*/ 242 h 301"/>
                <a:gd name="T68" fmla="*/ 45 w 342"/>
                <a:gd name="T69" fmla="*/ 252 h 301"/>
                <a:gd name="T70" fmla="*/ 60 w 342"/>
                <a:gd name="T71" fmla="*/ 262 h 301"/>
                <a:gd name="T72" fmla="*/ 74 w 342"/>
                <a:gd name="T73" fmla="*/ 270 h 301"/>
                <a:gd name="T74" fmla="*/ 107 w 342"/>
                <a:gd name="T75" fmla="*/ 285 h 301"/>
                <a:gd name="T76" fmla="*/ 140 w 342"/>
                <a:gd name="T77" fmla="*/ 293 h 301"/>
                <a:gd name="T78" fmla="*/ 173 w 342"/>
                <a:gd name="T79" fmla="*/ 299 h 301"/>
                <a:gd name="T80" fmla="*/ 204 w 342"/>
                <a:gd name="T81" fmla="*/ 301 h 301"/>
                <a:gd name="T82" fmla="*/ 204 w 342"/>
                <a:gd name="T83" fmla="*/ 301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42" h="301">
                  <a:moveTo>
                    <a:pt x="204" y="301"/>
                  </a:moveTo>
                  <a:lnTo>
                    <a:pt x="204" y="301"/>
                  </a:lnTo>
                  <a:lnTo>
                    <a:pt x="225" y="301"/>
                  </a:lnTo>
                  <a:lnTo>
                    <a:pt x="225" y="301"/>
                  </a:lnTo>
                  <a:lnTo>
                    <a:pt x="225" y="283"/>
                  </a:lnTo>
                  <a:lnTo>
                    <a:pt x="225" y="283"/>
                  </a:lnTo>
                  <a:lnTo>
                    <a:pt x="227" y="248"/>
                  </a:lnTo>
                  <a:lnTo>
                    <a:pt x="233" y="213"/>
                  </a:lnTo>
                  <a:lnTo>
                    <a:pt x="243" y="180"/>
                  </a:lnTo>
                  <a:lnTo>
                    <a:pt x="256" y="149"/>
                  </a:lnTo>
                  <a:lnTo>
                    <a:pt x="272" y="122"/>
                  </a:lnTo>
                  <a:lnTo>
                    <a:pt x="293" y="95"/>
                  </a:lnTo>
                  <a:lnTo>
                    <a:pt x="316" y="70"/>
                  </a:lnTo>
                  <a:lnTo>
                    <a:pt x="342" y="50"/>
                  </a:lnTo>
                  <a:lnTo>
                    <a:pt x="342" y="50"/>
                  </a:lnTo>
                  <a:lnTo>
                    <a:pt x="326" y="31"/>
                  </a:lnTo>
                  <a:lnTo>
                    <a:pt x="313" y="8"/>
                  </a:lnTo>
                  <a:lnTo>
                    <a:pt x="204" y="99"/>
                  </a:lnTo>
                  <a:lnTo>
                    <a:pt x="84" y="0"/>
                  </a:lnTo>
                  <a:lnTo>
                    <a:pt x="84" y="0"/>
                  </a:lnTo>
                  <a:lnTo>
                    <a:pt x="66" y="15"/>
                  </a:lnTo>
                  <a:lnTo>
                    <a:pt x="49" y="33"/>
                  </a:lnTo>
                  <a:lnTo>
                    <a:pt x="35" y="54"/>
                  </a:lnTo>
                  <a:lnTo>
                    <a:pt x="23" y="74"/>
                  </a:lnTo>
                  <a:lnTo>
                    <a:pt x="14" y="97"/>
                  </a:lnTo>
                  <a:lnTo>
                    <a:pt x="6" y="122"/>
                  </a:lnTo>
                  <a:lnTo>
                    <a:pt x="2" y="149"/>
                  </a:lnTo>
                  <a:lnTo>
                    <a:pt x="0" y="176"/>
                  </a:lnTo>
                  <a:lnTo>
                    <a:pt x="0" y="176"/>
                  </a:lnTo>
                  <a:lnTo>
                    <a:pt x="2" y="190"/>
                  </a:lnTo>
                  <a:lnTo>
                    <a:pt x="6" y="204"/>
                  </a:lnTo>
                  <a:lnTo>
                    <a:pt x="12" y="217"/>
                  </a:lnTo>
                  <a:lnTo>
                    <a:pt x="23" y="229"/>
                  </a:lnTo>
                  <a:lnTo>
                    <a:pt x="33" y="242"/>
                  </a:lnTo>
                  <a:lnTo>
                    <a:pt x="45" y="252"/>
                  </a:lnTo>
                  <a:lnTo>
                    <a:pt x="60" y="262"/>
                  </a:lnTo>
                  <a:lnTo>
                    <a:pt x="74" y="270"/>
                  </a:lnTo>
                  <a:lnTo>
                    <a:pt x="107" y="285"/>
                  </a:lnTo>
                  <a:lnTo>
                    <a:pt x="140" y="293"/>
                  </a:lnTo>
                  <a:lnTo>
                    <a:pt x="173" y="299"/>
                  </a:lnTo>
                  <a:lnTo>
                    <a:pt x="204" y="301"/>
                  </a:lnTo>
                  <a:lnTo>
                    <a:pt x="204" y="301"/>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gradFill>
                  <a:gsLst>
                    <a:gs pos="0">
                      <a:srgbClr val="FFEBC4"/>
                    </a:gs>
                    <a:gs pos="100000">
                      <a:srgbClr val="FEDA90"/>
                    </a:gs>
                  </a:gsLst>
                  <a:lin ang="2700000" scaled="0"/>
                </a:gra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p:txBody>
        </p:sp>
        <p:sp>
          <p:nvSpPr>
            <p:cNvPr id="21" name="图形"/>
            <p:cNvSpPr/>
            <p:nvPr>
              <p:custDataLst>
                <p:tags r:id="rId8"/>
              </p:custDataLst>
            </p:nvPr>
          </p:nvSpPr>
          <p:spPr bwMode="auto">
            <a:xfrm>
              <a:off x="2849563" y="4071938"/>
              <a:ext cx="438150" cy="450850"/>
            </a:xfrm>
            <a:custGeom>
              <a:avLst/>
              <a:gdLst>
                <a:gd name="T0" fmla="*/ 142 w 276"/>
                <a:gd name="T1" fmla="*/ 284 h 284"/>
                <a:gd name="T2" fmla="*/ 142 w 276"/>
                <a:gd name="T3" fmla="*/ 284 h 284"/>
                <a:gd name="T4" fmla="*/ 167 w 276"/>
                <a:gd name="T5" fmla="*/ 282 h 284"/>
                <a:gd name="T6" fmla="*/ 190 w 276"/>
                <a:gd name="T7" fmla="*/ 276 h 284"/>
                <a:gd name="T8" fmla="*/ 210 w 276"/>
                <a:gd name="T9" fmla="*/ 268 h 284"/>
                <a:gd name="T10" fmla="*/ 229 w 276"/>
                <a:gd name="T11" fmla="*/ 255 h 284"/>
                <a:gd name="T12" fmla="*/ 229 w 276"/>
                <a:gd name="T13" fmla="*/ 255 h 284"/>
                <a:gd name="T14" fmla="*/ 229 w 276"/>
                <a:gd name="T15" fmla="*/ 239 h 284"/>
                <a:gd name="T16" fmla="*/ 227 w 276"/>
                <a:gd name="T17" fmla="*/ 225 h 284"/>
                <a:gd name="T18" fmla="*/ 227 w 276"/>
                <a:gd name="T19" fmla="*/ 225 h 284"/>
                <a:gd name="T20" fmla="*/ 229 w 276"/>
                <a:gd name="T21" fmla="*/ 206 h 284"/>
                <a:gd name="T22" fmla="*/ 231 w 276"/>
                <a:gd name="T23" fmla="*/ 187 h 284"/>
                <a:gd name="T24" fmla="*/ 235 w 276"/>
                <a:gd name="T25" fmla="*/ 169 h 284"/>
                <a:gd name="T26" fmla="*/ 241 w 276"/>
                <a:gd name="T27" fmla="*/ 152 h 284"/>
                <a:gd name="T28" fmla="*/ 247 w 276"/>
                <a:gd name="T29" fmla="*/ 136 h 284"/>
                <a:gd name="T30" fmla="*/ 256 w 276"/>
                <a:gd name="T31" fmla="*/ 121 h 284"/>
                <a:gd name="T32" fmla="*/ 266 w 276"/>
                <a:gd name="T33" fmla="*/ 107 h 284"/>
                <a:gd name="T34" fmla="*/ 276 w 276"/>
                <a:gd name="T35" fmla="*/ 92 h 284"/>
                <a:gd name="T36" fmla="*/ 276 w 276"/>
                <a:gd name="T37" fmla="*/ 92 h 284"/>
                <a:gd name="T38" fmla="*/ 268 w 276"/>
                <a:gd name="T39" fmla="*/ 72 h 284"/>
                <a:gd name="T40" fmla="*/ 256 w 276"/>
                <a:gd name="T41" fmla="*/ 55 h 284"/>
                <a:gd name="T42" fmla="*/ 241 w 276"/>
                <a:gd name="T43" fmla="*/ 39 h 284"/>
                <a:gd name="T44" fmla="*/ 225 w 276"/>
                <a:gd name="T45" fmla="*/ 24 h 284"/>
                <a:gd name="T46" fmla="*/ 206 w 276"/>
                <a:gd name="T47" fmla="*/ 14 h 284"/>
                <a:gd name="T48" fmla="*/ 185 w 276"/>
                <a:gd name="T49" fmla="*/ 6 h 284"/>
                <a:gd name="T50" fmla="*/ 165 w 276"/>
                <a:gd name="T51" fmla="*/ 0 h 284"/>
                <a:gd name="T52" fmla="*/ 142 w 276"/>
                <a:gd name="T53" fmla="*/ 0 h 284"/>
                <a:gd name="T54" fmla="*/ 142 w 276"/>
                <a:gd name="T55" fmla="*/ 0 h 284"/>
                <a:gd name="T56" fmla="*/ 128 w 276"/>
                <a:gd name="T57" fmla="*/ 0 h 284"/>
                <a:gd name="T58" fmla="*/ 113 w 276"/>
                <a:gd name="T59" fmla="*/ 2 h 284"/>
                <a:gd name="T60" fmla="*/ 99 w 276"/>
                <a:gd name="T61" fmla="*/ 6 h 284"/>
                <a:gd name="T62" fmla="*/ 86 w 276"/>
                <a:gd name="T63" fmla="*/ 10 h 284"/>
                <a:gd name="T64" fmla="*/ 74 w 276"/>
                <a:gd name="T65" fmla="*/ 16 h 284"/>
                <a:gd name="T66" fmla="*/ 62 w 276"/>
                <a:gd name="T67" fmla="*/ 22 h 284"/>
                <a:gd name="T68" fmla="*/ 51 w 276"/>
                <a:gd name="T69" fmla="*/ 31 h 284"/>
                <a:gd name="T70" fmla="*/ 41 w 276"/>
                <a:gd name="T71" fmla="*/ 41 h 284"/>
                <a:gd name="T72" fmla="*/ 31 w 276"/>
                <a:gd name="T73" fmla="*/ 51 h 284"/>
                <a:gd name="T74" fmla="*/ 22 w 276"/>
                <a:gd name="T75" fmla="*/ 62 h 284"/>
                <a:gd name="T76" fmla="*/ 16 w 276"/>
                <a:gd name="T77" fmla="*/ 74 h 284"/>
                <a:gd name="T78" fmla="*/ 10 w 276"/>
                <a:gd name="T79" fmla="*/ 86 h 284"/>
                <a:gd name="T80" fmla="*/ 6 w 276"/>
                <a:gd name="T81" fmla="*/ 99 h 284"/>
                <a:gd name="T82" fmla="*/ 2 w 276"/>
                <a:gd name="T83" fmla="*/ 113 h 284"/>
                <a:gd name="T84" fmla="*/ 0 w 276"/>
                <a:gd name="T85" fmla="*/ 128 h 284"/>
                <a:gd name="T86" fmla="*/ 0 w 276"/>
                <a:gd name="T87" fmla="*/ 142 h 284"/>
                <a:gd name="T88" fmla="*/ 0 w 276"/>
                <a:gd name="T89" fmla="*/ 142 h 284"/>
                <a:gd name="T90" fmla="*/ 0 w 276"/>
                <a:gd name="T91" fmla="*/ 156 h 284"/>
                <a:gd name="T92" fmla="*/ 2 w 276"/>
                <a:gd name="T93" fmla="*/ 171 h 284"/>
                <a:gd name="T94" fmla="*/ 6 w 276"/>
                <a:gd name="T95" fmla="*/ 185 h 284"/>
                <a:gd name="T96" fmla="*/ 10 w 276"/>
                <a:gd name="T97" fmla="*/ 198 h 284"/>
                <a:gd name="T98" fmla="*/ 16 w 276"/>
                <a:gd name="T99" fmla="*/ 210 h 284"/>
                <a:gd name="T100" fmla="*/ 22 w 276"/>
                <a:gd name="T101" fmla="*/ 222 h 284"/>
                <a:gd name="T102" fmla="*/ 31 w 276"/>
                <a:gd name="T103" fmla="*/ 233 h 284"/>
                <a:gd name="T104" fmla="*/ 41 w 276"/>
                <a:gd name="T105" fmla="*/ 243 h 284"/>
                <a:gd name="T106" fmla="*/ 51 w 276"/>
                <a:gd name="T107" fmla="*/ 251 h 284"/>
                <a:gd name="T108" fmla="*/ 62 w 276"/>
                <a:gd name="T109" fmla="*/ 260 h 284"/>
                <a:gd name="T110" fmla="*/ 74 w 276"/>
                <a:gd name="T111" fmla="*/ 268 h 284"/>
                <a:gd name="T112" fmla="*/ 86 w 276"/>
                <a:gd name="T113" fmla="*/ 274 h 284"/>
                <a:gd name="T114" fmla="*/ 99 w 276"/>
                <a:gd name="T115" fmla="*/ 278 h 284"/>
                <a:gd name="T116" fmla="*/ 113 w 276"/>
                <a:gd name="T117" fmla="*/ 282 h 284"/>
                <a:gd name="T118" fmla="*/ 128 w 276"/>
                <a:gd name="T119" fmla="*/ 284 h 284"/>
                <a:gd name="T120" fmla="*/ 142 w 276"/>
                <a:gd name="T121" fmla="*/ 284 h 284"/>
                <a:gd name="T122" fmla="*/ 142 w 276"/>
                <a:gd name="T1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76" h="284">
                  <a:moveTo>
                    <a:pt x="142" y="284"/>
                  </a:moveTo>
                  <a:lnTo>
                    <a:pt x="142" y="284"/>
                  </a:lnTo>
                  <a:lnTo>
                    <a:pt x="167" y="282"/>
                  </a:lnTo>
                  <a:lnTo>
                    <a:pt x="190" y="276"/>
                  </a:lnTo>
                  <a:lnTo>
                    <a:pt x="210" y="268"/>
                  </a:lnTo>
                  <a:lnTo>
                    <a:pt x="229" y="255"/>
                  </a:lnTo>
                  <a:lnTo>
                    <a:pt x="229" y="255"/>
                  </a:lnTo>
                  <a:lnTo>
                    <a:pt x="229" y="239"/>
                  </a:lnTo>
                  <a:lnTo>
                    <a:pt x="227" y="225"/>
                  </a:lnTo>
                  <a:lnTo>
                    <a:pt x="227" y="225"/>
                  </a:lnTo>
                  <a:lnTo>
                    <a:pt x="229" y="206"/>
                  </a:lnTo>
                  <a:lnTo>
                    <a:pt x="231" y="187"/>
                  </a:lnTo>
                  <a:lnTo>
                    <a:pt x="235" y="169"/>
                  </a:lnTo>
                  <a:lnTo>
                    <a:pt x="241" y="152"/>
                  </a:lnTo>
                  <a:lnTo>
                    <a:pt x="247" y="136"/>
                  </a:lnTo>
                  <a:lnTo>
                    <a:pt x="256" y="121"/>
                  </a:lnTo>
                  <a:lnTo>
                    <a:pt x="266" y="107"/>
                  </a:lnTo>
                  <a:lnTo>
                    <a:pt x="276" y="92"/>
                  </a:lnTo>
                  <a:lnTo>
                    <a:pt x="276" y="92"/>
                  </a:lnTo>
                  <a:lnTo>
                    <a:pt x="268" y="72"/>
                  </a:lnTo>
                  <a:lnTo>
                    <a:pt x="256" y="55"/>
                  </a:lnTo>
                  <a:lnTo>
                    <a:pt x="241" y="39"/>
                  </a:lnTo>
                  <a:lnTo>
                    <a:pt x="225" y="24"/>
                  </a:lnTo>
                  <a:lnTo>
                    <a:pt x="206" y="14"/>
                  </a:lnTo>
                  <a:lnTo>
                    <a:pt x="185" y="6"/>
                  </a:lnTo>
                  <a:lnTo>
                    <a:pt x="165" y="0"/>
                  </a:lnTo>
                  <a:lnTo>
                    <a:pt x="142" y="0"/>
                  </a:lnTo>
                  <a:lnTo>
                    <a:pt x="142" y="0"/>
                  </a:lnTo>
                  <a:lnTo>
                    <a:pt x="128" y="0"/>
                  </a:lnTo>
                  <a:lnTo>
                    <a:pt x="113" y="2"/>
                  </a:lnTo>
                  <a:lnTo>
                    <a:pt x="99" y="6"/>
                  </a:lnTo>
                  <a:lnTo>
                    <a:pt x="86" y="10"/>
                  </a:lnTo>
                  <a:lnTo>
                    <a:pt x="74" y="16"/>
                  </a:lnTo>
                  <a:lnTo>
                    <a:pt x="62" y="22"/>
                  </a:lnTo>
                  <a:lnTo>
                    <a:pt x="51" y="31"/>
                  </a:lnTo>
                  <a:lnTo>
                    <a:pt x="41" y="41"/>
                  </a:lnTo>
                  <a:lnTo>
                    <a:pt x="31" y="51"/>
                  </a:lnTo>
                  <a:lnTo>
                    <a:pt x="22" y="62"/>
                  </a:lnTo>
                  <a:lnTo>
                    <a:pt x="16" y="74"/>
                  </a:lnTo>
                  <a:lnTo>
                    <a:pt x="10" y="86"/>
                  </a:lnTo>
                  <a:lnTo>
                    <a:pt x="6" y="99"/>
                  </a:lnTo>
                  <a:lnTo>
                    <a:pt x="2" y="113"/>
                  </a:lnTo>
                  <a:lnTo>
                    <a:pt x="0" y="128"/>
                  </a:lnTo>
                  <a:lnTo>
                    <a:pt x="0" y="142"/>
                  </a:lnTo>
                  <a:lnTo>
                    <a:pt x="0" y="142"/>
                  </a:lnTo>
                  <a:lnTo>
                    <a:pt x="0" y="156"/>
                  </a:lnTo>
                  <a:lnTo>
                    <a:pt x="2" y="171"/>
                  </a:lnTo>
                  <a:lnTo>
                    <a:pt x="6" y="185"/>
                  </a:lnTo>
                  <a:lnTo>
                    <a:pt x="10" y="198"/>
                  </a:lnTo>
                  <a:lnTo>
                    <a:pt x="16" y="210"/>
                  </a:lnTo>
                  <a:lnTo>
                    <a:pt x="22" y="222"/>
                  </a:lnTo>
                  <a:lnTo>
                    <a:pt x="31" y="233"/>
                  </a:lnTo>
                  <a:lnTo>
                    <a:pt x="41" y="243"/>
                  </a:lnTo>
                  <a:lnTo>
                    <a:pt x="51" y="251"/>
                  </a:lnTo>
                  <a:lnTo>
                    <a:pt x="62" y="260"/>
                  </a:lnTo>
                  <a:lnTo>
                    <a:pt x="74" y="268"/>
                  </a:lnTo>
                  <a:lnTo>
                    <a:pt x="86" y="274"/>
                  </a:lnTo>
                  <a:lnTo>
                    <a:pt x="99" y="278"/>
                  </a:lnTo>
                  <a:lnTo>
                    <a:pt x="113" y="282"/>
                  </a:lnTo>
                  <a:lnTo>
                    <a:pt x="128" y="284"/>
                  </a:lnTo>
                  <a:lnTo>
                    <a:pt x="142" y="284"/>
                  </a:lnTo>
                  <a:lnTo>
                    <a:pt x="142" y="284"/>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gradFill>
                  <a:gsLst>
                    <a:gs pos="0">
                      <a:srgbClr val="FFEBC4"/>
                    </a:gs>
                    <a:gs pos="100000">
                      <a:srgbClr val="FEDA90"/>
                    </a:gs>
                  </a:gsLst>
                  <a:lin ang="2700000" scaled="0"/>
                </a:gra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p:txBody>
        </p:sp>
        <p:sp>
          <p:nvSpPr>
            <p:cNvPr id="22" name="图形"/>
            <p:cNvSpPr/>
            <p:nvPr>
              <p:custDataLst>
                <p:tags r:id="rId9"/>
              </p:custDataLst>
            </p:nvPr>
          </p:nvSpPr>
          <p:spPr bwMode="auto">
            <a:xfrm>
              <a:off x="3182938" y="4710113"/>
              <a:ext cx="698500" cy="520700"/>
            </a:xfrm>
            <a:custGeom>
              <a:avLst/>
              <a:gdLst>
                <a:gd name="T0" fmla="*/ 440 w 440"/>
                <a:gd name="T1" fmla="*/ 190 h 328"/>
                <a:gd name="T2" fmla="*/ 440 w 440"/>
                <a:gd name="T3" fmla="*/ 190 h 328"/>
                <a:gd name="T4" fmla="*/ 438 w 440"/>
                <a:gd name="T5" fmla="*/ 161 h 328"/>
                <a:gd name="T6" fmla="*/ 431 w 440"/>
                <a:gd name="T7" fmla="*/ 134 h 328"/>
                <a:gd name="T8" fmla="*/ 425 w 440"/>
                <a:gd name="T9" fmla="*/ 107 h 328"/>
                <a:gd name="T10" fmla="*/ 413 w 440"/>
                <a:gd name="T11" fmla="*/ 83 h 328"/>
                <a:gd name="T12" fmla="*/ 400 w 440"/>
                <a:gd name="T13" fmla="*/ 58 h 328"/>
                <a:gd name="T14" fmla="*/ 384 w 440"/>
                <a:gd name="T15" fmla="*/ 37 h 328"/>
                <a:gd name="T16" fmla="*/ 365 w 440"/>
                <a:gd name="T17" fmla="*/ 16 h 328"/>
                <a:gd name="T18" fmla="*/ 347 w 440"/>
                <a:gd name="T19" fmla="*/ 0 h 328"/>
                <a:gd name="T20" fmla="*/ 219 w 440"/>
                <a:gd name="T21" fmla="*/ 105 h 328"/>
                <a:gd name="T22" fmla="*/ 93 w 440"/>
                <a:gd name="T23" fmla="*/ 0 h 328"/>
                <a:gd name="T24" fmla="*/ 93 w 440"/>
                <a:gd name="T25" fmla="*/ 0 h 328"/>
                <a:gd name="T26" fmla="*/ 72 w 440"/>
                <a:gd name="T27" fmla="*/ 16 h 328"/>
                <a:gd name="T28" fmla="*/ 54 w 440"/>
                <a:gd name="T29" fmla="*/ 37 h 328"/>
                <a:gd name="T30" fmla="*/ 39 w 440"/>
                <a:gd name="T31" fmla="*/ 58 h 328"/>
                <a:gd name="T32" fmla="*/ 25 w 440"/>
                <a:gd name="T33" fmla="*/ 83 h 328"/>
                <a:gd name="T34" fmla="*/ 15 w 440"/>
                <a:gd name="T35" fmla="*/ 107 h 328"/>
                <a:gd name="T36" fmla="*/ 6 w 440"/>
                <a:gd name="T37" fmla="*/ 134 h 328"/>
                <a:gd name="T38" fmla="*/ 2 w 440"/>
                <a:gd name="T39" fmla="*/ 161 h 328"/>
                <a:gd name="T40" fmla="*/ 0 w 440"/>
                <a:gd name="T41" fmla="*/ 190 h 328"/>
                <a:gd name="T42" fmla="*/ 0 w 440"/>
                <a:gd name="T43" fmla="*/ 190 h 328"/>
                <a:gd name="T44" fmla="*/ 0 w 440"/>
                <a:gd name="T45" fmla="*/ 206 h 328"/>
                <a:gd name="T46" fmla="*/ 6 w 440"/>
                <a:gd name="T47" fmla="*/ 223 h 328"/>
                <a:gd name="T48" fmla="*/ 13 w 440"/>
                <a:gd name="T49" fmla="*/ 237 h 328"/>
                <a:gd name="T50" fmla="*/ 23 w 440"/>
                <a:gd name="T51" fmla="*/ 250 h 328"/>
                <a:gd name="T52" fmla="*/ 35 w 440"/>
                <a:gd name="T53" fmla="*/ 262 h 328"/>
                <a:gd name="T54" fmla="*/ 48 w 440"/>
                <a:gd name="T55" fmla="*/ 274 h 328"/>
                <a:gd name="T56" fmla="*/ 64 w 440"/>
                <a:gd name="T57" fmla="*/ 285 h 328"/>
                <a:gd name="T58" fmla="*/ 79 w 440"/>
                <a:gd name="T59" fmla="*/ 293 h 328"/>
                <a:gd name="T60" fmla="*/ 97 w 440"/>
                <a:gd name="T61" fmla="*/ 301 h 328"/>
                <a:gd name="T62" fmla="*/ 116 w 440"/>
                <a:gd name="T63" fmla="*/ 309 h 328"/>
                <a:gd name="T64" fmla="*/ 151 w 440"/>
                <a:gd name="T65" fmla="*/ 320 h 328"/>
                <a:gd name="T66" fmla="*/ 188 w 440"/>
                <a:gd name="T67" fmla="*/ 326 h 328"/>
                <a:gd name="T68" fmla="*/ 219 w 440"/>
                <a:gd name="T69" fmla="*/ 328 h 328"/>
                <a:gd name="T70" fmla="*/ 219 w 440"/>
                <a:gd name="T71" fmla="*/ 328 h 328"/>
                <a:gd name="T72" fmla="*/ 252 w 440"/>
                <a:gd name="T73" fmla="*/ 326 h 328"/>
                <a:gd name="T74" fmla="*/ 287 w 440"/>
                <a:gd name="T75" fmla="*/ 320 h 328"/>
                <a:gd name="T76" fmla="*/ 324 w 440"/>
                <a:gd name="T77" fmla="*/ 309 h 328"/>
                <a:gd name="T78" fmla="*/ 343 w 440"/>
                <a:gd name="T79" fmla="*/ 301 h 328"/>
                <a:gd name="T80" fmla="*/ 359 w 440"/>
                <a:gd name="T81" fmla="*/ 293 h 328"/>
                <a:gd name="T82" fmla="*/ 376 w 440"/>
                <a:gd name="T83" fmla="*/ 285 h 328"/>
                <a:gd name="T84" fmla="*/ 390 w 440"/>
                <a:gd name="T85" fmla="*/ 274 h 328"/>
                <a:gd name="T86" fmla="*/ 405 w 440"/>
                <a:gd name="T87" fmla="*/ 262 h 328"/>
                <a:gd name="T88" fmla="*/ 415 w 440"/>
                <a:gd name="T89" fmla="*/ 250 h 328"/>
                <a:gd name="T90" fmla="*/ 425 w 440"/>
                <a:gd name="T91" fmla="*/ 237 h 328"/>
                <a:gd name="T92" fmla="*/ 433 w 440"/>
                <a:gd name="T93" fmla="*/ 223 h 328"/>
                <a:gd name="T94" fmla="*/ 438 w 440"/>
                <a:gd name="T95" fmla="*/ 206 h 328"/>
                <a:gd name="T96" fmla="*/ 440 w 440"/>
                <a:gd name="T97" fmla="*/ 190 h 328"/>
                <a:gd name="T98" fmla="*/ 440 w 440"/>
                <a:gd name="T99" fmla="*/ 190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40" h="328">
                  <a:moveTo>
                    <a:pt x="440" y="190"/>
                  </a:moveTo>
                  <a:lnTo>
                    <a:pt x="440" y="190"/>
                  </a:lnTo>
                  <a:lnTo>
                    <a:pt x="438" y="161"/>
                  </a:lnTo>
                  <a:lnTo>
                    <a:pt x="431" y="134"/>
                  </a:lnTo>
                  <a:lnTo>
                    <a:pt x="425" y="107"/>
                  </a:lnTo>
                  <a:lnTo>
                    <a:pt x="413" y="83"/>
                  </a:lnTo>
                  <a:lnTo>
                    <a:pt x="400" y="58"/>
                  </a:lnTo>
                  <a:lnTo>
                    <a:pt x="384" y="37"/>
                  </a:lnTo>
                  <a:lnTo>
                    <a:pt x="365" y="16"/>
                  </a:lnTo>
                  <a:lnTo>
                    <a:pt x="347" y="0"/>
                  </a:lnTo>
                  <a:lnTo>
                    <a:pt x="219" y="105"/>
                  </a:lnTo>
                  <a:lnTo>
                    <a:pt x="93" y="0"/>
                  </a:lnTo>
                  <a:lnTo>
                    <a:pt x="93" y="0"/>
                  </a:lnTo>
                  <a:lnTo>
                    <a:pt x="72" y="16"/>
                  </a:lnTo>
                  <a:lnTo>
                    <a:pt x="54" y="37"/>
                  </a:lnTo>
                  <a:lnTo>
                    <a:pt x="39" y="58"/>
                  </a:lnTo>
                  <a:lnTo>
                    <a:pt x="25" y="83"/>
                  </a:lnTo>
                  <a:lnTo>
                    <a:pt x="15" y="107"/>
                  </a:lnTo>
                  <a:lnTo>
                    <a:pt x="6" y="134"/>
                  </a:lnTo>
                  <a:lnTo>
                    <a:pt x="2" y="161"/>
                  </a:lnTo>
                  <a:lnTo>
                    <a:pt x="0" y="190"/>
                  </a:lnTo>
                  <a:lnTo>
                    <a:pt x="0" y="190"/>
                  </a:lnTo>
                  <a:lnTo>
                    <a:pt x="0" y="206"/>
                  </a:lnTo>
                  <a:lnTo>
                    <a:pt x="6" y="223"/>
                  </a:lnTo>
                  <a:lnTo>
                    <a:pt x="13" y="237"/>
                  </a:lnTo>
                  <a:lnTo>
                    <a:pt x="23" y="250"/>
                  </a:lnTo>
                  <a:lnTo>
                    <a:pt x="35" y="262"/>
                  </a:lnTo>
                  <a:lnTo>
                    <a:pt x="48" y="274"/>
                  </a:lnTo>
                  <a:lnTo>
                    <a:pt x="64" y="285"/>
                  </a:lnTo>
                  <a:lnTo>
                    <a:pt x="79" y="293"/>
                  </a:lnTo>
                  <a:lnTo>
                    <a:pt x="97" y="301"/>
                  </a:lnTo>
                  <a:lnTo>
                    <a:pt x="116" y="309"/>
                  </a:lnTo>
                  <a:lnTo>
                    <a:pt x="151" y="320"/>
                  </a:lnTo>
                  <a:lnTo>
                    <a:pt x="188" y="326"/>
                  </a:lnTo>
                  <a:lnTo>
                    <a:pt x="219" y="328"/>
                  </a:lnTo>
                  <a:lnTo>
                    <a:pt x="219" y="328"/>
                  </a:lnTo>
                  <a:lnTo>
                    <a:pt x="252" y="326"/>
                  </a:lnTo>
                  <a:lnTo>
                    <a:pt x="287" y="320"/>
                  </a:lnTo>
                  <a:lnTo>
                    <a:pt x="324" y="309"/>
                  </a:lnTo>
                  <a:lnTo>
                    <a:pt x="343" y="301"/>
                  </a:lnTo>
                  <a:lnTo>
                    <a:pt x="359" y="293"/>
                  </a:lnTo>
                  <a:lnTo>
                    <a:pt x="376" y="285"/>
                  </a:lnTo>
                  <a:lnTo>
                    <a:pt x="390" y="274"/>
                  </a:lnTo>
                  <a:lnTo>
                    <a:pt x="405" y="262"/>
                  </a:lnTo>
                  <a:lnTo>
                    <a:pt x="415" y="250"/>
                  </a:lnTo>
                  <a:lnTo>
                    <a:pt x="425" y="237"/>
                  </a:lnTo>
                  <a:lnTo>
                    <a:pt x="433" y="223"/>
                  </a:lnTo>
                  <a:lnTo>
                    <a:pt x="438" y="206"/>
                  </a:lnTo>
                  <a:lnTo>
                    <a:pt x="440" y="190"/>
                  </a:lnTo>
                  <a:lnTo>
                    <a:pt x="440" y="19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gradFill>
                  <a:gsLst>
                    <a:gs pos="0">
                      <a:srgbClr val="FFEBC4"/>
                    </a:gs>
                    <a:gs pos="100000">
                      <a:srgbClr val="FEDA90"/>
                    </a:gs>
                  </a:gsLst>
                  <a:lin ang="2700000" scaled="0"/>
                </a:gra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p:txBody>
        </p:sp>
        <p:sp>
          <p:nvSpPr>
            <p:cNvPr id="23" name="图形"/>
            <p:cNvSpPr/>
            <p:nvPr>
              <p:custDataLst>
                <p:tags r:id="rId10"/>
              </p:custDataLst>
            </p:nvPr>
          </p:nvSpPr>
          <p:spPr bwMode="auto">
            <a:xfrm>
              <a:off x="3284538" y="4183063"/>
              <a:ext cx="492125" cy="487363"/>
            </a:xfrm>
            <a:custGeom>
              <a:avLst/>
              <a:gdLst>
                <a:gd name="T0" fmla="*/ 155 w 310"/>
                <a:gd name="T1" fmla="*/ 0 h 307"/>
                <a:gd name="T2" fmla="*/ 124 w 310"/>
                <a:gd name="T3" fmla="*/ 2 h 307"/>
                <a:gd name="T4" fmla="*/ 95 w 310"/>
                <a:gd name="T5" fmla="*/ 12 h 307"/>
                <a:gd name="T6" fmla="*/ 68 w 310"/>
                <a:gd name="T7" fmla="*/ 27 h 307"/>
                <a:gd name="T8" fmla="*/ 46 w 310"/>
                <a:gd name="T9" fmla="*/ 45 h 307"/>
                <a:gd name="T10" fmla="*/ 27 w 310"/>
                <a:gd name="T11" fmla="*/ 68 h 307"/>
                <a:gd name="T12" fmla="*/ 13 w 310"/>
                <a:gd name="T13" fmla="*/ 95 h 307"/>
                <a:gd name="T14" fmla="*/ 4 w 310"/>
                <a:gd name="T15" fmla="*/ 124 h 307"/>
                <a:gd name="T16" fmla="*/ 0 w 310"/>
                <a:gd name="T17" fmla="*/ 155 h 307"/>
                <a:gd name="T18" fmla="*/ 2 w 310"/>
                <a:gd name="T19" fmla="*/ 169 h 307"/>
                <a:gd name="T20" fmla="*/ 8 w 310"/>
                <a:gd name="T21" fmla="*/ 200 h 307"/>
                <a:gd name="T22" fmla="*/ 19 w 310"/>
                <a:gd name="T23" fmla="*/ 227 h 307"/>
                <a:gd name="T24" fmla="*/ 35 w 310"/>
                <a:gd name="T25" fmla="*/ 252 h 307"/>
                <a:gd name="T26" fmla="*/ 58 w 310"/>
                <a:gd name="T27" fmla="*/ 272 h 307"/>
                <a:gd name="T28" fmla="*/ 83 w 310"/>
                <a:gd name="T29" fmla="*/ 289 h 307"/>
                <a:gd name="T30" fmla="*/ 109 w 310"/>
                <a:gd name="T31" fmla="*/ 301 h 307"/>
                <a:gd name="T32" fmla="*/ 140 w 310"/>
                <a:gd name="T33" fmla="*/ 307 h 307"/>
                <a:gd name="T34" fmla="*/ 155 w 310"/>
                <a:gd name="T35" fmla="*/ 307 h 307"/>
                <a:gd name="T36" fmla="*/ 186 w 310"/>
                <a:gd name="T37" fmla="*/ 305 h 307"/>
                <a:gd name="T38" fmla="*/ 215 w 310"/>
                <a:gd name="T39" fmla="*/ 297 h 307"/>
                <a:gd name="T40" fmla="*/ 242 w 310"/>
                <a:gd name="T41" fmla="*/ 282 h 307"/>
                <a:gd name="T42" fmla="*/ 264 w 310"/>
                <a:gd name="T43" fmla="*/ 264 h 307"/>
                <a:gd name="T44" fmla="*/ 283 w 310"/>
                <a:gd name="T45" fmla="*/ 241 h 307"/>
                <a:gd name="T46" fmla="*/ 297 w 310"/>
                <a:gd name="T47" fmla="*/ 214 h 307"/>
                <a:gd name="T48" fmla="*/ 306 w 310"/>
                <a:gd name="T49" fmla="*/ 185 h 307"/>
                <a:gd name="T50" fmla="*/ 310 w 310"/>
                <a:gd name="T51" fmla="*/ 155 h 307"/>
                <a:gd name="T52" fmla="*/ 310 w 310"/>
                <a:gd name="T53" fmla="*/ 138 h 307"/>
                <a:gd name="T54" fmla="*/ 303 w 310"/>
                <a:gd name="T55" fmla="*/ 107 h 307"/>
                <a:gd name="T56" fmla="*/ 291 w 310"/>
                <a:gd name="T57" fmla="*/ 80 h 307"/>
                <a:gd name="T58" fmla="*/ 275 w 310"/>
                <a:gd name="T59" fmla="*/ 56 h 307"/>
                <a:gd name="T60" fmla="*/ 254 w 310"/>
                <a:gd name="T61" fmla="*/ 35 h 307"/>
                <a:gd name="T62" fmla="*/ 229 w 310"/>
                <a:gd name="T63" fmla="*/ 18 h 307"/>
                <a:gd name="T64" fmla="*/ 200 w 310"/>
                <a:gd name="T65" fmla="*/ 6 h 307"/>
                <a:gd name="T66" fmla="*/ 171 w 310"/>
                <a:gd name="T67" fmla="*/ 0 h 307"/>
                <a:gd name="T68" fmla="*/ 155 w 310"/>
                <a:gd name="T69" fmla="*/ 0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10" h="307">
                  <a:moveTo>
                    <a:pt x="155" y="0"/>
                  </a:moveTo>
                  <a:lnTo>
                    <a:pt x="155" y="0"/>
                  </a:lnTo>
                  <a:lnTo>
                    <a:pt x="140" y="0"/>
                  </a:lnTo>
                  <a:lnTo>
                    <a:pt x="124" y="2"/>
                  </a:lnTo>
                  <a:lnTo>
                    <a:pt x="109" y="6"/>
                  </a:lnTo>
                  <a:lnTo>
                    <a:pt x="95" y="12"/>
                  </a:lnTo>
                  <a:lnTo>
                    <a:pt x="83" y="18"/>
                  </a:lnTo>
                  <a:lnTo>
                    <a:pt x="68" y="27"/>
                  </a:lnTo>
                  <a:lnTo>
                    <a:pt x="58" y="35"/>
                  </a:lnTo>
                  <a:lnTo>
                    <a:pt x="46" y="45"/>
                  </a:lnTo>
                  <a:lnTo>
                    <a:pt x="35" y="56"/>
                  </a:lnTo>
                  <a:lnTo>
                    <a:pt x="27" y="68"/>
                  </a:lnTo>
                  <a:lnTo>
                    <a:pt x="19" y="80"/>
                  </a:lnTo>
                  <a:lnTo>
                    <a:pt x="13" y="95"/>
                  </a:lnTo>
                  <a:lnTo>
                    <a:pt x="8" y="107"/>
                  </a:lnTo>
                  <a:lnTo>
                    <a:pt x="4" y="124"/>
                  </a:lnTo>
                  <a:lnTo>
                    <a:pt x="2" y="138"/>
                  </a:lnTo>
                  <a:lnTo>
                    <a:pt x="0" y="155"/>
                  </a:lnTo>
                  <a:lnTo>
                    <a:pt x="0" y="155"/>
                  </a:lnTo>
                  <a:lnTo>
                    <a:pt x="2" y="169"/>
                  </a:lnTo>
                  <a:lnTo>
                    <a:pt x="4" y="185"/>
                  </a:lnTo>
                  <a:lnTo>
                    <a:pt x="8" y="200"/>
                  </a:lnTo>
                  <a:lnTo>
                    <a:pt x="13" y="214"/>
                  </a:lnTo>
                  <a:lnTo>
                    <a:pt x="19" y="227"/>
                  </a:lnTo>
                  <a:lnTo>
                    <a:pt x="27" y="241"/>
                  </a:lnTo>
                  <a:lnTo>
                    <a:pt x="35" y="252"/>
                  </a:lnTo>
                  <a:lnTo>
                    <a:pt x="46" y="264"/>
                  </a:lnTo>
                  <a:lnTo>
                    <a:pt x="58" y="272"/>
                  </a:lnTo>
                  <a:lnTo>
                    <a:pt x="68" y="282"/>
                  </a:lnTo>
                  <a:lnTo>
                    <a:pt x="83" y="289"/>
                  </a:lnTo>
                  <a:lnTo>
                    <a:pt x="95" y="297"/>
                  </a:lnTo>
                  <a:lnTo>
                    <a:pt x="109" y="301"/>
                  </a:lnTo>
                  <a:lnTo>
                    <a:pt x="124" y="305"/>
                  </a:lnTo>
                  <a:lnTo>
                    <a:pt x="140" y="307"/>
                  </a:lnTo>
                  <a:lnTo>
                    <a:pt x="155" y="307"/>
                  </a:lnTo>
                  <a:lnTo>
                    <a:pt x="155" y="307"/>
                  </a:lnTo>
                  <a:lnTo>
                    <a:pt x="171" y="307"/>
                  </a:lnTo>
                  <a:lnTo>
                    <a:pt x="186" y="305"/>
                  </a:lnTo>
                  <a:lnTo>
                    <a:pt x="200" y="301"/>
                  </a:lnTo>
                  <a:lnTo>
                    <a:pt x="215" y="297"/>
                  </a:lnTo>
                  <a:lnTo>
                    <a:pt x="229" y="289"/>
                  </a:lnTo>
                  <a:lnTo>
                    <a:pt x="242" y="282"/>
                  </a:lnTo>
                  <a:lnTo>
                    <a:pt x="254" y="272"/>
                  </a:lnTo>
                  <a:lnTo>
                    <a:pt x="264" y="264"/>
                  </a:lnTo>
                  <a:lnTo>
                    <a:pt x="275" y="252"/>
                  </a:lnTo>
                  <a:lnTo>
                    <a:pt x="283" y="241"/>
                  </a:lnTo>
                  <a:lnTo>
                    <a:pt x="291" y="227"/>
                  </a:lnTo>
                  <a:lnTo>
                    <a:pt x="297" y="214"/>
                  </a:lnTo>
                  <a:lnTo>
                    <a:pt x="303" y="200"/>
                  </a:lnTo>
                  <a:lnTo>
                    <a:pt x="306" y="185"/>
                  </a:lnTo>
                  <a:lnTo>
                    <a:pt x="310" y="169"/>
                  </a:lnTo>
                  <a:lnTo>
                    <a:pt x="310" y="155"/>
                  </a:lnTo>
                  <a:lnTo>
                    <a:pt x="310" y="155"/>
                  </a:lnTo>
                  <a:lnTo>
                    <a:pt x="310" y="138"/>
                  </a:lnTo>
                  <a:lnTo>
                    <a:pt x="306" y="124"/>
                  </a:lnTo>
                  <a:lnTo>
                    <a:pt x="303" y="107"/>
                  </a:lnTo>
                  <a:lnTo>
                    <a:pt x="297" y="95"/>
                  </a:lnTo>
                  <a:lnTo>
                    <a:pt x="291" y="80"/>
                  </a:lnTo>
                  <a:lnTo>
                    <a:pt x="283" y="68"/>
                  </a:lnTo>
                  <a:lnTo>
                    <a:pt x="275" y="56"/>
                  </a:lnTo>
                  <a:lnTo>
                    <a:pt x="264" y="45"/>
                  </a:lnTo>
                  <a:lnTo>
                    <a:pt x="254" y="35"/>
                  </a:lnTo>
                  <a:lnTo>
                    <a:pt x="242" y="27"/>
                  </a:lnTo>
                  <a:lnTo>
                    <a:pt x="229" y="18"/>
                  </a:lnTo>
                  <a:lnTo>
                    <a:pt x="215" y="12"/>
                  </a:lnTo>
                  <a:lnTo>
                    <a:pt x="200" y="6"/>
                  </a:lnTo>
                  <a:lnTo>
                    <a:pt x="186" y="2"/>
                  </a:lnTo>
                  <a:lnTo>
                    <a:pt x="171" y="0"/>
                  </a:lnTo>
                  <a:lnTo>
                    <a:pt x="155" y="0"/>
                  </a:lnTo>
                  <a:lnTo>
                    <a:pt x="155" y="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gradFill>
                  <a:gsLst>
                    <a:gs pos="0">
                      <a:srgbClr val="FFEBC4"/>
                    </a:gs>
                    <a:gs pos="100000">
                      <a:srgbClr val="FEDA90"/>
                    </a:gs>
                  </a:gsLst>
                  <a:lin ang="2700000" scaled="0"/>
                </a:gra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p:txBody>
        </p:sp>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UNIT_PIC_EFFECT" val="1"/>
</p:tagLst>
</file>

<file path=ppt/tags/tag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custom20238544_1*i*1"/>
  <p:tag name="KSO_WM_TEMPLATE_CATEGORY" val="custom"/>
  <p:tag name="KSO_WM_TEMPLATE_INDEX" val="20238544"/>
  <p:tag name="KSO_WM_UNIT_LAYERLEVEL" val="1"/>
  <p:tag name="KSO_WM_TAG_VERSION" val="3.0"/>
  <p:tag name="KSO_WM_UNIT_PIC_EFFECT" val="1"/>
</p:tagLst>
</file>

<file path=ppt/tags/tag5.xml><?xml version="1.0" encoding="utf-8"?>
<p:tagLst xmlns:p="http://schemas.openxmlformats.org/presentationml/2006/main">
  <p:tag name="KSO_WM_BEAUTIFY_FLAG" val="#wm#"/>
  <p:tag name="KSO_WM_UNIT_VALUE" val="1222*1999"/>
  <p:tag name="KSO_WM_UNIT_HIGHLIGHT" val="0"/>
  <p:tag name="KSO_WM_UNIT_COMPATIBLE" val="0"/>
  <p:tag name="KSO_WM_UNIT_DIAGRAM_ISNUMVISUAL" val="0"/>
  <p:tag name="KSO_WM_UNIT_DIAGRAM_ISREFERUNIT" val="0"/>
  <p:tag name="KSO_WM_UNIT_TYPE" val="d"/>
  <p:tag name="KSO_WM_UNIT_INDEX" val="1"/>
  <p:tag name="KSO_WM_UNIT_ID" val="custom20238544_1*d*1"/>
  <p:tag name="KSO_WM_TEMPLATE_CATEGORY" val="custom"/>
  <p:tag name="KSO_WM_TEMPLATE_INDEX" val="20238544"/>
  <p:tag name="KSO_WM_UNIT_LAYERLEVEL" val="1"/>
  <p:tag name="KSO_WM_TAG_VERSION" val="3.0"/>
  <p:tag name="KSO_WM_UNIT_PIC_EFFECT" val="1"/>
</p:tagLst>
</file>

<file path=ppt/tags/tag6.xml><?xml version="1.0" encoding="utf-8"?>
<p:tagLst xmlns:p="http://schemas.openxmlformats.org/presentationml/2006/main">
  <p:tag name="KSO_WM_UNIT_PIC_EFFECT" val="1"/>
</p:tagLst>
</file>

<file path=ppt/tags/tag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custom20238544_1*i*1"/>
  <p:tag name="KSO_WM_TEMPLATE_CATEGORY" val="custom"/>
  <p:tag name="KSO_WM_TEMPLATE_INDEX" val="20238544"/>
  <p:tag name="KSO_WM_UNIT_LAYERLEVEL" val="1"/>
  <p:tag name="KSO_WM_TAG_VERSION" val="3.0"/>
  <p:tag name="KSO_WM_UNIT_PIC_EFFECT" val="1"/>
</p:tagLst>
</file>

<file path=ppt/tags/tag8.xml><?xml version="1.0" encoding="utf-8"?>
<p:tagLst xmlns:p="http://schemas.openxmlformats.org/presentationml/2006/main">
  <p:tag name="KSO_WM_BEAUTIFY_FLAG" val="#wm#"/>
  <p:tag name="KSO_WM_UNIT_VALUE" val="1222*1999"/>
  <p:tag name="KSO_WM_UNIT_HIGHLIGHT" val="0"/>
  <p:tag name="KSO_WM_UNIT_COMPATIBLE" val="0"/>
  <p:tag name="KSO_WM_UNIT_DIAGRAM_ISNUMVISUAL" val="0"/>
  <p:tag name="KSO_WM_UNIT_DIAGRAM_ISREFERUNIT" val="0"/>
  <p:tag name="KSO_WM_UNIT_TYPE" val="d"/>
  <p:tag name="KSO_WM_UNIT_INDEX" val="1"/>
  <p:tag name="KSO_WM_UNIT_ID" val="custom20238544_1*d*1"/>
  <p:tag name="KSO_WM_TEMPLATE_CATEGORY" val="custom"/>
  <p:tag name="KSO_WM_TEMPLATE_INDEX" val="20238544"/>
  <p:tag name="KSO_WM_UNIT_LAYERLEVEL" val="1"/>
  <p:tag name="KSO_WM_TAG_VERSION" val="3.0"/>
  <p:tag name="KSO_WM_UNIT_PIC_EFFECT" val="1"/>
</p:tagLst>
</file>

<file path=ppt/tags/tag9.xml><?xml version="1.0" encoding="utf-8"?>
<p:tagLst xmlns:p="http://schemas.openxmlformats.org/presentationml/2006/main">
  <p:tag name="KSO_WM_UNIT_PIC_EFFECT" val="1"/>
</p:tagLst>
</file>

<file path=ppt/tags/tag1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custom20238544_1*i*1"/>
  <p:tag name="KSO_WM_TEMPLATE_CATEGORY" val="custom"/>
  <p:tag name="KSO_WM_TEMPLATE_INDEX" val="20238544"/>
  <p:tag name="KSO_WM_UNIT_LAYERLEVEL" val="1"/>
  <p:tag name="KSO_WM_TAG_VERSION" val="3.0"/>
  <p:tag name="KSO_WM_UNIT_PIC_EFFECT" val="1"/>
</p:tagLst>
</file>

<file path=ppt/tags/tag11.xml><?xml version="1.0" encoding="utf-8"?>
<p:tagLst xmlns:p="http://schemas.openxmlformats.org/presentationml/2006/main">
  <p:tag name="KSO_WM_BEAUTIFY_FLAG" val="#wm#"/>
  <p:tag name="KSO_WM_UNIT_VALUE" val="1222*1999"/>
  <p:tag name="KSO_WM_UNIT_HIGHLIGHT" val="0"/>
  <p:tag name="KSO_WM_UNIT_COMPATIBLE" val="0"/>
  <p:tag name="KSO_WM_UNIT_DIAGRAM_ISNUMVISUAL" val="0"/>
  <p:tag name="KSO_WM_UNIT_DIAGRAM_ISREFERUNIT" val="0"/>
  <p:tag name="KSO_WM_UNIT_TYPE" val="d"/>
  <p:tag name="KSO_WM_UNIT_INDEX" val="1"/>
  <p:tag name="KSO_WM_UNIT_ID" val="custom20238544_1*d*1"/>
  <p:tag name="KSO_WM_TEMPLATE_CATEGORY" val="custom"/>
  <p:tag name="KSO_WM_TEMPLATE_INDEX" val="20238544"/>
  <p:tag name="KSO_WM_UNIT_LAYERLEVEL" val="1"/>
  <p:tag name="KSO_WM_TAG_VERSION" val="3.0"/>
  <p:tag name="KSO_WM_UNIT_PIC_EFFECT" val="1"/>
</p:tagLst>
</file>

<file path=ppt/tags/tag12.xml><?xml version="1.0" encoding="utf-8"?>
<p:tagLst xmlns:p="http://schemas.openxmlformats.org/presentationml/2006/main">
  <p:tag name="KSO_WM_UNIT_PIC_EFFECT" val="1"/>
</p:tagLst>
</file>

<file path=ppt/tags/tag1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custom20238571_1*i*1"/>
  <p:tag name="KSO_WM_TEMPLATE_CATEGORY" val="custom"/>
  <p:tag name="KSO_WM_TEMPLATE_INDEX" val="20238571"/>
  <p:tag name="KSO_WM_UNIT_LAYERLEVEL" val="1"/>
  <p:tag name="KSO_WM_TAG_VERSION" val="3.0"/>
  <p:tag name="KSO_WM_UNIT_PIC_EFFECT" val="1"/>
</p:tagLst>
</file>

<file path=ppt/tags/tag1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2"/>
  <p:tag name="KSO_WM_UNIT_ID" val="custom20238571_1*i*2"/>
  <p:tag name="KSO_WM_TEMPLATE_CATEGORY" val="custom"/>
  <p:tag name="KSO_WM_TEMPLATE_INDEX" val="20238571"/>
  <p:tag name="KSO_WM_UNIT_LAYERLEVEL" val="1"/>
  <p:tag name="KSO_WM_TAG_VERSION" val="3.0"/>
  <p:tag name="KSO_WM_UNIT_PIC_EFFECT" val="1"/>
</p:tagLst>
</file>

<file path=ppt/tags/tag1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3"/>
  <p:tag name="KSO_WM_UNIT_ID" val="custom20238571_1*i*3"/>
  <p:tag name="KSO_WM_TEMPLATE_CATEGORY" val="custom"/>
  <p:tag name="KSO_WM_TEMPLATE_INDEX" val="20238571"/>
  <p:tag name="KSO_WM_UNIT_LAYERLEVEL" val="1"/>
  <p:tag name="KSO_WM_TAG_VERSION" val="3.0"/>
  <p:tag name="KSO_WM_UNIT_PIC_EFFECT" val="1"/>
</p:tagLst>
</file>

<file path=ppt/tags/tag1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4"/>
  <p:tag name="KSO_WM_UNIT_ID" val="custom20238571_1*i*4"/>
  <p:tag name="KSO_WM_TEMPLATE_CATEGORY" val="custom"/>
  <p:tag name="KSO_WM_TEMPLATE_INDEX" val="20238571"/>
  <p:tag name="KSO_WM_UNIT_LAYERLEVEL" val="1"/>
  <p:tag name="KSO_WM_TAG_VERSION" val="3.0"/>
  <p:tag name="KSO_WM_UNIT_PIC_EFFECT" val="1"/>
</p:tagLst>
</file>

<file path=ppt/tags/tag17.xml><?xml version="1.0" encoding="utf-8"?>
<p:tagLst xmlns:p="http://schemas.openxmlformats.org/presentationml/2006/main">
  <p:tag name="KSO_WM_BEAUTIFY_FLAG" val="#wm#"/>
  <p:tag name="KSO_WM_UNIT_VALUE" val="1084*2385"/>
  <p:tag name="KSO_WM_UNIT_HIGHLIGHT" val="0"/>
  <p:tag name="KSO_WM_UNIT_COMPATIBLE" val="0"/>
  <p:tag name="KSO_WM_UNIT_DIAGRAM_ISNUMVISUAL" val="0"/>
  <p:tag name="KSO_WM_UNIT_DIAGRAM_ISREFERUNIT" val="0"/>
  <p:tag name="KSO_WM_UNIT_TYPE" val="d"/>
  <p:tag name="KSO_WM_UNIT_INDEX" val="1"/>
  <p:tag name="KSO_WM_UNIT_ID" val="custom20238571_1*d*1"/>
  <p:tag name="KSO_WM_TEMPLATE_CATEGORY" val="custom"/>
  <p:tag name="KSO_WM_TEMPLATE_INDEX" val="20238571"/>
  <p:tag name="KSO_WM_UNIT_LAYERLEVEL" val="1"/>
  <p:tag name="KSO_WM_TAG_VERSION" val="3.0"/>
  <p:tag name="KSO_WM_UNIT_PIC_EFFECT" val="1"/>
</p:tagLst>
</file>

<file path=ppt/tags/tag18.xml><?xml version="1.0" encoding="utf-8"?>
<p:tagLst xmlns:p="http://schemas.openxmlformats.org/presentationml/2006/main">
  <p:tag name="KSO_WM_UNIT_PIC_EFFECT" val="1"/>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40479686_1*i*1"/>
  <p:tag name="KSO_WM_TEMPLATE_CATEGORY" val="custom"/>
  <p:tag name="KSO_WM_TEMPLATE_INDEX" val="40479686"/>
  <p:tag name="KSO_WM_UNIT_LAYERLEVEL" val="1"/>
  <p:tag name="KSO_WM_TAG_VERSION" val="3.0"/>
  <p:tag name="KSO_WM_BEAUTIFY_FLAG" val="#wm#"/>
  <p:tag name="KSO_WM_UNIT_PIC_EFFECT" val="1"/>
</p:tagLst>
</file>

<file path=ppt/tags/tag20.xml><?xml version="1.0" encoding="utf-8"?>
<p:tagLst xmlns:p="http://schemas.openxmlformats.org/presentationml/2006/main">
  <p:tag name="KSO_WM_UNIT_VALUE" val="2518*1196"/>
  <p:tag name="KSO_WM_UNIT_HIGHLIGHT" val="0"/>
  <p:tag name="KSO_WM_UNIT_COMPATIBLE" val="0"/>
  <p:tag name="KSO_WM_UNIT_DIAGRAM_ISNUMVISUAL" val="0"/>
  <p:tag name="KSO_WM_UNIT_DIAGRAM_ISREFERUNIT" val="0"/>
  <p:tag name="KSO_WM_UNIT_TYPE" val="d"/>
  <p:tag name="KSO_WM_UNIT_INDEX" val="1"/>
  <p:tag name="KSO_WM_UNIT_ID" val="custom40479686_1*d*1"/>
  <p:tag name="KSO_WM_TEMPLATE_CATEGORY" val="custom"/>
  <p:tag name="KSO_WM_TEMPLATE_INDEX" val="40479686"/>
  <p:tag name="KSO_WM_UNIT_LAYERLEVEL" val="1"/>
  <p:tag name="KSO_WM_TAG_VERSION" val="3.0"/>
  <p:tag name="KSO_WM_BEAUTIFY_FLAG" val="#wm#"/>
  <p:tag name="KSO_WM_UNIT_PIC_EFFECT" val="1"/>
</p:tagLst>
</file>

<file path=ppt/tags/tag21.xml><?xml version="1.0" encoding="utf-8"?>
<p:tagLst xmlns:p="http://schemas.openxmlformats.org/presentationml/2006/main">
  <p:tag name="KSO_WM_UNIT_PIC_EFFECT" val="1"/>
</p:tagLst>
</file>

<file path=ppt/tags/tag2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custom20238555_1*i*1"/>
  <p:tag name="KSO_WM_TEMPLATE_CATEGORY" val="custom"/>
  <p:tag name="KSO_WM_TEMPLATE_INDEX" val="20238555"/>
  <p:tag name="KSO_WM_UNIT_LAYERLEVEL" val="1"/>
  <p:tag name="KSO_WM_TAG_VERSION" val="3.0"/>
  <p:tag name="KSO_WM_UNIT_PIC_EFFECT" val="1"/>
</p:tagLst>
</file>

<file path=ppt/tags/tag2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2"/>
  <p:tag name="KSO_WM_UNIT_ID" val="custom20238555_1*i*2"/>
  <p:tag name="KSO_WM_TEMPLATE_CATEGORY" val="custom"/>
  <p:tag name="KSO_WM_TEMPLATE_INDEX" val="20238555"/>
  <p:tag name="KSO_WM_UNIT_LAYERLEVEL" val="1"/>
  <p:tag name="KSO_WM_TAG_VERSION" val="3.0"/>
  <p:tag name="KSO_WM_UNIT_PIC_EFFECT" val="1"/>
</p:tagLst>
</file>

<file path=ppt/tags/tag2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3"/>
  <p:tag name="KSO_WM_UNIT_ID" val="custom20238555_1*i*3"/>
  <p:tag name="KSO_WM_TEMPLATE_CATEGORY" val="custom"/>
  <p:tag name="KSO_WM_TEMPLATE_INDEX" val="20238555"/>
  <p:tag name="KSO_WM_UNIT_LAYERLEVEL" val="1"/>
  <p:tag name="KSO_WM_TAG_VERSION" val="3.0"/>
  <p:tag name="KSO_WM_UNIT_PIC_EFFECT" val="1"/>
</p:tagLst>
</file>

<file path=ppt/tags/tag25.xml><?xml version="1.0" encoding="utf-8"?>
<p:tagLst xmlns:p="http://schemas.openxmlformats.org/presentationml/2006/main">
  <p:tag name="KSO_WM_BEAUTIFY_FLAG" val="#wm#"/>
  <p:tag name="KSO_WM_UNIT_VALUE" val="1468*2475"/>
  <p:tag name="KSO_WM_UNIT_HIGHLIGHT" val="0"/>
  <p:tag name="KSO_WM_UNIT_COMPATIBLE" val="0"/>
  <p:tag name="KSO_WM_UNIT_DIAGRAM_ISNUMVISUAL" val="0"/>
  <p:tag name="KSO_WM_UNIT_DIAGRAM_ISREFERUNIT" val="0"/>
  <p:tag name="KSO_WM_UNIT_TYPE" val="d"/>
  <p:tag name="KSO_WM_UNIT_INDEX" val="1"/>
  <p:tag name="KSO_WM_UNIT_ID" val="custom20238555_1*d*1"/>
  <p:tag name="KSO_WM_TEMPLATE_CATEGORY" val="custom"/>
  <p:tag name="KSO_WM_TEMPLATE_INDEX" val="20238555"/>
  <p:tag name="KSO_WM_UNIT_LAYERLEVEL" val="1"/>
  <p:tag name="KSO_WM_TAG_VERSION" val="3.0"/>
  <p:tag name="KSO_WM_UNIT_PIC_EFFECT" val="1"/>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COMMONDATA" val="eyJoZGlkIjoiZjgxYmM2ZDY1MjAwNjU4OWM5MDU0YzMxYTkyZjA5YzcifQ=="/>
</p:tagLst>
</file>

<file path=ppt/theme/_rels/theme1.xml.rels><?xml version="1.0" encoding="UTF-8" standalone="yes"?>
<Relationships xmlns="http://schemas.openxmlformats.org/package/2006/relationships"><Relationship Id="rId1" Type="http://schemas.openxmlformats.org/officeDocument/2006/relationships/image" Target="../media/image4.svg"/></Relationships>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lang="zh-CN" altLang="en-US"/>
        </a:defPPr>
      </a:lstStyle>
      <a:style>
        <a:lnRef idx="2">
          <a:schemeClr val="accent1">
            <a:lumMod val="75000"/>
          </a:schemeClr>
        </a:lnRef>
        <a:fillRef idx="1">
          <a:schemeClr val="accent1"/>
        </a:fillRef>
        <a:effectRef idx="0">
          <a:srgbClr val="FFFFFF"/>
        </a:effectRef>
        <a:fontRef idx="minor">
          <a:schemeClr val="lt1"/>
        </a:fontRef>
      </a:style>
    </a:spDef>
    <a:txDef>
      <a:spPr>
        <a:ln>
          <a:solidFill>
            <a:schemeClr val="bg1"/>
          </a:solidFill>
        </a:ln>
      </a:spPr>
      <a:bodyPr wrap="square">
        <a:spAutoFit/>
      </a:bodyPr>
      <a:lstStyle>
        <a:defPPr marL="214630" indent="-214630">
          <a:buFont typeface="Wingdings" panose="05000000000000000000" pitchFamily="2" charset="2"/>
          <a:buBlip>
            <a:blip xmlns:r="http://schemas.openxmlformats.org/officeDocument/2006/relationships" r:embed="rId1"/>
          </a:buBlip>
          <a:defRPr lang="zh-CN" altLang="zh-CN" sz="2000" b="1" dirty="0">
            <a:solidFill>
              <a:schemeClr val="tx1"/>
            </a:solidFill>
            <a:latin typeface="黑体" panose="02010609060101010101" charset="-122"/>
            <a:ea typeface="黑体" panose="02010609060101010101" charset="-122"/>
            <a:cs typeface="黑体" panose="02010609060101010101" charset="-122"/>
            <a:sym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5674</Words>
  <Application>WPS 演示</Application>
  <PresentationFormat>宽屏</PresentationFormat>
  <Paragraphs>561</Paragraphs>
  <Slides>33</Slides>
  <Notes>0</Notes>
  <HiddenSlides>0</HiddenSlides>
  <MMClips>0</MMClips>
  <ScaleCrop>false</ScaleCrop>
  <HeadingPairs>
    <vt:vector size="6" baseType="variant">
      <vt:variant>
        <vt:lpstr>已用的字体</vt:lpstr>
      </vt:variant>
      <vt:variant>
        <vt:i4>34</vt:i4>
      </vt:variant>
      <vt:variant>
        <vt:lpstr>主题</vt:lpstr>
      </vt:variant>
      <vt:variant>
        <vt:i4>1</vt:i4>
      </vt:variant>
      <vt:variant>
        <vt:lpstr>幻灯片标题</vt:lpstr>
      </vt:variant>
      <vt:variant>
        <vt:i4>33</vt:i4>
      </vt:variant>
    </vt:vector>
  </HeadingPairs>
  <TitlesOfParts>
    <vt:vector size="68" baseType="lpstr">
      <vt:lpstr>Arial</vt:lpstr>
      <vt:lpstr>宋体</vt:lpstr>
      <vt:lpstr>Wingdings</vt:lpstr>
      <vt:lpstr>黑体</vt:lpstr>
      <vt:lpstr>微软雅黑</vt:lpstr>
      <vt:lpstr>汉仪铸字美心体简</vt:lpstr>
      <vt:lpstr>包图粗黑体</vt:lpstr>
      <vt:lpstr>方正大黑简体</vt:lpstr>
      <vt:lpstr>FZXSSK--GBK1-0</vt:lpstr>
      <vt:lpstr>Segoe Print</vt:lpstr>
      <vt:lpstr>方正粗黑宋简体</vt:lpstr>
      <vt:lpstr>Wingdings</vt:lpstr>
      <vt:lpstr>方正楷体_GBK</vt:lpstr>
      <vt:lpstr>华文行楷</vt:lpstr>
      <vt:lpstr>PingFang SC</vt:lpstr>
      <vt:lpstr>Times New Roman</vt:lpstr>
      <vt:lpstr>Calibri</vt:lpstr>
      <vt:lpstr>Bahnschrift Light</vt:lpstr>
      <vt:lpstr>华文细黑</vt:lpstr>
      <vt:lpstr>华文楷体</vt:lpstr>
      <vt:lpstr>等线</vt:lpstr>
      <vt:lpstr>Arial Unicode MS</vt:lpstr>
      <vt:lpstr>等线 Light</vt:lpstr>
      <vt:lpstr>思源黑体 CN Normal</vt:lpstr>
      <vt:lpstr>楷体</vt:lpstr>
      <vt:lpstr>Calibri</vt:lpstr>
      <vt:lpstr>Times New Roman PS MT</vt:lpstr>
      <vt:lpstr>思源黑体旧字形 Light</vt:lpstr>
      <vt:lpstr>FZXSSK--GBK1-0</vt:lpstr>
      <vt:lpstr>PingFang SC</vt:lpstr>
      <vt:lpstr>Times New Roman PS MT</vt:lpstr>
      <vt:lpstr>包图粗黑体</vt:lpstr>
      <vt:lpstr>思源黑体 CN Normal</vt:lpstr>
      <vt:lpstr>思源黑体旧字形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 R 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Windows User</dc:creator>
  <cp:lastModifiedBy>Ouyang</cp:lastModifiedBy>
  <cp:revision>214</cp:revision>
  <dcterms:created xsi:type="dcterms:W3CDTF">2024-10-27T04:46:00Z</dcterms:created>
  <dcterms:modified xsi:type="dcterms:W3CDTF">2026-09-01T08:29:32Z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922DA675900D4BCD86B0E3E65B0A7806</vt:lpwstr>
  </property>
  <property fmtid="{D5CDD505-2E9C-101B-9397-08002B2CF9AE}" pid="3" name="KSOProductBuildVer">
    <vt:lpwstr>2052-12.1.0.28043</vt:lpwstr>
  </property>
</Properties>
</file>