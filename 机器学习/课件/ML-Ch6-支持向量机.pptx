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png" ContentType="image/png"/>
  <Default Extension="emf" ContentType="image/x-emf"/>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91" r:id="rId3"/>
    <p:sldId id="258" r:id="rId4"/>
    <p:sldId id="411" r:id="rId6"/>
    <p:sldId id="412" r:id="rId7"/>
    <p:sldId id="413" r:id="rId8"/>
    <p:sldId id="414" r:id="rId9"/>
    <p:sldId id="261" r:id="rId10"/>
    <p:sldId id="262" r:id="rId11"/>
    <p:sldId id="288" r:id="rId12"/>
    <p:sldId id="290" r:id="rId13"/>
    <p:sldId id="342" r:id="rId14"/>
    <p:sldId id="301" r:id="rId15"/>
    <p:sldId id="302" r:id="rId16"/>
    <p:sldId id="303" r:id="rId17"/>
    <p:sldId id="304" r:id="rId18"/>
    <p:sldId id="305" r:id="rId19"/>
    <p:sldId id="306" r:id="rId20"/>
    <p:sldId id="307" r:id="rId21"/>
    <p:sldId id="308" r:id="rId22"/>
    <p:sldId id="309" r:id="rId23"/>
    <p:sldId id="310" r:id="rId24"/>
    <p:sldId id="311" r:id="rId25"/>
    <p:sldId id="312" r:id="rId26"/>
    <p:sldId id="313" r:id="rId27"/>
    <p:sldId id="314" r:id="rId28"/>
    <p:sldId id="315" r:id="rId29"/>
    <p:sldId id="316" r:id="rId30"/>
    <p:sldId id="317" r:id="rId31"/>
    <p:sldId id="318" r:id="rId32"/>
    <p:sldId id="319" r:id="rId33"/>
    <p:sldId id="320" r:id="rId34"/>
    <p:sldId id="321" r:id="rId35"/>
    <p:sldId id="322" r:id="rId36"/>
    <p:sldId id="323" r:id="rId37"/>
    <p:sldId id="324" r:id="rId38"/>
    <p:sldId id="325" r:id="rId39"/>
    <p:sldId id="326" r:id="rId40"/>
    <p:sldId id="327" r:id="rId41"/>
    <p:sldId id="328" r:id="rId42"/>
    <p:sldId id="329" r:id="rId43"/>
    <p:sldId id="330" r:id="rId44"/>
    <p:sldId id="331" r:id="rId45"/>
    <p:sldId id="353" r:id="rId46"/>
    <p:sldId id="367" r:id="rId47"/>
    <p:sldId id="415" r:id="rId48"/>
    <p:sldId id="416" r:id="rId49"/>
    <p:sldId id="354" r:id="rId50"/>
    <p:sldId id="417" r:id="rId51"/>
    <p:sldId id="357" r:id="rId52"/>
    <p:sldId id="358" r:id="rId53"/>
    <p:sldId id="360" r:id="rId54"/>
    <p:sldId id="263" r:id="rId55"/>
    <p:sldId id="264" r:id="rId56"/>
    <p:sldId id="265" r:id="rId57"/>
    <p:sldId id="366" r:id="rId58"/>
    <p:sldId id="368" r:id="rId59"/>
    <p:sldId id="418" r:id="rId60"/>
    <p:sldId id="365" r:id="rId61"/>
    <p:sldId id="371" r:id="rId62"/>
    <p:sldId id="372" r:id="rId63"/>
    <p:sldId id="373" r:id="rId64"/>
    <p:sldId id="267" r:id="rId65"/>
    <p:sldId id="408" r:id="rId66"/>
    <p:sldId id="343" r:id="rId67"/>
    <p:sldId id="268" r:id="rId68"/>
    <p:sldId id="269" r:id="rId69"/>
    <p:sldId id="344" r:id="rId70"/>
    <p:sldId id="345" r:id="rId71"/>
    <p:sldId id="350" r:id="rId72"/>
    <p:sldId id="346" r:id="rId73"/>
    <p:sldId id="347" r:id="rId74"/>
    <p:sldId id="362" r:id="rId75"/>
    <p:sldId id="374" r:id="rId76"/>
    <p:sldId id="375" r:id="rId77"/>
    <p:sldId id="271" r:id="rId78"/>
    <p:sldId id="272" r:id="rId79"/>
    <p:sldId id="273" r:id="rId80"/>
    <p:sldId id="274" r:id="rId81"/>
    <p:sldId id="275" r:id="rId82"/>
    <p:sldId id="276" r:id="rId83"/>
    <p:sldId id="277" r:id="rId84"/>
    <p:sldId id="278" r:id="rId85"/>
    <p:sldId id="279" r:id="rId86"/>
    <p:sldId id="280" r:id="rId87"/>
    <p:sldId id="410" r:id="rId88"/>
    <p:sldId id="286" r:id="rId89"/>
    <p:sldId id="281" r:id="rId90"/>
    <p:sldId id="282" r:id="rId91"/>
    <p:sldId id="283" r:id="rId92"/>
    <p:sldId id="287" r:id="rId93"/>
    <p:sldId id="284" r:id="rId94"/>
    <p:sldId id="292" r:id="rId95"/>
    <p:sldId id="419" r:id="rId96"/>
    <p:sldId id="293" r:id="rId97"/>
    <p:sldId id="294" r:id="rId98"/>
    <p:sldId id="295" r:id="rId99"/>
    <p:sldId id="296" r:id="rId100"/>
    <p:sldId id="297" r:id="rId101"/>
    <p:sldId id="298" r:id="rId102"/>
    <p:sldId id="299" r:id="rId103"/>
    <p:sldId id="352" r:id="rId104"/>
    <p:sldId id="351" r:id="rId105"/>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991" autoAdjust="0"/>
    <p:restoredTop sz="94414" autoAdjust="0"/>
  </p:normalViewPr>
  <p:slideViewPr>
    <p:cSldViewPr snapToGrid="0">
      <p:cViewPr varScale="1">
        <p:scale>
          <a:sx n="83" d="100"/>
          <a:sy n="83" d="100"/>
        </p:scale>
        <p:origin x="1272" y="48"/>
      </p:cViewPr>
      <p:guideLst/>
    </p:cSldViewPr>
  </p:slideViewPr>
  <p:outlineViewPr>
    <p:cViewPr>
      <p:scale>
        <a:sx n="33" d="100"/>
        <a:sy n="33" d="100"/>
      </p:scale>
      <p:origin x="0" y="-25074"/>
    </p:cViewPr>
  </p:outlineViewPr>
  <p:notesTextViewPr>
    <p:cViewPr>
      <p:scale>
        <a:sx n="1" d="1"/>
        <a:sy n="1" d="1"/>
      </p:scale>
      <p:origin x="0" y="0"/>
    </p:cViewPr>
  </p:notesTextViewPr>
  <p:sorterViewPr>
    <p:cViewPr>
      <p:scale>
        <a:sx n="138" d="100"/>
        <a:sy n="138" d="100"/>
      </p:scale>
      <p:origin x="0" y="-51648"/>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8" Type="http://schemas.openxmlformats.org/officeDocument/2006/relationships/tableStyles" Target="tableStyles.xml"/><Relationship Id="rId107" Type="http://schemas.openxmlformats.org/officeDocument/2006/relationships/viewProps" Target="viewProps.xml"/><Relationship Id="rId106" Type="http://schemas.openxmlformats.org/officeDocument/2006/relationships/presProps" Target="presProps.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10.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4" Type="http://schemas.openxmlformats.org/officeDocument/2006/relationships/image" Target="../media/image73.wmf"/><Relationship Id="rId3" Type="http://schemas.openxmlformats.org/officeDocument/2006/relationships/image" Target="../media/image72.wmf"/><Relationship Id="rId2" Type="http://schemas.openxmlformats.org/officeDocument/2006/relationships/image" Target="../media/image71.wmf"/><Relationship Id="rId1" Type="http://schemas.openxmlformats.org/officeDocument/2006/relationships/image" Target="../media/image70.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77.wmf"/><Relationship Id="rId2" Type="http://schemas.openxmlformats.org/officeDocument/2006/relationships/image" Target="../media/image75.wmf"/><Relationship Id="rId1" Type="http://schemas.openxmlformats.org/officeDocument/2006/relationships/image" Target="../media/image74.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81.wmf"/><Relationship Id="rId2" Type="http://schemas.openxmlformats.org/officeDocument/2006/relationships/image" Target="../media/image80.wmf"/><Relationship Id="rId1" Type="http://schemas.openxmlformats.org/officeDocument/2006/relationships/image" Target="../media/image79.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84.wmf"/><Relationship Id="rId2" Type="http://schemas.openxmlformats.org/officeDocument/2006/relationships/image" Target="../media/image83.wmf"/><Relationship Id="rId1" Type="http://schemas.openxmlformats.org/officeDocument/2006/relationships/image" Target="../media/image82.wmf"/></Relationships>
</file>

<file path=ppt/drawings/_rels/vmlDrawing8.vml.rels><?xml version="1.0" encoding="UTF-8" standalone="yes"?>
<Relationships xmlns="http://schemas.openxmlformats.org/package/2006/relationships"><Relationship Id="rId4" Type="http://schemas.openxmlformats.org/officeDocument/2006/relationships/image" Target="../media/image90.wmf"/><Relationship Id="rId3" Type="http://schemas.openxmlformats.org/officeDocument/2006/relationships/image" Target="../media/image89.wmf"/><Relationship Id="rId2" Type="http://schemas.openxmlformats.org/officeDocument/2006/relationships/image" Target="../media/image88.wmf"/><Relationship Id="rId1" Type="http://schemas.openxmlformats.org/officeDocument/2006/relationships/image" Target="../media/image87.wmf"/></Relationships>
</file>

<file path=ppt/drawings/_rels/vmlDrawing9.vml.rels><?xml version="1.0" encoding="UTF-8" standalone="yes"?>
<Relationships xmlns="http://schemas.openxmlformats.org/package/2006/relationships"><Relationship Id="rId4" Type="http://schemas.openxmlformats.org/officeDocument/2006/relationships/image" Target="../media/image93.wmf"/><Relationship Id="rId3" Type="http://schemas.openxmlformats.org/officeDocument/2006/relationships/image" Target="../media/image84.wmf"/><Relationship Id="rId2" Type="http://schemas.openxmlformats.org/officeDocument/2006/relationships/image" Target="../media/image90.wmf"/><Relationship Id="rId1" Type="http://schemas.openxmlformats.org/officeDocument/2006/relationships/image" Target="../media/image92.wmf"/></Relationships>
</file>

<file path=ppt/drawings/_rels/vmlDrawing10.vml.rels><?xml version="1.0" encoding="UTF-8" standalone="yes"?>
<Relationships xmlns="http://schemas.openxmlformats.org/package/2006/relationships"><Relationship Id="rId6" Type="http://schemas.openxmlformats.org/officeDocument/2006/relationships/image" Target="../media/image99.wmf"/><Relationship Id="rId5" Type="http://schemas.openxmlformats.org/officeDocument/2006/relationships/image" Target="../media/image98.wmf"/><Relationship Id="rId4" Type="http://schemas.openxmlformats.org/officeDocument/2006/relationships/image" Target="../media/image97.wmf"/><Relationship Id="rId3" Type="http://schemas.openxmlformats.org/officeDocument/2006/relationships/image" Target="../media/image96.wmf"/><Relationship Id="rId2" Type="http://schemas.openxmlformats.org/officeDocument/2006/relationships/image" Target="../media/image95.wmf"/><Relationship Id="rId1" Type="http://schemas.openxmlformats.org/officeDocument/2006/relationships/image" Target="../media/image94.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10.wmf"/></Relationships>
</file>

<file path=ppt/drawings/_rels/vmlDrawing12.vml.rels><?xml version="1.0" encoding="UTF-8" standalone="yes"?>
<Relationships xmlns="http://schemas.openxmlformats.org/package/2006/relationships"><Relationship Id="rId9" Type="http://schemas.openxmlformats.org/officeDocument/2006/relationships/image" Target="../media/image119.wmf"/><Relationship Id="rId8" Type="http://schemas.openxmlformats.org/officeDocument/2006/relationships/image" Target="../media/image118.wmf"/><Relationship Id="rId7" Type="http://schemas.openxmlformats.org/officeDocument/2006/relationships/image" Target="../media/image117.wmf"/><Relationship Id="rId6" Type="http://schemas.openxmlformats.org/officeDocument/2006/relationships/image" Target="../media/image116.wmf"/><Relationship Id="rId5" Type="http://schemas.openxmlformats.org/officeDocument/2006/relationships/image" Target="../media/image115.wmf"/><Relationship Id="rId4" Type="http://schemas.openxmlformats.org/officeDocument/2006/relationships/image" Target="../media/image114.wmf"/><Relationship Id="rId3" Type="http://schemas.openxmlformats.org/officeDocument/2006/relationships/image" Target="../media/image113.wmf"/><Relationship Id="rId2" Type="http://schemas.openxmlformats.org/officeDocument/2006/relationships/image" Target="../media/image112.wmf"/><Relationship Id="rId1" Type="http://schemas.openxmlformats.org/officeDocument/2006/relationships/image" Target="../media/image111.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20.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123.emf"/><Relationship Id="rId1" Type="http://schemas.openxmlformats.org/officeDocument/2006/relationships/image" Target="../media/image111.wmf"/></Relationships>
</file>

<file path=ppt/drawings/_rels/vmlDrawing15.vml.rels><?xml version="1.0" encoding="UTF-8" standalone="yes"?>
<Relationships xmlns="http://schemas.openxmlformats.org/package/2006/relationships"><Relationship Id="rId5" Type="http://schemas.openxmlformats.org/officeDocument/2006/relationships/image" Target="../media/image129.wmf"/><Relationship Id="rId4" Type="http://schemas.openxmlformats.org/officeDocument/2006/relationships/image" Target="../media/image128.wmf"/><Relationship Id="rId3" Type="http://schemas.openxmlformats.org/officeDocument/2006/relationships/image" Target="../media/image127.wmf"/><Relationship Id="rId2" Type="http://schemas.openxmlformats.org/officeDocument/2006/relationships/image" Target="../media/image126.wmf"/><Relationship Id="rId1" Type="http://schemas.openxmlformats.org/officeDocument/2006/relationships/image" Target="../media/image125.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136.wmf"/><Relationship Id="rId1" Type="http://schemas.openxmlformats.org/officeDocument/2006/relationships/image" Target="../media/image135.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39.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149.wmf"/><Relationship Id="rId2" Type="http://schemas.openxmlformats.org/officeDocument/2006/relationships/image" Target="../media/image148.wmf"/><Relationship Id="rId1" Type="http://schemas.openxmlformats.org/officeDocument/2006/relationships/image" Target="../media/image147.wmf"/></Relationships>
</file>

<file path=ppt/drawings/_rels/vmlDrawing19.vml.rels><?xml version="1.0" encoding="UTF-8" standalone="yes"?>
<Relationships xmlns="http://schemas.openxmlformats.org/package/2006/relationships"><Relationship Id="rId5" Type="http://schemas.openxmlformats.org/officeDocument/2006/relationships/image" Target="../media/image11.wmf"/><Relationship Id="rId4" Type="http://schemas.openxmlformats.org/officeDocument/2006/relationships/image" Target="../media/image10.wmf"/><Relationship Id="rId3" Type="http://schemas.openxmlformats.org/officeDocument/2006/relationships/image" Target="../media/image155.wmf"/><Relationship Id="rId2" Type="http://schemas.openxmlformats.org/officeDocument/2006/relationships/image" Target="../media/image154.wmf"/><Relationship Id="rId1" Type="http://schemas.openxmlformats.org/officeDocument/2006/relationships/image" Target="../media/image153.wmf"/></Relationships>
</file>

<file path=ppt/drawings/_rels/vmlDrawing20.vml.rels><?xml version="1.0" encoding="UTF-8" standalone="yes"?>
<Relationships xmlns="http://schemas.openxmlformats.org/package/2006/relationships"><Relationship Id="rId6" Type="http://schemas.openxmlformats.org/officeDocument/2006/relationships/image" Target="../media/image165.wmf"/><Relationship Id="rId5" Type="http://schemas.openxmlformats.org/officeDocument/2006/relationships/image" Target="../media/image164.wmf"/><Relationship Id="rId4" Type="http://schemas.openxmlformats.org/officeDocument/2006/relationships/image" Target="../media/image163.wmf"/><Relationship Id="rId3" Type="http://schemas.openxmlformats.org/officeDocument/2006/relationships/image" Target="../media/image162.wmf"/><Relationship Id="rId2" Type="http://schemas.openxmlformats.org/officeDocument/2006/relationships/image" Target="../media/image161.wmf"/><Relationship Id="rId1" Type="http://schemas.openxmlformats.org/officeDocument/2006/relationships/image" Target="../media/image160.wmf"/></Relationships>
</file>

<file path=ppt/drawings/_rels/vmlDrawing21.vml.rels><?xml version="1.0" encoding="UTF-8" standalone="yes"?>
<Relationships xmlns="http://schemas.openxmlformats.org/package/2006/relationships"><Relationship Id="rId6" Type="http://schemas.openxmlformats.org/officeDocument/2006/relationships/image" Target="../media/image174.wmf"/><Relationship Id="rId5" Type="http://schemas.openxmlformats.org/officeDocument/2006/relationships/image" Target="../media/image173.wmf"/><Relationship Id="rId4" Type="http://schemas.openxmlformats.org/officeDocument/2006/relationships/image" Target="../media/image172.wmf"/><Relationship Id="rId3" Type="http://schemas.openxmlformats.org/officeDocument/2006/relationships/image" Target="../media/image171.wmf"/><Relationship Id="rId2" Type="http://schemas.openxmlformats.org/officeDocument/2006/relationships/image" Target="../media/image170.wmf"/><Relationship Id="rId1" Type="http://schemas.openxmlformats.org/officeDocument/2006/relationships/image" Target="../media/image169.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177.wmf"/><Relationship Id="rId2" Type="http://schemas.openxmlformats.org/officeDocument/2006/relationships/image" Target="../media/image176.wmf"/><Relationship Id="rId1" Type="http://schemas.openxmlformats.org/officeDocument/2006/relationships/image" Target="../media/image174.wmf"/></Relationships>
</file>

<file path=ppt/drawings/_rels/vmlDrawing23.vml.rels><?xml version="1.0" encoding="UTF-8" standalone="yes"?>
<Relationships xmlns="http://schemas.openxmlformats.org/package/2006/relationships"><Relationship Id="rId4" Type="http://schemas.openxmlformats.org/officeDocument/2006/relationships/image" Target="../media/image180.wmf"/><Relationship Id="rId3" Type="http://schemas.openxmlformats.org/officeDocument/2006/relationships/image" Target="../media/image179.wmf"/><Relationship Id="rId2" Type="http://schemas.openxmlformats.org/officeDocument/2006/relationships/image" Target="../media/image161.wmf"/><Relationship Id="rId1" Type="http://schemas.openxmlformats.org/officeDocument/2006/relationships/image" Target="../media/image160.wmf"/></Relationships>
</file>

<file path=ppt/drawings/_rels/vmlDrawing24.vml.rels><?xml version="1.0" encoding="UTF-8" standalone="yes"?>
<Relationships xmlns="http://schemas.openxmlformats.org/package/2006/relationships"><Relationship Id="rId4" Type="http://schemas.openxmlformats.org/officeDocument/2006/relationships/image" Target="../media/image188.wmf"/><Relationship Id="rId3" Type="http://schemas.openxmlformats.org/officeDocument/2006/relationships/image" Target="../media/image187.wmf"/><Relationship Id="rId2" Type="http://schemas.openxmlformats.org/officeDocument/2006/relationships/image" Target="../media/image185.wmf"/><Relationship Id="rId1" Type="http://schemas.openxmlformats.org/officeDocument/2006/relationships/image" Target="../media/image184.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193.wmf"/><Relationship Id="rId2" Type="http://schemas.openxmlformats.org/officeDocument/2006/relationships/image" Target="../media/image192.wmf"/><Relationship Id="rId1" Type="http://schemas.openxmlformats.org/officeDocument/2006/relationships/image" Target="../media/image19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1D8D1C-1DA0-43F5-8FFD-946EDD22B9A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FACEDB-ED97-4A20-94AD-729959513501}"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BB9A565-BA4E-4B4D-83FE-92F58C5783F8}"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章节名">
    <p:spTree>
      <p:nvGrpSpPr>
        <p:cNvPr id="1" name=""/>
        <p:cNvGrpSpPr/>
        <p:nvPr/>
      </p:nvGrpSpPr>
      <p:grpSpPr>
        <a:xfrm>
          <a:off x="0" y="0"/>
          <a:ext cx="0" cy="0"/>
          <a:chOff x="0" y="0"/>
          <a:chExt cx="0" cy="0"/>
        </a:xfrm>
      </p:grpSpPr>
      <p:sp>
        <p:nvSpPr>
          <p:cNvPr id="2" name="标题 1"/>
          <p:cNvSpPr>
            <a:spLocks noGrp="1"/>
          </p:cNvSpPr>
          <p:nvPr>
            <p:ph type="title"/>
          </p:nvPr>
        </p:nvSpPr>
        <p:spPr>
          <a:xfrm>
            <a:off x="628650" y="2841626"/>
            <a:ext cx="7886700" cy="1325563"/>
          </a:xfrm>
          <a:prstGeom prst="rect">
            <a:avLst/>
          </a:prstGeom>
        </p:spPr>
        <p:txBody>
          <a:bodyPr>
            <a:noAutofit/>
          </a:bodyPr>
          <a:lstStyle>
            <a:lvl1pPr algn="ctr">
              <a:defRPr sz="6000" baseline="0">
                <a:solidFill>
                  <a:schemeClr val="tx2"/>
                </a:solidFill>
                <a:latin typeface="Verdana" panose="020B0604030504040204" pitchFamily="34" charset="0"/>
                <a:ea typeface="幼圆" panose="02010509060101010101" pitchFamily="49" charset="-122"/>
              </a:defRPr>
            </a:lvl1pPr>
          </a:lstStyle>
          <a:p>
            <a:r>
              <a:rPr lang="zh-CN" altLang="en-US"/>
              <a:t>单击此处编辑母版标题样式</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260350" y="42864"/>
            <a:ext cx="7886700" cy="777874"/>
          </a:xfrm>
          <a:prstGeom prst="rect">
            <a:avLst/>
          </a:prstGeom>
        </p:spPr>
        <p:txBody>
          <a:bodyPr>
            <a:normAutofit/>
          </a:bodyPr>
          <a:lstStyle>
            <a:lvl1pPr>
              <a:defRPr sz="3600" baseline="0">
                <a:solidFill>
                  <a:schemeClr val="accent1"/>
                </a:solidFill>
                <a:latin typeface="Verdana" panose="020B0604030504040204" pitchFamily="34" charset="0"/>
                <a:ea typeface="幼圆" panose="02010509060101010101" pitchFamily="49" charset="-122"/>
              </a:defRPr>
            </a:lvl1pPr>
          </a:lstStyle>
          <a:p>
            <a:r>
              <a:rPr lang="zh-CN" altLang="en-US"/>
              <a:t>单击此处编辑母版标题样式</a:t>
            </a:r>
            <a:endParaRPr lang="en-US" dirty="0"/>
          </a:p>
        </p:txBody>
      </p:sp>
      <p:sp>
        <p:nvSpPr>
          <p:cNvPr id="3" name="Content Placeholder 2"/>
          <p:cNvSpPr>
            <a:spLocks noGrp="1"/>
          </p:cNvSpPr>
          <p:nvPr>
            <p:ph idx="1"/>
          </p:nvPr>
        </p:nvSpPr>
        <p:spPr>
          <a:xfrm>
            <a:off x="260350" y="1158536"/>
            <a:ext cx="8616950" cy="4930775"/>
          </a:xfrm>
        </p:spPr>
        <p:txBody>
          <a:bodyPr tIns="46800"/>
          <a:lstStyle>
            <a:lvl1pPr marL="228600" indent="-360045" algn="l">
              <a:buClr>
                <a:schemeClr val="accent1"/>
              </a:buClr>
              <a:buSzPct val="100000"/>
              <a:buFont typeface="Wingdings" panose="05000000000000000000" pitchFamily="2" charset="2"/>
              <a:buChar char="p"/>
              <a:defRPr lang="zh-CN" altLang="en-US" dirty="0" smtClean="0"/>
            </a:lvl1pPr>
            <a:lvl2pPr marL="685800" indent="-360045">
              <a:buClr>
                <a:schemeClr val="accent1"/>
              </a:buClr>
              <a:buFont typeface="Wingdings" panose="05000000000000000000" pitchFamily="2" charset="2"/>
              <a:buChar char="l"/>
              <a:defRPr sz="2000" baseline="0">
                <a:latin typeface="Verdana" panose="020B0604030504040204" pitchFamily="34" charset="0"/>
                <a:ea typeface="幼圆" panose="02010509060101010101" pitchFamily="49" charset="-122"/>
              </a:defRPr>
            </a:lvl2pPr>
            <a:lvl3pPr marL="1143000" indent="-360045">
              <a:buClr>
                <a:schemeClr val="accent1"/>
              </a:buClr>
              <a:buFont typeface="Wingdings" panose="05000000000000000000" pitchFamily="2" charset="2"/>
              <a:buChar char="l"/>
              <a:defRPr sz="1800" baseline="0">
                <a:latin typeface="Verdana" panose="020B0604030504040204" pitchFamily="34" charset="0"/>
                <a:ea typeface="幼圆" panose="02010509060101010101" pitchFamily="49" charset="-122"/>
              </a:defRPr>
            </a:lvl3pPr>
            <a:lvl4pPr marL="1600200" indent="-360045">
              <a:buClr>
                <a:schemeClr val="accent1"/>
              </a:buClr>
              <a:buFont typeface="Wingdings" panose="05000000000000000000" pitchFamily="2" charset="2"/>
              <a:buChar char="l"/>
              <a:defRPr sz="1600" baseline="0">
                <a:latin typeface="Verdana" panose="020B0604030504040204" pitchFamily="34" charset="0"/>
                <a:ea typeface="幼圆" panose="02010509060101010101" pitchFamily="49" charset="-122"/>
              </a:defRPr>
            </a:lvl4pPr>
            <a:lvl5pPr marL="2057400" indent="-360045">
              <a:buClr>
                <a:schemeClr val="accent1"/>
              </a:buClr>
              <a:buFont typeface="Wingdings" panose="05000000000000000000" pitchFamily="2" charset="2"/>
              <a:buChar char="l"/>
              <a:defRPr sz="1600" baseline="0">
                <a:latin typeface="Verdana" panose="020B0604030504040204" pitchFamily="34" charset="0"/>
                <a:ea typeface="幼圆" panose="02010509060101010101" pitchFamily="49" charset="-122"/>
              </a:defRPr>
            </a:lvl5pPr>
            <a:lvl6pPr marL="2286000" indent="0">
              <a:buClr>
                <a:schemeClr val="tx2"/>
              </a:buClr>
              <a:buFont typeface="Arial" panose="020B0604020202020204" pitchFamily="34" charset="0"/>
              <a:buNone/>
              <a:defRPr/>
            </a:lvl6pPr>
            <a:lvl7pPr marL="2743200" indent="0">
              <a:buNone/>
              <a:defRPr/>
            </a:lvl7pPr>
            <a:lvl8pPr marL="3200400" indent="0">
              <a:buNone/>
              <a:defRPr/>
            </a:lvl8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ltLang="zh-C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标题-副标题">
    <p:spTree>
      <p:nvGrpSpPr>
        <p:cNvPr id="1" name=""/>
        <p:cNvGrpSpPr/>
        <p:nvPr/>
      </p:nvGrpSpPr>
      <p:grpSpPr>
        <a:xfrm>
          <a:off x="0" y="0"/>
          <a:ext cx="0" cy="0"/>
          <a:chOff x="0" y="0"/>
          <a:chExt cx="0" cy="0"/>
        </a:xfrm>
      </p:grpSpPr>
      <p:sp>
        <p:nvSpPr>
          <p:cNvPr id="2" name="标题 1"/>
          <p:cNvSpPr>
            <a:spLocks noGrp="1"/>
          </p:cNvSpPr>
          <p:nvPr>
            <p:ph type="title"/>
          </p:nvPr>
        </p:nvSpPr>
        <p:spPr>
          <a:xfrm>
            <a:off x="260350" y="50800"/>
            <a:ext cx="7194550" cy="787400"/>
          </a:xfrm>
        </p:spPr>
        <p:txBody>
          <a:bodyPr/>
          <a:lstStyle>
            <a:lvl1pPr>
              <a:defRPr baseline="0"/>
            </a:lvl1pPr>
          </a:lstStyle>
          <a:p>
            <a:r>
              <a:rPr lang="zh-CN" altLang="en-US"/>
              <a:t>单击此处编辑母版标题样式</a:t>
            </a:r>
            <a:endParaRPr lang="zh-CN" altLang="en-US" dirty="0"/>
          </a:p>
        </p:txBody>
      </p:sp>
      <p:sp>
        <p:nvSpPr>
          <p:cNvPr id="7" name="文本占位符 6"/>
          <p:cNvSpPr>
            <a:spLocks noGrp="1"/>
          </p:cNvSpPr>
          <p:nvPr>
            <p:ph type="body" sz="quarter" idx="13"/>
          </p:nvPr>
        </p:nvSpPr>
        <p:spPr>
          <a:xfrm>
            <a:off x="260350" y="1149013"/>
            <a:ext cx="8629650" cy="457200"/>
          </a:xfrm>
        </p:spPr>
        <p:txBody>
          <a:bodyPr>
            <a:normAutofit/>
          </a:bodyPr>
          <a:lstStyle>
            <a:lvl1pPr marL="0" indent="0">
              <a:buFont typeface="Arial" panose="020B0604020202020204" pitchFamily="34" charset="0"/>
              <a:buNone/>
              <a:defRPr sz="3000" baseline="0">
                <a:solidFill>
                  <a:schemeClr val="tx2"/>
                </a:solidFill>
                <a:latin typeface="Verdana" panose="020B0604030504040204" pitchFamily="34" charset="0"/>
                <a:ea typeface="微软雅黑" panose="020B0503020204020204" pitchFamily="34" charset="-122"/>
              </a:defRPr>
            </a:lvl1pPr>
            <a:lvl2pPr marL="457200" indent="0">
              <a:buNone/>
              <a:defRPr/>
            </a:lvl2pPr>
          </a:lstStyle>
          <a:p>
            <a:pPr lvl="0"/>
            <a:r>
              <a:rPr lang="zh-CN" altLang="en-US"/>
              <a:t>单击此处编辑母版文本样式</a:t>
            </a:r>
            <a:endParaRPr lang="zh-CN" altLang="en-US"/>
          </a:p>
        </p:txBody>
      </p:sp>
      <p:sp>
        <p:nvSpPr>
          <p:cNvPr id="9" name="内容占位符 8"/>
          <p:cNvSpPr>
            <a:spLocks noGrp="1"/>
          </p:cNvSpPr>
          <p:nvPr>
            <p:ph sz="quarter" idx="14"/>
          </p:nvPr>
        </p:nvSpPr>
        <p:spPr>
          <a:xfrm>
            <a:off x="260350" y="1720513"/>
            <a:ext cx="8629650" cy="4343400"/>
          </a:xfrm>
        </p:spPr>
        <p:txBody>
          <a:bodyPr/>
          <a:lstStyle>
            <a:lvl1pPr>
              <a:buClr>
                <a:schemeClr val="accent1"/>
              </a:buClr>
              <a:defRPr baseline="0"/>
            </a:lvl1pPr>
            <a:lvl2pPr>
              <a:buClr>
                <a:schemeClr val="accent1"/>
              </a:buClr>
              <a:defRPr baseline="0"/>
            </a:lvl2pPr>
            <a:lvl3pPr>
              <a:buClr>
                <a:schemeClr val="accent1"/>
              </a:buClr>
              <a:defRPr baseline="0"/>
            </a:lvl3pPr>
            <a:lvl4pPr>
              <a:buClr>
                <a:schemeClr val="accent1"/>
              </a:buClr>
              <a:defRPr baseline="0"/>
            </a:lvl4pPr>
            <a:lvl5pPr>
              <a:buClr>
                <a:schemeClr val="accent1"/>
              </a:buClr>
              <a:defRPr baseline="0"/>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66700" y="1171237"/>
            <a:ext cx="3962400" cy="4897438"/>
          </a:xfrm>
        </p:spPr>
        <p:txBody>
          <a:bodyPr/>
          <a:lstStyle>
            <a:lvl1pPr marL="228600" indent="-360045">
              <a:buClr>
                <a:schemeClr val="accent1"/>
              </a:buClr>
              <a:buFont typeface="Wingdings" panose="05000000000000000000" pitchFamily="2" charset="2"/>
              <a:buChar char="p"/>
              <a:defRPr sz="2200">
                <a:latin typeface="幼圆" panose="02010509060101010101" pitchFamily="49" charset="-122"/>
                <a:ea typeface="幼圆" panose="02010509060101010101" pitchFamily="49" charset="-122"/>
              </a:defRPr>
            </a:lvl1pPr>
            <a:lvl2pPr marL="685800" indent="-360045">
              <a:buClr>
                <a:schemeClr val="accent1"/>
              </a:buClr>
              <a:buFont typeface="Wingdings" panose="05000000000000000000" pitchFamily="2" charset="2"/>
              <a:buChar char="l"/>
              <a:defRPr sz="2000">
                <a:latin typeface="幼圆" panose="02010509060101010101" pitchFamily="49" charset="-122"/>
                <a:ea typeface="幼圆" panose="02010509060101010101" pitchFamily="49" charset="-122"/>
              </a:defRPr>
            </a:lvl2pPr>
            <a:lvl3pPr marL="1143000" indent="-360045">
              <a:buClr>
                <a:schemeClr val="accent1"/>
              </a:buClr>
              <a:buFont typeface="Wingdings" panose="05000000000000000000" pitchFamily="2" charset="2"/>
              <a:buChar char="l"/>
              <a:defRPr>
                <a:latin typeface="幼圆" panose="02010509060101010101" pitchFamily="49" charset="-122"/>
                <a:ea typeface="幼圆" panose="02010509060101010101" pitchFamily="49" charset="-122"/>
              </a:defRPr>
            </a:lvl3pPr>
            <a:lvl4pPr marL="1600200" indent="-360045">
              <a:buClr>
                <a:schemeClr val="accent1"/>
              </a:buClr>
              <a:buFont typeface="Wingdings" panose="05000000000000000000" pitchFamily="2" charset="2"/>
              <a:buChar char="l"/>
              <a:defRPr>
                <a:latin typeface="幼圆" panose="02010509060101010101" pitchFamily="49" charset="-122"/>
                <a:ea typeface="幼圆" panose="02010509060101010101" pitchFamily="49" charset="-122"/>
              </a:defRPr>
            </a:lvl4pPr>
            <a:lvl5pPr marL="2057400" indent="-360045">
              <a:buClr>
                <a:schemeClr val="accent1"/>
              </a:buClr>
              <a:buFont typeface="Wingdings" panose="05000000000000000000" pitchFamily="2" charset="2"/>
              <a:buChar char="l"/>
              <a:defRPr>
                <a:latin typeface="幼圆" panose="02010509060101010101" pitchFamily="49" charset="-122"/>
                <a:ea typeface="幼圆" panose="02010509060101010101" pitchFamily="49" charset="-122"/>
              </a:defRPr>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p:nvPr>
        </p:nvSpPr>
        <p:spPr>
          <a:xfrm>
            <a:off x="4629150" y="1171237"/>
            <a:ext cx="4260850" cy="4897438"/>
          </a:xfrm>
        </p:spPr>
        <p:txBody>
          <a:bodyPr/>
          <a:lstStyle>
            <a:lvl1pPr marL="228600" indent="-360045">
              <a:buClr>
                <a:schemeClr val="accent1"/>
              </a:buClr>
              <a:buFont typeface="Wingdings" panose="05000000000000000000" pitchFamily="2" charset="2"/>
              <a:buChar char="p"/>
              <a:defRPr sz="2200">
                <a:latin typeface="幼圆" panose="02010509060101010101" pitchFamily="49" charset="-122"/>
                <a:ea typeface="幼圆" panose="02010509060101010101" pitchFamily="49" charset="-122"/>
              </a:defRPr>
            </a:lvl1pPr>
            <a:lvl2pPr marL="685800" indent="-360045">
              <a:buClr>
                <a:schemeClr val="accent1"/>
              </a:buClr>
              <a:buFont typeface="Wingdings" panose="05000000000000000000" pitchFamily="2" charset="2"/>
              <a:buChar char="l"/>
              <a:defRPr sz="2000">
                <a:latin typeface="幼圆" panose="02010509060101010101" pitchFamily="49" charset="-122"/>
                <a:ea typeface="幼圆" panose="02010509060101010101" pitchFamily="49" charset="-122"/>
              </a:defRPr>
            </a:lvl2pPr>
            <a:lvl3pPr marL="1143000" indent="-360045">
              <a:buClr>
                <a:schemeClr val="accent1"/>
              </a:buClr>
              <a:buFont typeface="Wingdings" panose="05000000000000000000" pitchFamily="2" charset="2"/>
              <a:buChar char="l"/>
              <a:defRPr>
                <a:latin typeface="幼圆" panose="02010509060101010101" pitchFamily="49" charset="-122"/>
                <a:ea typeface="幼圆" panose="02010509060101010101" pitchFamily="49" charset="-122"/>
              </a:defRPr>
            </a:lvl3pPr>
            <a:lvl4pPr marL="1600200" indent="-360045">
              <a:buClr>
                <a:schemeClr val="accent1"/>
              </a:buClr>
              <a:buFont typeface="Wingdings" panose="05000000000000000000" pitchFamily="2" charset="2"/>
              <a:buChar char="l"/>
              <a:defRPr>
                <a:latin typeface="幼圆" panose="02010509060101010101" pitchFamily="49" charset="-122"/>
                <a:ea typeface="幼圆" panose="02010509060101010101" pitchFamily="49" charset="-122"/>
              </a:defRPr>
            </a:lvl4pPr>
            <a:lvl5pPr marL="2057400" indent="-360045">
              <a:buClr>
                <a:schemeClr val="accent1"/>
              </a:buClr>
              <a:buFont typeface="Wingdings" panose="05000000000000000000" pitchFamily="2" charset="2"/>
              <a:buChar char="l"/>
              <a:defRPr>
                <a:latin typeface="幼圆" panose="02010509060101010101" pitchFamily="49" charset="-122"/>
                <a:ea typeface="幼圆" panose="02010509060101010101" pitchFamily="49" charset="-122"/>
              </a:defRPr>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8" name="Title 1"/>
          <p:cNvSpPr>
            <a:spLocks noGrp="1"/>
          </p:cNvSpPr>
          <p:nvPr>
            <p:ph type="title"/>
          </p:nvPr>
        </p:nvSpPr>
        <p:spPr>
          <a:xfrm>
            <a:off x="260350" y="60327"/>
            <a:ext cx="7886700" cy="777874"/>
          </a:xfrm>
          <a:prstGeom prst="rect">
            <a:avLst/>
          </a:prstGeom>
        </p:spPr>
        <p:txBody>
          <a:bodyPr>
            <a:normAutofit/>
          </a:bodyPr>
          <a:lstStyle>
            <a:lvl1pPr>
              <a:defRPr sz="3600" baseline="0">
                <a:solidFill>
                  <a:schemeClr val="accent1"/>
                </a:solidFill>
                <a:latin typeface="Verdana" panose="020B0604030504040204" pitchFamily="34" charset="0"/>
                <a:ea typeface="幼圆" panose="02010509060101010101" pitchFamily="49" charset="-122"/>
              </a:defRPr>
            </a:lvl1pPr>
          </a:lstStyle>
          <a:p>
            <a:r>
              <a:rPr lang="zh-CN" altLang="en-US"/>
              <a:t>单击此处编辑母版标题样式</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60350" y="1112791"/>
            <a:ext cx="4006850" cy="445293"/>
          </a:xfrm>
        </p:spPr>
        <p:txBody>
          <a:bodyPr anchor="t">
            <a:noAutofit/>
          </a:bodyPr>
          <a:lstStyle>
            <a:lvl1pPr marL="0" indent="0">
              <a:buNone/>
              <a:defRPr sz="3000" b="0" baseline="0">
                <a:solidFill>
                  <a:schemeClr val="tx2"/>
                </a:solidFill>
                <a:latin typeface="Verdana" panose="020B060403050404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260350" y="1724773"/>
            <a:ext cx="4006850" cy="4308473"/>
          </a:xfrm>
        </p:spPr>
        <p:txBody>
          <a:bodyPr/>
          <a:lstStyle>
            <a:lvl1pPr marL="228600" indent="-360045">
              <a:buClr>
                <a:schemeClr val="accent1"/>
              </a:buClr>
              <a:buFont typeface="Wingdings" panose="05000000000000000000" pitchFamily="2" charset="2"/>
              <a:buChar char="p"/>
              <a:defRPr baseline="0">
                <a:latin typeface="Verdana" panose="020B0604030504040204" pitchFamily="34" charset="0"/>
                <a:ea typeface="幼圆" panose="02010509060101010101" pitchFamily="49" charset="-122"/>
              </a:defRPr>
            </a:lvl1pPr>
            <a:lvl2pPr marL="685800" indent="-360045">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2pPr>
            <a:lvl3pPr marL="1143000" indent="-360045">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3pPr>
            <a:lvl4pPr marL="1600200" indent="-360045">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4pPr>
            <a:lvl5pPr marL="2057400" indent="-360045">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p:nvPr>
        </p:nvSpPr>
        <p:spPr>
          <a:xfrm>
            <a:off x="4572000" y="1112791"/>
            <a:ext cx="4305300" cy="445293"/>
          </a:xfrm>
        </p:spPr>
        <p:txBody>
          <a:bodyPr anchor="t">
            <a:noAutofit/>
          </a:bodyPr>
          <a:lstStyle>
            <a:lvl1pPr marL="0" indent="0">
              <a:buNone/>
              <a:defRPr sz="3000" b="0" baseline="0">
                <a:solidFill>
                  <a:schemeClr val="tx2"/>
                </a:solidFill>
                <a:latin typeface="Verdana" panose="020B060403050404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4572000" y="1724773"/>
            <a:ext cx="4305300" cy="4308473"/>
          </a:xfrm>
        </p:spPr>
        <p:txBody>
          <a:bodyPr/>
          <a:lstStyle>
            <a:lvl1pPr marL="228600" indent="-360045">
              <a:buClr>
                <a:schemeClr val="accent1"/>
              </a:buClr>
              <a:buFont typeface="Wingdings" panose="05000000000000000000" pitchFamily="2" charset="2"/>
              <a:buChar char="p"/>
              <a:defRPr baseline="0">
                <a:latin typeface="Verdana" panose="020B0604030504040204" pitchFamily="34" charset="0"/>
                <a:ea typeface="幼圆" panose="02010509060101010101" pitchFamily="49" charset="-122"/>
              </a:defRPr>
            </a:lvl1pPr>
            <a:lvl2pPr marL="685800" indent="-360045">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2pPr>
            <a:lvl3pPr marL="1143000" indent="-360045">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3pPr>
            <a:lvl4pPr marL="1600200" indent="-360045">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4pPr>
            <a:lvl5pPr marL="2057400" indent="-360045">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10" name="Title 1"/>
          <p:cNvSpPr>
            <a:spLocks noGrp="1"/>
          </p:cNvSpPr>
          <p:nvPr>
            <p:ph type="title"/>
          </p:nvPr>
        </p:nvSpPr>
        <p:spPr>
          <a:xfrm>
            <a:off x="260350" y="73027"/>
            <a:ext cx="7886700" cy="777874"/>
          </a:xfrm>
          <a:prstGeom prst="rect">
            <a:avLst/>
          </a:prstGeom>
        </p:spPr>
        <p:txBody>
          <a:bodyPr>
            <a:normAutofit/>
          </a:bodyPr>
          <a:lstStyle>
            <a:lvl1pPr>
              <a:defRPr sz="3600" baseline="0">
                <a:solidFill>
                  <a:schemeClr val="accent1"/>
                </a:solidFill>
                <a:latin typeface="Verdana" panose="020B0604030504040204" pitchFamily="34" charset="0"/>
                <a:ea typeface="幼圆" panose="02010509060101010101" pitchFamily="49" charset="-122"/>
              </a:defRPr>
            </a:lvl1pPr>
          </a:lstStyle>
          <a:p>
            <a:r>
              <a:rPr lang="zh-CN" altLang="en-US"/>
              <a:t>单击此处编辑母版标题样式</a:t>
            </a: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
        <p:nvSpPr>
          <p:cNvPr id="6" name="Title 1"/>
          <p:cNvSpPr>
            <a:spLocks noGrp="1"/>
          </p:cNvSpPr>
          <p:nvPr>
            <p:ph type="title"/>
          </p:nvPr>
        </p:nvSpPr>
        <p:spPr>
          <a:xfrm>
            <a:off x="260350" y="73027"/>
            <a:ext cx="7886700" cy="777874"/>
          </a:xfrm>
          <a:prstGeom prst="rect">
            <a:avLst/>
          </a:prstGeom>
        </p:spPr>
        <p:txBody>
          <a:bodyPr>
            <a:normAutofit/>
          </a:bodyPr>
          <a:lstStyle>
            <a:lvl1pPr>
              <a:defRPr sz="3600" b="1" baseline="0">
                <a:solidFill>
                  <a:schemeClr val="accent1"/>
                </a:solidFill>
                <a:effectLst>
                  <a:outerShdw blurRad="38100" dist="38100" dir="2700000" algn="tl">
                    <a:srgbClr val="000000">
                      <a:alpha val="43137"/>
                    </a:srgbClr>
                  </a:outerShdw>
                </a:effectLst>
                <a:latin typeface="Verdana" panose="020B0604030504040204" pitchFamily="34" charset="0"/>
                <a:ea typeface="幼圆" panose="02010509060101010101" pitchFamily="49" charset="-122"/>
              </a:defRPr>
            </a:lvl1pPr>
          </a:lstStyle>
          <a:p>
            <a:r>
              <a:rPr lang="zh-CN" altLang="en-US"/>
              <a:t>单击此处编辑母版标题样式</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image" Target="../media/image3.jpeg"/><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0">
            <a:lum/>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60350" y="1050917"/>
            <a:ext cx="8629650" cy="5070476"/>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8" name="标题占位符 7"/>
          <p:cNvSpPr>
            <a:spLocks noGrp="1"/>
          </p:cNvSpPr>
          <p:nvPr>
            <p:ph type="title"/>
          </p:nvPr>
        </p:nvSpPr>
        <p:spPr>
          <a:xfrm>
            <a:off x="260350" y="50800"/>
            <a:ext cx="7194550" cy="787400"/>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xStyles>
    <p:titleStyle>
      <a:lvl1pPr algn="l" defTabSz="914400" rtl="0" eaLnBrk="1" latinLnBrk="0" hangingPunct="1">
        <a:lnSpc>
          <a:spcPct val="90000"/>
        </a:lnSpc>
        <a:spcBef>
          <a:spcPct val="0"/>
        </a:spcBef>
        <a:buNone/>
        <a:defRPr sz="3600" b="1" kern="1200" baseline="0">
          <a:solidFill>
            <a:schemeClr val="accent1"/>
          </a:solidFill>
          <a:effectLst>
            <a:outerShdw blurRad="38100" dist="38100" dir="2700000" algn="tl">
              <a:srgbClr val="000000">
                <a:alpha val="43137"/>
              </a:srgbClr>
            </a:outerShdw>
          </a:effectLst>
          <a:latin typeface="Verdana" panose="020B0604030504040204" pitchFamily="34" charset="0"/>
          <a:ea typeface="幼圆" panose="02010509060101010101" pitchFamily="49" charset="-122"/>
          <a:cs typeface="+mj-cs"/>
        </a:defRPr>
      </a:lvl1pPr>
    </p:titleStyle>
    <p:bodyStyle>
      <a:lvl1pPr marL="228600" indent="-360045" algn="l" defTabSz="914400" rtl="0" eaLnBrk="1" latinLnBrk="0" hangingPunct="1">
        <a:lnSpc>
          <a:spcPct val="90000"/>
        </a:lnSpc>
        <a:spcBef>
          <a:spcPts val="1000"/>
        </a:spcBef>
        <a:buClr>
          <a:schemeClr val="tx2"/>
        </a:buClr>
        <a:buSzPct val="120000"/>
        <a:buFont typeface="Wingdings" panose="05000000000000000000" pitchFamily="2" charset="2"/>
        <a:buChar char="p"/>
        <a:defRPr sz="2200" kern="1200" baseline="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tx2"/>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tx2"/>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tx2"/>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tx2"/>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3.xml"/><Relationship Id="rId4" Type="http://schemas.openxmlformats.org/officeDocument/2006/relationships/image" Target="../media/image11.wmf"/><Relationship Id="rId3" Type="http://schemas.openxmlformats.org/officeDocument/2006/relationships/oleObject" Target="../embeddings/oleObject2.bin"/><Relationship Id="rId2" Type="http://schemas.openxmlformats.org/officeDocument/2006/relationships/image" Target="../media/image10.wmf"/><Relationship Id="rId1" Type="http://schemas.openxmlformats.org/officeDocument/2006/relationships/oleObject" Target="../embeddings/oleObject1.bin"/></Relationships>
</file>

<file path=ppt/slides/_rels/slide9.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slideLayout" Target="../slideLayouts/slideLayout3.xml"/><Relationship Id="rId4" Type="http://schemas.openxmlformats.org/officeDocument/2006/relationships/image" Target="../media/image11.wmf"/><Relationship Id="rId3" Type="http://schemas.openxmlformats.org/officeDocument/2006/relationships/oleObject" Target="../embeddings/oleObject4.bin"/><Relationship Id="rId2" Type="http://schemas.openxmlformats.org/officeDocument/2006/relationships/image" Target="../media/image10.wmf"/><Relationship Id="rId1" Type="http://schemas.openxmlformats.org/officeDocument/2006/relationships/oleObject" Target="../embeddings/oleObject3.bin"/></Relationships>
</file>

<file path=ppt/slides/_rels/slide10.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slideLayout" Target="../slideLayouts/slideLayout3.xml"/><Relationship Id="rId4" Type="http://schemas.openxmlformats.org/officeDocument/2006/relationships/image" Target="../media/image11.wmf"/><Relationship Id="rId3" Type="http://schemas.openxmlformats.org/officeDocument/2006/relationships/oleObject" Target="../embeddings/oleObject6.bin"/><Relationship Id="rId2" Type="http://schemas.openxmlformats.org/officeDocument/2006/relationships/image" Target="../media/image10.wmf"/><Relationship Id="rId1" Type="http://schemas.openxmlformats.org/officeDocument/2006/relationships/oleObject" Target="../embeddings/oleObject5.bin"/></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3.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4.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5.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6.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7.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8.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8.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9.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0.png"/></Relationships>
</file>

<file path=ppt/slides/_rels/slide21.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openxmlformats.org/officeDocument/2006/relationships/image" Target="../media/image25.png"/><Relationship Id="rId4" Type="http://schemas.openxmlformats.org/officeDocument/2006/relationships/image" Target="../media/image24.png"/><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21.png"/></Relationships>
</file>

<file path=ppt/slides/_rels/slide22.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image" Target="../media/image28.png"/><Relationship Id="rId3" Type="http://schemas.openxmlformats.org/officeDocument/2006/relationships/image" Target="../media/image27.png"/><Relationship Id="rId2" Type="http://schemas.openxmlformats.org/officeDocument/2006/relationships/image" Target="../media/image23.png"/><Relationship Id="rId1" Type="http://schemas.openxmlformats.org/officeDocument/2006/relationships/image" Target="../media/image26.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9.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0.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1.png"/></Relationships>
</file>

<file path=ppt/slides/_rels/slide26.xml.rels><?xml version="1.0" encoding="UTF-8" standalone="yes"?>
<Relationships xmlns="http://schemas.openxmlformats.org/package/2006/relationships"><Relationship Id="rId8" Type="http://schemas.openxmlformats.org/officeDocument/2006/relationships/slideLayout" Target="../slideLayouts/slideLayout3.xml"/><Relationship Id="rId7" Type="http://schemas.openxmlformats.org/officeDocument/2006/relationships/image" Target="../media/image38.png"/><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image" Target="../media/image32.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9.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image" Target="../media/image44.png"/><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image" Target="../media/image41.png"/></Relationships>
</file>

<file path=ppt/slides/_rels/slide31.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image" Target="../media/image45.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8.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9.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51.png"/><Relationship Id="rId1" Type="http://schemas.openxmlformats.org/officeDocument/2006/relationships/image" Target="../media/image50.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5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53.png"/></Relationships>
</file>

<file path=ppt/slides/_rels/slide38.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image" Target="../media/image54.pn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58.png"/><Relationship Id="rId1" Type="http://schemas.openxmlformats.org/officeDocument/2006/relationships/image" Target="../media/image57.png"/></Relationships>
</file>

<file path=ppt/slides/_rels/slide40.xml.rels><?xml version="1.0" encoding="UTF-8" standalone="yes"?>
<Relationships xmlns="http://schemas.openxmlformats.org/package/2006/relationships"><Relationship Id="rId7" Type="http://schemas.openxmlformats.org/officeDocument/2006/relationships/slideLayout" Target="../slideLayouts/slideLayout3.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image" Target="../media/image59.png"/></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66.png"/><Relationship Id="rId1" Type="http://schemas.openxmlformats.org/officeDocument/2006/relationships/image" Target="../media/image65.pn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67.png"/><Relationship Id="rId1" Type="http://schemas.openxmlformats.org/officeDocument/2006/relationships/image" Target="../media/image66.png"/></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69.png"/><Relationship Id="rId1" Type="http://schemas.openxmlformats.org/officeDocument/2006/relationships/image" Target="../media/image6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9" Type="http://schemas.openxmlformats.org/officeDocument/2006/relationships/slideLayout" Target="../slideLayouts/slideLayout3.xml"/><Relationship Id="rId8" Type="http://schemas.openxmlformats.org/officeDocument/2006/relationships/image" Target="../media/image73.wmf"/><Relationship Id="rId7" Type="http://schemas.openxmlformats.org/officeDocument/2006/relationships/oleObject" Target="../embeddings/oleObject10.bin"/><Relationship Id="rId6" Type="http://schemas.openxmlformats.org/officeDocument/2006/relationships/image" Target="../media/image72.wmf"/><Relationship Id="rId5" Type="http://schemas.openxmlformats.org/officeDocument/2006/relationships/oleObject" Target="../embeddings/oleObject9.bin"/><Relationship Id="rId4" Type="http://schemas.openxmlformats.org/officeDocument/2006/relationships/image" Target="../media/image71.wmf"/><Relationship Id="rId3" Type="http://schemas.openxmlformats.org/officeDocument/2006/relationships/oleObject" Target="../embeddings/oleObject8.bin"/><Relationship Id="rId2" Type="http://schemas.openxmlformats.org/officeDocument/2006/relationships/image" Target="../media/image70.wmf"/><Relationship Id="rId10" Type="http://schemas.openxmlformats.org/officeDocument/2006/relationships/vmlDrawing" Target="../drawings/vmlDrawing4.vml"/><Relationship Id="rId1" Type="http://schemas.openxmlformats.org/officeDocument/2006/relationships/oleObject" Target="../embeddings/oleObject7.bin"/></Relationships>
</file>

<file path=ppt/slides/_rels/slide46.xml.rels><?xml version="1.0" encoding="UTF-8" standalone="yes"?>
<Relationships xmlns="http://schemas.openxmlformats.org/package/2006/relationships"><Relationship Id="rId9" Type="http://schemas.openxmlformats.org/officeDocument/2006/relationships/image" Target="../media/image77.wmf"/><Relationship Id="rId8" Type="http://schemas.openxmlformats.org/officeDocument/2006/relationships/oleObject" Target="../embeddings/oleObject15.bin"/><Relationship Id="rId7" Type="http://schemas.openxmlformats.org/officeDocument/2006/relationships/image" Target="../media/image76.png"/><Relationship Id="rId6" Type="http://schemas.openxmlformats.org/officeDocument/2006/relationships/oleObject" Target="../embeddings/oleObject14.bin"/><Relationship Id="rId5" Type="http://schemas.openxmlformats.org/officeDocument/2006/relationships/oleObject" Target="../embeddings/oleObject13.bin"/><Relationship Id="rId4" Type="http://schemas.openxmlformats.org/officeDocument/2006/relationships/image" Target="../media/image75.wmf"/><Relationship Id="rId3" Type="http://schemas.openxmlformats.org/officeDocument/2006/relationships/oleObject" Target="../embeddings/oleObject12.bin"/><Relationship Id="rId2" Type="http://schemas.openxmlformats.org/officeDocument/2006/relationships/image" Target="../media/image74.wmf"/><Relationship Id="rId11" Type="http://schemas.openxmlformats.org/officeDocument/2006/relationships/vmlDrawing" Target="../drawings/vmlDrawing5.vml"/><Relationship Id="rId10" Type="http://schemas.openxmlformats.org/officeDocument/2006/relationships/slideLayout" Target="../slideLayouts/slideLayout3.xml"/><Relationship Id="rId1" Type="http://schemas.openxmlformats.org/officeDocument/2006/relationships/oleObject" Target="../embeddings/oleObject11.bin"/></Relationships>
</file>

<file path=ppt/slides/_rels/slide47.xml.rels><?xml version="1.0" encoding="UTF-8" standalone="yes"?>
<Relationships xmlns="http://schemas.openxmlformats.org/package/2006/relationships"><Relationship Id="rId9" Type="http://schemas.openxmlformats.org/officeDocument/2006/relationships/vmlDrawing" Target="../drawings/vmlDrawing6.vml"/><Relationship Id="rId8" Type="http://schemas.openxmlformats.org/officeDocument/2006/relationships/slideLayout" Target="../slideLayouts/slideLayout3.xml"/><Relationship Id="rId7" Type="http://schemas.openxmlformats.org/officeDocument/2006/relationships/image" Target="../media/image81.wmf"/><Relationship Id="rId6" Type="http://schemas.openxmlformats.org/officeDocument/2006/relationships/oleObject" Target="../embeddings/oleObject18.bin"/><Relationship Id="rId5" Type="http://schemas.openxmlformats.org/officeDocument/2006/relationships/image" Target="../media/image80.wmf"/><Relationship Id="rId4" Type="http://schemas.openxmlformats.org/officeDocument/2006/relationships/oleObject" Target="../embeddings/oleObject17.bin"/><Relationship Id="rId3" Type="http://schemas.openxmlformats.org/officeDocument/2006/relationships/image" Target="../media/image79.wmf"/><Relationship Id="rId2" Type="http://schemas.openxmlformats.org/officeDocument/2006/relationships/oleObject" Target="../embeddings/oleObject16.bin"/><Relationship Id="rId1" Type="http://schemas.openxmlformats.org/officeDocument/2006/relationships/image" Target="../media/image78.png"/></Relationships>
</file>

<file path=ppt/slides/_rels/slide48.xml.rels><?xml version="1.0" encoding="UTF-8" standalone="yes"?>
<Relationships xmlns="http://schemas.openxmlformats.org/package/2006/relationships"><Relationship Id="rId9" Type="http://schemas.openxmlformats.org/officeDocument/2006/relationships/vmlDrawing" Target="../drawings/vmlDrawing7.vml"/><Relationship Id="rId8" Type="http://schemas.openxmlformats.org/officeDocument/2006/relationships/slideLayout" Target="../slideLayouts/slideLayout3.xml"/><Relationship Id="rId7" Type="http://schemas.openxmlformats.org/officeDocument/2006/relationships/image" Target="../media/image85.png"/><Relationship Id="rId6" Type="http://schemas.openxmlformats.org/officeDocument/2006/relationships/image" Target="../media/image84.wmf"/><Relationship Id="rId5" Type="http://schemas.openxmlformats.org/officeDocument/2006/relationships/oleObject" Target="../embeddings/oleObject21.bin"/><Relationship Id="rId4" Type="http://schemas.openxmlformats.org/officeDocument/2006/relationships/image" Target="../media/image83.wmf"/><Relationship Id="rId3" Type="http://schemas.openxmlformats.org/officeDocument/2006/relationships/oleObject" Target="../embeddings/oleObject20.bin"/><Relationship Id="rId2" Type="http://schemas.openxmlformats.org/officeDocument/2006/relationships/image" Target="../media/image82.wmf"/><Relationship Id="rId1" Type="http://schemas.openxmlformats.org/officeDocument/2006/relationships/oleObject" Target="../embeddings/oleObject19.bin"/></Relationships>
</file>

<file path=ppt/slides/_rels/slide49.xml.rels><?xml version="1.0" encoding="UTF-8" standalone="yes"?>
<Relationships xmlns="http://schemas.openxmlformats.org/package/2006/relationships"><Relationship Id="rId9" Type="http://schemas.openxmlformats.org/officeDocument/2006/relationships/image" Target="../media/image90.wmf"/><Relationship Id="rId8" Type="http://schemas.openxmlformats.org/officeDocument/2006/relationships/oleObject" Target="../embeddings/oleObject25.bin"/><Relationship Id="rId7" Type="http://schemas.openxmlformats.org/officeDocument/2006/relationships/image" Target="../media/image89.wmf"/><Relationship Id="rId6" Type="http://schemas.openxmlformats.org/officeDocument/2006/relationships/oleObject" Target="../embeddings/oleObject24.bin"/><Relationship Id="rId5" Type="http://schemas.openxmlformats.org/officeDocument/2006/relationships/image" Target="../media/image88.wmf"/><Relationship Id="rId4" Type="http://schemas.openxmlformats.org/officeDocument/2006/relationships/oleObject" Target="../embeddings/oleObject23.bin"/><Relationship Id="rId3" Type="http://schemas.openxmlformats.org/officeDocument/2006/relationships/image" Target="../media/image87.wmf"/><Relationship Id="rId2" Type="http://schemas.openxmlformats.org/officeDocument/2006/relationships/oleObject" Target="../embeddings/oleObject22.bin"/><Relationship Id="rId11" Type="http://schemas.openxmlformats.org/officeDocument/2006/relationships/vmlDrawing" Target="../drawings/vmlDrawing8.vml"/><Relationship Id="rId10" Type="http://schemas.openxmlformats.org/officeDocument/2006/relationships/slideLayout" Target="../slideLayouts/slideLayout3.xml"/><Relationship Id="rId1" Type="http://schemas.openxmlformats.org/officeDocument/2006/relationships/image" Target="../media/image86.png"/></Relationships>
</file>

<file path=ppt/slides/_rels/slide50.xml.rels><?xml version="1.0" encoding="UTF-8" standalone="yes"?>
<Relationships xmlns="http://schemas.openxmlformats.org/package/2006/relationships"><Relationship Id="rId9" Type="http://schemas.openxmlformats.org/officeDocument/2006/relationships/image" Target="../media/image93.wmf"/><Relationship Id="rId8" Type="http://schemas.openxmlformats.org/officeDocument/2006/relationships/oleObject" Target="../embeddings/oleObject29.bin"/><Relationship Id="rId7" Type="http://schemas.openxmlformats.org/officeDocument/2006/relationships/image" Target="../media/image84.wmf"/><Relationship Id="rId6" Type="http://schemas.openxmlformats.org/officeDocument/2006/relationships/oleObject" Target="../embeddings/oleObject28.bin"/><Relationship Id="rId5" Type="http://schemas.openxmlformats.org/officeDocument/2006/relationships/image" Target="../media/image90.wmf"/><Relationship Id="rId4" Type="http://schemas.openxmlformats.org/officeDocument/2006/relationships/oleObject" Target="../embeddings/oleObject27.bin"/><Relationship Id="rId3" Type="http://schemas.openxmlformats.org/officeDocument/2006/relationships/image" Target="../media/image92.wmf"/><Relationship Id="rId2" Type="http://schemas.openxmlformats.org/officeDocument/2006/relationships/oleObject" Target="../embeddings/oleObject26.bin"/><Relationship Id="rId11" Type="http://schemas.openxmlformats.org/officeDocument/2006/relationships/vmlDrawing" Target="../drawings/vmlDrawing9.vml"/><Relationship Id="rId10" Type="http://schemas.openxmlformats.org/officeDocument/2006/relationships/slideLayout" Target="../slideLayouts/slideLayout3.xml"/><Relationship Id="rId1" Type="http://schemas.openxmlformats.org/officeDocument/2006/relationships/image" Target="../media/image91.png"/></Relationships>
</file>

<file path=ppt/slides/_rels/slide51.xml.rels><?xml version="1.0" encoding="UTF-8" standalone="yes"?>
<Relationships xmlns="http://schemas.openxmlformats.org/package/2006/relationships"><Relationship Id="rId9" Type="http://schemas.openxmlformats.org/officeDocument/2006/relationships/oleObject" Target="../embeddings/oleObject34.bin"/><Relationship Id="rId8" Type="http://schemas.openxmlformats.org/officeDocument/2006/relationships/image" Target="../media/image97.wmf"/><Relationship Id="rId7" Type="http://schemas.openxmlformats.org/officeDocument/2006/relationships/oleObject" Target="../embeddings/oleObject33.bin"/><Relationship Id="rId6" Type="http://schemas.openxmlformats.org/officeDocument/2006/relationships/image" Target="../media/image96.wmf"/><Relationship Id="rId5" Type="http://schemas.openxmlformats.org/officeDocument/2006/relationships/oleObject" Target="../embeddings/oleObject32.bin"/><Relationship Id="rId4" Type="http://schemas.openxmlformats.org/officeDocument/2006/relationships/image" Target="../media/image95.wmf"/><Relationship Id="rId3" Type="http://schemas.openxmlformats.org/officeDocument/2006/relationships/oleObject" Target="../embeddings/oleObject31.bin"/><Relationship Id="rId2" Type="http://schemas.openxmlformats.org/officeDocument/2006/relationships/image" Target="../media/image94.wmf"/><Relationship Id="rId14" Type="http://schemas.openxmlformats.org/officeDocument/2006/relationships/vmlDrawing" Target="../drawings/vmlDrawing10.vml"/><Relationship Id="rId13" Type="http://schemas.openxmlformats.org/officeDocument/2006/relationships/slideLayout" Target="../slideLayouts/slideLayout3.xml"/><Relationship Id="rId12" Type="http://schemas.openxmlformats.org/officeDocument/2006/relationships/image" Target="../media/image99.wmf"/><Relationship Id="rId11" Type="http://schemas.openxmlformats.org/officeDocument/2006/relationships/oleObject" Target="../embeddings/oleObject35.bin"/><Relationship Id="rId10" Type="http://schemas.openxmlformats.org/officeDocument/2006/relationships/image" Target="../media/image98.wmf"/><Relationship Id="rId1" Type="http://schemas.openxmlformats.org/officeDocument/2006/relationships/oleObject" Target="../embeddings/oleObject30.bin"/></Relationships>
</file>

<file path=ppt/slides/_rels/slide52.xml.rels><?xml version="1.0" encoding="UTF-8" standalone="yes"?>
<Relationships xmlns="http://schemas.openxmlformats.org/package/2006/relationships"><Relationship Id="rId9" Type="http://schemas.openxmlformats.org/officeDocument/2006/relationships/image" Target="../media/image104.png"/><Relationship Id="rId8" Type="http://schemas.openxmlformats.org/officeDocument/2006/relationships/image" Target="../media/image103.png"/><Relationship Id="rId7" Type="http://schemas.openxmlformats.org/officeDocument/2006/relationships/image" Target="../media/image102.png"/><Relationship Id="rId6" Type="http://schemas.openxmlformats.org/officeDocument/2006/relationships/image" Target="../media/image101.png"/><Relationship Id="rId5" Type="http://schemas.openxmlformats.org/officeDocument/2006/relationships/image" Target="../media/image11.wmf"/><Relationship Id="rId4" Type="http://schemas.openxmlformats.org/officeDocument/2006/relationships/oleObject" Target="../embeddings/oleObject37.bin"/><Relationship Id="rId3" Type="http://schemas.openxmlformats.org/officeDocument/2006/relationships/image" Target="../media/image10.wmf"/><Relationship Id="rId2" Type="http://schemas.openxmlformats.org/officeDocument/2006/relationships/oleObject" Target="../embeddings/oleObject36.bin"/><Relationship Id="rId12" Type="http://schemas.openxmlformats.org/officeDocument/2006/relationships/vmlDrawing" Target="../drawings/vmlDrawing11.vml"/><Relationship Id="rId11" Type="http://schemas.openxmlformats.org/officeDocument/2006/relationships/slideLayout" Target="../slideLayouts/slideLayout3.xml"/><Relationship Id="rId10" Type="http://schemas.openxmlformats.org/officeDocument/2006/relationships/image" Target="../media/image105.png"/><Relationship Id="rId1" Type="http://schemas.openxmlformats.org/officeDocument/2006/relationships/image" Target="../media/image100.png"/></Relationships>
</file>

<file path=ppt/slides/_rels/slide53.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openxmlformats.org/officeDocument/2006/relationships/image" Target="../media/image110.png"/><Relationship Id="rId4" Type="http://schemas.openxmlformats.org/officeDocument/2006/relationships/image" Target="../media/image109.png"/><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image" Target="../media/image10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9" Type="http://schemas.openxmlformats.org/officeDocument/2006/relationships/oleObject" Target="../embeddings/oleObject42.bin"/><Relationship Id="rId8" Type="http://schemas.openxmlformats.org/officeDocument/2006/relationships/image" Target="../media/image114.wmf"/><Relationship Id="rId7" Type="http://schemas.openxmlformats.org/officeDocument/2006/relationships/oleObject" Target="../embeddings/oleObject41.bin"/><Relationship Id="rId6" Type="http://schemas.openxmlformats.org/officeDocument/2006/relationships/image" Target="../media/image113.wmf"/><Relationship Id="rId5" Type="http://schemas.openxmlformats.org/officeDocument/2006/relationships/oleObject" Target="../embeddings/oleObject40.bin"/><Relationship Id="rId4" Type="http://schemas.openxmlformats.org/officeDocument/2006/relationships/image" Target="../media/image112.wmf"/><Relationship Id="rId3" Type="http://schemas.openxmlformats.org/officeDocument/2006/relationships/oleObject" Target="../embeddings/oleObject39.bin"/><Relationship Id="rId20" Type="http://schemas.openxmlformats.org/officeDocument/2006/relationships/vmlDrawing" Target="../drawings/vmlDrawing12.vml"/><Relationship Id="rId2" Type="http://schemas.openxmlformats.org/officeDocument/2006/relationships/image" Target="../media/image111.wmf"/><Relationship Id="rId19" Type="http://schemas.openxmlformats.org/officeDocument/2006/relationships/slideLayout" Target="../slideLayouts/slideLayout3.xml"/><Relationship Id="rId18" Type="http://schemas.openxmlformats.org/officeDocument/2006/relationships/image" Target="../media/image119.wmf"/><Relationship Id="rId17" Type="http://schemas.openxmlformats.org/officeDocument/2006/relationships/oleObject" Target="../embeddings/oleObject46.bin"/><Relationship Id="rId16" Type="http://schemas.openxmlformats.org/officeDocument/2006/relationships/image" Target="../media/image118.wmf"/><Relationship Id="rId15" Type="http://schemas.openxmlformats.org/officeDocument/2006/relationships/oleObject" Target="../embeddings/oleObject45.bin"/><Relationship Id="rId14" Type="http://schemas.openxmlformats.org/officeDocument/2006/relationships/image" Target="../media/image117.wmf"/><Relationship Id="rId13" Type="http://schemas.openxmlformats.org/officeDocument/2006/relationships/oleObject" Target="../embeddings/oleObject44.bin"/><Relationship Id="rId12" Type="http://schemas.openxmlformats.org/officeDocument/2006/relationships/image" Target="../media/image116.wmf"/><Relationship Id="rId11" Type="http://schemas.openxmlformats.org/officeDocument/2006/relationships/oleObject" Target="../embeddings/oleObject43.bin"/><Relationship Id="rId10" Type="http://schemas.openxmlformats.org/officeDocument/2006/relationships/image" Target="../media/image115.wmf"/><Relationship Id="rId1" Type="http://schemas.openxmlformats.org/officeDocument/2006/relationships/oleObject" Target="../embeddings/oleObject38.bin"/></Relationships>
</file>

<file path=ppt/slides/_rels/slide57.xml.rels><?xml version="1.0" encoding="UTF-8" standalone="yes"?>
<Relationships xmlns="http://schemas.openxmlformats.org/package/2006/relationships"><Relationship Id="rId4" Type="http://schemas.openxmlformats.org/officeDocument/2006/relationships/vmlDrawing" Target="../drawings/vmlDrawing13.vml"/><Relationship Id="rId3" Type="http://schemas.openxmlformats.org/officeDocument/2006/relationships/slideLayout" Target="../slideLayouts/slideLayout3.xml"/><Relationship Id="rId2" Type="http://schemas.openxmlformats.org/officeDocument/2006/relationships/image" Target="../media/image120.wmf"/><Relationship Id="rId1" Type="http://schemas.openxmlformats.org/officeDocument/2006/relationships/oleObject" Target="../embeddings/oleObject47.bin"/></Relationships>
</file>

<file path=ppt/slides/_rels/slide58.xml.rels><?xml version="1.0" encoding="UTF-8" standalone="yes"?>
<Relationships xmlns="http://schemas.openxmlformats.org/package/2006/relationships"><Relationship Id="rId9" Type="http://schemas.openxmlformats.org/officeDocument/2006/relationships/slideLayout" Target="../slideLayouts/slideLayout3.xml"/><Relationship Id="rId8" Type="http://schemas.openxmlformats.org/officeDocument/2006/relationships/image" Target="../media/image123.emf"/><Relationship Id="rId7" Type="http://schemas.openxmlformats.org/officeDocument/2006/relationships/oleObject" Target="../embeddings/oleObject49.bin"/><Relationship Id="rId6" Type="http://schemas.openxmlformats.org/officeDocument/2006/relationships/image" Target="../media/image111.wmf"/><Relationship Id="rId5" Type="http://schemas.openxmlformats.org/officeDocument/2006/relationships/oleObject" Target="../embeddings/oleObject48.bin"/><Relationship Id="rId4" Type="http://schemas.openxmlformats.org/officeDocument/2006/relationships/image" Target="../media/image122.png"/><Relationship Id="rId3" Type="http://schemas.openxmlformats.org/officeDocument/2006/relationships/image" Target="../media/image107.png"/><Relationship Id="rId2" Type="http://schemas.openxmlformats.org/officeDocument/2006/relationships/image" Target="../media/image106.png"/><Relationship Id="rId10" Type="http://schemas.openxmlformats.org/officeDocument/2006/relationships/vmlDrawing" Target="../drawings/vmlDrawing14.vml"/><Relationship Id="rId1" Type="http://schemas.openxmlformats.org/officeDocument/2006/relationships/image" Target="../media/image121.png"/></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24.png"/></Relationships>
</file>

<file path=ppt/slides/_rels/slide60.xml.rels><?xml version="1.0" encoding="UTF-8" standalone="yes"?>
<Relationships xmlns="http://schemas.openxmlformats.org/package/2006/relationships"><Relationship Id="rId9" Type="http://schemas.openxmlformats.org/officeDocument/2006/relationships/oleObject" Target="../embeddings/oleObject54.bin"/><Relationship Id="rId8" Type="http://schemas.openxmlformats.org/officeDocument/2006/relationships/image" Target="../media/image128.wmf"/><Relationship Id="rId7" Type="http://schemas.openxmlformats.org/officeDocument/2006/relationships/oleObject" Target="../embeddings/oleObject53.bin"/><Relationship Id="rId6" Type="http://schemas.openxmlformats.org/officeDocument/2006/relationships/image" Target="../media/image127.wmf"/><Relationship Id="rId5" Type="http://schemas.openxmlformats.org/officeDocument/2006/relationships/oleObject" Target="../embeddings/oleObject52.bin"/><Relationship Id="rId4" Type="http://schemas.openxmlformats.org/officeDocument/2006/relationships/image" Target="../media/image126.wmf"/><Relationship Id="rId3" Type="http://schemas.openxmlformats.org/officeDocument/2006/relationships/oleObject" Target="../embeddings/oleObject51.bin"/><Relationship Id="rId2" Type="http://schemas.openxmlformats.org/officeDocument/2006/relationships/image" Target="../media/image125.wmf"/><Relationship Id="rId12" Type="http://schemas.openxmlformats.org/officeDocument/2006/relationships/vmlDrawing" Target="../drawings/vmlDrawing15.vml"/><Relationship Id="rId11" Type="http://schemas.openxmlformats.org/officeDocument/2006/relationships/slideLayout" Target="../slideLayouts/slideLayout3.xml"/><Relationship Id="rId10" Type="http://schemas.openxmlformats.org/officeDocument/2006/relationships/image" Target="../media/image129.wmf"/><Relationship Id="rId1" Type="http://schemas.openxmlformats.org/officeDocument/2006/relationships/oleObject" Target="../embeddings/oleObject50.bin"/></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image" Target="../media/image133.png"/><Relationship Id="rId3" Type="http://schemas.openxmlformats.org/officeDocument/2006/relationships/image" Target="../media/image132.png"/><Relationship Id="rId2" Type="http://schemas.openxmlformats.org/officeDocument/2006/relationships/image" Target="../media/image131.png"/><Relationship Id="rId1" Type="http://schemas.openxmlformats.org/officeDocument/2006/relationships/image" Target="../media/image130.png"/></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34.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9" Type="http://schemas.openxmlformats.org/officeDocument/2006/relationships/oleObject" Target="../embeddings/oleObject61.bin"/><Relationship Id="rId8" Type="http://schemas.openxmlformats.org/officeDocument/2006/relationships/oleObject" Target="../embeddings/oleObject60.bin"/><Relationship Id="rId7" Type="http://schemas.openxmlformats.org/officeDocument/2006/relationships/oleObject" Target="../embeddings/oleObject59.bin"/><Relationship Id="rId6" Type="http://schemas.openxmlformats.org/officeDocument/2006/relationships/oleObject" Target="../embeddings/oleObject58.bin"/><Relationship Id="rId5" Type="http://schemas.openxmlformats.org/officeDocument/2006/relationships/oleObject" Target="../embeddings/oleObject57.bin"/><Relationship Id="rId4" Type="http://schemas.openxmlformats.org/officeDocument/2006/relationships/image" Target="../media/image136.wmf"/><Relationship Id="rId3" Type="http://schemas.openxmlformats.org/officeDocument/2006/relationships/oleObject" Target="../embeddings/oleObject56.bin"/><Relationship Id="rId2" Type="http://schemas.openxmlformats.org/officeDocument/2006/relationships/image" Target="../media/image135.wmf"/><Relationship Id="rId14" Type="http://schemas.openxmlformats.org/officeDocument/2006/relationships/vmlDrawing" Target="../drawings/vmlDrawing16.vml"/><Relationship Id="rId13" Type="http://schemas.openxmlformats.org/officeDocument/2006/relationships/slideLayout" Target="../slideLayouts/slideLayout3.xml"/><Relationship Id="rId12" Type="http://schemas.openxmlformats.org/officeDocument/2006/relationships/image" Target="../media/image137.png"/><Relationship Id="rId11" Type="http://schemas.openxmlformats.org/officeDocument/2006/relationships/image" Target="../media/image107.png"/><Relationship Id="rId10" Type="http://schemas.openxmlformats.org/officeDocument/2006/relationships/oleObject" Target="../embeddings/oleObject62.bin"/><Relationship Id="rId1" Type="http://schemas.openxmlformats.org/officeDocument/2006/relationships/oleObject" Target="../embeddings/oleObject55.bin"/></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38.png"/></Relationships>
</file>

<file path=ppt/slides/_rels/slide69.xml.rels><?xml version="1.0" encoding="UTF-8" standalone="yes"?>
<Relationships xmlns="http://schemas.openxmlformats.org/package/2006/relationships"><Relationship Id="rId4" Type="http://schemas.openxmlformats.org/officeDocument/2006/relationships/vmlDrawing" Target="../drawings/vmlDrawing17.vml"/><Relationship Id="rId3" Type="http://schemas.openxmlformats.org/officeDocument/2006/relationships/slideLayout" Target="../slideLayouts/slideLayout3.xml"/><Relationship Id="rId2" Type="http://schemas.openxmlformats.org/officeDocument/2006/relationships/image" Target="../media/image139.wmf"/><Relationship Id="rId1" Type="http://schemas.openxmlformats.org/officeDocument/2006/relationships/oleObject" Target="../embeddings/oleObject63.bin"/></Relationships>
</file>

<file path=ppt/slides/_rels/slide7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41.png"/><Relationship Id="rId1" Type="http://schemas.openxmlformats.org/officeDocument/2006/relationships/image" Target="../media/image140.png"/></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42.png"/></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43.png"/></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44.GIF"/></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9" Type="http://schemas.openxmlformats.org/officeDocument/2006/relationships/image" Target="../media/image150.png"/><Relationship Id="rId8" Type="http://schemas.openxmlformats.org/officeDocument/2006/relationships/image" Target="../media/image149.wmf"/><Relationship Id="rId7" Type="http://schemas.openxmlformats.org/officeDocument/2006/relationships/oleObject" Target="../embeddings/oleObject66.bin"/><Relationship Id="rId6" Type="http://schemas.openxmlformats.org/officeDocument/2006/relationships/image" Target="../media/image148.wmf"/><Relationship Id="rId5" Type="http://schemas.openxmlformats.org/officeDocument/2006/relationships/oleObject" Target="../embeddings/oleObject65.bin"/><Relationship Id="rId4" Type="http://schemas.openxmlformats.org/officeDocument/2006/relationships/image" Target="../media/image147.wmf"/><Relationship Id="rId3" Type="http://schemas.openxmlformats.org/officeDocument/2006/relationships/oleObject" Target="../embeddings/oleObject64.bin"/><Relationship Id="rId2" Type="http://schemas.openxmlformats.org/officeDocument/2006/relationships/image" Target="../media/image146.png"/><Relationship Id="rId11" Type="http://schemas.openxmlformats.org/officeDocument/2006/relationships/vmlDrawing" Target="../drawings/vmlDrawing18.vml"/><Relationship Id="rId10" Type="http://schemas.openxmlformats.org/officeDocument/2006/relationships/slideLayout" Target="../slideLayouts/slideLayout3.xml"/><Relationship Id="rId1" Type="http://schemas.openxmlformats.org/officeDocument/2006/relationships/image" Target="../media/image145.png"/></Relationships>
</file>

<file path=ppt/slides/_rels/slide7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52.png"/><Relationship Id="rId1" Type="http://schemas.openxmlformats.org/officeDocument/2006/relationships/image" Target="../media/image15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9" Type="http://schemas.openxmlformats.org/officeDocument/2006/relationships/oleObject" Target="../embeddings/oleObject71.bin"/><Relationship Id="rId8" Type="http://schemas.openxmlformats.org/officeDocument/2006/relationships/image" Target="../media/image10.wmf"/><Relationship Id="rId7" Type="http://schemas.openxmlformats.org/officeDocument/2006/relationships/oleObject" Target="../embeddings/oleObject70.bin"/><Relationship Id="rId6" Type="http://schemas.openxmlformats.org/officeDocument/2006/relationships/image" Target="../media/image155.wmf"/><Relationship Id="rId5" Type="http://schemas.openxmlformats.org/officeDocument/2006/relationships/oleObject" Target="../embeddings/oleObject69.bin"/><Relationship Id="rId4" Type="http://schemas.openxmlformats.org/officeDocument/2006/relationships/image" Target="../media/image154.wmf"/><Relationship Id="rId3" Type="http://schemas.openxmlformats.org/officeDocument/2006/relationships/oleObject" Target="../embeddings/oleObject68.bin"/><Relationship Id="rId2" Type="http://schemas.openxmlformats.org/officeDocument/2006/relationships/image" Target="../media/image153.wmf"/><Relationship Id="rId13" Type="http://schemas.openxmlformats.org/officeDocument/2006/relationships/vmlDrawing" Target="../drawings/vmlDrawing19.vml"/><Relationship Id="rId12" Type="http://schemas.openxmlformats.org/officeDocument/2006/relationships/slideLayout" Target="../slideLayouts/slideLayout3.xml"/><Relationship Id="rId11" Type="http://schemas.openxmlformats.org/officeDocument/2006/relationships/image" Target="../media/image156.png"/><Relationship Id="rId10" Type="http://schemas.openxmlformats.org/officeDocument/2006/relationships/image" Target="../media/image11.wmf"/><Relationship Id="rId1" Type="http://schemas.openxmlformats.org/officeDocument/2006/relationships/oleObject" Target="../embeddings/oleObject67.bin"/></Relationships>
</file>

<file path=ppt/slides/_rels/slide79.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159.png"/><Relationship Id="rId2" Type="http://schemas.openxmlformats.org/officeDocument/2006/relationships/image" Target="../media/image158.png"/><Relationship Id="rId1" Type="http://schemas.openxmlformats.org/officeDocument/2006/relationships/image" Target="../media/image157.png"/></Relationships>
</file>

<file path=ppt/slides/_rels/slide80.xml.rels><?xml version="1.0" encoding="UTF-8" standalone="yes"?>
<Relationships xmlns="http://schemas.openxmlformats.org/package/2006/relationships"><Relationship Id="rId9" Type="http://schemas.openxmlformats.org/officeDocument/2006/relationships/oleObject" Target="../embeddings/oleObject76.bin"/><Relationship Id="rId8" Type="http://schemas.openxmlformats.org/officeDocument/2006/relationships/image" Target="../media/image163.wmf"/><Relationship Id="rId7" Type="http://schemas.openxmlformats.org/officeDocument/2006/relationships/oleObject" Target="../embeddings/oleObject75.bin"/><Relationship Id="rId6" Type="http://schemas.openxmlformats.org/officeDocument/2006/relationships/image" Target="../media/image162.wmf"/><Relationship Id="rId5" Type="http://schemas.openxmlformats.org/officeDocument/2006/relationships/oleObject" Target="../embeddings/oleObject74.bin"/><Relationship Id="rId4" Type="http://schemas.openxmlformats.org/officeDocument/2006/relationships/image" Target="../media/image161.wmf"/><Relationship Id="rId3" Type="http://schemas.openxmlformats.org/officeDocument/2006/relationships/oleObject" Target="../embeddings/oleObject73.bin"/><Relationship Id="rId2" Type="http://schemas.openxmlformats.org/officeDocument/2006/relationships/image" Target="../media/image160.wmf"/><Relationship Id="rId15" Type="http://schemas.openxmlformats.org/officeDocument/2006/relationships/notesSlide" Target="../notesSlides/notesSlide2.xml"/><Relationship Id="rId14" Type="http://schemas.openxmlformats.org/officeDocument/2006/relationships/vmlDrawing" Target="../drawings/vmlDrawing20.vml"/><Relationship Id="rId13" Type="http://schemas.openxmlformats.org/officeDocument/2006/relationships/slideLayout" Target="../slideLayouts/slideLayout3.xml"/><Relationship Id="rId12" Type="http://schemas.openxmlformats.org/officeDocument/2006/relationships/image" Target="../media/image165.wmf"/><Relationship Id="rId11" Type="http://schemas.openxmlformats.org/officeDocument/2006/relationships/oleObject" Target="../embeddings/oleObject77.bin"/><Relationship Id="rId10" Type="http://schemas.openxmlformats.org/officeDocument/2006/relationships/image" Target="../media/image164.wmf"/><Relationship Id="rId1" Type="http://schemas.openxmlformats.org/officeDocument/2006/relationships/oleObject" Target="../embeddings/oleObject72.bin"/></Relationships>
</file>

<file path=ppt/slides/_rels/slide8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67.png"/><Relationship Id="rId1" Type="http://schemas.openxmlformats.org/officeDocument/2006/relationships/image" Target="../media/image166.png"/></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68.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9" Type="http://schemas.openxmlformats.org/officeDocument/2006/relationships/oleObject" Target="../embeddings/oleObject82.bin"/><Relationship Id="rId8" Type="http://schemas.openxmlformats.org/officeDocument/2006/relationships/image" Target="../media/image172.wmf"/><Relationship Id="rId7" Type="http://schemas.openxmlformats.org/officeDocument/2006/relationships/oleObject" Target="../embeddings/oleObject81.bin"/><Relationship Id="rId6" Type="http://schemas.openxmlformats.org/officeDocument/2006/relationships/image" Target="../media/image171.wmf"/><Relationship Id="rId5" Type="http://schemas.openxmlformats.org/officeDocument/2006/relationships/oleObject" Target="../embeddings/oleObject80.bin"/><Relationship Id="rId4" Type="http://schemas.openxmlformats.org/officeDocument/2006/relationships/image" Target="../media/image170.wmf"/><Relationship Id="rId3" Type="http://schemas.openxmlformats.org/officeDocument/2006/relationships/oleObject" Target="../embeddings/oleObject79.bin"/><Relationship Id="rId2" Type="http://schemas.openxmlformats.org/officeDocument/2006/relationships/image" Target="../media/image169.wmf"/><Relationship Id="rId15" Type="http://schemas.openxmlformats.org/officeDocument/2006/relationships/vmlDrawing" Target="../drawings/vmlDrawing21.vml"/><Relationship Id="rId14" Type="http://schemas.openxmlformats.org/officeDocument/2006/relationships/slideLayout" Target="../slideLayouts/slideLayout3.xml"/><Relationship Id="rId13" Type="http://schemas.openxmlformats.org/officeDocument/2006/relationships/oleObject" Target="../embeddings/oleObject84.bin"/><Relationship Id="rId12" Type="http://schemas.openxmlformats.org/officeDocument/2006/relationships/image" Target="../media/image174.wmf"/><Relationship Id="rId11" Type="http://schemas.openxmlformats.org/officeDocument/2006/relationships/oleObject" Target="../embeddings/oleObject83.bin"/><Relationship Id="rId10" Type="http://schemas.openxmlformats.org/officeDocument/2006/relationships/image" Target="../media/image173.wmf"/><Relationship Id="rId1" Type="http://schemas.openxmlformats.org/officeDocument/2006/relationships/oleObject" Target="../embeddings/oleObject78.bin"/></Relationships>
</file>

<file path=ppt/slides/_rels/slide85.xml.rels><?xml version="1.0" encoding="UTF-8" standalone="yes"?>
<Relationships xmlns="http://schemas.openxmlformats.org/package/2006/relationships"><Relationship Id="rId9" Type="http://schemas.openxmlformats.org/officeDocument/2006/relationships/image" Target="../media/image178.png"/><Relationship Id="rId8" Type="http://schemas.openxmlformats.org/officeDocument/2006/relationships/oleObject" Target="../embeddings/oleObject88.bin"/><Relationship Id="rId7" Type="http://schemas.openxmlformats.org/officeDocument/2006/relationships/image" Target="../media/image177.wmf"/><Relationship Id="rId6" Type="http://schemas.openxmlformats.org/officeDocument/2006/relationships/oleObject" Target="../embeddings/oleObject87.bin"/><Relationship Id="rId5" Type="http://schemas.openxmlformats.org/officeDocument/2006/relationships/image" Target="../media/image176.wmf"/><Relationship Id="rId4" Type="http://schemas.openxmlformats.org/officeDocument/2006/relationships/oleObject" Target="../embeddings/oleObject86.bin"/><Relationship Id="rId3" Type="http://schemas.openxmlformats.org/officeDocument/2006/relationships/image" Target="../media/image175.png"/><Relationship Id="rId2" Type="http://schemas.openxmlformats.org/officeDocument/2006/relationships/image" Target="../media/image174.wmf"/><Relationship Id="rId11" Type="http://schemas.openxmlformats.org/officeDocument/2006/relationships/vmlDrawing" Target="../drawings/vmlDrawing22.vml"/><Relationship Id="rId10" Type="http://schemas.openxmlformats.org/officeDocument/2006/relationships/slideLayout" Target="../slideLayouts/slideLayout3.xml"/><Relationship Id="rId1" Type="http://schemas.openxmlformats.org/officeDocument/2006/relationships/oleObject" Target="../embeddings/oleObject85.bin"/></Relationships>
</file>

<file path=ppt/slides/_rels/slide86.xml.rels><?xml version="1.0" encoding="UTF-8" standalone="yes"?>
<Relationships xmlns="http://schemas.openxmlformats.org/package/2006/relationships"><Relationship Id="rId9" Type="http://schemas.openxmlformats.org/officeDocument/2006/relationships/slideLayout" Target="../slideLayouts/slideLayout3.xml"/><Relationship Id="rId8" Type="http://schemas.openxmlformats.org/officeDocument/2006/relationships/image" Target="../media/image180.wmf"/><Relationship Id="rId7" Type="http://schemas.openxmlformats.org/officeDocument/2006/relationships/oleObject" Target="../embeddings/oleObject92.bin"/><Relationship Id="rId6" Type="http://schemas.openxmlformats.org/officeDocument/2006/relationships/image" Target="../media/image179.wmf"/><Relationship Id="rId5" Type="http://schemas.openxmlformats.org/officeDocument/2006/relationships/oleObject" Target="../embeddings/oleObject91.bin"/><Relationship Id="rId4" Type="http://schemas.openxmlformats.org/officeDocument/2006/relationships/image" Target="../media/image161.wmf"/><Relationship Id="rId3" Type="http://schemas.openxmlformats.org/officeDocument/2006/relationships/oleObject" Target="../embeddings/oleObject90.bin"/><Relationship Id="rId2" Type="http://schemas.openxmlformats.org/officeDocument/2006/relationships/image" Target="../media/image160.wmf"/><Relationship Id="rId10" Type="http://schemas.openxmlformats.org/officeDocument/2006/relationships/vmlDrawing" Target="../drawings/vmlDrawing23.vml"/><Relationship Id="rId1" Type="http://schemas.openxmlformats.org/officeDocument/2006/relationships/oleObject" Target="../embeddings/oleObject89.bin"/></Relationships>
</file>

<file path=ppt/slides/_rels/slide87.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183.png"/><Relationship Id="rId2" Type="http://schemas.openxmlformats.org/officeDocument/2006/relationships/image" Target="../media/image182.png"/><Relationship Id="rId1" Type="http://schemas.openxmlformats.org/officeDocument/2006/relationships/image" Target="../media/image181.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9" Type="http://schemas.openxmlformats.org/officeDocument/2006/relationships/image" Target="../media/image188.wmf"/><Relationship Id="rId8" Type="http://schemas.openxmlformats.org/officeDocument/2006/relationships/oleObject" Target="../embeddings/oleObject96.bin"/><Relationship Id="rId7" Type="http://schemas.openxmlformats.org/officeDocument/2006/relationships/image" Target="../media/image187.wmf"/><Relationship Id="rId6" Type="http://schemas.openxmlformats.org/officeDocument/2006/relationships/oleObject" Target="../embeddings/oleObject95.bin"/><Relationship Id="rId5" Type="http://schemas.openxmlformats.org/officeDocument/2006/relationships/image" Target="../media/image186.png"/><Relationship Id="rId4" Type="http://schemas.openxmlformats.org/officeDocument/2006/relationships/image" Target="../media/image185.wmf"/><Relationship Id="rId3" Type="http://schemas.openxmlformats.org/officeDocument/2006/relationships/oleObject" Target="../embeddings/oleObject94.bin"/><Relationship Id="rId2" Type="http://schemas.openxmlformats.org/officeDocument/2006/relationships/image" Target="../media/image184.wmf"/><Relationship Id="rId13" Type="http://schemas.openxmlformats.org/officeDocument/2006/relationships/vmlDrawing" Target="../drawings/vmlDrawing24.vml"/><Relationship Id="rId12" Type="http://schemas.openxmlformats.org/officeDocument/2006/relationships/slideLayout" Target="../slideLayouts/slideLayout3.xml"/><Relationship Id="rId11" Type="http://schemas.openxmlformats.org/officeDocument/2006/relationships/image" Target="../media/image190.png"/><Relationship Id="rId10" Type="http://schemas.openxmlformats.org/officeDocument/2006/relationships/image" Target="../media/image189.png"/><Relationship Id="rId1" Type="http://schemas.openxmlformats.org/officeDocument/2006/relationships/oleObject" Target="../embeddings/oleObject93.bin"/></Relationships>
</file>

<file path=ppt/slides/_rels/slide90.xml.rels><?xml version="1.0" encoding="UTF-8" standalone="yes"?>
<Relationships xmlns="http://schemas.openxmlformats.org/package/2006/relationships"><Relationship Id="rId8" Type="http://schemas.openxmlformats.org/officeDocument/2006/relationships/vmlDrawing" Target="../drawings/vmlDrawing25.vml"/><Relationship Id="rId7" Type="http://schemas.openxmlformats.org/officeDocument/2006/relationships/slideLayout" Target="../slideLayouts/slideLayout3.xml"/><Relationship Id="rId6" Type="http://schemas.openxmlformats.org/officeDocument/2006/relationships/image" Target="../media/image193.wmf"/><Relationship Id="rId5" Type="http://schemas.openxmlformats.org/officeDocument/2006/relationships/oleObject" Target="../embeddings/oleObject99.bin"/><Relationship Id="rId4" Type="http://schemas.openxmlformats.org/officeDocument/2006/relationships/image" Target="../media/image192.wmf"/><Relationship Id="rId3" Type="http://schemas.openxmlformats.org/officeDocument/2006/relationships/oleObject" Target="../embeddings/oleObject98.bin"/><Relationship Id="rId2" Type="http://schemas.openxmlformats.org/officeDocument/2006/relationships/image" Target="../media/image191.wmf"/><Relationship Id="rId1" Type="http://schemas.openxmlformats.org/officeDocument/2006/relationships/oleObject" Target="../embeddings/oleObject97.bin"/></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95.png"/><Relationship Id="rId1" Type="http://schemas.openxmlformats.org/officeDocument/2006/relationships/image" Target="../media/image194.png"/></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96.png"/></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97.png"/></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98.png"/></Relationships>
</file>

<file path=ppt/slides/_rels/slide9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00.png"/><Relationship Id="rId1" Type="http://schemas.openxmlformats.org/officeDocument/2006/relationships/image" Target="../media/image199.png"/></Relationships>
</file>

<file path=ppt/slides/_rels/slide9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01.png"/></Relationships>
</file>

<file path=ppt/slides/_rels/slide10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02.png"/></Relationships>
</file>

<file path=ppt/slides/_rels/slide10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03.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387424"/>
            <a:ext cx="9144000" cy="7245424"/>
          </a:xfrm>
          <a:prstGeom prst="rect">
            <a:avLst/>
          </a:prstGeom>
        </p:spPr>
      </p:pic>
      <p:sp>
        <p:nvSpPr>
          <p:cNvPr id="4" name="Rectangle 19"/>
          <p:cNvSpPr>
            <a:spLocks noGrp="1" noChangeArrowheads="1"/>
          </p:cNvSpPr>
          <p:nvPr>
            <p:ph type="title"/>
          </p:nvPr>
        </p:nvSpPr>
        <p:spPr>
          <a:xfrm>
            <a:off x="684213" y="836613"/>
            <a:ext cx="7772400" cy="1800225"/>
          </a:xfrm>
        </p:spPr>
        <p:txBody>
          <a:bodyPr/>
          <a:lstStyle/>
          <a:p>
            <a:pPr algn="ctr" eaLnBrk="1" hangingPunct="1"/>
            <a:r>
              <a:rPr lang="zh-CN" altLang="en-US" sz="3600" dirty="0">
                <a:solidFill>
                  <a:srgbClr val="00B050"/>
                </a:solidFill>
                <a:latin typeface="黑体" panose="02010609060101010101" pitchFamily="49" charset="-122"/>
                <a:ea typeface="黑体" panose="02010609060101010101" pitchFamily="49" charset="-122"/>
              </a:rPr>
              <a:t>机器学习</a:t>
            </a:r>
            <a:br>
              <a:rPr lang="zh-CN" altLang="en-US" sz="3600" dirty="0">
                <a:solidFill>
                  <a:srgbClr val="00B050"/>
                </a:solidFill>
                <a:latin typeface="黑体" panose="02010609060101010101" pitchFamily="49" charset="-122"/>
                <a:ea typeface="黑体" panose="02010609060101010101" pitchFamily="49" charset="-122"/>
              </a:rPr>
            </a:br>
            <a:br>
              <a:rPr lang="zh-CN" altLang="en-US" sz="3600" dirty="0">
                <a:solidFill>
                  <a:srgbClr val="00B050"/>
                </a:solidFill>
                <a:latin typeface="黑体" panose="02010609060101010101" pitchFamily="49" charset="-122"/>
                <a:ea typeface="黑体" panose="02010609060101010101" pitchFamily="49" charset="-122"/>
              </a:rPr>
            </a:br>
            <a:r>
              <a:rPr lang="en-US" altLang="zh-CN" sz="3600" dirty="0">
                <a:solidFill>
                  <a:srgbClr val="00B050"/>
                </a:solidFill>
                <a:latin typeface="黑体" panose="02010609060101010101" pitchFamily="49" charset="-122"/>
                <a:ea typeface="黑体" panose="02010609060101010101" pitchFamily="49" charset="-122"/>
              </a:rPr>
              <a:t>Machine Learning</a:t>
            </a:r>
            <a:endParaRPr lang="en-US" altLang="zh-CN" sz="3600" dirty="0">
              <a:solidFill>
                <a:srgbClr val="00B050"/>
              </a:solidFill>
              <a:latin typeface="黑体" panose="02010609060101010101" pitchFamily="49" charset="-122"/>
              <a:ea typeface="黑体" panose="02010609060101010101" pitchFamily="49" charset="-122"/>
            </a:endParaRPr>
          </a:p>
        </p:txBody>
      </p:sp>
      <p:sp>
        <p:nvSpPr>
          <p:cNvPr id="5" name="Rectangle 22"/>
          <p:cNvSpPr>
            <a:spLocks noChangeArrowheads="1"/>
          </p:cNvSpPr>
          <p:nvPr/>
        </p:nvSpPr>
        <p:spPr bwMode="auto">
          <a:xfrm>
            <a:off x="685800" y="3211513"/>
            <a:ext cx="7772400"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gn="ctr">
              <a:lnSpc>
                <a:spcPct val="90000"/>
              </a:lnSpc>
              <a:spcBef>
                <a:spcPct val="20000"/>
              </a:spcBef>
            </a:pPr>
            <a:r>
              <a:rPr kumimoji="1" lang="zh-CN" altLang="en-US" sz="4400" b="1" dirty="0">
                <a:latin typeface="黑体" panose="02010609060101010101" pitchFamily="49" charset="-122"/>
                <a:ea typeface="黑体" panose="02010609060101010101" pitchFamily="49" charset="-122"/>
                <a:cs typeface="Verdana" panose="020B0604030504040204" pitchFamily="34" charset="0"/>
              </a:rPr>
              <a:t>第六章：支持向量机</a:t>
            </a:r>
            <a:endParaRPr kumimoji="1" lang="zh-CN" altLang="en-US" sz="4400" b="1" dirty="0">
              <a:latin typeface="黑体" panose="02010609060101010101" pitchFamily="49" charset="-122"/>
              <a:ea typeface="黑体" panose="02010609060101010101" pitchFamily="49" charset="-122"/>
            </a:endParaRPr>
          </a:p>
          <a:p>
            <a:pPr marL="342900" indent="-342900" algn="ctr" eaLnBrk="1" hangingPunct="1">
              <a:lnSpc>
                <a:spcPct val="90000"/>
              </a:lnSpc>
              <a:spcBef>
                <a:spcPct val="20000"/>
              </a:spcBef>
            </a:pPr>
            <a:endParaRPr kumimoji="1" lang="zh-CN" altLang="en-US" sz="4400" b="1" dirty="0">
              <a:latin typeface="黑体" panose="02010609060101010101" pitchFamily="49" charset="-122"/>
              <a:ea typeface="黑体" panose="02010609060101010101" pitchFamily="49" charset="-122"/>
            </a:endParaRPr>
          </a:p>
        </p:txBody>
      </p:sp>
      <p:sp>
        <p:nvSpPr>
          <p:cNvPr id="6" name="Text Box 24"/>
          <p:cNvSpPr txBox="1">
            <a:spLocks noChangeArrowheads="1"/>
          </p:cNvSpPr>
          <p:nvPr/>
        </p:nvSpPr>
        <p:spPr bwMode="auto">
          <a:xfrm>
            <a:off x="3024502" y="4762851"/>
            <a:ext cx="4895775" cy="523220"/>
          </a:xfrm>
          <a:prstGeom prst="rect">
            <a:avLst/>
          </a:prstGeom>
          <a:noFill/>
          <a:ln>
            <a:noFill/>
          </a:ln>
          <a:effec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GB" sz="2800" b="1" dirty="0">
                <a:latin typeface="黑体" panose="02010609060101010101" pitchFamily="49" charset="-122"/>
                <a:ea typeface="黑体" panose="02010609060101010101" pitchFamily="49" charset="-122"/>
              </a:rPr>
              <a:t>重庆大学计算机学院</a:t>
            </a:r>
            <a:endParaRPr kumimoji="1" lang="en-US" altLang="zh-CN" sz="2800" b="1" dirty="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571500" y="2762250"/>
            <a:ext cx="7826051" cy="1333500"/>
          </a:xfrm>
          <a:prstGeom prst="rect">
            <a:avLst/>
          </a:prstGeom>
          <a:noFill/>
        </p:spPr>
        <p:txBody>
          <a:bodyPr vert="horz" wrap="square" lIns="0" tIns="0" rIns="0" bIns="0" rtlCol="0" anchor="ctr"/>
          <a:lstStyle/>
          <a:p>
            <a:pPr>
              <a:lnSpc>
                <a:spcPts val="5250"/>
              </a:lnSpc>
            </a:pPr>
            <a:r>
              <a:rPr lang="en-US" sz="375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引言：为什么我们需要支持向量机？</a:t>
            </a:r>
            <a:endParaRPr lang="en-US" sz="3750" dirty="0"/>
          </a:p>
        </p:txBody>
      </p:sp>
      <p:sp>
        <p:nvSpPr>
          <p:cNvPr id="4" name="Shape 1"/>
          <p:cNvSpPr/>
          <p:nvPr/>
        </p:nvSpPr>
        <p:spPr>
          <a:xfrm>
            <a:off x="683467" y="4081462"/>
            <a:ext cx="4762500" cy="14288"/>
          </a:xfrm>
          <a:prstGeom prst="rect">
            <a:avLst/>
          </a:prstGeom>
          <a:solidFill>
            <a:srgbClr val="333333">
              <a:alpha val="30000"/>
            </a:srgbClr>
          </a:solidFill>
        </p:spPr>
      </p:sp>
      <p:sp>
        <p:nvSpPr>
          <p:cNvPr id="5" name="Text 2"/>
          <p:cNvSpPr/>
          <p:nvPr/>
        </p:nvSpPr>
        <p:spPr>
          <a:xfrm>
            <a:off x="571500" y="5219700"/>
            <a:ext cx="4762500" cy="209550"/>
          </a:xfrm>
          <a:prstGeom prst="rect">
            <a:avLst/>
          </a:prstGeom>
          <a:noFill/>
        </p:spPr>
        <p:txBody>
          <a:bodyPr vert="horz" wrap="square" lIns="0" tIns="0" rIns="0" bIns="0" rtlCol="0" anchor="ctr"/>
          <a:lstStyle/>
          <a:p>
            <a:pPr>
              <a:lnSpc>
                <a:spcPts val="1650"/>
              </a:lnSpc>
            </a:pP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
          <p:cNvSpPr/>
          <p:nvPr/>
        </p:nvSpPr>
        <p:spPr>
          <a:xfrm>
            <a:off x="158621" y="386249"/>
            <a:ext cx="8223379" cy="400050"/>
          </a:xfrm>
          <a:prstGeom prst="rect">
            <a:avLst/>
          </a:prstGeom>
          <a:noFill/>
        </p:spPr>
        <p:txBody>
          <a:bodyPr vert="horz" wrap="square" lIns="0" tIns="0" rIns="0" bIns="0" rtlCol="0" anchor="ctr"/>
          <a:lstStyle/>
          <a:p>
            <a:pPr marL="0" indent="0" algn="l">
              <a:lnSpc>
                <a:spcPts val="3150"/>
              </a:lnSpc>
              <a:buNone/>
            </a:pPr>
            <a:r>
              <a:rPr lang="en-US" sz="2800" b="1" dirty="0">
                <a:solidFill>
                  <a:srgbClr val="333333"/>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微软雅黑" panose="020B0503020204020204" pitchFamily="34" charset="-120"/>
              </a:rPr>
              <a:t>机器学习中的分类挑战：从线性可分到现实复杂数据</a:t>
            </a:r>
            <a:endParaRPr lang="en-US" sz="2800"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p:txBody>
      </p:sp>
      <p:sp>
        <p:nvSpPr>
          <p:cNvPr id="5" name="Text 2"/>
          <p:cNvSpPr/>
          <p:nvPr/>
        </p:nvSpPr>
        <p:spPr>
          <a:xfrm>
            <a:off x="571500" y="742950"/>
            <a:ext cx="8001000" cy="209550"/>
          </a:xfrm>
          <a:prstGeom prst="rect">
            <a:avLst/>
          </a:prstGeom>
          <a:noFill/>
        </p:spPr>
        <p:txBody>
          <a:bodyPr vert="horz" wrap="square" lIns="0" tIns="0" rIns="0" bIns="0" rtlCol="0" anchor="ctr"/>
          <a:lstStyle/>
          <a:p>
            <a:pPr marL="0" indent="0" algn="l">
              <a:lnSpc>
                <a:spcPts val="1650"/>
              </a:lnSpc>
              <a:buNone/>
            </a:pPr>
            <a:endParaRPr lang="en-US" sz="1200" dirty="0"/>
          </a:p>
        </p:txBody>
      </p:sp>
      <p:pic>
        <p:nvPicPr>
          <p:cNvPr id="6" name="Image 1" descr="preencoded.png"/>
          <p:cNvPicPr>
            <a:picLocks noChangeAspect="1"/>
          </p:cNvPicPr>
          <p:nvPr/>
        </p:nvPicPr>
        <p:blipFill>
          <a:blip r:embed="rId1"/>
          <a:srcRect/>
          <a:stretch>
            <a:fillRect/>
          </a:stretch>
        </p:blipFill>
        <p:spPr>
          <a:xfrm>
            <a:off x="638221" y="1199678"/>
            <a:ext cx="7755299" cy="4542174"/>
          </a:xfrm>
          <a:prstGeom prst="rect">
            <a:avLst/>
          </a:prstGeom>
        </p:spPr>
      </p:pic>
      <p:sp>
        <p:nvSpPr>
          <p:cNvPr id="7" name="Text 3"/>
          <p:cNvSpPr/>
          <p:nvPr/>
        </p:nvSpPr>
        <p:spPr>
          <a:xfrm>
            <a:off x="585981" y="4600408"/>
            <a:ext cx="2362200" cy="253682"/>
          </a:xfrm>
          <a:prstGeom prst="rect">
            <a:avLst/>
          </a:prstGeom>
          <a:noFill/>
        </p:spPr>
        <p:txBody>
          <a:bodyPr vert="horz" wrap="square" lIns="0" tIns="0" rIns="0" bIns="0" rtlCol="0" anchor="ctr"/>
          <a:lstStyle/>
          <a:p>
            <a:pPr marL="0" indent="0" algn="r">
              <a:lnSpc>
                <a:spcPts val="1690"/>
              </a:lnSpc>
              <a:buNone/>
            </a:pPr>
            <a:r>
              <a:rPr lang="en-US" b="1" dirty="0">
                <a:solidFill>
                  <a:srgbClr val="333333"/>
                </a:solidFill>
                <a:latin typeface="黑体" panose="02010609060101010101" pitchFamily="49" charset="-122"/>
                <a:ea typeface="黑体" panose="02010609060101010101" pitchFamily="49" charset="-122"/>
                <a:cs typeface="微软雅黑" panose="020B0503020204020204" pitchFamily="34" charset="-120"/>
              </a:rPr>
              <a:t>处理数据噪声</a:t>
            </a:r>
            <a:endParaRPr lang="en-US" dirty="0">
              <a:latin typeface="黑体" panose="02010609060101010101" pitchFamily="49" charset="-122"/>
              <a:ea typeface="黑体" panose="02010609060101010101" pitchFamily="49" charset="-122"/>
            </a:endParaRPr>
          </a:p>
        </p:txBody>
      </p:sp>
      <p:sp>
        <p:nvSpPr>
          <p:cNvPr id="8" name="Text 4"/>
          <p:cNvSpPr/>
          <p:nvPr/>
        </p:nvSpPr>
        <p:spPr>
          <a:xfrm>
            <a:off x="279287" y="4879420"/>
            <a:ext cx="2651158" cy="958829"/>
          </a:xfrm>
          <a:prstGeom prst="rect">
            <a:avLst/>
          </a:prstGeom>
          <a:noFill/>
        </p:spPr>
        <p:txBody>
          <a:bodyPr vert="horz" wrap="square" lIns="0" tIns="0" rIns="0" bIns="0" rtlCol="0" anchor="ctr"/>
          <a:lstStyle/>
          <a:p>
            <a:pPr marL="0" indent="0" algn="just">
              <a:lnSpc>
                <a:spcPts val="1650"/>
              </a:lnSpc>
              <a:buNone/>
            </a:pPr>
            <a:r>
              <a:rPr lang="en-US" sz="1600" dirty="0" err="1">
                <a:solidFill>
                  <a:srgbClr val="666666"/>
                </a:solidFill>
                <a:latin typeface="黑体" panose="02010609060101010101" pitchFamily="49" charset="-122"/>
                <a:ea typeface="黑体" panose="02010609060101010101" pitchFamily="49" charset="-122"/>
                <a:cs typeface="微软雅黑" panose="020B0503020204020204" pitchFamily="34" charset="-120"/>
              </a:rPr>
              <a:t>现实数据常包含噪声和重叠，导致线性不可分</a:t>
            </a:r>
            <a:r>
              <a:rPr lang="zh-CN" altLang="en-US" sz="1600" dirty="0">
                <a:solidFill>
                  <a:srgbClr val="666666"/>
                </a:solidFill>
                <a:latin typeface="黑体" panose="02010609060101010101" pitchFamily="49" charset="-122"/>
                <a:ea typeface="黑体" panose="02010609060101010101" pitchFamily="49" charset="-122"/>
                <a:cs typeface="微软雅黑" panose="020B0503020204020204" pitchFamily="34" charset="-120"/>
              </a:rPr>
              <a:t>：</a:t>
            </a:r>
            <a:r>
              <a:rPr lang="en-US" sz="1600" dirty="0" err="1">
                <a:solidFill>
                  <a:srgbClr val="666666"/>
                </a:solidFill>
                <a:latin typeface="黑体" panose="02010609060101010101" pitchFamily="49" charset="-122"/>
                <a:ea typeface="黑体" panose="02010609060101010101" pitchFamily="49" charset="-122"/>
                <a:cs typeface="微软雅黑" panose="020B0503020204020204" pitchFamily="34" charset="-120"/>
              </a:rPr>
              <a:t>需通过预处理或鲁棒方法降低干扰</a:t>
            </a:r>
            <a:r>
              <a:rPr lang="zh-CN" altLang="en-US" sz="1600" dirty="0">
                <a:solidFill>
                  <a:srgbClr val="666666"/>
                </a:solidFill>
                <a:latin typeface="黑体" panose="02010609060101010101" pitchFamily="49" charset="-122"/>
                <a:ea typeface="黑体" panose="02010609060101010101" pitchFamily="49" charset="-122"/>
                <a:cs typeface="微软雅黑" panose="020B0503020204020204" pitchFamily="34" charset="-120"/>
              </a:rPr>
              <a:t>，</a:t>
            </a:r>
            <a:r>
              <a:rPr lang="en-US" sz="1600" dirty="0" err="1">
                <a:solidFill>
                  <a:srgbClr val="666666"/>
                </a:solidFill>
                <a:latin typeface="黑体" panose="02010609060101010101" pitchFamily="49" charset="-122"/>
                <a:ea typeface="黑体" panose="02010609060101010101" pitchFamily="49" charset="-122"/>
                <a:cs typeface="微软雅黑" panose="020B0503020204020204" pitchFamily="34" charset="-120"/>
              </a:rPr>
              <a:t>提升模型对异常值的容忍度</a:t>
            </a:r>
            <a:r>
              <a:rPr lang="en-US" sz="1600" dirty="0">
                <a:solidFill>
                  <a:srgbClr val="666666"/>
                </a:solidFill>
                <a:latin typeface="黑体" panose="02010609060101010101" pitchFamily="49" charset="-122"/>
                <a:ea typeface="黑体" panose="02010609060101010101" pitchFamily="49" charset="-122"/>
                <a:cs typeface="微软雅黑" panose="020B0503020204020204" pitchFamily="34" charset="-120"/>
              </a:rPr>
              <a:t>。</a:t>
            </a:r>
            <a:endParaRPr lang="en-US" sz="1600" dirty="0">
              <a:latin typeface="黑体" panose="02010609060101010101" pitchFamily="49" charset="-122"/>
              <a:ea typeface="黑体" panose="02010609060101010101" pitchFamily="49" charset="-122"/>
            </a:endParaRPr>
          </a:p>
        </p:txBody>
      </p:sp>
      <p:sp>
        <p:nvSpPr>
          <p:cNvPr id="9" name="Text 5"/>
          <p:cNvSpPr/>
          <p:nvPr/>
        </p:nvSpPr>
        <p:spPr>
          <a:xfrm>
            <a:off x="550508" y="3530540"/>
            <a:ext cx="2362200" cy="253682"/>
          </a:xfrm>
          <a:prstGeom prst="rect">
            <a:avLst/>
          </a:prstGeom>
          <a:noFill/>
        </p:spPr>
        <p:txBody>
          <a:bodyPr vert="horz" wrap="square" lIns="0" tIns="0" rIns="0" bIns="0" rtlCol="0" anchor="ctr"/>
          <a:lstStyle/>
          <a:p>
            <a:pPr marL="0" indent="0" algn="r">
              <a:lnSpc>
                <a:spcPts val="1690"/>
              </a:lnSpc>
              <a:buNone/>
            </a:pPr>
            <a:r>
              <a:rPr lang="en-US" b="1" dirty="0">
                <a:solidFill>
                  <a:srgbClr val="333333"/>
                </a:solidFill>
                <a:latin typeface="黑体" panose="02010609060101010101" pitchFamily="49" charset="-122"/>
                <a:ea typeface="黑体" panose="02010609060101010101" pitchFamily="49" charset="-122"/>
                <a:cs typeface="微软雅黑" panose="020B0503020204020204" pitchFamily="34" charset="-120"/>
              </a:rPr>
              <a:t>应对线性不可分</a:t>
            </a:r>
            <a:endParaRPr lang="en-US" dirty="0">
              <a:latin typeface="黑体" panose="02010609060101010101" pitchFamily="49" charset="-122"/>
              <a:ea typeface="黑体" panose="02010609060101010101" pitchFamily="49" charset="-122"/>
            </a:endParaRPr>
          </a:p>
        </p:txBody>
      </p:sp>
      <p:sp>
        <p:nvSpPr>
          <p:cNvPr id="10" name="Text 6"/>
          <p:cNvSpPr/>
          <p:nvPr/>
        </p:nvSpPr>
        <p:spPr>
          <a:xfrm>
            <a:off x="55988" y="3904976"/>
            <a:ext cx="2957513" cy="670102"/>
          </a:xfrm>
          <a:prstGeom prst="rect">
            <a:avLst/>
          </a:prstGeom>
          <a:noFill/>
        </p:spPr>
        <p:txBody>
          <a:bodyPr vert="horz" wrap="square" lIns="0" tIns="0" rIns="0" bIns="0" rtlCol="0" anchor="ctr"/>
          <a:lstStyle/>
          <a:p>
            <a:pPr marL="0" indent="0" algn="just">
              <a:lnSpc>
                <a:spcPts val="1650"/>
              </a:lnSpc>
              <a:buNone/>
            </a:pPr>
            <a:r>
              <a:rPr lang="en-US" sz="1600" dirty="0" err="1">
                <a:solidFill>
                  <a:srgbClr val="666666"/>
                </a:solidFill>
                <a:latin typeface="黑体" panose="02010609060101010101" pitchFamily="49" charset="-122"/>
                <a:ea typeface="黑体" panose="02010609060101010101" pitchFamily="49" charset="-122"/>
                <a:cs typeface="微软雅黑" panose="020B0503020204020204" pitchFamily="34" charset="-120"/>
              </a:rPr>
              <a:t>当特征无法被直线划分时，需引入非线性方法</a:t>
            </a:r>
            <a:r>
              <a:rPr lang="zh-CN" altLang="en-US" sz="1600" dirty="0">
                <a:solidFill>
                  <a:srgbClr val="666666"/>
                </a:solidFill>
                <a:latin typeface="黑体" panose="02010609060101010101" pitchFamily="49" charset="-122"/>
                <a:ea typeface="黑体" panose="02010609060101010101" pitchFamily="49" charset="-122"/>
                <a:cs typeface="微软雅黑" panose="020B0503020204020204" pitchFamily="34" charset="-120"/>
              </a:rPr>
              <a:t>：</a:t>
            </a:r>
            <a:r>
              <a:rPr lang="en-US" sz="1600" dirty="0" err="1">
                <a:solidFill>
                  <a:srgbClr val="666666"/>
                </a:solidFill>
                <a:latin typeface="黑体" panose="02010609060101010101" pitchFamily="49" charset="-122"/>
                <a:ea typeface="黑体" panose="02010609060101010101" pitchFamily="49" charset="-122"/>
                <a:cs typeface="微软雅黑" panose="020B0503020204020204" pitchFamily="34" charset="-120"/>
              </a:rPr>
              <a:t>如核技巧或复杂边界模型</a:t>
            </a:r>
            <a:r>
              <a:rPr lang="zh-CN" altLang="en-US" sz="1600" dirty="0">
                <a:solidFill>
                  <a:srgbClr val="666666"/>
                </a:solidFill>
                <a:latin typeface="黑体" panose="02010609060101010101" pitchFamily="49" charset="-122"/>
                <a:ea typeface="黑体" panose="02010609060101010101" pitchFamily="49" charset="-122"/>
                <a:cs typeface="微软雅黑" panose="020B0503020204020204" pitchFamily="34" charset="-120"/>
              </a:rPr>
              <a:t>，</a:t>
            </a:r>
            <a:r>
              <a:rPr lang="en-US" sz="1600" dirty="0" err="1">
                <a:solidFill>
                  <a:srgbClr val="666666"/>
                </a:solidFill>
                <a:latin typeface="黑体" panose="02010609060101010101" pitchFamily="49" charset="-122"/>
                <a:ea typeface="黑体" panose="02010609060101010101" pitchFamily="49" charset="-122"/>
                <a:cs typeface="微软雅黑" panose="020B0503020204020204" pitchFamily="34" charset="-120"/>
              </a:rPr>
              <a:t>以更好拟合实际分布</a:t>
            </a:r>
            <a:r>
              <a:rPr lang="en-US" sz="1600" dirty="0">
                <a:solidFill>
                  <a:srgbClr val="666666"/>
                </a:solidFill>
                <a:latin typeface="黑体" panose="02010609060101010101" pitchFamily="49" charset="-122"/>
                <a:ea typeface="黑体" panose="02010609060101010101" pitchFamily="49" charset="-122"/>
                <a:cs typeface="微软雅黑" panose="020B0503020204020204" pitchFamily="34" charset="-120"/>
              </a:rPr>
              <a:t>。</a:t>
            </a:r>
            <a:endParaRPr lang="en-US" sz="1600" dirty="0">
              <a:latin typeface="黑体" panose="02010609060101010101" pitchFamily="49" charset="-122"/>
              <a:ea typeface="黑体" panose="02010609060101010101" pitchFamily="49" charset="-122"/>
            </a:endParaRPr>
          </a:p>
        </p:txBody>
      </p:sp>
      <p:sp>
        <p:nvSpPr>
          <p:cNvPr id="11" name="Text 7"/>
          <p:cNvSpPr/>
          <p:nvPr/>
        </p:nvSpPr>
        <p:spPr>
          <a:xfrm>
            <a:off x="550508" y="2381545"/>
            <a:ext cx="2362200" cy="253682"/>
          </a:xfrm>
          <a:prstGeom prst="rect">
            <a:avLst/>
          </a:prstGeom>
          <a:noFill/>
        </p:spPr>
        <p:txBody>
          <a:bodyPr vert="horz" wrap="square" lIns="0" tIns="0" rIns="0" bIns="0" rtlCol="0" anchor="ctr"/>
          <a:lstStyle/>
          <a:p>
            <a:pPr marL="0" indent="0" algn="r">
              <a:lnSpc>
                <a:spcPts val="1690"/>
              </a:lnSpc>
              <a:buNone/>
            </a:pPr>
            <a:r>
              <a:rPr lang="en-US" b="1" dirty="0">
                <a:solidFill>
                  <a:srgbClr val="333333"/>
                </a:solidFill>
                <a:latin typeface="黑体" panose="02010609060101010101" pitchFamily="49" charset="-122"/>
                <a:ea typeface="黑体" panose="02010609060101010101" pitchFamily="49" charset="-122"/>
                <a:cs typeface="微软雅黑" panose="020B0503020204020204" pitchFamily="34" charset="-120"/>
              </a:rPr>
              <a:t>多决策边界选择</a:t>
            </a:r>
            <a:endParaRPr lang="en-US" dirty="0">
              <a:latin typeface="黑体" panose="02010609060101010101" pitchFamily="49" charset="-122"/>
              <a:ea typeface="黑体" panose="02010609060101010101" pitchFamily="49" charset="-122"/>
            </a:endParaRPr>
          </a:p>
        </p:txBody>
      </p:sp>
      <p:sp>
        <p:nvSpPr>
          <p:cNvPr id="12" name="Text 8"/>
          <p:cNvSpPr/>
          <p:nvPr/>
        </p:nvSpPr>
        <p:spPr>
          <a:xfrm>
            <a:off x="158621" y="2717134"/>
            <a:ext cx="2789561" cy="670102"/>
          </a:xfrm>
          <a:prstGeom prst="rect">
            <a:avLst/>
          </a:prstGeom>
          <a:noFill/>
        </p:spPr>
        <p:txBody>
          <a:bodyPr vert="horz" wrap="square" lIns="0" tIns="0" rIns="0" bIns="0" rtlCol="0" anchor="ctr"/>
          <a:lstStyle/>
          <a:p>
            <a:pPr marL="0" indent="0" algn="just">
              <a:lnSpc>
                <a:spcPts val="1650"/>
              </a:lnSpc>
              <a:buNone/>
            </a:pPr>
            <a:r>
              <a:rPr lang="en-US" sz="1600" dirty="0" err="1">
                <a:solidFill>
                  <a:srgbClr val="666666"/>
                </a:solidFill>
                <a:latin typeface="黑体" panose="02010609060101010101" pitchFamily="49" charset="-122"/>
                <a:ea typeface="黑体" panose="02010609060101010101" pitchFamily="49" charset="-122"/>
                <a:cs typeface="微软雅黑" panose="020B0503020204020204" pitchFamily="34" charset="-120"/>
              </a:rPr>
              <a:t>存在多个可行的划分边界，泛化能力不同</a:t>
            </a:r>
            <a:r>
              <a:rPr lang="zh-CN" altLang="en-US" sz="1600" dirty="0">
                <a:solidFill>
                  <a:srgbClr val="666666"/>
                </a:solidFill>
                <a:latin typeface="黑体" panose="02010609060101010101" pitchFamily="49" charset="-122"/>
                <a:ea typeface="黑体" panose="02010609060101010101" pitchFamily="49" charset="-122"/>
                <a:cs typeface="微软雅黑" panose="020B0503020204020204" pitchFamily="34" charset="-120"/>
              </a:rPr>
              <a:t>：</a:t>
            </a:r>
            <a:r>
              <a:rPr lang="en-US" sz="1600" dirty="0" err="1">
                <a:solidFill>
                  <a:srgbClr val="666666"/>
                </a:solidFill>
                <a:latin typeface="黑体" panose="02010609060101010101" pitchFamily="49" charset="-122"/>
                <a:ea typeface="黑体" panose="02010609060101010101" pitchFamily="49" charset="-122"/>
                <a:cs typeface="微软雅黑" panose="020B0503020204020204" pitchFamily="34" charset="-120"/>
              </a:rPr>
              <a:t>需评估边界合理性</a:t>
            </a:r>
            <a:r>
              <a:rPr lang="zh-CN" altLang="en-US" sz="1600" dirty="0">
                <a:solidFill>
                  <a:srgbClr val="666666"/>
                </a:solidFill>
                <a:latin typeface="黑体" panose="02010609060101010101" pitchFamily="49" charset="-122"/>
                <a:ea typeface="黑体" panose="02010609060101010101" pitchFamily="49" charset="-122"/>
                <a:cs typeface="微软雅黑" panose="020B0503020204020204" pitchFamily="34" charset="-120"/>
              </a:rPr>
              <a:t>，</a:t>
            </a:r>
            <a:r>
              <a:rPr lang="en-US" sz="1600" dirty="0" err="1">
                <a:solidFill>
                  <a:srgbClr val="666666"/>
                </a:solidFill>
                <a:latin typeface="黑体" panose="02010609060101010101" pitchFamily="49" charset="-122"/>
                <a:ea typeface="黑体" panose="02010609060101010101" pitchFamily="49" charset="-122"/>
                <a:cs typeface="微软雅黑" panose="020B0503020204020204" pitchFamily="34" charset="-120"/>
              </a:rPr>
              <a:t>选择更具稳定性的方案</a:t>
            </a:r>
            <a:r>
              <a:rPr lang="en-US" sz="1600" dirty="0">
                <a:solidFill>
                  <a:srgbClr val="666666"/>
                </a:solidFill>
                <a:latin typeface="黑体" panose="02010609060101010101" pitchFamily="49" charset="-122"/>
                <a:ea typeface="黑体" panose="02010609060101010101" pitchFamily="49" charset="-122"/>
                <a:cs typeface="微软雅黑" panose="020B0503020204020204" pitchFamily="34" charset="-120"/>
              </a:rPr>
              <a:t>。</a:t>
            </a:r>
            <a:endParaRPr lang="en-US" sz="1600" dirty="0">
              <a:latin typeface="黑体" panose="02010609060101010101" pitchFamily="49" charset="-122"/>
              <a:ea typeface="黑体" panose="02010609060101010101" pitchFamily="49" charset="-122"/>
            </a:endParaRPr>
          </a:p>
        </p:txBody>
      </p:sp>
      <p:sp>
        <p:nvSpPr>
          <p:cNvPr id="13" name="Text 9"/>
          <p:cNvSpPr/>
          <p:nvPr/>
        </p:nvSpPr>
        <p:spPr>
          <a:xfrm>
            <a:off x="585982" y="1231240"/>
            <a:ext cx="2362200" cy="253682"/>
          </a:xfrm>
          <a:prstGeom prst="rect">
            <a:avLst/>
          </a:prstGeom>
          <a:noFill/>
        </p:spPr>
        <p:txBody>
          <a:bodyPr vert="horz" wrap="square" lIns="0" tIns="0" rIns="0" bIns="0" rtlCol="0" anchor="ctr"/>
          <a:lstStyle/>
          <a:p>
            <a:pPr marL="0" indent="0" algn="r">
              <a:lnSpc>
                <a:spcPts val="1690"/>
              </a:lnSpc>
              <a:buNone/>
            </a:pPr>
            <a:r>
              <a:rPr lang="en-US" b="1" dirty="0">
                <a:solidFill>
                  <a:srgbClr val="333333"/>
                </a:solidFill>
                <a:latin typeface="黑体" panose="02010609060101010101" pitchFamily="49" charset="-122"/>
                <a:ea typeface="黑体" panose="02010609060101010101" pitchFamily="49" charset="-122"/>
                <a:cs typeface="微软雅黑" panose="020B0503020204020204" pitchFamily="34" charset="-120"/>
              </a:rPr>
              <a:t>增强模型鲁棒性</a:t>
            </a:r>
            <a:endParaRPr lang="en-US" dirty="0">
              <a:latin typeface="黑体" panose="02010609060101010101" pitchFamily="49" charset="-122"/>
              <a:ea typeface="黑体" panose="02010609060101010101" pitchFamily="49" charset="-122"/>
            </a:endParaRPr>
          </a:p>
        </p:txBody>
      </p:sp>
      <p:sp>
        <p:nvSpPr>
          <p:cNvPr id="14" name="Text 10"/>
          <p:cNvSpPr/>
          <p:nvPr/>
        </p:nvSpPr>
        <p:spPr>
          <a:xfrm>
            <a:off x="158621" y="1601086"/>
            <a:ext cx="2892490" cy="670102"/>
          </a:xfrm>
          <a:prstGeom prst="rect">
            <a:avLst/>
          </a:prstGeom>
          <a:noFill/>
        </p:spPr>
        <p:txBody>
          <a:bodyPr vert="horz" wrap="square" lIns="0" tIns="0" rIns="0" bIns="0" rtlCol="0" anchor="ctr"/>
          <a:lstStyle/>
          <a:p>
            <a:pPr marL="0" indent="0" algn="just">
              <a:lnSpc>
                <a:spcPts val="1650"/>
              </a:lnSpc>
              <a:buNone/>
            </a:pPr>
            <a:r>
              <a:rPr lang="en-US" sz="1600" dirty="0" err="1">
                <a:solidFill>
                  <a:srgbClr val="666666"/>
                </a:solidFill>
                <a:latin typeface="黑体" panose="02010609060101010101" pitchFamily="49" charset="-122"/>
                <a:ea typeface="黑体" panose="02010609060101010101" pitchFamily="49" charset="-122"/>
                <a:cs typeface="微软雅黑" panose="020B0503020204020204" pitchFamily="34" charset="-120"/>
              </a:rPr>
              <a:t>鲁棒性确保模型在扰动下保持性能</a:t>
            </a:r>
            <a:r>
              <a:rPr lang="zh-CN" altLang="en-US" sz="1600" dirty="0">
                <a:solidFill>
                  <a:srgbClr val="666666"/>
                </a:solidFill>
                <a:latin typeface="黑体" panose="02010609060101010101" pitchFamily="49" charset="-122"/>
                <a:ea typeface="黑体" panose="02010609060101010101" pitchFamily="49" charset="-122"/>
                <a:cs typeface="微软雅黑" panose="020B0503020204020204" pitchFamily="34" charset="-120"/>
              </a:rPr>
              <a:t>：</a:t>
            </a:r>
            <a:r>
              <a:rPr lang="en-US" sz="1600" dirty="0" err="1">
                <a:solidFill>
                  <a:srgbClr val="666666"/>
                </a:solidFill>
                <a:latin typeface="黑体" panose="02010609060101010101" pitchFamily="49" charset="-122"/>
                <a:ea typeface="黑体" panose="02010609060101010101" pitchFamily="49" charset="-122"/>
                <a:cs typeface="微软雅黑" panose="020B0503020204020204" pitchFamily="34" charset="-120"/>
              </a:rPr>
              <a:t>需减少对局部变化的敏感度</a:t>
            </a:r>
            <a:r>
              <a:rPr lang="zh-CN" altLang="en-US" sz="1600" dirty="0">
                <a:solidFill>
                  <a:srgbClr val="666666"/>
                </a:solidFill>
                <a:latin typeface="黑体" panose="02010609060101010101" pitchFamily="49" charset="-122"/>
                <a:ea typeface="黑体" panose="02010609060101010101" pitchFamily="49" charset="-122"/>
                <a:cs typeface="微软雅黑" panose="020B0503020204020204" pitchFamily="34" charset="-120"/>
              </a:rPr>
              <a:t>，</a:t>
            </a:r>
            <a:r>
              <a:rPr lang="en-US" sz="1600" dirty="0" err="1">
                <a:solidFill>
                  <a:srgbClr val="666666"/>
                </a:solidFill>
                <a:latin typeface="黑体" panose="02010609060101010101" pitchFamily="49" charset="-122"/>
                <a:ea typeface="黑体" panose="02010609060101010101" pitchFamily="49" charset="-122"/>
                <a:cs typeface="微软雅黑" panose="020B0503020204020204" pitchFamily="34" charset="-120"/>
              </a:rPr>
              <a:t>提高对未知样本的适应力</a:t>
            </a:r>
            <a:r>
              <a:rPr lang="en-US" sz="1600" dirty="0">
                <a:solidFill>
                  <a:srgbClr val="666666"/>
                </a:solidFill>
                <a:latin typeface="黑体" panose="02010609060101010101" pitchFamily="49" charset="-122"/>
                <a:ea typeface="黑体" panose="02010609060101010101" pitchFamily="49" charset="-122"/>
                <a:cs typeface="微软雅黑" panose="020B0503020204020204" pitchFamily="34" charset="-120"/>
              </a:rPr>
              <a:t>。</a:t>
            </a:r>
            <a:endParaRPr lang="en-US" sz="1600" dirty="0">
              <a:latin typeface="黑体" panose="02010609060101010101" pitchFamily="49" charset="-122"/>
              <a:ea typeface="黑体" panose="02010609060101010101" pitchFamily="49" charset="-122"/>
            </a:endParaRPr>
          </a:p>
        </p:txBody>
      </p:sp>
      <p:sp>
        <p:nvSpPr>
          <p:cNvPr id="15" name="Text 11"/>
          <p:cNvSpPr/>
          <p:nvPr/>
        </p:nvSpPr>
        <p:spPr>
          <a:xfrm>
            <a:off x="6210300" y="1231939"/>
            <a:ext cx="2362200" cy="253682"/>
          </a:xfrm>
          <a:prstGeom prst="rect">
            <a:avLst/>
          </a:prstGeom>
          <a:noFill/>
        </p:spPr>
        <p:txBody>
          <a:bodyPr vert="horz" wrap="square" lIns="0" tIns="0" rIns="0" bIns="0" rtlCol="0" anchor="ctr"/>
          <a:lstStyle/>
          <a:p>
            <a:pPr marL="0" indent="0" algn="l">
              <a:lnSpc>
                <a:spcPts val="1690"/>
              </a:lnSpc>
              <a:buNone/>
            </a:pPr>
            <a:r>
              <a:rPr lang="en-US" b="1" dirty="0">
                <a:solidFill>
                  <a:srgbClr val="333333"/>
                </a:solidFill>
                <a:latin typeface="黑体" panose="02010609060101010101" pitchFamily="49" charset="-122"/>
                <a:ea typeface="黑体" panose="02010609060101010101" pitchFamily="49" charset="-122"/>
                <a:cs typeface="微软雅黑" panose="020B0503020204020204" pitchFamily="34" charset="-120"/>
              </a:rPr>
              <a:t>边界泛化能力</a:t>
            </a:r>
            <a:endParaRPr lang="en-US" dirty="0">
              <a:latin typeface="黑体" panose="02010609060101010101" pitchFamily="49" charset="-122"/>
              <a:ea typeface="黑体" panose="02010609060101010101" pitchFamily="49" charset="-122"/>
            </a:endParaRPr>
          </a:p>
        </p:txBody>
      </p:sp>
      <p:sp>
        <p:nvSpPr>
          <p:cNvPr id="16" name="Text 12"/>
          <p:cNvSpPr/>
          <p:nvPr/>
        </p:nvSpPr>
        <p:spPr>
          <a:xfrm>
            <a:off x="6186487" y="1566615"/>
            <a:ext cx="2651157" cy="670102"/>
          </a:xfrm>
          <a:prstGeom prst="rect">
            <a:avLst/>
          </a:prstGeom>
          <a:noFill/>
        </p:spPr>
        <p:txBody>
          <a:bodyPr vert="horz" wrap="square" lIns="0" tIns="0" rIns="0" bIns="0" rtlCol="0" anchor="ctr"/>
          <a:lstStyle/>
          <a:p>
            <a:pPr marL="0" indent="0" algn="l">
              <a:lnSpc>
                <a:spcPts val="1650"/>
              </a:lnSpc>
              <a:buNone/>
            </a:pPr>
            <a:r>
              <a:rPr lang="en-US" sz="1600" dirty="0" err="1">
                <a:solidFill>
                  <a:srgbClr val="666666"/>
                </a:solidFill>
                <a:latin typeface="黑体" panose="02010609060101010101" pitchFamily="49" charset="-122"/>
                <a:ea typeface="黑体" panose="02010609060101010101" pitchFamily="49" charset="-122"/>
                <a:cs typeface="微软雅黑" panose="020B0503020204020204" pitchFamily="34" charset="-120"/>
              </a:rPr>
              <a:t>决策边界应具备良好外推能力</a:t>
            </a:r>
            <a:r>
              <a:rPr lang="zh-CN" altLang="en-US" sz="1600" dirty="0">
                <a:solidFill>
                  <a:srgbClr val="666666"/>
                </a:solidFill>
                <a:latin typeface="黑体" panose="02010609060101010101" pitchFamily="49" charset="-122"/>
                <a:ea typeface="黑体" panose="02010609060101010101" pitchFamily="49" charset="-122"/>
                <a:cs typeface="微软雅黑" panose="020B0503020204020204" pitchFamily="34" charset="-120"/>
              </a:rPr>
              <a:t>，</a:t>
            </a:r>
            <a:r>
              <a:rPr lang="en-US" sz="1600" dirty="0" err="1">
                <a:solidFill>
                  <a:srgbClr val="666666"/>
                </a:solidFill>
                <a:latin typeface="黑体" panose="02010609060101010101" pitchFamily="49" charset="-122"/>
                <a:ea typeface="黑体" panose="02010609060101010101" pitchFamily="49" charset="-122"/>
                <a:cs typeface="微软雅黑" panose="020B0503020204020204" pitchFamily="34" charset="-120"/>
              </a:rPr>
              <a:t>避免过拟合训练数据</a:t>
            </a:r>
            <a:r>
              <a:rPr lang="zh-CN" altLang="en-US" sz="1600" dirty="0">
                <a:solidFill>
                  <a:srgbClr val="666666"/>
                </a:solidFill>
                <a:latin typeface="黑体" panose="02010609060101010101" pitchFamily="49" charset="-122"/>
                <a:ea typeface="黑体" panose="02010609060101010101" pitchFamily="49" charset="-122"/>
                <a:cs typeface="微软雅黑" panose="020B0503020204020204" pitchFamily="34" charset="-120"/>
              </a:rPr>
              <a:t>，</a:t>
            </a:r>
            <a:r>
              <a:rPr lang="en-US" sz="1600" dirty="0" err="1">
                <a:solidFill>
                  <a:srgbClr val="666666"/>
                </a:solidFill>
                <a:latin typeface="黑体" panose="02010609060101010101" pitchFamily="49" charset="-122"/>
                <a:ea typeface="黑体" panose="02010609060101010101" pitchFamily="49" charset="-122"/>
                <a:cs typeface="微软雅黑" panose="020B0503020204020204" pitchFamily="34" charset="-120"/>
              </a:rPr>
              <a:t>提升在测试集上的表现稳定性</a:t>
            </a:r>
            <a:r>
              <a:rPr lang="en-US" sz="1600" dirty="0">
                <a:solidFill>
                  <a:srgbClr val="666666"/>
                </a:solidFill>
                <a:latin typeface="黑体" panose="02010609060101010101" pitchFamily="49" charset="-122"/>
                <a:ea typeface="黑体" panose="02010609060101010101" pitchFamily="49" charset="-122"/>
                <a:cs typeface="微软雅黑" panose="020B0503020204020204" pitchFamily="34" charset="-120"/>
              </a:rPr>
              <a:t>。</a:t>
            </a:r>
            <a:endParaRPr lang="en-US" sz="1600" dirty="0">
              <a:latin typeface="黑体" panose="02010609060101010101" pitchFamily="49" charset="-122"/>
              <a:ea typeface="黑体" panose="02010609060101010101" pitchFamily="49" charset="-122"/>
            </a:endParaRPr>
          </a:p>
        </p:txBody>
      </p:sp>
      <p:sp>
        <p:nvSpPr>
          <p:cNvPr id="17" name="Text 13"/>
          <p:cNvSpPr/>
          <p:nvPr/>
        </p:nvSpPr>
        <p:spPr>
          <a:xfrm>
            <a:off x="6231294" y="2367756"/>
            <a:ext cx="2362200" cy="253682"/>
          </a:xfrm>
          <a:prstGeom prst="rect">
            <a:avLst/>
          </a:prstGeom>
          <a:noFill/>
        </p:spPr>
        <p:txBody>
          <a:bodyPr vert="horz" wrap="square" lIns="0" tIns="0" rIns="0" bIns="0" rtlCol="0" anchor="ctr"/>
          <a:lstStyle/>
          <a:p>
            <a:pPr marL="0" indent="0" algn="l">
              <a:lnSpc>
                <a:spcPts val="1690"/>
              </a:lnSpc>
              <a:buNone/>
            </a:pPr>
            <a:r>
              <a:rPr lang="en-US" b="1" dirty="0">
                <a:solidFill>
                  <a:srgbClr val="333333"/>
                </a:solidFill>
                <a:latin typeface="黑体" panose="02010609060101010101" pitchFamily="49" charset="-122"/>
                <a:ea typeface="黑体" panose="02010609060101010101" pitchFamily="49" charset="-122"/>
                <a:cs typeface="微软雅黑" panose="020B0503020204020204" pitchFamily="34" charset="-120"/>
              </a:rPr>
              <a:t>异常点稳定性</a:t>
            </a:r>
            <a:endParaRPr lang="en-US" dirty="0">
              <a:latin typeface="黑体" panose="02010609060101010101" pitchFamily="49" charset="-122"/>
              <a:ea typeface="黑体" panose="02010609060101010101" pitchFamily="49" charset="-122"/>
            </a:endParaRPr>
          </a:p>
        </p:txBody>
      </p:sp>
      <p:sp>
        <p:nvSpPr>
          <p:cNvPr id="18" name="Text 14"/>
          <p:cNvSpPr/>
          <p:nvPr/>
        </p:nvSpPr>
        <p:spPr>
          <a:xfrm>
            <a:off x="6186488" y="2698474"/>
            <a:ext cx="2651156" cy="670102"/>
          </a:xfrm>
          <a:prstGeom prst="rect">
            <a:avLst/>
          </a:prstGeom>
          <a:noFill/>
        </p:spPr>
        <p:txBody>
          <a:bodyPr vert="horz" wrap="square" lIns="0" tIns="0" rIns="0" bIns="0" rtlCol="0" anchor="ctr"/>
          <a:lstStyle/>
          <a:p>
            <a:pPr marL="0" indent="0" algn="l">
              <a:lnSpc>
                <a:spcPts val="1650"/>
              </a:lnSpc>
              <a:buNone/>
            </a:pPr>
            <a:r>
              <a:rPr lang="en-US" sz="1600" dirty="0" err="1">
                <a:solidFill>
                  <a:srgbClr val="666666"/>
                </a:solidFill>
                <a:latin typeface="黑体" panose="02010609060101010101" pitchFamily="49" charset="-122"/>
                <a:ea typeface="黑体" panose="02010609060101010101" pitchFamily="49" charset="-122"/>
                <a:cs typeface="微软雅黑" panose="020B0503020204020204" pitchFamily="34" charset="-120"/>
              </a:rPr>
              <a:t>模型应抵抗异常点的影响</a:t>
            </a:r>
            <a:r>
              <a:rPr lang="zh-CN" altLang="en-US" sz="1600" dirty="0">
                <a:solidFill>
                  <a:srgbClr val="666666"/>
                </a:solidFill>
                <a:latin typeface="黑体" panose="02010609060101010101" pitchFamily="49" charset="-122"/>
                <a:ea typeface="黑体" panose="02010609060101010101" pitchFamily="49" charset="-122"/>
                <a:cs typeface="微软雅黑" panose="020B0503020204020204" pitchFamily="34" charset="-120"/>
              </a:rPr>
              <a:t>，</a:t>
            </a:r>
            <a:r>
              <a:rPr lang="en-US" sz="1600" dirty="0" err="1">
                <a:solidFill>
                  <a:srgbClr val="666666"/>
                </a:solidFill>
                <a:latin typeface="黑体" panose="02010609060101010101" pitchFamily="49" charset="-122"/>
                <a:ea typeface="黑体" panose="02010609060101010101" pitchFamily="49" charset="-122"/>
                <a:cs typeface="微软雅黑" panose="020B0503020204020204" pitchFamily="34" charset="-120"/>
              </a:rPr>
              <a:t>防止个别样本扭曲决策面</a:t>
            </a:r>
            <a:r>
              <a:rPr lang="zh-CN" altLang="en-US" sz="1600" dirty="0">
                <a:solidFill>
                  <a:srgbClr val="666666"/>
                </a:solidFill>
                <a:latin typeface="黑体" panose="02010609060101010101" pitchFamily="49" charset="-122"/>
                <a:ea typeface="黑体" panose="02010609060101010101" pitchFamily="49" charset="-122"/>
                <a:cs typeface="微软雅黑" panose="020B0503020204020204" pitchFamily="34" charset="-120"/>
              </a:rPr>
              <a:t>，</a:t>
            </a:r>
            <a:r>
              <a:rPr lang="en-US" sz="1600" dirty="0" err="1">
                <a:solidFill>
                  <a:srgbClr val="666666"/>
                </a:solidFill>
                <a:latin typeface="黑体" panose="02010609060101010101" pitchFamily="49" charset="-122"/>
                <a:ea typeface="黑体" panose="02010609060101010101" pitchFamily="49" charset="-122"/>
                <a:cs typeface="微软雅黑" panose="020B0503020204020204" pitchFamily="34" charset="-120"/>
              </a:rPr>
              <a:t>保障整体分类逻辑一致性</a:t>
            </a:r>
            <a:r>
              <a:rPr lang="en-US" sz="1600" dirty="0">
                <a:solidFill>
                  <a:srgbClr val="666666"/>
                </a:solidFill>
                <a:latin typeface="黑体" panose="02010609060101010101" pitchFamily="49" charset="-122"/>
                <a:ea typeface="黑体" panose="02010609060101010101" pitchFamily="49" charset="-122"/>
                <a:cs typeface="微软雅黑" panose="020B0503020204020204" pitchFamily="34" charset="-120"/>
              </a:rPr>
              <a:t>。</a:t>
            </a:r>
            <a:endParaRPr lang="en-US" sz="1600" dirty="0">
              <a:latin typeface="黑体" panose="02010609060101010101" pitchFamily="49" charset="-122"/>
              <a:ea typeface="黑体" panose="02010609060101010101" pitchFamily="49" charset="-122"/>
            </a:endParaRPr>
          </a:p>
        </p:txBody>
      </p:sp>
      <p:sp>
        <p:nvSpPr>
          <p:cNvPr id="19" name="Text 15"/>
          <p:cNvSpPr/>
          <p:nvPr/>
        </p:nvSpPr>
        <p:spPr>
          <a:xfrm>
            <a:off x="6231294" y="3535237"/>
            <a:ext cx="2362200" cy="253682"/>
          </a:xfrm>
          <a:prstGeom prst="rect">
            <a:avLst/>
          </a:prstGeom>
          <a:noFill/>
        </p:spPr>
        <p:txBody>
          <a:bodyPr vert="horz" wrap="square" lIns="0" tIns="0" rIns="0" bIns="0" rtlCol="0" anchor="ctr"/>
          <a:lstStyle/>
          <a:p>
            <a:pPr marL="0" indent="0" algn="l">
              <a:lnSpc>
                <a:spcPts val="1690"/>
              </a:lnSpc>
              <a:buNone/>
            </a:pPr>
            <a:r>
              <a:rPr lang="en-US" b="1" dirty="0">
                <a:solidFill>
                  <a:srgbClr val="333333"/>
                </a:solidFill>
                <a:latin typeface="黑体" panose="02010609060101010101" pitchFamily="49" charset="-122"/>
                <a:ea typeface="黑体" panose="02010609060101010101" pitchFamily="49" charset="-122"/>
                <a:cs typeface="微软雅黑" panose="020B0503020204020204" pitchFamily="34" charset="-120"/>
              </a:rPr>
              <a:t>数据分布扰动</a:t>
            </a:r>
            <a:endParaRPr lang="en-US" dirty="0">
              <a:latin typeface="黑体" panose="02010609060101010101" pitchFamily="49" charset="-122"/>
              <a:ea typeface="黑体" panose="02010609060101010101" pitchFamily="49" charset="-122"/>
            </a:endParaRPr>
          </a:p>
        </p:txBody>
      </p:sp>
      <p:sp>
        <p:nvSpPr>
          <p:cNvPr id="20" name="Text 16"/>
          <p:cNvSpPr/>
          <p:nvPr/>
        </p:nvSpPr>
        <p:spPr>
          <a:xfrm>
            <a:off x="6231294" y="3830333"/>
            <a:ext cx="2651156" cy="670102"/>
          </a:xfrm>
          <a:prstGeom prst="rect">
            <a:avLst/>
          </a:prstGeom>
          <a:noFill/>
        </p:spPr>
        <p:txBody>
          <a:bodyPr vert="horz" wrap="square" lIns="0" tIns="0" rIns="0" bIns="0" rtlCol="0" anchor="ctr"/>
          <a:lstStyle/>
          <a:p>
            <a:pPr marL="0" indent="0" algn="l">
              <a:lnSpc>
                <a:spcPts val="1650"/>
              </a:lnSpc>
              <a:buNone/>
            </a:pPr>
            <a:r>
              <a:rPr lang="en-US" sz="1600" dirty="0" err="1">
                <a:solidFill>
                  <a:srgbClr val="666666"/>
                </a:solidFill>
                <a:latin typeface="黑体" panose="02010609060101010101" pitchFamily="49" charset="-122"/>
                <a:ea typeface="黑体" panose="02010609060101010101" pitchFamily="49" charset="-122"/>
                <a:cs typeface="微软雅黑" panose="020B0503020204020204" pitchFamily="34" charset="-120"/>
              </a:rPr>
              <a:t>真实场景中数据分布可能变化</a:t>
            </a:r>
            <a:r>
              <a:rPr lang="zh-CN" altLang="en-US" sz="1600" dirty="0">
                <a:solidFill>
                  <a:srgbClr val="666666"/>
                </a:solidFill>
                <a:latin typeface="黑体" panose="02010609060101010101" pitchFamily="49" charset="-122"/>
                <a:ea typeface="黑体" panose="02010609060101010101" pitchFamily="49" charset="-122"/>
                <a:cs typeface="微软雅黑" panose="020B0503020204020204" pitchFamily="34" charset="-120"/>
              </a:rPr>
              <a:t>，</a:t>
            </a:r>
            <a:r>
              <a:rPr lang="en-US" sz="1600" dirty="0" err="1">
                <a:solidFill>
                  <a:srgbClr val="666666"/>
                </a:solidFill>
                <a:latin typeface="黑体" panose="02010609060101010101" pitchFamily="49" charset="-122"/>
                <a:ea typeface="黑体" panose="02010609060101010101" pitchFamily="49" charset="-122"/>
                <a:cs typeface="微软雅黑" panose="020B0503020204020204" pitchFamily="34" charset="-120"/>
              </a:rPr>
              <a:t>模型需适应分布偏移</a:t>
            </a:r>
            <a:r>
              <a:rPr lang="zh-CN" altLang="en-US" sz="1600" dirty="0">
                <a:solidFill>
                  <a:srgbClr val="666666"/>
                </a:solidFill>
                <a:latin typeface="黑体" panose="02010609060101010101" pitchFamily="49" charset="-122"/>
                <a:ea typeface="黑体" panose="02010609060101010101" pitchFamily="49" charset="-122"/>
                <a:cs typeface="微软雅黑" panose="020B0503020204020204" pitchFamily="34" charset="-120"/>
              </a:rPr>
              <a:t>，</a:t>
            </a:r>
            <a:r>
              <a:rPr lang="en-US" sz="1600" dirty="0" err="1">
                <a:solidFill>
                  <a:srgbClr val="666666"/>
                </a:solidFill>
                <a:latin typeface="黑体" panose="02010609060101010101" pitchFamily="49" charset="-122"/>
                <a:ea typeface="黑体" panose="02010609060101010101" pitchFamily="49" charset="-122"/>
                <a:cs typeface="微软雅黑" panose="020B0503020204020204" pitchFamily="34" charset="-120"/>
              </a:rPr>
              <a:t>保持预测结果的一致性和可靠性</a:t>
            </a:r>
            <a:r>
              <a:rPr lang="en-US" sz="1600" dirty="0">
                <a:solidFill>
                  <a:srgbClr val="666666"/>
                </a:solidFill>
                <a:latin typeface="黑体" panose="02010609060101010101" pitchFamily="49" charset="-122"/>
                <a:ea typeface="黑体" panose="02010609060101010101" pitchFamily="49" charset="-122"/>
                <a:cs typeface="微软雅黑" panose="020B0503020204020204" pitchFamily="34" charset="-120"/>
              </a:rPr>
              <a:t>。</a:t>
            </a:r>
            <a:endParaRPr lang="en-US" sz="1600" dirty="0">
              <a:latin typeface="黑体" panose="02010609060101010101" pitchFamily="49" charset="-122"/>
              <a:ea typeface="黑体" panose="02010609060101010101" pitchFamily="49" charset="-122"/>
            </a:endParaRPr>
          </a:p>
        </p:txBody>
      </p:sp>
      <p:sp>
        <p:nvSpPr>
          <p:cNvPr id="21" name="Text 17"/>
          <p:cNvSpPr/>
          <p:nvPr/>
        </p:nvSpPr>
        <p:spPr>
          <a:xfrm>
            <a:off x="6231294" y="4654682"/>
            <a:ext cx="2362200" cy="253682"/>
          </a:xfrm>
          <a:prstGeom prst="rect">
            <a:avLst/>
          </a:prstGeom>
          <a:noFill/>
        </p:spPr>
        <p:txBody>
          <a:bodyPr vert="horz" wrap="square" lIns="0" tIns="0" rIns="0" bIns="0" rtlCol="0" anchor="ctr"/>
          <a:lstStyle/>
          <a:p>
            <a:pPr marL="0" indent="0" algn="l">
              <a:lnSpc>
                <a:spcPts val="1690"/>
              </a:lnSpc>
              <a:buNone/>
            </a:pPr>
            <a:r>
              <a:rPr lang="en-US" b="1" dirty="0">
                <a:solidFill>
                  <a:srgbClr val="333333"/>
                </a:solidFill>
                <a:latin typeface="黑体" panose="02010609060101010101" pitchFamily="49" charset="-122"/>
                <a:ea typeface="黑体" panose="02010609060101010101" pitchFamily="49" charset="-122"/>
                <a:cs typeface="微软雅黑" panose="020B0503020204020204" pitchFamily="34" charset="-120"/>
              </a:rPr>
              <a:t>优化边界合理性</a:t>
            </a:r>
            <a:endParaRPr lang="en-US" dirty="0">
              <a:latin typeface="黑体" panose="02010609060101010101" pitchFamily="49" charset="-122"/>
              <a:ea typeface="黑体" panose="02010609060101010101" pitchFamily="49" charset="-122"/>
            </a:endParaRPr>
          </a:p>
        </p:txBody>
      </p:sp>
      <p:sp>
        <p:nvSpPr>
          <p:cNvPr id="22" name="Text 18"/>
          <p:cNvSpPr/>
          <p:nvPr/>
        </p:nvSpPr>
        <p:spPr>
          <a:xfrm>
            <a:off x="6204224" y="4938280"/>
            <a:ext cx="2678226" cy="761240"/>
          </a:xfrm>
          <a:prstGeom prst="rect">
            <a:avLst/>
          </a:prstGeom>
          <a:noFill/>
        </p:spPr>
        <p:txBody>
          <a:bodyPr vert="horz" wrap="square" lIns="0" tIns="0" rIns="0" bIns="0" rtlCol="0" anchor="ctr"/>
          <a:lstStyle/>
          <a:p>
            <a:pPr marL="0" indent="0" algn="l">
              <a:lnSpc>
                <a:spcPts val="1650"/>
              </a:lnSpc>
              <a:buNone/>
            </a:pPr>
            <a:r>
              <a:rPr lang="en-US" sz="1600" dirty="0" err="1">
                <a:solidFill>
                  <a:srgbClr val="666666"/>
                </a:solidFill>
                <a:latin typeface="黑体" panose="02010609060101010101" pitchFamily="49" charset="-122"/>
                <a:ea typeface="黑体" panose="02010609060101010101" pitchFamily="49" charset="-122"/>
                <a:cs typeface="微软雅黑" panose="020B0503020204020204" pitchFamily="34" charset="-120"/>
              </a:rPr>
              <a:t>合理边界应平衡间隔与误差</a:t>
            </a:r>
            <a:r>
              <a:rPr lang="zh-CN" altLang="en-US" sz="1600" dirty="0">
                <a:solidFill>
                  <a:srgbClr val="666666"/>
                </a:solidFill>
                <a:latin typeface="黑体" panose="02010609060101010101" pitchFamily="49" charset="-122"/>
                <a:ea typeface="黑体" panose="02010609060101010101" pitchFamily="49" charset="-122"/>
                <a:cs typeface="微软雅黑" panose="020B0503020204020204" pitchFamily="34" charset="-120"/>
              </a:rPr>
              <a:t>，</a:t>
            </a:r>
            <a:r>
              <a:rPr lang="en-US" sz="1600" dirty="0" err="1">
                <a:solidFill>
                  <a:srgbClr val="666666"/>
                </a:solidFill>
                <a:latin typeface="黑体" panose="02010609060101010101" pitchFamily="49" charset="-122"/>
                <a:ea typeface="黑体" panose="02010609060101010101" pitchFamily="49" charset="-122"/>
                <a:cs typeface="微软雅黑" panose="020B0503020204020204" pitchFamily="34" charset="-120"/>
              </a:rPr>
              <a:t>考虑全局结构而非局部细节</a:t>
            </a:r>
            <a:r>
              <a:rPr lang="zh-CN" altLang="en-US" sz="1600" dirty="0">
                <a:solidFill>
                  <a:srgbClr val="666666"/>
                </a:solidFill>
                <a:latin typeface="黑体" panose="02010609060101010101" pitchFamily="49" charset="-122"/>
                <a:ea typeface="黑体" panose="02010609060101010101" pitchFamily="49" charset="-122"/>
                <a:cs typeface="微软雅黑" panose="020B0503020204020204" pitchFamily="34" charset="-120"/>
              </a:rPr>
              <a:t>，</a:t>
            </a:r>
            <a:r>
              <a:rPr lang="en-US" sz="1600" dirty="0" err="1">
                <a:solidFill>
                  <a:srgbClr val="666666"/>
                </a:solidFill>
                <a:latin typeface="黑体" panose="02010609060101010101" pitchFamily="49" charset="-122"/>
                <a:ea typeface="黑体" panose="02010609060101010101" pitchFamily="49" charset="-122"/>
                <a:cs typeface="微软雅黑" panose="020B0503020204020204" pitchFamily="34" charset="-120"/>
              </a:rPr>
              <a:t>提升整体泛化与稳定性表现</a:t>
            </a:r>
            <a:r>
              <a:rPr lang="en-US" sz="1600" dirty="0">
                <a:solidFill>
                  <a:srgbClr val="666666"/>
                </a:solidFill>
                <a:latin typeface="黑体" panose="02010609060101010101" pitchFamily="49" charset="-122"/>
                <a:ea typeface="黑体" panose="02010609060101010101" pitchFamily="49" charset="-122"/>
                <a:cs typeface="微软雅黑" panose="020B0503020204020204" pitchFamily="34" charset="-120"/>
              </a:rPr>
              <a:t>。</a:t>
            </a:r>
            <a:endParaRPr lang="en-US" sz="1600" dirty="0">
              <a:latin typeface="黑体" panose="02010609060101010101" pitchFamily="49" charset="-122"/>
              <a:ea typeface="黑体" panose="02010609060101010101" pitchFamily="49"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
          <p:cNvSpPr/>
          <p:nvPr/>
        </p:nvSpPr>
        <p:spPr>
          <a:xfrm>
            <a:off x="571500" y="285750"/>
            <a:ext cx="8001000" cy="400050"/>
          </a:xfrm>
          <a:prstGeom prst="rect">
            <a:avLst/>
          </a:prstGeom>
          <a:noFill/>
        </p:spPr>
        <p:txBody>
          <a:bodyPr vert="horz" wrap="square" lIns="0" tIns="0" rIns="0" bIns="0" rtlCol="0" anchor="ctr"/>
          <a:lstStyle/>
          <a:p>
            <a:pPr marL="0" indent="0" algn="l">
              <a:lnSpc>
                <a:spcPts val="3150"/>
              </a:lnSpc>
              <a:buNone/>
            </a:pPr>
            <a:r>
              <a:rPr lang="en-US" sz="2800" b="1" dirty="0">
                <a:solidFill>
                  <a:srgbClr val="333333"/>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微软雅黑" panose="020B0503020204020204" pitchFamily="34" charset="-120"/>
              </a:rPr>
              <a:t>SVM的定位：小样本下的高泛化能力模型</a:t>
            </a:r>
            <a:endParaRPr lang="en-US" sz="2800"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p:txBody>
      </p:sp>
      <p:sp>
        <p:nvSpPr>
          <p:cNvPr id="5" name="Text 2"/>
          <p:cNvSpPr/>
          <p:nvPr/>
        </p:nvSpPr>
        <p:spPr>
          <a:xfrm>
            <a:off x="571500" y="528341"/>
            <a:ext cx="8001000" cy="209550"/>
          </a:xfrm>
          <a:prstGeom prst="rect">
            <a:avLst/>
          </a:prstGeom>
          <a:noFill/>
        </p:spPr>
        <p:txBody>
          <a:bodyPr vert="horz" wrap="square" lIns="0" tIns="0" rIns="0" bIns="0" rtlCol="0" anchor="ctr"/>
          <a:lstStyle/>
          <a:p>
            <a:pPr marL="0" indent="0" algn="l">
              <a:lnSpc>
                <a:spcPts val="1650"/>
              </a:lnSpc>
              <a:buNone/>
            </a:pPr>
            <a:endParaRPr lang="en-US" sz="1200" b="1" dirty="0"/>
          </a:p>
        </p:txBody>
      </p:sp>
      <p:pic>
        <p:nvPicPr>
          <p:cNvPr id="6" name="Image 1" descr="preencoded.png"/>
          <p:cNvPicPr>
            <a:picLocks noChangeAspect="1"/>
          </p:cNvPicPr>
          <p:nvPr/>
        </p:nvPicPr>
        <p:blipFill>
          <a:blip r:embed="rId1"/>
          <a:srcRect/>
          <a:stretch>
            <a:fillRect/>
          </a:stretch>
        </p:blipFill>
        <p:spPr>
          <a:xfrm>
            <a:off x="17105" y="1196632"/>
            <a:ext cx="9101428" cy="4374891"/>
          </a:xfrm>
          <a:prstGeom prst="rect">
            <a:avLst/>
          </a:prstGeom>
        </p:spPr>
      </p:pic>
      <p:sp>
        <p:nvSpPr>
          <p:cNvPr id="7" name="Text 3"/>
          <p:cNvSpPr/>
          <p:nvPr/>
        </p:nvSpPr>
        <p:spPr>
          <a:xfrm>
            <a:off x="3891333" y="1673774"/>
            <a:ext cx="1374198" cy="299933"/>
          </a:xfrm>
          <a:prstGeom prst="rect">
            <a:avLst/>
          </a:prstGeom>
          <a:noFill/>
        </p:spPr>
        <p:txBody>
          <a:bodyPr vert="horz" wrap="square" lIns="0" tIns="0" rIns="0" bIns="0" rtlCol="0" anchor="ctr"/>
          <a:lstStyle/>
          <a:p>
            <a:pPr marL="0" indent="0" algn="ctr">
              <a:lnSpc>
                <a:spcPts val="1350"/>
              </a:lnSpc>
              <a:buNone/>
            </a:pPr>
            <a:r>
              <a:rPr lang="en-US" sz="1600" b="1" dirty="0">
                <a:solidFill>
                  <a:srgbClr val="95A5BD"/>
                </a:solidFill>
                <a:latin typeface="黑体" panose="02010609060101010101" pitchFamily="49" charset="-122"/>
                <a:ea typeface="黑体" panose="02010609060101010101" pitchFamily="49" charset="-122"/>
                <a:cs typeface="微软雅黑" panose="020B0503020204020204" pitchFamily="34" charset="-120"/>
              </a:rPr>
              <a:t>SVM</a:t>
            </a:r>
            <a:r>
              <a:rPr lang="en-US" b="1" dirty="0">
                <a:solidFill>
                  <a:srgbClr val="95A5BD"/>
                </a:solidFill>
                <a:latin typeface="黑体" panose="02010609060101010101" pitchFamily="49" charset="-122"/>
                <a:ea typeface="黑体" panose="02010609060101010101" pitchFamily="49" charset="-122"/>
                <a:cs typeface="微软雅黑" panose="020B0503020204020204" pitchFamily="34" charset="-120"/>
              </a:rPr>
              <a:t>特性分析</a:t>
            </a:r>
            <a:endParaRPr lang="en-US" b="1" dirty="0">
              <a:latin typeface="黑体" panose="02010609060101010101" pitchFamily="49" charset="-122"/>
              <a:ea typeface="黑体" panose="02010609060101010101" pitchFamily="49" charset="-122"/>
            </a:endParaRPr>
          </a:p>
        </p:txBody>
      </p:sp>
      <p:sp>
        <p:nvSpPr>
          <p:cNvPr id="8" name="Text 4"/>
          <p:cNvSpPr/>
          <p:nvPr/>
        </p:nvSpPr>
        <p:spPr>
          <a:xfrm>
            <a:off x="373576" y="2974059"/>
            <a:ext cx="1155123" cy="268906"/>
          </a:xfrm>
          <a:prstGeom prst="rect">
            <a:avLst/>
          </a:prstGeom>
          <a:noFill/>
        </p:spPr>
        <p:txBody>
          <a:bodyPr vert="horz" wrap="square" lIns="0" tIns="0" rIns="0" bIns="0" rtlCol="0" anchor="ctr"/>
          <a:lstStyle/>
          <a:p>
            <a:pPr marL="0" indent="0" algn="ctr">
              <a:lnSpc>
                <a:spcPts val="1200"/>
              </a:lnSpc>
              <a:buNone/>
            </a:pPr>
            <a:r>
              <a:rPr lang="en-US" sz="1600" b="1" dirty="0">
                <a:solidFill>
                  <a:srgbClr val="AD8E8E"/>
                </a:solidFill>
                <a:latin typeface="黑体" panose="02010609060101010101" pitchFamily="49" charset="-122"/>
                <a:ea typeface="黑体" panose="02010609060101010101" pitchFamily="49" charset="-122"/>
                <a:cs typeface="微软雅黑" panose="020B0503020204020204" pitchFamily="34" charset="-120"/>
              </a:rPr>
              <a:t>小样本适用</a:t>
            </a:r>
            <a:endParaRPr lang="en-US" sz="1600" b="1" dirty="0">
              <a:latin typeface="黑体" panose="02010609060101010101" pitchFamily="49" charset="-122"/>
              <a:ea typeface="黑体" panose="02010609060101010101" pitchFamily="49" charset="-122"/>
            </a:endParaRPr>
          </a:p>
        </p:txBody>
      </p:sp>
      <p:sp>
        <p:nvSpPr>
          <p:cNvPr id="9" name="Text 5"/>
          <p:cNvSpPr/>
          <p:nvPr/>
        </p:nvSpPr>
        <p:spPr>
          <a:xfrm>
            <a:off x="484413" y="3371065"/>
            <a:ext cx="1055543" cy="1179049"/>
          </a:xfrm>
          <a:prstGeom prst="rect">
            <a:avLst/>
          </a:prstGeom>
          <a:noFill/>
        </p:spPr>
        <p:txBody>
          <a:bodyPr vert="horz" wrap="square" lIns="0" tIns="0" rIns="0" bIns="0" rtlCol="0" anchor="ctr"/>
          <a:lstStyle/>
          <a:p>
            <a:pPr marL="0" indent="0" algn="l">
              <a:lnSpc>
                <a:spcPts val="1650"/>
              </a:lnSpc>
              <a:buNone/>
            </a:pPr>
            <a:r>
              <a:rPr lang="en-US" sz="1200" b="1" dirty="0">
                <a:latin typeface="微软雅黑" panose="020B0503020204020204" pitchFamily="34" charset="-122"/>
                <a:ea typeface="微软雅黑" panose="020B0503020204020204" pitchFamily="34" charset="-122"/>
                <a:cs typeface="微软雅黑" panose="020B0503020204020204" pitchFamily="34" charset="-120"/>
              </a:rPr>
              <a:t>在训练数据较少时仍能保持良好性能，适合数据采集成本高的场景。</a:t>
            </a:r>
            <a:endParaRPr lang="en-US" sz="1200" b="1" dirty="0"/>
          </a:p>
        </p:txBody>
      </p:sp>
      <p:sp>
        <p:nvSpPr>
          <p:cNvPr id="10" name="Text 6"/>
          <p:cNvSpPr/>
          <p:nvPr/>
        </p:nvSpPr>
        <p:spPr>
          <a:xfrm>
            <a:off x="473156" y="4748110"/>
            <a:ext cx="1055543" cy="951513"/>
          </a:xfrm>
          <a:prstGeom prst="rect">
            <a:avLst/>
          </a:prstGeom>
          <a:noFill/>
        </p:spPr>
        <p:txBody>
          <a:bodyPr vert="horz" wrap="square" lIns="0" tIns="0" rIns="0" bIns="0" rtlCol="0" anchor="ctr"/>
          <a:lstStyle/>
          <a:p>
            <a:pPr marL="0" indent="0" algn="l">
              <a:lnSpc>
                <a:spcPts val="1650"/>
              </a:lnSpc>
              <a:buNone/>
            </a:pPr>
            <a:r>
              <a:rPr lang="en-US" sz="1200" b="1" dirty="0">
                <a:latin typeface="微软雅黑" panose="020B0503020204020204" pitchFamily="34" charset="-122"/>
                <a:ea typeface="微软雅黑" panose="020B0503020204020204" pitchFamily="34" charset="-122"/>
                <a:cs typeface="微软雅黑" panose="020B0503020204020204" pitchFamily="34" charset="-120"/>
              </a:rPr>
              <a:t>依赖支持向量构建模型，无需大量样本即可完成有效分类。</a:t>
            </a:r>
            <a:endParaRPr lang="en-US" sz="1200" b="1" dirty="0"/>
          </a:p>
        </p:txBody>
      </p:sp>
      <p:sp>
        <p:nvSpPr>
          <p:cNvPr id="11" name="Text 7"/>
          <p:cNvSpPr/>
          <p:nvPr/>
        </p:nvSpPr>
        <p:spPr>
          <a:xfrm>
            <a:off x="1768122" y="2974059"/>
            <a:ext cx="1155123" cy="268906"/>
          </a:xfrm>
          <a:prstGeom prst="rect">
            <a:avLst/>
          </a:prstGeom>
          <a:noFill/>
        </p:spPr>
        <p:txBody>
          <a:bodyPr vert="horz" wrap="square" lIns="0" tIns="0" rIns="0" bIns="0" rtlCol="0" anchor="ctr"/>
          <a:lstStyle/>
          <a:p>
            <a:pPr marL="0" indent="0" algn="ctr">
              <a:lnSpc>
                <a:spcPts val="1200"/>
              </a:lnSpc>
              <a:buNone/>
            </a:pPr>
            <a:r>
              <a:rPr lang="en-US" sz="1600" b="1" dirty="0">
                <a:solidFill>
                  <a:srgbClr val="95A5BD"/>
                </a:solidFill>
                <a:latin typeface="黑体" panose="02010609060101010101" pitchFamily="49" charset="-122"/>
                <a:ea typeface="黑体" panose="02010609060101010101" pitchFamily="49" charset="-122"/>
                <a:cs typeface="微软雅黑" panose="020B0503020204020204" pitchFamily="34" charset="-120"/>
              </a:rPr>
              <a:t>高维高效性</a:t>
            </a:r>
            <a:endParaRPr lang="en-US" sz="1600" b="1" dirty="0">
              <a:latin typeface="黑体" panose="02010609060101010101" pitchFamily="49" charset="-122"/>
              <a:ea typeface="黑体" panose="02010609060101010101" pitchFamily="49" charset="-122"/>
            </a:endParaRPr>
          </a:p>
        </p:txBody>
      </p:sp>
      <p:sp>
        <p:nvSpPr>
          <p:cNvPr id="12" name="Text 8"/>
          <p:cNvSpPr/>
          <p:nvPr/>
        </p:nvSpPr>
        <p:spPr>
          <a:xfrm>
            <a:off x="1957870" y="3485565"/>
            <a:ext cx="1055543" cy="951513"/>
          </a:xfrm>
          <a:prstGeom prst="rect">
            <a:avLst/>
          </a:prstGeom>
          <a:noFill/>
        </p:spPr>
        <p:txBody>
          <a:bodyPr vert="horz" wrap="square" lIns="0" tIns="0" rIns="0" bIns="0" rtlCol="0" anchor="ctr"/>
          <a:lstStyle/>
          <a:p>
            <a:pPr marL="0" indent="0" algn="l">
              <a:lnSpc>
                <a:spcPts val="1650"/>
              </a:lnSpc>
              <a:buNone/>
            </a:pPr>
            <a:r>
              <a:rPr lang="en-US" sz="1200" b="1" dirty="0">
                <a:latin typeface="微软雅黑" panose="020B0503020204020204" pitchFamily="34" charset="-122"/>
                <a:ea typeface="微软雅黑" panose="020B0503020204020204" pitchFamily="34" charset="-122"/>
                <a:cs typeface="微软雅黑" panose="020B0503020204020204" pitchFamily="34" charset="-120"/>
              </a:rPr>
              <a:t>利用内积运算处理高维空间，计算效率不受维度爆炸显著影响。</a:t>
            </a:r>
            <a:endParaRPr lang="en-US" sz="1200" b="1" dirty="0"/>
          </a:p>
        </p:txBody>
      </p:sp>
      <p:sp>
        <p:nvSpPr>
          <p:cNvPr id="13" name="Text 9"/>
          <p:cNvSpPr/>
          <p:nvPr/>
        </p:nvSpPr>
        <p:spPr>
          <a:xfrm>
            <a:off x="1911223" y="4679678"/>
            <a:ext cx="1055543" cy="951513"/>
          </a:xfrm>
          <a:prstGeom prst="rect">
            <a:avLst/>
          </a:prstGeom>
          <a:noFill/>
        </p:spPr>
        <p:txBody>
          <a:bodyPr vert="horz" wrap="square" lIns="0" tIns="0" rIns="0" bIns="0" rtlCol="0" anchor="ctr"/>
          <a:lstStyle/>
          <a:p>
            <a:pPr marL="0" indent="0" algn="l">
              <a:lnSpc>
                <a:spcPts val="1650"/>
              </a:lnSpc>
              <a:buNone/>
            </a:pPr>
            <a:r>
              <a:rPr lang="en-US" sz="1200" b="1" dirty="0">
                <a:latin typeface="微软雅黑" panose="020B0503020204020204" pitchFamily="34" charset="-122"/>
                <a:ea typeface="微软雅黑" panose="020B0503020204020204" pitchFamily="34" charset="-122"/>
                <a:cs typeface="微软雅黑" panose="020B0503020204020204" pitchFamily="34" charset="-120"/>
              </a:rPr>
              <a:t>广泛应用于文本分类、图像识别等特征维度高的实际任务中。</a:t>
            </a:r>
            <a:endParaRPr lang="en-US" sz="1200" b="1" dirty="0"/>
          </a:p>
        </p:txBody>
      </p:sp>
      <p:sp>
        <p:nvSpPr>
          <p:cNvPr id="14" name="Text 10"/>
          <p:cNvSpPr/>
          <p:nvPr/>
        </p:nvSpPr>
        <p:spPr>
          <a:xfrm>
            <a:off x="3194930" y="2985021"/>
            <a:ext cx="1269206" cy="299933"/>
          </a:xfrm>
          <a:prstGeom prst="rect">
            <a:avLst/>
          </a:prstGeom>
          <a:noFill/>
        </p:spPr>
        <p:txBody>
          <a:bodyPr vert="horz" wrap="square" lIns="0" tIns="0" rIns="0" bIns="0" rtlCol="0" anchor="ctr"/>
          <a:lstStyle/>
          <a:p>
            <a:pPr marL="0" indent="0" algn="ctr">
              <a:lnSpc>
                <a:spcPts val="1200"/>
              </a:lnSpc>
              <a:buNone/>
            </a:pPr>
            <a:r>
              <a:rPr lang="en-US" sz="1600" b="1" dirty="0">
                <a:solidFill>
                  <a:srgbClr val="AD8E8E"/>
                </a:solidFill>
                <a:latin typeface="黑体" panose="02010609060101010101" pitchFamily="49" charset="-122"/>
                <a:ea typeface="黑体" panose="02010609060101010101" pitchFamily="49" charset="-122"/>
                <a:cs typeface="微软雅黑" panose="020B0503020204020204" pitchFamily="34" charset="-120"/>
              </a:rPr>
              <a:t>最大间隔优势</a:t>
            </a:r>
            <a:endParaRPr lang="en-US" sz="1600" b="1" dirty="0">
              <a:latin typeface="黑体" panose="02010609060101010101" pitchFamily="49" charset="-122"/>
              <a:ea typeface="黑体" panose="02010609060101010101" pitchFamily="49" charset="-122"/>
            </a:endParaRPr>
          </a:p>
        </p:txBody>
      </p:sp>
      <p:sp>
        <p:nvSpPr>
          <p:cNvPr id="15" name="Text 11"/>
          <p:cNvSpPr/>
          <p:nvPr/>
        </p:nvSpPr>
        <p:spPr>
          <a:xfrm>
            <a:off x="3449994" y="3410917"/>
            <a:ext cx="1055543" cy="1179049"/>
          </a:xfrm>
          <a:prstGeom prst="rect">
            <a:avLst/>
          </a:prstGeom>
          <a:noFill/>
        </p:spPr>
        <p:txBody>
          <a:bodyPr vert="horz" wrap="square" lIns="0" tIns="0" rIns="0" bIns="0" rtlCol="0" anchor="ctr"/>
          <a:lstStyle/>
          <a:p>
            <a:pPr marL="0" indent="0" algn="l">
              <a:lnSpc>
                <a:spcPts val="1650"/>
              </a:lnSpc>
              <a:buNone/>
            </a:pPr>
            <a:r>
              <a:rPr lang="en-US" sz="1200" b="1" dirty="0">
                <a:latin typeface="微软雅黑" panose="020B0503020204020204" pitchFamily="34" charset="-122"/>
                <a:ea typeface="微软雅黑" panose="020B0503020204020204" pitchFamily="34" charset="-122"/>
                <a:cs typeface="微软雅黑" panose="020B0503020204020204" pitchFamily="34" charset="-120"/>
              </a:rPr>
              <a:t>通过最大化分类间隔提升模型泛化能力，增强对未知样本的适应性。</a:t>
            </a:r>
            <a:endParaRPr lang="en-US" sz="1200" b="1" dirty="0"/>
          </a:p>
        </p:txBody>
      </p:sp>
      <p:sp>
        <p:nvSpPr>
          <p:cNvPr id="16" name="Text 12"/>
          <p:cNvSpPr/>
          <p:nvPr/>
        </p:nvSpPr>
        <p:spPr>
          <a:xfrm>
            <a:off x="3422004" y="4711370"/>
            <a:ext cx="1055543" cy="723977"/>
          </a:xfrm>
          <a:prstGeom prst="rect">
            <a:avLst/>
          </a:prstGeom>
          <a:noFill/>
        </p:spPr>
        <p:txBody>
          <a:bodyPr vert="horz" wrap="square" lIns="0" tIns="0" rIns="0" bIns="0" rtlCol="0" anchor="ctr"/>
          <a:lstStyle/>
          <a:p>
            <a:pPr marL="0" indent="0" algn="l">
              <a:lnSpc>
                <a:spcPts val="1650"/>
              </a:lnSpc>
              <a:buNone/>
            </a:pPr>
            <a:r>
              <a:rPr lang="en-US" sz="1200" b="1" dirty="0">
                <a:latin typeface="微软雅黑" panose="020B0503020204020204" pitchFamily="34" charset="-122"/>
                <a:ea typeface="微软雅黑" panose="020B0503020204020204" pitchFamily="34" charset="-122"/>
                <a:cs typeface="微软雅黑" panose="020B0503020204020204" pitchFamily="34" charset="-120"/>
              </a:rPr>
              <a:t>有效抑制过拟合现象，提高分类边界鲁棒性。</a:t>
            </a:r>
            <a:endParaRPr lang="en-US" sz="1200" b="1" dirty="0"/>
          </a:p>
        </p:txBody>
      </p:sp>
      <p:sp>
        <p:nvSpPr>
          <p:cNvPr id="17" name="Text 13"/>
          <p:cNvSpPr/>
          <p:nvPr/>
        </p:nvSpPr>
        <p:spPr>
          <a:xfrm>
            <a:off x="4687969" y="3002052"/>
            <a:ext cx="1155123" cy="268906"/>
          </a:xfrm>
          <a:prstGeom prst="rect">
            <a:avLst/>
          </a:prstGeom>
          <a:noFill/>
        </p:spPr>
        <p:txBody>
          <a:bodyPr vert="horz" wrap="square" lIns="0" tIns="0" rIns="0" bIns="0" rtlCol="0" anchor="ctr"/>
          <a:lstStyle/>
          <a:p>
            <a:pPr marL="0" indent="0" algn="ctr">
              <a:lnSpc>
                <a:spcPts val="1200"/>
              </a:lnSpc>
              <a:buNone/>
            </a:pPr>
            <a:r>
              <a:rPr lang="en-US" sz="1600" b="1" dirty="0">
                <a:solidFill>
                  <a:srgbClr val="95A5BD"/>
                </a:solidFill>
                <a:latin typeface="黑体" panose="02010609060101010101" pitchFamily="49" charset="-122"/>
                <a:ea typeface="黑体" panose="02010609060101010101" pitchFamily="49" charset="-122"/>
                <a:cs typeface="微软雅黑" panose="020B0503020204020204" pitchFamily="34" charset="-120"/>
              </a:rPr>
              <a:t>稀疏解结构</a:t>
            </a:r>
            <a:endParaRPr lang="en-US" sz="1600" b="1" dirty="0">
              <a:latin typeface="黑体" panose="02010609060101010101" pitchFamily="49" charset="-122"/>
              <a:ea typeface="黑体" panose="02010609060101010101" pitchFamily="49" charset="-122"/>
            </a:endParaRPr>
          </a:p>
        </p:txBody>
      </p:sp>
      <p:sp>
        <p:nvSpPr>
          <p:cNvPr id="18" name="Text 14"/>
          <p:cNvSpPr/>
          <p:nvPr/>
        </p:nvSpPr>
        <p:spPr>
          <a:xfrm>
            <a:off x="4820815" y="3457568"/>
            <a:ext cx="1055543" cy="951513"/>
          </a:xfrm>
          <a:prstGeom prst="rect">
            <a:avLst/>
          </a:prstGeom>
          <a:noFill/>
        </p:spPr>
        <p:txBody>
          <a:bodyPr vert="horz" wrap="square" lIns="0" tIns="0" rIns="0" bIns="0" rtlCol="0" anchor="ctr"/>
          <a:lstStyle/>
          <a:p>
            <a:pPr marL="0" indent="0" algn="l">
              <a:lnSpc>
                <a:spcPts val="1650"/>
              </a:lnSpc>
              <a:buNone/>
            </a:pPr>
            <a:r>
              <a:rPr lang="en-US" sz="1200" b="1" dirty="0">
                <a:latin typeface="微软雅黑" panose="020B0503020204020204" pitchFamily="34" charset="-122"/>
                <a:ea typeface="微软雅黑" panose="020B0503020204020204" pitchFamily="34" charset="-122"/>
                <a:cs typeface="微软雅黑" panose="020B0503020204020204" pitchFamily="34" charset="-120"/>
              </a:rPr>
              <a:t>决策仅依赖于支持向量，其余样本不影响分类结果。</a:t>
            </a:r>
            <a:endParaRPr lang="en-US" sz="1200" b="1" dirty="0"/>
          </a:p>
        </p:txBody>
      </p:sp>
      <p:sp>
        <p:nvSpPr>
          <p:cNvPr id="19" name="Text 15"/>
          <p:cNvSpPr/>
          <p:nvPr/>
        </p:nvSpPr>
        <p:spPr>
          <a:xfrm>
            <a:off x="4860884" y="4457724"/>
            <a:ext cx="1055543" cy="723977"/>
          </a:xfrm>
          <a:prstGeom prst="rect">
            <a:avLst/>
          </a:prstGeom>
          <a:noFill/>
        </p:spPr>
        <p:txBody>
          <a:bodyPr vert="horz" wrap="square" lIns="0" tIns="0" rIns="0" bIns="0" rtlCol="0" anchor="ctr"/>
          <a:lstStyle/>
          <a:p>
            <a:pPr marL="0" indent="0" algn="l">
              <a:lnSpc>
                <a:spcPts val="1650"/>
              </a:lnSpc>
              <a:buNone/>
            </a:pPr>
            <a:r>
              <a:rPr lang="en-US" sz="1200" b="1" dirty="0">
                <a:latin typeface="微软雅黑" panose="020B0503020204020204" pitchFamily="34" charset="-122"/>
                <a:ea typeface="微软雅黑" panose="020B0503020204020204" pitchFamily="34" charset="-122"/>
                <a:cs typeface="微软雅黑" panose="020B0503020204020204" pitchFamily="34" charset="-120"/>
              </a:rPr>
              <a:t>模型简洁，存储开销小，预测速度快。</a:t>
            </a:r>
            <a:endParaRPr lang="en-US" sz="1200" b="1" dirty="0"/>
          </a:p>
        </p:txBody>
      </p:sp>
      <p:sp>
        <p:nvSpPr>
          <p:cNvPr id="20" name="Text 16"/>
          <p:cNvSpPr/>
          <p:nvPr/>
        </p:nvSpPr>
        <p:spPr>
          <a:xfrm>
            <a:off x="6103581" y="3007659"/>
            <a:ext cx="1155123" cy="268906"/>
          </a:xfrm>
          <a:prstGeom prst="rect">
            <a:avLst/>
          </a:prstGeom>
          <a:noFill/>
        </p:spPr>
        <p:txBody>
          <a:bodyPr vert="horz" wrap="square" lIns="0" tIns="0" rIns="0" bIns="0" rtlCol="0" anchor="ctr"/>
          <a:lstStyle/>
          <a:p>
            <a:pPr marL="0" indent="0" algn="ctr">
              <a:lnSpc>
                <a:spcPts val="1200"/>
              </a:lnSpc>
              <a:buNone/>
            </a:pPr>
            <a:r>
              <a:rPr lang="en-US" sz="1600" b="1" dirty="0">
                <a:solidFill>
                  <a:srgbClr val="AD8E8E"/>
                </a:solidFill>
                <a:latin typeface="黑体" panose="02010609060101010101" pitchFamily="49" charset="-122"/>
                <a:ea typeface="黑体" panose="02010609060101010101" pitchFamily="49" charset="-122"/>
                <a:cs typeface="微软雅黑" panose="020B0503020204020204" pitchFamily="34" charset="-120"/>
              </a:rPr>
              <a:t>核函数灵活</a:t>
            </a:r>
            <a:endParaRPr lang="en-US" sz="1600" b="1" dirty="0">
              <a:latin typeface="黑体" panose="02010609060101010101" pitchFamily="49" charset="-122"/>
              <a:ea typeface="黑体" panose="02010609060101010101" pitchFamily="49" charset="-122"/>
            </a:endParaRPr>
          </a:p>
        </p:txBody>
      </p:sp>
      <p:sp>
        <p:nvSpPr>
          <p:cNvPr id="21" name="Text 17"/>
          <p:cNvSpPr/>
          <p:nvPr/>
        </p:nvSpPr>
        <p:spPr>
          <a:xfrm>
            <a:off x="6312938" y="3410915"/>
            <a:ext cx="1055543" cy="951513"/>
          </a:xfrm>
          <a:prstGeom prst="rect">
            <a:avLst/>
          </a:prstGeom>
          <a:noFill/>
        </p:spPr>
        <p:txBody>
          <a:bodyPr vert="horz" wrap="square" lIns="0" tIns="0" rIns="0" bIns="0" rtlCol="0" anchor="ctr"/>
          <a:lstStyle/>
          <a:p>
            <a:pPr marL="0" indent="0" algn="l">
              <a:lnSpc>
                <a:spcPts val="1650"/>
              </a:lnSpc>
              <a:buNone/>
            </a:pPr>
            <a:r>
              <a:rPr lang="en-US" sz="1200" b="1" dirty="0">
                <a:latin typeface="微软雅黑" panose="020B0503020204020204" pitchFamily="34" charset="-122"/>
                <a:ea typeface="微软雅黑" panose="020B0503020204020204" pitchFamily="34" charset="-122"/>
                <a:cs typeface="微软雅黑" panose="020B0503020204020204" pitchFamily="34" charset="-120"/>
              </a:rPr>
              <a:t>通过核技巧映射到高维空间，解决非线性可分问题。</a:t>
            </a:r>
            <a:endParaRPr lang="en-US" sz="1200" b="1" dirty="0"/>
          </a:p>
        </p:txBody>
      </p:sp>
      <p:sp>
        <p:nvSpPr>
          <p:cNvPr id="22" name="Text 18"/>
          <p:cNvSpPr/>
          <p:nvPr/>
        </p:nvSpPr>
        <p:spPr>
          <a:xfrm>
            <a:off x="6312935" y="4455164"/>
            <a:ext cx="1055543" cy="951513"/>
          </a:xfrm>
          <a:prstGeom prst="rect">
            <a:avLst/>
          </a:prstGeom>
          <a:noFill/>
        </p:spPr>
        <p:txBody>
          <a:bodyPr vert="horz" wrap="square" lIns="0" tIns="0" rIns="0" bIns="0" rtlCol="0" anchor="ctr"/>
          <a:lstStyle/>
          <a:p>
            <a:pPr marL="0" indent="0" algn="l">
              <a:lnSpc>
                <a:spcPts val="1650"/>
              </a:lnSpc>
              <a:buNone/>
            </a:pPr>
            <a:r>
              <a:rPr lang="en-US" sz="1200" b="1" dirty="0">
                <a:latin typeface="微软雅黑" panose="020B0503020204020204" pitchFamily="34" charset="-122"/>
                <a:ea typeface="微软雅黑" panose="020B0503020204020204" pitchFamily="34" charset="-122"/>
                <a:cs typeface="微软雅黑" panose="020B0503020204020204" pitchFamily="34" charset="-120"/>
              </a:rPr>
              <a:t>支持多种核函数选择，如RBF、多项式核，适应不同数据分布。</a:t>
            </a:r>
            <a:endParaRPr lang="en-US" sz="1200" b="1" dirty="0"/>
          </a:p>
        </p:txBody>
      </p:sp>
      <p:sp>
        <p:nvSpPr>
          <p:cNvPr id="23" name="Text 19"/>
          <p:cNvSpPr/>
          <p:nvPr/>
        </p:nvSpPr>
        <p:spPr>
          <a:xfrm>
            <a:off x="7586366" y="2979667"/>
            <a:ext cx="1155123" cy="268906"/>
          </a:xfrm>
          <a:prstGeom prst="rect">
            <a:avLst/>
          </a:prstGeom>
          <a:noFill/>
        </p:spPr>
        <p:txBody>
          <a:bodyPr vert="horz" wrap="square" lIns="0" tIns="0" rIns="0" bIns="0" rtlCol="0" anchor="ctr"/>
          <a:lstStyle/>
          <a:p>
            <a:pPr marL="0" indent="0" algn="ctr">
              <a:lnSpc>
                <a:spcPts val="1200"/>
              </a:lnSpc>
              <a:buNone/>
            </a:pPr>
            <a:r>
              <a:rPr lang="en-US" sz="1600" b="1" dirty="0">
                <a:solidFill>
                  <a:srgbClr val="95A5BD"/>
                </a:solidFill>
                <a:latin typeface="黑体" panose="02010609060101010101" pitchFamily="49" charset="-122"/>
                <a:ea typeface="黑体" panose="02010609060101010101" pitchFamily="49" charset="-122"/>
                <a:cs typeface="微软雅黑" panose="020B0503020204020204" pitchFamily="34" charset="-120"/>
              </a:rPr>
              <a:t>鲁棒性强</a:t>
            </a:r>
            <a:endParaRPr lang="en-US" sz="1600" b="1" dirty="0">
              <a:latin typeface="黑体" panose="02010609060101010101" pitchFamily="49" charset="-122"/>
              <a:ea typeface="黑体" panose="02010609060101010101" pitchFamily="49" charset="-122"/>
            </a:endParaRPr>
          </a:p>
        </p:txBody>
      </p:sp>
      <p:sp>
        <p:nvSpPr>
          <p:cNvPr id="24" name="Text 20"/>
          <p:cNvSpPr/>
          <p:nvPr/>
        </p:nvSpPr>
        <p:spPr>
          <a:xfrm>
            <a:off x="7786393" y="3476229"/>
            <a:ext cx="1055543" cy="951513"/>
          </a:xfrm>
          <a:prstGeom prst="rect">
            <a:avLst/>
          </a:prstGeom>
          <a:noFill/>
        </p:spPr>
        <p:txBody>
          <a:bodyPr vert="horz" wrap="square" lIns="0" tIns="0" rIns="0" bIns="0" rtlCol="0" anchor="ctr"/>
          <a:lstStyle/>
          <a:p>
            <a:pPr marL="0" indent="0" algn="l">
              <a:lnSpc>
                <a:spcPts val="1650"/>
              </a:lnSpc>
              <a:buNone/>
            </a:pPr>
            <a:r>
              <a:rPr lang="en-US" sz="1200" b="1" dirty="0">
                <a:latin typeface="微软雅黑" panose="020B0503020204020204" pitchFamily="34" charset="-122"/>
                <a:ea typeface="微软雅黑" panose="020B0503020204020204" pitchFamily="34" charset="-122"/>
                <a:cs typeface="微软雅黑" panose="020B0503020204020204" pitchFamily="34" charset="-120"/>
              </a:rPr>
              <a:t>对噪声和异常值具有一定容忍度，分类边界稳定。</a:t>
            </a:r>
            <a:endParaRPr lang="en-US" sz="1200" b="1" dirty="0"/>
          </a:p>
        </p:txBody>
      </p:sp>
      <p:sp>
        <p:nvSpPr>
          <p:cNvPr id="25" name="Text 21"/>
          <p:cNvSpPr/>
          <p:nvPr/>
        </p:nvSpPr>
        <p:spPr>
          <a:xfrm>
            <a:off x="7814387" y="4501816"/>
            <a:ext cx="1055543" cy="723977"/>
          </a:xfrm>
          <a:prstGeom prst="rect">
            <a:avLst/>
          </a:prstGeom>
          <a:noFill/>
        </p:spPr>
        <p:txBody>
          <a:bodyPr vert="horz" wrap="square" lIns="0" tIns="0" rIns="0" bIns="0" rtlCol="0" anchor="ctr"/>
          <a:lstStyle/>
          <a:p>
            <a:pPr marL="0" indent="0" algn="l">
              <a:lnSpc>
                <a:spcPts val="1650"/>
              </a:lnSpc>
              <a:buNone/>
            </a:pPr>
            <a:r>
              <a:rPr lang="en-US" sz="1200" b="1" dirty="0">
                <a:latin typeface="微软雅黑" panose="020B0503020204020204" pitchFamily="34" charset="-122"/>
                <a:ea typeface="微软雅黑" panose="020B0503020204020204" pitchFamily="34" charset="-122"/>
                <a:cs typeface="微软雅黑" panose="020B0503020204020204" pitchFamily="34" charset="-120"/>
              </a:rPr>
              <a:t>在特征重叠区域仍能保持清晰划分能力。</a:t>
            </a:r>
            <a:endParaRPr lang="en-US" sz="1200"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
          <p:cNvSpPr/>
          <p:nvPr/>
        </p:nvSpPr>
        <p:spPr>
          <a:xfrm>
            <a:off x="403549" y="342900"/>
            <a:ext cx="8001000" cy="400050"/>
          </a:xfrm>
          <a:prstGeom prst="rect">
            <a:avLst/>
          </a:prstGeom>
          <a:noFill/>
        </p:spPr>
        <p:txBody>
          <a:bodyPr vert="horz" wrap="square" lIns="0" tIns="0" rIns="0" bIns="0" rtlCol="0" anchor="ctr"/>
          <a:lstStyle/>
          <a:p>
            <a:pPr marL="0" indent="0" algn="l">
              <a:lnSpc>
                <a:spcPts val="3150"/>
              </a:lnSpc>
              <a:buNone/>
            </a:pPr>
            <a:r>
              <a:rPr lang="en-US" sz="2400" b="1" dirty="0">
                <a:solidFill>
                  <a:srgbClr val="333333"/>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微软雅黑" panose="020B0503020204020204" pitchFamily="34" charset="-120"/>
              </a:rPr>
              <a:t>与其他线性分类器的对比：逻辑回归 vs 感知机 vs SVM</a:t>
            </a:r>
            <a:endParaRPr lang="en-US" sz="2400"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p:txBody>
      </p:sp>
      <p:sp>
        <p:nvSpPr>
          <p:cNvPr id="5" name="Text 2"/>
          <p:cNvSpPr/>
          <p:nvPr/>
        </p:nvSpPr>
        <p:spPr>
          <a:xfrm>
            <a:off x="571500" y="742950"/>
            <a:ext cx="8001000" cy="209550"/>
          </a:xfrm>
          <a:prstGeom prst="rect">
            <a:avLst/>
          </a:prstGeom>
          <a:noFill/>
        </p:spPr>
        <p:txBody>
          <a:bodyPr vert="horz" wrap="square" lIns="0" tIns="0" rIns="0" bIns="0" rtlCol="0" anchor="ctr"/>
          <a:lstStyle/>
          <a:p>
            <a:pPr marL="0" indent="0" algn="l">
              <a:lnSpc>
                <a:spcPts val="1650"/>
              </a:lnSpc>
              <a:buNone/>
            </a:pPr>
            <a:endParaRPr lang="en-US" sz="1200" dirty="0"/>
          </a:p>
        </p:txBody>
      </p:sp>
      <p:graphicFrame>
        <p:nvGraphicFramePr>
          <p:cNvPr id="18" name="表格 17"/>
          <p:cNvGraphicFramePr>
            <a:graphicFrameLocks noGrp="1"/>
          </p:cNvGraphicFramePr>
          <p:nvPr/>
        </p:nvGraphicFramePr>
        <p:xfrm>
          <a:off x="438541" y="1396999"/>
          <a:ext cx="8133960" cy="3657600"/>
        </p:xfrm>
        <a:graphic>
          <a:graphicData uri="http://schemas.openxmlformats.org/drawingml/2006/table">
            <a:tbl>
              <a:tblPr firstRow="1" bandRow="1">
                <a:tableStyleId>{21E4AEA4-8DFA-4A89-87EB-49C32662AFE0}</a:tableStyleId>
              </a:tblPr>
              <a:tblGrid>
                <a:gridCol w="1626792"/>
                <a:gridCol w="1626792"/>
                <a:gridCol w="1626792"/>
                <a:gridCol w="1626792"/>
                <a:gridCol w="1626792"/>
              </a:tblGrid>
              <a:tr h="567483">
                <a:tc>
                  <a:txBody>
                    <a:bodyPr/>
                    <a:lstStyle/>
                    <a:p>
                      <a:pPr algn="ctr"/>
                      <a:r>
                        <a:rPr lang="zh-CN" altLang="en-US" dirty="0">
                          <a:latin typeface="黑体" panose="02010609060101010101" pitchFamily="49" charset="-122"/>
                          <a:ea typeface="黑体" panose="02010609060101010101" pitchFamily="49" charset="-122"/>
                        </a:rPr>
                        <a:t>分类器</a:t>
                      </a:r>
                      <a:endParaRPr lang="zh-CN" altLang="en-US" dirty="0">
                        <a:latin typeface="黑体" panose="02010609060101010101" pitchFamily="49" charset="-122"/>
                        <a:ea typeface="黑体" panose="02010609060101010101" pitchFamily="49" charset="-122"/>
                      </a:endParaRPr>
                    </a:p>
                  </a:txBody>
                  <a:tcPr/>
                </a:tc>
                <a:tc>
                  <a:txBody>
                    <a:bodyPr/>
                    <a:lstStyle/>
                    <a:p>
                      <a:pPr algn="ctr"/>
                      <a:r>
                        <a:rPr lang="zh-CN" altLang="en-US" dirty="0">
                          <a:latin typeface="黑体" panose="02010609060101010101" pitchFamily="49" charset="-122"/>
                          <a:ea typeface="黑体" panose="02010609060101010101" pitchFamily="49" charset="-122"/>
                        </a:rPr>
                        <a:t>决策机制差异</a:t>
                      </a:r>
                      <a:endParaRPr lang="zh-CN" altLang="en-US" dirty="0">
                        <a:latin typeface="黑体" panose="02010609060101010101" pitchFamily="49" charset="-122"/>
                        <a:ea typeface="黑体" panose="02010609060101010101" pitchFamily="49" charset="-122"/>
                      </a:endParaRPr>
                    </a:p>
                    <a:p>
                      <a:pPr algn="ctr"/>
                      <a:endParaRPr lang="zh-CN" altLang="en-US" dirty="0">
                        <a:latin typeface="黑体" panose="02010609060101010101" pitchFamily="49" charset="-122"/>
                        <a:ea typeface="黑体" panose="02010609060101010101" pitchFamily="49" charset="-122"/>
                      </a:endParaRPr>
                    </a:p>
                  </a:txBody>
                  <a:tcPr/>
                </a:tc>
                <a:tc>
                  <a:txBody>
                    <a:bodyPr/>
                    <a:lstStyle/>
                    <a:p>
                      <a:pPr algn="ctr"/>
                      <a:r>
                        <a:rPr lang="zh-CN" altLang="en-US" dirty="0">
                          <a:latin typeface="黑体" panose="02010609060101010101" pitchFamily="49" charset="-122"/>
                          <a:ea typeface="黑体" panose="02010609060101010101" pitchFamily="49" charset="-122"/>
                        </a:rPr>
                        <a:t>损失函数设计</a:t>
                      </a:r>
                      <a:endParaRPr lang="zh-CN" altLang="en-US" dirty="0">
                        <a:latin typeface="黑体" panose="02010609060101010101" pitchFamily="49" charset="-122"/>
                        <a:ea typeface="黑体" panose="02010609060101010101" pitchFamily="49" charset="-122"/>
                      </a:endParaRPr>
                    </a:p>
                    <a:p>
                      <a:pPr algn="ctr"/>
                      <a:endParaRPr lang="zh-CN" altLang="en-US" dirty="0">
                        <a:latin typeface="黑体" panose="02010609060101010101" pitchFamily="49" charset="-122"/>
                        <a:ea typeface="黑体" panose="02010609060101010101" pitchFamily="49" charset="-122"/>
                      </a:endParaRPr>
                    </a:p>
                  </a:txBody>
                  <a:tcPr/>
                </a:tc>
                <a:tc>
                  <a:txBody>
                    <a:bodyPr/>
                    <a:lstStyle/>
                    <a:p>
                      <a:pPr algn="ctr"/>
                      <a:r>
                        <a:rPr lang="zh-CN" altLang="en-US" dirty="0">
                          <a:latin typeface="黑体" panose="02010609060101010101" pitchFamily="49" charset="-122"/>
                          <a:ea typeface="黑体" panose="02010609060101010101" pitchFamily="49" charset="-122"/>
                        </a:rPr>
                        <a:t>解的稀疏性</a:t>
                      </a:r>
                      <a:endParaRPr lang="zh-CN" altLang="en-US" dirty="0">
                        <a:latin typeface="黑体" panose="02010609060101010101" pitchFamily="49" charset="-122"/>
                        <a:ea typeface="黑体" panose="02010609060101010101" pitchFamily="49" charset="-122"/>
                      </a:endParaRPr>
                    </a:p>
                    <a:p>
                      <a:pPr algn="ctr"/>
                      <a:endParaRPr lang="zh-CN" altLang="en-US" dirty="0">
                        <a:latin typeface="黑体" panose="02010609060101010101" pitchFamily="49" charset="-122"/>
                        <a:ea typeface="黑体" panose="02010609060101010101" pitchFamily="49" charset="-122"/>
                      </a:endParaRPr>
                    </a:p>
                  </a:txBody>
                  <a:tcPr/>
                </a:tc>
                <a:tc>
                  <a:txBody>
                    <a:bodyPr/>
                    <a:lstStyle/>
                    <a:p>
                      <a:pPr algn="ctr"/>
                      <a:r>
                        <a:rPr lang="zh-CN" altLang="en-US" dirty="0">
                          <a:latin typeface="黑体" panose="02010609060101010101" pitchFamily="49" charset="-122"/>
                          <a:ea typeface="黑体" panose="02010609060101010101" pitchFamily="49" charset="-122"/>
                        </a:rPr>
                        <a:t>泛化能力对比</a:t>
                      </a:r>
                      <a:endParaRPr lang="zh-CN" altLang="en-US" dirty="0">
                        <a:latin typeface="黑体" panose="02010609060101010101" pitchFamily="49" charset="-122"/>
                        <a:ea typeface="黑体" panose="02010609060101010101" pitchFamily="49" charset="-122"/>
                      </a:endParaRPr>
                    </a:p>
                    <a:p>
                      <a:pPr algn="ctr"/>
                      <a:endParaRPr lang="zh-CN" altLang="en-US" dirty="0">
                        <a:latin typeface="黑体" panose="02010609060101010101" pitchFamily="49" charset="-122"/>
                        <a:ea typeface="黑体" panose="02010609060101010101" pitchFamily="49" charset="-122"/>
                      </a:endParaRPr>
                    </a:p>
                  </a:txBody>
                  <a:tcPr/>
                </a:tc>
              </a:tr>
              <a:tr h="567483">
                <a:tc>
                  <a:txBody>
                    <a:bodyPr/>
                    <a:lstStyle/>
                    <a:p>
                      <a:pPr algn="ctr"/>
                      <a:r>
                        <a:rPr lang="zh-CN" altLang="en-US" b="1" dirty="0">
                          <a:latin typeface="黑体" panose="02010609060101010101" pitchFamily="49" charset="-122"/>
                          <a:ea typeface="黑体" panose="02010609060101010101" pitchFamily="49" charset="-122"/>
                        </a:rPr>
                        <a:t>逻辑回归</a:t>
                      </a:r>
                      <a:endParaRPr lang="zh-CN" altLang="en-US" b="1" dirty="0">
                        <a:latin typeface="黑体" panose="02010609060101010101" pitchFamily="49" charset="-122"/>
                        <a:ea typeface="黑体" panose="02010609060101010101" pitchFamily="49" charset="-122"/>
                      </a:endParaRPr>
                    </a:p>
                  </a:txBody>
                  <a:tcPr/>
                </a:tc>
                <a:tc>
                  <a:txBody>
                    <a:bodyPr/>
                    <a:lstStyle/>
                    <a:p>
                      <a:pPr algn="ctr"/>
                      <a:r>
                        <a:rPr lang="zh-CN" altLang="en-US" dirty="0">
                          <a:latin typeface="黑体" panose="02010609060101010101" pitchFamily="49" charset="-122"/>
                          <a:ea typeface="黑体" panose="02010609060101010101" pitchFamily="49" charset="-122"/>
                        </a:rPr>
                        <a:t>输出概率</a:t>
                      </a:r>
                      <a:endParaRPr lang="zh-CN" altLang="en-US" dirty="0">
                        <a:latin typeface="黑体" panose="02010609060101010101" pitchFamily="49" charset="-122"/>
                        <a:ea typeface="黑体" panose="02010609060101010101" pitchFamily="49" charset="-122"/>
                      </a:endParaRPr>
                    </a:p>
                  </a:txBody>
                  <a:tcPr/>
                </a:tc>
                <a:tc>
                  <a:txBody>
                    <a:bodyPr/>
                    <a:lstStyle/>
                    <a:p>
                      <a:pPr algn="ctr"/>
                      <a:r>
                        <a:rPr lang="zh-CN" altLang="en-US" dirty="0">
                          <a:latin typeface="黑体" panose="02010609060101010101" pitchFamily="49" charset="-122"/>
                          <a:ea typeface="黑体" panose="02010609060101010101" pitchFamily="49" charset="-122"/>
                        </a:rPr>
                        <a:t>对数损失</a:t>
                      </a:r>
                      <a:endParaRPr lang="en-US" altLang="zh-CN" dirty="0">
                        <a:latin typeface="黑体" panose="02010609060101010101" pitchFamily="49" charset="-122"/>
                        <a:ea typeface="黑体" panose="02010609060101010101" pitchFamily="49" charset="-122"/>
                      </a:endParaRPr>
                    </a:p>
                    <a:p>
                      <a:pPr algn="ctr"/>
                      <a:r>
                        <a:rPr lang="zh-CN" altLang="en-US" dirty="0">
                          <a:latin typeface="黑体" panose="02010609060101010101" pitchFamily="49" charset="-122"/>
                          <a:ea typeface="黑体" panose="02010609060101010101" pitchFamily="49" charset="-122"/>
                        </a:rPr>
                        <a:t>考虑所有样本置信度</a:t>
                      </a:r>
                      <a:endParaRPr lang="zh-CN" altLang="en-US" dirty="0">
                        <a:latin typeface="黑体" panose="02010609060101010101" pitchFamily="49" charset="-122"/>
                        <a:ea typeface="黑体" panose="02010609060101010101" pitchFamily="49" charset="-122"/>
                      </a:endParaRPr>
                    </a:p>
                  </a:txBody>
                  <a:tcPr/>
                </a:tc>
                <a:tc>
                  <a:txBody>
                    <a:bodyPr/>
                    <a:lstStyle/>
                    <a:p>
                      <a:pPr algn="ctr"/>
                      <a:r>
                        <a:rPr lang="zh-CN" altLang="en-US" dirty="0">
                          <a:latin typeface="黑体" panose="02010609060101010101" pitchFamily="49" charset="-122"/>
                          <a:ea typeface="黑体" panose="02010609060101010101" pitchFamily="49" charset="-122"/>
                        </a:rPr>
                        <a:t>使用全部数据</a:t>
                      </a:r>
                      <a:endParaRPr lang="zh-CN" altLang="en-US" dirty="0">
                        <a:latin typeface="黑体" panose="02010609060101010101" pitchFamily="49" charset="-122"/>
                        <a:ea typeface="黑体" panose="02010609060101010101" pitchFamily="49" charset="-122"/>
                      </a:endParaRPr>
                    </a:p>
                  </a:txBody>
                  <a:tcPr/>
                </a:tc>
                <a:tc>
                  <a:txBody>
                    <a:bodyPr/>
                    <a:lstStyle/>
                    <a:p>
                      <a:pPr algn="ctr"/>
                      <a:r>
                        <a:rPr lang="zh-CN" altLang="en-US" dirty="0">
                          <a:latin typeface="黑体" panose="02010609060101010101" pitchFamily="49" charset="-122"/>
                          <a:ea typeface="黑体" panose="02010609060101010101" pitchFamily="49" charset="-122"/>
                        </a:rPr>
                        <a:t>易受极端值影响</a:t>
                      </a:r>
                      <a:endParaRPr lang="zh-CN" altLang="en-US" dirty="0">
                        <a:latin typeface="黑体" panose="02010609060101010101" pitchFamily="49" charset="-122"/>
                        <a:ea typeface="黑体" panose="02010609060101010101" pitchFamily="49" charset="-122"/>
                      </a:endParaRPr>
                    </a:p>
                  </a:txBody>
                  <a:tcPr/>
                </a:tc>
              </a:tr>
              <a:tr h="567483">
                <a:tc>
                  <a:txBody>
                    <a:bodyPr/>
                    <a:lstStyle/>
                    <a:p>
                      <a:pPr algn="ctr"/>
                      <a:r>
                        <a:rPr lang="zh-CN" altLang="en-US" b="1" dirty="0">
                          <a:latin typeface="黑体" panose="02010609060101010101" pitchFamily="49" charset="-122"/>
                          <a:ea typeface="黑体" panose="02010609060101010101" pitchFamily="49" charset="-122"/>
                        </a:rPr>
                        <a:t>感知机</a:t>
                      </a:r>
                      <a:endParaRPr lang="zh-CN" altLang="en-US" b="1" dirty="0">
                        <a:latin typeface="黑体" panose="02010609060101010101" pitchFamily="49" charset="-122"/>
                        <a:ea typeface="黑体" panose="02010609060101010101" pitchFamily="49" charset="-122"/>
                      </a:endParaRPr>
                    </a:p>
                  </a:txBody>
                  <a:tcPr/>
                </a:tc>
                <a:tc>
                  <a:txBody>
                    <a:bodyPr/>
                    <a:lstStyle/>
                    <a:p>
                      <a:pPr algn="ctr"/>
                      <a:r>
                        <a:rPr lang="zh-CN" altLang="en-US" dirty="0">
                          <a:latin typeface="黑体" panose="02010609060101010101" pitchFamily="49" charset="-122"/>
                          <a:ea typeface="黑体" panose="02010609060101010101" pitchFamily="49" charset="-122"/>
                        </a:rPr>
                        <a:t>仅求可分</a:t>
                      </a:r>
                      <a:endParaRPr lang="zh-CN" altLang="en-US" dirty="0">
                        <a:latin typeface="黑体" panose="02010609060101010101" pitchFamily="49" charset="-122"/>
                        <a:ea typeface="黑体" panose="02010609060101010101" pitchFamily="49" charset="-122"/>
                      </a:endParaRPr>
                    </a:p>
                  </a:txBody>
                  <a:tcPr/>
                </a:tc>
                <a:tc>
                  <a:txBody>
                    <a:bodyPr/>
                    <a:lstStyle/>
                    <a:p>
                      <a:pPr algn="ctr"/>
                      <a:r>
                        <a:rPr lang="zh-CN" altLang="en-US" dirty="0">
                          <a:latin typeface="黑体" panose="02010609060101010101" pitchFamily="49" charset="-122"/>
                          <a:ea typeface="黑体" panose="02010609060101010101" pitchFamily="49" charset="-122"/>
                        </a:rPr>
                        <a:t>感知机损失</a:t>
                      </a:r>
                      <a:endParaRPr lang="en-US" altLang="zh-CN" dirty="0">
                        <a:latin typeface="黑体" panose="02010609060101010101" pitchFamily="49" charset="-122"/>
                        <a:ea typeface="黑体" panose="02010609060101010101" pitchFamily="49" charset="-122"/>
                      </a:endParaRPr>
                    </a:p>
                    <a:p>
                      <a:pPr algn="ctr"/>
                      <a:r>
                        <a:rPr lang="zh-CN" altLang="en-US" dirty="0">
                          <a:latin typeface="黑体" panose="02010609060101010101" pitchFamily="49" charset="-122"/>
                          <a:ea typeface="黑体" panose="02010609060101010101" pitchFamily="49" charset="-122"/>
                        </a:rPr>
                        <a:t>只关注分错的样本</a:t>
                      </a:r>
                      <a:endParaRPr lang="zh-CN" altLang="en-US" dirty="0">
                        <a:latin typeface="黑体" panose="02010609060101010101" pitchFamily="49" charset="-122"/>
                        <a:ea typeface="黑体" panose="02010609060101010101" pitchFamily="49" charset="-122"/>
                      </a:endParaRPr>
                    </a:p>
                  </a:txBody>
                  <a:tcPr/>
                </a:tc>
                <a:tc>
                  <a:txBody>
                    <a:bodyPr/>
                    <a:lstStyle/>
                    <a:p>
                      <a:pPr algn="ctr"/>
                      <a:r>
                        <a:rPr lang="zh-CN" altLang="en-US" dirty="0">
                          <a:latin typeface="黑体" panose="02010609060101010101" pitchFamily="49" charset="-122"/>
                          <a:ea typeface="黑体" panose="02010609060101010101" pitchFamily="49" charset="-122"/>
                        </a:rPr>
                        <a:t>使用全部数据</a:t>
                      </a:r>
                      <a:endParaRPr lang="zh-CN" altLang="en-US" dirty="0">
                        <a:latin typeface="黑体" panose="02010609060101010101" pitchFamily="49" charset="-122"/>
                        <a:ea typeface="黑体" panose="02010609060101010101" pitchFamily="49" charset="-122"/>
                      </a:endParaRPr>
                    </a:p>
                  </a:txBody>
                  <a:tcPr/>
                </a:tc>
                <a:tc>
                  <a:txBody>
                    <a:bodyPr/>
                    <a:lstStyle/>
                    <a:p>
                      <a:pPr algn="ctr"/>
                      <a:r>
                        <a:rPr lang="zh-CN" altLang="en-US" dirty="0">
                          <a:latin typeface="黑体" panose="02010609060101010101" pitchFamily="49" charset="-122"/>
                          <a:ea typeface="黑体" panose="02010609060101010101" pitchFamily="49" charset="-122"/>
                        </a:rPr>
                        <a:t>无唯一解</a:t>
                      </a:r>
                      <a:endParaRPr lang="zh-CN" altLang="en-US" dirty="0">
                        <a:latin typeface="黑体" panose="02010609060101010101" pitchFamily="49" charset="-122"/>
                        <a:ea typeface="黑体" panose="02010609060101010101" pitchFamily="49" charset="-122"/>
                      </a:endParaRPr>
                    </a:p>
                  </a:txBody>
                  <a:tcPr/>
                </a:tc>
              </a:tr>
              <a:tr h="567483">
                <a:tc>
                  <a:txBody>
                    <a:bodyPr/>
                    <a:lstStyle/>
                    <a:p>
                      <a:pPr algn="ctr"/>
                      <a:r>
                        <a:rPr lang="en-US" altLang="zh-CN" b="1" dirty="0">
                          <a:latin typeface="黑体" panose="02010609060101010101" pitchFamily="49" charset="-122"/>
                          <a:ea typeface="黑体" panose="02010609060101010101" pitchFamily="49" charset="-122"/>
                        </a:rPr>
                        <a:t>SVM</a:t>
                      </a:r>
                      <a:endParaRPr lang="zh-CN" altLang="en-US" b="1" dirty="0">
                        <a:latin typeface="黑体" panose="02010609060101010101" pitchFamily="49" charset="-122"/>
                        <a:ea typeface="黑体" panose="02010609060101010101" pitchFamily="49" charset="-122"/>
                      </a:endParaRPr>
                    </a:p>
                  </a:txBody>
                  <a:tcPr/>
                </a:tc>
                <a:tc>
                  <a:txBody>
                    <a:bodyPr/>
                    <a:lstStyle/>
                    <a:p>
                      <a:pPr algn="ctr"/>
                      <a:r>
                        <a:rPr lang="zh-CN" altLang="en-US" dirty="0">
                          <a:latin typeface="黑体" panose="02010609060101010101" pitchFamily="49" charset="-122"/>
                          <a:ea typeface="黑体" panose="02010609060101010101" pitchFamily="49" charset="-122"/>
                        </a:rPr>
                        <a:t>追求最大间隔，兼顾准确性与鲁棒性</a:t>
                      </a:r>
                      <a:endParaRPr lang="zh-CN" altLang="en-US" dirty="0">
                        <a:latin typeface="黑体" panose="02010609060101010101" pitchFamily="49" charset="-122"/>
                        <a:ea typeface="黑体" panose="02010609060101010101" pitchFamily="49" charset="-122"/>
                      </a:endParaRPr>
                    </a:p>
                  </a:txBody>
                  <a:tcPr/>
                </a:tc>
                <a:tc>
                  <a:txBody>
                    <a:bodyPr/>
                    <a:lstStyle/>
                    <a:p>
                      <a:pPr algn="ctr"/>
                      <a:r>
                        <a:rPr lang="en-US" altLang="zh-CN" dirty="0">
                          <a:latin typeface="黑体" panose="02010609060101010101" pitchFamily="49" charset="-122"/>
                          <a:ea typeface="黑体" panose="02010609060101010101" pitchFamily="49" charset="-122"/>
                        </a:rPr>
                        <a:t>hinge</a:t>
                      </a:r>
                      <a:r>
                        <a:rPr lang="zh-CN" altLang="en-US" dirty="0">
                          <a:latin typeface="黑体" panose="02010609060101010101" pitchFamily="49" charset="-122"/>
                          <a:ea typeface="黑体" panose="02010609060101010101" pitchFamily="49" charset="-122"/>
                        </a:rPr>
                        <a:t>损失</a:t>
                      </a:r>
                      <a:endParaRPr lang="en-US" altLang="zh-CN" dirty="0">
                        <a:latin typeface="黑体" panose="02010609060101010101" pitchFamily="49" charset="-122"/>
                        <a:ea typeface="黑体" panose="02010609060101010101" pitchFamily="49" charset="-122"/>
                      </a:endParaRPr>
                    </a:p>
                    <a:p>
                      <a:pPr algn="ctr"/>
                      <a:r>
                        <a:rPr lang="zh-CN" altLang="en-US" dirty="0">
                          <a:latin typeface="黑体" panose="02010609060101010101" pitchFamily="49" charset="-122"/>
                          <a:ea typeface="黑体" panose="02010609060101010101" pitchFamily="49" charset="-122"/>
                        </a:rPr>
                        <a:t>关注分错 </a:t>
                      </a:r>
                      <a:r>
                        <a:rPr lang="en-US" altLang="zh-CN" dirty="0">
                          <a:latin typeface="黑体" panose="02010609060101010101" pitchFamily="49" charset="-122"/>
                          <a:ea typeface="黑体" panose="02010609060101010101" pitchFamily="49" charset="-122"/>
                        </a:rPr>
                        <a:t>+ </a:t>
                      </a:r>
                      <a:r>
                        <a:rPr lang="zh-CN" altLang="en-US" dirty="0">
                          <a:latin typeface="黑体" panose="02010609060101010101" pitchFamily="49" charset="-122"/>
                          <a:ea typeface="黑体" panose="02010609060101010101" pitchFamily="49" charset="-122"/>
                        </a:rPr>
                        <a:t>边界附近的样本</a:t>
                      </a:r>
                      <a:endParaRPr lang="zh-CN" altLang="en-US" dirty="0">
                        <a:latin typeface="黑体" panose="02010609060101010101" pitchFamily="49" charset="-122"/>
                        <a:ea typeface="黑体" panose="02010609060101010101" pitchFamily="49" charset="-122"/>
                      </a:endParaRPr>
                    </a:p>
                  </a:txBody>
                  <a:tcPr/>
                </a:tc>
                <a:tc>
                  <a:txBody>
                    <a:bodyPr/>
                    <a:lstStyle/>
                    <a:p>
                      <a:pPr algn="ctr"/>
                      <a:r>
                        <a:rPr lang="zh-CN" altLang="en-US" dirty="0">
                          <a:latin typeface="黑体" panose="02010609060101010101" pitchFamily="49" charset="-122"/>
                          <a:ea typeface="黑体" panose="02010609060101010101" pitchFamily="49" charset="-122"/>
                        </a:rPr>
                        <a:t>仅依赖支持向量构建模型，预测高效</a:t>
                      </a:r>
                      <a:endParaRPr lang="zh-CN" altLang="en-US" dirty="0">
                        <a:latin typeface="黑体" panose="02010609060101010101" pitchFamily="49" charset="-122"/>
                        <a:ea typeface="黑体" panose="02010609060101010101" pitchFamily="49" charset="-122"/>
                      </a:endParaRPr>
                    </a:p>
                  </a:txBody>
                  <a:tcPr/>
                </a:tc>
                <a:tc>
                  <a:txBody>
                    <a:bodyPr/>
                    <a:lstStyle/>
                    <a:p>
                      <a:pPr algn="ctr"/>
                      <a:r>
                        <a:rPr lang="zh-CN" altLang="en-US" dirty="0">
                          <a:latin typeface="黑体" panose="02010609060101010101" pitchFamily="49" charset="-122"/>
                          <a:ea typeface="黑体" panose="02010609060101010101" pitchFamily="49" charset="-122"/>
                        </a:rPr>
                        <a:t>通过最大间隔提升泛化性，小样本下表现更稳</a:t>
                      </a:r>
                      <a:endParaRPr lang="zh-CN" altLang="en-US" dirty="0">
                        <a:latin typeface="黑体" panose="02010609060101010101" pitchFamily="49" charset="-122"/>
                        <a:ea typeface="黑体" panose="02010609060101010101" pitchFamily="49" charset="-122"/>
                      </a:endParaRPr>
                    </a:p>
                  </a:txBody>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
          <p:cNvSpPr/>
          <p:nvPr/>
        </p:nvSpPr>
        <p:spPr>
          <a:xfrm>
            <a:off x="571500" y="285750"/>
            <a:ext cx="8001000" cy="400050"/>
          </a:xfrm>
          <a:prstGeom prst="rect">
            <a:avLst/>
          </a:prstGeom>
          <a:noFill/>
        </p:spPr>
        <p:txBody>
          <a:bodyPr vert="horz" wrap="square" lIns="0" tIns="0" rIns="0" bIns="0" rtlCol="0" anchor="ctr"/>
          <a:lstStyle/>
          <a:p>
            <a:pPr marL="0" indent="0" algn="l">
              <a:lnSpc>
                <a:spcPts val="3150"/>
              </a:lnSpc>
              <a:buNone/>
            </a:pPr>
            <a:r>
              <a:rPr lang="en-US" sz="2800" b="1" dirty="0">
                <a:solidFill>
                  <a:srgbClr val="333333"/>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微软雅黑" panose="020B0503020204020204" pitchFamily="34" charset="-120"/>
              </a:rPr>
              <a:t>SVM的发展脉络与在现代AI中的角色</a:t>
            </a:r>
            <a:endParaRPr lang="en-US" sz="2800"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p:txBody>
      </p:sp>
      <p:sp>
        <p:nvSpPr>
          <p:cNvPr id="5" name="Text 2"/>
          <p:cNvSpPr/>
          <p:nvPr/>
        </p:nvSpPr>
        <p:spPr>
          <a:xfrm>
            <a:off x="571500" y="742950"/>
            <a:ext cx="8001000" cy="209550"/>
          </a:xfrm>
          <a:prstGeom prst="rect">
            <a:avLst/>
          </a:prstGeom>
          <a:noFill/>
        </p:spPr>
        <p:txBody>
          <a:bodyPr vert="horz" wrap="square" lIns="0" tIns="0" rIns="0" bIns="0" rtlCol="0" anchor="ctr"/>
          <a:lstStyle/>
          <a:p>
            <a:pPr marL="0" indent="0" algn="l">
              <a:lnSpc>
                <a:spcPts val="1650"/>
              </a:lnSpc>
              <a:buNone/>
            </a:pPr>
            <a:endParaRPr lang="en-US" sz="1200" dirty="0"/>
          </a:p>
        </p:txBody>
      </p:sp>
      <p:pic>
        <p:nvPicPr>
          <p:cNvPr id="6" name="Image 1" descr="preencoded.png"/>
          <p:cNvPicPr>
            <a:picLocks noChangeAspect="1"/>
          </p:cNvPicPr>
          <p:nvPr/>
        </p:nvPicPr>
        <p:blipFill>
          <a:blip r:embed="rId1"/>
          <a:srcRect/>
          <a:stretch>
            <a:fillRect/>
          </a:stretch>
        </p:blipFill>
        <p:spPr>
          <a:xfrm>
            <a:off x="324505" y="2019300"/>
            <a:ext cx="2970803" cy="2497847"/>
          </a:xfrm>
          <a:prstGeom prst="rect">
            <a:avLst/>
          </a:prstGeom>
        </p:spPr>
      </p:pic>
      <p:sp>
        <p:nvSpPr>
          <p:cNvPr id="7" name="Text 3"/>
          <p:cNvSpPr/>
          <p:nvPr/>
        </p:nvSpPr>
        <p:spPr>
          <a:xfrm>
            <a:off x="752475" y="2800350"/>
            <a:ext cx="2076301" cy="252413"/>
          </a:xfrm>
          <a:prstGeom prst="rect">
            <a:avLst/>
          </a:prstGeom>
          <a:noFill/>
        </p:spPr>
        <p:txBody>
          <a:bodyPr vert="horz" wrap="square" lIns="0" tIns="0" rIns="0" bIns="0" rtlCol="0" anchor="ctr"/>
          <a:lstStyle/>
          <a:p>
            <a:pPr marL="0" indent="0" algn="l">
              <a:lnSpc>
                <a:spcPts val="1690"/>
              </a:lnSpc>
              <a:buNone/>
            </a:pPr>
            <a:r>
              <a:rPr lang="en-US" sz="20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起源与奠基</a:t>
            </a:r>
            <a:endParaRPr lang="en-US" sz="2000" dirty="0"/>
          </a:p>
        </p:txBody>
      </p:sp>
      <p:sp>
        <p:nvSpPr>
          <p:cNvPr id="8" name="Text 4"/>
          <p:cNvSpPr/>
          <p:nvPr/>
        </p:nvSpPr>
        <p:spPr>
          <a:xfrm>
            <a:off x="752475" y="3090862"/>
            <a:ext cx="2270643" cy="1266825"/>
          </a:xfrm>
          <a:prstGeom prst="rect">
            <a:avLst/>
          </a:prstGeom>
          <a:noFill/>
        </p:spPr>
        <p:txBody>
          <a:bodyPr vert="horz" wrap="square" lIns="0" tIns="0" rIns="0" bIns="0" rtlCol="0" anchor="ctr"/>
          <a:lstStyle/>
          <a:p>
            <a:pPr marL="0" indent="0" algn="l">
              <a:lnSpc>
                <a:spcPts val="1650"/>
              </a:lnSpc>
              <a:buNone/>
            </a:pPr>
            <a:r>
              <a:rPr lang="en-US" sz="1600" dirty="0">
                <a:latin typeface="黑体" panose="02010609060101010101" pitchFamily="49" charset="-122"/>
                <a:ea typeface="黑体" panose="02010609060101010101" pitchFamily="49" charset="-122"/>
                <a:cs typeface="微软雅黑" panose="020B0503020204020204" pitchFamily="34" charset="-120"/>
              </a:rPr>
              <a:t>SVM由Vapnik等人于1995年正式提出，基于统计学习理论和结构风险最小化原则，奠定了小样本高泛化模型的基础。</a:t>
            </a:r>
            <a:endParaRPr lang="en-US" sz="1600" dirty="0">
              <a:latin typeface="黑体" panose="02010609060101010101" pitchFamily="49" charset="-122"/>
              <a:ea typeface="黑体" panose="02010609060101010101" pitchFamily="49" charset="-122"/>
            </a:endParaRPr>
          </a:p>
        </p:txBody>
      </p:sp>
      <p:pic>
        <p:nvPicPr>
          <p:cNvPr id="9" name="Image 2" descr="preencoded.png"/>
          <p:cNvPicPr>
            <a:picLocks noChangeAspect="1"/>
          </p:cNvPicPr>
          <p:nvPr/>
        </p:nvPicPr>
        <p:blipFill>
          <a:blip r:embed="rId2"/>
          <a:srcRect/>
          <a:stretch>
            <a:fillRect/>
          </a:stretch>
        </p:blipFill>
        <p:spPr>
          <a:xfrm>
            <a:off x="3181201" y="2019299"/>
            <a:ext cx="2970803" cy="2497847"/>
          </a:xfrm>
          <a:prstGeom prst="rect">
            <a:avLst/>
          </a:prstGeom>
        </p:spPr>
      </p:pic>
      <p:sp>
        <p:nvSpPr>
          <p:cNvPr id="10" name="Text 5"/>
          <p:cNvSpPr/>
          <p:nvPr/>
        </p:nvSpPr>
        <p:spPr>
          <a:xfrm>
            <a:off x="3533626" y="2800350"/>
            <a:ext cx="2076301" cy="252413"/>
          </a:xfrm>
          <a:prstGeom prst="rect">
            <a:avLst/>
          </a:prstGeom>
          <a:noFill/>
        </p:spPr>
        <p:txBody>
          <a:bodyPr vert="horz" wrap="square" lIns="0" tIns="0" rIns="0" bIns="0" rtlCol="0" anchor="ctr"/>
          <a:lstStyle/>
          <a:p>
            <a:pPr marL="0" indent="0" algn="l">
              <a:lnSpc>
                <a:spcPts val="1690"/>
              </a:lnSpc>
              <a:buNone/>
            </a:pPr>
            <a:r>
              <a:rPr lang="en-US" sz="2000" b="1" dirty="0">
                <a:solidFill>
                  <a:srgbClr val="333333"/>
                </a:solidFill>
                <a:latin typeface="黑体" panose="02010609060101010101" pitchFamily="49" charset="-122"/>
                <a:ea typeface="黑体" panose="02010609060101010101" pitchFamily="49" charset="-122"/>
                <a:cs typeface="微软雅黑" panose="020B0503020204020204" pitchFamily="34" charset="-120"/>
              </a:rPr>
              <a:t>历史转折点</a:t>
            </a:r>
            <a:endParaRPr lang="en-US" sz="2000" dirty="0">
              <a:latin typeface="黑体" panose="02010609060101010101" pitchFamily="49" charset="-122"/>
              <a:ea typeface="黑体" panose="02010609060101010101" pitchFamily="49" charset="-122"/>
            </a:endParaRPr>
          </a:p>
        </p:txBody>
      </p:sp>
      <p:sp>
        <p:nvSpPr>
          <p:cNvPr id="11" name="Text 6"/>
          <p:cNvSpPr/>
          <p:nvPr/>
        </p:nvSpPr>
        <p:spPr>
          <a:xfrm>
            <a:off x="3514964" y="3286808"/>
            <a:ext cx="2346188" cy="876300"/>
          </a:xfrm>
          <a:prstGeom prst="rect">
            <a:avLst/>
          </a:prstGeom>
          <a:noFill/>
        </p:spPr>
        <p:txBody>
          <a:bodyPr vert="horz" wrap="square" lIns="0" tIns="0" rIns="0" bIns="0" rtlCol="0" anchor="ctr"/>
          <a:lstStyle/>
          <a:p>
            <a:pPr marL="0" indent="0" algn="l">
              <a:lnSpc>
                <a:spcPts val="1650"/>
              </a:lnSpc>
              <a:buNone/>
            </a:pPr>
            <a:r>
              <a:rPr lang="en-US" sz="1600" dirty="0">
                <a:latin typeface="黑体" panose="02010609060101010101" pitchFamily="49" charset="-122"/>
                <a:ea typeface="黑体" panose="02010609060101010101" pitchFamily="49" charset="-122"/>
                <a:cs typeface="微软雅黑" panose="020B0503020204020204" pitchFamily="34" charset="-120"/>
              </a:rPr>
              <a:t>20世纪末至21世纪初，SVM在文本分类、手写识别等任务中超越传统方法，成为机器学习主流算法之一。</a:t>
            </a:r>
            <a:endParaRPr lang="en-US" sz="1600" dirty="0">
              <a:latin typeface="黑体" panose="02010609060101010101" pitchFamily="49" charset="-122"/>
              <a:ea typeface="黑体" panose="02010609060101010101" pitchFamily="49" charset="-122"/>
            </a:endParaRPr>
          </a:p>
        </p:txBody>
      </p:sp>
      <p:pic>
        <p:nvPicPr>
          <p:cNvPr id="12" name="Image 3" descr="preencoded.png"/>
          <p:cNvPicPr>
            <a:picLocks noChangeAspect="1"/>
          </p:cNvPicPr>
          <p:nvPr/>
        </p:nvPicPr>
        <p:blipFill>
          <a:blip r:embed="rId3"/>
          <a:srcRect/>
          <a:stretch>
            <a:fillRect/>
          </a:stretch>
        </p:blipFill>
        <p:spPr>
          <a:xfrm>
            <a:off x="6036999" y="2019299"/>
            <a:ext cx="2970803" cy="2497847"/>
          </a:xfrm>
          <a:prstGeom prst="rect">
            <a:avLst/>
          </a:prstGeom>
        </p:spPr>
      </p:pic>
      <p:sp>
        <p:nvSpPr>
          <p:cNvPr id="13" name="Text 7"/>
          <p:cNvSpPr/>
          <p:nvPr/>
        </p:nvSpPr>
        <p:spPr>
          <a:xfrm>
            <a:off x="6314777" y="2800350"/>
            <a:ext cx="2076301" cy="252413"/>
          </a:xfrm>
          <a:prstGeom prst="rect">
            <a:avLst/>
          </a:prstGeom>
          <a:noFill/>
        </p:spPr>
        <p:txBody>
          <a:bodyPr vert="horz" wrap="square" lIns="0" tIns="0" rIns="0" bIns="0" rtlCol="0" anchor="ctr"/>
          <a:lstStyle/>
          <a:p>
            <a:pPr marL="0" indent="0" algn="l">
              <a:lnSpc>
                <a:spcPts val="1690"/>
              </a:lnSpc>
              <a:buNone/>
            </a:pPr>
            <a:r>
              <a:rPr lang="en-US" b="1" dirty="0">
                <a:solidFill>
                  <a:srgbClr val="333333"/>
                </a:solidFill>
                <a:latin typeface="黑体" panose="02010609060101010101" pitchFamily="49" charset="-122"/>
                <a:ea typeface="黑体" panose="02010609060101010101" pitchFamily="49" charset="-122"/>
                <a:cs typeface="微软雅黑" panose="020B0503020204020204" pitchFamily="34" charset="-120"/>
              </a:rPr>
              <a:t>现代AI中的定位</a:t>
            </a:r>
            <a:endParaRPr lang="en-US" dirty="0">
              <a:latin typeface="黑体" panose="02010609060101010101" pitchFamily="49" charset="-122"/>
              <a:ea typeface="黑体" panose="02010609060101010101" pitchFamily="49" charset="-122"/>
            </a:endParaRPr>
          </a:p>
        </p:txBody>
      </p:sp>
      <p:sp>
        <p:nvSpPr>
          <p:cNvPr id="14" name="Text 8"/>
          <p:cNvSpPr/>
          <p:nvPr/>
        </p:nvSpPr>
        <p:spPr>
          <a:xfrm>
            <a:off x="6314777" y="3240153"/>
            <a:ext cx="2402173" cy="876300"/>
          </a:xfrm>
          <a:prstGeom prst="rect">
            <a:avLst/>
          </a:prstGeom>
          <a:noFill/>
        </p:spPr>
        <p:txBody>
          <a:bodyPr vert="horz" wrap="square" lIns="0" tIns="0" rIns="0" bIns="0" rtlCol="0" anchor="ctr"/>
          <a:lstStyle/>
          <a:p>
            <a:pPr marL="0" indent="0" algn="l">
              <a:lnSpc>
                <a:spcPts val="1650"/>
              </a:lnSpc>
              <a:buNone/>
            </a:pPr>
            <a:r>
              <a:rPr lang="en-US" sz="1600" dirty="0" err="1">
                <a:latin typeface="黑体" panose="02010609060101010101" pitchFamily="49" charset="-122"/>
                <a:ea typeface="黑体" panose="02010609060101010101" pitchFamily="49" charset="-122"/>
                <a:cs typeface="微软雅黑" panose="020B0503020204020204" pitchFamily="34" charset="-120"/>
              </a:rPr>
              <a:t>虽被深度学习部分取代，但在小样本、高维稀疏数据场景中仍具独特优势与不可替代性</a:t>
            </a:r>
            <a:r>
              <a:rPr lang="en-US" sz="1600" dirty="0">
                <a:latin typeface="黑体" panose="02010609060101010101" pitchFamily="49" charset="-122"/>
                <a:ea typeface="黑体" panose="02010609060101010101" pitchFamily="49" charset="-122"/>
                <a:cs typeface="微软雅黑" panose="020B0503020204020204" pitchFamily="34" charset="-120"/>
              </a:rPr>
              <a:t>。</a:t>
            </a:r>
            <a:endParaRPr lang="en-US" sz="1600" dirty="0">
              <a:latin typeface="黑体" panose="02010609060101010101" pitchFamily="49" charset="-122"/>
              <a:ea typeface="黑体" panose="02010609060101010101" pitchFamily="49"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大纲</a:t>
            </a:r>
            <a:endParaRPr lang="zh-CN" altLang="en-US"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p:txBody>
          <a:bodyPr/>
          <a:lstStyle/>
          <a:p>
            <a:r>
              <a:rPr lang="zh-CN" altLang="en-US" b="1" dirty="0">
                <a:latin typeface="黑体" panose="02010609060101010101" pitchFamily="49" charset="-122"/>
                <a:ea typeface="黑体" panose="02010609060101010101" pitchFamily="49" charset="-122"/>
              </a:rPr>
              <a:t>间隔与支持向量</a:t>
            </a:r>
            <a:endParaRPr lang="en-US" altLang="zh-CN" b="1" dirty="0">
              <a:latin typeface="黑体" panose="02010609060101010101" pitchFamily="49" charset="-122"/>
              <a:ea typeface="黑体" panose="02010609060101010101" pitchFamily="49" charset="-122"/>
            </a:endParaRPr>
          </a:p>
          <a:p>
            <a:endParaRPr lang="en-US" altLang="zh-CN" dirty="0"/>
          </a:p>
          <a:p>
            <a:r>
              <a:rPr lang="zh-CN" altLang="en-US" dirty="0">
                <a:solidFill>
                  <a:schemeClr val="bg1">
                    <a:lumMod val="85000"/>
                  </a:schemeClr>
                </a:solidFill>
              </a:rPr>
              <a:t>对偶问题</a:t>
            </a:r>
            <a:endParaRPr lang="en-US" altLang="zh-CN" dirty="0">
              <a:solidFill>
                <a:schemeClr val="bg1">
                  <a:lumMod val="85000"/>
                </a:schemeClr>
              </a:solidFill>
            </a:endParaRPr>
          </a:p>
          <a:p>
            <a:endParaRPr lang="en-US" altLang="zh-CN" dirty="0"/>
          </a:p>
          <a:p>
            <a:r>
              <a:rPr lang="zh-CN" altLang="en-US" dirty="0">
                <a:solidFill>
                  <a:schemeClr val="bg1">
                    <a:lumMod val="85000"/>
                  </a:schemeClr>
                </a:solidFill>
              </a:rPr>
              <a:t>核函数</a:t>
            </a:r>
            <a:endParaRPr lang="en-US" altLang="zh-CN" dirty="0">
              <a:solidFill>
                <a:schemeClr val="bg1">
                  <a:lumMod val="85000"/>
                </a:schemeClr>
              </a:solidFill>
            </a:endParaRPr>
          </a:p>
          <a:p>
            <a:endParaRPr lang="en-US" altLang="zh-CN" dirty="0">
              <a:solidFill>
                <a:schemeClr val="bg1">
                  <a:lumMod val="85000"/>
                </a:schemeClr>
              </a:solidFill>
            </a:endParaRPr>
          </a:p>
          <a:p>
            <a:r>
              <a:rPr lang="zh-CN" altLang="en-US" dirty="0">
                <a:solidFill>
                  <a:schemeClr val="bg1">
                    <a:lumMod val="85000"/>
                  </a:schemeClr>
                </a:solidFill>
              </a:rPr>
              <a:t>软间隔与正则化</a:t>
            </a:r>
            <a:endParaRPr lang="en-US" altLang="zh-CN" dirty="0">
              <a:solidFill>
                <a:schemeClr val="bg1">
                  <a:lumMod val="85000"/>
                </a:schemeClr>
              </a:solidFill>
            </a:endParaRPr>
          </a:p>
          <a:p>
            <a:endParaRPr lang="en-US" altLang="zh-CN" dirty="0">
              <a:solidFill>
                <a:schemeClr val="bg1">
                  <a:lumMod val="85000"/>
                </a:schemeClr>
              </a:solidFill>
            </a:endParaRPr>
          </a:p>
          <a:p>
            <a:r>
              <a:rPr lang="zh-CN" altLang="en-US" dirty="0">
                <a:solidFill>
                  <a:schemeClr val="bg1">
                    <a:lumMod val="85000"/>
                  </a:schemeClr>
                </a:solidFill>
              </a:rPr>
              <a:t>支持向量回归</a:t>
            </a:r>
            <a:endParaRPr lang="en-US" altLang="zh-CN" dirty="0">
              <a:solidFill>
                <a:schemeClr val="bg1">
                  <a:lumMod val="85000"/>
                </a:schemeClr>
              </a:solidFill>
            </a:endParaRPr>
          </a:p>
          <a:p>
            <a:endParaRPr lang="en-US" altLang="zh-CN" dirty="0">
              <a:solidFill>
                <a:schemeClr val="bg1">
                  <a:lumMod val="85000"/>
                </a:schemeClr>
              </a:solidFill>
            </a:endParaRPr>
          </a:p>
          <a:p>
            <a:r>
              <a:rPr lang="zh-CN" altLang="en-US" dirty="0">
                <a:solidFill>
                  <a:schemeClr val="bg1">
                    <a:lumMod val="85000"/>
                  </a:schemeClr>
                </a:solidFill>
              </a:rPr>
              <a:t>核方法</a:t>
            </a:r>
            <a:endParaRPr lang="zh-CN" altLang="en-US" dirty="0">
              <a:solidFill>
                <a:schemeClr val="bg1">
                  <a:lumMod val="85000"/>
                </a:schemeClr>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引子</a:t>
            </a:r>
            <a:endParaRPr lang="zh-CN" altLang="en-US" dirty="0">
              <a:latin typeface="黑体" panose="02010609060101010101" pitchFamily="49" charset="-122"/>
              <a:ea typeface="黑体" panose="02010609060101010101" pitchFamily="49" charset="-122"/>
            </a:endParaRPr>
          </a:p>
        </p:txBody>
      </p:sp>
      <p:sp>
        <p:nvSpPr>
          <p:cNvPr id="4" name="内容占位符 3"/>
          <p:cNvSpPr>
            <a:spLocks noGrp="1"/>
          </p:cNvSpPr>
          <p:nvPr>
            <p:ph idx="1"/>
          </p:nvPr>
        </p:nvSpPr>
        <p:spPr>
          <a:xfrm>
            <a:off x="232244" y="1114824"/>
            <a:ext cx="8616950" cy="451134"/>
          </a:xfrm>
        </p:spPr>
        <p:txBody>
          <a:bodyPr/>
          <a:lstStyle/>
          <a:p>
            <a:pPr marL="0" indent="0">
              <a:buNone/>
            </a:pPr>
            <a:r>
              <a:rPr lang="zh-CN" altLang="en-US" b="1" dirty="0">
                <a:latin typeface="黑体" panose="02010609060101010101" pitchFamily="49" charset="-122"/>
                <a:ea typeface="黑体" panose="02010609060101010101" pitchFamily="49" charset="-122"/>
              </a:rPr>
              <a:t>线性模型：在样本空间中寻找一个超平面</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将不同类别的样本分开</a:t>
            </a:r>
            <a:r>
              <a:rPr lang="en-US" altLang="zh-CN" b="1" dirty="0">
                <a:latin typeface="黑体" panose="02010609060101010101" pitchFamily="49" charset="-122"/>
                <a:ea typeface="黑体" panose="02010609060101010101" pitchFamily="49" charset="-122"/>
              </a:rPr>
              <a:t>.</a:t>
            </a:r>
            <a:endParaRPr lang="zh-CN" altLang="en-US" b="1" dirty="0">
              <a:latin typeface="黑体" panose="02010609060101010101" pitchFamily="49" charset="-122"/>
              <a:ea typeface="黑体" panose="02010609060101010101" pitchFamily="49" charset="-122"/>
            </a:endParaRPr>
          </a:p>
        </p:txBody>
      </p:sp>
      <p:cxnSp>
        <p:nvCxnSpPr>
          <p:cNvPr id="76" name="直接箭头连接符 75"/>
          <p:cNvCxnSpPr/>
          <p:nvPr/>
        </p:nvCxnSpPr>
        <p:spPr>
          <a:xfrm flipH="1" flipV="1">
            <a:off x="2921247" y="1916808"/>
            <a:ext cx="0" cy="3037427"/>
          </a:xfrm>
          <a:prstGeom prst="straightConnector1">
            <a:avLst/>
          </a:prstGeom>
          <a:ln w="19050">
            <a:headEnd type="none" w="med" len="lg"/>
            <a:tailEnd type="triangle" w="lg" len="lg"/>
          </a:ln>
        </p:spPr>
        <p:style>
          <a:lnRef idx="1">
            <a:schemeClr val="dk1"/>
          </a:lnRef>
          <a:fillRef idx="0">
            <a:schemeClr val="dk1"/>
          </a:fillRef>
          <a:effectRef idx="0">
            <a:schemeClr val="dk1"/>
          </a:effectRef>
          <a:fontRef idx="minor">
            <a:schemeClr val="tx1"/>
          </a:fontRef>
        </p:style>
      </p:cxnSp>
      <p:cxnSp>
        <p:nvCxnSpPr>
          <p:cNvPr id="77" name="直接箭头连接符 76"/>
          <p:cNvCxnSpPr/>
          <p:nvPr/>
        </p:nvCxnSpPr>
        <p:spPr>
          <a:xfrm>
            <a:off x="2911529" y="4954308"/>
            <a:ext cx="3585255" cy="0"/>
          </a:xfrm>
          <a:prstGeom prst="straightConnector1">
            <a:avLst/>
          </a:prstGeom>
          <a:ln w="19050">
            <a:headEnd type="none" w="med" len="lg"/>
            <a:tailEnd type="triangle" w="lg" len="lg"/>
          </a:ln>
        </p:spPr>
        <p:style>
          <a:lnRef idx="1">
            <a:schemeClr val="dk1"/>
          </a:lnRef>
          <a:fillRef idx="0">
            <a:schemeClr val="dk1"/>
          </a:fillRef>
          <a:effectRef idx="0">
            <a:schemeClr val="dk1"/>
          </a:effectRef>
          <a:fontRef idx="minor">
            <a:schemeClr val="tx1"/>
          </a:fontRef>
        </p:style>
      </p:cxnSp>
      <p:sp>
        <p:nvSpPr>
          <p:cNvPr id="78" name="文本框 77"/>
          <p:cNvSpPr txBox="1"/>
          <p:nvPr/>
        </p:nvSpPr>
        <p:spPr>
          <a:xfrm>
            <a:off x="2695869" y="4856041"/>
            <a:ext cx="325369" cy="370972"/>
          </a:xfrm>
          <a:prstGeom prst="rect">
            <a:avLst/>
          </a:prstGeom>
          <a:noFill/>
        </p:spPr>
        <p:txBody>
          <a:bodyPr wrap="none" rtlCol="0">
            <a:spAutoFit/>
          </a:bodyPr>
          <a:lstStyle/>
          <a:p>
            <a:r>
              <a:rPr lang="en-US" altLang="zh-CN" sz="1400" dirty="0">
                <a:latin typeface="Times"/>
              </a:rPr>
              <a:t>0</a:t>
            </a:r>
            <a:endParaRPr lang="zh-CN" altLang="en-US" sz="1400" dirty="0">
              <a:latin typeface="Times "/>
            </a:endParaRPr>
          </a:p>
        </p:txBody>
      </p:sp>
      <p:grpSp>
        <p:nvGrpSpPr>
          <p:cNvPr id="79" name="组合 78"/>
          <p:cNvGrpSpPr/>
          <p:nvPr/>
        </p:nvGrpSpPr>
        <p:grpSpPr>
          <a:xfrm>
            <a:off x="4229034" y="2634377"/>
            <a:ext cx="128045" cy="130175"/>
            <a:chOff x="5476803" y="2392530"/>
            <a:chExt cx="108000" cy="108000"/>
          </a:xfrm>
        </p:grpSpPr>
        <p:cxnSp>
          <p:nvCxnSpPr>
            <p:cNvPr id="133" name="直接连接符 132"/>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34" name="直接连接符 133"/>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80" name="组合 79"/>
          <p:cNvGrpSpPr/>
          <p:nvPr/>
        </p:nvGrpSpPr>
        <p:grpSpPr>
          <a:xfrm>
            <a:off x="4078700" y="3417659"/>
            <a:ext cx="128045" cy="130175"/>
            <a:chOff x="5476803" y="2392530"/>
            <a:chExt cx="108000" cy="108000"/>
          </a:xfrm>
        </p:grpSpPr>
        <p:cxnSp>
          <p:nvCxnSpPr>
            <p:cNvPr id="131" name="直接连接符 130"/>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32" name="直接连接符 131"/>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81" name="组合 80"/>
          <p:cNvGrpSpPr/>
          <p:nvPr/>
        </p:nvGrpSpPr>
        <p:grpSpPr>
          <a:xfrm>
            <a:off x="3871725" y="3227333"/>
            <a:ext cx="128045" cy="130175"/>
            <a:chOff x="5476803" y="2392530"/>
            <a:chExt cx="108000" cy="108000"/>
          </a:xfrm>
        </p:grpSpPr>
        <p:cxnSp>
          <p:nvCxnSpPr>
            <p:cNvPr id="129" name="直接连接符 128"/>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30" name="直接连接符 129"/>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82" name="组合 81"/>
          <p:cNvGrpSpPr/>
          <p:nvPr/>
        </p:nvGrpSpPr>
        <p:grpSpPr>
          <a:xfrm>
            <a:off x="3443810" y="3500276"/>
            <a:ext cx="128045" cy="130175"/>
            <a:chOff x="5476803" y="2392530"/>
            <a:chExt cx="108000" cy="108000"/>
          </a:xfrm>
        </p:grpSpPr>
        <p:cxnSp>
          <p:nvCxnSpPr>
            <p:cNvPr id="127" name="直接连接符 126"/>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28" name="直接连接符 127"/>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83" name="组合 82"/>
          <p:cNvGrpSpPr/>
          <p:nvPr/>
        </p:nvGrpSpPr>
        <p:grpSpPr>
          <a:xfrm>
            <a:off x="3656059" y="3713009"/>
            <a:ext cx="128045" cy="130175"/>
            <a:chOff x="5476803" y="2392530"/>
            <a:chExt cx="108000" cy="108000"/>
          </a:xfrm>
        </p:grpSpPr>
        <p:cxnSp>
          <p:nvCxnSpPr>
            <p:cNvPr id="125" name="直接连接符 124"/>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26" name="直接连接符 125"/>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84" name="组合 83"/>
          <p:cNvGrpSpPr/>
          <p:nvPr/>
        </p:nvGrpSpPr>
        <p:grpSpPr>
          <a:xfrm>
            <a:off x="4070846" y="3705925"/>
            <a:ext cx="128045" cy="130175"/>
            <a:chOff x="5476803" y="2392530"/>
            <a:chExt cx="108000" cy="108000"/>
          </a:xfrm>
        </p:grpSpPr>
        <p:cxnSp>
          <p:nvCxnSpPr>
            <p:cNvPr id="123" name="直接连接符 122"/>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24" name="直接连接符 123"/>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85" name="组合 84"/>
          <p:cNvGrpSpPr/>
          <p:nvPr/>
        </p:nvGrpSpPr>
        <p:grpSpPr>
          <a:xfrm>
            <a:off x="3554013" y="2684784"/>
            <a:ext cx="128045" cy="130175"/>
            <a:chOff x="5476803" y="2392530"/>
            <a:chExt cx="108000" cy="108000"/>
          </a:xfrm>
        </p:grpSpPr>
        <p:cxnSp>
          <p:nvCxnSpPr>
            <p:cNvPr id="121" name="直接连接符 120"/>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22" name="直接连接符 121"/>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cxnSp>
        <p:nvCxnSpPr>
          <p:cNvPr id="86" name="直接连接符 85"/>
          <p:cNvCxnSpPr/>
          <p:nvPr/>
        </p:nvCxnSpPr>
        <p:spPr>
          <a:xfrm>
            <a:off x="5480113" y="4017206"/>
            <a:ext cx="128045"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87" name="直接连接符 86"/>
          <p:cNvCxnSpPr/>
          <p:nvPr/>
        </p:nvCxnSpPr>
        <p:spPr>
          <a:xfrm>
            <a:off x="4872810" y="3878902"/>
            <a:ext cx="128045"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88" name="直接连接符 87"/>
          <p:cNvCxnSpPr/>
          <p:nvPr/>
        </p:nvCxnSpPr>
        <p:spPr>
          <a:xfrm>
            <a:off x="4725497" y="4547869"/>
            <a:ext cx="128045"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89" name="直接连接符 88"/>
          <p:cNvCxnSpPr/>
          <p:nvPr/>
        </p:nvCxnSpPr>
        <p:spPr>
          <a:xfrm>
            <a:off x="4326846" y="4424037"/>
            <a:ext cx="128045"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90" name="直接连接符 89"/>
          <p:cNvCxnSpPr/>
          <p:nvPr/>
        </p:nvCxnSpPr>
        <p:spPr>
          <a:xfrm>
            <a:off x="5282993" y="4374401"/>
            <a:ext cx="128045"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91" name="直接连接符 90"/>
          <p:cNvCxnSpPr/>
          <p:nvPr/>
        </p:nvCxnSpPr>
        <p:spPr>
          <a:xfrm>
            <a:off x="5337178" y="4217192"/>
            <a:ext cx="128045"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92" name="直接连接符 91"/>
          <p:cNvCxnSpPr/>
          <p:nvPr/>
        </p:nvCxnSpPr>
        <p:spPr>
          <a:xfrm>
            <a:off x="4652186" y="4285353"/>
            <a:ext cx="128045"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93" name="直接连接符 92"/>
          <p:cNvCxnSpPr/>
          <p:nvPr/>
        </p:nvCxnSpPr>
        <p:spPr>
          <a:xfrm>
            <a:off x="5544135" y="3778096"/>
            <a:ext cx="128045"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94" name="直接连接符 93"/>
          <p:cNvCxnSpPr/>
          <p:nvPr/>
        </p:nvCxnSpPr>
        <p:spPr>
          <a:xfrm>
            <a:off x="4936833" y="4217192"/>
            <a:ext cx="128045" cy="0"/>
          </a:xfrm>
          <a:prstGeom prst="line">
            <a:avLst/>
          </a:prstGeom>
          <a:ln w="19050"/>
        </p:spPr>
        <p:style>
          <a:lnRef idx="1">
            <a:schemeClr val="dk1"/>
          </a:lnRef>
          <a:fillRef idx="0">
            <a:schemeClr val="dk1"/>
          </a:fillRef>
          <a:effectRef idx="0">
            <a:schemeClr val="dk1"/>
          </a:effectRef>
          <a:fontRef idx="minor">
            <a:schemeClr val="tx1"/>
          </a:fontRef>
        </p:style>
      </p:cxnSp>
      <p:grpSp>
        <p:nvGrpSpPr>
          <p:cNvPr id="97" name="组合 96"/>
          <p:cNvGrpSpPr/>
          <p:nvPr/>
        </p:nvGrpSpPr>
        <p:grpSpPr>
          <a:xfrm>
            <a:off x="4744766" y="2492476"/>
            <a:ext cx="128045" cy="130175"/>
            <a:chOff x="5476803" y="2392530"/>
            <a:chExt cx="108000" cy="108000"/>
          </a:xfrm>
        </p:grpSpPr>
        <p:cxnSp>
          <p:nvCxnSpPr>
            <p:cNvPr id="119" name="直接连接符 118"/>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20" name="直接连接符 119"/>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98" name="组合 97"/>
          <p:cNvGrpSpPr/>
          <p:nvPr/>
        </p:nvGrpSpPr>
        <p:grpSpPr>
          <a:xfrm>
            <a:off x="4476697" y="2749872"/>
            <a:ext cx="128045" cy="130175"/>
            <a:chOff x="5476803" y="2392530"/>
            <a:chExt cx="108000" cy="108000"/>
          </a:xfrm>
        </p:grpSpPr>
        <p:cxnSp>
          <p:nvCxnSpPr>
            <p:cNvPr id="117" name="直接连接符 116"/>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18" name="直接连接符 117"/>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99" name="组合 98"/>
          <p:cNvGrpSpPr/>
          <p:nvPr/>
        </p:nvGrpSpPr>
        <p:grpSpPr>
          <a:xfrm>
            <a:off x="3343077" y="3887030"/>
            <a:ext cx="128045" cy="130175"/>
            <a:chOff x="5476803" y="2392530"/>
            <a:chExt cx="108000" cy="108000"/>
          </a:xfrm>
        </p:grpSpPr>
        <p:cxnSp>
          <p:nvCxnSpPr>
            <p:cNvPr id="115" name="直接连接符 114"/>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16" name="直接连接符 115"/>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100" name="组合 99"/>
          <p:cNvGrpSpPr/>
          <p:nvPr/>
        </p:nvGrpSpPr>
        <p:grpSpPr>
          <a:xfrm>
            <a:off x="3893531" y="2906559"/>
            <a:ext cx="128045" cy="130175"/>
            <a:chOff x="5476803" y="2392530"/>
            <a:chExt cx="108000" cy="108000"/>
          </a:xfrm>
        </p:grpSpPr>
        <p:cxnSp>
          <p:nvCxnSpPr>
            <p:cNvPr id="113" name="直接连接符 112"/>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14" name="直接连接符 113"/>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101" name="组合 100"/>
          <p:cNvGrpSpPr/>
          <p:nvPr/>
        </p:nvGrpSpPr>
        <p:grpSpPr>
          <a:xfrm>
            <a:off x="3465616" y="3179502"/>
            <a:ext cx="128045" cy="130175"/>
            <a:chOff x="5476803" y="2392530"/>
            <a:chExt cx="108000" cy="108000"/>
          </a:xfrm>
        </p:grpSpPr>
        <p:cxnSp>
          <p:nvCxnSpPr>
            <p:cNvPr id="111" name="直接连接符 110"/>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12" name="直接连接符 111"/>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cxnSp>
        <p:nvCxnSpPr>
          <p:cNvPr id="102" name="直接连接符 101"/>
          <p:cNvCxnSpPr/>
          <p:nvPr/>
        </p:nvCxnSpPr>
        <p:spPr>
          <a:xfrm>
            <a:off x="5077901" y="4527947"/>
            <a:ext cx="128045"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03" name="直接连接符 102"/>
          <p:cNvCxnSpPr/>
          <p:nvPr/>
        </p:nvCxnSpPr>
        <p:spPr>
          <a:xfrm>
            <a:off x="5205946" y="3952118"/>
            <a:ext cx="128045"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04" name="直接连接符 103"/>
          <p:cNvCxnSpPr/>
          <p:nvPr/>
        </p:nvCxnSpPr>
        <p:spPr>
          <a:xfrm>
            <a:off x="5337178" y="3565363"/>
            <a:ext cx="128045"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05" name="直接连接符 104"/>
          <p:cNvCxnSpPr/>
          <p:nvPr/>
        </p:nvCxnSpPr>
        <p:spPr>
          <a:xfrm>
            <a:off x="5761789" y="3289825"/>
            <a:ext cx="128045" cy="0"/>
          </a:xfrm>
          <a:prstGeom prst="line">
            <a:avLst/>
          </a:prstGeom>
          <a:ln w="19050"/>
        </p:spPr>
        <p:style>
          <a:lnRef idx="1">
            <a:schemeClr val="dk1"/>
          </a:lnRef>
          <a:fillRef idx="0">
            <a:schemeClr val="dk1"/>
          </a:fillRef>
          <a:effectRef idx="0">
            <a:schemeClr val="dk1"/>
          </a:effectRef>
          <a:fontRef idx="minor">
            <a:schemeClr val="tx1"/>
          </a:fontRef>
        </p:style>
      </p:cxnSp>
      <p:graphicFrame>
        <p:nvGraphicFramePr>
          <p:cNvPr id="106" name="对象 105"/>
          <p:cNvGraphicFramePr>
            <a:graphicFrameLocks noChangeAspect="1"/>
          </p:cNvGraphicFramePr>
          <p:nvPr/>
        </p:nvGraphicFramePr>
        <p:xfrm>
          <a:off x="5953517" y="5029948"/>
          <a:ext cx="263851" cy="260351"/>
        </p:xfrm>
        <a:graphic>
          <a:graphicData uri="http://schemas.openxmlformats.org/presentationml/2006/ole">
            <mc:AlternateContent xmlns:mc="http://schemas.openxmlformats.org/markup-compatibility/2006">
              <mc:Choice xmlns:v="urn:schemas-microsoft-com:vml" Requires="v">
                <p:oleObj spid="_x0000_s32" name="Formula" r:id="rId1" imgW="1028700" imgH="981075" progId="Equation.Ribbit">
                  <p:embed/>
                </p:oleObj>
              </mc:Choice>
              <mc:Fallback>
                <p:oleObj name="Formula" r:id="rId1" imgW="1028700" imgH="981075" progId="Equation.Ribbit">
                  <p:embed/>
                  <p:pic>
                    <p:nvPicPr>
                      <p:cNvPr id="0" name="图片 31"/>
                      <p:cNvPicPr/>
                      <p:nvPr/>
                    </p:nvPicPr>
                    <p:blipFill>
                      <a:blip r:embed="rId2"/>
                      <a:stretch>
                        <a:fillRect/>
                      </a:stretch>
                    </p:blipFill>
                    <p:spPr>
                      <a:xfrm>
                        <a:off x="5953517" y="5029948"/>
                        <a:ext cx="263851" cy="260351"/>
                      </a:xfrm>
                      <a:prstGeom prst="rect">
                        <a:avLst/>
                      </a:prstGeom>
                    </p:spPr>
                  </p:pic>
                </p:oleObj>
              </mc:Fallback>
            </mc:AlternateContent>
          </a:graphicData>
        </a:graphic>
      </p:graphicFrame>
      <p:graphicFrame>
        <p:nvGraphicFramePr>
          <p:cNvPr id="107" name="对象 106"/>
          <p:cNvGraphicFramePr>
            <a:graphicFrameLocks noChangeAspect="1"/>
          </p:cNvGraphicFramePr>
          <p:nvPr/>
        </p:nvGraphicFramePr>
        <p:xfrm>
          <a:off x="2524511" y="2158332"/>
          <a:ext cx="273161" cy="260351"/>
        </p:xfrm>
        <a:graphic>
          <a:graphicData uri="http://schemas.openxmlformats.org/presentationml/2006/ole">
            <mc:AlternateContent xmlns:mc="http://schemas.openxmlformats.org/markup-compatibility/2006">
              <mc:Choice xmlns:v="urn:schemas-microsoft-com:vml" Requires="v">
                <p:oleObj spid="_x0000_s2" name="Formula" r:id="rId3" imgW="1057275" imgH="981075" progId="Equation.Ribbit">
                  <p:embed/>
                </p:oleObj>
              </mc:Choice>
              <mc:Fallback>
                <p:oleObj name="Formula" r:id="rId3" imgW="1057275" imgH="981075" progId="Equation.Ribbit">
                  <p:embed/>
                  <p:pic>
                    <p:nvPicPr>
                      <p:cNvPr id="0" name="图片 1"/>
                      <p:cNvPicPr/>
                      <p:nvPr/>
                    </p:nvPicPr>
                    <p:blipFill>
                      <a:blip r:embed="rId4"/>
                      <a:stretch>
                        <a:fillRect/>
                      </a:stretch>
                    </p:blipFill>
                    <p:spPr>
                      <a:xfrm>
                        <a:off x="2524511" y="2158332"/>
                        <a:ext cx="273161" cy="260351"/>
                      </a:xfrm>
                      <a:prstGeom prst="rect">
                        <a:avLst/>
                      </a:prstGeom>
                    </p:spPr>
                  </p:pic>
                </p:oleObj>
              </mc:Fallback>
            </mc:AlternateContent>
          </a:graphicData>
        </a:graphic>
      </p:graphicFrame>
      <p:cxnSp>
        <p:nvCxnSpPr>
          <p:cNvPr id="64" name="直接连接符 63"/>
          <p:cNvCxnSpPr/>
          <p:nvPr/>
        </p:nvCxnSpPr>
        <p:spPr>
          <a:xfrm flipV="1">
            <a:off x="3635877" y="2411210"/>
            <a:ext cx="2317640" cy="230903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fade">
                                      <p:cBhvr>
                                        <p:cTn id="7"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引子</a:t>
            </a:r>
            <a:endParaRPr lang="zh-CN" altLang="en-US" dirty="0">
              <a:latin typeface="黑体" panose="02010609060101010101" pitchFamily="49" charset="-122"/>
              <a:ea typeface="黑体" panose="02010609060101010101" pitchFamily="49" charset="-122"/>
            </a:endParaRPr>
          </a:p>
        </p:txBody>
      </p:sp>
      <p:sp>
        <p:nvSpPr>
          <p:cNvPr id="4" name="内容占位符 3"/>
          <p:cNvSpPr>
            <a:spLocks noGrp="1"/>
          </p:cNvSpPr>
          <p:nvPr>
            <p:ph idx="1"/>
          </p:nvPr>
        </p:nvSpPr>
        <p:spPr>
          <a:xfrm>
            <a:off x="232244" y="1114824"/>
            <a:ext cx="8616950" cy="451134"/>
          </a:xfrm>
        </p:spPr>
        <p:txBody>
          <a:bodyPr/>
          <a:lstStyle/>
          <a:p>
            <a:pPr marL="0" indent="0">
              <a:buNone/>
            </a:pPr>
            <a:r>
              <a:rPr lang="en-US" altLang="zh-CN" b="1" dirty="0">
                <a:latin typeface="黑体" panose="02010609060101010101" pitchFamily="49" charset="-122"/>
                <a:ea typeface="黑体" panose="02010609060101010101" pitchFamily="49" charset="-122"/>
              </a:rPr>
              <a:t>-Q:</a:t>
            </a:r>
            <a:r>
              <a:rPr lang="zh-CN" altLang="en-US" b="1" dirty="0">
                <a:latin typeface="黑体" panose="02010609060101010101" pitchFamily="49" charset="-122"/>
                <a:ea typeface="黑体" panose="02010609060101010101" pitchFamily="49" charset="-122"/>
              </a:rPr>
              <a:t>将训练样本分开的超平面可能有很多</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哪一个好呢</a:t>
            </a:r>
            <a:r>
              <a:rPr lang="en-US" altLang="zh-CN" b="1" dirty="0">
                <a:latin typeface="黑体" panose="02010609060101010101" pitchFamily="49" charset="-122"/>
                <a:ea typeface="黑体" panose="02010609060101010101" pitchFamily="49" charset="-122"/>
              </a:rPr>
              <a:t>? </a:t>
            </a:r>
            <a:endParaRPr lang="en-US" altLang="zh-CN" b="1" dirty="0">
              <a:latin typeface="黑体" panose="02010609060101010101" pitchFamily="49" charset="-122"/>
              <a:ea typeface="黑体" panose="02010609060101010101" pitchFamily="49" charset="-122"/>
            </a:endParaRPr>
          </a:p>
        </p:txBody>
      </p:sp>
      <p:cxnSp>
        <p:nvCxnSpPr>
          <p:cNvPr id="76" name="直接箭头连接符 75"/>
          <p:cNvCxnSpPr/>
          <p:nvPr/>
        </p:nvCxnSpPr>
        <p:spPr>
          <a:xfrm flipH="1" flipV="1">
            <a:off x="2921247" y="1916808"/>
            <a:ext cx="0" cy="3037427"/>
          </a:xfrm>
          <a:prstGeom prst="straightConnector1">
            <a:avLst/>
          </a:prstGeom>
          <a:ln w="19050">
            <a:headEnd type="none" w="med" len="lg"/>
            <a:tailEnd type="triangle" w="lg" len="lg"/>
          </a:ln>
        </p:spPr>
        <p:style>
          <a:lnRef idx="1">
            <a:schemeClr val="dk1"/>
          </a:lnRef>
          <a:fillRef idx="0">
            <a:schemeClr val="dk1"/>
          </a:fillRef>
          <a:effectRef idx="0">
            <a:schemeClr val="dk1"/>
          </a:effectRef>
          <a:fontRef idx="minor">
            <a:schemeClr val="tx1"/>
          </a:fontRef>
        </p:style>
      </p:cxnSp>
      <p:cxnSp>
        <p:nvCxnSpPr>
          <p:cNvPr id="77" name="直接箭头连接符 76"/>
          <p:cNvCxnSpPr/>
          <p:nvPr/>
        </p:nvCxnSpPr>
        <p:spPr>
          <a:xfrm>
            <a:off x="2911529" y="4954308"/>
            <a:ext cx="3585255" cy="0"/>
          </a:xfrm>
          <a:prstGeom prst="straightConnector1">
            <a:avLst/>
          </a:prstGeom>
          <a:ln w="19050">
            <a:headEnd type="none" w="med" len="lg"/>
            <a:tailEnd type="triangle" w="lg" len="lg"/>
          </a:ln>
        </p:spPr>
        <p:style>
          <a:lnRef idx="1">
            <a:schemeClr val="dk1"/>
          </a:lnRef>
          <a:fillRef idx="0">
            <a:schemeClr val="dk1"/>
          </a:fillRef>
          <a:effectRef idx="0">
            <a:schemeClr val="dk1"/>
          </a:effectRef>
          <a:fontRef idx="minor">
            <a:schemeClr val="tx1"/>
          </a:fontRef>
        </p:style>
      </p:cxnSp>
      <p:sp>
        <p:nvSpPr>
          <p:cNvPr id="78" name="文本框 77"/>
          <p:cNvSpPr txBox="1"/>
          <p:nvPr/>
        </p:nvSpPr>
        <p:spPr>
          <a:xfrm>
            <a:off x="2695869" y="4856041"/>
            <a:ext cx="325369" cy="370972"/>
          </a:xfrm>
          <a:prstGeom prst="rect">
            <a:avLst/>
          </a:prstGeom>
          <a:noFill/>
        </p:spPr>
        <p:txBody>
          <a:bodyPr wrap="none" rtlCol="0">
            <a:spAutoFit/>
          </a:bodyPr>
          <a:lstStyle/>
          <a:p>
            <a:r>
              <a:rPr lang="en-US" altLang="zh-CN" sz="1400" dirty="0">
                <a:latin typeface="Times "/>
              </a:rPr>
              <a:t>0</a:t>
            </a:r>
            <a:endParaRPr lang="zh-CN" altLang="en-US" sz="1400" dirty="0">
              <a:latin typeface="Times "/>
            </a:endParaRPr>
          </a:p>
        </p:txBody>
      </p:sp>
      <p:grpSp>
        <p:nvGrpSpPr>
          <p:cNvPr id="79" name="组合 78"/>
          <p:cNvGrpSpPr/>
          <p:nvPr/>
        </p:nvGrpSpPr>
        <p:grpSpPr>
          <a:xfrm>
            <a:off x="4229034" y="2634377"/>
            <a:ext cx="128045" cy="130175"/>
            <a:chOff x="5476803" y="2392530"/>
            <a:chExt cx="108000" cy="108000"/>
          </a:xfrm>
        </p:grpSpPr>
        <p:cxnSp>
          <p:nvCxnSpPr>
            <p:cNvPr id="133" name="直接连接符 132"/>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34" name="直接连接符 133"/>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80" name="组合 79"/>
          <p:cNvGrpSpPr/>
          <p:nvPr/>
        </p:nvGrpSpPr>
        <p:grpSpPr>
          <a:xfrm>
            <a:off x="4078700" y="3417659"/>
            <a:ext cx="128045" cy="130175"/>
            <a:chOff x="5476803" y="2392530"/>
            <a:chExt cx="108000" cy="108000"/>
          </a:xfrm>
        </p:grpSpPr>
        <p:cxnSp>
          <p:nvCxnSpPr>
            <p:cNvPr id="131" name="直接连接符 130"/>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32" name="直接连接符 131"/>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81" name="组合 80"/>
          <p:cNvGrpSpPr/>
          <p:nvPr/>
        </p:nvGrpSpPr>
        <p:grpSpPr>
          <a:xfrm>
            <a:off x="3871725" y="3227333"/>
            <a:ext cx="128045" cy="130175"/>
            <a:chOff x="5476803" y="2392530"/>
            <a:chExt cx="108000" cy="108000"/>
          </a:xfrm>
        </p:grpSpPr>
        <p:cxnSp>
          <p:nvCxnSpPr>
            <p:cNvPr id="129" name="直接连接符 128"/>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30" name="直接连接符 129"/>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82" name="组合 81"/>
          <p:cNvGrpSpPr/>
          <p:nvPr/>
        </p:nvGrpSpPr>
        <p:grpSpPr>
          <a:xfrm>
            <a:off x="3443810" y="3500276"/>
            <a:ext cx="128045" cy="130175"/>
            <a:chOff x="5476803" y="2392530"/>
            <a:chExt cx="108000" cy="108000"/>
          </a:xfrm>
        </p:grpSpPr>
        <p:cxnSp>
          <p:nvCxnSpPr>
            <p:cNvPr id="127" name="直接连接符 126"/>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28" name="直接连接符 127"/>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83" name="组合 82"/>
          <p:cNvGrpSpPr/>
          <p:nvPr/>
        </p:nvGrpSpPr>
        <p:grpSpPr>
          <a:xfrm>
            <a:off x="3656059" y="3713009"/>
            <a:ext cx="128045" cy="130175"/>
            <a:chOff x="5476803" y="2392530"/>
            <a:chExt cx="108000" cy="108000"/>
          </a:xfrm>
        </p:grpSpPr>
        <p:cxnSp>
          <p:nvCxnSpPr>
            <p:cNvPr id="125" name="直接连接符 124"/>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26" name="直接连接符 125"/>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84" name="组合 83"/>
          <p:cNvGrpSpPr/>
          <p:nvPr/>
        </p:nvGrpSpPr>
        <p:grpSpPr>
          <a:xfrm>
            <a:off x="4070846" y="3705925"/>
            <a:ext cx="128045" cy="130175"/>
            <a:chOff x="5476803" y="2392530"/>
            <a:chExt cx="108000" cy="108000"/>
          </a:xfrm>
        </p:grpSpPr>
        <p:cxnSp>
          <p:nvCxnSpPr>
            <p:cNvPr id="123" name="直接连接符 122"/>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24" name="直接连接符 123"/>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85" name="组合 84"/>
          <p:cNvGrpSpPr/>
          <p:nvPr/>
        </p:nvGrpSpPr>
        <p:grpSpPr>
          <a:xfrm>
            <a:off x="3554013" y="2684784"/>
            <a:ext cx="128045" cy="130175"/>
            <a:chOff x="5476803" y="2392530"/>
            <a:chExt cx="108000" cy="108000"/>
          </a:xfrm>
        </p:grpSpPr>
        <p:cxnSp>
          <p:nvCxnSpPr>
            <p:cNvPr id="121" name="直接连接符 120"/>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22" name="直接连接符 121"/>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cxnSp>
        <p:nvCxnSpPr>
          <p:cNvPr id="86" name="直接连接符 85"/>
          <p:cNvCxnSpPr/>
          <p:nvPr/>
        </p:nvCxnSpPr>
        <p:spPr>
          <a:xfrm>
            <a:off x="5480113" y="4017206"/>
            <a:ext cx="128045"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87" name="直接连接符 86"/>
          <p:cNvCxnSpPr/>
          <p:nvPr/>
        </p:nvCxnSpPr>
        <p:spPr>
          <a:xfrm>
            <a:off x="4872810" y="3878902"/>
            <a:ext cx="128045"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88" name="直接连接符 87"/>
          <p:cNvCxnSpPr/>
          <p:nvPr/>
        </p:nvCxnSpPr>
        <p:spPr>
          <a:xfrm>
            <a:off x="4725497" y="4547869"/>
            <a:ext cx="128045"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89" name="直接连接符 88"/>
          <p:cNvCxnSpPr/>
          <p:nvPr/>
        </p:nvCxnSpPr>
        <p:spPr>
          <a:xfrm>
            <a:off x="4326846" y="4424037"/>
            <a:ext cx="128045"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90" name="直接连接符 89"/>
          <p:cNvCxnSpPr/>
          <p:nvPr/>
        </p:nvCxnSpPr>
        <p:spPr>
          <a:xfrm>
            <a:off x="5282993" y="4374401"/>
            <a:ext cx="128045"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91" name="直接连接符 90"/>
          <p:cNvCxnSpPr/>
          <p:nvPr/>
        </p:nvCxnSpPr>
        <p:spPr>
          <a:xfrm>
            <a:off x="5337178" y="4217192"/>
            <a:ext cx="128045"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92" name="直接连接符 91"/>
          <p:cNvCxnSpPr/>
          <p:nvPr/>
        </p:nvCxnSpPr>
        <p:spPr>
          <a:xfrm>
            <a:off x="4652186" y="4285353"/>
            <a:ext cx="128045"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93" name="直接连接符 92"/>
          <p:cNvCxnSpPr/>
          <p:nvPr/>
        </p:nvCxnSpPr>
        <p:spPr>
          <a:xfrm>
            <a:off x="5544135" y="3778096"/>
            <a:ext cx="128045"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94" name="直接连接符 93"/>
          <p:cNvCxnSpPr/>
          <p:nvPr/>
        </p:nvCxnSpPr>
        <p:spPr>
          <a:xfrm>
            <a:off x="4936833" y="4217192"/>
            <a:ext cx="128045"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95" name="直接连接符 94"/>
          <p:cNvCxnSpPr/>
          <p:nvPr/>
        </p:nvCxnSpPr>
        <p:spPr>
          <a:xfrm flipH="1">
            <a:off x="3146627" y="2995155"/>
            <a:ext cx="3115757" cy="1271813"/>
          </a:xfrm>
          <a:prstGeom prst="line">
            <a:avLst/>
          </a:prstGeom>
          <a:ln w="9525"/>
        </p:spPr>
        <p:style>
          <a:lnRef idx="1">
            <a:schemeClr val="dk1"/>
          </a:lnRef>
          <a:fillRef idx="0">
            <a:schemeClr val="dk1"/>
          </a:fillRef>
          <a:effectRef idx="0">
            <a:schemeClr val="dk1"/>
          </a:effectRef>
          <a:fontRef idx="minor">
            <a:schemeClr val="tx1"/>
          </a:fontRef>
        </p:style>
      </p:cxnSp>
      <p:cxnSp>
        <p:nvCxnSpPr>
          <p:cNvPr id="96" name="直接连接符 95"/>
          <p:cNvCxnSpPr/>
          <p:nvPr/>
        </p:nvCxnSpPr>
        <p:spPr>
          <a:xfrm flipV="1">
            <a:off x="3635877" y="2411210"/>
            <a:ext cx="2317640" cy="230903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97" name="组合 96"/>
          <p:cNvGrpSpPr/>
          <p:nvPr/>
        </p:nvGrpSpPr>
        <p:grpSpPr>
          <a:xfrm>
            <a:off x="4744766" y="2492476"/>
            <a:ext cx="128045" cy="130175"/>
            <a:chOff x="5476803" y="2392530"/>
            <a:chExt cx="108000" cy="108000"/>
          </a:xfrm>
        </p:grpSpPr>
        <p:cxnSp>
          <p:nvCxnSpPr>
            <p:cNvPr id="119" name="直接连接符 118"/>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20" name="直接连接符 119"/>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98" name="组合 97"/>
          <p:cNvGrpSpPr/>
          <p:nvPr/>
        </p:nvGrpSpPr>
        <p:grpSpPr>
          <a:xfrm>
            <a:off x="4476697" y="2749872"/>
            <a:ext cx="128045" cy="130175"/>
            <a:chOff x="5476803" y="2392530"/>
            <a:chExt cx="108000" cy="108000"/>
          </a:xfrm>
        </p:grpSpPr>
        <p:cxnSp>
          <p:nvCxnSpPr>
            <p:cNvPr id="117" name="直接连接符 116"/>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18" name="直接连接符 117"/>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99" name="组合 98"/>
          <p:cNvGrpSpPr/>
          <p:nvPr/>
        </p:nvGrpSpPr>
        <p:grpSpPr>
          <a:xfrm>
            <a:off x="3343077" y="3887030"/>
            <a:ext cx="128045" cy="130175"/>
            <a:chOff x="5476803" y="2392530"/>
            <a:chExt cx="108000" cy="108000"/>
          </a:xfrm>
        </p:grpSpPr>
        <p:cxnSp>
          <p:nvCxnSpPr>
            <p:cNvPr id="115" name="直接连接符 114"/>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16" name="直接连接符 115"/>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100" name="组合 99"/>
          <p:cNvGrpSpPr/>
          <p:nvPr/>
        </p:nvGrpSpPr>
        <p:grpSpPr>
          <a:xfrm>
            <a:off x="3893531" y="2906559"/>
            <a:ext cx="128045" cy="130175"/>
            <a:chOff x="5476803" y="2392530"/>
            <a:chExt cx="108000" cy="108000"/>
          </a:xfrm>
        </p:grpSpPr>
        <p:cxnSp>
          <p:nvCxnSpPr>
            <p:cNvPr id="113" name="直接连接符 112"/>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14" name="直接连接符 113"/>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101" name="组合 100"/>
          <p:cNvGrpSpPr/>
          <p:nvPr/>
        </p:nvGrpSpPr>
        <p:grpSpPr>
          <a:xfrm>
            <a:off x="3465616" y="3179502"/>
            <a:ext cx="128045" cy="130175"/>
            <a:chOff x="5476803" y="2392530"/>
            <a:chExt cx="108000" cy="108000"/>
          </a:xfrm>
        </p:grpSpPr>
        <p:cxnSp>
          <p:nvCxnSpPr>
            <p:cNvPr id="111" name="直接连接符 110"/>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12" name="直接连接符 111"/>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cxnSp>
        <p:nvCxnSpPr>
          <p:cNvPr id="102" name="直接连接符 101"/>
          <p:cNvCxnSpPr/>
          <p:nvPr/>
        </p:nvCxnSpPr>
        <p:spPr>
          <a:xfrm>
            <a:off x="5077901" y="4527947"/>
            <a:ext cx="128045"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03" name="直接连接符 102"/>
          <p:cNvCxnSpPr/>
          <p:nvPr/>
        </p:nvCxnSpPr>
        <p:spPr>
          <a:xfrm>
            <a:off x="5205946" y="3952118"/>
            <a:ext cx="128045"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04" name="直接连接符 103"/>
          <p:cNvCxnSpPr/>
          <p:nvPr/>
        </p:nvCxnSpPr>
        <p:spPr>
          <a:xfrm>
            <a:off x="5337178" y="3565363"/>
            <a:ext cx="128045"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05" name="直接连接符 104"/>
          <p:cNvCxnSpPr/>
          <p:nvPr/>
        </p:nvCxnSpPr>
        <p:spPr>
          <a:xfrm>
            <a:off x="5761789" y="3289825"/>
            <a:ext cx="128045" cy="0"/>
          </a:xfrm>
          <a:prstGeom prst="line">
            <a:avLst/>
          </a:prstGeom>
          <a:ln w="19050"/>
        </p:spPr>
        <p:style>
          <a:lnRef idx="1">
            <a:schemeClr val="dk1"/>
          </a:lnRef>
          <a:fillRef idx="0">
            <a:schemeClr val="dk1"/>
          </a:fillRef>
          <a:effectRef idx="0">
            <a:schemeClr val="dk1"/>
          </a:effectRef>
          <a:fontRef idx="minor">
            <a:schemeClr val="tx1"/>
          </a:fontRef>
        </p:style>
      </p:cxnSp>
      <p:graphicFrame>
        <p:nvGraphicFramePr>
          <p:cNvPr id="106" name="对象 105"/>
          <p:cNvGraphicFramePr>
            <a:graphicFrameLocks noChangeAspect="1"/>
          </p:cNvGraphicFramePr>
          <p:nvPr/>
        </p:nvGraphicFramePr>
        <p:xfrm>
          <a:off x="5953517" y="5029948"/>
          <a:ext cx="263851" cy="260351"/>
        </p:xfrm>
        <a:graphic>
          <a:graphicData uri="http://schemas.openxmlformats.org/presentationml/2006/ole">
            <mc:AlternateContent xmlns:mc="http://schemas.openxmlformats.org/markup-compatibility/2006">
              <mc:Choice xmlns:v="urn:schemas-microsoft-com:vml" Requires="v">
                <p:oleObj spid="_x0000_s32" name="Formula" r:id="rId1" imgW="1028700" imgH="981075" progId="Equation.Ribbit">
                  <p:embed/>
                </p:oleObj>
              </mc:Choice>
              <mc:Fallback>
                <p:oleObj name="Formula" r:id="rId1" imgW="1028700" imgH="981075" progId="Equation.Ribbit">
                  <p:embed/>
                  <p:pic>
                    <p:nvPicPr>
                      <p:cNvPr id="0" name="对象 105"/>
                      <p:cNvPicPr/>
                      <p:nvPr/>
                    </p:nvPicPr>
                    <p:blipFill>
                      <a:blip r:embed="rId2"/>
                      <a:stretch>
                        <a:fillRect/>
                      </a:stretch>
                    </p:blipFill>
                    <p:spPr>
                      <a:xfrm>
                        <a:off x="5953517" y="5029948"/>
                        <a:ext cx="263851" cy="260351"/>
                      </a:xfrm>
                      <a:prstGeom prst="rect">
                        <a:avLst/>
                      </a:prstGeom>
                    </p:spPr>
                  </p:pic>
                </p:oleObj>
              </mc:Fallback>
            </mc:AlternateContent>
          </a:graphicData>
        </a:graphic>
      </p:graphicFrame>
      <p:graphicFrame>
        <p:nvGraphicFramePr>
          <p:cNvPr id="107" name="对象 106"/>
          <p:cNvGraphicFramePr>
            <a:graphicFrameLocks noChangeAspect="1"/>
          </p:cNvGraphicFramePr>
          <p:nvPr/>
        </p:nvGraphicFramePr>
        <p:xfrm>
          <a:off x="2524511" y="2158332"/>
          <a:ext cx="273161" cy="260351"/>
        </p:xfrm>
        <a:graphic>
          <a:graphicData uri="http://schemas.openxmlformats.org/presentationml/2006/ole">
            <mc:AlternateContent xmlns:mc="http://schemas.openxmlformats.org/markup-compatibility/2006">
              <mc:Choice xmlns:v="urn:schemas-microsoft-com:vml" Requires="v">
                <p:oleObj spid="_x0000_s2" name="Formula" r:id="rId3" imgW="1057275" imgH="981075" progId="Equation.Ribbit">
                  <p:embed/>
                </p:oleObj>
              </mc:Choice>
              <mc:Fallback>
                <p:oleObj name="Formula" r:id="rId3" imgW="1057275" imgH="981075" progId="Equation.Ribbit">
                  <p:embed/>
                  <p:pic>
                    <p:nvPicPr>
                      <p:cNvPr id="0" name="对象 106"/>
                      <p:cNvPicPr/>
                      <p:nvPr/>
                    </p:nvPicPr>
                    <p:blipFill>
                      <a:blip r:embed="rId4"/>
                      <a:stretch>
                        <a:fillRect/>
                      </a:stretch>
                    </p:blipFill>
                    <p:spPr>
                      <a:xfrm>
                        <a:off x="2524511" y="2158332"/>
                        <a:ext cx="273161" cy="260351"/>
                      </a:xfrm>
                      <a:prstGeom prst="rect">
                        <a:avLst/>
                      </a:prstGeom>
                    </p:spPr>
                  </p:pic>
                </p:oleObj>
              </mc:Fallback>
            </mc:AlternateContent>
          </a:graphicData>
        </a:graphic>
      </p:graphicFrame>
      <p:cxnSp>
        <p:nvCxnSpPr>
          <p:cNvPr id="108" name="直接连接符 107"/>
          <p:cNvCxnSpPr/>
          <p:nvPr/>
        </p:nvCxnSpPr>
        <p:spPr>
          <a:xfrm flipH="1">
            <a:off x="4021576" y="2158332"/>
            <a:ext cx="1120348" cy="2603678"/>
          </a:xfrm>
          <a:prstGeom prst="line">
            <a:avLst/>
          </a:prstGeom>
          <a:ln w="9525"/>
        </p:spPr>
        <p:style>
          <a:lnRef idx="1">
            <a:schemeClr val="dk1"/>
          </a:lnRef>
          <a:fillRef idx="0">
            <a:schemeClr val="dk1"/>
          </a:fillRef>
          <a:effectRef idx="0">
            <a:schemeClr val="dk1"/>
          </a:effectRef>
          <a:fontRef idx="minor">
            <a:schemeClr val="tx1"/>
          </a:fontRef>
        </p:style>
      </p:cxnSp>
      <p:cxnSp>
        <p:nvCxnSpPr>
          <p:cNvPr id="109" name="直接连接符 108"/>
          <p:cNvCxnSpPr/>
          <p:nvPr/>
        </p:nvCxnSpPr>
        <p:spPr>
          <a:xfrm flipH="1">
            <a:off x="3784199" y="2524844"/>
            <a:ext cx="2304807" cy="2299766"/>
          </a:xfrm>
          <a:prstGeom prst="line">
            <a:avLst/>
          </a:prstGeom>
          <a:ln w="9525"/>
        </p:spPr>
        <p:style>
          <a:lnRef idx="1">
            <a:schemeClr val="dk1"/>
          </a:lnRef>
          <a:fillRef idx="0">
            <a:schemeClr val="dk1"/>
          </a:fillRef>
          <a:effectRef idx="0">
            <a:schemeClr val="dk1"/>
          </a:effectRef>
          <a:fontRef idx="minor">
            <a:schemeClr val="tx1"/>
          </a:fontRef>
        </p:style>
      </p:cxnSp>
      <p:cxnSp>
        <p:nvCxnSpPr>
          <p:cNvPr id="110" name="直接连接符 109"/>
          <p:cNvCxnSpPr/>
          <p:nvPr/>
        </p:nvCxnSpPr>
        <p:spPr>
          <a:xfrm flipH="1">
            <a:off x="3377611" y="2298904"/>
            <a:ext cx="2408275" cy="2290645"/>
          </a:xfrm>
          <a:prstGeom prst="line">
            <a:avLst/>
          </a:prstGeom>
          <a:ln w="9525"/>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8"/>
                                        </p:tgtEl>
                                        <p:attrNameLst>
                                          <p:attrName>style.visibility</p:attrName>
                                        </p:attrNameLst>
                                      </p:cBhvr>
                                      <p:to>
                                        <p:strVal val="visible"/>
                                      </p:to>
                                    </p:set>
                                    <p:animEffect transition="in" filter="fade">
                                      <p:cBhvr>
                                        <p:cTn id="7" dur="500"/>
                                        <p:tgtEl>
                                          <p:spTgt spid="10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5"/>
                                        </p:tgtEl>
                                        <p:attrNameLst>
                                          <p:attrName>style.visibility</p:attrName>
                                        </p:attrNameLst>
                                      </p:cBhvr>
                                      <p:to>
                                        <p:strVal val="visible"/>
                                      </p:to>
                                    </p:set>
                                    <p:animEffect transition="in" filter="fade">
                                      <p:cBhvr>
                                        <p:cTn id="12" dur="500"/>
                                        <p:tgtEl>
                                          <p:spTgt spid="9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0"/>
                                        </p:tgtEl>
                                        <p:attrNameLst>
                                          <p:attrName>style.visibility</p:attrName>
                                        </p:attrNameLst>
                                      </p:cBhvr>
                                      <p:to>
                                        <p:strVal val="visible"/>
                                      </p:to>
                                    </p:set>
                                    <p:animEffect transition="in" filter="fade">
                                      <p:cBhvr>
                                        <p:cTn id="17" dur="500"/>
                                        <p:tgtEl>
                                          <p:spTgt spid="1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9"/>
                                        </p:tgtEl>
                                        <p:attrNameLst>
                                          <p:attrName>style.visibility</p:attrName>
                                        </p:attrNameLst>
                                      </p:cBhvr>
                                      <p:to>
                                        <p:strVal val="visible"/>
                                      </p:to>
                                    </p:set>
                                    <p:animEffect transition="in" filter="fade">
                                      <p:cBhvr>
                                        <p:cTn id="22" dur="500"/>
                                        <p:tgtEl>
                                          <p:spTgt spid="10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6"/>
                                        </p:tgtEl>
                                        <p:attrNameLst>
                                          <p:attrName>style.visibility</p:attrName>
                                        </p:attrNameLst>
                                      </p:cBhvr>
                                      <p:to>
                                        <p:strVal val="visible"/>
                                      </p:to>
                                    </p:set>
                                    <p:animEffect transition="in" filter="fade">
                                      <p:cBhvr>
                                        <p:cTn id="27" dur="500"/>
                                        <p:tgtEl>
                                          <p:spTgt spid="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引子</a:t>
            </a:r>
            <a:endParaRPr lang="zh-CN" altLang="en-US" dirty="0">
              <a:latin typeface="黑体" panose="02010609060101010101" pitchFamily="49" charset="-122"/>
              <a:ea typeface="黑体" panose="02010609060101010101" pitchFamily="49" charset="-122"/>
            </a:endParaRPr>
          </a:p>
        </p:txBody>
      </p:sp>
      <p:sp>
        <p:nvSpPr>
          <p:cNvPr id="4" name="内容占位符 3"/>
          <p:cNvSpPr>
            <a:spLocks noGrp="1"/>
          </p:cNvSpPr>
          <p:nvPr>
            <p:ph idx="1"/>
          </p:nvPr>
        </p:nvSpPr>
        <p:spPr>
          <a:xfrm>
            <a:off x="232244" y="1114824"/>
            <a:ext cx="8616950" cy="451134"/>
          </a:xfrm>
        </p:spPr>
        <p:txBody>
          <a:bodyPr/>
          <a:lstStyle/>
          <a:p>
            <a:pPr marL="0" indent="0">
              <a:buNone/>
            </a:pPr>
            <a:r>
              <a:rPr lang="en-US" altLang="zh-CN" b="1" dirty="0">
                <a:latin typeface="黑体" panose="02010609060101010101" pitchFamily="49" charset="-122"/>
                <a:ea typeface="黑体" panose="02010609060101010101" pitchFamily="49" charset="-122"/>
              </a:rPr>
              <a:t>-Q:</a:t>
            </a:r>
            <a:r>
              <a:rPr lang="zh-CN" altLang="en-US" b="1" dirty="0">
                <a:latin typeface="黑体" panose="02010609060101010101" pitchFamily="49" charset="-122"/>
                <a:ea typeface="黑体" panose="02010609060101010101" pitchFamily="49" charset="-122"/>
              </a:rPr>
              <a:t>将训练样本分开的超平面可能有很多</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哪一个好呢</a:t>
            </a:r>
            <a:r>
              <a:rPr lang="en-US" altLang="zh-CN" b="1" dirty="0">
                <a:latin typeface="黑体" panose="02010609060101010101" pitchFamily="49" charset="-122"/>
                <a:ea typeface="黑体" panose="02010609060101010101" pitchFamily="49" charset="-122"/>
              </a:rPr>
              <a:t>? </a:t>
            </a:r>
            <a:endParaRPr lang="en-US" altLang="zh-CN" b="1" dirty="0">
              <a:latin typeface="黑体" panose="02010609060101010101" pitchFamily="49" charset="-122"/>
              <a:ea typeface="黑体" panose="02010609060101010101" pitchFamily="49" charset="-122"/>
            </a:endParaRPr>
          </a:p>
        </p:txBody>
      </p:sp>
      <p:sp>
        <p:nvSpPr>
          <p:cNvPr id="69" name="内容占位符 3"/>
          <p:cNvSpPr txBox="1"/>
          <p:nvPr/>
        </p:nvSpPr>
        <p:spPr>
          <a:xfrm>
            <a:off x="202173" y="5511979"/>
            <a:ext cx="8616950" cy="516734"/>
          </a:xfrm>
          <a:prstGeom prst="rect">
            <a:avLst/>
          </a:prstGeom>
        </p:spPr>
        <p:txBody>
          <a:bodyPr vert="horz" lIns="91440" tIns="46800" rIns="91440" bIns="45720" rtlCol="0">
            <a:normAutofit/>
          </a:bodyPr>
          <a:lstStyle>
            <a:lvl1pPr marL="228600" indent="-360045" algn="l" defTabSz="914400" rtl="0" eaLnBrk="1" latinLnBrk="0" hangingPunct="1">
              <a:lnSpc>
                <a:spcPct val="90000"/>
              </a:lnSpc>
              <a:spcBef>
                <a:spcPts val="1000"/>
              </a:spcBef>
              <a:buClr>
                <a:schemeClr val="tx2"/>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rgbClr val="023A9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rgbClr val="023A9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rgbClr val="023A9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rgbClr val="023A9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b="1" dirty="0">
                <a:latin typeface="黑体" panose="02010609060101010101" pitchFamily="49" charset="-122"/>
                <a:ea typeface="黑体" panose="02010609060101010101" pitchFamily="49" charset="-122"/>
              </a:rPr>
              <a:t>-A:</a:t>
            </a:r>
            <a:r>
              <a:rPr lang="zh-CN" altLang="en-US" b="1" dirty="0">
                <a:latin typeface="黑体" panose="02010609060101010101" pitchFamily="49" charset="-122"/>
                <a:ea typeface="黑体" panose="02010609060101010101" pitchFamily="49" charset="-122"/>
              </a:rPr>
              <a:t>应选择</a:t>
            </a:r>
            <a:r>
              <a:rPr lang="en-US" altLang="zh-CN" b="1" dirty="0">
                <a:latin typeface="黑体" panose="02010609060101010101" pitchFamily="49" charset="-122"/>
                <a:ea typeface="黑体" panose="02010609060101010101" pitchFamily="49" charset="-122"/>
              </a:rPr>
              <a:t>”</a:t>
            </a:r>
            <a:r>
              <a:rPr lang="zh-CN" altLang="en-US" b="1" dirty="0">
                <a:solidFill>
                  <a:schemeClr val="tx2"/>
                </a:solidFill>
                <a:latin typeface="黑体" panose="02010609060101010101" pitchFamily="49" charset="-122"/>
                <a:ea typeface="黑体" panose="02010609060101010101" pitchFamily="49" charset="-122"/>
              </a:rPr>
              <a:t>正中间</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容忍性好</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鲁棒性高</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泛化能力最强</a:t>
            </a:r>
            <a:r>
              <a:rPr lang="en-US" altLang="zh-CN" b="1" dirty="0">
                <a:latin typeface="黑体" panose="02010609060101010101" pitchFamily="49" charset="-122"/>
                <a:ea typeface="黑体" panose="02010609060101010101" pitchFamily="49" charset="-122"/>
              </a:rPr>
              <a:t>.</a:t>
            </a:r>
            <a:endParaRPr lang="zh-CN" altLang="en-US" b="1" dirty="0">
              <a:latin typeface="黑体" panose="02010609060101010101" pitchFamily="49" charset="-122"/>
              <a:ea typeface="黑体" panose="02010609060101010101" pitchFamily="49" charset="-122"/>
            </a:endParaRPr>
          </a:p>
        </p:txBody>
      </p:sp>
      <p:cxnSp>
        <p:nvCxnSpPr>
          <p:cNvPr id="76" name="直接箭头连接符 75"/>
          <p:cNvCxnSpPr/>
          <p:nvPr/>
        </p:nvCxnSpPr>
        <p:spPr>
          <a:xfrm flipH="1" flipV="1">
            <a:off x="2921247" y="1916808"/>
            <a:ext cx="0" cy="3037427"/>
          </a:xfrm>
          <a:prstGeom prst="straightConnector1">
            <a:avLst/>
          </a:prstGeom>
          <a:ln w="19050">
            <a:headEnd type="none" w="med" len="lg"/>
            <a:tailEnd type="triangle" w="lg" len="lg"/>
          </a:ln>
        </p:spPr>
        <p:style>
          <a:lnRef idx="1">
            <a:schemeClr val="dk1"/>
          </a:lnRef>
          <a:fillRef idx="0">
            <a:schemeClr val="dk1"/>
          </a:fillRef>
          <a:effectRef idx="0">
            <a:schemeClr val="dk1"/>
          </a:effectRef>
          <a:fontRef idx="minor">
            <a:schemeClr val="tx1"/>
          </a:fontRef>
        </p:style>
      </p:cxnSp>
      <p:cxnSp>
        <p:nvCxnSpPr>
          <p:cNvPr id="77" name="直接箭头连接符 76"/>
          <p:cNvCxnSpPr/>
          <p:nvPr/>
        </p:nvCxnSpPr>
        <p:spPr>
          <a:xfrm>
            <a:off x="2911529" y="4954308"/>
            <a:ext cx="3585255" cy="0"/>
          </a:xfrm>
          <a:prstGeom prst="straightConnector1">
            <a:avLst/>
          </a:prstGeom>
          <a:ln w="19050">
            <a:headEnd type="none" w="med" len="lg"/>
            <a:tailEnd type="triangle" w="lg" len="lg"/>
          </a:ln>
        </p:spPr>
        <p:style>
          <a:lnRef idx="1">
            <a:schemeClr val="dk1"/>
          </a:lnRef>
          <a:fillRef idx="0">
            <a:schemeClr val="dk1"/>
          </a:fillRef>
          <a:effectRef idx="0">
            <a:schemeClr val="dk1"/>
          </a:effectRef>
          <a:fontRef idx="minor">
            <a:schemeClr val="tx1"/>
          </a:fontRef>
        </p:style>
      </p:cxnSp>
      <p:sp>
        <p:nvSpPr>
          <p:cNvPr id="78" name="文本框 77"/>
          <p:cNvSpPr txBox="1"/>
          <p:nvPr/>
        </p:nvSpPr>
        <p:spPr>
          <a:xfrm>
            <a:off x="2695869" y="4856041"/>
            <a:ext cx="325369" cy="370972"/>
          </a:xfrm>
          <a:prstGeom prst="rect">
            <a:avLst/>
          </a:prstGeom>
          <a:noFill/>
        </p:spPr>
        <p:txBody>
          <a:bodyPr wrap="none" rtlCol="0">
            <a:spAutoFit/>
          </a:bodyPr>
          <a:lstStyle/>
          <a:p>
            <a:r>
              <a:rPr lang="en-US" altLang="zh-CN" sz="1400" dirty="0">
                <a:latin typeface="Times "/>
              </a:rPr>
              <a:t>0</a:t>
            </a:r>
            <a:endParaRPr lang="zh-CN" altLang="en-US" sz="1400" dirty="0">
              <a:latin typeface="Times "/>
            </a:endParaRPr>
          </a:p>
        </p:txBody>
      </p:sp>
      <p:grpSp>
        <p:nvGrpSpPr>
          <p:cNvPr id="79" name="组合 78"/>
          <p:cNvGrpSpPr/>
          <p:nvPr/>
        </p:nvGrpSpPr>
        <p:grpSpPr>
          <a:xfrm>
            <a:off x="4229034" y="2634377"/>
            <a:ext cx="128045" cy="130175"/>
            <a:chOff x="5476803" y="2392530"/>
            <a:chExt cx="108000" cy="108000"/>
          </a:xfrm>
        </p:grpSpPr>
        <p:cxnSp>
          <p:nvCxnSpPr>
            <p:cNvPr id="133" name="直接连接符 132"/>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34" name="直接连接符 133"/>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80" name="组合 79"/>
          <p:cNvGrpSpPr/>
          <p:nvPr/>
        </p:nvGrpSpPr>
        <p:grpSpPr>
          <a:xfrm>
            <a:off x="4078700" y="3417659"/>
            <a:ext cx="128045" cy="130175"/>
            <a:chOff x="5476803" y="2392530"/>
            <a:chExt cx="108000" cy="108000"/>
          </a:xfrm>
        </p:grpSpPr>
        <p:cxnSp>
          <p:nvCxnSpPr>
            <p:cNvPr id="131" name="直接连接符 130"/>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32" name="直接连接符 131"/>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81" name="组合 80"/>
          <p:cNvGrpSpPr/>
          <p:nvPr/>
        </p:nvGrpSpPr>
        <p:grpSpPr>
          <a:xfrm>
            <a:off x="3871725" y="3227333"/>
            <a:ext cx="128045" cy="130175"/>
            <a:chOff x="5476803" y="2392530"/>
            <a:chExt cx="108000" cy="108000"/>
          </a:xfrm>
        </p:grpSpPr>
        <p:cxnSp>
          <p:nvCxnSpPr>
            <p:cNvPr id="129" name="直接连接符 128"/>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30" name="直接连接符 129"/>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82" name="组合 81"/>
          <p:cNvGrpSpPr/>
          <p:nvPr/>
        </p:nvGrpSpPr>
        <p:grpSpPr>
          <a:xfrm>
            <a:off x="3443810" y="3500276"/>
            <a:ext cx="128045" cy="130175"/>
            <a:chOff x="5476803" y="2392530"/>
            <a:chExt cx="108000" cy="108000"/>
          </a:xfrm>
        </p:grpSpPr>
        <p:cxnSp>
          <p:nvCxnSpPr>
            <p:cNvPr id="127" name="直接连接符 126"/>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28" name="直接连接符 127"/>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83" name="组合 82"/>
          <p:cNvGrpSpPr/>
          <p:nvPr/>
        </p:nvGrpSpPr>
        <p:grpSpPr>
          <a:xfrm>
            <a:off x="3656059" y="3713009"/>
            <a:ext cx="128045" cy="130175"/>
            <a:chOff x="5476803" y="2392530"/>
            <a:chExt cx="108000" cy="108000"/>
          </a:xfrm>
        </p:grpSpPr>
        <p:cxnSp>
          <p:nvCxnSpPr>
            <p:cNvPr id="125" name="直接连接符 124"/>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26" name="直接连接符 125"/>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84" name="组合 83"/>
          <p:cNvGrpSpPr/>
          <p:nvPr/>
        </p:nvGrpSpPr>
        <p:grpSpPr>
          <a:xfrm>
            <a:off x="4070846" y="3705925"/>
            <a:ext cx="128045" cy="130175"/>
            <a:chOff x="5476803" y="2392530"/>
            <a:chExt cx="108000" cy="108000"/>
          </a:xfrm>
        </p:grpSpPr>
        <p:cxnSp>
          <p:nvCxnSpPr>
            <p:cNvPr id="123" name="直接连接符 122"/>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24" name="直接连接符 123"/>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85" name="组合 84"/>
          <p:cNvGrpSpPr/>
          <p:nvPr/>
        </p:nvGrpSpPr>
        <p:grpSpPr>
          <a:xfrm>
            <a:off x="3554013" y="2684784"/>
            <a:ext cx="128045" cy="130175"/>
            <a:chOff x="5476803" y="2392530"/>
            <a:chExt cx="108000" cy="108000"/>
          </a:xfrm>
        </p:grpSpPr>
        <p:cxnSp>
          <p:nvCxnSpPr>
            <p:cNvPr id="121" name="直接连接符 120"/>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22" name="直接连接符 121"/>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cxnSp>
        <p:nvCxnSpPr>
          <p:cNvPr id="86" name="直接连接符 85"/>
          <p:cNvCxnSpPr/>
          <p:nvPr/>
        </p:nvCxnSpPr>
        <p:spPr>
          <a:xfrm>
            <a:off x="5480113" y="4017206"/>
            <a:ext cx="128045"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87" name="直接连接符 86"/>
          <p:cNvCxnSpPr/>
          <p:nvPr/>
        </p:nvCxnSpPr>
        <p:spPr>
          <a:xfrm>
            <a:off x="4872810" y="3878902"/>
            <a:ext cx="128045"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88" name="直接连接符 87"/>
          <p:cNvCxnSpPr/>
          <p:nvPr/>
        </p:nvCxnSpPr>
        <p:spPr>
          <a:xfrm>
            <a:off x="4725497" y="4547869"/>
            <a:ext cx="128045"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89" name="直接连接符 88"/>
          <p:cNvCxnSpPr/>
          <p:nvPr/>
        </p:nvCxnSpPr>
        <p:spPr>
          <a:xfrm>
            <a:off x="4326846" y="4424037"/>
            <a:ext cx="128045"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90" name="直接连接符 89"/>
          <p:cNvCxnSpPr/>
          <p:nvPr/>
        </p:nvCxnSpPr>
        <p:spPr>
          <a:xfrm>
            <a:off x="5282993" y="4374401"/>
            <a:ext cx="128045"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91" name="直接连接符 90"/>
          <p:cNvCxnSpPr/>
          <p:nvPr/>
        </p:nvCxnSpPr>
        <p:spPr>
          <a:xfrm>
            <a:off x="5337178" y="4217192"/>
            <a:ext cx="128045"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92" name="直接连接符 91"/>
          <p:cNvCxnSpPr/>
          <p:nvPr/>
        </p:nvCxnSpPr>
        <p:spPr>
          <a:xfrm>
            <a:off x="4652186" y="4285353"/>
            <a:ext cx="128045"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93" name="直接连接符 92"/>
          <p:cNvCxnSpPr/>
          <p:nvPr/>
        </p:nvCxnSpPr>
        <p:spPr>
          <a:xfrm>
            <a:off x="5544135" y="3778096"/>
            <a:ext cx="128045"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94" name="直接连接符 93"/>
          <p:cNvCxnSpPr/>
          <p:nvPr/>
        </p:nvCxnSpPr>
        <p:spPr>
          <a:xfrm>
            <a:off x="4936833" y="4217192"/>
            <a:ext cx="128045"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95" name="直接连接符 94"/>
          <p:cNvCxnSpPr/>
          <p:nvPr/>
        </p:nvCxnSpPr>
        <p:spPr>
          <a:xfrm flipH="1">
            <a:off x="3146627" y="2995155"/>
            <a:ext cx="3115757" cy="1271813"/>
          </a:xfrm>
          <a:prstGeom prst="line">
            <a:avLst/>
          </a:prstGeom>
          <a:ln w="9525"/>
        </p:spPr>
        <p:style>
          <a:lnRef idx="1">
            <a:schemeClr val="dk1"/>
          </a:lnRef>
          <a:fillRef idx="0">
            <a:schemeClr val="dk1"/>
          </a:fillRef>
          <a:effectRef idx="0">
            <a:schemeClr val="dk1"/>
          </a:effectRef>
          <a:fontRef idx="minor">
            <a:schemeClr val="tx1"/>
          </a:fontRef>
        </p:style>
      </p:cxnSp>
      <p:cxnSp>
        <p:nvCxnSpPr>
          <p:cNvPr id="96" name="直接连接符 95"/>
          <p:cNvCxnSpPr/>
          <p:nvPr/>
        </p:nvCxnSpPr>
        <p:spPr>
          <a:xfrm flipV="1">
            <a:off x="3635877" y="2411210"/>
            <a:ext cx="2317640" cy="230903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97" name="组合 96"/>
          <p:cNvGrpSpPr/>
          <p:nvPr/>
        </p:nvGrpSpPr>
        <p:grpSpPr>
          <a:xfrm>
            <a:off x="4744766" y="2492476"/>
            <a:ext cx="128045" cy="130175"/>
            <a:chOff x="5476803" y="2392530"/>
            <a:chExt cx="108000" cy="108000"/>
          </a:xfrm>
        </p:grpSpPr>
        <p:cxnSp>
          <p:nvCxnSpPr>
            <p:cNvPr id="119" name="直接连接符 118"/>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20" name="直接连接符 119"/>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98" name="组合 97"/>
          <p:cNvGrpSpPr/>
          <p:nvPr/>
        </p:nvGrpSpPr>
        <p:grpSpPr>
          <a:xfrm>
            <a:off x="4476697" y="2749872"/>
            <a:ext cx="128045" cy="130175"/>
            <a:chOff x="5476803" y="2392530"/>
            <a:chExt cx="108000" cy="108000"/>
          </a:xfrm>
        </p:grpSpPr>
        <p:cxnSp>
          <p:nvCxnSpPr>
            <p:cNvPr id="117" name="直接连接符 116"/>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18" name="直接连接符 117"/>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99" name="组合 98"/>
          <p:cNvGrpSpPr/>
          <p:nvPr/>
        </p:nvGrpSpPr>
        <p:grpSpPr>
          <a:xfrm>
            <a:off x="3343077" y="3887030"/>
            <a:ext cx="128045" cy="130175"/>
            <a:chOff x="5476803" y="2392530"/>
            <a:chExt cx="108000" cy="108000"/>
          </a:xfrm>
        </p:grpSpPr>
        <p:cxnSp>
          <p:nvCxnSpPr>
            <p:cNvPr id="115" name="直接连接符 114"/>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16" name="直接连接符 115"/>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100" name="组合 99"/>
          <p:cNvGrpSpPr/>
          <p:nvPr/>
        </p:nvGrpSpPr>
        <p:grpSpPr>
          <a:xfrm>
            <a:off x="3893531" y="2906559"/>
            <a:ext cx="128045" cy="130175"/>
            <a:chOff x="5476803" y="2392530"/>
            <a:chExt cx="108000" cy="108000"/>
          </a:xfrm>
        </p:grpSpPr>
        <p:cxnSp>
          <p:nvCxnSpPr>
            <p:cNvPr id="113" name="直接连接符 112"/>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14" name="直接连接符 113"/>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101" name="组合 100"/>
          <p:cNvGrpSpPr/>
          <p:nvPr/>
        </p:nvGrpSpPr>
        <p:grpSpPr>
          <a:xfrm>
            <a:off x="3465616" y="3179502"/>
            <a:ext cx="128045" cy="130175"/>
            <a:chOff x="5476803" y="2392530"/>
            <a:chExt cx="108000" cy="108000"/>
          </a:xfrm>
        </p:grpSpPr>
        <p:cxnSp>
          <p:nvCxnSpPr>
            <p:cNvPr id="111" name="直接连接符 110"/>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12" name="直接连接符 111"/>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cxnSp>
        <p:nvCxnSpPr>
          <p:cNvPr id="102" name="直接连接符 101"/>
          <p:cNvCxnSpPr/>
          <p:nvPr/>
        </p:nvCxnSpPr>
        <p:spPr>
          <a:xfrm>
            <a:off x="5077901" y="4527947"/>
            <a:ext cx="128045"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03" name="直接连接符 102"/>
          <p:cNvCxnSpPr/>
          <p:nvPr/>
        </p:nvCxnSpPr>
        <p:spPr>
          <a:xfrm>
            <a:off x="5205946" y="3952118"/>
            <a:ext cx="128045"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04" name="直接连接符 103"/>
          <p:cNvCxnSpPr/>
          <p:nvPr/>
        </p:nvCxnSpPr>
        <p:spPr>
          <a:xfrm>
            <a:off x="5337178" y="3565363"/>
            <a:ext cx="128045"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05" name="直接连接符 104"/>
          <p:cNvCxnSpPr/>
          <p:nvPr/>
        </p:nvCxnSpPr>
        <p:spPr>
          <a:xfrm>
            <a:off x="5761789" y="3289825"/>
            <a:ext cx="128045" cy="0"/>
          </a:xfrm>
          <a:prstGeom prst="line">
            <a:avLst/>
          </a:prstGeom>
          <a:ln w="19050"/>
        </p:spPr>
        <p:style>
          <a:lnRef idx="1">
            <a:schemeClr val="dk1"/>
          </a:lnRef>
          <a:fillRef idx="0">
            <a:schemeClr val="dk1"/>
          </a:fillRef>
          <a:effectRef idx="0">
            <a:schemeClr val="dk1"/>
          </a:effectRef>
          <a:fontRef idx="minor">
            <a:schemeClr val="tx1"/>
          </a:fontRef>
        </p:style>
      </p:cxnSp>
      <p:graphicFrame>
        <p:nvGraphicFramePr>
          <p:cNvPr id="106" name="对象 105"/>
          <p:cNvGraphicFramePr>
            <a:graphicFrameLocks noChangeAspect="1"/>
          </p:cNvGraphicFramePr>
          <p:nvPr/>
        </p:nvGraphicFramePr>
        <p:xfrm>
          <a:off x="5953517" y="5029948"/>
          <a:ext cx="263851" cy="260351"/>
        </p:xfrm>
        <a:graphic>
          <a:graphicData uri="http://schemas.openxmlformats.org/presentationml/2006/ole">
            <mc:AlternateContent xmlns:mc="http://schemas.openxmlformats.org/markup-compatibility/2006">
              <mc:Choice xmlns:v="urn:schemas-microsoft-com:vml" Requires="v">
                <p:oleObj spid="_x0000_s32" name="Formula" r:id="rId1" imgW="1028700" imgH="981075" progId="Equation.Ribbit">
                  <p:embed/>
                </p:oleObj>
              </mc:Choice>
              <mc:Fallback>
                <p:oleObj name="Formula" r:id="rId1" imgW="1028700" imgH="981075" progId="Equation.Ribbit">
                  <p:embed/>
                  <p:pic>
                    <p:nvPicPr>
                      <p:cNvPr id="0" name="对象 105"/>
                      <p:cNvPicPr/>
                      <p:nvPr/>
                    </p:nvPicPr>
                    <p:blipFill>
                      <a:blip r:embed="rId2"/>
                      <a:stretch>
                        <a:fillRect/>
                      </a:stretch>
                    </p:blipFill>
                    <p:spPr>
                      <a:xfrm>
                        <a:off x="5953517" y="5029948"/>
                        <a:ext cx="263851" cy="260351"/>
                      </a:xfrm>
                      <a:prstGeom prst="rect">
                        <a:avLst/>
                      </a:prstGeom>
                    </p:spPr>
                  </p:pic>
                </p:oleObj>
              </mc:Fallback>
            </mc:AlternateContent>
          </a:graphicData>
        </a:graphic>
      </p:graphicFrame>
      <p:graphicFrame>
        <p:nvGraphicFramePr>
          <p:cNvPr id="107" name="对象 106"/>
          <p:cNvGraphicFramePr>
            <a:graphicFrameLocks noChangeAspect="1"/>
          </p:cNvGraphicFramePr>
          <p:nvPr/>
        </p:nvGraphicFramePr>
        <p:xfrm>
          <a:off x="2524511" y="2158332"/>
          <a:ext cx="273161" cy="260351"/>
        </p:xfrm>
        <a:graphic>
          <a:graphicData uri="http://schemas.openxmlformats.org/presentationml/2006/ole">
            <mc:AlternateContent xmlns:mc="http://schemas.openxmlformats.org/markup-compatibility/2006">
              <mc:Choice xmlns:v="urn:schemas-microsoft-com:vml" Requires="v">
                <p:oleObj spid="_x0000_s2" name="Formula" r:id="rId3" imgW="1057275" imgH="981075" progId="Equation.Ribbit">
                  <p:embed/>
                </p:oleObj>
              </mc:Choice>
              <mc:Fallback>
                <p:oleObj name="Formula" r:id="rId3" imgW="1057275" imgH="981075" progId="Equation.Ribbit">
                  <p:embed/>
                  <p:pic>
                    <p:nvPicPr>
                      <p:cNvPr id="0" name="对象 106"/>
                      <p:cNvPicPr/>
                      <p:nvPr/>
                    </p:nvPicPr>
                    <p:blipFill>
                      <a:blip r:embed="rId4"/>
                      <a:stretch>
                        <a:fillRect/>
                      </a:stretch>
                    </p:blipFill>
                    <p:spPr>
                      <a:xfrm>
                        <a:off x="2524511" y="2158332"/>
                        <a:ext cx="273161" cy="260351"/>
                      </a:xfrm>
                      <a:prstGeom prst="rect">
                        <a:avLst/>
                      </a:prstGeom>
                    </p:spPr>
                  </p:pic>
                </p:oleObj>
              </mc:Fallback>
            </mc:AlternateContent>
          </a:graphicData>
        </a:graphic>
      </p:graphicFrame>
      <p:cxnSp>
        <p:nvCxnSpPr>
          <p:cNvPr id="108" name="直接连接符 107"/>
          <p:cNvCxnSpPr/>
          <p:nvPr/>
        </p:nvCxnSpPr>
        <p:spPr>
          <a:xfrm flipH="1">
            <a:off x="4021576" y="2158332"/>
            <a:ext cx="1120348" cy="2603678"/>
          </a:xfrm>
          <a:prstGeom prst="line">
            <a:avLst/>
          </a:prstGeom>
          <a:ln w="9525"/>
        </p:spPr>
        <p:style>
          <a:lnRef idx="1">
            <a:schemeClr val="dk1"/>
          </a:lnRef>
          <a:fillRef idx="0">
            <a:schemeClr val="dk1"/>
          </a:fillRef>
          <a:effectRef idx="0">
            <a:schemeClr val="dk1"/>
          </a:effectRef>
          <a:fontRef idx="minor">
            <a:schemeClr val="tx1"/>
          </a:fontRef>
        </p:style>
      </p:cxnSp>
      <p:cxnSp>
        <p:nvCxnSpPr>
          <p:cNvPr id="109" name="直接连接符 108"/>
          <p:cNvCxnSpPr/>
          <p:nvPr/>
        </p:nvCxnSpPr>
        <p:spPr>
          <a:xfrm flipH="1">
            <a:off x="3784199" y="2524844"/>
            <a:ext cx="2304807" cy="2299766"/>
          </a:xfrm>
          <a:prstGeom prst="line">
            <a:avLst/>
          </a:prstGeom>
          <a:ln w="9525"/>
        </p:spPr>
        <p:style>
          <a:lnRef idx="1">
            <a:schemeClr val="dk1"/>
          </a:lnRef>
          <a:fillRef idx="0">
            <a:schemeClr val="dk1"/>
          </a:fillRef>
          <a:effectRef idx="0">
            <a:schemeClr val="dk1"/>
          </a:effectRef>
          <a:fontRef idx="minor">
            <a:schemeClr val="tx1"/>
          </a:fontRef>
        </p:style>
      </p:cxnSp>
      <p:cxnSp>
        <p:nvCxnSpPr>
          <p:cNvPr id="110" name="直接连接符 109"/>
          <p:cNvCxnSpPr/>
          <p:nvPr/>
        </p:nvCxnSpPr>
        <p:spPr>
          <a:xfrm flipH="1">
            <a:off x="3377611" y="2298904"/>
            <a:ext cx="2408275" cy="2290645"/>
          </a:xfrm>
          <a:prstGeom prst="line">
            <a:avLst/>
          </a:prstGeom>
          <a:ln w="9525"/>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9"/>
                                        </p:tgtEl>
                                        <p:attrNameLst>
                                          <p:attrName>style.visibility</p:attrName>
                                        </p:attrNameLst>
                                      </p:cBhvr>
                                      <p:to>
                                        <p:strVal val="visible"/>
                                      </p:to>
                                    </p:set>
                                    <p:animEffect transition="in" filter="fade">
                                      <p:cBhvr>
                                        <p:cTn id="7" dur="5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40299" y="191600"/>
            <a:ext cx="7886700" cy="570310"/>
          </a:xfrm>
        </p:spPr>
        <p:txBody>
          <a:bodyPr vert="horz" lIns="91440" tIns="45720" rIns="91440" bIns="45720" rtlCol="0" anchor="ctr">
            <a:normAutofit fontScale="90000"/>
          </a:bodyPr>
          <a:lstStyle/>
          <a:p>
            <a:r>
              <a:rPr altLang="en-US" dirty="0" err="1">
                <a:latin typeface="黑体" panose="02010609060101010101" pitchFamily="49" charset="-122"/>
                <a:ea typeface="黑体" panose="02010609060101010101" pitchFamily="49" charset="-122"/>
              </a:rPr>
              <a:t>基本原理</a:t>
            </a:r>
            <a:endParaRPr altLang="zh-CN" dirty="0">
              <a:latin typeface="黑体" panose="02010609060101010101" pitchFamily="49" charset="-122"/>
              <a:ea typeface="黑体" panose="02010609060101010101" pitchFamily="49" charset="-122"/>
            </a:endParaRPr>
          </a:p>
        </p:txBody>
      </p:sp>
      <p:pic>
        <p:nvPicPr>
          <p:cNvPr id="18435" name="图片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692313" y="1386251"/>
            <a:ext cx="6309499" cy="4210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6" name="内容占位符 2"/>
          <p:cNvSpPr>
            <a:spLocks noGrp="1"/>
          </p:cNvSpPr>
          <p:nvPr>
            <p:ph idx="1"/>
          </p:nvPr>
        </p:nvSpPr>
        <p:spPr>
          <a:xfrm>
            <a:off x="359569" y="1808560"/>
            <a:ext cx="2184848" cy="3788569"/>
          </a:xfrm>
        </p:spPr>
        <p:txBody>
          <a:bodyPr>
            <a:normAutofit/>
          </a:bodyPr>
          <a:lstStyle/>
          <a:p>
            <a:pPr eaLnBrk="1" hangingPunct="1">
              <a:lnSpc>
                <a:spcPct val="150000"/>
              </a:lnSpc>
            </a:pPr>
            <a:r>
              <a:rPr altLang="en-US" sz="2000" b="1" dirty="0">
                <a:latin typeface="黑体" panose="02010609060101010101" pitchFamily="49" charset="-122"/>
                <a:ea typeface="黑体" panose="02010609060101010101" pitchFamily="49" charset="-122"/>
              </a:rPr>
              <a:t>某人高</a:t>
            </a:r>
            <a:r>
              <a:rPr lang="en-US" altLang="zh-CN" sz="2000" b="1" dirty="0">
                <a:latin typeface="黑体" panose="02010609060101010101" pitchFamily="49" charset="-122"/>
                <a:ea typeface="黑体" panose="02010609060101010101" pitchFamily="49" charset="-122"/>
              </a:rPr>
              <a:t>175</a:t>
            </a:r>
            <a:r>
              <a:rPr altLang="en-US" sz="2000" b="1" dirty="0">
                <a:latin typeface="黑体" panose="02010609060101010101" pitchFamily="49" charset="-122"/>
                <a:ea typeface="黑体" panose="02010609060101010101" pitchFamily="49" charset="-122"/>
              </a:rPr>
              <a:t>厘米，重</a:t>
            </a:r>
            <a:r>
              <a:rPr lang="en-US" altLang="zh-CN" sz="2000" b="1" dirty="0">
                <a:latin typeface="黑体" panose="02010609060101010101" pitchFamily="49" charset="-122"/>
                <a:ea typeface="黑体" panose="02010609060101010101" pitchFamily="49" charset="-122"/>
              </a:rPr>
              <a:t>80</a:t>
            </a:r>
            <a:r>
              <a:rPr altLang="en-US" sz="2000" b="1" dirty="0">
                <a:latin typeface="黑体" panose="02010609060101010101" pitchFamily="49" charset="-122"/>
                <a:ea typeface="黑体" panose="02010609060101010101" pitchFamily="49" charset="-122"/>
              </a:rPr>
              <a:t>公斤。</a:t>
            </a:r>
            <a:endParaRPr lang="en-US" altLang="zh-CN" sz="2000" b="1" dirty="0">
              <a:latin typeface="黑体" panose="02010609060101010101" pitchFamily="49" charset="-122"/>
              <a:ea typeface="黑体" panose="02010609060101010101" pitchFamily="49" charset="-122"/>
            </a:endParaRPr>
          </a:p>
          <a:p>
            <a:pPr eaLnBrk="1" hangingPunct="1">
              <a:lnSpc>
                <a:spcPct val="150000"/>
              </a:lnSpc>
            </a:pPr>
            <a:r>
              <a:rPr altLang="en-US" sz="2000" b="1" dirty="0">
                <a:latin typeface="黑体" panose="02010609060101010101" pitchFamily="49" charset="-122"/>
                <a:ea typeface="黑体" panose="02010609060101010101" pitchFamily="49" charset="-122"/>
              </a:rPr>
              <a:t>是男性还是女性呢？</a:t>
            </a:r>
            <a:br>
              <a:rPr altLang="en-US" sz="2000" b="1" dirty="0">
                <a:latin typeface="黑体" panose="02010609060101010101" pitchFamily="49" charset="-122"/>
                <a:ea typeface="黑体" panose="02010609060101010101" pitchFamily="49" charset="-122"/>
              </a:rPr>
            </a:br>
            <a:endParaRPr altLang="en-US" sz="2000" b="1" dirty="0">
              <a:latin typeface="黑体" panose="02010609060101010101" pitchFamily="49" charset="-122"/>
              <a:ea typeface="黑体" panose="02010609060101010101" pitchFamily="49" charset="-122"/>
            </a:endParaRPr>
          </a:p>
          <a:p>
            <a:pPr eaLnBrk="1" hangingPunct="1">
              <a:lnSpc>
                <a:spcPct val="150000"/>
              </a:lnSpc>
            </a:pPr>
            <a:endParaRPr altLang="en-US" sz="2000" b="1" dirty="0">
              <a:latin typeface="黑体" panose="02010609060101010101" pitchFamily="49" charset="-122"/>
              <a:ea typeface="黑体" panose="02010609060101010101" pitchFamily="49"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682" y="176572"/>
            <a:ext cx="7886700" cy="570310"/>
          </a:xfrm>
        </p:spPr>
        <p:txBody>
          <a:bodyPr vert="horz" lIns="91440" tIns="45720" rIns="91440" bIns="45720" rtlCol="0" anchor="ctr">
            <a:normAutofit fontScale="90000"/>
          </a:bodyPr>
          <a:lstStyle/>
          <a:p>
            <a:r>
              <a:rPr altLang="en-US" dirty="0" err="1">
                <a:latin typeface="黑体" panose="02010609060101010101" pitchFamily="49" charset="-122"/>
                <a:ea typeface="黑体" panose="02010609060101010101" pitchFamily="49" charset="-122"/>
              </a:rPr>
              <a:t>分离超平面</a:t>
            </a:r>
            <a:endParaRPr altLang="zh-CN" dirty="0">
              <a:latin typeface="黑体" panose="02010609060101010101" pitchFamily="49" charset="-122"/>
              <a:ea typeface="黑体" panose="02010609060101010101" pitchFamily="49" charset="-122"/>
            </a:endParaRPr>
          </a:p>
        </p:txBody>
      </p:sp>
      <p:sp>
        <p:nvSpPr>
          <p:cNvPr id="19459" name="内容占位符 2"/>
          <p:cNvSpPr>
            <a:spLocks noGrp="1"/>
          </p:cNvSpPr>
          <p:nvPr>
            <p:ph idx="1"/>
          </p:nvPr>
        </p:nvSpPr>
        <p:spPr>
          <a:xfrm>
            <a:off x="286682" y="1145952"/>
            <a:ext cx="2437664" cy="4704883"/>
          </a:xfrm>
        </p:spPr>
        <p:txBody>
          <a:bodyPr>
            <a:noAutofit/>
          </a:bodyPr>
          <a:lstStyle/>
          <a:p>
            <a:pPr eaLnBrk="1" hangingPunct="1">
              <a:lnSpc>
                <a:spcPct val="150000"/>
              </a:lnSpc>
            </a:pPr>
            <a:r>
              <a:rPr altLang="en-US" sz="2000" b="1" dirty="0">
                <a:latin typeface="黑体" panose="02010609060101010101" pitchFamily="49" charset="-122"/>
                <a:ea typeface="黑体" panose="02010609060101010101" pitchFamily="49" charset="-122"/>
              </a:rPr>
              <a:t>画一条线，使得所有的男性数据点在直线上方，所有的女性数据点在直线的下方。</a:t>
            </a:r>
            <a:endParaRPr lang="en-US" altLang="zh-CN" sz="2000" b="1" dirty="0">
              <a:latin typeface="黑体" panose="02010609060101010101" pitchFamily="49" charset="-122"/>
              <a:ea typeface="黑体" panose="02010609060101010101" pitchFamily="49" charset="-122"/>
            </a:endParaRPr>
          </a:p>
          <a:p>
            <a:pPr eaLnBrk="1" hangingPunct="1">
              <a:lnSpc>
                <a:spcPct val="150000"/>
              </a:lnSpc>
            </a:pPr>
            <a:r>
              <a:rPr altLang="en-US" sz="2000" b="1" dirty="0">
                <a:latin typeface="黑体" panose="02010609060101010101" pitchFamily="49" charset="-122"/>
                <a:ea typeface="黑体" panose="02010609060101010101" pitchFamily="49" charset="-122"/>
              </a:rPr>
              <a:t>在逻辑回归当中，这条直线叫做决策边界，在</a:t>
            </a:r>
            <a:r>
              <a:rPr lang="en-US" altLang="zh-CN" sz="2000" b="1" dirty="0">
                <a:latin typeface="黑体" panose="02010609060101010101" pitchFamily="49" charset="-122"/>
                <a:ea typeface="黑体" panose="02010609060101010101" pitchFamily="49" charset="-122"/>
              </a:rPr>
              <a:t>SVM</a:t>
            </a:r>
            <a:r>
              <a:rPr altLang="en-US" sz="2000" b="1" dirty="0">
                <a:latin typeface="黑体" panose="02010609060101010101" pitchFamily="49" charset="-122"/>
                <a:ea typeface="黑体" panose="02010609060101010101" pitchFamily="49" charset="-122"/>
              </a:rPr>
              <a:t>当中叫做</a:t>
            </a:r>
            <a:r>
              <a:rPr altLang="en-US" sz="2000" b="1" dirty="0">
                <a:solidFill>
                  <a:srgbClr val="FF0000"/>
                </a:solidFill>
                <a:latin typeface="黑体" panose="02010609060101010101" pitchFamily="49" charset="-122"/>
                <a:ea typeface="黑体" panose="02010609060101010101" pitchFamily="49" charset="-122"/>
              </a:rPr>
              <a:t>分离超平面</a:t>
            </a:r>
            <a:r>
              <a:rPr altLang="en-US" sz="2000" b="1" dirty="0">
                <a:latin typeface="黑体" panose="02010609060101010101" pitchFamily="49" charset="-122"/>
                <a:ea typeface="黑体" panose="02010609060101010101" pitchFamily="49" charset="-122"/>
              </a:rPr>
              <a:t>。</a:t>
            </a:r>
            <a:br>
              <a:rPr altLang="en-US" sz="2000" b="1" dirty="0">
                <a:latin typeface="黑体" panose="02010609060101010101" pitchFamily="49" charset="-122"/>
                <a:ea typeface="黑体" panose="02010609060101010101" pitchFamily="49" charset="-122"/>
              </a:rPr>
            </a:br>
            <a:endParaRPr altLang="en-US" sz="2000" b="1" dirty="0">
              <a:latin typeface="黑体" panose="02010609060101010101" pitchFamily="49" charset="-122"/>
              <a:ea typeface="黑体" panose="02010609060101010101" pitchFamily="49" charset="-122"/>
            </a:endParaRPr>
          </a:p>
          <a:p>
            <a:pPr eaLnBrk="1" hangingPunct="1">
              <a:lnSpc>
                <a:spcPct val="150000"/>
              </a:lnSpc>
            </a:pPr>
            <a:endParaRPr altLang="en-US" sz="2000" b="1" dirty="0">
              <a:latin typeface="黑体" panose="02010609060101010101" pitchFamily="49" charset="-122"/>
              <a:ea typeface="黑体" panose="02010609060101010101" pitchFamily="49" charset="-122"/>
            </a:endParaRPr>
          </a:p>
        </p:txBody>
      </p:sp>
      <p:pic>
        <p:nvPicPr>
          <p:cNvPr id="19460"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645932" y="1570123"/>
            <a:ext cx="6449802" cy="428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6718" y="262948"/>
            <a:ext cx="7886700" cy="570310"/>
          </a:xfrm>
        </p:spPr>
        <p:txBody>
          <a:bodyPr vert="horz" lIns="91440" tIns="45720" rIns="91440" bIns="45720" rtlCol="0" anchor="ctr">
            <a:normAutofit fontScale="90000"/>
          </a:bodyPr>
          <a:lstStyle/>
          <a:p>
            <a:r>
              <a:rPr altLang="en-US" dirty="0" err="1">
                <a:latin typeface="黑体" panose="02010609060101010101" pitchFamily="49" charset="-122"/>
                <a:ea typeface="黑体" panose="02010609060101010101" pitchFamily="49" charset="-122"/>
              </a:rPr>
              <a:t>最优分离超平面</a:t>
            </a:r>
            <a:endParaRPr altLang="zh-CN" dirty="0">
              <a:latin typeface="黑体" panose="02010609060101010101" pitchFamily="49" charset="-122"/>
              <a:ea typeface="黑体" panose="02010609060101010101" pitchFamily="49" charset="-122"/>
            </a:endParaRPr>
          </a:p>
        </p:txBody>
      </p:sp>
      <p:sp>
        <p:nvSpPr>
          <p:cNvPr id="20483" name="内容占位符 2"/>
          <p:cNvSpPr>
            <a:spLocks noGrp="1"/>
          </p:cNvSpPr>
          <p:nvPr>
            <p:ph idx="1"/>
          </p:nvPr>
        </p:nvSpPr>
        <p:spPr>
          <a:xfrm>
            <a:off x="196718" y="1629451"/>
            <a:ext cx="1705953" cy="3788569"/>
          </a:xfrm>
        </p:spPr>
        <p:txBody>
          <a:bodyPr>
            <a:normAutofit/>
          </a:bodyPr>
          <a:lstStyle/>
          <a:p>
            <a:pPr eaLnBrk="1" hangingPunct="1">
              <a:lnSpc>
                <a:spcPct val="150000"/>
              </a:lnSpc>
            </a:pPr>
            <a:r>
              <a:rPr altLang="en-US" sz="2000" b="1" dirty="0">
                <a:latin typeface="黑体" panose="02010609060101010101" pitchFamily="49" charset="-122"/>
                <a:ea typeface="黑体" panose="02010609060101010101" pitchFamily="49" charset="-122"/>
              </a:rPr>
              <a:t>几个分离超平面都是正确的，但是不是分类效果不同。</a:t>
            </a:r>
            <a:br>
              <a:rPr altLang="en-US" sz="2000" b="1" dirty="0">
                <a:latin typeface="黑体" panose="02010609060101010101" pitchFamily="49" charset="-122"/>
                <a:ea typeface="黑体" panose="02010609060101010101" pitchFamily="49" charset="-122"/>
              </a:rPr>
            </a:br>
            <a:endParaRPr altLang="en-US" sz="2000" b="1" dirty="0">
              <a:latin typeface="黑体" panose="02010609060101010101" pitchFamily="49" charset="-122"/>
              <a:ea typeface="黑体" panose="02010609060101010101" pitchFamily="49" charset="-122"/>
            </a:endParaRPr>
          </a:p>
          <a:p>
            <a:pPr eaLnBrk="1" hangingPunct="1">
              <a:lnSpc>
                <a:spcPct val="150000"/>
              </a:lnSpc>
            </a:pPr>
            <a:endParaRPr altLang="en-US" sz="2000" b="1" dirty="0">
              <a:latin typeface="黑体" panose="02010609060101010101" pitchFamily="49" charset="-122"/>
              <a:ea typeface="黑体" panose="02010609060101010101" pitchFamily="49" charset="-122"/>
            </a:endParaRPr>
          </a:p>
        </p:txBody>
      </p:sp>
      <p:pic>
        <p:nvPicPr>
          <p:cNvPr id="20484" name="图片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902671" y="1348462"/>
            <a:ext cx="7115849" cy="46017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63631" y="176844"/>
            <a:ext cx="7886700" cy="570310"/>
          </a:xfrm>
        </p:spPr>
        <p:txBody>
          <a:bodyPr vert="horz" lIns="91440" tIns="45720" rIns="91440" bIns="45720" rtlCol="0" anchor="ctr">
            <a:normAutofit fontScale="90000"/>
          </a:bodyPr>
          <a:lstStyle/>
          <a:p>
            <a:r>
              <a:rPr altLang="en-US" dirty="0" err="1">
                <a:latin typeface="黑体" panose="02010609060101010101" pitchFamily="49" charset="-122"/>
                <a:ea typeface="黑体" panose="02010609060101010101" pitchFamily="49" charset="-122"/>
              </a:rPr>
              <a:t>最优分离超平面</a:t>
            </a:r>
            <a:endParaRPr altLang="zh-CN" dirty="0">
              <a:latin typeface="黑体" panose="02010609060101010101" pitchFamily="49" charset="-122"/>
              <a:ea typeface="黑体" panose="02010609060101010101" pitchFamily="49" charset="-122"/>
            </a:endParaRPr>
          </a:p>
        </p:txBody>
      </p:sp>
      <p:sp>
        <p:nvSpPr>
          <p:cNvPr id="21507" name="内容占位符 2"/>
          <p:cNvSpPr>
            <a:spLocks noGrp="1"/>
          </p:cNvSpPr>
          <p:nvPr>
            <p:ph idx="1"/>
          </p:nvPr>
        </p:nvSpPr>
        <p:spPr>
          <a:xfrm>
            <a:off x="94810" y="1200927"/>
            <a:ext cx="2373278" cy="4793300"/>
          </a:xfrm>
        </p:spPr>
        <p:txBody>
          <a:bodyPr>
            <a:normAutofit fontScale="85000" lnSpcReduction="10000"/>
          </a:bodyPr>
          <a:lstStyle/>
          <a:p>
            <a:pPr eaLnBrk="1" hangingPunct="1">
              <a:lnSpc>
                <a:spcPct val="150000"/>
              </a:lnSpc>
            </a:pPr>
            <a:r>
              <a:rPr altLang="en-US" b="1" dirty="0">
                <a:latin typeface="黑体" panose="02010609060101010101" pitchFamily="49" charset="-122"/>
                <a:ea typeface="黑体" panose="02010609060101010101" pitchFamily="49" charset="-122"/>
              </a:rPr>
              <a:t>绿色的分离超平面在现实生活中的数据上进行分类</a:t>
            </a:r>
            <a:r>
              <a:rPr altLang="en-US" sz="1800"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有一些女性被分错。</a:t>
            </a:r>
            <a:endParaRPr lang="en-US" altLang="zh-CN" b="1" dirty="0">
              <a:latin typeface="黑体" panose="02010609060101010101" pitchFamily="49" charset="-122"/>
              <a:ea typeface="黑体" panose="02010609060101010101" pitchFamily="49" charset="-122"/>
            </a:endParaRPr>
          </a:p>
          <a:p>
            <a:pPr eaLnBrk="1" hangingPunct="1">
              <a:lnSpc>
                <a:spcPct val="150000"/>
              </a:lnSpc>
            </a:pPr>
            <a:r>
              <a:rPr lang="zh-CN" altLang="en-US" b="1" dirty="0">
                <a:latin typeface="黑体" panose="02010609060101010101" pitchFamily="49" charset="-122"/>
                <a:ea typeface="黑体" panose="02010609060101010101" pitchFamily="49" charset="-122"/>
              </a:rPr>
              <a:t>直观原因是这个分类超平面太接近女性</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红色样本点</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 ，对</a:t>
            </a:r>
            <a:r>
              <a:rPr lang="en-US" altLang="zh-CN" b="1" dirty="0">
                <a:latin typeface="黑体" panose="02010609060101010101" pitchFamily="49" charset="-122"/>
                <a:ea typeface="黑体" panose="02010609060101010101" pitchFamily="49" charset="-122"/>
              </a:rPr>
              <a:t>noise/</a:t>
            </a:r>
            <a:r>
              <a:rPr lang="zh-CN" altLang="en-US" b="1" dirty="0">
                <a:latin typeface="黑体" panose="02010609060101010101" pitchFamily="49" charset="-122"/>
                <a:ea typeface="黑体" panose="02010609060101010101" pitchFamily="49" charset="-122"/>
              </a:rPr>
              <a:t>异常点</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临近边界的点处理得并不好</a:t>
            </a:r>
            <a:r>
              <a:rPr altLang="en-US" sz="1800" b="1" dirty="0">
                <a:latin typeface="黑体" panose="02010609060101010101" pitchFamily="49" charset="-122"/>
                <a:ea typeface="黑体" panose="02010609060101010101" pitchFamily="49" charset="-122"/>
              </a:rPr>
              <a:t>。</a:t>
            </a:r>
            <a:endParaRPr altLang="en-US" sz="1800" b="1" dirty="0">
              <a:latin typeface="黑体" panose="02010609060101010101" pitchFamily="49" charset="-122"/>
              <a:ea typeface="黑体" panose="02010609060101010101" pitchFamily="49" charset="-122"/>
            </a:endParaRPr>
          </a:p>
          <a:p>
            <a:pPr eaLnBrk="1" hangingPunct="1">
              <a:lnSpc>
                <a:spcPct val="150000"/>
              </a:lnSpc>
              <a:buFont typeface="Wingdings" panose="05000000000000000000" pitchFamily="2" charset="2"/>
              <a:buChar char="l"/>
            </a:pPr>
            <a:endParaRPr altLang="en-US" sz="1800" b="1" dirty="0">
              <a:latin typeface="黑体" panose="02010609060101010101" pitchFamily="49" charset="-122"/>
              <a:ea typeface="黑体" panose="02010609060101010101" pitchFamily="49" charset="-122"/>
            </a:endParaRPr>
          </a:p>
        </p:txBody>
      </p:sp>
      <p:pic>
        <p:nvPicPr>
          <p:cNvPr id="21508"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553995" y="1490094"/>
            <a:ext cx="6495195" cy="42149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66803" y="194674"/>
            <a:ext cx="7886700" cy="570310"/>
          </a:xfrm>
        </p:spPr>
        <p:txBody>
          <a:bodyPr vert="horz" lIns="91440" tIns="45720" rIns="91440" bIns="45720" rtlCol="0" anchor="ctr">
            <a:normAutofit fontScale="90000"/>
          </a:bodyPr>
          <a:lstStyle/>
          <a:p>
            <a:r>
              <a:rPr altLang="en-US" dirty="0" err="1">
                <a:latin typeface="黑体" panose="02010609060101010101" pitchFamily="49" charset="-122"/>
                <a:ea typeface="黑体" panose="02010609060101010101" pitchFamily="49" charset="-122"/>
              </a:rPr>
              <a:t>最优分离超平面</a:t>
            </a:r>
            <a:endParaRPr altLang="zh-CN" dirty="0">
              <a:latin typeface="黑体" panose="02010609060101010101" pitchFamily="49" charset="-122"/>
              <a:ea typeface="黑体" panose="02010609060101010101" pitchFamily="49" charset="-122"/>
            </a:endParaRPr>
          </a:p>
        </p:txBody>
      </p:sp>
      <p:sp>
        <p:nvSpPr>
          <p:cNvPr id="22531" name="内容占位符 2"/>
          <p:cNvSpPr>
            <a:spLocks noGrp="1"/>
          </p:cNvSpPr>
          <p:nvPr>
            <p:ph idx="1"/>
          </p:nvPr>
        </p:nvSpPr>
        <p:spPr>
          <a:xfrm>
            <a:off x="197645" y="1358555"/>
            <a:ext cx="1631156" cy="3788569"/>
          </a:xfrm>
        </p:spPr>
        <p:txBody>
          <a:bodyPr>
            <a:normAutofit/>
          </a:bodyPr>
          <a:lstStyle/>
          <a:p>
            <a:pPr eaLnBrk="1" hangingPunct="1">
              <a:lnSpc>
                <a:spcPct val="150000"/>
              </a:lnSpc>
            </a:pPr>
            <a:r>
              <a:rPr altLang="en-US" sz="2000" b="1" dirty="0">
                <a:latin typeface="黑体" panose="02010609060101010101" pitchFamily="49" charset="-122"/>
                <a:ea typeface="黑体" panose="02010609060101010101" pitchFamily="49" charset="-122"/>
              </a:rPr>
              <a:t>要选择这样一个超平面</a:t>
            </a:r>
            <a:r>
              <a:rPr lang="en-US" altLang="zh-CN" sz="2000" b="1" dirty="0">
                <a:latin typeface="黑体" panose="02010609060101010101" pitchFamily="49" charset="-122"/>
                <a:ea typeface="黑体" panose="02010609060101010101" pitchFamily="49" charset="-122"/>
              </a:rPr>
              <a:t>–</a:t>
            </a:r>
            <a:r>
              <a:rPr altLang="en-US" sz="2000" b="1" dirty="0">
                <a:solidFill>
                  <a:srgbClr val="FF0000"/>
                </a:solidFill>
                <a:latin typeface="黑体" panose="02010609060101010101" pitchFamily="49" charset="-122"/>
                <a:ea typeface="黑体" panose="02010609060101010101" pitchFamily="49" charset="-122"/>
              </a:rPr>
              <a:t>尽可能的远离所有类别的数据点：</a:t>
            </a:r>
            <a:endParaRPr altLang="en-US" sz="2000" b="1" dirty="0">
              <a:solidFill>
                <a:srgbClr val="FF0000"/>
              </a:solidFill>
              <a:latin typeface="黑体" panose="02010609060101010101" pitchFamily="49" charset="-122"/>
              <a:ea typeface="黑体" panose="02010609060101010101" pitchFamily="49" charset="-122"/>
            </a:endParaRPr>
          </a:p>
        </p:txBody>
      </p:sp>
      <p:pic>
        <p:nvPicPr>
          <p:cNvPr id="22532" name="图片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828801" y="1358555"/>
            <a:ext cx="7088629" cy="461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14210" y="118986"/>
            <a:ext cx="7886700" cy="570310"/>
          </a:xfrm>
        </p:spPr>
        <p:txBody>
          <a:bodyPr vert="horz" lIns="91440" tIns="45720" rIns="91440" bIns="45720" rtlCol="0" anchor="ctr">
            <a:normAutofit fontScale="90000"/>
          </a:bodyPr>
          <a:lstStyle/>
          <a:p>
            <a:r>
              <a:rPr altLang="en-US" dirty="0" err="1">
                <a:latin typeface="黑体" panose="02010609060101010101" pitchFamily="49" charset="-122"/>
                <a:ea typeface="黑体" panose="02010609060101010101" pitchFamily="49" charset="-122"/>
              </a:rPr>
              <a:t>最优分离超平面</a:t>
            </a:r>
            <a:endParaRPr altLang="zh-CN" dirty="0">
              <a:latin typeface="黑体" panose="02010609060101010101" pitchFamily="49" charset="-122"/>
              <a:ea typeface="黑体" panose="02010609060101010101" pitchFamily="49" charset="-122"/>
            </a:endParaRPr>
          </a:p>
        </p:txBody>
      </p:sp>
      <p:sp>
        <p:nvSpPr>
          <p:cNvPr id="23555" name="内容占位符 2"/>
          <p:cNvSpPr>
            <a:spLocks noGrp="1"/>
          </p:cNvSpPr>
          <p:nvPr>
            <p:ph idx="1"/>
          </p:nvPr>
        </p:nvSpPr>
        <p:spPr>
          <a:xfrm>
            <a:off x="174039" y="1468352"/>
            <a:ext cx="2753916" cy="3788569"/>
          </a:xfrm>
        </p:spPr>
        <p:txBody>
          <a:bodyPr>
            <a:normAutofit/>
          </a:bodyPr>
          <a:lstStyle/>
          <a:p>
            <a:pPr eaLnBrk="1" hangingPunct="1">
              <a:lnSpc>
                <a:spcPct val="150000"/>
              </a:lnSpc>
            </a:pPr>
            <a:r>
              <a:rPr altLang="en-US" sz="2000" b="1" dirty="0">
                <a:latin typeface="黑体" panose="02010609060101010101" pitchFamily="49" charset="-122"/>
                <a:ea typeface="黑体" panose="02010609060101010101" pitchFamily="49" charset="-122"/>
              </a:rPr>
              <a:t>更加健壮</a:t>
            </a:r>
            <a:endParaRPr lang="en-US" altLang="zh-CN" sz="2000" b="1" dirty="0">
              <a:latin typeface="黑体" panose="02010609060101010101" pitchFamily="49" charset="-122"/>
              <a:ea typeface="黑体" panose="02010609060101010101" pitchFamily="49" charset="-122"/>
            </a:endParaRPr>
          </a:p>
          <a:p>
            <a:pPr eaLnBrk="1" hangingPunct="1">
              <a:lnSpc>
                <a:spcPct val="150000"/>
              </a:lnSpc>
            </a:pPr>
            <a:r>
              <a:rPr altLang="en-US" sz="2000" b="1" dirty="0">
                <a:latin typeface="黑体" panose="02010609060101010101" pitchFamily="49" charset="-122"/>
                <a:ea typeface="黑体" panose="02010609060101010101" pitchFamily="49" charset="-122"/>
              </a:rPr>
              <a:t>就是要找到这样一个最优分类超平面，保证：</a:t>
            </a:r>
            <a:endParaRPr lang="en-US" altLang="zh-CN" sz="2000" b="1" dirty="0">
              <a:latin typeface="黑体" panose="02010609060101010101" pitchFamily="49" charset="-122"/>
              <a:ea typeface="黑体" panose="02010609060101010101" pitchFamily="49" charset="-122"/>
            </a:endParaRPr>
          </a:p>
          <a:p>
            <a:r>
              <a:rPr altLang="en-US" sz="2000" b="1" dirty="0">
                <a:latin typeface="黑体" panose="02010609060101010101" pitchFamily="49" charset="-122"/>
                <a:ea typeface="黑体" panose="02010609060101010101" pitchFamily="49" charset="-122"/>
              </a:rPr>
              <a:t>正确地对</a:t>
            </a:r>
            <a:r>
              <a:rPr altLang="en-US" sz="2000" b="1" dirty="0">
                <a:solidFill>
                  <a:srgbClr val="FF0000"/>
                </a:solidFill>
                <a:latin typeface="黑体" panose="02010609060101010101" pitchFamily="49" charset="-122"/>
                <a:ea typeface="黑体" panose="02010609060101010101" pitchFamily="49" charset="-122"/>
              </a:rPr>
              <a:t>训练数据</a:t>
            </a:r>
            <a:r>
              <a:rPr altLang="en-US" sz="2000" b="1" dirty="0">
                <a:latin typeface="黑体" panose="02010609060101010101" pitchFamily="49" charset="-122"/>
                <a:ea typeface="黑体" panose="02010609060101010101" pitchFamily="49" charset="-122"/>
              </a:rPr>
              <a:t>进行分类</a:t>
            </a:r>
            <a:endParaRPr altLang="en-US" sz="2000" b="1" dirty="0">
              <a:latin typeface="黑体" panose="02010609060101010101" pitchFamily="49" charset="-122"/>
              <a:ea typeface="黑体" panose="02010609060101010101" pitchFamily="49" charset="-122"/>
            </a:endParaRPr>
          </a:p>
          <a:p>
            <a:r>
              <a:rPr altLang="en-US" sz="2000" b="1" dirty="0">
                <a:latin typeface="黑体" panose="02010609060101010101" pitchFamily="49" charset="-122"/>
                <a:ea typeface="黑体" panose="02010609060101010101" pitchFamily="49" charset="-122"/>
              </a:rPr>
              <a:t>对</a:t>
            </a:r>
            <a:r>
              <a:rPr altLang="en-US" sz="2000" b="1" dirty="0">
                <a:solidFill>
                  <a:srgbClr val="FF0000"/>
                </a:solidFill>
                <a:latin typeface="黑体" panose="02010609060101010101" pitchFamily="49" charset="-122"/>
                <a:ea typeface="黑体" panose="02010609060101010101" pitchFamily="49" charset="-122"/>
              </a:rPr>
              <a:t>未知数据</a:t>
            </a:r>
            <a:r>
              <a:rPr altLang="en-US" sz="2000" b="1" dirty="0">
                <a:latin typeface="黑体" panose="02010609060101010101" pitchFamily="49" charset="-122"/>
                <a:ea typeface="黑体" panose="02010609060101010101" pitchFamily="49" charset="-122"/>
              </a:rPr>
              <a:t>也要进行很好的分类</a:t>
            </a:r>
            <a:endParaRPr altLang="en-US" sz="2000" b="1" dirty="0">
              <a:latin typeface="黑体" panose="02010609060101010101" pitchFamily="49" charset="-122"/>
              <a:ea typeface="黑体" panose="02010609060101010101" pitchFamily="49" charset="-122"/>
            </a:endParaRPr>
          </a:p>
          <a:p>
            <a:pPr eaLnBrk="1" hangingPunct="1">
              <a:lnSpc>
                <a:spcPct val="150000"/>
              </a:lnSpc>
            </a:pPr>
            <a:endParaRPr altLang="en-US" sz="2000" b="1" dirty="0">
              <a:latin typeface="黑体" panose="02010609060101010101" pitchFamily="49" charset="-122"/>
              <a:ea typeface="黑体" panose="02010609060101010101" pitchFamily="49" charset="-122"/>
            </a:endParaRPr>
          </a:p>
        </p:txBody>
      </p:sp>
      <p:pic>
        <p:nvPicPr>
          <p:cNvPr id="23556"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927955" y="1468352"/>
            <a:ext cx="5869781" cy="3899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1018" y="184223"/>
            <a:ext cx="7886700" cy="570310"/>
          </a:xfrm>
        </p:spPr>
        <p:txBody>
          <a:bodyPr vert="horz" lIns="91440" tIns="45720" rIns="91440" bIns="45720" rtlCol="0" anchor="ctr">
            <a:normAutofit fontScale="90000"/>
          </a:bodyPr>
          <a:lstStyle/>
          <a:p>
            <a:r>
              <a:rPr altLang="en-US" dirty="0" err="1">
                <a:latin typeface="黑体" panose="02010609060101010101" pitchFamily="49" charset="-122"/>
                <a:ea typeface="黑体" panose="02010609060101010101" pitchFamily="49" charset="-122"/>
              </a:rPr>
              <a:t>最优分离超平面的间隔</a:t>
            </a:r>
            <a:endParaRPr altLang="zh-CN" dirty="0">
              <a:latin typeface="黑体" panose="02010609060101010101" pitchFamily="49" charset="-122"/>
              <a:ea typeface="黑体" panose="02010609060101010101" pitchFamily="49" charset="-122"/>
            </a:endParaRPr>
          </a:p>
        </p:txBody>
      </p:sp>
      <p:sp>
        <p:nvSpPr>
          <p:cNvPr id="24579" name="内容占位符 2"/>
          <p:cNvSpPr>
            <a:spLocks noGrp="1"/>
          </p:cNvSpPr>
          <p:nvPr>
            <p:ph idx="1"/>
          </p:nvPr>
        </p:nvSpPr>
        <p:spPr>
          <a:xfrm>
            <a:off x="191018" y="1368961"/>
            <a:ext cx="2525678" cy="3788569"/>
          </a:xfrm>
        </p:spPr>
        <p:txBody>
          <a:bodyPr/>
          <a:lstStyle/>
          <a:p>
            <a:pPr eaLnBrk="1" hangingPunct="1">
              <a:lnSpc>
                <a:spcPct val="150000"/>
              </a:lnSpc>
            </a:pPr>
            <a:r>
              <a:rPr lang="en-US" altLang="zh-CN" sz="1800" b="1" dirty="0">
                <a:latin typeface="黑体" panose="02010609060101010101" pitchFamily="49" charset="-122"/>
                <a:ea typeface="黑体" panose="02010609060101010101" pitchFamily="49" charset="-122"/>
              </a:rPr>
              <a:t>Margin</a:t>
            </a:r>
            <a:r>
              <a:rPr altLang="en-US" sz="1800" b="1" dirty="0">
                <a:latin typeface="黑体" panose="02010609060101010101" pitchFamily="49" charset="-122"/>
                <a:ea typeface="黑体" panose="02010609060101010101" pitchFamily="49" charset="-122"/>
              </a:rPr>
              <a:t>就是最优分离超平面的</a:t>
            </a:r>
            <a:r>
              <a:rPr altLang="en-US" sz="1800" b="1" dirty="0">
                <a:solidFill>
                  <a:srgbClr val="FF0000"/>
                </a:solidFill>
                <a:latin typeface="黑体" panose="02010609060101010101" pitchFamily="49" charset="-122"/>
                <a:ea typeface="黑体" panose="02010609060101010101" pitchFamily="49" charset="-122"/>
              </a:rPr>
              <a:t>间隔</a:t>
            </a:r>
            <a:r>
              <a:rPr altLang="en-US" sz="1800" b="1" dirty="0">
                <a:latin typeface="黑体" panose="02010609060101010101" pitchFamily="49" charset="-122"/>
                <a:ea typeface="黑体" panose="02010609060101010101" pitchFamily="49" charset="-122"/>
              </a:rPr>
              <a:t>。</a:t>
            </a:r>
            <a:endParaRPr altLang="en-US" sz="1800" b="1" dirty="0">
              <a:latin typeface="黑体" panose="02010609060101010101" pitchFamily="49" charset="-122"/>
              <a:ea typeface="黑体" panose="02010609060101010101" pitchFamily="49" charset="-122"/>
            </a:endParaRPr>
          </a:p>
          <a:p>
            <a:pPr eaLnBrk="1" hangingPunct="1">
              <a:lnSpc>
                <a:spcPct val="150000"/>
              </a:lnSpc>
            </a:pPr>
            <a:r>
              <a:rPr altLang="en-US" sz="1800" b="1" dirty="0">
                <a:latin typeface="黑体" panose="02010609060101010101" pitchFamily="49" charset="-122"/>
                <a:ea typeface="黑体" panose="02010609060101010101" pitchFamily="49" charset="-122"/>
              </a:rPr>
              <a:t>给定一个特定的超平面，可以计算出这个超平面与和它最接近的数据点之间的距离。间隔（</a:t>
            </a:r>
            <a:r>
              <a:rPr lang="en-US" altLang="zh-CN" sz="1800" b="1" dirty="0">
                <a:latin typeface="黑体" panose="02010609060101010101" pitchFamily="49" charset="-122"/>
                <a:ea typeface="黑体" panose="02010609060101010101" pitchFamily="49" charset="-122"/>
              </a:rPr>
              <a:t>Margin</a:t>
            </a:r>
            <a:r>
              <a:rPr altLang="en-US" sz="1800" b="1" dirty="0">
                <a:latin typeface="黑体" panose="02010609060101010101" pitchFamily="49" charset="-122"/>
                <a:ea typeface="黑体" panose="02010609060101010101" pitchFamily="49" charset="-122"/>
              </a:rPr>
              <a:t>）就是</a:t>
            </a:r>
            <a:r>
              <a:rPr altLang="en-US" sz="1800" b="1" dirty="0">
                <a:solidFill>
                  <a:srgbClr val="FF0000"/>
                </a:solidFill>
                <a:latin typeface="黑体" panose="02010609060101010101" pitchFamily="49" charset="-122"/>
                <a:ea typeface="黑体" panose="02010609060101010101" pitchFamily="49" charset="-122"/>
              </a:rPr>
              <a:t>二倍的这个距离</a:t>
            </a:r>
            <a:r>
              <a:rPr altLang="en-US" sz="1800" b="1" dirty="0">
                <a:latin typeface="黑体" panose="02010609060101010101" pitchFamily="49" charset="-122"/>
                <a:ea typeface="黑体" panose="02010609060101010101" pitchFamily="49" charset="-122"/>
              </a:rPr>
              <a:t>。</a:t>
            </a:r>
            <a:endParaRPr altLang="en-US" sz="1800" b="1" dirty="0">
              <a:latin typeface="黑体" panose="02010609060101010101" pitchFamily="49" charset="-122"/>
              <a:ea typeface="黑体" panose="02010609060101010101" pitchFamily="49" charset="-122"/>
            </a:endParaRPr>
          </a:p>
        </p:txBody>
      </p:sp>
      <p:pic>
        <p:nvPicPr>
          <p:cNvPr id="24580" name="图片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921328" y="1655022"/>
            <a:ext cx="6242972" cy="414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7644" y="205877"/>
            <a:ext cx="7886700" cy="570310"/>
          </a:xfrm>
        </p:spPr>
        <p:txBody>
          <a:bodyPr vert="horz" lIns="91440" tIns="45720" rIns="91440" bIns="45720" rtlCol="0" anchor="ctr">
            <a:normAutofit fontScale="90000"/>
          </a:bodyPr>
          <a:lstStyle/>
          <a:p>
            <a:r>
              <a:rPr altLang="en-US" dirty="0" err="1">
                <a:latin typeface="黑体" panose="02010609060101010101" pitchFamily="49" charset="-122"/>
                <a:ea typeface="黑体" panose="02010609060101010101" pitchFamily="49" charset="-122"/>
              </a:rPr>
              <a:t>最优分离超平面的间隔</a:t>
            </a:r>
            <a:endParaRPr altLang="zh-CN" dirty="0">
              <a:latin typeface="黑体" panose="02010609060101010101" pitchFamily="49" charset="-122"/>
              <a:ea typeface="黑体" panose="02010609060101010101" pitchFamily="49" charset="-122"/>
            </a:endParaRPr>
          </a:p>
        </p:txBody>
      </p:sp>
      <p:sp>
        <p:nvSpPr>
          <p:cNvPr id="25603" name="内容占位符 2"/>
          <p:cNvSpPr>
            <a:spLocks noGrp="1"/>
          </p:cNvSpPr>
          <p:nvPr>
            <p:ph idx="1"/>
          </p:nvPr>
        </p:nvSpPr>
        <p:spPr>
          <a:xfrm>
            <a:off x="197644" y="1240476"/>
            <a:ext cx="2346773" cy="4305558"/>
          </a:xfrm>
        </p:spPr>
        <p:txBody>
          <a:bodyPr/>
          <a:lstStyle/>
          <a:p>
            <a:pPr eaLnBrk="1" hangingPunct="1">
              <a:lnSpc>
                <a:spcPct val="150000"/>
              </a:lnSpc>
            </a:pPr>
            <a:r>
              <a:rPr altLang="en-US" sz="1800" b="1" dirty="0">
                <a:latin typeface="黑体" panose="02010609060101010101" pitchFamily="49" charset="-122"/>
                <a:ea typeface="黑体" panose="02010609060101010101" pitchFamily="49" charset="-122"/>
              </a:rPr>
              <a:t>一般来说，间隔（</a:t>
            </a:r>
            <a:r>
              <a:rPr lang="en-US" altLang="zh-CN" sz="1800" b="1" dirty="0">
                <a:latin typeface="黑体" panose="02010609060101010101" pitchFamily="49" charset="-122"/>
                <a:ea typeface="黑体" panose="02010609060101010101" pitchFamily="49" charset="-122"/>
              </a:rPr>
              <a:t>Margin</a:t>
            </a:r>
            <a:r>
              <a:rPr altLang="en-US" sz="1800" b="1" dirty="0">
                <a:latin typeface="黑体" panose="02010609060101010101" pitchFamily="49" charset="-122"/>
                <a:ea typeface="黑体" panose="02010609060101010101" pitchFamily="49" charset="-122"/>
              </a:rPr>
              <a:t>）中间是无点区域。这意味着里面不会有任何点。（注：在数据有噪声的情况下，可能达不到这么理想的状况，所以后面会引入</a:t>
            </a:r>
            <a:r>
              <a:rPr altLang="en-US" sz="1800" b="1" dirty="0">
                <a:solidFill>
                  <a:srgbClr val="FF0000"/>
                </a:solidFill>
                <a:latin typeface="黑体" panose="02010609060101010101" pitchFamily="49" charset="-122"/>
                <a:ea typeface="黑体" panose="02010609060101010101" pitchFamily="49" charset="-122"/>
              </a:rPr>
              <a:t>软间隔分类器</a:t>
            </a:r>
            <a:r>
              <a:rPr altLang="en-US" sz="1800" b="1" dirty="0">
                <a:latin typeface="黑体" panose="02010609060101010101" pitchFamily="49" charset="-122"/>
                <a:ea typeface="黑体" panose="02010609060101010101" pitchFamily="49" charset="-122"/>
              </a:rPr>
              <a:t>）</a:t>
            </a:r>
            <a:endParaRPr altLang="en-US" sz="1800" b="1" dirty="0">
              <a:latin typeface="黑体" panose="02010609060101010101" pitchFamily="49" charset="-122"/>
              <a:ea typeface="黑体" panose="02010609060101010101" pitchFamily="49" charset="-122"/>
            </a:endParaRPr>
          </a:p>
          <a:p>
            <a:pPr eaLnBrk="1" hangingPunct="1">
              <a:lnSpc>
                <a:spcPct val="150000"/>
              </a:lnSpc>
            </a:pPr>
            <a:endParaRPr altLang="en-US" sz="1800" b="1" dirty="0">
              <a:latin typeface="黑体" panose="02010609060101010101" pitchFamily="49" charset="-122"/>
              <a:ea typeface="黑体" panose="02010609060101010101" pitchFamily="49" charset="-122"/>
            </a:endParaRPr>
          </a:p>
        </p:txBody>
      </p:sp>
      <p:pic>
        <p:nvPicPr>
          <p:cNvPr id="25604" name="图片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603278" y="1425152"/>
            <a:ext cx="6289746" cy="4180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3551" y="177869"/>
            <a:ext cx="7886700" cy="570310"/>
          </a:xfrm>
        </p:spPr>
        <p:txBody>
          <a:bodyPr vert="horz" lIns="91440" tIns="45720" rIns="91440" bIns="45720" rtlCol="0" anchor="ctr">
            <a:normAutofit fontScale="90000"/>
          </a:bodyPr>
          <a:lstStyle/>
          <a:p>
            <a:r>
              <a:rPr altLang="en-US" dirty="0" err="1">
                <a:latin typeface="黑体" panose="02010609060101010101" pitchFamily="49" charset="-122"/>
                <a:ea typeface="黑体" panose="02010609060101010101" pitchFamily="49" charset="-122"/>
              </a:rPr>
              <a:t>最优分离超平面的间隔</a:t>
            </a:r>
            <a:endParaRPr altLang="zh-CN" dirty="0">
              <a:latin typeface="黑体" panose="02010609060101010101" pitchFamily="49" charset="-122"/>
              <a:ea typeface="黑体" panose="02010609060101010101" pitchFamily="49" charset="-122"/>
            </a:endParaRPr>
          </a:p>
        </p:txBody>
      </p:sp>
      <p:sp>
        <p:nvSpPr>
          <p:cNvPr id="26627" name="内容占位符 2"/>
          <p:cNvSpPr>
            <a:spLocks noGrp="1"/>
          </p:cNvSpPr>
          <p:nvPr>
            <p:ph idx="1"/>
          </p:nvPr>
        </p:nvSpPr>
        <p:spPr>
          <a:xfrm>
            <a:off x="151261" y="1585033"/>
            <a:ext cx="1611278" cy="3401615"/>
          </a:xfrm>
        </p:spPr>
        <p:txBody>
          <a:bodyPr>
            <a:normAutofit fontScale="92500" lnSpcReduction="20000"/>
          </a:bodyPr>
          <a:lstStyle/>
          <a:p>
            <a:pPr eaLnBrk="1" hangingPunct="1">
              <a:lnSpc>
                <a:spcPct val="150000"/>
              </a:lnSpc>
            </a:pPr>
            <a:r>
              <a:rPr altLang="en-US" sz="1800" b="1" dirty="0">
                <a:latin typeface="黑体" panose="02010609060101010101" pitchFamily="49" charset="-122"/>
                <a:ea typeface="黑体" panose="02010609060101010101" pitchFamily="49" charset="-122"/>
              </a:rPr>
              <a:t>从刚才的分</a:t>
            </a:r>
            <a:r>
              <a:rPr lang="zh-CN" altLang="en-US" sz="1800" b="1" dirty="0">
                <a:latin typeface="黑体" panose="02010609060101010101" pitchFamily="49" charset="-122"/>
                <a:ea typeface="黑体" panose="02010609060101010101" pitchFamily="49" charset="-122"/>
              </a:rPr>
              <a:t>离</a:t>
            </a:r>
            <a:r>
              <a:rPr altLang="en-US" sz="1800" b="1" dirty="0">
                <a:latin typeface="黑体" panose="02010609060101010101" pitchFamily="49" charset="-122"/>
                <a:ea typeface="黑体" panose="02010609060101010101" pitchFamily="49" charset="-122"/>
              </a:rPr>
              <a:t>超平面里再选一个，间隔会看起来像这样：</a:t>
            </a:r>
            <a:endParaRPr lang="en-US" altLang="zh-CN" sz="1800" b="1" dirty="0">
              <a:latin typeface="黑体" panose="02010609060101010101" pitchFamily="49" charset="-122"/>
              <a:ea typeface="黑体" panose="02010609060101010101" pitchFamily="49" charset="-122"/>
            </a:endParaRPr>
          </a:p>
          <a:p>
            <a:pPr eaLnBrk="1" hangingPunct="1">
              <a:lnSpc>
                <a:spcPct val="150000"/>
              </a:lnSpc>
            </a:pPr>
            <a:r>
              <a:rPr altLang="en-US" sz="1800" b="1" dirty="0">
                <a:latin typeface="黑体" panose="02010609060101010101" pitchFamily="49" charset="-122"/>
                <a:ea typeface="黑体" panose="02010609060101010101" pitchFamily="49" charset="-122"/>
              </a:rPr>
              <a:t>可以清楚地看出，</a:t>
            </a:r>
            <a:r>
              <a:rPr lang="en-US" altLang="zh-CN" sz="1800" b="1" dirty="0">
                <a:solidFill>
                  <a:srgbClr val="FF0000"/>
                </a:solidFill>
                <a:latin typeface="黑体" panose="02010609060101010101" pitchFamily="49" charset="-122"/>
                <a:ea typeface="黑体" panose="02010609060101010101" pitchFamily="49" charset="-122"/>
              </a:rPr>
              <a:t>B</a:t>
            </a:r>
            <a:r>
              <a:rPr altLang="en-US" sz="1800" b="1" dirty="0">
                <a:solidFill>
                  <a:srgbClr val="FF0000"/>
                </a:solidFill>
                <a:latin typeface="黑体" panose="02010609060101010101" pitchFamily="49" charset="-122"/>
                <a:ea typeface="黑体" panose="02010609060101010101" pitchFamily="49" charset="-122"/>
              </a:rPr>
              <a:t>的间隔要小于</a:t>
            </a:r>
            <a:r>
              <a:rPr lang="en-US" altLang="zh-CN" sz="1800" b="1" dirty="0">
                <a:solidFill>
                  <a:srgbClr val="FF0000"/>
                </a:solidFill>
                <a:latin typeface="黑体" panose="02010609060101010101" pitchFamily="49" charset="-122"/>
                <a:ea typeface="黑体" panose="02010609060101010101" pitchFamily="49" charset="-122"/>
              </a:rPr>
              <a:t>A</a:t>
            </a:r>
            <a:r>
              <a:rPr altLang="en-US" sz="1800" b="1" dirty="0">
                <a:solidFill>
                  <a:srgbClr val="FF0000"/>
                </a:solidFill>
                <a:latin typeface="黑体" panose="02010609060101010101" pitchFamily="49" charset="-122"/>
                <a:ea typeface="黑体" panose="02010609060101010101" pitchFamily="49" charset="-122"/>
              </a:rPr>
              <a:t>的间隔</a:t>
            </a:r>
            <a:r>
              <a:rPr altLang="en-US" sz="1800" b="1" dirty="0">
                <a:latin typeface="黑体" panose="02010609060101010101" pitchFamily="49" charset="-122"/>
                <a:ea typeface="黑体" panose="02010609060101010101" pitchFamily="49" charset="-122"/>
              </a:rPr>
              <a:t>。</a:t>
            </a:r>
            <a:endParaRPr altLang="en-US" sz="1800" b="1" dirty="0">
              <a:latin typeface="黑体" panose="02010609060101010101" pitchFamily="49" charset="-122"/>
              <a:ea typeface="黑体" panose="02010609060101010101" pitchFamily="49" charset="-122"/>
            </a:endParaRPr>
          </a:p>
        </p:txBody>
      </p:sp>
      <p:pic>
        <p:nvPicPr>
          <p:cNvPr id="26628"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762539" y="1357415"/>
            <a:ext cx="7129669" cy="4723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8775" y="204942"/>
            <a:ext cx="7886700" cy="570310"/>
          </a:xfrm>
        </p:spPr>
        <p:txBody>
          <a:bodyPr vert="horz" lIns="91440" tIns="45720" rIns="91440" bIns="45720" rtlCol="0" anchor="ctr">
            <a:normAutofit fontScale="90000"/>
          </a:bodyPr>
          <a:lstStyle/>
          <a:p>
            <a:r>
              <a:rPr altLang="en-US" dirty="0" err="1">
                <a:latin typeface="黑体" panose="02010609060101010101" pitchFamily="49" charset="-122"/>
                <a:ea typeface="黑体" panose="02010609060101010101" pitchFamily="49" charset="-122"/>
              </a:rPr>
              <a:t>最优分离超平面的间隔</a:t>
            </a:r>
            <a:endParaRPr altLang="zh-CN" dirty="0">
              <a:latin typeface="黑体" panose="02010609060101010101" pitchFamily="49" charset="-122"/>
              <a:ea typeface="黑体" panose="02010609060101010101" pitchFamily="49" charset="-122"/>
            </a:endParaRPr>
          </a:p>
        </p:txBody>
      </p:sp>
      <p:sp>
        <p:nvSpPr>
          <p:cNvPr id="27651" name="内容占位符 2"/>
          <p:cNvSpPr>
            <a:spLocks noGrp="1"/>
          </p:cNvSpPr>
          <p:nvPr>
            <p:ph idx="1"/>
          </p:nvPr>
        </p:nvSpPr>
        <p:spPr>
          <a:xfrm>
            <a:off x="118775" y="1707848"/>
            <a:ext cx="3564835" cy="4327766"/>
          </a:xfrm>
        </p:spPr>
        <p:txBody>
          <a:bodyPr>
            <a:normAutofit/>
          </a:bodyPr>
          <a:lstStyle/>
          <a:p>
            <a:pPr eaLnBrk="1" hangingPunct="1">
              <a:lnSpc>
                <a:spcPct val="150000"/>
              </a:lnSpc>
            </a:pPr>
            <a:r>
              <a:rPr altLang="en-US" sz="1800" b="1" dirty="0">
                <a:latin typeface="黑体" panose="02010609060101010101" pitchFamily="49" charset="-122"/>
                <a:ea typeface="黑体" panose="02010609060101010101" pitchFamily="49" charset="-122"/>
              </a:rPr>
              <a:t>有以下的观察结果：</a:t>
            </a:r>
            <a:endParaRPr lang="en-US" altLang="zh-CN" sz="1800" b="1" dirty="0">
              <a:latin typeface="黑体" panose="02010609060101010101" pitchFamily="49" charset="-122"/>
              <a:ea typeface="黑体" panose="02010609060101010101" pitchFamily="49" charset="-122"/>
            </a:endParaRPr>
          </a:p>
          <a:p>
            <a:pPr marL="285750" indent="-285750">
              <a:buFont typeface="Arial" panose="020B0604020202020204" pitchFamily="34" charset="0"/>
              <a:buChar char="•"/>
            </a:pPr>
            <a:r>
              <a:rPr altLang="en-US" sz="1800" b="1" dirty="0">
                <a:latin typeface="黑体" panose="02010609060101010101" pitchFamily="49" charset="-122"/>
                <a:ea typeface="黑体" panose="02010609060101010101" pitchFamily="49" charset="-122"/>
              </a:rPr>
              <a:t>如果一个超平面有非常接近的一个数据点，那么间隔会小。</a:t>
            </a:r>
            <a:endParaRPr lang="en-US" altLang="en-US" sz="1800" b="1" dirty="0">
              <a:latin typeface="黑体" panose="02010609060101010101" pitchFamily="49" charset="-122"/>
              <a:ea typeface="黑体" panose="02010609060101010101" pitchFamily="49" charset="-122"/>
            </a:endParaRPr>
          </a:p>
          <a:p>
            <a:pPr marL="285750" indent="-285750">
              <a:buFont typeface="Arial" panose="020B0604020202020204" pitchFamily="34" charset="0"/>
              <a:buChar char="•"/>
            </a:pPr>
            <a:r>
              <a:rPr altLang="en-US" sz="1800" b="1" dirty="0">
                <a:latin typeface="黑体" panose="02010609060101010101" pitchFamily="49" charset="-122"/>
                <a:ea typeface="黑体" panose="02010609060101010101" pitchFamily="49" charset="-122"/>
              </a:rPr>
              <a:t>如果一个超平面离数据点越远，那么间隔越大。</a:t>
            </a:r>
            <a:endParaRPr lang="en-US" altLang="en-US" sz="1800" b="1" dirty="0">
              <a:latin typeface="黑体" panose="02010609060101010101" pitchFamily="49" charset="-122"/>
              <a:ea typeface="黑体" panose="02010609060101010101" pitchFamily="49" charset="-122"/>
            </a:endParaRPr>
          </a:p>
          <a:p>
            <a:pPr marL="285750" indent="-285750">
              <a:buFont typeface="Arial" panose="020B0604020202020204" pitchFamily="34" charset="0"/>
              <a:buChar char="•"/>
            </a:pPr>
            <a:r>
              <a:rPr altLang="en-US" sz="1800" b="1" dirty="0">
                <a:latin typeface="黑体" panose="02010609060101010101" pitchFamily="49" charset="-122"/>
                <a:ea typeface="黑体" panose="02010609060101010101" pitchFamily="49" charset="-122"/>
              </a:rPr>
              <a:t>这意味着</a:t>
            </a:r>
            <a:r>
              <a:rPr altLang="en-US" sz="1800" b="1" dirty="0">
                <a:solidFill>
                  <a:srgbClr val="FF0000"/>
                </a:solidFill>
                <a:latin typeface="黑体" panose="02010609060101010101" pitchFamily="49" charset="-122"/>
                <a:ea typeface="黑体" panose="02010609060101010101" pitchFamily="49" charset="-122"/>
              </a:rPr>
              <a:t>最优超平面将有最大的间隔</a:t>
            </a:r>
            <a:r>
              <a:rPr altLang="en-US" sz="1800" b="1" dirty="0">
                <a:latin typeface="黑体" panose="02010609060101010101" pitchFamily="49" charset="-122"/>
                <a:ea typeface="黑体" panose="02010609060101010101" pitchFamily="49" charset="-122"/>
              </a:rPr>
              <a:t>。</a:t>
            </a:r>
            <a:endParaRPr lang="en-US" altLang="en-US" sz="1800" b="1" dirty="0">
              <a:latin typeface="黑体" panose="02010609060101010101" pitchFamily="49" charset="-122"/>
              <a:ea typeface="黑体" panose="02010609060101010101" pitchFamily="49" charset="-122"/>
            </a:endParaRPr>
          </a:p>
          <a:p>
            <a:pPr marL="285750" indent="-285750">
              <a:buFont typeface="Arial" panose="020B0604020202020204" pitchFamily="34" charset="0"/>
              <a:buChar char="•"/>
            </a:pPr>
            <a:r>
              <a:rPr lang="en-US" altLang="zh-CN" sz="1800" b="1" dirty="0">
                <a:solidFill>
                  <a:srgbClr val="FF0000"/>
                </a:solidFill>
                <a:latin typeface="黑体" panose="02010609060101010101" pitchFamily="49" charset="-122"/>
                <a:ea typeface="黑体" panose="02010609060101010101" pitchFamily="49" charset="-122"/>
              </a:rPr>
              <a:t>SVM</a:t>
            </a:r>
            <a:r>
              <a:rPr altLang="en-US" sz="1800" b="1" dirty="0">
                <a:solidFill>
                  <a:srgbClr val="FF0000"/>
                </a:solidFill>
                <a:latin typeface="黑体" panose="02010609060101010101" pitchFamily="49" charset="-122"/>
                <a:ea typeface="黑体" panose="02010609060101010101" pitchFamily="49" charset="-122"/>
              </a:rPr>
              <a:t>是利用间隔最大化求得最优分离超平面。</a:t>
            </a:r>
            <a:endParaRPr lang="en-US" altLang="en-US" sz="1800" b="1" dirty="0">
              <a:solidFill>
                <a:srgbClr val="FF0000"/>
              </a:solidFill>
              <a:latin typeface="黑体" panose="02010609060101010101" pitchFamily="49" charset="-122"/>
              <a:ea typeface="黑体" panose="02010609060101010101" pitchFamily="49" charset="-122"/>
            </a:endParaRPr>
          </a:p>
          <a:p>
            <a:pPr marL="285750" indent="-285750">
              <a:buFont typeface="Arial" panose="020B0604020202020204" pitchFamily="34" charset="0"/>
              <a:buChar char="•"/>
            </a:pPr>
            <a:r>
              <a:rPr altLang="en-US" sz="1800" b="1" dirty="0">
                <a:solidFill>
                  <a:srgbClr val="FF0000"/>
                </a:solidFill>
                <a:latin typeface="黑体" panose="02010609060101010101" pitchFamily="49" charset="-122"/>
                <a:ea typeface="黑体" panose="02010609060101010101" pitchFamily="49" charset="-122"/>
              </a:rPr>
              <a:t>如何求距离呢？一个点（向量）到直线（超平面）的距离</a:t>
            </a:r>
            <a:endParaRPr altLang="en-US" sz="1800" b="1" dirty="0">
              <a:solidFill>
                <a:srgbClr val="FF0000"/>
              </a:solidFill>
              <a:latin typeface="黑体" panose="02010609060101010101" pitchFamily="49" charset="-122"/>
              <a:ea typeface="黑体" panose="02010609060101010101" pitchFamily="49" charset="-122"/>
            </a:endParaRPr>
          </a:p>
          <a:p>
            <a:pPr eaLnBrk="1" hangingPunct="1">
              <a:lnSpc>
                <a:spcPct val="150000"/>
              </a:lnSpc>
            </a:pPr>
            <a:endParaRPr lang="en-US" altLang="zh-CN" sz="1800" b="1" dirty="0">
              <a:latin typeface="黑体" panose="02010609060101010101" pitchFamily="49" charset="-122"/>
              <a:ea typeface="黑体" panose="02010609060101010101" pitchFamily="49" charset="-122"/>
            </a:endParaRPr>
          </a:p>
          <a:p>
            <a:pPr eaLnBrk="1" hangingPunct="1">
              <a:lnSpc>
                <a:spcPct val="150000"/>
              </a:lnSpc>
            </a:pPr>
            <a:endParaRPr altLang="en-US" sz="1800" b="1" dirty="0">
              <a:latin typeface="黑体" panose="02010609060101010101" pitchFamily="49" charset="-122"/>
              <a:ea typeface="黑体" panose="02010609060101010101" pitchFamily="49" charset="-122"/>
            </a:endParaRPr>
          </a:p>
        </p:txBody>
      </p:sp>
      <p:pic>
        <p:nvPicPr>
          <p:cNvPr id="27652" name="图片 5"/>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3814401" y="1872854"/>
            <a:ext cx="4792886" cy="3699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2414" y="219076"/>
            <a:ext cx="7886700" cy="570310"/>
          </a:xfrm>
        </p:spPr>
        <p:txBody>
          <a:bodyPr vert="horz" lIns="91440" tIns="45720" rIns="91440" bIns="45720" rtlCol="0" anchor="ctr">
            <a:normAutofit fontScale="90000"/>
          </a:bodyPr>
          <a:lstStyle/>
          <a:p>
            <a:r>
              <a:rPr lang="en-US" altLang="zh-CN" dirty="0" err="1">
                <a:latin typeface="黑体" panose="02010609060101010101" pitchFamily="49" charset="-122"/>
                <a:ea typeface="黑体" panose="02010609060101010101" pitchFamily="49" charset="-122"/>
              </a:rPr>
              <a:t>SVM</a:t>
            </a:r>
            <a:r>
              <a:rPr altLang="en-US" dirty="0" err="1">
                <a:latin typeface="黑体" panose="02010609060101010101" pitchFamily="49" charset="-122"/>
                <a:ea typeface="黑体" panose="02010609060101010101" pitchFamily="49" charset="-122"/>
              </a:rPr>
              <a:t>的超平面</a:t>
            </a:r>
            <a:endParaRPr altLang="zh-CN" dirty="0">
              <a:latin typeface="黑体" panose="02010609060101010101" pitchFamily="49" charset="-122"/>
              <a:ea typeface="黑体" panose="02010609060101010101" pitchFamily="49" charset="-122"/>
            </a:endParaRPr>
          </a:p>
        </p:txBody>
      </p:sp>
      <p:sp>
        <p:nvSpPr>
          <p:cNvPr id="28675" name="内容占位符 2"/>
          <p:cNvSpPr>
            <a:spLocks noGrp="1"/>
          </p:cNvSpPr>
          <p:nvPr>
            <p:ph idx="1"/>
          </p:nvPr>
        </p:nvSpPr>
        <p:spPr>
          <a:xfrm>
            <a:off x="216817" y="1321349"/>
            <a:ext cx="8730854" cy="3942160"/>
          </a:xfrm>
        </p:spPr>
        <p:txBody>
          <a:bodyPr/>
          <a:lstStyle/>
          <a:p>
            <a:pPr eaLnBrk="1" hangingPunct="1">
              <a:lnSpc>
                <a:spcPct val="150000"/>
              </a:lnSpc>
            </a:pPr>
            <a:r>
              <a:rPr altLang="en-US" sz="1800" b="1" dirty="0">
                <a:latin typeface="黑体" panose="02010609060101010101" pitchFamily="49" charset="-122"/>
                <a:ea typeface="黑体" panose="02010609060101010101" pitchFamily="49" charset="-122"/>
              </a:rPr>
              <a:t>一条直线的数学方程是</a:t>
            </a:r>
            <a:r>
              <a:rPr lang="en-US" altLang="zh-CN" sz="1800" b="1" dirty="0">
                <a:latin typeface="黑体" panose="02010609060101010101" pitchFamily="49" charset="-122"/>
                <a:ea typeface="黑体" panose="02010609060101010101" pitchFamily="49" charset="-122"/>
              </a:rPr>
              <a:t>:             </a:t>
            </a:r>
            <a:r>
              <a:rPr altLang="en-US" sz="1800" b="1" dirty="0">
                <a:latin typeface="黑体" panose="02010609060101010101" pitchFamily="49" charset="-122"/>
                <a:ea typeface="黑体" panose="02010609060101010101" pitchFamily="49" charset="-122"/>
                <a:sym typeface="Wingdings" panose="05000000000000000000" pitchFamily="2" charset="2"/>
              </a:rPr>
              <a:t>等价于</a:t>
            </a:r>
            <a:r>
              <a:rPr lang="en-US" altLang="zh-CN" sz="1800" b="1" dirty="0">
                <a:latin typeface="黑体" panose="02010609060101010101" pitchFamily="49" charset="-122"/>
                <a:ea typeface="黑体" panose="02010609060101010101" pitchFamily="49" charset="-122"/>
                <a:sym typeface="Wingdings" panose="05000000000000000000" pitchFamily="2" charset="2"/>
              </a:rPr>
              <a:t>      </a:t>
            </a:r>
            <a:endParaRPr lang="en-US" altLang="zh-CN" sz="1800" b="1" dirty="0">
              <a:latin typeface="黑体" panose="02010609060101010101" pitchFamily="49" charset="-122"/>
              <a:ea typeface="黑体" panose="02010609060101010101" pitchFamily="49" charset="-122"/>
            </a:endParaRPr>
          </a:p>
          <a:p>
            <a:pPr eaLnBrk="1" hangingPunct="1">
              <a:lnSpc>
                <a:spcPct val="150000"/>
              </a:lnSpc>
            </a:pPr>
            <a:r>
              <a:rPr altLang="en-US" sz="1800" b="1" dirty="0">
                <a:latin typeface="黑体" panose="02010609060101010101" pitchFamily="49" charset="-122"/>
                <a:ea typeface="黑体" panose="02010609060101010101" pitchFamily="49" charset="-122"/>
              </a:rPr>
              <a:t>超平面会被定义成类似的形式</a:t>
            </a:r>
            <a:r>
              <a:rPr lang="en-US" altLang="zh-CN" sz="1800" b="1" dirty="0">
                <a:latin typeface="黑体" panose="02010609060101010101" pitchFamily="49" charset="-122"/>
                <a:ea typeface="黑体" panose="02010609060101010101" pitchFamily="49" charset="-122"/>
              </a:rPr>
              <a:t>:              (</a:t>
            </a:r>
            <a:r>
              <a:rPr altLang="en-US" sz="1800" b="1" dirty="0">
                <a:latin typeface="黑体" panose="02010609060101010101" pitchFamily="49" charset="-122"/>
                <a:ea typeface="黑体" panose="02010609060101010101" pitchFamily="49" charset="-122"/>
              </a:rPr>
              <a:t>适用于高维空间，向量</a:t>
            </a:r>
            <a:r>
              <a:rPr lang="en-US" altLang="zh-CN" sz="1800" b="1" dirty="0">
                <a:latin typeface="黑体" panose="02010609060101010101" pitchFamily="49" charset="-122"/>
                <a:ea typeface="黑体" panose="02010609060101010101" pitchFamily="49" charset="-122"/>
              </a:rPr>
              <a:t>w</a:t>
            </a:r>
            <a:r>
              <a:rPr altLang="en-US" sz="1800" b="1" dirty="0">
                <a:latin typeface="黑体" panose="02010609060101010101" pitchFamily="49" charset="-122"/>
                <a:ea typeface="黑体" panose="02010609060101010101" pitchFamily="49" charset="-122"/>
              </a:rPr>
              <a:t>与超平面垂直（方便计算点到超平面的距离）</a:t>
            </a:r>
            <a:endParaRPr lang="en-US" altLang="zh-CN" sz="1800" b="1" dirty="0">
              <a:latin typeface="黑体" panose="02010609060101010101" pitchFamily="49" charset="-122"/>
              <a:ea typeface="黑体" panose="02010609060101010101" pitchFamily="49" charset="-122"/>
            </a:endParaRPr>
          </a:p>
          <a:p>
            <a:pPr eaLnBrk="1" hangingPunct="1">
              <a:lnSpc>
                <a:spcPct val="150000"/>
              </a:lnSpc>
            </a:pPr>
            <a:r>
              <a:rPr altLang="en-US" sz="1800" b="1" dirty="0">
                <a:latin typeface="黑体" panose="02010609060101010101" pitchFamily="49" charset="-122"/>
                <a:ea typeface="黑体" panose="02010609060101010101" pitchFamily="49" charset="-122"/>
              </a:rPr>
              <a:t>有两个向量</a:t>
            </a:r>
            <a:r>
              <a:rPr lang="en-US" altLang="zh-CN" sz="1800" b="1" dirty="0">
                <a:latin typeface="黑体" panose="02010609060101010101" pitchFamily="49" charset="-122"/>
                <a:ea typeface="黑体" panose="02010609060101010101" pitchFamily="49" charset="-122"/>
              </a:rPr>
              <a:t>w</a:t>
            </a:r>
            <a:r>
              <a:rPr altLang="en-US" sz="1800" b="1" dirty="0">
                <a:latin typeface="黑体" panose="02010609060101010101" pitchFamily="49" charset="-122"/>
                <a:ea typeface="黑体" panose="02010609060101010101" pitchFamily="49" charset="-122"/>
              </a:rPr>
              <a:t>和</a:t>
            </a:r>
            <a:r>
              <a:rPr lang="en-US" altLang="zh-CN" sz="1800" b="1" dirty="0">
                <a:latin typeface="黑体" panose="02010609060101010101" pitchFamily="49" charset="-122"/>
                <a:ea typeface="黑体" panose="02010609060101010101" pitchFamily="49" charset="-122"/>
              </a:rPr>
              <a:t>x</a:t>
            </a:r>
            <a:r>
              <a:rPr altLang="en-US" sz="1800" b="1" dirty="0">
                <a:latin typeface="黑体" panose="02010609060101010101" pitchFamily="49" charset="-122"/>
                <a:ea typeface="黑体" panose="02010609060101010101" pitchFamily="49" charset="-122"/>
              </a:rPr>
              <a:t>：</a:t>
            </a:r>
            <a:endParaRPr lang="en-US" altLang="zh-CN" sz="1800" b="1" dirty="0">
              <a:latin typeface="黑体" panose="02010609060101010101" pitchFamily="49" charset="-122"/>
              <a:ea typeface="黑体" panose="02010609060101010101" pitchFamily="49" charset="-122"/>
            </a:endParaRPr>
          </a:p>
          <a:p>
            <a:pPr eaLnBrk="1" hangingPunct="1">
              <a:lnSpc>
                <a:spcPct val="150000"/>
              </a:lnSpc>
            </a:pPr>
            <a:endParaRPr altLang="en-US" sz="1800" b="1" dirty="0">
              <a:latin typeface="黑体" panose="02010609060101010101" pitchFamily="49" charset="-122"/>
              <a:ea typeface="黑体" panose="02010609060101010101" pitchFamily="49" charset="-122"/>
            </a:endParaRPr>
          </a:p>
        </p:txBody>
      </p:sp>
      <p:pic>
        <p:nvPicPr>
          <p:cNvPr id="28676" name="图片 8"/>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3061221" y="1374927"/>
            <a:ext cx="1208484" cy="41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7" name="图片 10"/>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580668" y="1463030"/>
            <a:ext cx="1630837" cy="277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8" name="图片 11"/>
          <p:cNvPicPr>
            <a:picLocks noChangeAspect="1"/>
          </p:cNvPicPr>
          <p:nvPr/>
        </p:nvPicPr>
        <p:blipFill>
          <a:blip r:embed="rId3">
            <a:extLst>
              <a:ext uri="{28A0092B-C50C-407E-A947-70E740481C1C}">
                <a14:useLocalDpi xmlns:a14="http://schemas.microsoft.com/office/drawing/2010/main" val="0"/>
              </a:ext>
            </a:extLst>
          </a:blip>
          <a:srcRect t="20432"/>
          <a:stretch>
            <a:fillRect/>
          </a:stretch>
        </p:blipFill>
        <p:spPr bwMode="auto">
          <a:xfrm>
            <a:off x="3885728" y="1916039"/>
            <a:ext cx="1393031" cy="420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9" name="图片 12"/>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386011" y="3418039"/>
            <a:ext cx="193357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80" name="图片 13"/>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743448" y="3518052"/>
            <a:ext cx="4729163"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5491" y="176524"/>
            <a:ext cx="7886700" cy="570310"/>
          </a:xfrm>
        </p:spPr>
        <p:txBody>
          <a:bodyPr vert="horz" lIns="91440" tIns="45720" rIns="91440" bIns="45720" rtlCol="0" anchor="ctr">
            <a:normAutofit fontScale="90000"/>
          </a:bodyPr>
          <a:lstStyle/>
          <a:p>
            <a:r>
              <a:rPr altLang="en-US" dirty="0" err="1">
                <a:latin typeface="黑体" panose="02010609060101010101" pitchFamily="49" charset="-122"/>
                <a:ea typeface="黑体" panose="02010609060101010101" pitchFamily="49" charset="-122"/>
              </a:rPr>
              <a:t>计算点到超平面的距离</a:t>
            </a:r>
            <a:endParaRPr altLang="zh-CN" dirty="0">
              <a:latin typeface="黑体" panose="02010609060101010101" pitchFamily="49" charset="-122"/>
              <a:ea typeface="黑体" panose="02010609060101010101" pitchFamily="49" charset="-122"/>
            </a:endParaRPr>
          </a:p>
        </p:txBody>
      </p:sp>
      <p:sp>
        <p:nvSpPr>
          <p:cNvPr id="29699" name="内容占位符 2"/>
          <p:cNvSpPr>
            <a:spLocks noGrp="1"/>
          </p:cNvSpPr>
          <p:nvPr>
            <p:ph idx="1"/>
          </p:nvPr>
        </p:nvSpPr>
        <p:spPr>
          <a:xfrm>
            <a:off x="122550" y="1566444"/>
            <a:ext cx="8730854" cy="3942160"/>
          </a:xfrm>
        </p:spPr>
        <p:txBody>
          <a:bodyPr>
            <a:normAutofit/>
          </a:bodyPr>
          <a:lstStyle/>
          <a:p>
            <a:pPr eaLnBrk="1" hangingPunct="1">
              <a:lnSpc>
                <a:spcPct val="150000"/>
              </a:lnSpc>
            </a:pPr>
            <a:r>
              <a:rPr altLang="en-US" sz="2000" b="1" dirty="0">
                <a:latin typeface="黑体" panose="02010609060101010101" pitchFamily="49" charset="-122"/>
                <a:ea typeface="黑体" panose="02010609060101010101" pitchFamily="49" charset="-122"/>
              </a:rPr>
              <a:t>设有一个超平面将两组数据划分开。</a:t>
            </a:r>
            <a:endParaRPr lang="en-US" altLang="zh-CN" sz="2000" b="1" dirty="0">
              <a:latin typeface="黑体" panose="02010609060101010101" pitchFamily="49" charset="-122"/>
              <a:ea typeface="黑体" panose="02010609060101010101" pitchFamily="49" charset="-122"/>
            </a:endParaRPr>
          </a:p>
          <a:p>
            <a:pPr eaLnBrk="1" hangingPunct="1">
              <a:lnSpc>
                <a:spcPct val="150000"/>
              </a:lnSpc>
            </a:pPr>
            <a:r>
              <a:rPr altLang="en-US" sz="2000" b="1" dirty="0">
                <a:latin typeface="黑体" panose="02010609060101010101" pitchFamily="49" charset="-122"/>
                <a:ea typeface="黑体" panose="02010609060101010101" pitchFamily="49" charset="-122"/>
              </a:rPr>
              <a:t>简化起见将</a:t>
            </a:r>
            <a:r>
              <a:rPr lang="en-US" altLang="zh-CN" sz="2000" b="1" dirty="0">
                <a:latin typeface="黑体" panose="02010609060101010101" pitchFamily="49" charset="-122"/>
                <a:ea typeface="黑体" panose="02010609060101010101" pitchFamily="49" charset="-122"/>
              </a:rPr>
              <a:t>w</a:t>
            </a:r>
            <a:r>
              <a:rPr lang="en-US" altLang="zh-CN" sz="2000" b="1" baseline="-25000" dirty="0">
                <a:latin typeface="黑体" panose="02010609060101010101" pitchFamily="49" charset="-122"/>
                <a:ea typeface="黑体" panose="02010609060101010101" pitchFamily="49" charset="-122"/>
              </a:rPr>
              <a:t>0</a:t>
            </a:r>
            <a:r>
              <a:rPr altLang="en-US" sz="2000" b="1" dirty="0">
                <a:latin typeface="黑体" panose="02010609060101010101" pitchFamily="49" charset="-122"/>
                <a:ea typeface="黑体" panose="02010609060101010101" pitchFamily="49" charset="-122"/>
              </a:rPr>
              <a:t>设为</a:t>
            </a:r>
            <a:r>
              <a:rPr lang="en-US" altLang="zh-CN" sz="2000" b="1" dirty="0">
                <a:latin typeface="黑体" panose="02010609060101010101" pitchFamily="49" charset="-122"/>
                <a:ea typeface="黑体" panose="02010609060101010101" pitchFamily="49" charset="-122"/>
              </a:rPr>
              <a:t>0</a:t>
            </a:r>
            <a:endParaRPr lang="en-US" altLang="zh-CN" sz="2000" b="1" dirty="0">
              <a:latin typeface="黑体" panose="02010609060101010101" pitchFamily="49" charset="-122"/>
              <a:ea typeface="黑体" panose="02010609060101010101" pitchFamily="49" charset="-122"/>
            </a:endParaRPr>
          </a:p>
          <a:p>
            <a:pPr eaLnBrk="1" hangingPunct="1">
              <a:lnSpc>
                <a:spcPct val="150000"/>
              </a:lnSpc>
            </a:pPr>
            <a:r>
              <a:rPr altLang="en-US" sz="2000" b="1" dirty="0">
                <a:latin typeface="黑体" panose="02010609060101010101" pitchFamily="49" charset="-122"/>
                <a:ea typeface="黑体" panose="02010609060101010101" pitchFamily="49" charset="-122"/>
              </a:rPr>
              <a:t>图中的超平面方程为：</a:t>
            </a:r>
            <a:endParaRPr lang="en-US" altLang="zh-CN" sz="2000" b="1" dirty="0">
              <a:latin typeface="黑体" panose="02010609060101010101" pitchFamily="49" charset="-122"/>
              <a:ea typeface="黑体" panose="02010609060101010101" pitchFamily="49" charset="-122"/>
            </a:endParaRPr>
          </a:p>
          <a:p>
            <a:pPr eaLnBrk="1" hangingPunct="1">
              <a:lnSpc>
                <a:spcPct val="150000"/>
              </a:lnSpc>
            </a:pPr>
            <a:r>
              <a:rPr altLang="en-US" sz="2000" b="1" dirty="0">
                <a:latin typeface="黑体" panose="02010609060101010101" pitchFamily="49" charset="-122"/>
                <a:ea typeface="黑体" panose="02010609060101010101" pitchFamily="49" charset="-122"/>
              </a:rPr>
              <a:t>相当于</a:t>
            </a:r>
            <a:endParaRPr altLang="en-US" sz="2000" b="1" dirty="0">
              <a:latin typeface="黑体" panose="02010609060101010101" pitchFamily="49" charset="-122"/>
              <a:ea typeface="黑体" panose="02010609060101010101" pitchFamily="49" charset="-122"/>
            </a:endParaRPr>
          </a:p>
        </p:txBody>
      </p:sp>
      <p:pic>
        <p:nvPicPr>
          <p:cNvPr id="29700" name="图片 4"/>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207158" y="4391203"/>
            <a:ext cx="1997832" cy="827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1" name="图片 14"/>
          <p:cNvPicPr>
            <a:picLocks noChangeAspect="1"/>
          </p:cNvPicPr>
          <p:nvPr/>
        </p:nvPicPr>
        <p:blipFill>
          <a:blip r:embed="rId2">
            <a:extLst>
              <a:ext uri="{28A0092B-C50C-407E-A947-70E740481C1C}">
                <a14:useLocalDpi xmlns:a14="http://schemas.microsoft.com/office/drawing/2010/main" val="0"/>
              </a:ext>
            </a:extLst>
          </a:blip>
          <a:srcRect t="20432"/>
          <a:stretch>
            <a:fillRect/>
          </a:stretch>
        </p:blipFill>
        <p:spPr bwMode="auto">
          <a:xfrm>
            <a:off x="1151095" y="3735479"/>
            <a:ext cx="1589485" cy="479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2" name="图片 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641913" y="2829697"/>
            <a:ext cx="1335881"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3" name="图片 7"/>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58841" y="2276787"/>
            <a:ext cx="5085159" cy="3774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40300" y="157719"/>
            <a:ext cx="7886700" cy="570310"/>
          </a:xfrm>
        </p:spPr>
        <p:txBody>
          <a:bodyPr vert="horz" lIns="91440" tIns="45720" rIns="91440" bIns="45720" rtlCol="0" anchor="ctr">
            <a:normAutofit fontScale="90000"/>
          </a:bodyPr>
          <a:lstStyle/>
          <a:p>
            <a:r>
              <a:rPr altLang="en-US" dirty="0" err="1">
                <a:latin typeface="黑体" panose="02010609060101010101" pitchFamily="49" charset="-122"/>
                <a:ea typeface="黑体" panose="02010609060101010101" pitchFamily="49" charset="-122"/>
              </a:rPr>
              <a:t>计算点到超平面的距离</a:t>
            </a:r>
            <a:endParaRPr altLang="zh-CN" dirty="0">
              <a:latin typeface="黑体" panose="02010609060101010101" pitchFamily="49" charset="-122"/>
              <a:ea typeface="黑体" panose="02010609060101010101" pitchFamily="49" charset="-122"/>
            </a:endParaRPr>
          </a:p>
        </p:txBody>
      </p:sp>
      <p:sp>
        <p:nvSpPr>
          <p:cNvPr id="30723" name="内容占位符 2"/>
          <p:cNvSpPr>
            <a:spLocks noGrp="1"/>
          </p:cNvSpPr>
          <p:nvPr>
            <p:ph idx="1"/>
          </p:nvPr>
        </p:nvSpPr>
        <p:spPr>
          <a:xfrm>
            <a:off x="169684" y="1377910"/>
            <a:ext cx="2250281" cy="3942160"/>
          </a:xfrm>
        </p:spPr>
        <p:txBody>
          <a:bodyPr>
            <a:normAutofit/>
          </a:bodyPr>
          <a:lstStyle/>
          <a:p>
            <a:pPr eaLnBrk="1" hangingPunct="1">
              <a:lnSpc>
                <a:spcPct val="150000"/>
              </a:lnSpc>
            </a:pPr>
            <a:r>
              <a:rPr altLang="en-US" sz="2000" b="1" dirty="0">
                <a:latin typeface="黑体" panose="02010609060101010101" pitchFamily="49" charset="-122"/>
                <a:ea typeface="黑体" panose="02010609060101010101" pitchFamily="49" charset="-122"/>
              </a:rPr>
              <a:t>计算一下点</a:t>
            </a:r>
            <a:r>
              <a:rPr lang="en-US" altLang="zh-CN" sz="2000" b="1" dirty="0">
                <a:latin typeface="黑体" panose="02010609060101010101" pitchFamily="49" charset="-122"/>
                <a:ea typeface="黑体" panose="02010609060101010101" pitchFamily="49" charset="-122"/>
              </a:rPr>
              <a:t>A(3,4)</a:t>
            </a:r>
            <a:r>
              <a:rPr altLang="en-US" sz="2000" b="1" dirty="0">
                <a:latin typeface="黑体" panose="02010609060101010101" pitchFamily="49" charset="-122"/>
                <a:ea typeface="黑体" panose="02010609060101010101" pitchFamily="49" charset="-122"/>
              </a:rPr>
              <a:t>到超平面的距离，</a:t>
            </a:r>
            <a:endParaRPr lang="en-US" altLang="zh-CN" sz="2000" b="1" dirty="0">
              <a:latin typeface="黑体" panose="02010609060101010101" pitchFamily="49" charset="-122"/>
              <a:ea typeface="黑体" panose="02010609060101010101" pitchFamily="49" charset="-122"/>
            </a:endParaRPr>
          </a:p>
          <a:p>
            <a:pPr eaLnBrk="1" hangingPunct="1">
              <a:lnSpc>
                <a:spcPct val="150000"/>
              </a:lnSpc>
            </a:pPr>
            <a:r>
              <a:rPr altLang="en-US" sz="2000" b="1" dirty="0">
                <a:latin typeface="黑体" panose="02010609060101010101" pitchFamily="49" charset="-122"/>
                <a:ea typeface="黑体" panose="02010609060101010101" pitchFamily="49" charset="-122"/>
              </a:rPr>
              <a:t>下图是</a:t>
            </a:r>
            <a:r>
              <a:rPr lang="en-US" altLang="zh-CN" sz="2000" b="1" dirty="0">
                <a:latin typeface="黑体" panose="02010609060101010101" pitchFamily="49" charset="-122"/>
                <a:ea typeface="黑体" panose="02010609060101010101" pitchFamily="49" charset="-122"/>
              </a:rPr>
              <a:t>A</a:t>
            </a:r>
            <a:r>
              <a:rPr altLang="en-US" sz="2000" b="1" dirty="0">
                <a:latin typeface="黑体" panose="02010609060101010101" pitchFamily="49" charset="-122"/>
                <a:ea typeface="黑体" panose="02010609060101010101" pitchFamily="49" charset="-122"/>
              </a:rPr>
              <a:t>投影到超平面的距离。 </a:t>
            </a:r>
            <a:endParaRPr lang="en-US" altLang="zh-CN" sz="2000" b="1" dirty="0">
              <a:latin typeface="黑体" panose="02010609060101010101" pitchFamily="49" charset="-122"/>
              <a:ea typeface="黑体" panose="02010609060101010101" pitchFamily="49" charset="-122"/>
            </a:endParaRPr>
          </a:p>
          <a:p>
            <a:pPr eaLnBrk="1" hangingPunct="1">
              <a:lnSpc>
                <a:spcPct val="150000"/>
              </a:lnSpc>
            </a:pPr>
            <a:endParaRPr lang="en-US" altLang="zh-CN" sz="2000" b="1" dirty="0">
              <a:latin typeface="黑体" panose="02010609060101010101" pitchFamily="49" charset="-122"/>
              <a:ea typeface="黑体" panose="02010609060101010101" pitchFamily="49" charset="-122"/>
            </a:endParaRPr>
          </a:p>
        </p:txBody>
      </p:sp>
      <p:pic>
        <p:nvPicPr>
          <p:cNvPr id="30724" name="图片 9"/>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681288" y="1600200"/>
            <a:ext cx="6384131" cy="421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60786" y="169946"/>
            <a:ext cx="7886700" cy="570310"/>
          </a:xfrm>
        </p:spPr>
        <p:txBody>
          <a:bodyPr vert="horz" lIns="91440" tIns="45720" rIns="91440" bIns="45720" rtlCol="0" anchor="ctr">
            <a:normAutofit fontScale="90000"/>
          </a:bodyPr>
          <a:lstStyle/>
          <a:p>
            <a:r>
              <a:rPr altLang="en-US" dirty="0" err="1">
                <a:latin typeface="黑体" panose="02010609060101010101" pitchFamily="49" charset="-122"/>
                <a:ea typeface="黑体" panose="02010609060101010101" pitchFamily="49" charset="-122"/>
              </a:rPr>
              <a:t>计算点到超平面的距离</a:t>
            </a:r>
            <a:endParaRPr altLang="zh-CN" dirty="0">
              <a:latin typeface="黑体" panose="02010609060101010101" pitchFamily="49" charset="-122"/>
              <a:ea typeface="黑体" panose="02010609060101010101" pitchFamily="49" charset="-122"/>
            </a:endParaRPr>
          </a:p>
        </p:txBody>
      </p:sp>
      <p:sp>
        <p:nvSpPr>
          <p:cNvPr id="31747" name="内容占位符 2"/>
          <p:cNvSpPr>
            <a:spLocks noGrp="1"/>
          </p:cNvSpPr>
          <p:nvPr>
            <p:ph idx="1"/>
          </p:nvPr>
        </p:nvSpPr>
        <p:spPr>
          <a:xfrm>
            <a:off x="1" y="1754982"/>
            <a:ext cx="2438399" cy="3942160"/>
          </a:xfrm>
        </p:spPr>
        <p:txBody>
          <a:bodyPr>
            <a:normAutofit/>
          </a:bodyPr>
          <a:lstStyle/>
          <a:p>
            <a:pPr eaLnBrk="1" hangingPunct="1">
              <a:lnSpc>
                <a:spcPct val="150000"/>
              </a:lnSpc>
            </a:pPr>
            <a:r>
              <a:rPr altLang="en-US" sz="2000" b="1" dirty="0">
                <a:latin typeface="黑体" panose="02010609060101010101" pitchFamily="49" charset="-122"/>
                <a:ea typeface="黑体" panose="02010609060101010101" pitchFamily="49" charset="-122"/>
              </a:rPr>
              <a:t>把</a:t>
            </a:r>
            <a:r>
              <a:rPr altLang="en-US" sz="2000" b="1" dirty="0">
                <a:solidFill>
                  <a:srgbClr val="FF0000"/>
                </a:solidFill>
                <a:latin typeface="黑体" panose="02010609060101010101" pitchFamily="49" charset="-122"/>
                <a:ea typeface="黑体" panose="02010609060101010101" pitchFamily="49" charset="-122"/>
              </a:rPr>
              <a:t>点</a:t>
            </a:r>
            <a:r>
              <a:rPr lang="en-US" altLang="zh-CN" sz="2000" b="1" dirty="0">
                <a:solidFill>
                  <a:srgbClr val="FF0000"/>
                </a:solidFill>
                <a:latin typeface="黑体" panose="02010609060101010101" pitchFamily="49" charset="-122"/>
                <a:ea typeface="黑体" panose="02010609060101010101" pitchFamily="49" charset="-122"/>
              </a:rPr>
              <a:t>A</a:t>
            </a:r>
            <a:r>
              <a:rPr altLang="en-US" sz="2000" b="1" dirty="0">
                <a:latin typeface="黑体" panose="02010609060101010101" pitchFamily="49" charset="-122"/>
                <a:ea typeface="黑体" panose="02010609060101010101" pitchFamily="49" charset="-122"/>
              </a:rPr>
              <a:t>视作一个从</a:t>
            </a:r>
            <a:r>
              <a:rPr altLang="en-US" sz="2000" b="1" dirty="0">
                <a:solidFill>
                  <a:srgbClr val="FF0000"/>
                </a:solidFill>
                <a:latin typeface="黑体" panose="02010609060101010101" pitchFamily="49" charset="-122"/>
                <a:ea typeface="黑体" panose="02010609060101010101" pitchFamily="49" charset="-122"/>
              </a:rPr>
              <a:t>原点指向</a:t>
            </a:r>
            <a:r>
              <a:rPr lang="en-US" altLang="zh-CN" sz="2000" b="1" dirty="0">
                <a:solidFill>
                  <a:srgbClr val="FF0000"/>
                </a:solidFill>
                <a:latin typeface="黑体" panose="02010609060101010101" pitchFamily="49" charset="-122"/>
                <a:ea typeface="黑体" panose="02010609060101010101" pitchFamily="49" charset="-122"/>
              </a:rPr>
              <a:t>A</a:t>
            </a:r>
            <a:r>
              <a:rPr altLang="en-US" sz="2000" b="1" dirty="0">
                <a:solidFill>
                  <a:srgbClr val="FF0000"/>
                </a:solidFill>
                <a:latin typeface="黑体" panose="02010609060101010101" pitchFamily="49" charset="-122"/>
                <a:ea typeface="黑体" panose="02010609060101010101" pitchFamily="49" charset="-122"/>
              </a:rPr>
              <a:t>的向量</a:t>
            </a:r>
            <a:r>
              <a:rPr altLang="en-US" sz="2000" b="1" dirty="0">
                <a:latin typeface="黑体" panose="02010609060101010101" pitchFamily="49" charset="-122"/>
                <a:ea typeface="黑体" panose="02010609060101010101" pitchFamily="49" charset="-122"/>
              </a:rPr>
              <a:t>。再将</a:t>
            </a:r>
            <a:r>
              <a:rPr lang="en-US" altLang="zh-CN" sz="2000" b="1" dirty="0">
                <a:latin typeface="黑体" panose="02010609060101010101" pitchFamily="49" charset="-122"/>
                <a:ea typeface="黑体" panose="02010609060101010101" pitchFamily="49" charset="-122"/>
              </a:rPr>
              <a:t>A</a:t>
            </a:r>
            <a:r>
              <a:rPr altLang="en-US" sz="2000" b="1" dirty="0">
                <a:latin typeface="黑体" panose="02010609060101010101" pitchFamily="49" charset="-122"/>
                <a:ea typeface="黑体" panose="02010609060101010101" pitchFamily="49" charset="-122"/>
              </a:rPr>
              <a:t>向量投影到向量</a:t>
            </a:r>
            <a:r>
              <a:rPr lang="en-US" altLang="zh-CN" sz="2000" b="1" dirty="0">
                <a:latin typeface="黑体" panose="02010609060101010101" pitchFamily="49" charset="-122"/>
                <a:ea typeface="黑体" panose="02010609060101010101" pitchFamily="49" charset="-122"/>
              </a:rPr>
              <a:t>w</a:t>
            </a:r>
            <a:r>
              <a:rPr altLang="en-US" sz="2000" b="1" dirty="0">
                <a:latin typeface="黑体" panose="02010609060101010101" pitchFamily="49" charset="-122"/>
                <a:ea typeface="黑体" panose="02010609060101010101" pitchFamily="49" charset="-122"/>
              </a:rPr>
              <a:t>上。 </a:t>
            </a:r>
            <a:endParaRPr lang="en-US" altLang="zh-CN" sz="2000" b="1" dirty="0">
              <a:latin typeface="黑体" panose="02010609060101010101" pitchFamily="49" charset="-122"/>
              <a:ea typeface="黑体" panose="02010609060101010101" pitchFamily="49" charset="-122"/>
            </a:endParaRPr>
          </a:p>
        </p:txBody>
      </p:sp>
      <p:pic>
        <p:nvPicPr>
          <p:cNvPr id="31748"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627710" y="1724025"/>
            <a:ext cx="6403181" cy="3982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7388" y="193551"/>
            <a:ext cx="7886700" cy="570310"/>
          </a:xfrm>
        </p:spPr>
        <p:txBody>
          <a:bodyPr vert="horz" lIns="91440" tIns="45720" rIns="91440" bIns="45720" rtlCol="0" anchor="ctr">
            <a:normAutofit fontScale="90000"/>
          </a:bodyPr>
          <a:lstStyle/>
          <a:p>
            <a:r>
              <a:rPr altLang="en-US" dirty="0" err="1">
                <a:latin typeface="黑体" panose="02010609060101010101" pitchFamily="49" charset="-122"/>
                <a:ea typeface="黑体" panose="02010609060101010101" pitchFamily="49" charset="-122"/>
              </a:rPr>
              <a:t>计算点到超平面的距离</a:t>
            </a:r>
            <a:endParaRPr altLang="zh-CN" dirty="0">
              <a:latin typeface="黑体" panose="02010609060101010101" pitchFamily="49" charset="-122"/>
              <a:ea typeface="黑体" panose="02010609060101010101" pitchFamily="49" charset="-122"/>
            </a:endParaRPr>
          </a:p>
        </p:txBody>
      </p:sp>
      <p:sp>
        <p:nvSpPr>
          <p:cNvPr id="32771" name="内容占位符 2"/>
          <p:cNvSpPr>
            <a:spLocks noGrp="1"/>
          </p:cNvSpPr>
          <p:nvPr>
            <p:ph idx="1"/>
          </p:nvPr>
        </p:nvSpPr>
        <p:spPr>
          <a:xfrm>
            <a:off x="139302" y="1699023"/>
            <a:ext cx="2249091" cy="3942159"/>
          </a:xfrm>
        </p:spPr>
        <p:txBody>
          <a:bodyPr vert="horz" lIns="91440" tIns="46800" rIns="91440" bIns="45720" rtlCol="0">
            <a:normAutofit/>
          </a:bodyPr>
          <a:lstStyle/>
          <a:p>
            <a:pPr>
              <a:lnSpc>
                <a:spcPct val="150000"/>
              </a:lnSpc>
            </a:pPr>
            <a:r>
              <a:rPr altLang="en-US" sz="2000" b="1" dirty="0">
                <a:latin typeface="黑体" panose="02010609060101010101" pitchFamily="49" charset="-122"/>
                <a:ea typeface="黑体" panose="02010609060101010101" pitchFamily="49" charset="-122"/>
              </a:rPr>
              <a:t>得到向量</a:t>
            </a:r>
            <a:r>
              <a:rPr lang="en-US" altLang="zh-CN" sz="2000" b="1" dirty="0">
                <a:latin typeface="黑体" panose="02010609060101010101" pitchFamily="49" charset="-122"/>
                <a:ea typeface="黑体" panose="02010609060101010101" pitchFamily="49" charset="-122"/>
              </a:rPr>
              <a:t>p</a:t>
            </a:r>
            <a:endParaRPr lang="en-US" altLang="zh-CN" sz="2000" b="1" dirty="0">
              <a:latin typeface="黑体" panose="02010609060101010101" pitchFamily="49" charset="-122"/>
              <a:ea typeface="黑体" panose="02010609060101010101" pitchFamily="49" charset="-122"/>
            </a:endParaRPr>
          </a:p>
        </p:txBody>
      </p:sp>
      <p:pic>
        <p:nvPicPr>
          <p:cNvPr id="32772" name="图片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928191" y="1055267"/>
            <a:ext cx="7076507" cy="4585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1223" y="192404"/>
            <a:ext cx="7886700" cy="570310"/>
          </a:xfrm>
        </p:spPr>
        <p:txBody>
          <a:bodyPr vert="horz" lIns="91440" tIns="45720" rIns="91440" bIns="45720" rtlCol="0" anchor="ctr">
            <a:normAutofit fontScale="90000"/>
          </a:bodyPr>
          <a:lstStyle/>
          <a:p>
            <a:r>
              <a:rPr altLang="en-US" dirty="0" err="1">
                <a:latin typeface="黑体" panose="02010609060101010101" pitchFamily="49" charset="-122"/>
                <a:ea typeface="黑体" panose="02010609060101010101" pitchFamily="49" charset="-122"/>
              </a:rPr>
              <a:t>计算点到超平面的距离</a:t>
            </a:r>
            <a:endParaRPr altLang="zh-CN" dirty="0">
              <a:latin typeface="黑体" panose="02010609060101010101" pitchFamily="49" charset="-122"/>
              <a:ea typeface="黑体" panose="02010609060101010101" pitchFamily="49" charset="-122"/>
            </a:endParaRPr>
          </a:p>
        </p:txBody>
      </p:sp>
      <p:sp>
        <p:nvSpPr>
          <p:cNvPr id="33795" name="内容占位符 2"/>
          <p:cNvSpPr>
            <a:spLocks noGrp="1"/>
          </p:cNvSpPr>
          <p:nvPr>
            <p:ph idx="1"/>
          </p:nvPr>
        </p:nvSpPr>
        <p:spPr>
          <a:xfrm>
            <a:off x="175022" y="1044510"/>
            <a:ext cx="7615238" cy="3942159"/>
          </a:xfrm>
        </p:spPr>
        <p:txBody>
          <a:bodyPr/>
          <a:lstStyle/>
          <a:p>
            <a:pPr eaLnBrk="1" hangingPunct="1">
              <a:lnSpc>
                <a:spcPct val="150000"/>
              </a:lnSpc>
            </a:pPr>
            <a:r>
              <a:rPr altLang="en-US" sz="1800" b="1" dirty="0">
                <a:latin typeface="黑体" panose="02010609060101010101" pitchFamily="49" charset="-122"/>
                <a:ea typeface="黑体" panose="02010609060101010101" pitchFamily="49" charset="-122"/>
              </a:rPr>
              <a:t>目标是计算点</a:t>
            </a:r>
            <a:r>
              <a:rPr lang="en-US" altLang="zh-CN" sz="1800" b="1" dirty="0">
                <a:latin typeface="黑体" panose="02010609060101010101" pitchFamily="49" charset="-122"/>
                <a:ea typeface="黑体" panose="02010609060101010101" pitchFamily="49" charset="-122"/>
              </a:rPr>
              <a:t>A(3,4)</a:t>
            </a:r>
            <a:r>
              <a:rPr altLang="en-US" sz="1800" b="1" dirty="0">
                <a:latin typeface="黑体" panose="02010609060101010101" pitchFamily="49" charset="-122"/>
                <a:ea typeface="黑体" panose="02010609060101010101" pitchFamily="49" charset="-122"/>
              </a:rPr>
              <a:t>和超平面之间的距离。从图中可以很清楚看到这个距离就是</a:t>
            </a:r>
            <a:r>
              <a:rPr lang="en-US" altLang="zh-CN" sz="1800" b="1" dirty="0">
                <a:latin typeface="黑体" panose="02010609060101010101" pitchFamily="49" charset="-122"/>
                <a:ea typeface="黑体" panose="02010609060101010101" pitchFamily="49" charset="-122"/>
              </a:rPr>
              <a:t>‖p‖</a:t>
            </a:r>
            <a:r>
              <a:rPr altLang="en-US" sz="1800" b="1" dirty="0">
                <a:latin typeface="黑体" panose="02010609060101010101" pitchFamily="49" charset="-122"/>
                <a:ea typeface="黑体" panose="02010609060101010101" pitchFamily="49" charset="-122"/>
              </a:rPr>
              <a:t>。向量</a:t>
            </a:r>
            <a:r>
              <a:rPr lang="en-US" altLang="zh-CN" sz="1800" b="1" dirty="0">
                <a:latin typeface="黑体" panose="02010609060101010101" pitchFamily="49" charset="-122"/>
                <a:ea typeface="黑体" panose="02010609060101010101" pitchFamily="49" charset="-122"/>
              </a:rPr>
              <a:t>a=(3,4).</a:t>
            </a:r>
            <a:endParaRPr altLang="en-US" sz="1800" b="1" dirty="0">
              <a:latin typeface="黑体" panose="02010609060101010101" pitchFamily="49" charset="-122"/>
              <a:ea typeface="黑体" panose="02010609060101010101" pitchFamily="49" charset="-122"/>
            </a:endParaRPr>
          </a:p>
          <a:p>
            <a:pPr eaLnBrk="1" hangingPunct="1">
              <a:lnSpc>
                <a:spcPct val="150000"/>
              </a:lnSpc>
            </a:pPr>
            <a:r>
              <a:rPr altLang="en-US" sz="1800" b="1" dirty="0">
                <a:latin typeface="黑体" panose="02010609060101010101" pitchFamily="49" charset="-122"/>
                <a:ea typeface="黑体" panose="02010609060101010101" pitchFamily="49" charset="-122"/>
              </a:rPr>
              <a:t>向量</a:t>
            </a:r>
            <a:r>
              <a:rPr lang="en-US" altLang="zh-CN" sz="1800" b="1" dirty="0">
                <a:latin typeface="黑体" panose="02010609060101010101" pitchFamily="49" charset="-122"/>
                <a:ea typeface="黑体" panose="02010609060101010101" pitchFamily="49" charset="-122"/>
              </a:rPr>
              <a:t>w=(2,1)</a:t>
            </a:r>
            <a:r>
              <a:rPr altLang="en-US" sz="1800" b="1" dirty="0">
                <a:latin typeface="黑体" panose="02010609060101010101" pitchFamily="49" charset="-122"/>
                <a:ea typeface="黑体" panose="02010609060101010101" pitchFamily="49" charset="-122"/>
              </a:rPr>
              <a:t>垂直于超平面</a:t>
            </a:r>
            <a:endParaRPr lang="en-US" altLang="zh-CN" sz="1800" b="1" dirty="0">
              <a:latin typeface="黑体" panose="02010609060101010101" pitchFamily="49" charset="-122"/>
              <a:ea typeface="黑体" panose="02010609060101010101" pitchFamily="49" charset="-122"/>
            </a:endParaRPr>
          </a:p>
          <a:p>
            <a:pPr eaLnBrk="1" hangingPunct="1">
              <a:lnSpc>
                <a:spcPct val="150000"/>
              </a:lnSpc>
            </a:pPr>
            <a:r>
              <a:rPr altLang="en-US" sz="1800" b="1" dirty="0">
                <a:latin typeface="黑体" panose="02010609060101010101" pitchFamily="49" charset="-122"/>
                <a:ea typeface="黑体" panose="02010609060101010101" pitchFamily="49" charset="-122"/>
              </a:rPr>
              <a:t>设向量</a:t>
            </a:r>
            <a:r>
              <a:rPr lang="en-US" altLang="zh-CN" sz="1800" b="1" dirty="0">
                <a:latin typeface="黑体" panose="02010609060101010101" pitchFamily="49" charset="-122"/>
                <a:ea typeface="黑体" panose="02010609060101010101" pitchFamily="49" charset="-122"/>
              </a:rPr>
              <a:t>u</a:t>
            </a:r>
            <a:r>
              <a:rPr altLang="en-US" sz="1800" b="1" dirty="0">
                <a:latin typeface="黑体" panose="02010609060101010101" pitchFamily="49" charset="-122"/>
                <a:ea typeface="黑体" panose="02010609060101010101" pitchFamily="49" charset="-122"/>
              </a:rPr>
              <a:t>为</a:t>
            </a:r>
            <a:r>
              <a:rPr lang="en-US" altLang="zh-CN" sz="1800" b="1" dirty="0">
                <a:latin typeface="黑体" panose="02010609060101010101" pitchFamily="49" charset="-122"/>
                <a:ea typeface="黑体" panose="02010609060101010101" pitchFamily="49" charset="-122"/>
              </a:rPr>
              <a:t>w</a:t>
            </a:r>
            <a:r>
              <a:rPr altLang="en-US" sz="1800" b="1" dirty="0">
                <a:latin typeface="黑体" panose="02010609060101010101" pitchFamily="49" charset="-122"/>
                <a:ea typeface="黑体" panose="02010609060101010101" pitchFamily="49" charset="-122"/>
              </a:rPr>
              <a:t>的</a:t>
            </a:r>
            <a:r>
              <a:rPr altLang="en-US" sz="1800" b="1" dirty="0">
                <a:solidFill>
                  <a:srgbClr val="FF0000"/>
                </a:solidFill>
                <a:latin typeface="黑体" panose="02010609060101010101" pitchFamily="49" charset="-122"/>
                <a:ea typeface="黑体" panose="02010609060101010101" pitchFamily="49" charset="-122"/>
              </a:rPr>
              <a:t>方向向量</a:t>
            </a:r>
            <a:endParaRPr lang="en-US" altLang="zh-CN" sz="1800" b="1" dirty="0">
              <a:solidFill>
                <a:srgbClr val="FF0000"/>
              </a:solidFill>
              <a:latin typeface="黑体" panose="02010609060101010101" pitchFamily="49" charset="-122"/>
              <a:ea typeface="黑体" panose="02010609060101010101" pitchFamily="49" charset="-122"/>
            </a:endParaRPr>
          </a:p>
          <a:p>
            <a:pPr eaLnBrk="1" hangingPunct="1">
              <a:lnSpc>
                <a:spcPct val="150000"/>
              </a:lnSpc>
            </a:pPr>
            <a:r>
              <a:rPr lang="en-US" altLang="zh-CN" sz="1800" b="1" dirty="0">
                <a:latin typeface="黑体" panose="02010609060101010101" pitchFamily="49" charset="-122"/>
                <a:ea typeface="黑体" panose="02010609060101010101" pitchFamily="49" charset="-122"/>
              </a:rPr>
              <a:t>p </a:t>
            </a:r>
            <a:r>
              <a:rPr altLang="en-US" sz="1800" b="1" dirty="0">
                <a:latin typeface="黑体" panose="02010609060101010101" pitchFamily="49" charset="-122"/>
                <a:ea typeface="黑体" panose="02010609060101010101" pitchFamily="49" charset="-122"/>
              </a:rPr>
              <a:t>是</a:t>
            </a:r>
            <a:r>
              <a:rPr lang="en-US" altLang="zh-CN" sz="1800" b="1" dirty="0">
                <a:latin typeface="黑体" panose="02010609060101010101" pitchFamily="49" charset="-122"/>
                <a:ea typeface="黑体" panose="02010609060101010101" pitchFamily="49" charset="-122"/>
              </a:rPr>
              <a:t>a</a:t>
            </a:r>
            <a:r>
              <a:rPr altLang="en-US" sz="1800" b="1" dirty="0">
                <a:latin typeface="黑体" panose="02010609060101010101" pitchFamily="49" charset="-122"/>
                <a:ea typeface="黑体" panose="02010609060101010101" pitchFamily="49" charset="-122"/>
              </a:rPr>
              <a:t>在</a:t>
            </a:r>
            <a:r>
              <a:rPr lang="en-US" altLang="zh-CN" sz="1800" b="1" dirty="0">
                <a:latin typeface="黑体" panose="02010609060101010101" pitchFamily="49" charset="-122"/>
                <a:ea typeface="黑体" panose="02010609060101010101" pitchFamily="49" charset="-122"/>
              </a:rPr>
              <a:t>w</a:t>
            </a:r>
            <a:r>
              <a:rPr altLang="en-US" sz="1800" b="1" dirty="0">
                <a:latin typeface="黑体" panose="02010609060101010101" pitchFamily="49" charset="-122"/>
                <a:ea typeface="黑体" panose="02010609060101010101" pitchFamily="49" charset="-122"/>
              </a:rPr>
              <a:t>上的投影，所以： </a:t>
            </a:r>
            <a:endParaRPr lang="en-US" altLang="zh-CN" sz="1800" b="1" dirty="0">
              <a:latin typeface="黑体" panose="02010609060101010101" pitchFamily="49" charset="-122"/>
              <a:ea typeface="黑体" panose="02010609060101010101" pitchFamily="49" charset="-122"/>
            </a:endParaRPr>
          </a:p>
        </p:txBody>
      </p:sp>
      <p:pic>
        <p:nvPicPr>
          <p:cNvPr id="33796"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3323760" y="2001176"/>
            <a:ext cx="2714625"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7" name="图片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202654" y="2501239"/>
            <a:ext cx="1422797"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8" name="图片 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1223" y="3867481"/>
            <a:ext cx="2035969"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9" name="图片 7"/>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674438" y="2578628"/>
            <a:ext cx="3244904" cy="264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800" name="图片 8"/>
          <p:cNvPicPr>
            <a:picLocks noChangeAspect="1"/>
          </p:cNvPicPr>
          <p:nvPr/>
        </p:nvPicPr>
        <p:blipFill>
          <a:blip r:embed="rId5">
            <a:extLst>
              <a:ext uri="{28A0092B-C50C-407E-A947-70E740481C1C}">
                <a14:useLocalDpi xmlns:a14="http://schemas.microsoft.com/office/drawing/2010/main" val="0"/>
              </a:ext>
            </a:extLst>
          </a:blip>
          <a:srcRect l="31239" r="20860"/>
          <a:stretch>
            <a:fillRect/>
          </a:stretch>
        </p:blipFill>
        <p:spPr bwMode="auto">
          <a:xfrm>
            <a:off x="2519362" y="3867482"/>
            <a:ext cx="1463279" cy="445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801" name="图片 9"/>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60993" y="5089061"/>
            <a:ext cx="2814638" cy="407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802" name="图片 10"/>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3017315" y="5064058"/>
            <a:ext cx="2800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矩形 11"/>
          <p:cNvSpPr/>
          <p:nvPr/>
        </p:nvSpPr>
        <p:spPr>
          <a:xfrm>
            <a:off x="2953736" y="5136920"/>
            <a:ext cx="973931" cy="270272"/>
          </a:xfrm>
          <a:prstGeom prst="rect">
            <a:avLst/>
          </a:prstGeom>
          <a:no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350" b="1">
              <a:latin typeface="黑体" panose="02010609060101010101" pitchFamily="49" charset="-122"/>
              <a:ea typeface="黑体" panose="02010609060101010101" pitchFamily="49"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7644" y="159396"/>
            <a:ext cx="7886700" cy="570310"/>
          </a:xfrm>
        </p:spPr>
        <p:txBody>
          <a:bodyPr vert="horz" lIns="91440" tIns="45720" rIns="91440" bIns="45720" rtlCol="0" anchor="ctr">
            <a:normAutofit fontScale="90000"/>
          </a:bodyPr>
          <a:lstStyle/>
          <a:p>
            <a:r>
              <a:rPr altLang="en-US" dirty="0" err="1">
                <a:latin typeface="黑体" panose="02010609060101010101" pitchFamily="49" charset="-122"/>
                <a:ea typeface="黑体" panose="02010609060101010101" pitchFamily="49" charset="-122"/>
              </a:rPr>
              <a:t>如何找到最优超平面</a:t>
            </a:r>
            <a:endParaRPr altLang="zh-CN" dirty="0">
              <a:latin typeface="黑体" panose="02010609060101010101" pitchFamily="49" charset="-122"/>
              <a:ea typeface="黑体" panose="02010609060101010101" pitchFamily="49" charset="-122"/>
            </a:endParaRPr>
          </a:p>
        </p:txBody>
      </p:sp>
      <p:sp>
        <p:nvSpPr>
          <p:cNvPr id="34819" name="内容占位符 2"/>
          <p:cNvSpPr>
            <a:spLocks noGrp="1"/>
          </p:cNvSpPr>
          <p:nvPr>
            <p:ph idx="1"/>
          </p:nvPr>
        </p:nvSpPr>
        <p:spPr>
          <a:xfrm>
            <a:off x="197644" y="1808560"/>
            <a:ext cx="2094982" cy="3942159"/>
          </a:xfrm>
        </p:spPr>
        <p:txBody>
          <a:bodyPr vert="horz" lIns="91440" tIns="46800" rIns="91440" bIns="45720" rtlCol="0">
            <a:normAutofit/>
          </a:bodyPr>
          <a:lstStyle/>
          <a:p>
            <a:pPr>
              <a:lnSpc>
                <a:spcPct val="150000"/>
              </a:lnSpc>
            </a:pPr>
            <a:r>
              <a:rPr altLang="en-US" sz="1800" b="1" dirty="0">
                <a:latin typeface="黑体" panose="02010609060101010101" pitchFamily="49" charset="-122"/>
                <a:ea typeface="黑体" panose="02010609060101010101" pitchFamily="49" charset="-122"/>
              </a:rPr>
              <a:t>刚才的分类面不是最优</a:t>
            </a:r>
            <a:endParaRPr lang="en-US" altLang="zh-CN" sz="1800" b="1" dirty="0">
              <a:latin typeface="黑体" panose="02010609060101010101" pitchFamily="49" charset="-122"/>
              <a:ea typeface="黑体" panose="02010609060101010101" pitchFamily="49" charset="-122"/>
            </a:endParaRPr>
          </a:p>
          <a:p>
            <a:pPr>
              <a:lnSpc>
                <a:spcPct val="150000"/>
              </a:lnSpc>
            </a:pPr>
            <a:r>
              <a:rPr altLang="en-US" sz="1800" b="1" dirty="0">
                <a:latin typeface="黑体" panose="02010609060101010101" pitchFamily="49" charset="-122"/>
                <a:ea typeface="黑体" panose="02010609060101010101" pitchFamily="49" charset="-122"/>
              </a:rPr>
              <a:t>原因是未过</a:t>
            </a:r>
            <a:r>
              <a:rPr lang="en-US" altLang="zh-CN" sz="1800" b="1" dirty="0">
                <a:latin typeface="黑体" panose="02010609060101010101" pitchFamily="49" charset="-122"/>
                <a:ea typeface="黑体" panose="02010609060101010101" pitchFamily="49" charset="-122"/>
              </a:rPr>
              <a:t>G</a:t>
            </a:r>
            <a:r>
              <a:rPr altLang="en-US" sz="1800" b="1" dirty="0">
                <a:latin typeface="黑体" panose="02010609060101010101" pitchFamily="49" charset="-122"/>
                <a:ea typeface="黑体" panose="02010609060101010101" pitchFamily="49" charset="-122"/>
              </a:rPr>
              <a:t>点</a:t>
            </a:r>
            <a:endParaRPr lang="en-US" altLang="zh-CN" sz="1800" b="1" dirty="0">
              <a:latin typeface="黑体" panose="02010609060101010101" pitchFamily="49" charset="-122"/>
              <a:ea typeface="黑体" panose="02010609060101010101" pitchFamily="49" charset="-122"/>
            </a:endParaRPr>
          </a:p>
        </p:txBody>
      </p:sp>
      <p:pic>
        <p:nvPicPr>
          <p:cNvPr id="34820" name="图片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789635" y="1460898"/>
            <a:ext cx="6291263" cy="4192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7157" y="178523"/>
            <a:ext cx="7886700" cy="570310"/>
          </a:xfrm>
        </p:spPr>
        <p:txBody>
          <a:bodyPr vert="horz" lIns="91440" tIns="45720" rIns="91440" bIns="45720" rtlCol="0" anchor="ctr">
            <a:normAutofit fontScale="90000"/>
          </a:bodyPr>
          <a:lstStyle/>
          <a:p>
            <a:r>
              <a:rPr altLang="en-US" dirty="0" err="1">
                <a:latin typeface="黑体" panose="02010609060101010101" pitchFamily="49" charset="-122"/>
                <a:ea typeface="黑体" panose="02010609060101010101" pitchFamily="49" charset="-122"/>
              </a:rPr>
              <a:t>如何找到最优超平面</a:t>
            </a:r>
            <a:endParaRPr altLang="zh-CN" dirty="0">
              <a:latin typeface="黑体" panose="02010609060101010101" pitchFamily="49" charset="-122"/>
              <a:ea typeface="黑体" panose="02010609060101010101" pitchFamily="49" charset="-122"/>
            </a:endParaRPr>
          </a:p>
        </p:txBody>
      </p:sp>
      <p:sp>
        <p:nvSpPr>
          <p:cNvPr id="35843" name="内容占位符 2"/>
          <p:cNvSpPr>
            <a:spLocks noGrp="1"/>
          </p:cNvSpPr>
          <p:nvPr>
            <p:ph idx="1"/>
          </p:nvPr>
        </p:nvSpPr>
        <p:spPr>
          <a:xfrm>
            <a:off x="197644" y="1808560"/>
            <a:ext cx="2459417" cy="3942159"/>
          </a:xfrm>
        </p:spPr>
        <p:txBody>
          <a:bodyPr vert="horz" lIns="91440" tIns="46800" rIns="91440" bIns="45720" rtlCol="0">
            <a:normAutofit/>
          </a:bodyPr>
          <a:lstStyle/>
          <a:p>
            <a:pPr>
              <a:lnSpc>
                <a:spcPct val="150000"/>
              </a:lnSpc>
            </a:pPr>
            <a:r>
              <a:rPr altLang="en-US" sz="1800" b="1" dirty="0">
                <a:latin typeface="黑体" panose="02010609060101010101" pitchFamily="49" charset="-122"/>
                <a:ea typeface="黑体" panose="02010609060101010101" pitchFamily="49" charset="-122"/>
              </a:rPr>
              <a:t>最优超平面，在刚才找的最初的超平面的稍左位置。最大间隔为</a:t>
            </a:r>
            <a:r>
              <a:rPr lang="en-US" altLang="zh-CN" sz="1800" b="1" dirty="0">
                <a:latin typeface="黑体" panose="02010609060101010101" pitchFamily="49" charset="-122"/>
                <a:ea typeface="黑体" panose="02010609060101010101" pitchFamily="49" charset="-122"/>
              </a:rPr>
              <a:t>M2</a:t>
            </a:r>
            <a:r>
              <a:rPr altLang="en-US" sz="1800" b="1" dirty="0">
                <a:latin typeface="黑体" panose="02010609060101010101" pitchFamily="49" charset="-122"/>
                <a:ea typeface="黑体" panose="02010609060101010101" pitchFamily="49" charset="-122"/>
              </a:rPr>
              <a:t>。</a:t>
            </a:r>
            <a:endParaRPr lang="en-US" altLang="zh-CN" sz="1800" b="1" dirty="0">
              <a:latin typeface="黑体" panose="02010609060101010101" pitchFamily="49" charset="-122"/>
              <a:ea typeface="黑体" panose="02010609060101010101" pitchFamily="49" charset="-122"/>
            </a:endParaRPr>
          </a:p>
          <a:p>
            <a:pPr>
              <a:lnSpc>
                <a:spcPct val="150000"/>
              </a:lnSpc>
            </a:pPr>
            <a:r>
              <a:rPr altLang="en-US" sz="1800" b="1" dirty="0">
                <a:solidFill>
                  <a:srgbClr val="FF0000"/>
                </a:solidFill>
                <a:latin typeface="黑体" panose="02010609060101010101" pitchFamily="49" charset="-122"/>
                <a:ea typeface="黑体" panose="02010609060101010101" pitchFamily="49" charset="-122"/>
              </a:rPr>
              <a:t>寻找最大间隔，就是寻找最优超平面</a:t>
            </a:r>
            <a:endParaRPr altLang="en-US" sz="1800" b="1" dirty="0">
              <a:solidFill>
                <a:srgbClr val="FF0000"/>
              </a:solidFill>
              <a:latin typeface="黑体" panose="02010609060101010101" pitchFamily="49" charset="-122"/>
              <a:ea typeface="黑体" panose="02010609060101010101" pitchFamily="49" charset="-122"/>
            </a:endParaRPr>
          </a:p>
          <a:p>
            <a:pPr>
              <a:lnSpc>
                <a:spcPct val="150000"/>
              </a:lnSpc>
            </a:pPr>
            <a:endParaRPr lang="en-US" altLang="zh-CN" sz="1800" b="1" dirty="0">
              <a:latin typeface="黑体" panose="02010609060101010101" pitchFamily="49" charset="-122"/>
              <a:ea typeface="黑体" panose="02010609060101010101" pitchFamily="49" charset="-122"/>
            </a:endParaRPr>
          </a:p>
        </p:txBody>
      </p:sp>
      <p:pic>
        <p:nvPicPr>
          <p:cNvPr id="35844"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844403" y="1593056"/>
            <a:ext cx="6156722" cy="4015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7644" y="174971"/>
            <a:ext cx="7886700" cy="570310"/>
          </a:xfrm>
        </p:spPr>
        <p:txBody>
          <a:bodyPr vert="horz" lIns="91440" tIns="45720" rIns="91440" bIns="45720" rtlCol="0" anchor="ctr">
            <a:normAutofit fontScale="90000"/>
          </a:bodyPr>
          <a:lstStyle/>
          <a:p>
            <a:r>
              <a:rPr altLang="en-US" dirty="0" err="1">
                <a:latin typeface="黑体" panose="02010609060101010101" pitchFamily="49" charset="-122"/>
                <a:ea typeface="黑体" panose="02010609060101010101" pitchFamily="49" charset="-122"/>
              </a:rPr>
              <a:t>如何找到最大间隔</a:t>
            </a:r>
            <a:endParaRPr altLang="zh-CN" dirty="0">
              <a:latin typeface="黑体" panose="02010609060101010101" pitchFamily="49" charset="-122"/>
              <a:ea typeface="黑体" panose="02010609060101010101" pitchFamily="49" charset="-122"/>
            </a:endParaRPr>
          </a:p>
        </p:txBody>
      </p:sp>
      <p:sp>
        <p:nvSpPr>
          <p:cNvPr id="36867" name="内容占位符 2"/>
          <p:cNvSpPr>
            <a:spLocks noGrp="1"/>
          </p:cNvSpPr>
          <p:nvPr>
            <p:ph idx="1"/>
          </p:nvPr>
        </p:nvSpPr>
        <p:spPr>
          <a:xfrm>
            <a:off x="197644" y="1808560"/>
            <a:ext cx="7886700" cy="2700338"/>
          </a:xfrm>
        </p:spPr>
        <p:txBody>
          <a:bodyPr vert="horz" lIns="91440" tIns="46800" rIns="91440" bIns="45720" rtlCol="0">
            <a:normAutofit/>
          </a:bodyPr>
          <a:lstStyle/>
          <a:p>
            <a:pPr>
              <a:lnSpc>
                <a:spcPct val="150000"/>
              </a:lnSpc>
            </a:pPr>
            <a:r>
              <a:rPr altLang="en-US" sz="2000" b="1" dirty="0">
                <a:latin typeface="黑体" panose="02010609060101010101" pitchFamily="49" charset="-122"/>
                <a:ea typeface="黑体" panose="02010609060101010101" pitchFamily="49" charset="-122"/>
              </a:rPr>
              <a:t>读取数据集。</a:t>
            </a:r>
            <a:endParaRPr altLang="en-US" sz="2000" b="1" dirty="0">
              <a:latin typeface="黑体" panose="02010609060101010101" pitchFamily="49" charset="-122"/>
              <a:ea typeface="黑体" panose="02010609060101010101" pitchFamily="49" charset="-122"/>
            </a:endParaRPr>
          </a:p>
          <a:p>
            <a:pPr>
              <a:lnSpc>
                <a:spcPct val="150000"/>
              </a:lnSpc>
            </a:pPr>
            <a:r>
              <a:rPr altLang="en-US" sz="2000" b="1" dirty="0">
                <a:solidFill>
                  <a:srgbClr val="FF0000"/>
                </a:solidFill>
                <a:latin typeface="黑体" panose="02010609060101010101" pitchFamily="49" charset="-122"/>
                <a:ea typeface="黑体" panose="02010609060101010101" pitchFamily="49" charset="-122"/>
              </a:rPr>
              <a:t>找到两个平行超平面，可以划分数据并且两平面之间没有数据点。</a:t>
            </a:r>
            <a:endParaRPr altLang="en-US" sz="2000" b="1" dirty="0">
              <a:solidFill>
                <a:srgbClr val="FF0000"/>
              </a:solidFill>
              <a:latin typeface="黑体" panose="02010609060101010101" pitchFamily="49" charset="-122"/>
              <a:ea typeface="黑体" panose="02010609060101010101" pitchFamily="49" charset="-122"/>
            </a:endParaRPr>
          </a:p>
          <a:p>
            <a:pPr>
              <a:lnSpc>
                <a:spcPct val="150000"/>
              </a:lnSpc>
            </a:pPr>
            <a:r>
              <a:rPr altLang="en-US" sz="2000" b="1" dirty="0">
                <a:solidFill>
                  <a:srgbClr val="FF0000"/>
                </a:solidFill>
                <a:latin typeface="黑体" panose="02010609060101010101" pitchFamily="49" charset="-122"/>
                <a:ea typeface="黑体" panose="02010609060101010101" pitchFamily="49" charset="-122"/>
              </a:rPr>
              <a:t>最大化上述两个超平面间隔</a:t>
            </a:r>
            <a:endParaRPr altLang="en-US" sz="2000" b="1" dirty="0">
              <a:solidFill>
                <a:srgbClr val="FF0000"/>
              </a:solidFill>
              <a:latin typeface="黑体" panose="02010609060101010101" pitchFamily="49" charset="-122"/>
              <a:ea typeface="黑体" panose="02010609060101010101" pitchFamily="49" charset="-122"/>
            </a:endParaRPr>
          </a:p>
          <a:p>
            <a:pPr>
              <a:lnSpc>
                <a:spcPct val="150000"/>
              </a:lnSpc>
            </a:pPr>
            <a:endParaRPr altLang="en-US" sz="2000" b="1" dirty="0">
              <a:latin typeface="黑体" panose="02010609060101010101" pitchFamily="49" charset="-122"/>
              <a:ea typeface="黑体" panose="02010609060101010101" pitchFamily="49" charset="-122"/>
            </a:endParaRPr>
          </a:p>
          <a:p>
            <a:pPr>
              <a:lnSpc>
                <a:spcPct val="150000"/>
              </a:lnSpc>
            </a:pPr>
            <a:endParaRPr lang="en-US" altLang="zh-CN" sz="2000" b="1" dirty="0">
              <a:latin typeface="黑体" panose="02010609060101010101" pitchFamily="49" charset="-122"/>
              <a:ea typeface="黑体" panose="02010609060101010101" pitchFamily="49"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09757" y="155039"/>
            <a:ext cx="7886700" cy="570310"/>
          </a:xfrm>
        </p:spPr>
        <p:txBody>
          <a:bodyPr vert="horz" lIns="91440" tIns="45720" rIns="91440" bIns="45720" rtlCol="0" anchor="ctr">
            <a:normAutofit fontScale="90000"/>
          </a:bodyPr>
          <a:lstStyle/>
          <a:p>
            <a:r>
              <a:rPr altLang="en-US" dirty="0" err="1">
                <a:latin typeface="黑体" panose="02010609060101010101" pitchFamily="49" charset="-122"/>
                <a:ea typeface="黑体" panose="02010609060101010101" pitchFamily="49" charset="-122"/>
              </a:rPr>
              <a:t>如何找到最大间隔</a:t>
            </a:r>
            <a:endParaRPr altLang="zh-CN" dirty="0">
              <a:latin typeface="黑体" panose="02010609060101010101" pitchFamily="49" charset="-122"/>
              <a:ea typeface="黑体" panose="02010609060101010101" pitchFamily="49" charset="-122"/>
            </a:endParaRPr>
          </a:p>
        </p:txBody>
      </p:sp>
      <p:sp>
        <p:nvSpPr>
          <p:cNvPr id="37891" name="内容占位符 2"/>
          <p:cNvSpPr>
            <a:spLocks noGrp="1"/>
          </p:cNvSpPr>
          <p:nvPr>
            <p:ph idx="1"/>
          </p:nvPr>
        </p:nvSpPr>
        <p:spPr>
          <a:xfrm>
            <a:off x="584141" y="1176964"/>
            <a:ext cx="7398544" cy="2700338"/>
          </a:xfrm>
        </p:spPr>
        <p:txBody>
          <a:bodyPr/>
          <a:lstStyle/>
          <a:p>
            <a:pPr eaLnBrk="1" hangingPunct="1">
              <a:lnSpc>
                <a:spcPct val="150000"/>
              </a:lnSpc>
            </a:pPr>
            <a:r>
              <a:rPr altLang="en-US" sz="1800" b="1" dirty="0">
                <a:latin typeface="黑体" panose="02010609060101010101" pitchFamily="49" charset="-122"/>
                <a:ea typeface="黑体" panose="02010609060101010101" pitchFamily="49" charset="-122"/>
              </a:rPr>
              <a:t>给出一个超平面</a:t>
            </a:r>
            <a:r>
              <a:rPr lang="en-US" altLang="zh-CN" sz="1800" b="1" dirty="0">
                <a:latin typeface="黑体" panose="02010609060101010101" pitchFamily="49" charset="-122"/>
                <a:ea typeface="黑体" panose="02010609060101010101" pitchFamily="49" charset="-122"/>
              </a:rPr>
              <a:t>H</a:t>
            </a:r>
            <a:r>
              <a:rPr lang="en-US" altLang="zh-CN" sz="1800" b="1" baseline="-25000" dirty="0">
                <a:latin typeface="黑体" panose="02010609060101010101" pitchFamily="49" charset="-122"/>
                <a:ea typeface="黑体" panose="02010609060101010101" pitchFamily="49" charset="-122"/>
              </a:rPr>
              <a:t>0</a:t>
            </a:r>
            <a:r>
              <a:rPr altLang="en-US" sz="2000" b="1" dirty="0">
                <a:latin typeface="黑体" panose="02010609060101010101" pitchFamily="49" charset="-122"/>
                <a:ea typeface="黑体" panose="02010609060101010101" pitchFamily="49" charset="-122"/>
              </a:rPr>
              <a:t>划分数据集并且满足</a:t>
            </a:r>
            <a:r>
              <a:rPr altLang="en-US" sz="1800" b="1" dirty="0">
                <a:latin typeface="黑体" panose="02010609060101010101" pitchFamily="49" charset="-122"/>
                <a:ea typeface="黑体" panose="02010609060101010101" pitchFamily="49" charset="-122"/>
              </a:rPr>
              <a:t>： </a:t>
            </a:r>
            <a:endParaRPr altLang="en-US" sz="1800" b="1" dirty="0">
              <a:latin typeface="黑体" panose="02010609060101010101" pitchFamily="49" charset="-122"/>
              <a:ea typeface="黑体" panose="02010609060101010101" pitchFamily="49" charset="-122"/>
            </a:endParaRPr>
          </a:p>
          <a:p>
            <a:pPr eaLnBrk="1" hangingPunct="1">
              <a:lnSpc>
                <a:spcPct val="150000"/>
              </a:lnSpc>
            </a:pPr>
            <a:r>
              <a:rPr altLang="en-US" sz="1800" b="1" dirty="0">
                <a:latin typeface="黑体" panose="02010609060101010101" pitchFamily="49" charset="-122"/>
                <a:ea typeface="黑体" panose="02010609060101010101" pitchFamily="49" charset="-122"/>
              </a:rPr>
              <a:t>选择其他两个划分数据集的超平面的</a:t>
            </a:r>
            <a:r>
              <a:rPr lang="en-US" altLang="zh-CN" sz="1800" b="1" dirty="0">
                <a:latin typeface="黑体" panose="02010609060101010101" pitchFamily="49" charset="-122"/>
                <a:ea typeface="黑体" panose="02010609060101010101" pitchFamily="49" charset="-122"/>
              </a:rPr>
              <a:t>H</a:t>
            </a:r>
            <a:r>
              <a:rPr lang="en-US" altLang="zh-CN" sz="1800" b="1" baseline="-25000" dirty="0">
                <a:latin typeface="黑体" panose="02010609060101010101" pitchFamily="49" charset="-122"/>
                <a:ea typeface="黑体" panose="02010609060101010101" pitchFamily="49" charset="-122"/>
              </a:rPr>
              <a:t>1</a:t>
            </a:r>
            <a:r>
              <a:rPr altLang="en-US" sz="1800" b="1" dirty="0">
                <a:latin typeface="黑体" panose="02010609060101010101" pitchFamily="49" charset="-122"/>
                <a:ea typeface="黑体" panose="02010609060101010101" pitchFamily="49" charset="-122"/>
              </a:rPr>
              <a:t>和</a:t>
            </a:r>
            <a:r>
              <a:rPr lang="en-US" altLang="zh-CN" sz="1800" b="1" dirty="0">
                <a:latin typeface="黑体" panose="02010609060101010101" pitchFamily="49" charset="-122"/>
                <a:ea typeface="黑体" panose="02010609060101010101" pitchFamily="49" charset="-122"/>
              </a:rPr>
              <a:t>H</a:t>
            </a:r>
            <a:r>
              <a:rPr lang="en-US" altLang="zh-CN" sz="1800" b="1" baseline="-25000" dirty="0">
                <a:latin typeface="黑体" panose="02010609060101010101" pitchFamily="49" charset="-122"/>
                <a:ea typeface="黑体" panose="02010609060101010101" pitchFamily="49" charset="-122"/>
              </a:rPr>
              <a:t>2</a:t>
            </a:r>
            <a:r>
              <a:rPr altLang="en-US" sz="1800" b="1" dirty="0">
                <a:latin typeface="黑体" panose="02010609060101010101" pitchFamily="49" charset="-122"/>
                <a:ea typeface="黑体" panose="02010609060101010101" pitchFamily="49" charset="-122"/>
              </a:rPr>
              <a:t>，有如下的方程：</a:t>
            </a:r>
            <a:endParaRPr altLang="en-US" sz="1800" b="1" dirty="0">
              <a:latin typeface="黑体" panose="02010609060101010101" pitchFamily="49" charset="-122"/>
              <a:ea typeface="黑体" panose="02010609060101010101" pitchFamily="49" charset="-122"/>
            </a:endParaRPr>
          </a:p>
          <a:p>
            <a:pPr eaLnBrk="1" hangingPunct="1">
              <a:lnSpc>
                <a:spcPct val="150000"/>
              </a:lnSpc>
            </a:pPr>
            <a:endParaRPr lang="en-US" altLang="zh-CN" sz="1800" b="1" dirty="0">
              <a:latin typeface="黑体" panose="02010609060101010101" pitchFamily="49" charset="-122"/>
              <a:ea typeface="黑体" panose="02010609060101010101" pitchFamily="49" charset="-122"/>
            </a:endParaRPr>
          </a:p>
          <a:p>
            <a:pPr eaLnBrk="1" hangingPunct="1">
              <a:lnSpc>
                <a:spcPct val="150000"/>
              </a:lnSpc>
            </a:pPr>
            <a:r>
              <a:rPr altLang="en-US" sz="1800" b="1" dirty="0">
                <a:latin typeface="黑体" panose="02010609060101010101" pitchFamily="49" charset="-122"/>
                <a:ea typeface="黑体" panose="02010609060101010101" pitchFamily="49" charset="-122"/>
              </a:rPr>
              <a:t>因为</a:t>
            </a:r>
            <a:r>
              <a:rPr lang="en-US" altLang="zh-CN" sz="1800" b="1" dirty="0">
                <a:latin typeface="黑体" panose="02010609060101010101" pitchFamily="49" charset="-122"/>
                <a:ea typeface="黑体" panose="02010609060101010101" pitchFamily="49" charset="-122"/>
              </a:rPr>
              <a:t>w</a:t>
            </a:r>
            <a:r>
              <a:rPr altLang="en-US" sz="1800" b="1" dirty="0">
                <a:latin typeface="黑体" panose="02010609060101010101" pitchFamily="49" charset="-122"/>
                <a:ea typeface="黑体" panose="02010609060101010101" pitchFamily="49" charset="-122"/>
              </a:rPr>
              <a:t>和</a:t>
            </a:r>
            <a:r>
              <a:rPr lang="en-US" altLang="zh-CN" sz="1800" b="1" dirty="0">
                <a:latin typeface="黑体" panose="02010609060101010101" pitchFamily="49" charset="-122"/>
                <a:ea typeface="黑体" panose="02010609060101010101" pitchFamily="49" charset="-122"/>
              </a:rPr>
              <a:t>b</a:t>
            </a:r>
            <a:r>
              <a:rPr altLang="en-US" sz="1800" b="1" dirty="0">
                <a:latin typeface="黑体" panose="02010609060101010101" pitchFamily="49" charset="-122"/>
                <a:ea typeface="黑体" panose="02010609060101010101" pitchFamily="49" charset="-122"/>
              </a:rPr>
              <a:t>是可以缩放的，这里的变量</a:t>
            </a:r>
            <a:r>
              <a:rPr lang="en-US" altLang="zh-CN" sz="1800" b="1" dirty="0">
                <a:latin typeface="黑体" panose="02010609060101010101" pitchFamily="49" charset="-122"/>
                <a:ea typeface="黑体" panose="02010609060101010101" pitchFamily="49" charset="-122"/>
              </a:rPr>
              <a:t>δ</a:t>
            </a:r>
            <a:r>
              <a:rPr altLang="en-US" sz="1800" b="1" dirty="0">
                <a:latin typeface="黑体" panose="02010609060101010101" pitchFamily="49" charset="-122"/>
                <a:ea typeface="黑体" panose="02010609060101010101" pitchFamily="49" charset="-122"/>
              </a:rPr>
              <a:t>其实是没有必要的</a:t>
            </a:r>
            <a:r>
              <a:rPr lang="en-US" altLang="zh-CN" sz="1800" b="1" dirty="0">
                <a:latin typeface="黑体" panose="02010609060101010101" pitchFamily="49" charset="-122"/>
                <a:ea typeface="黑体" panose="02010609060101010101" pitchFamily="49" charset="-122"/>
              </a:rPr>
              <a:t>,</a:t>
            </a:r>
            <a:r>
              <a:rPr altLang="en-US" sz="1800" b="1" dirty="0">
                <a:latin typeface="黑体" panose="02010609060101010101" pitchFamily="49" charset="-122"/>
                <a:ea typeface="黑体" panose="02010609060101010101" pitchFamily="49" charset="-122"/>
              </a:rPr>
              <a:t>为了简化</a:t>
            </a:r>
            <a:r>
              <a:rPr lang="en-US" altLang="zh-CN" sz="1800" b="1" dirty="0">
                <a:latin typeface="黑体" panose="02010609060101010101" pitchFamily="49" charset="-122"/>
                <a:ea typeface="黑体" panose="02010609060101010101" pitchFamily="49" charset="-122"/>
              </a:rPr>
              <a:t>(</a:t>
            </a:r>
            <a:r>
              <a:rPr altLang="en-US" sz="1800" b="1" dirty="0">
                <a:latin typeface="黑体" panose="02010609060101010101" pitchFamily="49" charset="-122"/>
                <a:ea typeface="黑体" panose="02010609060101010101" pitchFamily="49" charset="-122"/>
              </a:rPr>
              <a:t>不引入那么多未知数</a:t>
            </a:r>
            <a:r>
              <a:rPr lang="en-US" altLang="zh-CN" sz="1800" b="1" dirty="0">
                <a:latin typeface="黑体" panose="02010609060101010101" pitchFamily="49" charset="-122"/>
                <a:ea typeface="黑体" panose="02010609060101010101" pitchFamily="49" charset="-122"/>
              </a:rPr>
              <a:t>)</a:t>
            </a:r>
            <a:r>
              <a:rPr altLang="en-US" sz="1800" b="1" dirty="0">
                <a:latin typeface="黑体" panose="02010609060101010101" pitchFamily="49" charset="-122"/>
                <a:ea typeface="黑体" panose="02010609060101010101" pitchFamily="49" charset="-122"/>
              </a:rPr>
              <a:t>，通过一定的缩放，让</a:t>
            </a:r>
            <a:r>
              <a:rPr lang="en-US" altLang="zh-CN" sz="1800" b="1" dirty="0">
                <a:latin typeface="黑体" panose="02010609060101010101" pitchFamily="49" charset="-122"/>
                <a:ea typeface="黑体" panose="02010609060101010101" pitchFamily="49" charset="-122"/>
              </a:rPr>
              <a:t>δ=1</a:t>
            </a:r>
            <a:r>
              <a:rPr altLang="en-US" sz="1800" b="1" dirty="0">
                <a:latin typeface="黑体" panose="02010609060101010101" pitchFamily="49" charset="-122"/>
                <a:ea typeface="黑体" panose="02010609060101010101" pitchFamily="49" charset="-122"/>
              </a:rPr>
              <a:t>来简化问题。</a:t>
            </a:r>
            <a:endParaRPr lang="en-US" altLang="zh-CN" sz="1800" b="1" dirty="0">
              <a:latin typeface="黑体" panose="02010609060101010101" pitchFamily="49" charset="-122"/>
              <a:ea typeface="黑体" panose="02010609060101010101" pitchFamily="49" charset="-122"/>
            </a:endParaRPr>
          </a:p>
        </p:txBody>
      </p:sp>
      <p:pic>
        <p:nvPicPr>
          <p:cNvPr id="37892"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5457785" y="1340080"/>
            <a:ext cx="1550194"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3" name="图片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69916" y="2412833"/>
            <a:ext cx="2122914" cy="381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4" name="图片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312070" y="2412833"/>
            <a:ext cx="2455069" cy="335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5" name="图片 5"/>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338057" y="3877301"/>
            <a:ext cx="2538413" cy="814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7644" y="212500"/>
            <a:ext cx="7886700" cy="570310"/>
          </a:xfrm>
        </p:spPr>
        <p:txBody>
          <a:bodyPr vert="horz" lIns="91440" tIns="45720" rIns="91440" bIns="45720" rtlCol="0" anchor="ctr">
            <a:normAutofit fontScale="90000"/>
          </a:bodyPr>
          <a:lstStyle/>
          <a:p>
            <a:r>
              <a:rPr altLang="en-US" dirty="0" err="1">
                <a:latin typeface="黑体" panose="02010609060101010101" pitchFamily="49" charset="-122"/>
                <a:ea typeface="黑体" panose="02010609060101010101" pitchFamily="49" charset="-122"/>
              </a:rPr>
              <a:t>如何找到最大间隔</a:t>
            </a:r>
            <a:endParaRPr altLang="zh-CN" dirty="0">
              <a:latin typeface="黑体" panose="02010609060101010101" pitchFamily="49" charset="-122"/>
              <a:ea typeface="黑体" panose="02010609060101010101" pitchFamily="49" charset="-122"/>
            </a:endParaRPr>
          </a:p>
        </p:txBody>
      </p:sp>
      <p:sp>
        <p:nvSpPr>
          <p:cNvPr id="38915" name="内容占位符 2"/>
          <p:cNvSpPr>
            <a:spLocks noGrp="1"/>
          </p:cNvSpPr>
          <p:nvPr>
            <p:ph idx="1"/>
          </p:nvPr>
        </p:nvSpPr>
        <p:spPr>
          <a:xfrm>
            <a:off x="197644" y="1808560"/>
            <a:ext cx="8586788" cy="3835003"/>
          </a:xfrm>
        </p:spPr>
        <p:txBody>
          <a:bodyPr>
            <a:normAutofit/>
          </a:bodyPr>
          <a:lstStyle/>
          <a:p>
            <a:pPr eaLnBrk="1" hangingPunct="1">
              <a:lnSpc>
                <a:spcPct val="150000"/>
              </a:lnSpc>
            </a:pPr>
            <a:r>
              <a:rPr altLang="en-US" sz="2000" b="1" dirty="0">
                <a:latin typeface="黑体" panose="02010609060101010101" pitchFamily="49" charset="-122"/>
                <a:ea typeface="黑体" panose="02010609060101010101" pitchFamily="49" charset="-122"/>
              </a:rPr>
              <a:t>还要确保</a:t>
            </a:r>
            <a:r>
              <a:rPr lang="en-US" altLang="zh-CN" sz="2000" b="1" dirty="0">
                <a:latin typeface="黑体" panose="02010609060101010101" pitchFamily="49" charset="-122"/>
                <a:ea typeface="黑体" panose="02010609060101010101" pitchFamily="49" charset="-122"/>
              </a:rPr>
              <a:t>H</a:t>
            </a:r>
            <a:r>
              <a:rPr lang="en-US" altLang="zh-CN" sz="2000" b="1" baseline="-25000" dirty="0">
                <a:latin typeface="黑体" panose="02010609060101010101" pitchFamily="49" charset="-122"/>
                <a:ea typeface="黑体" panose="02010609060101010101" pitchFamily="49" charset="-122"/>
              </a:rPr>
              <a:t>1</a:t>
            </a:r>
            <a:r>
              <a:rPr altLang="en-US" sz="2000" b="1" dirty="0">
                <a:latin typeface="黑体" panose="02010609060101010101" pitchFamily="49" charset="-122"/>
                <a:ea typeface="黑体" panose="02010609060101010101" pitchFamily="49" charset="-122"/>
              </a:rPr>
              <a:t>和</a:t>
            </a:r>
            <a:r>
              <a:rPr lang="en-US" altLang="zh-CN" sz="2000" b="1" dirty="0">
                <a:latin typeface="黑体" panose="02010609060101010101" pitchFamily="49" charset="-122"/>
                <a:ea typeface="黑体" panose="02010609060101010101" pitchFamily="49" charset="-122"/>
              </a:rPr>
              <a:t>H</a:t>
            </a:r>
            <a:r>
              <a:rPr lang="en-US" altLang="zh-CN" sz="2000" b="1" baseline="-25000" dirty="0">
                <a:latin typeface="黑体" panose="02010609060101010101" pitchFamily="49" charset="-122"/>
                <a:ea typeface="黑体" panose="02010609060101010101" pitchFamily="49" charset="-122"/>
              </a:rPr>
              <a:t>2</a:t>
            </a:r>
            <a:r>
              <a:rPr altLang="en-US" sz="2000" b="1" dirty="0">
                <a:latin typeface="黑体" panose="02010609060101010101" pitchFamily="49" charset="-122"/>
                <a:ea typeface="黑体" panose="02010609060101010101" pitchFamily="49" charset="-122"/>
              </a:rPr>
              <a:t>它们之间没有任何的数据点。只选择符合以下两个约束的超平面</a:t>
            </a:r>
            <a:endParaRPr lang="en-US" altLang="zh-CN" sz="2000" b="1" dirty="0">
              <a:latin typeface="黑体" panose="02010609060101010101" pitchFamily="49" charset="-122"/>
              <a:ea typeface="黑体" panose="02010609060101010101" pitchFamily="49" charset="-122"/>
            </a:endParaRPr>
          </a:p>
          <a:p>
            <a:pPr eaLnBrk="1" hangingPunct="1">
              <a:lnSpc>
                <a:spcPct val="150000"/>
              </a:lnSpc>
            </a:pPr>
            <a:endParaRPr lang="en-US" altLang="zh-CN" sz="2000" b="1" dirty="0">
              <a:latin typeface="黑体" panose="02010609060101010101" pitchFamily="49" charset="-122"/>
              <a:ea typeface="黑体" panose="02010609060101010101" pitchFamily="49" charset="-122"/>
            </a:endParaRPr>
          </a:p>
          <a:p>
            <a:pPr eaLnBrk="1" hangingPunct="1">
              <a:lnSpc>
                <a:spcPct val="150000"/>
              </a:lnSpc>
            </a:pPr>
            <a:endParaRPr lang="en-US" altLang="zh-CN" sz="2000" b="1" dirty="0">
              <a:latin typeface="黑体" panose="02010609060101010101" pitchFamily="49" charset="-122"/>
              <a:ea typeface="黑体" panose="02010609060101010101" pitchFamily="49" charset="-122"/>
            </a:endParaRPr>
          </a:p>
          <a:p>
            <a:pPr eaLnBrk="1" hangingPunct="1">
              <a:lnSpc>
                <a:spcPct val="150000"/>
              </a:lnSpc>
            </a:pPr>
            <a:endParaRPr lang="en-US" altLang="zh-CN" sz="2000" b="1" dirty="0">
              <a:latin typeface="黑体" panose="02010609060101010101" pitchFamily="49" charset="-122"/>
              <a:ea typeface="黑体" panose="02010609060101010101" pitchFamily="49" charset="-122"/>
            </a:endParaRPr>
          </a:p>
          <a:p>
            <a:pPr eaLnBrk="1" hangingPunct="1">
              <a:lnSpc>
                <a:spcPct val="150000"/>
              </a:lnSpc>
            </a:pPr>
            <a:r>
              <a:rPr altLang="en-US" sz="2000" b="1" dirty="0">
                <a:latin typeface="黑体" panose="02010609060101010101" pitchFamily="49" charset="-122"/>
                <a:ea typeface="黑体" panose="02010609060101010101" pitchFamily="49" charset="-122"/>
              </a:rPr>
              <a:t>统一起来，等价于：</a:t>
            </a:r>
            <a:endParaRPr lang="en-US" altLang="zh-CN" sz="2000" b="1" dirty="0">
              <a:latin typeface="黑体" panose="02010609060101010101" pitchFamily="49" charset="-122"/>
              <a:ea typeface="黑体" panose="02010609060101010101" pitchFamily="49" charset="-122"/>
            </a:endParaRPr>
          </a:p>
        </p:txBody>
      </p:sp>
      <p:pic>
        <p:nvPicPr>
          <p:cNvPr id="38916" name="图片 7"/>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627710" y="2619376"/>
            <a:ext cx="3800475" cy="421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17" name="图片 8"/>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468166" y="3257550"/>
            <a:ext cx="4207669"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18" name="图片 9"/>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837416" y="4626200"/>
            <a:ext cx="4714875" cy="578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图片 3"/>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719518" y="1789043"/>
            <a:ext cx="5281607" cy="3402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标题 1"/>
          <p:cNvSpPr>
            <a:spLocks noGrp="1"/>
          </p:cNvSpPr>
          <p:nvPr>
            <p:ph type="title"/>
          </p:nvPr>
        </p:nvSpPr>
        <p:spPr>
          <a:xfrm>
            <a:off x="197644" y="135214"/>
            <a:ext cx="7886700" cy="570310"/>
          </a:xfrm>
        </p:spPr>
        <p:txBody>
          <a:bodyPr vert="horz" lIns="91440" tIns="45720" rIns="91440" bIns="45720" rtlCol="0" anchor="ctr">
            <a:normAutofit fontScale="90000"/>
          </a:bodyPr>
          <a:lstStyle/>
          <a:p>
            <a:r>
              <a:rPr altLang="en-US" dirty="0" err="1">
                <a:latin typeface="黑体" panose="02010609060101010101" pitchFamily="49" charset="-122"/>
                <a:ea typeface="黑体" panose="02010609060101010101" pitchFamily="49" charset="-122"/>
              </a:rPr>
              <a:t>如何找到最大间隔</a:t>
            </a:r>
            <a:endParaRPr altLang="zh-CN" dirty="0">
              <a:latin typeface="黑体" panose="02010609060101010101" pitchFamily="49" charset="-122"/>
              <a:ea typeface="黑体" panose="02010609060101010101" pitchFamily="49" charset="-122"/>
            </a:endParaRPr>
          </a:p>
        </p:txBody>
      </p:sp>
      <p:sp>
        <p:nvSpPr>
          <p:cNvPr id="39940" name="内容占位符 2"/>
          <p:cNvSpPr>
            <a:spLocks noGrp="1"/>
          </p:cNvSpPr>
          <p:nvPr>
            <p:ph idx="1"/>
          </p:nvPr>
        </p:nvSpPr>
        <p:spPr>
          <a:xfrm>
            <a:off x="197644" y="1198960"/>
            <a:ext cx="3247921" cy="4260936"/>
          </a:xfrm>
        </p:spPr>
        <p:txBody>
          <a:bodyPr vert="horz" lIns="91440" tIns="46800" rIns="91440" bIns="45720" rtlCol="0">
            <a:normAutofit fontScale="92500" lnSpcReduction="10000"/>
          </a:bodyPr>
          <a:lstStyle/>
          <a:p>
            <a:pPr>
              <a:lnSpc>
                <a:spcPct val="150000"/>
              </a:lnSpc>
            </a:pPr>
            <a:r>
              <a:rPr altLang="en-US" sz="2000" b="1" dirty="0">
                <a:latin typeface="黑体" panose="02010609060101010101" pitchFamily="49" charset="-122"/>
                <a:ea typeface="黑体" panose="02010609060101010101" pitchFamily="49" charset="-122"/>
              </a:rPr>
              <a:t>所有的红点都是</a:t>
            </a:r>
            <a:r>
              <a:rPr lang="en-US" altLang="zh-CN" sz="2000" b="1" dirty="0">
                <a:latin typeface="黑体" panose="02010609060101010101" pitchFamily="49" charset="-122"/>
                <a:ea typeface="黑体" panose="02010609060101010101" pitchFamily="49" charset="-122"/>
              </a:rPr>
              <a:t>1</a:t>
            </a:r>
            <a:r>
              <a:rPr altLang="en-US" sz="2000" b="1" dirty="0">
                <a:latin typeface="黑体" panose="02010609060101010101" pitchFamily="49" charset="-122"/>
                <a:ea typeface="黑体" panose="02010609060101010101" pitchFamily="49" charset="-122"/>
              </a:rPr>
              <a:t>类，所有的蓝点都是−</a:t>
            </a:r>
            <a:r>
              <a:rPr lang="en-US" altLang="zh-CN" sz="2000" b="1" dirty="0">
                <a:latin typeface="黑体" panose="02010609060101010101" pitchFamily="49" charset="-122"/>
                <a:ea typeface="黑体" panose="02010609060101010101" pitchFamily="49" charset="-122"/>
              </a:rPr>
              <a:t>1</a:t>
            </a:r>
            <a:r>
              <a:rPr altLang="en-US" sz="2000" b="1" dirty="0">
                <a:latin typeface="黑体" panose="02010609060101010101" pitchFamily="49" charset="-122"/>
                <a:ea typeface="黑体" panose="02010609060101010101" pitchFamily="49" charset="-122"/>
              </a:rPr>
              <a:t>类。需要验证它不违反约束</a:t>
            </a:r>
            <a:r>
              <a:rPr lang="en-US" altLang="zh-CN" sz="2000" b="1" dirty="0">
                <a:latin typeface="黑体" panose="02010609060101010101" pitchFamily="49" charset="-122"/>
                <a:ea typeface="黑体" panose="02010609060101010101" pitchFamily="49" charset="-122"/>
              </a:rPr>
              <a:t>w⋅xi−b≥1</a:t>
            </a:r>
            <a:r>
              <a:rPr altLang="en-US" sz="2000" b="1" dirty="0">
                <a:latin typeface="黑体" panose="02010609060101010101" pitchFamily="49" charset="-122"/>
                <a:ea typeface="黑体" panose="02010609060101010101" pitchFamily="49" charset="-122"/>
              </a:rPr>
              <a:t>。当</a:t>
            </a:r>
            <a:r>
              <a:rPr lang="en-US" altLang="zh-CN" sz="2000" b="1" dirty="0">
                <a:latin typeface="黑体" panose="02010609060101010101" pitchFamily="49" charset="-122"/>
                <a:ea typeface="黑体" panose="02010609060101010101" pitchFamily="49" charset="-122"/>
              </a:rPr>
              <a:t>xi=A</a:t>
            </a:r>
            <a:r>
              <a:rPr altLang="en-US" sz="2000" b="1" dirty="0">
                <a:latin typeface="黑体" panose="02010609060101010101" pitchFamily="49" charset="-122"/>
                <a:ea typeface="黑体" panose="02010609060101010101" pitchFamily="49" charset="-122"/>
              </a:rPr>
              <a:t>代入超平面方程，发现满足</a:t>
            </a:r>
            <a:r>
              <a:rPr lang="en-US" altLang="zh-CN" sz="2000" b="1" dirty="0" err="1">
                <a:latin typeface="黑体" panose="02010609060101010101" pitchFamily="49" charset="-122"/>
                <a:ea typeface="黑体" panose="02010609060101010101" pitchFamily="49" charset="-122"/>
              </a:rPr>
              <a:t>w⋅xi−b</a:t>
            </a:r>
            <a:r>
              <a:rPr lang="en-US" altLang="zh-CN" sz="2000" b="1" dirty="0">
                <a:latin typeface="黑体" panose="02010609060101010101" pitchFamily="49" charset="-122"/>
                <a:ea typeface="黑体" panose="02010609060101010101" pitchFamily="49" charset="-122"/>
              </a:rPr>
              <a:t>=1</a:t>
            </a:r>
            <a:r>
              <a:rPr altLang="en-US" sz="2000" b="1" dirty="0">
                <a:latin typeface="黑体" panose="02010609060101010101" pitchFamily="49" charset="-122"/>
                <a:ea typeface="黑体" panose="02010609060101010101" pitchFamily="49" charset="-122"/>
              </a:rPr>
              <a:t>，同样的</a:t>
            </a:r>
            <a:r>
              <a:rPr lang="en-US" altLang="zh-CN" sz="2000" b="1" dirty="0">
                <a:latin typeface="黑体" panose="02010609060101010101" pitchFamily="49" charset="-122"/>
                <a:ea typeface="黑体" panose="02010609060101010101" pitchFamily="49" charset="-122"/>
              </a:rPr>
              <a:t>B</a:t>
            </a:r>
            <a:r>
              <a:rPr altLang="en-US" sz="2000" b="1" dirty="0">
                <a:latin typeface="黑体" panose="02010609060101010101" pitchFamily="49" charset="-122"/>
                <a:ea typeface="黑体" panose="02010609060101010101" pitchFamily="49" charset="-122"/>
              </a:rPr>
              <a:t>点也是。当</a:t>
            </a:r>
            <a:r>
              <a:rPr lang="en-US" altLang="zh-CN" sz="2000" b="1" dirty="0">
                <a:latin typeface="黑体" panose="02010609060101010101" pitchFamily="49" charset="-122"/>
                <a:ea typeface="黑体" panose="02010609060101010101" pitchFamily="49" charset="-122"/>
              </a:rPr>
              <a:t>xi=C</a:t>
            </a:r>
            <a:r>
              <a:rPr altLang="en-US" sz="2000" b="1" dirty="0">
                <a:latin typeface="黑体" panose="02010609060101010101" pitchFamily="49" charset="-122"/>
                <a:ea typeface="黑体" panose="02010609060101010101" pitchFamily="49" charset="-122"/>
              </a:rPr>
              <a:t>超平面上的点满足</a:t>
            </a:r>
            <a:r>
              <a:rPr lang="en-US" altLang="zh-CN" sz="2000" b="1" dirty="0" err="1">
                <a:latin typeface="黑体" panose="02010609060101010101" pitchFamily="49" charset="-122"/>
                <a:ea typeface="黑体" panose="02010609060101010101" pitchFamily="49" charset="-122"/>
              </a:rPr>
              <a:t>w⋅xi−b</a:t>
            </a:r>
            <a:r>
              <a:rPr lang="en-US" altLang="zh-CN" sz="2000" b="1" dirty="0">
                <a:latin typeface="黑体" panose="02010609060101010101" pitchFamily="49" charset="-122"/>
                <a:ea typeface="黑体" panose="02010609060101010101" pitchFamily="49" charset="-122"/>
              </a:rPr>
              <a:t>&gt;1</a:t>
            </a:r>
            <a:r>
              <a:rPr altLang="en-US" sz="2000" b="1" dirty="0">
                <a:latin typeface="黑体" panose="02010609060101010101" pitchFamily="49" charset="-122"/>
                <a:ea typeface="黑体" panose="02010609060101010101" pitchFamily="49" charset="-122"/>
              </a:rPr>
              <a:t>，同样的</a:t>
            </a:r>
            <a:r>
              <a:rPr lang="en-US" altLang="zh-CN" sz="2000" b="1" dirty="0">
                <a:latin typeface="黑体" panose="02010609060101010101" pitchFamily="49" charset="-122"/>
                <a:ea typeface="黑体" panose="02010609060101010101" pitchFamily="49" charset="-122"/>
              </a:rPr>
              <a:t>D</a:t>
            </a:r>
            <a:r>
              <a:rPr altLang="en-US" sz="2000" b="1" dirty="0">
                <a:latin typeface="黑体" panose="02010609060101010101" pitchFamily="49" charset="-122"/>
                <a:ea typeface="黑体" panose="02010609060101010101" pitchFamily="49" charset="-122"/>
              </a:rPr>
              <a:t>、</a:t>
            </a:r>
            <a:r>
              <a:rPr lang="en-US" altLang="zh-CN" sz="2000" b="1" dirty="0">
                <a:latin typeface="黑体" panose="02010609060101010101" pitchFamily="49" charset="-122"/>
                <a:ea typeface="黑体" panose="02010609060101010101" pitchFamily="49" charset="-122"/>
              </a:rPr>
              <a:t>E</a:t>
            </a:r>
            <a:r>
              <a:rPr altLang="en-US" sz="2000" b="1" dirty="0">
                <a:latin typeface="黑体" panose="02010609060101010101" pitchFamily="49" charset="-122"/>
                <a:ea typeface="黑体" panose="02010609060101010101" pitchFamily="49" charset="-122"/>
              </a:rPr>
              <a:t>、</a:t>
            </a:r>
            <a:r>
              <a:rPr lang="en-US" altLang="zh-CN" sz="2000" b="1" dirty="0">
                <a:latin typeface="黑体" panose="02010609060101010101" pitchFamily="49" charset="-122"/>
                <a:ea typeface="黑体" panose="02010609060101010101" pitchFamily="49" charset="-122"/>
              </a:rPr>
              <a:t>F</a:t>
            </a:r>
            <a:r>
              <a:rPr altLang="en-US" sz="2000" b="1" dirty="0">
                <a:latin typeface="黑体" panose="02010609060101010101" pitchFamily="49" charset="-122"/>
                <a:ea typeface="黑体" panose="02010609060101010101" pitchFamily="49" charset="-122"/>
              </a:rPr>
              <a:t>、</a:t>
            </a:r>
            <a:r>
              <a:rPr lang="en-US" altLang="zh-CN" sz="2000" b="1" dirty="0">
                <a:latin typeface="黑体" panose="02010609060101010101" pitchFamily="49" charset="-122"/>
                <a:ea typeface="黑体" panose="02010609060101010101" pitchFamily="49" charset="-122"/>
              </a:rPr>
              <a:t>G</a:t>
            </a:r>
            <a:r>
              <a:rPr altLang="en-US" sz="2000" b="1" dirty="0">
                <a:latin typeface="黑体" panose="02010609060101010101" pitchFamily="49" charset="-122"/>
                <a:ea typeface="黑体" panose="02010609060101010101" pitchFamily="49" charset="-122"/>
              </a:rPr>
              <a:t>点也是。类似的，对于−</a:t>
            </a:r>
            <a:r>
              <a:rPr lang="en-US" altLang="zh-CN" sz="2000" b="1" dirty="0">
                <a:latin typeface="黑体" panose="02010609060101010101" pitchFamily="49" charset="-122"/>
                <a:ea typeface="黑体" panose="02010609060101010101" pitchFamily="49" charset="-122"/>
              </a:rPr>
              <a:t>1</a:t>
            </a:r>
            <a:r>
              <a:rPr altLang="en-US" sz="2000" b="1" dirty="0">
                <a:latin typeface="黑体" panose="02010609060101010101" pitchFamily="49" charset="-122"/>
                <a:ea typeface="黑体" panose="02010609060101010101" pitchFamily="49" charset="-122"/>
              </a:rPr>
              <a:t>类的点也满足约束。 </a:t>
            </a:r>
            <a:endParaRPr lang="en-US" altLang="zh-CN" sz="2000" b="1" dirty="0">
              <a:latin typeface="黑体" panose="02010609060101010101" pitchFamily="49" charset="-122"/>
              <a:ea typeface="黑体" panose="02010609060101010101" pitchFamily="49"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ph type="title"/>
          </p:nvPr>
        </p:nvSpPr>
        <p:spPr>
          <a:xfrm>
            <a:off x="203131" y="148467"/>
            <a:ext cx="7886700" cy="570310"/>
          </a:xfrm>
        </p:spPr>
        <p:txBody>
          <a:bodyPr vert="horz" lIns="91440" tIns="45720" rIns="91440" bIns="45720" rtlCol="0" anchor="ctr">
            <a:normAutofit fontScale="90000"/>
          </a:bodyPr>
          <a:lstStyle/>
          <a:p>
            <a:r>
              <a:rPr altLang="en-US" dirty="0" err="1">
                <a:latin typeface="黑体" panose="02010609060101010101" pitchFamily="49" charset="-122"/>
                <a:ea typeface="黑体" panose="02010609060101010101" pitchFamily="49" charset="-122"/>
              </a:rPr>
              <a:t>如何找到最大间隔</a:t>
            </a:r>
            <a:endParaRPr altLang="zh-CN" dirty="0">
              <a:latin typeface="黑体" panose="02010609060101010101" pitchFamily="49" charset="-122"/>
              <a:ea typeface="黑体" panose="02010609060101010101" pitchFamily="49" charset="-122"/>
            </a:endParaRPr>
          </a:p>
        </p:txBody>
      </p:sp>
      <p:sp>
        <p:nvSpPr>
          <p:cNvPr id="40963" name="内容占位符 2"/>
          <p:cNvSpPr>
            <a:spLocks noGrp="1"/>
          </p:cNvSpPr>
          <p:nvPr>
            <p:ph idx="1"/>
          </p:nvPr>
        </p:nvSpPr>
        <p:spPr>
          <a:xfrm>
            <a:off x="197645" y="1808560"/>
            <a:ext cx="1604652" cy="3673078"/>
          </a:xfrm>
        </p:spPr>
        <p:txBody>
          <a:bodyPr vert="horz" lIns="91440" tIns="46800" rIns="91440" bIns="45720" rtlCol="0">
            <a:normAutofit/>
          </a:bodyPr>
          <a:lstStyle/>
          <a:p>
            <a:pPr>
              <a:lnSpc>
                <a:spcPct val="150000"/>
              </a:lnSpc>
            </a:pPr>
            <a:r>
              <a:rPr altLang="en-US" sz="2000" b="1" dirty="0">
                <a:latin typeface="黑体" panose="02010609060101010101" pitchFamily="49" charset="-122"/>
                <a:ea typeface="黑体" panose="02010609060101010101" pitchFamily="49" charset="-122"/>
              </a:rPr>
              <a:t>满足约束条件的一对超平面</a:t>
            </a:r>
            <a:endParaRPr lang="en-US" altLang="zh-CN" sz="2000" b="1" dirty="0">
              <a:latin typeface="黑体" panose="02010609060101010101" pitchFamily="49" charset="-122"/>
              <a:ea typeface="黑体" panose="02010609060101010101" pitchFamily="49" charset="-122"/>
            </a:endParaRPr>
          </a:p>
        </p:txBody>
      </p:sp>
      <p:pic>
        <p:nvPicPr>
          <p:cNvPr id="40964"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027583" y="1049742"/>
            <a:ext cx="6844955" cy="44318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ph type="title"/>
          </p:nvPr>
        </p:nvSpPr>
        <p:spPr>
          <a:xfrm>
            <a:off x="144067" y="161719"/>
            <a:ext cx="7886700" cy="570310"/>
          </a:xfrm>
        </p:spPr>
        <p:txBody>
          <a:bodyPr vert="horz" lIns="91440" tIns="45720" rIns="91440" bIns="45720" rtlCol="0" anchor="ctr">
            <a:normAutofit fontScale="90000"/>
          </a:bodyPr>
          <a:lstStyle/>
          <a:p>
            <a:r>
              <a:rPr altLang="en-US" dirty="0" err="1">
                <a:latin typeface="黑体" panose="02010609060101010101" pitchFamily="49" charset="-122"/>
                <a:ea typeface="黑体" panose="02010609060101010101" pitchFamily="49" charset="-122"/>
              </a:rPr>
              <a:t>如何找到最大间隔</a:t>
            </a:r>
            <a:endParaRPr altLang="zh-CN" dirty="0">
              <a:latin typeface="黑体" panose="02010609060101010101" pitchFamily="49" charset="-122"/>
              <a:ea typeface="黑体" panose="02010609060101010101" pitchFamily="49" charset="-122"/>
            </a:endParaRPr>
          </a:p>
        </p:txBody>
      </p:sp>
      <p:sp>
        <p:nvSpPr>
          <p:cNvPr id="41987" name="内容占位符 2"/>
          <p:cNvSpPr>
            <a:spLocks noGrp="1"/>
          </p:cNvSpPr>
          <p:nvPr>
            <p:ph idx="1"/>
          </p:nvPr>
        </p:nvSpPr>
        <p:spPr>
          <a:xfrm>
            <a:off x="144067" y="1593056"/>
            <a:ext cx="8478440" cy="3671888"/>
          </a:xfrm>
        </p:spPr>
        <p:txBody>
          <a:bodyPr/>
          <a:lstStyle/>
          <a:p>
            <a:pPr eaLnBrk="1" hangingPunct="1">
              <a:lnSpc>
                <a:spcPct val="150000"/>
              </a:lnSpc>
            </a:pPr>
            <a:r>
              <a:rPr altLang="en-US" sz="1800" b="1" dirty="0">
                <a:latin typeface="黑体" panose="02010609060101010101" pitchFamily="49" charset="-122"/>
                <a:ea typeface="黑体" panose="02010609060101010101" pitchFamily="49" charset="-122"/>
              </a:rPr>
              <a:t>不满足约束条件的一对超平面</a:t>
            </a:r>
            <a:r>
              <a:rPr lang="en-US" altLang="zh-CN" sz="1800" b="1" dirty="0">
                <a:latin typeface="黑体" panose="02010609060101010101" pitchFamily="49" charset="-122"/>
                <a:ea typeface="黑体" panose="02010609060101010101" pitchFamily="49" charset="-122"/>
              </a:rPr>
              <a:t>:</a:t>
            </a:r>
            <a:r>
              <a:rPr altLang="en-US" sz="1800" b="1" dirty="0">
                <a:solidFill>
                  <a:srgbClr val="FF0000"/>
                </a:solidFill>
                <a:latin typeface="黑体" panose="02010609060101010101" pitchFamily="49" charset="-122"/>
                <a:ea typeface="黑体" panose="02010609060101010101" pitchFamily="49" charset="-122"/>
              </a:rPr>
              <a:t>超平面之间有了数据点</a:t>
            </a:r>
            <a:endParaRPr lang="en-US" altLang="zh-CN" sz="1800" b="1" dirty="0">
              <a:solidFill>
                <a:srgbClr val="FF0000"/>
              </a:solidFill>
              <a:latin typeface="黑体" panose="02010609060101010101" pitchFamily="49" charset="-122"/>
              <a:ea typeface="黑体" panose="02010609060101010101" pitchFamily="49" charset="-122"/>
            </a:endParaRPr>
          </a:p>
        </p:txBody>
      </p:sp>
      <p:pic>
        <p:nvPicPr>
          <p:cNvPr id="41988" name="图片 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57163" y="2250282"/>
            <a:ext cx="4366022" cy="2907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989" name="图片 3"/>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74291" y="2291954"/>
            <a:ext cx="4320779" cy="2901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ph type="title"/>
          </p:nvPr>
        </p:nvSpPr>
        <p:spPr>
          <a:xfrm>
            <a:off x="224148" y="128588"/>
            <a:ext cx="7886700" cy="570310"/>
          </a:xfrm>
        </p:spPr>
        <p:txBody>
          <a:bodyPr vert="horz" lIns="91440" tIns="45720" rIns="91440" bIns="45720" rtlCol="0" anchor="ctr">
            <a:normAutofit fontScale="90000"/>
          </a:bodyPr>
          <a:lstStyle/>
          <a:p>
            <a:r>
              <a:rPr altLang="en-US" dirty="0" err="1">
                <a:latin typeface="黑体" panose="02010609060101010101" pitchFamily="49" charset="-122"/>
                <a:ea typeface="黑体" panose="02010609060101010101" pitchFamily="49" charset="-122"/>
              </a:rPr>
              <a:t>超平面之间距离的计算</a:t>
            </a:r>
            <a:endParaRPr altLang="zh-CN" dirty="0">
              <a:latin typeface="黑体" panose="02010609060101010101" pitchFamily="49" charset="-122"/>
              <a:ea typeface="黑体" panose="02010609060101010101" pitchFamily="49" charset="-122"/>
            </a:endParaRPr>
          </a:p>
        </p:txBody>
      </p:sp>
      <p:sp>
        <p:nvSpPr>
          <p:cNvPr id="43011" name="内容占位符 2"/>
          <p:cNvSpPr>
            <a:spLocks noGrp="1"/>
          </p:cNvSpPr>
          <p:nvPr>
            <p:ph idx="1"/>
          </p:nvPr>
        </p:nvSpPr>
        <p:spPr>
          <a:xfrm>
            <a:off x="144067" y="1593056"/>
            <a:ext cx="3599672" cy="4032648"/>
          </a:xfrm>
        </p:spPr>
        <p:txBody>
          <a:bodyPr vert="horz" lIns="91440" tIns="46800" rIns="91440" bIns="45720" rtlCol="0">
            <a:normAutofit/>
          </a:bodyPr>
          <a:lstStyle/>
          <a:p>
            <a:pPr>
              <a:lnSpc>
                <a:spcPct val="150000"/>
              </a:lnSpc>
            </a:pPr>
            <a:r>
              <a:rPr altLang="en-US" sz="1800" b="1" dirty="0">
                <a:latin typeface="黑体" panose="02010609060101010101" pitchFamily="49" charset="-122"/>
                <a:ea typeface="黑体" panose="02010609060101010101" pitchFamily="49" charset="-122"/>
              </a:rPr>
              <a:t>已知</a:t>
            </a:r>
            <a:r>
              <a:rPr lang="en-US" altLang="zh-CN" sz="1800" b="1" dirty="0">
                <a:latin typeface="黑体" panose="02010609060101010101" pitchFamily="49" charset="-122"/>
                <a:ea typeface="黑体" panose="02010609060101010101" pitchFamily="49" charset="-122"/>
              </a:rPr>
              <a:t>H0</a:t>
            </a:r>
            <a:r>
              <a:rPr altLang="en-US" sz="1800" b="1" dirty="0">
                <a:latin typeface="黑体" panose="02010609060101010101" pitchFamily="49" charset="-122"/>
                <a:ea typeface="黑体" panose="02010609060101010101" pitchFamily="49" charset="-122"/>
              </a:rPr>
              <a:t>是满足约束</a:t>
            </a:r>
            <a:r>
              <a:rPr lang="en-US" altLang="zh-CN" sz="1800" b="1" dirty="0" err="1">
                <a:latin typeface="黑体" panose="02010609060101010101" pitchFamily="49" charset="-122"/>
                <a:ea typeface="黑体" panose="02010609060101010101" pitchFamily="49" charset="-122"/>
              </a:rPr>
              <a:t>w⋅x−b</a:t>
            </a:r>
            <a:r>
              <a:rPr lang="en-US" altLang="zh-CN" sz="1800" b="1" dirty="0">
                <a:latin typeface="黑体" panose="02010609060101010101" pitchFamily="49" charset="-122"/>
                <a:ea typeface="黑体" panose="02010609060101010101" pitchFamily="49" charset="-122"/>
              </a:rPr>
              <a:t>=−1</a:t>
            </a:r>
            <a:r>
              <a:rPr altLang="en-US" sz="1800" b="1" dirty="0">
                <a:latin typeface="黑体" panose="02010609060101010101" pitchFamily="49" charset="-122"/>
                <a:ea typeface="黑体" panose="02010609060101010101" pitchFamily="49" charset="-122"/>
              </a:rPr>
              <a:t>的超平面，</a:t>
            </a:r>
            <a:r>
              <a:rPr lang="en-US" altLang="zh-CN" sz="1800" b="1" dirty="0">
                <a:latin typeface="黑体" panose="02010609060101010101" pitchFamily="49" charset="-122"/>
                <a:ea typeface="黑体" panose="02010609060101010101" pitchFamily="49" charset="-122"/>
              </a:rPr>
              <a:t>H1</a:t>
            </a:r>
            <a:r>
              <a:rPr altLang="en-US" sz="1800" b="1" dirty="0">
                <a:latin typeface="黑体" panose="02010609060101010101" pitchFamily="49" charset="-122"/>
                <a:ea typeface="黑体" panose="02010609060101010101" pitchFamily="49" charset="-122"/>
              </a:rPr>
              <a:t>是满足约束</a:t>
            </a:r>
            <a:r>
              <a:rPr lang="en-US" altLang="zh-CN" sz="1800" b="1" dirty="0" err="1">
                <a:latin typeface="黑体" panose="02010609060101010101" pitchFamily="49" charset="-122"/>
                <a:ea typeface="黑体" panose="02010609060101010101" pitchFamily="49" charset="-122"/>
              </a:rPr>
              <a:t>w⋅x−b</a:t>
            </a:r>
            <a:r>
              <a:rPr lang="en-US" altLang="zh-CN" sz="1800" b="1" dirty="0">
                <a:latin typeface="黑体" panose="02010609060101010101" pitchFamily="49" charset="-122"/>
                <a:ea typeface="黑体" panose="02010609060101010101" pitchFamily="49" charset="-122"/>
              </a:rPr>
              <a:t>=1</a:t>
            </a:r>
            <a:r>
              <a:rPr altLang="en-US" sz="1800" b="1" dirty="0">
                <a:latin typeface="黑体" panose="02010609060101010101" pitchFamily="49" charset="-122"/>
                <a:ea typeface="黑体" panose="02010609060101010101" pitchFamily="49" charset="-122"/>
              </a:rPr>
              <a:t>的超平面</a:t>
            </a:r>
            <a:endParaRPr altLang="en-US" sz="1800" b="1" dirty="0">
              <a:latin typeface="黑体" panose="02010609060101010101" pitchFamily="49" charset="-122"/>
              <a:ea typeface="黑体" panose="02010609060101010101" pitchFamily="49" charset="-122"/>
            </a:endParaRPr>
          </a:p>
          <a:p>
            <a:pPr>
              <a:lnSpc>
                <a:spcPct val="150000"/>
              </a:lnSpc>
            </a:pPr>
            <a:r>
              <a:rPr lang="en-US" altLang="zh-CN" sz="1800" b="1" dirty="0">
                <a:latin typeface="黑体" panose="02010609060101010101" pitchFamily="49" charset="-122"/>
                <a:ea typeface="黑体" panose="02010609060101010101" pitchFamily="49" charset="-122"/>
              </a:rPr>
              <a:t>x0 </a:t>
            </a:r>
            <a:r>
              <a:rPr altLang="en-US" sz="1800" b="1" dirty="0">
                <a:latin typeface="黑体" panose="02010609060101010101" pitchFamily="49" charset="-122"/>
                <a:ea typeface="黑体" panose="02010609060101010101" pitchFamily="49" charset="-122"/>
              </a:rPr>
              <a:t>是 </a:t>
            </a:r>
            <a:r>
              <a:rPr lang="en-US" altLang="zh-CN" sz="1800" b="1" dirty="0">
                <a:latin typeface="黑体" panose="02010609060101010101" pitchFamily="49" charset="-122"/>
                <a:ea typeface="黑体" panose="02010609060101010101" pitchFamily="49" charset="-122"/>
              </a:rPr>
              <a:t>H0</a:t>
            </a:r>
            <a:r>
              <a:rPr altLang="en-US" sz="1800" b="1" dirty="0">
                <a:latin typeface="黑体" panose="02010609060101010101" pitchFamily="49" charset="-122"/>
                <a:ea typeface="黑体" panose="02010609060101010101" pitchFamily="49" charset="-122"/>
              </a:rPr>
              <a:t>上的一点</a:t>
            </a:r>
            <a:endParaRPr lang="en-US" altLang="zh-CN" sz="1800" b="1" dirty="0">
              <a:latin typeface="黑体" panose="02010609060101010101" pitchFamily="49" charset="-122"/>
              <a:ea typeface="黑体" panose="02010609060101010101" pitchFamily="49" charset="-122"/>
            </a:endParaRPr>
          </a:p>
          <a:p>
            <a:pPr>
              <a:lnSpc>
                <a:spcPct val="150000"/>
              </a:lnSpc>
            </a:pPr>
            <a:r>
              <a:rPr altLang="en-US" sz="1800" b="1" dirty="0">
                <a:latin typeface="黑体" panose="02010609060101010101" pitchFamily="49" charset="-122"/>
                <a:ea typeface="黑体" panose="02010609060101010101" pitchFamily="49" charset="-122"/>
              </a:rPr>
              <a:t>从</a:t>
            </a:r>
            <a:r>
              <a:rPr lang="en-US" altLang="zh-CN" sz="1800" b="1" dirty="0">
                <a:latin typeface="黑体" panose="02010609060101010101" pitchFamily="49" charset="-122"/>
                <a:ea typeface="黑体" panose="02010609060101010101" pitchFamily="49" charset="-122"/>
              </a:rPr>
              <a:t>x0</a:t>
            </a:r>
            <a:r>
              <a:rPr altLang="en-US" sz="1800" b="1" dirty="0">
                <a:latin typeface="黑体" panose="02010609060101010101" pitchFamily="49" charset="-122"/>
                <a:ea typeface="黑体" panose="02010609060101010101" pitchFamily="49" charset="-122"/>
              </a:rPr>
              <a:t>到超平面</a:t>
            </a:r>
            <a:r>
              <a:rPr lang="en-US" altLang="zh-CN" sz="1800" b="1" dirty="0">
                <a:latin typeface="黑体" panose="02010609060101010101" pitchFamily="49" charset="-122"/>
                <a:ea typeface="黑体" panose="02010609060101010101" pitchFamily="49" charset="-122"/>
              </a:rPr>
              <a:t>H1</a:t>
            </a:r>
            <a:r>
              <a:rPr altLang="en-US" sz="1800" b="1" dirty="0">
                <a:latin typeface="黑体" panose="02010609060101010101" pitchFamily="49" charset="-122"/>
                <a:ea typeface="黑体" panose="02010609060101010101" pitchFamily="49" charset="-122"/>
              </a:rPr>
              <a:t>的垂直距离</a:t>
            </a:r>
            <a:r>
              <a:rPr lang="en-US" altLang="zh-CN" sz="1800" b="1" dirty="0">
                <a:latin typeface="黑体" panose="02010609060101010101" pitchFamily="49" charset="-122"/>
                <a:ea typeface="黑体" panose="02010609060101010101" pitchFamily="49" charset="-122"/>
              </a:rPr>
              <a:t>m</a:t>
            </a:r>
            <a:r>
              <a:rPr altLang="en-US" sz="1800" b="1" dirty="0">
                <a:solidFill>
                  <a:srgbClr val="FF0000"/>
                </a:solidFill>
                <a:latin typeface="黑体" panose="02010609060101010101" pitchFamily="49" charset="-122"/>
                <a:ea typeface="黑体" panose="02010609060101010101" pitchFamily="49" charset="-122"/>
              </a:rPr>
              <a:t>就是间隔</a:t>
            </a:r>
            <a:r>
              <a:rPr altLang="en-US" sz="1800" b="1" dirty="0">
                <a:latin typeface="黑体" panose="02010609060101010101" pitchFamily="49" charset="-122"/>
                <a:ea typeface="黑体" panose="02010609060101010101" pitchFamily="49" charset="-122"/>
              </a:rPr>
              <a:t>。</a:t>
            </a:r>
            <a:r>
              <a:rPr lang="en-US" altLang="zh-CN" sz="1800" b="1" dirty="0">
                <a:latin typeface="黑体" panose="02010609060101010101" pitchFamily="49" charset="-122"/>
                <a:ea typeface="黑体" panose="02010609060101010101" pitchFamily="49" charset="-122"/>
              </a:rPr>
              <a:t> x0</a:t>
            </a:r>
            <a:r>
              <a:rPr altLang="en-US" sz="1800" b="1" dirty="0">
                <a:latin typeface="黑体" panose="02010609060101010101" pitchFamily="49" charset="-122"/>
                <a:ea typeface="黑体" panose="02010609060101010101" pitchFamily="49" charset="-122"/>
              </a:rPr>
              <a:t>在超平面</a:t>
            </a:r>
            <a:r>
              <a:rPr lang="en-US" altLang="zh-CN" sz="1800" b="1" dirty="0">
                <a:latin typeface="黑体" panose="02010609060101010101" pitchFamily="49" charset="-122"/>
                <a:ea typeface="黑体" panose="02010609060101010101" pitchFamily="49" charset="-122"/>
              </a:rPr>
              <a:t>H0</a:t>
            </a:r>
            <a:r>
              <a:rPr altLang="en-US" sz="1800" b="1" dirty="0">
                <a:latin typeface="黑体" panose="02010609060101010101" pitchFamily="49" charset="-122"/>
                <a:ea typeface="黑体" panose="02010609060101010101" pitchFamily="49" charset="-122"/>
              </a:rPr>
              <a:t>上，所以</a:t>
            </a:r>
            <a:r>
              <a:rPr lang="en-US" altLang="zh-CN" sz="1800" b="1" dirty="0">
                <a:latin typeface="黑体" panose="02010609060101010101" pitchFamily="49" charset="-122"/>
                <a:ea typeface="黑体" panose="02010609060101010101" pitchFamily="49" charset="-122"/>
              </a:rPr>
              <a:t>m</a:t>
            </a:r>
            <a:r>
              <a:rPr altLang="en-US" sz="1800" b="1" dirty="0">
                <a:latin typeface="黑体" panose="02010609060101010101" pitchFamily="49" charset="-122"/>
                <a:ea typeface="黑体" panose="02010609060101010101" pitchFamily="49" charset="-122"/>
              </a:rPr>
              <a:t>是超平面</a:t>
            </a:r>
            <a:r>
              <a:rPr lang="en-US" altLang="zh-CN" sz="1800" b="1" dirty="0">
                <a:latin typeface="黑体" panose="02010609060101010101" pitchFamily="49" charset="-122"/>
                <a:ea typeface="黑体" panose="02010609060101010101" pitchFamily="49" charset="-122"/>
              </a:rPr>
              <a:t>H0</a:t>
            </a:r>
            <a:r>
              <a:rPr altLang="en-US" sz="1800" b="1" dirty="0">
                <a:latin typeface="黑体" panose="02010609060101010101" pitchFamily="49" charset="-122"/>
                <a:ea typeface="黑体" panose="02010609060101010101" pitchFamily="49" charset="-122"/>
              </a:rPr>
              <a:t>与</a:t>
            </a:r>
            <a:r>
              <a:rPr lang="en-US" altLang="zh-CN" sz="1800" b="1" dirty="0">
                <a:latin typeface="黑体" panose="02010609060101010101" pitchFamily="49" charset="-122"/>
                <a:ea typeface="黑体" panose="02010609060101010101" pitchFamily="49" charset="-122"/>
              </a:rPr>
              <a:t>H1</a:t>
            </a:r>
            <a:r>
              <a:rPr altLang="en-US" sz="1800" b="1" dirty="0">
                <a:latin typeface="黑体" panose="02010609060101010101" pitchFamily="49" charset="-122"/>
                <a:ea typeface="黑体" panose="02010609060101010101" pitchFamily="49" charset="-122"/>
              </a:rPr>
              <a:t>间的距离。</a:t>
            </a:r>
            <a:endParaRPr altLang="en-US" sz="1800" b="1" dirty="0">
              <a:latin typeface="黑体" panose="02010609060101010101" pitchFamily="49" charset="-122"/>
              <a:ea typeface="黑体" panose="02010609060101010101" pitchFamily="49" charset="-122"/>
            </a:endParaRPr>
          </a:p>
          <a:p>
            <a:pPr>
              <a:lnSpc>
                <a:spcPct val="150000"/>
              </a:lnSpc>
            </a:pPr>
            <a:r>
              <a:rPr altLang="en-US" sz="1800" b="1" dirty="0">
                <a:solidFill>
                  <a:srgbClr val="FF0000"/>
                </a:solidFill>
                <a:latin typeface="黑体" panose="02010609060101010101" pitchFamily="49" charset="-122"/>
                <a:ea typeface="黑体" panose="02010609060101010101" pitchFamily="49" charset="-122"/>
              </a:rPr>
              <a:t>现在试着找出</a:t>
            </a:r>
            <a:r>
              <a:rPr lang="en-US" altLang="zh-CN" sz="1800" b="1" dirty="0">
                <a:solidFill>
                  <a:srgbClr val="FF0000"/>
                </a:solidFill>
                <a:latin typeface="黑体" panose="02010609060101010101" pitchFamily="49" charset="-122"/>
                <a:ea typeface="黑体" panose="02010609060101010101" pitchFamily="49" charset="-122"/>
              </a:rPr>
              <a:t>m</a:t>
            </a:r>
            <a:r>
              <a:rPr altLang="en-US" sz="1800" b="1" dirty="0">
                <a:solidFill>
                  <a:srgbClr val="FF0000"/>
                </a:solidFill>
                <a:latin typeface="黑体" panose="02010609060101010101" pitchFamily="49" charset="-122"/>
                <a:ea typeface="黑体" panose="02010609060101010101" pitchFamily="49" charset="-122"/>
              </a:rPr>
              <a:t>的值</a:t>
            </a:r>
            <a:r>
              <a:rPr altLang="en-US" sz="1800" b="1" dirty="0">
                <a:latin typeface="黑体" panose="02010609060101010101" pitchFamily="49" charset="-122"/>
                <a:ea typeface="黑体" panose="02010609060101010101" pitchFamily="49" charset="-122"/>
              </a:rPr>
              <a:t>。 </a:t>
            </a:r>
            <a:endParaRPr lang="en-US" altLang="zh-CN" sz="1800" b="1" dirty="0">
              <a:latin typeface="黑体" panose="02010609060101010101" pitchFamily="49" charset="-122"/>
              <a:ea typeface="黑体" panose="02010609060101010101" pitchFamily="49" charset="-122"/>
            </a:endParaRPr>
          </a:p>
        </p:txBody>
      </p:sp>
      <p:pic>
        <p:nvPicPr>
          <p:cNvPr id="43012" name="图片 6"/>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3949150" y="1247654"/>
            <a:ext cx="4749714" cy="4702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ph type="title"/>
          </p:nvPr>
        </p:nvSpPr>
        <p:spPr>
          <a:xfrm>
            <a:off x="310288" y="188223"/>
            <a:ext cx="7886700" cy="570310"/>
          </a:xfrm>
        </p:spPr>
        <p:txBody>
          <a:bodyPr vert="horz" lIns="91440" tIns="45720" rIns="91440" bIns="45720" rtlCol="0" anchor="ctr">
            <a:normAutofit fontScale="90000"/>
          </a:bodyPr>
          <a:lstStyle/>
          <a:p>
            <a:r>
              <a:rPr altLang="en-US" dirty="0" err="1">
                <a:latin typeface="黑体" panose="02010609060101010101" pitchFamily="49" charset="-122"/>
                <a:ea typeface="黑体" panose="02010609060101010101" pitchFamily="49" charset="-122"/>
              </a:rPr>
              <a:t>超平面之间距离的计算</a:t>
            </a:r>
            <a:endParaRPr altLang="zh-CN" dirty="0">
              <a:latin typeface="黑体" panose="02010609060101010101" pitchFamily="49" charset="-122"/>
              <a:ea typeface="黑体" panose="02010609060101010101" pitchFamily="49" charset="-122"/>
            </a:endParaRPr>
          </a:p>
        </p:txBody>
      </p:sp>
      <p:sp>
        <p:nvSpPr>
          <p:cNvPr id="6" name="内容占位符 2"/>
          <p:cNvSpPr>
            <a:spLocks noGrp="1"/>
          </p:cNvSpPr>
          <p:nvPr>
            <p:ph idx="1"/>
          </p:nvPr>
        </p:nvSpPr>
        <p:spPr>
          <a:xfrm>
            <a:off x="144067" y="1593056"/>
            <a:ext cx="8964215" cy="3671888"/>
          </a:xfrm>
        </p:spPr>
        <p:txBody>
          <a:bodyPr vert="horz" lIns="91440" tIns="46800" rIns="91440" bIns="45720" rtlCol="0">
            <a:normAutofit/>
          </a:bodyPr>
          <a:lstStyle/>
          <a:p>
            <a:pPr>
              <a:lnSpc>
                <a:spcPct val="150000"/>
              </a:lnSpc>
            </a:pPr>
            <a:r>
              <a:rPr altLang="en-US" sz="2000" b="1" dirty="0">
                <a:latin typeface="黑体" panose="02010609060101010101" pitchFamily="49" charset="-122"/>
                <a:ea typeface="黑体" panose="02010609060101010101" pitchFamily="49" charset="-122"/>
              </a:rPr>
              <a:t>如果</a:t>
            </a:r>
            <a:r>
              <a:rPr lang="en-US" altLang="zh-CN" sz="2000" b="1" dirty="0">
                <a:latin typeface="黑体" panose="02010609060101010101" pitchFamily="49" charset="-122"/>
                <a:ea typeface="黑体" panose="02010609060101010101" pitchFamily="49" charset="-122"/>
              </a:rPr>
              <a:t>x0</a:t>
            </a:r>
            <a:r>
              <a:rPr altLang="en-US" sz="2000" b="1" dirty="0">
                <a:latin typeface="黑体" panose="02010609060101010101" pitchFamily="49" charset="-122"/>
                <a:ea typeface="黑体" panose="02010609060101010101" pitchFamily="49" charset="-122"/>
              </a:rPr>
              <a:t>和另一个超平面距离为</a:t>
            </a:r>
            <a:r>
              <a:rPr lang="en-US" altLang="zh-CN" sz="2000" b="1" dirty="0">
                <a:latin typeface="黑体" panose="02010609060101010101" pitchFamily="49" charset="-122"/>
                <a:ea typeface="黑体" panose="02010609060101010101" pitchFamily="49" charset="-122"/>
              </a:rPr>
              <a:t>m</a:t>
            </a:r>
            <a:r>
              <a:rPr altLang="en-US" sz="2000" b="1" dirty="0">
                <a:latin typeface="黑体" panose="02010609060101010101" pitchFamily="49" charset="-122"/>
                <a:ea typeface="黑体" panose="02010609060101010101" pitchFamily="49" charset="-122"/>
              </a:rPr>
              <a:t>，加上</a:t>
            </a:r>
            <a:r>
              <a:rPr lang="en-US" altLang="zh-CN" sz="2000" b="1" dirty="0">
                <a:latin typeface="黑体" panose="02010609060101010101" pitchFamily="49" charset="-122"/>
                <a:ea typeface="黑体" panose="02010609060101010101" pitchFamily="49" charset="-122"/>
              </a:rPr>
              <a:t>m</a:t>
            </a:r>
            <a:r>
              <a:rPr altLang="en-US" sz="2000" b="1" dirty="0">
                <a:latin typeface="黑体" panose="02010609060101010101" pitchFamily="49" charset="-122"/>
                <a:ea typeface="黑体" panose="02010609060101010101" pitchFamily="49" charset="-122"/>
              </a:rPr>
              <a:t>应该会得到另一个超平面上的点。</a:t>
            </a:r>
            <a:endParaRPr altLang="en-US" sz="2000" b="1" dirty="0">
              <a:latin typeface="黑体" panose="02010609060101010101" pitchFamily="49" charset="-122"/>
              <a:ea typeface="黑体" panose="02010609060101010101" pitchFamily="49" charset="-122"/>
            </a:endParaRPr>
          </a:p>
          <a:p>
            <a:pPr>
              <a:lnSpc>
                <a:spcPct val="150000"/>
              </a:lnSpc>
            </a:pPr>
            <a:r>
              <a:rPr altLang="en-US" sz="2000" b="1" dirty="0">
                <a:latin typeface="黑体" panose="02010609060101010101" pitchFamily="49" charset="-122"/>
                <a:ea typeface="黑体" panose="02010609060101010101" pitchFamily="49" charset="-122"/>
              </a:rPr>
              <a:t>不过</a:t>
            </a:r>
            <a:r>
              <a:rPr lang="en-US" altLang="zh-CN" sz="2000" b="1" dirty="0">
                <a:latin typeface="黑体" panose="02010609060101010101" pitchFamily="49" charset="-122"/>
                <a:ea typeface="黑体" panose="02010609060101010101" pitchFamily="49" charset="-122"/>
              </a:rPr>
              <a:t>m</a:t>
            </a:r>
            <a:r>
              <a:rPr altLang="en-US" sz="2000" b="1" dirty="0">
                <a:latin typeface="黑体" panose="02010609060101010101" pitchFamily="49" charset="-122"/>
                <a:ea typeface="黑体" panose="02010609060101010101" pitchFamily="49" charset="-122"/>
              </a:rPr>
              <a:t>是一个标量，</a:t>
            </a:r>
            <a:r>
              <a:rPr lang="en-US" altLang="zh-CN" sz="2000" b="1" dirty="0">
                <a:latin typeface="黑体" panose="02010609060101010101" pitchFamily="49" charset="-122"/>
                <a:ea typeface="黑体" panose="02010609060101010101" pitchFamily="49" charset="-122"/>
              </a:rPr>
              <a:t> x0</a:t>
            </a:r>
            <a:r>
              <a:rPr altLang="en-US" sz="2000" b="1" dirty="0">
                <a:latin typeface="黑体" panose="02010609060101010101" pitchFamily="49" charset="-122"/>
                <a:ea typeface="黑体" panose="02010609060101010101" pitchFamily="49" charset="-122"/>
              </a:rPr>
              <a:t>是一个向量，无法运算。需要将</a:t>
            </a:r>
            <a:r>
              <a:rPr lang="en-US" altLang="zh-CN" sz="2000" b="1" dirty="0">
                <a:latin typeface="黑体" panose="02010609060101010101" pitchFamily="49" charset="-122"/>
                <a:ea typeface="黑体" panose="02010609060101010101" pitchFamily="49" charset="-122"/>
              </a:rPr>
              <a:t>m</a:t>
            </a:r>
            <a:r>
              <a:rPr altLang="en-US" sz="2000" b="1" dirty="0">
                <a:latin typeface="黑体" panose="02010609060101010101" pitchFamily="49" charset="-122"/>
                <a:ea typeface="黑体" panose="02010609060101010101" pitchFamily="49" charset="-122"/>
              </a:rPr>
              <a:t>变换成一个向量。这个向量满足：</a:t>
            </a:r>
            <a:endParaRPr lang="en-US" altLang="zh-CN" sz="2000" b="1" dirty="0">
              <a:latin typeface="黑体" panose="02010609060101010101" pitchFamily="49" charset="-122"/>
              <a:ea typeface="黑体" panose="02010609060101010101" pitchFamily="49" charset="-122"/>
            </a:endParaRPr>
          </a:p>
          <a:p>
            <a:pPr lvl="1">
              <a:lnSpc>
                <a:spcPct val="150000"/>
              </a:lnSpc>
            </a:pPr>
            <a:r>
              <a:rPr altLang="en-US" b="1" dirty="0">
                <a:latin typeface="黑体" panose="02010609060101010101" pitchFamily="49" charset="-122"/>
                <a:ea typeface="黑体" panose="02010609060101010101" pitchFamily="49" charset="-122"/>
              </a:rPr>
              <a:t>长度为</a:t>
            </a:r>
            <a:r>
              <a:rPr lang="en-US" altLang="zh-CN" b="1" dirty="0">
                <a:latin typeface="黑体" panose="02010609060101010101" pitchFamily="49" charset="-122"/>
                <a:ea typeface="黑体" panose="02010609060101010101" pitchFamily="49" charset="-122"/>
              </a:rPr>
              <a:t>m</a:t>
            </a:r>
            <a:endParaRPr lang="en-US" altLang="zh-CN" b="1" dirty="0">
              <a:latin typeface="黑体" panose="02010609060101010101" pitchFamily="49" charset="-122"/>
              <a:ea typeface="黑体" panose="02010609060101010101" pitchFamily="49" charset="-122"/>
            </a:endParaRPr>
          </a:p>
          <a:p>
            <a:pPr lvl="1">
              <a:lnSpc>
                <a:spcPct val="150000"/>
              </a:lnSpc>
            </a:pPr>
            <a:r>
              <a:rPr altLang="en-US" b="1" dirty="0">
                <a:latin typeface="黑体" panose="02010609060101010101" pitchFamily="49" charset="-122"/>
                <a:ea typeface="黑体" panose="02010609060101010101" pitchFamily="49" charset="-122"/>
              </a:rPr>
              <a:t>方向垂直于平面</a:t>
            </a:r>
            <a:r>
              <a:rPr lang="en-US" altLang="zh-CN" b="1" dirty="0">
                <a:latin typeface="黑体" panose="02010609060101010101" pitchFamily="49" charset="-122"/>
                <a:ea typeface="黑体" panose="02010609060101010101" pitchFamily="49" charset="-122"/>
              </a:rPr>
              <a:t>H1</a:t>
            </a:r>
            <a:endParaRPr lang="en-US" altLang="zh-CN" b="1" dirty="0">
              <a:latin typeface="黑体" panose="02010609060101010101" pitchFamily="49" charset="-122"/>
              <a:ea typeface="黑体" panose="02010609060101010101" pitchFamily="49" charset="-122"/>
            </a:endParaRPr>
          </a:p>
          <a:p>
            <a:pPr lvl="1">
              <a:lnSpc>
                <a:spcPct val="150000"/>
              </a:lnSpc>
            </a:pPr>
            <a:r>
              <a:rPr altLang="en-US" b="1" dirty="0">
                <a:latin typeface="黑体" panose="02010609060101010101" pitchFamily="49" charset="-122"/>
                <a:ea typeface="黑体" panose="02010609060101010101" pitchFamily="49" charset="-122"/>
              </a:rPr>
              <a:t>仔细看看超平面的形式，发现已经有一个垂直</a:t>
            </a:r>
            <a:r>
              <a:rPr lang="en-US" altLang="zh-CN" b="1" dirty="0">
                <a:latin typeface="黑体" panose="02010609060101010101" pitchFamily="49" charset="-122"/>
                <a:ea typeface="黑体" panose="02010609060101010101" pitchFamily="49" charset="-122"/>
              </a:rPr>
              <a:t>H1</a:t>
            </a:r>
            <a:r>
              <a:rPr altLang="en-US" b="1" dirty="0">
                <a:latin typeface="黑体" panose="02010609060101010101" pitchFamily="49" charset="-122"/>
                <a:ea typeface="黑体" panose="02010609060101010101" pitchFamily="49" charset="-122"/>
              </a:rPr>
              <a:t>的向量，</a:t>
            </a:r>
            <a:r>
              <a:rPr altLang="en-US" b="1" dirty="0">
                <a:solidFill>
                  <a:srgbClr val="FF0000"/>
                </a:solidFill>
                <a:latin typeface="黑体" panose="02010609060101010101" pitchFamily="49" charset="-122"/>
                <a:ea typeface="黑体" panose="02010609060101010101" pitchFamily="49" charset="-122"/>
              </a:rPr>
              <a:t>正是</a:t>
            </a:r>
            <a:r>
              <a:rPr lang="en-US" altLang="zh-CN" b="1" dirty="0">
                <a:solidFill>
                  <a:srgbClr val="FF0000"/>
                </a:solidFill>
                <a:latin typeface="黑体" panose="02010609060101010101" pitchFamily="49" charset="-122"/>
                <a:ea typeface="黑体" panose="02010609060101010101" pitchFamily="49" charset="-122"/>
              </a:rPr>
              <a:t>w</a:t>
            </a:r>
            <a:r>
              <a:rPr altLang="en-US" b="1" dirty="0">
                <a:latin typeface="黑体" panose="02010609060101010101" pitchFamily="49" charset="-122"/>
                <a:ea typeface="黑体" panose="02010609060101010101" pitchFamily="49" charset="-122"/>
              </a:rPr>
              <a:t>（因为</a:t>
            </a:r>
            <a:r>
              <a:rPr lang="en-US" altLang="zh-CN" b="1" dirty="0">
                <a:latin typeface="黑体" panose="02010609060101010101" pitchFamily="49" charset="-122"/>
                <a:ea typeface="黑体" panose="02010609060101010101" pitchFamily="49" charset="-122"/>
              </a:rPr>
              <a:t>H1</a:t>
            </a:r>
            <a:r>
              <a:rPr altLang="en-US" b="1" dirty="0">
                <a:latin typeface="黑体" panose="02010609060101010101" pitchFamily="49" charset="-122"/>
                <a:ea typeface="黑体" panose="02010609060101010101" pitchFamily="49" charset="-122"/>
              </a:rPr>
              <a:t>为</a:t>
            </a:r>
            <a:r>
              <a:rPr lang="en-US" altLang="zh-CN" b="1" dirty="0" err="1">
                <a:latin typeface="黑体" panose="02010609060101010101" pitchFamily="49" charset="-122"/>
                <a:ea typeface="黑体" panose="02010609060101010101" pitchFamily="49" charset="-122"/>
              </a:rPr>
              <a:t>w⋅x−b</a:t>
            </a:r>
            <a:r>
              <a:rPr lang="en-US" altLang="zh-CN" b="1" dirty="0">
                <a:latin typeface="黑体" panose="02010609060101010101" pitchFamily="49" charset="-122"/>
                <a:ea typeface="黑体" panose="02010609060101010101" pitchFamily="49" charset="-122"/>
              </a:rPr>
              <a:t>=1</a:t>
            </a:r>
            <a:r>
              <a:rPr altLang="en-US" b="1" dirty="0">
                <a:latin typeface="黑体" panose="02010609060101010101" pitchFamily="49" charset="-122"/>
                <a:ea typeface="黑体" panose="02010609060101010101" pitchFamily="49" charset="-122"/>
              </a:rPr>
              <a:t>）</a:t>
            </a:r>
            <a:endParaRPr lang="en-US" altLang="zh-CN" b="1" dirty="0">
              <a:latin typeface="黑体" panose="02010609060101010101" pitchFamily="49" charset="-122"/>
              <a:ea typeface="黑体" panose="02010609060101010101" pitchFamily="49"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ph type="title"/>
          </p:nvPr>
        </p:nvSpPr>
        <p:spPr>
          <a:xfrm>
            <a:off x="316914" y="194576"/>
            <a:ext cx="7886700" cy="570310"/>
          </a:xfrm>
        </p:spPr>
        <p:txBody>
          <a:bodyPr vert="horz" lIns="91440" tIns="45720" rIns="91440" bIns="45720" rtlCol="0" anchor="ctr">
            <a:normAutofit fontScale="90000"/>
          </a:bodyPr>
          <a:lstStyle/>
          <a:p>
            <a:r>
              <a:rPr altLang="en-US" dirty="0" err="1">
                <a:latin typeface="黑体" panose="02010609060101010101" pitchFamily="49" charset="-122"/>
                <a:ea typeface="黑体" panose="02010609060101010101" pitchFamily="49" charset="-122"/>
              </a:rPr>
              <a:t>超平面之间距离的计算</a:t>
            </a:r>
            <a:endParaRPr altLang="zh-CN" dirty="0">
              <a:latin typeface="黑体" panose="02010609060101010101" pitchFamily="49" charset="-122"/>
              <a:ea typeface="黑体" panose="02010609060101010101" pitchFamily="49" charset="-122"/>
            </a:endParaRPr>
          </a:p>
        </p:txBody>
      </p:sp>
      <p:sp>
        <p:nvSpPr>
          <p:cNvPr id="45059" name="内容占位符 2"/>
          <p:cNvSpPr>
            <a:spLocks noGrp="1"/>
          </p:cNvSpPr>
          <p:nvPr>
            <p:ph idx="1"/>
          </p:nvPr>
        </p:nvSpPr>
        <p:spPr>
          <a:xfrm>
            <a:off x="144066" y="1593056"/>
            <a:ext cx="2645569" cy="3671888"/>
          </a:xfrm>
        </p:spPr>
        <p:txBody>
          <a:bodyPr vert="horz" lIns="91440" tIns="46800" rIns="91440" bIns="45720" rtlCol="0">
            <a:normAutofit/>
          </a:bodyPr>
          <a:lstStyle/>
          <a:p>
            <a:pPr>
              <a:lnSpc>
                <a:spcPct val="150000"/>
              </a:lnSpc>
            </a:pPr>
            <a:r>
              <a:rPr altLang="en-US" sz="2000" b="1" dirty="0">
                <a:latin typeface="黑体" panose="02010609060101010101" pitchFamily="49" charset="-122"/>
                <a:ea typeface="黑体" panose="02010609060101010101" pitchFamily="49" charset="-122"/>
              </a:rPr>
              <a:t>但是长度不为</a:t>
            </a:r>
            <a:r>
              <a:rPr lang="en-US" altLang="zh-CN" sz="2000" b="1" dirty="0">
                <a:latin typeface="黑体" panose="02010609060101010101" pitchFamily="49" charset="-122"/>
                <a:ea typeface="黑体" panose="02010609060101010101" pitchFamily="49" charset="-122"/>
              </a:rPr>
              <a:t>m</a:t>
            </a:r>
            <a:r>
              <a:rPr altLang="en-US" sz="2000" b="1" dirty="0">
                <a:latin typeface="黑体" panose="02010609060101010101" pitchFamily="49" charset="-122"/>
                <a:ea typeface="黑体" panose="02010609060101010101" pitchFamily="49" charset="-122"/>
              </a:rPr>
              <a:t>。</a:t>
            </a:r>
            <a:endParaRPr lang="en-US" altLang="zh-CN" sz="2000" b="1" dirty="0">
              <a:latin typeface="黑体" panose="02010609060101010101" pitchFamily="49" charset="-122"/>
              <a:ea typeface="黑体" panose="02010609060101010101" pitchFamily="49" charset="-122"/>
            </a:endParaRPr>
          </a:p>
          <a:p>
            <a:pPr>
              <a:lnSpc>
                <a:spcPct val="150000"/>
              </a:lnSpc>
            </a:pPr>
            <a:r>
              <a:rPr altLang="en-US" sz="2000" b="1" dirty="0">
                <a:solidFill>
                  <a:srgbClr val="FF0000"/>
                </a:solidFill>
                <a:latin typeface="黑体" panose="02010609060101010101" pitchFamily="49" charset="-122"/>
                <a:ea typeface="黑体" panose="02010609060101010101" pitchFamily="49" charset="-122"/>
              </a:rPr>
              <a:t>怎么办？</a:t>
            </a:r>
            <a:endParaRPr lang="en-US" altLang="zh-CN" sz="2000" b="1" dirty="0">
              <a:solidFill>
                <a:srgbClr val="FF0000"/>
              </a:solidFill>
              <a:latin typeface="黑体" panose="02010609060101010101" pitchFamily="49" charset="-122"/>
              <a:ea typeface="黑体" panose="02010609060101010101" pitchFamily="49" charset="-122"/>
            </a:endParaRPr>
          </a:p>
          <a:p>
            <a:pPr>
              <a:lnSpc>
                <a:spcPct val="150000"/>
              </a:lnSpc>
            </a:pPr>
            <a:endParaRPr altLang="en-US" sz="2000" b="1" dirty="0">
              <a:latin typeface="黑体" panose="02010609060101010101" pitchFamily="49" charset="-122"/>
              <a:ea typeface="黑体" panose="02010609060101010101" pitchFamily="49" charset="-122"/>
            </a:endParaRPr>
          </a:p>
        </p:txBody>
      </p:sp>
      <p:pic>
        <p:nvPicPr>
          <p:cNvPr id="45060"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4625579" y="1160860"/>
            <a:ext cx="4374356" cy="4520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ph type="title"/>
          </p:nvPr>
        </p:nvSpPr>
        <p:spPr>
          <a:xfrm>
            <a:off x="250653" y="179084"/>
            <a:ext cx="7886700" cy="570310"/>
          </a:xfrm>
        </p:spPr>
        <p:txBody>
          <a:bodyPr vert="horz" lIns="91440" tIns="45720" rIns="91440" bIns="45720" rtlCol="0" anchor="ctr">
            <a:normAutofit fontScale="90000"/>
          </a:bodyPr>
          <a:lstStyle/>
          <a:p>
            <a:r>
              <a:rPr altLang="en-US" dirty="0" err="1">
                <a:latin typeface="黑体" panose="02010609060101010101" pitchFamily="49" charset="-122"/>
                <a:ea typeface="黑体" panose="02010609060101010101" pitchFamily="49" charset="-122"/>
              </a:rPr>
              <a:t>超平面之间距离的计算</a:t>
            </a:r>
            <a:endParaRPr altLang="zh-CN" dirty="0">
              <a:latin typeface="黑体" panose="02010609060101010101" pitchFamily="49" charset="-122"/>
              <a:ea typeface="黑体" panose="02010609060101010101" pitchFamily="49" charset="-122"/>
            </a:endParaRPr>
          </a:p>
        </p:txBody>
      </p:sp>
      <p:sp>
        <p:nvSpPr>
          <p:cNvPr id="46083" name="内容占位符 2"/>
          <p:cNvSpPr>
            <a:spLocks noGrp="1"/>
          </p:cNvSpPr>
          <p:nvPr>
            <p:ph idx="1"/>
          </p:nvPr>
        </p:nvSpPr>
        <p:spPr>
          <a:xfrm>
            <a:off x="144066" y="1593056"/>
            <a:ext cx="3995738" cy="3671888"/>
          </a:xfrm>
        </p:spPr>
        <p:txBody>
          <a:bodyPr>
            <a:noAutofit/>
          </a:bodyPr>
          <a:lstStyle/>
          <a:p>
            <a:pPr eaLnBrk="1" hangingPunct="1">
              <a:lnSpc>
                <a:spcPct val="150000"/>
              </a:lnSpc>
            </a:pPr>
            <a:r>
              <a:rPr altLang="en-US" sz="2000" b="1" dirty="0">
                <a:latin typeface="黑体" panose="02010609060101010101" pitchFamily="49" charset="-122"/>
                <a:ea typeface="黑体" panose="02010609060101010101" pitchFamily="49" charset="-122"/>
              </a:rPr>
              <a:t>定义</a:t>
            </a:r>
            <a:r>
              <a:rPr lang="en-US" altLang="zh-CN" sz="2000" b="1" dirty="0">
                <a:latin typeface="黑体" panose="02010609060101010101" pitchFamily="49" charset="-122"/>
                <a:ea typeface="黑体" panose="02010609060101010101" pitchFamily="49" charset="-122"/>
              </a:rPr>
              <a:t>u</a:t>
            </a:r>
            <a:r>
              <a:rPr altLang="en-US" sz="2000" b="1" dirty="0">
                <a:latin typeface="黑体" panose="02010609060101010101" pitchFamily="49" charset="-122"/>
                <a:ea typeface="黑体" panose="02010609060101010101" pitchFamily="49" charset="-122"/>
              </a:rPr>
              <a:t>是</a:t>
            </a:r>
            <a:r>
              <a:rPr lang="en-US" altLang="zh-CN" sz="2000" b="1" dirty="0">
                <a:latin typeface="黑体" panose="02010609060101010101" pitchFamily="49" charset="-122"/>
                <a:ea typeface="黑体" panose="02010609060101010101" pitchFamily="49" charset="-122"/>
              </a:rPr>
              <a:t>w</a:t>
            </a:r>
            <a:r>
              <a:rPr altLang="en-US" sz="2000" b="1" dirty="0">
                <a:latin typeface="黑体" panose="02010609060101010101" pitchFamily="49" charset="-122"/>
                <a:ea typeface="黑体" panose="02010609060101010101" pitchFamily="49" charset="-122"/>
              </a:rPr>
              <a:t>的单位向量即</a:t>
            </a:r>
            <a:r>
              <a:rPr lang="en-US" altLang="zh-CN" sz="2000" b="1" dirty="0">
                <a:latin typeface="黑体" panose="02010609060101010101" pitchFamily="49" charset="-122"/>
                <a:ea typeface="黑体" panose="02010609060101010101" pitchFamily="49" charset="-122"/>
              </a:rPr>
              <a:t>              </a:t>
            </a:r>
            <a:r>
              <a:rPr altLang="en-US" sz="2000" b="1" dirty="0">
                <a:latin typeface="黑体" panose="02010609060101010101" pitchFamily="49" charset="-122"/>
                <a:ea typeface="黑体" panose="02010609060101010101" pitchFamily="49" charset="-122"/>
              </a:rPr>
              <a:t>且它和</a:t>
            </a:r>
            <a:r>
              <a:rPr lang="en-US" altLang="zh-CN" sz="2000" b="1" dirty="0">
                <a:latin typeface="黑体" panose="02010609060101010101" pitchFamily="49" charset="-122"/>
                <a:ea typeface="黑体" panose="02010609060101010101" pitchFamily="49" charset="-122"/>
              </a:rPr>
              <a:t>w</a:t>
            </a:r>
            <a:r>
              <a:rPr altLang="en-US" sz="2000" b="1" dirty="0">
                <a:latin typeface="黑体" panose="02010609060101010101" pitchFamily="49" charset="-122"/>
                <a:ea typeface="黑体" panose="02010609060101010101" pitchFamily="49" charset="-122"/>
              </a:rPr>
              <a:t>有相同的方向，垂直于平面</a:t>
            </a:r>
            <a:r>
              <a:rPr lang="en-US" altLang="zh-CN" sz="2000" b="1" dirty="0">
                <a:latin typeface="黑体" panose="02010609060101010101" pitchFamily="49" charset="-122"/>
                <a:ea typeface="黑体" panose="02010609060101010101" pitchFamily="49" charset="-122"/>
              </a:rPr>
              <a:t>H</a:t>
            </a:r>
            <a:r>
              <a:rPr lang="en-US" altLang="zh-CN" sz="2000" b="1" baseline="-25000" dirty="0">
                <a:latin typeface="黑体" panose="02010609060101010101" pitchFamily="49" charset="-122"/>
                <a:ea typeface="黑体" panose="02010609060101010101" pitchFamily="49" charset="-122"/>
              </a:rPr>
              <a:t>1</a:t>
            </a:r>
            <a:r>
              <a:rPr altLang="en-US" sz="2000" b="1" dirty="0">
                <a:latin typeface="黑体" panose="02010609060101010101" pitchFamily="49" charset="-122"/>
                <a:ea typeface="黑体" panose="02010609060101010101" pitchFamily="49" charset="-122"/>
              </a:rPr>
              <a:t>。</a:t>
            </a:r>
            <a:endParaRPr lang="en-US" altLang="zh-CN" sz="2000" b="1" dirty="0">
              <a:solidFill>
                <a:srgbClr val="FFFF00"/>
              </a:solidFill>
              <a:latin typeface="黑体" panose="02010609060101010101" pitchFamily="49" charset="-122"/>
              <a:ea typeface="黑体" panose="02010609060101010101" pitchFamily="49" charset="-122"/>
            </a:endParaRPr>
          </a:p>
          <a:p>
            <a:pPr eaLnBrk="1" hangingPunct="1">
              <a:lnSpc>
                <a:spcPct val="150000"/>
              </a:lnSpc>
            </a:pPr>
            <a:endParaRPr lang="en-US" altLang="zh-CN" sz="2000" b="1" dirty="0">
              <a:latin typeface="黑体" panose="02010609060101010101" pitchFamily="49" charset="-122"/>
              <a:ea typeface="黑体" panose="02010609060101010101" pitchFamily="49" charset="-122"/>
            </a:endParaRPr>
          </a:p>
          <a:p>
            <a:pPr eaLnBrk="1" hangingPunct="1">
              <a:lnSpc>
                <a:spcPct val="150000"/>
              </a:lnSpc>
            </a:pPr>
            <a:endParaRPr lang="en-US" altLang="zh-CN" sz="2000" b="1" dirty="0">
              <a:latin typeface="黑体" panose="02010609060101010101" pitchFamily="49" charset="-122"/>
              <a:ea typeface="黑体" panose="02010609060101010101" pitchFamily="49" charset="-122"/>
            </a:endParaRPr>
          </a:p>
          <a:p>
            <a:pPr eaLnBrk="1" hangingPunct="1">
              <a:lnSpc>
                <a:spcPct val="150000"/>
              </a:lnSpc>
            </a:pPr>
            <a:r>
              <a:rPr altLang="en-US" sz="2000" b="1" dirty="0">
                <a:latin typeface="黑体" panose="02010609060101010101" pitchFamily="49" charset="-122"/>
                <a:ea typeface="黑体" panose="02010609060101010101" pitchFamily="49" charset="-122"/>
              </a:rPr>
              <a:t>如果用</a:t>
            </a:r>
            <a:r>
              <a:rPr lang="en-US" altLang="zh-CN" sz="2000" b="1" dirty="0">
                <a:latin typeface="黑体" panose="02010609060101010101" pitchFamily="49" charset="-122"/>
                <a:ea typeface="黑体" panose="02010609060101010101" pitchFamily="49" charset="-122"/>
              </a:rPr>
              <a:t>u</a:t>
            </a:r>
            <a:r>
              <a:rPr altLang="en-US" sz="2000" b="1" dirty="0">
                <a:latin typeface="黑体" panose="02010609060101010101" pitchFamily="49" charset="-122"/>
                <a:ea typeface="黑体" panose="02010609060101010101" pitchFamily="49" charset="-122"/>
              </a:rPr>
              <a:t>乘以</a:t>
            </a:r>
            <a:r>
              <a:rPr lang="en-US" altLang="zh-CN" sz="2000" b="1" dirty="0">
                <a:latin typeface="黑体" panose="02010609060101010101" pitchFamily="49" charset="-122"/>
                <a:ea typeface="黑体" panose="02010609060101010101" pitchFamily="49" charset="-122"/>
              </a:rPr>
              <a:t>m</a:t>
            </a:r>
            <a:r>
              <a:rPr altLang="en-US" sz="2000" b="1" dirty="0">
                <a:latin typeface="黑体" panose="02010609060101010101" pitchFamily="49" charset="-122"/>
                <a:ea typeface="黑体" panose="02010609060101010101" pitchFamily="49" charset="-122"/>
              </a:rPr>
              <a:t>，得到向量</a:t>
            </a:r>
            <a:r>
              <a:rPr lang="en-US" altLang="zh-CN" sz="2000" b="1" dirty="0">
                <a:latin typeface="黑体" panose="02010609060101010101" pitchFamily="49" charset="-122"/>
                <a:ea typeface="黑体" panose="02010609060101010101" pitchFamily="49" charset="-122"/>
              </a:rPr>
              <a:t>k=mu</a:t>
            </a:r>
            <a:r>
              <a:rPr altLang="en-US" sz="2000" b="1" dirty="0">
                <a:latin typeface="黑体" panose="02010609060101010101" pitchFamily="49" charset="-122"/>
                <a:ea typeface="黑体" panose="02010609060101010101" pitchFamily="49" charset="-122"/>
              </a:rPr>
              <a:t>，则</a:t>
            </a:r>
            <a:r>
              <a:rPr lang="en-US" altLang="zh-CN" sz="2000" b="1" dirty="0">
                <a:latin typeface="黑体" panose="02010609060101010101" pitchFamily="49" charset="-122"/>
                <a:ea typeface="黑体" panose="02010609060101010101" pitchFamily="49" charset="-122"/>
              </a:rPr>
              <a:t>k</a:t>
            </a:r>
            <a:r>
              <a:rPr altLang="en-US" sz="2000" b="1" dirty="0">
                <a:latin typeface="黑体" panose="02010609060101010101" pitchFamily="49" charset="-122"/>
                <a:ea typeface="黑体" panose="02010609060101010101" pitchFamily="49" charset="-122"/>
              </a:rPr>
              <a:t>就是正在寻找的向量。</a:t>
            </a:r>
            <a:endParaRPr altLang="en-US" sz="2000" b="1" dirty="0">
              <a:latin typeface="黑体" panose="02010609060101010101" pitchFamily="49" charset="-122"/>
              <a:ea typeface="黑体" panose="02010609060101010101" pitchFamily="49" charset="-122"/>
            </a:endParaRPr>
          </a:p>
        </p:txBody>
      </p:sp>
      <p:pic>
        <p:nvPicPr>
          <p:cNvPr id="46084"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4410076" y="1175147"/>
            <a:ext cx="4566047" cy="4461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085" name="图片 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167374" y="1731686"/>
            <a:ext cx="918432" cy="289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086" name="图片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75923" y="2869095"/>
            <a:ext cx="1293173" cy="558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ph type="title"/>
          </p:nvPr>
        </p:nvSpPr>
        <p:spPr>
          <a:xfrm>
            <a:off x="213698" y="204191"/>
            <a:ext cx="7886700" cy="570310"/>
          </a:xfrm>
        </p:spPr>
        <p:txBody>
          <a:bodyPr vert="horz" lIns="91440" tIns="45720" rIns="91440" bIns="45720" rtlCol="0" anchor="ctr">
            <a:normAutofit fontScale="90000"/>
          </a:bodyPr>
          <a:lstStyle/>
          <a:p>
            <a:r>
              <a:rPr altLang="en-US" dirty="0" err="1">
                <a:latin typeface="黑体" panose="02010609060101010101" pitchFamily="49" charset="-122"/>
                <a:ea typeface="黑体" panose="02010609060101010101" pitchFamily="49" charset="-122"/>
              </a:rPr>
              <a:t>超平面之间距离的计算</a:t>
            </a:r>
            <a:endParaRPr altLang="zh-CN" dirty="0">
              <a:latin typeface="黑体" panose="02010609060101010101" pitchFamily="49" charset="-122"/>
              <a:ea typeface="黑体" panose="02010609060101010101" pitchFamily="49" charset="-122"/>
            </a:endParaRPr>
          </a:p>
        </p:txBody>
      </p:sp>
      <p:sp>
        <p:nvSpPr>
          <p:cNvPr id="47107" name="内容占位符 2"/>
          <p:cNvSpPr>
            <a:spLocks noGrp="1"/>
          </p:cNvSpPr>
          <p:nvPr>
            <p:ph idx="1"/>
          </p:nvPr>
        </p:nvSpPr>
        <p:spPr>
          <a:xfrm>
            <a:off x="144066" y="1593056"/>
            <a:ext cx="3930977" cy="3671888"/>
          </a:xfrm>
        </p:spPr>
        <p:txBody>
          <a:bodyPr vert="horz" lIns="91440" tIns="46800" rIns="91440" bIns="45720" rtlCol="0">
            <a:noAutofit/>
          </a:bodyPr>
          <a:lstStyle/>
          <a:p>
            <a:pPr>
              <a:lnSpc>
                <a:spcPct val="150000"/>
              </a:lnSpc>
            </a:pPr>
            <a:r>
              <a:rPr altLang="en-US" sz="2000" b="1" dirty="0">
                <a:latin typeface="黑体" panose="02010609060101010101" pitchFamily="49" charset="-122"/>
                <a:ea typeface="黑体" panose="02010609060101010101" pitchFamily="49" charset="-122"/>
              </a:rPr>
              <a:t>这样把</a:t>
            </a:r>
            <a:r>
              <a:rPr lang="en-US" altLang="zh-CN" sz="2000" b="1" dirty="0">
                <a:latin typeface="黑体" panose="02010609060101010101" pitchFamily="49" charset="-122"/>
                <a:ea typeface="黑体" panose="02010609060101010101" pitchFamily="49" charset="-122"/>
              </a:rPr>
              <a:t>m</a:t>
            </a:r>
            <a:r>
              <a:rPr altLang="en-US" sz="2000" b="1" dirty="0">
                <a:latin typeface="黑体" panose="02010609060101010101" pitchFamily="49" charset="-122"/>
                <a:ea typeface="黑体" panose="02010609060101010101" pitchFamily="49" charset="-122"/>
              </a:rPr>
              <a:t>转换成一个可以和向量</a:t>
            </a:r>
            <a:r>
              <a:rPr lang="en-US" altLang="zh-CN" sz="2000" b="1" dirty="0">
                <a:latin typeface="黑体" panose="02010609060101010101" pitchFamily="49" charset="-122"/>
                <a:ea typeface="黑体" panose="02010609060101010101" pitchFamily="49" charset="-122"/>
              </a:rPr>
              <a:t>x0</a:t>
            </a:r>
            <a:r>
              <a:rPr altLang="en-US" sz="2000" b="1" dirty="0">
                <a:latin typeface="黑体" panose="02010609060101010101" pitchFamily="49" charset="-122"/>
                <a:ea typeface="黑体" panose="02010609060101010101" pitchFamily="49" charset="-122"/>
              </a:rPr>
              <a:t>相加的向量</a:t>
            </a:r>
            <a:r>
              <a:rPr lang="en-US" altLang="zh-CN" sz="2000" b="1" dirty="0">
                <a:latin typeface="黑体" panose="02010609060101010101" pitchFamily="49" charset="-122"/>
                <a:ea typeface="黑体" panose="02010609060101010101" pitchFamily="49" charset="-122"/>
              </a:rPr>
              <a:t>k</a:t>
            </a:r>
            <a:r>
              <a:rPr altLang="en-US" sz="2000" b="1" dirty="0">
                <a:latin typeface="黑体" panose="02010609060101010101" pitchFamily="49" charset="-122"/>
                <a:ea typeface="黑体" panose="02010609060101010101" pitchFamily="49" charset="-122"/>
              </a:rPr>
              <a:t>。</a:t>
            </a:r>
            <a:endParaRPr altLang="en-US" sz="2000" b="1" dirty="0">
              <a:latin typeface="黑体" panose="02010609060101010101" pitchFamily="49" charset="-122"/>
              <a:ea typeface="黑体" panose="02010609060101010101" pitchFamily="49" charset="-122"/>
            </a:endParaRPr>
          </a:p>
          <a:p>
            <a:pPr>
              <a:lnSpc>
                <a:spcPct val="150000"/>
              </a:lnSpc>
            </a:pPr>
            <a:endParaRPr lang="en-US" altLang="zh-CN" sz="2000" b="1" dirty="0">
              <a:latin typeface="黑体" panose="02010609060101010101" pitchFamily="49" charset="-122"/>
              <a:ea typeface="黑体" panose="02010609060101010101" pitchFamily="49" charset="-122"/>
            </a:endParaRPr>
          </a:p>
          <a:p>
            <a:pPr>
              <a:lnSpc>
                <a:spcPct val="150000"/>
              </a:lnSpc>
            </a:pPr>
            <a:endParaRPr lang="en-US" altLang="zh-CN" sz="2000" b="1" dirty="0">
              <a:latin typeface="黑体" panose="02010609060101010101" pitchFamily="49" charset="-122"/>
              <a:ea typeface="黑体" panose="02010609060101010101" pitchFamily="49" charset="-122"/>
            </a:endParaRPr>
          </a:p>
        </p:txBody>
      </p:sp>
      <p:pic>
        <p:nvPicPr>
          <p:cNvPr id="47108"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3995737" y="1322785"/>
            <a:ext cx="5006579" cy="4354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09" name="图片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29841" y="3230166"/>
            <a:ext cx="2636044" cy="7500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ph type="title"/>
          </p:nvPr>
        </p:nvSpPr>
        <p:spPr>
          <a:xfrm>
            <a:off x="169069" y="227408"/>
            <a:ext cx="7886700" cy="570310"/>
          </a:xfrm>
        </p:spPr>
        <p:txBody>
          <a:bodyPr vert="horz" lIns="91440" tIns="45720" rIns="91440" bIns="45720" rtlCol="0" anchor="ctr">
            <a:normAutofit fontScale="90000"/>
          </a:bodyPr>
          <a:lstStyle/>
          <a:p>
            <a:r>
              <a:rPr altLang="en-US" dirty="0" err="1">
                <a:latin typeface="黑体" panose="02010609060101010101" pitchFamily="49" charset="-122"/>
                <a:ea typeface="黑体" panose="02010609060101010101" pitchFamily="49" charset="-122"/>
              </a:rPr>
              <a:t>超平面之间距离的计算</a:t>
            </a:r>
            <a:endParaRPr altLang="zh-CN" dirty="0">
              <a:latin typeface="黑体" panose="02010609060101010101" pitchFamily="49" charset="-122"/>
              <a:ea typeface="黑体" panose="02010609060101010101" pitchFamily="49" charset="-122"/>
            </a:endParaRPr>
          </a:p>
        </p:txBody>
      </p:sp>
      <p:sp>
        <p:nvSpPr>
          <p:cNvPr id="48131" name="内容占位符 2"/>
          <p:cNvSpPr>
            <a:spLocks noGrp="1"/>
          </p:cNvSpPr>
          <p:nvPr>
            <p:ph idx="1"/>
          </p:nvPr>
        </p:nvSpPr>
        <p:spPr>
          <a:xfrm>
            <a:off x="255208" y="1155915"/>
            <a:ext cx="3509963" cy="3673079"/>
          </a:xfrm>
        </p:spPr>
        <p:txBody>
          <a:bodyPr vert="horz" lIns="91440" tIns="46800" rIns="91440" bIns="45720" rtlCol="0">
            <a:noAutofit/>
          </a:bodyPr>
          <a:lstStyle/>
          <a:p>
            <a:pPr>
              <a:lnSpc>
                <a:spcPct val="150000"/>
              </a:lnSpc>
            </a:pPr>
            <a:r>
              <a:rPr altLang="en-US" sz="2000" b="1" dirty="0">
                <a:latin typeface="黑体" panose="02010609060101010101" pitchFamily="49" charset="-122"/>
                <a:ea typeface="黑体" panose="02010609060101010101" pitchFamily="49" charset="-122"/>
              </a:rPr>
              <a:t>在向量</a:t>
            </a:r>
            <a:r>
              <a:rPr lang="en-US" altLang="zh-CN" sz="2000" b="1" dirty="0">
                <a:latin typeface="黑体" panose="02010609060101010101" pitchFamily="49" charset="-122"/>
                <a:ea typeface="黑体" panose="02010609060101010101" pitchFamily="49" charset="-122"/>
              </a:rPr>
              <a:t>x0</a:t>
            </a:r>
            <a:r>
              <a:rPr altLang="en-US" sz="2000" b="1" dirty="0">
                <a:latin typeface="黑体" panose="02010609060101010101" pitchFamily="49" charset="-122"/>
                <a:ea typeface="黑体" panose="02010609060101010101" pitchFamily="49" charset="-122"/>
              </a:rPr>
              <a:t>上加上</a:t>
            </a:r>
            <a:r>
              <a:rPr lang="en-US" altLang="zh-CN" sz="2000" b="1" dirty="0">
                <a:latin typeface="黑体" panose="02010609060101010101" pitchFamily="49" charset="-122"/>
                <a:ea typeface="黑体" panose="02010609060101010101" pitchFamily="49" charset="-122"/>
              </a:rPr>
              <a:t>k</a:t>
            </a:r>
            <a:r>
              <a:rPr altLang="en-US" sz="2000" b="1" dirty="0">
                <a:latin typeface="黑体" panose="02010609060101010101" pitchFamily="49" charset="-122"/>
                <a:ea typeface="黑体" panose="02010609060101010101" pitchFamily="49" charset="-122"/>
              </a:rPr>
              <a:t>，可以得到向量</a:t>
            </a:r>
            <a:r>
              <a:rPr lang="en-US" altLang="zh-CN" sz="2000" b="1" dirty="0">
                <a:latin typeface="黑体" panose="02010609060101010101" pitchFamily="49" charset="-122"/>
                <a:ea typeface="黑体" panose="02010609060101010101" pitchFamily="49" charset="-122"/>
              </a:rPr>
              <a:t>z0=x0+k</a:t>
            </a:r>
            <a:r>
              <a:rPr altLang="en-US" sz="2000" b="1" dirty="0">
                <a:latin typeface="黑体" panose="02010609060101010101" pitchFamily="49" charset="-122"/>
                <a:ea typeface="黑体" panose="02010609060101010101" pitchFamily="49" charset="-122"/>
              </a:rPr>
              <a:t>（终点在超平面</a:t>
            </a:r>
            <a:r>
              <a:rPr lang="en-US" altLang="zh-CN" sz="2000" b="1" dirty="0">
                <a:latin typeface="黑体" panose="02010609060101010101" pitchFamily="49" charset="-122"/>
                <a:ea typeface="黑体" panose="02010609060101010101" pitchFamily="49" charset="-122"/>
              </a:rPr>
              <a:t>H1</a:t>
            </a:r>
            <a:r>
              <a:rPr altLang="en-US" sz="2000" b="1" dirty="0">
                <a:latin typeface="黑体" panose="02010609060101010101" pitchFamily="49" charset="-122"/>
                <a:ea typeface="黑体" panose="02010609060101010101" pitchFamily="49" charset="-122"/>
              </a:rPr>
              <a:t>上）</a:t>
            </a:r>
            <a:endParaRPr lang="en-US" altLang="zh-CN" sz="2000" b="1" dirty="0">
              <a:latin typeface="黑体" panose="02010609060101010101" pitchFamily="49" charset="-122"/>
              <a:ea typeface="黑体" panose="02010609060101010101" pitchFamily="49" charset="-122"/>
            </a:endParaRPr>
          </a:p>
          <a:p>
            <a:pPr>
              <a:lnSpc>
                <a:spcPct val="150000"/>
              </a:lnSpc>
            </a:pPr>
            <a:endParaRPr lang="en-US" altLang="zh-CN" sz="2000" b="1" dirty="0">
              <a:latin typeface="黑体" panose="02010609060101010101" pitchFamily="49" charset="-122"/>
              <a:ea typeface="黑体" panose="02010609060101010101" pitchFamily="49" charset="-122"/>
            </a:endParaRPr>
          </a:p>
        </p:txBody>
      </p:sp>
      <p:pic>
        <p:nvPicPr>
          <p:cNvPr id="48132"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3869532" y="1538288"/>
            <a:ext cx="5085160" cy="4030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3" name="图片 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98393" y="2992455"/>
            <a:ext cx="1850231" cy="38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4" name="图片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28120" y="3486565"/>
            <a:ext cx="2493169" cy="421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5" name="图片 8"/>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16189" y="4009249"/>
            <a:ext cx="3178969" cy="55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6" name="图片 9"/>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94770" y="4649806"/>
            <a:ext cx="3021806" cy="564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7" name="图片 10"/>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528120" y="5335605"/>
            <a:ext cx="2815829" cy="77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ph type="title"/>
          </p:nvPr>
        </p:nvSpPr>
        <p:spPr>
          <a:xfrm>
            <a:off x="263128" y="155092"/>
            <a:ext cx="7886700" cy="570310"/>
          </a:xfrm>
        </p:spPr>
        <p:txBody>
          <a:bodyPr vert="horz" lIns="91440" tIns="45720" rIns="91440" bIns="45720" rtlCol="0" anchor="ctr">
            <a:normAutofit fontScale="90000"/>
          </a:bodyPr>
          <a:lstStyle/>
          <a:p>
            <a:r>
              <a:rPr altLang="en-US" dirty="0" err="1">
                <a:latin typeface="黑体" panose="02010609060101010101" pitchFamily="49" charset="-122"/>
                <a:ea typeface="黑体" panose="02010609060101010101" pitchFamily="49" charset="-122"/>
              </a:rPr>
              <a:t>超平面之间距离的计算</a:t>
            </a:r>
            <a:endParaRPr altLang="zh-CN" dirty="0">
              <a:latin typeface="黑体" panose="02010609060101010101" pitchFamily="49" charset="-122"/>
              <a:ea typeface="黑体" panose="02010609060101010101" pitchFamily="49" charset="-122"/>
            </a:endParaRPr>
          </a:p>
        </p:txBody>
      </p:sp>
      <p:sp>
        <p:nvSpPr>
          <p:cNvPr id="49155" name="内容占位符 2"/>
          <p:cNvSpPr>
            <a:spLocks noGrp="1"/>
          </p:cNvSpPr>
          <p:nvPr>
            <p:ph idx="1"/>
          </p:nvPr>
        </p:nvSpPr>
        <p:spPr>
          <a:xfrm>
            <a:off x="169068" y="1509712"/>
            <a:ext cx="8074819" cy="3671888"/>
          </a:xfrm>
        </p:spPr>
        <p:txBody>
          <a:bodyPr>
            <a:normAutofit/>
          </a:bodyPr>
          <a:lstStyle/>
          <a:p>
            <a:pPr eaLnBrk="1" hangingPunct="1">
              <a:lnSpc>
                <a:spcPct val="150000"/>
              </a:lnSpc>
            </a:pPr>
            <a:r>
              <a:rPr altLang="en-US" sz="2000" b="1" dirty="0">
                <a:latin typeface="黑体" panose="02010609060101010101" pitchFamily="49" charset="-122"/>
                <a:ea typeface="黑体" panose="02010609060101010101" pitchFamily="49" charset="-122"/>
              </a:rPr>
              <a:t>因为</a:t>
            </a:r>
            <a:r>
              <a:rPr lang="en-US" altLang="zh-CN" sz="2000" b="1" dirty="0">
                <a:latin typeface="黑体" panose="02010609060101010101" pitchFamily="49" charset="-122"/>
                <a:ea typeface="黑体" panose="02010609060101010101" pitchFamily="49" charset="-122"/>
              </a:rPr>
              <a:t>x</a:t>
            </a:r>
            <a:r>
              <a:rPr lang="en-US" altLang="zh-CN" sz="2000" b="1" baseline="-25000" dirty="0">
                <a:latin typeface="黑体" panose="02010609060101010101" pitchFamily="49" charset="-122"/>
                <a:ea typeface="黑体" panose="02010609060101010101" pitchFamily="49" charset="-122"/>
              </a:rPr>
              <a:t>0</a:t>
            </a:r>
            <a:r>
              <a:rPr altLang="en-US" sz="2000" b="1" dirty="0">
                <a:latin typeface="黑体" panose="02010609060101010101" pitchFamily="49" charset="-122"/>
                <a:ea typeface="黑体" panose="02010609060101010101" pitchFamily="49" charset="-122"/>
              </a:rPr>
              <a:t>在</a:t>
            </a:r>
            <a:r>
              <a:rPr lang="en-US" altLang="zh-CN" sz="2000" b="1" dirty="0">
                <a:latin typeface="黑体" panose="02010609060101010101" pitchFamily="49" charset="-122"/>
                <a:ea typeface="黑体" panose="02010609060101010101" pitchFamily="49" charset="-122"/>
              </a:rPr>
              <a:t>H</a:t>
            </a:r>
            <a:r>
              <a:rPr lang="en-US" altLang="zh-CN" sz="2000" b="1" baseline="-25000" dirty="0">
                <a:latin typeface="黑体" panose="02010609060101010101" pitchFamily="49" charset="-122"/>
                <a:ea typeface="黑体" panose="02010609060101010101" pitchFamily="49" charset="-122"/>
              </a:rPr>
              <a:t>0</a:t>
            </a:r>
            <a:r>
              <a:rPr altLang="en-US" sz="2000" b="1" dirty="0">
                <a:latin typeface="黑体" panose="02010609060101010101" pitchFamily="49" charset="-122"/>
                <a:ea typeface="黑体" panose="02010609060101010101" pitchFamily="49" charset="-122"/>
              </a:rPr>
              <a:t>上，所以</a:t>
            </a:r>
            <a:r>
              <a:rPr lang="en-US" altLang="zh-CN" sz="2000" b="1" dirty="0">
                <a:latin typeface="黑体" panose="02010609060101010101" pitchFamily="49" charset="-122"/>
                <a:ea typeface="黑体" panose="02010609060101010101" pitchFamily="49" charset="-122"/>
              </a:rPr>
              <a:t>w⋅x</a:t>
            </a:r>
            <a:r>
              <a:rPr lang="en-US" altLang="zh-CN" sz="2000" b="1" baseline="-25000" dirty="0">
                <a:latin typeface="黑体" panose="02010609060101010101" pitchFamily="49" charset="-122"/>
                <a:ea typeface="黑体" panose="02010609060101010101" pitchFamily="49" charset="-122"/>
              </a:rPr>
              <a:t>0 </a:t>
            </a:r>
            <a:r>
              <a:rPr lang="en-US" altLang="zh-CN" sz="2000" b="1" dirty="0">
                <a:latin typeface="黑体" panose="02010609060101010101" pitchFamily="49" charset="-122"/>
                <a:ea typeface="黑体" panose="02010609060101010101" pitchFamily="49" charset="-122"/>
              </a:rPr>
              <a:t>+b=−1</a:t>
            </a:r>
            <a:r>
              <a:rPr altLang="en-US" sz="2000" b="1" dirty="0">
                <a:latin typeface="黑体" panose="02010609060101010101" pitchFamily="49" charset="-122"/>
                <a:ea typeface="黑体" panose="02010609060101010101" pitchFamily="49" charset="-122"/>
              </a:rPr>
              <a:t>，代入：</a:t>
            </a:r>
            <a:endParaRPr lang="en-US" altLang="zh-CN" sz="2000" b="1" dirty="0">
              <a:latin typeface="黑体" panose="02010609060101010101" pitchFamily="49" charset="-122"/>
              <a:ea typeface="黑体" panose="02010609060101010101" pitchFamily="49" charset="-122"/>
            </a:endParaRPr>
          </a:p>
          <a:p>
            <a:pPr eaLnBrk="1" hangingPunct="1">
              <a:lnSpc>
                <a:spcPct val="150000"/>
              </a:lnSpc>
            </a:pPr>
            <a:endParaRPr lang="en-US" altLang="zh-CN" sz="2000" b="1" dirty="0">
              <a:latin typeface="黑体" panose="02010609060101010101" pitchFamily="49" charset="-122"/>
              <a:ea typeface="黑体" panose="02010609060101010101" pitchFamily="49" charset="-122"/>
            </a:endParaRPr>
          </a:p>
          <a:p>
            <a:pPr eaLnBrk="1" hangingPunct="1">
              <a:lnSpc>
                <a:spcPct val="150000"/>
              </a:lnSpc>
            </a:pPr>
            <a:endParaRPr lang="en-US" altLang="zh-CN" sz="2000" b="1" dirty="0">
              <a:latin typeface="黑体" panose="02010609060101010101" pitchFamily="49" charset="-122"/>
              <a:ea typeface="黑体" panose="02010609060101010101" pitchFamily="49" charset="-122"/>
            </a:endParaRPr>
          </a:p>
          <a:p>
            <a:pPr eaLnBrk="1" hangingPunct="1">
              <a:lnSpc>
                <a:spcPct val="150000"/>
              </a:lnSpc>
            </a:pPr>
            <a:endParaRPr lang="en-US" altLang="zh-CN" sz="2000" b="1" dirty="0">
              <a:latin typeface="黑体" panose="02010609060101010101" pitchFamily="49" charset="-122"/>
              <a:ea typeface="黑体" panose="02010609060101010101" pitchFamily="49" charset="-122"/>
            </a:endParaRPr>
          </a:p>
          <a:p>
            <a:pPr eaLnBrk="1" hangingPunct="1">
              <a:lnSpc>
                <a:spcPct val="150000"/>
              </a:lnSpc>
            </a:pPr>
            <a:endParaRPr lang="en-US" altLang="zh-CN" sz="2000" b="1" dirty="0">
              <a:latin typeface="黑体" panose="02010609060101010101" pitchFamily="49" charset="-122"/>
              <a:ea typeface="黑体" panose="02010609060101010101" pitchFamily="49" charset="-122"/>
            </a:endParaRPr>
          </a:p>
          <a:p>
            <a:pPr eaLnBrk="1" hangingPunct="1">
              <a:lnSpc>
                <a:spcPct val="150000"/>
              </a:lnSpc>
            </a:pPr>
            <a:r>
              <a:rPr altLang="en-US" sz="2000" b="1" dirty="0">
                <a:solidFill>
                  <a:srgbClr val="FF0000"/>
                </a:solidFill>
                <a:latin typeface="黑体" panose="02010609060101010101" pitchFamily="49" charset="-122"/>
                <a:ea typeface="黑体" panose="02010609060101010101" pitchFamily="49" charset="-122"/>
              </a:rPr>
              <a:t>找到了一种非常简便的计算</a:t>
            </a:r>
            <a:r>
              <a:rPr lang="en-US" altLang="zh-CN" sz="2000" b="1" dirty="0">
                <a:solidFill>
                  <a:srgbClr val="FF0000"/>
                </a:solidFill>
                <a:latin typeface="黑体" panose="02010609060101010101" pitchFamily="49" charset="-122"/>
                <a:ea typeface="黑体" panose="02010609060101010101" pitchFamily="49" charset="-122"/>
              </a:rPr>
              <a:t>m</a:t>
            </a:r>
            <a:r>
              <a:rPr altLang="en-US" sz="2000" b="1" dirty="0">
                <a:solidFill>
                  <a:srgbClr val="FF0000"/>
                </a:solidFill>
                <a:latin typeface="黑体" panose="02010609060101010101" pitchFamily="49" charset="-122"/>
                <a:ea typeface="黑体" panose="02010609060101010101" pitchFamily="49" charset="-122"/>
              </a:rPr>
              <a:t>的方法</a:t>
            </a:r>
            <a:endParaRPr lang="en-US" altLang="zh-CN" sz="2000" b="1" dirty="0">
              <a:solidFill>
                <a:srgbClr val="FF0000"/>
              </a:solidFill>
              <a:latin typeface="黑体" panose="02010609060101010101" pitchFamily="49" charset="-122"/>
              <a:ea typeface="黑体" panose="02010609060101010101" pitchFamily="49" charset="-122"/>
            </a:endParaRPr>
          </a:p>
        </p:txBody>
      </p:sp>
      <p:pic>
        <p:nvPicPr>
          <p:cNvPr id="49156"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5332603" y="1509712"/>
            <a:ext cx="3021806" cy="892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57" name="图片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47813" y="2402681"/>
            <a:ext cx="2350294"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ph type="title"/>
          </p:nvPr>
        </p:nvSpPr>
        <p:spPr>
          <a:xfrm>
            <a:off x="357188" y="214727"/>
            <a:ext cx="7886700" cy="570310"/>
          </a:xfrm>
        </p:spPr>
        <p:txBody>
          <a:bodyPr vert="horz" lIns="91440" tIns="45720" rIns="91440" bIns="45720" rtlCol="0" anchor="ctr">
            <a:normAutofit fontScale="90000"/>
          </a:bodyPr>
          <a:lstStyle/>
          <a:p>
            <a:r>
              <a:rPr altLang="en-US" dirty="0" err="1">
                <a:latin typeface="黑体" panose="02010609060101010101" pitchFamily="49" charset="-122"/>
                <a:ea typeface="黑体" panose="02010609060101010101" pitchFamily="49" charset="-122"/>
              </a:rPr>
              <a:t>最大化超平面之间距离</a:t>
            </a:r>
            <a:endParaRPr altLang="zh-CN" dirty="0">
              <a:latin typeface="黑体" panose="02010609060101010101" pitchFamily="49" charset="-122"/>
              <a:ea typeface="黑体" panose="02010609060101010101" pitchFamily="49" charset="-122"/>
            </a:endParaRPr>
          </a:p>
        </p:txBody>
      </p:sp>
      <p:sp>
        <p:nvSpPr>
          <p:cNvPr id="50179" name="内容占位符 2"/>
          <p:cNvSpPr>
            <a:spLocks noGrp="1"/>
          </p:cNvSpPr>
          <p:nvPr>
            <p:ph idx="1"/>
          </p:nvPr>
        </p:nvSpPr>
        <p:spPr>
          <a:xfrm>
            <a:off x="169069" y="1159420"/>
            <a:ext cx="8749644" cy="4966771"/>
          </a:xfrm>
        </p:spPr>
        <p:txBody>
          <a:bodyPr>
            <a:noAutofit/>
          </a:bodyPr>
          <a:lstStyle/>
          <a:p>
            <a:pPr eaLnBrk="1" hangingPunct="1">
              <a:lnSpc>
                <a:spcPct val="150000"/>
              </a:lnSpc>
            </a:pPr>
            <a:r>
              <a:rPr altLang="en-US" sz="2000" b="1" dirty="0">
                <a:latin typeface="黑体" panose="02010609060101010101" pitchFamily="49" charset="-122"/>
                <a:ea typeface="黑体" panose="02010609060101010101" pitchFamily="49" charset="-122"/>
              </a:rPr>
              <a:t>计算间隔：</a:t>
            </a:r>
            <a:endParaRPr lang="en-US" altLang="zh-CN" sz="2000" b="1" dirty="0">
              <a:latin typeface="黑体" panose="02010609060101010101" pitchFamily="49" charset="-122"/>
              <a:ea typeface="黑体" panose="02010609060101010101" pitchFamily="49" charset="-122"/>
            </a:endParaRPr>
          </a:p>
          <a:p>
            <a:pPr eaLnBrk="1" hangingPunct="1">
              <a:lnSpc>
                <a:spcPct val="150000"/>
              </a:lnSpc>
            </a:pPr>
            <a:endParaRPr lang="en-US" altLang="zh-CN" sz="2000" b="1" dirty="0">
              <a:latin typeface="黑体" panose="02010609060101010101" pitchFamily="49" charset="-122"/>
              <a:ea typeface="黑体" panose="02010609060101010101" pitchFamily="49" charset="-122"/>
            </a:endParaRPr>
          </a:p>
          <a:p>
            <a:pPr eaLnBrk="1" hangingPunct="1">
              <a:lnSpc>
                <a:spcPct val="150000"/>
              </a:lnSpc>
            </a:pPr>
            <a:r>
              <a:rPr altLang="en-US" sz="2000" b="1" dirty="0">
                <a:latin typeface="黑体" panose="02010609060101010101" pitchFamily="49" charset="-122"/>
                <a:ea typeface="黑体" panose="02010609060101010101" pitchFamily="49" charset="-122"/>
              </a:rPr>
              <a:t>很容易发现，</a:t>
            </a:r>
            <a:r>
              <a:rPr lang="en-US" altLang="zh-CN" sz="2000" b="1" dirty="0">
                <a:latin typeface="黑体" panose="02010609060101010101" pitchFamily="49" charset="-122"/>
                <a:ea typeface="黑体" panose="02010609060101010101" pitchFamily="49" charset="-122"/>
              </a:rPr>
              <a:t>w</a:t>
            </a:r>
            <a:r>
              <a:rPr altLang="en-US" sz="2000" b="1" dirty="0">
                <a:latin typeface="黑体" panose="02010609060101010101" pitchFamily="49" charset="-122"/>
                <a:ea typeface="黑体" panose="02010609060101010101" pitchFamily="49" charset="-122"/>
              </a:rPr>
              <a:t>的模越大，间隔越小。</a:t>
            </a:r>
            <a:r>
              <a:rPr altLang="en-US" sz="2000" b="1" dirty="0">
                <a:solidFill>
                  <a:srgbClr val="FF0000"/>
                </a:solidFill>
                <a:latin typeface="黑体" panose="02010609060101010101" pitchFamily="49" charset="-122"/>
                <a:ea typeface="黑体" panose="02010609060101010101" pitchFamily="49" charset="-122"/>
              </a:rPr>
              <a:t>最大化间隔也就是最小化</a:t>
            </a:r>
            <a:r>
              <a:rPr lang="en-US" altLang="zh-CN" sz="2000" b="1" dirty="0">
                <a:solidFill>
                  <a:srgbClr val="FF0000"/>
                </a:solidFill>
                <a:latin typeface="黑体" panose="02010609060101010101" pitchFamily="49" charset="-122"/>
                <a:ea typeface="黑体" panose="02010609060101010101" pitchFamily="49" charset="-122"/>
              </a:rPr>
              <a:t>w</a:t>
            </a:r>
            <a:r>
              <a:rPr altLang="en-US" sz="2000" b="1" dirty="0">
                <a:solidFill>
                  <a:srgbClr val="FF0000"/>
                </a:solidFill>
                <a:latin typeface="黑体" panose="02010609060101010101" pitchFamily="49" charset="-122"/>
                <a:ea typeface="黑体" panose="02010609060101010101" pitchFamily="49" charset="-122"/>
              </a:rPr>
              <a:t>的模</a:t>
            </a:r>
            <a:r>
              <a:rPr altLang="en-US" sz="2000" b="1" dirty="0">
                <a:latin typeface="黑体" panose="02010609060101010101" pitchFamily="49" charset="-122"/>
                <a:ea typeface="黑体" panose="02010609060101010101" pitchFamily="49" charset="-122"/>
              </a:rPr>
              <a:t>。</a:t>
            </a:r>
            <a:endParaRPr lang="en-US" altLang="zh-CN" sz="2000" b="1" dirty="0">
              <a:latin typeface="黑体" panose="02010609060101010101" pitchFamily="49" charset="-122"/>
              <a:ea typeface="黑体" panose="02010609060101010101" pitchFamily="49" charset="-122"/>
            </a:endParaRPr>
          </a:p>
          <a:p>
            <a:pPr eaLnBrk="1" hangingPunct="1">
              <a:lnSpc>
                <a:spcPct val="150000"/>
              </a:lnSpc>
            </a:pPr>
            <a:r>
              <a:rPr altLang="en-US" sz="2000" b="1" dirty="0">
                <a:latin typeface="黑体" panose="02010609060101010101" pitchFamily="49" charset="-122"/>
                <a:ea typeface="黑体" panose="02010609060101010101" pitchFamily="49" charset="-122"/>
              </a:rPr>
              <a:t>在所有满足约束条件超平面中，选择有最小</a:t>
            </a:r>
            <a:r>
              <a:rPr lang="en-US" altLang="zh-CN" sz="2000" b="1" dirty="0">
                <a:latin typeface="黑体" panose="02010609060101010101" pitchFamily="49" charset="-122"/>
                <a:ea typeface="黑体" panose="02010609060101010101" pitchFamily="49" charset="-122"/>
              </a:rPr>
              <a:t>||w||</a:t>
            </a:r>
            <a:r>
              <a:rPr altLang="en-US" sz="2000" b="1" dirty="0">
                <a:latin typeface="黑体" panose="02010609060101010101" pitchFamily="49" charset="-122"/>
                <a:ea typeface="黑体" panose="02010609060101010101" pitchFamily="49" charset="-122"/>
              </a:rPr>
              <a:t>的超平面，因为这意味着有最大间隔。有了以下的</a:t>
            </a:r>
            <a:r>
              <a:rPr altLang="en-US" sz="2000" b="1" dirty="0">
                <a:solidFill>
                  <a:srgbClr val="FF0000"/>
                </a:solidFill>
                <a:latin typeface="黑体" panose="02010609060101010101" pitchFamily="49" charset="-122"/>
                <a:ea typeface="黑体" panose="02010609060101010101" pitchFamily="49" charset="-122"/>
              </a:rPr>
              <a:t>有约束最小化优化问题</a:t>
            </a:r>
            <a:r>
              <a:rPr altLang="en-US" sz="2000" b="1" dirty="0">
                <a:latin typeface="黑体" panose="02010609060101010101" pitchFamily="49" charset="-122"/>
                <a:ea typeface="黑体" panose="02010609060101010101" pitchFamily="49" charset="-122"/>
              </a:rPr>
              <a:t>： </a:t>
            </a:r>
            <a:endParaRPr lang="en-US" altLang="zh-CN" sz="2000" b="1" dirty="0">
              <a:latin typeface="黑体" panose="02010609060101010101" pitchFamily="49" charset="-122"/>
              <a:ea typeface="黑体" panose="02010609060101010101" pitchFamily="49" charset="-122"/>
            </a:endParaRPr>
          </a:p>
          <a:p>
            <a:pPr eaLnBrk="1" hangingPunct="1">
              <a:lnSpc>
                <a:spcPct val="150000"/>
              </a:lnSpc>
            </a:pPr>
            <a:endParaRPr lang="en-US" altLang="zh-CN" sz="2000" b="1" dirty="0">
              <a:latin typeface="黑体" panose="02010609060101010101" pitchFamily="49" charset="-122"/>
              <a:ea typeface="黑体" panose="02010609060101010101" pitchFamily="49" charset="-122"/>
            </a:endParaRPr>
          </a:p>
          <a:p>
            <a:pPr>
              <a:lnSpc>
                <a:spcPct val="150000"/>
              </a:lnSpc>
            </a:pPr>
            <a:r>
              <a:rPr altLang="en-US" sz="2000" b="1" dirty="0">
                <a:solidFill>
                  <a:srgbClr val="FF0000"/>
                </a:solidFill>
                <a:latin typeface="黑体" panose="02010609060101010101" pitchFamily="49" charset="-122"/>
                <a:ea typeface="黑体" panose="02010609060101010101" pitchFamily="49" charset="-122"/>
              </a:rPr>
              <a:t>拉格朗日乘</a:t>
            </a:r>
            <a:r>
              <a:rPr lang="zh-CN" altLang="en-US" sz="2000" b="1" dirty="0">
                <a:solidFill>
                  <a:srgbClr val="FF0000"/>
                </a:solidFill>
                <a:latin typeface="黑体" panose="02010609060101010101" pitchFamily="49" charset="-122"/>
                <a:ea typeface="黑体" panose="02010609060101010101" pitchFamily="49" charset="-122"/>
              </a:rPr>
              <a:t>子法求解：</a:t>
            </a:r>
            <a:r>
              <a:rPr lang="zh-CN" altLang="en-US" sz="2000" b="1" dirty="0">
                <a:latin typeface="黑体" panose="02010609060101010101" pitchFamily="49" charset="-122"/>
                <a:ea typeface="黑体" panose="02010609060101010101" pitchFamily="49" charset="-122"/>
              </a:rPr>
              <a:t>典型的带约束条件的求极值问题，目标函数是</a:t>
            </a:r>
            <a:r>
              <a:rPr lang="en-US" altLang="zh-CN" sz="2000" b="1" dirty="0">
                <a:latin typeface="黑体" panose="02010609060101010101" pitchFamily="49" charset="-122"/>
                <a:ea typeface="黑体" panose="02010609060101010101" pitchFamily="49" charset="-122"/>
              </a:rPr>
              <a:t>w</a:t>
            </a:r>
            <a:r>
              <a:rPr lang="zh-CN" altLang="en-US" sz="2000" b="1" dirty="0">
                <a:latin typeface="黑体" panose="02010609060101010101" pitchFamily="49" charset="-122"/>
                <a:ea typeface="黑体" panose="02010609060101010101" pitchFamily="49" charset="-122"/>
              </a:rPr>
              <a:t>的二次函数，约束函数是</a:t>
            </a:r>
            <a:r>
              <a:rPr lang="en-US" altLang="zh-CN" sz="2000" b="1" dirty="0">
                <a:latin typeface="黑体" panose="02010609060101010101" pitchFamily="49" charset="-122"/>
                <a:ea typeface="黑体" panose="02010609060101010101" pitchFamily="49" charset="-122"/>
              </a:rPr>
              <a:t>w</a:t>
            </a:r>
            <a:r>
              <a:rPr lang="zh-CN" altLang="en-US" sz="2000" b="1" dirty="0">
                <a:latin typeface="黑体" panose="02010609060101010101" pitchFamily="49" charset="-122"/>
                <a:ea typeface="黑体" panose="02010609060101010101" pitchFamily="49" charset="-122"/>
              </a:rPr>
              <a:t>的线性函数：二次规划问题。求解二次规划问题的一般性方法就是添加拉格朗日乘子，构造拉格朗日函数</a:t>
            </a:r>
            <a:endParaRPr lang="en-US" altLang="zh-CN" sz="2000" b="1" dirty="0">
              <a:latin typeface="黑体" panose="02010609060101010101" pitchFamily="49" charset="-122"/>
              <a:ea typeface="黑体" panose="02010609060101010101" pitchFamily="49" charset="-122"/>
            </a:endParaRPr>
          </a:p>
        </p:txBody>
      </p:sp>
      <p:pic>
        <p:nvPicPr>
          <p:cNvPr id="50180" name="图片 3"/>
          <p:cNvPicPr>
            <a:picLocks noChangeAspect="1"/>
          </p:cNvPicPr>
          <p:nvPr/>
        </p:nvPicPr>
        <p:blipFill>
          <a:blip r:embed="rId1">
            <a:extLst>
              <a:ext uri="{28A0092B-C50C-407E-A947-70E740481C1C}">
                <a14:useLocalDpi xmlns:a14="http://schemas.microsoft.com/office/drawing/2010/main" val="0"/>
              </a:ext>
            </a:extLst>
          </a:blip>
          <a:srcRect t="52138"/>
          <a:stretch>
            <a:fillRect/>
          </a:stretch>
        </p:blipFill>
        <p:spPr bwMode="auto">
          <a:xfrm>
            <a:off x="1656160" y="1159422"/>
            <a:ext cx="2350294" cy="792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1" name="图片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63229" y="3851643"/>
            <a:ext cx="5886450" cy="721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ph type="title"/>
          </p:nvPr>
        </p:nvSpPr>
        <p:spPr>
          <a:xfrm>
            <a:off x="357188" y="214727"/>
            <a:ext cx="7886700" cy="570310"/>
          </a:xfrm>
        </p:spPr>
        <p:txBody>
          <a:bodyPr vert="horz" lIns="91440" tIns="45720" rIns="91440" bIns="45720" rtlCol="0" anchor="ctr">
            <a:normAutofit fontScale="90000"/>
          </a:bodyPr>
          <a:lstStyle/>
          <a:p>
            <a:r>
              <a:rPr lang="zh-CN" altLang="en-US" dirty="0">
                <a:latin typeface="黑体" panose="02010609060101010101" pitchFamily="49" charset="-122"/>
                <a:ea typeface="黑体" panose="02010609060101010101" pitchFamily="49" charset="-122"/>
              </a:rPr>
              <a:t>优化问题</a:t>
            </a:r>
            <a:endParaRPr altLang="zh-CN" dirty="0">
              <a:latin typeface="黑体" panose="02010609060101010101" pitchFamily="49" charset="-122"/>
              <a:ea typeface="黑体" panose="02010609060101010101" pitchFamily="49" charset="-122"/>
            </a:endParaRPr>
          </a:p>
        </p:txBody>
      </p:sp>
      <p:sp>
        <p:nvSpPr>
          <p:cNvPr id="50179" name="内容占位符 2"/>
          <p:cNvSpPr>
            <a:spLocks noGrp="1"/>
          </p:cNvSpPr>
          <p:nvPr>
            <p:ph idx="1"/>
          </p:nvPr>
        </p:nvSpPr>
        <p:spPr>
          <a:xfrm>
            <a:off x="169069" y="1263116"/>
            <a:ext cx="8749644" cy="4966771"/>
          </a:xfrm>
        </p:spPr>
        <p:txBody>
          <a:bodyPr>
            <a:noAutofit/>
          </a:bodyPr>
          <a:lstStyle/>
          <a:p>
            <a:pPr>
              <a:lnSpc>
                <a:spcPct val="150000"/>
              </a:lnSpc>
            </a:pPr>
            <a:r>
              <a:rPr lang="zh-CN" altLang="en-US" sz="2000" b="1" dirty="0">
                <a:solidFill>
                  <a:srgbClr val="FF0000"/>
                </a:solidFill>
                <a:latin typeface="黑体" panose="02010609060101010101" pitchFamily="49" charset="-122"/>
                <a:ea typeface="黑体" panose="02010609060101010101" pitchFamily="49" charset="-122"/>
              </a:rPr>
              <a:t>无约束</a:t>
            </a:r>
            <a:r>
              <a:rPr altLang="en-US" sz="2000" b="1" dirty="0">
                <a:latin typeface="黑体" panose="02010609060101010101" pitchFamily="49" charset="-122"/>
                <a:ea typeface="黑体" panose="02010609060101010101" pitchFamily="49" charset="-122"/>
              </a:rPr>
              <a:t>：</a:t>
            </a:r>
            <a:r>
              <a:rPr lang="zh-CN" altLang="en-US" sz="2000" b="1" dirty="0">
                <a:latin typeface="黑体" panose="02010609060101010101" pitchFamily="49" charset="-122"/>
                <a:ea typeface="黑体" panose="02010609060101010101" pitchFamily="49" charset="-122"/>
              </a:rPr>
              <a:t>直接求目标函数偏导得</a:t>
            </a:r>
            <a:r>
              <a:rPr lang="en-US" altLang="zh-CN" sz="2000" b="1" dirty="0">
                <a:latin typeface="黑体" panose="02010609060101010101" pitchFamily="49" charset="-122"/>
                <a:ea typeface="黑体" panose="02010609060101010101" pitchFamily="49" charset="-122"/>
              </a:rPr>
              <a:t>0</a:t>
            </a:r>
            <a:r>
              <a:rPr lang="zh-CN" altLang="en-US" sz="2000" b="1" dirty="0">
                <a:latin typeface="黑体" panose="02010609060101010101" pitchFamily="49" charset="-122"/>
                <a:ea typeface="黑体" panose="02010609060101010101" pitchFamily="49" charset="-122"/>
              </a:rPr>
              <a:t>的点。如果没有解析解的话，可以使用</a:t>
            </a:r>
            <a:r>
              <a:rPr lang="zh-CN" altLang="en-US" sz="2000" b="1" dirty="0">
                <a:solidFill>
                  <a:srgbClr val="FF0000"/>
                </a:solidFill>
                <a:latin typeface="黑体" panose="02010609060101010101" pitchFamily="49" charset="-122"/>
                <a:ea typeface="黑体" panose="02010609060101010101" pitchFamily="49" charset="-122"/>
              </a:rPr>
              <a:t>梯度下降或牛顿方法</a:t>
            </a:r>
            <a:r>
              <a:rPr lang="zh-CN" altLang="en-US" sz="2000" b="1" dirty="0">
                <a:latin typeface="黑体" panose="02010609060101010101" pitchFamily="49" charset="-122"/>
                <a:ea typeface="黑体" panose="02010609060101010101" pitchFamily="49" charset="-122"/>
              </a:rPr>
              <a:t>等迭代的手段来使</a:t>
            </a:r>
            <a:r>
              <a:rPr lang="en-US" altLang="zh-CN" sz="2000" b="1" dirty="0">
                <a:latin typeface="黑体" panose="02010609060101010101" pitchFamily="49" charset="-122"/>
                <a:ea typeface="黑体" panose="02010609060101010101" pitchFamily="49" charset="-122"/>
              </a:rPr>
              <a:t>x</a:t>
            </a:r>
            <a:r>
              <a:rPr lang="zh-CN" altLang="en-US" sz="2000" b="1" dirty="0">
                <a:latin typeface="黑体" panose="02010609060101010101" pitchFamily="49" charset="-122"/>
                <a:ea typeface="黑体" panose="02010609060101010101" pitchFamily="49" charset="-122"/>
              </a:rPr>
              <a:t>沿负梯度方向逐步逼近极小值点。</a:t>
            </a:r>
            <a:endParaRPr lang="en-US" altLang="zh-CN" sz="2000" b="1" dirty="0">
              <a:latin typeface="黑体" panose="02010609060101010101" pitchFamily="49" charset="-122"/>
              <a:ea typeface="黑体" panose="02010609060101010101" pitchFamily="49" charset="-122"/>
            </a:endParaRPr>
          </a:p>
          <a:p>
            <a:pPr>
              <a:lnSpc>
                <a:spcPct val="150000"/>
              </a:lnSpc>
            </a:pPr>
            <a:endParaRPr lang="en-US" altLang="en-US" sz="2000" b="1" dirty="0">
              <a:latin typeface="黑体" panose="02010609060101010101" pitchFamily="49" charset="-122"/>
              <a:ea typeface="黑体" panose="02010609060101010101" pitchFamily="49" charset="-122"/>
            </a:endParaRPr>
          </a:p>
          <a:p>
            <a:pPr>
              <a:lnSpc>
                <a:spcPct val="150000"/>
              </a:lnSpc>
            </a:pPr>
            <a:endParaRPr lang="en-US" altLang="en-US" sz="2000" b="1" dirty="0">
              <a:latin typeface="黑体" panose="02010609060101010101" pitchFamily="49" charset="-122"/>
              <a:ea typeface="黑体" panose="02010609060101010101" pitchFamily="49" charset="-122"/>
            </a:endParaRPr>
          </a:p>
          <a:p>
            <a:pPr>
              <a:lnSpc>
                <a:spcPct val="150000"/>
              </a:lnSpc>
            </a:pPr>
            <a:r>
              <a:rPr lang="zh-CN" altLang="en-US" sz="2000" b="1" dirty="0">
                <a:solidFill>
                  <a:srgbClr val="FF0000"/>
                </a:solidFill>
                <a:latin typeface="黑体" panose="02010609060101010101" pitchFamily="49" charset="-122"/>
                <a:ea typeface="黑体" panose="02010609060101010101" pitchFamily="49" charset="-122"/>
              </a:rPr>
              <a:t>等式约束</a:t>
            </a:r>
            <a:r>
              <a:rPr lang="zh-CN" altLang="en-US" sz="2000" b="1" dirty="0">
                <a:latin typeface="黑体" panose="02010609060101010101" pitchFamily="49" charset="-122"/>
                <a:ea typeface="黑体" panose="02010609060101010101" pitchFamily="49" charset="-122"/>
              </a:rPr>
              <a:t>：可以直接应用拉格朗日乘子法去求取最优值</a:t>
            </a:r>
            <a:endParaRPr lang="en-US" altLang="zh-CN" sz="2000" b="1" dirty="0">
              <a:latin typeface="黑体" panose="02010609060101010101" pitchFamily="49" charset="-122"/>
              <a:ea typeface="黑体" panose="02010609060101010101" pitchFamily="49" charset="-122"/>
            </a:endParaRPr>
          </a:p>
          <a:p>
            <a:pPr>
              <a:lnSpc>
                <a:spcPct val="150000"/>
              </a:lnSpc>
            </a:pPr>
            <a:r>
              <a:rPr lang="zh-CN" altLang="en-US" sz="2000" b="1" dirty="0">
                <a:solidFill>
                  <a:srgbClr val="FF0000"/>
                </a:solidFill>
                <a:latin typeface="黑体" panose="02010609060101010101" pitchFamily="49" charset="-122"/>
                <a:ea typeface="黑体" panose="02010609060101010101" pitchFamily="49" charset="-122"/>
              </a:rPr>
              <a:t>不等式约束</a:t>
            </a:r>
            <a:r>
              <a:rPr lang="en-US" altLang="zh-CN" sz="2000" b="1" dirty="0">
                <a:latin typeface="黑体" panose="02010609060101010101" pitchFamily="49" charset="-122"/>
                <a:ea typeface="黑体" panose="02010609060101010101" pitchFamily="49" charset="-122"/>
              </a:rPr>
              <a:t>:</a:t>
            </a:r>
            <a:r>
              <a:rPr lang="zh-CN" altLang="en-US" sz="2000" b="1" dirty="0">
                <a:latin typeface="黑体" panose="02010609060101010101" pitchFamily="49" charset="-122"/>
                <a:ea typeface="黑体" panose="02010609060101010101" pitchFamily="49" charset="-122"/>
              </a:rPr>
              <a:t>可以转化为在满足 </a:t>
            </a:r>
            <a:r>
              <a:rPr lang="en-US" altLang="zh-CN" sz="2000" b="1" dirty="0">
                <a:latin typeface="黑体" panose="02010609060101010101" pitchFamily="49" charset="-122"/>
                <a:ea typeface="黑体" panose="02010609060101010101" pitchFamily="49" charset="-122"/>
              </a:rPr>
              <a:t>KKT </a:t>
            </a:r>
            <a:r>
              <a:rPr lang="zh-CN" altLang="en-US" sz="2000" b="1" dirty="0">
                <a:latin typeface="黑体" panose="02010609060101010101" pitchFamily="49" charset="-122"/>
                <a:ea typeface="黑体" panose="02010609060101010101" pitchFamily="49" charset="-122"/>
              </a:rPr>
              <a:t>约束条件下应用拉格朗日乘子法求解。</a:t>
            </a:r>
            <a:endParaRPr lang="en-US" altLang="zh-CN" sz="2000" b="1" dirty="0">
              <a:latin typeface="黑体" panose="02010609060101010101" pitchFamily="49" charset="-122"/>
              <a:ea typeface="黑体" panose="02010609060101010101" pitchFamily="49" charset="-122"/>
            </a:endParaRPr>
          </a:p>
          <a:p>
            <a:pPr>
              <a:lnSpc>
                <a:spcPct val="150000"/>
              </a:lnSpc>
            </a:pPr>
            <a:r>
              <a:rPr lang="zh-CN" altLang="en-US" sz="2000" b="1" dirty="0">
                <a:latin typeface="黑体" panose="02010609060101010101" pitchFamily="49" charset="-122"/>
                <a:ea typeface="黑体" panose="02010609060101010101" pitchFamily="49" charset="-122"/>
              </a:rPr>
              <a:t>拉格朗日求得的并不一定是最优解，只有在凸优化的情况下，才能保证得到的是最优解</a:t>
            </a:r>
            <a:r>
              <a:rPr lang="en-US" altLang="zh-CN" sz="2000" b="1" dirty="0">
                <a:latin typeface="黑体" panose="02010609060101010101" pitchFamily="49" charset="-122"/>
                <a:ea typeface="黑体" panose="02010609060101010101" pitchFamily="49" charset="-122"/>
              </a:rPr>
              <a:t>.</a:t>
            </a:r>
            <a:endParaRPr lang="en-US" altLang="zh-CN" sz="2000" b="1" dirty="0">
              <a:latin typeface="黑体" panose="02010609060101010101" pitchFamily="49" charset="-122"/>
              <a:ea typeface="黑体" panose="02010609060101010101" pitchFamily="49" charset="-122"/>
            </a:endParaRPr>
          </a:p>
          <a:p>
            <a:pPr eaLnBrk="1" hangingPunct="1">
              <a:lnSpc>
                <a:spcPct val="150000"/>
              </a:lnSpc>
            </a:pPr>
            <a:endParaRPr lang="en-US" altLang="zh-CN" sz="2000" b="1" dirty="0">
              <a:latin typeface="黑体" panose="02010609060101010101" pitchFamily="49" charset="-122"/>
              <a:ea typeface="黑体" panose="02010609060101010101" pitchFamily="49" charset="-122"/>
            </a:endParaRPr>
          </a:p>
          <a:p>
            <a:pPr eaLnBrk="1" hangingPunct="1">
              <a:lnSpc>
                <a:spcPct val="150000"/>
              </a:lnSpc>
            </a:pPr>
            <a:endParaRPr lang="en-US" altLang="zh-CN" sz="2000" b="1" dirty="0">
              <a:latin typeface="黑体" panose="02010609060101010101" pitchFamily="49" charset="-122"/>
              <a:ea typeface="黑体" panose="02010609060101010101" pitchFamily="49" charset="-122"/>
            </a:endParaRPr>
          </a:p>
        </p:txBody>
      </p:sp>
      <p:pic>
        <p:nvPicPr>
          <p:cNvPr id="3" name="图片 2"/>
          <p:cNvPicPr>
            <a:picLocks noChangeAspect="1"/>
          </p:cNvPicPr>
          <p:nvPr/>
        </p:nvPicPr>
        <p:blipFill>
          <a:blip r:embed="rId1"/>
          <a:stretch>
            <a:fillRect/>
          </a:stretch>
        </p:blipFill>
        <p:spPr>
          <a:xfrm>
            <a:off x="2119934" y="2328780"/>
            <a:ext cx="1962150" cy="838200"/>
          </a:xfrm>
          <a:prstGeom prst="rect">
            <a:avLst/>
          </a:prstGeom>
        </p:spPr>
      </p:pic>
      <p:pic>
        <p:nvPicPr>
          <p:cNvPr id="4" name="图片 3"/>
          <p:cNvPicPr>
            <a:picLocks noChangeAspect="1"/>
          </p:cNvPicPr>
          <p:nvPr/>
        </p:nvPicPr>
        <p:blipFill>
          <a:blip r:embed="rId2"/>
          <a:stretch>
            <a:fillRect/>
          </a:stretch>
        </p:blipFill>
        <p:spPr>
          <a:xfrm>
            <a:off x="5013774" y="2226902"/>
            <a:ext cx="2038350" cy="7239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latin typeface="黑体" panose="02010609060101010101" pitchFamily="49" charset="-122"/>
                <a:ea typeface="黑体" panose="02010609060101010101" pitchFamily="49" charset="-122"/>
              </a:rPr>
              <a:t>拉格朗日乘子法</a:t>
            </a:r>
            <a:endParaRPr lang="zh-CN" altLang="en-US"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p:txBody>
          <a:bodyPr>
            <a:normAutofit/>
          </a:bodyPr>
          <a:lstStyle/>
          <a:p>
            <a:pPr>
              <a:lnSpc>
                <a:spcPct val="150000"/>
              </a:lnSpc>
            </a:pPr>
            <a:r>
              <a:rPr lang="zh-CN" altLang="en-US" b="1" dirty="0">
                <a:latin typeface="黑体" panose="02010609060101010101" pitchFamily="49" charset="-122"/>
                <a:ea typeface="黑体" panose="02010609060101010101" pitchFamily="49" charset="-122"/>
              </a:rPr>
              <a:t>求解最小化问题，一个直观的想法是如果能够构造一个函数，使得该函数在可行解区域内与原目标函数完全一致，而在可行解区域外的数值非常大，甚至是无穷大，那么这个</a:t>
            </a:r>
            <a:r>
              <a:rPr lang="zh-CN" altLang="en-US" b="1" dirty="0">
                <a:solidFill>
                  <a:srgbClr val="FF0000"/>
                </a:solidFill>
                <a:latin typeface="黑体" panose="02010609060101010101" pitchFamily="49" charset="-122"/>
                <a:ea typeface="黑体" panose="02010609060101010101" pitchFamily="49" charset="-122"/>
              </a:rPr>
              <a:t>没有约束条件的新目标函数的优化问题</a:t>
            </a:r>
            <a:r>
              <a:rPr lang="zh-CN" altLang="en-US" b="1" dirty="0">
                <a:latin typeface="黑体" panose="02010609060101010101" pitchFamily="49" charset="-122"/>
                <a:ea typeface="黑体" panose="02010609060101010101" pitchFamily="49" charset="-122"/>
              </a:rPr>
              <a:t>就与</a:t>
            </a:r>
            <a:r>
              <a:rPr lang="zh-CN" altLang="en-US" b="1" dirty="0">
                <a:solidFill>
                  <a:srgbClr val="FF0000"/>
                </a:solidFill>
                <a:latin typeface="黑体" panose="02010609060101010101" pitchFamily="49" charset="-122"/>
                <a:ea typeface="黑体" panose="02010609060101010101" pitchFamily="49" charset="-122"/>
              </a:rPr>
              <a:t>原来有约束条件的原始目标函数的优化问题</a:t>
            </a:r>
            <a:r>
              <a:rPr lang="zh-CN" altLang="en-US" b="1" dirty="0">
                <a:latin typeface="黑体" panose="02010609060101010101" pitchFamily="49" charset="-122"/>
                <a:ea typeface="黑体" panose="02010609060101010101" pitchFamily="49" charset="-122"/>
              </a:rPr>
              <a:t>是等价的问题。</a:t>
            </a:r>
            <a:endParaRPr lang="en-US" altLang="zh-CN" b="1" dirty="0">
              <a:latin typeface="黑体" panose="02010609060101010101" pitchFamily="49" charset="-122"/>
              <a:ea typeface="黑体" panose="02010609060101010101" pitchFamily="49" charset="-122"/>
            </a:endParaRPr>
          </a:p>
          <a:p>
            <a:pPr>
              <a:lnSpc>
                <a:spcPct val="150000"/>
              </a:lnSpc>
            </a:pPr>
            <a:r>
              <a:rPr lang="zh-CN" altLang="en-US" b="1" dirty="0">
                <a:solidFill>
                  <a:srgbClr val="FF0000"/>
                </a:solidFill>
                <a:latin typeface="黑体" panose="02010609060101010101" pitchFamily="49" charset="-122"/>
                <a:ea typeface="黑体" panose="02010609060101010101" pitchFamily="49" charset="-122"/>
              </a:rPr>
              <a:t>使用拉格朗日方程的目的</a:t>
            </a:r>
            <a:r>
              <a:rPr lang="zh-CN" altLang="en-US" b="1" dirty="0">
                <a:latin typeface="黑体" panose="02010609060101010101" pitchFamily="49" charset="-122"/>
                <a:ea typeface="黑体" panose="02010609060101010101" pitchFamily="49" charset="-122"/>
              </a:rPr>
              <a:t>：约束条件放到目标函数中，从而将有约束优化问题转换为无约束优化问题。</a:t>
            </a:r>
            <a:endParaRPr lang="en-US" altLang="zh-CN" b="1" dirty="0">
              <a:latin typeface="黑体" panose="02010609060101010101" pitchFamily="49" charset="-122"/>
              <a:ea typeface="黑体" panose="02010609060101010101" pitchFamily="49" charset="-122"/>
            </a:endParaRPr>
          </a:p>
          <a:p>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文本框 4"/>
          <p:cNvSpPr txBox="1"/>
          <p:nvPr/>
        </p:nvSpPr>
        <p:spPr>
          <a:xfrm>
            <a:off x="475861" y="1098293"/>
            <a:ext cx="5850294" cy="461665"/>
          </a:xfrm>
          <a:prstGeom prst="rect">
            <a:avLst/>
          </a:prstGeom>
          <a:noFill/>
        </p:spPr>
        <p:txBody>
          <a:bodyPr wrap="square">
            <a:spAutoFit/>
          </a:bodyPr>
          <a:lstStyle/>
          <a:p>
            <a:r>
              <a:rPr lang="zh-CN" altLang="en-US" sz="2400" dirty="0">
                <a:latin typeface="黑体" panose="02010609060101010101" pitchFamily="49" charset="-122"/>
                <a:ea typeface="黑体" panose="02010609060101010101" pitchFamily="49" charset="-122"/>
              </a:rPr>
              <a:t>经典拉格朗日乘子是下面的优化问题：</a:t>
            </a:r>
            <a:endParaRPr lang="zh-CN" altLang="en-US" sz="2400" dirty="0">
              <a:latin typeface="黑体" panose="02010609060101010101" pitchFamily="49" charset="-122"/>
              <a:ea typeface="黑体" panose="02010609060101010101" pitchFamily="49" charset="-122"/>
            </a:endParaRPr>
          </a:p>
        </p:txBody>
      </p:sp>
      <p:sp>
        <p:nvSpPr>
          <p:cNvPr id="6" name="标题 1"/>
          <p:cNvSpPr>
            <a:spLocks noGrp="1"/>
          </p:cNvSpPr>
          <p:nvPr>
            <p:ph type="title"/>
          </p:nvPr>
        </p:nvSpPr>
        <p:spPr>
          <a:xfrm>
            <a:off x="260350" y="42864"/>
            <a:ext cx="7886700" cy="777874"/>
          </a:xfrm>
        </p:spPr>
        <p:txBody>
          <a:bodyPr>
            <a:normAutofit/>
          </a:bodyPr>
          <a:lstStyle/>
          <a:p>
            <a:r>
              <a:rPr lang="zh-CN" altLang="en-US" dirty="0">
                <a:latin typeface="黑体" panose="02010609060101010101" pitchFamily="49" charset="-122"/>
                <a:ea typeface="黑体" panose="02010609060101010101" pitchFamily="49" charset="-122"/>
              </a:rPr>
              <a:t>拉格朗日乘子法</a:t>
            </a:r>
            <a:endParaRPr lang="zh-CN" altLang="en-US" dirty="0">
              <a:latin typeface="黑体" panose="02010609060101010101" pitchFamily="49" charset="-122"/>
              <a:ea typeface="黑体" panose="02010609060101010101" pitchFamily="49" charset="-122"/>
            </a:endParaRPr>
          </a:p>
        </p:txBody>
      </p:sp>
      <p:graphicFrame>
        <p:nvGraphicFramePr>
          <p:cNvPr id="9" name="对象 8"/>
          <p:cNvGraphicFramePr>
            <a:graphicFrameLocks noChangeAspect="1"/>
          </p:cNvGraphicFramePr>
          <p:nvPr/>
        </p:nvGraphicFramePr>
        <p:xfrm>
          <a:off x="2220913" y="1628775"/>
          <a:ext cx="3517900" cy="730250"/>
        </p:xfrm>
        <a:graphic>
          <a:graphicData uri="http://schemas.openxmlformats.org/presentationml/2006/ole">
            <mc:AlternateContent xmlns:mc="http://schemas.openxmlformats.org/markup-compatibility/2006">
              <mc:Choice xmlns:v="urn:schemas-microsoft-com:vml" Requires="v">
                <p:oleObj spid="_x0000_s32" name="AxMath" r:id="rId1" imgW="1828800" imgH="1828800" progId="Equation.AxMath">
                  <p:embed/>
                </p:oleObj>
              </mc:Choice>
              <mc:Fallback>
                <p:oleObj name="AxMath" r:id="rId1" imgW="1828800" imgH="1828800" progId="Equation.AxMath">
                  <p:embed/>
                  <p:pic>
                    <p:nvPicPr>
                      <p:cNvPr id="0" name="图片 31"/>
                      <p:cNvPicPr/>
                      <p:nvPr/>
                    </p:nvPicPr>
                    <p:blipFill>
                      <a:blip r:embed="rId2"/>
                      <a:stretch>
                        <a:fillRect/>
                      </a:stretch>
                    </p:blipFill>
                    <p:spPr>
                      <a:xfrm>
                        <a:off x="2220913" y="1628775"/>
                        <a:ext cx="3517900" cy="730250"/>
                      </a:xfrm>
                      <a:prstGeom prst="rect">
                        <a:avLst/>
                      </a:prstGeom>
                    </p:spPr>
                  </p:pic>
                </p:oleObj>
              </mc:Fallback>
            </mc:AlternateContent>
          </a:graphicData>
        </a:graphic>
      </p:graphicFrame>
      <p:sp>
        <p:nvSpPr>
          <p:cNvPr id="10" name="文本框 9"/>
          <p:cNvSpPr txBox="1"/>
          <p:nvPr/>
        </p:nvSpPr>
        <p:spPr>
          <a:xfrm>
            <a:off x="475860" y="2464940"/>
            <a:ext cx="5355771" cy="461665"/>
          </a:xfrm>
          <a:prstGeom prst="rect">
            <a:avLst/>
          </a:prstGeom>
          <a:noFill/>
        </p:spPr>
        <p:txBody>
          <a:bodyPr wrap="square">
            <a:spAutoFit/>
          </a:bodyPr>
          <a:lstStyle/>
          <a:p>
            <a:r>
              <a:rPr lang="zh-CN" altLang="en-US" sz="2400" dirty="0">
                <a:latin typeface="黑体" panose="02010609060101010101" pitchFamily="49" charset="-122"/>
                <a:ea typeface="黑体" panose="02010609060101010101" pitchFamily="49" charset="-122"/>
              </a:rPr>
              <a:t>引入拉格朗日函数：</a:t>
            </a:r>
            <a:endParaRPr lang="zh-CN" altLang="en-US" sz="2400" dirty="0">
              <a:latin typeface="黑体" panose="02010609060101010101" pitchFamily="49" charset="-122"/>
              <a:ea typeface="黑体" panose="02010609060101010101" pitchFamily="49" charset="-122"/>
            </a:endParaRPr>
          </a:p>
        </p:txBody>
      </p:sp>
      <p:graphicFrame>
        <p:nvGraphicFramePr>
          <p:cNvPr id="11" name="对象 10"/>
          <p:cNvGraphicFramePr>
            <a:graphicFrameLocks noChangeAspect="1"/>
          </p:cNvGraphicFramePr>
          <p:nvPr/>
        </p:nvGraphicFramePr>
        <p:xfrm>
          <a:off x="2620963" y="3125788"/>
          <a:ext cx="3152775" cy="477837"/>
        </p:xfrm>
        <a:graphic>
          <a:graphicData uri="http://schemas.openxmlformats.org/presentationml/2006/ole">
            <mc:AlternateContent xmlns:mc="http://schemas.openxmlformats.org/markup-compatibility/2006">
              <mc:Choice xmlns:v="urn:schemas-microsoft-com:vml" Requires="v">
                <p:oleObj spid="_x0000_s2" name="AxMath" r:id="rId3" imgW="1143000" imgH="1143000" progId="Equation.AxMath">
                  <p:embed/>
                </p:oleObj>
              </mc:Choice>
              <mc:Fallback>
                <p:oleObj name="AxMath" r:id="rId3" imgW="1143000" imgH="1143000" progId="Equation.AxMath">
                  <p:embed/>
                  <p:pic>
                    <p:nvPicPr>
                      <p:cNvPr id="0" name="图片 1"/>
                      <p:cNvPicPr/>
                      <p:nvPr/>
                    </p:nvPicPr>
                    <p:blipFill>
                      <a:blip r:embed="rId4"/>
                      <a:stretch>
                        <a:fillRect/>
                      </a:stretch>
                    </p:blipFill>
                    <p:spPr>
                      <a:xfrm>
                        <a:off x="2620963" y="3125788"/>
                        <a:ext cx="3152775" cy="477837"/>
                      </a:xfrm>
                      <a:prstGeom prst="rect">
                        <a:avLst/>
                      </a:prstGeom>
                    </p:spPr>
                  </p:pic>
                </p:oleObj>
              </mc:Fallback>
            </mc:AlternateContent>
          </a:graphicData>
        </a:graphic>
      </p:graphicFrame>
      <p:sp>
        <p:nvSpPr>
          <p:cNvPr id="12" name="文本框 11"/>
          <p:cNvSpPr txBox="1"/>
          <p:nvPr/>
        </p:nvSpPr>
        <p:spPr>
          <a:xfrm>
            <a:off x="562946" y="3852396"/>
            <a:ext cx="5355771" cy="461665"/>
          </a:xfrm>
          <a:prstGeom prst="rect">
            <a:avLst/>
          </a:prstGeom>
          <a:noFill/>
        </p:spPr>
        <p:txBody>
          <a:bodyPr wrap="square">
            <a:spAutoFit/>
          </a:bodyPr>
          <a:lstStyle/>
          <a:p>
            <a:r>
              <a:rPr lang="zh-CN" altLang="en-US" sz="2400" dirty="0">
                <a:latin typeface="黑体" panose="02010609060101010101" pitchFamily="49" charset="-122"/>
                <a:ea typeface="黑体" panose="02010609060101010101" pitchFamily="49" charset="-122"/>
              </a:rPr>
              <a:t>求解该函数可得：</a:t>
            </a:r>
            <a:endParaRPr lang="zh-CN" altLang="en-US" sz="2400" dirty="0">
              <a:latin typeface="黑体" panose="02010609060101010101" pitchFamily="49" charset="-122"/>
              <a:ea typeface="黑体" panose="02010609060101010101" pitchFamily="49" charset="-122"/>
            </a:endParaRPr>
          </a:p>
        </p:txBody>
      </p:sp>
      <p:graphicFrame>
        <p:nvGraphicFramePr>
          <p:cNvPr id="13" name="对象 12"/>
          <p:cNvGraphicFramePr>
            <a:graphicFrameLocks noChangeAspect="1"/>
          </p:cNvGraphicFramePr>
          <p:nvPr/>
        </p:nvGraphicFramePr>
        <p:xfrm>
          <a:off x="285750" y="4606925"/>
          <a:ext cx="5051425" cy="1166813"/>
        </p:xfrm>
        <a:graphic>
          <a:graphicData uri="http://schemas.openxmlformats.org/presentationml/2006/ole">
            <mc:AlternateContent xmlns:mc="http://schemas.openxmlformats.org/markup-compatibility/2006">
              <mc:Choice xmlns:v="urn:schemas-microsoft-com:vml" Requires="v">
                <p:oleObj spid="_x0000_s3" name="AxMath" r:id="rId5" imgW="1828800" imgH="1828800" progId="Equation.AxMath">
                  <p:embed/>
                </p:oleObj>
              </mc:Choice>
              <mc:Fallback>
                <p:oleObj name="AxMath" r:id="rId5" imgW="1828800" imgH="1828800" progId="Equation.AxMath">
                  <p:embed/>
                  <p:pic>
                    <p:nvPicPr>
                      <p:cNvPr id="0" name="图片 2"/>
                      <p:cNvPicPr/>
                      <p:nvPr/>
                    </p:nvPicPr>
                    <p:blipFill>
                      <a:blip r:embed="rId6"/>
                      <a:stretch>
                        <a:fillRect/>
                      </a:stretch>
                    </p:blipFill>
                    <p:spPr>
                      <a:xfrm>
                        <a:off x="285750" y="4606925"/>
                        <a:ext cx="5051425" cy="1166813"/>
                      </a:xfrm>
                      <a:prstGeom prst="rect">
                        <a:avLst/>
                      </a:prstGeom>
                    </p:spPr>
                  </p:pic>
                </p:oleObj>
              </mc:Fallback>
            </mc:AlternateContent>
          </a:graphicData>
        </a:graphic>
      </p:graphicFrame>
      <p:graphicFrame>
        <p:nvGraphicFramePr>
          <p:cNvPr id="20" name="对象 19"/>
          <p:cNvGraphicFramePr>
            <a:graphicFrameLocks noChangeAspect="1"/>
          </p:cNvGraphicFramePr>
          <p:nvPr/>
        </p:nvGraphicFramePr>
        <p:xfrm>
          <a:off x="5895975" y="4613275"/>
          <a:ext cx="2884488" cy="1154113"/>
        </p:xfrm>
        <a:graphic>
          <a:graphicData uri="http://schemas.openxmlformats.org/presentationml/2006/ole">
            <mc:AlternateContent xmlns:mc="http://schemas.openxmlformats.org/markup-compatibility/2006">
              <mc:Choice xmlns:v="urn:schemas-microsoft-com:vml" Requires="v">
                <p:oleObj spid="_x0000_s4" name="AxMath" r:id="rId7" imgW="1828800" imgH="1828800" progId="Equation.AxMath">
                  <p:embed/>
                </p:oleObj>
              </mc:Choice>
              <mc:Fallback>
                <p:oleObj name="AxMath" r:id="rId7" imgW="1828800" imgH="1828800" progId="Equation.AxMath">
                  <p:embed/>
                  <p:pic>
                    <p:nvPicPr>
                      <p:cNvPr id="0" name="图片 3"/>
                      <p:cNvPicPr/>
                      <p:nvPr/>
                    </p:nvPicPr>
                    <p:blipFill>
                      <a:blip r:embed="rId8"/>
                      <a:stretch>
                        <a:fillRect/>
                      </a:stretch>
                    </p:blipFill>
                    <p:spPr>
                      <a:xfrm>
                        <a:off x="5895975" y="4613275"/>
                        <a:ext cx="2884488" cy="1154113"/>
                      </a:xfrm>
                      <a:prstGeom prst="rect">
                        <a:avLst/>
                      </a:prstGeom>
                    </p:spPr>
                  </p:pic>
                </p:oleObj>
              </mc:Fallback>
            </mc:AlternateContent>
          </a:graphicData>
        </a:graphic>
      </p:graphicFrame>
      <p:sp>
        <p:nvSpPr>
          <p:cNvPr id="23" name="箭头: 右 22"/>
          <p:cNvSpPr/>
          <p:nvPr/>
        </p:nvSpPr>
        <p:spPr>
          <a:xfrm>
            <a:off x="5225126" y="5040379"/>
            <a:ext cx="354563" cy="25396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200" dirty="0">
                <a:latin typeface="黑体" panose="02010609060101010101" pitchFamily="49" charset="-122"/>
                <a:ea typeface="黑体" panose="02010609060101010101" pitchFamily="49" charset="-122"/>
              </a:rPr>
              <a:t>几何直观：梯度共线</a:t>
            </a:r>
            <a:endParaRPr lang="zh-CN" altLang="en-US" sz="3200"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a:xfrm>
            <a:off x="260350" y="1007706"/>
            <a:ext cx="8616950" cy="5081605"/>
          </a:xfrm>
        </p:spPr>
        <p:txBody>
          <a:bodyPr>
            <a:normAutofit/>
          </a:bodyPr>
          <a:lstStyle/>
          <a:p>
            <a:pPr marL="0" indent="0">
              <a:lnSpc>
                <a:spcPct val="150000"/>
              </a:lnSpc>
              <a:buNone/>
            </a:pPr>
            <a:r>
              <a:rPr lang="zh-CN" altLang="en-US" sz="1800" dirty="0">
                <a:latin typeface="黑体" panose="02010609060101010101" pitchFamily="49" charset="-122"/>
                <a:ea typeface="黑体" panose="02010609060101010101" pitchFamily="49" charset="-122"/>
              </a:rPr>
              <a:t>以目标函数        为例，其等高线为图中虚线所示；约束等式            ，如图绿线所示。       和            只有三种可能：相交、相切和没有交集（无共同解）。而</a:t>
            </a:r>
            <a:r>
              <a:rPr lang="zh-CN" altLang="en-US" sz="1800" dirty="0">
                <a:solidFill>
                  <a:srgbClr val="C00000"/>
                </a:solidFill>
                <a:latin typeface="黑体" panose="02010609060101010101" pitchFamily="49" charset="-122"/>
                <a:ea typeface="黑体" panose="02010609060101010101" pitchFamily="49" charset="-122"/>
              </a:rPr>
              <a:t>最优点必须落相切点</a:t>
            </a:r>
            <a:r>
              <a:rPr lang="zh-CN" altLang="en-US" sz="1800" dirty="0">
                <a:latin typeface="黑体" panose="02010609060101010101" pitchFamily="49" charset="-122"/>
                <a:ea typeface="黑体" panose="02010609060101010101" pitchFamily="49" charset="-122"/>
              </a:rPr>
              <a:t>上，因为如果两者相交而不相切，沿着约束曲面移动一小步，就能使目标函数值下降（或上升），意味着该点不是极值点；相切意味着在约束曲面的切方向上，目标函数的变化率为零。</a:t>
            </a:r>
            <a:endParaRPr lang="zh-CN" altLang="en-US" sz="1800" dirty="0">
              <a:latin typeface="黑体" panose="02010609060101010101" pitchFamily="49" charset="-122"/>
              <a:ea typeface="黑体" panose="02010609060101010101" pitchFamily="49" charset="-122"/>
            </a:endParaRPr>
          </a:p>
        </p:txBody>
      </p:sp>
      <p:graphicFrame>
        <p:nvGraphicFramePr>
          <p:cNvPr id="4" name="对象 3"/>
          <p:cNvGraphicFramePr>
            <a:graphicFrameLocks noChangeAspect="1"/>
          </p:cNvGraphicFramePr>
          <p:nvPr/>
        </p:nvGraphicFramePr>
        <p:xfrm>
          <a:off x="1559767" y="1091681"/>
          <a:ext cx="822446" cy="422566"/>
        </p:xfrm>
        <a:graphic>
          <a:graphicData uri="http://schemas.openxmlformats.org/presentationml/2006/ole">
            <mc:AlternateContent xmlns:mc="http://schemas.openxmlformats.org/markup-compatibility/2006">
              <mc:Choice xmlns:v="urn:schemas-microsoft-com:vml" Requires="v">
                <p:oleObj spid="_x0000_s32" name="AxMath" r:id="rId1" imgW="1143000" imgH="1143000" progId="Equation.AxMath">
                  <p:embed/>
                </p:oleObj>
              </mc:Choice>
              <mc:Fallback>
                <p:oleObj name="AxMath" r:id="rId1" imgW="1143000" imgH="1143000" progId="Equation.AxMath">
                  <p:embed/>
                  <p:pic>
                    <p:nvPicPr>
                      <p:cNvPr id="0" name="图片 31"/>
                      <p:cNvPicPr/>
                      <p:nvPr/>
                    </p:nvPicPr>
                    <p:blipFill>
                      <a:blip r:embed="rId2"/>
                      <a:stretch>
                        <a:fillRect/>
                      </a:stretch>
                    </p:blipFill>
                    <p:spPr>
                      <a:xfrm>
                        <a:off x="1559767" y="1091681"/>
                        <a:ext cx="822446" cy="422566"/>
                      </a:xfrm>
                      <a:prstGeom prst="rect">
                        <a:avLst/>
                      </a:prstGeom>
                    </p:spPr>
                  </p:pic>
                </p:oleObj>
              </mc:Fallback>
            </mc:AlternateContent>
          </a:graphicData>
        </a:graphic>
      </p:graphicFrame>
      <p:graphicFrame>
        <p:nvGraphicFramePr>
          <p:cNvPr id="6" name="对象 5"/>
          <p:cNvGraphicFramePr>
            <a:graphicFrameLocks noChangeAspect="1"/>
          </p:cNvGraphicFramePr>
          <p:nvPr/>
        </p:nvGraphicFramePr>
        <p:xfrm>
          <a:off x="6844494" y="1063691"/>
          <a:ext cx="1293225" cy="422566"/>
        </p:xfrm>
        <a:graphic>
          <a:graphicData uri="http://schemas.openxmlformats.org/presentationml/2006/ole">
            <mc:AlternateContent xmlns:mc="http://schemas.openxmlformats.org/markup-compatibility/2006">
              <mc:Choice xmlns:v="urn:schemas-microsoft-com:vml" Requires="v">
                <p:oleObj spid="_x0000_s5" name="AxMath" r:id="rId3" imgW="1143000" imgH="1143000" progId="Equation.AxMath">
                  <p:embed/>
                </p:oleObj>
              </mc:Choice>
              <mc:Fallback>
                <p:oleObj name="AxMath" r:id="rId3" imgW="1143000" imgH="1143000" progId="Equation.AxMath">
                  <p:embed/>
                  <p:pic>
                    <p:nvPicPr>
                      <p:cNvPr id="0" name="图片 4"/>
                      <p:cNvPicPr/>
                      <p:nvPr/>
                    </p:nvPicPr>
                    <p:blipFill>
                      <a:blip r:embed="rId4"/>
                      <a:stretch>
                        <a:fillRect/>
                      </a:stretch>
                    </p:blipFill>
                    <p:spPr>
                      <a:xfrm>
                        <a:off x="6844494" y="1063691"/>
                        <a:ext cx="1293225" cy="422566"/>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1712167" y="1458695"/>
          <a:ext cx="822446" cy="422566"/>
        </p:xfrm>
        <a:graphic>
          <a:graphicData uri="http://schemas.openxmlformats.org/presentationml/2006/ole">
            <mc:AlternateContent xmlns:mc="http://schemas.openxmlformats.org/markup-compatibility/2006">
              <mc:Choice xmlns:v="urn:schemas-microsoft-com:vml" Requires="v">
                <p:oleObj spid="_x0000_s8" name="AxMath" r:id="rId5" imgW="1143000" imgH="1143000" progId="Equation.AxMath">
                  <p:embed/>
                </p:oleObj>
              </mc:Choice>
              <mc:Fallback>
                <p:oleObj name="AxMath" r:id="rId5" imgW="1143000" imgH="1143000" progId="Equation.AxMath">
                  <p:embed/>
                  <p:pic>
                    <p:nvPicPr>
                      <p:cNvPr id="0" name="对象 3"/>
                      <p:cNvPicPr/>
                      <p:nvPr/>
                    </p:nvPicPr>
                    <p:blipFill>
                      <a:blip r:embed="rId2"/>
                      <a:stretch>
                        <a:fillRect/>
                      </a:stretch>
                    </p:blipFill>
                    <p:spPr>
                      <a:xfrm>
                        <a:off x="1712167" y="1458695"/>
                        <a:ext cx="822446" cy="422566"/>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2835440" y="1486257"/>
          <a:ext cx="1293225" cy="422566"/>
        </p:xfrm>
        <a:graphic>
          <a:graphicData uri="http://schemas.openxmlformats.org/presentationml/2006/ole">
            <mc:AlternateContent xmlns:mc="http://schemas.openxmlformats.org/markup-compatibility/2006">
              <mc:Choice xmlns:v="urn:schemas-microsoft-com:vml" Requires="v">
                <p:oleObj spid="_x0000_s10" name="AxMath" r:id="rId6" imgW="1143000" imgH="1143000" progId="Equation.AxMath">
                  <p:embed/>
                </p:oleObj>
              </mc:Choice>
              <mc:Fallback>
                <p:oleObj name="AxMath" r:id="rId6" imgW="1143000" imgH="1143000" progId="Equation.AxMath">
                  <p:embed/>
                  <p:pic>
                    <p:nvPicPr>
                      <p:cNvPr id="0" name="对象 5"/>
                      <p:cNvPicPr/>
                      <p:nvPr/>
                    </p:nvPicPr>
                    <p:blipFill>
                      <a:blip r:embed="rId4"/>
                      <a:stretch>
                        <a:fillRect/>
                      </a:stretch>
                    </p:blipFill>
                    <p:spPr>
                      <a:xfrm>
                        <a:off x="2835440" y="1486257"/>
                        <a:ext cx="1293225" cy="422566"/>
                      </a:xfrm>
                      <a:prstGeom prst="rect">
                        <a:avLst/>
                      </a:prstGeom>
                    </p:spPr>
                  </p:pic>
                </p:oleObj>
              </mc:Fallback>
            </mc:AlternateContent>
          </a:graphicData>
        </a:graphic>
      </p:graphicFrame>
      <p:pic>
        <p:nvPicPr>
          <p:cNvPr id="11" name="图片 10"/>
          <p:cNvPicPr>
            <a:picLocks noChangeAspect="1"/>
          </p:cNvPicPr>
          <p:nvPr/>
        </p:nvPicPr>
        <p:blipFill>
          <a:blip r:embed="rId7"/>
          <a:stretch>
            <a:fillRect/>
          </a:stretch>
        </p:blipFill>
        <p:spPr>
          <a:xfrm>
            <a:off x="0" y="3175287"/>
            <a:ext cx="5331878" cy="2914024"/>
          </a:xfrm>
          <a:prstGeom prst="rect">
            <a:avLst/>
          </a:prstGeom>
        </p:spPr>
      </p:pic>
      <p:sp>
        <p:nvSpPr>
          <p:cNvPr id="12" name="文本框 11"/>
          <p:cNvSpPr txBox="1"/>
          <p:nvPr/>
        </p:nvSpPr>
        <p:spPr>
          <a:xfrm>
            <a:off x="4721290" y="3548508"/>
            <a:ext cx="3900196" cy="2308324"/>
          </a:xfrm>
          <a:prstGeom prst="rect">
            <a:avLst/>
          </a:prstGeom>
          <a:noFill/>
        </p:spPr>
        <p:txBody>
          <a:bodyPr wrap="square" rtlCol="0">
            <a:spAutoFit/>
          </a:bodyPr>
          <a:lstStyle/>
          <a:p>
            <a:r>
              <a:rPr lang="zh-CN" altLang="en-US" dirty="0">
                <a:latin typeface="黑体" panose="02010609060101010101" pitchFamily="49" charset="-122"/>
                <a:ea typeface="黑体" panose="02010609060101010101" pitchFamily="49" charset="-122"/>
              </a:rPr>
              <a:t>相切在数学上表现为：</a:t>
            </a:r>
            <a:endParaRPr lang="en-US" altLang="zh-CN" dirty="0">
              <a:latin typeface="黑体" panose="02010609060101010101" pitchFamily="49" charset="-122"/>
              <a:ea typeface="黑体" panose="02010609060101010101" pitchFamily="49" charset="-122"/>
            </a:endParaRPr>
          </a:p>
          <a:p>
            <a:endParaRPr lang="en-US" altLang="zh-CN" dirty="0">
              <a:latin typeface="黑体" panose="02010609060101010101" pitchFamily="49" charset="-122"/>
              <a:ea typeface="黑体" panose="02010609060101010101" pitchFamily="49" charset="-122"/>
            </a:endParaRPr>
          </a:p>
          <a:p>
            <a:endParaRPr lang="en-US" altLang="zh-CN" dirty="0">
              <a:latin typeface="黑体" panose="02010609060101010101" pitchFamily="49" charset="-122"/>
              <a:ea typeface="黑体" panose="02010609060101010101" pitchFamily="49" charset="-122"/>
            </a:endParaRPr>
          </a:p>
          <a:p>
            <a:endParaRPr lang="en-US" altLang="zh-CN" dirty="0">
              <a:latin typeface="黑体" panose="02010609060101010101" pitchFamily="49" charset="-122"/>
              <a:ea typeface="黑体" panose="02010609060101010101" pitchFamily="49" charset="-122"/>
            </a:endParaRPr>
          </a:p>
          <a:p>
            <a:pPr>
              <a:lnSpc>
                <a:spcPct val="150000"/>
              </a:lnSpc>
            </a:pPr>
            <a:r>
              <a:rPr lang="zh-CN" altLang="en-US" dirty="0">
                <a:latin typeface="黑体" panose="02010609060101010101" pitchFamily="49" charset="-122"/>
                <a:ea typeface="黑体" panose="02010609060101010101" pitchFamily="49" charset="-122"/>
              </a:rPr>
              <a:t>目标函数的梯度和约束等式的法向量平行（共线），此时即得最优解。</a:t>
            </a:r>
            <a:endParaRPr lang="en-US" altLang="zh-CN" dirty="0">
              <a:latin typeface="黑体" panose="02010609060101010101" pitchFamily="49" charset="-122"/>
              <a:ea typeface="黑体" panose="02010609060101010101" pitchFamily="49" charset="-122"/>
            </a:endParaRPr>
          </a:p>
          <a:p>
            <a:endParaRPr lang="zh-CN" altLang="en-US" dirty="0">
              <a:latin typeface="黑体" panose="02010609060101010101" pitchFamily="49" charset="-122"/>
              <a:ea typeface="黑体" panose="02010609060101010101" pitchFamily="49" charset="-122"/>
            </a:endParaRPr>
          </a:p>
        </p:txBody>
      </p:sp>
      <p:graphicFrame>
        <p:nvGraphicFramePr>
          <p:cNvPr id="13" name="对象 12"/>
          <p:cNvGraphicFramePr>
            <a:graphicFrameLocks noChangeAspect="1"/>
          </p:cNvGraphicFramePr>
          <p:nvPr/>
        </p:nvGraphicFramePr>
        <p:xfrm>
          <a:off x="4877675" y="4027059"/>
          <a:ext cx="2681759" cy="491490"/>
        </p:xfrm>
        <a:graphic>
          <a:graphicData uri="http://schemas.openxmlformats.org/presentationml/2006/ole">
            <mc:AlternateContent xmlns:mc="http://schemas.openxmlformats.org/markup-compatibility/2006">
              <mc:Choice xmlns:v="urn:schemas-microsoft-com:vml" Requires="v">
                <p:oleObj spid="_x0000_s14" name="AxMath" r:id="rId8" imgW="1143000" imgH="1143000" progId="Equation.AxMath">
                  <p:embed/>
                </p:oleObj>
              </mc:Choice>
              <mc:Fallback>
                <p:oleObj name="AxMath" r:id="rId8" imgW="1143000" imgH="1143000" progId="Equation.AxMath">
                  <p:embed/>
                  <p:pic>
                    <p:nvPicPr>
                      <p:cNvPr id="0" name="图片 13"/>
                      <p:cNvPicPr/>
                      <p:nvPr/>
                    </p:nvPicPr>
                    <p:blipFill>
                      <a:blip r:embed="rId9"/>
                      <a:stretch>
                        <a:fillRect/>
                      </a:stretch>
                    </p:blipFill>
                    <p:spPr>
                      <a:xfrm>
                        <a:off x="4877675" y="4027059"/>
                        <a:ext cx="2681759" cy="491490"/>
                      </a:xfrm>
                      <a:prstGeom prst="rect">
                        <a:avLst/>
                      </a:prstGeom>
                    </p:spPr>
                  </p:pic>
                </p:oleObj>
              </mc:Fallback>
            </mc:AlternateContent>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ph type="title"/>
          </p:nvPr>
        </p:nvSpPr>
        <p:spPr>
          <a:xfrm>
            <a:off x="357188" y="214727"/>
            <a:ext cx="7886700" cy="570310"/>
          </a:xfrm>
        </p:spPr>
        <p:txBody>
          <a:bodyPr vert="horz" lIns="91440" tIns="45720" rIns="91440" bIns="45720" rtlCol="0" anchor="ctr">
            <a:normAutofit fontScale="90000"/>
          </a:bodyPr>
          <a:lstStyle/>
          <a:p>
            <a:r>
              <a:rPr lang="zh-CN" altLang="en-US" dirty="0">
                <a:latin typeface="黑体" panose="02010609060101010101" pitchFamily="49" charset="-122"/>
                <a:ea typeface="黑体" panose="02010609060101010101" pitchFamily="49" charset="-122"/>
              </a:rPr>
              <a:t>等式约束优化问题</a:t>
            </a:r>
            <a:endParaRPr altLang="zh-CN" dirty="0">
              <a:latin typeface="黑体" panose="02010609060101010101" pitchFamily="49" charset="-122"/>
              <a:ea typeface="黑体" panose="02010609060101010101" pitchFamily="49" charset="-122"/>
            </a:endParaRPr>
          </a:p>
        </p:txBody>
      </p:sp>
      <p:pic>
        <p:nvPicPr>
          <p:cNvPr id="6" name="图片 5"/>
          <p:cNvPicPr>
            <a:picLocks noChangeAspect="1"/>
          </p:cNvPicPr>
          <p:nvPr/>
        </p:nvPicPr>
        <p:blipFill>
          <a:blip r:embed="rId1"/>
          <a:stretch>
            <a:fillRect/>
          </a:stretch>
        </p:blipFill>
        <p:spPr>
          <a:xfrm>
            <a:off x="1298712" y="928236"/>
            <a:ext cx="4902477" cy="1297715"/>
          </a:xfrm>
          <a:prstGeom prst="rect">
            <a:avLst/>
          </a:prstGeom>
        </p:spPr>
      </p:pic>
      <p:sp>
        <p:nvSpPr>
          <p:cNvPr id="2" name="文本框 1"/>
          <p:cNvSpPr txBox="1"/>
          <p:nvPr/>
        </p:nvSpPr>
        <p:spPr>
          <a:xfrm>
            <a:off x="466531" y="2359354"/>
            <a:ext cx="7343192" cy="369332"/>
          </a:xfrm>
          <a:prstGeom prst="rect">
            <a:avLst/>
          </a:prstGeom>
          <a:noFill/>
        </p:spPr>
        <p:txBody>
          <a:bodyPr wrap="square" rtlCol="0">
            <a:spAutoFit/>
          </a:bodyPr>
          <a:lstStyle/>
          <a:p>
            <a:r>
              <a:rPr lang="zh-CN" altLang="en-US" dirty="0">
                <a:latin typeface="黑体" panose="02010609060101010101" pitchFamily="49" charset="-122"/>
                <a:ea typeface="黑体" panose="02010609060101010101" pitchFamily="49" charset="-122"/>
              </a:rPr>
              <a:t>推广到多个等式约束时，构建拉格朗日函数如下，其中拉格朗日乘子</a:t>
            </a:r>
            <a:endParaRPr lang="zh-CN" altLang="en-US" dirty="0">
              <a:latin typeface="黑体" panose="02010609060101010101" pitchFamily="49" charset="-122"/>
              <a:ea typeface="黑体" panose="02010609060101010101" pitchFamily="49" charset="-122"/>
            </a:endParaRPr>
          </a:p>
        </p:txBody>
      </p:sp>
      <p:graphicFrame>
        <p:nvGraphicFramePr>
          <p:cNvPr id="3" name="对象 2"/>
          <p:cNvGraphicFramePr>
            <a:graphicFrameLocks noChangeAspect="1"/>
          </p:cNvGraphicFramePr>
          <p:nvPr/>
        </p:nvGraphicFramePr>
        <p:xfrm>
          <a:off x="7470225" y="2364603"/>
          <a:ext cx="945988" cy="446389"/>
        </p:xfrm>
        <a:graphic>
          <a:graphicData uri="http://schemas.openxmlformats.org/presentationml/2006/ole">
            <mc:AlternateContent xmlns:mc="http://schemas.openxmlformats.org/markup-compatibility/2006">
              <mc:Choice xmlns:v="urn:schemas-microsoft-com:vml" Requires="v">
                <p:oleObj spid="_x0000_s32" name="AxMath" r:id="rId2" imgW="1143000" imgH="1143000" progId="Equation.AxMath">
                  <p:embed/>
                </p:oleObj>
              </mc:Choice>
              <mc:Fallback>
                <p:oleObj name="AxMath" r:id="rId2" imgW="1143000" imgH="1143000" progId="Equation.AxMath">
                  <p:embed/>
                  <p:pic>
                    <p:nvPicPr>
                      <p:cNvPr id="0" name="图片 31"/>
                      <p:cNvPicPr/>
                      <p:nvPr/>
                    </p:nvPicPr>
                    <p:blipFill>
                      <a:blip r:embed="rId3"/>
                      <a:stretch>
                        <a:fillRect/>
                      </a:stretch>
                    </p:blipFill>
                    <p:spPr>
                      <a:xfrm>
                        <a:off x="7470225" y="2364603"/>
                        <a:ext cx="945988" cy="446389"/>
                      </a:xfrm>
                      <a:prstGeom prst="rect">
                        <a:avLst/>
                      </a:prstGeom>
                    </p:spPr>
                  </p:pic>
                </p:oleObj>
              </mc:Fallback>
            </mc:AlternateContent>
          </a:graphicData>
        </a:graphic>
      </p:graphicFrame>
      <p:graphicFrame>
        <p:nvGraphicFramePr>
          <p:cNvPr id="4" name="对象 3"/>
          <p:cNvGraphicFramePr>
            <a:graphicFrameLocks noChangeAspect="1"/>
          </p:cNvGraphicFramePr>
          <p:nvPr/>
        </p:nvGraphicFramePr>
        <p:xfrm>
          <a:off x="2507812" y="2945358"/>
          <a:ext cx="3839256" cy="935281"/>
        </p:xfrm>
        <a:graphic>
          <a:graphicData uri="http://schemas.openxmlformats.org/presentationml/2006/ole">
            <mc:AlternateContent xmlns:mc="http://schemas.openxmlformats.org/markup-compatibility/2006">
              <mc:Choice xmlns:v="urn:schemas-microsoft-com:vml" Requires="v">
                <p:oleObj spid="_x0000_s7" name="AxMath" r:id="rId4" imgW="1143000" imgH="1143000" progId="Equation.AxMath">
                  <p:embed/>
                </p:oleObj>
              </mc:Choice>
              <mc:Fallback>
                <p:oleObj name="AxMath" r:id="rId4" imgW="1143000" imgH="1143000" progId="Equation.AxMath">
                  <p:embed/>
                  <p:pic>
                    <p:nvPicPr>
                      <p:cNvPr id="0" name="图片 6"/>
                      <p:cNvPicPr/>
                      <p:nvPr/>
                    </p:nvPicPr>
                    <p:blipFill>
                      <a:blip r:embed="rId5"/>
                      <a:stretch>
                        <a:fillRect/>
                      </a:stretch>
                    </p:blipFill>
                    <p:spPr>
                      <a:xfrm>
                        <a:off x="2507812" y="2945358"/>
                        <a:ext cx="3839256" cy="935281"/>
                      </a:xfrm>
                      <a:prstGeom prst="rect">
                        <a:avLst/>
                      </a:prstGeom>
                    </p:spPr>
                  </p:pic>
                </p:oleObj>
              </mc:Fallback>
            </mc:AlternateContent>
          </a:graphicData>
        </a:graphic>
      </p:graphicFrame>
      <p:sp>
        <p:nvSpPr>
          <p:cNvPr id="9" name="文本框 8"/>
          <p:cNvSpPr txBox="1"/>
          <p:nvPr/>
        </p:nvSpPr>
        <p:spPr>
          <a:xfrm>
            <a:off x="555462" y="3880639"/>
            <a:ext cx="4016538" cy="369332"/>
          </a:xfrm>
          <a:prstGeom prst="rect">
            <a:avLst/>
          </a:prstGeom>
          <a:noFill/>
        </p:spPr>
        <p:txBody>
          <a:bodyPr wrap="square" rtlCol="0">
            <a:spAutoFit/>
          </a:bodyPr>
          <a:lstStyle/>
          <a:p>
            <a:r>
              <a:rPr lang="zh-CN" altLang="en-US" dirty="0">
                <a:latin typeface="黑体" panose="02010609060101010101" pitchFamily="49" charset="-122"/>
                <a:ea typeface="黑体" panose="02010609060101010101" pitchFamily="49" charset="-122"/>
              </a:rPr>
              <a:t>求解如下：</a:t>
            </a:r>
            <a:endParaRPr lang="zh-CN" altLang="en-US" dirty="0">
              <a:latin typeface="黑体" panose="02010609060101010101" pitchFamily="49" charset="-122"/>
              <a:ea typeface="黑体" panose="02010609060101010101" pitchFamily="49" charset="-122"/>
            </a:endParaRPr>
          </a:p>
        </p:txBody>
      </p:sp>
      <p:graphicFrame>
        <p:nvGraphicFramePr>
          <p:cNvPr id="10" name="对象 9"/>
          <p:cNvGraphicFramePr>
            <a:graphicFrameLocks noChangeAspect="1"/>
          </p:cNvGraphicFramePr>
          <p:nvPr/>
        </p:nvGraphicFramePr>
        <p:xfrm>
          <a:off x="3247183" y="4303003"/>
          <a:ext cx="2360515" cy="1163242"/>
        </p:xfrm>
        <a:graphic>
          <a:graphicData uri="http://schemas.openxmlformats.org/presentationml/2006/ole">
            <mc:AlternateContent xmlns:mc="http://schemas.openxmlformats.org/markup-compatibility/2006">
              <mc:Choice xmlns:v="urn:schemas-microsoft-com:vml" Requires="v">
                <p:oleObj spid="_x0000_s8" name="AxMath" r:id="rId6" imgW="1143000" imgH="1143000" progId="Equation.AxMath">
                  <p:embed/>
                </p:oleObj>
              </mc:Choice>
              <mc:Fallback>
                <p:oleObj name="AxMath" r:id="rId6" imgW="1143000" imgH="1143000" progId="Equation.AxMath">
                  <p:embed/>
                  <p:pic>
                    <p:nvPicPr>
                      <p:cNvPr id="0" name="图片 7"/>
                      <p:cNvPicPr/>
                      <p:nvPr/>
                    </p:nvPicPr>
                    <p:blipFill>
                      <a:blip r:embed="rId7"/>
                      <a:stretch>
                        <a:fillRect/>
                      </a:stretch>
                    </p:blipFill>
                    <p:spPr>
                      <a:xfrm>
                        <a:off x="3247183" y="4303003"/>
                        <a:ext cx="2360515" cy="1163242"/>
                      </a:xfrm>
                      <a:prstGeom prst="rect">
                        <a:avLst/>
                      </a:prstGeom>
                    </p:spPr>
                  </p:pic>
                </p:oleObj>
              </mc:Fallback>
            </mc:AlternateContent>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ph type="title"/>
          </p:nvPr>
        </p:nvSpPr>
        <p:spPr>
          <a:xfrm>
            <a:off x="357188" y="214727"/>
            <a:ext cx="7886700" cy="570310"/>
          </a:xfrm>
        </p:spPr>
        <p:txBody>
          <a:bodyPr vert="horz" lIns="91440" tIns="45720" rIns="91440" bIns="45720" rtlCol="0" anchor="ctr">
            <a:normAutofit fontScale="90000"/>
          </a:bodyPr>
          <a:lstStyle/>
          <a:p>
            <a:r>
              <a:rPr lang="zh-CN" altLang="en-US" dirty="0">
                <a:latin typeface="黑体" panose="02010609060101010101" pitchFamily="49" charset="-122"/>
                <a:ea typeface="黑体" panose="02010609060101010101" pitchFamily="49" charset="-122"/>
              </a:rPr>
              <a:t>不等式约束优化问题</a:t>
            </a:r>
            <a:endParaRPr altLang="zh-CN" dirty="0">
              <a:latin typeface="黑体" panose="02010609060101010101" pitchFamily="49" charset="-122"/>
              <a:ea typeface="黑体" panose="02010609060101010101" pitchFamily="49" charset="-122"/>
            </a:endParaRPr>
          </a:p>
        </p:txBody>
      </p:sp>
      <p:graphicFrame>
        <p:nvGraphicFramePr>
          <p:cNvPr id="2" name="对象 1"/>
          <p:cNvGraphicFramePr>
            <a:graphicFrameLocks noChangeAspect="1"/>
          </p:cNvGraphicFramePr>
          <p:nvPr/>
        </p:nvGraphicFramePr>
        <p:xfrm>
          <a:off x="903288" y="1014413"/>
          <a:ext cx="3284537" cy="698500"/>
        </p:xfrm>
        <a:graphic>
          <a:graphicData uri="http://schemas.openxmlformats.org/presentationml/2006/ole">
            <mc:AlternateContent xmlns:mc="http://schemas.openxmlformats.org/markup-compatibility/2006">
              <mc:Choice xmlns:v="urn:schemas-microsoft-com:vml" Requires="v">
                <p:oleObj spid="_x0000_s32" name="AxMath" r:id="rId1" imgW="1143000" imgH="1143000" progId="Equation.AxMath">
                  <p:embed/>
                </p:oleObj>
              </mc:Choice>
              <mc:Fallback>
                <p:oleObj name="AxMath" r:id="rId1" imgW="1143000" imgH="1143000" progId="Equation.AxMath">
                  <p:embed/>
                  <p:pic>
                    <p:nvPicPr>
                      <p:cNvPr id="0" name="图片 31"/>
                      <p:cNvPicPr/>
                      <p:nvPr/>
                    </p:nvPicPr>
                    <p:blipFill>
                      <a:blip r:embed="rId2"/>
                      <a:stretch>
                        <a:fillRect/>
                      </a:stretch>
                    </p:blipFill>
                    <p:spPr>
                      <a:xfrm>
                        <a:off x="903288" y="1014413"/>
                        <a:ext cx="3284537" cy="698500"/>
                      </a:xfrm>
                      <a:prstGeom prst="rect">
                        <a:avLst/>
                      </a:prstGeom>
                    </p:spPr>
                  </p:pic>
                </p:oleObj>
              </mc:Fallback>
            </mc:AlternateContent>
          </a:graphicData>
        </a:graphic>
      </p:graphicFrame>
      <p:sp>
        <p:nvSpPr>
          <p:cNvPr id="3" name="文本框 2"/>
          <p:cNvSpPr txBox="1"/>
          <p:nvPr/>
        </p:nvSpPr>
        <p:spPr>
          <a:xfrm>
            <a:off x="1890551" y="1730670"/>
            <a:ext cx="7057506" cy="400110"/>
          </a:xfrm>
          <a:prstGeom prst="rect">
            <a:avLst/>
          </a:prstGeom>
          <a:noFill/>
        </p:spPr>
        <p:txBody>
          <a:bodyPr wrap="square" rtlCol="0">
            <a:spAutoFit/>
          </a:bodyPr>
          <a:lstStyle/>
          <a:p>
            <a:r>
              <a:rPr lang="zh-CN" altLang="en-US" sz="2000" dirty="0">
                <a:solidFill>
                  <a:srgbClr val="0F1115"/>
                </a:solidFill>
                <a:latin typeface="黑体" panose="02010609060101010101" pitchFamily="49" charset="-122"/>
                <a:ea typeface="黑体" panose="02010609060101010101" pitchFamily="49" charset="-122"/>
              </a:rPr>
              <a:t>定义了一个可行域（包括边界和内部），</a:t>
            </a:r>
            <a:r>
              <a:rPr lang="zh-CN" altLang="en-US" sz="2000" dirty="0">
                <a:latin typeface="黑体" panose="02010609060101010101" pitchFamily="49" charset="-122"/>
                <a:ea typeface="黑体" panose="02010609060101010101" pitchFamily="49" charset="-122"/>
              </a:rPr>
              <a:t>对应的拉格朗日函数：</a:t>
            </a:r>
            <a:endParaRPr lang="zh-CN" altLang="en-US" sz="2000" dirty="0">
              <a:latin typeface="黑体" panose="02010609060101010101" pitchFamily="49" charset="-122"/>
              <a:ea typeface="黑体" panose="02010609060101010101" pitchFamily="49" charset="-122"/>
            </a:endParaRPr>
          </a:p>
        </p:txBody>
      </p:sp>
      <p:graphicFrame>
        <p:nvGraphicFramePr>
          <p:cNvPr id="4" name="对象 3"/>
          <p:cNvGraphicFramePr>
            <a:graphicFrameLocks noChangeAspect="1"/>
          </p:cNvGraphicFramePr>
          <p:nvPr/>
        </p:nvGraphicFramePr>
        <p:xfrm>
          <a:off x="2021091" y="2343533"/>
          <a:ext cx="3420436" cy="520128"/>
        </p:xfrm>
        <a:graphic>
          <a:graphicData uri="http://schemas.openxmlformats.org/presentationml/2006/ole">
            <mc:AlternateContent xmlns:mc="http://schemas.openxmlformats.org/markup-compatibility/2006">
              <mc:Choice xmlns:v="urn:schemas-microsoft-com:vml" Requires="v">
                <p:oleObj spid="_x0000_s6" name="AxMath" r:id="rId3" imgW="1143000" imgH="1143000" progId="Equation.AxMath">
                  <p:embed/>
                </p:oleObj>
              </mc:Choice>
              <mc:Fallback>
                <p:oleObj name="AxMath" r:id="rId3" imgW="1143000" imgH="1143000" progId="Equation.AxMath">
                  <p:embed/>
                  <p:pic>
                    <p:nvPicPr>
                      <p:cNvPr id="0" name="图片 5"/>
                      <p:cNvPicPr/>
                      <p:nvPr/>
                    </p:nvPicPr>
                    <p:blipFill>
                      <a:blip r:embed="rId4"/>
                      <a:stretch>
                        <a:fillRect/>
                      </a:stretch>
                    </p:blipFill>
                    <p:spPr>
                      <a:xfrm>
                        <a:off x="2021091" y="2343533"/>
                        <a:ext cx="3420436" cy="520128"/>
                      </a:xfrm>
                      <a:prstGeom prst="rect">
                        <a:avLst/>
                      </a:prstGeom>
                    </p:spPr>
                  </p:pic>
                </p:oleObj>
              </mc:Fallback>
            </mc:AlternateContent>
          </a:graphicData>
        </a:graphic>
      </p:graphicFrame>
      <p:graphicFrame>
        <p:nvGraphicFramePr>
          <p:cNvPr id="10" name="对象 9"/>
          <p:cNvGraphicFramePr>
            <a:graphicFrameLocks noChangeAspect="1"/>
          </p:cNvGraphicFramePr>
          <p:nvPr/>
        </p:nvGraphicFramePr>
        <p:xfrm>
          <a:off x="817531" y="1730670"/>
          <a:ext cx="1203560" cy="474418"/>
        </p:xfrm>
        <a:graphic>
          <a:graphicData uri="http://schemas.openxmlformats.org/presentationml/2006/ole">
            <mc:AlternateContent xmlns:mc="http://schemas.openxmlformats.org/markup-compatibility/2006">
              <mc:Choice xmlns:v="urn:schemas-microsoft-com:vml" Requires="v">
                <p:oleObj spid="_x0000_s7" name="AxMath" r:id="rId5" imgW="1143000" imgH="1143000" progId="Equation.AxMath">
                  <p:embed/>
                </p:oleObj>
              </mc:Choice>
              <mc:Fallback>
                <p:oleObj name="AxMath" r:id="rId5" imgW="1143000" imgH="1143000" progId="Equation.AxMath">
                  <p:embed/>
                  <p:pic>
                    <p:nvPicPr>
                      <p:cNvPr id="0" name="图片 6"/>
                      <p:cNvPicPr/>
                      <p:nvPr/>
                    </p:nvPicPr>
                    <p:blipFill>
                      <a:blip r:embed="rId6"/>
                      <a:stretch>
                        <a:fillRect/>
                      </a:stretch>
                    </p:blipFill>
                    <p:spPr>
                      <a:xfrm>
                        <a:off x="817531" y="1730670"/>
                        <a:ext cx="1203560" cy="474418"/>
                      </a:xfrm>
                      <a:prstGeom prst="rect">
                        <a:avLst/>
                      </a:prstGeom>
                    </p:spPr>
                  </p:pic>
                </p:oleObj>
              </mc:Fallback>
            </mc:AlternateContent>
          </a:graphicData>
        </a:graphic>
      </p:graphicFrame>
      <p:pic>
        <p:nvPicPr>
          <p:cNvPr id="12" name="图片 11"/>
          <p:cNvPicPr>
            <a:picLocks noChangeAspect="1"/>
          </p:cNvPicPr>
          <p:nvPr/>
        </p:nvPicPr>
        <p:blipFill>
          <a:blip r:embed="rId7"/>
          <a:stretch>
            <a:fillRect/>
          </a:stretch>
        </p:blipFill>
        <p:spPr>
          <a:xfrm>
            <a:off x="3422426" y="3548785"/>
            <a:ext cx="4557155" cy="2644369"/>
          </a:xfrm>
          <a:prstGeom prst="rect">
            <a:avLst/>
          </a:prstGeom>
        </p:spPr>
      </p:pic>
      <p:sp>
        <p:nvSpPr>
          <p:cNvPr id="13" name="文本框 12"/>
          <p:cNvSpPr txBox="1"/>
          <p:nvPr/>
        </p:nvSpPr>
        <p:spPr>
          <a:xfrm>
            <a:off x="817531" y="3179453"/>
            <a:ext cx="5368665" cy="400110"/>
          </a:xfrm>
          <a:prstGeom prst="rect">
            <a:avLst/>
          </a:prstGeom>
          <a:noFill/>
        </p:spPr>
        <p:txBody>
          <a:bodyPr wrap="square" rtlCol="0">
            <a:spAutoFit/>
          </a:bodyPr>
          <a:lstStyle/>
          <a:p>
            <a:r>
              <a:rPr lang="zh-CN" altLang="en-US" sz="2000" dirty="0">
                <a:latin typeface="黑体" panose="02010609060101010101" pitchFamily="49" charset="-122"/>
                <a:ea typeface="黑体" panose="02010609060101010101" pitchFamily="49" charset="-122"/>
              </a:rPr>
              <a:t>此时，可行解必须落在可行域之内，如图所示</a:t>
            </a:r>
            <a:endParaRPr lang="zh-CN" altLang="en-US" sz="2000" dirty="0">
              <a:latin typeface="黑体" panose="02010609060101010101" pitchFamily="49" charset="-122"/>
              <a:ea typeface="黑体" panose="02010609060101010101" pitchFamily="49"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ph type="title"/>
          </p:nvPr>
        </p:nvSpPr>
        <p:spPr>
          <a:xfrm>
            <a:off x="357188" y="214727"/>
            <a:ext cx="7886700" cy="570310"/>
          </a:xfrm>
        </p:spPr>
        <p:txBody>
          <a:bodyPr vert="horz" lIns="91440" tIns="45720" rIns="91440" bIns="45720" rtlCol="0" anchor="ctr">
            <a:normAutofit fontScale="90000"/>
          </a:bodyPr>
          <a:lstStyle/>
          <a:p>
            <a:r>
              <a:rPr lang="zh-CN" altLang="en-US" dirty="0">
                <a:latin typeface="黑体" panose="02010609060101010101" pitchFamily="49" charset="-122"/>
                <a:ea typeface="黑体" panose="02010609060101010101" pitchFamily="49" charset="-122"/>
              </a:rPr>
              <a:t>不等式约束优化问题</a:t>
            </a:r>
            <a:endParaRPr altLang="zh-CN" dirty="0">
              <a:latin typeface="黑体" panose="02010609060101010101" pitchFamily="49" charset="-122"/>
              <a:ea typeface="黑体" panose="02010609060101010101" pitchFamily="49" charset="-122"/>
            </a:endParaRPr>
          </a:p>
        </p:txBody>
      </p:sp>
      <p:pic>
        <p:nvPicPr>
          <p:cNvPr id="3" name="图片 2"/>
          <p:cNvPicPr>
            <a:picLocks noChangeAspect="1"/>
          </p:cNvPicPr>
          <p:nvPr/>
        </p:nvPicPr>
        <p:blipFill>
          <a:blip r:embed="rId1"/>
          <a:stretch>
            <a:fillRect/>
          </a:stretch>
        </p:blipFill>
        <p:spPr>
          <a:xfrm>
            <a:off x="922564" y="2910251"/>
            <a:ext cx="7147249" cy="2680767"/>
          </a:xfrm>
          <a:prstGeom prst="rect">
            <a:avLst/>
          </a:prstGeom>
        </p:spPr>
      </p:pic>
      <p:sp>
        <p:nvSpPr>
          <p:cNvPr id="6" name="文本框 5"/>
          <p:cNvSpPr txBox="1"/>
          <p:nvPr/>
        </p:nvSpPr>
        <p:spPr>
          <a:xfrm>
            <a:off x="156288" y="1119394"/>
            <a:ext cx="8679802" cy="1706878"/>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b="1" i="0" dirty="0">
                <a:solidFill>
                  <a:srgbClr val="C00000"/>
                </a:solidFill>
                <a:effectLst/>
                <a:latin typeface="黑体" panose="02010609060101010101" pitchFamily="49" charset="-122"/>
                <a:ea typeface="黑体" panose="02010609060101010101" pitchFamily="49" charset="-122"/>
              </a:rPr>
              <a:t>约束不起作用</a:t>
            </a:r>
            <a:r>
              <a:rPr lang="zh-CN" altLang="en-US" b="1" i="0" dirty="0">
                <a:solidFill>
                  <a:srgbClr val="0F1115"/>
                </a:solidFill>
                <a:effectLst/>
                <a:latin typeface="黑体" panose="02010609060101010101" pitchFamily="49" charset="-122"/>
                <a:ea typeface="黑体" panose="02010609060101010101" pitchFamily="49" charset="-122"/>
              </a:rPr>
              <a:t>（         ）</a:t>
            </a:r>
            <a:r>
              <a:rPr lang="zh-CN" altLang="en-US" b="0" i="0" dirty="0">
                <a:solidFill>
                  <a:srgbClr val="0F1115"/>
                </a:solidFill>
                <a:effectLst/>
                <a:latin typeface="黑体" panose="02010609060101010101" pitchFamily="49" charset="-122"/>
                <a:ea typeface="黑体" panose="02010609060101010101" pitchFamily="49" charset="-122"/>
              </a:rPr>
              <a:t>：此时可行点位于可行域内部，约束实际上不影响极值，问题退化为无约束优化问题。最优</a:t>
            </a:r>
            <a:r>
              <a:rPr lang="zh-CN" altLang="en-US" dirty="0">
                <a:latin typeface="黑体" panose="02010609060101010101" pitchFamily="49" charset="-122"/>
                <a:ea typeface="黑体" panose="02010609060101010101" pitchFamily="49" charset="-122"/>
              </a:rPr>
              <a:t>点应满足            ，此时       。</a:t>
            </a:r>
            <a:endParaRPr lang="en-US" altLang="zh-CN" dirty="0">
              <a:latin typeface="黑体" panose="02010609060101010101" pitchFamily="49" charset="-122"/>
              <a:ea typeface="黑体" panose="02010609060101010101" pitchFamily="49" charset="-122"/>
            </a:endParaRPr>
          </a:p>
          <a:p>
            <a:pPr marL="285750" indent="-285750">
              <a:lnSpc>
                <a:spcPct val="150000"/>
              </a:lnSpc>
              <a:buFont typeface="Arial" panose="020B0604020202020204" pitchFamily="34" charset="0"/>
              <a:buChar char="•"/>
            </a:pPr>
            <a:r>
              <a:rPr lang="zh-CN" altLang="en-US" b="1" i="0" dirty="0">
                <a:solidFill>
                  <a:srgbClr val="C00000"/>
                </a:solidFill>
                <a:effectLst/>
                <a:latin typeface="黑体" panose="02010609060101010101" pitchFamily="49" charset="-122"/>
                <a:ea typeface="黑体" panose="02010609060101010101" pitchFamily="49" charset="-122"/>
              </a:rPr>
              <a:t>约束起作用</a:t>
            </a:r>
            <a:r>
              <a:rPr lang="zh-CN" altLang="en-US" b="1" i="0" dirty="0">
                <a:solidFill>
                  <a:srgbClr val="0F1115"/>
                </a:solidFill>
                <a:effectLst/>
                <a:latin typeface="黑体" panose="02010609060101010101" pitchFamily="49" charset="-122"/>
                <a:ea typeface="黑体" panose="02010609060101010101" pitchFamily="49" charset="-122"/>
              </a:rPr>
              <a:t>（         ）</a:t>
            </a:r>
            <a:r>
              <a:rPr lang="zh-CN" altLang="en-US" b="0" i="0" dirty="0">
                <a:solidFill>
                  <a:srgbClr val="0F1115"/>
                </a:solidFill>
                <a:effectLst/>
                <a:latin typeface="黑体" panose="02010609060101010101" pitchFamily="49" charset="-122"/>
                <a:ea typeface="黑体" panose="02010609060101010101" pitchFamily="49" charset="-122"/>
              </a:rPr>
              <a:t>：此时最优点位于边界上，类似于等式约束的情况。</a:t>
            </a:r>
            <a:br>
              <a:rPr lang="zh-CN" altLang="en-US" b="0" i="0" dirty="0">
                <a:solidFill>
                  <a:srgbClr val="0F1115"/>
                </a:solidFill>
                <a:effectLst/>
                <a:latin typeface="KaTeX_Main"/>
              </a:rPr>
            </a:br>
            <a:r>
              <a:rPr lang="zh-CN" altLang="en-US" b="0" i="0" dirty="0">
                <a:solidFill>
                  <a:srgbClr val="0F1115"/>
                </a:solidFill>
                <a:effectLst/>
                <a:latin typeface="KaTeX_Main"/>
              </a:rPr>
              <a:t>    </a:t>
            </a:r>
            <a:endParaRPr lang="zh-CN" altLang="en-US" dirty="0">
              <a:latin typeface="黑体" panose="02010609060101010101" pitchFamily="49" charset="-122"/>
              <a:ea typeface="黑体" panose="02010609060101010101" pitchFamily="49" charset="-122"/>
            </a:endParaRPr>
          </a:p>
        </p:txBody>
      </p:sp>
      <p:graphicFrame>
        <p:nvGraphicFramePr>
          <p:cNvPr id="7" name="对象 6"/>
          <p:cNvGraphicFramePr>
            <a:graphicFrameLocks noChangeAspect="1"/>
          </p:cNvGraphicFramePr>
          <p:nvPr/>
        </p:nvGraphicFramePr>
        <p:xfrm>
          <a:off x="2161721" y="1203373"/>
          <a:ext cx="999830" cy="394112"/>
        </p:xfrm>
        <a:graphic>
          <a:graphicData uri="http://schemas.openxmlformats.org/presentationml/2006/ole">
            <mc:AlternateContent xmlns:mc="http://schemas.openxmlformats.org/markup-compatibility/2006">
              <mc:Choice xmlns:v="urn:schemas-microsoft-com:vml" Requires="v">
                <p:oleObj spid="_x0000_s32" name="AxMath" r:id="rId2" imgW="1143000" imgH="1143000" progId="Equation.AxMath">
                  <p:embed/>
                </p:oleObj>
              </mc:Choice>
              <mc:Fallback>
                <p:oleObj name="AxMath" r:id="rId2" imgW="1143000" imgH="1143000" progId="Equation.AxMath">
                  <p:embed/>
                  <p:pic>
                    <p:nvPicPr>
                      <p:cNvPr id="0" name="图片 31"/>
                      <p:cNvPicPr/>
                      <p:nvPr/>
                    </p:nvPicPr>
                    <p:blipFill>
                      <a:blip r:embed="rId3"/>
                      <a:stretch>
                        <a:fillRect/>
                      </a:stretch>
                    </p:blipFill>
                    <p:spPr>
                      <a:xfrm>
                        <a:off x="2161721" y="1203373"/>
                        <a:ext cx="999830" cy="394112"/>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5324176" y="1639535"/>
          <a:ext cx="1316549" cy="394574"/>
        </p:xfrm>
        <a:graphic>
          <a:graphicData uri="http://schemas.openxmlformats.org/presentationml/2006/ole">
            <mc:AlternateContent xmlns:mc="http://schemas.openxmlformats.org/markup-compatibility/2006">
              <mc:Choice xmlns:v="urn:schemas-microsoft-com:vml" Requires="v">
                <p:oleObj spid="_x0000_s2" name="AxMath" r:id="rId4" imgW="1143000" imgH="1143000" progId="Equation.AxMath">
                  <p:embed/>
                </p:oleObj>
              </mc:Choice>
              <mc:Fallback>
                <p:oleObj name="AxMath" r:id="rId4" imgW="1143000" imgH="1143000" progId="Equation.AxMath">
                  <p:embed/>
                  <p:pic>
                    <p:nvPicPr>
                      <p:cNvPr id="0" name="图片 1"/>
                      <p:cNvPicPr/>
                      <p:nvPr/>
                    </p:nvPicPr>
                    <p:blipFill>
                      <a:blip r:embed="rId5"/>
                      <a:stretch>
                        <a:fillRect/>
                      </a:stretch>
                    </p:blipFill>
                    <p:spPr>
                      <a:xfrm>
                        <a:off x="5324176" y="1639535"/>
                        <a:ext cx="1316549" cy="394574"/>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7447285" y="1615979"/>
          <a:ext cx="719299" cy="418130"/>
        </p:xfrm>
        <a:graphic>
          <a:graphicData uri="http://schemas.openxmlformats.org/presentationml/2006/ole">
            <mc:AlternateContent xmlns:mc="http://schemas.openxmlformats.org/markup-compatibility/2006">
              <mc:Choice xmlns:v="urn:schemas-microsoft-com:vml" Requires="v">
                <p:oleObj spid="_x0000_s4" name="AxMath" r:id="rId6" imgW="1143000" imgH="1143000" progId="Equation.AxMath">
                  <p:embed/>
                </p:oleObj>
              </mc:Choice>
              <mc:Fallback>
                <p:oleObj name="AxMath" r:id="rId6" imgW="1143000" imgH="1143000" progId="Equation.AxMath">
                  <p:embed/>
                  <p:pic>
                    <p:nvPicPr>
                      <p:cNvPr id="0" name="图片 3"/>
                      <p:cNvPicPr/>
                      <p:nvPr/>
                    </p:nvPicPr>
                    <p:blipFill>
                      <a:blip r:embed="rId7"/>
                      <a:stretch>
                        <a:fillRect/>
                      </a:stretch>
                    </p:blipFill>
                    <p:spPr>
                      <a:xfrm>
                        <a:off x="7447285" y="1615979"/>
                        <a:ext cx="719299" cy="418130"/>
                      </a:xfrm>
                      <a:prstGeom prst="rect">
                        <a:avLst/>
                      </a:prstGeom>
                    </p:spPr>
                  </p:pic>
                </p:oleObj>
              </mc:Fallback>
            </mc:AlternateContent>
          </a:graphicData>
        </a:graphic>
      </p:graphicFrame>
      <p:graphicFrame>
        <p:nvGraphicFramePr>
          <p:cNvPr id="10" name="对象 9"/>
          <p:cNvGraphicFramePr>
            <a:graphicFrameLocks noChangeAspect="1"/>
          </p:cNvGraphicFramePr>
          <p:nvPr/>
        </p:nvGraphicFramePr>
        <p:xfrm>
          <a:off x="1993769" y="1996368"/>
          <a:ext cx="999830" cy="394112"/>
        </p:xfrm>
        <a:graphic>
          <a:graphicData uri="http://schemas.openxmlformats.org/presentationml/2006/ole">
            <mc:AlternateContent xmlns:mc="http://schemas.openxmlformats.org/markup-compatibility/2006">
              <mc:Choice xmlns:v="urn:schemas-microsoft-com:vml" Requires="v">
                <p:oleObj spid="_x0000_s11" name="AxMath" r:id="rId8" imgW="1143000" imgH="1143000" progId="Equation.AxMath">
                  <p:embed/>
                </p:oleObj>
              </mc:Choice>
              <mc:Fallback>
                <p:oleObj name="AxMath" r:id="rId8" imgW="1143000" imgH="1143000" progId="Equation.AxMath">
                  <p:embed/>
                  <p:pic>
                    <p:nvPicPr>
                      <p:cNvPr id="0" name="图片 10"/>
                      <p:cNvPicPr/>
                      <p:nvPr/>
                    </p:nvPicPr>
                    <p:blipFill>
                      <a:blip r:embed="rId9"/>
                      <a:stretch>
                        <a:fillRect/>
                      </a:stretch>
                    </p:blipFill>
                    <p:spPr>
                      <a:xfrm>
                        <a:off x="1993769" y="1996368"/>
                        <a:ext cx="999830" cy="394112"/>
                      </a:xfrm>
                      <a:prstGeom prst="rect">
                        <a:avLst/>
                      </a:prstGeom>
                    </p:spPr>
                  </p:pic>
                </p:oleObj>
              </mc:Fallback>
            </mc:AlternateContent>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2967327" y="3176421"/>
            <a:ext cx="5354744" cy="3122540"/>
          </a:xfrm>
          <a:prstGeom prst="rect">
            <a:avLst/>
          </a:prstGeom>
        </p:spPr>
      </p:pic>
      <p:sp>
        <p:nvSpPr>
          <p:cNvPr id="5" name="标题 1"/>
          <p:cNvSpPr>
            <a:spLocks noGrp="1"/>
          </p:cNvSpPr>
          <p:nvPr>
            <p:ph type="title"/>
          </p:nvPr>
        </p:nvSpPr>
        <p:spPr>
          <a:xfrm>
            <a:off x="225213" y="186446"/>
            <a:ext cx="7886700" cy="570310"/>
          </a:xfrm>
        </p:spPr>
        <p:txBody>
          <a:bodyPr vert="horz" lIns="91440" tIns="45720" rIns="91440" bIns="45720" rtlCol="0" anchor="ctr">
            <a:normAutofit fontScale="90000"/>
          </a:bodyPr>
          <a:lstStyle/>
          <a:p>
            <a:r>
              <a:rPr lang="zh-CN" altLang="en-US" dirty="0">
                <a:latin typeface="黑体" panose="02010609060101010101" pitchFamily="49" charset="-122"/>
                <a:ea typeface="黑体" panose="02010609060101010101" pitchFamily="49" charset="-122"/>
              </a:rPr>
              <a:t>不等式约束优化问题</a:t>
            </a:r>
            <a:endParaRPr altLang="zh-CN" dirty="0">
              <a:latin typeface="黑体" panose="02010609060101010101" pitchFamily="49" charset="-122"/>
              <a:ea typeface="黑体" panose="02010609060101010101" pitchFamily="49" charset="-122"/>
            </a:endParaRPr>
          </a:p>
        </p:txBody>
      </p:sp>
      <p:sp>
        <p:nvSpPr>
          <p:cNvPr id="3" name="文本框 2"/>
          <p:cNvSpPr txBox="1"/>
          <p:nvPr/>
        </p:nvSpPr>
        <p:spPr>
          <a:xfrm>
            <a:off x="391885" y="1485689"/>
            <a:ext cx="8378891" cy="2336730"/>
          </a:xfrm>
          <a:prstGeom prst="rect">
            <a:avLst/>
          </a:prstGeom>
          <a:noFill/>
        </p:spPr>
        <p:txBody>
          <a:bodyPr wrap="square">
            <a:spAutoFit/>
          </a:bodyPr>
          <a:lstStyle/>
          <a:p>
            <a:pPr>
              <a:lnSpc>
                <a:spcPct val="150000"/>
              </a:lnSpc>
            </a:pPr>
            <a:r>
              <a:rPr lang="zh-CN" altLang="en-US" sz="2000" b="0" i="0" dirty="0">
                <a:solidFill>
                  <a:srgbClr val="0F1115"/>
                </a:solidFill>
                <a:effectLst/>
                <a:latin typeface="黑体" panose="02010609060101010101" pitchFamily="49" charset="-122"/>
                <a:ea typeface="黑体" panose="02010609060101010101" pitchFamily="49" charset="-122"/>
              </a:rPr>
              <a:t>这里         时与等式约束有一个关键区别：不等式约束限制了可行方向只能指向约束曲面内侧（即         的区域）。在边界上，沿着约束曲面的切向移动可能进入内部或外部，但只有指向内部的方向是可行的（尽量靠近无约束的解），即</a:t>
            </a:r>
            <a:r>
              <a:rPr lang="zh-CN" altLang="en-US" sz="2000" b="0" i="0" dirty="0">
                <a:solidFill>
                  <a:schemeClr val="accent4"/>
                </a:solidFill>
                <a:effectLst/>
                <a:latin typeface="黑体" panose="02010609060101010101" pitchFamily="49" charset="-122"/>
                <a:ea typeface="黑体" panose="02010609060101010101" pitchFamily="49" charset="-122"/>
              </a:rPr>
              <a:t>约束函数的梯度方向与目标函数的负梯度方向相同</a:t>
            </a:r>
            <a:r>
              <a:rPr lang="zh-CN" altLang="en-US" sz="2000" b="0" i="0" dirty="0">
                <a:solidFill>
                  <a:srgbClr val="0F1115"/>
                </a:solidFill>
                <a:effectLst/>
                <a:latin typeface="黑体" panose="02010609060101010101" pitchFamily="49" charset="-122"/>
                <a:ea typeface="黑体" panose="02010609060101010101" pitchFamily="49" charset="-122"/>
              </a:rPr>
              <a:t>：</a:t>
            </a:r>
            <a:endParaRPr lang="zh-CN" altLang="en-US" sz="2000" dirty="0"/>
          </a:p>
        </p:txBody>
      </p:sp>
      <p:sp>
        <p:nvSpPr>
          <p:cNvPr id="8" name="文本框 7"/>
          <p:cNvSpPr txBox="1"/>
          <p:nvPr/>
        </p:nvSpPr>
        <p:spPr>
          <a:xfrm>
            <a:off x="391885" y="991982"/>
            <a:ext cx="2420779" cy="400110"/>
          </a:xfrm>
          <a:prstGeom prst="rect">
            <a:avLst/>
          </a:prstGeom>
          <a:noFill/>
        </p:spPr>
        <p:txBody>
          <a:bodyPr wrap="square" rtlCol="0">
            <a:spAutoFit/>
          </a:bodyPr>
          <a:lstStyle/>
          <a:p>
            <a:r>
              <a:rPr lang="zh-CN" altLang="en-US" sz="2000" dirty="0">
                <a:latin typeface="黑体" panose="02010609060101010101" pitchFamily="49" charset="-122"/>
                <a:ea typeface="黑体" panose="02010609060101010101" pitchFamily="49" charset="-122"/>
              </a:rPr>
              <a:t>因此，可行解满足：</a:t>
            </a:r>
            <a:endParaRPr lang="zh-CN" altLang="en-US" sz="2000" dirty="0">
              <a:latin typeface="黑体" panose="02010609060101010101" pitchFamily="49" charset="-122"/>
              <a:ea typeface="黑体" panose="02010609060101010101" pitchFamily="49" charset="-122"/>
            </a:endParaRPr>
          </a:p>
        </p:txBody>
      </p:sp>
      <p:graphicFrame>
        <p:nvGraphicFramePr>
          <p:cNvPr id="9" name="对象 8"/>
          <p:cNvGraphicFramePr>
            <a:graphicFrameLocks noChangeAspect="1"/>
          </p:cNvGraphicFramePr>
          <p:nvPr/>
        </p:nvGraphicFramePr>
        <p:xfrm>
          <a:off x="2885644" y="1001970"/>
          <a:ext cx="1452238" cy="503216"/>
        </p:xfrm>
        <a:graphic>
          <a:graphicData uri="http://schemas.openxmlformats.org/presentationml/2006/ole">
            <mc:AlternateContent xmlns:mc="http://schemas.openxmlformats.org/markup-compatibility/2006">
              <mc:Choice xmlns:v="urn:schemas-microsoft-com:vml" Requires="v">
                <p:oleObj spid="_x0000_s32" name="AxMath" r:id="rId2" imgW="1143000" imgH="1143000" progId="Equation.AxMath">
                  <p:embed/>
                </p:oleObj>
              </mc:Choice>
              <mc:Fallback>
                <p:oleObj name="AxMath" r:id="rId2" imgW="1143000" imgH="1143000" progId="Equation.AxMath">
                  <p:embed/>
                  <p:pic>
                    <p:nvPicPr>
                      <p:cNvPr id="0" name="图片 31"/>
                      <p:cNvPicPr/>
                      <p:nvPr/>
                    </p:nvPicPr>
                    <p:blipFill>
                      <a:blip r:embed="rId3"/>
                      <a:stretch>
                        <a:fillRect/>
                      </a:stretch>
                    </p:blipFill>
                    <p:spPr>
                      <a:xfrm>
                        <a:off x="2885644" y="1001970"/>
                        <a:ext cx="1452238" cy="503216"/>
                      </a:xfrm>
                      <a:prstGeom prst="rect">
                        <a:avLst/>
                      </a:prstGeom>
                    </p:spPr>
                  </p:pic>
                </p:oleObj>
              </mc:Fallback>
            </mc:AlternateContent>
          </a:graphicData>
        </a:graphic>
      </p:graphicFrame>
      <p:graphicFrame>
        <p:nvGraphicFramePr>
          <p:cNvPr id="10" name="对象 9"/>
          <p:cNvGraphicFramePr>
            <a:graphicFrameLocks noChangeAspect="1"/>
          </p:cNvGraphicFramePr>
          <p:nvPr/>
        </p:nvGraphicFramePr>
        <p:xfrm>
          <a:off x="994329" y="1576488"/>
          <a:ext cx="1105060" cy="435591"/>
        </p:xfrm>
        <a:graphic>
          <a:graphicData uri="http://schemas.openxmlformats.org/presentationml/2006/ole">
            <mc:AlternateContent xmlns:mc="http://schemas.openxmlformats.org/markup-compatibility/2006">
              <mc:Choice xmlns:v="urn:schemas-microsoft-com:vml" Requires="v">
                <p:oleObj spid="_x0000_s2" name="AxMath" r:id="rId4" imgW="1143000" imgH="1143000" progId="Equation.AxMath">
                  <p:embed/>
                </p:oleObj>
              </mc:Choice>
              <mc:Fallback>
                <p:oleObj name="AxMath" r:id="rId4" imgW="1143000" imgH="1143000" progId="Equation.AxMath">
                  <p:embed/>
                  <p:pic>
                    <p:nvPicPr>
                      <p:cNvPr id="0" name="对象 9"/>
                      <p:cNvPicPr/>
                      <p:nvPr/>
                    </p:nvPicPr>
                    <p:blipFill>
                      <a:blip r:embed="rId5"/>
                      <a:stretch>
                        <a:fillRect/>
                      </a:stretch>
                    </p:blipFill>
                    <p:spPr>
                      <a:xfrm>
                        <a:off x="994329" y="1576488"/>
                        <a:ext cx="1105060" cy="435591"/>
                      </a:xfrm>
                      <a:prstGeom prst="rect">
                        <a:avLst/>
                      </a:prstGeom>
                    </p:spPr>
                  </p:pic>
                </p:oleObj>
              </mc:Fallback>
            </mc:AlternateContent>
          </a:graphicData>
        </a:graphic>
      </p:graphicFrame>
      <p:graphicFrame>
        <p:nvGraphicFramePr>
          <p:cNvPr id="11" name="对象 10"/>
          <p:cNvGraphicFramePr>
            <a:graphicFrameLocks noChangeAspect="1"/>
          </p:cNvGraphicFramePr>
          <p:nvPr/>
        </p:nvGraphicFramePr>
        <p:xfrm>
          <a:off x="3767864" y="2029411"/>
          <a:ext cx="1140037" cy="449379"/>
        </p:xfrm>
        <a:graphic>
          <a:graphicData uri="http://schemas.openxmlformats.org/presentationml/2006/ole">
            <mc:AlternateContent xmlns:mc="http://schemas.openxmlformats.org/markup-compatibility/2006">
              <mc:Choice xmlns:v="urn:schemas-microsoft-com:vml" Requires="v">
                <p:oleObj spid="_x0000_s6" name="AxMath" r:id="rId6" imgW="1143000" imgH="1143000" progId="Equation.AxMath">
                  <p:embed/>
                </p:oleObj>
              </mc:Choice>
              <mc:Fallback>
                <p:oleObj name="AxMath" r:id="rId6" imgW="1143000" imgH="1143000" progId="Equation.AxMath">
                  <p:embed/>
                  <p:pic>
                    <p:nvPicPr>
                      <p:cNvPr id="0" name="图片 5"/>
                      <p:cNvPicPr/>
                      <p:nvPr/>
                    </p:nvPicPr>
                    <p:blipFill>
                      <a:blip r:embed="rId7"/>
                      <a:stretch>
                        <a:fillRect/>
                      </a:stretch>
                    </p:blipFill>
                    <p:spPr>
                      <a:xfrm>
                        <a:off x="3767864" y="2029411"/>
                        <a:ext cx="1140037" cy="449379"/>
                      </a:xfrm>
                      <a:prstGeom prst="rect">
                        <a:avLst/>
                      </a:prstGeom>
                    </p:spPr>
                  </p:pic>
                </p:oleObj>
              </mc:Fallback>
            </mc:AlternateContent>
          </a:graphicData>
        </a:graphic>
      </p:graphicFrame>
      <p:graphicFrame>
        <p:nvGraphicFramePr>
          <p:cNvPr id="12" name="对象 11"/>
          <p:cNvGraphicFramePr>
            <a:graphicFrameLocks noChangeAspect="1"/>
          </p:cNvGraphicFramePr>
          <p:nvPr/>
        </p:nvGraphicFramePr>
        <p:xfrm>
          <a:off x="994329" y="3438986"/>
          <a:ext cx="3945997" cy="474232"/>
        </p:xfrm>
        <a:graphic>
          <a:graphicData uri="http://schemas.openxmlformats.org/presentationml/2006/ole">
            <mc:AlternateContent xmlns:mc="http://schemas.openxmlformats.org/markup-compatibility/2006">
              <mc:Choice xmlns:v="urn:schemas-microsoft-com:vml" Requires="v">
                <p:oleObj spid="_x0000_s7" name="AxMath" r:id="rId8" imgW="1143000" imgH="1143000" progId="Equation.AxMath">
                  <p:embed/>
                </p:oleObj>
              </mc:Choice>
              <mc:Fallback>
                <p:oleObj name="AxMath" r:id="rId8" imgW="1143000" imgH="1143000" progId="Equation.AxMath">
                  <p:embed/>
                  <p:pic>
                    <p:nvPicPr>
                      <p:cNvPr id="0" name="图片 6"/>
                      <p:cNvPicPr/>
                      <p:nvPr/>
                    </p:nvPicPr>
                    <p:blipFill>
                      <a:blip r:embed="rId9"/>
                      <a:stretch>
                        <a:fillRect/>
                      </a:stretch>
                    </p:blipFill>
                    <p:spPr>
                      <a:xfrm>
                        <a:off x="994329" y="3438986"/>
                        <a:ext cx="3945997" cy="474232"/>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ph type="title"/>
          </p:nvPr>
        </p:nvSpPr>
        <p:spPr>
          <a:xfrm>
            <a:off x="357188" y="214727"/>
            <a:ext cx="7886700" cy="570310"/>
          </a:xfrm>
        </p:spPr>
        <p:txBody>
          <a:bodyPr vert="horz" lIns="91440" tIns="45720" rIns="91440" bIns="45720" rtlCol="0" anchor="ctr">
            <a:normAutofit fontScale="90000"/>
          </a:bodyPr>
          <a:lstStyle/>
          <a:p>
            <a:r>
              <a:rPr lang="zh-CN" altLang="en-US" dirty="0">
                <a:latin typeface="黑体" panose="02010609060101010101" pitchFamily="49" charset="-122"/>
                <a:ea typeface="黑体" panose="02010609060101010101" pitchFamily="49" charset="-122"/>
              </a:rPr>
              <a:t>不等式约束优化问题</a:t>
            </a:r>
            <a:endParaRPr altLang="zh-CN" dirty="0">
              <a:latin typeface="黑体" panose="02010609060101010101" pitchFamily="49" charset="-122"/>
              <a:ea typeface="黑体" panose="02010609060101010101" pitchFamily="49" charset="-122"/>
            </a:endParaRPr>
          </a:p>
        </p:txBody>
      </p:sp>
      <p:sp>
        <p:nvSpPr>
          <p:cNvPr id="2" name="文本框 1"/>
          <p:cNvSpPr txBox="1"/>
          <p:nvPr/>
        </p:nvSpPr>
        <p:spPr>
          <a:xfrm>
            <a:off x="429209" y="952204"/>
            <a:ext cx="4801314" cy="369332"/>
          </a:xfrm>
          <a:prstGeom prst="rect">
            <a:avLst/>
          </a:prstGeom>
          <a:noFill/>
        </p:spPr>
        <p:txBody>
          <a:bodyPr wrap="none" rtlCol="0">
            <a:spAutoFit/>
          </a:bodyPr>
          <a:lstStyle/>
          <a:p>
            <a:r>
              <a:rPr lang="zh-CN" altLang="en-US" dirty="0">
                <a:latin typeface="黑体" panose="02010609060101010101" pitchFamily="49" charset="-122"/>
                <a:ea typeface="黑体" panose="02010609060101010101" pitchFamily="49" charset="-122"/>
              </a:rPr>
              <a:t>推广到多个不等式或等式约束的一般化问题：</a:t>
            </a:r>
            <a:endParaRPr lang="zh-CN" altLang="en-US" dirty="0">
              <a:latin typeface="黑体" panose="02010609060101010101" pitchFamily="49" charset="-122"/>
              <a:ea typeface="黑体" panose="02010609060101010101" pitchFamily="49" charset="-122"/>
            </a:endParaRPr>
          </a:p>
        </p:txBody>
      </p:sp>
      <p:graphicFrame>
        <p:nvGraphicFramePr>
          <p:cNvPr id="4" name="对象 3"/>
          <p:cNvGraphicFramePr>
            <a:graphicFrameLocks noChangeAspect="1"/>
          </p:cNvGraphicFramePr>
          <p:nvPr/>
        </p:nvGraphicFramePr>
        <p:xfrm>
          <a:off x="2279650" y="1292578"/>
          <a:ext cx="3265488" cy="1430337"/>
        </p:xfrm>
        <a:graphic>
          <a:graphicData uri="http://schemas.openxmlformats.org/presentationml/2006/ole">
            <mc:AlternateContent xmlns:mc="http://schemas.openxmlformats.org/markup-compatibility/2006">
              <mc:Choice xmlns:v="urn:schemas-microsoft-com:vml" Requires="v">
                <p:oleObj spid="_x0000_s32" name="AxMath" r:id="rId1" imgW="1143000" imgH="1143000" progId="Equation.AxMath">
                  <p:embed/>
                </p:oleObj>
              </mc:Choice>
              <mc:Fallback>
                <p:oleObj name="AxMath" r:id="rId1" imgW="1143000" imgH="1143000" progId="Equation.AxMath">
                  <p:embed/>
                  <p:pic>
                    <p:nvPicPr>
                      <p:cNvPr id="0" name="图片 31"/>
                      <p:cNvPicPr/>
                      <p:nvPr/>
                    </p:nvPicPr>
                    <p:blipFill>
                      <a:blip r:embed="rId2"/>
                      <a:stretch>
                        <a:fillRect/>
                      </a:stretch>
                    </p:blipFill>
                    <p:spPr>
                      <a:xfrm>
                        <a:off x="2279650" y="1292578"/>
                        <a:ext cx="3265488" cy="1430337"/>
                      </a:xfrm>
                      <a:prstGeom prst="rect">
                        <a:avLst/>
                      </a:prstGeom>
                    </p:spPr>
                  </p:pic>
                </p:oleObj>
              </mc:Fallback>
            </mc:AlternateContent>
          </a:graphicData>
        </a:graphic>
      </p:graphicFrame>
      <p:sp>
        <p:nvSpPr>
          <p:cNvPr id="7" name="文本框 6"/>
          <p:cNvSpPr txBox="1"/>
          <p:nvPr/>
        </p:nvSpPr>
        <p:spPr>
          <a:xfrm>
            <a:off x="472825" y="2746433"/>
            <a:ext cx="4641978" cy="369332"/>
          </a:xfrm>
          <a:prstGeom prst="rect">
            <a:avLst/>
          </a:prstGeom>
          <a:noFill/>
        </p:spPr>
        <p:txBody>
          <a:bodyPr wrap="square">
            <a:spAutoFit/>
          </a:bodyPr>
          <a:lstStyle/>
          <a:p>
            <a:r>
              <a:rPr lang="zh-CN" altLang="en-US" b="0" i="0" dirty="0">
                <a:solidFill>
                  <a:srgbClr val="0F1115"/>
                </a:solidFill>
                <a:effectLst/>
                <a:latin typeface="黑体" panose="02010609060101010101" pitchFamily="49" charset="-122"/>
                <a:ea typeface="黑体" panose="02010609060101010101" pitchFamily="49" charset="-122"/>
              </a:rPr>
              <a:t>构造广义拉格朗日函数：</a:t>
            </a:r>
            <a:endParaRPr lang="zh-CN" altLang="en-US" dirty="0">
              <a:latin typeface="黑体" panose="02010609060101010101" pitchFamily="49" charset="-122"/>
              <a:ea typeface="黑体" panose="02010609060101010101" pitchFamily="49" charset="-122"/>
            </a:endParaRPr>
          </a:p>
        </p:txBody>
      </p:sp>
      <p:graphicFrame>
        <p:nvGraphicFramePr>
          <p:cNvPr id="8" name="对象 7"/>
          <p:cNvGraphicFramePr>
            <a:graphicFrameLocks noChangeAspect="1"/>
          </p:cNvGraphicFramePr>
          <p:nvPr/>
        </p:nvGraphicFramePr>
        <p:xfrm>
          <a:off x="1755581" y="2963460"/>
          <a:ext cx="5802313" cy="892175"/>
        </p:xfrm>
        <a:graphic>
          <a:graphicData uri="http://schemas.openxmlformats.org/presentationml/2006/ole">
            <mc:AlternateContent xmlns:mc="http://schemas.openxmlformats.org/markup-compatibility/2006">
              <mc:Choice xmlns:v="urn:schemas-microsoft-com:vml" Requires="v">
                <p:oleObj spid="_x0000_s3" name="AxMath" r:id="rId3" imgW="1143000" imgH="1143000" progId="Equation.AxMath">
                  <p:embed/>
                </p:oleObj>
              </mc:Choice>
              <mc:Fallback>
                <p:oleObj name="AxMath" r:id="rId3" imgW="1143000" imgH="1143000" progId="Equation.AxMath">
                  <p:embed/>
                  <p:pic>
                    <p:nvPicPr>
                      <p:cNvPr id="0" name="图片 2"/>
                      <p:cNvPicPr/>
                      <p:nvPr/>
                    </p:nvPicPr>
                    <p:blipFill>
                      <a:blip r:embed="rId4"/>
                      <a:stretch>
                        <a:fillRect/>
                      </a:stretch>
                    </p:blipFill>
                    <p:spPr>
                      <a:xfrm>
                        <a:off x="1755581" y="2963460"/>
                        <a:ext cx="5802313" cy="892175"/>
                      </a:xfrm>
                      <a:prstGeom prst="rect">
                        <a:avLst/>
                      </a:prstGeom>
                    </p:spPr>
                  </p:pic>
                </p:oleObj>
              </mc:Fallback>
            </mc:AlternateContent>
          </a:graphicData>
        </a:graphic>
      </p:graphicFrame>
      <p:sp>
        <p:nvSpPr>
          <p:cNvPr id="10" name="文本框 9"/>
          <p:cNvSpPr txBox="1"/>
          <p:nvPr/>
        </p:nvSpPr>
        <p:spPr>
          <a:xfrm>
            <a:off x="429209" y="3811074"/>
            <a:ext cx="8714791" cy="3351367"/>
          </a:xfrm>
          <a:prstGeom prst="rect">
            <a:avLst/>
          </a:prstGeom>
          <a:noFill/>
        </p:spPr>
        <p:txBody>
          <a:bodyPr wrap="square">
            <a:spAutoFit/>
          </a:bodyPr>
          <a:lstStyle/>
          <a:p>
            <a:pPr>
              <a:lnSpc>
                <a:spcPct val="150000"/>
              </a:lnSpc>
            </a:pPr>
            <a:r>
              <a:rPr lang="zh-CN" altLang="en-US" b="0" i="0" dirty="0">
                <a:solidFill>
                  <a:srgbClr val="0F1115"/>
                </a:solidFill>
                <a:effectLst/>
                <a:latin typeface="黑体" panose="02010609060101010101" pitchFamily="49" charset="-122"/>
                <a:ea typeface="黑体" panose="02010609060101010101" pitchFamily="49" charset="-122"/>
              </a:rPr>
              <a:t>在最优解处（在一定正则性条件下），必须满足</a:t>
            </a:r>
            <a:r>
              <a:rPr lang="en-US" altLang="zh-CN" b="1" i="0" dirty="0">
                <a:solidFill>
                  <a:srgbClr val="0F1115"/>
                </a:solidFill>
                <a:effectLst/>
                <a:latin typeface="黑体" panose="02010609060101010101" pitchFamily="49" charset="-122"/>
                <a:ea typeface="黑体" panose="02010609060101010101" pitchFamily="49" charset="-122"/>
              </a:rPr>
              <a:t>KKT</a:t>
            </a:r>
            <a:r>
              <a:rPr lang="zh-CN" altLang="en-US" b="1" i="0" dirty="0">
                <a:solidFill>
                  <a:srgbClr val="0F1115"/>
                </a:solidFill>
                <a:effectLst/>
                <a:latin typeface="黑体" panose="02010609060101010101" pitchFamily="49" charset="-122"/>
                <a:ea typeface="黑体" panose="02010609060101010101" pitchFamily="49" charset="-122"/>
              </a:rPr>
              <a:t>（</a:t>
            </a:r>
            <a:r>
              <a:rPr lang="en-US" altLang="zh-CN" b="1" i="0" dirty="0">
                <a:solidFill>
                  <a:srgbClr val="0F1115"/>
                </a:solidFill>
                <a:effectLst/>
                <a:latin typeface="黑体" panose="02010609060101010101" pitchFamily="49" charset="-122"/>
                <a:ea typeface="黑体" panose="02010609060101010101" pitchFamily="49" charset="-122"/>
              </a:rPr>
              <a:t>Karush-Kuhn-Tucker</a:t>
            </a:r>
            <a:r>
              <a:rPr lang="zh-CN" altLang="en-US" b="1" i="0" dirty="0">
                <a:solidFill>
                  <a:srgbClr val="0F1115"/>
                </a:solidFill>
                <a:effectLst/>
                <a:latin typeface="黑体" panose="02010609060101010101" pitchFamily="49" charset="-122"/>
                <a:ea typeface="黑体" panose="02010609060101010101" pitchFamily="49" charset="-122"/>
              </a:rPr>
              <a:t>）条件</a:t>
            </a:r>
            <a:r>
              <a:rPr lang="zh-CN" altLang="en-US" b="0" i="0" dirty="0">
                <a:solidFill>
                  <a:srgbClr val="0F1115"/>
                </a:solidFill>
                <a:effectLst/>
                <a:latin typeface="黑体" panose="02010609060101010101" pitchFamily="49" charset="-122"/>
                <a:ea typeface="黑体" panose="02010609060101010101" pitchFamily="49" charset="-122"/>
              </a:rPr>
              <a:t>：</a:t>
            </a:r>
            <a:endParaRPr lang="en-US" altLang="zh-CN" b="0" i="0" dirty="0">
              <a:solidFill>
                <a:srgbClr val="0F1115"/>
              </a:solidFill>
              <a:effectLst/>
              <a:latin typeface="黑体" panose="02010609060101010101" pitchFamily="49" charset="-122"/>
              <a:ea typeface="黑体" panose="02010609060101010101" pitchFamily="49" charset="-122"/>
            </a:endParaRPr>
          </a:p>
          <a:p>
            <a:pPr marL="285750" indent="-285750">
              <a:lnSpc>
                <a:spcPct val="150000"/>
              </a:lnSpc>
              <a:buFont typeface="Arial" panose="020B0604020202020204" pitchFamily="34" charset="0"/>
              <a:buChar char="•"/>
            </a:pPr>
            <a:r>
              <a:rPr lang="zh-CN" altLang="en-US" dirty="0">
                <a:latin typeface="黑体" panose="02010609060101010101" pitchFamily="49" charset="-122"/>
                <a:ea typeface="黑体" panose="02010609060101010101" pitchFamily="49" charset="-122"/>
              </a:rPr>
              <a:t>梯度为零：</a:t>
            </a:r>
            <a:endParaRPr lang="en-US" altLang="zh-CN" dirty="0">
              <a:latin typeface="黑体" panose="02010609060101010101" pitchFamily="49" charset="-122"/>
              <a:ea typeface="黑体" panose="02010609060101010101" pitchFamily="49" charset="-122"/>
            </a:endParaRPr>
          </a:p>
          <a:p>
            <a:pPr marL="285750" indent="-285750">
              <a:lnSpc>
                <a:spcPct val="150000"/>
              </a:lnSpc>
              <a:buFont typeface="Arial" panose="020B0604020202020204" pitchFamily="34" charset="0"/>
              <a:buChar char="•"/>
            </a:pPr>
            <a:r>
              <a:rPr lang="zh-CN" altLang="en-US" dirty="0">
                <a:latin typeface="黑体" panose="02010609060101010101" pitchFamily="49" charset="-122"/>
                <a:ea typeface="黑体" panose="02010609060101010101" pitchFamily="49" charset="-122"/>
              </a:rPr>
              <a:t>原问题可行：</a:t>
            </a:r>
            <a:endParaRPr lang="en-US" altLang="zh-CN" dirty="0">
              <a:latin typeface="黑体" panose="02010609060101010101" pitchFamily="49" charset="-122"/>
              <a:ea typeface="黑体" panose="02010609060101010101" pitchFamily="49" charset="-122"/>
            </a:endParaRPr>
          </a:p>
          <a:p>
            <a:pPr marL="285750" indent="-285750">
              <a:lnSpc>
                <a:spcPct val="150000"/>
              </a:lnSpc>
              <a:buFont typeface="Arial" panose="020B0604020202020204" pitchFamily="34" charset="0"/>
              <a:buChar char="•"/>
            </a:pPr>
            <a:endParaRPr lang="en-US" altLang="zh-CN" dirty="0">
              <a:latin typeface="黑体" panose="02010609060101010101" pitchFamily="49" charset="-122"/>
              <a:ea typeface="黑体" panose="02010609060101010101" pitchFamily="49" charset="-122"/>
            </a:endParaRPr>
          </a:p>
          <a:p>
            <a:pPr marL="285750" indent="-285750">
              <a:lnSpc>
                <a:spcPct val="150000"/>
              </a:lnSpc>
              <a:buFont typeface="Arial" panose="020B0604020202020204" pitchFamily="34" charset="0"/>
              <a:buChar char="•"/>
            </a:pPr>
            <a:r>
              <a:rPr lang="zh-CN" altLang="en-US" dirty="0">
                <a:solidFill>
                  <a:srgbClr val="FF0000"/>
                </a:solidFill>
                <a:latin typeface="黑体" panose="02010609060101010101" pitchFamily="49" charset="-122"/>
                <a:ea typeface="黑体" panose="02010609060101010101" pitchFamily="49" charset="-122"/>
              </a:rPr>
              <a:t>对偶可行性：</a:t>
            </a:r>
            <a:endParaRPr lang="en-US" altLang="zh-CN" dirty="0">
              <a:solidFill>
                <a:srgbClr val="FF0000"/>
              </a:solidFill>
              <a:latin typeface="黑体" panose="02010609060101010101" pitchFamily="49" charset="-122"/>
              <a:ea typeface="黑体" panose="02010609060101010101" pitchFamily="49" charset="-122"/>
            </a:endParaRPr>
          </a:p>
          <a:p>
            <a:pPr marL="285750" indent="-285750">
              <a:lnSpc>
                <a:spcPct val="150000"/>
              </a:lnSpc>
              <a:buFont typeface="Arial" panose="020B0604020202020204" pitchFamily="34" charset="0"/>
              <a:buChar char="•"/>
            </a:pPr>
            <a:r>
              <a:rPr lang="zh-CN" altLang="en-US" dirty="0">
                <a:solidFill>
                  <a:srgbClr val="FF0000"/>
                </a:solidFill>
                <a:latin typeface="黑体" panose="02010609060101010101" pitchFamily="49" charset="-122"/>
                <a:ea typeface="黑体" panose="02010609060101010101" pitchFamily="49" charset="-122"/>
              </a:rPr>
              <a:t>互补松弛：</a:t>
            </a:r>
            <a:r>
              <a:rPr lang="zh-CN" altLang="en-US" dirty="0">
                <a:latin typeface="黑体" panose="02010609060101010101" pitchFamily="49" charset="-122"/>
                <a:ea typeface="黑体" panose="02010609060101010101" pitchFamily="49" charset="-122"/>
              </a:rPr>
              <a:t>   </a:t>
            </a:r>
            <a:endParaRPr lang="en-US" altLang="zh-CN" dirty="0">
              <a:latin typeface="黑体" panose="02010609060101010101" pitchFamily="49" charset="-122"/>
              <a:ea typeface="黑体" panose="02010609060101010101" pitchFamily="49" charset="-122"/>
            </a:endParaRPr>
          </a:p>
          <a:p>
            <a:pPr marL="285750" indent="-285750">
              <a:lnSpc>
                <a:spcPct val="150000"/>
              </a:lnSpc>
              <a:buFont typeface="Arial" panose="020B0604020202020204" pitchFamily="34" charset="0"/>
              <a:buChar char="•"/>
            </a:pPr>
            <a:endParaRPr lang="en-US" altLang="zh-CN" dirty="0">
              <a:latin typeface="黑体" panose="02010609060101010101" pitchFamily="49" charset="-122"/>
              <a:ea typeface="黑体" panose="02010609060101010101" pitchFamily="49" charset="-122"/>
            </a:endParaRPr>
          </a:p>
          <a:p>
            <a:pPr marL="285750" indent="-285750">
              <a:lnSpc>
                <a:spcPct val="150000"/>
              </a:lnSpc>
              <a:buFont typeface="Arial" panose="020B0604020202020204" pitchFamily="34" charset="0"/>
              <a:buChar char="•"/>
            </a:pPr>
            <a:endParaRPr lang="zh-CN" altLang="en-US" dirty="0">
              <a:latin typeface="黑体" panose="02010609060101010101" pitchFamily="49" charset="-122"/>
              <a:ea typeface="黑体" panose="02010609060101010101" pitchFamily="49" charset="-122"/>
            </a:endParaRPr>
          </a:p>
        </p:txBody>
      </p:sp>
      <p:graphicFrame>
        <p:nvGraphicFramePr>
          <p:cNvPr id="6" name="对象 5"/>
          <p:cNvGraphicFramePr>
            <a:graphicFrameLocks noChangeAspect="1"/>
          </p:cNvGraphicFramePr>
          <p:nvPr/>
        </p:nvGraphicFramePr>
        <p:xfrm>
          <a:off x="2180535" y="4344820"/>
          <a:ext cx="1783811" cy="368476"/>
        </p:xfrm>
        <a:graphic>
          <a:graphicData uri="http://schemas.openxmlformats.org/presentationml/2006/ole">
            <mc:AlternateContent xmlns:mc="http://schemas.openxmlformats.org/markup-compatibility/2006">
              <mc:Choice xmlns:v="urn:schemas-microsoft-com:vml" Requires="v">
                <p:oleObj spid="_x0000_s9" name="AxMath" r:id="rId5" imgW="1143000" imgH="1143000" progId="Equation.AxMath">
                  <p:embed/>
                </p:oleObj>
              </mc:Choice>
              <mc:Fallback>
                <p:oleObj name="AxMath" r:id="rId5" imgW="1143000" imgH="1143000" progId="Equation.AxMath">
                  <p:embed/>
                  <p:pic>
                    <p:nvPicPr>
                      <p:cNvPr id="0" name="图片 8"/>
                      <p:cNvPicPr/>
                      <p:nvPr/>
                    </p:nvPicPr>
                    <p:blipFill>
                      <a:blip r:embed="rId6"/>
                      <a:stretch>
                        <a:fillRect/>
                      </a:stretch>
                    </p:blipFill>
                    <p:spPr>
                      <a:xfrm>
                        <a:off x="2180535" y="4344820"/>
                        <a:ext cx="1783811" cy="368476"/>
                      </a:xfrm>
                      <a:prstGeom prst="rect">
                        <a:avLst/>
                      </a:prstGeom>
                    </p:spPr>
                  </p:pic>
                </p:oleObj>
              </mc:Fallback>
            </mc:AlternateContent>
          </a:graphicData>
        </a:graphic>
      </p:graphicFrame>
      <p:graphicFrame>
        <p:nvGraphicFramePr>
          <p:cNvPr id="11" name="对象 10"/>
          <p:cNvGraphicFramePr>
            <a:graphicFrameLocks noChangeAspect="1"/>
          </p:cNvGraphicFramePr>
          <p:nvPr/>
        </p:nvGraphicFramePr>
        <p:xfrm>
          <a:off x="2180535" y="4712811"/>
          <a:ext cx="2604158" cy="773946"/>
        </p:xfrm>
        <a:graphic>
          <a:graphicData uri="http://schemas.openxmlformats.org/presentationml/2006/ole">
            <mc:AlternateContent xmlns:mc="http://schemas.openxmlformats.org/markup-compatibility/2006">
              <mc:Choice xmlns:v="urn:schemas-microsoft-com:vml" Requires="v">
                <p:oleObj spid="_x0000_s12" name="AxMath" r:id="rId7" imgW="1143000" imgH="1143000" progId="Equation.AxMath">
                  <p:embed/>
                </p:oleObj>
              </mc:Choice>
              <mc:Fallback>
                <p:oleObj name="AxMath" r:id="rId7" imgW="1143000" imgH="1143000" progId="Equation.AxMath">
                  <p:embed/>
                  <p:pic>
                    <p:nvPicPr>
                      <p:cNvPr id="0" name="图片 11"/>
                      <p:cNvPicPr/>
                      <p:nvPr/>
                    </p:nvPicPr>
                    <p:blipFill>
                      <a:blip r:embed="rId8"/>
                      <a:stretch>
                        <a:fillRect/>
                      </a:stretch>
                    </p:blipFill>
                    <p:spPr>
                      <a:xfrm>
                        <a:off x="2180535" y="4712811"/>
                        <a:ext cx="2604158" cy="773946"/>
                      </a:xfrm>
                      <a:prstGeom prst="rect">
                        <a:avLst/>
                      </a:prstGeom>
                    </p:spPr>
                  </p:pic>
                </p:oleObj>
              </mc:Fallback>
            </mc:AlternateContent>
          </a:graphicData>
        </a:graphic>
      </p:graphicFrame>
      <p:graphicFrame>
        <p:nvGraphicFramePr>
          <p:cNvPr id="13" name="对象 12"/>
          <p:cNvGraphicFramePr>
            <a:graphicFrameLocks noChangeAspect="1"/>
          </p:cNvGraphicFramePr>
          <p:nvPr/>
        </p:nvGraphicFramePr>
        <p:xfrm>
          <a:off x="2180535" y="5546868"/>
          <a:ext cx="2287622" cy="368476"/>
        </p:xfrm>
        <a:graphic>
          <a:graphicData uri="http://schemas.openxmlformats.org/presentationml/2006/ole">
            <mc:AlternateContent xmlns:mc="http://schemas.openxmlformats.org/markup-compatibility/2006">
              <mc:Choice xmlns:v="urn:schemas-microsoft-com:vml" Requires="v">
                <p:oleObj spid="_x0000_s14" name="AxMath" r:id="rId9" imgW="1143000" imgH="1143000" progId="Equation.AxMath">
                  <p:embed/>
                </p:oleObj>
              </mc:Choice>
              <mc:Fallback>
                <p:oleObj name="AxMath" r:id="rId9" imgW="1143000" imgH="1143000" progId="Equation.AxMath">
                  <p:embed/>
                  <p:pic>
                    <p:nvPicPr>
                      <p:cNvPr id="0" name="图片 13"/>
                      <p:cNvPicPr/>
                      <p:nvPr/>
                    </p:nvPicPr>
                    <p:blipFill>
                      <a:blip r:embed="rId10"/>
                      <a:stretch>
                        <a:fillRect/>
                      </a:stretch>
                    </p:blipFill>
                    <p:spPr>
                      <a:xfrm>
                        <a:off x="2180535" y="5546868"/>
                        <a:ext cx="2287622" cy="368476"/>
                      </a:xfrm>
                      <a:prstGeom prst="rect">
                        <a:avLst/>
                      </a:prstGeom>
                    </p:spPr>
                  </p:pic>
                </p:oleObj>
              </mc:Fallback>
            </mc:AlternateContent>
          </a:graphicData>
        </a:graphic>
      </p:graphicFrame>
      <p:graphicFrame>
        <p:nvGraphicFramePr>
          <p:cNvPr id="15" name="对象 14"/>
          <p:cNvGraphicFramePr>
            <a:graphicFrameLocks noChangeAspect="1"/>
          </p:cNvGraphicFramePr>
          <p:nvPr/>
        </p:nvGraphicFramePr>
        <p:xfrm>
          <a:off x="2180535" y="5975456"/>
          <a:ext cx="2934268" cy="388973"/>
        </p:xfrm>
        <a:graphic>
          <a:graphicData uri="http://schemas.openxmlformats.org/presentationml/2006/ole">
            <mc:AlternateContent xmlns:mc="http://schemas.openxmlformats.org/markup-compatibility/2006">
              <mc:Choice xmlns:v="urn:schemas-microsoft-com:vml" Requires="v">
                <p:oleObj spid="_x0000_s16" name="AxMath" r:id="rId11" imgW="1143000" imgH="1143000" progId="Equation.AxMath">
                  <p:embed/>
                </p:oleObj>
              </mc:Choice>
              <mc:Fallback>
                <p:oleObj name="AxMath" r:id="rId11" imgW="1143000" imgH="1143000" progId="Equation.AxMath">
                  <p:embed/>
                  <p:pic>
                    <p:nvPicPr>
                      <p:cNvPr id="0" name="图片 15"/>
                      <p:cNvPicPr/>
                      <p:nvPr/>
                    </p:nvPicPr>
                    <p:blipFill>
                      <a:blip r:embed="rId12"/>
                      <a:stretch>
                        <a:fillRect/>
                      </a:stretch>
                    </p:blipFill>
                    <p:spPr>
                      <a:xfrm>
                        <a:off x="2180535" y="5975456"/>
                        <a:ext cx="2934268" cy="388973"/>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间隔与支持向量</a:t>
            </a:r>
            <a:endParaRPr lang="zh-CN" altLang="en-US" dirty="0">
              <a:latin typeface="黑体" panose="02010609060101010101" pitchFamily="49" charset="-122"/>
              <a:ea typeface="黑体" panose="02010609060101010101" pitchFamily="49" charset="-122"/>
            </a:endParaRPr>
          </a:p>
        </p:txBody>
      </p:sp>
      <p:sp>
        <p:nvSpPr>
          <p:cNvPr id="4" name="内容占位符 3"/>
          <p:cNvSpPr>
            <a:spLocks noGrp="1"/>
          </p:cNvSpPr>
          <p:nvPr>
            <p:ph idx="1"/>
          </p:nvPr>
        </p:nvSpPr>
        <p:spPr>
          <a:xfrm>
            <a:off x="202173" y="1339029"/>
            <a:ext cx="8616950" cy="451134"/>
          </a:xfrm>
        </p:spPr>
        <p:txBody>
          <a:bodyPr/>
          <a:lstStyle/>
          <a:p>
            <a:pPr marL="0" indent="0">
              <a:buNone/>
            </a:pP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超平面方程</a:t>
            </a:r>
            <a:r>
              <a:rPr lang="en-US" altLang="zh-CN" b="1" dirty="0">
                <a:latin typeface="黑体" panose="02010609060101010101" pitchFamily="49" charset="-122"/>
                <a:ea typeface="黑体" panose="02010609060101010101" pitchFamily="49" charset="-122"/>
              </a:rPr>
              <a:t>:</a:t>
            </a:r>
            <a:endParaRPr lang="zh-CN" altLang="en-US" b="1" dirty="0">
              <a:latin typeface="黑体" panose="02010609060101010101" pitchFamily="49" charset="-122"/>
              <a:ea typeface="黑体" panose="02010609060101010101" pitchFamily="49" charset="-122"/>
            </a:endParaRPr>
          </a:p>
        </p:txBody>
      </p:sp>
      <p:sp>
        <p:nvSpPr>
          <p:cNvPr id="69" name="内容占位符 3"/>
          <p:cNvSpPr txBox="1"/>
          <p:nvPr/>
        </p:nvSpPr>
        <p:spPr>
          <a:xfrm>
            <a:off x="7066078" y="2349045"/>
            <a:ext cx="778769" cy="451134"/>
          </a:xfrm>
          <a:prstGeom prst="rect">
            <a:avLst/>
          </a:prstGeom>
        </p:spPr>
        <p:txBody>
          <a:bodyPr vert="horz" lIns="91440" tIns="46800" rIns="91440" bIns="45720" rtlCol="0">
            <a:normAutofit/>
          </a:bodyPr>
          <a:lstStyle>
            <a:lvl1pPr marL="228600" indent="-360045" algn="l" defTabSz="914400" rtl="0" eaLnBrk="1" latinLnBrk="0" hangingPunct="1">
              <a:lnSpc>
                <a:spcPct val="90000"/>
              </a:lnSpc>
              <a:spcBef>
                <a:spcPts val="1000"/>
              </a:spcBef>
              <a:buClr>
                <a:schemeClr val="tx2"/>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rgbClr val="023A9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rgbClr val="023A9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rgbClr val="023A9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rgbClr val="023A9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b="1" dirty="0">
                <a:solidFill>
                  <a:srgbClr val="FF0000"/>
                </a:solidFill>
                <a:latin typeface="黑体" panose="02010609060101010101" pitchFamily="49" charset="-122"/>
                <a:ea typeface="黑体" panose="02010609060101010101" pitchFamily="49" charset="-122"/>
              </a:rPr>
              <a:t>间隔</a:t>
            </a:r>
            <a:endParaRPr lang="zh-CN" altLang="en-US" b="1" dirty="0">
              <a:solidFill>
                <a:srgbClr val="FF0000"/>
              </a:solidFill>
              <a:latin typeface="黑体" panose="02010609060101010101" pitchFamily="49" charset="-122"/>
              <a:ea typeface="黑体" panose="02010609060101010101" pitchFamily="49" charset="-122"/>
            </a:endParaRPr>
          </a:p>
        </p:txBody>
      </p:sp>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507760" y="1308221"/>
            <a:ext cx="1615580" cy="335309"/>
          </a:xfrm>
          <a:prstGeom prst="rect">
            <a:avLst/>
          </a:prstGeom>
        </p:spPr>
      </p:pic>
      <p:cxnSp>
        <p:nvCxnSpPr>
          <p:cNvPr id="153" name="直接箭头连接符 152"/>
          <p:cNvCxnSpPr/>
          <p:nvPr/>
        </p:nvCxnSpPr>
        <p:spPr>
          <a:xfrm flipH="1" flipV="1">
            <a:off x="2678982" y="2206222"/>
            <a:ext cx="0" cy="3121607"/>
          </a:xfrm>
          <a:prstGeom prst="straightConnector1">
            <a:avLst/>
          </a:prstGeom>
          <a:ln w="19050">
            <a:headEnd type="none" w="med" len="lg"/>
            <a:tailEnd type="triangle" w="lg" len="lg"/>
          </a:ln>
        </p:spPr>
        <p:style>
          <a:lnRef idx="1">
            <a:schemeClr val="dk1"/>
          </a:lnRef>
          <a:fillRef idx="0">
            <a:schemeClr val="dk1"/>
          </a:fillRef>
          <a:effectRef idx="0">
            <a:schemeClr val="dk1"/>
          </a:effectRef>
          <a:fontRef idx="minor">
            <a:schemeClr val="tx1"/>
          </a:fontRef>
        </p:style>
      </p:cxnSp>
      <p:cxnSp>
        <p:nvCxnSpPr>
          <p:cNvPr id="154" name="直接箭头连接符 153"/>
          <p:cNvCxnSpPr/>
          <p:nvPr/>
        </p:nvCxnSpPr>
        <p:spPr>
          <a:xfrm>
            <a:off x="2668639" y="5327903"/>
            <a:ext cx="3815968" cy="0"/>
          </a:xfrm>
          <a:prstGeom prst="straightConnector1">
            <a:avLst/>
          </a:prstGeom>
          <a:ln w="19050">
            <a:headEnd type="none" w="med" len="lg"/>
            <a:tailEnd type="triangle" w="lg" len="lg"/>
          </a:ln>
        </p:spPr>
        <p:style>
          <a:lnRef idx="1">
            <a:schemeClr val="dk1"/>
          </a:lnRef>
          <a:fillRef idx="0">
            <a:schemeClr val="dk1"/>
          </a:fillRef>
          <a:effectRef idx="0">
            <a:schemeClr val="dk1"/>
          </a:effectRef>
          <a:fontRef idx="minor">
            <a:schemeClr val="tx1"/>
          </a:fontRef>
        </p:style>
      </p:cxnSp>
      <p:sp>
        <p:nvSpPr>
          <p:cNvPr id="155" name="文本框 154"/>
          <p:cNvSpPr txBox="1"/>
          <p:nvPr/>
        </p:nvSpPr>
        <p:spPr>
          <a:xfrm>
            <a:off x="2439101" y="5226913"/>
            <a:ext cx="346307" cy="381254"/>
          </a:xfrm>
          <a:prstGeom prst="rect">
            <a:avLst/>
          </a:prstGeom>
          <a:noFill/>
        </p:spPr>
        <p:txBody>
          <a:bodyPr wrap="none" rtlCol="0">
            <a:spAutoFit/>
          </a:bodyPr>
          <a:lstStyle/>
          <a:p>
            <a:r>
              <a:rPr lang="en-US" altLang="zh-CN" sz="1400" dirty="0">
                <a:latin typeface="Times "/>
              </a:rPr>
              <a:t>0</a:t>
            </a:r>
            <a:endParaRPr lang="zh-CN" altLang="en-US" sz="1400" dirty="0">
              <a:latin typeface="Times "/>
            </a:endParaRPr>
          </a:p>
        </p:txBody>
      </p:sp>
      <p:grpSp>
        <p:nvGrpSpPr>
          <p:cNvPr id="156" name="组合 155"/>
          <p:cNvGrpSpPr/>
          <p:nvPr/>
        </p:nvGrpSpPr>
        <p:grpSpPr>
          <a:xfrm>
            <a:off x="4070926" y="2943678"/>
            <a:ext cx="136285" cy="133783"/>
            <a:chOff x="5476803" y="2392530"/>
            <a:chExt cx="108000" cy="108000"/>
          </a:xfrm>
        </p:grpSpPr>
        <p:cxnSp>
          <p:nvCxnSpPr>
            <p:cNvPr id="222" name="直接连接符 221"/>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223" name="直接连接符 222"/>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157" name="组合 156"/>
          <p:cNvGrpSpPr/>
          <p:nvPr/>
        </p:nvGrpSpPr>
        <p:grpSpPr>
          <a:xfrm>
            <a:off x="3910918" y="3748667"/>
            <a:ext cx="136285" cy="133783"/>
            <a:chOff x="5476803" y="2392530"/>
            <a:chExt cx="108000" cy="108000"/>
          </a:xfrm>
        </p:grpSpPr>
        <p:cxnSp>
          <p:nvCxnSpPr>
            <p:cNvPr id="220" name="直接连接符 219"/>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221" name="直接连接符 220"/>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158" name="组合 157"/>
          <p:cNvGrpSpPr/>
          <p:nvPr/>
        </p:nvGrpSpPr>
        <p:grpSpPr>
          <a:xfrm>
            <a:off x="3690624" y="3553066"/>
            <a:ext cx="136285" cy="133783"/>
            <a:chOff x="5476803" y="2392530"/>
            <a:chExt cx="108000" cy="108000"/>
          </a:xfrm>
        </p:grpSpPr>
        <p:cxnSp>
          <p:nvCxnSpPr>
            <p:cNvPr id="218" name="直接连接符 217"/>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219" name="直接连接符 218"/>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159" name="组合 158"/>
          <p:cNvGrpSpPr/>
          <p:nvPr/>
        </p:nvGrpSpPr>
        <p:grpSpPr>
          <a:xfrm>
            <a:off x="3235172" y="3833574"/>
            <a:ext cx="136285" cy="133783"/>
            <a:chOff x="5476803" y="2392530"/>
            <a:chExt cx="108000" cy="108000"/>
          </a:xfrm>
        </p:grpSpPr>
        <p:cxnSp>
          <p:nvCxnSpPr>
            <p:cNvPr id="216" name="直接连接符 215"/>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217" name="直接连接符 216"/>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160" name="组合 159"/>
          <p:cNvGrpSpPr/>
          <p:nvPr/>
        </p:nvGrpSpPr>
        <p:grpSpPr>
          <a:xfrm>
            <a:off x="3461079" y="4052203"/>
            <a:ext cx="136285" cy="133783"/>
            <a:chOff x="5476803" y="2392530"/>
            <a:chExt cx="108000" cy="108000"/>
          </a:xfrm>
        </p:grpSpPr>
        <p:cxnSp>
          <p:nvCxnSpPr>
            <p:cNvPr id="214" name="直接连接符 213"/>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215" name="直接连接符 214"/>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161" name="组合 160"/>
          <p:cNvGrpSpPr/>
          <p:nvPr/>
        </p:nvGrpSpPr>
        <p:grpSpPr>
          <a:xfrm>
            <a:off x="3902558" y="4044922"/>
            <a:ext cx="136285" cy="133783"/>
            <a:chOff x="5476803" y="2392530"/>
            <a:chExt cx="108000" cy="108000"/>
          </a:xfrm>
        </p:grpSpPr>
        <p:cxnSp>
          <p:nvCxnSpPr>
            <p:cNvPr id="212" name="直接连接符 211"/>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213" name="直接连接符 212"/>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162" name="组合 161"/>
          <p:cNvGrpSpPr/>
          <p:nvPr/>
        </p:nvGrpSpPr>
        <p:grpSpPr>
          <a:xfrm>
            <a:off x="3352467" y="2995482"/>
            <a:ext cx="136285" cy="133783"/>
            <a:chOff x="5476803" y="2392530"/>
            <a:chExt cx="108000" cy="108000"/>
          </a:xfrm>
        </p:grpSpPr>
        <p:cxnSp>
          <p:nvCxnSpPr>
            <p:cNvPr id="210" name="直接连接符 209"/>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211" name="直接连接符 210"/>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cxnSp>
        <p:nvCxnSpPr>
          <p:cNvPr id="163" name="直接连接符 162"/>
          <p:cNvCxnSpPr/>
          <p:nvPr/>
        </p:nvCxnSpPr>
        <p:spPr>
          <a:xfrm>
            <a:off x="5402512" y="4364830"/>
            <a:ext cx="136285"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64" name="直接连接符 163"/>
          <p:cNvCxnSpPr/>
          <p:nvPr/>
        </p:nvCxnSpPr>
        <p:spPr>
          <a:xfrm>
            <a:off x="4756130" y="4222693"/>
            <a:ext cx="136285"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65" name="直接连接符 164"/>
          <p:cNvCxnSpPr/>
          <p:nvPr/>
        </p:nvCxnSpPr>
        <p:spPr>
          <a:xfrm>
            <a:off x="4599337" y="4910200"/>
            <a:ext cx="136285"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66" name="直接连接符 165"/>
          <p:cNvCxnSpPr/>
          <p:nvPr/>
        </p:nvCxnSpPr>
        <p:spPr>
          <a:xfrm>
            <a:off x="4175032" y="4782936"/>
            <a:ext cx="136285"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67" name="直接连接符 166"/>
          <p:cNvCxnSpPr/>
          <p:nvPr/>
        </p:nvCxnSpPr>
        <p:spPr>
          <a:xfrm>
            <a:off x="5192707" y="4731925"/>
            <a:ext cx="136285"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68" name="直接连接符 167"/>
          <p:cNvCxnSpPr/>
          <p:nvPr/>
        </p:nvCxnSpPr>
        <p:spPr>
          <a:xfrm>
            <a:off x="5250379" y="4570358"/>
            <a:ext cx="136285"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69" name="直接连接符 168"/>
          <p:cNvCxnSpPr/>
          <p:nvPr/>
        </p:nvCxnSpPr>
        <p:spPr>
          <a:xfrm>
            <a:off x="4521308" y="4640409"/>
            <a:ext cx="136285"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70" name="直接连接符 169"/>
          <p:cNvCxnSpPr/>
          <p:nvPr/>
        </p:nvCxnSpPr>
        <p:spPr>
          <a:xfrm>
            <a:off x="5470654" y="4119094"/>
            <a:ext cx="136285"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71" name="直接连接符 170"/>
          <p:cNvCxnSpPr/>
          <p:nvPr/>
        </p:nvCxnSpPr>
        <p:spPr>
          <a:xfrm>
            <a:off x="4824272" y="4570358"/>
            <a:ext cx="136285"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72" name="直接连接符 171"/>
          <p:cNvCxnSpPr/>
          <p:nvPr/>
        </p:nvCxnSpPr>
        <p:spPr>
          <a:xfrm flipV="1">
            <a:off x="3439599" y="2714325"/>
            <a:ext cx="2466781" cy="237303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173" name="组合 172"/>
          <p:cNvGrpSpPr/>
          <p:nvPr/>
        </p:nvGrpSpPr>
        <p:grpSpPr>
          <a:xfrm>
            <a:off x="4619845" y="2797844"/>
            <a:ext cx="136285" cy="133783"/>
            <a:chOff x="5476803" y="2392530"/>
            <a:chExt cx="108000" cy="108000"/>
          </a:xfrm>
        </p:grpSpPr>
        <p:cxnSp>
          <p:nvCxnSpPr>
            <p:cNvPr id="208" name="直接连接符 207"/>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209" name="直接连接符 208"/>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174" name="组合 173"/>
          <p:cNvGrpSpPr/>
          <p:nvPr/>
        </p:nvGrpSpPr>
        <p:grpSpPr>
          <a:xfrm>
            <a:off x="4334526" y="3062373"/>
            <a:ext cx="136285" cy="133783"/>
            <a:chOff x="5476803" y="2392530"/>
            <a:chExt cx="108000" cy="108000"/>
          </a:xfrm>
        </p:grpSpPr>
        <p:cxnSp>
          <p:nvCxnSpPr>
            <p:cNvPr id="206" name="直接连接符 205"/>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207" name="直接连接符 206"/>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175" name="组合 174"/>
          <p:cNvGrpSpPr/>
          <p:nvPr/>
        </p:nvGrpSpPr>
        <p:grpSpPr>
          <a:xfrm>
            <a:off x="3127957" y="4231047"/>
            <a:ext cx="136285" cy="133783"/>
            <a:chOff x="5476803" y="2392530"/>
            <a:chExt cx="108000" cy="108000"/>
          </a:xfrm>
        </p:grpSpPr>
        <p:cxnSp>
          <p:nvCxnSpPr>
            <p:cNvPr id="204" name="直接连接符 203"/>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205" name="直接连接符 204"/>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176" name="组合 175"/>
          <p:cNvGrpSpPr/>
          <p:nvPr/>
        </p:nvGrpSpPr>
        <p:grpSpPr>
          <a:xfrm>
            <a:off x="3713833" y="3223402"/>
            <a:ext cx="136285" cy="133783"/>
            <a:chOff x="5476803" y="2392530"/>
            <a:chExt cx="108000" cy="108000"/>
          </a:xfrm>
        </p:grpSpPr>
        <p:cxnSp>
          <p:nvCxnSpPr>
            <p:cNvPr id="202" name="直接连接符 201"/>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203" name="直接连接符 202"/>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177" name="组合 176"/>
          <p:cNvGrpSpPr/>
          <p:nvPr/>
        </p:nvGrpSpPr>
        <p:grpSpPr>
          <a:xfrm>
            <a:off x="3258381" y="3503910"/>
            <a:ext cx="136285" cy="133783"/>
            <a:chOff x="5476803" y="2392530"/>
            <a:chExt cx="108000" cy="108000"/>
          </a:xfrm>
        </p:grpSpPr>
        <p:cxnSp>
          <p:nvCxnSpPr>
            <p:cNvPr id="200" name="直接连接符 199"/>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201" name="直接连接符 200"/>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cxnSp>
        <p:nvCxnSpPr>
          <p:cNvPr id="178" name="直接连接符 177"/>
          <p:cNvCxnSpPr/>
          <p:nvPr/>
        </p:nvCxnSpPr>
        <p:spPr>
          <a:xfrm>
            <a:off x="4974418" y="4889726"/>
            <a:ext cx="136285"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79" name="直接连接符 178"/>
          <p:cNvCxnSpPr/>
          <p:nvPr/>
        </p:nvCxnSpPr>
        <p:spPr>
          <a:xfrm>
            <a:off x="5110703" y="4297939"/>
            <a:ext cx="136285"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80" name="直接连接符 179"/>
          <p:cNvCxnSpPr/>
          <p:nvPr/>
        </p:nvCxnSpPr>
        <p:spPr>
          <a:xfrm>
            <a:off x="5250379" y="3900465"/>
            <a:ext cx="136285"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81" name="直接连接符 180"/>
          <p:cNvCxnSpPr/>
          <p:nvPr/>
        </p:nvCxnSpPr>
        <p:spPr>
          <a:xfrm>
            <a:off x="5702314" y="3617291"/>
            <a:ext cx="136285" cy="0"/>
          </a:xfrm>
          <a:prstGeom prst="line">
            <a:avLst/>
          </a:prstGeom>
          <a:ln w="19050"/>
        </p:spPr>
        <p:style>
          <a:lnRef idx="1">
            <a:schemeClr val="dk1"/>
          </a:lnRef>
          <a:fillRef idx="0">
            <a:schemeClr val="dk1"/>
          </a:fillRef>
          <a:effectRef idx="0">
            <a:schemeClr val="dk1"/>
          </a:effectRef>
          <a:fontRef idx="minor">
            <a:schemeClr val="tx1"/>
          </a:fontRef>
        </p:style>
      </p:cxnSp>
      <p:graphicFrame>
        <p:nvGraphicFramePr>
          <p:cNvPr id="182" name="对象 181"/>
          <p:cNvGraphicFramePr>
            <a:graphicFrameLocks noChangeAspect="1"/>
          </p:cNvGraphicFramePr>
          <p:nvPr/>
        </p:nvGraphicFramePr>
        <p:xfrm>
          <a:off x="5906380" y="5405640"/>
          <a:ext cx="280830" cy="267566"/>
        </p:xfrm>
        <a:graphic>
          <a:graphicData uri="http://schemas.openxmlformats.org/presentationml/2006/ole">
            <mc:AlternateContent xmlns:mc="http://schemas.openxmlformats.org/markup-compatibility/2006">
              <mc:Choice xmlns:v="urn:schemas-microsoft-com:vml" Requires="v">
                <p:oleObj spid="_x0000_s32" name="Formula" r:id="rId2" imgW="1028700" imgH="981075" progId="Equation.Ribbit">
                  <p:embed/>
                </p:oleObj>
              </mc:Choice>
              <mc:Fallback>
                <p:oleObj name="Formula" r:id="rId2" imgW="1028700" imgH="981075" progId="Equation.Ribbit">
                  <p:embed/>
                  <p:pic>
                    <p:nvPicPr>
                      <p:cNvPr id="0" name="图片 31"/>
                      <p:cNvPicPr/>
                      <p:nvPr/>
                    </p:nvPicPr>
                    <p:blipFill>
                      <a:blip r:embed="rId3"/>
                      <a:stretch>
                        <a:fillRect/>
                      </a:stretch>
                    </p:blipFill>
                    <p:spPr>
                      <a:xfrm>
                        <a:off x="5906380" y="5405640"/>
                        <a:ext cx="280830" cy="267566"/>
                      </a:xfrm>
                      <a:prstGeom prst="rect">
                        <a:avLst/>
                      </a:prstGeom>
                    </p:spPr>
                  </p:pic>
                </p:oleObj>
              </mc:Fallback>
            </mc:AlternateContent>
          </a:graphicData>
        </a:graphic>
      </p:graphicFrame>
      <p:graphicFrame>
        <p:nvGraphicFramePr>
          <p:cNvPr id="183" name="对象 182"/>
          <p:cNvGraphicFramePr>
            <a:graphicFrameLocks noChangeAspect="1"/>
          </p:cNvGraphicFramePr>
          <p:nvPr/>
        </p:nvGraphicFramePr>
        <p:xfrm>
          <a:off x="2256716" y="2454439"/>
          <a:ext cx="290739" cy="267566"/>
        </p:xfrm>
        <a:graphic>
          <a:graphicData uri="http://schemas.openxmlformats.org/presentationml/2006/ole">
            <mc:AlternateContent xmlns:mc="http://schemas.openxmlformats.org/markup-compatibility/2006">
              <mc:Choice xmlns:v="urn:schemas-microsoft-com:vml" Requires="v">
                <p:oleObj spid="_x0000_s2" name="Formula" r:id="rId4" imgW="1057275" imgH="981075" progId="Equation.Ribbit">
                  <p:embed/>
                </p:oleObj>
              </mc:Choice>
              <mc:Fallback>
                <p:oleObj name="Formula" r:id="rId4" imgW="1057275" imgH="981075" progId="Equation.Ribbit">
                  <p:embed/>
                  <p:pic>
                    <p:nvPicPr>
                      <p:cNvPr id="0" name="图片 1"/>
                      <p:cNvPicPr/>
                      <p:nvPr/>
                    </p:nvPicPr>
                    <p:blipFill>
                      <a:blip r:embed="rId5"/>
                      <a:stretch>
                        <a:fillRect/>
                      </a:stretch>
                    </p:blipFill>
                    <p:spPr>
                      <a:xfrm>
                        <a:off x="2256716" y="2454439"/>
                        <a:ext cx="290739" cy="267566"/>
                      </a:xfrm>
                      <a:prstGeom prst="rect">
                        <a:avLst/>
                      </a:prstGeom>
                    </p:spPr>
                  </p:pic>
                </p:oleObj>
              </mc:Fallback>
            </mc:AlternateContent>
          </a:graphicData>
        </a:graphic>
      </p:graphicFrame>
      <p:cxnSp>
        <p:nvCxnSpPr>
          <p:cNvPr id="184" name="直接连接符 183"/>
          <p:cNvCxnSpPr/>
          <p:nvPr/>
        </p:nvCxnSpPr>
        <p:spPr>
          <a:xfrm flipV="1">
            <a:off x="3728068" y="2903108"/>
            <a:ext cx="2466781" cy="2373030"/>
          </a:xfrm>
          <a:prstGeom prst="line">
            <a:avLst/>
          </a:prstGeom>
          <a:ln w="952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85" name="直接连接符 184"/>
          <p:cNvCxnSpPr/>
          <p:nvPr/>
        </p:nvCxnSpPr>
        <p:spPr>
          <a:xfrm flipV="1">
            <a:off x="3239273" y="2450816"/>
            <a:ext cx="2466781" cy="2373030"/>
          </a:xfrm>
          <a:prstGeom prst="line">
            <a:avLst/>
          </a:prstGeom>
          <a:ln w="952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86" name="椭圆 185"/>
          <p:cNvSpPr/>
          <p:nvPr/>
        </p:nvSpPr>
        <p:spPr>
          <a:xfrm>
            <a:off x="3850897" y="3997776"/>
            <a:ext cx="227141" cy="22297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7" name="椭圆 186"/>
          <p:cNvSpPr/>
          <p:nvPr/>
        </p:nvSpPr>
        <p:spPr>
          <a:xfrm>
            <a:off x="4123340" y="4674248"/>
            <a:ext cx="227141" cy="22297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8" name="椭圆 187"/>
          <p:cNvSpPr/>
          <p:nvPr/>
        </p:nvSpPr>
        <p:spPr>
          <a:xfrm>
            <a:off x="4716304" y="4107900"/>
            <a:ext cx="227141" cy="22297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0" name="右大括号 173"/>
          <p:cNvSpPr/>
          <p:nvPr/>
        </p:nvSpPr>
        <p:spPr>
          <a:xfrm rot="19020000">
            <a:off x="5865858" y="2347436"/>
            <a:ext cx="181713" cy="668916"/>
          </a:xfrm>
          <a:custGeom>
            <a:avLst/>
            <a:gdLst>
              <a:gd name="connsiteX0" fmla="*/ 0 w 155448"/>
              <a:gd name="connsiteY0" fmla="*/ 0 h 914400"/>
              <a:gd name="connsiteX1" fmla="*/ 77724 w 155448"/>
              <a:gd name="connsiteY1" fmla="*/ 12953 h 914400"/>
              <a:gd name="connsiteX2" fmla="*/ 77724 w 155448"/>
              <a:gd name="connsiteY2" fmla="*/ 444247 h 914400"/>
              <a:gd name="connsiteX3" fmla="*/ 155448 w 155448"/>
              <a:gd name="connsiteY3" fmla="*/ 457200 h 914400"/>
              <a:gd name="connsiteX4" fmla="*/ 77724 w 155448"/>
              <a:gd name="connsiteY4" fmla="*/ 470153 h 914400"/>
              <a:gd name="connsiteX5" fmla="*/ 77724 w 155448"/>
              <a:gd name="connsiteY5" fmla="*/ 901447 h 914400"/>
              <a:gd name="connsiteX6" fmla="*/ 0 w 155448"/>
              <a:gd name="connsiteY6" fmla="*/ 914400 h 914400"/>
              <a:gd name="connsiteX7" fmla="*/ 0 w 155448"/>
              <a:gd name="connsiteY7" fmla="*/ 0 h 914400"/>
              <a:gd name="connsiteX0-1" fmla="*/ 0 w 155448"/>
              <a:gd name="connsiteY0-2" fmla="*/ 0 h 914400"/>
              <a:gd name="connsiteX1-3" fmla="*/ 77724 w 155448"/>
              <a:gd name="connsiteY1-4" fmla="*/ 12953 h 914400"/>
              <a:gd name="connsiteX2-5" fmla="*/ 77724 w 155448"/>
              <a:gd name="connsiteY2-6" fmla="*/ 444247 h 914400"/>
              <a:gd name="connsiteX3-7" fmla="*/ 155448 w 155448"/>
              <a:gd name="connsiteY3-8" fmla="*/ 457200 h 914400"/>
              <a:gd name="connsiteX4-9" fmla="*/ 77724 w 155448"/>
              <a:gd name="connsiteY4-10" fmla="*/ 470153 h 914400"/>
              <a:gd name="connsiteX5-11" fmla="*/ 77724 w 155448"/>
              <a:gd name="connsiteY5-12" fmla="*/ 901447 h 914400"/>
              <a:gd name="connsiteX6-13" fmla="*/ 0 w 155448"/>
              <a:gd name="connsiteY6-14" fmla="*/ 914400 h 914400"/>
              <a:gd name="connsiteX0-15" fmla="*/ 0 w 155449"/>
              <a:gd name="connsiteY0-16" fmla="*/ 0 h 914400"/>
              <a:gd name="connsiteX1-17" fmla="*/ 77724 w 155449"/>
              <a:gd name="connsiteY1-18" fmla="*/ 12953 h 914400"/>
              <a:gd name="connsiteX2-19" fmla="*/ 77724 w 155449"/>
              <a:gd name="connsiteY2-20" fmla="*/ 444247 h 914400"/>
              <a:gd name="connsiteX3-21" fmla="*/ 155448 w 155449"/>
              <a:gd name="connsiteY3-22" fmla="*/ 457200 h 914400"/>
              <a:gd name="connsiteX4-23" fmla="*/ 77724 w 155449"/>
              <a:gd name="connsiteY4-24" fmla="*/ 470153 h 914400"/>
              <a:gd name="connsiteX5-25" fmla="*/ 77724 w 155449"/>
              <a:gd name="connsiteY5-26" fmla="*/ 901447 h 914400"/>
              <a:gd name="connsiteX6-27" fmla="*/ 0 w 155449"/>
              <a:gd name="connsiteY6-28" fmla="*/ 914400 h 914400"/>
              <a:gd name="connsiteX7-29" fmla="*/ 0 w 155449"/>
              <a:gd name="connsiteY7-30" fmla="*/ 0 h 914400"/>
              <a:gd name="connsiteX0-31" fmla="*/ 0 w 155449"/>
              <a:gd name="connsiteY0-32" fmla="*/ 0 h 914400"/>
              <a:gd name="connsiteX1-33" fmla="*/ 77724 w 155449"/>
              <a:gd name="connsiteY1-34" fmla="*/ 12953 h 914400"/>
              <a:gd name="connsiteX2-35" fmla="*/ 77724 w 155449"/>
              <a:gd name="connsiteY2-36" fmla="*/ 444247 h 914400"/>
              <a:gd name="connsiteX3-37" fmla="*/ 155448 w 155449"/>
              <a:gd name="connsiteY3-38" fmla="*/ 457200 h 914400"/>
              <a:gd name="connsiteX4-39" fmla="*/ 75681 w 155449"/>
              <a:gd name="connsiteY4-40" fmla="*/ 482121 h 914400"/>
              <a:gd name="connsiteX5-41" fmla="*/ 77724 w 155449"/>
              <a:gd name="connsiteY5-42" fmla="*/ 901447 h 914400"/>
              <a:gd name="connsiteX6-43" fmla="*/ 0 w 155449"/>
              <a:gd name="connsiteY6-44" fmla="*/ 914400 h 914400"/>
              <a:gd name="connsiteX0-45" fmla="*/ 0 w 155451"/>
              <a:gd name="connsiteY0-46" fmla="*/ 0 h 914400"/>
              <a:gd name="connsiteX1-47" fmla="*/ 77724 w 155451"/>
              <a:gd name="connsiteY1-48" fmla="*/ 12953 h 914400"/>
              <a:gd name="connsiteX2-49" fmla="*/ 77724 w 155451"/>
              <a:gd name="connsiteY2-50" fmla="*/ 444247 h 914400"/>
              <a:gd name="connsiteX3-51" fmla="*/ 155448 w 155451"/>
              <a:gd name="connsiteY3-52" fmla="*/ 457200 h 914400"/>
              <a:gd name="connsiteX4-53" fmla="*/ 77724 w 155451"/>
              <a:gd name="connsiteY4-54" fmla="*/ 470153 h 914400"/>
              <a:gd name="connsiteX5-55" fmla="*/ 77724 w 155451"/>
              <a:gd name="connsiteY5-56" fmla="*/ 901447 h 914400"/>
              <a:gd name="connsiteX6-57" fmla="*/ 0 w 155451"/>
              <a:gd name="connsiteY6-58" fmla="*/ 914400 h 914400"/>
              <a:gd name="connsiteX7-59" fmla="*/ 0 w 155451"/>
              <a:gd name="connsiteY7-60" fmla="*/ 0 h 914400"/>
              <a:gd name="connsiteX0-61" fmla="*/ 0 w 155451"/>
              <a:gd name="connsiteY0-62" fmla="*/ 0 h 914400"/>
              <a:gd name="connsiteX1-63" fmla="*/ 77724 w 155451"/>
              <a:gd name="connsiteY1-64" fmla="*/ 12953 h 914400"/>
              <a:gd name="connsiteX2-65" fmla="*/ 79251 w 155451"/>
              <a:gd name="connsiteY2-66" fmla="*/ 426979 h 914400"/>
              <a:gd name="connsiteX3-67" fmla="*/ 155448 w 155451"/>
              <a:gd name="connsiteY3-68" fmla="*/ 457200 h 914400"/>
              <a:gd name="connsiteX4-69" fmla="*/ 75681 w 155451"/>
              <a:gd name="connsiteY4-70" fmla="*/ 482121 h 914400"/>
              <a:gd name="connsiteX5-71" fmla="*/ 77724 w 155451"/>
              <a:gd name="connsiteY5-72" fmla="*/ 901447 h 914400"/>
              <a:gd name="connsiteX6-73" fmla="*/ 0 w 155451"/>
              <a:gd name="connsiteY6-74" fmla="*/ 914400 h 9144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55451" h="914400" stroke="0" extrusionOk="0">
                <a:moveTo>
                  <a:pt x="0" y="0"/>
                </a:moveTo>
                <a:cubicBezTo>
                  <a:pt x="42926" y="0"/>
                  <a:pt x="77724" y="5799"/>
                  <a:pt x="77724" y="12953"/>
                </a:cubicBezTo>
                <a:lnTo>
                  <a:pt x="77724" y="444247"/>
                </a:lnTo>
                <a:cubicBezTo>
                  <a:pt x="77724" y="451401"/>
                  <a:pt x="112522" y="457200"/>
                  <a:pt x="155448" y="457200"/>
                </a:cubicBezTo>
                <a:cubicBezTo>
                  <a:pt x="112522" y="457200"/>
                  <a:pt x="77724" y="462999"/>
                  <a:pt x="77724" y="470153"/>
                </a:cubicBezTo>
                <a:lnTo>
                  <a:pt x="77724" y="901447"/>
                </a:lnTo>
                <a:cubicBezTo>
                  <a:pt x="77724" y="908601"/>
                  <a:pt x="42926" y="914400"/>
                  <a:pt x="0" y="914400"/>
                </a:cubicBezTo>
                <a:lnTo>
                  <a:pt x="0" y="0"/>
                </a:lnTo>
                <a:close/>
              </a:path>
              <a:path w="155451" h="914400" fill="none">
                <a:moveTo>
                  <a:pt x="0" y="0"/>
                </a:moveTo>
                <a:cubicBezTo>
                  <a:pt x="42926" y="0"/>
                  <a:pt x="77724" y="5799"/>
                  <a:pt x="77724" y="12953"/>
                </a:cubicBezTo>
                <a:lnTo>
                  <a:pt x="79251" y="426979"/>
                </a:lnTo>
                <a:cubicBezTo>
                  <a:pt x="79251" y="434133"/>
                  <a:pt x="156043" y="448010"/>
                  <a:pt x="155448" y="457200"/>
                </a:cubicBezTo>
                <a:cubicBezTo>
                  <a:pt x="154853" y="466390"/>
                  <a:pt x="75681" y="474967"/>
                  <a:pt x="75681" y="482121"/>
                </a:cubicBezTo>
                <a:cubicBezTo>
                  <a:pt x="75681" y="625886"/>
                  <a:pt x="77724" y="757682"/>
                  <a:pt x="77724" y="901447"/>
                </a:cubicBezTo>
                <a:cubicBezTo>
                  <a:pt x="77724" y="908601"/>
                  <a:pt x="42926" y="914400"/>
                  <a:pt x="0" y="914400"/>
                </a:cubicBezTo>
              </a:path>
            </a:pathLst>
          </a:cu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94" name="任意多边形 193"/>
          <p:cNvSpPr/>
          <p:nvPr/>
        </p:nvSpPr>
        <p:spPr>
          <a:xfrm>
            <a:off x="4930392" y="2492567"/>
            <a:ext cx="234382" cy="460158"/>
          </a:xfrm>
          <a:custGeom>
            <a:avLst/>
            <a:gdLst>
              <a:gd name="connsiteX0" fmla="*/ 0 w 185738"/>
              <a:gd name="connsiteY0" fmla="*/ 0 h 371475"/>
              <a:gd name="connsiteX1" fmla="*/ 33338 w 185738"/>
              <a:gd name="connsiteY1" fmla="*/ 204787 h 371475"/>
              <a:gd name="connsiteX2" fmla="*/ 185738 w 185738"/>
              <a:gd name="connsiteY2" fmla="*/ 371475 h 371475"/>
            </a:gdLst>
            <a:ahLst/>
            <a:cxnLst>
              <a:cxn ang="0">
                <a:pos x="connsiteX0" y="connsiteY0"/>
              </a:cxn>
              <a:cxn ang="0">
                <a:pos x="connsiteX1" y="connsiteY1"/>
              </a:cxn>
              <a:cxn ang="0">
                <a:pos x="connsiteX2" y="connsiteY2"/>
              </a:cxn>
            </a:cxnLst>
            <a:rect l="l" t="t" r="r" b="b"/>
            <a:pathLst>
              <a:path w="185738" h="371475">
                <a:moveTo>
                  <a:pt x="0" y="0"/>
                </a:moveTo>
                <a:cubicBezTo>
                  <a:pt x="1191" y="71437"/>
                  <a:pt x="2382" y="142875"/>
                  <a:pt x="33338" y="204787"/>
                </a:cubicBezTo>
                <a:cubicBezTo>
                  <a:pt x="64294" y="266699"/>
                  <a:pt x="125016" y="319087"/>
                  <a:pt x="185738" y="371475"/>
                </a:cubicBezTo>
              </a:path>
            </a:pathLst>
          </a:custGeom>
          <a:noFill/>
          <a:ln>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5" name="任意多边形 194"/>
          <p:cNvSpPr/>
          <p:nvPr/>
        </p:nvSpPr>
        <p:spPr>
          <a:xfrm>
            <a:off x="5435528" y="3688981"/>
            <a:ext cx="472769" cy="307528"/>
          </a:xfrm>
          <a:custGeom>
            <a:avLst/>
            <a:gdLst>
              <a:gd name="connsiteX0" fmla="*/ 374650 w 374650"/>
              <a:gd name="connsiteY0" fmla="*/ 247650 h 248260"/>
              <a:gd name="connsiteX1" fmla="*/ 209550 w 374650"/>
              <a:gd name="connsiteY1" fmla="*/ 209550 h 248260"/>
              <a:gd name="connsiteX2" fmla="*/ 0 w 374650"/>
              <a:gd name="connsiteY2" fmla="*/ 0 h 248260"/>
            </a:gdLst>
            <a:ahLst/>
            <a:cxnLst>
              <a:cxn ang="0">
                <a:pos x="connsiteX0" y="connsiteY0"/>
              </a:cxn>
              <a:cxn ang="0">
                <a:pos x="connsiteX1" y="connsiteY1"/>
              </a:cxn>
              <a:cxn ang="0">
                <a:pos x="connsiteX2" y="connsiteY2"/>
              </a:cxn>
            </a:cxnLst>
            <a:rect l="l" t="t" r="r" b="b"/>
            <a:pathLst>
              <a:path w="374650" h="248260">
                <a:moveTo>
                  <a:pt x="374650" y="247650"/>
                </a:moveTo>
                <a:cubicBezTo>
                  <a:pt x="323321" y="249237"/>
                  <a:pt x="271992" y="250825"/>
                  <a:pt x="209550" y="209550"/>
                </a:cubicBezTo>
                <a:cubicBezTo>
                  <a:pt x="147108" y="168275"/>
                  <a:pt x="73554" y="84137"/>
                  <a:pt x="0" y="0"/>
                </a:cubicBezTo>
              </a:path>
            </a:pathLst>
          </a:custGeom>
          <a:noFill/>
          <a:ln>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6" name="任意多边形 195"/>
          <p:cNvSpPr/>
          <p:nvPr/>
        </p:nvSpPr>
        <p:spPr>
          <a:xfrm>
            <a:off x="5548752" y="3092191"/>
            <a:ext cx="472769" cy="301364"/>
          </a:xfrm>
          <a:custGeom>
            <a:avLst/>
            <a:gdLst>
              <a:gd name="connsiteX0" fmla="*/ 368300 w 368300"/>
              <a:gd name="connsiteY0" fmla="*/ 228600 h 241300"/>
              <a:gd name="connsiteX1" fmla="*/ 209550 w 368300"/>
              <a:gd name="connsiteY1" fmla="*/ 215900 h 241300"/>
              <a:gd name="connsiteX2" fmla="*/ 0 w 368300"/>
              <a:gd name="connsiteY2" fmla="*/ 0 h 241300"/>
              <a:gd name="connsiteX0-1" fmla="*/ 349250 w 349250"/>
              <a:gd name="connsiteY0-2" fmla="*/ 247650 h 254239"/>
              <a:gd name="connsiteX1-3" fmla="*/ 209550 w 349250"/>
              <a:gd name="connsiteY1-4" fmla="*/ 215900 h 254239"/>
              <a:gd name="connsiteX2-5" fmla="*/ 0 w 349250"/>
              <a:gd name="connsiteY2-6" fmla="*/ 0 h 254239"/>
              <a:gd name="connsiteX0-7" fmla="*/ 374650 w 374650"/>
              <a:gd name="connsiteY0-8" fmla="*/ 254000 h 259411"/>
              <a:gd name="connsiteX1-9" fmla="*/ 209550 w 374650"/>
              <a:gd name="connsiteY1-10" fmla="*/ 215900 h 259411"/>
              <a:gd name="connsiteX2-11" fmla="*/ 0 w 374650"/>
              <a:gd name="connsiteY2-12" fmla="*/ 0 h 259411"/>
              <a:gd name="connsiteX0-13" fmla="*/ 374650 w 374650"/>
              <a:gd name="connsiteY0-14" fmla="*/ 254000 h 254671"/>
              <a:gd name="connsiteX1-15" fmla="*/ 209550 w 374650"/>
              <a:gd name="connsiteY1-16" fmla="*/ 215900 h 254671"/>
              <a:gd name="connsiteX2-17" fmla="*/ 0 w 374650"/>
              <a:gd name="connsiteY2-18" fmla="*/ 0 h 254671"/>
              <a:gd name="connsiteX0-19" fmla="*/ 374650 w 374650"/>
              <a:gd name="connsiteY0-20" fmla="*/ 254000 h 254033"/>
              <a:gd name="connsiteX1-21" fmla="*/ 175891 w 374650"/>
              <a:gd name="connsiteY1-22" fmla="*/ 165412 h 254033"/>
              <a:gd name="connsiteX2-23" fmla="*/ 0 w 374650"/>
              <a:gd name="connsiteY2-24" fmla="*/ 0 h 254033"/>
              <a:gd name="connsiteX0-25" fmla="*/ 374650 w 374650"/>
              <a:gd name="connsiteY0-26" fmla="*/ 242781 h 242822"/>
              <a:gd name="connsiteX1-27" fmla="*/ 175891 w 374650"/>
              <a:gd name="connsiteY1-28" fmla="*/ 165412 h 242822"/>
              <a:gd name="connsiteX2-29" fmla="*/ 0 w 374650"/>
              <a:gd name="connsiteY2-30" fmla="*/ 0 h 242822"/>
              <a:gd name="connsiteX0-31" fmla="*/ 374650 w 374650"/>
              <a:gd name="connsiteY0-32" fmla="*/ 242781 h 243284"/>
              <a:gd name="connsiteX1-33" fmla="*/ 198330 w 374650"/>
              <a:gd name="connsiteY1-34" fmla="*/ 204681 h 243284"/>
              <a:gd name="connsiteX2-35" fmla="*/ 0 w 374650"/>
              <a:gd name="connsiteY2-36" fmla="*/ 0 h 243284"/>
            </a:gdLst>
            <a:ahLst/>
            <a:cxnLst>
              <a:cxn ang="0">
                <a:pos x="connsiteX0-1" y="connsiteY0-2"/>
              </a:cxn>
              <a:cxn ang="0">
                <a:pos x="connsiteX1-3" y="connsiteY1-4"/>
              </a:cxn>
              <a:cxn ang="0">
                <a:pos x="connsiteX2-5" y="connsiteY2-6"/>
              </a:cxn>
            </a:cxnLst>
            <a:rect l="l" t="t" r="r" b="b"/>
            <a:pathLst>
              <a:path w="374650" h="243284">
                <a:moveTo>
                  <a:pt x="374650" y="242781"/>
                </a:moveTo>
                <a:cubicBezTo>
                  <a:pt x="314746" y="244261"/>
                  <a:pt x="260772" y="245144"/>
                  <a:pt x="198330" y="204681"/>
                </a:cubicBezTo>
                <a:cubicBezTo>
                  <a:pt x="135888" y="164218"/>
                  <a:pt x="74083" y="88900"/>
                  <a:pt x="0" y="0"/>
                </a:cubicBezTo>
              </a:path>
            </a:pathLst>
          </a:custGeom>
          <a:noFill/>
          <a:ln>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7" name="直接连接符 196"/>
          <p:cNvCxnSpPr/>
          <p:nvPr/>
        </p:nvCxnSpPr>
        <p:spPr>
          <a:xfrm flipH="1" flipV="1">
            <a:off x="4132051" y="3010569"/>
            <a:ext cx="714190" cy="738098"/>
          </a:xfrm>
          <a:prstGeom prst="line">
            <a:avLst/>
          </a:prstGeom>
          <a:ln w="952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98" name="右大括号 173"/>
          <p:cNvSpPr/>
          <p:nvPr/>
        </p:nvSpPr>
        <p:spPr>
          <a:xfrm rot="18960000" flipH="1">
            <a:off x="4341226" y="2982443"/>
            <a:ext cx="136285" cy="936482"/>
          </a:xfrm>
          <a:custGeom>
            <a:avLst/>
            <a:gdLst>
              <a:gd name="connsiteX0" fmla="*/ 0 w 155448"/>
              <a:gd name="connsiteY0" fmla="*/ 0 h 914400"/>
              <a:gd name="connsiteX1" fmla="*/ 77724 w 155448"/>
              <a:gd name="connsiteY1" fmla="*/ 12953 h 914400"/>
              <a:gd name="connsiteX2" fmla="*/ 77724 w 155448"/>
              <a:gd name="connsiteY2" fmla="*/ 444247 h 914400"/>
              <a:gd name="connsiteX3" fmla="*/ 155448 w 155448"/>
              <a:gd name="connsiteY3" fmla="*/ 457200 h 914400"/>
              <a:gd name="connsiteX4" fmla="*/ 77724 w 155448"/>
              <a:gd name="connsiteY4" fmla="*/ 470153 h 914400"/>
              <a:gd name="connsiteX5" fmla="*/ 77724 w 155448"/>
              <a:gd name="connsiteY5" fmla="*/ 901447 h 914400"/>
              <a:gd name="connsiteX6" fmla="*/ 0 w 155448"/>
              <a:gd name="connsiteY6" fmla="*/ 914400 h 914400"/>
              <a:gd name="connsiteX7" fmla="*/ 0 w 155448"/>
              <a:gd name="connsiteY7" fmla="*/ 0 h 914400"/>
              <a:gd name="connsiteX0-1" fmla="*/ 0 w 155448"/>
              <a:gd name="connsiteY0-2" fmla="*/ 0 h 914400"/>
              <a:gd name="connsiteX1-3" fmla="*/ 77724 w 155448"/>
              <a:gd name="connsiteY1-4" fmla="*/ 12953 h 914400"/>
              <a:gd name="connsiteX2-5" fmla="*/ 77724 w 155448"/>
              <a:gd name="connsiteY2-6" fmla="*/ 444247 h 914400"/>
              <a:gd name="connsiteX3-7" fmla="*/ 155448 w 155448"/>
              <a:gd name="connsiteY3-8" fmla="*/ 457200 h 914400"/>
              <a:gd name="connsiteX4-9" fmla="*/ 77724 w 155448"/>
              <a:gd name="connsiteY4-10" fmla="*/ 470153 h 914400"/>
              <a:gd name="connsiteX5-11" fmla="*/ 77724 w 155448"/>
              <a:gd name="connsiteY5-12" fmla="*/ 901447 h 914400"/>
              <a:gd name="connsiteX6-13" fmla="*/ 0 w 155448"/>
              <a:gd name="connsiteY6-14" fmla="*/ 914400 h 914400"/>
              <a:gd name="connsiteX0-15" fmla="*/ 0 w 155449"/>
              <a:gd name="connsiteY0-16" fmla="*/ 0 h 914400"/>
              <a:gd name="connsiteX1-17" fmla="*/ 77724 w 155449"/>
              <a:gd name="connsiteY1-18" fmla="*/ 12953 h 914400"/>
              <a:gd name="connsiteX2-19" fmla="*/ 77724 w 155449"/>
              <a:gd name="connsiteY2-20" fmla="*/ 444247 h 914400"/>
              <a:gd name="connsiteX3-21" fmla="*/ 155448 w 155449"/>
              <a:gd name="connsiteY3-22" fmla="*/ 457200 h 914400"/>
              <a:gd name="connsiteX4-23" fmla="*/ 77724 w 155449"/>
              <a:gd name="connsiteY4-24" fmla="*/ 470153 h 914400"/>
              <a:gd name="connsiteX5-25" fmla="*/ 77724 w 155449"/>
              <a:gd name="connsiteY5-26" fmla="*/ 901447 h 914400"/>
              <a:gd name="connsiteX6-27" fmla="*/ 0 w 155449"/>
              <a:gd name="connsiteY6-28" fmla="*/ 914400 h 914400"/>
              <a:gd name="connsiteX7-29" fmla="*/ 0 w 155449"/>
              <a:gd name="connsiteY7-30" fmla="*/ 0 h 914400"/>
              <a:gd name="connsiteX0-31" fmla="*/ 0 w 155449"/>
              <a:gd name="connsiteY0-32" fmla="*/ 0 h 914400"/>
              <a:gd name="connsiteX1-33" fmla="*/ 77724 w 155449"/>
              <a:gd name="connsiteY1-34" fmla="*/ 12953 h 914400"/>
              <a:gd name="connsiteX2-35" fmla="*/ 77724 w 155449"/>
              <a:gd name="connsiteY2-36" fmla="*/ 444247 h 914400"/>
              <a:gd name="connsiteX3-37" fmla="*/ 155448 w 155449"/>
              <a:gd name="connsiteY3-38" fmla="*/ 457200 h 914400"/>
              <a:gd name="connsiteX4-39" fmla="*/ 75681 w 155449"/>
              <a:gd name="connsiteY4-40" fmla="*/ 482121 h 914400"/>
              <a:gd name="connsiteX5-41" fmla="*/ 77724 w 155449"/>
              <a:gd name="connsiteY5-42" fmla="*/ 901447 h 914400"/>
              <a:gd name="connsiteX6-43" fmla="*/ 0 w 155449"/>
              <a:gd name="connsiteY6-44" fmla="*/ 914400 h 914400"/>
              <a:gd name="connsiteX0-45" fmla="*/ 0 w 155451"/>
              <a:gd name="connsiteY0-46" fmla="*/ 0 h 914400"/>
              <a:gd name="connsiteX1-47" fmla="*/ 77724 w 155451"/>
              <a:gd name="connsiteY1-48" fmla="*/ 12953 h 914400"/>
              <a:gd name="connsiteX2-49" fmla="*/ 77724 w 155451"/>
              <a:gd name="connsiteY2-50" fmla="*/ 444247 h 914400"/>
              <a:gd name="connsiteX3-51" fmla="*/ 155448 w 155451"/>
              <a:gd name="connsiteY3-52" fmla="*/ 457200 h 914400"/>
              <a:gd name="connsiteX4-53" fmla="*/ 77724 w 155451"/>
              <a:gd name="connsiteY4-54" fmla="*/ 470153 h 914400"/>
              <a:gd name="connsiteX5-55" fmla="*/ 77724 w 155451"/>
              <a:gd name="connsiteY5-56" fmla="*/ 901447 h 914400"/>
              <a:gd name="connsiteX6-57" fmla="*/ 0 w 155451"/>
              <a:gd name="connsiteY6-58" fmla="*/ 914400 h 914400"/>
              <a:gd name="connsiteX7-59" fmla="*/ 0 w 155451"/>
              <a:gd name="connsiteY7-60" fmla="*/ 0 h 914400"/>
              <a:gd name="connsiteX0-61" fmla="*/ 0 w 155451"/>
              <a:gd name="connsiteY0-62" fmla="*/ 0 h 914400"/>
              <a:gd name="connsiteX1-63" fmla="*/ 77724 w 155451"/>
              <a:gd name="connsiteY1-64" fmla="*/ 12953 h 914400"/>
              <a:gd name="connsiteX2-65" fmla="*/ 79251 w 155451"/>
              <a:gd name="connsiteY2-66" fmla="*/ 426979 h 914400"/>
              <a:gd name="connsiteX3-67" fmla="*/ 155448 w 155451"/>
              <a:gd name="connsiteY3-68" fmla="*/ 457200 h 914400"/>
              <a:gd name="connsiteX4-69" fmla="*/ 75681 w 155451"/>
              <a:gd name="connsiteY4-70" fmla="*/ 482121 h 914400"/>
              <a:gd name="connsiteX5-71" fmla="*/ 77724 w 155451"/>
              <a:gd name="connsiteY5-72" fmla="*/ 901447 h 914400"/>
              <a:gd name="connsiteX6-73" fmla="*/ 0 w 155451"/>
              <a:gd name="connsiteY6-74" fmla="*/ 914400 h 9144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55451" h="914400" stroke="0" extrusionOk="0">
                <a:moveTo>
                  <a:pt x="0" y="0"/>
                </a:moveTo>
                <a:cubicBezTo>
                  <a:pt x="42926" y="0"/>
                  <a:pt x="77724" y="5799"/>
                  <a:pt x="77724" y="12953"/>
                </a:cubicBezTo>
                <a:lnTo>
                  <a:pt x="77724" y="444247"/>
                </a:lnTo>
                <a:cubicBezTo>
                  <a:pt x="77724" y="451401"/>
                  <a:pt x="112522" y="457200"/>
                  <a:pt x="155448" y="457200"/>
                </a:cubicBezTo>
                <a:cubicBezTo>
                  <a:pt x="112522" y="457200"/>
                  <a:pt x="77724" y="462999"/>
                  <a:pt x="77724" y="470153"/>
                </a:cubicBezTo>
                <a:lnTo>
                  <a:pt x="77724" y="901447"/>
                </a:lnTo>
                <a:cubicBezTo>
                  <a:pt x="77724" y="908601"/>
                  <a:pt x="42926" y="914400"/>
                  <a:pt x="0" y="914400"/>
                </a:cubicBezTo>
                <a:lnTo>
                  <a:pt x="0" y="0"/>
                </a:lnTo>
                <a:close/>
              </a:path>
              <a:path w="155451" h="914400" fill="none">
                <a:moveTo>
                  <a:pt x="0" y="0"/>
                </a:moveTo>
                <a:cubicBezTo>
                  <a:pt x="42926" y="0"/>
                  <a:pt x="77724" y="5799"/>
                  <a:pt x="77724" y="12953"/>
                </a:cubicBezTo>
                <a:lnTo>
                  <a:pt x="79251" y="426979"/>
                </a:lnTo>
                <a:cubicBezTo>
                  <a:pt x="79251" y="434133"/>
                  <a:pt x="156043" y="448010"/>
                  <a:pt x="155448" y="457200"/>
                </a:cubicBezTo>
                <a:cubicBezTo>
                  <a:pt x="154853" y="466390"/>
                  <a:pt x="75681" y="474967"/>
                  <a:pt x="75681" y="482121"/>
                </a:cubicBezTo>
                <a:cubicBezTo>
                  <a:pt x="75681" y="625886"/>
                  <a:pt x="77724" y="757682"/>
                  <a:pt x="77724" y="901447"/>
                </a:cubicBezTo>
                <a:cubicBezTo>
                  <a:pt x="77724" y="908601"/>
                  <a:pt x="42926" y="914400"/>
                  <a:pt x="0" y="914400"/>
                </a:cubicBezTo>
              </a:path>
            </a:pathLst>
          </a:cu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5" name="图片 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72791" y="3223402"/>
            <a:ext cx="1341236" cy="310923"/>
          </a:xfrm>
          <a:prstGeom prst="rect">
            <a:avLst/>
          </a:prstGeom>
        </p:spPr>
      </p:pic>
      <p:pic>
        <p:nvPicPr>
          <p:cNvPr id="6" name="图片 5"/>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277077" y="2189391"/>
            <a:ext cx="1335140" cy="304826"/>
          </a:xfrm>
          <a:prstGeom prst="rect">
            <a:avLst/>
          </a:prstGeom>
        </p:spPr>
      </p:pic>
      <p:pic>
        <p:nvPicPr>
          <p:cNvPr id="8" name="图片 7"/>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937427" y="3826140"/>
            <a:ext cx="1518036" cy="304826"/>
          </a:xfrm>
          <a:prstGeom prst="rect">
            <a:avLst/>
          </a:prstGeom>
        </p:spPr>
      </p:pic>
      <p:pic>
        <p:nvPicPr>
          <p:cNvPr id="9" name="图片 8"/>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214072" y="3481965"/>
            <a:ext cx="121931" cy="219475"/>
          </a:xfrm>
          <a:prstGeom prst="rect">
            <a:avLst/>
          </a:prstGeom>
        </p:spPr>
      </p:pic>
      <p:sp>
        <p:nvSpPr>
          <p:cNvPr id="224" name="内容占位符 3"/>
          <p:cNvSpPr txBox="1"/>
          <p:nvPr/>
        </p:nvSpPr>
        <p:spPr>
          <a:xfrm>
            <a:off x="2700604" y="4367765"/>
            <a:ext cx="1322573" cy="451134"/>
          </a:xfrm>
          <a:prstGeom prst="rect">
            <a:avLst/>
          </a:prstGeom>
        </p:spPr>
        <p:txBody>
          <a:bodyPr vert="horz" lIns="91440" tIns="46800" rIns="91440" bIns="45720" rtlCol="0">
            <a:normAutofit/>
          </a:bodyPr>
          <a:lstStyle>
            <a:lvl1pPr marL="228600" indent="-360045" algn="l" defTabSz="914400" rtl="0" eaLnBrk="1" latinLnBrk="0" hangingPunct="1">
              <a:lnSpc>
                <a:spcPct val="90000"/>
              </a:lnSpc>
              <a:spcBef>
                <a:spcPts val="1000"/>
              </a:spcBef>
              <a:buClr>
                <a:schemeClr val="tx2"/>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rgbClr val="023A9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rgbClr val="023A9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rgbClr val="023A9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rgbClr val="023A9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b="1" dirty="0">
                <a:latin typeface="黑体" panose="02010609060101010101" pitchFamily="49" charset="-122"/>
                <a:ea typeface="黑体" panose="02010609060101010101" pitchFamily="49" charset="-122"/>
              </a:rPr>
              <a:t>支持向量</a:t>
            </a:r>
            <a:endParaRPr lang="zh-CN" altLang="en-US" b="1" dirty="0">
              <a:latin typeface="黑体" panose="02010609060101010101" pitchFamily="49" charset="-122"/>
              <a:ea typeface="黑体" panose="02010609060101010101" pitchFamily="49" charset="-122"/>
            </a:endParaRPr>
          </a:p>
        </p:txBody>
      </p:sp>
      <p:pic>
        <p:nvPicPr>
          <p:cNvPr id="10" name="图片 9"/>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021848" y="2217638"/>
            <a:ext cx="951058" cy="57917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3"/>
                                        </p:tgtEl>
                                        <p:attrNameLst>
                                          <p:attrName>style.visibility</p:attrName>
                                        </p:attrNameLst>
                                      </p:cBhvr>
                                      <p:to>
                                        <p:strVal val="visible"/>
                                      </p:to>
                                    </p:set>
                                    <p:animEffect transition="in" filter="fade">
                                      <p:cBhvr>
                                        <p:cTn id="7" dur="500"/>
                                        <p:tgtEl>
                                          <p:spTgt spid="153"/>
                                        </p:tgtEl>
                                      </p:cBhvr>
                                    </p:animEffect>
                                  </p:childTnLst>
                                </p:cTn>
                              </p:par>
                              <p:par>
                                <p:cTn id="8" presetID="10" presetClass="entr" presetSubtype="0" fill="hold" nodeType="withEffect">
                                  <p:stCondLst>
                                    <p:cond delay="0"/>
                                  </p:stCondLst>
                                  <p:childTnLst>
                                    <p:set>
                                      <p:cBhvr>
                                        <p:cTn id="9" dur="1" fill="hold">
                                          <p:stCondLst>
                                            <p:cond delay="0"/>
                                          </p:stCondLst>
                                        </p:cTn>
                                        <p:tgtEl>
                                          <p:spTgt spid="154"/>
                                        </p:tgtEl>
                                        <p:attrNameLst>
                                          <p:attrName>style.visibility</p:attrName>
                                        </p:attrNameLst>
                                      </p:cBhvr>
                                      <p:to>
                                        <p:strVal val="visible"/>
                                      </p:to>
                                    </p:set>
                                    <p:animEffect transition="in" filter="fade">
                                      <p:cBhvr>
                                        <p:cTn id="10" dur="500"/>
                                        <p:tgtEl>
                                          <p:spTgt spid="15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5"/>
                                        </p:tgtEl>
                                        <p:attrNameLst>
                                          <p:attrName>style.visibility</p:attrName>
                                        </p:attrNameLst>
                                      </p:cBhvr>
                                      <p:to>
                                        <p:strVal val="visible"/>
                                      </p:to>
                                    </p:set>
                                    <p:animEffect transition="in" filter="fade">
                                      <p:cBhvr>
                                        <p:cTn id="13" dur="500"/>
                                        <p:tgtEl>
                                          <p:spTgt spid="155"/>
                                        </p:tgtEl>
                                      </p:cBhvr>
                                    </p:animEffect>
                                  </p:childTnLst>
                                </p:cTn>
                              </p:par>
                              <p:par>
                                <p:cTn id="14" presetID="10" presetClass="entr" presetSubtype="0" fill="hold" nodeType="withEffect">
                                  <p:stCondLst>
                                    <p:cond delay="0"/>
                                  </p:stCondLst>
                                  <p:childTnLst>
                                    <p:set>
                                      <p:cBhvr>
                                        <p:cTn id="15" dur="1" fill="hold">
                                          <p:stCondLst>
                                            <p:cond delay="0"/>
                                          </p:stCondLst>
                                        </p:cTn>
                                        <p:tgtEl>
                                          <p:spTgt spid="156"/>
                                        </p:tgtEl>
                                        <p:attrNameLst>
                                          <p:attrName>style.visibility</p:attrName>
                                        </p:attrNameLst>
                                      </p:cBhvr>
                                      <p:to>
                                        <p:strVal val="visible"/>
                                      </p:to>
                                    </p:set>
                                    <p:animEffect transition="in" filter="fade">
                                      <p:cBhvr>
                                        <p:cTn id="16" dur="500"/>
                                        <p:tgtEl>
                                          <p:spTgt spid="156"/>
                                        </p:tgtEl>
                                      </p:cBhvr>
                                    </p:animEffect>
                                  </p:childTnLst>
                                </p:cTn>
                              </p:par>
                              <p:par>
                                <p:cTn id="17" presetID="10" presetClass="entr" presetSubtype="0" fill="hold" nodeType="withEffect">
                                  <p:stCondLst>
                                    <p:cond delay="0"/>
                                  </p:stCondLst>
                                  <p:childTnLst>
                                    <p:set>
                                      <p:cBhvr>
                                        <p:cTn id="18" dur="1" fill="hold">
                                          <p:stCondLst>
                                            <p:cond delay="0"/>
                                          </p:stCondLst>
                                        </p:cTn>
                                        <p:tgtEl>
                                          <p:spTgt spid="157"/>
                                        </p:tgtEl>
                                        <p:attrNameLst>
                                          <p:attrName>style.visibility</p:attrName>
                                        </p:attrNameLst>
                                      </p:cBhvr>
                                      <p:to>
                                        <p:strVal val="visible"/>
                                      </p:to>
                                    </p:set>
                                    <p:animEffect transition="in" filter="fade">
                                      <p:cBhvr>
                                        <p:cTn id="19" dur="500"/>
                                        <p:tgtEl>
                                          <p:spTgt spid="157"/>
                                        </p:tgtEl>
                                      </p:cBhvr>
                                    </p:animEffect>
                                  </p:childTnLst>
                                </p:cTn>
                              </p:par>
                              <p:par>
                                <p:cTn id="20" presetID="10" presetClass="entr" presetSubtype="0" fill="hold" nodeType="withEffect">
                                  <p:stCondLst>
                                    <p:cond delay="0"/>
                                  </p:stCondLst>
                                  <p:childTnLst>
                                    <p:set>
                                      <p:cBhvr>
                                        <p:cTn id="21" dur="1" fill="hold">
                                          <p:stCondLst>
                                            <p:cond delay="0"/>
                                          </p:stCondLst>
                                        </p:cTn>
                                        <p:tgtEl>
                                          <p:spTgt spid="158"/>
                                        </p:tgtEl>
                                        <p:attrNameLst>
                                          <p:attrName>style.visibility</p:attrName>
                                        </p:attrNameLst>
                                      </p:cBhvr>
                                      <p:to>
                                        <p:strVal val="visible"/>
                                      </p:to>
                                    </p:set>
                                    <p:animEffect transition="in" filter="fade">
                                      <p:cBhvr>
                                        <p:cTn id="22" dur="500"/>
                                        <p:tgtEl>
                                          <p:spTgt spid="158"/>
                                        </p:tgtEl>
                                      </p:cBhvr>
                                    </p:animEffect>
                                  </p:childTnLst>
                                </p:cTn>
                              </p:par>
                              <p:par>
                                <p:cTn id="23" presetID="10" presetClass="entr" presetSubtype="0" fill="hold" nodeType="withEffect">
                                  <p:stCondLst>
                                    <p:cond delay="0"/>
                                  </p:stCondLst>
                                  <p:childTnLst>
                                    <p:set>
                                      <p:cBhvr>
                                        <p:cTn id="24" dur="1" fill="hold">
                                          <p:stCondLst>
                                            <p:cond delay="0"/>
                                          </p:stCondLst>
                                        </p:cTn>
                                        <p:tgtEl>
                                          <p:spTgt spid="159"/>
                                        </p:tgtEl>
                                        <p:attrNameLst>
                                          <p:attrName>style.visibility</p:attrName>
                                        </p:attrNameLst>
                                      </p:cBhvr>
                                      <p:to>
                                        <p:strVal val="visible"/>
                                      </p:to>
                                    </p:set>
                                    <p:animEffect transition="in" filter="fade">
                                      <p:cBhvr>
                                        <p:cTn id="25" dur="500"/>
                                        <p:tgtEl>
                                          <p:spTgt spid="159"/>
                                        </p:tgtEl>
                                      </p:cBhvr>
                                    </p:animEffect>
                                  </p:childTnLst>
                                </p:cTn>
                              </p:par>
                              <p:par>
                                <p:cTn id="26" presetID="10" presetClass="entr" presetSubtype="0" fill="hold" nodeType="withEffect">
                                  <p:stCondLst>
                                    <p:cond delay="0"/>
                                  </p:stCondLst>
                                  <p:childTnLst>
                                    <p:set>
                                      <p:cBhvr>
                                        <p:cTn id="27" dur="1" fill="hold">
                                          <p:stCondLst>
                                            <p:cond delay="0"/>
                                          </p:stCondLst>
                                        </p:cTn>
                                        <p:tgtEl>
                                          <p:spTgt spid="160"/>
                                        </p:tgtEl>
                                        <p:attrNameLst>
                                          <p:attrName>style.visibility</p:attrName>
                                        </p:attrNameLst>
                                      </p:cBhvr>
                                      <p:to>
                                        <p:strVal val="visible"/>
                                      </p:to>
                                    </p:set>
                                    <p:animEffect transition="in" filter="fade">
                                      <p:cBhvr>
                                        <p:cTn id="28" dur="500"/>
                                        <p:tgtEl>
                                          <p:spTgt spid="160"/>
                                        </p:tgtEl>
                                      </p:cBhvr>
                                    </p:animEffect>
                                  </p:childTnLst>
                                </p:cTn>
                              </p:par>
                              <p:par>
                                <p:cTn id="29" presetID="10" presetClass="entr" presetSubtype="0" fill="hold" nodeType="withEffect">
                                  <p:stCondLst>
                                    <p:cond delay="0"/>
                                  </p:stCondLst>
                                  <p:childTnLst>
                                    <p:set>
                                      <p:cBhvr>
                                        <p:cTn id="30" dur="1" fill="hold">
                                          <p:stCondLst>
                                            <p:cond delay="0"/>
                                          </p:stCondLst>
                                        </p:cTn>
                                        <p:tgtEl>
                                          <p:spTgt spid="161"/>
                                        </p:tgtEl>
                                        <p:attrNameLst>
                                          <p:attrName>style.visibility</p:attrName>
                                        </p:attrNameLst>
                                      </p:cBhvr>
                                      <p:to>
                                        <p:strVal val="visible"/>
                                      </p:to>
                                    </p:set>
                                    <p:animEffect transition="in" filter="fade">
                                      <p:cBhvr>
                                        <p:cTn id="31" dur="500"/>
                                        <p:tgtEl>
                                          <p:spTgt spid="161"/>
                                        </p:tgtEl>
                                      </p:cBhvr>
                                    </p:animEffect>
                                  </p:childTnLst>
                                </p:cTn>
                              </p:par>
                              <p:par>
                                <p:cTn id="32" presetID="10" presetClass="entr" presetSubtype="0" fill="hold" nodeType="withEffect">
                                  <p:stCondLst>
                                    <p:cond delay="0"/>
                                  </p:stCondLst>
                                  <p:childTnLst>
                                    <p:set>
                                      <p:cBhvr>
                                        <p:cTn id="33" dur="1" fill="hold">
                                          <p:stCondLst>
                                            <p:cond delay="0"/>
                                          </p:stCondLst>
                                        </p:cTn>
                                        <p:tgtEl>
                                          <p:spTgt spid="162"/>
                                        </p:tgtEl>
                                        <p:attrNameLst>
                                          <p:attrName>style.visibility</p:attrName>
                                        </p:attrNameLst>
                                      </p:cBhvr>
                                      <p:to>
                                        <p:strVal val="visible"/>
                                      </p:to>
                                    </p:set>
                                    <p:animEffect transition="in" filter="fade">
                                      <p:cBhvr>
                                        <p:cTn id="34" dur="500"/>
                                        <p:tgtEl>
                                          <p:spTgt spid="162"/>
                                        </p:tgtEl>
                                      </p:cBhvr>
                                    </p:animEffect>
                                  </p:childTnLst>
                                </p:cTn>
                              </p:par>
                              <p:par>
                                <p:cTn id="35" presetID="10" presetClass="entr" presetSubtype="0" fill="hold" nodeType="withEffect">
                                  <p:stCondLst>
                                    <p:cond delay="0"/>
                                  </p:stCondLst>
                                  <p:childTnLst>
                                    <p:set>
                                      <p:cBhvr>
                                        <p:cTn id="36" dur="1" fill="hold">
                                          <p:stCondLst>
                                            <p:cond delay="0"/>
                                          </p:stCondLst>
                                        </p:cTn>
                                        <p:tgtEl>
                                          <p:spTgt spid="163"/>
                                        </p:tgtEl>
                                        <p:attrNameLst>
                                          <p:attrName>style.visibility</p:attrName>
                                        </p:attrNameLst>
                                      </p:cBhvr>
                                      <p:to>
                                        <p:strVal val="visible"/>
                                      </p:to>
                                    </p:set>
                                    <p:animEffect transition="in" filter="fade">
                                      <p:cBhvr>
                                        <p:cTn id="37" dur="500"/>
                                        <p:tgtEl>
                                          <p:spTgt spid="163"/>
                                        </p:tgtEl>
                                      </p:cBhvr>
                                    </p:animEffect>
                                  </p:childTnLst>
                                </p:cTn>
                              </p:par>
                              <p:par>
                                <p:cTn id="38" presetID="10" presetClass="entr" presetSubtype="0" fill="hold" nodeType="withEffect">
                                  <p:stCondLst>
                                    <p:cond delay="0"/>
                                  </p:stCondLst>
                                  <p:childTnLst>
                                    <p:set>
                                      <p:cBhvr>
                                        <p:cTn id="39" dur="1" fill="hold">
                                          <p:stCondLst>
                                            <p:cond delay="0"/>
                                          </p:stCondLst>
                                        </p:cTn>
                                        <p:tgtEl>
                                          <p:spTgt spid="164"/>
                                        </p:tgtEl>
                                        <p:attrNameLst>
                                          <p:attrName>style.visibility</p:attrName>
                                        </p:attrNameLst>
                                      </p:cBhvr>
                                      <p:to>
                                        <p:strVal val="visible"/>
                                      </p:to>
                                    </p:set>
                                    <p:animEffect transition="in" filter="fade">
                                      <p:cBhvr>
                                        <p:cTn id="40" dur="500"/>
                                        <p:tgtEl>
                                          <p:spTgt spid="164"/>
                                        </p:tgtEl>
                                      </p:cBhvr>
                                    </p:animEffect>
                                  </p:childTnLst>
                                </p:cTn>
                              </p:par>
                              <p:par>
                                <p:cTn id="41" presetID="10" presetClass="entr" presetSubtype="0" fill="hold" nodeType="withEffect">
                                  <p:stCondLst>
                                    <p:cond delay="0"/>
                                  </p:stCondLst>
                                  <p:childTnLst>
                                    <p:set>
                                      <p:cBhvr>
                                        <p:cTn id="42" dur="1" fill="hold">
                                          <p:stCondLst>
                                            <p:cond delay="0"/>
                                          </p:stCondLst>
                                        </p:cTn>
                                        <p:tgtEl>
                                          <p:spTgt spid="165"/>
                                        </p:tgtEl>
                                        <p:attrNameLst>
                                          <p:attrName>style.visibility</p:attrName>
                                        </p:attrNameLst>
                                      </p:cBhvr>
                                      <p:to>
                                        <p:strVal val="visible"/>
                                      </p:to>
                                    </p:set>
                                    <p:animEffect transition="in" filter="fade">
                                      <p:cBhvr>
                                        <p:cTn id="43" dur="500"/>
                                        <p:tgtEl>
                                          <p:spTgt spid="165"/>
                                        </p:tgtEl>
                                      </p:cBhvr>
                                    </p:animEffect>
                                  </p:childTnLst>
                                </p:cTn>
                              </p:par>
                              <p:par>
                                <p:cTn id="44" presetID="10" presetClass="entr" presetSubtype="0" fill="hold" nodeType="withEffect">
                                  <p:stCondLst>
                                    <p:cond delay="0"/>
                                  </p:stCondLst>
                                  <p:childTnLst>
                                    <p:set>
                                      <p:cBhvr>
                                        <p:cTn id="45" dur="1" fill="hold">
                                          <p:stCondLst>
                                            <p:cond delay="0"/>
                                          </p:stCondLst>
                                        </p:cTn>
                                        <p:tgtEl>
                                          <p:spTgt spid="166"/>
                                        </p:tgtEl>
                                        <p:attrNameLst>
                                          <p:attrName>style.visibility</p:attrName>
                                        </p:attrNameLst>
                                      </p:cBhvr>
                                      <p:to>
                                        <p:strVal val="visible"/>
                                      </p:to>
                                    </p:set>
                                    <p:animEffect transition="in" filter="fade">
                                      <p:cBhvr>
                                        <p:cTn id="46" dur="500"/>
                                        <p:tgtEl>
                                          <p:spTgt spid="166"/>
                                        </p:tgtEl>
                                      </p:cBhvr>
                                    </p:animEffect>
                                  </p:childTnLst>
                                </p:cTn>
                              </p:par>
                              <p:par>
                                <p:cTn id="47" presetID="10" presetClass="entr" presetSubtype="0" fill="hold" nodeType="withEffect">
                                  <p:stCondLst>
                                    <p:cond delay="0"/>
                                  </p:stCondLst>
                                  <p:childTnLst>
                                    <p:set>
                                      <p:cBhvr>
                                        <p:cTn id="48" dur="1" fill="hold">
                                          <p:stCondLst>
                                            <p:cond delay="0"/>
                                          </p:stCondLst>
                                        </p:cTn>
                                        <p:tgtEl>
                                          <p:spTgt spid="167"/>
                                        </p:tgtEl>
                                        <p:attrNameLst>
                                          <p:attrName>style.visibility</p:attrName>
                                        </p:attrNameLst>
                                      </p:cBhvr>
                                      <p:to>
                                        <p:strVal val="visible"/>
                                      </p:to>
                                    </p:set>
                                    <p:animEffect transition="in" filter="fade">
                                      <p:cBhvr>
                                        <p:cTn id="49" dur="500"/>
                                        <p:tgtEl>
                                          <p:spTgt spid="167"/>
                                        </p:tgtEl>
                                      </p:cBhvr>
                                    </p:animEffect>
                                  </p:childTnLst>
                                </p:cTn>
                              </p:par>
                              <p:par>
                                <p:cTn id="50" presetID="10" presetClass="entr" presetSubtype="0" fill="hold" nodeType="withEffect">
                                  <p:stCondLst>
                                    <p:cond delay="0"/>
                                  </p:stCondLst>
                                  <p:childTnLst>
                                    <p:set>
                                      <p:cBhvr>
                                        <p:cTn id="51" dur="1" fill="hold">
                                          <p:stCondLst>
                                            <p:cond delay="0"/>
                                          </p:stCondLst>
                                        </p:cTn>
                                        <p:tgtEl>
                                          <p:spTgt spid="168"/>
                                        </p:tgtEl>
                                        <p:attrNameLst>
                                          <p:attrName>style.visibility</p:attrName>
                                        </p:attrNameLst>
                                      </p:cBhvr>
                                      <p:to>
                                        <p:strVal val="visible"/>
                                      </p:to>
                                    </p:set>
                                    <p:animEffect transition="in" filter="fade">
                                      <p:cBhvr>
                                        <p:cTn id="52" dur="500"/>
                                        <p:tgtEl>
                                          <p:spTgt spid="168"/>
                                        </p:tgtEl>
                                      </p:cBhvr>
                                    </p:animEffect>
                                  </p:childTnLst>
                                </p:cTn>
                              </p:par>
                              <p:par>
                                <p:cTn id="53" presetID="10" presetClass="entr" presetSubtype="0" fill="hold" nodeType="withEffect">
                                  <p:stCondLst>
                                    <p:cond delay="0"/>
                                  </p:stCondLst>
                                  <p:childTnLst>
                                    <p:set>
                                      <p:cBhvr>
                                        <p:cTn id="54" dur="1" fill="hold">
                                          <p:stCondLst>
                                            <p:cond delay="0"/>
                                          </p:stCondLst>
                                        </p:cTn>
                                        <p:tgtEl>
                                          <p:spTgt spid="169"/>
                                        </p:tgtEl>
                                        <p:attrNameLst>
                                          <p:attrName>style.visibility</p:attrName>
                                        </p:attrNameLst>
                                      </p:cBhvr>
                                      <p:to>
                                        <p:strVal val="visible"/>
                                      </p:to>
                                    </p:set>
                                    <p:animEffect transition="in" filter="fade">
                                      <p:cBhvr>
                                        <p:cTn id="55" dur="500"/>
                                        <p:tgtEl>
                                          <p:spTgt spid="169"/>
                                        </p:tgtEl>
                                      </p:cBhvr>
                                    </p:animEffect>
                                  </p:childTnLst>
                                </p:cTn>
                              </p:par>
                              <p:par>
                                <p:cTn id="56" presetID="10" presetClass="entr" presetSubtype="0" fill="hold" nodeType="withEffect">
                                  <p:stCondLst>
                                    <p:cond delay="0"/>
                                  </p:stCondLst>
                                  <p:childTnLst>
                                    <p:set>
                                      <p:cBhvr>
                                        <p:cTn id="57" dur="1" fill="hold">
                                          <p:stCondLst>
                                            <p:cond delay="0"/>
                                          </p:stCondLst>
                                        </p:cTn>
                                        <p:tgtEl>
                                          <p:spTgt spid="170"/>
                                        </p:tgtEl>
                                        <p:attrNameLst>
                                          <p:attrName>style.visibility</p:attrName>
                                        </p:attrNameLst>
                                      </p:cBhvr>
                                      <p:to>
                                        <p:strVal val="visible"/>
                                      </p:to>
                                    </p:set>
                                    <p:animEffect transition="in" filter="fade">
                                      <p:cBhvr>
                                        <p:cTn id="58" dur="500"/>
                                        <p:tgtEl>
                                          <p:spTgt spid="170"/>
                                        </p:tgtEl>
                                      </p:cBhvr>
                                    </p:animEffect>
                                  </p:childTnLst>
                                </p:cTn>
                              </p:par>
                              <p:par>
                                <p:cTn id="59" presetID="10" presetClass="entr" presetSubtype="0" fill="hold" nodeType="withEffect">
                                  <p:stCondLst>
                                    <p:cond delay="0"/>
                                  </p:stCondLst>
                                  <p:childTnLst>
                                    <p:set>
                                      <p:cBhvr>
                                        <p:cTn id="60" dur="1" fill="hold">
                                          <p:stCondLst>
                                            <p:cond delay="0"/>
                                          </p:stCondLst>
                                        </p:cTn>
                                        <p:tgtEl>
                                          <p:spTgt spid="171"/>
                                        </p:tgtEl>
                                        <p:attrNameLst>
                                          <p:attrName>style.visibility</p:attrName>
                                        </p:attrNameLst>
                                      </p:cBhvr>
                                      <p:to>
                                        <p:strVal val="visible"/>
                                      </p:to>
                                    </p:set>
                                    <p:animEffect transition="in" filter="fade">
                                      <p:cBhvr>
                                        <p:cTn id="61" dur="500"/>
                                        <p:tgtEl>
                                          <p:spTgt spid="171"/>
                                        </p:tgtEl>
                                      </p:cBhvr>
                                    </p:animEffect>
                                  </p:childTnLst>
                                </p:cTn>
                              </p:par>
                              <p:par>
                                <p:cTn id="62" presetID="10" presetClass="entr" presetSubtype="0" fill="hold" nodeType="withEffect">
                                  <p:stCondLst>
                                    <p:cond delay="0"/>
                                  </p:stCondLst>
                                  <p:childTnLst>
                                    <p:set>
                                      <p:cBhvr>
                                        <p:cTn id="63" dur="1" fill="hold">
                                          <p:stCondLst>
                                            <p:cond delay="0"/>
                                          </p:stCondLst>
                                        </p:cTn>
                                        <p:tgtEl>
                                          <p:spTgt spid="172"/>
                                        </p:tgtEl>
                                        <p:attrNameLst>
                                          <p:attrName>style.visibility</p:attrName>
                                        </p:attrNameLst>
                                      </p:cBhvr>
                                      <p:to>
                                        <p:strVal val="visible"/>
                                      </p:to>
                                    </p:set>
                                    <p:animEffect transition="in" filter="fade">
                                      <p:cBhvr>
                                        <p:cTn id="64" dur="500"/>
                                        <p:tgtEl>
                                          <p:spTgt spid="172"/>
                                        </p:tgtEl>
                                      </p:cBhvr>
                                    </p:animEffect>
                                  </p:childTnLst>
                                </p:cTn>
                              </p:par>
                              <p:par>
                                <p:cTn id="65" presetID="10" presetClass="entr" presetSubtype="0" fill="hold" nodeType="withEffect">
                                  <p:stCondLst>
                                    <p:cond delay="0"/>
                                  </p:stCondLst>
                                  <p:childTnLst>
                                    <p:set>
                                      <p:cBhvr>
                                        <p:cTn id="66" dur="1" fill="hold">
                                          <p:stCondLst>
                                            <p:cond delay="0"/>
                                          </p:stCondLst>
                                        </p:cTn>
                                        <p:tgtEl>
                                          <p:spTgt spid="173"/>
                                        </p:tgtEl>
                                        <p:attrNameLst>
                                          <p:attrName>style.visibility</p:attrName>
                                        </p:attrNameLst>
                                      </p:cBhvr>
                                      <p:to>
                                        <p:strVal val="visible"/>
                                      </p:to>
                                    </p:set>
                                    <p:animEffect transition="in" filter="fade">
                                      <p:cBhvr>
                                        <p:cTn id="67" dur="500"/>
                                        <p:tgtEl>
                                          <p:spTgt spid="173"/>
                                        </p:tgtEl>
                                      </p:cBhvr>
                                    </p:animEffect>
                                  </p:childTnLst>
                                </p:cTn>
                              </p:par>
                              <p:par>
                                <p:cTn id="68" presetID="10" presetClass="entr" presetSubtype="0" fill="hold" nodeType="withEffect">
                                  <p:stCondLst>
                                    <p:cond delay="0"/>
                                  </p:stCondLst>
                                  <p:childTnLst>
                                    <p:set>
                                      <p:cBhvr>
                                        <p:cTn id="69" dur="1" fill="hold">
                                          <p:stCondLst>
                                            <p:cond delay="0"/>
                                          </p:stCondLst>
                                        </p:cTn>
                                        <p:tgtEl>
                                          <p:spTgt spid="174"/>
                                        </p:tgtEl>
                                        <p:attrNameLst>
                                          <p:attrName>style.visibility</p:attrName>
                                        </p:attrNameLst>
                                      </p:cBhvr>
                                      <p:to>
                                        <p:strVal val="visible"/>
                                      </p:to>
                                    </p:set>
                                    <p:animEffect transition="in" filter="fade">
                                      <p:cBhvr>
                                        <p:cTn id="70" dur="500"/>
                                        <p:tgtEl>
                                          <p:spTgt spid="174"/>
                                        </p:tgtEl>
                                      </p:cBhvr>
                                    </p:animEffect>
                                  </p:childTnLst>
                                </p:cTn>
                              </p:par>
                              <p:par>
                                <p:cTn id="71" presetID="10" presetClass="entr" presetSubtype="0" fill="hold" nodeType="withEffect">
                                  <p:stCondLst>
                                    <p:cond delay="0"/>
                                  </p:stCondLst>
                                  <p:childTnLst>
                                    <p:set>
                                      <p:cBhvr>
                                        <p:cTn id="72" dur="1" fill="hold">
                                          <p:stCondLst>
                                            <p:cond delay="0"/>
                                          </p:stCondLst>
                                        </p:cTn>
                                        <p:tgtEl>
                                          <p:spTgt spid="175"/>
                                        </p:tgtEl>
                                        <p:attrNameLst>
                                          <p:attrName>style.visibility</p:attrName>
                                        </p:attrNameLst>
                                      </p:cBhvr>
                                      <p:to>
                                        <p:strVal val="visible"/>
                                      </p:to>
                                    </p:set>
                                    <p:animEffect transition="in" filter="fade">
                                      <p:cBhvr>
                                        <p:cTn id="73" dur="500"/>
                                        <p:tgtEl>
                                          <p:spTgt spid="175"/>
                                        </p:tgtEl>
                                      </p:cBhvr>
                                    </p:animEffect>
                                  </p:childTnLst>
                                </p:cTn>
                              </p:par>
                              <p:par>
                                <p:cTn id="74" presetID="10" presetClass="entr" presetSubtype="0" fill="hold" nodeType="withEffect">
                                  <p:stCondLst>
                                    <p:cond delay="0"/>
                                  </p:stCondLst>
                                  <p:childTnLst>
                                    <p:set>
                                      <p:cBhvr>
                                        <p:cTn id="75" dur="1" fill="hold">
                                          <p:stCondLst>
                                            <p:cond delay="0"/>
                                          </p:stCondLst>
                                        </p:cTn>
                                        <p:tgtEl>
                                          <p:spTgt spid="176"/>
                                        </p:tgtEl>
                                        <p:attrNameLst>
                                          <p:attrName>style.visibility</p:attrName>
                                        </p:attrNameLst>
                                      </p:cBhvr>
                                      <p:to>
                                        <p:strVal val="visible"/>
                                      </p:to>
                                    </p:set>
                                    <p:animEffect transition="in" filter="fade">
                                      <p:cBhvr>
                                        <p:cTn id="76" dur="500"/>
                                        <p:tgtEl>
                                          <p:spTgt spid="176"/>
                                        </p:tgtEl>
                                      </p:cBhvr>
                                    </p:animEffect>
                                  </p:childTnLst>
                                </p:cTn>
                              </p:par>
                              <p:par>
                                <p:cTn id="77" presetID="10" presetClass="entr" presetSubtype="0" fill="hold" nodeType="withEffect">
                                  <p:stCondLst>
                                    <p:cond delay="0"/>
                                  </p:stCondLst>
                                  <p:childTnLst>
                                    <p:set>
                                      <p:cBhvr>
                                        <p:cTn id="78" dur="1" fill="hold">
                                          <p:stCondLst>
                                            <p:cond delay="0"/>
                                          </p:stCondLst>
                                        </p:cTn>
                                        <p:tgtEl>
                                          <p:spTgt spid="177"/>
                                        </p:tgtEl>
                                        <p:attrNameLst>
                                          <p:attrName>style.visibility</p:attrName>
                                        </p:attrNameLst>
                                      </p:cBhvr>
                                      <p:to>
                                        <p:strVal val="visible"/>
                                      </p:to>
                                    </p:set>
                                    <p:animEffect transition="in" filter="fade">
                                      <p:cBhvr>
                                        <p:cTn id="79" dur="500"/>
                                        <p:tgtEl>
                                          <p:spTgt spid="177"/>
                                        </p:tgtEl>
                                      </p:cBhvr>
                                    </p:animEffect>
                                  </p:childTnLst>
                                </p:cTn>
                              </p:par>
                              <p:par>
                                <p:cTn id="80" presetID="10" presetClass="entr" presetSubtype="0" fill="hold" nodeType="withEffect">
                                  <p:stCondLst>
                                    <p:cond delay="0"/>
                                  </p:stCondLst>
                                  <p:childTnLst>
                                    <p:set>
                                      <p:cBhvr>
                                        <p:cTn id="81" dur="1" fill="hold">
                                          <p:stCondLst>
                                            <p:cond delay="0"/>
                                          </p:stCondLst>
                                        </p:cTn>
                                        <p:tgtEl>
                                          <p:spTgt spid="178"/>
                                        </p:tgtEl>
                                        <p:attrNameLst>
                                          <p:attrName>style.visibility</p:attrName>
                                        </p:attrNameLst>
                                      </p:cBhvr>
                                      <p:to>
                                        <p:strVal val="visible"/>
                                      </p:to>
                                    </p:set>
                                    <p:animEffect transition="in" filter="fade">
                                      <p:cBhvr>
                                        <p:cTn id="82" dur="500"/>
                                        <p:tgtEl>
                                          <p:spTgt spid="178"/>
                                        </p:tgtEl>
                                      </p:cBhvr>
                                    </p:animEffect>
                                  </p:childTnLst>
                                </p:cTn>
                              </p:par>
                              <p:par>
                                <p:cTn id="83" presetID="10" presetClass="entr" presetSubtype="0" fill="hold" nodeType="withEffect">
                                  <p:stCondLst>
                                    <p:cond delay="0"/>
                                  </p:stCondLst>
                                  <p:childTnLst>
                                    <p:set>
                                      <p:cBhvr>
                                        <p:cTn id="84" dur="1" fill="hold">
                                          <p:stCondLst>
                                            <p:cond delay="0"/>
                                          </p:stCondLst>
                                        </p:cTn>
                                        <p:tgtEl>
                                          <p:spTgt spid="179"/>
                                        </p:tgtEl>
                                        <p:attrNameLst>
                                          <p:attrName>style.visibility</p:attrName>
                                        </p:attrNameLst>
                                      </p:cBhvr>
                                      <p:to>
                                        <p:strVal val="visible"/>
                                      </p:to>
                                    </p:set>
                                    <p:animEffect transition="in" filter="fade">
                                      <p:cBhvr>
                                        <p:cTn id="85" dur="500"/>
                                        <p:tgtEl>
                                          <p:spTgt spid="179"/>
                                        </p:tgtEl>
                                      </p:cBhvr>
                                    </p:animEffect>
                                  </p:childTnLst>
                                </p:cTn>
                              </p:par>
                              <p:par>
                                <p:cTn id="86" presetID="10" presetClass="entr" presetSubtype="0" fill="hold" nodeType="withEffect">
                                  <p:stCondLst>
                                    <p:cond delay="0"/>
                                  </p:stCondLst>
                                  <p:childTnLst>
                                    <p:set>
                                      <p:cBhvr>
                                        <p:cTn id="87" dur="1" fill="hold">
                                          <p:stCondLst>
                                            <p:cond delay="0"/>
                                          </p:stCondLst>
                                        </p:cTn>
                                        <p:tgtEl>
                                          <p:spTgt spid="180"/>
                                        </p:tgtEl>
                                        <p:attrNameLst>
                                          <p:attrName>style.visibility</p:attrName>
                                        </p:attrNameLst>
                                      </p:cBhvr>
                                      <p:to>
                                        <p:strVal val="visible"/>
                                      </p:to>
                                    </p:set>
                                    <p:animEffect transition="in" filter="fade">
                                      <p:cBhvr>
                                        <p:cTn id="88" dur="500"/>
                                        <p:tgtEl>
                                          <p:spTgt spid="180"/>
                                        </p:tgtEl>
                                      </p:cBhvr>
                                    </p:animEffect>
                                  </p:childTnLst>
                                </p:cTn>
                              </p:par>
                              <p:par>
                                <p:cTn id="89" presetID="10" presetClass="entr" presetSubtype="0" fill="hold" nodeType="withEffect">
                                  <p:stCondLst>
                                    <p:cond delay="0"/>
                                  </p:stCondLst>
                                  <p:childTnLst>
                                    <p:set>
                                      <p:cBhvr>
                                        <p:cTn id="90" dur="1" fill="hold">
                                          <p:stCondLst>
                                            <p:cond delay="0"/>
                                          </p:stCondLst>
                                        </p:cTn>
                                        <p:tgtEl>
                                          <p:spTgt spid="181"/>
                                        </p:tgtEl>
                                        <p:attrNameLst>
                                          <p:attrName>style.visibility</p:attrName>
                                        </p:attrNameLst>
                                      </p:cBhvr>
                                      <p:to>
                                        <p:strVal val="visible"/>
                                      </p:to>
                                    </p:set>
                                    <p:animEffect transition="in" filter="fade">
                                      <p:cBhvr>
                                        <p:cTn id="91" dur="500"/>
                                        <p:tgtEl>
                                          <p:spTgt spid="181"/>
                                        </p:tgtEl>
                                      </p:cBhvr>
                                    </p:animEffect>
                                  </p:childTnLst>
                                </p:cTn>
                              </p:par>
                              <p:par>
                                <p:cTn id="92" presetID="10" presetClass="entr" presetSubtype="0" fill="hold" nodeType="withEffect">
                                  <p:stCondLst>
                                    <p:cond delay="0"/>
                                  </p:stCondLst>
                                  <p:childTnLst>
                                    <p:set>
                                      <p:cBhvr>
                                        <p:cTn id="93" dur="1" fill="hold">
                                          <p:stCondLst>
                                            <p:cond delay="0"/>
                                          </p:stCondLst>
                                        </p:cTn>
                                        <p:tgtEl>
                                          <p:spTgt spid="182"/>
                                        </p:tgtEl>
                                        <p:attrNameLst>
                                          <p:attrName>style.visibility</p:attrName>
                                        </p:attrNameLst>
                                      </p:cBhvr>
                                      <p:to>
                                        <p:strVal val="visible"/>
                                      </p:to>
                                    </p:set>
                                    <p:animEffect transition="in" filter="fade">
                                      <p:cBhvr>
                                        <p:cTn id="94" dur="500"/>
                                        <p:tgtEl>
                                          <p:spTgt spid="182"/>
                                        </p:tgtEl>
                                      </p:cBhvr>
                                    </p:animEffect>
                                  </p:childTnLst>
                                </p:cTn>
                              </p:par>
                              <p:par>
                                <p:cTn id="95" presetID="10" presetClass="entr" presetSubtype="0" fill="hold" nodeType="withEffect">
                                  <p:stCondLst>
                                    <p:cond delay="0"/>
                                  </p:stCondLst>
                                  <p:childTnLst>
                                    <p:set>
                                      <p:cBhvr>
                                        <p:cTn id="96" dur="1" fill="hold">
                                          <p:stCondLst>
                                            <p:cond delay="0"/>
                                          </p:stCondLst>
                                        </p:cTn>
                                        <p:tgtEl>
                                          <p:spTgt spid="183"/>
                                        </p:tgtEl>
                                        <p:attrNameLst>
                                          <p:attrName>style.visibility</p:attrName>
                                        </p:attrNameLst>
                                      </p:cBhvr>
                                      <p:to>
                                        <p:strVal val="visible"/>
                                      </p:to>
                                    </p:set>
                                    <p:animEffect transition="in" filter="fade">
                                      <p:cBhvr>
                                        <p:cTn id="97" dur="500"/>
                                        <p:tgtEl>
                                          <p:spTgt spid="183"/>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196"/>
                                        </p:tgtEl>
                                        <p:attrNameLst>
                                          <p:attrName>style.visibility</p:attrName>
                                        </p:attrNameLst>
                                      </p:cBhvr>
                                      <p:to>
                                        <p:strVal val="visible"/>
                                      </p:to>
                                    </p:set>
                                    <p:animEffect transition="in" filter="fade">
                                      <p:cBhvr>
                                        <p:cTn id="102" dur="500"/>
                                        <p:tgtEl>
                                          <p:spTgt spid="196"/>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grpId="0" nodeType="clickEffect">
                                  <p:stCondLst>
                                    <p:cond delay="0"/>
                                  </p:stCondLst>
                                  <p:childTnLst>
                                    <p:set>
                                      <p:cBhvr>
                                        <p:cTn id="106" dur="1" fill="hold">
                                          <p:stCondLst>
                                            <p:cond delay="0"/>
                                          </p:stCondLst>
                                        </p:cTn>
                                        <p:tgtEl>
                                          <p:spTgt spid="187"/>
                                        </p:tgtEl>
                                        <p:attrNameLst>
                                          <p:attrName>style.visibility</p:attrName>
                                        </p:attrNameLst>
                                      </p:cBhvr>
                                      <p:to>
                                        <p:strVal val="visible"/>
                                      </p:to>
                                    </p:set>
                                    <p:animEffect transition="in" filter="fade">
                                      <p:cBhvr>
                                        <p:cTn id="107" dur="500"/>
                                        <p:tgtEl>
                                          <p:spTgt spid="187"/>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188"/>
                                        </p:tgtEl>
                                        <p:attrNameLst>
                                          <p:attrName>style.visibility</p:attrName>
                                        </p:attrNameLst>
                                      </p:cBhvr>
                                      <p:to>
                                        <p:strVal val="visible"/>
                                      </p:to>
                                    </p:set>
                                    <p:animEffect transition="in" filter="fade">
                                      <p:cBhvr>
                                        <p:cTn id="110" dur="500"/>
                                        <p:tgtEl>
                                          <p:spTgt spid="188"/>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186"/>
                                        </p:tgtEl>
                                        <p:attrNameLst>
                                          <p:attrName>style.visibility</p:attrName>
                                        </p:attrNameLst>
                                      </p:cBhvr>
                                      <p:to>
                                        <p:strVal val="visible"/>
                                      </p:to>
                                    </p:set>
                                    <p:animEffect transition="in" filter="fade">
                                      <p:cBhvr>
                                        <p:cTn id="113" dur="500"/>
                                        <p:tgtEl>
                                          <p:spTgt spid="186"/>
                                        </p:tgtEl>
                                      </p:cBhvr>
                                    </p:animEffect>
                                  </p:childTnLst>
                                </p:cTn>
                              </p:par>
                              <p:par>
                                <p:cTn id="114" presetID="10" presetClass="entr" presetSubtype="0" fill="hold" nodeType="withEffect">
                                  <p:stCondLst>
                                    <p:cond delay="0"/>
                                  </p:stCondLst>
                                  <p:childTnLst>
                                    <p:set>
                                      <p:cBhvr>
                                        <p:cTn id="115" dur="1" fill="hold">
                                          <p:stCondLst>
                                            <p:cond delay="0"/>
                                          </p:stCondLst>
                                        </p:cTn>
                                        <p:tgtEl>
                                          <p:spTgt spid="185"/>
                                        </p:tgtEl>
                                        <p:attrNameLst>
                                          <p:attrName>style.visibility</p:attrName>
                                        </p:attrNameLst>
                                      </p:cBhvr>
                                      <p:to>
                                        <p:strVal val="visible"/>
                                      </p:to>
                                    </p:set>
                                    <p:animEffect transition="in" filter="fade">
                                      <p:cBhvr>
                                        <p:cTn id="116" dur="500"/>
                                        <p:tgtEl>
                                          <p:spTgt spid="185"/>
                                        </p:tgtEl>
                                      </p:cBhvr>
                                    </p:animEffect>
                                  </p:childTnLst>
                                </p:cTn>
                              </p:par>
                              <p:par>
                                <p:cTn id="117" presetID="10" presetClass="entr" presetSubtype="0" fill="hold" nodeType="withEffect">
                                  <p:stCondLst>
                                    <p:cond delay="0"/>
                                  </p:stCondLst>
                                  <p:childTnLst>
                                    <p:set>
                                      <p:cBhvr>
                                        <p:cTn id="118" dur="1" fill="hold">
                                          <p:stCondLst>
                                            <p:cond delay="0"/>
                                          </p:stCondLst>
                                        </p:cTn>
                                        <p:tgtEl>
                                          <p:spTgt spid="184"/>
                                        </p:tgtEl>
                                        <p:attrNameLst>
                                          <p:attrName>style.visibility</p:attrName>
                                        </p:attrNameLst>
                                      </p:cBhvr>
                                      <p:to>
                                        <p:strVal val="visible"/>
                                      </p:to>
                                    </p:set>
                                    <p:animEffect transition="in" filter="fade">
                                      <p:cBhvr>
                                        <p:cTn id="119" dur="500"/>
                                        <p:tgtEl>
                                          <p:spTgt spid="184"/>
                                        </p:tgtEl>
                                      </p:cBhvr>
                                    </p:animEffect>
                                  </p:childTnLst>
                                </p:cTn>
                              </p:par>
                            </p:childTnLst>
                          </p:cTn>
                        </p:par>
                      </p:childTnLst>
                    </p:cTn>
                  </p:par>
                  <p:par>
                    <p:cTn id="120" fill="hold">
                      <p:stCondLst>
                        <p:cond delay="indefinite"/>
                      </p:stCondLst>
                      <p:childTnLst>
                        <p:par>
                          <p:cTn id="121" fill="hold">
                            <p:stCondLst>
                              <p:cond delay="0"/>
                            </p:stCondLst>
                            <p:childTnLst>
                              <p:par>
                                <p:cTn id="122" presetID="10" presetClass="entr" presetSubtype="0" fill="hold" grpId="0" nodeType="clickEffect">
                                  <p:stCondLst>
                                    <p:cond delay="0"/>
                                  </p:stCondLst>
                                  <p:childTnLst>
                                    <p:set>
                                      <p:cBhvr>
                                        <p:cTn id="123" dur="1" fill="hold">
                                          <p:stCondLst>
                                            <p:cond delay="0"/>
                                          </p:stCondLst>
                                        </p:cTn>
                                        <p:tgtEl>
                                          <p:spTgt spid="224"/>
                                        </p:tgtEl>
                                        <p:attrNameLst>
                                          <p:attrName>style.visibility</p:attrName>
                                        </p:attrNameLst>
                                      </p:cBhvr>
                                      <p:to>
                                        <p:strVal val="visible"/>
                                      </p:to>
                                    </p:set>
                                    <p:animEffect transition="in" filter="fade">
                                      <p:cBhvr>
                                        <p:cTn id="124" dur="500"/>
                                        <p:tgtEl>
                                          <p:spTgt spid="224"/>
                                        </p:tgtEl>
                                      </p:cBhvr>
                                    </p:animEffect>
                                  </p:childTnLst>
                                </p:cTn>
                              </p:par>
                            </p:childTnLst>
                          </p:cTn>
                        </p:par>
                      </p:childTnLst>
                    </p:cTn>
                  </p:par>
                  <p:par>
                    <p:cTn id="125" fill="hold">
                      <p:stCondLst>
                        <p:cond delay="indefinite"/>
                      </p:stCondLst>
                      <p:childTnLst>
                        <p:par>
                          <p:cTn id="126" fill="hold">
                            <p:stCondLst>
                              <p:cond delay="0"/>
                            </p:stCondLst>
                            <p:childTnLst>
                              <p:par>
                                <p:cTn id="127" presetID="10" presetClass="entr" presetSubtype="0" fill="hold" nodeType="clickEffect">
                                  <p:stCondLst>
                                    <p:cond delay="0"/>
                                  </p:stCondLst>
                                  <p:childTnLst>
                                    <p:set>
                                      <p:cBhvr>
                                        <p:cTn id="128" dur="1" fill="hold">
                                          <p:stCondLst>
                                            <p:cond delay="0"/>
                                          </p:stCondLst>
                                        </p:cTn>
                                        <p:tgtEl>
                                          <p:spTgt spid="5"/>
                                        </p:tgtEl>
                                        <p:attrNameLst>
                                          <p:attrName>style.visibility</p:attrName>
                                        </p:attrNameLst>
                                      </p:cBhvr>
                                      <p:to>
                                        <p:strVal val="visible"/>
                                      </p:to>
                                    </p:set>
                                    <p:animEffect transition="in" filter="fade">
                                      <p:cBhvr>
                                        <p:cTn id="129" dur="500"/>
                                        <p:tgtEl>
                                          <p:spTgt spid="5"/>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194"/>
                                        </p:tgtEl>
                                        <p:attrNameLst>
                                          <p:attrName>style.visibility</p:attrName>
                                        </p:attrNameLst>
                                      </p:cBhvr>
                                      <p:to>
                                        <p:strVal val="visible"/>
                                      </p:to>
                                    </p:set>
                                    <p:animEffect transition="in" filter="fade">
                                      <p:cBhvr>
                                        <p:cTn id="132" dur="500"/>
                                        <p:tgtEl>
                                          <p:spTgt spid="194"/>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195"/>
                                        </p:tgtEl>
                                        <p:attrNameLst>
                                          <p:attrName>style.visibility</p:attrName>
                                        </p:attrNameLst>
                                      </p:cBhvr>
                                      <p:to>
                                        <p:strVal val="visible"/>
                                      </p:to>
                                    </p:set>
                                    <p:animEffect transition="in" filter="fade">
                                      <p:cBhvr>
                                        <p:cTn id="135" dur="500"/>
                                        <p:tgtEl>
                                          <p:spTgt spid="195"/>
                                        </p:tgtEl>
                                      </p:cBhvr>
                                    </p:animEffect>
                                  </p:childTnLst>
                                </p:cTn>
                              </p:par>
                              <p:par>
                                <p:cTn id="136" presetID="10" presetClass="entr" presetSubtype="0" fill="hold" nodeType="withEffect">
                                  <p:stCondLst>
                                    <p:cond delay="0"/>
                                  </p:stCondLst>
                                  <p:childTnLst>
                                    <p:set>
                                      <p:cBhvr>
                                        <p:cTn id="137" dur="1" fill="hold">
                                          <p:stCondLst>
                                            <p:cond delay="0"/>
                                          </p:stCondLst>
                                        </p:cTn>
                                        <p:tgtEl>
                                          <p:spTgt spid="8"/>
                                        </p:tgtEl>
                                        <p:attrNameLst>
                                          <p:attrName>style.visibility</p:attrName>
                                        </p:attrNameLst>
                                      </p:cBhvr>
                                      <p:to>
                                        <p:strVal val="visible"/>
                                      </p:to>
                                    </p:set>
                                    <p:animEffect transition="in" filter="fade">
                                      <p:cBhvr>
                                        <p:cTn id="138" dur="500"/>
                                        <p:tgtEl>
                                          <p:spTgt spid="8"/>
                                        </p:tgtEl>
                                      </p:cBhvr>
                                    </p:animEffect>
                                  </p:childTnLst>
                                </p:cTn>
                              </p:par>
                            </p:childTnLst>
                          </p:cTn>
                        </p:par>
                      </p:childTnLst>
                    </p:cTn>
                  </p:par>
                  <p:par>
                    <p:cTn id="139" fill="hold">
                      <p:stCondLst>
                        <p:cond delay="indefinite"/>
                      </p:stCondLst>
                      <p:childTnLst>
                        <p:par>
                          <p:cTn id="140" fill="hold">
                            <p:stCondLst>
                              <p:cond delay="0"/>
                            </p:stCondLst>
                            <p:childTnLst>
                              <p:par>
                                <p:cTn id="141" presetID="10" presetClass="entr" presetSubtype="0" fill="hold" nodeType="clickEffect">
                                  <p:stCondLst>
                                    <p:cond delay="0"/>
                                  </p:stCondLst>
                                  <p:childTnLst>
                                    <p:set>
                                      <p:cBhvr>
                                        <p:cTn id="142" dur="1" fill="hold">
                                          <p:stCondLst>
                                            <p:cond delay="0"/>
                                          </p:stCondLst>
                                        </p:cTn>
                                        <p:tgtEl>
                                          <p:spTgt spid="9"/>
                                        </p:tgtEl>
                                        <p:attrNameLst>
                                          <p:attrName>style.visibility</p:attrName>
                                        </p:attrNameLst>
                                      </p:cBhvr>
                                      <p:to>
                                        <p:strVal val="visible"/>
                                      </p:to>
                                    </p:set>
                                    <p:animEffect transition="in" filter="fade">
                                      <p:cBhvr>
                                        <p:cTn id="143" dur="500"/>
                                        <p:tgtEl>
                                          <p:spTgt spid="9"/>
                                        </p:tgtEl>
                                      </p:cBhvr>
                                    </p:animEffect>
                                  </p:childTnLst>
                                </p:cTn>
                              </p:par>
                              <p:par>
                                <p:cTn id="144" presetID="10" presetClass="entr" presetSubtype="0" fill="hold" grpId="0" nodeType="withEffect">
                                  <p:stCondLst>
                                    <p:cond delay="0"/>
                                  </p:stCondLst>
                                  <p:childTnLst>
                                    <p:set>
                                      <p:cBhvr>
                                        <p:cTn id="145" dur="1" fill="hold">
                                          <p:stCondLst>
                                            <p:cond delay="0"/>
                                          </p:stCondLst>
                                        </p:cTn>
                                        <p:tgtEl>
                                          <p:spTgt spid="198"/>
                                        </p:tgtEl>
                                        <p:attrNameLst>
                                          <p:attrName>style.visibility</p:attrName>
                                        </p:attrNameLst>
                                      </p:cBhvr>
                                      <p:to>
                                        <p:strVal val="visible"/>
                                      </p:to>
                                    </p:set>
                                    <p:animEffect transition="in" filter="fade">
                                      <p:cBhvr>
                                        <p:cTn id="146" dur="500"/>
                                        <p:tgtEl>
                                          <p:spTgt spid="198"/>
                                        </p:tgtEl>
                                      </p:cBhvr>
                                    </p:animEffect>
                                  </p:childTnLst>
                                </p:cTn>
                              </p:par>
                              <p:par>
                                <p:cTn id="147" presetID="10" presetClass="entr" presetSubtype="0" fill="hold" nodeType="withEffect">
                                  <p:stCondLst>
                                    <p:cond delay="0"/>
                                  </p:stCondLst>
                                  <p:childTnLst>
                                    <p:set>
                                      <p:cBhvr>
                                        <p:cTn id="148" dur="1" fill="hold">
                                          <p:stCondLst>
                                            <p:cond delay="0"/>
                                          </p:stCondLst>
                                        </p:cTn>
                                        <p:tgtEl>
                                          <p:spTgt spid="197"/>
                                        </p:tgtEl>
                                        <p:attrNameLst>
                                          <p:attrName>style.visibility</p:attrName>
                                        </p:attrNameLst>
                                      </p:cBhvr>
                                      <p:to>
                                        <p:strVal val="visible"/>
                                      </p:to>
                                    </p:set>
                                    <p:animEffect transition="in" filter="fade">
                                      <p:cBhvr>
                                        <p:cTn id="149" dur="500"/>
                                        <p:tgtEl>
                                          <p:spTgt spid="197"/>
                                        </p:tgtEl>
                                      </p:cBhvr>
                                    </p:animEffect>
                                  </p:childTnLst>
                                </p:cTn>
                              </p:par>
                            </p:childTnLst>
                          </p:cTn>
                        </p:par>
                      </p:childTnLst>
                    </p:cTn>
                  </p:par>
                  <p:par>
                    <p:cTn id="150" fill="hold">
                      <p:stCondLst>
                        <p:cond delay="indefinite"/>
                      </p:stCondLst>
                      <p:childTnLst>
                        <p:par>
                          <p:cTn id="151" fill="hold">
                            <p:stCondLst>
                              <p:cond delay="0"/>
                            </p:stCondLst>
                            <p:childTnLst>
                              <p:par>
                                <p:cTn id="152" presetID="10" presetClass="entr" presetSubtype="0" fill="hold" grpId="0" nodeType="clickEffect">
                                  <p:stCondLst>
                                    <p:cond delay="0"/>
                                  </p:stCondLst>
                                  <p:childTnLst>
                                    <p:set>
                                      <p:cBhvr>
                                        <p:cTn id="153" dur="1" fill="hold">
                                          <p:stCondLst>
                                            <p:cond delay="0"/>
                                          </p:stCondLst>
                                        </p:cTn>
                                        <p:tgtEl>
                                          <p:spTgt spid="190"/>
                                        </p:tgtEl>
                                        <p:attrNameLst>
                                          <p:attrName>style.visibility</p:attrName>
                                        </p:attrNameLst>
                                      </p:cBhvr>
                                      <p:to>
                                        <p:strVal val="visible"/>
                                      </p:to>
                                    </p:set>
                                    <p:animEffect transition="in" filter="fade">
                                      <p:cBhvr>
                                        <p:cTn id="154" dur="500"/>
                                        <p:tgtEl>
                                          <p:spTgt spid="190"/>
                                        </p:tgtEl>
                                      </p:cBhvr>
                                    </p:animEffect>
                                  </p:childTnLst>
                                </p:cTn>
                              </p:par>
                              <p:par>
                                <p:cTn id="155" presetID="10" presetClass="entr" presetSubtype="0" fill="hold" nodeType="withEffect">
                                  <p:stCondLst>
                                    <p:cond delay="0"/>
                                  </p:stCondLst>
                                  <p:childTnLst>
                                    <p:set>
                                      <p:cBhvr>
                                        <p:cTn id="156" dur="1" fill="hold">
                                          <p:stCondLst>
                                            <p:cond delay="0"/>
                                          </p:stCondLst>
                                        </p:cTn>
                                        <p:tgtEl>
                                          <p:spTgt spid="10"/>
                                        </p:tgtEl>
                                        <p:attrNameLst>
                                          <p:attrName>style.visibility</p:attrName>
                                        </p:attrNameLst>
                                      </p:cBhvr>
                                      <p:to>
                                        <p:strVal val="visible"/>
                                      </p:to>
                                    </p:set>
                                    <p:animEffect transition="in" filter="fade">
                                      <p:cBhvr>
                                        <p:cTn id="157" dur="500"/>
                                        <p:tgtEl>
                                          <p:spTgt spid="10"/>
                                        </p:tgtEl>
                                      </p:cBhvr>
                                    </p:animEffect>
                                  </p:childTnLst>
                                </p:cTn>
                              </p:par>
                            </p:childTnLst>
                          </p:cTn>
                        </p:par>
                      </p:childTnLst>
                    </p:cTn>
                  </p:par>
                  <p:par>
                    <p:cTn id="158" fill="hold">
                      <p:stCondLst>
                        <p:cond delay="indefinite"/>
                      </p:stCondLst>
                      <p:childTnLst>
                        <p:par>
                          <p:cTn id="159" fill="hold">
                            <p:stCondLst>
                              <p:cond delay="0"/>
                            </p:stCondLst>
                            <p:childTnLst>
                              <p:par>
                                <p:cTn id="160" presetID="10" presetClass="entr" presetSubtype="0" fill="hold" grpId="0" nodeType="clickEffect">
                                  <p:stCondLst>
                                    <p:cond delay="0"/>
                                  </p:stCondLst>
                                  <p:childTnLst>
                                    <p:set>
                                      <p:cBhvr>
                                        <p:cTn id="161" dur="1" fill="hold">
                                          <p:stCondLst>
                                            <p:cond delay="0"/>
                                          </p:stCondLst>
                                        </p:cTn>
                                        <p:tgtEl>
                                          <p:spTgt spid="69"/>
                                        </p:tgtEl>
                                        <p:attrNameLst>
                                          <p:attrName>style.visibility</p:attrName>
                                        </p:attrNameLst>
                                      </p:cBhvr>
                                      <p:to>
                                        <p:strVal val="visible"/>
                                      </p:to>
                                    </p:set>
                                    <p:animEffect transition="in" filter="fade">
                                      <p:cBhvr>
                                        <p:cTn id="162" dur="5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p:bldP spid="155" grpId="0"/>
      <p:bldP spid="186" grpId="0" animBg="1"/>
      <p:bldP spid="187" grpId="0" animBg="1"/>
      <p:bldP spid="188" grpId="0" animBg="1"/>
      <p:bldP spid="190" grpId="0" animBg="1"/>
      <p:bldP spid="194" grpId="0" animBg="1"/>
      <p:bldP spid="195" grpId="0" animBg="1"/>
      <p:bldP spid="196" grpId="0" animBg="1"/>
      <p:bldP spid="198" grpId="0" animBg="1"/>
      <p:bldP spid="224"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支持向量机基本型</a:t>
            </a:r>
            <a:endParaRPr lang="zh-CN" altLang="en-US" dirty="0">
              <a:latin typeface="黑体" panose="02010609060101010101" pitchFamily="49" charset="-122"/>
              <a:ea typeface="黑体" panose="02010609060101010101" pitchFamily="49" charset="-122"/>
            </a:endParaRPr>
          </a:p>
        </p:txBody>
      </p:sp>
      <p:sp>
        <p:nvSpPr>
          <p:cNvPr id="4" name="内容占位符 3"/>
          <p:cNvSpPr>
            <a:spLocks noGrp="1"/>
          </p:cNvSpPr>
          <p:nvPr>
            <p:ph idx="1"/>
          </p:nvPr>
        </p:nvSpPr>
        <p:spPr>
          <a:xfrm>
            <a:off x="202173" y="1339027"/>
            <a:ext cx="8616950" cy="451134"/>
          </a:xfrm>
        </p:spPr>
        <p:txBody>
          <a:bodyPr>
            <a:normAutofit/>
          </a:bodyPr>
          <a:lstStyle/>
          <a:p>
            <a:r>
              <a:rPr lang="zh-CN" altLang="en-US" b="1" dirty="0">
                <a:latin typeface="黑体" panose="02010609060101010101" pitchFamily="49" charset="-122"/>
                <a:ea typeface="黑体" panose="02010609060101010101" pitchFamily="49" charset="-122"/>
              </a:rPr>
              <a:t>最大间隔</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 寻找参数</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和  </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使得</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最大</a:t>
            </a:r>
            <a:r>
              <a:rPr lang="en-US" altLang="zh-CN" b="1" dirty="0">
                <a:latin typeface="黑体" panose="02010609060101010101" pitchFamily="49" charset="-122"/>
                <a:ea typeface="黑体" panose="02010609060101010101" pitchFamily="49" charset="-122"/>
              </a:rPr>
              <a:t>.</a:t>
            </a:r>
            <a:endParaRPr lang="zh-CN" altLang="en-US" b="1" dirty="0">
              <a:latin typeface="黑体" panose="02010609060101010101" pitchFamily="49" charset="-122"/>
              <a:ea typeface="黑体" panose="02010609060101010101" pitchFamily="49" charset="-122"/>
            </a:endParaRPr>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346117" y="1463870"/>
            <a:ext cx="310923" cy="286537"/>
          </a:xfrm>
          <a:prstGeom prst="rect">
            <a:avLst/>
          </a:prstGeom>
        </p:spPr>
      </p:pic>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00470" y="1388874"/>
            <a:ext cx="164606" cy="371888"/>
          </a:xfrm>
          <a:prstGeom prst="rect">
            <a:avLst/>
          </a:prstGeom>
        </p:spPr>
      </p:pic>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44004" y="1402126"/>
            <a:ext cx="216000" cy="288000"/>
          </a:xfrm>
          <a:prstGeom prst="rect">
            <a:avLst/>
          </a:prstGeom>
        </p:spPr>
      </p:pic>
      <p:sp>
        <p:nvSpPr>
          <p:cNvPr id="9" name="下箭头 8"/>
          <p:cNvSpPr/>
          <p:nvPr/>
        </p:nvSpPr>
        <p:spPr>
          <a:xfrm>
            <a:off x="4264074" y="3477183"/>
            <a:ext cx="486610" cy="42407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87735" y="2074462"/>
            <a:ext cx="5639289" cy="1225402"/>
          </a:xfrm>
          <a:prstGeom prst="rect">
            <a:avLst/>
          </a:prstGeom>
        </p:spPr>
      </p:pic>
      <p:pic>
        <p:nvPicPr>
          <p:cNvPr id="2" name="图片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18217" y="4078572"/>
            <a:ext cx="5578323" cy="1225402"/>
          </a:xfrm>
          <a:prstGeom prst="rect">
            <a:avLst/>
          </a:prstGeom>
        </p:spPr>
      </p:pic>
      <p:sp>
        <p:nvSpPr>
          <p:cNvPr id="6" name="矩形 5"/>
          <p:cNvSpPr/>
          <p:nvPr/>
        </p:nvSpPr>
        <p:spPr>
          <a:xfrm>
            <a:off x="260350" y="5536736"/>
            <a:ext cx="3739806" cy="397032"/>
          </a:xfrm>
          <a:prstGeom prst="rect">
            <a:avLst/>
          </a:prstGeom>
        </p:spPr>
        <p:txBody>
          <a:bodyPr vert="horz" lIns="91440" tIns="46800" rIns="91440" bIns="45720" rtlCol="0">
            <a:normAutofit/>
          </a:bodyPr>
          <a:lstStyle/>
          <a:p>
            <a:pPr marL="228600" indent="-360045">
              <a:lnSpc>
                <a:spcPct val="90000"/>
              </a:lnSpc>
              <a:spcBef>
                <a:spcPts val="1000"/>
              </a:spcBef>
              <a:buClr>
                <a:schemeClr val="accent1"/>
              </a:buClr>
              <a:buSzPct val="100000"/>
              <a:buFont typeface="Wingdings" panose="05000000000000000000" pitchFamily="2" charset="2"/>
              <a:buChar char="p"/>
            </a:pPr>
            <a:r>
              <a:rPr lang="zh-CN" altLang="en-US" sz="2200" b="1" dirty="0">
                <a:latin typeface="黑体" panose="02010609060101010101" pitchFamily="49" charset="-122"/>
                <a:ea typeface="黑体" panose="02010609060101010101" pitchFamily="49" charset="-122"/>
              </a:rPr>
              <a:t>可以使用</a:t>
            </a:r>
            <a:r>
              <a:rPr lang="en-US" altLang="zh-CN" sz="2200" b="1" dirty="0">
                <a:solidFill>
                  <a:srgbClr val="FF0000"/>
                </a:solidFill>
                <a:latin typeface="黑体" panose="02010609060101010101" pitchFamily="49" charset="-122"/>
                <a:ea typeface="黑体" panose="02010609060101010101" pitchFamily="49" charset="-122"/>
              </a:rPr>
              <a:t>SMO</a:t>
            </a:r>
            <a:r>
              <a:rPr lang="zh-CN" altLang="en-US" sz="2200" b="1" dirty="0">
                <a:solidFill>
                  <a:srgbClr val="FF0000"/>
                </a:solidFill>
                <a:latin typeface="黑体" panose="02010609060101010101" pitchFamily="49" charset="-122"/>
                <a:ea typeface="黑体" panose="02010609060101010101" pitchFamily="49" charset="-122"/>
              </a:rPr>
              <a:t>算法</a:t>
            </a:r>
            <a:r>
              <a:rPr lang="zh-CN" altLang="en-US" sz="2200" b="1" dirty="0">
                <a:latin typeface="黑体" panose="02010609060101010101" pitchFamily="49" charset="-122"/>
                <a:ea typeface="黑体" panose="02010609060101010101" pitchFamily="49" charset="-122"/>
              </a:rPr>
              <a:t>求解。</a:t>
            </a:r>
            <a:endParaRPr lang="zh-CN" altLang="en-US" sz="2200" b="1" dirty="0">
              <a:latin typeface="黑体" panose="02010609060101010101" pitchFamily="49" charset="-122"/>
              <a:ea typeface="黑体" panose="02010609060101010101" pitchFamily="49" charset="-122"/>
            </a:endParaRPr>
          </a:p>
        </p:txBody>
      </p:sp>
      <p:sp>
        <p:nvSpPr>
          <p:cNvPr id="11" name="内容占位符 3"/>
          <p:cNvSpPr txBox="1"/>
          <p:nvPr/>
        </p:nvSpPr>
        <p:spPr>
          <a:xfrm>
            <a:off x="7669774" y="4960142"/>
            <a:ext cx="1699514" cy="451134"/>
          </a:xfrm>
          <a:prstGeom prst="rect">
            <a:avLst/>
          </a:prstGeom>
        </p:spPr>
        <p:txBody>
          <a:bodyPr vert="horz" lIns="91440" tIns="46800" rIns="91440" bIns="45720" rtlCol="0">
            <a:norm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dirty="0">
                <a:solidFill>
                  <a:srgbClr val="FF0000"/>
                </a:solidFill>
                <a:latin typeface="黑体" panose="02010609060101010101" pitchFamily="49" charset="-122"/>
                <a:ea typeface="黑体" panose="02010609060101010101" pitchFamily="49" charset="-122"/>
              </a:rPr>
              <a:t>的线性函数</a:t>
            </a:r>
            <a:endParaRPr lang="zh-CN" altLang="en-US" dirty="0">
              <a:solidFill>
                <a:srgbClr val="FF0000"/>
              </a:solidFill>
              <a:latin typeface="黑体" panose="02010609060101010101" pitchFamily="49" charset="-122"/>
              <a:ea typeface="黑体" panose="02010609060101010101" pitchFamily="49" charset="-122"/>
            </a:endParaRPr>
          </a:p>
        </p:txBody>
      </p:sp>
      <p:pic>
        <p:nvPicPr>
          <p:cNvPr id="12" name="图片 1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458241" y="5042441"/>
            <a:ext cx="310923" cy="286537"/>
          </a:xfrm>
          <a:prstGeom prst="rect">
            <a:avLst/>
          </a:prstGeom>
        </p:spPr>
      </p:pic>
      <p:sp>
        <p:nvSpPr>
          <p:cNvPr id="13" name="内容占位符 3"/>
          <p:cNvSpPr txBox="1"/>
          <p:nvPr/>
        </p:nvSpPr>
        <p:spPr>
          <a:xfrm>
            <a:off x="4574997" y="4228827"/>
            <a:ext cx="1699514" cy="451134"/>
          </a:xfrm>
          <a:prstGeom prst="rect">
            <a:avLst/>
          </a:prstGeom>
        </p:spPr>
        <p:txBody>
          <a:bodyPr vert="horz" lIns="91440" tIns="46800" rIns="91440" bIns="45720" rtlCol="0">
            <a:norm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b="1" dirty="0">
                <a:solidFill>
                  <a:srgbClr val="FF0000"/>
                </a:solidFill>
                <a:latin typeface="黑体" panose="02010609060101010101" pitchFamily="49" charset="-122"/>
                <a:ea typeface="黑体" panose="02010609060101010101" pitchFamily="49" charset="-122"/>
              </a:rPr>
              <a:t>的二次函数</a:t>
            </a:r>
            <a:endParaRPr lang="zh-CN" altLang="en-US" b="1" dirty="0">
              <a:solidFill>
                <a:srgbClr val="FF0000"/>
              </a:solidFill>
              <a:latin typeface="黑体" panose="02010609060101010101" pitchFamily="49" charset="-122"/>
              <a:ea typeface="黑体" panose="02010609060101010101" pitchFamily="49" charset="-122"/>
            </a:endParaRPr>
          </a:p>
        </p:txBody>
      </p:sp>
      <p:pic>
        <p:nvPicPr>
          <p:cNvPr id="14" name="图片 1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264074" y="4311126"/>
            <a:ext cx="310923" cy="286537"/>
          </a:xfrm>
          <a:prstGeom prst="rect">
            <a:avLst/>
          </a:prstGeom>
        </p:spPr>
      </p:pic>
      <p:sp>
        <p:nvSpPr>
          <p:cNvPr id="15" name="内容占位符 3"/>
          <p:cNvSpPr txBox="1"/>
          <p:nvPr/>
        </p:nvSpPr>
        <p:spPr>
          <a:xfrm>
            <a:off x="18703" y="4681345"/>
            <a:ext cx="1699514" cy="451134"/>
          </a:xfrm>
          <a:prstGeom prst="rect">
            <a:avLst/>
          </a:prstGeom>
        </p:spPr>
        <p:txBody>
          <a:bodyPr vert="horz" lIns="91440" tIns="46800" rIns="91440" bIns="45720" rtlCol="0">
            <a:norm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b="1" dirty="0">
                <a:solidFill>
                  <a:srgbClr val="FF0000"/>
                </a:solidFill>
                <a:latin typeface="黑体" panose="02010609060101010101" pitchFamily="49" charset="-122"/>
                <a:ea typeface="黑体" panose="02010609060101010101" pitchFamily="49" charset="-122"/>
              </a:rPr>
              <a:t>凸二次规划</a:t>
            </a:r>
            <a:endParaRPr lang="zh-CN" altLang="en-US" b="1" dirty="0">
              <a:solidFill>
                <a:srgbClr val="FF0000"/>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大纲</a:t>
            </a:r>
            <a:endParaRPr lang="zh-CN" altLang="en-US"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p:txBody>
          <a:bodyPr/>
          <a:lstStyle/>
          <a:p>
            <a:r>
              <a:rPr lang="zh-CN" altLang="en-US" dirty="0">
                <a:solidFill>
                  <a:schemeClr val="bg1">
                    <a:lumMod val="85000"/>
                  </a:schemeClr>
                </a:solidFill>
              </a:rPr>
              <a:t>间隔与支持向量</a:t>
            </a:r>
            <a:endParaRPr lang="en-US" altLang="zh-CN" dirty="0">
              <a:solidFill>
                <a:schemeClr val="bg1">
                  <a:lumMod val="85000"/>
                </a:schemeClr>
              </a:solidFill>
            </a:endParaRPr>
          </a:p>
          <a:p>
            <a:endParaRPr lang="en-US" altLang="zh-CN" dirty="0"/>
          </a:p>
          <a:p>
            <a:r>
              <a:rPr lang="zh-CN" altLang="en-US" b="1" dirty="0">
                <a:latin typeface="黑体" panose="02010609060101010101" pitchFamily="49" charset="-122"/>
                <a:ea typeface="黑体" panose="02010609060101010101" pitchFamily="49" charset="-122"/>
              </a:rPr>
              <a:t>对偶问题</a:t>
            </a:r>
            <a:endParaRPr lang="en-US" altLang="zh-CN" b="1" dirty="0">
              <a:latin typeface="黑体" panose="02010609060101010101" pitchFamily="49" charset="-122"/>
              <a:ea typeface="黑体" panose="02010609060101010101" pitchFamily="49" charset="-122"/>
            </a:endParaRPr>
          </a:p>
          <a:p>
            <a:endParaRPr lang="en-US" altLang="zh-CN" dirty="0"/>
          </a:p>
          <a:p>
            <a:r>
              <a:rPr lang="zh-CN" altLang="en-US" dirty="0">
                <a:solidFill>
                  <a:schemeClr val="bg1">
                    <a:lumMod val="85000"/>
                  </a:schemeClr>
                </a:solidFill>
              </a:rPr>
              <a:t>核函数</a:t>
            </a:r>
            <a:endParaRPr lang="en-US" altLang="zh-CN" dirty="0">
              <a:solidFill>
                <a:schemeClr val="bg1">
                  <a:lumMod val="85000"/>
                </a:schemeClr>
              </a:solidFill>
            </a:endParaRPr>
          </a:p>
          <a:p>
            <a:endParaRPr lang="en-US" altLang="zh-CN" dirty="0">
              <a:solidFill>
                <a:schemeClr val="bg1">
                  <a:lumMod val="85000"/>
                </a:schemeClr>
              </a:solidFill>
            </a:endParaRPr>
          </a:p>
          <a:p>
            <a:r>
              <a:rPr lang="zh-CN" altLang="en-US" dirty="0">
                <a:solidFill>
                  <a:schemeClr val="bg1">
                    <a:lumMod val="85000"/>
                  </a:schemeClr>
                </a:solidFill>
              </a:rPr>
              <a:t>软间隔与正则化</a:t>
            </a:r>
            <a:endParaRPr lang="en-US" altLang="zh-CN" dirty="0">
              <a:solidFill>
                <a:schemeClr val="bg1">
                  <a:lumMod val="85000"/>
                </a:schemeClr>
              </a:solidFill>
            </a:endParaRPr>
          </a:p>
          <a:p>
            <a:endParaRPr lang="en-US" altLang="zh-CN" dirty="0">
              <a:solidFill>
                <a:schemeClr val="bg1">
                  <a:lumMod val="85000"/>
                </a:schemeClr>
              </a:solidFill>
            </a:endParaRPr>
          </a:p>
          <a:p>
            <a:r>
              <a:rPr lang="zh-CN" altLang="en-US" dirty="0">
                <a:solidFill>
                  <a:schemeClr val="bg1">
                    <a:lumMod val="85000"/>
                  </a:schemeClr>
                </a:solidFill>
              </a:rPr>
              <a:t>支持向量回归</a:t>
            </a:r>
            <a:endParaRPr lang="en-US" altLang="zh-CN" dirty="0">
              <a:solidFill>
                <a:schemeClr val="bg1">
                  <a:lumMod val="85000"/>
                </a:schemeClr>
              </a:solidFill>
            </a:endParaRPr>
          </a:p>
          <a:p>
            <a:endParaRPr lang="en-US" altLang="zh-CN" dirty="0">
              <a:solidFill>
                <a:schemeClr val="bg1">
                  <a:lumMod val="85000"/>
                </a:schemeClr>
              </a:solidFill>
            </a:endParaRPr>
          </a:p>
          <a:p>
            <a:r>
              <a:rPr lang="zh-CN" altLang="en-US" dirty="0">
                <a:solidFill>
                  <a:schemeClr val="bg1">
                    <a:lumMod val="85000"/>
                  </a:schemeClr>
                </a:solidFill>
              </a:rPr>
              <a:t>核方法</a:t>
            </a:r>
            <a:endParaRPr lang="zh-CN" altLang="en-US" dirty="0">
              <a:solidFill>
                <a:schemeClr val="bg1">
                  <a:lumMod val="85000"/>
                </a:schemeClr>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60350" y="1158536"/>
            <a:ext cx="8572224" cy="4930775"/>
          </a:xfrm>
        </p:spPr>
        <p:txBody>
          <a:bodyPr>
            <a:normAutofit/>
          </a:bodyPr>
          <a:lstStyle/>
          <a:p>
            <a:pPr fontAlgn="base">
              <a:lnSpc>
                <a:spcPct val="150000"/>
              </a:lnSpc>
            </a:pPr>
            <a:r>
              <a:rPr lang="zh-CN" altLang="en-US" b="1" dirty="0">
                <a:latin typeface="黑体" panose="02010609060101010101" pitchFamily="49" charset="-122"/>
                <a:ea typeface="黑体" panose="02010609060101010101" pitchFamily="49" charset="-122"/>
              </a:rPr>
              <a:t>某些使用拉格朗日获得的函数，使用求导的方法求解依然困难。进而，需要对问题再进行一次转换，即使用一个数学技巧：</a:t>
            </a:r>
            <a:r>
              <a:rPr lang="zh-CN" altLang="en-US" b="1" dirty="0">
                <a:solidFill>
                  <a:srgbClr val="FF0000"/>
                </a:solidFill>
                <a:latin typeface="黑体" panose="02010609060101010101" pitchFamily="49" charset="-122"/>
                <a:ea typeface="黑体" panose="02010609060101010101" pitchFamily="49" charset="-122"/>
              </a:rPr>
              <a:t>拉格朗日对偶。</a:t>
            </a:r>
            <a:endParaRPr lang="zh-CN" altLang="en-US" b="1" dirty="0">
              <a:solidFill>
                <a:srgbClr val="FF0000"/>
              </a:solidFill>
              <a:latin typeface="黑体" panose="02010609060101010101" pitchFamily="49" charset="-122"/>
              <a:ea typeface="黑体" panose="02010609060101010101" pitchFamily="49" charset="-122"/>
            </a:endParaRPr>
          </a:p>
          <a:p>
            <a:pPr fontAlgn="base">
              <a:lnSpc>
                <a:spcPct val="150000"/>
              </a:lnSpc>
            </a:pPr>
            <a:r>
              <a:rPr lang="zh-CN" altLang="en-US" b="1" dirty="0">
                <a:latin typeface="黑体" panose="02010609060101010101" pitchFamily="49" charset="-122"/>
                <a:ea typeface="黑体" panose="02010609060101010101" pitchFamily="49" charset="-122"/>
              </a:rPr>
              <a:t>所以在拉格朗日优化问题上，需要进行下面二个步骤：</a:t>
            </a:r>
            <a:endParaRPr lang="zh-CN" altLang="en-US" b="1" dirty="0">
              <a:latin typeface="黑体" panose="02010609060101010101" pitchFamily="49" charset="-122"/>
              <a:ea typeface="黑体" panose="02010609060101010101" pitchFamily="49" charset="-122"/>
            </a:endParaRPr>
          </a:p>
          <a:p>
            <a:pPr lvl="1" fontAlgn="base">
              <a:lnSpc>
                <a:spcPct val="150000"/>
              </a:lnSpc>
            </a:pPr>
            <a:r>
              <a:rPr lang="zh-CN" altLang="en-US" b="1" dirty="0">
                <a:latin typeface="黑体" panose="02010609060101010101" pitchFamily="49" charset="-122"/>
                <a:ea typeface="黑体" panose="02010609060101010101" pitchFamily="49" charset="-122"/>
              </a:rPr>
              <a:t>将</a:t>
            </a:r>
            <a:r>
              <a:rPr lang="zh-CN" altLang="en-US" b="1" dirty="0">
                <a:solidFill>
                  <a:srgbClr val="FF0000"/>
                </a:solidFill>
                <a:latin typeface="黑体" panose="02010609060101010101" pitchFamily="49" charset="-122"/>
                <a:ea typeface="黑体" panose="02010609060101010101" pitchFamily="49" charset="-122"/>
              </a:rPr>
              <a:t>有约束</a:t>
            </a:r>
            <a:r>
              <a:rPr lang="zh-CN" altLang="en-US" b="1" dirty="0">
                <a:latin typeface="黑体" panose="02010609060101010101" pitchFamily="49" charset="-122"/>
                <a:ea typeface="黑体" panose="02010609060101010101" pitchFamily="49" charset="-122"/>
              </a:rPr>
              <a:t>的原始目标函数转换为</a:t>
            </a:r>
            <a:r>
              <a:rPr lang="zh-CN" altLang="en-US" b="1" dirty="0">
                <a:solidFill>
                  <a:srgbClr val="FF0000"/>
                </a:solidFill>
                <a:latin typeface="黑体" panose="02010609060101010101" pitchFamily="49" charset="-122"/>
                <a:ea typeface="黑体" panose="02010609060101010101" pitchFamily="49" charset="-122"/>
              </a:rPr>
              <a:t>无约束</a:t>
            </a:r>
            <a:r>
              <a:rPr lang="zh-CN" altLang="en-US" b="1" dirty="0">
                <a:latin typeface="黑体" panose="02010609060101010101" pitchFamily="49" charset="-122"/>
                <a:ea typeface="黑体" panose="02010609060101010101" pitchFamily="49" charset="-122"/>
              </a:rPr>
              <a:t>的新构造的拉格朗日目标函数</a:t>
            </a:r>
            <a:endParaRPr lang="zh-CN" altLang="en-US" b="1" dirty="0">
              <a:latin typeface="黑体" panose="02010609060101010101" pitchFamily="49" charset="-122"/>
              <a:ea typeface="黑体" panose="02010609060101010101" pitchFamily="49" charset="-122"/>
            </a:endParaRPr>
          </a:p>
          <a:p>
            <a:pPr lvl="1" fontAlgn="base">
              <a:lnSpc>
                <a:spcPct val="150000"/>
              </a:lnSpc>
            </a:pPr>
            <a:r>
              <a:rPr lang="zh-CN" altLang="en-US" b="1" dirty="0">
                <a:latin typeface="黑体" panose="02010609060101010101" pitchFamily="49" charset="-122"/>
                <a:ea typeface="黑体" panose="02010609060101010101" pitchFamily="49" charset="-122"/>
              </a:rPr>
              <a:t>使用拉格朗日对偶性，将</a:t>
            </a:r>
            <a:r>
              <a:rPr lang="zh-CN" altLang="en-US" b="1" dirty="0">
                <a:solidFill>
                  <a:srgbClr val="FF0000"/>
                </a:solidFill>
                <a:latin typeface="黑体" panose="02010609060101010101" pitchFamily="49" charset="-122"/>
                <a:ea typeface="黑体" panose="02010609060101010101" pitchFamily="49" charset="-122"/>
              </a:rPr>
              <a:t>不易求解</a:t>
            </a:r>
            <a:r>
              <a:rPr lang="zh-CN" altLang="en-US" b="1" dirty="0">
                <a:latin typeface="黑体" panose="02010609060101010101" pitchFamily="49" charset="-122"/>
                <a:ea typeface="黑体" panose="02010609060101010101" pitchFamily="49" charset="-122"/>
              </a:rPr>
              <a:t>的优化问题转化为易求解的优化</a:t>
            </a:r>
            <a:endParaRPr lang="zh-CN" altLang="en-US" b="1" dirty="0">
              <a:latin typeface="黑体" panose="02010609060101010101" pitchFamily="49" charset="-122"/>
              <a:ea typeface="黑体" panose="02010609060101010101" pitchFamily="49" charset="-122"/>
            </a:endParaRPr>
          </a:p>
          <a:p>
            <a:pPr>
              <a:lnSpc>
                <a:spcPct val="150000"/>
              </a:lnSpc>
            </a:pPr>
            <a:endParaRPr lang="en-US" altLang="zh-CN" dirty="0"/>
          </a:p>
        </p:txBody>
      </p:sp>
      <p:sp>
        <p:nvSpPr>
          <p:cNvPr id="5" name="标题 1"/>
          <p:cNvSpPr>
            <a:spLocks noGrp="1"/>
          </p:cNvSpPr>
          <p:nvPr>
            <p:ph type="title"/>
          </p:nvPr>
        </p:nvSpPr>
        <p:spPr>
          <a:xfrm>
            <a:off x="260350" y="42864"/>
            <a:ext cx="7886700" cy="777874"/>
          </a:xfrm>
        </p:spPr>
        <p:txBody>
          <a:bodyPr>
            <a:normAutofit/>
          </a:bodyPr>
          <a:lstStyle/>
          <a:p>
            <a:r>
              <a:rPr lang="zh-CN" altLang="en-US" dirty="0">
                <a:latin typeface="黑体" panose="02010609060101010101" pitchFamily="49" charset="-122"/>
                <a:ea typeface="黑体" panose="02010609060101010101" pitchFamily="49" charset="-122"/>
              </a:rPr>
              <a:t>对 偶</a:t>
            </a:r>
            <a:endParaRPr lang="zh-CN" altLang="en-US" dirty="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ph type="title"/>
          </p:nvPr>
        </p:nvSpPr>
        <p:spPr>
          <a:xfrm>
            <a:off x="260350" y="42864"/>
            <a:ext cx="7886700" cy="777874"/>
          </a:xfrm>
        </p:spPr>
        <p:txBody>
          <a:bodyPr>
            <a:normAutofit/>
          </a:bodyPr>
          <a:lstStyle/>
          <a:p>
            <a:r>
              <a:rPr lang="zh-CN" altLang="en-US" dirty="0">
                <a:latin typeface="黑体" panose="02010609060101010101" pitchFamily="49" charset="-122"/>
                <a:ea typeface="黑体" panose="02010609060101010101" pitchFamily="49" charset="-122"/>
              </a:rPr>
              <a:t>对 偶</a:t>
            </a:r>
            <a:endParaRPr lang="zh-CN" altLang="en-US" dirty="0">
              <a:latin typeface="黑体" panose="02010609060101010101" pitchFamily="49" charset="-122"/>
              <a:ea typeface="黑体" panose="02010609060101010101" pitchFamily="49" charset="-122"/>
            </a:endParaRPr>
          </a:p>
        </p:txBody>
      </p:sp>
      <p:sp>
        <p:nvSpPr>
          <p:cNvPr id="2" name="文本框 1"/>
          <p:cNvSpPr txBox="1"/>
          <p:nvPr/>
        </p:nvSpPr>
        <p:spPr>
          <a:xfrm>
            <a:off x="335703" y="899056"/>
            <a:ext cx="8084307" cy="430887"/>
          </a:xfrm>
          <a:prstGeom prst="rect">
            <a:avLst/>
          </a:prstGeom>
          <a:noFill/>
        </p:spPr>
        <p:txBody>
          <a:bodyPr wrap="square" rtlCol="0">
            <a:spAutoFit/>
          </a:bodyPr>
          <a:lstStyle/>
          <a:p>
            <a:r>
              <a:rPr lang="zh-CN" altLang="en-US" sz="2200" dirty="0">
                <a:solidFill>
                  <a:srgbClr val="FF0000"/>
                </a:solidFill>
                <a:latin typeface="黑体" panose="02010609060101010101" pitchFamily="49" charset="-122"/>
                <a:ea typeface="黑体" panose="02010609060101010101" pitchFamily="49" charset="-122"/>
              </a:rPr>
              <a:t>第一步：</a:t>
            </a:r>
            <a:r>
              <a:rPr lang="zh-CN" altLang="en-US" sz="2200" dirty="0">
                <a:latin typeface="黑体" panose="02010609060101010101" pitchFamily="49" charset="-122"/>
                <a:ea typeface="黑体" panose="02010609060101010101" pitchFamily="49" charset="-122"/>
              </a:rPr>
              <a:t>将有约束的原始目标函数转换为无约束的拉格朗日函数</a:t>
            </a:r>
            <a:endParaRPr lang="zh-CN" altLang="en-US" sz="2200" dirty="0">
              <a:latin typeface="黑体" panose="02010609060101010101" pitchFamily="49" charset="-122"/>
              <a:ea typeface="黑体" panose="02010609060101010101" pitchFamily="49" charset="-122"/>
            </a:endParaRPr>
          </a:p>
        </p:txBody>
      </p:sp>
      <p:graphicFrame>
        <p:nvGraphicFramePr>
          <p:cNvPr id="3" name="对象 2"/>
          <p:cNvGraphicFramePr>
            <a:graphicFrameLocks noChangeAspect="1"/>
          </p:cNvGraphicFramePr>
          <p:nvPr/>
        </p:nvGraphicFramePr>
        <p:xfrm>
          <a:off x="1200686" y="1249172"/>
          <a:ext cx="6139279" cy="915190"/>
        </p:xfrm>
        <a:graphic>
          <a:graphicData uri="http://schemas.openxmlformats.org/presentationml/2006/ole">
            <mc:AlternateContent xmlns:mc="http://schemas.openxmlformats.org/markup-compatibility/2006">
              <mc:Choice xmlns:v="urn:schemas-microsoft-com:vml" Requires="v">
                <p:oleObj spid="_x0000_s32" name="AxMath" r:id="rId1" imgW="1143000" imgH="1143000" progId="Equation.AxMath">
                  <p:embed/>
                </p:oleObj>
              </mc:Choice>
              <mc:Fallback>
                <p:oleObj name="AxMath" r:id="rId1" imgW="1143000" imgH="1143000" progId="Equation.AxMath">
                  <p:embed/>
                  <p:pic>
                    <p:nvPicPr>
                      <p:cNvPr id="0" name="图片 31"/>
                      <p:cNvPicPr/>
                      <p:nvPr/>
                    </p:nvPicPr>
                    <p:blipFill>
                      <a:blip r:embed="rId2"/>
                      <a:stretch>
                        <a:fillRect/>
                      </a:stretch>
                    </p:blipFill>
                    <p:spPr>
                      <a:xfrm>
                        <a:off x="1200686" y="1249172"/>
                        <a:ext cx="6139279" cy="915190"/>
                      </a:xfrm>
                      <a:prstGeom prst="rect">
                        <a:avLst/>
                      </a:prstGeom>
                    </p:spPr>
                  </p:pic>
                </p:oleObj>
              </mc:Fallback>
            </mc:AlternateContent>
          </a:graphicData>
        </a:graphic>
      </p:graphicFrame>
      <p:sp>
        <p:nvSpPr>
          <p:cNvPr id="8" name="文本框 7"/>
          <p:cNvSpPr txBox="1"/>
          <p:nvPr/>
        </p:nvSpPr>
        <p:spPr>
          <a:xfrm>
            <a:off x="620983" y="2145146"/>
            <a:ext cx="646331" cy="369332"/>
          </a:xfrm>
          <a:prstGeom prst="rect">
            <a:avLst/>
          </a:prstGeom>
          <a:noFill/>
        </p:spPr>
        <p:txBody>
          <a:bodyPr wrap="none" rtlCol="0">
            <a:spAutoFit/>
          </a:bodyPr>
          <a:lstStyle/>
          <a:p>
            <a:r>
              <a:rPr lang="zh-CN" altLang="en-US" dirty="0">
                <a:latin typeface="黑体" panose="02010609060101010101" pitchFamily="49" charset="-122"/>
                <a:ea typeface="黑体" panose="02010609060101010101" pitchFamily="49" charset="-122"/>
              </a:rPr>
              <a:t>令：</a:t>
            </a:r>
            <a:endParaRPr lang="zh-CN" altLang="en-US" dirty="0">
              <a:latin typeface="黑体" panose="02010609060101010101" pitchFamily="49" charset="-122"/>
              <a:ea typeface="黑体" panose="02010609060101010101" pitchFamily="49" charset="-122"/>
            </a:endParaRPr>
          </a:p>
        </p:txBody>
      </p:sp>
      <p:graphicFrame>
        <p:nvGraphicFramePr>
          <p:cNvPr id="9" name="对象 8"/>
          <p:cNvGraphicFramePr>
            <a:graphicFrameLocks noChangeAspect="1"/>
          </p:cNvGraphicFramePr>
          <p:nvPr/>
        </p:nvGraphicFramePr>
        <p:xfrm>
          <a:off x="2781300" y="2200275"/>
          <a:ext cx="3043238" cy="665163"/>
        </p:xfrm>
        <a:graphic>
          <a:graphicData uri="http://schemas.openxmlformats.org/presentationml/2006/ole">
            <mc:AlternateContent xmlns:mc="http://schemas.openxmlformats.org/markup-compatibility/2006">
              <mc:Choice xmlns:v="urn:schemas-microsoft-com:vml" Requires="v">
                <p:oleObj spid="_x0000_s4" name="AxMath" r:id="rId3" imgW="1828800" imgH="1828800" progId="Equation.AxMath">
                  <p:embed/>
                </p:oleObj>
              </mc:Choice>
              <mc:Fallback>
                <p:oleObj name="AxMath" r:id="rId3" imgW="1828800" imgH="1828800" progId="Equation.AxMath">
                  <p:embed/>
                  <p:pic>
                    <p:nvPicPr>
                      <p:cNvPr id="0" name="图片 3"/>
                      <p:cNvPicPr/>
                      <p:nvPr/>
                    </p:nvPicPr>
                    <p:blipFill>
                      <a:blip r:embed="rId4"/>
                      <a:stretch>
                        <a:fillRect/>
                      </a:stretch>
                    </p:blipFill>
                    <p:spPr>
                      <a:xfrm>
                        <a:off x="2781300" y="2200275"/>
                        <a:ext cx="3043238" cy="665163"/>
                      </a:xfrm>
                      <a:prstGeom prst="rect">
                        <a:avLst/>
                      </a:prstGeom>
                    </p:spPr>
                  </p:pic>
                </p:oleObj>
              </mc:Fallback>
            </mc:AlternateContent>
          </a:graphicData>
        </a:graphic>
      </p:graphicFrame>
      <p:sp>
        <p:nvSpPr>
          <p:cNvPr id="6" name="文本框 5"/>
          <p:cNvSpPr txBox="1"/>
          <p:nvPr/>
        </p:nvSpPr>
        <p:spPr>
          <a:xfrm>
            <a:off x="602321" y="2840278"/>
            <a:ext cx="7819010" cy="2328523"/>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000" dirty="0">
                <a:solidFill>
                  <a:schemeClr val="accent4"/>
                </a:solidFill>
                <a:latin typeface="黑体" panose="02010609060101010101" pitchFamily="49" charset="-122"/>
                <a:ea typeface="黑体" panose="02010609060101010101" pitchFamily="49" charset="-122"/>
              </a:rPr>
              <a:t>样本点在可行域外                </a:t>
            </a:r>
            <a:r>
              <a:rPr lang="zh-CN" altLang="en-US" sz="2000" dirty="0">
                <a:latin typeface="黑体" panose="02010609060101010101" pitchFamily="49" charset="-122"/>
                <a:ea typeface="黑体" panose="02010609060101010101" pitchFamily="49" charset="-122"/>
              </a:rPr>
              <a:t>：将   趋于无穷大，则    趋于无穷大；</a:t>
            </a:r>
            <a:endParaRPr lang="en-US" altLang="zh-CN" sz="2000" dirty="0">
              <a:latin typeface="黑体" panose="02010609060101010101" pitchFamily="49" charset="-122"/>
              <a:ea typeface="黑体" panose="02010609060101010101" pitchFamily="49" charset="-122"/>
            </a:endParaRPr>
          </a:p>
          <a:p>
            <a:pPr marL="342900" indent="-342900">
              <a:lnSpc>
                <a:spcPct val="150000"/>
              </a:lnSpc>
              <a:buFont typeface="Arial" panose="020B0604020202020204" pitchFamily="34" charset="0"/>
              <a:buChar char="•"/>
            </a:pPr>
            <a:r>
              <a:rPr lang="zh-CN" altLang="en-US" sz="2000" dirty="0">
                <a:solidFill>
                  <a:schemeClr val="accent4"/>
                </a:solidFill>
                <a:latin typeface="黑体" panose="02010609060101010101" pitchFamily="49" charset="-122"/>
                <a:ea typeface="黑体" panose="02010609060101010101" pitchFamily="49" charset="-122"/>
              </a:rPr>
              <a:t>样本点在可行域内                </a:t>
            </a:r>
            <a:r>
              <a:rPr lang="zh-CN" altLang="en-US" sz="2000" dirty="0">
                <a:latin typeface="黑体" panose="02010609060101010101" pitchFamily="49" charset="-122"/>
                <a:ea typeface="黑体" panose="02010609060101010101" pitchFamily="49" charset="-122"/>
              </a:rPr>
              <a:t>：    为原目标本身。</a:t>
            </a:r>
            <a:endParaRPr lang="en-US" altLang="zh-CN" sz="2000" dirty="0">
              <a:latin typeface="黑体" panose="02010609060101010101" pitchFamily="49" charset="-122"/>
              <a:ea typeface="黑体" panose="02010609060101010101" pitchFamily="49" charset="-122"/>
            </a:endParaRPr>
          </a:p>
          <a:p>
            <a:pPr>
              <a:lnSpc>
                <a:spcPct val="150000"/>
              </a:lnSpc>
            </a:pPr>
            <a:r>
              <a:rPr lang="zh-CN" altLang="en-US" sz="2000" dirty="0">
                <a:latin typeface="黑体" panose="02010609060101010101" pitchFamily="49" charset="-122"/>
                <a:ea typeface="黑体" panose="02010609060101010101" pitchFamily="49" charset="-122"/>
              </a:rPr>
              <a:t>因此，可得新的目标函数为：</a:t>
            </a:r>
            <a:endParaRPr lang="en-US" altLang="zh-CN" sz="2000" dirty="0">
              <a:latin typeface="黑体" panose="02010609060101010101" pitchFamily="49" charset="-122"/>
              <a:ea typeface="黑体" panose="02010609060101010101" pitchFamily="49" charset="-122"/>
            </a:endParaRPr>
          </a:p>
          <a:p>
            <a:pPr>
              <a:lnSpc>
                <a:spcPct val="150000"/>
              </a:lnSpc>
            </a:pPr>
            <a:endParaRPr lang="en-US" altLang="zh-CN" sz="2000" dirty="0">
              <a:latin typeface="黑体" panose="02010609060101010101" pitchFamily="49" charset="-122"/>
              <a:ea typeface="黑体" panose="02010609060101010101" pitchFamily="49" charset="-122"/>
            </a:endParaRPr>
          </a:p>
        </p:txBody>
      </p:sp>
      <p:graphicFrame>
        <p:nvGraphicFramePr>
          <p:cNvPr id="7" name="对象 6"/>
          <p:cNvGraphicFramePr>
            <a:graphicFrameLocks noChangeAspect="1"/>
          </p:cNvGraphicFramePr>
          <p:nvPr/>
        </p:nvGraphicFramePr>
        <p:xfrm>
          <a:off x="3212454" y="2935594"/>
          <a:ext cx="1945163" cy="408076"/>
        </p:xfrm>
        <a:graphic>
          <a:graphicData uri="http://schemas.openxmlformats.org/presentationml/2006/ole">
            <mc:AlternateContent xmlns:mc="http://schemas.openxmlformats.org/markup-compatibility/2006">
              <mc:Choice xmlns:v="urn:schemas-microsoft-com:vml" Requires="v">
                <p:oleObj spid="_x0000_s10" name="AxMath" r:id="rId5" imgW="1143000" imgH="1143000" progId="Equation.AxMath">
                  <p:embed/>
                </p:oleObj>
              </mc:Choice>
              <mc:Fallback>
                <p:oleObj name="AxMath" r:id="rId5" imgW="1143000" imgH="1143000" progId="Equation.AxMath">
                  <p:embed/>
                  <p:pic>
                    <p:nvPicPr>
                      <p:cNvPr id="0" name="图片 9"/>
                      <p:cNvPicPr/>
                      <p:nvPr/>
                    </p:nvPicPr>
                    <p:blipFill>
                      <a:blip r:embed="rId6"/>
                      <a:stretch>
                        <a:fillRect/>
                      </a:stretch>
                    </p:blipFill>
                    <p:spPr>
                      <a:xfrm>
                        <a:off x="3212454" y="2935594"/>
                        <a:ext cx="1945163" cy="408076"/>
                      </a:xfrm>
                      <a:prstGeom prst="rect">
                        <a:avLst/>
                      </a:prstGeom>
                    </p:spPr>
                  </p:pic>
                </p:oleObj>
              </mc:Fallback>
            </mc:AlternateContent>
          </a:graphicData>
        </a:graphic>
      </p:graphicFrame>
      <p:graphicFrame>
        <p:nvGraphicFramePr>
          <p:cNvPr id="11" name="对象 10"/>
          <p:cNvGraphicFramePr>
            <a:graphicFrameLocks noChangeAspect="1"/>
          </p:cNvGraphicFramePr>
          <p:nvPr/>
        </p:nvGraphicFramePr>
        <p:xfrm>
          <a:off x="5652010" y="2907770"/>
          <a:ext cx="307975" cy="425450"/>
        </p:xfrm>
        <a:graphic>
          <a:graphicData uri="http://schemas.openxmlformats.org/presentationml/2006/ole">
            <mc:AlternateContent xmlns:mc="http://schemas.openxmlformats.org/markup-compatibility/2006">
              <mc:Choice xmlns:v="urn:schemas-microsoft-com:vml" Requires="v">
                <p:oleObj spid="_x0000_s12" name="AxMath" r:id="rId7" imgW="1143000" imgH="1143000" progId="Equation.AxMath">
                  <p:embed/>
                </p:oleObj>
              </mc:Choice>
              <mc:Fallback>
                <p:oleObj name="AxMath" r:id="rId7" imgW="1143000" imgH="1143000" progId="Equation.AxMath">
                  <p:embed/>
                  <p:pic>
                    <p:nvPicPr>
                      <p:cNvPr id="0" name="图片 11"/>
                      <p:cNvPicPr/>
                      <p:nvPr/>
                    </p:nvPicPr>
                    <p:blipFill>
                      <a:blip r:embed="rId8"/>
                      <a:stretch>
                        <a:fillRect/>
                      </a:stretch>
                    </p:blipFill>
                    <p:spPr>
                      <a:xfrm>
                        <a:off x="5652010" y="2907770"/>
                        <a:ext cx="307975" cy="425450"/>
                      </a:xfrm>
                      <a:prstGeom prst="rect">
                        <a:avLst/>
                      </a:prstGeom>
                    </p:spPr>
                  </p:pic>
                </p:oleObj>
              </mc:Fallback>
            </mc:AlternateContent>
          </a:graphicData>
        </a:graphic>
      </p:graphicFrame>
      <p:graphicFrame>
        <p:nvGraphicFramePr>
          <p:cNvPr id="13" name="对象 12"/>
          <p:cNvGraphicFramePr>
            <a:graphicFrameLocks noChangeAspect="1"/>
          </p:cNvGraphicFramePr>
          <p:nvPr/>
        </p:nvGraphicFramePr>
        <p:xfrm>
          <a:off x="7836764" y="2935594"/>
          <a:ext cx="583247" cy="369802"/>
        </p:xfrm>
        <a:graphic>
          <a:graphicData uri="http://schemas.openxmlformats.org/presentationml/2006/ole">
            <mc:AlternateContent xmlns:mc="http://schemas.openxmlformats.org/markup-compatibility/2006">
              <mc:Choice xmlns:v="urn:schemas-microsoft-com:vml" Requires="v">
                <p:oleObj spid="_x0000_s14" name="AxMath" r:id="rId9" imgW="1143000" imgH="1143000" progId="Equation.AxMath">
                  <p:embed/>
                </p:oleObj>
              </mc:Choice>
              <mc:Fallback>
                <p:oleObj name="AxMath" r:id="rId9" imgW="1143000" imgH="1143000" progId="Equation.AxMath">
                  <p:embed/>
                  <p:pic>
                    <p:nvPicPr>
                      <p:cNvPr id="0" name="图片 13"/>
                      <p:cNvPicPr/>
                      <p:nvPr/>
                    </p:nvPicPr>
                    <p:blipFill>
                      <a:blip r:embed="rId10"/>
                      <a:stretch>
                        <a:fillRect/>
                      </a:stretch>
                    </p:blipFill>
                    <p:spPr>
                      <a:xfrm>
                        <a:off x="7836764" y="2935594"/>
                        <a:ext cx="583247" cy="369802"/>
                      </a:xfrm>
                      <a:prstGeom prst="rect">
                        <a:avLst/>
                      </a:prstGeom>
                    </p:spPr>
                  </p:pic>
                </p:oleObj>
              </mc:Fallback>
            </mc:AlternateContent>
          </a:graphicData>
        </a:graphic>
      </p:graphicFrame>
      <p:graphicFrame>
        <p:nvGraphicFramePr>
          <p:cNvPr id="15" name="对象 14"/>
          <p:cNvGraphicFramePr>
            <a:graphicFrameLocks noChangeAspect="1"/>
          </p:cNvGraphicFramePr>
          <p:nvPr/>
        </p:nvGraphicFramePr>
        <p:xfrm>
          <a:off x="3212454" y="3825970"/>
          <a:ext cx="1945163" cy="408076"/>
        </p:xfrm>
        <a:graphic>
          <a:graphicData uri="http://schemas.openxmlformats.org/presentationml/2006/ole">
            <mc:AlternateContent xmlns:mc="http://schemas.openxmlformats.org/markup-compatibility/2006">
              <mc:Choice xmlns:v="urn:schemas-microsoft-com:vml" Requires="v">
                <p:oleObj spid="_x0000_s16" name="AxMath" r:id="rId11" imgW="1143000" imgH="1143000" progId="Equation.AxMath">
                  <p:embed/>
                </p:oleObj>
              </mc:Choice>
              <mc:Fallback>
                <p:oleObj name="AxMath" r:id="rId11" imgW="1143000" imgH="1143000" progId="Equation.AxMath">
                  <p:embed/>
                  <p:pic>
                    <p:nvPicPr>
                      <p:cNvPr id="0" name="图片 15"/>
                      <p:cNvPicPr/>
                      <p:nvPr/>
                    </p:nvPicPr>
                    <p:blipFill>
                      <a:blip r:embed="rId12"/>
                      <a:stretch>
                        <a:fillRect/>
                      </a:stretch>
                    </p:blipFill>
                    <p:spPr>
                      <a:xfrm>
                        <a:off x="3212454" y="3825970"/>
                        <a:ext cx="1945163" cy="408076"/>
                      </a:xfrm>
                      <a:prstGeom prst="rect">
                        <a:avLst/>
                      </a:prstGeom>
                    </p:spPr>
                  </p:pic>
                </p:oleObj>
              </mc:Fallback>
            </mc:AlternateContent>
          </a:graphicData>
        </a:graphic>
      </p:graphicFrame>
      <p:graphicFrame>
        <p:nvGraphicFramePr>
          <p:cNvPr id="17" name="对象 16"/>
          <p:cNvGraphicFramePr>
            <a:graphicFrameLocks noChangeAspect="1"/>
          </p:cNvGraphicFramePr>
          <p:nvPr/>
        </p:nvGraphicFramePr>
        <p:xfrm>
          <a:off x="5344050" y="3863769"/>
          <a:ext cx="583247" cy="369802"/>
        </p:xfrm>
        <a:graphic>
          <a:graphicData uri="http://schemas.openxmlformats.org/presentationml/2006/ole">
            <mc:AlternateContent xmlns:mc="http://schemas.openxmlformats.org/markup-compatibility/2006">
              <mc:Choice xmlns:v="urn:schemas-microsoft-com:vml" Requires="v">
                <p:oleObj spid="_x0000_s18" name="AxMath" r:id="rId13" imgW="1143000" imgH="1143000" progId="Equation.AxMath">
                  <p:embed/>
                </p:oleObj>
              </mc:Choice>
              <mc:Fallback>
                <p:oleObj name="AxMath" r:id="rId13" imgW="1143000" imgH="1143000" progId="Equation.AxMath">
                  <p:embed/>
                  <p:pic>
                    <p:nvPicPr>
                      <p:cNvPr id="0" name="对象 9"/>
                      <p:cNvPicPr/>
                      <p:nvPr/>
                    </p:nvPicPr>
                    <p:blipFill>
                      <a:blip r:embed="rId14"/>
                      <a:stretch>
                        <a:fillRect/>
                      </a:stretch>
                    </p:blipFill>
                    <p:spPr>
                      <a:xfrm>
                        <a:off x="5344050" y="3863769"/>
                        <a:ext cx="583247" cy="369802"/>
                      </a:xfrm>
                      <a:prstGeom prst="rect">
                        <a:avLst/>
                      </a:prstGeom>
                    </p:spPr>
                  </p:pic>
                </p:oleObj>
              </mc:Fallback>
            </mc:AlternateContent>
          </a:graphicData>
        </a:graphic>
      </p:graphicFrame>
      <p:graphicFrame>
        <p:nvGraphicFramePr>
          <p:cNvPr id="19" name="对象 18"/>
          <p:cNvGraphicFramePr>
            <a:graphicFrameLocks noChangeAspect="1"/>
          </p:cNvGraphicFramePr>
          <p:nvPr/>
        </p:nvGraphicFramePr>
        <p:xfrm>
          <a:off x="4232276" y="4146631"/>
          <a:ext cx="3698018" cy="1229258"/>
        </p:xfrm>
        <a:graphic>
          <a:graphicData uri="http://schemas.openxmlformats.org/presentationml/2006/ole">
            <mc:AlternateContent xmlns:mc="http://schemas.openxmlformats.org/markup-compatibility/2006">
              <mc:Choice xmlns:v="urn:schemas-microsoft-com:vml" Requires="v">
                <p:oleObj spid="_x0000_s20" name="AxMath" r:id="rId15" imgW="1143000" imgH="1143000" progId="Equation.AxMath">
                  <p:embed/>
                </p:oleObj>
              </mc:Choice>
              <mc:Fallback>
                <p:oleObj name="AxMath" r:id="rId15" imgW="1143000" imgH="1143000" progId="Equation.AxMath">
                  <p:embed/>
                  <p:pic>
                    <p:nvPicPr>
                      <p:cNvPr id="0" name="图片 19"/>
                      <p:cNvPicPr/>
                      <p:nvPr/>
                    </p:nvPicPr>
                    <p:blipFill>
                      <a:blip r:embed="rId16"/>
                      <a:stretch>
                        <a:fillRect/>
                      </a:stretch>
                    </p:blipFill>
                    <p:spPr>
                      <a:xfrm>
                        <a:off x="4232276" y="4146631"/>
                        <a:ext cx="3698018" cy="1229258"/>
                      </a:xfrm>
                      <a:prstGeom prst="rect">
                        <a:avLst/>
                      </a:prstGeom>
                    </p:spPr>
                  </p:pic>
                </p:oleObj>
              </mc:Fallback>
            </mc:AlternateContent>
          </a:graphicData>
        </a:graphic>
      </p:graphicFrame>
      <p:sp>
        <p:nvSpPr>
          <p:cNvPr id="21" name="文本框 20"/>
          <p:cNvSpPr txBox="1"/>
          <p:nvPr/>
        </p:nvSpPr>
        <p:spPr>
          <a:xfrm>
            <a:off x="746112" y="5242008"/>
            <a:ext cx="5990253" cy="520848"/>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2200" b="0" i="0" u="none" strike="noStrike" kern="1200" cap="none" spc="0" normalizeH="0" baseline="0" noProof="0" dirty="0">
                <a:ln>
                  <a:noFill/>
                </a:ln>
                <a:solidFill>
                  <a:srgbClr val="C00000"/>
                </a:solidFill>
                <a:effectLst/>
                <a:uLnTx/>
                <a:uFillTx/>
                <a:latin typeface="黑体" panose="02010609060101010101" pitchFamily="49" charset="-122"/>
                <a:ea typeface="黑体" panose="02010609060101010101" pitchFamily="49" charset="-122"/>
                <a:cs typeface="+mn-cs"/>
              </a:rPr>
              <a:t>问题变为求新目标函数的最小值，即</a:t>
            </a:r>
            <a:endParaRPr kumimoji="0" lang="en-US" altLang="zh-CN" sz="2200" b="0" i="0" u="none" strike="noStrike" kern="1200" cap="none" spc="0" normalizeH="0" baseline="0" noProof="0" dirty="0">
              <a:ln>
                <a:noFill/>
              </a:ln>
              <a:solidFill>
                <a:srgbClr val="C00000"/>
              </a:solidFill>
              <a:effectLst/>
              <a:uLnTx/>
              <a:uFillTx/>
              <a:latin typeface="黑体" panose="02010609060101010101" pitchFamily="49" charset="-122"/>
              <a:ea typeface="黑体" panose="02010609060101010101" pitchFamily="49" charset="-122"/>
              <a:cs typeface="+mn-cs"/>
            </a:endParaRPr>
          </a:p>
        </p:txBody>
      </p:sp>
      <p:graphicFrame>
        <p:nvGraphicFramePr>
          <p:cNvPr id="22" name="对象 21"/>
          <p:cNvGraphicFramePr>
            <a:graphicFrameLocks noChangeAspect="1"/>
          </p:cNvGraphicFramePr>
          <p:nvPr/>
        </p:nvGraphicFramePr>
        <p:xfrm>
          <a:off x="3516767" y="5762855"/>
          <a:ext cx="2912025" cy="716479"/>
        </p:xfrm>
        <a:graphic>
          <a:graphicData uri="http://schemas.openxmlformats.org/presentationml/2006/ole">
            <mc:AlternateContent xmlns:mc="http://schemas.openxmlformats.org/markup-compatibility/2006">
              <mc:Choice xmlns:v="urn:schemas-microsoft-com:vml" Requires="v">
                <p:oleObj spid="_x0000_s23" name="AxMath" r:id="rId17" imgW="1143000" imgH="1143000" progId="Equation.AxMath">
                  <p:embed/>
                </p:oleObj>
              </mc:Choice>
              <mc:Fallback>
                <p:oleObj name="AxMath" r:id="rId17" imgW="1143000" imgH="1143000" progId="Equation.AxMath">
                  <p:embed/>
                  <p:pic>
                    <p:nvPicPr>
                      <p:cNvPr id="0" name="图片 22"/>
                      <p:cNvPicPr/>
                      <p:nvPr/>
                    </p:nvPicPr>
                    <p:blipFill>
                      <a:blip r:embed="rId18"/>
                      <a:stretch>
                        <a:fillRect/>
                      </a:stretch>
                    </p:blipFill>
                    <p:spPr>
                      <a:xfrm>
                        <a:off x="3516767" y="5762855"/>
                        <a:ext cx="2912025" cy="716479"/>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对 偶</a:t>
            </a:r>
            <a:endParaRPr lang="zh-CN" altLang="en-US" dirty="0"/>
          </a:p>
        </p:txBody>
      </p:sp>
      <p:sp>
        <p:nvSpPr>
          <p:cNvPr id="4" name="文本框 3"/>
          <p:cNvSpPr txBox="1"/>
          <p:nvPr/>
        </p:nvSpPr>
        <p:spPr>
          <a:xfrm>
            <a:off x="429208" y="1035697"/>
            <a:ext cx="8285584" cy="1324914"/>
          </a:xfrm>
          <a:prstGeom prst="rect">
            <a:avLst/>
          </a:prstGeom>
          <a:noFill/>
        </p:spPr>
        <p:txBody>
          <a:bodyPr wrap="square" rtlCol="0">
            <a:spAutoFit/>
          </a:bodyPr>
          <a:lstStyle/>
          <a:p>
            <a:pPr>
              <a:lnSpc>
                <a:spcPct val="200000"/>
              </a:lnSpc>
            </a:pPr>
            <a:r>
              <a:rPr lang="zh-CN" altLang="en-US" sz="2200" dirty="0">
                <a:solidFill>
                  <a:srgbClr val="FF0000"/>
                </a:solidFill>
                <a:latin typeface="黑体" panose="02010609060101010101" pitchFamily="49" charset="-122"/>
                <a:ea typeface="黑体" panose="02010609060101010101" pitchFamily="49" charset="-122"/>
              </a:rPr>
              <a:t>第二步：</a:t>
            </a:r>
            <a:r>
              <a:rPr lang="zh-CN" altLang="en-US" sz="2200" dirty="0">
                <a:latin typeface="黑体" panose="02010609060101010101" pitchFamily="49" charset="-122"/>
                <a:ea typeface="黑体" panose="02010609060101010101" pitchFamily="49" charset="-122"/>
              </a:rPr>
              <a:t>转换为</a:t>
            </a:r>
            <a:r>
              <a:rPr lang="zh-CN" altLang="en-US" sz="2200" b="1" dirty="0">
                <a:solidFill>
                  <a:srgbClr val="C00000"/>
                </a:solidFill>
                <a:latin typeface="黑体" panose="02010609060101010101" pitchFamily="49" charset="-122"/>
                <a:ea typeface="黑体" panose="02010609060101010101" pitchFamily="49" charset="-122"/>
              </a:rPr>
              <a:t>对偶问题</a:t>
            </a:r>
            <a:r>
              <a:rPr lang="zh-CN" altLang="en-US" sz="2200" dirty="0">
                <a:latin typeface="黑体" panose="02010609060101010101" pitchFamily="49" charset="-122"/>
                <a:ea typeface="黑体" panose="02010609060101010101" pitchFamily="49" charset="-122"/>
              </a:rPr>
              <a:t>（即将不易求解的优化问题转换为易求解的问题）</a:t>
            </a:r>
            <a:endParaRPr lang="zh-CN" altLang="en-US" sz="2200" dirty="0">
              <a:latin typeface="黑体" panose="02010609060101010101" pitchFamily="49" charset="-122"/>
              <a:ea typeface="黑体" panose="02010609060101010101" pitchFamily="49" charset="-122"/>
            </a:endParaRPr>
          </a:p>
        </p:txBody>
      </p:sp>
      <p:graphicFrame>
        <p:nvGraphicFramePr>
          <p:cNvPr id="5" name="对象 4"/>
          <p:cNvGraphicFramePr>
            <a:graphicFrameLocks noChangeAspect="1"/>
          </p:cNvGraphicFramePr>
          <p:nvPr/>
        </p:nvGraphicFramePr>
        <p:xfrm>
          <a:off x="3023799" y="2360611"/>
          <a:ext cx="2919801" cy="718392"/>
        </p:xfrm>
        <a:graphic>
          <a:graphicData uri="http://schemas.openxmlformats.org/presentationml/2006/ole">
            <mc:AlternateContent xmlns:mc="http://schemas.openxmlformats.org/markup-compatibility/2006">
              <mc:Choice xmlns:v="urn:schemas-microsoft-com:vml" Requires="v">
                <p:oleObj spid="_x0000_s32" name="AxMath" r:id="rId1" imgW="1143000" imgH="1143000" progId="Equation.AxMath">
                  <p:embed/>
                </p:oleObj>
              </mc:Choice>
              <mc:Fallback>
                <p:oleObj name="AxMath" r:id="rId1" imgW="1143000" imgH="1143000" progId="Equation.AxMath">
                  <p:embed/>
                  <p:pic>
                    <p:nvPicPr>
                      <p:cNvPr id="0" name="图片 31"/>
                      <p:cNvPicPr/>
                      <p:nvPr/>
                    </p:nvPicPr>
                    <p:blipFill>
                      <a:blip r:embed="rId2"/>
                      <a:stretch>
                        <a:fillRect/>
                      </a:stretch>
                    </p:blipFill>
                    <p:spPr>
                      <a:xfrm>
                        <a:off x="3023799" y="2360611"/>
                        <a:ext cx="2919801" cy="718392"/>
                      </a:xfrm>
                      <a:prstGeom prst="rect">
                        <a:avLst/>
                      </a:prstGeom>
                    </p:spPr>
                  </p:pic>
                </p:oleObj>
              </mc:Fallback>
            </mc:AlternateContent>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对偶问题求解</a:t>
            </a:r>
            <a:endParaRPr lang="zh-CN" altLang="en-US"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p:txBody>
          <a:bodyPr/>
          <a:lstStyle/>
          <a:p>
            <a:r>
              <a:rPr lang="zh-CN" altLang="en-US" b="1" dirty="0">
                <a:latin typeface="黑体" panose="02010609060101010101" pitchFamily="49" charset="-122"/>
                <a:ea typeface="黑体" panose="02010609060101010101" pitchFamily="49" charset="-122"/>
              </a:rPr>
              <a:t>拉格朗日乘子法</a:t>
            </a:r>
            <a:endParaRPr lang="en-US" altLang="zh-CN" b="1" dirty="0">
              <a:latin typeface="黑体" panose="02010609060101010101" pitchFamily="49" charset="-122"/>
              <a:ea typeface="黑体" panose="02010609060101010101" pitchFamily="49" charset="-122"/>
            </a:endParaRPr>
          </a:p>
          <a:p>
            <a:pPr lvl="1"/>
            <a:r>
              <a:rPr lang="zh-CN" altLang="en-US" b="1" dirty="0">
                <a:latin typeface="黑体" panose="02010609060101010101" pitchFamily="49" charset="-122"/>
                <a:ea typeface="黑体" panose="02010609060101010101" pitchFamily="49" charset="-122"/>
              </a:rPr>
              <a:t>第一步：引入拉格朗日乘子        得到拉格朗日函数</a:t>
            </a:r>
            <a:endParaRPr lang="en-US" altLang="zh-CN" b="1" dirty="0">
              <a:latin typeface="黑体" panose="02010609060101010101" pitchFamily="49" charset="-122"/>
              <a:ea typeface="黑体" panose="02010609060101010101" pitchFamily="49" charset="-122"/>
            </a:endParaRPr>
          </a:p>
          <a:p>
            <a:pPr lvl="1"/>
            <a:endParaRPr lang="en-US" altLang="zh-CN" b="1" dirty="0">
              <a:latin typeface="黑体" panose="02010609060101010101" pitchFamily="49" charset="-122"/>
              <a:ea typeface="黑体" panose="02010609060101010101" pitchFamily="49" charset="-122"/>
            </a:endParaRPr>
          </a:p>
          <a:p>
            <a:pPr lvl="1"/>
            <a:endParaRPr lang="en-US" altLang="zh-CN" b="1" dirty="0">
              <a:latin typeface="黑体" panose="02010609060101010101" pitchFamily="49" charset="-122"/>
              <a:ea typeface="黑体" panose="02010609060101010101" pitchFamily="49" charset="-122"/>
            </a:endParaRPr>
          </a:p>
          <a:p>
            <a:pPr marL="325755" lvl="1" indent="0">
              <a:buNone/>
            </a:pPr>
            <a:endParaRPr lang="en-US" altLang="zh-CN" b="1" dirty="0">
              <a:latin typeface="黑体" panose="02010609060101010101" pitchFamily="49" charset="-122"/>
              <a:ea typeface="黑体" panose="02010609060101010101" pitchFamily="49" charset="-122"/>
            </a:endParaRPr>
          </a:p>
          <a:p>
            <a:pPr lvl="1"/>
            <a:r>
              <a:rPr lang="zh-CN" altLang="en-US" b="1" dirty="0">
                <a:latin typeface="黑体" panose="02010609060101010101" pitchFamily="49" charset="-122"/>
                <a:ea typeface="黑体" panose="02010609060101010101" pitchFamily="49" charset="-122"/>
              </a:rPr>
              <a:t>第二步：令            对</a:t>
            </a:r>
            <a:r>
              <a:rPr lang="en-US" altLang="zh-CN" b="1" i="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和</a:t>
            </a:r>
            <a:r>
              <a:rPr lang="en-US" altLang="zh-CN" b="1" i="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的偏导为零可得</a:t>
            </a:r>
            <a:endParaRPr lang="en-US" altLang="zh-CN" b="1" dirty="0">
              <a:latin typeface="黑体" panose="02010609060101010101" pitchFamily="49" charset="-122"/>
              <a:ea typeface="黑体" panose="02010609060101010101" pitchFamily="49" charset="-122"/>
            </a:endParaRPr>
          </a:p>
          <a:p>
            <a:pPr lvl="1"/>
            <a:endParaRPr lang="en-US" altLang="zh-CN" b="1" dirty="0">
              <a:latin typeface="黑体" panose="02010609060101010101" pitchFamily="49" charset="-122"/>
              <a:ea typeface="黑体" panose="02010609060101010101" pitchFamily="49" charset="-122"/>
            </a:endParaRPr>
          </a:p>
          <a:p>
            <a:pPr lvl="1"/>
            <a:endParaRPr lang="en-US" altLang="zh-CN" b="1" dirty="0">
              <a:latin typeface="黑体" panose="02010609060101010101" pitchFamily="49" charset="-122"/>
              <a:ea typeface="黑体" panose="02010609060101010101" pitchFamily="49" charset="-122"/>
            </a:endParaRPr>
          </a:p>
          <a:p>
            <a:pPr lvl="1"/>
            <a:endParaRPr lang="en-US" altLang="zh-CN" b="1" dirty="0">
              <a:latin typeface="黑体" panose="02010609060101010101" pitchFamily="49" charset="-122"/>
              <a:ea typeface="黑体" panose="02010609060101010101" pitchFamily="49" charset="-122"/>
            </a:endParaRPr>
          </a:p>
          <a:p>
            <a:pPr lvl="1"/>
            <a:r>
              <a:rPr lang="zh-CN" altLang="en-US" b="1" dirty="0">
                <a:latin typeface="黑体" panose="02010609060101010101" pitchFamily="49" charset="-122"/>
                <a:ea typeface="黑体" panose="02010609060101010101" pitchFamily="49" charset="-122"/>
              </a:rPr>
              <a:t>第三步：回代</a:t>
            </a:r>
            <a:endParaRPr lang="zh-CN" altLang="en-US" b="1" dirty="0">
              <a:latin typeface="黑体" panose="02010609060101010101" pitchFamily="49" charset="-122"/>
              <a:ea typeface="黑体" panose="02010609060101010101" pitchFamily="49" charset="-122"/>
            </a:endParaRPr>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225892" y="1595365"/>
            <a:ext cx="786452" cy="286537"/>
          </a:xfrm>
          <a:prstGeom prst="rect">
            <a:avLst/>
          </a:prstGeom>
        </p:spPr>
      </p:pic>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61433" y="2945151"/>
            <a:ext cx="310923" cy="286537"/>
          </a:xfrm>
          <a:prstGeom prst="rect">
            <a:avLst/>
          </a:prstGeom>
        </p:spPr>
      </p:pic>
      <p:pic>
        <p:nvPicPr>
          <p:cNvPr id="10" name="图片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92876" y="2940628"/>
            <a:ext cx="156157" cy="352800"/>
          </a:xfrm>
          <a:prstGeom prst="rect">
            <a:avLst/>
          </a:prstGeom>
        </p:spPr>
      </p:pic>
      <p:pic>
        <p:nvPicPr>
          <p:cNvPr id="14" name="图片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65438" y="3395385"/>
            <a:ext cx="3844750" cy="862510"/>
          </a:xfrm>
          <a:prstGeom prst="rect">
            <a:avLst/>
          </a:prstGeom>
        </p:spPr>
      </p:pic>
      <p:sp>
        <p:nvSpPr>
          <p:cNvPr id="11" name="内容占位符 2"/>
          <p:cNvSpPr txBox="1"/>
          <p:nvPr/>
        </p:nvSpPr>
        <p:spPr>
          <a:xfrm>
            <a:off x="4195664" y="4766534"/>
            <a:ext cx="3446451" cy="814138"/>
          </a:xfrm>
          <a:prstGeom prst="rect">
            <a:avLst/>
          </a:prstGeom>
        </p:spPr>
        <p:txBody>
          <a:bodyPr vert="horz" lIns="91440" tIns="46800" rIns="91440" bIns="45720" rtlCol="0">
            <a:norm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altLang="zh-CN" b="1" i="1" dirty="0">
                <a:solidFill>
                  <a:srgbClr val="FF0000"/>
                </a:solidFill>
                <a:latin typeface="Times "/>
                <a:ea typeface="黑体" panose="02010609060101010101" pitchFamily="49" charset="-122"/>
              </a:rPr>
              <a:t>w</a:t>
            </a:r>
            <a:r>
              <a:rPr lang="zh-CN" altLang="en-US" b="1" dirty="0">
                <a:solidFill>
                  <a:srgbClr val="FF0000"/>
                </a:solidFill>
                <a:latin typeface="黑体" panose="02010609060101010101" pitchFamily="49" charset="-122"/>
                <a:ea typeface="黑体" panose="02010609060101010101" pitchFamily="49" charset="-122"/>
              </a:rPr>
              <a:t>由样本点及类别决定</a:t>
            </a:r>
            <a:endParaRPr lang="zh-CN" altLang="en-US" b="1" dirty="0">
              <a:solidFill>
                <a:srgbClr val="FF0000"/>
              </a:solidFill>
              <a:latin typeface="黑体" panose="02010609060101010101" pitchFamily="49" charset="-122"/>
              <a:ea typeface="黑体" panose="02010609060101010101" pitchFamily="49" charset="-122"/>
            </a:endParaRPr>
          </a:p>
        </p:txBody>
      </p:sp>
      <p:cxnSp>
        <p:nvCxnSpPr>
          <p:cNvPr id="6" name="直接箭头连接符 5"/>
          <p:cNvCxnSpPr/>
          <p:nvPr/>
        </p:nvCxnSpPr>
        <p:spPr>
          <a:xfrm flipH="1" flipV="1">
            <a:off x="4083885" y="4195964"/>
            <a:ext cx="708991" cy="6517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4" name="对象 3"/>
          <p:cNvGraphicFramePr>
            <a:graphicFrameLocks noChangeAspect="1"/>
          </p:cNvGraphicFramePr>
          <p:nvPr/>
        </p:nvGraphicFramePr>
        <p:xfrm>
          <a:off x="1601751" y="1903824"/>
          <a:ext cx="6139279" cy="915190"/>
        </p:xfrm>
        <a:graphic>
          <a:graphicData uri="http://schemas.openxmlformats.org/presentationml/2006/ole">
            <mc:AlternateContent xmlns:mc="http://schemas.openxmlformats.org/markup-compatibility/2006">
              <mc:Choice xmlns:v="urn:schemas-microsoft-com:vml" Requires="v">
                <p:oleObj spid="_x0000_s32" name="AxMath" r:id="rId5" imgW="1143000" imgH="1143000" progId="Equation.AxMath">
                  <p:embed/>
                </p:oleObj>
              </mc:Choice>
              <mc:Fallback>
                <p:oleObj name="AxMath" r:id="rId5" imgW="1143000" imgH="1143000" progId="Equation.AxMath">
                  <p:embed/>
                  <p:pic>
                    <p:nvPicPr>
                      <p:cNvPr id="0" name="对象 2"/>
                      <p:cNvPicPr/>
                      <p:nvPr/>
                    </p:nvPicPr>
                    <p:blipFill>
                      <a:blip r:embed="rId6"/>
                      <a:stretch>
                        <a:fillRect/>
                      </a:stretch>
                    </p:blipFill>
                    <p:spPr>
                      <a:xfrm>
                        <a:off x="1601751" y="1903824"/>
                        <a:ext cx="6139279" cy="915190"/>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2316559" y="2819014"/>
          <a:ext cx="1524354" cy="497072"/>
        </p:xfrm>
        <a:graphic>
          <a:graphicData uri="http://schemas.openxmlformats.org/presentationml/2006/ole">
            <mc:AlternateContent xmlns:mc="http://schemas.openxmlformats.org/markup-compatibility/2006">
              <mc:Choice xmlns:v="urn:schemas-microsoft-com:vml" Requires="v">
                <p:oleObj spid="_x0000_s8" name="AxMath" r:id="rId7" imgW="743585" imgH="247650" progId="Equation.AxMath">
                  <p:embed/>
                </p:oleObj>
              </mc:Choice>
              <mc:Fallback>
                <p:oleObj name="AxMath" r:id="rId7" imgW="743585" imgH="247650" progId="Equation.AxMath">
                  <p:embed/>
                  <p:pic>
                    <p:nvPicPr>
                      <p:cNvPr id="0" name="图片 7"/>
                      <p:cNvPicPr/>
                      <p:nvPr/>
                    </p:nvPicPr>
                    <p:blipFill>
                      <a:blip r:embed="rId8"/>
                      <a:stretch>
                        <a:fillRect/>
                      </a:stretch>
                    </p:blipFill>
                    <p:spPr>
                      <a:xfrm>
                        <a:off x="2316559" y="2819014"/>
                        <a:ext cx="1524354" cy="497072"/>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par>
                                <p:cTn id="22" presetID="10" presetClass="entr" presetSubtype="0" fill="hold"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9" end="9"/>
                                            </p:txEl>
                                          </p:spTgt>
                                        </p:tgtEl>
                                        <p:attrNameLst>
                                          <p:attrName>style.visibility</p:attrName>
                                        </p:attrNameLst>
                                      </p:cBhvr>
                                      <p:to>
                                        <p:strVal val="visible"/>
                                      </p:to>
                                    </p:set>
                                    <p:animEffect transition="in" filter="fade">
                                      <p:cBhvr>
                                        <p:cTn id="32" dur="500"/>
                                        <p:tgtEl>
                                          <p:spTgt spid="3">
                                            <p:txEl>
                                              <p:pRg st="9" end="9"/>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1">
                                            <p:txEl>
                                              <p:pRg st="0" end="0"/>
                                            </p:txEl>
                                          </p:spTgt>
                                        </p:tgtEl>
                                        <p:attrNameLst>
                                          <p:attrName>style.visibility</p:attrName>
                                        </p:attrNameLst>
                                      </p:cBhvr>
                                      <p:to>
                                        <p:strVal val="visible"/>
                                      </p:to>
                                    </p:set>
                                    <p:animEffect transition="in" filter="fade">
                                      <p:cBhvr>
                                        <p:cTn id="37" dur="500"/>
                                        <p:tgtEl>
                                          <p:spTgt spid="11">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1"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对偶问题求解</a:t>
            </a:r>
            <a:endParaRPr lang="zh-CN" altLang="en-US" dirty="0">
              <a:latin typeface="黑体" panose="02010609060101010101" pitchFamily="49" charset="-122"/>
              <a:ea typeface="黑体" panose="02010609060101010101" pitchFamily="49" charset="-122"/>
            </a:endParaRPr>
          </a:p>
        </p:txBody>
      </p:sp>
      <p:grpSp>
        <p:nvGrpSpPr>
          <p:cNvPr id="17" name="组合 16"/>
          <p:cNvGrpSpPr/>
          <p:nvPr/>
        </p:nvGrpSpPr>
        <p:grpSpPr>
          <a:xfrm>
            <a:off x="574712" y="914394"/>
            <a:ext cx="8130749" cy="5269219"/>
            <a:chOff x="574712" y="914394"/>
            <a:chExt cx="8130749" cy="5269219"/>
          </a:xfrm>
        </p:grpSpPr>
        <p:pic>
          <p:nvPicPr>
            <p:cNvPr id="6" name="图片 5"/>
            <p:cNvPicPr>
              <a:picLocks noChangeAspect="1"/>
            </p:cNvPicPr>
            <p:nvPr/>
          </p:nvPicPr>
          <p:blipFill>
            <a:blip r:embed="rId1"/>
            <a:stretch>
              <a:fillRect/>
            </a:stretch>
          </p:blipFill>
          <p:spPr>
            <a:xfrm>
              <a:off x="574712" y="921865"/>
              <a:ext cx="8130749" cy="5261748"/>
            </a:xfrm>
            <a:prstGeom prst="rect">
              <a:avLst/>
            </a:prstGeom>
          </p:spPr>
        </p:pic>
        <p:sp>
          <p:nvSpPr>
            <p:cNvPr id="3" name="文本框 2"/>
            <p:cNvSpPr txBox="1"/>
            <p:nvPr/>
          </p:nvSpPr>
          <p:spPr>
            <a:xfrm>
              <a:off x="3713583" y="914394"/>
              <a:ext cx="317241" cy="338554"/>
            </a:xfrm>
            <a:prstGeom prst="rect">
              <a:avLst/>
            </a:prstGeom>
            <a:solidFill>
              <a:schemeClr val="bg2"/>
            </a:solidFill>
          </p:spPr>
          <p:txBody>
            <a:bodyPr wrap="square" rtlCol="0">
              <a:spAutoFit/>
            </a:bodyPr>
            <a:lstStyle/>
            <a:p>
              <a:r>
                <a:rPr lang="en-US" altLang="zh-CN" sz="1600" i="1" dirty="0">
                  <a:latin typeface="Times New Roman" panose="02020603050405020304" charset="0"/>
                  <a:cs typeface="Times New Roman" panose="02020603050405020304" charset="0"/>
                </a:rPr>
                <a:t>m</a:t>
              </a:r>
              <a:endParaRPr lang="zh-CN" altLang="en-US" sz="1600" i="1" dirty="0">
                <a:latin typeface="Times New Roman" panose="02020603050405020304" charset="0"/>
                <a:cs typeface="Times New Roman" panose="02020603050405020304" charset="0"/>
              </a:endParaRPr>
            </a:p>
          </p:txBody>
        </p:sp>
        <p:sp>
          <p:nvSpPr>
            <p:cNvPr id="5" name="文本框 4"/>
            <p:cNvSpPr txBox="1"/>
            <p:nvPr/>
          </p:nvSpPr>
          <p:spPr>
            <a:xfrm>
              <a:off x="4155232" y="1934545"/>
              <a:ext cx="317241" cy="338554"/>
            </a:xfrm>
            <a:prstGeom prst="rect">
              <a:avLst/>
            </a:prstGeom>
            <a:solidFill>
              <a:schemeClr val="bg2"/>
            </a:solidFill>
          </p:spPr>
          <p:txBody>
            <a:bodyPr wrap="square" rtlCol="0">
              <a:spAutoFit/>
            </a:bodyPr>
            <a:lstStyle/>
            <a:p>
              <a:r>
                <a:rPr lang="en-US" altLang="zh-CN" sz="1600" i="1" dirty="0">
                  <a:latin typeface="Times New Roman" panose="02020603050405020304" charset="0"/>
                  <a:cs typeface="Times New Roman" panose="02020603050405020304" charset="0"/>
                </a:rPr>
                <a:t>m</a:t>
              </a:r>
              <a:endParaRPr lang="zh-CN" altLang="en-US" sz="1600" i="1" dirty="0">
                <a:latin typeface="Times New Roman" panose="02020603050405020304" charset="0"/>
                <a:cs typeface="Times New Roman" panose="02020603050405020304" charset="0"/>
              </a:endParaRPr>
            </a:p>
          </p:txBody>
        </p:sp>
        <p:sp>
          <p:nvSpPr>
            <p:cNvPr id="7" name="文本框 6"/>
            <p:cNvSpPr txBox="1"/>
            <p:nvPr/>
          </p:nvSpPr>
          <p:spPr>
            <a:xfrm>
              <a:off x="6049352" y="1943870"/>
              <a:ext cx="317241" cy="338554"/>
            </a:xfrm>
            <a:prstGeom prst="rect">
              <a:avLst/>
            </a:prstGeom>
            <a:solidFill>
              <a:schemeClr val="bg2"/>
            </a:solidFill>
          </p:spPr>
          <p:txBody>
            <a:bodyPr wrap="square" rtlCol="0">
              <a:spAutoFit/>
            </a:bodyPr>
            <a:lstStyle/>
            <a:p>
              <a:r>
                <a:rPr lang="en-US" altLang="zh-CN" sz="1600" i="1" dirty="0">
                  <a:latin typeface="Times New Roman" panose="02020603050405020304" charset="0"/>
                  <a:cs typeface="Times New Roman" panose="02020603050405020304" charset="0"/>
                </a:rPr>
                <a:t>m</a:t>
              </a:r>
              <a:endParaRPr lang="zh-CN" altLang="en-US" sz="1600" i="1" dirty="0">
                <a:latin typeface="Times New Roman" panose="02020603050405020304" charset="0"/>
                <a:cs typeface="Times New Roman" panose="02020603050405020304" charset="0"/>
              </a:endParaRPr>
            </a:p>
          </p:txBody>
        </p:sp>
        <p:sp>
          <p:nvSpPr>
            <p:cNvPr id="8" name="文本框 7"/>
            <p:cNvSpPr txBox="1"/>
            <p:nvPr/>
          </p:nvSpPr>
          <p:spPr>
            <a:xfrm>
              <a:off x="7486259" y="1943873"/>
              <a:ext cx="317241" cy="338554"/>
            </a:xfrm>
            <a:prstGeom prst="rect">
              <a:avLst/>
            </a:prstGeom>
            <a:solidFill>
              <a:schemeClr val="bg2"/>
            </a:solidFill>
          </p:spPr>
          <p:txBody>
            <a:bodyPr wrap="square" rtlCol="0">
              <a:spAutoFit/>
            </a:bodyPr>
            <a:lstStyle/>
            <a:p>
              <a:r>
                <a:rPr lang="en-US" altLang="zh-CN" sz="1600" i="1" dirty="0">
                  <a:latin typeface="Times New Roman" panose="02020603050405020304" charset="0"/>
                  <a:cs typeface="Times New Roman" panose="02020603050405020304" charset="0"/>
                </a:rPr>
                <a:t>m</a:t>
              </a:r>
              <a:endParaRPr lang="zh-CN" altLang="en-US" sz="1600" i="1" dirty="0">
                <a:latin typeface="Times New Roman" panose="02020603050405020304" charset="0"/>
                <a:cs typeface="Times New Roman" panose="02020603050405020304" charset="0"/>
              </a:endParaRPr>
            </a:p>
          </p:txBody>
        </p:sp>
        <p:sp>
          <p:nvSpPr>
            <p:cNvPr id="9" name="文本框 8"/>
            <p:cNvSpPr txBox="1"/>
            <p:nvPr/>
          </p:nvSpPr>
          <p:spPr>
            <a:xfrm>
              <a:off x="3119536" y="2960908"/>
              <a:ext cx="317241" cy="338554"/>
            </a:xfrm>
            <a:prstGeom prst="rect">
              <a:avLst/>
            </a:prstGeom>
            <a:solidFill>
              <a:schemeClr val="bg2"/>
            </a:solidFill>
          </p:spPr>
          <p:txBody>
            <a:bodyPr wrap="square" rtlCol="0">
              <a:spAutoFit/>
            </a:bodyPr>
            <a:lstStyle/>
            <a:p>
              <a:r>
                <a:rPr lang="en-US" altLang="zh-CN" sz="1600" i="1" dirty="0">
                  <a:latin typeface="Times New Roman" panose="02020603050405020304" charset="0"/>
                  <a:cs typeface="Times New Roman" panose="02020603050405020304" charset="0"/>
                </a:rPr>
                <a:t>m</a:t>
              </a:r>
              <a:endParaRPr lang="zh-CN" altLang="en-US" sz="1600" i="1" dirty="0">
                <a:latin typeface="Times New Roman" panose="02020603050405020304" charset="0"/>
                <a:cs typeface="Times New Roman" panose="02020603050405020304" charset="0"/>
              </a:endParaRPr>
            </a:p>
          </p:txBody>
        </p:sp>
        <p:sp>
          <p:nvSpPr>
            <p:cNvPr id="10" name="文本框 9"/>
            <p:cNvSpPr txBox="1"/>
            <p:nvPr/>
          </p:nvSpPr>
          <p:spPr>
            <a:xfrm>
              <a:off x="5293571" y="2951580"/>
              <a:ext cx="317241" cy="338554"/>
            </a:xfrm>
            <a:prstGeom prst="rect">
              <a:avLst/>
            </a:prstGeom>
            <a:solidFill>
              <a:schemeClr val="bg2"/>
            </a:solidFill>
          </p:spPr>
          <p:txBody>
            <a:bodyPr wrap="square" rtlCol="0">
              <a:spAutoFit/>
            </a:bodyPr>
            <a:lstStyle/>
            <a:p>
              <a:r>
                <a:rPr lang="en-US" altLang="zh-CN" sz="1600" i="1" dirty="0">
                  <a:latin typeface="Times New Roman" panose="02020603050405020304" charset="0"/>
                  <a:cs typeface="Times New Roman" panose="02020603050405020304" charset="0"/>
                </a:rPr>
                <a:t>m</a:t>
              </a:r>
              <a:endParaRPr lang="zh-CN" altLang="en-US" sz="1600" i="1" dirty="0">
                <a:latin typeface="Times New Roman" panose="02020603050405020304" charset="0"/>
                <a:cs typeface="Times New Roman" panose="02020603050405020304" charset="0"/>
              </a:endParaRPr>
            </a:p>
          </p:txBody>
        </p:sp>
        <p:sp>
          <p:nvSpPr>
            <p:cNvPr id="11" name="文本框 10"/>
            <p:cNvSpPr txBox="1"/>
            <p:nvPr/>
          </p:nvSpPr>
          <p:spPr>
            <a:xfrm>
              <a:off x="7868819" y="2942250"/>
              <a:ext cx="317241" cy="338554"/>
            </a:xfrm>
            <a:prstGeom prst="rect">
              <a:avLst/>
            </a:prstGeom>
            <a:solidFill>
              <a:schemeClr val="bg2"/>
            </a:solidFill>
          </p:spPr>
          <p:txBody>
            <a:bodyPr wrap="square" rtlCol="0">
              <a:spAutoFit/>
            </a:bodyPr>
            <a:lstStyle/>
            <a:p>
              <a:r>
                <a:rPr lang="en-US" altLang="zh-CN" sz="1600" i="1" dirty="0">
                  <a:latin typeface="Times New Roman" panose="02020603050405020304" charset="0"/>
                  <a:cs typeface="Times New Roman" panose="02020603050405020304" charset="0"/>
                </a:rPr>
                <a:t>m</a:t>
              </a:r>
              <a:endParaRPr lang="zh-CN" altLang="en-US" sz="1600" i="1" dirty="0">
                <a:latin typeface="Times New Roman" panose="02020603050405020304" charset="0"/>
                <a:cs typeface="Times New Roman" panose="02020603050405020304" charset="0"/>
              </a:endParaRPr>
            </a:p>
          </p:txBody>
        </p:sp>
        <p:sp>
          <p:nvSpPr>
            <p:cNvPr id="12" name="文本框 11"/>
            <p:cNvSpPr txBox="1"/>
            <p:nvPr/>
          </p:nvSpPr>
          <p:spPr>
            <a:xfrm>
              <a:off x="2363757" y="4061927"/>
              <a:ext cx="317241" cy="338554"/>
            </a:xfrm>
            <a:prstGeom prst="rect">
              <a:avLst/>
            </a:prstGeom>
            <a:solidFill>
              <a:schemeClr val="bg2"/>
            </a:solidFill>
          </p:spPr>
          <p:txBody>
            <a:bodyPr wrap="square" rtlCol="0">
              <a:spAutoFit/>
            </a:bodyPr>
            <a:lstStyle/>
            <a:p>
              <a:r>
                <a:rPr lang="en-US" altLang="zh-CN" sz="1600" i="1" dirty="0">
                  <a:latin typeface="Times New Roman" panose="02020603050405020304" charset="0"/>
                  <a:cs typeface="Times New Roman" panose="02020603050405020304" charset="0"/>
                </a:rPr>
                <a:t>m</a:t>
              </a:r>
              <a:endParaRPr lang="zh-CN" altLang="en-US" sz="1600" i="1" dirty="0">
                <a:latin typeface="Times New Roman" panose="02020603050405020304" charset="0"/>
                <a:cs typeface="Times New Roman" panose="02020603050405020304" charset="0"/>
              </a:endParaRPr>
            </a:p>
          </p:txBody>
        </p:sp>
        <p:sp>
          <p:nvSpPr>
            <p:cNvPr id="13" name="文本框 12"/>
            <p:cNvSpPr txBox="1"/>
            <p:nvPr/>
          </p:nvSpPr>
          <p:spPr>
            <a:xfrm>
              <a:off x="4052599" y="4061920"/>
              <a:ext cx="317241" cy="338554"/>
            </a:xfrm>
            <a:prstGeom prst="rect">
              <a:avLst/>
            </a:prstGeom>
            <a:solidFill>
              <a:schemeClr val="bg2"/>
            </a:solidFill>
          </p:spPr>
          <p:txBody>
            <a:bodyPr wrap="square" rtlCol="0">
              <a:spAutoFit/>
            </a:bodyPr>
            <a:lstStyle/>
            <a:p>
              <a:r>
                <a:rPr lang="en-US" altLang="zh-CN" sz="1600" i="1" dirty="0">
                  <a:latin typeface="Times New Roman" panose="02020603050405020304" charset="0"/>
                  <a:cs typeface="Times New Roman" panose="02020603050405020304" charset="0"/>
                </a:rPr>
                <a:t>m</a:t>
              </a:r>
              <a:endParaRPr lang="zh-CN" altLang="en-US" sz="1600" i="1" dirty="0">
                <a:latin typeface="Times New Roman" panose="02020603050405020304" charset="0"/>
                <a:cs typeface="Times New Roman" panose="02020603050405020304" charset="0"/>
              </a:endParaRPr>
            </a:p>
          </p:txBody>
        </p:sp>
        <p:sp>
          <p:nvSpPr>
            <p:cNvPr id="14" name="文本框 13"/>
            <p:cNvSpPr txBox="1"/>
            <p:nvPr/>
          </p:nvSpPr>
          <p:spPr>
            <a:xfrm>
              <a:off x="5862732" y="4061917"/>
              <a:ext cx="317241" cy="338554"/>
            </a:xfrm>
            <a:prstGeom prst="rect">
              <a:avLst/>
            </a:prstGeom>
            <a:solidFill>
              <a:schemeClr val="bg2"/>
            </a:solidFill>
          </p:spPr>
          <p:txBody>
            <a:bodyPr wrap="square" rtlCol="0">
              <a:spAutoFit/>
            </a:bodyPr>
            <a:lstStyle/>
            <a:p>
              <a:r>
                <a:rPr lang="en-US" altLang="zh-CN" sz="1600" i="1" dirty="0">
                  <a:latin typeface="Times New Roman" panose="02020603050405020304" charset="0"/>
                  <a:cs typeface="Times New Roman" panose="02020603050405020304" charset="0"/>
                </a:rPr>
                <a:t>m</a:t>
              </a:r>
              <a:endParaRPr lang="zh-CN" altLang="en-US" sz="1600" i="1" dirty="0">
                <a:latin typeface="Times New Roman" panose="02020603050405020304" charset="0"/>
                <a:cs typeface="Times New Roman" panose="02020603050405020304" charset="0"/>
              </a:endParaRPr>
            </a:p>
          </p:txBody>
        </p:sp>
        <p:sp>
          <p:nvSpPr>
            <p:cNvPr id="15" name="文本框 14"/>
            <p:cNvSpPr txBox="1"/>
            <p:nvPr/>
          </p:nvSpPr>
          <p:spPr>
            <a:xfrm>
              <a:off x="2382413" y="5069631"/>
              <a:ext cx="317241" cy="338554"/>
            </a:xfrm>
            <a:prstGeom prst="rect">
              <a:avLst/>
            </a:prstGeom>
            <a:solidFill>
              <a:schemeClr val="bg2"/>
            </a:solidFill>
          </p:spPr>
          <p:txBody>
            <a:bodyPr wrap="square" rtlCol="0">
              <a:spAutoFit/>
            </a:bodyPr>
            <a:lstStyle/>
            <a:p>
              <a:r>
                <a:rPr lang="en-US" altLang="zh-CN" sz="1600" i="1" dirty="0">
                  <a:latin typeface="Times New Roman" panose="02020603050405020304" charset="0"/>
                  <a:cs typeface="Times New Roman" panose="02020603050405020304" charset="0"/>
                </a:rPr>
                <a:t>m</a:t>
              </a:r>
              <a:endParaRPr lang="zh-CN" altLang="en-US" sz="1600" i="1" dirty="0">
                <a:latin typeface="Times New Roman" panose="02020603050405020304" charset="0"/>
                <a:cs typeface="Times New Roman" panose="02020603050405020304" charset="0"/>
              </a:endParaRPr>
            </a:p>
          </p:txBody>
        </p:sp>
        <p:sp>
          <p:nvSpPr>
            <p:cNvPr id="16" name="文本框 15"/>
            <p:cNvSpPr txBox="1"/>
            <p:nvPr/>
          </p:nvSpPr>
          <p:spPr>
            <a:xfrm>
              <a:off x="3884645" y="5078956"/>
              <a:ext cx="317241" cy="338554"/>
            </a:xfrm>
            <a:prstGeom prst="rect">
              <a:avLst/>
            </a:prstGeom>
            <a:solidFill>
              <a:schemeClr val="bg2"/>
            </a:solidFill>
          </p:spPr>
          <p:txBody>
            <a:bodyPr wrap="square" rtlCol="0">
              <a:spAutoFit/>
            </a:bodyPr>
            <a:lstStyle/>
            <a:p>
              <a:r>
                <a:rPr lang="en-US" altLang="zh-CN" sz="1600" i="1" dirty="0">
                  <a:latin typeface="Times New Roman" panose="02020603050405020304" charset="0"/>
                  <a:cs typeface="Times New Roman" panose="02020603050405020304" charset="0"/>
                </a:rPr>
                <a:t>m</a:t>
              </a:r>
              <a:endParaRPr lang="zh-CN" altLang="en-US" sz="1600" i="1" dirty="0">
                <a:latin typeface="Times New Roman" panose="02020603050405020304" charset="0"/>
                <a:cs typeface="Times New Roman" panose="02020603050405020304" charset="0"/>
              </a:endParaRPr>
            </a:p>
          </p:txBody>
        </p:sp>
      </p:gr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对偶问题求解</a:t>
            </a:r>
            <a:endParaRPr lang="zh-CN" altLang="en-US" dirty="0">
              <a:latin typeface="黑体" panose="02010609060101010101" pitchFamily="49" charset="-122"/>
              <a:ea typeface="黑体" panose="02010609060101010101" pitchFamily="49" charset="-122"/>
            </a:endParaRPr>
          </a:p>
        </p:txBody>
      </p:sp>
      <p:sp>
        <p:nvSpPr>
          <p:cNvPr id="4" name="文本框 3"/>
          <p:cNvSpPr txBox="1"/>
          <p:nvPr/>
        </p:nvSpPr>
        <p:spPr>
          <a:xfrm>
            <a:off x="429207" y="843150"/>
            <a:ext cx="7791062" cy="400110"/>
          </a:xfrm>
          <a:prstGeom prst="rect">
            <a:avLst/>
          </a:prstGeom>
          <a:noFill/>
        </p:spPr>
        <p:txBody>
          <a:bodyPr wrap="square" rtlCol="0">
            <a:spAutoFit/>
          </a:bodyPr>
          <a:lstStyle/>
          <a:p>
            <a:r>
              <a:rPr lang="zh-CN" altLang="en-US" sz="2000" dirty="0">
                <a:latin typeface="黑体" panose="02010609060101010101" pitchFamily="49" charset="-122"/>
                <a:ea typeface="黑体" panose="02010609060101010101" pitchFamily="49" charset="-122"/>
              </a:rPr>
              <a:t>内侧的最小值求解完成后，求解外侧的最大值，从上式可得：</a:t>
            </a:r>
            <a:endParaRPr lang="zh-CN" altLang="en-US" sz="2000" dirty="0">
              <a:latin typeface="黑体" panose="02010609060101010101" pitchFamily="49" charset="-122"/>
              <a:ea typeface="黑体" panose="02010609060101010101" pitchFamily="49" charset="-122"/>
            </a:endParaRPr>
          </a:p>
        </p:txBody>
      </p:sp>
      <p:sp>
        <p:nvSpPr>
          <p:cNvPr id="7" name="文本框 6"/>
          <p:cNvSpPr txBox="1"/>
          <p:nvPr/>
        </p:nvSpPr>
        <p:spPr>
          <a:xfrm>
            <a:off x="516292" y="3223689"/>
            <a:ext cx="7791062" cy="400110"/>
          </a:xfrm>
          <a:prstGeom prst="rect">
            <a:avLst/>
          </a:prstGeom>
          <a:noFill/>
        </p:spPr>
        <p:txBody>
          <a:bodyPr wrap="square" rtlCol="0">
            <a:spAutoFit/>
          </a:bodyPr>
          <a:lstStyle/>
          <a:p>
            <a:r>
              <a:rPr lang="zh-CN" altLang="en-US" sz="2000" dirty="0">
                <a:latin typeface="黑体" panose="02010609060101010101" pitchFamily="49" charset="-122"/>
                <a:ea typeface="黑体" panose="02010609060101010101" pitchFamily="49" charset="-122"/>
              </a:rPr>
              <a:t>转换为等价问题：</a:t>
            </a:r>
            <a:endParaRPr lang="zh-CN" altLang="en-US" sz="2000" dirty="0">
              <a:latin typeface="黑体" panose="02010609060101010101" pitchFamily="49" charset="-122"/>
              <a:ea typeface="黑体" panose="02010609060101010101" pitchFamily="49" charset="-122"/>
            </a:endParaRPr>
          </a:p>
        </p:txBody>
      </p:sp>
      <p:graphicFrame>
        <p:nvGraphicFramePr>
          <p:cNvPr id="8" name="对象 7"/>
          <p:cNvGraphicFramePr>
            <a:graphicFrameLocks noChangeAspect="1"/>
          </p:cNvGraphicFramePr>
          <p:nvPr/>
        </p:nvGraphicFramePr>
        <p:xfrm>
          <a:off x="2577959" y="1150752"/>
          <a:ext cx="3667728" cy="1872882"/>
        </p:xfrm>
        <a:graphic>
          <a:graphicData uri="http://schemas.openxmlformats.org/presentationml/2006/ole">
            <mc:AlternateContent xmlns:mc="http://schemas.openxmlformats.org/markup-compatibility/2006">
              <mc:Choice xmlns:v="urn:schemas-microsoft-com:vml" Requires="v">
                <p:oleObj spid="_x0000_s32" name="AxMath" r:id="rId1" imgW="1143000" imgH="1143000" progId="Equation.AxMath">
                  <p:embed/>
                </p:oleObj>
              </mc:Choice>
              <mc:Fallback>
                <p:oleObj name="AxMath" r:id="rId1" imgW="1143000" imgH="1143000" progId="Equation.AxMath">
                  <p:embed/>
                  <p:pic>
                    <p:nvPicPr>
                      <p:cNvPr id="0" name="图片 31"/>
                      <p:cNvPicPr/>
                      <p:nvPr/>
                    </p:nvPicPr>
                    <p:blipFill>
                      <a:blip r:embed="rId2"/>
                      <a:stretch>
                        <a:fillRect/>
                      </a:stretch>
                    </p:blipFill>
                    <p:spPr>
                      <a:xfrm>
                        <a:off x="2577959" y="1150752"/>
                        <a:ext cx="3667728" cy="1872882"/>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2727021" y="3093730"/>
          <a:ext cx="3548366" cy="1852541"/>
        </p:xfrm>
        <a:graphic>
          <a:graphicData uri="http://schemas.openxmlformats.org/presentationml/2006/ole">
            <mc:AlternateContent xmlns:mc="http://schemas.openxmlformats.org/markup-compatibility/2006">
              <mc:Choice xmlns:v="urn:schemas-microsoft-com:vml" Requires="v">
                <p:oleObj spid="_x0000_s3" name="AxMath" r:id="rId3" imgW="1143000" imgH="1143000" progId="Equation.AxMath">
                  <p:embed/>
                </p:oleObj>
              </mc:Choice>
              <mc:Fallback>
                <p:oleObj name="AxMath" r:id="rId3" imgW="1143000" imgH="1143000" progId="Equation.AxMath">
                  <p:embed/>
                  <p:pic>
                    <p:nvPicPr>
                      <p:cNvPr id="0" name="图片 2"/>
                      <p:cNvPicPr/>
                      <p:nvPr/>
                    </p:nvPicPr>
                    <p:blipFill>
                      <a:blip r:embed="rId4"/>
                      <a:stretch>
                        <a:fillRect/>
                      </a:stretch>
                    </p:blipFill>
                    <p:spPr>
                      <a:xfrm>
                        <a:off x="2727021" y="3093730"/>
                        <a:ext cx="3548366" cy="1852541"/>
                      </a:xfrm>
                      <a:prstGeom prst="rect">
                        <a:avLst/>
                      </a:prstGeom>
                    </p:spPr>
                  </p:pic>
                </p:oleObj>
              </mc:Fallback>
            </mc:AlternateContent>
          </a:graphicData>
        </a:graphic>
      </p:graphicFrame>
      <p:sp>
        <p:nvSpPr>
          <p:cNvPr id="10" name="文本框 9"/>
          <p:cNvSpPr txBox="1"/>
          <p:nvPr/>
        </p:nvSpPr>
        <p:spPr>
          <a:xfrm>
            <a:off x="676469" y="4914402"/>
            <a:ext cx="7791062" cy="400110"/>
          </a:xfrm>
          <a:prstGeom prst="rect">
            <a:avLst/>
          </a:prstGeom>
          <a:noFill/>
        </p:spPr>
        <p:txBody>
          <a:bodyPr wrap="square" rtlCol="0">
            <a:spAutoFit/>
          </a:bodyPr>
          <a:lstStyle/>
          <a:p>
            <a:r>
              <a:rPr lang="zh-CN" altLang="en-US" sz="2000" dirty="0">
                <a:latin typeface="黑体" panose="02010609060101010101" pitchFamily="49" charset="-122"/>
                <a:ea typeface="黑体" panose="02010609060101010101" pitchFamily="49" charset="-122"/>
              </a:rPr>
              <a:t>解得最优解：</a:t>
            </a:r>
            <a:endParaRPr lang="zh-CN" altLang="en-US" sz="2000" dirty="0">
              <a:latin typeface="黑体" panose="02010609060101010101" pitchFamily="49" charset="-122"/>
              <a:ea typeface="黑体" panose="02010609060101010101" pitchFamily="49" charset="-122"/>
            </a:endParaRPr>
          </a:p>
        </p:txBody>
      </p:sp>
      <p:graphicFrame>
        <p:nvGraphicFramePr>
          <p:cNvPr id="11" name="对象 10"/>
          <p:cNvGraphicFramePr>
            <a:graphicFrameLocks noChangeAspect="1"/>
          </p:cNvGraphicFramePr>
          <p:nvPr/>
        </p:nvGraphicFramePr>
        <p:xfrm>
          <a:off x="2254510" y="4936814"/>
          <a:ext cx="2439380" cy="400109"/>
        </p:xfrm>
        <a:graphic>
          <a:graphicData uri="http://schemas.openxmlformats.org/presentationml/2006/ole">
            <mc:AlternateContent xmlns:mc="http://schemas.openxmlformats.org/markup-compatibility/2006">
              <mc:Choice xmlns:v="urn:schemas-microsoft-com:vml" Requires="v">
                <p:oleObj spid="_x0000_s5" name="AxMath" r:id="rId5" imgW="1143000" imgH="1143000" progId="Equation.AxMath">
                  <p:embed/>
                </p:oleObj>
              </mc:Choice>
              <mc:Fallback>
                <p:oleObj name="AxMath" r:id="rId5" imgW="1143000" imgH="1143000" progId="Equation.AxMath">
                  <p:embed/>
                  <p:pic>
                    <p:nvPicPr>
                      <p:cNvPr id="0" name="图片 4"/>
                      <p:cNvPicPr/>
                      <p:nvPr/>
                    </p:nvPicPr>
                    <p:blipFill>
                      <a:blip r:embed="rId6"/>
                      <a:stretch>
                        <a:fillRect/>
                      </a:stretch>
                    </p:blipFill>
                    <p:spPr>
                      <a:xfrm>
                        <a:off x="2254510" y="4936814"/>
                        <a:ext cx="2439380" cy="400109"/>
                      </a:xfrm>
                      <a:prstGeom prst="rect">
                        <a:avLst/>
                      </a:prstGeom>
                    </p:spPr>
                  </p:pic>
                </p:oleObj>
              </mc:Fallback>
            </mc:AlternateContent>
          </a:graphicData>
        </a:graphic>
      </p:graphicFrame>
      <p:sp>
        <p:nvSpPr>
          <p:cNvPr id="12" name="文本框 11"/>
          <p:cNvSpPr txBox="1"/>
          <p:nvPr/>
        </p:nvSpPr>
        <p:spPr>
          <a:xfrm>
            <a:off x="676469" y="5432166"/>
            <a:ext cx="7791062" cy="400110"/>
          </a:xfrm>
          <a:prstGeom prst="rect">
            <a:avLst/>
          </a:prstGeom>
          <a:noFill/>
        </p:spPr>
        <p:txBody>
          <a:bodyPr wrap="square" rtlCol="0">
            <a:spAutoFit/>
          </a:bodyPr>
          <a:lstStyle/>
          <a:p>
            <a:r>
              <a:rPr lang="zh-CN" altLang="en-US" sz="2000" dirty="0">
                <a:latin typeface="黑体" panose="02010609060101010101" pitchFamily="49" charset="-122"/>
                <a:ea typeface="黑体" panose="02010609060101010101" pitchFamily="49" charset="-122"/>
              </a:rPr>
              <a:t>计算可得：</a:t>
            </a:r>
            <a:endParaRPr lang="zh-CN" altLang="en-US" sz="2000" dirty="0">
              <a:latin typeface="黑体" panose="02010609060101010101" pitchFamily="49" charset="-122"/>
              <a:ea typeface="黑体" panose="02010609060101010101" pitchFamily="49" charset="-122"/>
            </a:endParaRPr>
          </a:p>
        </p:txBody>
      </p:sp>
      <p:graphicFrame>
        <p:nvGraphicFramePr>
          <p:cNvPr id="13" name="对象 12"/>
          <p:cNvGraphicFramePr>
            <a:graphicFrameLocks noChangeAspect="1"/>
          </p:cNvGraphicFramePr>
          <p:nvPr/>
        </p:nvGraphicFramePr>
        <p:xfrm>
          <a:off x="2132012" y="5314512"/>
          <a:ext cx="4250889" cy="700338"/>
        </p:xfrm>
        <a:graphic>
          <a:graphicData uri="http://schemas.openxmlformats.org/presentationml/2006/ole">
            <mc:AlternateContent xmlns:mc="http://schemas.openxmlformats.org/markup-compatibility/2006">
              <mc:Choice xmlns:v="urn:schemas-microsoft-com:vml" Requires="v">
                <p:oleObj spid="_x0000_s6" name="AxMath" r:id="rId7" imgW="1143000" imgH="1143000" progId="Equation.AxMath">
                  <p:embed/>
                </p:oleObj>
              </mc:Choice>
              <mc:Fallback>
                <p:oleObj name="AxMath" r:id="rId7" imgW="1143000" imgH="1143000" progId="Equation.AxMath">
                  <p:embed/>
                  <p:pic>
                    <p:nvPicPr>
                      <p:cNvPr id="0" name="图片 5"/>
                      <p:cNvPicPr/>
                      <p:nvPr/>
                    </p:nvPicPr>
                    <p:blipFill>
                      <a:blip r:embed="rId8"/>
                      <a:stretch>
                        <a:fillRect/>
                      </a:stretch>
                    </p:blipFill>
                    <p:spPr>
                      <a:xfrm>
                        <a:off x="2132012" y="5314512"/>
                        <a:ext cx="4250889" cy="700338"/>
                      </a:xfrm>
                      <a:prstGeom prst="rect">
                        <a:avLst/>
                      </a:prstGeom>
                    </p:spPr>
                  </p:pic>
                </p:oleObj>
              </mc:Fallback>
            </mc:AlternateContent>
          </a:graphicData>
        </a:graphic>
      </p:graphicFrame>
      <p:sp>
        <p:nvSpPr>
          <p:cNvPr id="14" name="文本框 13"/>
          <p:cNvSpPr txBox="1"/>
          <p:nvPr/>
        </p:nvSpPr>
        <p:spPr>
          <a:xfrm>
            <a:off x="676469" y="5992438"/>
            <a:ext cx="7791062" cy="400110"/>
          </a:xfrm>
          <a:prstGeom prst="rect">
            <a:avLst/>
          </a:prstGeom>
          <a:noFill/>
        </p:spPr>
        <p:txBody>
          <a:bodyPr wrap="square" rtlCol="0">
            <a:spAutoFit/>
          </a:bodyPr>
          <a:lstStyle/>
          <a:p>
            <a:r>
              <a:rPr lang="zh-CN" altLang="en-US" sz="2000" dirty="0">
                <a:latin typeface="黑体" panose="02010609060101010101" pitchFamily="49" charset="-122"/>
                <a:ea typeface="黑体" panose="02010609060101010101" pitchFamily="49" charset="-122"/>
              </a:rPr>
              <a:t>求得超平面：</a:t>
            </a:r>
            <a:endParaRPr lang="zh-CN" altLang="en-US" sz="2000" dirty="0">
              <a:latin typeface="黑体" panose="02010609060101010101" pitchFamily="49" charset="-122"/>
              <a:ea typeface="黑体" panose="02010609060101010101" pitchFamily="49" charset="-122"/>
            </a:endParaRPr>
          </a:p>
        </p:txBody>
      </p:sp>
      <p:graphicFrame>
        <p:nvGraphicFramePr>
          <p:cNvPr id="15" name="对象 14"/>
          <p:cNvGraphicFramePr>
            <a:graphicFrameLocks noChangeAspect="1"/>
          </p:cNvGraphicFramePr>
          <p:nvPr/>
        </p:nvGraphicFramePr>
        <p:xfrm>
          <a:off x="2254510" y="5988726"/>
          <a:ext cx="1764037" cy="432009"/>
        </p:xfrm>
        <a:graphic>
          <a:graphicData uri="http://schemas.openxmlformats.org/presentationml/2006/ole">
            <mc:AlternateContent xmlns:mc="http://schemas.openxmlformats.org/markup-compatibility/2006">
              <mc:Choice xmlns:v="urn:schemas-microsoft-com:vml" Requires="v">
                <p:oleObj spid="_x0000_s16" name="AxMath" r:id="rId9" imgW="1143000" imgH="1143000" progId="Equation.AxMath">
                  <p:embed/>
                </p:oleObj>
              </mc:Choice>
              <mc:Fallback>
                <p:oleObj name="AxMath" r:id="rId9" imgW="1143000" imgH="1143000" progId="Equation.AxMath">
                  <p:embed/>
                  <p:pic>
                    <p:nvPicPr>
                      <p:cNvPr id="0" name="图片 15"/>
                      <p:cNvPicPr/>
                      <p:nvPr/>
                    </p:nvPicPr>
                    <p:blipFill>
                      <a:blip r:embed="rId10"/>
                      <a:stretch>
                        <a:fillRect/>
                      </a:stretch>
                    </p:blipFill>
                    <p:spPr>
                      <a:xfrm>
                        <a:off x="2254510" y="5988726"/>
                        <a:ext cx="1764037" cy="432009"/>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0" grpId="0"/>
      <p:bldP spid="12" grpId="0"/>
      <p:bldP spid="14"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对偶问题求解</a:t>
            </a:r>
            <a:endParaRPr lang="zh-CN" altLang="en-US"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p:txBody>
          <a:bodyPr/>
          <a:lstStyle/>
          <a:p>
            <a:pPr>
              <a:lnSpc>
                <a:spcPct val="150000"/>
              </a:lnSpc>
            </a:pPr>
            <a:r>
              <a:rPr lang="zh-CN" altLang="en-US" b="1" dirty="0">
                <a:latin typeface="黑体" panose="02010609060101010101" pitchFamily="49" charset="-122"/>
                <a:ea typeface="黑体" panose="02010609060101010101" pitchFamily="49" charset="-122"/>
              </a:rPr>
              <a:t>以上问题有更高效的优化算法求解，即序列最小优化（</a:t>
            </a:r>
            <a:r>
              <a:rPr lang="en-US" altLang="zh-CN" b="1" dirty="0">
                <a:latin typeface="黑体" panose="02010609060101010101" pitchFamily="49" charset="-122"/>
                <a:ea typeface="黑体" panose="02010609060101010101" pitchFamily="49" charset="-122"/>
              </a:rPr>
              <a:t>SMO</a:t>
            </a:r>
            <a:r>
              <a:rPr lang="zh-CN" altLang="en-US" b="1" dirty="0">
                <a:latin typeface="黑体" panose="02010609060101010101" pitchFamily="49" charset="-122"/>
                <a:ea typeface="黑体" panose="02010609060101010101" pitchFamily="49" charset="-122"/>
              </a:rPr>
              <a:t>）算法。通过这个优化算法能得到</a:t>
            </a:r>
            <a:r>
              <a:rPr lang="en-US" altLang="zh-CN" b="1" i="1" dirty="0">
                <a:latin typeface="Times New Roman" panose="02020603050405020304" charset="0"/>
                <a:ea typeface="黑体" panose="02010609060101010101" pitchFamily="49" charset="-122"/>
                <a:cs typeface="Times New Roman" panose="02020603050405020304" charset="0"/>
              </a:rPr>
              <a:t>α</a:t>
            </a:r>
            <a:r>
              <a:rPr lang="zh-CN" altLang="en-US" b="1" dirty="0">
                <a:latin typeface="黑体" panose="02010609060101010101" pitchFamily="49" charset="-122"/>
                <a:ea typeface="黑体" panose="02010609060101010101" pitchFamily="49" charset="-122"/>
              </a:rPr>
              <a:t>，再根据</a:t>
            </a:r>
            <a:r>
              <a:rPr lang="en-US" altLang="zh-CN" b="1" i="1" dirty="0">
                <a:latin typeface="Times New Roman" panose="02020603050405020304" charset="0"/>
                <a:ea typeface="黑体" panose="02010609060101010101" pitchFamily="49" charset="-122"/>
                <a:cs typeface="Times New Roman" panose="02020603050405020304" charset="0"/>
              </a:rPr>
              <a:t>α</a:t>
            </a:r>
            <a:r>
              <a:rPr lang="zh-CN" altLang="en-US" b="1" dirty="0">
                <a:latin typeface="黑体" panose="02010609060101010101" pitchFamily="49" charset="-122"/>
                <a:ea typeface="黑体" panose="02010609060101010101" pitchFamily="49" charset="-122"/>
              </a:rPr>
              <a:t>，就可以求解出</a:t>
            </a:r>
            <a:r>
              <a:rPr lang="en-US" altLang="zh-CN" b="1" dirty="0">
                <a:latin typeface="黑体" panose="02010609060101010101" pitchFamily="49" charset="-122"/>
                <a:ea typeface="黑体" panose="02010609060101010101" pitchFamily="49" charset="-122"/>
              </a:rPr>
              <a:t>w</a:t>
            </a:r>
            <a:r>
              <a:rPr lang="zh-CN" altLang="en-US" b="1" dirty="0">
                <a:latin typeface="黑体" panose="02010609060101010101" pitchFamily="49" charset="-122"/>
                <a:ea typeface="黑体" panose="02010609060101010101" pitchFamily="49" charset="-122"/>
              </a:rPr>
              <a:t>和</a:t>
            </a:r>
            <a:r>
              <a:rPr lang="en-US" altLang="zh-CN" b="1" dirty="0">
                <a:latin typeface="黑体" panose="02010609060101010101" pitchFamily="49" charset="-122"/>
                <a:ea typeface="黑体" panose="02010609060101010101" pitchFamily="49" charset="-122"/>
              </a:rPr>
              <a:t>b</a:t>
            </a:r>
            <a:r>
              <a:rPr lang="zh-CN" altLang="en-US" b="1" dirty="0">
                <a:latin typeface="黑体" panose="02010609060101010101" pitchFamily="49" charset="-122"/>
                <a:ea typeface="黑体" panose="02010609060101010101" pitchFamily="49" charset="-122"/>
              </a:rPr>
              <a:t>，</a:t>
            </a:r>
            <a:r>
              <a:rPr lang="zh-CN" altLang="en-US" b="1" dirty="0">
                <a:solidFill>
                  <a:srgbClr val="FF0000"/>
                </a:solidFill>
                <a:latin typeface="黑体" panose="02010609060101010101" pitchFamily="49" charset="-122"/>
                <a:ea typeface="黑体" panose="02010609060101010101" pitchFamily="49" charset="-122"/>
              </a:rPr>
              <a:t>进而求得最初的目的：找到超平面，即</a:t>
            </a:r>
            <a:r>
              <a:rPr lang="en-US" altLang="zh-CN" b="1" dirty="0">
                <a:solidFill>
                  <a:srgbClr val="FF0000"/>
                </a:solidFill>
                <a:latin typeface="黑体" panose="02010609060101010101" pitchFamily="49" charset="-122"/>
                <a:ea typeface="黑体" panose="02010609060101010101" pitchFamily="49" charset="-122"/>
              </a:rPr>
              <a:t>"</a:t>
            </a:r>
            <a:r>
              <a:rPr lang="zh-CN" altLang="en-US" b="1" dirty="0">
                <a:solidFill>
                  <a:srgbClr val="FF0000"/>
                </a:solidFill>
                <a:latin typeface="黑体" panose="02010609060101010101" pitchFamily="49" charset="-122"/>
                <a:ea typeface="黑体" panose="02010609060101010101" pitchFamily="49" charset="-122"/>
              </a:rPr>
              <a:t>决策平面</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a:t>
            </a:r>
            <a:r>
              <a:rPr lang="en-US" altLang="zh-CN" b="1" dirty="0" err="1">
                <a:solidFill>
                  <a:srgbClr val="FF0000"/>
                </a:solidFill>
                <a:latin typeface="黑体" panose="02010609060101010101" pitchFamily="49" charset="-122"/>
                <a:ea typeface="黑体" panose="02010609060101010101" pitchFamily="49" charset="-122"/>
              </a:rPr>
              <a:t>wx+b</a:t>
            </a:r>
            <a:r>
              <a:rPr lang="en-US" altLang="zh-CN" b="1" dirty="0">
                <a:solidFill>
                  <a:srgbClr val="FF0000"/>
                </a:solidFill>
                <a:latin typeface="黑体" panose="02010609060101010101" pitchFamily="49" charset="-122"/>
                <a:ea typeface="黑体" panose="02010609060101010101" pitchFamily="49" charset="-122"/>
              </a:rPr>
              <a:t>=0</a:t>
            </a:r>
            <a:endParaRPr lang="zh-CN" altLang="en-US" b="1" dirty="0">
              <a:solidFill>
                <a:srgbClr val="FF0000"/>
              </a:solidFill>
              <a:latin typeface="黑体" panose="02010609060101010101" pitchFamily="49" charset="-122"/>
              <a:ea typeface="黑体" panose="02010609060101010101" pitchFamily="49" charset="-122"/>
            </a:endParaRPr>
          </a:p>
          <a:p>
            <a:pPr fontAlgn="base">
              <a:lnSpc>
                <a:spcPct val="150000"/>
              </a:lnSpc>
            </a:pPr>
            <a:r>
              <a:rPr lang="zh-CN" altLang="en-US" b="1" dirty="0">
                <a:latin typeface="黑体" panose="02010609060101010101" pitchFamily="49" charset="-122"/>
                <a:ea typeface="黑体" panose="02010609060101010101" pitchFamily="49" charset="-122"/>
              </a:rPr>
              <a:t>总结：为什么费力进行推导？因为要将最初的原始问题，转换到可以使用</a:t>
            </a:r>
            <a:r>
              <a:rPr lang="en-US" altLang="zh-CN" b="1" dirty="0">
                <a:latin typeface="黑体" panose="02010609060101010101" pitchFamily="49" charset="-122"/>
                <a:ea typeface="黑体" panose="02010609060101010101" pitchFamily="49" charset="-122"/>
              </a:rPr>
              <a:t>SMO</a:t>
            </a:r>
            <a:r>
              <a:rPr lang="zh-CN" altLang="en-US" b="1" dirty="0">
                <a:latin typeface="黑体" panose="02010609060101010101" pitchFamily="49" charset="-122"/>
                <a:ea typeface="黑体" panose="02010609060101010101" pitchFamily="49" charset="-122"/>
              </a:rPr>
              <a:t>算法求解的问题。</a:t>
            </a:r>
            <a:endParaRPr lang="zh-CN" altLang="en-US" b="1" dirty="0">
              <a:latin typeface="黑体" panose="02010609060101010101" pitchFamily="49" charset="-122"/>
              <a:ea typeface="黑体" panose="02010609060101010101" pitchFamily="49" charset="-122"/>
            </a:endParaRPr>
          </a:p>
          <a:p>
            <a:pPr>
              <a:lnSpc>
                <a:spcPct val="150000"/>
              </a:lnSpc>
            </a:pPr>
            <a:endParaRPr lang="en-US" altLang="zh-CN" dirty="0">
              <a:latin typeface="+mn-ea"/>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解的稀疏性</a:t>
            </a:r>
            <a:endParaRPr lang="zh-CN" altLang="en-US"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p:txBody>
          <a:bodyPr/>
          <a:lstStyle/>
          <a:p>
            <a:r>
              <a:rPr lang="zh-CN" altLang="en-US" b="1" dirty="0">
                <a:latin typeface="黑体" panose="02010609060101010101" pitchFamily="49" charset="-122"/>
                <a:ea typeface="黑体" panose="02010609060101010101" pitchFamily="49" charset="-122"/>
              </a:rPr>
              <a:t>最终模型：</a:t>
            </a:r>
            <a:endParaRPr lang="en-US" altLang="zh-CN" b="1" dirty="0">
              <a:latin typeface="黑体" panose="02010609060101010101" pitchFamily="49" charset="-122"/>
              <a:ea typeface="黑体" panose="02010609060101010101" pitchFamily="49" charset="-122"/>
            </a:endParaRPr>
          </a:p>
          <a:p>
            <a:endParaRPr lang="en-US" altLang="zh-CN" b="1" dirty="0">
              <a:latin typeface="黑体" panose="02010609060101010101" pitchFamily="49" charset="-122"/>
              <a:ea typeface="黑体" panose="02010609060101010101" pitchFamily="49" charset="-122"/>
            </a:endParaRPr>
          </a:p>
          <a:p>
            <a:r>
              <a:rPr lang="en-US" altLang="zh-CN" b="1" dirty="0">
                <a:latin typeface="黑体" panose="02010609060101010101" pitchFamily="49" charset="-122"/>
                <a:ea typeface="黑体" panose="02010609060101010101" pitchFamily="49" charset="-122"/>
              </a:rPr>
              <a:t>KKT</a:t>
            </a:r>
            <a:r>
              <a:rPr lang="zh-CN" altLang="en-US" b="1" dirty="0">
                <a:latin typeface="黑体" panose="02010609060101010101" pitchFamily="49" charset="-122"/>
                <a:ea typeface="黑体" panose="02010609060101010101" pitchFamily="49" charset="-122"/>
              </a:rPr>
              <a:t>条件</a:t>
            </a:r>
            <a:r>
              <a:rPr lang="zh-CN" altLang="en-US" b="1" dirty="0">
                <a:latin typeface="黑体" panose="02010609060101010101" pitchFamily="49" charset="-122"/>
                <a:ea typeface="黑体" panose="02010609060101010101" pitchFamily="49" charset="-122"/>
                <a:sym typeface="Wingdings" panose="05000000000000000000" pitchFamily="2" charset="2"/>
              </a:rPr>
              <a:t>：</a:t>
            </a:r>
            <a:r>
              <a:rPr lang="zh-CN" altLang="en-US" b="1" dirty="0">
                <a:solidFill>
                  <a:srgbClr val="FF0000"/>
                </a:solidFill>
                <a:latin typeface="黑体" panose="02010609060101010101" pitchFamily="49" charset="-122"/>
                <a:ea typeface="黑体" panose="02010609060101010101" pitchFamily="49" charset="-122"/>
                <a:sym typeface="Wingdings" panose="05000000000000000000" pitchFamily="2" charset="2"/>
              </a:rPr>
              <a:t>（满足此条件才能使用拉格朗日乘子法）</a:t>
            </a:r>
            <a:endParaRPr lang="en-US" altLang="zh-CN" b="1" dirty="0">
              <a:solidFill>
                <a:srgbClr val="FF0000"/>
              </a:solidFill>
              <a:latin typeface="黑体" panose="02010609060101010101" pitchFamily="49" charset="-122"/>
              <a:ea typeface="黑体" panose="02010609060101010101" pitchFamily="49" charset="-122"/>
              <a:sym typeface="Wingdings" panose="05000000000000000000" pitchFamily="2" charset="2"/>
            </a:endParaRPr>
          </a:p>
          <a:p>
            <a:endParaRPr lang="en-US" altLang="zh-CN" b="1" dirty="0">
              <a:solidFill>
                <a:srgbClr val="FF0000"/>
              </a:solidFill>
              <a:latin typeface="黑体" panose="02010609060101010101" pitchFamily="49" charset="-122"/>
              <a:ea typeface="黑体" panose="02010609060101010101" pitchFamily="49" charset="-122"/>
              <a:sym typeface="Wingdings" panose="05000000000000000000" pitchFamily="2" charset="2"/>
            </a:endParaRPr>
          </a:p>
          <a:p>
            <a:endParaRPr lang="en-US" altLang="zh-CN" b="1" dirty="0">
              <a:solidFill>
                <a:srgbClr val="FF0000"/>
              </a:solidFill>
              <a:latin typeface="黑体" panose="02010609060101010101" pitchFamily="49" charset="-122"/>
              <a:ea typeface="黑体" panose="02010609060101010101" pitchFamily="49" charset="-122"/>
              <a:sym typeface="Wingdings" panose="05000000000000000000" pitchFamily="2" charset="2"/>
            </a:endParaRPr>
          </a:p>
          <a:p>
            <a:endParaRPr lang="en-US" altLang="zh-CN" b="1" dirty="0">
              <a:solidFill>
                <a:srgbClr val="FF0000"/>
              </a:solidFill>
              <a:latin typeface="黑体" panose="02010609060101010101" pitchFamily="49" charset="-122"/>
              <a:ea typeface="黑体" panose="02010609060101010101" pitchFamily="49" charset="-122"/>
              <a:sym typeface="Wingdings" panose="05000000000000000000" pitchFamily="2" charset="2"/>
            </a:endParaRPr>
          </a:p>
          <a:p>
            <a:endParaRPr lang="en-US" altLang="zh-CN" b="1" dirty="0">
              <a:solidFill>
                <a:srgbClr val="FF0000"/>
              </a:solidFill>
              <a:latin typeface="黑体" panose="02010609060101010101" pitchFamily="49" charset="-122"/>
              <a:ea typeface="黑体" panose="02010609060101010101" pitchFamily="49" charset="-122"/>
              <a:sym typeface="Wingdings" panose="05000000000000000000" pitchFamily="2" charset="2"/>
            </a:endParaRPr>
          </a:p>
          <a:p>
            <a:endParaRPr lang="en-US" altLang="zh-CN" b="1" dirty="0">
              <a:solidFill>
                <a:srgbClr val="FF0000"/>
              </a:solidFill>
              <a:latin typeface="黑体" panose="02010609060101010101" pitchFamily="49" charset="-122"/>
              <a:ea typeface="黑体" panose="02010609060101010101" pitchFamily="49" charset="-122"/>
              <a:sym typeface="Wingdings" panose="05000000000000000000" pitchFamily="2" charset="2"/>
            </a:endParaRPr>
          </a:p>
          <a:p>
            <a:endParaRPr lang="zh-CN" altLang="en-US" dirty="0">
              <a:solidFill>
                <a:srgbClr val="FF0000"/>
              </a:solidFill>
            </a:endParaRPr>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011069" y="1202802"/>
            <a:ext cx="4577146" cy="360000"/>
          </a:xfrm>
          <a:prstGeom prst="rect">
            <a:avLst/>
          </a:prstGeom>
        </p:spPr>
      </p:pic>
      <p:sp>
        <p:nvSpPr>
          <p:cNvPr id="8" name="右箭头 7"/>
          <p:cNvSpPr/>
          <p:nvPr/>
        </p:nvSpPr>
        <p:spPr>
          <a:xfrm>
            <a:off x="4676559" y="4146333"/>
            <a:ext cx="318053" cy="30630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1357895" y="5406239"/>
            <a:ext cx="6956545" cy="830997"/>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r>
              <a:rPr lang="zh-CN" altLang="en-US" sz="2400" b="1" dirty="0">
                <a:latin typeface="黑体" panose="02010609060101010101" pitchFamily="49" charset="-122"/>
                <a:ea typeface="黑体" panose="02010609060101010101" pitchFamily="49" charset="-122"/>
              </a:rPr>
              <a:t>支持向量机解的</a:t>
            </a:r>
            <a:r>
              <a:rPr lang="zh-CN" altLang="en-US" sz="2400" b="1" dirty="0">
                <a:solidFill>
                  <a:schemeClr val="tx2"/>
                </a:solidFill>
                <a:latin typeface="黑体" panose="02010609060101010101" pitchFamily="49" charset="-122"/>
                <a:ea typeface="黑体" panose="02010609060101010101" pitchFamily="49" charset="-122"/>
              </a:rPr>
              <a:t>稀疏性</a:t>
            </a:r>
            <a:r>
              <a:rPr lang="en-US" altLang="zh-CN" sz="2400" b="1" dirty="0">
                <a:latin typeface="黑体" panose="02010609060101010101" pitchFamily="49" charset="-122"/>
                <a:ea typeface="黑体" panose="02010609060101010101" pitchFamily="49" charset="-122"/>
              </a:rPr>
              <a:t>: </a:t>
            </a:r>
            <a:r>
              <a:rPr lang="zh-CN" altLang="en-US" sz="2400" b="1" dirty="0">
                <a:latin typeface="黑体" panose="02010609060101010101" pitchFamily="49" charset="-122"/>
                <a:ea typeface="黑体" panose="02010609060101010101" pitchFamily="49" charset="-122"/>
              </a:rPr>
              <a:t>训练完成后</a:t>
            </a:r>
            <a:r>
              <a:rPr lang="en-US" altLang="zh-CN" sz="2400" b="1" dirty="0">
                <a:latin typeface="黑体" panose="02010609060101010101" pitchFamily="49" charset="-122"/>
                <a:ea typeface="黑体" panose="02010609060101010101" pitchFamily="49" charset="-122"/>
              </a:rPr>
              <a:t>, </a:t>
            </a:r>
            <a:r>
              <a:rPr lang="zh-CN" altLang="en-US" sz="2400" b="1" dirty="0">
                <a:latin typeface="黑体" panose="02010609060101010101" pitchFamily="49" charset="-122"/>
                <a:ea typeface="黑体" panose="02010609060101010101" pitchFamily="49" charset="-122"/>
              </a:rPr>
              <a:t>大部分的训练样本都不需保留</a:t>
            </a:r>
            <a:r>
              <a:rPr lang="en-US" altLang="zh-CN" sz="2400" b="1" dirty="0">
                <a:latin typeface="黑体" panose="02010609060101010101" pitchFamily="49" charset="-122"/>
                <a:ea typeface="黑体" panose="02010609060101010101" pitchFamily="49" charset="-122"/>
              </a:rPr>
              <a:t>, </a:t>
            </a:r>
            <a:r>
              <a:rPr lang="zh-CN" altLang="en-US" sz="2400" b="1" dirty="0">
                <a:latin typeface="黑体" panose="02010609060101010101" pitchFamily="49" charset="-122"/>
                <a:ea typeface="黑体" panose="02010609060101010101" pitchFamily="49" charset="-122"/>
              </a:rPr>
              <a:t>最终模型仅与支持向量有关</a:t>
            </a:r>
            <a:r>
              <a:rPr lang="en-US" altLang="zh-CN" sz="2400" b="1" dirty="0">
                <a:latin typeface="黑体" panose="02010609060101010101" pitchFamily="49" charset="-122"/>
                <a:ea typeface="黑体" panose="02010609060101010101" pitchFamily="49" charset="-122"/>
              </a:rPr>
              <a:t>.</a:t>
            </a:r>
            <a:endParaRPr lang="zh-CN" altLang="en-US" sz="2200" b="1" dirty="0">
              <a:latin typeface="黑体" panose="02010609060101010101" pitchFamily="49" charset="-122"/>
              <a:ea typeface="黑体" panose="02010609060101010101" pitchFamily="49" charset="-122"/>
            </a:endParaRPr>
          </a:p>
        </p:txBody>
      </p:sp>
      <p:pic>
        <p:nvPicPr>
          <p:cNvPr id="12" name="图片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24238" y="2435836"/>
            <a:ext cx="2822693" cy="1329043"/>
          </a:xfrm>
          <a:prstGeom prst="rect">
            <a:avLst/>
          </a:prstGeom>
        </p:spPr>
      </p:pic>
      <p:pic>
        <p:nvPicPr>
          <p:cNvPr id="13" name="图片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97857" y="4117217"/>
            <a:ext cx="1505843" cy="359695"/>
          </a:xfrm>
          <a:prstGeom prst="rect">
            <a:avLst/>
          </a:prstGeom>
        </p:spPr>
      </p:pic>
      <p:pic>
        <p:nvPicPr>
          <p:cNvPr id="14" name="图片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67471" y="4141602"/>
            <a:ext cx="847417" cy="310923"/>
          </a:xfrm>
          <a:prstGeom prst="rect">
            <a:avLst/>
          </a:prstGeom>
        </p:spPr>
      </p:pic>
      <p:sp>
        <p:nvSpPr>
          <p:cNvPr id="4" name="矩形 3"/>
          <p:cNvSpPr/>
          <p:nvPr/>
        </p:nvSpPr>
        <p:spPr>
          <a:xfrm>
            <a:off x="4336473" y="1039091"/>
            <a:ext cx="1910458" cy="67887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3611218" y="3361901"/>
            <a:ext cx="2622461" cy="389726"/>
          </a:xfrm>
          <a:prstGeom prst="rect">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内容占位符 2"/>
          <p:cNvSpPr txBox="1"/>
          <p:nvPr/>
        </p:nvSpPr>
        <p:spPr>
          <a:xfrm>
            <a:off x="6364692" y="4071859"/>
            <a:ext cx="2704245" cy="451603"/>
          </a:xfrm>
          <a:prstGeom prst="rect">
            <a:avLst/>
          </a:prstGeom>
        </p:spPr>
        <p:txBody>
          <a:bodyPr vert="horz" lIns="91440" tIns="46800" rIns="91440" bIns="45720" rtlCol="0">
            <a:normAutofit fontScale="92500"/>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000" b="1" dirty="0">
                <a:solidFill>
                  <a:srgbClr val="FF0000"/>
                </a:solidFill>
                <a:latin typeface="黑体" panose="02010609060101010101" pitchFamily="49" charset="-122"/>
                <a:ea typeface="黑体" panose="02010609060101010101" pitchFamily="49" charset="-122"/>
              </a:rPr>
              <a:t>该样本对</a:t>
            </a:r>
            <a:r>
              <a:rPr lang="en-US" altLang="zh-CN" sz="2000" b="1" dirty="0">
                <a:solidFill>
                  <a:srgbClr val="FF0000"/>
                </a:solidFill>
                <a:latin typeface="黑体" panose="02010609060101010101" pitchFamily="49" charset="-122"/>
                <a:ea typeface="黑体" panose="02010609060101010101" pitchFamily="49" charset="-122"/>
              </a:rPr>
              <a:t>f(x)</a:t>
            </a:r>
            <a:r>
              <a:rPr lang="zh-CN" altLang="en-US" sz="2000" b="1" dirty="0">
                <a:solidFill>
                  <a:srgbClr val="FF0000"/>
                </a:solidFill>
                <a:latin typeface="黑体" panose="02010609060101010101" pitchFamily="49" charset="-122"/>
                <a:ea typeface="黑体" panose="02010609060101010101" pitchFamily="49" charset="-122"/>
              </a:rPr>
              <a:t>没有影响</a:t>
            </a:r>
            <a:endParaRPr lang="zh-CN" altLang="en-US" sz="2000" b="1" dirty="0">
              <a:solidFill>
                <a:srgbClr val="FF0000"/>
              </a:solidFill>
              <a:latin typeface="黑体" panose="02010609060101010101" pitchFamily="49" charset="-122"/>
              <a:ea typeface="黑体" panose="02010609060101010101" pitchFamily="49" charset="-122"/>
            </a:endParaRPr>
          </a:p>
        </p:txBody>
      </p:sp>
      <p:pic>
        <p:nvPicPr>
          <p:cNvPr id="17" name="图片 16"/>
          <p:cNvPicPr>
            <a:picLocks noChangeAspect="1"/>
          </p:cNvPicPr>
          <p:nvPr/>
        </p:nvPicPr>
        <p:blipFill rotWithShape="1">
          <a:blip r:embed="rId2">
            <a:extLst>
              <a:ext uri="{28A0092B-C50C-407E-A947-70E740481C1C}">
                <a14:useLocalDpi xmlns:a14="http://schemas.microsoft.com/office/drawing/2010/main" val="0"/>
              </a:ext>
            </a:extLst>
          </a:blip>
          <a:srcRect l="21343" t="68693" r="25605"/>
          <a:stretch>
            <a:fillRect/>
          </a:stretch>
        </p:blipFill>
        <p:spPr>
          <a:xfrm>
            <a:off x="2145404" y="4625800"/>
            <a:ext cx="1497497" cy="416088"/>
          </a:xfrm>
          <a:prstGeom prst="rect">
            <a:avLst/>
          </a:prstGeom>
        </p:spPr>
      </p:pic>
      <p:pic>
        <p:nvPicPr>
          <p:cNvPr id="18" name="图片 17"/>
          <p:cNvPicPr>
            <a:picLocks noChangeAspect="1"/>
          </p:cNvPicPr>
          <p:nvPr/>
        </p:nvPicPr>
        <p:blipFill rotWithShape="1">
          <a:blip r:embed="rId4">
            <a:extLst>
              <a:ext uri="{28A0092B-C50C-407E-A947-70E740481C1C}">
                <a14:useLocalDpi xmlns:a14="http://schemas.microsoft.com/office/drawing/2010/main" val="0"/>
              </a:ext>
            </a:extLst>
          </a:blip>
          <a:srcRect l="38740"/>
          <a:stretch>
            <a:fillRect/>
          </a:stretch>
        </p:blipFill>
        <p:spPr>
          <a:xfrm>
            <a:off x="3673615" y="4644316"/>
            <a:ext cx="519125" cy="310923"/>
          </a:xfrm>
          <a:prstGeom prst="rect">
            <a:avLst/>
          </a:prstGeom>
        </p:spPr>
      </p:pic>
      <p:sp>
        <p:nvSpPr>
          <p:cNvPr id="19" name="右箭头 18"/>
          <p:cNvSpPr/>
          <p:nvPr/>
        </p:nvSpPr>
        <p:spPr>
          <a:xfrm>
            <a:off x="4676557" y="4656156"/>
            <a:ext cx="318053" cy="30630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内容占位符 2"/>
          <p:cNvSpPr txBox="1"/>
          <p:nvPr/>
        </p:nvSpPr>
        <p:spPr>
          <a:xfrm>
            <a:off x="5428983" y="4603446"/>
            <a:ext cx="3448317" cy="451603"/>
          </a:xfrm>
          <a:prstGeom prst="rect">
            <a:avLst/>
          </a:prstGeom>
        </p:spPr>
        <p:txBody>
          <a:bodyPr vert="horz" lIns="91440" tIns="46800" rIns="91440" bIns="45720" rtlCol="0">
            <a:normAutofit fontScale="92500"/>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000" b="1" dirty="0">
                <a:solidFill>
                  <a:srgbClr val="FF0000"/>
                </a:solidFill>
                <a:latin typeface="黑体" panose="02010609060101010101" pitchFamily="49" charset="-122"/>
                <a:ea typeface="黑体" panose="02010609060101010101" pitchFamily="49" charset="-122"/>
              </a:rPr>
              <a:t>该样本位于边界，为支持向量</a:t>
            </a:r>
            <a:endParaRPr lang="zh-CN" altLang="en-US" sz="2000" b="1" dirty="0">
              <a:solidFill>
                <a:srgbClr val="FF0000"/>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42" presetClass="entr" presetSubtype="0" fill="hold" grpId="0" nodeType="with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fade">
                                      <p:cBhvr>
                                        <p:cTn id="33" dur="1000"/>
                                        <p:tgtEl>
                                          <p:spTgt spid="4"/>
                                        </p:tgtEl>
                                      </p:cBhvr>
                                    </p:animEffect>
                                    <p:anim calcmode="lin" valueType="num">
                                      <p:cBhvr>
                                        <p:cTn id="34" dur="1000" fill="hold"/>
                                        <p:tgtEl>
                                          <p:spTgt spid="4"/>
                                        </p:tgtEl>
                                        <p:attrNameLst>
                                          <p:attrName>ppt_x</p:attrName>
                                        </p:attrNameLst>
                                      </p:cBhvr>
                                      <p:tavLst>
                                        <p:tav tm="0">
                                          <p:val>
                                            <p:strVal val="#ppt_x"/>
                                          </p:val>
                                        </p:tav>
                                        <p:tav tm="100000">
                                          <p:val>
                                            <p:strVal val="#ppt_x"/>
                                          </p:val>
                                        </p:tav>
                                      </p:tavLst>
                                    </p:anim>
                                    <p:anim calcmode="lin" valueType="num">
                                      <p:cBhvr>
                                        <p:cTn id="35"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6">
                                            <p:txEl>
                                              <p:pRg st="0" end="0"/>
                                            </p:txEl>
                                          </p:spTgt>
                                        </p:tgtEl>
                                        <p:attrNameLst>
                                          <p:attrName>style.visibility</p:attrName>
                                        </p:attrNameLst>
                                      </p:cBhvr>
                                      <p:to>
                                        <p:strVal val="visible"/>
                                      </p:to>
                                    </p:set>
                                    <p:animEffect transition="in" filter="fade">
                                      <p:cBhvr>
                                        <p:cTn id="40" dur="500"/>
                                        <p:tgtEl>
                                          <p:spTgt spid="16">
                                            <p:txEl>
                                              <p:pRg st="0" end="0"/>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500"/>
                                        <p:tgtEl>
                                          <p:spTgt spid="18"/>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5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xEl>
                                              <p:pRg st="0" end="0"/>
                                            </p:txEl>
                                          </p:spTgt>
                                        </p:tgtEl>
                                        <p:attrNameLst>
                                          <p:attrName>style.visibility</p:attrName>
                                        </p:attrNameLst>
                                      </p:cBhvr>
                                      <p:to>
                                        <p:strVal val="visible"/>
                                      </p:to>
                                    </p:set>
                                    <p:animEffect transition="in" filter="fade">
                                      <p:cBhvr>
                                        <p:cTn id="58" dur="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4" grpId="0" animBg="1"/>
      <p:bldP spid="16" grpId="0" build="p"/>
      <p:bldP spid="19" grpId="0" animBg="1"/>
      <p:bldP spid="20"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795131" y="942535"/>
            <a:ext cx="7049742" cy="5322015"/>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ph type="title"/>
          </p:nvPr>
        </p:nvSpPr>
        <p:spPr>
          <a:xfrm>
            <a:off x="282803" y="201475"/>
            <a:ext cx="7861175" cy="609230"/>
          </a:xfrm>
        </p:spPr>
        <p:txBody>
          <a:bodyPr vert="horz" lIns="91440" tIns="45720" rIns="91440" bIns="45720" rtlCol="0" anchor="ctr">
            <a:normAutofit/>
          </a:bodyPr>
          <a:lstStyle/>
          <a:p>
            <a:r>
              <a:rPr lang="en-US" altLang="zh-CN" dirty="0" err="1">
                <a:latin typeface="黑体" panose="02010609060101010101" pitchFamily="49" charset="-122"/>
                <a:ea typeface="黑体" panose="02010609060101010101" pitchFamily="49" charset="-122"/>
              </a:rPr>
              <a:t>SMO</a:t>
            </a:r>
            <a:r>
              <a:rPr altLang="en-US" dirty="0" err="1">
                <a:latin typeface="黑体" panose="02010609060101010101" pitchFamily="49" charset="-122"/>
                <a:ea typeface="黑体" panose="02010609060101010101" pitchFamily="49" charset="-122"/>
              </a:rPr>
              <a:t>算法</a:t>
            </a:r>
            <a:endParaRPr altLang="zh-CN" dirty="0">
              <a:latin typeface="黑体" panose="02010609060101010101" pitchFamily="49" charset="-122"/>
              <a:ea typeface="黑体" panose="02010609060101010101" pitchFamily="49" charset="-122"/>
            </a:endParaRPr>
          </a:p>
        </p:txBody>
      </p:sp>
      <p:sp>
        <p:nvSpPr>
          <p:cNvPr id="52227" name="内容占位符 2"/>
          <p:cNvSpPr>
            <a:spLocks noGrp="1"/>
          </p:cNvSpPr>
          <p:nvPr>
            <p:ph idx="1"/>
          </p:nvPr>
        </p:nvSpPr>
        <p:spPr>
          <a:xfrm>
            <a:off x="264318" y="1206558"/>
            <a:ext cx="8615363" cy="4050506"/>
          </a:xfrm>
        </p:spPr>
        <p:txBody>
          <a:bodyPr>
            <a:normAutofit/>
          </a:bodyPr>
          <a:lstStyle/>
          <a:p>
            <a:pPr>
              <a:lnSpc>
                <a:spcPct val="150000"/>
              </a:lnSpc>
            </a:pPr>
            <a:r>
              <a:rPr lang="en-US" altLang="zh-CN" sz="2000" b="1" dirty="0">
                <a:latin typeface="黑体" panose="02010609060101010101" pitchFamily="49" charset="-122"/>
                <a:ea typeface="黑体" panose="02010609060101010101" pitchFamily="49" charset="-122"/>
              </a:rPr>
              <a:t>1996</a:t>
            </a:r>
            <a:r>
              <a:rPr lang="zh-CN" altLang="en-US" sz="2000" b="1" dirty="0">
                <a:latin typeface="黑体" panose="02010609060101010101" pitchFamily="49" charset="-122"/>
                <a:ea typeface="黑体" panose="02010609060101010101" pitchFamily="49" charset="-122"/>
              </a:rPr>
              <a:t>年，</a:t>
            </a:r>
            <a:r>
              <a:rPr lang="en-US" altLang="zh-CN" sz="2000" b="1" dirty="0">
                <a:latin typeface="黑体" panose="02010609060101010101" pitchFamily="49" charset="-122"/>
                <a:ea typeface="黑体" panose="02010609060101010101" pitchFamily="49" charset="-122"/>
              </a:rPr>
              <a:t>John Platt</a:t>
            </a:r>
            <a:r>
              <a:rPr lang="zh-CN" altLang="en-US" sz="2000" b="1" dirty="0">
                <a:latin typeface="黑体" panose="02010609060101010101" pitchFamily="49" charset="-122"/>
                <a:ea typeface="黑体" panose="02010609060101010101" pitchFamily="49" charset="-122"/>
              </a:rPr>
              <a:t>发布</a:t>
            </a:r>
            <a:r>
              <a:rPr lang="en-US" altLang="zh-CN" sz="2000" b="1" dirty="0">
                <a:latin typeface="黑体" panose="02010609060101010101" pitchFamily="49" charset="-122"/>
                <a:ea typeface="黑体" panose="02010609060101010101" pitchFamily="49" charset="-122"/>
              </a:rPr>
              <a:t>SMO</a:t>
            </a:r>
            <a:r>
              <a:rPr lang="zh-CN" altLang="en-US" sz="2000" b="1" dirty="0">
                <a:latin typeface="黑体" panose="02010609060101010101" pitchFamily="49" charset="-122"/>
                <a:ea typeface="黑体" panose="02010609060101010101" pitchFamily="49" charset="-122"/>
              </a:rPr>
              <a:t>算法，用于训练</a:t>
            </a:r>
            <a:r>
              <a:rPr lang="en-US" altLang="zh-CN" sz="2000" b="1" dirty="0">
                <a:latin typeface="黑体" panose="02010609060101010101" pitchFamily="49" charset="-122"/>
                <a:ea typeface="黑体" panose="02010609060101010101" pitchFamily="49" charset="-122"/>
              </a:rPr>
              <a:t>SVM</a:t>
            </a:r>
            <a:endParaRPr lang="en-US" altLang="zh-CN" sz="2000" b="1" dirty="0">
              <a:latin typeface="黑体" panose="02010609060101010101" pitchFamily="49" charset="-122"/>
              <a:ea typeface="黑体" panose="02010609060101010101" pitchFamily="49" charset="-122"/>
            </a:endParaRPr>
          </a:p>
          <a:p>
            <a:pPr eaLnBrk="1" hangingPunct="1">
              <a:lnSpc>
                <a:spcPct val="150000"/>
              </a:lnSpc>
            </a:pPr>
            <a:r>
              <a:rPr lang="en-US" altLang="zh-CN" sz="2000" b="1" dirty="0">
                <a:latin typeface="黑体" panose="02010609060101010101" pitchFamily="49" charset="-122"/>
                <a:ea typeface="黑体" panose="02010609060101010101" pitchFamily="49" charset="-122"/>
              </a:rPr>
              <a:t>SMO</a:t>
            </a:r>
            <a:r>
              <a:rPr altLang="en-US" sz="2000" b="1" dirty="0">
                <a:latin typeface="黑体" panose="02010609060101010101" pitchFamily="49" charset="-122"/>
                <a:ea typeface="黑体" panose="02010609060101010101" pitchFamily="49" charset="-122"/>
              </a:rPr>
              <a:t>表示序列最小化</a:t>
            </a:r>
            <a:r>
              <a:rPr lang="en-US" altLang="zh-CN" sz="2000" b="1" dirty="0">
                <a:latin typeface="黑体" panose="02010609060101010101" pitchFamily="49" charset="-122"/>
                <a:ea typeface="黑体" panose="02010609060101010101" pitchFamily="49" charset="-122"/>
              </a:rPr>
              <a:t>(Sequential Minimal Optimization)</a:t>
            </a:r>
            <a:r>
              <a:rPr altLang="en-US" sz="2000" b="1" dirty="0">
                <a:latin typeface="黑体" panose="02010609060101010101" pitchFamily="49" charset="-122"/>
                <a:ea typeface="黑体" panose="02010609060101010101" pitchFamily="49" charset="-122"/>
              </a:rPr>
              <a:t>。</a:t>
            </a:r>
            <a:r>
              <a:rPr lang="en-US" altLang="zh-CN" sz="2000" b="1" dirty="0">
                <a:latin typeface="黑体" panose="02010609060101010101" pitchFamily="49" charset="-122"/>
                <a:ea typeface="黑体" panose="02010609060101010101" pitchFamily="49" charset="-122"/>
              </a:rPr>
              <a:t>SMO</a:t>
            </a:r>
            <a:r>
              <a:rPr altLang="en-US" sz="2000" b="1" dirty="0">
                <a:latin typeface="黑体" panose="02010609060101010101" pitchFamily="49" charset="-122"/>
                <a:ea typeface="黑体" panose="02010609060101010101" pitchFamily="49" charset="-122"/>
              </a:rPr>
              <a:t>算法是将大优化问题分解为多个小优化问题来求解。这些小优化问题往往很容易求解，并且对它们进行顺序求解的结果与将它们作为整体来求解的结果完全一致的。在结果完全相同的同时，</a:t>
            </a:r>
            <a:r>
              <a:rPr lang="en-US" altLang="zh-CN" sz="2000" b="1" dirty="0">
                <a:latin typeface="黑体" panose="02010609060101010101" pitchFamily="49" charset="-122"/>
                <a:ea typeface="黑体" panose="02010609060101010101" pitchFamily="49" charset="-122"/>
              </a:rPr>
              <a:t>SMO</a:t>
            </a:r>
            <a:r>
              <a:rPr altLang="en-US" sz="2000" b="1" dirty="0">
                <a:latin typeface="黑体" panose="02010609060101010101" pitchFamily="49" charset="-122"/>
                <a:ea typeface="黑体" panose="02010609060101010101" pitchFamily="49" charset="-122"/>
              </a:rPr>
              <a:t>算法的求解时间短很多。</a:t>
            </a:r>
            <a:endParaRPr altLang="en-US" sz="2000" b="1" dirty="0">
              <a:latin typeface="黑体" panose="02010609060101010101" pitchFamily="49" charset="-122"/>
              <a:ea typeface="黑体" panose="02010609060101010101" pitchFamily="49" charset="-122"/>
            </a:endParaRPr>
          </a:p>
          <a:p>
            <a:pPr eaLnBrk="1" hangingPunct="1">
              <a:lnSpc>
                <a:spcPct val="150000"/>
              </a:lnSpc>
            </a:pPr>
            <a:r>
              <a:rPr lang="en-US" altLang="zh-CN" sz="2000" b="1" dirty="0">
                <a:latin typeface="黑体" panose="02010609060101010101" pitchFamily="49" charset="-122"/>
                <a:ea typeface="黑体" panose="02010609060101010101" pitchFamily="49" charset="-122"/>
              </a:rPr>
              <a:t>SMO</a:t>
            </a:r>
            <a:r>
              <a:rPr altLang="en-US" sz="2000" b="1" dirty="0">
                <a:latin typeface="黑体" panose="02010609060101010101" pitchFamily="49" charset="-122"/>
                <a:ea typeface="黑体" panose="02010609060101010101" pitchFamily="49" charset="-122"/>
              </a:rPr>
              <a:t>算法的目标是求出一系列</a:t>
            </a:r>
            <a:r>
              <a:rPr lang="el-GR" altLang="zh-CN" sz="2000" b="1" i="1" dirty="0">
                <a:latin typeface="Times New Roman" panose="02020603050405020304" charset="0"/>
                <a:ea typeface="黑体" panose="02010609060101010101" pitchFamily="49" charset="-122"/>
                <a:cs typeface="Times New Roman" panose="02020603050405020304" charset="0"/>
              </a:rPr>
              <a:t>α</a:t>
            </a:r>
            <a:r>
              <a:rPr altLang="en-US" sz="2000" b="1" dirty="0">
                <a:latin typeface="黑体" panose="02010609060101010101" pitchFamily="49" charset="-122"/>
                <a:ea typeface="黑体" panose="02010609060101010101" pitchFamily="49" charset="-122"/>
              </a:rPr>
              <a:t>和</a:t>
            </a:r>
            <a:r>
              <a:rPr lang="en-US" altLang="zh-CN" sz="2000" b="1" dirty="0">
                <a:latin typeface="黑体" panose="02010609060101010101" pitchFamily="49" charset="-122"/>
                <a:ea typeface="黑体" panose="02010609060101010101" pitchFamily="49" charset="-122"/>
              </a:rPr>
              <a:t>b</a:t>
            </a:r>
            <a:r>
              <a:rPr altLang="en-US" sz="2000" b="1" dirty="0">
                <a:latin typeface="黑体" panose="02010609060101010101" pitchFamily="49" charset="-122"/>
                <a:ea typeface="黑体" panose="02010609060101010101" pitchFamily="49" charset="-122"/>
              </a:rPr>
              <a:t>，一旦求出了这些</a:t>
            </a:r>
            <a:r>
              <a:rPr lang="el-GR" altLang="zh-CN" sz="2000" b="1" i="1" dirty="0">
                <a:latin typeface="Times New Roman" panose="02020603050405020304" charset="0"/>
                <a:ea typeface="黑体" panose="02010609060101010101" pitchFamily="49" charset="-122"/>
                <a:cs typeface="Times New Roman" panose="02020603050405020304" charset="0"/>
              </a:rPr>
              <a:t>α </a:t>
            </a:r>
            <a:r>
              <a:rPr altLang="en-US" sz="2000" b="1" dirty="0">
                <a:latin typeface="黑体" panose="02010609060101010101" pitchFamily="49" charset="-122"/>
                <a:ea typeface="黑体" panose="02010609060101010101" pitchFamily="49" charset="-122"/>
              </a:rPr>
              <a:t>，就很容易计算出权重向量</a:t>
            </a:r>
            <a:r>
              <a:rPr lang="en-US" altLang="zh-CN" sz="2000" b="1" dirty="0">
                <a:latin typeface="黑体" panose="02010609060101010101" pitchFamily="49" charset="-122"/>
                <a:ea typeface="黑体" panose="02010609060101010101" pitchFamily="49" charset="-122"/>
              </a:rPr>
              <a:t>w</a:t>
            </a:r>
            <a:r>
              <a:rPr altLang="en-US" sz="2000" b="1" dirty="0">
                <a:latin typeface="黑体" panose="02010609060101010101" pitchFamily="49" charset="-122"/>
                <a:ea typeface="黑体" panose="02010609060101010101" pitchFamily="49" charset="-122"/>
              </a:rPr>
              <a:t>并得到分隔超平面。</a:t>
            </a:r>
            <a:endParaRPr lang="en-US" altLang="en-US" sz="2000" b="1" dirty="0">
              <a:latin typeface="黑体" panose="02010609060101010101" pitchFamily="49" charset="-122"/>
              <a:ea typeface="黑体" panose="02010609060101010101" pitchFamily="49" charset="-122"/>
            </a:endParaRPr>
          </a:p>
          <a:p>
            <a:pPr eaLnBrk="1" hangingPunct="1">
              <a:lnSpc>
                <a:spcPct val="150000"/>
              </a:lnSpc>
            </a:pPr>
            <a:endParaRPr altLang="en-US" sz="2000" dirty="0">
              <a:latin typeface="+mn-ea"/>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求解方法 </a:t>
            </a:r>
            <a:r>
              <a:rPr lang="en-US" altLang="zh-CN" dirty="0">
                <a:latin typeface="黑体" panose="02010609060101010101" pitchFamily="49" charset="-122"/>
                <a:ea typeface="黑体" panose="02010609060101010101" pitchFamily="49" charset="-122"/>
              </a:rPr>
              <a:t>- SMO</a:t>
            </a:r>
            <a:endParaRPr lang="zh-CN" altLang="en-US"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p:txBody>
          <a:bodyPr/>
          <a:lstStyle/>
          <a:p>
            <a:r>
              <a:rPr lang="zh-CN" altLang="en-US" b="1" dirty="0">
                <a:latin typeface="黑体" panose="02010609060101010101" pitchFamily="49" charset="-122"/>
                <a:ea typeface="黑体" panose="02010609060101010101" pitchFamily="49" charset="-122"/>
              </a:rPr>
              <a:t>基本思路：不断执行如下两个步骤直至收敛</a:t>
            </a:r>
            <a:r>
              <a:rPr lang="en-US" altLang="zh-CN" b="1" dirty="0">
                <a:latin typeface="黑体" panose="02010609060101010101" pitchFamily="49" charset="-122"/>
                <a:ea typeface="黑体" panose="02010609060101010101" pitchFamily="49" charset="-122"/>
              </a:rPr>
              <a:t>.</a:t>
            </a:r>
            <a:endParaRPr lang="en-US" altLang="zh-CN" b="1" dirty="0">
              <a:latin typeface="黑体" panose="02010609060101010101" pitchFamily="49" charset="-122"/>
              <a:ea typeface="黑体" panose="02010609060101010101" pitchFamily="49" charset="-122"/>
            </a:endParaRPr>
          </a:p>
          <a:p>
            <a:pPr lvl="1"/>
            <a:r>
              <a:rPr lang="zh-CN" altLang="en-US" b="1" dirty="0">
                <a:latin typeface="黑体" panose="02010609060101010101" pitchFamily="49" charset="-122"/>
                <a:ea typeface="黑体" panose="02010609060101010101" pitchFamily="49" charset="-122"/>
              </a:rPr>
              <a:t>第一步：选取一对需更新的变量    和    </a:t>
            </a:r>
            <a:r>
              <a:rPr lang="en-US" altLang="zh-CN" b="1" dirty="0">
                <a:latin typeface="黑体" panose="02010609060101010101" pitchFamily="49" charset="-122"/>
                <a:ea typeface="黑体" panose="02010609060101010101" pitchFamily="49" charset="-122"/>
              </a:rPr>
              <a:t>.</a:t>
            </a:r>
            <a:endParaRPr lang="en-US" altLang="zh-CN" b="1" dirty="0">
              <a:latin typeface="黑体" panose="02010609060101010101" pitchFamily="49" charset="-122"/>
              <a:ea typeface="黑体" panose="02010609060101010101" pitchFamily="49" charset="-122"/>
            </a:endParaRPr>
          </a:p>
          <a:p>
            <a:pPr lvl="1"/>
            <a:r>
              <a:rPr lang="zh-CN" altLang="en-US" b="1" dirty="0">
                <a:latin typeface="黑体" panose="02010609060101010101" pitchFamily="49" charset="-122"/>
                <a:ea typeface="黑体" panose="02010609060101010101" pitchFamily="49" charset="-122"/>
              </a:rPr>
              <a:t>第二步：固定</a:t>
            </a:r>
            <a:r>
              <a:rPr lang="en-US" altLang="zh-CN" b="1" i="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和    以外的参数</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求解对偶问题更新    和    </a:t>
            </a:r>
            <a:r>
              <a:rPr lang="en-US" altLang="zh-CN" b="1" dirty="0">
                <a:latin typeface="黑体" panose="02010609060101010101" pitchFamily="49" charset="-122"/>
                <a:ea typeface="黑体" panose="02010609060101010101" pitchFamily="49" charset="-122"/>
              </a:rPr>
              <a:t>.</a:t>
            </a:r>
            <a:endParaRPr lang="en-US" altLang="zh-CN" b="1" dirty="0">
              <a:latin typeface="黑体" panose="02010609060101010101" pitchFamily="49" charset="-122"/>
              <a:ea typeface="黑体" panose="02010609060101010101" pitchFamily="49" charset="-122"/>
            </a:endParaRPr>
          </a:p>
          <a:p>
            <a:pPr lvl="0"/>
            <a:endParaRPr lang="en-US" altLang="zh-CN" dirty="0"/>
          </a:p>
          <a:p>
            <a:pPr lvl="0"/>
            <a:r>
              <a:rPr lang="zh-CN" altLang="en-US" b="1" dirty="0">
                <a:latin typeface="黑体" panose="02010609060101010101" pitchFamily="49" charset="-122"/>
                <a:ea typeface="黑体" panose="02010609060101010101" pitchFamily="49" charset="-122"/>
              </a:rPr>
              <a:t>仅考虑    和    时</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对偶问题的约束变为</a:t>
            </a:r>
            <a:endParaRPr lang="en-US" altLang="zh-CN" b="1" dirty="0">
              <a:latin typeface="黑体" panose="02010609060101010101" pitchFamily="49" charset="-122"/>
              <a:ea typeface="黑体" panose="02010609060101010101" pitchFamily="49" charset="-122"/>
            </a:endParaRPr>
          </a:p>
          <a:p>
            <a:pPr lvl="0"/>
            <a:endParaRPr lang="en-US" altLang="zh-CN" b="1" dirty="0">
              <a:latin typeface="黑体" panose="02010609060101010101" pitchFamily="49" charset="-122"/>
              <a:ea typeface="黑体" panose="02010609060101010101" pitchFamily="49" charset="-122"/>
            </a:endParaRPr>
          </a:p>
          <a:p>
            <a:pPr lvl="0"/>
            <a:endParaRPr lang="en-US" altLang="zh-CN" dirty="0"/>
          </a:p>
          <a:p>
            <a:pPr lvl="0"/>
            <a:endParaRPr lang="en-US" altLang="zh-CN" dirty="0"/>
          </a:p>
          <a:p>
            <a:pPr lvl="0"/>
            <a:endParaRPr lang="en-US" altLang="zh-CN" dirty="0"/>
          </a:p>
          <a:p>
            <a:pPr lvl="0"/>
            <a:endParaRPr lang="en-US" altLang="zh-CN" dirty="0"/>
          </a:p>
          <a:p>
            <a:pPr lvl="0"/>
            <a:r>
              <a:rPr lang="zh-CN" altLang="en-US" b="1" dirty="0">
                <a:latin typeface="黑体" panose="02010609060101010101" pitchFamily="49" charset="-122"/>
                <a:ea typeface="黑体" panose="02010609060101010101" pitchFamily="49" charset="-122"/>
              </a:rPr>
              <a:t>偏移项  ：通过支持向量来确定</a:t>
            </a:r>
            <a:r>
              <a:rPr lang="en-US" altLang="zh-CN" b="1" dirty="0">
                <a:latin typeface="黑体" panose="02010609060101010101" pitchFamily="49" charset="-122"/>
                <a:ea typeface="黑体" panose="02010609060101010101" pitchFamily="49" charset="-122"/>
              </a:rPr>
              <a:t>.</a:t>
            </a:r>
            <a:endParaRPr lang="en-US" altLang="zh-CN" b="1" dirty="0">
              <a:latin typeface="黑体" panose="02010609060101010101" pitchFamily="49" charset="-122"/>
              <a:ea typeface="黑体" panose="02010609060101010101" pitchFamily="49" charset="-122"/>
            </a:endParaRPr>
          </a:p>
        </p:txBody>
      </p:sp>
      <p:graphicFrame>
        <p:nvGraphicFramePr>
          <p:cNvPr id="4" name="对象 3"/>
          <p:cNvGraphicFramePr>
            <a:graphicFrameLocks noChangeAspect="1"/>
          </p:cNvGraphicFramePr>
          <p:nvPr/>
        </p:nvGraphicFramePr>
        <p:xfrm>
          <a:off x="4681532" y="1621105"/>
          <a:ext cx="285378" cy="252000"/>
        </p:xfrm>
        <a:graphic>
          <a:graphicData uri="http://schemas.openxmlformats.org/presentationml/2006/ole">
            <mc:AlternateContent xmlns:mc="http://schemas.openxmlformats.org/markup-compatibility/2006">
              <mc:Choice xmlns:v="urn:schemas-microsoft-com:vml" Requires="v">
                <p:oleObj spid="_x0000_s32" name="Formula" r:id="rId1" imgW="1009650" imgH="895350" progId="Equation.Ribbit">
                  <p:embed/>
                </p:oleObj>
              </mc:Choice>
              <mc:Fallback>
                <p:oleObj name="Formula" r:id="rId1" imgW="1009650" imgH="895350" progId="Equation.Ribbit">
                  <p:embed/>
                  <p:pic>
                    <p:nvPicPr>
                      <p:cNvPr id="0" name="图片 31"/>
                      <p:cNvPicPr/>
                      <p:nvPr/>
                    </p:nvPicPr>
                    <p:blipFill>
                      <a:blip r:embed="rId2"/>
                      <a:stretch>
                        <a:fillRect/>
                      </a:stretch>
                    </p:blipFill>
                    <p:spPr>
                      <a:xfrm>
                        <a:off x="4681532" y="1621105"/>
                        <a:ext cx="285378" cy="252000"/>
                      </a:xfrm>
                      <a:prstGeom prst="rect">
                        <a:avLst/>
                      </a:prstGeom>
                    </p:spPr>
                  </p:pic>
                </p:oleObj>
              </mc:Fallback>
            </mc:AlternateContent>
          </a:graphicData>
        </a:graphic>
      </p:graphicFrame>
      <p:graphicFrame>
        <p:nvGraphicFramePr>
          <p:cNvPr id="5" name="对象 4"/>
          <p:cNvGraphicFramePr>
            <a:graphicFrameLocks noChangeAspect="1"/>
          </p:cNvGraphicFramePr>
          <p:nvPr/>
        </p:nvGraphicFramePr>
        <p:xfrm>
          <a:off x="5453588" y="1616725"/>
          <a:ext cx="300738" cy="280800"/>
        </p:xfrm>
        <a:graphic>
          <a:graphicData uri="http://schemas.openxmlformats.org/presentationml/2006/ole">
            <mc:AlternateContent xmlns:mc="http://schemas.openxmlformats.org/markup-compatibility/2006">
              <mc:Choice xmlns:v="urn:schemas-microsoft-com:vml" Requires="v">
                <p:oleObj spid="_x0000_s6" name="Formula" r:id="rId3" imgW="1076325" imgH="1000125" progId="Equation.Ribbit">
                  <p:embed/>
                </p:oleObj>
              </mc:Choice>
              <mc:Fallback>
                <p:oleObj name="Formula" r:id="rId3" imgW="1076325" imgH="1000125" progId="Equation.Ribbit">
                  <p:embed/>
                  <p:pic>
                    <p:nvPicPr>
                      <p:cNvPr id="0" name="图片 5"/>
                      <p:cNvPicPr/>
                      <p:nvPr/>
                    </p:nvPicPr>
                    <p:blipFill>
                      <a:blip r:embed="rId4"/>
                      <a:stretch>
                        <a:fillRect/>
                      </a:stretch>
                    </p:blipFill>
                    <p:spPr>
                      <a:xfrm>
                        <a:off x="5453588" y="1616725"/>
                        <a:ext cx="300738" cy="280800"/>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2600187" y="1972288"/>
          <a:ext cx="285378" cy="252000"/>
        </p:xfrm>
        <a:graphic>
          <a:graphicData uri="http://schemas.openxmlformats.org/presentationml/2006/ole">
            <mc:AlternateContent xmlns:mc="http://schemas.openxmlformats.org/markup-compatibility/2006">
              <mc:Choice xmlns:v="urn:schemas-microsoft-com:vml" Requires="v">
                <p:oleObj spid="_x0000_s8" name="Formula" r:id="rId5" imgW="1009650" imgH="895350" progId="Equation.Ribbit">
                  <p:embed/>
                </p:oleObj>
              </mc:Choice>
              <mc:Fallback>
                <p:oleObj name="Formula" r:id="rId5" imgW="1009650" imgH="895350" progId="Equation.Ribbit">
                  <p:embed/>
                  <p:pic>
                    <p:nvPicPr>
                      <p:cNvPr id="0" name="图片 7"/>
                      <p:cNvPicPr/>
                      <p:nvPr/>
                    </p:nvPicPr>
                    <p:blipFill>
                      <a:blip r:embed="rId2"/>
                      <a:stretch>
                        <a:fillRect/>
                      </a:stretch>
                    </p:blipFill>
                    <p:spPr>
                      <a:xfrm>
                        <a:off x="2600187" y="1972288"/>
                        <a:ext cx="285378" cy="252000"/>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3419373" y="1941815"/>
          <a:ext cx="300738" cy="280800"/>
        </p:xfrm>
        <a:graphic>
          <a:graphicData uri="http://schemas.openxmlformats.org/presentationml/2006/ole">
            <mc:AlternateContent xmlns:mc="http://schemas.openxmlformats.org/markup-compatibility/2006">
              <mc:Choice xmlns:v="urn:schemas-microsoft-com:vml" Requires="v">
                <p:oleObj spid="_x0000_s10" name="Formula" r:id="rId6" imgW="1076325" imgH="1000125" progId="Equation.Ribbit">
                  <p:embed/>
                </p:oleObj>
              </mc:Choice>
              <mc:Fallback>
                <p:oleObj name="Formula" r:id="rId6" imgW="1076325" imgH="1000125" progId="Equation.Ribbit">
                  <p:embed/>
                  <p:pic>
                    <p:nvPicPr>
                      <p:cNvPr id="0" name="图片 9"/>
                      <p:cNvPicPr/>
                      <p:nvPr/>
                    </p:nvPicPr>
                    <p:blipFill>
                      <a:blip r:embed="rId4"/>
                      <a:stretch>
                        <a:fillRect/>
                      </a:stretch>
                    </p:blipFill>
                    <p:spPr>
                      <a:xfrm>
                        <a:off x="3419373" y="1941815"/>
                        <a:ext cx="300738" cy="280800"/>
                      </a:xfrm>
                      <a:prstGeom prst="rect">
                        <a:avLst/>
                      </a:prstGeom>
                    </p:spPr>
                  </p:pic>
                </p:oleObj>
              </mc:Fallback>
            </mc:AlternateContent>
          </a:graphicData>
        </a:graphic>
      </p:graphicFrame>
      <p:graphicFrame>
        <p:nvGraphicFramePr>
          <p:cNvPr id="11" name="对象 10"/>
          <p:cNvGraphicFramePr>
            <a:graphicFrameLocks noChangeAspect="1"/>
          </p:cNvGraphicFramePr>
          <p:nvPr/>
        </p:nvGraphicFramePr>
        <p:xfrm>
          <a:off x="7536485" y="1956215"/>
          <a:ext cx="285378" cy="252000"/>
        </p:xfrm>
        <a:graphic>
          <a:graphicData uri="http://schemas.openxmlformats.org/presentationml/2006/ole">
            <mc:AlternateContent xmlns:mc="http://schemas.openxmlformats.org/markup-compatibility/2006">
              <mc:Choice xmlns:v="urn:schemas-microsoft-com:vml" Requires="v">
                <p:oleObj spid="_x0000_s12" name="Formula" r:id="rId7" imgW="1009650" imgH="895350" progId="Equation.Ribbit">
                  <p:embed/>
                </p:oleObj>
              </mc:Choice>
              <mc:Fallback>
                <p:oleObj name="Formula" r:id="rId7" imgW="1009650" imgH="895350" progId="Equation.Ribbit">
                  <p:embed/>
                  <p:pic>
                    <p:nvPicPr>
                      <p:cNvPr id="0" name="图片 11"/>
                      <p:cNvPicPr/>
                      <p:nvPr/>
                    </p:nvPicPr>
                    <p:blipFill>
                      <a:blip r:embed="rId2"/>
                      <a:stretch>
                        <a:fillRect/>
                      </a:stretch>
                    </p:blipFill>
                    <p:spPr>
                      <a:xfrm>
                        <a:off x="7536485" y="1956215"/>
                        <a:ext cx="285378" cy="252000"/>
                      </a:xfrm>
                      <a:prstGeom prst="rect">
                        <a:avLst/>
                      </a:prstGeom>
                    </p:spPr>
                  </p:pic>
                </p:oleObj>
              </mc:Fallback>
            </mc:AlternateContent>
          </a:graphicData>
        </a:graphic>
      </p:graphicFrame>
      <p:graphicFrame>
        <p:nvGraphicFramePr>
          <p:cNvPr id="13" name="对象 12"/>
          <p:cNvGraphicFramePr>
            <a:graphicFrameLocks noChangeAspect="1"/>
          </p:cNvGraphicFramePr>
          <p:nvPr/>
        </p:nvGraphicFramePr>
        <p:xfrm>
          <a:off x="8251978" y="1941815"/>
          <a:ext cx="300738" cy="280800"/>
        </p:xfrm>
        <a:graphic>
          <a:graphicData uri="http://schemas.openxmlformats.org/presentationml/2006/ole">
            <mc:AlternateContent xmlns:mc="http://schemas.openxmlformats.org/markup-compatibility/2006">
              <mc:Choice xmlns:v="urn:schemas-microsoft-com:vml" Requires="v">
                <p:oleObj spid="_x0000_s14" name="Formula" r:id="rId8" imgW="1076325" imgH="1000125" progId="Equation.Ribbit">
                  <p:embed/>
                </p:oleObj>
              </mc:Choice>
              <mc:Fallback>
                <p:oleObj name="Formula" r:id="rId8" imgW="1076325" imgH="1000125" progId="Equation.Ribbit">
                  <p:embed/>
                  <p:pic>
                    <p:nvPicPr>
                      <p:cNvPr id="0" name="图片 13"/>
                      <p:cNvPicPr/>
                      <p:nvPr/>
                    </p:nvPicPr>
                    <p:blipFill>
                      <a:blip r:embed="rId4"/>
                      <a:stretch>
                        <a:fillRect/>
                      </a:stretch>
                    </p:blipFill>
                    <p:spPr>
                      <a:xfrm>
                        <a:off x="8251978" y="1941815"/>
                        <a:ext cx="300738" cy="280800"/>
                      </a:xfrm>
                      <a:prstGeom prst="rect">
                        <a:avLst/>
                      </a:prstGeom>
                    </p:spPr>
                  </p:pic>
                </p:oleObj>
              </mc:Fallback>
            </mc:AlternateContent>
          </a:graphicData>
        </a:graphic>
      </p:graphicFrame>
      <p:graphicFrame>
        <p:nvGraphicFramePr>
          <p:cNvPr id="15" name="对象 14"/>
          <p:cNvGraphicFramePr>
            <a:graphicFrameLocks noChangeAspect="1"/>
          </p:cNvGraphicFramePr>
          <p:nvPr/>
        </p:nvGraphicFramePr>
        <p:xfrm>
          <a:off x="1620521" y="2810735"/>
          <a:ext cx="285378" cy="252000"/>
        </p:xfrm>
        <a:graphic>
          <a:graphicData uri="http://schemas.openxmlformats.org/presentationml/2006/ole">
            <mc:AlternateContent xmlns:mc="http://schemas.openxmlformats.org/markup-compatibility/2006">
              <mc:Choice xmlns:v="urn:schemas-microsoft-com:vml" Requires="v">
                <p:oleObj spid="_x0000_s16" name="Formula" r:id="rId9" imgW="1009650" imgH="895350" progId="Equation.Ribbit">
                  <p:embed/>
                </p:oleObj>
              </mc:Choice>
              <mc:Fallback>
                <p:oleObj name="Formula" r:id="rId9" imgW="1009650" imgH="895350" progId="Equation.Ribbit">
                  <p:embed/>
                  <p:pic>
                    <p:nvPicPr>
                      <p:cNvPr id="0" name="图片 15"/>
                      <p:cNvPicPr/>
                      <p:nvPr/>
                    </p:nvPicPr>
                    <p:blipFill>
                      <a:blip r:embed="rId2"/>
                      <a:stretch>
                        <a:fillRect/>
                      </a:stretch>
                    </p:blipFill>
                    <p:spPr>
                      <a:xfrm>
                        <a:off x="1620521" y="2810735"/>
                        <a:ext cx="285378" cy="252000"/>
                      </a:xfrm>
                      <a:prstGeom prst="rect">
                        <a:avLst/>
                      </a:prstGeom>
                    </p:spPr>
                  </p:pic>
                </p:oleObj>
              </mc:Fallback>
            </mc:AlternateContent>
          </a:graphicData>
        </a:graphic>
      </p:graphicFrame>
      <p:graphicFrame>
        <p:nvGraphicFramePr>
          <p:cNvPr id="17" name="对象 16"/>
          <p:cNvGraphicFramePr>
            <a:graphicFrameLocks noChangeAspect="1"/>
          </p:cNvGraphicFramePr>
          <p:nvPr/>
        </p:nvGraphicFramePr>
        <p:xfrm>
          <a:off x="2584827" y="2796335"/>
          <a:ext cx="300738" cy="280800"/>
        </p:xfrm>
        <a:graphic>
          <a:graphicData uri="http://schemas.openxmlformats.org/presentationml/2006/ole">
            <mc:AlternateContent xmlns:mc="http://schemas.openxmlformats.org/markup-compatibility/2006">
              <mc:Choice xmlns:v="urn:schemas-microsoft-com:vml" Requires="v">
                <p:oleObj spid="_x0000_s18" name="Formula" r:id="rId10" imgW="1076325" imgH="1000125" progId="Equation.Ribbit">
                  <p:embed/>
                </p:oleObj>
              </mc:Choice>
              <mc:Fallback>
                <p:oleObj name="Formula" r:id="rId10" imgW="1076325" imgH="1000125" progId="Equation.Ribbit">
                  <p:embed/>
                  <p:pic>
                    <p:nvPicPr>
                      <p:cNvPr id="0" name="图片 17"/>
                      <p:cNvPicPr/>
                      <p:nvPr/>
                    </p:nvPicPr>
                    <p:blipFill>
                      <a:blip r:embed="rId4"/>
                      <a:stretch>
                        <a:fillRect/>
                      </a:stretch>
                    </p:blipFill>
                    <p:spPr>
                      <a:xfrm>
                        <a:off x="2584827" y="2796335"/>
                        <a:ext cx="300738" cy="280800"/>
                      </a:xfrm>
                      <a:prstGeom prst="rect">
                        <a:avLst/>
                      </a:prstGeom>
                    </p:spPr>
                  </p:pic>
                </p:oleObj>
              </mc:Fallback>
            </mc:AlternateContent>
          </a:graphicData>
        </a:graphic>
      </p:graphicFrame>
      <p:sp>
        <p:nvSpPr>
          <p:cNvPr id="19" name="矩形 18"/>
          <p:cNvSpPr/>
          <p:nvPr/>
        </p:nvSpPr>
        <p:spPr>
          <a:xfrm>
            <a:off x="1174248" y="3982476"/>
            <a:ext cx="6789154" cy="830997"/>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lvl="0"/>
            <a:r>
              <a:rPr lang="zh-CN" altLang="en-US" sz="2400" dirty="0">
                <a:latin typeface="黑体" panose="02010609060101010101" pitchFamily="49" charset="-122"/>
                <a:ea typeface="黑体" panose="02010609060101010101" pitchFamily="49" charset="-122"/>
              </a:rPr>
              <a:t>用一个变量表示另一个变量</a:t>
            </a:r>
            <a:r>
              <a:rPr lang="en-US" altLang="zh-CN" sz="2400" dirty="0">
                <a:latin typeface="黑体" panose="02010609060101010101" pitchFamily="49" charset="-122"/>
                <a:ea typeface="黑体" panose="02010609060101010101" pitchFamily="49" charset="-122"/>
              </a:rPr>
              <a:t>, </a:t>
            </a:r>
            <a:r>
              <a:rPr lang="zh-CN" altLang="en-US" sz="2400" dirty="0">
                <a:latin typeface="黑体" panose="02010609060101010101" pitchFamily="49" charset="-122"/>
                <a:ea typeface="黑体" panose="02010609060101010101" pitchFamily="49" charset="-122"/>
              </a:rPr>
              <a:t>回代入对偶问题可得一个单变量的二次规划</a:t>
            </a:r>
            <a:r>
              <a:rPr lang="en-US" altLang="zh-CN" sz="2400" dirty="0">
                <a:latin typeface="黑体" panose="02010609060101010101" pitchFamily="49" charset="-122"/>
                <a:ea typeface="黑体" panose="02010609060101010101" pitchFamily="49" charset="-122"/>
              </a:rPr>
              <a:t>, </a:t>
            </a:r>
            <a:r>
              <a:rPr lang="zh-CN" altLang="en-US" sz="2400" dirty="0">
                <a:latin typeface="黑体" panose="02010609060101010101" pitchFamily="49" charset="-122"/>
                <a:ea typeface="黑体" panose="02010609060101010101" pitchFamily="49" charset="-122"/>
              </a:rPr>
              <a:t>该问题具有</a:t>
            </a:r>
            <a:r>
              <a:rPr lang="zh-CN" altLang="en-US" sz="2400" dirty="0">
                <a:solidFill>
                  <a:schemeClr val="tx2"/>
                </a:solidFill>
                <a:latin typeface="黑体" panose="02010609060101010101" pitchFamily="49" charset="-122"/>
                <a:ea typeface="黑体" panose="02010609060101010101" pitchFamily="49" charset="-122"/>
              </a:rPr>
              <a:t>闭式解</a:t>
            </a:r>
            <a:r>
              <a:rPr lang="en-US" altLang="zh-CN" sz="2400" dirty="0">
                <a:latin typeface="黑体" panose="02010609060101010101" pitchFamily="49" charset="-122"/>
                <a:ea typeface="黑体" panose="02010609060101010101" pitchFamily="49" charset="-122"/>
              </a:rPr>
              <a:t>.</a:t>
            </a:r>
            <a:endParaRPr lang="en-US" altLang="zh-CN" sz="2400" dirty="0">
              <a:latin typeface="黑体" panose="02010609060101010101" pitchFamily="49" charset="-122"/>
              <a:ea typeface="黑体" panose="02010609060101010101" pitchFamily="49" charset="-122"/>
            </a:endParaRPr>
          </a:p>
        </p:txBody>
      </p:sp>
      <p:pic>
        <p:nvPicPr>
          <p:cNvPr id="20" name="图片 19"/>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593225" y="5296582"/>
            <a:ext cx="164606" cy="371888"/>
          </a:xfrm>
          <a:prstGeom prst="rect">
            <a:avLst/>
          </a:prstGeom>
        </p:spPr>
      </p:pic>
      <p:pic>
        <p:nvPicPr>
          <p:cNvPr id="21" name="图片 20"/>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828435" y="3159002"/>
            <a:ext cx="5480779" cy="71939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par>
                                <p:cTn id="17" presetID="10"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par>
                                <p:cTn id="20" presetID="10" presetClass="entr" presetSubtype="0" fill="hold"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Effect transition="in" filter="fade">
                                      <p:cBhvr>
                                        <p:cTn id="30" dur="500"/>
                                        <p:tgtEl>
                                          <p:spTgt spid="3">
                                            <p:txEl>
                                              <p:pRg st="4" end="4"/>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animEffect transition="in" filter="fade">
                                      <p:cBhvr>
                                        <p:cTn id="43" dur="500"/>
                                        <p:tgtEl>
                                          <p:spTgt spid="3">
                                            <p:txEl>
                                              <p:pRg st="10" end="10"/>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大纲</a:t>
            </a:r>
            <a:endParaRPr lang="zh-CN" altLang="en-US"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p:txBody>
          <a:bodyPr/>
          <a:lstStyle/>
          <a:p>
            <a:r>
              <a:rPr lang="zh-CN" altLang="en-US" dirty="0">
                <a:solidFill>
                  <a:schemeClr val="bg1">
                    <a:lumMod val="85000"/>
                  </a:schemeClr>
                </a:solidFill>
              </a:rPr>
              <a:t>间隔与支持向量</a:t>
            </a:r>
            <a:endParaRPr lang="en-US" altLang="zh-CN" dirty="0">
              <a:solidFill>
                <a:schemeClr val="bg1">
                  <a:lumMod val="85000"/>
                </a:schemeClr>
              </a:solidFill>
            </a:endParaRPr>
          </a:p>
          <a:p>
            <a:endParaRPr lang="en-US" altLang="zh-CN" dirty="0"/>
          </a:p>
          <a:p>
            <a:r>
              <a:rPr lang="zh-CN" altLang="en-US" dirty="0">
                <a:solidFill>
                  <a:schemeClr val="bg1">
                    <a:lumMod val="85000"/>
                  </a:schemeClr>
                </a:solidFill>
              </a:rPr>
              <a:t>对偶问题</a:t>
            </a:r>
            <a:endParaRPr lang="en-US" altLang="zh-CN" dirty="0">
              <a:solidFill>
                <a:schemeClr val="bg1">
                  <a:lumMod val="85000"/>
                </a:schemeClr>
              </a:solidFill>
            </a:endParaRPr>
          </a:p>
          <a:p>
            <a:endParaRPr lang="en-US" altLang="zh-CN" dirty="0"/>
          </a:p>
          <a:p>
            <a:r>
              <a:rPr lang="zh-CN" altLang="en-US" b="1" dirty="0">
                <a:latin typeface="黑体" panose="02010609060101010101" pitchFamily="49" charset="-122"/>
                <a:ea typeface="黑体" panose="02010609060101010101" pitchFamily="49" charset="-122"/>
              </a:rPr>
              <a:t>核函数</a:t>
            </a:r>
            <a:endParaRPr lang="en-US" altLang="zh-CN" b="1" dirty="0">
              <a:latin typeface="黑体" panose="02010609060101010101" pitchFamily="49" charset="-122"/>
              <a:ea typeface="黑体" panose="02010609060101010101" pitchFamily="49" charset="-122"/>
            </a:endParaRPr>
          </a:p>
          <a:p>
            <a:endParaRPr lang="en-US" altLang="zh-CN" dirty="0">
              <a:solidFill>
                <a:schemeClr val="bg1">
                  <a:lumMod val="85000"/>
                </a:schemeClr>
              </a:solidFill>
            </a:endParaRPr>
          </a:p>
          <a:p>
            <a:r>
              <a:rPr lang="zh-CN" altLang="en-US" dirty="0">
                <a:solidFill>
                  <a:schemeClr val="bg1">
                    <a:lumMod val="85000"/>
                  </a:schemeClr>
                </a:solidFill>
              </a:rPr>
              <a:t>软间隔与正则化</a:t>
            </a:r>
            <a:endParaRPr lang="en-US" altLang="zh-CN" dirty="0">
              <a:solidFill>
                <a:schemeClr val="bg1">
                  <a:lumMod val="85000"/>
                </a:schemeClr>
              </a:solidFill>
            </a:endParaRPr>
          </a:p>
          <a:p>
            <a:endParaRPr lang="en-US" altLang="zh-CN" dirty="0">
              <a:solidFill>
                <a:schemeClr val="bg1">
                  <a:lumMod val="85000"/>
                </a:schemeClr>
              </a:solidFill>
            </a:endParaRPr>
          </a:p>
          <a:p>
            <a:r>
              <a:rPr lang="zh-CN" altLang="en-US" dirty="0">
                <a:solidFill>
                  <a:schemeClr val="bg1">
                    <a:lumMod val="85000"/>
                  </a:schemeClr>
                </a:solidFill>
              </a:rPr>
              <a:t>支持向量回归</a:t>
            </a:r>
            <a:endParaRPr lang="en-US" altLang="zh-CN" dirty="0">
              <a:solidFill>
                <a:schemeClr val="bg1">
                  <a:lumMod val="85000"/>
                </a:schemeClr>
              </a:solidFill>
            </a:endParaRPr>
          </a:p>
          <a:p>
            <a:endParaRPr lang="en-US" altLang="zh-CN" dirty="0">
              <a:solidFill>
                <a:schemeClr val="bg1">
                  <a:lumMod val="85000"/>
                </a:schemeClr>
              </a:solidFill>
            </a:endParaRPr>
          </a:p>
          <a:p>
            <a:r>
              <a:rPr lang="zh-CN" altLang="en-US" dirty="0">
                <a:solidFill>
                  <a:schemeClr val="bg1">
                    <a:lumMod val="85000"/>
                  </a:schemeClr>
                </a:solidFill>
              </a:rPr>
              <a:t>核方法</a:t>
            </a:r>
            <a:endParaRPr lang="zh-CN" altLang="en-US" dirty="0">
              <a:solidFill>
                <a:schemeClr val="bg1">
                  <a:lumMod val="85000"/>
                </a:schemeClr>
              </a:solidFill>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ph type="title"/>
          </p:nvPr>
        </p:nvSpPr>
        <p:spPr>
          <a:xfrm>
            <a:off x="191018" y="183201"/>
            <a:ext cx="7886700" cy="570310"/>
          </a:xfrm>
        </p:spPr>
        <p:txBody>
          <a:bodyPr vert="horz" lIns="91440" tIns="45720" rIns="91440" bIns="45720" rtlCol="0" anchor="ctr">
            <a:normAutofit fontScale="90000"/>
          </a:bodyPr>
          <a:lstStyle/>
          <a:p>
            <a:r>
              <a:rPr lang="en-US" altLang="zh-CN" dirty="0" err="1">
                <a:latin typeface="黑体" panose="02010609060101010101" pitchFamily="49" charset="-122"/>
                <a:ea typeface="黑体" panose="02010609060101010101" pitchFamily="49" charset="-122"/>
              </a:rPr>
              <a:t>SVM</a:t>
            </a:r>
            <a:r>
              <a:rPr altLang="en-US" dirty="0" err="1">
                <a:latin typeface="黑体" panose="02010609060101010101" pitchFamily="49" charset="-122"/>
                <a:ea typeface="黑体" panose="02010609060101010101" pitchFamily="49" charset="-122"/>
              </a:rPr>
              <a:t>类别</a:t>
            </a:r>
            <a:endParaRPr altLang="zh-CN" dirty="0">
              <a:latin typeface="黑体" panose="02010609060101010101" pitchFamily="49" charset="-122"/>
              <a:ea typeface="黑体" panose="02010609060101010101" pitchFamily="49" charset="-122"/>
            </a:endParaRPr>
          </a:p>
        </p:txBody>
      </p:sp>
      <p:sp>
        <p:nvSpPr>
          <p:cNvPr id="53251" name="内容占位符 2"/>
          <p:cNvSpPr>
            <a:spLocks noGrp="1"/>
          </p:cNvSpPr>
          <p:nvPr>
            <p:ph idx="1"/>
          </p:nvPr>
        </p:nvSpPr>
        <p:spPr>
          <a:xfrm>
            <a:off x="77805" y="1157133"/>
            <a:ext cx="9066195" cy="4998502"/>
          </a:xfrm>
        </p:spPr>
        <p:txBody>
          <a:bodyPr>
            <a:noAutofit/>
          </a:bodyPr>
          <a:lstStyle/>
          <a:p>
            <a:pPr eaLnBrk="1" hangingPunct="1">
              <a:lnSpc>
                <a:spcPct val="150000"/>
              </a:lnSpc>
            </a:pPr>
            <a:r>
              <a:rPr lang="en-US" altLang="zh-CN" sz="2000" b="1" dirty="0">
                <a:latin typeface="黑体" panose="02010609060101010101" pitchFamily="49" charset="-122"/>
                <a:ea typeface="黑体" panose="02010609060101010101" pitchFamily="49" charset="-122"/>
              </a:rPr>
              <a:t>SVM</a:t>
            </a:r>
            <a:r>
              <a:rPr altLang="en-US" sz="2000" b="1" dirty="0">
                <a:latin typeface="黑体" panose="02010609060101010101" pitchFamily="49" charset="-122"/>
                <a:ea typeface="黑体" panose="02010609060101010101" pitchFamily="49" charset="-122"/>
              </a:rPr>
              <a:t>是一种二分类模型，处理的数据可以分为三类：</a:t>
            </a:r>
            <a:endParaRPr lang="en-US" altLang="zh-CN" sz="2000" b="1" dirty="0">
              <a:latin typeface="黑体" panose="02010609060101010101" pitchFamily="49" charset="-122"/>
              <a:ea typeface="黑体" panose="02010609060101010101" pitchFamily="49" charset="-122"/>
            </a:endParaRPr>
          </a:p>
          <a:p>
            <a:pPr lvl="1" eaLnBrk="1" hangingPunct="1">
              <a:lnSpc>
                <a:spcPct val="150000"/>
              </a:lnSpc>
              <a:buFont typeface="Wingdings" panose="05000000000000000000" pitchFamily="2" charset="2"/>
              <a:buChar char="p"/>
            </a:pPr>
            <a:r>
              <a:rPr altLang="en-US" b="1" dirty="0" err="1">
                <a:latin typeface="黑体" panose="02010609060101010101" pitchFamily="49" charset="-122"/>
                <a:ea typeface="黑体" panose="02010609060101010101" pitchFamily="49" charset="-122"/>
              </a:rPr>
              <a:t>线性可分，通过硬间隔最大化，学习线性分类器</a:t>
            </a:r>
            <a:r>
              <a:rPr altLang="en-US" b="1" dirty="0">
                <a:latin typeface="黑体" panose="02010609060101010101" pitchFamily="49" charset="-122"/>
                <a:ea typeface="黑体" panose="02010609060101010101" pitchFamily="49" charset="-122"/>
              </a:rPr>
              <a:t>。</a:t>
            </a:r>
            <a:endParaRPr altLang="en-US" b="1" dirty="0">
              <a:latin typeface="黑体" panose="02010609060101010101" pitchFamily="49" charset="-122"/>
              <a:ea typeface="黑体" panose="02010609060101010101" pitchFamily="49" charset="-122"/>
            </a:endParaRPr>
          </a:p>
          <a:p>
            <a:pPr lvl="1" eaLnBrk="1" hangingPunct="1">
              <a:lnSpc>
                <a:spcPct val="150000"/>
              </a:lnSpc>
              <a:buFont typeface="Wingdings" panose="05000000000000000000" pitchFamily="2" charset="2"/>
              <a:buChar char="p"/>
            </a:pPr>
            <a:r>
              <a:rPr altLang="en-US" b="1" dirty="0" err="1">
                <a:latin typeface="黑体" panose="02010609060101010101" pitchFamily="49" charset="-122"/>
                <a:ea typeface="黑体" panose="02010609060101010101" pitchFamily="49" charset="-122"/>
              </a:rPr>
              <a:t>近似线性可分，通过软间隔最大化，学习线性分类器</a:t>
            </a:r>
            <a:endParaRPr altLang="en-US" b="1" dirty="0">
              <a:latin typeface="黑体" panose="02010609060101010101" pitchFamily="49" charset="-122"/>
              <a:ea typeface="黑体" panose="02010609060101010101" pitchFamily="49" charset="-122"/>
            </a:endParaRPr>
          </a:p>
          <a:p>
            <a:pPr lvl="1" eaLnBrk="1" hangingPunct="1">
              <a:lnSpc>
                <a:spcPct val="150000"/>
              </a:lnSpc>
              <a:buFont typeface="Wingdings" panose="05000000000000000000" pitchFamily="2" charset="2"/>
              <a:buChar char="p"/>
            </a:pPr>
            <a:r>
              <a:rPr altLang="en-US" b="1" dirty="0" err="1">
                <a:latin typeface="黑体" panose="02010609060101010101" pitchFamily="49" charset="-122"/>
                <a:ea typeface="黑体" panose="02010609060101010101" pitchFamily="49" charset="-122"/>
              </a:rPr>
              <a:t>线性不可分，通过核函数以及软间隔最大化，学习非线性分类器</a:t>
            </a:r>
            <a:endParaRPr altLang="en-US" b="1" dirty="0">
              <a:latin typeface="黑体" panose="02010609060101010101" pitchFamily="49" charset="-122"/>
              <a:ea typeface="黑体" panose="02010609060101010101" pitchFamily="49" charset="-122"/>
            </a:endParaRPr>
          </a:p>
          <a:p>
            <a:pPr eaLnBrk="1" hangingPunct="1">
              <a:lnSpc>
                <a:spcPct val="150000"/>
              </a:lnSpc>
            </a:pPr>
            <a:r>
              <a:rPr altLang="en-US" sz="2000" b="1" dirty="0">
                <a:latin typeface="黑体" panose="02010609060101010101" pitchFamily="49" charset="-122"/>
                <a:ea typeface="黑体" panose="02010609060101010101" pitchFamily="49" charset="-122"/>
              </a:rPr>
              <a:t>线性分类器，在平面上对应直线；非线性分类器，在平面上对应曲线。</a:t>
            </a:r>
            <a:endParaRPr altLang="en-US" sz="2000" b="1" dirty="0">
              <a:latin typeface="黑体" panose="02010609060101010101" pitchFamily="49" charset="-122"/>
              <a:ea typeface="黑体" panose="02010609060101010101" pitchFamily="49" charset="-122"/>
            </a:endParaRPr>
          </a:p>
          <a:p>
            <a:pPr eaLnBrk="1" hangingPunct="1">
              <a:lnSpc>
                <a:spcPct val="150000"/>
              </a:lnSpc>
            </a:pPr>
            <a:r>
              <a:rPr altLang="en-US" sz="2000" b="1" dirty="0">
                <a:latin typeface="黑体" panose="02010609060101010101" pitchFamily="49" charset="-122"/>
                <a:ea typeface="黑体" panose="02010609060101010101" pitchFamily="49" charset="-122"/>
              </a:rPr>
              <a:t>硬间隔对应于线性可分数据集，可以将所有样本正确分类，也正因为如此，受噪声样本影响很大，不推荐。</a:t>
            </a:r>
            <a:endParaRPr altLang="en-US" sz="2000" b="1" dirty="0">
              <a:latin typeface="黑体" panose="02010609060101010101" pitchFamily="49" charset="-122"/>
              <a:ea typeface="黑体" panose="02010609060101010101" pitchFamily="49" charset="-122"/>
            </a:endParaRPr>
          </a:p>
          <a:p>
            <a:pPr eaLnBrk="1" hangingPunct="1">
              <a:lnSpc>
                <a:spcPct val="150000"/>
              </a:lnSpc>
            </a:pPr>
            <a:r>
              <a:rPr altLang="en-US" sz="2000" b="1" dirty="0">
                <a:latin typeface="黑体" panose="02010609060101010101" pitchFamily="49" charset="-122"/>
                <a:ea typeface="黑体" panose="02010609060101010101" pitchFamily="49" charset="-122"/>
              </a:rPr>
              <a:t>软间隔对应于通常情况下的数据集（近似线性可分或线性不可分），允许一些超平面附近的样本被错误分类，从而提升了泛化性能。</a:t>
            </a:r>
            <a:r>
              <a:rPr altLang="en-US" sz="2000" b="1" dirty="0">
                <a:solidFill>
                  <a:srgbClr val="FF0000"/>
                </a:solidFill>
                <a:latin typeface="黑体" panose="02010609060101010101" pitchFamily="49" charset="-122"/>
                <a:ea typeface="黑体" panose="02010609060101010101" pitchFamily="49" charset="-122"/>
              </a:rPr>
              <a:t>松弛变量</a:t>
            </a:r>
            <a:r>
              <a:rPr altLang="en-US" sz="2000" b="1" dirty="0">
                <a:latin typeface="黑体" panose="02010609060101010101" pitchFamily="49" charset="-122"/>
                <a:ea typeface="黑体" panose="02010609060101010101" pitchFamily="49" charset="-122"/>
              </a:rPr>
              <a:t>调节错分率。</a:t>
            </a:r>
            <a:endParaRPr altLang="en-US" sz="2000" b="1" dirty="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ph type="title"/>
          </p:nvPr>
        </p:nvSpPr>
        <p:spPr>
          <a:xfrm>
            <a:off x="237401" y="163323"/>
            <a:ext cx="7886700" cy="570310"/>
          </a:xfrm>
        </p:spPr>
        <p:txBody>
          <a:bodyPr vert="horz" lIns="91440" tIns="45720" rIns="91440" bIns="45720" rtlCol="0" anchor="ctr">
            <a:normAutofit fontScale="90000"/>
          </a:bodyPr>
          <a:lstStyle/>
          <a:p>
            <a:r>
              <a:rPr lang="en-US" altLang="zh-CN" dirty="0" err="1">
                <a:latin typeface="黑体" panose="02010609060101010101" pitchFamily="49" charset="-122"/>
                <a:ea typeface="黑体" panose="02010609060101010101" pitchFamily="49" charset="-122"/>
              </a:rPr>
              <a:t>SVM</a:t>
            </a:r>
            <a:r>
              <a:rPr altLang="en-US" dirty="0" err="1">
                <a:latin typeface="黑体" panose="02010609060101010101" pitchFamily="49" charset="-122"/>
                <a:ea typeface="黑体" panose="02010609060101010101" pitchFamily="49" charset="-122"/>
              </a:rPr>
              <a:t>类别</a:t>
            </a:r>
            <a:endParaRPr altLang="zh-CN" dirty="0">
              <a:latin typeface="黑体" panose="02010609060101010101" pitchFamily="49" charset="-122"/>
              <a:ea typeface="黑体" panose="02010609060101010101" pitchFamily="49" charset="-122"/>
            </a:endParaRPr>
          </a:p>
        </p:txBody>
      </p:sp>
      <p:sp>
        <p:nvSpPr>
          <p:cNvPr id="54275" name="内容占位符 2"/>
          <p:cNvSpPr>
            <a:spLocks noGrp="1"/>
          </p:cNvSpPr>
          <p:nvPr>
            <p:ph idx="1"/>
          </p:nvPr>
        </p:nvSpPr>
        <p:spPr>
          <a:xfrm>
            <a:off x="144066" y="1701404"/>
            <a:ext cx="3546664" cy="3062753"/>
          </a:xfrm>
        </p:spPr>
        <p:txBody>
          <a:bodyPr vert="horz" lIns="91440" tIns="46800" rIns="91440" bIns="45720" rtlCol="0">
            <a:noAutofit/>
          </a:bodyPr>
          <a:lstStyle/>
          <a:p>
            <a:pPr>
              <a:lnSpc>
                <a:spcPct val="150000"/>
              </a:lnSpc>
            </a:pPr>
            <a:r>
              <a:rPr altLang="en-US" sz="2000" b="1" dirty="0">
                <a:latin typeface="黑体" panose="02010609060101010101" pitchFamily="49" charset="-122"/>
                <a:ea typeface="黑体" panose="02010609060101010101" pitchFamily="49" charset="-122"/>
              </a:rPr>
              <a:t>实线是由硬间隔最大化得到的，预测能力显然不及由软间隔最大化得到的虚线。</a:t>
            </a:r>
            <a:endParaRPr lang="en-US" altLang="zh-CN" sz="2000" b="1" dirty="0">
              <a:latin typeface="黑体" panose="02010609060101010101" pitchFamily="49" charset="-122"/>
              <a:ea typeface="黑体" panose="02010609060101010101" pitchFamily="49" charset="-122"/>
            </a:endParaRPr>
          </a:p>
        </p:txBody>
      </p:sp>
      <p:pic>
        <p:nvPicPr>
          <p:cNvPr id="54276"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4248150" y="1431131"/>
            <a:ext cx="3990975" cy="3833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线性不可分</a:t>
            </a:r>
            <a:endParaRPr lang="zh-CN" altLang="en-US"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p:txBody>
          <a:bodyPr>
            <a:normAutofit/>
          </a:bodyPr>
          <a:lstStyle/>
          <a:p>
            <a:pPr marL="0" indent="0">
              <a:buNone/>
            </a:pPr>
            <a:r>
              <a:rPr lang="en-US" altLang="zh-CN" b="1" dirty="0">
                <a:latin typeface="黑体" panose="02010609060101010101" pitchFamily="49" charset="-122"/>
                <a:ea typeface="黑体" panose="02010609060101010101" pitchFamily="49" charset="-122"/>
              </a:rPr>
              <a:t>-Q:</a:t>
            </a:r>
            <a:r>
              <a:rPr lang="zh-CN" altLang="en-US" b="1" dirty="0">
                <a:latin typeface="黑体" panose="02010609060101010101" pitchFamily="49" charset="-122"/>
                <a:ea typeface="黑体" panose="02010609060101010101" pitchFamily="49" charset="-122"/>
              </a:rPr>
              <a:t>若不存在一个能正确划分两类样本的超平面</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怎么办</a:t>
            </a:r>
            <a:r>
              <a:rPr lang="en-US" altLang="zh-CN" b="1" dirty="0">
                <a:latin typeface="黑体" panose="02010609060101010101" pitchFamily="49" charset="-122"/>
                <a:ea typeface="黑体" panose="02010609060101010101" pitchFamily="49" charset="-122"/>
              </a:rPr>
              <a:t>?</a:t>
            </a:r>
            <a:endParaRPr lang="en-US" altLang="zh-CN" b="1" dirty="0">
              <a:latin typeface="黑体" panose="02010609060101010101" pitchFamily="49" charset="-122"/>
              <a:ea typeface="黑体" panose="02010609060101010101" pitchFamily="49" charset="-122"/>
            </a:endParaRPr>
          </a:p>
          <a:p>
            <a:pPr marL="0" indent="0">
              <a:buNone/>
            </a:pPr>
            <a:r>
              <a:rPr lang="en-US" altLang="zh-CN" b="1" dirty="0">
                <a:latin typeface="黑体" panose="02010609060101010101" pitchFamily="49" charset="-122"/>
                <a:ea typeface="黑体" panose="02010609060101010101" pitchFamily="49" charset="-122"/>
              </a:rPr>
              <a:t>-A:</a:t>
            </a:r>
            <a:r>
              <a:rPr lang="zh-CN" altLang="en-US" b="1" dirty="0">
                <a:latin typeface="黑体" panose="02010609060101010101" pitchFamily="49" charset="-122"/>
                <a:ea typeface="黑体" panose="02010609060101010101" pitchFamily="49" charset="-122"/>
              </a:rPr>
              <a:t>将样本从原始空间映射到一个</a:t>
            </a:r>
            <a:r>
              <a:rPr lang="zh-CN" altLang="en-US" b="1" dirty="0">
                <a:solidFill>
                  <a:schemeClr val="tx2"/>
                </a:solidFill>
                <a:latin typeface="黑体" panose="02010609060101010101" pitchFamily="49" charset="-122"/>
                <a:ea typeface="黑体" panose="02010609060101010101" pitchFamily="49" charset="-122"/>
              </a:rPr>
              <a:t>更高维</a:t>
            </a:r>
            <a:r>
              <a:rPr lang="zh-CN" altLang="en-US" b="1" dirty="0">
                <a:latin typeface="黑体" panose="02010609060101010101" pitchFamily="49" charset="-122"/>
                <a:ea typeface="黑体" panose="02010609060101010101" pitchFamily="49" charset="-122"/>
              </a:rPr>
              <a:t>的特征空间</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使得样本在这个特征空间内线性可分</a:t>
            </a:r>
            <a:r>
              <a:rPr lang="en-US" altLang="zh-CN" b="1" dirty="0">
                <a:latin typeface="黑体" panose="02010609060101010101" pitchFamily="49" charset="-122"/>
                <a:ea typeface="黑体" panose="02010609060101010101" pitchFamily="49" charset="-122"/>
              </a:rPr>
              <a:t>.</a:t>
            </a:r>
            <a:endParaRPr lang="zh-CN" altLang="en-US" b="1" dirty="0">
              <a:latin typeface="黑体" panose="02010609060101010101" pitchFamily="49" charset="-122"/>
              <a:ea typeface="黑体" panose="02010609060101010101" pitchFamily="49" charset="-122"/>
            </a:endParaRPr>
          </a:p>
          <a:p>
            <a:pPr marL="0" indent="0">
              <a:buNone/>
            </a:pPr>
            <a:endParaRPr lang="en-US" altLang="zh-CN" dirty="0"/>
          </a:p>
        </p:txBody>
      </p:sp>
      <p:cxnSp>
        <p:nvCxnSpPr>
          <p:cNvPr id="4" name="直接箭头连接符 3"/>
          <p:cNvCxnSpPr/>
          <p:nvPr/>
        </p:nvCxnSpPr>
        <p:spPr>
          <a:xfrm flipH="1" flipV="1">
            <a:off x="1548673" y="3035347"/>
            <a:ext cx="0" cy="2160000"/>
          </a:xfrm>
          <a:prstGeom prst="straightConnector1">
            <a:avLst/>
          </a:prstGeom>
          <a:ln w="19050">
            <a:headEnd type="none" w="med" len="lg"/>
            <a:tailEnd type="triangle" w="lg" len="lg"/>
          </a:ln>
        </p:spPr>
        <p:style>
          <a:lnRef idx="1">
            <a:schemeClr val="dk1"/>
          </a:lnRef>
          <a:fillRef idx="0">
            <a:schemeClr val="dk1"/>
          </a:fillRef>
          <a:effectRef idx="0">
            <a:schemeClr val="dk1"/>
          </a:effectRef>
          <a:fontRef idx="minor">
            <a:schemeClr val="tx1"/>
          </a:fontRef>
        </p:style>
      </p:cxnSp>
      <p:cxnSp>
        <p:nvCxnSpPr>
          <p:cNvPr id="5" name="直接箭头连接符 4"/>
          <p:cNvCxnSpPr/>
          <p:nvPr/>
        </p:nvCxnSpPr>
        <p:spPr>
          <a:xfrm>
            <a:off x="1548673" y="5170549"/>
            <a:ext cx="2160000" cy="0"/>
          </a:xfrm>
          <a:prstGeom prst="straightConnector1">
            <a:avLst/>
          </a:prstGeom>
          <a:ln w="19050">
            <a:headEnd type="none" w="med" len="lg"/>
            <a:tailEnd type="triangle" w="lg" len="lg"/>
          </a:ln>
        </p:spPr>
        <p:style>
          <a:lnRef idx="1">
            <a:schemeClr val="dk1"/>
          </a:lnRef>
          <a:fillRef idx="0">
            <a:schemeClr val="dk1"/>
          </a:fillRef>
          <a:effectRef idx="0">
            <a:schemeClr val="dk1"/>
          </a:effectRef>
          <a:fontRef idx="minor">
            <a:schemeClr val="tx1"/>
          </a:fontRef>
        </p:style>
      </p:cxnSp>
      <p:grpSp>
        <p:nvGrpSpPr>
          <p:cNvPr id="6" name="组合 5"/>
          <p:cNvGrpSpPr/>
          <p:nvPr/>
        </p:nvGrpSpPr>
        <p:grpSpPr>
          <a:xfrm>
            <a:off x="1927659" y="3583524"/>
            <a:ext cx="1259870" cy="1238551"/>
            <a:chOff x="1772741" y="1770345"/>
            <a:chExt cx="1259870" cy="1238551"/>
          </a:xfrm>
        </p:grpSpPr>
        <p:grpSp>
          <p:nvGrpSpPr>
            <p:cNvPr id="7" name="组合 6"/>
            <p:cNvGrpSpPr/>
            <p:nvPr/>
          </p:nvGrpSpPr>
          <p:grpSpPr>
            <a:xfrm>
              <a:off x="2924611" y="2900896"/>
              <a:ext cx="108000" cy="108000"/>
              <a:chOff x="5476803" y="2392530"/>
              <a:chExt cx="108000" cy="108000"/>
            </a:xfrm>
          </p:grpSpPr>
          <p:cxnSp>
            <p:nvCxnSpPr>
              <p:cNvPr id="13" name="直接连接符 12"/>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4" name="直接连接符 13"/>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8" name="组合 7"/>
            <p:cNvGrpSpPr/>
            <p:nvPr/>
          </p:nvGrpSpPr>
          <p:grpSpPr>
            <a:xfrm>
              <a:off x="1772741" y="1770345"/>
              <a:ext cx="108000" cy="108000"/>
              <a:chOff x="5476803" y="2392530"/>
              <a:chExt cx="108000" cy="108000"/>
            </a:xfrm>
          </p:grpSpPr>
          <p:cxnSp>
            <p:nvCxnSpPr>
              <p:cNvPr id="11" name="直接连接符 10"/>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2" name="直接连接符 11"/>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cxnSp>
          <p:nvCxnSpPr>
            <p:cNvPr id="9" name="直接连接符 8"/>
            <p:cNvCxnSpPr/>
            <p:nvPr/>
          </p:nvCxnSpPr>
          <p:spPr>
            <a:xfrm>
              <a:off x="2924611" y="1824345"/>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0" name="直接连接符 9"/>
            <p:cNvCxnSpPr/>
            <p:nvPr/>
          </p:nvCxnSpPr>
          <p:spPr>
            <a:xfrm>
              <a:off x="1772741" y="2970574"/>
              <a:ext cx="108000" cy="0"/>
            </a:xfrm>
            <a:prstGeom prst="line">
              <a:avLst/>
            </a:prstGeom>
            <a:ln w="19050"/>
          </p:spPr>
          <p:style>
            <a:lnRef idx="1">
              <a:schemeClr val="dk1"/>
            </a:lnRef>
            <a:fillRef idx="0">
              <a:schemeClr val="dk1"/>
            </a:fillRef>
            <a:effectRef idx="0">
              <a:schemeClr val="dk1"/>
            </a:effectRef>
            <a:fontRef idx="minor">
              <a:schemeClr val="tx1"/>
            </a:fontRef>
          </p:style>
        </p:cxnSp>
      </p:grpSp>
      <p:sp>
        <p:nvSpPr>
          <p:cNvPr id="15" name="任意多边形 14"/>
          <p:cNvSpPr/>
          <p:nvPr/>
        </p:nvSpPr>
        <p:spPr>
          <a:xfrm rot="1472675">
            <a:off x="1814990" y="3507415"/>
            <a:ext cx="1869834" cy="1287549"/>
          </a:xfrm>
          <a:custGeom>
            <a:avLst/>
            <a:gdLst>
              <a:gd name="connsiteX0" fmla="*/ 440266 w 1856405"/>
              <a:gd name="connsiteY0" fmla="*/ 0 h 1821971"/>
              <a:gd name="connsiteX1" fmla="*/ 1851378 w 1856405"/>
              <a:gd name="connsiteY1" fmla="*/ 1749778 h 1821971"/>
              <a:gd name="connsiteX2" fmla="*/ 0 w 1856405"/>
              <a:gd name="connsiteY2" fmla="*/ 1512711 h 1821971"/>
              <a:gd name="connsiteX3" fmla="*/ 0 w 1856405"/>
              <a:gd name="connsiteY3" fmla="*/ 1512711 h 1821971"/>
            </a:gdLst>
            <a:ahLst/>
            <a:cxnLst>
              <a:cxn ang="0">
                <a:pos x="connsiteX0" y="connsiteY0"/>
              </a:cxn>
              <a:cxn ang="0">
                <a:pos x="connsiteX1" y="connsiteY1"/>
              </a:cxn>
              <a:cxn ang="0">
                <a:pos x="connsiteX2" y="connsiteY2"/>
              </a:cxn>
              <a:cxn ang="0">
                <a:pos x="connsiteX3" y="connsiteY3"/>
              </a:cxn>
            </a:cxnLst>
            <a:rect l="l" t="t" r="r" b="b"/>
            <a:pathLst>
              <a:path w="1856405" h="1821971">
                <a:moveTo>
                  <a:pt x="440266" y="0"/>
                </a:moveTo>
                <a:cubicBezTo>
                  <a:pt x="1182511" y="748830"/>
                  <a:pt x="1924756" y="1497660"/>
                  <a:pt x="1851378" y="1749778"/>
                </a:cubicBezTo>
                <a:cubicBezTo>
                  <a:pt x="1778000" y="2001896"/>
                  <a:pt x="0" y="1512711"/>
                  <a:pt x="0" y="1512711"/>
                </a:cubicBezTo>
                <a:lnTo>
                  <a:pt x="0" y="1512711"/>
                </a:lnTo>
              </a:path>
            </a:pathLst>
          </a:cu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6" name="组合 15"/>
          <p:cNvGrpSpPr/>
          <p:nvPr/>
        </p:nvGrpSpPr>
        <p:grpSpPr>
          <a:xfrm>
            <a:off x="5557148" y="2893287"/>
            <a:ext cx="2589902" cy="2647028"/>
            <a:chOff x="4882943" y="976705"/>
            <a:chExt cx="2589902" cy="2647028"/>
          </a:xfrm>
        </p:grpSpPr>
        <p:cxnSp>
          <p:nvCxnSpPr>
            <p:cNvPr id="17" name="直接箭头连接符 16"/>
            <p:cNvCxnSpPr/>
            <p:nvPr/>
          </p:nvCxnSpPr>
          <p:spPr>
            <a:xfrm flipH="1" flipV="1">
              <a:off x="5681042" y="976705"/>
              <a:ext cx="0" cy="1800000"/>
            </a:xfrm>
            <a:prstGeom prst="straightConnector1">
              <a:avLst/>
            </a:prstGeom>
            <a:ln w="19050">
              <a:headEnd type="none" w="med" len="lg"/>
              <a:tailEnd type="triangle" w="lg" len="lg"/>
            </a:ln>
          </p:spPr>
          <p:style>
            <a:lnRef idx="1">
              <a:schemeClr val="dk1"/>
            </a:lnRef>
            <a:fillRef idx="0">
              <a:schemeClr val="dk1"/>
            </a:fillRef>
            <a:effectRef idx="0">
              <a:schemeClr val="dk1"/>
            </a:effectRef>
            <a:fontRef idx="minor">
              <a:schemeClr val="tx1"/>
            </a:fontRef>
          </p:style>
        </p:cxnSp>
        <p:cxnSp>
          <p:nvCxnSpPr>
            <p:cNvPr id="18" name="直接箭头连接符 17"/>
            <p:cNvCxnSpPr/>
            <p:nvPr/>
          </p:nvCxnSpPr>
          <p:spPr>
            <a:xfrm>
              <a:off x="5672845" y="2774272"/>
              <a:ext cx="1800000" cy="0"/>
            </a:xfrm>
            <a:prstGeom prst="straightConnector1">
              <a:avLst/>
            </a:prstGeom>
            <a:ln w="19050">
              <a:headEnd type="none" w="med" len="lg"/>
              <a:tailEnd type="triangle" w="lg" len="lg"/>
            </a:ln>
          </p:spPr>
          <p:style>
            <a:lnRef idx="1">
              <a:schemeClr val="dk1"/>
            </a:lnRef>
            <a:fillRef idx="0">
              <a:schemeClr val="dk1"/>
            </a:fillRef>
            <a:effectRef idx="0">
              <a:schemeClr val="dk1"/>
            </a:effectRef>
            <a:fontRef idx="minor">
              <a:schemeClr val="tx1"/>
            </a:fontRef>
          </p:style>
        </p:cxnSp>
        <p:cxnSp>
          <p:nvCxnSpPr>
            <p:cNvPr id="19" name="直接箭头连接符 18"/>
            <p:cNvCxnSpPr/>
            <p:nvPr/>
          </p:nvCxnSpPr>
          <p:spPr>
            <a:xfrm flipH="1">
              <a:off x="4882943" y="2774212"/>
              <a:ext cx="802679" cy="849521"/>
            </a:xfrm>
            <a:prstGeom prst="straightConnector1">
              <a:avLst/>
            </a:prstGeom>
            <a:ln w="19050">
              <a:headEnd type="none" w="med" len="lg"/>
              <a:tailEnd type="triangle" w="lg" len="lg"/>
            </a:ln>
          </p:spPr>
          <p:style>
            <a:lnRef idx="1">
              <a:schemeClr val="dk1"/>
            </a:lnRef>
            <a:fillRef idx="0">
              <a:schemeClr val="dk1"/>
            </a:fillRef>
            <a:effectRef idx="0">
              <a:schemeClr val="dk1"/>
            </a:effectRef>
            <a:fontRef idx="minor">
              <a:schemeClr val="tx1"/>
            </a:fontRef>
          </p:style>
        </p:cxnSp>
        <p:grpSp>
          <p:nvGrpSpPr>
            <p:cNvPr id="20" name="组合 19"/>
            <p:cNvGrpSpPr/>
            <p:nvPr/>
          </p:nvGrpSpPr>
          <p:grpSpPr>
            <a:xfrm>
              <a:off x="5183915" y="3189965"/>
              <a:ext cx="144000" cy="144000"/>
              <a:chOff x="7101657" y="1465531"/>
              <a:chExt cx="144000" cy="144000"/>
            </a:xfrm>
          </p:grpSpPr>
          <p:sp>
            <p:nvSpPr>
              <p:cNvPr id="41" name="椭圆 40"/>
              <p:cNvSpPr/>
              <p:nvPr/>
            </p:nvSpPr>
            <p:spPr>
              <a:xfrm>
                <a:off x="7101657" y="1465531"/>
                <a:ext cx="144000" cy="144000"/>
              </a:xfrm>
              <a:prstGeom prst="ellipse">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2" name="组合 41"/>
              <p:cNvGrpSpPr/>
              <p:nvPr/>
            </p:nvGrpSpPr>
            <p:grpSpPr>
              <a:xfrm>
                <a:off x="7120045" y="1481721"/>
                <a:ext cx="108000" cy="108000"/>
                <a:chOff x="5476803" y="2392530"/>
                <a:chExt cx="108000" cy="108000"/>
              </a:xfrm>
            </p:grpSpPr>
            <p:cxnSp>
              <p:nvCxnSpPr>
                <p:cNvPr id="43" name="直接连接符 42"/>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44" name="直接连接符 43"/>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cxnSp>
          <p:nvCxnSpPr>
            <p:cNvPr id="21" name="直接箭头连接符 20"/>
            <p:cNvCxnSpPr/>
            <p:nvPr/>
          </p:nvCxnSpPr>
          <p:spPr>
            <a:xfrm flipH="1">
              <a:off x="5249077" y="1769551"/>
              <a:ext cx="455344" cy="487923"/>
            </a:xfrm>
            <a:prstGeom prst="straightConnector1">
              <a:avLst/>
            </a:prstGeom>
            <a:ln w="9525">
              <a:prstDash val="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2" name="直接箭头连接符 21"/>
            <p:cNvCxnSpPr/>
            <p:nvPr/>
          </p:nvCxnSpPr>
          <p:spPr>
            <a:xfrm>
              <a:off x="5249077" y="2273664"/>
              <a:ext cx="6838" cy="886843"/>
            </a:xfrm>
            <a:prstGeom prst="straightConnector1">
              <a:avLst/>
            </a:prstGeom>
            <a:ln w="9525">
              <a:prstDash val="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3" name="直接箭头连接符 22"/>
            <p:cNvCxnSpPr/>
            <p:nvPr/>
          </p:nvCxnSpPr>
          <p:spPr>
            <a:xfrm>
              <a:off x="6646110" y="1816416"/>
              <a:ext cx="6838" cy="972000"/>
            </a:xfrm>
            <a:prstGeom prst="straightConnector1">
              <a:avLst/>
            </a:prstGeom>
            <a:ln w="9525">
              <a:prstDash val="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4" name="直接箭头连接符 23"/>
            <p:cNvCxnSpPr/>
            <p:nvPr/>
          </p:nvCxnSpPr>
          <p:spPr>
            <a:xfrm flipH="1" flipV="1">
              <a:off x="5693933" y="1790153"/>
              <a:ext cx="936000" cy="3710"/>
            </a:xfrm>
            <a:prstGeom prst="straightConnector1">
              <a:avLst/>
            </a:prstGeom>
            <a:ln w="9525">
              <a:prstDash val="dash"/>
              <a:headEnd type="none" w="med" len="med"/>
              <a:tailEnd type="none" w="med" len="med"/>
            </a:ln>
          </p:spPr>
          <p:style>
            <a:lnRef idx="1">
              <a:schemeClr val="dk1"/>
            </a:lnRef>
            <a:fillRef idx="0">
              <a:schemeClr val="dk1"/>
            </a:fillRef>
            <a:effectRef idx="0">
              <a:schemeClr val="dk1"/>
            </a:effectRef>
            <a:fontRef idx="minor">
              <a:schemeClr val="tx1"/>
            </a:fontRef>
          </p:style>
        </p:cxnSp>
        <p:grpSp>
          <p:nvGrpSpPr>
            <p:cNvPr id="25" name="组合 24"/>
            <p:cNvGrpSpPr/>
            <p:nvPr/>
          </p:nvGrpSpPr>
          <p:grpSpPr>
            <a:xfrm>
              <a:off x="5619505" y="1712961"/>
              <a:ext cx="144000" cy="144000"/>
              <a:chOff x="7101657" y="1465531"/>
              <a:chExt cx="144000" cy="144000"/>
            </a:xfrm>
          </p:grpSpPr>
          <p:sp>
            <p:nvSpPr>
              <p:cNvPr id="37" name="椭圆 36"/>
              <p:cNvSpPr/>
              <p:nvPr/>
            </p:nvSpPr>
            <p:spPr>
              <a:xfrm>
                <a:off x="7101657" y="1465531"/>
                <a:ext cx="144000" cy="144000"/>
              </a:xfrm>
              <a:prstGeom prst="ellipse">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8" name="组合 37"/>
              <p:cNvGrpSpPr/>
              <p:nvPr/>
            </p:nvGrpSpPr>
            <p:grpSpPr>
              <a:xfrm>
                <a:off x="7120045" y="1481721"/>
                <a:ext cx="108000" cy="108000"/>
                <a:chOff x="5476803" y="2392530"/>
                <a:chExt cx="108000" cy="108000"/>
              </a:xfrm>
            </p:grpSpPr>
            <p:cxnSp>
              <p:nvCxnSpPr>
                <p:cNvPr id="39" name="直接连接符 38"/>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40" name="直接连接符 39"/>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cxnSp>
          <p:nvCxnSpPr>
            <p:cNvPr id="26" name="直接箭头连接符 25"/>
            <p:cNvCxnSpPr/>
            <p:nvPr/>
          </p:nvCxnSpPr>
          <p:spPr>
            <a:xfrm flipH="1" flipV="1">
              <a:off x="5249077" y="3238588"/>
              <a:ext cx="936000" cy="3710"/>
            </a:xfrm>
            <a:prstGeom prst="straightConnector1">
              <a:avLst/>
            </a:prstGeom>
            <a:ln w="9525">
              <a:prstDash val="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7" name="直接箭头连接符 26"/>
            <p:cNvCxnSpPr/>
            <p:nvPr/>
          </p:nvCxnSpPr>
          <p:spPr>
            <a:xfrm flipH="1">
              <a:off x="6192303" y="2752000"/>
              <a:ext cx="455344" cy="487923"/>
            </a:xfrm>
            <a:prstGeom prst="straightConnector1">
              <a:avLst/>
            </a:prstGeom>
            <a:ln w="9525">
              <a:prstDash val="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8" name="直接箭头连接符 27"/>
            <p:cNvCxnSpPr/>
            <p:nvPr/>
          </p:nvCxnSpPr>
          <p:spPr>
            <a:xfrm flipH="1" flipV="1">
              <a:off x="5249077" y="2262477"/>
              <a:ext cx="936000" cy="3710"/>
            </a:xfrm>
            <a:prstGeom prst="straightConnector1">
              <a:avLst/>
            </a:prstGeom>
            <a:ln w="9525">
              <a:prstDash val="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9" name="直接箭头连接符 28"/>
            <p:cNvCxnSpPr/>
            <p:nvPr/>
          </p:nvCxnSpPr>
          <p:spPr>
            <a:xfrm>
              <a:off x="6196220" y="2266000"/>
              <a:ext cx="6838" cy="972000"/>
            </a:xfrm>
            <a:prstGeom prst="straightConnector1">
              <a:avLst/>
            </a:prstGeom>
            <a:ln w="9525">
              <a:prstDash val="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0" name="直接箭头连接符 29"/>
            <p:cNvCxnSpPr/>
            <p:nvPr/>
          </p:nvCxnSpPr>
          <p:spPr>
            <a:xfrm flipH="1">
              <a:off x="6192303" y="1798427"/>
              <a:ext cx="455344" cy="487923"/>
            </a:xfrm>
            <a:prstGeom prst="straightConnector1">
              <a:avLst/>
            </a:prstGeom>
            <a:ln w="9525">
              <a:prstDash val="dash"/>
              <a:headEnd type="none" w="med" len="med"/>
              <a:tailEnd type="none" w="med" len="med"/>
            </a:ln>
          </p:spPr>
          <p:style>
            <a:lnRef idx="1">
              <a:schemeClr val="dk1"/>
            </a:lnRef>
            <a:fillRef idx="0">
              <a:schemeClr val="dk1"/>
            </a:fillRef>
            <a:effectRef idx="0">
              <a:schemeClr val="dk1"/>
            </a:effectRef>
            <a:fontRef idx="minor">
              <a:schemeClr val="tx1"/>
            </a:fontRef>
          </p:style>
        </p:cxnSp>
        <p:grpSp>
          <p:nvGrpSpPr>
            <p:cNvPr id="31" name="组合 30"/>
            <p:cNvGrpSpPr/>
            <p:nvPr/>
          </p:nvGrpSpPr>
          <p:grpSpPr>
            <a:xfrm>
              <a:off x="6127639" y="2212067"/>
              <a:ext cx="144000" cy="144000"/>
              <a:chOff x="7101657" y="1465531"/>
              <a:chExt cx="144000" cy="144000"/>
            </a:xfrm>
          </p:grpSpPr>
          <p:sp>
            <p:nvSpPr>
              <p:cNvPr id="35" name="椭圆 34"/>
              <p:cNvSpPr/>
              <p:nvPr/>
            </p:nvSpPr>
            <p:spPr>
              <a:xfrm>
                <a:off x="7101657" y="1465531"/>
                <a:ext cx="144000" cy="144000"/>
              </a:xfrm>
              <a:prstGeom prst="ellipse">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6" name="直接连接符 35"/>
              <p:cNvCxnSpPr/>
              <p:nvPr/>
            </p:nvCxnSpPr>
            <p:spPr>
              <a:xfrm>
                <a:off x="7120045" y="1535721"/>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32" name="组合 31"/>
            <p:cNvGrpSpPr/>
            <p:nvPr/>
          </p:nvGrpSpPr>
          <p:grpSpPr>
            <a:xfrm>
              <a:off x="5637893" y="2677645"/>
              <a:ext cx="144000" cy="144000"/>
              <a:chOff x="7101657" y="1465531"/>
              <a:chExt cx="144000" cy="144000"/>
            </a:xfrm>
          </p:grpSpPr>
          <p:sp>
            <p:nvSpPr>
              <p:cNvPr id="33" name="椭圆 32"/>
              <p:cNvSpPr/>
              <p:nvPr/>
            </p:nvSpPr>
            <p:spPr>
              <a:xfrm>
                <a:off x="7101657" y="1465531"/>
                <a:ext cx="144000" cy="144000"/>
              </a:xfrm>
              <a:prstGeom prst="ellipse">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4" name="直接连接符 33"/>
              <p:cNvCxnSpPr/>
              <p:nvPr/>
            </p:nvCxnSpPr>
            <p:spPr>
              <a:xfrm>
                <a:off x="7120045" y="1535721"/>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cxnSp>
        <p:nvCxnSpPr>
          <p:cNvPr id="45" name="直接连接符 44"/>
          <p:cNvCxnSpPr/>
          <p:nvPr/>
        </p:nvCxnSpPr>
        <p:spPr>
          <a:xfrm>
            <a:off x="6540046" y="3695957"/>
            <a:ext cx="67241" cy="50400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flipH="1">
            <a:off x="6092755" y="4196904"/>
            <a:ext cx="517392" cy="948152"/>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flipH="1">
            <a:off x="6355247" y="3715009"/>
            <a:ext cx="177068" cy="293756"/>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6065938" y="4967591"/>
            <a:ext cx="23944" cy="188216"/>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flipH="1">
            <a:off x="6060048" y="4018879"/>
            <a:ext cx="287973" cy="970471"/>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50" name="任意多边形 49"/>
          <p:cNvSpPr/>
          <p:nvPr/>
        </p:nvSpPr>
        <p:spPr>
          <a:xfrm>
            <a:off x="6069589" y="3700137"/>
            <a:ext cx="538163" cy="1452563"/>
          </a:xfrm>
          <a:custGeom>
            <a:avLst/>
            <a:gdLst>
              <a:gd name="connsiteX0" fmla="*/ 466725 w 538163"/>
              <a:gd name="connsiteY0" fmla="*/ 0 h 1452563"/>
              <a:gd name="connsiteX1" fmla="*/ 538163 w 538163"/>
              <a:gd name="connsiteY1" fmla="*/ 490538 h 1452563"/>
              <a:gd name="connsiteX2" fmla="*/ 23813 w 538163"/>
              <a:gd name="connsiteY2" fmla="*/ 1452563 h 1452563"/>
              <a:gd name="connsiteX3" fmla="*/ 0 w 538163"/>
              <a:gd name="connsiteY3" fmla="*/ 1285875 h 1452563"/>
              <a:gd name="connsiteX4" fmla="*/ 285750 w 538163"/>
              <a:gd name="connsiteY4" fmla="*/ 309563 h 1452563"/>
              <a:gd name="connsiteX5" fmla="*/ 466725 w 538163"/>
              <a:gd name="connsiteY5" fmla="*/ 0 h 1452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8163" h="1452563">
                <a:moveTo>
                  <a:pt x="466725" y="0"/>
                </a:moveTo>
                <a:lnTo>
                  <a:pt x="538163" y="490538"/>
                </a:lnTo>
                <a:lnTo>
                  <a:pt x="23813" y="1452563"/>
                </a:lnTo>
                <a:lnTo>
                  <a:pt x="0" y="1285875"/>
                </a:lnTo>
                <a:lnTo>
                  <a:pt x="285750" y="309563"/>
                </a:lnTo>
                <a:lnTo>
                  <a:pt x="466725" y="0"/>
                </a:lnTo>
                <a:close/>
              </a:path>
            </a:pathLst>
          </a:custGeom>
          <a:solidFill>
            <a:srgbClr val="FF0000">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51" name="对象 50"/>
          <p:cNvGraphicFramePr>
            <a:graphicFrameLocks noChangeAspect="1"/>
          </p:cNvGraphicFramePr>
          <p:nvPr/>
        </p:nvGraphicFramePr>
        <p:xfrm>
          <a:off x="4118659" y="3724608"/>
          <a:ext cx="1022270" cy="288000"/>
        </p:xfrm>
        <a:graphic>
          <a:graphicData uri="http://schemas.openxmlformats.org/presentationml/2006/ole">
            <mc:AlternateContent xmlns:mc="http://schemas.openxmlformats.org/markup-compatibility/2006">
              <mc:Choice xmlns:v="urn:schemas-microsoft-com:vml" Requires="v">
                <p:oleObj spid="_x0000_s52" name="Formula" r:id="rId1" imgW="4733925" imgH="1333500" progId="Equation.Ribbit">
                  <p:embed/>
                </p:oleObj>
              </mc:Choice>
              <mc:Fallback>
                <p:oleObj name="Formula" r:id="rId1" imgW="4733925" imgH="1333500" progId="Equation.Ribbit">
                  <p:embed/>
                  <p:pic>
                    <p:nvPicPr>
                      <p:cNvPr id="0" name="图片 51"/>
                      <p:cNvPicPr/>
                      <p:nvPr/>
                    </p:nvPicPr>
                    <p:blipFill>
                      <a:blip r:embed="rId2"/>
                      <a:stretch>
                        <a:fillRect/>
                      </a:stretch>
                    </p:blipFill>
                    <p:spPr>
                      <a:xfrm>
                        <a:off x="4118659" y="3724608"/>
                        <a:ext cx="1022270" cy="288000"/>
                      </a:xfrm>
                      <a:prstGeom prst="rect">
                        <a:avLst/>
                      </a:prstGeom>
                    </p:spPr>
                  </p:pic>
                </p:oleObj>
              </mc:Fallback>
            </mc:AlternateContent>
          </a:graphicData>
        </a:graphic>
      </p:graphicFrame>
      <p:sp>
        <p:nvSpPr>
          <p:cNvPr id="53" name="右箭头 52"/>
          <p:cNvSpPr/>
          <p:nvPr/>
        </p:nvSpPr>
        <p:spPr>
          <a:xfrm>
            <a:off x="3972437" y="4098386"/>
            <a:ext cx="1429946" cy="231976"/>
          </a:xfrm>
          <a:prstGeom prst="rightArrow">
            <a:avLst>
              <a:gd name="adj1" fmla="val 26304"/>
              <a:gd name="adj2" fmla="val 7988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ph type="title"/>
          </p:nvPr>
        </p:nvSpPr>
        <p:spPr>
          <a:xfrm>
            <a:off x="197644" y="189827"/>
            <a:ext cx="7886700" cy="570310"/>
          </a:xfrm>
        </p:spPr>
        <p:txBody>
          <a:bodyPr vert="horz" lIns="91440" tIns="45720" rIns="91440" bIns="45720" rtlCol="0" anchor="ctr">
            <a:normAutofit fontScale="90000"/>
          </a:bodyPr>
          <a:lstStyle/>
          <a:p>
            <a:r>
              <a:rPr lang="zh-CN" altLang="en-US" dirty="0">
                <a:latin typeface="黑体" panose="02010609060101010101" pitchFamily="49" charset="-122"/>
                <a:ea typeface="黑体" panose="02010609060101010101" pitchFamily="49" charset="-122"/>
              </a:rPr>
              <a:t>线性不可分</a:t>
            </a:r>
            <a:endParaRPr altLang="zh-CN" dirty="0">
              <a:latin typeface="黑体" panose="02010609060101010101" pitchFamily="49" charset="-122"/>
              <a:ea typeface="黑体" panose="02010609060101010101" pitchFamily="49" charset="-122"/>
            </a:endParaRPr>
          </a:p>
        </p:txBody>
      </p:sp>
      <mc:AlternateContent xmlns:mc="http://schemas.openxmlformats.org/markup-compatibility/2006">
        <mc:Choice xmlns:a14="http://schemas.microsoft.com/office/drawing/2010/main" Requires="a14">
          <p:sp>
            <p:nvSpPr>
              <p:cNvPr id="55299" name="内容占位符 2"/>
              <p:cNvSpPr>
                <a:spLocks noGrp="1"/>
              </p:cNvSpPr>
              <p:nvPr>
                <p:ph idx="1"/>
              </p:nvPr>
            </p:nvSpPr>
            <p:spPr>
              <a:xfrm>
                <a:off x="104879" y="970204"/>
                <a:ext cx="4168947" cy="4801118"/>
              </a:xfrm>
            </p:spPr>
            <p:txBody>
              <a:bodyPr vert="horz" lIns="91440" tIns="46800" rIns="91440" bIns="45720" rtlCol="0">
                <a:noAutofit/>
              </a:bodyPr>
              <a:lstStyle/>
              <a:p>
                <a:pPr>
                  <a:lnSpc>
                    <a:spcPct val="150000"/>
                  </a:lnSpc>
                </a:pPr>
                <a:r>
                  <a:rPr lang="zh-CN" altLang="en-US" sz="2000" b="1" dirty="0">
                    <a:latin typeface="黑体" panose="02010609060101010101" pitchFamily="49" charset="-122"/>
                    <a:ea typeface="黑体" panose="02010609060101010101" pitchFamily="49" charset="-122"/>
                  </a:rPr>
                  <a:t>直线不能很好的分开红点和蓝点。但是可以用一个介于红点与蓝点之间的类似圆的曲线将二者分开：</a:t>
                </a:r>
                <a:endParaRPr lang="zh-CN" altLang="en-US" sz="2000" b="1" dirty="0">
                  <a:latin typeface="黑体" panose="02010609060101010101" pitchFamily="49" charset="-122"/>
                  <a:ea typeface="黑体" panose="02010609060101010101" pitchFamily="49" charset="-122"/>
                </a:endParaRPr>
              </a:p>
              <a:p>
                <a:pPr>
                  <a:lnSpc>
                    <a:spcPct val="150000"/>
                  </a:lnSpc>
                </a:pPr>
                <a:r>
                  <a:rPr lang="zh-CN" altLang="en-US" sz="2000" b="1" dirty="0">
                    <a:latin typeface="黑体" panose="02010609060101010101" pitchFamily="49" charset="-122"/>
                    <a:ea typeface="黑体" panose="02010609060101010101" pitchFamily="49" charset="-122"/>
                  </a:rPr>
                  <a:t>假设这个黄色的曲线就是圆，不妨设其方程为</a:t>
                </a:r>
                <a14:m>
                  <m:oMath xmlns:m="http://schemas.openxmlformats.org/officeDocument/2006/math">
                    <m:sSup>
                      <m:sSupPr>
                        <m:ctrlPr>
                          <a:rPr lang="zh-CN" altLang="en-US" sz="2000" b="1" i="1" smtClean="0">
                            <a:latin typeface="Cambria Math" panose="02040503050406030204" pitchFamily="18" charset="0"/>
                            <a:ea typeface="黑体" panose="02010609060101010101" pitchFamily="49" charset="-122"/>
                          </a:rPr>
                        </m:ctrlPr>
                      </m:sSupPr>
                      <m:e>
                        <m:r>
                          <a:rPr lang="zh-CN" altLang="en-US" sz="2000" b="1" i="1" smtClean="0">
                            <a:latin typeface="Cambria Math" panose="02040503050406030204" pitchFamily="18" charset="0"/>
                            <a:ea typeface="黑体" panose="02010609060101010101" pitchFamily="49" charset="-122"/>
                          </a:rPr>
                          <m:t>𝒙</m:t>
                        </m:r>
                      </m:e>
                      <m:sup>
                        <m:r>
                          <a:rPr lang="zh-CN" altLang="en-US" sz="2000" b="1" i="1" smtClean="0">
                            <a:latin typeface="Cambria Math" panose="02040503050406030204" pitchFamily="18" charset="0"/>
                            <a:ea typeface="黑体" panose="02010609060101010101" pitchFamily="49" charset="-122"/>
                          </a:rPr>
                          <m:t>𝟐</m:t>
                        </m:r>
                      </m:sup>
                    </m:sSup>
                    <m:r>
                      <a:rPr lang="en-US" altLang="zh-CN" sz="2000" b="1" i="1" smtClean="0">
                        <a:latin typeface="Cambria Math" panose="02040503050406030204" pitchFamily="18" charset="0"/>
                        <a:ea typeface="黑体" panose="02010609060101010101" pitchFamily="49" charset="-122"/>
                      </a:rPr>
                      <m:t>+</m:t>
                    </m:r>
                    <m:sSup>
                      <m:sSupPr>
                        <m:ctrlPr>
                          <a:rPr lang="zh-CN" altLang="en-US" sz="2000" b="1" i="1" smtClean="0">
                            <a:latin typeface="Cambria Math" panose="02040503050406030204" pitchFamily="18" charset="0"/>
                            <a:ea typeface="黑体" panose="02010609060101010101" pitchFamily="49" charset="-122"/>
                          </a:rPr>
                        </m:ctrlPr>
                      </m:sSupPr>
                      <m:e>
                        <m:r>
                          <a:rPr lang="en-US" altLang="zh-CN" sz="2000" b="1" i="1" smtClean="0">
                            <a:latin typeface="Cambria Math" panose="02040503050406030204" pitchFamily="18" charset="0"/>
                            <a:ea typeface="黑体" panose="02010609060101010101" pitchFamily="49" charset="-122"/>
                          </a:rPr>
                          <m:t>𝒚</m:t>
                        </m:r>
                      </m:e>
                      <m:sup>
                        <m:r>
                          <a:rPr lang="zh-CN" altLang="en-US" sz="2000" b="1" i="1" smtClean="0">
                            <a:latin typeface="Cambria Math" panose="02040503050406030204" pitchFamily="18" charset="0"/>
                            <a:ea typeface="黑体" panose="02010609060101010101" pitchFamily="49" charset="-122"/>
                          </a:rPr>
                          <m:t>𝟐</m:t>
                        </m:r>
                      </m:sup>
                    </m:sSup>
                    <m:r>
                      <a:rPr lang="en-US" altLang="zh-CN" sz="2000" b="1" i="1" smtClean="0">
                        <a:latin typeface="Cambria Math" panose="02040503050406030204" pitchFamily="18" charset="0"/>
                        <a:ea typeface="黑体" panose="02010609060101010101" pitchFamily="49" charset="-122"/>
                      </a:rPr>
                      <m:t>=</m:t>
                    </m:r>
                    <m:r>
                      <a:rPr lang="en-US" altLang="zh-CN" sz="2000" b="1" i="1" smtClean="0">
                        <a:latin typeface="Cambria Math" panose="02040503050406030204" pitchFamily="18" charset="0"/>
                        <a:ea typeface="黑体" panose="02010609060101010101" pitchFamily="49" charset="-122"/>
                      </a:rPr>
                      <m:t>𝟏</m:t>
                    </m:r>
                  </m:oMath>
                </a14:m>
                <a:r>
                  <a:rPr lang="zh-CN" altLang="en-US" sz="2000" b="1" dirty="0">
                    <a:latin typeface="黑体" panose="02010609060101010101" pitchFamily="49" charset="-122"/>
                    <a:ea typeface="黑体" panose="02010609060101010101" pitchFamily="49" charset="-122"/>
                  </a:rPr>
                  <a:t>。将</a:t>
                </a:r>
                <a14:m>
                  <m:oMath xmlns:m="http://schemas.openxmlformats.org/officeDocument/2006/math">
                    <m:sSup>
                      <m:sSupPr>
                        <m:ctrlPr>
                          <a:rPr lang="zh-CN" altLang="en-US" sz="2000" b="1" i="1">
                            <a:latin typeface="Cambria Math" panose="02040503050406030204" pitchFamily="18" charset="0"/>
                            <a:ea typeface="黑体" panose="02010609060101010101" pitchFamily="49" charset="-122"/>
                          </a:rPr>
                        </m:ctrlPr>
                      </m:sSupPr>
                      <m:e>
                        <m:r>
                          <a:rPr lang="zh-CN" altLang="en-US" sz="2000" b="1" i="1">
                            <a:latin typeface="Cambria Math" panose="02040503050406030204" pitchFamily="18" charset="0"/>
                            <a:ea typeface="黑体" panose="02010609060101010101" pitchFamily="49" charset="-122"/>
                          </a:rPr>
                          <m:t>𝒙</m:t>
                        </m:r>
                      </m:e>
                      <m:sup>
                        <m:r>
                          <a:rPr lang="zh-CN" altLang="en-US" sz="2000" b="1" i="1">
                            <a:latin typeface="Cambria Math" panose="02040503050406030204" pitchFamily="18" charset="0"/>
                            <a:ea typeface="黑体" panose="02010609060101010101" pitchFamily="49" charset="-122"/>
                          </a:rPr>
                          <m:t>𝟐</m:t>
                        </m:r>
                      </m:sup>
                    </m:sSup>
                  </m:oMath>
                </a14:m>
                <a:r>
                  <a:rPr lang="zh-CN" altLang="en-US" sz="2000" b="1" dirty="0">
                    <a:latin typeface="黑体" panose="02010609060101010101" pitchFamily="49" charset="-122"/>
                    <a:ea typeface="黑体" panose="02010609060101010101" pitchFamily="49" charset="-122"/>
                  </a:rPr>
                  <a:t>映射为</a:t>
                </a:r>
                <a:r>
                  <a:rPr lang="en-US" altLang="zh-CN" sz="2000" b="1" dirty="0">
                    <a:latin typeface="黑体" panose="02010609060101010101" pitchFamily="49" charset="-122"/>
                    <a:ea typeface="黑体" panose="02010609060101010101" pitchFamily="49" charset="-122"/>
                  </a:rPr>
                  <a:t>X</a:t>
                </a:r>
                <a:r>
                  <a:rPr lang="zh-CN" altLang="en-US" sz="2000" b="1" dirty="0">
                    <a:latin typeface="黑体" panose="02010609060101010101" pitchFamily="49" charset="-122"/>
                    <a:ea typeface="黑体" panose="02010609060101010101" pitchFamily="49" charset="-122"/>
                  </a:rPr>
                  <a:t>，</a:t>
                </a:r>
                <a14:m>
                  <m:oMath xmlns:m="http://schemas.openxmlformats.org/officeDocument/2006/math">
                    <m:sSup>
                      <m:sSupPr>
                        <m:ctrlPr>
                          <a:rPr lang="zh-CN" altLang="en-US" sz="2000" b="1" i="1">
                            <a:latin typeface="Cambria Math" panose="02040503050406030204" pitchFamily="18" charset="0"/>
                            <a:ea typeface="黑体" panose="02010609060101010101" pitchFamily="49" charset="-122"/>
                          </a:rPr>
                        </m:ctrlPr>
                      </m:sSupPr>
                      <m:e>
                        <m:r>
                          <a:rPr lang="en-US" altLang="zh-CN" sz="2000" b="1" i="1">
                            <a:latin typeface="Cambria Math" panose="02040503050406030204" pitchFamily="18" charset="0"/>
                            <a:ea typeface="黑体" panose="02010609060101010101" pitchFamily="49" charset="-122"/>
                          </a:rPr>
                          <m:t>𝒚</m:t>
                        </m:r>
                      </m:e>
                      <m:sup>
                        <m:r>
                          <a:rPr lang="zh-CN" altLang="en-US" sz="2000" b="1" i="1">
                            <a:latin typeface="Cambria Math" panose="02040503050406030204" pitchFamily="18" charset="0"/>
                            <a:ea typeface="黑体" panose="02010609060101010101" pitchFamily="49" charset="-122"/>
                          </a:rPr>
                          <m:t>𝟐</m:t>
                        </m:r>
                      </m:sup>
                    </m:sSup>
                  </m:oMath>
                </a14:m>
                <a:r>
                  <a:rPr lang="zh-CN" altLang="en-US" sz="2000" b="1" dirty="0">
                    <a:latin typeface="黑体" panose="02010609060101010101" pitchFamily="49" charset="-122"/>
                    <a:ea typeface="黑体" panose="02010609060101010101" pitchFamily="49" charset="-122"/>
                  </a:rPr>
                  <a:t>映射为</a:t>
                </a:r>
                <a:r>
                  <a:rPr lang="en-US" altLang="zh-CN" sz="2000" b="1" dirty="0">
                    <a:latin typeface="黑体" panose="02010609060101010101" pitchFamily="49" charset="-122"/>
                    <a:ea typeface="黑体" panose="02010609060101010101" pitchFamily="49" charset="-122"/>
                  </a:rPr>
                  <a:t>Y</a:t>
                </a:r>
                <a:r>
                  <a:rPr lang="zh-CN" altLang="en-US" sz="2000" b="1" dirty="0">
                    <a:latin typeface="黑体" panose="02010609060101010101" pitchFamily="49" charset="-122"/>
                    <a:ea typeface="黑体" panose="02010609060101010101" pitchFamily="49" charset="-122"/>
                  </a:rPr>
                  <a:t>，那么超平面变成了</a:t>
                </a:r>
                <a:r>
                  <a:rPr lang="en-US" altLang="zh-CN" sz="2000" b="1" dirty="0">
                    <a:latin typeface="黑体" panose="02010609060101010101" pitchFamily="49" charset="-122"/>
                    <a:ea typeface="黑体" panose="02010609060101010101" pitchFamily="49" charset="-122"/>
                  </a:rPr>
                  <a:t>X+Y=1</a:t>
                </a:r>
                <a:r>
                  <a:rPr lang="zh-CN" altLang="en-US" sz="2000" b="1" dirty="0">
                    <a:latin typeface="黑体" panose="02010609060101010101" pitchFamily="49" charset="-122"/>
                    <a:ea typeface="黑体" panose="02010609060101010101" pitchFamily="49" charset="-122"/>
                  </a:rPr>
                  <a:t>。那么原空间的线性不可分问题，就变成了新空间的（近似）线性可分问题。 </a:t>
                </a:r>
                <a:r>
                  <a:rPr lang="zh-CN" altLang="en-US" sz="2000" b="1" dirty="0">
                    <a:solidFill>
                      <a:srgbClr val="FF0000"/>
                    </a:solidFill>
                    <a:latin typeface="黑体" panose="02010609060101010101" pitchFamily="49" charset="-122"/>
                    <a:ea typeface="黑体" panose="02010609060101010101" pitchFamily="49" charset="-122"/>
                  </a:rPr>
                  <a:t>核函数</a:t>
                </a:r>
                <a:r>
                  <a:rPr lang="zh-CN" altLang="en-US" sz="2000" b="1" dirty="0">
                    <a:latin typeface="黑体" panose="02010609060101010101" pitchFamily="49" charset="-122"/>
                    <a:ea typeface="黑体" panose="02010609060101010101" pitchFamily="49" charset="-122"/>
                  </a:rPr>
                  <a:t>完成这一功能，实现从低维空间到高维空间的映射。</a:t>
                </a:r>
                <a:endParaRPr lang="en-US" altLang="zh-CN" sz="2000" b="1" dirty="0">
                  <a:latin typeface="黑体" panose="02010609060101010101" pitchFamily="49" charset="-122"/>
                  <a:ea typeface="黑体" panose="02010609060101010101" pitchFamily="49" charset="-122"/>
                </a:endParaRPr>
              </a:p>
            </p:txBody>
          </p:sp>
        </mc:Choice>
        <mc:Fallback>
          <p:sp>
            <p:nvSpPr>
              <p:cNvPr id="55299" name="内容占位符 2"/>
              <p:cNvSpPr>
                <a:spLocks noRot="1" noChangeAspect="1" noMove="1" noResize="1" noEditPoints="1" noAdjustHandles="1" noChangeArrowheads="1" noChangeShapeType="1" noTextEdit="1"/>
              </p:cNvSpPr>
              <p:nvPr>
                <p:ph idx="1"/>
              </p:nvPr>
            </p:nvSpPr>
            <p:spPr>
              <a:xfrm>
                <a:off x="104879" y="970204"/>
                <a:ext cx="4168947" cy="4801118"/>
              </a:xfrm>
              <a:blipFill rotWithShape="1">
                <a:blip r:embed="rId1"/>
                <a:stretch>
                  <a:fillRect l="-2" t="-12" r="-2674" b="-9672"/>
                </a:stretch>
              </a:blipFill>
            </p:spPr>
            <p:txBody>
              <a:bodyPr/>
              <a:lstStyle/>
              <a:p>
                <a:r>
                  <a:rPr lang="zh-CN" altLang="en-US">
                    <a:noFill/>
                  </a:rPr>
                  <a:t> </a:t>
                </a:r>
              </a:p>
            </p:txBody>
          </p:sp>
        </mc:Fallback>
      </mc:AlternateContent>
      <p:pic>
        <p:nvPicPr>
          <p:cNvPr id="55300" name="图片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273827" y="1681977"/>
            <a:ext cx="4785640" cy="3697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ph type="title"/>
          </p:nvPr>
        </p:nvSpPr>
        <p:spPr>
          <a:xfrm>
            <a:off x="217522" y="150071"/>
            <a:ext cx="7886700" cy="570310"/>
          </a:xfrm>
        </p:spPr>
        <p:txBody>
          <a:bodyPr vert="horz" lIns="91440" tIns="45720" rIns="91440" bIns="45720" rtlCol="0" anchor="ctr">
            <a:normAutofit fontScale="90000"/>
          </a:bodyPr>
          <a:lstStyle/>
          <a:p>
            <a:r>
              <a:rPr altLang="en-US" dirty="0" err="1">
                <a:latin typeface="黑体" panose="02010609060101010101" pitchFamily="49" charset="-122"/>
                <a:ea typeface="黑体" panose="02010609060101010101" pitchFamily="49" charset="-122"/>
              </a:rPr>
              <a:t>核函数</a:t>
            </a:r>
            <a:endParaRPr altLang="zh-CN" dirty="0">
              <a:latin typeface="黑体" panose="02010609060101010101" pitchFamily="49" charset="-122"/>
              <a:ea typeface="黑体" panose="02010609060101010101" pitchFamily="49" charset="-122"/>
            </a:endParaRPr>
          </a:p>
        </p:txBody>
      </p:sp>
      <p:sp>
        <p:nvSpPr>
          <p:cNvPr id="56323" name="内容占位符 2"/>
          <p:cNvSpPr>
            <a:spLocks noGrp="1"/>
          </p:cNvSpPr>
          <p:nvPr>
            <p:ph idx="1"/>
          </p:nvPr>
        </p:nvSpPr>
        <p:spPr>
          <a:xfrm>
            <a:off x="0" y="1051115"/>
            <a:ext cx="9045179" cy="4104084"/>
          </a:xfrm>
        </p:spPr>
        <p:txBody>
          <a:bodyPr>
            <a:normAutofit/>
          </a:bodyPr>
          <a:lstStyle/>
          <a:p>
            <a:pPr eaLnBrk="1" hangingPunct="1">
              <a:lnSpc>
                <a:spcPct val="150000"/>
              </a:lnSpc>
            </a:pPr>
            <a:r>
              <a:rPr altLang="en-US" sz="2000" b="1" dirty="0">
                <a:latin typeface="黑体" panose="02010609060101010101" pitchFamily="49" charset="-122"/>
                <a:ea typeface="黑体" panose="02010609060101010101" pitchFamily="49" charset="-122"/>
              </a:rPr>
              <a:t>事实上大部分时候数据并不是线性可分的，这个时候满足这样条件的超平面就根本不存在。对于非线性的情况，</a:t>
            </a:r>
            <a:r>
              <a:rPr lang="en-US" altLang="zh-CN" sz="2000" b="1" dirty="0">
                <a:latin typeface="黑体" panose="02010609060101010101" pitchFamily="49" charset="-122"/>
                <a:ea typeface="黑体" panose="02010609060101010101" pitchFamily="49" charset="-122"/>
              </a:rPr>
              <a:t>SVM </a:t>
            </a:r>
            <a:r>
              <a:rPr altLang="en-US" sz="2000" b="1" dirty="0">
                <a:latin typeface="黑体" panose="02010609060101010101" pitchFamily="49" charset="-122"/>
                <a:ea typeface="黑体" panose="02010609060101010101" pitchFamily="49" charset="-122"/>
              </a:rPr>
              <a:t>的处理方法是选择一个核函数 </a:t>
            </a:r>
            <a:r>
              <a:rPr lang="en-US" altLang="zh-CN" sz="2000" b="1" dirty="0">
                <a:latin typeface="+mn-ea"/>
                <a:ea typeface="+mn-ea"/>
              </a:rPr>
              <a:t>κ(⋅,⋅) </a:t>
            </a:r>
            <a:r>
              <a:rPr altLang="en-US" sz="2000" b="1" dirty="0">
                <a:latin typeface="+mn-ea"/>
                <a:ea typeface="+mn-ea"/>
              </a:rPr>
              <a:t>，</a:t>
            </a:r>
            <a:r>
              <a:rPr altLang="en-US" sz="2000" b="1" dirty="0">
                <a:latin typeface="黑体" panose="02010609060101010101" pitchFamily="49" charset="-122"/>
                <a:ea typeface="黑体" panose="02010609060101010101" pitchFamily="49" charset="-122"/>
              </a:rPr>
              <a:t>通过</a:t>
            </a:r>
            <a:r>
              <a:rPr altLang="en-US" sz="2000" b="1" dirty="0">
                <a:solidFill>
                  <a:srgbClr val="FF0000"/>
                </a:solidFill>
                <a:latin typeface="黑体" panose="02010609060101010101" pitchFamily="49" charset="-122"/>
                <a:ea typeface="黑体" panose="02010609060101010101" pitchFamily="49" charset="-122"/>
              </a:rPr>
              <a:t>将数据映射到高维空间</a:t>
            </a:r>
            <a:r>
              <a:rPr altLang="en-US" sz="2000" b="1" dirty="0">
                <a:latin typeface="黑体" panose="02010609060101010101" pitchFamily="49" charset="-122"/>
                <a:ea typeface="黑体" panose="02010609060101010101" pitchFamily="49" charset="-122"/>
              </a:rPr>
              <a:t>，最终在高维特征空间中构造出最优分离超平面，从而把平面上本身不好分的非线性数据分开。来解决在原始空间中线性不可分的问题。</a:t>
            </a:r>
            <a:endParaRPr altLang="en-US" sz="2000" b="1" dirty="0">
              <a:latin typeface="黑体" panose="02010609060101010101" pitchFamily="49" charset="-122"/>
              <a:ea typeface="黑体" panose="02010609060101010101" pitchFamily="49" charset="-122"/>
            </a:endParaRPr>
          </a:p>
          <a:p>
            <a:pPr eaLnBrk="1" hangingPunct="1">
              <a:lnSpc>
                <a:spcPct val="150000"/>
              </a:lnSpc>
            </a:pPr>
            <a:endParaRPr altLang="en-US" sz="2000" dirty="0">
              <a:latin typeface="+mn-ea"/>
              <a:ea typeface="+mn-ea"/>
            </a:endParaRPr>
          </a:p>
        </p:txBody>
      </p:sp>
      <p:pic>
        <p:nvPicPr>
          <p:cNvPr id="56324" name="图片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260095" y="3337788"/>
            <a:ext cx="6761066" cy="3129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887482" y="1514682"/>
            <a:ext cx="6838950" cy="3152775"/>
          </a:xfrm>
          <a:prstGeom prst="rect">
            <a:avLst/>
          </a:prstGeom>
        </p:spPr>
      </p:pic>
      <p:sp>
        <p:nvSpPr>
          <p:cNvPr id="3" name="内容占位符 2"/>
          <p:cNvSpPr>
            <a:spLocks noGrp="1"/>
          </p:cNvSpPr>
          <p:nvPr>
            <p:ph idx="1"/>
          </p:nvPr>
        </p:nvSpPr>
        <p:spPr>
          <a:xfrm>
            <a:off x="260350" y="5030399"/>
            <a:ext cx="8742248" cy="2026383"/>
          </a:xfrm>
        </p:spPr>
        <p:txBody>
          <a:bodyPr>
            <a:normAutofit/>
          </a:bodyPr>
          <a:lstStyle/>
          <a:p>
            <a:pPr>
              <a:lnSpc>
                <a:spcPct val="150000"/>
              </a:lnSpc>
            </a:pPr>
            <a:r>
              <a:rPr lang="zh-CN" altLang="en-US" b="1" dirty="0">
                <a:latin typeface="黑体" panose="02010609060101010101" pitchFamily="49" charset="-122"/>
                <a:ea typeface="黑体" panose="02010609060101010101" pitchFamily="49" charset="-122"/>
              </a:rPr>
              <a:t>核函数的基本作用就是接受两个</a:t>
            </a:r>
            <a:r>
              <a:rPr lang="zh-CN" altLang="en-US" b="1" dirty="0">
                <a:solidFill>
                  <a:srgbClr val="FF0000"/>
                </a:solidFill>
                <a:latin typeface="黑体" panose="02010609060101010101" pitchFamily="49" charset="-122"/>
                <a:ea typeface="黑体" panose="02010609060101010101" pitchFamily="49" charset="-122"/>
              </a:rPr>
              <a:t>低维空间</a:t>
            </a:r>
            <a:r>
              <a:rPr lang="zh-CN" altLang="en-US" b="1" dirty="0">
                <a:latin typeface="黑体" panose="02010609060101010101" pitchFamily="49" charset="-122"/>
                <a:ea typeface="黑体" panose="02010609060101010101" pitchFamily="49" charset="-122"/>
              </a:rPr>
              <a:t>里的向量，能够计算出经过某个变换后在</a:t>
            </a:r>
            <a:r>
              <a:rPr lang="zh-CN" altLang="en-US" b="1" dirty="0">
                <a:solidFill>
                  <a:srgbClr val="FF0000"/>
                </a:solidFill>
                <a:latin typeface="黑体" panose="02010609060101010101" pitchFamily="49" charset="-122"/>
                <a:ea typeface="黑体" panose="02010609060101010101" pitchFamily="49" charset="-122"/>
              </a:rPr>
              <a:t>高维空间</a:t>
            </a:r>
            <a:r>
              <a:rPr lang="zh-CN" altLang="en-US" b="1" dirty="0">
                <a:latin typeface="黑体" panose="02010609060101010101" pitchFamily="49" charset="-122"/>
                <a:ea typeface="黑体" panose="02010609060101010101" pitchFamily="49" charset="-122"/>
              </a:rPr>
              <a:t>里的</a:t>
            </a:r>
            <a:r>
              <a:rPr lang="zh-CN" altLang="en-US" b="1" dirty="0">
                <a:solidFill>
                  <a:srgbClr val="FF0000"/>
                </a:solidFill>
                <a:latin typeface="黑体" panose="02010609060101010101" pitchFamily="49" charset="-122"/>
                <a:ea typeface="黑体" panose="02010609060101010101" pitchFamily="49" charset="-122"/>
              </a:rPr>
              <a:t>向量内积值</a:t>
            </a:r>
            <a:r>
              <a:rPr lang="zh-CN" altLang="en-US" b="1" dirty="0">
                <a:latin typeface="黑体" panose="02010609060101010101" pitchFamily="49" charset="-122"/>
                <a:ea typeface="黑体" panose="02010609060101010101" pitchFamily="49" charset="-122"/>
              </a:rPr>
              <a:t>。                     </a:t>
            </a:r>
            <a:r>
              <a:rPr lang="en-US" altLang="zh-CN" dirty="0"/>
              <a:t>.</a:t>
            </a:r>
            <a:endParaRPr lang="zh-CN" alt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descr="http://img.my.csdn.net/uploads/201304/03/1364952814_3505.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03512" y="1107244"/>
            <a:ext cx="5982273" cy="479659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核支持向量机</a:t>
            </a:r>
            <a:endParaRPr lang="zh-CN" altLang="en-US"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a:xfrm>
            <a:off x="260350" y="922226"/>
            <a:ext cx="6637407" cy="648158"/>
          </a:xfrm>
        </p:spPr>
        <p:txBody>
          <a:bodyPr>
            <a:normAutofit/>
          </a:bodyPr>
          <a:lstStyle/>
          <a:p>
            <a:pPr>
              <a:lnSpc>
                <a:spcPct val="150000"/>
              </a:lnSpc>
            </a:pPr>
            <a:r>
              <a:rPr lang="zh-CN" altLang="en-US" b="1" dirty="0">
                <a:latin typeface="黑体" panose="02010609060101010101" pitchFamily="49" charset="-122"/>
                <a:ea typeface="黑体" panose="02010609060101010101" pitchFamily="49" charset="-122"/>
              </a:rPr>
              <a:t>把线性不可分问题当成线性可分问题，参数一样</a:t>
            </a:r>
            <a:endParaRPr lang="zh-CN" altLang="en-US" b="1" dirty="0">
              <a:latin typeface="黑体" panose="02010609060101010101" pitchFamily="49" charset="-122"/>
              <a:ea typeface="黑体" panose="02010609060101010101" pitchFamily="49" charset="-122"/>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26878" y="5382273"/>
            <a:ext cx="5462489" cy="810838"/>
          </a:xfrm>
          <a:prstGeom prst="rect">
            <a:avLst/>
          </a:prstGeom>
        </p:spPr>
      </p:pic>
      <p:pic>
        <p:nvPicPr>
          <p:cNvPr id="17" name="图片 1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6878" y="3282098"/>
            <a:ext cx="5742930" cy="1896020"/>
          </a:xfrm>
          <a:prstGeom prst="rect">
            <a:avLst/>
          </a:prstGeom>
        </p:spPr>
      </p:pic>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核支持向量机</a:t>
            </a:r>
            <a:endParaRPr lang="zh-CN" altLang="en-US"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a:xfrm>
            <a:off x="260350" y="1266825"/>
            <a:ext cx="8817662" cy="806542"/>
          </a:xfrm>
        </p:spPr>
        <p:txBody>
          <a:bodyPr>
            <a:normAutofit/>
          </a:bodyPr>
          <a:lstStyle/>
          <a:p>
            <a:r>
              <a:rPr lang="zh-CN" altLang="en-US" dirty="0">
                <a:latin typeface="黑体" panose="02010609060101010101" pitchFamily="49" charset="-122"/>
                <a:ea typeface="黑体" panose="02010609060101010101" pitchFamily="49" charset="-122"/>
              </a:rPr>
              <a:t>设样本   映射后的向量为    </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划分超平面为                        </a:t>
            </a:r>
            <a:r>
              <a:rPr lang="en-US" altLang="zh-CN" dirty="0">
                <a:latin typeface="黑体" panose="02010609060101010101" pitchFamily="49" charset="-122"/>
                <a:ea typeface="黑体" panose="02010609060101010101" pitchFamily="49" charset="-122"/>
              </a:rPr>
              <a:t>.</a:t>
            </a:r>
            <a:endParaRPr lang="zh-CN" altLang="en-US" dirty="0">
              <a:latin typeface="黑体" panose="02010609060101010101" pitchFamily="49" charset="-122"/>
              <a:ea typeface="黑体" panose="02010609060101010101" pitchFamily="49" charset="-122"/>
            </a:endParaRPr>
          </a:p>
        </p:txBody>
      </p:sp>
      <p:graphicFrame>
        <p:nvGraphicFramePr>
          <p:cNvPr id="4" name="对象 3"/>
          <p:cNvGraphicFramePr>
            <a:graphicFrameLocks noChangeAspect="1"/>
          </p:cNvGraphicFramePr>
          <p:nvPr/>
        </p:nvGraphicFramePr>
        <p:xfrm>
          <a:off x="1577336" y="1381883"/>
          <a:ext cx="209176" cy="252000"/>
        </p:xfrm>
        <a:graphic>
          <a:graphicData uri="http://schemas.openxmlformats.org/presentationml/2006/ole">
            <mc:AlternateContent xmlns:mc="http://schemas.openxmlformats.org/markup-compatibility/2006">
              <mc:Choice xmlns:v="urn:schemas-microsoft-com:vml" Requires="v">
                <p:oleObj spid="_x0000_s32" name="Formula" r:id="rId3" imgW="752475" imgH="904875" progId="Equation.Ribbit">
                  <p:embed/>
                </p:oleObj>
              </mc:Choice>
              <mc:Fallback>
                <p:oleObj name="Formula" r:id="rId3" imgW="752475" imgH="904875" progId="Equation.Ribbit">
                  <p:embed/>
                  <p:pic>
                    <p:nvPicPr>
                      <p:cNvPr id="0" name="图片 31"/>
                      <p:cNvPicPr/>
                      <p:nvPr/>
                    </p:nvPicPr>
                    <p:blipFill>
                      <a:blip r:embed="rId4"/>
                      <a:stretch>
                        <a:fillRect/>
                      </a:stretch>
                    </p:blipFill>
                    <p:spPr>
                      <a:xfrm>
                        <a:off x="1577336" y="1381883"/>
                        <a:ext cx="209176" cy="252000"/>
                      </a:xfrm>
                      <a:prstGeom prst="rect">
                        <a:avLst/>
                      </a:prstGeom>
                    </p:spPr>
                  </p:pic>
                </p:oleObj>
              </mc:Fallback>
            </mc:AlternateContent>
          </a:graphicData>
        </a:graphic>
      </p:graphicFrame>
      <p:graphicFrame>
        <p:nvGraphicFramePr>
          <p:cNvPr id="5" name="对象 4"/>
          <p:cNvGraphicFramePr>
            <a:graphicFrameLocks noChangeAspect="1"/>
          </p:cNvGraphicFramePr>
          <p:nvPr/>
        </p:nvGraphicFramePr>
        <p:xfrm>
          <a:off x="3931278" y="1305715"/>
          <a:ext cx="544843" cy="324000"/>
        </p:xfrm>
        <a:graphic>
          <a:graphicData uri="http://schemas.openxmlformats.org/presentationml/2006/ole">
            <mc:AlternateContent xmlns:mc="http://schemas.openxmlformats.org/markup-compatibility/2006">
              <mc:Choice xmlns:v="urn:schemas-microsoft-com:vml" Requires="v">
                <p:oleObj spid="_x0000_s6" name="Formula" r:id="rId5" imgW="2219325" imgH="1323975" progId="Equation.Ribbit">
                  <p:embed/>
                </p:oleObj>
              </mc:Choice>
              <mc:Fallback>
                <p:oleObj name="Formula" r:id="rId5" imgW="2219325" imgH="1323975" progId="Equation.Ribbit">
                  <p:embed/>
                  <p:pic>
                    <p:nvPicPr>
                      <p:cNvPr id="0" name="图片 5"/>
                      <p:cNvPicPr/>
                      <p:nvPr/>
                    </p:nvPicPr>
                    <p:blipFill>
                      <a:blip r:embed="rId6"/>
                      <a:stretch>
                        <a:fillRect/>
                      </a:stretch>
                    </p:blipFill>
                    <p:spPr>
                      <a:xfrm>
                        <a:off x="3931278" y="1305715"/>
                        <a:ext cx="544843" cy="324000"/>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6036091" y="1264590"/>
          <a:ext cx="2359025" cy="365125"/>
        </p:xfrm>
        <a:graphic>
          <a:graphicData uri="http://schemas.openxmlformats.org/presentationml/2006/ole">
            <mc:AlternateContent xmlns:mc="http://schemas.openxmlformats.org/markup-compatibility/2006">
              <mc:Choice xmlns:v="urn:schemas-microsoft-com:vml" Requires="v">
                <p:oleObj spid="_x0000_s8" name="Formula" r:id="rId7" imgW="9601200" imgH="1485900" progId="Equation.Ribbit">
                  <p:embed/>
                </p:oleObj>
              </mc:Choice>
              <mc:Fallback>
                <p:oleObj name="Formula" r:id="rId7" imgW="9601200" imgH="1485900" progId="Equation.Ribbit">
                  <p:embed/>
                  <p:pic>
                    <p:nvPicPr>
                      <p:cNvPr id="0" name="图片 7"/>
                      <p:cNvPicPr/>
                      <p:nvPr/>
                    </p:nvPicPr>
                    <p:blipFill>
                      <a:blip r:embed="rId8"/>
                      <a:stretch>
                        <a:fillRect/>
                      </a:stretch>
                    </p:blipFill>
                    <p:spPr>
                      <a:xfrm>
                        <a:off x="6036091" y="1264590"/>
                        <a:ext cx="2359025" cy="365125"/>
                      </a:xfrm>
                      <a:prstGeom prst="rect">
                        <a:avLst/>
                      </a:prstGeom>
                    </p:spPr>
                  </p:pic>
                </p:oleObj>
              </mc:Fallback>
            </mc:AlternateContent>
          </a:graphicData>
        </a:graphic>
      </p:graphicFrame>
      <p:sp>
        <p:nvSpPr>
          <p:cNvPr id="9" name="内容占位符 3"/>
          <p:cNvSpPr txBox="1"/>
          <p:nvPr/>
        </p:nvSpPr>
        <p:spPr>
          <a:xfrm>
            <a:off x="432655" y="2331484"/>
            <a:ext cx="1353857" cy="451134"/>
          </a:xfrm>
          <a:prstGeom prst="rect">
            <a:avLst/>
          </a:prstGeom>
        </p:spPr>
        <p:txBody>
          <a:bodyPr vert="horz" lIns="91440" tIns="46800" rIns="91440" bIns="45720" rtlCol="0">
            <a:normAutofit/>
          </a:bodyPr>
          <a:lstStyle>
            <a:lvl1pPr marL="228600" indent="-360045" algn="l" defTabSz="914400" rtl="0" eaLnBrk="1" latinLnBrk="0" hangingPunct="1">
              <a:lnSpc>
                <a:spcPct val="90000"/>
              </a:lnSpc>
              <a:spcBef>
                <a:spcPts val="1000"/>
              </a:spcBef>
              <a:buClr>
                <a:schemeClr val="tx2"/>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rgbClr val="023A9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rgbClr val="023A9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rgbClr val="023A9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rgbClr val="023A9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dirty="0">
                <a:latin typeface="黑体" panose="02010609060101010101" pitchFamily="49" charset="-122"/>
                <a:ea typeface="黑体" panose="02010609060101010101" pitchFamily="49" charset="-122"/>
              </a:rPr>
              <a:t>原始问题</a:t>
            </a:r>
            <a:endParaRPr lang="zh-CN" altLang="en-US" dirty="0">
              <a:latin typeface="黑体" panose="02010609060101010101" pitchFamily="49" charset="-122"/>
              <a:ea typeface="黑体" panose="02010609060101010101" pitchFamily="49" charset="-122"/>
            </a:endParaRPr>
          </a:p>
        </p:txBody>
      </p:sp>
      <p:sp>
        <p:nvSpPr>
          <p:cNvPr id="10" name="内容占位符 3"/>
          <p:cNvSpPr txBox="1"/>
          <p:nvPr/>
        </p:nvSpPr>
        <p:spPr>
          <a:xfrm>
            <a:off x="432655" y="4017420"/>
            <a:ext cx="1353857" cy="451134"/>
          </a:xfrm>
          <a:prstGeom prst="rect">
            <a:avLst/>
          </a:prstGeom>
        </p:spPr>
        <p:txBody>
          <a:bodyPr vert="horz" lIns="91440" tIns="46800" rIns="91440" bIns="45720" rtlCol="0">
            <a:normAutofit/>
          </a:bodyPr>
          <a:lstStyle>
            <a:lvl1pPr marL="228600" indent="-360045" algn="l" defTabSz="914400" rtl="0" eaLnBrk="1" latinLnBrk="0" hangingPunct="1">
              <a:lnSpc>
                <a:spcPct val="90000"/>
              </a:lnSpc>
              <a:spcBef>
                <a:spcPts val="1000"/>
              </a:spcBef>
              <a:buClr>
                <a:schemeClr val="tx2"/>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rgbClr val="023A9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rgbClr val="023A9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rgbClr val="023A9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rgbClr val="023A9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dirty="0">
                <a:latin typeface="黑体" panose="02010609060101010101" pitchFamily="49" charset="-122"/>
                <a:ea typeface="黑体" panose="02010609060101010101" pitchFamily="49" charset="-122"/>
              </a:rPr>
              <a:t>对偶问题</a:t>
            </a:r>
            <a:endParaRPr lang="zh-CN" altLang="en-US" dirty="0">
              <a:latin typeface="黑体" panose="02010609060101010101" pitchFamily="49" charset="-122"/>
              <a:ea typeface="黑体" panose="02010609060101010101" pitchFamily="49" charset="-122"/>
            </a:endParaRPr>
          </a:p>
        </p:txBody>
      </p:sp>
      <p:sp>
        <p:nvSpPr>
          <p:cNvPr id="11" name="矩形 10"/>
          <p:cNvSpPr/>
          <p:nvPr/>
        </p:nvSpPr>
        <p:spPr>
          <a:xfrm>
            <a:off x="5235920" y="3335826"/>
            <a:ext cx="1642551" cy="7229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内容占位符 3"/>
          <p:cNvSpPr txBox="1"/>
          <p:nvPr/>
        </p:nvSpPr>
        <p:spPr>
          <a:xfrm>
            <a:off x="706073" y="5543909"/>
            <a:ext cx="807019" cy="451134"/>
          </a:xfrm>
          <a:prstGeom prst="rect">
            <a:avLst/>
          </a:prstGeom>
        </p:spPr>
        <p:txBody>
          <a:bodyPr vert="horz" lIns="91440" tIns="46800" rIns="91440" bIns="45720" rtlCol="0">
            <a:normAutofit/>
          </a:bodyPr>
          <a:lstStyle>
            <a:lvl1pPr marL="228600" indent="-360045" algn="l" defTabSz="914400" rtl="0" eaLnBrk="1" latinLnBrk="0" hangingPunct="1">
              <a:lnSpc>
                <a:spcPct val="90000"/>
              </a:lnSpc>
              <a:spcBef>
                <a:spcPts val="1000"/>
              </a:spcBef>
              <a:buClr>
                <a:schemeClr val="tx2"/>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rgbClr val="023A9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rgbClr val="023A9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rgbClr val="023A9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rgbClr val="023A9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dirty="0">
                <a:latin typeface="黑体" panose="02010609060101010101" pitchFamily="49" charset="-122"/>
                <a:ea typeface="黑体" panose="02010609060101010101" pitchFamily="49" charset="-122"/>
              </a:rPr>
              <a:t>预测</a:t>
            </a:r>
            <a:endParaRPr lang="zh-CN" altLang="en-US" dirty="0">
              <a:latin typeface="黑体" panose="02010609060101010101" pitchFamily="49" charset="-122"/>
              <a:ea typeface="黑体" panose="02010609060101010101" pitchFamily="49" charset="-122"/>
            </a:endParaRPr>
          </a:p>
        </p:txBody>
      </p:sp>
      <p:sp>
        <p:nvSpPr>
          <p:cNvPr id="14" name="矩形 13"/>
          <p:cNvSpPr/>
          <p:nvPr/>
        </p:nvSpPr>
        <p:spPr>
          <a:xfrm>
            <a:off x="5865994" y="5426210"/>
            <a:ext cx="1380968" cy="7229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5082539" y="4410224"/>
            <a:ext cx="2947878" cy="461665"/>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lvl="0"/>
            <a:r>
              <a:rPr lang="zh-CN" altLang="en-US" sz="2400" b="1" dirty="0">
                <a:latin typeface="黑体" panose="02010609060101010101" pitchFamily="49" charset="-122"/>
                <a:ea typeface="黑体" panose="02010609060101010101" pitchFamily="49" charset="-122"/>
              </a:rPr>
              <a:t>只以</a:t>
            </a:r>
            <a:r>
              <a:rPr lang="zh-CN" altLang="en-US" sz="2400" b="1" dirty="0">
                <a:solidFill>
                  <a:schemeClr val="tx2"/>
                </a:solidFill>
                <a:latin typeface="黑体" panose="02010609060101010101" pitchFamily="49" charset="-122"/>
                <a:ea typeface="黑体" panose="02010609060101010101" pitchFamily="49" charset="-122"/>
              </a:rPr>
              <a:t>内积</a:t>
            </a:r>
            <a:r>
              <a:rPr lang="zh-CN" altLang="en-US" sz="2400" b="1" dirty="0">
                <a:latin typeface="黑体" panose="02010609060101010101" pitchFamily="49" charset="-122"/>
                <a:ea typeface="黑体" panose="02010609060101010101" pitchFamily="49" charset="-122"/>
              </a:rPr>
              <a:t>的形式出现</a:t>
            </a:r>
            <a:endParaRPr lang="en-US" altLang="zh-CN" sz="2400" b="1" dirty="0">
              <a:latin typeface="黑体" panose="02010609060101010101" pitchFamily="49" charset="-122"/>
              <a:ea typeface="黑体" panose="02010609060101010101" pitchFamily="49" charset="-122"/>
            </a:endParaRPr>
          </a:p>
        </p:txBody>
      </p:sp>
      <p:pic>
        <p:nvPicPr>
          <p:cNvPr id="16" name="图片 15"/>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226878" y="1878012"/>
            <a:ext cx="5517358" cy="1164437"/>
          </a:xfrm>
          <a:prstGeom prst="rect">
            <a:avLst/>
          </a:prstGeom>
        </p:spPr>
      </p:pic>
      <p:sp>
        <p:nvSpPr>
          <p:cNvPr id="19" name="内容占位符 2"/>
          <p:cNvSpPr txBox="1"/>
          <p:nvPr/>
        </p:nvSpPr>
        <p:spPr>
          <a:xfrm>
            <a:off x="432655" y="6062770"/>
            <a:ext cx="6637407" cy="648158"/>
          </a:xfrm>
          <a:prstGeom prst="rect">
            <a:avLst/>
          </a:prstGeom>
        </p:spPr>
        <p:txBody>
          <a:bodyPr vert="horz" lIns="91440" tIns="46800" rIns="91440" bIns="45720" rtlCol="0">
            <a:norm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zh-CN" altLang="en-US" sz="2000" b="1" dirty="0">
                <a:solidFill>
                  <a:srgbClr val="FF0000"/>
                </a:solidFill>
                <a:latin typeface="黑体" panose="02010609060101010101" pitchFamily="49" charset="-122"/>
                <a:ea typeface="黑体" panose="02010609060101010101" pitchFamily="49" charset="-122"/>
              </a:rPr>
              <a:t>把线性不可分问题当成线性可分问题，参数一样</a:t>
            </a:r>
            <a:endParaRPr lang="zh-CN" altLang="en-US" sz="2000" b="1" dirty="0">
              <a:solidFill>
                <a:srgbClr val="FF0000"/>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par>
                                <p:cTn id="13" presetID="10" presetClass="entr" presetSubtype="0"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00"/>
                                        <p:tgtEl>
                                          <p:spTgt spid="12"/>
                                        </p:tgtEl>
                                      </p:cBhvr>
                                    </p:animEffect>
                                  </p:childTnLst>
                                </p:cTn>
                              </p:par>
                              <p:par>
                                <p:cTn id="21" presetID="10" presetClass="entr" presetSubtype="0" fill="hold" nodeType="with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500"/>
                                        <p:tgtEl>
                                          <p:spTgt spid="18"/>
                                        </p:tgtEl>
                                      </p:cBhvr>
                                    </p:animEffect>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anim calcmode="lin" valueType="num">
                                      <p:cBhvr>
                                        <p:cTn id="29" dur="500" fill="hold"/>
                                        <p:tgtEl>
                                          <p:spTgt spid="11"/>
                                        </p:tgtEl>
                                        <p:attrNameLst>
                                          <p:attrName>ppt_x</p:attrName>
                                        </p:attrNameLst>
                                      </p:cBhvr>
                                      <p:tavLst>
                                        <p:tav tm="0">
                                          <p:val>
                                            <p:strVal val="#ppt_x"/>
                                          </p:val>
                                        </p:tav>
                                        <p:tav tm="100000">
                                          <p:val>
                                            <p:strVal val="#ppt_x"/>
                                          </p:val>
                                        </p:tav>
                                      </p:tavLst>
                                    </p:anim>
                                    <p:anim calcmode="lin" valueType="num">
                                      <p:cBhvr>
                                        <p:cTn id="30" dur="500" fill="hold"/>
                                        <p:tgtEl>
                                          <p:spTgt spid="11"/>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anim calcmode="lin" valueType="num">
                                      <p:cBhvr>
                                        <p:cTn id="34" dur="500" fill="hold"/>
                                        <p:tgtEl>
                                          <p:spTgt spid="14"/>
                                        </p:tgtEl>
                                        <p:attrNameLst>
                                          <p:attrName>ppt_x</p:attrName>
                                        </p:attrNameLst>
                                      </p:cBhvr>
                                      <p:tavLst>
                                        <p:tav tm="0">
                                          <p:val>
                                            <p:strVal val="#ppt_x"/>
                                          </p:val>
                                        </p:tav>
                                        <p:tav tm="100000">
                                          <p:val>
                                            <p:strVal val="#ppt_x"/>
                                          </p:val>
                                        </p:tav>
                                      </p:tavLst>
                                    </p:anim>
                                    <p:anim calcmode="lin" valueType="num">
                                      <p:cBhvr>
                                        <p:cTn id="35" dur="500" fill="hold"/>
                                        <p:tgtEl>
                                          <p:spTgt spid="14"/>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500"/>
                                        <p:tgtEl>
                                          <p:spTgt spid="15"/>
                                        </p:tgtEl>
                                      </p:cBhvr>
                                    </p:animEffect>
                                    <p:anim calcmode="lin" valueType="num">
                                      <p:cBhvr>
                                        <p:cTn id="39" dur="500" fill="hold"/>
                                        <p:tgtEl>
                                          <p:spTgt spid="15"/>
                                        </p:tgtEl>
                                        <p:attrNameLst>
                                          <p:attrName>ppt_x</p:attrName>
                                        </p:attrNameLst>
                                      </p:cBhvr>
                                      <p:tavLst>
                                        <p:tav tm="0">
                                          <p:val>
                                            <p:strVal val="#ppt_x"/>
                                          </p:val>
                                        </p:tav>
                                        <p:tav tm="100000">
                                          <p:val>
                                            <p:strVal val="#ppt_x"/>
                                          </p:val>
                                        </p:tav>
                                      </p:tavLst>
                                    </p:anim>
                                    <p:anim calcmode="lin" valueType="num">
                                      <p:cBhvr>
                                        <p:cTn id="40" dur="5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animBg="1"/>
      <p:bldP spid="12" grpId="0"/>
      <p:bldP spid="14" grpId="0" animBg="1"/>
      <p:bldP spid="15"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核函数</a:t>
            </a:r>
            <a:endParaRPr lang="zh-CN" altLang="en-US"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p:txBody>
          <a:bodyPr/>
          <a:lstStyle/>
          <a:p>
            <a:r>
              <a:rPr lang="zh-CN" altLang="en-US" dirty="0">
                <a:latin typeface="黑体" panose="02010609060101010101" pitchFamily="49" charset="-122"/>
                <a:ea typeface="黑体" panose="02010609060101010101" pitchFamily="49" charset="-122"/>
              </a:rPr>
              <a:t>基本想法：不显式地设计核映射</a:t>
            </a:r>
            <a:r>
              <a:rPr lang="en-US" altLang="zh-CN" dirty="0">
                <a:latin typeface="黑体" panose="02010609060101010101" pitchFamily="49" charset="-122"/>
                <a:ea typeface="黑体" panose="02010609060101010101" pitchFamily="49" charset="-122"/>
              </a:rPr>
              <a:t>, </a:t>
            </a:r>
            <a:r>
              <a:rPr lang="zh-CN" altLang="en-US" dirty="0">
                <a:latin typeface="黑体" panose="02010609060101010101" pitchFamily="49" charset="-122"/>
                <a:ea typeface="黑体" panose="02010609060101010101" pitchFamily="49" charset="-122"/>
              </a:rPr>
              <a:t>而是设计</a:t>
            </a:r>
            <a:r>
              <a:rPr lang="zh-CN" altLang="en-US" dirty="0">
                <a:solidFill>
                  <a:schemeClr val="tx2"/>
                </a:solidFill>
                <a:latin typeface="黑体" panose="02010609060101010101" pitchFamily="49" charset="-122"/>
                <a:ea typeface="黑体" panose="02010609060101010101" pitchFamily="49" charset="-122"/>
              </a:rPr>
              <a:t>核函数</a:t>
            </a:r>
            <a:r>
              <a:rPr lang="en-US" altLang="zh-CN" dirty="0">
                <a:latin typeface="黑体" panose="02010609060101010101" pitchFamily="49" charset="-122"/>
                <a:ea typeface="黑体" panose="02010609060101010101" pitchFamily="49" charset="-122"/>
              </a:rPr>
              <a:t>.</a:t>
            </a:r>
            <a:endParaRPr lang="en-US" altLang="zh-CN" dirty="0">
              <a:latin typeface="黑体" panose="02010609060101010101" pitchFamily="49" charset="-122"/>
              <a:ea typeface="黑体" panose="02010609060101010101" pitchFamily="49" charset="-122"/>
            </a:endParaRPr>
          </a:p>
          <a:p>
            <a:endParaRPr lang="en-US" altLang="zh-CN" dirty="0">
              <a:solidFill>
                <a:schemeClr val="tx2"/>
              </a:solidFill>
            </a:endParaRPr>
          </a:p>
          <a:p>
            <a:endParaRPr lang="en-US" altLang="zh-CN" dirty="0">
              <a:solidFill>
                <a:schemeClr val="tx2"/>
              </a:solidFill>
            </a:endParaRPr>
          </a:p>
          <a:p>
            <a:r>
              <a:rPr lang="en-US" altLang="zh-CN" b="1" dirty="0">
                <a:latin typeface="黑体" panose="02010609060101010101" pitchFamily="49" charset="-122"/>
                <a:ea typeface="黑体" panose="02010609060101010101" pitchFamily="49" charset="-122"/>
              </a:rPr>
              <a:t>Mercer</a:t>
            </a:r>
            <a:r>
              <a:rPr lang="zh-CN" altLang="en-US" b="1" dirty="0">
                <a:latin typeface="黑体" panose="02010609060101010101" pitchFamily="49" charset="-122"/>
                <a:ea typeface="黑体" panose="02010609060101010101" pitchFamily="49" charset="-122"/>
              </a:rPr>
              <a:t>定理</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充分非必要</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：只要一个对称函数所对应的核矩阵</a:t>
            </a:r>
            <a:r>
              <a:rPr lang="zh-CN" altLang="en-US" b="1" dirty="0">
                <a:solidFill>
                  <a:schemeClr val="tx2"/>
                </a:solidFill>
                <a:latin typeface="黑体" panose="02010609060101010101" pitchFamily="49" charset="-122"/>
                <a:ea typeface="黑体" panose="02010609060101010101" pitchFamily="49" charset="-122"/>
              </a:rPr>
              <a:t>半正定</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则它就能作为核函数来使用</a:t>
            </a:r>
            <a:r>
              <a:rPr lang="en-US" altLang="zh-CN" b="1" dirty="0">
                <a:latin typeface="黑体" panose="02010609060101010101" pitchFamily="49" charset="-122"/>
                <a:ea typeface="黑体" panose="02010609060101010101" pitchFamily="49" charset="-122"/>
              </a:rPr>
              <a:t>.</a:t>
            </a:r>
            <a:endParaRPr lang="en-US" altLang="zh-CN" b="1" dirty="0">
              <a:latin typeface="黑体" panose="02010609060101010101" pitchFamily="49" charset="-122"/>
              <a:ea typeface="黑体" panose="02010609060101010101" pitchFamily="49" charset="-122"/>
            </a:endParaRPr>
          </a:p>
          <a:p>
            <a:endParaRPr lang="en-US" altLang="zh-CN" dirty="0"/>
          </a:p>
          <a:p>
            <a:r>
              <a:rPr lang="zh-CN" altLang="en-US" b="1" dirty="0">
                <a:latin typeface="黑体" panose="02010609060101010101" pitchFamily="49" charset="-122"/>
                <a:ea typeface="黑体" panose="02010609060101010101" pitchFamily="49" charset="-122"/>
              </a:rPr>
              <a:t>常用核函数：</a:t>
            </a:r>
            <a:endParaRPr lang="zh-CN" altLang="en-US" b="1" dirty="0">
              <a:latin typeface="黑体" panose="02010609060101010101" pitchFamily="49" charset="-122"/>
              <a:ea typeface="黑体" panose="02010609060101010101" pitchFamily="49" charset="-122"/>
            </a:endParaRPr>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04089" y="4041444"/>
            <a:ext cx="7929472" cy="2160000"/>
          </a:xfrm>
          <a:prstGeom prst="rect">
            <a:avLst/>
          </a:prstGeom>
        </p:spPr>
      </p:pic>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05065" y="1729609"/>
            <a:ext cx="3127519" cy="39627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5" end="5"/>
                                            </p:txEl>
                                          </p:spTgt>
                                        </p:tgtEl>
                                        <p:attrNameLst>
                                          <p:attrName>style.visibility</p:attrName>
                                        </p:attrNameLst>
                                      </p:cBhvr>
                                      <p:to>
                                        <p:strVal val="visible"/>
                                      </p:to>
                                    </p:set>
                                    <p:animEffect transition="in" filter="fade">
                                      <p:cBhvr>
                                        <p:cTn id="12" dur="500"/>
                                        <p:tgtEl>
                                          <p:spTgt spid="3">
                                            <p:txEl>
                                              <p:pRg st="5" end="5"/>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大纲</a:t>
            </a:r>
            <a:endParaRPr lang="zh-CN" altLang="en-US"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p:txBody>
          <a:bodyPr/>
          <a:lstStyle/>
          <a:p>
            <a:r>
              <a:rPr lang="zh-CN" altLang="en-US" dirty="0">
                <a:solidFill>
                  <a:schemeClr val="bg1">
                    <a:lumMod val="85000"/>
                  </a:schemeClr>
                </a:solidFill>
              </a:rPr>
              <a:t>间隔与支持向量</a:t>
            </a:r>
            <a:endParaRPr lang="en-US" altLang="zh-CN" dirty="0">
              <a:solidFill>
                <a:schemeClr val="bg1">
                  <a:lumMod val="85000"/>
                </a:schemeClr>
              </a:solidFill>
            </a:endParaRPr>
          </a:p>
          <a:p>
            <a:endParaRPr lang="en-US" altLang="zh-CN" dirty="0"/>
          </a:p>
          <a:p>
            <a:r>
              <a:rPr lang="zh-CN" altLang="en-US" dirty="0">
                <a:solidFill>
                  <a:schemeClr val="bg1">
                    <a:lumMod val="85000"/>
                  </a:schemeClr>
                </a:solidFill>
              </a:rPr>
              <a:t>对偶问题</a:t>
            </a:r>
            <a:endParaRPr lang="en-US" altLang="zh-CN" dirty="0">
              <a:solidFill>
                <a:schemeClr val="bg1">
                  <a:lumMod val="85000"/>
                </a:schemeClr>
              </a:solidFill>
            </a:endParaRPr>
          </a:p>
          <a:p>
            <a:endParaRPr lang="en-US" altLang="zh-CN" dirty="0"/>
          </a:p>
          <a:p>
            <a:r>
              <a:rPr lang="zh-CN" altLang="en-US" dirty="0">
                <a:solidFill>
                  <a:schemeClr val="bg1">
                    <a:lumMod val="85000"/>
                  </a:schemeClr>
                </a:solidFill>
              </a:rPr>
              <a:t>核函数</a:t>
            </a:r>
            <a:endParaRPr lang="en-US" altLang="zh-CN" dirty="0">
              <a:solidFill>
                <a:schemeClr val="bg1">
                  <a:lumMod val="85000"/>
                </a:schemeClr>
              </a:solidFill>
            </a:endParaRPr>
          </a:p>
          <a:p>
            <a:endParaRPr lang="en-US" altLang="zh-CN" dirty="0">
              <a:solidFill>
                <a:schemeClr val="bg1">
                  <a:lumMod val="85000"/>
                </a:schemeClr>
              </a:solidFill>
            </a:endParaRPr>
          </a:p>
          <a:p>
            <a:r>
              <a:rPr lang="zh-CN" altLang="en-US" b="1" dirty="0">
                <a:latin typeface="黑体" panose="02010609060101010101" pitchFamily="49" charset="-122"/>
                <a:ea typeface="黑体" panose="02010609060101010101" pitchFamily="49" charset="-122"/>
              </a:rPr>
              <a:t>软间隔与正则化</a:t>
            </a:r>
            <a:endParaRPr lang="en-US" altLang="zh-CN" b="1" dirty="0">
              <a:latin typeface="黑体" panose="02010609060101010101" pitchFamily="49" charset="-122"/>
              <a:ea typeface="黑体" panose="02010609060101010101" pitchFamily="49" charset="-122"/>
            </a:endParaRPr>
          </a:p>
          <a:p>
            <a:endParaRPr lang="en-US" altLang="zh-CN" dirty="0">
              <a:solidFill>
                <a:schemeClr val="bg1">
                  <a:lumMod val="85000"/>
                </a:schemeClr>
              </a:solidFill>
            </a:endParaRPr>
          </a:p>
          <a:p>
            <a:r>
              <a:rPr lang="zh-CN" altLang="en-US" dirty="0">
                <a:solidFill>
                  <a:schemeClr val="bg1">
                    <a:lumMod val="85000"/>
                  </a:schemeClr>
                </a:solidFill>
              </a:rPr>
              <a:t>支持向量回归</a:t>
            </a:r>
            <a:endParaRPr lang="en-US" altLang="zh-CN" dirty="0">
              <a:solidFill>
                <a:schemeClr val="bg1">
                  <a:lumMod val="85000"/>
                </a:schemeClr>
              </a:solidFill>
            </a:endParaRPr>
          </a:p>
          <a:p>
            <a:endParaRPr lang="en-US" altLang="zh-CN" dirty="0">
              <a:solidFill>
                <a:schemeClr val="bg1">
                  <a:lumMod val="85000"/>
                </a:schemeClr>
              </a:solidFill>
            </a:endParaRPr>
          </a:p>
          <a:p>
            <a:r>
              <a:rPr lang="zh-CN" altLang="en-US" dirty="0">
                <a:solidFill>
                  <a:schemeClr val="bg1">
                    <a:lumMod val="85000"/>
                  </a:schemeClr>
                </a:solidFill>
              </a:rPr>
              <a:t>核方法</a:t>
            </a:r>
            <a:endParaRPr lang="zh-CN" altLang="en-US" dirty="0">
              <a:solidFill>
                <a:schemeClr val="bg1">
                  <a:lumMod val="85000"/>
                </a:schemeClr>
              </a:solidFill>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软间隔</a:t>
            </a:r>
            <a:endParaRPr lang="zh-CN" altLang="en-US"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a:xfrm>
            <a:off x="167585" y="1019138"/>
            <a:ext cx="8616950" cy="1297489"/>
          </a:xfrm>
        </p:spPr>
        <p:txBody>
          <a:bodyPr>
            <a:normAutofit lnSpcReduction="10000"/>
          </a:bodyPr>
          <a:lstStyle/>
          <a:p>
            <a:pPr marL="0" indent="0">
              <a:buNone/>
            </a:pPr>
            <a:r>
              <a:rPr lang="en-US" altLang="zh-CN" b="1" dirty="0">
                <a:latin typeface="黑体" panose="02010609060101010101" pitchFamily="49" charset="-122"/>
                <a:ea typeface="黑体" panose="02010609060101010101" pitchFamily="49" charset="-122"/>
              </a:rPr>
              <a:t>-Q:</a:t>
            </a:r>
            <a:r>
              <a:rPr lang="zh-CN" altLang="en-US" b="1" dirty="0">
                <a:latin typeface="黑体" panose="02010609060101010101" pitchFamily="49" charset="-122"/>
                <a:ea typeface="黑体" panose="02010609060101010101" pitchFamily="49" charset="-122"/>
              </a:rPr>
              <a:t>现实中</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很难确定合适的核函数使得训练样本在特征空间中线性可分</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同时一个线性可分的结果也很难断定是否是有过拟合造成的</a:t>
            </a:r>
            <a:r>
              <a:rPr lang="en-US" altLang="zh-CN" b="1" dirty="0">
                <a:latin typeface="黑体" panose="02010609060101010101" pitchFamily="49" charset="-122"/>
                <a:ea typeface="黑体" panose="02010609060101010101" pitchFamily="49" charset="-122"/>
              </a:rPr>
              <a:t>.</a:t>
            </a:r>
            <a:endParaRPr lang="en-US" altLang="zh-CN" b="1" dirty="0">
              <a:latin typeface="黑体" panose="02010609060101010101" pitchFamily="49" charset="-122"/>
              <a:ea typeface="黑体" panose="02010609060101010101" pitchFamily="49" charset="-122"/>
            </a:endParaRPr>
          </a:p>
          <a:p>
            <a:pPr marL="0" indent="0">
              <a:buNone/>
            </a:pPr>
            <a:r>
              <a:rPr lang="en-US" altLang="zh-CN" b="1" dirty="0">
                <a:latin typeface="黑体" panose="02010609060101010101" pitchFamily="49" charset="-122"/>
                <a:ea typeface="黑体" panose="02010609060101010101" pitchFamily="49" charset="-122"/>
              </a:rPr>
              <a:t>-A:</a:t>
            </a:r>
            <a:r>
              <a:rPr lang="zh-CN" altLang="en-US" b="1" dirty="0">
                <a:latin typeface="黑体" panose="02010609060101010101" pitchFamily="49" charset="-122"/>
                <a:ea typeface="黑体" panose="02010609060101010101" pitchFamily="49" charset="-122"/>
              </a:rPr>
              <a:t>引入</a:t>
            </a:r>
            <a:r>
              <a:rPr lang="en-US" altLang="zh-CN" b="1" dirty="0">
                <a:latin typeface="黑体" panose="02010609060101010101" pitchFamily="49" charset="-122"/>
                <a:ea typeface="黑体" panose="02010609060101010101" pitchFamily="49" charset="-122"/>
              </a:rPr>
              <a:t>”</a:t>
            </a:r>
            <a:r>
              <a:rPr lang="zh-CN" altLang="en-US" b="1" dirty="0">
                <a:solidFill>
                  <a:schemeClr val="tx2"/>
                </a:solidFill>
                <a:latin typeface="黑体" panose="02010609060101010101" pitchFamily="49" charset="-122"/>
                <a:ea typeface="黑体" panose="02010609060101010101" pitchFamily="49" charset="-122"/>
              </a:rPr>
              <a:t>软间隔</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的概念</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允许支持向量机在一些样本上不满足约束</a:t>
            </a:r>
            <a:r>
              <a:rPr lang="en-US" altLang="zh-CN" b="1" dirty="0">
                <a:latin typeface="黑体" panose="02010609060101010101" pitchFamily="49" charset="-122"/>
                <a:ea typeface="黑体" panose="02010609060101010101" pitchFamily="49" charset="-122"/>
              </a:rPr>
              <a:t>.</a:t>
            </a:r>
            <a:endParaRPr lang="zh-CN" altLang="en-US" b="1" dirty="0">
              <a:latin typeface="黑体" panose="02010609060101010101" pitchFamily="49" charset="-122"/>
              <a:ea typeface="黑体" panose="02010609060101010101" pitchFamily="49" charset="-122"/>
            </a:endParaRPr>
          </a:p>
        </p:txBody>
      </p:sp>
      <p:grpSp>
        <p:nvGrpSpPr>
          <p:cNvPr id="89" name="组合 88"/>
          <p:cNvGrpSpPr/>
          <p:nvPr/>
        </p:nvGrpSpPr>
        <p:grpSpPr>
          <a:xfrm>
            <a:off x="516294" y="2316627"/>
            <a:ext cx="5030696" cy="2798815"/>
            <a:chOff x="1689111" y="3059452"/>
            <a:chExt cx="5030696" cy="2798815"/>
          </a:xfrm>
        </p:grpSpPr>
        <p:cxnSp>
          <p:nvCxnSpPr>
            <p:cNvPr id="59" name="直接连接符 58"/>
            <p:cNvCxnSpPr/>
            <p:nvPr/>
          </p:nvCxnSpPr>
          <p:spPr>
            <a:xfrm flipV="1">
              <a:off x="3755706" y="3622032"/>
              <a:ext cx="1954824" cy="1915691"/>
            </a:xfrm>
            <a:prstGeom prst="line">
              <a:avLst/>
            </a:prstGeom>
            <a:ln w="952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flipV="1">
              <a:off x="3368356" y="3256907"/>
              <a:ext cx="1954824" cy="1915691"/>
            </a:xfrm>
            <a:prstGeom prst="line">
              <a:avLst/>
            </a:prstGeom>
            <a:ln w="9525">
              <a:solidFill>
                <a:schemeClr val="tx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64" name="对象 63"/>
            <p:cNvGraphicFramePr>
              <a:graphicFrameLocks noChangeAspect="1"/>
            </p:cNvGraphicFramePr>
            <p:nvPr/>
          </p:nvGraphicFramePr>
          <p:xfrm>
            <a:off x="5513307" y="4360183"/>
            <a:ext cx="1206500" cy="247650"/>
          </p:xfrm>
          <a:graphic>
            <a:graphicData uri="http://schemas.openxmlformats.org/presentationml/2006/ole">
              <mc:AlternateContent xmlns:mc="http://schemas.openxmlformats.org/markup-compatibility/2006">
                <mc:Choice xmlns:v="urn:schemas-microsoft-com:vml" Requires="v">
                  <p:oleObj spid="_x0000_s32" name="Formula" r:id="rId1" imgW="7162800" imgH="1466850" progId="Equation.Ribbit">
                    <p:embed/>
                  </p:oleObj>
                </mc:Choice>
                <mc:Fallback>
                  <p:oleObj name="Formula" r:id="rId1" imgW="7162800" imgH="1466850" progId="Equation.Ribbit">
                    <p:embed/>
                    <p:pic>
                      <p:nvPicPr>
                        <p:cNvPr id="0" name="图片 31"/>
                        <p:cNvPicPr/>
                        <p:nvPr/>
                      </p:nvPicPr>
                      <p:blipFill>
                        <a:blip r:embed="rId2"/>
                        <a:stretch>
                          <a:fillRect/>
                        </a:stretch>
                      </p:blipFill>
                      <p:spPr>
                        <a:xfrm>
                          <a:off x="5513307" y="4360183"/>
                          <a:ext cx="1206500" cy="247650"/>
                        </a:xfrm>
                        <a:prstGeom prst="rect">
                          <a:avLst/>
                        </a:prstGeom>
                      </p:spPr>
                    </p:pic>
                  </p:oleObj>
                </mc:Fallback>
              </mc:AlternateContent>
            </a:graphicData>
          </a:graphic>
        </p:graphicFrame>
        <p:graphicFrame>
          <p:nvGraphicFramePr>
            <p:cNvPr id="65" name="对象 64"/>
            <p:cNvGraphicFramePr>
              <a:graphicFrameLocks noChangeAspect="1"/>
            </p:cNvGraphicFramePr>
            <p:nvPr/>
          </p:nvGraphicFramePr>
          <p:xfrm>
            <a:off x="4029410" y="3069185"/>
            <a:ext cx="1055687" cy="247650"/>
          </p:xfrm>
          <a:graphic>
            <a:graphicData uri="http://schemas.openxmlformats.org/presentationml/2006/ole">
              <mc:AlternateContent xmlns:mc="http://schemas.openxmlformats.org/markup-compatibility/2006">
                <mc:Choice xmlns:v="urn:schemas-microsoft-com:vml" Requires="v">
                  <p:oleObj spid="_x0000_s4" name="Formula" r:id="rId3" imgW="6276975" imgH="1466850" progId="Equation.Ribbit">
                    <p:embed/>
                  </p:oleObj>
                </mc:Choice>
                <mc:Fallback>
                  <p:oleObj name="Formula" r:id="rId3" imgW="6276975" imgH="1466850" progId="Equation.Ribbit">
                    <p:embed/>
                    <p:pic>
                      <p:nvPicPr>
                        <p:cNvPr id="0" name="图片 3"/>
                        <p:cNvPicPr/>
                        <p:nvPr/>
                      </p:nvPicPr>
                      <p:blipFill>
                        <a:blip r:embed="rId4"/>
                        <a:stretch>
                          <a:fillRect/>
                        </a:stretch>
                      </p:blipFill>
                      <p:spPr>
                        <a:xfrm>
                          <a:off x="4029410" y="3069185"/>
                          <a:ext cx="1055687" cy="247650"/>
                        </a:xfrm>
                        <a:prstGeom prst="rect">
                          <a:avLst/>
                        </a:prstGeom>
                      </p:spPr>
                    </p:pic>
                  </p:oleObj>
                </mc:Fallback>
              </mc:AlternateContent>
            </a:graphicData>
          </a:graphic>
        </p:graphicFrame>
        <p:sp>
          <p:nvSpPr>
            <p:cNvPr id="67" name="任意多边形 66"/>
            <p:cNvSpPr/>
            <p:nvPr/>
          </p:nvSpPr>
          <p:spPr>
            <a:xfrm>
              <a:off x="4708499" y="3290612"/>
              <a:ext cx="185738" cy="371475"/>
            </a:xfrm>
            <a:custGeom>
              <a:avLst/>
              <a:gdLst>
                <a:gd name="connsiteX0" fmla="*/ 0 w 185738"/>
                <a:gd name="connsiteY0" fmla="*/ 0 h 371475"/>
                <a:gd name="connsiteX1" fmla="*/ 33338 w 185738"/>
                <a:gd name="connsiteY1" fmla="*/ 204787 h 371475"/>
                <a:gd name="connsiteX2" fmla="*/ 185738 w 185738"/>
                <a:gd name="connsiteY2" fmla="*/ 371475 h 371475"/>
              </a:gdLst>
              <a:ahLst/>
              <a:cxnLst>
                <a:cxn ang="0">
                  <a:pos x="connsiteX0" y="connsiteY0"/>
                </a:cxn>
                <a:cxn ang="0">
                  <a:pos x="connsiteX1" y="connsiteY1"/>
                </a:cxn>
                <a:cxn ang="0">
                  <a:pos x="connsiteX2" y="connsiteY2"/>
                </a:cxn>
              </a:cxnLst>
              <a:rect l="l" t="t" r="r" b="b"/>
              <a:pathLst>
                <a:path w="185738" h="371475">
                  <a:moveTo>
                    <a:pt x="0" y="0"/>
                  </a:moveTo>
                  <a:cubicBezTo>
                    <a:pt x="1191" y="71437"/>
                    <a:pt x="2382" y="142875"/>
                    <a:pt x="33338" y="204787"/>
                  </a:cubicBezTo>
                  <a:cubicBezTo>
                    <a:pt x="64294" y="266699"/>
                    <a:pt x="125016" y="319087"/>
                    <a:pt x="185738" y="371475"/>
                  </a:cubicBezTo>
                </a:path>
              </a:pathLst>
            </a:custGeom>
            <a:noFill/>
            <a:ln>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任意多边形 67"/>
            <p:cNvSpPr/>
            <p:nvPr/>
          </p:nvSpPr>
          <p:spPr>
            <a:xfrm>
              <a:off x="5108799" y="4256449"/>
              <a:ext cx="374650" cy="248260"/>
            </a:xfrm>
            <a:custGeom>
              <a:avLst/>
              <a:gdLst>
                <a:gd name="connsiteX0" fmla="*/ 374650 w 374650"/>
                <a:gd name="connsiteY0" fmla="*/ 247650 h 248260"/>
                <a:gd name="connsiteX1" fmla="*/ 209550 w 374650"/>
                <a:gd name="connsiteY1" fmla="*/ 209550 h 248260"/>
                <a:gd name="connsiteX2" fmla="*/ 0 w 374650"/>
                <a:gd name="connsiteY2" fmla="*/ 0 h 248260"/>
              </a:gdLst>
              <a:ahLst/>
              <a:cxnLst>
                <a:cxn ang="0">
                  <a:pos x="connsiteX0" y="connsiteY0"/>
                </a:cxn>
                <a:cxn ang="0">
                  <a:pos x="connsiteX1" y="connsiteY1"/>
                </a:cxn>
                <a:cxn ang="0">
                  <a:pos x="connsiteX2" y="connsiteY2"/>
                </a:cxn>
              </a:cxnLst>
              <a:rect l="l" t="t" r="r" b="b"/>
              <a:pathLst>
                <a:path w="374650" h="248260">
                  <a:moveTo>
                    <a:pt x="374650" y="247650"/>
                  </a:moveTo>
                  <a:cubicBezTo>
                    <a:pt x="323321" y="249237"/>
                    <a:pt x="271992" y="250825"/>
                    <a:pt x="209550" y="209550"/>
                  </a:cubicBezTo>
                  <a:cubicBezTo>
                    <a:pt x="147108" y="168275"/>
                    <a:pt x="73554" y="84137"/>
                    <a:pt x="0" y="0"/>
                  </a:cubicBezTo>
                </a:path>
              </a:pathLst>
            </a:custGeom>
            <a:noFill/>
            <a:ln>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6" name="组合 85"/>
            <p:cNvGrpSpPr/>
            <p:nvPr/>
          </p:nvGrpSpPr>
          <p:grpSpPr>
            <a:xfrm>
              <a:off x="3527106" y="3469632"/>
              <a:ext cx="3166926" cy="1915691"/>
              <a:chOff x="3527106" y="3469632"/>
              <a:chExt cx="3166926" cy="1915691"/>
            </a:xfrm>
          </p:grpSpPr>
          <p:cxnSp>
            <p:nvCxnSpPr>
              <p:cNvPr id="37" name="直接连接符 36"/>
              <p:cNvCxnSpPr/>
              <p:nvPr/>
            </p:nvCxnSpPr>
            <p:spPr>
              <a:xfrm flipV="1">
                <a:off x="3527106" y="3469632"/>
                <a:ext cx="1954824" cy="191569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aphicFrame>
            <p:nvGraphicFramePr>
              <p:cNvPr id="66" name="对象 65"/>
              <p:cNvGraphicFramePr>
                <a:graphicFrameLocks noChangeAspect="1"/>
              </p:cNvGraphicFramePr>
              <p:nvPr/>
            </p:nvGraphicFramePr>
            <p:xfrm>
              <a:off x="5631995" y="3884291"/>
              <a:ext cx="1062037" cy="247650"/>
            </p:xfrm>
            <a:graphic>
              <a:graphicData uri="http://schemas.openxmlformats.org/presentationml/2006/ole">
                <mc:AlternateContent xmlns:mc="http://schemas.openxmlformats.org/markup-compatibility/2006">
                  <mc:Choice xmlns:v="urn:schemas-microsoft-com:vml" Requires="v">
                    <p:oleObj spid="_x0000_s5" name="Formula" r:id="rId5" imgW="6315075" imgH="1466850" progId="Equation.Ribbit">
                      <p:embed/>
                    </p:oleObj>
                  </mc:Choice>
                  <mc:Fallback>
                    <p:oleObj name="Formula" r:id="rId5" imgW="6315075" imgH="1466850" progId="Equation.Ribbit">
                      <p:embed/>
                      <p:pic>
                        <p:nvPicPr>
                          <p:cNvPr id="0" name="图片 4"/>
                          <p:cNvPicPr/>
                          <p:nvPr/>
                        </p:nvPicPr>
                        <p:blipFill>
                          <a:blip r:embed="rId6"/>
                          <a:stretch>
                            <a:fillRect/>
                          </a:stretch>
                        </p:blipFill>
                        <p:spPr>
                          <a:xfrm>
                            <a:off x="5631995" y="3884291"/>
                            <a:ext cx="1062037" cy="247650"/>
                          </a:xfrm>
                          <a:prstGeom prst="rect">
                            <a:avLst/>
                          </a:prstGeom>
                        </p:spPr>
                      </p:pic>
                    </p:oleObj>
                  </mc:Fallback>
                </mc:AlternateContent>
              </a:graphicData>
            </a:graphic>
          </p:graphicFrame>
          <p:sp>
            <p:nvSpPr>
              <p:cNvPr id="69" name="任意多边形 68"/>
              <p:cNvSpPr/>
              <p:nvPr/>
            </p:nvSpPr>
            <p:spPr>
              <a:xfrm>
                <a:off x="5198524" y="3774674"/>
                <a:ext cx="374650" cy="243284"/>
              </a:xfrm>
              <a:custGeom>
                <a:avLst/>
                <a:gdLst>
                  <a:gd name="connsiteX0" fmla="*/ 368300 w 368300"/>
                  <a:gd name="connsiteY0" fmla="*/ 228600 h 241300"/>
                  <a:gd name="connsiteX1" fmla="*/ 209550 w 368300"/>
                  <a:gd name="connsiteY1" fmla="*/ 215900 h 241300"/>
                  <a:gd name="connsiteX2" fmla="*/ 0 w 368300"/>
                  <a:gd name="connsiteY2" fmla="*/ 0 h 241300"/>
                  <a:gd name="connsiteX0-1" fmla="*/ 349250 w 349250"/>
                  <a:gd name="connsiteY0-2" fmla="*/ 247650 h 254239"/>
                  <a:gd name="connsiteX1-3" fmla="*/ 209550 w 349250"/>
                  <a:gd name="connsiteY1-4" fmla="*/ 215900 h 254239"/>
                  <a:gd name="connsiteX2-5" fmla="*/ 0 w 349250"/>
                  <a:gd name="connsiteY2-6" fmla="*/ 0 h 254239"/>
                  <a:gd name="connsiteX0-7" fmla="*/ 374650 w 374650"/>
                  <a:gd name="connsiteY0-8" fmla="*/ 254000 h 259411"/>
                  <a:gd name="connsiteX1-9" fmla="*/ 209550 w 374650"/>
                  <a:gd name="connsiteY1-10" fmla="*/ 215900 h 259411"/>
                  <a:gd name="connsiteX2-11" fmla="*/ 0 w 374650"/>
                  <a:gd name="connsiteY2-12" fmla="*/ 0 h 259411"/>
                  <a:gd name="connsiteX0-13" fmla="*/ 374650 w 374650"/>
                  <a:gd name="connsiteY0-14" fmla="*/ 254000 h 254671"/>
                  <a:gd name="connsiteX1-15" fmla="*/ 209550 w 374650"/>
                  <a:gd name="connsiteY1-16" fmla="*/ 215900 h 254671"/>
                  <a:gd name="connsiteX2-17" fmla="*/ 0 w 374650"/>
                  <a:gd name="connsiteY2-18" fmla="*/ 0 h 254671"/>
                  <a:gd name="connsiteX0-19" fmla="*/ 374650 w 374650"/>
                  <a:gd name="connsiteY0-20" fmla="*/ 254000 h 254033"/>
                  <a:gd name="connsiteX1-21" fmla="*/ 175891 w 374650"/>
                  <a:gd name="connsiteY1-22" fmla="*/ 165412 h 254033"/>
                  <a:gd name="connsiteX2-23" fmla="*/ 0 w 374650"/>
                  <a:gd name="connsiteY2-24" fmla="*/ 0 h 254033"/>
                  <a:gd name="connsiteX0-25" fmla="*/ 374650 w 374650"/>
                  <a:gd name="connsiteY0-26" fmla="*/ 242781 h 242822"/>
                  <a:gd name="connsiteX1-27" fmla="*/ 175891 w 374650"/>
                  <a:gd name="connsiteY1-28" fmla="*/ 165412 h 242822"/>
                  <a:gd name="connsiteX2-29" fmla="*/ 0 w 374650"/>
                  <a:gd name="connsiteY2-30" fmla="*/ 0 h 242822"/>
                  <a:gd name="connsiteX0-31" fmla="*/ 374650 w 374650"/>
                  <a:gd name="connsiteY0-32" fmla="*/ 242781 h 243284"/>
                  <a:gd name="connsiteX1-33" fmla="*/ 198330 w 374650"/>
                  <a:gd name="connsiteY1-34" fmla="*/ 204681 h 243284"/>
                  <a:gd name="connsiteX2-35" fmla="*/ 0 w 374650"/>
                  <a:gd name="connsiteY2-36" fmla="*/ 0 h 243284"/>
                </a:gdLst>
                <a:ahLst/>
                <a:cxnLst>
                  <a:cxn ang="0">
                    <a:pos x="connsiteX0-1" y="connsiteY0-2"/>
                  </a:cxn>
                  <a:cxn ang="0">
                    <a:pos x="connsiteX1-3" y="connsiteY1-4"/>
                  </a:cxn>
                  <a:cxn ang="0">
                    <a:pos x="connsiteX2-5" y="connsiteY2-6"/>
                  </a:cxn>
                </a:cxnLst>
                <a:rect l="l" t="t" r="r" b="b"/>
                <a:pathLst>
                  <a:path w="374650" h="243284">
                    <a:moveTo>
                      <a:pt x="374650" y="242781"/>
                    </a:moveTo>
                    <a:cubicBezTo>
                      <a:pt x="314746" y="244261"/>
                      <a:pt x="260772" y="245144"/>
                      <a:pt x="198330" y="204681"/>
                    </a:cubicBezTo>
                    <a:cubicBezTo>
                      <a:pt x="135888" y="164218"/>
                      <a:pt x="74083" y="88900"/>
                      <a:pt x="0" y="0"/>
                    </a:cubicBezTo>
                  </a:path>
                </a:pathLst>
              </a:custGeom>
              <a:noFill/>
              <a:ln>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4" name="组合 83"/>
            <p:cNvGrpSpPr/>
            <p:nvPr/>
          </p:nvGrpSpPr>
          <p:grpSpPr>
            <a:xfrm>
              <a:off x="2589719" y="3059452"/>
              <a:ext cx="3350432" cy="2798815"/>
              <a:chOff x="2589719" y="3059452"/>
              <a:chExt cx="3350432" cy="2798815"/>
            </a:xfrm>
          </p:grpSpPr>
          <p:cxnSp>
            <p:nvCxnSpPr>
              <p:cNvPr id="6" name="直接箭头连接符 5"/>
              <p:cNvCxnSpPr/>
              <p:nvPr/>
            </p:nvCxnSpPr>
            <p:spPr>
              <a:xfrm flipH="1" flipV="1">
                <a:off x="2924348" y="3059452"/>
                <a:ext cx="0" cy="2520000"/>
              </a:xfrm>
              <a:prstGeom prst="straightConnector1">
                <a:avLst/>
              </a:prstGeom>
              <a:ln w="19050">
                <a:headEnd type="none" w="med" len="lg"/>
                <a:tailEnd type="triangle" w="lg" len="lg"/>
              </a:ln>
            </p:spPr>
            <p:style>
              <a:lnRef idx="1">
                <a:schemeClr val="dk1"/>
              </a:lnRef>
              <a:fillRef idx="0">
                <a:schemeClr val="dk1"/>
              </a:fillRef>
              <a:effectRef idx="0">
                <a:schemeClr val="dk1"/>
              </a:effectRef>
              <a:fontRef idx="minor">
                <a:schemeClr val="tx1"/>
              </a:fontRef>
            </p:style>
          </p:cxnSp>
          <p:cxnSp>
            <p:nvCxnSpPr>
              <p:cNvPr id="7" name="直接箭头连接符 6"/>
              <p:cNvCxnSpPr/>
              <p:nvPr/>
            </p:nvCxnSpPr>
            <p:spPr>
              <a:xfrm>
                <a:off x="2916151" y="5579512"/>
                <a:ext cx="3024000" cy="0"/>
              </a:xfrm>
              <a:prstGeom prst="straightConnector1">
                <a:avLst/>
              </a:prstGeom>
              <a:ln w="19050">
                <a:headEnd type="none" w="med" len="lg"/>
                <a:tailEnd type="triangle" w="lg" len="lg"/>
              </a:ln>
            </p:spPr>
            <p:style>
              <a:lnRef idx="1">
                <a:schemeClr val="dk1"/>
              </a:lnRef>
              <a:fillRef idx="0">
                <a:schemeClr val="dk1"/>
              </a:fillRef>
              <a:effectRef idx="0">
                <a:schemeClr val="dk1"/>
              </a:effectRef>
              <a:fontRef idx="minor">
                <a:schemeClr val="tx1"/>
              </a:fontRef>
            </p:style>
          </p:cxnSp>
          <p:sp>
            <p:nvSpPr>
              <p:cNvPr id="8" name="文本框 7"/>
              <p:cNvSpPr txBox="1"/>
              <p:nvPr/>
            </p:nvSpPr>
            <p:spPr>
              <a:xfrm>
                <a:off x="2734252" y="5497985"/>
                <a:ext cx="274434" cy="307777"/>
              </a:xfrm>
              <a:prstGeom prst="rect">
                <a:avLst/>
              </a:prstGeom>
              <a:noFill/>
            </p:spPr>
            <p:txBody>
              <a:bodyPr wrap="none" rtlCol="0">
                <a:spAutoFit/>
              </a:bodyPr>
              <a:lstStyle/>
              <a:p>
                <a:r>
                  <a:rPr lang="en-US" altLang="zh-CN" sz="1400" dirty="0">
                    <a:latin typeface="Times "/>
                  </a:rPr>
                  <a:t>0</a:t>
                </a:r>
                <a:endParaRPr lang="zh-CN" altLang="en-US" sz="1400" dirty="0">
                  <a:latin typeface="Times "/>
                </a:endParaRPr>
              </a:p>
            </p:txBody>
          </p:sp>
          <p:grpSp>
            <p:nvGrpSpPr>
              <p:cNvPr id="9" name="组合 8"/>
              <p:cNvGrpSpPr/>
              <p:nvPr/>
            </p:nvGrpSpPr>
            <p:grpSpPr>
              <a:xfrm>
                <a:off x="4027407" y="3654783"/>
                <a:ext cx="108000" cy="108000"/>
                <a:chOff x="5476803" y="2392530"/>
                <a:chExt cx="108000" cy="108000"/>
              </a:xfrm>
            </p:grpSpPr>
            <p:cxnSp>
              <p:nvCxnSpPr>
                <p:cNvPr id="10" name="直接连接符 9"/>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1" name="直接连接符 10"/>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12" name="组合 11"/>
              <p:cNvGrpSpPr/>
              <p:nvPr/>
            </p:nvGrpSpPr>
            <p:grpSpPr>
              <a:xfrm>
                <a:off x="3900607" y="4304632"/>
                <a:ext cx="108000" cy="108000"/>
                <a:chOff x="5476803" y="2392530"/>
                <a:chExt cx="108000" cy="108000"/>
              </a:xfrm>
            </p:grpSpPr>
            <p:cxnSp>
              <p:nvCxnSpPr>
                <p:cNvPr id="13" name="直接连接符 12"/>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4" name="直接连接符 13"/>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15" name="组合 14"/>
              <p:cNvGrpSpPr/>
              <p:nvPr/>
            </p:nvGrpSpPr>
            <p:grpSpPr>
              <a:xfrm>
                <a:off x="3726033" y="4146728"/>
                <a:ext cx="108000" cy="108000"/>
                <a:chOff x="5476803" y="2392530"/>
                <a:chExt cx="108000" cy="108000"/>
              </a:xfrm>
            </p:grpSpPr>
            <p:cxnSp>
              <p:nvCxnSpPr>
                <p:cNvPr id="16" name="直接连接符 15"/>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7" name="直接连接符 16"/>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18" name="组合 17"/>
              <p:cNvGrpSpPr/>
              <p:nvPr/>
            </p:nvGrpSpPr>
            <p:grpSpPr>
              <a:xfrm>
                <a:off x="3365106" y="4373175"/>
                <a:ext cx="108000" cy="108000"/>
                <a:chOff x="5476803" y="2392530"/>
                <a:chExt cx="108000" cy="108000"/>
              </a:xfrm>
            </p:grpSpPr>
            <p:cxnSp>
              <p:nvCxnSpPr>
                <p:cNvPr id="19" name="直接连接符 18"/>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20" name="直接连接符 19"/>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21" name="组合 20"/>
              <p:cNvGrpSpPr/>
              <p:nvPr/>
            </p:nvGrpSpPr>
            <p:grpSpPr>
              <a:xfrm>
                <a:off x="3544128" y="4549669"/>
                <a:ext cx="108000" cy="108000"/>
                <a:chOff x="5476803" y="2392530"/>
                <a:chExt cx="108000" cy="108000"/>
              </a:xfrm>
            </p:grpSpPr>
            <p:cxnSp>
              <p:nvCxnSpPr>
                <p:cNvPr id="22" name="直接连接符 21"/>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23" name="直接连接符 22"/>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24" name="组合 23"/>
              <p:cNvGrpSpPr/>
              <p:nvPr/>
            </p:nvGrpSpPr>
            <p:grpSpPr>
              <a:xfrm>
                <a:off x="3893982" y="4543792"/>
                <a:ext cx="108000" cy="108000"/>
                <a:chOff x="5476803" y="2392530"/>
                <a:chExt cx="108000" cy="108000"/>
              </a:xfrm>
            </p:grpSpPr>
            <p:cxnSp>
              <p:nvCxnSpPr>
                <p:cNvPr id="25" name="直接连接符 24"/>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26" name="直接连接符 25"/>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27" name="组合 26"/>
              <p:cNvGrpSpPr/>
              <p:nvPr/>
            </p:nvGrpSpPr>
            <p:grpSpPr>
              <a:xfrm>
                <a:off x="3458057" y="3696603"/>
                <a:ext cx="108000" cy="108000"/>
                <a:chOff x="5476803" y="2392530"/>
                <a:chExt cx="108000" cy="108000"/>
              </a:xfrm>
            </p:grpSpPr>
            <p:cxnSp>
              <p:nvCxnSpPr>
                <p:cNvPr id="28" name="直接连接符 27"/>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29" name="直接连接符 28"/>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cxnSp>
            <p:nvCxnSpPr>
              <p:cNvPr id="30" name="直接连接符 29"/>
              <p:cNvCxnSpPr/>
              <p:nvPr/>
            </p:nvCxnSpPr>
            <p:spPr>
              <a:xfrm>
                <a:off x="5082635" y="4802046"/>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31" name="直接连接符 30"/>
              <p:cNvCxnSpPr/>
              <p:nvPr/>
            </p:nvCxnSpPr>
            <p:spPr>
              <a:xfrm>
                <a:off x="4570403" y="4687302"/>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33" name="直接连接符 32"/>
              <p:cNvCxnSpPr/>
              <p:nvPr/>
            </p:nvCxnSpPr>
            <p:spPr>
              <a:xfrm>
                <a:off x="4446151" y="524231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34" name="直接连接符 33"/>
              <p:cNvCxnSpPr/>
              <p:nvPr/>
            </p:nvCxnSpPr>
            <p:spPr>
              <a:xfrm>
                <a:off x="4109907" y="5139573"/>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35" name="直接连接符 34"/>
              <p:cNvCxnSpPr/>
              <p:nvPr/>
            </p:nvCxnSpPr>
            <p:spPr>
              <a:xfrm>
                <a:off x="4916373" y="5098393"/>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36" name="直接连接符 35"/>
              <p:cNvCxnSpPr/>
              <p:nvPr/>
            </p:nvCxnSpPr>
            <p:spPr>
              <a:xfrm>
                <a:off x="4962076" y="4967964"/>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38" name="直接连接符 37"/>
              <p:cNvCxnSpPr/>
              <p:nvPr/>
            </p:nvCxnSpPr>
            <p:spPr>
              <a:xfrm>
                <a:off x="4384316" y="5024514"/>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39" name="直接连接符 38"/>
              <p:cNvCxnSpPr/>
              <p:nvPr/>
            </p:nvCxnSpPr>
            <p:spPr>
              <a:xfrm>
                <a:off x="5136635" y="4603669"/>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40" name="直接连接符 39"/>
              <p:cNvCxnSpPr/>
              <p:nvPr/>
            </p:nvCxnSpPr>
            <p:spPr>
              <a:xfrm>
                <a:off x="4624403" y="4967964"/>
                <a:ext cx="108000" cy="0"/>
              </a:xfrm>
              <a:prstGeom prst="line">
                <a:avLst/>
              </a:prstGeom>
              <a:ln w="19050"/>
            </p:spPr>
            <p:style>
              <a:lnRef idx="1">
                <a:schemeClr val="dk1"/>
              </a:lnRef>
              <a:fillRef idx="0">
                <a:schemeClr val="dk1"/>
              </a:fillRef>
              <a:effectRef idx="0">
                <a:schemeClr val="dk1"/>
              </a:effectRef>
              <a:fontRef idx="minor">
                <a:schemeClr val="tx1"/>
              </a:fontRef>
            </p:style>
          </p:cxnSp>
          <p:grpSp>
            <p:nvGrpSpPr>
              <p:cNvPr id="41" name="组合 40"/>
              <p:cNvGrpSpPr/>
              <p:nvPr/>
            </p:nvGrpSpPr>
            <p:grpSpPr>
              <a:xfrm>
                <a:off x="4462403" y="3537055"/>
                <a:ext cx="108000" cy="108000"/>
                <a:chOff x="5476803" y="2392530"/>
                <a:chExt cx="108000" cy="108000"/>
              </a:xfrm>
            </p:grpSpPr>
            <p:cxnSp>
              <p:nvCxnSpPr>
                <p:cNvPr id="42" name="直接连接符 41"/>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43" name="直接连接符 42"/>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44" name="组合 43"/>
              <p:cNvGrpSpPr/>
              <p:nvPr/>
            </p:nvGrpSpPr>
            <p:grpSpPr>
              <a:xfrm>
                <a:off x="4236299" y="3750603"/>
                <a:ext cx="108000" cy="108000"/>
                <a:chOff x="5476803" y="2392530"/>
                <a:chExt cx="108000" cy="108000"/>
              </a:xfrm>
            </p:grpSpPr>
            <p:cxnSp>
              <p:nvCxnSpPr>
                <p:cNvPr id="45" name="直接连接符 44"/>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46" name="直接连接符 45"/>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47" name="组合 46"/>
              <p:cNvGrpSpPr/>
              <p:nvPr/>
            </p:nvGrpSpPr>
            <p:grpSpPr>
              <a:xfrm>
                <a:off x="3280142" y="4694046"/>
                <a:ext cx="108000" cy="108000"/>
                <a:chOff x="5476803" y="2392530"/>
                <a:chExt cx="108000" cy="108000"/>
              </a:xfrm>
            </p:grpSpPr>
            <p:cxnSp>
              <p:nvCxnSpPr>
                <p:cNvPr id="48" name="直接连接符 47"/>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49" name="直接连接符 48"/>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50" name="组合 49"/>
              <p:cNvGrpSpPr/>
              <p:nvPr/>
            </p:nvGrpSpPr>
            <p:grpSpPr>
              <a:xfrm>
                <a:off x="3744425" y="3880598"/>
                <a:ext cx="108000" cy="108000"/>
                <a:chOff x="5476803" y="2392530"/>
                <a:chExt cx="108000" cy="108000"/>
              </a:xfrm>
            </p:grpSpPr>
            <p:cxnSp>
              <p:nvCxnSpPr>
                <p:cNvPr id="51" name="直接连接符 50"/>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52" name="直接连接符 51"/>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53" name="组合 52"/>
              <p:cNvGrpSpPr/>
              <p:nvPr/>
            </p:nvGrpSpPr>
            <p:grpSpPr>
              <a:xfrm>
                <a:off x="3383498" y="4107045"/>
                <a:ext cx="108000" cy="108000"/>
                <a:chOff x="5476803" y="2392530"/>
                <a:chExt cx="108000" cy="108000"/>
              </a:xfrm>
            </p:grpSpPr>
            <p:cxnSp>
              <p:nvCxnSpPr>
                <p:cNvPr id="54" name="直接连接符 53"/>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55" name="直接连接符 54"/>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cxnSp>
            <p:nvCxnSpPr>
              <p:cNvPr id="56" name="直接连接符 55"/>
              <p:cNvCxnSpPr/>
              <p:nvPr/>
            </p:nvCxnSpPr>
            <p:spPr>
              <a:xfrm>
                <a:off x="4743388" y="5225782"/>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57" name="直接连接符 56"/>
              <p:cNvCxnSpPr/>
              <p:nvPr/>
            </p:nvCxnSpPr>
            <p:spPr>
              <a:xfrm>
                <a:off x="4851388" y="4748046"/>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58" name="直接连接符 57"/>
              <p:cNvCxnSpPr/>
              <p:nvPr/>
            </p:nvCxnSpPr>
            <p:spPr>
              <a:xfrm>
                <a:off x="4962076" y="4427175"/>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61" name="直接连接符 60"/>
              <p:cNvCxnSpPr/>
              <p:nvPr/>
            </p:nvCxnSpPr>
            <p:spPr>
              <a:xfrm>
                <a:off x="5320216" y="4198575"/>
                <a:ext cx="108000" cy="0"/>
              </a:xfrm>
              <a:prstGeom prst="line">
                <a:avLst/>
              </a:prstGeom>
              <a:ln w="19050"/>
            </p:spPr>
            <p:style>
              <a:lnRef idx="1">
                <a:schemeClr val="dk1"/>
              </a:lnRef>
              <a:fillRef idx="0">
                <a:schemeClr val="dk1"/>
              </a:fillRef>
              <a:effectRef idx="0">
                <a:schemeClr val="dk1"/>
              </a:effectRef>
              <a:fontRef idx="minor">
                <a:schemeClr val="tx1"/>
              </a:fontRef>
            </p:style>
          </p:cxnSp>
          <p:graphicFrame>
            <p:nvGraphicFramePr>
              <p:cNvPr id="62" name="对象 61"/>
              <p:cNvGraphicFramePr>
                <a:graphicFrameLocks noChangeAspect="1"/>
              </p:cNvGraphicFramePr>
              <p:nvPr/>
            </p:nvGraphicFramePr>
            <p:xfrm>
              <a:off x="5481930" y="5642267"/>
              <a:ext cx="222546" cy="216000"/>
            </p:xfrm>
            <a:graphic>
              <a:graphicData uri="http://schemas.openxmlformats.org/presentationml/2006/ole">
                <mc:AlternateContent xmlns:mc="http://schemas.openxmlformats.org/markup-compatibility/2006">
                  <mc:Choice xmlns:v="urn:schemas-microsoft-com:vml" Requires="v">
                    <p:oleObj spid="_x0000_s63" name="Formula" r:id="rId7" imgW="1028700" imgH="981075" progId="Equation.Ribbit">
                      <p:embed/>
                    </p:oleObj>
                  </mc:Choice>
                  <mc:Fallback>
                    <p:oleObj name="Formula" r:id="rId7" imgW="1028700" imgH="981075" progId="Equation.Ribbit">
                      <p:embed/>
                      <p:pic>
                        <p:nvPicPr>
                          <p:cNvPr id="0" name="图片 62"/>
                          <p:cNvPicPr/>
                          <p:nvPr/>
                        </p:nvPicPr>
                        <p:blipFill>
                          <a:blip r:embed="rId8"/>
                          <a:stretch>
                            <a:fillRect/>
                          </a:stretch>
                        </p:blipFill>
                        <p:spPr>
                          <a:xfrm>
                            <a:off x="5481930" y="5642267"/>
                            <a:ext cx="222546" cy="216000"/>
                          </a:xfrm>
                          <a:prstGeom prst="rect">
                            <a:avLst/>
                          </a:prstGeom>
                        </p:spPr>
                      </p:pic>
                    </p:oleObj>
                  </mc:Fallback>
                </mc:AlternateContent>
              </a:graphicData>
            </a:graphic>
          </p:graphicFrame>
          <p:graphicFrame>
            <p:nvGraphicFramePr>
              <p:cNvPr id="70" name="对象 69"/>
              <p:cNvGraphicFramePr>
                <a:graphicFrameLocks noChangeAspect="1"/>
              </p:cNvGraphicFramePr>
              <p:nvPr/>
            </p:nvGraphicFramePr>
            <p:xfrm>
              <a:off x="2589719" y="3259832"/>
              <a:ext cx="230399" cy="216000"/>
            </p:xfrm>
            <a:graphic>
              <a:graphicData uri="http://schemas.openxmlformats.org/presentationml/2006/ole">
                <mc:AlternateContent xmlns:mc="http://schemas.openxmlformats.org/markup-compatibility/2006">
                  <mc:Choice xmlns:v="urn:schemas-microsoft-com:vml" Requires="v">
                    <p:oleObj spid="_x0000_s71" name="Formula" r:id="rId9" imgW="1057275" imgH="981075" progId="Equation.Ribbit">
                      <p:embed/>
                    </p:oleObj>
                  </mc:Choice>
                  <mc:Fallback>
                    <p:oleObj name="Formula" r:id="rId9" imgW="1057275" imgH="981075" progId="Equation.Ribbit">
                      <p:embed/>
                      <p:pic>
                        <p:nvPicPr>
                          <p:cNvPr id="0" name="图片 70"/>
                          <p:cNvPicPr/>
                          <p:nvPr/>
                        </p:nvPicPr>
                        <p:blipFill>
                          <a:blip r:embed="rId10"/>
                          <a:stretch>
                            <a:fillRect/>
                          </a:stretch>
                        </p:blipFill>
                        <p:spPr>
                          <a:xfrm>
                            <a:off x="2589719" y="3259832"/>
                            <a:ext cx="230399" cy="216000"/>
                          </a:xfrm>
                          <a:prstGeom prst="rect">
                            <a:avLst/>
                          </a:prstGeom>
                        </p:spPr>
                      </p:pic>
                    </p:oleObj>
                  </mc:Fallback>
                </mc:AlternateContent>
              </a:graphicData>
            </a:graphic>
          </p:graphicFrame>
          <p:cxnSp>
            <p:nvCxnSpPr>
              <p:cNvPr id="72" name="直接连接符 71"/>
              <p:cNvCxnSpPr/>
              <p:nvPr/>
            </p:nvCxnSpPr>
            <p:spPr>
              <a:xfrm>
                <a:off x="4570403" y="4116190"/>
                <a:ext cx="108000" cy="0"/>
              </a:xfrm>
              <a:prstGeom prst="line">
                <a:avLst/>
              </a:prstGeom>
              <a:ln w="19050"/>
            </p:spPr>
            <p:style>
              <a:lnRef idx="1">
                <a:schemeClr val="dk1"/>
              </a:lnRef>
              <a:fillRef idx="0">
                <a:schemeClr val="dk1"/>
              </a:fillRef>
              <a:effectRef idx="0">
                <a:schemeClr val="dk1"/>
              </a:effectRef>
              <a:fontRef idx="minor">
                <a:schemeClr val="tx1"/>
              </a:fontRef>
            </p:style>
          </p:cxnSp>
          <p:grpSp>
            <p:nvGrpSpPr>
              <p:cNvPr id="73" name="组合 72"/>
              <p:cNvGrpSpPr/>
              <p:nvPr/>
            </p:nvGrpSpPr>
            <p:grpSpPr>
              <a:xfrm>
                <a:off x="4272093" y="4684632"/>
                <a:ext cx="108000" cy="108000"/>
                <a:chOff x="5476803" y="2392530"/>
                <a:chExt cx="108000" cy="108000"/>
              </a:xfrm>
            </p:grpSpPr>
            <p:cxnSp>
              <p:nvCxnSpPr>
                <p:cNvPr id="74" name="直接连接符 73"/>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75" name="直接连接符 74"/>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76" name="组合 75"/>
              <p:cNvGrpSpPr/>
              <p:nvPr/>
            </p:nvGrpSpPr>
            <p:grpSpPr>
              <a:xfrm>
                <a:off x="5505122" y="3820344"/>
                <a:ext cx="108000" cy="108000"/>
                <a:chOff x="5476803" y="2392530"/>
                <a:chExt cx="108000" cy="108000"/>
              </a:xfrm>
            </p:grpSpPr>
            <p:cxnSp>
              <p:nvCxnSpPr>
                <p:cNvPr id="77" name="直接连接符 76"/>
                <p:cNvCxnSpPr/>
                <p:nvPr/>
              </p:nvCxnSpPr>
              <p:spPr>
                <a:xfrm>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78" name="直接连接符 77"/>
                <p:cNvCxnSpPr/>
                <p:nvPr/>
              </p:nvCxnSpPr>
              <p:spPr>
                <a:xfrm rot="5400000">
                  <a:off x="5476803" y="2446530"/>
                  <a:ext cx="108000" cy="0"/>
                </a:xfrm>
                <a:prstGeom prst="line">
                  <a:avLst/>
                </a:prstGeom>
                <a:ln w="19050"/>
              </p:spPr>
              <p:style>
                <a:lnRef idx="1">
                  <a:schemeClr val="dk1"/>
                </a:lnRef>
                <a:fillRef idx="0">
                  <a:schemeClr val="dk1"/>
                </a:fillRef>
                <a:effectRef idx="0">
                  <a:schemeClr val="dk1"/>
                </a:effectRef>
                <a:fontRef idx="minor">
                  <a:schemeClr val="tx1"/>
                </a:fontRef>
              </p:style>
            </p:cxnSp>
          </p:grpSp>
          <p:cxnSp>
            <p:nvCxnSpPr>
              <p:cNvPr id="79" name="直接连接符 78"/>
              <p:cNvCxnSpPr/>
              <p:nvPr/>
            </p:nvCxnSpPr>
            <p:spPr>
              <a:xfrm>
                <a:off x="4320151" y="4358632"/>
                <a:ext cx="108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80" name="直接连接符 79"/>
              <p:cNvCxnSpPr/>
              <p:nvPr/>
            </p:nvCxnSpPr>
            <p:spPr>
              <a:xfrm>
                <a:off x="4405920" y="3962172"/>
                <a:ext cx="108000"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85" name="组合 84"/>
            <p:cNvGrpSpPr/>
            <p:nvPr/>
          </p:nvGrpSpPr>
          <p:grpSpPr>
            <a:xfrm>
              <a:off x="3846393" y="3776431"/>
              <a:ext cx="1804550" cy="1449351"/>
              <a:chOff x="3846393" y="3776431"/>
              <a:chExt cx="1804550" cy="1449351"/>
            </a:xfrm>
          </p:grpSpPr>
          <p:sp>
            <p:nvSpPr>
              <p:cNvPr id="81" name="椭圆 80"/>
              <p:cNvSpPr/>
              <p:nvPr/>
            </p:nvSpPr>
            <p:spPr>
              <a:xfrm>
                <a:off x="3846393" y="4516821"/>
                <a:ext cx="180000" cy="18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椭圆 81"/>
              <p:cNvSpPr/>
              <p:nvPr/>
            </p:nvSpPr>
            <p:spPr>
              <a:xfrm>
                <a:off x="5470943" y="3776431"/>
                <a:ext cx="180000" cy="18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椭圆 82"/>
              <p:cNvSpPr/>
              <p:nvPr/>
            </p:nvSpPr>
            <p:spPr>
              <a:xfrm>
                <a:off x="4235768" y="4648632"/>
                <a:ext cx="180000" cy="180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椭圆 86"/>
              <p:cNvSpPr/>
              <p:nvPr/>
            </p:nvSpPr>
            <p:spPr>
              <a:xfrm>
                <a:off x="4536585" y="4591092"/>
                <a:ext cx="180000" cy="180000"/>
              </a:xfrm>
              <a:prstGeom prst="ellipse">
                <a:avLst/>
              </a:prstGeom>
              <a:solidFill>
                <a:srgbClr val="FF0000">
                  <a:alpha val="20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椭圆 87"/>
              <p:cNvSpPr/>
              <p:nvPr/>
            </p:nvSpPr>
            <p:spPr>
              <a:xfrm>
                <a:off x="4539785" y="4023386"/>
                <a:ext cx="180000" cy="180000"/>
              </a:xfrm>
              <a:prstGeom prst="ellipse">
                <a:avLst/>
              </a:prstGeom>
              <a:solidFill>
                <a:srgbClr val="FF0000">
                  <a:alpha val="20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椭圆 89"/>
              <p:cNvSpPr/>
              <p:nvPr/>
            </p:nvSpPr>
            <p:spPr>
              <a:xfrm>
                <a:off x="4281333" y="4256169"/>
                <a:ext cx="180000" cy="180000"/>
              </a:xfrm>
              <a:prstGeom prst="ellipse">
                <a:avLst/>
              </a:prstGeom>
              <a:solidFill>
                <a:srgbClr val="FF0000">
                  <a:alpha val="20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椭圆 90"/>
              <p:cNvSpPr/>
              <p:nvPr/>
            </p:nvSpPr>
            <p:spPr>
              <a:xfrm>
                <a:off x="4060259" y="5045782"/>
                <a:ext cx="180000" cy="180000"/>
              </a:xfrm>
              <a:prstGeom prst="ellipse">
                <a:avLst/>
              </a:prstGeom>
              <a:solidFill>
                <a:srgbClr val="FF0000">
                  <a:alpha val="20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椭圆 91"/>
              <p:cNvSpPr/>
              <p:nvPr/>
            </p:nvSpPr>
            <p:spPr>
              <a:xfrm>
                <a:off x="4374151" y="3864098"/>
                <a:ext cx="180000" cy="180000"/>
              </a:xfrm>
              <a:prstGeom prst="ellipse">
                <a:avLst/>
              </a:prstGeom>
              <a:solidFill>
                <a:srgbClr val="FF0000">
                  <a:alpha val="20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3" name="内容占位符 3"/>
            <p:cNvSpPr txBox="1"/>
            <p:nvPr/>
          </p:nvSpPr>
          <p:spPr>
            <a:xfrm>
              <a:off x="1689111" y="4721679"/>
              <a:ext cx="2731878" cy="451134"/>
            </a:xfrm>
            <a:prstGeom prst="rect">
              <a:avLst/>
            </a:prstGeom>
          </p:spPr>
          <p:txBody>
            <a:bodyPr vert="horz" lIns="91440" tIns="46800" rIns="91440" bIns="45720" rtlCol="0">
              <a:normAutofit/>
            </a:bodyPr>
            <a:lstStyle>
              <a:lvl1pPr marL="228600" indent="-360045" algn="l" defTabSz="914400" rtl="0" eaLnBrk="1" latinLnBrk="0" hangingPunct="1">
                <a:lnSpc>
                  <a:spcPct val="90000"/>
                </a:lnSpc>
                <a:spcBef>
                  <a:spcPts val="1000"/>
                </a:spcBef>
                <a:buClr>
                  <a:schemeClr val="tx2"/>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rgbClr val="023A9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rgbClr val="023A9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rgbClr val="023A9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rgbClr val="023A9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b="1" dirty="0">
                  <a:latin typeface="黑体" panose="02010609060101010101" pitchFamily="49" charset="-122"/>
                  <a:ea typeface="黑体" panose="02010609060101010101" pitchFamily="49" charset="-122"/>
                </a:rPr>
                <a:t>不满足约束的样本</a:t>
              </a:r>
              <a:endParaRPr lang="zh-CN" altLang="en-US" b="1" dirty="0">
                <a:latin typeface="黑体" panose="02010609060101010101" pitchFamily="49" charset="-122"/>
                <a:ea typeface="黑体" panose="02010609060101010101" pitchFamily="49" charset="-122"/>
              </a:endParaRPr>
            </a:p>
          </p:txBody>
        </p:sp>
      </p:grpSp>
      <p:pic>
        <p:nvPicPr>
          <p:cNvPr id="94" name="图片 93"/>
          <p:cNvPicPr>
            <a:picLocks noChangeAspect="1"/>
          </p:cNvPicPr>
          <p:nvPr/>
        </p:nvPicPr>
        <p:blipFill>
          <a:blip r:embed="rId11"/>
          <a:stretch>
            <a:fillRect/>
          </a:stretch>
        </p:blipFill>
        <p:spPr>
          <a:xfrm>
            <a:off x="5576848" y="3850519"/>
            <a:ext cx="3362325" cy="904875"/>
          </a:xfrm>
          <a:prstGeom prst="rect">
            <a:avLst/>
          </a:prstGeom>
        </p:spPr>
      </p:pic>
      <p:sp>
        <p:nvSpPr>
          <p:cNvPr id="95" name="内容占位符 2"/>
          <p:cNvSpPr txBox="1"/>
          <p:nvPr/>
        </p:nvSpPr>
        <p:spPr>
          <a:xfrm>
            <a:off x="322223" y="5318945"/>
            <a:ext cx="8616950" cy="1297489"/>
          </a:xfrm>
          <a:prstGeom prst="rect">
            <a:avLst/>
          </a:prstGeom>
        </p:spPr>
        <p:txBody>
          <a:bodyPr vert="horz" lIns="91440" tIns="46800" rIns="91440" bIns="45720" rtlCol="0">
            <a:normAutofit/>
          </a:bodyPr>
          <a:lstStyle>
            <a:lvl1pPr marL="228600" indent="-360045"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r>
              <a:rPr lang="zh-CN" altLang="en-US" b="1" dirty="0">
                <a:solidFill>
                  <a:srgbClr val="FF0000"/>
                </a:solidFill>
                <a:latin typeface="黑体" panose="02010609060101010101" pitchFamily="49" charset="-122"/>
                <a:ea typeface="黑体" panose="02010609060101010101" pitchFamily="49" charset="-122"/>
              </a:rPr>
              <a:t>放弃对某些点（很大的可能是噪声）的精确分类，对分类器是损失，但是好处是分类面不必向这些点移动，得到更大的几何间隔（在低维空间中，分类边界更平滑）。需要权衡这种好处和损失。</a:t>
            </a:r>
            <a:endParaRPr lang="zh-CN" altLang="en-US" b="1" dirty="0">
              <a:solidFill>
                <a:srgbClr val="FF0000"/>
              </a:solidFill>
              <a:latin typeface="黑体" panose="02010609060101010101" pitchFamily="49" charset="-122"/>
              <a:ea typeface="黑体" panose="02010609060101010101" pitchFamily="49" charset="-122"/>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黑体" panose="02010609060101010101" pitchFamily="49" charset="-122"/>
                <a:ea typeface="黑体" panose="02010609060101010101" pitchFamily="49" charset="-122"/>
              </a:rPr>
              <a:t>0/1</a:t>
            </a:r>
            <a:r>
              <a:rPr lang="zh-CN" altLang="en-US" dirty="0">
                <a:latin typeface="黑体" panose="02010609060101010101" pitchFamily="49" charset="-122"/>
                <a:ea typeface="黑体" panose="02010609060101010101" pitchFamily="49" charset="-122"/>
              </a:rPr>
              <a:t>损失函数</a:t>
            </a:r>
            <a:endParaRPr lang="zh-CN" altLang="en-US"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p:txBody>
          <a:bodyPr>
            <a:normAutofit/>
          </a:bodyPr>
          <a:lstStyle/>
          <a:p>
            <a:pPr>
              <a:lnSpc>
                <a:spcPts val="2700"/>
              </a:lnSpc>
            </a:pPr>
            <a:r>
              <a:rPr lang="zh-CN" altLang="en-US" sz="2000" b="1" dirty="0">
                <a:latin typeface="黑体" panose="02010609060101010101" pitchFamily="49" charset="-122"/>
                <a:ea typeface="黑体" panose="02010609060101010101" pitchFamily="49" charset="-122"/>
              </a:rPr>
              <a:t>基本想法：最大化间隔的同时</a:t>
            </a:r>
            <a:r>
              <a:rPr lang="en-US" altLang="zh-CN" sz="2000" b="1" dirty="0">
                <a:latin typeface="黑体" panose="02010609060101010101" pitchFamily="49" charset="-122"/>
                <a:ea typeface="黑体" panose="02010609060101010101" pitchFamily="49" charset="-122"/>
              </a:rPr>
              <a:t>, </a:t>
            </a:r>
            <a:r>
              <a:rPr lang="zh-CN" altLang="en-US" sz="2000" b="1" dirty="0">
                <a:latin typeface="黑体" panose="02010609060101010101" pitchFamily="49" charset="-122"/>
                <a:ea typeface="黑体" panose="02010609060101010101" pitchFamily="49" charset="-122"/>
              </a:rPr>
              <a:t>让不满足约束的样本应尽可能少</a:t>
            </a:r>
            <a:r>
              <a:rPr lang="en-US" altLang="zh-CN" sz="2000" b="1" dirty="0">
                <a:latin typeface="黑体" panose="02010609060101010101" pitchFamily="49" charset="-122"/>
                <a:ea typeface="黑体" panose="02010609060101010101" pitchFamily="49" charset="-122"/>
              </a:rPr>
              <a:t>.</a:t>
            </a:r>
            <a:r>
              <a:rPr lang="zh-CN" altLang="en-US" sz="2000" b="1" dirty="0">
                <a:latin typeface="黑体" panose="02010609060101010101" pitchFamily="49" charset="-122"/>
                <a:ea typeface="黑体" panose="02010609060101010101" pitchFamily="49" charset="-122"/>
              </a:rPr>
              <a:t> </a:t>
            </a:r>
            <a:r>
              <a:rPr lang="en-US" altLang="zh-CN" sz="2000" b="1" dirty="0">
                <a:solidFill>
                  <a:srgbClr val="FF0000"/>
                </a:solidFill>
                <a:latin typeface="黑体" panose="02010609060101010101" pitchFamily="49" charset="-122"/>
                <a:ea typeface="黑体" panose="02010609060101010101" pitchFamily="49" charset="-122"/>
              </a:rPr>
              <a:t>C</a:t>
            </a:r>
            <a:r>
              <a:rPr lang="zh-CN" altLang="en-US" sz="2000" b="1" dirty="0">
                <a:solidFill>
                  <a:srgbClr val="FF0000"/>
                </a:solidFill>
                <a:latin typeface="黑体" panose="02010609060101010101" pitchFamily="49" charset="-122"/>
                <a:ea typeface="黑体" panose="02010609060101010101" pitchFamily="49" charset="-122"/>
              </a:rPr>
              <a:t>是调和两者的系数，</a:t>
            </a:r>
            <a:r>
              <a:rPr lang="en-US" altLang="zh-CN" sz="2000" b="1" dirty="0">
                <a:solidFill>
                  <a:srgbClr val="FF0000"/>
                </a:solidFill>
                <a:latin typeface="黑体" panose="02010609060101010101" pitchFamily="49" charset="-122"/>
                <a:ea typeface="黑体" panose="02010609060101010101" pitchFamily="49" charset="-122"/>
              </a:rPr>
              <a:t>C</a:t>
            </a:r>
            <a:r>
              <a:rPr lang="zh-CN" altLang="en-US" sz="2000" b="1" dirty="0">
                <a:solidFill>
                  <a:srgbClr val="FF0000"/>
                </a:solidFill>
                <a:latin typeface="黑体" panose="02010609060101010101" pitchFamily="49" charset="-122"/>
                <a:ea typeface="黑体" panose="02010609060101010101" pitchFamily="49" charset="-122"/>
              </a:rPr>
              <a:t>值大时对误分类的惩罚增大， </a:t>
            </a:r>
            <a:r>
              <a:rPr lang="en-US" altLang="zh-CN" sz="2000" b="1" dirty="0">
                <a:solidFill>
                  <a:srgbClr val="FF0000"/>
                </a:solidFill>
                <a:latin typeface="黑体" panose="02010609060101010101" pitchFamily="49" charset="-122"/>
                <a:ea typeface="黑体" panose="02010609060101010101" pitchFamily="49" charset="-122"/>
              </a:rPr>
              <a:t>C</a:t>
            </a:r>
            <a:r>
              <a:rPr lang="zh-CN" altLang="en-US" sz="2000" b="1" dirty="0">
                <a:solidFill>
                  <a:srgbClr val="FF0000"/>
                </a:solidFill>
                <a:latin typeface="黑体" panose="02010609060101010101" pitchFamily="49" charset="-122"/>
                <a:ea typeface="黑体" panose="02010609060101010101" pitchFamily="49" charset="-122"/>
              </a:rPr>
              <a:t>值小时对误分类的惩罚减小</a:t>
            </a:r>
            <a:br>
              <a:rPr lang="en-US" altLang="zh-CN" b="1" dirty="0">
                <a:solidFill>
                  <a:srgbClr val="FF0000"/>
                </a:solidFill>
                <a:latin typeface="黑体" panose="02010609060101010101" pitchFamily="49" charset="-122"/>
                <a:ea typeface="黑体" panose="02010609060101010101" pitchFamily="49" charset="-122"/>
              </a:rPr>
            </a:br>
            <a:br>
              <a:rPr lang="en-US" altLang="zh-CN" b="1" dirty="0">
                <a:latin typeface="黑体" panose="02010609060101010101" pitchFamily="49" charset="-122"/>
                <a:ea typeface="黑体" panose="02010609060101010101" pitchFamily="49" charset="-122"/>
              </a:rPr>
            </a:br>
            <a:br>
              <a:rPr lang="en-US" altLang="zh-CN" b="1" dirty="0">
                <a:latin typeface="黑体" panose="02010609060101010101" pitchFamily="49" charset="-122"/>
                <a:ea typeface="黑体" panose="02010609060101010101" pitchFamily="49" charset="-122"/>
              </a:rPr>
            </a:br>
            <a:br>
              <a:rPr lang="en-US" altLang="zh-CN" b="1" dirty="0">
                <a:latin typeface="黑体" panose="02010609060101010101" pitchFamily="49" charset="-122"/>
                <a:ea typeface="黑体" panose="02010609060101010101" pitchFamily="49" charset="-122"/>
              </a:rPr>
            </a:br>
            <a:br>
              <a:rPr lang="en-US" altLang="zh-CN" b="1" dirty="0">
                <a:latin typeface="黑体" panose="02010609060101010101" pitchFamily="49" charset="-122"/>
                <a:ea typeface="黑体" panose="02010609060101010101" pitchFamily="49" charset="-122"/>
              </a:rPr>
            </a:br>
            <a:br>
              <a:rPr lang="en-US" altLang="zh-CN" b="1" dirty="0">
                <a:latin typeface="黑体" panose="02010609060101010101" pitchFamily="49" charset="-122"/>
                <a:ea typeface="黑体" panose="02010609060101010101" pitchFamily="49" charset="-122"/>
              </a:rPr>
            </a:br>
            <a:r>
              <a:rPr lang="zh-CN" altLang="en-US" b="1" dirty="0">
                <a:latin typeface="黑体" panose="02010609060101010101" pitchFamily="49" charset="-122"/>
                <a:ea typeface="黑体" panose="02010609060101010101" pitchFamily="49" charset="-122"/>
              </a:rPr>
              <a:t>其中     是</a:t>
            </a:r>
            <a:r>
              <a:rPr lang="en-US" altLang="zh-CN" b="1" dirty="0">
                <a:latin typeface="黑体" panose="02010609060101010101" pitchFamily="49" charset="-122"/>
                <a:ea typeface="黑体" panose="02010609060101010101" pitchFamily="49" charset="-122"/>
              </a:rPr>
              <a:t>”0/1</a:t>
            </a:r>
            <a:r>
              <a:rPr lang="zh-CN" altLang="en-US" b="1" dirty="0">
                <a:latin typeface="黑体" panose="02010609060101010101" pitchFamily="49" charset="-122"/>
                <a:ea typeface="黑体" panose="02010609060101010101" pitchFamily="49" charset="-122"/>
              </a:rPr>
              <a:t>损失函数</a:t>
            </a:r>
            <a:r>
              <a:rPr lang="en-US" altLang="zh-CN" b="1" dirty="0">
                <a:latin typeface="黑体" panose="02010609060101010101" pitchFamily="49" charset="-122"/>
                <a:ea typeface="黑体" panose="02010609060101010101" pitchFamily="49" charset="-122"/>
              </a:rPr>
              <a:t>”</a:t>
            </a:r>
            <a:endParaRPr lang="en-US" altLang="zh-CN" b="1" dirty="0">
              <a:latin typeface="黑体" panose="02010609060101010101" pitchFamily="49" charset="-122"/>
              <a:ea typeface="黑体" panose="02010609060101010101" pitchFamily="49" charset="-122"/>
            </a:endParaRPr>
          </a:p>
          <a:p>
            <a:endParaRPr lang="en-US" altLang="zh-CN" b="1" dirty="0">
              <a:latin typeface="黑体" panose="02010609060101010101" pitchFamily="49" charset="-122"/>
              <a:ea typeface="黑体" panose="02010609060101010101" pitchFamily="49" charset="-122"/>
            </a:endParaRPr>
          </a:p>
          <a:p>
            <a:endParaRPr lang="en-US" altLang="zh-CN" b="1" dirty="0">
              <a:latin typeface="黑体" panose="02010609060101010101" pitchFamily="49" charset="-122"/>
              <a:ea typeface="黑体" panose="02010609060101010101" pitchFamily="49" charset="-122"/>
            </a:endParaRPr>
          </a:p>
          <a:p>
            <a:pPr marL="0" indent="0">
              <a:buNone/>
            </a:pPr>
            <a:endParaRPr lang="en-US" altLang="zh-CN" b="1" dirty="0">
              <a:latin typeface="黑体" panose="02010609060101010101" pitchFamily="49" charset="-122"/>
              <a:ea typeface="黑体" panose="02010609060101010101" pitchFamily="49" charset="-122"/>
            </a:endParaRPr>
          </a:p>
          <a:p>
            <a:r>
              <a:rPr lang="zh-CN" altLang="en-US" b="1" dirty="0">
                <a:latin typeface="黑体" panose="02010609060101010101" pitchFamily="49" charset="-122"/>
                <a:ea typeface="黑体" panose="02010609060101010101" pitchFamily="49" charset="-122"/>
              </a:rPr>
              <a:t>存在的问题：</a:t>
            </a:r>
            <a:r>
              <a:rPr lang="en-US" altLang="zh-CN" b="1" dirty="0">
                <a:latin typeface="黑体" panose="02010609060101010101" pitchFamily="49" charset="-122"/>
                <a:ea typeface="黑体" panose="02010609060101010101" pitchFamily="49" charset="-122"/>
              </a:rPr>
              <a:t>0/1</a:t>
            </a:r>
            <a:r>
              <a:rPr lang="zh-CN" altLang="en-US" b="1" dirty="0">
                <a:latin typeface="黑体" panose="02010609060101010101" pitchFamily="49" charset="-122"/>
                <a:ea typeface="黑体" panose="02010609060101010101" pitchFamily="49" charset="-122"/>
              </a:rPr>
              <a:t>损失函数非凸、非连续</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不易优化！</a:t>
            </a:r>
            <a:r>
              <a:rPr lang="en-US" altLang="zh-CN" b="1" dirty="0">
                <a:latin typeface="黑体" panose="02010609060101010101" pitchFamily="49" charset="-122"/>
                <a:ea typeface="黑体" panose="02010609060101010101" pitchFamily="49" charset="-122"/>
              </a:rPr>
              <a:t> </a:t>
            </a:r>
            <a:endParaRPr lang="en-US" altLang="zh-CN" b="1" dirty="0">
              <a:latin typeface="黑体" panose="02010609060101010101" pitchFamily="49" charset="-122"/>
              <a:ea typeface="黑体" panose="02010609060101010101" pitchFamily="49" charset="-122"/>
            </a:endParaRPr>
          </a:p>
          <a:p>
            <a:endParaRPr lang="en-US" altLang="zh-CN" dirty="0"/>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530806" y="2183169"/>
            <a:ext cx="5980694" cy="865707"/>
          </a:xfrm>
          <a:prstGeom prst="rect">
            <a:avLst/>
          </a:prstGeom>
        </p:spPr>
      </p:pic>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6572" y="3935054"/>
            <a:ext cx="408467" cy="365792"/>
          </a:xfrm>
          <a:prstGeom prst="rect">
            <a:avLst/>
          </a:prstGeom>
        </p:spPr>
      </p:pic>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21153" y="3666807"/>
            <a:ext cx="2627604" cy="90228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替代损失</a:t>
            </a:r>
            <a:endParaRPr lang="zh-CN" altLang="en-US" dirty="0">
              <a:latin typeface="黑体" panose="02010609060101010101" pitchFamily="49" charset="-122"/>
              <a:ea typeface="黑体" panose="02010609060101010101" pitchFamily="49" charset="-122"/>
            </a:endParaRPr>
          </a:p>
        </p:txBody>
      </p:sp>
      <p:cxnSp>
        <p:nvCxnSpPr>
          <p:cNvPr id="37" name="直接箭头连接符 36"/>
          <p:cNvCxnSpPr/>
          <p:nvPr/>
        </p:nvCxnSpPr>
        <p:spPr>
          <a:xfrm flipH="1" flipV="1">
            <a:off x="4653433" y="1399533"/>
            <a:ext cx="0" cy="3551842"/>
          </a:xfrm>
          <a:prstGeom prst="straightConnector1">
            <a:avLst/>
          </a:prstGeom>
          <a:ln w="19050">
            <a:headEnd type="none" w="med" len="lg"/>
            <a:tailEnd type="triangle" w="lg" len="lg"/>
          </a:ln>
        </p:spPr>
        <p:style>
          <a:lnRef idx="1">
            <a:schemeClr val="dk1"/>
          </a:lnRef>
          <a:fillRef idx="0">
            <a:schemeClr val="dk1"/>
          </a:fillRef>
          <a:effectRef idx="0">
            <a:schemeClr val="dk1"/>
          </a:effectRef>
          <a:fontRef idx="minor">
            <a:schemeClr val="tx1"/>
          </a:fontRef>
        </p:style>
      </p:cxnSp>
      <p:cxnSp>
        <p:nvCxnSpPr>
          <p:cNvPr id="38" name="直接箭头连接符 37"/>
          <p:cNvCxnSpPr/>
          <p:nvPr/>
        </p:nvCxnSpPr>
        <p:spPr>
          <a:xfrm>
            <a:off x="2033394" y="4934939"/>
            <a:ext cx="5432227" cy="0"/>
          </a:xfrm>
          <a:prstGeom prst="straightConnector1">
            <a:avLst/>
          </a:prstGeom>
          <a:ln w="19050">
            <a:headEnd type="none" w="med" len="lg"/>
            <a:tailEnd type="triangle" w="lg" len="lg"/>
          </a:ln>
        </p:spPr>
        <p:style>
          <a:lnRef idx="1">
            <a:schemeClr val="dk1"/>
          </a:lnRef>
          <a:fillRef idx="0">
            <a:schemeClr val="dk1"/>
          </a:fillRef>
          <a:effectRef idx="0">
            <a:schemeClr val="dk1"/>
          </a:effectRef>
          <a:fontRef idx="minor">
            <a:schemeClr val="tx1"/>
          </a:fontRef>
        </p:style>
      </p:cxnSp>
      <p:sp>
        <p:nvSpPr>
          <p:cNvPr id="39" name="文本框 38"/>
          <p:cNvSpPr txBox="1"/>
          <p:nvPr/>
        </p:nvSpPr>
        <p:spPr>
          <a:xfrm>
            <a:off x="4485192" y="4918929"/>
            <a:ext cx="318544" cy="357247"/>
          </a:xfrm>
          <a:prstGeom prst="rect">
            <a:avLst/>
          </a:prstGeom>
          <a:noFill/>
        </p:spPr>
        <p:txBody>
          <a:bodyPr wrap="none" rtlCol="0">
            <a:spAutoFit/>
          </a:bodyPr>
          <a:lstStyle/>
          <a:p>
            <a:r>
              <a:rPr lang="en-US" altLang="zh-CN" sz="1400" dirty="0">
                <a:latin typeface="Times "/>
              </a:rPr>
              <a:t>0</a:t>
            </a:r>
            <a:endParaRPr lang="zh-CN" altLang="en-US" sz="1400" dirty="0">
              <a:latin typeface="Times "/>
            </a:endParaRPr>
          </a:p>
        </p:txBody>
      </p:sp>
      <p:graphicFrame>
        <p:nvGraphicFramePr>
          <p:cNvPr id="40" name="对象 39"/>
          <p:cNvGraphicFramePr>
            <a:graphicFrameLocks noChangeAspect="1"/>
          </p:cNvGraphicFramePr>
          <p:nvPr/>
        </p:nvGraphicFramePr>
        <p:xfrm>
          <a:off x="7174629" y="4984960"/>
          <a:ext cx="143728" cy="248760"/>
        </p:xfrm>
        <a:graphic>
          <a:graphicData uri="http://schemas.openxmlformats.org/presentationml/2006/ole">
            <mc:AlternateContent xmlns:mc="http://schemas.openxmlformats.org/markup-compatibility/2006">
              <mc:Choice xmlns:v="urn:schemas-microsoft-com:vml" Requires="v">
                <p:oleObj spid="_x0000_s32" name="Formula" r:id="rId1" imgW="571500" imgH="971550" progId="Equation.Ribbit">
                  <p:embed/>
                </p:oleObj>
              </mc:Choice>
              <mc:Fallback>
                <p:oleObj name="Formula" r:id="rId1" imgW="571500" imgH="971550" progId="Equation.Ribbit">
                  <p:embed/>
                  <p:pic>
                    <p:nvPicPr>
                      <p:cNvPr id="0" name="图片 31"/>
                      <p:cNvPicPr/>
                      <p:nvPr/>
                    </p:nvPicPr>
                    <p:blipFill>
                      <a:blip r:embed="rId2"/>
                      <a:stretch>
                        <a:fillRect/>
                      </a:stretch>
                    </p:blipFill>
                    <p:spPr>
                      <a:xfrm>
                        <a:off x="7174629" y="4984960"/>
                        <a:ext cx="143728" cy="248760"/>
                      </a:xfrm>
                      <a:prstGeom prst="rect">
                        <a:avLst/>
                      </a:prstGeom>
                    </p:spPr>
                  </p:pic>
                </p:oleObj>
              </mc:Fallback>
            </mc:AlternateContent>
          </a:graphicData>
        </a:graphic>
      </p:graphicFrame>
      <p:graphicFrame>
        <p:nvGraphicFramePr>
          <p:cNvPr id="41" name="对象 40"/>
          <p:cNvGraphicFramePr>
            <a:graphicFrameLocks noChangeAspect="1"/>
          </p:cNvGraphicFramePr>
          <p:nvPr/>
        </p:nvGraphicFramePr>
        <p:xfrm>
          <a:off x="4021004" y="1342520"/>
          <a:ext cx="471722" cy="339050"/>
        </p:xfrm>
        <a:graphic>
          <a:graphicData uri="http://schemas.openxmlformats.org/presentationml/2006/ole">
            <mc:AlternateContent xmlns:mc="http://schemas.openxmlformats.org/markup-compatibility/2006">
              <mc:Choice xmlns:v="urn:schemas-microsoft-com:vml" Requires="v">
                <p:oleObj spid="_x0000_s3" name="Formula" r:id="rId3" imgW="1866900" imgH="1333500" progId="Equation.Ribbit">
                  <p:embed/>
                </p:oleObj>
              </mc:Choice>
              <mc:Fallback>
                <p:oleObj name="Formula" r:id="rId3" imgW="1866900" imgH="1333500" progId="Equation.Ribbit">
                  <p:embed/>
                  <p:pic>
                    <p:nvPicPr>
                      <p:cNvPr id="0" name="图片 2"/>
                      <p:cNvPicPr/>
                      <p:nvPr/>
                    </p:nvPicPr>
                    <p:blipFill>
                      <a:blip r:embed="rId4"/>
                      <a:stretch>
                        <a:fillRect/>
                      </a:stretch>
                    </p:blipFill>
                    <p:spPr>
                      <a:xfrm>
                        <a:off x="4021004" y="1342520"/>
                        <a:ext cx="471722" cy="339050"/>
                      </a:xfrm>
                      <a:prstGeom prst="rect">
                        <a:avLst/>
                      </a:prstGeom>
                    </p:spPr>
                  </p:pic>
                </p:oleObj>
              </mc:Fallback>
            </mc:AlternateContent>
          </a:graphicData>
        </a:graphic>
      </p:graphicFrame>
      <p:cxnSp>
        <p:nvCxnSpPr>
          <p:cNvPr id="42" name="直接连接符 41"/>
          <p:cNvCxnSpPr/>
          <p:nvPr/>
        </p:nvCxnSpPr>
        <p:spPr>
          <a:xfrm>
            <a:off x="2118789" y="3921413"/>
            <a:ext cx="2530164" cy="14022"/>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4644465" y="4924606"/>
            <a:ext cx="2530164" cy="14022"/>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44" name="任意多边形 43"/>
          <p:cNvSpPr/>
          <p:nvPr/>
        </p:nvSpPr>
        <p:spPr>
          <a:xfrm>
            <a:off x="3358789" y="1871650"/>
            <a:ext cx="3771931" cy="2927991"/>
          </a:xfrm>
          <a:custGeom>
            <a:avLst/>
            <a:gdLst>
              <a:gd name="connsiteX0" fmla="*/ 0 w 3111500"/>
              <a:gd name="connsiteY0" fmla="*/ 0 h 2527300"/>
              <a:gd name="connsiteX1" fmla="*/ 139700 w 3111500"/>
              <a:gd name="connsiteY1" fmla="*/ 349250 h 2527300"/>
              <a:gd name="connsiteX2" fmla="*/ 349250 w 3111500"/>
              <a:gd name="connsiteY2" fmla="*/ 781050 h 2527300"/>
              <a:gd name="connsiteX3" fmla="*/ 635000 w 3111500"/>
              <a:gd name="connsiteY3" fmla="*/ 1225550 h 2527300"/>
              <a:gd name="connsiteX4" fmla="*/ 914400 w 3111500"/>
              <a:gd name="connsiteY4" fmla="*/ 1574800 h 2527300"/>
              <a:gd name="connsiteX5" fmla="*/ 1149350 w 3111500"/>
              <a:gd name="connsiteY5" fmla="*/ 1790700 h 2527300"/>
              <a:gd name="connsiteX6" fmla="*/ 1517650 w 3111500"/>
              <a:gd name="connsiteY6" fmla="*/ 2063750 h 2527300"/>
              <a:gd name="connsiteX7" fmla="*/ 1822450 w 3111500"/>
              <a:gd name="connsiteY7" fmla="*/ 2203450 h 2527300"/>
              <a:gd name="connsiteX8" fmla="*/ 2197100 w 3111500"/>
              <a:gd name="connsiteY8" fmla="*/ 2349500 h 2527300"/>
              <a:gd name="connsiteX9" fmla="*/ 2660650 w 3111500"/>
              <a:gd name="connsiteY9" fmla="*/ 2451100 h 2527300"/>
              <a:gd name="connsiteX10" fmla="*/ 2990850 w 3111500"/>
              <a:gd name="connsiteY10" fmla="*/ 2501900 h 2527300"/>
              <a:gd name="connsiteX11" fmla="*/ 3111500 w 3111500"/>
              <a:gd name="connsiteY11" fmla="*/ 2527300 h 2527300"/>
              <a:gd name="connsiteX0-1" fmla="*/ 0 w 3111500"/>
              <a:gd name="connsiteY0-2" fmla="*/ 0 h 2527300"/>
              <a:gd name="connsiteX1-3" fmla="*/ 139700 w 3111500"/>
              <a:gd name="connsiteY1-4" fmla="*/ 349250 h 2527300"/>
              <a:gd name="connsiteX2-5" fmla="*/ 349250 w 3111500"/>
              <a:gd name="connsiteY2-6" fmla="*/ 781050 h 2527300"/>
              <a:gd name="connsiteX3-7" fmla="*/ 635000 w 3111500"/>
              <a:gd name="connsiteY3-8" fmla="*/ 1225550 h 2527300"/>
              <a:gd name="connsiteX4-9" fmla="*/ 914400 w 3111500"/>
              <a:gd name="connsiteY4-10" fmla="*/ 1574800 h 2527300"/>
              <a:gd name="connsiteX5-11" fmla="*/ 1149350 w 3111500"/>
              <a:gd name="connsiteY5-12" fmla="*/ 1790700 h 2527300"/>
              <a:gd name="connsiteX6-13" fmla="*/ 1517650 w 3111500"/>
              <a:gd name="connsiteY6-14" fmla="*/ 2063750 h 2527300"/>
              <a:gd name="connsiteX7-15" fmla="*/ 1822450 w 3111500"/>
              <a:gd name="connsiteY7-16" fmla="*/ 2203450 h 2527300"/>
              <a:gd name="connsiteX8-17" fmla="*/ 2211388 w 3111500"/>
              <a:gd name="connsiteY8-18" fmla="*/ 2344738 h 2527300"/>
              <a:gd name="connsiteX9-19" fmla="*/ 2660650 w 3111500"/>
              <a:gd name="connsiteY9-20" fmla="*/ 2451100 h 2527300"/>
              <a:gd name="connsiteX10-21" fmla="*/ 2990850 w 3111500"/>
              <a:gd name="connsiteY10-22" fmla="*/ 2501900 h 2527300"/>
              <a:gd name="connsiteX11-23" fmla="*/ 3111500 w 3111500"/>
              <a:gd name="connsiteY11-24" fmla="*/ 2527300 h 2527300"/>
              <a:gd name="connsiteX0-25" fmla="*/ 0 w 3135313"/>
              <a:gd name="connsiteY0-26" fmla="*/ 0 h 2517775"/>
              <a:gd name="connsiteX1-27" fmla="*/ 139700 w 3135313"/>
              <a:gd name="connsiteY1-28" fmla="*/ 349250 h 2517775"/>
              <a:gd name="connsiteX2-29" fmla="*/ 349250 w 3135313"/>
              <a:gd name="connsiteY2-30" fmla="*/ 781050 h 2517775"/>
              <a:gd name="connsiteX3-31" fmla="*/ 635000 w 3135313"/>
              <a:gd name="connsiteY3-32" fmla="*/ 1225550 h 2517775"/>
              <a:gd name="connsiteX4-33" fmla="*/ 914400 w 3135313"/>
              <a:gd name="connsiteY4-34" fmla="*/ 1574800 h 2517775"/>
              <a:gd name="connsiteX5-35" fmla="*/ 1149350 w 3135313"/>
              <a:gd name="connsiteY5-36" fmla="*/ 1790700 h 2517775"/>
              <a:gd name="connsiteX6-37" fmla="*/ 1517650 w 3135313"/>
              <a:gd name="connsiteY6-38" fmla="*/ 2063750 h 2517775"/>
              <a:gd name="connsiteX7-39" fmla="*/ 1822450 w 3135313"/>
              <a:gd name="connsiteY7-40" fmla="*/ 2203450 h 2517775"/>
              <a:gd name="connsiteX8-41" fmla="*/ 2211388 w 3135313"/>
              <a:gd name="connsiteY8-42" fmla="*/ 2344738 h 2517775"/>
              <a:gd name="connsiteX9-43" fmla="*/ 2660650 w 3135313"/>
              <a:gd name="connsiteY9-44" fmla="*/ 2451100 h 2517775"/>
              <a:gd name="connsiteX10-45" fmla="*/ 2990850 w 3135313"/>
              <a:gd name="connsiteY10-46" fmla="*/ 2501900 h 2517775"/>
              <a:gd name="connsiteX11-47" fmla="*/ 3135313 w 3135313"/>
              <a:gd name="connsiteY11-48" fmla="*/ 2517775 h 2517775"/>
              <a:gd name="connsiteX0-49" fmla="*/ 0 w 3249613"/>
              <a:gd name="connsiteY0-50" fmla="*/ 0 h 2522537"/>
              <a:gd name="connsiteX1-51" fmla="*/ 139700 w 3249613"/>
              <a:gd name="connsiteY1-52" fmla="*/ 349250 h 2522537"/>
              <a:gd name="connsiteX2-53" fmla="*/ 349250 w 3249613"/>
              <a:gd name="connsiteY2-54" fmla="*/ 781050 h 2522537"/>
              <a:gd name="connsiteX3-55" fmla="*/ 635000 w 3249613"/>
              <a:gd name="connsiteY3-56" fmla="*/ 1225550 h 2522537"/>
              <a:gd name="connsiteX4-57" fmla="*/ 914400 w 3249613"/>
              <a:gd name="connsiteY4-58" fmla="*/ 1574800 h 2522537"/>
              <a:gd name="connsiteX5-59" fmla="*/ 1149350 w 3249613"/>
              <a:gd name="connsiteY5-60" fmla="*/ 1790700 h 2522537"/>
              <a:gd name="connsiteX6-61" fmla="*/ 1517650 w 3249613"/>
              <a:gd name="connsiteY6-62" fmla="*/ 2063750 h 2522537"/>
              <a:gd name="connsiteX7-63" fmla="*/ 1822450 w 3249613"/>
              <a:gd name="connsiteY7-64" fmla="*/ 2203450 h 2522537"/>
              <a:gd name="connsiteX8-65" fmla="*/ 2211388 w 3249613"/>
              <a:gd name="connsiteY8-66" fmla="*/ 2344738 h 2522537"/>
              <a:gd name="connsiteX9-67" fmla="*/ 2660650 w 3249613"/>
              <a:gd name="connsiteY9-68" fmla="*/ 2451100 h 2522537"/>
              <a:gd name="connsiteX10-69" fmla="*/ 2990850 w 3249613"/>
              <a:gd name="connsiteY10-70" fmla="*/ 2501900 h 2522537"/>
              <a:gd name="connsiteX11-71" fmla="*/ 3249613 w 3249613"/>
              <a:gd name="connsiteY11-72" fmla="*/ 2522537 h 2522537"/>
              <a:gd name="connsiteX0-73" fmla="*/ 0 w 3249613"/>
              <a:gd name="connsiteY0-74" fmla="*/ 0 h 2524602"/>
              <a:gd name="connsiteX1-75" fmla="*/ 139700 w 3249613"/>
              <a:gd name="connsiteY1-76" fmla="*/ 349250 h 2524602"/>
              <a:gd name="connsiteX2-77" fmla="*/ 349250 w 3249613"/>
              <a:gd name="connsiteY2-78" fmla="*/ 781050 h 2524602"/>
              <a:gd name="connsiteX3-79" fmla="*/ 635000 w 3249613"/>
              <a:gd name="connsiteY3-80" fmla="*/ 1225550 h 2524602"/>
              <a:gd name="connsiteX4-81" fmla="*/ 914400 w 3249613"/>
              <a:gd name="connsiteY4-82" fmla="*/ 1574800 h 2524602"/>
              <a:gd name="connsiteX5-83" fmla="*/ 1149350 w 3249613"/>
              <a:gd name="connsiteY5-84" fmla="*/ 1790700 h 2524602"/>
              <a:gd name="connsiteX6-85" fmla="*/ 1517650 w 3249613"/>
              <a:gd name="connsiteY6-86" fmla="*/ 2063750 h 2524602"/>
              <a:gd name="connsiteX7-87" fmla="*/ 1822450 w 3249613"/>
              <a:gd name="connsiteY7-88" fmla="*/ 2203450 h 2524602"/>
              <a:gd name="connsiteX8-89" fmla="*/ 2211388 w 3249613"/>
              <a:gd name="connsiteY8-90" fmla="*/ 2344738 h 2524602"/>
              <a:gd name="connsiteX9-91" fmla="*/ 2660650 w 3249613"/>
              <a:gd name="connsiteY9-92" fmla="*/ 2451100 h 2524602"/>
              <a:gd name="connsiteX10-93" fmla="*/ 2990850 w 3249613"/>
              <a:gd name="connsiteY10-94" fmla="*/ 2501900 h 2524602"/>
              <a:gd name="connsiteX11-95" fmla="*/ 3249613 w 3249613"/>
              <a:gd name="connsiteY11-96" fmla="*/ 2522537 h 2524602"/>
              <a:gd name="connsiteX0-97" fmla="*/ 0 w 3249613"/>
              <a:gd name="connsiteY0-98" fmla="*/ 0 h 2522537"/>
              <a:gd name="connsiteX1-99" fmla="*/ 139700 w 3249613"/>
              <a:gd name="connsiteY1-100" fmla="*/ 349250 h 2522537"/>
              <a:gd name="connsiteX2-101" fmla="*/ 349250 w 3249613"/>
              <a:gd name="connsiteY2-102" fmla="*/ 781050 h 2522537"/>
              <a:gd name="connsiteX3-103" fmla="*/ 635000 w 3249613"/>
              <a:gd name="connsiteY3-104" fmla="*/ 1225550 h 2522537"/>
              <a:gd name="connsiteX4-105" fmla="*/ 914400 w 3249613"/>
              <a:gd name="connsiteY4-106" fmla="*/ 1574800 h 2522537"/>
              <a:gd name="connsiteX5-107" fmla="*/ 1149350 w 3249613"/>
              <a:gd name="connsiteY5-108" fmla="*/ 1790700 h 2522537"/>
              <a:gd name="connsiteX6-109" fmla="*/ 1517650 w 3249613"/>
              <a:gd name="connsiteY6-110" fmla="*/ 2063750 h 2522537"/>
              <a:gd name="connsiteX7-111" fmla="*/ 1822450 w 3249613"/>
              <a:gd name="connsiteY7-112" fmla="*/ 2203450 h 2522537"/>
              <a:gd name="connsiteX8-113" fmla="*/ 2211388 w 3249613"/>
              <a:gd name="connsiteY8-114" fmla="*/ 2344738 h 2522537"/>
              <a:gd name="connsiteX9-115" fmla="*/ 2660650 w 3249613"/>
              <a:gd name="connsiteY9-116" fmla="*/ 2451100 h 2522537"/>
              <a:gd name="connsiteX10-117" fmla="*/ 2990850 w 3249613"/>
              <a:gd name="connsiteY10-118" fmla="*/ 2501900 h 2522537"/>
              <a:gd name="connsiteX11-119" fmla="*/ 3249613 w 3249613"/>
              <a:gd name="connsiteY11-120" fmla="*/ 2522537 h 252253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Lst>
            <a:rect l="l" t="t" r="r" b="b"/>
            <a:pathLst>
              <a:path w="3249613" h="2522537">
                <a:moveTo>
                  <a:pt x="0" y="0"/>
                </a:moveTo>
                <a:cubicBezTo>
                  <a:pt x="40746" y="109537"/>
                  <a:pt x="81492" y="219075"/>
                  <a:pt x="139700" y="349250"/>
                </a:cubicBezTo>
                <a:cubicBezTo>
                  <a:pt x="197908" y="479425"/>
                  <a:pt x="266700" y="635000"/>
                  <a:pt x="349250" y="781050"/>
                </a:cubicBezTo>
                <a:cubicBezTo>
                  <a:pt x="431800" y="927100"/>
                  <a:pt x="540808" y="1093258"/>
                  <a:pt x="635000" y="1225550"/>
                </a:cubicBezTo>
                <a:cubicBezTo>
                  <a:pt x="729192" y="1357842"/>
                  <a:pt x="828675" y="1480608"/>
                  <a:pt x="914400" y="1574800"/>
                </a:cubicBezTo>
                <a:cubicBezTo>
                  <a:pt x="1000125" y="1668992"/>
                  <a:pt x="1048808" y="1709208"/>
                  <a:pt x="1149350" y="1790700"/>
                </a:cubicBezTo>
                <a:cubicBezTo>
                  <a:pt x="1249892" y="1872192"/>
                  <a:pt x="1405467" y="1994958"/>
                  <a:pt x="1517650" y="2063750"/>
                </a:cubicBezTo>
                <a:cubicBezTo>
                  <a:pt x="1629833" y="2132542"/>
                  <a:pt x="1706827" y="2156619"/>
                  <a:pt x="1822450" y="2203450"/>
                </a:cubicBezTo>
                <a:cubicBezTo>
                  <a:pt x="1938073" y="2250281"/>
                  <a:pt x="2071688" y="2303463"/>
                  <a:pt x="2211388" y="2344738"/>
                </a:cubicBezTo>
                <a:cubicBezTo>
                  <a:pt x="2351088" y="2386013"/>
                  <a:pt x="2530740" y="2424906"/>
                  <a:pt x="2660650" y="2451100"/>
                </a:cubicBezTo>
                <a:cubicBezTo>
                  <a:pt x="2790560" y="2477294"/>
                  <a:pt x="2892689" y="2489994"/>
                  <a:pt x="2990850" y="2501900"/>
                </a:cubicBezTo>
                <a:cubicBezTo>
                  <a:pt x="3089011" y="2513806"/>
                  <a:pt x="3130551" y="2520949"/>
                  <a:pt x="3249613" y="2522537"/>
                </a:cubicBezTo>
              </a:path>
            </a:pathLst>
          </a:custGeom>
          <a:no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5" name="直接连接符 44"/>
          <p:cNvCxnSpPr/>
          <p:nvPr/>
        </p:nvCxnSpPr>
        <p:spPr>
          <a:xfrm>
            <a:off x="2327492" y="1867964"/>
            <a:ext cx="3463912" cy="30636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a:off x="5783240" y="4917683"/>
            <a:ext cx="1346438" cy="573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文本框 46"/>
          <p:cNvSpPr txBox="1"/>
          <p:nvPr/>
        </p:nvSpPr>
        <p:spPr>
          <a:xfrm>
            <a:off x="5632938" y="4930715"/>
            <a:ext cx="318544" cy="357247"/>
          </a:xfrm>
          <a:prstGeom prst="rect">
            <a:avLst/>
          </a:prstGeom>
          <a:noFill/>
        </p:spPr>
        <p:txBody>
          <a:bodyPr wrap="none" rtlCol="0">
            <a:spAutoFit/>
          </a:bodyPr>
          <a:lstStyle/>
          <a:p>
            <a:r>
              <a:rPr lang="en-US" altLang="zh-CN" sz="1400" dirty="0">
                <a:latin typeface="Times "/>
              </a:rPr>
              <a:t>1</a:t>
            </a:r>
            <a:endParaRPr lang="zh-CN" altLang="en-US" sz="1400" dirty="0">
              <a:latin typeface="Times "/>
            </a:endParaRPr>
          </a:p>
        </p:txBody>
      </p:sp>
      <p:sp>
        <p:nvSpPr>
          <p:cNvPr id="48" name="文本框 47"/>
          <p:cNvSpPr txBox="1"/>
          <p:nvPr/>
        </p:nvSpPr>
        <p:spPr>
          <a:xfrm>
            <a:off x="6696005" y="4916711"/>
            <a:ext cx="318544" cy="357247"/>
          </a:xfrm>
          <a:prstGeom prst="rect">
            <a:avLst/>
          </a:prstGeom>
          <a:noFill/>
        </p:spPr>
        <p:txBody>
          <a:bodyPr wrap="none" rtlCol="0">
            <a:spAutoFit/>
          </a:bodyPr>
          <a:lstStyle/>
          <a:p>
            <a:r>
              <a:rPr lang="en-US" altLang="zh-CN" sz="1400" dirty="0">
                <a:latin typeface="Times "/>
              </a:rPr>
              <a:t>2</a:t>
            </a:r>
            <a:endParaRPr lang="zh-CN" altLang="en-US" sz="1400" dirty="0">
              <a:latin typeface="Times "/>
            </a:endParaRPr>
          </a:p>
        </p:txBody>
      </p:sp>
      <p:sp>
        <p:nvSpPr>
          <p:cNvPr id="49" name="文本框 48"/>
          <p:cNvSpPr txBox="1"/>
          <p:nvPr/>
        </p:nvSpPr>
        <p:spPr>
          <a:xfrm>
            <a:off x="3279093" y="4905879"/>
            <a:ext cx="422741" cy="357247"/>
          </a:xfrm>
          <a:prstGeom prst="rect">
            <a:avLst/>
          </a:prstGeom>
          <a:noFill/>
        </p:spPr>
        <p:txBody>
          <a:bodyPr wrap="none" rtlCol="0">
            <a:spAutoFit/>
          </a:bodyPr>
          <a:lstStyle/>
          <a:p>
            <a:r>
              <a:rPr lang="en-US" altLang="zh-CN" sz="1400" dirty="0">
                <a:latin typeface="Times "/>
              </a:rPr>
              <a:t>-1</a:t>
            </a:r>
            <a:endParaRPr lang="zh-CN" altLang="en-US" sz="1400" dirty="0">
              <a:latin typeface="Times "/>
            </a:endParaRPr>
          </a:p>
        </p:txBody>
      </p:sp>
      <p:sp>
        <p:nvSpPr>
          <p:cNvPr id="50" name="文本框 49"/>
          <p:cNvSpPr txBox="1"/>
          <p:nvPr/>
        </p:nvSpPr>
        <p:spPr>
          <a:xfrm>
            <a:off x="2143396" y="4945273"/>
            <a:ext cx="422741" cy="357247"/>
          </a:xfrm>
          <a:prstGeom prst="rect">
            <a:avLst/>
          </a:prstGeom>
          <a:noFill/>
        </p:spPr>
        <p:txBody>
          <a:bodyPr wrap="none" rtlCol="0">
            <a:spAutoFit/>
          </a:bodyPr>
          <a:lstStyle/>
          <a:p>
            <a:r>
              <a:rPr lang="en-US" altLang="zh-CN" sz="1400" dirty="0">
                <a:latin typeface="Times "/>
              </a:rPr>
              <a:t>-2</a:t>
            </a:r>
            <a:endParaRPr lang="zh-CN" altLang="en-US" sz="1400" dirty="0">
              <a:latin typeface="Times "/>
            </a:endParaRPr>
          </a:p>
        </p:txBody>
      </p:sp>
      <p:cxnSp>
        <p:nvCxnSpPr>
          <p:cNvPr id="51" name="直接连接符 50"/>
          <p:cNvCxnSpPr/>
          <p:nvPr/>
        </p:nvCxnSpPr>
        <p:spPr>
          <a:xfrm>
            <a:off x="2344506" y="4856063"/>
            <a:ext cx="0" cy="68544"/>
          </a:xfrm>
          <a:prstGeom prst="line">
            <a:avLst/>
          </a:prstGeom>
          <a:ln w="12700"/>
        </p:spPr>
        <p:style>
          <a:lnRef idx="1">
            <a:schemeClr val="dk1"/>
          </a:lnRef>
          <a:fillRef idx="0">
            <a:schemeClr val="dk1"/>
          </a:fillRef>
          <a:effectRef idx="0">
            <a:schemeClr val="dk1"/>
          </a:effectRef>
          <a:fontRef idx="minor">
            <a:schemeClr val="tx1"/>
          </a:fontRef>
        </p:style>
      </p:cxnSp>
      <p:cxnSp>
        <p:nvCxnSpPr>
          <p:cNvPr id="52" name="直接连接符 51"/>
          <p:cNvCxnSpPr/>
          <p:nvPr/>
        </p:nvCxnSpPr>
        <p:spPr>
          <a:xfrm>
            <a:off x="3495992" y="4864637"/>
            <a:ext cx="0" cy="68544"/>
          </a:xfrm>
          <a:prstGeom prst="line">
            <a:avLst/>
          </a:prstGeom>
          <a:ln w="12700"/>
        </p:spPr>
        <p:style>
          <a:lnRef idx="1">
            <a:schemeClr val="dk1"/>
          </a:lnRef>
          <a:fillRef idx="0">
            <a:schemeClr val="dk1"/>
          </a:fillRef>
          <a:effectRef idx="0">
            <a:schemeClr val="dk1"/>
          </a:effectRef>
          <a:fontRef idx="minor">
            <a:schemeClr val="tx1"/>
          </a:fontRef>
        </p:style>
      </p:cxnSp>
      <p:cxnSp>
        <p:nvCxnSpPr>
          <p:cNvPr id="53" name="直接连接符 52"/>
          <p:cNvCxnSpPr/>
          <p:nvPr/>
        </p:nvCxnSpPr>
        <p:spPr>
          <a:xfrm>
            <a:off x="6847907" y="4864637"/>
            <a:ext cx="0" cy="68544"/>
          </a:xfrm>
          <a:prstGeom prst="line">
            <a:avLst/>
          </a:prstGeom>
          <a:ln w="12700"/>
        </p:spPr>
        <p:style>
          <a:lnRef idx="1">
            <a:schemeClr val="dk1"/>
          </a:lnRef>
          <a:fillRef idx="0">
            <a:schemeClr val="dk1"/>
          </a:fillRef>
          <a:effectRef idx="0">
            <a:schemeClr val="dk1"/>
          </a:effectRef>
          <a:fontRef idx="minor">
            <a:schemeClr val="tx1"/>
          </a:fontRef>
        </p:style>
      </p:cxnSp>
      <p:sp>
        <p:nvSpPr>
          <p:cNvPr id="54" name="文本框 53"/>
          <p:cNvSpPr txBox="1"/>
          <p:nvPr/>
        </p:nvSpPr>
        <p:spPr>
          <a:xfrm>
            <a:off x="4368471" y="3917631"/>
            <a:ext cx="318544" cy="357247"/>
          </a:xfrm>
          <a:prstGeom prst="rect">
            <a:avLst/>
          </a:prstGeom>
          <a:noFill/>
        </p:spPr>
        <p:txBody>
          <a:bodyPr wrap="none" rtlCol="0">
            <a:spAutoFit/>
          </a:bodyPr>
          <a:lstStyle/>
          <a:p>
            <a:r>
              <a:rPr lang="en-US" altLang="zh-CN" sz="1400" dirty="0">
                <a:latin typeface="Times "/>
              </a:rPr>
              <a:t>1</a:t>
            </a:r>
            <a:endParaRPr lang="zh-CN" altLang="en-US" sz="1400" dirty="0">
              <a:latin typeface="Times "/>
            </a:endParaRPr>
          </a:p>
        </p:txBody>
      </p:sp>
      <p:sp>
        <p:nvSpPr>
          <p:cNvPr id="55" name="文本框 54"/>
          <p:cNvSpPr txBox="1"/>
          <p:nvPr/>
        </p:nvSpPr>
        <p:spPr>
          <a:xfrm>
            <a:off x="4368471" y="2814790"/>
            <a:ext cx="318544" cy="357247"/>
          </a:xfrm>
          <a:prstGeom prst="rect">
            <a:avLst/>
          </a:prstGeom>
          <a:noFill/>
        </p:spPr>
        <p:txBody>
          <a:bodyPr wrap="none" rtlCol="0">
            <a:spAutoFit/>
          </a:bodyPr>
          <a:lstStyle/>
          <a:p>
            <a:r>
              <a:rPr lang="en-US" altLang="zh-CN" sz="1400" dirty="0">
                <a:latin typeface="Times "/>
              </a:rPr>
              <a:t>2</a:t>
            </a:r>
            <a:endParaRPr lang="zh-CN" altLang="en-US" sz="1400" dirty="0">
              <a:latin typeface="Times "/>
            </a:endParaRPr>
          </a:p>
        </p:txBody>
      </p:sp>
      <p:cxnSp>
        <p:nvCxnSpPr>
          <p:cNvPr id="56" name="直接连接符 55"/>
          <p:cNvCxnSpPr/>
          <p:nvPr/>
        </p:nvCxnSpPr>
        <p:spPr>
          <a:xfrm rot="16200000">
            <a:off x="4691805" y="2966512"/>
            <a:ext cx="0" cy="68544"/>
          </a:xfrm>
          <a:prstGeom prst="line">
            <a:avLst/>
          </a:prstGeom>
          <a:ln w="12700"/>
        </p:spPr>
        <p:style>
          <a:lnRef idx="1">
            <a:schemeClr val="dk1"/>
          </a:lnRef>
          <a:fillRef idx="0">
            <a:schemeClr val="dk1"/>
          </a:fillRef>
          <a:effectRef idx="0">
            <a:schemeClr val="dk1"/>
          </a:effectRef>
          <a:fontRef idx="minor">
            <a:schemeClr val="tx1"/>
          </a:fontRef>
        </p:style>
      </p:cxnSp>
      <p:sp>
        <p:nvSpPr>
          <p:cNvPr id="57" name="文本框 56"/>
          <p:cNvSpPr txBox="1"/>
          <p:nvPr/>
        </p:nvSpPr>
        <p:spPr>
          <a:xfrm>
            <a:off x="4379840" y="1871380"/>
            <a:ext cx="318544" cy="357247"/>
          </a:xfrm>
          <a:prstGeom prst="rect">
            <a:avLst/>
          </a:prstGeom>
          <a:noFill/>
        </p:spPr>
        <p:txBody>
          <a:bodyPr wrap="none" rtlCol="0">
            <a:spAutoFit/>
          </a:bodyPr>
          <a:lstStyle/>
          <a:p>
            <a:r>
              <a:rPr lang="en-US" altLang="zh-CN" sz="1400" dirty="0">
                <a:latin typeface="Times "/>
              </a:rPr>
              <a:t>3</a:t>
            </a:r>
            <a:endParaRPr lang="zh-CN" altLang="en-US" sz="1400" dirty="0">
              <a:latin typeface="Times "/>
            </a:endParaRPr>
          </a:p>
        </p:txBody>
      </p:sp>
      <p:cxnSp>
        <p:nvCxnSpPr>
          <p:cNvPr id="58" name="直接连接符 57"/>
          <p:cNvCxnSpPr/>
          <p:nvPr/>
        </p:nvCxnSpPr>
        <p:spPr>
          <a:xfrm rot="16200000">
            <a:off x="4703173" y="2023102"/>
            <a:ext cx="0" cy="68544"/>
          </a:xfrm>
          <a:prstGeom prst="line">
            <a:avLst/>
          </a:prstGeom>
          <a:ln w="12700"/>
        </p:spPr>
        <p:style>
          <a:lnRef idx="1">
            <a:schemeClr val="dk1"/>
          </a:lnRef>
          <a:fillRef idx="0">
            <a:schemeClr val="dk1"/>
          </a:fillRef>
          <a:effectRef idx="0">
            <a:schemeClr val="dk1"/>
          </a:effectRef>
          <a:fontRef idx="minor">
            <a:schemeClr val="tx1"/>
          </a:fontRef>
        </p:style>
      </p:cxnSp>
      <p:graphicFrame>
        <p:nvGraphicFramePr>
          <p:cNvPr id="59" name="对象 58"/>
          <p:cNvGraphicFramePr>
            <a:graphicFrameLocks noChangeAspect="1"/>
          </p:cNvGraphicFramePr>
          <p:nvPr/>
        </p:nvGraphicFramePr>
        <p:xfrm>
          <a:off x="4895569" y="2229128"/>
          <a:ext cx="1905313" cy="291141"/>
        </p:xfrm>
        <a:graphic>
          <a:graphicData uri="http://schemas.openxmlformats.org/presentationml/2006/ole">
            <mc:AlternateContent xmlns:mc="http://schemas.openxmlformats.org/markup-compatibility/2006">
              <mc:Choice xmlns:v="urn:schemas-microsoft-com:vml" Requires="v">
                <p:oleObj spid="_x0000_s4" name="Formula" r:id="rId5" imgW="8677275" imgH="1333500" progId="Equation.Ribbit">
                  <p:embed/>
                </p:oleObj>
              </mc:Choice>
              <mc:Fallback>
                <p:oleObj name="Formula" r:id="rId5" imgW="8677275" imgH="1333500" progId="Equation.Ribbit">
                  <p:embed/>
                  <p:pic>
                    <p:nvPicPr>
                      <p:cNvPr id="0" name="图片 3"/>
                      <p:cNvPicPr/>
                      <p:nvPr/>
                    </p:nvPicPr>
                    <p:blipFill>
                      <a:blip r:embed="rId6"/>
                      <a:stretch>
                        <a:fillRect/>
                      </a:stretch>
                    </p:blipFill>
                    <p:spPr>
                      <a:xfrm>
                        <a:off x="4895569" y="2229128"/>
                        <a:ext cx="1905313" cy="291141"/>
                      </a:xfrm>
                      <a:prstGeom prst="rect">
                        <a:avLst/>
                      </a:prstGeom>
                    </p:spPr>
                  </p:pic>
                </p:oleObj>
              </mc:Fallback>
            </mc:AlternateContent>
          </a:graphicData>
        </a:graphic>
      </p:graphicFrame>
      <p:graphicFrame>
        <p:nvGraphicFramePr>
          <p:cNvPr id="60" name="对象 59"/>
          <p:cNvGraphicFramePr>
            <a:graphicFrameLocks noChangeAspect="1"/>
          </p:cNvGraphicFramePr>
          <p:nvPr/>
        </p:nvGraphicFramePr>
        <p:xfrm>
          <a:off x="1234199" y="3185471"/>
          <a:ext cx="2592625" cy="292983"/>
        </p:xfrm>
        <a:graphic>
          <a:graphicData uri="http://schemas.openxmlformats.org/presentationml/2006/ole">
            <mc:AlternateContent xmlns:mc="http://schemas.openxmlformats.org/markup-compatibility/2006">
              <mc:Choice xmlns:v="urn:schemas-microsoft-com:vml" Requires="v">
                <p:oleObj spid="_x0000_s5" name="Formula" r:id="rId7" imgW="11811000" imgH="1333500" progId="Equation.Ribbit">
                  <p:embed/>
                </p:oleObj>
              </mc:Choice>
              <mc:Fallback>
                <p:oleObj name="Formula" r:id="rId7" imgW="11811000" imgH="1333500" progId="Equation.Ribbit">
                  <p:embed/>
                  <p:pic>
                    <p:nvPicPr>
                      <p:cNvPr id="0" name="图片 4"/>
                      <p:cNvPicPr/>
                      <p:nvPr/>
                    </p:nvPicPr>
                    <p:blipFill>
                      <a:blip r:embed="rId8"/>
                      <a:stretch>
                        <a:fillRect/>
                      </a:stretch>
                    </p:blipFill>
                    <p:spPr>
                      <a:xfrm>
                        <a:off x="1234199" y="3185471"/>
                        <a:ext cx="2592625" cy="292983"/>
                      </a:xfrm>
                      <a:prstGeom prst="rect">
                        <a:avLst/>
                      </a:prstGeom>
                    </p:spPr>
                  </p:pic>
                </p:oleObj>
              </mc:Fallback>
            </mc:AlternateContent>
          </a:graphicData>
        </a:graphic>
      </p:graphicFrame>
      <p:sp>
        <p:nvSpPr>
          <p:cNvPr id="61" name="任意多边形 60"/>
          <p:cNvSpPr/>
          <p:nvPr/>
        </p:nvSpPr>
        <p:spPr>
          <a:xfrm>
            <a:off x="2836292" y="2892897"/>
            <a:ext cx="524134" cy="198525"/>
          </a:xfrm>
          <a:custGeom>
            <a:avLst/>
            <a:gdLst>
              <a:gd name="connsiteX0" fmla="*/ 0 w 451555"/>
              <a:gd name="connsiteY0" fmla="*/ 169333 h 171034"/>
              <a:gd name="connsiteX1" fmla="*/ 248355 w 451555"/>
              <a:gd name="connsiteY1" fmla="*/ 146755 h 171034"/>
              <a:gd name="connsiteX2" fmla="*/ 451555 w 451555"/>
              <a:gd name="connsiteY2" fmla="*/ 0 h 171034"/>
            </a:gdLst>
            <a:ahLst/>
            <a:cxnLst>
              <a:cxn ang="0">
                <a:pos x="connsiteX0" y="connsiteY0"/>
              </a:cxn>
              <a:cxn ang="0">
                <a:pos x="connsiteX1" y="connsiteY1"/>
              </a:cxn>
              <a:cxn ang="0">
                <a:pos x="connsiteX2" y="connsiteY2"/>
              </a:cxn>
            </a:cxnLst>
            <a:rect l="l" t="t" r="r" b="b"/>
            <a:pathLst>
              <a:path w="451555" h="171034">
                <a:moveTo>
                  <a:pt x="0" y="169333"/>
                </a:moveTo>
                <a:cubicBezTo>
                  <a:pt x="86548" y="172155"/>
                  <a:pt x="173096" y="174977"/>
                  <a:pt x="248355" y="146755"/>
                </a:cubicBezTo>
                <a:cubicBezTo>
                  <a:pt x="323614" y="118533"/>
                  <a:pt x="387584" y="59266"/>
                  <a:pt x="451555" y="0"/>
                </a:cubicBezTo>
              </a:path>
            </a:pathLst>
          </a:custGeom>
          <a:ln w="19050">
            <a:tailEnd type="triangle"/>
          </a:ln>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62" name="任意多边形 61"/>
          <p:cNvSpPr/>
          <p:nvPr/>
        </p:nvSpPr>
        <p:spPr>
          <a:xfrm rot="10214568">
            <a:off x="3814888" y="2592310"/>
            <a:ext cx="1484401" cy="152187"/>
          </a:xfrm>
          <a:custGeom>
            <a:avLst/>
            <a:gdLst>
              <a:gd name="connsiteX0" fmla="*/ 0 w 451555"/>
              <a:gd name="connsiteY0" fmla="*/ 169333 h 171034"/>
              <a:gd name="connsiteX1" fmla="*/ 248355 w 451555"/>
              <a:gd name="connsiteY1" fmla="*/ 146755 h 171034"/>
              <a:gd name="connsiteX2" fmla="*/ 451555 w 451555"/>
              <a:gd name="connsiteY2" fmla="*/ 0 h 171034"/>
              <a:gd name="connsiteX0-1" fmla="*/ 0 w 451555"/>
              <a:gd name="connsiteY0-2" fmla="*/ 169333 h 169388"/>
              <a:gd name="connsiteX1-3" fmla="*/ 144516 w 451555"/>
              <a:gd name="connsiteY1-4" fmla="*/ 38694 h 169388"/>
              <a:gd name="connsiteX2-5" fmla="*/ 451555 w 451555"/>
              <a:gd name="connsiteY2-6" fmla="*/ 0 h 169388"/>
              <a:gd name="connsiteX0-7" fmla="*/ 0 w 451555"/>
              <a:gd name="connsiteY0-8" fmla="*/ 169333 h 169333"/>
              <a:gd name="connsiteX1-9" fmla="*/ 144516 w 451555"/>
              <a:gd name="connsiteY1-10" fmla="*/ 38694 h 169333"/>
              <a:gd name="connsiteX2-11" fmla="*/ 451555 w 451555"/>
              <a:gd name="connsiteY2-12" fmla="*/ 0 h 169333"/>
              <a:gd name="connsiteX0-13" fmla="*/ 0 w 451555"/>
              <a:gd name="connsiteY0-14" fmla="*/ 169333 h 169333"/>
              <a:gd name="connsiteX1-15" fmla="*/ 144516 w 451555"/>
              <a:gd name="connsiteY1-16" fmla="*/ 38694 h 169333"/>
              <a:gd name="connsiteX2-17" fmla="*/ 451555 w 451555"/>
              <a:gd name="connsiteY2-18" fmla="*/ 0 h 169333"/>
              <a:gd name="connsiteX0-19" fmla="*/ 0 w 451555"/>
              <a:gd name="connsiteY0-20" fmla="*/ 169333 h 169333"/>
              <a:gd name="connsiteX1-21" fmla="*/ 144516 w 451555"/>
              <a:gd name="connsiteY1-22" fmla="*/ 38694 h 169333"/>
              <a:gd name="connsiteX2-23" fmla="*/ 451555 w 451555"/>
              <a:gd name="connsiteY2-24" fmla="*/ 0 h 169333"/>
              <a:gd name="connsiteX0-25" fmla="*/ 0 w 432019"/>
              <a:gd name="connsiteY0-26" fmla="*/ 430421 h 430421"/>
              <a:gd name="connsiteX1-27" fmla="*/ 144516 w 432019"/>
              <a:gd name="connsiteY1-28" fmla="*/ 299782 h 430421"/>
              <a:gd name="connsiteX2-29" fmla="*/ 432019 w 432019"/>
              <a:gd name="connsiteY2-30" fmla="*/ 0 h 430421"/>
              <a:gd name="connsiteX0-31" fmla="*/ 0 w 432019"/>
              <a:gd name="connsiteY0-32" fmla="*/ 430421 h 430421"/>
              <a:gd name="connsiteX1-33" fmla="*/ 144516 w 432019"/>
              <a:gd name="connsiteY1-34" fmla="*/ 299782 h 430421"/>
              <a:gd name="connsiteX2-35" fmla="*/ 432019 w 432019"/>
              <a:gd name="connsiteY2-36" fmla="*/ 0 h 430421"/>
              <a:gd name="connsiteX0-37" fmla="*/ 0 w 432019"/>
              <a:gd name="connsiteY0-38" fmla="*/ 430421 h 430421"/>
              <a:gd name="connsiteX1-39" fmla="*/ 93772 w 432019"/>
              <a:gd name="connsiteY1-40" fmla="*/ 220181 h 430421"/>
              <a:gd name="connsiteX2-41" fmla="*/ 432019 w 432019"/>
              <a:gd name="connsiteY2-42" fmla="*/ 0 h 430421"/>
              <a:gd name="connsiteX0-43" fmla="*/ 0 w 942346"/>
              <a:gd name="connsiteY0-44" fmla="*/ 217546 h 281484"/>
              <a:gd name="connsiteX1-45" fmla="*/ 93772 w 942346"/>
              <a:gd name="connsiteY1-46" fmla="*/ 7306 h 281484"/>
              <a:gd name="connsiteX2-47" fmla="*/ 942346 w 942346"/>
              <a:gd name="connsiteY2-48" fmla="*/ 241776 h 281484"/>
              <a:gd name="connsiteX0-49" fmla="*/ 0 w 942346"/>
              <a:gd name="connsiteY0-50" fmla="*/ 223742 h 247972"/>
              <a:gd name="connsiteX1-51" fmla="*/ 93772 w 942346"/>
              <a:gd name="connsiteY1-52" fmla="*/ 13502 h 247972"/>
              <a:gd name="connsiteX2-53" fmla="*/ 942346 w 942346"/>
              <a:gd name="connsiteY2-54" fmla="*/ 247972 h 247972"/>
              <a:gd name="connsiteX0-55" fmla="*/ 0 w 942346"/>
              <a:gd name="connsiteY0-56" fmla="*/ 132646 h 156876"/>
              <a:gd name="connsiteX1-57" fmla="*/ 114955 w 942346"/>
              <a:gd name="connsiteY1-58" fmla="*/ 20271 h 156876"/>
              <a:gd name="connsiteX2-59" fmla="*/ 942346 w 942346"/>
              <a:gd name="connsiteY2-60" fmla="*/ 156876 h 156876"/>
              <a:gd name="connsiteX0-61" fmla="*/ 0 w 942346"/>
              <a:gd name="connsiteY0-62" fmla="*/ 132646 h 156876"/>
              <a:gd name="connsiteX1-63" fmla="*/ 114955 w 942346"/>
              <a:gd name="connsiteY1-64" fmla="*/ 20271 h 156876"/>
              <a:gd name="connsiteX2-65" fmla="*/ 942346 w 942346"/>
              <a:gd name="connsiteY2-66" fmla="*/ 156876 h 156876"/>
              <a:gd name="connsiteX0-67" fmla="*/ 0 w 942346"/>
              <a:gd name="connsiteY0-68" fmla="*/ 118993 h 143223"/>
              <a:gd name="connsiteX1-69" fmla="*/ 114955 w 942346"/>
              <a:gd name="connsiteY1-70" fmla="*/ 6618 h 143223"/>
              <a:gd name="connsiteX2-71" fmla="*/ 942346 w 942346"/>
              <a:gd name="connsiteY2-72" fmla="*/ 143223 h 143223"/>
              <a:gd name="connsiteX0-73" fmla="*/ 0 w 785321"/>
              <a:gd name="connsiteY0-74" fmla="*/ 120093 h 125970"/>
              <a:gd name="connsiteX1-75" fmla="*/ 114955 w 785321"/>
              <a:gd name="connsiteY1-76" fmla="*/ 7718 h 125970"/>
              <a:gd name="connsiteX2-77" fmla="*/ 785321 w 785321"/>
              <a:gd name="connsiteY2-78" fmla="*/ 125970 h 125970"/>
              <a:gd name="connsiteX0-79" fmla="*/ 0 w 785321"/>
              <a:gd name="connsiteY0-80" fmla="*/ 57447 h 63324"/>
              <a:gd name="connsiteX1-81" fmla="*/ 265039 w 785321"/>
              <a:gd name="connsiteY1-82" fmla="*/ 19751 h 63324"/>
              <a:gd name="connsiteX2-83" fmla="*/ 785321 w 785321"/>
              <a:gd name="connsiteY2-84" fmla="*/ 63324 h 63324"/>
              <a:gd name="connsiteX0-85" fmla="*/ 0 w 785321"/>
              <a:gd name="connsiteY0-86" fmla="*/ 60251 h 66128"/>
              <a:gd name="connsiteX1-87" fmla="*/ 265039 w 785321"/>
              <a:gd name="connsiteY1-88" fmla="*/ 22555 h 66128"/>
              <a:gd name="connsiteX2-89" fmla="*/ 785321 w 785321"/>
              <a:gd name="connsiteY2-90" fmla="*/ 66128 h 66128"/>
              <a:gd name="connsiteX0-91" fmla="*/ 0 w 785321"/>
              <a:gd name="connsiteY0-92" fmla="*/ 100604 h 106481"/>
              <a:gd name="connsiteX1-93" fmla="*/ 243916 w 785321"/>
              <a:gd name="connsiteY1-94" fmla="*/ 9515 h 106481"/>
              <a:gd name="connsiteX2-95" fmla="*/ 785321 w 785321"/>
              <a:gd name="connsiteY2-96" fmla="*/ 106481 h 106481"/>
              <a:gd name="connsiteX0-97" fmla="*/ 0 w 785321"/>
              <a:gd name="connsiteY0-98" fmla="*/ 100604 h 106481"/>
              <a:gd name="connsiteX1-99" fmla="*/ 243916 w 785321"/>
              <a:gd name="connsiteY1-100" fmla="*/ 9515 h 106481"/>
              <a:gd name="connsiteX2-101" fmla="*/ 785321 w 785321"/>
              <a:gd name="connsiteY2-102" fmla="*/ 106481 h 106481"/>
              <a:gd name="connsiteX0-103" fmla="*/ 0 w 958415"/>
              <a:gd name="connsiteY0-104" fmla="*/ 18240 h 249287"/>
              <a:gd name="connsiteX1-105" fmla="*/ 417010 w 958415"/>
              <a:gd name="connsiteY1-106" fmla="*/ 152321 h 249287"/>
              <a:gd name="connsiteX2-107" fmla="*/ 958415 w 958415"/>
              <a:gd name="connsiteY2-108" fmla="*/ 249287 h 249287"/>
              <a:gd name="connsiteX0-109" fmla="*/ 0 w 958415"/>
              <a:gd name="connsiteY0-110" fmla="*/ 32707 h 263754"/>
              <a:gd name="connsiteX1-111" fmla="*/ 317695 w 958415"/>
              <a:gd name="connsiteY1-112" fmla="*/ 17313 h 263754"/>
              <a:gd name="connsiteX2-113" fmla="*/ 958415 w 958415"/>
              <a:gd name="connsiteY2-114" fmla="*/ 263754 h 263754"/>
              <a:gd name="connsiteX0-115" fmla="*/ 0 w 958415"/>
              <a:gd name="connsiteY0-116" fmla="*/ 49169 h 280216"/>
              <a:gd name="connsiteX1-117" fmla="*/ 317695 w 958415"/>
              <a:gd name="connsiteY1-118" fmla="*/ 33775 h 280216"/>
              <a:gd name="connsiteX2-119" fmla="*/ 958415 w 958415"/>
              <a:gd name="connsiteY2-120" fmla="*/ 280216 h 280216"/>
              <a:gd name="connsiteX0-121" fmla="*/ 0 w 958415"/>
              <a:gd name="connsiteY0-122" fmla="*/ 49169 h 280216"/>
              <a:gd name="connsiteX1-123" fmla="*/ 317695 w 958415"/>
              <a:gd name="connsiteY1-124" fmla="*/ 33775 h 280216"/>
              <a:gd name="connsiteX2-125" fmla="*/ 958415 w 958415"/>
              <a:gd name="connsiteY2-126" fmla="*/ 280216 h 280216"/>
              <a:gd name="connsiteX0-127" fmla="*/ 0 w 898303"/>
              <a:gd name="connsiteY0-128" fmla="*/ 49169 h 149813"/>
              <a:gd name="connsiteX1-129" fmla="*/ 317695 w 898303"/>
              <a:gd name="connsiteY1-130" fmla="*/ 33775 h 149813"/>
              <a:gd name="connsiteX2-131" fmla="*/ 898303 w 898303"/>
              <a:gd name="connsiteY2-132" fmla="*/ 149813 h 149813"/>
              <a:gd name="connsiteX0-133" fmla="*/ 0 w 916383"/>
              <a:gd name="connsiteY0-134" fmla="*/ 49169 h 115493"/>
              <a:gd name="connsiteX1-135" fmla="*/ 317695 w 916383"/>
              <a:gd name="connsiteY1-136" fmla="*/ 33775 h 115493"/>
              <a:gd name="connsiteX2-137" fmla="*/ 916383 w 916383"/>
              <a:gd name="connsiteY2-138" fmla="*/ 115493 h 115493"/>
              <a:gd name="connsiteX0-139" fmla="*/ 0 w 916383"/>
              <a:gd name="connsiteY0-140" fmla="*/ 64789 h 131113"/>
              <a:gd name="connsiteX1-141" fmla="*/ 418807 w 916383"/>
              <a:gd name="connsiteY1-142" fmla="*/ 15671 h 131113"/>
              <a:gd name="connsiteX2-143" fmla="*/ 916383 w 916383"/>
              <a:gd name="connsiteY2-144" fmla="*/ 131113 h 131113"/>
            </a:gdLst>
            <a:ahLst/>
            <a:cxnLst>
              <a:cxn ang="0">
                <a:pos x="connsiteX0-1" y="connsiteY0-2"/>
              </a:cxn>
              <a:cxn ang="0">
                <a:pos x="connsiteX1-3" y="connsiteY1-4"/>
              </a:cxn>
              <a:cxn ang="0">
                <a:pos x="connsiteX2-5" y="connsiteY2-6"/>
              </a:cxn>
            </a:cxnLst>
            <a:rect l="l" t="t" r="r" b="b"/>
            <a:pathLst>
              <a:path w="916383" h="131113">
                <a:moveTo>
                  <a:pt x="0" y="64789"/>
                </a:moveTo>
                <a:cubicBezTo>
                  <a:pt x="25441" y="-26659"/>
                  <a:pt x="260496" y="975"/>
                  <a:pt x="418807" y="15671"/>
                </a:cubicBezTo>
                <a:cubicBezTo>
                  <a:pt x="642995" y="57774"/>
                  <a:pt x="696468" y="58938"/>
                  <a:pt x="916383" y="131113"/>
                </a:cubicBezTo>
              </a:path>
            </a:pathLst>
          </a:custGeom>
          <a:ln w="19050">
            <a:tailEnd type="triangle"/>
          </a:ln>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63" name="任意多边形 62"/>
          <p:cNvSpPr/>
          <p:nvPr/>
        </p:nvSpPr>
        <p:spPr>
          <a:xfrm>
            <a:off x="2993532" y="1923246"/>
            <a:ext cx="4114460" cy="2751711"/>
          </a:xfrm>
          <a:custGeom>
            <a:avLst/>
            <a:gdLst>
              <a:gd name="connsiteX0" fmla="*/ 0 w 3544711"/>
              <a:gd name="connsiteY0" fmla="*/ 0 h 2370667"/>
              <a:gd name="connsiteX1" fmla="*/ 338667 w 3544711"/>
              <a:gd name="connsiteY1" fmla="*/ 541867 h 2370667"/>
              <a:gd name="connsiteX2" fmla="*/ 767645 w 3544711"/>
              <a:gd name="connsiteY2" fmla="*/ 1049867 h 2370667"/>
              <a:gd name="connsiteX3" fmla="*/ 1095022 w 3544711"/>
              <a:gd name="connsiteY3" fmla="*/ 1388533 h 2370667"/>
              <a:gd name="connsiteX4" fmla="*/ 1433689 w 3544711"/>
              <a:gd name="connsiteY4" fmla="*/ 1727200 h 2370667"/>
              <a:gd name="connsiteX5" fmla="*/ 1817511 w 3544711"/>
              <a:gd name="connsiteY5" fmla="*/ 1930400 h 2370667"/>
              <a:gd name="connsiteX6" fmla="*/ 2235200 w 3544711"/>
              <a:gd name="connsiteY6" fmla="*/ 2111022 h 2370667"/>
              <a:gd name="connsiteX7" fmla="*/ 2777067 w 3544711"/>
              <a:gd name="connsiteY7" fmla="*/ 2269067 h 2370667"/>
              <a:gd name="connsiteX8" fmla="*/ 3172178 w 3544711"/>
              <a:gd name="connsiteY8" fmla="*/ 2336800 h 2370667"/>
              <a:gd name="connsiteX9" fmla="*/ 3544711 w 3544711"/>
              <a:gd name="connsiteY9" fmla="*/ 2370667 h 2370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44711" h="2370667">
                <a:moveTo>
                  <a:pt x="0" y="0"/>
                </a:moveTo>
                <a:cubicBezTo>
                  <a:pt x="105363" y="183444"/>
                  <a:pt x="210726" y="366889"/>
                  <a:pt x="338667" y="541867"/>
                </a:cubicBezTo>
                <a:cubicBezTo>
                  <a:pt x="466608" y="716845"/>
                  <a:pt x="641586" y="908756"/>
                  <a:pt x="767645" y="1049867"/>
                </a:cubicBezTo>
                <a:cubicBezTo>
                  <a:pt x="893704" y="1190978"/>
                  <a:pt x="984015" y="1275644"/>
                  <a:pt x="1095022" y="1388533"/>
                </a:cubicBezTo>
                <a:cubicBezTo>
                  <a:pt x="1206029" y="1501422"/>
                  <a:pt x="1313274" y="1636889"/>
                  <a:pt x="1433689" y="1727200"/>
                </a:cubicBezTo>
                <a:cubicBezTo>
                  <a:pt x="1554104" y="1817511"/>
                  <a:pt x="1683926" y="1866430"/>
                  <a:pt x="1817511" y="1930400"/>
                </a:cubicBezTo>
                <a:cubicBezTo>
                  <a:pt x="1951096" y="1994370"/>
                  <a:pt x="2075274" y="2054578"/>
                  <a:pt x="2235200" y="2111022"/>
                </a:cubicBezTo>
                <a:cubicBezTo>
                  <a:pt x="2395126" y="2167466"/>
                  <a:pt x="2620904" y="2231437"/>
                  <a:pt x="2777067" y="2269067"/>
                </a:cubicBezTo>
                <a:cubicBezTo>
                  <a:pt x="2933230" y="2306697"/>
                  <a:pt x="3044237" y="2319867"/>
                  <a:pt x="3172178" y="2336800"/>
                </a:cubicBezTo>
                <a:cubicBezTo>
                  <a:pt x="3300119" y="2353733"/>
                  <a:pt x="3422415" y="2362200"/>
                  <a:pt x="3544711" y="2370667"/>
                </a:cubicBezTo>
              </a:path>
            </a:pathLst>
          </a:custGeom>
          <a:noFill/>
          <a:ln w="190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64" name="对象 63"/>
          <p:cNvGraphicFramePr>
            <a:graphicFrameLocks noChangeAspect="1"/>
          </p:cNvGraphicFramePr>
          <p:nvPr/>
        </p:nvGraphicFramePr>
        <p:xfrm>
          <a:off x="4960063" y="3408433"/>
          <a:ext cx="2791633" cy="291141"/>
        </p:xfrm>
        <a:graphic>
          <a:graphicData uri="http://schemas.openxmlformats.org/presentationml/2006/ole">
            <mc:AlternateContent xmlns:mc="http://schemas.openxmlformats.org/markup-compatibility/2006">
              <mc:Choice xmlns:v="urn:schemas-microsoft-com:vml" Requires="v">
                <p:oleObj spid="_x0000_s6" name="Formula" r:id="rId9" imgW="12725400" imgH="1333500" progId="Equation.Ribbit">
                  <p:embed/>
                </p:oleObj>
              </mc:Choice>
              <mc:Fallback>
                <p:oleObj name="Formula" r:id="rId9" imgW="12725400" imgH="1333500" progId="Equation.Ribbit">
                  <p:embed/>
                  <p:pic>
                    <p:nvPicPr>
                      <p:cNvPr id="0" name="图片 5"/>
                      <p:cNvPicPr/>
                      <p:nvPr/>
                    </p:nvPicPr>
                    <p:blipFill>
                      <a:blip r:embed="rId10"/>
                      <a:stretch>
                        <a:fillRect/>
                      </a:stretch>
                    </p:blipFill>
                    <p:spPr>
                      <a:xfrm>
                        <a:off x="4960063" y="3408433"/>
                        <a:ext cx="2791633" cy="291141"/>
                      </a:xfrm>
                      <a:prstGeom prst="rect">
                        <a:avLst/>
                      </a:prstGeom>
                    </p:spPr>
                  </p:pic>
                </p:oleObj>
              </mc:Fallback>
            </mc:AlternateContent>
          </a:graphicData>
        </a:graphic>
      </p:graphicFrame>
      <p:sp>
        <p:nvSpPr>
          <p:cNvPr id="65" name="任意多边形 64"/>
          <p:cNvSpPr/>
          <p:nvPr/>
        </p:nvSpPr>
        <p:spPr>
          <a:xfrm rot="10214568">
            <a:off x="5563200" y="3785806"/>
            <a:ext cx="410116" cy="525633"/>
          </a:xfrm>
          <a:custGeom>
            <a:avLst/>
            <a:gdLst>
              <a:gd name="connsiteX0" fmla="*/ 0 w 451555"/>
              <a:gd name="connsiteY0" fmla="*/ 169333 h 171034"/>
              <a:gd name="connsiteX1" fmla="*/ 248355 w 451555"/>
              <a:gd name="connsiteY1" fmla="*/ 146755 h 171034"/>
              <a:gd name="connsiteX2" fmla="*/ 451555 w 451555"/>
              <a:gd name="connsiteY2" fmla="*/ 0 h 171034"/>
              <a:gd name="connsiteX0-1" fmla="*/ 0 w 451555"/>
              <a:gd name="connsiteY0-2" fmla="*/ 169333 h 169388"/>
              <a:gd name="connsiteX1-3" fmla="*/ 144516 w 451555"/>
              <a:gd name="connsiteY1-4" fmla="*/ 38694 h 169388"/>
              <a:gd name="connsiteX2-5" fmla="*/ 451555 w 451555"/>
              <a:gd name="connsiteY2-6" fmla="*/ 0 h 169388"/>
              <a:gd name="connsiteX0-7" fmla="*/ 0 w 451555"/>
              <a:gd name="connsiteY0-8" fmla="*/ 169333 h 169333"/>
              <a:gd name="connsiteX1-9" fmla="*/ 144516 w 451555"/>
              <a:gd name="connsiteY1-10" fmla="*/ 38694 h 169333"/>
              <a:gd name="connsiteX2-11" fmla="*/ 451555 w 451555"/>
              <a:gd name="connsiteY2-12" fmla="*/ 0 h 169333"/>
              <a:gd name="connsiteX0-13" fmla="*/ 0 w 451555"/>
              <a:gd name="connsiteY0-14" fmla="*/ 169333 h 169333"/>
              <a:gd name="connsiteX1-15" fmla="*/ 144516 w 451555"/>
              <a:gd name="connsiteY1-16" fmla="*/ 38694 h 169333"/>
              <a:gd name="connsiteX2-17" fmla="*/ 451555 w 451555"/>
              <a:gd name="connsiteY2-18" fmla="*/ 0 h 169333"/>
              <a:gd name="connsiteX0-19" fmla="*/ 0 w 451555"/>
              <a:gd name="connsiteY0-20" fmla="*/ 169333 h 169333"/>
              <a:gd name="connsiteX1-21" fmla="*/ 144516 w 451555"/>
              <a:gd name="connsiteY1-22" fmla="*/ 38694 h 169333"/>
              <a:gd name="connsiteX2-23" fmla="*/ 451555 w 451555"/>
              <a:gd name="connsiteY2-24" fmla="*/ 0 h 169333"/>
              <a:gd name="connsiteX0-25" fmla="*/ 0 w 432019"/>
              <a:gd name="connsiteY0-26" fmla="*/ 430421 h 430421"/>
              <a:gd name="connsiteX1-27" fmla="*/ 144516 w 432019"/>
              <a:gd name="connsiteY1-28" fmla="*/ 299782 h 430421"/>
              <a:gd name="connsiteX2-29" fmla="*/ 432019 w 432019"/>
              <a:gd name="connsiteY2-30" fmla="*/ 0 h 430421"/>
              <a:gd name="connsiteX0-31" fmla="*/ 0 w 432019"/>
              <a:gd name="connsiteY0-32" fmla="*/ 430421 h 430421"/>
              <a:gd name="connsiteX1-33" fmla="*/ 144516 w 432019"/>
              <a:gd name="connsiteY1-34" fmla="*/ 299782 h 430421"/>
              <a:gd name="connsiteX2-35" fmla="*/ 432019 w 432019"/>
              <a:gd name="connsiteY2-36" fmla="*/ 0 h 430421"/>
              <a:gd name="connsiteX0-37" fmla="*/ 0 w 432019"/>
              <a:gd name="connsiteY0-38" fmla="*/ 430421 h 430421"/>
              <a:gd name="connsiteX1-39" fmla="*/ 93772 w 432019"/>
              <a:gd name="connsiteY1-40" fmla="*/ 220181 h 430421"/>
              <a:gd name="connsiteX2-41" fmla="*/ 432019 w 432019"/>
              <a:gd name="connsiteY2-42" fmla="*/ 0 h 430421"/>
              <a:gd name="connsiteX0-43" fmla="*/ 0 w 942346"/>
              <a:gd name="connsiteY0-44" fmla="*/ 217546 h 281484"/>
              <a:gd name="connsiteX1-45" fmla="*/ 93772 w 942346"/>
              <a:gd name="connsiteY1-46" fmla="*/ 7306 h 281484"/>
              <a:gd name="connsiteX2-47" fmla="*/ 942346 w 942346"/>
              <a:gd name="connsiteY2-48" fmla="*/ 241776 h 281484"/>
              <a:gd name="connsiteX0-49" fmla="*/ 0 w 942346"/>
              <a:gd name="connsiteY0-50" fmla="*/ 223742 h 247972"/>
              <a:gd name="connsiteX1-51" fmla="*/ 93772 w 942346"/>
              <a:gd name="connsiteY1-52" fmla="*/ 13502 h 247972"/>
              <a:gd name="connsiteX2-53" fmla="*/ 942346 w 942346"/>
              <a:gd name="connsiteY2-54" fmla="*/ 247972 h 247972"/>
              <a:gd name="connsiteX0-55" fmla="*/ 0 w 942346"/>
              <a:gd name="connsiteY0-56" fmla="*/ 132646 h 156876"/>
              <a:gd name="connsiteX1-57" fmla="*/ 114955 w 942346"/>
              <a:gd name="connsiteY1-58" fmla="*/ 20271 h 156876"/>
              <a:gd name="connsiteX2-59" fmla="*/ 942346 w 942346"/>
              <a:gd name="connsiteY2-60" fmla="*/ 156876 h 156876"/>
              <a:gd name="connsiteX0-61" fmla="*/ 0 w 942346"/>
              <a:gd name="connsiteY0-62" fmla="*/ 132646 h 156876"/>
              <a:gd name="connsiteX1-63" fmla="*/ 114955 w 942346"/>
              <a:gd name="connsiteY1-64" fmla="*/ 20271 h 156876"/>
              <a:gd name="connsiteX2-65" fmla="*/ 942346 w 942346"/>
              <a:gd name="connsiteY2-66" fmla="*/ 156876 h 156876"/>
              <a:gd name="connsiteX0-67" fmla="*/ 0 w 942346"/>
              <a:gd name="connsiteY0-68" fmla="*/ 118993 h 143223"/>
              <a:gd name="connsiteX1-69" fmla="*/ 114955 w 942346"/>
              <a:gd name="connsiteY1-70" fmla="*/ 6618 h 143223"/>
              <a:gd name="connsiteX2-71" fmla="*/ 942346 w 942346"/>
              <a:gd name="connsiteY2-72" fmla="*/ 143223 h 143223"/>
              <a:gd name="connsiteX0-73" fmla="*/ 0 w 785321"/>
              <a:gd name="connsiteY0-74" fmla="*/ 120093 h 125970"/>
              <a:gd name="connsiteX1-75" fmla="*/ 114955 w 785321"/>
              <a:gd name="connsiteY1-76" fmla="*/ 7718 h 125970"/>
              <a:gd name="connsiteX2-77" fmla="*/ 785321 w 785321"/>
              <a:gd name="connsiteY2-78" fmla="*/ 125970 h 125970"/>
              <a:gd name="connsiteX0-79" fmla="*/ 0 w 785321"/>
              <a:gd name="connsiteY0-80" fmla="*/ 57447 h 63324"/>
              <a:gd name="connsiteX1-81" fmla="*/ 265039 w 785321"/>
              <a:gd name="connsiteY1-82" fmla="*/ 19751 h 63324"/>
              <a:gd name="connsiteX2-83" fmla="*/ 785321 w 785321"/>
              <a:gd name="connsiteY2-84" fmla="*/ 63324 h 63324"/>
              <a:gd name="connsiteX0-85" fmla="*/ 0 w 785321"/>
              <a:gd name="connsiteY0-86" fmla="*/ 60251 h 66128"/>
              <a:gd name="connsiteX1-87" fmla="*/ 265039 w 785321"/>
              <a:gd name="connsiteY1-88" fmla="*/ 22555 h 66128"/>
              <a:gd name="connsiteX2-89" fmla="*/ 785321 w 785321"/>
              <a:gd name="connsiteY2-90" fmla="*/ 66128 h 66128"/>
              <a:gd name="connsiteX0-91" fmla="*/ 0 w 785321"/>
              <a:gd name="connsiteY0-92" fmla="*/ 100604 h 106481"/>
              <a:gd name="connsiteX1-93" fmla="*/ 243916 w 785321"/>
              <a:gd name="connsiteY1-94" fmla="*/ 9515 h 106481"/>
              <a:gd name="connsiteX2-95" fmla="*/ 785321 w 785321"/>
              <a:gd name="connsiteY2-96" fmla="*/ 106481 h 106481"/>
              <a:gd name="connsiteX0-97" fmla="*/ 0 w 785321"/>
              <a:gd name="connsiteY0-98" fmla="*/ 100604 h 106481"/>
              <a:gd name="connsiteX1-99" fmla="*/ 243916 w 785321"/>
              <a:gd name="connsiteY1-100" fmla="*/ 9515 h 106481"/>
              <a:gd name="connsiteX2-101" fmla="*/ 785321 w 785321"/>
              <a:gd name="connsiteY2-102" fmla="*/ 106481 h 106481"/>
              <a:gd name="connsiteX0-103" fmla="*/ 0 w 958415"/>
              <a:gd name="connsiteY0-104" fmla="*/ 18240 h 249287"/>
              <a:gd name="connsiteX1-105" fmla="*/ 417010 w 958415"/>
              <a:gd name="connsiteY1-106" fmla="*/ 152321 h 249287"/>
              <a:gd name="connsiteX2-107" fmla="*/ 958415 w 958415"/>
              <a:gd name="connsiteY2-108" fmla="*/ 249287 h 249287"/>
              <a:gd name="connsiteX0-109" fmla="*/ 0 w 958415"/>
              <a:gd name="connsiteY0-110" fmla="*/ 32707 h 263754"/>
              <a:gd name="connsiteX1-111" fmla="*/ 317695 w 958415"/>
              <a:gd name="connsiteY1-112" fmla="*/ 17313 h 263754"/>
              <a:gd name="connsiteX2-113" fmla="*/ 958415 w 958415"/>
              <a:gd name="connsiteY2-114" fmla="*/ 263754 h 263754"/>
              <a:gd name="connsiteX0-115" fmla="*/ 0 w 958415"/>
              <a:gd name="connsiteY0-116" fmla="*/ 49169 h 280216"/>
              <a:gd name="connsiteX1-117" fmla="*/ 317695 w 958415"/>
              <a:gd name="connsiteY1-118" fmla="*/ 33775 h 280216"/>
              <a:gd name="connsiteX2-119" fmla="*/ 958415 w 958415"/>
              <a:gd name="connsiteY2-120" fmla="*/ 280216 h 280216"/>
              <a:gd name="connsiteX0-121" fmla="*/ 0 w 958415"/>
              <a:gd name="connsiteY0-122" fmla="*/ 49169 h 280216"/>
              <a:gd name="connsiteX1-123" fmla="*/ 317695 w 958415"/>
              <a:gd name="connsiteY1-124" fmla="*/ 33775 h 280216"/>
              <a:gd name="connsiteX2-125" fmla="*/ 958415 w 958415"/>
              <a:gd name="connsiteY2-126" fmla="*/ 280216 h 280216"/>
              <a:gd name="connsiteX0-127" fmla="*/ 0 w 898303"/>
              <a:gd name="connsiteY0-128" fmla="*/ 49169 h 149813"/>
              <a:gd name="connsiteX1-129" fmla="*/ 317695 w 898303"/>
              <a:gd name="connsiteY1-130" fmla="*/ 33775 h 149813"/>
              <a:gd name="connsiteX2-131" fmla="*/ 898303 w 898303"/>
              <a:gd name="connsiteY2-132" fmla="*/ 149813 h 149813"/>
              <a:gd name="connsiteX0-133" fmla="*/ 0 w 916383"/>
              <a:gd name="connsiteY0-134" fmla="*/ 49169 h 115493"/>
              <a:gd name="connsiteX1-135" fmla="*/ 317695 w 916383"/>
              <a:gd name="connsiteY1-136" fmla="*/ 33775 h 115493"/>
              <a:gd name="connsiteX2-137" fmla="*/ 916383 w 916383"/>
              <a:gd name="connsiteY2-138" fmla="*/ 115493 h 115493"/>
              <a:gd name="connsiteX0-139" fmla="*/ 0 w 916383"/>
              <a:gd name="connsiteY0-140" fmla="*/ 64789 h 131113"/>
              <a:gd name="connsiteX1-141" fmla="*/ 418807 w 916383"/>
              <a:gd name="connsiteY1-142" fmla="*/ 15671 h 131113"/>
              <a:gd name="connsiteX2-143" fmla="*/ 916383 w 916383"/>
              <a:gd name="connsiteY2-144" fmla="*/ 131113 h 131113"/>
              <a:gd name="connsiteX0-145" fmla="*/ 0 w 467243"/>
              <a:gd name="connsiteY0-146" fmla="*/ 445275 h 445275"/>
              <a:gd name="connsiteX1-147" fmla="*/ 418807 w 467243"/>
              <a:gd name="connsiteY1-148" fmla="*/ 396157 h 445275"/>
              <a:gd name="connsiteX2-149" fmla="*/ 223670 w 467243"/>
              <a:gd name="connsiteY2-150" fmla="*/ 7093 h 445275"/>
              <a:gd name="connsiteX0-151" fmla="*/ 56610 w 280279"/>
              <a:gd name="connsiteY0-152" fmla="*/ 448595 h 448595"/>
              <a:gd name="connsiteX1-153" fmla="*/ 67623 w 280279"/>
              <a:gd name="connsiteY1-154" fmla="*/ 224296 h 448595"/>
              <a:gd name="connsiteX2-155" fmla="*/ 280280 w 280279"/>
              <a:gd name="connsiteY2-156" fmla="*/ 10413 h 448595"/>
              <a:gd name="connsiteX0-157" fmla="*/ 22527 w 246197"/>
              <a:gd name="connsiteY0-158" fmla="*/ 448595 h 448595"/>
              <a:gd name="connsiteX1-159" fmla="*/ 33540 w 246197"/>
              <a:gd name="connsiteY1-160" fmla="*/ 224296 h 448595"/>
              <a:gd name="connsiteX2-161" fmla="*/ 246197 w 246197"/>
              <a:gd name="connsiteY2-162" fmla="*/ 10413 h 448595"/>
              <a:gd name="connsiteX0-163" fmla="*/ 22527 w 246197"/>
              <a:gd name="connsiteY0-164" fmla="*/ 464084 h 464084"/>
              <a:gd name="connsiteX1-165" fmla="*/ 33540 w 246197"/>
              <a:gd name="connsiteY1-166" fmla="*/ 239785 h 464084"/>
              <a:gd name="connsiteX2-167" fmla="*/ 246197 w 246197"/>
              <a:gd name="connsiteY2-168" fmla="*/ 25902 h 464084"/>
              <a:gd name="connsiteX0-169" fmla="*/ 20929 w 244599"/>
              <a:gd name="connsiteY0-170" fmla="*/ 464084 h 464084"/>
              <a:gd name="connsiteX1-171" fmla="*/ 31942 w 244599"/>
              <a:gd name="connsiteY1-172" fmla="*/ 239785 h 464084"/>
              <a:gd name="connsiteX2-173" fmla="*/ 244599 w 244599"/>
              <a:gd name="connsiteY2-174" fmla="*/ 25902 h 464084"/>
              <a:gd name="connsiteX0-175" fmla="*/ 0 w 223670"/>
              <a:gd name="connsiteY0-176" fmla="*/ 464084 h 464084"/>
              <a:gd name="connsiteX1-177" fmla="*/ 11013 w 223670"/>
              <a:gd name="connsiteY1-178" fmla="*/ 239785 h 464084"/>
              <a:gd name="connsiteX2-179" fmla="*/ 223670 w 223670"/>
              <a:gd name="connsiteY2-180" fmla="*/ 25902 h 464084"/>
              <a:gd name="connsiteX0-181" fmla="*/ 0 w 223670"/>
              <a:gd name="connsiteY0-182" fmla="*/ 464084 h 464084"/>
              <a:gd name="connsiteX1-183" fmla="*/ 11013 w 223670"/>
              <a:gd name="connsiteY1-184" fmla="*/ 239785 h 464084"/>
              <a:gd name="connsiteX2-185" fmla="*/ 223670 w 223670"/>
              <a:gd name="connsiteY2-186" fmla="*/ 25902 h 464084"/>
              <a:gd name="connsiteX0-187" fmla="*/ 0 w 275223"/>
              <a:gd name="connsiteY0-188" fmla="*/ 446880 h 446880"/>
              <a:gd name="connsiteX1-189" fmla="*/ 62566 w 275223"/>
              <a:gd name="connsiteY1-190" fmla="*/ 239785 h 446880"/>
              <a:gd name="connsiteX2-191" fmla="*/ 275223 w 275223"/>
              <a:gd name="connsiteY2-192" fmla="*/ 25902 h 446880"/>
              <a:gd name="connsiteX0-193" fmla="*/ 0 w 275223"/>
              <a:gd name="connsiteY0-194" fmla="*/ 446880 h 446880"/>
              <a:gd name="connsiteX1-195" fmla="*/ 62566 w 275223"/>
              <a:gd name="connsiteY1-196" fmla="*/ 239785 h 446880"/>
              <a:gd name="connsiteX2-197" fmla="*/ 275223 w 275223"/>
              <a:gd name="connsiteY2-198" fmla="*/ 25902 h 446880"/>
              <a:gd name="connsiteX0-199" fmla="*/ 0 w 275223"/>
              <a:gd name="connsiteY0-200" fmla="*/ 446880 h 446880"/>
              <a:gd name="connsiteX1-201" fmla="*/ 62566 w 275223"/>
              <a:gd name="connsiteY1-202" fmla="*/ 239785 h 446880"/>
              <a:gd name="connsiteX2-203" fmla="*/ 275223 w 275223"/>
              <a:gd name="connsiteY2-204" fmla="*/ 25902 h 446880"/>
              <a:gd name="connsiteX0-205" fmla="*/ 0 w 275223"/>
              <a:gd name="connsiteY0-206" fmla="*/ 448458 h 448458"/>
              <a:gd name="connsiteX1-207" fmla="*/ 49981 w 275223"/>
              <a:gd name="connsiteY1-208" fmla="*/ 231095 h 448458"/>
              <a:gd name="connsiteX2-209" fmla="*/ 275223 w 275223"/>
              <a:gd name="connsiteY2-210" fmla="*/ 27480 h 448458"/>
              <a:gd name="connsiteX0-211" fmla="*/ 0 w 275223"/>
              <a:gd name="connsiteY0-212" fmla="*/ 448458 h 448458"/>
              <a:gd name="connsiteX1-213" fmla="*/ 49981 w 275223"/>
              <a:gd name="connsiteY1-214" fmla="*/ 231095 h 448458"/>
              <a:gd name="connsiteX2-215" fmla="*/ 275223 w 275223"/>
              <a:gd name="connsiteY2-216" fmla="*/ 27480 h 448458"/>
              <a:gd name="connsiteX0-217" fmla="*/ 0 w 275223"/>
              <a:gd name="connsiteY0-218" fmla="*/ 448458 h 448458"/>
              <a:gd name="connsiteX1-219" fmla="*/ 49981 w 275223"/>
              <a:gd name="connsiteY1-220" fmla="*/ 231095 h 448458"/>
              <a:gd name="connsiteX2-221" fmla="*/ 275223 w 275223"/>
              <a:gd name="connsiteY2-222" fmla="*/ 27480 h 448458"/>
              <a:gd name="connsiteX0-223" fmla="*/ 0 w 275223"/>
              <a:gd name="connsiteY0-224" fmla="*/ 454939 h 454939"/>
              <a:gd name="connsiteX1-225" fmla="*/ 59365 w 275223"/>
              <a:gd name="connsiteY1-226" fmla="*/ 203584 h 454939"/>
              <a:gd name="connsiteX2-227" fmla="*/ 275223 w 275223"/>
              <a:gd name="connsiteY2-228" fmla="*/ 33961 h 454939"/>
              <a:gd name="connsiteX0-229" fmla="*/ 0 w 275223"/>
              <a:gd name="connsiteY0-230" fmla="*/ 439514 h 439514"/>
              <a:gd name="connsiteX1-231" fmla="*/ 59365 w 275223"/>
              <a:gd name="connsiteY1-232" fmla="*/ 188159 h 439514"/>
              <a:gd name="connsiteX2-233" fmla="*/ 275223 w 275223"/>
              <a:gd name="connsiteY2-234" fmla="*/ 18536 h 439514"/>
              <a:gd name="connsiteX0-235" fmla="*/ 0 w 275223"/>
              <a:gd name="connsiteY0-236" fmla="*/ 439514 h 439514"/>
              <a:gd name="connsiteX1-237" fmla="*/ 59365 w 275223"/>
              <a:gd name="connsiteY1-238" fmla="*/ 188159 h 439514"/>
              <a:gd name="connsiteX2-239" fmla="*/ 275223 w 275223"/>
              <a:gd name="connsiteY2-240" fmla="*/ 18536 h 439514"/>
              <a:gd name="connsiteX0-241" fmla="*/ 0 w 191484"/>
              <a:gd name="connsiteY0-242" fmla="*/ 473825 h 473825"/>
              <a:gd name="connsiteX1-243" fmla="*/ 59365 w 191484"/>
              <a:gd name="connsiteY1-244" fmla="*/ 222470 h 473825"/>
              <a:gd name="connsiteX2-245" fmla="*/ 191484 w 191484"/>
              <a:gd name="connsiteY2-246" fmla="*/ 15838 h 473825"/>
              <a:gd name="connsiteX0-247" fmla="*/ 0 w 191484"/>
              <a:gd name="connsiteY0-248" fmla="*/ 457987 h 457987"/>
              <a:gd name="connsiteX1-249" fmla="*/ 59365 w 191484"/>
              <a:gd name="connsiteY1-250" fmla="*/ 206632 h 457987"/>
              <a:gd name="connsiteX2-251" fmla="*/ 191484 w 191484"/>
              <a:gd name="connsiteY2-252" fmla="*/ 0 h 457987"/>
              <a:gd name="connsiteX0-253" fmla="*/ 0 w 191484"/>
              <a:gd name="connsiteY0-254" fmla="*/ 457987 h 457987"/>
              <a:gd name="connsiteX1-255" fmla="*/ 59365 w 191484"/>
              <a:gd name="connsiteY1-256" fmla="*/ 206632 h 457987"/>
              <a:gd name="connsiteX2-257" fmla="*/ 191484 w 191484"/>
              <a:gd name="connsiteY2-258" fmla="*/ 0 h 457987"/>
              <a:gd name="connsiteX0-259" fmla="*/ 0 w 191484"/>
              <a:gd name="connsiteY0-260" fmla="*/ 457987 h 457987"/>
              <a:gd name="connsiteX1-261" fmla="*/ 54449 w 191484"/>
              <a:gd name="connsiteY1-262" fmla="*/ 246527 h 457987"/>
              <a:gd name="connsiteX2-263" fmla="*/ 191484 w 191484"/>
              <a:gd name="connsiteY2-264" fmla="*/ 0 h 457987"/>
              <a:gd name="connsiteX0-265" fmla="*/ 0 w 191484"/>
              <a:gd name="connsiteY0-266" fmla="*/ 457987 h 457987"/>
              <a:gd name="connsiteX1-267" fmla="*/ 54449 w 191484"/>
              <a:gd name="connsiteY1-268" fmla="*/ 246527 h 457987"/>
              <a:gd name="connsiteX2-269" fmla="*/ 191484 w 191484"/>
              <a:gd name="connsiteY2-270" fmla="*/ 0 h 457987"/>
              <a:gd name="connsiteX0-271" fmla="*/ 0 w 191484"/>
              <a:gd name="connsiteY0-272" fmla="*/ 457987 h 457987"/>
              <a:gd name="connsiteX1-273" fmla="*/ 54449 w 191484"/>
              <a:gd name="connsiteY1-274" fmla="*/ 246527 h 457987"/>
              <a:gd name="connsiteX2-275" fmla="*/ 191484 w 191484"/>
              <a:gd name="connsiteY2-276" fmla="*/ 0 h 457987"/>
              <a:gd name="connsiteX0-277" fmla="*/ 0 w 191484"/>
              <a:gd name="connsiteY0-278" fmla="*/ 457987 h 457987"/>
              <a:gd name="connsiteX1-279" fmla="*/ 83797 w 191484"/>
              <a:gd name="connsiteY1-280" fmla="*/ 275315 h 457987"/>
              <a:gd name="connsiteX2-281" fmla="*/ 191484 w 191484"/>
              <a:gd name="connsiteY2-282" fmla="*/ 0 h 457987"/>
              <a:gd name="connsiteX0-283" fmla="*/ 0 w 191484"/>
              <a:gd name="connsiteY0-284" fmla="*/ 457987 h 457987"/>
              <a:gd name="connsiteX1-285" fmla="*/ 83797 w 191484"/>
              <a:gd name="connsiteY1-286" fmla="*/ 275315 h 457987"/>
              <a:gd name="connsiteX2-287" fmla="*/ 191484 w 191484"/>
              <a:gd name="connsiteY2-288" fmla="*/ 0 h 457987"/>
              <a:gd name="connsiteX0-289" fmla="*/ 0 w 191484"/>
              <a:gd name="connsiteY0-290" fmla="*/ 457987 h 457987"/>
              <a:gd name="connsiteX1-291" fmla="*/ 83797 w 191484"/>
              <a:gd name="connsiteY1-292" fmla="*/ 275315 h 457987"/>
              <a:gd name="connsiteX2-293" fmla="*/ 191484 w 191484"/>
              <a:gd name="connsiteY2-294" fmla="*/ 0 h 457987"/>
              <a:gd name="connsiteX0-295" fmla="*/ 0 w 253181"/>
              <a:gd name="connsiteY0-296" fmla="*/ 452846 h 452846"/>
              <a:gd name="connsiteX1-297" fmla="*/ 145494 w 253181"/>
              <a:gd name="connsiteY1-298" fmla="*/ 275315 h 452846"/>
              <a:gd name="connsiteX2-299" fmla="*/ 253181 w 253181"/>
              <a:gd name="connsiteY2-300" fmla="*/ 0 h 452846"/>
              <a:gd name="connsiteX0-301" fmla="*/ 0 w 253181"/>
              <a:gd name="connsiteY0-302" fmla="*/ 452846 h 452846"/>
              <a:gd name="connsiteX1-303" fmla="*/ 145494 w 253181"/>
              <a:gd name="connsiteY1-304" fmla="*/ 275315 h 452846"/>
              <a:gd name="connsiteX2-305" fmla="*/ 253181 w 253181"/>
              <a:gd name="connsiteY2-306" fmla="*/ 0 h 452846"/>
              <a:gd name="connsiteX0-307" fmla="*/ 0 w 253181"/>
              <a:gd name="connsiteY0-308" fmla="*/ 452846 h 452846"/>
              <a:gd name="connsiteX1-309" fmla="*/ 127628 w 253181"/>
              <a:gd name="connsiteY1-310" fmla="*/ 251698 h 452846"/>
              <a:gd name="connsiteX2-311" fmla="*/ 253181 w 253181"/>
              <a:gd name="connsiteY2-312" fmla="*/ 0 h 452846"/>
              <a:gd name="connsiteX0-313" fmla="*/ 0 w 253181"/>
              <a:gd name="connsiteY0-314" fmla="*/ 452846 h 452846"/>
              <a:gd name="connsiteX1-315" fmla="*/ 127628 w 253181"/>
              <a:gd name="connsiteY1-316" fmla="*/ 251698 h 452846"/>
              <a:gd name="connsiteX2-317" fmla="*/ 253181 w 253181"/>
              <a:gd name="connsiteY2-318" fmla="*/ 0 h 452846"/>
            </a:gdLst>
            <a:ahLst/>
            <a:cxnLst>
              <a:cxn ang="0">
                <a:pos x="connsiteX0-1" y="connsiteY0-2"/>
              </a:cxn>
              <a:cxn ang="0">
                <a:pos x="connsiteX1-3" y="connsiteY1-4"/>
              </a:cxn>
              <a:cxn ang="0">
                <a:pos x="connsiteX2-5" y="connsiteY2-6"/>
              </a:cxn>
            </a:cxnLst>
            <a:rect l="l" t="t" r="r" b="b"/>
            <a:pathLst>
              <a:path w="253181" h="452846">
                <a:moveTo>
                  <a:pt x="0" y="452846"/>
                </a:moveTo>
                <a:cubicBezTo>
                  <a:pt x="32959" y="300382"/>
                  <a:pt x="57077" y="325717"/>
                  <a:pt x="127628" y="251698"/>
                </a:cubicBezTo>
                <a:cubicBezTo>
                  <a:pt x="156853" y="218019"/>
                  <a:pt x="211564" y="110753"/>
                  <a:pt x="253181" y="0"/>
                </a:cubicBezTo>
              </a:path>
            </a:pathLst>
          </a:custGeom>
          <a:ln w="19050">
            <a:tailEnd type="triangle"/>
          </a:ln>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dirty="0"/>
          </a:p>
        </p:txBody>
      </p:sp>
      <p:graphicFrame>
        <p:nvGraphicFramePr>
          <p:cNvPr id="66" name="对象 65"/>
          <p:cNvGraphicFramePr>
            <a:graphicFrameLocks noChangeAspect="1"/>
          </p:cNvGraphicFramePr>
          <p:nvPr/>
        </p:nvGraphicFramePr>
        <p:xfrm>
          <a:off x="1121208" y="4074162"/>
          <a:ext cx="2465395" cy="752155"/>
        </p:xfrm>
        <a:graphic>
          <a:graphicData uri="http://schemas.openxmlformats.org/presentationml/2006/ole">
            <mc:AlternateContent xmlns:mc="http://schemas.openxmlformats.org/markup-compatibility/2006">
              <mc:Choice xmlns:v="urn:schemas-microsoft-com:vml" Requires="v">
                <p:oleObj spid="_x0000_s7" name="Formula" r:id="rId11" imgW="11887200" imgH="3619500" progId="Equation.Ribbit">
                  <p:embed/>
                </p:oleObj>
              </mc:Choice>
              <mc:Fallback>
                <p:oleObj name="Formula" r:id="rId11" imgW="11887200" imgH="3619500" progId="Equation.Ribbit">
                  <p:embed/>
                  <p:pic>
                    <p:nvPicPr>
                      <p:cNvPr id="0" name="图片 6"/>
                      <p:cNvPicPr/>
                      <p:nvPr/>
                    </p:nvPicPr>
                    <p:blipFill>
                      <a:blip r:embed="rId12"/>
                      <a:stretch>
                        <a:fillRect/>
                      </a:stretch>
                    </p:blipFill>
                    <p:spPr>
                      <a:xfrm>
                        <a:off x="1121208" y="4074162"/>
                        <a:ext cx="2465395" cy="752155"/>
                      </a:xfrm>
                      <a:prstGeom prst="rect">
                        <a:avLst/>
                      </a:prstGeom>
                    </p:spPr>
                  </p:pic>
                </p:oleObj>
              </mc:Fallback>
            </mc:AlternateContent>
          </a:graphicData>
        </a:graphic>
      </p:graphicFrame>
      <p:sp>
        <p:nvSpPr>
          <p:cNvPr id="67" name="任意多边形 66"/>
          <p:cNvSpPr/>
          <p:nvPr/>
        </p:nvSpPr>
        <p:spPr>
          <a:xfrm>
            <a:off x="3465997" y="3982448"/>
            <a:ext cx="586785" cy="344316"/>
          </a:xfrm>
          <a:custGeom>
            <a:avLst/>
            <a:gdLst>
              <a:gd name="connsiteX0" fmla="*/ 0 w 451555"/>
              <a:gd name="connsiteY0" fmla="*/ 169333 h 171034"/>
              <a:gd name="connsiteX1" fmla="*/ 248355 w 451555"/>
              <a:gd name="connsiteY1" fmla="*/ 146755 h 171034"/>
              <a:gd name="connsiteX2" fmla="*/ 451555 w 451555"/>
              <a:gd name="connsiteY2" fmla="*/ 0 h 171034"/>
              <a:gd name="connsiteX0-1" fmla="*/ 0 w 489655"/>
              <a:gd name="connsiteY0-2" fmla="*/ 255058 h 256759"/>
              <a:gd name="connsiteX1-3" fmla="*/ 248355 w 489655"/>
              <a:gd name="connsiteY1-4" fmla="*/ 232480 h 256759"/>
              <a:gd name="connsiteX2-5" fmla="*/ 489655 w 489655"/>
              <a:gd name="connsiteY2-6" fmla="*/ 0 h 256759"/>
              <a:gd name="connsiteX0-7" fmla="*/ 0 w 489655"/>
              <a:gd name="connsiteY0-8" fmla="*/ 255058 h 255185"/>
              <a:gd name="connsiteX1-9" fmla="*/ 324555 w 489655"/>
              <a:gd name="connsiteY1-10" fmla="*/ 184855 h 255185"/>
              <a:gd name="connsiteX2-11" fmla="*/ 489655 w 489655"/>
              <a:gd name="connsiteY2-12" fmla="*/ 0 h 255185"/>
              <a:gd name="connsiteX0-13" fmla="*/ 0 w 489655"/>
              <a:gd name="connsiteY0-14" fmla="*/ 293158 h 293285"/>
              <a:gd name="connsiteX1-15" fmla="*/ 324555 w 489655"/>
              <a:gd name="connsiteY1-16" fmla="*/ 222955 h 293285"/>
              <a:gd name="connsiteX2-17" fmla="*/ 489655 w 489655"/>
              <a:gd name="connsiteY2-18" fmla="*/ 0 h 293285"/>
              <a:gd name="connsiteX0-19" fmla="*/ 0 w 489655"/>
              <a:gd name="connsiteY0-20" fmla="*/ 293158 h 293285"/>
              <a:gd name="connsiteX1-21" fmla="*/ 324555 w 489655"/>
              <a:gd name="connsiteY1-22" fmla="*/ 222955 h 293285"/>
              <a:gd name="connsiteX2-23" fmla="*/ 489655 w 489655"/>
              <a:gd name="connsiteY2-24" fmla="*/ 0 h 293285"/>
              <a:gd name="connsiteX0-25" fmla="*/ 0 w 489655"/>
              <a:gd name="connsiteY0-26" fmla="*/ 293158 h 293285"/>
              <a:gd name="connsiteX1-27" fmla="*/ 295980 w 489655"/>
              <a:gd name="connsiteY1-28" fmla="*/ 222955 h 293285"/>
              <a:gd name="connsiteX2-29" fmla="*/ 489655 w 489655"/>
              <a:gd name="connsiteY2-30" fmla="*/ 0 h 293285"/>
              <a:gd name="connsiteX0-31" fmla="*/ 0 w 489655"/>
              <a:gd name="connsiteY0-32" fmla="*/ 293158 h 293285"/>
              <a:gd name="connsiteX1-33" fmla="*/ 295980 w 489655"/>
              <a:gd name="connsiteY1-34" fmla="*/ 222955 h 293285"/>
              <a:gd name="connsiteX2-35" fmla="*/ 489655 w 489655"/>
              <a:gd name="connsiteY2-36" fmla="*/ 0 h 293285"/>
              <a:gd name="connsiteX0-37" fmla="*/ 0 w 489655"/>
              <a:gd name="connsiteY0-38" fmla="*/ 293158 h 293514"/>
              <a:gd name="connsiteX1-39" fmla="*/ 295980 w 489655"/>
              <a:gd name="connsiteY1-40" fmla="*/ 222955 h 293514"/>
              <a:gd name="connsiteX2-41" fmla="*/ 489655 w 489655"/>
              <a:gd name="connsiteY2-42" fmla="*/ 0 h 293514"/>
              <a:gd name="connsiteX0-43" fmla="*/ 0 w 505530"/>
              <a:gd name="connsiteY0-44" fmla="*/ 296333 h 296637"/>
              <a:gd name="connsiteX1-45" fmla="*/ 311855 w 505530"/>
              <a:gd name="connsiteY1-46" fmla="*/ 222955 h 296637"/>
              <a:gd name="connsiteX2-47" fmla="*/ 505530 w 505530"/>
              <a:gd name="connsiteY2-48" fmla="*/ 0 h 296637"/>
            </a:gdLst>
            <a:ahLst/>
            <a:cxnLst>
              <a:cxn ang="0">
                <a:pos x="connsiteX0-1" y="connsiteY0-2"/>
              </a:cxn>
              <a:cxn ang="0">
                <a:pos x="connsiteX1-3" y="connsiteY1-4"/>
              </a:cxn>
              <a:cxn ang="0">
                <a:pos x="connsiteX2-5" y="connsiteY2-6"/>
              </a:cxn>
            </a:cxnLst>
            <a:rect l="l" t="t" r="r" b="b"/>
            <a:pathLst>
              <a:path w="505530" h="296637">
                <a:moveTo>
                  <a:pt x="0" y="296333"/>
                </a:moveTo>
                <a:cubicBezTo>
                  <a:pt x="86548" y="299155"/>
                  <a:pt x="204846" y="282927"/>
                  <a:pt x="311855" y="222955"/>
                </a:cubicBezTo>
                <a:cubicBezTo>
                  <a:pt x="380764" y="169333"/>
                  <a:pt x="432034" y="110066"/>
                  <a:pt x="505530" y="0"/>
                </a:cubicBezTo>
              </a:path>
            </a:pathLst>
          </a:custGeom>
          <a:ln w="19050">
            <a:solidFill>
              <a:srgbClr val="FF0000"/>
            </a:solidFill>
            <a:tailEnd type="triangle"/>
          </a:ln>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68" name="任意多边形 67"/>
          <p:cNvSpPr/>
          <p:nvPr/>
        </p:nvSpPr>
        <p:spPr>
          <a:xfrm flipV="1">
            <a:off x="3468483" y="4514180"/>
            <a:ext cx="1443624" cy="345309"/>
          </a:xfrm>
          <a:custGeom>
            <a:avLst/>
            <a:gdLst>
              <a:gd name="connsiteX0" fmla="*/ 0 w 451555"/>
              <a:gd name="connsiteY0" fmla="*/ 169333 h 171034"/>
              <a:gd name="connsiteX1" fmla="*/ 248355 w 451555"/>
              <a:gd name="connsiteY1" fmla="*/ 146755 h 171034"/>
              <a:gd name="connsiteX2" fmla="*/ 451555 w 451555"/>
              <a:gd name="connsiteY2" fmla="*/ 0 h 171034"/>
              <a:gd name="connsiteX0-1" fmla="*/ 0 w 489655"/>
              <a:gd name="connsiteY0-2" fmla="*/ 255058 h 256759"/>
              <a:gd name="connsiteX1-3" fmla="*/ 248355 w 489655"/>
              <a:gd name="connsiteY1-4" fmla="*/ 232480 h 256759"/>
              <a:gd name="connsiteX2-5" fmla="*/ 489655 w 489655"/>
              <a:gd name="connsiteY2-6" fmla="*/ 0 h 256759"/>
              <a:gd name="connsiteX0-7" fmla="*/ 0 w 489655"/>
              <a:gd name="connsiteY0-8" fmla="*/ 255058 h 255185"/>
              <a:gd name="connsiteX1-9" fmla="*/ 324555 w 489655"/>
              <a:gd name="connsiteY1-10" fmla="*/ 184855 h 255185"/>
              <a:gd name="connsiteX2-11" fmla="*/ 489655 w 489655"/>
              <a:gd name="connsiteY2-12" fmla="*/ 0 h 255185"/>
              <a:gd name="connsiteX0-13" fmla="*/ 0 w 489655"/>
              <a:gd name="connsiteY0-14" fmla="*/ 293158 h 293285"/>
              <a:gd name="connsiteX1-15" fmla="*/ 324555 w 489655"/>
              <a:gd name="connsiteY1-16" fmla="*/ 222955 h 293285"/>
              <a:gd name="connsiteX2-17" fmla="*/ 489655 w 489655"/>
              <a:gd name="connsiteY2-18" fmla="*/ 0 h 293285"/>
              <a:gd name="connsiteX0-19" fmla="*/ 0 w 489655"/>
              <a:gd name="connsiteY0-20" fmla="*/ 293158 h 293285"/>
              <a:gd name="connsiteX1-21" fmla="*/ 324555 w 489655"/>
              <a:gd name="connsiteY1-22" fmla="*/ 222955 h 293285"/>
              <a:gd name="connsiteX2-23" fmla="*/ 489655 w 489655"/>
              <a:gd name="connsiteY2-24" fmla="*/ 0 h 293285"/>
              <a:gd name="connsiteX0-25" fmla="*/ 0 w 489655"/>
              <a:gd name="connsiteY0-26" fmla="*/ 293158 h 293285"/>
              <a:gd name="connsiteX1-27" fmla="*/ 295980 w 489655"/>
              <a:gd name="connsiteY1-28" fmla="*/ 222955 h 293285"/>
              <a:gd name="connsiteX2-29" fmla="*/ 489655 w 489655"/>
              <a:gd name="connsiteY2-30" fmla="*/ 0 h 293285"/>
              <a:gd name="connsiteX0-31" fmla="*/ 0 w 489655"/>
              <a:gd name="connsiteY0-32" fmla="*/ 293158 h 293285"/>
              <a:gd name="connsiteX1-33" fmla="*/ 295980 w 489655"/>
              <a:gd name="connsiteY1-34" fmla="*/ 222955 h 293285"/>
              <a:gd name="connsiteX2-35" fmla="*/ 489655 w 489655"/>
              <a:gd name="connsiteY2-36" fmla="*/ 0 h 293285"/>
              <a:gd name="connsiteX0-37" fmla="*/ 0 w 489655"/>
              <a:gd name="connsiteY0-38" fmla="*/ 293158 h 293514"/>
              <a:gd name="connsiteX1-39" fmla="*/ 295980 w 489655"/>
              <a:gd name="connsiteY1-40" fmla="*/ 222955 h 293514"/>
              <a:gd name="connsiteX2-41" fmla="*/ 489655 w 489655"/>
              <a:gd name="connsiteY2-42" fmla="*/ 0 h 293514"/>
              <a:gd name="connsiteX0-43" fmla="*/ 0 w 505530"/>
              <a:gd name="connsiteY0-44" fmla="*/ 296333 h 296637"/>
              <a:gd name="connsiteX1-45" fmla="*/ 311855 w 505530"/>
              <a:gd name="connsiteY1-46" fmla="*/ 222955 h 296637"/>
              <a:gd name="connsiteX2-47" fmla="*/ 505530 w 505530"/>
              <a:gd name="connsiteY2-48" fmla="*/ 0 h 296637"/>
              <a:gd name="connsiteX0-49" fmla="*/ 0 w 1243718"/>
              <a:gd name="connsiteY0-50" fmla="*/ 469095 h 469399"/>
              <a:gd name="connsiteX1-51" fmla="*/ 311855 w 1243718"/>
              <a:gd name="connsiteY1-52" fmla="*/ 395717 h 469399"/>
              <a:gd name="connsiteX2-53" fmla="*/ 1243718 w 1243718"/>
              <a:gd name="connsiteY2-54" fmla="*/ 0 h 469399"/>
              <a:gd name="connsiteX0-55" fmla="*/ 0 w 1243718"/>
              <a:gd name="connsiteY0-56" fmla="*/ 469095 h 469170"/>
              <a:gd name="connsiteX1-57" fmla="*/ 859542 w 1243718"/>
              <a:gd name="connsiteY1-58" fmla="*/ 335627 h 469170"/>
              <a:gd name="connsiteX2-59" fmla="*/ 1243718 w 1243718"/>
              <a:gd name="connsiteY2-60" fmla="*/ 0 h 469170"/>
              <a:gd name="connsiteX0-61" fmla="*/ 0 w 1243718"/>
              <a:gd name="connsiteY0-62" fmla="*/ 469095 h 469202"/>
              <a:gd name="connsiteX1-63" fmla="*/ 730954 w 1243718"/>
              <a:gd name="connsiteY1-64" fmla="*/ 358160 h 469202"/>
              <a:gd name="connsiteX2-65" fmla="*/ 1243718 w 1243718"/>
              <a:gd name="connsiteY2-66" fmla="*/ 0 h 469202"/>
              <a:gd name="connsiteX0-67" fmla="*/ 0 w 1243718"/>
              <a:gd name="connsiteY0-68" fmla="*/ 469095 h 469200"/>
              <a:gd name="connsiteX1-69" fmla="*/ 730954 w 1243718"/>
              <a:gd name="connsiteY1-70" fmla="*/ 358160 h 469200"/>
              <a:gd name="connsiteX2-71" fmla="*/ 1243718 w 1243718"/>
              <a:gd name="connsiteY2-72" fmla="*/ 0 h 469200"/>
              <a:gd name="connsiteX0-73" fmla="*/ 0 w 1243718"/>
              <a:gd name="connsiteY0-74" fmla="*/ 469095 h 469202"/>
              <a:gd name="connsiteX1-75" fmla="*/ 730954 w 1243718"/>
              <a:gd name="connsiteY1-76" fmla="*/ 358160 h 469202"/>
              <a:gd name="connsiteX2-77" fmla="*/ 1243718 w 1243718"/>
              <a:gd name="connsiteY2-78" fmla="*/ 0 h 469202"/>
              <a:gd name="connsiteX0-79" fmla="*/ 0 w 1243718"/>
              <a:gd name="connsiteY0-80" fmla="*/ 469095 h 469200"/>
              <a:gd name="connsiteX1-81" fmla="*/ 730954 w 1243718"/>
              <a:gd name="connsiteY1-82" fmla="*/ 358160 h 469200"/>
              <a:gd name="connsiteX2-83" fmla="*/ 1243718 w 1243718"/>
              <a:gd name="connsiteY2-84" fmla="*/ 0 h 469200"/>
            </a:gdLst>
            <a:ahLst/>
            <a:cxnLst>
              <a:cxn ang="0">
                <a:pos x="connsiteX0-1" y="connsiteY0-2"/>
              </a:cxn>
              <a:cxn ang="0">
                <a:pos x="connsiteX1-3" y="connsiteY1-4"/>
              </a:cxn>
              <a:cxn ang="0">
                <a:pos x="connsiteX2-5" y="connsiteY2-6"/>
              </a:cxn>
            </a:cxnLst>
            <a:rect l="l" t="t" r="r" b="b"/>
            <a:pathLst>
              <a:path w="1243718" h="469200">
                <a:moveTo>
                  <a:pt x="0" y="469095"/>
                </a:moveTo>
                <a:cubicBezTo>
                  <a:pt x="86548" y="471917"/>
                  <a:pt x="585845" y="418132"/>
                  <a:pt x="730954" y="358160"/>
                </a:cubicBezTo>
                <a:cubicBezTo>
                  <a:pt x="885588" y="274492"/>
                  <a:pt x="1065447" y="215224"/>
                  <a:pt x="1243718" y="0"/>
                </a:cubicBezTo>
              </a:path>
            </a:pathLst>
          </a:custGeom>
          <a:ln w="19050">
            <a:solidFill>
              <a:srgbClr val="FF0000"/>
            </a:solidFill>
            <a:tailEnd type="triangle"/>
          </a:ln>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70" name="矩形 69"/>
          <p:cNvSpPr/>
          <p:nvPr/>
        </p:nvSpPr>
        <p:spPr>
          <a:xfrm>
            <a:off x="678919" y="5485916"/>
            <a:ext cx="7931090" cy="461665"/>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lvl="0" algn="ctr"/>
            <a:r>
              <a:rPr lang="zh-CN" altLang="en-US" sz="2400" b="1" dirty="0">
                <a:latin typeface="黑体" panose="02010609060101010101" pitchFamily="49" charset="-122"/>
                <a:ea typeface="黑体" panose="02010609060101010101" pitchFamily="49" charset="-122"/>
              </a:rPr>
              <a:t>替代损失函数数学性质较好</a:t>
            </a:r>
            <a:r>
              <a:rPr lang="en-US" altLang="zh-CN" sz="2400" b="1" dirty="0">
                <a:latin typeface="黑体" panose="02010609060101010101" pitchFamily="49" charset="-122"/>
                <a:ea typeface="黑体" panose="02010609060101010101" pitchFamily="49" charset="-122"/>
              </a:rPr>
              <a:t>, </a:t>
            </a:r>
            <a:r>
              <a:rPr lang="zh-CN" altLang="en-US" sz="2400" b="1" dirty="0">
                <a:latin typeface="黑体" panose="02010609060101010101" pitchFamily="49" charset="-122"/>
                <a:ea typeface="黑体" panose="02010609060101010101" pitchFamily="49" charset="-122"/>
              </a:rPr>
              <a:t>一般是</a:t>
            </a:r>
            <a:r>
              <a:rPr lang="en-US" altLang="zh-CN" sz="2400" b="1" dirty="0">
                <a:latin typeface="黑体" panose="02010609060101010101" pitchFamily="49" charset="-122"/>
                <a:ea typeface="黑体" panose="02010609060101010101" pitchFamily="49" charset="-122"/>
              </a:rPr>
              <a:t>0/1</a:t>
            </a:r>
            <a:r>
              <a:rPr lang="zh-CN" altLang="en-US" sz="2400" b="1" dirty="0">
                <a:latin typeface="黑体" panose="02010609060101010101" pitchFamily="49" charset="-122"/>
                <a:ea typeface="黑体" panose="02010609060101010101" pitchFamily="49" charset="-122"/>
              </a:rPr>
              <a:t>损失函数的上界</a:t>
            </a:r>
            <a:endParaRPr lang="en-US" altLang="zh-CN" sz="2400" b="1" dirty="0">
              <a:latin typeface="黑体" panose="02010609060101010101" pitchFamily="49" charset="-122"/>
              <a:ea typeface="黑体" panose="02010609060101010101" pitchFamily="49" charset="-122"/>
            </a:endParaRPr>
          </a:p>
        </p:txBody>
      </p:sp>
      <p:sp>
        <p:nvSpPr>
          <p:cNvPr id="71" name="矩形 70"/>
          <p:cNvSpPr/>
          <p:nvPr/>
        </p:nvSpPr>
        <p:spPr>
          <a:xfrm>
            <a:off x="436084" y="2546192"/>
            <a:ext cx="1950928" cy="461665"/>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lvl="0" algn="ctr"/>
            <a:r>
              <a:rPr lang="zh-CN" altLang="en-US" sz="2400" dirty="0">
                <a:latin typeface="黑体" panose="02010609060101010101" pitchFamily="49" charset="-122"/>
                <a:ea typeface="黑体" panose="02010609060101010101" pitchFamily="49" charset="-122"/>
              </a:rPr>
              <a:t>软间隔</a:t>
            </a:r>
            <a:r>
              <a:rPr lang="en-US" altLang="zh-CN" sz="2400" dirty="0">
                <a:latin typeface="黑体" panose="02010609060101010101" pitchFamily="49" charset="-122"/>
                <a:ea typeface="黑体" panose="02010609060101010101" pitchFamily="49" charset="-122"/>
              </a:rPr>
              <a:t>SVM</a:t>
            </a:r>
            <a:endParaRPr lang="en-US" altLang="zh-CN" sz="2400" dirty="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500"/>
                                        <p:tgtEl>
                                          <p:spTgt spid="4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2"/>
                                        </p:tgtEl>
                                        <p:attrNameLst>
                                          <p:attrName>style.visibility</p:attrName>
                                        </p:attrNameLst>
                                      </p:cBhvr>
                                      <p:to>
                                        <p:strVal val="visible"/>
                                      </p:to>
                                    </p:set>
                                    <p:animEffect transition="in" filter="fade">
                                      <p:cBhvr>
                                        <p:cTn id="12" dur="500"/>
                                        <p:tgtEl>
                                          <p:spTgt spid="62"/>
                                        </p:tgtEl>
                                      </p:cBhvr>
                                    </p:animEffect>
                                  </p:childTnLst>
                                </p:cTn>
                              </p:par>
                              <p:par>
                                <p:cTn id="13" presetID="10" presetClass="entr" presetSubtype="0" fill="hold" nodeType="withEffect">
                                  <p:stCondLst>
                                    <p:cond delay="0"/>
                                  </p:stCondLst>
                                  <p:childTnLst>
                                    <p:set>
                                      <p:cBhvr>
                                        <p:cTn id="14" dur="1" fill="hold">
                                          <p:stCondLst>
                                            <p:cond delay="0"/>
                                          </p:stCondLst>
                                        </p:cTn>
                                        <p:tgtEl>
                                          <p:spTgt spid="59"/>
                                        </p:tgtEl>
                                        <p:attrNameLst>
                                          <p:attrName>style.visibility</p:attrName>
                                        </p:attrNameLst>
                                      </p:cBhvr>
                                      <p:to>
                                        <p:strVal val="visible"/>
                                      </p:to>
                                    </p:set>
                                    <p:animEffect transition="in" filter="fade">
                                      <p:cBhvr>
                                        <p:cTn id="15" dur="500"/>
                                        <p:tgtEl>
                                          <p:spTgt spid="5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3"/>
                                        </p:tgtEl>
                                        <p:attrNameLst>
                                          <p:attrName>style.visibility</p:attrName>
                                        </p:attrNameLst>
                                      </p:cBhvr>
                                      <p:to>
                                        <p:strVal val="visible"/>
                                      </p:to>
                                    </p:set>
                                    <p:animEffect transition="in" filter="fade">
                                      <p:cBhvr>
                                        <p:cTn id="20" dur="500"/>
                                        <p:tgtEl>
                                          <p:spTgt spid="6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65"/>
                                        </p:tgtEl>
                                        <p:attrNameLst>
                                          <p:attrName>style.visibility</p:attrName>
                                        </p:attrNameLst>
                                      </p:cBhvr>
                                      <p:to>
                                        <p:strVal val="visible"/>
                                      </p:to>
                                    </p:set>
                                    <p:animEffect transition="in" filter="fade">
                                      <p:cBhvr>
                                        <p:cTn id="25" dur="500"/>
                                        <p:tgtEl>
                                          <p:spTgt spid="65"/>
                                        </p:tgtEl>
                                      </p:cBhvr>
                                    </p:animEffect>
                                  </p:childTnLst>
                                </p:cTn>
                              </p:par>
                              <p:par>
                                <p:cTn id="26" presetID="10" presetClass="entr" presetSubtype="0" fill="hold" nodeType="withEffect">
                                  <p:stCondLst>
                                    <p:cond delay="0"/>
                                  </p:stCondLst>
                                  <p:childTnLst>
                                    <p:set>
                                      <p:cBhvr>
                                        <p:cTn id="27" dur="1" fill="hold">
                                          <p:stCondLst>
                                            <p:cond delay="0"/>
                                          </p:stCondLst>
                                        </p:cTn>
                                        <p:tgtEl>
                                          <p:spTgt spid="64"/>
                                        </p:tgtEl>
                                        <p:attrNameLst>
                                          <p:attrName>style.visibility</p:attrName>
                                        </p:attrNameLst>
                                      </p:cBhvr>
                                      <p:to>
                                        <p:strVal val="visible"/>
                                      </p:to>
                                    </p:set>
                                    <p:animEffect transition="in" filter="fade">
                                      <p:cBhvr>
                                        <p:cTn id="28" dur="500"/>
                                        <p:tgtEl>
                                          <p:spTgt spid="64"/>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45"/>
                                        </p:tgtEl>
                                        <p:attrNameLst>
                                          <p:attrName>style.visibility</p:attrName>
                                        </p:attrNameLst>
                                      </p:cBhvr>
                                      <p:to>
                                        <p:strVal val="visible"/>
                                      </p:to>
                                    </p:set>
                                    <p:animEffect transition="in" filter="fade">
                                      <p:cBhvr>
                                        <p:cTn id="33" dur="500"/>
                                        <p:tgtEl>
                                          <p:spTgt spid="45"/>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61"/>
                                        </p:tgtEl>
                                        <p:attrNameLst>
                                          <p:attrName>style.visibility</p:attrName>
                                        </p:attrNameLst>
                                      </p:cBhvr>
                                      <p:to>
                                        <p:strVal val="visible"/>
                                      </p:to>
                                    </p:set>
                                    <p:animEffect transition="in" filter="fade">
                                      <p:cBhvr>
                                        <p:cTn id="38" dur="500"/>
                                        <p:tgtEl>
                                          <p:spTgt spid="61"/>
                                        </p:tgtEl>
                                      </p:cBhvr>
                                    </p:animEffect>
                                  </p:childTnLst>
                                </p:cTn>
                              </p:par>
                              <p:par>
                                <p:cTn id="39" presetID="10" presetClass="entr" presetSubtype="0" fill="hold" nodeType="withEffect">
                                  <p:stCondLst>
                                    <p:cond delay="0"/>
                                  </p:stCondLst>
                                  <p:childTnLst>
                                    <p:set>
                                      <p:cBhvr>
                                        <p:cTn id="40" dur="1" fill="hold">
                                          <p:stCondLst>
                                            <p:cond delay="0"/>
                                          </p:stCondLst>
                                        </p:cTn>
                                        <p:tgtEl>
                                          <p:spTgt spid="60"/>
                                        </p:tgtEl>
                                        <p:attrNameLst>
                                          <p:attrName>style.visibility</p:attrName>
                                        </p:attrNameLst>
                                      </p:cBhvr>
                                      <p:to>
                                        <p:strVal val="visible"/>
                                      </p:to>
                                    </p:set>
                                    <p:animEffect transition="in" filter="fade">
                                      <p:cBhvr>
                                        <p:cTn id="41" dur="500"/>
                                        <p:tgtEl>
                                          <p:spTgt spid="60"/>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71"/>
                                        </p:tgtEl>
                                        <p:attrNameLst>
                                          <p:attrName>style.visibility</p:attrName>
                                        </p:attrNameLst>
                                      </p:cBhvr>
                                      <p:to>
                                        <p:strVal val="visible"/>
                                      </p:to>
                                    </p:set>
                                    <p:animEffect transition="in" filter="fade">
                                      <p:cBhvr>
                                        <p:cTn id="44" dur="5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61" grpId="0" animBg="1"/>
      <p:bldP spid="62" grpId="0" animBg="1"/>
      <p:bldP spid="63" grpId="0" animBg="1"/>
      <p:bldP spid="65" grpId="0" animBg="1"/>
      <p:bldP spid="71"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软间隔支持向量机</a:t>
            </a:r>
            <a:endParaRPr lang="zh-CN" altLang="en-US" dirty="0">
              <a:latin typeface="黑体" panose="02010609060101010101" pitchFamily="49" charset="-122"/>
              <a:ea typeface="黑体" panose="02010609060101010101" pitchFamily="49" charset="-122"/>
            </a:endParaRPr>
          </a:p>
        </p:txBody>
      </p:sp>
      <p:pic>
        <p:nvPicPr>
          <p:cNvPr id="4" name="内容占位符 3"/>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2566086" y="1428504"/>
            <a:ext cx="5852667" cy="792549"/>
          </a:xfrm>
        </p:spPr>
      </p:pic>
      <p:sp>
        <p:nvSpPr>
          <p:cNvPr id="10" name="内容占位符 3"/>
          <p:cNvSpPr txBox="1"/>
          <p:nvPr/>
        </p:nvSpPr>
        <p:spPr>
          <a:xfrm>
            <a:off x="854815" y="1645847"/>
            <a:ext cx="1353857" cy="451134"/>
          </a:xfrm>
          <a:prstGeom prst="rect">
            <a:avLst/>
          </a:prstGeom>
        </p:spPr>
        <p:txBody>
          <a:bodyPr vert="horz" lIns="91440" tIns="46800" rIns="91440" bIns="45720" rtlCol="0">
            <a:normAutofit/>
          </a:bodyPr>
          <a:lstStyle>
            <a:lvl1pPr marL="228600" indent="-360045" algn="l" defTabSz="914400" rtl="0" eaLnBrk="1" latinLnBrk="0" hangingPunct="1">
              <a:lnSpc>
                <a:spcPct val="90000"/>
              </a:lnSpc>
              <a:spcBef>
                <a:spcPts val="1000"/>
              </a:spcBef>
              <a:buClr>
                <a:schemeClr val="tx2"/>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rgbClr val="023A9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rgbClr val="023A9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rgbClr val="023A9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rgbClr val="023A9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b="1" dirty="0">
                <a:latin typeface="黑体" panose="02010609060101010101" pitchFamily="49" charset="-122"/>
                <a:ea typeface="黑体" panose="02010609060101010101" pitchFamily="49" charset="-122"/>
              </a:rPr>
              <a:t>原始问题</a:t>
            </a:r>
            <a:endParaRPr lang="zh-CN" altLang="en-US" b="1" dirty="0">
              <a:latin typeface="黑体" panose="02010609060101010101" pitchFamily="49" charset="-122"/>
              <a:ea typeface="黑体" panose="02010609060101010101" pitchFamily="49" charset="-122"/>
            </a:endParaRPr>
          </a:p>
        </p:txBody>
      </p:sp>
      <p:sp>
        <p:nvSpPr>
          <p:cNvPr id="11" name="内容占位符 3"/>
          <p:cNvSpPr txBox="1"/>
          <p:nvPr/>
        </p:nvSpPr>
        <p:spPr>
          <a:xfrm>
            <a:off x="854815" y="3383299"/>
            <a:ext cx="1353857" cy="451134"/>
          </a:xfrm>
          <a:prstGeom prst="rect">
            <a:avLst/>
          </a:prstGeom>
        </p:spPr>
        <p:txBody>
          <a:bodyPr vert="horz" lIns="91440" tIns="46800" rIns="91440" bIns="45720" rtlCol="0">
            <a:normAutofit/>
          </a:bodyPr>
          <a:lstStyle>
            <a:lvl1pPr marL="228600" indent="-360045" algn="l" defTabSz="914400" rtl="0" eaLnBrk="1" latinLnBrk="0" hangingPunct="1">
              <a:lnSpc>
                <a:spcPct val="90000"/>
              </a:lnSpc>
              <a:spcBef>
                <a:spcPts val="1000"/>
              </a:spcBef>
              <a:buClr>
                <a:schemeClr val="tx2"/>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rgbClr val="023A9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rgbClr val="023A9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rgbClr val="023A9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rgbClr val="023A9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b="1" dirty="0">
                <a:latin typeface="黑体" panose="02010609060101010101" pitchFamily="49" charset="-122"/>
                <a:ea typeface="黑体" panose="02010609060101010101" pitchFamily="49" charset="-122"/>
              </a:rPr>
              <a:t>对偶问题</a:t>
            </a:r>
            <a:endParaRPr lang="zh-CN" altLang="en-US" b="1" dirty="0">
              <a:latin typeface="黑体" panose="02010609060101010101" pitchFamily="49" charset="-122"/>
              <a:ea typeface="黑体" panose="02010609060101010101" pitchFamily="49" charset="-122"/>
            </a:endParaRPr>
          </a:p>
        </p:txBody>
      </p:sp>
      <p:sp>
        <p:nvSpPr>
          <p:cNvPr id="13" name="矩形 12"/>
          <p:cNvSpPr/>
          <p:nvPr/>
        </p:nvSpPr>
        <p:spPr>
          <a:xfrm>
            <a:off x="1091691" y="5047313"/>
            <a:ext cx="7328308" cy="830997"/>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r>
              <a:rPr lang="zh-CN" altLang="en-US" sz="2400" b="1" dirty="0">
                <a:latin typeface="黑体" panose="02010609060101010101" pitchFamily="49" charset="-122"/>
                <a:ea typeface="黑体" panose="02010609060101010101" pitchFamily="49" charset="-122"/>
              </a:rPr>
              <a:t>根据</a:t>
            </a:r>
            <a:r>
              <a:rPr lang="en-US" altLang="zh-CN" sz="2400" b="1" dirty="0">
                <a:latin typeface="黑体" panose="02010609060101010101" pitchFamily="49" charset="-122"/>
                <a:ea typeface="黑体" panose="02010609060101010101" pitchFamily="49" charset="-122"/>
              </a:rPr>
              <a:t>KKT</a:t>
            </a:r>
            <a:r>
              <a:rPr lang="zh-CN" altLang="en-US" sz="2400" b="1" dirty="0">
                <a:latin typeface="黑体" panose="02010609060101010101" pitchFamily="49" charset="-122"/>
                <a:ea typeface="黑体" panose="02010609060101010101" pitchFamily="49" charset="-122"/>
              </a:rPr>
              <a:t>条件可推得最终模型仅与支持向量有关</a:t>
            </a:r>
            <a:r>
              <a:rPr lang="en-US" altLang="zh-CN" sz="2400" b="1" dirty="0">
                <a:latin typeface="黑体" panose="02010609060101010101" pitchFamily="49" charset="-122"/>
                <a:ea typeface="黑体" panose="02010609060101010101" pitchFamily="49" charset="-122"/>
              </a:rPr>
              <a:t>, </a:t>
            </a:r>
            <a:r>
              <a:rPr lang="zh-CN" altLang="en-US" sz="2400" b="1" dirty="0">
                <a:latin typeface="黑体" panose="02010609060101010101" pitchFamily="49" charset="-122"/>
                <a:ea typeface="黑体" panose="02010609060101010101" pitchFamily="49" charset="-122"/>
              </a:rPr>
              <a:t>也即</a:t>
            </a:r>
            <a:r>
              <a:rPr lang="en-US" altLang="zh-CN" sz="2400" b="1" dirty="0">
                <a:latin typeface="黑体" panose="02010609060101010101" pitchFamily="49" charset="-122"/>
                <a:ea typeface="黑体" panose="02010609060101010101" pitchFamily="49" charset="-122"/>
              </a:rPr>
              <a:t>hinge</a:t>
            </a:r>
            <a:r>
              <a:rPr lang="zh-CN" altLang="en-US" sz="2400" b="1" dirty="0">
                <a:latin typeface="黑体" panose="02010609060101010101" pitchFamily="49" charset="-122"/>
                <a:ea typeface="黑体" panose="02010609060101010101" pitchFamily="49" charset="-122"/>
              </a:rPr>
              <a:t>损失函数依然保持了支持向量机解的</a:t>
            </a:r>
            <a:r>
              <a:rPr lang="zh-CN" altLang="en-US" sz="2400" b="1" dirty="0">
                <a:solidFill>
                  <a:schemeClr val="tx2"/>
                </a:solidFill>
                <a:latin typeface="黑体" panose="02010609060101010101" pitchFamily="49" charset="-122"/>
                <a:ea typeface="黑体" panose="02010609060101010101" pitchFamily="49" charset="-122"/>
              </a:rPr>
              <a:t>稀疏性</a:t>
            </a:r>
            <a:r>
              <a:rPr lang="en-US" altLang="zh-CN" sz="2400" b="1" dirty="0">
                <a:latin typeface="黑体" panose="02010609060101010101" pitchFamily="49" charset="-122"/>
                <a:ea typeface="黑体" panose="02010609060101010101" pitchFamily="49" charset="-122"/>
              </a:rPr>
              <a:t>.</a:t>
            </a:r>
            <a:endParaRPr lang="zh-CN" altLang="en-US" sz="2200" b="1" dirty="0">
              <a:latin typeface="黑体" panose="02010609060101010101" pitchFamily="49" charset="-122"/>
              <a:ea typeface="黑体" panose="02010609060101010101" pitchFamily="49" charset="-122"/>
            </a:endParaRPr>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66086" y="2657914"/>
            <a:ext cx="6163590" cy="189602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正则化</a:t>
            </a:r>
            <a:endParaRPr lang="zh-CN" altLang="en-US"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a:xfrm>
            <a:off x="260350" y="1158536"/>
            <a:ext cx="8616950" cy="5332416"/>
          </a:xfrm>
        </p:spPr>
        <p:txBody>
          <a:bodyPr>
            <a:normAutofit/>
          </a:bodyPr>
          <a:lstStyle/>
          <a:p>
            <a:r>
              <a:rPr lang="zh-CN" altLang="en-US" b="1" dirty="0">
                <a:latin typeface="黑体" panose="02010609060101010101" pitchFamily="49" charset="-122"/>
                <a:ea typeface="黑体" panose="02010609060101010101" pitchFamily="49" charset="-122"/>
              </a:rPr>
              <a:t>支持向量机学习模型的更一般形式</a:t>
            </a:r>
            <a:br>
              <a:rPr lang="en-US" altLang="zh-CN" dirty="0"/>
            </a:br>
            <a:br>
              <a:rPr lang="en-US" altLang="zh-CN" dirty="0"/>
            </a:br>
            <a:br>
              <a:rPr lang="en-US" altLang="zh-CN" dirty="0"/>
            </a:br>
            <a:br>
              <a:rPr lang="en-US" altLang="zh-CN" dirty="0"/>
            </a:br>
            <a:br>
              <a:rPr lang="en-US" altLang="zh-CN" dirty="0"/>
            </a:br>
            <a:endParaRPr lang="en-US" altLang="zh-CN" dirty="0"/>
          </a:p>
          <a:p>
            <a:pPr marL="0" indent="0">
              <a:buNone/>
            </a:pPr>
            <a:endParaRPr lang="en-US" altLang="zh-CN" dirty="0"/>
          </a:p>
          <a:p>
            <a:endParaRPr lang="en-US" altLang="zh-CN" dirty="0"/>
          </a:p>
          <a:p>
            <a:r>
              <a:rPr lang="zh-CN" altLang="en-US" b="1" dirty="0">
                <a:latin typeface="黑体" panose="02010609060101010101" pitchFamily="49" charset="-122"/>
                <a:ea typeface="黑体" panose="02010609060101010101" pitchFamily="49" charset="-122"/>
              </a:rPr>
              <a:t>通过替换上面两个部分</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可以得到许多其他学习模型</a:t>
            </a:r>
            <a:endParaRPr lang="en-US" altLang="zh-CN" b="1" dirty="0">
              <a:latin typeface="黑体" panose="02010609060101010101" pitchFamily="49" charset="-122"/>
              <a:ea typeface="黑体" panose="02010609060101010101" pitchFamily="49" charset="-122"/>
            </a:endParaRPr>
          </a:p>
          <a:p>
            <a:pPr lvl="1"/>
            <a:r>
              <a:rPr lang="zh-CN" altLang="en-US" b="1" dirty="0">
                <a:latin typeface="黑体" panose="02010609060101010101" pitchFamily="49" charset="-122"/>
                <a:ea typeface="黑体" panose="02010609060101010101" pitchFamily="49" charset="-122"/>
              </a:rPr>
              <a:t>对数几率回归</a:t>
            </a:r>
            <a:r>
              <a:rPr lang="en-US" altLang="zh-CN" b="1" dirty="0">
                <a:latin typeface="黑体" panose="02010609060101010101" pitchFamily="49" charset="-122"/>
                <a:ea typeface="黑体" panose="02010609060101010101" pitchFamily="49" charset="-122"/>
              </a:rPr>
              <a:t>(Logistic Regression)</a:t>
            </a:r>
            <a:endParaRPr lang="en-US" altLang="zh-CN" b="1" dirty="0">
              <a:latin typeface="黑体" panose="02010609060101010101" pitchFamily="49" charset="-122"/>
              <a:ea typeface="黑体" panose="02010609060101010101" pitchFamily="49" charset="-122"/>
            </a:endParaRPr>
          </a:p>
          <a:p>
            <a:pPr lvl="1"/>
            <a:r>
              <a:rPr lang="zh-CN" altLang="en-US" b="1" dirty="0">
                <a:latin typeface="黑体" panose="02010609060101010101" pitchFamily="49" charset="-122"/>
                <a:ea typeface="黑体" panose="02010609060101010101" pitchFamily="49" charset="-122"/>
              </a:rPr>
              <a:t>最小绝对收缩选择算子</a:t>
            </a:r>
            <a:r>
              <a:rPr lang="en-US" altLang="zh-CN" b="1" dirty="0">
                <a:latin typeface="黑体" panose="02010609060101010101" pitchFamily="49" charset="-122"/>
                <a:ea typeface="黑体" panose="02010609060101010101" pitchFamily="49" charset="-122"/>
              </a:rPr>
              <a:t>(LASSO)</a:t>
            </a:r>
            <a:endParaRPr lang="en-US" altLang="zh-CN" b="1" dirty="0">
              <a:latin typeface="黑体" panose="02010609060101010101" pitchFamily="49" charset="-122"/>
              <a:ea typeface="黑体" panose="02010609060101010101" pitchFamily="49" charset="-122"/>
            </a:endParaRPr>
          </a:p>
          <a:p>
            <a:pPr lvl="1"/>
            <a:r>
              <a:rPr lang="en-US" altLang="zh-CN" b="1" dirty="0">
                <a:latin typeface="黑体" panose="02010609060101010101" pitchFamily="49" charset="-122"/>
                <a:ea typeface="黑体" panose="02010609060101010101" pitchFamily="49" charset="-122"/>
              </a:rPr>
              <a:t>……</a:t>
            </a:r>
            <a:endParaRPr lang="en-US" altLang="zh-CN" b="1" dirty="0">
              <a:latin typeface="黑体" panose="02010609060101010101" pitchFamily="49" charset="-122"/>
              <a:ea typeface="黑体" panose="02010609060101010101" pitchFamily="49" charset="-122"/>
            </a:endParaRPr>
          </a:p>
        </p:txBody>
      </p:sp>
      <p:sp>
        <p:nvSpPr>
          <p:cNvPr id="7" name="矩形 6"/>
          <p:cNvSpPr/>
          <p:nvPr/>
        </p:nvSpPr>
        <p:spPr>
          <a:xfrm>
            <a:off x="2356835" y="2866649"/>
            <a:ext cx="2073498" cy="707886"/>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r>
              <a:rPr lang="zh-CN" altLang="en-US" sz="2000" b="1" dirty="0">
                <a:latin typeface="黑体" panose="02010609060101010101" pitchFamily="49" charset="-122"/>
                <a:ea typeface="黑体" panose="02010609060101010101" pitchFamily="49" charset="-122"/>
              </a:rPr>
              <a:t>结构风险</a:t>
            </a:r>
            <a:r>
              <a:rPr lang="en-US" altLang="zh-CN" sz="2000" b="1" dirty="0">
                <a:latin typeface="黑体" panose="02010609060101010101" pitchFamily="49" charset="-122"/>
                <a:ea typeface="黑体" panose="02010609060101010101" pitchFamily="49" charset="-122"/>
              </a:rPr>
              <a:t>, </a:t>
            </a:r>
            <a:r>
              <a:rPr lang="zh-CN" altLang="en-US" sz="2000" b="1" dirty="0">
                <a:latin typeface="黑体" panose="02010609060101010101" pitchFamily="49" charset="-122"/>
                <a:ea typeface="黑体" panose="02010609060101010101" pitchFamily="49" charset="-122"/>
              </a:rPr>
              <a:t>描述模型的某些性质</a:t>
            </a:r>
            <a:endParaRPr lang="zh-CN" altLang="en-US" sz="2000" b="1" dirty="0">
              <a:latin typeface="黑体" panose="02010609060101010101" pitchFamily="49" charset="-122"/>
              <a:ea typeface="黑体" panose="02010609060101010101" pitchFamily="49" charset="-122"/>
            </a:endParaRPr>
          </a:p>
        </p:txBody>
      </p:sp>
      <p:sp>
        <p:nvSpPr>
          <p:cNvPr id="8" name="矩形 7"/>
          <p:cNvSpPr/>
          <p:nvPr/>
        </p:nvSpPr>
        <p:spPr>
          <a:xfrm>
            <a:off x="4935314" y="2866649"/>
            <a:ext cx="2785239" cy="707886"/>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r>
              <a:rPr lang="zh-CN" altLang="en-US" sz="2000" b="1" dirty="0">
                <a:latin typeface="黑体" panose="02010609060101010101" pitchFamily="49" charset="-122"/>
                <a:ea typeface="黑体" panose="02010609060101010101" pitchFamily="49" charset="-122"/>
              </a:rPr>
              <a:t>经验风险</a:t>
            </a:r>
            <a:r>
              <a:rPr lang="en-US" altLang="zh-CN" sz="2000" b="1" dirty="0">
                <a:latin typeface="黑体" panose="02010609060101010101" pitchFamily="49" charset="-122"/>
                <a:ea typeface="黑体" panose="02010609060101010101" pitchFamily="49" charset="-122"/>
              </a:rPr>
              <a:t>, </a:t>
            </a:r>
            <a:r>
              <a:rPr lang="zh-CN" altLang="en-US" sz="2000" b="1" dirty="0">
                <a:latin typeface="黑体" panose="02010609060101010101" pitchFamily="49" charset="-122"/>
                <a:ea typeface="黑体" panose="02010609060101010101" pitchFamily="49" charset="-122"/>
              </a:rPr>
              <a:t>描述模型与训练数据的契合程度</a:t>
            </a:r>
            <a:endParaRPr lang="zh-CN" altLang="en-US" sz="2000" b="1" dirty="0">
              <a:latin typeface="黑体" panose="02010609060101010101" pitchFamily="49" charset="-122"/>
              <a:ea typeface="黑体" panose="02010609060101010101" pitchFamily="49" charset="-122"/>
            </a:endParaRPr>
          </a:p>
        </p:txBody>
      </p:sp>
      <p:sp>
        <p:nvSpPr>
          <p:cNvPr id="4" name="下箭头 3"/>
          <p:cNvSpPr/>
          <p:nvPr/>
        </p:nvSpPr>
        <p:spPr>
          <a:xfrm rot="10800000">
            <a:off x="3903262" y="2453984"/>
            <a:ext cx="286603" cy="23201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下箭头 9"/>
          <p:cNvSpPr/>
          <p:nvPr/>
        </p:nvSpPr>
        <p:spPr>
          <a:xfrm rot="10800000">
            <a:off x="5558474" y="2453984"/>
            <a:ext cx="286603" cy="23201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258720" y="1728242"/>
            <a:ext cx="3158002" cy="71939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fade">
                                      <p:cBhvr>
                                        <p:cTn id="23" dur="500"/>
                                        <p:tgtEl>
                                          <p:spTgt spid="3">
                                            <p:txEl>
                                              <p:pRg st="3" end="3"/>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500"/>
                                        <p:tgtEl>
                                          <p:spTgt spid="3">
                                            <p:txEl>
                                              <p:pRg st="4" end="4"/>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fade">
                                      <p:cBhvr>
                                        <p:cTn id="29" dur="500"/>
                                        <p:tgtEl>
                                          <p:spTgt spid="3">
                                            <p:txEl>
                                              <p:pRg st="5" end="5"/>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4" grpId="0" animBg="1"/>
      <p:bldP spid="10"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大纲</a:t>
            </a:r>
            <a:endParaRPr lang="zh-CN" altLang="en-US"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p:txBody>
          <a:bodyPr/>
          <a:lstStyle/>
          <a:p>
            <a:r>
              <a:rPr lang="zh-CN" altLang="en-US" dirty="0">
                <a:solidFill>
                  <a:schemeClr val="bg1">
                    <a:lumMod val="85000"/>
                  </a:schemeClr>
                </a:solidFill>
              </a:rPr>
              <a:t>间隔与支持向量</a:t>
            </a:r>
            <a:endParaRPr lang="en-US" altLang="zh-CN" dirty="0">
              <a:solidFill>
                <a:schemeClr val="bg1">
                  <a:lumMod val="85000"/>
                </a:schemeClr>
              </a:solidFill>
            </a:endParaRPr>
          </a:p>
          <a:p>
            <a:endParaRPr lang="en-US" altLang="zh-CN" dirty="0"/>
          </a:p>
          <a:p>
            <a:r>
              <a:rPr lang="zh-CN" altLang="en-US" dirty="0">
                <a:solidFill>
                  <a:schemeClr val="bg1">
                    <a:lumMod val="85000"/>
                  </a:schemeClr>
                </a:solidFill>
              </a:rPr>
              <a:t>对偶问题</a:t>
            </a:r>
            <a:endParaRPr lang="en-US" altLang="zh-CN" dirty="0">
              <a:solidFill>
                <a:schemeClr val="bg1">
                  <a:lumMod val="85000"/>
                </a:schemeClr>
              </a:solidFill>
            </a:endParaRPr>
          </a:p>
          <a:p>
            <a:endParaRPr lang="en-US" altLang="zh-CN" dirty="0"/>
          </a:p>
          <a:p>
            <a:r>
              <a:rPr lang="zh-CN" altLang="en-US" dirty="0">
                <a:solidFill>
                  <a:schemeClr val="bg1">
                    <a:lumMod val="85000"/>
                  </a:schemeClr>
                </a:solidFill>
              </a:rPr>
              <a:t>核函数</a:t>
            </a:r>
            <a:endParaRPr lang="en-US" altLang="zh-CN" dirty="0">
              <a:solidFill>
                <a:schemeClr val="bg1">
                  <a:lumMod val="85000"/>
                </a:schemeClr>
              </a:solidFill>
            </a:endParaRPr>
          </a:p>
          <a:p>
            <a:endParaRPr lang="en-US" altLang="zh-CN" dirty="0">
              <a:solidFill>
                <a:schemeClr val="bg1">
                  <a:lumMod val="85000"/>
                </a:schemeClr>
              </a:solidFill>
            </a:endParaRPr>
          </a:p>
          <a:p>
            <a:r>
              <a:rPr lang="zh-CN" altLang="en-US" dirty="0">
                <a:solidFill>
                  <a:schemeClr val="bg1">
                    <a:lumMod val="85000"/>
                  </a:schemeClr>
                </a:solidFill>
              </a:rPr>
              <a:t>软间隔与正则化</a:t>
            </a:r>
            <a:endParaRPr lang="en-US" altLang="zh-CN" dirty="0">
              <a:solidFill>
                <a:schemeClr val="bg1">
                  <a:lumMod val="85000"/>
                </a:schemeClr>
              </a:solidFill>
            </a:endParaRPr>
          </a:p>
          <a:p>
            <a:endParaRPr lang="en-US" altLang="zh-CN" dirty="0">
              <a:solidFill>
                <a:schemeClr val="bg1">
                  <a:lumMod val="85000"/>
                </a:schemeClr>
              </a:solidFill>
            </a:endParaRPr>
          </a:p>
          <a:p>
            <a:r>
              <a:rPr lang="zh-CN" altLang="en-US" b="1" dirty="0">
                <a:latin typeface="黑体" panose="02010609060101010101" pitchFamily="49" charset="-122"/>
                <a:ea typeface="黑体" panose="02010609060101010101" pitchFamily="49" charset="-122"/>
              </a:rPr>
              <a:t>支持向量回归</a:t>
            </a:r>
            <a:endParaRPr lang="en-US" altLang="zh-CN" b="1" dirty="0">
              <a:latin typeface="黑体" panose="02010609060101010101" pitchFamily="49" charset="-122"/>
              <a:ea typeface="黑体" panose="02010609060101010101" pitchFamily="49" charset="-122"/>
            </a:endParaRPr>
          </a:p>
          <a:p>
            <a:endParaRPr lang="en-US" altLang="zh-CN" dirty="0">
              <a:solidFill>
                <a:schemeClr val="bg1">
                  <a:lumMod val="85000"/>
                </a:schemeClr>
              </a:solidFill>
            </a:endParaRPr>
          </a:p>
          <a:p>
            <a:r>
              <a:rPr lang="zh-CN" altLang="en-US" dirty="0">
                <a:solidFill>
                  <a:schemeClr val="bg1">
                    <a:lumMod val="85000"/>
                  </a:schemeClr>
                </a:solidFill>
              </a:rPr>
              <a:t>核方法</a:t>
            </a:r>
            <a:endParaRPr lang="zh-CN" altLang="en-US" dirty="0">
              <a:solidFill>
                <a:schemeClr val="bg1">
                  <a:lumMod val="85000"/>
                </a:schemeClr>
              </a:solidFill>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latin typeface="黑体" panose="02010609060101010101" pitchFamily="49" charset="-122"/>
                <a:ea typeface="黑体" panose="02010609060101010101" pitchFamily="49" charset="-122"/>
              </a:rPr>
              <a:t>支持向量回归</a:t>
            </a:r>
            <a:endParaRPr lang="zh-CN" altLang="en-US"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p:txBody>
          <a:bodyPr/>
          <a:lstStyle/>
          <a:p>
            <a:pPr marL="0" indent="0">
              <a:buNone/>
            </a:pPr>
            <a:r>
              <a:rPr lang="zh-CN" altLang="en-US" b="1" dirty="0">
                <a:latin typeface="黑体" panose="02010609060101010101" pitchFamily="49" charset="-122"/>
                <a:ea typeface="黑体" panose="02010609060101010101" pitchFamily="49" charset="-122"/>
              </a:rPr>
              <a:t>特点</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允许模型输出和实际输出间存在    的偏差</a:t>
            </a:r>
            <a:r>
              <a:rPr lang="en-US" altLang="zh-CN" b="1" dirty="0">
                <a:latin typeface="黑体" panose="02010609060101010101" pitchFamily="49" charset="-122"/>
                <a:ea typeface="黑体" panose="02010609060101010101" pitchFamily="49" charset="-122"/>
              </a:rPr>
              <a:t>.</a:t>
            </a:r>
            <a:endParaRPr lang="zh-CN" altLang="en-US" b="1" dirty="0">
              <a:latin typeface="黑体" panose="02010609060101010101" pitchFamily="49" charset="-122"/>
              <a:ea typeface="黑体" panose="02010609060101010101" pitchFamily="49" charset="-122"/>
            </a:endParaRPr>
          </a:p>
        </p:txBody>
      </p:sp>
      <p:cxnSp>
        <p:nvCxnSpPr>
          <p:cNvPr id="36" name="直接箭头连接符 35"/>
          <p:cNvCxnSpPr/>
          <p:nvPr/>
        </p:nvCxnSpPr>
        <p:spPr>
          <a:xfrm flipH="1" flipV="1">
            <a:off x="2229524" y="2287375"/>
            <a:ext cx="0" cy="3255783"/>
          </a:xfrm>
          <a:prstGeom prst="straightConnector1">
            <a:avLst/>
          </a:prstGeom>
          <a:ln w="19050">
            <a:headEnd type="none" w="med" len="lg"/>
            <a:tailEnd type="triangle" w="lg" len="lg"/>
          </a:ln>
        </p:spPr>
        <p:style>
          <a:lnRef idx="1">
            <a:schemeClr val="dk1"/>
          </a:lnRef>
          <a:fillRef idx="0">
            <a:schemeClr val="dk1"/>
          </a:fillRef>
          <a:effectRef idx="0">
            <a:schemeClr val="dk1"/>
          </a:effectRef>
          <a:fontRef idx="minor">
            <a:schemeClr val="tx1"/>
          </a:fontRef>
        </p:style>
      </p:cxnSp>
      <p:cxnSp>
        <p:nvCxnSpPr>
          <p:cNvPr id="37" name="直接箭头连接符 36"/>
          <p:cNvCxnSpPr/>
          <p:nvPr/>
        </p:nvCxnSpPr>
        <p:spPr>
          <a:xfrm>
            <a:off x="2218934" y="5543236"/>
            <a:ext cx="3907003" cy="0"/>
          </a:xfrm>
          <a:prstGeom prst="straightConnector1">
            <a:avLst/>
          </a:prstGeom>
          <a:ln w="19050">
            <a:headEnd type="none" w="med" len="lg"/>
            <a:tailEnd type="triangle" w="lg" len="lg"/>
          </a:ln>
        </p:spPr>
        <p:style>
          <a:lnRef idx="1">
            <a:schemeClr val="dk1"/>
          </a:lnRef>
          <a:fillRef idx="0">
            <a:schemeClr val="dk1"/>
          </a:fillRef>
          <a:effectRef idx="0">
            <a:schemeClr val="dk1"/>
          </a:effectRef>
          <a:fontRef idx="minor">
            <a:schemeClr val="tx1"/>
          </a:fontRef>
        </p:style>
      </p:cxnSp>
      <p:sp>
        <p:nvSpPr>
          <p:cNvPr id="38" name="文本框 37"/>
          <p:cNvSpPr txBox="1"/>
          <p:nvPr/>
        </p:nvSpPr>
        <p:spPr>
          <a:xfrm>
            <a:off x="1983921" y="5437905"/>
            <a:ext cx="354568" cy="397641"/>
          </a:xfrm>
          <a:prstGeom prst="rect">
            <a:avLst/>
          </a:prstGeom>
          <a:noFill/>
        </p:spPr>
        <p:txBody>
          <a:bodyPr wrap="none" rtlCol="0">
            <a:spAutoFit/>
          </a:bodyPr>
          <a:lstStyle/>
          <a:p>
            <a:r>
              <a:rPr lang="en-US" altLang="zh-CN" sz="1400" dirty="0">
                <a:latin typeface="Times "/>
              </a:rPr>
              <a:t>0</a:t>
            </a:r>
            <a:endParaRPr lang="zh-CN" altLang="en-US" sz="1400" dirty="0">
              <a:latin typeface="Times "/>
            </a:endParaRPr>
          </a:p>
        </p:txBody>
      </p:sp>
      <p:graphicFrame>
        <p:nvGraphicFramePr>
          <p:cNvPr id="39" name="对象 38"/>
          <p:cNvGraphicFramePr>
            <a:graphicFrameLocks noChangeAspect="1"/>
          </p:cNvGraphicFramePr>
          <p:nvPr/>
        </p:nvGraphicFramePr>
        <p:xfrm>
          <a:off x="5588101" y="5626939"/>
          <a:ext cx="180492" cy="274836"/>
        </p:xfrm>
        <a:graphic>
          <a:graphicData uri="http://schemas.openxmlformats.org/presentationml/2006/ole">
            <mc:AlternateContent xmlns:mc="http://schemas.openxmlformats.org/markup-compatibility/2006">
              <mc:Choice xmlns:v="urn:schemas-microsoft-com:vml" Requires="v">
                <p:oleObj spid="_x0000_s32" name="Formula" r:id="rId1" imgW="647700" imgH="971550" progId="Equation.Ribbit">
                  <p:embed/>
                </p:oleObj>
              </mc:Choice>
              <mc:Fallback>
                <p:oleObj name="Formula" r:id="rId1" imgW="647700" imgH="971550" progId="Equation.Ribbit">
                  <p:embed/>
                  <p:pic>
                    <p:nvPicPr>
                      <p:cNvPr id="0" name="图片 31"/>
                      <p:cNvPicPr/>
                      <p:nvPr/>
                    </p:nvPicPr>
                    <p:blipFill>
                      <a:blip r:embed="rId2"/>
                      <a:stretch>
                        <a:fillRect/>
                      </a:stretch>
                    </p:blipFill>
                    <p:spPr>
                      <a:xfrm>
                        <a:off x="5588101" y="5626939"/>
                        <a:ext cx="180492" cy="274836"/>
                      </a:xfrm>
                      <a:prstGeom prst="rect">
                        <a:avLst/>
                      </a:prstGeom>
                    </p:spPr>
                  </p:pic>
                </p:oleObj>
              </mc:Fallback>
            </mc:AlternateContent>
          </a:graphicData>
        </a:graphic>
      </p:graphicFrame>
      <p:graphicFrame>
        <p:nvGraphicFramePr>
          <p:cNvPr id="40" name="对象 39"/>
          <p:cNvGraphicFramePr>
            <a:graphicFrameLocks noChangeAspect="1"/>
          </p:cNvGraphicFramePr>
          <p:nvPr/>
        </p:nvGraphicFramePr>
        <p:xfrm>
          <a:off x="1939746" y="2544264"/>
          <a:ext cx="147675" cy="242020"/>
        </p:xfrm>
        <a:graphic>
          <a:graphicData uri="http://schemas.openxmlformats.org/presentationml/2006/ole">
            <mc:AlternateContent xmlns:mc="http://schemas.openxmlformats.org/markup-compatibility/2006">
              <mc:Choice xmlns:v="urn:schemas-microsoft-com:vml" Requires="v">
                <p:oleObj spid="_x0000_s4" name="Formula" r:id="rId3" imgW="609600" imgH="981075" progId="Equation.Ribbit">
                  <p:embed/>
                </p:oleObj>
              </mc:Choice>
              <mc:Fallback>
                <p:oleObj name="Formula" r:id="rId3" imgW="609600" imgH="981075" progId="Equation.Ribbit">
                  <p:embed/>
                  <p:pic>
                    <p:nvPicPr>
                      <p:cNvPr id="0" name="图片 3"/>
                      <p:cNvPicPr/>
                      <p:nvPr/>
                    </p:nvPicPr>
                    <p:blipFill>
                      <a:blip r:embed="rId4"/>
                      <a:stretch>
                        <a:fillRect/>
                      </a:stretch>
                    </p:blipFill>
                    <p:spPr>
                      <a:xfrm>
                        <a:off x="1939746" y="2544264"/>
                        <a:ext cx="147675" cy="242020"/>
                      </a:xfrm>
                      <a:prstGeom prst="rect">
                        <a:avLst/>
                      </a:prstGeom>
                    </p:spPr>
                  </p:pic>
                </p:oleObj>
              </mc:Fallback>
            </mc:AlternateContent>
          </a:graphicData>
        </a:graphic>
      </p:graphicFrame>
      <p:sp>
        <p:nvSpPr>
          <p:cNvPr id="41" name="椭圆 40"/>
          <p:cNvSpPr>
            <a:spLocks noChangeAspect="1"/>
          </p:cNvSpPr>
          <p:nvPr/>
        </p:nvSpPr>
        <p:spPr>
          <a:xfrm>
            <a:off x="3708339" y="4861485"/>
            <a:ext cx="139536" cy="13953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p:cNvSpPr>
            <a:spLocks noChangeAspect="1"/>
          </p:cNvSpPr>
          <p:nvPr/>
        </p:nvSpPr>
        <p:spPr>
          <a:xfrm>
            <a:off x="4315449" y="4270793"/>
            <a:ext cx="139536" cy="13953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43" name="对象 42"/>
          <p:cNvGraphicFramePr>
            <a:graphicFrameLocks noChangeAspect="1"/>
          </p:cNvGraphicFramePr>
          <p:nvPr/>
        </p:nvGraphicFramePr>
        <p:xfrm>
          <a:off x="5682534" y="3994241"/>
          <a:ext cx="902461" cy="291244"/>
        </p:xfrm>
        <a:graphic>
          <a:graphicData uri="http://schemas.openxmlformats.org/presentationml/2006/ole">
            <mc:AlternateContent xmlns:mc="http://schemas.openxmlformats.org/markup-compatibility/2006">
              <mc:Choice xmlns:v="urn:schemas-microsoft-com:vml" Requires="v">
                <p:oleObj spid="_x0000_s5" name="Formula" r:id="rId5" imgW="4143375" imgH="1333500" progId="Equation.Ribbit">
                  <p:embed/>
                </p:oleObj>
              </mc:Choice>
              <mc:Fallback>
                <p:oleObj name="Formula" r:id="rId5" imgW="4143375" imgH="1333500" progId="Equation.Ribbit">
                  <p:embed/>
                  <p:pic>
                    <p:nvPicPr>
                      <p:cNvPr id="0" name="图片 4"/>
                      <p:cNvPicPr/>
                      <p:nvPr/>
                    </p:nvPicPr>
                    <p:blipFill>
                      <a:blip r:embed="rId6"/>
                      <a:stretch>
                        <a:fillRect/>
                      </a:stretch>
                    </p:blipFill>
                    <p:spPr>
                      <a:xfrm>
                        <a:off x="5682534" y="3994241"/>
                        <a:ext cx="902461" cy="291244"/>
                      </a:xfrm>
                      <a:prstGeom prst="rect">
                        <a:avLst/>
                      </a:prstGeom>
                    </p:spPr>
                  </p:pic>
                </p:oleObj>
              </mc:Fallback>
            </mc:AlternateContent>
          </a:graphicData>
        </a:graphic>
      </p:graphicFrame>
      <p:graphicFrame>
        <p:nvGraphicFramePr>
          <p:cNvPr id="44" name="对象 43"/>
          <p:cNvGraphicFramePr>
            <a:graphicFrameLocks noChangeAspect="1"/>
          </p:cNvGraphicFramePr>
          <p:nvPr/>
        </p:nvGraphicFramePr>
        <p:xfrm>
          <a:off x="4068276" y="2544264"/>
          <a:ext cx="869644" cy="291244"/>
        </p:xfrm>
        <a:graphic>
          <a:graphicData uri="http://schemas.openxmlformats.org/presentationml/2006/ole">
            <mc:AlternateContent xmlns:mc="http://schemas.openxmlformats.org/markup-compatibility/2006">
              <mc:Choice xmlns:v="urn:schemas-microsoft-com:vml" Requires="v">
                <p:oleObj spid="_x0000_s6" name="Formula" r:id="rId7" imgW="4000500" imgH="1333500" progId="Equation.Ribbit">
                  <p:embed/>
                </p:oleObj>
              </mc:Choice>
              <mc:Fallback>
                <p:oleObj name="Formula" r:id="rId7" imgW="4000500" imgH="1333500" progId="Equation.Ribbit">
                  <p:embed/>
                  <p:pic>
                    <p:nvPicPr>
                      <p:cNvPr id="0" name="图片 5"/>
                      <p:cNvPicPr/>
                      <p:nvPr/>
                    </p:nvPicPr>
                    <p:blipFill>
                      <a:blip r:embed="rId8"/>
                      <a:stretch>
                        <a:fillRect/>
                      </a:stretch>
                    </p:blipFill>
                    <p:spPr>
                      <a:xfrm>
                        <a:off x="4068276" y="2544264"/>
                        <a:ext cx="869644" cy="291244"/>
                      </a:xfrm>
                      <a:prstGeom prst="rect">
                        <a:avLst/>
                      </a:prstGeom>
                    </p:spPr>
                  </p:pic>
                </p:oleObj>
              </mc:Fallback>
            </mc:AlternateContent>
          </a:graphicData>
        </a:graphic>
      </p:graphicFrame>
      <p:graphicFrame>
        <p:nvGraphicFramePr>
          <p:cNvPr id="45" name="对象 44"/>
          <p:cNvGraphicFramePr>
            <a:graphicFrameLocks noChangeAspect="1"/>
          </p:cNvGraphicFramePr>
          <p:nvPr/>
        </p:nvGraphicFramePr>
        <p:xfrm>
          <a:off x="5441950" y="2724150"/>
          <a:ext cx="1755775" cy="322263"/>
        </p:xfrm>
        <a:graphic>
          <a:graphicData uri="http://schemas.openxmlformats.org/presentationml/2006/ole">
            <mc:AlternateContent xmlns:mc="http://schemas.openxmlformats.org/markup-compatibility/2006">
              <mc:Choice xmlns:v="urn:schemas-microsoft-com:vml" Requires="v">
                <p:oleObj spid="_x0000_s7" name="Formula" r:id="rId9" imgW="8067675" imgH="1476375" progId="Equation.Ribbit">
                  <p:embed/>
                </p:oleObj>
              </mc:Choice>
              <mc:Fallback>
                <p:oleObj name="Formula" r:id="rId9" imgW="8067675" imgH="1476375" progId="Equation.Ribbit">
                  <p:embed/>
                  <p:pic>
                    <p:nvPicPr>
                      <p:cNvPr id="0" name="图片 6"/>
                      <p:cNvPicPr/>
                      <p:nvPr/>
                    </p:nvPicPr>
                    <p:blipFill>
                      <a:blip r:embed="rId10"/>
                      <a:stretch>
                        <a:fillRect/>
                      </a:stretch>
                    </p:blipFill>
                    <p:spPr>
                      <a:xfrm>
                        <a:off x="5441950" y="2724150"/>
                        <a:ext cx="1755775" cy="322263"/>
                      </a:xfrm>
                      <a:prstGeom prst="rect">
                        <a:avLst/>
                      </a:prstGeom>
                    </p:spPr>
                  </p:pic>
                </p:oleObj>
              </mc:Fallback>
            </mc:AlternateContent>
          </a:graphicData>
        </a:graphic>
      </p:graphicFrame>
      <p:sp>
        <p:nvSpPr>
          <p:cNvPr id="46" name="任意多边形 45"/>
          <p:cNvSpPr/>
          <p:nvPr/>
        </p:nvSpPr>
        <p:spPr>
          <a:xfrm>
            <a:off x="4698728" y="2815742"/>
            <a:ext cx="239973" cy="479937"/>
          </a:xfrm>
          <a:custGeom>
            <a:avLst/>
            <a:gdLst>
              <a:gd name="connsiteX0" fmla="*/ 0 w 185738"/>
              <a:gd name="connsiteY0" fmla="*/ 0 h 371475"/>
              <a:gd name="connsiteX1" fmla="*/ 33338 w 185738"/>
              <a:gd name="connsiteY1" fmla="*/ 204787 h 371475"/>
              <a:gd name="connsiteX2" fmla="*/ 185738 w 185738"/>
              <a:gd name="connsiteY2" fmla="*/ 371475 h 371475"/>
            </a:gdLst>
            <a:ahLst/>
            <a:cxnLst>
              <a:cxn ang="0">
                <a:pos x="connsiteX0" y="connsiteY0"/>
              </a:cxn>
              <a:cxn ang="0">
                <a:pos x="connsiteX1" y="connsiteY1"/>
              </a:cxn>
              <a:cxn ang="0">
                <a:pos x="connsiteX2" y="connsiteY2"/>
              </a:cxn>
            </a:cxnLst>
            <a:rect l="l" t="t" r="r" b="b"/>
            <a:pathLst>
              <a:path w="185738" h="371475">
                <a:moveTo>
                  <a:pt x="0" y="0"/>
                </a:moveTo>
                <a:cubicBezTo>
                  <a:pt x="1191" y="71437"/>
                  <a:pt x="2382" y="142875"/>
                  <a:pt x="33338" y="204787"/>
                </a:cubicBezTo>
                <a:cubicBezTo>
                  <a:pt x="64294" y="266699"/>
                  <a:pt x="125016" y="319087"/>
                  <a:pt x="185738" y="371475"/>
                </a:cubicBezTo>
              </a:path>
            </a:pathLst>
          </a:custGeom>
          <a:noFill/>
          <a:ln>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任意多边形 46"/>
          <p:cNvSpPr/>
          <p:nvPr/>
        </p:nvSpPr>
        <p:spPr>
          <a:xfrm>
            <a:off x="5051832" y="3833868"/>
            <a:ext cx="484047" cy="320746"/>
          </a:xfrm>
          <a:custGeom>
            <a:avLst/>
            <a:gdLst>
              <a:gd name="connsiteX0" fmla="*/ 374650 w 374650"/>
              <a:gd name="connsiteY0" fmla="*/ 247650 h 248260"/>
              <a:gd name="connsiteX1" fmla="*/ 209550 w 374650"/>
              <a:gd name="connsiteY1" fmla="*/ 209550 h 248260"/>
              <a:gd name="connsiteX2" fmla="*/ 0 w 374650"/>
              <a:gd name="connsiteY2" fmla="*/ 0 h 248260"/>
            </a:gdLst>
            <a:ahLst/>
            <a:cxnLst>
              <a:cxn ang="0">
                <a:pos x="connsiteX0" y="connsiteY0"/>
              </a:cxn>
              <a:cxn ang="0">
                <a:pos x="connsiteX1" y="connsiteY1"/>
              </a:cxn>
              <a:cxn ang="0">
                <a:pos x="connsiteX2" y="connsiteY2"/>
              </a:cxn>
            </a:cxnLst>
            <a:rect l="l" t="t" r="r" b="b"/>
            <a:pathLst>
              <a:path w="374650" h="248260">
                <a:moveTo>
                  <a:pt x="374650" y="247650"/>
                </a:moveTo>
                <a:cubicBezTo>
                  <a:pt x="323321" y="249237"/>
                  <a:pt x="271992" y="250825"/>
                  <a:pt x="209550" y="209550"/>
                </a:cubicBezTo>
                <a:cubicBezTo>
                  <a:pt x="147108" y="168275"/>
                  <a:pt x="73554" y="84137"/>
                  <a:pt x="0" y="0"/>
                </a:cubicBezTo>
              </a:path>
            </a:pathLst>
          </a:custGeom>
          <a:noFill/>
          <a:ln>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任意多边形 47"/>
          <p:cNvSpPr/>
          <p:nvPr/>
        </p:nvSpPr>
        <p:spPr>
          <a:xfrm flipV="1">
            <a:off x="5552166" y="3039249"/>
            <a:ext cx="688989" cy="303368"/>
          </a:xfrm>
          <a:custGeom>
            <a:avLst/>
            <a:gdLst>
              <a:gd name="connsiteX0" fmla="*/ 368300 w 368300"/>
              <a:gd name="connsiteY0" fmla="*/ 228600 h 241300"/>
              <a:gd name="connsiteX1" fmla="*/ 209550 w 368300"/>
              <a:gd name="connsiteY1" fmla="*/ 215900 h 241300"/>
              <a:gd name="connsiteX2" fmla="*/ 0 w 368300"/>
              <a:gd name="connsiteY2" fmla="*/ 0 h 241300"/>
              <a:gd name="connsiteX0-1" fmla="*/ 349250 w 349250"/>
              <a:gd name="connsiteY0-2" fmla="*/ 247650 h 254239"/>
              <a:gd name="connsiteX1-3" fmla="*/ 209550 w 349250"/>
              <a:gd name="connsiteY1-4" fmla="*/ 215900 h 254239"/>
              <a:gd name="connsiteX2-5" fmla="*/ 0 w 349250"/>
              <a:gd name="connsiteY2-6" fmla="*/ 0 h 254239"/>
              <a:gd name="connsiteX0-7" fmla="*/ 374650 w 374650"/>
              <a:gd name="connsiteY0-8" fmla="*/ 254000 h 259411"/>
              <a:gd name="connsiteX1-9" fmla="*/ 209550 w 374650"/>
              <a:gd name="connsiteY1-10" fmla="*/ 215900 h 259411"/>
              <a:gd name="connsiteX2-11" fmla="*/ 0 w 374650"/>
              <a:gd name="connsiteY2-12" fmla="*/ 0 h 259411"/>
              <a:gd name="connsiteX0-13" fmla="*/ 374650 w 374650"/>
              <a:gd name="connsiteY0-14" fmla="*/ 254000 h 254671"/>
              <a:gd name="connsiteX1-15" fmla="*/ 209550 w 374650"/>
              <a:gd name="connsiteY1-16" fmla="*/ 215900 h 254671"/>
              <a:gd name="connsiteX2-17" fmla="*/ 0 w 374650"/>
              <a:gd name="connsiteY2-18" fmla="*/ 0 h 254671"/>
              <a:gd name="connsiteX0-19" fmla="*/ 374650 w 374650"/>
              <a:gd name="connsiteY0-20" fmla="*/ 254000 h 254033"/>
              <a:gd name="connsiteX1-21" fmla="*/ 175891 w 374650"/>
              <a:gd name="connsiteY1-22" fmla="*/ 165412 h 254033"/>
              <a:gd name="connsiteX2-23" fmla="*/ 0 w 374650"/>
              <a:gd name="connsiteY2-24" fmla="*/ 0 h 254033"/>
              <a:gd name="connsiteX0-25" fmla="*/ 374650 w 374650"/>
              <a:gd name="connsiteY0-26" fmla="*/ 242781 h 242822"/>
              <a:gd name="connsiteX1-27" fmla="*/ 175891 w 374650"/>
              <a:gd name="connsiteY1-28" fmla="*/ 165412 h 242822"/>
              <a:gd name="connsiteX2-29" fmla="*/ 0 w 374650"/>
              <a:gd name="connsiteY2-30" fmla="*/ 0 h 242822"/>
              <a:gd name="connsiteX0-31" fmla="*/ 374650 w 374650"/>
              <a:gd name="connsiteY0-32" fmla="*/ 242781 h 243284"/>
              <a:gd name="connsiteX1-33" fmla="*/ 198330 w 374650"/>
              <a:gd name="connsiteY1-34" fmla="*/ 204681 h 243284"/>
              <a:gd name="connsiteX2-35" fmla="*/ 0 w 374650"/>
              <a:gd name="connsiteY2-36" fmla="*/ 0 h 243284"/>
              <a:gd name="connsiteX0-37" fmla="*/ 374650 w 849817"/>
              <a:gd name="connsiteY0-38" fmla="*/ 242781 h 242793"/>
              <a:gd name="connsiteX1-39" fmla="*/ 845203 w 849817"/>
              <a:gd name="connsiteY1-40" fmla="*/ 71648 h 242793"/>
              <a:gd name="connsiteX2-41" fmla="*/ 0 w 849817"/>
              <a:gd name="connsiteY2-42" fmla="*/ 0 h 242793"/>
              <a:gd name="connsiteX0-43" fmla="*/ 1403357 w 1403357"/>
              <a:gd name="connsiteY0-44" fmla="*/ 141315 h 141366"/>
              <a:gd name="connsiteX1-45" fmla="*/ 845203 w 1403357"/>
              <a:gd name="connsiteY1-46" fmla="*/ 71648 h 141366"/>
              <a:gd name="connsiteX2-47" fmla="*/ 0 w 1403357"/>
              <a:gd name="connsiteY2-48" fmla="*/ 0 h 141366"/>
              <a:gd name="connsiteX0-49" fmla="*/ 1403357 w 1403357"/>
              <a:gd name="connsiteY0-50" fmla="*/ 141315 h 141315"/>
              <a:gd name="connsiteX1-51" fmla="*/ 845203 w 1403357"/>
              <a:gd name="connsiteY1-52" fmla="*/ 71648 h 141315"/>
              <a:gd name="connsiteX2-53" fmla="*/ 0 w 1403357"/>
              <a:gd name="connsiteY2-54" fmla="*/ 0 h 141315"/>
              <a:gd name="connsiteX0-55" fmla="*/ 1403357 w 1403357"/>
              <a:gd name="connsiteY0-56" fmla="*/ 141315 h 141315"/>
              <a:gd name="connsiteX1-57" fmla="*/ 845203 w 1403357"/>
              <a:gd name="connsiteY1-58" fmla="*/ 71648 h 141315"/>
              <a:gd name="connsiteX2-59" fmla="*/ 0 w 1403357"/>
              <a:gd name="connsiteY2-60" fmla="*/ 0 h 141315"/>
              <a:gd name="connsiteX0-61" fmla="*/ 1403357 w 1403357"/>
              <a:gd name="connsiteY0-62" fmla="*/ 141315 h 141315"/>
              <a:gd name="connsiteX1-63" fmla="*/ 845203 w 1403357"/>
              <a:gd name="connsiteY1-64" fmla="*/ 71648 h 141315"/>
              <a:gd name="connsiteX2-65" fmla="*/ 0 w 1403357"/>
              <a:gd name="connsiteY2-66" fmla="*/ 0 h 141315"/>
              <a:gd name="connsiteX0-67" fmla="*/ 1403357 w 1403357"/>
              <a:gd name="connsiteY0-68" fmla="*/ 141315 h 141315"/>
              <a:gd name="connsiteX1-69" fmla="*/ 957507 w 1403357"/>
              <a:gd name="connsiteY1-70" fmla="*/ 31062 h 141315"/>
              <a:gd name="connsiteX2-71" fmla="*/ 0 w 1403357"/>
              <a:gd name="connsiteY2-72" fmla="*/ 0 h 141315"/>
              <a:gd name="connsiteX0-73" fmla="*/ 1403357 w 1403357"/>
              <a:gd name="connsiteY0-74" fmla="*/ 141315 h 141315"/>
              <a:gd name="connsiteX1-75" fmla="*/ 957507 w 1403357"/>
              <a:gd name="connsiteY1-76" fmla="*/ 31062 h 141315"/>
              <a:gd name="connsiteX2-77" fmla="*/ 0 w 1403357"/>
              <a:gd name="connsiteY2-78" fmla="*/ 0 h 141315"/>
              <a:gd name="connsiteX0-79" fmla="*/ 1403357 w 1403357"/>
              <a:gd name="connsiteY0-80" fmla="*/ 141542 h 141542"/>
              <a:gd name="connsiteX1-81" fmla="*/ 957507 w 1403357"/>
              <a:gd name="connsiteY1-82" fmla="*/ 31289 h 141542"/>
              <a:gd name="connsiteX2-83" fmla="*/ 0 w 1403357"/>
              <a:gd name="connsiteY2-84" fmla="*/ 227 h 141542"/>
              <a:gd name="connsiteX0-85" fmla="*/ 1160780 w 1160780"/>
              <a:gd name="connsiteY0-86" fmla="*/ 166259 h 166259"/>
              <a:gd name="connsiteX1-87" fmla="*/ 714930 w 1160780"/>
              <a:gd name="connsiteY1-88" fmla="*/ 56006 h 166259"/>
              <a:gd name="connsiteX2-89" fmla="*/ 0 w 1160780"/>
              <a:gd name="connsiteY2-90" fmla="*/ 142 h 166259"/>
              <a:gd name="connsiteX0-91" fmla="*/ 1160780 w 1160780"/>
              <a:gd name="connsiteY0-92" fmla="*/ 166519 h 166519"/>
              <a:gd name="connsiteX1-93" fmla="*/ 759852 w 1160780"/>
              <a:gd name="connsiteY1-94" fmla="*/ 13425 h 166519"/>
              <a:gd name="connsiteX2-95" fmla="*/ 0 w 1160780"/>
              <a:gd name="connsiteY2-96" fmla="*/ 402 h 166519"/>
              <a:gd name="connsiteX0-97" fmla="*/ 1160780 w 1160780"/>
              <a:gd name="connsiteY0-98" fmla="*/ 166519 h 166519"/>
              <a:gd name="connsiteX1-99" fmla="*/ 759852 w 1160780"/>
              <a:gd name="connsiteY1-100" fmla="*/ 13425 h 166519"/>
              <a:gd name="connsiteX2-101" fmla="*/ 0 w 1160780"/>
              <a:gd name="connsiteY2-102" fmla="*/ 402 h 166519"/>
              <a:gd name="connsiteX0-103" fmla="*/ 1160780 w 1160780"/>
              <a:gd name="connsiteY0-104" fmla="*/ 166755 h 166755"/>
              <a:gd name="connsiteX1-105" fmla="*/ 759852 w 1160780"/>
              <a:gd name="connsiteY1-106" fmla="*/ 13661 h 166755"/>
              <a:gd name="connsiteX2-107" fmla="*/ 0 w 1160780"/>
              <a:gd name="connsiteY2-108" fmla="*/ 638 h 166755"/>
              <a:gd name="connsiteX0-109" fmla="*/ 1160780 w 1160780"/>
              <a:gd name="connsiteY0-110" fmla="*/ 166755 h 166755"/>
              <a:gd name="connsiteX1-111" fmla="*/ 696962 w 1160780"/>
              <a:gd name="connsiteY1-112" fmla="*/ 13661 h 166755"/>
              <a:gd name="connsiteX2-113" fmla="*/ 0 w 1160780"/>
              <a:gd name="connsiteY2-114" fmla="*/ 638 h 166755"/>
            </a:gdLst>
            <a:ahLst/>
            <a:cxnLst>
              <a:cxn ang="0">
                <a:pos x="connsiteX0-1" y="connsiteY0-2"/>
              </a:cxn>
              <a:cxn ang="0">
                <a:pos x="connsiteX1-3" y="connsiteY1-4"/>
              </a:cxn>
              <a:cxn ang="0">
                <a:pos x="connsiteX2-5" y="connsiteY2-6"/>
              </a:cxn>
            </a:cxnLst>
            <a:rect l="l" t="t" r="r" b="b"/>
            <a:pathLst>
              <a:path w="1160780" h="166755">
                <a:moveTo>
                  <a:pt x="1160780" y="166755"/>
                </a:moveTo>
                <a:cubicBezTo>
                  <a:pt x="1091892" y="55495"/>
                  <a:pt x="988505" y="24812"/>
                  <a:pt x="696962" y="13661"/>
                </a:cubicBezTo>
                <a:cubicBezTo>
                  <a:pt x="445849" y="9275"/>
                  <a:pt x="195372" y="-2909"/>
                  <a:pt x="0" y="638"/>
                </a:cubicBezTo>
              </a:path>
            </a:pathLst>
          </a:custGeom>
          <a:noFill/>
          <a:ln>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9" name="直接连接符 48"/>
          <p:cNvCxnSpPr/>
          <p:nvPr/>
        </p:nvCxnSpPr>
        <p:spPr>
          <a:xfrm rot="19928571">
            <a:off x="2509891" y="4054606"/>
            <a:ext cx="3209324" cy="1121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rot="19928571">
            <a:off x="2500851" y="3796841"/>
            <a:ext cx="3218324" cy="13615"/>
          </a:xfrm>
          <a:prstGeom prst="line">
            <a:avLst/>
          </a:prstGeom>
          <a:ln w="952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rot="19928571">
            <a:off x="2500851" y="4314176"/>
            <a:ext cx="3218324" cy="13615"/>
          </a:xfrm>
          <a:prstGeom prst="line">
            <a:avLst/>
          </a:prstGeom>
          <a:ln w="952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2" name="椭圆 51"/>
          <p:cNvSpPr>
            <a:spLocks noChangeAspect="1"/>
          </p:cNvSpPr>
          <p:nvPr/>
        </p:nvSpPr>
        <p:spPr>
          <a:xfrm>
            <a:off x="2852054" y="4084848"/>
            <a:ext cx="139536" cy="13953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p:cNvSpPr>
            <a:spLocks noChangeAspect="1"/>
          </p:cNvSpPr>
          <p:nvPr/>
        </p:nvSpPr>
        <p:spPr>
          <a:xfrm>
            <a:off x="3334511" y="3432119"/>
            <a:ext cx="139536" cy="13953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a:spLocks noChangeAspect="1"/>
          </p:cNvSpPr>
          <p:nvPr/>
        </p:nvSpPr>
        <p:spPr>
          <a:xfrm>
            <a:off x="4032900" y="3443602"/>
            <a:ext cx="139536" cy="13953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a:spLocks noChangeAspect="1"/>
          </p:cNvSpPr>
          <p:nvPr/>
        </p:nvSpPr>
        <p:spPr>
          <a:xfrm>
            <a:off x="3242549" y="4270793"/>
            <a:ext cx="139536" cy="13953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a:spLocks noChangeAspect="1"/>
          </p:cNvSpPr>
          <p:nvPr/>
        </p:nvSpPr>
        <p:spPr>
          <a:xfrm>
            <a:off x="3638571" y="4097408"/>
            <a:ext cx="139536" cy="13953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p:cNvSpPr>
            <a:spLocks noChangeAspect="1"/>
          </p:cNvSpPr>
          <p:nvPr/>
        </p:nvSpPr>
        <p:spPr>
          <a:xfrm>
            <a:off x="4385217" y="3877860"/>
            <a:ext cx="139536" cy="13953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椭圆 57"/>
          <p:cNvSpPr>
            <a:spLocks noChangeAspect="1"/>
          </p:cNvSpPr>
          <p:nvPr/>
        </p:nvSpPr>
        <p:spPr>
          <a:xfrm>
            <a:off x="3568804" y="3768361"/>
            <a:ext cx="139536" cy="13953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a:spLocks noChangeAspect="1"/>
          </p:cNvSpPr>
          <p:nvPr/>
        </p:nvSpPr>
        <p:spPr>
          <a:xfrm>
            <a:off x="4626118" y="3325872"/>
            <a:ext cx="139536" cy="13953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a:spLocks noChangeAspect="1"/>
          </p:cNvSpPr>
          <p:nvPr/>
        </p:nvSpPr>
        <p:spPr>
          <a:xfrm>
            <a:off x="2933992" y="4887423"/>
            <a:ext cx="139536" cy="13953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椭圆 60"/>
          <p:cNvSpPr>
            <a:spLocks noChangeAspect="1"/>
          </p:cNvSpPr>
          <p:nvPr/>
        </p:nvSpPr>
        <p:spPr>
          <a:xfrm>
            <a:off x="3799464" y="4577470"/>
            <a:ext cx="139536" cy="13953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椭圆 61"/>
          <p:cNvSpPr>
            <a:spLocks noChangeAspect="1"/>
          </p:cNvSpPr>
          <p:nvPr/>
        </p:nvSpPr>
        <p:spPr>
          <a:xfrm>
            <a:off x="5051832" y="2883279"/>
            <a:ext cx="139536" cy="13953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椭圆 62"/>
          <p:cNvSpPr>
            <a:spLocks noChangeAspect="1"/>
          </p:cNvSpPr>
          <p:nvPr/>
        </p:nvSpPr>
        <p:spPr>
          <a:xfrm>
            <a:off x="4837988" y="4120343"/>
            <a:ext cx="139536" cy="13953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椭圆 63"/>
          <p:cNvSpPr>
            <a:spLocks noChangeAspect="1"/>
          </p:cNvSpPr>
          <p:nvPr/>
        </p:nvSpPr>
        <p:spPr>
          <a:xfrm>
            <a:off x="5313045" y="3769119"/>
            <a:ext cx="139536" cy="13953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椭圆 64"/>
          <p:cNvSpPr>
            <a:spLocks noChangeAspect="1"/>
          </p:cNvSpPr>
          <p:nvPr/>
        </p:nvSpPr>
        <p:spPr>
          <a:xfrm>
            <a:off x="4626118" y="3596352"/>
            <a:ext cx="139536" cy="139534"/>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任意多边形 65"/>
          <p:cNvSpPr/>
          <p:nvPr/>
        </p:nvSpPr>
        <p:spPr>
          <a:xfrm>
            <a:off x="2687102" y="3061120"/>
            <a:ext cx="2845213" cy="2008353"/>
          </a:xfrm>
          <a:custGeom>
            <a:avLst/>
            <a:gdLst>
              <a:gd name="connsiteX0" fmla="*/ 0 w 2202180"/>
              <a:gd name="connsiteY0" fmla="*/ 1143000 h 1554480"/>
              <a:gd name="connsiteX1" fmla="*/ 7620 w 2202180"/>
              <a:gd name="connsiteY1" fmla="*/ 1554480 h 1554480"/>
              <a:gd name="connsiteX2" fmla="*/ 2202180 w 2202180"/>
              <a:gd name="connsiteY2" fmla="*/ 403860 h 1554480"/>
              <a:gd name="connsiteX3" fmla="*/ 2194560 w 2202180"/>
              <a:gd name="connsiteY3" fmla="*/ 0 h 1554480"/>
              <a:gd name="connsiteX4" fmla="*/ 0 w 2202180"/>
              <a:gd name="connsiteY4" fmla="*/ 1143000 h 1554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2180" h="1554480">
                <a:moveTo>
                  <a:pt x="0" y="1143000"/>
                </a:moveTo>
                <a:lnTo>
                  <a:pt x="7620" y="1554480"/>
                </a:lnTo>
                <a:lnTo>
                  <a:pt x="2202180" y="403860"/>
                </a:lnTo>
                <a:lnTo>
                  <a:pt x="2194560" y="0"/>
                </a:lnTo>
                <a:lnTo>
                  <a:pt x="0" y="1143000"/>
                </a:lnTo>
                <a:close/>
              </a:path>
            </a:pathLst>
          </a:custGeom>
          <a:solidFill>
            <a:srgbClr val="FF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95" name="对象 94"/>
          <p:cNvGraphicFramePr>
            <a:graphicFrameLocks noChangeAspect="1"/>
          </p:cNvGraphicFramePr>
          <p:nvPr/>
        </p:nvGraphicFramePr>
        <p:xfrm>
          <a:off x="5237357" y="1224996"/>
          <a:ext cx="290912" cy="324000"/>
        </p:xfrm>
        <a:graphic>
          <a:graphicData uri="http://schemas.openxmlformats.org/presentationml/2006/ole">
            <mc:AlternateContent xmlns:mc="http://schemas.openxmlformats.org/markup-compatibility/2006">
              <mc:Choice xmlns:v="urn:schemas-microsoft-com:vml" Requires="v">
                <p:oleObj spid="_x0000_s8" name="Formula" r:id="rId11" imgW="1038225" imgH="1152525" progId="Equation.Ribbit">
                  <p:embed/>
                </p:oleObj>
              </mc:Choice>
              <mc:Fallback>
                <p:oleObj name="Formula" r:id="rId11" imgW="1038225" imgH="1152525" progId="Equation.Ribbit">
                  <p:embed/>
                  <p:pic>
                    <p:nvPicPr>
                      <p:cNvPr id="0" name="图片 7"/>
                      <p:cNvPicPr/>
                      <p:nvPr/>
                    </p:nvPicPr>
                    <p:blipFill>
                      <a:blip r:embed="rId12"/>
                      <a:stretch>
                        <a:fillRect/>
                      </a:stretch>
                    </p:blipFill>
                    <p:spPr>
                      <a:xfrm>
                        <a:off x="5237357" y="1224996"/>
                        <a:ext cx="290912" cy="324000"/>
                      </a:xfrm>
                      <a:prstGeom prst="rect">
                        <a:avLst/>
                      </a:prstGeom>
                    </p:spPr>
                  </p:pic>
                </p:oleObj>
              </mc:Fallback>
            </mc:AlternateContent>
          </a:graphicData>
        </a:graphic>
      </p:graphicFrame>
      <p:sp>
        <p:nvSpPr>
          <p:cNvPr id="67" name="内容占位符 3"/>
          <p:cNvSpPr txBox="1"/>
          <p:nvPr/>
        </p:nvSpPr>
        <p:spPr>
          <a:xfrm>
            <a:off x="1643703" y="4623358"/>
            <a:ext cx="1027380" cy="451134"/>
          </a:xfrm>
          <a:prstGeom prst="rect">
            <a:avLst/>
          </a:prstGeom>
        </p:spPr>
        <p:txBody>
          <a:bodyPr vert="horz" lIns="91440" tIns="46800" rIns="91440" bIns="45720" rtlCol="0">
            <a:normAutofit/>
          </a:bodyPr>
          <a:lstStyle>
            <a:lvl1pPr marL="228600" indent="-360045" algn="l" defTabSz="914400" rtl="0" eaLnBrk="1" latinLnBrk="0" hangingPunct="1">
              <a:lnSpc>
                <a:spcPct val="90000"/>
              </a:lnSpc>
              <a:spcBef>
                <a:spcPts val="1000"/>
              </a:spcBef>
              <a:buClr>
                <a:schemeClr val="tx2"/>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rgbClr val="023A9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rgbClr val="023A9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rgbClr val="023A9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rgbClr val="023A9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b="1" dirty="0">
                <a:latin typeface="黑体" panose="02010609060101010101" pitchFamily="49" charset="-122"/>
                <a:ea typeface="黑体" panose="02010609060101010101" pitchFamily="49" charset="-122"/>
              </a:rPr>
              <a:t>间隔带</a:t>
            </a:r>
            <a:endParaRPr lang="zh-CN" altLang="en-US" b="1" dirty="0">
              <a:latin typeface="黑体" panose="02010609060101010101" pitchFamily="49" charset="-122"/>
              <a:ea typeface="黑体" panose="02010609060101010101" pitchFamily="49" charset="-122"/>
            </a:endParaRPr>
          </a:p>
        </p:txBody>
      </p:sp>
      <p:graphicFrame>
        <p:nvGraphicFramePr>
          <p:cNvPr id="68" name="对象 67"/>
          <p:cNvGraphicFramePr>
            <a:graphicFrameLocks noChangeAspect="1"/>
          </p:cNvGraphicFramePr>
          <p:nvPr/>
        </p:nvGraphicFramePr>
        <p:xfrm>
          <a:off x="1346259" y="4686925"/>
          <a:ext cx="290912" cy="324000"/>
        </p:xfrm>
        <a:graphic>
          <a:graphicData uri="http://schemas.openxmlformats.org/presentationml/2006/ole">
            <mc:AlternateContent xmlns:mc="http://schemas.openxmlformats.org/markup-compatibility/2006">
              <mc:Choice xmlns:v="urn:schemas-microsoft-com:vml" Requires="v">
                <p:oleObj spid="_x0000_s9" name="Formula" r:id="rId13" imgW="1038225" imgH="1152525" progId="Equation.Ribbit">
                  <p:embed/>
                </p:oleObj>
              </mc:Choice>
              <mc:Fallback>
                <p:oleObj name="Formula" r:id="rId13" imgW="1038225" imgH="1152525" progId="Equation.Ribbit">
                  <p:embed/>
                  <p:pic>
                    <p:nvPicPr>
                      <p:cNvPr id="0" name="图片 8"/>
                      <p:cNvPicPr/>
                      <p:nvPr/>
                    </p:nvPicPr>
                    <p:blipFill>
                      <a:blip r:embed="rId12"/>
                      <a:stretch>
                        <a:fillRect/>
                      </a:stretch>
                    </p:blipFill>
                    <p:spPr>
                      <a:xfrm>
                        <a:off x="1346259" y="4686925"/>
                        <a:ext cx="290912" cy="324000"/>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fade">
                                      <p:cBhvr>
                                        <p:cTn id="7" dur="500"/>
                                        <p:tgtEl>
                                          <p:spTgt spid="4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8"/>
                                        </p:tgtEl>
                                        <p:attrNameLst>
                                          <p:attrName>style.visibility</p:attrName>
                                        </p:attrNameLst>
                                      </p:cBhvr>
                                      <p:to>
                                        <p:strVal val="visible"/>
                                      </p:to>
                                    </p:set>
                                    <p:animEffect transition="in" filter="fade">
                                      <p:cBhvr>
                                        <p:cTn id="12" dur="500"/>
                                        <p:tgtEl>
                                          <p:spTgt spid="48"/>
                                        </p:tgtEl>
                                      </p:cBhvr>
                                    </p:animEffect>
                                  </p:childTnLst>
                                </p:cTn>
                              </p:par>
                              <p:par>
                                <p:cTn id="13" presetID="10" presetClass="entr" presetSubtype="0" fill="hold" nodeType="withEffect">
                                  <p:stCondLst>
                                    <p:cond delay="0"/>
                                  </p:stCondLst>
                                  <p:childTnLst>
                                    <p:set>
                                      <p:cBhvr>
                                        <p:cTn id="14" dur="1" fill="hold">
                                          <p:stCondLst>
                                            <p:cond delay="0"/>
                                          </p:stCondLst>
                                        </p:cTn>
                                        <p:tgtEl>
                                          <p:spTgt spid="45"/>
                                        </p:tgtEl>
                                        <p:attrNameLst>
                                          <p:attrName>style.visibility</p:attrName>
                                        </p:attrNameLst>
                                      </p:cBhvr>
                                      <p:to>
                                        <p:strVal val="visible"/>
                                      </p:to>
                                    </p:set>
                                    <p:animEffect transition="in" filter="fade">
                                      <p:cBhvr>
                                        <p:cTn id="15" dur="500"/>
                                        <p:tgtEl>
                                          <p:spTgt spid="4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50"/>
                                        </p:tgtEl>
                                        <p:attrNameLst>
                                          <p:attrName>style.visibility</p:attrName>
                                        </p:attrNameLst>
                                      </p:cBhvr>
                                      <p:to>
                                        <p:strVal val="visible"/>
                                      </p:to>
                                    </p:set>
                                    <p:animEffect transition="in" filter="fade">
                                      <p:cBhvr>
                                        <p:cTn id="20" dur="500"/>
                                        <p:tgtEl>
                                          <p:spTgt spid="50"/>
                                        </p:tgtEl>
                                      </p:cBhvr>
                                    </p:animEffect>
                                  </p:childTnLst>
                                </p:cTn>
                              </p:par>
                              <p:par>
                                <p:cTn id="21" presetID="10" presetClass="entr" presetSubtype="0" fill="hold" nodeType="withEffect">
                                  <p:stCondLst>
                                    <p:cond delay="0"/>
                                  </p:stCondLst>
                                  <p:childTnLst>
                                    <p:set>
                                      <p:cBhvr>
                                        <p:cTn id="22" dur="1" fill="hold">
                                          <p:stCondLst>
                                            <p:cond delay="0"/>
                                          </p:stCondLst>
                                        </p:cTn>
                                        <p:tgtEl>
                                          <p:spTgt spid="51"/>
                                        </p:tgtEl>
                                        <p:attrNameLst>
                                          <p:attrName>style.visibility</p:attrName>
                                        </p:attrNameLst>
                                      </p:cBhvr>
                                      <p:to>
                                        <p:strVal val="visible"/>
                                      </p:to>
                                    </p:set>
                                    <p:animEffect transition="in" filter="fade">
                                      <p:cBhvr>
                                        <p:cTn id="23" dur="500"/>
                                        <p:tgtEl>
                                          <p:spTgt spid="5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66"/>
                                        </p:tgtEl>
                                        <p:attrNameLst>
                                          <p:attrName>style.visibility</p:attrName>
                                        </p:attrNameLst>
                                      </p:cBhvr>
                                      <p:to>
                                        <p:strVal val="visible"/>
                                      </p:to>
                                    </p:set>
                                    <p:animEffect transition="in" filter="fade">
                                      <p:cBhvr>
                                        <p:cTn id="26" dur="500"/>
                                        <p:tgtEl>
                                          <p:spTgt spid="66"/>
                                        </p:tgtEl>
                                      </p:cBhvr>
                                    </p:animEffect>
                                  </p:childTnLst>
                                </p:cTn>
                              </p:par>
                              <p:par>
                                <p:cTn id="27" presetID="10" presetClass="entr" presetSubtype="0" fill="hold" nodeType="withEffect">
                                  <p:stCondLst>
                                    <p:cond delay="0"/>
                                  </p:stCondLst>
                                  <p:childTnLst>
                                    <p:set>
                                      <p:cBhvr>
                                        <p:cTn id="28" dur="1" fill="hold">
                                          <p:stCondLst>
                                            <p:cond delay="0"/>
                                          </p:stCondLst>
                                        </p:cTn>
                                        <p:tgtEl>
                                          <p:spTgt spid="68"/>
                                        </p:tgtEl>
                                        <p:attrNameLst>
                                          <p:attrName>style.visibility</p:attrName>
                                        </p:attrNameLst>
                                      </p:cBhvr>
                                      <p:to>
                                        <p:strVal val="visible"/>
                                      </p:to>
                                    </p:set>
                                    <p:animEffect transition="in" filter="fade">
                                      <p:cBhvr>
                                        <p:cTn id="29" dur="500"/>
                                        <p:tgtEl>
                                          <p:spTgt spid="6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67"/>
                                        </p:tgtEl>
                                        <p:attrNameLst>
                                          <p:attrName>style.visibility</p:attrName>
                                        </p:attrNameLst>
                                      </p:cBhvr>
                                      <p:to>
                                        <p:strVal val="visible"/>
                                      </p:to>
                                    </p:set>
                                    <p:animEffect transition="in" filter="fade">
                                      <p:cBhvr>
                                        <p:cTn id="32" dur="500"/>
                                        <p:tgtEl>
                                          <p:spTgt spid="6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6"/>
                                        </p:tgtEl>
                                        <p:attrNameLst>
                                          <p:attrName>style.visibility</p:attrName>
                                        </p:attrNameLst>
                                      </p:cBhvr>
                                      <p:to>
                                        <p:strVal val="visible"/>
                                      </p:to>
                                    </p:set>
                                    <p:animEffect transition="in" filter="fade">
                                      <p:cBhvr>
                                        <p:cTn id="37" dur="500"/>
                                        <p:tgtEl>
                                          <p:spTgt spid="46"/>
                                        </p:tgtEl>
                                      </p:cBhvr>
                                    </p:animEffect>
                                  </p:childTnLst>
                                </p:cTn>
                              </p:par>
                              <p:par>
                                <p:cTn id="38" presetID="10" presetClass="entr" presetSubtype="0" fill="hold" nodeType="withEffect">
                                  <p:stCondLst>
                                    <p:cond delay="0"/>
                                  </p:stCondLst>
                                  <p:childTnLst>
                                    <p:set>
                                      <p:cBhvr>
                                        <p:cTn id="39" dur="1" fill="hold">
                                          <p:stCondLst>
                                            <p:cond delay="0"/>
                                          </p:stCondLst>
                                        </p:cTn>
                                        <p:tgtEl>
                                          <p:spTgt spid="44"/>
                                        </p:tgtEl>
                                        <p:attrNameLst>
                                          <p:attrName>style.visibility</p:attrName>
                                        </p:attrNameLst>
                                      </p:cBhvr>
                                      <p:to>
                                        <p:strVal val="visible"/>
                                      </p:to>
                                    </p:set>
                                    <p:animEffect transition="in" filter="fade">
                                      <p:cBhvr>
                                        <p:cTn id="40" dur="500"/>
                                        <p:tgtEl>
                                          <p:spTgt spid="44"/>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47"/>
                                        </p:tgtEl>
                                        <p:attrNameLst>
                                          <p:attrName>style.visibility</p:attrName>
                                        </p:attrNameLst>
                                      </p:cBhvr>
                                      <p:to>
                                        <p:strVal val="visible"/>
                                      </p:to>
                                    </p:set>
                                    <p:animEffect transition="in" filter="fade">
                                      <p:cBhvr>
                                        <p:cTn id="45" dur="500"/>
                                        <p:tgtEl>
                                          <p:spTgt spid="47"/>
                                        </p:tgtEl>
                                      </p:cBhvr>
                                    </p:animEffect>
                                  </p:childTnLst>
                                </p:cTn>
                              </p:par>
                              <p:par>
                                <p:cTn id="46" presetID="10" presetClass="entr" presetSubtype="0" fill="hold" nodeType="withEffect">
                                  <p:stCondLst>
                                    <p:cond delay="0"/>
                                  </p:stCondLst>
                                  <p:childTnLst>
                                    <p:set>
                                      <p:cBhvr>
                                        <p:cTn id="47" dur="1" fill="hold">
                                          <p:stCondLst>
                                            <p:cond delay="0"/>
                                          </p:stCondLst>
                                        </p:cTn>
                                        <p:tgtEl>
                                          <p:spTgt spid="43"/>
                                        </p:tgtEl>
                                        <p:attrNameLst>
                                          <p:attrName>style.visibility</p:attrName>
                                        </p:attrNameLst>
                                      </p:cBhvr>
                                      <p:to>
                                        <p:strVal val="visible"/>
                                      </p:to>
                                    </p:set>
                                    <p:animEffect transition="in" filter="fade">
                                      <p:cBhvr>
                                        <p:cTn id="48"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P spid="47" grpId="0" animBg="1"/>
      <p:bldP spid="48" grpId="0" animBg="1"/>
      <p:bldP spid="66" grpId="0" animBg="1"/>
      <p:bldP spid="67"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z="3600" b="1" i="0" u="none" strike="noStrike" kern="1200" cap="none" spc="0" normalizeH="0" baseline="0" noProof="0" dirty="0">
                <a:ln>
                  <a:noFill/>
                </a:ln>
                <a:solidFill>
                  <a:srgbClr val="16754D"/>
                </a:solidFill>
                <a:effectLst>
                  <a:outerShdw blurRad="38100" dist="38100" dir="2700000" algn="tl">
                    <a:srgbClr val="000000">
                      <a:alpha val="43137"/>
                    </a:srgbClr>
                  </a:outerShdw>
                </a:effectLst>
                <a:uLnTx/>
                <a:uFillTx/>
                <a:latin typeface="黑体" panose="02010609060101010101" pitchFamily="49" charset="-122"/>
                <a:ea typeface="黑体" panose="02010609060101010101" pitchFamily="49" charset="-122"/>
                <a:cs typeface="+mj-cs"/>
              </a:rPr>
              <a:t>支持向量回归</a:t>
            </a:r>
            <a:r>
              <a:rPr kumimoji="0" lang="en-US" altLang="zh-CN" sz="3600" b="1" i="0" u="none" strike="noStrike" kern="1200" cap="none" spc="0" normalizeH="0" baseline="0" noProof="0" dirty="0">
                <a:ln>
                  <a:noFill/>
                </a:ln>
                <a:solidFill>
                  <a:srgbClr val="16754D"/>
                </a:solidFill>
                <a:effectLst>
                  <a:outerShdw blurRad="38100" dist="38100" dir="2700000" algn="tl">
                    <a:srgbClr val="000000">
                      <a:alpha val="43137"/>
                    </a:srgbClr>
                  </a:outerShdw>
                </a:effectLst>
                <a:uLnTx/>
                <a:uFillTx/>
                <a:latin typeface="黑体" panose="02010609060101010101" pitchFamily="49" charset="-122"/>
                <a:ea typeface="黑体" panose="02010609060101010101" pitchFamily="49" charset="-122"/>
                <a:cs typeface="+mj-cs"/>
              </a:rPr>
              <a:t>(SVR)</a:t>
            </a:r>
            <a:endParaRPr lang="zh-CN" altLang="en-US" dirty="0"/>
          </a:p>
        </p:txBody>
      </p:sp>
      <p:sp>
        <p:nvSpPr>
          <p:cNvPr id="9" name="文本框 8"/>
          <p:cNvSpPr txBox="1"/>
          <p:nvPr/>
        </p:nvSpPr>
        <p:spPr>
          <a:xfrm>
            <a:off x="260350" y="1008460"/>
            <a:ext cx="8487724" cy="397032"/>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0"/>
              </a:spcAft>
              <a:buClr>
                <a:srgbClr val="16754D"/>
              </a:buClr>
              <a:buSzPct val="100000"/>
              <a:buFont typeface="Wingdings" panose="05000000000000000000" pitchFamily="2" charset="2"/>
              <a:buNone/>
              <a:defRPr/>
            </a:pPr>
            <a:r>
              <a:rPr kumimoji="0" lang="zh-CN" altLang="en-US" sz="2200" b="1"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rPr>
              <a:t>落入中间    间隔带的样本不计算损失</a:t>
            </a:r>
            <a:r>
              <a:rPr kumimoji="0" lang="en-US" altLang="zh-CN" sz="2200" b="1"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rPr>
              <a:t>, </a:t>
            </a:r>
            <a:r>
              <a:rPr kumimoji="0" lang="zh-CN" altLang="en-US" sz="2200" b="1"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rPr>
              <a:t>从而使得模型获得稀疏性</a:t>
            </a:r>
            <a:r>
              <a:rPr kumimoji="0" lang="en-US" altLang="zh-CN" sz="2200" b="1"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rPr>
              <a:t>.</a:t>
            </a:r>
            <a:endParaRPr kumimoji="0" lang="zh-CN" altLang="en-US" sz="2200" b="1"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endParaRPr>
          </a:p>
        </p:txBody>
      </p:sp>
      <p:graphicFrame>
        <p:nvGraphicFramePr>
          <p:cNvPr id="11" name="对象 10"/>
          <p:cNvGraphicFramePr>
            <a:graphicFrameLocks noChangeAspect="1"/>
          </p:cNvGraphicFramePr>
          <p:nvPr/>
        </p:nvGraphicFramePr>
        <p:xfrm>
          <a:off x="1630363" y="1081088"/>
          <a:ext cx="290512" cy="323850"/>
        </p:xfrm>
        <a:graphic>
          <a:graphicData uri="http://schemas.openxmlformats.org/presentationml/2006/ole">
            <mc:AlternateContent xmlns:mc="http://schemas.openxmlformats.org/markup-compatibility/2006">
              <mc:Choice xmlns:v="urn:schemas-microsoft-com:vml" Requires="v">
                <p:oleObj spid="_x0000_s32" name="Formula" r:id="rId1" imgW="1038225" imgH="1152525" progId="Equation.Ribbit">
                  <p:embed/>
                </p:oleObj>
              </mc:Choice>
              <mc:Fallback>
                <p:oleObj name="Formula" r:id="rId1" imgW="1038225" imgH="1152525" progId="Equation.Ribbit">
                  <p:embed/>
                  <p:pic>
                    <p:nvPicPr>
                      <p:cNvPr id="0" name="对象 94"/>
                      <p:cNvPicPr/>
                      <p:nvPr/>
                    </p:nvPicPr>
                    <p:blipFill>
                      <a:blip r:embed="rId2"/>
                      <a:stretch>
                        <a:fillRect/>
                      </a:stretch>
                    </p:blipFill>
                    <p:spPr>
                      <a:xfrm>
                        <a:off x="1630363" y="1081088"/>
                        <a:ext cx="290512" cy="323850"/>
                      </a:xfrm>
                      <a:prstGeom prst="rect">
                        <a:avLst/>
                      </a:prstGeom>
                    </p:spPr>
                  </p:pic>
                </p:oleObj>
              </mc:Fallback>
            </mc:AlternateContent>
          </a:graphicData>
        </a:graphic>
      </p:graphicFrame>
      <p:sp>
        <p:nvSpPr>
          <p:cNvPr id="3" name="文本框 2"/>
          <p:cNvSpPr txBox="1"/>
          <p:nvPr/>
        </p:nvSpPr>
        <p:spPr>
          <a:xfrm>
            <a:off x="355988" y="1513979"/>
            <a:ext cx="7791062" cy="430887"/>
          </a:xfrm>
          <a:prstGeom prst="rect">
            <a:avLst/>
          </a:prstGeom>
          <a:noFill/>
        </p:spPr>
        <p:txBody>
          <a:bodyPr wrap="square" rtlCol="0">
            <a:spAutoFit/>
          </a:bodyPr>
          <a:lstStyle/>
          <a:p>
            <a:r>
              <a:rPr lang="en-US" altLang="zh-CN" sz="2200" b="1" dirty="0">
                <a:solidFill>
                  <a:prstClr val="black"/>
                </a:solidFill>
                <a:latin typeface="黑体" panose="02010609060101010101" pitchFamily="49" charset="-122"/>
                <a:ea typeface="黑体" panose="02010609060101010101" pitchFamily="49" charset="-122"/>
              </a:rPr>
              <a:t>SVR</a:t>
            </a:r>
            <a:r>
              <a:rPr lang="zh-CN" altLang="en-US" sz="2200" b="1" dirty="0">
                <a:solidFill>
                  <a:prstClr val="black"/>
                </a:solidFill>
                <a:latin typeface="黑体" panose="02010609060101010101" pitchFamily="49" charset="-122"/>
                <a:ea typeface="黑体" panose="02010609060101010101" pitchFamily="49" charset="-122"/>
              </a:rPr>
              <a:t>问题可形式化为</a:t>
            </a:r>
            <a:endParaRPr lang="zh-CN" altLang="en-US" sz="2200" b="1" dirty="0">
              <a:solidFill>
                <a:prstClr val="black"/>
              </a:solidFill>
              <a:latin typeface="黑体" panose="02010609060101010101" pitchFamily="49" charset="-122"/>
              <a:ea typeface="黑体" panose="02010609060101010101" pitchFamily="49" charset="-122"/>
            </a:endParaRPr>
          </a:p>
        </p:txBody>
      </p:sp>
      <p:pic>
        <p:nvPicPr>
          <p:cNvPr id="6" name="图片 5"/>
          <p:cNvPicPr>
            <a:picLocks noChangeAspect="1"/>
          </p:cNvPicPr>
          <p:nvPr/>
        </p:nvPicPr>
        <p:blipFill>
          <a:blip r:embed="rId3"/>
          <a:stretch>
            <a:fillRect/>
          </a:stretch>
        </p:blipFill>
        <p:spPr>
          <a:xfrm>
            <a:off x="2400300" y="1796287"/>
            <a:ext cx="4621334" cy="979096"/>
          </a:xfrm>
          <a:prstGeom prst="rect">
            <a:avLst/>
          </a:prstGeom>
        </p:spPr>
      </p:pic>
      <p:sp>
        <p:nvSpPr>
          <p:cNvPr id="8" name="文本框 7"/>
          <p:cNvSpPr txBox="1"/>
          <p:nvPr/>
        </p:nvSpPr>
        <p:spPr>
          <a:xfrm>
            <a:off x="355989" y="3139004"/>
            <a:ext cx="8487724" cy="769441"/>
          </a:xfrm>
          <a:prstGeom prst="rect">
            <a:avLst/>
          </a:prstGeom>
          <a:noFill/>
        </p:spPr>
        <p:txBody>
          <a:bodyPr wrap="square" rtlCol="0">
            <a:spAutoFit/>
          </a:bodyPr>
          <a:lstStyle/>
          <a:p>
            <a:r>
              <a:rPr lang="zh-CN" altLang="en-US" sz="2200" dirty="0">
                <a:solidFill>
                  <a:prstClr val="black"/>
                </a:solidFill>
                <a:latin typeface="黑体" panose="02010609060101010101" pitchFamily="49" charset="-122"/>
                <a:ea typeface="黑体" panose="02010609060101010101" pitchFamily="49" charset="-122"/>
              </a:rPr>
              <a:t>其中</a:t>
            </a:r>
            <a:r>
              <a:rPr lang="en-US" altLang="zh-CN" sz="2200" i="1" dirty="0">
                <a:solidFill>
                  <a:prstClr val="black"/>
                </a:solidFill>
                <a:latin typeface="Times "/>
                <a:ea typeface="黑体" panose="02010609060101010101" pitchFamily="49" charset="-122"/>
              </a:rPr>
              <a:t>C</a:t>
            </a:r>
            <a:r>
              <a:rPr lang="zh-CN" altLang="en-US" sz="2200" dirty="0">
                <a:solidFill>
                  <a:prstClr val="black"/>
                </a:solidFill>
                <a:latin typeface="Times "/>
                <a:ea typeface="黑体" panose="02010609060101010101" pitchFamily="49" charset="-122"/>
              </a:rPr>
              <a:t>为正则化常数，   是图</a:t>
            </a:r>
            <a:r>
              <a:rPr lang="en-US" altLang="zh-CN" sz="2200" dirty="0">
                <a:solidFill>
                  <a:prstClr val="black"/>
                </a:solidFill>
                <a:latin typeface="Times "/>
                <a:ea typeface="黑体" panose="02010609060101010101" pitchFamily="49" charset="-122"/>
              </a:rPr>
              <a:t>6.7</a:t>
            </a:r>
            <a:r>
              <a:rPr lang="zh-CN" altLang="en-US" sz="2200" dirty="0">
                <a:solidFill>
                  <a:prstClr val="black"/>
                </a:solidFill>
                <a:latin typeface="Times "/>
                <a:ea typeface="黑体" panose="02010609060101010101" pitchFamily="49" charset="-122"/>
              </a:rPr>
              <a:t>所示的    </a:t>
            </a:r>
            <a:r>
              <a:rPr lang="en-US" altLang="zh-CN" sz="2200" dirty="0">
                <a:solidFill>
                  <a:prstClr val="black"/>
                </a:solidFill>
                <a:latin typeface="Times "/>
                <a:ea typeface="黑体" panose="02010609060101010101" pitchFamily="49" charset="-122"/>
              </a:rPr>
              <a:t>-</a:t>
            </a:r>
            <a:r>
              <a:rPr lang="zh-CN" altLang="en-US" sz="2200" dirty="0">
                <a:solidFill>
                  <a:prstClr val="black"/>
                </a:solidFill>
                <a:latin typeface="Times "/>
                <a:ea typeface="黑体" panose="02010609060101010101" pitchFamily="49" charset="-122"/>
              </a:rPr>
              <a:t>不敏感损失（   </a:t>
            </a:r>
            <a:r>
              <a:rPr lang="en-US" altLang="zh-CN" sz="2200" dirty="0">
                <a:solidFill>
                  <a:prstClr val="black"/>
                </a:solidFill>
                <a:latin typeface="Times "/>
                <a:ea typeface="黑体" panose="02010609060101010101" pitchFamily="49" charset="-122"/>
              </a:rPr>
              <a:t>-insensitive loss</a:t>
            </a:r>
            <a:r>
              <a:rPr lang="zh-CN" altLang="en-US" sz="2200" dirty="0">
                <a:solidFill>
                  <a:prstClr val="black"/>
                </a:solidFill>
                <a:latin typeface="Times "/>
                <a:ea typeface="黑体" panose="02010609060101010101" pitchFamily="49" charset="-122"/>
              </a:rPr>
              <a:t>）</a:t>
            </a:r>
            <a:endParaRPr lang="zh-CN" altLang="en-US" sz="2200" dirty="0">
              <a:solidFill>
                <a:prstClr val="black"/>
              </a:solidFill>
              <a:latin typeface="Times "/>
              <a:ea typeface="黑体" panose="02010609060101010101" pitchFamily="49" charset="-122"/>
            </a:endParaRPr>
          </a:p>
        </p:txBody>
      </p:sp>
      <p:graphicFrame>
        <p:nvGraphicFramePr>
          <p:cNvPr id="10" name="对象 9"/>
          <p:cNvGraphicFramePr>
            <a:graphicFrameLocks noChangeAspect="1"/>
          </p:cNvGraphicFramePr>
          <p:nvPr/>
        </p:nvGraphicFramePr>
        <p:xfrm>
          <a:off x="3035265" y="3139004"/>
          <a:ext cx="299260" cy="468407"/>
        </p:xfrm>
        <a:graphic>
          <a:graphicData uri="http://schemas.openxmlformats.org/presentationml/2006/ole">
            <mc:AlternateContent xmlns:mc="http://schemas.openxmlformats.org/markup-compatibility/2006">
              <mc:Choice xmlns:v="urn:schemas-microsoft-com:vml" Requires="v">
                <p:oleObj spid="_x0000_s4" name="AxMath" r:id="rId4" imgW="1143000" imgH="1143000" progId="Equation.AxMath">
                  <p:embed/>
                </p:oleObj>
              </mc:Choice>
              <mc:Fallback>
                <p:oleObj name="AxMath" r:id="rId4" imgW="1143000" imgH="1143000" progId="Equation.AxMath">
                  <p:embed/>
                  <p:pic>
                    <p:nvPicPr>
                      <p:cNvPr id="0" name="图片 3"/>
                      <p:cNvPicPr/>
                      <p:nvPr/>
                    </p:nvPicPr>
                    <p:blipFill>
                      <a:blip r:embed="rId5"/>
                      <a:stretch>
                        <a:fillRect/>
                      </a:stretch>
                    </p:blipFill>
                    <p:spPr>
                      <a:xfrm>
                        <a:off x="3035265" y="3139004"/>
                        <a:ext cx="299260" cy="468407"/>
                      </a:xfrm>
                      <a:prstGeom prst="rect">
                        <a:avLst/>
                      </a:prstGeom>
                    </p:spPr>
                  </p:pic>
                </p:oleObj>
              </mc:Fallback>
            </mc:AlternateContent>
          </a:graphicData>
        </a:graphic>
      </p:graphicFrame>
      <p:graphicFrame>
        <p:nvGraphicFramePr>
          <p:cNvPr id="12" name="对象 11"/>
          <p:cNvGraphicFramePr>
            <a:graphicFrameLocks noChangeAspect="1"/>
          </p:cNvGraphicFramePr>
          <p:nvPr/>
        </p:nvGraphicFramePr>
        <p:xfrm>
          <a:off x="5138220" y="3101075"/>
          <a:ext cx="219075" cy="505287"/>
        </p:xfrm>
        <a:graphic>
          <a:graphicData uri="http://schemas.openxmlformats.org/presentationml/2006/ole">
            <mc:AlternateContent xmlns:mc="http://schemas.openxmlformats.org/markup-compatibility/2006">
              <mc:Choice xmlns:v="urn:schemas-microsoft-com:vml" Requires="v">
                <p:oleObj spid="_x0000_s5" name="AxMath" r:id="rId6" imgW="1143000" imgH="1143000" progId="Equation.AxMath">
                  <p:embed/>
                </p:oleObj>
              </mc:Choice>
              <mc:Fallback>
                <p:oleObj name="AxMath" r:id="rId6" imgW="1143000" imgH="1143000" progId="Equation.AxMath">
                  <p:embed/>
                  <p:pic>
                    <p:nvPicPr>
                      <p:cNvPr id="0" name="图片 4"/>
                      <p:cNvPicPr/>
                      <p:nvPr/>
                    </p:nvPicPr>
                    <p:blipFill>
                      <a:blip r:embed="rId7"/>
                      <a:stretch>
                        <a:fillRect/>
                      </a:stretch>
                    </p:blipFill>
                    <p:spPr>
                      <a:xfrm>
                        <a:off x="5138220" y="3101075"/>
                        <a:ext cx="219075" cy="505287"/>
                      </a:xfrm>
                      <a:prstGeom prst="rect">
                        <a:avLst/>
                      </a:prstGeom>
                    </p:spPr>
                  </p:pic>
                </p:oleObj>
              </mc:Fallback>
            </mc:AlternateContent>
          </a:graphicData>
        </a:graphic>
      </p:graphicFrame>
      <p:graphicFrame>
        <p:nvGraphicFramePr>
          <p:cNvPr id="13" name="对象 12"/>
          <p:cNvGraphicFramePr>
            <a:graphicFrameLocks noChangeAspect="1"/>
          </p:cNvGraphicFramePr>
          <p:nvPr/>
        </p:nvGraphicFramePr>
        <p:xfrm>
          <a:off x="7160990" y="3101075"/>
          <a:ext cx="219075" cy="505287"/>
        </p:xfrm>
        <a:graphic>
          <a:graphicData uri="http://schemas.openxmlformats.org/presentationml/2006/ole">
            <mc:AlternateContent xmlns:mc="http://schemas.openxmlformats.org/markup-compatibility/2006">
              <mc:Choice xmlns:v="urn:schemas-microsoft-com:vml" Requires="v">
                <p:oleObj spid="_x0000_s7" name="AxMath" r:id="rId8" imgW="1143000" imgH="1143000" progId="Equation.AxMath">
                  <p:embed/>
                </p:oleObj>
              </mc:Choice>
              <mc:Fallback>
                <p:oleObj name="AxMath" r:id="rId8" imgW="1143000" imgH="1143000" progId="Equation.AxMath">
                  <p:embed/>
                  <p:pic>
                    <p:nvPicPr>
                      <p:cNvPr id="0" name="对象 11"/>
                      <p:cNvPicPr/>
                      <p:nvPr/>
                    </p:nvPicPr>
                    <p:blipFill>
                      <a:blip r:embed="rId7"/>
                      <a:stretch>
                        <a:fillRect/>
                      </a:stretch>
                    </p:blipFill>
                    <p:spPr>
                      <a:xfrm>
                        <a:off x="7160990" y="3101075"/>
                        <a:ext cx="219075" cy="505287"/>
                      </a:xfrm>
                      <a:prstGeom prst="rect">
                        <a:avLst/>
                      </a:prstGeom>
                    </p:spPr>
                  </p:pic>
                </p:oleObj>
              </mc:Fallback>
            </mc:AlternateContent>
          </a:graphicData>
        </a:graphic>
      </p:graphicFrame>
      <p:pic>
        <p:nvPicPr>
          <p:cNvPr id="17" name="内容占位符 16"/>
          <p:cNvPicPr>
            <a:picLocks noGrp="1" noChangeAspect="1"/>
          </p:cNvPicPr>
          <p:nvPr>
            <p:ph idx="1"/>
          </p:nvPr>
        </p:nvPicPr>
        <p:blipFill>
          <a:blip r:embed="rId9"/>
          <a:stretch>
            <a:fillRect/>
          </a:stretch>
        </p:blipFill>
        <p:spPr>
          <a:xfrm>
            <a:off x="2198745" y="3801426"/>
            <a:ext cx="4962245" cy="1170529"/>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latin typeface="黑体" panose="02010609060101010101" pitchFamily="49" charset="-122"/>
                <a:ea typeface="黑体" panose="02010609060101010101" pitchFamily="49" charset="-122"/>
              </a:rPr>
              <a:t>损失函数</a:t>
            </a:r>
            <a:endParaRPr lang="zh-CN" altLang="en-US"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p:txBody>
          <a:bodyPr/>
          <a:lstStyle/>
          <a:p>
            <a:pPr marL="0" indent="0">
              <a:buNone/>
            </a:pPr>
            <a:endParaRPr lang="zh-CN" altLang="en-US" b="1" dirty="0">
              <a:latin typeface="黑体" panose="02010609060101010101" pitchFamily="49" charset="-122"/>
              <a:ea typeface="黑体" panose="02010609060101010101" pitchFamily="49" charset="-122"/>
            </a:endParaRPr>
          </a:p>
        </p:txBody>
      </p:sp>
      <p:cxnSp>
        <p:nvCxnSpPr>
          <p:cNvPr id="81" name="直接箭头连接符 80"/>
          <p:cNvCxnSpPr/>
          <p:nvPr/>
        </p:nvCxnSpPr>
        <p:spPr>
          <a:xfrm flipH="1" flipV="1">
            <a:off x="3461097" y="2178264"/>
            <a:ext cx="0" cy="3288307"/>
          </a:xfrm>
          <a:prstGeom prst="straightConnector1">
            <a:avLst/>
          </a:prstGeom>
          <a:ln w="19050">
            <a:headEnd type="none" w="med" len="lg"/>
            <a:tailEnd type="triangle" w="lg" len="lg"/>
          </a:ln>
        </p:spPr>
        <p:style>
          <a:lnRef idx="1">
            <a:schemeClr val="dk1"/>
          </a:lnRef>
          <a:fillRef idx="0">
            <a:schemeClr val="dk1"/>
          </a:fillRef>
          <a:effectRef idx="0">
            <a:schemeClr val="dk1"/>
          </a:effectRef>
          <a:fontRef idx="minor">
            <a:schemeClr val="tx1"/>
          </a:fontRef>
        </p:style>
      </p:cxnSp>
      <p:cxnSp>
        <p:nvCxnSpPr>
          <p:cNvPr id="82" name="直接箭头连接符 81"/>
          <p:cNvCxnSpPr/>
          <p:nvPr/>
        </p:nvCxnSpPr>
        <p:spPr>
          <a:xfrm>
            <a:off x="1181875" y="5466649"/>
            <a:ext cx="4697570" cy="0"/>
          </a:xfrm>
          <a:prstGeom prst="straightConnector1">
            <a:avLst/>
          </a:prstGeom>
          <a:ln w="19050">
            <a:headEnd type="none" w="med" len="lg"/>
            <a:tailEnd type="triangle" w="lg" len="lg"/>
          </a:ln>
        </p:spPr>
        <p:style>
          <a:lnRef idx="1">
            <a:schemeClr val="dk1"/>
          </a:lnRef>
          <a:fillRef idx="0">
            <a:schemeClr val="dk1"/>
          </a:fillRef>
          <a:effectRef idx="0">
            <a:schemeClr val="dk1"/>
          </a:effectRef>
          <a:fontRef idx="minor">
            <a:schemeClr val="tx1"/>
          </a:fontRef>
        </p:style>
      </p:cxnSp>
      <p:sp>
        <p:nvSpPr>
          <p:cNvPr id="83" name="文本框 82"/>
          <p:cNvSpPr txBox="1"/>
          <p:nvPr/>
        </p:nvSpPr>
        <p:spPr>
          <a:xfrm>
            <a:off x="3271962" y="5448651"/>
            <a:ext cx="358104" cy="401613"/>
          </a:xfrm>
          <a:prstGeom prst="rect">
            <a:avLst/>
          </a:prstGeom>
          <a:noFill/>
        </p:spPr>
        <p:txBody>
          <a:bodyPr wrap="none" rtlCol="0">
            <a:spAutoFit/>
          </a:bodyPr>
          <a:lstStyle/>
          <a:p>
            <a:r>
              <a:rPr lang="en-US" altLang="zh-CN" sz="1400" dirty="0">
                <a:latin typeface="Times "/>
              </a:rPr>
              <a:t>0</a:t>
            </a:r>
            <a:endParaRPr lang="zh-CN" altLang="en-US" sz="1400" dirty="0">
              <a:latin typeface="Times "/>
            </a:endParaRPr>
          </a:p>
        </p:txBody>
      </p:sp>
      <p:graphicFrame>
        <p:nvGraphicFramePr>
          <p:cNvPr id="84" name="对象 83"/>
          <p:cNvGraphicFramePr>
            <a:graphicFrameLocks noChangeAspect="1"/>
          </p:cNvGraphicFramePr>
          <p:nvPr/>
        </p:nvGraphicFramePr>
        <p:xfrm>
          <a:off x="5434225" y="5548169"/>
          <a:ext cx="161577" cy="279654"/>
        </p:xfrm>
        <a:graphic>
          <a:graphicData uri="http://schemas.openxmlformats.org/presentationml/2006/ole">
            <mc:AlternateContent xmlns:mc="http://schemas.openxmlformats.org/markup-compatibility/2006">
              <mc:Choice xmlns:v="urn:schemas-microsoft-com:vml" Requires="v">
                <p:oleObj spid="_x0000_s32" name="Formula" r:id="rId1" imgW="571500" imgH="971550" progId="Equation.Ribbit">
                  <p:embed/>
                </p:oleObj>
              </mc:Choice>
              <mc:Fallback>
                <p:oleObj name="Formula" r:id="rId1" imgW="571500" imgH="971550" progId="Equation.Ribbit">
                  <p:embed/>
                  <p:pic>
                    <p:nvPicPr>
                      <p:cNvPr id="0" name="图片 31"/>
                      <p:cNvPicPr/>
                      <p:nvPr/>
                    </p:nvPicPr>
                    <p:blipFill>
                      <a:blip r:embed="rId2"/>
                      <a:stretch>
                        <a:fillRect/>
                      </a:stretch>
                    </p:blipFill>
                    <p:spPr>
                      <a:xfrm>
                        <a:off x="5434225" y="5548169"/>
                        <a:ext cx="161577" cy="279654"/>
                      </a:xfrm>
                      <a:prstGeom prst="rect">
                        <a:avLst/>
                      </a:prstGeom>
                    </p:spPr>
                  </p:pic>
                </p:oleObj>
              </mc:Fallback>
            </mc:AlternateContent>
          </a:graphicData>
        </a:graphic>
      </p:graphicFrame>
      <p:graphicFrame>
        <p:nvGraphicFramePr>
          <p:cNvPr id="85" name="对象 84"/>
          <p:cNvGraphicFramePr>
            <a:graphicFrameLocks noChangeAspect="1"/>
          </p:cNvGraphicFramePr>
          <p:nvPr/>
        </p:nvGraphicFramePr>
        <p:xfrm>
          <a:off x="2733920" y="2330206"/>
          <a:ext cx="530303" cy="381157"/>
        </p:xfrm>
        <a:graphic>
          <a:graphicData uri="http://schemas.openxmlformats.org/presentationml/2006/ole">
            <mc:AlternateContent xmlns:mc="http://schemas.openxmlformats.org/markup-compatibility/2006">
              <mc:Choice xmlns:v="urn:schemas-microsoft-com:vml" Requires="v">
                <p:oleObj spid="_x0000_s4" name="Formula" r:id="rId3" imgW="1866900" imgH="1333500" progId="Equation.Ribbit">
                  <p:embed/>
                </p:oleObj>
              </mc:Choice>
              <mc:Fallback>
                <p:oleObj name="Formula" r:id="rId3" imgW="1866900" imgH="1333500" progId="Equation.Ribbit">
                  <p:embed/>
                  <p:pic>
                    <p:nvPicPr>
                      <p:cNvPr id="0" name="图片 3"/>
                      <p:cNvPicPr/>
                      <p:nvPr/>
                    </p:nvPicPr>
                    <p:blipFill>
                      <a:blip r:embed="rId4"/>
                      <a:stretch>
                        <a:fillRect/>
                      </a:stretch>
                    </p:blipFill>
                    <p:spPr>
                      <a:xfrm>
                        <a:off x="2733920" y="2330206"/>
                        <a:ext cx="530303" cy="381157"/>
                      </a:xfrm>
                      <a:prstGeom prst="rect">
                        <a:avLst/>
                      </a:prstGeom>
                    </p:spPr>
                  </p:pic>
                </p:oleObj>
              </mc:Fallback>
            </mc:AlternateContent>
          </a:graphicData>
        </a:graphic>
      </p:graphicFrame>
      <p:sp>
        <p:nvSpPr>
          <p:cNvPr id="86" name="任意多边形 85"/>
          <p:cNvSpPr/>
          <p:nvPr/>
        </p:nvSpPr>
        <p:spPr>
          <a:xfrm>
            <a:off x="3453860" y="2976735"/>
            <a:ext cx="1528766" cy="2473374"/>
          </a:xfrm>
          <a:custGeom>
            <a:avLst/>
            <a:gdLst>
              <a:gd name="connsiteX0" fmla="*/ 0 w 1171575"/>
              <a:gd name="connsiteY0" fmla="*/ 1895475 h 1895475"/>
              <a:gd name="connsiteX1" fmla="*/ 381000 w 1171575"/>
              <a:gd name="connsiteY1" fmla="*/ 1733550 h 1895475"/>
              <a:gd name="connsiteX2" fmla="*/ 752475 w 1171575"/>
              <a:gd name="connsiteY2" fmla="*/ 1200150 h 1895475"/>
              <a:gd name="connsiteX3" fmla="*/ 1171575 w 1171575"/>
              <a:gd name="connsiteY3" fmla="*/ 0 h 1895475"/>
              <a:gd name="connsiteX0-1" fmla="*/ 0 w 1171575"/>
              <a:gd name="connsiteY0-2" fmla="*/ 1895475 h 1895475"/>
              <a:gd name="connsiteX1-3" fmla="*/ 381000 w 1171575"/>
              <a:gd name="connsiteY1-4" fmla="*/ 1733550 h 1895475"/>
              <a:gd name="connsiteX2-5" fmla="*/ 752475 w 1171575"/>
              <a:gd name="connsiteY2-6" fmla="*/ 1200150 h 1895475"/>
              <a:gd name="connsiteX3-7" fmla="*/ 1171575 w 1171575"/>
              <a:gd name="connsiteY3-8" fmla="*/ 0 h 1895475"/>
            </a:gdLst>
            <a:ahLst/>
            <a:cxnLst>
              <a:cxn ang="0">
                <a:pos x="connsiteX0-1" y="connsiteY0-2"/>
              </a:cxn>
              <a:cxn ang="0">
                <a:pos x="connsiteX1-3" y="connsiteY1-4"/>
              </a:cxn>
              <a:cxn ang="0">
                <a:pos x="connsiteX2-5" y="connsiteY2-6"/>
              </a:cxn>
              <a:cxn ang="0">
                <a:pos x="connsiteX3-7" y="connsiteY3-8"/>
              </a:cxn>
            </a:cxnLst>
            <a:rect l="l" t="t" r="r" b="b"/>
            <a:pathLst>
              <a:path w="1171575" h="1895475">
                <a:moveTo>
                  <a:pt x="0" y="1895475"/>
                </a:moveTo>
                <a:cubicBezTo>
                  <a:pt x="127794" y="1872456"/>
                  <a:pt x="255588" y="1849437"/>
                  <a:pt x="381000" y="1733550"/>
                </a:cubicBezTo>
                <a:cubicBezTo>
                  <a:pt x="506412" y="1617663"/>
                  <a:pt x="620713" y="1489075"/>
                  <a:pt x="752475" y="1200150"/>
                </a:cubicBezTo>
                <a:cubicBezTo>
                  <a:pt x="884238" y="911225"/>
                  <a:pt x="1109663" y="238125"/>
                  <a:pt x="1171575" y="0"/>
                </a:cubicBezTo>
              </a:path>
            </a:pathLst>
          </a:cu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dirty="0"/>
          </a:p>
        </p:txBody>
      </p:sp>
      <p:cxnSp>
        <p:nvCxnSpPr>
          <p:cNvPr id="87" name="直接连接符 86"/>
          <p:cNvCxnSpPr/>
          <p:nvPr/>
        </p:nvCxnSpPr>
        <p:spPr>
          <a:xfrm flipV="1">
            <a:off x="3848401" y="4037128"/>
            <a:ext cx="1522425" cy="1428328"/>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88" name="任意多边形 87"/>
          <p:cNvSpPr/>
          <p:nvPr/>
        </p:nvSpPr>
        <p:spPr>
          <a:xfrm flipH="1">
            <a:off x="1939571" y="2976285"/>
            <a:ext cx="1526710" cy="2473374"/>
          </a:xfrm>
          <a:custGeom>
            <a:avLst/>
            <a:gdLst>
              <a:gd name="connsiteX0" fmla="*/ 0 w 1171575"/>
              <a:gd name="connsiteY0" fmla="*/ 1895475 h 1895475"/>
              <a:gd name="connsiteX1" fmla="*/ 381000 w 1171575"/>
              <a:gd name="connsiteY1" fmla="*/ 1733550 h 1895475"/>
              <a:gd name="connsiteX2" fmla="*/ 752475 w 1171575"/>
              <a:gd name="connsiteY2" fmla="*/ 1200150 h 1895475"/>
              <a:gd name="connsiteX3" fmla="*/ 1171575 w 1171575"/>
              <a:gd name="connsiteY3" fmla="*/ 0 h 1895475"/>
              <a:gd name="connsiteX0-1" fmla="*/ 0 w 1171575"/>
              <a:gd name="connsiteY0-2" fmla="*/ 1895475 h 1895475"/>
              <a:gd name="connsiteX1-3" fmla="*/ 381000 w 1171575"/>
              <a:gd name="connsiteY1-4" fmla="*/ 1733550 h 1895475"/>
              <a:gd name="connsiteX2-5" fmla="*/ 752475 w 1171575"/>
              <a:gd name="connsiteY2-6" fmla="*/ 1200150 h 1895475"/>
              <a:gd name="connsiteX3-7" fmla="*/ 1171575 w 1171575"/>
              <a:gd name="connsiteY3-8" fmla="*/ 0 h 1895475"/>
            </a:gdLst>
            <a:ahLst/>
            <a:cxnLst>
              <a:cxn ang="0">
                <a:pos x="connsiteX0-1" y="connsiteY0-2"/>
              </a:cxn>
              <a:cxn ang="0">
                <a:pos x="connsiteX1-3" y="connsiteY1-4"/>
              </a:cxn>
              <a:cxn ang="0">
                <a:pos x="connsiteX2-5" y="connsiteY2-6"/>
              </a:cxn>
              <a:cxn ang="0">
                <a:pos x="connsiteX3-7" y="connsiteY3-8"/>
              </a:cxn>
            </a:cxnLst>
            <a:rect l="l" t="t" r="r" b="b"/>
            <a:pathLst>
              <a:path w="1171575" h="1895475">
                <a:moveTo>
                  <a:pt x="0" y="1895475"/>
                </a:moveTo>
                <a:cubicBezTo>
                  <a:pt x="127794" y="1872456"/>
                  <a:pt x="255588" y="1849437"/>
                  <a:pt x="381000" y="1733550"/>
                </a:cubicBezTo>
                <a:cubicBezTo>
                  <a:pt x="506412" y="1617663"/>
                  <a:pt x="620713" y="1489075"/>
                  <a:pt x="752475" y="1200150"/>
                </a:cubicBezTo>
                <a:cubicBezTo>
                  <a:pt x="884238" y="911225"/>
                  <a:pt x="1109663" y="238125"/>
                  <a:pt x="1171575" y="0"/>
                </a:cubicBezTo>
              </a:path>
            </a:pathLst>
          </a:cu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dirty="0"/>
          </a:p>
        </p:txBody>
      </p:sp>
      <p:cxnSp>
        <p:nvCxnSpPr>
          <p:cNvPr id="89" name="直接连接符 88"/>
          <p:cNvCxnSpPr/>
          <p:nvPr/>
        </p:nvCxnSpPr>
        <p:spPr>
          <a:xfrm flipH="1" flipV="1">
            <a:off x="1515601" y="4028374"/>
            <a:ext cx="1522425" cy="1428328"/>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flipH="1">
            <a:off x="3035461" y="5460071"/>
            <a:ext cx="813281"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aphicFrame>
        <p:nvGraphicFramePr>
          <p:cNvPr id="91" name="对象 90"/>
          <p:cNvGraphicFramePr>
            <a:graphicFrameLocks noChangeAspect="1"/>
          </p:cNvGraphicFramePr>
          <p:nvPr/>
        </p:nvGraphicFramePr>
        <p:xfrm>
          <a:off x="5063026" y="3110803"/>
          <a:ext cx="1137113" cy="375806"/>
        </p:xfrm>
        <a:graphic>
          <a:graphicData uri="http://schemas.openxmlformats.org/presentationml/2006/ole">
            <mc:AlternateContent xmlns:mc="http://schemas.openxmlformats.org/markup-compatibility/2006">
              <mc:Choice xmlns:v="urn:schemas-microsoft-com:vml" Requires="v">
                <p:oleObj spid="_x0000_s5" name="Formula" r:id="rId5" imgW="4410075" imgH="1447800" progId="Equation.Ribbit">
                  <p:embed/>
                </p:oleObj>
              </mc:Choice>
              <mc:Fallback>
                <p:oleObj name="Formula" r:id="rId5" imgW="4410075" imgH="1447800" progId="Equation.Ribbit">
                  <p:embed/>
                  <p:pic>
                    <p:nvPicPr>
                      <p:cNvPr id="0" name="图片 4"/>
                      <p:cNvPicPr/>
                      <p:nvPr/>
                    </p:nvPicPr>
                    <p:blipFill>
                      <a:blip r:embed="rId6"/>
                      <a:stretch>
                        <a:fillRect/>
                      </a:stretch>
                    </p:blipFill>
                    <p:spPr>
                      <a:xfrm>
                        <a:off x="5063026" y="3110803"/>
                        <a:ext cx="1137113" cy="375806"/>
                      </a:xfrm>
                      <a:prstGeom prst="rect">
                        <a:avLst/>
                      </a:prstGeom>
                    </p:spPr>
                  </p:pic>
                </p:oleObj>
              </mc:Fallback>
            </mc:AlternateContent>
          </a:graphicData>
        </a:graphic>
      </p:graphicFrame>
      <p:graphicFrame>
        <p:nvGraphicFramePr>
          <p:cNvPr id="92" name="对象 91"/>
          <p:cNvGraphicFramePr>
            <a:graphicFrameLocks noChangeAspect="1"/>
          </p:cNvGraphicFramePr>
          <p:nvPr/>
        </p:nvGraphicFramePr>
        <p:xfrm>
          <a:off x="5461156" y="4363199"/>
          <a:ext cx="3325813" cy="892175"/>
        </p:xfrm>
        <a:graphic>
          <a:graphicData uri="http://schemas.openxmlformats.org/presentationml/2006/ole">
            <mc:AlternateContent xmlns:mc="http://schemas.openxmlformats.org/markup-compatibility/2006">
              <mc:Choice xmlns:v="urn:schemas-microsoft-com:vml" Requires="v">
                <p:oleObj spid="_x0000_s6" name="Formula" r:id="rId7" imgW="13487400" imgH="3619500" progId="Equation.Ribbit">
                  <p:embed/>
                </p:oleObj>
              </mc:Choice>
              <mc:Fallback>
                <p:oleObj name="Formula" r:id="rId7" imgW="13487400" imgH="3619500" progId="Equation.Ribbit">
                  <p:embed/>
                  <p:pic>
                    <p:nvPicPr>
                      <p:cNvPr id="0" name="图片 5"/>
                      <p:cNvPicPr/>
                      <p:nvPr/>
                    </p:nvPicPr>
                    <p:blipFill>
                      <a:blip r:embed="rId8"/>
                      <a:stretch>
                        <a:fillRect/>
                      </a:stretch>
                    </p:blipFill>
                    <p:spPr>
                      <a:xfrm>
                        <a:off x="5461156" y="4363199"/>
                        <a:ext cx="3325813" cy="892175"/>
                      </a:xfrm>
                      <a:prstGeom prst="rect">
                        <a:avLst/>
                      </a:prstGeom>
                    </p:spPr>
                  </p:pic>
                </p:oleObj>
              </mc:Fallback>
            </mc:AlternateContent>
          </a:graphicData>
        </a:graphic>
      </p:graphicFrame>
      <p:sp>
        <p:nvSpPr>
          <p:cNvPr id="68" name="内容占位符 3"/>
          <p:cNvSpPr txBox="1"/>
          <p:nvPr/>
        </p:nvSpPr>
        <p:spPr>
          <a:xfrm>
            <a:off x="4989862" y="2716828"/>
            <a:ext cx="2788977" cy="451134"/>
          </a:xfrm>
          <a:prstGeom prst="rect">
            <a:avLst/>
          </a:prstGeom>
        </p:spPr>
        <p:txBody>
          <a:bodyPr vert="horz" lIns="91440" tIns="46800" rIns="91440" bIns="45720" rtlCol="0">
            <a:normAutofit/>
          </a:bodyPr>
          <a:lstStyle>
            <a:lvl1pPr marL="228600" indent="-360045" algn="l" defTabSz="914400" rtl="0" eaLnBrk="1" latinLnBrk="0" hangingPunct="1">
              <a:lnSpc>
                <a:spcPct val="90000"/>
              </a:lnSpc>
              <a:spcBef>
                <a:spcPts val="1000"/>
              </a:spcBef>
              <a:buClr>
                <a:schemeClr val="tx2"/>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rgbClr val="023A9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rgbClr val="023A9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rgbClr val="023A9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rgbClr val="023A9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b="1" dirty="0">
                <a:latin typeface="黑体" panose="02010609060101010101" pitchFamily="49" charset="-122"/>
                <a:ea typeface="黑体" panose="02010609060101010101" pitchFamily="49" charset="-122"/>
              </a:rPr>
              <a:t>最小二乘损失函数</a:t>
            </a:r>
            <a:endParaRPr lang="zh-CN" altLang="en-US" b="1" dirty="0">
              <a:latin typeface="黑体" panose="02010609060101010101" pitchFamily="49" charset="-122"/>
              <a:ea typeface="黑体" panose="02010609060101010101" pitchFamily="49" charset="-122"/>
            </a:endParaRPr>
          </a:p>
        </p:txBody>
      </p:sp>
      <p:sp>
        <p:nvSpPr>
          <p:cNvPr id="69" name="内容占位符 3"/>
          <p:cNvSpPr txBox="1"/>
          <p:nvPr/>
        </p:nvSpPr>
        <p:spPr>
          <a:xfrm>
            <a:off x="5379939" y="3880584"/>
            <a:ext cx="3216676" cy="451134"/>
          </a:xfrm>
          <a:prstGeom prst="rect">
            <a:avLst/>
          </a:prstGeom>
        </p:spPr>
        <p:txBody>
          <a:bodyPr vert="horz" lIns="91440" tIns="46800" rIns="91440" bIns="45720" rtlCol="0">
            <a:normAutofit/>
          </a:bodyPr>
          <a:lstStyle>
            <a:lvl1pPr marL="228600" indent="-360045" algn="l" defTabSz="914400" rtl="0" eaLnBrk="1" latinLnBrk="0" hangingPunct="1">
              <a:lnSpc>
                <a:spcPct val="90000"/>
              </a:lnSpc>
              <a:spcBef>
                <a:spcPts val="1000"/>
              </a:spcBef>
              <a:buClr>
                <a:schemeClr val="tx2"/>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rgbClr val="023A9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rgbClr val="023A9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rgbClr val="023A9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rgbClr val="023A9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b="1" dirty="0">
                <a:solidFill>
                  <a:srgbClr val="FF0000"/>
                </a:solidFill>
                <a:latin typeface="黑体" panose="02010609060101010101" pitchFamily="49" charset="-122"/>
                <a:ea typeface="黑体" panose="02010609060101010101" pitchFamily="49" charset="-122"/>
              </a:rPr>
              <a:t>支持向量回归损失函数</a:t>
            </a:r>
            <a:endParaRPr lang="zh-CN" altLang="en-US" b="1" dirty="0">
              <a:solidFill>
                <a:srgbClr val="FF0000"/>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1"/>
                                        </p:tgtEl>
                                        <p:attrNameLst>
                                          <p:attrName>style.visibility</p:attrName>
                                        </p:attrNameLst>
                                      </p:cBhvr>
                                      <p:to>
                                        <p:strVal val="visible"/>
                                      </p:to>
                                    </p:set>
                                    <p:animEffect transition="in" filter="fade">
                                      <p:cBhvr>
                                        <p:cTn id="7" dur="500"/>
                                        <p:tgtEl>
                                          <p:spTgt spid="81"/>
                                        </p:tgtEl>
                                      </p:cBhvr>
                                    </p:animEffect>
                                  </p:childTnLst>
                                </p:cTn>
                              </p:par>
                              <p:par>
                                <p:cTn id="8" presetID="10" presetClass="entr" presetSubtype="0" fill="hold" nodeType="withEffect">
                                  <p:stCondLst>
                                    <p:cond delay="0"/>
                                  </p:stCondLst>
                                  <p:childTnLst>
                                    <p:set>
                                      <p:cBhvr>
                                        <p:cTn id="9" dur="1" fill="hold">
                                          <p:stCondLst>
                                            <p:cond delay="0"/>
                                          </p:stCondLst>
                                        </p:cTn>
                                        <p:tgtEl>
                                          <p:spTgt spid="82"/>
                                        </p:tgtEl>
                                        <p:attrNameLst>
                                          <p:attrName>style.visibility</p:attrName>
                                        </p:attrNameLst>
                                      </p:cBhvr>
                                      <p:to>
                                        <p:strVal val="visible"/>
                                      </p:to>
                                    </p:set>
                                    <p:animEffect transition="in" filter="fade">
                                      <p:cBhvr>
                                        <p:cTn id="10" dur="500"/>
                                        <p:tgtEl>
                                          <p:spTgt spid="82"/>
                                        </p:tgtEl>
                                      </p:cBhvr>
                                    </p:animEffect>
                                  </p:childTnLst>
                                </p:cTn>
                              </p:par>
                              <p:par>
                                <p:cTn id="11" presetID="10" presetClass="entr" presetSubtype="0" fill="hold" nodeType="withEffect">
                                  <p:stCondLst>
                                    <p:cond delay="0"/>
                                  </p:stCondLst>
                                  <p:childTnLst>
                                    <p:set>
                                      <p:cBhvr>
                                        <p:cTn id="12" dur="1" fill="hold">
                                          <p:stCondLst>
                                            <p:cond delay="0"/>
                                          </p:stCondLst>
                                        </p:cTn>
                                        <p:tgtEl>
                                          <p:spTgt spid="84"/>
                                        </p:tgtEl>
                                        <p:attrNameLst>
                                          <p:attrName>style.visibility</p:attrName>
                                        </p:attrNameLst>
                                      </p:cBhvr>
                                      <p:to>
                                        <p:strVal val="visible"/>
                                      </p:to>
                                    </p:set>
                                    <p:animEffect transition="in" filter="fade">
                                      <p:cBhvr>
                                        <p:cTn id="13" dur="500"/>
                                        <p:tgtEl>
                                          <p:spTgt spid="84"/>
                                        </p:tgtEl>
                                      </p:cBhvr>
                                    </p:animEffect>
                                  </p:childTnLst>
                                </p:cTn>
                              </p:par>
                              <p:par>
                                <p:cTn id="14" presetID="10" presetClass="entr" presetSubtype="0" fill="hold" nodeType="withEffect">
                                  <p:stCondLst>
                                    <p:cond delay="0"/>
                                  </p:stCondLst>
                                  <p:childTnLst>
                                    <p:set>
                                      <p:cBhvr>
                                        <p:cTn id="15" dur="1" fill="hold">
                                          <p:stCondLst>
                                            <p:cond delay="0"/>
                                          </p:stCondLst>
                                        </p:cTn>
                                        <p:tgtEl>
                                          <p:spTgt spid="85"/>
                                        </p:tgtEl>
                                        <p:attrNameLst>
                                          <p:attrName>style.visibility</p:attrName>
                                        </p:attrNameLst>
                                      </p:cBhvr>
                                      <p:to>
                                        <p:strVal val="visible"/>
                                      </p:to>
                                    </p:set>
                                    <p:animEffect transition="in" filter="fade">
                                      <p:cBhvr>
                                        <p:cTn id="16" dur="500"/>
                                        <p:tgtEl>
                                          <p:spTgt spid="8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3"/>
                                        </p:tgtEl>
                                        <p:attrNameLst>
                                          <p:attrName>style.visibility</p:attrName>
                                        </p:attrNameLst>
                                      </p:cBhvr>
                                      <p:to>
                                        <p:strVal val="visible"/>
                                      </p:to>
                                    </p:set>
                                    <p:animEffect transition="in" filter="fade">
                                      <p:cBhvr>
                                        <p:cTn id="19" dur="500"/>
                                        <p:tgtEl>
                                          <p:spTgt spid="83"/>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88"/>
                                        </p:tgtEl>
                                        <p:attrNameLst>
                                          <p:attrName>style.visibility</p:attrName>
                                        </p:attrNameLst>
                                      </p:cBhvr>
                                      <p:to>
                                        <p:strVal val="visible"/>
                                      </p:to>
                                    </p:set>
                                    <p:animEffect transition="in" filter="fade">
                                      <p:cBhvr>
                                        <p:cTn id="24" dur="500"/>
                                        <p:tgtEl>
                                          <p:spTgt spid="8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86"/>
                                        </p:tgtEl>
                                        <p:attrNameLst>
                                          <p:attrName>style.visibility</p:attrName>
                                        </p:attrNameLst>
                                      </p:cBhvr>
                                      <p:to>
                                        <p:strVal val="visible"/>
                                      </p:to>
                                    </p:set>
                                    <p:animEffect transition="in" filter="fade">
                                      <p:cBhvr>
                                        <p:cTn id="27" dur="500"/>
                                        <p:tgtEl>
                                          <p:spTgt spid="86"/>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68"/>
                                        </p:tgtEl>
                                        <p:attrNameLst>
                                          <p:attrName>style.visibility</p:attrName>
                                        </p:attrNameLst>
                                      </p:cBhvr>
                                      <p:to>
                                        <p:strVal val="visible"/>
                                      </p:to>
                                    </p:set>
                                    <p:animEffect transition="in" filter="fade">
                                      <p:cBhvr>
                                        <p:cTn id="30" dur="500"/>
                                        <p:tgtEl>
                                          <p:spTgt spid="68"/>
                                        </p:tgtEl>
                                      </p:cBhvr>
                                    </p:animEffect>
                                  </p:childTnLst>
                                </p:cTn>
                              </p:par>
                              <p:par>
                                <p:cTn id="31" presetID="10" presetClass="entr" presetSubtype="0" fill="hold" nodeType="withEffect">
                                  <p:stCondLst>
                                    <p:cond delay="0"/>
                                  </p:stCondLst>
                                  <p:childTnLst>
                                    <p:set>
                                      <p:cBhvr>
                                        <p:cTn id="32" dur="1" fill="hold">
                                          <p:stCondLst>
                                            <p:cond delay="0"/>
                                          </p:stCondLst>
                                        </p:cTn>
                                        <p:tgtEl>
                                          <p:spTgt spid="91"/>
                                        </p:tgtEl>
                                        <p:attrNameLst>
                                          <p:attrName>style.visibility</p:attrName>
                                        </p:attrNameLst>
                                      </p:cBhvr>
                                      <p:to>
                                        <p:strVal val="visible"/>
                                      </p:to>
                                    </p:set>
                                    <p:animEffect transition="in" filter="fade">
                                      <p:cBhvr>
                                        <p:cTn id="33" dur="500"/>
                                        <p:tgtEl>
                                          <p:spTgt spid="9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69"/>
                                        </p:tgtEl>
                                        <p:attrNameLst>
                                          <p:attrName>style.visibility</p:attrName>
                                        </p:attrNameLst>
                                      </p:cBhvr>
                                      <p:to>
                                        <p:strVal val="visible"/>
                                      </p:to>
                                    </p:set>
                                    <p:animEffect transition="in" filter="fade">
                                      <p:cBhvr>
                                        <p:cTn id="38" dur="500"/>
                                        <p:tgtEl>
                                          <p:spTgt spid="69"/>
                                        </p:tgtEl>
                                      </p:cBhvr>
                                    </p:animEffect>
                                  </p:childTnLst>
                                </p:cTn>
                              </p:par>
                              <p:par>
                                <p:cTn id="39" presetID="10" presetClass="entr" presetSubtype="0" fill="hold" nodeType="withEffect">
                                  <p:stCondLst>
                                    <p:cond delay="0"/>
                                  </p:stCondLst>
                                  <p:childTnLst>
                                    <p:set>
                                      <p:cBhvr>
                                        <p:cTn id="40" dur="1" fill="hold">
                                          <p:stCondLst>
                                            <p:cond delay="0"/>
                                          </p:stCondLst>
                                        </p:cTn>
                                        <p:tgtEl>
                                          <p:spTgt spid="92"/>
                                        </p:tgtEl>
                                        <p:attrNameLst>
                                          <p:attrName>style.visibility</p:attrName>
                                        </p:attrNameLst>
                                      </p:cBhvr>
                                      <p:to>
                                        <p:strVal val="visible"/>
                                      </p:to>
                                    </p:set>
                                    <p:animEffect transition="in" filter="fade">
                                      <p:cBhvr>
                                        <p:cTn id="41" dur="500"/>
                                        <p:tgtEl>
                                          <p:spTgt spid="92"/>
                                        </p:tgtEl>
                                      </p:cBhvr>
                                    </p:animEffect>
                                  </p:childTnLst>
                                </p:cTn>
                              </p:par>
                              <p:par>
                                <p:cTn id="42" presetID="10" presetClass="entr" presetSubtype="0" fill="hold" nodeType="withEffect">
                                  <p:stCondLst>
                                    <p:cond delay="0"/>
                                  </p:stCondLst>
                                  <p:childTnLst>
                                    <p:set>
                                      <p:cBhvr>
                                        <p:cTn id="43" dur="1" fill="hold">
                                          <p:stCondLst>
                                            <p:cond delay="0"/>
                                          </p:stCondLst>
                                        </p:cTn>
                                        <p:tgtEl>
                                          <p:spTgt spid="87"/>
                                        </p:tgtEl>
                                        <p:attrNameLst>
                                          <p:attrName>style.visibility</p:attrName>
                                        </p:attrNameLst>
                                      </p:cBhvr>
                                      <p:to>
                                        <p:strVal val="visible"/>
                                      </p:to>
                                    </p:set>
                                    <p:animEffect transition="in" filter="fade">
                                      <p:cBhvr>
                                        <p:cTn id="44" dur="500"/>
                                        <p:tgtEl>
                                          <p:spTgt spid="87"/>
                                        </p:tgtEl>
                                      </p:cBhvr>
                                    </p:animEffect>
                                  </p:childTnLst>
                                </p:cTn>
                              </p:par>
                              <p:par>
                                <p:cTn id="45" presetID="10" presetClass="entr" presetSubtype="0" fill="hold" nodeType="withEffect">
                                  <p:stCondLst>
                                    <p:cond delay="0"/>
                                  </p:stCondLst>
                                  <p:childTnLst>
                                    <p:set>
                                      <p:cBhvr>
                                        <p:cTn id="46" dur="1" fill="hold">
                                          <p:stCondLst>
                                            <p:cond delay="0"/>
                                          </p:stCondLst>
                                        </p:cTn>
                                        <p:tgtEl>
                                          <p:spTgt spid="89"/>
                                        </p:tgtEl>
                                        <p:attrNameLst>
                                          <p:attrName>style.visibility</p:attrName>
                                        </p:attrNameLst>
                                      </p:cBhvr>
                                      <p:to>
                                        <p:strVal val="visible"/>
                                      </p:to>
                                    </p:set>
                                    <p:animEffect transition="in" filter="fade">
                                      <p:cBhvr>
                                        <p:cTn id="47" dur="500"/>
                                        <p:tgtEl>
                                          <p:spTgt spid="89"/>
                                        </p:tgtEl>
                                      </p:cBhvr>
                                    </p:animEffect>
                                  </p:childTnLst>
                                </p:cTn>
                              </p:par>
                              <p:par>
                                <p:cTn id="48" presetID="10" presetClass="entr" presetSubtype="0" fill="hold" nodeType="withEffect">
                                  <p:stCondLst>
                                    <p:cond delay="0"/>
                                  </p:stCondLst>
                                  <p:childTnLst>
                                    <p:set>
                                      <p:cBhvr>
                                        <p:cTn id="49" dur="1" fill="hold">
                                          <p:stCondLst>
                                            <p:cond delay="0"/>
                                          </p:stCondLst>
                                        </p:cTn>
                                        <p:tgtEl>
                                          <p:spTgt spid="90"/>
                                        </p:tgtEl>
                                        <p:attrNameLst>
                                          <p:attrName>style.visibility</p:attrName>
                                        </p:attrNameLst>
                                      </p:cBhvr>
                                      <p:to>
                                        <p:strVal val="visible"/>
                                      </p:to>
                                    </p:set>
                                    <p:animEffect transition="in" filter="fade">
                                      <p:cBhvr>
                                        <p:cTn id="50" dur="500"/>
                                        <p:tgtEl>
                                          <p:spTgt spid="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 grpId="0"/>
      <p:bldP spid="86" grpId="0" animBg="1"/>
      <p:bldP spid="88" grpId="0" animBg="1"/>
      <p:bldP spid="68" grpId="0"/>
      <p:bldP spid="69"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latin typeface="黑体" panose="02010609060101010101" pitchFamily="49" charset="-122"/>
                <a:ea typeface="黑体" panose="02010609060101010101" pitchFamily="49" charset="-122"/>
              </a:rPr>
              <a:t>形式化</a:t>
            </a:r>
            <a:endParaRPr lang="zh-CN" altLang="en-US" dirty="0">
              <a:latin typeface="黑体" panose="02010609060101010101" pitchFamily="49" charset="-122"/>
              <a:ea typeface="黑体" panose="02010609060101010101" pitchFamily="49" charset="-122"/>
            </a:endParaRPr>
          </a:p>
        </p:txBody>
      </p:sp>
      <p:pic>
        <p:nvPicPr>
          <p:cNvPr id="4" name="内容占位符 3"/>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1875453" y="1128948"/>
            <a:ext cx="4054191" cy="1908213"/>
          </a:xfrm>
        </p:spPr>
      </p:pic>
      <p:sp>
        <p:nvSpPr>
          <p:cNvPr id="68" name="内容占位符 3"/>
          <p:cNvSpPr txBox="1"/>
          <p:nvPr/>
        </p:nvSpPr>
        <p:spPr>
          <a:xfrm>
            <a:off x="390790" y="1675476"/>
            <a:ext cx="1353857" cy="451134"/>
          </a:xfrm>
          <a:prstGeom prst="rect">
            <a:avLst/>
          </a:prstGeom>
        </p:spPr>
        <p:txBody>
          <a:bodyPr vert="horz" lIns="91440" tIns="46800" rIns="91440" bIns="45720" rtlCol="0">
            <a:normAutofit/>
          </a:bodyPr>
          <a:lstStyle>
            <a:lvl1pPr marL="228600" indent="-360045" algn="l" defTabSz="914400" rtl="0" eaLnBrk="1" latinLnBrk="0" hangingPunct="1">
              <a:lnSpc>
                <a:spcPct val="90000"/>
              </a:lnSpc>
              <a:spcBef>
                <a:spcPts val="1000"/>
              </a:spcBef>
              <a:buClr>
                <a:schemeClr val="tx2"/>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rgbClr val="023A9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rgbClr val="023A9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rgbClr val="023A9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rgbClr val="023A9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b="1" dirty="0">
                <a:latin typeface="黑体" panose="02010609060101010101" pitchFamily="49" charset="-122"/>
                <a:ea typeface="黑体" panose="02010609060101010101" pitchFamily="49" charset="-122"/>
              </a:rPr>
              <a:t>原始问题</a:t>
            </a:r>
            <a:endParaRPr lang="zh-CN" altLang="en-US" b="1" dirty="0">
              <a:latin typeface="黑体" panose="02010609060101010101" pitchFamily="49" charset="-122"/>
              <a:ea typeface="黑体" panose="02010609060101010101" pitchFamily="49" charset="-122"/>
            </a:endParaRPr>
          </a:p>
        </p:txBody>
      </p:sp>
      <p:sp>
        <p:nvSpPr>
          <p:cNvPr id="69" name="内容占位符 3"/>
          <p:cNvSpPr txBox="1"/>
          <p:nvPr/>
        </p:nvSpPr>
        <p:spPr>
          <a:xfrm>
            <a:off x="390791" y="4055581"/>
            <a:ext cx="1353857" cy="451134"/>
          </a:xfrm>
          <a:prstGeom prst="rect">
            <a:avLst/>
          </a:prstGeom>
        </p:spPr>
        <p:txBody>
          <a:bodyPr vert="horz" lIns="91440" tIns="46800" rIns="91440" bIns="45720" rtlCol="0">
            <a:normAutofit/>
          </a:bodyPr>
          <a:lstStyle>
            <a:lvl1pPr marL="228600" indent="-360045" algn="l" defTabSz="914400" rtl="0" eaLnBrk="1" latinLnBrk="0" hangingPunct="1">
              <a:lnSpc>
                <a:spcPct val="90000"/>
              </a:lnSpc>
              <a:spcBef>
                <a:spcPts val="1000"/>
              </a:spcBef>
              <a:buClr>
                <a:schemeClr val="tx2"/>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rgbClr val="023A9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rgbClr val="023A9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rgbClr val="023A9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rgbClr val="023A9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b="1" dirty="0">
                <a:latin typeface="黑体" panose="02010609060101010101" pitchFamily="49" charset="-122"/>
                <a:ea typeface="黑体" panose="02010609060101010101" pitchFamily="49" charset="-122"/>
              </a:rPr>
              <a:t>对偶问题</a:t>
            </a:r>
            <a:endParaRPr lang="zh-CN" altLang="en-US" b="1" dirty="0">
              <a:latin typeface="黑体" panose="02010609060101010101" pitchFamily="49" charset="-122"/>
              <a:ea typeface="黑体" panose="02010609060101010101" pitchFamily="49" charset="-122"/>
            </a:endParaRPr>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75453" y="3378354"/>
            <a:ext cx="7041490" cy="1774090"/>
          </a:xfrm>
          <a:prstGeom prst="rect">
            <a:avLst/>
          </a:prstGeom>
        </p:spPr>
      </p:pic>
      <p:sp>
        <p:nvSpPr>
          <p:cNvPr id="9" name="内容占位符 3"/>
          <p:cNvSpPr txBox="1"/>
          <p:nvPr/>
        </p:nvSpPr>
        <p:spPr>
          <a:xfrm>
            <a:off x="401522" y="5586026"/>
            <a:ext cx="1353857" cy="451134"/>
          </a:xfrm>
          <a:prstGeom prst="rect">
            <a:avLst/>
          </a:prstGeom>
        </p:spPr>
        <p:txBody>
          <a:bodyPr vert="horz" lIns="91440" tIns="46800" rIns="91440" bIns="45720" rtlCol="0">
            <a:normAutofit/>
          </a:bodyPr>
          <a:lstStyle>
            <a:lvl1pPr marL="228600" indent="-360045" algn="l" defTabSz="914400" rtl="0" eaLnBrk="1" latinLnBrk="0" hangingPunct="1">
              <a:lnSpc>
                <a:spcPct val="90000"/>
              </a:lnSpc>
              <a:spcBef>
                <a:spcPts val="1000"/>
              </a:spcBef>
              <a:buClr>
                <a:schemeClr val="tx2"/>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rgbClr val="023A9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rgbClr val="023A9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rgbClr val="023A9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rgbClr val="023A9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zh-CN" altLang="en-US" b="1" dirty="0">
                <a:latin typeface="黑体" panose="02010609060101010101" pitchFamily="49" charset="-122"/>
                <a:ea typeface="黑体" panose="02010609060101010101" pitchFamily="49" charset="-122"/>
              </a:rPr>
              <a:t>预测</a:t>
            </a:r>
            <a:endParaRPr lang="zh-CN" altLang="en-US" b="1" dirty="0">
              <a:latin typeface="黑体" panose="02010609060101010101" pitchFamily="49" charset="-122"/>
              <a:ea typeface="黑体" panose="02010609060101010101" pitchFamily="49" charset="-122"/>
            </a:endParaRP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5453" y="5474679"/>
            <a:ext cx="4837990" cy="67382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8"/>
                                        </p:tgtEl>
                                        <p:attrNameLst>
                                          <p:attrName>style.visibility</p:attrName>
                                        </p:attrNameLst>
                                      </p:cBhvr>
                                      <p:to>
                                        <p:strVal val="visible"/>
                                      </p:to>
                                    </p:set>
                                    <p:animEffect transition="in" filter="fade">
                                      <p:cBhvr>
                                        <p:cTn id="7" dur="500"/>
                                        <p:tgtEl>
                                          <p:spTgt spid="68"/>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9"/>
                                        </p:tgtEl>
                                        <p:attrNameLst>
                                          <p:attrName>style.visibility</p:attrName>
                                        </p:attrNameLst>
                                      </p:cBhvr>
                                      <p:to>
                                        <p:strVal val="visible"/>
                                      </p:to>
                                    </p:set>
                                    <p:animEffect transition="in" filter="fade">
                                      <p:cBhvr>
                                        <p:cTn id="15" dur="500"/>
                                        <p:tgtEl>
                                          <p:spTgt spid="69"/>
                                        </p:tgtEl>
                                      </p:cBhvr>
                                    </p:animEffect>
                                  </p:childTnLst>
                                </p:cTn>
                              </p:par>
                              <p:par>
                                <p:cTn id="16" presetID="10" presetClass="entr" presetSubtype="0" fill="hold"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par>
                                <p:cTn id="24" presetID="10" presetClass="entr" presetSubtype="0" fill="hold" nodeType="with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fade">
                                      <p:cBhvr>
                                        <p:cTn id="2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p:bldP spid="69" grpId="0"/>
      <p:bldP spid="9"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大纲</a:t>
            </a:r>
            <a:endParaRPr lang="zh-CN" altLang="en-US"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p:txBody>
          <a:bodyPr/>
          <a:lstStyle/>
          <a:p>
            <a:r>
              <a:rPr lang="zh-CN" altLang="en-US" dirty="0">
                <a:solidFill>
                  <a:schemeClr val="bg1">
                    <a:lumMod val="85000"/>
                  </a:schemeClr>
                </a:solidFill>
              </a:rPr>
              <a:t>间隔与支持向量</a:t>
            </a:r>
            <a:endParaRPr lang="en-US" altLang="zh-CN" dirty="0">
              <a:solidFill>
                <a:schemeClr val="bg1">
                  <a:lumMod val="85000"/>
                </a:schemeClr>
              </a:solidFill>
            </a:endParaRPr>
          </a:p>
          <a:p>
            <a:endParaRPr lang="en-US" altLang="zh-CN" dirty="0"/>
          </a:p>
          <a:p>
            <a:r>
              <a:rPr lang="zh-CN" altLang="en-US" dirty="0">
                <a:solidFill>
                  <a:schemeClr val="bg1">
                    <a:lumMod val="85000"/>
                  </a:schemeClr>
                </a:solidFill>
              </a:rPr>
              <a:t>对偶问题</a:t>
            </a:r>
            <a:endParaRPr lang="en-US" altLang="zh-CN" dirty="0">
              <a:solidFill>
                <a:schemeClr val="bg1">
                  <a:lumMod val="85000"/>
                </a:schemeClr>
              </a:solidFill>
            </a:endParaRPr>
          </a:p>
          <a:p>
            <a:endParaRPr lang="en-US" altLang="zh-CN" dirty="0"/>
          </a:p>
          <a:p>
            <a:r>
              <a:rPr lang="zh-CN" altLang="en-US" dirty="0">
                <a:solidFill>
                  <a:schemeClr val="bg1">
                    <a:lumMod val="85000"/>
                  </a:schemeClr>
                </a:solidFill>
              </a:rPr>
              <a:t>核函数</a:t>
            </a:r>
            <a:endParaRPr lang="en-US" altLang="zh-CN" dirty="0">
              <a:solidFill>
                <a:schemeClr val="bg1">
                  <a:lumMod val="85000"/>
                </a:schemeClr>
              </a:solidFill>
            </a:endParaRPr>
          </a:p>
          <a:p>
            <a:endParaRPr lang="en-US" altLang="zh-CN" dirty="0">
              <a:solidFill>
                <a:schemeClr val="bg1">
                  <a:lumMod val="85000"/>
                </a:schemeClr>
              </a:solidFill>
            </a:endParaRPr>
          </a:p>
          <a:p>
            <a:r>
              <a:rPr lang="zh-CN" altLang="en-US" dirty="0">
                <a:solidFill>
                  <a:schemeClr val="bg1">
                    <a:lumMod val="85000"/>
                  </a:schemeClr>
                </a:solidFill>
              </a:rPr>
              <a:t>软间隔与正则化</a:t>
            </a:r>
            <a:endParaRPr lang="en-US" altLang="zh-CN" dirty="0">
              <a:solidFill>
                <a:schemeClr val="bg1">
                  <a:lumMod val="85000"/>
                </a:schemeClr>
              </a:solidFill>
            </a:endParaRPr>
          </a:p>
          <a:p>
            <a:endParaRPr lang="en-US" altLang="zh-CN" dirty="0">
              <a:solidFill>
                <a:schemeClr val="bg1">
                  <a:lumMod val="85000"/>
                </a:schemeClr>
              </a:solidFill>
            </a:endParaRPr>
          </a:p>
          <a:p>
            <a:r>
              <a:rPr lang="zh-CN" altLang="en-US" dirty="0">
                <a:solidFill>
                  <a:schemeClr val="bg1">
                    <a:lumMod val="85000"/>
                  </a:schemeClr>
                </a:solidFill>
              </a:rPr>
              <a:t>支持向量回归</a:t>
            </a:r>
            <a:endParaRPr lang="en-US" altLang="zh-CN" dirty="0">
              <a:solidFill>
                <a:schemeClr val="bg1">
                  <a:lumMod val="85000"/>
                </a:schemeClr>
              </a:solidFill>
            </a:endParaRPr>
          </a:p>
          <a:p>
            <a:endParaRPr lang="en-US" altLang="zh-CN" dirty="0">
              <a:solidFill>
                <a:schemeClr val="bg1">
                  <a:lumMod val="85000"/>
                </a:schemeClr>
              </a:solidFill>
            </a:endParaRPr>
          </a:p>
          <a:p>
            <a:r>
              <a:rPr lang="zh-CN" altLang="en-US" b="1" dirty="0">
                <a:latin typeface="黑体" panose="02010609060101010101" pitchFamily="49" charset="-122"/>
                <a:ea typeface="黑体" panose="02010609060101010101" pitchFamily="49" charset="-122"/>
              </a:rPr>
              <a:t>核方法</a:t>
            </a:r>
            <a:endParaRPr lang="zh-CN" altLang="en-US" b="1" dirty="0">
              <a:latin typeface="黑体" panose="02010609060101010101" pitchFamily="49" charset="-122"/>
              <a:ea typeface="黑体" panose="02010609060101010101" pitchFamily="49" charset="-122"/>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表示定理</a:t>
            </a:r>
            <a:endParaRPr lang="zh-CN" altLang="en-US"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a:xfrm>
            <a:off x="260350" y="2846231"/>
            <a:ext cx="8616950" cy="3243080"/>
          </a:xfrm>
        </p:spPr>
        <p:txBody>
          <a:bodyPr>
            <a:normAutofit/>
          </a:bodyPr>
          <a:lstStyle/>
          <a:p>
            <a:pPr marL="0" indent="0">
              <a:buNone/>
            </a:pPr>
            <a:r>
              <a:rPr lang="zh-CN" altLang="en-US" b="1" dirty="0">
                <a:latin typeface="黑体" panose="02010609060101010101" pitchFamily="49" charset="-122"/>
                <a:ea typeface="黑体" panose="02010609060101010101" pitchFamily="49" charset="-122"/>
              </a:rPr>
              <a:t>结论</a:t>
            </a:r>
            <a:r>
              <a:rPr lang="en-US" altLang="zh-CN" b="1" dirty="0">
                <a:latin typeface="黑体" panose="02010609060101010101" pitchFamily="49" charset="-122"/>
                <a:ea typeface="黑体" panose="02010609060101010101" pitchFamily="49" charset="-122"/>
              </a:rPr>
              <a:t>:</a:t>
            </a:r>
            <a:r>
              <a:rPr lang="en-US" altLang="zh-CN" b="1" dirty="0">
                <a:highlight>
                  <a:srgbClr val="FFFF00"/>
                </a:highlight>
                <a:latin typeface="黑体" panose="02010609060101010101" pitchFamily="49" charset="-122"/>
                <a:ea typeface="黑体" panose="02010609060101010101" pitchFamily="49" charset="-122"/>
              </a:rPr>
              <a:t> </a:t>
            </a:r>
            <a:r>
              <a:rPr lang="zh-CN" altLang="en-US" b="1" dirty="0">
                <a:highlight>
                  <a:srgbClr val="FFFF00"/>
                </a:highlight>
                <a:latin typeface="黑体" panose="02010609060101010101" pitchFamily="49" charset="-122"/>
                <a:ea typeface="黑体" panose="02010609060101010101" pitchFamily="49" charset="-122"/>
              </a:rPr>
              <a:t>无论是支持向量机还是支持向量回归</a:t>
            </a:r>
            <a:r>
              <a:rPr lang="en-US" altLang="zh-CN" b="1" dirty="0">
                <a:highlight>
                  <a:srgbClr val="FFFF00"/>
                </a:highlight>
                <a:latin typeface="黑体" panose="02010609060101010101" pitchFamily="49" charset="-122"/>
                <a:ea typeface="黑体" panose="02010609060101010101" pitchFamily="49" charset="-122"/>
              </a:rPr>
              <a:t>, </a:t>
            </a:r>
            <a:r>
              <a:rPr lang="zh-CN" altLang="en-US" b="1" dirty="0">
                <a:highlight>
                  <a:srgbClr val="FFFF00"/>
                </a:highlight>
                <a:latin typeface="黑体" panose="02010609060101010101" pitchFamily="49" charset="-122"/>
                <a:ea typeface="黑体" panose="02010609060101010101" pitchFamily="49" charset="-122"/>
              </a:rPr>
              <a:t>学得的模型总可以表示成</a:t>
            </a:r>
            <a:r>
              <a:rPr lang="zh-CN" altLang="en-US" b="1" dirty="0">
                <a:solidFill>
                  <a:srgbClr val="FF0000"/>
                </a:solidFill>
                <a:highlight>
                  <a:srgbClr val="FFFF00"/>
                </a:highlight>
                <a:latin typeface="黑体" panose="02010609060101010101" pitchFamily="49" charset="-122"/>
                <a:ea typeface="黑体" panose="02010609060101010101" pitchFamily="49" charset="-122"/>
              </a:rPr>
              <a:t>核函数的线性组合</a:t>
            </a:r>
            <a:r>
              <a:rPr lang="en-US" altLang="zh-CN" b="1" dirty="0">
                <a:latin typeface="黑体" panose="02010609060101010101" pitchFamily="49" charset="-122"/>
                <a:ea typeface="黑体" panose="02010609060101010101" pitchFamily="49" charset="-122"/>
              </a:rPr>
              <a:t>.</a:t>
            </a:r>
            <a:endParaRPr lang="en-US" altLang="zh-CN" b="1" dirty="0">
              <a:latin typeface="黑体" panose="02010609060101010101" pitchFamily="49" charset="-122"/>
              <a:ea typeface="黑体" panose="02010609060101010101" pitchFamily="49" charset="-122"/>
            </a:endParaRPr>
          </a:p>
          <a:p>
            <a:pPr marL="0" indent="0">
              <a:buNone/>
            </a:pPr>
            <a:r>
              <a:rPr lang="zh-CN" altLang="en-US" b="1" dirty="0">
                <a:latin typeface="黑体" panose="02010609060101010101" pitchFamily="49" charset="-122"/>
                <a:ea typeface="黑体" panose="02010609060101010101" pitchFamily="49" charset="-122"/>
              </a:rPr>
              <a:t>更一般的结论</a:t>
            </a:r>
            <a:r>
              <a:rPr lang="en-US" altLang="zh-CN" b="1" dirty="0">
                <a:latin typeface="黑体" panose="02010609060101010101" pitchFamily="49" charset="-122"/>
                <a:ea typeface="黑体" panose="02010609060101010101" pitchFamily="49" charset="-122"/>
              </a:rPr>
              <a:t>(</a:t>
            </a:r>
            <a:r>
              <a:rPr lang="zh-CN" altLang="en-US" b="1" dirty="0">
                <a:solidFill>
                  <a:schemeClr val="tx2"/>
                </a:solidFill>
                <a:latin typeface="黑体" panose="02010609060101010101" pitchFamily="49" charset="-122"/>
                <a:ea typeface="黑体" panose="02010609060101010101" pitchFamily="49" charset="-122"/>
              </a:rPr>
              <a:t>表示定理</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对于任意</a:t>
            </a:r>
            <a:r>
              <a:rPr lang="zh-CN" altLang="en-US" b="1" dirty="0">
                <a:solidFill>
                  <a:schemeClr val="tx2"/>
                </a:solidFill>
                <a:latin typeface="黑体" panose="02010609060101010101" pitchFamily="49" charset="-122"/>
                <a:ea typeface="黑体" panose="02010609060101010101" pitchFamily="49" charset="-122"/>
              </a:rPr>
              <a:t>单调增函数</a:t>
            </a:r>
            <a:r>
              <a:rPr lang="zh-CN" altLang="en-US" b="1" dirty="0">
                <a:latin typeface="黑体" panose="02010609060101010101" pitchFamily="49" charset="-122"/>
                <a:ea typeface="黑体" panose="02010609060101010101" pitchFamily="49" charset="-122"/>
              </a:rPr>
              <a:t>   和任意</a:t>
            </a:r>
            <a:r>
              <a:rPr lang="zh-CN" altLang="en-US" b="1" dirty="0">
                <a:solidFill>
                  <a:schemeClr val="tx2"/>
                </a:solidFill>
                <a:latin typeface="黑体" panose="02010609060101010101" pitchFamily="49" charset="-122"/>
                <a:ea typeface="黑体" panose="02010609060101010101" pitchFamily="49" charset="-122"/>
              </a:rPr>
              <a:t>非负损失函数</a:t>
            </a:r>
            <a:r>
              <a:rPr lang="zh-CN" altLang="en-US" b="1" dirty="0">
                <a:latin typeface="黑体" panose="02010609060101010101" pitchFamily="49" charset="-122"/>
                <a:ea typeface="黑体" panose="02010609060101010101" pitchFamily="49" charset="-122"/>
              </a:rPr>
              <a:t>  </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优化问题</a:t>
            </a:r>
            <a:br>
              <a:rPr lang="en-US" altLang="zh-CN" b="1" dirty="0">
                <a:latin typeface="黑体" panose="02010609060101010101" pitchFamily="49" charset="-122"/>
                <a:ea typeface="黑体" panose="02010609060101010101" pitchFamily="49" charset="-122"/>
              </a:rPr>
            </a:br>
            <a:br>
              <a:rPr lang="en-US" altLang="zh-CN" b="1" dirty="0">
                <a:latin typeface="黑体" panose="02010609060101010101" pitchFamily="49" charset="-122"/>
                <a:ea typeface="黑体" panose="02010609060101010101" pitchFamily="49" charset="-122"/>
              </a:rPr>
            </a:br>
            <a:br>
              <a:rPr lang="en-US" altLang="zh-CN" b="1" dirty="0">
                <a:latin typeface="黑体" panose="02010609060101010101" pitchFamily="49" charset="-122"/>
                <a:ea typeface="黑体" panose="02010609060101010101" pitchFamily="49" charset="-122"/>
              </a:rPr>
            </a:br>
            <a:endParaRPr lang="en-US" altLang="zh-CN" b="1" dirty="0">
              <a:latin typeface="黑体" panose="02010609060101010101" pitchFamily="49" charset="-122"/>
              <a:ea typeface="黑体" panose="02010609060101010101" pitchFamily="49" charset="-122"/>
            </a:endParaRPr>
          </a:p>
          <a:p>
            <a:pPr marL="0" indent="0">
              <a:buNone/>
            </a:pPr>
            <a:r>
              <a:rPr lang="zh-CN" altLang="en-US" b="1" dirty="0">
                <a:latin typeface="黑体" panose="02010609060101010101" pitchFamily="49" charset="-122"/>
                <a:ea typeface="黑体" panose="02010609060101010101" pitchFamily="49" charset="-122"/>
              </a:rPr>
              <a:t>的解总可以写为                         </a:t>
            </a:r>
            <a:r>
              <a:rPr lang="en-US" altLang="zh-CN" b="1" dirty="0">
                <a:latin typeface="黑体" panose="02010609060101010101" pitchFamily="49" charset="-122"/>
                <a:ea typeface="黑体" panose="02010609060101010101" pitchFamily="49" charset="-122"/>
              </a:rPr>
              <a:t>.</a:t>
            </a:r>
            <a:endParaRPr lang="en-US" altLang="zh-CN" b="1" dirty="0">
              <a:latin typeface="黑体" panose="02010609060101010101" pitchFamily="49" charset="-122"/>
              <a:ea typeface="黑体" panose="02010609060101010101" pitchFamily="49" charset="-122"/>
            </a:endParaRPr>
          </a:p>
          <a:p>
            <a:endParaRPr lang="en-US" altLang="zh-CN" b="1" dirty="0">
              <a:latin typeface="黑体" panose="02010609060101010101" pitchFamily="49" charset="-122"/>
              <a:ea typeface="黑体" panose="02010609060101010101" pitchFamily="49" charset="-122"/>
            </a:endParaRPr>
          </a:p>
          <a:p>
            <a:endParaRPr lang="en-US" altLang="zh-CN" b="1" dirty="0">
              <a:latin typeface="黑体" panose="02010609060101010101" pitchFamily="49" charset="-122"/>
              <a:ea typeface="黑体" panose="02010609060101010101" pitchFamily="49" charset="-122"/>
            </a:endParaRPr>
          </a:p>
          <a:p>
            <a:endParaRPr lang="en-US" altLang="zh-CN" b="1" dirty="0">
              <a:latin typeface="黑体" panose="02010609060101010101" pitchFamily="49" charset="-122"/>
              <a:ea typeface="黑体" panose="02010609060101010101" pitchFamily="49" charset="-122"/>
            </a:endParaRPr>
          </a:p>
        </p:txBody>
      </p:sp>
      <p:graphicFrame>
        <p:nvGraphicFramePr>
          <p:cNvPr id="4" name="对象 3"/>
          <p:cNvGraphicFramePr>
            <a:graphicFrameLocks noChangeAspect="1"/>
          </p:cNvGraphicFramePr>
          <p:nvPr/>
        </p:nvGraphicFramePr>
        <p:xfrm>
          <a:off x="6335942" y="3645933"/>
          <a:ext cx="217487" cy="315912"/>
        </p:xfrm>
        <a:graphic>
          <a:graphicData uri="http://schemas.openxmlformats.org/presentationml/2006/ole">
            <mc:AlternateContent xmlns:mc="http://schemas.openxmlformats.org/markup-compatibility/2006">
              <mc:Choice xmlns:v="urn:schemas-microsoft-com:vml" Requires="v">
                <p:oleObj spid="_x0000_s32" name="Formula" r:id="rId1" imgW="809625" imgH="1181100" progId="Equation.Ribbit">
                  <p:embed/>
                </p:oleObj>
              </mc:Choice>
              <mc:Fallback>
                <p:oleObj name="Formula" r:id="rId1" imgW="809625" imgH="1181100" progId="Equation.Ribbit">
                  <p:embed/>
                  <p:pic>
                    <p:nvPicPr>
                      <p:cNvPr id="0" name="图片 31"/>
                      <p:cNvPicPr/>
                      <p:nvPr/>
                    </p:nvPicPr>
                    <p:blipFill>
                      <a:blip r:embed="rId2"/>
                      <a:stretch>
                        <a:fillRect/>
                      </a:stretch>
                    </p:blipFill>
                    <p:spPr>
                      <a:xfrm>
                        <a:off x="6335942" y="3645933"/>
                        <a:ext cx="217487" cy="315912"/>
                      </a:xfrm>
                      <a:prstGeom prst="rect">
                        <a:avLst/>
                      </a:prstGeom>
                    </p:spPr>
                  </p:pic>
                </p:oleObj>
              </mc:Fallback>
            </mc:AlternateContent>
          </a:graphicData>
        </a:graphic>
      </p:graphicFrame>
      <p:graphicFrame>
        <p:nvGraphicFramePr>
          <p:cNvPr id="5" name="对象 4"/>
          <p:cNvGraphicFramePr>
            <a:graphicFrameLocks noChangeAspect="1"/>
          </p:cNvGraphicFramePr>
          <p:nvPr/>
        </p:nvGraphicFramePr>
        <p:xfrm>
          <a:off x="984607" y="3961845"/>
          <a:ext cx="92075" cy="315912"/>
        </p:xfrm>
        <a:graphic>
          <a:graphicData uri="http://schemas.openxmlformats.org/presentationml/2006/ole">
            <mc:AlternateContent xmlns:mc="http://schemas.openxmlformats.org/markup-compatibility/2006">
              <mc:Choice xmlns:v="urn:schemas-microsoft-com:vml" Requires="v">
                <p:oleObj spid="_x0000_s6" name="Formula" r:id="rId3" imgW="342900" imgH="1181100" progId="Equation.Ribbit">
                  <p:embed/>
                </p:oleObj>
              </mc:Choice>
              <mc:Fallback>
                <p:oleObj name="Formula" r:id="rId3" imgW="342900" imgH="1181100" progId="Equation.Ribbit">
                  <p:embed/>
                  <p:pic>
                    <p:nvPicPr>
                      <p:cNvPr id="0" name="图片 5"/>
                      <p:cNvPicPr/>
                      <p:nvPr/>
                    </p:nvPicPr>
                    <p:blipFill>
                      <a:blip r:embed="rId4"/>
                      <a:stretch>
                        <a:fillRect/>
                      </a:stretch>
                    </p:blipFill>
                    <p:spPr>
                      <a:xfrm>
                        <a:off x="984607" y="3961845"/>
                        <a:ext cx="92075" cy="315912"/>
                      </a:xfrm>
                      <a:prstGeom prst="rect">
                        <a:avLst/>
                      </a:prstGeom>
                    </p:spPr>
                  </p:pic>
                </p:oleObj>
              </mc:Fallback>
            </mc:AlternateContent>
          </a:graphicData>
        </a:graphic>
      </p:graphicFrame>
      <p:pic>
        <p:nvPicPr>
          <p:cNvPr id="8" name="图片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72179" y="4381073"/>
            <a:ext cx="5791702" cy="481626"/>
          </a:xfrm>
          <a:prstGeom prst="rect">
            <a:avLst/>
          </a:prstGeom>
        </p:spPr>
      </p:pic>
      <p:graphicFrame>
        <p:nvGraphicFramePr>
          <p:cNvPr id="12" name="对象 11"/>
          <p:cNvGraphicFramePr>
            <a:graphicFrameLocks noChangeAspect="1"/>
          </p:cNvGraphicFramePr>
          <p:nvPr/>
        </p:nvGraphicFramePr>
        <p:xfrm>
          <a:off x="2540769" y="958943"/>
          <a:ext cx="5287962" cy="849312"/>
        </p:xfrm>
        <a:graphic>
          <a:graphicData uri="http://schemas.openxmlformats.org/presentationml/2006/ole">
            <mc:AlternateContent xmlns:mc="http://schemas.openxmlformats.org/markup-compatibility/2006">
              <mc:Choice xmlns:v="urn:schemas-microsoft-com:vml" Requires="v">
                <p:oleObj spid="_x0000_s7" name="Formula" r:id="rId6" imgW="20507325" imgH="3286125" progId="Equation.Ribbit">
                  <p:embed/>
                </p:oleObj>
              </mc:Choice>
              <mc:Fallback>
                <p:oleObj name="Formula" r:id="rId6" imgW="20507325" imgH="3286125" progId="Equation.Ribbit">
                  <p:embed/>
                  <p:pic>
                    <p:nvPicPr>
                      <p:cNvPr id="0" name="图片 6"/>
                      <p:cNvPicPr/>
                      <p:nvPr/>
                    </p:nvPicPr>
                    <p:blipFill>
                      <a:blip r:embed="rId7"/>
                      <a:stretch>
                        <a:fillRect/>
                      </a:stretch>
                    </p:blipFill>
                    <p:spPr>
                      <a:xfrm>
                        <a:off x="2540769" y="958943"/>
                        <a:ext cx="5287962" cy="849312"/>
                      </a:xfrm>
                      <a:prstGeom prst="rect">
                        <a:avLst/>
                      </a:prstGeom>
                    </p:spPr>
                  </p:pic>
                </p:oleObj>
              </mc:Fallback>
            </mc:AlternateContent>
          </a:graphicData>
        </a:graphic>
      </p:graphicFrame>
      <p:sp>
        <p:nvSpPr>
          <p:cNvPr id="13" name="内容占位符 3"/>
          <p:cNvSpPr txBox="1"/>
          <p:nvPr/>
        </p:nvSpPr>
        <p:spPr>
          <a:xfrm>
            <a:off x="260971" y="1145677"/>
            <a:ext cx="1838284" cy="451134"/>
          </a:xfrm>
          <a:prstGeom prst="rect">
            <a:avLst/>
          </a:prstGeom>
        </p:spPr>
        <p:txBody>
          <a:bodyPr vert="horz" lIns="91440" tIns="46800" rIns="91440" bIns="45720" rtlCol="0">
            <a:normAutofit/>
          </a:bodyPr>
          <a:lstStyle>
            <a:lvl1pPr marL="228600" indent="-360045" algn="l" defTabSz="914400" rtl="0" eaLnBrk="1" latinLnBrk="0" hangingPunct="1">
              <a:lnSpc>
                <a:spcPct val="90000"/>
              </a:lnSpc>
              <a:spcBef>
                <a:spcPts val="1000"/>
              </a:spcBef>
              <a:buClr>
                <a:schemeClr val="tx2"/>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rgbClr val="023A9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rgbClr val="023A9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rgbClr val="023A9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rgbClr val="023A9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b="1" dirty="0">
                <a:latin typeface="黑体" panose="02010609060101010101" pitchFamily="49" charset="-122"/>
                <a:ea typeface="黑体" panose="02010609060101010101" pitchFamily="49" charset="-122"/>
              </a:rPr>
              <a:t>支持向量机</a:t>
            </a:r>
            <a:endParaRPr lang="zh-CN" altLang="en-US" b="1" dirty="0">
              <a:latin typeface="黑体" panose="02010609060101010101" pitchFamily="49" charset="-122"/>
              <a:ea typeface="黑体" panose="02010609060101010101" pitchFamily="49" charset="-122"/>
            </a:endParaRPr>
          </a:p>
        </p:txBody>
      </p:sp>
      <p:sp>
        <p:nvSpPr>
          <p:cNvPr id="14" name="内容占位符 3"/>
          <p:cNvSpPr txBox="1"/>
          <p:nvPr/>
        </p:nvSpPr>
        <p:spPr>
          <a:xfrm>
            <a:off x="258822" y="2019291"/>
            <a:ext cx="2033613" cy="451134"/>
          </a:xfrm>
          <a:prstGeom prst="rect">
            <a:avLst/>
          </a:prstGeom>
        </p:spPr>
        <p:txBody>
          <a:bodyPr vert="horz" lIns="91440" tIns="46800" rIns="91440" bIns="45720" rtlCol="0">
            <a:normAutofit/>
          </a:bodyPr>
          <a:lstStyle>
            <a:lvl1pPr marL="228600" indent="-360045" algn="l" defTabSz="914400" rtl="0" eaLnBrk="1" latinLnBrk="0" hangingPunct="1">
              <a:lnSpc>
                <a:spcPct val="90000"/>
              </a:lnSpc>
              <a:spcBef>
                <a:spcPts val="1000"/>
              </a:spcBef>
              <a:buClr>
                <a:schemeClr val="tx2"/>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45" algn="l" defTabSz="914400" rtl="0" eaLnBrk="1" latinLnBrk="0" hangingPunct="1">
              <a:lnSpc>
                <a:spcPct val="90000"/>
              </a:lnSpc>
              <a:spcBef>
                <a:spcPts val="500"/>
              </a:spcBef>
              <a:buClr>
                <a:srgbClr val="023A9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45" algn="l" defTabSz="914400" rtl="0" eaLnBrk="1" latinLnBrk="0" hangingPunct="1">
              <a:lnSpc>
                <a:spcPct val="90000"/>
              </a:lnSpc>
              <a:spcBef>
                <a:spcPts val="500"/>
              </a:spcBef>
              <a:buClr>
                <a:srgbClr val="023A9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45" algn="l" defTabSz="914400" rtl="0" eaLnBrk="1" latinLnBrk="0" hangingPunct="1">
              <a:lnSpc>
                <a:spcPct val="90000"/>
              </a:lnSpc>
              <a:spcBef>
                <a:spcPts val="500"/>
              </a:spcBef>
              <a:buClr>
                <a:srgbClr val="023A9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45" algn="l" defTabSz="914400" rtl="0" eaLnBrk="1" latinLnBrk="0" hangingPunct="1">
              <a:lnSpc>
                <a:spcPct val="90000"/>
              </a:lnSpc>
              <a:spcBef>
                <a:spcPts val="500"/>
              </a:spcBef>
              <a:buClr>
                <a:srgbClr val="023A9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dirty="0">
                <a:latin typeface="黑体" panose="02010609060101010101" pitchFamily="49" charset="-122"/>
                <a:ea typeface="黑体" panose="02010609060101010101" pitchFamily="49" charset="-122"/>
              </a:rPr>
              <a:t>支持向量回归</a:t>
            </a:r>
            <a:endParaRPr lang="zh-CN" altLang="en-US" dirty="0">
              <a:latin typeface="黑体" panose="02010609060101010101" pitchFamily="49" charset="-122"/>
              <a:ea typeface="黑体" panose="02010609060101010101" pitchFamily="49" charset="-122"/>
            </a:endParaRPr>
          </a:p>
        </p:txBody>
      </p:sp>
      <p:graphicFrame>
        <p:nvGraphicFramePr>
          <p:cNvPr id="15" name="对象 14"/>
          <p:cNvGraphicFramePr>
            <a:graphicFrameLocks noChangeAspect="1"/>
          </p:cNvGraphicFramePr>
          <p:nvPr/>
        </p:nvGraphicFramePr>
        <p:xfrm>
          <a:off x="2540769" y="1814583"/>
          <a:ext cx="6081713" cy="849312"/>
        </p:xfrm>
        <a:graphic>
          <a:graphicData uri="http://schemas.openxmlformats.org/presentationml/2006/ole">
            <mc:AlternateContent xmlns:mc="http://schemas.openxmlformats.org/markup-compatibility/2006">
              <mc:Choice xmlns:v="urn:schemas-microsoft-com:vml" Requires="v">
                <p:oleObj spid="_x0000_s9" name="Formula" r:id="rId8" imgW="23593425" imgH="3286125" progId="Equation.Ribbit">
                  <p:embed/>
                </p:oleObj>
              </mc:Choice>
              <mc:Fallback>
                <p:oleObj name="Formula" r:id="rId8" imgW="23593425" imgH="3286125" progId="Equation.Ribbit">
                  <p:embed/>
                  <p:pic>
                    <p:nvPicPr>
                      <p:cNvPr id="0" name="图片 8"/>
                      <p:cNvPicPr/>
                      <p:nvPr/>
                    </p:nvPicPr>
                    <p:blipFill>
                      <a:blip r:embed="rId9"/>
                      <a:stretch>
                        <a:fillRect/>
                      </a:stretch>
                    </p:blipFill>
                    <p:spPr>
                      <a:xfrm>
                        <a:off x="2540769" y="1814583"/>
                        <a:ext cx="6081713" cy="849312"/>
                      </a:xfrm>
                      <a:prstGeom prst="rect">
                        <a:avLst/>
                      </a:prstGeom>
                    </p:spPr>
                  </p:pic>
                </p:oleObj>
              </mc:Fallback>
            </mc:AlternateContent>
          </a:graphicData>
        </a:graphic>
      </p:graphicFrame>
      <p:pic>
        <p:nvPicPr>
          <p:cNvPr id="10" name="图片 9"/>
          <p:cNvPicPr>
            <a:picLocks noChangeAspect="1"/>
          </p:cNvPicPr>
          <p:nvPr/>
        </p:nvPicPr>
        <p:blipFill>
          <a:blip r:embed="rId10"/>
          <a:stretch>
            <a:fillRect/>
          </a:stretch>
        </p:blipFill>
        <p:spPr>
          <a:xfrm>
            <a:off x="4087710" y="4764995"/>
            <a:ext cx="4931437" cy="481626"/>
          </a:xfrm>
          <a:prstGeom prst="rect">
            <a:avLst/>
          </a:prstGeom>
        </p:spPr>
      </p:pic>
      <p:pic>
        <p:nvPicPr>
          <p:cNvPr id="11" name="图片 10"/>
          <p:cNvPicPr>
            <a:picLocks noChangeAspect="1"/>
          </p:cNvPicPr>
          <p:nvPr/>
        </p:nvPicPr>
        <p:blipFill>
          <a:blip r:embed="rId11"/>
          <a:stretch>
            <a:fillRect/>
          </a:stretch>
        </p:blipFill>
        <p:spPr>
          <a:xfrm>
            <a:off x="2451110" y="5265626"/>
            <a:ext cx="3063570" cy="113465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par>
                                <p:cTn id="16" presetID="10" presetClass="entr" presetSubtype="0" fill="hold"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0" end="0"/>
                                            </p:txEl>
                                          </p:spTgt>
                                        </p:tgtEl>
                                        <p:attrNameLst>
                                          <p:attrName>style.visibility</p:attrName>
                                        </p:attrNameLst>
                                      </p:cBhvr>
                                      <p:to>
                                        <p:strVal val="visible"/>
                                      </p:to>
                                    </p:set>
                                    <p:animEffect transition="in" filter="fade">
                                      <p:cBhvr>
                                        <p:cTn id="23" dur="500"/>
                                        <p:tgtEl>
                                          <p:spTgt spid="3">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1" end="1"/>
                                            </p:txEl>
                                          </p:spTgt>
                                        </p:tgtEl>
                                        <p:attrNameLst>
                                          <p:attrName>style.visibility</p:attrName>
                                        </p:attrNameLst>
                                      </p:cBhvr>
                                      <p:to>
                                        <p:strVal val="visible"/>
                                      </p:to>
                                    </p:set>
                                    <p:animEffect transition="in" filter="fade">
                                      <p:cBhvr>
                                        <p:cTn id="28" dur="500"/>
                                        <p:tgtEl>
                                          <p:spTgt spid="3">
                                            <p:txEl>
                                              <p:pRg st="1" end="1"/>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
                                            <p:txEl>
                                              <p:pRg st="2" end="2"/>
                                            </p:txEl>
                                          </p:spTgt>
                                        </p:tgtEl>
                                        <p:attrNameLst>
                                          <p:attrName>style.visibility</p:attrName>
                                        </p:attrNameLst>
                                      </p:cBhvr>
                                      <p:to>
                                        <p:strVal val="visible"/>
                                      </p:to>
                                    </p:set>
                                    <p:animEffect transition="in" filter="fade">
                                      <p:cBhvr>
                                        <p:cTn id="31" dur="500"/>
                                        <p:tgtEl>
                                          <p:spTgt spid="3">
                                            <p:txEl>
                                              <p:pRg st="2" end="2"/>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fade">
                                      <p:cBhvr>
                                        <p:cTn id="34" dur="500"/>
                                        <p:tgtEl>
                                          <p:spTgt spid="4"/>
                                        </p:tgtEl>
                                      </p:cBhvr>
                                    </p:animEffect>
                                  </p:childTnLst>
                                </p:cTn>
                              </p:par>
                              <p:par>
                                <p:cTn id="35" presetID="10" presetClass="entr" presetSubtype="0" fill="hold" nodeType="with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fade">
                                      <p:cBhvr>
                                        <p:cTn id="37" dur="500"/>
                                        <p:tgtEl>
                                          <p:spTgt spid="5"/>
                                        </p:tgtEl>
                                      </p:cBhvr>
                                    </p:animEffect>
                                  </p:childTnLst>
                                </p:cTn>
                              </p:par>
                              <p:par>
                                <p:cTn id="38" presetID="10" presetClass="entr" presetSubtype="0" fill="hold" nodeType="with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fade">
                                      <p:cBhvr>
                                        <p:cTn id="4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核线性判别分析</a:t>
            </a:r>
            <a:endParaRPr lang="zh-CN" altLang="en-US"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p:txBody>
          <a:bodyPr>
            <a:normAutofit/>
          </a:bodyPr>
          <a:lstStyle/>
          <a:p>
            <a:r>
              <a:rPr lang="zh-CN" altLang="en-US" b="1" dirty="0">
                <a:latin typeface="黑体" panose="02010609060101010101" pitchFamily="49" charset="-122"/>
                <a:ea typeface="黑体" panose="02010609060101010101" pitchFamily="49" charset="-122"/>
              </a:rPr>
              <a:t>通过表示定理可以得到</a:t>
            </a:r>
            <a:r>
              <a:rPr lang="zh-CN" altLang="en-US" b="1" dirty="0">
                <a:solidFill>
                  <a:srgbClr val="FF0000"/>
                </a:solidFill>
                <a:latin typeface="黑体" panose="02010609060101010101" pitchFamily="49" charset="-122"/>
                <a:ea typeface="黑体" panose="02010609060101010101" pitchFamily="49" charset="-122"/>
              </a:rPr>
              <a:t>很多线性模型的</a:t>
            </a:r>
            <a:r>
              <a:rPr lang="en-US" altLang="zh-CN" b="1" dirty="0">
                <a:solidFill>
                  <a:srgbClr val="FF0000"/>
                </a:solidFill>
                <a:latin typeface="黑体" panose="02010609060101010101" pitchFamily="49" charset="-122"/>
                <a:ea typeface="黑体" panose="02010609060101010101" pitchFamily="49" charset="-122"/>
              </a:rPr>
              <a:t>”</a:t>
            </a:r>
            <a:r>
              <a:rPr lang="zh-CN" altLang="en-US" b="1" dirty="0">
                <a:solidFill>
                  <a:srgbClr val="FF0000"/>
                </a:solidFill>
                <a:latin typeface="黑体" panose="02010609060101010101" pitchFamily="49" charset="-122"/>
                <a:ea typeface="黑体" panose="02010609060101010101" pitchFamily="49" charset="-122"/>
              </a:rPr>
              <a:t>核化</a:t>
            </a:r>
            <a:r>
              <a:rPr lang="en-US" altLang="zh-CN" b="1" dirty="0">
                <a:solidFill>
                  <a:srgbClr val="FF0000"/>
                </a:solidFill>
                <a:latin typeface="黑体" panose="02010609060101010101" pitchFamily="49" charset="-122"/>
                <a:ea typeface="黑体" panose="02010609060101010101" pitchFamily="49" charset="-122"/>
              </a:rPr>
              <a:t>”</a:t>
            </a:r>
            <a:r>
              <a:rPr lang="zh-CN" altLang="en-US" b="1" dirty="0">
                <a:solidFill>
                  <a:srgbClr val="FF0000"/>
                </a:solidFill>
                <a:latin typeface="黑体" panose="02010609060101010101" pitchFamily="49" charset="-122"/>
                <a:ea typeface="黑体" panose="02010609060101010101" pitchFamily="49" charset="-122"/>
              </a:rPr>
              <a:t>版本</a:t>
            </a:r>
            <a:endParaRPr lang="en-US" altLang="zh-CN" b="1" dirty="0">
              <a:solidFill>
                <a:srgbClr val="FF0000"/>
              </a:solidFill>
              <a:latin typeface="黑体" panose="02010609060101010101" pitchFamily="49" charset="-122"/>
              <a:ea typeface="黑体" panose="02010609060101010101" pitchFamily="49" charset="-122"/>
            </a:endParaRPr>
          </a:p>
          <a:p>
            <a:pPr lvl="1"/>
            <a:r>
              <a:rPr lang="zh-CN" altLang="en-US" b="1" dirty="0">
                <a:latin typeface="黑体" panose="02010609060101010101" pitchFamily="49" charset="-122"/>
                <a:ea typeface="黑体" panose="02010609060101010101" pitchFamily="49" charset="-122"/>
              </a:rPr>
              <a:t>核</a:t>
            </a:r>
            <a:r>
              <a:rPr lang="en-US" altLang="zh-CN" b="1" dirty="0">
                <a:latin typeface="黑体" panose="02010609060101010101" pitchFamily="49" charset="-122"/>
                <a:ea typeface="黑体" panose="02010609060101010101" pitchFamily="49" charset="-122"/>
              </a:rPr>
              <a:t>SVM</a:t>
            </a:r>
            <a:endParaRPr lang="en-US" altLang="zh-CN" b="1" dirty="0">
              <a:latin typeface="黑体" panose="02010609060101010101" pitchFamily="49" charset="-122"/>
              <a:ea typeface="黑体" panose="02010609060101010101" pitchFamily="49" charset="-122"/>
            </a:endParaRPr>
          </a:p>
          <a:p>
            <a:pPr lvl="1"/>
            <a:r>
              <a:rPr lang="zh-CN" altLang="en-US" b="1" dirty="0">
                <a:latin typeface="黑体" panose="02010609060101010101" pitchFamily="49" charset="-122"/>
                <a:ea typeface="黑体" panose="02010609060101010101" pitchFamily="49" charset="-122"/>
              </a:rPr>
              <a:t>核</a:t>
            </a:r>
            <a:r>
              <a:rPr lang="en-US" altLang="zh-CN" b="1" dirty="0">
                <a:latin typeface="黑体" panose="02010609060101010101" pitchFamily="49" charset="-122"/>
                <a:ea typeface="黑体" panose="02010609060101010101" pitchFamily="49" charset="-122"/>
              </a:rPr>
              <a:t>LDA</a:t>
            </a:r>
            <a:endParaRPr lang="en-US" altLang="zh-CN" b="1" dirty="0">
              <a:latin typeface="黑体" panose="02010609060101010101" pitchFamily="49" charset="-122"/>
              <a:ea typeface="黑体" panose="02010609060101010101" pitchFamily="49" charset="-122"/>
            </a:endParaRPr>
          </a:p>
          <a:p>
            <a:pPr lvl="1"/>
            <a:r>
              <a:rPr lang="zh-CN" altLang="en-US" b="1" dirty="0">
                <a:latin typeface="黑体" panose="02010609060101010101" pitchFamily="49" charset="-122"/>
                <a:ea typeface="黑体" panose="02010609060101010101" pitchFamily="49" charset="-122"/>
              </a:rPr>
              <a:t>核</a:t>
            </a:r>
            <a:r>
              <a:rPr lang="en-US" altLang="zh-CN" b="1" dirty="0">
                <a:latin typeface="黑体" panose="02010609060101010101" pitchFamily="49" charset="-122"/>
                <a:ea typeface="黑体" panose="02010609060101010101" pitchFamily="49" charset="-122"/>
              </a:rPr>
              <a:t>PCA</a:t>
            </a:r>
            <a:endParaRPr lang="en-US" altLang="zh-CN" b="1" dirty="0">
              <a:latin typeface="黑体" panose="02010609060101010101" pitchFamily="49" charset="-122"/>
              <a:ea typeface="黑体" panose="02010609060101010101" pitchFamily="49" charset="-122"/>
            </a:endParaRPr>
          </a:p>
          <a:p>
            <a:pPr lvl="1"/>
            <a:r>
              <a:rPr lang="en-US" altLang="zh-CN" b="1" dirty="0">
                <a:latin typeface="黑体" panose="02010609060101010101" pitchFamily="49" charset="-122"/>
                <a:ea typeface="黑体" panose="02010609060101010101" pitchFamily="49" charset="-122"/>
              </a:rPr>
              <a:t>……</a:t>
            </a:r>
            <a:endParaRPr lang="en-US" altLang="zh-CN" b="1" dirty="0">
              <a:latin typeface="黑体" panose="02010609060101010101" pitchFamily="49" charset="-122"/>
              <a:ea typeface="黑体" panose="02010609060101010101" pitchFamily="49" charset="-122"/>
            </a:endParaRPr>
          </a:p>
          <a:p>
            <a:pPr lvl="0"/>
            <a:r>
              <a:rPr lang="zh-CN" altLang="en-US" b="1" dirty="0">
                <a:latin typeface="黑体" panose="02010609060101010101" pitchFamily="49" charset="-122"/>
                <a:ea typeface="黑体" panose="02010609060101010101" pitchFamily="49" charset="-122"/>
              </a:rPr>
              <a:t>核</a:t>
            </a:r>
            <a:r>
              <a:rPr lang="en-US" altLang="zh-CN" b="1" dirty="0">
                <a:latin typeface="黑体" panose="02010609060101010101" pitchFamily="49" charset="-122"/>
                <a:ea typeface="黑体" panose="02010609060101010101" pitchFamily="49" charset="-122"/>
              </a:rPr>
              <a:t>LDA: </a:t>
            </a:r>
            <a:r>
              <a:rPr lang="zh-CN" altLang="en-US" b="1" dirty="0">
                <a:latin typeface="黑体" panose="02010609060101010101" pitchFamily="49" charset="-122"/>
                <a:ea typeface="黑体" panose="02010609060101010101" pitchFamily="49" charset="-122"/>
              </a:rPr>
              <a:t>先将样本映射到高维特征空间</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然后在此特征空间中做线性判别分析</a:t>
            </a:r>
            <a:endParaRPr lang="en-US" altLang="zh-CN" b="1" dirty="0">
              <a:latin typeface="黑体" panose="02010609060101010101" pitchFamily="49" charset="-122"/>
              <a:ea typeface="黑体" panose="02010609060101010101" pitchFamily="49" charset="-122"/>
            </a:endParaRPr>
          </a:p>
          <a:p>
            <a:pPr lvl="1"/>
            <a:endParaRPr lang="en-US" altLang="zh-CN" dirty="0"/>
          </a:p>
        </p:txBody>
      </p:sp>
      <p:graphicFrame>
        <p:nvGraphicFramePr>
          <p:cNvPr id="10" name="对象 9"/>
          <p:cNvGraphicFramePr>
            <a:graphicFrameLocks noChangeAspect="1"/>
          </p:cNvGraphicFramePr>
          <p:nvPr/>
        </p:nvGraphicFramePr>
        <p:xfrm>
          <a:off x="2848986" y="4513092"/>
          <a:ext cx="4071938" cy="849312"/>
        </p:xfrm>
        <a:graphic>
          <a:graphicData uri="http://schemas.openxmlformats.org/presentationml/2006/ole">
            <mc:AlternateContent xmlns:mc="http://schemas.openxmlformats.org/markup-compatibility/2006">
              <mc:Choice xmlns:v="urn:schemas-microsoft-com:vml" Requires="v">
                <p:oleObj spid="_x0000_s32" name="Formula" r:id="rId1" imgW="15801975" imgH="3286125" progId="Equation.Ribbit">
                  <p:embed/>
                </p:oleObj>
              </mc:Choice>
              <mc:Fallback>
                <p:oleObj name="Formula" r:id="rId1" imgW="15801975" imgH="3286125" progId="Equation.Ribbit">
                  <p:embed/>
                  <p:pic>
                    <p:nvPicPr>
                      <p:cNvPr id="0" name="图片 31"/>
                      <p:cNvPicPr/>
                      <p:nvPr/>
                    </p:nvPicPr>
                    <p:blipFill>
                      <a:blip r:embed="rId2"/>
                      <a:stretch>
                        <a:fillRect/>
                      </a:stretch>
                    </p:blipFill>
                    <p:spPr>
                      <a:xfrm>
                        <a:off x="2848986" y="4513092"/>
                        <a:ext cx="4071938" cy="849312"/>
                      </a:xfrm>
                      <a:prstGeom prst="rect">
                        <a:avLst/>
                      </a:prstGeom>
                    </p:spPr>
                  </p:pic>
                </p:oleObj>
              </mc:Fallback>
            </mc:AlternateContent>
          </a:graphicData>
        </a:graphic>
      </p:graphicFrame>
      <p:graphicFrame>
        <p:nvGraphicFramePr>
          <p:cNvPr id="11" name="对象 10"/>
          <p:cNvGraphicFramePr>
            <a:graphicFrameLocks noChangeAspect="1"/>
          </p:cNvGraphicFramePr>
          <p:nvPr/>
        </p:nvGraphicFramePr>
        <p:xfrm>
          <a:off x="1335519" y="3676649"/>
          <a:ext cx="2733675" cy="796925"/>
        </p:xfrm>
        <a:graphic>
          <a:graphicData uri="http://schemas.openxmlformats.org/presentationml/2006/ole">
            <mc:AlternateContent xmlns:mc="http://schemas.openxmlformats.org/markup-compatibility/2006">
              <mc:Choice xmlns:v="urn:schemas-microsoft-com:vml" Requires="v">
                <p:oleObj spid="_x0000_s4" name="Formula" r:id="rId3" imgW="10601325" imgH="3076575" progId="Equation.Ribbit">
                  <p:embed/>
                </p:oleObj>
              </mc:Choice>
              <mc:Fallback>
                <p:oleObj name="Formula" r:id="rId3" imgW="10601325" imgH="3076575" progId="Equation.Ribbit">
                  <p:embed/>
                  <p:pic>
                    <p:nvPicPr>
                      <p:cNvPr id="0" name="图片 3"/>
                      <p:cNvPicPr/>
                      <p:nvPr/>
                    </p:nvPicPr>
                    <p:blipFill>
                      <a:blip r:embed="rId4"/>
                      <a:stretch>
                        <a:fillRect/>
                      </a:stretch>
                    </p:blipFill>
                    <p:spPr>
                      <a:xfrm>
                        <a:off x="1335519" y="3676649"/>
                        <a:ext cx="2733675" cy="796925"/>
                      </a:xfrm>
                      <a:prstGeom prst="rect">
                        <a:avLst/>
                      </a:prstGeom>
                    </p:spPr>
                  </p:pic>
                </p:oleObj>
              </mc:Fallback>
            </mc:AlternateContent>
          </a:graphicData>
        </a:graphic>
      </p:graphicFrame>
      <p:graphicFrame>
        <p:nvGraphicFramePr>
          <p:cNvPr id="12" name="对象 11"/>
          <p:cNvGraphicFramePr>
            <a:graphicFrameLocks noChangeAspect="1"/>
          </p:cNvGraphicFramePr>
          <p:nvPr/>
        </p:nvGraphicFramePr>
        <p:xfrm>
          <a:off x="1335519" y="5401923"/>
          <a:ext cx="2644775" cy="687388"/>
        </p:xfrm>
        <a:graphic>
          <a:graphicData uri="http://schemas.openxmlformats.org/presentationml/2006/ole">
            <mc:AlternateContent xmlns:mc="http://schemas.openxmlformats.org/markup-compatibility/2006">
              <mc:Choice xmlns:v="urn:schemas-microsoft-com:vml" Requires="v">
                <p:oleObj spid="_x0000_s5" name="Formula" r:id="rId5" imgW="10258425" imgH="2657475" progId="Equation.Ribbit">
                  <p:embed/>
                </p:oleObj>
              </mc:Choice>
              <mc:Fallback>
                <p:oleObj name="Formula" r:id="rId5" imgW="10258425" imgH="2657475" progId="Equation.Ribbit">
                  <p:embed/>
                  <p:pic>
                    <p:nvPicPr>
                      <p:cNvPr id="0" name="图片 4"/>
                      <p:cNvPicPr/>
                      <p:nvPr/>
                    </p:nvPicPr>
                    <p:blipFill>
                      <a:blip r:embed="rId6"/>
                      <a:stretch>
                        <a:fillRect/>
                      </a:stretch>
                    </p:blipFill>
                    <p:spPr>
                      <a:xfrm>
                        <a:off x="1335519" y="5401923"/>
                        <a:ext cx="2644775" cy="687388"/>
                      </a:xfrm>
                      <a:prstGeom prst="rect">
                        <a:avLst/>
                      </a:prstGeom>
                    </p:spPr>
                  </p:pic>
                </p:oleObj>
              </mc:Fallback>
            </mc:AlternateContent>
          </a:graphicData>
        </a:graphic>
      </p:graphicFrame>
      <p:sp>
        <p:nvSpPr>
          <p:cNvPr id="14" name="下箭头 13"/>
          <p:cNvSpPr/>
          <p:nvPr/>
        </p:nvSpPr>
        <p:spPr>
          <a:xfrm>
            <a:off x="2442949" y="4473574"/>
            <a:ext cx="259407" cy="92834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fade">
                                      <p:cBhvr>
                                        <p:cTn id="7" dur="500"/>
                                        <p:tgtEl>
                                          <p:spTgt spid="3">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par>
                                <p:cTn id="18" presetID="10" presetClass="entr" presetSubtype="0" fill="hold"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黑体" panose="02010609060101010101" pitchFamily="49" charset="-122"/>
                <a:ea typeface="黑体" panose="02010609060101010101" pitchFamily="49" charset="-122"/>
              </a:rPr>
              <a:t>Take Home Message</a:t>
            </a:r>
            <a:endParaRPr lang="zh-CN" altLang="en-US"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p:txBody>
          <a:bodyPr/>
          <a:lstStyle/>
          <a:p>
            <a:r>
              <a:rPr lang="zh-CN" altLang="en-US" b="1" dirty="0">
                <a:latin typeface="黑体" panose="02010609060101010101" pitchFamily="49" charset="-122"/>
                <a:ea typeface="黑体" panose="02010609060101010101" pitchFamily="49" charset="-122"/>
              </a:rPr>
              <a:t>支持向量机的</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最大间隔</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思想</a:t>
            </a:r>
            <a:endParaRPr lang="en-US" altLang="zh-CN" b="1" dirty="0">
              <a:latin typeface="黑体" panose="02010609060101010101" pitchFamily="49" charset="-122"/>
              <a:ea typeface="黑体" panose="02010609060101010101" pitchFamily="49" charset="-122"/>
            </a:endParaRPr>
          </a:p>
          <a:p>
            <a:endParaRPr lang="en-US" altLang="zh-CN" b="1" dirty="0">
              <a:latin typeface="黑体" panose="02010609060101010101" pitchFamily="49" charset="-122"/>
              <a:ea typeface="黑体" panose="02010609060101010101" pitchFamily="49" charset="-122"/>
            </a:endParaRPr>
          </a:p>
          <a:p>
            <a:r>
              <a:rPr lang="zh-CN" altLang="en-US" b="1" dirty="0">
                <a:latin typeface="黑体" panose="02010609060101010101" pitchFamily="49" charset="-122"/>
                <a:ea typeface="黑体" panose="02010609060101010101" pitchFamily="49" charset="-122"/>
              </a:rPr>
              <a:t>对偶问题及其解的稀疏性</a:t>
            </a:r>
            <a:endParaRPr lang="en-US" altLang="zh-CN" b="1" dirty="0">
              <a:latin typeface="黑体" panose="02010609060101010101" pitchFamily="49" charset="-122"/>
              <a:ea typeface="黑体" panose="02010609060101010101" pitchFamily="49" charset="-122"/>
            </a:endParaRPr>
          </a:p>
          <a:p>
            <a:endParaRPr lang="en-US" altLang="zh-CN" b="1" dirty="0">
              <a:latin typeface="黑体" panose="02010609060101010101" pitchFamily="49" charset="-122"/>
              <a:ea typeface="黑体" panose="02010609060101010101" pitchFamily="49" charset="-122"/>
            </a:endParaRPr>
          </a:p>
          <a:p>
            <a:r>
              <a:rPr lang="zh-CN" altLang="en-US" b="1" dirty="0">
                <a:latin typeface="黑体" panose="02010609060101010101" pitchFamily="49" charset="-122"/>
                <a:ea typeface="黑体" panose="02010609060101010101" pitchFamily="49" charset="-122"/>
              </a:rPr>
              <a:t>通过向高维空间映射解决线性不可分的问题</a:t>
            </a:r>
            <a:endParaRPr lang="en-US" altLang="zh-CN" b="1" dirty="0">
              <a:latin typeface="黑体" panose="02010609060101010101" pitchFamily="49" charset="-122"/>
              <a:ea typeface="黑体" panose="02010609060101010101" pitchFamily="49" charset="-122"/>
            </a:endParaRPr>
          </a:p>
          <a:p>
            <a:endParaRPr lang="en-US" altLang="zh-CN" b="1" dirty="0">
              <a:latin typeface="黑体" panose="02010609060101010101" pitchFamily="49" charset="-122"/>
              <a:ea typeface="黑体" panose="02010609060101010101" pitchFamily="49" charset="-122"/>
            </a:endParaRPr>
          </a:p>
          <a:p>
            <a:r>
              <a:rPr lang="zh-CN" altLang="en-US" b="1" dirty="0">
                <a:latin typeface="黑体" panose="02010609060101010101" pitchFamily="49" charset="-122"/>
                <a:ea typeface="黑体" panose="02010609060101010101" pitchFamily="49" charset="-122"/>
              </a:rPr>
              <a:t>引入</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软间隔</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缓解特征空间中线性不可分的问题</a:t>
            </a:r>
            <a:endParaRPr lang="en-US" altLang="zh-CN" b="1" dirty="0">
              <a:latin typeface="黑体" panose="02010609060101010101" pitchFamily="49" charset="-122"/>
              <a:ea typeface="黑体" panose="02010609060101010101" pitchFamily="49" charset="-122"/>
            </a:endParaRPr>
          </a:p>
          <a:p>
            <a:endParaRPr lang="en-US" altLang="zh-CN" b="1" dirty="0">
              <a:latin typeface="黑体" panose="02010609060101010101" pitchFamily="49" charset="-122"/>
              <a:ea typeface="黑体" panose="02010609060101010101" pitchFamily="49" charset="-122"/>
            </a:endParaRPr>
          </a:p>
          <a:p>
            <a:r>
              <a:rPr lang="zh-CN" altLang="en-US" b="1" dirty="0">
                <a:latin typeface="黑体" panose="02010609060101010101" pitchFamily="49" charset="-122"/>
                <a:ea typeface="黑体" panose="02010609060101010101" pitchFamily="49" charset="-122"/>
              </a:rPr>
              <a:t>将支持向量的思想应用到回归问题上得到支持向量回归</a:t>
            </a:r>
            <a:endParaRPr lang="en-US" altLang="zh-CN" b="1" dirty="0">
              <a:latin typeface="黑体" panose="02010609060101010101" pitchFamily="49" charset="-122"/>
              <a:ea typeface="黑体" panose="02010609060101010101" pitchFamily="49" charset="-122"/>
            </a:endParaRPr>
          </a:p>
          <a:p>
            <a:endParaRPr lang="en-US" altLang="zh-CN" b="1" dirty="0">
              <a:latin typeface="黑体" panose="02010609060101010101" pitchFamily="49" charset="-122"/>
              <a:ea typeface="黑体" panose="02010609060101010101" pitchFamily="49" charset="-122"/>
            </a:endParaRPr>
          </a:p>
          <a:p>
            <a:r>
              <a:rPr lang="zh-CN" altLang="en-US" b="1" dirty="0">
                <a:latin typeface="黑体" panose="02010609060101010101" pitchFamily="49" charset="-122"/>
                <a:ea typeface="黑体" panose="02010609060101010101" pitchFamily="49" charset="-122"/>
              </a:rPr>
              <a:t>将核方法推广到其他学习模型</a:t>
            </a:r>
            <a:endParaRPr lang="en-US" altLang="zh-CN" b="1" dirty="0">
              <a:latin typeface="黑体" panose="02010609060101010101" pitchFamily="49" charset="-122"/>
              <a:ea typeface="黑体" panose="02010609060101010101" pitchFamily="49" charset="-122"/>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内容占位符 2"/>
          <p:cNvSpPr>
            <a:spLocks noGrp="1"/>
          </p:cNvSpPr>
          <p:nvPr>
            <p:ph idx="1"/>
          </p:nvPr>
        </p:nvSpPr>
        <p:spPr>
          <a:xfrm>
            <a:off x="169069" y="1460535"/>
            <a:ext cx="8615363" cy="4050506"/>
          </a:xfrm>
        </p:spPr>
        <p:txBody>
          <a:bodyPr>
            <a:normAutofit/>
          </a:bodyPr>
          <a:lstStyle/>
          <a:p>
            <a:pPr eaLnBrk="1" hangingPunct="1">
              <a:lnSpc>
                <a:spcPct val="150000"/>
              </a:lnSpc>
            </a:pPr>
            <a:r>
              <a:rPr lang="en-US" altLang="zh-CN" sz="2000" dirty="0" err="1">
                <a:latin typeface="黑体" panose="02010609060101010101" pitchFamily="49" charset="-122"/>
                <a:ea typeface="黑体" panose="02010609060101010101" pitchFamily="49" charset="-122"/>
              </a:rPr>
              <a:t>Sklearn</a:t>
            </a:r>
            <a:r>
              <a:rPr altLang="en-US" sz="2000" dirty="0">
                <a:latin typeface="黑体" panose="02010609060101010101" pitchFamily="49" charset="-122"/>
                <a:ea typeface="黑体" panose="02010609060101010101" pitchFamily="49" charset="-122"/>
              </a:rPr>
              <a:t>包含三个</a:t>
            </a:r>
            <a:r>
              <a:rPr lang="en-US" altLang="zh-CN" sz="2000" dirty="0">
                <a:latin typeface="黑体" panose="02010609060101010101" pitchFamily="49" charset="-122"/>
                <a:ea typeface="黑体" panose="02010609060101010101" pitchFamily="49" charset="-122"/>
              </a:rPr>
              <a:t>SVM</a:t>
            </a:r>
            <a:r>
              <a:rPr altLang="en-US" sz="2000" dirty="0">
                <a:latin typeface="黑体" panose="02010609060101010101" pitchFamily="49" charset="-122"/>
                <a:ea typeface="黑体" panose="02010609060101010101" pitchFamily="49" charset="-122"/>
              </a:rPr>
              <a:t>分类器</a:t>
            </a:r>
            <a:r>
              <a:rPr lang="en-US" altLang="zh-CN" sz="2000" dirty="0">
                <a:latin typeface="黑体" panose="02010609060101010101" pitchFamily="49" charset="-122"/>
                <a:ea typeface="黑体" panose="02010609060101010101" pitchFamily="49" charset="-122"/>
              </a:rPr>
              <a:t>:</a:t>
            </a:r>
            <a:endParaRPr lang="en-US" altLang="zh-CN" sz="2000" dirty="0">
              <a:latin typeface="黑体" panose="02010609060101010101" pitchFamily="49" charset="-122"/>
              <a:ea typeface="黑体" panose="02010609060101010101" pitchFamily="49" charset="-122"/>
            </a:endParaRPr>
          </a:p>
          <a:p>
            <a:pPr eaLnBrk="1" hangingPunct="1">
              <a:lnSpc>
                <a:spcPct val="150000"/>
              </a:lnSpc>
            </a:pPr>
            <a:r>
              <a:rPr lang="en-US" altLang="zh-CN" sz="2000" dirty="0" err="1">
                <a:latin typeface="黑体" panose="02010609060101010101" pitchFamily="49" charset="-122"/>
                <a:ea typeface="黑体" panose="02010609060101010101" pitchFamily="49" charset="-122"/>
              </a:rPr>
              <a:t>sklearn.svm.LinearSVC</a:t>
            </a:r>
            <a:endParaRPr lang="en-US" altLang="zh-CN" sz="2000" dirty="0">
              <a:latin typeface="黑体" panose="02010609060101010101" pitchFamily="49" charset="-122"/>
              <a:ea typeface="黑体" panose="02010609060101010101" pitchFamily="49" charset="-122"/>
            </a:endParaRPr>
          </a:p>
          <a:p>
            <a:pPr eaLnBrk="1" hangingPunct="1">
              <a:lnSpc>
                <a:spcPct val="150000"/>
              </a:lnSpc>
            </a:pPr>
            <a:r>
              <a:rPr lang="en-US" altLang="zh-CN" sz="2000" dirty="0" err="1">
                <a:latin typeface="黑体" panose="02010609060101010101" pitchFamily="49" charset="-122"/>
                <a:ea typeface="黑体" panose="02010609060101010101" pitchFamily="49" charset="-122"/>
              </a:rPr>
              <a:t>sklearn.svm.SVC</a:t>
            </a:r>
            <a:endParaRPr lang="en-US" altLang="zh-CN" sz="2000" dirty="0">
              <a:latin typeface="黑体" panose="02010609060101010101" pitchFamily="49" charset="-122"/>
              <a:ea typeface="黑体" panose="02010609060101010101" pitchFamily="49" charset="-122"/>
            </a:endParaRPr>
          </a:p>
          <a:p>
            <a:pPr eaLnBrk="1" hangingPunct="1">
              <a:lnSpc>
                <a:spcPct val="150000"/>
              </a:lnSpc>
            </a:pPr>
            <a:r>
              <a:rPr lang="en-US" altLang="zh-CN" sz="2000" dirty="0" err="1">
                <a:latin typeface="黑体" panose="02010609060101010101" pitchFamily="49" charset="-122"/>
                <a:ea typeface="黑体" panose="02010609060101010101" pitchFamily="49" charset="-122"/>
              </a:rPr>
              <a:t>sklearn.svm.NuSVC</a:t>
            </a:r>
            <a:br>
              <a:rPr altLang="en-US" sz="2000" dirty="0">
                <a:latin typeface="+mn-ea"/>
                <a:ea typeface="+mn-ea"/>
              </a:rPr>
            </a:br>
            <a:endParaRPr altLang="en-US" sz="2000" dirty="0">
              <a:latin typeface="+mn-ea"/>
              <a:ea typeface="+mn-ea"/>
            </a:endParaRPr>
          </a:p>
        </p:txBody>
      </p:sp>
      <p:sp>
        <p:nvSpPr>
          <p:cNvPr id="6" name="标题 1"/>
          <p:cNvSpPr txBox="1"/>
          <p:nvPr/>
        </p:nvSpPr>
        <p:spPr>
          <a:xfrm>
            <a:off x="169069" y="214727"/>
            <a:ext cx="7886700" cy="570310"/>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3600" b="1" kern="1200" baseline="0">
                <a:solidFill>
                  <a:schemeClr val="accent1"/>
                </a:solidFill>
                <a:effectLst>
                  <a:outerShdw blurRad="38100" dist="38100" dir="2700000" algn="tl">
                    <a:srgbClr val="000000">
                      <a:alpha val="43137"/>
                    </a:srgbClr>
                  </a:outerShdw>
                </a:effectLst>
                <a:latin typeface="Verdana" panose="020B0604030504040204" pitchFamily="34" charset="0"/>
                <a:ea typeface="幼圆" panose="02010509060101010101" pitchFamily="49" charset="-122"/>
                <a:cs typeface="+mj-cs"/>
              </a:defRPr>
            </a:lvl1pPr>
          </a:lstStyle>
          <a:p>
            <a:r>
              <a:rPr lang="en-US" altLang="zh-CN" dirty="0" err="1">
                <a:latin typeface="黑体" panose="02010609060101010101" pitchFamily="49" charset="-122"/>
                <a:ea typeface="黑体" panose="02010609060101010101" pitchFamily="49" charset="-122"/>
              </a:rPr>
              <a:t>sklearn</a:t>
            </a:r>
            <a:r>
              <a:rPr lang="zh-CN" altLang="en-US" dirty="0">
                <a:latin typeface="黑体" panose="02010609060101010101" pitchFamily="49" charset="-122"/>
                <a:ea typeface="黑体" panose="02010609060101010101" pitchFamily="49" charset="-122"/>
              </a:rPr>
              <a:t>中的</a:t>
            </a:r>
            <a:r>
              <a:rPr lang="en-US" altLang="zh-CN" dirty="0">
                <a:latin typeface="黑体" panose="02010609060101010101" pitchFamily="49" charset="-122"/>
                <a:ea typeface="黑体" panose="02010609060101010101" pitchFamily="49" charset="-122"/>
              </a:rPr>
              <a:t>SVM</a:t>
            </a:r>
            <a:endParaRPr lang="en-US" altLang="zh-CN" dirty="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
          <p:cNvSpPr/>
          <p:nvPr/>
        </p:nvSpPr>
        <p:spPr>
          <a:xfrm>
            <a:off x="242595" y="323077"/>
            <a:ext cx="8001000" cy="400050"/>
          </a:xfrm>
          <a:prstGeom prst="rect">
            <a:avLst/>
          </a:prstGeom>
          <a:noFill/>
        </p:spPr>
        <p:txBody>
          <a:bodyPr vert="horz" wrap="square" lIns="0" tIns="0" rIns="0" bIns="0" rtlCol="0" anchor="ctr"/>
          <a:lstStyle/>
          <a:p>
            <a:pPr marL="0" indent="0" algn="l">
              <a:lnSpc>
                <a:spcPts val="3150"/>
              </a:lnSpc>
              <a:buNone/>
            </a:pPr>
            <a:r>
              <a:rPr lang="en-US" sz="2800" b="1" dirty="0">
                <a:solidFill>
                  <a:srgbClr val="333333"/>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微软雅黑" panose="020B0503020204020204" pitchFamily="34" charset="-120"/>
              </a:rPr>
              <a:t>SVC、LinearSVC与NuSVC的区别与选型建议</a:t>
            </a:r>
            <a:endParaRPr lang="en-US" sz="2800"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p:txBody>
      </p:sp>
      <p:sp>
        <p:nvSpPr>
          <p:cNvPr id="5" name="Text 2"/>
          <p:cNvSpPr/>
          <p:nvPr/>
        </p:nvSpPr>
        <p:spPr>
          <a:xfrm>
            <a:off x="571500" y="-5284621"/>
            <a:ext cx="8001000" cy="209550"/>
          </a:xfrm>
          <a:prstGeom prst="rect">
            <a:avLst/>
          </a:prstGeom>
          <a:noFill/>
        </p:spPr>
        <p:txBody>
          <a:bodyPr vert="horz" wrap="square" lIns="0" tIns="0" rIns="0" bIns="0" rtlCol="0" anchor="ctr"/>
          <a:lstStyle/>
          <a:p>
            <a:pPr marL="0" indent="0" algn="l">
              <a:lnSpc>
                <a:spcPts val="1650"/>
              </a:lnSpc>
              <a:buNone/>
            </a:pPr>
            <a:endParaRPr lang="en-US" sz="1200" dirty="0"/>
          </a:p>
        </p:txBody>
      </p:sp>
      <p:graphicFrame>
        <p:nvGraphicFramePr>
          <p:cNvPr id="18" name="表格 17"/>
          <p:cNvGraphicFramePr>
            <a:graphicFrameLocks noGrp="1"/>
          </p:cNvGraphicFramePr>
          <p:nvPr/>
        </p:nvGraphicFramePr>
        <p:xfrm>
          <a:off x="242595" y="1270158"/>
          <a:ext cx="8464033" cy="4317683"/>
        </p:xfrm>
        <a:graphic>
          <a:graphicData uri="http://schemas.openxmlformats.org/drawingml/2006/table">
            <a:tbl>
              <a:tblPr firstRow="1" bandRow="1">
                <a:tableStyleId>{5C22544A-7EE6-4342-B048-85BDC9FD1C3A}</a:tableStyleId>
              </a:tblPr>
              <a:tblGrid>
                <a:gridCol w="1363436"/>
                <a:gridCol w="1828800"/>
                <a:gridCol w="1968759"/>
                <a:gridCol w="1610231"/>
                <a:gridCol w="1692807"/>
              </a:tblGrid>
              <a:tr h="392376">
                <a:tc>
                  <a:txBody>
                    <a:bodyPr/>
                    <a:lstStyle/>
                    <a:p>
                      <a:pPr algn="ctr">
                        <a:lnSpc>
                          <a:spcPct val="150000"/>
                        </a:lnSpc>
                      </a:pPr>
                      <a:r>
                        <a:rPr lang="zh-CN" altLang="en-US" sz="2000" dirty="0">
                          <a:latin typeface="黑体" panose="02010609060101010101" pitchFamily="49" charset="-122"/>
                          <a:ea typeface="黑体" panose="02010609060101010101" pitchFamily="49" charset="-122"/>
                        </a:rPr>
                        <a:t>分类器</a:t>
                      </a:r>
                      <a:endParaRPr lang="zh-CN" altLang="en-US" sz="2000" dirty="0">
                        <a:latin typeface="黑体" panose="02010609060101010101" pitchFamily="49" charset="-122"/>
                        <a:ea typeface="黑体" panose="02010609060101010101" pitchFamily="49" charset="-122"/>
                      </a:endParaRPr>
                    </a:p>
                  </a:txBody>
                  <a:tcPr/>
                </a:tc>
                <a:tc>
                  <a:txBody>
                    <a:bodyPr/>
                    <a:lstStyle/>
                    <a:p>
                      <a:pPr algn="ctr">
                        <a:lnSpc>
                          <a:spcPct val="150000"/>
                        </a:lnSpc>
                      </a:pPr>
                      <a:r>
                        <a:rPr lang="zh-CN" altLang="en-US" sz="2000" dirty="0">
                          <a:latin typeface="黑体" panose="02010609060101010101" pitchFamily="49" charset="-122"/>
                          <a:ea typeface="黑体" panose="02010609060101010101" pitchFamily="49" charset="-122"/>
                        </a:rPr>
                        <a:t>核心功能对比</a:t>
                      </a:r>
                      <a:endParaRPr lang="zh-CN" altLang="en-US" sz="2000" dirty="0">
                        <a:latin typeface="黑体" panose="02010609060101010101" pitchFamily="49" charset="-122"/>
                        <a:ea typeface="黑体" panose="02010609060101010101" pitchFamily="49" charset="-122"/>
                      </a:endParaRPr>
                    </a:p>
                  </a:txBody>
                  <a:tcPr/>
                </a:tc>
                <a:tc>
                  <a:txBody>
                    <a:bodyPr/>
                    <a:lstStyle/>
                    <a:p>
                      <a:pPr algn="ctr">
                        <a:lnSpc>
                          <a:spcPct val="150000"/>
                        </a:lnSpc>
                      </a:pPr>
                      <a:r>
                        <a:rPr lang="zh-CN" altLang="en-US" dirty="0">
                          <a:latin typeface="黑体" panose="02010609060101010101" pitchFamily="49" charset="-122"/>
                          <a:ea typeface="黑体" panose="02010609060101010101" pitchFamily="49" charset="-122"/>
                        </a:rPr>
                        <a:t>性能与效率权衡</a:t>
                      </a:r>
                      <a:endParaRPr lang="zh-CN" altLang="en-US" dirty="0">
                        <a:latin typeface="黑体" panose="02010609060101010101" pitchFamily="49" charset="-122"/>
                        <a:ea typeface="黑体" panose="02010609060101010101" pitchFamily="49" charset="-122"/>
                      </a:endParaRPr>
                    </a:p>
                  </a:txBody>
                  <a:tcPr/>
                </a:tc>
                <a:tc>
                  <a:txBody>
                    <a:bodyPr/>
                    <a:lstStyle/>
                    <a:p>
                      <a:pPr algn="ctr">
                        <a:lnSpc>
                          <a:spcPct val="150000"/>
                        </a:lnSpc>
                      </a:pPr>
                      <a:r>
                        <a:rPr lang="zh-CN" altLang="en-US" dirty="0">
                          <a:latin typeface="黑体" panose="02010609060101010101" pitchFamily="49" charset="-122"/>
                          <a:ea typeface="黑体" panose="02010609060101010101" pitchFamily="49" charset="-122"/>
                        </a:rPr>
                        <a:t>适用场景划分</a:t>
                      </a:r>
                      <a:endParaRPr lang="zh-CN" altLang="en-US" dirty="0">
                        <a:latin typeface="黑体" panose="02010609060101010101" pitchFamily="49" charset="-122"/>
                        <a:ea typeface="黑体" panose="02010609060101010101" pitchFamily="49" charset="-122"/>
                      </a:endParaRPr>
                    </a:p>
                  </a:txBody>
                  <a:tcPr/>
                </a:tc>
                <a:tc>
                  <a:txBody>
                    <a:bodyPr/>
                    <a:lstStyle/>
                    <a:p>
                      <a:pPr>
                        <a:lnSpc>
                          <a:spcPct val="150000"/>
                        </a:lnSpc>
                      </a:pPr>
                      <a:r>
                        <a:rPr lang="zh-CN" altLang="en-US" dirty="0">
                          <a:latin typeface="黑体" panose="02010609060101010101" pitchFamily="49" charset="-122"/>
                          <a:ea typeface="黑体" panose="02010609060101010101" pitchFamily="49" charset="-122"/>
                        </a:rPr>
                        <a:t>参数设计差异</a:t>
                      </a:r>
                      <a:endParaRPr lang="zh-CN" altLang="en-US" dirty="0">
                        <a:latin typeface="黑体" panose="02010609060101010101" pitchFamily="49" charset="-122"/>
                        <a:ea typeface="黑体" panose="02010609060101010101" pitchFamily="49" charset="-122"/>
                      </a:endParaRPr>
                    </a:p>
                  </a:txBody>
                  <a:tcPr/>
                </a:tc>
              </a:tr>
              <a:tr h="521022">
                <a:tc>
                  <a:txBody>
                    <a:bodyPr/>
                    <a:lstStyle/>
                    <a:p>
                      <a:pPr algn="ctr"/>
                      <a:r>
                        <a:rPr lang="en-US" altLang="zh-CN" b="1" dirty="0">
                          <a:latin typeface="黑体" panose="02010609060101010101" pitchFamily="49" charset="-122"/>
                          <a:ea typeface="黑体" panose="02010609060101010101" pitchFamily="49" charset="-122"/>
                        </a:rPr>
                        <a:t>SVC</a:t>
                      </a:r>
                      <a:endParaRPr lang="zh-CN" altLang="en-US" b="1" dirty="0">
                        <a:latin typeface="黑体" panose="02010609060101010101" pitchFamily="49" charset="-122"/>
                        <a:ea typeface="黑体" panose="02010609060101010101" pitchFamily="49" charset="-122"/>
                      </a:endParaRPr>
                    </a:p>
                  </a:txBody>
                  <a:tcPr/>
                </a:tc>
                <a:tc>
                  <a:txBody>
                    <a:bodyPr/>
                    <a:lstStyle/>
                    <a:p>
                      <a:r>
                        <a:rPr lang="zh-CN" altLang="en-US" dirty="0">
                          <a:latin typeface="黑体" panose="02010609060101010101" pitchFamily="49" charset="-122"/>
                          <a:ea typeface="黑体" panose="02010609060101010101" pitchFamily="49" charset="-122"/>
                        </a:rPr>
                        <a:t>支持多核函数，适合中小数据集</a:t>
                      </a:r>
                      <a:endParaRPr lang="zh-CN" altLang="en-US" dirty="0">
                        <a:latin typeface="黑体" panose="02010609060101010101" pitchFamily="49" charset="-122"/>
                        <a:ea typeface="黑体" panose="02010609060101010101" pitchFamily="49" charset="-122"/>
                      </a:endParaRPr>
                    </a:p>
                  </a:txBody>
                  <a:tcPr/>
                </a:tc>
                <a:tc>
                  <a:txBody>
                    <a:bodyPr/>
                    <a:lstStyle/>
                    <a:p>
                      <a:r>
                        <a:rPr lang="en-US" altLang="zh-CN" dirty="0">
                          <a:latin typeface="黑体" panose="02010609060101010101" pitchFamily="49" charset="-122"/>
                          <a:ea typeface="黑体" panose="02010609060101010101" pitchFamily="49" charset="-122"/>
                        </a:rPr>
                        <a:t>SVC</a:t>
                      </a:r>
                      <a:r>
                        <a:rPr lang="zh-CN" altLang="en-US" dirty="0">
                          <a:latin typeface="黑体" panose="02010609060101010101" pitchFamily="49" charset="-122"/>
                          <a:ea typeface="黑体" panose="02010609060101010101" pitchFamily="49" charset="-122"/>
                        </a:rPr>
                        <a:t>使用</a:t>
                      </a:r>
                      <a:r>
                        <a:rPr lang="en-US" altLang="zh-CN" dirty="0" err="1">
                          <a:latin typeface="黑体" panose="02010609060101010101" pitchFamily="49" charset="-122"/>
                          <a:ea typeface="黑体" panose="02010609060101010101" pitchFamily="49" charset="-122"/>
                        </a:rPr>
                        <a:t>libsvm</a:t>
                      </a:r>
                      <a:r>
                        <a:rPr lang="zh-CN" altLang="en-US" dirty="0">
                          <a:latin typeface="黑体" panose="02010609060101010101" pitchFamily="49" charset="-122"/>
                          <a:ea typeface="黑体" panose="02010609060101010101" pitchFamily="49" charset="-122"/>
                        </a:rPr>
                        <a:t>，支持核技巧但较慢，适用于小样本。</a:t>
                      </a:r>
                      <a:endParaRPr lang="zh-CN" altLang="en-US" dirty="0">
                        <a:latin typeface="黑体" panose="02010609060101010101" pitchFamily="49" charset="-122"/>
                        <a:ea typeface="黑体" panose="02010609060101010101" pitchFamily="49" charset="-122"/>
                      </a:endParaRPr>
                    </a:p>
                  </a:txBody>
                  <a:tcPr/>
                </a:tc>
                <a:tc>
                  <a:txBody>
                    <a:bodyPr/>
                    <a:lstStyle/>
                    <a:p>
                      <a:r>
                        <a:rPr lang="zh-CN" altLang="en-US" dirty="0">
                          <a:latin typeface="黑体" panose="02010609060101010101" pitchFamily="49" charset="-122"/>
                          <a:ea typeface="黑体" panose="02010609060101010101" pitchFamily="49" charset="-122"/>
                        </a:rPr>
                        <a:t>非线性问题首选</a:t>
                      </a:r>
                      <a:r>
                        <a:rPr lang="en-US" altLang="zh-CN" dirty="0">
                          <a:latin typeface="黑体" panose="02010609060101010101" pitchFamily="49" charset="-122"/>
                          <a:ea typeface="黑体" panose="02010609060101010101" pitchFamily="49" charset="-122"/>
                        </a:rPr>
                        <a:t>SVC</a:t>
                      </a:r>
                      <a:r>
                        <a:rPr lang="zh-CN" altLang="en-US" dirty="0">
                          <a:latin typeface="黑体" panose="02010609060101010101" pitchFamily="49" charset="-122"/>
                          <a:ea typeface="黑体" panose="02010609060101010101" pitchFamily="49" charset="-122"/>
                        </a:rPr>
                        <a:t>配合</a:t>
                      </a:r>
                      <a:r>
                        <a:rPr lang="en-US" altLang="zh-CN" dirty="0">
                          <a:latin typeface="黑体" panose="02010609060101010101" pitchFamily="49" charset="-122"/>
                          <a:ea typeface="黑体" panose="02010609060101010101" pitchFamily="49" charset="-122"/>
                        </a:rPr>
                        <a:t>RBF</a:t>
                      </a:r>
                      <a:r>
                        <a:rPr lang="zh-CN" altLang="en-US" dirty="0">
                          <a:latin typeface="黑体" panose="02010609060101010101" pitchFamily="49" charset="-122"/>
                          <a:ea typeface="黑体" panose="02010609060101010101" pitchFamily="49" charset="-122"/>
                        </a:rPr>
                        <a:t>核</a:t>
                      </a:r>
                      <a:endParaRPr lang="zh-CN" altLang="en-US" dirty="0">
                        <a:latin typeface="黑体" panose="02010609060101010101" pitchFamily="49" charset="-122"/>
                        <a:ea typeface="黑体" panose="02010609060101010101" pitchFamily="49" charset="-122"/>
                      </a:endParaRPr>
                    </a:p>
                  </a:txBody>
                  <a:tcPr/>
                </a:tc>
                <a:tc>
                  <a:txBody>
                    <a:bodyPr/>
                    <a:lstStyle/>
                    <a:p>
                      <a:r>
                        <a:rPr lang="zh-CN" altLang="en-US" dirty="0">
                          <a:latin typeface="黑体" panose="02010609060101010101" pitchFamily="49" charset="-122"/>
                          <a:ea typeface="黑体" panose="02010609060101010101" pitchFamily="49" charset="-122"/>
                        </a:rPr>
                        <a:t>使用</a:t>
                      </a:r>
                      <a:r>
                        <a:rPr lang="en-US" altLang="zh-CN" dirty="0">
                          <a:latin typeface="黑体" panose="02010609060101010101" pitchFamily="49" charset="-122"/>
                          <a:ea typeface="黑体" panose="02010609060101010101" pitchFamily="49" charset="-122"/>
                        </a:rPr>
                        <a:t>C</a:t>
                      </a:r>
                      <a:r>
                        <a:rPr lang="zh-CN" altLang="en-US" dirty="0">
                          <a:latin typeface="黑体" panose="02010609060101010101" pitchFamily="49" charset="-122"/>
                          <a:ea typeface="黑体" panose="02010609060101010101" pitchFamily="49" charset="-122"/>
                        </a:rPr>
                        <a:t>调节正则强度</a:t>
                      </a:r>
                      <a:endParaRPr lang="zh-CN" altLang="en-US" dirty="0">
                        <a:latin typeface="黑体" panose="02010609060101010101" pitchFamily="49" charset="-122"/>
                        <a:ea typeface="黑体" panose="02010609060101010101" pitchFamily="49" charset="-122"/>
                      </a:endParaRPr>
                    </a:p>
                  </a:txBody>
                  <a:tcPr/>
                </a:tc>
              </a:tr>
              <a:tr h="521022">
                <a:tc>
                  <a:txBody>
                    <a:bodyPr/>
                    <a:lstStyle/>
                    <a:p>
                      <a:pPr algn="ctr"/>
                      <a:r>
                        <a:rPr lang="en-US" altLang="zh-CN" b="1" dirty="0" err="1">
                          <a:latin typeface="黑体" panose="02010609060101010101" pitchFamily="49" charset="-122"/>
                          <a:ea typeface="黑体" panose="02010609060101010101" pitchFamily="49" charset="-122"/>
                        </a:rPr>
                        <a:t>LinearSVC</a:t>
                      </a:r>
                      <a:endParaRPr lang="zh-CN" altLang="en-US" b="1" dirty="0">
                        <a:latin typeface="黑体" panose="02010609060101010101" pitchFamily="49" charset="-122"/>
                        <a:ea typeface="黑体" panose="02010609060101010101" pitchFamily="49" charset="-122"/>
                      </a:endParaRPr>
                    </a:p>
                  </a:txBody>
                  <a:tcPr/>
                </a:tc>
                <a:tc>
                  <a:txBody>
                    <a:bodyPr/>
                    <a:lstStyle/>
                    <a:p>
                      <a:r>
                        <a:rPr lang="zh-CN" altLang="en-US" dirty="0">
                          <a:latin typeface="黑体" panose="02010609060101010101" pitchFamily="49" charset="-122"/>
                          <a:ea typeface="黑体" panose="02010609060101010101" pitchFamily="49" charset="-122"/>
                        </a:rPr>
                        <a:t>仅线性核，优化更快</a:t>
                      </a:r>
                      <a:endParaRPr lang="zh-CN" altLang="en-US" dirty="0">
                        <a:latin typeface="黑体" panose="02010609060101010101" pitchFamily="49" charset="-122"/>
                        <a:ea typeface="黑体" panose="02010609060101010101" pitchFamily="49" charset="-122"/>
                      </a:endParaRPr>
                    </a:p>
                  </a:txBody>
                  <a:tcPr/>
                </a:tc>
                <a:tc>
                  <a:txBody>
                    <a:bodyPr/>
                    <a:lstStyle/>
                    <a:p>
                      <a:r>
                        <a:rPr lang="zh-CN" altLang="en-US" dirty="0">
                          <a:latin typeface="黑体" panose="02010609060101010101" pitchFamily="49" charset="-122"/>
                          <a:ea typeface="黑体" panose="02010609060101010101" pitchFamily="49" charset="-122"/>
                        </a:rPr>
                        <a:t>基于</a:t>
                      </a:r>
                      <a:r>
                        <a:rPr lang="en-US" altLang="zh-CN" dirty="0" err="1">
                          <a:latin typeface="黑体" panose="02010609060101010101" pitchFamily="49" charset="-122"/>
                          <a:ea typeface="黑体" panose="02010609060101010101" pitchFamily="49" charset="-122"/>
                        </a:rPr>
                        <a:t>liblinear</a:t>
                      </a:r>
                      <a:r>
                        <a:rPr lang="zh-CN" altLang="en-US" dirty="0">
                          <a:latin typeface="黑体" panose="02010609060101010101" pitchFamily="49" charset="-122"/>
                          <a:ea typeface="黑体" panose="02010609060101010101" pitchFamily="49" charset="-122"/>
                        </a:rPr>
                        <a:t>，训练高效，适合大规模线性问题</a:t>
                      </a:r>
                      <a:endParaRPr lang="zh-CN" altLang="en-US" dirty="0">
                        <a:latin typeface="黑体" panose="02010609060101010101" pitchFamily="49" charset="-122"/>
                        <a:ea typeface="黑体" panose="02010609060101010101" pitchFamily="49" charset="-122"/>
                      </a:endParaRPr>
                    </a:p>
                  </a:txBody>
                  <a:tcPr/>
                </a:tc>
                <a:tc>
                  <a:txBody>
                    <a:bodyPr/>
                    <a:lstStyle/>
                    <a:p>
                      <a:r>
                        <a:rPr lang="zh-CN" altLang="en-US" dirty="0">
                          <a:latin typeface="黑体" panose="02010609060101010101" pitchFamily="49" charset="-122"/>
                          <a:ea typeface="黑体" panose="02010609060101010101" pitchFamily="49" charset="-122"/>
                        </a:rPr>
                        <a:t>高维稀疏数据如文本分类可用</a:t>
                      </a:r>
                      <a:r>
                        <a:rPr lang="en-US" altLang="zh-CN" dirty="0" err="1">
                          <a:latin typeface="黑体" panose="02010609060101010101" pitchFamily="49" charset="-122"/>
                          <a:ea typeface="黑体" panose="02010609060101010101" pitchFamily="49" charset="-122"/>
                        </a:rPr>
                        <a:t>LinearSVC</a:t>
                      </a:r>
                      <a:endParaRPr lang="zh-CN" altLang="en-US" dirty="0">
                        <a:latin typeface="黑体" panose="02010609060101010101" pitchFamily="49" charset="-122"/>
                        <a:ea typeface="黑体" panose="02010609060101010101" pitchFamily="49" charset="-122"/>
                      </a:endParaRPr>
                    </a:p>
                  </a:txBody>
                  <a:tcPr/>
                </a:tc>
                <a:tc>
                  <a:txBody>
                    <a:bodyPr/>
                    <a:lstStyle/>
                    <a:p>
                      <a:r>
                        <a:rPr lang="zh-CN" altLang="en-US" dirty="0">
                          <a:latin typeface="黑体" panose="02010609060101010101" pitchFamily="49" charset="-122"/>
                          <a:ea typeface="黑体" panose="02010609060101010101" pitchFamily="49" charset="-122"/>
                        </a:rPr>
                        <a:t>使用</a:t>
                      </a:r>
                      <a:r>
                        <a:rPr lang="en-US" altLang="zh-CN" dirty="0">
                          <a:latin typeface="黑体" panose="02010609060101010101" pitchFamily="49" charset="-122"/>
                          <a:ea typeface="黑体" panose="02010609060101010101" pitchFamily="49" charset="-122"/>
                        </a:rPr>
                        <a:t>C</a:t>
                      </a:r>
                      <a:r>
                        <a:rPr lang="zh-CN" altLang="en-US" dirty="0">
                          <a:latin typeface="黑体" panose="02010609060101010101" pitchFamily="49" charset="-122"/>
                          <a:ea typeface="黑体" panose="02010609060101010101" pitchFamily="49" charset="-122"/>
                        </a:rPr>
                        <a:t>调节正则强度</a:t>
                      </a:r>
                      <a:endParaRPr lang="zh-CN" altLang="en-US" dirty="0">
                        <a:latin typeface="黑体" panose="02010609060101010101" pitchFamily="49" charset="-122"/>
                        <a:ea typeface="黑体" panose="02010609060101010101" pitchFamily="49" charset="-122"/>
                      </a:endParaRPr>
                    </a:p>
                    <a:p>
                      <a:endParaRPr lang="zh-CN" altLang="en-US" dirty="0">
                        <a:latin typeface="黑体" panose="02010609060101010101" pitchFamily="49" charset="-122"/>
                        <a:ea typeface="黑体" panose="02010609060101010101" pitchFamily="49" charset="-122"/>
                      </a:endParaRPr>
                    </a:p>
                  </a:txBody>
                  <a:tcPr/>
                </a:tc>
              </a:tr>
              <a:tr h="521022">
                <a:tc>
                  <a:txBody>
                    <a:bodyPr/>
                    <a:lstStyle/>
                    <a:p>
                      <a:pPr algn="ctr"/>
                      <a:r>
                        <a:rPr lang="en-US" altLang="zh-CN" b="1" dirty="0" err="1">
                          <a:latin typeface="黑体" panose="02010609060101010101" pitchFamily="49" charset="-122"/>
                          <a:ea typeface="黑体" panose="02010609060101010101" pitchFamily="49" charset="-122"/>
                        </a:rPr>
                        <a:t>NuSVC</a:t>
                      </a:r>
                      <a:endParaRPr lang="zh-CN" altLang="en-US" b="1" dirty="0">
                        <a:latin typeface="黑体" panose="02010609060101010101" pitchFamily="49" charset="-122"/>
                        <a:ea typeface="黑体" panose="02010609060101010101" pitchFamily="49" charset="-122"/>
                      </a:endParaRPr>
                    </a:p>
                  </a:txBody>
                  <a:tcPr/>
                </a:tc>
                <a:tc>
                  <a:txBody>
                    <a:bodyPr/>
                    <a:lstStyle/>
                    <a:p>
                      <a:r>
                        <a:rPr lang="zh-CN" altLang="en-US" dirty="0">
                          <a:latin typeface="黑体" panose="02010609060101010101" pitchFamily="49" charset="-122"/>
                          <a:ea typeface="黑体" panose="02010609060101010101" pitchFamily="49" charset="-122"/>
                        </a:rPr>
                        <a:t>以参数</a:t>
                      </a:r>
                      <a:r>
                        <a:rPr lang="en-US" altLang="zh-CN" dirty="0">
                          <a:latin typeface="黑体" panose="02010609060101010101" pitchFamily="49" charset="-122"/>
                          <a:ea typeface="黑体" panose="02010609060101010101" pitchFamily="49" charset="-122"/>
                        </a:rPr>
                        <a:t>ν</a:t>
                      </a:r>
                      <a:r>
                        <a:rPr lang="zh-CN" altLang="en-US" dirty="0">
                          <a:latin typeface="黑体" panose="02010609060101010101" pitchFamily="49" charset="-122"/>
                          <a:ea typeface="黑体" panose="02010609060101010101" pitchFamily="49" charset="-122"/>
                        </a:rPr>
                        <a:t>控制支持向量比例，语义更直观</a:t>
                      </a:r>
                      <a:endParaRPr lang="zh-CN" altLang="en-US" dirty="0">
                        <a:latin typeface="黑体" panose="02010609060101010101" pitchFamily="49" charset="-122"/>
                        <a:ea typeface="黑体" panose="02010609060101010101" pitchFamily="49" charset="-122"/>
                      </a:endParaRPr>
                    </a:p>
                  </a:txBody>
                  <a:tcPr/>
                </a:tc>
                <a:tc>
                  <a:txBody>
                    <a:bodyPr/>
                    <a:lstStyle/>
                    <a:p>
                      <a:r>
                        <a:rPr lang="en-US" altLang="zh-CN" dirty="0">
                          <a:latin typeface="黑体" panose="02010609060101010101" pitchFamily="49" charset="-122"/>
                          <a:ea typeface="黑体" panose="02010609060101010101" pitchFamily="49" charset="-122"/>
                        </a:rPr>
                        <a:t>SVC</a:t>
                      </a:r>
                      <a:r>
                        <a:rPr lang="zh-CN" altLang="en-US" dirty="0">
                          <a:latin typeface="黑体" panose="02010609060101010101" pitchFamily="49" charset="-122"/>
                          <a:ea typeface="黑体" panose="02010609060101010101" pitchFamily="49" charset="-122"/>
                        </a:rPr>
                        <a:t>使用</a:t>
                      </a:r>
                      <a:r>
                        <a:rPr lang="en-US" altLang="zh-CN" dirty="0" err="1">
                          <a:latin typeface="黑体" panose="02010609060101010101" pitchFamily="49" charset="-122"/>
                          <a:ea typeface="黑体" panose="02010609060101010101" pitchFamily="49" charset="-122"/>
                        </a:rPr>
                        <a:t>libsvm</a:t>
                      </a:r>
                      <a:r>
                        <a:rPr lang="zh-CN" altLang="en-US" dirty="0">
                          <a:latin typeface="黑体" panose="02010609060101010101" pitchFamily="49" charset="-122"/>
                          <a:ea typeface="黑体" panose="02010609060101010101" pitchFamily="49" charset="-122"/>
                        </a:rPr>
                        <a:t>，支持核技巧但较慢，适用于小样本。</a:t>
                      </a:r>
                      <a:endParaRPr lang="zh-CN" altLang="en-US" dirty="0">
                        <a:latin typeface="黑体" panose="02010609060101010101" pitchFamily="49" charset="-122"/>
                        <a:ea typeface="黑体" panose="02010609060101010101" pitchFamily="49" charset="-122"/>
                      </a:endParaRPr>
                    </a:p>
                  </a:txBody>
                  <a:tcPr/>
                </a:tc>
                <a:tc>
                  <a:txBody>
                    <a:bodyPr/>
                    <a:lstStyle/>
                    <a:p>
                      <a:r>
                        <a:rPr lang="zh-CN" altLang="en-US" dirty="0">
                          <a:latin typeface="黑体" panose="02010609060101010101" pitchFamily="49" charset="-122"/>
                          <a:ea typeface="黑体" panose="02010609060101010101" pitchFamily="49" charset="-122"/>
                        </a:rPr>
                        <a:t>需精细控制模型复杂度时考虑</a:t>
                      </a:r>
                      <a:r>
                        <a:rPr lang="en-US" altLang="zh-CN" dirty="0" err="1">
                          <a:latin typeface="黑体" panose="02010609060101010101" pitchFamily="49" charset="-122"/>
                          <a:ea typeface="黑体" panose="02010609060101010101" pitchFamily="49" charset="-122"/>
                        </a:rPr>
                        <a:t>NuSVC</a:t>
                      </a:r>
                      <a:endParaRPr lang="zh-CN" altLang="en-US" dirty="0">
                        <a:latin typeface="黑体" panose="02010609060101010101" pitchFamily="49" charset="-122"/>
                        <a:ea typeface="黑体" panose="02010609060101010101" pitchFamily="49" charset="-122"/>
                      </a:endParaRPr>
                    </a:p>
                  </a:txBody>
                  <a:tcPr/>
                </a:tc>
                <a:tc>
                  <a:txBody>
                    <a:bodyPr/>
                    <a:lstStyle/>
                    <a:p>
                      <a:r>
                        <a:rPr lang="en-US" altLang="zh-CN" dirty="0" err="1">
                          <a:latin typeface="黑体" panose="02010609060101010101" pitchFamily="49" charset="-122"/>
                          <a:ea typeface="黑体" panose="02010609060101010101" pitchFamily="49" charset="-122"/>
                        </a:rPr>
                        <a:t>NuSVC</a:t>
                      </a:r>
                      <a:r>
                        <a:rPr lang="zh-CN" altLang="en-US" dirty="0">
                          <a:latin typeface="黑体" panose="02010609060101010101" pitchFamily="49" charset="-122"/>
                          <a:ea typeface="黑体" panose="02010609060101010101" pitchFamily="49" charset="-122"/>
                        </a:rPr>
                        <a:t>用</a:t>
                      </a:r>
                      <a:r>
                        <a:rPr lang="en-US" altLang="zh-CN" dirty="0">
                          <a:latin typeface="黑体" panose="02010609060101010101" pitchFamily="49" charset="-122"/>
                          <a:ea typeface="黑体" panose="02010609060101010101" pitchFamily="49" charset="-122"/>
                        </a:rPr>
                        <a:t>ν∈(0,1)</a:t>
                      </a:r>
                      <a:r>
                        <a:rPr lang="zh-CN" altLang="en-US" dirty="0">
                          <a:latin typeface="黑体" panose="02010609060101010101" pitchFamily="49" charset="-122"/>
                          <a:ea typeface="黑体" panose="02010609060101010101" pitchFamily="49" charset="-122"/>
                        </a:rPr>
                        <a:t>替代</a:t>
                      </a:r>
                      <a:r>
                        <a:rPr lang="en-US" altLang="zh-CN" dirty="0">
                          <a:latin typeface="黑体" panose="02010609060101010101" pitchFamily="49" charset="-122"/>
                          <a:ea typeface="黑体" panose="02010609060101010101" pitchFamily="49" charset="-122"/>
                        </a:rPr>
                        <a:t>C</a:t>
                      </a:r>
                      <a:r>
                        <a:rPr lang="zh-CN" altLang="en-US" dirty="0">
                          <a:latin typeface="黑体" panose="02010609060101010101" pitchFamily="49" charset="-122"/>
                          <a:ea typeface="黑体" panose="02010609060101010101" pitchFamily="49" charset="-122"/>
                        </a:rPr>
                        <a:t>，直接约束误分点和支持向量占比，物理意义更明确</a:t>
                      </a:r>
                      <a:endParaRPr lang="zh-CN" altLang="en-US" dirty="0">
                        <a:latin typeface="黑体" panose="02010609060101010101" pitchFamily="49" charset="-122"/>
                        <a:ea typeface="黑体" panose="02010609060101010101" pitchFamily="49" charset="-122"/>
                      </a:endParaRPr>
                    </a:p>
                  </a:txBody>
                  <a:tcPr/>
                </a:tc>
              </a:tr>
            </a:tbl>
          </a:graphicData>
        </a:graphic>
      </p:graphicFrame>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467"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007269" y="1976438"/>
            <a:ext cx="7406879" cy="3669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468" name="图片 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1314354"/>
            <a:ext cx="914400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标题 1"/>
          <p:cNvSpPr txBox="1"/>
          <p:nvPr/>
        </p:nvSpPr>
        <p:spPr>
          <a:xfrm>
            <a:off x="169069" y="214727"/>
            <a:ext cx="7886700" cy="570310"/>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3600" b="1" kern="1200" baseline="0">
                <a:solidFill>
                  <a:schemeClr val="accent1"/>
                </a:solidFill>
                <a:effectLst>
                  <a:outerShdw blurRad="38100" dist="38100" dir="2700000" algn="tl">
                    <a:srgbClr val="000000">
                      <a:alpha val="43137"/>
                    </a:srgbClr>
                  </a:outerShdw>
                </a:effectLst>
                <a:latin typeface="Verdana" panose="020B0604030504040204" pitchFamily="34" charset="0"/>
                <a:ea typeface="幼圆" panose="02010509060101010101" pitchFamily="49" charset="-122"/>
                <a:cs typeface="+mj-cs"/>
              </a:defRPr>
            </a:lvl1pPr>
          </a:lstStyle>
          <a:p>
            <a:r>
              <a:rPr lang="en-US" altLang="zh-CN" dirty="0" err="1">
                <a:latin typeface="黑体" panose="02010609060101010101" pitchFamily="49" charset="-122"/>
                <a:ea typeface="黑体" panose="02010609060101010101" pitchFamily="49" charset="-122"/>
              </a:rPr>
              <a:t>sklearn</a:t>
            </a:r>
            <a:r>
              <a:rPr lang="zh-CN" altLang="en-US" dirty="0">
                <a:latin typeface="黑体" panose="02010609060101010101" pitchFamily="49" charset="-122"/>
                <a:ea typeface="黑体" panose="02010609060101010101" pitchFamily="49" charset="-122"/>
              </a:rPr>
              <a:t>中的</a:t>
            </a:r>
            <a:r>
              <a:rPr lang="en-US" altLang="zh-CN" dirty="0">
                <a:latin typeface="黑体" panose="02010609060101010101" pitchFamily="49" charset="-122"/>
                <a:ea typeface="黑体" panose="02010609060101010101" pitchFamily="49" charset="-122"/>
              </a:rPr>
              <a:t>SVM</a:t>
            </a:r>
            <a:endParaRPr lang="en-US" altLang="zh-CN" dirty="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p:cNvSpPr>
            <a:spLocks noGrp="1"/>
          </p:cNvSpPr>
          <p:nvPr>
            <p:ph idx="1"/>
          </p:nvPr>
        </p:nvSpPr>
        <p:spPr>
          <a:xfrm>
            <a:off x="365626" y="1076636"/>
            <a:ext cx="8778374" cy="4403138"/>
          </a:xfrm>
        </p:spPr>
        <p:txBody>
          <a:bodyPr/>
          <a:lstStyle/>
          <a:p>
            <a:pPr eaLnBrk="1" hangingPunct="1">
              <a:lnSpc>
                <a:spcPct val="150000"/>
              </a:lnSpc>
              <a:defRPr/>
            </a:pPr>
            <a:r>
              <a:rPr altLang="en-US" sz="1800" b="1" dirty="0">
                <a:solidFill>
                  <a:srgbClr val="FF0000"/>
                </a:solidFill>
                <a:latin typeface="黑体" panose="02010609060101010101" pitchFamily="49" charset="-122"/>
                <a:ea typeface="黑体" panose="02010609060101010101" pitchFamily="49" charset="-122"/>
              </a:rPr>
              <a:t>惩罚因子</a:t>
            </a:r>
            <a:r>
              <a:rPr lang="en-US" altLang="zh-CN" sz="1800" b="1" dirty="0">
                <a:solidFill>
                  <a:srgbClr val="FF0000"/>
                </a:solidFill>
                <a:latin typeface="黑体" panose="02010609060101010101" pitchFamily="49" charset="-122"/>
                <a:ea typeface="黑体" panose="02010609060101010101" pitchFamily="49" charset="-122"/>
              </a:rPr>
              <a:t>C</a:t>
            </a:r>
            <a:r>
              <a:rPr altLang="en-US" sz="1800" b="1" dirty="0">
                <a:latin typeface="黑体" panose="02010609060101010101" pitchFamily="49" charset="-122"/>
                <a:ea typeface="黑体" panose="02010609060101010101" pitchFamily="49" charset="-122"/>
              </a:rPr>
              <a:t>越大，越要尽可能的考虑错误点</a:t>
            </a:r>
            <a:r>
              <a:rPr lang="en-US" altLang="zh-CN" sz="1800" b="1" dirty="0">
                <a:latin typeface="黑体" panose="02010609060101010101" pitchFamily="49" charset="-122"/>
                <a:ea typeface="黑体" panose="02010609060101010101" pitchFamily="49" charset="-122"/>
              </a:rPr>
              <a:t>(</a:t>
            </a:r>
            <a:r>
              <a:rPr altLang="en-US" sz="1800" b="1" dirty="0">
                <a:latin typeface="黑体" panose="02010609060101010101" pitchFamily="49" charset="-122"/>
                <a:ea typeface="黑体" panose="02010609060101010101" pitchFamily="49" charset="-122"/>
              </a:rPr>
              <a:t>也就是说，尽量不要分错</a:t>
            </a:r>
            <a:r>
              <a:rPr lang="en-US" altLang="zh-CN" sz="1800" b="1" dirty="0">
                <a:latin typeface="黑体" panose="02010609060101010101" pitchFamily="49" charset="-122"/>
                <a:ea typeface="黑体" panose="02010609060101010101" pitchFamily="49" charset="-122"/>
              </a:rPr>
              <a:t>)</a:t>
            </a:r>
            <a:r>
              <a:rPr altLang="en-US" sz="1800" b="1" dirty="0">
                <a:latin typeface="黑体" panose="02010609060101010101" pitchFamily="49" charset="-122"/>
                <a:ea typeface="黑体" panose="02010609060101010101" pitchFamily="49" charset="-122"/>
              </a:rPr>
              <a:t>，导致分界距离也变小。坏处是若干错误的“离群点”会对分界面的位置方向影响很大。</a:t>
            </a:r>
            <a:endParaRPr lang="en-US" altLang="zh-CN" sz="1800" b="1" dirty="0">
              <a:latin typeface="黑体" panose="02010609060101010101" pitchFamily="49" charset="-122"/>
              <a:ea typeface="黑体" panose="02010609060101010101" pitchFamily="49" charset="-122"/>
            </a:endParaRPr>
          </a:p>
          <a:p>
            <a:pPr marL="0" indent="0">
              <a:lnSpc>
                <a:spcPct val="150000"/>
              </a:lnSpc>
              <a:buNone/>
              <a:defRPr/>
            </a:pPr>
            <a:br>
              <a:rPr altLang="en-US" sz="1800" dirty="0">
                <a:latin typeface="+mn-ea"/>
                <a:ea typeface="+mn-ea"/>
              </a:rPr>
            </a:br>
            <a:endParaRPr altLang="en-US" sz="1800" dirty="0">
              <a:latin typeface="+mn-ea"/>
              <a:ea typeface="+mn-ea"/>
            </a:endParaRPr>
          </a:p>
        </p:txBody>
      </p:sp>
      <p:pic>
        <p:nvPicPr>
          <p:cNvPr id="63492"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365626" y="2126716"/>
            <a:ext cx="8619578" cy="4141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标题 1"/>
          <p:cNvSpPr txBox="1"/>
          <p:nvPr/>
        </p:nvSpPr>
        <p:spPr>
          <a:xfrm>
            <a:off x="169069" y="214727"/>
            <a:ext cx="7886700" cy="570310"/>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3600" b="1" kern="1200" baseline="0">
                <a:solidFill>
                  <a:schemeClr val="accent1"/>
                </a:solidFill>
                <a:effectLst>
                  <a:outerShdw blurRad="38100" dist="38100" dir="2700000" algn="tl">
                    <a:srgbClr val="000000">
                      <a:alpha val="43137"/>
                    </a:srgbClr>
                  </a:outerShdw>
                </a:effectLst>
                <a:latin typeface="Verdana" panose="020B0604030504040204" pitchFamily="34" charset="0"/>
                <a:ea typeface="幼圆" panose="02010509060101010101" pitchFamily="49" charset="-122"/>
                <a:cs typeface="+mj-cs"/>
              </a:defRPr>
            </a:lvl1pPr>
          </a:lstStyle>
          <a:p>
            <a:r>
              <a:rPr lang="en-US" altLang="zh-CN" dirty="0" err="1">
                <a:latin typeface="黑体" panose="02010609060101010101" pitchFamily="49" charset="-122"/>
                <a:ea typeface="黑体" panose="02010609060101010101" pitchFamily="49" charset="-122"/>
              </a:rPr>
              <a:t>sklearn</a:t>
            </a:r>
            <a:r>
              <a:rPr lang="zh-CN" altLang="en-US" dirty="0">
                <a:latin typeface="黑体" panose="02010609060101010101" pitchFamily="49" charset="-122"/>
                <a:ea typeface="黑体" panose="02010609060101010101" pitchFamily="49" charset="-122"/>
              </a:rPr>
              <a:t>中的</a:t>
            </a:r>
            <a:r>
              <a:rPr lang="en-US" altLang="zh-CN" dirty="0">
                <a:latin typeface="黑体" panose="02010609060101010101" pitchFamily="49" charset="-122"/>
                <a:ea typeface="黑体" panose="02010609060101010101" pitchFamily="49" charset="-122"/>
              </a:rPr>
              <a:t>SVM</a:t>
            </a:r>
            <a:endParaRPr lang="en-US" altLang="zh-CN" dirty="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p:cNvSpPr>
            <a:spLocks noGrp="1"/>
          </p:cNvSpPr>
          <p:nvPr>
            <p:ph idx="1"/>
          </p:nvPr>
        </p:nvSpPr>
        <p:spPr>
          <a:xfrm>
            <a:off x="260350" y="1229036"/>
            <a:ext cx="8046244" cy="4050506"/>
          </a:xfrm>
        </p:spPr>
        <p:txBody>
          <a:bodyPr/>
          <a:lstStyle/>
          <a:p>
            <a:pPr eaLnBrk="1" hangingPunct="1">
              <a:lnSpc>
                <a:spcPct val="150000"/>
              </a:lnSpc>
              <a:defRPr/>
            </a:pPr>
            <a:r>
              <a:rPr lang="en-US" altLang="zh-CN" sz="1800" b="1" dirty="0">
                <a:solidFill>
                  <a:srgbClr val="FF0000"/>
                </a:solidFill>
                <a:latin typeface="黑体" panose="02010609060101010101" pitchFamily="49" charset="-122"/>
                <a:ea typeface="黑体" panose="02010609060101010101" pitchFamily="49" charset="-122"/>
              </a:rPr>
              <a:t>degree</a:t>
            </a:r>
            <a:r>
              <a:rPr altLang="en-US" sz="1800" b="1" dirty="0">
                <a:latin typeface="黑体" panose="02010609060101010101" pitchFamily="49" charset="-122"/>
                <a:ea typeface="黑体" panose="02010609060101010101" pitchFamily="49" charset="-122"/>
              </a:rPr>
              <a:t>越大，分类器越灵活。太大会出现过拟合。</a:t>
            </a:r>
            <a:br>
              <a:rPr altLang="en-US" sz="1800" b="1" dirty="0">
                <a:latin typeface="黑体" panose="02010609060101010101" pitchFamily="49" charset="-122"/>
                <a:ea typeface="黑体" panose="02010609060101010101" pitchFamily="49" charset="-122"/>
              </a:rPr>
            </a:br>
            <a:endParaRPr altLang="en-US" sz="1800" b="1" dirty="0">
              <a:latin typeface="黑体" panose="02010609060101010101" pitchFamily="49" charset="-122"/>
              <a:ea typeface="黑体" panose="02010609060101010101" pitchFamily="49" charset="-122"/>
            </a:endParaRPr>
          </a:p>
        </p:txBody>
      </p:sp>
      <p:pic>
        <p:nvPicPr>
          <p:cNvPr id="64516"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0" y="2217151"/>
            <a:ext cx="9186565" cy="3176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标题 1"/>
          <p:cNvSpPr txBox="1"/>
          <p:nvPr/>
        </p:nvSpPr>
        <p:spPr>
          <a:xfrm>
            <a:off x="169069" y="214727"/>
            <a:ext cx="7886700" cy="570310"/>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3600" b="1" kern="1200" baseline="0">
                <a:solidFill>
                  <a:schemeClr val="accent1"/>
                </a:solidFill>
                <a:effectLst>
                  <a:outerShdw blurRad="38100" dist="38100" dir="2700000" algn="tl">
                    <a:srgbClr val="000000">
                      <a:alpha val="43137"/>
                    </a:srgbClr>
                  </a:outerShdw>
                </a:effectLst>
                <a:latin typeface="Verdana" panose="020B0604030504040204" pitchFamily="34" charset="0"/>
                <a:ea typeface="幼圆" panose="02010509060101010101" pitchFamily="49" charset="-122"/>
                <a:cs typeface="+mj-cs"/>
              </a:defRPr>
            </a:lvl1pPr>
          </a:lstStyle>
          <a:p>
            <a:r>
              <a:rPr lang="en-US" altLang="zh-CN" dirty="0" err="1">
                <a:latin typeface="黑体" panose="02010609060101010101" pitchFamily="49" charset="-122"/>
                <a:ea typeface="黑体" panose="02010609060101010101" pitchFamily="49" charset="-122"/>
              </a:rPr>
              <a:t>sklearn</a:t>
            </a:r>
            <a:r>
              <a:rPr lang="zh-CN" altLang="en-US" dirty="0">
                <a:latin typeface="黑体" panose="02010609060101010101" pitchFamily="49" charset="-122"/>
                <a:ea typeface="黑体" panose="02010609060101010101" pitchFamily="49" charset="-122"/>
              </a:rPr>
              <a:t>中的</a:t>
            </a:r>
            <a:r>
              <a:rPr lang="en-US" altLang="zh-CN" dirty="0">
                <a:latin typeface="黑体" panose="02010609060101010101" pitchFamily="49" charset="-122"/>
                <a:ea typeface="黑体" panose="02010609060101010101" pitchFamily="49" charset="-122"/>
              </a:rPr>
              <a:t>SVM</a:t>
            </a:r>
            <a:endParaRPr lang="en-US" altLang="zh-CN" dirty="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p:cNvSpPr>
            <a:spLocks noGrp="1"/>
          </p:cNvSpPr>
          <p:nvPr>
            <p:ph idx="1"/>
          </p:nvPr>
        </p:nvSpPr>
        <p:spPr>
          <a:xfrm>
            <a:off x="266233" y="1116393"/>
            <a:ext cx="1257767" cy="4104964"/>
          </a:xfrm>
        </p:spPr>
        <p:txBody>
          <a:bodyPr>
            <a:normAutofit/>
          </a:bodyPr>
          <a:lstStyle/>
          <a:p>
            <a:pPr eaLnBrk="1" hangingPunct="1">
              <a:lnSpc>
                <a:spcPct val="150000"/>
              </a:lnSpc>
              <a:defRPr/>
            </a:pPr>
            <a:r>
              <a:rPr lang="en-US" altLang="zh-CN" sz="1800" b="1" dirty="0">
                <a:solidFill>
                  <a:srgbClr val="FF0000"/>
                </a:solidFill>
                <a:latin typeface="黑体" panose="02010609060101010101" pitchFamily="49" charset="-122"/>
                <a:ea typeface="黑体" panose="02010609060101010101" pitchFamily="49" charset="-122"/>
              </a:rPr>
              <a:t>gamma</a:t>
            </a:r>
            <a:r>
              <a:rPr altLang="en-US" sz="1800" b="1" dirty="0">
                <a:latin typeface="黑体" panose="02010609060101010101" pitchFamily="49" charset="-122"/>
                <a:ea typeface="黑体" panose="02010609060101010101" pitchFamily="49" charset="-122"/>
              </a:rPr>
              <a:t>越大，分类器越灵活。太大会出现过拟合。</a:t>
            </a:r>
            <a:endParaRPr lang="en-US" altLang="zh-CN" sz="1800" b="1" dirty="0">
              <a:latin typeface="黑体" panose="02010609060101010101" pitchFamily="49" charset="-122"/>
              <a:ea typeface="黑体" panose="02010609060101010101" pitchFamily="49" charset="-122"/>
            </a:endParaRPr>
          </a:p>
          <a:p>
            <a:pPr marL="0" indent="0">
              <a:lnSpc>
                <a:spcPct val="150000"/>
              </a:lnSpc>
              <a:buNone/>
              <a:defRPr/>
            </a:pPr>
            <a:endParaRPr altLang="en-US" sz="1800" dirty="0">
              <a:latin typeface="+mn-ea"/>
              <a:ea typeface="+mn-ea"/>
            </a:endParaRPr>
          </a:p>
        </p:txBody>
      </p:sp>
      <p:pic>
        <p:nvPicPr>
          <p:cNvPr id="65540"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032862" y="844878"/>
            <a:ext cx="5971451" cy="5649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标题 1"/>
          <p:cNvSpPr txBox="1"/>
          <p:nvPr/>
        </p:nvSpPr>
        <p:spPr>
          <a:xfrm>
            <a:off x="169069" y="214727"/>
            <a:ext cx="7886700" cy="570310"/>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3600" b="1" kern="1200" baseline="0">
                <a:solidFill>
                  <a:schemeClr val="accent1"/>
                </a:solidFill>
                <a:effectLst>
                  <a:outerShdw blurRad="38100" dist="38100" dir="2700000" algn="tl">
                    <a:srgbClr val="000000">
                      <a:alpha val="43137"/>
                    </a:srgbClr>
                  </a:outerShdw>
                </a:effectLst>
                <a:latin typeface="Verdana" panose="020B0604030504040204" pitchFamily="34" charset="0"/>
                <a:ea typeface="幼圆" panose="02010509060101010101" pitchFamily="49" charset="-122"/>
                <a:cs typeface="+mj-cs"/>
              </a:defRPr>
            </a:lvl1pPr>
          </a:lstStyle>
          <a:p>
            <a:r>
              <a:rPr lang="en-US" altLang="zh-CN" dirty="0" err="1">
                <a:latin typeface="黑体" panose="02010609060101010101" pitchFamily="49" charset="-122"/>
                <a:ea typeface="黑体" panose="02010609060101010101" pitchFamily="49" charset="-122"/>
              </a:rPr>
              <a:t>sklearn</a:t>
            </a:r>
            <a:r>
              <a:rPr lang="zh-CN" altLang="en-US" dirty="0">
                <a:latin typeface="黑体" panose="02010609060101010101" pitchFamily="49" charset="-122"/>
                <a:ea typeface="黑体" panose="02010609060101010101" pitchFamily="49" charset="-122"/>
              </a:rPr>
              <a:t>中的</a:t>
            </a:r>
            <a:r>
              <a:rPr lang="en-US" altLang="zh-CN" dirty="0">
                <a:latin typeface="黑体" panose="02010609060101010101" pitchFamily="49" charset="-122"/>
                <a:ea typeface="黑体" panose="02010609060101010101" pitchFamily="49" charset="-122"/>
              </a:rPr>
              <a:t>SVM</a:t>
            </a:r>
            <a:endParaRPr lang="en-US" altLang="zh-CN" dirty="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562" name="图片 5"/>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51611" y="561613"/>
            <a:ext cx="9091666" cy="51699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563" name="图片 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286018" y="4124584"/>
            <a:ext cx="4533304" cy="280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1"/>
          <p:cNvSpPr>
            <a:spLocks noGrp="1"/>
          </p:cNvSpPr>
          <p:nvPr>
            <p:ph type="title"/>
          </p:nvPr>
        </p:nvSpPr>
        <p:spPr>
          <a:xfrm>
            <a:off x="239782" y="75414"/>
            <a:ext cx="7886700" cy="726281"/>
          </a:xfrm>
        </p:spPr>
        <p:txBody>
          <a:bodyPr vert="horz" lIns="91440" tIns="45720" rIns="91440" bIns="45720" rtlCol="0" anchor="ctr">
            <a:normAutofit fontScale="97500"/>
          </a:bodyPr>
          <a:lstStyle/>
          <a:p>
            <a:r>
              <a:rPr altLang="en-US" dirty="0" err="1">
                <a:latin typeface="黑体" panose="02010609060101010101" pitchFamily="49" charset="-122"/>
                <a:ea typeface="黑体" panose="02010609060101010101" pitchFamily="49" charset="-122"/>
              </a:rPr>
              <a:t>核的选择</a:t>
            </a:r>
            <a:endParaRPr altLang="en-US" dirty="0">
              <a:latin typeface="黑体" panose="02010609060101010101" pitchFamily="49" charset="-122"/>
              <a:ea typeface="黑体" panose="02010609060101010101" pitchFamily="49" charset="-122"/>
            </a:endParaRPr>
          </a:p>
        </p:txBody>
      </p:sp>
      <p:pic>
        <p:nvPicPr>
          <p:cNvPr id="67587" name="图片 3"/>
          <p:cNvPicPr>
            <a:picLocks noChangeAspect="1"/>
          </p:cNvPicPr>
          <p:nvPr/>
        </p:nvPicPr>
        <p:blipFill>
          <a:blip r:embed="rId1">
            <a:extLst>
              <a:ext uri="{28A0092B-C50C-407E-A947-70E740481C1C}">
                <a14:useLocalDpi xmlns:a14="http://schemas.microsoft.com/office/drawing/2010/main" val="0"/>
              </a:ext>
            </a:extLst>
          </a:blip>
          <a:srcRect t="5714"/>
          <a:stretch>
            <a:fillRect/>
          </a:stretch>
        </p:blipFill>
        <p:spPr bwMode="auto">
          <a:xfrm>
            <a:off x="239782" y="2162305"/>
            <a:ext cx="8768962" cy="2058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588" name="内容占位符 2"/>
          <p:cNvSpPr>
            <a:spLocks noGrp="1"/>
          </p:cNvSpPr>
          <p:nvPr>
            <p:ph idx="1"/>
          </p:nvPr>
        </p:nvSpPr>
        <p:spPr>
          <a:xfrm>
            <a:off x="305991" y="1089888"/>
            <a:ext cx="6534150" cy="4050506"/>
          </a:xfrm>
        </p:spPr>
        <p:txBody>
          <a:bodyPr>
            <a:normAutofit/>
          </a:bodyPr>
          <a:lstStyle/>
          <a:p>
            <a:pPr eaLnBrk="1" hangingPunct="1">
              <a:lnSpc>
                <a:spcPct val="150000"/>
              </a:lnSpc>
            </a:pPr>
            <a:r>
              <a:rPr altLang="en-US" sz="2000" b="1" dirty="0">
                <a:latin typeface="黑体" panose="02010609060101010101" pitchFamily="49" charset="-122"/>
                <a:ea typeface="黑体" panose="02010609060101010101" pitchFamily="49" charset="-122"/>
              </a:rPr>
              <a:t>在不同数据集上，不同核的表现是差异较大的。</a:t>
            </a:r>
            <a:br>
              <a:rPr altLang="en-US" sz="2000" b="1" dirty="0">
                <a:latin typeface="黑体" panose="02010609060101010101" pitchFamily="49" charset="-122"/>
                <a:ea typeface="黑体" panose="02010609060101010101" pitchFamily="49" charset="-122"/>
              </a:rPr>
            </a:br>
            <a:endParaRPr altLang="en-US" sz="2000" b="1" dirty="0">
              <a:latin typeface="黑体" panose="02010609060101010101" pitchFamily="49" charset="-122"/>
              <a:ea typeface="黑体" panose="02010609060101010101" pitchFamily="49" charset="-122"/>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10" name="图片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27719" y="0"/>
            <a:ext cx="8637985" cy="62408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ph type="title"/>
          </p:nvPr>
        </p:nvSpPr>
        <p:spPr>
          <a:xfrm>
            <a:off x="251223" y="176574"/>
            <a:ext cx="7886700" cy="570310"/>
          </a:xfrm>
        </p:spPr>
        <p:txBody>
          <a:bodyPr vert="horz" lIns="91440" tIns="45720" rIns="91440" bIns="45720" rtlCol="0" anchor="ctr">
            <a:normAutofit fontScale="90000"/>
          </a:bodyPr>
          <a:lstStyle/>
          <a:p>
            <a:r>
              <a:rPr altLang="en-US" dirty="0">
                <a:latin typeface="黑体" panose="02010609060101010101" pitchFamily="49" charset="-122"/>
                <a:ea typeface="黑体" panose="02010609060101010101" pitchFamily="49" charset="-122"/>
              </a:rPr>
              <a:t>比</a:t>
            </a:r>
            <a:r>
              <a:rPr lang="en-US" altLang="en-US" dirty="0">
                <a:latin typeface="黑体" panose="02010609060101010101" pitchFamily="49" charset="-122"/>
                <a:ea typeface="黑体" panose="02010609060101010101" pitchFamily="49" charset="-122"/>
              </a:rPr>
              <a:t> </a:t>
            </a:r>
            <a:r>
              <a:rPr altLang="en-US" dirty="0">
                <a:latin typeface="黑体" panose="02010609060101010101" pitchFamily="49" charset="-122"/>
                <a:ea typeface="黑体" panose="02010609060101010101" pitchFamily="49" charset="-122"/>
              </a:rPr>
              <a:t>较</a:t>
            </a:r>
            <a:endParaRPr altLang="zh-CN" dirty="0">
              <a:latin typeface="黑体" panose="02010609060101010101" pitchFamily="49" charset="-122"/>
              <a:ea typeface="黑体" panose="02010609060101010101" pitchFamily="49" charset="-122"/>
            </a:endParaRPr>
          </a:p>
        </p:txBody>
      </p:sp>
      <p:sp>
        <p:nvSpPr>
          <p:cNvPr id="58371" name="内容占位符 2"/>
          <p:cNvSpPr>
            <a:spLocks noGrp="1"/>
          </p:cNvSpPr>
          <p:nvPr>
            <p:ph idx="1"/>
          </p:nvPr>
        </p:nvSpPr>
        <p:spPr>
          <a:xfrm>
            <a:off x="251223" y="1376363"/>
            <a:ext cx="1703473" cy="2970610"/>
          </a:xfrm>
        </p:spPr>
        <p:txBody>
          <a:bodyPr vert="horz" lIns="91440" tIns="46800" rIns="91440" bIns="45720" rtlCol="0">
            <a:normAutofit/>
          </a:bodyPr>
          <a:lstStyle/>
          <a:p>
            <a:pPr>
              <a:lnSpc>
                <a:spcPct val="150000"/>
              </a:lnSpc>
            </a:pPr>
            <a:r>
              <a:rPr altLang="en-US" sz="2000" b="1" dirty="0">
                <a:latin typeface="黑体" panose="02010609060101010101" pitchFamily="49" charset="-122"/>
                <a:ea typeface="黑体" panose="02010609060101010101" pitchFamily="49" charset="-122"/>
              </a:rPr>
              <a:t>这个例子单说明了</a:t>
            </a:r>
            <a:r>
              <a:rPr lang="en-US" altLang="zh-CN" sz="2000" b="1" dirty="0">
                <a:latin typeface="黑体" panose="02010609060101010101" pitchFamily="49" charset="-122"/>
                <a:ea typeface="黑体" panose="02010609060101010101" pitchFamily="49" charset="-122"/>
              </a:rPr>
              <a:t>SVM</a:t>
            </a:r>
            <a:r>
              <a:rPr altLang="en-US" sz="2000" b="1" dirty="0">
                <a:latin typeface="黑体" panose="02010609060101010101" pitchFamily="49" charset="-122"/>
                <a:ea typeface="黑体" panose="02010609060101010101" pitchFamily="49" charset="-122"/>
              </a:rPr>
              <a:t>使用非线性分类器的优</a:t>
            </a:r>
            <a:r>
              <a:rPr lang="zh-CN" altLang="en-US" sz="2000" b="1" dirty="0">
                <a:latin typeface="黑体" panose="02010609060101010101" pitchFamily="49" charset="-122"/>
                <a:ea typeface="黑体" panose="02010609060101010101" pitchFamily="49" charset="-122"/>
              </a:rPr>
              <a:t>点。</a:t>
            </a:r>
            <a:endParaRPr altLang="en-US" sz="2000" b="1" dirty="0">
              <a:latin typeface="黑体" panose="02010609060101010101" pitchFamily="49" charset="-122"/>
              <a:ea typeface="黑体" panose="02010609060101010101" pitchFamily="49" charset="-122"/>
            </a:endParaRPr>
          </a:p>
        </p:txBody>
      </p:sp>
      <p:pic>
        <p:nvPicPr>
          <p:cNvPr id="58372"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141935" y="1431132"/>
            <a:ext cx="6686550" cy="4246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ph type="title"/>
          </p:nvPr>
        </p:nvSpPr>
        <p:spPr>
          <a:xfrm>
            <a:off x="297035" y="174971"/>
            <a:ext cx="7886700" cy="570310"/>
          </a:xfrm>
        </p:spPr>
        <p:txBody>
          <a:bodyPr vert="horz" lIns="91440" tIns="45720" rIns="91440" bIns="45720" rtlCol="0" anchor="ctr">
            <a:normAutofit fontScale="90000"/>
          </a:bodyPr>
          <a:lstStyle/>
          <a:p>
            <a:r>
              <a:rPr lang="en-US" altLang="zh-CN" dirty="0" err="1">
                <a:latin typeface="黑体" panose="02010609060101010101" pitchFamily="49" charset="-122"/>
                <a:ea typeface="黑体" panose="02010609060101010101" pitchFamily="49" charset="-122"/>
              </a:rPr>
              <a:t>SVM</a:t>
            </a:r>
            <a:r>
              <a:rPr altLang="en-US" dirty="0" err="1">
                <a:latin typeface="黑体" panose="02010609060101010101" pitchFamily="49" charset="-122"/>
                <a:ea typeface="黑体" panose="02010609060101010101" pitchFamily="49" charset="-122"/>
              </a:rPr>
              <a:t>特点</a:t>
            </a:r>
            <a:endParaRPr altLang="zh-CN" dirty="0">
              <a:latin typeface="黑体" panose="02010609060101010101" pitchFamily="49" charset="-122"/>
              <a:ea typeface="黑体" panose="02010609060101010101" pitchFamily="49" charset="-122"/>
            </a:endParaRPr>
          </a:p>
        </p:txBody>
      </p:sp>
      <p:sp>
        <p:nvSpPr>
          <p:cNvPr id="59395" name="内容占位符 2"/>
          <p:cNvSpPr>
            <a:spLocks noGrp="1"/>
          </p:cNvSpPr>
          <p:nvPr>
            <p:ph idx="1"/>
          </p:nvPr>
        </p:nvSpPr>
        <p:spPr>
          <a:xfrm>
            <a:off x="-14391" y="877803"/>
            <a:ext cx="9271034" cy="5066161"/>
          </a:xfrm>
        </p:spPr>
        <p:txBody>
          <a:bodyPr>
            <a:noAutofit/>
          </a:bodyPr>
          <a:lstStyle/>
          <a:p>
            <a:pPr marL="285750" indent="-285750">
              <a:lnSpc>
                <a:spcPct val="150000"/>
              </a:lnSpc>
            </a:pPr>
            <a:r>
              <a:rPr altLang="en-US" sz="2400" b="1" dirty="0">
                <a:solidFill>
                  <a:srgbClr val="FF0000"/>
                </a:solidFill>
                <a:latin typeface="黑体" panose="02010609060101010101" pitchFamily="49" charset="-122"/>
                <a:ea typeface="黑体" panose="02010609060101010101" pitchFamily="49" charset="-122"/>
              </a:rPr>
              <a:t>优点</a:t>
            </a:r>
            <a:r>
              <a:rPr altLang="en-US" sz="2400" b="1" dirty="0">
                <a:latin typeface="黑体" panose="02010609060101010101" pitchFamily="49" charset="-122"/>
                <a:ea typeface="黑体" panose="02010609060101010101" pitchFamily="49" charset="-122"/>
              </a:rPr>
              <a:t>： </a:t>
            </a:r>
            <a:endParaRPr lang="en-US" altLang="en-US" sz="2400" b="1" dirty="0">
              <a:latin typeface="黑体" panose="02010609060101010101" pitchFamily="49" charset="-122"/>
              <a:ea typeface="黑体" panose="02010609060101010101" pitchFamily="49" charset="-122"/>
            </a:endParaRPr>
          </a:p>
          <a:p>
            <a:pPr marL="285750" indent="-285750">
              <a:lnSpc>
                <a:spcPct val="150000"/>
              </a:lnSpc>
              <a:buFont typeface="Arial" panose="020B0604020202020204" pitchFamily="34" charset="0"/>
              <a:buChar char="•"/>
            </a:pPr>
            <a:r>
              <a:rPr altLang="en-US" sz="1800" b="1" dirty="0">
                <a:latin typeface="黑体" panose="02010609060101010101" pitchFamily="49" charset="-122"/>
                <a:ea typeface="黑体" panose="02010609060101010101" pitchFamily="49" charset="-122"/>
              </a:rPr>
              <a:t>在高维空间中有效。 </a:t>
            </a:r>
            <a:endParaRPr lang="en-US" altLang="en-US" sz="1800" b="1" dirty="0">
              <a:latin typeface="黑体" panose="02010609060101010101" pitchFamily="49" charset="-122"/>
              <a:ea typeface="黑体" panose="02010609060101010101" pitchFamily="49" charset="-122"/>
            </a:endParaRPr>
          </a:p>
          <a:p>
            <a:pPr marL="285750" indent="-285750">
              <a:lnSpc>
                <a:spcPct val="150000"/>
              </a:lnSpc>
              <a:buFont typeface="Arial" panose="020B0604020202020204" pitchFamily="34" charset="0"/>
              <a:buChar char="•"/>
            </a:pPr>
            <a:r>
              <a:rPr altLang="en-US" sz="1800" b="1" dirty="0">
                <a:latin typeface="黑体" panose="02010609060101010101" pitchFamily="49" charset="-122"/>
                <a:ea typeface="黑体" panose="02010609060101010101" pitchFamily="49" charset="-122"/>
              </a:rPr>
              <a:t>在尺寸数量大于样本数量的情况下仍然有效。</a:t>
            </a:r>
            <a:r>
              <a:rPr lang="en-US" altLang="zh-CN" sz="1800" b="1" dirty="0">
                <a:latin typeface="黑体" panose="02010609060101010101" pitchFamily="49" charset="-122"/>
                <a:ea typeface="黑体" panose="02010609060101010101" pitchFamily="49" charset="-122"/>
              </a:rPr>
              <a:t>SVM</a:t>
            </a:r>
            <a:r>
              <a:rPr lang="zh-CN" altLang="en-US" sz="1800" b="1" dirty="0">
                <a:latin typeface="黑体" panose="02010609060101010101" pitchFamily="49" charset="-122"/>
                <a:ea typeface="黑体" panose="02010609060101010101" pitchFamily="49" charset="-122"/>
              </a:rPr>
              <a:t>解决问题的时候，和样本的维数是无关的（甚至样本是上万维的都可以，这使得</a:t>
            </a:r>
            <a:r>
              <a:rPr lang="en-US" altLang="zh-CN" sz="1800" b="1" dirty="0">
                <a:latin typeface="黑体" panose="02010609060101010101" pitchFamily="49" charset="-122"/>
                <a:ea typeface="黑体" panose="02010609060101010101" pitchFamily="49" charset="-122"/>
              </a:rPr>
              <a:t>SVM</a:t>
            </a:r>
            <a:r>
              <a:rPr lang="zh-CN" altLang="en-US" sz="1800" b="1" dirty="0">
                <a:latin typeface="黑体" panose="02010609060101010101" pitchFamily="49" charset="-122"/>
                <a:ea typeface="黑体" panose="02010609060101010101" pitchFamily="49" charset="-122"/>
              </a:rPr>
              <a:t>很适合用来解决文本分类的问题，当然，有这样的能力也因为引入了核函数）。</a:t>
            </a:r>
            <a:endParaRPr lang="en-US" altLang="zh-CN" sz="1800" b="1" dirty="0">
              <a:latin typeface="黑体" panose="02010609060101010101" pitchFamily="49" charset="-122"/>
              <a:ea typeface="黑体" panose="02010609060101010101" pitchFamily="49" charset="-122"/>
            </a:endParaRPr>
          </a:p>
          <a:p>
            <a:pPr marL="285750" indent="-285750">
              <a:lnSpc>
                <a:spcPct val="150000"/>
              </a:lnSpc>
              <a:buFont typeface="Arial" panose="020B0604020202020204" pitchFamily="34" charset="0"/>
              <a:buChar char="•"/>
            </a:pPr>
            <a:r>
              <a:rPr altLang="en-US" sz="1800" b="1" dirty="0">
                <a:latin typeface="黑体" panose="02010609060101010101" pitchFamily="49" charset="-122"/>
                <a:ea typeface="黑体" panose="02010609060101010101" pitchFamily="49" charset="-122"/>
              </a:rPr>
              <a:t>通用：可以为决策函数指定不同的内核函数。提供公共内核，但也可指定自定义内核。</a:t>
            </a:r>
            <a:endParaRPr lang="en-US" altLang="en-US" sz="1800" b="1" dirty="0">
              <a:latin typeface="黑体" panose="02010609060101010101" pitchFamily="49" charset="-122"/>
              <a:ea typeface="黑体" panose="02010609060101010101" pitchFamily="49" charset="-122"/>
            </a:endParaRPr>
          </a:p>
          <a:p>
            <a:pPr marL="285750" indent="-285750">
              <a:lnSpc>
                <a:spcPct val="150000"/>
              </a:lnSpc>
              <a:buFont typeface="Arial" panose="020B0604020202020204" pitchFamily="34" charset="0"/>
              <a:buChar char="•"/>
            </a:pPr>
            <a:r>
              <a:rPr lang="zh-CN" altLang="en-US" sz="1800" b="1" dirty="0">
                <a:latin typeface="黑体" panose="02010609060101010101" pitchFamily="49" charset="-122"/>
                <a:ea typeface="黑体" panose="02010609060101010101" pitchFamily="49" charset="-122"/>
              </a:rPr>
              <a:t>与问题的复杂度比起来，</a:t>
            </a:r>
            <a:r>
              <a:rPr lang="en-US" altLang="zh-CN" sz="1800" b="1" dirty="0">
                <a:latin typeface="黑体" panose="02010609060101010101" pitchFamily="49" charset="-122"/>
                <a:ea typeface="黑体" panose="02010609060101010101" pitchFamily="49" charset="-122"/>
              </a:rPr>
              <a:t>SVM</a:t>
            </a:r>
            <a:r>
              <a:rPr lang="zh-CN" altLang="en-US" sz="1800" b="1" dirty="0">
                <a:latin typeface="黑体" panose="02010609060101010101" pitchFamily="49" charset="-122"/>
                <a:ea typeface="黑体" panose="02010609060101010101" pitchFamily="49" charset="-122"/>
              </a:rPr>
              <a:t>算法要求的样本数是相对比较少的。</a:t>
            </a:r>
            <a:r>
              <a:rPr altLang="en-US" sz="1800" b="1" dirty="0">
                <a:latin typeface="黑体" panose="02010609060101010101" pitchFamily="49" charset="-122"/>
                <a:ea typeface="黑体" panose="02010609060101010101" pitchFamily="49" charset="-122"/>
              </a:rPr>
              <a:t> </a:t>
            </a:r>
            <a:endParaRPr lang="en-US" altLang="en-US" sz="1800" b="1" dirty="0">
              <a:latin typeface="黑体" panose="02010609060101010101" pitchFamily="49" charset="-122"/>
              <a:ea typeface="黑体" panose="02010609060101010101" pitchFamily="49" charset="-122"/>
            </a:endParaRPr>
          </a:p>
          <a:p>
            <a:pPr marL="342900" indent="-342900">
              <a:lnSpc>
                <a:spcPct val="150000"/>
              </a:lnSpc>
            </a:pPr>
            <a:r>
              <a:rPr altLang="en-US" sz="2400" b="1" dirty="0">
                <a:solidFill>
                  <a:srgbClr val="FF0000"/>
                </a:solidFill>
                <a:latin typeface="黑体" panose="02010609060101010101" pitchFamily="49" charset="-122"/>
                <a:ea typeface="黑体" panose="02010609060101010101" pitchFamily="49" charset="-122"/>
              </a:rPr>
              <a:t>缺点</a:t>
            </a:r>
            <a:r>
              <a:rPr altLang="en-US" sz="2400" b="1" dirty="0">
                <a:latin typeface="黑体" panose="02010609060101010101" pitchFamily="49" charset="-122"/>
                <a:ea typeface="黑体" panose="02010609060101010101" pitchFamily="49" charset="-122"/>
              </a:rPr>
              <a:t>： </a:t>
            </a:r>
            <a:br>
              <a:rPr altLang="en-US" sz="1800" b="1" dirty="0">
                <a:latin typeface="黑体" panose="02010609060101010101" pitchFamily="49" charset="-122"/>
                <a:ea typeface="黑体" panose="02010609060101010101" pitchFamily="49" charset="-122"/>
              </a:rPr>
            </a:br>
            <a:r>
              <a:rPr altLang="en-US" sz="1800" b="1" dirty="0">
                <a:latin typeface="黑体" panose="02010609060101010101" pitchFamily="49" charset="-122"/>
                <a:ea typeface="黑体" panose="02010609060101010101" pitchFamily="49" charset="-122"/>
              </a:rPr>
              <a:t>如果特征的数目远大于样品的数目，则该方法可能给出差的性能。 </a:t>
            </a:r>
            <a:r>
              <a:rPr lang="zh-CN" altLang="en-US" sz="1800" b="1" dirty="0">
                <a:latin typeface="黑体" panose="02010609060101010101" pitchFamily="49" charset="-122"/>
                <a:ea typeface="黑体" panose="02010609060101010101" pitchFamily="49" charset="-122"/>
              </a:rPr>
              <a:t>不适合过大数据量，噪声很多的数据。计算复杂度比较高。</a:t>
            </a:r>
            <a:br>
              <a:rPr lang="zh-CN" altLang="en-US" sz="1800" dirty="0"/>
            </a:br>
            <a:br>
              <a:rPr altLang="en-US" sz="1800" dirty="0">
                <a:latin typeface="+mn-ea"/>
                <a:ea typeface="+mn-ea"/>
              </a:rPr>
            </a:br>
            <a:endParaRPr altLang="en-US" sz="1800" dirty="0">
              <a:latin typeface="+mn-ea"/>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theme/theme1.xml><?xml version="1.0" encoding="utf-8"?>
<a:theme xmlns:a="http://schemas.openxmlformats.org/drawingml/2006/main" name="机器学习v2.1rgb">
  <a:themeElements>
    <a:clrScheme name="机器学习">
      <a:dk1>
        <a:sysClr val="windowText" lastClr="000000"/>
      </a:dk1>
      <a:lt1>
        <a:sysClr val="window" lastClr="FFFFFF"/>
      </a:lt1>
      <a:dk2>
        <a:srgbClr val="16754D"/>
      </a:dk2>
      <a:lt2>
        <a:srgbClr val="FFFFFF"/>
      </a:lt2>
      <a:accent1>
        <a:srgbClr val="16754D"/>
      </a:accent1>
      <a:accent2>
        <a:srgbClr val="329E6E"/>
      </a:accent2>
      <a:accent3>
        <a:srgbClr val="FFC000"/>
      </a:accent3>
      <a:accent4>
        <a:srgbClr val="C00000"/>
      </a:accent4>
      <a:accent5>
        <a:srgbClr val="0070C0"/>
      </a:accent5>
      <a:accent6>
        <a:srgbClr val="002060"/>
      </a:accent6>
      <a:hlink>
        <a:srgbClr val="80C000"/>
      </a:hlink>
      <a:folHlink>
        <a:srgbClr val="CC66FF"/>
      </a:folHlink>
    </a:clrScheme>
    <a:fontScheme name="机器学习">
      <a:majorFont>
        <a:latin typeface="Verdana"/>
        <a:ea typeface="幼圆"/>
        <a:cs typeface=""/>
      </a:majorFont>
      <a:minorFont>
        <a:latin typeface="Verdana"/>
        <a:ea typeface="幼圆"/>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机器学习v2.1rgb</Template>
  <TotalTime>0</TotalTime>
  <Words>8988</Words>
  <Application>WPS 演示</Application>
  <PresentationFormat>全屏显示(4:3)</PresentationFormat>
  <Paragraphs>945</Paragraphs>
  <Slides>102</Slides>
  <Notes>2</Notes>
  <HiddenSlides>0</HiddenSlides>
  <MMClips>0</MMClips>
  <ScaleCrop>false</ScaleCrop>
  <HeadingPairs>
    <vt:vector size="8" baseType="variant">
      <vt:variant>
        <vt:lpstr>已用的字体</vt:lpstr>
      </vt:variant>
      <vt:variant>
        <vt:i4>21</vt:i4>
      </vt:variant>
      <vt:variant>
        <vt:lpstr>主题</vt:lpstr>
      </vt:variant>
      <vt:variant>
        <vt:i4>1</vt:i4>
      </vt:variant>
      <vt:variant>
        <vt:lpstr>嵌入 OLE 服务器</vt:lpstr>
      </vt:variant>
      <vt:variant>
        <vt:i4>99</vt:i4>
      </vt:variant>
      <vt:variant>
        <vt:lpstr>幻灯片标题</vt:lpstr>
      </vt:variant>
      <vt:variant>
        <vt:i4>102</vt:i4>
      </vt:variant>
    </vt:vector>
  </HeadingPairs>
  <TitlesOfParts>
    <vt:vector size="223" baseType="lpstr">
      <vt:lpstr>Arial</vt:lpstr>
      <vt:lpstr>宋体</vt:lpstr>
      <vt:lpstr>Wingdings</vt:lpstr>
      <vt:lpstr>Verdana</vt:lpstr>
      <vt:lpstr>幼圆</vt:lpstr>
      <vt:lpstr>微软雅黑</vt:lpstr>
      <vt:lpstr>黑体</vt:lpstr>
      <vt:lpstr>微软雅黑</vt:lpstr>
      <vt:lpstr>Times</vt:lpstr>
      <vt:lpstr>Times New Roman</vt:lpstr>
      <vt:lpstr>Times </vt:lpstr>
      <vt:lpstr>Arial Unicode MS</vt:lpstr>
      <vt:lpstr>Calibri</vt:lpstr>
      <vt:lpstr>KaTeX_Main</vt:lpstr>
      <vt:lpstr>Cambria Math</vt:lpstr>
      <vt:lpstr>KaTeX_Main</vt:lpstr>
      <vt:lpstr>Times</vt:lpstr>
      <vt:lpstr>Times </vt:lpstr>
      <vt:lpstr>Wingdings</vt:lpstr>
      <vt:lpstr>Good Times</vt:lpstr>
      <vt:lpstr>MS PGothic</vt:lpstr>
      <vt:lpstr>机器学习v2.1rgb</vt:lpstr>
      <vt:lpstr>Equation.Ribbit</vt:lpstr>
      <vt:lpstr>Equation.AxMath</vt:lpstr>
      <vt:lpstr>Equation.AxMath</vt:lpstr>
      <vt:lpstr>Equation.AxMath</vt:lpstr>
      <vt:lpstr>Equation.AxMath</vt:lpstr>
      <vt:lpstr>Equation.AxMath</vt:lpstr>
      <vt:lpstr>Equation.AxMath</vt:lpstr>
      <vt:lpstr>Equation.AxMath</vt:lpstr>
      <vt:lpstr>Equation.AxMath</vt:lpstr>
      <vt:lpstr>Equation.AxMath</vt:lpstr>
      <vt:lpstr>Equation.AxMath</vt:lpstr>
      <vt:lpstr>Equation.Ribbit</vt:lpstr>
      <vt:lpstr>Equation.AxMath</vt:lpstr>
      <vt:lpstr>Equation.AxMath</vt:lpstr>
      <vt:lpstr>Equation.AxMath</vt:lpstr>
      <vt:lpstr>Equation.AxMath</vt:lpstr>
      <vt:lpstr>Equation.AxMath</vt:lpstr>
      <vt:lpstr>Equation.AxMath</vt:lpstr>
      <vt:lpstr>Equation.AxMath</vt:lpstr>
      <vt:lpstr>Equation.AxMath</vt:lpstr>
      <vt:lpstr>Equation.AxMath</vt:lpstr>
      <vt:lpstr>Equation.AxMath</vt:lpstr>
      <vt:lpstr>Equation.Ribbit</vt:lpstr>
      <vt:lpstr>Equation.AxMath</vt:lpstr>
      <vt:lpstr>Equation.AxMath</vt:lpstr>
      <vt:lpstr>Equation.AxMath</vt:lpstr>
      <vt:lpstr>Equation.AxMath</vt:lpstr>
      <vt:lpstr>Equation.AxMath</vt:lpstr>
      <vt:lpstr>Equation.AxMath</vt:lpstr>
      <vt:lpstr>Equation.Ribbit</vt:lpstr>
      <vt:lpstr>Equation.Ribbit</vt:lpstr>
      <vt:lpstr>Equation.AxMath</vt:lpstr>
      <vt:lpstr>Equation.AxMath</vt:lpstr>
      <vt:lpstr>Equation.Ribbit</vt:lpstr>
      <vt:lpstr>Equation.AxMath</vt:lpstr>
      <vt:lpstr>Equation.AxMath</vt:lpstr>
      <vt:lpstr>Equation.AxMath</vt:lpstr>
      <vt:lpstr>Equation.AxMath</vt:lpstr>
      <vt:lpstr>Equation.AxMath</vt:lpstr>
      <vt:lpstr>Equation.AxMath</vt:lpstr>
      <vt:lpstr>Equation.AxMath</vt:lpstr>
      <vt:lpstr>Equation.AxMath</vt:lpstr>
      <vt:lpstr>Equation.AxMath</vt:lpstr>
      <vt:lpstr>Equation.AxMath</vt:lpstr>
      <vt:lpstr>Equation.Ribbit</vt:lpstr>
      <vt:lpstr>Equation.AxMath</vt:lpstr>
      <vt:lpstr>Equation.AxMath</vt:lpstr>
      <vt:lpstr>Equation.AxMath</vt:lpstr>
      <vt:lpstr>Equation.AxMath</vt:lpstr>
      <vt:lpstr>Equation.AxMath</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Equation.AxMath</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Equation.AxMath</vt:lpstr>
      <vt:lpstr>Equation.Ribbit</vt:lpstr>
      <vt:lpstr>Equation.Ribbit</vt:lpstr>
      <vt:lpstr>Equation.Ribbit</vt:lpstr>
      <vt:lpstr>Equation.Ribbit</vt:lpstr>
      <vt:lpstr>Equation.Ribbit</vt:lpstr>
      <vt:lpstr>Equation.Ribbit</vt:lpstr>
      <vt:lpstr>Equation.AxMath</vt:lpstr>
      <vt:lpstr>Equation.AxMath</vt:lpstr>
      <vt:lpstr>Equation.AxMath</vt:lpstr>
      <vt:lpstr>Equation.Ribbit</vt:lpstr>
      <vt:lpstr>Equation.AxMath</vt:lpstr>
      <vt:lpstr>Equation.Ribbit</vt:lpstr>
      <vt:lpstr>Equation.Ribbit</vt:lpstr>
      <vt:lpstr>Equation.Ribbit</vt:lpstr>
      <vt:lpstr>Equation.Ribbit</vt:lpstr>
      <vt:lpstr>Equation.Ribbit</vt:lpstr>
      <vt:lpstr>Equation.Ribbit</vt:lpstr>
      <vt:lpstr>Equation.Ribbit</vt:lpstr>
      <vt:lpstr>Equation.Ribbit</vt:lpstr>
      <vt:lpstr>Equation.Ribbit</vt:lpstr>
      <vt:lpstr>Equation.Ribbit</vt:lpstr>
      <vt:lpstr>机器学习  Machine Learning</vt:lpstr>
      <vt:lpstr>PowerPoint 演示文稿</vt:lpstr>
      <vt:lpstr>PowerPoint 演示文稿</vt:lpstr>
      <vt:lpstr>PowerPoint 演示文稿</vt:lpstr>
      <vt:lpstr>PowerPoint 演示文稿</vt:lpstr>
      <vt:lpstr>PowerPoint 演示文稿</vt:lpstr>
      <vt:lpstr>大纲</vt:lpstr>
      <vt:lpstr>引子</vt:lpstr>
      <vt:lpstr>引子</vt:lpstr>
      <vt:lpstr>引子</vt:lpstr>
      <vt:lpstr>基本原理</vt:lpstr>
      <vt:lpstr>分离超平面</vt:lpstr>
      <vt:lpstr>最优分离超平面</vt:lpstr>
      <vt:lpstr>最优分离超平面</vt:lpstr>
      <vt:lpstr>最优分离超平面</vt:lpstr>
      <vt:lpstr>最优分离超平面</vt:lpstr>
      <vt:lpstr>最优分离超平面的间隔</vt:lpstr>
      <vt:lpstr>最优分离超平面的间隔</vt:lpstr>
      <vt:lpstr>最优分离超平面的间隔</vt:lpstr>
      <vt:lpstr>最优分离超平面的间隔</vt:lpstr>
      <vt:lpstr>SVM的超平面</vt:lpstr>
      <vt:lpstr>计算点到超平面的距离</vt:lpstr>
      <vt:lpstr>计算点到超平面的距离</vt:lpstr>
      <vt:lpstr>计算点到超平面的距离</vt:lpstr>
      <vt:lpstr>计算点到超平面的距离</vt:lpstr>
      <vt:lpstr>计算点到超平面的距离</vt:lpstr>
      <vt:lpstr>如何找到最优超平面</vt:lpstr>
      <vt:lpstr>如何找到最优超平面</vt:lpstr>
      <vt:lpstr>如何找到最大间隔</vt:lpstr>
      <vt:lpstr>如何找到最大间隔</vt:lpstr>
      <vt:lpstr>如何找到最大间隔</vt:lpstr>
      <vt:lpstr>如何找到最大间隔</vt:lpstr>
      <vt:lpstr>如何找到最大间隔</vt:lpstr>
      <vt:lpstr>如何找到最大间隔</vt:lpstr>
      <vt:lpstr>超平面之间距离的计算</vt:lpstr>
      <vt:lpstr>超平面之间距离的计算</vt:lpstr>
      <vt:lpstr>超平面之间距离的计算</vt:lpstr>
      <vt:lpstr>超平面之间距离的计算</vt:lpstr>
      <vt:lpstr>超平面之间距离的计算</vt:lpstr>
      <vt:lpstr>超平面之间距离的计算</vt:lpstr>
      <vt:lpstr>超平面之间距离的计算</vt:lpstr>
      <vt:lpstr>最大化超平面之间距离</vt:lpstr>
      <vt:lpstr>优化问题</vt:lpstr>
      <vt:lpstr>拉格朗日乘子法</vt:lpstr>
      <vt:lpstr>拉格朗日乘子法</vt:lpstr>
      <vt:lpstr>几何直观：梯度共线</vt:lpstr>
      <vt:lpstr>等式约束优化问题</vt:lpstr>
      <vt:lpstr>不等式约束优化问题</vt:lpstr>
      <vt:lpstr>不等式约束优化问题</vt:lpstr>
      <vt:lpstr>不等式约束优化问题</vt:lpstr>
      <vt:lpstr>不等式约束优化问题</vt:lpstr>
      <vt:lpstr>间隔与支持向量</vt:lpstr>
      <vt:lpstr>支持向量机基本型</vt:lpstr>
      <vt:lpstr>大纲</vt:lpstr>
      <vt:lpstr>对 偶</vt:lpstr>
      <vt:lpstr>对 偶</vt:lpstr>
      <vt:lpstr>对 偶</vt:lpstr>
      <vt:lpstr>对偶问题求解</vt:lpstr>
      <vt:lpstr>对偶问题求解</vt:lpstr>
      <vt:lpstr>对偶问题求解</vt:lpstr>
      <vt:lpstr>对偶问题求解</vt:lpstr>
      <vt:lpstr>解的稀疏性</vt:lpstr>
      <vt:lpstr>PowerPoint 演示文稿</vt:lpstr>
      <vt:lpstr>SMO算法</vt:lpstr>
      <vt:lpstr>求解方法 - SMO</vt:lpstr>
      <vt:lpstr>大纲</vt:lpstr>
      <vt:lpstr>SVM类别</vt:lpstr>
      <vt:lpstr>SVM类别</vt:lpstr>
      <vt:lpstr>线性不可分</vt:lpstr>
      <vt:lpstr>线性不可分</vt:lpstr>
      <vt:lpstr>核函数</vt:lpstr>
      <vt:lpstr>PowerPoint 演示文稿</vt:lpstr>
      <vt:lpstr>PowerPoint 演示文稿</vt:lpstr>
      <vt:lpstr>核支持向量机</vt:lpstr>
      <vt:lpstr>核支持向量机</vt:lpstr>
      <vt:lpstr>核函数</vt:lpstr>
      <vt:lpstr>大纲</vt:lpstr>
      <vt:lpstr>软间隔</vt:lpstr>
      <vt:lpstr>0/1损失函数</vt:lpstr>
      <vt:lpstr>替代损失</vt:lpstr>
      <vt:lpstr>软间隔支持向量机</vt:lpstr>
      <vt:lpstr>正则化</vt:lpstr>
      <vt:lpstr>大纲</vt:lpstr>
      <vt:lpstr>支持向量回归</vt:lpstr>
      <vt:lpstr>支持向量回归(SVR)</vt:lpstr>
      <vt:lpstr>损失函数</vt:lpstr>
      <vt:lpstr>形式化</vt:lpstr>
      <vt:lpstr>大纲</vt:lpstr>
      <vt:lpstr>表示定理</vt:lpstr>
      <vt:lpstr>核线性判别分析</vt:lpstr>
      <vt:lpstr>Take Home Message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核的选择</vt:lpstr>
      <vt:lpstr>PowerPoint 演示文稿</vt:lpstr>
      <vt:lpstr>比 较</vt:lpstr>
      <vt:lpstr>SVM特点</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机器学习-第六章</dc:title>
  <dc:creator>yx</dc:creator>
  <cp:lastModifiedBy>O₂</cp:lastModifiedBy>
  <cp:revision>295</cp:revision>
  <dcterms:created xsi:type="dcterms:W3CDTF">2016-01-04T02:51:00Z</dcterms:created>
  <dcterms:modified xsi:type="dcterms:W3CDTF">2026-06-17T08:24:35Z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9946E481A10E41D882F2A74CA1B2C1FC_12</vt:lpwstr>
  </property>
</Properties>
</file>