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1" r:id="rId6"/>
    <p:sldId id="257" r:id="rId7"/>
    <p:sldId id="260" r:id="rId8"/>
    <p:sldId id="262" r:id="rId9"/>
    <p:sldId id="263" r:id="rId10"/>
    <p:sldId id="265" r:id="rId11"/>
    <p:sldId id="266" r:id="rId12"/>
    <p:sldId id="264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A5F5-FC70-4B12-A99D-83B1354032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7E48A-8F5F-465B-A255-599B251FF9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A5F5-FC70-4B12-A99D-83B1354032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7E48A-8F5F-465B-A255-599B251FF9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A5F5-FC70-4B12-A99D-83B1354032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7E48A-8F5F-465B-A255-599B251FF9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A5F5-FC70-4B12-A99D-83B1354032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7E48A-8F5F-465B-A255-599B251FF9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A5F5-FC70-4B12-A99D-83B1354032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7E48A-8F5F-465B-A255-599B251FF9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A5F5-FC70-4B12-A99D-83B1354032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7E48A-8F5F-465B-A255-599B251FF9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A5F5-FC70-4B12-A99D-83B1354032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7E48A-8F5F-465B-A255-599B251FF9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A5F5-FC70-4B12-A99D-83B1354032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7E48A-8F5F-465B-A255-599B251FF9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A5F5-FC70-4B12-A99D-83B1354032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7E48A-8F5F-465B-A255-599B251FF9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A5F5-FC70-4B12-A99D-83B1354032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7E48A-8F5F-465B-A255-599B251FF9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A5F5-FC70-4B12-A99D-83B1354032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7E48A-8F5F-465B-A255-599B251FF9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AA5F5-FC70-4B12-A99D-83B1354032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7E48A-8F5F-465B-A255-599B251FF97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785012"/>
            <a:ext cx="9144000" cy="2387600"/>
          </a:xfrm>
        </p:spPr>
        <p:txBody>
          <a:bodyPr/>
          <a:lstStyle/>
          <a:p>
            <a:r>
              <a:rPr lang="zh-CN" altLang="en-US"/>
              <a:t>实验二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196841"/>
            <a:ext cx="9144000" cy="1655762"/>
          </a:xfrm>
        </p:spPr>
        <p:txBody>
          <a:bodyPr/>
          <a:lstStyle/>
          <a:p>
            <a:r>
              <a:rPr lang="zh-CN" altLang="en-US"/>
              <a:t>编写</a:t>
            </a:r>
            <a:r>
              <a:rPr lang="en-US" altLang="zh-CN"/>
              <a:t>Cache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实验任务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161443"/>
            <a:ext cx="10515600" cy="22060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0129" y="329614"/>
            <a:ext cx="10515600" cy="709073"/>
          </a:xfrm>
        </p:spPr>
        <p:txBody>
          <a:bodyPr/>
          <a:lstStyle/>
          <a:p>
            <a:r>
              <a:rPr lang="zh-CN" altLang="en-US"/>
              <a:t>整体结构图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268025" y="56807"/>
            <a:ext cx="5177815" cy="67443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cache </a:t>
            </a:r>
            <a:r>
              <a:rPr lang="zh-CN" altLang="en-US"/>
              <a:t>工作原理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18467" y="1858308"/>
            <a:ext cx="7835746" cy="43017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cache</a:t>
            </a:r>
            <a:r>
              <a:rPr lang="zh-CN" altLang="en-US"/>
              <a:t>三种基本结构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全相连映射</a:t>
            </a:r>
            <a:endParaRPr lang="en-US" altLang="zh-CN"/>
          </a:p>
          <a:p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</a:rPr>
              <a:t>直接映射</a:t>
            </a:r>
            <a:endParaRPr lang="en-US" altLang="zh-CN">
              <a:solidFill>
                <a:srgbClr val="FF0000"/>
              </a:solidFill>
            </a:endParaRPr>
          </a:p>
          <a:p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</a:rPr>
              <a:t>组相连映射</a:t>
            </a:r>
            <a:endParaRPr lang="en-US" altLang="zh-CN">
              <a:solidFill>
                <a:srgbClr val="FF0000"/>
              </a:solidFill>
            </a:endParaRPr>
          </a:p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9231"/>
          <a:stretch>
            <a:fillRect/>
          </a:stretch>
        </p:blipFill>
        <p:spPr>
          <a:xfrm>
            <a:off x="3467377" y="2864019"/>
            <a:ext cx="5772150" cy="5619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648" y="1810089"/>
            <a:ext cx="5448300" cy="5619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1648" y="3917950"/>
            <a:ext cx="550545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直接映射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4317" y="1690688"/>
            <a:ext cx="6601287" cy="467733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233923" y="2379216"/>
            <a:ext cx="4472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假如要实现</a:t>
            </a:r>
            <a:r>
              <a:rPr lang="en-US" altLang="zh-CN"/>
              <a:t>4 KB</a:t>
            </a:r>
            <a:r>
              <a:rPr lang="zh-CN" altLang="en-US"/>
              <a:t>，块大小为</a:t>
            </a:r>
            <a:r>
              <a:rPr lang="en-US" altLang="zh-CN"/>
              <a:t>1</a:t>
            </a:r>
            <a:r>
              <a:rPr lang="zh-CN" altLang="en-US"/>
              <a:t>字的</a:t>
            </a:r>
            <a:r>
              <a:rPr lang="en-US" altLang="zh-CN"/>
              <a:t>cache</a:t>
            </a:r>
            <a:r>
              <a:rPr lang="zh-CN" altLang="en-US"/>
              <a:t>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那么主存地址如何转换？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8806" y="294103"/>
            <a:ext cx="10515600" cy="1325563"/>
          </a:xfrm>
        </p:spPr>
        <p:txBody>
          <a:bodyPr/>
          <a:lstStyle/>
          <a:p>
            <a:r>
              <a:rPr lang="en-US" altLang="zh-CN"/>
              <a:t>cache</a:t>
            </a:r>
            <a:r>
              <a:rPr lang="zh-CN" altLang="en-US"/>
              <a:t>的写策略（执行</a:t>
            </a:r>
            <a:r>
              <a:rPr lang="en-US" altLang="zh-CN"/>
              <a:t>store</a:t>
            </a:r>
            <a:r>
              <a:rPr lang="zh-CN" altLang="en-US"/>
              <a:t>指令）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0029" y="2029811"/>
            <a:ext cx="11377473" cy="4351338"/>
          </a:xfrm>
        </p:spPr>
        <p:txBody>
          <a:bodyPr/>
          <a:lstStyle/>
          <a:p>
            <a:r>
              <a:rPr lang="zh-CN" altLang="en-US"/>
              <a:t>写直达法：修改块内容时，主存和</a:t>
            </a:r>
            <a:r>
              <a:rPr lang="en-US" altLang="zh-CN"/>
              <a:t>cache</a:t>
            </a:r>
            <a:r>
              <a:rPr lang="zh-CN" altLang="en-US"/>
              <a:t>同时修改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zh-CN" altLang="en-US">
                <a:sym typeface="Wingdings" panose="05000000000000000000" pitchFamily="2" charset="2"/>
              </a:rPr>
              <a:t>频繁访问主存</a:t>
            </a:r>
            <a:endParaRPr lang="en-US" altLang="zh-CN"/>
          </a:p>
          <a:p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</a:rPr>
              <a:t>写回法</a:t>
            </a:r>
            <a:r>
              <a:rPr lang="zh-CN" altLang="en-US"/>
              <a:t>：修改块内容时，先修改</a:t>
            </a:r>
            <a:r>
              <a:rPr lang="en-US" altLang="zh-CN"/>
              <a:t>cache</a:t>
            </a:r>
            <a:r>
              <a:rPr lang="zh-CN" altLang="en-US"/>
              <a:t>，到该块需要被替换掉时再修改主存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zh-CN" altLang="en-US">
                <a:sym typeface="Wingdings" panose="05000000000000000000" pitchFamily="2" charset="2"/>
              </a:rPr>
              <a:t>尽可能少的访问主存</a:t>
            </a:r>
            <a:endParaRPr lang="en-US" altLang="zh-CN">
              <a:sym typeface="Wingdings" panose="05000000000000000000" pitchFamily="2" charset="2"/>
            </a:endParaRPr>
          </a:p>
          <a:p>
            <a:endParaRPr lang="en-US" altLang="zh-CN">
              <a:sym typeface="Wingdings" panose="05000000000000000000" pitchFamily="2" charset="2"/>
            </a:endParaRPr>
          </a:p>
          <a:p>
            <a:r>
              <a:rPr lang="zh-CN" altLang="en-US">
                <a:sym typeface="Wingdings" panose="05000000000000000000" pitchFamily="2" charset="2"/>
              </a:rPr>
              <a:t>只牵涉到数据</a:t>
            </a:r>
            <a:r>
              <a:rPr lang="en-US" altLang="zh-CN">
                <a:sym typeface="Wingdings" panose="05000000000000000000" pitchFamily="2" charset="2"/>
              </a:rPr>
              <a:t>cache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0949" y="134306"/>
            <a:ext cx="10515600" cy="904382"/>
          </a:xfrm>
        </p:spPr>
        <p:txBody>
          <a:bodyPr/>
          <a:lstStyle/>
          <a:p>
            <a:r>
              <a:rPr lang="zh-CN" altLang="en-US"/>
              <a:t>数据</a:t>
            </a:r>
            <a:r>
              <a:rPr lang="en-US" altLang="zh-CN"/>
              <a:t>cache</a:t>
            </a:r>
            <a:r>
              <a:rPr lang="zh-CN" altLang="en-US"/>
              <a:t>的工作流程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59115" y="1296012"/>
            <a:ext cx="6747030" cy="51516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7784" y="160939"/>
            <a:ext cx="10515600" cy="904382"/>
          </a:xfrm>
        </p:spPr>
        <p:txBody>
          <a:bodyPr/>
          <a:lstStyle/>
          <a:p>
            <a:r>
              <a:rPr lang="en-US" altLang="zh-CN"/>
              <a:t>cache</a:t>
            </a:r>
            <a:r>
              <a:rPr lang="zh-CN" altLang="en-US"/>
              <a:t>的状态机的状态转移图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8523" y="1065321"/>
            <a:ext cx="5465693" cy="5398834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287783" y="1550417"/>
            <a:ext cx="6956396" cy="4351338"/>
          </a:xfrm>
        </p:spPr>
        <p:txBody>
          <a:bodyPr>
            <a:normAutofit/>
          </a:bodyPr>
          <a:lstStyle/>
          <a:p>
            <a:r>
              <a:rPr lang="en-US" altLang="zh-CN"/>
              <a:t>IDLE</a:t>
            </a:r>
            <a:r>
              <a:rPr lang="zh-CN" altLang="en-US"/>
              <a:t>：初始态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RM</a:t>
            </a:r>
            <a:r>
              <a:rPr lang="zh-CN" altLang="en-US"/>
              <a:t>：读主存状态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WM</a:t>
            </a:r>
            <a:r>
              <a:rPr lang="zh-CN" altLang="en-US"/>
              <a:t>：写主存状态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（读请求有效并不缺失时会立刻返回数据）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cache</a:t>
            </a:r>
            <a:r>
              <a:rPr lang="zh-CN" altLang="en-US"/>
              <a:t>的存储实现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在 </a:t>
            </a:r>
            <a:r>
              <a:rPr lang="en-US" altLang="zh-CN"/>
              <a:t>FPGA </a:t>
            </a:r>
            <a:r>
              <a:rPr lang="zh-CN" altLang="en-US"/>
              <a:t>上实现：</a:t>
            </a:r>
            <a:r>
              <a:rPr lang="en-US" altLang="zh-CN"/>
              <a:t>LUT or BRAM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LUT</a:t>
            </a:r>
            <a:r>
              <a:rPr lang="zh-CN" altLang="en-US"/>
              <a:t>实现：定义 </a:t>
            </a:r>
            <a:r>
              <a:rPr lang="en-US" altLang="zh-CN"/>
              <a:t>reg </a:t>
            </a:r>
            <a:r>
              <a:rPr lang="zh-CN" altLang="en-US"/>
              <a:t>类型的二维数组（</a:t>
            </a:r>
            <a:r>
              <a:rPr lang="en-US" altLang="zh-CN"/>
              <a:t>LUTRAM</a:t>
            </a:r>
            <a:r>
              <a:rPr lang="zh-CN" altLang="en-US"/>
              <a:t>）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BRAM</a:t>
            </a:r>
            <a:r>
              <a:rPr lang="zh-CN" altLang="en-US"/>
              <a:t>实现：使用赛灵思的</a:t>
            </a:r>
            <a:r>
              <a:rPr lang="en-US" altLang="zh-CN"/>
              <a:t>IP</a:t>
            </a:r>
            <a:r>
              <a:rPr lang="zh-CN" altLang="en-US"/>
              <a:t>核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指令</a:t>
            </a:r>
            <a:r>
              <a:rPr lang="en-US" altLang="zh-CN"/>
              <a:t>cache</a:t>
            </a:r>
            <a:r>
              <a:rPr lang="zh-CN" altLang="en-US"/>
              <a:t>读命中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41191" y="1818258"/>
            <a:ext cx="9077325" cy="4229100"/>
          </a:xfrm>
          <a:prstGeom prst="rect">
            <a:avLst/>
          </a:prstGeom>
        </p:spPr>
      </p:pic>
      <p:sp>
        <p:nvSpPr>
          <p:cNvPr id="3" name="左大括号 2"/>
          <p:cNvSpPr/>
          <p:nvPr/>
        </p:nvSpPr>
        <p:spPr>
          <a:xfrm>
            <a:off x="2511394" y="2607244"/>
            <a:ext cx="163543" cy="1325564"/>
          </a:xfrm>
          <a:prstGeom prst="leftBrac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左大括号 7"/>
          <p:cNvSpPr/>
          <p:nvPr/>
        </p:nvSpPr>
        <p:spPr>
          <a:xfrm>
            <a:off x="2511394" y="4129805"/>
            <a:ext cx="163543" cy="1784412"/>
          </a:xfrm>
          <a:prstGeom prst="leftBrac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78940" y="2946860"/>
            <a:ext cx="1829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cpu</a:t>
            </a:r>
            <a:r>
              <a:rPr lang="zh-CN" altLang="en-US"/>
              <a:t>输出给</a:t>
            </a:r>
            <a:r>
              <a:rPr lang="en-US" altLang="zh-CN"/>
              <a:t>cache</a:t>
            </a:r>
            <a:r>
              <a:rPr lang="zh-CN" altLang="en-US"/>
              <a:t>的信号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76230" y="4837345"/>
            <a:ext cx="2035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cache</a:t>
            </a:r>
            <a:r>
              <a:rPr lang="zh-CN" altLang="en-US"/>
              <a:t>控制的信号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6728" y="276348"/>
            <a:ext cx="10515600" cy="931015"/>
          </a:xfrm>
        </p:spPr>
        <p:txBody>
          <a:bodyPr/>
          <a:lstStyle/>
          <a:p>
            <a:r>
              <a:rPr lang="zh-CN" altLang="en-US"/>
              <a:t>指令</a:t>
            </a:r>
            <a:r>
              <a:rPr lang="en-US" altLang="zh-CN"/>
              <a:t>cache</a:t>
            </a:r>
            <a:r>
              <a:rPr lang="zh-CN" altLang="en-US"/>
              <a:t>读缺失</a:t>
            </a:r>
            <a:endParaRPr lang="zh-CN" altLang="en-US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34279" y="1560012"/>
            <a:ext cx="7908257" cy="4876076"/>
          </a:xfrm>
          <a:prstGeom prst="rect">
            <a:avLst/>
          </a:prstGeom>
        </p:spPr>
      </p:pic>
      <p:sp>
        <p:nvSpPr>
          <p:cNvPr id="3" name="左大括号 2"/>
          <p:cNvSpPr/>
          <p:nvPr/>
        </p:nvSpPr>
        <p:spPr>
          <a:xfrm>
            <a:off x="3051117" y="2208997"/>
            <a:ext cx="193915" cy="1127017"/>
          </a:xfrm>
          <a:prstGeom prst="leftBrac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86728" y="2449339"/>
            <a:ext cx="1829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cpu</a:t>
            </a:r>
            <a:r>
              <a:rPr lang="zh-CN" altLang="en-US"/>
              <a:t>输出给</a:t>
            </a:r>
            <a:r>
              <a:rPr lang="en-US" altLang="zh-CN"/>
              <a:t>cache</a:t>
            </a:r>
            <a:r>
              <a:rPr lang="zh-CN" altLang="en-US"/>
              <a:t>的信号</a:t>
            </a:r>
            <a:endParaRPr lang="zh-CN" altLang="en-US"/>
          </a:p>
        </p:txBody>
      </p:sp>
      <p:sp>
        <p:nvSpPr>
          <p:cNvPr id="9" name="左大括号 8"/>
          <p:cNvSpPr/>
          <p:nvPr/>
        </p:nvSpPr>
        <p:spPr>
          <a:xfrm>
            <a:off x="3051117" y="3521986"/>
            <a:ext cx="189297" cy="2689677"/>
          </a:xfrm>
          <a:prstGeom prst="leftBrac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86728" y="4543658"/>
            <a:ext cx="1829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cache</a:t>
            </a:r>
            <a:r>
              <a:rPr lang="zh-CN" altLang="en-US"/>
              <a:t>控制的信号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1252" y="107673"/>
            <a:ext cx="10515600" cy="1064179"/>
          </a:xfrm>
        </p:spPr>
        <p:txBody>
          <a:bodyPr>
            <a:normAutofit/>
          </a:bodyPr>
          <a:lstStyle/>
          <a:p>
            <a:r>
              <a:rPr lang="zh-CN" altLang="en-US"/>
              <a:t>写回策略的实现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3395" y="1253330"/>
            <a:ext cx="11768091" cy="5200735"/>
          </a:xfrm>
        </p:spPr>
        <p:txBody>
          <a:bodyPr/>
          <a:lstStyle/>
          <a:p>
            <a:r>
              <a:rPr lang="zh-CN" altLang="en-US"/>
              <a:t>增加一个脏位，仅当脏位有效的</a:t>
            </a:r>
            <a:r>
              <a:rPr lang="en-US" altLang="zh-CN"/>
              <a:t>cache line</a:t>
            </a:r>
            <a:r>
              <a:rPr lang="zh-CN" altLang="en-US"/>
              <a:t>被替换时，再写回主存。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引入写回策略之后，对</a:t>
            </a:r>
            <a:r>
              <a:rPr lang="en-US" altLang="zh-CN"/>
              <a:t>cache</a:t>
            </a:r>
            <a:r>
              <a:rPr lang="zh-CN" altLang="en-US"/>
              <a:t>的影响：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读命中：无影响</a:t>
            </a:r>
            <a:endParaRPr lang="en-US" altLang="zh-CN"/>
          </a:p>
          <a:p>
            <a:r>
              <a:rPr lang="zh-CN" altLang="en-US"/>
              <a:t>读缺失：要判断索引到的</a:t>
            </a:r>
            <a:r>
              <a:rPr lang="en-US" altLang="zh-CN"/>
              <a:t>cache</a:t>
            </a:r>
            <a:r>
              <a:rPr lang="zh-CN" altLang="en-US"/>
              <a:t>行脏位是否有效</a:t>
            </a:r>
            <a:endParaRPr lang="en-US" altLang="zh-CN"/>
          </a:p>
          <a:p>
            <a:r>
              <a:rPr lang="zh-CN" altLang="en-US"/>
              <a:t>写命中：脏位是否要修改</a:t>
            </a:r>
            <a:endParaRPr lang="en-US" altLang="zh-CN"/>
          </a:p>
          <a:p>
            <a:r>
              <a:rPr lang="zh-CN" altLang="en-US"/>
              <a:t>写缺失：要判断索引到的</a:t>
            </a:r>
            <a:r>
              <a:rPr lang="en-US" altLang="zh-CN"/>
              <a:t>cache</a:t>
            </a:r>
            <a:r>
              <a:rPr lang="zh-CN" altLang="en-US"/>
              <a:t>行脏位是否有效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363" y="221962"/>
            <a:ext cx="10515600" cy="807893"/>
          </a:xfrm>
        </p:spPr>
        <p:txBody>
          <a:bodyPr/>
          <a:lstStyle/>
          <a:p>
            <a:r>
              <a:rPr lang="zh-CN" altLang="en-US"/>
              <a:t>类</a:t>
            </a:r>
            <a:r>
              <a:rPr lang="en-US" altLang="zh-CN"/>
              <a:t>SRAM</a:t>
            </a:r>
            <a:r>
              <a:rPr lang="zh-CN" altLang="en-US"/>
              <a:t>接口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0419" y="1375930"/>
            <a:ext cx="10515600" cy="658957"/>
          </a:xfrm>
        </p:spPr>
        <p:txBody>
          <a:bodyPr/>
          <a:lstStyle/>
          <a:p>
            <a:r>
              <a:rPr lang="zh-CN" altLang="en-US"/>
              <a:t>实现了单向的 </a:t>
            </a:r>
            <a:r>
              <a:rPr lang="en-US" altLang="zh-CN"/>
              <a:t>AXI </a:t>
            </a:r>
            <a:r>
              <a:rPr lang="zh-CN" altLang="en-US"/>
              <a:t>协议（主从控制）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90" y="2934277"/>
            <a:ext cx="6416197" cy="300961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030" y="2934277"/>
            <a:ext cx="5618451" cy="37017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两路组相联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00275" y="2143919"/>
            <a:ext cx="779145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800" y="267854"/>
            <a:ext cx="10515600" cy="826366"/>
          </a:xfrm>
        </p:spPr>
        <p:txBody>
          <a:bodyPr/>
          <a:lstStyle/>
          <a:p>
            <a:r>
              <a:rPr lang="zh-CN" altLang="en-US"/>
              <a:t>仿真测试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3945" y="1253331"/>
            <a:ext cx="11852563" cy="4351338"/>
          </a:xfrm>
        </p:spPr>
        <p:txBody>
          <a:bodyPr/>
          <a:lstStyle/>
          <a:p>
            <a:r>
              <a:rPr lang="zh-CN" altLang="en-US"/>
              <a:t>由于测试程序（矩阵乘法）较为复杂，汇编代码多达</a:t>
            </a:r>
            <a:r>
              <a:rPr lang="en-US" altLang="zh-CN"/>
              <a:t>3</a:t>
            </a:r>
            <a:r>
              <a:rPr lang="zh-CN" altLang="en-US"/>
              <a:t>千行，无法人为比对</a:t>
            </a:r>
            <a:endParaRPr lang="en-US" altLang="zh-CN"/>
          </a:p>
          <a:p>
            <a:r>
              <a:rPr lang="zh-CN" altLang="en-US"/>
              <a:t>仿真程序记录下需要写通用寄存器的指令（</a:t>
            </a:r>
            <a:r>
              <a:rPr lang="en-US" altLang="zh-CN"/>
              <a:t>lw</a:t>
            </a:r>
            <a:r>
              <a:rPr lang="zh-CN" altLang="en-US"/>
              <a:t>、</a:t>
            </a:r>
            <a:r>
              <a:rPr lang="en-US" altLang="zh-CN"/>
              <a:t>addi</a:t>
            </a:r>
            <a:r>
              <a:rPr lang="zh-CN" altLang="en-US"/>
              <a:t>等），抓取到指令执行的信息：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写有效</a:t>
            </a:r>
            <a:r>
              <a:rPr lang="en-US" altLang="zh-CN"/>
              <a:t>	</a:t>
            </a:r>
            <a:r>
              <a:rPr lang="zh-CN" altLang="en-US">
                <a:solidFill>
                  <a:srgbClr val="FF0000"/>
                </a:solidFill>
              </a:rPr>
              <a:t>处理器内部的</a:t>
            </a:r>
            <a:r>
              <a:rPr lang="en-US" altLang="zh-CN">
                <a:solidFill>
                  <a:srgbClr val="FF0000"/>
                </a:solidFill>
              </a:rPr>
              <a:t>PC</a:t>
            </a:r>
            <a:r>
              <a:rPr lang="zh-CN" altLang="en-US">
                <a:solidFill>
                  <a:srgbClr val="FF0000"/>
                </a:solidFill>
              </a:rPr>
              <a:t>值</a:t>
            </a:r>
            <a:r>
              <a:rPr lang="en-US" altLang="zh-CN"/>
              <a:t>	</a:t>
            </a:r>
            <a:r>
              <a:rPr lang="zh-CN" altLang="en-US"/>
              <a:t>写的通用寄存器</a:t>
            </a:r>
            <a:r>
              <a:rPr lang="en-US" altLang="zh-CN"/>
              <a:t>	   </a:t>
            </a:r>
            <a:r>
              <a:rPr lang="zh-CN" altLang="en-US">
                <a:solidFill>
                  <a:srgbClr val="FF0000"/>
                </a:solidFill>
              </a:rPr>
              <a:t>写的数据</a:t>
            </a:r>
            <a:endParaRPr lang="en-US" altLang="zh-CN">
              <a:solidFill>
                <a:srgbClr val="FF0000"/>
              </a:solidFill>
            </a:endParaRPr>
          </a:p>
          <a:p>
            <a:endParaRPr lang="en-US" altLang="zh-CN"/>
          </a:p>
          <a:p>
            <a:r>
              <a:rPr lang="zh-CN" altLang="en-US"/>
              <a:t>如果出现不一致，说明实现的</a:t>
            </a:r>
            <a:r>
              <a:rPr lang="en-US" altLang="zh-CN"/>
              <a:t>cache</a:t>
            </a:r>
            <a:r>
              <a:rPr lang="zh-CN" altLang="en-US"/>
              <a:t>有问题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0355" y="4226213"/>
            <a:ext cx="4457700" cy="2247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696</Words>
  <Application>WPS 演示</Application>
  <PresentationFormat>宽屏</PresentationFormat>
  <Paragraphs>95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等线 Light</vt:lpstr>
      <vt:lpstr>等线</vt:lpstr>
      <vt:lpstr>微软雅黑</vt:lpstr>
      <vt:lpstr>Arial Unicode MS</vt:lpstr>
      <vt:lpstr>Calibri</vt:lpstr>
      <vt:lpstr>Office 主题​​</vt:lpstr>
      <vt:lpstr>实验二</vt:lpstr>
      <vt:lpstr>实验任务</vt:lpstr>
      <vt:lpstr>整体结构图</vt:lpstr>
      <vt:lpstr>cache 工作原理</vt:lpstr>
      <vt:lpstr>cache三种基本结构</vt:lpstr>
      <vt:lpstr>直接映射</vt:lpstr>
      <vt:lpstr>cache的写策略（执行store指令）</vt:lpstr>
      <vt:lpstr>数据cache的工作流程</vt:lpstr>
      <vt:lpstr>cache的状态机的状态转移图</vt:lpstr>
      <vt:lpstr>cache的存储实现</vt:lpstr>
      <vt:lpstr>指令cache读命中</vt:lpstr>
      <vt:lpstr>指令cache读缺失</vt:lpstr>
      <vt:lpstr>写回策略的实现</vt:lpstr>
      <vt:lpstr>类SRAM接口</vt:lpstr>
      <vt:lpstr>两路组相联</vt:lpstr>
      <vt:lpstr>仿真测试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实验二</dc:title>
  <dc:creator>bo wang</dc:creator>
  <cp:lastModifiedBy>O₂</cp:lastModifiedBy>
  <cp:revision>20</cp:revision>
  <dcterms:created xsi:type="dcterms:W3CDTF">2020-10-29T06:24:00Z</dcterms:created>
  <dcterms:modified xsi:type="dcterms:W3CDTF">2026-06-07T09:29:03Z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A698099DB6AA4271AFD0BDE7D7072A5D_12</vt:lpwstr>
  </property>
</Properties>
</file>