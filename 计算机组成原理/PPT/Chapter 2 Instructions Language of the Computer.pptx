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>
  <p:sldMasterIdLst>
    <p:sldMasterId id="2147483648" r:id="rId1"/>
  </p:sldMasterIdLst>
  <p:notesMasterIdLst>
    <p:notesMasterId r:id="rId4"/>
  </p:notesMasterIdLst>
  <p:handoutMasterIdLst>
    <p:handoutMasterId r:id="rId106"/>
  </p:handoutMasterIdLst>
  <p:sldIdLst>
    <p:sldId id="270" r:id="rId3"/>
    <p:sldId id="271" r:id="rId5"/>
    <p:sldId id="272" r:id="rId6"/>
    <p:sldId id="273" r:id="rId7"/>
    <p:sldId id="274" r:id="rId8"/>
    <p:sldId id="275" r:id="rId9"/>
    <p:sldId id="276" r:id="rId10"/>
    <p:sldId id="277" r:id="rId11"/>
    <p:sldId id="383" r:id="rId12"/>
    <p:sldId id="278" r:id="rId13"/>
    <p:sldId id="279" r:id="rId14"/>
    <p:sldId id="280" r:id="rId15"/>
    <p:sldId id="281" r:id="rId16"/>
    <p:sldId id="391" r:id="rId17"/>
    <p:sldId id="392" r:id="rId18"/>
    <p:sldId id="367" r:id="rId19"/>
    <p:sldId id="359" r:id="rId20"/>
    <p:sldId id="393" r:id="rId21"/>
    <p:sldId id="361" r:id="rId22"/>
    <p:sldId id="362" r:id="rId23"/>
    <p:sldId id="363" r:id="rId24"/>
    <p:sldId id="364" r:id="rId25"/>
    <p:sldId id="282" r:id="rId26"/>
    <p:sldId id="382" r:id="rId27"/>
    <p:sldId id="283" r:id="rId28"/>
    <p:sldId id="284" r:id="rId29"/>
    <p:sldId id="368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69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84" r:id="rId53"/>
    <p:sldId id="306" r:id="rId54"/>
    <p:sldId id="307" r:id="rId55"/>
    <p:sldId id="308" r:id="rId56"/>
    <p:sldId id="385" r:id="rId57"/>
    <p:sldId id="309" r:id="rId58"/>
    <p:sldId id="310" r:id="rId59"/>
    <p:sldId id="311" r:id="rId60"/>
    <p:sldId id="312" r:id="rId61"/>
    <p:sldId id="313" r:id="rId62"/>
    <p:sldId id="314" r:id="rId63"/>
    <p:sldId id="370" r:id="rId64"/>
    <p:sldId id="316" r:id="rId65"/>
    <p:sldId id="357" r:id="rId66"/>
    <p:sldId id="389" r:id="rId67"/>
    <p:sldId id="371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33" r:id="rId77"/>
    <p:sldId id="372" r:id="rId78"/>
    <p:sldId id="373" r:id="rId79"/>
    <p:sldId id="374" r:id="rId80"/>
    <p:sldId id="375" r:id="rId81"/>
    <p:sldId id="334" r:id="rId82"/>
    <p:sldId id="335" r:id="rId83"/>
    <p:sldId id="336" r:id="rId84"/>
    <p:sldId id="345" r:id="rId85"/>
    <p:sldId id="346" r:id="rId86"/>
    <p:sldId id="347" r:id="rId87"/>
    <p:sldId id="358" r:id="rId88"/>
    <p:sldId id="388" r:id="rId89"/>
    <p:sldId id="376" r:id="rId90"/>
    <p:sldId id="377" r:id="rId91"/>
    <p:sldId id="386" r:id="rId92"/>
    <p:sldId id="348" r:id="rId93"/>
    <p:sldId id="349" r:id="rId94"/>
    <p:sldId id="350" r:id="rId95"/>
    <p:sldId id="378" r:id="rId96"/>
    <p:sldId id="379" r:id="rId97"/>
    <p:sldId id="380" r:id="rId98"/>
    <p:sldId id="351" r:id="rId99"/>
    <p:sldId id="352" r:id="rId100"/>
    <p:sldId id="381" r:id="rId101"/>
    <p:sldId id="353" r:id="rId102"/>
    <p:sldId id="354" r:id="rId103"/>
    <p:sldId id="355" r:id="rId104"/>
    <p:sldId id="390" r:id="rId105"/>
  </p:sldIdLst>
  <p:sldSz cx="9144000" cy="6858000" type="screen4x3"/>
  <p:notesSz cx="7099300" cy="10234295"/>
  <p:custDataLst>
    <p:tags r:id="rId1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8000"/>
    <a:srgbClr val="CCFFFF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8" autoAdjust="0"/>
    <p:restoredTop sz="85449" autoAdjust="0"/>
  </p:normalViewPr>
  <p:slideViewPr>
    <p:cSldViewPr showGuides="1">
      <p:cViewPr varScale="1">
        <p:scale>
          <a:sx n="59" d="100"/>
          <a:sy n="59" d="100"/>
        </p:scale>
        <p:origin x="16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578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0" Type="http://schemas.openxmlformats.org/officeDocument/2006/relationships/tags" Target="tags/tag1.xml"/><Relationship Id="rId11" Type="http://schemas.openxmlformats.org/officeDocument/2006/relationships/slide" Target="slides/slide8.xml"/><Relationship Id="rId109" Type="http://schemas.openxmlformats.org/officeDocument/2006/relationships/tableStyles" Target="tableStyles.xml"/><Relationship Id="rId108" Type="http://schemas.openxmlformats.org/officeDocument/2006/relationships/viewProps" Target="viewProps.xml"/><Relationship Id="rId107" Type="http://schemas.openxmlformats.org/officeDocument/2006/relationships/presProps" Target="presProps.xml"/><Relationship Id="rId106" Type="http://schemas.openxmlformats.org/officeDocument/2006/relationships/handoutMaster" Target="handoutMasters/handoutMaster1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e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 eaLnBrk="0" hangingPunct="0">
              <a:defRPr sz="13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The University of Adelaide, School of Computer Science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 eaLnBrk="0" hangingPunct="0">
              <a:defRPr sz="13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5F03D7B6-5E76-4070-A2D2-93A4B5BCF437}" type="datetime3">
              <a:rPr lang="en-US" altLang="zh-CN"/>
            </a:fld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 eaLnBrk="0" hangingPunct="0">
              <a:defRPr sz="13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Chapter 2 — Instructions: Language of the Computer</a:t>
            </a: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 eaLnBrk="0" hangingPunct="0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F93BBAD-F9FD-4012-AB71-C1B5F60C857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 eaLnBrk="0" hangingPunct="0">
              <a:defRPr sz="13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The University of Adelaide, School of Computer Science</a:t>
            </a: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 eaLnBrk="0" hangingPunct="0">
              <a:defRPr sz="13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fld id="{30639278-5723-4E82-BAD0-E0F4F8DCDFC7}" type="datetime3">
              <a:rPr lang="en-US" altLang="zh-CN"/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 eaLnBrk="0" hangingPunct="0">
              <a:defRPr sz="1300">
                <a:latin typeface="Times New Roman" panose="02020603050405020304" pitchFamily="18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Chapter 2 — Instructions: Language of the Computer</a:t>
            </a: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 eaLnBrk="0" hangingPunct="0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291648-D8B4-4A9F-BB59-1DDC06203C9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8706832A-2ECC-4E9C-B796-5623EA10F71F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854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1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286F56-1501-4CEB-B001-D7C3A6FAE7E8}" type="slidenum">
              <a:rPr lang="en-US" altLang="zh-CN" sz="1300"/>
            </a:fld>
            <a:endParaRPr lang="en-US" altLang="zh-CN" sz="1300"/>
          </a:p>
        </p:txBody>
      </p:sp>
      <p:sp>
        <p:nvSpPr>
          <p:cNvPr id="61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E956C65-7B00-495A-AF15-E35F6A1523D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957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81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179A88-1BBD-454A-902A-BA7022BF142B}" type="slidenum">
              <a:rPr lang="en-US" altLang="zh-CN" sz="1300"/>
            </a:fld>
            <a:endParaRPr lang="en-US" altLang="zh-CN" sz="1300"/>
          </a:p>
        </p:txBody>
      </p:sp>
      <p:sp>
        <p:nvSpPr>
          <p:cNvPr id="81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830568B-2D4F-4ED2-96ED-D24EB12961C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059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2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7BC762F-613D-4D3B-9C21-682775522C9F}" type="slidenum">
              <a:rPr lang="en-US" altLang="zh-CN" sz="1300"/>
            </a:fld>
            <a:endParaRPr lang="en-US" altLang="zh-CN" sz="1300"/>
          </a:p>
        </p:txBody>
      </p:sp>
      <p:sp>
        <p:nvSpPr>
          <p:cNvPr id="102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3A49435-8F3A-44BB-BF71-473717AC3368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162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2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B46E48-4EDE-4B67-B303-C73715CB67A9}" type="slidenum">
              <a:rPr lang="en-US" altLang="zh-CN" sz="1300"/>
            </a:fld>
            <a:endParaRPr lang="en-US" altLang="zh-CN" sz="1300"/>
          </a:p>
        </p:txBody>
      </p:sp>
      <p:sp>
        <p:nvSpPr>
          <p:cNvPr id="122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ED8A5EDB-4C38-42EC-81C7-1D0B09D17866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264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3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5B30DEA-5404-45F4-A594-6237E918909E}" type="slidenum">
              <a:rPr lang="en-US" altLang="zh-CN" sz="1300"/>
            </a:fld>
            <a:endParaRPr lang="en-US" altLang="zh-CN" sz="1300"/>
          </a:p>
        </p:txBody>
      </p:sp>
      <p:sp>
        <p:nvSpPr>
          <p:cNvPr id="143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D3AEDC2-3D65-4D39-A7A2-1EDC8624B6AD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366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3586F8-542E-4BEA-BA9D-0B24B6B7984F}" type="slidenum">
              <a:rPr lang="en-US" altLang="zh-CN" sz="1300"/>
            </a:fld>
            <a:endParaRPr lang="en-US" altLang="zh-CN" sz="1300"/>
          </a:p>
        </p:txBody>
      </p:sp>
      <p:sp>
        <p:nvSpPr>
          <p:cNvPr id="16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F363917-3F24-4232-91E9-55E8FA36112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469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4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1577E7-333E-4E92-88BD-A832E69D807C}" type="slidenum">
              <a:rPr lang="en-US" altLang="zh-CN" sz="1300"/>
            </a:fld>
            <a:endParaRPr lang="en-US" altLang="zh-CN" sz="1300"/>
          </a:p>
        </p:txBody>
      </p:sp>
      <p:sp>
        <p:nvSpPr>
          <p:cNvPr id="184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35C8DDB-E68D-4DAC-8CF1-EBCBECAE80B8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571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4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2B4B9E3-0675-4D26-A44E-753E7FABC1B8}" type="slidenum">
              <a:rPr lang="en-US" altLang="zh-CN" sz="1300"/>
            </a:fld>
            <a:endParaRPr lang="en-US" altLang="zh-CN" sz="1300"/>
          </a:p>
        </p:txBody>
      </p:sp>
      <p:sp>
        <p:nvSpPr>
          <p:cNvPr id="204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altLang="zh-CN" dirty="0" smtClean="0"/>
              <a:t>c.f. confer, compare</a:t>
            </a:r>
            <a:endParaRPr lang="en-AU" altLang="zh-CN" dirty="0" smtClean="0"/>
          </a:p>
          <a:p>
            <a:r>
              <a:rPr lang="zh-CN" altLang="en-US" dirty="0" smtClean="0"/>
              <a:t>对齐方式就是从内存与寄存器间数据交换时数据读写顺序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这对于常数的处理非常重要，需要编译器的支持来完成。为什么</a:t>
            </a:r>
            <a:r>
              <a:rPr lang="en-US" altLang="zh-CN" smtClean="0"/>
              <a:t>C</a:t>
            </a:r>
            <a:r>
              <a:rPr lang="zh-CN" altLang="en-US" smtClean="0"/>
              <a:t>语言的编译器在编译时需要选择不同的目标</a:t>
            </a:r>
            <a:r>
              <a:rPr lang="en-US" altLang="zh-CN" smtClean="0"/>
              <a:t>CPU</a:t>
            </a:r>
            <a:endParaRPr lang="en-US" altLang="zh-CN" smtClean="0"/>
          </a:p>
          <a:p>
            <a:r>
              <a:rPr lang="zh-CN" altLang="en-US" smtClean="0"/>
              <a:t>小端对齐 ： 低位在低字节，高位在高字节。   </a:t>
            </a:r>
            <a:endParaRPr lang="en-US" altLang="zh-CN" smtClean="0"/>
          </a:p>
          <a:p>
            <a:r>
              <a:rPr lang="zh-CN" altLang="en-US" smtClean="0"/>
              <a:t>大端对齐：  与小端对齐相反。</a:t>
            </a:r>
            <a:endParaRPr lang="zh-CN" altLang="en-US" smtClean="0"/>
          </a:p>
        </p:txBody>
      </p:sp>
      <p:sp>
        <p:nvSpPr>
          <p:cNvPr id="116740" name="页眉占位符 3"/>
          <p:cNvSpPr>
            <a:spLocks noGrp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6741" name="日期占位符 4"/>
          <p:cNvSpPr>
            <a:spLocks noGrp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9E5ED0C-C722-4459-B14B-9CFEC3B1995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6742" name="页脚占位符 5"/>
          <p:cNvSpPr>
            <a:spLocks noGrp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253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ED2976-F077-47CC-9C49-D71A9153BFEA}" type="slidenum">
              <a:rPr lang="en-US" altLang="zh-CN" sz="1300"/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D7E2E70A-CB85-4E59-839E-49F45E224E6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776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45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0104F3-161B-4D6D-925A-83FE0424232F}" type="slidenum">
              <a:rPr lang="en-US" altLang="zh-CN" sz="1300"/>
            </a:fld>
            <a:endParaRPr lang="en-US" altLang="zh-CN" sz="1300"/>
          </a:p>
        </p:txBody>
      </p:sp>
      <p:sp>
        <p:nvSpPr>
          <p:cNvPr id="245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F22FEE13-DA20-4C96-9A8F-F0D7195E8A38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878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66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ADE9690-E272-4422-BD56-0F4B6299C31E}" type="slidenum">
              <a:rPr lang="en-US" altLang="zh-CN" sz="1300"/>
            </a:fld>
            <a:endParaRPr lang="en-US" altLang="zh-CN" sz="1300"/>
          </a:p>
        </p:txBody>
      </p:sp>
      <p:sp>
        <p:nvSpPr>
          <p:cNvPr id="266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AEA6FCE-0463-4DB3-B34E-AC18F3683C0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981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86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0F6376F-4EE5-4B6D-93B0-9542A66BB5AC}" type="slidenum">
              <a:rPr lang="en-US" altLang="zh-CN" sz="1300"/>
            </a:fld>
            <a:endParaRPr lang="en-US" altLang="zh-CN" sz="1300"/>
          </a:p>
        </p:txBody>
      </p:sp>
      <p:sp>
        <p:nvSpPr>
          <p:cNvPr id="286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寄存器与内存之间的比较</a:t>
            </a:r>
            <a:endParaRPr lang="en-US" altLang="zh-CN" smtClean="0"/>
          </a:p>
          <a:p>
            <a:r>
              <a:rPr lang="zh-CN" altLang="en-US" smtClean="0"/>
              <a:t>编译器尽可能使用寄存器变量， 尽量将使用不频发的数据 放置到内存中</a:t>
            </a:r>
            <a:endParaRPr lang="en-US" altLang="zh-CN" smtClean="0"/>
          </a:p>
          <a:p>
            <a:r>
              <a:rPr lang="en-US" altLang="zh-CN" smtClean="0"/>
              <a:t> </a:t>
            </a:r>
            <a:r>
              <a:rPr lang="zh-CN" altLang="en-US" smtClean="0"/>
              <a:t>寄存器优化就十分重要。（寄存器有限的，因此将程序中的哪些变量分配成寄存器呢？这是一个分配和调度的问题）</a:t>
            </a:r>
            <a:endParaRPr lang="en-US" altLang="zh-CN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DF64DA7-566E-48A2-8AE7-BDF04F343397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083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307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FB9B3D-79B7-45A4-B4BE-4A608028668C}" type="slidenum">
              <a:rPr lang="en-US" altLang="zh-CN" sz="1300"/>
            </a:fld>
            <a:endParaRPr lang="en-US" altLang="zh-CN" sz="1300"/>
          </a:p>
        </p:txBody>
      </p:sp>
      <p:sp>
        <p:nvSpPr>
          <p:cNvPr id="307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立即数操作数据，立即数操作数可以避免一次数据加载指令</a:t>
            </a:r>
            <a:r>
              <a:rPr lang="en-US" altLang="zh-CN" smtClean="0"/>
              <a:t> lw</a:t>
            </a:r>
            <a:endParaRPr lang="en-US" altLang="zh-CN" smtClean="0"/>
          </a:p>
          <a:p>
            <a:r>
              <a:rPr lang="en-AU" altLang="zh-CN" smtClean="0"/>
              <a:t> </a:t>
            </a:r>
            <a:r>
              <a:rPr lang="zh-CN" altLang="en-US" smtClean="0"/>
              <a:t>哪些是立即数呢？循环变量、边界值等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  </a:t>
            </a:r>
            <a:r>
              <a:rPr lang="zh-CN" altLang="en-US" smtClean="0"/>
              <a:t>前面我们介绍了计算机中的三种操作对象  寄存器、内存、立即数</a:t>
            </a:r>
            <a:endParaRPr lang="en-US" altLang="zh-CN" smtClean="0"/>
          </a:p>
          <a:p>
            <a:r>
              <a:rPr lang="en-US" altLang="zh-CN" smtClean="0"/>
              <a:t>  </a:t>
            </a:r>
            <a:r>
              <a:rPr lang="zh-CN" altLang="en-US" smtClean="0"/>
              <a:t>那么计算机中的指令能够处理哪些数据类型呢？ 计算机中如何来表示这些数据呢？</a:t>
            </a:r>
            <a:endParaRPr lang="en-US" altLang="zh-CN" smtClean="0"/>
          </a:p>
          <a:p>
            <a:r>
              <a:rPr lang="en-US" altLang="zh-CN" smtClean="0"/>
              <a:t> </a:t>
            </a:r>
            <a:endParaRPr lang="zh-CN" altLang="en-US" smtClean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University of Adelaide, School of Computer Science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B2F2634-9254-4F27-AAA3-8F18D4775079}" type="datetime3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 — Instructions: Language of the Computer</a:t>
            </a:r>
            <a:endParaRPr lang="en-US"/>
          </a:p>
        </p:txBody>
      </p:sp>
      <p:sp>
        <p:nvSpPr>
          <p:cNvPr id="3277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9D48DC-B94D-4619-BC9E-5E7E6E1CEC27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>
                <a:cs typeface="Arial" panose="020B0604020202020204" pitchFamily="34" charset="0"/>
              </a:rPr>
              <a:t>1‘s complement , </a:t>
            </a:r>
            <a:r>
              <a:rPr lang="zh-CN" altLang="en-US" smtClean="0">
                <a:cs typeface="Arial" panose="020B0604020202020204" pitchFamily="34" charset="0"/>
              </a:rPr>
              <a:t>原码， </a:t>
            </a:r>
            <a:r>
              <a:rPr lang="en-US" altLang="zh-CN" smtClean="0">
                <a:cs typeface="Arial" panose="020B0604020202020204" pitchFamily="34" charset="0"/>
              </a:rPr>
              <a:t>2’s complement </a:t>
            </a:r>
            <a:r>
              <a:rPr lang="zh-CN" altLang="en-US" smtClean="0">
                <a:cs typeface="Arial" panose="020B0604020202020204" pitchFamily="34" charset="0"/>
              </a:rPr>
              <a:t>补码</a:t>
            </a:r>
            <a:endParaRPr lang="en-US" altLang="zh-CN" smtClean="0">
              <a:cs typeface="Arial" panose="020B0604020202020204" pitchFamily="34" charset="0"/>
            </a:endParaRPr>
          </a:p>
        </p:txBody>
      </p:sp>
      <p:sp>
        <p:nvSpPr>
          <p:cNvPr id="121860" name="页眉占位符 3"/>
          <p:cNvSpPr>
            <a:spLocks noGrp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1861" name="日期占位符 4"/>
          <p:cNvSpPr>
            <a:spLocks noGrp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FD94D94C-C5C8-40E7-BC17-ABBC4A797856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1862" name="页脚占位符 5"/>
          <p:cNvSpPr>
            <a:spLocks noGrp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34823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9729E35-DCD7-4E15-9F0C-0821E5AA7A6A}" type="slidenum">
              <a:rPr lang="en-US" altLang="zh-CN" sz="1300"/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2A9582E-C035-481F-89A5-D1D81F94D19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288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368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81353A-2551-4B8B-945D-E3B8CB218AEF}" type="slidenum">
              <a:rPr lang="en-US" altLang="zh-CN" sz="1300"/>
            </a:fld>
            <a:endParaRPr lang="en-US" altLang="zh-CN" sz="1300"/>
          </a:p>
        </p:txBody>
      </p:sp>
      <p:sp>
        <p:nvSpPr>
          <p:cNvPr id="368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altLang="zh-CN" smtClean="0"/>
              <a:t> </a:t>
            </a:r>
            <a:r>
              <a:rPr lang="zh-CN" altLang="en-US" smtClean="0"/>
              <a:t>零 在</a:t>
            </a:r>
            <a:r>
              <a:rPr lang="en-US" altLang="zh-CN" smtClean="0"/>
              <a:t>MIPS</a:t>
            </a:r>
            <a:r>
              <a:rPr lang="zh-CN" altLang="en-US" smtClean="0"/>
              <a:t>中如何表示和存储</a:t>
            </a:r>
            <a:endParaRPr lang="en-US" altLang="zh-CN" smtClean="0"/>
          </a:p>
          <a:p>
            <a:r>
              <a:rPr lang="en-US" altLang="zh-CN" smtClean="0"/>
              <a:t> </a:t>
            </a:r>
            <a:r>
              <a:rPr lang="zh-CN" altLang="en-US" smtClean="0"/>
              <a:t>零号寄存器可以用来完成寄存器之间的传输和赋值操作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AAD4782-C101-4261-A217-49E1292C545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390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389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745B49-1E4A-4A35-8D7E-2C5D6DEB8974}" type="slidenum">
              <a:rPr lang="en-US" altLang="zh-CN" sz="1300"/>
            </a:fld>
            <a:endParaRPr lang="en-US" altLang="zh-CN" sz="1300"/>
          </a:p>
        </p:txBody>
      </p:sp>
      <p:sp>
        <p:nvSpPr>
          <p:cNvPr id="389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有符号数和无符号数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820A68F-8FBC-4A0B-A390-1F713185432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493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419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E53785-2335-4935-90CD-5C2F437C7C02}" type="slidenum">
              <a:rPr lang="en-US" altLang="zh-CN" sz="1300"/>
            </a:fld>
            <a:endParaRPr lang="en-US" altLang="zh-CN" sz="1300"/>
          </a:p>
        </p:txBody>
      </p:sp>
      <p:sp>
        <p:nvSpPr>
          <p:cNvPr id="419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68C69B7-9700-462D-A7B1-C20E233D164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595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440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0318F0-D0E7-42F6-9D28-D6AD99E9B89A}" type="slidenum">
              <a:rPr lang="en-US" altLang="zh-CN" sz="1300"/>
            </a:fld>
            <a:endParaRPr lang="en-US" altLang="zh-CN" sz="1300"/>
          </a:p>
        </p:txBody>
      </p:sp>
      <p:sp>
        <p:nvSpPr>
          <p:cNvPr id="440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EFD48C0-5D79-40DF-9E69-B280F1F1861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698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460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E58B078-D1C1-4D6F-A74A-630F0BA17EEA}" type="slidenum">
              <a:rPr lang="en-US" altLang="zh-CN" sz="1300"/>
            </a:fld>
            <a:endParaRPr lang="en-US" altLang="zh-CN" sz="1300"/>
          </a:p>
        </p:txBody>
      </p:sp>
      <p:sp>
        <p:nvSpPr>
          <p:cNvPr id="460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4BEC462-8B9D-4B1E-876C-3C8667C0EE58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800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481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DBD8E9E-8F0B-4544-A41C-3A11A952342F}" type="slidenum">
              <a:rPr lang="en-US" altLang="zh-CN" sz="1300"/>
            </a:fld>
            <a:endParaRPr lang="en-US" altLang="zh-CN" sz="1300"/>
          </a:p>
        </p:txBody>
      </p:sp>
      <p:sp>
        <p:nvSpPr>
          <p:cNvPr id="481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4DF9142-F10B-41AE-ACAE-56FB8F61151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902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50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5F31BB6-71AD-4AB5-84B7-315EB4148D42}" type="slidenum">
              <a:rPr lang="en-US" altLang="zh-CN" sz="1300"/>
            </a:fld>
            <a:endParaRPr lang="en-US" altLang="zh-CN" sz="1300"/>
          </a:p>
        </p:txBody>
      </p:sp>
      <p:sp>
        <p:nvSpPr>
          <p:cNvPr id="50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以上介绍了 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指令集结构中整数的表示问题。那么我们常用的小数如何表示呢？</a:t>
            </a:r>
            <a:r>
              <a:rPr lang="zh-CN" altLang="en-US" baseline="0" dirty="0" smtClean="0"/>
              <a:t>  我们在后面的内容中继续学习</a:t>
            </a:r>
            <a:endParaRPr lang="en-US" altLang="zh-CN" dirty="0" smtClean="0"/>
          </a:p>
          <a:p>
            <a:r>
              <a:rPr lang="zh-CN" altLang="en-US" dirty="0" smtClean="0"/>
              <a:t>那么指令如何表示呢？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我们可以看到   </a:t>
            </a:r>
            <a:r>
              <a:rPr lang="en-US" altLang="zh-CN" smtClean="0"/>
              <a:t>MIPS</a:t>
            </a:r>
            <a:r>
              <a:rPr lang="zh-CN" altLang="en-US" smtClean="0"/>
              <a:t>指令集分为如下</a:t>
            </a:r>
            <a:r>
              <a:rPr lang="en-US" altLang="zh-CN" smtClean="0"/>
              <a:t>6</a:t>
            </a:r>
            <a:r>
              <a:rPr lang="zh-CN" altLang="en-US" smtClean="0"/>
              <a:t>类指令</a:t>
            </a:r>
            <a:endParaRPr lang="en-US" altLang="zh-CN" smtClean="0"/>
          </a:p>
          <a:p>
            <a:r>
              <a:rPr lang="en-US" altLang="zh-CN" smtClean="0"/>
              <a:t>                       </a:t>
            </a:r>
            <a:r>
              <a:rPr lang="zh-CN" altLang="en-US" smtClean="0"/>
              <a:t>其中所有的指令的格式都为</a:t>
            </a:r>
            <a:r>
              <a:rPr lang="en-US" altLang="zh-CN" smtClean="0"/>
              <a:t>32</a:t>
            </a:r>
            <a:r>
              <a:rPr lang="zh-CN" altLang="en-US" smtClean="0"/>
              <a:t>位的定长指令，其构成可以分为如下三种格式的指令</a:t>
            </a:r>
            <a:r>
              <a:rPr lang="en-US" altLang="zh-CN" smtClean="0"/>
              <a:t>R\I\J</a:t>
            </a:r>
            <a:endParaRPr lang="zh-CN" altLang="en-US" smtClean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University of Adelaide, School of Computer Science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fld id="{CB2F2634-9254-4F27-AAA3-8F18D4775079}" type="datetime3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 — Instructions: Language of the Computer</a:t>
            </a:r>
            <a:endParaRPr lang="en-US"/>
          </a:p>
        </p:txBody>
      </p:sp>
      <p:sp>
        <p:nvSpPr>
          <p:cNvPr id="5223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71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1CAC04-496B-49D8-868B-2B7ABDE3DBE2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8C41319-183C-4D43-99D5-A9F5CF06869D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005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542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5C5E161-9595-4B40-9C77-FA63236371B8}" type="slidenum">
              <a:rPr lang="en-US" altLang="zh-CN" sz="1300"/>
            </a:fld>
            <a:endParaRPr lang="en-US" altLang="zh-CN" sz="1300"/>
          </a:p>
        </p:txBody>
      </p:sp>
      <p:sp>
        <p:nvSpPr>
          <p:cNvPr id="542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首先我们来看一下</a:t>
            </a:r>
            <a:r>
              <a:rPr lang="en-US" altLang="zh-CN" dirty="0" smtClean="0"/>
              <a:t>R</a:t>
            </a:r>
            <a:r>
              <a:rPr lang="zh-CN" altLang="en-US" dirty="0" smtClean="0"/>
              <a:t>型的指令，以及指令中每个字段（域）的含义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F76DC014-824A-4575-BAC1-E732EE821A6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107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563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735408-9A7E-48E7-97CB-CAB1DA9B78D6}" type="slidenum">
              <a:rPr lang="en-US" altLang="zh-CN" sz="1300"/>
            </a:fld>
            <a:endParaRPr lang="en-US" altLang="zh-CN" sz="1300"/>
          </a:p>
        </p:txBody>
      </p:sp>
      <p:sp>
        <p:nvSpPr>
          <p:cNvPr id="563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6F7E379-5A25-43FB-9716-E02DAA17C4DF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210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583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FDDA5D-9FC0-4B66-9C8C-C1CB5C6F97EA}" type="slidenum">
              <a:rPr lang="en-US" altLang="zh-CN" sz="1300"/>
            </a:fld>
            <a:endParaRPr lang="en-US" altLang="zh-CN" sz="1300"/>
          </a:p>
        </p:txBody>
      </p:sp>
      <p:sp>
        <p:nvSpPr>
          <p:cNvPr id="583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altLang="zh-CN" smtClean="0"/>
              <a:t>16</a:t>
            </a:r>
            <a:r>
              <a:rPr lang="zh-CN" altLang="en-US" smtClean="0"/>
              <a:t>进制数，为了更好观察指令的结果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CE3026C-3454-487C-8689-4A3869BF4A35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312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04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3C1968-3A71-4495-AA38-FA17194A5FD7}" type="slidenum">
              <a:rPr lang="en-US" altLang="zh-CN" sz="1300"/>
            </a:fld>
            <a:endParaRPr lang="en-US" altLang="zh-CN" sz="1300"/>
          </a:p>
        </p:txBody>
      </p:sp>
      <p:sp>
        <p:nvSpPr>
          <p:cNvPr id="604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I </a:t>
            </a:r>
            <a:r>
              <a:rPr lang="zh-CN" altLang="en-US" smtClean="0"/>
              <a:t>型的指令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9074747-8A21-4A72-92CF-3708D521F46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414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24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3A3F03-B4C7-4337-88D5-E286723EE22B}" type="slidenum">
              <a:rPr lang="en-US" altLang="zh-CN" sz="1300"/>
            </a:fld>
            <a:endParaRPr lang="en-US" altLang="zh-CN" sz="1300"/>
          </a:p>
        </p:txBody>
      </p:sp>
      <p:sp>
        <p:nvSpPr>
          <p:cNvPr id="624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我们了解了指令的格式，那么由指令组成的程序是如何设计和工作呢？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zh-CN" altLang="en-US" dirty="0" smtClean="0"/>
              <a:t>右边的图示了程序和数据在内存中的分布情况，我们可以观察到：</a:t>
            </a:r>
            <a:endParaRPr lang="en-US" altLang="zh-CN" dirty="0" smtClean="0"/>
          </a:p>
          <a:p>
            <a:r>
              <a:rPr lang="zh-CN" altLang="en-US" dirty="0" smtClean="0"/>
              <a:t>冯诺依曼计算机工作原理是存储程序的工作方式，该方式遵循以下</a:t>
            </a:r>
            <a:r>
              <a:rPr lang="en-US" altLang="zh-CN" dirty="0" smtClean="0"/>
              <a:t>2</a:t>
            </a:r>
            <a:r>
              <a:rPr lang="zh-CN" altLang="en-US" dirty="0" smtClean="0"/>
              <a:t>原则： 程序和数据都都表示为数字（二进制 </a:t>
            </a:r>
            <a:r>
              <a:rPr lang="en-US" altLang="zh-CN" dirty="0" smtClean="0"/>
              <a:t>0101</a:t>
            </a:r>
            <a:r>
              <a:rPr lang="zh-CN" altLang="en-US" dirty="0" smtClean="0"/>
              <a:t>），程序是可以数据一样读写</a:t>
            </a:r>
            <a:endParaRPr lang="en-US" altLang="zh-CN" dirty="0" smtClean="0"/>
          </a:p>
          <a:p>
            <a:r>
              <a:rPr lang="zh-CN" altLang="en-US" dirty="0" smtClean="0"/>
              <a:t>软件兼容性，导致工业界围绕着少量的</a:t>
            </a:r>
            <a:r>
              <a:rPr lang="en-US" altLang="zh-CN" dirty="0" smtClean="0"/>
              <a:t>ISA</a:t>
            </a:r>
            <a:r>
              <a:rPr lang="zh-CN" altLang="en-US" dirty="0" smtClean="0"/>
              <a:t>架构的联盟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                            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BCEF54E8-987A-450C-AABC-A349BDEC4162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517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45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6E33A1F-10CA-4D7F-8125-F2B8161CCEAC}" type="slidenum">
              <a:rPr lang="en-US" altLang="zh-CN" sz="1300"/>
            </a:fld>
            <a:endParaRPr lang="en-US" altLang="zh-CN" sz="1300"/>
          </a:p>
        </p:txBody>
      </p:sp>
      <p:sp>
        <p:nvSpPr>
          <p:cNvPr id="645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下面我们介绍最常见的几类指令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3746EDF-1D59-458D-8119-0FC9B780246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619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65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2FB22E-C342-491D-9626-18082E8B47FB}" type="slidenum">
              <a:rPr lang="en-US" altLang="zh-CN" sz="1300"/>
            </a:fld>
            <a:endParaRPr lang="en-US" altLang="zh-CN" sz="1300"/>
          </a:p>
        </p:txBody>
      </p:sp>
      <p:sp>
        <p:nvSpPr>
          <p:cNvPr id="665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52146E9-EE73-4936-97F4-C7C0D27B367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722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686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5BFC7B-E9BE-4090-B49B-C762074B50BD}" type="slidenum">
              <a:rPr lang="en-US" altLang="zh-CN" sz="1300"/>
            </a:fld>
            <a:endParaRPr lang="en-US" altLang="zh-CN" sz="1300"/>
          </a:p>
        </p:txBody>
      </p:sp>
      <p:sp>
        <p:nvSpPr>
          <p:cNvPr id="686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682575A-222E-4EE0-ABBB-15AD0126AE4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824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706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A334EB-7CA7-41CF-A656-0B8EA7C9A927}" type="slidenum">
              <a:rPr lang="en-US" altLang="zh-CN" sz="1300"/>
            </a:fld>
            <a:endParaRPr lang="en-US" altLang="zh-CN" sz="1300"/>
          </a:p>
        </p:txBody>
      </p:sp>
      <p:sp>
        <p:nvSpPr>
          <p:cNvPr id="706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AD5FEB0-3C55-425E-87BB-2A169C74B97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926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727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782D29-6184-401D-95CA-59F9E15489A9}" type="slidenum">
              <a:rPr lang="en-US" altLang="zh-CN" sz="1300"/>
            </a:fld>
            <a:endParaRPr lang="en-US" altLang="zh-CN" sz="130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6372AFC-A598-4008-A4A2-024EEB86299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029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747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8C6017-3B94-4119-BE9D-DE0A85BFAC05}" type="slidenum">
              <a:rPr lang="en-US" altLang="zh-CN" sz="1300"/>
            </a:fld>
            <a:endParaRPr lang="en-US" altLang="zh-CN" sz="1300"/>
          </a:p>
        </p:txBody>
      </p:sp>
      <p:sp>
        <p:nvSpPr>
          <p:cNvPr id="747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条件操作指令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5EBF115-20C1-41ED-88BB-38FF1F66E6F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131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768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B571C7-1742-404E-AA76-01C7B836C31C}" type="slidenum">
              <a:rPr lang="en-US" altLang="zh-CN" sz="1300"/>
            </a:fld>
            <a:endParaRPr lang="en-US" altLang="zh-CN" sz="1300"/>
          </a:p>
        </p:txBody>
      </p:sp>
      <p:sp>
        <p:nvSpPr>
          <p:cNvPr id="768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27ECD6EA-B6E0-42AF-A065-61EB99069BB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234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788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FE1D4C-7412-4A1D-A470-F05AC1917993}" type="slidenum">
              <a:rPr lang="en-US" altLang="zh-CN" sz="1300"/>
            </a:fld>
            <a:endParaRPr lang="en-US" altLang="zh-CN" sz="1300"/>
          </a:p>
        </p:txBody>
      </p:sp>
      <p:sp>
        <p:nvSpPr>
          <p:cNvPr id="788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循环指令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3403155-4A70-4085-A5EC-5BB26CFE598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336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809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907A6F9-BB1C-4518-87D5-6461CD24B1AC}" type="slidenum">
              <a:rPr lang="en-US" altLang="zh-CN" sz="1300"/>
            </a:fld>
            <a:endParaRPr lang="en-US" altLang="zh-CN" sz="1300"/>
          </a:p>
        </p:txBody>
      </p:sp>
      <p:sp>
        <p:nvSpPr>
          <p:cNvPr id="809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基本的结构， 既没有嵌入的分支语句，除了在结束除外，也没有分支程序的入口（除了起始位置之外）</a:t>
            </a:r>
            <a:endParaRPr lang="en-US" altLang="zh-CN" dirty="0" smtClean="0"/>
          </a:p>
          <a:p>
            <a:r>
              <a:rPr lang="en-US" altLang="zh-CN" dirty="0" smtClean="0"/>
              <a:t>   </a:t>
            </a:r>
            <a:r>
              <a:rPr lang="zh-CN" altLang="en-US" dirty="0" smtClean="0"/>
              <a:t>基本程序块是编译器识别并优化的程序块，一些先进的处理器可以加快基本快的执行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EC72DD7D-715F-49D9-B20F-768C5D6D7DE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438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829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F0E246-37E3-447A-9B91-76439535A878}" type="slidenum">
              <a:rPr lang="en-US" altLang="zh-CN" sz="1300"/>
            </a:fld>
            <a:endParaRPr lang="en-US" altLang="zh-CN" sz="1300"/>
          </a:p>
        </p:txBody>
      </p:sp>
      <p:sp>
        <p:nvSpPr>
          <p:cNvPr id="829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条件赋值操作指令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62D5C40A-B496-4C76-8364-2F0D3679DBD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541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849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09166A-A178-4A13-9049-F2AA99F7850A}" type="slidenum">
              <a:rPr lang="en-US" altLang="zh-CN" sz="1300"/>
            </a:fld>
            <a:endParaRPr lang="en-US" altLang="zh-CN" sz="1300"/>
          </a:p>
        </p:txBody>
      </p:sp>
      <p:sp>
        <p:nvSpPr>
          <p:cNvPr id="849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分支指令的设计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对于硬件来说 </a:t>
            </a:r>
            <a:r>
              <a:rPr lang="en-US" altLang="zh-CN" dirty="0" smtClean="0"/>
              <a:t>&lt;  </a:t>
            </a:r>
            <a:r>
              <a:rPr lang="zh-CN" altLang="en-US" dirty="0" smtClean="0"/>
              <a:t>运行时间比</a:t>
            </a:r>
            <a:r>
              <a:rPr lang="en-US" altLang="zh-CN" dirty="0" smtClean="0"/>
              <a:t>= </a:t>
            </a:r>
            <a:r>
              <a:rPr lang="zh-CN" altLang="en-US" dirty="0" smtClean="0"/>
              <a:t>，不等于慢</a:t>
            </a:r>
            <a:endParaRPr lang="en-US" altLang="zh-CN" dirty="0" smtClean="0"/>
          </a:p>
          <a:p>
            <a:r>
              <a:rPr lang="zh-CN" altLang="en-US" dirty="0" smtClean="0"/>
              <a:t>如果将比较和分支在一条指令中将会包含更多的操作，从而导致更慢的时钟，从而导致所有的指令都变慢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另一方面</a:t>
            </a:r>
            <a:r>
              <a:rPr lang="en-US" altLang="zh-CN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beq</a:t>
            </a:r>
            <a:r>
              <a:rPr lang="en-US" altLang="zh-CN" dirty="0" smtClean="0"/>
              <a:t> and </a:t>
            </a:r>
            <a:r>
              <a:rPr lang="en-US" altLang="zh-CN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bne</a:t>
            </a:r>
            <a:r>
              <a:rPr lang="en-US" altLang="zh-CN" dirty="0" smtClean="0"/>
              <a:t> </a:t>
            </a:r>
            <a:r>
              <a:rPr lang="zh-CN" altLang="en-US" dirty="0" smtClean="0"/>
              <a:t>更常用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AU" altLang="zh-CN" dirty="0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2843F4B-DD04-4140-AD43-91BD997EF06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643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870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A1CA49-A1DC-417E-AE5C-E56A152E8ECF}" type="slidenum">
              <a:rPr lang="en-US" altLang="zh-CN" sz="1300"/>
            </a:fld>
            <a:endParaRPr lang="en-US" altLang="zh-CN" sz="1300"/>
          </a:p>
        </p:txBody>
      </p:sp>
      <p:sp>
        <p:nvSpPr>
          <p:cNvPr id="870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526A06B-D792-4B42-BD6F-A7E45F66583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746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890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6B3023-B3AA-45AB-B1DE-0461383A3A65}" type="slidenum">
              <a:rPr lang="en-US" altLang="zh-CN" sz="1300"/>
            </a:fld>
            <a:endParaRPr lang="en-US" altLang="zh-CN" sz="1300"/>
          </a:p>
        </p:txBody>
      </p:sp>
      <p:sp>
        <p:nvSpPr>
          <p:cNvPr id="890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过程调用</a:t>
            </a:r>
            <a:endParaRPr lang="en-US" altLang="zh-CN" dirty="0" smtClean="0"/>
          </a:p>
          <a:p>
            <a:r>
              <a:rPr lang="en-US" altLang="zh-CN" baseline="0" dirty="0" smtClean="0"/>
              <a:t>   </a:t>
            </a:r>
            <a:r>
              <a:rPr lang="zh-CN" altLang="en-US" baseline="0" dirty="0" smtClean="0"/>
              <a:t>过程调用的步骤</a:t>
            </a:r>
            <a:endParaRPr lang="en-US" altLang="zh-CN" baseline="0" dirty="0" smtClean="0"/>
          </a:p>
          <a:p>
            <a:r>
              <a:rPr lang="en-US" altLang="zh-CN" baseline="0" dirty="0" smtClean="0"/>
              <a:t>   </a:t>
            </a:r>
            <a:r>
              <a:rPr lang="zh-CN" altLang="en-US" baseline="0" dirty="0" smtClean="0"/>
              <a:t>放置参数</a:t>
            </a:r>
            <a:r>
              <a:rPr lang="en-US" altLang="zh-CN" baseline="0" dirty="0" smtClean="0"/>
              <a:t>– </a:t>
            </a:r>
            <a:r>
              <a:rPr lang="zh-CN" altLang="en-US" baseline="0" dirty="0" smtClean="0"/>
              <a:t>转移控制</a:t>
            </a:r>
            <a:r>
              <a:rPr lang="en-US" altLang="zh-CN" baseline="0" dirty="0" smtClean="0"/>
              <a:t>—</a:t>
            </a:r>
            <a:r>
              <a:rPr lang="zh-CN" altLang="en-US" baseline="0" dirty="0" smtClean="0"/>
              <a:t>申请局部变量内存（同时</a:t>
            </a:r>
            <a:r>
              <a:rPr lang="en-US" altLang="zh-CN" baseline="0" dirty="0" err="1" smtClean="0"/>
              <a:t>fp</a:t>
            </a:r>
            <a:r>
              <a:rPr lang="zh-CN" altLang="en-US" baseline="0" dirty="0" smtClean="0"/>
              <a:t>指向</a:t>
            </a:r>
            <a:r>
              <a:rPr lang="en-US" altLang="zh-CN" baseline="0" dirty="0" err="1" smtClean="0"/>
              <a:t>sp</a:t>
            </a:r>
            <a:r>
              <a:rPr lang="zh-CN" altLang="en-US" baseline="0" dirty="0" smtClean="0"/>
              <a:t>）</a:t>
            </a:r>
            <a:r>
              <a:rPr lang="en-US" altLang="zh-CN" baseline="0" dirty="0" smtClean="0"/>
              <a:t>---</a:t>
            </a:r>
            <a:r>
              <a:rPr lang="zh-CN" altLang="en-US" baseline="0" dirty="0" smtClean="0"/>
              <a:t>过程任务</a:t>
            </a:r>
            <a:r>
              <a:rPr lang="en-US" altLang="zh-CN" baseline="0" dirty="0" smtClean="0"/>
              <a:t>—</a:t>
            </a:r>
            <a:r>
              <a:rPr lang="zh-CN" altLang="en-US" baseline="0" dirty="0" smtClean="0"/>
              <a:t>放置结果到寄存器</a:t>
            </a:r>
            <a:r>
              <a:rPr lang="en-US" altLang="zh-CN" baseline="0" dirty="0" smtClean="0"/>
              <a:t>—</a:t>
            </a:r>
            <a:r>
              <a:rPr lang="zh-CN" altLang="en-US" baseline="0" dirty="0" smtClean="0"/>
              <a:t>返回调用的位置</a:t>
            </a:r>
            <a:endParaRPr lang="en-US" altLang="zh-CN" baseline="0" dirty="0" smtClean="0"/>
          </a:p>
          <a:p>
            <a:r>
              <a:rPr lang="en-US" altLang="zh-CN" baseline="0" dirty="0" smtClean="0"/>
              <a:t>  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D7A50AE-4DCC-47C3-8ABE-DC8EB7A51CE3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848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911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851477A-E0BB-4666-BBAB-39400B4A6AD3}" type="slidenum">
              <a:rPr lang="en-US" altLang="zh-CN" sz="1300"/>
            </a:fld>
            <a:endParaRPr lang="en-US" altLang="zh-CN" sz="1300"/>
          </a:p>
        </p:txBody>
      </p:sp>
      <p:sp>
        <p:nvSpPr>
          <p:cNvPr id="911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78F914FF-25EC-4725-9B98-7A3BF10C5C1F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950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931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95FFF4-0511-4C69-B5C0-C2E477B0ADAB}" type="slidenum">
              <a:rPr lang="en-US" altLang="zh-CN" sz="1300"/>
            </a:fld>
            <a:endParaRPr lang="en-US" altLang="zh-CN" sz="1300"/>
          </a:p>
        </p:txBody>
      </p:sp>
      <p:sp>
        <p:nvSpPr>
          <p:cNvPr id="931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过程调用指令， 将当前指令的下一条指令地址放到</a:t>
            </a:r>
            <a:r>
              <a:rPr lang="en-US" altLang="zh-CN" dirty="0" smtClean="0"/>
              <a:t>$</a:t>
            </a:r>
            <a:r>
              <a:rPr lang="en-US" altLang="zh-CN" dirty="0" err="1" smtClean="0"/>
              <a:t>ra</a:t>
            </a:r>
            <a:r>
              <a:rPr lang="zh-CN" altLang="en-US" dirty="0" smtClean="0"/>
              <a:t>中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23E8D0EE-35AD-4C89-81A9-375D3AEBD84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053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952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ADA9D5-53F6-48A3-BEBE-A8907A7DF4B5}" type="slidenum">
              <a:rPr lang="en-US" altLang="zh-CN" sz="1300"/>
            </a:fld>
            <a:endParaRPr lang="en-US" altLang="zh-CN" sz="1300"/>
          </a:p>
        </p:txBody>
      </p:sp>
      <p:sp>
        <p:nvSpPr>
          <p:cNvPr id="952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叶子过程，不包含其他过程调用的过程（函数）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2304D8AB-6EC5-4D12-8CE6-45F93920056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155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972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27093-40AC-4596-AD62-60230194E5EE}" type="slidenum">
              <a:rPr lang="en-US" altLang="zh-CN" sz="1300"/>
            </a:fld>
            <a:endParaRPr lang="en-US" altLang="zh-CN" sz="1300"/>
          </a:p>
        </p:txBody>
      </p:sp>
      <p:sp>
        <p:nvSpPr>
          <p:cNvPr id="972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最后 请大家思考一下 </a:t>
            </a:r>
            <a:r>
              <a:rPr lang="en-US" altLang="zh-CN" dirty="0" err="1" smtClean="0"/>
              <a:t>jal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</a:t>
            </a:r>
            <a:r>
              <a:rPr lang="en-US" altLang="zh-CN" dirty="0" smtClean="0"/>
              <a:t>8086  call</a:t>
            </a:r>
            <a:r>
              <a:rPr lang="zh-CN" altLang="en-US" dirty="0" smtClean="0"/>
              <a:t>操作的区别？ 那个执行效率更高？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8463146-725A-4668-8A3F-B00ADD8DC1AF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258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993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C011FD-CD51-457A-B6E9-1EE2527F376F}" type="slidenum">
              <a:rPr lang="en-US" altLang="zh-CN" sz="1300"/>
            </a:fld>
            <a:endParaRPr lang="en-US" altLang="zh-CN" sz="1300"/>
          </a:p>
        </p:txBody>
      </p:sp>
      <p:sp>
        <p:nvSpPr>
          <p:cNvPr id="993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非叶子过程（函数），调用了其他的函数或者过程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C7ABA49-3574-425B-BFC3-88644AF1A58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360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13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4F6F19-E7C2-4F96-8CF1-B870E1135DB1}" type="slidenum">
              <a:rPr lang="en-US" altLang="zh-CN" sz="1300"/>
            </a:fld>
            <a:endParaRPr lang="en-US" altLang="zh-CN" sz="1300"/>
          </a:p>
        </p:txBody>
      </p:sp>
      <p:sp>
        <p:nvSpPr>
          <p:cNvPr id="1013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7833E9C-474D-4FA1-B26F-250A9E17146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462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34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5DED7A3-E3AB-4D5C-A4C9-208647FCB918}" type="slidenum">
              <a:rPr lang="en-US" altLang="zh-CN" sz="1300"/>
            </a:fld>
            <a:endParaRPr lang="en-US" altLang="zh-CN" sz="1300"/>
          </a:p>
        </p:txBody>
      </p:sp>
      <p:sp>
        <p:nvSpPr>
          <p:cNvPr id="1034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$ra </a:t>
            </a:r>
            <a:r>
              <a:rPr lang="zh-CN" altLang="en-US" smtClean="0"/>
              <a:t>特殊的寄存器，用来保存当前程序执行的地址计数器</a:t>
            </a:r>
            <a:r>
              <a:rPr lang="en-US" altLang="zh-CN" smtClean="0"/>
              <a:t>PC</a:t>
            </a:r>
            <a:r>
              <a:rPr lang="zh-CN" altLang="en-US" smtClean="0"/>
              <a:t>的值（当前指令的下一条指令）</a:t>
            </a:r>
            <a:endParaRPr lang="en-AU" altLang="zh-CN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smtClean="0"/>
              <a:t>convention</a:t>
            </a:r>
            <a:r>
              <a:rPr lang="en-US" altLang="zh-CN" smtClean="0"/>
              <a:t> [con·ven·tion || kən'venʃn]</a:t>
            </a:r>
            <a:endParaRPr lang="en-US" altLang="zh-CN" smtClean="0"/>
          </a:p>
          <a:p>
            <a:r>
              <a:rPr lang="en-US" altLang="zh-CN" smtClean="0"/>
              <a:t>n. </a:t>
            </a:r>
            <a:r>
              <a:rPr lang="zh-CN" altLang="en-US" smtClean="0"/>
              <a:t>大会</a:t>
            </a:r>
            <a:r>
              <a:rPr lang="en-US" altLang="zh-CN" smtClean="0"/>
              <a:t>; </a:t>
            </a:r>
            <a:r>
              <a:rPr lang="zh-CN" altLang="en-US" smtClean="0"/>
              <a:t>习俗</a:t>
            </a:r>
            <a:r>
              <a:rPr lang="en-US" altLang="zh-CN" smtClean="0"/>
              <a:t>; </a:t>
            </a:r>
            <a:r>
              <a:rPr lang="zh-CN" altLang="en-US" smtClean="0"/>
              <a:t>协定</a:t>
            </a:r>
            <a:endParaRPr lang="zh-CN" altLang="en-US" smtClean="0"/>
          </a:p>
        </p:txBody>
      </p:sp>
      <p:sp>
        <p:nvSpPr>
          <p:cNvPr id="155652" name="页眉占位符 3"/>
          <p:cNvSpPr>
            <a:spLocks noGrp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5653" name="日期占位符 4"/>
          <p:cNvSpPr>
            <a:spLocks noGrp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66EF4150-BA18-4BE9-9EA4-727D7A46D732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5654" name="页脚占位符 5"/>
          <p:cNvSpPr>
            <a:spLocks noGrp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5479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E6C605-56B7-4CCC-B9FD-9FC2597AE824}" type="slidenum">
              <a:rPr lang="en-US" altLang="zh-CN" sz="1300"/>
            </a:fld>
            <a:endParaRPr lang="en-US" altLang="zh-CN" sz="13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D626FB32-D339-455B-B53F-BA4B3CB0D90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667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75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6776D2-BD9C-43FB-94F9-D225BD27935A}" type="slidenum">
              <a:rPr lang="en-US" altLang="zh-CN" sz="1300"/>
            </a:fld>
            <a:endParaRPr lang="en-US" altLang="zh-CN" sz="1300"/>
          </a:p>
        </p:txBody>
      </p:sp>
      <p:sp>
        <p:nvSpPr>
          <p:cNvPr id="1075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局部变量是存放在</a:t>
            </a:r>
            <a:endParaRPr lang="en-US" altLang="zh-CN" dirty="0" smtClean="0"/>
          </a:p>
          <a:p>
            <a:r>
              <a:rPr lang="zh-CN" altLang="en-US" dirty="0" smtClean="0"/>
              <a:t>堆栈中的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1CCD18F-DBBF-424E-9596-6FDEC2E9B1A7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770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095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CAD817A-3737-4DD6-9818-905C3E8B59E6}" type="slidenum">
              <a:rPr lang="en-US" altLang="zh-CN" sz="1300"/>
            </a:fld>
            <a:endParaRPr lang="en-US" altLang="zh-CN" sz="1300"/>
          </a:p>
        </p:txBody>
      </p:sp>
      <p:sp>
        <p:nvSpPr>
          <p:cNvPr id="1095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内存中布局</a:t>
            </a:r>
            <a:endParaRPr lang="en-US" altLang="zh-CN" dirty="0" smtClean="0"/>
          </a:p>
          <a:p>
            <a:r>
              <a:rPr lang="en-US" altLang="zh-CN" baseline="0" dirty="0" smtClean="0"/>
              <a:t>   </a:t>
            </a:r>
            <a:r>
              <a:rPr lang="zh-CN" altLang="en-US" baseline="0" dirty="0" smtClean="0"/>
              <a:t>主要是了解什么是静态数据 和 动态数据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A5D191F-2BCD-4F52-B9AE-44D2A12908B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872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16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DD8704-7414-46ED-B38F-B1582150A6E3}" type="slidenum">
              <a:rPr lang="en-US" altLang="zh-CN" sz="1300"/>
            </a:fld>
            <a:endParaRPr lang="en-US" altLang="zh-CN" sz="1300"/>
          </a:p>
        </p:txBody>
      </p:sp>
      <p:sp>
        <p:nvSpPr>
          <p:cNvPr id="1116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以上 介绍了数字逻辑运算指令集以及程序中数据存储问题</a:t>
            </a:r>
            <a:endParaRPr lang="en-US" altLang="zh-CN" dirty="0" smtClean="0"/>
          </a:p>
          <a:p>
            <a:r>
              <a:rPr lang="zh-CN" altLang="en-US" dirty="0" smtClean="0"/>
              <a:t>那么如何实现 人机交互呢？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字符数据  存储方式，我们 可以发现多数的字符表示方法是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位或者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位的数据？这与</a:t>
            </a:r>
            <a:r>
              <a:rPr lang="en-US" altLang="zh-CN" dirty="0" smtClean="0"/>
              <a:t>MIPS 32</a:t>
            </a:r>
            <a:r>
              <a:rPr lang="zh-CN" altLang="en-US" dirty="0" smtClean="0"/>
              <a:t>中字的长度不匹配，如何来解决该问题呢？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University of Adelaide, School of Computer Science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30639278-5723-4E82-BAD0-E0F4F8DCDFC7}" type="datetime3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 — Instructions: Language of the Computer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8B291648-D8B4-4A9F-BB59-1DDC06203C9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F7FD06C-DDA8-4245-BC76-5C1D1827A24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974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46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0EEF177-FAF6-4369-86CF-1C6AD9B95A55}" type="slidenum">
              <a:rPr lang="en-US" altLang="zh-CN" sz="1300"/>
            </a:fld>
            <a:endParaRPr lang="en-US" altLang="zh-CN" sz="1300"/>
          </a:p>
        </p:txBody>
      </p:sp>
      <p:sp>
        <p:nvSpPr>
          <p:cNvPr id="1146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lb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rt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, offset(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rs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)   </a:t>
            </a:r>
            <a:r>
              <a:rPr lang="zh-CN" altLang="en-US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加载字节</a:t>
            </a:r>
            <a:r>
              <a:rPr lang="zh-CN" altLang="en-US" sz="1200" baseline="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 ； 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lh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rt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, offset(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rs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) </a:t>
            </a:r>
            <a:r>
              <a:rPr lang="zh-CN" altLang="en-US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加载半字</a:t>
            </a:r>
            <a:endParaRPr lang="en-US" altLang="zh-CN" sz="1200" dirty="0" smtClean="0">
              <a:solidFill>
                <a:schemeClr val="tx2"/>
              </a:solidFill>
              <a:latin typeface="Lucida Console" panose="020B0609040504020204" pitchFamily="49" charset="0"/>
              <a:ea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sb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rt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, offset(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rs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)  </a:t>
            </a:r>
            <a:r>
              <a:rPr lang="zh-CN" altLang="en-US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存储字节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    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sh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rt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, offset(</a:t>
            </a:r>
            <a:r>
              <a:rPr lang="en-US" altLang="zh-CN" sz="12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rs</a:t>
            </a:r>
            <a:r>
              <a:rPr lang="en-US" altLang="zh-CN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) </a:t>
            </a:r>
            <a:r>
              <a:rPr lang="zh-CN" altLang="en-US" sz="120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存储半字</a:t>
            </a:r>
            <a:endParaRPr lang="en-US" altLang="zh-CN" sz="1200" dirty="0" smtClean="0">
              <a:solidFill>
                <a:schemeClr val="tx2"/>
              </a:solidFill>
              <a:latin typeface="Lucida Console" panose="020B0609040504020204" pitchFamily="49" charset="0"/>
              <a:ea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1200" dirty="0" smtClean="0">
              <a:solidFill>
                <a:schemeClr val="tx2"/>
              </a:solidFill>
              <a:latin typeface="Lucida Console" panose="020B0609040504020204" pitchFamily="49" charset="0"/>
              <a:ea typeface="+mn-ea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aseline="0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</a:t>
            </a:r>
            <a:endParaRPr lang="en-US" altLang="zh-CN" sz="1200" dirty="0" smtClean="0">
              <a:solidFill>
                <a:schemeClr val="tx2"/>
              </a:solidFill>
              <a:latin typeface="Lucida Console" panose="020B0609040504020204" pitchFamily="49" charset="0"/>
              <a:ea typeface="+mn-ea"/>
            </a:endParaRPr>
          </a:p>
          <a:p>
            <a:endParaRPr lang="en-AU" altLang="zh-CN" dirty="0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FC8384A-563F-4D28-AFB8-19D9F37E9E8D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077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67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0CC4BB9-BDE3-4AE9-8EBF-885FA339FA9F}" type="slidenum">
              <a:rPr lang="en-US" altLang="zh-CN" sz="1300"/>
            </a:fld>
            <a:endParaRPr lang="en-US" altLang="zh-CN" sz="1300"/>
          </a:p>
        </p:txBody>
      </p:sp>
      <p:sp>
        <p:nvSpPr>
          <p:cNvPr id="1167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4AFA24A-88CD-47D6-A8AC-B41D7917EA4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179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187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939576A-DB9C-4F06-85CE-3D1ADAE3C6BB}" type="slidenum">
              <a:rPr lang="en-US" altLang="zh-CN" sz="1300"/>
            </a:fld>
            <a:endParaRPr lang="en-US" altLang="zh-CN" sz="1300"/>
          </a:p>
        </p:txBody>
      </p:sp>
      <p:sp>
        <p:nvSpPr>
          <p:cNvPr id="1187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525C5C5-0832-49FC-B7DF-AC84FB8B0C56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282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08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1A1425-4107-43F1-934F-034D6A1704A5}" type="slidenum">
              <a:rPr lang="en-US" altLang="zh-CN" sz="1300"/>
            </a:fld>
            <a:endParaRPr lang="en-US" altLang="zh-CN" sz="1300"/>
          </a:p>
        </p:txBody>
      </p:sp>
      <p:sp>
        <p:nvSpPr>
          <p:cNvPr id="1208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如何处理</a:t>
            </a:r>
            <a:r>
              <a:rPr lang="en-US" altLang="zh-CN" dirty="0" smtClean="0"/>
              <a:t>32</a:t>
            </a:r>
            <a:r>
              <a:rPr lang="zh-CN" altLang="en-US" dirty="0" smtClean="0"/>
              <a:t>位的常数</a:t>
            </a:r>
            <a:endParaRPr lang="en-US" altLang="zh-CN" dirty="0" smtClean="0"/>
          </a:p>
          <a:p>
            <a:r>
              <a:rPr lang="zh-CN" altLang="en-US" dirty="0" smtClean="0"/>
              <a:t>由于</a:t>
            </a:r>
            <a:r>
              <a:rPr lang="en-US" altLang="zh-CN" dirty="0" smtClean="0"/>
              <a:t>16</a:t>
            </a:r>
            <a:r>
              <a:rPr lang="zh-CN" altLang="en-US" dirty="0" smtClean="0"/>
              <a:t>位的常数对于大多数的应用已经足够了</a:t>
            </a:r>
            <a:endParaRPr lang="en-US" altLang="zh-CN" dirty="0" smtClean="0"/>
          </a:p>
          <a:p>
            <a:r>
              <a:rPr lang="en-US" altLang="zh-CN" baseline="0" dirty="0" smtClean="0"/>
              <a:t> 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EC6F351-C27C-49AA-8C9B-01C7283579BD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384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28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D48D6B-8BFA-4566-BBC7-4EFFED5CEF5E}" type="slidenum">
              <a:rPr lang="en-US" altLang="zh-CN" sz="1300"/>
            </a:fld>
            <a:endParaRPr lang="en-US" altLang="zh-CN" sz="1300"/>
          </a:p>
        </p:txBody>
      </p:sp>
      <p:sp>
        <p:nvSpPr>
          <p:cNvPr id="1228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分支程序 的寻址和指令的表示方式</a:t>
            </a:r>
            <a:endParaRPr lang="en-US" altLang="zh-CN" dirty="0" smtClean="0"/>
          </a:p>
          <a:p>
            <a:r>
              <a:rPr lang="en-AU" altLang="zh-CN" dirty="0" smtClean="0"/>
              <a:t>2</a:t>
            </a:r>
            <a:r>
              <a:rPr lang="en-AU" altLang="zh-CN" baseline="30000" dirty="0" smtClean="0"/>
              <a:t>16 </a:t>
            </a:r>
            <a:r>
              <a:rPr lang="en-AU" altLang="zh-CN" dirty="0" smtClean="0"/>
              <a:t>= 64K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78B31B1-1FEC-4BF2-BF70-B69AEF06C202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486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49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16A516-596F-44B4-A2E8-C47994ABBA1D}" type="slidenum">
              <a:rPr lang="en-US" altLang="zh-CN" sz="1300"/>
            </a:fld>
            <a:endParaRPr lang="en-US" altLang="zh-CN" sz="1300"/>
          </a:p>
        </p:txBody>
      </p:sp>
      <p:sp>
        <p:nvSpPr>
          <p:cNvPr id="1249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无条件跳转 ，</a:t>
            </a:r>
            <a:r>
              <a:rPr lang="en-US" altLang="zh-CN" dirty="0" smtClean="0"/>
              <a:t>26</a:t>
            </a:r>
            <a:r>
              <a:rPr lang="zh-CN" altLang="en-US" dirty="0" smtClean="0"/>
              <a:t>位</a:t>
            </a:r>
            <a:r>
              <a:rPr lang="en-US" altLang="zh-CN" dirty="0" smtClean="0"/>
              <a:t>+2</a:t>
            </a:r>
            <a:r>
              <a:rPr lang="en-US" altLang="zh-CN" baseline="0" dirty="0" smtClean="0"/>
              <a:t> =28</a:t>
            </a:r>
            <a:r>
              <a:rPr lang="zh-CN" altLang="en-US" baseline="0" dirty="0" smtClean="0"/>
              <a:t>位</a:t>
            </a:r>
            <a:endParaRPr lang="en-US" altLang="zh-CN" baseline="0" dirty="0" smtClean="0"/>
          </a:p>
          <a:p>
            <a:r>
              <a:rPr lang="en-US" altLang="zh-CN" baseline="0" dirty="0" smtClean="0"/>
              <a:t> </a:t>
            </a:r>
            <a:r>
              <a:rPr lang="zh-CN" altLang="en-US" baseline="0" dirty="0" smtClean="0"/>
              <a:t>由于每条指令的长度为</a:t>
            </a:r>
            <a:r>
              <a:rPr lang="en-US" altLang="zh-CN" baseline="0" dirty="0" smtClean="0"/>
              <a:t>4</a:t>
            </a:r>
            <a:r>
              <a:rPr lang="zh-CN" altLang="en-US" baseline="0" dirty="0" smtClean="0"/>
              <a:t>个字节，因此</a:t>
            </a:r>
            <a:r>
              <a:rPr lang="en-US" altLang="zh-CN" baseline="0" dirty="0" smtClean="0"/>
              <a:t>26</a:t>
            </a:r>
            <a:r>
              <a:rPr lang="zh-CN" altLang="en-US" baseline="0" dirty="0" smtClean="0"/>
              <a:t>位可以看成是跳转地址与当前地址之间间隔的指令数量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FD8E2054-916C-4163-91F2-EE9DF2D2464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589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69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7A490B-2572-41AF-9EF0-F2445CE8345B}" type="slidenum">
              <a:rPr lang="en-US" altLang="zh-CN" sz="1300"/>
            </a:fld>
            <a:endParaRPr lang="en-US" altLang="zh-CN" sz="1300"/>
          </a:p>
        </p:txBody>
      </p:sp>
      <p:sp>
        <p:nvSpPr>
          <p:cNvPr id="1269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条件跳转语句的跳转范围有限，如果跳转的范围超过了</a:t>
            </a:r>
            <a:r>
              <a:rPr lang="en-US" altLang="zh-CN" dirty="0" smtClean="0"/>
              <a:t>+- 32K</a:t>
            </a:r>
            <a:r>
              <a:rPr lang="zh-CN" altLang="en-US" dirty="0" smtClean="0"/>
              <a:t>的范围</a:t>
            </a:r>
            <a:endParaRPr lang="en-US" altLang="zh-CN" dirty="0" smtClean="0"/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简单</a:t>
            </a:r>
            <a:r>
              <a:rPr lang="zh-CN" altLang="en-US" dirty="0" smtClean="0"/>
              <a:t>地在原有的短跳转指令</a:t>
            </a:r>
            <a:r>
              <a:rPr lang="en-AU" altLang="zh-CN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beq</a:t>
            </a:r>
            <a: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$s0,$s1, </a:t>
            </a:r>
            <a: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L1</a:t>
            </a:r>
            <a:r>
              <a:rPr lang="zh-CN" altLang="en-US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，转化为</a:t>
            </a:r>
            <a:r>
              <a:rPr lang="en-US" altLang="zh-CN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bne</a:t>
            </a:r>
            <a:r>
              <a:rPr lang="en-US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 </a:t>
            </a:r>
            <a:r>
              <a:rPr lang="zh-CN" altLang="en-US" dirty="0" smtClean="0">
                <a:solidFill>
                  <a:schemeClr val="tx2"/>
                </a:solidFill>
                <a:latin typeface="Lucida Console" panose="020B0609040504020204" pitchFamily="49" charset="0"/>
                <a:ea typeface="+mn-ea"/>
              </a:rPr>
              <a:t>指令，并</a:t>
            </a:r>
            <a:r>
              <a:rPr lang="zh-CN" altLang="en-US" dirty="0" smtClean="0"/>
              <a:t>后面</a:t>
            </a:r>
            <a:r>
              <a:rPr lang="zh-CN" altLang="en-US" dirty="0" smtClean="0"/>
              <a:t>增加一条指令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j L1,</a:t>
            </a:r>
            <a:r>
              <a:rPr lang="zh-CN" altLang="en-US" baseline="0" dirty="0" smtClean="0"/>
              <a:t>并将原有指令的跳转地址修改为</a:t>
            </a:r>
            <a:r>
              <a:rPr lang="en-US" altLang="zh-CN" baseline="0" dirty="0" smtClean="0"/>
              <a:t>J L1</a:t>
            </a:r>
            <a:r>
              <a:rPr lang="zh-CN" altLang="en-US" baseline="0" dirty="0" smtClean="0"/>
              <a:t>后面的指令即可。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80EE03AC-57FB-4137-A7EA-3DB8054646E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691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290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2DED68B-F043-4C46-ACEE-1FD7831407AD}" type="slidenum">
              <a:rPr lang="en-US" altLang="zh-CN" sz="1300"/>
            </a:fld>
            <a:endParaRPr lang="en-US" altLang="zh-CN" sz="1300"/>
          </a:p>
        </p:txBody>
      </p:sp>
      <p:sp>
        <p:nvSpPr>
          <p:cNvPr id="1290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smtClean="0"/>
              <a:t>pseudo</a:t>
            </a:r>
            <a:r>
              <a:rPr lang="en-US" altLang="zh-CN" smtClean="0"/>
              <a:t> ['suːdəʊ /'sju-]</a:t>
            </a:r>
            <a:endParaRPr lang="en-US" altLang="zh-CN" smtClean="0"/>
          </a:p>
          <a:p>
            <a:r>
              <a:rPr lang="en-US" altLang="zh-CN" smtClean="0"/>
              <a:t>adj. </a:t>
            </a:r>
            <a:r>
              <a:rPr lang="zh-CN" altLang="en-US" smtClean="0"/>
              <a:t>假的</a:t>
            </a:r>
            <a:r>
              <a:rPr lang="en-US" altLang="zh-CN" smtClean="0"/>
              <a:t>; </a:t>
            </a:r>
            <a:r>
              <a:rPr lang="zh-CN" altLang="en-US" smtClean="0"/>
              <a:t>冒充的  伪直接寻址</a:t>
            </a:r>
            <a:endParaRPr lang="zh-CN" altLang="en-US" smtClean="0"/>
          </a:p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ED941127-50D9-49D3-B4CA-7275A29D8DA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794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10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B895B1-5D29-42E5-8984-4EAC69742DDC}" type="slidenum">
              <a:rPr lang="en-US" altLang="zh-CN" sz="1300"/>
            </a:fld>
            <a:endParaRPr lang="en-US" altLang="zh-CN" sz="1300"/>
          </a:p>
        </p:txBody>
      </p:sp>
      <p:sp>
        <p:nvSpPr>
          <p:cNvPr id="1310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同步控制，在多道程序环境下（进程切换是随机的），多处理机系统或者</a:t>
            </a:r>
            <a:r>
              <a:rPr lang="zh-CN" altLang="en-US" baseline="0" dirty="0" smtClean="0"/>
              <a:t> 多核系统下，经常会出现资源竞争的问题。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  </a:t>
            </a:r>
            <a:r>
              <a:rPr lang="zh-CN" altLang="en-US" baseline="0" dirty="0" smtClean="0"/>
              <a:t>例如 两个处理机需要访问同一个内存区域，由于其结果取决于访问的顺序，导致程序运行的结果不可预测。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 </a:t>
            </a:r>
            <a:r>
              <a:rPr lang="zh-CN" altLang="en-US" baseline="0" dirty="0" smtClean="0"/>
              <a:t>因此需要</a:t>
            </a:r>
            <a:r>
              <a:rPr lang="en-US" altLang="zh-CN" baseline="0" dirty="0" smtClean="0"/>
              <a:t>ISA</a:t>
            </a:r>
            <a:r>
              <a:rPr lang="zh-CN" altLang="en-US" baseline="0" dirty="0" smtClean="0"/>
              <a:t>在硬件上支持原子的读写操作之间不允许其他的操作。</a:t>
            </a:r>
            <a:endParaRPr lang="en-US" altLang="zh-CN" baseline="0" dirty="0" smtClean="0"/>
          </a:p>
          <a:p>
            <a:r>
              <a:rPr lang="zh-CN" altLang="en-US" baseline="0" dirty="0" smtClean="0"/>
              <a:t>具体实现上，可以采用单独的指令来实现寄存器与内存单元数据之间的原子交换，</a:t>
            </a:r>
            <a:endParaRPr lang="en-US" altLang="zh-CN" baseline="0" dirty="0" smtClean="0"/>
          </a:p>
          <a:p>
            <a:r>
              <a:rPr lang="en-US" altLang="zh-CN" baseline="0" dirty="0" smtClean="0"/>
              <a:t>  </a:t>
            </a:r>
            <a:r>
              <a:rPr lang="zh-CN" altLang="en-US" baseline="0" dirty="0" smtClean="0"/>
              <a:t>或者利用原子操作的指令对来实现。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为多处理器系统构建锁的机制。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目的 </a:t>
            </a:r>
            <a:r>
              <a:rPr lang="en-US" altLang="zh-CN" dirty="0" smtClean="0"/>
              <a:t>1  </a:t>
            </a:r>
            <a:r>
              <a:rPr lang="zh-CN" altLang="en-US" dirty="0" smtClean="0"/>
              <a:t>临界资源</a:t>
            </a:r>
            <a:endParaRPr lang="en-US" altLang="zh-CN" dirty="0" smtClean="0"/>
          </a:p>
          <a:p>
            <a:r>
              <a:rPr lang="en-US" altLang="zh-CN" dirty="0" smtClean="0"/>
              <a:t>   </a:t>
            </a:r>
            <a:r>
              <a:rPr lang="zh-CN" altLang="en-US" dirty="0" smtClean="0"/>
              <a:t>其具体的实现方式是，假定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0 </a:t>
            </a:r>
            <a:r>
              <a:rPr lang="zh-CN" altLang="en-US" baseline="0" dirty="0" smtClean="0"/>
              <a:t>是锁是打开的， </a:t>
            </a:r>
            <a:r>
              <a:rPr lang="en-US" altLang="zh-CN" baseline="0" dirty="0" smtClean="0"/>
              <a:t>1 </a:t>
            </a:r>
            <a:r>
              <a:rPr lang="zh-CN" altLang="en-US" baseline="0" dirty="0" smtClean="0"/>
              <a:t>表示对临界区资源加锁</a:t>
            </a:r>
            <a:endParaRPr lang="en-US" altLang="zh-CN" baseline="0" dirty="0" smtClean="0"/>
          </a:p>
          <a:p>
            <a:r>
              <a:rPr lang="en-US" altLang="zh-CN" baseline="0" dirty="0" smtClean="0"/>
              <a:t>   </a:t>
            </a:r>
            <a:r>
              <a:rPr lang="zh-CN" altLang="en-US" baseline="0" dirty="0" smtClean="0"/>
              <a:t>那么处理器需要加锁就是通过将寄存器中的 </a:t>
            </a:r>
            <a:r>
              <a:rPr lang="en-US" altLang="zh-CN" baseline="0" dirty="0" smtClean="0"/>
              <a:t>1 </a:t>
            </a:r>
            <a:r>
              <a:rPr lang="zh-CN" altLang="en-US" baseline="0" dirty="0" smtClean="0"/>
              <a:t>与临界区（内存变量）之间进行原子交换，在交换过程中其值不能被修改。</a:t>
            </a:r>
            <a:endParaRPr lang="en-US" altLang="zh-CN" baseline="0" dirty="0" smtClean="0"/>
          </a:p>
          <a:p>
            <a:r>
              <a:rPr lang="en-US" altLang="zh-CN" baseline="0" dirty="0" smtClean="0"/>
              <a:t>  </a:t>
            </a:r>
            <a:r>
              <a:rPr lang="zh-CN" altLang="en-US" baseline="0" dirty="0" smtClean="0"/>
              <a:t>利用锁的机制可以避免竞争条件。</a:t>
            </a:r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The University of Adelaide, School of Computer Science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fld id="{30639278-5723-4E82-BAD0-E0F4F8DCDFC7}" type="datetime3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Chapter 2 — Instructions: Language of the Computer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8B291648-D8B4-4A9F-BB59-1DDC06203C9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C2C75E5-066B-4B09-AE68-5207E4E785C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896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41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9E30DF-F84D-4395-9619-9D1815CF8521}" type="slidenum">
              <a:rPr lang="en-US" altLang="zh-CN" sz="1300"/>
            </a:fld>
            <a:endParaRPr lang="en-US" altLang="zh-CN" sz="1300"/>
          </a:p>
        </p:txBody>
      </p:sp>
      <p:sp>
        <p:nvSpPr>
          <p:cNvPr id="1341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LL</a:t>
            </a:r>
            <a:r>
              <a:rPr lang="zh-CN" altLang="en-US" smtClean="0"/>
              <a:t>指令 可以看成是对指定的内存单元加锁的机制。</a:t>
            </a:r>
            <a:endParaRPr lang="en-US" altLang="zh-CN" smtClean="0"/>
          </a:p>
          <a:p>
            <a:r>
              <a:rPr lang="en-AU" altLang="zh-CN" smtClean="0">
                <a:solidFill>
                  <a:schemeClr val="tx2"/>
                </a:solidFill>
                <a:latin typeface="Lucida Console" panose="020B0609040504020204" pitchFamily="49" charset="0"/>
              </a:rPr>
              <a:t>ll  $t1,0($s1)</a:t>
            </a:r>
            <a:r>
              <a:rPr lang="zh-CN" altLang="en-US" smtClean="0">
                <a:solidFill>
                  <a:schemeClr val="tx2"/>
                </a:solidFill>
                <a:latin typeface="Lucida Console" panose="020B0609040504020204" pitchFamily="49" charset="0"/>
              </a:rPr>
              <a:t>，相当于将内存单元读出到 </a:t>
            </a: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</a:rPr>
              <a:t>$t1</a:t>
            </a:r>
            <a:r>
              <a:rPr lang="zh-CN" altLang="en-US" smtClean="0">
                <a:solidFill>
                  <a:schemeClr val="tx2"/>
                </a:solidFill>
                <a:latin typeface="Lucida Console" panose="020B0609040504020204" pitchFamily="49" charset="0"/>
              </a:rPr>
              <a:t>寄存器中</a:t>
            </a:r>
            <a:endParaRPr lang="en-US" altLang="zh-CN" smtClean="0"/>
          </a:p>
          <a:p>
            <a:r>
              <a:rPr lang="zh-CN" altLang="en-US" smtClean="0"/>
              <a:t>指令</a:t>
            </a:r>
            <a:r>
              <a:rPr lang="en-US" altLang="zh-CN" smtClean="0"/>
              <a:t>LL </a:t>
            </a:r>
            <a:r>
              <a:rPr lang="zh-CN" altLang="en-US" smtClean="0"/>
              <a:t>可以作为其他原子操作实现的基础。</a:t>
            </a:r>
            <a:endParaRPr lang="en-AU" altLang="zh-CN" smtClean="0"/>
          </a:p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454E1728-5C23-4E68-BEFD-9C1C7FC8E29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998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61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DD803DF-6595-499D-A92E-1EBE945A0D10}" type="slidenum">
              <a:rPr lang="en-US" altLang="zh-CN" sz="1300"/>
            </a:fld>
            <a:endParaRPr lang="en-US" altLang="zh-CN" sz="1300"/>
          </a:p>
        </p:txBody>
      </p:sp>
      <p:sp>
        <p:nvSpPr>
          <p:cNvPr id="1361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编译和启动程序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7A830696-73EF-4FAD-B6DD-7E2B281D56D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101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382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3196D3-7903-4F46-A97C-40D86D081D2F}" type="slidenum">
              <a:rPr lang="en-US" altLang="zh-CN" sz="1300"/>
            </a:fld>
            <a:endParaRPr lang="en-US" altLang="zh-CN" sz="1300"/>
          </a:p>
        </p:txBody>
      </p:sp>
      <p:sp>
        <p:nvSpPr>
          <p:cNvPr id="1382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dirty="0" smtClean="0"/>
              <a:t>figment</a:t>
            </a:r>
            <a:r>
              <a:rPr lang="en-US" altLang="zh-CN" dirty="0" smtClean="0"/>
              <a:t> [</a:t>
            </a:r>
            <a:r>
              <a:rPr lang="en-US" altLang="zh-CN" dirty="0" err="1" smtClean="0"/>
              <a:t>fig·ment</a:t>
            </a:r>
            <a:r>
              <a:rPr lang="en-US" altLang="zh-CN" dirty="0" smtClean="0"/>
              <a:t> || '</a:t>
            </a:r>
            <a:r>
              <a:rPr lang="en-US" altLang="zh-CN" dirty="0" err="1" smtClean="0"/>
              <a:t>fɪgmənt</a:t>
            </a:r>
            <a:r>
              <a:rPr lang="en-US" altLang="zh-CN" dirty="0" smtClean="0"/>
              <a:t>]</a:t>
            </a:r>
            <a:endParaRPr lang="en-US" altLang="zh-CN" dirty="0" smtClean="0"/>
          </a:p>
          <a:p>
            <a:r>
              <a:rPr lang="en-US" altLang="zh-CN" dirty="0" smtClean="0"/>
              <a:t>n. </a:t>
            </a:r>
            <a:r>
              <a:rPr lang="zh-CN" altLang="en-US" dirty="0" smtClean="0"/>
              <a:t>臆造的事物</a:t>
            </a:r>
            <a:r>
              <a:rPr lang="en-US" altLang="zh-CN" dirty="0" smtClean="0"/>
              <a:t>; </a:t>
            </a:r>
            <a:r>
              <a:rPr lang="zh-CN" altLang="en-US" dirty="0" smtClean="0"/>
              <a:t>虚构的</a:t>
            </a:r>
            <a:r>
              <a:rPr lang="zh-CN" altLang="en-US" dirty="0" smtClean="0"/>
              <a:t>事</a:t>
            </a:r>
            <a:endParaRPr lang="en-US" altLang="zh-CN" dirty="0" smtClean="0"/>
          </a:p>
          <a:p>
            <a:r>
              <a:rPr lang="zh-CN" altLang="en-US" dirty="0" smtClean="0"/>
              <a:t>汇编伪指令， 是虚拟出来的指令，利于</a:t>
            </a:r>
            <a:r>
              <a:rPr lang="en-US" altLang="zh-CN" dirty="0" smtClean="0"/>
              <a:t>Move </a:t>
            </a:r>
            <a:r>
              <a:rPr lang="zh-CN" altLang="en-US" dirty="0" smtClean="0"/>
              <a:t>指令和</a:t>
            </a:r>
            <a:r>
              <a:rPr lang="en-US" altLang="zh-CN" dirty="0" err="1" smtClean="0"/>
              <a:t>blt</a:t>
            </a:r>
            <a:r>
              <a:rPr lang="en-US" altLang="zh-CN" dirty="0" smtClean="0"/>
              <a:t> </a:t>
            </a:r>
            <a:r>
              <a:rPr lang="zh-CN" altLang="en-US" dirty="0" smtClean="0"/>
              <a:t>指令，本身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中没有包含这些指令，为了编程方便，虚拟出来的指令。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aseline="0" dirty="0" smtClean="0"/>
              <a:t> 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CA02401-7DE6-408D-B92E-B92060C9829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203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02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D6C0E5F-B9D2-457F-BD6E-7FA242D21BF9}" type="slidenum">
              <a:rPr lang="en-US" altLang="zh-CN" sz="1300"/>
            </a:fld>
            <a:endParaRPr lang="en-US" altLang="zh-CN" sz="1300"/>
          </a:p>
        </p:txBody>
      </p:sp>
      <p:sp>
        <p:nvSpPr>
          <p:cNvPr id="1402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生成目标程序（将汇编指令编译成目标计算机的机器代码），此外提供一些信息能够将代码片段编译成完整的程序</a:t>
            </a:r>
            <a:endParaRPr lang="en-US" altLang="zh-CN" dirty="0" smtClean="0"/>
          </a:p>
          <a:p>
            <a:r>
              <a:rPr lang="zh-CN" altLang="en-US" dirty="0" smtClean="0"/>
              <a:t>例如</a:t>
            </a:r>
            <a:r>
              <a:rPr lang="en-US" altLang="zh-CN" dirty="0" smtClean="0"/>
              <a:t>Unix</a:t>
            </a:r>
            <a:r>
              <a:rPr lang="zh-CN" altLang="en-US" dirty="0" smtClean="0"/>
              <a:t>的目标程序包含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个不同的部分</a:t>
            </a:r>
            <a:endParaRPr lang="en-US" altLang="zh-CN" dirty="0" smtClean="0"/>
          </a:p>
          <a:p>
            <a:r>
              <a:rPr lang="zh-CN" altLang="en-US" dirty="0" smtClean="0"/>
              <a:t>文件头、代码区、静态数据区、重定位信息、符号表、调试信息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689187E-7941-402B-9321-8CA2A444B08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306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23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7646883-8269-4321-B026-D24008B46747}" type="slidenum">
              <a:rPr lang="en-US" altLang="zh-CN" sz="1300"/>
            </a:fld>
            <a:endParaRPr lang="en-US" altLang="zh-CN" sz="1300"/>
          </a:p>
        </p:txBody>
      </p:sp>
      <p:sp>
        <p:nvSpPr>
          <p:cNvPr id="1423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链接目标代码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整合段或者目标程序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解析标号地址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将与位置相关和外部参考文件补上。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E05DD6C0-AEDC-47F6-9444-B02896544BC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408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43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30C3298-B944-4F15-BD36-1B26E5E3BC7A}" type="slidenum">
              <a:rPr lang="en-US" altLang="zh-CN" sz="1300"/>
            </a:fld>
            <a:endParaRPr lang="en-US" altLang="zh-CN" sz="1300"/>
          </a:p>
        </p:txBody>
      </p:sp>
      <p:sp>
        <p:nvSpPr>
          <p:cNvPr id="1443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加载</a:t>
            </a:r>
            <a:r>
              <a:rPr lang="zh-CN" altLang="en-US" dirty="0" smtClean="0"/>
              <a:t>程序流程：</a:t>
            </a:r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首先实现影像文件加载到内存中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） 读出文件头（包含重定位表信息）</a:t>
            </a:r>
            <a:endParaRPr lang="en-US" altLang="zh-CN" dirty="0" smtClean="0"/>
          </a:p>
          <a:p>
            <a:r>
              <a:rPr lang="en-US" altLang="zh-CN" baseline="0" dirty="0" smtClean="0"/>
              <a:t>2</a:t>
            </a:r>
            <a:r>
              <a:rPr lang="zh-CN" altLang="en-US" baseline="0" dirty="0" smtClean="0"/>
              <a:t>） 创建虚拟地址空间（为程序在物理空间中申请内存资源）</a:t>
            </a:r>
            <a:endParaRPr lang="en-US" altLang="zh-CN" baseline="0" dirty="0" smtClean="0"/>
          </a:p>
          <a:p>
            <a:r>
              <a:rPr lang="en-US" altLang="zh-CN" baseline="0" dirty="0" smtClean="0"/>
              <a:t>3</a:t>
            </a:r>
            <a:r>
              <a:rPr lang="zh-CN" altLang="en-US" baseline="0" dirty="0" smtClean="0"/>
              <a:t>）将代码和数据加载到内存中，需要进行（重定位）操作</a:t>
            </a:r>
            <a:endParaRPr lang="en-US" altLang="zh-CN" baseline="0" dirty="0" smtClean="0"/>
          </a:p>
          <a:p>
            <a:r>
              <a:rPr lang="en-US" altLang="zh-CN" baseline="0" dirty="0" smtClean="0"/>
              <a:t>4</a:t>
            </a:r>
            <a:r>
              <a:rPr lang="zh-CN" altLang="en-US" baseline="0" dirty="0" smtClean="0"/>
              <a:t>）设置参数和堆栈</a:t>
            </a:r>
            <a:endParaRPr lang="en-US" altLang="zh-CN" baseline="0" dirty="0" smtClean="0"/>
          </a:p>
          <a:p>
            <a:r>
              <a:rPr lang="en-US" altLang="zh-CN" baseline="0" dirty="0" smtClean="0"/>
              <a:t>5</a:t>
            </a:r>
            <a:r>
              <a:rPr lang="zh-CN" altLang="en-US" baseline="0" dirty="0" smtClean="0"/>
              <a:t>）初始化寄存器</a:t>
            </a:r>
            <a:endParaRPr lang="en-US" altLang="zh-CN" baseline="0" dirty="0" smtClean="0"/>
          </a:p>
          <a:p>
            <a:r>
              <a:rPr lang="en-US" altLang="zh-CN" baseline="0" dirty="0" smtClean="0"/>
              <a:t>6</a:t>
            </a:r>
            <a:r>
              <a:rPr lang="zh-CN" altLang="en-US" baseline="0" dirty="0" smtClean="0"/>
              <a:t>）跳转到起始线程</a:t>
            </a:r>
            <a:endParaRPr lang="en-US" altLang="zh-CN" dirty="0" smtClean="0"/>
          </a:p>
          <a:p>
            <a:r>
              <a:rPr lang="en-US" altLang="zh-CN" baseline="0" dirty="0" smtClean="0"/>
              <a:t> 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D07BEA5B-0C8F-47F0-9FC5-7CE7284D2D5D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510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64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0A07D0-D6B6-4059-AF96-1D85B976AE07}" type="slidenum">
              <a:rPr lang="en-US" altLang="zh-CN" sz="1300"/>
            </a:fld>
            <a:endParaRPr lang="en-US" altLang="zh-CN" sz="1300"/>
          </a:p>
        </p:txBody>
      </p:sp>
      <p:sp>
        <p:nvSpPr>
          <p:cNvPr id="1464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静态连接和动态连接知识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F45526D6-793E-4F9F-AC5C-CC2D284D737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613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484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7BABBA-A179-48C2-8796-ED8C89E3B72E}" type="slidenum">
              <a:rPr lang="en-US" altLang="zh-CN" sz="1300"/>
            </a:fld>
            <a:endParaRPr lang="en-US" altLang="zh-CN" sz="1300"/>
          </a:p>
        </p:txBody>
      </p:sp>
      <p:sp>
        <p:nvSpPr>
          <p:cNvPr id="1484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smtClean="0"/>
              <a:t>bloat</a:t>
            </a:r>
            <a:r>
              <a:rPr lang="zh-CN" altLang="en-US" smtClean="0"/>
              <a:t> </a:t>
            </a:r>
            <a:r>
              <a:rPr lang="en-US" altLang="zh-CN" smtClean="0"/>
              <a:t>[bləʊt]</a:t>
            </a:r>
            <a:endParaRPr lang="zh-CN" altLang="en-US" smtClean="0"/>
          </a:p>
          <a:p>
            <a:r>
              <a:rPr lang="en-US" altLang="zh-CN" smtClean="0"/>
              <a:t>v. </a:t>
            </a:r>
            <a:r>
              <a:rPr lang="zh-CN" altLang="en-US" smtClean="0"/>
              <a:t>使膨胀</a:t>
            </a:r>
            <a:r>
              <a:rPr lang="en-US" altLang="zh-CN" smtClean="0"/>
              <a:t>; </a:t>
            </a:r>
            <a:r>
              <a:rPr lang="zh-CN" altLang="en-US" smtClean="0"/>
              <a:t>使自大</a:t>
            </a:r>
            <a:r>
              <a:rPr lang="en-US" altLang="zh-CN" smtClean="0"/>
              <a:t>; </a:t>
            </a:r>
            <a:r>
              <a:rPr lang="zh-CN" altLang="en-US" smtClean="0"/>
              <a:t>使肿起</a:t>
            </a:r>
            <a:r>
              <a:rPr lang="en-US" altLang="zh-CN" smtClean="0"/>
              <a:t>; </a:t>
            </a:r>
            <a:r>
              <a:rPr lang="zh-CN" altLang="en-US" smtClean="0"/>
              <a:t>腌熏</a:t>
            </a:r>
            <a:r>
              <a:rPr lang="en-US" altLang="zh-CN" smtClean="0"/>
              <a:t>; </a:t>
            </a:r>
            <a:r>
              <a:rPr lang="zh-CN" altLang="en-US" smtClean="0"/>
              <a:t>膨胀</a:t>
            </a:r>
            <a:r>
              <a:rPr lang="en-US" altLang="zh-CN" smtClean="0"/>
              <a:t>; </a:t>
            </a:r>
            <a:r>
              <a:rPr lang="zh-CN" altLang="en-US" smtClean="0"/>
              <a:t>得意</a:t>
            </a:r>
            <a:r>
              <a:rPr lang="en-US" altLang="zh-CN" smtClean="0"/>
              <a:t>; </a:t>
            </a:r>
            <a:r>
              <a:rPr lang="zh-CN" altLang="en-US" smtClean="0"/>
              <a:t>肿起</a:t>
            </a:r>
            <a:endParaRPr lang="zh-CN" altLang="en-US" smtClean="0"/>
          </a:p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8489219C-2B36-4DD8-87B6-23DFC646EDF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715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05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409D1E-95C4-4988-A5FF-098D09554E2A}" type="slidenum">
              <a:rPr lang="en-US" altLang="zh-CN" sz="1300"/>
            </a:fld>
            <a:endParaRPr lang="en-US" altLang="zh-CN" sz="1300"/>
          </a:p>
        </p:txBody>
      </p:sp>
      <p:sp>
        <p:nvSpPr>
          <p:cNvPr id="1505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altLang="zh-CN" dirty="0" smtClean="0"/>
              <a:t>Java</a:t>
            </a:r>
            <a:r>
              <a:rPr lang="zh-CN" altLang="en-US" dirty="0" smtClean="0"/>
              <a:t>应用程序的执行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62D55B4A-41BE-4D25-BBF5-D127CC879710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818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25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8AD673-854C-494C-A417-C26211526FAA}" type="slidenum">
              <a:rPr lang="en-US" altLang="zh-CN" sz="1300"/>
            </a:fld>
            <a:endParaRPr lang="en-US" altLang="zh-CN" sz="1300"/>
          </a:p>
        </p:txBody>
      </p:sp>
      <p:sp>
        <p:nvSpPr>
          <p:cNvPr id="1525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我们介绍完指令集，编译和连接过程以及程序装载的过程，</a:t>
            </a:r>
            <a:endParaRPr lang="en-US" altLang="zh-CN" dirty="0" smtClean="0"/>
          </a:p>
          <a:p>
            <a:r>
              <a:rPr lang="zh-CN" altLang="en-US" dirty="0" smtClean="0"/>
              <a:t>下面我们以一个交换排序的例子来进行说明</a:t>
            </a:r>
            <a:endParaRPr lang="en-US" altLang="zh-CN" dirty="0" smtClean="0"/>
          </a:p>
          <a:p>
            <a:r>
              <a:rPr lang="zh-CN" altLang="en-US" dirty="0" smtClean="0"/>
              <a:t>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语言的排序例子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920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3362FB2-DFD7-422F-9DC8-7FF189C7522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920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46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9A07B8-DDD3-41BE-BC6E-32906FB8F73E}" type="slidenum">
              <a:rPr lang="en-US" altLang="zh-CN" sz="1300"/>
            </a:fld>
            <a:endParaRPr lang="en-US" altLang="zh-CN" sz="1300"/>
          </a:p>
        </p:txBody>
      </p:sp>
      <p:sp>
        <p:nvSpPr>
          <p:cNvPr id="1546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718F431-2E54-4CCD-A209-91F91165915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022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66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AD21218-6E1D-4A1A-8F31-657ECF26E831}" type="slidenum">
              <a:rPr lang="en-US" altLang="zh-CN" sz="1300"/>
            </a:fld>
            <a:endParaRPr lang="en-US" altLang="zh-CN" sz="1300"/>
          </a:p>
        </p:txBody>
      </p:sp>
      <p:sp>
        <p:nvSpPr>
          <p:cNvPr id="1566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125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D475B30-028B-4F60-BD4D-9C303BEBAF4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125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587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B43EF5-4B88-4B4F-A7DB-91A6E37BF49A}" type="slidenum">
              <a:rPr lang="en-US" altLang="zh-CN" sz="1300"/>
            </a:fld>
            <a:endParaRPr lang="en-US" altLang="zh-CN" sz="1300"/>
          </a:p>
        </p:txBody>
      </p:sp>
      <p:sp>
        <p:nvSpPr>
          <p:cNvPr id="1587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7EDFF863-499A-4D9B-B34F-D2DE8181EF76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227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07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F41717-B893-48FF-8D8E-F7CB8B1BD6AA}" type="slidenum">
              <a:rPr lang="en-US" altLang="zh-CN" sz="1300"/>
            </a:fld>
            <a:endParaRPr lang="en-US" altLang="zh-CN" sz="1300"/>
          </a:p>
        </p:txBody>
      </p:sp>
      <p:sp>
        <p:nvSpPr>
          <p:cNvPr id="1607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A915C537-825D-46C0-A6E0-B8940EDCBDC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330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28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B81484-C36D-44CD-9A18-E07337C8608F}" type="slidenum">
              <a:rPr lang="en-US" altLang="zh-CN" sz="1300"/>
            </a:fld>
            <a:endParaRPr lang="en-US" altLang="zh-CN" sz="1300"/>
          </a:p>
        </p:txBody>
      </p:sp>
      <p:sp>
        <p:nvSpPr>
          <p:cNvPr id="1628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AU" altLang="zh-CN" dirty="0" smtClean="0"/>
              <a:t>0</a:t>
            </a:r>
            <a:r>
              <a:rPr lang="en-US" altLang="zh-CN" dirty="0" smtClean="0"/>
              <a:t>1</a:t>
            </a:r>
            <a:r>
              <a:rPr lang="en-AU" altLang="zh-CN" dirty="0" smtClean="0"/>
              <a:t> </a:t>
            </a:r>
            <a:r>
              <a:rPr lang="zh-CN" altLang="en-US" dirty="0" smtClean="0"/>
              <a:t>中等优化， </a:t>
            </a:r>
            <a:r>
              <a:rPr lang="en-US" altLang="zh-CN" dirty="0" smtClean="0"/>
              <a:t>02 </a:t>
            </a:r>
            <a:r>
              <a:rPr lang="zh-CN" altLang="en-US" dirty="0" smtClean="0"/>
              <a:t>完全， </a:t>
            </a:r>
            <a:r>
              <a:rPr lang="en-US" altLang="zh-CN" dirty="0" smtClean="0"/>
              <a:t>03</a:t>
            </a:r>
            <a:r>
              <a:rPr lang="zh-CN" altLang="en-US" dirty="0" smtClean="0"/>
              <a:t>， 过程集成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r>
              <a:rPr lang="en-US" altLang="zh-CN" dirty="0" smtClean="0"/>
              <a:t>-O0</a:t>
            </a:r>
            <a:r>
              <a:rPr lang="zh-CN" altLang="en-US" dirty="0" smtClean="0"/>
              <a:t>：这个等级（字母“</a:t>
            </a:r>
            <a:r>
              <a:rPr lang="en-US" altLang="zh-CN" dirty="0" smtClean="0"/>
              <a:t>O”</a:t>
            </a:r>
            <a:r>
              <a:rPr lang="zh-CN" altLang="en-US" dirty="0" smtClean="0"/>
              <a:t>后面跟个零）关闭所有优化选项，也是</a:t>
            </a:r>
            <a:r>
              <a:rPr lang="en-US" altLang="zh-CN" dirty="0" smtClean="0"/>
              <a:t>CFLAGS</a:t>
            </a:r>
            <a:r>
              <a:rPr lang="zh-CN" altLang="en-US" dirty="0" smtClean="0"/>
              <a:t>或</a:t>
            </a:r>
            <a:r>
              <a:rPr lang="en-US" altLang="zh-CN" dirty="0" smtClean="0"/>
              <a:t>CXXFLAGS</a:t>
            </a:r>
            <a:r>
              <a:rPr lang="zh-CN" altLang="en-US" dirty="0" smtClean="0"/>
              <a:t>中没有设置</a:t>
            </a:r>
            <a:r>
              <a:rPr lang="en-US" altLang="zh-CN" dirty="0" smtClean="0"/>
              <a:t>-O</a:t>
            </a:r>
            <a:r>
              <a:rPr lang="zh-CN" altLang="en-US" dirty="0" smtClean="0"/>
              <a:t>等级时的默认等级。不会优化代码，这通常不是我们想要的。 </a:t>
            </a:r>
            <a:br>
              <a:rPr lang="zh-CN" altLang="en-US" dirty="0" smtClean="0"/>
            </a:br>
            <a:r>
              <a:rPr lang="en-US" altLang="zh-CN" dirty="0" smtClean="0"/>
              <a:t>-O1</a:t>
            </a:r>
            <a:r>
              <a:rPr lang="zh-CN" altLang="en-US" dirty="0" smtClean="0"/>
              <a:t>：这是最基本的优化等级。编译器会在不花费太多编译时间的同时试图生成更快更小的代码。这些优化是非常基础的，但一般这些任务肯定能顺利完成。 </a:t>
            </a:r>
            <a:br>
              <a:rPr lang="zh-CN" altLang="en-US" dirty="0" smtClean="0"/>
            </a:br>
            <a:r>
              <a:rPr lang="en-US" altLang="zh-CN" dirty="0" smtClean="0"/>
              <a:t>-O2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-O1</a:t>
            </a:r>
            <a:r>
              <a:rPr lang="zh-CN" altLang="en-US" dirty="0" smtClean="0"/>
              <a:t>的进阶。这是推荐的优化等级，除非你有特殊的需求。</a:t>
            </a:r>
            <a:r>
              <a:rPr lang="en-US" altLang="zh-CN" dirty="0" smtClean="0"/>
              <a:t>-O2</a:t>
            </a:r>
            <a:r>
              <a:rPr lang="zh-CN" altLang="en-US" dirty="0" smtClean="0"/>
              <a:t>会比</a:t>
            </a:r>
            <a:r>
              <a:rPr lang="en-US" altLang="zh-CN" dirty="0" smtClean="0"/>
              <a:t>-O1</a:t>
            </a:r>
            <a:r>
              <a:rPr lang="zh-CN" altLang="en-US" dirty="0" smtClean="0"/>
              <a:t>启用多一些标记。设置了</a:t>
            </a:r>
            <a:r>
              <a:rPr lang="en-US" altLang="zh-CN" dirty="0" smtClean="0"/>
              <a:t>-O2</a:t>
            </a:r>
            <a:r>
              <a:rPr lang="zh-CN" altLang="en-US" dirty="0" smtClean="0"/>
              <a:t>后，编译器会试图提高代码性能而不会增大体积和大量占用的编译时间。 </a:t>
            </a:r>
            <a:br>
              <a:rPr lang="zh-CN" altLang="en-US" dirty="0" smtClean="0"/>
            </a:br>
            <a:r>
              <a:rPr lang="en-US" altLang="zh-CN" dirty="0" smtClean="0"/>
              <a:t>-O3</a:t>
            </a:r>
            <a:r>
              <a:rPr lang="zh-CN" altLang="en-US" dirty="0" smtClean="0"/>
              <a:t>：这是最高最危险的优化等级。用这个选项会延长编译代码的时间，并且在使用</a:t>
            </a:r>
            <a:r>
              <a:rPr lang="en-US" altLang="zh-CN" dirty="0" smtClean="0"/>
              <a:t>gcc4.x</a:t>
            </a:r>
            <a:r>
              <a:rPr lang="zh-CN" altLang="en-US" dirty="0" smtClean="0"/>
              <a:t>的系统里不应全局启用。自从</a:t>
            </a:r>
            <a:r>
              <a:rPr lang="en-US" altLang="zh-CN" dirty="0" smtClean="0"/>
              <a:t>3.x</a:t>
            </a:r>
            <a:r>
              <a:rPr lang="zh-CN" altLang="en-US" dirty="0" smtClean="0"/>
              <a:t>版本以来</a:t>
            </a:r>
            <a:r>
              <a:rPr lang="en-US" altLang="zh-CN" dirty="0" err="1" smtClean="0"/>
              <a:t>gcc</a:t>
            </a:r>
            <a:r>
              <a:rPr lang="zh-CN" altLang="en-US" dirty="0" smtClean="0"/>
              <a:t>的行为已经有了极大地改变。在</a:t>
            </a:r>
            <a:r>
              <a:rPr lang="en-US" altLang="zh-CN" dirty="0" smtClean="0"/>
              <a:t>3.x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-O3</a:t>
            </a:r>
            <a:r>
              <a:rPr lang="zh-CN" altLang="en-US" dirty="0" smtClean="0"/>
              <a:t>生成的代码也只是比</a:t>
            </a:r>
            <a:r>
              <a:rPr lang="en-US" altLang="zh-CN" dirty="0" smtClean="0"/>
              <a:t>-O2</a:t>
            </a:r>
            <a:r>
              <a:rPr lang="zh-CN" altLang="en-US" dirty="0" smtClean="0"/>
              <a:t>快一点点而已，而</a:t>
            </a:r>
            <a:r>
              <a:rPr lang="en-US" altLang="zh-CN" dirty="0" smtClean="0"/>
              <a:t>gcc4.x</a:t>
            </a:r>
            <a:r>
              <a:rPr lang="zh-CN" altLang="en-US" dirty="0" smtClean="0"/>
              <a:t>中还未必更快。用</a:t>
            </a:r>
            <a:r>
              <a:rPr lang="en-US" altLang="zh-CN" dirty="0" smtClean="0"/>
              <a:t>-O3</a:t>
            </a:r>
            <a:r>
              <a:rPr lang="zh-CN" altLang="en-US" dirty="0" smtClean="0"/>
              <a:t>来编译所有的软件包将产生更大体积更耗内存的二进制文件，大大增加编译失败的机会或不可预知的程序行为（包括错误）。这样做将得不偿失，记住过犹不及。在</a:t>
            </a:r>
            <a:r>
              <a:rPr lang="en-US" altLang="zh-CN" dirty="0" err="1" smtClean="0"/>
              <a:t>gcc</a:t>
            </a:r>
            <a:r>
              <a:rPr lang="en-US" altLang="zh-CN" dirty="0" smtClean="0"/>
              <a:t> 4.x.</a:t>
            </a:r>
            <a:r>
              <a:rPr lang="zh-CN" altLang="en-US" dirty="0" smtClean="0"/>
              <a:t>中使用</a:t>
            </a:r>
            <a:r>
              <a:rPr lang="en-US" altLang="zh-CN" dirty="0" smtClean="0"/>
              <a:t>-O3</a:t>
            </a:r>
            <a:r>
              <a:rPr lang="zh-CN" altLang="en-US" dirty="0" smtClean="0"/>
              <a:t>是不推荐的。 </a:t>
            </a:r>
            <a:endParaRPr lang="en-US" altLang="zh-CN" sz="1200" b="1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 sz="1200" b="1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 sz="1200" b="1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 sz="1200" b="1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</a:t>
            </a:r>
            <a:br>
              <a:rPr lang="zh-CN" altLang="en-US" dirty="0" smtClean="0"/>
            </a:b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-O1</a:t>
            </a:r>
            <a:r>
              <a:rPr lang="zh-CN" altLang="en-US" dirty="0" smtClean="0">
                <a:effectLst/>
              </a:rPr>
              <a:t>优化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对于大函数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优化编译占用稍微多的时间和相当大的内存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/>
              <a:t>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不使用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选项时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编译器的目标是减少编译的开销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使编译结果能够调试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语句是独立的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:</a:t>
            </a:r>
            <a:r>
              <a:rPr lang="zh-CN" altLang="en-US" dirty="0" smtClean="0">
                <a:effectLst/>
              </a:rPr>
              <a:t>如果在两条语句之间用断点中止程序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你可以对任何变量重新赋值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或者在函数体内把程序计数器指到其他语句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以及从源程序中 精确地获取你期待的结果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zh-CN" altLang="en-US" dirty="0" smtClean="0"/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不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使用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选项时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只有声明了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register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的变量才分配使用寄存器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编译结果比不用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dirty="0" smtClean="0">
                <a:effectLst/>
              </a:rPr>
              <a:t>选项的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PCC</a:t>
            </a:r>
            <a:r>
              <a:rPr lang="zh-CN" altLang="en-US" dirty="0" smtClean="0">
                <a:effectLst/>
              </a:rPr>
              <a:t>要略逊一筹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zh-CN" altLang="en-US" dirty="0" smtClean="0"/>
          </a:p>
          <a:p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使用了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编译器会试图减少目标码的大小和执行时间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zh-CN" altLang="en-US" dirty="0" smtClean="0">
                <a:effectLst/>
              </a:rPr>
              <a:t>如果指定了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dirty="0" smtClean="0">
                <a:effectLst/>
              </a:rPr>
              <a:t>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 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-f thread-jumps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dirty="0" smtClean="0">
                <a:effectLst/>
              </a:rPr>
              <a:t>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altLang="zh-CN" sz="1200" b="1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fdefer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-pop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dirty="0" smtClean="0">
                <a:effectLst/>
              </a:rPr>
              <a:t>选项将被 打开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在有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delay slot</a:t>
            </a:r>
            <a:r>
              <a:rPr lang="zh-CN" altLang="en-US" dirty="0" smtClean="0">
                <a:effectLst/>
              </a:rPr>
              <a:t>的机器上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 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altLang="zh-CN" sz="1200" b="1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fdelayed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-branch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dirty="0" smtClean="0">
                <a:effectLst/>
              </a:rPr>
              <a:t>选项将被打开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在即使没有帧指针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(frame pointer)</a:t>
            </a:r>
            <a:r>
              <a:rPr lang="zh-CN" altLang="en-US" dirty="0" smtClean="0">
                <a:effectLst/>
              </a:rPr>
              <a:t>也支持调试的机器上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 `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</a:t>
            </a:r>
            <a:r>
              <a:rPr lang="en-US" altLang="zh-CN" sz="1200" b="1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fomit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-frame-pointer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'</a:t>
            </a:r>
            <a:r>
              <a:rPr lang="zh-CN" altLang="en-US" dirty="0" smtClean="0">
                <a:effectLst/>
              </a:rPr>
              <a:t>选项将被打开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某些机器上 还可能会打开其他选项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zh-CN" altLang="en-US" dirty="0" smtClean="0"/>
          </a:p>
          <a:p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-O2</a:t>
            </a:r>
            <a:r>
              <a:rPr lang="zh-CN" altLang="en-US" dirty="0" smtClean="0">
                <a:effectLst/>
              </a:rPr>
              <a:t>多优化一些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除了涉及空间和速度交换的优化选项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执行几乎所有的优化工作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例如不进行循环展开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(loop unrolling)</a:t>
            </a:r>
            <a:r>
              <a:rPr lang="zh-CN" altLang="en-US" dirty="0" smtClean="0">
                <a:effectLst/>
              </a:rPr>
              <a:t>和函数内嵌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lang="en-US" altLang="zh-CN" sz="1200" kern="1200" dirty="0" err="1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inlining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</a:t>
            </a:r>
            <a:r>
              <a:rPr lang="zh-CN" altLang="en-US" dirty="0" smtClean="0">
                <a:effectLst/>
              </a:rPr>
              <a:t>和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zh-CN" altLang="en-US" dirty="0" smtClean="0">
                <a:effectLst/>
              </a:rPr>
              <a:t>选项比较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这个选项既增加了编译时间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也提高了生成代码的运行效果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-O3</a:t>
            </a:r>
            <a:r>
              <a:rPr lang="zh-CN" altLang="en-US" dirty="0" smtClean="0">
                <a:effectLst/>
              </a:rPr>
              <a:t>优化的更多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>
                <a:effectLst/>
              </a:rPr>
              <a:t>除了打开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-O2</a:t>
            </a:r>
            <a:r>
              <a:rPr lang="zh-CN" altLang="en-US" dirty="0" smtClean="0">
                <a:effectLst/>
              </a:rPr>
              <a:t>所做的一切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dirty="0" smtClean="0">
                <a:effectLst/>
              </a:rPr>
              <a:t>它还打开了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-f inline-functions</a:t>
            </a:r>
            <a:r>
              <a:rPr lang="zh-CN" altLang="en-US" dirty="0" smtClean="0">
                <a:effectLst/>
              </a:rPr>
              <a:t>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-O0</a:t>
            </a:r>
            <a:r>
              <a:rPr lang="zh-CN" altLang="en-US" dirty="0" smtClean="0">
                <a:effectLst/>
              </a:rPr>
              <a:t>不优化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lang="zh-CN" altLang="en-US" dirty="0" smtClean="0"/>
              <a:t> 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如果指定了多个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-O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不管带不带数字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最后一个选项才是生效的选项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lang="zh-CN" altLang="en-US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endParaRPr lang="en-AU" altLang="zh-CN" dirty="0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716FB067-905A-4C63-8360-D1BD8F40EF98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432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48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992DFD3-989A-4164-ADC9-061B13D70894}" type="slidenum">
              <a:rPr lang="en-US" altLang="zh-CN" sz="1300"/>
            </a:fld>
            <a:endParaRPr lang="en-US" altLang="zh-CN" sz="1300"/>
          </a:p>
        </p:txBody>
      </p:sp>
      <p:sp>
        <p:nvSpPr>
          <p:cNvPr id="1648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快速排序相对冒泡排序性能的提升（</a:t>
            </a:r>
            <a:r>
              <a:rPr lang="en-US" altLang="zh-CN" dirty="0" smtClean="0"/>
              <a:t>100 000</a:t>
            </a:r>
            <a:r>
              <a:rPr lang="zh-CN" altLang="en-US" dirty="0" smtClean="0"/>
              <a:t>个数据）</a:t>
            </a:r>
            <a:r>
              <a:rPr lang="en-US" altLang="zh-CN" dirty="0" smtClean="0"/>
              <a:t>2500 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058C5FC-9EFA-448D-B9B5-D42CEC77F677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534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69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00DAA53-577B-4E66-8BBE-FB7D48B172EC}" type="slidenum">
              <a:rPr lang="en-US" altLang="zh-CN" sz="1300"/>
            </a:fld>
            <a:endParaRPr lang="en-US" altLang="zh-CN" sz="1300"/>
          </a:p>
        </p:txBody>
      </p:sp>
      <p:sp>
        <p:nvSpPr>
          <p:cNvPr id="1669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D2CDA89-2DD6-4B6B-B882-82EA80E02F92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637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689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C20ACA9-0B8C-4F03-9961-5358C60BFF40}" type="slidenum">
              <a:rPr lang="en-US" altLang="zh-CN" sz="1300"/>
            </a:fld>
            <a:endParaRPr lang="en-US" altLang="zh-CN" sz="1300"/>
          </a:p>
        </p:txBody>
      </p:sp>
      <p:sp>
        <p:nvSpPr>
          <p:cNvPr id="168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数组和指针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7687EEB8-9844-436E-BF22-4899BDC18375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739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10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6DFAD8-B196-4295-A852-50853FC6E50F}" type="slidenum">
              <a:rPr lang="en-US" altLang="zh-CN" sz="1300"/>
            </a:fld>
            <a:endParaRPr lang="en-US" altLang="zh-CN" sz="1300"/>
          </a:p>
        </p:txBody>
      </p:sp>
      <p:sp>
        <p:nvSpPr>
          <p:cNvPr id="1710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比较两个程序性能的差异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  <a:r>
              <a:rPr lang="zh-CN" altLang="en-US" dirty="0" smtClean="0"/>
              <a:t>使用指针速度更快，因为循环体内的指令更少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B3D862C5-6322-4CA3-BA67-E3F3F83411BC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842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30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D10DBB-EDA9-44E3-8DDA-9F1861A26385}" type="slidenum">
              <a:rPr lang="en-US" altLang="zh-CN" sz="1300"/>
            </a:fld>
            <a:endParaRPr lang="en-US" altLang="zh-CN" sz="1300"/>
          </a:p>
        </p:txBody>
      </p:sp>
      <p:sp>
        <p:nvSpPr>
          <p:cNvPr id="1730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306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乘法指令被</a:t>
            </a:r>
            <a:r>
              <a:rPr lang="zh-CN" altLang="en-US" baseline="0" dirty="0" smtClean="0"/>
              <a:t> 降低为移位操作</a:t>
            </a:r>
            <a:endParaRPr lang="en-US" altLang="zh-CN" baseline="0" dirty="0" smtClean="0"/>
          </a:p>
          <a:p>
            <a:r>
              <a:rPr lang="zh-CN" altLang="en-US" baseline="0" dirty="0" smtClean="0"/>
              <a:t>数组版本 需要被移进循环体中</a:t>
            </a:r>
            <a:endParaRPr lang="en-US" altLang="zh-CN" baseline="0" dirty="0" smtClean="0"/>
          </a:p>
          <a:p>
            <a:r>
              <a:rPr lang="zh-CN" altLang="en-US" baseline="0" dirty="0" smtClean="0"/>
              <a:t>尽管在汇编指令这一层上 编译器优化技术可以获得类似的效果。例如变量约简，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82A7DCE-AE41-45F4-B09E-E8D7BC4BCB37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944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51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EB8352-6B90-455F-87BD-A2EDA79C74FB}" type="slidenum">
              <a:rPr lang="en-US" altLang="zh-CN" sz="1300"/>
            </a:fld>
            <a:endParaRPr lang="en-US" altLang="zh-CN" sz="1300"/>
          </a:p>
        </p:txBody>
      </p:sp>
      <p:sp>
        <p:nvSpPr>
          <p:cNvPr id="1751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51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765BD5DC-F584-429B-9EE7-DEA5331AC71A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046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781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381051-5C94-4671-B847-3DBF8AC3A977}" type="slidenum">
              <a:rPr lang="en-US" altLang="zh-CN" sz="1300"/>
            </a:fld>
            <a:endParaRPr lang="en-US" altLang="zh-CN" sz="1300"/>
          </a:p>
        </p:txBody>
      </p:sp>
      <p:sp>
        <p:nvSpPr>
          <p:cNvPr id="1781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00A8DE75-DB89-477A-9A27-F4D3276485A9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149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02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00E66CD-BB43-4ACA-886B-CB011470F282}" type="slidenum">
              <a:rPr lang="en-US" altLang="zh-CN" sz="1300"/>
            </a:fld>
            <a:endParaRPr lang="en-US" altLang="zh-CN" sz="1300"/>
          </a:p>
        </p:txBody>
      </p:sp>
      <p:sp>
        <p:nvSpPr>
          <p:cNvPr id="1802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02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2C18B682-46BC-4DDD-9AFB-D5DDBB1487FF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251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33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E2AC18-63D1-4B94-9BC8-434D6A7DCBC8}" type="slidenum">
              <a:rPr lang="en-US" altLang="zh-CN" sz="1300"/>
            </a:fld>
            <a:endParaRPr lang="en-US" altLang="zh-CN" sz="1300"/>
          </a:p>
        </p:txBody>
      </p:sp>
      <p:sp>
        <p:nvSpPr>
          <p:cNvPr id="1833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33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4B447373-834D-456B-B997-BB8133E95CA6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354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53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B9DC895-BC8A-41F1-9BEB-BD95FF45970B}" type="slidenum">
              <a:rPr lang="en-US" altLang="zh-CN" sz="1300"/>
            </a:fld>
            <a:endParaRPr lang="en-US" altLang="zh-CN" sz="1300"/>
          </a:p>
        </p:txBody>
      </p:sp>
      <p:sp>
        <p:nvSpPr>
          <p:cNvPr id="1853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53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607F8EF8-5551-4F8B-B8E9-9C652FF02CB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456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73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09B410-74F1-4886-B80F-F9CF5C28A205}" type="slidenum">
              <a:rPr lang="en-US" altLang="zh-CN" sz="1300"/>
            </a:fld>
            <a:endParaRPr lang="en-US" altLang="zh-CN" sz="1300"/>
          </a:p>
        </p:txBody>
      </p:sp>
      <p:sp>
        <p:nvSpPr>
          <p:cNvPr id="1873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73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dirty="0" smtClean="0"/>
              <a:t>jeopardize (Amer.)</a:t>
            </a:r>
            <a:r>
              <a:rPr lang="en-US" altLang="zh-CN" dirty="0" smtClean="0"/>
              <a:t> [</a:t>
            </a:r>
            <a:r>
              <a:rPr lang="en-US" altLang="zh-CN" dirty="0" err="1" smtClean="0"/>
              <a:t>jeop·ard·ize</a:t>
            </a:r>
            <a:r>
              <a:rPr lang="en-US" altLang="zh-CN" dirty="0" smtClean="0"/>
              <a:t> || '</a:t>
            </a:r>
            <a:r>
              <a:rPr lang="en-US" altLang="zh-CN" dirty="0" err="1" smtClean="0"/>
              <a:t>dʒepə</a:t>
            </a:r>
            <a:r>
              <a:rPr lang="en-US" altLang="zh-CN" dirty="0" smtClean="0"/>
              <a:t>(r)</a:t>
            </a:r>
            <a:r>
              <a:rPr lang="en-US" altLang="zh-CN" dirty="0" err="1" smtClean="0"/>
              <a:t>daɪz</a:t>
            </a:r>
            <a:r>
              <a:rPr lang="en-US" altLang="zh-CN" dirty="0" smtClean="0"/>
              <a:t>]</a:t>
            </a:r>
            <a:endParaRPr lang="en-US" altLang="zh-CN" dirty="0" smtClean="0"/>
          </a:p>
          <a:p>
            <a:r>
              <a:rPr lang="en-US" altLang="zh-CN" dirty="0" smtClean="0"/>
              <a:t>v. </a:t>
            </a:r>
            <a:r>
              <a:rPr lang="zh-CN" altLang="en-US" dirty="0" smtClean="0"/>
              <a:t>危害</a:t>
            </a:r>
            <a:r>
              <a:rPr lang="en-US" altLang="zh-CN" dirty="0" smtClean="0"/>
              <a:t>, </a:t>
            </a:r>
            <a:r>
              <a:rPr lang="zh-CN" altLang="en-US" dirty="0" smtClean="0"/>
              <a:t>使陷危地</a:t>
            </a:r>
            <a:r>
              <a:rPr lang="en-US" altLang="zh-CN" dirty="0" smtClean="0"/>
              <a:t>, </a:t>
            </a:r>
            <a:r>
              <a:rPr lang="zh-CN" altLang="en-US" dirty="0" smtClean="0"/>
              <a:t>使受危困</a:t>
            </a:r>
            <a:endParaRPr lang="zh-CN" altLang="en-US" dirty="0" smtClean="0"/>
          </a:p>
          <a:p>
            <a:r>
              <a:rPr lang="en-US" altLang="zh-CN" sz="1200" dirty="0" smtClean="0">
                <a:solidFill>
                  <a:srgbClr val="FF0000"/>
                </a:solidFill>
                <a:ea typeface="+mn-ea"/>
              </a:rPr>
              <a:t>one instruction per month  </a:t>
            </a:r>
            <a:r>
              <a:rPr lang="zh-CN" altLang="en-US" sz="1200" dirty="0" smtClean="0">
                <a:solidFill>
                  <a:srgbClr val="FF0000"/>
                </a:solidFill>
                <a:ea typeface="+mn-ea"/>
              </a:rPr>
              <a:t>每个月增加一条指令，从出现后</a:t>
            </a:r>
            <a:endParaRPr lang="en-US" altLang="zh-CN" sz="1200" dirty="0" smtClean="0">
              <a:solidFill>
                <a:srgbClr val="FF0000"/>
              </a:solidFill>
              <a:ea typeface="+mn-ea"/>
            </a:endParaRPr>
          </a:p>
          <a:p>
            <a:r>
              <a:rPr lang="zh-CN" altLang="en-US" sz="1200" dirty="0" smtClean="0">
                <a:solidFill>
                  <a:srgbClr val="FF0000"/>
                </a:solidFill>
                <a:ea typeface="+mn-ea"/>
              </a:rPr>
              <a:t>尽管技术不够优雅，但是</a:t>
            </a:r>
            <a:r>
              <a:rPr lang="en-US" altLang="zh-CN" sz="1200" dirty="0" smtClean="0">
                <a:solidFill>
                  <a:srgbClr val="FF0000"/>
                </a:solidFill>
                <a:ea typeface="+mn-ea"/>
              </a:rPr>
              <a:t>x86</a:t>
            </a:r>
            <a:r>
              <a:rPr lang="zh-CN" altLang="en-US" sz="1200" dirty="0" smtClean="0">
                <a:solidFill>
                  <a:srgbClr val="FF0000"/>
                </a:solidFill>
                <a:ea typeface="+mn-ea"/>
              </a:rPr>
              <a:t>家族的机器比较普遍</a:t>
            </a:r>
            <a:endParaRPr lang="en-AU" altLang="zh-CN" dirty="0" smtClean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558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81376049-49E4-4DD8-A82E-5EAE164BDEB8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558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894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29FCDF-45C1-4C78-AD48-DC90A7F4B7D8}" type="slidenum">
              <a:rPr lang="en-US" altLang="zh-CN" sz="1300"/>
            </a:fld>
            <a:endParaRPr lang="en-US" altLang="zh-CN" sz="1300"/>
          </a:p>
        </p:txBody>
      </p:sp>
      <p:sp>
        <p:nvSpPr>
          <p:cNvPr id="1894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94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10B33053-F6AE-4005-9673-F092C91DC341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661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14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CFF1A20-0939-432F-9648-02E129E1F796}" type="slidenum">
              <a:rPr lang="en-US" altLang="zh-CN" sz="1300"/>
            </a:fld>
            <a:endParaRPr lang="en-US" altLang="zh-CN" sz="1300"/>
          </a:p>
        </p:txBody>
      </p:sp>
      <p:sp>
        <p:nvSpPr>
          <p:cNvPr id="1914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14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B0222440-A6DE-4713-B6D7-B00CDF999892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763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35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F8EF532-2B22-40C4-8A42-0D078AEAD61A}" type="slidenum">
              <a:rPr lang="en-US" altLang="zh-CN" sz="1300"/>
            </a:fld>
            <a:endParaRPr lang="en-US" altLang="zh-CN" sz="1300"/>
          </a:p>
        </p:txBody>
      </p:sp>
      <p:sp>
        <p:nvSpPr>
          <p:cNvPr id="1935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35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55F67623-4A58-4C75-BC99-3EAE9F6B7C0D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866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55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515BA9-BBD6-4B27-9369-80B16D77689E}" type="slidenum">
              <a:rPr lang="en-US" altLang="zh-CN" sz="1300"/>
            </a:fld>
            <a:endParaRPr lang="en-US" altLang="zh-CN" sz="1300"/>
          </a:p>
        </p:txBody>
      </p:sp>
      <p:sp>
        <p:nvSpPr>
          <p:cNvPr id="1955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55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C4F7E872-E34C-40A9-971D-7EA9E089BEDB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9684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76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DB0B88-F410-4DA7-91AD-DFF60E145B68}" type="slidenum">
              <a:rPr lang="en-US" altLang="zh-CN" sz="1300"/>
            </a:fld>
            <a:endParaRPr lang="en-US" altLang="zh-CN" sz="1300"/>
          </a:p>
        </p:txBody>
      </p:sp>
      <p:sp>
        <p:nvSpPr>
          <p:cNvPr id="1976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76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smtClean="0"/>
              <a:t>fallacy</a:t>
            </a:r>
            <a:r>
              <a:rPr lang="en-US" altLang="zh-CN" smtClean="0"/>
              <a:t> [fal·la·cy || 'fæləsɪ]</a:t>
            </a:r>
            <a:endParaRPr lang="en-US" altLang="zh-CN" smtClean="0"/>
          </a:p>
          <a:p>
            <a:r>
              <a:rPr lang="en-US" altLang="zh-CN" smtClean="0"/>
              <a:t>n. </a:t>
            </a:r>
            <a:r>
              <a:rPr lang="zh-CN" altLang="en-US" smtClean="0"/>
              <a:t>谬误</a:t>
            </a:r>
            <a:r>
              <a:rPr lang="en-US" altLang="zh-CN" smtClean="0"/>
              <a:t>; </a:t>
            </a:r>
            <a:r>
              <a:rPr lang="zh-CN" altLang="en-US" smtClean="0"/>
              <a:t>谬见</a:t>
            </a:r>
            <a:r>
              <a:rPr lang="en-US" altLang="zh-CN" smtClean="0"/>
              <a:t>; </a:t>
            </a:r>
            <a:r>
              <a:rPr lang="zh-CN" altLang="en-US" smtClean="0"/>
              <a:t>谬论</a:t>
            </a:r>
            <a:endParaRPr lang="zh-CN" altLang="en-US" smtClean="0"/>
          </a:p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C6DEA11-2D55-4E55-B809-472AB9FCCFA2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0708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1996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2E84818-6FF2-439C-8B46-BE4F5C59CFE5}" type="slidenum">
              <a:rPr lang="en-US" altLang="zh-CN" sz="1300"/>
            </a:fld>
            <a:endParaRPr lang="en-US" altLang="zh-CN" sz="1300"/>
          </a:p>
        </p:txBody>
      </p:sp>
      <p:sp>
        <p:nvSpPr>
          <p:cNvPr id="1996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96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3DC7BAC1-8E8E-45EE-8341-C623678875B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1732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17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11C050-1BDE-4FB1-8DEF-DD7D387238B4}" type="slidenum">
              <a:rPr lang="en-US" altLang="zh-CN" sz="1300"/>
            </a:fld>
            <a:endParaRPr lang="en-US" altLang="zh-CN" sz="1300"/>
          </a:p>
        </p:txBody>
      </p:sp>
      <p:sp>
        <p:nvSpPr>
          <p:cNvPr id="2017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17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b="1" smtClean="0"/>
              <a:t>pitfall</a:t>
            </a:r>
            <a:r>
              <a:rPr lang="zh-CN" altLang="en-US" smtClean="0"/>
              <a:t> </a:t>
            </a:r>
            <a:endParaRPr lang="zh-CN" altLang="en-US" smtClean="0"/>
          </a:p>
          <a:p>
            <a:r>
              <a:rPr lang="en-US" altLang="zh-CN" smtClean="0"/>
              <a:t>n. </a:t>
            </a:r>
            <a:r>
              <a:rPr lang="zh-CN" altLang="en-US" smtClean="0"/>
              <a:t>陷阱</a:t>
            </a:r>
            <a:r>
              <a:rPr lang="en-US" altLang="zh-CN" smtClean="0"/>
              <a:t>, </a:t>
            </a:r>
            <a:r>
              <a:rPr lang="zh-CN" altLang="en-US" smtClean="0"/>
              <a:t>阴谋</a:t>
            </a:r>
            <a:r>
              <a:rPr lang="en-US" altLang="zh-CN" smtClean="0"/>
              <a:t>, </a:t>
            </a:r>
            <a:r>
              <a:rPr lang="zh-CN" altLang="en-US" smtClean="0"/>
              <a:t>诱惑</a:t>
            </a:r>
            <a:endParaRPr lang="zh-CN" altLang="en-US" smtClean="0"/>
          </a:p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BEC464F9-F641-4671-B4AC-0FD14CFF8C6E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2756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37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CEC443-014E-4A38-9EA3-5260F7175D54}" type="slidenum">
              <a:rPr lang="en-US" altLang="zh-CN" sz="1300"/>
            </a:fld>
            <a:endParaRPr lang="en-US" altLang="zh-CN" sz="1300"/>
          </a:p>
        </p:txBody>
      </p:sp>
      <p:sp>
        <p:nvSpPr>
          <p:cNvPr id="2037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37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hdr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The University of Adelaide, School of Computer Science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dt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fld id="{986B77D7-B141-490C-9BCD-A7734D36DD45}" type="datetime3">
              <a:rPr lang="en-US" altLang="zh-CN" smtClean="0">
                <a:latin typeface="Times New Roman" panose="02020603050405020304" pitchFamily="18" charset="0"/>
              </a:rPr>
            </a:fld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3780" name="Rectangle 6"/>
          <p:cNvSpPr>
            <a:spLocks noGrp="1" noChangeArrowheads="1"/>
          </p:cNvSpPr>
          <p:nvPr>
            <p:ph type="ftr" sz="quarter" idx="4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71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71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 smtClean="0">
                <a:latin typeface="Times New Roman" panose="02020603050405020304" pitchFamily="18" charset="0"/>
              </a:rPr>
              <a:t>Chapter 2 — Instructions: Language of the Computer</a:t>
            </a:r>
            <a:endParaRPr lang="en-US" altLang="zh-CN" smtClean="0">
              <a:latin typeface="Times New Roman" panose="02020603050405020304" pitchFamily="18" charset="0"/>
            </a:endParaRPr>
          </a:p>
        </p:txBody>
      </p:sp>
      <p:sp>
        <p:nvSpPr>
          <p:cNvPr id="2058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710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710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E9848B-A0B0-40AF-9F2C-FAA8FC367FE4}" type="slidenum">
              <a:rPr lang="en-US" altLang="zh-CN" sz="1300"/>
            </a:fld>
            <a:endParaRPr lang="en-US" altLang="zh-CN" sz="1300"/>
          </a:p>
        </p:txBody>
      </p:sp>
      <p:sp>
        <p:nvSpPr>
          <p:cNvPr id="2058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58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619250" y="1125538"/>
            <a:ext cx="28575" cy="5732462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81200" y="198755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763713" y="2708275"/>
            <a:ext cx="7380287" cy="73025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619250" y="549275"/>
            <a:ext cx="28575" cy="576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409825" y="1844675"/>
            <a:ext cx="5832475" cy="762000"/>
          </a:xfrm>
        </p:spPr>
        <p:txBody>
          <a:bodyPr anchor="t"/>
          <a:lstStyle>
            <a:lvl1pPr>
              <a:defRPr>
                <a:latin typeface="Arial Black" panose="020B0A04020102020204" pitchFamily="34" charset="0"/>
              </a:defRPr>
            </a:lvl1pPr>
          </a:lstStyle>
          <a:p>
            <a:r>
              <a:rPr lang="en-AU" dirty="0"/>
              <a:t>Chapter …</a:t>
            </a:r>
            <a:endParaRPr lang="en-AU" dirty="0"/>
          </a:p>
        </p:txBody>
      </p:sp>
      <p:sp>
        <p:nvSpPr>
          <p:cNvPr id="240644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409825" y="2924175"/>
            <a:ext cx="5832475" cy="579438"/>
          </a:xfrm>
        </p:spPr>
        <p:txBody>
          <a:bodyPr>
            <a:spAutoFit/>
          </a:bodyPr>
          <a:lstStyle>
            <a:lvl1pPr marL="0" indent="0"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</a:lstStyle>
          <a:p>
            <a:r>
              <a:rPr lang="en-AU"/>
              <a:t>Subtitle</a:t>
            </a:r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7307830B-E541-4603-B712-4800360D8D64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10C15CDD-7ADD-4ED2-BFAC-01646EF33EDB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9237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5850" y="1125538"/>
            <a:ext cx="4059238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E8D8BF88-5E3F-454D-A6BF-A2776E33A5BF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5B894B5E-870F-459B-A553-BF54C248CD64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43286F23-6254-46DE-9258-935D2C5EA7C8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5DCC0B13-6EE6-46C5-AEFF-9065E05B41C8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582E98C7-E603-423F-A340-A3B32EEEE283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668D74BA-A31D-4771-B468-66B4A35F87EE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1FD55271-08A8-4152-AAA0-4FD21CB7391D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146050"/>
            <a:ext cx="2066925" cy="60912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51550" cy="60912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A321581D-15BB-4AA9-A2F3-9341D5FA998F}" type="slidenum">
              <a:rPr lang="en-AU" altLang="zh-CN"/>
            </a:fld>
            <a:endParaRPr lang="en-AU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46050"/>
            <a:ext cx="82597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lvl="0"/>
            <a:r>
              <a:rPr lang="en-AU" altLang="zh-CN" smtClean="0"/>
              <a:t>Click to edit Master title style</a:t>
            </a:r>
            <a:endParaRPr lang="en-AU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125538"/>
            <a:ext cx="8270875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AU" altLang="zh-CN" smtClean="0"/>
              <a:t>Click to edit Master text styles</a:t>
            </a:r>
            <a:endParaRPr lang="en-AU" altLang="zh-CN" smtClean="0"/>
          </a:p>
          <a:p>
            <a:pPr lvl="1"/>
            <a:r>
              <a:rPr lang="en-AU" altLang="zh-CN" smtClean="0"/>
              <a:t>Second level</a:t>
            </a:r>
            <a:endParaRPr lang="en-AU" altLang="zh-CN" smtClean="0"/>
          </a:p>
          <a:p>
            <a:pPr lvl="2"/>
            <a:r>
              <a:rPr lang="en-AU" altLang="zh-CN" smtClean="0"/>
              <a:t>Third level</a:t>
            </a:r>
            <a:endParaRPr lang="en-AU" altLang="zh-CN" smtClean="0"/>
          </a:p>
          <a:p>
            <a:pPr lvl="3"/>
            <a:r>
              <a:rPr lang="en-AU" altLang="zh-CN" smtClean="0"/>
              <a:t>Fourth level</a:t>
            </a:r>
            <a:endParaRPr lang="en-AU" altLang="zh-CN" smtClean="0"/>
          </a:p>
          <a:p>
            <a:pPr lvl="4"/>
            <a:r>
              <a:rPr lang="en-AU" altLang="zh-CN" smtClean="0"/>
              <a:t>Fifth level</a:t>
            </a:r>
            <a:endParaRPr lang="en-AU" altLang="zh-CN" smtClean="0"/>
          </a:p>
        </p:txBody>
      </p:sp>
      <p:sp>
        <p:nvSpPr>
          <p:cNvPr id="239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92275" y="6381750"/>
            <a:ext cx="7272338" cy="358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1" smtClean="0"/>
            </a:lvl1pPr>
          </a:lstStyle>
          <a:p>
            <a:pPr>
              <a:defRPr/>
            </a:pPr>
            <a:r>
              <a:rPr lang="en-AU" altLang="zh-CN"/>
              <a:t>Chapter 2 — Instructions: Language of the Computer — </a:t>
            </a:r>
            <a:fld id="{EE98C61E-D137-450A-AF7D-624BBEB5B5E7}" type="slidenum">
              <a:rPr lang="en-AU" altLang="zh-CN"/>
            </a:fld>
            <a:endParaRPr lang="en-AU" altLang="zh-CN"/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zh-CN" altLang="zh-CN" smtClean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mips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0.e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7.emf"/><Relationship Id="rId11" Type="http://schemas.openxmlformats.org/officeDocument/2006/relationships/notesSlide" Target="../notesSlides/notesSlide78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4.bin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9.xml"/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1.emf"/><Relationship Id="rId1" Type="http://schemas.openxmlformats.org/officeDocument/2006/relationships/oleObject" Target="../embeddings/oleObject8.bin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jpe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09825" y="2924175"/>
            <a:ext cx="5832475" cy="1066800"/>
          </a:xfrm>
        </p:spPr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Instructions: Language of the Computer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0" y="0"/>
            <a:ext cx="9144000" cy="1198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600" kern="0" dirty="0">
                <a:solidFill>
                  <a:srgbClr val="FFC000"/>
                </a:solidFill>
                <a:latin typeface="Arial Black" panose="020B0A04020102020204" pitchFamily="34" charset="0"/>
                <a:ea typeface="+mj-ea"/>
                <a:cs typeface="+mj-cs"/>
              </a:rPr>
              <a:t>Computer Organization and Design</a:t>
            </a:r>
            <a:endParaRPr lang="en-US" sz="3600" kern="0" dirty="0">
              <a:solidFill>
                <a:srgbClr val="FFC000"/>
              </a:solidFill>
              <a:latin typeface="Arial Black" panose="020B0A04020102020204" pitchFamily="34" charset="0"/>
              <a:ea typeface="+mj-ea"/>
              <a:cs typeface="+mj-cs"/>
            </a:endParaRPr>
          </a:p>
          <a:p>
            <a:pPr algn="ctr" eaLnBrk="1" hangingPunct="1">
              <a:defRPr/>
            </a:pPr>
            <a:r>
              <a:rPr lang="en-US" altLang="zh-CN" sz="3600" kern="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    </a:t>
            </a:r>
            <a:endParaRPr lang="en-US" sz="3600" kern="0" dirty="0">
              <a:solidFill>
                <a:schemeClr val="bg1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D2FFFE6-497E-47C6-824D-028FCDC4A384}" type="slidenum">
              <a:rPr lang="en-AU" altLang="zh-CN" sz="1400"/>
            </a:fld>
            <a:endParaRPr lang="en-AU" altLang="zh-CN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Instruction Set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The repertoire of instructions of a computer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Different computers have different instruction sets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solidFill>
                  <a:srgbClr val="0070C0"/>
                </a:solidFill>
                <a:ea typeface="宋体" panose="02010600030101010101" pitchFamily="2" charset="-122"/>
              </a:rPr>
              <a:t>But with many aspects in common</a:t>
            </a:r>
            <a:endParaRPr lang="en-US" altLang="zh-CN" smtClean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Early computers had very simple instruction sets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solidFill>
                  <a:srgbClr val="0070C0"/>
                </a:solidFill>
                <a:ea typeface="宋体" panose="02010600030101010101" pitchFamily="2" charset="-122"/>
              </a:rPr>
              <a:t>Simplified implementation</a:t>
            </a:r>
            <a:endParaRPr lang="en-US" altLang="zh-CN" smtClean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Many modern computers also have simple instruction sets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 rot="5400000">
            <a:off x="8017669" y="759619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 Introduction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05CDB942-A7E1-4A84-8CE0-6F5F804D31DE}" type="slidenum">
              <a:rPr lang="en-AU" altLang="zh-CN" sz="1400"/>
            </a:fld>
            <a:endParaRPr lang="en-AU" altLang="zh-CN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The MIPS Instruction Set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Used as the example throughout the course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Stanford MIPS commercialized by MIPS Technologies (</a:t>
            </a:r>
            <a:r>
              <a:rPr lang="en-US" altLang="zh-CN" sz="2800" smtClean="0">
                <a:ea typeface="宋体" panose="02010600030101010101" pitchFamily="2" charset="-122"/>
                <a:hlinkClick r:id="rId1"/>
              </a:rPr>
              <a:t>www.mips.com</a:t>
            </a:r>
            <a:r>
              <a:rPr lang="en-US" altLang="zh-CN" sz="2800" smtClean="0">
                <a:ea typeface="宋体" panose="02010600030101010101" pitchFamily="2" charset="-122"/>
              </a:rPr>
              <a:t>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Large share of </a:t>
            </a: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embedded </a:t>
            </a:r>
            <a:r>
              <a:rPr lang="en-US" altLang="zh-CN" sz="2800" smtClean="0">
                <a:ea typeface="宋体" panose="02010600030101010101" pitchFamily="2" charset="-122"/>
              </a:rPr>
              <a:t>core market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Applications in smartphones, tablets, consumer electronics, network/storage equipment, cameras, printers, …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C89803C-54D7-46A4-9844-5C1A1FC015D6}" type="slidenum">
              <a:rPr lang="en-AU" altLang="zh-CN" sz="1400"/>
            </a:fld>
            <a:endParaRPr lang="en-AU" altLang="zh-CN" sz="1400"/>
          </a:p>
        </p:txBody>
      </p:sp>
      <p:sp>
        <p:nvSpPr>
          <p:cNvPr id="1126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Arithmetic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26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Add and subtract, three operands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Two sources and one destination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a, b, c  # a gets b + c</a:t>
            </a:r>
            <a:endParaRPr lang="en-US" altLang="zh-CN" smtClean="0">
              <a:solidFill>
                <a:srgbClr val="0070C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All arithmetic operations have this form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i="1" smtClean="0">
                <a:solidFill>
                  <a:srgbClr val="FF0000"/>
                </a:solidFill>
                <a:ea typeface="宋体" panose="02010600030101010101" pitchFamily="2" charset="-122"/>
              </a:rPr>
              <a:t>Design Principle 1: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Simplicity favours regularity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Regularity makes implementation simpler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Simplicity enables higher performance at lower cost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 rot="5400000">
            <a:off x="6677819" y="2099469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§2.2 Operations of the Computer Hardware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F504D8C-D863-4751-A054-3EBAC9E641DD}" type="slidenum">
              <a:rPr lang="en-AU" altLang="zh-CN" sz="1400"/>
            </a:fld>
            <a:endParaRPr lang="en-AU" altLang="zh-CN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Arithmetic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f = (g + h) - (i + j);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Compiled 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t0, g, h   # temp t0 = g + h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t1, i, j   # temp t1 = i + j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sub f, t0, t1  # f = t0 - t1</a:t>
            </a:r>
            <a:endParaRPr lang="en-AU" altLang="zh-CN" smtClean="0">
              <a:solidFill>
                <a:srgbClr val="0070C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D45C5AE-A234-4867-A181-6477739E7239}" type="slidenum">
              <a:rPr lang="en-AU" altLang="zh-CN" sz="1400"/>
            </a:fld>
            <a:endParaRPr lang="en-AU" altLang="zh-CN" sz="1400"/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Register Operands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331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Arithmetic instructions use </a:t>
            </a: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register operands</a:t>
            </a:r>
            <a:endParaRPr lang="en-US" altLang="zh-CN" sz="28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MIPS has a </a:t>
            </a:r>
            <a:r>
              <a:rPr lang="en-US" altLang="zh-CN" sz="2800" smtClean="0">
                <a:solidFill>
                  <a:srgbClr val="0070C0"/>
                </a:solidFill>
                <a:ea typeface="宋体" panose="02010600030101010101" pitchFamily="2" charset="-122"/>
              </a:rPr>
              <a:t>32 × 32</a:t>
            </a:r>
            <a:r>
              <a:rPr lang="en-US" altLang="zh-CN" sz="2800" smtClean="0">
                <a:ea typeface="宋体" panose="02010600030101010101" pitchFamily="2" charset="-122"/>
              </a:rPr>
              <a:t>-bit register file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Use for frequently accessed data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Numbered 0 to 31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32-bit data called a “word”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Assembler names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00B050"/>
                </a:solidFill>
                <a:ea typeface="宋体" panose="02010600030101010101" pitchFamily="2" charset="-122"/>
              </a:rPr>
              <a:t>$t0, $t1, …, $t9 </a:t>
            </a:r>
            <a:r>
              <a:rPr lang="en-US" altLang="zh-CN" sz="2400" smtClean="0">
                <a:ea typeface="宋体" panose="02010600030101010101" pitchFamily="2" charset="-122"/>
              </a:rPr>
              <a:t>for temporary values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rgbClr val="00B050"/>
                </a:solidFill>
                <a:ea typeface="宋体" panose="02010600030101010101" pitchFamily="2" charset="-122"/>
              </a:rPr>
              <a:t>$s0, $s1, …, $s7 </a:t>
            </a:r>
            <a:r>
              <a:rPr lang="en-US" altLang="zh-CN" sz="2400" smtClean="0">
                <a:ea typeface="宋体" panose="02010600030101010101" pitchFamily="2" charset="-122"/>
              </a:rPr>
              <a:t>for saved variables</a:t>
            </a:r>
            <a:endParaRPr lang="en-US" altLang="zh-CN" i="1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smtClean="0">
                <a:solidFill>
                  <a:srgbClr val="FF0000"/>
                </a:solidFill>
                <a:ea typeface="宋体" panose="02010600030101010101" pitchFamily="2" charset="-122"/>
              </a:rPr>
              <a:t>Design Principle 2</a:t>
            </a:r>
            <a:r>
              <a:rPr lang="en-US" altLang="zh-CN" sz="2800" i="1" smtClean="0">
                <a:ea typeface="宋体" panose="02010600030101010101" pitchFamily="2" charset="-122"/>
              </a:rPr>
              <a:t>:</a:t>
            </a:r>
            <a:r>
              <a:rPr lang="en-US" altLang="zh-CN" sz="2800" smtClean="0">
                <a:ea typeface="宋体" panose="02010600030101010101" pitchFamily="2" charset="-122"/>
              </a:rPr>
              <a:t> Smaller is faster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Reason for small register file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c.f. main memory: millions of locations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 rot="5400000">
            <a:off x="6734969" y="2042319"/>
            <a:ext cx="44513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§2.3 Operands of the Computer Hardware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1B5A6ED5-F111-4668-824A-EABF0FBD9622}" type="slidenum">
              <a:rPr lang="en-AU" altLang="zh-CN" sz="1400"/>
            </a:fld>
            <a:endParaRPr lang="en-AU" altLang="zh-CN" sz="1400"/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Register Operand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f = (g + h) - (i + j);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f, …, j in </a:t>
            </a:r>
            <a:r>
              <a:rPr lang="en-US" altLang="zh-CN" smtClean="0">
                <a:solidFill>
                  <a:srgbClr val="008000"/>
                </a:solidFill>
                <a:ea typeface="宋体" panose="02010600030101010101" pitchFamily="2" charset="-122"/>
              </a:rPr>
              <a:t>$s0, …, $s4</a:t>
            </a:r>
            <a:endParaRPr lang="en-US" altLang="zh-CN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Compiled 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$t0, $s1, $s2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$t1, $s3, $s4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sub $s0, $t0, $t1</a:t>
            </a:r>
            <a:endParaRPr lang="en-AU" altLang="zh-CN" sz="2800" smtClean="0">
              <a:solidFill>
                <a:srgbClr val="0070C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F5D1257-8D2C-47A4-8A2A-715CEE48E4A1}" type="slidenum">
              <a:rPr lang="en-AU" altLang="zh-CN" sz="1400"/>
            </a:fld>
            <a:endParaRPr lang="en-AU" altLang="zh-CN" sz="1400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Memory Operands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53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Main memory used for composite data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Arrays, structures, dynamic data, …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Only a small amount of data can fit in registers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To apply arithmetic operations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Load values from memory into registers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Store result from register to memory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Memory is </a:t>
            </a: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byte</a:t>
            </a:r>
            <a:r>
              <a:rPr lang="en-US" altLang="zh-CN" sz="2800" smtClean="0">
                <a:ea typeface="宋体" panose="02010600030101010101" pitchFamily="2" charset="-122"/>
              </a:rPr>
              <a:t> addressed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Each address identifies an 8-bit byte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Words are aligned in memory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Address must be a multiple of 4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MIPS is </a:t>
            </a:r>
            <a:r>
              <a:rPr lang="en-US" altLang="zh-CN" sz="2800" smtClean="0">
                <a:solidFill>
                  <a:srgbClr val="009900"/>
                </a:solidFill>
                <a:ea typeface="宋体" panose="02010600030101010101" pitchFamily="2" charset="-122"/>
              </a:rPr>
              <a:t>Big Endian</a:t>
            </a:r>
            <a:endParaRPr lang="en-US" altLang="zh-CN" sz="2800" smtClean="0">
              <a:solidFill>
                <a:srgbClr val="0099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Most-significant byte at least address of a word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AU" altLang="zh-CN" sz="2400" i="1" smtClean="0">
                <a:ea typeface="宋体" panose="02010600030101010101" pitchFamily="2" charset="-122"/>
              </a:rPr>
              <a:t>c.f.</a:t>
            </a:r>
            <a:r>
              <a:rPr lang="en-AU" altLang="zh-CN" sz="2400" smtClean="0">
                <a:ea typeface="宋体" panose="02010600030101010101" pitchFamily="2" charset="-122"/>
              </a:rPr>
              <a:t> Little Endian: least-significant byte at least address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Big vs. Little Endian 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21507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444E773-34DF-47E4-BB87-B44A0DD74725}" type="slidenum">
              <a:rPr lang="en-AU" altLang="zh-CN" sz="1400"/>
            </a:fld>
            <a:endParaRPr lang="en-AU" altLang="zh-CN" sz="1400"/>
          </a:p>
        </p:txBody>
      </p:sp>
      <p:sp>
        <p:nvSpPr>
          <p:cNvPr id="21508" name="Rectangle 4"/>
          <p:cNvSpPr>
            <a:spLocks noGrp="1" noChangeArrowheads="1"/>
          </p:cNvSpPr>
          <p:nvPr/>
        </p:nvSpPr>
        <p:spPr bwMode="auto">
          <a:xfrm>
            <a:off x="571500" y="1214438"/>
            <a:ext cx="7848600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287655" indent="-28765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6175" indent="-17653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zh-CN" sz="2400">
                <a:solidFill>
                  <a:srgbClr val="002B7D"/>
                </a:solidFill>
              </a:rPr>
              <a:t>Big Endian:</a:t>
            </a:r>
            <a:r>
              <a:rPr lang="en-US" altLang="zh-CN" sz="2400"/>
              <a:t>	 leftmost byte is word address</a:t>
            </a:r>
            <a:endParaRPr lang="en-US" altLang="zh-CN" sz="2400"/>
          </a:p>
          <a:p>
            <a:pPr lvl="2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None/>
            </a:pPr>
            <a:r>
              <a:rPr lang="en-US" altLang="zh-CN" sz="1800"/>
              <a:t> IBM 360/370, Motorola 68k, </a:t>
            </a:r>
            <a:r>
              <a:rPr lang="en-US" altLang="zh-CN" sz="1800">
                <a:solidFill>
                  <a:srgbClr val="FF0000"/>
                </a:solidFill>
              </a:rPr>
              <a:t>MIPS</a:t>
            </a:r>
            <a:r>
              <a:rPr lang="en-US" altLang="zh-CN" sz="1800"/>
              <a:t>, Sparc, HP PA</a:t>
            </a:r>
            <a:endParaRPr lang="en-US" altLang="zh-CN" sz="2000"/>
          </a:p>
          <a:p>
            <a:pPr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zh-CN" sz="2400">
                <a:solidFill>
                  <a:srgbClr val="009900"/>
                </a:solidFill>
              </a:rPr>
              <a:t>Little Endian:</a:t>
            </a:r>
            <a:r>
              <a:rPr lang="en-US" altLang="zh-CN" sz="2400"/>
              <a:t>	rightmost byte is word address</a:t>
            </a:r>
            <a:endParaRPr lang="en-US" altLang="zh-CN" sz="2400"/>
          </a:p>
          <a:p>
            <a:pPr lvl="2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None/>
            </a:pPr>
            <a:r>
              <a:rPr lang="en-US" altLang="zh-CN" sz="1800"/>
              <a:t>Intel 80x86, DEC Vax, DEC Alpha (Windows NT)</a:t>
            </a:r>
            <a:endParaRPr lang="en-US" altLang="zh-CN" sz="1800"/>
          </a:p>
        </p:txBody>
      </p:sp>
      <p:pic>
        <p:nvPicPr>
          <p:cNvPr id="21509" name="Picture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3214688"/>
            <a:ext cx="2997200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3286125"/>
            <a:ext cx="2786063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4204A159-6E2D-47CC-AADF-D449BDFF6DA9}" type="slidenum">
              <a:rPr lang="en-AU" altLang="zh-CN" sz="1400"/>
            </a:fld>
            <a:endParaRPr lang="en-AU" altLang="zh-CN" sz="1400"/>
          </a:p>
        </p:txBody>
      </p:sp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Memory Operand Example 1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741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g = h + A[8];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g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$s1</a:t>
            </a:r>
            <a:r>
              <a:rPr lang="en-US" altLang="zh-CN" smtClean="0">
                <a:ea typeface="宋体" panose="02010600030101010101" pitchFamily="2" charset="-122"/>
              </a:rPr>
              <a:t>, h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$s2</a:t>
            </a:r>
            <a:r>
              <a:rPr lang="en-US" altLang="zh-CN" smtClean="0">
                <a:ea typeface="宋体" panose="02010600030101010101" pitchFamily="2" charset="-122"/>
              </a:rPr>
              <a:t>, base address of A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$s3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Compiled 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Index 8 requires offset of 32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4 bytes per word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lw  $t0, 32($s3)    # load word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$s1, $s2, $t0</a:t>
            </a:r>
            <a:endParaRPr lang="en-AU" altLang="zh-CN" sz="2800" smtClean="0">
              <a:solidFill>
                <a:srgbClr val="0070C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7413" name="AutoShape 6"/>
          <p:cNvSpPr/>
          <p:nvPr/>
        </p:nvSpPr>
        <p:spPr bwMode="auto">
          <a:xfrm>
            <a:off x="1619250" y="5445125"/>
            <a:ext cx="914400" cy="403225"/>
          </a:xfrm>
          <a:prstGeom prst="borderCallout1">
            <a:avLst>
              <a:gd name="adj1" fmla="val 28347"/>
              <a:gd name="adj2" fmla="val 108333"/>
              <a:gd name="adj3" fmla="val -190944"/>
              <a:gd name="adj4" fmla="val 1600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800"/>
              <a:t>offset</a:t>
            </a:r>
            <a:endParaRPr lang="en-AU" altLang="zh-CN" sz="1800"/>
          </a:p>
        </p:txBody>
      </p:sp>
      <p:sp>
        <p:nvSpPr>
          <p:cNvPr id="17414" name="AutoShape 7"/>
          <p:cNvSpPr/>
          <p:nvPr/>
        </p:nvSpPr>
        <p:spPr bwMode="auto">
          <a:xfrm>
            <a:off x="4140200" y="5445125"/>
            <a:ext cx="1655763" cy="403225"/>
          </a:xfrm>
          <a:prstGeom prst="borderCallout1">
            <a:avLst>
              <a:gd name="adj1" fmla="val 28347"/>
              <a:gd name="adj2" fmla="val -4602"/>
              <a:gd name="adj3" fmla="val -180708"/>
              <a:gd name="adj4" fmla="val -85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800"/>
              <a:t>base register</a:t>
            </a:r>
            <a:endParaRPr lang="en-AU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" grpId="0" animBg="1"/>
      <p:bldP spid="174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09BCE3B-7555-482A-84D8-C6C5C36A9AA5}" type="slidenum">
              <a:rPr lang="en-AU" altLang="zh-CN" sz="1400"/>
            </a:fld>
            <a:endParaRPr lang="en-AU" altLang="zh-CN" sz="1400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Memory Operand Example 2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843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A[12] = h + A[8];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h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$s2</a:t>
            </a:r>
            <a:r>
              <a:rPr lang="en-US" altLang="zh-CN" smtClean="0">
                <a:ea typeface="宋体" panose="02010600030101010101" pitchFamily="2" charset="-122"/>
              </a:rPr>
              <a:t>, base address of A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$s3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Compiled 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Index 8 requires offset of 32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lw  $t0, 32($s3)    # load word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$t0, $s2, $t0</a:t>
            </a:r>
            <a:b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rgbClr val="0070C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sw  $t0, 48($s3)    # store word</a:t>
            </a:r>
            <a:endParaRPr lang="en-AU" altLang="zh-CN" sz="2800" smtClean="0">
              <a:solidFill>
                <a:srgbClr val="0070C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13E447D-50B8-4EBC-934C-C54B273766CB}" type="slidenum">
              <a:rPr lang="en-AU" altLang="zh-CN" sz="1400"/>
            </a:fld>
            <a:endParaRPr lang="en-AU" altLang="zh-CN" sz="1400"/>
          </a:p>
        </p:txBody>
      </p:sp>
      <p:sp>
        <p:nvSpPr>
          <p:cNvPr id="2765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Registers vs. Memory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946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45978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Registers are faster to access than memory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Operating on memory data requires loads and stores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600" smtClean="0">
                <a:ea typeface="宋体" panose="02010600030101010101" pitchFamily="2" charset="-122"/>
              </a:rPr>
              <a:t>More instructions to be executed</a:t>
            </a:r>
            <a:endParaRPr lang="en-US" altLang="zh-CN" sz="26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zh-CN" sz="26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Compilers</a:t>
            </a:r>
            <a:r>
              <a:rPr lang="en-US" altLang="zh-CN" smtClean="0">
                <a:ea typeface="宋体" panose="02010600030101010101" pitchFamily="2" charset="-122"/>
              </a:rPr>
              <a:t> use registers for variables as much as possible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Only “spill” to memory for less frequently used variables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solidFill>
                  <a:schemeClr val="tx2"/>
                </a:solidFill>
                <a:ea typeface="宋体" panose="02010600030101010101" pitchFamily="2" charset="-122"/>
              </a:rPr>
              <a:t>Register optimization is important!</a:t>
            </a:r>
            <a:endParaRPr lang="en-AU" altLang="zh-CN" smtClean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DF1B80B-16C3-4AC5-BE0F-F2132562D100}" type="slidenum">
              <a:rPr lang="en-AU" altLang="zh-CN" sz="1400"/>
            </a:fld>
            <a:endParaRPr lang="en-AU" altLang="zh-CN" sz="1400"/>
          </a:p>
        </p:txBody>
      </p:sp>
      <p:sp>
        <p:nvSpPr>
          <p:cNvPr id="2969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Immediate Operands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048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Constant data specified in an instruction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addi $s3, $s3, 4</a:t>
            </a:r>
            <a:endParaRPr lang="en-US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No subtract immediate instruction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Just use a negative constant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addi $s2, $s1, -1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i="1" smtClean="0">
                <a:solidFill>
                  <a:srgbClr val="FF0000"/>
                </a:solidFill>
                <a:ea typeface="宋体" panose="02010600030101010101" pitchFamily="2" charset="-122"/>
              </a:rPr>
              <a:t>Design Principle 3: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Make the common case fast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Small constants are common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Immediate operand avoids a load instruction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8313" y="333375"/>
            <a:ext cx="8540750" cy="6588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Number types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17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603250" y="1052513"/>
            <a:ext cx="8289925" cy="5400675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Integer numbers, unsigned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Address calculations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Numbers that can only be positive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z="2800" smtClean="0">
                <a:ea typeface="宋体" panose="02010600030101010101" pitchFamily="2" charset="-122"/>
              </a:rPr>
              <a:t>Signed numbers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Positive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Negative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r>
              <a:rPr lang="en-US" altLang="zh-CN" sz="2800" smtClean="0">
                <a:ea typeface="宋体" panose="02010600030101010101" pitchFamily="2" charset="-122"/>
              </a:rPr>
              <a:t>Floating point numbers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numeric calculations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Different grades of precision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Singe precision (IEEE 754)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Double precision (IEEE 754)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Quadruple precision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3250" y="404813"/>
            <a:ext cx="8540750" cy="658812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Number formats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468313" y="981075"/>
            <a:ext cx="8999537" cy="60483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Sign and magnitude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2's complement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1's complement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		similar to 2's complement, + 0 &amp; - 0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Biased notation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		1000 0000 = minimal negative value(-2</a:t>
            </a:r>
            <a:r>
              <a:rPr lang="en-US" altLang="zh-CN" baseline="30000" smtClean="0"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		0111 1111 = maximal positive value (2</a:t>
            </a:r>
            <a:r>
              <a:rPr lang="en-US" altLang="zh-CN" baseline="30000" smtClean="0"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-1)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Representation</a:t>
            </a:r>
            <a:endParaRPr lang="en-US" altLang="zh-CN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200" smtClean="0">
                <a:ea typeface="宋体" panose="02010600030101010101" pitchFamily="2" charset="-122"/>
                <a:cs typeface="Arial" panose="020B0604020202020204" pitchFamily="34" charset="0"/>
              </a:rPr>
              <a:t>Binary</a:t>
            </a:r>
            <a:endParaRPr lang="en-US" altLang="zh-CN" sz="2200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200" smtClean="0">
                <a:ea typeface="宋体" panose="02010600030101010101" pitchFamily="2" charset="-122"/>
                <a:cs typeface="Arial" panose="020B0604020202020204" pitchFamily="34" charset="0"/>
              </a:rPr>
              <a:t>Decimal</a:t>
            </a:r>
            <a:endParaRPr lang="en-US" altLang="zh-CN" sz="2200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200" smtClean="0">
                <a:ea typeface="宋体" panose="02010600030101010101" pitchFamily="2" charset="-122"/>
                <a:cs typeface="Arial" panose="020B0604020202020204" pitchFamily="34" charset="0"/>
              </a:rPr>
              <a:t>Hexadecimal</a:t>
            </a:r>
            <a:endParaRPr lang="en-US" altLang="zh-CN" sz="2200" smtClean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10F0F81-3512-4034-B6CD-D7BCA371777A}" type="slidenum">
              <a:rPr lang="en-AU" altLang="zh-CN" sz="1400"/>
            </a:fld>
            <a:endParaRPr lang="en-AU" altLang="zh-CN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The Constant Zero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MIPS register 0 (</a:t>
            </a: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$zero</a:t>
            </a:r>
            <a:r>
              <a:rPr lang="en-AU" altLang="zh-CN" smtClean="0">
                <a:ea typeface="宋体" panose="02010600030101010101" pitchFamily="2" charset="-122"/>
              </a:rPr>
              <a:t>) is the constant 0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Cannot be overwritten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Useful for common operations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E.g., move between registers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AU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add $t2, $s1, $zero</a:t>
            </a:r>
            <a:endParaRPr lang="en-AU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13A82B9B-2941-40BD-823F-4135AA4036C3}" type="slidenum">
              <a:rPr lang="en-AU" altLang="zh-CN" sz="1400"/>
            </a:fld>
            <a:endParaRPr lang="en-AU" altLang="zh-CN" sz="1400"/>
          </a:p>
        </p:txBody>
      </p:sp>
      <p:sp>
        <p:nvSpPr>
          <p:cNvPr id="3789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Unsigned Binary Integers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789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477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Given an n-bit number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7893" name="Object 4"/>
          <p:cNvGraphicFramePr>
            <a:graphicFrameLocks noChangeAspect="1"/>
          </p:cNvGraphicFramePr>
          <p:nvPr/>
        </p:nvGraphicFramePr>
        <p:xfrm>
          <a:off x="1447800" y="1844675"/>
          <a:ext cx="60102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5" name="Equation" r:id="rId1" imgW="2501900" imgH="241300" progId="Equation.3">
                  <p:embed/>
                </p:oleObj>
              </mc:Choice>
              <mc:Fallback>
                <p:oleObj name="Equation" r:id="rId1" imgW="25019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844675"/>
                        <a:ext cx="6010275" cy="57943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684213" y="2565400"/>
            <a:ext cx="8270875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/>
              <a:t>Range: 0 to +2</a:t>
            </a:r>
            <a:r>
              <a:rPr lang="en-US" altLang="zh-CN" baseline="30000"/>
              <a:t>n</a:t>
            </a:r>
            <a:r>
              <a:rPr lang="en-US" altLang="zh-CN"/>
              <a:t> – 1</a:t>
            </a:r>
            <a:endParaRPr lang="en-US" altLang="zh-CN"/>
          </a:p>
          <a:p>
            <a:pPr eaLnBrk="1" hangingPunct="1"/>
            <a:r>
              <a:rPr lang="en-US" altLang="zh-CN"/>
              <a:t>Example</a:t>
            </a:r>
            <a:endParaRPr lang="en-US" altLang="zh-CN"/>
          </a:p>
          <a:p>
            <a:pPr lvl="1" eaLnBrk="1" hangingPunct="1"/>
            <a:r>
              <a:rPr lang="en-US" altLang="zh-CN" sz="2400"/>
              <a:t>0000 0000 0000 0000 0000 0000 0000 1011</a:t>
            </a:r>
            <a:r>
              <a:rPr lang="en-US" altLang="zh-CN" sz="2400" baseline="-25000"/>
              <a:t>2</a:t>
            </a:r>
            <a:br>
              <a:rPr lang="en-US" altLang="zh-CN" sz="2400"/>
            </a:br>
            <a:r>
              <a:rPr lang="en-US" altLang="zh-CN" sz="2400"/>
              <a:t>= 0 + … + 1×2</a:t>
            </a:r>
            <a:r>
              <a:rPr lang="en-US" altLang="zh-CN" sz="2400" baseline="30000"/>
              <a:t>3</a:t>
            </a:r>
            <a:r>
              <a:rPr lang="en-US" altLang="zh-CN" sz="2400"/>
              <a:t> + 0×2</a:t>
            </a:r>
            <a:r>
              <a:rPr lang="en-US" altLang="zh-CN" sz="2400" baseline="30000"/>
              <a:t>2</a:t>
            </a:r>
            <a:r>
              <a:rPr lang="en-US" altLang="zh-CN" sz="2400"/>
              <a:t> +1×2</a:t>
            </a:r>
            <a:r>
              <a:rPr lang="en-US" altLang="zh-CN" sz="2400" baseline="30000"/>
              <a:t>1</a:t>
            </a:r>
            <a:r>
              <a:rPr lang="en-US" altLang="zh-CN" sz="2400"/>
              <a:t> +1×2</a:t>
            </a:r>
            <a:r>
              <a:rPr lang="en-US" altLang="zh-CN" sz="2400" baseline="30000"/>
              <a:t>0</a:t>
            </a:r>
            <a:br>
              <a:rPr lang="en-US" altLang="zh-CN" sz="2400"/>
            </a:br>
            <a:r>
              <a:rPr lang="en-US" altLang="zh-CN" sz="2400"/>
              <a:t>= 0 + … + 8 + 0 + 2 + 1 = 11</a:t>
            </a:r>
            <a:r>
              <a:rPr lang="en-US" altLang="zh-CN" sz="2400" baseline="-25000"/>
              <a:t>10</a:t>
            </a:r>
            <a:endParaRPr lang="en-US" altLang="zh-CN" sz="2400"/>
          </a:p>
          <a:p>
            <a:pPr eaLnBrk="1" hangingPunct="1"/>
            <a:r>
              <a:rPr lang="en-US" altLang="zh-CN"/>
              <a:t>Using 32 bits</a:t>
            </a:r>
            <a:endParaRPr lang="en-US" altLang="zh-CN"/>
          </a:p>
          <a:p>
            <a:pPr lvl="1" eaLnBrk="1" hangingPunct="1"/>
            <a:r>
              <a:rPr lang="en-US" altLang="zh-CN"/>
              <a:t>0 to +4,294,967,295</a:t>
            </a:r>
            <a:endParaRPr lang="en-US" altLang="zh-CN"/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 rot="5400000">
            <a:off x="7027069" y="1750219"/>
            <a:ext cx="386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§2.4 Signed and Unsigned Numbers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4213" y="146050"/>
            <a:ext cx="8459787" cy="7620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Signed number representation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First idea: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mtClean="0">
                <a:ea typeface="宋体" panose="02010600030101010101" pitchFamily="2" charset="-122"/>
              </a:rPr>
              <a:t>Positive and negative numbers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Take one bit (e.g. 31) as the </a:t>
            </a:r>
            <a:r>
              <a:rPr lang="en-US" altLang="zh-CN" b="1" smtClean="0">
                <a:solidFill>
                  <a:srgbClr val="FF3300"/>
                </a:solidFill>
                <a:ea typeface="宋体" panose="02010600030101010101" pitchFamily="2" charset="-122"/>
              </a:rPr>
              <a:t>sign bit</a:t>
            </a:r>
            <a:endParaRPr lang="en-US" altLang="zh-CN" b="1" smtClean="0">
              <a:solidFill>
                <a:srgbClr val="FF3300"/>
              </a:solidFill>
              <a:ea typeface="宋体" panose="02010600030101010101" pitchFamily="2" charset="-122"/>
            </a:endParaRP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Problem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/>
            <a:r>
              <a:rPr lang="en-US" altLang="zh-CN" b="1" smtClean="0">
                <a:solidFill>
                  <a:srgbClr val="FF3300"/>
                </a:solidFill>
                <a:ea typeface="宋体" panose="02010600030101010101" pitchFamily="2" charset="-122"/>
              </a:rPr>
              <a:t>0</a:t>
            </a:r>
            <a:r>
              <a:rPr lang="en-US" altLang="zh-CN" smtClean="0">
                <a:ea typeface="宋体" panose="02010600030101010101" pitchFamily="2" charset="-122"/>
              </a:rPr>
              <a:t> 0000000 = 0 	positive zero!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/>
            <a:r>
              <a:rPr lang="en-US" altLang="zh-CN" b="1" smtClean="0">
                <a:solidFill>
                  <a:srgbClr val="FF3300"/>
                </a:solidFill>
                <a:ea typeface="宋体" panose="02010600030101010101" pitchFamily="2" charset="-122"/>
              </a:rPr>
              <a:t>1 </a:t>
            </a:r>
            <a:r>
              <a:rPr lang="en-US" altLang="zh-CN" smtClean="0">
                <a:ea typeface="宋体" panose="02010600030101010101" pitchFamily="2" charset="-122"/>
              </a:rPr>
              <a:t>0000000 = 0 	negative zero!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Each comparison to 0 requires two steps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1's complement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2's complement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7B35EB08-7965-4AFA-9EDC-F8E1EAD9EC4C}" type="slidenum">
              <a:rPr lang="en-AU" altLang="zh-CN" sz="1400"/>
            </a:fld>
            <a:endParaRPr lang="en-AU" altLang="zh-CN" sz="1400"/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ea typeface="宋体" panose="02010600030101010101" pitchFamily="2" charset="-122"/>
              </a:rPr>
              <a:t>2s-Complement Signed Integers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477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Given an n-bit number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0965" name="Object 4"/>
          <p:cNvGraphicFramePr>
            <a:graphicFrameLocks noChangeAspect="1"/>
          </p:cNvGraphicFramePr>
          <p:nvPr/>
        </p:nvGraphicFramePr>
        <p:xfrm>
          <a:off x="1433513" y="1844675"/>
          <a:ext cx="62230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6" name="Equation" r:id="rId1" imgW="2590800" imgH="241300" progId="Equation.3">
                  <p:embed/>
                </p:oleObj>
              </mc:Choice>
              <mc:Fallback>
                <p:oleObj name="Equation" r:id="rId1" imgW="25908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513" y="1844675"/>
                        <a:ext cx="6223000" cy="579438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684213" y="2565400"/>
            <a:ext cx="8270875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/>
              <a:t>Range: –2</a:t>
            </a:r>
            <a:r>
              <a:rPr lang="en-US" altLang="zh-CN" baseline="30000"/>
              <a:t>n – 1</a:t>
            </a:r>
            <a:r>
              <a:rPr lang="en-US" altLang="zh-CN"/>
              <a:t> to +2</a:t>
            </a:r>
            <a:r>
              <a:rPr lang="en-US" altLang="zh-CN" baseline="30000"/>
              <a:t>n – 1</a:t>
            </a:r>
            <a:r>
              <a:rPr lang="en-US" altLang="zh-CN"/>
              <a:t> – 1</a:t>
            </a:r>
            <a:endParaRPr lang="en-US" altLang="zh-CN"/>
          </a:p>
          <a:p>
            <a:pPr eaLnBrk="1" hangingPunct="1"/>
            <a:r>
              <a:rPr lang="en-US" altLang="zh-CN"/>
              <a:t>Example</a:t>
            </a:r>
            <a:endParaRPr lang="en-US" altLang="zh-CN"/>
          </a:p>
          <a:p>
            <a:pPr lvl="1" eaLnBrk="1" hangingPunct="1"/>
            <a:r>
              <a:rPr lang="en-US" altLang="zh-CN" sz="2400"/>
              <a:t>1111 1111 1111 1111 1111 1111 1111 1100</a:t>
            </a:r>
            <a:r>
              <a:rPr lang="en-US" altLang="zh-CN" sz="2400" baseline="-25000"/>
              <a:t>2</a:t>
            </a:r>
            <a:br>
              <a:rPr lang="en-US" altLang="zh-CN" sz="2400"/>
            </a:br>
            <a:r>
              <a:rPr lang="en-US" altLang="zh-CN" sz="2400"/>
              <a:t>= –1×2</a:t>
            </a:r>
            <a:r>
              <a:rPr lang="en-US" altLang="zh-CN" sz="2400" baseline="30000"/>
              <a:t>31</a:t>
            </a:r>
            <a:r>
              <a:rPr lang="en-US" altLang="zh-CN" sz="2400"/>
              <a:t> + 1×2</a:t>
            </a:r>
            <a:r>
              <a:rPr lang="en-US" altLang="zh-CN" sz="2400" baseline="30000"/>
              <a:t>30</a:t>
            </a:r>
            <a:r>
              <a:rPr lang="en-US" altLang="zh-CN" sz="2400"/>
              <a:t> + … + 1×2</a:t>
            </a:r>
            <a:r>
              <a:rPr lang="en-US" altLang="zh-CN" sz="2400" baseline="30000"/>
              <a:t>2</a:t>
            </a:r>
            <a:r>
              <a:rPr lang="en-US" altLang="zh-CN" sz="2400"/>
              <a:t> +0×2</a:t>
            </a:r>
            <a:r>
              <a:rPr lang="en-US" altLang="zh-CN" sz="2400" baseline="30000"/>
              <a:t>1</a:t>
            </a:r>
            <a:r>
              <a:rPr lang="en-US" altLang="zh-CN" sz="2400"/>
              <a:t> +0×2</a:t>
            </a:r>
            <a:r>
              <a:rPr lang="en-US" altLang="zh-CN" sz="2400" baseline="30000"/>
              <a:t>0</a:t>
            </a:r>
            <a:br>
              <a:rPr lang="en-US" altLang="zh-CN" sz="2400"/>
            </a:br>
            <a:r>
              <a:rPr lang="en-US" altLang="zh-CN" sz="2400"/>
              <a:t>= –2,147,483,648 + 2,147,483,644 = –4</a:t>
            </a:r>
            <a:r>
              <a:rPr lang="en-US" altLang="zh-CN" sz="2400" baseline="-25000"/>
              <a:t>10</a:t>
            </a:r>
            <a:endParaRPr lang="en-US" altLang="zh-CN" sz="2400"/>
          </a:p>
          <a:p>
            <a:pPr eaLnBrk="1" hangingPunct="1"/>
            <a:r>
              <a:rPr lang="en-US" altLang="zh-CN"/>
              <a:t>Using 32 bits</a:t>
            </a:r>
            <a:endParaRPr lang="en-US" altLang="zh-CN"/>
          </a:p>
          <a:p>
            <a:pPr lvl="1" eaLnBrk="1" hangingPunct="1"/>
            <a:r>
              <a:rPr lang="en-US" altLang="zh-CN"/>
              <a:t>–2,147,483,648 to +2,147,483,647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DBEE285-EA95-406C-B2B6-4C75D60D5A0A}" type="slidenum">
              <a:rPr lang="en-AU" altLang="zh-CN" sz="1400"/>
            </a:fld>
            <a:endParaRPr lang="en-AU" altLang="zh-CN" sz="1400"/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ea typeface="宋体" panose="02010600030101010101" pitchFamily="2" charset="-122"/>
              </a:rPr>
              <a:t>2s-Complement Signed Integers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2253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45978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800" smtClean="0">
                <a:ea typeface="宋体" panose="02010600030101010101" pitchFamily="2" charset="-122"/>
              </a:rPr>
              <a:t>Bit 31 is sign bit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400" smtClean="0">
                <a:ea typeface="宋体" panose="02010600030101010101" pitchFamily="2" charset="-122"/>
              </a:rPr>
              <a:t>1 for negative numbers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400" smtClean="0">
                <a:ea typeface="宋体" panose="02010600030101010101" pitchFamily="2" charset="-122"/>
              </a:rPr>
              <a:t>0 for non-negative numbers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AU" altLang="zh-CN" sz="2800" smtClean="0">
                <a:ea typeface="宋体" panose="02010600030101010101" pitchFamily="2" charset="-122"/>
              </a:rPr>
              <a:t>–(–2</a:t>
            </a:r>
            <a:r>
              <a:rPr lang="en-AU" altLang="zh-CN" sz="2800" baseline="30000" smtClean="0">
                <a:ea typeface="宋体" panose="02010600030101010101" pitchFamily="2" charset="-122"/>
              </a:rPr>
              <a:t>n – 1</a:t>
            </a:r>
            <a:r>
              <a:rPr lang="en-AU" altLang="zh-CN" sz="2800" smtClean="0">
                <a:ea typeface="宋体" panose="02010600030101010101" pitchFamily="2" charset="-122"/>
              </a:rPr>
              <a:t>) can’t be represented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800" smtClean="0">
                <a:ea typeface="宋体" panose="02010600030101010101" pitchFamily="2" charset="-122"/>
              </a:rPr>
              <a:t>Non-negative numbers have the same unsigned and 2s-complement representation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800" smtClean="0">
                <a:ea typeface="宋体" panose="02010600030101010101" pitchFamily="2" charset="-122"/>
              </a:rPr>
              <a:t>Some specific numbers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400" smtClean="0">
                <a:ea typeface="宋体" panose="02010600030101010101" pitchFamily="2" charset="-122"/>
              </a:rPr>
              <a:t>  0:	0000 0000 … 0000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AU" altLang="zh-CN" sz="2400" smtClean="0">
                <a:ea typeface="宋体" panose="02010600030101010101" pitchFamily="2" charset="-122"/>
              </a:rPr>
              <a:t>–1:	1111 1111 … 1111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400" smtClean="0">
                <a:ea typeface="宋体" panose="02010600030101010101" pitchFamily="2" charset="-122"/>
              </a:rPr>
              <a:t>Most-negative:	1000 0000 … 0000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400" smtClean="0">
                <a:ea typeface="宋体" panose="02010600030101010101" pitchFamily="2" charset="-122"/>
              </a:rPr>
              <a:t>Most-positive:	0111 1111 … 1111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800" smtClean="0">
                <a:ea typeface="宋体" panose="02010600030101010101" pitchFamily="2" charset="-122"/>
              </a:rPr>
              <a:t>By default, all data in MIPS is a signed integer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tabLst>
                <a:tab pos="1341120" algn="l"/>
                <a:tab pos="2874645" algn="l"/>
              </a:tabLst>
            </a:pPr>
            <a:r>
              <a:rPr lang="en-US" altLang="zh-CN" sz="2400" smtClean="0">
                <a:ea typeface="宋体" panose="02010600030101010101" pitchFamily="2" charset="-122"/>
              </a:rPr>
              <a:t>add vs. addu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115F75D-0892-42C3-9959-AA5E88574C22}" type="slidenum">
              <a:rPr lang="en-AU" altLang="zh-CN" sz="1400"/>
            </a:fld>
            <a:endParaRPr lang="en-AU" altLang="zh-CN" sz="1400"/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Signed Negation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29540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Complement and add 1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Complement means 1 </a:t>
            </a: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</a:rPr>
              <a:t>→ </a:t>
            </a:r>
            <a:r>
              <a:rPr lang="en-US" altLang="zh-CN" smtClean="0">
                <a:ea typeface="宋体" panose="02010600030101010101" pitchFamily="2" charset="-122"/>
              </a:rPr>
              <a:t>0, 0 → 1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5061" name="Object 4"/>
          <p:cNvGraphicFramePr>
            <a:graphicFrameLocks noChangeAspect="1"/>
          </p:cNvGraphicFramePr>
          <p:nvPr/>
        </p:nvGraphicFramePr>
        <p:xfrm>
          <a:off x="1592263" y="2536825"/>
          <a:ext cx="35147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2" name="Equation" r:id="rId1" imgW="1562100" imgH="508000" progId="Equation.3">
                  <p:embed/>
                </p:oleObj>
              </mc:Choice>
              <mc:Fallback>
                <p:oleObj name="Equation" r:id="rId1" imgW="1562100" imgH="50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2536825"/>
                        <a:ext cx="3514725" cy="1143000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684213" y="3933825"/>
            <a:ext cx="8270875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/>
              <a:t>Example: negate +2</a:t>
            </a:r>
            <a:endParaRPr lang="en-US" altLang="zh-CN"/>
          </a:p>
          <a:p>
            <a:pPr lvl="1" eaLnBrk="1" hangingPunct="1"/>
            <a:r>
              <a:rPr lang="en-US" altLang="zh-CN"/>
              <a:t>+2 = 0000 0000 … 0010</a:t>
            </a:r>
            <a:r>
              <a:rPr lang="en-US" altLang="zh-CN" baseline="-25000"/>
              <a:t>2</a:t>
            </a:r>
            <a:endParaRPr lang="en-US" altLang="zh-CN"/>
          </a:p>
          <a:p>
            <a:pPr lvl="1" eaLnBrk="1" hangingPunct="1"/>
            <a:r>
              <a:rPr lang="en-US" altLang="zh-CN"/>
              <a:t>–2 = 1111 1111 … 1101</a:t>
            </a:r>
            <a:r>
              <a:rPr lang="en-US" altLang="zh-CN" baseline="-25000"/>
              <a:t>2</a:t>
            </a:r>
            <a:r>
              <a:rPr lang="en-US" altLang="zh-CN"/>
              <a:t> + 1</a:t>
            </a:r>
            <a:br>
              <a:rPr lang="en-US" altLang="zh-CN"/>
            </a:br>
            <a:r>
              <a:rPr lang="en-US" altLang="zh-CN"/>
              <a:t>     = 1111 1111 … 1110</a:t>
            </a:r>
            <a:r>
              <a:rPr lang="en-US" altLang="zh-CN" baseline="-25000"/>
              <a:t>2</a:t>
            </a:r>
            <a:endParaRPr lang="en-US" altLang="zh-CN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1E07752-0DF2-4C0A-8497-A90953292A43}" type="slidenum">
              <a:rPr lang="en-AU" altLang="zh-CN" sz="1400"/>
            </a:fld>
            <a:endParaRPr lang="en-AU" altLang="zh-CN" sz="1400"/>
          </a:p>
        </p:txBody>
      </p:sp>
      <p:sp>
        <p:nvSpPr>
          <p:cNvPr id="471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Sign Extension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How to represent a number using more bits?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e.g. 16 bit number as a 32 bit number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Must preserve the numeric value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chemeClr val="tx2"/>
                </a:solidFill>
                <a:ea typeface="宋体" panose="02010600030101010101" pitchFamily="2" charset="-122"/>
              </a:rPr>
              <a:t>Replicate the sign bit to the left</a:t>
            </a:r>
            <a:endParaRPr lang="en-US" altLang="zh-CN" sz="2800" smtClean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c.f. unsigned values: extend with 0s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Examples: 8-bit to 16-bit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+2: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smtClean="0">
                <a:ea typeface="宋体" panose="02010600030101010101" pitchFamily="2" charset="-122"/>
              </a:rPr>
              <a:t>000 0010 =&gt;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0000 0000 0</a:t>
            </a:r>
            <a:r>
              <a:rPr lang="en-US" altLang="zh-CN" sz="2400" smtClean="0">
                <a:ea typeface="宋体" panose="02010600030101010101" pitchFamily="2" charset="-122"/>
              </a:rPr>
              <a:t>000 0010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smtClean="0">
                <a:ea typeface="宋体" panose="02010600030101010101" pitchFamily="2" charset="-122"/>
              </a:rPr>
              <a:t>–2: </a:t>
            </a:r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AU" altLang="zh-CN" sz="2400" smtClean="0">
                <a:ea typeface="宋体" panose="02010600030101010101" pitchFamily="2" charset="-122"/>
              </a:rPr>
              <a:t>111 1110 =&gt; </a:t>
            </a:r>
            <a:r>
              <a:rPr lang="en-AU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1111 1111 1</a:t>
            </a:r>
            <a:r>
              <a:rPr lang="en-AU" altLang="zh-CN" sz="2400" smtClean="0">
                <a:ea typeface="宋体" panose="02010600030101010101" pitchFamily="2" charset="-122"/>
              </a:rPr>
              <a:t>111 1110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In MIPS instruction set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addi</a:t>
            </a:r>
            <a:r>
              <a:rPr lang="en-US" altLang="zh-CN" sz="2400" smtClean="0">
                <a:ea typeface="宋体" panose="02010600030101010101" pitchFamily="2" charset="-122"/>
              </a:rPr>
              <a:t>: extend immediate value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lb</a:t>
            </a:r>
            <a:r>
              <a:rPr lang="en-US" altLang="zh-CN" sz="2400" smtClean="0">
                <a:ea typeface="宋体" panose="02010600030101010101" pitchFamily="2" charset="-122"/>
              </a:rPr>
              <a:t>, </a:t>
            </a: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lh</a:t>
            </a:r>
            <a:r>
              <a:rPr lang="en-US" altLang="zh-CN" sz="2400" smtClean="0">
                <a:ea typeface="宋体" panose="02010600030101010101" pitchFamily="2" charset="-122"/>
              </a:rPr>
              <a:t>: extend loaded byte/halfword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r>
              <a:rPr lang="en-US" altLang="zh-CN" sz="2400" smtClean="0">
                <a:ea typeface="宋体" panose="02010600030101010101" pitchFamily="2" charset="-122"/>
              </a:rPr>
              <a:t>, </a:t>
            </a: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bne</a:t>
            </a:r>
            <a:r>
              <a:rPr lang="en-US" altLang="zh-CN" sz="2400" smtClean="0">
                <a:ea typeface="宋体" panose="02010600030101010101" pitchFamily="2" charset="-122"/>
              </a:rPr>
              <a:t>: extend the displacement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261A498B-435E-40BB-A8B6-5B0ED73F5D55}" type="slidenum">
              <a:rPr lang="en-AU" altLang="zh-CN" sz="1400"/>
            </a:fld>
            <a:endParaRPr lang="en-AU" altLang="zh-CN" sz="1400"/>
          </a:p>
        </p:txBody>
      </p:sp>
      <p:sp>
        <p:nvSpPr>
          <p:cNvPr id="491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Representing Instructions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915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Instructions are encoded in binary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Called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machine code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MIPS instructions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Encoded as 32-bit instruction words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Small number of formats encoding operation code (opcode), register numbers, …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Regularity!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Register numbers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$t0 – $t7 </a:t>
            </a:r>
            <a:r>
              <a:rPr lang="en-US" altLang="zh-CN" sz="2400" smtClean="0">
                <a:ea typeface="宋体" panose="02010600030101010101" pitchFamily="2" charset="-122"/>
              </a:rPr>
              <a:t>are reg’s 8 – 15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$t8 – $t9 </a:t>
            </a:r>
            <a:r>
              <a:rPr lang="en-US" altLang="zh-CN" sz="2400" smtClean="0">
                <a:ea typeface="宋体" panose="02010600030101010101" pitchFamily="2" charset="-122"/>
              </a:rPr>
              <a:t>are reg’s 24 – 25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$s0 – $s7 </a:t>
            </a:r>
            <a:r>
              <a:rPr lang="en-US" altLang="zh-CN" sz="2400" smtClean="0">
                <a:ea typeface="宋体" panose="02010600030101010101" pitchFamily="2" charset="-122"/>
              </a:rPr>
              <a:t>are reg’s 16 – 23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  <p:sp>
        <p:nvSpPr>
          <p:cNvPr id="49157" name="Text Box 4"/>
          <p:cNvSpPr txBox="1">
            <a:spLocks noChangeArrowheads="1"/>
          </p:cNvSpPr>
          <p:nvPr/>
        </p:nvSpPr>
        <p:spPr bwMode="auto">
          <a:xfrm rot="5400000">
            <a:off x="6474619" y="2302669"/>
            <a:ext cx="4972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§2.5 Representing Instructions in the Computer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MIPS-32 ISA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51203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A6C4678-3957-4649-B4DD-88AF32EA8C57}" type="slidenum">
              <a:rPr lang="en-AU" altLang="zh-CN" sz="1400"/>
            </a:fld>
            <a:endParaRPr lang="en-AU" altLang="zh-CN" sz="1400"/>
          </a:p>
        </p:txBody>
      </p:sp>
      <p:sp>
        <p:nvSpPr>
          <p:cNvPr id="51204" name="Rectangle 4"/>
          <p:cNvSpPr>
            <a:spLocks noGrp="1" noChangeArrowheads="1"/>
          </p:cNvSpPr>
          <p:nvPr/>
        </p:nvSpPr>
        <p:spPr bwMode="auto">
          <a:xfrm>
            <a:off x="571500" y="1143000"/>
            <a:ext cx="5448300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6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zh-CN" sz="2400"/>
              <a:t>Instruction Categories</a:t>
            </a:r>
            <a:endParaRPr lang="en-US" altLang="zh-CN" sz="2400"/>
          </a:p>
          <a:p>
            <a:pPr lvl="1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Computational </a:t>
            </a:r>
            <a:endParaRPr lang="en-US" altLang="zh-CN" sz="2000"/>
          </a:p>
          <a:p>
            <a:pPr lvl="1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Load/Store</a:t>
            </a:r>
            <a:endParaRPr lang="en-US" altLang="zh-CN" sz="2000"/>
          </a:p>
          <a:p>
            <a:pPr lvl="1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Jump and Branch</a:t>
            </a:r>
            <a:endParaRPr lang="en-US" altLang="zh-CN" sz="2000"/>
          </a:p>
          <a:p>
            <a:pPr lvl="1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Floating Point</a:t>
            </a:r>
            <a:endParaRPr lang="en-US" altLang="zh-CN" sz="2000"/>
          </a:p>
          <a:p>
            <a:pPr lvl="2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None/>
            </a:pPr>
            <a:r>
              <a:rPr lang="en-US" altLang="zh-CN" sz="1800"/>
              <a:t>--coprocessor</a:t>
            </a:r>
            <a:endParaRPr lang="en-US" altLang="zh-CN" sz="1800"/>
          </a:p>
          <a:p>
            <a:pPr lvl="1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Memory Management</a:t>
            </a:r>
            <a:endParaRPr lang="en-US" altLang="zh-CN" sz="2000"/>
          </a:p>
          <a:p>
            <a:pPr lvl="1">
              <a:lnSpc>
                <a:spcPct val="85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Special</a:t>
            </a:r>
            <a:endParaRPr lang="en-US" altLang="zh-CN" sz="2000"/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5518150" y="1301750"/>
            <a:ext cx="1993900" cy="163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51206" name="Rectangle 5"/>
          <p:cNvSpPr>
            <a:spLocks noChangeArrowheads="1"/>
          </p:cNvSpPr>
          <p:nvPr/>
        </p:nvSpPr>
        <p:spPr bwMode="auto">
          <a:xfrm>
            <a:off x="5892800" y="1670050"/>
            <a:ext cx="1041400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R0 - R31</a:t>
            </a:r>
            <a:endParaRPr lang="en-US" altLang="zh-CN" sz="1800" b="1"/>
          </a:p>
        </p:txBody>
      </p:sp>
      <p:sp>
        <p:nvSpPr>
          <p:cNvPr id="51207" name="Rectangle 6"/>
          <p:cNvSpPr>
            <a:spLocks noChangeArrowheads="1"/>
          </p:cNvSpPr>
          <p:nvPr/>
        </p:nvSpPr>
        <p:spPr bwMode="auto">
          <a:xfrm>
            <a:off x="5518150" y="3028950"/>
            <a:ext cx="1993900" cy="241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51208" name="Rectangle 7"/>
          <p:cNvSpPr>
            <a:spLocks noChangeArrowheads="1"/>
          </p:cNvSpPr>
          <p:nvPr/>
        </p:nvSpPr>
        <p:spPr bwMode="auto">
          <a:xfrm>
            <a:off x="5518150" y="3333750"/>
            <a:ext cx="1993900" cy="241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51209" name="Rectangle 8"/>
          <p:cNvSpPr>
            <a:spLocks noChangeArrowheads="1"/>
          </p:cNvSpPr>
          <p:nvPr/>
        </p:nvSpPr>
        <p:spPr bwMode="auto">
          <a:xfrm>
            <a:off x="5518150" y="3663950"/>
            <a:ext cx="1993900" cy="241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51210" name="Rectangle 9"/>
          <p:cNvSpPr>
            <a:spLocks noChangeArrowheads="1"/>
          </p:cNvSpPr>
          <p:nvPr/>
        </p:nvSpPr>
        <p:spPr bwMode="auto">
          <a:xfrm>
            <a:off x="6229350" y="3016250"/>
            <a:ext cx="4572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PC</a:t>
            </a:r>
            <a:endParaRPr lang="en-US" altLang="zh-CN" sz="1800" b="1"/>
          </a:p>
        </p:txBody>
      </p:sp>
      <p:sp>
        <p:nvSpPr>
          <p:cNvPr id="51211" name="Rectangle 10"/>
          <p:cNvSpPr>
            <a:spLocks noChangeArrowheads="1"/>
          </p:cNvSpPr>
          <p:nvPr/>
        </p:nvSpPr>
        <p:spPr bwMode="auto">
          <a:xfrm>
            <a:off x="6229350" y="3321050"/>
            <a:ext cx="3683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HI</a:t>
            </a:r>
            <a:endParaRPr lang="en-US" altLang="zh-CN" sz="1800" b="1"/>
          </a:p>
        </p:txBody>
      </p:sp>
      <p:sp>
        <p:nvSpPr>
          <p:cNvPr id="51212" name="Rectangle 11"/>
          <p:cNvSpPr>
            <a:spLocks noChangeArrowheads="1"/>
          </p:cNvSpPr>
          <p:nvPr/>
        </p:nvSpPr>
        <p:spPr bwMode="auto">
          <a:xfrm>
            <a:off x="6229350" y="3676650"/>
            <a:ext cx="45720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3500" tIns="25400" rIns="63500" bIns="254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LO</a:t>
            </a:r>
            <a:endParaRPr lang="en-US" altLang="zh-CN" sz="1800" b="1"/>
          </a:p>
        </p:txBody>
      </p:sp>
      <p:sp>
        <p:nvSpPr>
          <p:cNvPr id="51213" name="Rectangle 37"/>
          <p:cNvSpPr>
            <a:spLocks noChangeArrowheads="1"/>
          </p:cNvSpPr>
          <p:nvPr/>
        </p:nvSpPr>
        <p:spPr bwMode="auto">
          <a:xfrm>
            <a:off x="5867400" y="914400"/>
            <a:ext cx="11461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Registers</a:t>
            </a:r>
            <a:endParaRPr lang="en-US" altLang="zh-CN" sz="1800"/>
          </a:p>
        </p:txBody>
      </p:sp>
      <p:grpSp>
        <p:nvGrpSpPr>
          <p:cNvPr id="2" name="Group 42"/>
          <p:cNvGrpSpPr/>
          <p:nvPr/>
        </p:nvGrpSpPr>
        <p:grpSpPr bwMode="auto">
          <a:xfrm>
            <a:off x="819150" y="4362450"/>
            <a:ext cx="7553325" cy="1885950"/>
            <a:chOff x="516" y="2748"/>
            <a:chExt cx="4758" cy="1188"/>
          </a:xfrm>
        </p:grpSpPr>
        <p:sp>
          <p:nvSpPr>
            <p:cNvPr id="51215" name="Rectangle 12"/>
            <p:cNvSpPr>
              <a:spLocks noChangeArrowheads="1"/>
            </p:cNvSpPr>
            <p:nvPr/>
          </p:nvSpPr>
          <p:spPr bwMode="auto">
            <a:xfrm>
              <a:off x="672" y="3061"/>
              <a:ext cx="792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16" name="Rectangle 13"/>
            <p:cNvSpPr>
              <a:spLocks noChangeArrowheads="1"/>
            </p:cNvSpPr>
            <p:nvPr/>
          </p:nvSpPr>
          <p:spPr bwMode="auto">
            <a:xfrm>
              <a:off x="864" y="3085"/>
              <a:ext cx="25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op</a:t>
              </a:r>
              <a:endParaRPr lang="en-US" altLang="zh-CN" sz="1800" b="1"/>
            </a:p>
          </p:txBody>
        </p:sp>
        <p:sp>
          <p:nvSpPr>
            <p:cNvPr id="51217" name="Rectangle 14"/>
            <p:cNvSpPr>
              <a:spLocks noChangeArrowheads="1"/>
            </p:cNvSpPr>
            <p:nvPr/>
          </p:nvSpPr>
          <p:spPr bwMode="auto">
            <a:xfrm>
              <a:off x="1472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18" name="Rectangle 15"/>
            <p:cNvSpPr>
              <a:spLocks noChangeArrowheads="1"/>
            </p:cNvSpPr>
            <p:nvPr/>
          </p:nvSpPr>
          <p:spPr bwMode="auto">
            <a:xfrm>
              <a:off x="2080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19" name="Rectangle 16"/>
            <p:cNvSpPr>
              <a:spLocks noChangeArrowheads="1"/>
            </p:cNvSpPr>
            <p:nvPr/>
          </p:nvSpPr>
          <p:spPr bwMode="auto">
            <a:xfrm>
              <a:off x="672" y="3365"/>
              <a:ext cx="792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0" name="Rectangle 17"/>
            <p:cNvSpPr>
              <a:spLocks noChangeArrowheads="1"/>
            </p:cNvSpPr>
            <p:nvPr/>
          </p:nvSpPr>
          <p:spPr bwMode="auto">
            <a:xfrm>
              <a:off x="864" y="3389"/>
              <a:ext cx="25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op</a:t>
              </a:r>
              <a:endParaRPr lang="en-US" altLang="zh-CN" sz="1800" b="1"/>
            </a:p>
          </p:txBody>
        </p:sp>
        <p:sp>
          <p:nvSpPr>
            <p:cNvPr id="51221" name="Rectangle 18"/>
            <p:cNvSpPr>
              <a:spLocks noChangeArrowheads="1"/>
            </p:cNvSpPr>
            <p:nvPr/>
          </p:nvSpPr>
          <p:spPr bwMode="auto">
            <a:xfrm>
              <a:off x="1472" y="3365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2" name="Rectangle 19"/>
            <p:cNvSpPr>
              <a:spLocks noChangeArrowheads="1"/>
            </p:cNvSpPr>
            <p:nvPr/>
          </p:nvSpPr>
          <p:spPr bwMode="auto">
            <a:xfrm>
              <a:off x="2080" y="3365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3" name="Rectangle 20"/>
            <p:cNvSpPr>
              <a:spLocks noChangeArrowheads="1"/>
            </p:cNvSpPr>
            <p:nvPr/>
          </p:nvSpPr>
          <p:spPr bwMode="auto">
            <a:xfrm>
              <a:off x="2688" y="3365"/>
              <a:ext cx="188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4" name="Rectangle 21"/>
            <p:cNvSpPr>
              <a:spLocks noChangeArrowheads="1"/>
            </p:cNvSpPr>
            <p:nvPr/>
          </p:nvSpPr>
          <p:spPr bwMode="auto">
            <a:xfrm>
              <a:off x="672" y="3685"/>
              <a:ext cx="792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5" name="Rectangle 22"/>
            <p:cNvSpPr>
              <a:spLocks noChangeArrowheads="1"/>
            </p:cNvSpPr>
            <p:nvPr/>
          </p:nvSpPr>
          <p:spPr bwMode="auto">
            <a:xfrm>
              <a:off x="864" y="3709"/>
              <a:ext cx="25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op</a:t>
              </a:r>
              <a:endParaRPr lang="en-US" altLang="zh-CN" sz="1800" b="1"/>
            </a:p>
          </p:txBody>
        </p:sp>
        <p:sp>
          <p:nvSpPr>
            <p:cNvPr id="51226" name="Rectangle 23"/>
            <p:cNvSpPr>
              <a:spLocks noChangeArrowheads="1"/>
            </p:cNvSpPr>
            <p:nvPr/>
          </p:nvSpPr>
          <p:spPr bwMode="auto">
            <a:xfrm>
              <a:off x="1472" y="3685"/>
              <a:ext cx="3096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7" name="Rectangle 24"/>
            <p:cNvSpPr>
              <a:spLocks noChangeArrowheads="1"/>
            </p:cNvSpPr>
            <p:nvPr/>
          </p:nvSpPr>
          <p:spPr bwMode="auto">
            <a:xfrm>
              <a:off x="2688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8" name="Rectangle 25"/>
            <p:cNvSpPr>
              <a:spLocks noChangeArrowheads="1"/>
            </p:cNvSpPr>
            <p:nvPr/>
          </p:nvSpPr>
          <p:spPr bwMode="auto">
            <a:xfrm>
              <a:off x="3296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29" name="Rectangle 26"/>
            <p:cNvSpPr>
              <a:spLocks noChangeArrowheads="1"/>
            </p:cNvSpPr>
            <p:nvPr/>
          </p:nvSpPr>
          <p:spPr bwMode="auto">
            <a:xfrm>
              <a:off x="3904" y="3061"/>
              <a:ext cx="664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51230" name="Rectangle 27"/>
            <p:cNvSpPr>
              <a:spLocks noChangeArrowheads="1"/>
            </p:cNvSpPr>
            <p:nvPr/>
          </p:nvSpPr>
          <p:spPr bwMode="auto">
            <a:xfrm>
              <a:off x="1552" y="3085"/>
              <a:ext cx="21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rs</a:t>
              </a:r>
              <a:endParaRPr lang="en-US" altLang="zh-CN" sz="1800" b="1"/>
            </a:p>
          </p:txBody>
        </p:sp>
        <p:sp>
          <p:nvSpPr>
            <p:cNvPr id="51231" name="Rectangle 28"/>
            <p:cNvSpPr>
              <a:spLocks noChangeArrowheads="1"/>
            </p:cNvSpPr>
            <p:nvPr/>
          </p:nvSpPr>
          <p:spPr bwMode="auto">
            <a:xfrm>
              <a:off x="2208" y="3101"/>
              <a:ext cx="18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rt</a:t>
              </a:r>
              <a:endParaRPr lang="en-US" altLang="zh-CN" sz="1800" b="1"/>
            </a:p>
          </p:txBody>
        </p:sp>
        <p:sp>
          <p:nvSpPr>
            <p:cNvPr id="51232" name="Rectangle 29"/>
            <p:cNvSpPr>
              <a:spLocks noChangeArrowheads="1"/>
            </p:cNvSpPr>
            <p:nvPr/>
          </p:nvSpPr>
          <p:spPr bwMode="auto">
            <a:xfrm>
              <a:off x="2832" y="3085"/>
              <a:ext cx="22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rd</a:t>
              </a:r>
              <a:endParaRPr lang="en-US" altLang="zh-CN" sz="1800" b="1"/>
            </a:p>
          </p:txBody>
        </p:sp>
        <p:sp>
          <p:nvSpPr>
            <p:cNvPr id="51233" name="Rectangle 30"/>
            <p:cNvSpPr>
              <a:spLocks noChangeArrowheads="1"/>
            </p:cNvSpPr>
            <p:nvPr/>
          </p:nvSpPr>
          <p:spPr bwMode="auto">
            <a:xfrm>
              <a:off x="3408" y="3085"/>
              <a:ext cx="24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sa</a:t>
              </a:r>
              <a:endParaRPr lang="en-US" altLang="zh-CN" sz="1800" b="1"/>
            </a:p>
          </p:txBody>
        </p:sp>
        <p:sp>
          <p:nvSpPr>
            <p:cNvPr id="51234" name="Rectangle 31"/>
            <p:cNvSpPr>
              <a:spLocks noChangeArrowheads="1"/>
            </p:cNvSpPr>
            <p:nvPr/>
          </p:nvSpPr>
          <p:spPr bwMode="auto">
            <a:xfrm>
              <a:off x="3984" y="3085"/>
              <a:ext cx="43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funct</a:t>
              </a:r>
              <a:endParaRPr lang="en-US" altLang="zh-CN" sz="1800" b="1"/>
            </a:p>
          </p:txBody>
        </p:sp>
        <p:sp>
          <p:nvSpPr>
            <p:cNvPr id="51235" name="Rectangle 32"/>
            <p:cNvSpPr>
              <a:spLocks noChangeArrowheads="1"/>
            </p:cNvSpPr>
            <p:nvPr/>
          </p:nvSpPr>
          <p:spPr bwMode="auto">
            <a:xfrm>
              <a:off x="1568" y="3389"/>
              <a:ext cx="21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rs</a:t>
              </a:r>
              <a:endParaRPr lang="en-US" altLang="zh-CN" sz="1800" b="1"/>
            </a:p>
          </p:txBody>
        </p:sp>
        <p:sp>
          <p:nvSpPr>
            <p:cNvPr id="51236" name="Rectangle 33"/>
            <p:cNvSpPr>
              <a:spLocks noChangeArrowheads="1"/>
            </p:cNvSpPr>
            <p:nvPr/>
          </p:nvSpPr>
          <p:spPr bwMode="auto">
            <a:xfrm>
              <a:off x="2224" y="3405"/>
              <a:ext cx="18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rt</a:t>
              </a:r>
              <a:endParaRPr lang="en-US" altLang="zh-CN" sz="1800" b="1"/>
            </a:p>
          </p:txBody>
        </p:sp>
        <p:sp>
          <p:nvSpPr>
            <p:cNvPr id="51237" name="Rectangle 34"/>
            <p:cNvSpPr>
              <a:spLocks noChangeArrowheads="1"/>
            </p:cNvSpPr>
            <p:nvPr/>
          </p:nvSpPr>
          <p:spPr bwMode="auto">
            <a:xfrm>
              <a:off x="2928" y="3421"/>
              <a:ext cx="792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immediate</a:t>
              </a:r>
              <a:endParaRPr lang="en-US" altLang="zh-CN" sz="1800" b="1"/>
            </a:p>
          </p:txBody>
        </p:sp>
        <p:sp>
          <p:nvSpPr>
            <p:cNvPr id="51238" name="Rectangle 35"/>
            <p:cNvSpPr>
              <a:spLocks noChangeArrowheads="1"/>
            </p:cNvSpPr>
            <p:nvPr/>
          </p:nvSpPr>
          <p:spPr bwMode="auto">
            <a:xfrm>
              <a:off x="2288" y="3757"/>
              <a:ext cx="864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jump target</a:t>
              </a:r>
              <a:endParaRPr lang="en-US" altLang="zh-CN" sz="1800" b="1"/>
            </a:p>
          </p:txBody>
        </p:sp>
        <p:sp>
          <p:nvSpPr>
            <p:cNvPr id="51239" name="Rectangle 36"/>
            <p:cNvSpPr>
              <a:spLocks noChangeArrowheads="1"/>
            </p:cNvSpPr>
            <p:nvPr/>
          </p:nvSpPr>
          <p:spPr bwMode="auto">
            <a:xfrm>
              <a:off x="516" y="2748"/>
              <a:ext cx="2656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3500" tIns="25400" rIns="63500" bIns="254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 smtClean="0"/>
                <a:t> </a:t>
              </a:r>
              <a:r>
                <a:rPr lang="en-US" altLang="zh-CN" sz="1800" b="1" dirty="0"/>
                <a:t>Instruction Formats: 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all 32 bits wide</a:t>
              </a:r>
              <a:endParaRPr lang="en-US" altLang="zh-CN" sz="1800" b="1" dirty="0">
                <a:solidFill>
                  <a:srgbClr val="FF0000"/>
                </a:solidFill>
              </a:endParaRPr>
            </a:p>
          </p:txBody>
        </p:sp>
        <p:sp>
          <p:nvSpPr>
            <p:cNvPr id="51240" name="Rectangle 39"/>
            <p:cNvSpPr>
              <a:spLocks noChangeArrowheads="1"/>
            </p:cNvSpPr>
            <p:nvPr/>
          </p:nvSpPr>
          <p:spPr bwMode="auto">
            <a:xfrm>
              <a:off x="4608" y="3057"/>
              <a:ext cx="666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R format</a:t>
              </a:r>
              <a:endParaRPr lang="en-US" altLang="zh-CN" sz="1800"/>
            </a:p>
          </p:txBody>
        </p:sp>
        <p:sp>
          <p:nvSpPr>
            <p:cNvPr id="51241" name="Rectangle 40"/>
            <p:cNvSpPr>
              <a:spLocks noChangeArrowheads="1"/>
            </p:cNvSpPr>
            <p:nvPr/>
          </p:nvSpPr>
          <p:spPr bwMode="auto">
            <a:xfrm>
              <a:off x="4608" y="3345"/>
              <a:ext cx="60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I format</a:t>
              </a:r>
              <a:endParaRPr lang="en-US" altLang="zh-CN" sz="1800"/>
            </a:p>
          </p:txBody>
        </p:sp>
        <p:sp>
          <p:nvSpPr>
            <p:cNvPr id="51242" name="Rectangle 41"/>
            <p:cNvSpPr>
              <a:spLocks noChangeArrowheads="1"/>
            </p:cNvSpPr>
            <p:nvPr/>
          </p:nvSpPr>
          <p:spPr bwMode="auto">
            <a:xfrm>
              <a:off x="4608" y="3681"/>
              <a:ext cx="63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J format</a:t>
              </a:r>
              <a:endParaRPr lang="en-US" altLang="zh-CN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B43758B5-D4C6-4DAF-9C71-384DBEBE8049}" type="slidenum">
              <a:rPr lang="en-AU" altLang="zh-CN" sz="1400"/>
            </a:fld>
            <a:endParaRPr lang="en-AU" altLang="zh-CN" sz="1400"/>
          </a:p>
        </p:txBody>
      </p:sp>
      <p:sp>
        <p:nvSpPr>
          <p:cNvPr id="53251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MIPS R-format Instructions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3252" name="Rectangle 18"/>
          <p:cNvSpPr>
            <a:spLocks noGrp="1" noChangeArrowheads="1"/>
          </p:cNvSpPr>
          <p:nvPr>
            <p:ph type="body" idx="1"/>
          </p:nvPr>
        </p:nvSpPr>
        <p:spPr>
          <a:xfrm>
            <a:off x="684213" y="2276475"/>
            <a:ext cx="8270875" cy="3960813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Instruction fields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op:</a:t>
            </a:r>
            <a:r>
              <a:rPr lang="en-US" altLang="zh-CN" smtClean="0">
                <a:ea typeface="宋体" panose="02010600030101010101" pitchFamily="2" charset="-122"/>
              </a:rPr>
              <a:t> operation code (opcode)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rs: </a:t>
            </a:r>
            <a:r>
              <a:rPr lang="en-US" altLang="zh-CN" smtClean="0">
                <a:ea typeface="宋体" panose="02010600030101010101" pitchFamily="2" charset="-122"/>
              </a:rPr>
              <a:t>first source register number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rt: </a:t>
            </a:r>
            <a:r>
              <a:rPr lang="en-US" altLang="zh-CN" smtClean="0">
                <a:ea typeface="宋体" panose="02010600030101010101" pitchFamily="2" charset="-122"/>
              </a:rPr>
              <a:t>second source register number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rd: </a:t>
            </a:r>
            <a:r>
              <a:rPr lang="en-US" altLang="zh-CN" smtClean="0">
                <a:ea typeface="宋体" panose="02010600030101010101" pitchFamily="2" charset="-122"/>
              </a:rPr>
              <a:t>destination register number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shamt: </a:t>
            </a:r>
            <a:r>
              <a:rPr lang="en-US" altLang="zh-CN" smtClean="0">
                <a:ea typeface="宋体" panose="02010600030101010101" pitchFamily="2" charset="-122"/>
              </a:rPr>
              <a:t>shift amount (00000 for now)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funct: </a:t>
            </a:r>
            <a:r>
              <a:rPr lang="en-US" altLang="zh-CN" smtClean="0">
                <a:ea typeface="宋体" panose="02010600030101010101" pitchFamily="2" charset="-122"/>
              </a:rPr>
              <a:t>function code (extends opcode)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pSp>
        <p:nvGrpSpPr>
          <p:cNvPr id="53253" name="Group 4"/>
          <p:cNvGrpSpPr/>
          <p:nvPr/>
        </p:nvGrpSpPr>
        <p:grpSpPr bwMode="auto">
          <a:xfrm>
            <a:off x="1331913" y="1412875"/>
            <a:ext cx="6913562" cy="773113"/>
            <a:chOff x="703" y="981"/>
            <a:chExt cx="4355" cy="487"/>
          </a:xfrm>
        </p:grpSpPr>
        <p:sp>
          <p:nvSpPr>
            <p:cNvPr id="53254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op</a:t>
              </a:r>
              <a:endParaRPr lang="en-AU" altLang="zh-CN" sz="2000"/>
            </a:p>
          </p:txBody>
        </p:sp>
        <p:sp>
          <p:nvSpPr>
            <p:cNvPr id="53255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rs</a:t>
              </a:r>
              <a:endParaRPr lang="en-AU" altLang="zh-CN" sz="2000"/>
            </a:p>
          </p:txBody>
        </p:sp>
        <p:sp>
          <p:nvSpPr>
            <p:cNvPr id="53256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rt</a:t>
              </a:r>
              <a:endParaRPr lang="en-AU" altLang="zh-CN" sz="2000"/>
            </a:p>
          </p:txBody>
        </p:sp>
        <p:sp>
          <p:nvSpPr>
            <p:cNvPr id="53257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rd</a:t>
              </a:r>
              <a:endParaRPr lang="en-AU" altLang="zh-CN" sz="2000"/>
            </a:p>
          </p:txBody>
        </p:sp>
        <p:sp>
          <p:nvSpPr>
            <p:cNvPr id="53258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shamt</a:t>
              </a:r>
              <a:endParaRPr lang="en-AU" altLang="zh-CN" sz="2000"/>
            </a:p>
          </p:txBody>
        </p:sp>
        <p:sp>
          <p:nvSpPr>
            <p:cNvPr id="53259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funct</a:t>
              </a:r>
              <a:endParaRPr lang="en-AU" altLang="zh-CN" sz="2000"/>
            </a:p>
          </p:txBody>
        </p:sp>
        <p:sp>
          <p:nvSpPr>
            <p:cNvPr id="53260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53261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53262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3263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3264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3265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3890FE0-587B-4D1A-8B97-C298AF2435CE}" type="slidenum">
              <a:rPr lang="en-AU" altLang="zh-CN" sz="1400"/>
            </a:fld>
            <a:endParaRPr lang="en-AU" altLang="zh-CN" sz="1400"/>
          </a:p>
        </p:txBody>
      </p:sp>
      <p:sp>
        <p:nvSpPr>
          <p:cNvPr id="55299" name="Rectangle 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R-format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5300" name="Rectangle 37"/>
          <p:cNvSpPr>
            <a:spLocks noGrp="1" noChangeArrowheads="1"/>
          </p:cNvSpPr>
          <p:nvPr>
            <p:ph type="body" idx="1"/>
          </p:nvPr>
        </p:nvSpPr>
        <p:spPr>
          <a:xfrm>
            <a:off x="684213" y="2492375"/>
            <a:ext cx="8270875" cy="6492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$t0, $s1, $s2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55301" name="Text Box 17"/>
          <p:cNvSpPr txBox="1">
            <a:spLocks noChangeArrowheads="1"/>
          </p:cNvSpPr>
          <p:nvPr/>
        </p:nvSpPr>
        <p:spPr bwMode="auto">
          <a:xfrm>
            <a:off x="1331913" y="3429000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special</a:t>
            </a:r>
            <a:endParaRPr lang="en-AU" altLang="zh-CN" sz="2000"/>
          </a:p>
        </p:txBody>
      </p:sp>
      <p:sp>
        <p:nvSpPr>
          <p:cNvPr id="55302" name="Text Box 18"/>
          <p:cNvSpPr txBox="1">
            <a:spLocks noChangeArrowheads="1"/>
          </p:cNvSpPr>
          <p:nvPr/>
        </p:nvSpPr>
        <p:spPr bwMode="auto">
          <a:xfrm>
            <a:off x="2628900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$s1</a:t>
            </a:r>
            <a:endParaRPr lang="en-AU" altLang="zh-CN" sz="2000"/>
          </a:p>
        </p:txBody>
      </p:sp>
      <p:sp>
        <p:nvSpPr>
          <p:cNvPr id="55303" name="Text Box 19"/>
          <p:cNvSpPr txBox="1">
            <a:spLocks noChangeArrowheads="1"/>
          </p:cNvSpPr>
          <p:nvPr/>
        </p:nvSpPr>
        <p:spPr bwMode="auto">
          <a:xfrm>
            <a:off x="3708400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$s2</a:t>
            </a:r>
            <a:endParaRPr lang="en-AU" altLang="zh-CN" sz="2000"/>
          </a:p>
        </p:txBody>
      </p:sp>
      <p:sp>
        <p:nvSpPr>
          <p:cNvPr id="55304" name="Text Box 20"/>
          <p:cNvSpPr txBox="1">
            <a:spLocks noChangeArrowheads="1"/>
          </p:cNvSpPr>
          <p:nvPr/>
        </p:nvSpPr>
        <p:spPr bwMode="auto">
          <a:xfrm>
            <a:off x="4787900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$t0</a:t>
            </a:r>
            <a:endParaRPr lang="en-AU" altLang="zh-CN" sz="2000"/>
          </a:p>
        </p:txBody>
      </p:sp>
      <p:sp>
        <p:nvSpPr>
          <p:cNvPr id="55305" name="Text Box 21"/>
          <p:cNvSpPr txBox="1">
            <a:spLocks noChangeArrowheads="1"/>
          </p:cNvSpPr>
          <p:nvPr/>
        </p:nvSpPr>
        <p:spPr bwMode="auto">
          <a:xfrm>
            <a:off x="5868988" y="3429000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</a:t>
            </a:r>
            <a:endParaRPr lang="en-AU" altLang="zh-CN" sz="2000"/>
          </a:p>
        </p:txBody>
      </p:sp>
      <p:sp>
        <p:nvSpPr>
          <p:cNvPr id="55306" name="Text Box 22"/>
          <p:cNvSpPr txBox="1">
            <a:spLocks noChangeArrowheads="1"/>
          </p:cNvSpPr>
          <p:nvPr/>
        </p:nvSpPr>
        <p:spPr bwMode="auto">
          <a:xfrm>
            <a:off x="6948488" y="3429000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add</a:t>
            </a:r>
            <a:endParaRPr lang="en-AU" altLang="zh-CN" sz="2000"/>
          </a:p>
        </p:txBody>
      </p:sp>
      <p:sp>
        <p:nvSpPr>
          <p:cNvPr id="55307" name="Text Box 23"/>
          <p:cNvSpPr txBox="1">
            <a:spLocks noChangeArrowheads="1"/>
          </p:cNvSpPr>
          <p:nvPr/>
        </p:nvSpPr>
        <p:spPr bwMode="auto">
          <a:xfrm>
            <a:off x="1331913" y="40782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</a:t>
            </a:r>
            <a:endParaRPr lang="en-AU" altLang="zh-CN" sz="2000"/>
          </a:p>
        </p:txBody>
      </p:sp>
      <p:sp>
        <p:nvSpPr>
          <p:cNvPr id="55308" name="Text Box 24"/>
          <p:cNvSpPr txBox="1">
            <a:spLocks noChangeArrowheads="1"/>
          </p:cNvSpPr>
          <p:nvPr/>
        </p:nvSpPr>
        <p:spPr bwMode="auto">
          <a:xfrm>
            <a:off x="2628900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17</a:t>
            </a:r>
            <a:endParaRPr lang="en-AU" altLang="zh-CN" sz="2000"/>
          </a:p>
        </p:txBody>
      </p:sp>
      <p:sp>
        <p:nvSpPr>
          <p:cNvPr id="55309" name="Text Box 25"/>
          <p:cNvSpPr txBox="1">
            <a:spLocks noChangeArrowheads="1"/>
          </p:cNvSpPr>
          <p:nvPr/>
        </p:nvSpPr>
        <p:spPr bwMode="auto">
          <a:xfrm>
            <a:off x="3708400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18</a:t>
            </a:r>
            <a:endParaRPr lang="en-AU" altLang="zh-CN" sz="2000"/>
          </a:p>
        </p:txBody>
      </p:sp>
      <p:sp>
        <p:nvSpPr>
          <p:cNvPr id="55310" name="Text Box 26"/>
          <p:cNvSpPr txBox="1">
            <a:spLocks noChangeArrowheads="1"/>
          </p:cNvSpPr>
          <p:nvPr/>
        </p:nvSpPr>
        <p:spPr bwMode="auto">
          <a:xfrm>
            <a:off x="4787900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8</a:t>
            </a:r>
            <a:endParaRPr lang="en-AU" altLang="zh-CN" sz="2000"/>
          </a:p>
        </p:txBody>
      </p:sp>
      <p:sp>
        <p:nvSpPr>
          <p:cNvPr id="55311" name="Text Box 27"/>
          <p:cNvSpPr txBox="1">
            <a:spLocks noChangeArrowheads="1"/>
          </p:cNvSpPr>
          <p:nvPr/>
        </p:nvSpPr>
        <p:spPr bwMode="auto">
          <a:xfrm>
            <a:off x="5868988" y="40782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</a:t>
            </a:r>
            <a:endParaRPr lang="en-AU" altLang="zh-CN" sz="2000"/>
          </a:p>
        </p:txBody>
      </p:sp>
      <p:sp>
        <p:nvSpPr>
          <p:cNvPr id="55312" name="Text Box 28"/>
          <p:cNvSpPr txBox="1">
            <a:spLocks noChangeArrowheads="1"/>
          </p:cNvSpPr>
          <p:nvPr/>
        </p:nvSpPr>
        <p:spPr bwMode="auto">
          <a:xfrm>
            <a:off x="6948488" y="40782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32</a:t>
            </a:r>
            <a:endParaRPr lang="en-AU" altLang="zh-CN" sz="2000"/>
          </a:p>
        </p:txBody>
      </p:sp>
      <p:sp>
        <p:nvSpPr>
          <p:cNvPr id="55313" name="Text Box 29"/>
          <p:cNvSpPr txBox="1">
            <a:spLocks noChangeArrowheads="1"/>
          </p:cNvSpPr>
          <p:nvPr/>
        </p:nvSpPr>
        <p:spPr bwMode="auto">
          <a:xfrm>
            <a:off x="1331913" y="47259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000000</a:t>
            </a:r>
            <a:endParaRPr lang="en-AU" altLang="zh-CN" sz="2000"/>
          </a:p>
        </p:txBody>
      </p:sp>
      <p:sp>
        <p:nvSpPr>
          <p:cNvPr id="55314" name="Text Box 30"/>
          <p:cNvSpPr txBox="1">
            <a:spLocks noChangeArrowheads="1"/>
          </p:cNvSpPr>
          <p:nvPr/>
        </p:nvSpPr>
        <p:spPr bwMode="auto">
          <a:xfrm>
            <a:off x="2628900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10001</a:t>
            </a:r>
            <a:endParaRPr lang="en-AU" altLang="zh-CN" sz="2000"/>
          </a:p>
        </p:txBody>
      </p:sp>
      <p:sp>
        <p:nvSpPr>
          <p:cNvPr id="55315" name="Text Box 31"/>
          <p:cNvSpPr txBox="1">
            <a:spLocks noChangeArrowheads="1"/>
          </p:cNvSpPr>
          <p:nvPr/>
        </p:nvSpPr>
        <p:spPr bwMode="auto">
          <a:xfrm>
            <a:off x="3708400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10010</a:t>
            </a:r>
            <a:endParaRPr lang="en-AU" altLang="zh-CN" sz="2000"/>
          </a:p>
        </p:txBody>
      </p:sp>
      <p:sp>
        <p:nvSpPr>
          <p:cNvPr id="55316" name="Text Box 32"/>
          <p:cNvSpPr txBox="1">
            <a:spLocks noChangeArrowheads="1"/>
          </p:cNvSpPr>
          <p:nvPr/>
        </p:nvSpPr>
        <p:spPr bwMode="auto">
          <a:xfrm>
            <a:off x="4787900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01000</a:t>
            </a:r>
            <a:endParaRPr lang="en-AU" altLang="zh-CN" sz="2000"/>
          </a:p>
        </p:txBody>
      </p:sp>
      <p:sp>
        <p:nvSpPr>
          <p:cNvPr id="55317" name="Text Box 33"/>
          <p:cNvSpPr txBox="1">
            <a:spLocks noChangeArrowheads="1"/>
          </p:cNvSpPr>
          <p:nvPr/>
        </p:nvSpPr>
        <p:spPr bwMode="auto">
          <a:xfrm>
            <a:off x="5868988" y="4725988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00000</a:t>
            </a:r>
            <a:endParaRPr lang="en-AU" altLang="zh-CN" sz="2000"/>
          </a:p>
        </p:txBody>
      </p:sp>
      <p:sp>
        <p:nvSpPr>
          <p:cNvPr id="55318" name="Text Box 34"/>
          <p:cNvSpPr txBox="1">
            <a:spLocks noChangeArrowheads="1"/>
          </p:cNvSpPr>
          <p:nvPr/>
        </p:nvSpPr>
        <p:spPr bwMode="auto">
          <a:xfrm>
            <a:off x="6948488" y="4725988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100000</a:t>
            </a:r>
            <a:endParaRPr lang="en-AU" altLang="zh-CN" sz="2000"/>
          </a:p>
        </p:txBody>
      </p:sp>
      <p:sp>
        <p:nvSpPr>
          <p:cNvPr id="55319" name="Rectangle 35"/>
          <p:cNvSpPr>
            <a:spLocks noChangeArrowheads="1"/>
          </p:cNvSpPr>
          <p:nvPr/>
        </p:nvSpPr>
        <p:spPr bwMode="auto">
          <a:xfrm>
            <a:off x="684213" y="5516563"/>
            <a:ext cx="8140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00000010001100100100000000100000</a:t>
            </a:r>
            <a:r>
              <a:rPr lang="en-US" altLang="zh-CN" sz="2400" baseline="-25000"/>
              <a:t>2</a:t>
            </a:r>
            <a:r>
              <a:rPr lang="en-US" altLang="zh-CN" sz="2400"/>
              <a:t> = 02324020</a:t>
            </a:r>
            <a:r>
              <a:rPr lang="en-US" altLang="zh-CN" sz="2400" baseline="-25000"/>
              <a:t>16</a:t>
            </a:r>
            <a:endParaRPr lang="en-AU" altLang="zh-CN" sz="2400"/>
          </a:p>
        </p:txBody>
      </p:sp>
      <p:grpSp>
        <p:nvGrpSpPr>
          <p:cNvPr id="55320" name="Group 38"/>
          <p:cNvGrpSpPr/>
          <p:nvPr/>
        </p:nvGrpSpPr>
        <p:grpSpPr bwMode="auto">
          <a:xfrm>
            <a:off x="1331913" y="1412875"/>
            <a:ext cx="6913562" cy="773113"/>
            <a:chOff x="703" y="981"/>
            <a:chExt cx="4355" cy="487"/>
          </a:xfrm>
        </p:grpSpPr>
        <p:sp>
          <p:nvSpPr>
            <p:cNvPr id="55321" name="Text Box 39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op</a:t>
              </a:r>
              <a:endParaRPr lang="en-AU" altLang="zh-CN" sz="2000"/>
            </a:p>
          </p:txBody>
        </p:sp>
        <p:sp>
          <p:nvSpPr>
            <p:cNvPr id="55322" name="Text Box 40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rs</a:t>
              </a:r>
              <a:endParaRPr lang="en-AU" altLang="zh-CN" sz="2000"/>
            </a:p>
          </p:txBody>
        </p:sp>
        <p:sp>
          <p:nvSpPr>
            <p:cNvPr id="55323" name="Text Box 41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rt</a:t>
              </a:r>
              <a:endParaRPr lang="en-AU" altLang="zh-CN" sz="2000"/>
            </a:p>
          </p:txBody>
        </p:sp>
        <p:sp>
          <p:nvSpPr>
            <p:cNvPr id="55324" name="Text Box 42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rd</a:t>
              </a:r>
              <a:endParaRPr lang="en-AU" altLang="zh-CN" sz="2000"/>
            </a:p>
          </p:txBody>
        </p:sp>
        <p:sp>
          <p:nvSpPr>
            <p:cNvPr id="55325" name="Text Box 43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shamt</a:t>
              </a:r>
              <a:endParaRPr lang="en-AU" altLang="zh-CN" sz="2000"/>
            </a:p>
          </p:txBody>
        </p:sp>
        <p:sp>
          <p:nvSpPr>
            <p:cNvPr id="55326" name="Text Box 44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funct</a:t>
              </a:r>
              <a:endParaRPr lang="en-AU" altLang="zh-CN" sz="2000"/>
            </a:p>
          </p:txBody>
        </p:sp>
        <p:sp>
          <p:nvSpPr>
            <p:cNvPr id="55327" name="Text Box 45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55328" name="Text Box 46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55329" name="Text Box 47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5330" name="Text Box 48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5331" name="Text Box 49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5332" name="Text Box 50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7EB619D3-7BF8-4FC1-B65B-A4D9F4189CDB}" type="slidenum">
              <a:rPr lang="en-AU" altLang="zh-CN" sz="1400"/>
            </a:fld>
            <a:endParaRPr lang="en-AU" altLang="zh-CN" sz="1400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Hexadecimal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5827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Base 16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Compact representation </a:t>
            </a:r>
            <a:r>
              <a:rPr lang="en-AU" altLang="zh-CN" smtClean="0">
                <a:ea typeface="宋体" panose="02010600030101010101" pitchFamily="2" charset="-122"/>
              </a:rPr>
              <a:t>of bit strings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mtClean="0">
                <a:ea typeface="宋体" panose="02010600030101010101" pitchFamily="2" charset="-122"/>
              </a:rPr>
              <a:t>4 bits per hex digit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441420" name="Group 76"/>
          <p:cNvGraphicFramePr>
            <a:graphicFrameLocks noGrp="1"/>
          </p:cNvGraphicFramePr>
          <p:nvPr/>
        </p:nvGraphicFramePr>
        <p:xfrm>
          <a:off x="1116013" y="2852738"/>
          <a:ext cx="7127875" cy="1828800"/>
        </p:xfrm>
        <a:graphic>
          <a:graphicData uri="http://schemas.openxmlformats.org/drawingml/2006/table">
            <a:tbl>
              <a:tblPr/>
              <a:tblGrid>
                <a:gridCol w="647700"/>
                <a:gridCol w="1135062"/>
                <a:gridCol w="665163"/>
                <a:gridCol w="1116012"/>
                <a:gridCol w="684213"/>
                <a:gridCol w="1098550"/>
                <a:gridCol w="630237"/>
                <a:gridCol w="1150938"/>
              </a:tblGrid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1001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1110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0011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1011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1111</a:t>
                      </a:r>
                      <a:endParaRPr kumimoji="0" lang="en-AU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96" name="Rectangle 77"/>
          <p:cNvSpPr>
            <a:spLocks noChangeArrowheads="1"/>
          </p:cNvSpPr>
          <p:nvPr/>
        </p:nvSpPr>
        <p:spPr bwMode="auto">
          <a:xfrm>
            <a:off x="611188" y="4940300"/>
            <a:ext cx="82708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AU" altLang="zh-CN"/>
              <a:t>Example: eca8 6420</a:t>
            </a:r>
            <a:endParaRPr lang="en-AU" altLang="zh-CN"/>
          </a:p>
          <a:p>
            <a:pPr lvl="1" eaLnBrk="1" hangingPunct="1">
              <a:lnSpc>
                <a:spcPct val="90000"/>
              </a:lnSpc>
            </a:pPr>
            <a:r>
              <a:rPr lang="en-AU" altLang="zh-CN"/>
              <a:t>1110 1100 1010 1000 0110 0100 0010 0000</a:t>
            </a:r>
            <a:endParaRPr lang="en-AU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26F4969-1D5D-41A0-9B1B-9776654522A3}" type="slidenum">
              <a:rPr lang="en-AU" altLang="zh-CN" sz="1400"/>
            </a:fld>
            <a:endParaRPr lang="en-AU" altLang="zh-CN" sz="1400"/>
          </a:p>
        </p:txBody>
      </p:sp>
      <p:sp>
        <p:nvSpPr>
          <p:cNvPr id="59395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MIPS I-format Instructions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9700" name="Rectangle 27"/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Immediate arithmetic and load/store instructions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rt: </a:t>
            </a:r>
            <a:r>
              <a:rPr lang="en-US" altLang="zh-CN" sz="2400" smtClean="0">
                <a:ea typeface="宋体" panose="02010600030101010101" pitchFamily="2" charset="-122"/>
              </a:rPr>
              <a:t>destination or source register number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Constant: </a:t>
            </a:r>
            <a:r>
              <a:rPr lang="en-US" altLang="zh-CN" sz="2400" smtClean="0">
                <a:ea typeface="宋体" panose="02010600030101010101" pitchFamily="2" charset="-122"/>
              </a:rPr>
              <a:t>–2</a:t>
            </a:r>
            <a:r>
              <a:rPr lang="en-US" altLang="zh-CN" sz="2400" baseline="30000" smtClean="0">
                <a:ea typeface="宋体" panose="02010600030101010101" pitchFamily="2" charset="-122"/>
              </a:rPr>
              <a:t>15</a:t>
            </a:r>
            <a:r>
              <a:rPr lang="en-US" altLang="zh-CN" sz="2400" smtClean="0">
                <a:ea typeface="宋体" panose="02010600030101010101" pitchFamily="2" charset="-122"/>
              </a:rPr>
              <a:t> to +2</a:t>
            </a:r>
            <a:r>
              <a:rPr lang="en-US" altLang="zh-CN" sz="2400" baseline="30000" smtClean="0">
                <a:ea typeface="宋体" panose="02010600030101010101" pitchFamily="2" charset="-122"/>
              </a:rPr>
              <a:t>15</a:t>
            </a:r>
            <a:r>
              <a:rPr lang="en-US" altLang="zh-CN" sz="2400" smtClean="0">
                <a:ea typeface="宋体" panose="02010600030101010101" pitchFamily="2" charset="-122"/>
              </a:rPr>
              <a:t> – 1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Address: </a:t>
            </a:r>
            <a:r>
              <a:rPr lang="en-US" altLang="zh-CN" sz="2400" smtClean="0">
                <a:ea typeface="宋体" panose="02010600030101010101" pitchFamily="2" charset="-122"/>
              </a:rPr>
              <a:t>offset added to base address in rs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smtClean="0">
                <a:solidFill>
                  <a:srgbClr val="FF0000"/>
                </a:solidFill>
                <a:ea typeface="宋体" panose="02010600030101010101" pitchFamily="2" charset="-122"/>
              </a:rPr>
              <a:t>Design Principle 4:</a:t>
            </a: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Good design demands good compromises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Different formats complicate decoding, but allow 32-bit instructions uniformly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Keep formats as similar as possible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  <p:grpSp>
        <p:nvGrpSpPr>
          <p:cNvPr id="59397" name="Group 4"/>
          <p:cNvGrpSpPr/>
          <p:nvPr/>
        </p:nvGrpSpPr>
        <p:grpSpPr bwMode="auto">
          <a:xfrm>
            <a:off x="1331913" y="1412875"/>
            <a:ext cx="6913562" cy="773113"/>
            <a:chOff x="884" y="981"/>
            <a:chExt cx="4355" cy="487"/>
          </a:xfrm>
        </p:grpSpPr>
        <p:sp>
          <p:nvSpPr>
            <p:cNvPr id="59398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op</a:t>
              </a:r>
              <a:endParaRPr lang="en-AU" altLang="zh-CN" sz="2000"/>
            </a:p>
          </p:txBody>
        </p:sp>
        <p:sp>
          <p:nvSpPr>
            <p:cNvPr id="59399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rs</a:t>
              </a:r>
              <a:endParaRPr lang="en-AU" altLang="zh-CN" sz="2000"/>
            </a:p>
          </p:txBody>
        </p:sp>
        <p:sp>
          <p:nvSpPr>
            <p:cNvPr id="59400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rt</a:t>
              </a:r>
              <a:endParaRPr lang="en-AU" altLang="zh-CN" sz="2000"/>
            </a:p>
          </p:txBody>
        </p:sp>
        <p:sp>
          <p:nvSpPr>
            <p:cNvPr id="59401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constant or address</a:t>
              </a:r>
              <a:endParaRPr lang="en-AU" altLang="zh-CN" sz="2000"/>
            </a:p>
          </p:txBody>
        </p:sp>
        <p:sp>
          <p:nvSpPr>
            <p:cNvPr id="59402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59403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9404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59405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16 bits</a:t>
              </a:r>
              <a:endParaRPr lang="en-AU" altLang="zh-CN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2FA54FF-8401-465E-86FB-B30D98C0B467}" type="slidenum">
              <a:rPr lang="en-AU" altLang="zh-CN" sz="1400"/>
            </a:fld>
            <a:endParaRPr lang="en-AU" altLang="zh-CN" sz="1400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23850"/>
            <a:ext cx="8259762" cy="5842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ea typeface="宋体" panose="02010600030101010101" pitchFamily="2" charset="-122"/>
              </a:rPr>
              <a:t>Two Key Principles of Computer Design</a:t>
            </a:r>
            <a:endParaRPr lang="en-AU" altLang="zh-CN" sz="3200" smtClean="0">
              <a:ea typeface="宋体" panose="02010600030101010101" pitchFamily="2" charset="-122"/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928688" y="2857500"/>
            <a:ext cx="2865437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Arial Black" panose="020B0A04020102020204" pitchFamily="34" charset="0"/>
              </a:rPr>
              <a:t>The BIG Picture</a:t>
            </a:r>
            <a:endParaRPr lang="en-US" altLang="zh-CN" sz="2400" b="1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30726" name="Picture 7" descr="f02-07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438" y="2428875"/>
            <a:ext cx="2908300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0063" y="1071563"/>
            <a:ext cx="7848600" cy="1952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33400" lvl="1" indent="-533400">
              <a:lnSpc>
                <a:spcPct val="90000"/>
              </a:lnSpc>
              <a:spcBef>
                <a:spcPct val="6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AutoNum type="arabicPeriod"/>
              <a:defRPr/>
            </a:pPr>
            <a:r>
              <a:rPr lang="en-US" sz="2400" kern="0" dirty="0">
                <a:latin typeface="+mn-lt"/>
                <a:ea typeface="+mn-ea"/>
              </a:rPr>
              <a:t>Instructions are represented as numbers and, as such, are indistinguishable from data</a:t>
            </a:r>
            <a:endParaRPr lang="en-US" sz="2400" kern="0" dirty="0">
              <a:latin typeface="+mn-lt"/>
              <a:ea typeface="+mn-ea"/>
            </a:endParaRPr>
          </a:p>
          <a:p>
            <a:pPr marL="533400" lvl="1" indent="-533400">
              <a:lnSpc>
                <a:spcPct val="90000"/>
              </a:lnSpc>
              <a:spcBef>
                <a:spcPct val="6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AutoNum type="arabicPeriod"/>
              <a:defRPr/>
            </a:pPr>
            <a:r>
              <a:rPr lang="en-US" sz="2400" kern="0" dirty="0">
                <a:latin typeface="+mn-lt"/>
                <a:ea typeface="+mn-ea"/>
              </a:rPr>
              <a:t>Programs are stored in alterable memory (that can be read or written to) just like data</a:t>
            </a:r>
            <a:endParaRPr lang="en-US" sz="2400" kern="0" dirty="0">
              <a:latin typeface="+mn-lt"/>
              <a:ea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00063" y="3462338"/>
            <a:ext cx="4876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>
            <a:lvl1pPr marL="287655" indent="-28765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52500" indent="-4572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altLang="zh-CN" sz="2400"/>
              <a:t>Stored-program concept</a:t>
            </a:r>
            <a:endParaRPr lang="en-US" altLang="zh-CN" sz="2400"/>
          </a:p>
          <a:p>
            <a:pPr lvl="1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Programs can </a:t>
            </a:r>
            <a:r>
              <a:rPr lang="en-US" altLang="zh-CN" sz="2000">
                <a:solidFill>
                  <a:srgbClr val="FF0000"/>
                </a:solidFill>
              </a:rPr>
              <a:t>be shipped as files </a:t>
            </a:r>
            <a:r>
              <a:rPr lang="en-US" altLang="zh-CN" sz="2000"/>
              <a:t>of binary numbers – binary compatibility</a:t>
            </a:r>
            <a:endParaRPr lang="en-US" altLang="zh-CN" sz="2000"/>
          </a:p>
          <a:p>
            <a:pPr lvl="1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Arial" panose="020B0604020202020204" pitchFamily="34" charset="0"/>
              <a:buAutoNum type="arabicPeriod"/>
            </a:pPr>
            <a:r>
              <a:rPr lang="en-US" altLang="zh-CN" sz="2000"/>
              <a:t>Computers can inherit ready-made software provided they are compatible with an existing ISA – </a:t>
            </a:r>
            <a:r>
              <a:rPr lang="en-US" altLang="zh-CN" sz="2000">
                <a:solidFill>
                  <a:srgbClr val="FF0000"/>
                </a:solidFill>
              </a:rPr>
              <a:t>leads industry to align around a small number of ISAs</a:t>
            </a:r>
            <a:endParaRPr lang="en-US" altLang="zh-CN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nimBg="1"/>
      <p:bldP spid="8" grpId="0" bldLvl="2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0116AD4-E36E-4A03-9D78-D6514CFC3E58}" type="slidenum">
              <a:rPr lang="en-AU" altLang="zh-CN" sz="1400"/>
            </a:fld>
            <a:endParaRPr lang="en-AU" altLang="zh-CN" sz="1400"/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Logical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90562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Instructions for bitwise manipulation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275503" name="Group 47"/>
          <p:cNvGraphicFramePr>
            <a:graphicFrameLocks noGrp="1"/>
          </p:cNvGraphicFramePr>
          <p:nvPr/>
        </p:nvGraphicFramePr>
        <p:xfrm>
          <a:off x="1042988" y="1916113"/>
          <a:ext cx="7200900" cy="2824164"/>
        </p:xfrm>
        <a:graphic>
          <a:graphicData uri="http://schemas.openxmlformats.org/drawingml/2006/table">
            <a:tbl>
              <a:tblPr/>
              <a:tblGrid>
                <a:gridCol w="2233612"/>
                <a:gridCol w="1366838"/>
                <a:gridCol w="1512887"/>
                <a:gridCol w="2087563"/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Operation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Java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MIPS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Shift left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&lt;&lt;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&lt;&lt;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sll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Shift right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&gt;&gt;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&gt;&gt;&gt;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srl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Bitwise AND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&amp;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&amp;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and, andi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Bitwise OR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|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|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or, ori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Bitwise NOT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~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~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nor</a:t>
                      </a:r>
                      <a:endParaRPr kumimoji="0" lang="en-AU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30" name="Rectangle 41"/>
          <p:cNvSpPr>
            <a:spLocks noChangeArrowheads="1"/>
          </p:cNvSpPr>
          <p:nvPr/>
        </p:nvSpPr>
        <p:spPr bwMode="auto">
          <a:xfrm>
            <a:off x="684213" y="5013325"/>
            <a:ext cx="77724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/>
              <a:t>Useful for extracting and inserting groups of bits in a word</a:t>
            </a:r>
            <a:endParaRPr lang="en-AU" altLang="zh-CN"/>
          </a:p>
        </p:txBody>
      </p:sp>
      <p:sp>
        <p:nvSpPr>
          <p:cNvPr id="63531" name="Text Box 42"/>
          <p:cNvSpPr txBox="1">
            <a:spLocks noChangeArrowheads="1"/>
          </p:cNvSpPr>
          <p:nvPr/>
        </p:nvSpPr>
        <p:spPr bwMode="auto">
          <a:xfrm rot="5400000">
            <a:off x="7662069" y="1115219"/>
            <a:ext cx="259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§2.6 Logical Operations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63A42B0-F9C0-4D64-8CD8-2BF72234507D}" type="slidenum">
              <a:rPr lang="en-AU" altLang="zh-CN" sz="1400"/>
            </a:fld>
            <a:endParaRPr lang="en-AU" altLang="zh-CN" sz="1400"/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Shift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34950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shamt: </a:t>
            </a:r>
            <a:r>
              <a:rPr lang="en-US" altLang="zh-CN" smtClean="0">
                <a:ea typeface="宋体" panose="02010600030101010101" pitchFamily="2" charset="-122"/>
              </a:rPr>
              <a:t>how many positions to shift 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Shift left logical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Shift left and fill with 0 bits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sll</a:t>
            </a:r>
            <a:r>
              <a:rPr lang="en-US" altLang="zh-CN" smtClean="0">
                <a:ea typeface="宋体" panose="02010600030101010101" pitchFamily="2" charset="-122"/>
              </a:rPr>
              <a:t> by </a:t>
            </a:r>
            <a:r>
              <a:rPr lang="en-US" altLang="zh-CN" i="1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bits multiplies by 2</a:t>
            </a:r>
            <a:r>
              <a:rPr lang="en-US" altLang="zh-CN" i="1" baseline="30000" smtClean="0">
                <a:ea typeface="宋体" panose="02010600030101010101" pitchFamily="2" charset="-122"/>
              </a:rPr>
              <a:t>i</a:t>
            </a:r>
            <a:endParaRPr lang="en-US" altLang="zh-CN" i="1" baseline="300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Shift right logical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Shift right and fill with 0 bits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srl</a:t>
            </a:r>
            <a:r>
              <a:rPr lang="en-US" altLang="zh-CN" smtClean="0">
                <a:ea typeface="宋体" panose="02010600030101010101" pitchFamily="2" charset="-122"/>
              </a:rPr>
              <a:t> by </a:t>
            </a:r>
            <a:r>
              <a:rPr lang="en-US" altLang="zh-CN" i="1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bits divides by 2</a:t>
            </a:r>
            <a:r>
              <a:rPr lang="en-US" altLang="zh-CN" i="1" baseline="30000" smtClean="0">
                <a:ea typeface="宋体" panose="02010600030101010101" pitchFamily="2" charset="-122"/>
              </a:rPr>
              <a:t>i</a:t>
            </a:r>
            <a:r>
              <a:rPr lang="en-US" altLang="zh-CN" smtClean="0">
                <a:ea typeface="宋体" panose="02010600030101010101" pitchFamily="2" charset="-122"/>
              </a:rPr>
              <a:t> (unsigned only)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pSp>
        <p:nvGrpSpPr>
          <p:cNvPr id="65541" name="Group 4"/>
          <p:cNvGrpSpPr/>
          <p:nvPr/>
        </p:nvGrpSpPr>
        <p:grpSpPr bwMode="auto">
          <a:xfrm>
            <a:off x="1403350" y="1557338"/>
            <a:ext cx="6913563" cy="773112"/>
            <a:chOff x="703" y="981"/>
            <a:chExt cx="4355" cy="487"/>
          </a:xfrm>
        </p:grpSpPr>
        <p:sp>
          <p:nvSpPr>
            <p:cNvPr id="65542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op</a:t>
              </a:r>
              <a:endParaRPr lang="en-AU" altLang="zh-CN" sz="2000"/>
            </a:p>
          </p:txBody>
        </p:sp>
        <p:sp>
          <p:nvSpPr>
            <p:cNvPr id="65543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rs</a:t>
              </a:r>
              <a:endParaRPr lang="en-AU" altLang="zh-CN" sz="2000"/>
            </a:p>
          </p:txBody>
        </p:sp>
        <p:sp>
          <p:nvSpPr>
            <p:cNvPr id="65544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rt</a:t>
              </a:r>
              <a:endParaRPr lang="en-AU" altLang="zh-CN" sz="2000"/>
            </a:p>
          </p:txBody>
        </p:sp>
        <p:sp>
          <p:nvSpPr>
            <p:cNvPr id="65545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rd</a:t>
              </a:r>
              <a:endParaRPr lang="en-AU" altLang="zh-CN" sz="2000"/>
            </a:p>
          </p:txBody>
        </p:sp>
        <p:sp>
          <p:nvSpPr>
            <p:cNvPr id="65546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shamt</a:t>
              </a:r>
              <a:endParaRPr lang="en-AU" altLang="zh-CN" sz="2000"/>
            </a:p>
          </p:txBody>
        </p:sp>
        <p:sp>
          <p:nvSpPr>
            <p:cNvPr id="65547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funct</a:t>
              </a:r>
              <a:endParaRPr lang="en-AU" altLang="zh-CN" sz="2000"/>
            </a:p>
          </p:txBody>
        </p:sp>
        <p:sp>
          <p:nvSpPr>
            <p:cNvPr id="65548" name="Text Box 11"/>
            <p:cNvSpPr txBox="1">
              <a:spLocks noChangeArrowheads="1"/>
            </p:cNvSpPr>
            <p:nvPr/>
          </p:nvSpPr>
          <p:spPr bwMode="auto">
            <a:xfrm>
              <a:off x="886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65549" name="Text Box 12"/>
            <p:cNvSpPr txBox="1">
              <a:spLocks noChangeArrowheads="1"/>
            </p:cNvSpPr>
            <p:nvPr/>
          </p:nvSpPr>
          <p:spPr bwMode="auto">
            <a:xfrm>
              <a:off x="4424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65550" name="Text Box 13"/>
            <p:cNvSpPr txBox="1">
              <a:spLocks noChangeArrowheads="1"/>
            </p:cNvSpPr>
            <p:nvPr/>
          </p:nvSpPr>
          <p:spPr bwMode="auto">
            <a:xfrm>
              <a:off x="165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65551" name="Text Box 14"/>
            <p:cNvSpPr txBox="1">
              <a:spLocks noChangeArrowheads="1"/>
            </p:cNvSpPr>
            <p:nvPr/>
          </p:nvSpPr>
          <p:spPr bwMode="auto">
            <a:xfrm>
              <a:off x="23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65552" name="Text Box 15"/>
            <p:cNvSpPr txBox="1">
              <a:spLocks noChangeArrowheads="1"/>
            </p:cNvSpPr>
            <p:nvPr/>
          </p:nvSpPr>
          <p:spPr bwMode="auto">
            <a:xfrm>
              <a:off x="301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65553" name="Text Box 16"/>
            <p:cNvSpPr txBox="1">
              <a:spLocks noChangeArrowheads="1"/>
            </p:cNvSpPr>
            <p:nvPr/>
          </p:nvSpPr>
          <p:spPr bwMode="auto">
            <a:xfrm>
              <a:off x="369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87AE173-4BF3-4671-950A-C99DDB572562}" type="slidenum">
              <a:rPr lang="en-AU" altLang="zh-CN" sz="1400"/>
            </a:fld>
            <a:endParaRPr lang="en-AU" altLang="zh-CN" sz="1400"/>
          </a:p>
        </p:txBody>
      </p:sp>
      <p:sp>
        <p:nvSpPr>
          <p:cNvPr id="67587" name="Rectangle 2"/>
          <p:cNvSpPr>
            <a:spLocks noChangeArrowheads="1"/>
          </p:cNvSpPr>
          <p:nvPr/>
        </p:nvSpPr>
        <p:spPr bwMode="auto">
          <a:xfrm>
            <a:off x="4824413" y="3408363"/>
            <a:ext cx="647700" cy="1604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AND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758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73275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Useful to mask bits in a word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Select some bits, clear others to 0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and $t0, $t1, $t2</a:t>
            </a:r>
            <a:endParaRPr lang="en-AU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67590" name="Text Box 5"/>
          <p:cNvSpPr txBox="1">
            <a:spLocks noChangeArrowheads="1"/>
          </p:cNvSpPr>
          <p:nvPr/>
        </p:nvSpPr>
        <p:spPr bwMode="auto">
          <a:xfrm>
            <a:off x="1924050" y="3403600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0000 0000 0000 0000 0000 1101 1100 0000</a:t>
            </a:r>
            <a:endParaRPr lang="en-AU" altLang="zh-CN" sz="2000"/>
          </a:p>
        </p:txBody>
      </p:sp>
      <p:sp>
        <p:nvSpPr>
          <p:cNvPr id="67591" name="Text Box 6"/>
          <p:cNvSpPr txBox="1">
            <a:spLocks noChangeArrowheads="1"/>
          </p:cNvSpPr>
          <p:nvPr/>
        </p:nvSpPr>
        <p:spPr bwMode="auto">
          <a:xfrm>
            <a:off x="1924050" y="39639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0000 0000 0000 0000 0011 1100 0000 0000</a:t>
            </a:r>
            <a:endParaRPr lang="en-AU" altLang="zh-CN" sz="2000"/>
          </a:p>
        </p:txBody>
      </p:sp>
      <p:sp>
        <p:nvSpPr>
          <p:cNvPr id="67592" name="Text Box 7"/>
          <p:cNvSpPr txBox="1">
            <a:spLocks noChangeArrowheads="1"/>
          </p:cNvSpPr>
          <p:nvPr/>
        </p:nvSpPr>
        <p:spPr bwMode="auto">
          <a:xfrm>
            <a:off x="1287463" y="3403600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$t2</a:t>
            </a:r>
            <a:endParaRPr lang="en-AU" altLang="zh-CN" sz="2000"/>
          </a:p>
        </p:txBody>
      </p:sp>
      <p:sp>
        <p:nvSpPr>
          <p:cNvPr id="67593" name="Text Box 8"/>
          <p:cNvSpPr txBox="1">
            <a:spLocks noChangeArrowheads="1"/>
          </p:cNvSpPr>
          <p:nvPr/>
        </p:nvSpPr>
        <p:spPr bwMode="auto">
          <a:xfrm>
            <a:off x="1287463" y="39639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$t1</a:t>
            </a:r>
            <a:endParaRPr lang="en-AU" altLang="zh-CN" sz="2000"/>
          </a:p>
        </p:txBody>
      </p:sp>
      <p:sp>
        <p:nvSpPr>
          <p:cNvPr id="67594" name="Text Box 9"/>
          <p:cNvSpPr txBox="1">
            <a:spLocks noChangeArrowheads="1"/>
          </p:cNvSpPr>
          <p:nvPr/>
        </p:nvSpPr>
        <p:spPr bwMode="auto">
          <a:xfrm>
            <a:off x="1924050" y="46116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0000 0000 0000 0000 0000 1100 0000 0000</a:t>
            </a:r>
            <a:endParaRPr lang="en-AU" altLang="zh-CN" sz="2000"/>
          </a:p>
        </p:txBody>
      </p:sp>
      <p:sp>
        <p:nvSpPr>
          <p:cNvPr id="67595" name="Text Box 10"/>
          <p:cNvSpPr txBox="1">
            <a:spLocks noChangeArrowheads="1"/>
          </p:cNvSpPr>
          <p:nvPr/>
        </p:nvSpPr>
        <p:spPr bwMode="auto">
          <a:xfrm>
            <a:off x="1287463" y="46116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$t0</a:t>
            </a:r>
            <a:endParaRPr lang="en-AU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B70E46F-AFAD-4645-A1EF-0D035F09C379}" type="slidenum">
              <a:rPr lang="en-AU" altLang="zh-CN" sz="1400"/>
            </a:fld>
            <a:endParaRPr lang="en-AU" altLang="zh-CN" sz="1400"/>
          </a:p>
        </p:txBody>
      </p:sp>
      <p:sp>
        <p:nvSpPr>
          <p:cNvPr id="69635" name="Rectangle 2"/>
          <p:cNvSpPr>
            <a:spLocks noChangeArrowheads="1"/>
          </p:cNvSpPr>
          <p:nvPr/>
        </p:nvSpPr>
        <p:spPr bwMode="auto">
          <a:xfrm>
            <a:off x="4859338" y="3408363"/>
            <a:ext cx="612775" cy="1604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OR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963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073275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Useful to include bits in a word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Set some bits to 1, leave others unchanged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or $t0, $t1, $t2</a:t>
            </a:r>
            <a:endParaRPr lang="en-AU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69638" name="Text Box 5"/>
          <p:cNvSpPr txBox="1">
            <a:spLocks noChangeArrowheads="1"/>
          </p:cNvSpPr>
          <p:nvPr/>
        </p:nvSpPr>
        <p:spPr bwMode="auto">
          <a:xfrm>
            <a:off x="1924050" y="3403600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0000 0000 0000 0000 0000 1101 1100 0000</a:t>
            </a:r>
            <a:endParaRPr lang="en-AU" altLang="zh-CN" sz="2000"/>
          </a:p>
        </p:txBody>
      </p:sp>
      <p:sp>
        <p:nvSpPr>
          <p:cNvPr id="69639" name="Text Box 6"/>
          <p:cNvSpPr txBox="1">
            <a:spLocks noChangeArrowheads="1"/>
          </p:cNvSpPr>
          <p:nvPr/>
        </p:nvSpPr>
        <p:spPr bwMode="auto">
          <a:xfrm>
            <a:off x="1924050" y="39639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0000 0000 0000 0000 0011 1100 0000 0000</a:t>
            </a:r>
            <a:endParaRPr lang="en-AU" altLang="zh-CN" sz="2000"/>
          </a:p>
        </p:txBody>
      </p:sp>
      <p:sp>
        <p:nvSpPr>
          <p:cNvPr id="69640" name="Text Box 7"/>
          <p:cNvSpPr txBox="1">
            <a:spLocks noChangeArrowheads="1"/>
          </p:cNvSpPr>
          <p:nvPr/>
        </p:nvSpPr>
        <p:spPr bwMode="auto">
          <a:xfrm>
            <a:off x="1287463" y="3403600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$t2</a:t>
            </a:r>
            <a:endParaRPr lang="en-AU" altLang="zh-CN" sz="2000"/>
          </a:p>
        </p:txBody>
      </p:sp>
      <p:sp>
        <p:nvSpPr>
          <p:cNvPr id="69641" name="Text Box 8"/>
          <p:cNvSpPr txBox="1">
            <a:spLocks noChangeArrowheads="1"/>
          </p:cNvSpPr>
          <p:nvPr/>
        </p:nvSpPr>
        <p:spPr bwMode="auto">
          <a:xfrm>
            <a:off x="1287463" y="39639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$t1</a:t>
            </a:r>
            <a:endParaRPr lang="en-AU" altLang="zh-CN" sz="2000"/>
          </a:p>
        </p:txBody>
      </p:sp>
      <p:sp>
        <p:nvSpPr>
          <p:cNvPr id="69642" name="Text Box 9"/>
          <p:cNvSpPr txBox="1">
            <a:spLocks noChangeArrowheads="1"/>
          </p:cNvSpPr>
          <p:nvPr/>
        </p:nvSpPr>
        <p:spPr bwMode="auto">
          <a:xfrm>
            <a:off x="1924050" y="46116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0000 0000 0000 0000 0011 1101 1100 0000</a:t>
            </a:r>
            <a:endParaRPr lang="en-AU" altLang="zh-CN" sz="2000"/>
          </a:p>
        </p:txBody>
      </p:sp>
      <p:sp>
        <p:nvSpPr>
          <p:cNvPr id="69643" name="Text Box 10"/>
          <p:cNvSpPr txBox="1">
            <a:spLocks noChangeArrowheads="1"/>
          </p:cNvSpPr>
          <p:nvPr/>
        </p:nvSpPr>
        <p:spPr bwMode="auto">
          <a:xfrm>
            <a:off x="1287463" y="46116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$t0</a:t>
            </a:r>
            <a:endParaRPr lang="en-AU" altLang="zh-CN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8A72901-B79C-4D86-B601-8FE87D929193}" type="slidenum">
              <a:rPr lang="en-AU" altLang="zh-CN" sz="1400"/>
            </a:fld>
            <a:endParaRPr lang="en-AU" altLang="zh-CN" sz="1400"/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NOT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3227387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Useful to invert bits in a word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Change 0 to 1, and 1 to 0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MIPS has NOR 3-operand instruction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a NOR b == NOT ( a OR b )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nor $t0, $t1, $zero</a:t>
            </a:r>
            <a:endParaRPr lang="en-AU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71685" name="Text Box 4"/>
          <p:cNvSpPr txBox="1">
            <a:spLocks noChangeArrowheads="1"/>
          </p:cNvSpPr>
          <p:nvPr/>
        </p:nvSpPr>
        <p:spPr bwMode="auto">
          <a:xfrm>
            <a:off x="1924050" y="45862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0000 0000 0000 0000 0011 1100 0000 0000</a:t>
            </a:r>
            <a:endParaRPr lang="en-AU" altLang="zh-CN" sz="2000"/>
          </a:p>
        </p:txBody>
      </p:sp>
      <p:sp>
        <p:nvSpPr>
          <p:cNvPr id="71686" name="Text Box 5"/>
          <p:cNvSpPr txBox="1">
            <a:spLocks noChangeArrowheads="1"/>
          </p:cNvSpPr>
          <p:nvPr/>
        </p:nvSpPr>
        <p:spPr bwMode="auto">
          <a:xfrm>
            <a:off x="1287463" y="45862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$t1</a:t>
            </a:r>
            <a:endParaRPr lang="en-AU" altLang="zh-CN" sz="2000"/>
          </a:p>
        </p:txBody>
      </p:sp>
      <p:sp>
        <p:nvSpPr>
          <p:cNvPr id="71687" name="Text Box 6"/>
          <p:cNvSpPr txBox="1">
            <a:spLocks noChangeArrowheads="1"/>
          </p:cNvSpPr>
          <p:nvPr/>
        </p:nvSpPr>
        <p:spPr bwMode="auto">
          <a:xfrm>
            <a:off x="1924050" y="523398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1111 1111 1111 1111 1100 0011 1111 1111</a:t>
            </a:r>
            <a:endParaRPr lang="en-AU" altLang="zh-CN" sz="2000"/>
          </a:p>
        </p:txBody>
      </p:sp>
      <p:sp>
        <p:nvSpPr>
          <p:cNvPr id="71688" name="Text Box 7"/>
          <p:cNvSpPr txBox="1">
            <a:spLocks noChangeArrowheads="1"/>
          </p:cNvSpPr>
          <p:nvPr/>
        </p:nvSpPr>
        <p:spPr bwMode="auto">
          <a:xfrm>
            <a:off x="1287463" y="5233988"/>
            <a:ext cx="536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$t0</a:t>
            </a:r>
            <a:endParaRPr lang="en-AU" altLang="zh-CN" sz="2000"/>
          </a:p>
        </p:txBody>
      </p:sp>
      <p:sp>
        <p:nvSpPr>
          <p:cNvPr id="71689" name="AutoShape 8"/>
          <p:cNvSpPr/>
          <p:nvPr/>
        </p:nvSpPr>
        <p:spPr bwMode="auto">
          <a:xfrm>
            <a:off x="6877050" y="3573463"/>
            <a:ext cx="2084388" cy="609600"/>
          </a:xfrm>
          <a:prstGeom prst="borderCallout1">
            <a:avLst>
              <a:gd name="adj1" fmla="val 18750"/>
              <a:gd name="adj2" fmla="val -3657"/>
              <a:gd name="adj3" fmla="val 26301"/>
              <a:gd name="adj4" fmla="val -754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Register 0: always read as zero</a:t>
            </a:r>
            <a:endParaRPr lang="en-AU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2E54E79-71E0-4C01-9B88-4BFBA6DF4CC0}" type="slidenum">
              <a:rPr lang="en-AU" altLang="zh-CN" sz="1400"/>
            </a:fld>
            <a:endParaRPr lang="en-AU" altLang="zh-CN" sz="140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Conditional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Branch to a labeled instruction if a condition is true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Otherwise, continue sequentially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beq rs, rt, L1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if (rs == rt) branch to instruction labeled L1;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bne rs, rt, L1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if (rs != rt) branch to instruction labeled L1;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j L1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unconditional jump to instruction labeled L1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3733" name="Text Box 4"/>
          <p:cNvSpPr txBox="1">
            <a:spLocks noChangeArrowheads="1"/>
          </p:cNvSpPr>
          <p:nvPr/>
        </p:nvSpPr>
        <p:spPr bwMode="auto">
          <a:xfrm rot="5400000">
            <a:off x="6938169" y="1839119"/>
            <a:ext cx="4044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§2.7 Instructions for Making Decisions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0E6A114-C260-40A2-A1BF-582FAD7FA31C}" type="slidenum">
              <a:rPr lang="en-AU" altLang="zh-CN" sz="1400"/>
            </a:fld>
            <a:endParaRPr lang="en-AU" altLang="zh-CN" sz="14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Compiling If Statements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if (i==j) f = g+h;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else f = g-h;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f, g, …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$s0, $s1, …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Compiled 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      </a:t>
            </a: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bne $s3, $s4, Else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add $s0, $s1, $s2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j   Exit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Else: sub $s0, $s1, $s2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Exit: …</a:t>
            </a:r>
            <a:endParaRPr lang="en-AU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37893" name="AutoShape 5"/>
          <p:cNvSpPr/>
          <p:nvPr/>
        </p:nvSpPr>
        <p:spPr bwMode="auto">
          <a:xfrm>
            <a:off x="3635375" y="5805488"/>
            <a:ext cx="3529013" cy="403225"/>
          </a:xfrm>
          <a:prstGeom prst="borderCallout1">
            <a:avLst>
              <a:gd name="adj1" fmla="val 28347"/>
              <a:gd name="adj2" fmla="val -2157"/>
              <a:gd name="adj3" fmla="val -57875"/>
              <a:gd name="adj4" fmla="val -389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800"/>
              <a:t>Assembler calculates addresses</a:t>
            </a:r>
            <a:endParaRPr lang="en-AU" altLang="zh-CN" sz="1800"/>
          </a:p>
        </p:txBody>
      </p:sp>
      <p:pic>
        <p:nvPicPr>
          <p:cNvPr id="75782" name="Picture 6" descr="f02-09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484313"/>
            <a:ext cx="3468687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25D47EFE-83DC-4DAF-B38A-9E39D5746DBC}" type="slidenum">
              <a:rPr lang="en-AU" altLang="zh-CN" sz="1400"/>
            </a:fld>
            <a:endParaRPr lang="en-AU" altLang="zh-CN" sz="14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Compiling Loop Statements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while (save[i] == k) i += 1;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$s3</a:t>
            </a:r>
            <a:r>
              <a:rPr lang="en-US" altLang="zh-CN" smtClean="0">
                <a:ea typeface="宋体" panose="02010600030101010101" pitchFamily="2" charset="-122"/>
              </a:rPr>
              <a:t>, k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$s5</a:t>
            </a:r>
            <a:r>
              <a:rPr lang="en-US" altLang="zh-CN" smtClean="0">
                <a:ea typeface="宋体" panose="02010600030101010101" pitchFamily="2" charset="-122"/>
              </a:rPr>
              <a:t>, address of save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$s6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Compiled 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Loop: sll  $t1, $s3, 2	</a:t>
            </a: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# $t1 = i*4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add  $t1, $t1, $s6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lw   $t0, 0($t1)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bne  $t0, $s5, Exit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addi $s3, $s3, 1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 j    Loop</a:t>
            </a:r>
            <a:b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Exit: …</a:t>
            </a:r>
            <a:endParaRPr lang="en-AU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F0A1A11E-4B67-4B7D-8355-EA5F1612CD35}" type="slidenum">
              <a:rPr lang="en-AU" altLang="zh-CN" sz="1400"/>
            </a:fld>
            <a:endParaRPr lang="en-AU" altLang="zh-CN" sz="14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Basic Blocks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303462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 basic block is a sequence of instructions with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No embedded branches </a:t>
            </a:r>
            <a:r>
              <a:rPr lang="en-US" altLang="zh-CN" smtClean="0">
                <a:ea typeface="宋体" panose="02010600030101010101" pitchFamily="2" charset="-122"/>
              </a:rPr>
              <a:t>(except at end)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No branch targets </a:t>
            </a:r>
            <a:r>
              <a:rPr lang="en-US" altLang="zh-CN" smtClean="0">
                <a:ea typeface="宋体" panose="02010600030101010101" pitchFamily="2" charset="-122"/>
              </a:rPr>
              <a:t>(except at beginning)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pSp>
        <p:nvGrpSpPr>
          <p:cNvPr id="79877" name="Group 4"/>
          <p:cNvGrpSpPr/>
          <p:nvPr/>
        </p:nvGrpSpPr>
        <p:grpSpPr bwMode="auto">
          <a:xfrm>
            <a:off x="755650" y="3573463"/>
            <a:ext cx="3311525" cy="2592387"/>
            <a:chOff x="1429" y="2296"/>
            <a:chExt cx="2086" cy="1633"/>
          </a:xfrm>
        </p:grpSpPr>
        <p:sp>
          <p:nvSpPr>
            <p:cNvPr id="79879" name="Rectangle 5"/>
            <p:cNvSpPr>
              <a:spLocks noChangeArrowheads="1"/>
            </p:cNvSpPr>
            <p:nvPr/>
          </p:nvSpPr>
          <p:spPr bwMode="auto">
            <a:xfrm>
              <a:off x="1791" y="2614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0" name="Rectangle 6"/>
            <p:cNvSpPr>
              <a:spLocks noChangeArrowheads="1"/>
            </p:cNvSpPr>
            <p:nvPr/>
          </p:nvSpPr>
          <p:spPr bwMode="auto">
            <a:xfrm>
              <a:off x="1791" y="2750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1" name="Rectangle 7"/>
            <p:cNvSpPr>
              <a:spLocks noChangeArrowheads="1"/>
            </p:cNvSpPr>
            <p:nvPr/>
          </p:nvSpPr>
          <p:spPr bwMode="auto">
            <a:xfrm>
              <a:off x="1791" y="2886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2" name="Rectangle 8"/>
            <p:cNvSpPr>
              <a:spLocks noChangeArrowheads="1"/>
            </p:cNvSpPr>
            <p:nvPr/>
          </p:nvSpPr>
          <p:spPr bwMode="auto">
            <a:xfrm>
              <a:off x="1791" y="3022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3" name="Rectangle 9"/>
            <p:cNvSpPr>
              <a:spLocks noChangeArrowheads="1"/>
            </p:cNvSpPr>
            <p:nvPr/>
          </p:nvSpPr>
          <p:spPr bwMode="auto">
            <a:xfrm>
              <a:off x="1791" y="3158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4" name="Rectangle 10"/>
            <p:cNvSpPr>
              <a:spLocks noChangeArrowheads="1"/>
            </p:cNvSpPr>
            <p:nvPr/>
          </p:nvSpPr>
          <p:spPr bwMode="auto">
            <a:xfrm>
              <a:off x="1791" y="3294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5" name="Rectangle 11"/>
            <p:cNvSpPr>
              <a:spLocks noChangeArrowheads="1"/>
            </p:cNvSpPr>
            <p:nvPr/>
          </p:nvSpPr>
          <p:spPr bwMode="auto">
            <a:xfrm>
              <a:off x="1791" y="3430"/>
              <a:ext cx="1270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86" name="Line 12"/>
            <p:cNvSpPr>
              <a:spLocks noChangeShapeType="1"/>
            </p:cNvSpPr>
            <p:nvPr/>
          </p:nvSpPr>
          <p:spPr bwMode="auto">
            <a:xfrm>
              <a:off x="2426" y="2296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7" name="Line 13"/>
            <p:cNvSpPr>
              <a:spLocks noChangeShapeType="1"/>
            </p:cNvSpPr>
            <p:nvPr/>
          </p:nvSpPr>
          <p:spPr bwMode="auto">
            <a:xfrm>
              <a:off x="2426" y="2614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8" name="Line 14"/>
            <p:cNvSpPr>
              <a:spLocks noChangeShapeType="1"/>
            </p:cNvSpPr>
            <p:nvPr/>
          </p:nvSpPr>
          <p:spPr bwMode="auto">
            <a:xfrm>
              <a:off x="2426" y="352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89" name="Line 15"/>
            <p:cNvSpPr>
              <a:spLocks noChangeShapeType="1"/>
            </p:cNvSpPr>
            <p:nvPr/>
          </p:nvSpPr>
          <p:spPr bwMode="auto">
            <a:xfrm>
              <a:off x="2426" y="3521"/>
              <a:ext cx="10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0" name="Line 16"/>
            <p:cNvSpPr>
              <a:spLocks noChangeShapeType="1"/>
            </p:cNvSpPr>
            <p:nvPr/>
          </p:nvSpPr>
          <p:spPr bwMode="auto">
            <a:xfrm>
              <a:off x="1429" y="2659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891" name="Rectangle 17"/>
            <p:cNvSpPr>
              <a:spLocks noChangeArrowheads="1"/>
            </p:cNvSpPr>
            <p:nvPr/>
          </p:nvSpPr>
          <p:spPr bwMode="auto">
            <a:xfrm>
              <a:off x="1791" y="2478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92" name="Rectangle 18"/>
            <p:cNvSpPr>
              <a:spLocks noChangeArrowheads="1"/>
            </p:cNvSpPr>
            <p:nvPr/>
          </p:nvSpPr>
          <p:spPr bwMode="auto">
            <a:xfrm>
              <a:off x="1791" y="2341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93" name="Rectangle 19"/>
            <p:cNvSpPr>
              <a:spLocks noChangeArrowheads="1"/>
            </p:cNvSpPr>
            <p:nvPr/>
          </p:nvSpPr>
          <p:spPr bwMode="auto">
            <a:xfrm>
              <a:off x="1791" y="3566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79894" name="Rectangle 20"/>
            <p:cNvSpPr>
              <a:spLocks noChangeArrowheads="1"/>
            </p:cNvSpPr>
            <p:nvPr/>
          </p:nvSpPr>
          <p:spPr bwMode="auto">
            <a:xfrm>
              <a:off x="1791" y="3702"/>
              <a:ext cx="1270" cy="1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</p:grpSp>
      <p:sp>
        <p:nvSpPr>
          <p:cNvPr id="37894" name="Rectangle 21"/>
          <p:cNvSpPr>
            <a:spLocks noChangeArrowheads="1"/>
          </p:cNvSpPr>
          <p:nvPr/>
        </p:nvSpPr>
        <p:spPr bwMode="auto">
          <a:xfrm>
            <a:off x="4211638" y="3716338"/>
            <a:ext cx="467042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/>
              <a:t>A compiler identifies basic blocks for optimization</a:t>
            </a:r>
            <a:endParaRPr lang="en-US" altLang="zh-CN" sz="2800"/>
          </a:p>
          <a:p>
            <a:pPr eaLnBrk="1" hangingPunct="1"/>
            <a:r>
              <a:rPr lang="en-US" altLang="zh-CN" sz="2800"/>
              <a:t>An advanced processor can accelerate execution of basic blocks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30E3B28-4DC1-4025-968E-FD22BEC879DE}" type="slidenum">
              <a:rPr lang="en-AU" altLang="zh-CN" sz="1400"/>
            </a:fld>
            <a:endParaRPr lang="en-AU" altLang="zh-CN" sz="1400"/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More Conditional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Set result to 1 if a condition is true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Otherwise, set to 0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 rd, rs, rt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if (rs &lt; rt) rd = 1; else rd = 0;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slti rt, rs, constant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if (rs &lt; constant) rt = 1; else rt = 0;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Use in combination with </a:t>
            </a: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r>
              <a:rPr lang="en-US" altLang="zh-CN" smtClean="0">
                <a:ea typeface="宋体" panose="02010600030101010101" pitchFamily="2" charset="-122"/>
              </a:rPr>
              <a:t>, </a:t>
            </a: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bne</a:t>
            </a:r>
            <a:endParaRPr lang="en-US" altLang="zh-CN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</a:t>
            </a: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 $t0, $s1, $s2  # if ($s1 &lt; $s2)</a:t>
            </a:r>
            <a:b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bne $t0, $zero, L  #   branch to L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04450935-4E2D-4FCD-AACB-4DF109CE14B6}" type="slidenum">
              <a:rPr lang="en-AU" altLang="zh-CN" sz="1400"/>
            </a:fld>
            <a:endParaRPr lang="en-AU" altLang="zh-CN" sz="140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Branch Instruction Design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Why not </a:t>
            </a:r>
            <a:r>
              <a:rPr lang="en-US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blt</a:t>
            </a:r>
            <a:r>
              <a:rPr lang="en-US" altLang="zh-CN" smtClean="0">
                <a:ea typeface="宋体" panose="02010600030101010101" pitchFamily="2" charset="-122"/>
              </a:rPr>
              <a:t>, </a:t>
            </a:r>
            <a:r>
              <a:rPr lang="en-US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bge</a:t>
            </a:r>
            <a:r>
              <a:rPr lang="en-US" altLang="zh-CN" smtClean="0">
                <a:ea typeface="宋体" panose="02010600030101010101" pitchFamily="2" charset="-122"/>
              </a:rPr>
              <a:t>, etc?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Hardware for &lt;, ≥, … slower than =, ≠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Combining with branch involves more work per instruction, requiring a slower clock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solidFill>
                  <a:srgbClr val="008000"/>
                </a:solidFill>
                <a:ea typeface="宋体" panose="02010600030101010101" pitchFamily="2" charset="-122"/>
              </a:rPr>
              <a:t>All instructions penalized!</a:t>
            </a:r>
            <a:endParaRPr lang="en-US" altLang="zh-CN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r>
              <a:rPr lang="en-US" altLang="zh-CN" smtClean="0">
                <a:ea typeface="宋体" panose="02010600030101010101" pitchFamily="2" charset="-122"/>
              </a:rPr>
              <a:t> and </a:t>
            </a:r>
            <a:r>
              <a:rPr lang="en-US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bne</a:t>
            </a:r>
            <a:r>
              <a:rPr lang="en-US" altLang="zh-CN" smtClean="0">
                <a:ea typeface="宋体" panose="02010600030101010101" pitchFamily="2" charset="-122"/>
              </a:rPr>
              <a:t> are the common case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This is a good design compromise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FE646B9F-74F9-4DDA-9C82-0BC0D4BDFEC5}" type="slidenum">
              <a:rPr lang="en-AU" altLang="zh-CN" sz="1400"/>
            </a:fld>
            <a:endParaRPr lang="en-AU" altLang="zh-CN" sz="1400"/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Signed vs. Unsigned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Signed comparison: </a:t>
            </a:r>
            <a:r>
              <a:rPr lang="en-AU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</a:t>
            </a:r>
            <a:r>
              <a:rPr lang="en-AU" altLang="zh-CN" smtClean="0">
                <a:ea typeface="宋体" panose="02010600030101010101" pitchFamily="2" charset="-122"/>
              </a:rPr>
              <a:t>, </a:t>
            </a:r>
            <a:r>
              <a:rPr lang="en-AU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slti</a:t>
            </a:r>
            <a:endParaRPr lang="en-AU" altLang="zh-CN" smtClean="0">
              <a:solidFill>
                <a:srgbClr val="FF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Unsigned comparison: </a:t>
            </a:r>
            <a:r>
              <a:rPr lang="en-AU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sltu</a:t>
            </a:r>
            <a:r>
              <a:rPr lang="en-AU" altLang="zh-CN" smtClean="0">
                <a:ea typeface="宋体" panose="02010600030101010101" pitchFamily="2" charset="-122"/>
              </a:rPr>
              <a:t>, </a:t>
            </a:r>
            <a:r>
              <a:rPr lang="en-AU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sltui</a:t>
            </a:r>
            <a:endParaRPr lang="en-AU" altLang="zh-CN" smtClean="0">
              <a:solidFill>
                <a:srgbClr val="FF0000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Example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$s0 </a:t>
            </a:r>
            <a:r>
              <a:rPr lang="en-AU" altLang="zh-CN" smtClean="0">
                <a:ea typeface="宋体" panose="02010600030101010101" pitchFamily="2" charset="-122"/>
              </a:rPr>
              <a:t>= </a:t>
            </a:r>
            <a:r>
              <a:rPr lang="en-AU" altLang="zh-CN" sz="2400" smtClean="0">
                <a:ea typeface="宋体" panose="02010600030101010101" pitchFamily="2" charset="-122"/>
              </a:rPr>
              <a:t>1111 1111 1111 1111 1111 1111 1111 1111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$s1 </a:t>
            </a:r>
            <a:r>
              <a:rPr lang="en-AU" altLang="zh-CN" smtClean="0">
                <a:ea typeface="宋体" panose="02010600030101010101" pitchFamily="2" charset="-122"/>
              </a:rPr>
              <a:t>= </a:t>
            </a:r>
            <a:r>
              <a:rPr lang="en-AU" altLang="zh-CN" sz="2400" smtClean="0">
                <a:ea typeface="宋体" panose="02010600030101010101" pitchFamily="2" charset="-122"/>
              </a:rPr>
              <a:t>0000 0000 0000 0000 0000 0000 0000 0001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  $t0, $s0, $s1  # signed</a:t>
            </a:r>
            <a:endParaRPr lang="en-AU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mtClean="0">
                <a:ea typeface="宋体" panose="02010600030101010101" pitchFamily="2" charset="-122"/>
                <a:cs typeface="Arial" panose="020B0604020202020204" pitchFamily="34" charset="0"/>
              </a:rPr>
              <a:t>–1 &lt; +1 </a:t>
            </a:r>
            <a:r>
              <a:rPr lang="en-AU" altLang="zh-CN" smtClean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 $t0 = 1</a:t>
            </a:r>
            <a:endParaRPr lang="en-AU" altLang="zh-CN" smtClean="0"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 eaLnBrk="1" hangingPunct="1"/>
            <a:r>
              <a:rPr lang="en-AU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sltu $t0, $s0, $s1  # unsigned</a:t>
            </a:r>
            <a:endParaRPr lang="en-AU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+4,294,967,295 &gt; +1 </a:t>
            </a:r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 $t0 = 0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F2FB8B8-A9F9-46F4-82B5-96AEF82C28B8}" type="slidenum">
              <a:rPr lang="en-AU" altLang="zh-CN" sz="1400"/>
            </a:fld>
            <a:endParaRPr lang="en-AU" altLang="zh-CN" sz="1400"/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Procedure Calling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en-US" dirty="0" smtClean="0"/>
              <a:t>Procedures enable </a:t>
            </a:r>
            <a:r>
              <a:rPr lang="en-US" dirty="0" smtClean="0">
                <a:solidFill>
                  <a:srgbClr val="FF0000"/>
                </a:solidFill>
              </a:rPr>
              <a:t>structured</a:t>
            </a:r>
            <a:r>
              <a:rPr lang="en-US" dirty="0" smtClean="0"/>
              <a:t> programs</a:t>
            </a:r>
            <a:endParaRPr lang="en-US" dirty="0" smtClean="0"/>
          </a:p>
          <a:p>
            <a:pPr marL="1009650" lvl="1" indent="-609600" eaLnBrk="1" hangingPunct="1">
              <a:defRPr/>
            </a:pPr>
            <a:r>
              <a:rPr lang="en-US" dirty="0" smtClean="0"/>
              <a:t>Easier to understand and reuse code</a:t>
            </a:r>
            <a:endParaRPr lang="en-US" dirty="0" smtClean="0"/>
          </a:p>
          <a:p>
            <a:pPr marL="609600" indent="-609600" eaLnBrk="1" hangingPunct="1">
              <a:defRPr/>
            </a:pPr>
            <a:r>
              <a:rPr lang="en-US" dirty="0" smtClean="0"/>
              <a:t>Steps required</a:t>
            </a:r>
            <a:endParaRPr lang="en-US" dirty="0" smtClean="0"/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dirty="0" smtClean="0"/>
              <a:t>Place parameters in registers</a:t>
            </a:r>
            <a:endParaRPr lang="en-US" dirty="0" smtClean="0"/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dirty="0" smtClean="0"/>
              <a:t>Transfer control to procedure</a:t>
            </a:r>
            <a:endParaRPr lang="en-US" dirty="0" smtClean="0"/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dirty="0" smtClean="0"/>
              <a:t>Acquire storage for procedure</a:t>
            </a:r>
            <a:endParaRPr lang="en-US" dirty="0" smtClean="0"/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dirty="0" smtClean="0"/>
              <a:t>Perform procedure’s operations</a:t>
            </a:r>
            <a:endParaRPr lang="en-US" dirty="0" smtClean="0"/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dirty="0" smtClean="0"/>
              <a:t>Place result in register for caller</a:t>
            </a:r>
            <a:endParaRPr lang="en-US" dirty="0" smtClean="0"/>
          </a:p>
          <a:p>
            <a:pPr marL="990600" lvl="1" indent="-533400" eaLnBrk="1" hangingPunct="1">
              <a:buSzTx/>
              <a:buFont typeface="Wingdings" panose="05000000000000000000" pitchFamily="2" charset="2"/>
              <a:buAutoNum type="arabicPeriod"/>
              <a:defRPr/>
            </a:pPr>
            <a:r>
              <a:rPr lang="en-US" dirty="0" smtClean="0"/>
              <a:t>Return to place of call</a:t>
            </a:r>
            <a:endParaRPr lang="en-US" dirty="0" smtClean="0"/>
          </a:p>
        </p:txBody>
      </p:sp>
      <p:sp>
        <p:nvSpPr>
          <p:cNvPr id="88069" name="Text Box 4"/>
          <p:cNvSpPr txBox="1">
            <a:spLocks noChangeArrowheads="1"/>
          </p:cNvSpPr>
          <p:nvPr/>
        </p:nvSpPr>
        <p:spPr bwMode="auto">
          <a:xfrm rot="5400000">
            <a:off x="6265069" y="2512219"/>
            <a:ext cx="5391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§2.8 Supporting Procedures in Computer Hardware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034A40F-1245-4B82-8D47-899A32757709}" type="slidenum">
              <a:rPr lang="en-AU" altLang="zh-CN" sz="1400"/>
            </a:fld>
            <a:endParaRPr lang="en-AU" altLang="zh-CN" sz="1400"/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Register Usage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45978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$a0 – $a3: </a:t>
            </a:r>
            <a:r>
              <a:rPr lang="en-US" altLang="zh-CN" sz="2800" smtClean="0">
                <a:ea typeface="宋体" panose="02010600030101010101" pitchFamily="2" charset="-122"/>
              </a:rPr>
              <a:t>arguments (reg’s 4 – 7)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$v0, $v1: </a:t>
            </a:r>
            <a:r>
              <a:rPr lang="en-US" altLang="zh-CN" sz="2800" smtClean="0">
                <a:ea typeface="宋体" panose="02010600030101010101" pitchFamily="2" charset="-122"/>
              </a:rPr>
              <a:t>result (i.e. return) values (reg’s 2 and 3)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$t0 – $t9: </a:t>
            </a:r>
            <a:r>
              <a:rPr lang="en-US" altLang="zh-CN" sz="2800" smtClean="0">
                <a:ea typeface="宋体" panose="02010600030101010101" pitchFamily="2" charset="-122"/>
              </a:rPr>
              <a:t>temporaries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Can be overwritten by callee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$s0 – $s7: </a:t>
            </a:r>
            <a:r>
              <a:rPr lang="en-US" altLang="zh-CN" sz="2800" smtClean="0">
                <a:ea typeface="宋体" panose="02010600030101010101" pitchFamily="2" charset="-122"/>
              </a:rPr>
              <a:t>saved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Must be saved/restored by callee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$gp: </a:t>
            </a:r>
            <a:r>
              <a:rPr lang="en-US" altLang="zh-CN" sz="2800" smtClean="0">
                <a:ea typeface="宋体" panose="02010600030101010101" pitchFamily="2" charset="-122"/>
              </a:rPr>
              <a:t>global pointer for static data (reg 28)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$sp: </a:t>
            </a:r>
            <a:r>
              <a:rPr lang="en-US" altLang="zh-CN" sz="2800" smtClean="0">
                <a:ea typeface="宋体" panose="02010600030101010101" pitchFamily="2" charset="-122"/>
              </a:rPr>
              <a:t>stack pointer (reg 29)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$fp: </a:t>
            </a:r>
            <a:r>
              <a:rPr lang="en-US" altLang="zh-CN" sz="2800" smtClean="0">
                <a:ea typeface="宋体" panose="02010600030101010101" pitchFamily="2" charset="-122"/>
              </a:rPr>
              <a:t>frame pointer (reg 30)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$ra: </a:t>
            </a:r>
            <a:r>
              <a:rPr lang="en-US" altLang="zh-CN" sz="2800" smtClean="0">
                <a:ea typeface="宋体" panose="02010600030101010101" pitchFamily="2" charset="-122"/>
              </a:rPr>
              <a:t>return address (reg 31)</a:t>
            </a:r>
            <a:endParaRPr lang="en-US" altLang="zh-CN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40DC9B75-5767-4CFD-BC16-47DA03CC6164}" type="slidenum">
              <a:rPr lang="en-AU" altLang="zh-CN" sz="1400"/>
            </a:fld>
            <a:endParaRPr lang="en-AU" altLang="zh-CN" sz="1400"/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Procedure Call Instructions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Procedure call: jump and link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jal ProcedureLabel</a:t>
            </a:r>
            <a:endParaRPr lang="en-US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Address of following instruction put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$ra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Jumps to target address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Procedure return: jump register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8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jr $ra</a:t>
            </a:r>
            <a:endParaRPr lang="en-US" altLang="zh-CN" sz="28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Copies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$ra </a:t>
            </a:r>
            <a:r>
              <a:rPr lang="en-US" altLang="zh-CN" smtClean="0">
                <a:ea typeface="宋体" panose="02010600030101010101" pitchFamily="2" charset="-122"/>
              </a:rPr>
              <a:t>to program counter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Can also be used for computed jumps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e.g., for case/switch statements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6470399-46AE-4DDF-BFC7-0C87991FEA4C}" type="slidenum">
              <a:rPr lang="en-AU" altLang="zh-CN" sz="1400"/>
            </a:fld>
            <a:endParaRPr lang="en-AU" altLang="zh-CN" sz="1400"/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Leaf Procedure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4391025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int leaf_example (int g, h, i, j)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{ int f;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f = (g + h) - (i + j);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return f;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}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Arguments g, …, j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$a0, …, $a3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f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$s0 </a:t>
            </a:r>
            <a:r>
              <a:rPr lang="en-US" altLang="zh-CN" smtClean="0">
                <a:ea typeface="宋体" panose="02010600030101010101" pitchFamily="2" charset="-122"/>
              </a:rPr>
              <a:t>(hence, need to save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$s0 </a:t>
            </a:r>
            <a:r>
              <a:rPr lang="en-US" altLang="zh-CN" smtClean="0">
                <a:ea typeface="宋体" panose="02010600030101010101" pitchFamily="2" charset="-122"/>
              </a:rPr>
              <a:t>on stack)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Result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$v0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9270A9C-CE22-47BA-9F25-FAC6DAAED9B9}" type="slidenum">
              <a:rPr lang="en-AU" altLang="zh-CN" sz="1400"/>
            </a:fld>
            <a:endParaRPr lang="en-AU" altLang="zh-CN" sz="1400"/>
          </a:p>
        </p:txBody>
      </p:sp>
      <p:sp>
        <p:nvSpPr>
          <p:cNvPr id="96259" name="Rectangle 12"/>
          <p:cNvSpPr>
            <a:spLocks noChangeArrowheads="1"/>
          </p:cNvSpPr>
          <p:nvPr/>
        </p:nvSpPr>
        <p:spPr bwMode="auto">
          <a:xfrm>
            <a:off x="990600" y="2082800"/>
            <a:ext cx="5021263" cy="7747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96260" name="Rectangle 15"/>
          <p:cNvSpPr>
            <a:spLocks noChangeArrowheads="1"/>
          </p:cNvSpPr>
          <p:nvPr/>
        </p:nvSpPr>
        <p:spPr bwMode="auto">
          <a:xfrm>
            <a:off x="990600" y="2857500"/>
            <a:ext cx="5021263" cy="11477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96261" name="Rectangle 16"/>
          <p:cNvSpPr>
            <a:spLocks noChangeArrowheads="1"/>
          </p:cNvSpPr>
          <p:nvPr/>
        </p:nvSpPr>
        <p:spPr bwMode="auto">
          <a:xfrm>
            <a:off x="990600" y="4005263"/>
            <a:ext cx="5021263" cy="36671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96262" name="Rectangle 19"/>
          <p:cNvSpPr>
            <a:spLocks noChangeArrowheads="1"/>
          </p:cNvSpPr>
          <p:nvPr/>
        </p:nvSpPr>
        <p:spPr bwMode="auto">
          <a:xfrm>
            <a:off x="990600" y="1676400"/>
            <a:ext cx="5021263" cy="406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96263" name="Rectangle 20"/>
          <p:cNvSpPr>
            <a:spLocks noChangeArrowheads="1"/>
          </p:cNvSpPr>
          <p:nvPr/>
        </p:nvSpPr>
        <p:spPr bwMode="auto">
          <a:xfrm>
            <a:off x="990600" y="4371975"/>
            <a:ext cx="5021263" cy="7858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96264" name="Rectangle 21"/>
          <p:cNvSpPr>
            <a:spLocks noChangeArrowheads="1"/>
          </p:cNvSpPr>
          <p:nvPr/>
        </p:nvSpPr>
        <p:spPr bwMode="auto">
          <a:xfrm>
            <a:off x="990600" y="5157788"/>
            <a:ext cx="5021263" cy="3952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96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Leaf Procedure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62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MIPS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leaf_example: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addi $sp, $sp, -4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sw   $s0, 0($sp)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add  $t0, $a0, $a1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add  $t1, $a2, $a3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sub  $s0, $t0, $t1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add  $v0, $s0, $zero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lw   $s0, 0($sp)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addi $sp, $sp, 4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jr   $ra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96267" name="Text Box 4"/>
          <p:cNvSpPr txBox="1">
            <a:spLocks noChangeArrowheads="1"/>
          </p:cNvSpPr>
          <p:nvPr/>
        </p:nvSpPr>
        <p:spPr bwMode="auto">
          <a:xfrm>
            <a:off x="6224588" y="2347913"/>
            <a:ext cx="2001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</a:rPr>
              <a:t>Save $s0 on stack</a:t>
            </a:r>
            <a:endParaRPr lang="en-AU" altLang="zh-CN" sz="1800">
              <a:latin typeface="Tahoma" panose="020B0604030504040204" pitchFamily="34" charset="0"/>
            </a:endParaRPr>
          </a:p>
        </p:txBody>
      </p:sp>
      <p:sp>
        <p:nvSpPr>
          <p:cNvPr id="96268" name="Text Box 5"/>
          <p:cNvSpPr txBox="1">
            <a:spLocks noChangeArrowheads="1"/>
          </p:cNvSpPr>
          <p:nvPr/>
        </p:nvSpPr>
        <p:spPr bwMode="auto">
          <a:xfrm>
            <a:off x="6224588" y="3213100"/>
            <a:ext cx="1762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</a:rPr>
              <a:t>Procedure body</a:t>
            </a:r>
            <a:endParaRPr lang="en-AU" altLang="zh-CN" sz="1800">
              <a:latin typeface="Tahoma" panose="020B0604030504040204" pitchFamily="34" charset="0"/>
            </a:endParaRPr>
          </a:p>
        </p:txBody>
      </p:sp>
      <p:sp>
        <p:nvSpPr>
          <p:cNvPr id="96269" name="Text Box 6"/>
          <p:cNvSpPr txBox="1">
            <a:spLocks noChangeArrowheads="1"/>
          </p:cNvSpPr>
          <p:nvPr/>
        </p:nvSpPr>
        <p:spPr bwMode="auto">
          <a:xfrm>
            <a:off x="6224588" y="4581525"/>
            <a:ext cx="1374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</a:rPr>
              <a:t>Restore $s0</a:t>
            </a:r>
            <a:endParaRPr lang="en-AU" altLang="zh-CN" sz="1800">
              <a:latin typeface="Tahoma" panose="020B0604030504040204" pitchFamily="34" charset="0"/>
            </a:endParaRPr>
          </a:p>
        </p:txBody>
      </p:sp>
      <p:sp>
        <p:nvSpPr>
          <p:cNvPr id="96270" name="Text Box 10"/>
          <p:cNvSpPr txBox="1">
            <a:spLocks noChangeArrowheads="1"/>
          </p:cNvSpPr>
          <p:nvPr/>
        </p:nvSpPr>
        <p:spPr bwMode="auto">
          <a:xfrm>
            <a:off x="6224588" y="4005263"/>
            <a:ext cx="803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</a:rPr>
              <a:t>Result</a:t>
            </a:r>
            <a:endParaRPr lang="en-AU" altLang="zh-CN" sz="1800">
              <a:latin typeface="Tahoma" panose="020B0604030504040204" pitchFamily="34" charset="0"/>
            </a:endParaRPr>
          </a:p>
        </p:txBody>
      </p:sp>
      <p:sp>
        <p:nvSpPr>
          <p:cNvPr id="96271" name="Text Box 11"/>
          <p:cNvSpPr txBox="1">
            <a:spLocks noChangeArrowheads="1"/>
          </p:cNvSpPr>
          <p:nvPr/>
        </p:nvSpPr>
        <p:spPr bwMode="auto">
          <a:xfrm>
            <a:off x="6215063" y="5157788"/>
            <a:ext cx="858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</a:rPr>
              <a:t>Return</a:t>
            </a:r>
            <a:endParaRPr lang="en-AU" altLang="zh-CN" sz="1800">
              <a:latin typeface="Tahoma" panose="020B0604030504040204" pitchFamily="34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50825" y="5949950"/>
            <a:ext cx="8785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Think about the differences between 80x86 and MIPS Procedure Instructions! </a:t>
            </a:r>
            <a:endParaRPr lang="zh-CN" altLang="en-US"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16B53096-C0CC-49B6-B45D-1323FC109CAF}" type="slidenum">
              <a:rPr lang="en-AU" altLang="zh-CN" sz="1400"/>
            </a:fld>
            <a:endParaRPr lang="en-AU" altLang="zh-CN" sz="140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Non-Leaf Procedures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600" smtClean="0">
                <a:ea typeface="宋体" panose="02010600030101010101" pitchFamily="2" charset="-122"/>
              </a:rPr>
              <a:t>Procedures that call other procedures</a:t>
            </a:r>
            <a:endParaRPr lang="en-US" altLang="zh-CN" sz="26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smtClean="0">
                <a:ea typeface="宋体" panose="02010600030101010101" pitchFamily="2" charset="-122"/>
              </a:rPr>
              <a:t>For nested call, caller needs to save on the stack:</a:t>
            </a:r>
            <a:endParaRPr lang="en-US" altLang="zh-CN" sz="26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Any saved registers being used $s0-$s7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Its return address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Any arguments and temporaries needed after the call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e.g., suppose main program calls procedure A with an argument 3 in $a0 and then using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jal A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Then if procedure A calls procedure B via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jal B</a:t>
            </a:r>
            <a:r>
              <a:rPr lang="en-US" altLang="zh-CN" smtClean="0">
                <a:ea typeface="宋体" panose="02010600030101010101" pitchFamily="2" charset="-122"/>
              </a:rPr>
              <a:t> with an argument of 7 placed in $a0, there is a conflict over the use of register $a0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600" smtClean="0">
                <a:ea typeface="宋体" panose="02010600030101010101" pitchFamily="2" charset="-122"/>
              </a:rPr>
              <a:t>Restore from the stack after the call</a:t>
            </a:r>
            <a:endParaRPr lang="en-AU" altLang="zh-CN" sz="26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7496267-7E41-4DD6-9F22-467AEF0FCF1B}" type="slidenum">
              <a:rPr lang="en-AU" altLang="zh-CN" sz="1400"/>
            </a:fld>
            <a:endParaRPr lang="en-AU" altLang="zh-CN" sz="140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Non-Leaf Procedure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code: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int fact (int n)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{ 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if (n &lt; 1) return 1;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else return n * fact(n - 1);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}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Argument n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$a0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Result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$v0</a:t>
            </a:r>
            <a:endParaRPr lang="en-AU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B74A540-3BCD-4519-B62C-F540150E9845}" type="slidenum">
              <a:rPr lang="en-AU" altLang="zh-CN" sz="1400"/>
            </a:fld>
            <a:endParaRPr lang="en-AU" altLang="zh-CN" sz="1400"/>
          </a:p>
        </p:txBody>
      </p:sp>
      <p:sp>
        <p:nvSpPr>
          <p:cNvPr id="102403" name="Rectangle 4"/>
          <p:cNvSpPr>
            <a:spLocks noChangeArrowheads="1"/>
          </p:cNvSpPr>
          <p:nvPr/>
        </p:nvSpPr>
        <p:spPr bwMode="auto">
          <a:xfrm>
            <a:off x="1038225" y="1647825"/>
            <a:ext cx="7372350" cy="285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04" name="Rectangle 5"/>
          <p:cNvSpPr>
            <a:spLocks noChangeArrowheads="1"/>
          </p:cNvSpPr>
          <p:nvPr/>
        </p:nvSpPr>
        <p:spPr bwMode="auto">
          <a:xfrm>
            <a:off x="1038225" y="1933575"/>
            <a:ext cx="7372350" cy="8223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05" name="Rectangle 6"/>
          <p:cNvSpPr>
            <a:spLocks noChangeArrowheads="1"/>
          </p:cNvSpPr>
          <p:nvPr/>
        </p:nvSpPr>
        <p:spPr bwMode="auto">
          <a:xfrm>
            <a:off x="1038225" y="2755900"/>
            <a:ext cx="7372350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06" name="Rectangle 7"/>
          <p:cNvSpPr>
            <a:spLocks noChangeArrowheads="1"/>
          </p:cNvSpPr>
          <p:nvPr/>
        </p:nvSpPr>
        <p:spPr bwMode="auto">
          <a:xfrm>
            <a:off x="1038225" y="3308350"/>
            <a:ext cx="7372350" cy="8318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07" name="Rectangle 8"/>
          <p:cNvSpPr>
            <a:spLocks noChangeArrowheads="1"/>
          </p:cNvSpPr>
          <p:nvPr/>
        </p:nvSpPr>
        <p:spPr bwMode="auto">
          <a:xfrm>
            <a:off x="1038225" y="4140200"/>
            <a:ext cx="7372350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08" name="Rectangle 9"/>
          <p:cNvSpPr>
            <a:spLocks noChangeArrowheads="1"/>
          </p:cNvSpPr>
          <p:nvPr/>
        </p:nvSpPr>
        <p:spPr bwMode="auto">
          <a:xfrm>
            <a:off x="1038225" y="4692650"/>
            <a:ext cx="7372350" cy="812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09" name="Rectangle 10"/>
          <p:cNvSpPr>
            <a:spLocks noChangeArrowheads="1"/>
          </p:cNvSpPr>
          <p:nvPr/>
        </p:nvSpPr>
        <p:spPr bwMode="auto">
          <a:xfrm>
            <a:off x="1038225" y="5505450"/>
            <a:ext cx="7372350" cy="2730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10" name="Rectangle 11"/>
          <p:cNvSpPr>
            <a:spLocks noChangeArrowheads="1"/>
          </p:cNvSpPr>
          <p:nvPr/>
        </p:nvSpPr>
        <p:spPr bwMode="auto">
          <a:xfrm>
            <a:off x="1038225" y="5778500"/>
            <a:ext cx="7372350" cy="298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02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Non-Leaf Procedure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2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MIPS code: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	fact: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$sp, $sp, -8     # adjust stack for 2 items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sw   $ra, 4($sp)      # save return address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sw   $a0, 0($sp)      # save argument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slti $t0, $a0, 1      # test for n &lt; 1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beq  $t0, $zero, L1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$v0, $zero, 1    # if so, result is 1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$sp, $sp, 8      #   pop 2 items from stack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jr   $ra              #   and return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L1: addi $a0, $a0, -1     # else decrement n  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jal  fact             # recursive call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lw   $a0, 0($sp)      # restore original n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lw   $ra, 4($sp)      #   and return address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$sp, $sp, 8      # pop 2 items from stack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mul  $v0, $a0, $v0    # multiply to get result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jr   $ra              # and return</a:t>
            </a:r>
            <a:endParaRPr lang="en-US" altLang="zh-CN" sz="1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MIPS Register Conventions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04451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8F84767-87A5-46A9-8308-B5620FA7BE6D}" type="slidenum">
              <a:rPr lang="en-AU" altLang="zh-CN" sz="1400"/>
            </a:fld>
            <a:endParaRPr lang="en-AU" altLang="zh-CN" sz="1400"/>
          </a:p>
        </p:txBody>
      </p:sp>
      <p:pic>
        <p:nvPicPr>
          <p:cNvPr id="104452" name="Picture 4" descr="f02-1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158875"/>
            <a:ext cx="8535987" cy="414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411163" y="5300663"/>
            <a:ext cx="86248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Register 1, called </a:t>
            </a:r>
            <a:r>
              <a:rPr lang="en-US" altLang="zh-CN" sz="2400">
                <a:solidFill>
                  <a:srgbClr val="FF0000"/>
                </a:solidFill>
              </a:rPr>
              <a:t>$at</a:t>
            </a:r>
            <a:r>
              <a:rPr lang="en-US" altLang="zh-CN" sz="2400"/>
              <a:t>, is reserved for the assembler and registers 26−27, called </a:t>
            </a:r>
            <a:r>
              <a:rPr lang="en-US" altLang="zh-CN" sz="2400">
                <a:solidFill>
                  <a:srgbClr val="FF0000"/>
                </a:solidFill>
              </a:rPr>
              <a:t>$k0−$k1</a:t>
            </a:r>
            <a:r>
              <a:rPr lang="en-US" altLang="zh-CN" sz="2400"/>
              <a:t>, are reserved for the operating system. 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77DF8E7E-3DD5-4FA3-8E61-DE8C75C01116}" type="slidenum">
              <a:rPr lang="en-AU" altLang="zh-CN" sz="1400"/>
            </a:fld>
            <a:endParaRPr lang="en-AU" altLang="zh-CN" sz="1400"/>
          </a:p>
        </p:txBody>
      </p:sp>
      <p:sp>
        <p:nvSpPr>
          <p:cNvPr id="10649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Local Data on the Stack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650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4213" y="4581525"/>
            <a:ext cx="8270875" cy="16557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Local data allocated by callee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e.g., C automatic variables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Procedure frame (activation record)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Used by some compilers to manage stack storage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  <p:pic>
        <p:nvPicPr>
          <p:cNvPr id="106501" name="Picture 9" descr="f02-12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163" y="1268413"/>
            <a:ext cx="6567487" cy="318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068A123-2444-4136-A536-040D8D6FFF71}" type="slidenum">
              <a:rPr lang="en-AU" altLang="zh-CN" sz="1400"/>
            </a:fld>
            <a:endParaRPr lang="en-AU" altLang="zh-CN" sz="1400"/>
          </a:p>
        </p:txBody>
      </p:sp>
      <p:pic>
        <p:nvPicPr>
          <p:cNvPr id="108547" name="Picture 8" descr="f02-13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775" y="2060575"/>
            <a:ext cx="3617913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4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Memory Layout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325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5040313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009900"/>
                </a:solidFill>
                <a:ea typeface="宋体" panose="02010600030101010101" pitchFamily="2" charset="-122"/>
              </a:rPr>
              <a:t>Text:</a:t>
            </a:r>
            <a:r>
              <a:rPr lang="en-US" altLang="zh-CN" sz="2800" smtClean="0">
                <a:ea typeface="宋体" panose="02010600030101010101" pitchFamily="2" charset="-122"/>
              </a:rPr>
              <a:t> program code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009900"/>
                </a:solidFill>
                <a:ea typeface="宋体" panose="02010600030101010101" pitchFamily="2" charset="-122"/>
              </a:rPr>
              <a:t>Static data: </a:t>
            </a:r>
            <a:r>
              <a:rPr lang="en-US" altLang="zh-CN" sz="2800" smtClean="0">
                <a:ea typeface="宋体" panose="02010600030101010101" pitchFamily="2" charset="-122"/>
              </a:rPr>
              <a:t>global variables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e.g., static variables in C, constant arrays and strings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$gp initialized to address allowing ±offsets into this segment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009900"/>
                </a:solidFill>
                <a:ea typeface="宋体" panose="02010600030101010101" pitchFamily="2" charset="-122"/>
              </a:rPr>
              <a:t>Dynamic data: </a:t>
            </a:r>
            <a:r>
              <a:rPr lang="en-US" altLang="zh-CN" sz="2800" smtClean="0">
                <a:ea typeface="宋体" panose="02010600030101010101" pitchFamily="2" charset="-122"/>
              </a:rPr>
              <a:t>heap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E.g., malloc() in C, new in Java, linked lists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Must use free() in C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Memory leak issues!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solidFill>
                  <a:srgbClr val="009900"/>
                </a:solidFill>
                <a:ea typeface="宋体" panose="02010600030101010101" pitchFamily="2" charset="-122"/>
              </a:rPr>
              <a:t>Stack:</a:t>
            </a:r>
            <a:r>
              <a:rPr lang="en-US" altLang="zh-CN" sz="2800" smtClean="0">
                <a:ea typeface="宋体" panose="02010600030101010101" pitchFamily="2" charset="-122"/>
              </a:rPr>
              <a:t> automatic storage</a:t>
            </a:r>
            <a:endParaRPr lang="en-AU" altLang="zh-CN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B8E9F0F-FFF1-44C0-8AF0-BEBF753E0446}" type="slidenum">
              <a:rPr lang="en-AU" altLang="zh-CN" sz="1400"/>
            </a:fld>
            <a:endParaRPr lang="en-AU" altLang="zh-CN" sz="1400"/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Character Data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smtClean="0">
                <a:ea typeface="宋体" panose="02010600030101010101" pitchFamily="2" charset="-122"/>
              </a:rPr>
              <a:t>Byte-encoded character sets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smtClean="0">
                <a:solidFill>
                  <a:srgbClr val="FF0000"/>
                </a:solidFill>
                <a:ea typeface="宋体" panose="02010600030101010101" pitchFamily="2" charset="-122"/>
              </a:rPr>
              <a:t>ASCII:</a:t>
            </a:r>
            <a:r>
              <a:rPr lang="en-US" altLang="zh-CN" sz="2000" smtClean="0">
                <a:ea typeface="宋体" panose="02010600030101010101" pitchFamily="2" charset="-122"/>
              </a:rPr>
              <a:t> 128 characters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smtClean="0">
                <a:ea typeface="宋体" panose="02010600030101010101" pitchFamily="2" charset="-122"/>
              </a:rPr>
              <a:t>95 graphic, 33 non-printable control (almost obsolete now)</a:t>
            </a:r>
            <a:endParaRPr lang="en-US" altLang="zh-CN" sz="1800" smtClean="0">
              <a:ea typeface="宋体" panose="02010600030101010101" pitchFamily="2" charset="-122"/>
            </a:endParaRPr>
          </a:p>
          <a:p>
            <a:pPr lvl="1" eaLnBrk="1" hangingPunct="1"/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0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smtClean="0">
                <a:solidFill>
                  <a:srgbClr val="FF0000"/>
                </a:solidFill>
                <a:ea typeface="宋体" panose="02010600030101010101" pitchFamily="2" charset="-122"/>
              </a:rPr>
              <a:t>Latin-1: </a:t>
            </a:r>
            <a:r>
              <a:rPr lang="en-US" altLang="zh-CN" sz="2000" smtClean="0">
                <a:ea typeface="宋体" panose="02010600030101010101" pitchFamily="2" charset="-122"/>
              </a:rPr>
              <a:t>256 characters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1800" smtClean="0">
                <a:ea typeface="宋体" panose="02010600030101010101" pitchFamily="2" charset="-122"/>
              </a:rPr>
              <a:t>ASCII, +96 more graphic characters</a:t>
            </a:r>
            <a:endParaRPr lang="en-US" altLang="zh-CN" sz="1800" smtClean="0">
              <a:ea typeface="宋体" panose="02010600030101010101" pitchFamily="2" charset="-122"/>
            </a:endParaRPr>
          </a:p>
        </p:txBody>
      </p:sp>
      <p:sp>
        <p:nvSpPr>
          <p:cNvPr id="110597" name="Text Box 4"/>
          <p:cNvSpPr txBox="1">
            <a:spLocks noChangeArrowheads="1"/>
          </p:cNvSpPr>
          <p:nvPr/>
        </p:nvSpPr>
        <p:spPr bwMode="auto">
          <a:xfrm rot="5400000">
            <a:off x="7198519" y="1578769"/>
            <a:ext cx="35242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§2.9 Communicating with People</a:t>
            </a:r>
            <a:endParaRPr lang="en-US" altLang="zh-CN" sz="1800">
              <a:solidFill>
                <a:schemeClr val="folHlink"/>
              </a:solidFill>
            </a:endParaRPr>
          </a:p>
        </p:txBody>
      </p:sp>
      <p:pic>
        <p:nvPicPr>
          <p:cNvPr id="55302" name="Picture 4" descr="f02-15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97113"/>
            <a:ext cx="6989763" cy="335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Character Data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126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Unicode:</a:t>
            </a:r>
            <a:r>
              <a:rPr lang="en-US" altLang="zh-CN" sz="2400" smtClean="0">
                <a:ea typeface="宋体" panose="02010600030101010101" pitchFamily="2" charset="-122"/>
              </a:rPr>
              <a:t> 32-bit character set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Used in Java, C++ wide characters, …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UTF-8, UTF-16: variable-length encodings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smtClean="0">
                <a:ea typeface="宋体" panose="02010600030101010101" pitchFamily="2" charset="-122"/>
              </a:rPr>
              <a:t>Most of the world’s alphabets, plus symbols</a:t>
            </a:r>
            <a:endParaRPr lang="en-AU" altLang="zh-CN" sz="2000" smtClean="0">
              <a:ea typeface="宋体" panose="02010600030101010101" pitchFamily="2" charset="-122"/>
            </a:endParaRP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1264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E2C6330-CCCF-4B74-A4B7-864CDA7DE09B}" type="slidenum">
              <a:rPr lang="en-AU" altLang="zh-CN" sz="1400"/>
            </a:fld>
            <a:endParaRPr lang="en-AU" altLang="zh-CN" sz="1400"/>
          </a:p>
        </p:txBody>
      </p:sp>
      <p:pic>
        <p:nvPicPr>
          <p:cNvPr id="112645" name="Picture 4" descr="f02-16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714625"/>
            <a:ext cx="6581775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9A25772-1321-41D7-891D-900C61E47F8E}" type="slidenum">
              <a:rPr lang="en-AU" altLang="zh-CN" sz="1400"/>
            </a:fld>
            <a:endParaRPr lang="en-AU" altLang="zh-CN" sz="1400"/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Byte/Halfword Operations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To manipulate text (e.g. ASCII characters) byte operations are essential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MIPS byte/</a:t>
            </a:r>
            <a:r>
              <a:rPr lang="en-US" altLang="zh-CN" dirty="0" err="1" smtClean="0">
                <a:ea typeface="宋体" panose="02010600030101010101" pitchFamily="2" charset="-122"/>
              </a:rPr>
              <a:t>halfword</a:t>
            </a:r>
            <a:r>
              <a:rPr lang="en-US" altLang="zh-CN" dirty="0" smtClean="0">
                <a:ea typeface="宋体" panose="02010600030101010101" pitchFamily="2" charset="-122"/>
              </a:rPr>
              <a:t> load/store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String processing is a common case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lb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    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lh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US" altLang="zh-CN" sz="26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Sign extend to 32 bits in </a:t>
            </a:r>
            <a:r>
              <a:rPr lang="en-US" altLang="zh-CN" dirty="0" err="1" smtClean="0">
                <a:ea typeface="宋体" panose="02010600030101010101" pitchFamily="2" charset="-122"/>
              </a:rPr>
              <a:t>rt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lbu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   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lhu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US" altLang="zh-CN" sz="26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Zero extend to 32 bits in </a:t>
            </a:r>
            <a:r>
              <a:rPr lang="en-US" altLang="zh-CN" dirty="0" err="1" smtClean="0">
                <a:ea typeface="宋体" panose="02010600030101010101" pitchFamily="2" charset="-122"/>
              </a:rPr>
              <a:t>rt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sb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    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sh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US" altLang="zh-CN" sz="26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Store just rightmost byte/</a:t>
            </a:r>
            <a:r>
              <a:rPr lang="en-US" altLang="zh-CN" dirty="0" err="1" smtClean="0">
                <a:ea typeface="宋体" panose="02010600030101010101" pitchFamily="2" charset="-122"/>
              </a:rPr>
              <a:t>halfword</a:t>
            </a:r>
            <a:endParaRPr lang="en-AU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D46F6B1-B95B-45CD-9CD8-5E6025E9CA04}" type="slidenum">
              <a:rPr lang="en-AU" altLang="zh-CN" sz="1400"/>
            </a:fld>
            <a:endParaRPr lang="en-AU" altLang="zh-CN" sz="1400"/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String Copy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code (naïve):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Null-terminated string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	void strcpy (char x[], char y[])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{ int i;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i = 0;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while ((x[i]=y[i])!='\0')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i += 1;</a:t>
            </a:r>
            <a:b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2800" smtClean="0">
                <a:latin typeface="Lucida Console" panose="020B0609040504020204" pitchFamily="49" charset="0"/>
                <a:ea typeface="宋体" panose="02010600030101010101" pitchFamily="2" charset="-122"/>
              </a:rPr>
              <a:t>}</a:t>
            </a:r>
            <a:endParaRPr lang="en-US" altLang="zh-CN" sz="2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Addresses of x, y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$a0, $a1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$s0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850A378-DD87-4F3C-927E-63FFD0B851A8}" type="slidenum">
              <a:rPr lang="en-AU" altLang="zh-CN" sz="1400"/>
            </a:fld>
            <a:endParaRPr lang="en-AU" altLang="zh-CN" sz="1400"/>
          </a:p>
        </p:txBody>
      </p:sp>
      <p:sp>
        <p:nvSpPr>
          <p:cNvPr id="117763" name="Rectangle 4"/>
          <p:cNvSpPr>
            <a:spLocks noChangeArrowheads="1"/>
          </p:cNvSpPr>
          <p:nvPr/>
        </p:nvSpPr>
        <p:spPr bwMode="auto">
          <a:xfrm>
            <a:off x="1009650" y="1657350"/>
            <a:ext cx="7477125" cy="279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64" name="Rectangle 5"/>
          <p:cNvSpPr>
            <a:spLocks noChangeArrowheads="1"/>
          </p:cNvSpPr>
          <p:nvPr/>
        </p:nvSpPr>
        <p:spPr bwMode="auto">
          <a:xfrm>
            <a:off x="1009650" y="1936750"/>
            <a:ext cx="7477125" cy="5461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65" name="Rectangle 6"/>
          <p:cNvSpPr>
            <a:spLocks noChangeArrowheads="1"/>
          </p:cNvSpPr>
          <p:nvPr/>
        </p:nvSpPr>
        <p:spPr bwMode="auto">
          <a:xfrm>
            <a:off x="1009650" y="2482850"/>
            <a:ext cx="7477125" cy="2794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66" name="Rectangle 7"/>
          <p:cNvSpPr>
            <a:spLocks noChangeArrowheads="1"/>
          </p:cNvSpPr>
          <p:nvPr/>
        </p:nvSpPr>
        <p:spPr bwMode="auto">
          <a:xfrm>
            <a:off x="1009650" y="2762250"/>
            <a:ext cx="7477125" cy="539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67" name="Rectangle 8"/>
          <p:cNvSpPr>
            <a:spLocks noChangeArrowheads="1"/>
          </p:cNvSpPr>
          <p:nvPr/>
        </p:nvSpPr>
        <p:spPr bwMode="auto">
          <a:xfrm>
            <a:off x="1009650" y="3302000"/>
            <a:ext cx="7477125" cy="558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68" name="Rectangle 9"/>
          <p:cNvSpPr>
            <a:spLocks noChangeArrowheads="1"/>
          </p:cNvSpPr>
          <p:nvPr/>
        </p:nvSpPr>
        <p:spPr bwMode="auto">
          <a:xfrm>
            <a:off x="1009650" y="3860800"/>
            <a:ext cx="7477125" cy="2730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69" name="Rectangle 10"/>
          <p:cNvSpPr>
            <a:spLocks noChangeArrowheads="1"/>
          </p:cNvSpPr>
          <p:nvPr/>
        </p:nvSpPr>
        <p:spPr bwMode="auto">
          <a:xfrm>
            <a:off x="1009650" y="4133850"/>
            <a:ext cx="7477125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70" name="Rectangle 11"/>
          <p:cNvSpPr>
            <a:spLocks noChangeArrowheads="1"/>
          </p:cNvSpPr>
          <p:nvPr/>
        </p:nvSpPr>
        <p:spPr bwMode="auto">
          <a:xfrm>
            <a:off x="1009650" y="4686300"/>
            <a:ext cx="7477125" cy="5524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71" name="Rectangle 12"/>
          <p:cNvSpPr>
            <a:spLocks noChangeArrowheads="1"/>
          </p:cNvSpPr>
          <p:nvPr/>
        </p:nvSpPr>
        <p:spPr bwMode="auto">
          <a:xfrm>
            <a:off x="1009650" y="5238750"/>
            <a:ext cx="7477125" cy="285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7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String Copy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177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MIPS code: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	strcpy: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$sp, $sp, -4      # adjust stack for 1 item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sw   $s0, 0($sp)       # save $s0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  $s0, $zero, $zero # i = 0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L1: add  $t1, $s0, $a1     # addr of y[i] in $t1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lbu  $t2, 0($t1)       # $t2 = y[i]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  $t3, $s0, $a0     # addr of x[i] in $t3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sb   $t2, 0($t3)       # x[i] = y[i]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beq  $t2, $zero, L2    # exit loop if y[i] == 0  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$s0, $s0, 1       # i = i + 1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j    L1                # next iteration of loop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L2: lw   $s0, 0($sp)       # restore saved $s0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addi $sp, $sp, 4       # pop 1 item from stack</a:t>
            </a:r>
            <a:b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z="1800" smtClean="0">
                <a:latin typeface="Lucida Console" panose="020B0609040504020204" pitchFamily="49" charset="0"/>
                <a:ea typeface="宋体" panose="02010600030101010101" pitchFamily="2" charset="-122"/>
              </a:rPr>
              <a:t>    jr   $ra               # and return</a:t>
            </a:r>
            <a:endParaRPr lang="en-US" altLang="zh-CN" sz="18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 dirty="0"/>
              <a:t>Chapter 2 — Instructions: Language of the Computer — </a:t>
            </a:r>
            <a:fld id="{539A83A0-668E-4483-B327-62B14C6A2F11}" type="slidenum">
              <a:rPr lang="en-AU" altLang="zh-CN" sz="1400" dirty="0"/>
            </a:fld>
            <a:endParaRPr lang="en-AU" altLang="zh-CN" sz="1400" dirty="0"/>
          </a:p>
        </p:txBody>
      </p:sp>
      <p:sp>
        <p:nvSpPr>
          <p:cNvPr id="58371" name="Rectangle 11"/>
          <p:cNvSpPr>
            <a:spLocks noChangeArrowheads="1"/>
          </p:cNvSpPr>
          <p:nvPr/>
        </p:nvSpPr>
        <p:spPr bwMode="auto">
          <a:xfrm>
            <a:off x="3363913" y="4143375"/>
            <a:ext cx="2570162" cy="4111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3363913" y="414813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0000 0000 0111 1101 0000 0000 0000 0000</a:t>
            </a:r>
            <a:endParaRPr lang="en-AU" altLang="zh-CN" sz="2000"/>
          </a:p>
        </p:txBody>
      </p:sp>
      <p:sp>
        <p:nvSpPr>
          <p:cNvPr id="58373" name="Rectangle 12"/>
          <p:cNvSpPr>
            <a:spLocks noChangeArrowheads="1"/>
          </p:cNvSpPr>
          <p:nvPr/>
        </p:nvSpPr>
        <p:spPr bwMode="auto">
          <a:xfrm>
            <a:off x="5934075" y="4791075"/>
            <a:ext cx="2633663" cy="41116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1981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32-bit Constants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8375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684213" y="1071563"/>
            <a:ext cx="8270875" cy="5143500"/>
          </a:xfrm>
        </p:spPr>
        <p:txBody>
          <a:bodyPr/>
          <a:lstStyle/>
          <a:p>
            <a:pPr eaLnBrk="1" hangingPunct="1"/>
            <a:r>
              <a:rPr lang="en-US" altLang="zh-CN" sz="2400" dirty="0" smtClean="0">
                <a:ea typeface="宋体" panose="02010600030101010101" pitchFamily="2" charset="-122"/>
              </a:rPr>
              <a:t>Most constants are small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 smtClean="0">
                <a:ea typeface="宋体" panose="02010600030101010101" pitchFamily="2" charset="-122"/>
              </a:rPr>
              <a:t>16-bit immediate is sufficient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 smtClean="0">
                <a:ea typeface="宋体" panose="02010600030101010101" pitchFamily="2" charset="-122"/>
              </a:rPr>
              <a:t>For the occasional 32-bit constant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</a:t>
            </a:r>
            <a:r>
              <a:rPr lang="en-US" altLang="zh-CN" sz="24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lui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constant</a:t>
            </a:r>
            <a:endParaRPr lang="en-US" altLang="zh-CN" sz="24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000" dirty="0" smtClean="0">
                <a:ea typeface="宋体" panose="02010600030101010101" pitchFamily="2" charset="-122"/>
              </a:rPr>
              <a:t>Copies 16-bit </a:t>
            </a:r>
            <a:r>
              <a:rPr lang="en-US" altLang="zh-CN" sz="2000" dirty="0" err="1" smtClean="0">
                <a:ea typeface="宋体" panose="02010600030101010101" pitchFamily="2" charset="-122"/>
              </a:rPr>
              <a:t>const</a:t>
            </a:r>
            <a:r>
              <a:rPr lang="en-US" altLang="zh-CN" sz="2000" dirty="0" smtClean="0">
                <a:ea typeface="宋体" panose="02010600030101010101" pitchFamily="2" charset="-122"/>
              </a:rPr>
              <a:t> to left 16 bits of </a:t>
            </a:r>
            <a:r>
              <a:rPr lang="en-US" altLang="zh-CN" sz="2000" dirty="0" err="1" smtClean="0">
                <a:ea typeface="宋体" panose="02010600030101010101" pitchFamily="2" charset="-122"/>
              </a:rPr>
              <a:t>rt</a:t>
            </a:r>
            <a:r>
              <a:rPr lang="en-US" altLang="zh-CN" sz="2000" dirty="0" smtClean="0">
                <a:ea typeface="宋体" panose="02010600030101010101" pitchFamily="2" charset="-122"/>
              </a:rPr>
              <a:t>; Clears right 16 bits of </a:t>
            </a:r>
            <a:r>
              <a:rPr lang="en-US" altLang="zh-CN" sz="2000" dirty="0" err="1" smtClean="0">
                <a:ea typeface="宋体" panose="02010600030101010101" pitchFamily="2" charset="-122"/>
              </a:rPr>
              <a:t>rt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dirty="0" smtClean="0">
                <a:ea typeface="宋体" panose="02010600030101010101" pitchFamily="2" charset="-122"/>
              </a:rPr>
              <a:t>Example: how can we load 32 bit constant into </a:t>
            </a:r>
            <a:r>
              <a:rPr lang="en-US" altLang="zh-CN" sz="2400" dirty="0" smtClean="0">
                <a:solidFill>
                  <a:srgbClr val="FF0000"/>
                </a:solidFill>
                <a:ea typeface="宋体" panose="02010600030101010101" pitchFamily="2" charset="-122"/>
              </a:rPr>
              <a:t>$s0</a:t>
            </a:r>
            <a:r>
              <a:rPr lang="en-US" altLang="zh-CN" sz="2400" dirty="0" smtClean="0">
                <a:ea typeface="宋体" panose="02010600030101010101" pitchFamily="2" charset="-122"/>
              </a:rPr>
              <a:t>?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	  </a:t>
            </a:r>
            <a:r>
              <a:rPr lang="en-US" altLang="zh-CN" sz="2400" dirty="0" smtClean="0">
                <a:solidFill>
                  <a:srgbClr val="008000"/>
                </a:solidFill>
                <a:ea typeface="宋体" panose="02010600030101010101" pitchFamily="2" charset="-122"/>
              </a:rPr>
              <a:t>0000 0000 0111 1101 0000 1001 0000 0000</a:t>
            </a:r>
            <a:endParaRPr lang="en-US" altLang="zh-CN" sz="2400" dirty="0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eaLnBrk="1" hangingPunct="1">
              <a:buClr>
                <a:srgbClr val="ECEAAC"/>
              </a:buClr>
            </a:pPr>
            <a:r>
              <a:rPr lang="en-US" altLang="zh-CN" sz="2400" dirty="0" smtClean="0">
                <a:solidFill>
                  <a:srgbClr val="000000"/>
                </a:solidFill>
                <a:ea typeface="宋体" panose="02010600030101010101" pitchFamily="2" charset="-122"/>
              </a:rPr>
              <a:t>Typically </a:t>
            </a:r>
            <a:r>
              <a:rPr lang="en-US" altLang="zh-CN" sz="2400" dirty="0" smtClean="0">
                <a:solidFill>
                  <a:srgbClr val="FF0000"/>
                </a:solidFill>
                <a:ea typeface="宋体" panose="02010600030101010101" pitchFamily="2" charset="-122"/>
              </a:rPr>
              <a:t>assembler</a:t>
            </a:r>
            <a:r>
              <a:rPr lang="en-US" altLang="zh-CN" sz="2400" dirty="0" smtClean="0">
                <a:solidFill>
                  <a:srgbClr val="000000"/>
                </a:solidFill>
                <a:ea typeface="宋体" panose="02010600030101010101" pitchFamily="2" charset="-122"/>
              </a:rPr>
              <a:t> is responsible for breaking a large constant and reassembling into a register </a:t>
            </a:r>
            <a:r>
              <a:rPr lang="en-US" altLang="zh-CN" sz="2400" dirty="0" smtClean="0">
                <a:ea typeface="宋体" panose="02010600030101010101" pitchFamily="2" charset="-122"/>
              </a:rPr>
              <a:t>(using the reserved register </a:t>
            </a:r>
            <a:r>
              <a:rPr lang="en-US" altLang="zh-CN" sz="2400" dirty="0" smtClean="0">
                <a:solidFill>
                  <a:srgbClr val="FF0000"/>
                </a:solidFill>
                <a:ea typeface="宋体" panose="02010600030101010101" pitchFamily="2" charset="-122"/>
              </a:rPr>
              <a:t>$at</a:t>
            </a:r>
            <a:r>
              <a:rPr lang="en-US" altLang="zh-CN" sz="2400" dirty="0" smtClean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en-US" altLang="zh-CN" sz="2400" dirty="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8376" name="Text Box 5"/>
          <p:cNvSpPr txBox="1">
            <a:spLocks noChangeArrowheads="1"/>
          </p:cNvSpPr>
          <p:nvPr/>
        </p:nvSpPr>
        <p:spPr bwMode="auto">
          <a:xfrm>
            <a:off x="107950" y="4154488"/>
            <a:ext cx="20351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>
                <a:solidFill>
                  <a:schemeClr val="tx2"/>
                </a:solidFill>
                <a:latin typeface="Lucida Console" panose="020B0609040504020204" pitchFamily="49" charset="0"/>
              </a:rPr>
              <a:t>lui $s0, 61</a:t>
            </a:r>
            <a:endParaRPr lang="en-AU" altLang="zh-CN" sz="2200">
              <a:solidFill>
                <a:schemeClr val="tx2"/>
              </a:solidFill>
              <a:latin typeface="Lucida Console" panose="020B0609040504020204" pitchFamily="49" charset="0"/>
            </a:endParaRPr>
          </a:p>
        </p:txBody>
      </p:sp>
      <p:sp>
        <p:nvSpPr>
          <p:cNvPr id="58377" name="Text Box 6"/>
          <p:cNvSpPr txBox="1">
            <a:spLocks noChangeArrowheads="1"/>
          </p:cNvSpPr>
          <p:nvPr/>
        </p:nvSpPr>
        <p:spPr bwMode="auto">
          <a:xfrm>
            <a:off x="3363913" y="4795838"/>
            <a:ext cx="520382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0000 0000 0111 1101 0000 1001 0000 0000</a:t>
            </a:r>
            <a:endParaRPr lang="en-AU" altLang="zh-CN" sz="2000"/>
          </a:p>
        </p:txBody>
      </p:sp>
      <p:sp>
        <p:nvSpPr>
          <p:cNvPr id="58378" name="Text Box 7"/>
          <p:cNvSpPr txBox="1">
            <a:spLocks noChangeArrowheads="1"/>
          </p:cNvSpPr>
          <p:nvPr/>
        </p:nvSpPr>
        <p:spPr bwMode="auto">
          <a:xfrm>
            <a:off x="107950" y="4802188"/>
            <a:ext cx="32131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>
                <a:solidFill>
                  <a:schemeClr val="tx2"/>
                </a:solidFill>
                <a:latin typeface="Lucida Console" panose="020B0609040504020204" pitchFamily="49" charset="0"/>
              </a:rPr>
              <a:t>ori $s0, $s0, 2304</a:t>
            </a:r>
            <a:endParaRPr lang="en-AU" altLang="zh-CN" sz="2200">
              <a:solidFill>
                <a:schemeClr val="tx2"/>
              </a:solidFill>
              <a:latin typeface="Lucida Console" panose="020B0609040504020204" pitchFamily="49" charset="0"/>
            </a:endParaRPr>
          </a:p>
        </p:txBody>
      </p:sp>
      <p:sp>
        <p:nvSpPr>
          <p:cNvPr id="119819" name="Text Box 8"/>
          <p:cNvSpPr txBox="1">
            <a:spLocks noChangeArrowheads="1"/>
          </p:cNvSpPr>
          <p:nvPr/>
        </p:nvSpPr>
        <p:spPr bwMode="auto">
          <a:xfrm rot="5400000">
            <a:off x="5757069" y="3020219"/>
            <a:ext cx="6407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§2.10 MIPS Addressing for 32-Bit Immediates and Addresses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nimBg="1"/>
      <p:bldP spid="58372" grpId="0" animBg="1"/>
      <p:bldP spid="58373" grpId="0" animBg="1"/>
      <p:bldP spid="58376" grpId="0"/>
      <p:bldP spid="58377" grpId="0" animBg="1"/>
      <p:bldP spid="5837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BE552BBC-793F-41A7-82B7-CBC3D560D559}" type="slidenum">
              <a:rPr lang="en-AU" altLang="zh-CN" sz="1400"/>
            </a:fld>
            <a:endParaRPr lang="en-AU" altLang="zh-CN" sz="1400"/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Branch Addressing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00125"/>
            <a:ext cx="8270875" cy="2214563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Branch instructions specify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Opcode, two registers, target address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If addresses had to fit in 16-bits, then no program could be bigger than 2</a:t>
            </a:r>
            <a:r>
              <a:rPr lang="en-US" altLang="zh-CN" baseline="30000" smtClean="0">
                <a:ea typeface="宋体" panose="02010600030101010101" pitchFamily="2" charset="-122"/>
              </a:rPr>
              <a:t>16</a:t>
            </a:r>
            <a:endParaRPr lang="en-US" altLang="zh-CN" baseline="30000" smtClean="0">
              <a:ea typeface="宋体" panose="02010600030101010101" pitchFamily="2" charset="-122"/>
            </a:endParaRPr>
          </a:p>
        </p:txBody>
      </p:sp>
      <p:grpSp>
        <p:nvGrpSpPr>
          <p:cNvPr id="121861" name="Group 4"/>
          <p:cNvGrpSpPr/>
          <p:nvPr/>
        </p:nvGrpSpPr>
        <p:grpSpPr bwMode="auto">
          <a:xfrm>
            <a:off x="1403350" y="3441700"/>
            <a:ext cx="6913563" cy="773113"/>
            <a:chOff x="884" y="981"/>
            <a:chExt cx="4355" cy="487"/>
          </a:xfrm>
        </p:grpSpPr>
        <p:sp>
          <p:nvSpPr>
            <p:cNvPr id="121863" name="Text Box 5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op</a:t>
              </a:r>
              <a:endParaRPr lang="en-AU" altLang="zh-CN" sz="2000"/>
            </a:p>
          </p:txBody>
        </p:sp>
        <p:sp>
          <p:nvSpPr>
            <p:cNvPr id="121864" name="Text Box 6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rs</a:t>
              </a:r>
              <a:endParaRPr lang="en-AU" altLang="zh-CN" sz="2000"/>
            </a:p>
          </p:txBody>
        </p:sp>
        <p:sp>
          <p:nvSpPr>
            <p:cNvPr id="121865" name="Text Box 7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rt</a:t>
              </a:r>
              <a:endParaRPr lang="en-AU" altLang="zh-CN" sz="2000"/>
            </a:p>
          </p:txBody>
        </p:sp>
        <p:sp>
          <p:nvSpPr>
            <p:cNvPr id="121866" name="Text Box 8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constant or address</a:t>
              </a:r>
              <a:endParaRPr lang="en-AU" altLang="zh-CN" sz="2000"/>
            </a:p>
          </p:txBody>
        </p:sp>
        <p:sp>
          <p:nvSpPr>
            <p:cNvPr id="121867" name="Text Box 9"/>
            <p:cNvSpPr txBox="1">
              <a:spLocks noChangeArrowheads="1"/>
            </p:cNvSpPr>
            <p:nvPr/>
          </p:nvSpPr>
          <p:spPr bwMode="auto">
            <a:xfrm>
              <a:off x="1067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121868" name="Text Box 10"/>
            <p:cNvSpPr txBox="1">
              <a:spLocks noChangeArrowheads="1"/>
            </p:cNvSpPr>
            <p:nvPr/>
          </p:nvSpPr>
          <p:spPr bwMode="auto">
            <a:xfrm>
              <a:off x="1838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121869" name="Text Box 11"/>
            <p:cNvSpPr txBox="1">
              <a:spLocks noChangeArrowheads="1"/>
            </p:cNvSpPr>
            <p:nvPr/>
          </p:nvSpPr>
          <p:spPr bwMode="auto">
            <a:xfrm>
              <a:off x="2519" y="1256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5 bits</a:t>
              </a:r>
              <a:endParaRPr lang="en-AU" altLang="zh-CN" sz="1600"/>
            </a:p>
          </p:txBody>
        </p:sp>
        <p:sp>
          <p:nvSpPr>
            <p:cNvPr id="121870" name="Text Box 12"/>
            <p:cNvSpPr txBox="1">
              <a:spLocks noChangeArrowheads="1"/>
            </p:cNvSpPr>
            <p:nvPr/>
          </p:nvSpPr>
          <p:spPr bwMode="auto">
            <a:xfrm>
              <a:off x="3935" y="125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16 bits</a:t>
              </a:r>
              <a:endParaRPr lang="en-AU" altLang="zh-CN" sz="1600"/>
            </a:p>
          </p:txBody>
        </p:sp>
      </p:grpSp>
      <p:sp>
        <p:nvSpPr>
          <p:cNvPr id="59398" name="Rectangle 13"/>
          <p:cNvSpPr>
            <a:spLocks noChangeArrowheads="1"/>
          </p:cNvSpPr>
          <p:nvPr/>
        </p:nvSpPr>
        <p:spPr bwMode="auto">
          <a:xfrm>
            <a:off x="714375" y="4318000"/>
            <a:ext cx="828675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PC-relative addressing</a:t>
            </a:r>
            <a:endParaRPr lang="en-US" altLang="zh-CN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/>
              <a:t>Target address = PC + offset × 4</a:t>
            </a:r>
            <a:endParaRPr lang="en-US" altLang="zh-CN"/>
          </a:p>
          <a:p>
            <a:pPr lvl="1" eaLnBrk="1" hangingPunct="1"/>
            <a:r>
              <a:rPr lang="en-US" altLang="zh-CN"/>
              <a:t>PC already incremented by 4 by this time</a:t>
            </a:r>
            <a:endParaRPr lang="en-US" altLang="zh-CN"/>
          </a:p>
          <a:p>
            <a:pPr lvl="1" eaLnBrk="1" hangingPunct="1"/>
            <a:r>
              <a:rPr lang="en-US" altLang="zh-CN"/>
              <a:t>Almost all loops and </a:t>
            </a:r>
            <a:r>
              <a:rPr lang="en-US" altLang="zh-CN" i="1"/>
              <a:t>if</a:t>
            </a:r>
            <a:r>
              <a:rPr lang="en-US" altLang="zh-CN"/>
              <a:t> statements &lt; 2</a:t>
            </a:r>
            <a:r>
              <a:rPr lang="en-US" altLang="zh-CN" baseline="30000"/>
              <a:t>16 </a:t>
            </a:r>
            <a:r>
              <a:rPr lang="en-US" altLang="zh-CN"/>
              <a:t>words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02E2592-304F-4B41-BE7B-540D3D34335F}" type="slidenum">
              <a:rPr lang="en-AU" altLang="zh-CN" sz="1400"/>
            </a:fld>
            <a:endParaRPr lang="en-AU" altLang="zh-CN" sz="1400"/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Jump Addressing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843087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Jump (</a:t>
            </a:r>
            <a:r>
              <a:rPr lang="en-US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j</a:t>
            </a:r>
            <a:r>
              <a:rPr lang="en-US" altLang="zh-CN" smtClean="0">
                <a:ea typeface="宋体" panose="02010600030101010101" pitchFamily="2" charset="-122"/>
              </a:rPr>
              <a:t> and </a:t>
            </a:r>
            <a:r>
              <a:rPr lang="en-US" altLang="zh-CN" smtClean="0">
                <a:solidFill>
                  <a:srgbClr val="FF0000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jal</a:t>
            </a:r>
            <a:r>
              <a:rPr lang="en-US" altLang="zh-CN" smtClean="0">
                <a:ea typeface="宋体" panose="02010600030101010101" pitchFamily="2" charset="-122"/>
              </a:rPr>
              <a:t>) targets could be anywhere in text segment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Encode full address in instruction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pSp>
        <p:nvGrpSpPr>
          <p:cNvPr id="123909" name="Group 4"/>
          <p:cNvGrpSpPr/>
          <p:nvPr/>
        </p:nvGrpSpPr>
        <p:grpSpPr bwMode="auto">
          <a:xfrm>
            <a:off x="1403350" y="3165475"/>
            <a:ext cx="6913563" cy="773113"/>
            <a:chOff x="884" y="2356"/>
            <a:chExt cx="4355" cy="487"/>
          </a:xfrm>
        </p:grpSpPr>
        <p:sp>
          <p:nvSpPr>
            <p:cNvPr id="123911" name="Text Box 5"/>
            <p:cNvSpPr txBox="1">
              <a:spLocks noChangeArrowheads="1"/>
            </p:cNvSpPr>
            <p:nvPr/>
          </p:nvSpPr>
          <p:spPr bwMode="auto">
            <a:xfrm>
              <a:off x="884" y="2356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op</a:t>
              </a:r>
              <a:endParaRPr lang="en-AU" altLang="zh-CN" sz="2000"/>
            </a:p>
          </p:txBody>
        </p:sp>
        <p:sp>
          <p:nvSpPr>
            <p:cNvPr id="123912" name="Text Box 6"/>
            <p:cNvSpPr txBox="1">
              <a:spLocks noChangeArrowheads="1"/>
            </p:cNvSpPr>
            <p:nvPr/>
          </p:nvSpPr>
          <p:spPr bwMode="auto">
            <a:xfrm>
              <a:off x="1701" y="2356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address</a:t>
              </a:r>
              <a:endParaRPr lang="en-AU" altLang="zh-CN" sz="2000"/>
            </a:p>
          </p:txBody>
        </p:sp>
        <p:sp>
          <p:nvSpPr>
            <p:cNvPr id="123913" name="Text Box 7"/>
            <p:cNvSpPr txBox="1">
              <a:spLocks noChangeArrowheads="1"/>
            </p:cNvSpPr>
            <p:nvPr/>
          </p:nvSpPr>
          <p:spPr bwMode="auto">
            <a:xfrm>
              <a:off x="1067" y="2631"/>
              <a:ext cx="42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6 bits</a:t>
              </a:r>
              <a:endParaRPr lang="en-AU" altLang="zh-CN" sz="1600"/>
            </a:p>
          </p:txBody>
        </p:sp>
        <p:sp>
          <p:nvSpPr>
            <p:cNvPr id="123914" name="Text Box 8"/>
            <p:cNvSpPr txBox="1">
              <a:spLocks noChangeArrowheads="1"/>
            </p:cNvSpPr>
            <p:nvPr/>
          </p:nvSpPr>
          <p:spPr bwMode="auto">
            <a:xfrm>
              <a:off x="3244" y="2617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/>
                <a:t>26 bits</a:t>
              </a:r>
              <a:endParaRPr lang="en-AU" altLang="zh-CN" sz="1600"/>
            </a:p>
          </p:txBody>
        </p:sp>
      </p:grpSp>
      <p:sp>
        <p:nvSpPr>
          <p:cNvPr id="123910" name="Rectangle 9"/>
          <p:cNvSpPr>
            <a:spLocks noChangeArrowheads="1"/>
          </p:cNvSpPr>
          <p:nvPr/>
        </p:nvSpPr>
        <p:spPr bwMode="auto">
          <a:xfrm>
            <a:off x="684213" y="4076700"/>
            <a:ext cx="7772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/>
              <a:t>(Pseudo)Direct jump addressing</a:t>
            </a:r>
            <a:endParaRPr lang="en-US" altLang="zh-CN"/>
          </a:p>
          <a:p>
            <a:pPr lvl="1" eaLnBrk="1" hangingPunct="1"/>
            <a:r>
              <a:rPr lang="en-US" altLang="zh-CN"/>
              <a:t>Target address = PC</a:t>
            </a:r>
            <a:r>
              <a:rPr lang="en-US" altLang="zh-CN" baseline="-25000"/>
              <a:t>31…28</a:t>
            </a:r>
            <a:r>
              <a:rPr lang="en-US" altLang="zh-CN"/>
              <a:t> : (address × 4)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5E2F522-D6D2-4FDB-BA51-227EFD8EE708}" type="slidenum">
              <a:rPr lang="en-AU" altLang="zh-CN" sz="1400"/>
            </a:fld>
            <a:endParaRPr lang="en-AU" altLang="zh-CN" sz="1400"/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Branching Far Away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1619250" algn="l"/>
              </a:tabLst>
            </a:pPr>
            <a:r>
              <a:rPr lang="en-AU" altLang="zh-CN" dirty="0" smtClean="0">
                <a:ea typeface="宋体" panose="02010600030101010101" pitchFamily="2" charset="-122"/>
              </a:rPr>
              <a:t>If branch target is too far to encode with 16-bit offset, assembler rewrites the code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eaLnBrk="1" hangingPunct="1">
              <a:tabLst>
                <a:tab pos="1619250" algn="l"/>
              </a:tabLst>
            </a:pPr>
            <a:r>
              <a:rPr lang="en-AU" altLang="zh-CN" dirty="0" smtClean="0">
                <a:ea typeface="宋体" panose="02010600030101010101" pitchFamily="2" charset="-122"/>
              </a:rPr>
              <a:t>Example: how can we increase branching distance for the following instruction?</a:t>
            </a:r>
            <a:endParaRPr lang="en-AU" altLang="zh-CN" dirty="0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tabLst>
                <a:tab pos="1619250" algn="l"/>
              </a:tabLst>
            </a:pPr>
            <a:r>
              <a:rPr lang="en-AU" altLang="zh-CN" dirty="0" smtClean="0">
                <a:latin typeface="Lucida Console" panose="020B0609040504020204" pitchFamily="49" charset="0"/>
                <a:ea typeface="宋体" panose="02010600030101010101" pitchFamily="2" charset="-122"/>
              </a:rPr>
              <a:t>		</a:t>
            </a:r>
            <a:r>
              <a:rPr lang="en-AU" altLang="zh-CN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$s0,$s1, L1</a:t>
            </a:r>
            <a:endParaRPr lang="en-AU" altLang="zh-CN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  <a:tabLst>
                <a:tab pos="1619250" algn="l"/>
              </a:tabLst>
            </a:pPr>
            <a:r>
              <a:rPr lang="en-AU" altLang="zh-CN" dirty="0" smtClean="0">
                <a:ea typeface="宋体" panose="02010600030101010101" pitchFamily="2" charset="-122"/>
                <a:cs typeface="Arial" panose="020B0604020202020204" pitchFamily="34" charset="0"/>
              </a:rPr>
              <a:t>				↓</a:t>
            </a:r>
            <a:endParaRPr lang="en-AU" altLang="zh-CN" dirty="0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  <a:tabLst>
                <a:tab pos="1619250" algn="l"/>
              </a:tabLst>
            </a:pPr>
            <a:r>
              <a:rPr lang="en-AU" altLang="zh-CN" dirty="0" smtClean="0">
                <a:latin typeface="Lucida Console" panose="020B0609040504020204" pitchFamily="49" charset="0"/>
                <a:ea typeface="宋体" panose="02010600030101010101" pitchFamily="2" charset="-122"/>
              </a:rPr>
              <a:t>		</a:t>
            </a:r>
            <a:r>
              <a:rPr lang="en-AU" altLang="zh-CN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bne</a:t>
            </a:r>
            <a: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$s0,$s1, L2</a:t>
            </a:r>
            <a:b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j L1</a:t>
            </a:r>
            <a:b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AU" altLang="zh-CN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L2:	…</a:t>
            </a:r>
            <a:endParaRPr lang="en-AU" altLang="zh-CN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0AC8B6D-B336-4FB4-BA3A-EB20FFF7BA63}" type="slidenum">
              <a:rPr lang="en-AU" altLang="zh-CN" sz="1400"/>
            </a:fld>
            <a:endParaRPr lang="en-AU" altLang="zh-CN" sz="1400"/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Addressing Mode Summary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128004" name="Picture 6" descr="f02-18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052513"/>
            <a:ext cx="51117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52196C8-598F-422C-AD04-28938D08F8AD}" type="slidenum">
              <a:rPr lang="en-AU" altLang="zh-CN" sz="1400"/>
            </a:fld>
            <a:endParaRPr lang="en-AU" altLang="zh-CN" sz="1400"/>
          </a:p>
        </p:txBody>
      </p:sp>
      <p:sp>
        <p:nvSpPr>
          <p:cNvPr id="130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Synchronization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Two processors sharing an area of memory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P1 writes, then P2 reads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Data race if P1 and P2 don’t synchronize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z="2000" smtClean="0">
                <a:ea typeface="宋体" panose="02010600030101010101" pitchFamily="2" charset="-122"/>
              </a:rPr>
              <a:t>Result depends of order of accesses</a:t>
            </a:r>
            <a:endParaRPr lang="en-AU" altLang="zh-CN" sz="20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Hardware and ISA support required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Atomic read/write memory operation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No other access to the location allowed between the read and write</a:t>
            </a:r>
            <a:endParaRPr lang="en-AU" altLang="zh-CN" sz="2400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Could be a single instruction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</a:rPr>
              <a:t>E.g., atomic swap of register </a:t>
            </a:r>
            <a:r>
              <a:rPr lang="en-AU" altLang="zh-CN" sz="2400" smtClean="0">
                <a:ea typeface="宋体" panose="02010600030101010101" pitchFamily="2" charset="-122"/>
                <a:cs typeface="Arial" panose="020B0604020202020204" pitchFamily="34" charset="0"/>
              </a:rPr>
              <a:t>↔ memory</a:t>
            </a:r>
            <a:endParaRPr lang="en-AU" altLang="zh-CN" sz="2400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eaLnBrk="1" hangingPunct="1"/>
            <a:r>
              <a:rPr lang="en-AU" altLang="zh-CN" sz="2400" smtClean="0">
                <a:ea typeface="宋体" panose="02010600030101010101" pitchFamily="2" charset="-122"/>
                <a:cs typeface="Arial" panose="020B0604020202020204" pitchFamily="34" charset="0"/>
              </a:rPr>
              <a:t>Or an atomic pair of instructions</a:t>
            </a:r>
            <a:endParaRPr lang="en-AU" altLang="zh-CN" sz="2400" smtClean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0053" name="Text Box 4"/>
          <p:cNvSpPr txBox="1">
            <a:spLocks noChangeArrowheads="1"/>
          </p:cNvSpPr>
          <p:nvPr/>
        </p:nvSpPr>
        <p:spPr bwMode="auto">
          <a:xfrm rot="5400000">
            <a:off x="6277769" y="2499519"/>
            <a:ext cx="53657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§2.11 Parallelism and Instructions: Synchronization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Motivation for Atomic Swap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Build lock for multi-processor system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To govern access to some critical resource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0 indicates lock is free; 1 indicates lock is unavailable; “lock” stored in memory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Processor tries to set the lock by doing an exchange of 1 which is in a register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Value returned from exchange is 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1 if another processor already acquired the lock; 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/>
            <a:r>
              <a:rPr lang="en-US" altLang="zh-CN" smtClean="0">
                <a:ea typeface="宋体" panose="02010600030101010101" pitchFamily="2" charset="-122"/>
              </a:rPr>
              <a:t>0 otherwise; in this case value changed to 1 to prevent another processor from retrieving 0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Locks allow breaking race conditions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3210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6147234-00B6-48F0-9357-CFBACD886EF2}" type="slidenum">
              <a:rPr lang="en-AU" altLang="zh-CN" sz="1400"/>
            </a:fld>
            <a:endParaRPr lang="en-AU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A660991-1AC8-401C-B4F1-C07C705D96B4}" type="slidenum">
              <a:rPr lang="en-AU" altLang="zh-CN" sz="1400"/>
            </a:fld>
            <a:endParaRPr lang="en-AU" altLang="zh-CN" sz="1400"/>
          </a:p>
        </p:txBody>
      </p:sp>
      <p:sp>
        <p:nvSpPr>
          <p:cNvPr id="133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Synchronization in MIPS 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35183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zh-CN" sz="2600" dirty="0" smtClean="0">
                <a:ea typeface="宋体" panose="02010600030101010101" pitchFamily="2" charset="-122"/>
              </a:rPr>
              <a:t>Load linked: </a:t>
            </a:r>
            <a:r>
              <a:rPr lang="en-AU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ll</a:t>
            </a:r>
            <a:r>
              <a:rPr lang="en-AU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US" altLang="zh-CN" sz="26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600" dirty="0" smtClean="0">
                <a:ea typeface="宋体" panose="02010600030101010101" pitchFamily="2" charset="-122"/>
              </a:rPr>
              <a:t>Store conditional: </a:t>
            </a:r>
            <a:r>
              <a:rPr lang="en-AU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sc</a:t>
            </a:r>
            <a:r>
              <a:rPr lang="en-AU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</a:t>
            </a:r>
            <a:r>
              <a:rPr lang="en-AU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AU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offset(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r>
              <a:rPr lang="zh-CN" altLang="en-US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；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rt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-&gt;(</a:t>
            </a:r>
            <a:r>
              <a:rPr lang="en-US" altLang="zh-CN" sz="26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rs</a:t>
            </a:r>
            <a:r>
              <a:rPr lang="en-US" altLang="zh-CN" sz="26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)</a:t>
            </a:r>
            <a:endParaRPr lang="en-US" altLang="zh-CN" sz="26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 smtClean="0">
                <a:ea typeface="宋体" panose="02010600030101010101" pitchFamily="2" charset="-122"/>
              </a:rPr>
              <a:t>Succeeds if location not changed since the </a:t>
            </a:r>
            <a:r>
              <a:rPr lang="en-AU" altLang="zh-CN" sz="2400" dirty="0" err="1" smtClean="0">
                <a:latin typeface="Lucida Console" panose="020B0609040504020204" pitchFamily="49" charset="0"/>
                <a:ea typeface="宋体" panose="02010600030101010101" pitchFamily="2" charset="-122"/>
              </a:rPr>
              <a:t>ll</a:t>
            </a:r>
            <a:endParaRPr lang="en-AU" altLang="zh-CN" sz="2400" dirty="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z="2000" dirty="0" smtClean="0">
                <a:ea typeface="宋体" panose="02010600030101010101" pitchFamily="2" charset="-122"/>
              </a:rPr>
              <a:t>Returns 1 in </a:t>
            </a:r>
            <a:r>
              <a:rPr lang="en-AU" altLang="zh-CN" sz="2000" dirty="0" err="1" smtClean="0">
                <a:ea typeface="宋体" panose="02010600030101010101" pitchFamily="2" charset="-122"/>
              </a:rPr>
              <a:t>rt</a:t>
            </a:r>
            <a:endParaRPr lang="en-AU" altLang="zh-CN" sz="20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 smtClean="0">
                <a:ea typeface="宋体" panose="02010600030101010101" pitchFamily="2" charset="-122"/>
              </a:rPr>
              <a:t>Fails if location is changed</a:t>
            </a:r>
            <a:endParaRPr lang="en-AU" altLang="zh-CN" sz="2400" dirty="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sz="2000" dirty="0" smtClean="0">
                <a:ea typeface="宋体" panose="02010600030101010101" pitchFamily="2" charset="-122"/>
              </a:rPr>
              <a:t>Returns 0 in </a:t>
            </a:r>
            <a:r>
              <a:rPr lang="en-AU" altLang="zh-CN" sz="2000" dirty="0" err="1" smtClean="0">
                <a:ea typeface="宋体" panose="02010600030101010101" pitchFamily="2" charset="-122"/>
              </a:rPr>
              <a:t>rt</a:t>
            </a:r>
            <a:endParaRPr lang="en-AU" altLang="zh-CN" sz="2000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600" dirty="0" smtClean="0">
                <a:ea typeface="宋体" panose="02010600030101010101" pitchFamily="2" charset="-122"/>
              </a:rPr>
              <a:t>Example: atomic swap (to test/set lock variable)</a:t>
            </a:r>
            <a:endParaRPr lang="en-AU" altLang="zh-CN" sz="26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try: add $t0,$zero,$s4 ;copy exchange value</a:t>
            </a:r>
            <a:endParaRPr lang="en-AU" altLang="zh-CN" sz="18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</a:t>
            </a:r>
            <a:r>
              <a:rPr lang="en-AU" altLang="zh-CN" sz="18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ll</a:t>
            </a: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$t1,0($s1)    ;load linked </a:t>
            </a:r>
            <a:r>
              <a:rPr lang="zh-CN" altLang="en-US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相当于加锁机制</a:t>
            </a:r>
            <a:endParaRPr lang="en-AU" altLang="zh-CN" sz="18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</a:t>
            </a:r>
            <a:r>
              <a:rPr lang="en-AU" altLang="zh-CN" sz="18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sc</a:t>
            </a: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$t0,0($s1)    ;store conditional</a:t>
            </a:r>
            <a:endParaRPr lang="en-AU" altLang="zh-CN" sz="18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</a:t>
            </a:r>
            <a:r>
              <a:rPr lang="en-AU" altLang="zh-CN" sz="18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beq</a:t>
            </a: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$t0,$zero,try ;branch store fails</a:t>
            </a:r>
            <a:endParaRPr lang="en-AU" altLang="zh-CN" sz="18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18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   add $s4,$zero,$t1 ;put load value in $s4</a:t>
            </a:r>
            <a:endParaRPr lang="en-AU" altLang="zh-CN" sz="18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600" dirty="0" err="1" smtClean="0">
                <a:ea typeface="宋体" panose="02010600030101010101" pitchFamily="2" charset="-122"/>
                <a:cs typeface="Arial" panose="020B0604020202020204" pitchFamily="34" charset="0"/>
              </a:rPr>
              <a:t>ll</a:t>
            </a:r>
            <a:r>
              <a:rPr lang="en-AU" altLang="zh-CN" sz="2600" dirty="0" smtClean="0"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AU" altLang="zh-CN" sz="2600" dirty="0" err="1" smtClean="0">
                <a:ea typeface="宋体" panose="02010600030101010101" pitchFamily="2" charset="-122"/>
                <a:cs typeface="Arial" panose="020B0604020202020204" pitchFamily="34" charset="0"/>
              </a:rPr>
              <a:t>sc</a:t>
            </a:r>
            <a:r>
              <a:rPr lang="en-AU" altLang="zh-CN" sz="2600" dirty="0" smtClean="0">
                <a:ea typeface="宋体" panose="02010600030101010101" pitchFamily="2" charset="-122"/>
                <a:cs typeface="Arial" panose="020B0604020202020204" pitchFamily="34" charset="0"/>
              </a:rPr>
              <a:t> can be used to build other synchronization primitives: </a:t>
            </a:r>
            <a:r>
              <a:rPr lang="en-AU" altLang="zh-CN" sz="2600" dirty="0" smtClean="0">
                <a:solidFill>
                  <a:srgbClr val="002B7D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atomic compare</a:t>
            </a:r>
            <a:r>
              <a:rPr lang="en-AU" altLang="zh-CN" sz="2600" dirty="0" smtClean="0"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AU" altLang="zh-CN" sz="2600" dirty="0" smtClean="0">
                <a:solidFill>
                  <a:srgbClr val="002B7D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and </a:t>
            </a:r>
            <a:r>
              <a:rPr lang="en-AU" altLang="zh-CN" sz="2600" dirty="0" smtClean="0">
                <a:solidFill>
                  <a:srgbClr val="002B7D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swap</a:t>
            </a:r>
            <a:r>
              <a:rPr lang="en-AU" altLang="zh-CN" sz="2600" dirty="0" smtClean="0"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AU" altLang="zh-CN" sz="2600" dirty="0" smtClean="0">
                <a:solidFill>
                  <a:srgbClr val="002B7D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fetch and increment</a:t>
            </a:r>
            <a:r>
              <a:rPr lang="en-AU" altLang="zh-CN" sz="2600" dirty="0" smtClean="0">
                <a:ea typeface="宋体" panose="02010600030101010101" pitchFamily="2" charset="-122"/>
                <a:cs typeface="Arial" panose="020B0604020202020204" pitchFamily="34" charset="0"/>
              </a:rPr>
              <a:t>, etc.</a:t>
            </a:r>
            <a:endParaRPr lang="en-AU" altLang="zh-CN" sz="2600" dirty="0" smtClean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44A36346-440D-4F52-89D6-C89FB9094572}" type="slidenum">
              <a:rPr lang="en-AU" altLang="zh-CN" sz="1400"/>
            </a:fld>
            <a:endParaRPr lang="en-AU" altLang="zh-CN" sz="1400"/>
          </a:p>
        </p:txBody>
      </p:sp>
      <p:pic>
        <p:nvPicPr>
          <p:cNvPr id="135171" name="Picture 10" descr="f02-21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00213"/>
            <a:ext cx="6030913" cy="441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Translation and Startup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35173" name="Text Box 4"/>
          <p:cNvSpPr txBox="1">
            <a:spLocks noChangeArrowheads="1"/>
          </p:cNvSpPr>
          <p:nvPr/>
        </p:nvSpPr>
        <p:spPr bwMode="auto">
          <a:xfrm>
            <a:off x="3563938" y="1989138"/>
            <a:ext cx="273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Many compilers produce object modules directly</a:t>
            </a:r>
            <a:endParaRPr lang="en-AU" altLang="zh-CN" sz="1800"/>
          </a:p>
        </p:txBody>
      </p:sp>
      <p:sp>
        <p:nvSpPr>
          <p:cNvPr id="135174" name="AutoShape 5"/>
          <p:cNvSpPr/>
          <p:nvPr/>
        </p:nvSpPr>
        <p:spPr bwMode="auto">
          <a:xfrm rot="-2520133">
            <a:off x="3276600" y="1557338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35175" name="Text Box 6"/>
          <p:cNvSpPr txBox="1">
            <a:spLocks noChangeArrowheads="1"/>
          </p:cNvSpPr>
          <p:nvPr/>
        </p:nvSpPr>
        <p:spPr bwMode="auto">
          <a:xfrm>
            <a:off x="7164388" y="4149725"/>
            <a:ext cx="1554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Static linking</a:t>
            </a:r>
            <a:endParaRPr lang="en-AU" altLang="zh-CN" sz="1800"/>
          </a:p>
        </p:txBody>
      </p:sp>
      <p:sp>
        <p:nvSpPr>
          <p:cNvPr id="135176" name="AutoShape 7"/>
          <p:cNvSpPr/>
          <p:nvPr/>
        </p:nvSpPr>
        <p:spPr bwMode="auto">
          <a:xfrm>
            <a:off x="6948488" y="3573463"/>
            <a:ext cx="215900" cy="15113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35177" name="Text Box 8"/>
          <p:cNvSpPr txBox="1">
            <a:spLocks noChangeArrowheads="1"/>
          </p:cNvSpPr>
          <p:nvPr/>
        </p:nvSpPr>
        <p:spPr bwMode="auto">
          <a:xfrm rot="5400000">
            <a:off x="6773069" y="2004219"/>
            <a:ext cx="43751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§2.12 Translating and Starting a Program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BF449C1D-2512-4861-B60E-A1BCAD05B754}" type="slidenum">
              <a:rPr lang="en-AU" altLang="zh-CN" sz="1400"/>
            </a:fld>
            <a:endParaRPr lang="en-AU" altLang="zh-CN" sz="1400"/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06375"/>
            <a:ext cx="8259762" cy="701675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ea typeface="宋体" panose="02010600030101010101" pitchFamily="2" charset="-122"/>
              </a:rPr>
              <a:t>Assembler Pseudoinstructions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3409950" algn="l"/>
                <a:tab pos="4038600" algn="l"/>
              </a:tabLst>
            </a:pPr>
            <a:r>
              <a:rPr lang="en-US" altLang="zh-CN" dirty="0" smtClean="0">
                <a:ea typeface="宋体" panose="02010600030101010101" pitchFamily="2" charset="-122"/>
              </a:rPr>
              <a:t>Most assembler instructions represent machine instructions one-to-one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>
              <a:tabLst>
                <a:tab pos="3409950" algn="l"/>
                <a:tab pos="4038600" algn="l"/>
              </a:tabLst>
            </a:pPr>
            <a:r>
              <a:rPr lang="en-US" altLang="zh-CN" dirty="0" err="1" smtClean="0">
                <a:solidFill>
                  <a:srgbClr val="FF0000"/>
                </a:solidFill>
                <a:ea typeface="宋体" panose="02010600030101010101" pitchFamily="2" charset="-122"/>
              </a:rPr>
              <a:t>Pseudoinstructions</a:t>
            </a:r>
            <a:r>
              <a:rPr lang="en-US" altLang="zh-CN" dirty="0" smtClean="0">
                <a:ea typeface="宋体" panose="02010600030101010101" pitchFamily="2" charset="-122"/>
              </a:rPr>
              <a:t>: figments of the assembler’s imagination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altLang="zh-CN" sz="2400" dirty="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move $t0, $t1</a:t>
            </a:r>
            <a: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→</a:t>
            </a:r>
            <a: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</a:rPr>
              <a:t>	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add $t0, $zero, $t1</a:t>
            </a:r>
            <a:endParaRPr lang="en-US" altLang="zh-CN" sz="24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  <a:tabLst>
                <a:tab pos="3409950" algn="l"/>
                <a:tab pos="4038600" algn="l"/>
              </a:tabLst>
            </a:pP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4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blt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$t0, $t1, L</a:t>
            </a:r>
            <a: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</a:rPr>
              <a:t>	 → 	</a:t>
            </a:r>
            <a:r>
              <a:rPr lang="en-US" altLang="zh-CN" sz="24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slt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$at, $t0, $t1</a:t>
            </a:r>
            <a:b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</a:rPr>
            </a:br>
            <a:r>
              <a:rPr lang="en-US" altLang="zh-CN" sz="2800" dirty="0" smtClean="0">
                <a:solidFill>
                  <a:schemeClr val="tx2"/>
                </a:solidFill>
                <a:ea typeface="宋体" panose="02010600030101010101" pitchFamily="2" charset="-122"/>
              </a:rPr>
              <a:t>		</a:t>
            </a:r>
            <a:r>
              <a:rPr lang="en-US" altLang="zh-CN" sz="2400" dirty="0" err="1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bne</a:t>
            </a:r>
            <a:r>
              <a:rPr lang="en-US" altLang="zh-CN" sz="2400" dirty="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$at, $zero, L</a:t>
            </a:r>
            <a:endParaRPr lang="en-US" altLang="zh-CN" sz="2400" dirty="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tabLst>
                <a:tab pos="3409950" algn="l"/>
                <a:tab pos="4038600" algn="l"/>
              </a:tabLst>
            </a:pPr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$at </a:t>
            </a:r>
            <a:r>
              <a:rPr lang="en-US" altLang="zh-CN" dirty="0" smtClean="0">
                <a:ea typeface="宋体" panose="02010600030101010101" pitchFamily="2" charset="-122"/>
              </a:rPr>
              <a:t>(register 1): assembler temporary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BB3480A-56F3-4816-ADEF-6474AE14227B}" type="slidenum">
              <a:rPr lang="en-AU" altLang="zh-CN" sz="1400"/>
            </a:fld>
            <a:endParaRPr lang="en-AU" altLang="zh-CN" sz="1400"/>
          </a:p>
        </p:txBody>
      </p:sp>
      <p:sp>
        <p:nvSpPr>
          <p:cNvPr id="139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Producing an Object Module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Assembler (or compiler) translates program into </a:t>
            </a: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machine</a:t>
            </a:r>
            <a:r>
              <a:rPr lang="en-US" altLang="zh-CN" sz="2800" smtClean="0">
                <a:ea typeface="宋体" panose="02010600030101010101" pitchFamily="2" charset="-122"/>
              </a:rPr>
              <a:t> instructions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Provides information for building a complete program from the pieces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E.g. object file (*.o) for UNIX has 6 distinct parts: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>
                <a:solidFill>
                  <a:srgbClr val="009900"/>
                </a:solidFill>
                <a:ea typeface="宋体" panose="02010600030101010101" pitchFamily="2" charset="-122"/>
              </a:rPr>
              <a:t>Header:</a:t>
            </a:r>
            <a:r>
              <a:rPr lang="en-US" altLang="zh-CN" sz="2200" smtClean="0">
                <a:ea typeface="宋体" panose="02010600030101010101" pitchFamily="2" charset="-122"/>
              </a:rPr>
              <a:t> described contents of object module</a:t>
            </a:r>
            <a:endParaRPr lang="en-US" altLang="zh-CN" sz="22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>
                <a:solidFill>
                  <a:srgbClr val="009900"/>
                </a:solidFill>
                <a:ea typeface="宋体" panose="02010600030101010101" pitchFamily="2" charset="-122"/>
              </a:rPr>
              <a:t>Text segment:</a:t>
            </a:r>
            <a:r>
              <a:rPr lang="en-US" altLang="zh-CN" sz="2200" smtClean="0">
                <a:ea typeface="宋体" panose="02010600030101010101" pitchFamily="2" charset="-122"/>
              </a:rPr>
              <a:t> translated instructions</a:t>
            </a:r>
            <a:endParaRPr lang="en-US" altLang="zh-CN" sz="22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>
                <a:solidFill>
                  <a:srgbClr val="009900"/>
                </a:solidFill>
                <a:ea typeface="宋体" panose="02010600030101010101" pitchFamily="2" charset="-122"/>
              </a:rPr>
              <a:t>Static data segment: </a:t>
            </a:r>
            <a:r>
              <a:rPr lang="en-US" altLang="zh-CN" sz="2200" smtClean="0">
                <a:ea typeface="宋体" panose="02010600030101010101" pitchFamily="2" charset="-122"/>
              </a:rPr>
              <a:t>data allocated for the life of the program</a:t>
            </a:r>
            <a:endParaRPr lang="en-US" altLang="zh-CN" sz="22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>
                <a:solidFill>
                  <a:srgbClr val="009900"/>
                </a:solidFill>
                <a:ea typeface="宋体" panose="02010600030101010101" pitchFamily="2" charset="-122"/>
              </a:rPr>
              <a:t>Relocation info: </a:t>
            </a:r>
            <a:r>
              <a:rPr lang="en-US" altLang="zh-CN" sz="2200" smtClean="0">
                <a:ea typeface="宋体" panose="02010600030101010101" pitchFamily="2" charset="-122"/>
              </a:rPr>
              <a:t>for contents that depend on absolute location of loaded program</a:t>
            </a:r>
            <a:endParaRPr lang="en-US" altLang="zh-CN" sz="22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>
                <a:solidFill>
                  <a:srgbClr val="009900"/>
                </a:solidFill>
                <a:ea typeface="宋体" panose="02010600030101010101" pitchFamily="2" charset="-122"/>
              </a:rPr>
              <a:t>Symbol table: </a:t>
            </a:r>
            <a:r>
              <a:rPr lang="en-US" altLang="zh-CN" sz="2200" smtClean="0">
                <a:ea typeface="宋体" panose="02010600030101010101" pitchFamily="2" charset="-122"/>
              </a:rPr>
              <a:t>global definitions and external refs</a:t>
            </a:r>
            <a:endParaRPr lang="en-US" altLang="zh-CN" sz="22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smtClean="0">
                <a:solidFill>
                  <a:srgbClr val="009900"/>
                </a:solidFill>
                <a:ea typeface="宋体" panose="02010600030101010101" pitchFamily="2" charset="-122"/>
              </a:rPr>
              <a:t>Debug info:</a:t>
            </a:r>
            <a:r>
              <a:rPr lang="en-US" altLang="zh-CN" sz="2200" smtClean="0">
                <a:ea typeface="宋体" panose="02010600030101010101" pitchFamily="2" charset="-122"/>
              </a:rPr>
              <a:t> for associating machine code with high level source code by debuggers</a:t>
            </a:r>
            <a:endParaRPr lang="en-AU" altLang="zh-CN" sz="2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54A778A-A8C0-4688-B37E-BD3E6FA7EFC3}" type="slidenum">
              <a:rPr lang="en-AU" altLang="zh-CN" sz="1400"/>
            </a:fld>
            <a:endParaRPr lang="en-AU" altLang="zh-CN" sz="1400"/>
          </a:p>
        </p:txBody>
      </p:sp>
      <p:sp>
        <p:nvSpPr>
          <p:cNvPr id="1413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Linking Object Modules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0660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459787" cy="511175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Produces an executable image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1.	Merges segments/object files/procedures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Rather than compiling/assembling whole program when a single line of a procedure is changed, procedures are compiled/assembled independently	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2.	Resolve labels (determine their addresses)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3.</a:t>
            </a:r>
            <a:r>
              <a:rPr lang="en-US" altLang="zh-CN" sz="2400" smtClean="0">
                <a:ea typeface="宋体" panose="02010600030101010101" pitchFamily="2" charset="-122"/>
              </a:rPr>
              <a:t>	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Patch location-dependent and external refs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F946E91F-4B0C-44DE-BE07-F54D85351881}" type="slidenum">
              <a:rPr lang="en-AU" altLang="zh-CN" sz="1400"/>
            </a:fld>
            <a:endParaRPr lang="en-AU" altLang="zh-CN" sz="1400"/>
          </a:p>
        </p:txBody>
      </p:sp>
      <p:sp>
        <p:nvSpPr>
          <p:cNvPr id="14336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Loading a Program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4336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Load from image file on disk into memory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1.</a:t>
            </a:r>
            <a:r>
              <a:rPr lang="en-US" altLang="zh-CN" smtClean="0">
                <a:ea typeface="宋体" panose="02010600030101010101" pitchFamily="2" charset="-122"/>
              </a:rPr>
              <a:t>	Read header to determine segment sizes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2.</a:t>
            </a:r>
            <a:r>
              <a:rPr lang="en-US" altLang="zh-CN" smtClean="0">
                <a:ea typeface="宋体" panose="02010600030101010101" pitchFamily="2" charset="-122"/>
              </a:rPr>
              <a:t>	Create virtual address space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3.</a:t>
            </a:r>
            <a:r>
              <a:rPr lang="en-US" altLang="zh-CN" smtClean="0">
                <a:ea typeface="宋体" panose="02010600030101010101" pitchFamily="2" charset="-122"/>
              </a:rPr>
              <a:t>	Copy text and initialized data into memory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Or set page table entries so they can be faulted in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4.</a:t>
            </a:r>
            <a:r>
              <a:rPr lang="en-US" altLang="zh-CN" smtClean="0">
                <a:ea typeface="宋体" panose="02010600030101010101" pitchFamily="2" charset="-122"/>
              </a:rPr>
              <a:t>	Set up arguments on stack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5.</a:t>
            </a:r>
            <a:r>
              <a:rPr lang="en-US" altLang="zh-CN" smtClean="0">
                <a:ea typeface="宋体" panose="02010600030101010101" pitchFamily="2" charset="-122"/>
              </a:rPr>
              <a:t>	Initialize registers (including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$sp, $fp, $gp</a:t>
            </a:r>
            <a:r>
              <a:rPr lang="en-US" altLang="zh-CN" smtClean="0">
                <a:ea typeface="宋体" panose="02010600030101010101" pitchFamily="2" charset="-122"/>
              </a:rPr>
              <a:t>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6.</a:t>
            </a:r>
            <a:r>
              <a:rPr lang="en-US" altLang="zh-CN" smtClean="0">
                <a:ea typeface="宋体" panose="02010600030101010101" pitchFamily="2" charset="-122"/>
              </a:rPr>
              <a:t>	Jump to startup routine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Copies arguments to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$a0</a:t>
            </a:r>
            <a:r>
              <a:rPr lang="en-US" altLang="zh-CN" smtClean="0">
                <a:ea typeface="宋体" panose="02010600030101010101" pitchFamily="2" charset="-122"/>
              </a:rPr>
              <a:t>, … and calls main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When main returns, do exit syscall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4B3AF876-6977-489E-B2CB-89230204828A}" type="slidenum">
              <a:rPr lang="en-AU" altLang="zh-CN" sz="1400"/>
            </a:fld>
            <a:endParaRPr lang="en-AU" altLang="zh-CN" sz="1400"/>
          </a:p>
        </p:txBody>
      </p:sp>
      <p:sp>
        <p:nvSpPr>
          <p:cNvPr id="145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Static and Dynamic Linking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So far discussed traditional approach to linking libraries before program executes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chemeClr val="tx2"/>
                </a:solidFill>
                <a:ea typeface="宋体" panose="02010600030101010101" pitchFamily="2" charset="-122"/>
              </a:rPr>
              <a:t>Static linking</a:t>
            </a:r>
            <a:endParaRPr lang="en-US" altLang="zh-CN" sz="2400" smtClean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If new version of a library released to fix bugs or support new hardware, statically linked program keeps using old version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All routines in a library are loaded, even if they are not used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Dynamic linking</a:t>
            </a:r>
            <a:r>
              <a:rPr lang="en-US" altLang="zh-CN" sz="2800" smtClean="0">
                <a:ea typeface="宋体" panose="02010600030101010101" pitchFamily="2" charset="-122"/>
              </a:rPr>
              <a:t>: Do not link/load library routines until program is run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Requires procedure code to be relocatable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Automatically picks up new library versions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</a:rPr>
              <a:t>Dynamically linked libraries (DLLs)</a:t>
            </a:r>
            <a:endParaRPr lang="en-AU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0928F01E-2ACD-4671-ABC1-2F6514ACB0F2}" type="slidenum">
              <a:rPr lang="en-AU" altLang="zh-CN" sz="1400"/>
            </a:fld>
            <a:endParaRPr lang="en-AU" altLang="zh-CN" sz="1400"/>
          </a:p>
        </p:txBody>
      </p:sp>
      <p:pic>
        <p:nvPicPr>
          <p:cNvPr id="147459" name="Picture 10" descr="f02-22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988" y="1489075"/>
            <a:ext cx="4005262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7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Lazy Linkage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47461" name="Text Box 4"/>
          <p:cNvSpPr txBox="1">
            <a:spLocks noChangeArrowheads="1"/>
          </p:cNvSpPr>
          <p:nvPr/>
        </p:nvSpPr>
        <p:spPr bwMode="auto">
          <a:xfrm>
            <a:off x="2044700" y="278923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Indirection table</a:t>
            </a:r>
            <a:endParaRPr lang="en-AU" altLang="zh-CN" sz="1800"/>
          </a:p>
        </p:txBody>
      </p:sp>
      <p:sp>
        <p:nvSpPr>
          <p:cNvPr id="147462" name="Text Box 5"/>
          <p:cNvSpPr txBox="1">
            <a:spLocks noChangeArrowheads="1"/>
          </p:cNvSpPr>
          <p:nvPr/>
        </p:nvSpPr>
        <p:spPr bwMode="auto">
          <a:xfrm>
            <a:off x="2044700" y="3597275"/>
            <a:ext cx="2520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Stub: Loads routine ID,</a:t>
            </a:r>
            <a:br>
              <a:rPr lang="en-US" altLang="zh-CN" sz="1800"/>
            </a:br>
            <a:r>
              <a:rPr lang="en-US" altLang="zh-CN" sz="1800"/>
              <a:t>Jump to linker/loader</a:t>
            </a:r>
            <a:endParaRPr lang="en-AU" altLang="zh-CN" sz="1800"/>
          </a:p>
        </p:txBody>
      </p:sp>
      <p:sp>
        <p:nvSpPr>
          <p:cNvPr id="147463" name="Text Box 6"/>
          <p:cNvSpPr txBox="1">
            <a:spLocks noChangeArrowheads="1"/>
          </p:cNvSpPr>
          <p:nvPr/>
        </p:nvSpPr>
        <p:spPr bwMode="auto">
          <a:xfrm>
            <a:off x="2044700" y="46624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Linker/loader code</a:t>
            </a:r>
            <a:endParaRPr lang="en-AU" altLang="zh-CN" sz="1800"/>
          </a:p>
        </p:txBody>
      </p:sp>
      <p:sp>
        <p:nvSpPr>
          <p:cNvPr id="147464" name="Text Box 7"/>
          <p:cNvSpPr txBox="1">
            <a:spLocks noChangeArrowheads="1"/>
          </p:cNvSpPr>
          <p:nvPr/>
        </p:nvSpPr>
        <p:spPr bwMode="auto">
          <a:xfrm>
            <a:off x="2044700" y="5526088"/>
            <a:ext cx="1568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Dynamically</a:t>
            </a:r>
            <a:br>
              <a:rPr lang="en-US" altLang="zh-CN" sz="1800"/>
            </a:br>
            <a:r>
              <a:rPr lang="en-US" altLang="zh-CN" sz="1800"/>
              <a:t>mapped code</a:t>
            </a:r>
            <a:endParaRPr lang="en-AU" altLang="zh-CN" sz="1800"/>
          </a:p>
        </p:txBody>
      </p:sp>
      <p:sp>
        <p:nvSpPr>
          <p:cNvPr id="147465" name="TextBox 8"/>
          <p:cNvSpPr txBox="1">
            <a:spLocks noChangeArrowheads="1"/>
          </p:cNvSpPr>
          <p:nvPr/>
        </p:nvSpPr>
        <p:spPr bwMode="auto">
          <a:xfrm>
            <a:off x="500063" y="1000125"/>
            <a:ext cx="4927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Routine linked only </a:t>
            </a:r>
            <a:r>
              <a:rPr lang="en-US" altLang="zh-CN" sz="2400">
                <a:solidFill>
                  <a:srgbClr val="FF0000"/>
                </a:solidFill>
              </a:rPr>
              <a:t>after</a:t>
            </a:r>
            <a:r>
              <a:rPr lang="en-US" altLang="zh-CN" sz="2400"/>
              <a:t> it is called</a:t>
            </a:r>
            <a:endParaRPr lang="en-US" altLang="zh-CN" sz="2400"/>
          </a:p>
          <a:p>
            <a:pPr marL="0"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 </a:t>
            </a:r>
            <a:r>
              <a:rPr lang="en-US" altLang="zh-CN" sz="1800" i="1"/>
              <a:t>Avoids image bloat caused by</a:t>
            </a:r>
            <a:br>
              <a:rPr lang="en-US" altLang="zh-CN" sz="1800" i="1"/>
            </a:br>
            <a:r>
              <a:rPr lang="en-US" altLang="zh-CN" sz="1800" i="1"/>
              <a:t> static linking of all referenced libraries</a:t>
            </a:r>
            <a:endParaRPr lang="en-US" altLang="zh-CN" sz="1800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700FFBB-6FED-4109-9D26-DC660014253C}" type="slidenum">
              <a:rPr lang="en-AU" altLang="zh-CN" sz="1400"/>
            </a:fld>
            <a:endParaRPr lang="en-AU" altLang="zh-CN" sz="1400"/>
          </a:p>
        </p:txBody>
      </p:sp>
      <p:pic>
        <p:nvPicPr>
          <p:cNvPr id="149507" name="Picture 8" descr="f02-23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989138"/>
            <a:ext cx="6416675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Starting Java Applications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3733" name="AutoShape 4"/>
          <p:cNvSpPr/>
          <p:nvPr/>
        </p:nvSpPr>
        <p:spPr bwMode="auto">
          <a:xfrm>
            <a:off x="6003925" y="1844675"/>
            <a:ext cx="1939925" cy="906463"/>
          </a:xfrm>
          <a:prstGeom prst="borderCallout1">
            <a:avLst>
              <a:gd name="adj1" fmla="val 12611"/>
              <a:gd name="adj2" fmla="val -3926"/>
              <a:gd name="adj3" fmla="val 138005"/>
              <a:gd name="adj4" fmla="val -506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Simple portable instruction set for the JVM</a:t>
            </a:r>
            <a:endParaRPr lang="en-AU" altLang="zh-CN" sz="1800"/>
          </a:p>
        </p:txBody>
      </p:sp>
      <p:sp>
        <p:nvSpPr>
          <p:cNvPr id="73734" name="AutoShape 5"/>
          <p:cNvSpPr/>
          <p:nvPr/>
        </p:nvSpPr>
        <p:spPr bwMode="auto">
          <a:xfrm>
            <a:off x="7156450" y="4149725"/>
            <a:ext cx="1584325" cy="647700"/>
          </a:xfrm>
          <a:prstGeom prst="borderCallout1">
            <a:avLst>
              <a:gd name="adj1" fmla="val 17648"/>
              <a:gd name="adj2" fmla="val -4810"/>
              <a:gd name="adj3" fmla="val -23528"/>
              <a:gd name="adj4" fmla="val -594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Interprets bytecodes</a:t>
            </a:r>
            <a:endParaRPr lang="en-AU" altLang="zh-CN" sz="1800"/>
          </a:p>
        </p:txBody>
      </p:sp>
      <p:sp>
        <p:nvSpPr>
          <p:cNvPr id="73735" name="AutoShape 6"/>
          <p:cNvSpPr/>
          <p:nvPr/>
        </p:nvSpPr>
        <p:spPr bwMode="auto">
          <a:xfrm>
            <a:off x="179388" y="4005263"/>
            <a:ext cx="1704975" cy="1728787"/>
          </a:xfrm>
          <a:prstGeom prst="borderCallout1">
            <a:avLst>
              <a:gd name="adj1" fmla="val 6611"/>
              <a:gd name="adj2" fmla="val 104468"/>
              <a:gd name="adj3" fmla="val -2019"/>
              <a:gd name="adj4" fmla="val 1278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Compiles bytecodes of “hot” methods into native code for host machine</a:t>
            </a:r>
            <a:endParaRPr lang="en-AU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animBg="1"/>
      <p:bldP spid="73734" grpId="0" animBg="1"/>
      <p:bldP spid="7373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DC13382-1133-4A29-9636-4BEE36103C4C}" type="slidenum">
              <a:rPr lang="en-AU" altLang="zh-CN" sz="1400"/>
            </a:fld>
            <a:endParaRPr lang="en-AU" altLang="zh-CN" sz="1400"/>
          </a:p>
        </p:txBody>
      </p:sp>
      <p:sp>
        <p:nvSpPr>
          <p:cNvPr id="151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 Sort Example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821612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Illustrates use of assembly instructions for a C bubble sort function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Swap procedure (leaf)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void swap(int v[], int k)</a:t>
            </a:r>
            <a:b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{</a:t>
            </a:r>
            <a:b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int temp;</a:t>
            </a:r>
            <a:b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temp = v[k];</a:t>
            </a:r>
            <a:b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v[k] = v[k+1];</a:t>
            </a:r>
            <a:b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  v[k+1] = temp;</a:t>
            </a:r>
            <a:b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</a:br>
            <a:r>
              <a:rPr lang="en-US" altLang="zh-CN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}</a:t>
            </a:r>
            <a:endParaRPr lang="en-US" altLang="zh-CN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v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$a0</a:t>
            </a:r>
            <a:r>
              <a:rPr lang="en-US" altLang="zh-CN" smtClean="0">
                <a:ea typeface="宋体" panose="02010600030101010101" pitchFamily="2" charset="-122"/>
              </a:rPr>
              <a:t>, k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$a1</a:t>
            </a:r>
            <a:r>
              <a:rPr lang="en-US" altLang="zh-CN" smtClean="0">
                <a:ea typeface="宋体" panose="02010600030101010101" pitchFamily="2" charset="-122"/>
              </a:rPr>
              <a:t>, temp in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$t0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1557" name="Text Box 4"/>
          <p:cNvSpPr txBox="1">
            <a:spLocks noChangeArrowheads="1"/>
          </p:cNvSpPr>
          <p:nvPr/>
        </p:nvSpPr>
        <p:spPr bwMode="auto">
          <a:xfrm rot="5400000">
            <a:off x="6569869" y="2207419"/>
            <a:ext cx="47815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§2.13 A C Sort Example to Put It All Together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F3A1E065-5891-4703-AAE5-EBD2FB7C6C2A}" type="slidenum">
              <a:rPr lang="en-AU" altLang="zh-CN" sz="1400"/>
            </a:fld>
            <a:endParaRPr lang="en-AU" altLang="zh-CN" sz="1400"/>
          </a:p>
        </p:txBody>
      </p:sp>
      <p:sp>
        <p:nvSpPr>
          <p:cNvPr id="153603" name="Rectangle 4"/>
          <p:cNvSpPr>
            <a:spLocks noChangeArrowheads="1"/>
          </p:cNvSpPr>
          <p:nvPr/>
        </p:nvSpPr>
        <p:spPr bwMode="auto">
          <a:xfrm>
            <a:off x="684213" y="1268413"/>
            <a:ext cx="8002587" cy="9985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3604" name="Rectangle 5"/>
          <p:cNvSpPr>
            <a:spLocks noChangeArrowheads="1"/>
          </p:cNvSpPr>
          <p:nvPr/>
        </p:nvSpPr>
        <p:spPr bwMode="auto">
          <a:xfrm>
            <a:off x="684213" y="2266950"/>
            <a:ext cx="8002587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3605" name="Rectangle 6"/>
          <p:cNvSpPr>
            <a:spLocks noChangeArrowheads="1"/>
          </p:cNvSpPr>
          <p:nvPr/>
        </p:nvSpPr>
        <p:spPr bwMode="auto">
          <a:xfrm>
            <a:off x="684213" y="2952750"/>
            <a:ext cx="8002587" cy="6667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3606" name="Rectangle 7"/>
          <p:cNvSpPr>
            <a:spLocks noChangeArrowheads="1"/>
          </p:cNvSpPr>
          <p:nvPr/>
        </p:nvSpPr>
        <p:spPr bwMode="auto">
          <a:xfrm>
            <a:off x="684213" y="3619500"/>
            <a:ext cx="8002587" cy="3714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36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The Procedure Swap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536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268413"/>
            <a:ext cx="8270875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swap: sll $t1, $a1, 2   # $t1 = k * 4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add $t1, $a0, $t1 # $t1 = v+(k*4)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               #   (address of v[k])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lw $t0, 0($t1)    # $t0 (temp) = v[k]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lw $t2, 4($t1)    # $t2 = v[k+1]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sw $t2, 0($t1)    # v[k] = $t2 (v[k+1])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sw $t0, 4($t1)    # v[k+1] = $t0 (temp)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altLang="zh-CN" sz="20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jr $ra            # return to calling routine</a:t>
            </a:r>
            <a:endParaRPr lang="en-AU" altLang="zh-CN" sz="20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84213" y="4286250"/>
            <a:ext cx="7821612" cy="195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800"/>
              <a:t>Forgetting that sequential word addresses </a:t>
            </a:r>
            <a:r>
              <a:rPr lang="en-US" altLang="zh-CN" sz="2800">
                <a:solidFill>
                  <a:srgbClr val="FF0000"/>
                </a:solidFill>
              </a:rPr>
              <a:t>differ by 4 instead of 1 </a:t>
            </a:r>
            <a:r>
              <a:rPr lang="en-US" altLang="zh-CN" sz="2800"/>
              <a:t>is a common mistake in assembly language programming</a:t>
            </a:r>
            <a:endParaRPr lang="en-US" alt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F17BC8AC-F3F9-410A-B714-01D1A07BA17B}" type="slidenum">
              <a:rPr lang="en-AU" altLang="zh-CN" sz="1400"/>
            </a:fld>
            <a:endParaRPr lang="en-AU" altLang="zh-CN" sz="1400"/>
          </a:p>
        </p:txBody>
      </p:sp>
      <p:sp>
        <p:nvSpPr>
          <p:cNvPr id="155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The Sort Procedure in C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Non-leaf bubble/exchange sort (calls swap)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latin typeface="Lucida Console" panose="020B0609040504020204" pitchFamily="49" charset="0"/>
                <a:ea typeface="宋体" panose="02010600030101010101" pitchFamily="2" charset="-122"/>
              </a:rPr>
              <a:t>	</a:t>
            </a: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void sort (int v[], int n)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{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int i, j;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for (i = 0; i &lt; n; i += 1) {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  for (j = i – 1;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       j &gt;= 0 &amp;&amp; v[j] &gt; v[j + 1];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       j -= 1) {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    swap(v,j);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  }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  }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smtClean="0">
                <a:solidFill>
                  <a:schemeClr val="tx2"/>
                </a:solidFill>
                <a:latin typeface="Lucida Console" panose="020B0609040504020204" pitchFamily="49" charset="0"/>
                <a:ea typeface="宋体" panose="02010600030101010101" pitchFamily="2" charset="-122"/>
              </a:rPr>
              <a:t>	}</a:t>
            </a:r>
            <a:endParaRPr lang="en-US" altLang="zh-CN" sz="2400" smtClean="0">
              <a:solidFill>
                <a:schemeClr val="tx2"/>
              </a:solidFill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v in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$a0</a:t>
            </a:r>
            <a:r>
              <a:rPr lang="en-US" altLang="zh-CN" sz="2400" smtClean="0">
                <a:ea typeface="宋体" panose="02010600030101010101" pitchFamily="2" charset="-122"/>
              </a:rPr>
              <a:t>, n in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$a1</a:t>
            </a:r>
            <a:r>
              <a:rPr lang="en-US" altLang="zh-CN" sz="2400" smtClean="0">
                <a:ea typeface="宋体" panose="02010600030101010101" pitchFamily="2" charset="-122"/>
              </a:rPr>
              <a:t>, i in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$s0</a:t>
            </a:r>
            <a:r>
              <a:rPr lang="en-US" altLang="zh-CN" sz="2400" smtClean="0">
                <a:ea typeface="宋体" panose="02010600030101010101" pitchFamily="2" charset="-122"/>
              </a:rPr>
              <a:t>, j in </a:t>
            </a: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$s1</a:t>
            </a:r>
            <a:endParaRPr lang="en-AU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D87B20EF-981A-42AB-B371-A76BD1DFF3C2}" type="slidenum">
              <a:rPr lang="en-AU" altLang="zh-CN" sz="1400"/>
            </a:fld>
            <a:endParaRPr lang="en-AU" altLang="zh-CN" sz="1400"/>
          </a:p>
        </p:txBody>
      </p:sp>
      <p:sp>
        <p:nvSpPr>
          <p:cNvPr id="157699" name="Rectangle 5"/>
          <p:cNvSpPr>
            <a:spLocks noChangeArrowheads="1"/>
          </p:cNvSpPr>
          <p:nvPr/>
        </p:nvSpPr>
        <p:spPr bwMode="auto">
          <a:xfrm>
            <a:off x="684213" y="1116013"/>
            <a:ext cx="7316787" cy="4841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7700" name="Rectangle 6"/>
          <p:cNvSpPr>
            <a:spLocks noChangeArrowheads="1"/>
          </p:cNvSpPr>
          <p:nvPr/>
        </p:nvSpPr>
        <p:spPr bwMode="auto">
          <a:xfrm>
            <a:off x="684213" y="1600200"/>
            <a:ext cx="7316787" cy="48418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7701" name="Rectangle 7"/>
          <p:cNvSpPr>
            <a:spLocks noChangeArrowheads="1"/>
          </p:cNvSpPr>
          <p:nvPr/>
        </p:nvSpPr>
        <p:spPr bwMode="auto">
          <a:xfrm>
            <a:off x="684213" y="2084388"/>
            <a:ext cx="7316787" cy="245903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7702" name="Rectangle 8"/>
          <p:cNvSpPr>
            <a:spLocks noChangeArrowheads="1"/>
          </p:cNvSpPr>
          <p:nvPr/>
        </p:nvSpPr>
        <p:spPr bwMode="auto">
          <a:xfrm>
            <a:off x="684213" y="4543425"/>
            <a:ext cx="7316787" cy="73342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7703" name="Rectangle 9"/>
          <p:cNvSpPr>
            <a:spLocks noChangeArrowheads="1"/>
          </p:cNvSpPr>
          <p:nvPr/>
        </p:nvSpPr>
        <p:spPr bwMode="auto">
          <a:xfrm>
            <a:off x="684213" y="5276850"/>
            <a:ext cx="7316787" cy="4857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7704" name="Rectangle 10"/>
          <p:cNvSpPr>
            <a:spLocks noChangeArrowheads="1"/>
          </p:cNvSpPr>
          <p:nvPr/>
        </p:nvSpPr>
        <p:spPr bwMode="auto">
          <a:xfrm>
            <a:off x="684213" y="5762625"/>
            <a:ext cx="7316787" cy="5032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7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The Procedure Body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5770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4213" y="1087438"/>
            <a:ext cx="8270875" cy="5111750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move $s2, $a0           # save $a0 into $s2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move $s3, $a1           # save $a1 into $s3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move $s0, $zero         # i = 0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for1tst: slt  $t0, $s0, $s3      # $t0 = 0 if $s0 ≥ $s3 (i ≥ n)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beq  $t0, $zero, exit1  # go to exit1 if $s0 ≥ $s3 (i ≥ n)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addi $s1, $s0, –1       # j = i – 1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for2tst: slti $t0, $s1, 0        # $t0 = 1 if $s1 &lt; 0 (j &lt; 0)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bne  $t0, $zero, exit2  # go to exit2 if $s1 &lt; 0 (j &lt; 0)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sll  $t1, $s1, 2        # $t1 = j * 4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add  $t2, $s2, $t1      # $t2 = v + (j * 4)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lw   $t3, 0($t2)        # $t3 = v[j]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lw   $t4, 4($t2)        # $t4 = v[j + 1]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slt  $t0, $t4, $t3      # $t0 = 0 if $t4 ≥ $t3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beq  $t0, $zero, exit2  # go to exit2 if $t4 ≥ $t3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move $a0, $s2           # 1st param of swap is v (old $a0)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move $a1, $s1           # 2nd param of swap is j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jal  swap               # call swap procedure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addi $s1, $s1, –1       # j –= 1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j    for2tst            # jump to test of inner loop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exit2:   addi $s0, $s0, 1        # i += 1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j    for1tst            # jump to test of outer loop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57707" name="Rectangle 16"/>
          <p:cNvSpPr>
            <a:spLocks noChangeArrowheads="1"/>
          </p:cNvSpPr>
          <p:nvPr/>
        </p:nvSpPr>
        <p:spPr bwMode="auto">
          <a:xfrm>
            <a:off x="8062913" y="4591050"/>
            <a:ext cx="749300" cy="649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Pass</a:t>
            </a:r>
            <a:br>
              <a:rPr lang="en-AU" altLang="zh-CN" sz="1400"/>
            </a:br>
            <a:r>
              <a:rPr lang="en-AU" altLang="zh-CN" sz="1400"/>
              <a:t>params</a:t>
            </a:r>
            <a:br>
              <a:rPr lang="en-AU" altLang="zh-CN" sz="1400"/>
            </a:br>
            <a:r>
              <a:rPr lang="en-AU" altLang="zh-CN" sz="1400"/>
              <a:t>&amp; call</a:t>
            </a:r>
            <a:endParaRPr lang="en-AU" altLang="zh-CN" sz="1400"/>
          </a:p>
        </p:txBody>
      </p:sp>
      <p:sp>
        <p:nvSpPr>
          <p:cNvPr id="157708" name="Rectangle 19"/>
          <p:cNvSpPr>
            <a:spLocks noChangeArrowheads="1"/>
          </p:cNvSpPr>
          <p:nvPr/>
        </p:nvSpPr>
        <p:spPr bwMode="auto">
          <a:xfrm>
            <a:off x="8062913" y="1122363"/>
            <a:ext cx="758825" cy="5048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Move</a:t>
            </a:r>
            <a:br>
              <a:rPr lang="en-AU" altLang="zh-CN" sz="1400"/>
            </a:br>
            <a:r>
              <a:rPr lang="en-AU" altLang="zh-CN" sz="1400"/>
              <a:t>params</a:t>
            </a:r>
            <a:endParaRPr lang="en-AU" altLang="zh-CN" sz="1400"/>
          </a:p>
        </p:txBody>
      </p:sp>
      <p:sp>
        <p:nvSpPr>
          <p:cNvPr id="157709" name="Rectangle 23"/>
          <p:cNvSpPr>
            <a:spLocks noChangeArrowheads="1"/>
          </p:cNvSpPr>
          <p:nvPr/>
        </p:nvSpPr>
        <p:spPr bwMode="auto">
          <a:xfrm>
            <a:off x="8062913" y="5405438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Inner loop</a:t>
            </a:r>
            <a:endParaRPr lang="en-AU" altLang="zh-CN" sz="1400"/>
          </a:p>
        </p:txBody>
      </p:sp>
      <p:sp>
        <p:nvSpPr>
          <p:cNvPr id="157710" name="Rectangle 24"/>
          <p:cNvSpPr>
            <a:spLocks noChangeArrowheads="1"/>
          </p:cNvSpPr>
          <p:nvPr/>
        </p:nvSpPr>
        <p:spPr bwMode="auto">
          <a:xfrm>
            <a:off x="8062913" y="5891213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Outer loop</a:t>
            </a:r>
            <a:endParaRPr lang="en-AU" altLang="zh-CN" sz="1400"/>
          </a:p>
        </p:txBody>
      </p:sp>
      <p:sp>
        <p:nvSpPr>
          <p:cNvPr id="157711" name="Rectangle 25"/>
          <p:cNvSpPr>
            <a:spLocks noChangeArrowheads="1"/>
          </p:cNvSpPr>
          <p:nvPr/>
        </p:nvSpPr>
        <p:spPr bwMode="auto">
          <a:xfrm>
            <a:off x="8062913" y="3148013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Inner loop</a:t>
            </a:r>
            <a:endParaRPr lang="en-AU" altLang="zh-CN" sz="1400"/>
          </a:p>
        </p:txBody>
      </p:sp>
      <p:sp>
        <p:nvSpPr>
          <p:cNvPr id="157712" name="Rectangle 28"/>
          <p:cNvSpPr>
            <a:spLocks noChangeArrowheads="1"/>
          </p:cNvSpPr>
          <p:nvPr/>
        </p:nvSpPr>
        <p:spPr bwMode="auto">
          <a:xfrm>
            <a:off x="8062913" y="1728788"/>
            <a:ext cx="954087" cy="2746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lIns="54000" rIns="540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Outer loop</a:t>
            </a:r>
            <a:endParaRPr lang="en-AU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B5662AA-C546-4AC3-9F2D-70C6F136D4D3}" type="slidenum">
              <a:rPr lang="en-AU" altLang="zh-CN" sz="1400"/>
            </a:fld>
            <a:endParaRPr lang="en-AU" altLang="zh-CN" sz="1400"/>
          </a:p>
        </p:txBody>
      </p:sp>
      <p:sp>
        <p:nvSpPr>
          <p:cNvPr id="159747" name="Rectangle 2"/>
          <p:cNvSpPr>
            <a:spLocks noChangeArrowheads="1"/>
          </p:cNvSpPr>
          <p:nvPr/>
        </p:nvSpPr>
        <p:spPr bwMode="auto">
          <a:xfrm>
            <a:off x="684213" y="1201738"/>
            <a:ext cx="7450137" cy="146685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9748" name="Rectangle 3"/>
          <p:cNvSpPr>
            <a:spLocks noChangeArrowheads="1"/>
          </p:cNvSpPr>
          <p:nvPr/>
        </p:nvSpPr>
        <p:spPr bwMode="auto">
          <a:xfrm>
            <a:off x="684213" y="3152775"/>
            <a:ext cx="7450137" cy="149383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9749" name="Rectangle 4"/>
          <p:cNvSpPr>
            <a:spLocks noChangeArrowheads="1"/>
          </p:cNvSpPr>
          <p:nvPr/>
        </p:nvSpPr>
        <p:spPr bwMode="auto">
          <a:xfrm>
            <a:off x="684213" y="4646613"/>
            <a:ext cx="7450137" cy="2587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9750" name="Rectangle 16"/>
          <p:cNvSpPr>
            <a:spLocks noChangeArrowheads="1"/>
          </p:cNvSpPr>
          <p:nvPr/>
        </p:nvSpPr>
        <p:spPr bwMode="auto">
          <a:xfrm>
            <a:off x="684213" y="2668588"/>
            <a:ext cx="7450137" cy="4841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15975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684213" y="1173163"/>
            <a:ext cx="8270875" cy="4960937"/>
          </a:xfrm>
        </p:spPr>
        <p:txBody>
          <a:bodyPr/>
          <a:lstStyle/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sort:    addi $sp,$sp, –20      # make room on stack for 5 registers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sw $ra, 16($sp)        # save $ra on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sw $s3,12($sp)         # save $s3 on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sw $s2, 8($sp)         # save $s2 on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sw $s1, 4($sp)         # save $s1 on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sw $s0, 0($sp)         # save $s0 on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…                      # procedure body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…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exit1: lw $s0, 0($sp)  # restore $s0 from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lw $s1, 4($sp)         # restore $s1 from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lw $s2, 8($sp)         # restore $s2 from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lw $s3,12($sp)         # restore $s3 from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lw $ra,16($sp)         # restore $ra from stack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addi $sp,$sp, 20       # restore stack pointer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AU" altLang="zh-CN" sz="1400" smtClean="0">
                <a:latin typeface="Lucida Console" panose="020B0609040504020204" pitchFamily="49" charset="0"/>
                <a:ea typeface="宋体" panose="02010600030101010101" pitchFamily="2" charset="-122"/>
              </a:rPr>
              <a:t>         jr $ra                 # return to calling routine</a:t>
            </a:r>
            <a:endParaRPr lang="en-AU" altLang="zh-CN" sz="1400" smtClean="0">
              <a:latin typeface="Lucida Console" panose="020B0609040504020204" pitchFamily="49" charset="0"/>
              <a:ea typeface="宋体" panose="02010600030101010101" pitchFamily="2" charset="-122"/>
            </a:endParaRPr>
          </a:p>
        </p:txBody>
      </p:sp>
      <p:sp>
        <p:nvSpPr>
          <p:cNvPr id="159752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The Full Procedure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081A2EE4-70AB-47AD-BEDD-16F77256AF7B}" type="slidenum">
              <a:rPr lang="en-AU" altLang="zh-CN" sz="1400"/>
            </a:fld>
            <a:endParaRPr lang="en-AU" altLang="zh-CN" sz="1400"/>
          </a:p>
        </p:txBody>
      </p:sp>
      <p:sp>
        <p:nvSpPr>
          <p:cNvPr id="161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 smtClean="0">
                <a:ea typeface="宋体" panose="02010600030101010101" pitchFamily="2" charset="-122"/>
              </a:rPr>
              <a:t>Effect of Compiler Optimization</a:t>
            </a:r>
            <a:endParaRPr lang="en-AU" altLang="zh-CN" sz="4000" smtClean="0">
              <a:ea typeface="宋体" panose="02010600030101010101" pitchFamily="2" charset="-122"/>
            </a:endParaRPr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400050" y="1774825"/>
          <a:ext cx="382905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8" name="Chart" r:id="rId1" imgW="4549140" imgH="2776855" progId="MSGraph.Chart.8">
                  <p:embed followColorScheme="full"/>
                </p:oleObj>
              </mc:Choice>
              <mc:Fallback>
                <p:oleObj name="Chart" r:id="rId1" imgW="4549140" imgH="2776855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1774825"/>
                        <a:ext cx="38290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7" name="Object 4"/>
          <p:cNvGraphicFramePr>
            <a:graphicFrameLocks noChangeAspect="1"/>
          </p:cNvGraphicFramePr>
          <p:nvPr/>
        </p:nvGraphicFramePr>
        <p:xfrm>
          <a:off x="400050" y="4044950"/>
          <a:ext cx="37719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9" name="Chart" r:id="rId3" imgW="4481830" imgH="2776855" progId="MSGraph.Chart.8">
                  <p:embed followColorScheme="full"/>
                </p:oleObj>
              </mc:Choice>
              <mc:Fallback>
                <p:oleObj name="Chart" r:id="rId3" imgW="4481830" imgH="2776855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4044950"/>
                        <a:ext cx="37719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8" name="Object 5"/>
          <p:cNvGraphicFramePr>
            <a:graphicFrameLocks noChangeAspect="1"/>
          </p:cNvGraphicFramePr>
          <p:nvPr/>
        </p:nvGraphicFramePr>
        <p:xfrm>
          <a:off x="4284663" y="1773238"/>
          <a:ext cx="37719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00" name="Chart" r:id="rId5" imgW="4481830" imgH="2776855" progId="MSGraph.Chart.8">
                  <p:embed followColorScheme="full"/>
                </p:oleObj>
              </mc:Choice>
              <mc:Fallback>
                <p:oleObj name="Chart" r:id="rId5" imgW="4481830" imgH="2776855" progId="MSGraph.Chart.8">
                  <p:embed followColorScheme="full"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773238"/>
                        <a:ext cx="377190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799" name="Object 6"/>
          <p:cNvGraphicFramePr>
            <a:graphicFrameLocks noChangeAspect="1"/>
          </p:cNvGraphicFramePr>
          <p:nvPr/>
        </p:nvGraphicFramePr>
        <p:xfrm>
          <a:off x="4427538" y="4048125"/>
          <a:ext cx="382905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001" name="Chart" r:id="rId7" imgW="4549140" imgH="2776855" progId="MSGraph.Chart.8">
                  <p:embed followColorScheme="full"/>
                </p:oleObj>
              </mc:Choice>
              <mc:Fallback>
                <p:oleObj name="Chart" r:id="rId7" imgW="4549140" imgH="2776855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048125"/>
                        <a:ext cx="3829050" cy="233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0" name="Text Box 7"/>
          <p:cNvSpPr txBox="1">
            <a:spLocks noChangeArrowheads="1"/>
          </p:cNvSpPr>
          <p:nvPr/>
        </p:nvSpPr>
        <p:spPr bwMode="auto">
          <a:xfrm>
            <a:off x="1908175" y="1268413"/>
            <a:ext cx="473075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ahoma" panose="020B0604030504040204" pitchFamily="34" charset="0"/>
              </a:rPr>
              <a:t>Compiled with gcc for Pentium 4 under Linux</a:t>
            </a:r>
            <a:endParaRPr lang="en-AU" altLang="zh-CN" sz="1800">
              <a:latin typeface="Tahoma" panose="020B0604030504040204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85750" y="4071938"/>
            <a:ext cx="4214813" cy="2357437"/>
          </a:xfrm>
          <a:prstGeom prst="rect">
            <a:avLst/>
          </a:prstGeom>
          <a:noFill/>
          <a:ln w="539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4098" grpId="0"/>
      <p:bldP spid="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EF5E51E-87C5-404D-9D23-5C0237CFC90B}" type="slidenum">
              <a:rPr lang="en-AU" altLang="zh-CN" sz="1400"/>
            </a:fld>
            <a:endParaRPr lang="en-AU" altLang="zh-CN" sz="1400"/>
          </a:p>
        </p:txBody>
      </p:sp>
      <p:sp>
        <p:nvSpPr>
          <p:cNvPr id="163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6700"/>
            <a:ext cx="8259762" cy="641350"/>
          </a:xfrm>
        </p:spPr>
        <p:txBody>
          <a:bodyPr/>
          <a:lstStyle/>
          <a:p>
            <a:pPr eaLnBrk="1" hangingPunct="1"/>
            <a:r>
              <a:rPr lang="en-US" altLang="zh-CN" sz="3600" smtClean="0">
                <a:ea typeface="宋体" panose="02010600030101010101" pitchFamily="2" charset="-122"/>
              </a:rPr>
              <a:t>Effect of Language and Algorithm</a:t>
            </a:r>
            <a:endParaRPr lang="en-AU" altLang="zh-CN" sz="3600" smtClean="0">
              <a:ea typeface="宋体" panose="02010600030101010101" pitchFamily="2" charset="-122"/>
            </a:endParaRPr>
          </a:p>
        </p:txBody>
      </p:sp>
      <p:graphicFrame>
        <p:nvGraphicFramePr>
          <p:cNvPr id="163844" name="Object 3"/>
          <p:cNvGraphicFramePr>
            <a:graphicFrameLocks noChangeAspect="1"/>
          </p:cNvGraphicFramePr>
          <p:nvPr/>
        </p:nvGraphicFramePr>
        <p:xfrm>
          <a:off x="1647825" y="1125538"/>
          <a:ext cx="5086350" cy="179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4" name="Chart" r:id="rId1" imgW="6039485" imgH="2313940" progId="MSGraph.Chart.8">
                  <p:embed followColorScheme="full"/>
                </p:oleObj>
              </mc:Choice>
              <mc:Fallback>
                <p:oleObj name="Chart" r:id="rId1" imgW="6039485" imgH="2313940" progId="MSGraph.Chart.8">
                  <p:embed followColorScheme="full"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1125538"/>
                        <a:ext cx="5086350" cy="179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4"/>
          <p:cNvGraphicFramePr>
            <a:graphicFrameLocks noChangeAspect="1"/>
          </p:cNvGraphicFramePr>
          <p:nvPr/>
        </p:nvGraphicFramePr>
        <p:xfrm>
          <a:off x="1647825" y="2852738"/>
          <a:ext cx="508635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5" name="Chart" r:id="rId3" imgW="6039485" imgH="2313940" progId="MSGraph.Chart.8">
                  <p:embed followColorScheme="full"/>
                </p:oleObj>
              </mc:Choice>
              <mc:Fallback>
                <p:oleObj name="Chart" r:id="rId3" imgW="6039485" imgH="2313940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2852738"/>
                        <a:ext cx="508635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/>
          <p:cNvGraphicFramePr>
            <a:graphicFrameLocks noChangeAspect="1"/>
          </p:cNvGraphicFramePr>
          <p:nvPr/>
        </p:nvGraphicFramePr>
        <p:xfrm>
          <a:off x="1619250" y="4652963"/>
          <a:ext cx="508635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6" name="Chart" r:id="rId5" imgW="6039485" imgH="2313940" progId="MSGraph.Chart.8">
                  <p:embed followColorScheme="full"/>
                </p:oleObj>
              </mc:Choice>
              <mc:Fallback>
                <p:oleObj name="Chart" r:id="rId5" imgW="6039485" imgH="2313940" progId="MSGraph.Chart.8">
                  <p:embed followColorScheme="full"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652963"/>
                        <a:ext cx="508635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5123" grpId="0"/>
      <p:bldOleChart spid="512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1A13345A-060A-413E-8E90-3448F771A03B}" type="slidenum">
              <a:rPr lang="en-AU" altLang="zh-CN" sz="1400"/>
            </a:fld>
            <a:endParaRPr lang="en-AU" altLang="zh-CN" sz="1400"/>
          </a:p>
        </p:txBody>
      </p:sp>
      <p:sp>
        <p:nvSpPr>
          <p:cNvPr id="16589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Lessons Learnt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19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Instruction count </a:t>
            </a:r>
            <a:r>
              <a:rPr lang="en-US" altLang="zh-CN" smtClean="0">
                <a:ea typeface="宋体" panose="02010600030101010101" pitchFamily="2" charset="-122"/>
              </a:rPr>
              <a:t>and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CPI</a:t>
            </a:r>
            <a:r>
              <a:rPr lang="en-US" altLang="zh-CN" smtClean="0">
                <a:ea typeface="宋体" panose="02010600030101010101" pitchFamily="2" charset="-122"/>
              </a:rPr>
              <a:t> are not good performance indicators in isolation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Compiler optimizations are sensitive to the algorithm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Java/JIT compiled code is significantly faster than JVM interpreted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Comparable to optimized C in some cases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Nothing can fix a dumb algorithm!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2B90EC26-C88D-4CAA-ADA7-44EE91488B04}" type="slidenum">
              <a:rPr lang="en-AU" altLang="zh-CN" sz="1400"/>
            </a:fld>
            <a:endParaRPr lang="en-AU" altLang="zh-CN" sz="1400"/>
          </a:p>
        </p:txBody>
      </p:sp>
      <p:sp>
        <p:nvSpPr>
          <p:cNvPr id="167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Arrays vs. Pointers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7897812" cy="511175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Array indexing involves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Multiplying index by element size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Adding to array base address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Pointers correspond directly to memory addresses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Can avoid indexing complexity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67941" name="Text Box 4"/>
          <p:cNvSpPr txBox="1">
            <a:spLocks noChangeArrowheads="1"/>
          </p:cNvSpPr>
          <p:nvPr/>
        </p:nvSpPr>
        <p:spPr bwMode="auto">
          <a:xfrm rot="5400000">
            <a:off x="7401719" y="1375569"/>
            <a:ext cx="31178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§2.14 Arrays versus Pointers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D9694DE-E0B2-4C05-9A59-C97F9278D0B5}" type="slidenum">
              <a:rPr lang="en-AU" altLang="zh-CN" sz="1400"/>
            </a:fld>
            <a:endParaRPr lang="en-AU" altLang="zh-CN" sz="1400"/>
          </a:p>
        </p:txBody>
      </p:sp>
      <p:sp>
        <p:nvSpPr>
          <p:cNvPr id="169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Example: Clearing an Array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graphicFrame>
        <p:nvGraphicFramePr>
          <p:cNvPr id="396291" name="Group 3"/>
          <p:cNvGraphicFramePr>
            <a:graphicFrameLocks noGrp="1"/>
          </p:cNvGraphicFramePr>
          <p:nvPr/>
        </p:nvGraphicFramePr>
        <p:xfrm>
          <a:off x="107950" y="1457325"/>
          <a:ext cx="8928100" cy="4065588"/>
        </p:xfrm>
        <a:graphic>
          <a:graphicData uri="http://schemas.openxmlformats.org/drawingml/2006/table">
            <a:tbl>
              <a:tblPr/>
              <a:tblGrid>
                <a:gridCol w="4392613"/>
                <a:gridCol w="4535487"/>
              </a:tblGrid>
              <a:tr h="1455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clear1(int array[], int size) {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int i;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for (i = 0; i &lt; size; i += 1)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array[i] = 0;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clear2(int *array, int size) {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int *p;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for (p = &amp;array[0]; p &lt; &amp;array[size];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p = p + 1)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*p = 0;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609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move $t0,$zero   # i = 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loop1: sll $t1,$t0,2    # $t1 = i * 4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add $t2,$a0,$t1  # $t2 =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                 #   &amp;array[i]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sw $zero, 0($t2) # array[i] = 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addi $t0,$t0,1   # i = i + 1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slt $t3,$t0,$a1  # $t3 =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                 #   (i &lt; size)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bne $t3,$zero,loop1 # if (…)</a:t>
                      </a:r>
                      <a:b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</a:b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                    # goto loop1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move $t0,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$a0    # p = &amp; array[0]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sll $t1,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$a1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,2   # $t1 = 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size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* 4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add $t2,$a0,$t1 # $t2 =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                #   &amp;array[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size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loop2: 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sw $zero,0(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$t0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) # 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Memory[p]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= 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addi $t0,$t0,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# 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p = p + 4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slt $t3,$t0,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$t2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# $t3 =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                #(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p&lt;&amp;array[size]</a:t>
                      </a: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)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bne $t3,$zero,loop2 # if (…)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                           # goto loop2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EA33F7A4-58D6-4030-935C-27145A6FD957}" type="slidenum">
              <a:rPr lang="en-AU" altLang="zh-CN" sz="1400"/>
            </a:fld>
            <a:endParaRPr lang="en-AU" altLang="zh-CN" sz="1400"/>
          </a:p>
        </p:txBody>
      </p:sp>
      <p:sp>
        <p:nvSpPr>
          <p:cNvPr id="172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Comparison of Array vs. Ptr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Multiply “strength reduced” to shift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smtClean="0">
                <a:ea typeface="宋体" panose="02010600030101010101" pitchFamily="2" charset="-122"/>
              </a:rPr>
              <a:t>Array version requires shift to be inside loop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Part of index calculation for incremented </a:t>
            </a:r>
            <a:r>
              <a:rPr lang="en-US" altLang="zh-CN" dirty="0" err="1" smtClean="0">
                <a:ea typeface="宋体" panose="02010600030101010101" pitchFamily="2" charset="-122"/>
              </a:rPr>
              <a:t>i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c.f. incrementing pointer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Compiler can achieve same </a:t>
            </a:r>
            <a:r>
              <a:rPr lang="en-US" altLang="zh-CN" dirty="0" smtClean="0">
                <a:ea typeface="宋体" panose="02010600030101010101" pitchFamily="2" charset="-122"/>
              </a:rPr>
              <a:t>effect as manual use of pointers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Induction variable elimination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 smtClean="0">
                <a:ea typeface="宋体" panose="02010600030101010101" pitchFamily="2" charset="-122"/>
              </a:rPr>
              <a:t>Better to make program clearer and safer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 smtClean="0">
                <a:solidFill>
                  <a:srgbClr val="FF0000"/>
                </a:solidFill>
                <a:ea typeface="宋体" panose="02010600030101010101" pitchFamily="2" charset="-122"/>
              </a:rPr>
              <a:t>Avoid using pointers!!</a:t>
            </a:r>
            <a:endParaRPr lang="en-AU" altLang="zh-CN" dirty="0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4ACAA290-1BF7-402F-AED1-D21D86218430}" type="slidenum">
              <a:rPr lang="en-AU" altLang="zh-CN" sz="1400"/>
            </a:fld>
            <a:endParaRPr lang="en-AU" altLang="zh-CN" sz="1400"/>
          </a:p>
        </p:txBody>
      </p:sp>
      <p:sp>
        <p:nvSpPr>
          <p:cNvPr id="174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ARM &amp; MIPS Similarities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9350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ARM: the most popular embedded core</a:t>
            </a:r>
            <a:endParaRPr lang="en-AU" altLang="zh-CN" sz="280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AU" altLang="zh-CN" sz="2800" smtClean="0">
                <a:ea typeface="宋体" panose="02010600030101010101" pitchFamily="2" charset="-122"/>
              </a:rPr>
              <a:t>Similar basic set of instructions to MIPS</a:t>
            </a:r>
            <a:endParaRPr lang="en-AU" altLang="zh-CN" sz="2800" smtClean="0">
              <a:ea typeface="宋体" panose="02010600030101010101" pitchFamily="2" charset="-122"/>
            </a:endParaRPr>
          </a:p>
        </p:txBody>
      </p:sp>
      <p:sp>
        <p:nvSpPr>
          <p:cNvPr id="174085" name="Text Box 4"/>
          <p:cNvSpPr txBox="1">
            <a:spLocks noChangeArrowheads="1"/>
          </p:cNvSpPr>
          <p:nvPr/>
        </p:nvSpPr>
        <p:spPr bwMode="auto">
          <a:xfrm rot="5400000">
            <a:off x="7115969" y="1661319"/>
            <a:ext cx="36893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§2.16 Real Stuff: ARM Instructions</a:t>
            </a:r>
            <a:endParaRPr lang="en-US" altLang="zh-CN" sz="1800">
              <a:solidFill>
                <a:schemeClr val="folHlink"/>
              </a:solidFill>
            </a:endParaRPr>
          </a:p>
        </p:txBody>
      </p:sp>
      <p:graphicFrame>
        <p:nvGraphicFramePr>
          <p:cNvPr id="420939" name="Group 75"/>
          <p:cNvGraphicFramePr>
            <a:graphicFrameLocks noGrp="1"/>
          </p:cNvGraphicFramePr>
          <p:nvPr/>
        </p:nvGraphicFramePr>
        <p:xfrm>
          <a:off x="755650" y="2133600"/>
          <a:ext cx="7632700" cy="3976688"/>
        </p:xfrm>
        <a:graphic>
          <a:graphicData uri="http://schemas.openxmlformats.org/drawingml/2006/table">
            <a:tbl>
              <a:tblPr/>
              <a:tblGrid>
                <a:gridCol w="3482975"/>
                <a:gridCol w="2076450"/>
                <a:gridCol w="2073275"/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ARM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MIPS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Date announced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1985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1985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 size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 bits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 bits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Address space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32-bit flat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32-bit flat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 alignment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Aligned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Aligned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 addressing modes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9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Registers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 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 32-bit</a:t>
                      </a:r>
                      <a:endParaRPr kumimoji="0" lang="en-US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31 </a:t>
                      </a: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× 32-bit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Input/output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 mapped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 mapped</a:t>
                      </a:r>
                      <a:endParaRPr kumimoji="0" lang="en-AU" altLang="zh-CN" sz="2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CN" smtClean="0">
                <a:ea typeface="宋体" panose="02010600030101010101" pitchFamily="2" charset="-122"/>
              </a:rPr>
              <a:t>ARM &amp; MIPS Similarities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76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zh-CN" smtClean="0">
              <a:ea typeface="宋体" panose="02010600030101010101" pitchFamily="2" charset="-122"/>
            </a:endParaRPr>
          </a:p>
        </p:txBody>
      </p:sp>
      <p:sp>
        <p:nvSpPr>
          <p:cNvPr id="17613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F34B4CC4-F3B7-4CD3-BA97-37868ACEEAE1}" type="slidenum">
              <a:rPr lang="en-AU" altLang="zh-CN" sz="1400"/>
            </a:fld>
            <a:endParaRPr lang="en-AU" altLang="zh-CN" sz="1400"/>
          </a:p>
        </p:txBody>
      </p:sp>
      <p:pic>
        <p:nvPicPr>
          <p:cNvPr id="176133" name="Picture 4" descr="f02-32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908050"/>
            <a:ext cx="7848600" cy="551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4438C9EE-F1EF-476F-8220-AFCD2B1F833C}" type="slidenum">
              <a:rPr lang="en-AU" altLang="zh-CN" sz="1400"/>
            </a:fld>
            <a:endParaRPr lang="en-AU" altLang="zh-CN" sz="1400"/>
          </a:p>
        </p:txBody>
      </p:sp>
      <p:sp>
        <p:nvSpPr>
          <p:cNvPr id="177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Compare and Branch in ARM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Uses condition codes for result of an arithmetic/logical instruction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Negative, zero, carry, overflow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Compare (CMP)</a:t>
            </a:r>
            <a:r>
              <a:rPr lang="en-AU" altLang="zh-CN" smtClean="0">
                <a:ea typeface="宋体" panose="02010600030101010101" pitchFamily="2" charset="-122"/>
              </a:rPr>
              <a:t> instructions to set condition codes without keeping the result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mtClean="0">
                <a:ea typeface="宋体" panose="02010600030101010101" pitchFamily="2" charset="-122"/>
              </a:rPr>
              <a:t>Subtracts one operand from the other</a:t>
            </a:r>
            <a:endParaRPr lang="en-AU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Each instruction can be conditional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Top 4 bits of instruction word: condition value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Can avoid branches over single instructions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4A96870-5699-442B-B0B4-3376835C4E42}" type="slidenum">
              <a:rPr lang="en-AU" altLang="zh-CN" sz="1400"/>
            </a:fld>
            <a:endParaRPr lang="en-AU" altLang="zh-CN" sz="1400"/>
          </a:p>
        </p:txBody>
      </p:sp>
      <p:sp>
        <p:nvSpPr>
          <p:cNvPr id="179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Instruction Encoding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179204" name="Picture 4" descr="f02-34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981075"/>
            <a:ext cx="74168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Unique ARM Instructions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181251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A7F84C93-3C6B-4198-84EE-BFAF1282ED1F}" type="slidenum">
              <a:rPr lang="en-AU" altLang="zh-CN" sz="1400"/>
            </a:fld>
            <a:endParaRPr lang="en-AU" altLang="zh-CN" sz="1400"/>
          </a:p>
        </p:txBody>
      </p:sp>
      <p:pic>
        <p:nvPicPr>
          <p:cNvPr id="181252" name="Picture 4" descr="f02-35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557338"/>
            <a:ext cx="7669213" cy="367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DDD95EBB-3CED-41ED-AAB4-1686FEF494B4}" type="slidenum">
              <a:rPr lang="en-AU" altLang="zh-CN" sz="1400"/>
            </a:fld>
            <a:endParaRPr lang="en-AU" altLang="zh-CN" sz="1400"/>
          </a:p>
        </p:txBody>
      </p:sp>
      <p:sp>
        <p:nvSpPr>
          <p:cNvPr id="182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The Intel x86 ISA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ea typeface="宋体" panose="02010600030101010101" pitchFamily="2" charset="-122"/>
              </a:rPr>
              <a:t>Evolution with backward compatibility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8080 (1974): </a:t>
            </a:r>
            <a:r>
              <a:rPr lang="en-US" altLang="zh-CN" sz="2400" smtClean="0">
                <a:ea typeface="宋体" panose="02010600030101010101" pitchFamily="2" charset="-122"/>
              </a:rPr>
              <a:t>8-bit microprocessor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Accumulator, plus 3 index-register pairs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8086 (1978): </a:t>
            </a:r>
            <a:r>
              <a:rPr lang="en-US" altLang="zh-CN" sz="2400" smtClean="0">
                <a:ea typeface="宋体" panose="02010600030101010101" pitchFamily="2" charset="-122"/>
              </a:rPr>
              <a:t>16-bit extension to 8080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Complex instruction set (CISC)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8087 (1980): </a:t>
            </a:r>
            <a:r>
              <a:rPr lang="en-US" altLang="zh-CN" sz="2400" smtClean="0">
                <a:ea typeface="宋体" panose="02010600030101010101" pitchFamily="2" charset="-122"/>
              </a:rPr>
              <a:t>floating-point coprocessor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Adds FP instructions and register stack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80286 (1982): </a:t>
            </a:r>
            <a:r>
              <a:rPr lang="en-US" altLang="zh-CN" sz="2400" smtClean="0">
                <a:ea typeface="宋体" panose="02010600030101010101" pitchFamily="2" charset="-122"/>
              </a:rPr>
              <a:t>24-bit addresses, MMU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Segmented memory mapping and protection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80386 (1985): </a:t>
            </a:r>
            <a:r>
              <a:rPr lang="en-US" altLang="zh-CN" sz="2400" smtClean="0">
                <a:ea typeface="宋体" panose="02010600030101010101" pitchFamily="2" charset="-122"/>
              </a:rPr>
              <a:t>32-bit extension (now IA-32)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Additional addressing modes and operations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</a:rPr>
              <a:t>Paged memory mapping as well as segments</a:t>
            </a:r>
            <a:endParaRPr lang="en-AU" altLang="zh-CN" sz="2000" smtClean="0">
              <a:ea typeface="宋体" panose="02010600030101010101" pitchFamily="2" charset="-122"/>
            </a:endParaRPr>
          </a:p>
        </p:txBody>
      </p:sp>
      <p:sp>
        <p:nvSpPr>
          <p:cNvPr id="182277" name="Text Box 4"/>
          <p:cNvSpPr txBox="1">
            <a:spLocks noChangeArrowheads="1"/>
          </p:cNvSpPr>
          <p:nvPr/>
        </p:nvSpPr>
        <p:spPr bwMode="auto">
          <a:xfrm rot="5400000">
            <a:off x="7185819" y="1591469"/>
            <a:ext cx="35496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§2.17 Real Stuff: x86 Instructions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8AA8BC52-C5A0-4FC8-9C9F-85BF80F3B6D9}" type="slidenum">
              <a:rPr lang="en-AU" altLang="zh-CN" sz="1400"/>
            </a:fld>
            <a:endParaRPr lang="en-AU" altLang="zh-CN" sz="1400"/>
          </a:p>
        </p:txBody>
      </p:sp>
      <p:sp>
        <p:nvSpPr>
          <p:cNvPr id="184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The Intel x86 ISA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Further evolution…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i486 (1989): </a:t>
            </a:r>
            <a:r>
              <a:rPr lang="en-US" altLang="zh-CN" sz="2400" smtClean="0">
                <a:ea typeface="宋体" panose="02010600030101010101" pitchFamily="2" charset="-122"/>
              </a:rPr>
              <a:t>pipelined, on-chip caches and FPU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Compatible competitors: AMD, Cyrix, …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Pentium (1993): </a:t>
            </a:r>
            <a:r>
              <a:rPr lang="en-US" altLang="zh-CN" sz="2400" smtClean="0">
                <a:ea typeface="宋体" panose="02010600030101010101" pitchFamily="2" charset="-122"/>
              </a:rPr>
              <a:t>superscalar, 64-bit datapath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Later versions added MMX (Multi-Media eXtension) instructions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The infamous $500M FDIV bug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Pentium Pro (1995), Pentium II (1997)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New microarchitecture (see Colwell, </a:t>
            </a:r>
            <a:r>
              <a:rPr lang="en-US" altLang="zh-CN" sz="2000" i="1" smtClean="0">
                <a:ea typeface="宋体" panose="02010600030101010101" pitchFamily="2" charset="-122"/>
              </a:rPr>
              <a:t>The Pentium Chronicles</a:t>
            </a:r>
            <a:r>
              <a:rPr lang="en-US" altLang="zh-CN" sz="2000" smtClean="0">
                <a:ea typeface="宋体" panose="02010600030101010101" pitchFamily="2" charset="-122"/>
              </a:rPr>
              <a:t>)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Pentium III (1999)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Added SSE (Streaming SIMD Extensions) and associated registers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smtClean="0">
                <a:solidFill>
                  <a:srgbClr val="FF0000"/>
                </a:solidFill>
                <a:ea typeface="宋体" panose="02010600030101010101" pitchFamily="2" charset="-122"/>
              </a:rPr>
              <a:t>Pentium 4 (2001)</a:t>
            </a:r>
            <a:endParaRPr lang="en-US" altLang="zh-CN" sz="240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New microarchitecture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Added 144 SSE2 instructions</a:t>
            </a:r>
            <a:endParaRPr lang="en-AU" altLang="zh-CN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19D0603D-3CBC-4B3F-B578-A516FC8ADEC4}" type="slidenum">
              <a:rPr lang="en-AU" altLang="zh-CN" sz="1400"/>
            </a:fld>
            <a:endParaRPr lang="en-AU" altLang="zh-CN" sz="1400"/>
          </a:p>
        </p:txBody>
      </p:sp>
      <p:sp>
        <p:nvSpPr>
          <p:cNvPr id="186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The Intel x86 ISA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53752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 smtClean="0">
                <a:ea typeface="宋体" panose="02010600030101010101" pitchFamily="2" charset="-122"/>
              </a:rPr>
              <a:t>And further…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ea typeface="宋体" panose="02010600030101010101" pitchFamily="2" charset="-122"/>
              </a:rPr>
              <a:t>AMD64 (2003): </a:t>
            </a:r>
            <a:r>
              <a:rPr lang="en-US" altLang="zh-CN" sz="2200" dirty="0" smtClean="0">
                <a:solidFill>
                  <a:schemeClr val="tx2"/>
                </a:solidFill>
                <a:ea typeface="宋体" panose="02010600030101010101" pitchFamily="2" charset="-122"/>
              </a:rPr>
              <a:t>extended architecture to 64 bits</a:t>
            </a:r>
            <a:endParaRPr lang="en-US" altLang="zh-CN" sz="2200" dirty="0" smtClean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ea typeface="宋体" panose="02010600030101010101" pitchFamily="2" charset="-122"/>
              </a:rPr>
              <a:t>EM64T</a:t>
            </a:r>
            <a:r>
              <a:rPr lang="en-US" altLang="zh-CN" sz="2200" dirty="0" smtClean="0">
                <a:ea typeface="宋体" panose="02010600030101010101" pitchFamily="2" charset="-122"/>
              </a:rPr>
              <a:t> </a:t>
            </a:r>
            <a:r>
              <a:rPr lang="en-US" altLang="zh-CN" sz="2200" dirty="0" smtClean="0">
                <a:ea typeface="宋体" panose="02010600030101010101" pitchFamily="2" charset="-122"/>
                <a:cs typeface="Arial" panose="020B0604020202020204" pitchFamily="34" charset="0"/>
              </a:rPr>
              <a:t>– </a:t>
            </a:r>
            <a:r>
              <a:rPr lang="en-US" altLang="zh-CN" sz="2200" dirty="0" smtClean="0">
                <a:ea typeface="宋体" panose="02010600030101010101" pitchFamily="2" charset="-122"/>
              </a:rPr>
              <a:t>Extended Memory 64 Technology (2004)</a:t>
            </a:r>
            <a:endParaRPr lang="en-US" altLang="zh-CN" sz="2200" dirty="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AMD64 adopted by Intel (with refinements)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Added SSE3 instructions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ea typeface="宋体" panose="02010600030101010101" pitchFamily="2" charset="-122"/>
              </a:rPr>
              <a:t>Intel Core (2006)</a:t>
            </a:r>
            <a:endParaRPr lang="en-US" altLang="zh-CN" sz="2200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Added SSE4 instructions, virtual machine support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ea typeface="宋体" panose="02010600030101010101" pitchFamily="2" charset="-122"/>
              </a:rPr>
              <a:t>AMD64 (announced 2007): </a:t>
            </a:r>
            <a:r>
              <a:rPr lang="en-US" altLang="zh-CN" sz="2200" dirty="0" smtClean="0">
                <a:solidFill>
                  <a:schemeClr val="tx2"/>
                </a:solidFill>
                <a:ea typeface="宋体" panose="02010600030101010101" pitchFamily="2" charset="-122"/>
              </a:rPr>
              <a:t>SSE5 instructions</a:t>
            </a:r>
            <a:endParaRPr lang="en-US" altLang="zh-CN" sz="2200" dirty="0" smtClean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 smtClean="0">
                <a:solidFill>
                  <a:schemeClr val="tx2"/>
                </a:solidFill>
                <a:ea typeface="宋体" panose="02010600030101010101" pitchFamily="2" charset="-122"/>
              </a:rPr>
              <a:t>Intel declined to follow, instead…</a:t>
            </a:r>
            <a:endParaRPr lang="en-US" altLang="zh-CN" sz="2000" dirty="0" smtClean="0">
              <a:solidFill>
                <a:schemeClr val="tx2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200" dirty="0" smtClean="0">
                <a:solidFill>
                  <a:srgbClr val="FF0000"/>
                </a:solidFill>
                <a:ea typeface="宋体" panose="02010600030101010101" pitchFamily="2" charset="-122"/>
              </a:rPr>
              <a:t>Advanced Vector Extension (announced 2008)</a:t>
            </a:r>
            <a:endParaRPr lang="en-US" altLang="zh-CN" sz="2200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Longer SSE registers, more instructions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endParaRPr lang="en-US" altLang="zh-CN" sz="500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 smtClean="0">
                <a:ea typeface="宋体" panose="02010600030101010101" pitchFamily="2" charset="-122"/>
              </a:rPr>
              <a:t>Existing x86 software base at each step too important to jeopardize with significant architectural changes</a:t>
            </a:r>
            <a:endParaRPr lang="en-US" altLang="zh-CN" sz="24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x86 extended by </a:t>
            </a:r>
            <a:r>
              <a:rPr lang="en-US" altLang="zh-CN" sz="2000" dirty="0" smtClean="0">
                <a:solidFill>
                  <a:srgbClr val="FF0000"/>
                </a:solidFill>
                <a:ea typeface="宋体" panose="02010600030101010101" pitchFamily="2" charset="-122"/>
              </a:rPr>
              <a:t>one instruction per month </a:t>
            </a:r>
            <a:r>
              <a:rPr lang="en-US" altLang="zh-CN" sz="2000" dirty="0" smtClean="0">
                <a:ea typeface="宋体" panose="02010600030101010101" pitchFamily="2" charset="-122"/>
              </a:rPr>
              <a:t>since inception!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is an architecture that is difficult to explain and hard to love</a:t>
            </a:r>
            <a:endParaRPr lang="en-US" altLang="zh-CN" sz="2000" dirty="0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smtClean="0">
                <a:ea typeface="宋体" panose="02010600030101010101" pitchFamily="2" charset="-122"/>
              </a:rPr>
              <a:t>despite lacking “technical elegance”, x86 family pervasive today</a:t>
            </a:r>
            <a:endParaRPr lang="en-US" altLang="zh-CN" sz="2000" dirty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Footer Placeholder 2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9D215086-E7ED-4669-8E8B-0CB77A5B7DC4}" type="slidenum">
              <a:rPr lang="en-AU" altLang="zh-CN" sz="1400"/>
            </a:fld>
            <a:endParaRPr lang="en-AU" altLang="zh-CN" sz="1400"/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Basic x86 Registers (80386)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188420" name="Picture 5" descr="f02-36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96975"/>
            <a:ext cx="5024438" cy="507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2BB23472-70DB-4B18-B030-5B9E4459B411}" type="slidenum">
              <a:rPr lang="en-AU" altLang="zh-CN" sz="1400"/>
            </a:fld>
            <a:endParaRPr lang="en-AU" altLang="zh-CN" sz="1400"/>
          </a:p>
        </p:txBody>
      </p:sp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Basic x86 Addressing Modes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647700"/>
          </a:xfrm>
        </p:spPr>
        <p:txBody>
          <a:bodyPr/>
          <a:lstStyle/>
          <a:p>
            <a:pPr eaLnBrk="1" hangingPunct="1"/>
            <a:r>
              <a:rPr lang="en-AU" altLang="zh-CN" sz="2800" smtClean="0">
                <a:ea typeface="宋体" panose="02010600030101010101" pitchFamily="2" charset="-122"/>
              </a:rPr>
              <a:t>Two operands per instruction</a:t>
            </a:r>
            <a:endParaRPr lang="en-AU" altLang="zh-CN" sz="2800" smtClean="0">
              <a:ea typeface="宋体" panose="02010600030101010101" pitchFamily="2" charset="-122"/>
            </a:endParaRPr>
          </a:p>
        </p:txBody>
      </p:sp>
      <p:graphicFrame>
        <p:nvGraphicFramePr>
          <p:cNvPr id="471080" name="Group 40"/>
          <p:cNvGraphicFramePr>
            <a:graphicFrameLocks noGrp="1"/>
          </p:cNvGraphicFramePr>
          <p:nvPr/>
        </p:nvGraphicFramePr>
        <p:xfrm>
          <a:off x="1187450" y="1700213"/>
          <a:ext cx="6697663" cy="2011362"/>
        </p:xfrm>
        <a:graphic>
          <a:graphicData uri="http://schemas.openxmlformats.org/drawingml/2006/table">
            <a:tbl>
              <a:tblPr/>
              <a:tblGrid>
                <a:gridCol w="3349625"/>
                <a:gridCol w="3348038"/>
              </a:tblGrid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Source/</a:t>
                      </a:r>
                      <a:r>
                        <a:rPr kumimoji="0" lang="en-AU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dest</a:t>
                      </a:r>
                      <a:r>
                        <a:rPr kumimoji="0" lang="en-A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operand</a:t>
                      </a:r>
                      <a:endParaRPr kumimoji="0" lang="en-A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Second source operand</a:t>
                      </a:r>
                      <a:endParaRPr kumimoji="0" lang="en-A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Register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Register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Register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Immediate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Register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Register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Memory</a:t>
                      </a:r>
                      <a:endParaRPr kumimoji="0" lang="en-A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AU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Immediate</a:t>
                      </a:r>
                      <a:endParaRPr kumimoji="0" lang="en-A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676" marB="4567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0492" name="Rectangle 41"/>
          <p:cNvSpPr>
            <a:spLocks noChangeArrowheads="1"/>
          </p:cNvSpPr>
          <p:nvPr/>
        </p:nvSpPr>
        <p:spPr bwMode="auto">
          <a:xfrm>
            <a:off x="684213" y="3933825"/>
            <a:ext cx="82708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AU" altLang="zh-CN" sz="2800"/>
              <a:t>Memory addressing modes</a:t>
            </a:r>
            <a:endParaRPr lang="en-AU" altLang="zh-CN" sz="2800"/>
          </a:p>
          <a:p>
            <a:pPr lvl="1" eaLnBrk="1" hangingPunct="1"/>
            <a:r>
              <a:rPr lang="en-AU" altLang="zh-CN" sz="2400"/>
              <a:t>Address in register</a:t>
            </a:r>
            <a:endParaRPr lang="en-AU" altLang="zh-CN" sz="2400"/>
          </a:p>
          <a:p>
            <a:pPr lvl="1" eaLnBrk="1" hangingPunct="1"/>
            <a:r>
              <a:rPr lang="en-AU" altLang="zh-CN" sz="2400"/>
              <a:t>Address = R</a:t>
            </a:r>
            <a:r>
              <a:rPr lang="en-AU" altLang="zh-CN" sz="2400" baseline="-25000"/>
              <a:t>base</a:t>
            </a:r>
            <a:r>
              <a:rPr lang="en-AU" altLang="zh-CN" sz="2400"/>
              <a:t> + displacement</a:t>
            </a:r>
            <a:endParaRPr lang="en-AU" altLang="zh-CN" sz="2400"/>
          </a:p>
          <a:p>
            <a:pPr lvl="1" eaLnBrk="1" hangingPunct="1"/>
            <a:r>
              <a:rPr lang="en-AU" altLang="zh-CN" sz="2400"/>
              <a:t>Address = R</a:t>
            </a:r>
            <a:r>
              <a:rPr lang="en-AU" altLang="zh-CN" sz="2400" baseline="-25000"/>
              <a:t>base</a:t>
            </a:r>
            <a:r>
              <a:rPr lang="en-AU" altLang="zh-CN" sz="2400"/>
              <a:t> + 2</a:t>
            </a:r>
            <a:r>
              <a:rPr lang="en-AU" altLang="zh-CN" sz="2400" baseline="30000"/>
              <a:t>scale</a:t>
            </a:r>
            <a:r>
              <a:rPr lang="en-AU" altLang="zh-CN" sz="2400"/>
              <a:t> </a:t>
            </a:r>
            <a:r>
              <a:rPr lang="en-US" altLang="zh-CN" sz="2400">
                <a:cs typeface="Arial" panose="020B0604020202020204" pitchFamily="34" charset="0"/>
              </a:rPr>
              <a:t>×</a:t>
            </a:r>
            <a:r>
              <a:rPr lang="en-AU" altLang="zh-CN" sz="2400"/>
              <a:t> R</a:t>
            </a:r>
            <a:r>
              <a:rPr lang="en-AU" altLang="zh-CN" sz="2400" baseline="-25000"/>
              <a:t>index</a:t>
            </a:r>
            <a:r>
              <a:rPr lang="en-AU" altLang="zh-CN" sz="2400"/>
              <a:t> (scale = 0, 1, 2, or 3)</a:t>
            </a:r>
            <a:endParaRPr lang="en-AU" altLang="zh-CN" sz="2400"/>
          </a:p>
          <a:p>
            <a:pPr lvl="1" eaLnBrk="1" hangingPunct="1"/>
            <a:r>
              <a:rPr lang="en-AU" altLang="zh-CN" sz="2400"/>
              <a:t>Address =  R</a:t>
            </a:r>
            <a:r>
              <a:rPr lang="en-AU" altLang="zh-CN" sz="2400" baseline="-25000"/>
              <a:t>base</a:t>
            </a:r>
            <a:r>
              <a:rPr lang="en-AU" altLang="zh-CN" sz="2400"/>
              <a:t> + 2</a:t>
            </a:r>
            <a:r>
              <a:rPr lang="en-AU" altLang="zh-CN" sz="2400" baseline="30000"/>
              <a:t>scale</a:t>
            </a:r>
            <a:r>
              <a:rPr lang="en-AU" altLang="zh-CN" sz="2400"/>
              <a:t> </a:t>
            </a:r>
            <a:r>
              <a:rPr lang="en-US" altLang="zh-CN" sz="2400"/>
              <a:t>×</a:t>
            </a:r>
            <a:r>
              <a:rPr lang="en-AU" altLang="zh-CN" sz="2400"/>
              <a:t> R</a:t>
            </a:r>
            <a:r>
              <a:rPr lang="en-AU" altLang="zh-CN" sz="2400" baseline="-25000"/>
              <a:t>index</a:t>
            </a:r>
            <a:r>
              <a:rPr lang="en-AU" altLang="zh-CN" sz="2400"/>
              <a:t> + displacement</a:t>
            </a:r>
            <a:endParaRPr lang="en-AU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32ECFD3-442F-4EB0-A2DB-4D43FC8FFC60}" type="slidenum">
              <a:rPr lang="en-AU" altLang="zh-CN" sz="1400"/>
            </a:fld>
            <a:endParaRPr lang="en-AU" altLang="zh-CN" sz="1400"/>
          </a:p>
        </p:txBody>
      </p:sp>
      <p:sp>
        <p:nvSpPr>
          <p:cNvPr id="192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x86 Instruction Encoding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9475" y="1125538"/>
            <a:ext cx="4383088" cy="5111750"/>
          </a:xfrm>
        </p:spPr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Variable length encoding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1 to 17 bytes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Rightly called </a:t>
            </a:r>
            <a:r>
              <a:rPr lang="en-AU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CISC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Postfix bytes specify addressing mode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</a:rPr>
              <a:t>Prefix bytes modify operation</a:t>
            </a:r>
            <a:endParaRPr lang="en-AU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mtClean="0">
                <a:ea typeface="宋体" panose="02010600030101010101" pitchFamily="2" charset="-122"/>
              </a:rPr>
              <a:t>Operand length, repetition, locking, …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pic>
        <p:nvPicPr>
          <p:cNvPr id="192517" name="Picture 4" descr="f02-41-P37449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341438"/>
            <a:ext cx="5191125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F527304-6B7A-45D0-8877-6BD8DFC377EC}" type="slidenum">
              <a:rPr lang="en-AU" altLang="zh-CN" sz="1400"/>
            </a:fld>
            <a:endParaRPr lang="en-AU" altLang="zh-CN" sz="1400"/>
          </a:p>
        </p:txBody>
      </p:sp>
      <p:sp>
        <p:nvSpPr>
          <p:cNvPr id="194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Implementing IA-32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Complex instruction set makes implementation difficult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Hardware translates instructions to simpler micro-operations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Simple instructions: 1–1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smtClean="0">
                <a:ea typeface="宋体" panose="02010600030101010101" pitchFamily="2" charset="-122"/>
              </a:rPr>
              <a:t>Complex instructions: 1–many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Microengine similar to RISC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Comparable performance to RISC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Compilers avoid complex instructions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1865D565-27BD-404F-AD2F-940C77C5EB63}" type="slidenum">
              <a:rPr lang="en-AU" altLang="zh-CN" sz="1400"/>
            </a:fld>
            <a:endParaRPr lang="en-AU" altLang="zh-CN" sz="1400"/>
          </a:p>
        </p:txBody>
      </p:sp>
      <p:sp>
        <p:nvSpPr>
          <p:cNvPr id="196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Fallacies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</a:rPr>
              <a:t>Powerful instruction </a:t>
            </a:r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higher performance</a:t>
            </a:r>
            <a:endParaRPr lang="en-US" altLang="zh-CN" sz="2800" smtClean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Fewer instructions required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But complex instructions are hard to implement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May slow down all instructions, including simple ones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Compilers are good at making fast code from simple instructions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Use assembly code for high performance</a:t>
            </a:r>
            <a:endParaRPr lang="en-US" altLang="zh-CN" sz="2800" smtClean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But modern compilers are better at dealing with modern processors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More lines of code (as is the case for assembly code vs. C or Java)  more errors and less productivity</a:t>
            </a: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6613" name="Text Box 4"/>
          <p:cNvSpPr txBox="1">
            <a:spLocks noChangeArrowheads="1"/>
          </p:cNvSpPr>
          <p:nvPr/>
        </p:nvSpPr>
        <p:spPr bwMode="auto">
          <a:xfrm rot="5400000">
            <a:off x="7509669" y="1267619"/>
            <a:ext cx="29019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§2.18 Fallacies and Pitfalls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3B810E9A-50A4-48DE-B51F-AD3C81CFAC46}" type="slidenum">
              <a:rPr lang="en-AU" altLang="zh-CN" sz="1400"/>
            </a:fld>
            <a:endParaRPr lang="en-AU" altLang="zh-CN" sz="1400"/>
          </a:p>
        </p:txBody>
      </p:sp>
      <p:pic>
        <p:nvPicPr>
          <p:cNvPr id="97283" name="Picture 6" descr="f02-43-P37449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997200"/>
            <a:ext cx="4538662" cy="314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6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zh-CN" smtClean="0">
                <a:ea typeface="宋体" panose="02010600030101010101" pitchFamily="2" charset="-122"/>
              </a:rPr>
              <a:t>Fallacies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1727200"/>
          </a:xfrm>
        </p:spPr>
        <p:txBody>
          <a:bodyPr/>
          <a:lstStyle/>
          <a:p>
            <a:pPr eaLnBrk="1" hangingPunct="1"/>
            <a:r>
              <a:rPr lang="en-AU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Backward compatibility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instruction set doesn’t change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AU" altLang="zh-CN" smtClean="0">
                <a:ea typeface="宋体" panose="02010600030101010101" pitchFamily="2" charset="-122"/>
                <a:sym typeface="Symbol" panose="05050102010706020507" pitchFamily="18" charset="2"/>
              </a:rPr>
              <a:t>But they do accrue more instructions</a:t>
            </a:r>
            <a:endParaRPr lang="en-AU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7286" name="Text Box 5"/>
          <p:cNvSpPr txBox="1">
            <a:spLocks noChangeArrowheads="1"/>
          </p:cNvSpPr>
          <p:nvPr/>
        </p:nvSpPr>
        <p:spPr bwMode="auto">
          <a:xfrm>
            <a:off x="6300788" y="4149725"/>
            <a:ext cx="2035175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800"/>
              <a:t>x86 instruction set</a:t>
            </a:r>
            <a:endParaRPr lang="en-AU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68D960AC-910D-46E5-95A4-CFA1D878B624}" type="slidenum">
              <a:rPr lang="en-AU" altLang="zh-CN" sz="1400"/>
            </a:fld>
            <a:endParaRPr lang="en-AU" altLang="zh-CN" sz="1400"/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Pitfalls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Forgetting that sequential words are not at sequential addresses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Increment by 4, not by 1!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Keeping a pointer to an automatic variable after procedure returns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e.g., passing pointer to a local array/variable back via an argument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mtClean="0">
                <a:ea typeface="宋体" panose="02010600030101010101" pitchFamily="2" charset="-122"/>
              </a:rPr>
              <a:t>Pointer becomes invalid when stack popped</a:t>
            </a:r>
            <a:endParaRPr lang="en-AU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CED192F6-0B03-4B33-A56F-C86A92CCEB4E}" type="slidenum">
              <a:rPr lang="en-AU" altLang="zh-CN" sz="1400"/>
            </a:fld>
            <a:endParaRPr lang="en-AU" altLang="zh-CN" sz="1400"/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Concluding Remarks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Design principles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1.</a:t>
            </a:r>
            <a:r>
              <a:rPr lang="en-US" altLang="zh-CN" smtClean="0">
                <a:ea typeface="宋体" panose="02010600030101010101" pitchFamily="2" charset="-122"/>
              </a:rPr>
              <a:t>	Simplicity favors regularity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2.</a:t>
            </a:r>
            <a:r>
              <a:rPr lang="en-US" altLang="zh-CN" smtClean="0">
                <a:ea typeface="宋体" panose="02010600030101010101" pitchFamily="2" charset="-122"/>
              </a:rPr>
              <a:t>	Smaller is faster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3.</a:t>
            </a:r>
            <a:r>
              <a:rPr lang="en-US" altLang="zh-CN" smtClean="0">
                <a:ea typeface="宋体" panose="02010600030101010101" pitchFamily="2" charset="-122"/>
              </a:rPr>
              <a:t>	Make the common case fast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mtClean="0">
                <a:solidFill>
                  <a:schemeClr val="hlink"/>
                </a:solidFill>
                <a:ea typeface="宋体" panose="02010600030101010101" pitchFamily="2" charset="-122"/>
              </a:rPr>
              <a:t>4.</a:t>
            </a:r>
            <a:r>
              <a:rPr lang="en-US" altLang="zh-CN" smtClean="0">
                <a:ea typeface="宋体" panose="02010600030101010101" pitchFamily="2" charset="-122"/>
              </a:rPr>
              <a:t>	Good design demands good compromises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Layers of software/hardware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Compiler, assembler, hardware</a:t>
            </a:r>
            <a:endParaRPr lang="en-US" altLang="zh-CN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MIPS: typical of RISC ISAs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c.f. x86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202757" name="Text Box 4"/>
          <p:cNvSpPr txBox="1">
            <a:spLocks noChangeArrowheads="1"/>
          </p:cNvSpPr>
          <p:nvPr/>
        </p:nvSpPr>
        <p:spPr bwMode="auto">
          <a:xfrm rot="5400000">
            <a:off x="7490619" y="1286669"/>
            <a:ext cx="2940050" cy="366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§2.19 Concluding Remarks</a:t>
            </a:r>
            <a:endParaRPr lang="en-US" altLang="zh-CN" sz="18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2 — Instructions: Language of the Computer — </a:t>
            </a:r>
            <a:fld id="{51204359-C9A8-4BAF-BFC8-2AE20238E018}" type="slidenum">
              <a:rPr lang="en-AU" altLang="zh-CN" sz="1400"/>
            </a:fld>
            <a:endParaRPr lang="en-AU" altLang="zh-CN" sz="1400"/>
          </a:p>
        </p:txBody>
      </p:sp>
      <p:sp>
        <p:nvSpPr>
          <p:cNvPr id="204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ea typeface="宋体" panose="02010600030101010101" pitchFamily="2" charset="-122"/>
              </a:rPr>
              <a:t>Concluding Remarks</a:t>
            </a:r>
            <a:endParaRPr lang="en-AU" altLang="zh-CN" smtClean="0">
              <a:ea typeface="宋体" panose="02010600030101010101" pitchFamily="2" charset="-122"/>
            </a:endParaRPr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125538"/>
            <a:ext cx="8270875" cy="2151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Measured MIPS instruction execution frequencies in benchmark programs</a:t>
            </a:r>
            <a:endParaRPr lang="en-US" altLang="zh-CN" smtClean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</a:rPr>
              <a:t>Consider making the common case fast</a:t>
            </a:r>
            <a:endParaRPr lang="en-US" altLang="zh-CN" smtClean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14764" name="Group 44"/>
          <p:cNvGraphicFramePr>
            <a:graphicFrameLocks noGrp="1"/>
          </p:cNvGraphicFramePr>
          <p:nvPr/>
        </p:nvGraphicFramePr>
        <p:xfrm>
          <a:off x="179388" y="2928938"/>
          <a:ext cx="8783637" cy="3017838"/>
        </p:xfrm>
        <a:graphic>
          <a:graphicData uri="http://schemas.openxmlformats.org/drawingml/2006/table">
            <a:tbl>
              <a:tblPr/>
              <a:tblGrid>
                <a:gridCol w="2016125"/>
                <a:gridCol w="2881312"/>
                <a:gridCol w="1943100"/>
                <a:gridCol w="1943100"/>
              </a:tblGrid>
              <a:tr h="3658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Instruction class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D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MIPS examples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D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SPEC2006 Int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DF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SPEC2006 FP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5DFE5"/>
                    </a:solidFill>
                  </a:tcPr>
                </a:tc>
              </a:tr>
              <a:tr h="3658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Arithmetic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add, sub, addi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48%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01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 transfer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lw, sw, lb, lbu, lh, lhu, sb, lui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36%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01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Logical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and, or, nor, andi, ori, sll, srl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01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Cond. Branch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beq, bne, slt, slti, sltiu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34%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8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Jump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宋体" panose="02010600030101010101" pitchFamily="2" charset="-122"/>
                        </a:rPr>
                        <a:t>j, jr, jal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anose="020B0609040504020204" pitchFamily="49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0%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Assignment 2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ea typeface="宋体" panose="02010600030101010101" pitchFamily="2" charset="-122"/>
              </a:rPr>
              <a:t>Homework assignment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   2.1, 2.5, 2.7, 2.10, 2.32, 2.40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 smtClean="0">
                <a:ea typeface="宋体" panose="02010600030101010101" pitchFamily="2" charset="-122"/>
              </a:rPr>
              <a:t>To be submitted in class on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dirty="0" smtClean="0">
                <a:ea typeface="宋体" panose="02010600030101010101" pitchFamily="2" charset="-122"/>
              </a:rPr>
              <a:t>Read Chapter 2 of 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ea typeface="宋体" panose="02010600030101010101" pitchFamily="2" charset="-122"/>
              </a:rPr>
              <a:t>Advanced </a:t>
            </a:r>
            <a:r>
              <a:rPr lang="en-US" altLang="zh-CN" dirty="0">
                <a:ea typeface="宋体" panose="02010600030101010101" pitchFamily="2" charset="-122"/>
              </a:rPr>
              <a:t>Material: Compiling C </a:t>
            </a:r>
            <a:r>
              <a:rPr lang="en-US" altLang="zh-CN" dirty="0" smtClean="0">
                <a:ea typeface="宋体" panose="02010600030101010101" pitchFamily="2" charset="-122"/>
              </a:rPr>
              <a:t>and Interpreting Java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ea typeface="宋体" panose="02010600030101010101" pitchFamily="2" charset="-122"/>
              </a:rPr>
              <a:t>实验的时间安排 第</a:t>
            </a:r>
            <a:r>
              <a:rPr lang="en-US" altLang="zh-CN" dirty="0" smtClean="0">
                <a:ea typeface="宋体" panose="02010600030101010101" pitchFamily="2" charset="-122"/>
              </a:rPr>
              <a:t>11-14</a:t>
            </a:r>
            <a:r>
              <a:rPr lang="zh-CN" altLang="en-US" dirty="0" smtClean="0">
                <a:ea typeface="宋体" panose="02010600030101010101" pitchFamily="2" charset="-122"/>
              </a:rPr>
              <a:t>周 周六上午 </a:t>
            </a:r>
            <a:r>
              <a:rPr lang="en-US" altLang="zh-CN" dirty="0" smtClean="0">
                <a:ea typeface="宋体" panose="02010600030101010101" pitchFamily="2" charset="-122"/>
              </a:rPr>
              <a:t>8:30-11:30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206852" name="Footer Placeholder 3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AU" altLang="zh-CN" sz="1400"/>
              <a:t>Chapter 1 — Computer Abstractions and Technology — </a:t>
            </a:r>
            <a:fld id="{FD2D2852-9418-41AE-A0F1-20EA90452877}" type="slidenum">
              <a:rPr lang="en-AU" altLang="zh-CN" sz="1400"/>
            </a:fld>
            <a:endParaRPr lang="en-AU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MTg2OGVlMWE3MWNiZTFmOTNlMTMyNDA1NjRlY2YxMWEifQ=="/>
</p:tagLst>
</file>

<file path=ppt/theme/theme1.xml><?xml version="1.0" encoding="utf-8"?>
<a:theme xmlns:a="http://schemas.openxmlformats.org/drawingml/2006/main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1_cod4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cod4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d4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d4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d4e 7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0</TotalTime>
  <Words>36626</Words>
  <Application>WPS 演示</Application>
  <PresentationFormat>全屏显示(4:3)</PresentationFormat>
  <Paragraphs>1741</Paragraphs>
  <Slides>102</Slides>
  <Notes>98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102</vt:i4>
      </vt:variant>
    </vt:vector>
  </HeadingPairs>
  <TitlesOfParts>
    <vt:vector size="123" baseType="lpstr">
      <vt:lpstr>Arial</vt:lpstr>
      <vt:lpstr>宋体</vt:lpstr>
      <vt:lpstr>Wingdings</vt:lpstr>
      <vt:lpstr>Arial Black</vt:lpstr>
      <vt:lpstr>Times New Roman</vt:lpstr>
      <vt:lpstr>Lucida Console</vt:lpstr>
      <vt:lpstr>微软雅黑</vt:lpstr>
      <vt:lpstr>Arial Unicode MS</vt:lpstr>
      <vt:lpstr>Symbol</vt:lpstr>
      <vt:lpstr>Tahoma</vt:lpstr>
      <vt:lpstr>1_cod4e</vt:lpstr>
      <vt:lpstr>Equation.3</vt:lpstr>
      <vt:lpstr>MSGraph.Chart.8</vt:lpstr>
      <vt:lpstr>Equation.3</vt:lpstr>
      <vt:lpstr>Equation.3</vt:lpstr>
      <vt:lpstr>MSGraph.Chart.8</vt:lpstr>
      <vt:lpstr>MSGraph.Chart.8</vt:lpstr>
      <vt:lpstr>MSGraph.Chart.8</vt:lpstr>
      <vt:lpstr>MSGraph.Chart.8</vt:lpstr>
      <vt:lpstr>MSGraph.Chart.8</vt:lpstr>
      <vt:lpstr>MSGraph.Chart.8</vt:lpstr>
      <vt:lpstr>PowerPoint 演示文稿</vt:lpstr>
      <vt:lpstr>Instruction Set</vt:lpstr>
      <vt:lpstr>The MIPS Instruction Set</vt:lpstr>
      <vt:lpstr>Arithmetic Operations</vt:lpstr>
      <vt:lpstr>Arithmetic Example</vt:lpstr>
      <vt:lpstr>Register Operands</vt:lpstr>
      <vt:lpstr>Register Operand Example</vt:lpstr>
      <vt:lpstr>Memory Operands</vt:lpstr>
      <vt:lpstr>Big vs. Little Endian </vt:lpstr>
      <vt:lpstr>Memory Operand Example 1</vt:lpstr>
      <vt:lpstr>Memory Operand Example 2</vt:lpstr>
      <vt:lpstr>Registers vs. Memory</vt:lpstr>
      <vt:lpstr>Immediate Operands</vt:lpstr>
      <vt:lpstr>Number types</vt:lpstr>
      <vt:lpstr>Number formats</vt:lpstr>
      <vt:lpstr>The Constant Zero</vt:lpstr>
      <vt:lpstr>Unsigned Binary Integers</vt:lpstr>
      <vt:lpstr>Signed number representation</vt:lpstr>
      <vt:lpstr>2s-Complement Signed Integers</vt:lpstr>
      <vt:lpstr>2s-Complement Signed Integers</vt:lpstr>
      <vt:lpstr>Signed Negation</vt:lpstr>
      <vt:lpstr>Sign Extension</vt:lpstr>
      <vt:lpstr>Representing Instructions</vt:lpstr>
      <vt:lpstr>MIPS-32 ISA</vt:lpstr>
      <vt:lpstr>MIPS R-format Instructions</vt:lpstr>
      <vt:lpstr>R-format Example</vt:lpstr>
      <vt:lpstr>Hexadecimal</vt:lpstr>
      <vt:lpstr>MIPS I-format Instructions</vt:lpstr>
      <vt:lpstr>Two Key Principles of Computer Design</vt:lpstr>
      <vt:lpstr>Logical Operations</vt:lpstr>
      <vt:lpstr>Shift Operations</vt:lpstr>
      <vt:lpstr>AND Operations</vt:lpstr>
      <vt:lpstr>OR Operations</vt:lpstr>
      <vt:lpstr>NOT Operations</vt:lpstr>
      <vt:lpstr>Conditional Operations</vt:lpstr>
      <vt:lpstr>Compiling If Statements</vt:lpstr>
      <vt:lpstr>Compiling Loop Statements</vt:lpstr>
      <vt:lpstr>Basic Blocks</vt:lpstr>
      <vt:lpstr>More Conditional Operations</vt:lpstr>
      <vt:lpstr>Branch Instruction Design</vt:lpstr>
      <vt:lpstr>Signed vs. Unsigned</vt:lpstr>
      <vt:lpstr>Procedure Calling</vt:lpstr>
      <vt:lpstr>Register Usage</vt:lpstr>
      <vt:lpstr>Procedure Call Instructions</vt:lpstr>
      <vt:lpstr>Leaf Procedure Example</vt:lpstr>
      <vt:lpstr>Leaf Procedure Example</vt:lpstr>
      <vt:lpstr>Non-Leaf Procedures</vt:lpstr>
      <vt:lpstr>Non-Leaf Procedure Example</vt:lpstr>
      <vt:lpstr>Non-Leaf Procedure Example</vt:lpstr>
      <vt:lpstr>MIPS Register Conventions</vt:lpstr>
      <vt:lpstr>Local Data on the Stack</vt:lpstr>
      <vt:lpstr>Memory Layout</vt:lpstr>
      <vt:lpstr>Character Data</vt:lpstr>
      <vt:lpstr>Character Data</vt:lpstr>
      <vt:lpstr>Byte/Halfword Operations</vt:lpstr>
      <vt:lpstr>String Copy Example</vt:lpstr>
      <vt:lpstr>String Copy Example</vt:lpstr>
      <vt:lpstr>32-bit Constants</vt:lpstr>
      <vt:lpstr>Branch Addressing</vt:lpstr>
      <vt:lpstr>Jump Addressing</vt:lpstr>
      <vt:lpstr>Branching Far Away</vt:lpstr>
      <vt:lpstr>Addressing Mode Summary</vt:lpstr>
      <vt:lpstr>Synchronization</vt:lpstr>
      <vt:lpstr>Motivation for Atomic Swap</vt:lpstr>
      <vt:lpstr>Synchronization in MIPS </vt:lpstr>
      <vt:lpstr>Translation and Startup</vt:lpstr>
      <vt:lpstr>Assembler Pseudoinstructions</vt:lpstr>
      <vt:lpstr>Producing an Object Module</vt:lpstr>
      <vt:lpstr>Linking Object Modules</vt:lpstr>
      <vt:lpstr>Loading a Program</vt:lpstr>
      <vt:lpstr>Static and Dynamic Linking</vt:lpstr>
      <vt:lpstr>Lazy Linkage</vt:lpstr>
      <vt:lpstr>Starting Java Applications</vt:lpstr>
      <vt:lpstr>C Sort Example</vt:lpstr>
      <vt:lpstr>The Procedure Swap</vt:lpstr>
      <vt:lpstr>The Sort Procedure in C</vt:lpstr>
      <vt:lpstr>The Procedure Body</vt:lpstr>
      <vt:lpstr>The Full Procedure</vt:lpstr>
      <vt:lpstr>Effect of Compiler Optimization</vt:lpstr>
      <vt:lpstr>Effect of Language and Algorithm</vt:lpstr>
      <vt:lpstr>Lessons Learnt</vt:lpstr>
      <vt:lpstr>Arrays vs. Pointers</vt:lpstr>
      <vt:lpstr>Example: Clearing an Array</vt:lpstr>
      <vt:lpstr>Comparison of Array vs. Ptr</vt:lpstr>
      <vt:lpstr>ARM &amp; MIPS Similarities</vt:lpstr>
      <vt:lpstr>ARM &amp; MIPS Similarities</vt:lpstr>
      <vt:lpstr>Compare and Branch in ARM</vt:lpstr>
      <vt:lpstr>Instruction Encoding</vt:lpstr>
      <vt:lpstr>Unique ARM Instructions</vt:lpstr>
      <vt:lpstr>The Intel x86 ISA</vt:lpstr>
      <vt:lpstr>The Intel x86 ISA</vt:lpstr>
      <vt:lpstr>The Intel x86 ISA</vt:lpstr>
      <vt:lpstr>Basic x86 Registers (80386)</vt:lpstr>
      <vt:lpstr>Basic x86 Addressing Modes</vt:lpstr>
      <vt:lpstr>x86 Instruction Encoding</vt:lpstr>
      <vt:lpstr>Implementing IA-32</vt:lpstr>
      <vt:lpstr>Fallacies</vt:lpstr>
      <vt:lpstr>Fallacies</vt:lpstr>
      <vt:lpstr>Pitfalls</vt:lpstr>
      <vt:lpstr>Concluding Remarks</vt:lpstr>
      <vt:lpstr>Concluding Remarks</vt:lpstr>
      <vt:lpstr>Assignment 2</vt:lpstr>
    </vt:vector>
  </TitlesOfParts>
  <Company>Ashenden Designs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Peter Ashenden</dc:creator>
  <cp:lastModifiedBy>O₂</cp:lastModifiedBy>
  <cp:revision>323</cp:revision>
  <dcterms:created xsi:type="dcterms:W3CDTF">2008-07-27T22:34:00Z</dcterms:created>
  <dcterms:modified xsi:type="dcterms:W3CDTF">2026-06-21T10:17:02Z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2FAE6FCCC48846FC8E5DE68C52F9421C_12</vt:lpwstr>
  </property>
</Properties>
</file>