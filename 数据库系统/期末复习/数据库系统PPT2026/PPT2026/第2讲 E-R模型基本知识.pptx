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8" r:id="rId2"/>
    <p:sldId id="627" r:id="rId3"/>
    <p:sldId id="628" r:id="rId4"/>
    <p:sldId id="472" r:id="rId5"/>
    <p:sldId id="474" r:id="rId6"/>
    <p:sldId id="476" r:id="rId7"/>
    <p:sldId id="473" r:id="rId8"/>
    <p:sldId id="475" r:id="rId9"/>
    <p:sldId id="477" r:id="rId10"/>
    <p:sldId id="478" r:id="rId11"/>
    <p:sldId id="479" r:id="rId12"/>
    <p:sldId id="644" r:id="rId13"/>
    <p:sldId id="482" r:id="rId14"/>
    <p:sldId id="645" r:id="rId15"/>
    <p:sldId id="643" r:id="rId16"/>
    <p:sldId id="483" r:id="rId17"/>
    <p:sldId id="500" r:id="rId18"/>
  </p:sldIdLst>
  <p:sldSz cx="9144000" cy="6858000" type="screen4x3"/>
  <p:notesSz cx="6735763" cy="9799638"/>
  <p:custDataLst>
    <p:tags r:id="rId2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FFCC"/>
    <a:srgbClr val="FFCCCC"/>
    <a:srgbClr val="AB631B"/>
    <a:srgbClr val="0066FF"/>
    <a:srgbClr val="000000"/>
    <a:srgbClr val="428E5B"/>
    <a:srgbClr val="1EA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 snapToGrid="0" showGuides="1">
      <p:cViewPr varScale="1">
        <p:scale>
          <a:sx n="77" d="100"/>
          <a:sy n="77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b="0"/>
            </a:lvl1pPr>
          </a:lstStyle>
          <a:p>
            <a:fld id="{4E9CFD15-6DEC-4302-A058-5C2EB6212468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35013"/>
            <a:ext cx="4900613" cy="3675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54550"/>
            <a:ext cx="5389563" cy="4410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b="0"/>
            </a:lvl1pPr>
          </a:lstStyle>
          <a:p>
            <a:fld id="{8731382E-CCA7-41C1-B9D8-9D46ECB30BD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5747B00-E0C4-498C-93A4-5059663E19E9}" type="slidenum">
              <a:rPr lang="zh-CN" altLang="en-US" b="0"/>
              <a:t>1</a:t>
            </a:fld>
            <a:endParaRPr lang="en-US" altLang="zh-CN" b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35013"/>
            <a:ext cx="4900612" cy="3675062"/>
          </a:xfrm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54550"/>
            <a:ext cx="4938713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D666B12-1BD4-4714-83E9-11C1DFEDCECF}" type="slidenum">
              <a:rPr lang="zh-CN" altLang="en-US" b="0"/>
              <a:t>5</a:t>
            </a:fld>
            <a:endParaRPr lang="en-US" altLang="zh-CN" b="0"/>
          </a:p>
        </p:txBody>
      </p:sp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16350" y="9310688"/>
            <a:ext cx="29194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89915530-FE9E-4041-9DCF-E7DCE8E21BC1}" type="slidenum">
              <a:rPr lang="zh-CN" altLang="en-US" b="0">
                <a:latin typeface="Helvetica" panose="020B0604020202020204" pitchFamily="34" charset="0"/>
                <a:ea typeface="MS PGothic" panose="020B0600070205080204" pitchFamily="34" charset="-128"/>
              </a:rPr>
              <a:t>5</a:t>
            </a:fld>
            <a:endParaRPr lang="en-US" altLang="zh-CN" b="0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4654550"/>
            <a:ext cx="4941887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C7A9883-C7E0-4F99-A51E-B1678F65A9EC}" type="slidenum">
              <a:rPr lang="zh-CN" altLang="en-US" b="0"/>
              <a:t>6</a:t>
            </a:fld>
            <a:endParaRPr lang="en-US" altLang="zh-CN" b="0"/>
          </a:p>
        </p:txBody>
      </p:sp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16350" y="9310688"/>
            <a:ext cx="29194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9186E7E8-CE97-479E-8C38-3E50B1DFF013}" type="slidenum">
              <a:rPr lang="zh-CN" altLang="en-US" b="0">
                <a:latin typeface="Helvetica" panose="020B0604020202020204" pitchFamily="34" charset="0"/>
                <a:ea typeface="MS PGothic" panose="020B0600070205080204" pitchFamily="34" charset="-128"/>
              </a:rPr>
              <a:t>6</a:t>
            </a:fld>
            <a:endParaRPr lang="en-US" altLang="zh-CN" b="0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4654550"/>
            <a:ext cx="4941887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2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3" name="幻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584680-68A6-40B8-989B-F8BC8F83FF72}" type="slidenum">
              <a:rPr lang="zh-CN" altLang="en-US" b="0"/>
              <a:t>16</a:t>
            </a:fld>
            <a:endParaRPr lang="en-US" altLang="zh-CN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447800"/>
            <a:ext cx="9156700" cy="757238"/>
            <a:chOff x="0" y="0"/>
            <a:chExt cx="5768" cy="477"/>
          </a:xfrm>
        </p:grpSpPr>
        <p:sp>
          <p:nvSpPr>
            <p:cNvPr id="5" name="Freeform 3"/>
            <p:cNvSpPr/>
            <p:nvPr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Freeform 4"/>
            <p:cNvSpPr/>
            <p:nvPr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0" y="453"/>
                </a:cxn>
                <a:cxn ang="0">
                  <a:pos x="72" y="324"/>
                </a:cxn>
                <a:cxn ang="0">
                  <a:pos x="198" y="201"/>
                </a:cxn>
                <a:cxn ang="0">
                  <a:pos x="366" y="102"/>
                </a:cxn>
                <a:cxn ang="0">
                  <a:pos x="531" y="36"/>
                </a:cxn>
                <a:cxn ang="0">
                  <a:pos x="609" y="0"/>
                </a:cxn>
                <a:cxn ang="0">
                  <a:pos x="708" y="3"/>
                </a:cxn>
                <a:cxn ang="0">
                  <a:pos x="591" y="66"/>
                </a:cxn>
                <a:cxn ang="0">
                  <a:pos x="417" y="126"/>
                </a:cxn>
                <a:cxn ang="0">
                  <a:pos x="237" y="231"/>
                </a:cxn>
                <a:cxn ang="0">
                  <a:pos x="117" y="345"/>
                </a:cxn>
                <a:cxn ang="0">
                  <a:pos x="51" y="459"/>
                </a:cxn>
                <a:cxn ang="0">
                  <a:pos x="0" y="453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12" y="137"/>
                </a:cxn>
                <a:cxn ang="0">
                  <a:pos x="162" y="71"/>
                </a:cxn>
                <a:cxn ang="0">
                  <a:pos x="249" y="20"/>
                </a:cxn>
                <a:cxn ang="0">
                  <a:pos x="285" y="2"/>
                </a:cxn>
                <a:cxn ang="0">
                  <a:pos x="309" y="11"/>
                </a:cxn>
                <a:cxn ang="0">
                  <a:pos x="303" y="47"/>
                </a:cxn>
                <a:cxn ang="0">
                  <a:pos x="219" y="89"/>
                </a:cxn>
                <a:cxn ang="0">
                  <a:pos x="108" y="140"/>
                </a:cxn>
                <a:cxn ang="0">
                  <a:pos x="57" y="152"/>
                </a:cxn>
                <a:cxn ang="0">
                  <a:pos x="0" y="158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/>
              <a:ahLst/>
              <a:cxnLst>
                <a:cxn ang="0">
                  <a:pos x="23" y="6"/>
                </a:cxn>
                <a:cxn ang="0">
                  <a:pos x="188" y="3"/>
                </a:cxn>
                <a:cxn ang="0">
                  <a:pos x="323" y="27"/>
                </a:cxn>
                <a:cxn ang="0">
                  <a:pos x="464" y="69"/>
                </a:cxn>
                <a:cxn ang="0">
                  <a:pos x="521" y="90"/>
                </a:cxn>
                <a:cxn ang="0">
                  <a:pos x="533" y="105"/>
                </a:cxn>
                <a:cxn ang="0">
                  <a:pos x="497" y="120"/>
                </a:cxn>
                <a:cxn ang="0">
                  <a:pos x="452" y="108"/>
                </a:cxn>
                <a:cxn ang="0">
                  <a:pos x="350" y="72"/>
                </a:cxn>
                <a:cxn ang="0">
                  <a:pos x="158" y="39"/>
                </a:cxn>
                <a:cxn ang="0">
                  <a:pos x="50" y="39"/>
                </a:cxn>
                <a:cxn ang="0">
                  <a:pos x="23" y="6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/>
              <a:ahLst/>
              <a:cxnLst>
                <a:cxn ang="0">
                  <a:pos x="800" y="24"/>
                </a:cxn>
                <a:cxn ang="0">
                  <a:pos x="782" y="15"/>
                </a:cxn>
                <a:cxn ang="0">
                  <a:pos x="659" y="63"/>
                </a:cxn>
                <a:cxn ang="0">
                  <a:pos x="500" y="84"/>
                </a:cxn>
                <a:cxn ang="0">
                  <a:pos x="326" y="69"/>
                </a:cxn>
                <a:cxn ang="0">
                  <a:pos x="98" y="21"/>
                </a:cxn>
                <a:cxn ang="0">
                  <a:pos x="11" y="6"/>
                </a:cxn>
                <a:cxn ang="0">
                  <a:pos x="32" y="60"/>
                </a:cxn>
                <a:cxn ang="0">
                  <a:pos x="155" y="96"/>
                </a:cxn>
                <a:cxn ang="0">
                  <a:pos x="410" y="138"/>
                </a:cxn>
                <a:cxn ang="0">
                  <a:pos x="596" y="129"/>
                </a:cxn>
                <a:cxn ang="0">
                  <a:pos x="737" y="90"/>
                </a:cxn>
                <a:cxn ang="0">
                  <a:pos x="788" y="69"/>
                </a:cxn>
                <a:cxn ang="0">
                  <a:pos x="800" y="24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97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cs typeface="Tahom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798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cs typeface="Tahoma" panose="020B0604030504040204" pitchFamily="34" charset="0"/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fld id="{FF2ED36B-3EEE-4D09-9772-CC06B9A7E7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D2206-85BA-4105-8B85-E9DBF1CE454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02784-9F1B-40A7-97D2-AE862086AD5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079601-CD94-455F-8A1A-1588C92E0A8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AEC8-6436-4425-BA00-1CF333AF4F9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F659A9-7962-4F61-AD20-02E77D1A698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AABBB8-C869-4868-9DE1-2AA1F9540C2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7A7A54-EBC5-451B-B10D-0A899EEA199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AF2B52-9967-4852-8AE2-5BF1F96B92D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B10BD7-4514-4A3C-B836-4D5469E655F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01AABC-E8DF-4FB7-A232-283549349EA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4"/>
          <p:cNvGrpSpPr/>
          <p:nvPr/>
        </p:nvGrpSpPr>
        <p:grpSpPr bwMode="auto">
          <a:xfrm>
            <a:off x="0" y="0"/>
            <a:ext cx="9169400" cy="6615113"/>
            <a:chOff x="0" y="0"/>
            <a:chExt cx="5776" cy="4167"/>
          </a:xfrm>
        </p:grpSpPr>
        <p:grpSp>
          <p:nvGrpSpPr>
            <p:cNvPr id="1032" name="Group 7"/>
            <p:cNvGrpSpPr/>
            <p:nvPr/>
          </p:nvGrpSpPr>
          <p:grpSpPr bwMode="auto">
            <a:xfrm>
              <a:off x="0" y="0"/>
              <a:ext cx="5768" cy="477"/>
              <a:chOff x="0" y="0"/>
              <a:chExt cx="5768" cy="477"/>
            </a:xfrm>
          </p:grpSpPr>
          <p:sp>
            <p:nvSpPr>
              <p:cNvPr id="1037" name="Freeform 8"/>
              <p:cNvSpPr/>
              <p:nvPr/>
            </p:nvSpPr>
            <p:spPr bwMode="auto">
              <a:xfrm>
                <a:off x="5" y="0"/>
                <a:ext cx="5763" cy="477"/>
              </a:xfrm>
              <a:custGeom>
                <a:avLst/>
                <a:gdLst>
                  <a:gd name="T0" fmla="*/ 0 w 5763"/>
                  <a:gd name="T1" fmla="*/ 450 h 477"/>
                  <a:gd name="T2" fmla="*/ 3 w 5763"/>
                  <a:gd name="T3" fmla="*/ 0 h 477"/>
                  <a:gd name="T4" fmla="*/ 5763 w 5763"/>
                  <a:gd name="T5" fmla="*/ 0 h 477"/>
                  <a:gd name="T6" fmla="*/ 5763 w 5763"/>
                  <a:gd name="T7" fmla="*/ 465 h 477"/>
                  <a:gd name="T8" fmla="*/ 4821 w 5763"/>
                  <a:gd name="T9" fmla="*/ 477 h 477"/>
                  <a:gd name="T10" fmla="*/ 4326 w 5763"/>
                  <a:gd name="T11" fmla="*/ 447 h 477"/>
                  <a:gd name="T12" fmla="*/ 3783 w 5763"/>
                  <a:gd name="T13" fmla="*/ 465 h 477"/>
                  <a:gd name="T14" fmla="*/ 3417 w 5763"/>
                  <a:gd name="T15" fmla="*/ 456 h 477"/>
                  <a:gd name="T16" fmla="*/ 2973 w 5763"/>
                  <a:gd name="T17" fmla="*/ 459 h 477"/>
                  <a:gd name="T18" fmla="*/ 2451 w 5763"/>
                  <a:gd name="T19" fmla="*/ 453 h 477"/>
                  <a:gd name="T20" fmla="*/ 2289 w 5763"/>
                  <a:gd name="T21" fmla="*/ 441 h 477"/>
                  <a:gd name="T22" fmla="*/ 2010 w 5763"/>
                  <a:gd name="T23" fmla="*/ 453 h 477"/>
                  <a:gd name="T24" fmla="*/ 1827 w 5763"/>
                  <a:gd name="T25" fmla="*/ 450 h 477"/>
                  <a:gd name="T26" fmla="*/ 1215 w 5763"/>
                  <a:gd name="T27" fmla="*/ 465 h 477"/>
                  <a:gd name="T28" fmla="*/ 660 w 5763"/>
                  <a:gd name="T29" fmla="*/ 456 h 477"/>
                  <a:gd name="T30" fmla="*/ 0 w 5763"/>
                  <a:gd name="T31" fmla="*/ 450 h 4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763" h="477">
                    <a:moveTo>
                      <a:pt x="0" y="450"/>
                    </a:moveTo>
                    <a:lnTo>
                      <a:pt x="3" y="0"/>
                    </a:lnTo>
                    <a:lnTo>
                      <a:pt x="5763" y="0"/>
                    </a:lnTo>
                    <a:lnTo>
                      <a:pt x="5763" y="465"/>
                    </a:lnTo>
                    <a:lnTo>
                      <a:pt x="4821" y="477"/>
                    </a:lnTo>
                    <a:lnTo>
                      <a:pt x="4326" y="447"/>
                    </a:lnTo>
                    <a:lnTo>
                      <a:pt x="3783" y="465"/>
                    </a:lnTo>
                    <a:lnTo>
                      <a:pt x="3417" y="456"/>
                    </a:lnTo>
                    <a:lnTo>
                      <a:pt x="2973" y="459"/>
                    </a:lnTo>
                    <a:lnTo>
                      <a:pt x="2451" y="453"/>
                    </a:lnTo>
                    <a:lnTo>
                      <a:pt x="2289" y="441"/>
                    </a:lnTo>
                    <a:lnTo>
                      <a:pt x="2010" y="453"/>
                    </a:lnTo>
                    <a:lnTo>
                      <a:pt x="1827" y="450"/>
                    </a:lnTo>
                    <a:lnTo>
                      <a:pt x="1215" y="465"/>
                    </a:lnTo>
                    <a:lnTo>
                      <a:pt x="660" y="456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Freeform 9"/>
              <p:cNvSpPr/>
              <p:nvPr/>
            </p:nvSpPr>
            <p:spPr bwMode="auto">
              <a:xfrm>
                <a:off x="0" y="98"/>
                <a:ext cx="256" cy="253"/>
              </a:xfrm>
              <a:custGeom>
                <a:avLst/>
                <a:gdLst>
                  <a:gd name="T0" fmla="*/ 8 w 256"/>
                  <a:gd name="T1" fmla="*/ 190 h 253"/>
                  <a:gd name="T2" fmla="*/ 71 w 256"/>
                  <a:gd name="T3" fmla="*/ 115 h 253"/>
                  <a:gd name="T4" fmla="*/ 203 w 256"/>
                  <a:gd name="T5" fmla="*/ 16 h 253"/>
                  <a:gd name="T6" fmla="*/ 251 w 256"/>
                  <a:gd name="T7" fmla="*/ 19 h 253"/>
                  <a:gd name="T8" fmla="*/ 236 w 256"/>
                  <a:gd name="T9" fmla="*/ 46 h 253"/>
                  <a:gd name="T10" fmla="*/ 176 w 256"/>
                  <a:gd name="T11" fmla="*/ 82 h 253"/>
                  <a:gd name="T12" fmla="*/ 92 w 256"/>
                  <a:gd name="T13" fmla="*/ 154 h 253"/>
                  <a:gd name="T14" fmla="*/ 23 w 256"/>
                  <a:gd name="T15" fmla="*/ 247 h 253"/>
                  <a:gd name="T16" fmla="*/ 8 w 256"/>
                  <a:gd name="T17" fmla="*/ 190 h 2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6" h="253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ubicBezTo>
                      <a:pt x="104" y="86"/>
                      <a:pt x="173" y="32"/>
                      <a:pt x="203" y="16"/>
                    </a:cubicBezTo>
                    <a:cubicBezTo>
                      <a:pt x="233" y="0"/>
                      <a:pt x="246" y="14"/>
                      <a:pt x="251" y="19"/>
                    </a:cubicBezTo>
                    <a:cubicBezTo>
                      <a:pt x="256" y="24"/>
                      <a:pt x="249" y="35"/>
                      <a:pt x="236" y="46"/>
                    </a:cubicBezTo>
                    <a:cubicBezTo>
                      <a:pt x="223" y="57"/>
                      <a:pt x="200" y="64"/>
                      <a:pt x="176" y="82"/>
                    </a:cubicBezTo>
                    <a:cubicBezTo>
                      <a:pt x="152" y="100"/>
                      <a:pt x="118" y="126"/>
                      <a:pt x="92" y="154"/>
                    </a:cubicBezTo>
                    <a:cubicBezTo>
                      <a:pt x="66" y="182"/>
                      <a:pt x="36" y="241"/>
                      <a:pt x="23" y="247"/>
                    </a:cubicBezTo>
                    <a:cubicBezTo>
                      <a:pt x="10" y="253"/>
                      <a:pt x="0" y="212"/>
                      <a:pt x="8" y="1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Freeform 10"/>
              <p:cNvSpPr/>
              <p:nvPr/>
            </p:nvSpPr>
            <p:spPr bwMode="auto">
              <a:xfrm>
                <a:off x="56" y="0"/>
                <a:ext cx="708" cy="459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0" y="453"/>
                  </a:cxn>
                  <a:cxn ang="0">
                    <a:pos x="72" y="324"/>
                  </a:cxn>
                  <a:cxn ang="0">
                    <a:pos x="198" y="201"/>
                  </a:cxn>
                  <a:cxn ang="0">
                    <a:pos x="366" y="102"/>
                  </a:cxn>
                  <a:cxn ang="0">
                    <a:pos x="531" y="36"/>
                  </a:cxn>
                  <a:cxn ang="0">
                    <a:pos x="609" y="0"/>
                  </a:cxn>
                  <a:cxn ang="0">
                    <a:pos x="708" y="3"/>
                  </a:cxn>
                  <a:cxn ang="0">
                    <a:pos x="591" y="66"/>
                  </a:cxn>
                  <a:cxn ang="0">
                    <a:pos x="417" y="126"/>
                  </a:cxn>
                  <a:cxn ang="0">
                    <a:pos x="237" y="231"/>
                  </a:cxn>
                  <a:cxn ang="0">
                    <a:pos x="117" y="345"/>
                  </a:cxn>
                  <a:cxn ang="0">
                    <a:pos x="51" y="459"/>
                  </a:cxn>
                  <a:cxn ang="0">
                    <a:pos x="0" y="453"/>
                  </a:cxn>
                </a:cxnLst>
                <a:rect l="0" t="0" r="r" b="b"/>
                <a:pathLst>
                  <a:path w="708" h="459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cubicBezTo>
                      <a:pt x="105" y="282"/>
                      <a:pt x="149" y="238"/>
                      <a:pt x="198" y="201"/>
                    </a:cubicBezTo>
                    <a:cubicBezTo>
                      <a:pt x="247" y="164"/>
                      <a:pt x="311" y="129"/>
                      <a:pt x="366" y="102"/>
                    </a:cubicBezTo>
                    <a:cubicBezTo>
                      <a:pt x="421" y="75"/>
                      <a:pt x="490" y="53"/>
                      <a:pt x="531" y="36"/>
                    </a:cubicBezTo>
                    <a:cubicBezTo>
                      <a:pt x="572" y="19"/>
                      <a:pt x="580" y="5"/>
                      <a:pt x="609" y="0"/>
                    </a:cubicBezTo>
                    <a:lnTo>
                      <a:pt x="708" y="3"/>
                    </a:lnTo>
                    <a:cubicBezTo>
                      <a:pt x="705" y="14"/>
                      <a:pt x="640" y="45"/>
                      <a:pt x="591" y="66"/>
                    </a:cubicBezTo>
                    <a:cubicBezTo>
                      <a:pt x="542" y="87"/>
                      <a:pt x="476" y="98"/>
                      <a:pt x="417" y="126"/>
                    </a:cubicBezTo>
                    <a:cubicBezTo>
                      <a:pt x="358" y="154"/>
                      <a:pt x="287" y="195"/>
                      <a:pt x="237" y="231"/>
                    </a:cubicBezTo>
                    <a:cubicBezTo>
                      <a:pt x="187" y="267"/>
                      <a:pt x="148" y="307"/>
                      <a:pt x="117" y="345"/>
                    </a:cubicBezTo>
                    <a:cubicBezTo>
                      <a:pt x="86" y="383"/>
                      <a:pt x="70" y="441"/>
                      <a:pt x="51" y="459"/>
                    </a:cubicBezTo>
                    <a:lnTo>
                      <a:pt x="0" y="45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0" name="Freeform 11"/>
              <p:cNvSpPr/>
              <p:nvPr/>
            </p:nvSpPr>
            <p:spPr bwMode="auto">
              <a:xfrm>
                <a:off x="131" y="269"/>
                <a:ext cx="251" cy="194"/>
              </a:xfrm>
              <a:custGeom>
                <a:avLst/>
                <a:gdLst>
                  <a:gd name="T0" fmla="*/ 21 w 251"/>
                  <a:gd name="T1" fmla="*/ 163 h 194"/>
                  <a:gd name="T2" fmla="*/ 9 w 251"/>
                  <a:gd name="T3" fmla="*/ 184 h 194"/>
                  <a:gd name="T4" fmla="*/ 75 w 251"/>
                  <a:gd name="T5" fmla="*/ 103 h 194"/>
                  <a:gd name="T6" fmla="*/ 165 w 251"/>
                  <a:gd name="T7" fmla="*/ 28 h 194"/>
                  <a:gd name="T8" fmla="*/ 207 w 251"/>
                  <a:gd name="T9" fmla="*/ 7 h 194"/>
                  <a:gd name="T10" fmla="*/ 246 w 251"/>
                  <a:gd name="T11" fmla="*/ 4 h 194"/>
                  <a:gd name="T12" fmla="*/ 237 w 251"/>
                  <a:gd name="T13" fmla="*/ 34 h 194"/>
                  <a:gd name="T14" fmla="*/ 183 w 251"/>
                  <a:gd name="T15" fmla="*/ 61 h 194"/>
                  <a:gd name="T16" fmla="*/ 108 w 251"/>
                  <a:gd name="T17" fmla="*/ 124 h 194"/>
                  <a:gd name="T18" fmla="*/ 54 w 251"/>
                  <a:gd name="T19" fmla="*/ 190 h 194"/>
                  <a:gd name="T20" fmla="*/ 6 w 251"/>
                  <a:gd name="T21" fmla="*/ 184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1" h="194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cubicBezTo>
                      <a:pt x="18" y="174"/>
                      <a:pt x="49" y="129"/>
                      <a:pt x="75" y="103"/>
                    </a:cubicBezTo>
                    <a:cubicBezTo>
                      <a:pt x="101" y="77"/>
                      <a:pt x="143" y="44"/>
                      <a:pt x="165" y="28"/>
                    </a:cubicBezTo>
                    <a:cubicBezTo>
                      <a:pt x="187" y="12"/>
                      <a:pt x="194" y="11"/>
                      <a:pt x="207" y="7"/>
                    </a:cubicBezTo>
                    <a:cubicBezTo>
                      <a:pt x="220" y="3"/>
                      <a:pt x="241" y="0"/>
                      <a:pt x="246" y="4"/>
                    </a:cubicBezTo>
                    <a:cubicBezTo>
                      <a:pt x="251" y="8"/>
                      <a:pt x="247" y="25"/>
                      <a:pt x="237" y="34"/>
                    </a:cubicBezTo>
                    <a:cubicBezTo>
                      <a:pt x="227" y="43"/>
                      <a:pt x="204" y="46"/>
                      <a:pt x="183" y="61"/>
                    </a:cubicBezTo>
                    <a:cubicBezTo>
                      <a:pt x="162" y="76"/>
                      <a:pt x="129" y="103"/>
                      <a:pt x="108" y="124"/>
                    </a:cubicBezTo>
                    <a:cubicBezTo>
                      <a:pt x="87" y="145"/>
                      <a:pt x="71" y="180"/>
                      <a:pt x="54" y="190"/>
                    </a:cubicBezTo>
                    <a:lnTo>
                      <a:pt x="6" y="184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1" name="Freeform 12"/>
              <p:cNvSpPr/>
              <p:nvPr/>
            </p:nvSpPr>
            <p:spPr bwMode="auto">
              <a:xfrm>
                <a:off x="341" y="0"/>
                <a:ext cx="159" cy="72"/>
              </a:xfrm>
              <a:custGeom>
                <a:avLst/>
                <a:gdLst>
                  <a:gd name="T0" fmla="*/ 99 w 159"/>
                  <a:gd name="T1" fmla="*/ 0 h 72"/>
                  <a:gd name="T2" fmla="*/ 15 w 159"/>
                  <a:gd name="T3" fmla="*/ 36 h 72"/>
                  <a:gd name="T4" fmla="*/ 6 w 159"/>
                  <a:gd name="T5" fmla="*/ 60 h 72"/>
                  <a:gd name="T6" fmla="*/ 36 w 159"/>
                  <a:gd name="T7" fmla="*/ 69 h 72"/>
                  <a:gd name="T8" fmla="*/ 87 w 159"/>
                  <a:gd name="T9" fmla="*/ 42 h 72"/>
                  <a:gd name="T10" fmla="*/ 159 w 159"/>
                  <a:gd name="T11" fmla="*/ 0 h 72"/>
                  <a:gd name="T12" fmla="*/ 99 w 159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9" h="72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cubicBezTo>
                      <a:pt x="0" y="46"/>
                      <a:pt x="3" y="55"/>
                      <a:pt x="6" y="60"/>
                    </a:cubicBezTo>
                    <a:cubicBezTo>
                      <a:pt x="9" y="65"/>
                      <a:pt x="23" y="72"/>
                      <a:pt x="36" y="69"/>
                    </a:cubicBezTo>
                    <a:cubicBezTo>
                      <a:pt x="49" y="66"/>
                      <a:pt x="67" y="53"/>
                      <a:pt x="87" y="42"/>
                    </a:cubicBezTo>
                    <a:cubicBezTo>
                      <a:pt x="107" y="31"/>
                      <a:pt x="158" y="6"/>
                      <a:pt x="159" y="0"/>
                    </a:cubicBezTo>
                    <a:lnTo>
                      <a:pt x="9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2" name="Freeform 13"/>
              <p:cNvSpPr/>
              <p:nvPr/>
            </p:nvSpPr>
            <p:spPr bwMode="auto">
              <a:xfrm>
                <a:off x="488" y="0"/>
                <a:ext cx="455" cy="216"/>
              </a:xfrm>
              <a:custGeom>
                <a:avLst/>
                <a:gdLst>
                  <a:gd name="T0" fmla="*/ 395 w 455"/>
                  <a:gd name="T1" fmla="*/ 0 h 216"/>
                  <a:gd name="T2" fmla="*/ 338 w 455"/>
                  <a:gd name="T3" fmla="*/ 48 h 216"/>
                  <a:gd name="T4" fmla="*/ 242 w 455"/>
                  <a:gd name="T5" fmla="*/ 102 h 216"/>
                  <a:gd name="T6" fmla="*/ 104 w 455"/>
                  <a:gd name="T7" fmla="*/ 147 h 216"/>
                  <a:gd name="T8" fmla="*/ 35 w 455"/>
                  <a:gd name="T9" fmla="*/ 168 h 216"/>
                  <a:gd name="T10" fmla="*/ 8 w 455"/>
                  <a:gd name="T11" fmla="*/ 192 h 216"/>
                  <a:gd name="T12" fmla="*/ 8 w 455"/>
                  <a:gd name="T13" fmla="*/ 213 h 216"/>
                  <a:gd name="T14" fmla="*/ 59 w 455"/>
                  <a:gd name="T15" fmla="*/ 213 h 216"/>
                  <a:gd name="T16" fmla="*/ 86 w 455"/>
                  <a:gd name="T17" fmla="*/ 192 h 216"/>
                  <a:gd name="T18" fmla="*/ 173 w 455"/>
                  <a:gd name="T19" fmla="*/ 159 h 216"/>
                  <a:gd name="T20" fmla="*/ 299 w 455"/>
                  <a:gd name="T21" fmla="*/ 126 h 216"/>
                  <a:gd name="T22" fmla="*/ 392 w 455"/>
                  <a:gd name="T23" fmla="*/ 72 h 216"/>
                  <a:gd name="T24" fmla="*/ 455 w 455"/>
                  <a:gd name="T25" fmla="*/ 0 h 216"/>
                  <a:gd name="T26" fmla="*/ 395 w 455"/>
                  <a:gd name="T27" fmla="*/ 0 h 2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55" h="216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cubicBezTo>
                      <a:pt x="312" y="65"/>
                      <a:pt x="281" y="86"/>
                      <a:pt x="242" y="102"/>
                    </a:cubicBezTo>
                    <a:cubicBezTo>
                      <a:pt x="203" y="118"/>
                      <a:pt x="138" y="136"/>
                      <a:pt x="104" y="147"/>
                    </a:cubicBezTo>
                    <a:cubicBezTo>
                      <a:pt x="70" y="158"/>
                      <a:pt x="51" y="161"/>
                      <a:pt x="35" y="168"/>
                    </a:cubicBezTo>
                    <a:cubicBezTo>
                      <a:pt x="19" y="175"/>
                      <a:pt x="12" y="185"/>
                      <a:pt x="8" y="192"/>
                    </a:cubicBezTo>
                    <a:cubicBezTo>
                      <a:pt x="4" y="199"/>
                      <a:pt x="0" y="210"/>
                      <a:pt x="8" y="213"/>
                    </a:cubicBezTo>
                    <a:cubicBezTo>
                      <a:pt x="16" y="216"/>
                      <a:pt x="46" y="216"/>
                      <a:pt x="59" y="213"/>
                    </a:cubicBezTo>
                    <a:cubicBezTo>
                      <a:pt x="72" y="210"/>
                      <a:pt x="67" y="201"/>
                      <a:pt x="86" y="192"/>
                    </a:cubicBezTo>
                    <a:cubicBezTo>
                      <a:pt x="105" y="183"/>
                      <a:pt x="138" y="170"/>
                      <a:pt x="173" y="159"/>
                    </a:cubicBezTo>
                    <a:cubicBezTo>
                      <a:pt x="208" y="148"/>
                      <a:pt x="263" y="140"/>
                      <a:pt x="299" y="126"/>
                    </a:cubicBezTo>
                    <a:cubicBezTo>
                      <a:pt x="335" y="112"/>
                      <a:pt x="366" y="93"/>
                      <a:pt x="392" y="72"/>
                    </a:cubicBezTo>
                    <a:cubicBezTo>
                      <a:pt x="418" y="51"/>
                      <a:pt x="454" y="12"/>
                      <a:pt x="455" y="0"/>
                    </a:cubicBezTo>
                    <a:lnTo>
                      <a:pt x="39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3" name="Freeform 14"/>
              <p:cNvSpPr/>
              <p:nvPr/>
            </p:nvSpPr>
            <p:spPr bwMode="auto">
              <a:xfrm>
                <a:off x="1448" y="37"/>
                <a:ext cx="414" cy="108"/>
              </a:xfrm>
              <a:custGeom>
                <a:avLst/>
                <a:gdLst>
                  <a:gd name="T0" fmla="*/ 0 w 414"/>
                  <a:gd name="T1" fmla="*/ 11 h 108"/>
                  <a:gd name="T2" fmla="*/ 24 w 414"/>
                  <a:gd name="T3" fmla="*/ 11 h 108"/>
                  <a:gd name="T4" fmla="*/ 156 w 414"/>
                  <a:gd name="T5" fmla="*/ 2 h 108"/>
                  <a:gd name="T6" fmla="*/ 288 w 414"/>
                  <a:gd name="T7" fmla="*/ 23 h 108"/>
                  <a:gd name="T8" fmla="*/ 384 w 414"/>
                  <a:gd name="T9" fmla="*/ 53 h 108"/>
                  <a:gd name="T10" fmla="*/ 411 w 414"/>
                  <a:gd name="T11" fmla="*/ 74 h 108"/>
                  <a:gd name="T12" fmla="*/ 405 w 414"/>
                  <a:gd name="T13" fmla="*/ 104 h 108"/>
                  <a:gd name="T14" fmla="*/ 363 w 414"/>
                  <a:gd name="T15" fmla="*/ 101 h 108"/>
                  <a:gd name="T16" fmla="*/ 294 w 414"/>
                  <a:gd name="T17" fmla="*/ 77 h 108"/>
                  <a:gd name="T18" fmla="*/ 174 w 414"/>
                  <a:gd name="T19" fmla="*/ 50 h 108"/>
                  <a:gd name="T20" fmla="*/ 72 w 414"/>
                  <a:gd name="T21" fmla="*/ 62 h 108"/>
                  <a:gd name="T22" fmla="*/ 36 w 414"/>
                  <a:gd name="T23" fmla="*/ 59 h 108"/>
                  <a:gd name="T24" fmla="*/ 0 w 414"/>
                  <a:gd name="T25" fmla="*/ 11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4" h="108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ubicBezTo>
                      <a:pt x="200" y="4"/>
                      <a:pt x="250" y="15"/>
                      <a:pt x="288" y="23"/>
                    </a:cubicBezTo>
                    <a:cubicBezTo>
                      <a:pt x="326" y="31"/>
                      <a:pt x="363" y="44"/>
                      <a:pt x="384" y="53"/>
                    </a:cubicBezTo>
                    <a:cubicBezTo>
                      <a:pt x="405" y="62"/>
                      <a:pt x="408" y="66"/>
                      <a:pt x="411" y="74"/>
                    </a:cubicBezTo>
                    <a:cubicBezTo>
                      <a:pt x="414" y="82"/>
                      <a:pt x="413" y="100"/>
                      <a:pt x="405" y="104"/>
                    </a:cubicBezTo>
                    <a:cubicBezTo>
                      <a:pt x="397" y="108"/>
                      <a:pt x="381" y="105"/>
                      <a:pt x="363" y="101"/>
                    </a:cubicBezTo>
                    <a:cubicBezTo>
                      <a:pt x="345" y="97"/>
                      <a:pt x="325" y="85"/>
                      <a:pt x="294" y="77"/>
                    </a:cubicBezTo>
                    <a:cubicBezTo>
                      <a:pt x="263" y="69"/>
                      <a:pt x="211" y="53"/>
                      <a:pt x="174" y="50"/>
                    </a:cubicBezTo>
                    <a:cubicBezTo>
                      <a:pt x="137" y="47"/>
                      <a:pt x="95" y="61"/>
                      <a:pt x="72" y="62"/>
                    </a:cubicBezTo>
                    <a:cubicBezTo>
                      <a:pt x="49" y="63"/>
                      <a:pt x="48" y="66"/>
                      <a:pt x="36" y="59"/>
                    </a:cubicBezTo>
                    <a:cubicBezTo>
                      <a:pt x="24" y="52"/>
                      <a:pt x="13" y="36"/>
                      <a:pt x="0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" name="Freeform 15"/>
              <p:cNvSpPr/>
              <p:nvPr/>
            </p:nvSpPr>
            <p:spPr bwMode="auto">
              <a:xfrm>
                <a:off x="1790" y="0"/>
                <a:ext cx="520" cy="225"/>
              </a:xfrm>
              <a:custGeom>
                <a:avLst/>
                <a:gdLst>
                  <a:gd name="T0" fmla="*/ 42 w 520"/>
                  <a:gd name="T1" fmla="*/ 0 h 225"/>
                  <a:gd name="T2" fmla="*/ 12 w 520"/>
                  <a:gd name="T3" fmla="*/ 24 h 225"/>
                  <a:gd name="T4" fmla="*/ 114 w 520"/>
                  <a:gd name="T5" fmla="*/ 54 h 225"/>
                  <a:gd name="T6" fmla="*/ 240 w 520"/>
                  <a:gd name="T7" fmla="*/ 117 h 225"/>
                  <a:gd name="T8" fmla="*/ 333 w 520"/>
                  <a:gd name="T9" fmla="*/ 153 h 225"/>
                  <a:gd name="T10" fmla="*/ 438 w 520"/>
                  <a:gd name="T11" fmla="*/ 219 h 225"/>
                  <a:gd name="T12" fmla="*/ 426 w 520"/>
                  <a:gd name="T13" fmla="*/ 192 h 225"/>
                  <a:gd name="T14" fmla="*/ 441 w 520"/>
                  <a:gd name="T15" fmla="*/ 180 h 225"/>
                  <a:gd name="T16" fmla="*/ 519 w 520"/>
                  <a:gd name="T17" fmla="*/ 216 h 225"/>
                  <a:gd name="T18" fmla="*/ 450 w 520"/>
                  <a:gd name="T19" fmla="*/ 162 h 225"/>
                  <a:gd name="T20" fmla="*/ 381 w 520"/>
                  <a:gd name="T21" fmla="*/ 135 h 225"/>
                  <a:gd name="T22" fmla="*/ 285 w 520"/>
                  <a:gd name="T23" fmla="*/ 84 h 225"/>
                  <a:gd name="T24" fmla="*/ 186 w 520"/>
                  <a:gd name="T25" fmla="*/ 18 h 225"/>
                  <a:gd name="T26" fmla="*/ 123 w 520"/>
                  <a:gd name="T27" fmla="*/ 0 h 225"/>
                  <a:gd name="T28" fmla="*/ 42 w 520"/>
                  <a:gd name="T29" fmla="*/ 0 h 2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0" h="225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cubicBezTo>
                      <a:pt x="24" y="33"/>
                      <a:pt x="76" y="39"/>
                      <a:pt x="114" y="54"/>
                    </a:cubicBezTo>
                    <a:cubicBezTo>
                      <a:pt x="152" y="69"/>
                      <a:pt x="203" y="100"/>
                      <a:pt x="240" y="117"/>
                    </a:cubicBezTo>
                    <a:cubicBezTo>
                      <a:pt x="277" y="134"/>
                      <a:pt x="300" y="136"/>
                      <a:pt x="333" y="153"/>
                    </a:cubicBezTo>
                    <a:cubicBezTo>
                      <a:pt x="366" y="170"/>
                      <a:pt x="423" y="213"/>
                      <a:pt x="438" y="219"/>
                    </a:cubicBezTo>
                    <a:cubicBezTo>
                      <a:pt x="453" y="225"/>
                      <a:pt x="426" y="198"/>
                      <a:pt x="426" y="192"/>
                    </a:cubicBezTo>
                    <a:cubicBezTo>
                      <a:pt x="426" y="186"/>
                      <a:pt x="426" y="176"/>
                      <a:pt x="441" y="180"/>
                    </a:cubicBezTo>
                    <a:cubicBezTo>
                      <a:pt x="456" y="184"/>
                      <a:pt x="518" y="219"/>
                      <a:pt x="519" y="216"/>
                    </a:cubicBezTo>
                    <a:cubicBezTo>
                      <a:pt x="520" y="213"/>
                      <a:pt x="473" y="176"/>
                      <a:pt x="450" y="162"/>
                    </a:cubicBezTo>
                    <a:cubicBezTo>
                      <a:pt x="427" y="148"/>
                      <a:pt x="408" y="148"/>
                      <a:pt x="381" y="135"/>
                    </a:cubicBezTo>
                    <a:cubicBezTo>
                      <a:pt x="354" y="122"/>
                      <a:pt x="318" y="104"/>
                      <a:pt x="285" y="84"/>
                    </a:cubicBezTo>
                    <a:cubicBezTo>
                      <a:pt x="252" y="64"/>
                      <a:pt x="213" y="32"/>
                      <a:pt x="186" y="18"/>
                    </a:cubicBezTo>
                    <a:cubicBezTo>
                      <a:pt x="159" y="4"/>
                      <a:pt x="147" y="2"/>
                      <a:pt x="123" y="0"/>
                    </a:cubicBezTo>
                    <a:lnTo>
                      <a:pt x="4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" name="Freeform 16"/>
              <p:cNvSpPr/>
              <p:nvPr/>
            </p:nvSpPr>
            <p:spPr bwMode="auto">
              <a:xfrm>
                <a:off x="1943" y="154"/>
                <a:ext cx="431" cy="233"/>
              </a:xfrm>
              <a:custGeom>
                <a:avLst/>
                <a:gdLst>
                  <a:gd name="T0" fmla="*/ 6 w 431"/>
                  <a:gd name="T1" fmla="*/ 38 h 233"/>
                  <a:gd name="T2" fmla="*/ 9 w 431"/>
                  <a:gd name="T3" fmla="*/ 20 h 233"/>
                  <a:gd name="T4" fmla="*/ 42 w 431"/>
                  <a:gd name="T5" fmla="*/ 2 h 233"/>
                  <a:gd name="T6" fmla="*/ 90 w 431"/>
                  <a:gd name="T7" fmla="*/ 35 h 233"/>
                  <a:gd name="T8" fmla="*/ 189 w 431"/>
                  <a:gd name="T9" fmla="*/ 89 h 233"/>
                  <a:gd name="T10" fmla="*/ 288 w 431"/>
                  <a:gd name="T11" fmla="*/ 140 h 233"/>
                  <a:gd name="T12" fmla="*/ 375 w 431"/>
                  <a:gd name="T13" fmla="*/ 176 h 233"/>
                  <a:gd name="T14" fmla="*/ 396 w 431"/>
                  <a:gd name="T15" fmla="*/ 176 h 233"/>
                  <a:gd name="T16" fmla="*/ 429 w 431"/>
                  <a:gd name="T17" fmla="*/ 212 h 233"/>
                  <a:gd name="T18" fmla="*/ 408 w 431"/>
                  <a:gd name="T19" fmla="*/ 233 h 233"/>
                  <a:gd name="T20" fmla="*/ 333 w 431"/>
                  <a:gd name="T21" fmla="*/ 212 h 233"/>
                  <a:gd name="T22" fmla="*/ 186 w 431"/>
                  <a:gd name="T23" fmla="*/ 143 h 233"/>
                  <a:gd name="T24" fmla="*/ 48 w 431"/>
                  <a:gd name="T25" fmla="*/ 68 h 233"/>
                  <a:gd name="T26" fmla="*/ 6 w 431"/>
                  <a:gd name="T27" fmla="*/ 38 h 23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1" h="233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ubicBezTo>
                      <a:pt x="55" y="4"/>
                      <a:pt x="66" y="21"/>
                      <a:pt x="90" y="35"/>
                    </a:cubicBezTo>
                    <a:cubicBezTo>
                      <a:pt x="114" y="49"/>
                      <a:pt x="156" y="72"/>
                      <a:pt x="189" y="89"/>
                    </a:cubicBezTo>
                    <a:cubicBezTo>
                      <a:pt x="222" y="106"/>
                      <a:pt x="257" y="126"/>
                      <a:pt x="288" y="140"/>
                    </a:cubicBezTo>
                    <a:cubicBezTo>
                      <a:pt x="319" y="154"/>
                      <a:pt x="357" y="170"/>
                      <a:pt x="375" y="176"/>
                    </a:cubicBezTo>
                    <a:cubicBezTo>
                      <a:pt x="393" y="182"/>
                      <a:pt x="387" y="170"/>
                      <a:pt x="396" y="176"/>
                    </a:cubicBezTo>
                    <a:cubicBezTo>
                      <a:pt x="405" y="182"/>
                      <a:pt x="427" y="203"/>
                      <a:pt x="429" y="212"/>
                    </a:cubicBezTo>
                    <a:cubicBezTo>
                      <a:pt x="431" y="221"/>
                      <a:pt x="424" y="233"/>
                      <a:pt x="408" y="233"/>
                    </a:cubicBezTo>
                    <a:cubicBezTo>
                      <a:pt x="392" y="233"/>
                      <a:pt x="370" y="227"/>
                      <a:pt x="333" y="212"/>
                    </a:cubicBezTo>
                    <a:cubicBezTo>
                      <a:pt x="296" y="197"/>
                      <a:pt x="234" y="167"/>
                      <a:pt x="186" y="143"/>
                    </a:cubicBezTo>
                    <a:cubicBezTo>
                      <a:pt x="138" y="119"/>
                      <a:pt x="78" y="86"/>
                      <a:pt x="48" y="68"/>
                    </a:cubicBezTo>
                    <a:cubicBezTo>
                      <a:pt x="18" y="50"/>
                      <a:pt x="12" y="50"/>
                      <a:pt x="6" y="3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6" name="Freeform 17"/>
              <p:cNvSpPr/>
              <p:nvPr/>
            </p:nvSpPr>
            <p:spPr bwMode="auto">
              <a:xfrm>
                <a:off x="2262" y="87"/>
                <a:ext cx="396" cy="227"/>
              </a:xfrm>
              <a:custGeom>
                <a:avLst/>
                <a:gdLst>
                  <a:gd name="T0" fmla="*/ 2 w 396"/>
                  <a:gd name="T1" fmla="*/ 9 h 227"/>
                  <a:gd name="T2" fmla="*/ 53 w 396"/>
                  <a:gd name="T3" fmla="*/ 66 h 227"/>
                  <a:gd name="T4" fmla="*/ 176 w 396"/>
                  <a:gd name="T5" fmla="*/ 132 h 227"/>
                  <a:gd name="T6" fmla="*/ 293 w 396"/>
                  <a:gd name="T7" fmla="*/ 189 h 227"/>
                  <a:gd name="T8" fmla="*/ 341 w 396"/>
                  <a:gd name="T9" fmla="*/ 222 h 227"/>
                  <a:gd name="T10" fmla="*/ 377 w 396"/>
                  <a:gd name="T11" fmla="*/ 219 h 227"/>
                  <a:gd name="T12" fmla="*/ 377 w 396"/>
                  <a:gd name="T13" fmla="*/ 180 h 227"/>
                  <a:gd name="T14" fmla="*/ 260 w 396"/>
                  <a:gd name="T15" fmla="*/ 126 h 227"/>
                  <a:gd name="T16" fmla="*/ 113 w 396"/>
                  <a:gd name="T17" fmla="*/ 51 h 227"/>
                  <a:gd name="T18" fmla="*/ 41 w 396"/>
                  <a:gd name="T19" fmla="*/ 9 h 227"/>
                  <a:gd name="T20" fmla="*/ 2 w 396"/>
                  <a:gd name="T21" fmla="*/ 9 h 2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96" h="227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ubicBezTo>
                      <a:pt x="82" y="87"/>
                      <a:pt x="136" y="111"/>
                      <a:pt x="176" y="132"/>
                    </a:cubicBezTo>
                    <a:cubicBezTo>
                      <a:pt x="216" y="153"/>
                      <a:pt x="266" y="174"/>
                      <a:pt x="293" y="189"/>
                    </a:cubicBezTo>
                    <a:cubicBezTo>
                      <a:pt x="320" y="204"/>
                      <a:pt x="327" y="217"/>
                      <a:pt x="341" y="222"/>
                    </a:cubicBezTo>
                    <a:cubicBezTo>
                      <a:pt x="355" y="227"/>
                      <a:pt x="371" y="226"/>
                      <a:pt x="377" y="219"/>
                    </a:cubicBezTo>
                    <a:cubicBezTo>
                      <a:pt x="383" y="212"/>
                      <a:pt x="396" y="195"/>
                      <a:pt x="377" y="180"/>
                    </a:cubicBezTo>
                    <a:cubicBezTo>
                      <a:pt x="358" y="165"/>
                      <a:pt x="304" y="147"/>
                      <a:pt x="260" y="126"/>
                    </a:cubicBezTo>
                    <a:cubicBezTo>
                      <a:pt x="216" y="105"/>
                      <a:pt x="149" y="70"/>
                      <a:pt x="113" y="51"/>
                    </a:cubicBezTo>
                    <a:cubicBezTo>
                      <a:pt x="77" y="32"/>
                      <a:pt x="60" y="17"/>
                      <a:pt x="41" y="9"/>
                    </a:cubicBezTo>
                    <a:cubicBezTo>
                      <a:pt x="22" y="1"/>
                      <a:pt x="0" y="0"/>
                      <a:pt x="2" y="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7" name="Freeform 18"/>
              <p:cNvSpPr/>
              <p:nvPr/>
            </p:nvSpPr>
            <p:spPr bwMode="auto">
              <a:xfrm>
                <a:off x="2264" y="240"/>
                <a:ext cx="516" cy="223"/>
              </a:xfrm>
              <a:custGeom>
                <a:avLst/>
                <a:gdLst>
                  <a:gd name="T0" fmla="*/ 3 w 516"/>
                  <a:gd name="T1" fmla="*/ 10 h 223"/>
                  <a:gd name="T2" fmla="*/ 105 w 516"/>
                  <a:gd name="T3" fmla="*/ 97 h 223"/>
                  <a:gd name="T4" fmla="*/ 243 w 516"/>
                  <a:gd name="T5" fmla="*/ 178 h 223"/>
                  <a:gd name="T6" fmla="*/ 357 w 516"/>
                  <a:gd name="T7" fmla="*/ 217 h 223"/>
                  <a:gd name="T8" fmla="*/ 498 w 516"/>
                  <a:gd name="T9" fmla="*/ 214 h 223"/>
                  <a:gd name="T10" fmla="*/ 468 w 516"/>
                  <a:gd name="T11" fmla="*/ 187 h 223"/>
                  <a:gd name="T12" fmla="*/ 309 w 516"/>
                  <a:gd name="T13" fmla="*/ 136 h 223"/>
                  <a:gd name="T14" fmla="*/ 123 w 516"/>
                  <a:gd name="T15" fmla="*/ 34 h 223"/>
                  <a:gd name="T16" fmla="*/ 3 w 516"/>
                  <a:gd name="T17" fmla="*/ 10 h 2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16" h="223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ubicBezTo>
                      <a:pt x="145" y="125"/>
                      <a:pt x="201" y="158"/>
                      <a:pt x="243" y="178"/>
                    </a:cubicBezTo>
                    <a:cubicBezTo>
                      <a:pt x="285" y="198"/>
                      <a:pt x="315" y="211"/>
                      <a:pt x="357" y="217"/>
                    </a:cubicBezTo>
                    <a:cubicBezTo>
                      <a:pt x="399" y="223"/>
                      <a:pt x="480" y="219"/>
                      <a:pt x="498" y="214"/>
                    </a:cubicBezTo>
                    <a:cubicBezTo>
                      <a:pt x="516" y="209"/>
                      <a:pt x="499" y="200"/>
                      <a:pt x="468" y="187"/>
                    </a:cubicBezTo>
                    <a:cubicBezTo>
                      <a:pt x="437" y="174"/>
                      <a:pt x="366" y="161"/>
                      <a:pt x="309" y="136"/>
                    </a:cubicBezTo>
                    <a:cubicBezTo>
                      <a:pt x="252" y="111"/>
                      <a:pt x="172" y="54"/>
                      <a:pt x="123" y="34"/>
                    </a:cubicBezTo>
                    <a:cubicBezTo>
                      <a:pt x="74" y="14"/>
                      <a:pt x="6" y="0"/>
                      <a:pt x="3" y="1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8" name="Freeform 19"/>
              <p:cNvSpPr/>
              <p:nvPr/>
            </p:nvSpPr>
            <p:spPr bwMode="auto">
              <a:xfrm>
                <a:off x="2723" y="324"/>
                <a:ext cx="414" cy="100"/>
              </a:xfrm>
              <a:custGeom>
                <a:avLst/>
                <a:gdLst>
                  <a:gd name="T0" fmla="*/ 69 w 414"/>
                  <a:gd name="T1" fmla="*/ 60 h 100"/>
                  <a:gd name="T2" fmla="*/ 12 w 414"/>
                  <a:gd name="T3" fmla="*/ 42 h 100"/>
                  <a:gd name="T4" fmla="*/ 3 w 414"/>
                  <a:gd name="T5" fmla="*/ 15 h 100"/>
                  <a:gd name="T6" fmla="*/ 30 w 414"/>
                  <a:gd name="T7" fmla="*/ 0 h 100"/>
                  <a:gd name="T8" fmla="*/ 117 w 414"/>
                  <a:gd name="T9" fmla="*/ 18 h 100"/>
                  <a:gd name="T10" fmla="*/ 243 w 414"/>
                  <a:gd name="T11" fmla="*/ 48 h 100"/>
                  <a:gd name="T12" fmla="*/ 387 w 414"/>
                  <a:gd name="T13" fmla="*/ 48 h 100"/>
                  <a:gd name="T14" fmla="*/ 408 w 414"/>
                  <a:gd name="T15" fmla="*/ 54 h 100"/>
                  <a:gd name="T16" fmla="*/ 381 w 414"/>
                  <a:gd name="T17" fmla="*/ 87 h 100"/>
                  <a:gd name="T18" fmla="*/ 318 w 414"/>
                  <a:gd name="T19" fmla="*/ 99 h 100"/>
                  <a:gd name="T20" fmla="*/ 195 w 414"/>
                  <a:gd name="T21" fmla="*/ 93 h 100"/>
                  <a:gd name="T22" fmla="*/ 69 w 414"/>
                  <a:gd name="T23" fmla="*/ 60 h 1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4" h="10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ubicBezTo>
                      <a:pt x="1" y="35"/>
                      <a:pt x="0" y="22"/>
                      <a:pt x="3" y="15"/>
                    </a:cubicBezTo>
                    <a:cubicBezTo>
                      <a:pt x="6" y="8"/>
                      <a:pt x="11" y="0"/>
                      <a:pt x="30" y="0"/>
                    </a:cubicBezTo>
                    <a:cubicBezTo>
                      <a:pt x="49" y="0"/>
                      <a:pt x="82" y="10"/>
                      <a:pt x="117" y="18"/>
                    </a:cubicBezTo>
                    <a:cubicBezTo>
                      <a:pt x="152" y="26"/>
                      <a:pt x="198" y="43"/>
                      <a:pt x="243" y="48"/>
                    </a:cubicBezTo>
                    <a:cubicBezTo>
                      <a:pt x="288" y="53"/>
                      <a:pt x="360" y="47"/>
                      <a:pt x="387" y="48"/>
                    </a:cubicBezTo>
                    <a:cubicBezTo>
                      <a:pt x="414" y="49"/>
                      <a:pt x="409" y="48"/>
                      <a:pt x="408" y="54"/>
                    </a:cubicBezTo>
                    <a:cubicBezTo>
                      <a:pt x="407" y="60"/>
                      <a:pt x="396" y="80"/>
                      <a:pt x="381" y="87"/>
                    </a:cubicBezTo>
                    <a:cubicBezTo>
                      <a:pt x="366" y="94"/>
                      <a:pt x="349" y="98"/>
                      <a:pt x="318" y="99"/>
                    </a:cubicBezTo>
                    <a:cubicBezTo>
                      <a:pt x="287" y="100"/>
                      <a:pt x="237" y="99"/>
                      <a:pt x="195" y="93"/>
                    </a:cubicBezTo>
                    <a:cubicBezTo>
                      <a:pt x="153" y="87"/>
                      <a:pt x="99" y="68"/>
                      <a:pt x="69" y="6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9" name="Freeform 20"/>
              <p:cNvSpPr/>
              <p:nvPr/>
            </p:nvSpPr>
            <p:spPr bwMode="auto">
              <a:xfrm>
                <a:off x="3165" y="375"/>
                <a:ext cx="150" cy="72"/>
              </a:xfrm>
              <a:custGeom>
                <a:avLst/>
                <a:gdLst>
                  <a:gd name="T0" fmla="*/ 3 w 150"/>
                  <a:gd name="T1" fmla="*/ 67 h 72"/>
                  <a:gd name="T2" fmla="*/ 84 w 150"/>
                  <a:gd name="T3" fmla="*/ 19 h 72"/>
                  <a:gd name="T4" fmla="*/ 123 w 150"/>
                  <a:gd name="T5" fmla="*/ 1 h 72"/>
                  <a:gd name="T6" fmla="*/ 150 w 150"/>
                  <a:gd name="T7" fmla="*/ 22 h 72"/>
                  <a:gd name="T8" fmla="*/ 123 w 150"/>
                  <a:gd name="T9" fmla="*/ 55 h 72"/>
                  <a:gd name="T10" fmla="*/ 90 w 150"/>
                  <a:gd name="T11" fmla="*/ 70 h 72"/>
                  <a:gd name="T12" fmla="*/ 0 w 150"/>
                  <a:gd name="T13" fmla="*/ 67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0" h="72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  <a:cubicBezTo>
                      <a:pt x="104" y="8"/>
                      <a:pt x="112" y="0"/>
                      <a:pt x="123" y="1"/>
                    </a:cubicBezTo>
                    <a:cubicBezTo>
                      <a:pt x="134" y="2"/>
                      <a:pt x="150" y="13"/>
                      <a:pt x="150" y="22"/>
                    </a:cubicBezTo>
                    <a:cubicBezTo>
                      <a:pt x="150" y="31"/>
                      <a:pt x="133" y="47"/>
                      <a:pt x="123" y="55"/>
                    </a:cubicBezTo>
                    <a:cubicBezTo>
                      <a:pt x="113" y="63"/>
                      <a:pt x="110" y="68"/>
                      <a:pt x="90" y="70"/>
                    </a:cubicBezTo>
                    <a:cubicBezTo>
                      <a:pt x="70" y="72"/>
                      <a:pt x="35" y="69"/>
                      <a:pt x="0" y="67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0" name="Freeform 21"/>
              <p:cNvSpPr/>
              <p:nvPr/>
            </p:nvSpPr>
            <p:spPr bwMode="auto">
              <a:xfrm>
                <a:off x="3463" y="267"/>
                <a:ext cx="148" cy="91"/>
              </a:xfrm>
              <a:custGeom>
                <a:avLst/>
                <a:gdLst>
                  <a:gd name="T0" fmla="*/ 1 w 148"/>
                  <a:gd name="T1" fmla="*/ 69 h 91"/>
                  <a:gd name="T2" fmla="*/ 25 w 148"/>
                  <a:gd name="T3" fmla="*/ 51 h 91"/>
                  <a:gd name="T4" fmla="*/ 100 w 148"/>
                  <a:gd name="T5" fmla="*/ 9 h 91"/>
                  <a:gd name="T6" fmla="*/ 133 w 148"/>
                  <a:gd name="T7" fmla="*/ 3 h 91"/>
                  <a:gd name="T8" fmla="*/ 136 w 148"/>
                  <a:gd name="T9" fmla="*/ 27 h 91"/>
                  <a:gd name="T10" fmla="*/ 61 w 148"/>
                  <a:gd name="T11" fmla="*/ 75 h 91"/>
                  <a:gd name="T12" fmla="*/ 19 w 148"/>
                  <a:gd name="T13" fmla="*/ 90 h 91"/>
                  <a:gd name="T14" fmla="*/ 1 w 148"/>
                  <a:gd name="T15" fmla="*/ 69 h 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8" h="91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ubicBezTo>
                      <a:pt x="41" y="41"/>
                      <a:pt x="82" y="17"/>
                      <a:pt x="100" y="9"/>
                    </a:cubicBezTo>
                    <a:cubicBezTo>
                      <a:pt x="118" y="1"/>
                      <a:pt x="127" y="0"/>
                      <a:pt x="133" y="3"/>
                    </a:cubicBezTo>
                    <a:cubicBezTo>
                      <a:pt x="139" y="6"/>
                      <a:pt x="148" y="15"/>
                      <a:pt x="136" y="27"/>
                    </a:cubicBezTo>
                    <a:cubicBezTo>
                      <a:pt x="124" y="39"/>
                      <a:pt x="80" y="65"/>
                      <a:pt x="61" y="75"/>
                    </a:cubicBezTo>
                    <a:cubicBezTo>
                      <a:pt x="42" y="85"/>
                      <a:pt x="29" y="91"/>
                      <a:pt x="19" y="90"/>
                    </a:cubicBezTo>
                    <a:cubicBezTo>
                      <a:pt x="9" y="89"/>
                      <a:pt x="0" y="75"/>
                      <a:pt x="1" y="6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1" name="Freeform 22"/>
              <p:cNvSpPr/>
              <p:nvPr/>
            </p:nvSpPr>
            <p:spPr bwMode="auto">
              <a:xfrm>
                <a:off x="3580" y="58"/>
                <a:ext cx="938" cy="158"/>
              </a:xfrm>
              <a:custGeom>
                <a:avLst/>
                <a:gdLst>
                  <a:gd name="T0" fmla="*/ 172 w 938"/>
                  <a:gd name="T1" fmla="*/ 86 h 158"/>
                  <a:gd name="T2" fmla="*/ 61 w 938"/>
                  <a:gd name="T3" fmla="*/ 137 h 158"/>
                  <a:gd name="T4" fmla="*/ 16 w 938"/>
                  <a:gd name="T5" fmla="*/ 155 h 158"/>
                  <a:gd name="T6" fmla="*/ 7 w 938"/>
                  <a:gd name="T7" fmla="*/ 122 h 158"/>
                  <a:gd name="T8" fmla="*/ 58 w 938"/>
                  <a:gd name="T9" fmla="*/ 80 h 158"/>
                  <a:gd name="T10" fmla="*/ 172 w 938"/>
                  <a:gd name="T11" fmla="*/ 38 h 158"/>
                  <a:gd name="T12" fmla="*/ 304 w 938"/>
                  <a:gd name="T13" fmla="*/ 11 h 158"/>
                  <a:gd name="T14" fmla="*/ 463 w 938"/>
                  <a:gd name="T15" fmla="*/ 2 h 158"/>
                  <a:gd name="T16" fmla="*/ 631 w 938"/>
                  <a:gd name="T17" fmla="*/ 23 h 158"/>
                  <a:gd name="T18" fmla="*/ 796 w 938"/>
                  <a:gd name="T19" fmla="*/ 53 h 158"/>
                  <a:gd name="T20" fmla="*/ 841 w 938"/>
                  <a:gd name="T21" fmla="*/ 47 h 158"/>
                  <a:gd name="T22" fmla="*/ 907 w 938"/>
                  <a:gd name="T23" fmla="*/ 71 h 158"/>
                  <a:gd name="T24" fmla="*/ 919 w 938"/>
                  <a:gd name="T25" fmla="*/ 101 h 158"/>
                  <a:gd name="T26" fmla="*/ 793 w 938"/>
                  <a:gd name="T27" fmla="*/ 98 h 158"/>
                  <a:gd name="T28" fmla="*/ 634 w 938"/>
                  <a:gd name="T29" fmla="*/ 62 h 158"/>
                  <a:gd name="T30" fmla="*/ 439 w 938"/>
                  <a:gd name="T31" fmla="*/ 38 h 158"/>
                  <a:gd name="T32" fmla="*/ 238 w 938"/>
                  <a:gd name="T33" fmla="*/ 59 h 158"/>
                  <a:gd name="T34" fmla="*/ 172 w 938"/>
                  <a:gd name="T35" fmla="*/ 86 h 1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38" h="158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ubicBezTo>
                      <a:pt x="35" y="148"/>
                      <a:pt x="25" y="158"/>
                      <a:pt x="16" y="155"/>
                    </a:cubicBezTo>
                    <a:cubicBezTo>
                      <a:pt x="7" y="152"/>
                      <a:pt x="0" y="134"/>
                      <a:pt x="7" y="122"/>
                    </a:cubicBezTo>
                    <a:cubicBezTo>
                      <a:pt x="14" y="110"/>
                      <a:pt x="31" y="94"/>
                      <a:pt x="58" y="80"/>
                    </a:cubicBezTo>
                    <a:cubicBezTo>
                      <a:pt x="85" y="66"/>
                      <a:pt x="131" y="49"/>
                      <a:pt x="172" y="38"/>
                    </a:cubicBezTo>
                    <a:cubicBezTo>
                      <a:pt x="213" y="27"/>
                      <a:pt x="256" y="17"/>
                      <a:pt x="304" y="11"/>
                    </a:cubicBezTo>
                    <a:cubicBezTo>
                      <a:pt x="352" y="5"/>
                      <a:pt x="409" y="0"/>
                      <a:pt x="463" y="2"/>
                    </a:cubicBezTo>
                    <a:cubicBezTo>
                      <a:pt x="517" y="4"/>
                      <a:pt x="576" y="15"/>
                      <a:pt x="631" y="23"/>
                    </a:cubicBezTo>
                    <a:cubicBezTo>
                      <a:pt x="686" y="31"/>
                      <a:pt x="761" y="49"/>
                      <a:pt x="796" y="53"/>
                    </a:cubicBezTo>
                    <a:cubicBezTo>
                      <a:pt x="831" y="57"/>
                      <a:pt x="823" y="44"/>
                      <a:pt x="841" y="47"/>
                    </a:cubicBezTo>
                    <a:cubicBezTo>
                      <a:pt x="859" y="50"/>
                      <a:pt x="894" y="62"/>
                      <a:pt x="907" y="71"/>
                    </a:cubicBezTo>
                    <a:cubicBezTo>
                      <a:pt x="920" y="80"/>
                      <a:pt x="938" y="97"/>
                      <a:pt x="919" y="101"/>
                    </a:cubicBezTo>
                    <a:cubicBezTo>
                      <a:pt x="900" y="105"/>
                      <a:pt x="840" y="104"/>
                      <a:pt x="793" y="98"/>
                    </a:cubicBezTo>
                    <a:cubicBezTo>
                      <a:pt x="746" y="92"/>
                      <a:pt x="693" y="72"/>
                      <a:pt x="634" y="62"/>
                    </a:cubicBezTo>
                    <a:cubicBezTo>
                      <a:pt x="575" y="52"/>
                      <a:pt x="505" y="38"/>
                      <a:pt x="439" y="38"/>
                    </a:cubicBezTo>
                    <a:cubicBezTo>
                      <a:pt x="373" y="38"/>
                      <a:pt x="284" y="51"/>
                      <a:pt x="238" y="59"/>
                    </a:cubicBezTo>
                    <a:cubicBezTo>
                      <a:pt x="192" y="67"/>
                      <a:pt x="202" y="73"/>
                      <a:pt x="172" y="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2" name="Freeform 23"/>
              <p:cNvSpPr/>
              <p:nvPr/>
            </p:nvSpPr>
            <p:spPr bwMode="auto">
              <a:xfrm>
                <a:off x="3686" y="145"/>
                <a:ext cx="372" cy="98"/>
              </a:xfrm>
              <a:custGeom>
                <a:avLst/>
                <a:gdLst>
                  <a:gd name="T0" fmla="*/ 18 w 372"/>
                  <a:gd name="T1" fmla="*/ 47 h 98"/>
                  <a:gd name="T2" fmla="*/ 141 w 372"/>
                  <a:gd name="T3" fmla="*/ 17 h 98"/>
                  <a:gd name="T4" fmla="*/ 246 w 372"/>
                  <a:gd name="T5" fmla="*/ 2 h 98"/>
                  <a:gd name="T6" fmla="*/ 351 w 372"/>
                  <a:gd name="T7" fmla="*/ 5 h 98"/>
                  <a:gd name="T8" fmla="*/ 372 w 372"/>
                  <a:gd name="T9" fmla="*/ 23 h 98"/>
                  <a:gd name="T10" fmla="*/ 354 w 372"/>
                  <a:gd name="T11" fmla="*/ 44 h 98"/>
                  <a:gd name="T12" fmla="*/ 264 w 372"/>
                  <a:gd name="T13" fmla="*/ 50 h 98"/>
                  <a:gd name="T14" fmla="*/ 168 w 372"/>
                  <a:gd name="T15" fmla="*/ 53 h 98"/>
                  <a:gd name="T16" fmla="*/ 72 w 372"/>
                  <a:gd name="T17" fmla="*/ 77 h 98"/>
                  <a:gd name="T18" fmla="*/ 15 w 372"/>
                  <a:gd name="T19" fmla="*/ 95 h 98"/>
                  <a:gd name="T20" fmla="*/ 0 w 372"/>
                  <a:gd name="T21" fmla="*/ 56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" h="98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  <a:cubicBezTo>
                      <a:pt x="179" y="9"/>
                      <a:pt x="211" y="4"/>
                      <a:pt x="246" y="2"/>
                    </a:cubicBezTo>
                    <a:cubicBezTo>
                      <a:pt x="281" y="0"/>
                      <a:pt x="330" y="1"/>
                      <a:pt x="351" y="5"/>
                    </a:cubicBezTo>
                    <a:cubicBezTo>
                      <a:pt x="372" y="9"/>
                      <a:pt x="372" y="17"/>
                      <a:pt x="372" y="23"/>
                    </a:cubicBezTo>
                    <a:cubicBezTo>
                      <a:pt x="372" y="29"/>
                      <a:pt x="372" y="40"/>
                      <a:pt x="354" y="44"/>
                    </a:cubicBezTo>
                    <a:cubicBezTo>
                      <a:pt x="336" y="48"/>
                      <a:pt x="295" y="49"/>
                      <a:pt x="264" y="50"/>
                    </a:cubicBezTo>
                    <a:cubicBezTo>
                      <a:pt x="233" y="51"/>
                      <a:pt x="200" y="49"/>
                      <a:pt x="168" y="53"/>
                    </a:cubicBezTo>
                    <a:cubicBezTo>
                      <a:pt x="136" y="57"/>
                      <a:pt x="98" y="70"/>
                      <a:pt x="72" y="77"/>
                    </a:cubicBezTo>
                    <a:cubicBezTo>
                      <a:pt x="46" y="84"/>
                      <a:pt x="27" y="98"/>
                      <a:pt x="15" y="95"/>
                    </a:cubicBezTo>
                    <a:cubicBezTo>
                      <a:pt x="3" y="92"/>
                      <a:pt x="1" y="74"/>
                      <a:pt x="0" y="56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" name="Freeform 24"/>
              <p:cNvSpPr/>
              <p:nvPr/>
            </p:nvSpPr>
            <p:spPr bwMode="auto">
              <a:xfrm>
                <a:off x="3618" y="308"/>
                <a:ext cx="318" cy="158"/>
              </a:xfrm>
              <a:custGeom>
                <a:avLst/>
                <a:gdLst/>
                <a:ahLst/>
                <a:cxnLst>
                  <a:cxn ang="0">
                    <a:pos x="0" y="158"/>
                  </a:cxn>
                  <a:cxn ang="0">
                    <a:pos x="12" y="137"/>
                  </a:cxn>
                  <a:cxn ang="0">
                    <a:pos x="162" y="71"/>
                  </a:cxn>
                  <a:cxn ang="0">
                    <a:pos x="249" y="20"/>
                  </a:cxn>
                  <a:cxn ang="0">
                    <a:pos x="285" y="2"/>
                  </a:cxn>
                  <a:cxn ang="0">
                    <a:pos x="309" y="11"/>
                  </a:cxn>
                  <a:cxn ang="0">
                    <a:pos x="303" y="47"/>
                  </a:cxn>
                  <a:cxn ang="0">
                    <a:pos x="219" y="89"/>
                  </a:cxn>
                  <a:cxn ang="0">
                    <a:pos x="108" y="140"/>
                  </a:cxn>
                  <a:cxn ang="0">
                    <a:pos x="57" y="152"/>
                  </a:cxn>
                  <a:cxn ang="0">
                    <a:pos x="0" y="158"/>
                  </a:cxn>
                </a:cxnLst>
                <a:rect l="0" t="0" r="r" b="b"/>
                <a:pathLst>
                  <a:path w="318" h="158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ubicBezTo>
                      <a:pt x="202" y="52"/>
                      <a:pt x="229" y="31"/>
                      <a:pt x="249" y="20"/>
                    </a:cubicBezTo>
                    <a:cubicBezTo>
                      <a:pt x="269" y="9"/>
                      <a:pt x="275" y="4"/>
                      <a:pt x="285" y="2"/>
                    </a:cubicBezTo>
                    <a:cubicBezTo>
                      <a:pt x="295" y="0"/>
                      <a:pt x="306" y="4"/>
                      <a:pt x="309" y="11"/>
                    </a:cubicBezTo>
                    <a:cubicBezTo>
                      <a:pt x="312" y="18"/>
                      <a:pt x="318" y="34"/>
                      <a:pt x="303" y="47"/>
                    </a:cubicBezTo>
                    <a:cubicBezTo>
                      <a:pt x="288" y="60"/>
                      <a:pt x="252" y="74"/>
                      <a:pt x="219" y="89"/>
                    </a:cubicBezTo>
                    <a:cubicBezTo>
                      <a:pt x="186" y="104"/>
                      <a:pt x="135" y="130"/>
                      <a:pt x="108" y="140"/>
                    </a:cubicBezTo>
                    <a:cubicBezTo>
                      <a:pt x="81" y="150"/>
                      <a:pt x="74" y="150"/>
                      <a:pt x="57" y="152"/>
                    </a:cubicBezTo>
                    <a:cubicBezTo>
                      <a:pt x="40" y="154"/>
                      <a:pt x="23" y="154"/>
                      <a:pt x="0" y="15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4" name="Freeform 25"/>
              <p:cNvSpPr/>
              <p:nvPr/>
            </p:nvSpPr>
            <p:spPr bwMode="auto">
              <a:xfrm>
                <a:off x="3413" y="291"/>
                <a:ext cx="380" cy="174"/>
              </a:xfrm>
              <a:custGeom>
                <a:avLst/>
                <a:gdLst>
                  <a:gd name="T0" fmla="*/ 3 w 380"/>
                  <a:gd name="T1" fmla="*/ 165 h 174"/>
                  <a:gd name="T2" fmla="*/ 129 w 380"/>
                  <a:gd name="T3" fmla="*/ 93 h 174"/>
                  <a:gd name="T4" fmla="*/ 261 w 380"/>
                  <a:gd name="T5" fmla="*/ 30 h 174"/>
                  <a:gd name="T6" fmla="*/ 351 w 380"/>
                  <a:gd name="T7" fmla="*/ 0 h 174"/>
                  <a:gd name="T8" fmla="*/ 378 w 380"/>
                  <a:gd name="T9" fmla="*/ 27 h 174"/>
                  <a:gd name="T10" fmla="*/ 336 w 380"/>
                  <a:gd name="T11" fmla="*/ 51 h 174"/>
                  <a:gd name="T12" fmla="*/ 291 w 380"/>
                  <a:gd name="T13" fmla="*/ 60 h 174"/>
                  <a:gd name="T14" fmla="*/ 240 w 380"/>
                  <a:gd name="T15" fmla="*/ 75 h 174"/>
                  <a:gd name="T16" fmla="*/ 189 w 380"/>
                  <a:gd name="T17" fmla="*/ 120 h 174"/>
                  <a:gd name="T18" fmla="*/ 102 w 380"/>
                  <a:gd name="T19" fmla="*/ 174 h 174"/>
                  <a:gd name="T20" fmla="*/ 0 w 380"/>
                  <a:gd name="T21" fmla="*/ 162 h 1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0" h="174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cubicBezTo>
                      <a:pt x="172" y="71"/>
                      <a:pt x="224" y="45"/>
                      <a:pt x="261" y="30"/>
                    </a:cubicBezTo>
                    <a:cubicBezTo>
                      <a:pt x="298" y="15"/>
                      <a:pt x="332" y="0"/>
                      <a:pt x="351" y="0"/>
                    </a:cubicBezTo>
                    <a:cubicBezTo>
                      <a:pt x="370" y="0"/>
                      <a:pt x="380" y="19"/>
                      <a:pt x="378" y="27"/>
                    </a:cubicBezTo>
                    <a:cubicBezTo>
                      <a:pt x="376" y="35"/>
                      <a:pt x="350" y="46"/>
                      <a:pt x="336" y="51"/>
                    </a:cubicBezTo>
                    <a:cubicBezTo>
                      <a:pt x="322" y="56"/>
                      <a:pt x="307" y="56"/>
                      <a:pt x="291" y="60"/>
                    </a:cubicBezTo>
                    <a:cubicBezTo>
                      <a:pt x="275" y="64"/>
                      <a:pt x="257" y="65"/>
                      <a:pt x="240" y="75"/>
                    </a:cubicBezTo>
                    <a:cubicBezTo>
                      <a:pt x="223" y="85"/>
                      <a:pt x="212" y="104"/>
                      <a:pt x="189" y="120"/>
                    </a:cubicBezTo>
                    <a:cubicBezTo>
                      <a:pt x="166" y="136"/>
                      <a:pt x="133" y="167"/>
                      <a:pt x="102" y="174"/>
                    </a:cubicBezTo>
                    <a:lnTo>
                      <a:pt x="0" y="162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" name="Freeform 26"/>
              <p:cNvSpPr/>
              <p:nvPr/>
            </p:nvSpPr>
            <p:spPr bwMode="auto">
              <a:xfrm>
                <a:off x="4178" y="187"/>
                <a:ext cx="523" cy="69"/>
              </a:xfrm>
              <a:custGeom>
                <a:avLst/>
                <a:gdLst>
                  <a:gd name="T0" fmla="*/ 84 w 523"/>
                  <a:gd name="T1" fmla="*/ 11 h 69"/>
                  <a:gd name="T2" fmla="*/ 27 w 523"/>
                  <a:gd name="T3" fmla="*/ 5 h 69"/>
                  <a:gd name="T4" fmla="*/ 9 w 523"/>
                  <a:gd name="T5" fmla="*/ 35 h 69"/>
                  <a:gd name="T6" fmla="*/ 81 w 523"/>
                  <a:gd name="T7" fmla="*/ 56 h 69"/>
                  <a:gd name="T8" fmla="*/ 255 w 523"/>
                  <a:gd name="T9" fmla="*/ 68 h 69"/>
                  <a:gd name="T10" fmla="*/ 432 w 523"/>
                  <a:gd name="T11" fmla="*/ 50 h 69"/>
                  <a:gd name="T12" fmla="*/ 513 w 523"/>
                  <a:gd name="T13" fmla="*/ 5 h 69"/>
                  <a:gd name="T14" fmla="*/ 372 w 523"/>
                  <a:gd name="T15" fmla="*/ 20 h 69"/>
                  <a:gd name="T16" fmla="*/ 141 w 523"/>
                  <a:gd name="T17" fmla="*/ 14 h 69"/>
                  <a:gd name="T18" fmla="*/ 84 w 523"/>
                  <a:gd name="T19" fmla="*/ 11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3" h="69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ubicBezTo>
                      <a:pt x="14" y="9"/>
                      <a:pt x="0" y="27"/>
                      <a:pt x="9" y="35"/>
                    </a:cubicBezTo>
                    <a:cubicBezTo>
                      <a:pt x="18" y="43"/>
                      <a:pt x="40" y="51"/>
                      <a:pt x="81" y="56"/>
                    </a:cubicBezTo>
                    <a:cubicBezTo>
                      <a:pt x="122" y="61"/>
                      <a:pt x="197" y="69"/>
                      <a:pt x="255" y="68"/>
                    </a:cubicBezTo>
                    <a:cubicBezTo>
                      <a:pt x="313" y="67"/>
                      <a:pt x="389" y="60"/>
                      <a:pt x="432" y="50"/>
                    </a:cubicBezTo>
                    <a:cubicBezTo>
                      <a:pt x="475" y="40"/>
                      <a:pt x="523" y="10"/>
                      <a:pt x="513" y="5"/>
                    </a:cubicBezTo>
                    <a:cubicBezTo>
                      <a:pt x="503" y="0"/>
                      <a:pt x="434" y="19"/>
                      <a:pt x="372" y="20"/>
                    </a:cubicBezTo>
                    <a:cubicBezTo>
                      <a:pt x="310" y="21"/>
                      <a:pt x="189" y="15"/>
                      <a:pt x="141" y="14"/>
                    </a:cubicBezTo>
                    <a:cubicBezTo>
                      <a:pt x="93" y="13"/>
                      <a:pt x="103" y="13"/>
                      <a:pt x="84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Freeform 27"/>
              <p:cNvSpPr/>
              <p:nvPr/>
            </p:nvSpPr>
            <p:spPr bwMode="auto">
              <a:xfrm>
                <a:off x="4689" y="186"/>
                <a:ext cx="537" cy="120"/>
              </a:xfrm>
              <a:custGeom>
                <a:avLst/>
                <a:gdLst/>
                <a:ahLst/>
                <a:cxnLst>
                  <a:cxn ang="0">
                    <a:pos x="23" y="6"/>
                  </a:cxn>
                  <a:cxn ang="0">
                    <a:pos x="188" y="3"/>
                  </a:cxn>
                  <a:cxn ang="0">
                    <a:pos x="323" y="27"/>
                  </a:cxn>
                  <a:cxn ang="0">
                    <a:pos x="464" y="69"/>
                  </a:cxn>
                  <a:cxn ang="0">
                    <a:pos x="521" y="90"/>
                  </a:cxn>
                  <a:cxn ang="0">
                    <a:pos x="533" y="105"/>
                  </a:cxn>
                  <a:cxn ang="0">
                    <a:pos x="497" y="120"/>
                  </a:cxn>
                  <a:cxn ang="0">
                    <a:pos x="452" y="108"/>
                  </a:cxn>
                  <a:cxn ang="0">
                    <a:pos x="350" y="72"/>
                  </a:cxn>
                  <a:cxn ang="0">
                    <a:pos x="158" y="39"/>
                  </a:cxn>
                  <a:cxn ang="0">
                    <a:pos x="50" y="39"/>
                  </a:cxn>
                  <a:cxn ang="0">
                    <a:pos x="23" y="6"/>
                  </a:cxn>
                </a:cxnLst>
                <a:rect l="0" t="0" r="r" b="b"/>
                <a:pathLst>
                  <a:path w="537" h="12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ubicBezTo>
                      <a:pt x="238" y="6"/>
                      <a:pt x="277" y="16"/>
                      <a:pt x="323" y="27"/>
                    </a:cubicBezTo>
                    <a:cubicBezTo>
                      <a:pt x="369" y="38"/>
                      <a:pt x="431" y="59"/>
                      <a:pt x="464" y="69"/>
                    </a:cubicBezTo>
                    <a:cubicBezTo>
                      <a:pt x="497" y="79"/>
                      <a:pt x="509" y="84"/>
                      <a:pt x="521" y="90"/>
                    </a:cubicBezTo>
                    <a:cubicBezTo>
                      <a:pt x="533" y="96"/>
                      <a:pt x="537" y="100"/>
                      <a:pt x="533" y="105"/>
                    </a:cubicBezTo>
                    <a:cubicBezTo>
                      <a:pt x="529" y="110"/>
                      <a:pt x="510" y="120"/>
                      <a:pt x="497" y="120"/>
                    </a:cubicBezTo>
                    <a:cubicBezTo>
                      <a:pt x="484" y="120"/>
                      <a:pt x="476" y="116"/>
                      <a:pt x="452" y="108"/>
                    </a:cubicBezTo>
                    <a:cubicBezTo>
                      <a:pt x="428" y="100"/>
                      <a:pt x="399" y="84"/>
                      <a:pt x="350" y="72"/>
                    </a:cubicBezTo>
                    <a:cubicBezTo>
                      <a:pt x="301" y="60"/>
                      <a:pt x="208" y="45"/>
                      <a:pt x="158" y="39"/>
                    </a:cubicBezTo>
                    <a:cubicBezTo>
                      <a:pt x="108" y="33"/>
                      <a:pt x="72" y="43"/>
                      <a:pt x="50" y="39"/>
                    </a:cubicBezTo>
                    <a:cubicBezTo>
                      <a:pt x="28" y="35"/>
                      <a:pt x="0" y="12"/>
                      <a:pt x="23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" name="Freeform 28"/>
              <p:cNvSpPr/>
              <p:nvPr/>
            </p:nvSpPr>
            <p:spPr bwMode="auto">
              <a:xfrm>
                <a:off x="4968" y="312"/>
                <a:ext cx="800" cy="143"/>
              </a:xfrm>
              <a:custGeom>
                <a:avLst/>
                <a:gdLst/>
                <a:ahLst/>
                <a:cxnLst>
                  <a:cxn ang="0">
                    <a:pos x="800" y="24"/>
                  </a:cxn>
                  <a:cxn ang="0">
                    <a:pos x="782" y="15"/>
                  </a:cxn>
                  <a:cxn ang="0">
                    <a:pos x="659" y="63"/>
                  </a:cxn>
                  <a:cxn ang="0">
                    <a:pos x="500" y="84"/>
                  </a:cxn>
                  <a:cxn ang="0">
                    <a:pos x="326" y="69"/>
                  </a:cxn>
                  <a:cxn ang="0">
                    <a:pos x="98" y="21"/>
                  </a:cxn>
                  <a:cxn ang="0">
                    <a:pos x="11" y="6"/>
                  </a:cxn>
                  <a:cxn ang="0">
                    <a:pos x="32" y="60"/>
                  </a:cxn>
                  <a:cxn ang="0">
                    <a:pos x="155" y="96"/>
                  </a:cxn>
                  <a:cxn ang="0">
                    <a:pos x="410" y="138"/>
                  </a:cxn>
                  <a:cxn ang="0">
                    <a:pos x="596" y="129"/>
                  </a:cxn>
                  <a:cxn ang="0">
                    <a:pos x="737" y="90"/>
                  </a:cxn>
                  <a:cxn ang="0">
                    <a:pos x="788" y="69"/>
                  </a:cxn>
                  <a:cxn ang="0">
                    <a:pos x="800" y="24"/>
                  </a:cxn>
                </a:cxnLst>
                <a:rect l="0" t="0" r="r" b="b"/>
                <a:pathLst>
                  <a:path w="800" h="143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ubicBezTo>
                      <a:pt x="612" y="75"/>
                      <a:pt x="555" y="83"/>
                      <a:pt x="500" y="84"/>
                    </a:cubicBezTo>
                    <a:cubicBezTo>
                      <a:pt x="445" y="85"/>
                      <a:pt x="393" y="79"/>
                      <a:pt x="326" y="69"/>
                    </a:cubicBezTo>
                    <a:cubicBezTo>
                      <a:pt x="259" y="59"/>
                      <a:pt x="150" y="31"/>
                      <a:pt x="98" y="21"/>
                    </a:cubicBezTo>
                    <a:cubicBezTo>
                      <a:pt x="46" y="11"/>
                      <a:pt x="22" y="0"/>
                      <a:pt x="11" y="6"/>
                    </a:cubicBezTo>
                    <a:cubicBezTo>
                      <a:pt x="0" y="12"/>
                      <a:pt x="8" y="45"/>
                      <a:pt x="32" y="60"/>
                    </a:cubicBezTo>
                    <a:cubicBezTo>
                      <a:pt x="56" y="75"/>
                      <a:pt x="92" y="83"/>
                      <a:pt x="155" y="96"/>
                    </a:cubicBezTo>
                    <a:cubicBezTo>
                      <a:pt x="218" y="109"/>
                      <a:pt x="337" y="133"/>
                      <a:pt x="410" y="138"/>
                    </a:cubicBezTo>
                    <a:cubicBezTo>
                      <a:pt x="483" y="143"/>
                      <a:pt x="542" y="137"/>
                      <a:pt x="596" y="129"/>
                    </a:cubicBezTo>
                    <a:cubicBezTo>
                      <a:pt x="650" y="121"/>
                      <a:pt x="705" y="100"/>
                      <a:pt x="737" y="90"/>
                    </a:cubicBezTo>
                    <a:cubicBezTo>
                      <a:pt x="769" y="80"/>
                      <a:pt x="780" y="80"/>
                      <a:pt x="788" y="69"/>
                    </a:cubicBezTo>
                    <a:cubicBezTo>
                      <a:pt x="796" y="58"/>
                      <a:pt x="792" y="39"/>
                      <a:pt x="800" y="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8" name="Freeform 29"/>
              <p:cNvSpPr/>
              <p:nvPr/>
            </p:nvSpPr>
            <p:spPr bwMode="auto">
              <a:xfrm>
                <a:off x="5318" y="240"/>
                <a:ext cx="402" cy="115"/>
              </a:xfrm>
              <a:custGeom>
                <a:avLst/>
                <a:gdLst>
                  <a:gd name="T0" fmla="*/ 402 w 402"/>
                  <a:gd name="T1" fmla="*/ 0 h 115"/>
                  <a:gd name="T2" fmla="*/ 384 w 402"/>
                  <a:gd name="T3" fmla="*/ 12 h 115"/>
                  <a:gd name="T4" fmla="*/ 276 w 402"/>
                  <a:gd name="T5" fmla="*/ 51 h 115"/>
                  <a:gd name="T6" fmla="*/ 165 w 402"/>
                  <a:gd name="T7" fmla="*/ 66 h 115"/>
                  <a:gd name="T8" fmla="*/ 51 w 402"/>
                  <a:gd name="T9" fmla="*/ 57 h 115"/>
                  <a:gd name="T10" fmla="*/ 15 w 402"/>
                  <a:gd name="T11" fmla="*/ 54 h 115"/>
                  <a:gd name="T12" fmla="*/ 3 w 402"/>
                  <a:gd name="T13" fmla="*/ 69 h 115"/>
                  <a:gd name="T14" fmla="*/ 9 w 402"/>
                  <a:gd name="T15" fmla="*/ 93 h 115"/>
                  <a:gd name="T16" fmla="*/ 54 w 402"/>
                  <a:gd name="T17" fmla="*/ 102 h 115"/>
                  <a:gd name="T18" fmla="*/ 198 w 402"/>
                  <a:gd name="T19" fmla="*/ 111 h 115"/>
                  <a:gd name="T20" fmla="*/ 336 w 402"/>
                  <a:gd name="T21" fmla="*/ 75 h 115"/>
                  <a:gd name="T22" fmla="*/ 375 w 402"/>
                  <a:gd name="T23" fmla="*/ 54 h 115"/>
                  <a:gd name="T24" fmla="*/ 402 w 402"/>
                  <a:gd name="T25" fmla="*/ 0 h 1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2" h="115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ubicBezTo>
                      <a:pt x="240" y="60"/>
                      <a:pt x="202" y="65"/>
                      <a:pt x="165" y="66"/>
                    </a:cubicBezTo>
                    <a:cubicBezTo>
                      <a:pt x="128" y="67"/>
                      <a:pt x="76" y="59"/>
                      <a:pt x="51" y="57"/>
                    </a:cubicBezTo>
                    <a:cubicBezTo>
                      <a:pt x="26" y="55"/>
                      <a:pt x="23" y="52"/>
                      <a:pt x="15" y="54"/>
                    </a:cubicBezTo>
                    <a:cubicBezTo>
                      <a:pt x="7" y="56"/>
                      <a:pt x="4" y="63"/>
                      <a:pt x="3" y="69"/>
                    </a:cubicBezTo>
                    <a:cubicBezTo>
                      <a:pt x="2" y="75"/>
                      <a:pt x="0" y="88"/>
                      <a:pt x="9" y="93"/>
                    </a:cubicBezTo>
                    <a:cubicBezTo>
                      <a:pt x="18" y="98"/>
                      <a:pt x="22" y="99"/>
                      <a:pt x="54" y="102"/>
                    </a:cubicBezTo>
                    <a:cubicBezTo>
                      <a:pt x="86" y="105"/>
                      <a:pt x="151" y="115"/>
                      <a:pt x="198" y="111"/>
                    </a:cubicBezTo>
                    <a:cubicBezTo>
                      <a:pt x="245" y="107"/>
                      <a:pt x="307" y="84"/>
                      <a:pt x="336" y="75"/>
                    </a:cubicBezTo>
                    <a:cubicBezTo>
                      <a:pt x="365" y="66"/>
                      <a:pt x="365" y="65"/>
                      <a:pt x="375" y="54"/>
                    </a:cubicBezTo>
                    <a:cubicBezTo>
                      <a:pt x="385" y="43"/>
                      <a:pt x="392" y="26"/>
                      <a:pt x="402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33" name="Group 30"/>
            <p:cNvGrpSpPr/>
            <p:nvPr/>
          </p:nvGrpSpPr>
          <p:grpSpPr bwMode="auto">
            <a:xfrm>
              <a:off x="0" y="4080"/>
              <a:ext cx="5776" cy="87"/>
              <a:chOff x="0" y="4185"/>
              <a:chExt cx="5776" cy="87"/>
            </a:xfrm>
          </p:grpSpPr>
          <p:sp>
            <p:nvSpPr>
              <p:cNvPr id="1034" name="Freeform 31"/>
              <p:cNvSpPr/>
              <p:nvPr/>
            </p:nvSpPr>
            <p:spPr bwMode="auto">
              <a:xfrm>
                <a:off x="4041" y="4200"/>
                <a:ext cx="1735" cy="72"/>
              </a:xfrm>
              <a:custGeom>
                <a:avLst/>
                <a:gdLst>
                  <a:gd name="T0" fmla="*/ 165 w 1735"/>
                  <a:gd name="T1" fmla="*/ 6 h 72"/>
                  <a:gd name="T2" fmla="*/ 450 w 1735"/>
                  <a:gd name="T3" fmla="*/ 3 h 72"/>
                  <a:gd name="T4" fmla="*/ 714 w 1735"/>
                  <a:gd name="T5" fmla="*/ 12 h 72"/>
                  <a:gd name="T6" fmla="*/ 957 w 1735"/>
                  <a:gd name="T7" fmla="*/ 24 h 72"/>
                  <a:gd name="T8" fmla="*/ 1173 w 1735"/>
                  <a:gd name="T9" fmla="*/ 24 h 72"/>
                  <a:gd name="T10" fmla="*/ 1473 w 1735"/>
                  <a:gd name="T11" fmla="*/ 15 h 72"/>
                  <a:gd name="T12" fmla="*/ 1617 w 1735"/>
                  <a:gd name="T13" fmla="*/ 0 h 72"/>
                  <a:gd name="T14" fmla="*/ 1719 w 1735"/>
                  <a:gd name="T15" fmla="*/ 15 h 72"/>
                  <a:gd name="T16" fmla="*/ 1716 w 1735"/>
                  <a:gd name="T17" fmla="*/ 66 h 72"/>
                  <a:gd name="T18" fmla="*/ 1632 w 1735"/>
                  <a:gd name="T19" fmla="*/ 51 h 72"/>
                  <a:gd name="T20" fmla="*/ 1407 w 1735"/>
                  <a:gd name="T21" fmla="*/ 51 h 72"/>
                  <a:gd name="T22" fmla="*/ 1191 w 1735"/>
                  <a:gd name="T23" fmla="*/ 48 h 72"/>
                  <a:gd name="T24" fmla="*/ 870 w 1735"/>
                  <a:gd name="T25" fmla="*/ 60 h 72"/>
                  <a:gd name="T26" fmla="*/ 492 w 1735"/>
                  <a:gd name="T27" fmla="*/ 48 h 72"/>
                  <a:gd name="T28" fmla="*/ 291 w 1735"/>
                  <a:gd name="T29" fmla="*/ 27 h 72"/>
                  <a:gd name="T30" fmla="*/ 21 w 1735"/>
                  <a:gd name="T31" fmla="*/ 36 h 72"/>
                  <a:gd name="T32" fmla="*/ 165 w 1735"/>
                  <a:gd name="T33" fmla="*/ 6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35" h="72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ubicBezTo>
                      <a:pt x="541" y="4"/>
                      <a:pt x="630" y="9"/>
                      <a:pt x="714" y="12"/>
                    </a:cubicBezTo>
                    <a:cubicBezTo>
                      <a:pt x="798" y="15"/>
                      <a:pt x="881" y="22"/>
                      <a:pt x="957" y="24"/>
                    </a:cubicBezTo>
                    <a:cubicBezTo>
                      <a:pt x="1033" y="26"/>
                      <a:pt x="1087" y="25"/>
                      <a:pt x="1173" y="24"/>
                    </a:cubicBezTo>
                    <a:cubicBezTo>
                      <a:pt x="1259" y="23"/>
                      <a:pt x="1399" y="19"/>
                      <a:pt x="1473" y="15"/>
                    </a:cubicBezTo>
                    <a:cubicBezTo>
                      <a:pt x="1547" y="11"/>
                      <a:pt x="1576" y="0"/>
                      <a:pt x="1617" y="0"/>
                    </a:cubicBezTo>
                    <a:cubicBezTo>
                      <a:pt x="1658" y="0"/>
                      <a:pt x="1703" y="4"/>
                      <a:pt x="1719" y="15"/>
                    </a:cubicBezTo>
                    <a:cubicBezTo>
                      <a:pt x="1735" y="26"/>
                      <a:pt x="1730" y="60"/>
                      <a:pt x="1716" y="66"/>
                    </a:cubicBezTo>
                    <a:cubicBezTo>
                      <a:pt x="1702" y="72"/>
                      <a:pt x="1683" y="53"/>
                      <a:pt x="1632" y="51"/>
                    </a:cubicBezTo>
                    <a:cubicBezTo>
                      <a:pt x="1581" y="49"/>
                      <a:pt x="1480" y="51"/>
                      <a:pt x="1407" y="51"/>
                    </a:cubicBezTo>
                    <a:cubicBezTo>
                      <a:pt x="1334" y="51"/>
                      <a:pt x="1280" y="47"/>
                      <a:pt x="1191" y="48"/>
                    </a:cubicBezTo>
                    <a:cubicBezTo>
                      <a:pt x="1102" y="49"/>
                      <a:pt x="986" y="60"/>
                      <a:pt x="870" y="60"/>
                    </a:cubicBezTo>
                    <a:cubicBezTo>
                      <a:pt x="754" y="60"/>
                      <a:pt x="588" y="53"/>
                      <a:pt x="492" y="48"/>
                    </a:cubicBezTo>
                    <a:cubicBezTo>
                      <a:pt x="396" y="43"/>
                      <a:pt x="369" y="29"/>
                      <a:pt x="291" y="27"/>
                    </a:cubicBezTo>
                    <a:cubicBezTo>
                      <a:pt x="213" y="25"/>
                      <a:pt x="42" y="39"/>
                      <a:pt x="21" y="36"/>
                    </a:cubicBezTo>
                    <a:cubicBezTo>
                      <a:pt x="0" y="33"/>
                      <a:pt x="94" y="11"/>
                      <a:pt x="165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" name="Freeform 32"/>
              <p:cNvSpPr/>
              <p:nvPr/>
            </p:nvSpPr>
            <p:spPr bwMode="auto">
              <a:xfrm>
                <a:off x="1727" y="4191"/>
                <a:ext cx="2655" cy="60"/>
              </a:xfrm>
              <a:custGeom>
                <a:avLst/>
                <a:gdLst>
                  <a:gd name="T0" fmla="*/ 2641 w 2655"/>
                  <a:gd name="T1" fmla="*/ 6 h 60"/>
                  <a:gd name="T2" fmla="*/ 2620 w 2655"/>
                  <a:gd name="T3" fmla="*/ 30 h 60"/>
                  <a:gd name="T4" fmla="*/ 2368 w 2655"/>
                  <a:gd name="T5" fmla="*/ 45 h 60"/>
                  <a:gd name="T6" fmla="*/ 2023 w 2655"/>
                  <a:gd name="T7" fmla="*/ 60 h 60"/>
                  <a:gd name="T8" fmla="*/ 1786 w 2655"/>
                  <a:gd name="T9" fmla="*/ 48 h 60"/>
                  <a:gd name="T10" fmla="*/ 1525 w 2655"/>
                  <a:gd name="T11" fmla="*/ 36 h 60"/>
                  <a:gd name="T12" fmla="*/ 1195 w 2655"/>
                  <a:gd name="T13" fmla="*/ 45 h 60"/>
                  <a:gd name="T14" fmla="*/ 817 w 2655"/>
                  <a:gd name="T15" fmla="*/ 39 h 60"/>
                  <a:gd name="T16" fmla="*/ 499 w 2655"/>
                  <a:gd name="T17" fmla="*/ 27 h 60"/>
                  <a:gd name="T18" fmla="*/ 136 w 2655"/>
                  <a:gd name="T19" fmla="*/ 39 h 60"/>
                  <a:gd name="T20" fmla="*/ 10 w 2655"/>
                  <a:gd name="T21" fmla="*/ 33 h 60"/>
                  <a:gd name="T22" fmla="*/ 76 w 2655"/>
                  <a:gd name="T23" fmla="*/ 24 h 60"/>
                  <a:gd name="T24" fmla="*/ 310 w 2655"/>
                  <a:gd name="T25" fmla="*/ 18 h 60"/>
                  <a:gd name="T26" fmla="*/ 544 w 2655"/>
                  <a:gd name="T27" fmla="*/ 0 h 60"/>
                  <a:gd name="T28" fmla="*/ 853 w 2655"/>
                  <a:gd name="T29" fmla="*/ 21 h 60"/>
                  <a:gd name="T30" fmla="*/ 1114 w 2655"/>
                  <a:gd name="T31" fmla="*/ 21 h 60"/>
                  <a:gd name="T32" fmla="*/ 1399 w 2655"/>
                  <a:gd name="T33" fmla="*/ 3 h 60"/>
                  <a:gd name="T34" fmla="*/ 1588 w 2655"/>
                  <a:gd name="T35" fmla="*/ 9 h 60"/>
                  <a:gd name="T36" fmla="*/ 1807 w 2655"/>
                  <a:gd name="T37" fmla="*/ 21 h 60"/>
                  <a:gd name="T38" fmla="*/ 2035 w 2655"/>
                  <a:gd name="T39" fmla="*/ 12 h 60"/>
                  <a:gd name="T40" fmla="*/ 2290 w 2655"/>
                  <a:gd name="T41" fmla="*/ 18 h 60"/>
                  <a:gd name="T42" fmla="*/ 2596 w 2655"/>
                  <a:gd name="T43" fmla="*/ 3 h 60"/>
                  <a:gd name="T44" fmla="*/ 2641 w 2655"/>
                  <a:gd name="T45" fmla="*/ 6 h 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55" h="6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ubicBezTo>
                      <a:pt x="2269" y="50"/>
                      <a:pt x="2120" y="60"/>
                      <a:pt x="2023" y="60"/>
                    </a:cubicBezTo>
                    <a:cubicBezTo>
                      <a:pt x="1926" y="60"/>
                      <a:pt x="1869" y="52"/>
                      <a:pt x="1786" y="48"/>
                    </a:cubicBezTo>
                    <a:cubicBezTo>
                      <a:pt x="1703" y="44"/>
                      <a:pt x="1623" y="36"/>
                      <a:pt x="1525" y="36"/>
                    </a:cubicBezTo>
                    <a:cubicBezTo>
                      <a:pt x="1427" y="36"/>
                      <a:pt x="1313" y="44"/>
                      <a:pt x="1195" y="45"/>
                    </a:cubicBezTo>
                    <a:cubicBezTo>
                      <a:pt x="1077" y="46"/>
                      <a:pt x="933" y="42"/>
                      <a:pt x="817" y="39"/>
                    </a:cubicBezTo>
                    <a:cubicBezTo>
                      <a:pt x="701" y="36"/>
                      <a:pt x="612" y="27"/>
                      <a:pt x="499" y="27"/>
                    </a:cubicBezTo>
                    <a:cubicBezTo>
                      <a:pt x="386" y="27"/>
                      <a:pt x="217" y="38"/>
                      <a:pt x="136" y="39"/>
                    </a:cubicBezTo>
                    <a:cubicBezTo>
                      <a:pt x="55" y="40"/>
                      <a:pt x="20" y="36"/>
                      <a:pt x="10" y="33"/>
                    </a:cubicBezTo>
                    <a:cubicBezTo>
                      <a:pt x="0" y="30"/>
                      <a:pt x="26" y="27"/>
                      <a:pt x="76" y="24"/>
                    </a:cubicBezTo>
                    <a:cubicBezTo>
                      <a:pt x="126" y="21"/>
                      <a:pt x="232" y="22"/>
                      <a:pt x="310" y="18"/>
                    </a:cubicBezTo>
                    <a:cubicBezTo>
                      <a:pt x="388" y="14"/>
                      <a:pt x="454" y="0"/>
                      <a:pt x="544" y="0"/>
                    </a:cubicBezTo>
                    <a:cubicBezTo>
                      <a:pt x="634" y="0"/>
                      <a:pt x="758" y="18"/>
                      <a:pt x="853" y="21"/>
                    </a:cubicBezTo>
                    <a:cubicBezTo>
                      <a:pt x="948" y="24"/>
                      <a:pt x="1023" y="24"/>
                      <a:pt x="1114" y="21"/>
                    </a:cubicBezTo>
                    <a:cubicBezTo>
                      <a:pt x="1205" y="18"/>
                      <a:pt x="1320" y="5"/>
                      <a:pt x="1399" y="3"/>
                    </a:cubicBezTo>
                    <a:cubicBezTo>
                      <a:pt x="1478" y="1"/>
                      <a:pt x="1520" y="6"/>
                      <a:pt x="1588" y="9"/>
                    </a:cubicBezTo>
                    <a:cubicBezTo>
                      <a:pt x="1656" y="12"/>
                      <a:pt x="1733" y="21"/>
                      <a:pt x="1807" y="21"/>
                    </a:cubicBezTo>
                    <a:cubicBezTo>
                      <a:pt x="1881" y="21"/>
                      <a:pt x="1955" y="12"/>
                      <a:pt x="2035" y="12"/>
                    </a:cubicBezTo>
                    <a:cubicBezTo>
                      <a:pt x="2115" y="12"/>
                      <a:pt x="2197" y="19"/>
                      <a:pt x="2290" y="18"/>
                    </a:cubicBezTo>
                    <a:cubicBezTo>
                      <a:pt x="2383" y="17"/>
                      <a:pt x="2537" y="5"/>
                      <a:pt x="2596" y="3"/>
                    </a:cubicBezTo>
                    <a:cubicBezTo>
                      <a:pt x="2655" y="1"/>
                      <a:pt x="2651" y="3"/>
                      <a:pt x="2641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" name="Freeform 33"/>
              <p:cNvSpPr/>
              <p:nvPr/>
            </p:nvSpPr>
            <p:spPr bwMode="auto">
              <a:xfrm>
                <a:off x="0" y="4185"/>
                <a:ext cx="2041" cy="62"/>
              </a:xfrm>
              <a:custGeom>
                <a:avLst/>
                <a:gdLst>
                  <a:gd name="T0" fmla="*/ 1893 w 2041"/>
                  <a:gd name="T1" fmla="*/ 39 h 62"/>
                  <a:gd name="T2" fmla="*/ 1578 w 2041"/>
                  <a:gd name="T3" fmla="*/ 45 h 62"/>
                  <a:gd name="T4" fmla="*/ 1011 w 2041"/>
                  <a:gd name="T5" fmla="*/ 60 h 62"/>
                  <a:gd name="T6" fmla="*/ 438 w 2041"/>
                  <a:gd name="T7" fmla="*/ 57 h 62"/>
                  <a:gd name="T8" fmla="*/ 0 w 2041"/>
                  <a:gd name="T9" fmla="*/ 36 h 62"/>
                  <a:gd name="T10" fmla="*/ 0 w 2041"/>
                  <a:gd name="T11" fmla="*/ 3 h 62"/>
                  <a:gd name="T12" fmla="*/ 210 w 2041"/>
                  <a:gd name="T13" fmla="*/ 18 h 62"/>
                  <a:gd name="T14" fmla="*/ 474 w 2041"/>
                  <a:gd name="T15" fmla="*/ 21 h 62"/>
                  <a:gd name="T16" fmla="*/ 678 w 2041"/>
                  <a:gd name="T17" fmla="*/ 9 h 62"/>
                  <a:gd name="T18" fmla="*/ 897 w 2041"/>
                  <a:gd name="T19" fmla="*/ 9 h 62"/>
                  <a:gd name="T20" fmla="*/ 1167 w 2041"/>
                  <a:gd name="T21" fmla="*/ 30 h 62"/>
                  <a:gd name="T22" fmla="*/ 1500 w 2041"/>
                  <a:gd name="T23" fmla="*/ 24 h 62"/>
                  <a:gd name="T24" fmla="*/ 1758 w 2041"/>
                  <a:gd name="T25" fmla="*/ 3 h 62"/>
                  <a:gd name="T26" fmla="*/ 1938 w 2041"/>
                  <a:gd name="T27" fmla="*/ 18 h 62"/>
                  <a:gd name="T28" fmla="*/ 2034 w 2041"/>
                  <a:gd name="T29" fmla="*/ 33 h 62"/>
                  <a:gd name="T30" fmla="*/ 1893 w 2041"/>
                  <a:gd name="T31" fmla="*/ 39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041" h="62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cubicBezTo>
                      <a:pt x="1431" y="48"/>
                      <a:pt x="1201" y="58"/>
                      <a:pt x="1011" y="60"/>
                    </a:cubicBezTo>
                    <a:cubicBezTo>
                      <a:pt x="821" y="62"/>
                      <a:pt x="606" y="61"/>
                      <a:pt x="438" y="57"/>
                    </a:cubicBezTo>
                    <a:cubicBezTo>
                      <a:pt x="270" y="53"/>
                      <a:pt x="73" y="45"/>
                      <a:pt x="0" y="36"/>
                    </a:cubicBezTo>
                    <a:lnTo>
                      <a:pt x="0" y="3"/>
                    </a:lnTo>
                    <a:cubicBezTo>
                      <a:pt x="35" y="0"/>
                      <a:pt x="131" y="15"/>
                      <a:pt x="210" y="18"/>
                    </a:cubicBezTo>
                    <a:cubicBezTo>
                      <a:pt x="289" y="21"/>
                      <a:pt x="396" y="22"/>
                      <a:pt x="474" y="21"/>
                    </a:cubicBezTo>
                    <a:cubicBezTo>
                      <a:pt x="552" y="20"/>
                      <a:pt x="608" y="11"/>
                      <a:pt x="678" y="9"/>
                    </a:cubicBezTo>
                    <a:cubicBezTo>
                      <a:pt x="748" y="7"/>
                      <a:pt x="816" y="6"/>
                      <a:pt x="897" y="9"/>
                    </a:cubicBezTo>
                    <a:cubicBezTo>
                      <a:pt x="978" y="12"/>
                      <a:pt x="1067" y="28"/>
                      <a:pt x="1167" y="30"/>
                    </a:cubicBezTo>
                    <a:cubicBezTo>
                      <a:pt x="1267" y="32"/>
                      <a:pt x="1402" y="28"/>
                      <a:pt x="1500" y="24"/>
                    </a:cubicBezTo>
                    <a:cubicBezTo>
                      <a:pt x="1598" y="20"/>
                      <a:pt x="1685" y="4"/>
                      <a:pt x="1758" y="3"/>
                    </a:cubicBezTo>
                    <a:cubicBezTo>
                      <a:pt x="1831" y="2"/>
                      <a:pt x="1892" y="13"/>
                      <a:pt x="1938" y="18"/>
                    </a:cubicBezTo>
                    <a:cubicBezTo>
                      <a:pt x="1984" y="23"/>
                      <a:pt x="2041" y="30"/>
                      <a:pt x="2034" y="33"/>
                    </a:cubicBezTo>
                    <a:cubicBezTo>
                      <a:pt x="2027" y="36"/>
                      <a:pt x="1969" y="37"/>
                      <a:pt x="1893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400" b="0">
                <a:latin typeface="+mn-lt"/>
                <a:ea typeface="宋体" panose="02010600030101010101" pitchFamily="2" charset="-122"/>
                <a:cs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latin typeface="+mn-lt"/>
                <a:ea typeface="宋体" panose="02010600030101010101" pitchFamily="2" charset="-122"/>
                <a:cs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>
                <a:latin typeface="宋体" panose="02010600030101010101" pitchFamily="2" charset="-122"/>
              </a:defRPr>
            </a:lvl1pPr>
          </a:lstStyle>
          <a:p>
            <a:fld id="{794C6670-4834-41DC-A121-624E2868FC2D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93750" indent="-33655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slide" Target="slide7.xml"/><Relationship Id="rId4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14.tmp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14.tmp"/><Relationship Id="rId5" Type="http://schemas.openxmlformats.org/officeDocument/2006/relationships/tags" Target="../tags/tag1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3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874546-1F2F-43B2-B90C-5488E26E80BF}" type="slidenum">
              <a:rPr kumimoji="0" lang="zh-CN" altLang="en-US" sz="1400">
                <a:latin typeface="Tahoma" panose="020B0604030504040204" pitchFamily="34" charset="0"/>
              </a:rPr>
              <a:t>1</a:t>
            </a:fld>
            <a:endParaRPr kumimoji="0" lang="en-US" altLang="zh-CN" sz="1400">
              <a:latin typeface="Tahoma" panose="020B0604030504040204" pitchFamily="34" charset="0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1052513"/>
            <a:ext cx="7772400" cy="3384550"/>
          </a:xfrm>
        </p:spPr>
        <p:txBody>
          <a:bodyPr/>
          <a:lstStyle/>
          <a:p>
            <a:pPr algn="l"/>
            <a:r>
              <a:rPr kumimoji="0" lang="en-US" altLang="zh-CN" sz="12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/>
            </a:r>
            <a:br>
              <a:rPr kumimoji="0" lang="en-US" altLang="zh-CN" sz="12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18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/>
            </a:r>
            <a:br>
              <a:rPr kumimoji="0" lang="en-US" altLang="zh-CN" sz="18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/>
            </a:r>
            <a:b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/>
            </a:r>
            <a:b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E-R</a:t>
            </a:r>
            <a:r>
              <a:rPr kumimoji="0"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模型基本知识</a:t>
            </a:r>
            <a:r>
              <a:rPr kumimoji="0" lang="en-US" altLang="zh-CN" sz="3600">
                <a:latin typeface="黑体" panose="02010609060101010101" pitchFamily="49" charset="-122"/>
                <a:ea typeface="楷体_GB2312" pitchFamily="49" charset="-122"/>
              </a:rPr>
              <a:t/>
            </a:r>
            <a:br>
              <a:rPr kumimoji="0" lang="en-US" altLang="zh-CN" sz="3600">
                <a:latin typeface="黑体" panose="02010609060101010101" pitchFamily="49" charset="-122"/>
                <a:ea typeface="楷体_GB2312" pitchFamily="49" charset="-122"/>
              </a:rPr>
            </a:br>
            <a:endParaRPr kumimoji="0" lang="en-US" altLang="zh-CN" sz="3600">
              <a:latin typeface="黑体" panose="02010609060101010101" pitchFamily="49" charset="-122"/>
              <a:ea typeface="楷体_GB2312" pitchFamily="49" charset="-122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292725" y="476250"/>
            <a:ext cx="33845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课程名称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数据库系统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b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------------------------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223963" y="4868863"/>
            <a:ext cx="7019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		单 位：</a:t>
            </a:r>
            <a:r>
              <a:rPr kumimoji="0" lang="zh-CN" altLang="en-US" sz="2000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重庆大学计算机学院</a:t>
            </a:r>
            <a:endParaRPr kumimoji="0" lang="zh-CN" altLang="en-US" sz="2000" b="0">
              <a:solidFill>
                <a:srgbClr val="0066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16186" t="38326" r="31031" b="10172"/>
          <a:stretch>
            <a:fillRect/>
          </a:stretch>
        </p:blipFill>
        <p:spPr>
          <a:xfrm>
            <a:off x="357794" y="1414021"/>
            <a:ext cx="8428411" cy="44117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主要学习目标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266" name="内容占位符 2"/>
          <p:cNvSpPr>
            <a:spLocks noGrp="1" noChangeArrowheads="1"/>
          </p:cNvSpPr>
          <p:nvPr>
            <p:ph idx="1"/>
          </p:nvPr>
        </p:nvSpPr>
        <p:spPr>
          <a:xfrm>
            <a:off x="439738" y="2133600"/>
            <a:ext cx="8018462" cy="411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0" lang="en-US" altLang="zh-CN" sz="3200" dirty="0">
                <a:latin typeface="Tahoma" panose="020B0604030504040204" pitchFamily="34" charset="0"/>
              </a:rPr>
              <a:t> E-R</a:t>
            </a:r>
            <a:r>
              <a:rPr kumimoji="0" lang="zh-CN" altLang="en-US" sz="3200" dirty="0">
                <a:latin typeface="Tahoma" panose="020B0604030504040204" pitchFamily="34" charset="0"/>
              </a:rPr>
              <a:t>模型</a:t>
            </a:r>
            <a:r>
              <a:rPr kumimoji="0" lang="zh-CN" altLang="en-US" dirty="0">
                <a:latin typeface="Tahoma" panose="020B0604030504040204" pitchFamily="34" charset="0"/>
              </a:rPr>
              <a:t>的</a:t>
            </a:r>
            <a:r>
              <a:rPr kumimoji="0" lang="zh-CN" altLang="en-US" sz="3200" dirty="0">
                <a:latin typeface="Tahoma" panose="020B0604030504040204" pitchFamily="34" charset="0"/>
              </a:rPr>
              <a:t>基本要素</a:t>
            </a:r>
            <a:endParaRPr kumimoji="0" lang="en-US" altLang="zh-CN" sz="3200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zh-CN" altLang="en-US" dirty="0">
                <a:latin typeface="Tahoma" panose="020B0604030504040204" pitchFamily="34" charset="0"/>
              </a:rPr>
              <a:t>实体集和联系集</a:t>
            </a:r>
            <a:endParaRPr kumimoji="0" lang="en-US" altLang="zh-CN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zh-CN" dirty="0">
                <a:latin typeface="Tahoma" panose="020B0604030504040204" pitchFamily="34" charset="0"/>
              </a:rPr>
              <a:t> E-R</a:t>
            </a:r>
            <a:r>
              <a:rPr kumimoji="0" lang="zh-CN" altLang="en-US" dirty="0">
                <a:latin typeface="Tahoma" panose="020B0604030504040204" pitchFamily="34" charset="0"/>
              </a:rPr>
              <a:t>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C3F23C-0ADF-4E20-B85C-C510E3841E63}" type="slidenum">
              <a:rPr kumimoji="0" lang="zh-CN" altLang="en-US" sz="1400"/>
              <a:t>4</a:t>
            </a:fld>
            <a:endParaRPr kumimoji="0" lang="en-US" altLang="zh-CN" sz="140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133350"/>
            <a:ext cx="7772400" cy="452438"/>
          </a:xfrm>
        </p:spPr>
        <p:txBody>
          <a:bodyPr/>
          <a:lstStyle/>
          <a:p>
            <a:pPr algn="l"/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一 数据库设计过程</a:t>
            </a:r>
            <a:endParaRPr kumimoji="0" lang="en-US" altLang="zh-CN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250" y="860425"/>
            <a:ext cx="8683625" cy="55530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0" lang="zh-CN" altLang="en-US" sz="2400"/>
              <a:t>数据库设计的基础条件</a:t>
            </a:r>
            <a:r>
              <a:rPr kumimoji="0" lang="en-US" altLang="zh-CN" sz="2400"/>
              <a:t>(</a:t>
            </a:r>
            <a:r>
              <a:rPr kumimoji="0" lang="zh-CN" altLang="en-US" sz="2400"/>
              <a:t>前提</a:t>
            </a:r>
            <a:r>
              <a:rPr kumimoji="0" lang="en-US" altLang="zh-CN" sz="2400"/>
              <a:t>/</a:t>
            </a:r>
            <a:r>
              <a:rPr kumimoji="0" lang="zh-CN" altLang="en-US" sz="2400"/>
              <a:t>数据源</a:t>
            </a:r>
            <a:r>
              <a:rPr kumimoji="0" lang="en-US" altLang="zh-CN" sz="2400"/>
              <a:t>)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400"/>
              <a:t>	</a:t>
            </a:r>
            <a:r>
              <a:rPr kumimoji="0" lang="zh-CN" altLang="en-US" sz="2000"/>
              <a:t>清楚一个应用系统的功能需求与</a:t>
            </a:r>
            <a:r>
              <a:rPr kumimoji="0" lang="zh-CN" altLang="en-US" sz="2000">
                <a:solidFill>
                  <a:schemeClr val="tx2"/>
                </a:solidFill>
              </a:rPr>
              <a:t>数据需求</a:t>
            </a:r>
            <a:endParaRPr kumimoji="0" lang="en-US" altLang="zh-CN" sz="20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kumimoji="0" lang="en-US" altLang="zh-CN" sz="2000">
                <a:solidFill>
                  <a:schemeClr val="tx2"/>
                </a:solidFill>
              </a:rPr>
              <a:t>	</a:t>
            </a:r>
            <a:r>
              <a:rPr kumimoji="0" lang="en-US" altLang="zh-CN" sz="2000"/>
              <a:t>(</a:t>
            </a:r>
            <a:r>
              <a:rPr kumimoji="0" lang="zh-CN" altLang="en-US" sz="2000"/>
              <a:t>直接与用户交互</a:t>
            </a:r>
            <a:r>
              <a:rPr kumimoji="0" lang="en-US" altLang="zh-CN" sz="2000"/>
              <a:t>/</a:t>
            </a:r>
            <a:r>
              <a:rPr kumimoji="0" lang="zh-CN" altLang="en-US" sz="2000"/>
              <a:t>数据流程图</a:t>
            </a:r>
            <a:r>
              <a:rPr kumimoji="0" lang="zh-CN" altLang="en-US" sz="2000">
                <a:solidFill>
                  <a:srgbClr val="0066FF"/>
                </a:solidFill>
                <a:hlinkClick r:id="rId2" action="ppaction://hlinksldjump"/>
              </a:rPr>
              <a:t>示例</a:t>
            </a:r>
            <a:r>
              <a:rPr kumimoji="0" lang="en-US" altLang="zh-CN" sz="2000">
                <a:solidFill>
                  <a:srgbClr val="2A2A39"/>
                </a:solidFill>
              </a:rPr>
              <a:t>/UML</a:t>
            </a:r>
            <a:r>
              <a:rPr kumimoji="0" lang="zh-CN" altLang="en-US" sz="2000">
                <a:solidFill>
                  <a:srgbClr val="2A2A39"/>
                </a:solidFill>
              </a:rPr>
              <a:t>类图等</a:t>
            </a:r>
            <a:r>
              <a:rPr kumimoji="0" lang="en-US" altLang="zh-CN" sz="2000"/>
              <a:t>)</a:t>
            </a:r>
            <a:endParaRPr kumimoji="0" lang="en-US" altLang="zh-CN" sz="2400"/>
          </a:p>
          <a:p>
            <a:pPr>
              <a:lnSpc>
                <a:spcPct val="110000"/>
              </a:lnSpc>
            </a:pPr>
            <a:r>
              <a:rPr kumimoji="0" lang="zh-CN" altLang="en-US" sz="2400"/>
              <a:t>数据库设计的核心阶段：</a:t>
            </a:r>
            <a:endParaRPr kumimoji="0" lang="en-US" altLang="zh-CN" sz="2400"/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1</a:t>
            </a:r>
            <a:r>
              <a:rPr kumimoji="0" lang="zh-CN" altLang="en-US" sz="2000"/>
              <a:t>)数据库建模阶段（</a:t>
            </a:r>
            <a:r>
              <a:rPr kumimoji="0" lang="zh-CN" altLang="en-US" sz="2000">
                <a:solidFill>
                  <a:schemeClr val="tx2"/>
                </a:solidFill>
                <a:ea typeface="黑体" panose="02010609060101010101" pitchFamily="49" charset="-122"/>
              </a:rPr>
              <a:t>概念设计</a:t>
            </a:r>
            <a:r>
              <a:rPr kumimoji="0" lang="zh-CN" altLang="en-US" sz="2000"/>
              <a:t>）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000"/>
              <a:t>	</a:t>
            </a:r>
            <a:r>
              <a:rPr kumimoji="0" lang="en-US" altLang="zh-CN" sz="2000"/>
              <a:t>   </a:t>
            </a:r>
            <a:r>
              <a:rPr kumimoji="0" lang="zh-CN" altLang="en-US" sz="2000"/>
              <a:t>根据数据需求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>
                <a:sym typeface="Wingdings" panose="05000000000000000000" pitchFamily="2" charset="2"/>
              </a:rPr>
              <a:t>建立</a:t>
            </a:r>
            <a:r>
              <a:rPr kumimoji="0" lang="zh-CN" altLang="en-US" sz="2000">
                <a:solidFill>
                  <a:srgbClr val="464660"/>
                </a:solidFill>
              </a:rPr>
              <a:t>概念模型</a:t>
            </a:r>
            <a:r>
              <a:rPr kumimoji="0" lang="zh-CN" altLang="en-US" sz="2000"/>
              <a:t>（便于面向用户交互）</a:t>
            </a:r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2</a:t>
            </a:r>
            <a:r>
              <a:rPr kumimoji="0" lang="zh-CN" altLang="en-US" sz="2000"/>
              <a:t>)数据库逻辑结构设计阶段（</a:t>
            </a:r>
            <a:r>
              <a:rPr kumimoji="0" lang="zh-CN" altLang="en-US" sz="2000">
                <a:solidFill>
                  <a:schemeClr val="tx2"/>
                </a:solidFill>
              </a:rPr>
              <a:t>逻辑设计</a:t>
            </a:r>
            <a:r>
              <a:rPr kumimoji="0" lang="zh-CN" altLang="en-US" sz="2000"/>
              <a:t>）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000"/>
              <a:t>	</a:t>
            </a:r>
            <a:r>
              <a:rPr kumimoji="0" lang="en-US" altLang="zh-CN" sz="2000"/>
              <a:t>   </a:t>
            </a:r>
            <a:r>
              <a:rPr kumimoji="0" lang="zh-CN" altLang="en-US" sz="2000"/>
              <a:t>基于概念模型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>
                <a:sym typeface="Wingdings" panose="05000000000000000000" pitchFamily="2" charset="2"/>
              </a:rPr>
              <a:t>形成</a:t>
            </a:r>
            <a:r>
              <a:rPr kumimoji="0" lang="zh-CN" altLang="en-US" sz="2000"/>
              <a:t>商业产品支持的</a:t>
            </a:r>
            <a:r>
              <a:rPr kumimoji="0" lang="zh-CN" altLang="en-US" sz="2000">
                <a:solidFill>
                  <a:srgbClr val="464660"/>
                </a:solidFill>
              </a:rPr>
              <a:t>逻辑模型</a:t>
            </a:r>
            <a:r>
              <a:rPr kumimoji="0" lang="zh-CN" altLang="en-US" sz="2000"/>
              <a:t>(面向计算机逻辑实现)</a:t>
            </a:r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3</a:t>
            </a:r>
            <a:r>
              <a:rPr kumimoji="0" lang="zh-CN" altLang="en-US" sz="2000"/>
              <a:t>)数据库物理组织设计阶段（</a:t>
            </a:r>
            <a:r>
              <a:rPr kumimoji="0" lang="zh-CN" altLang="en-US" sz="2000">
                <a:solidFill>
                  <a:schemeClr val="tx2"/>
                </a:solidFill>
                <a:ea typeface="黑体" panose="02010609060101010101" pitchFamily="49" charset="-122"/>
              </a:rPr>
              <a:t>物理设计</a:t>
            </a:r>
            <a:r>
              <a:rPr kumimoji="0" lang="zh-CN" altLang="en-US" sz="2000"/>
              <a:t>）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000"/>
              <a:t>	</a:t>
            </a:r>
            <a:r>
              <a:rPr kumimoji="0" lang="zh-CN" altLang="zh-CN" sz="2000"/>
              <a:t> </a:t>
            </a:r>
            <a:r>
              <a:rPr kumimoji="0" lang="zh-CN" altLang="en-US" sz="2000"/>
              <a:t>  根据逻辑模型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>
                <a:sym typeface="Wingdings" panose="05000000000000000000" pitchFamily="2" charset="2"/>
              </a:rPr>
              <a:t>确定适合</a:t>
            </a:r>
            <a:r>
              <a:rPr kumimoji="0" lang="zh-CN" altLang="en-US" sz="2000"/>
              <a:t>应用要求的</a:t>
            </a:r>
            <a:r>
              <a:rPr kumimoji="0" lang="zh-CN" altLang="en-US" sz="2000">
                <a:solidFill>
                  <a:srgbClr val="464660"/>
                </a:solidFill>
              </a:rPr>
              <a:t>物理模型</a:t>
            </a:r>
            <a:r>
              <a:rPr kumimoji="0" lang="en-US" altLang="zh-CN" sz="2000"/>
              <a:t>(</a:t>
            </a:r>
            <a:r>
              <a:rPr kumimoji="0" lang="zh-CN" altLang="en-US" sz="2000"/>
              <a:t>面向计算机物理实现)</a:t>
            </a:r>
            <a:endParaRPr kumimoji="0" lang="zh-CN" altLang="en-US" sz="2400"/>
          </a:p>
          <a:p>
            <a:pPr>
              <a:lnSpc>
                <a:spcPct val="110000"/>
              </a:lnSpc>
            </a:pPr>
            <a:r>
              <a:rPr kumimoji="0" lang="zh-CN" altLang="en-US" sz="2400"/>
              <a:t>数据库设计的后期工作</a:t>
            </a:r>
            <a:r>
              <a:rPr kumimoji="0" lang="zh-CN" altLang="en-US" sz="2000"/>
              <a:t>（</a:t>
            </a:r>
            <a:r>
              <a:rPr kumimoji="0" lang="zh-CN" altLang="en-US" sz="2000">
                <a:solidFill>
                  <a:schemeClr val="tx2"/>
                </a:solidFill>
              </a:rPr>
              <a:t>数据库实现</a:t>
            </a:r>
            <a:r>
              <a:rPr kumimoji="0" lang="en-US" altLang="zh-CN" sz="2000"/>
              <a:t>)</a:t>
            </a:r>
            <a:endParaRPr kumimoji="0" lang="en-US" altLang="zh-CN" sz="24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根据设计的逻辑模型和物理模型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/>
              <a:t>实际的数据库结构</a:t>
            </a:r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(</a:t>
            </a:r>
            <a:r>
              <a:rPr kumimoji="0" lang="zh-CN" altLang="en-US" sz="2000"/>
              <a:t>比如：采用</a:t>
            </a:r>
            <a:r>
              <a:rPr kumimoji="0" lang="en-US" altLang="zh-CN" sz="2000"/>
              <a:t>SQL</a:t>
            </a:r>
            <a:r>
              <a:rPr kumimoji="0" lang="zh-CN" altLang="en-US" sz="2000"/>
              <a:t>定义语言，实际创建关系模式）</a:t>
            </a:r>
            <a:endParaRPr kumimoji="0" lang="zh-CN" altLang="en-US" sz="2400"/>
          </a:p>
        </p:txBody>
      </p:sp>
      <p:sp>
        <p:nvSpPr>
          <p:cNvPr id="17412" name="AutoShape 12"/>
          <p:cNvSpPr>
            <a:spLocks noChangeArrowheads="1"/>
          </p:cNvSpPr>
          <p:nvPr/>
        </p:nvSpPr>
        <p:spPr bwMode="auto">
          <a:xfrm>
            <a:off x="6492875" y="1000125"/>
            <a:ext cx="2420938" cy="742950"/>
          </a:xfrm>
          <a:prstGeom prst="cloudCallout">
            <a:avLst>
              <a:gd name="adj1" fmla="val 50181"/>
              <a:gd name="adj2" fmla="val 7648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数据库设计的关键阶段?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7413" name="AutoShape 12"/>
          <p:cNvSpPr>
            <a:spLocks noChangeArrowheads="1"/>
          </p:cNvSpPr>
          <p:nvPr/>
        </p:nvSpPr>
        <p:spPr bwMode="auto">
          <a:xfrm>
            <a:off x="7254875" y="2809875"/>
            <a:ext cx="1811338" cy="974725"/>
          </a:xfrm>
          <a:prstGeom prst="cloudCallout">
            <a:avLst>
              <a:gd name="adj1" fmla="val 50181"/>
              <a:gd name="adj2" fmla="val 7648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各个阶段设计的主要任务?</a:t>
            </a:r>
          </a:p>
        </p:txBody>
      </p:sp>
      <p:sp>
        <p:nvSpPr>
          <p:cNvPr id="2" name="下箭头 1"/>
          <p:cNvSpPr>
            <a:spLocks noChangeArrowheads="1"/>
          </p:cNvSpPr>
          <p:nvPr/>
        </p:nvSpPr>
        <p:spPr bwMode="auto">
          <a:xfrm>
            <a:off x="3698875" y="1778000"/>
            <a:ext cx="3175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4" name="下箭头 13"/>
          <p:cNvSpPr>
            <a:spLocks noChangeArrowheads="1"/>
          </p:cNvSpPr>
          <p:nvPr/>
        </p:nvSpPr>
        <p:spPr bwMode="auto">
          <a:xfrm>
            <a:off x="4279900" y="2803525"/>
            <a:ext cx="3175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5" name="下箭头 14"/>
          <p:cNvSpPr>
            <a:spLocks noChangeArrowheads="1"/>
          </p:cNvSpPr>
          <p:nvPr/>
        </p:nvSpPr>
        <p:spPr bwMode="auto">
          <a:xfrm>
            <a:off x="4343400" y="3921125"/>
            <a:ext cx="307975" cy="3905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6" name="下箭头 15"/>
          <p:cNvSpPr>
            <a:spLocks noChangeArrowheads="1"/>
          </p:cNvSpPr>
          <p:nvPr/>
        </p:nvSpPr>
        <p:spPr bwMode="auto">
          <a:xfrm>
            <a:off x="4337050" y="4756150"/>
            <a:ext cx="307975" cy="3905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3" name="矩形 66"/>
          <p:cNvSpPr>
            <a:spLocks noChangeArrowheads="1"/>
          </p:cNvSpPr>
          <p:nvPr/>
        </p:nvSpPr>
        <p:spPr bwMode="auto">
          <a:xfrm>
            <a:off x="7569200" y="1862138"/>
            <a:ext cx="698500" cy="3381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"/>
              </a:spcBef>
              <a:tabLst>
                <a:tab pos="3195320" algn="ctr"/>
              </a:tabLst>
              <a:defRPr/>
            </a:pPr>
            <a:r>
              <a:rPr lang="zh-CN" altLang="en-US" sz="1600" dirty="0">
                <a:solidFill>
                  <a:schemeClr val="accent4"/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案例</a:t>
            </a:r>
            <a:r>
              <a:rPr lang="en-US" altLang="zh-CN" sz="1600" dirty="0">
                <a:solidFill>
                  <a:schemeClr val="accent4"/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4"/>
              </a:solidFill>
              <a:latin typeface="Times New Roman" panose="0202060305040502030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8" name="Group 79"/>
          <p:cNvGrpSpPr/>
          <p:nvPr/>
        </p:nvGrpSpPr>
        <p:grpSpPr bwMode="auto">
          <a:xfrm>
            <a:off x="5270500" y="2143125"/>
            <a:ext cx="2957513" cy="636588"/>
            <a:chOff x="50" y="3830"/>
            <a:chExt cx="1863" cy="401"/>
          </a:xfrm>
        </p:grpSpPr>
        <p:sp>
          <p:nvSpPr>
            <p:cNvPr id="19" name="AutoShape 74"/>
            <p:cNvSpPr>
              <a:spLocks noChangeArrowheads="1"/>
            </p:cNvSpPr>
            <p:nvPr/>
          </p:nvSpPr>
          <p:spPr bwMode="auto">
            <a:xfrm>
              <a:off x="703" y="3830"/>
              <a:ext cx="685" cy="401"/>
            </a:xfrm>
            <a:prstGeom prst="diamond">
              <a:avLst/>
            </a:prstGeom>
            <a:noFill/>
            <a:ln w="12700">
              <a:solidFill>
                <a:srgbClr val="0066FF"/>
              </a:solidFill>
              <a:miter lim="800000"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zh-CN" altLang="en-US" sz="105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pSp>
          <p:nvGrpSpPr>
            <p:cNvPr id="17423" name="Group 77"/>
            <p:cNvGrpSpPr/>
            <p:nvPr/>
          </p:nvGrpSpPr>
          <p:grpSpPr bwMode="auto">
            <a:xfrm>
              <a:off x="50" y="3863"/>
              <a:ext cx="1863" cy="366"/>
              <a:chOff x="50" y="3863"/>
              <a:chExt cx="1863" cy="366"/>
            </a:xfrm>
          </p:grpSpPr>
          <p:sp>
            <p:nvSpPr>
              <p:cNvPr id="21" name="AutoShape 62"/>
              <p:cNvSpPr>
                <a:spLocks noChangeArrowheads="1"/>
              </p:cNvSpPr>
              <p:nvPr/>
            </p:nvSpPr>
            <p:spPr bwMode="auto">
              <a:xfrm>
                <a:off x="763" y="3872"/>
                <a:ext cx="560" cy="315"/>
              </a:xfrm>
              <a:prstGeom prst="diamond">
                <a:avLst/>
              </a:prstGeom>
              <a:noFill/>
              <a:ln w="12700">
                <a:solidFill>
                  <a:srgbClr val="0066FF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000">
                    <a:solidFill>
                      <a:srgbClr val="0066FF"/>
                    </a:solidFill>
                  </a:rPr>
                  <a:t>下属部门</a:t>
                </a:r>
              </a:p>
            </p:txBody>
          </p:sp>
          <p:sp>
            <p:nvSpPr>
              <p:cNvPr id="17425" name="Line 64"/>
              <p:cNvSpPr>
                <a:spLocks noChangeShapeType="1"/>
              </p:cNvSpPr>
              <p:nvPr/>
            </p:nvSpPr>
            <p:spPr bwMode="auto">
              <a:xfrm flipV="1">
                <a:off x="1376" y="4031"/>
                <a:ext cx="168" cy="1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grpSp>
            <p:nvGrpSpPr>
              <p:cNvPr id="17426" name="Group 71"/>
              <p:cNvGrpSpPr/>
              <p:nvPr/>
            </p:nvGrpSpPr>
            <p:grpSpPr bwMode="auto">
              <a:xfrm>
                <a:off x="1541" y="3865"/>
                <a:ext cx="372" cy="364"/>
                <a:chOff x="1591" y="3885"/>
                <a:chExt cx="372" cy="364"/>
              </a:xfrm>
            </p:grpSpPr>
            <p:sp>
              <p:nvSpPr>
                <p:cNvPr id="17432" name="Rectangle 61"/>
                <p:cNvSpPr>
                  <a:spLocks noChangeArrowheads="1"/>
                </p:cNvSpPr>
                <p:nvPr/>
              </p:nvSpPr>
              <p:spPr bwMode="auto">
                <a:xfrm>
                  <a:off x="1599" y="3885"/>
                  <a:ext cx="364" cy="364"/>
                </a:xfrm>
                <a:prstGeom prst="rect">
                  <a:avLst/>
                </a:prstGeom>
                <a:noFill/>
                <a:ln w="19050">
                  <a:solidFill>
                    <a:srgbClr val="0066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kumimoji="0" lang="en-US" altLang="zh-CN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电影厂 </a:t>
                  </a: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 b="0" u="sng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厂名</a:t>
                  </a: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厂长</a:t>
                  </a:r>
                </a:p>
              </p:txBody>
            </p:sp>
            <p:sp>
              <p:nvSpPr>
                <p:cNvPr id="17433" name="Line 65"/>
                <p:cNvSpPr>
                  <a:spLocks noChangeShapeType="1"/>
                </p:cNvSpPr>
                <p:nvPr/>
              </p:nvSpPr>
              <p:spPr bwMode="auto">
                <a:xfrm>
                  <a:off x="1591" y="4018"/>
                  <a:ext cx="369" cy="0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27" name="Group 70"/>
              <p:cNvGrpSpPr/>
              <p:nvPr/>
            </p:nvGrpSpPr>
            <p:grpSpPr bwMode="auto">
              <a:xfrm>
                <a:off x="50" y="3863"/>
                <a:ext cx="424" cy="364"/>
                <a:chOff x="90" y="3883"/>
                <a:chExt cx="424" cy="364"/>
              </a:xfrm>
            </p:grpSpPr>
            <p:sp>
              <p:nvSpPr>
                <p:cNvPr id="17430" name="Rectangle 68"/>
                <p:cNvSpPr>
                  <a:spLocks noChangeArrowheads="1"/>
                </p:cNvSpPr>
                <p:nvPr/>
              </p:nvSpPr>
              <p:spPr bwMode="auto">
                <a:xfrm>
                  <a:off x="90" y="3883"/>
                  <a:ext cx="421" cy="364"/>
                </a:xfrm>
                <a:prstGeom prst="rect">
                  <a:avLst/>
                </a:prstGeom>
                <a:noFill/>
                <a:ln w="19050">
                  <a:solidFill>
                    <a:srgbClr val="0066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kumimoji="0" lang="en-US" altLang="zh-CN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摄制组 </a:t>
                  </a: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</a:t>
                  </a:r>
                  <a:r>
                    <a:rPr kumimoji="0" lang="zh-CN" altLang="en-US" sz="1000" b="0" u="sng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组编号</a:t>
                  </a: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</a:t>
                  </a:r>
                  <a:r>
                    <a:rPr kumimoji="0" lang="zh-CN" altLang="en-US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组长</a:t>
                  </a:r>
                </a:p>
              </p:txBody>
            </p:sp>
            <p:sp>
              <p:nvSpPr>
                <p:cNvPr id="17431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155" y="4006"/>
                  <a:ext cx="359" cy="5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428" name="Line 75"/>
              <p:cNvSpPr>
                <a:spLocks noChangeShapeType="1"/>
              </p:cNvSpPr>
              <p:nvPr/>
            </p:nvSpPr>
            <p:spPr bwMode="auto">
              <a:xfrm flipV="1">
                <a:off x="483" y="4047"/>
                <a:ext cx="244" cy="1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7429" name="Line 76"/>
              <p:cNvSpPr>
                <a:spLocks noChangeShapeType="1"/>
              </p:cNvSpPr>
              <p:nvPr/>
            </p:nvSpPr>
            <p:spPr bwMode="auto">
              <a:xfrm flipV="1">
                <a:off x="483" y="4009"/>
                <a:ext cx="244" cy="1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164138" y="3417888"/>
            <a:ext cx="2647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3366FF"/>
                </a:solidFill>
              </a:rPr>
              <a:t>关系模式：</a:t>
            </a:r>
            <a:endParaRPr kumimoji="0" lang="en-US" altLang="zh-CN" sz="1600">
              <a:solidFill>
                <a:srgbClr val="3366FF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3366FF"/>
                </a:solidFill>
              </a:rPr>
              <a:t>摄制组</a:t>
            </a:r>
            <a:r>
              <a:rPr kumimoji="0" lang="en-US" altLang="zh-CN" sz="1600">
                <a:solidFill>
                  <a:srgbClr val="3366FF"/>
                </a:solidFill>
              </a:rPr>
              <a:t>(</a:t>
            </a:r>
            <a:r>
              <a:rPr kumimoji="0" lang="zh-CN" altLang="en-US" sz="1600">
                <a:solidFill>
                  <a:srgbClr val="3366FF"/>
                </a:solidFill>
              </a:rPr>
              <a:t>厂名</a:t>
            </a:r>
            <a:r>
              <a:rPr kumimoji="0" lang="en-US" altLang="zh-CN" sz="1600">
                <a:solidFill>
                  <a:srgbClr val="3366FF"/>
                </a:solidFill>
              </a:rPr>
              <a:t>,</a:t>
            </a:r>
            <a:r>
              <a:rPr kumimoji="0" lang="zh-CN" altLang="en-US" sz="1600">
                <a:solidFill>
                  <a:srgbClr val="3366FF"/>
                </a:solidFill>
              </a:rPr>
              <a:t>组编号</a:t>
            </a:r>
            <a:r>
              <a:rPr kumimoji="0" lang="en-US" altLang="zh-CN" sz="1600">
                <a:solidFill>
                  <a:srgbClr val="3366FF"/>
                </a:solidFill>
              </a:rPr>
              <a:t>,</a:t>
            </a:r>
            <a:r>
              <a:rPr kumimoji="0" lang="zh-CN" altLang="en-US" sz="1600">
                <a:solidFill>
                  <a:srgbClr val="3366FF"/>
                </a:solidFill>
              </a:rPr>
              <a:t>组长</a:t>
            </a:r>
            <a:r>
              <a:rPr kumimoji="0" lang="en-US" altLang="zh-CN" sz="1600">
                <a:solidFill>
                  <a:srgbClr val="3366FF"/>
                </a:solidFill>
              </a:rPr>
              <a:t>)</a:t>
            </a:r>
            <a:endParaRPr kumimoji="0" lang="zh-CN" altLang="en-US" sz="1600">
              <a:solidFill>
                <a:srgbClr val="3366FF"/>
              </a:solidFill>
              <a:latin typeface="Tahoma" panose="020B0604030504040204" pitchFamily="34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5189538" y="4316413"/>
            <a:ext cx="37893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3366FF"/>
                </a:solidFill>
              </a:rPr>
              <a:t>关系模式“摄制组”的</a:t>
            </a:r>
            <a:r>
              <a:rPr kumimoji="0" lang="en-US" altLang="zh-CN" sz="1600">
                <a:solidFill>
                  <a:srgbClr val="3366FF"/>
                </a:solidFill>
              </a:rPr>
              <a:t>n</a:t>
            </a:r>
            <a:r>
              <a:rPr kumimoji="0" lang="zh-CN" altLang="en-US" sz="1600">
                <a:solidFill>
                  <a:srgbClr val="3366FF"/>
                </a:solidFill>
              </a:rPr>
              <a:t>个记录如何存放</a:t>
            </a:r>
            <a:endParaRPr kumimoji="0" lang="zh-CN" altLang="en-US" sz="1600">
              <a:solidFill>
                <a:srgbClr val="3366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  <p:bldP spid="16" grpId="0" animBg="1"/>
      <p:bldP spid="13" grpId="0"/>
      <p:bldP spid="3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10EA5E-09E9-420E-94B4-5295B871F668}" type="slidenum">
              <a:rPr kumimoji="0" lang="zh-CN" altLang="en-US" sz="1400"/>
              <a:t>5</a:t>
            </a:fld>
            <a:endParaRPr kumimoji="0" lang="en-US" altLang="zh-CN" sz="1400"/>
          </a:p>
        </p:txBody>
      </p:sp>
      <p:grpSp>
        <p:nvGrpSpPr>
          <p:cNvPr id="18434" name="Group 4"/>
          <p:cNvGrpSpPr/>
          <p:nvPr/>
        </p:nvGrpSpPr>
        <p:grpSpPr bwMode="auto">
          <a:xfrm>
            <a:off x="107950" y="720725"/>
            <a:ext cx="7453313" cy="5999163"/>
            <a:chOff x="113" y="459"/>
            <a:chExt cx="4695" cy="3779"/>
          </a:xfrm>
        </p:grpSpPr>
        <p:sp>
          <p:nvSpPr>
            <p:cNvPr id="18444" name="Rectangle 5"/>
            <p:cNvSpPr>
              <a:spLocks noChangeArrowheads="1"/>
            </p:cNvSpPr>
            <p:nvPr/>
          </p:nvSpPr>
          <p:spPr bwMode="auto">
            <a:xfrm>
              <a:off x="3210" y="2931"/>
              <a:ext cx="56" cy="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600" b="0">
                <a:solidFill>
                  <a:schemeClr val="accent1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459"/>
              <a:ext cx="4695" cy="3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6" name="Rectangle 7"/>
            <p:cNvSpPr>
              <a:spLocks noChangeArrowheads="1"/>
            </p:cNvSpPr>
            <p:nvPr/>
          </p:nvSpPr>
          <p:spPr bwMode="auto">
            <a:xfrm>
              <a:off x="2925" y="504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部门</a:t>
              </a:r>
            </a:p>
          </p:txBody>
        </p:sp>
        <p:sp>
          <p:nvSpPr>
            <p:cNvPr id="18447" name="Rectangle 8"/>
            <p:cNvSpPr>
              <a:spLocks noChangeArrowheads="1"/>
            </p:cNvSpPr>
            <p:nvPr/>
          </p:nvSpPr>
          <p:spPr bwMode="auto">
            <a:xfrm>
              <a:off x="1032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</a:t>
              </a:r>
            </a:p>
          </p:txBody>
        </p:sp>
        <p:sp>
          <p:nvSpPr>
            <p:cNvPr id="18448" name="Rectangle 9"/>
            <p:cNvSpPr>
              <a:spLocks noChangeArrowheads="1"/>
            </p:cNvSpPr>
            <p:nvPr/>
          </p:nvSpPr>
          <p:spPr bwMode="auto">
            <a:xfrm>
              <a:off x="295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课程信息</a:t>
              </a:r>
            </a:p>
          </p:txBody>
        </p:sp>
        <p:sp>
          <p:nvSpPr>
            <p:cNvPr id="18449" name="Rectangle 10"/>
            <p:cNvSpPr>
              <a:spLocks noChangeArrowheads="1"/>
            </p:cNvSpPr>
            <p:nvPr/>
          </p:nvSpPr>
          <p:spPr bwMode="auto">
            <a:xfrm>
              <a:off x="2464" y="263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开课安排</a:t>
              </a:r>
            </a:p>
          </p:txBody>
        </p:sp>
        <p:sp>
          <p:nvSpPr>
            <p:cNvPr id="18450" name="Rectangle 11"/>
            <p:cNvSpPr>
              <a:spLocks noChangeArrowheads="1"/>
            </p:cNvSpPr>
            <p:nvPr/>
          </p:nvSpPr>
          <p:spPr bwMode="auto">
            <a:xfrm>
              <a:off x="2744" y="3723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教室</a:t>
              </a:r>
            </a:p>
          </p:txBody>
        </p:sp>
        <p:sp>
          <p:nvSpPr>
            <p:cNvPr id="18451" name="Rectangle 12"/>
            <p:cNvSpPr>
              <a:spLocks noChangeArrowheads="1"/>
            </p:cNvSpPr>
            <p:nvPr/>
          </p:nvSpPr>
          <p:spPr bwMode="auto">
            <a:xfrm>
              <a:off x="4359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开课时段</a:t>
              </a:r>
            </a:p>
          </p:txBody>
        </p:sp>
        <p:sp>
          <p:nvSpPr>
            <p:cNvPr id="18452" name="Rectangle 13"/>
            <p:cNvSpPr>
              <a:spLocks noChangeArrowheads="1"/>
            </p:cNvSpPr>
            <p:nvPr/>
          </p:nvSpPr>
          <p:spPr bwMode="auto">
            <a:xfrm>
              <a:off x="4105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</a:t>
              </a:r>
            </a:p>
          </p:txBody>
        </p:sp>
        <p:sp>
          <p:nvSpPr>
            <p:cNvPr id="18453" name="Rectangle 14"/>
            <p:cNvSpPr>
              <a:spLocks noChangeArrowheads="1"/>
            </p:cNvSpPr>
            <p:nvPr/>
          </p:nvSpPr>
          <p:spPr bwMode="auto">
            <a:xfrm>
              <a:off x="251" y="79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开课部门</a:t>
              </a:r>
            </a:p>
          </p:txBody>
        </p:sp>
        <p:sp>
          <p:nvSpPr>
            <p:cNvPr id="18454" name="Rectangle 15"/>
            <p:cNvSpPr>
              <a:spLocks noChangeArrowheads="1"/>
            </p:cNvSpPr>
            <p:nvPr/>
          </p:nvSpPr>
          <p:spPr bwMode="auto">
            <a:xfrm>
              <a:off x="1261" y="798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教师所在部门</a:t>
              </a:r>
            </a:p>
          </p:txBody>
        </p:sp>
        <p:sp>
          <p:nvSpPr>
            <p:cNvPr id="18455" name="Rectangle 16"/>
            <p:cNvSpPr>
              <a:spLocks noChangeArrowheads="1"/>
            </p:cNvSpPr>
            <p:nvPr/>
          </p:nvSpPr>
          <p:spPr bwMode="auto">
            <a:xfrm>
              <a:off x="2494" y="1366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指导教师</a:t>
              </a:r>
            </a:p>
          </p:txBody>
        </p:sp>
        <p:sp>
          <p:nvSpPr>
            <p:cNvPr id="18456" name="Rectangle 17"/>
            <p:cNvSpPr>
              <a:spLocks noChangeArrowheads="1"/>
            </p:cNvSpPr>
            <p:nvPr/>
          </p:nvSpPr>
          <p:spPr bwMode="auto">
            <a:xfrm>
              <a:off x="3438" y="775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学生所属部门</a:t>
              </a:r>
            </a:p>
          </p:txBody>
        </p:sp>
        <p:sp>
          <p:nvSpPr>
            <p:cNvPr id="18457" name="Rectangle 18"/>
            <p:cNvSpPr>
              <a:spLocks noChangeArrowheads="1"/>
            </p:cNvSpPr>
            <p:nvPr/>
          </p:nvSpPr>
          <p:spPr bwMode="auto">
            <a:xfrm>
              <a:off x="1451" y="2500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承担教学</a:t>
              </a:r>
            </a:p>
          </p:txBody>
        </p:sp>
        <p:sp>
          <p:nvSpPr>
            <p:cNvPr id="18458" name="Rectangle 19"/>
            <p:cNvSpPr>
              <a:spLocks noChangeArrowheads="1"/>
            </p:cNvSpPr>
            <p:nvPr/>
          </p:nvSpPr>
          <p:spPr bwMode="auto">
            <a:xfrm>
              <a:off x="1446" y="3271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开课内容</a:t>
              </a:r>
            </a:p>
          </p:txBody>
        </p:sp>
        <p:sp>
          <p:nvSpPr>
            <p:cNvPr id="18459" name="Rectangle 20"/>
            <p:cNvSpPr>
              <a:spLocks noChangeArrowheads="1"/>
            </p:cNvSpPr>
            <p:nvPr/>
          </p:nvSpPr>
          <p:spPr bwMode="auto">
            <a:xfrm>
              <a:off x="3464" y="324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开课时间</a:t>
              </a:r>
            </a:p>
          </p:txBody>
        </p:sp>
        <p:sp>
          <p:nvSpPr>
            <p:cNvPr id="18460" name="Rectangle 21"/>
            <p:cNvSpPr>
              <a:spLocks noChangeArrowheads="1"/>
            </p:cNvSpPr>
            <p:nvPr/>
          </p:nvSpPr>
          <p:spPr bwMode="auto">
            <a:xfrm>
              <a:off x="3510" y="2478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课程任务</a:t>
              </a:r>
            </a:p>
          </p:txBody>
        </p:sp>
        <p:sp>
          <p:nvSpPr>
            <p:cNvPr id="18461" name="Rectangle 22"/>
            <p:cNvSpPr>
              <a:spLocks noChangeArrowheads="1"/>
            </p:cNvSpPr>
            <p:nvPr/>
          </p:nvSpPr>
          <p:spPr bwMode="auto">
            <a:xfrm>
              <a:off x="539" y="356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先修课程</a:t>
              </a:r>
            </a:p>
          </p:txBody>
        </p:sp>
        <p:sp>
          <p:nvSpPr>
            <p:cNvPr id="18462" name="Rectangle 23"/>
            <p:cNvSpPr>
              <a:spLocks noChangeArrowheads="1"/>
            </p:cNvSpPr>
            <p:nvPr/>
          </p:nvSpPr>
          <p:spPr bwMode="auto">
            <a:xfrm>
              <a:off x="2948" y="3453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开课地点</a:t>
              </a:r>
            </a:p>
          </p:txBody>
        </p:sp>
      </p:grp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5743575" y="204788"/>
            <a:ext cx="2897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2.1 E-R</a:t>
            </a:r>
            <a:r>
              <a:rPr kumimoji="0" lang="zh-CN" altLang="en-US" sz="20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模型的基本要素</a:t>
            </a:r>
          </a:p>
        </p:txBody>
      </p:sp>
      <p:sp>
        <p:nvSpPr>
          <p:cNvPr id="18436" name="Rectangle 25"/>
          <p:cNvSpPr>
            <a:spLocks noChangeArrowheads="1"/>
          </p:cNvSpPr>
          <p:nvPr/>
        </p:nvSpPr>
        <p:spPr bwMode="auto">
          <a:xfrm>
            <a:off x="455613" y="26988"/>
            <a:ext cx="7772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实体</a:t>
            </a:r>
            <a:r>
              <a:rPr kumimoji="0"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联系模型</a:t>
            </a:r>
            <a:r>
              <a:rPr kumimoji="0"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(E-R</a:t>
            </a:r>
            <a:r>
              <a:rPr kumimoji="0" lang="zh-CN" altLang="en-US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r>
              <a:rPr kumimoji="0"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28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7" name="AutoShape 26"/>
          <p:cNvSpPr>
            <a:spLocks noChangeArrowheads="1"/>
          </p:cNvSpPr>
          <p:nvPr/>
        </p:nvSpPr>
        <p:spPr bwMode="auto">
          <a:xfrm>
            <a:off x="7439025" y="3556000"/>
            <a:ext cx="1577975" cy="1050925"/>
          </a:xfrm>
          <a:prstGeom prst="cloudCallout">
            <a:avLst>
              <a:gd name="adj1" fmla="val 50111"/>
              <a:gd name="adj2" fmla="val 6726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 dirty="0">
                <a:latin typeface="Tahoma" panose="020B0604030504040204" pitchFamily="34" charset="0"/>
              </a:rPr>
              <a:t>E-R</a:t>
            </a:r>
            <a:r>
              <a:rPr kumimoji="0" lang="zh-CN" altLang="en-US" sz="1600" dirty="0">
                <a:latin typeface="Tahoma" panose="020B0604030504040204" pitchFamily="34" charset="0"/>
              </a:rPr>
              <a:t>模型有哪些基本要素</a:t>
            </a:r>
            <a:r>
              <a:rPr kumimoji="0" lang="en-US" altLang="zh-CN" sz="1600" dirty="0">
                <a:latin typeface="Tahoma" panose="020B0604030504040204" pitchFamily="34" charset="0"/>
              </a:rPr>
              <a:t>?</a:t>
            </a:r>
            <a:r>
              <a:rPr kumimoji="0" lang="zh-CN" altLang="en-US" sz="1600" dirty="0">
                <a:solidFill>
                  <a:srgbClr val="428E5B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 dirty="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8438" name="AutoShape 4"/>
          <p:cNvSpPr>
            <a:spLocks noChangeArrowheads="1"/>
          </p:cNvSpPr>
          <p:nvPr/>
        </p:nvSpPr>
        <p:spPr bwMode="auto">
          <a:xfrm>
            <a:off x="6445250" y="889000"/>
            <a:ext cx="2538413" cy="719138"/>
          </a:xfrm>
          <a:prstGeom prst="cloudCallout">
            <a:avLst>
              <a:gd name="adj1" fmla="val 50097"/>
              <a:gd name="adj2" fmla="val 51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>
                <a:latin typeface="Tahoma" panose="020B0604030504040204" pitchFamily="34" charset="0"/>
              </a:rPr>
              <a:t>E-R</a:t>
            </a:r>
            <a:r>
              <a:rPr kumimoji="0" lang="zh-CN" altLang="en-US" sz="1600">
                <a:latin typeface="Tahoma" panose="020B0604030504040204" pitchFamily="34" charset="0"/>
              </a:rPr>
              <a:t>模型与</a:t>
            </a:r>
            <a:r>
              <a:rPr kumimoji="0" lang="en-US" altLang="zh-CN" sz="1600">
                <a:latin typeface="Tahoma" panose="020B0604030504040204" pitchFamily="34" charset="0"/>
              </a:rPr>
              <a:t>E-R</a:t>
            </a:r>
            <a:r>
              <a:rPr kumimoji="0" lang="zh-CN" altLang="en-US" sz="1600">
                <a:latin typeface="Tahoma" panose="020B0604030504040204" pitchFamily="34" charset="0"/>
              </a:rPr>
              <a:t>图有何区别？</a:t>
            </a:r>
          </a:p>
        </p:txBody>
      </p:sp>
      <p:sp>
        <p:nvSpPr>
          <p:cNvPr id="476190" name="Rectangle 30"/>
          <p:cNvSpPr>
            <a:spLocks noChangeArrowheads="1"/>
          </p:cNvSpPr>
          <p:nvPr/>
        </p:nvSpPr>
        <p:spPr bwMode="auto">
          <a:xfrm>
            <a:off x="6956425" y="1890713"/>
            <a:ext cx="2112963" cy="646112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模型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是一种描述方法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图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采用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模型方法，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对一具体应用的描述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结果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476191" name="Rectangle 31"/>
          <p:cNvSpPr>
            <a:spLocks noChangeArrowheads="1"/>
          </p:cNvSpPr>
          <p:nvPr/>
        </p:nvSpPr>
        <p:spPr bwMode="auto">
          <a:xfrm>
            <a:off x="4881563" y="5772150"/>
            <a:ext cx="4230687" cy="646113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模型的三个最基本的要素：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实体集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&amp;</a:t>
            </a: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属性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矩形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描述数据对象及特征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内部结构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联系集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菱形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&amp;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连线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描述数据对像间联系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外部结构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。</a:t>
            </a:r>
            <a:endParaRPr kumimoji="0" lang="en-US" altLang="zh-CN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476200" name="AutoShape 4"/>
          <p:cNvSpPr>
            <a:spLocks noChangeArrowheads="1"/>
          </p:cNvSpPr>
          <p:nvPr/>
        </p:nvSpPr>
        <p:spPr bwMode="auto">
          <a:xfrm>
            <a:off x="1765300" y="5476875"/>
            <a:ext cx="1917700" cy="879475"/>
          </a:xfrm>
          <a:prstGeom prst="cloudCallout">
            <a:avLst>
              <a:gd name="adj1" fmla="val -57287"/>
              <a:gd name="adj2" fmla="val 6420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Tahoma" panose="020B0604030504040204" pitchFamily="34" charset="0"/>
              </a:rPr>
              <a:t>实体集也有超码</a:t>
            </a:r>
            <a:r>
              <a:rPr kumimoji="0" lang="en-US" altLang="zh-CN" sz="1400">
                <a:latin typeface="Tahoma" panose="020B0604030504040204" pitchFamily="34" charset="0"/>
              </a:rPr>
              <a:t>,</a:t>
            </a:r>
            <a:r>
              <a:rPr kumimoji="0" lang="zh-CN" altLang="en-US" sz="1400">
                <a:latin typeface="Tahoma" panose="020B0604030504040204" pitchFamily="34" charset="0"/>
              </a:rPr>
              <a:t>候选码</a:t>
            </a:r>
            <a:r>
              <a:rPr kumimoji="0" lang="en-US" altLang="zh-CN" sz="1400">
                <a:latin typeface="Tahoma" panose="020B0604030504040204" pitchFamily="34" charset="0"/>
              </a:rPr>
              <a:t>,</a:t>
            </a:r>
            <a:r>
              <a:rPr kumimoji="0" lang="zh-CN" altLang="en-US" sz="1400">
                <a:latin typeface="Tahoma" panose="020B0604030504040204" pitchFamily="34" charset="0"/>
              </a:rPr>
              <a:t>主码吗？</a:t>
            </a:r>
          </a:p>
        </p:txBody>
      </p:sp>
      <p:sp>
        <p:nvSpPr>
          <p:cNvPr id="476201" name="Rectangle 41"/>
          <p:cNvSpPr>
            <a:spLocks noChangeArrowheads="1"/>
          </p:cNvSpPr>
          <p:nvPr/>
        </p:nvSpPr>
        <p:spPr bwMode="auto">
          <a:xfrm>
            <a:off x="36513" y="5999163"/>
            <a:ext cx="1447800" cy="430212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有，定义与作用都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与关系模式类似！</a:t>
            </a:r>
          </a:p>
        </p:txBody>
      </p:sp>
      <p:sp>
        <p:nvSpPr>
          <p:cNvPr id="18445" name="矩形 32"/>
          <p:cNvSpPr>
            <a:spLocks noChangeArrowheads="1"/>
          </p:cNvSpPr>
          <p:nvPr/>
        </p:nvSpPr>
        <p:spPr bwMode="auto">
          <a:xfrm>
            <a:off x="55563" y="2219325"/>
            <a:ext cx="1314450" cy="5969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"/>
              </a:spcBef>
              <a:tabLst>
                <a:tab pos="3195320" algn="ctr"/>
              </a:tabLs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案例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2:</a:t>
            </a:r>
          </a:p>
          <a:p>
            <a:pPr algn="ctr">
              <a:spcBef>
                <a:spcPct val="5000"/>
              </a:spcBef>
              <a:tabLst>
                <a:tab pos="3195320" algn="ctr"/>
              </a:tabLs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大学的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E-R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animBg="1"/>
      <p:bldP spid="476190" grpId="0" animBg="1"/>
      <p:bldP spid="476191" grpId="0" animBg="1"/>
      <p:bldP spid="476200" grpId="0" animBg="1"/>
      <p:bldP spid="47620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64E1F4-C4D7-4FAB-866E-B0FDDB06BC6D}" type="slidenum">
              <a:rPr kumimoji="0" lang="zh-CN" altLang="en-US" sz="1400"/>
              <a:t>6</a:t>
            </a:fld>
            <a:endParaRPr kumimoji="0" lang="en-US" altLang="zh-CN" sz="1400"/>
          </a:p>
        </p:txBody>
      </p:sp>
      <p:grpSp>
        <p:nvGrpSpPr>
          <p:cNvPr id="20482" name="Group 2"/>
          <p:cNvGrpSpPr/>
          <p:nvPr/>
        </p:nvGrpSpPr>
        <p:grpSpPr bwMode="auto">
          <a:xfrm>
            <a:off x="107950" y="720725"/>
            <a:ext cx="7453313" cy="5999163"/>
            <a:chOff x="113" y="459"/>
            <a:chExt cx="4695" cy="3779"/>
          </a:xfrm>
        </p:grpSpPr>
        <p:sp>
          <p:nvSpPr>
            <p:cNvPr id="20504" name="Rectangle 5"/>
            <p:cNvSpPr>
              <a:spLocks noChangeArrowheads="1"/>
            </p:cNvSpPr>
            <p:nvPr/>
          </p:nvSpPr>
          <p:spPr bwMode="auto">
            <a:xfrm>
              <a:off x="3210" y="2931"/>
              <a:ext cx="56" cy="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600" b="0">
                <a:solidFill>
                  <a:schemeClr val="accent1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20505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459"/>
              <a:ext cx="4695" cy="3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6" name="Rectangle 5"/>
            <p:cNvSpPr>
              <a:spLocks noChangeArrowheads="1"/>
            </p:cNvSpPr>
            <p:nvPr/>
          </p:nvSpPr>
          <p:spPr bwMode="auto">
            <a:xfrm>
              <a:off x="2925" y="504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部门</a:t>
              </a:r>
            </a:p>
          </p:txBody>
        </p:sp>
        <p:sp>
          <p:nvSpPr>
            <p:cNvPr id="20507" name="Rectangle 6"/>
            <p:cNvSpPr>
              <a:spLocks noChangeArrowheads="1"/>
            </p:cNvSpPr>
            <p:nvPr/>
          </p:nvSpPr>
          <p:spPr bwMode="auto">
            <a:xfrm>
              <a:off x="1032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</a:t>
              </a:r>
            </a:p>
          </p:txBody>
        </p:sp>
        <p:sp>
          <p:nvSpPr>
            <p:cNvPr id="20508" name="Rectangle 7"/>
            <p:cNvSpPr>
              <a:spLocks noChangeArrowheads="1"/>
            </p:cNvSpPr>
            <p:nvPr/>
          </p:nvSpPr>
          <p:spPr bwMode="auto">
            <a:xfrm>
              <a:off x="295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课程信息</a:t>
              </a:r>
            </a:p>
          </p:txBody>
        </p:sp>
        <p:sp>
          <p:nvSpPr>
            <p:cNvPr id="20509" name="Rectangle 8"/>
            <p:cNvSpPr>
              <a:spLocks noChangeArrowheads="1"/>
            </p:cNvSpPr>
            <p:nvPr/>
          </p:nvSpPr>
          <p:spPr bwMode="auto">
            <a:xfrm>
              <a:off x="2464" y="263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开课安排</a:t>
              </a:r>
            </a:p>
          </p:txBody>
        </p:sp>
        <p:sp>
          <p:nvSpPr>
            <p:cNvPr id="20510" name="Rectangle 9"/>
            <p:cNvSpPr>
              <a:spLocks noChangeArrowheads="1"/>
            </p:cNvSpPr>
            <p:nvPr/>
          </p:nvSpPr>
          <p:spPr bwMode="auto">
            <a:xfrm>
              <a:off x="2744" y="3723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教室</a:t>
              </a:r>
            </a:p>
          </p:txBody>
        </p:sp>
        <p:sp>
          <p:nvSpPr>
            <p:cNvPr id="20511" name="Rectangle 10"/>
            <p:cNvSpPr>
              <a:spLocks noChangeArrowheads="1"/>
            </p:cNvSpPr>
            <p:nvPr/>
          </p:nvSpPr>
          <p:spPr bwMode="auto">
            <a:xfrm>
              <a:off x="4359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开课时段</a:t>
              </a:r>
            </a:p>
          </p:txBody>
        </p:sp>
        <p:sp>
          <p:nvSpPr>
            <p:cNvPr id="20512" name="Rectangle 11"/>
            <p:cNvSpPr>
              <a:spLocks noChangeArrowheads="1"/>
            </p:cNvSpPr>
            <p:nvPr/>
          </p:nvSpPr>
          <p:spPr bwMode="auto">
            <a:xfrm>
              <a:off x="4105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</a:t>
              </a:r>
            </a:p>
          </p:txBody>
        </p:sp>
        <p:sp>
          <p:nvSpPr>
            <p:cNvPr id="20513" name="Rectangle 12"/>
            <p:cNvSpPr>
              <a:spLocks noChangeArrowheads="1"/>
            </p:cNvSpPr>
            <p:nvPr/>
          </p:nvSpPr>
          <p:spPr bwMode="auto">
            <a:xfrm>
              <a:off x="251" y="79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开课部门</a:t>
              </a:r>
            </a:p>
          </p:txBody>
        </p:sp>
        <p:sp>
          <p:nvSpPr>
            <p:cNvPr id="20514" name="Rectangle 13"/>
            <p:cNvSpPr>
              <a:spLocks noChangeArrowheads="1"/>
            </p:cNvSpPr>
            <p:nvPr/>
          </p:nvSpPr>
          <p:spPr bwMode="auto">
            <a:xfrm>
              <a:off x="1261" y="798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教师所在部门</a:t>
              </a:r>
            </a:p>
          </p:txBody>
        </p:sp>
        <p:sp>
          <p:nvSpPr>
            <p:cNvPr id="20515" name="Rectangle 14"/>
            <p:cNvSpPr>
              <a:spLocks noChangeArrowheads="1"/>
            </p:cNvSpPr>
            <p:nvPr/>
          </p:nvSpPr>
          <p:spPr bwMode="auto">
            <a:xfrm>
              <a:off x="2494" y="1366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指导教师</a:t>
              </a:r>
            </a:p>
          </p:txBody>
        </p:sp>
        <p:sp>
          <p:nvSpPr>
            <p:cNvPr id="20516" name="Rectangle 15"/>
            <p:cNvSpPr>
              <a:spLocks noChangeArrowheads="1"/>
            </p:cNvSpPr>
            <p:nvPr/>
          </p:nvSpPr>
          <p:spPr bwMode="auto">
            <a:xfrm>
              <a:off x="3438" y="775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学生所属部门</a:t>
              </a:r>
            </a:p>
          </p:txBody>
        </p:sp>
        <p:sp>
          <p:nvSpPr>
            <p:cNvPr id="20517" name="Rectangle 16"/>
            <p:cNvSpPr>
              <a:spLocks noChangeArrowheads="1"/>
            </p:cNvSpPr>
            <p:nvPr/>
          </p:nvSpPr>
          <p:spPr bwMode="auto">
            <a:xfrm>
              <a:off x="1451" y="2500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承担教学</a:t>
              </a:r>
            </a:p>
          </p:txBody>
        </p:sp>
        <p:sp>
          <p:nvSpPr>
            <p:cNvPr id="20518" name="Rectangle 17"/>
            <p:cNvSpPr>
              <a:spLocks noChangeArrowheads="1"/>
            </p:cNvSpPr>
            <p:nvPr/>
          </p:nvSpPr>
          <p:spPr bwMode="auto">
            <a:xfrm>
              <a:off x="1446" y="3271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开课内容</a:t>
              </a:r>
            </a:p>
          </p:txBody>
        </p:sp>
        <p:sp>
          <p:nvSpPr>
            <p:cNvPr id="20519" name="Rectangle 18"/>
            <p:cNvSpPr>
              <a:spLocks noChangeArrowheads="1"/>
            </p:cNvSpPr>
            <p:nvPr/>
          </p:nvSpPr>
          <p:spPr bwMode="auto">
            <a:xfrm>
              <a:off x="3464" y="324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开课时间</a:t>
              </a:r>
            </a:p>
          </p:txBody>
        </p:sp>
        <p:sp>
          <p:nvSpPr>
            <p:cNvPr id="20520" name="Rectangle 19"/>
            <p:cNvSpPr>
              <a:spLocks noChangeArrowheads="1"/>
            </p:cNvSpPr>
            <p:nvPr/>
          </p:nvSpPr>
          <p:spPr bwMode="auto">
            <a:xfrm>
              <a:off x="3510" y="2478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课程任务</a:t>
              </a:r>
            </a:p>
          </p:txBody>
        </p:sp>
        <p:sp>
          <p:nvSpPr>
            <p:cNvPr id="20521" name="Rectangle 20"/>
            <p:cNvSpPr>
              <a:spLocks noChangeArrowheads="1"/>
            </p:cNvSpPr>
            <p:nvPr/>
          </p:nvSpPr>
          <p:spPr bwMode="auto">
            <a:xfrm>
              <a:off x="539" y="356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先修课程</a:t>
              </a:r>
            </a:p>
          </p:txBody>
        </p:sp>
        <p:sp>
          <p:nvSpPr>
            <p:cNvPr id="20522" name="Rectangle 21"/>
            <p:cNvSpPr>
              <a:spLocks noChangeArrowheads="1"/>
            </p:cNvSpPr>
            <p:nvPr/>
          </p:nvSpPr>
          <p:spPr bwMode="auto">
            <a:xfrm>
              <a:off x="2948" y="3453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开课地点</a:t>
              </a:r>
            </a:p>
          </p:txBody>
        </p:sp>
      </p:grpSp>
      <p:sp>
        <p:nvSpPr>
          <p:cNvPr id="20483" name="Rectangle 22"/>
          <p:cNvSpPr>
            <a:spLocks noChangeArrowheads="1"/>
          </p:cNvSpPr>
          <p:nvPr/>
        </p:nvSpPr>
        <p:spPr bwMode="auto">
          <a:xfrm>
            <a:off x="303213" y="166688"/>
            <a:ext cx="444341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latin typeface="Tahoma" panose="020B0604030504040204" pitchFamily="34" charset="0"/>
              </a:rPr>
              <a:t> 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实体集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联系集 </a:t>
            </a:r>
          </a:p>
        </p:txBody>
      </p:sp>
      <p:sp>
        <p:nvSpPr>
          <p:cNvPr id="20484" name="Rectangle 23"/>
          <p:cNvSpPr>
            <a:spLocks noChangeArrowheads="1"/>
          </p:cNvSpPr>
          <p:nvPr/>
        </p:nvSpPr>
        <p:spPr bwMode="auto">
          <a:xfrm>
            <a:off x="1344613" y="47625"/>
            <a:ext cx="77724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实体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联系模型</a:t>
            </a:r>
          </a:p>
        </p:txBody>
      </p:sp>
      <p:sp>
        <p:nvSpPr>
          <p:cNvPr id="479261" name="AutoShape 4"/>
          <p:cNvSpPr>
            <a:spLocks noChangeArrowheads="1"/>
          </p:cNvSpPr>
          <p:nvPr/>
        </p:nvSpPr>
        <p:spPr bwMode="auto">
          <a:xfrm>
            <a:off x="6381750" y="5508625"/>
            <a:ext cx="2347913" cy="965200"/>
          </a:xfrm>
          <a:prstGeom prst="cloudCallout">
            <a:avLst>
              <a:gd name="adj1" fmla="val 54981"/>
              <a:gd name="adj2" fmla="val 4802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联系集上也可以有属性，表示何意？</a:t>
            </a:r>
          </a:p>
        </p:txBody>
      </p:sp>
      <p:sp>
        <p:nvSpPr>
          <p:cNvPr id="479262" name="AutoShape 30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63000" y="6613525"/>
            <a:ext cx="223838" cy="171450"/>
          </a:xfrm>
          <a:prstGeom prst="actionButtonForwardNext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20487" name="Rectangle 31"/>
          <p:cNvSpPr>
            <a:spLocks noChangeArrowheads="1"/>
          </p:cNvSpPr>
          <p:nvPr/>
        </p:nvSpPr>
        <p:spPr bwMode="auto">
          <a:xfrm>
            <a:off x="7191375" y="2619375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000" b="0">
                <a:latin typeface="Tahoma" panose="020B0604030504040204" pitchFamily="34" charset="0"/>
              </a:rPr>
              <a:t>(</a:t>
            </a:r>
            <a:r>
              <a:rPr kumimoji="0" lang="zh-CN" altLang="en-US" sz="2000" b="0">
                <a:latin typeface="Tahoma" panose="020B0604030504040204" pitchFamily="34" charset="0"/>
                <a:hlinkClick r:id="rId5" action="ppaction://hlinksldjump"/>
              </a:rPr>
              <a:t>示例及分析</a:t>
            </a:r>
            <a:r>
              <a:rPr kumimoji="0" lang="en-US" altLang="zh-CN" sz="2000" b="0">
                <a:latin typeface="Tahoma" panose="020B0604030504040204" pitchFamily="34" charset="0"/>
              </a:rPr>
              <a:t>)</a:t>
            </a:r>
            <a:endParaRPr kumimoji="0" lang="zh-CN" altLang="en-US" sz="2000" b="0">
              <a:latin typeface="Tahoma" panose="020B0604030504040204" pitchFamily="34" charset="0"/>
            </a:endParaRPr>
          </a:p>
        </p:txBody>
      </p:sp>
      <p:sp>
        <p:nvSpPr>
          <p:cNvPr id="20488" name="AutoShape 4"/>
          <p:cNvSpPr>
            <a:spLocks noChangeArrowheads="1"/>
          </p:cNvSpPr>
          <p:nvPr/>
        </p:nvSpPr>
        <p:spPr bwMode="auto">
          <a:xfrm>
            <a:off x="7000875" y="1127125"/>
            <a:ext cx="1943100" cy="1089025"/>
          </a:xfrm>
          <a:prstGeom prst="cloudCallout">
            <a:avLst>
              <a:gd name="adj1" fmla="val 54116"/>
              <a:gd name="adj2" fmla="val 7974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实体集</a:t>
            </a:r>
            <a:r>
              <a:rPr kumimoji="0" lang="en-US" altLang="zh-CN" sz="1600">
                <a:latin typeface="Tahoma" panose="020B0604030504040204" pitchFamily="34" charset="0"/>
              </a:rPr>
              <a:t>&amp;</a:t>
            </a:r>
            <a:r>
              <a:rPr kumimoji="0" lang="zh-CN" altLang="en-US" sz="1600">
                <a:latin typeface="Tahoma" panose="020B0604030504040204" pitchFamily="34" charset="0"/>
              </a:rPr>
              <a:t>联系集分别指什么？</a:t>
            </a:r>
          </a:p>
        </p:txBody>
      </p:sp>
      <p:grpSp>
        <p:nvGrpSpPr>
          <p:cNvPr id="3" name="Group 36"/>
          <p:cNvGrpSpPr/>
          <p:nvPr/>
        </p:nvGrpSpPr>
        <p:grpSpPr bwMode="auto">
          <a:xfrm>
            <a:off x="7407275" y="3824288"/>
            <a:ext cx="1655763" cy="982662"/>
            <a:chOff x="4666" y="2409"/>
            <a:chExt cx="1043" cy="619"/>
          </a:xfrm>
        </p:grpSpPr>
        <p:sp>
          <p:nvSpPr>
            <p:cNvPr id="20502" name="Line 33"/>
            <p:cNvSpPr>
              <a:spLocks noChangeShapeType="1"/>
            </p:cNvSpPr>
            <p:nvPr/>
          </p:nvSpPr>
          <p:spPr bwMode="auto">
            <a:xfrm flipH="1" flipV="1">
              <a:off x="4666" y="2409"/>
              <a:ext cx="206" cy="12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0503" name="Rectangle 34"/>
            <p:cNvSpPr>
              <a:spLocks noChangeArrowheads="1"/>
            </p:cNvSpPr>
            <p:nvPr/>
          </p:nvSpPr>
          <p:spPr bwMode="auto">
            <a:xfrm>
              <a:off x="4804" y="2563"/>
              <a:ext cx="905" cy="465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可以带属性！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chemeClr val="tx2"/>
                  </a:solidFill>
                  <a:latin typeface="Tahoma" panose="020B0604030504040204" pitchFamily="34" charset="0"/>
                </a:rPr>
                <a:t>表示联系的特征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chemeClr val="tx2"/>
                  </a:solidFill>
                  <a:latin typeface="Tahoma" panose="020B0604030504040204" pitchFamily="34" charset="0"/>
                </a:rPr>
                <a:t>（与联系相关）</a:t>
              </a:r>
              <a:endPara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组 4"/>
          <p:cNvGrpSpPr/>
          <p:nvPr/>
        </p:nvGrpSpPr>
        <p:grpSpPr bwMode="auto">
          <a:xfrm>
            <a:off x="293688" y="2967038"/>
            <a:ext cx="4700587" cy="3543300"/>
            <a:chOff x="293688" y="2967038"/>
            <a:chExt cx="4700587" cy="3542686"/>
          </a:xfrm>
        </p:grpSpPr>
        <p:grpSp>
          <p:nvGrpSpPr>
            <p:cNvPr id="20492" name="Group 47"/>
            <p:cNvGrpSpPr/>
            <p:nvPr/>
          </p:nvGrpSpPr>
          <p:grpSpPr bwMode="auto">
            <a:xfrm>
              <a:off x="293688" y="2967038"/>
              <a:ext cx="4700587" cy="3128962"/>
              <a:chOff x="185" y="1869"/>
              <a:chExt cx="2961" cy="1971"/>
            </a:xfrm>
          </p:grpSpPr>
          <p:grpSp>
            <p:nvGrpSpPr>
              <p:cNvPr id="20494" name="Group 45"/>
              <p:cNvGrpSpPr/>
              <p:nvPr/>
            </p:nvGrpSpPr>
            <p:grpSpPr bwMode="auto">
              <a:xfrm>
                <a:off x="2293" y="1869"/>
                <a:ext cx="527" cy="517"/>
                <a:chOff x="2293" y="1869"/>
                <a:chExt cx="527" cy="517"/>
              </a:xfrm>
            </p:grpSpPr>
            <p:grpSp>
              <p:nvGrpSpPr>
                <p:cNvPr id="20498" name="Group 38"/>
                <p:cNvGrpSpPr/>
                <p:nvPr/>
              </p:nvGrpSpPr>
              <p:grpSpPr bwMode="auto">
                <a:xfrm>
                  <a:off x="2466" y="1869"/>
                  <a:ext cx="354" cy="310"/>
                  <a:chOff x="2466" y="1869"/>
                  <a:chExt cx="354" cy="310"/>
                </a:xfrm>
              </p:grpSpPr>
              <p:sp>
                <p:nvSpPr>
                  <p:cNvPr id="20500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2466" y="2058"/>
                    <a:ext cx="354" cy="121"/>
                  </a:xfrm>
                  <a:prstGeom prst="rect">
                    <a:avLst/>
                  </a:prstGeom>
                  <a:noFill/>
                  <a:ln w="9525">
                    <a:solidFill>
                      <a:srgbClr val="0066FF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•"/>
                      <a:defRPr kumimoji="1" sz="28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1200" b="0" i="1">
                        <a:solidFill>
                          <a:srgbClr val="0066FF"/>
                        </a:solidFill>
                        <a:latin typeface="Tahoma" panose="020B0604030504040204" pitchFamily="34" charset="0"/>
                      </a:rPr>
                      <a:t>  Date   </a:t>
                    </a:r>
                    <a:endParaRPr kumimoji="0" lang="zh-CN" altLang="en-US" sz="1200" b="0" i="1">
                      <a:solidFill>
                        <a:srgbClr val="0066FF"/>
                      </a:solidFill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20501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657" y="1869"/>
                    <a:ext cx="0" cy="180"/>
                  </a:xfrm>
                  <a:prstGeom prst="line">
                    <a:avLst/>
                  </a:prstGeom>
                  <a:noFill/>
                  <a:ln w="9525">
                    <a:solidFill>
                      <a:srgbClr val="0066FF"/>
                    </a:solidFill>
                    <a:prstDash val="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0499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293" y="2255"/>
                  <a:ext cx="196" cy="131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495" name="Group 46"/>
              <p:cNvGrpSpPr/>
              <p:nvPr/>
            </p:nvGrpSpPr>
            <p:grpSpPr bwMode="auto">
              <a:xfrm>
                <a:off x="185" y="2436"/>
                <a:ext cx="2961" cy="1404"/>
                <a:chOff x="185" y="2436"/>
                <a:chExt cx="2961" cy="1404"/>
              </a:xfrm>
            </p:grpSpPr>
            <p:pic>
              <p:nvPicPr>
                <p:cNvPr id="20496" name="Picture 6"/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5" y="2436"/>
                  <a:ext cx="2961" cy="14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497" name="Rectangle 44"/>
                <p:cNvSpPr>
                  <a:spLocks noChangeArrowheads="1"/>
                </p:cNvSpPr>
                <p:nvPr/>
              </p:nvSpPr>
              <p:spPr bwMode="auto">
                <a:xfrm>
                  <a:off x="1171" y="3693"/>
                  <a:ext cx="928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  <a:sym typeface="Symbol" panose="05050102010706020507" pitchFamily="18" charset="2"/>
                    </a:rPr>
                    <a:t>带属性</a:t>
                  </a:r>
                  <a:r>
                    <a:rPr kumimoji="0" lang="en-US" altLang="zh-CN" sz="1200">
                      <a:solidFill>
                        <a:srgbClr val="0066FF"/>
                      </a:solidFill>
                      <a:latin typeface="Tahoma" panose="020B0604030504040204" pitchFamily="34" charset="0"/>
                      <a:sym typeface="Symbol" panose="05050102010706020507" pitchFamily="18" charset="2"/>
                    </a:rPr>
                    <a:t>advisor</a:t>
                  </a: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  <a:sym typeface="Symbol" panose="05050102010706020507" pitchFamily="18" charset="2"/>
                    </a:rPr>
                    <a:t>的实例</a:t>
                  </a:r>
                </a:p>
              </p:txBody>
            </p:sp>
          </p:grpSp>
        </p:grpSp>
        <p:sp>
          <p:nvSpPr>
            <p:cNvPr id="20493" name="矩形 41"/>
            <p:cNvSpPr>
              <a:spLocks noChangeArrowheads="1"/>
            </p:cNvSpPr>
            <p:nvPr/>
          </p:nvSpPr>
          <p:spPr bwMode="auto">
            <a:xfrm>
              <a:off x="1958107" y="6140450"/>
              <a:ext cx="941283" cy="369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"/>
                </a:spcBef>
                <a:buFontTx/>
                <a:buNone/>
              </a:pPr>
              <a:r>
                <a:rPr kumimoji="0" lang="zh-CN" altLang="en-US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案例</a:t>
              </a:r>
              <a:r>
                <a:rPr kumimoji="0" lang="en-US" altLang="zh-CN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3.c</a:t>
              </a:r>
            </a:p>
          </p:txBody>
        </p:sp>
      </p:grpSp>
      <p:sp>
        <p:nvSpPr>
          <p:cNvPr id="20491" name="矩形 1"/>
          <p:cNvSpPr>
            <a:spLocks noChangeArrowheads="1"/>
          </p:cNvSpPr>
          <p:nvPr/>
        </p:nvSpPr>
        <p:spPr bwMode="auto">
          <a:xfrm>
            <a:off x="-47625" y="2019300"/>
            <a:ext cx="157162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2</a:t>
            </a:r>
            <a:r>
              <a:rPr kumimoji="0" lang="en-US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:</a:t>
            </a:r>
          </a:p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大学的</a:t>
            </a:r>
            <a:r>
              <a:rPr kumimoji="0" lang="en-US" altLang="zh-CN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0" lang="zh-CN" altLang="en-US" sz="16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61" grpId="0" animBg="1"/>
      <p:bldP spid="4792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21118B-73A6-406E-9C38-D2BC33FF1CFC}" type="slidenum">
              <a:rPr kumimoji="0" lang="zh-CN" altLang="en-US" sz="1400"/>
              <a:t>7</a:t>
            </a:fld>
            <a:endParaRPr kumimoji="0" lang="en-US" altLang="zh-CN" sz="140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0"/>
            <a:ext cx="7772400" cy="617538"/>
          </a:xfrm>
        </p:spPr>
        <p:txBody>
          <a:bodyPr/>
          <a:lstStyle/>
          <a:p>
            <a:pPr algn="r"/>
            <a:r>
              <a:rPr lang="en-US" altLang="zh-CN" sz="2400"/>
              <a:t>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实体集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联系集 </a:t>
            </a:r>
          </a:p>
        </p:txBody>
      </p:sp>
      <p:sp>
        <p:nvSpPr>
          <p:cNvPr id="22531" name="Rectangle 24"/>
          <p:cNvSpPr>
            <a:spLocks noChangeArrowheads="1"/>
          </p:cNvSpPr>
          <p:nvPr/>
        </p:nvSpPr>
        <p:spPr bwMode="auto">
          <a:xfrm>
            <a:off x="230188" y="969963"/>
            <a:ext cx="3195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实体集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联系集的实例</a:t>
            </a:r>
          </a:p>
        </p:txBody>
      </p:sp>
      <p:sp>
        <p:nvSpPr>
          <p:cNvPr id="22532" name="AutoShape 4"/>
          <p:cNvSpPr>
            <a:spLocks noChangeArrowheads="1"/>
          </p:cNvSpPr>
          <p:nvPr/>
        </p:nvSpPr>
        <p:spPr bwMode="auto">
          <a:xfrm>
            <a:off x="458788" y="1666875"/>
            <a:ext cx="2605087" cy="785813"/>
          </a:xfrm>
          <a:prstGeom prst="cloudCallout">
            <a:avLst>
              <a:gd name="adj1" fmla="val -43935"/>
              <a:gd name="adj2" fmla="val 85375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2A2A39"/>
                </a:solidFill>
              </a:rPr>
              <a:t>＊实体集与实体间的关系？</a:t>
            </a:r>
          </a:p>
        </p:txBody>
      </p:sp>
      <p:pic>
        <p:nvPicPr>
          <p:cNvPr id="2253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917950"/>
            <a:ext cx="5491163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Line 32"/>
          <p:cNvSpPr>
            <a:spLocks noChangeShapeType="1"/>
          </p:cNvSpPr>
          <p:nvPr/>
        </p:nvSpPr>
        <p:spPr bwMode="auto">
          <a:xfrm>
            <a:off x="971550" y="3978275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5" name="Line 33"/>
          <p:cNvSpPr>
            <a:spLocks noChangeShapeType="1"/>
          </p:cNvSpPr>
          <p:nvPr/>
        </p:nvSpPr>
        <p:spPr bwMode="auto">
          <a:xfrm>
            <a:off x="4411663" y="3989388"/>
            <a:ext cx="166687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6" name="Line 34"/>
          <p:cNvSpPr>
            <a:spLocks noChangeShapeType="1"/>
          </p:cNvSpPr>
          <p:nvPr/>
        </p:nvSpPr>
        <p:spPr bwMode="auto">
          <a:xfrm>
            <a:off x="1011238" y="4576763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7" name="Line 35"/>
          <p:cNvSpPr>
            <a:spLocks noChangeShapeType="1"/>
          </p:cNvSpPr>
          <p:nvPr/>
        </p:nvSpPr>
        <p:spPr bwMode="auto">
          <a:xfrm>
            <a:off x="4451350" y="4587875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8" name="Line 36"/>
          <p:cNvSpPr>
            <a:spLocks noChangeShapeType="1"/>
          </p:cNvSpPr>
          <p:nvPr/>
        </p:nvSpPr>
        <p:spPr bwMode="auto">
          <a:xfrm>
            <a:off x="4465638" y="4894263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9" name="Line 37"/>
          <p:cNvSpPr>
            <a:spLocks noChangeShapeType="1"/>
          </p:cNvSpPr>
          <p:nvPr/>
        </p:nvSpPr>
        <p:spPr bwMode="auto">
          <a:xfrm>
            <a:off x="1017588" y="4279900"/>
            <a:ext cx="153987" cy="0"/>
          </a:xfrm>
          <a:prstGeom prst="line">
            <a:avLst/>
          </a:prstGeom>
          <a:noFill/>
          <a:ln w="9525">
            <a:solidFill>
              <a:srgbClr val="1EA884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40" name="Line 38"/>
          <p:cNvSpPr>
            <a:spLocks noChangeShapeType="1"/>
          </p:cNvSpPr>
          <p:nvPr/>
        </p:nvSpPr>
        <p:spPr bwMode="auto">
          <a:xfrm>
            <a:off x="4451350" y="4587875"/>
            <a:ext cx="160338" cy="0"/>
          </a:xfrm>
          <a:prstGeom prst="line">
            <a:avLst/>
          </a:prstGeom>
          <a:noFill/>
          <a:ln w="9525">
            <a:solidFill>
              <a:srgbClr val="1EA884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41" name="Line 39"/>
          <p:cNvSpPr>
            <a:spLocks noChangeShapeType="1"/>
          </p:cNvSpPr>
          <p:nvPr/>
        </p:nvSpPr>
        <p:spPr bwMode="auto">
          <a:xfrm>
            <a:off x="4445000" y="4295775"/>
            <a:ext cx="153988" cy="0"/>
          </a:xfrm>
          <a:prstGeom prst="line">
            <a:avLst/>
          </a:prstGeom>
          <a:noFill/>
          <a:ln w="9525">
            <a:solidFill>
              <a:srgbClr val="1EA884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42" name="AutoShape 4"/>
          <p:cNvSpPr>
            <a:spLocks noChangeArrowheads="1"/>
          </p:cNvSpPr>
          <p:nvPr/>
        </p:nvSpPr>
        <p:spPr bwMode="auto">
          <a:xfrm>
            <a:off x="6270625" y="4413250"/>
            <a:ext cx="2517775" cy="731838"/>
          </a:xfrm>
          <a:prstGeom prst="cloudCallout">
            <a:avLst>
              <a:gd name="adj1" fmla="val 57602"/>
              <a:gd name="adj2" fmla="val 68662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2A2A39"/>
                </a:solidFill>
              </a:rPr>
              <a:t>＊联系集与联系间的关系？</a:t>
            </a:r>
          </a:p>
        </p:txBody>
      </p:sp>
      <p:sp>
        <p:nvSpPr>
          <p:cNvPr id="475177" name="Rectangle 41"/>
          <p:cNvSpPr>
            <a:spLocks noChangeArrowheads="1"/>
          </p:cNvSpPr>
          <p:nvPr/>
        </p:nvSpPr>
        <p:spPr bwMode="auto">
          <a:xfrm>
            <a:off x="257175" y="2789238"/>
            <a:ext cx="3065463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实体集：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相关类型实体</a:t>
            </a:r>
            <a:r>
              <a:rPr kumimoji="0" lang="en-US" altLang="zh-CN" sz="20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对象</a:t>
            </a:r>
            <a:r>
              <a:rPr kumimoji="0" lang="en-US" altLang="zh-CN" sz="200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的集合</a:t>
            </a:r>
          </a:p>
        </p:txBody>
      </p:sp>
      <p:sp>
        <p:nvSpPr>
          <p:cNvPr id="475178" name="Rectangle 42"/>
          <p:cNvSpPr>
            <a:spLocks noChangeArrowheads="1"/>
          </p:cNvSpPr>
          <p:nvPr/>
        </p:nvSpPr>
        <p:spPr bwMode="auto">
          <a:xfrm>
            <a:off x="6207125" y="5462588"/>
            <a:ext cx="2770188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chemeClr val="tx2"/>
                </a:solidFill>
                <a:latin typeface="Tahoma" panose="020B0604030504040204" pitchFamily="34" charset="0"/>
              </a:rPr>
              <a:t>联系集：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chemeClr val="tx2"/>
                </a:solidFill>
                <a:latin typeface="Tahoma" panose="020B0604030504040204" pitchFamily="34" charset="0"/>
              </a:rPr>
              <a:t>相关类型联系</a:t>
            </a:r>
            <a:r>
              <a:rPr kumimoji="0" lang="en-US" altLang="zh-CN" sz="18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800">
                <a:solidFill>
                  <a:schemeClr val="tx2"/>
                </a:solidFill>
                <a:latin typeface="Tahoma" panose="020B0604030504040204" pitchFamily="34" charset="0"/>
              </a:rPr>
              <a:t>连线)的集合</a:t>
            </a:r>
          </a:p>
        </p:txBody>
      </p:sp>
      <p:sp>
        <p:nvSpPr>
          <p:cNvPr id="22545" name="Rectangle 45"/>
          <p:cNvSpPr>
            <a:spLocks noChangeArrowheads="1"/>
          </p:cNvSpPr>
          <p:nvPr/>
        </p:nvSpPr>
        <p:spPr bwMode="auto">
          <a:xfrm>
            <a:off x="1892300" y="3667125"/>
            <a:ext cx="2262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 i="1">
                <a:latin typeface="Tahoma" panose="020B0604030504040204" pitchFamily="34" charset="0"/>
                <a:sym typeface="Symbol" panose="05050102010706020507" pitchFamily="18" charset="2"/>
              </a:rPr>
              <a:t>Advisor </a:t>
            </a:r>
            <a:r>
              <a:rPr kumimoji="0" lang="en-US" altLang="zh-CN" sz="16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联系集</a:t>
            </a:r>
            <a:r>
              <a:rPr kumimoji="0" lang="en-US" altLang="zh-CN" sz="160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  <a:r>
              <a:rPr kumimoji="0" lang="zh-CN" altLang="en-US" sz="1600">
                <a:latin typeface="Tahoma" panose="020B0604030504040204" pitchFamily="34" charset="0"/>
                <a:sym typeface="Symbol" panose="05050102010706020507" pitchFamily="18" charset="2"/>
              </a:rPr>
              <a:t>的实例</a:t>
            </a:r>
          </a:p>
        </p:txBody>
      </p:sp>
      <p:grpSp>
        <p:nvGrpSpPr>
          <p:cNvPr id="2" name="Group 47"/>
          <p:cNvGrpSpPr/>
          <p:nvPr/>
        </p:nvGrpSpPr>
        <p:grpSpPr bwMode="auto">
          <a:xfrm>
            <a:off x="434975" y="5835650"/>
            <a:ext cx="3162300" cy="525463"/>
            <a:chOff x="354" y="3586"/>
            <a:chExt cx="1992" cy="331"/>
          </a:xfrm>
        </p:grpSpPr>
        <p:sp>
          <p:nvSpPr>
            <p:cNvPr id="22554" name="Rectangle 43"/>
            <p:cNvSpPr>
              <a:spLocks noChangeArrowheads="1"/>
            </p:cNvSpPr>
            <p:nvPr/>
          </p:nvSpPr>
          <p:spPr bwMode="auto">
            <a:xfrm>
              <a:off x="354" y="3802"/>
              <a:ext cx="19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lvl="1">
                <a:buFontTx/>
                <a:buNone/>
              </a:pPr>
              <a:r>
                <a:rPr kumimoji="0" lang="en-US" altLang="zh-CN" sz="1200">
                  <a:latin typeface="Tahoma" panose="020B0604030504040204" pitchFamily="34" charset="0"/>
                  <a:sym typeface="Symbol" panose="05050102010706020507" pitchFamily="18" charset="2"/>
                </a:rPr>
                <a:t>(</a:t>
              </a:r>
              <a:r>
                <a:rPr kumimoji="0" lang="zh-CN" altLang="en-US" sz="1200">
                  <a:latin typeface="Tahoma" panose="020B0604030504040204" pitchFamily="34" charset="0"/>
                  <a:sym typeface="Symbol" panose="05050102010706020507" pitchFamily="18" charset="2"/>
                </a:rPr>
                <a:t>一条连线</a:t>
              </a:r>
              <a:r>
                <a:rPr kumimoji="0" lang="en-US" altLang="zh-CN" sz="1200">
                  <a:latin typeface="Tahoma" panose="020B0604030504040204" pitchFamily="34" charset="0"/>
                  <a:sym typeface="Symbol" panose="05050102010706020507" pitchFamily="18" charset="2"/>
                </a:rPr>
                <a:t>) </a:t>
              </a:r>
              <a:r>
                <a:rPr kumimoji="0" lang="en-US" altLang="zh-CN" sz="1200">
                  <a:solidFill>
                    <a:srgbClr val="0066FF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(22222,44553)</a:t>
              </a:r>
              <a:r>
                <a:rPr kumimoji="0" lang="en-US" altLang="zh-CN" sz="1200">
                  <a:latin typeface="Tahoma" panose="020B0604030504040204" pitchFamily="34" charset="0"/>
                  <a:sym typeface="Symbol" panose="05050102010706020507" pitchFamily="18" charset="2"/>
                </a:rPr>
                <a:t>  </a:t>
              </a:r>
              <a:r>
                <a:rPr kumimoji="0" lang="en-US" altLang="zh-CN" sz="1200" i="1">
                  <a:latin typeface="Tahoma" panose="020B0604030504040204" pitchFamily="34" charset="0"/>
                  <a:sym typeface="Symbol" panose="05050102010706020507" pitchFamily="18" charset="2"/>
                </a:rPr>
                <a:t>advisor</a:t>
              </a:r>
              <a:endParaRPr kumimoji="0" lang="en-US" altLang="zh-CN" sz="120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2555" name="Line 46"/>
            <p:cNvSpPr>
              <a:spLocks noChangeShapeType="1"/>
            </p:cNvSpPr>
            <p:nvPr/>
          </p:nvSpPr>
          <p:spPr bwMode="auto">
            <a:xfrm flipH="1">
              <a:off x="1793" y="3586"/>
              <a:ext cx="158" cy="163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475184" name="AutoShape 4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731250" y="6307138"/>
            <a:ext cx="215900" cy="163512"/>
          </a:xfrm>
          <a:prstGeom prst="actionButtonBackPrevious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grpSp>
        <p:nvGrpSpPr>
          <p:cNvPr id="22548" name="Group 52"/>
          <p:cNvGrpSpPr/>
          <p:nvPr/>
        </p:nvGrpSpPr>
        <p:grpSpPr bwMode="auto">
          <a:xfrm>
            <a:off x="3895725" y="1065213"/>
            <a:ext cx="4878388" cy="2716212"/>
            <a:chOff x="2454" y="671"/>
            <a:chExt cx="3073" cy="1711"/>
          </a:xfrm>
        </p:grpSpPr>
        <p:pic>
          <p:nvPicPr>
            <p:cNvPr id="22551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4" y="671"/>
              <a:ext cx="3073" cy="1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52" name="Rectangle 50"/>
            <p:cNvSpPr>
              <a:spLocks noChangeArrowheads="1"/>
            </p:cNvSpPr>
            <p:nvPr/>
          </p:nvSpPr>
          <p:spPr bwMode="auto">
            <a:xfrm>
              <a:off x="3287" y="2042"/>
              <a:ext cx="2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latin typeface="Tahoma" panose="020B0604030504040204" pitchFamily="34" charset="0"/>
                  <a:sym typeface="Symbol" panose="05050102010706020507" pitchFamily="18" charset="2"/>
                </a:rPr>
                <a:t>的实例</a:t>
              </a:r>
            </a:p>
          </p:txBody>
        </p:sp>
        <p:sp>
          <p:nvSpPr>
            <p:cNvPr id="22553" name="Rectangle 51"/>
            <p:cNvSpPr>
              <a:spLocks noChangeArrowheads="1"/>
            </p:cNvSpPr>
            <p:nvPr/>
          </p:nvSpPr>
          <p:spPr bwMode="auto">
            <a:xfrm>
              <a:off x="5193" y="2255"/>
              <a:ext cx="2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latin typeface="Tahoma" panose="020B0604030504040204" pitchFamily="34" charset="0"/>
                  <a:sym typeface="Symbol" panose="05050102010706020507" pitchFamily="18" charset="2"/>
                </a:rPr>
                <a:t>的实例</a:t>
              </a:r>
            </a:p>
          </p:txBody>
        </p:sp>
      </p:grpSp>
      <p:sp>
        <p:nvSpPr>
          <p:cNvPr id="22549" name="矩形 26"/>
          <p:cNvSpPr>
            <a:spLocks noChangeArrowheads="1"/>
          </p:cNvSpPr>
          <p:nvPr/>
        </p:nvSpPr>
        <p:spPr bwMode="auto">
          <a:xfrm>
            <a:off x="5899150" y="1098550"/>
            <a:ext cx="955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3.a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2550" name="矩形 27"/>
          <p:cNvSpPr>
            <a:spLocks noChangeArrowheads="1"/>
          </p:cNvSpPr>
          <p:nvPr/>
        </p:nvSpPr>
        <p:spPr bwMode="auto">
          <a:xfrm>
            <a:off x="227013" y="3582988"/>
            <a:ext cx="955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3.b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5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5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77" grpId="0"/>
      <p:bldP spid="475178" grpId="0"/>
      <p:bldP spid="4751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64" name="AutoShape 4"/>
          <p:cNvSpPr>
            <a:spLocks noChangeArrowheads="1"/>
          </p:cNvSpPr>
          <p:nvPr/>
        </p:nvSpPr>
        <p:spPr bwMode="auto">
          <a:xfrm>
            <a:off x="31750" y="1492250"/>
            <a:ext cx="1539875" cy="866775"/>
          </a:xfrm>
          <a:prstGeom prst="cloudCallout">
            <a:avLst>
              <a:gd name="adj1" fmla="val -44444"/>
              <a:gd name="adj2" fmla="val 6776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Tahoma" panose="020B0604030504040204" pitchFamily="34" charset="0"/>
              </a:rPr>
              <a:t>联系集采用双线表示何义？</a:t>
            </a:r>
          </a:p>
        </p:txBody>
      </p:sp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A864E0-9855-491F-84EB-9E242C663C49}" type="slidenum">
              <a:rPr kumimoji="0" lang="zh-CN" altLang="en-US" sz="1400"/>
              <a:t>8</a:t>
            </a:fld>
            <a:endParaRPr kumimoji="0" lang="en-US" altLang="zh-CN" sz="1400"/>
          </a:p>
        </p:txBody>
      </p:sp>
      <p:grpSp>
        <p:nvGrpSpPr>
          <p:cNvPr id="23555" name="Group 5"/>
          <p:cNvGrpSpPr/>
          <p:nvPr/>
        </p:nvGrpSpPr>
        <p:grpSpPr bwMode="auto">
          <a:xfrm>
            <a:off x="393700" y="712788"/>
            <a:ext cx="7453313" cy="5999162"/>
            <a:chOff x="113" y="459"/>
            <a:chExt cx="4695" cy="3779"/>
          </a:xfrm>
        </p:grpSpPr>
        <p:pic>
          <p:nvPicPr>
            <p:cNvPr id="2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459"/>
              <a:ext cx="4695" cy="3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8" name="Rectangle 5"/>
            <p:cNvSpPr>
              <a:spLocks noChangeArrowheads="1"/>
            </p:cNvSpPr>
            <p:nvPr/>
          </p:nvSpPr>
          <p:spPr bwMode="auto">
            <a:xfrm>
              <a:off x="3210" y="2931"/>
              <a:ext cx="56" cy="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600" b="0">
                <a:solidFill>
                  <a:schemeClr val="accent1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589" name="Rectangle 8"/>
            <p:cNvSpPr>
              <a:spLocks noChangeArrowheads="1"/>
            </p:cNvSpPr>
            <p:nvPr/>
          </p:nvSpPr>
          <p:spPr bwMode="auto">
            <a:xfrm>
              <a:off x="2925" y="504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部门</a:t>
              </a:r>
            </a:p>
          </p:txBody>
        </p:sp>
        <p:sp>
          <p:nvSpPr>
            <p:cNvPr id="23590" name="Rectangle 9"/>
            <p:cNvSpPr>
              <a:spLocks noChangeArrowheads="1"/>
            </p:cNvSpPr>
            <p:nvPr/>
          </p:nvSpPr>
          <p:spPr bwMode="auto">
            <a:xfrm>
              <a:off x="1032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</a:t>
              </a:r>
            </a:p>
          </p:txBody>
        </p:sp>
        <p:sp>
          <p:nvSpPr>
            <p:cNvPr id="23591" name="Rectangle 10"/>
            <p:cNvSpPr>
              <a:spLocks noChangeArrowheads="1"/>
            </p:cNvSpPr>
            <p:nvPr/>
          </p:nvSpPr>
          <p:spPr bwMode="auto">
            <a:xfrm>
              <a:off x="295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课程信息</a:t>
              </a:r>
            </a:p>
          </p:txBody>
        </p:sp>
        <p:sp>
          <p:nvSpPr>
            <p:cNvPr id="23592" name="Rectangle 11"/>
            <p:cNvSpPr>
              <a:spLocks noChangeArrowheads="1"/>
            </p:cNvSpPr>
            <p:nvPr/>
          </p:nvSpPr>
          <p:spPr bwMode="auto">
            <a:xfrm>
              <a:off x="2464" y="263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开课安排</a:t>
              </a:r>
            </a:p>
          </p:txBody>
        </p:sp>
        <p:sp>
          <p:nvSpPr>
            <p:cNvPr id="23593" name="Rectangle 12"/>
            <p:cNvSpPr>
              <a:spLocks noChangeArrowheads="1"/>
            </p:cNvSpPr>
            <p:nvPr/>
          </p:nvSpPr>
          <p:spPr bwMode="auto">
            <a:xfrm>
              <a:off x="2744" y="3723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教室</a:t>
              </a:r>
            </a:p>
          </p:txBody>
        </p:sp>
        <p:sp>
          <p:nvSpPr>
            <p:cNvPr id="23594" name="Rectangle 13"/>
            <p:cNvSpPr>
              <a:spLocks noChangeArrowheads="1"/>
            </p:cNvSpPr>
            <p:nvPr/>
          </p:nvSpPr>
          <p:spPr bwMode="auto">
            <a:xfrm>
              <a:off x="4359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开课时段</a:t>
              </a:r>
            </a:p>
          </p:txBody>
        </p:sp>
        <p:sp>
          <p:nvSpPr>
            <p:cNvPr id="23595" name="Rectangle 14"/>
            <p:cNvSpPr>
              <a:spLocks noChangeArrowheads="1"/>
            </p:cNvSpPr>
            <p:nvPr/>
          </p:nvSpPr>
          <p:spPr bwMode="auto">
            <a:xfrm>
              <a:off x="4105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</a:t>
              </a:r>
            </a:p>
          </p:txBody>
        </p:sp>
        <p:sp>
          <p:nvSpPr>
            <p:cNvPr id="23596" name="Rectangle 15"/>
            <p:cNvSpPr>
              <a:spLocks noChangeArrowheads="1"/>
            </p:cNvSpPr>
            <p:nvPr/>
          </p:nvSpPr>
          <p:spPr bwMode="auto">
            <a:xfrm>
              <a:off x="251" y="79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开课部门</a:t>
              </a:r>
            </a:p>
          </p:txBody>
        </p:sp>
        <p:sp>
          <p:nvSpPr>
            <p:cNvPr id="23597" name="Rectangle 16"/>
            <p:cNvSpPr>
              <a:spLocks noChangeArrowheads="1"/>
            </p:cNvSpPr>
            <p:nvPr/>
          </p:nvSpPr>
          <p:spPr bwMode="auto">
            <a:xfrm>
              <a:off x="1261" y="798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教师所在部门</a:t>
              </a:r>
            </a:p>
          </p:txBody>
        </p:sp>
        <p:sp>
          <p:nvSpPr>
            <p:cNvPr id="23598" name="Rectangle 17"/>
            <p:cNvSpPr>
              <a:spLocks noChangeArrowheads="1"/>
            </p:cNvSpPr>
            <p:nvPr/>
          </p:nvSpPr>
          <p:spPr bwMode="auto">
            <a:xfrm>
              <a:off x="2494" y="1366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指导教师</a:t>
              </a:r>
            </a:p>
          </p:txBody>
        </p:sp>
        <p:sp>
          <p:nvSpPr>
            <p:cNvPr id="23599" name="Rectangle 18"/>
            <p:cNvSpPr>
              <a:spLocks noChangeArrowheads="1"/>
            </p:cNvSpPr>
            <p:nvPr/>
          </p:nvSpPr>
          <p:spPr bwMode="auto">
            <a:xfrm>
              <a:off x="3438" y="775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学生所属部门</a:t>
              </a:r>
            </a:p>
          </p:txBody>
        </p:sp>
        <p:sp>
          <p:nvSpPr>
            <p:cNvPr id="23600" name="Rectangle 19"/>
            <p:cNvSpPr>
              <a:spLocks noChangeArrowheads="1"/>
            </p:cNvSpPr>
            <p:nvPr/>
          </p:nvSpPr>
          <p:spPr bwMode="auto">
            <a:xfrm>
              <a:off x="1451" y="2500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承担教学</a:t>
              </a:r>
            </a:p>
          </p:txBody>
        </p:sp>
        <p:sp>
          <p:nvSpPr>
            <p:cNvPr id="23601" name="Rectangle 20"/>
            <p:cNvSpPr>
              <a:spLocks noChangeArrowheads="1"/>
            </p:cNvSpPr>
            <p:nvPr/>
          </p:nvSpPr>
          <p:spPr bwMode="auto">
            <a:xfrm>
              <a:off x="1446" y="3271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开课内容</a:t>
              </a:r>
            </a:p>
          </p:txBody>
        </p:sp>
        <p:sp>
          <p:nvSpPr>
            <p:cNvPr id="23602" name="Rectangle 21"/>
            <p:cNvSpPr>
              <a:spLocks noChangeArrowheads="1"/>
            </p:cNvSpPr>
            <p:nvPr/>
          </p:nvSpPr>
          <p:spPr bwMode="auto">
            <a:xfrm>
              <a:off x="3464" y="324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开课时间</a:t>
              </a:r>
            </a:p>
          </p:txBody>
        </p:sp>
        <p:sp>
          <p:nvSpPr>
            <p:cNvPr id="23603" name="Rectangle 22"/>
            <p:cNvSpPr>
              <a:spLocks noChangeArrowheads="1"/>
            </p:cNvSpPr>
            <p:nvPr/>
          </p:nvSpPr>
          <p:spPr bwMode="auto">
            <a:xfrm>
              <a:off x="3510" y="2478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课程任务</a:t>
              </a:r>
            </a:p>
          </p:txBody>
        </p:sp>
        <p:sp>
          <p:nvSpPr>
            <p:cNvPr id="23604" name="Rectangle 23"/>
            <p:cNvSpPr>
              <a:spLocks noChangeArrowheads="1"/>
            </p:cNvSpPr>
            <p:nvPr/>
          </p:nvSpPr>
          <p:spPr bwMode="auto">
            <a:xfrm>
              <a:off x="539" y="356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先修课程</a:t>
              </a:r>
            </a:p>
          </p:txBody>
        </p:sp>
        <p:sp>
          <p:nvSpPr>
            <p:cNvPr id="23605" name="Rectangle 24"/>
            <p:cNvSpPr>
              <a:spLocks noChangeArrowheads="1"/>
            </p:cNvSpPr>
            <p:nvPr/>
          </p:nvSpPr>
          <p:spPr bwMode="auto">
            <a:xfrm>
              <a:off x="2948" y="3453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开课地点</a:t>
              </a:r>
            </a:p>
          </p:txBody>
        </p:sp>
      </p:grp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60350" y="0"/>
            <a:ext cx="77724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 联系集的类型与弱实体集</a:t>
            </a:r>
          </a:p>
        </p:txBody>
      </p:sp>
      <p:sp>
        <p:nvSpPr>
          <p:cNvPr id="23557" name="AutoShape 4"/>
          <p:cNvSpPr>
            <a:spLocks noChangeArrowheads="1"/>
          </p:cNvSpPr>
          <p:nvPr/>
        </p:nvSpPr>
        <p:spPr bwMode="auto">
          <a:xfrm>
            <a:off x="6842125" y="1285875"/>
            <a:ext cx="2255838" cy="1068388"/>
          </a:xfrm>
          <a:prstGeom prst="cloudCallout">
            <a:avLst>
              <a:gd name="adj1" fmla="val 49634"/>
              <a:gd name="adj2" fmla="val 5884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联系集有哪几种常见类型</a:t>
            </a:r>
            <a:r>
              <a:rPr kumimoji="0" lang="en-US" altLang="zh-CN" sz="1600"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latin typeface="Tahoma" panose="020B0604030504040204" pitchFamily="34" charset="0"/>
              </a:rPr>
              <a:t>映射基数</a:t>
            </a:r>
            <a:r>
              <a:rPr kumimoji="0" lang="en-US" altLang="zh-CN" sz="1600">
                <a:latin typeface="Tahoma" panose="020B0604030504040204" pitchFamily="34" charset="0"/>
              </a:rPr>
              <a:t>)</a:t>
            </a:r>
            <a:r>
              <a:rPr kumimoji="0" lang="zh-CN" altLang="en-US" sz="1600">
                <a:latin typeface="Tahoma" panose="020B0604030504040204" pitchFamily="34" charset="0"/>
              </a:rPr>
              <a:t>？</a:t>
            </a:r>
          </a:p>
        </p:txBody>
      </p:sp>
      <p:sp>
        <p:nvSpPr>
          <p:cNvPr id="23558" name="Rectangle 29"/>
          <p:cNvSpPr>
            <a:spLocks noChangeArrowheads="1"/>
          </p:cNvSpPr>
          <p:nvPr/>
        </p:nvSpPr>
        <p:spPr bwMode="auto">
          <a:xfrm>
            <a:off x="7231063" y="2574925"/>
            <a:ext cx="17859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000">
                <a:latin typeface="Tahoma" panose="020B0604030504040204" pitchFamily="34" charset="0"/>
              </a:rPr>
              <a:t>(</a:t>
            </a:r>
            <a:r>
              <a:rPr kumimoji="0" lang="zh-CN" altLang="en-US" sz="2000">
                <a:latin typeface="Tahoma" panose="020B0604030504040204" pitchFamily="34" charset="0"/>
                <a:hlinkClick r:id="rId3" action="ppaction://hlinksldjump"/>
              </a:rPr>
              <a:t>示例及分析</a:t>
            </a:r>
            <a:r>
              <a:rPr kumimoji="0" lang="en-US" altLang="zh-CN" sz="2000">
                <a:latin typeface="Tahoma" panose="020B0604030504040204" pitchFamily="34" charset="0"/>
              </a:rPr>
              <a:t>)</a:t>
            </a:r>
            <a:endParaRPr kumimoji="0" lang="zh-CN" altLang="en-US" sz="2000">
              <a:latin typeface="Tahoma" panose="020B0604030504040204" pitchFamily="34" charset="0"/>
            </a:endParaRPr>
          </a:p>
        </p:txBody>
      </p:sp>
      <p:grpSp>
        <p:nvGrpSpPr>
          <p:cNvPr id="23559" name="Group 41"/>
          <p:cNvGrpSpPr/>
          <p:nvPr/>
        </p:nvGrpSpPr>
        <p:grpSpPr bwMode="auto">
          <a:xfrm>
            <a:off x="4845050" y="561975"/>
            <a:ext cx="2928938" cy="706438"/>
            <a:chOff x="2872" y="334"/>
            <a:chExt cx="1845" cy="445"/>
          </a:xfrm>
        </p:grpSpPr>
        <p:sp>
          <p:nvSpPr>
            <p:cNvPr id="23582" name="Rectangle 32"/>
            <p:cNvSpPr>
              <a:spLocks noChangeArrowheads="1"/>
            </p:cNvSpPr>
            <p:nvPr/>
          </p:nvSpPr>
          <p:spPr bwMode="auto">
            <a:xfrm>
              <a:off x="4122" y="415"/>
              <a:ext cx="592" cy="364"/>
            </a:xfrm>
            <a:prstGeom prst="rect">
              <a:avLst/>
            </a:prstGeom>
            <a:noFill/>
            <a:ln w="19050">
              <a:solidFill>
                <a:srgbClr val="0066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kumimoji="0" lang="en-US" altLang="zh-CN" sz="1000">
                  <a:solidFill>
                    <a:srgbClr val="0066FF"/>
                  </a:solidFill>
                  <a:latin typeface="Tahoma" panose="020B0604030504040204" pitchFamily="34" charset="0"/>
                </a:rPr>
                <a:t>   header </a:t>
              </a:r>
            </a:p>
            <a:p>
              <a:pPr>
                <a:buFontTx/>
                <a:buNone/>
              </a:pPr>
              <a:r>
                <a:rPr kumimoji="0" lang="en-US" altLang="zh-CN" sz="1000" b="0">
                  <a:solidFill>
                    <a:srgbClr val="0066FF"/>
                  </a:solidFill>
                  <a:latin typeface="Tahoma" panose="020B0604030504040204" pitchFamily="34" charset="0"/>
                </a:rPr>
                <a:t>   </a:t>
              </a:r>
              <a:r>
                <a:rPr kumimoji="0" lang="en-US" altLang="zh-CN" sz="1000" b="0" u="sng">
                  <a:solidFill>
                    <a:srgbClr val="0066FF"/>
                  </a:solidFill>
                  <a:latin typeface="Tahoma" panose="020B0604030504040204" pitchFamily="34" charset="0"/>
                </a:rPr>
                <a:t>name</a:t>
              </a:r>
            </a:p>
            <a:p>
              <a:pPr>
                <a:buFontTx/>
                <a:buNone/>
              </a:pPr>
              <a:r>
                <a:rPr kumimoji="0" lang="en-US" altLang="zh-CN" sz="1000" b="0">
                  <a:solidFill>
                    <a:srgbClr val="0066FF"/>
                  </a:solidFill>
                  <a:latin typeface="Tahoma" panose="020B0604030504040204" pitchFamily="34" charset="0"/>
                </a:rPr>
                <a:t>   tel</a:t>
              </a:r>
            </a:p>
          </p:txBody>
        </p:sp>
        <p:sp>
          <p:nvSpPr>
            <p:cNvPr id="23583" name="AutoShape 33"/>
            <p:cNvSpPr>
              <a:spLocks noChangeArrowheads="1"/>
            </p:cNvSpPr>
            <p:nvPr/>
          </p:nvSpPr>
          <p:spPr bwMode="auto">
            <a:xfrm>
              <a:off x="3243" y="334"/>
              <a:ext cx="598" cy="358"/>
            </a:xfrm>
            <a:prstGeom prst="diamond">
              <a:avLst/>
            </a:prstGeom>
            <a:noFill/>
            <a:ln w="19050">
              <a:solidFill>
                <a:srgbClr val="0066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000">
                  <a:solidFill>
                    <a:srgbClr val="0066FF"/>
                  </a:solidFill>
                  <a:latin typeface="Tahoma" panose="020B0604030504040204" pitchFamily="34" charset="0"/>
                </a:rPr>
                <a:t>dept_head</a:t>
              </a:r>
            </a:p>
          </p:txBody>
        </p:sp>
        <p:sp>
          <p:nvSpPr>
            <p:cNvPr id="23584" name="Line 34"/>
            <p:cNvSpPr>
              <a:spLocks noChangeShapeType="1"/>
            </p:cNvSpPr>
            <p:nvPr/>
          </p:nvSpPr>
          <p:spPr bwMode="auto">
            <a:xfrm flipV="1">
              <a:off x="2872" y="511"/>
              <a:ext cx="375" cy="114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3585" name="Line 35"/>
            <p:cNvSpPr>
              <a:spLocks noChangeShapeType="1"/>
            </p:cNvSpPr>
            <p:nvPr/>
          </p:nvSpPr>
          <p:spPr bwMode="auto">
            <a:xfrm>
              <a:off x="3828" y="516"/>
              <a:ext cx="29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3" name="Line 40"/>
            <p:cNvSpPr>
              <a:spLocks noChangeShapeType="1"/>
            </p:cNvSpPr>
            <p:nvPr/>
          </p:nvSpPr>
          <p:spPr bwMode="auto">
            <a:xfrm>
              <a:off x="4114" y="538"/>
              <a:ext cx="60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23586" name="AutoShape 4"/>
          <p:cNvSpPr>
            <a:spLocks noChangeArrowheads="1"/>
          </p:cNvSpPr>
          <p:nvPr/>
        </p:nvSpPr>
        <p:spPr bwMode="auto">
          <a:xfrm>
            <a:off x="3492500" y="3079750"/>
            <a:ext cx="1920875" cy="865188"/>
          </a:xfrm>
          <a:prstGeom prst="cloudCallout">
            <a:avLst>
              <a:gd name="adj1" fmla="val 49347"/>
              <a:gd name="adj2" fmla="val 6170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Tahoma" panose="020B0604030504040204" pitchFamily="34" charset="0"/>
              </a:rPr>
              <a:t>实体集到联系集采用双线表示何义</a:t>
            </a:r>
            <a:r>
              <a:rPr kumimoji="0" lang="zh-CN" altLang="zh-CN" sz="1400">
                <a:latin typeface="Tahoma" panose="020B0604030504040204" pitchFamily="34" charset="0"/>
              </a:rPr>
              <a:t>?</a:t>
            </a:r>
            <a:endParaRPr kumimoji="0" lang="en-US" altLang="zh-CN" sz="1400">
              <a:latin typeface="Tahoma" panose="020B0604030504040204" pitchFamily="34" charset="0"/>
            </a:endParaRPr>
          </a:p>
        </p:txBody>
      </p:sp>
      <p:sp>
        <p:nvSpPr>
          <p:cNvPr id="23587" name="AutoShape 4"/>
          <p:cNvSpPr>
            <a:spLocks noChangeArrowheads="1"/>
          </p:cNvSpPr>
          <p:nvPr/>
        </p:nvSpPr>
        <p:spPr bwMode="auto">
          <a:xfrm>
            <a:off x="1651000" y="5667375"/>
            <a:ext cx="1879600" cy="954088"/>
          </a:xfrm>
          <a:prstGeom prst="cloudCallout">
            <a:avLst>
              <a:gd name="adj1" fmla="val -48486"/>
              <a:gd name="adj2" fmla="val 5832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如何解释实体集自身的联系？</a:t>
            </a:r>
          </a:p>
        </p:txBody>
      </p:sp>
      <p:sp>
        <p:nvSpPr>
          <p:cNvPr id="478288" name="AutoShape 80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63000" y="6613525"/>
            <a:ext cx="223838" cy="171450"/>
          </a:xfrm>
          <a:prstGeom prst="actionButtonForwardNext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478289" name="Rectangle 81"/>
          <p:cNvSpPr>
            <a:spLocks noChangeArrowheads="1"/>
          </p:cNvSpPr>
          <p:nvPr/>
        </p:nvSpPr>
        <p:spPr bwMode="auto">
          <a:xfrm>
            <a:off x="95250" y="2571750"/>
            <a:ext cx="1209675" cy="1724025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弱实体集特点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1)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没有键；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2)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存在依赖于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主实体集；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3)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键由主实体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集键和它的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kumimoji="0" lang="zh-CN" altLang="en-US" sz="1400">
                <a:solidFill>
                  <a:srgbClr val="0066FF"/>
                </a:solidFill>
                <a:latin typeface="Tahoma" panose="020B0604030504040204" pitchFamily="34" charset="0"/>
              </a:rPr>
              <a:t>分辨符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合并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构成。</a:t>
            </a:r>
            <a:endParaRPr kumimoji="0" lang="en-US" altLang="zh-CN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grpSp>
        <p:nvGrpSpPr>
          <p:cNvPr id="6" name="组 5"/>
          <p:cNvGrpSpPr/>
          <p:nvPr/>
        </p:nvGrpSpPr>
        <p:grpSpPr bwMode="auto">
          <a:xfrm>
            <a:off x="5513388" y="5449888"/>
            <a:ext cx="3175000" cy="1012825"/>
            <a:chOff x="5513985" y="5449888"/>
            <a:chExt cx="3173582" cy="1012830"/>
          </a:xfrm>
        </p:grpSpPr>
        <p:grpSp>
          <p:nvGrpSpPr>
            <p:cNvPr id="23566" name="组 1"/>
            <p:cNvGrpSpPr/>
            <p:nvPr/>
          </p:nvGrpSpPr>
          <p:grpSpPr bwMode="auto">
            <a:xfrm>
              <a:off x="5513985" y="5546725"/>
              <a:ext cx="3063279" cy="915993"/>
              <a:chOff x="5593360" y="5546725"/>
              <a:chExt cx="3063279" cy="915993"/>
            </a:xfrm>
          </p:grpSpPr>
          <p:sp>
            <p:nvSpPr>
              <p:cNvPr id="23568" name="Rectangle 37"/>
              <p:cNvSpPr>
                <a:spLocks noChangeArrowheads="1"/>
              </p:cNvSpPr>
              <p:nvPr/>
            </p:nvSpPr>
            <p:spPr bwMode="auto">
              <a:xfrm>
                <a:off x="5593360" y="5546725"/>
                <a:ext cx="1846659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600">
                    <a:solidFill>
                      <a:srgbClr val="0066FF"/>
                    </a:solidFill>
                    <a:latin typeface="Tahoma" panose="020B0604030504040204" pitchFamily="34" charset="0"/>
                  </a:rPr>
                  <a:t>该联系又表示何意？</a:t>
                </a:r>
              </a:p>
            </p:txBody>
          </p:sp>
          <p:grpSp>
            <p:nvGrpSpPr>
              <p:cNvPr id="23569" name="Group 79"/>
              <p:cNvGrpSpPr/>
              <p:nvPr/>
            </p:nvGrpSpPr>
            <p:grpSpPr bwMode="auto">
              <a:xfrm>
                <a:off x="5699126" y="5826130"/>
                <a:ext cx="2957513" cy="636588"/>
                <a:chOff x="50" y="3830"/>
                <a:chExt cx="1863" cy="401"/>
              </a:xfrm>
            </p:grpSpPr>
            <p:sp>
              <p:nvSpPr>
                <p:cNvPr id="23572" name="AutoShape 74"/>
                <p:cNvSpPr>
                  <a:spLocks noChangeArrowheads="1"/>
                </p:cNvSpPr>
                <p:nvPr/>
              </p:nvSpPr>
              <p:spPr bwMode="auto">
                <a:xfrm>
                  <a:off x="703" y="3830"/>
                  <a:ext cx="685" cy="401"/>
                </a:xfrm>
                <a:prstGeom prst="diamond">
                  <a:avLst/>
                </a:prstGeom>
                <a:noFill/>
                <a:ln w="12700">
                  <a:solidFill>
                    <a:srgbClr val="0066FF"/>
                  </a:solidFill>
                  <a:miter lim="800000"/>
                </a:ln>
              </p:spPr>
              <p:txBody>
                <a:bodyPr wrap="none" lIns="0" tIns="0" rIns="0" bIns="0" anchor="ctr"/>
                <a:lstStyle/>
                <a:p>
                  <a:pPr algn="ctr">
                    <a:defRPr/>
                  </a:pPr>
                  <a:endParaRPr lang="zh-CN" altLang="en-US" sz="1050">
                    <a:solidFill>
                      <a:srgbClr val="0066FF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grpSp>
              <p:nvGrpSpPr>
                <p:cNvPr id="23571" name="Group 77"/>
                <p:cNvGrpSpPr/>
                <p:nvPr/>
              </p:nvGrpSpPr>
              <p:grpSpPr bwMode="auto">
                <a:xfrm>
                  <a:off x="50" y="3863"/>
                  <a:ext cx="1863" cy="366"/>
                  <a:chOff x="50" y="3863"/>
                  <a:chExt cx="1863" cy="366"/>
                </a:xfrm>
              </p:grpSpPr>
              <p:sp>
                <p:nvSpPr>
                  <p:cNvPr id="23574" name="AutoShape 62"/>
                  <p:cNvSpPr>
                    <a:spLocks noChangeArrowheads="1"/>
                  </p:cNvSpPr>
                  <p:nvPr/>
                </p:nvSpPr>
                <p:spPr bwMode="auto">
                  <a:xfrm>
                    <a:off x="763" y="3872"/>
                    <a:ext cx="560" cy="315"/>
                  </a:xfrm>
                  <a:prstGeom prst="diamond">
                    <a:avLst/>
                  </a:prstGeom>
                  <a:noFill/>
                  <a:ln w="12700">
                    <a:solidFill>
                      <a:srgbClr val="0066FF"/>
                    </a:solidFill>
                    <a:miter lim="800000"/>
                  </a:ln>
                </p:spPr>
                <p:txBody>
                  <a:bodyPr wrap="none" lIns="0" tIns="0" rIns="0" bIns="0" anchor="ctr"/>
                  <a:lstStyle>
                    <a:lvl1pPr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sz="1000">
                        <a:solidFill>
                          <a:srgbClr val="0066FF"/>
                        </a:solidFill>
                      </a:rPr>
                      <a:t>下属部门</a:t>
                    </a:r>
                  </a:p>
                </p:txBody>
              </p:sp>
              <p:sp>
                <p:nvSpPr>
                  <p:cNvPr id="23573" name="Line 6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6" y="4031"/>
                    <a:ext cx="168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66FF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4" name="Group 71"/>
                  <p:cNvGrpSpPr/>
                  <p:nvPr/>
                </p:nvGrpSpPr>
                <p:grpSpPr bwMode="auto">
                  <a:xfrm>
                    <a:off x="1541" y="3865"/>
                    <a:ext cx="372" cy="364"/>
                    <a:chOff x="1591" y="3885"/>
                    <a:chExt cx="372" cy="364"/>
                  </a:xfrm>
                </p:grpSpPr>
                <p:sp>
                  <p:nvSpPr>
                    <p:cNvPr id="23580" name="Rectangle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9" y="3885"/>
                      <a:ext cx="364" cy="364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>
                        <a:buFontTx/>
                        <a:buNone/>
                      </a:pPr>
                      <a:r>
                        <a:rPr kumimoji="0" lang="en-US" altLang="zh-CN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电影厂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 b="0" u="sng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厂名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厂长</a:t>
                      </a:r>
                    </a:p>
                  </p:txBody>
                </p:sp>
                <p:sp>
                  <p:nvSpPr>
                    <p:cNvPr id="23581" name="Line 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91" y="4018"/>
                      <a:ext cx="369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3575" name="Group 70"/>
                  <p:cNvGrpSpPr/>
                  <p:nvPr/>
                </p:nvGrpSpPr>
                <p:grpSpPr bwMode="auto">
                  <a:xfrm>
                    <a:off x="50" y="3863"/>
                    <a:ext cx="424" cy="364"/>
                    <a:chOff x="90" y="3883"/>
                    <a:chExt cx="424" cy="364"/>
                  </a:xfrm>
                </p:grpSpPr>
                <p:sp>
                  <p:nvSpPr>
                    <p:cNvPr id="23578" name="Rectangle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" y="3883"/>
                      <a:ext cx="421" cy="364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>
                        <a:buFontTx/>
                        <a:buNone/>
                      </a:pPr>
                      <a:r>
                        <a:rPr kumimoji="0" lang="en-US" altLang="zh-CN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摄制组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</a:t>
                      </a:r>
                      <a:r>
                        <a:rPr kumimoji="0" lang="zh-CN" altLang="en-US" sz="1000" b="0" u="sng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组编号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</a:t>
                      </a:r>
                      <a:r>
                        <a:rPr kumimoji="0" lang="zh-CN" altLang="en-US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组长</a:t>
                      </a:r>
                    </a:p>
                  </p:txBody>
                </p:sp>
                <p:sp>
                  <p:nvSpPr>
                    <p:cNvPr id="23579" name="Line 6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5" y="4006"/>
                      <a:ext cx="359" cy="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3576" name="Line 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3" y="4047"/>
                    <a:ext cx="244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66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77" name="Line 7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3" y="4009"/>
                    <a:ext cx="244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66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23567" name="矩形 66"/>
            <p:cNvSpPr>
              <a:spLocks noChangeArrowheads="1"/>
            </p:cNvSpPr>
            <p:nvPr/>
          </p:nvSpPr>
          <p:spPr bwMode="auto">
            <a:xfrm>
              <a:off x="7847835" y="5449888"/>
              <a:ext cx="839732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"/>
                </a:spcBef>
                <a:buFontTx/>
                <a:buNone/>
              </a:pPr>
              <a:r>
                <a:rPr kumimoji="0" lang="zh-CN" altLang="en-US" sz="16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案例</a:t>
              </a:r>
              <a:r>
                <a:rPr kumimoji="0" lang="zh-CN" altLang="zh-CN" sz="16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4</a:t>
              </a:r>
              <a:r>
                <a:rPr kumimoji="0" lang="en-US" altLang="zh-CN" sz="16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.c</a:t>
              </a:r>
              <a:endPara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3565" name="矩形 32"/>
          <p:cNvSpPr>
            <a:spLocks noChangeArrowheads="1"/>
          </p:cNvSpPr>
          <p:nvPr/>
        </p:nvSpPr>
        <p:spPr bwMode="auto">
          <a:xfrm>
            <a:off x="7831138" y="3298825"/>
            <a:ext cx="131286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2</a:t>
            </a:r>
            <a:r>
              <a:rPr kumimoji="0" lang="en-US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:</a:t>
            </a:r>
          </a:p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大学的</a:t>
            </a:r>
            <a:r>
              <a:rPr kumimoji="0" lang="en-US" altLang="zh-CN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0" lang="en-US" altLang="zh-CN" sz="1600">
              <a:solidFill>
                <a:srgbClr val="2A2A3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7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7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64" grpId="0" animBg="1"/>
      <p:bldP spid="23586" grpId="0" animBg="1"/>
      <p:bldP spid="23587" grpId="0" animBg="1"/>
      <p:bldP spid="478288" grpId="0" animBg="1"/>
      <p:bldP spid="47828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A71F5F-7915-4998-87D5-F81B7774C540}" type="slidenum">
              <a:rPr kumimoji="0" lang="zh-CN" altLang="en-US" sz="1400"/>
              <a:t>9</a:t>
            </a:fld>
            <a:endParaRPr kumimoji="0" lang="en-US" altLang="zh-CN" sz="140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3" y="965200"/>
            <a:ext cx="3984625" cy="833438"/>
          </a:xfrm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常见联系集类型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映射基数)示例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579" name="Picture 7" descr="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25" y="982663"/>
            <a:ext cx="4751388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7" descr="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538" y="3586163"/>
            <a:ext cx="4679950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11"/>
          <p:cNvSpPr>
            <a:spLocks noChangeArrowheads="1"/>
          </p:cNvSpPr>
          <p:nvPr/>
        </p:nvSpPr>
        <p:spPr bwMode="auto">
          <a:xfrm>
            <a:off x="1252538" y="57150"/>
            <a:ext cx="7772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 联系集类型与弱实体</a:t>
            </a:r>
          </a:p>
        </p:txBody>
      </p:sp>
      <p:grpSp>
        <p:nvGrpSpPr>
          <p:cNvPr id="2" name="Group 46"/>
          <p:cNvGrpSpPr/>
          <p:nvPr/>
        </p:nvGrpSpPr>
        <p:grpSpPr bwMode="auto">
          <a:xfrm>
            <a:off x="4170363" y="2638425"/>
            <a:ext cx="4340225" cy="3624263"/>
            <a:chOff x="2627" y="1662"/>
            <a:chExt cx="2734" cy="2283"/>
          </a:xfrm>
        </p:grpSpPr>
        <p:sp>
          <p:nvSpPr>
            <p:cNvPr id="24604" name="Text Box 3"/>
            <p:cNvSpPr txBox="1">
              <a:spLocks noChangeArrowheads="1"/>
            </p:cNvSpPr>
            <p:nvPr/>
          </p:nvSpPr>
          <p:spPr bwMode="auto">
            <a:xfrm>
              <a:off x="2672" y="1662"/>
              <a:ext cx="8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一对一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(1:1)</a:t>
              </a:r>
            </a:p>
          </p:txBody>
        </p:sp>
        <p:sp>
          <p:nvSpPr>
            <p:cNvPr id="24605" name="Text Box 4"/>
            <p:cNvSpPr txBox="1">
              <a:spLocks noChangeArrowheads="1"/>
            </p:cNvSpPr>
            <p:nvPr/>
          </p:nvSpPr>
          <p:spPr bwMode="auto">
            <a:xfrm>
              <a:off x="4578" y="1662"/>
              <a:ext cx="6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一对多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(1</a:t>
              </a: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：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n)</a:t>
              </a:r>
            </a:p>
          </p:txBody>
        </p:sp>
        <p:sp>
          <p:nvSpPr>
            <p:cNvPr id="24606" name="Text Box 3"/>
            <p:cNvSpPr txBox="1">
              <a:spLocks noChangeArrowheads="1"/>
            </p:cNvSpPr>
            <p:nvPr/>
          </p:nvSpPr>
          <p:spPr bwMode="auto">
            <a:xfrm>
              <a:off x="2627" y="3456"/>
              <a:ext cx="9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多对一（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n:1</a:t>
              </a: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）</a:t>
              </a:r>
            </a:p>
          </p:txBody>
        </p:sp>
        <p:sp>
          <p:nvSpPr>
            <p:cNvPr id="24607" name="Text Box 4"/>
            <p:cNvSpPr txBox="1">
              <a:spLocks noChangeArrowheads="1"/>
            </p:cNvSpPr>
            <p:nvPr/>
          </p:nvSpPr>
          <p:spPr bwMode="auto">
            <a:xfrm>
              <a:off x="4583" y="3456"/>
              <a:ext cx="7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多对多（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n:m</a:t>
              </a: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）</a:t>
              </a:r>
            </a:p>
          </p:txBody>
        </p:sp>
        <p:grpSp>
          <p:nvGrpSpPr>
            <p:cNvPr id="24608" name="Group 19"/>
            <p:cNvGrpSpPr/>
            <p:nvPr/>
          </p:nvGrpSpPr>
          <p:grpSpPr bwMode="auto">
            <a:xfrm>
              <a:off x="2696" y="1812"/>
              <a:ext cx="850" cy="316"/>
              <a:chOff x="864" y="2396"/>
              <a:chExt cx="850" cy="316"/>
            </a:xfrm>
          </p:grpSpPr>
          <p:sp>
            <p:nvSpPr>
              <p:cNvPr id="24621" name="AutoShape 13"/>
              <p:cNvSpPr>
                <a:spLocks noChangeArrowheads="1"/>
              </p:cNvSpPr>
              <p:nvPr/>
            </p:nvSpPr>
            <p:spPr bwMode="auto">
              <a:xfrm>
                <a:off x="989" y="2396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</a:p>
            </p:txBody>
          </p:sp>
          <p:sp>
            <p:nvSpPr>
              <p:cNvPr id="24622" name="Line 14"/>
              <p:cNvSpPr>
                <a:spLocks noChangeShapeType="1"/>
              </p:cNvSpPr>
              <p:nvPr/>
            </p:nvSpPr>
            <p:spPr bwMode="auto">
              <a:xfrm>
                <a:off x="1584" y="2553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23" name="Line 15"/>
              <p:cNvSpPr>
                <a:spLocks noChangeShapeType="1"/>
              </p:cNvSpPr>
              <p:nvPr/>
            </p:nvSpPr>
            <p:spPr bwMode="auto">
              <a:xfrm flipH="1">
                <a:off x="864" y="2549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609" name="Group 28"/>
            <p:cNvGrpSpPr/>
            <p:nvPr/>
          </p:nvGrpSpPr>
          <p:grpSpPr bwMode="auto">
            <a:xfrm>
              <a:off x="2636" y="3612"/>
              <a:ext cx="850" cy="316"/>
              <a:chOff x="864" y="1945"/>
              <a:chExt cx="850" cy="316"/>
            </a:xfrm>
          </p:grpSpPr>
          <p:sp>
            <p:nvSpPr>
              <p:cNvPr id="24618" name="AutoShape 16"/>
              <p:cNvSpPr>
                <a:spLocks noChangeArrowheads="1"/>
              </p:cNvSpPr>
              <p:nvPr/>
            </p:nvSpPr>
            <p:spPr bwMode="auto">
              <a:xfrm>
                <a:off x="989" y="1945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</a:p>
            </p:txBody>
          </p:sp>
          <p:sp>
            <p:nvSpPr>
              <p:cNvPr id="24619" name="Line 17"/>
              <p:cNvSpPr>
                <a:spLocks noChangeShapeType="1"/>
              </p:cNvSpPr>
              <p:nvPr/>
            </p:nvSpPr>
            <p:spPr bwMode="auto">
              <a:xfrm>
                <a:off x="1584" y="2102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20" name="Line 18"/>
              <p:cNvSpPr>
                <a:spLocks noChangeShapeType="1"/>
              </p:cNvSpPr>
              <p:nvPr/>
            </p:nvSpPr>
            <p:spPr bwMode="auto">
              <a:xfrm flipH="1">
                <a:off x="864" y="2098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610" name="Group 23"/>
            <p:cNvGrpSpPr/>
            <p:nvPr/>
          </p:nvGrpSpPr>
          <p:grpSpPr bwMode="auto">
            <a:xfrm>
              <a:off x="4511" y="1820"/>
              <a:ext cx="850" cy="316"/>
              <a:chOff x="4053" y="891"/>
              <a:chExt cx="850" cy="316"/>
            </a:xfrm>
          </p:grpSpPr>
          <p:sp>
            <p:nvSpPr>
              <p:cNvPr id="24615" name="AutoShape 20"/>
              <p:cNvSpPr>
                <a:spLocks noChangeArrowheads="1"/>
              </p:cNvSpPr>
              <p:nvPr/>
            </p:nvSpPr>
            <p:spPr bwMode="auto">
              <a:xfrm>
                <a:off x="4178" y="891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</a:p>
            </p:txBody>
          </p:sp>
          <p:sp>
            <p:nvSpPr>
              <p:cNvPr id="24616" name="Line 21"/>
              <p:cNvSpPr>
                <a:spLocks noChangeShapeType="1"/>
              </p:cNvSpPr>
              <p:nvPr/>
            </p:nvSpPr>
            <p:spPr bwMode="auto">
              <a:xfrm>
                <a:off x="4773" y="1048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17" name="Line 22"/>
              <p:cNvSpPr>
                <a:spLocks noChangeShapeType="1"/>
              </p:cNvSpPr>
              <p:nvPr/>
            </p:nvSpPr>
            <p:spPr bwMode="auto">
              <a:xfrm flipH="1">
                <a:off x="4053" y="1044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611" name="Group 27"/>
            <p:cNvGrpSpPr/>
            <p:nvPr/>
          </p:nvGrpSpPr>
          <p:grpSpPr bwMode="auto">
            <a:xfrm>
              <a:off x="4507" y="3629"/>
              <a:ext cx="850" cy="316"/>
              <a:chOff x="4119" y="3853"/>
              <a:chExt cx="850" cy="316"/>
            </a:xfrm>
          </p:grpSpPr>
          <p:sp>
            <p:nvSpPr>
              <p:cNvPr id="24612" name="AutoShape 24"/>
              <p:cNvSpPr>
                <a:spLocks noChangeArrowheads="1"/>
              </p:cNvSpPr>
              <p:nvPr/>
            </p:nvSpPr>
            <p:spPr bwMode="auto">
              <a:xfrm>
                <a:off x="4244" y="3853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</a:p>
            </p:txBody>
          </p:sp>
          <p:sp>
            <p:nvSpPr>
              <p:cNvPr id="24613" name="Line 25"/>
              <p:cNvSpPr>
                <a:spLocks noChangeShapeType="1"/>
              </p:cNvSpPr>
              <p:nvPr/>
            </p:nvSpPr>
            <p:spPr bwMode="auto">
              <a:xfrm>
                <a:off x="4839" y="4010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14" name="Line 26"/>
              <p:cNvSpPr>
                <a:spLocks noChangeShapeType="1"/>
              </p:cNvSpPr>
              <p:nvPr/>
            </p:nvSpPr>
            <p:spPr bwMode="auto">
              <a:xfrm flipH="1">
                <a:off x="4119" y="4006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4583" name="AutoShape 4"/>
          <p:cNvSpPr>
            <a:spLocks noChangeArrowheads="1"/>
          </p:cNvSpPr>
          <p:nvPr/>
        </p:nvSpPr>
        <p:spPr bwMode="auto">
          <a:xfrm>
            <a:off x="539750" y="1984375"/>
            <a:ext cx="2857500" cy="769938"/>
          </a:xfrm>
          <a:prstGeom prst="cloudCallout">
            <a:avLst>
              <a:gd name="adj1" fmla="val -43935"/>
              <a:gd name="adj2" fmla="val 7591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＊这些联系集类型有何差别？</a:t>
            </a:r>
          </a:p>
        </p:txBody>
      </p:sp>
      <p:sp>
        <p:nvSpPr>
          <p:cNvPr id="481311" name="AutoShape 3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731250" y="6307138"/>
            <a:ext cx="215900" cy="163512"/>
          </a:xfrm>
          <a:prstGeom prst="actionButtonBackPrevious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481312" name="AutoShape 4"/>
          <p:cNvSpPr>
            <a:spLocks noChangeArrowheads="1"/>
          </p:cNvSpPr>
          <p:nvPr/>
        </p:nvSpPr>
        <p:spPr bwMode="auto">
          <a:xfrm>
            <a:off x="598488" y="3794125"/>
            <a:ext cx="2592387" cy="1027113"/>
          </a:xfrm>
          <a:prstGeom prst="cloudCallout">
            <a:avLst>
              <a:gd name="adj1" fmla="val -45329"/>
              <a:gd name="adj2" fmla="val 74051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哪些是实体集对联系集的全参与或部分参与？</a:t>
            </a:r>
          </a:p>
        </p:txBody>
      </p:sp>
      <p:grpSp>
        <p:nvGrpSpPr>
          <p:cNvPr id="7" name="Group 55"/>
          <p:cNvGrpSpPr/>
          <p:nvPr/>
        </p:nvGrpSpPr>
        <p:grpSpPr bwMode="auto">
          <a:xfrm>
            <a:off x="793750" y="4986338"/>
            <a:ext cx="6353175" cy="1263650"/>
            <a:chOff x="500" y="3141"/>
            <a:chExt cx="4002" cy="796"/>
          </a:xfrm>
        </p:grpSpPr>
        <p:sp>
          <p:nvSpPr>
            <p:cNvPr id="24589" name="Rectangle 35"/>
            <p:cNvSpPr>
              <a:spLocks noChangeArrowheads="1"/>
            </p:cNvSpPr>
            <p:nvPr/>
          </p:nvSpPr>
          <p:spPr bwMode="auto">
            <a:xfrm>
              <a:off x="500" y="3345"/>
              <a:ext cx="116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66FF"/>
                  </a:solidFill>
                  <a:latin typeface="Tahoma" panose="020B0604030504040204" pitchFamily="34" charset="0"/>
                </a:rPr>
                <a:t>属性集的全参与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66FF"/>
                  </a:solidFill>
                  <a:latin typeface="Tahoma" panose="020B0604030504040204" pitchFamily="34" charset="0"/>
                </a:rPr>
                <a:t>可采用双线表示！</a:t>
              </a:r>
            </a:p>
          </p:txBody>
        </p:sp>
        <p:grpSp>
          <p:nvGrpSpPr>
            <p:cNvPr id="24590" name="Group 51"/>
            <p:cNvGrpSpPr/>
            <p:nvPr/>
          </p:nvGrpSpPr>
          <p:grpSpPr bwMode="auto">
            <a:xfrm>
              <a:off x="1615" y="3449"/>
              <a:ext cx="905" cy="475"/>
              <a:chOff x="1615" y="3449"/>
              <a:chExt cx="905" cy="475"/>
            </a:xfrm>
          </p:grpSpPr>
          <p:sp>
            <p:nvSpPr>
              <p:cNvPr id="24599" name="AutoShape 37"/>
              <p:cNvSpPr>
                <a:spLocks noChangeArrowheads="1"/>
              </p:cNvSpPr>
              <p:nvPr/>
            </p:nvSpPr>
            <p:spPr bwMode="auto">
              <a:xfrm>
                <a:off x="1761" y="3608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rgbClr val="0066FF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</a:rPr>
                  <a:t>联系集名</a:t>
                </a:r>
              </a:p>
            </p:txBody>
          </p:sp>
          <p:sp>
            <p:nvSpPr>
              <p:cNvPr id="24600" name="Line 38"/>
              <p:cNvSpPr>
                <a:spLocks noChangeShapeType="1"/>
              </p:cNvSpPr>
              <p:nvPr/>
            </p:nvSpPr>
            <p:spPr bwMode="auto">
              <a:xfrm>
                <a:off x="2356" y="3765"/>
                <a:ext cx="130" cy="1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01" name="Line 39"/>
              <p:cNvSpPr>
                <a:spLocks noChangeShapeType="1"/>
              </p:cNvSpPr>
              <p:nvPr/>
            </p:nvSpPr>
            <p:spPr bwMode="auto">
              <a:xfrm flipH="1" flipV="1">
                <a:off x="1639" y="3751"/>
                <a:ext cx="142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02" name="Text Box 3"/>
              <p:cNvSpPr txBox="1">
                <a:spLocks noChangeArrowheads="1"/>
              </p:cNvSpPr>
              <p:nvPr/>
            </p:nvSpPr>
            <p:spPr bwMode="auto">
              <a:xfrm>
                <a:off x="1615" y="3449"/>
                <a:ext cx="90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A</a:t>
                </a:r>
                <a:r>
                  <a:rPr kumimoji="0" lang="zh-CN" altLang="en-US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全参与</a:t>
                </a:r>
              </a:p>
            </p:txBody>
          </p:sp>
          <p:sp>
            <p:nvSpPr>
              <p:cNvPr id="24603" name="Line 49"/>
              <p:cNvSpPr>
                <a:spLocks noChangeShapeType="1"/>
              </p:cNvSpPr>
              <p:nvPr/>
            </p:nvSpPr>
            <p:spPr bwMode="auto">
              <a:xfrm>
                <a:off x="1636" y="3777"/>
                <a:ext cx="147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591" name="Group 52"/>
            <p:cNvGrpSpPr/>
            <p:nvPr/>
          </p:nvGrpSpPr>
          <p:grpSpPr bwMode="auto">
            <a:xfrm>
              <a:off x="3517" y="3444"/>
              <a:ext cx="985" cy="493"/>
              <a:chOff x="3517" y="3444"/>
              <a:chExt cx="985" cy="493"/>
            </a:xfrm>
          </p:grpSpPr>
          <p:sp>
            <p:nvSpPr>
              <p:cNvPr id="24594" name="Text Box 4"/>
              <p:cNvSpPr txBox="1">
                <a:spLocks noChangeArrowheads="1"/>
              </p:cNvSpPr>
              <p:nvPr/>
            </p:nvSpPr>
            <p:spPr bwMode="auto">
              <a:xfrm>
                <a:off x="3517" y="3444"/>
                <a:ext cx="98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A</a:t>
                </a:r>
                <a:r>
                  <a:rPr kumimoji="0" lang="zh-CN" altLang="en-US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全参与，</a:t>
                </a:r>
                <a:r>
                  <a:rPr kumimoji="0" lang="en-US" altLang="zh-CN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B</a:t>
                </a:r>
                <a:r>
                  <a:rPr kumimoji="0" lang="zh-CN" altLang="en-US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部分参与</a:t>
                </a:r>
              </a:p>
            </p:txBody>
          </p:sp>
          <p:sp>
            <p:nvSpPr>
              <p:cNvPr id="24595" name="AutoShape 43"/>
              <p:cNvSpPr>
                <a:spLocks noChangeArrowheads="1"/>
              </p:cNvSpPr>
              <p:nvPr/>
            </p:nvSpPr>
            <p:spPr bwMode="auto">
              <a:xfrm>
                <a:off x="3699" y="3621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rgbClr val="0066FF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</a:rPr>
                  <a:t>联系集名</a:t>
                </a:r>
              </a:p>
            </p:txBody>
          </p:sp>
          <p:sp>
            <p:nvSpPr>
              <p:cNvPr id="24596" name="Line 44"/>
              <p:cNvSpPr>
                <a:spLocks noChangeShapeType="1"/>
              </p:cNvSpPr>
              <p:nvPr/>
            </p:nvSpPr>
            <p:spPr bwMode="auto">
              <a:xfrm>
                <a:off x="4294" y="3778"/>
                <a:ext cx="130" cy="1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597" name="Line 45"/>
              <p:cNvSpPr>
                <a:spLocks noChangeShapeType="1"/>
              </p:cNvSpPr>
              <p:nvPr/>
            </p:nvSpPr>
            <p:spPr bwMode="auto">
              <a:xfrm flipH="1">
                <a:off x="3594" y="3764"/>
                <a:ext cx="125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598" name="Line 50"/>
              <p:cNvSpPr>
                <a:spLocks noChangeShapeType="1"/>
              </p:cNvSpPr>
              <p:nvPr/>
            </p:nvSpPr>
            <p:spPr bwMode="auto">
              <a:xfrm flipH="1">
                <a:off x="3594" y="3791"/>
                <a:ext cx="125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sp>
          <p:nvSpPr>
            <p:cNvPr id="24592" name="Line 53"/>
            <p:cNvSpPr>
              <a:spLocks noChangeShapeType="1"/>
            </p:cNvSpPr>
            <p:nvPr/>
          </p:nvSpPr>
          <p:spPr bwMode="auto">
            <a:xfrm flipH="1">
              <a:off x="2184" y="3141"/>
              <a:ext cx="234" cy="217"/>
            </a:xfrm>
            <a:prstGeom prst="line">
              <a:avLst/>
            </a:prstGeom>
            <a:noFill/>
            <a:ln w="38100" cmpd="dbl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4593" name="Line 54"/>
            <p:cNvSpPr>
              <a:spLocks noChangeShapeType="1"/>
            </p:cNvSpPr>
            <p:nvPr/>
          </p:nvSpPr>
          <p:spPr bwMode="auto">
            <a:xfrm flipH="1">
              <a:off x="4075" y="3179"/>
              <a:ext cx="218" cy="201"/>
            </a:xfrm>
            <a:prstGeom prst="line">
              <a:avLst/>
            </a:prstGeom>
            <a:noFill/>
            <a:ln w="38100" cmpd="dbl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24587" name="矩形 46"/>
          <p:cNvSpPr>
            <a:spLocks noChangeArrowheads="1"/>
          </p:cNvSpPr>
          <p:nvPr/>
        </p:nvSpPr>
        <p:spPr bwMode="auto">
          <a:xfrm>
            <a:off x="2970213" y="2578100"/>
            <a:ext cx="955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4.a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4588" name="矩形 46"/>
          <p:cNvSpPr>
            <a:spLocks noChangeArrowheads="1"/>
          </p:cNvSpPr>
          <p:nvPr/>
        </p:nvSpPr>
        <p:spPr bwMode="auto">
          <a:xfrm>
            <a:off x="3041650" y="3540125"/>
            <a:ext cx="86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4</a:t>
            </a:r>
            <a:r>
              <a:rPr kumimoji="0" lang="en-US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.b</a:t>
            </a:r>
            <a:endParaRPr kumimoji="0" lang="zh-CN" altLang="en-US" sz="16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1" grpId="0" animBg="1"/>
      <p:bldP spid="4813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8CD103-8D59-4A33-A9EA-844BD417DA08}" type="slidenum">
              <a:rPr kumimoji="0" lang="zh-CN" altLang="en-US" sz="1400"/>
              <a:t>10</a:t>
            </a:fld>
            <a:endParaRPr kumimoji="0" lang="en-US" altLang="zh-CN" sz="140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0050" y="877888"/>
            <a:ext cx="5021263" cy="987425"/>
          </a:xfrm>
        </p:spPr>
        <p:txBody>
          <a:bodyPr/>
          <a:lstStyle/>
          <a:p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复合属性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50850" y="31750"/>
            <a:ext cx="77724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 复合属性与多元联系集</a:t>
            </a:r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2254250"/>
            <a:ext cx="6791325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5" name="Group 12"/>
          <p:cNvGrpSpPr/>
          <p:nvPr/>
        </p:nvGrpSpPr>
        <p:grpSpPr bwMode="auto">
          <a:xfrm>
            <a:off x="5588000" y="890588"/>
            <a:ext cx="3079750" cy="1300162"/>
            <a:chOff x="3676" y="581"/>
            <a:chExt cx="1749" cy="766"/>
          </a:xfrm>
        </p:grpSpPr>
        <p:sp>
          <p:nvSpPr>
            <p:cNvPr id="25623" name="AutoShape 4"/>
            <p:cNvSpPr>
              <a:spLocks noChangeArrowheads="1"/>
            </p:cNvSpPr>
            <p:nvPr/>
          </p:nvSpPr>
          <p:spPr bwMode="auto">
            <a:xfrm>
              <a:off x="3937" y="720"/>
              <a:ext cx="1408" cy="627"/>
            </a:xfrm>
            <a:prstGeom prst="cloudCallout">
              <a:avLst>
                <a:gd name="adj1" fmla="val 61741"/>
                <a:gd name="adj2" fmla="val 6776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34" charset="0"/>
                </a:rPr>
                <a:t>E-R</a:t>
              </a:r>
              <a:r>
                <a:rPr kumimoji="0" lang="zh-CN" altLang="en-US" sz="1600">
                  <a:latin typeface="Tahoma" panose="020B0604030504040204" pitchFamily="34" charset="0"/>
                </a:rPr>
                <a:t>模型如何描述具有复杂结构的数据对象？</a:t>
              </a:r>
            </a:p>
          </p:txBody>
        </p:sp>
        <p:sp>
          <p:nvSpPr>
            <p:cNvPr id="25624" name="Rectangle 8"/>
            <p:cNvSpPr>
              <a:spLocks noChangeArrowheads="1"/>
            </p:cNvSpPr>
            <p:nvPr/>
          </p:nvSpPr>
          <p:spPr bwMode="auto">
            <a:xfrm>
              <a:off x="4030" y="625"/>
              <a:ext cx="28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汽车？</a:t>
              </a:r>
            </a:p>
          </p:txBody>
        </p:sp>
        <p:sp>
          <p:nvSpPr>
            <p:cNvPr id="25625" name="Rectangle 9"/>
            <p:cNvSpPr>
              <a:spLocks noChangeArrowheads="1"/>
            </p:cNvSpPr>
            <p:nvPr/>
          </p:nvSpPr>
          <p:spPr bwMode="auto">
            <a:xfrm>
              <a:off x="4499" y="581"/>
              <a:ext cx="48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教材目录？</a:t>
              </a:r>
            </a:p>
          </p:txBody>
        </p:sp>
        <p:sp>
          <p:nvSpPr>
            <p:cNvPr id="25626" name="Rectangle 10"/>
            <p:cNvSpPr>
              <a:spLocks noChangeArrowheads="1"/>
            </p:cNvSpPr>
            <p:nvPr/>
          </p:nvSpPr>
          <p:spPr bwMode="auto">
            <a:xfrm>
              <a:off x="5137" y="612"/>
              <a:ext cx="28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学校？</a:t>
              </a:r>
            </a:p>
          </p:txBody>
        </p:sp>
        <p:sp>
          <p:nvSpPr>
            <p:cNvPr id="25627" name="Rectangle 11"/>
            <p:cNvSpPr>
              <a:spLocks noChangeArrowheads="1"/>
            </p:cNvSpPr>
            <p:nvPr/>
          </p:nvSpPr>
          <p:spPr bwMode="auto">
            <a:xfrm>
              <a:off x="3676" y="957"/>
              <a:ext cx="28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住址？</a:t>
              </a:r>
            </a:p>
          </p:txBody>
        </p:sp>
      </p:grpSp>
      <p:sp>
        <p:nvSpPr>
          <p:cNvPr id="482317" name="Rectangle 13"/>
          <p:cNvSpPr>
            <a:spLocks noChangeArrowheads="1"/>
          </p:cNvSpPr>
          <p:nvPr/>
        </p:nvSpPr>
        <p:spPr bwMode="auto">
          <a:xfrm>
            <a:off x="2444750" y="5175250"/>
            <a:ext cx="6635750" cy="984250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理论上讲：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E-R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模型可描述任何复杂客观对象，实体集可以是任何一种复杂数据结构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因为：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E-R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模型重点是</a:t>
            </a: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面向客观世界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，建立</a:t>
            </a: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易于用户理解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的抽象数据模型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               （它不关心数据如何才能够被实际存储）</a:t>
            </a:r>
          </a:p>
        </p:txBody>
      </p:sp>
      <p:pic>
        <p:nvPicPr>
          <p:cNvPr id="2560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273300"/>
            <a:ext cx="1620838" cy="323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矩形 23"/>
          <p:cNvSpPr>
            <a:spLocks noChangeArrowheads="1"/>
          </p:cNvSpPr>
          <p:nvPr/>
        </p:nvSpPr>
        <p:spPr bwMode="auto">
          <a:xfrm>
            <a:off x="2241550" y="1901825"/>
            <a:ext cx="955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5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5609" name="矩形 24"/>
          <p:cNvSpPr>
            <a:spLocks noChangeArrowheads="1"/>
          </p:cNvSpPr>
          <p:nvPr/>
        </p:nvSpPr>
        <p:spPr bwMode="auto">
          <a:xfrm>
            <a:off x="61913" y="1830388"/>
            <a:ext cx="955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5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.b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pSp>
        <p:nvGrpSpPr>
          <p:cNvPr id="2" name="组 1"/>
          <p:cNvGrpSpPr/>
          <p:nvPr/>
        </p:nvGrpSpPr>
        <p:grpSpPr bwMode="auto">
          <a:xfrm>
            <a:off x="1412875" y="2970213"/>
            <a:ext cx="3841750" cy="2501900"/>
            <a:chOff x="1412875" y="2970213"/>
            <a:chExt cx="3841749" cy="2501900"/>
          </a:xfrm>
        </p:grpSpPr>
        <p:grpSp>
          <p:nvGrpSpPr>
            <p:cNvPr id="25612" name="Group 27"/>
            <p:cNvGrpSpPr/>
            <p:nvPr/>
          </p:nvGrpSpPr>
          <p:grpSpPr bwMode="auto">
            <a:xfrm>
              <a:off x="1412875" y="2970213"/>
              <a:ext cx="952500" cy="2501900"/>
              <a:chOff x="970" y="2321"/>
              <a:chExt cx="600" cy="1576"/>
            </a:xfrm>
          </p:grpSpPr>
          <p:sp>
            <p:nvSpPr>
              <p:cNvPr id="25615" name="Rectangle 16"/>
              <p:cNvSpPr>
                <a:spLocks noChangeArrowheads="1"/>
              </p:cNvSpPr>
              <p:nvPr/>
            </p:nvSpPr>
            <p:spPr bwMode="auto">
              <a:xfrm>
                <a:off x="1159" y="2321"/>
                <a:ext cx="384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  <a:ea typeface="黑体" panose="02010609060101010101" pitchFamily="49" charset="-122"/>
                  </a:rPr>
                  <a:t>带有：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  <a:ea typeface="黑体" panose="02010609060101010101" pitchFamily="49" charset="-122"/>
                  </a:rPr>
                  <a:t>复合属性</a:t>
                </a:r>
              </a:p>
            </p:txBody>
          </p:sp>
          <p:sp>
            <p:nvSpPr>
              <p:cNvPr id="25616" name="Rectangle 17"/>
              <p:cNvSpPr>
                <a:spLocks noChangeArrowheads="1"/>
              </p:cNvSpPr>
              <p:nvPr/>
            </p:nvSpPr>
            <p:spPr bwMode="auto">
              <a:xfrm>
                <a:off x="1186" y="3542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多值属性</a:t>
                </a:r>
              </a:p>
            </p:txBody>
          </p:sp>
          <p:sp>
            <p:nvSpPr>
              <p:cNvPr id="25617" name="Rectangle 18"/>
              <p:cNvSpPr>
                <a:spLocks noChangeArrowheads="1"/>
              </p:cNvSpPr>
              <p:nvPr/>
            </p:nvSpPr>
            <p:spPr bwMode="auto">
              <a:xfrm>
                <a:off x="1175" y="3782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导出属性</a:t>
                </a:r>
              </a:p>
            </p:txBody>
          </p:sp>
          <p:sp>
            <p:nvSpPr>
              <p:cNvPr id="25618" name="AutoShape 19"/>
              <p:cNvSpPr/>
              <p:nvPr/>
            </p:nvSpPr>
            <p:spPr bwMode="auto">
              <a:xfrm>
                <a:off x="1061" y="2726"/>
                <a:ext cx="88" cy="805"/>
              </a:xfrm>
              <a:prstGeom prst="rightBrace">
                <a:avLst>
                  <a:gd name="adj1" fmla="val 76231"/>
                  <a:gd name="adj2" fmla="val 50000"/>
                </a:avLst>
              </a:prstGeom>
              <a:noFill/>
              <a:ln w="9525">
                <a:solidFill>
                  <a:schemeClr val="tx2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0" lang="zh-CN" altLang="en-US" sz="1200">
                  <a:latin typeface="Tahoma" panose="020B0604030504040204" pitchFamily="34" charset="0"/>
                </a:endParaRPr>
              </a:p>
            </p:txBody>
          </p:sp>
          <p:sp>
            <p:nvSpPr>
              <p:cNvPr id="25619" name="Line 20"/>
              <p:cNvSpPr>
                <a:spLocks noChangeShapeType="1"/>
              </p:cNvSpPr>
              <p:nvPr/>
            </p:nvSpPr>
            <p:spPr bwMode="auto">
              <a:xfrm>
                <a:off x="970" y="3618"/>
                <a:ext cx="174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5620" name="Line 21"/>
              <p:cNvSpPr>
                <a:spLocks noChangeShapeType="1"/>
              </p:cNvSpPr>
              <p:nvPr/>
            </p:nvSpPr>
            <p:spPr bwMode="auto">
              <a:xfrm flipV="1">
                <a:off x="974" y="3838"/>
                <a:ext cx="163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5621" name="AutoShape 25"/>
              <p:cNvSpPr/>
              <p:nvPr/>
            </p:nvSpPr>
            <p:spPr bwMode="auto">
              <a:xfrm>
                <a:off x="1053" y="2354"/>
                <a:ext cx="94" cy="332"/>
              </a:xfrm>
              <a:prstGeom prst="rightBrace">
                <a:avLst>
                  <a:gd name="adj1" fmla="val 29433"/>
                  <a:gd name="adj2" fmla="val 50000"/>
                </a:avLst>
              </a:prstGeom>
              <a:noFill/>
              <a:ln w="9525">
                <a:solidFill>
                  <a:schemeClr val="tx2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0" lang="zh-CN" altLang="en-US" sz="1200">
                  <a:latin typeface="Tahoma" panose="020B0604030504040204" pitchFamily="34" charset="0"/>
                </a:endParaRPr>
              </a:p>
            </p:txBody>
          </p:sp>
          <p:sp>
            <p:nvSpPr>
              <p:cNvPr id="25622" name="Rectangle 26"/>
              <p:cNvSpPr>
                <a:spLocks noChangeArrowheads="1"/>
              </p:cNvSpPr>
              <p:nvPr/>
            </p:nvSpPr>
            <p:spPr bwMode="auto">
              <a:xfrm>
                <a:off x="1127" y="2991"/>
                <a:ext cx="41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双重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复合属性</a:t>
                </a:r>
              </a:p>
            </p:txBody>
          </p:sp>
        </p:grpSp>
        <p:sp>
          <p:nvSpPr>
            <p:cNvPr id="25613" name="Line 20"/>
            <p:cNvSpPr>
              <a:spLocks noChangeShapeType="1"/>
            </p:cNvSpPr>
            <p:nvPr/>
          </p:nvSpPr>
          <p:spPr bwMode="auto">
            <a:xfrm flipV="1">
              <a:off x="2460625" y="3133726"/>
              <a:ext cx="428626" cy="9524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5614" name="Line 20"/>
            <p:cNvSpPr>
              <a:spLocks noChangeShapeType="1"/>
            </p:cNvSpPr>
            <p:nvPr/>
          </p:nvSpPr>
          <p:spPr bwMode="auto">
            <a:xfrm flipV="1">
              <a:off x="3517899" y="4381500"/>
              <a:ext cx="1736725" cy="9525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06375" y="5640388"/>
            <a:ext cx="1428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允许实体集使</a:t>
            </a:r>
            <a:endParaRPr kumimoji="0" lang="en-US" altLang="zh-CN" sz="16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用复合属性！</a:t>
            </a:r>
            <a:endParaRPr kumimoji="0" lang="zh-CN" altLang="en-US" sz="16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7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1232CC-C9C4-4FBB-AF4B-AF0E643438EC}" type="slidenum">
              <a:rPr kumimoji="0" lang="zh-CN" altLang="en-US" sz="1400"/>
              <a:t>11</a:t>
            </a:fld>
            <a:endParaRPr kumimoji="0" lang="en-US" altLang="zh-CN" sz="140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769938"/>
            <a:ext cx="7772400" cy="668337"/>
          </a:xfrm>
        </p:spPr>
        <p:txBody>
          <a:bodyPr/>
          <a:lstStyle/>
          <a:p>
            <a:r>
              <a:rPr kumimoji="0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0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多元联系集与角色</a:t>
            </a:r>
            <a:r>
              <a:rPr kumimoji="0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(roles)</a:t>
            </a:r>
            <a:endParaRPr kumimoji="0" lang="en-US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1228725" y="39688"/>
            <a:ext cx="7772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 复合属性与多元联系</a:t>
            </a:r>
          </a:p>
        </p:txBody>
      </p:sp>
      <p:pic>
        <p:nvPicPr>
          <p:cNvPr id="26628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1720850"/>
            <a:ext cx="4902200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AutoShape 4"/>
          <p:cNvSpPr>
            <a:spLocks noChangeArrowheads="1"/>
          </p:cNvSpPr>
          <p:nvPr/>
        </p:nvSpPr>
        <p:spPr bwMode="auto">
          <a:xfrm>
            <a:off x="279400" y="1638300"/>
            <a:ext cx="2244725" cy="847725"/>
          </a:xfrm>
          <a:prstGeom prst="cloudCallout">
            <a:avLst>
              <a:gd name="adj1" fmla="val -48306"/>
              <a:gd name="adj2" fmla="val 7771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什么是多元联系集和角色？</a:t>
            </a:r>
          </a:p>
        </p:txBody>
      </p:sp>
      <p:sp>
        <p:nvSpPr>
          <p:cNvPr id="483336" name="AutoShape 4"/>
          <p:cNvSpPr>
            <a:spLocks noChangeArrowheads="1"/>
          </p:cNvSpPr>
          <p:nvPr/>
        </p:nvSpPr>
        <p:spPr bwMode="auto">
          <a:xfrm>
            <a:off x="258763" y="2857500"/>
            <a:ext cx="2487612" cy="1025525"/>
          </a:xfrm>
          <a:prstGeom prst="cloudCallout">
            <a:avLst>
              <a:gd name="adj1" fmla="val -51495"/>
              <a:gd name="adj2" fmla="val 6688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多元联系集描述</a:t>
            </a: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可否转换为</a:t>
            </a:r>
            <a:r>
              <a:rPr kumimoji="0" lang="zh-CN" altLang="en-US" sz="1600">
                <a:latin typeface="Tahoma" panose="020B0604030504040204" pitchFamily="34" charset="0"/>
              </a:rPr>
              <a:t>二元联系集描述？</a:t>
            </a:r>
          </a:p>
        </p:txBody>
      </p:sp>
      <p:grpSp>
        <p:nvGrpSpPr>
          <p:cNvPr id="2" name="Group 32"/>
          <p:cNvGrpSpPr/>
          <p:nvPr/>
        </p:nvGrpSpPr>
        <p:grpSpPr bwMode="auto">
          <a:xfrm>
            <a:off x="4411663" y="2366963"/>
            <a:ext cx="2617787" cy="1476375"/>
            <a:chOff x="2779" y="1706"/>
            <a:chExt cx="1649" cy="930"/>
          </a:xfrm>
        </p:grpSpPr>
        <p:sp>
          <p:nvSpPr>
            <p:cNvPr id="26657" name="Rectangle 21"/>
            <p:cNvSpPr>
              <a:spLocks noChangeArrowheads="1"/>
            </p:cNvSpPr>
            <p:nvPr/>
          </p:nvSpPr>
          <p:spPr bwMode="auto">
            <a:xfrm>
              <a:off x="2897" y="2406"/>
              <a:ext cx="137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三元联系集示例   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1200">
                  <a:solidFill>
                    <a:schemeClr val="tx2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每一条连线</a:t>
              </a:r>
              <a:r>
                <a:rPr kumimoji="0" lang="en-US" altLang="zh-CN" sz="1200">
                  <a:solidFill>
                    <a:schemeClr val="tx2"/>
                  </a:solidFill>
                  <a:latin typeface="Tahoma" panose="020B0604030504040204" pitchFamily="34" charset="0"/>
                </a:rPr>
                <a:t>-</a:t>
              </a: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代表一个不同角色</a:t>
              </a:r>
              <a:r>
                <a:rPr kumimoji="0" lang="en-US" altLang="zh-CN" sz="1200">
                  <a:solidFill>
                    <a:schemeClr val="tx2"/>
                  </a:solidFill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26658" name="Rectangle 22"/>
            <p:cNvSpPr>
              <a:spLocks noChangeArrowheads="1"/>
            </p:cNvSpPr>
            <p:nvPr/>
          </p:nvSpPr>
          <p:spPr bwMode="auto">
            <a:xfrm>
              <a:off x="2779" y="2175"/>
              <a:ext cx="4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chemeClr val="tx2"/>
                  </a:solidFill>
                  <a:latin typeface="Times New Roman" panose="02020603050405020304" charset="0"/>
                </a:rPr>
                <a:t>instructor_id</a:t>
              </a:r>
            </a:p>
          </p:txBody>
        </p:sp>
        <p:sp>
          <p:nvSpPr>
            <p:cNvPr id="26659" name="Rectangle 25"/>
            <p:cNvSpPr>
              <a:spLocks noChangeArrowheads="1"/>
            </p:cNvSpPr>
            <p:nvPr/>
          </p:nvSpPr>
          <p:spPr bwMode="auto">
            <a:xfrm>
              <a:off x="4027" y="2173"/>
              <a:ext cx="40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chemeClr val="tx2"/>
                  </a:solidFill>
                  <a:latin typeface="Times New Roman" panose="02020603050405020304" charset="0"/>
                </a:rPr>
                <a:t>student_id</a:t>
              </a:r>
            </a:p>
          </p:txBody>
        </p:sp>
        <p:sp>
          <p:nvSpPr>
            <p:cNvPr id="26660" name="Rectangle 26"/>
            <p:cNvSpPr>
              <a:spLocks noChangeArrowheads="1"/>
            </p:cNvSpPr>
            <p:nvPr/>
          </p:nvSpPr>
          <p:spPr bwMode="auto">
            <a:xfrm>
              <a:off x="3457" y="1706"/>
              <a:ext cx="39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chemeClr val="tx2"/>
                  </a:solidFill>
                  <a:latin typeface="Times New Roman" panose="02020603050405020304" charset="0"/>
                </a:rPr>
                <a:t>project_id</a:t>
              </a:r>
            </a:p>
          </p:txBody>
        </p:sp>
      </p:grpSp>
      <p:grpSp>
        <p:nvGrpSpPr>
          <p:cNvPr id="3" name="Group 29"/>
          <p:cNvGrpSpPr/>
          <p:nvPr/>
        </p:nvGrpSpPr>
        <p:grpSpPr bwMode="auto">
          <a:xfrm>
            <a:off x="3354388" y="1746250"/>
            <a:ext cx="2097087" cy="1103313"/>
            <a:chOff x="2113" y="1315"/>
            <a:chExt cx="1321" cy="695"/>
          </a:xfrm>
        </p:grpSpPr>
        <p:grpSp>
          <p:nvGrpSpPr>
            <p:cNvPr id="26651" name="Group 19"/>
            <p:cNvGrpSpPr/>
            <p:nvPr/>
          </p:nvGrpSpPr>
          <p:grpSpPr bwMode="auto">
            <a:xfrm>
              <a:off x="2113" y="1315"/>
              <a:ext cx="1321" cy="695"/>
              <a:chOff x="2113" y="1315"/>
              <a:chExt cx="1321" cy="695"/>
            </a:xfrm>
          </p:grpSpPr>
          <p:grpSp>
            <p:nvGrpSpPr>
              <p:cNvPr id="26653" name="Group 13"/>
              <p:cNvGrpSpPr/>
              <p:nvPr/>
            </p:nvGrpSpPr>
            <p:grpSpPr bwMode="auto">
              <a:xfrm>
                <a:off x="2113" y="1315"/>
                <a:ext cx="642" cy="347"/>
                <a:chOff x="2113" y="1315"/>
                <a:chExt cx="642" cy="347"/>
              </a:xfrm>
            </p:grpSpPr>
            <p:sp>
              <p:nvSpPr>
                <p:cNvPr id="26655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4" y="1315"/>
                  <a:ext cx="641" cy="347"/>
                </a:xfrm>
                <a:prstGeom prst="rect">
                  <a:avLst/>
                </a:prstGeom>
                <a:solidFill>
                  <a:schemeClr val="bg1">
                    <a:alpha val="65881"/>
                  </a:schemeClr>
                </a:solidFill>
                <a:ln w="19050">
                  <a:solidFill>
                    <a:srgbClr val="0066FF"/>
                  </a:solidFill>
                  <a:miter lim="800000"/>
                </a:ln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企业专家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…</a:t>
                  </a:r>
                </a:p>
              </p:txBody>
            </p:sp>
            <p:sp>
              <p:nvSpPr>
                <p:cNvPr id="26656" name="Line 12"/>
                <p:cNvSpPr>
                  <a:spLocks noChangeShapeType="1"/>
                </p:cNvSpPr>
                <p:nvPr/>
              </p:nvSpPr>
              <p:spPr bwMode="auto">
                <a:xfrm>
                  <a:off x="2113" y="1499"/>
                  <a:ext cx="642" cy="0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54" name="Line 17"/>
              <p:cNvSpPr>
                <a:spLocks noChangeShapeType="1"/>
              </p:cNvSpPr>
              <p:nvPr/>
            </p:nvSpPr>
            <p:spPr bwMode="auto">
              <a:xfrm>
                <a:off x="2760" y="1662"/>
                <a:ext cx="674" cy="348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sp>
          <p:nvSpPr>
            <p:cNvPr id="26652" name="Rectangle 27"/>
            <p:cNvSpPr>
              <a:spLocks noChangeArrowheads="1"/>
            </p:cNvSpPr>
            <p:nvPr/>
          </p:nvSpPr>
          <p:spPr bwMode="auto">
            <a:xfrm>
              <a:off x="2787" y="1716"/>
              <a:ext cx="42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solidFill>
                    <a:srgbClr val="0066FF"/>
                  </a:solidFill>
                  <a:latin typeface="Times New Roman" panose="02020603050405020304" charset="0"/>
                </a:rPr>
                <a:t>   企业家</a:t>
              </a:r>
              <a:r>
                <a:rPr kumimoji="0" lang="en-US" altLang="zh-CN" sz="1200" b="0">
                  <a:solidFill>
                    <a:srgbClr val="0066FF"/>
                  </a:solidFill>
                  <a:latin typeface="Times New Roman" panose="02020603050405020304" charset="0"/>
                </a:rPr>
                <a:t>_id</a:t>
              </a:r>
            </a:p>
          </p:txBody>
        </p:sp>
      </p:grpSp>
      <p:grpSp>
        <p:nvGrpSpPr>
          <p:cNvPr id="6" name="Group 30"/>
          <p:cNvGrpSpPr/>
          <p:nvPr/>
        </p:nvGrpSpPr>
        <p:grpSpPr bwMode="auto">
          <a:xfrm>
            <a:off x="6159500" y="1701800"/>
            <a:ext cx="1992313" cy="1139825"/>
            <a:chOff x="3880" y="1287"/>
            <a:chExt cx="1255" cy="718"/>
          </a:xfrm>
        </p:grpSpPr>
        <p:grpSp>
          <p:nvGrpSpPr>
            <p:cNvPr id="26645" name="Group 20"/>
            <p:cNvGrpSpPr/>
            <p:nvPr/>
          </p:nvGrpSpPr>
          <p:grpSpPr bwMode="auto">
            <a:xfrm>
              <a:off x="3880" y="1287"/>
              <a:ext cx="1255" cy="718"/>
              <a:chOff x="3880" y="1287"/>
              <a:chExt cx="1255" cy="718"/>
            </a:xfrm>
          </p:grpSpPr>
          <p:grpSp>
            <p:nvGrpSpPr>
              <p:cNvPr id="26647" name="Group 14"/>
              <p:cNvGrpSpPr/>
              <p:nvPr/>
            </p:nvGrpSpPr>
            <p:grpSpPr bwMode="auto">
              <a:xfrm>
                <a:off x="4493" y="1287"/>
                <a:ext cx="642" cy="347"/>
                <a:chOff x="2113" y="1315"/>
                <a:chExt cx="642" cy="347"/>
              </a:xfrm>
            </p:grpSpPr>
            <p:sp>
              <p:nvSpPr>
                <p:cNvPr id="26649" name="Rectangle 15"/>
                <p:cNvSpPr>
                  <a:spLocks noChangeArrowheads="1"/>
                </p:cNvSpPr>
                <p:nvPr/>
              </p:nvSpPr>
              <p:spPr bwMode="auto">
                <a:xfrm>
                  <a:off x="2114" y="1315"/>
                  <a:ext cx="641" cy="347"/>
                </a:xfrm>
                <a:prstGeom prst="rect">
                  <a:avLst/>
                </a:prstGeom>
                <a:solidFill>
                  <a:schemeClr val="bg1">
                    <a:alpha val="65881"/>
                  </a:schemeClr>
                </a:solidFill>
                <a:ln w="19050">
                  <a:solidFill>
                    <a:srgbClr val="0066FF"/>
                  </a:solidFill>
                  <a:miter lim="800000"/>
                </a:ln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律师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…</a:t>
                  </a:r>
                </a:p>
              </p:txBody>
            </p:sp>
            <p:sp>
              <p:nvSpPr>
                <p:cNvPr id="26650" name="Line 16"/>
                <p:cNvSpPr>
                  <a:spLocks noChangeShapeType="1"/>
                </p:cNvSpPr>
                <p:nvPr/>
              </p:nvSpPr>
              <p:spPr bwMode="auto">
                <a:xfrm>
                  <a:off x="2113" y="1499"/>
                  <a:ext cx="642" cy="0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48" name="Line 18"/>
              <p:cNvSpPr>
                <a:spLocks noChangeShapeType="1"/>
              </p:cNvSpPr>
              <p:nvPr/>
            </p:nvSpPr>
            <p:spPr bwMode="auto">
              <a:xfrm flipH="1">
                <a:off x="3880" y="1635"/>
                <a:ext cx="614" cy="37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sp>
          <p:nvSpPr>
            <p:cNvPr id="26646" name="Rectangle 28"/>
            <p:cNvSpPr>
              <a:spLocks noChangeArrowheads="1"/>
            </p:cNvSpPr>
            <p:nvPr/>
          </p:nvSpPr>
          <p:spPr bwMode="auto">
            <a:xfrm>
              <a:off x="4145" y="1700"/>
              <a:ext cx="28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solidFill>
                    <a:srgbClr val="0066FF"/>
                  </a:solidFill>
                  <a:latin typeface="Times New Roman" panose="02020603050405020304" charset="0"/>
                </a:rPr>
                <a:t>律师</a:t>
              </a:r>
              <a:r>
                <a:rPr kumimoji="0" lang="en-US" altLang="zh-CN" sz="1200" b="0">
                  <a:solidFill>
                    <a:srgbClr val="0066FF"/>
                  </a:solidFill>
                  <a:latin typeface="Times New Roman" panose="02020603050405020304" charset="0"/>
                </a:rPr>
                <a:t>_id</a:t>
              </a:r>
            </a:p>
          </p:txBody>
        </p:sp>
      </p:grpSp>
      <p:pic>
        <p:nvPicPr>
          <p:cNvPr id="26634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5" y="3968750"/>
            <a:ext cx="3332163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35"/>
          <p:cNvGrpSpPr/>
          <p:nvPr/>
        </p:nvGrpSpPr>
        <p:grpSpPr bwMode="auto">
          <a:xfrm>
            <a:off x="6078538" y="3992563"/>
            <a:ext cx="889000" cy="884237"/>
            <a:chOff x="3829" y="2645"/>
            <a:chExt cx="560" cy="557"/>
          </a:xfrm>
        </p:grpSpPr>
        <p:sp>
          <p:nvSpPr>
            <p:cNvPr id="26643" name="Rectangle 33"/>
            <p:cNvSpPr>
              <a:spLocks noChangeArrowheads="1"/>
            </p:cNvSpPr>
            <p:nvPr/>
          </p:nvSpPr>
          <p:spPr bwMode="auto">
            <a:xfrm>
              <a:off x="3829" y="3106"/>
              <a:ext cx="5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 b="0">
                  <a:solidFill>
                    <a:schemeClr val="tx2"/>
                  </a:solidFill>
                  <a:latin typeface="Tahoma" panose="020B0604030504040204" pitchFamily="34" charset="0"/>
                </a:rPr>
                <a:t>该课程的先修课</a:t>
              </a:r>
            </a:p>
          </p:txBody>
        </p:sp>
        <p:sp>
          <p:nvSpPr>
            <p:cNvPr id="26644" name="Rectangle 34"/>
            <p:cNvSpPr>
              <a:spLocks noChangeArrowheads="1"/>
            </p:cNvSpPr>
            <p:nvPr/>
          </p:nvSpPr>
          <p:spPr bwMode="auto">
            <a:xfrm>
              <a:off x="4019" y="2645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 b="0">
                  <a:solidFill>
                    <a:schemeClr val="tx2"/>
                  </a:solidFill>
                  <a:latin typeface="Tahoma" panose="020B0604030504040204" pitchFamily="34" charset="0"/>
                </a:rPr>
                <a:t>课程</a:t>
              </a:r>
            </a:p>
          </p:txBody>
        </p:sp>
      </p:grpSp>
      <p:sp>
        <p:nvSpPr>
          <p:cNvPr id="483370" name="Rectangle 42"/>
          <p:cNvSpPr>
            <a:spLocks noChangeArrowheads="1"/>
          </p:cNvSpPr>
          <p:nvPr/>
        </p:nvSpPr>
        <p:spPr bwMode="auto">
          <a:xfrm>
            <a:off x="349250" y="4206875"/>
            <a:ext cx="3317875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多元联系的二元分解</a:t>
            </a:r>
            <a:endParaRPr kumimoji="0" lang="en-US" altLang="zh-CN" sz="16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实体集间的关系</a:t>
            </a:r>
            <a:r>
              <a: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对多元联系集</a:t>
            </a:r>
            <a:r>
              <a:rPr kumimoji="0" lang="en-US" altLang="zh-CN" sz="1600" b="0">
                <a:solidFill>
                  <a:srgbClr val="892D5B"/>
                </a:solidFill>
                <a:latin typeface="Tahoma" panose="020B0604030504040204" pitchFamily="34" charset="0"/>
              </a:rPr>
              <a:t>R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中的每个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实体</a:t>
            </a: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(ai,bi,ci)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：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. 创建实体集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E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中的一个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  新实体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ei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＝</a:t>
            </a: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(ai , bi , ci)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2.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添加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(ei,ai)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到二元联系集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3.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添加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(ei,bi)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到二元联系集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kumimoji="0" lang="en-US" altLang="zh-CN" sz="1600" b="0" baseline="-2500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4.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添加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(ei,ci)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到二元联系集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483371" name="Rectangle 43"/>
          <p:cNvSpPr>
            <a:spLocks noChangeArrowheads="1"/>
          </p:cNvSpPr>
          <p:nvPr/>
        </p:nvSpPr>
        <p:spPr bwMode="auto">
          <a:xfrm>
            <a:off x="4686300" y="3473450"/>
            <a:ext cx="914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rPr>
              <a:t>四元、五元、</a:t>
            </a:r>
          </a:p>
        </p:txBody>
      </p:sp>
      <p:sp>
        <p:nvSpPr>
          <p:cNvPr id="26638" name="矩形 37"/>
          <p:cNvSpPr>
            <a:spLocks noChangeArrowheads="1"/>
          </p:cNvSpPr>
          <p:nvPr/>
        </p:nvSpPr>
        <p:spPr bwMode="auto">
          <a:xfrm>
            <a:off x="7189788" y="1217613"/>
            <a:ext cx="954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6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6639" name="矩形 38"/>
          <p:cNvSpPr>
            <a:spLocks noChangeArrowheads="1"/>
          </p:cNvSpPr>
          <p:nvPr/>
        </p:nvSpPr>
        <p:spPr bwMode="auto">
          <a:xfrm>
            <a:off x="3873500" y="4021138"/>
            <a:ext cx="954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6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.b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pSp>
        <p:nvGrpSpPr>
          <p:cNvPr id="4" name="组 3"/>
          <p:cNvGrpSpPr/>
          <p:nvPr/>
        </p:nvGrpSpPr>
        <p:grpSpPr bwMode="auto">
          <a:xfrm>
            <a:off x="3316288" y="4764088"/>
            <a:ext cx="4856162" cy="1606550"/>
            <a:chOff x="3506840" y="4652963"/>
            <a:chExt cx="4856110" cy="1606550"/>
          </a:xfrm>
        </p:grpSpPr>
        <p:pic>
          <p:nvPicPr>
            <p:cNvPr id="26641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" t="28412" r="609" b="29225"/>
            <a:stretch>
              <a:fillRect/>
            </a:stretch>
          </p:blipFill>
          <p:spPr bwMode="auto">
            <a:xfrm>
              <a:off x="3509963" y="5048250"/>
              <a:ext cx="4852987" cy="1211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642" name="矩形 39"/>
            <p:cNvSpPr>
              <a:spLocks noChangeArrowheads="1"/>
            </p:cNvSpPr>
            <p:nvPr/>
          </p:nvSpPr>
          <p:spPr bwMode="auto">
            <a:xfrm>
              <a:off x="3506840" y="4652963"/>
              <a:ext cx="94128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"/>
                </a:spcBef>
                <a:buFontTx/>
                <a:buNone/>
              </a:pPr>
              <a:r>
                <a:rPr kumimoji="0" lang="zh-CN" altLang="en-US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案例</a:t>
              </a:r>
              <a:r>
                <a:rPr kumimoji="0" lang="zh-CN" altLang="zh-CN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6</a:t>
              </a:r>
              <a:r>
                <a:rPr kumimoji="0" lang="en-US" altLang="zh-CN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.c</a:t>
              </a:r>
              <a:endPara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3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3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3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83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6" grpId="0" animBg="1"/>
      <p:bldP spid="483370" grpId="0"/>
      <p:bldP spid="4833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D2206-85BA-4105-8B85-E9DBF1CE4549}" type="slidenum">
              <a:rPr lang="zh-CN" altLang="en-US" smtClean="0"/>
              <a:t>12</a:t>
            </a:fld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15389" y="635000"/>
            <a:ext cx="8501611" cy="544160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533400" indent="-533400">
              <a:lnSpc>
                <a:spcPct val="90000"/>
              </a:lnSpc>
              <a:buClr>
                <a:srgbClr val="FF0000"/>
              </a:buClr>
              <a:buFontTx/>
              <a:buNone/>
            </a:pPr>
            <a:r>
              <a:rPr lang="zh-CN" altLang="en-US" sz="2400" dirty="0"/>
              <a:t>图书借阅管理系统具有以下功能</a:t>
            </a:r>
            <a:r>
              <a:rPr lang="en-US" altLang="zh-CN" sz="2400" dirty="0"/>
              <a:t>:</a:t>
            </a:r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AutoNum type="arabicPeriod"/>
            </a:pPr>
            <a:r>
              <a:rPr lang="zh-CN" altLang="en-US" sz="2400" dirty="0"/>
              <a:t>可随时查询书库中现有书籍的数量与存放位置。</a:t>
            </a:r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所有各类书籍均可由书号唯一标识。</a:t>
            </a:r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AutoNum type="arabicPeriod"/>
            </a:pPr>
            <a:r>
              <a:rPr lang="zh-CN" altLang="en-US" sz="2400" dirty="0"/>
              <a:t>可随时查询书籍借还情况，包括借书人单位、姓名、借书证号、借书日期和还书日期。</a:t>
            </a:r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任何人可借多种书，任何一种书可为多个人所借；</a:t>
            </a:r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借书证号具有唯一性。</a:t>
            </a:r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AutoNum type="arabicPeriod"/>
            </a:pPr>
            <a:r>
              <a:rPr lang="zh-CN" altLang="en-US" sz="2400" dirty="0"/>
              <a:t>可通过数据库中保存的出版社的</a:t>
            </a:r>
            <a:r>
              <a:rPr lang="en-US" altLang="zh-CN" sz="2400" dirty="0"/>
              <a:t>Email</a:t>
            </a:r>
            <a:r>
              <a:rPr lang="zh-CN" altLang="en-US" sz="2400" dirty="0"/>
              <a:t>、电话、邮编及地址等信息向相应出版社增购有关书籍。</a:t>
            </a:r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一个出版社可出版多种书籍，同一本书仅为一个出版社出版；</a:t>
            </a:r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出版社名具有唯一性。</a:t>
            </a:r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None/>
            </a:pPr>
            <a:r>
              <a:rPr lang="zh-CN" altLang="en-US" sz="2400" dirty="0"/>
              <a:t>请为该系统作概念模型设计</a:t>
            </a:r>
            <a:r>
              <a:rPr lang="en-US" altLang="zh-CN" sz="2400" dirty="0"/>
              <a:t>,</a:t>
            </a:r>
            <a:r>
              <a:rPr lang="zh-CN" altLang="en-US" sz="2400" dirty="0"/>
              <a:t>画出</a:t>
            </a:r>
            <a:r>
              <a:rPr lang="en-US" altLang="zh-CN" sz="2400" dirty="0"/>
              <a:t>ER</a:t>
            </a:r>
            <a:r>
              <a:rPr lang="zh-CN" altLang="en-US" sz="2400" dirty="0"/>
              <a:t>图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>
              <a:alpha val="66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ctr" anchorCtr="1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627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灯片编号占位符 4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589D04-F8A1-4504-B4D9-314B974CC97A}" type="slidenum">
              <a:rPr kumimoji="0" lang="zh-CN" altLang="en-US" sz="1400"/>
              <a:t>13</a:t>
            </a:fld>
            <a:endParaRPr kumimoji="0" lang="en-US" altLang="zh-CN" sz="14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6215" y="1391920"/>
            <a:ext cx="8561070" cy="2928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D2206-85BA-4105-8B85-E9DBF1CE4549}" type="slidenum">
              <a:rPr lang="zh-CN" altLang="en-US" smtClean="0"/>
              <a:t>14</a:t>
            </a:fld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558006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FontTx/>
              <a:buNone/>
            </a:pPr>
            <a:r>
              <a:rPr lang="zh-CN" altLang="en-US" sz="2400" dirty="0"/>
              <a:t>某企业集团有若干工厂，每个工厂生产多种产品，且每一种产品可以在多个工厂生产，每个工厂按照固定的计划数量生产产品，计划数量不低于</a:t>
            </a:r>
            <a:r>
              <a:rPr lang="en-US" altLang="zh-CN" sz="2400" dirty="0"/>
              <a:t>300</a:t>
            </a:r>
            <a:r>
              <a:rPr lang="zh-CN" altLang="en-US" sz="2400" dirty="0"/>
              <a:t>；每个工厂聘用多名职工，且每名职工只能在一个工厂工作，工厂聘用职工有聘期和工资。工厂的属性有工厂编号、厂名、地址，产品的属性有产品编号、产品名、规格，职工的属性有职工号、姓名、技术等级。请为该集团进行概念设计，画出</a:t>
            </a:r>
            <a:r>
              <a:rPr lang="en-US" altLang="zh-CN" sz="2400" dirty="0"/>
              <a:t>E-R</a:t>
            </a:r>
            <a:r>
              <a:rPr lang="zh-CN" altLang="en-US" sz="2400" dirty="0"/>
              <a:t>图。</a:t>
            </a:r>
          </a:p>
          <a:p>
            <a:endParaRPr lang="zh-CN" altLang="en-US" sz="2400" dirty="0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>
              <a:alpha val="66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ctr" anchorCtr="1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8215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D6A123-488A-406A-A86A-C0F77CA5725D}" type="slidenum">
              <a:rPr kumimoji="0" lang="zh-CN" altLang="en-US" sz="1400"/>
              <a:t>15</a:t>
            </a:fld>
            <a:endParaRPr kumimoji="0" lang="en-US" altLang="zh-CN" sz="140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7195" y="1377315"/>
            <a:ext cx="8648065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随堂小测试</a:t>
            </a:r>
          </a:p>
        </p:txBody>
      </p:sp>
      <p:sp>
        <p:nvSpPr>
          <p:cNvPr id="2969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人事管理系统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公司有多个部门，每个部门都有多个职员。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每个部门完成多个项目，每个项目只能有一个部门完成。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每个项目可以参与多个员工，每个员工参与多个项目。</a:t>
            </a:r>
            <a:endParaRPr lang="en-US" altLang="zh-CN" dirty="0"/>
          </a:p>
        </p:txBody>
      </p:sp>
      <p:sp>
        <p:nvSpPr>
          <p:cNvPr id="29699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3BA0ED-9539-4712-B41A-95DC8A3D5856}" type="slidenum">
              <a:rPr kumimoji="0" lang="zh-CN" altLang="en-US" sz="1400"/>
              <a:t>16</a:t>
            </a:fld>
            <a:endParaRPr kumimoji="0" lang="en-US" altLang="zh-CN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2D348-D235-4B80-97CF-67DCAC5591F6}" type="slidenum">
              <a:rPr lang="zh-CN" altLang="en-US"/>
              <a:t>17</a:t>
            </a:fld>
            <a:endParaRPr lang="en-US" altLang="zh-CN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089025"/>
            <a:ext cx="8135937" cy="5076825"/>
          </a:xfrm>
        </p:spPr>
        <p:txBody>
          <a:bodyPr/>
          <a:lstStyle/>
          <a:p>
            <a:pPr marL="609600" indent="-609600">
              <a:lnSpc>
                <a:spcPct val="150000"/>
              </a:lnSpc>
            </a:pPr>
            <a:r>
              <a:rPr lang="zh-CN" altLang="en-US" sz="2800" noProof="1">
                <a:sym typeface="+mn-ea"/>
              </a:rPr>
              <a:t>基本知识：</a:t>
            </a:r>
          </a:p>
          <a:p>
            <a:pPr lvl="1">
              <a:lnSpc>
                <a:spcPct val="150000"/>
              </a:lnSpc>
            </a:pPr>
            <a:r>
              <a:rPr lang="en-US" altLang="zh-CN" sz="2450" noProof="1">
                <a:sym typeface="+mn-ea"/>
              </a:rPr>
              <a:t>E-R</a:t>
            </a:r>
            <a:r>
              <a:rPr lang="zh-CN" altLang="en-US" sz="2450" noProof="1">
                <a:sym typeface="+mn-ea"/>
              </a:rPr>
              <a:t>模型：实体、属性、联系、关键字</a:t>
            </a:r>
            <a:endParaRPr lang="en-US" altLang="zh-CN" sz="2450" noProof="1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50" noProof="1">
                <a:sym typeface="+mn-ea"/>
              </a:rPr>
              <a:t>联系集的类型</a:t>
            </a:r>
            <a:endParaRPr lang="zh-CN" altLang="en-US" sz="2450" noProof="1"/>
          </a:p>
          <a:p>
            <a:pPr marL="609600" indent="-609600">
              <a:lnSpc>
                <a:spcPct val="150000"/>
              </a:lnSpc>
            </a:pPr>
            <a:r>
              <a:rPr lang="zh-CN" altLang="en-US" sz="2450" noProof="1"/>
              <a:t>延展性学习：</a:t>
            </a:r>
          </a:p>
          <a:p>
            <a:pPr marL="1066800" lvl="1" indent="-609600">
              <a:lnSpc>
                <a:spcPct val="150000"/>
              </a:lnSpc>
            </a:pPr>
            <a:r>
              <a:rPr lang="zh-CN" altLang="en-US" sz="2450" dirty="0"/>
              <a:t>多元联系集与角色</a:t>
            </a:r>
            <a:endParaRPr lang="zh-CN" altLang="en-US" sz="2450" noProof="1"/>
          </a:p>
          <a:p>
            <a:pPr marL="609600" indent="-609600">
              <a:lnSpc>
                <a:spcPct val="150000"/>
              </a:lnSpc>
            </a:pPr>
            <a:r>
              <a:rPr lang="zh-CN" altLang="en-US" sz="2800" b="1" noProof="1"/>
              <a:t>作业</a:t>
            </a:r>
          </a:p>
          <a:p>
            <a:pPr marL="990600" lvl="1" indent="-533400">
              <a:lnSpc>
                <a:spcPct val="150000"/>
              </a:lnSpc>
              <a:buFontTx/>
              <a:buNone/>
            </a:pPr>
            <a:r>
              <a:rPr lang="en-US" altLang="zh-CN" sz="2400" noProof="1"/>
              <a:t>	</a:t>
            </a:r>
            <a:r>
              <a:rPr kumimoji="0" lang="zh-CN" altLang="en-US" sz="2400" dirty="0"/>
              <a:t>第</a:t>
            </a:r>
            <a:r>
              <a:rPr kumimoji="0" lang="en-US" altLang="zh-CN" sz="2400" dirty="0"/>
              <a:t>7</a:t>
            </a:r>
            <a:r>
              <a:rPr kumimoji="0" lang="zh-CN" altLang="en-US" sz="2400" dirty="0"/>
              <a:t>章：</a:t>
            </a:r>
            <a:r>
              <a:rPr kumimoji="0" lang="en-US" altLang="zh-CN" sz="2400" dirty="0"/>
              <a:t>7.1</a:t>
            </a:r>
            <a:r>
              <a:rPr kumimoji="0" lang="zh-CN" altLang="en-US" sz="2400" dirty="0"/>
              <a:t>，</a:t>
            </a:r>
            <a:r>
              <a:rPr kumimoji="0" lang="en-US" altLang="zh-CN" sz="2400" dirty="0"/>
              <a:t>7.2</a:t>
            </a:r>
            <a:r>
              <a:rPr kumimoji="0" lang="zh-CN" altLang="en-US" sz="2400" dirty="0"/>
              <a:t>。</a:t>
            </a:r>
            <a:r>
              <a:rPr kumimoji="0" lang="en-US" altLang="zh-CN" sz="2400" dirty="0"/>
              <a:t>(</a:t>
            </a:r>
            <a:r>
              <a:rPr kumimoji="0" lang="zh-CN" altLang="en-US" sz="2400" dirty="0"/>
              <a:t>注意标明主码</a:t>
            </a:r>
            <a:r>
              <a:rPr kumimoji="0" lang="en-US" altLang="zh-CN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2400" noProof="1">
              <a:solidFill>
                <a:srgbClr val="0066FF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39750" y="115888"/>
            <a:ext cx="424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800"/>
              <a:t>课后小结和作业安排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hjYzFlMzY2NzEzZGU1MWExNDI1Zjc4ZTVjZjA3MmQifQ=="/>
  <p:tag name="KSO_WPP_MARK_KEY" val="186ab8e3-778d-4fde-883e-26847a96bed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01069079">
  <a:themeElements>
    <a:clrScheme name="01069079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CCCCFF"/>
      </a:hlink>
      <a:folHlink>
        <a:srgbClr val="D9D9E5"/>
      </a:folHlink>
    </a:clrScheme>
    <a:fontScheme name="01069079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CC">
            <a:alpha val="66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0" tIns="0" rIns="0" bIns="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CC">
            <a:alpha val="66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0" tIns="0" rIns="0" bIns="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01069079 1">
        <a:dk1>
          <a:srgbClr val="545472"/>
        </a:dk1>
        <a:lt1>
          <a:srgbClr val="FFFFFF"/>
        </a:lt1>
        <a:dk2>
          <a:srgbClr val="892D5B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CCCCFF"/>
        </a:hlink>
        <a:folHlink>
          <a:srgbClr val="D9D9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B7B7FF"/>
        </a:hlink>
        <a:folHlink>
          <a:srgbClr val="BCD8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9DC6D5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CCDFE7"/>
        </a:accent5>
        <a:accent6>
          <a:srgbClr val="CD96B1"/>
        </a:accent6>
        <a:hlink>
          <a:srgbClr val="B7B7FF"/>
        </a:hlink>
        <a:folHlink>
          <a:srgbClr val="F2D6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D5BAFC"/>
        </a:hlink>
        <a:folHlink>
          <a:srgbClr val="D7D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FBE9BB"/>
        </a:hlink>
        <a:folHlink>
          <a:srgbClr val="CFE2C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D1EC9C"/>
        </a:hlink>
        <a:folHlink>
          <a:srgbClr val="EFE5C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01069079</Template>
  <TotalTime>11</TotalTime>
  <Words>1358</Words>
  <Application>Microsoft Office PowerPoint</Application>
  <PresentationFormat>全屏显示(4:3)</PresentationFormat>
  <Paragraphs>278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Microsoft Yahei</vt:lpstr>
      <vt:lpstr>MS PGothic</vt:lpstr>
      <vt:lpstr>黑体</vt:lpstr>
      <vt:lpstr>楷体_GB2312</vt:lpstr>
      <vt:lpstr>宋体</vt:lpstr>
      <vt:lpstr>Helvetica</vt:lpstr>
      <vt:lpstr>Symbol</vt:lpstr>
      <vt:lpstr>Tahoma</vt:lpstr>
      <vt:lpstr>Times New Roman</vt:lpstr>
      <vt:lpstr>Wingdings</vt:lpstr>
      <vt:lpstr>01069079</vt:lpstr>
      <vt:lpstr>                 E-R模型基本知识 </vt:lpstr>
      <vt:lpstr>PowerPoint 演示文稿</vt:lpstr>
      <vt:lpstr>主要学习目标</vt:lpstr>
      <vt:lpstr>一 数据库设计过程</vt:lpstr>
      <vt:lpstr>PowerPoint 演示文稿</vt:lpstr>
      <vt:lpstr>PowerPoint 演示文稿</vt:lpstr>
      <vt:lpstr> 2.实体集&amp;联系集 </vt:lpstr>
      <vt:lpstr>PowerPoint 演示文稿</vt:lpstr>
      <vt:lpstr>常见联系集类型 (映射基数)示例 </vt:lpstr>
      <vt:lpstr>1.复合属性</vt:lpstr>
      <vt:lpstr>2.多元联系集与角色(roles)</vt:lpstr>
      <vt:lpstr>PowerPoint 演示文稿</vt:lpstr>
      <vt:lpstr>PowerPoint 演示文稿</vt:lpstr>
      <vt:lpstr>PowerPoint 演示文稿</vt:lpstr>
      <vt:lpstr>PowerPoint 演示文稿</vt:lpstr>
      <vt:lpstr>随堂小测试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第4讲:                  E-R模型基本知识</dc:title>
  <dc:creator>Microsoft Office 用户</dc:creator>
  <cp:lastModifiedBy>gcyang</cp:lastModifiedBy>
  <cp:revision>26</cp:revision>
  <dcterms:created xsi:type="dcterms:W3CDTF">2017-03-01T13:06:00Z</dcterms:created>
  <dcterms:modified xsi:type="dcterms:W3CDTF">2024-02-29T14:28:34Z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TC010690792052</vt:lpwstr>
  </property>
  <property fmtid="{D5CDD505-2E9C-101B-9397-08002B2CF9AE}" pid="3" name="ICV">
    <vt:lpwstr>4DF63A54D9014E6390AFF110C80047B3</vt:lpwstr>
  </property>
  <property fmtid="{D5CDD505-2E9C-101B-9397-08002B2CF9AE}" pid="4" name="KSOProductBuildVer">
    <vt:lpwstr>2052-12.1.0.16388</vt:lpwstr>
  </property>
</Properties>
</file>