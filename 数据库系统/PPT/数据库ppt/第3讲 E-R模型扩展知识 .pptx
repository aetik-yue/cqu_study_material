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8" r:id="rId3"/>
    <p:sldId id="627" r:id="rId5"/>
    <p:sldId id="628" r:id="rId6"/>
    <p:sldId id="501" r:id="rId7"/>
    <p:sldId id="502" r:id="rId8"/>
    <p:sldId id="505" r:id="rId9"/>
    <p:sldId id="506" r:id="rId10"/>
    <p:sldId id="508" r:id="rId11"/>
    <p:sldId id="509" r:id="rId12"/>
    <p:sldId id="510" r:id="rId13"/>
    <p:sldId id="512" r:id="rId14"/>
    <p:sldId id="513" r:id="rId15"/>
    <p:sldId id="518" r:id="rId16"/>
    <p:sldId id="519" r:id="rId17"/>
    <p:sldId id="514" r:id="rId18"/>
    <p:sldId id="515" r:id="rId19"/>
    <p:sldId id="516" r:id="rId20"/>
    <p:sldId id="517" r:id="rId21"/>
    <p:sldId id="482" r:id="rId22"/>
    <p:sldId id="496" r:id="rId23"/>
    <p:sldId id="498" r:id="rId24"/>
    <p:sldId id="470" r:id="rId25"/>
    <p:sldId id="520" r:id="rId26"/>
    <p:sldId id="631" r:id="rId27"/>
  </p:sldIdLst>
  <p:sldSz cx="9144000" cy="6858000" type="screen4x3"/>
  <p:notesSz cx="6735445" cy="979932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333333"/>
    <a:srgbClr val="5F5F5F"/>
    <a:srgbClr val="AB631B"/>
    <a:srgbClr val="0066FF"/>
    <a:srgbClr val="000000"/>
    <a:srgbClr val="428E5B"/>
    <a:srgbClr val="BD0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</a:lstStyle>
          <a:p>
            <a:fld id="{939B1EBF-8207-4FA9-A6FB-CFBA0DA8107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</a:lstStyle>
          <a:p>
            <a:fld id="{2C9A66DD-9C70-45E9-8D36-48B7B8240E2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346A3242-2E6E-47D2-BDE2-D2DD9A668D2B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FC7DE5A-E08A-4A65-93AE-609082C156B9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fld id="{C0151A5F-4A67-4392-83EC-4E6801C175DB}" type="slidenum">
              <a:rPr lang="zh-CN" altLang="en-US" sz="1200" b="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sz="1200" b="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5F1AC6F-420F-492B-9EE5-D5C179F6CB03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en-US" altLang="zh-CN" sz="1000">
              <a:solidFill>
                <a:srgbClr val="A5002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CD2F9ECD-5076-428A-ACF4-FAF2589F78BB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fld id="{60B8AA15-22CC-4940-AFC5-310070A39D85}" type="slidenum">
              <a:rPr lang="zh-CN" altLang="en-US" sz="1200" b="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sz="1200" b="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4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5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DDEA042-65B2-4ED4-B7AB-8DE95B198EFF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fld id="{CDAD4B5E-0E72-4623-9B4B-CDF9E50164B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C6429-1EB6-4A8D-8AAE-35C074DE877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338424-AE6B-4424-BA30-C97CF84270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11E32-3CCD-44E2-8677-023D4603469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49B0F-0B21-4D6F-8535-4E9C18A6D7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FD260-9E82-4F42-96DF-A20E7B34A20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DE714-DFCE-48D3-A708-016979B7CE3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996D8E-C552-4A06-886E-2D6B9B845B5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101F04-9235-41CD-97E6-20010C82B15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3C1B9-F25A-47B8-B8BC-169EF13CFBD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8B84A-04F1-4B22-A4ED-88C02CCE79A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0" y="453"/>
                  </a:cxn>
                  <a:cxn ang="0">
                    <a:pos x="72" y="324"/>
                  </a:cxn>
                  <a:cxn ang="0">
                    <a:pos x="198" y="201"/>
                  </a:cxn>
                  <a:cxn ang="0">
                    <a:pos x="366" y="102"/>
                  </a:cxn>
                  <a:cxn ang="0">
                    <a:pos x="531" y="36"/>
                  </a:cxn>
                  <a:cxn ang="0">
                    <a:pos x="609" y="0"/>
                  </a:cxn>
                  <a:cxn ang="0">
                    <a:pos x="708" y="3"/>
                  </a:cxn>
                  <a:cxn ang="0">
                    <a:pos x="591" y="66"/>
                  </a:cxn>
                  <a:cxn ang="0">
                    <a:pos x="417" y="126"/>
                  </a:cxn>
                  <a:cxn ang="0">
                    <a:pos x="237" y="231"/>
                  </a:cxn>
                  <a:cxn ang="0">
                    <a:pos x="117" y="345"/>
                  </a:cxn>
                  <a:cxn ang="0">
                    <a:pos x="51" y="459"/>
                  </a:cxn>
                  <a:cxn ang="0">
                    <a:pos x="0" y="453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12" y="137"/>
                  </a:cxn>
                  <a:cxn ang="0">
                    <a:pos x="162" y="71"/>
                  </a:cxn>
                  <a:cxn ang="0">
                    <a:pos x="249" y="20"/>
                  </a:cxn>
                  <a:cxn ang="0">
                    <a:pos x="285" y="2"/>
                  </a:cxn>
                  <a:cxn ang="0">
                    <a:pos x="309" y="11"/>
                  </a:cxn>
                  <a:cxn ang="0">
                    <a:pos x="303" y="47"/>
                  </a:cxn>
                  <a:cxn ang="0">
                    <a:pos x="219" y="89"/>
                  </a:cxn>
                  <a:cxn ang="0">
                    <a:pos x="108" y="140"/>
                  </a:cxn>
                  <a:cxn ang="0">
                    <a:pos x="57" y="152"/>
                  </a:cxn>
                  <a:cxn ang="0">
                    <a:pos x="0" y="158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/>
                <a:ahLst/>
                <a:cxnLst>
                  <a:cxn ang="0">
                    <a:pos x="23" y="6"/>
                  </a:cxn>
                  <a:cxn ang="0">
                    <a:pos x="188" y="3"/>
                  </a:cxn>
                  <a:cxn ang="0">
                    <a:pos x="323" y="27"/>
                  </a:cxn>
                  <a:cxn ang="0">
                    <a:pos x="464" y="69"/>
                  </a:cxn>
                  <a:cxn ang="0">
                    <a:pos x="521" y="90"/>
                  </a:cxn>
                  <a:cxn ang="0">
                    <a:pos x="533" y="105"/>
                  </a:cxn>
                  <a:cxn ang="0">
                    <a:pos x="497" y="120"/>
                  </a:cxn>
                  <a:cxn ang="0">
                    <a:pos x="452" y="108"/>
                  </a:cxn>
                  <a:cxn ang="0">
                    <a:pos x="350" y="72"/>
                  </a:cxn>
                  <a:cxn ang="0">
                    <a:pos x="158" y="39"/>
                  </a:cxn>
                  <a:cxn ang="0">
                    <a:pos x="50" y="39"/>
                  </a:cxn>
                  <a:cxn ang="0">
                    <a:pos x="23" y="6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/>
                <a:ahLst/>
                <a:cxnLst>
                  <a:cxn ang="0">
                    <a:pos x="800" y="24"/>
                  </a:cxn>
                  <a:cxn ang="0">
                    <a:pos x="782" y="15"/>
                  </a:cxn>
                  <a:cxn ang="0">
                    <a:pos x="659" y="63"/>
                  </a:cxn>
                  <a:cxn ang="0">
                    <a:pos x="500" y="84"/>
                  </a:cxn>
                  <a:cxn ang="0">
                    <a:pos x="326" y="69"/>
                  </a:cxn>
                  <a:cxn ang="0">
                    <a:pos x="98" y="21"/>
                  </a:cxn>
                  <a:cxn ang="0">
                    <a:pos x="11" y="6"/>
                  </a:cxn>
                  <a:cxn ang="0">
                    <a:pos x="32" y="60"/>
                  </a:cxn>
                  <a:cxn ang="0">
                    <a:pos x="155" y="96"/>
                  </a:cxn>
                  <a:cxn ang="0">
                    <a:pos x="410" y="138"/>
                  </a:cxn>
                  <a:cxn ang="0">
                    <a:pos x="596" y="129"/>
                  </a:cxn>
                  <a:cxn ang="0">
                    <a:pos x="737" y="90"/>
                  </a:cxn>
                  <a:cxn ang="0">
                    <a:pos x="788" y="69"/>
                  </a:cxn>
                  <a:cxn ang="0">
                    <a:pos x="800" y="24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7C402C3B-CAC0-43D1-82E7-5FF3D8A070A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0.xml"/><Relationship Id="rId1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BEDFF1-380D-4ED0-BE84-784DCEEFD6BF}" type="slidenum">
              <a:rPr kumimoji="0" lang="zh-CN" altLang="en-US" sz="1400">
                <a:latin typeface="Tahoma" panose="020B0604030504040204" charset="0"/>
              </a:rPr>
            </a:fld>
            <a:endParaRPr kumimoji="0" lang="en-US" altLang="zh-CN" sz="1400">
              <a:latin typeface="Tahoma" panose="020B0604030504040204" charset="0"/>
              <a:ea typeface="黑体" panose="02010609060101010101" pitchFamily="49" charset="-122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3384550"/>
          </a:xfrm>
        </p:spPr>
        <p:txBody>
          <a:bodyPr/>
          <a:lstStyle/>
          <a:p>
            <a:pPr algn="l"/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</a:br>
            <a:b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</a:rPr>
            </a:br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  <a:t> </a:t>
            </a:r>
            <a:b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</a:b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        E-R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模型扩展知识</a:t>
            </a:r>
            <a:endParaRPr kumimoji="0" lang="en-US" altLang="zh-CN" sz="3600">
              <a:latin typeface="黑体" panose="02010609060101010101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--------------------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黑体" panose="02010609060101010101" pitchFamily="49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319213" y="4370388"/>
            <a:ext cx="701992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		</a:t>
            </a:r>
            <a:r>
              <a:rPr kumimoji="0" lang="en-US" altLang="zh-CN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zh-CN" altLang="en-US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 位：重庆大学计算机学院</a:t>
            </a:r>
            <a:endParaRPr kumimoji="0" lang="zh-CN" altLang="en-US" sz="2000" b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41070" y="2032000"/>
            <a:ext cx="7512050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ER模型中，ER的定位是固定的吗？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选课？</a:t>
            </a:r>
            <a:r>
              <a:rPr kumimoji="1" lang="en-US" altLang="zh-CN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  </a:t>
            </a:r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课表？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购买？</a:t>
            </a:r>
            <a:r>
              <a:rPr kumimoji="1" lang="en-US" altLang="zh-CN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  </a:t>
            </a:r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订单？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工资？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主要学习目标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39738" y="2133600"/>
            <a:ext cx="801846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E-R</a:t>
            </a:r>
            <a:r>
              <a:rPr lang="zh-CN" altLang="en-US" dirty="0"/>
              <a:t>模型设计时应注意的问题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特化与概化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693738" y="1346200"/>
            <a:ext cx="7772400" cy="1143000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1.a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：学院对象的表示</a:t>
            </a:r>
            <a:endParaRPr kumimoji="0"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685800" y="2441575"/>
            <a:ext cx="7772400" cy="4114800"/>
          </a:xfrm>
        </p:spPr>
        <p:txBody>
          <a:bodyPr/>
          <a:lstStyle/>
          <a:p>
            <a:r>
              <a:rPr kumimoji="0" lang="zh-CN" altLang="en-US" sz="2400" b="1"/>
              <a:t>假设</a:t>
            </a:r>
            <a:r>
              <a:rPr kumimoji="0" lang="en-US" altLang="zh-CN" sz="2400" b="1"/>
              <a:t>xxx</a:t>
            </a:r>
            <a:r>
              <a:rPr kumimoji="0" lang="zh-CN" altLang="en-US" sz="2400" b="1"/>
              <a:t>大学包括：</a:t>
            </a:r>
            <a:endParaRPr kumimoji="0" lang="zh-CN" altLang="en-US" sz="2400" b="1"/>
          </a:p>
          <a:p>
            <a:pPr>
              <a:buFontTx/>
              <a:buNone/>
            </a:pPr>
            <a:r>
              <a:rPr kumimoji="0" lang="zh-CN" altLang="en-US" sz="2400" b="1"/>
              <a:t>	</a:t>
            </a:r>
            <a:r>
              <a:rPr kumimoji="0" lang="zh-CN" altLang="en-US" sz="2400"/>
              <a:t>计算机学院、通信学院、自动化学院、机械学院、土木工程学院，</a:t>
            </a:r>
            <a:r>
              <a:rPr kumimoji="0" lang="is-IS" altLang="zh-CN" sz="2400"/>
              <a:t>……</a:t>
            </a:r>
            <a:endParaRPr kumimoji="0" lang="en-US" altLang="zh-CN" sz="2400"/>
          </a:p>
          <a:p>
            <a:r>
              <a:rPr kumimoji="0" lang="zh-CN" altLang="en-US" sz="2400" b="1"/>
              <a:t>请采用</a:t>
            </a:r>
            <a:r>
              <a:rPr kumimoji="0" lang="en-US" altLang="zh-CN" sz="2400" b="1"/>
              <a:t>E-R</a:t>
            </a:r>
            <a:r>
              <a:rPr kumimoji="0" lang="zh-CN" altLang="en-US" sz="2400" b="1"/>
              <a:t>模型描述学院对象</a:t>
            </a:r>
            <a:endParaRPr kumimoji="0" lang="zh-CN" altLang="en-US" sz="2400" b="1"/>
          </a:p>
        </p:txBody>
      </p:sp>
      <p:sp>
        <p:nvSpPr>
          <p:cNvPr id="17411" name="Rectangle 7"/>
          <p:cNvSpPr>
            <a:spLocks noChangeArrowheads="1"/>
          </p:cNvSpPr>
          <p:nvPr/>
        </p:nvSpPr>
        <p:spPr bwMode="auto">
          <a:xfrm>
            <a:off x="374650" y="149225"/>
            <a:ext cx="6246813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E-R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模型设计注意问题</a:t>
            </a:r>
            <a:endParaRPr kumimoji="0" lang="en-US" altLang="zh-CN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66775" y="4343400"/>
            <a:ext cx="2519363" cy="1042988"/>
          </a:xfrm>
          <a:prstGeom prst="cloudCallout">
            <a:avLst>
              <a:gd name="adj1" fmla="val -49694"/>
              <a:gd name="adj2" fmla="val 7703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应将各个学院看着实体集，还是实体？</a:t>
            </a:r>
            <a:endParaRPr lang="zh-CN" altLang="en-US" sz="1600">
              <a:solidFill>
                <a:srgbClr val="2A2A39"/>
              </a:solidFill>
              <a:latin typeface="Tahoma" panose="020B0604030504040204" charset="0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 4"/>
          <p:cNvGrpSpPr/>
          <p:nvPr/>
        </p:nvGrpSpPr>
        <p:grpSpPr bwMode="auto">
          <a:xfrm>
            <a:off x="260350" y="1914525"/>
            <a:ext cx="4459288" cy="2930525"/>
            <a:chOff x="260341" y="1914522"/>
            <a:chExt cx="5095412" cy="3790951"/>
          </a:xfrm>
        </p:grpSpPr>
        <p:sp>
          <p:nvSpPr>
            <p:cNvPr id="7171" name="矩形 3"/>
            <p:cNvSpPr>
              <a:spLocks noChangeArrowheads="1"/>
            </p:cNvSpPr>
            <p:nvPr/>
          </p:nvSpPr>
          <p:spPr bwMode="auto">
            <a:xfrm>
              <a:off x="476203" y="2561408"/>
              <a:ext cx="504281" cy="253619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altLang="zh-CN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xxx</a:t>
              </a: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大学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2" name="矩形 4"/>
            <p:cNvSpPr>
              <a:spLocks noChangeArrowheads="1"/>
            </p:cNvSpPr>
            <p:nvPr/>
          </p:nvSpPr>
          <p:spPr bwMode="auto">
            <a:xfrm>
              <a:off x="260341" y="2635337"/>
              <a:ext cx="613118" cy="17640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tIns="0" bIns="0"/>
            <a:lstStyle/>
            <a:p>
              <a:pPr algn="ctr">
                <a:defRPr/>
              </a:pP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3" name="矩形 5"/>
            <p:cNvSpPr>
              <a:spLocks noChangeArrowheads="1"/>
            </p:cNvSpPr>
            <p:nvPr/>
          </p:nvSpPr>
          <p:spPr bwMode="auto">
            <a:xfrm>
              <a:off x="3322304" y="1914522"/>
              <a:ext cx="1853866" cy="56679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0" tIns="0" rIns="0" bIns="0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计算机学院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7174" name="矩形 6"/>
            <p:cNvSpPr>
              <a:spLocks noChangeArrowheads="1"/>
            </p:cNvSpPr>
            <p:nvPr/>
          </p:nvSpPr>
          <p:spPr bwMode="auto">
            <a:xfrm>
              <a:off x="3358583" y="2670248"/>
              <a:ext cx="1853866" cy="56063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通信学院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5" name="矩形 7"/>
            <p:cNvSpPr>
              <a:spLocks noChangeArrowheads="1"/>
            </p:cNvSpPr>
            <p:nvPr/>
          </p:nvSpPr>
          <p:spPr bwMode="auto">
            <a:xfrm>
              <a:off x="3393049" y="3425974"/>
              <a:ext cx="1853866" cy="55447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自动化学院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7176" name="矩形 8"/>
            <p:cNvSpPr>
              <a:spLocks noChangeArrowheads="1"/>
            </p:cNvSpPr>
            <p:nvPr/>
          </p:nvSpPr>
          <p:spPr bwMode="auto">
            <a:xfrm>
              <a:off x="3472863" y="4220719"/>
              <a:ext cx="1853866" cy="5524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机械学院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7" name="矩形 9"/>
            <p:cNvSpPr>
              <a:spLocks noChangeArrowheads="1"/>
            </p:cNvSpPr>
            <p:nvPr/>
          </p:nvSpPr>
          <p:spPr bwMode="auto">
            <a:xfrm>
              <a:off x="3445653" y="4939480"/>
              <a:ext cx="1910100" cy="6037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土木工程学院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8" name="矩形 10"/>
            <p:cNvSpPr>
              <a:spLocks noChangeArrowheads="1"/>
            </p:cNvSpPr>
            <p:nvPr/>
          </p:nvSpPr>
          <p:spPr bwMode="auto">
            <a:xfrm rot="2608449">
              <a:off x="1840300" y="2247206"/>
              <a:ext cx="469815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54" name="直接连接符 12"/>
            <p:cNvCxnSpPr>
              <a:cxnSpLocks noChangeShapeType="1"/>
            </p:cNvCxnSpPr>
            <p:nvPr/>
          </p:nvCxnSpPr>
          <p:spPr bwMode="auto">
            <a:xfrm flipH="1">
              <a:off x="980483" y="2481316"/>
              <a:ext cx="763676" cy="7659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5" name="直接连接符 13"/>
            <p:cNvCxnSpPr>
              <a:cxnSpLocks noChangeShapeType="1"/>
              <a:stCxn id="7173" idx="1"/>
            </p:cNvCxnSpPr>
            <p:nvPr/>
          </p:nvCxnSpPr>
          <p:spPr bwMode="auto">
            <a:xfrm flipH="1">
              <a:off x="2409883" y="2197919"/>
              <a:ext cx="912421" cy="2977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1" name="矩形 15"/>
            <p:cNvSpPr>
              <a:spLocks noChangeArrowheads="1"/>
            </p:cNvSpPr>
            <p:nvPr/>
          </p:nvSpPr>
          <p:spPr bwMode="auto">
            <a:xfrm rot="2608449">
              <a:off x="1949138" y="2894091"/>
              <a:ext cx="471629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57" name="直接连接符 16"/>
            <p:cNvCxnSpPr>
              <a:cxnSpLocks noChangeShapeType="1"/>
              <a:endCxn id="7171" idx="3"/>
            </p:cNvCxnSpPr>
            <p:nvPr/>
          </p:nvCxnSpPr>
          <p:spPr bwMode="auto">
            <a:xfrm flipH="1">
              <a:off x="980483" y="3132309"/>
              <a:ext cx="872514" cy="698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直接连接符 17"/>
            <p:cNvCxnSpPr>
              <a:cxnSpLocks noChangeShapeType="1"/>
              <a:stCxn id="7174" idx="1"/>
            </p:cNvCxnSpPr>
            <p:nvPr/>
          </p:nvCxnSpPr>
          <p:spPr bwMode="auto">
            <a:xfrm flipH="1">
              <a:off x="2518721" y="2951592"/>
              <a:ext cx="839863" cy="19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4" name="矩形 22"/>
            <p:cNvSpPr>
              <a:spLocks noChangeArrowheads="1"/>
            </p:cNvSpPr>
            <p:nvPr/>
          </p:nvSpPr>
          <p:spPr bwMode="auto">
            <a:xfrm rot="2608449">
              <a:off x="1992673" y="3686782"/>
              <a:ext cx="469815" cy="4702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0" name="直接连接符 23"/>
            <p:cNvCxnSpPr>
              <a:cxnSpLocks noChangeShapeType="1"/>
            </p:cNvCxnSpPr>
            <p:nvPr/>
          </p:nvCxnSpPr>
          <p:spPr bwMode="auto">
            <a:xfrm flipH="1" flipV="1">
              <a:off x="980483" y="3623120"/>
              <a:ext cx="916049" cy="29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直接连接符 24"/>
            <p:cNvCxnSpPr>
              <a:cxnSpLocks noChangeShapeType="1"/>
              <a:stCxn id="7175" idx="1"/>
            </p:cNvCxnSpPr>
            <p:nvPr/>
          </p:nvCxnSpPr>
          <p:spPr bwMode="auto">
            <a:xfrm flipH="1">
              <a:off x="2562256" y="3703211"/>
              <a:ext cx="830793" cy="232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7" name="矩形 27"/>
            <p:cNvSpPr>
              <a:spLocks noChangeArrowheads="1"/>
            </p:cNvSpPr>
            <p:nvPr/>
          </p:nvSpPr>
          <p:spPr bwMode="auto">
            <a:xfrm rot="2608449">
              <a:off x="1992673" y="4514383"/>
              <a:ext cx="469815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3" name="直接连接符 28"/>
            <p:cNvCxnSpPr>
              <a:cxnSpLocks noChangeShapeType="1"/>
            </p:cNvCxnSpPr>
            <p:nvPr/>
          </p:nvCxnSpPr>
          <p:spPr bwMode="auto">
            <a:xfrm flipH="1" flipV="1">
              <a:off x="980483" y="3773033"/>
              <a:ext cx="916049" cy="977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4" name="直接连接符 29"/>
            <p:cNvCxnSpPr>
              <a:cxnSpLocks noChangeShapeType="1"/>
            </p:cNvCxnSpPr>
            <p:nvPr/>
          </p:nvCxnSpPr>
          <p:spPr bwMode="auto">
            <a:xfrm flipH="1">
              <a:off x="2562256" y="4382953"/>
              <a:ext cx="910608" cy="3819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90" name="矩形 34"/>
            <p:cNvSpPr>
              <a:spLocks noChangeArrowheads="1"/>
            </p:cNvSpPr>
            <p:nvPr/>
          </p:nvSpPr>
          <p:spPr bwMode="auto">
            <a:xfrm rot="2608449">
              <a:off x="1992673" y="5235199"/>
              <a:ext cx="469815" cy="4702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6" name="直接连接符 35"/>
            <p:cNvCxnSpPr>
              <a:cxnSpLocks noChangeShapeType="1"/>
            </p:cNvCxnSpPr>
            <p:nvPr/>
          </p:nvCxnSpPr>
          <p:spPr bwMode="auto">
            <a:xfrm flipH="1" flipV="1">
              <a:off x="980483" y="4037947"/>
              <a:ext cx="916049" cy="143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7" name="直接连接符 36"/>
            <p:cNvCxnSpPr>
              <a:cxnSpLocks noChangeShapeType="1"/>
            </p:cNvCxnSpPr>
            <p:nvPr/>
          </p:nvCxnSpPr>
          <p:spPr bwMode="auto">
            <a:xfrm flipH="1">
              <a:off x="2562256" y="5099661"/>
              <a:ext cx="910608" cy="384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34" name="Rectangle 27"/>
          <p:cNvSpPr>
            <a:spLocks noChangeArrowheads="1"/>
          </p:cNvSpPr>
          <p:nvPr/>
        </p:nvSpPr>
        <p:spPr bwMode="auto">
          <a:xfrm>
            <a:off x="1084263" y="1089025"/>
            <a:ext cx="5570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法一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将各个学院分别看成一个实体集</a:t>
            </a:r>
            <a:endParaRPr kumimoji="0" lang="zh-CN" altLang="en-US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 8"/>
          <p:cNvGrpSpPr/>
          <p:nvPr/>
        </p:nvGrpSpPr>
        <p:grpSpPr bwMode="auto">
          <a:xfrm>
            <a:off x="6059488" y="1739900"/>
            <a:ext cx="1741487" cy="3354388"/>
            <a:chOff x="6059488" y="1740584"/>
            <a:chExt cx="1741487" cy="3353844"/>
          </a:xfrm>
        </p:grpSpPr>
        <p:grpSp>
          <p:nvGrpSpPr>
            <p:cNvPr id="18439" name="组 4"/>
            <p:cNvGrpSpPr/>
            <p:nvPr/>
          </p:nvGrpSpPr>
          <p:grpSpPr bwMode="auto">
            <a:xfrm>
              <a:off x="6059488" y="1740584"/>
              <a:ext cx="1741487" cy="1458117"/>
              <a:chOff x="6059488" y="1740584"/>
              <a:chExt cx="1741487" cy="1458117"/>
            </a:xfrm>
          </p:grpSpPr>
          <p:sp>
            <p:nvSpPr>
              <p:cNvPr id="7196" name="Rectangle 28"/>
              <p:cNvSpPr>
                <a:spLocks noChangeArrowheads="1"/>
              </p:cNvSpPr>
              <p:nvPr/>
            </p:nvSpPr>
            <p:spPr bwMode="auto">
              <a:xfrm>
                <a:off x="6084888" y="1740584"/>
                <a:ext cx="1716087" cy="14586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tIns="0" bIns="0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计算机学院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名称</a:t>
                </a:r>
                <a:endParaRPr lang="zh-CN" altLang="en-US" sz="1800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校企合作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7197" name="Line 29"/>
              <p:cNvSpPr>
                <a:spLocks noChangeShapeType="1"/>
              </p:cNvSpPr>
              <p:nvPr/>
            </p:nvSpPr>
            <p:spPr bwMode="auto">
              <a:xfrm>
                <a:off x="6059488" y="2078667"/>
                <a:ext cx="1739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  <p:grpSp>
          <p:nvGrpSpPr>
            <p:cNvPr id="18440" name="组 3"/>
            <p:cNvGrpSpPr/>
            <p:nvPr/>
          </p:nvGrpSpPr>
          <p:grpSpPr bwMode="auto">
            <a:xfrm>
              <a:off x="6067425" y="3298185"/>
              <a:ext cx="1589088" cy="1433513"/>
              <a:chOff x="6230263" y="3640895"/>
              <a:chExt cx="1589308" cy="1433286"/>
            </a:xfrm>
          </p:grpSpPr>
          <p:sp>
            <p:nvSpPr>
              <p:cNvPr id="7200" name="Rectangle 32"/>
              <p:cNvSpPr>
                <a:spLocks noChangeArrowheads="1"/>
              </p:cNvSpPr>
              <p:nvPr/>
            </p:nvSpPr>
            <p:spPr bwMode="auto">
              <a:xfrm>
                <a:off x="6254079" y="3640379"/>
                <a:ext cx="1565492" cy="143305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tIns="0" bIns="0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通信学院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名称</a:t>
                </a:r>
                <a:endParaRPr lang="zh-CN" altLang="en-US" sz="1800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国际交流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7201" name="Line 33"/>
              <p:cNvSpPr>
                <a:spLocks noChangeShapeType="1"/>
              </p:cNvSpPr>
              <p:nvPr/>
            </p:nvSpPr>
            <p:spPr bwMode="auto">
              <a:xfrm>
                <a:off x="6230263" y="3940320"/>
                <a:ext cx="1587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sz="1800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  <p:sp>
          <p:nvSpPr>
            <p:cNvPr id="18441" name="Rectangle 34"/>
            <p:cNvSpPr>
              <a:spLocks noChangeArrowheads="1"/>
            </p:cNvSpPr>
            <p:nvPr/>
          </p:nvSpPr>
          <p:spPr bwMode="auto">
            <a:xfrm>
              <a:off x="6294438" y="4694443"/>
              <a:ext cx="800100" cy="399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350838" y="5029200"/>
            <a:ext cx="802005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400" b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在何种情况下，这样设计合理？</a:t>
            </a:r>
            <a:endParaRPr lang="en-US" altLang="zh-CN" b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如果各学院具有不同属性特征，则设计合理！</a:t>
            </a:r>
            <a:endParaRPr lang="en-US" altLang="zh-CN" b="0">
              <a:solidFill>
                <a:srgbClr val="2A2A39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否则面临问题</a:t>
            </a:r>
            <a:r>
              <a:rPr lang="zh-CN" altLang="zh-CN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：</a:t>
            </a: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每增加一个学院增加一个实体集，需修改应用代码。</a:t>
            </a:r>
            <a:endParaRPr lang="en-US" altLang="zh-CN" b="0">
              <a:solidFill>
                <a:srgbClr val="2A2A39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b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8437" name="矩形 6"/>
          <p:cNvSpPr>
            <a:spLocks noChangeArrowheads="1"/>
          </p:cNvSpPr>
          <p:nvPr/>
        </p:nvSpPr>
        <p:spPr bwMode="auto">
          <a:xfrm>
            <a:off x="6062663" y="90488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8" name="文本框 3"/>
          <p:cNvSpPr txBox="1">
            <a:spLocks noChangeArrowheads="1"/>
          </p:cNvSpPr>
          <p:nvPr/>
        </p:nvSpPr>
        <p:spPr bwMode="auto">
          <a:xfrm>
            <a:off x="5221288" y="484505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7772400" cy="581025"/>
          </a:xfrm>
        </p:spPr>
        <p:txBody>
          <a:bodyPr/>
          <a:lstStyle/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方法二：将所有学院看作一个实体集</a:t>
            </a:r>
            <a:endParaRPr kumimoji="0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754063" y="2968625"/>
            <a:ext cx="7967662" cy="11858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在何种情况下，这样设计合理？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一般地，一所学校的所有的学院具有相同属性，应看作属于一个实体集的不同实体。</a:t>
            </a:r>
            <a:endParaRPr kumimoji="0" lang="zh-CN" altLang="en-US" sz="24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66763" y="4154488"/>
            <a:ext cx="6762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0000FF"/>
                </a:solidFill>
              </a:rPr>
              <a:t>更一般地，如何用有限表示无限？</a:t>
            </a:r>
            <a:r>
              <a:rPr kumimoji="0" lang="en-US" altLang="zh-CN" sz="2400">
                <a:solidFill>
                  <a:srgbClr val="545472"/>
                </a:solidFill>
              </a:rPr>
              <a:t>(</a:t>
            </a:r>
            <a:r>
              <a:rPr kumimoji="0" lang="zh-CN" altLang="en-US" sz="2400">
                <a:solidFill>
                  <a:srgbClr val="545472"/>
                </a:solidFill>
              </a:rPr>
              <a:t>案例</a:t>
            </a:r>
            <a:r>
              <a:rPr kumimoji="0" lang="zh-CN" altLang="zh-CN" sz="2400">
                <a:solidFill>
                  <a:srgbClr val="545472"/>
                </a:solidFill>
              </a:rPr>
              <a:t>1</a:t>
            </a:r>
            <a:r>
              <a:rPr kumimoji="0" lang="en-US" altLang="zh-CN" sz="2400">
                <a:solidFill>
                  <a:srgbClr val="545472"/>
                </a:solidFill>
              </a:rPr>
              <a:t>.b)</a:t>
            </a:r>
            <a:endParaRPr kumimoji="0" lang="en-US" altLang="zh-CN" sz="2000">
              <a:solidFill>
                <a:srgbClr val="545472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</a:rPr>
              <a:t>根目录</a:t>
            </a: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一级子目录二级子目录三级子目录。。。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党中央各级省委各级市委</a:t>
            </a:r>
            <a:r>
              <a:rPr kumimoji="0" lang="en-US" altLang="zh-CN" sz="2000" b="0">
                <a:solidFill>
                  <a:srgbClr val="0000FF"/>
                </a:solidFill>
                <a:sym typeface="Wingdings" panose="05000000000000000000" pitchFamily="2" charset="2"/>
              </a:rPr>
              <a:t>-</a:t>
            </a: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各级区委。。。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汽车零件组成问题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19460" name="矩形 23"/>
          <p:cNvSpPr>
            <a:spLocks noChangeArrowheads="1"/>
          </p:cNvSpPr>
          <p:nvPr/>
        </p:nvSpPr>
        <p:spPr bwMode="auto">
          <a:xfrm>
            <a:off x="6062663" y="90488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9461" name="组 2"/>
          <p:cNvGrpSpPr/>
          <p:nvPr/>
        </p:nvGrpSpPr>
        <p:grpSpPr bwMode="auto">
          <a:xfrm>
            <a:off x="1257300" y="1360488"/>
            <a:ext cx="6543675" cy="1649412"/>
            <a:chOff x="1257300" y="2473325"/>
            <a:chExt cx="6543675" cy="1649413"/>
          </a:xfrm>
        </p:grpSpPr>
        <p:grpSp>
          <p:nvGrpSpPr>
            <p:cNvPr id="19473" name="Group 11"/>
            <p:cNvGrpSpPr/>
            <p:nvPr/>
          </p:nvGrpSpPr>
          <p:grpSpPr bwMode="auto">
            <a:xfrm>
              <a:off x="1257300" y="2473325"/>
              <a:ext cx="3878263" cy="1547813"/>
              <a:chOff x="998" y="2667"/>
              <a:chExt cx="2443" cy="975"/>
            </a:xfrm>
          </p:grpSpPr>
          <p:sp>
            <p:nvSpPr>
              <p:cNvPr id="11268" name="矩形 3"/>
              <p:cNvSpPr>
                <a:spLocks noChangeArrowheads="1"/>
              </p:cNvSpPr>
              <p:nvPr/>
            </p:nvSpPr>
            <p:spPr bwMode="auto">
              <a:xfrm>
                <a:off x="998" y="2667"/>
                <a:ext cx="317" cy="97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r">
                  <a:lnSpc>
                    <a:spcPts val="2400"/>
                  </a:lnSpc>
                </a:pPr>
                <a:r>
                  <a:rPr lang="zh-CN" altLang="en-US" sz="16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重庆大学</a:t>
                </a:r>
                <a:endPara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11269" name="矩形 4"/>
              <p:cNvSpPr>
                <a:spLocks noChangeArrowheads="1"/>
              </p:cNvSpPr>
              <p:nvPr/>
            </p:nvSpPr>
            <p:spPr bwMode="auto">
              <a:xfrm>
                <a:off x="2857" y="3022"/>
                <a:ext cx="584" cy="24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lnSpc>
                    <a:spcPts val="3000"/>
                  </a:lnSpc>
                  <a:defRPr/>
                </a:pPr>
                <a:r>
                  <a:rPr lang="zh-CN" altLang="en-US" sz="1600" b="0" dirty="0">
                    <a:solidFill>
                      <a:schemeClr val="tx1">
                        <a:lumMod val="50000"/>
                      </a:schemeClr>
                    </a:solidFill>
                    <a:latin typeface="+mn-ea"/>
                    <a:ea typeface="+mn-ea"/>
                    <a:cs typeface="黑体" panose="02010609060101010101" pitchFamily="49" charset="-122"/>
                  </a:rPr>
                  <a:t>学院</a:t>
                </a:r>
                <a:endPara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  <p:sp>
            <p:nvSpPr>
              <p:cNvPr id="11270" name="矩形 5"/>
              <p:cNvSpPr>
                <a:spLocks noChangeArrowheads="1"/>
              </p:cNvSpPr>
              <p:nvPr/>
            </p:nvSpPr>
            <p:spPr bwMode="auto">
              <a:xfrm rot="2608449">
                <a:off x="2009" y="3116"/>
                <a:ext cx="296" cy="3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r>
                  <a:rPr lang="zh-CN" altLang="en-US" sz="1600" b="0" dirty="0">
                    <a:solidFill>
                      <a:schemeClr val="tx1">
                        <a:lumMod val="50000"/>
                      </a:schemeClr>
                    </a:solidFill>
                    <a:latin typeface="+mn-ea"/>
                    <a:ea typeface="+mn-ea"/>
                    <a:cs typeface="黑体" panose="02010609060101010101" pitchFamily="49" charset="-122"/>
                  </a:rPr>
                  <a:t>包括</a:t>
                </a:r>
                <a:endPara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80" name="直接连接符 6"/>
              <p:cNvCxnSpPr>
                <a:cxnSpLocks noChangeShapeType="1"/>
              </p:cNvCxnSpPr>
              <p:nvPr/>
            </p:nvCxnSpPr>
            <p:spPr bwMode="auto">
              <a:xfrm flipH="1" flipV="1">
                <a:off x="1338" y="3147"/>
                <a:ext cx="577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81" name="直接连接符 7"/>
              <p:cNvCxnSpPr>
                <a:cxnSpLocks noChangeShapeType="1"/>
                <a:stCxn id="11269" idx="1"/>
              </p:cNvCxnSpPr>
              <p:nvPr/>
            </p:nvCxnSpPr>
            <p:spPr bwMode="auto">
              <a:xfrm flipH="1">
                <a:off x="2389" y="3147"/>
                <a:ext cx="468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474" name="Group 30"/>
            <p:cNvGrpSpPr/>
            <p:nvPr/>
          </p:nvGrpSpPr>
          <p:grpSpPr bwMode="auto">
            <a:xfrm>
              <a:off x="6059488" y="2682875"/>
              <a:ext cx="1741487" cy="1439863"/>
              <a:chOff x="4233" y="1460"/>
              <a:chExt cx="1082" cy="624"/>
            </a:xfrm>
          </p:grpSpPr>
          <p:sp>
            <p:nvSpPr>
              <p:cNvPr id="26" name="Rectangle 28"/>
              <p:cNvSpPr>
                <a:spLocks noChangeArrowheads="1"/>
              </p:cNvSpPr>
              <p:nvPr/>
            </p:nvSpPr>
            <p:spPr bwMode="auto">
              <a:xfrm>
                <a:off x="4249" y="1460"/>
                <a:ext cx="1066" cy="6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学院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学院名称</a:t>
                </a:r>
                <a:endParaRPr lang="zh-CN" altLang="en-US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>
                <a:off x="4233" y="1652"/>
                <a:ext cx="10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</p:grpSp>
      <p:grpSp>
        <p:nvGrpSpPr>
          <p:cNvPr id="5" name="组 4"/>
          <p:cNvGrpSpPr/>
          <p:nvPr/>
        </p:nvGrpSpPr>
        <p:grpSpPr bwMode="auto">
          <a:xfrm>
            <a:off x="714375" y="5537200"/>
            <a:ext cx="7231063" cy="881063"/>
            <a:chOff x="855167" y="5537786"/>
            <a:chExt cx="7230813" cy="880336"/>
          </a:xfrm>
        </p:grpSpPr>
        <p:grpSp>
          <p:nvGrpSpPr>
            <p:cNvPr id="19463" name="组 9"/>
            <p:cNvGrpSpPr/>
            <p:nvPr/>
          </p:nvGrpSpPr>
          <p:grpSpPr bwMode="auto">
            <a:xfrm>
              <a:off x="2646544" y="5548145"/>
              <a:ext cx="1371983" cy="869977"/>
              <a:chOff x="1694319" y="5588002"/>
              <a:chExt cx="1371824" cy="870857"/>
            </a:xfrm>
          </p:grpSpPr>
          <p:sp>
            <p:nvSpPr>
              <p:cNvPr id="11" name="矩形 4"/>
              <p:cNvSpPr>
                <a:spLocks noChangeArrowheads="1"/>
              </p:cNvSpPr>
              <p:nvPr/>
            </p:nvSpPr>
            <p:spPr bwMode="auto">
              <a:xfrm>
                <a:off x="1693580" y="5588747"/>
                <a:ext cx="1355521" cy="87011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目录</a:t>
                </a:r>
                <a:endParaRPr lang="en-US" altLang="zh-CN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上级目录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下级目录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72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1698342" y="5879313"/>
                <a:ext cx="1368220" cy="14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464" name="组 13"/>
            <p:cNvGrpSpPr/>
            <p:nvPr/>
          </p:nvGrpSpPr>
          <p:grpSpPr bwMode="auto">
            <a:xfrm>
              <a:off x="4653184" y="5542158"/>
              <a:ext cx="1367670" cy="869977"/>
              <a:chOff x="4772032" y="5649687"/>
              <a:chExt cx="1367511" cy="870857"/>
            </a:xfrm>
          </p:grpSpPr>
          <p:sp>
            <p:nvSpPr>
              <p:cNvPr id="12" name="矩形 4"/>
              <p:cNvSpPr>
                <a:spLocks noChangeArrowheads="1"/>
              </p:cNvSpPr>
              <p:nvPr/>
            </p:nvSpPr>
            <p:spPr bwMode="auto">
              <a:xfrm>
                <a:off x="4787057" y="5650074"/>
                <a:ext cx="1352346" cy="87011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党组织</a:t>
                </a:r>
                <a:endParaRPr lang="en-US" altLang="zh-CN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上级组织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下级组织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70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4772772" y="5940640"/>
                <a:ext cx="1366631" cy="14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" name="矩形 14"/>
            <p:cNvSpPr/>
            <p:nvPr/>
          </p:nvSpPr>
          <p:spPr bwMode="auto">
            <a:xfrm>
              <a:off x="855167" y="5783646"/>
              <a:ext cx="1466799" cy="39972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800000"/>
                  </a:solidFill>
                  <a:latin typeface="宋体" panose="02010600030101010101" pitchFamily="2" charset="-122"/>
                  <a:sym typeface="Wingdings" panose="05000000000000000000" pitchFamily="2" charset="2"/>
                </a:rPr>
                <a:t>递归表示：</a:t>
              </a:r>
              <a:endParaRPr lang="zh-CN" altLang="en-US">
                <a:solidFill>
                  <a:srgbClr val="800000"/>
                </a:solidFill>
              </a:endParaRPr>
            </a:p>
          </p:txBody>
        </p:sp>
        <p:grpSp>
          <p:nvGrpSpPr>
            <p:cNvPr id="19466" name="组 3"/>
            <p:cNvGrpSpPr/>
            <p:nvPr/>
          </p:nvGrpSpPr>
          <p:grpSpPr bwMode="auto">
            <a:xfrm>
              <a:off x="6717555" y="5537786"/>
              <a:ext cx="1368425" cy="869950"/>
              <a:chOff x="6717555" y="5537786"/>
              <a:chExt cx="1368425" cy="869950"/>
            </a:xfrm>
          </p:grpSpPr>
          <p:sp>
            <p:nvSpPr>
              <p:cNvPr id="25" name="矩形 4"/>
              <p:cNvSpPr>
                <a:spLocks noChangeArrowheads="1"/>
              </p:cNvSpPr>
              <p:nvPr/>
            </p:nvSpPr>
            <p:spPr bwMode="auto">
              <a:xfrm>
                <a:off x="6731889" y="5537786"/>
                <a:ext cx="1354091" cy="86923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汽车组成</a:t>
                </a: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零部件名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组成部件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68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6717602" y="5828059"/>
                <a:ext cx="1368378" cy="14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68313" y="762000"/>
            <a:ext cx="7772400" cy="633413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：学生成绩的表示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576263" y="1428750"/>
            <a:ext cx="7772400" cy="2082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000" b="1"/>
              <a:t>假设：</a:t>
            </a:r>
            <a:endParaRPr kumimoji="0" lang="en-US" altLang="zh-CN" sz="2000" b="1"/>
          </a:p>
          <a:p>
            <a:pPr marL="0" indent="0"/>
            <a:r>
              <a:rPr kumimoji="0" lang="zh-CN" altLang="en-US" sz="2000"/>
              <a:t>每个学生，都有自己的姓名、学号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每一门课程，都有课程名称、课程编号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每一个学生的每一门课程都有</a:t>
            </a:r>
            <a:r>
              <a:rPr kumimoji="0" lang="zh-CN" altLang="en-US" sz="2000">
                <a:solidFill>
                  <a:srgbClr val="0066FF"/>
                </a:solidFill>
              </a:rPr>
              <a:t>成绩</a:t>
            </a:r>
            <a:endParaRPr kumimoji="0" lang="en-US" altLang="zh-CN" sz="2000">
              <a:solidFill>
                <a:srgbClr val="0066FF"/>
              </a:solidFill>
            </a:endParaRPr>
          </a:p>
          <a:p>
            <a:pPr marL="0" indent="0"/>
            <a:r>
              <a:rPr kumimoji="0" lang="zh-CN" altLang="en-US" sz="2000" b="1">
                <a:solidFill>
                  <a:srgbClr val="2A2A39"/>
                </a:solidFill>
                <a:ea typeface="黑体" panose="02010609060101010101" pitchFamily="49" charset="-122"/>
              </a:rPr>
              <a:t>并假设已设计如下的</a:t>
            </a:r>
            <a:r>
              <a:rPr kumimoji="0" lang="en-US" altLang="zh-CN" sz="2000" b="1">
                <a:solidFill>
                  <a:srgbClr val="2A2A39"/>
                </a:solidFill>
                <a:ea typeface="黑体" panose="02010609060101010101" pitchFamily="49" charset="-122"/>
              </a:rPr>
              <a:t>E-R</a:t>
            </a:r>
            <a:r>
              <a:rPr kumimoji="0" lang="zh-CN" altLang="en-US" sz="2000" b="1">
                <a:solidFill>
                  <a:srgbClr val="2A2A39"/>
                </a:solidFill>
                <a:ea typeface="黑体" panose="02010609060101010101" pitchFamily="49" charset="-122"/>
              </a:rPr>
              <a:t>图</a:t>
            </a:r>
            <a:endParaRPr kumimoji="0" lang="zh-CN" altLang="en-US" sz="2000">
              <a:solidFill>
                <a:srgbClr val="2A2A39"/>
              </a:solidFill>
            </a:endParaRPr>
          </a:p>
        </p:txBody>
      </p:sp>
      <p:sp>
        <p:nvSpPr>
          <p:cNvPr id="20483" name="Rectangle 7"/>
          <p:cNvSpPr>
            <a:spLocks noChangeArrowheads="1"/>
          </p:cNvSpPr>
          <p:nvPr/>
        </p:nvSpPr>
        <p:spPr bwMode="auto">
          <a:xfrm>
            <a:off x="611188" y="165100"/>
            <a:ext cx="43211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5918200" y="107950"/>
            <a:ext cx="3005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模型设计注意问题</a:t>
            </a:r>
            <a:endParaRPr kumimoji="0" lang="en-US" altLang="zh-CN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485" name="Group 20"/>
          <p:cNvGrpSpPr/>
          <p:nvPr/>
        </p:nvGrpSpPr>
        <p:grpSpPr bwMode="auto">
          <a:xfrm>
            <a:off x="965200" y="3481388"/>
            <a:ext cx="6575425" cy="2586037"/>
            <a:chOff x="529" y="1363"/>
            <a:chExt cx="4500" cy="1883"/>
          </a:xfrm>
        </p:grpSpPr>
        <p:sp>
          <p:nvSpPr>
            <p:cNvPr id="8" name="矩形 2"/>
            <p:cNvSpPr>
              <a:spLocks noChangeArrowheads="1"/>
            </p:cNvSpPr>
            <p:nvPr/>
          </p:nvSpPr>
          <p:spPr bwMode="auto">
            <a:xfrm>
              <a:off x="869" y="2043"/>
              <a:ext cx="703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sz="18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3454" y="2021"/>
              <a:ext cx="703" cy="31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0" name="菱形 6"/>
            <p:cNvSpPr>
              <a:spLocks noChangeArrowheads="1"/>
            </p:cNvSpPr>
            <p:nvPr/>
          </p:nvSpPr>
          <p:spPr bwMode="auto">
            <a:xfrm>
              <a:off x="2152" y="1885"/>
              <a:ext cx="879" cy="608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0490" name="直接连接符 8"/>
            <p:cNvCxnSpPr>
              <a:cxnSpLocks noChangeShapeType="1"/>
              <a:stCxn id="8" idx="3"/>
              <a:endCxn id="10" idx="1"/>
            </p:cNvCxnSpPr>
            <p:nvPr/>
          </p:nvCxnSpPr>
          <p:spPr bwMode="auto">
            <a:xfrm flipV="1">
              <a:off x="1572" y="2191"/>
              <a:ext cx="580" cy="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1" name="直接连接符 11"/>
            <p:cNvCxnSpPr>
              <a:cxnSpLocks noChangeShapeType="1"/>
              <a:endCxn id="9" idx="1"/>
            </p:cNvCxnSpPr>
            <p:nvPr/>
          </p:nvCxnSpPr>
          <p:spPr bwMode="auto">
            <a:xfrm flipV="1">
              <a:off x="3001" y="2180"/>
              <a:ext cx="453" cy="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椭圆 10"/>
            <p:cNvSpPr>
              <a:spLocks noChangeArrowheads="1"/>
            </p:cNvSpPr>
            <p:nvPr/>
          </p:nvSpPr>
          <p:spPr bwMode="auto">
            <a:xfrm>
              <a:off x="529" y="1386"/>
              <a:ext cx="634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6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6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" name="椭圆 14"/>
            <p:cNvSpPr>
              <a:spLocks noChangeArrowheads="1"/>
            </p:cNvSpPr>
            <p:nvPr/>
          </p:nvSpPr>
          <p:spPr bwMode="auto">
            <a:xfrm>
              <a:off x="625" y="2951"/>
              <a:ext cx="640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600" b="0" u="sng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600" b="0" u="sng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0494" name="直接连接符 15"/>
            <p:cNvCxnSpPr>
              <a:cxnSpLocks noChangeShapeType="1"/>
              <a:stCxn id="13" idx="4"/>
              <a:endCxn id="8" idx="0"/>
            </p:cNvCxnSpPr>
            <p:nvPr/>
          </p:nvCxnSpPr>
          <p:spPr bwMode="auto">
            <a:xfrm>
              <a:off x="846" y="1681"/>
              <a:ext cx="374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5" name="直接连接符 18"/>
            <p:cNvCxnSpPr>
              <a:cxnSpLocks noChangeShapeType="1"/>
              <a:stCxn id="8" idx="2"/>
            </p:cNvCxnSpPr>
            <p:nvPr/>
          </p:nvCxnSpPr>
          <p:spPr bwMode="auto">
            <a:xfrm flipH="1">
              <a:off x="1034" y="2361"/>
              <a:ext cx="187" cy="5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椭圆 21"/>
            <p:cNvSpPr>
              <a:spLocks noChangeArrowheads="1"/>
            </p:cNvSpPr>
            <p:nvPr/>
          </p:nvSpPr>
          <p:spPr bwMode="auto">
            <a:xfrm>
              <a:off x="3925" y="1363"/>
              <a:ext cx="1022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8" name="椭圆 22"/>
            <p:cNvSpPr>
              <a:spLocks noChangeArrowheads="1"/>
            </p:cNvSpPr>
            <p:nvPr/>
          </p:nvSpPr>
          <p:spPr bwMode="auto">
            <a:xfrm>
              <a:off x="4021" y="2928"/>
              <a:ext cx="1008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6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0498" name="直接连接符 23"/>
            <p:cNvCxnSpPr>
              <a:cxnSpLocks noChangeShapeType="1"/>
              <a:endCxn id="9" idx="0"/>
            </p:cNvCxnSpPr>
            <p:nvPr/>
          </p:nvCxnSpPr>
          <p:spPr bwMode="auto">
            <a:xfrm flipH="1">
              <a:off x="3806" y="1654"/>
              <a:ext cx="438" cy="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9" name="直接连接符 24"/>
            <p:cNvCxnSpPr>
              <a:cxnSpLocks noChangeShapeType="1"/>
              <a:stCxn id="9" idx="2"/>
            </p:cNvCxnSpPr>
            <p:nvPr/>
          </p:nvCxnSpPr>
          <p:spPr bwMode="auto">
            <a:xfrm>
              <a:off x="3806" y="2337"/>
              <a:ext cx="544" cy="5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6" name="AutoShape 5"/>
          <p:cNvSpPr>
            <a:spLocks noChangeArrowheads="1"/>
          </p:cNvSpPr>
          <p:nvPr/>
        </p:nvSpPr>
        <p:spPr bwMode="auto">
          <a:xfrm>
            <a:off x="6334125" y="1835150"/>
            <a:ext cx="2289175" cy="1042988"/>
          </a:xfrm>
          <a:prstGeom prst="cloudCallout">
            <a:avLst>
              <a:gd name="adj1" fmla="val 44912"/>
              <a:gd name="adj2" fmla="val 65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学生的课程“</a:t>
            </a:r>
            <a:r>
              <a:rPr kumimoji="0" lang="zh-CN" altLang="en-US" sz="1600">
                <a:solidFill>
                  <a:srgbClr val="0066FF"/>
                </a:solidFill>
              </a:rPr>
              <a:t>成绩”</a:t>
            </a:r>
            <a:r>
              <a:rPr kumimoji="0" lang="zh-CN" altLang="en-US" sz="1600">
                <a:solidFill>
                  <a:srgbClr val="2A2A39"/>
                </a:solidFill>
              </a:rPr>
              <a:t>应</a:t>
            </a:r>
            <a:r>
              <a:rPr kumimoji="0" lang="zh-CN" altLang="en-US" sz="1600"/>
              <a:t>放在图中何处？</a:t>
            </a:r>
            <a:endParaRPr kumimoji="0" lang="zh-CN" altLang="en-US" sz="1600">
              <a:solidFill>
                <a:srgbClr val="2A2A39"/>
              </a:solidFill>
              <a:latin typeface="Tahoma" panose="020B060403050404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920750" y="652463"/>
            <a:ext cx="6149975" cy="1009650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设计方法一：放在学生实体集中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612775" y="1706563"/>
            <a:ext cx="5799138" cy="1382712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难以区分是那门课的成绩！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en-US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除非采用不断曾长的文字属性来描述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>
                <a:solidFill>
                  <a:srgbClr val="2A2A39"/>
                </a:solidFill>
              </a:rPr>
              <a:t>！</a:t>
            </a:r>
            <a:endParaRPr kumimoji="0" lang="zh-CN" altLang="en-US" sz="2400">
              <a:solidFill>
                <a:srgbClr val="2A2A39"/>
              </a:solidFill>
            </a:endParaRPr>
          </a:p>
        </p:txBody>
      </p:sp>
      <p:grpSp>
        <p:nvGrpSpPr>
          <p:cNvPr id="21507" name="组 3"/>
          <p:cNvGrpSpPr/>
          <p:nvPr/>
        </p:nvGrpSpPr>
        <p:grpSpPr bwMode="auto">
          <a:xfrm>
            <a:off x="1179513" y="3595688"/>
            <a:ext cx="6769100" cy="2597150"/>
            <a:chOff x="2232025" y="2781300"/>
            <a:chExt cx="7029182" cy="2987675"/>
          </a:xfrm>
        </p:grpSpPr>
        <p:sp>
          <p:nvSpPr>
            <p:cNvPr id="14340" name="矩形 3"/>
            <p:cNvSpPr>
              <a:spLocks noChangeArrowheads="1"/>
            </p:cNvSpPr>
            <p:nvPr/>
          </p:nvSpPr>
          <p:spPr bwMode="auto">
            <a:xfrm>
              <a:off x="2771082" y="3860588"/>
              <a:ext cx="1116032" cy="5058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341" name="矩形 4"/>
            <p:cNvSpPr>
              <a:spLocks noChangeArrowheads="1"/>
            </p:cNvSpPr>
            <p:nvPr/>
          </p:nvSpPr>
          <p:spPr bwMode="auto">
            <a:xfrm>
              <a:off x="6875834" y="3824064"/>
              <a:ext cx="1117680" cy="5058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4342" name="菱形 5"/>
            <p:cNvSpPr>
              <a:spLocks noChangeArrowheads="1"/>
            </p:cNvSpPr>
            <p:nvPr/>
          </p:nvSpPr>
          <p:spPr bwMode="auto">
            <a:xfrm>
              <a:off x="4645421" y="3608571"/>
              <a:ext cx="1541342" cy="973369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15" name="直接连接符 6"/>
            <p:cNvCxnSpPr>
              <a:cxnSpLocks noChangeShapeType="1"/>
              <a:stCxn id="14340" idx="3"/>
              <a:endCxn id="14342" idx="1"/>
            </p:cNvCxnSpPr>
            <p:nvPr/>
          </p:nvCxnSpPr>
          <p:spPr bwMode="auto">
            <a:xfrm flipV="1">
              <a:off x="3887114" y="4096169"/>
              <a:ext cx="758308" cy="164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6" name="直接连接符 7"/>
            <p:cNvCxnSpPr>
              <a:cxnSpLocks noChangeShapeType="1"/>
              <a:endCxn id="14341" idx="1"/>
            </p:cNvCxnSpPr>
            <p:nvPr/>
          </p:nvCxnSpPr>
          <p:spPr bwMode="auto">
            <a:xfrm flipV="1">
              <a:off x="6157091" y="4076080"/>
              <a:ext cx="718744" cy="200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45" name="椭圆 8"/>
            <p:cNvSpPr>
              <a:spLocks noChangeArrowheads="1"/>
            </p:cNvSpPr>
            <p:nvPr/>
          </p:nvSpPr>
          <p:spPr bwMode="auto">
            <a:xfrm>
              <a:off x="2232025" y="2815997"/>
              <a:ext cx="1008879" cy="46933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346" name="椭圆 9"/>
            <p:cNvSpPr>
              <a:spLocks noChangeArrowheads="1"/>
            </p:cNvSpPr>
            <p:nvPr/>
          </p:nvSpPr>
          <p:spPr bwMode="auto">
            <a:xfrm>
              <a:off x="2383687" y="5301466"/>
              <a:ext cx="1008879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1519" name="直接连接符 10"/>
            <p:cNvCxnSpPr>
              <a:cxnSpLocks noChangeShapeType="1"/>
              <a:stCxn id="14345" idx="4"/>
              <a:endCxn id="14340" idx="0"/>
            </p:cNvCxnSpPr>
            <p:nvPr/>
          </p:nvCxnSpPr>
          <p:spPr bwMode="auto">
            <a:xfrm>
              <a:off x="2734815" y="3285333"/>
              <a:ext cx="595107" cy="575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直接连接符 11"/>
            <p:cNvCxnSpPr>
              <a:cxnSpLocks noChangeShapeType="1"/>
              <a:stCxn id="14340" idx="2"/>
            </p:cNvCxnSpPr>
            <p:nvPr/>
          </p:nvCxnSpPr>
          <p:spPr bwMode="auto">
            <a:xfrm flipH="1">
              <a:off x="3031544" y="4366448"/>
              <a:ext cx="298378" cy="935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49" name="椭圆 12"/>
            <p:cNvSpPr>
              <a:spLocks noChangeArrowheads="1"/>
            </p:cNvSpPr>
            <p:nvPr/>
          </p:nvSpPr>
          <p:spPr bwMode="auto">
            <a:xfrm>
              <a:off x="7202236" y="2781300"/>
              <a:ext cx="1814993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4350" name="椭圆 13"/>
            <p:cNvSpPr>
              <a:spLocks noChangeArrowheads="1"/>
            </p:cNvSpPr>
            <p:nvPr/>
          </p:nvSpPr>
          <p:spPr bwMode="auto">
            <a:xfrm>
              <a:off x="7291255" y="5264942"/>
              <a:ext cx="1969952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23" name="直接连接符 14"/>
            <p:cNvCxnSpPr>
              <a:cxnSpLocks noChangeShapeType="1"/>
              <a:endCxn id="14341" idx="0"/>
            </p:cNvCxnSpPr>
            <p:nvPr/>
          </p:nvCxnSpPr>
          <p:spPr bwMode="auto">
            <a:xfrm flipH="1">
              <a:off x="7434675" y="3241504"/>
              <a:ext cx="694016" cy="582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直接连接符 15"/>
            <p:cNvCxnSpPr>
              <a:cxnSpLocks noChangeShapeType="1"/>
              <a:stCxn id="14341" idx="2"/>
            </p:cNvCxnSpPr>
            <p:nvPr/>
          </p:nvCxnSpPr>
          <p:spPr bwMode="auto">
            <a:xfrm>
              <a:off x="7434675" y="4329924"/>
              <a:ext cx="863811" cy="935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53" name="椭圆 16"/>
            <p:cNvSpPr>
              <a:spLocks noChangeArrowheads="1"/>
            </p:cNvSpPr>
            <p:nvPr/>
          </p:nvSpPr>
          <p:spPr bwMode="auto">
            <a:xfrm>
              <a:off x="3455208" y="2815997"/>
              <a:ext cx="1008879" cy="469336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26" name="直接连接符 17"/>
            <p:cNvCxnSpPr>
              <a:cxnSpLocks noChangeShapeType="1"/>
              <a:endCxn id="14340" idx="0"/>
            </p:cNvCxnSpPr>
            <p:nvPr/>
          </p:nvCxnSpPr>
          <p:spPr bwMode="auto">
            <a:xfrm flipH="1">
              <a:off x="3329923" y="3285333"/>
              <a:ext cx="557191" cy="575255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30"/>
          <p:cNvGrpSpPr/>
          <p:nvPr/>
        </p:nvGrpSpPr>
        <p:grpSpPr bwMode="auto">
          <a:xfrm>
            <a:off x="5624513" y="1879600"/>
            <a:ext cx="852487" cy="1439863"/>
            <a:chOff x="4233" y="1460"/>
            <a:chExt cx="1082" cy="624"/>
          </a:xfrm>
        </p:grpSpPr>
        <p:sp>
          <p:nvSpPr>
            <p:cNvPr id="21510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学生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学号</a:t>
              </a:r>
              <a:endParaRPr kumimoji="0" lang="zh-CN" altLang="en-US" sz="2000" b="0" u="sng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姓名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数学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68,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英语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80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，</a:t>
              </a:r>
              <a:r>
                <a:rPr kumimoji="0" lang="is-IS" altLang="zh-CN" sz="2000" b="0">
                  <a:solidFill>
                    <a:srgbClr val="800000"/>
                  </a:solidFill>
                </a:rPr>
                <a:t>…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1509" name="矩形 25"/>
          <p:cNvSpPr>
            <a:spLocks noChangeArrowheads="1"/>
          </p:cNvSpPr>
          <p:nvPr/>
        </p:nvSpPr>
        <p:spPr bwMode="auto">
          <a:xfrm>
            <a:off x="6521450" y="12700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1041400" y="684213"/>
            <a:ext cx="6064250" cy="979487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设计方法二：放在课程实体集中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430213" y="1719263"/>
            <a:ext cx="6122987" cy="117475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难以区分是那个学生的成绩！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除非采用不断增长的超长文字属性来描述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endParaRPr kumimoji="0" lang="zh-CN" altLang="en-US" sz="2000">
              <a:solidFill>
                <a:srgbClr val="2A2A39"/>
              </a:solidFill>
            </a:endParaRPr>
          </a:p>
        </p:txBody>
      </p:sp>
      <p:grpSp>
        <p:nvGrpSpPr>
          <p:cNvPr id="22531" name="组 2"/>
          <p:cNvGrpSpPr/>
          <p:nvPr/>
        </p:nvGrpSpPr>
        <p:grpSpPr bwMode="auto">
          <a:xfrm>
            <a:off x="903288" y="3446463"/>
            <a:ext cx="6856412" cy="2700337"/>
            <a:chOff x="1374775" y="2781300"/>
            <a:chExt cx="6970939" cy="2987675"/>
          </a:xfrm>
        </p:grpSpPr>
        <p:sp>
          <p:nvSpPr>
            <p:cNvPr id="15364" name="矩形 3"/>
            <p:cNvSpPr>
              <a:spLocks noChangeArrowheads="1"/>
            </p:cNvSpPr>
            <p:nvPr/>
          </p:nvSpPr>
          <p:spPr bwMode="auto">
            <a:xfrm>
              <a:off x="1913857" y="3861500"/>
              <a:ext cx="1116900" cy="50409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5365" name="矩形 4"/>
            <p:cNvSpPr>
              <a:spLocks noChangeArrowheads="1"/>
            </p:cNvSpPr>
            <p:nvPr/>
          </p:nvSpPr>
          <p:spPr bwMode="auto">
            <a:xfrm>
              <a:off x="6018301" y="3824615"/>
              <a:ext cx="1116900" cy="50409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5366" name="菱形 5"/>
            <p:cNvSpPr>
              <a:spLocks noChangeArrowheads="1"/>
            </p:cNvSpPr>
            <p:nvPr/>
          </p:nvSpPr>
          <p:spPr bwMode="auto">
            <a:xfrm>
              <a:off x="3810326" y="3608575"/>
              <a:ext cx="1502650" cy="973058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39" name="直接连接符 6"/>
            <p:cNvCxnSpPr>
              <a:cxnSpLocks noChangeShapeType="1"/>
              <a:stCxn id="15364" idx="3"/>
              <a:endCxn id="15366" idx="1"/>
            </p:cNvCxnSpPr>
            <p:nvPr/>
          </p:nvCxnSpPr>
          <p:spPr bwMode="auto">
            <a:xfrm flipV="1">
              <a:off x="3030756" y="4095104"/>
              <a:ext cx="779570" cy="175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0" name="直接连接符 7"/>
            <p:cNvCxnSpPr>
              <a:cxnSpLocks noChangeShapeType="1"/>
              <a:endCxn id="15365" idx="1"/>
            </p:cNvCxnSpPr>
            <p:nvPr/>
          </p:nvCxnSpPr>
          <p:spPr bwMode="auto">
            <a:xfrm flipV="1">
              <a:off x="5298450" y="4077540"/>
              <a:ext cx="719852" cy="175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69" name="椭圆 8"/>
            <p:cNvSpPr>
              <a:spLocks noChangeArrowheads="1"/>
            </p:cNvSpPr>
            <p:nvPr/>
          </p:nvSpPr>
          <p:spPr bwMode="auto">
            <a:xfrm>
              <a:off x="1374775" y="2816428"/>
              <a:ext cx="1008760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5370" name="椭圆 9"/>
            <p:cNvSpPr>
              <a:spLocks noChangeArrowheads="1"/>
            </p:cNvSpPr>
            <p:nvPr/>
          </p:nvSpPr>
          <p:spPr bwMode="auto">
            <a:xfrm>
              <a:off x="1526493" y="5300011"/>
              <a:ext cx="1008760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2543" name="直接连接符 10"/>
            <p:cNvCxnSpPr>
              <a:cxnSpLocks noChangeShapeType="1"/>
              <a:stCxn id="15369" idx="4"/>
              <a:endCxn id="15364" idx="0"/>
            </p:cNvCxnSpPr>
            <p:nvPr/>
          </p:nvCxnSpPr>
          <p:spPr bwMode="auto">
            <a:xfrm>
              <a:off x="1878348" y="3285393"/>
              <a:ext cx="595572" cy="576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直接连接符 11"/>
            <p:cNvCxnSpPr>
              <a:cxnSpLocks noChangeShapeType="1"/>
              <a:stCxn id="15364" idx="2"/>
            </p:cNvCxnSpPr>
            <p:nvPr/>
          </p:nvCxnSpPr>
          <p:spPr bwMode="auto">
            <a:xfrm flipH="1">
              <a:off x="2175327" y="4365594"/>
              <a:ext cx="298593" cy="9344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3" name="椭圆 12"/>
            <p:cNvSpPr>
              <a:spLocks noChangeArrowheads="1"/>
            </p:cNvSpPr>
            <p:nvPr/>
          </p:nvSpPr>
          <p:spPr bwMode="auto">
            <a:xfrm>
              <a:off x="6494437" y="2781300"/>
              <a:ext cx="1851277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5374" name="椭圆 13"/>
            <p:cNvSpPr>
              <a:spLocks noChangeArrowheads="1"/>
            </p:cNvSpPr>
            <p:nvPr/>
          </p:nvSpPr>
          <p:spPr bwMode="auto">
            <a:xfrm>
              <a:off x="6494437" y="5264882"/>
              <a:ext cx="1814155" cy="4672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47" name="直接连接符 14"/>
            <p:cNvCxnSpPr>
              <a:cxnSpLocks noChangeShapeType="1"/>
              <a:endCxn id="15365" idx="0"/>
            </p:cNvCxnSpPr>
            <p:nvPr/>
          </p:nvCxnSpPr>
          <p:spPr bwMode="auto">
            <a:xfrm flipH="1">
              <a:off x="6576751" y="3241483"/>
              <a:ext cx="694027" cy="5831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直接连接符 15"/>
            <p:cNvCxnSpPr>
              <a:cxnSpLocks noChangeShapeType="1"/>
              <a:stCxn id="15365" idx="2"/>
            </p:cNvCxnSpPr>
            <p:nvPr/>
          </p:nvCxnSpPr>
          <p:spPr bwMode="auto">
            <a:xfrm>
              <a:off x="6576751" y="4328708"/>
              <a:ext cx="863500" cy="936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7" name="椭圆 16"/>
            <p:cNvSpPr>
              <a:spLocks noChangeArrowheads="1"/>
            </p:cNvSpPr>
            <p:nvPr/>
          </p:nvSpPr>
          <p:spPr bwMode="auto">
            <a:xfrm>
              <a:off x="5227433" y="2816428"/>
              <a:ext cx="1008761" cy="468964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50" name="直接连接符 17"/>
            <p:cNvCxnSpPr>
              <a:cxnSpLocks noChangeShapeType="1"/>
            </p:cNvCxnSpPr>
            <p:nvPr/>
          </p:nvCxnSpPr>
          <p:spPr bwMode="auto">
            <a:xfrm>
              <a:off x="5731006" y="3285393"/>
              <a:ext cx="755360" cy="539222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30"/>
          <p:cNvGrpSpPr/>
          <p:nvPr/>
        </p:nvGrpSpPr>
        <p:grpSpPr bwMode="auto">
          <a:xfrm>
            <a:off x="5510213" y="1622425"/>
            <a:ext cx="1162050" cy="1439863"/>
            <a:chOff x="4233" y="1460"/>
            <a:chExt cx="1473" cy="624"/>
          </a:xfrm>
        </p:grpSpPr>
        <p:sp>
          <p:nvSpPr>
            <p:cNvPr id="22534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457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课程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课程编号</a:t>
              </a:r>
              <a:endParaRPr kumimoji="0" lang="zh-CN" altLang="en-US" sz="2000" b="0" u="sng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课程名称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  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张三</a:t>
              </a:r>
              <a:r>
                <a:rPr kumimoji="0" lang="zh-CN" altLang="zh-CN" sz="2000" b="0">
                  <a:solidFill>
                    <a:srgbClr val="800000"/>
                  </a:solidFill>
                </a:rPr>
                <a:t>6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6,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李四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88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，</a:t>
              </a:r>
              <a:r>
                <a:rPr kumimoji="0" lang="is-IS" altLang="zh-CN" sz="2000" b="0">
                  <a:solidFill>
                    <a:srgbClr val="800000"/>
                  </a:solidFill>
                </a:rPr>
                <a:t>…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2533" name="矩形 23"/>
          <p:cNvSpPr>
            <a:spLocks noChangeArrowheads="1"/>
          </p:cNvSpPr>
          <p:nvPr/>
        </p:nvSpPr>
        <p:spPr bwMode="auto">
          <a:xfrm>
            <a:off x="6567488" y="127000"/>
            <a:ext cx="2493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685800" y="561975"/>
            <a:ext cx="7772400" cy="1143000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设计方法三：：放在联系上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649288" y="1685925"/>
            <a:ext cx="5214937" cy="1731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这才是合理的位置！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333333"/>
                </a:solidFill>
              </a:rPr>
              <a:t>因学生和课程之间是多对多关系！</a:t>
            </a:r>
            <a:endParaRPr kumimoji="0" lang="zh-CN" altLang="en-US" sz="2400">
              <a:solidFill>
                <a:srgbClr val="333333"/>
              </a:solidFill>
            </a:endParaRPr>
          </a:p>
        </p:txBody>
      </p:sp>
      <p:grpSp>
        <p:nvGrpSpPr>
          <p:cNvPr id="23555" name="Group 21"/>
          <p:cNvGrpSpPr/>
          <p:nvPr/>
        </p:nvGrpSpPr>
        <p:grpSpPr bwMode="auto">
          <a:xfrm>
            <a:off x="1093788" y="3265488"/>
            <a:ext cx="6713537" cy="2801937"/>
            <a:chOff x="1406" y="1502"/>
            <a:chExt cx="4317" cy="2132"/>
          </a:xfrm>
        </p:grpSpPr>
        <p:sp>
          <p:nvSpPr>
            <p:cNvPr id="16388" name="矩形 3"/>
            <p:cNvSpPr>
              <a:spLocks noChangeArrowheads="1"/>
            </p:cNvSpPr>
            <p:nvPr/>
          </p:nvSpPr>
          <p:spPr bwMode="auto">
            <a:xfrm>
              <a:off x="1746" y="2432"/>
              <a:ext cx="703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6389" name="矩形 4"/>
            <p:cNvSpPr>
              <a:spLocks noChangeArrowheads="1"/>
            </p:cNvSpPr>
            <p:nvPr/>
          </p:nvSpPr>
          <p:spPr bwMode="auto">
            <a:xfrm>
              <a:off x="4331" y="2409"/>
              <a:ext cx="704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6390" name="菱形 5"/>
            <p:cNvSpPr>
              <a:spLocks noChangeArrowheads="1"/>
            </p:cNvSpPr>
            <p:nvPr/>
          </p:nvSpPr>
          <p:spPr bwMode="auto">
            <a:xfrm>
              <a:off x="2979" y="2273"/>
              <a:ext cx="904" cy="615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63" name="直接连接符 6"/>
            <p:cNvCxnSpPr>
              <a:cxnSpLocks noChangeShapeType="1"/>
              <a:stCxn id="16388" idx="3"/>
              <a:endCxn id="16390" idx="1"/>
            </p:cNvCxnSpPr>
            <p:nvPr/>
          </p:nvCxnSpPr>
          <p:spPr bwMode="auto">
            <a:xfrm flipV="1">
              <a:off x="2449" y="2579"/>
              <a:ext cx="530" cy="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直接连接符 7"/>
            <p:cNvCxnSpPr>
              <a:cxnSpLocks noChangeShapeType="1"/>
              <a:endCxn id="16389" idx="1"/>
            </p:cNvCxnSpPr>
            <p:nvPr/>
          </p:nvCxnSpPr>
          <p:spPr bwMode="auto">
            <a:xfrm flipV="1">
              <a:off x="3878" y="2569"/>
              <a:ext cx="450" cy="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3" name="椭圆 8"/>
            <p:cNvSpPr>
              <a:spLocks noChangeArrowheads="1"/>
            </p:cNvSpPr>
            <p:nvPr/>
          </p:nvSpPr>
          <p:spPr bwMode="auto">
            <a:xfrm>
              <a:off x="1406" y="1774"/>
              <a:ext cx="635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6394" name="椭圆 9"/>
            <p:cNvSpPr>
              <a:spLocks noChangeArrowheads="1"/>
            </p:cNvSpPr>
            <p:nvPr/>
          </p:nvSpPr>
          <p:spPr bwMode="auto">
            <a:xfrm>
              <a:off x="1502" y="3339"/>
              <a:ext cx="635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3567" name="直接连接符 10"/>
            <p:cNvCxnSpPr>
              <a:cxnSpLocks noChangeShapeType="1"/>
              <a:stCxn id="16393" idx="4"/>
              <a:endCxn id="16388" idx="0"/>
            </p:cNvCxnSpPr>
            <p:nvPr/>
          </p:nvCxnSpPr>
          <p:spPr bwMode="auto">
            <a:xfrm>
              <a:off x="1723" y="2069"/>
              <a:ext cx="375" cy="3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8" name="直接连接符 11"/>
            <p:cNvCxnSpPr>
              <a:cxnSpLocks noChangeShapeType="1"/>
              <a:stCxn id="16388" idx="2"/>
            </p:cNvCxnSpPr>
            <p:nvPr/>
          </p:nvCxnSpPr>
          <p:spPr bwMode="auto">
            <a:xfrm flipH="1">
              <a:off x="1910" y="2750"/>
              <a:ext cx="188" cy="5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7" name="椭圆 12"/>
            <p:cNvSpPr>
              <a:spLocks noChangeArrowheads="1"/>
            </p:cNvSpPr>
            <p:nvPr/>
          </p:nvSpPr>
          <p:spPr bwMode="auto">
            <a:xfrm>
              <a:off x="4386" y="1752"/>
              <a:ext cx="1314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6398" name="椭圆 13"/>
            <p:cNvSpPr>
              <a:spLocks noChangeArrowheads="1"/>
            </p:cNvSpPr>
            <p:nvPr/>
          </p:nvSpPr>
          <p:spPr bwMode="auto">
            <a:xfrm>
              <a:off x="4511" y="3318"/>
              <a:ext cx="1212" cy="29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71" name="直接连接符 14"/>
            <p:cNvCxnSpPr>
              <a:cxnSpLocks noChangeShapeType="1"/>
              <a:endCxn id="16389" idx="0"/>
            </p:cNvCxnSpPr>
            <p:nvPr/>
          </p:nvCxnSpPr>
          <p:spPr bwMode="auto">
            <a:xfrm flipH="1">
              <a:off x="4683" y="2042"/>
              <a:ext cx="437" cy="3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2" name="直接连接符 15"/>
            <p:cNvCxnSpPr>
              <a:cxnSpLocks noChangeShapeType="1"/>
              <a:stCxn id="16389" idx="2"/>
            </p:cNvCxnSpPr>
            <p:nvPr/>
          </p:nvCxnSpPr>
          <p:spPr bwMode="auto">
            <a:xfrm>
              <a:off x="4683" y="2727"/>
              <a:ext cx="544" cy="5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1" name="椭圆 16"/>
            <p:cNvSpPr>
              <a:spLocks noChangeArrowheads="1"/>
            </p:cNvSpPr>
            <p:nvPr/>
          </p:nvSpPr>
          <p:spPr bwMode="auto">
            <a:xfrm>
              <a:off x="2840" y="1502"/>
              <a:ext cx="635" cy="295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74" name="直接连接符 17"/>
            <p:cNvCxnSpPr>
              <a:cxnSpLocks noChangeShapeType="1"/>
              <a:stCxn id="16401" idx="4"/>
              <a:endCxn id="16390" idx="0"/>
            </p:cNvCxnSpPr>
            <p:nvPr/>
          </p:nvCxnSpPr>
          <p:spPr bwMode="auto">
            <a:xfrm>
              <a:off x="3158" y="1797"/>
              <a:ext cx="278" cy="476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30"/>
          <p:cNvGrpSpPr/>
          <p:nvPr/>
        </p:nvGrpSpPr>
        <p:grpSpPr bwMode="auto">
          <a:xfrm>
            <a:off x="6113463" y="1714500"/>
            <a:ext cx="1198562" cy="1439863"/>
            <a:chOff x="4233" y="1460"/>
            <a:chExt cx="1082" cy="624"/>
          </a:xfrm>
        </p:grpSpPr>
        <p:sp>
          <p:nvSpPr>
            <p:cNvPr id="23558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学习成绩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学号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  20140001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课程编号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CST05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  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68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3557" name="矩形 24"/>
          <p:cNvSpPr>
            <a:spLocks noChangeArrowheads="1"/>
          </p:cNvSpPr>
          <p:nvPr/>
        </p:nvSpPr>
        <p:spPr bwMode="auto">
          <a:xfrm>
            <a:off x="6478588" y="12700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xfrm>
            <a:off x="874713" y="739775"/>
            <a:ext cx="6164262" cy="744538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：工资和岗位的表示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578" name="Group 9"/>
          <p:cNvGrpSpPr/>
          <p:nvPr/>
        </p:nvGrpSpPr>
        <p:grpSpPr bwMode="auto">
          <a:xfrm>
            <a:off x="2159000" y="1473200"/>
            <a:ext cx="6588125" cy="3873500"/>
            <a:chOff x="1197" y="1222"/>
            <a:chExt cx="4150" cy="2544"/>
          </a:xfrm>
        </p:grpSpPr>
        <p:pic>
          <p:nvPicPr>
            <p:cNvPr id="24589" name="Picture 10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7" y="1222"/>
              <a:ext cx="4150" cy="2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4590" name="直接连接符 90"/>
            <p:cNvCxnSpPr>
              <a:cxnSpLocks noChangeShapeType="1"/>
            </p:cNvCxnSpPr>
            <p:nvPr/>
          </p:nvCxnSpPr>
          <p:spPr bwMode="auto">
            <a:xfrm>
              <a:off x="5014" y="2180"/>
              <a:ext cx="0" cy="1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1" name="直接连接符 95"/>
            <p:cNvCxnSpPr>
              <a:cxnSpLocks noChangeShapeType="1"/>
            </p:cNvCxnSpPr>
            <p:nvPr/>
          </p:nvCxnSpPr>
          <p:spPr bwMode="auto">
            <a:xfrm>
              <a:off x="5019" y="2701"/>
              <a:ext cx="0" cy="1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79" name="Rectangle 10"/>
          <p:cNvSpPr>
            <a:spLocks noChangeArrowheads="1"/>
          </p:cNvSpPr>
          <p:nvPr/>
        </p:nvSpPr>
        <p:spPr bwMode="auto">
          <a:xfrm>
            <a:off x="155575" y="4373563"/>
            <a:ext cx="56499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“工资”为何是实体集，不是属性？</a:t>
            </a:r>
            <a:endParaRPr kumimoji="0" lang="en-US" altLang="zh-CN" sz="2000" b="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“岗位”为何不是“职工”的属性？</a:t>
            </a:r>
            <a:endParaRPr kumimoji="0" lang="zh-CN" altLang="en-US" sz="2000" b="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“享有”“聘任”两个联系的类型？</a:t>
            </a:r>
            <a:endParaRPr kumimoji="0" lang="zh-CN" altLang="en-US" sz="2000" b="0">
              <a:solidFill>
                <a:srgbClr val="0066FF"/>
              </a:solidFill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252413" y="5292725"/>
            <a:ext cx="567372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/>
              <a:t>具有合理性，如果：</a:t>
            </a:r>
            <a:endParaRPr kumimoji="0" lang="en-US" altLang="zh-CN" sz="1800" b="0"/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/>
              <a:t>（</a:t>
            </a:r>
            <a:r>
              <a:rPr kumimoji="0" lang="zh-CN" altLang="zh-CN" sz="1800" b="0"/>
              <a:t>“</a:t>
            </a:r>
            <a:r>
              <a:rPr kumimoji="0" lang="zh-CN" altLang="en-US" sz="1800" b="0"/>
              <a:t>工资和</a:t>
            </a:r>
            <a:r>
              <a:rPr kumimoji="0" lang="en-US" altLang="zh-CN" sz="1800" b="0"/>
              <a:t>”</a:t>
            </a:r>
            <a:r>
              <a:rPr kumimoji="0" lang="zh-CN" altLang="en-US" sz="1800" b="0"/>
              <a:t>“岗位”都有自己的特殊属性）</a:t>
            </a:r>
            <a:endParaRPr kumimoji="0" lang="en-US" altLang="zh-CN" sz="1800" b="0"/>
          </a:p>
          <a:p>
            <a:pPr>
              <a:spcBef>
                <a:spcPct val="0"/>
              </a:spcBef>
            </a:pPr>
            <a:r>
              <a:rPr kumimoji="0" lang="zh-CN" altLang="en-US" sz="1800" b="0"/>
              <a:t>职工的每月有工资，且可能不同</a:t>
            </a:r>
            <a:endParaRPr kumimoji="0" lang="en-US" altLang="zh-CN" sz="1800" b="0"/>
          </a:p>
          <a:p>
            <a:pPr>
              <a:spcBef>
                <a:spcPct val="0"/>
              </a:spcBef>
            </a:pPr>
            <a:r>
              <a:rPr kumimoji="0" lang="zh-CN" altLang="en-US" sz="1800" b="0"/>
              <a:t>职工可能同时在不同部门担任不同岗位</a:t>
            </a:r>
            <a:endParaRPr kumimoji="0" lang="zh-CN" altLang="en-US" sz="1800" b="0"/>
          </a:p>
        </p:txBody>
      </p:sp>
      <p:sp>
        <p:nvSpPr>
          <p:cNvPr id="24581" name="Rectangle 7"/>
          <p:cNvSpPr>
            <a:spLocks noChangeArrowheads="1"/>
          </p:cNvSpPr>
          <p:nvPr/>
        </p:nvSpPr>
        <p:spPr bwMode="auto">
          <a:xfrm>
            <a:off x="393700" y="130175"/>
            <a:ext cx="4321175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kumimoji="0" lang="zh-CN" altLang="en-US" sz="28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用属性还是实体集</a:t>
            </a:r>
            <a:endParaRPr kumimoji="0" lang="zh-CN" altLang="en-US" sz="2800">
              <a:solidFill>
                <a:srgbClr val="892D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2" name="AutoShape 10"/>
          <p:cNvSpPr>
            <a:spLocks noChangeArrowheads="1"/>
          </p:cNvSpPr>
          <p:nvPr/>
        </p:nvSpPr>
        <p:spPr bwMode="auto">
          <a:xfrm>
            <a:off x="252413" y="1714818"/>
            <a:ext cx="2211387" cy="847725"/>
          </a:xfrm>
          <a:prstGeom prst="cloudCallout">
            <a:avLst>
              <a:gd name="adj1" fmla="val -47755"/>
              <a:gd name="adj2" fmla="val 7495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</a:rPr>
              <a:t>这样设计的</a:t>
            </a:r>
            <a:r>
              <a:rPr kumimoji="0" lang="en-US" altLang="zh-CN" sz="1600">
                <a:solidFill>
                  <a:srgbClr val="2A2A39"/>
                </a:solidFill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</a:rPr>
              <a:t>图合理吗？</a:t>
            </a:r>
            <a:endParaRPr kumimoji="0" lang="zh-CN" altLang="en-US" sz="16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Group 30"/>
          <p:cNvGrpSpPr/>
          <p:nvPr/>
        </p:nvGrpSpPr>
        <p:grpSpPr bwMode="auto">
          <a:xfrm>
            <a:off x="6692900" y="4610100"/>
            <a:ext cx="1198563" cy="1849438"/>
            <a:chOff x="4233" y="1361"/>
            <a:chExt cx="1082" cy="688"/>
          </a:xfrm>
        </p:grpSpPr>
        <p:sp>
          <p:nvSpPr>
            <p:cNvPr id="24587" name="Rectangle 28"/>
            <p:cNvSpPr>
              <a:spLocks noChangeArrowheads="1"/>
            </p:cNvSpPr>
            <p:nvPr/>
          </p:nvSpPr>
          <p:spPr bwMode="auto">
            <a:xfrm>
              <a:off x="4249" y="1361"/>
              <a:ext cx="1066" cy="6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工资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工号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  20001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年份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     2016</a:t>
              </a:r>
              <a:endParaRPr kumimoji="0" lang="en-US" altLang="zh-CN" sz="2000" b="0">
                <a:solidFill>
                  <a:srgbClr val="80000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月份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    12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基本工资</a:t>
              </a:r>
              <a:r>
                <a:rPr kumimoji="0" lang="en-US" altLang="zh-CN" sz="2000" b="0"/>
                <a:t> 1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800</a:t>
              </a:r>
              <a:endParaRPr kumimoji="0" lang="en-US" altLang="zh-CN" sz="2000" b="0">
                <a:solidFill>
                  <a:srgbClr val="80000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奖金</a:t>
              </a:r>
              <a:r>
                <a:rPr kumimoji="0" lang="en-US" altLang="zh-CN" sz="2000" b="0"/>
                <a:t>     </a:t>
              </a:r>
              <a:r>
                <a:rPr kumimoji="0" lang="zh-CN" altLang="zh-CN" sz="2000" b="0">
                  <a:solidFill>
                    <a:srgbClr val="800000"/>
                  </a:solidFill>
                </a:rPr>
                <a:t>1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000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4233" y="1484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grpSp>
        <p:nvGrpSpPr>
          <p:cNvPr id="17" name="Group 30"/>
          <p:cNvGrpSpPr/>
          <p:nvPr/>
        </p:nvGrpSpPr>
        <p:grpSpPr bwMode="auto">
          <a:xfrm>
            <a:off x="6662738" y="930275"/>
            <a:ext cx="1198562" cy="1439863"/>
            <a:chOff x="4233" y="1460"/>
            <a:chExt cx="1082" cy="624"/>
          </a:xfrm>
        </p:grpSpPr>
        <p:sp>
          <p:nvSpPr>
            <p:cNvPr id="24585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岗位</a:t>
              </a:r>
              <a:endParaRPr kumimoji="0" lang="en-US" altLang="zh-CN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工种号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rgbClr val="2A2A39"/>
                  </a:solidFill>
                </a:rPr>
                <a:t>工种名称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</a:t>
              </a:r>
              <a:r>
                <a:rPr kumimoji="0" lang="zh-CN" altLang="en-US" sz="2000" b="0">
                  <a:solidFill>
                    <a:srgbClr val="892D5B"/>
                  </a:solidFill>
                </a:rPr>
                <a:t>程序员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备注</a:t>
              </a:r>
              <a:r>
                <a:rPr kumimoji="0" lang="en-US" altLang="zh-CN" sz="2000" b="0"/>
                <a:t>     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Java</a:t>
              </a:r>
              <a:endParaRPr kumimoji="0" lang="zh-CN" altLang="en-US" sz="2000" b="0">
                <a:solidFill>
                  <a:schemeClr val="tx2"/>
                </a:solidFill>
              </a:endParaRPr>
            </a:p>
          </p:txBody>
        </p:sp>
        <p:sp>
          <p:nvSpPr>
            <p:cNvPr id="19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767622-3A74-41CC-B123-0D09CE88E48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871538"/>
            <a:ext cx="7772400" cy="706437"/>
          </a:xfrm>
        </p:spPr>
        <p:txBody>
          <a:bodyPr anchor="b"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4: 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电话信息的表示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622300" y="2782888"/>
            <a:ext cx="722947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Line 9"/>
          <p:cNvSpPr>
            <a:spLocks noChangeShapeType="1"/>
          </p:cNvSpPr>
          <p:nvPr/>
        </p:nvSpPr>
        <p:spPr bwMode="auto">
          <a:xfrm>
            <a:off x="2659063" y="2609850"/>
            <a:ext cx="22225" cy="327025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5605" name="AutoShape 10"/>
          <p:cNvSpPr>
            <a:spLocks noChangeArrowheads="1"/>
          </p:cNvSpPr>
          <p:nvPr/>
        </p:nvSpPr>
        <p:spPr bwMode="auto">
          <a:xfrm>
            <a:off x="6657975" y="1560513"/>
            <a:ext cx="2217738" cy="901700"/>
          </a:xfrm>
          <a:prstGeom prst="cloudCallout">
            <a:avLst>
              <a:gd name="adj1" fmla="val 47681"/>
              <a:gd name="adj2" fmla="val 8713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电话号码应该如何描述？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521" name="Group 17"/>
          <p:cNvGrpSpPr/>
          <p:nvPr/>
        </p:nvGrpSpPr>
        <p:grpSpPr bwMode="auto">
          <a:xfrm>
            <a:off x="474663" y="4652963"/>
            <a:ext cx="8129587" cy="1214437"/>
            <a:chOff x="939" y="2631"/>
            <a:chExt cx="5094" cy="765"/>
          </a:xfrm>
        </p:grpSpPr>
        <p:sp>
          <p:nvSpPr>
            <p:cNvPr id="21517" name="Rectangle 11"/>
            <p:cNvSpPr>
              <a:spLocks noChangeArrowheads="1"/>
            </p:cNvSpPr>
            <p:nvPr/>
          </p:nvSpPr>
          <p:spPr bwMode="auto">
            <a:xfrm>
              <a:off x="939" y="2930"/>
              <a:ext cx="140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一人一个电话时！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18" name="Rectangle 12"/>
            <p:cNvSpPr>
              <a:spLocks noChangeArrowheads="1"/>
            </p:cNvSpPr>
            <p:nvPr/>
          </p:nvSpPr>
          <p:spPr bwMode="auto">
            <a:xfrm>
              <a:off x="2524" y="2950"/>
              <a:ext cx="3509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一人多个电话时！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  <a:p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尤其是电话作为一个实体还有其他特殊属性时！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16" name="Rectangle 14"/>
            <p:cNvSpPr>
              <a:spLocks noChangeArrowheads="1"/>
            </p:cNvSpPr>
            <p:nvPr/>
          </p:nvSpPr>
          <p:spPr bwMode="auto">
            <a:xfrm>
              <a:off x="2024" y="2631"/>
              <a:ext cx="689" cy="233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>
                  <a:solidFill>
                    <a:srgbClr val="2A2A39"/>
                  </a:solidFill>
                  <a:latin typeface="宋体" panose="02010600030101010101" pitchFamily="2" charset="-122"/>
                </a:rPr>
                <a:t>设计原则</a:t>
              </a:r>
              <a:endParaRPr lang="zh-CN" altLang="en-US" sz="180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5607" name="矩形 1"/>
          <p:cNvSpPr>
            <a:spLocks noChangeArrowheads="1"/>
          </p:cNvSpPr>
          <p:nvPr/>
        </p:nvSpPr>
        <p:spPr bwMode="auto">
          <a:xfrm>
            <a:off x="6156643" y="107950"/>
            <a:ext cx="273812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用属性还是实体集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矩形 2"/>
          <p:cNvSpPr>
            <a:spLocks noChangeArrowheads="1"/>
          </p:cNvSpPr>
          <p:nvPr/>
        </p:nvSpPr>
        <p:spPr bwMode="auto">
          <a:xfrm>
            <a:off x="528638" y="1801813"/>
            <a:ext cx="4800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0000FF"/>
                </a:solidFill>
                <a:ea typeface="黑体" panose="02010609060101010101" pitchFamily="49" charset="-122"/>
              </a:rPr>
              <a:t>这两中方式，哪种描述是合理的？</a:t>
            </a:r>
            <a:endParaRPr kumimoji="0" lang="zh-CN" altLang="en-US" sz="2400" b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2"/>
          <p:cNvSpPr>
            <a:spLocks noGrp="1"/>
          </p:cNvSpPr>
          <p:nvPr>
            <p:ph type="title"/>
          </p:nvPr>
        </p:nvSpPr>
        <p:spPr>
          <a:xfrm>
            <a:off x="177800" y="909638"/>
            <a:ext cx="8639175" cy="1143000"/>
          </a:xfrm>
        </p:spPr>
        <p:txBody>
          <a:bodyPr/>
          <a:lstStyle/>
          <a:p>
            <a:pPr algn="l"/>
            <a:r>
              <a:rPr kumimoji="0" lang="en-US" altLang="zh-CN" sz="2800" b="1">
                <a:solidFill>
                  <a:schemeClr val="tx1"/>
                </a:solidFill>
              </a:rPr>
              <a:t>【</a:t>
            </a:r>
            <a:r>
              <a:rPr kumimoji="0" lang="zh-CN" altLang="en-US" sz="2800" b="1">
                <a:solidFill>
                  <a:schemeClr val="tx1"/>
                </a:solidFill>
              </a:rPr>
              <a:t>例</a:t>
            </a:r>
            <a:r>
              <a:rPr kumimoji="0" lang="en-US" altLang="zh-CN" sz="2800" b="1">
                <a:solidFill>
                  <a:schemeClr val="tx1"/>
                </a:solidFill>
              </a:rPr>
              <a:t>】</a:t>
            </a:r>
            <a:r>
              <a:rPr kumimoji="0" lang="zh-CN" altLang="en-US" sz="2800" b="1">
                <a:solidFill>
                  <a:schemeClr val="tx1"/>
                </a:solidFill>
              </a:rPr>
              <a:t>零件的销售价格是一个多值属性（经销、代销、批发、零售）</a:t>
            </a:r>
            <a:endParaRPr kumimoji="0" lang="zh-CN" altLang="en-US" sz="2800" b="1">
              <a:solidFill>
                <a:schemeClr val="tx1"/>
              </a:solidFill>
            </a:endParaRPr>
          </a:p>
        </p:txBody>
      </p:sp>
      <p:grpSp>
        <p:nvGrpSpPr>
          <p:cNvPr id="4" name="Group 38"/>
          <p:cNvGrpSpPr>
            <a:grpSpLocks noGrp="1"/>
          </p:cNvGrpSpPr>
          <p:nvPr/>
        </p:nvGrpSpPr>
        <p:grpSpPr bwMode="auto">
          <a:xfrm>
            <a:off x="457200" y="1955800"/>
            <a:ext cx="8229600" cy="4525963"/>
            <a:chOff x="975" y="2387"/>
            <a:chExt cx="3893" cy="1196"/>
          </a:xfrm>
        </p:grpSpPr>
        <p:sp>
          <p:nvSpPr>
            <p:cNvPr id="27653" name="Oval 24"/>
            <p:cNvSpPr>
              <a:spLocks noChangeArrowheads="1"/>
            </p:cNvSpPr>
            <p:nvPr/>
          </p:nvSpPr>
          <p:spPr bwMode="auto">
            <a:xfrm>
              <a:off x="975" y="2886"/>
              <a:ext cx="953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4" name="Text Box 25"/>
            <p:cNvSpPr txBox="1">
              <a:spLocks noChangeArrowheads="1"/>
            </p:cNvSpPr>
            <p:nvPr/>
          </p:nvSpPr>
          <p:spPr bwMode="auto">
            <a:xfrm>
              <a:off x="2699" y="3339"/>
              <a:ext cx="546" cy="2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5" name="Oval 26"/>
            <p:cNvSpPr>
              <a:spLocks noChangeArrowheads="1"/>
            </p:cNvSpPr>
            <p:nvPr/>
          </p:nvSpPr>
          <p:spPr bwMode="auto">
            <a:xfrm>
              <a:off x="1565" y="2569"/>
              <a:ext cx="716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6" name="Oval 27"/>
            <p:cNvSpPr>
              <a:spLocks noChangeArrowheads="1"/>
            </p:cNvSpPr>
            <p:nvPr/>
          </p:nvSpPr>
          <p:spPr bwMode="auto">
            <a:xfrm>
              <a:off x="2245" y="2387"/>
              <a:ext cx="726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7" name="Oval 28"/>
            <p:cNvSpPr>
              <a:spLocks noChangeArrowheads="1"/>
            </p:cNvSpPr>
            <p:nvPr/>
          </p:nvSpPr>
          <p:spPr bwMode="auto">
            <a:xfrm>
              <a:off x="3016" y="2387"/>
              <a:ext cx="652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8" name="Oval 29"/>
            <p:cNvSpPr>
              <a:spLocks noChangeArrowheads="1"/>
            </p:cNvSpPr>
            <p:nvPr/>
          </p:nvSpPr>
          <p:spPr bwMode="auto">
            <a:xfrm>
              <a:off x="3651" y="2569"/>
              <a:ext cx="953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9" name="Oval 30"/>
            <p:cNvSpPr>
              <a:spLocks noChangeArrowheads="1"/>
            </p:cNvSpPr>
            <p:nvPr/>
          </p:nvSpPr>
          <p:spPr bwMode="auto">
            <a:xfrm>
              <a:off x="3923" y="2886"/>
              <a:ext cx="945" cy="296"/>
            </a:xfrm>
            <a:prstGeom prst="ellipse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销售价格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60" name="Freeform 31"/>
            <p:cNvSpPr/>
            <p:nvPr/>
          </p:nvSpPr>
          <p:spPr bwMode="auto">
            <a:xfrm>
              <a:off x="2018" y="2841"/>
              <a:ext cx="771" cy="499"/>
            </a:xfrm>
            <a:custGeom>
              <a:avLst/>
              <a:gdLst>
                <a:gd name="T0" fmla="*/ 0 w 1065"/>
                <a:gd name="T1" fmla="*/ 0 h 1458"/>
                <a:gd name="T2" fmla="*/ 153 w 1065"/>
                <a:gd name="T3" fmla="*/ 2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1" name="Line 32"/>
            <p:cNvSpPr>
              <a:spLocks noChangeShapeType="1"/>
            </p:cNvSpPr>
            <p:nvPr/>
          </p:nvSpPr>
          <p:spPr bwMode="auto">
            <a:xfrm>
              <a:off x="1837" y="3113"/>
              <a:ext cx="862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2" name="Freeform 33"/>
            <p:cNvSpPr/>
            <p:nvPr/>
          </p:nvSpPr>
          <p:spPr bwMode="auto">
            <a:xfrm>
              <a:off x="3016" y="2660"/>
              <a:ext cx="292" cy="680"/>
            </a:xfrm>
            <a:custGeom>
              <a:avLst/>
              <a:gdLst>
                <a:gd name="T0" fmla="*/ 69 w 390"/>
                <a:gd name="T1" fmla="*/ 0 h 1827"/>
                <a:gd name="T2" fmla="*/ 0 w 390"/>
                <a:gd name="T3" fmla="*/ 5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3" name="Freeform 34"/>
            <p:cNvSpPr/>
            <p:nvPr/>
          </p:nvSpPr>
          <p:spPr bwMode="auto">
            <a:xfrm>
              <a:off x="3107" y="2841"/>
              <a:ext cx="816" cy="499"/>
            </a:xfrm>
            <a:custGeom>
              <a:avLst/>
              <a:gdLst>
                <a:gd name="T0" fmla="*/ 232 w 1050"/>
                <a:gd name="T1" fmla="*/ 0 h 1605"/>
                <a:gd name="T2" fmla="*/ 0 w 1050"/>
                <a:gd name="T3" fmla="*/ 2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4" name="Freeform 35"/>
            <p:cNvSpPr/>
            <p:nvPr/>
          </p:nvSpPr>
          <p:spPr bwMode="auto">
            <a:xfrm>
              <a:off x="3243" y="3113"/>
              <a:ext cx="726" cy="272"/>
            </a:xfrm>
            <a:custGeom>
              <a:avLst/>
              <a:gdLst>
                <a:gd name="T0" fmla="*/ 7 w 1829"/>
                <a:gd name="T1" fmla="*/ 0 h 1182"/>
                <a:gd name="T2" fmla="*/ 0 w 1829"/>
                <a:gd name="T3" fmla="*/ 0 h 1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9" h="1182">
                  <a:moveTo>
                    <a:pt x="1829" y="0"/>
                  </a:moveTo>
                  <a:lnTo>
                    <a:pt x="0" y="118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5" name="Freeform 36"/>
            <p:cNvSpPr/>
            <p:nvPr/>
          </p:nvSpPr>
          <p:spPr bwMode="auto">
            <a:xfrm>
              <a:off x="2608" y="2660"/>
              <a:ext cx="318" cy="680"/>
            </a:xfrm>
            <a:custGeom>
              <a:avLst/>
              <a:gdLst>
                <a:gd name="T0" fmla="*/ 0 w 540"/>
                <a:gd name="T1" fmla="*/ 0 h 1686"/>
                <a:gd name="T2" fmla="*/ 22 w 540"/>
                <a:gd name="T3" fmla="*/ 7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7651" name="灯片编号占位符 1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03E971-2D8C-43B9-9671-74DD252E7ABE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7652" name="标题 2"/>
          <p:cNvSpPr txBox="1"/>
          <p:nvPr/>
        </p:nvSpPr>
        <p:spPr bwMode="auto">
          <a:xfrm>
            <a:off x="58738" y="125413"/>
            <a:ext cx="86391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</a:rPr>
              <a:t>多值属性和复合属性</a:t>
            </a:r>
            <a:endParaRPr kumimoji="0" lang="zh-CN" altLang="en-US" sz="2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476250"/>
            <a:ext cx="8497888" cy="4284663"/>
          </a:xfrm>
        </p:spPr>
        <p:txBody>
          <a:bodyPr/>
          <a:lstStyle/>
          <a:p>
            <a:r>
              <a:rPr kumimoji="0" lang="zh-CN" altLang="en-US" sz="2600"/>
              <a:t>多值属性和复合属性的处理方法（以多值属性说明）：</a:t>
            </a:r>
            <a:endParaRPr kumimoji="0" lang="zh-CN" altLang="en-US" sz="26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600"/>
              <a:t>   </a:t>
            </a:r>
            <a:r>
              <a:rPr kumimoji="0" lang="en-US" altLang="zh-CN" sz="2600">
                <a:solidFill>
                  <a:srgbClr val="A50021"/>
                </a:solidFill>
              </a:rPr>
              <a:t>(1)</a:t>
            </a:r>
            <a:r>
              <a:rPr kumimoji="0" lang="en-US" altLang="zh-CN" sz="2600"/>
              <a:t> </a:t>
            </a:r>
            <a:r>
              <a:rPr kumimoji="0" lang="zh-CN" altLang="en-US" sz="2600"/>
              <a:t>将原来的多值属性用几个单值属性来代替； </a:t>
            </a:r>
            <a:endParaRPr kumimoji="0" lang="zh-CN" altLang="en-US" sz="26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200">
                <a:solidFill>
                  <a:srgbClr val="003366"/>
                </a:solidFill>
              </a:rPr>
              <a:t>  【</a:t>
            </a:r>
            <a:r>
              <a:rPr kumimoji="0" lang="zh-CN" altLang="en-US" sz="2200"/>
              <a:t>例</a:t>
            </a:r>
            <a:r>
              <a:rPr kumimoji="0" lang="en-US" altLang="zh-CN" sz="2200">
                <a:solidFill>
                  <a:srgbClr val="003366"/>
                </a:solidFill>
              </a:rPr>
              <a:t>】</a:t>
            </a:r>
            <a:endParaRPr kumimoji="0" lang="en-US" altLang="zh-CN" sz="2200">
              <a:solidFill>
                <a:srgbClr val="003366"/>
              </a:solidFill>
            </a:endParaRP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200"/>
              <a:t>   </a:t>
            </a:r>
            <a:r>
              <a:rPr kumimoji="0" lang="en-US" altLang="zh-CN" sz="2200">
                <a:solidFill>
                  <a:srgbClr val="A50021"/>
                </a:solidFill>
              </a:rPr>
              <a:t>(2)</a:t>
            </a:r>
            <a:r>
              <a:rPr kumimoji="0" lang="en-US" altLang="zh-CN" sz="2200"/>
              <a:t> </a:t>
            </a:r>
            <a:r>
              <a:rPr kumimoji="0" lang="zh-CN" altLang="en-US" sz="2800"/>
              <a:t>将原来的多值属性用一个新的实体来代替。</a:t>
            </a:r>
            <a:endParaRPr kumimoji="0" lang="zh-CN" altLang="en-US" sz="28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rgbClr val="003366"/>
                </a:solidFill>
              </a:rPr>
              <a:t>  【</a:t>
            </a:r>
            <a:r>
              <a:rPr kumimoji="0" lang="zh-CN" altLang="en-US" sz="2800"/>
              <a:t>例</a:t>
            </a:r>
            <a:r>
              <a:rPr kumimoji="0" lang="en-US" altLang="zh-CN" sz="2800">
                <a:solidFill>
                  <a:srgbClr val="003366"/>
                </a:solidFill>
              </a:rPr>
              <a:t>】</a:t>
            </a:r>
            <a:endParaRPr kumimoji="0" lang="zh-CN" altLang="en-US" sz="2800">
              <a:solidFill>
                <a:srgbClr val="003366"/>
              </a:solidFill>
            </a:endParaRPr>
          </a:p>
        </p:txBody>
      </p:sp>
      <p:grpSp>
        <p:nvGrpSpPr>
          <p:cNvPr id="28674" name="Group 53"/>
          <p:cNvGrpSpPr/>
          <p:nvPr/>
        </p:nvGrpSpPr>
        <p:grpSpPr bwMode="auto">
          <a:xfrm>
            <a:off x="1187450" y="1404938"/>
            <a:ext cx="7728685" cy="1922462"/>
            <a:chOff x="703" y="1339"/>
            <a:chExt cx="5080" cy="1279"/>
          </a:xfrm>
        </p:grpSpPr>
        <p:sp>
          <p:nvSpPr>
            <p:cNvPr id="28701" name="Oval 20"/>
            <p:cNvSpPr>
              <a:spLocks noChangeArrowheads="1"/>
            </p:cNvSpPr>
            <p:nvPr/>
          </p:nvSpPr>
          <p:spPr bwMode="auto">
            <a:xfrm>
              <a:off x="703" y="2110"/>
              <a:ext cx="953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2" name="Text Box 21"/>
            <p:cNvSpPr txBox="1">
              <a:spLocks noChangeArrowheads="1"/>
            </p:cNvSpPr>
            <p:nvPr/>
          </p:nvSpPr>
          <p:spPr bwMode="auto">
            <a:xfrm>
              <a:off x="2427" y="2365"/>
              <a:ext cx="546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3" name="Oval 22"/>
            <p:cNvSpPr>
              <a:spLocks noChangeArrowheads="1"/>
            </p:cNvSpPr>
            <p:nvPr/>
          </p:nvSpPr>
          <p:spPr bwMode="auto">
            <a:xfrm>
              <a:off x="1020" y="1792"/>
              <a:ext cx="71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4" name="Oval 23"/>
            <p:cNvSpPr>
              <a:spLocks noChangeArrowheads="1"/>
            </p:cNvSpPr>
            <p:nvPr/>
          </p:nvSpPr>
          <p:spPr bwMode="auto">
            <a:xfrm>
              <a:off x="1292" y="1475"/>
              <a:ext cx="72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5" name="Oval 24"/>
            <p:cNvSpPr>
              <a:spLocks noChangeArrowheads="1"/>
            </p:cNvSpPr>
            <p:nvPr/>
          </p:nvSpPr>
          <p:spPr bwMode="auto">
            <a:xfrm>
              <a:off x="1973" y="1339"/>
              <a:ext cx="652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6" name="Oval 25"/>
            <p:cNvSpPr>
              <a:spLocks noChangeArrowheads="1"/>
            </p:cNvSpPr>
            <p:nvPr/>
          </p:nvSpPr>
          <p:spPr bwMode="auto">
            <a:xfrm>
              <a:off x="2653" y="1339"/>
              <a:ext cx="953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7" name="Oval 26"/>
            <p:cNvSpPr>
              <a:spLocks noChangeArrowheads="1"/>
            </p:cNvSpPr>
            <p:nvPr/>
          </p:nvSpPr>
          <p:spPr bwMode="auto">
            <a:xfrm>
              <a:off x="3606" y="1429"/>
              <a:ext cx="1071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经销价格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8" name="Freeform 27"/>
            <p:cNvSpPr/>
            <p:nvPr/>
          </p:nvSpPr>
          <p:spPr bwMode="auto">
            <a:xfrm>
              <a:off x="1713" y="1967"/>
              <a:ext cx="804" cy="404"/>
            </a:xfrm>
            <a:custGeom>
              <a:avLst/>
              <a:gdLst>
                <a:gd name="T0" fmla="*/ 0 w 1065"/>
                <a:gd name="T1" fmla="*/ 0 h 1458"/>
                <a:gd name="T2" fmla="*/ 197 w 1065"/>
                <a:gd name="T3" fmla="*/ 1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09" name="Line 28"/>
            <p:cNvSpPr>
              <a:spLocks noChangeShapeType="1"/>
            </p:cNvSpPr>
            <p:nvPr/>
          </p:nvSpPr>
          <p:spPr bwMode="auto">
            <a:xfrm>
              <a:off x="1658" y="2251"/>
              <a:ext cx="769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0" name="Freeform 29"/>
            <p:cNvSpPr/>
            <p:nvPr/>
          </p:nvSpPr>
          <p:spPr bwMode="auto">
            <a:xfrm flipH="1">
              <a:off x="2324" y="1634"/>
              <a:ext cx="323" cy="735"/>
            </a:xfrm>
            <a:custGeom>
              <a:avLst/>
              <a:gdLst>
                <a:gd name="T0" fmla="*/ 126 w 390"/>
                <a:gd name="T1" fmla="*/ 0 h 1827"/>
                <a:gd name="T2" fmla="*/ 0 w 390"/>
                <a:gd name="T3" fmla="*/ 8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1" name="Freeform 30"/>
            <p:cNvSpPr/>
            <p:nvPr/>
          </p:nvSpPr>
          <p:spPr bwMode="auto">
            <a:xfrm>
              <a:off x="2699" y="1628"/>
              <a:ext cx="408" cy="747"/>
            </a:xfrm>
            <a:custGeom>
              <a:avLst/>
              <a:gdLst>
                <a:gd name="T0" fmla="*/ 3 w 1050"/>
                <a:gd name="T1" fmla="*/ 0 h 1605"/>
                <a:gd name="T2" fmla="*/ 0 w 1050"/>
                <a:gd name="T3" fmla="*/ 16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2" name="Freeform 31"/>
            <p:cNvSpPr/>
            <p:nvPr/>
          </p:nvSpPr>
          <p:spPr bwMode="auto">
            <a:xfrm>
              <a:off x="2774" y="1706"/>
              <a:ext cx="1104" cy="663"/>
            </a:xfrm>
            <a:custGeom>
              <a:avLst/>
              <a:gdLst>
                <a:gd name="T0" fmla="*/ 89 w 1829"/>
                <a:gd name="T1" fmla="*/ 0 h 1182"/>
                <a:gd name="T2" fmla="*/ 0 w 1829"/>
                <a:gd name="T3" fmla="*/ 37 h 1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9" h="1182">
                  <a:moveTo>
                    <a:pt x="1829" y="0"/>
                  </a:moveTo>
                  <a:lnTo>
                    <a:pt x="0" y="118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3" name="Freeform 32"/>
            <p:cNvSpPr/>
            <p:nvPr/>
          </p:nvSpPr>
          <p:spPr bwMode="auto">
            <a:xfrm>
              <a:off x="1882" y="1734"/>
              <a:ext cx="714" cy="641"/>
            </a:xfrm>
            <a:custGeom>
              <a:avLst/>
              <a:gdLst>
                <a:gd name="T0" fmla="*/ 0 w 540"/>
                <a:gd name="T1" fmla="*/ 0 h 1686"/>
                <a:gd name="T2" fmla="*/ 2885 w 540"/>
                <a:gd name="T3" fmla="*/ 5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4" name="Oval 47"/>
            <p:cNvSpPr>
              <a:spLocks noChangeArrowheads="1"/>
            </p:cNvSpPr>
            <p:nvPr/>
          </p:nvSpPr>
          <p:spPr bwMode="auto">
            <a:xfrm>
              <a:off x="4105" y="1696"/>
              <a:ext cx="1186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代销价格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5" name="Oval 48"/>
            <p:cNvSpPr>
              <a:spLocks noChangeArrowheads="1"/>
            </p:cNvSpPr>
            <p:nvPr/>
          </p:nvSpPr>
          <p:spPr bwMode="auto">
            <a:xfrm>
              <a:off x="4468" y="1974"/>
              <a:ext cx="1215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批发价格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6" name="Oval 49"/>
            <p:cNvSpPr>
              <a:spLocks noChangeArrowheads="1"/>
            </p:cNvSpPr>
            <p:nvPr/>
          </p:nvSpPr>
          <p:spPr bwMode="auto">
            <a:xfrm>
              <a:off x="4657" y="2285"/>
              <a:ext cx="1126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零售价格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7" name="Line 50"/>
            <p:cNvSpPr>
              <a:spLocks noChangeShapeType="1"/>
            </p:cNvSpPr>
            <p:nvPr/>
          </p:nvSpPr>
          <p:spPr bwMode="auto">
            <a:xfrm flipV="1">
              <a:off x="2904" y="1933"/>
              <a:ext cx="1337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Line 51"/>
            <p:cNvSpPr>
              <a:spLocks noChangeShapeType="1"/>
            </p:cNvSpPr>
            <p:nvPr/>
          </p:nvSpPr>
          <p:spPr bwMode="auto">
            <a:xfrm flipV="1">
              <a:off x="2971" y="2432"/>
              <a:ext cx="1678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Line 52"/>
            <p:cNvSpPr>
              <a:spLocks noChangeShapeType="1"/>
            </p:cNvSpPr>
            <p:nvPr/>
          </p:nvSpPr>
          <p:spPr bwMode="auto">
            <a:xfrm flipV="1">
              <a:off x="2971" y="2112"/>
              <a:ext cx="150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75" name="Group 95"/>
          <p:cNvGrpSpPr/>
          <p:nvPr/>
        </p:nvGrpSpPr>
        <p:grpSpPr bwMode="auto">
          <a:xfrm>
            <a:off x="792163" y="4048125"/>
            <a:ext cx="7850187" cy="1901825"/>
            <a:chOff x="249" y="2784"/>
            <a:chExt cx="4900" cy="1108"/>
          </a:xfrm>
        </p:grpSpPr>
        <p:sp>
          <p:nvSpPr>
            <p:cNvPr id="28678" name="Oval 69"/>
            <p:cNvSpPr>
              <a:spLocks noChangeArrowheads="1"/>
            </p:cNvSpPr>
            <p:nvPr/>
          </p:nvSpPr>
          <p:spPr bwMode="auto">
            <a:xfrm>
              <a:off x="249" y="3373"/>
              <a:ext cx="953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79" name="Text Box 70"/>
            <p:cNvSpPr txBox="1">
              <a:spLocks noChangeArrowheads="1"/>
            </p:cNvSpPr>
            <p:nvPr/>
          </p:nvSpPr>
          <p:spPr bwMode="auto">
            <a:xfrm>
              <a:off x="1655" y="3631"/>
              <a:ext cx="546" cy="2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0" name="Oval 71"/>
            <p:cNvSpPr>
              <a:spLocks noChangeArrowheads="1"/>
            </p:cNvSpPr>
            <p:nvPr/>
          </p:nvSpPr>
          <p:spPr bwMode="auto">
            <a:xfrm>
              <a:off x="758" y="3074"/>
              <a:ext cx="716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1" name="Oval 72"/>
            <p:cNvSpPr>
              <a:spLocks noChangeArrowheads="1"/>
            </p:cNvSpPr>
            <p:nvPr/>
          </p:nvSpPr>
          <p:spPr bwMode="auto">
            <a:xfrm>
              <a:off x="1156" y="2784"/>
              <a:ext cx="726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2" name="Oval 73"/>
            <p:cNvSpPr>
              <a:spLocks noChangeArrowheads="1"/>
            </p:cNvSpPr>
            <p:nvPr/>
          </p:nvSpPr>
          <p:spPr bwMode="auto">
            <a:xfrm>
              <a:off x="1927" y="2853"/>
              <a:ext cx="652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3" name="Oval 74"/>
            <p:cNvSpPr>
              <a:spLocks noChangeArrowheads="1"/>
            </p:cNvSpPr>
            <p:nvPr/>
          </p:nvSpPr>
          <p:spPr bwMode="auto">
            <a:xfrm>
              <a:off x="2426" y="3080"/>
              <a:ext cx="953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4" name="Oval 75"/>
            <p:cNvSpPr>
              <a:spLocks noChangeArrowheads="1"/>
            </p:cNvSpPr>
            <p:nvPr/>
          </p:nvSpPr>
          <p:spPr bwMode="auto">
            <a:xfrm>
              <a:off x="3496" y="2968"/>
              <a:ext cx="945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销售性质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5" name="Freeform 76"/>
            <p:cNvSpPr/>
            <p:nvPr/>
          </p:nvSpPr>
          <p:spPr bwMode="auto">
            <a:xfrm>
              <a:off x="1386" y="3282"/>
              <a:ext cx="405" cy="330"/>
            </a:xfrm>
            <a:custGeom>
              <a:avLst/>
              <a:gdLst>
                <a:gd name="T0" fmla="*/ 0 w 1065"/>
                <a:gd name="T1" fmla="*/ 0 h 1458"/>
                <a:gd name="T2" fmla="*/ 3 w 1065"/>
                <a:gd name="T3" fmla="*/ 0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6" name="Line 77"/>
            <p:cNvSpPr>
              <a:spLocks noChangeShapeType="1"/>
            </p:cNvSpPr>
            <p:nvPr/>
          </p:nvSpPr>
          <p:spPr bwMode="auto">
            <a:xfrm>
              <a:off x="1202" y="3475"/>
              <a:ext cx="499" cy="1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7" name="Freeform 78"/>
            <p:cNvSpPr/>
            <p:nvPr/>
          </p:nvSpPr>
          <p:spPr bwMode="auto">
            <a:xfrm>
              <a:off x="1973" y="3113"/>
              <a:ext cx="272" cy="507"/>
            </a:xfrm>
            <a:custGeom>
              <a:avLst/>
              <a:gdLst>
                <a:gd name="T0" fmla="*/ 45 w 390"/>
                <a:gd name="T1" fmla="*/ 0 h 1827"/>
                <a:gd name="T2" fmla="*/ 0 w 390"/>
                <a:gd name="T3" fmla="*/ 1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8" name="Freeform 79"/>
            <p:cNvSpPr/>
            <p:nvPr/>
          </p:nvSpPr>
          <p:spPr bwMode="auto">
            <a:xfrm>
              <a:off x="2109" y="3339"/>
              <a:ext cx="590" cy="281"/>
            </a:xfrm>
            <a:custGeom>
              <a:avLst/>
              <a:gdLst>
                <a:gd name="T0" fmla="*/ 33 w 1050"/>
                <a:gd name="T1" fmla="*/ 0 h 1605"/>
                <a:gd name="T2" fmla="*/ 0 w 1050"/>
                <a:gd name="T3" fmla="*/ 0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9" name="Freeform 81"/>
            <p:cNvSpPr/>
            <p:nvPr/>
          </p:nvSpPr>
          <p:spPr bwMode="auto">
            <a:xfrm>
              <a:off x="1577" y="3049"/>
              <a:ext cx="305" cy="571"/>
            </a:xfrm>
            <a:custGeom>
              <a:avLst/>
              <a:gdLst>
                <a:gd name="T0" fmla="*/ 0 w 540"/>
                <a:gd name="T1" fmla="*/ 0 h 1686"/>
                <a:gd name="T2" fmla="*/ 18 w 540"/>
                <a:gd name="T3" fmla="*/ 2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0" name="Oval 82"/>
            <p:cNvSpPr>
              <a:spLocks noChangeArrowheads="1"/>
            </p:cNvSpPr>
            <p:nvPr/>
          </p:nvSpPr>
          <p:spPr bwMode="auto">
            <a:xfrm>
              <a:off x="4558" y="3017"/>
              <a:ext cx="591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价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91" name="Line 85"/>
            <p:cNvSpPr>
              <a:spLocks noChangeShapeType="1"/>
            </p:cNvSpPr>
            <p:nvPr/>
          </p:nvSpPr>
          <p:spPr bwMode="auto">
            <a:xfrm flipH="1" flipV="1">
              <a:off x="3969" y="3242"/>
              <a:ext cx="345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86"/>
            <p:cNvSpPr>
              <a:spLocks noChangeShapeType="1"/>
            </p:cNvSpPr>
            <p:nvPr/>
          </p:nvSpPr>
          <p:spPr bwMode="auto">
            <a:xfrm flipV="1">
              <a:off x="2194" y="3732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87"/>
            <p:cNvSpPr>
              <a:spLocks noChangeShapeType="1"/>
            </p:cNvSpPr>
            <p:nvPr/>
          </p:nvSpPr>
          <p:spPr bwMode="auto">
            <a:xfrm flipV="1">
              <a:off x="4446" y="3282"/>
              <a:ext cx="38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Text Box 88"/>
            <p:cNvSpPr txBox="1">
              <a:spLocks noChangeArrowheads="1"/>
            </p:cNvSpPr>
            <p:nvPr/>
          </p:nvSpPr>
          <p:spPr bwMode="auto">
            <a:xfrm>
              <a:off x="4039" y="3618"/>
              <a:ext cx="726" cy="222"/>
            </a:xfrm>
            <a:prstGeom prst="rect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销售价格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28695" name="Group 91"/>
            <p:cNvGrpSpPr/>
            <p:nvPr/>
          </p:nvGrpSpPr>
          <p:grpSpPr bwMode="auto">
            <a:xfrm>
              <a:off x="2653" y="3574"/>
              <a:ext cx="907" cy="318"/>
              <a:chOff x="4649" y="3219"/>
              <a:chExt cx="907" cy="318"/>
            </a:xfrm>
          </p:grpSpPr>
          <p:sp>
            <p:nvSpPr>
              <p:cNvPr id="28699" name="AutoShape 89"/>
              <p:cNvSpPr>
                <a:spLocks noChangeArrowheads="1"/>
              </p:cNvSpPr>
              <p:nvPr/>
            </p:nvSpPr>
            <p:spPr bwMode="auto">
              <a:xfrm>
                <a:off x="4649" y="3219"/>
                <a:ext cx="907" cy="318"/>
              </a:xfrm>
              <a:prstGeom prst="diamond">
                <a:avLst/>
              </a:prstGeom>
              <a:noFill/>
              <a:ln w="38100" cmpd="dbl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1600">
                  <a:solidFill>
                    <a:srgbClr val="428E5B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28700" name="Text Box 90"/>
              <p:cNvSpPr txBox="1">
                <a:spLocks noChangeArrowheads="1"/>
              </p:cNvSpPr>
              <p:nvPr/>
            </p:nvSpPr>
            <p:spPr bwMode="auto">
              <a:xfrm>
                <a:off x="4876" y="3249"/>
                <a:ext cx="49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>
                    <a:latin typeface="Tahoma" panose="020B0604030504040204" charset="0"/>
                    <a:ea typeface="楷体_GB2312" pitchFamily="49" charset="-122"/>
                  </a:rPr>
                  <a:t>存 在</a:t>
                </a:r>
                <a:endParaRPr kumimoji="0" lang="zh-CN" altLang="en-US" sz="2000">
                  <a:latin typeface="Tahoma" panose="020B0604030504040204" charset="0"/>
                  <a:ea typeface="楷体_GB2312" pitchFamily="49" charset="-122"/>
                </a:endParaRPr>
              </a:p>
            </p:txBody>
          </p:sp>
        </p:grpSp>
        <p:sp>
          <p:nvSpPr>
            <p:cNvPr id="28696" name="Line 92"/>
            <p:cNvSpPr>
              <a:spLocks noChangeShapeType="1"/>
            </p:cNvSpPr>
            <p:nvPr/>
          </p:nvSpPr>
          <p:spPr bwMode="auto">
            <a:xfrm flipV="1">
              <a:off x="3568" y="3733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Text Box 93"/>
            <p:cNvSpPr txBox="1">
              <a:spLocks noChangeArrowheads="1"/>
            </p:cNvSpPr>
            <p:nvPr/>
          </p:nvSpPr>
          <p:spPr bwMode="auto">
            <a:xfrm>
              <a:off x="2358" y="3513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en-US" altLang="zh-CN" sz="2000">
                  <a:latin typeface="Tahoma" panose="020B0604030504040204" charset="0"/>
                </a:rPr>
                <a:t>1</a:t>
              </a:r>
              <a:endParaRPr kumimoji="0" lang="en-US" altLang="zh-CN" sz="2000">
                <a:latin typeface="Tahoma" panose="020B0604030504040204" charset="0"/>
              </a:endParaRPr>
            </a:p>
          </p:txBody>
        </p:sp>
        <p:sp>
          <p:nvSpPr>
            <p:cNvPr id="28698" name="Text Box 94"/>
            <p:cNvSpPr txBox="1">
              <a:spLocks noChangeArrowheads="1"/>
            </p:cNvSpPr>
            <p:nvPr/>
          </p:nvSpPr>
          <p:spPr bwMode="auto">
            <a:xfrm>
              <a:off x="3651" y="3513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en-US" altLang="zh-CN" sz="2000">
                  <a:latin typeface="Tahoma" panose="020B0604030504040204" charset="0"/>
                </a:rPr>
                <a:t>N</a:t>
              </a:r>
              <a:endParaRPr kumimoji="0" lang="en-US" altLang="zh-CN" sz="2000">
                <a:latin typeface="Tahoma" panose="020B0604030504040204" charset="0"/>
              </a:endParaRPr>
            </a:p>
          </p:txBody>
        </p:sp>
      </p:grpSp>
      <p:sp>
        <p:nvSpPr>
          <p:cNvPr id="28676" name="矩形 49"/>
          <p:cNvSpPr>
            <a:spLocks noChangeArrowheads="1"/>
          </p:cNvSpPr>
          <p:nvPr/>
        </p:nvSpPr>
        <p:spPr bwMode="auto">
          <a:xfrm>
            <a:off x="2843213" y="5980113"/>
            <a:ext cx="60134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1600">
                <a:latin typeface="Tahoma" panose="020B0604030504040204" charset="0"/>
              </a:rPr>
              <a:t>这个新实体和原来的实体之间是</a:t>
            </a:r>
            <a:r>
              <a:rPr kumimoji="0" lang="en-US" altLang="zh-CN" sz="1600">
                <a:latin typeface="Tahoma" panose="020B0604030504040204" charset="0"/>
              </a:rPr>
              <a:t>1:N</a:t>
            </a:r>
            <a:r>
              <a:rPr kumimoji="0" lang="zh-CN" altLang="en-US" sz="1600">
                <a:latin typeface="Tahoma" panose="020B0604030504040204" charset="0"/>
              </a:rPr>
              <a:t>联系；新实体依赖于原实体而存在，称为弱实体。 </a:t>
            </a:r>
            <a:r>
              <a:rPr kumimoji="0" lang="zh-CN" altLang="en-US" sz="1600" u="sng">
                <a:latin typeface="Tahoma" panose="020B0604030504040204" charset="0"/>
              </a:rPr>
              <a:t>在</a:t>
            </a:r>
            <a:r>
              <a:rPr kumimoji="0" lang="en-US" altLang="zh-CN" sz="1600" u="sng">
                <a:latin typeface="Tahoma" panose="020B0604030504040204" charset="0"/>
              </a:rPr>
              <a:t>ER</a:t>
            </a:r>
            <a:r>
              <a:rPr kumimoji="0" lang="zh-CN" altLang="en-US" sz="1600" u="sng">
                <a:latin typeface="Tahoma" panose="020B0604030504040204" charset="0"/>
              </a:rPr>
              <a:t>模型中，弱实体用双线矩阵表示；与弱实体相关的联系，用双线菱形表示</a:t>
            </a:r>
            <a:r>
              <a:rPr kumimoji="0" lang="zh-CN" altLang="en-US" sz="1600">
                <a:latin typeface="Tahoma" panose="020B0604030504040204" charset="0"/>
              </a:rPr>
              <a:t>。</a:t>
            </a:r>
            <a:endParaRPr kumimoji="0" lang="zh-CN" altLang="en-US" sz="1600">
              <a:latin typeface="Tahoma" panose="020B0604030504040204" charset="0"/>
            </a:endParaRPr>
          </a:p>
        </p:txBody>
      </p:sp>
      <p:sp>
        <p:nvSpPr>
          <p:cNvPr id="28677" name="灯片编号占位符 50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DC261-6C04-4FCB-BD58-FA7C234FCB48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24663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51EB8A-41D9-4B98-928A-F7BE5D73AAD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7263" y="762000"/>
            <a:ext cx="7772400" cy="635000"/>
          </a:xfrm>
        </p:spPr>
        <p:txBody>
          <a:bodyPr anchor="b"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：选课信息的表示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770063"/>
            <a:ext cx="7504112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AutoShape 5"/>
          <p:cNvSpPr>
            <a:spLocks noChangeArrowheads="1"/>
          </p:cNvSpPr>
          <p:nvPr/>
        </p:nvSpPr>
        <p:spPr bwMode="auto">
          <a:xfrm>
            <a:off x="173038" y="830263"/>
            <a:ext cx="2860675" cy="992187"/>
          </a:xfrm>
          <a:prstGeom prst="cloudCallout">
            <a:avLst>
              <a:gd name="adj1" fmla="val -49759"/>
              <a:gd name="adj2" fmla="val 8869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描述学生所选课程，应该采用实体集还是联系集？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2085975" y="4378325"/>
            <a:ext cx="6411913" cy="206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问题：那种方式更合适？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2A2A39"/>
                </a:solidFill>
              </a:rPr>
              <a:t>设计原则：</a:t>
            </a:r>
            <a:r>
              <a:rPr kumimoji="0" lang="zh-CN" altLang="en-US" sz="2000" b="0">
                <a:solidFill>
                  <a:srgbClr val="2A2A39"/>
                </a:solidFill>
              </a:rPr>
              <a:t>通常地，采用联系来表示发生在两个实体集之间的一个动作，如选课</a:t>
            </a:r>
            <a:r>
              <a:rPr kumimoji="0" lang="en-US" altLang="zh-CN" sz="2000" b="0">
                <a:solidFill>
                  <a:srgbClr val="2A2A39"/>
                </a:solidFill>
              </a:rPr>
              <a:t>!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2A2A39"/>
                </a:solidFill>
              </a:rPr>
              <a:t>如果仅描述学生选课，用选课联系</a:t>
            </a:r>
            <a:r>
              <a:rPr kumimoji="0" lang="en-US" altLang="zh-CN" sz="2000" b="0">
                <a:solidFill>
                  <a:srgbClr val="2A2A39"/>
                </a:solidFill>
              </a:rPr>
              <a:t>(</a:t>
            </a:r>
            <a:r>
              <a:rPr kumimoji="0" lang="zh-CN" altLang="en-US" sz="2000" b="0">
                <a:solidFill>
                  <a:srgbClr val="800000"/>
                </a:solidFill>
              </a:rPr>
              <a:t>方法</a:t>
            </a:r>
            <a:r>
              <a:rPr kumimoji="0" lang="en-US" altLang="zh-CN" sz="2000" b="0">
                <a:solidFill>
                  <a:srgbClr val="800000"/>
                </a:solidFill>
              </a:rPr>
              <a:t>1</a:t>
            </a:r>
            <a:r>
              <a:rPr kumimoji="0" lang="en-US" altLang="zh-CN" sz="2000" b="0">
                <a:solidFill>
                  <a:srgbClr val="2A2A39"/>
                </a:solidFill>
              </a:rPr>
              <a:t>)</a:t>
            </a:r>
            <a:r>
              <a:rPr kumimoji="0" lang="zh-CN" altLang="en-US" sz="2000" b="0">
                <a:solidFill>
                  <a:srgbClr val="2A2A39"/>
                </a:solidFill>
              </a:rPr>
              <a:t>。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</a:rPr>
              <a:t>但如果</a:t>
            </a:r>
            <a:r>
              <a:rPr kumimoji="0" lang="zh-CN" altLang="en-US" sz="2000" b="0">
                <a:solidFill>
                  <a:srgbClr val="2A2A39"/>
                </a:solidFill>
              </a:rPr>
              <a:t>强调学生为上什么课程，要求到教务办去报名注册，则应用一个实体集及两个联系</a:t>
            </a:r>
            <a:r>
              <a:rPr kumimoji="0" lang="en-US" altLang="zh-CN" sz="2000" b="0">
                <a:solidFill>
                  <a:srgbClr val="2A2A39"/>
                </a:solidFill>
              </a:rPr>
              <a:t>(</a:t>
            </a:r>
            <a:r>
              <a:rPr kumimoji="0" lang="zh-CN" altLang="en-US" sz="2000" b="0">
                <a:solidFill>
                  <a:srgbClr val="2A2A39"/>
                </a:solidFill>
              </a:rPr>
              <a:t>方法</a:t>
            </a:r>
            <a:r>
              <a:rPr kumimoji="0" lang="en-US" altLang="zh-CN" sz="2000" b="0">
                <a:solidFill>
                  <a:srgbClr val="2A2A39"/>
                </a:solidFill>
              </a:rPr>
              <a:t>2)</a:t>
            </a:r>
            <a:r>
              <a:rPr kumimoji="0" lang="zh-CN" altLang="en-US" sz="2000" b="0">
                <a:solidFill>
                  <a:srgbClr val="2A2A39"/>
                </a:solidFill>
              </a:rPr>
              <a:t>。</a:t>
            </a:r>
            <a:endParaRPr kumimoji="0" lang="zh-CN" altLang="en-US" sz="2000" b="0">
              <a:solidFill>
                <a:srgbClr val="2A2A39"/>
              </a:solidFill>
            </a:endParaRPr>
          </a:p>
        </p:txBody>
      </p:sp>
      <p:grpSp>
        <p:nvGrpSpPr>
          <p:cNvPr id="30726" name="组 18"/>
          <p:cNvGrpSpPr/>
          <p:nvPr/>
        </p:nvGrpSpPr>
        <p:grpSpPr bwMode="auto">
          <a:xfrm>
            <a:off x="1876425" y="3090863"/>
            <a:ext cx="5407025" cy="1062037"/>
            <a:chOff x="1886857" y="3066143"/>
            <a:chExt cx="5406572" cy="1061799"/>
          </a:xfrm>
        </p:grpSpPr>
        <p:sp>
          <p:nvSpPr>
            <p:cNvPr id="9" name="矩形 5"/>
            <p:cNvSpPr>
              <a:spLocks noChangeArrowheads="1"/>
            </p:cNvSpPr>
            <p:nvPr/>
          </p:nvSpPr>
          <p:spPr bwMode="auto">
            <a:xfrm rot="2608449">
              <a:off x="4532998" y="3624818"/>
              <a:ext cx="917498" cy="50312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r>
                <a:rPr lang="en-US" altLang="zh-CN" sz="1800" b="0" dirty="0">
                  <a:solidFill>
                    <a:srgbClr val="892D5B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Take</a:t>
              </a:r>
              <a:endParaRPr lang="en-US" altLang="zh-CN" sz="1800" b="0" dirty="0">
                <a:solidFill>
                  <a:srgbClr val="892D5B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  <a:p>
              <a:pPr algn="r">
                <a:defRPr/>
              </a:pPr>
              <a:endParaRPr lang="zh-CN" altLang="en-US" sz="1800" b="0" dirty="0">
                <a:solidFill>
                  <a:srgbClr val="892D5B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30737" name="直接连接符 6"/>
            <p:cNvCxnSpPr>
              <a:cxnSpLocks noChangeShapeType="1"/>
            </p:cNvCxnSpPr>
            <p:nvPr/>
          </p:nvCxnSpPr>
          <p:spPr bwMode="auto">
            <a:xfrm flipH="1">
              <a:off x="1886857" y="3754964"/>
              <a:ext cx="2612806" cy="29044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直接连接符 7"/>
            <p:cNvCxnSpPr>
              <a:cxnSpLocks noChangeShapeType="1"/>
            </p:cNvCxnSpPr>
            <p:nvPr/>
          </p:nvCxnSpPr>
          <p:spPr bwMode="auto">
            <a:xfrm flipH="1" flipV="1">
              <a:off x="5479069" y="3991448"/>
              <a:ext cx="1814360" cy="539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5188580" y="3066143"/>
              <a:ext cx="1325452" cy="468207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 dirty="0">
                  <a:solidFill>
                    <a:srgbClr val="800000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g</a:t>
              </a:r>
              <a:r>
                <a:rPr lang="en-US" altLang="zh-CN" b="0" dirty="0" err="1">
                  <a:solidFill>
                    <a:srgbClr val="800000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rade</a:t>
              </a:r>
              <a:endParaRPr lang="zh-CN" altLang="en-US" b="0" dirty="0">
                <a:solidFill>
                  <a:srgbClr val="800000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30740" name="直接连接符 17"/>
            <p:cNvCxnSpPr>
              <a:cxnSpLocks noChangeShapeType="1"/>
              <a:stCxn id="22" idx="4"/>
            </p:cNvCxnSpPr>
            <p:nvPr/>
          </p:nvCxnSpPr>
          <p:spPr bwMode="auto">
            <a:xfrm flipH="1">
              <a:off x="5352080" y="3534350"/>
              <a:ext cx="498433" cy="347585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7" name="矩形 12"/>
          <p:cNvSpPr>
            <a:spLocks noChangeArrowheads="1"/>
          </p:cNvSpPr>
          <p:nvPr/>
        </p:nvSpPr>
        <p:spPr bwMode="auto">
          <a:xfrm>
            <a:off x="234950" y="77788"/>
            <a:ext cx="4133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用实体集还是联系集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43275" y="1660525"/>
            <a:ext cx="825500" cy="40005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kumimoji="0" lang="zh-CN" altLang="zh-CN" sz="2000">
                <a:solidFill>
                  <a:srgbClr val="2A2A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kumimoji="0" lang="zh-CN" altLang="en-US" sz="20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00463" y="3240088"/>
            <a:ext cx="8255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dirty="0">
                <a:solidFill>
                  <a:srgbClr val="8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</a:t>
            </a:r>
            <a:r>
              <a:rPr lang="en-US" altLang="zh-CN" dirty="0">
                <a:solidFill>
                  <a:srgbClr val="8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endParaRPr lang="zh-CN" altLang="en-US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5" name="组 4"/>
          <p:cNvGrpSpPr/>
          <p:nvPr/>
        </p:nvGrpSpPr>
        <p:grpSpPr bwMode="auto">
          <a:xfrm>
            <a:off x="273050" y="2957513"/>
            <a:ext cx="8469313" cy="3471862"/>
            <a:chOff x="272778" y="2957987"/>
            <a:chExt cx="8468992" cy="3470775"/>
          </a:xfrm>
        </p:grpSpPr>
        <p:grpSp>
          <p:nvGrpSpPr>
            <p:cNvPr id="30731" name="组 2"/>
            <p:cNvGrpSpPr/>
            <p:nvPr/>
          </p:nvGrpSpPr>
          <p:grpSpPr bwMode="auto">
            <a:xfrm>
              <a:off x="736851" y="4861407"/>
              <a:ext cx="1222478" cy="1567355"/>
              <a:chOff x="219477" y="4851906"/>
              <a:chExt cx="1222478" cy="1287697"/>
            </a:xfrm>
          </p:grpSpPr>
          <p:sp>
            <p:nvSpPr>
              <p:cNvPr id="30734" name="Rectangle 6"/>
              <p:cNvSpPr>
                <a:spLocks noChangeArrowheads="1"/>
              </p:cNvSpPr>
              <p:nvPr/>
            </p:nvSpPr>
            <p:spPr bwMode="auto">
              <a:xfrm>
                <a:off x="218936" y="4851410"/>
                <a:ext cx="1222329" cy="12881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registration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coure_id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sen_id</a:t>
                </a:r>
                <a:endParaRPr kumimoji="0" lang="zh-CN" altLang="en-US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emester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ear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tudent_id</a:t>
                </a:r>
                <a:endParaRPr kumimoji="0" lang="zh-CN" altLang="en-US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0735" name="Line 8"/>
              <p:cNvSpPr>
                <a:spLocks noChangeShapeType="1"/>
              </p:cNvSpPr>
              <p:nvPr/>
            </p:nvSpPr>
            <p:spPr bwMode="auto">
              <a:xfrm flipV="1">
                <a:off x="234810" y="5108267"/>
                <a:ext cx="11905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30732" name="矩形 3"/>
            <p:cNvSpPr>
              <a:spLocks noChangeArrowheads="1"/>
            </p:cNvSpPr>
            <p:nvPr/>
          </p:nvSpPr>
          <p:spPr bwMode="auto">
            <a:xfrm>
              <a:off x="272778" y="2962387"/>
              <a:ext cx="22493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一门课有多位学生注册</a:t>
              </a:r>
              <a:endParaRPr kumimoji="0" lang="zh-CN" altLang="en-US" sz="16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33" name="矩形 19"/>
            <p:cNvSpPr>
              <a:spLocks noChangeArrowheads="1"/>
            </p:cNvSpPr>
            <p:nvPr/>
          </p:nvSpPr>
          <p:spPr bwMode="auto">
            <a:xfrm>
              <a:off x="6492436" y="2957987"/>
              <a:ext cx="22493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一个学生注册了多门课</a:t>
              </a:r>
              <a:endParaRPr kumimoji="0" lang="zh-CN" altLang="en-US" sz="16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4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CCB876-28AC-41DD-AD40-DF91783E642D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846138"/>
            <a:ext cx="7772400" cy="627062"/>
          </a:xfrm>
        </p:spPr>
        <p:txBody>
          <a:bodyPr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：家属（爱人）信息的表示</a:t>
            </a:r>
            <a:endParaRPr kumimoji="0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650" y="2662238"/>
            <a:ext cx="1760538" cy="3530600"/>
          </a:xfrm>
        </p:spPr>
        <p:txBody>
          <a:bodyPr/>
          <a:lstStyle/>
          <a:p>
            <a:r>
              <a:rPr kumimoji="0" lang="zh-CN" altLang="en-US" sz="2000"/>
              <a:t>方式一：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r>
              <a:rPr kumimoji="0" lang="zh-CN" altLang="en-US" sz="2000"/>
              <a:t>方式二：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r>
              <a:rPr kumimoji="0" lang="zh-CN" altLang="en-US" sz="2000"/>
              <a:t>方式三：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</p:txBody>
      </p:sp>
      <p:grpSp>
        <p:nvGrpSpPr>
          <p:cNvPr id="32772" name="Group 34"/>
          <p:cNvGrpSpPr/>
          <p:nvPr/>
        </p:nvGrpSpPr>
        <p:grpSpPr bwMode="auto">
          <a:xfrm>
            <a:off x="1628775" y="2603500"/>
            <a:ext cx="3606800" cy="3605213"/>
            <a:chOff x="2018" y="1525"/>
            <a:chExt cx="2272" cy="2271"/>
          </a:xfrm>
        </p:grpSpPr>
        <p:grpSp>
          <p:nvGrpSpPr>
            <p:cNvPr id="32779" name="Group 31"/>
            <p:cNvGrpSpPr/>
            <p:nvPr/>
          </p:nvGrpSpPr>
          <p:grpSpPr bwMode="auto">
            <a:xfrm>
              <a:off x="2018" y="1525"/>
              <a:ext cx="712" cy="730"/>
              <a:chOff x="2018" y="1434"/>
              <a:chExt cx="712" cy="730"/>
            </a:xfrm>
          </p:grpSpPr>
          <p:sp>
            <p:nvSpPr>
              <p:cNvPr id="32798" name="Rectangle 6"/>
              <p:cNvSpPr>
                <a:spLocks noChangeArrowheads="1"/>
              </p:cNvSpPr>
              <p:nvPr/>
            </p:nvSpPr>
            <p:spPr bwMode="auto">
              <a:xfrm>
                <a:off x="2018" y="1434"/>
                <a:ext cx="702" cy="7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员工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姓名</a:t>
                </a:r>
                <a:endParaRPr kumimoji="0" lang="zh-CN" altLang="en-US" sz="14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参加工作时间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年龄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家属姓名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99" name="Line 8"/>
              <p:cNvSpPr>
                <a:spLocks noChangeShapeType="1"/>
              </p:cNvSpPr>
              <p:nvPr/>
            </p:nvSpPr>
            <p:spPr bwMode="auto">
              <a:xfrm>
                <a:off x="2018" y="1600"/>
                <a:ext cx="712" cy="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grpSp>
          <p:nvGrpSpPr>
            <p:cNvPr id="32780" name="Group 32"/>
            <p:cNvGrpSpPr/>
            <p:nvPr/>
          </p:nvGrpSpPr>
          <p:grpSpPr bwMode="auto">
            <a:xfrm>
              <a:off x="2018" y="2317"/>
              <a:ext cx="1318" cy="590"/>
              <a:chOff x="2018" y="2385"/>
              <a:chExt cx="1318" cy="590"/>
            </a:xfrm>
          </p:grpSpPr>
          <p:grpSp>
            <p:nvGrpSpPr>
              <p:cNvPr id="32790" name="Group 11"/>
              <p:cNvGrpSpPr/>
              <p:nvPr/>
            </p:nvGrpSpPr>
            <p:grpSpPr bwMode="auto">
              <a:xfrm>
                <a:off x="2018" y="2385"/>
                <a:ext cx="702" cy="590"/>
                <a:chOff x="2426" y="2251"/>
                <a:chExt cx="702" cy="642"/>
              </a:xfrm>
            </p:grpSpPr>
            <p:sp>
              <p:nvSpPr>
                <p:cNvPr id="32796" name="Rectangle 7"/>
                <p:cNvSpPr>
                  <a:spLocks noChangeArrowheads="1"/>
                </p:cNvSpPr>
                <p:nvPr/>
              </p:nvSpPr>
              <p:spPr bwMode="auto">
                <a:xfrm>
                  <a:off x="2426" y="2251"/>
                  <a:ext cx="702" cy="6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员工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 u="sng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参加工作时间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797" name="Line 10"/>
                <p:cNvSpPr>
                  <a:spLocks noChangeShapeType="1"/>
                </p:cNvSpPr>
                <p:nvPr/>
              </p:nvSpPr>
              <p:spPr bwMode="auto">
                <a:xfrm>
                  <a:off x="2427" y="2431"/>
                  <a:ext cx="701" cy="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2791" name="AutoShape 12"/>
              <p:cNvSpPr>
                <a:spLocks noChangeArrowheads="1"/>
              </p:cNvSpPr>
              <p:nvPr/>
            </p:nvSpPr>
            <p:spPr bwMode="auto">
              <a:xfrm>
                <a:off x="2950" y="2562"/>
                <a:ext cx="386" cy="204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92" name="Line 13"/>
              <p:cNvSpPr>
                <a:spLocks noChangeShapeType="1"/>
              </p:cNvSpPr>
              <p:nvPr/>
            </p:nvSpPr>
            <p:spPr bwMode="auto">
              <a:xfrm>
                <a:off x="2723" y="2471"/>
                <a:ext cx="4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3" name="Line 14"/>
              <p:cNvSpPr>
                <a:spLocks noChangeShapeType="1"/>
              </p:cNvSpPr>
              <p:nvPr/>
            </p:nvSpPr>
            <p:spPr bwMode="auto">
              <a:xfrm>
                <a:off x="3154" y="2471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4" name="Line 15"/>
              <p:cNvSpPr>
                <a:spLocks noChangeShapeType="1"/>
              </p:cNvSpPr>
              <p:nvPr/>
            </p:nvSpPr>
            <p:spPr bwMode="auto">
              <a:xfrm>
                <a:off x="2723" y="2879"/>
                <a:ext cx="431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5" name="Line 16"/>
              <p:cNvSpPr>
                <a:spLocks noChangeShapeType="1"/>
              </p:cNvSpPr>
              <p:nvPr/>
            </p:nvSpPr>
            <p:spPr bwMode="auto">
              <a:xfrm flipV="1">
                <a:off x="3154" y="2766"/>
                <a:ext cx="0" cy="113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grpSp>
          <p:nvGrpSpPr>
            <p:cNvPr id="32781" name="Group 33"/>
            <p:cNvGrpSpPr/>
            <p:nvPr/>
          </p:nvGrpSpPr>
          <p:grpSpPr bwMode="auto">
            <a:xfrm>
              <a:off x="2018" y="2976"/>
              <a:ext cx="2272" cy="820"/>
              <a:chOff x="2018" y="3045"/>
              <a:chExt cx="2272" cy="820"/>
            </a:xfrm>
          </p:grpSpPr>
          <p:grpSp>
            <p:nvGrpSpPr>
              <p:cNvPr id="32782" name="Group 18"/>
              <p:cNvGrpSpPr/>
              <p:nvPr/>
            </p:nvGrpSpPr>
            <p:grpSpPr bwMode="auto">
              <a:xfrm>
                <a:off x="2018" y="3180"/>
                <a:ext cx="692" cy="576"/>
                <a:chOff x="884" y="2319"/>
                <a:chExt cx="692" cy="576"/>
              </a:xfrm>
            </p:grpSpPr>
            <p:sp>
              <p:nvSpPr>
                <p:cNvPr id="32788" name="Rectangle 19"/>
                <p:cNvSpPr>
                  <a:spLocks noChangeArrowheads="1"/>
                </p:cNvSpPr>
                <p:nvPr/>
              </p:nvSpPr>
              <p:spPr bwMode="auto">
                <a:xfrm>
                  <a:off x="884" y="2319"/>
                  <a:ext cx="692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员工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 u="sng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参加工作时间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789" name="Line 20"/>
                <p:cNvSpPr>
                  <a:spLocks noChangeShapeType="1"/>
                </p:cNvSpPr>
                <p:nvPr/>
              </p:nvSpPr>
              <p:spPr bwMode="auto">
                <a:xfrm>
                  <a:off x="884" y="2475"/>
                  <a:ext cx="692" cy="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2783" name="Rectangle 22"/>
              <p:cNvSpPr>
                <a:spLocks noChangeArrowheads="1"/>
              </p:cNvSpPr>
              <p:nvPr/>
            </p:nvSpPr>
            <p:spPr bwMode="auto">
              <a:xfrm>
                <a:off x="3583" y="3045"/>
                <a:ext cx="707" cy="8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家属信息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姓名</a:t>
                </a:r>
                <a:endParaRPr kumimoji="0" lang="zh-CN" altLang="en-US" sz="14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参加工作时间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年龄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所在单位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认识时间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84" name="Line 23"/>
              <p:cNvSpPr>
                <a:spLocks noChangeShapeType="1"/>
              </p:cNvSpPr>
              <p:nvPr/>
            </p:nvSpPr>
            <p:spPr bwMode="auto">
              <a:xfrm>
                <a:off x="3583" y="3191"/>
                <a:ext cx="697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85" name="AutoShape 24"/>
              <p:cNvSpPr>
                <a:spLocks noChangeArrowheads="1"/>
              </p:cNvSpPr>
              <p:nvPr/>
            </p:nvSpPr>
            <p:spPr bwMode="auto">
              <a:xfrm>
                <a:off x="2948" y="3225"/>
                <a:ext cx="385" cy="317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86" name="Line 25"/>
              <p:cNvSpPr>
                <a:spLocks noChangeShapeType="1"/>
              </p:cNvSpPr>
              <p:nvPr/>
            </p:nvSpPr>
            <p:spPr bwMode="auto">
              <a:xfrm flipH="1" flipV="1">
                <a:off x="2710" y="3381"/>
                <a:ext cx="23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87" name="Line 26"/>
              <p:cNvSpPr>
                <a:spLocks noChangeShapeType="1"/>
              </p:cNvSpPr>
              <p:nvPr/>
            </p:nvSpPr>
            <p:spPr bwMode="auto">
              <a:xfrm>
                <a:off x="3334" y="3384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</p:grpSp>
      <p:sp>
        <p:nvSpPr>
          <p:cNvPr id="32773" name="AutoShape 28"/>
          <p:cNvSpPr>
            <a:spLocks noChangeArrowheads="1"/>
          </p:cNvSpPr>
          <p:nvPr/>
        </p:nvSpPr>
        <p:spPr bwMode="auto">
          <a:xfrm>
            <a:off x="106363" y="1489075"/>
            <a:ext cx="2684462" cy="781050"/>
          </a:xfrm>
          <a:prstGeom prst="cloudCallout">
            <a:avLst>
              <a:gd name="adj1" fmla="val -47977"/>
              <a:gd name="adj2" fmla="val 7108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这三种描述方式，那种更合理？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6201" name="Group 41"/>
          <p:cNvGrpSpPr/>
          <p:nvPr/>
        </p:nvGrpSpPr>
        <p:grpSpPr bwMode="auto">
          <a:xfrm>
            <a:off x="5472113" y="2046288"/>
            <a:ext cx="3586162" cy="4165600"/>
            <a:chOff x="3447" y="1457"/>
            <a:chExt cx="2259" cy="2624"/>
          </a:xfrm>
        </p:grpSpPr>
        <p:sp>
          <p:nvSpPr>
            <p:cNvPr id="32776" name="Rectangle 35"/>
            <p:cNvSpPr>
              <a:spLocks noChangeArrowheads="1"/>
            </p:cNvSpPr>
            <p:nvPr/>
          </p:nvSpPr>
          <p:spPr bwMode="auto">
            <a:xfrm>
              <a:off x="3457" y="1457"/>
              <a:ext cx="2249" cy="75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仅需记录家属的名字信息时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看着实体集的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属性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有多个家属时，人看作一字符串，</a:t>
              </a:r>
              <a:endParaRPr kumimoji="0" lang="en-US" altLang="zh-CN" sz="1600" b="0">
                <a:solidFill>
                  <a:srgbClr val="0066FF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否则仍需换用方式三！</a:t>
              </a:r>
              <a:endParaRPr kumimoji="0" lang="zh-CN" altLang="en-US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2777" name="Rectangle 36"/>
            <p:cNvSpPr>
              <a:spLocks noChangeArrowheads="1"/>
            </p:cNvSpPr>
            <p:nvPr/>
          </p:nvSpPr>
          <p:spPr bwMode="auto">
            <a:xfrm>
              <a:off x="3447" y="2267"/>
              <a:ext cx="2252" cy="79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要求记录家属与员工同样的多种信息时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可看着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同样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的实体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有多个家属时，可换为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1:M!</a:t>
              </a:r>
              <a:endParaRPr kumimoji="0" lang="zh-CN" altLang="en-US" sz="1600" b="0">
                <a:solidFill>
                  <a:srgbClr val="0066FF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2778" name="Rectangle 37"/>
            <p:cNvSpPr>
              <a:spLocks noChangeArrowheads="1"/>
            </p:cNvSpPr>
            <p:nvPr/>
          </p:nvSpPr>
          <p:spPr bwMode="auto">
            <a:xfrm>
              <a:off x="3447" y="3131"/>
              <a:ext cx="2242" cy="9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要求记录家属与员工不同样的多种信息时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需看着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不同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的实体集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有多个家属时，联系基数约束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联系类型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)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可换为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1:M!</a:t>
              </a:r>
              <a:endParaRPr kumimoji="0" lang="en-US" altLang="zh-CN" sz="2000" b="0">
                <a:solidFill>
                  <a:srgbClr val="0066FF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775" name="矩形 32"/>
          <p:cNvSpPr>
            <a:spLocks noChangeArrowheads="1"/>
          </p:cNvSpPr>
          <p:nvPr/>
        </p:nvSpPr>
        <p:spPr bwMode="auto">
          <a:xfrm>
            <a:off x="5894388" y="155575"/>
            <a:ext cx="300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用实体集还是联系集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52F6F-9877-46B8-8A7E-E745C8707EB2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3794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733550" y="906463"/>
            <a:ext cx="6465888" cy="1143000"/>
          </a:xfrm>
          <a:noFill/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父母关系的表示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106863" y="2460625"/>
            <a:ext cx="4546600" cy="224313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哪一种描述更合理？</a:t>
            </a: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2000">
                <a:latin typeface="Times New Roman" panose="02020603050405020304" pitchFamily="18" charset="0"/>
              </a:rPr>
              <a:t>一个仅适合描述双亲都有</a:t>
            </a: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2000">
                <a:latin typeface="Times New Roman" panose="02020603050405020304" pitchFamily="18" charset="0"/>
              </a:rPr>
              <a:t>一个更适合描述只知道一方情形</a:t>
            </a: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  </a:t>
            </a:r>
            <a:r>
              <a:rPr kumimoji="0" lang="zh-CN" altLang="en-US" sz="2000">
                <a:latin typeface="Times New Roman" panose="02020603050405020304" pitchFamily="18" charset="0"/>
              </a:rPr>
              <a:t>或者有继父、继母的情形</a:t>
            </a:r>
            <a:endParaRPr kumimoji="0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3796" name="AutoShape 3"/>
          <p:cNvSpPr>
            <a:spLocks noChangeArrowheads="1"/>
          </p:cNvSpPr>
          <p:nvPr/>
        </p:nvSpPr>
        <p:spPr bwMode="auto">
          <a:xfrm>
            <a:off x="436563" y="1050925"/>
            <a:ext cx="2227262" cy="989013"/>
          </a:xfrm>
          <a:prstGeom prst="cloudCallout">
            <a:avLst>
              <a:gd name="adj1" fmla="val -49907"/>
              <a:gd name="adj2" fmla="val 8160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应当采用三元联系还是二元联系？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7" name="Group 14"/>
          <p:cNvGrpSpPr/>
          <p:nvPr/>
        </p:nvGrpSpPr>
        <p:grpSpPr bwMode="auto">
          <a:xfrm>
            <a:off x="342900" y="2522538"/>
            <a:ext cx="3060700" cy="1504950"/>
            <a:chOff x="1197" y="3775"/>
            <a:chExt cx="1710" cy="533"/>
          </a:xfrm>
        </p:grpSpPr>
        <p:sp>
          <p:nvSpPr>
            <p:cNvPr id="33809" name="Rectangle 7"/>
            <p:cNvSpPr>
              <a:spLocks noChangeArrowheads="1"/>
            </p:cNvSpPr>
            <p:nvPr/>
          </p:nvSpPr>
          <p:spPr bwMode="auto">
            <a:xfrm>
              <a:off x="1197" y="381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0" name="Rectangle 8"/>
            <p:cNvSpPr>
              <a:spLocks noChangeArrowheads="1"/>
            </p:cNvSpPr>
            <p:nvPr/>
          </p:nvSpPr>
          <p:spPr bwMode="auto">
            <a:xfrm>
              <a:off x="2454" y="381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1" name="Rectangle 9"/>
            <p:cNvSpPr>
              <a:spLocks noChangeArrowheads="1"/>
            </p:cNvSpPr>
            <p:nvPr/>
          </p:nvSpPr>
          <p:spPr bwMode="auto">
            <a:xfrm>
              <a:off x="1823" y="417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Child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2" name="AutoShape 10"/>
            <p:cNvSpPr>
              <a:spLocks noChangeArrowheads="1"/>
            </p:cNvSpPr>
            <p:nvPr/>
          </p:nvSpPr>
          <p:spPr bwMode="auto">
            <a:xfrm>
              <a:off x="1830" y="3775"/>
              <a:ext cx="435" cy="250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parents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3" name="Line 11"/>
            <p:cNvSpPr>
              <a:spLocks noChangeShapeType="1"/>
            </p:cNvSpPr>
            <p:nvPr/>
          </p:nvSpPr>
          <p:spPr bwMode="auto">
            <a:xfrm>
              <a:off x="1651" y="3897"/>
              <a:ext cx="176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14" name="Line 12"/>
            <p:cNvSpPr>
              <a:spLocks noChangeShapeType="1"/>
            </p:cNvSpPr>
            <p:nvPr/>
          </p:nvSpPr>
          <p:spPr bwMode="auto">
            <a:xfrm flipV="1">
              <a:off x="2267" y="3898"/>
              <a:ext cx="192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15" name="Line 13"/>
            <p:cNvSpPr>
              <a:spLocks noChangeShapeType="1"/>
            </p:cNvSpPr>
            <p:nvPr/>
          </p:nvSpPr>
          <p:spPr bwMode="auto">
            <a:xfrm>
              <a:off x="2050" y="4030"/>
              <a:ext cx="0" cy="1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317500" y="114300"/>
            <a:ext cx="46672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用二元联系还是多元联系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9" name="组 1"/>
          <p:cNvGrpSpPr/>
          <p:nvPr/>
        </p:nvGrpSpPr>
        <p:grpSpPr bwMode="auto">
          <a:xfrm>
            <a:off x="479425" y="4268788"/>
            <a:ext cx="3076575" cy="1987550"/>
            <a:chOff x="245192" y="3924558"/>
            <a:chExt cx="3075380" cy="1987321"/>
          </a:xfrm>
        </p:grpSpPr>
        <p:sp>
          <p:nvSpPr>
            <p:cNvPr id="33800" name="Rectangle 7"/>
            <p:cNvSpPr>
              <a:spLocks noChangeArrowheads="1"/>
            </p:cNvSpPr>
            <p:nvPr/>
          </p:nvSpPr>
          <p:spPr bwMode="auto">
            <a:xfrm>
              <a:off x="245192" y="3924558"/>
              <a:ext cx="810898" cy="3841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1" name="Rectangle 8"/>
            <p:cNvSpPr>
              <a:spLocks noChangeArrowheads="1"/>
            </p:cNvSpPr>
            <p:nvPr/>
          </p:nvSpPr>
          <p:spPr bwMode="auto">
            <a:xfrm>
              <a:off x="2509675" y="3924558"/>
              <a:ext cx="810897" cy="3841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2" name="Rectangle 9"/>
            <p:cNvSpPr>
              <a:spLocks noChangeArrowheads="1"/>
            </p:cNvSpPr>
            <p:nvPr/>
          </p:nvSpPr>
          <p:spPr bwMode="auto">
            <a:xfrm>
              <a:off x="1365532" y="5505526"/>
              <a:ext cx="829941" cy="40635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Child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3" name="AutoShape 10"/>
            <p:cNvSpPr>
              <a:spLocks noChangeArrowheads="1"/>
            </p:cNvSpPr>
            <p:nvPr/>
          </p:nvSpPr>
          <p:spPr bwMode="auto">
            <a:xfrm>
              <a:off x="1064024" y="4462658"/>
              <a:ext cx="628406" cy="706357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4" name="Line 11"/>
            <p:cNvSpPr>
              <a:spLocks noChangeShapeType="1"/>
            </p:cNvSpPr>
            <p:nvPr/>
          </p:nvSpPr>
          <p:spPr bwMode="auto">
            <a:xfrm>
              <a:off x="1057676" y="4305514"/>
              <a:ext cx="242794" cy="241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5" name="Line 12"/>
            <p:cNvSpPr>
              <a:spLocks noChangeShapeType="1"/>
            </p:cNvSpPr>
            <p:nvPr/>
          </p:nvSpPr>
          <p:spPr bwMode="auto">
            <a:xfrm flipV="1">
              <a:off x="2289098" y="4308689"/>
              <a:ext cx="214230" cy="2380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6" name="Line 13"/>
            <p:cNvSpPr>
              <a:spLocks noChangeShapeType="1"/>
            </p:cNvSpPr>
            <p:nvPr/>
          </p:nvSpPr>
          <p:spPr bwMode="auto">
            <a:xfrm flipH="1">
              <a:off x="1363945" y="5143618"/>
              <a:ext cx="15869" cy="360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7" name="AutoShape 10"/>
            <p:cNvSpPr>
              <a:spLocks noChangeArrowheads="1"/>
            </p:cNvSpPr>
            <p:nvPr/>
          </p:nvSpPr>
          <p:spPr bwMode="auto">
            <a:xfrm>
              <a:off x="1881269" y="4457897"/>
              <a:ext cx="634753" cy="70635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8" name="Line 13"/>
            <p:cNvSpPr>
              <a:spLocks noChangeShapeType="1"/>
            </p:cNvSpPr>
            <p:nvPr/>
          </p:nvSpPr>
          <p:spPr bwMode="auto">
            <a:xfrm flipH="1">
              <a:off x="2190711" y="5170601"/>
              <a:ext cx="15869" cy="3603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7CAB49-508C-4C35-8738-F41A0B319C8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4818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811338" y="608013"/>
            <a:ext cx="6465887" cy="1143000"/>
          </a:xfrm>
          <a:noFill/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8: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教师指导学生做项目的表示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3935730" y="1803400"/>
            <a:ext cx="5146675" cy="476758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哪一种描述更合理？</a:t>
            </a: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sz="2000">
                <a:solidFill>
                  <a:srgbClr val="2A2A39"/>
                </a:solidFill>
              </a:rPr>
              <a:t>适合情形：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zh-CN" altLang="en-US" sz="2000">
                <a:solidFill>
                  <a:srgbClr val="2A2A39"/>
                </a:solidFill>
              </a:rPr>
              <a:t>   描述教师指导学生一起在做项目；</a:t>
            </a:r>
            <a:endParaRPr kumimoji="0" lang="en-US" altLang="zh-CN" sz="2000">
              <a:solidFill>
                <a:srgbClr val="2A2A39"/>
              </a:solidFill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/>
            <a:r>
              <a:rPr lang="zh-CN" altLang="en-US" sz="2000">
                <a:solidFill>
                  <a:srgbClr val="2A2A39"/>
                </a:solidFill>
              </a:rPr>
              <a:t>适合情形：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描述教师指导学生、教师做项目、学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生也做项目；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但学生做项目不一定有教师指导；有指导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有时也不易看出是哪些老师。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思考：如何描述产学研合作开发一个项目</a:t>
            </a:r>
            <a:r>
              <a:rPr kumimoji="0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chemeClr val="tx2"/>
                </a:solidFill>
              </a:rPr>
              <a:t>   </a:t>
            </a:r>
            <a:endParaRPr lang="en-US" altLang="zh-CN" sz="2000">
              <a:solidFill>
                <a:schemeClr val="tx2"/>
              </a:solidFill>
            </a:endParaRPr>
          </a:p>
          <a:p>
            <a:pPr marL="0" indent="0">
              <a:buFontTx/>
              <a:buNone/>
            </a:pPr>
            <a:endParaRPr kumimoji="0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5568950" y="192088"/>
            <a:ext cx="3335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用二元联系还是多元联系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821" name="Group 14"/>
          <p:cNvGrpSpPr/>
          <p:nvPr/>
        </p:nvGrpSpPr>
        <p:grpSpPr bwMode="auto">
          <a:xfrm>
            <a:off x="265113" y="2193925"/>
            <a:ext cx="3549650" cy="1506538"/>
            <a:chOff x="1129" y="3741"/>
            <a:chExt cx="1887" cy="579"/>
          </a:xfrm>
        </p:grpSpPr>
        <p:sp>
          <p:nvSpPr>
            <p:cNvPr id="34835" name="Rectangle 7"/>
            <p:cNvSpPr>
              <a:spLocks noChangeArrowheads="1"/>
            </p:cNvSpPr>
            <p:nvPr/>
          </p:nvSpPr>
          <p:spPr bwMode="auto">
            <a:xfrm>
              <a:off x="1129" y="3800"/>
              <a:ext cx="484" cy="13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instructor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6" name="Rectangle 8"/>
            <p:cNvSpPr>
              <a:spLocks noChangeArrowheads="1"/>
            </p:cNvSpPr>
            <p:nvPr/>
          </p:nvSpPr>
          <p:spPr bwMode="auto">
            <a:xfrm>
              <a:off x="2563" y="3800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project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7" name="Rectangle 9"/>
            <p:cNvSpPr>
              <a:spLocks noChangeArrowheads="1"/>
            </p:cNvSpPr>
            <p:nvPr/>
          </p:nvSpPr>
          <p:spPr bwMode="auto">
            <a:xfrm>
              <a:off x="1846" y="4184"/>
              <a:ext cx="451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student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8" name="AutoShape 10"/>
            <p:cNvSpPr>
              <a:spLocks noChangeArrowheads="1"/>
            </p:cNvSpPr>
            <p:nvPr/>
          </p:nvSpPr>
          <p:spPr bwMode="auto">
            <a:xfrm>
              <a:off x="1796" y="3741"/>
              <a:ext cx="543" cy="302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Guide</a:t>
              </a:r>
              <a:r>
                <a:rPr kumimoji="0" lang="zh-CN" altLang="en-US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&amp;</a:t>
              </a: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9" name="Line 11"/>
            <p:cNvSpPr>
              <a:spLocks noChangeShapeType="1"/>
            </p:cNvSpPr>
            <p:nvPr/>
          </p:nvSpPr>
          <p:spPr bwMode="auto">
            <a:xfrm flipV="1">
              <a:off x="1614" y="3886"/>
              <a:ext cx="19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40" name="Line 12"/>
            <p:cNvSpPr>
              <a:spLocks noChangeShapeType="1"/>
            </p:cNvSpPr>
            <p:nvPr/>
          </p:nvSpPr>
          <p:spPr bwMode="auto">
            <a:xfrm flipV="1">
              <a:off x="2320" y="3891"/>
              <a:ext cx="24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41" name="Line 13"/>
            <p:cNvSpPr>
              <a:spLocks noChangeShapeType="1"/>
            </p:cNvSpPr>
            <p:nvPr/>
          </p:nvSpPr>
          <p:spPr bwMode="auto">
            <a:xfrm>
              <a:off x="2073" y="4042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4822" name="组 3"/>
          <p:cNvGrpSpPr/>
          <p:nvPr/>
        </p:nvGrpSpPr>
        <p:grpSpPr bwMode="auto">
          <a:xfrm>
            <a:off x="360363" y="4060825"/>
            <a:ext cx="3211512" cy="2117725"/>
            <a:chOff x="360589" y="3982905"/>
            <a:chExt cx="3211309" cy="2117105"/>
          </a:xfrm>
        </p:grpSpPr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360589" y="4113042"/>
              <a:ext cx="946090" cy="3840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instructor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2760737" y="4113042"/>
              <a:ext cx="811161" cy="3840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project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1616222" y="5693729"/>
              <a:ext cx="830211" cy="40628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student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6" name="AutoShape 10"/>
            <p:cNvSpPr>
              <a:spLocks noChangeArrowheads="1"/>
            </p:cNvSpPr>
            <p:nvPr/>
          </p:nvSpPr>
          <p:spPr bwMode="auto">
            <a:xfrm>
              <a:off x="1314616" y="4651047"/>
              <a:ext cx="628610" cy="706230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guide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7" name="Line 11"/>
            <p:cNvSpPr>
              <a:spLocks noChangeShapeType="1"/>
            </p:cNvSpPr>
            <p:nvPr/>
          </p:nvSpPr>
          <p:spPr bwMode="auto">
            <a:xfrm>
              <a:off x="1308266" y="4493930"/>
              <a:ext cx="242873" cy="2412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28" name="Line 12"/>
            <p:cNvSpPr>
              <a:spLocks noChangeShapeType="1"/>
            </p:cNvSpPr>
            <p:nvPr/>
          </p:nvSpPr>
          <p:spPr bwMode="auto">
            <a:xfrm flipV="1">
              <a:off x="2540088" y="4497104"/>
              <a:ext cx="214299" cy="2380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 flipH="1">
              <a:off x="1614635" y="5331885"/>
              <a:ext cx="15874" cy="360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0" name="AutoShape 10"/>
            <p:cNvSpPr>
              <a:spLocks noChangeArrowheads="1"/>
            </p:cNvSpPr>
            <p:nvPr/>
          </p:nvSpPr>
          <p:spPr bwMode="auto">
            <a:xfrm>
              <a:off x="2132127" y="4646286"/>
              <a:ext cx="634960" cy="706231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do2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 flipH="1">
              <a:off x="2441669" y="5358865"/>
              <a:ext cx="15874" cy="3602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2" name="AutoShape 10"/>
            <p:cNvSpPr>
              <a:spLocks noChangeArrowheads="1"/>
            </p:cNvSpPr>
            <p:nvPr/>
          </p:nvSpPr>
          <p:spPr bwMode="auto">
            <a:xfrm>
              <a:off x="1673368" y="3982905"/>
              <a:ext cx="634960" cy="706231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do1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3" name="Line 12"/>
            <p:cNvSpPr>
              <a:spLocks noChangeShapeType="1"/>
            </p:cNvSpPr>
            <p:nvPr/>
          </p:nvSpPr>
          <p:spPr bwMode="auto">
            <a:xfrm flipV="1">
              <a:off x="2289279" y="4311422"/>
              <a:ext cx="469870" cy="158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4" name="Line 12"/>
            <p:cNvSpPr>
              <a:spLocks noChangeShapeType="1"/>
            </p:cNvSpPr>
            <p:nvPr/>
          </p:nvSpPr>
          <p:spPr bwMode="auto">
            <a:xfrm>
              <a:off x="1281281" y="4338401"/>
              <a:ext cx="411136" cy="206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3A7F5A-459D-4F11-A3A2-ADA2EDD77834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115888"/>
            <a:ext cx="7772400" cy="506412"/>
          </a:xfrm>
        </p:spPr>
        <p:txBody>
          <a:bodyPr/>
          <a:lstStyle/>
          <a:p>
            <a:pPr algn="l"/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Rectangle 5"/>
          <p:cNvSpPr>
            <a:spLocks noChangeArrowheads="1"/>
          </p:cNvSpPr>
          <p:nvPr/>
        </p:nvSpPr>
        <p:spPr bwMode="auto">
          <a:xfrm>
            <a:off x="623888" y="739775"/>
            <a:ext cx="4657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chemeClr val="tx2"/>
                </a:solidFill>
                <a:latin typeface="Tahoma" panose="020B0604030504040204" charset="0"/>
              </a:rPr>
              <a:t>2.1 </a:t>
            </a:r>
            <a:r>
              <a:rPr kumimoji="0" lang="zh-CN" altLang="en-US" sz="2400" dirty="0">
                <a:solidFill>
                  <a:schemeClr val="tx2"/>
                </a:solidFill>
                <a:latin typeface="Tahoma" panose="020B0604030504040204" charset="0"/>
              </a:rPr>
              <a:t>特化与概化</a:t>
            </a:r>
            <a:r>
              <a:rPr kumimoji="0" lang="en-US" altLang="zh-CN" sz="1800" dirty="0">
                <a:solidFill>
                  <a:srgbClr val="0000FF"/>
                </a:solidFill>
                <a:latin typeface="Tahoma" panose="020B0604030504040204" charset="0"/>
              </a:rPr>
              <a:t>(</a:t>
            </a:r>
            <a:r>
              <a:rPr kumimoji="0" lang="zh-CN" altLang="en-US" sz="1800" dirty="0">
                <a:solidFill>
                  <a:srgbClr val="0000FF"/>
                </a:solidFill>
                <a:latin typeface="Tahoma" panose="020B0604030504040204" charset="0"/>
              </a:rPr>
              <a:t>特殊化与一般化</a:t>
            </a:r>
            <a:r>
              <a:rPr kumimoji="0" lang="en-US" altLang="zh-CN" sz="1800" dirty="0">
                <a:solidFill>
                  <a:srgbClr val="0000FF"/>
                </a:solidFill>
                <a:latin typeface="Tahoma" panose="020B0604030504040204" charset="0"/>
              </a:rPr>
              <a:t>)</a:t>
            </a:r>
            <a:endParaRPr kumimoji="0" lang="en-US" altLang="zh-CN" sz="2400" dirty="0">
              <a:solidFill>
                <a:srgbClr val="0000FF"/>
              </a:solidFill>
              <a:latin typeface="Tahoma" panose="020B0604030504040204" charset="0"/>
            </a:endParaRPr>
          </a:p>
        </p:txBody>
      </p:sp>
      <p:pic>
        <p:nvPicPr>
          <p:cNvPr id="35844" name="Picture 3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1316038"/>
            <a:ext cx="34607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AutoShape 7"/>
          <p:cNvSpPr>
            <a:spLocks noChangeArrowheads="1"/>
          </p:cNvSpPr>
          <p:nvPr/>
        </p:nvSpPr>
        <p:spPr bwMode="auto">
          <a:xfrm>
            <a:off x="269875" y="1568450"/>
            <a:ext cx="1925638" cy="725488"/>
          </a:xfrm>
          <a:prstGeom prst="cloudCallout">
            <a:avLst>
              <a:gd name="adj1" fmla="val -49694"/>
              <a:gd name="adj2" fmla="val 10329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charset="0"/>
              </a:rPr>
              <a:t>如何理解特化与概化？</a:t>
            </a:r>
            <a:endParaRPr kumimoji="0" lang="zh-CN" altLang="en-US" sz="1600">
              <a:latin typeface="Tahoma" panose="020B0604030504040204" charset="0"/>
            </a:endParaRPr>
          </a:p>
        </p:txBody>
      </p:sp>
      <p:sp>
        <p:nvSpPr>
          <p:cNvPr id="490504" name="Rectangle 8"/>
          <p:cNvSpPr>
            <a:spLocks noChangeArrowheads="1"/>
          </p:cNvSpPr>
          <p:nvPr/>
        </p:nvSpPr>
        <p:spPr bwMode="auto">
          <a:xfrm>
            <a:off x="2355850" y="1439863"/>
            <a:ext cx="43386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一个实体集</a:t>
            </a: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父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r>
              <a:rPr kumimoji="0" lang="zh-CN" altLang="en-US" sz="1800">
                <a:solidFill>
                  <a:srgbClr val="2A2A39"/>
                </a:solidFill>
              </a:rPr>
              <a:t>可能包含一个子实体集！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子实体集具有</a:t>
            </a: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继承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r>
              <a:rPr kumimoji="0" lang="zh-CN" altLang="en-US" sz="1800">
                <a:solidFill>
                  <a:srgbClr val="2A2A39"/>
                </a:solidFill>
              </a:rPr>
              <a:t>父实体集的属性，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还可能具有其它一些独特属性。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特化与概化专门用于描述这种现象！</a:t>
            </a:r>
            <a:endParaRPr kumimoji="0" lang="zh-CN" altLang="en-US" sz="1800">
              <a:solidFill>
                <a:srgbClr val="2A2A39"/>
              </a:solidFill>
            </a:endParaRPr>
          </a:p>
        </p:txBody>
      </p:sp>
      <p:sp>
        <p:nvSpPr>
          <p:cNvPr id="490505" name="Rectangle 9"/>
          <p:cNvSpPr>
            <a:spLocks noChangeArrowheads="1"/>
          </p:cNvSpPr>
          <p:nvPr/>
        </p:nvSpPr>
        <p:spPr bwMode="auto">
          <a:xfrm>
            <a:off x="2446338" y="2674938"/>
            <a:ext cx="2954337" cy="646112"/>
          </a:xfrm>
          <a:prstGeom prst="rect">
            <a:avLst/>
          </a:prstGeom>
          <a:noFill/>
          <a:ln w="9525">
            <a:solidFill>
              <a:srgbClr val="0066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特化：自顶向下的设计过程</a:t>
            </a:r>
            <a:endParaRPr kumimoji="0" lang="en-US" altLang="zh-CN" sz="180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概化：自底向上的设计过程</a:t>
            </a:r>
            <a:endParaRPr kumimoji="0" lang="en-US" altLang="zh-CN" sz="1800">
              <a:solidFill>
                <a:srgbClr val="0066FF"/>
              </a:solidFill>
            </a:endParaRPr>
          </a:p>
        </p:txBody>
      </p:sp>
      <p:sp>
        <p:nvSpPr>
          <p:cNvPr id="490506" name="Rectangle 10"/>
          <p:cNvSpPr>
            <a:spLocks noChangeArrowheads="1"/>
          </p:cNvSpPr>
          <p:nvPr/>
        </p:nvSpPr>
        <p:spPr bwMode="auto">
          <a:xfrm>
            <a:off x="2227263" y="3370263"/>
            <a:ext cx="2335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</a:rPr>
              <a:t>由下向上的箭头连线</a:t>
            </a:r>
            <a:endParaRPr kumimoji="0" lang="zh-CN" altLang="en-US" sz="1800">
              <a:solidFill>
                <a:srgbClr val="800000"/>
              </a:solidFill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</a:rPr>
              <a:t>为一种‘</a:t>
            </a:r>
            <a:r>
              <a:rPr kumimoji="0" lang="en-US" altLang="zh-CN" sz="1800">
                <a:solidFill>
                  <a:srgbClr val="800000"/>
                </a:solidFill>
              </a:rPr>
              <a:t>is a’</a:t>
            </a:r>
            <a:r>
              <a:rPr kumimoji="0" lang="zh-CN" altLang="en-US" sz="1800">
                <a:solidFill>
                  <a:srgbClr val="800000"/>
                </a:solidFill>
              </a:rPr>
              <a:t>联系</a:t>
            </a:r>
            <a:endParaRPr kumimoji="0" lang="zh-CN" altLang="en-US" sz="1800">
              <a:solidFill>
                <a:srgbClr val="800000"/>
              </a:solidFill>
            </a:endParaRPr>
          </a:p>
        </p:txBody>
      </p:sp>
      <p:sp>
        <p:nvSpPr>
          <p:cNvPr id="490509" name="Rectangle 13"/>
          <p:cNvSpPr>
            <a:spLocks noChangeArrowheads="1"/>
          </p:cNvSpPr>
          <p:nvPr/>
        </p:nvSpPr>
        <p:spPr bwMode="auto">
          <a:xfrm>
            <a:off x="7104063" y="3724275"/>
            <a:ext cx="1890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chemeClr val="tx2"/>
                </a:solidFill>
              </a:rPr>
              <a:t>单箭头</a:t>
            </a:r>
            <a:r>
              <a:rPr kumimoji="0" lang="en-US" altLang="zh-CN" sz="1200">
                <a:solidFill>
                  <a:schemeClr val="tx2"/>
                </a:solidFill>
              </a:rPr>
              <a:t>--</a:t>
            </a:r>
            <a:r>
              <a:rPr kumimoji="0" lang="zh-CN" altLang="en-US" sz="1200">
                <a:solidFill>
                  <a:schemeClr val="tx2"/>
                </a:solidFill>
              </a:rPr>
              <a:t>表示不相交特化</a:t>
            </a:r>
            <a:endParaRPr kumimoji="0" lang="zh-CN" altLang="en-US" sz="1200">
              <a:solidFill>
                <a:schemeClr val="tx2"/>
              </a:solidFill>
            </a:endParaRPr>
          </a:p>
        </p:txBody>
      </p:sp>
      <p:sp>
        <p:nvSpPr>
          <p:cNvPr id="490510" name="Rectangle 14"/>
          <p:cNvSpPr>
            <a:spLocks noChangeArrowheads="1"/>
          </p:cNvSpPr>
          <p:nvPr/>
        </p:nvSpPr>
        <p:spPr bwMode="auto">
          <a:xfrm>
            <a:off x="7140575" y="2417763"/>
            <a:ext cx="1736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chemeClr val="tx2"/>
                </a:solidFill>
              </a:rPr>
              <a:t>双箭头</a:t>
            </a:r>
            <a:r>
              <a:rPr kumimoji="0" lang="en-US" altLang="zh-CN" sz="1200">
                <a:solidFill>
                  <a:schemeClr val="tx2"/>
                </a:solidFill>
              </a:rPr>
              <a:t>--</a:t>
            </a:r>
            <a:r>
              <a:rPr kumimoji="0" lang="zh-CN" altLang="en-US" sz="1200">
                <a:solidFill>
                  <a:schemeClr val="tx2"/>
                </a:solidFill>
              </a:rPr>
              <a:t>表示重叠特化</a:t>
            </a:r>
            <a:endParaRPr kumimoji="0" lang="zh-CN" altLang="en-US" sz="1200">
              <a:solidFill>
                <a:schemeClr val="tx2"/>
              </a:solidFill>
            </a:endParaRPr>
          </a:p>
        </p:txBody>
      </p:sp>
      <p:sp>
        <p:nvSpPr>
          <p:cNvPr id="32780" name="Rectangle 15"/>
          <p:cNvSpPr>
            <a:spLocks noChangeArrowheads="1"/>
          </p:cNvSpPr>
          <p:nvPr/>
        </p:nvSpPr>
        <p:spPr bwMode="auto">
          <a:xfrm>
            <a:off x="280988" y="5835650"/>
            <a:ext cx="3517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/>
              <a:t>(</a:t>
            </a:r>
            <a:r>
              <a:rPr kumimoji="0" lang="zh-CN" altLang="en-US" sz="2000"/>
              <a:t>特殊化与一般化的</a:t>
            </a:r>
            <a:r>
              <a:rPr kumimoji="0" lang="zh-CN" altLang="en-US" sz="2000">
                <a:hlinkClick r:id="rId2" action="ppaction://hlinksldjump"/>
              </a:rPr>
              <a:t>其它示例</a:t>
            </a:r>
            <a:r>
              <a:rPr kumimoji="0" lang="en-US" altLang="zh-CN" sz="2000"/>
              <a:t>)</a:t>
            </a:r>
            <a:endParaRPr kumimoji="0" lang="zh-CN" altLang="en-US" sz="2000"/>
          </a:p>
        </p:txBody>
      </p:sp>
      <p:sp>
        <p:nvSpPr>
          <p:cNvPr id="32783" name="Rectangle 18"/>
          <p:cNvSpPr>
            <a:spLocks noChangeArrowheads="1"/>
          </p:cNvSpPr>
          <p:nvPr/>
        </p:nvSpPr>
        <p:spPr bwMode="auto">
          <a:xfrm>
            <a:off x="3900488" y="4818063"/>
            <a:ext cx="4865687" cy="1508125"/>
          </a:xfrm>
          <a:prstGeom prst="rect">
            <a:avLst/>
          </a:prstGeom>
          <a:noFill/>
          <a:ln w="9525">
            <a:solidFill>
              <a:srgbClr val="0066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</a:rPr>
              <a:t>如何表示？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1800">
                <a:solidFill>
                  <a:srgbClr val="2A2A39"/>
                </a:solidFill>
              </a:rPr>
              <a:t>部分概化：允许父实体不属于任何子实体集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              (</a:t>
            </a:r>
            <a:r>
              <a:rPr kumimoji="0" lang="zh-CN" altLang="en-US" sz="1800">
                <a:solidFill>
                  <a:srgbClr val="800000"/>
                </a:solidFill>
              </a:rPr>
              <a:t>缺省表示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en-US" altLang="zh-CN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1800">
                <a:solidFill>
                  <a:srgbClr val="2A2A39"/>
                </a:solidFill>
              </a:rPr>
              <a:t>全部概化：每个父实体必属于某一子实体集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           (</a:t>
            </a:r>
            <a:r>
              <a:rPr kumimoji="0" lang="zh-CN" altLang="en-US" sz="1800">
                <a:solidFill>
                  <a:srgbClr val="800000"/>
                </a:solidFill>
              </a:rPr>
              <a:t>采用标识</a:t>
            </a:r>
            <a:r>
              <a:rPr kumimoji="0" lang="en-US" altLang="zh-CN" sz="1800">
                <a:solidFill>
                  <a:srgbClr val="800000"/>
                </a:solidFill>
              </a:rPr>
              <a:t>total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en-US" altLang="zh-CN" sz="1800">
              <a:solidFill>
                <a:srgbClr val="2A2A39"/>
              </a:solidFill>
            </a:endParaRPr>
          </a:p>
        </p:txBody>
      </p:sp>
      <p:sp>
        <p:nvSpPr>
          <p:cNvPr id="32785" name="Rectangle 19"/>
          <p:cNvSpPr>
            <a:spLocks noChangeArrowheads="1"/>
          </p:cNvSpPr>
          <p:nvPr/>
        </p:nvSpPr>
        <p:spPr bwMode="auto">
          <a:xfrm>
            <a:off x="5383213" y="3698875"/>
            <a:ext cx="528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total</a:t>
            </a:r>
            <a:endParaRPr kumimoji="0" lang="zh-CN" altLang="en-US" sz="1400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4" name="Rectangle 84"/>
          <p:cNvSpPr>
            <a:spLocks noChangeArrowheads="1"/>
          </p:cNvSpPr>
          <p:nvPr/>
        </p:nvSpPr>
        <p:spPr bwMode="auto">
          <a:xfrm>
            <a:off x="7962900" y="1343025"/>
            <a:ext cx="762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ahoma" panose="020B0604030504040204" charset="0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ahoma" panose="020B0604030504040204" charset="0"/>
              </a:rPr>
              <a:t>9</a:t>
            </a:r>
            <a:endParaRPr kumimoji="0" lang="zh-CN" altLang="en-US" sz="1800">
              <a:solidFill>
                <a:srgbClr val="2A2A39"/>
              </a:solidFill>
              <a:latin typeface="Tahoma" panose="020B0604030504040204" charset="0"/>
            </a:endParaRPr>
          </a:p>
        </p:txBody>
      </p:sp>
      <p:sp>
        <p:nvSpPr>
          <p:cNvPr id="35855" name="矩形 2"/>
          <p:cNvSpPr>
            <a:spLocks noChangeArrowheads="1"/>
          </p:cNvSpPr>
          <p:nvPr/>
        </p:nvSpPr>
        <p:spPr bwMode="auto">
          <a:xfrm>
            <a:off x="195263" y="4248150"/>
            <a:ext cx="4176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charset="0"/>
              </a:rPr>
              <a:t>如何表示同级子实体集间是否相交</a:t>
            </a:r>
            <a:r>
              <a:rPr kumimoji="0" lang="en-US" altLang="zh-CN" sz="2000">
                <a:solidFill>
                  <a:srgbClr val="0000FF"/>
                </a:solidFill>
                <a:latin typeface="Tahoma" panose="020B0604030504040204" charset="0"/>
              </a:rPr>
              <a:t>?</a:t>
            </a:r>
            <a:endParaRPr kumimoji="0" lang="zh-CN" altLang="en-US" sz="2000">
              <a:solidFill>
                <a:srgbClr val="0000FF"/>
              </a:solidFill>
              <a:latin typeface="Tahoma" panose="020B060403050404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4" grpId="0"/>
      <p:bldP spid="490505" grpId="0" animBg="1"/>
      <p:bldP spid="490506" grpId="0"/>
      <p:bldP spid="490509" grpId="0"/>
      <p:bldP spid="490510" grpId="0"/>
      <p:bldP spid="32780" grpId="0"/>
      <p:bldP spid="327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6CD0E3-6608-4B0E-954A-38F250F84C04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6866" name="Rectangle 9"/>
          <p:cNvSpPr>
            <a:spLocks noChangeArrowheads="1"/>
          </p:cNvSpPr>
          <p:nvPr/>
        </p:nvSpPr>
        <p:spPr bwMode="auto">
          <a:xfrm>
            <a:off x="1144588" y="15875"/>
            <a:ext cx="7772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Tahoma" panose="020B0604030504040204" charset="0"/>
              </a:rPr>
              <a:t>2.1 </a:t>
            </a:r>
            <a:r>
              <a:rPr kumimoji="0" lang="zh-CN" altLang="en-US" sz="2000">
                <a:solidFill>
                  <a:srgbClr val="428E5B"/>
                </a:solidFill>
                <a:latin typeface="Tahoma" panose="020B0604030504040204" charset="0"/>
              </a:rPr>
              <a:t>特化与概化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10"/>
          <p:cNvSpPr>
            <a:spLocks noChangeArrowheads="1"/>
          </p:cNvSpPr>
          <p:nvPr/>
        </p:nvSpPr>
        <p:spPr bwMode="auto">
          <a:xfrm>
            <a:off x="3286125" y="6176963"/>
            <a:ext cx="1906588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kumimoji="0"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8" name="Rectangle 11"/>
          <p:cNvSpPr>
            <a:spLocks noChangeArrowheads="1"/>
          </p:cNvSpPr>
          <p:nvPr/>
        </p:nvSpPr>
        <p:spPr bwMode="auto">
          <a:xfrm>
            <a:off x="7177088" y="6046788"/>
            <a:ext cx="966787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kumimoji="0"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title"/>
          </p:nvPr>
        </p:nvSpPr>
        <p:spPr>
          <a:xfrm>
            <a:off x="3549650" y="546100"/>
            <a:ext cx="4856163" cy="1143000"/>
          </a:xfrm>
        </p:spPr>
        <p:txBody>
          <a:bodyPr/>
          <a:lstStyle/>
          <a:p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相交与不相交特化的另一示例</a:t>
            </a:r>
            <a:endParaRPr kumimoji="0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870" name="组 1"/>
          <p:cNvGrpSpPr/>
          <p:nvPr/>
        </p:nvGrpSpPr>
        <p:grpSpPr bwMode="auto">
          <a:xfrm>
            <a:off x="1570038" y="800100"/>
            <a:ext cx="7073900" cy="5624513"/>
            <a:chOff x="708025" y="800100"/>
            <a:chExt cx="7073900" cy="5624513"/>
          </a:xfrm>
        </p:grpSpPr>
        <p:grpSp>
          <p:nvGrpSpPr>
            <p:cNvPr id="36878" name="Group 13"/>
            <p:cNvGrpSpPr/>
            <p:nvPr/>
          </p:nvGrpSpPr>
          <p:grpSpPr bwMode="auto">
            <a:xfrm>
              <a:off x="708025" y="800100"/>
              <a:ext cx="7073900" cy="5624513"/>
              <a:chOff x="446" y="504"/>
              <a:chExt cx="4456" cy="3543"/>
            </a:xfrm>
          </p:grpSpPr>
          <p:pic>
            <p:nvPicPr>
              <p:cNvPr id="36880" name="Picture 3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6" y="504"/>
                <a:ext cx="4456" cy="3543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81" name="Rectangle 12"/>
              <p:cNvSpPr>
                <a:spLocks noChangeArrowheads="1"/>
              </p:cNvSpPr>
              <p:nvPr/>
            </p:nvSpPr>
            <p:spPr bwMode="auto">
              <a:xfrm>
                <a:off x="2054" y="3840"/>
                <a:ext cx="1233" cy="20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endParaRPr kumimoji="0" lang="zh-CN" altLang="en-US" sz="20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6879" name="Rectangle 84"/>
            <p:cNvSpPr>
              <a:spLocks noChangeArrowheads="1"/>
            </p:cNvSpPr>
            <p:nvPr/>
          </p:nvSpPr>
          <p:spPr bwMode="auto">
            <a:xfrm>
              <a:off x="6509837" y="1390206"/>
              <a:ext cx="11604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8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22988" y="2022475"/>
            <a:ext cx="2722562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r>
              <a:rPr lang="zh-CN" altLang="en-US" sz="18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注：可以采用不同符号，</a:t>
            </a:r>
            <a:endParaRPr lang="en-US" altLang="zh-CN" sz="1800" b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 algn="r"/>
            <a:r>
              <a:rPr lang="zh-CN" altLang="en-US" sz="18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只需标出符号含义即可！</a:t>
            </a:r>
            <a:endParaRPr lang="zh-CN" altLang="en-US" sz="1800" b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36872" name="矩形 2"/>
          <p:cNvSpPr>
            <a:spLocks noChangeArrowheads="1"/>
          </p:cNvSpPr>
          <p:nvPr/>
        </p:nvSpPr>
        <p:spPr bwMode="auto">
          <a:xfrm>
            <a:off x="266700" y="2055813"/>
            <a:ext cx="2366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Ψ</a:t>
            </a:r>
            <a:r>
              <a:rPr kumimoji="0" lang="en-US" altLang="zh-CN" sz="1800" b="0">
                <a:solidFill>
                  <a:srgbClr val="0000FF"/>
                </a:solidFill>
              </a:rPr>
              <a:t>—</a:t>
            </a:r>
            <a:r>
              <a:rPr kumimoji="0" lang="zh-CN" altLang="en-US" sz="1800" b="0">
                <a:solidFill>
                  <a:srgbClr val="0000FF"/>
                </a:solidFill>
              </a:rPr>
              <a:t>“</a:t>
            </a:r>
            <a:r>
              <a:rPr kumimoji="0" lang="en-US" altLang="zh-CN" sz="1800" b="0">
                <a:solidFill>
                  <a:srgbClr val="0000FF"/>
                </a:solidFill>
              </a:rPr>
              <a:t>is a” </a:t>
            </a:r>
            <a:r>
              <a:rPr kumimoji="0" lang="zh-CN" altLang="en-US" sz="1800" b="0">
                <a:solidFill>
                  <a:srgbClr val="0000FF"/>
                </a:solidFill>
              </a:rPr>
              <a:t>联系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solidFill>
                  <a:srgbClr val="0000FF"/>
                </a:solidFill>
              </a:rPr>
              <a:t>o —</a:t>
            </a:r>
            <a:r>
              <a:rPr kumimoji="0" lang="zh-CN" altLang="en-US" sz="1800" b="0">
                <a:solidFill>
                  <a:srgbClr val="0000FF"/>
                </a:solidFill>
              </a:rPr>
              <a:t>重叠特殊化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solidFill>
                  <a:srgbClr val="0000FF"/>
                </a:solidFill>
              </a:rPr>
              <a:t>d —</a:t>
            </a:r>
            <a:r>
              <a:rPr kumimoji="0" lang="zh-CN" altLang="en-US" sz="1800" b="0">
                <a:solidFill>
                  <a:srgbClr val="0000FF"/>
                </a:solidFill>
              </a:rPr>
              <a:t>不相交特殊化</a:t>
            </a:r>
            <a:endParaRPr kumimoji="0" lang="zh-CN" altLang="en-US" sz="1800" b="0">
              <a:solidFill>
                <a:srgbClr val="0000FF"/>
              </a:solidFill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222250" y="4359275"/>
            <a:ext cx="5426075" cy="1477963"/>
            <a:chOff x="316907" y="4359014"/>
            <a:chExt cx="5426229" cy="1478587"/>
          </a:xfrm>
        </p:grpSpPr>
        <p:sp>
          <p:nvSpPr>
            <p:cNvPr id="36876" name="椭圆 4"/>
            <p:cNvSpPr>
              <a:spLocks noChangeArrowheads="1"/>
            </p:cNvSpPr>
            <p:nvPr/>
          </p:nvSpPr>
          <p:spPr bwMode="auto">
            <a:xfrm>
              <a:off x="4766012" y="4359014"/>
              <a:ext cx="977124" cy="1473912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endParaRPr kumimoji="0"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6877" name="AutoShape 7"/>
            <p:cNvSpPr>
              <a:spLocks noChangeArrowheads="1"/>
            </p:cNvSpPr>
            <p:nvPr/>
          </p:nvSpPr>
          <p:spPr bwMode="auto">
            <a:xfrm>
              <a:off x="316907" y="4798054"/>
              <a:ext cx="1925638" cy="1039547"/>
            </a:xfrm>
            <a:prstGeom prst="cloudCallout">
              <a:avLst>
                <a:gd name="adj1" fmla="val -48880"/>
                <a:gd name="adj2" fmla="val 7162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latin typeface="Tahoma" panose="020B0604030504040204" charset="0"/>
                </a:rPr>
                <a:t>图中虚线部分描述了什么现象？</a:t>
              </a:r>
              <a:endParaRPr kumimoji="0" lang="zh-CN" altLang="en-US" sz="1600">
                <a:latin typeface="Tahoma" panose="020B0604030504040204" charset="0"/>
              </a:endParaRPr>
            </a:p>
          </p:txBody>
        </p:sp>
      </p:grp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298700" y="4781550"/>
            <a:ext cx="2030413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表示特殊实体集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“研究生”与实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体集“科研项目”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之间的参加关系</a:t>
            </a:r>
            <a:endParaRPr kumimoji="0" lang="zh-CN" altLang="en-US" sz="1800" b="0">
              <a:solidFill>
                <a:srgbClr val="0000FF"/>
              </a:solidFill>
            </a:endParaRPr>
          </a:p>
        </p:txBody>
      </p:sp>
      <p:sp>
        <p:nvSpPr>
          <p:cNvPr id="36875" name="矩形 7"/>
          <p:cNvSpPr>
            <a:spLocks noChangeArrowheads="1"/>
          </p:cNvSpPr>
          <p:nvPr/>
        </p:nvSpPr>
        <p:spPr bwMode="auto">
          <a:xfrm>
            <a:off x="2338388" y="290513"/>
            <a:ext cx="4184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：学校人员信息的表示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A22106-4CFE-4B4D-8EFA-11672EA7389F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103188"/>
            <a:ext cx="3657600" cy="617537"/>
          </a:xfrm>
        </p:spPr>
        <p:txBody>
          <a:bodyPr/>
          <a:lstStyle/>
          <a:p>
            <a:pPr algn="l"/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聚集</a:t>
            </a:r>
            <a:endParaRPr kumimoji="0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1014413" y="53975"/>
            <a:ext cx="7772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2" name="AutoShape 5"/>
          <p:cNvSpPr>
            <a:spLocks noChangeArrowheads="1"/>
          </p:cNvSpPr>
          <p:nvPr/>
        </p:nvSpPr>
        <p:spPr bwMode="auto">
          <a:xfrm>
            <a:off x="506413" y="971550"/>
            <a:ext cx="2127250" cy="1028700"/>
          </a:xfrm>
          <a:prstGeom prst="cloudCallout">
            <a:avLst>
              <a:gd name="adj1" fmla="val -52588"/>
              <a:gd name="adj2" fmla="val 6483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如何理解聚集现象</a:t>
            </a:r>
            <a:r>
              <a:rPr kumimoji="0" lang="en-US" altLang="zh-CN" sz="1600">
                <a:solidFill>
                  <a:srgbClr val="464660"/>
                </a:solidFill>
                <a:latin typeface="Tahoma" panose="020B0604030504040204" charset="0"/>
              </a:rPr>
              <a:t>(</a:t>
            </a: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联系上的联系</a:t>
            </a:r>
            <a:r>
              <a:rPr kumimoji="0" lang="en-US" altLang="zh-CN" sz="1600">
                <a:solidFill>
                  <a:srgbClr val="464660"/>
                </a:solidFill>
                <a:latin typeface="Tahoma" panose="020B0604030504040204" charset="0"/>
              </a:rPr>
              <a:t>)</a:t>
            </a: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？</a:t>
            </a:r>
            <a:endParaRPr kumimoji="0" lang="zh-CN" altLang="en-US" sz="1600">
              <a:solidFill>
                <a:srgbClr val="464660"/>
              </a:solidFill>
              <a:latin typeface="Tahoma" panose="020B0604030504040204" charset="0"/>
            </a:endParaRPr>
          </a:p>
        </p:txBody>
      </p:sp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209550" y="3508375"/>
            <a:ext cx="38909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例中，抽象的</a:t>
            </a:r>
            <a:r>
              <a:rPr kumimoji="0" lang="zh-CN" altLang="zh-CN" sz="1800">
                <a:solidFill>
                  <a:srgbClr val="2A2A39"/>
                </a:solidFill>
              </a:rPr>
              <a:t>“</a:t>
            </a:r>
            <a:r>
              <a:rPr kumimoji="0" lang="en-US" altLang="zh-CN" sz="1800">
                <a:solidFill>
                  <a:srgbClr val="2A2A39"/>
                </a:solidFill>
              </a:rPr>
              <a:t>proj_guide</a:t>
            </a:r>
            <a:r>
              <a:rPr kumimoji="0" lang="zh-CN" altLang="en-US" sz="1800">
                <a:solidFill>
                  <a:srgbClr val="2A2A39"/>
                </a:solidFill>
              </a:rPr>
              <a:t>实体集”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包含了</a:t>
            </a:r>
            <a:r>
              <a:rPr kumimoji="0" lang="en-US" altLang="zh-CN" sz="1800">
                <a:solidFill>
                  <a:srgbClr val="2A2A39"/>
                </a:solidFill>
              </a:rPr>
              <a:t>project_guide</a:t>
            </a:r>
            <a:r>
              <a:rPr kumimoji="0" lang="zh-CN" altLang="en-US" sz="1800">
                <a:solidFill>
                  <a:srgbClr val="2A2A39"/>
                </a:solidFill>
              </a:rPr>
              <a:t>联系集</a:t>
            </a:r>
            <a:r>
              <a:rPr kumimoji="0" lang="zh-CN" altLang="zh-CN" sz="1800">
                <a:solidFill>
                  <a:srgbClr val="2A2A39"/>
                </a:solidFill>
              </a:rPr>
              <a:t>、</a:t>
            </a:r>
            <a:r>
              <a:rPr kumimoji="0" lang="zh-CN" altLang="en-US" sz="1800">
                <a:solidFill>
                  <a:srgbClr val="2A2A39"/>
                </a:solidFill>
              </a:rPr>
              <a:t>以及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instructor,student,project</a:t>
            </a:r>
            <a:r>
              <a:rPr kumimoji="0" lang="zh-CN" altLang="en-US" sz="1800">
                <a:solidFill>
                  <a:srgbClr val="2A2A39"/>
                </a:solidFill>
              </a:rPr>
              <a:t>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看着是一个具有复杂构造的实体集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zh-CN" altLang="en-US" sz="1800">
              <a:solidFill>
                <a:srgbClr val="2A2A39"/>
              </a:solidFill>
            </a:endParaRPr>
          </a:p>
        </p:txBody>
      </p:sp>
      <p:sp>
        <p:nvSpPr>
          <p:cNvPr id="509964" name="Rectangle 12"/>
          <p:cNvSpPr>
            <a:spLocks noChangeArrowheads="1"/>
          </p:cNvSpPr>
          <p:nvPr/>
        </p:nvSpPr>
        <p:spPr bwMode="auto">
          <a:xfrm>
            <a:off x="239713" y="2200275"/>
            <a:ext cx="37893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聚集：是一种抽象：</a:t>
            </a:r>
            <a:endParaRPr kumimoji="0" lang="zh-CN" altLang="en-US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它将联系集</a:t>
            </a:r>
            <a:r>
              <a:rPr kumimoji="0" lang="zh-CN" altLang="zh-CN" sz="2000">
                <a:solidFill>
                  <a:schemeClr val="tx2"/>
                </a:solidFill>
              </a:rPr>
              <a:t>（</a:t>
            </a:r>
            <a:r>
              <a:rPr kumimoji="0" lang="zh-CN" altLang="en-US" sz="2000">
                <a:solidFill>
                  <a:schemeClr val="tx2"/>
                </a:solidFill>
              </a:rPr>
              <a:t>及其相关实体集）</a:t>
            </a:r>
            <a:endParaRPr kumimoji="0" lang="en-US" altLang="zh-CN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看着是一个更高层的抽象实体集</a:t>
            </a:r>
            <a:endParaRPr kumimoji="0" lang="en-US" altLang="zh-CN" sz="2000">
              <a:solidFill>
                <a:schemeClr val="tx2"/>
              </a:solidFill>
            </a:endParaRPr>
          </a:p>
        </p:txBody>
      </p:sp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230188" y="5178425"/>
            <a:ext cx="30178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在</a:t>
            </a:r>
            <a:r>
              <a:rPr kumimoji="0" lang="en-US" altLang="zh-CN" sz="2000">
                <a:solidFill>
                  <a:srgbClr val="2A2A39"/>
                </a:solidFill>
              </a:rPr>
              <a:t>proj_guide</a:t>
            </a:r>
            <a:r>
              <a:rPr kumimoji="0" lang="zh-CN" altLang="en-US" sz="2000">
                <a:solidFill>
                  <a:srgbClr val="2A2A39"/>
                </a:solidFill>
              </a:rPr>
              <a:t>抽象实体集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与</a:t>
            </a:r>
            <a:r>
              <a:rPr kumimoji="0" lang="en-US" altLang="zh-CN" sz="2000">
                <a:solidFill>
                  <a:srgbClr val="2A2A39"/>
                </a:solidFill>
              </a:rPr>
              <a:t>evaluation</a:t>
            </a:r>
            <a:r>
              <a:rPr kumimoji="0" lang="zh-CN" altLang="en-US" sz="2000">
                <a:solidFill>
                  <a:srgbClr val="2A2A39"/>
                </a:solidFill>
              </a:rPr>
              <a:t>实体集之间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有多对多联系集</a:t>
            </a:r>
            <a:r>
              <a:rPr kumimoji="0" lang="en-US" altLang="zh-CN" sz="2000">
                <a:solidFill>
                  <a:srgbClr val="0000FF"/>
                </a:solidFill>
              </a:rPr>
              <a:t>eval_for</a:t>
            </a:r>
            <a:endParaRPr kumimoji="0" lang="zh-CN" altLang="en-US" sz="2000">
              <a:solidFill>
                <a:srgbClr val="0000FF"/>
              </a:solidFill>
            </a:endParaRPr>
          </a:p>
        </p:txBody>
      </p:sp>
      <p:grpSp>
        <p:nvGrpSpPr>
          <p:cNvPr id="37896" name="Group 25"/>
          <p:cNvGrpSpPr/>
          <p:nvPr/>
        </p:nvGrpSpPr>
        <p:grpSpPr bwMode="auto">
          <a:xfrm>
            <a:off x="4019550" y="1192213"/>
            <a:ext cx="4862513" cy="5103812"/>
            <a:chOff x="2919" y="1382"/>
            <a:chExt cx="2674" cy="2066"/>
          </a:xfrm>
        </p:grpSpPr>
        <p:grpSp>
          <p:nvGrpSpPr>
            <p:cNvPr id="37898" name="Group 10"/>
            <p:cNvGrpSpPr/>
            <p:nvPr/>
          </p:nvGrpSpPr>
          <p:grpSpPr bwMode="auto">
            <a:xfrm>
              <a:off x="2919" y="1382"/>
              <a:ext cx="2668" cy="1854"/>
              <a:chOff x="2519" y="1121"/>
              <a:chExt cx="2647" cy="2125"/>
            </a:xfrm>
          </p:grpSpPr>
          <p:grpSp>
            <p:nvGrpSpPr>
              <p:cNvPr id="37900" name="Group 8"/>
              <p:cNvGrpSpPr/>
              <p:nvPr/>
            </p:nvGrpSpPr>
            <p:grpSpPr bwMode="auto">
              <a:xfrm>
                <a:off x="2519" y="1121"/>
                <a:ext cx="2647" cy="2125"/>
                <a:chOff x="2519" y="1121"/>
                <a:chExt cx="2647" cy="2125"/>
              </a:xfrm>
            </p:grpSpPr>
            <p:pic>
              <p:nvPicPr>
                <p:cNvPr id="37902" name="Picture 38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19" y="1121"/>
                  <a:ext cx="2647" cy="21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903" name="Line 7"/>
                <p:cNvSpPr>
                  <a:spLocks noChangeShapeType="1"/>
                </p:cNvSpPr>
                <p:nvPr/>
              </p:nvSpPr>
              <p:spPr bwMode="auto">
                <a:xfrm>
                  <a:off x="3865" y="2088"/>
                  <a:ext cx="0" cy="136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prstDash val="sys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901" name="Rectangle 9"/>
              <p:cNvSpPr>
                <a:spLocks noChangeArrowheads="1"/>
              </p:cNvSpPr>
              <p:nvPr/>
            </p:nvSpPr>
            <p:spPr bwMode="auto">
              <a:xfrm>
                <a:off x="4932" y="2446"/>
                <a:ext cx="101" cy="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endParaRPr kumimoji="0" lang="zh-CN" altLang="en-US" sz="140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37899" name="Rectangle 24"/>
            <p:cNvSpPr>
              <a:spLocks noChangeArrowheads="1"/>
            </p:cNvSpPr>
            <p:nvPr/>
          </p:nvSpPr>
          <p:spPr bwMode="auto">
            <a:xfrm>
              <a:off x="3435" y="3240"/>
              <a:ext cx="2158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0" lang="en-US" altLang="zh-CN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0" lang="zh-CN" altLang="en-US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kumimoji="0" lang="zh-CN" altLang="en-US" sz="1800">
                  <a:ea typeface="黑体" panose="02010609060101010101" pitchFamily="49" charset="-122"/>
                </a:rPr>
                <a:t>项目评估的</a:t>
              </a:r>
              <a:r>
                <a:rPr kumimoji="0" lang="en-US" altLang="zh-CN" sz="1800">
                  <a:ea typeface="黑体" panose="02010609060101010101" pitchFamily="49" charset="-122"/>
                </a:rPr>
                <a:t>E-R</a:t>
              </a:r>
              <a:r>
                <a:rPr kumimoji="0" lang="zh-CN" altLang="en-US" sz="1800">
                  <a:ea typeface="黑体" panose="02010609060101010101" pitchFamily="49" charset="-122"/>
                </a:rPr>
                <a:t>图</a:t>
              </a:r>
              <a:r>
                <a:rPr kumimoji="0" lang="en-US" altLang="zh-CN" sz="1800">
                  <a:ea typeface="黑体" panose="02010609060101010101" pitchFamily="49" charset="-122"/>
                </a:rPr>
                <a:t>!</a:t>
              </a:r>
              <a:endParaRPr kumimoji="0" lang="zh-CN" altLang="en-US" sz="1800">
                <a:ea typeface="黑体" panose="02010609060101010101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240213" y="4106863"/>
            <a:ext cx="157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联系上的联系</a:t>
            </a:r>
            <a:endParaRPr kumimoji="0" lang="zh-CN" altLang="en-US" sz="18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63" grpId="0"/>
      <p:bldP spid="509964" grpId="0"/>
      <p:bldP spid="509965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9BF015-FA92-44AE-AC48-AC754161C49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9938" name="AutoShape 3"/>
          <p:cNvSpPr>
            <a:spLocks noChangeArrowheads="1"/>
          </p:cNvSpPr>
          <p:nvPr/>
        </p:nvSpPr>
        <p:spPr bwMode="auto">
          <a:xfrm>
            <a:off x="7235825" y="944563"/>
            <a:ext cx="1439863" cy="466725"/>
          </a:xfrm>
          <a:prstGeom prst="cloudCallout">
            <a:avLst>
              <a:gd name="adj1" fmla="val 43495"/>
              <a:gd name="adj2" fmla="val 9966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000">
                <a:latin typeface="Tahoma" panose="020B0604030504040204" charset="0"/>
              </a:rPr>
              <a:t>你能解释</a:t>
            </a:r>
            <a:r>
              <a:rPr kumimoji="0" lang="en-US" altLang="zh-CN" sz="1000">
                <a:latin typeface="Tahoma" panose="020B0604030504040204" charset="0"/>
              </a:rPr>
              <a:t>E-R</a:t>
            </a:r>
            <a:r>
              <a:rPr kumimoji="0" lang="zh-CN" altLang="en-US" sz="1000">
                <a:latin typeface="Tahoma" panose="020B0604030504040204" charset="0"/>
              </a:rPr>
              <a:t>图中各要素吗？</a:t>
            </a:r>
            <a:endParaRPr kumimoji="0" lang="zh-CN" altLang="en-US" sz="1000">
              <a:latin typeface="Tahoma" panose="020B0604030504040204" charset="0"/>
            </a:endParaRPr>
          </a:p>
        </p:txBody>
      </p:sp>
      <p:sp>
        <p:nvSpPr>
          <p:cNvPr id="39939" name="Rectangle 41"/>
          <p:cNvSpPr>
            <a:spLocks noChangeArrowheads="1"/>
          </p:cNvSpPr>
          <p:nvPr/>
        </p:nvSpPr>
        <p:spPr bwMode="auto">
          <a:xfrm>
            <a:off x="1171575" y="46038"/>
            <a:ext cx="77724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0" name="Group 39"/>
          <p:cNvGrpSpPr/>
          <p:nvPr/>
        </p:nvGrpSpPr>
        <p:grpSpPr bwMode="auto">
          <a:xfrm>
            <a:off x="288925" y="873125"/>
            <a:ext cx="8712200" cy="5508625"/>
            <a:chOff x="136" y="550"/>
            <a:chExt cx="5488" cy="3470"/>
          </a:xfrm>
        </p:grpSpPr>
        <p:grpSp>
          <p:nvGrpSpPr>
            <p:cNvPr id="39943" name="Group 35"/>
            <p:cNvGrpSpPr/>
            <p:nvPr/>
          </p:nvGrpSpPr>
          <p:grpSpPr bwMode="auto">
            <a:xfrm>
              <a:off x="136" y="550"/>
              <a:ext cx="5488" cy="3470"/>
              <a:chOff x="136" y="550"/>
              <a:chExt cx="5488" cy="3470"/>
            </a:xfrm>
          </p:grpSpPr>
          <p:pic>
            <p:nvPicPr>
              <p:cNvPr id="39946" name="Picture 3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025" t="560" r="13025" b="841"/>
              <a:stretch>
                <a:fillRect/>
              </a:stretch>
            </p:blipFill>
            <p:spPr bwMode="auto">
              <a:xfrm>
                <a:off x="136" y="550"/>
                <a:ext cx="5488" cy="3470"/>
              </a:xfrm>
              <a:prstGeom prst="rect">
                <a:avLst/>
              </a:prstGeom>
              <a:noFill/>
              <a:ln w="38100" cmpd="dbl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947" name="AutoShape 8"/>
              <p:cNvSpPr>
                <a:spLocks noChangeArrowheads="1"/>
              </p:cNvSpPr>
              <p:nvPr/>
            </p:nvSpPr>
            <p:spPr bwMode="auto">
              <a:xfrm>
                <a:off x="273" y="835"/>
                <a:ext cx="559" cy="299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0">
                    <a:latin typeface="Tahoma" panose="020B0604030504040204" charset="0"/>
                  </a:rPr>
                  <a:t>emp_branch</a:t>
                </a:r>
                <a:endParaRPr kumimoji="0" lang="en-US" altLang="zh-CN" sz="1000" b="0">
                  <a:latin typeface="Tahoma" panose="020B0604030504040204" charset="0"/>
                </a:endParaRPr>
              </a:p>
            </p:txBody>
          </p:sp>
          <p:sp>
            <p:nvSpPr>
              <p:cNvPr id="39948" name="Line 9"/>
              <p:cNvSpPr>
                <a:spLocks noChangeShapeType="1"/>
              </p:cNvSpPr>
              <p:nvPr/>
            </p:nvSpPr>
            <p:spPr bwMode="auto">
              <a:xfrm flipH="1">
                <a:off x="141" y="3179"/>
                <a:ext cx="766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49" name="Line 10"/>
              <p:cNvSpPr>
                <a:spLocks noChangeShapeType="1"/>
              </p:cNvSpPr>
              <p:nvPr/>
            </p:nvSpPr>
            <p:spPr bwMode="auto">
              <a:xfrm flipH="1" flipV="1">
                <a:off x="141" y="984"/>
                <a:ext cx="5" cy="2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0" name="Line 11"/>
              <p:cNvSpPr>
                <a:spLocks noChangeShapeType="1"/>
              </p:cNvSpPr>
              <p:nvPr/>
            </p:nvSpPr>
            <p:spPr bwMode="auto">
              <a:xfrm>
                <a:off x="141" y="984"/>
                <a:ext cx="1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1" name="Line 12"/>
              <p:cNvSpPr>
                <a:spLocks noChangeShapeType="1"/>
              </p:cNvSpPr>
              <p:nvPr/>
            </p:nvSpPr>
            <p:spPr bwMode="auto">
              <a:xfrm>
                <a:off x="826" y="984"/>
                <a:ext cx="10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2" name="Rectangle 13"/>
              <p:cNvSpPr>
                <a:spLocks noChangeArrowheads="1"/>
              </p:cNvSpPr>
              <p:nvPr/>
            </p:nvSpPr>
            <p:spPr bwMode="auto">
              <a:xfrm>
                <a:off x="2784" y="2261"/>
                <a:ext cx="48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客户贷款额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3" name="Rectangle 14"/>
              <p:cNvSpPr>
                <a:spLocks noChangeArrowheads="1"/>
              </p:cNvSpPr>
              <p:nvPr/>
            </p:nvSpPr>
            <p:spPr bwMode="auto">
              <a:xfrm>
                <a:off x="772" y="3020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银行员工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4" name="Rectangle 15"/>
              <p:cNvSpPr>
                <a:spLocks noChangeArrowheads="1"/>
              </p:cNvSpPr>
              <p:nvPr/>
            </p:nvSpPr>
            <p:spPr bwMode="auto">
              <a:xfrm>
                <a:off x="489" y="2148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银行客户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5" name="Rectangle 16"/>
              <p:cNvSpPr>
                <a:spLocks noChangeArrowheads="1"/>
              </p:cNvSpPr>
              <p:nvPr/>
            </p:nvSpPr>
            <p:spPr bwMode="auto">
              <a:xfrm>
                <a:off x="1486" y="1031"/>
                <a:ext cx="66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200">
                    <a:latin typeface="Tahoma" panose="020B0604030504040204" charset="0"/>
                  </a:rPr>
                  <a:t>(</a:t>
                </a:r>
                <a:r>
                  <a:rPr kumimoji="0" lang="zh-CN" altLang="en-US" sz="1200">
                    <a:latin typeface="Tahoma" panose="020B0604030504040204" charset="0"/>
                  </a:rPr>
                  <a:t>各地支行</a:t>
                </a:r>
                <a:r>
                  <a:rPr kumimoji="0" lang="en-US" altLang="zh-CN" sz="1200">
                    <a:latin typeface="Tahoma" panose="020B0604030504040204" charset="0"/>
                  </a:rPr>
                  <a:t>)</a:t>
                </a:r>
                <a:r>
                  <a:rPr kumimoji="0" lang="zh-CN" altLang="en-US" sz="1200">
                    <a:latin typeface="Tahoma" panose="020B0604030504040204" charset="0"/>
                  </a:rPr>
                  <a:t>银行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6" name="Rectangle 18"/>
              <p:cNvSpPr>
                <a:spLocks noChangeArrowheads="1"/>
              </p:cNvSpPr>
              <p:nvPr/>
            </p:nvSpPr>
            <p:spPr bwMode="auto">
              <a:xfrm>
                <a:off x="4858" y="2931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7" name="Rectangle 19"/>
              <p:cNvSpPr>
                <a:spLocks noChangeArrowheads="1"/>
              </p:cNvSpPr>
              <p:nvPr/>
            </p:nvSpPr>
            <p:spPr bwMode="auto">
              <a:xfrm>
                <a:off x="5136" y="2153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支票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8" name="Rectangle 20"/>
              <p:cNvSpPr>
                <a:spLocks noChangeArrowheads="1"/>
              </p:cNvSpPr>
              <p:nvPr/>
            </p:nvSpPr>
            <p:spPr bwMode="auto">
              <a:xfrm>
                <a:off x="5154" y="1785"/>
                <a:ext cx="432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支票透支金额</a:t>
                </a:r>
                <a:endParaRPr kumimoji="0" lang="zh-CN" altLang="en-US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59" name="Rectangle 21"/>
              <p:cNvSpPr>
                <a:spLocks noChangeArrowheads="1"/>
              </p:cNvSpPr>
              <p:nvPr/>
            </p:nvSpPr>
            <p:spPr bwMode="auto">
              <a:xfrm>
                <a:off x="255" y="726"/>
                <a:ext cx="57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员工所属银行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0" name="Rectangle 22"/>
              <p:cNvSpPr>
                <a:spLocks noChangeArrowheads="1"/>
              </p:cNvSpPr>
              <p:nvPr/>
            </p:nvSpPr>
            <p:spPr bwMode="auto">
              <a:xfrm>
                <a:off x="4129" y="633"/>
                <a:ext cx="28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开户行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1" name="Rectangle 23"/>
              <p:cNvSpPr>
                <a:spLocks noChangeArrowheads="1"/>
              </p:cNvSpPr>
              <p:nvPr/>
            </p:nvSpPr>
            <p:spPr bwMode="auto">
              <a:xfrm>
                <a:off x="3110" y="3086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存款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2" name="Rectangle 24"/>
              <p:cNvSpPr>
                <a:spLocks noChangeArrowheads="1"/>
              </p:cNvSpPr>
              <p:nvPr/>
            </p:nvSpPr>
            <p:spPr bwMode="auto">
              <a:xfrm>
                <a:off x="2123" y="1902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借款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3" name="Rectangle 25"/>
              <p:cNvSpPr>
                <a:spLocks noChangeArrowheads="1"/>
              </p:cNvSpPr>
              <p:nvPr/>
            </p:nvSpPr>
            <p:spPr bwMode="auto">
              <a:xfrm>
                <a:off x="680" y="2686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服务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4" name="Rectangle 26"/>
              <p:cNvSpPr>
                <a:spLocks noChangeArrowheads="1"/>
              </p:cNvSpPr>
              <p:nvPr/>
            </p:nvSpPr>
            <p:spPr bwMode="auto">
              <a:xfrm>
                <a:off x="1796" y="2599"/>
                <a:ext cx="607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投资理财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,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大客户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,…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5" name="Rectangle 27"/>
              <p:cNvSpPr>
                <a:spLocks noChangeArrowheads="1"/>
              </p:cNvSpPr>
              <p:nvPr/>
            </p:nvSpPr>
            <p:spPr bwMode="auto">
              <a:xfrm>
                <a:off x="4455" y="2317"/>
                <a:ext cx="488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(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一类特殊贷款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)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6" name="Rectangle 28"/>
              <p:cNvSpPr>
                <a:spLocks noChangeArrowheads="1"/>
              </p:cNvSpPr>
              <p:nvPr/>
            </p:nvSpPr>
            <p:spPr bwMode="auto">
              <a:xfrm>
                <a:off x="2606" y="1296"/>
                <a:ext cx="28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借贷行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7" name="Rectangle 29"/>
              <p:cNvSpPr>
                <a:spLocks noChangeArrowheads="1"/>
              </p:cNvSpPr>
              <p:nvPr/>
            </p:nvSpPr>
            <p:spPr bwMode="auto">
              <a:xfrm>
                <a:off x="3910" y="2396"/>
                <a:ext cx="344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(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支票借贷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)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8" name="Rectangle 33"/>
              <p:cNvSpPr>
                <a:spLocks noChangeArrowheads="1"/>
              </p:cNvSpPr>
              <p:nvPr/>
            </p:nvSpPr>
            <p:spPr bwMode="auto">
              <a:xfrm>
                <a:off x="3442" y="336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现金账户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9" name="Rectangle 34"/>
              <p:cNvSpPr>
                <a:spLocks noChangeArrowheads="1"/>
              </p:cNvSpPr>
              <p:nvPr/>
            </p:nvSpPr>
            <p:spPr bwMode="auto">
              <a:xfrm>
                <a:off x="5035" y="336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支票账户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</p:grpSp>
        <p:sp>
          <p:nvSpPr>
            <p:cNvPr id="39944" name="Rectangle 37"/>
            <p:cNvSpPr>
              <a:spLocks noChangeArrowheads="1"/>
            </p:cNvSpPr>
            <p:nvPr/>
          </p:nvSpPr>
          <p:spPr bwMode="auto">
            <a:xfrm>
              <a:off x="4296" y="312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400" b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kumimoji="0" lang="en-US" altLang="zh-CN" sz="1400" b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45" name="Rectangle 38"/>
            <p:cNvSpPr>
              <a:spLocks noChangeArrowheads="1"/>
            </p:cNvSpPr>
            <p:nvPr/>
          </p:nvSpPr>
          <p:spPr bwMode="auto">
            <a:xfrm>
              <a:off x="3765" y="3045"/>
              <a:ext cx="3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</a:rPr>
                <a:t>不相交</a:t>
              </a:r>
              <a:endParaRPr kumimoji="0" lang="zh-CN" altLang="en-US" sz="1000" b="0">
                <a:solidFill>
                  <a:schemeClr val="tx2"/>
                </a:solidFill>
              </a:endParaRPr>
            </a:p>
          </p:txBody>
        </p:sp>
      </p:grpSp>
      <p:sp>
        <p:nvSpPr>
          <p:cNvPr id="39941" name="Rectangle 84"/>
          <p:cNvSpPr>
            <a:spLocks noChangeArrowheads="1"/>
          </p:cNvSpPr>
          <p:nvPr/>
        </p:nvSpPr>
        <p:spPr bwMode="auto">
          <a:xfrm>
            <a:off x="469900" y="152400"/>
            <a:ext cx="6365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</a:t>
            </a: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2400">
              <a:solidFill>
                <a:srgbClr val="892D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2" name="矩形 2"/>
          <p:cNvSpPr>
            <a:spLocks noChangeArrowheads="1"/>
          </p:cNvSpPr>
          <p:nvPr/>
        </p:nvSpPr>
        <p:spPr bwMode="auto">
          <a:xfrm>
            <a:off x="3838575" y="5691188"/>
            <a:ext cx="1338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0" lang="en-US" altLang="zh-CN" sz="2000">
              <a:solidFill>
                <a:srgbClr val="54547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银行</a:t>
            </a:r>
            <a:r>
              <a:rPr kumimoji="0" lang="en-US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2000">
              <a:solidFill>
                <a:srgbClr val="54547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内容占位符 1"/>
          <p:cNvSpPr>
            <a:spLocks noGrp="1"/>
          </p:cNvSpPr>
          <p:nvPr>
            <p:ph idx="1"/>
          </p:nvPr>
        </p:nvSpPr>
        <p:spPr>
          <a:xfrm>
            <a:off x="669123" y="1648267"/>
            <a:ext cx="8123237" cy="4114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某公司有若干部门，每个部门有包括了多个工作组，工作组编号为：工作</a:t>
            </a:r>
            <a:r>
              <a:rPr lang="en-US" altLang="zh-CN" sz="2800" b="1">
                <a:sym typeface="+mn-ea"/>
              </a:rPr>
              <a:t>1</a:t>
            </a:r>
            <a:r>
              <a:rPr lang="zh-CN" altLang="en-US" sz="2800" b="1">
                <a:sym typeface="+mn-ea"/>
              </a:rPr>
              <a:t>组，工作</a:t>
            </a:r>
            <a:r>
              <a:rPr lang="en-US" altLang="zh-CN" sz="2800" b="1">
                <a:sym typeface="+mn-ea"/>
              </a:rPr>
              <a:t>2</a:t>
            </a:r>
            <a:r>
              <a:rPr lang="zh-CN" altLang="en-US" sz="2800" b="1">
                <a:sym typeface="+mn-ea"/>
              </a:rPr>
              <a:t>组，</a:t>
            </a:r>
            <a:r>
              <a:rPr lang="en-US" altLang="zh-CN" sz="2800" b="1">
                <a:sym typeface="+mn-ea"/>
              </a:rPr>
              <a:t>…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每个员工属于一个工作组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一个工作组可以有多个员工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每个工作组都可以负责多个项目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一个项目只能由一个工作组负责</a:t>
            </a:r>
            <a:endParaRPr lang="zh-CN" altLang="en-US" sz="2800" b="1"/>
          </a:p>
          <a:p>
            <a:pPr>
              <a:buFontTx/>
              <a:buNone/>
            </a:pPr>
            <a:r>
              <a:rPr kumimoji="0" lang="zh-CN" altLang="en-US" sz="2800" b="1" dirty="0"/>
              <a:t>画出</a:t>
            </a:r>
            <a:r>
              <a:rPr kumimoji="0" lang="en-US" altLang="zh-CN" sz="2800" b="1" dirty="0"/>
              <a:t>E-R</a:t>
            </a:r>
            <a:r>
              <a:rPr kumimoji="0" lang="zh-CN" altLang="en-US" sz="2800" b="1" dirty="0"/>
              <a:t>图。</a:t>
            </a:r>
            <a:endParaRPr kumimoji="0" lang="zh-CN" altLang="en-US" sz="2800" b="1" dirty="0"/>
          </a:p>
          <a:p>
            <a:endParaRPr kumimoji="0" lang="zh-CN" altLang="en-US" sz="2800" b="1" dirty="0"/>
          </a:p>
        </p:txBody>
      </p:sp>
      <p:sp>
        <p:nvSpPr>
          <p:cNvPr id="40962" name="标题 2"/>
          <p:cNvSpPr>
            <a:spLocks noGrp="1"/>
          </p:cNvSpPr>
          <p:nvPr>
            <p:ph type="title"/>
          </p:nvPr>
        </p:nvSpPr>
        <p:spPr>
          <a:xfrm>
            <a:off x="421850" y="523433"/>
            <a:ext cx="7772400" cy="1143000"/>
          </a:xfrm>
        </p:spPr>
        <p:txBody>
          <a:bodyPr/>
          <a:lstStyle/>
          <a:p>
            <a:r>
              <a:rPr lang="zh-CN" altLang="en-US" dirty="0"/>
              <a:t>随堂小测试</a:t>
            </a:r>
            <a:endParaRPr kumimoji="0"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FA78ED-5728-4BD1-8BCB-358479126C63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/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多值属性</a:t>
            </a:r>
            <a:endParaRPr lang="en-US" altLang="zh-CN" sz="245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复合属性</a:t>
            </a:r>
            <a:endParaRPr lang="en-US" altLang="zh-CN" sz="245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特化与概化</a:t>
            </a:r>
            <a:endParaRPr lang="zh-CN" altLang="en-US" sz="2450" noProof="1"/>
          </a:p>
          <a:p>
            <a:pPr marL="1066800" lvl="1" indent="-609600"/>
            <a:r>
              <a:rPr lang="zh-CN" altLang="en-US" sz="2450" noProof="1">
                <a:sym typeface="+mn-ea"/>
              </a:rPr>
              <a:t>聚集</a:t>
            </a:r>
            <a:endParaRPr lang="zh-CN" altLang="en-US" sz="2450" noProof="1"/>
          </a:p>
          <a:p>
            <a:pPr marL="609600" indent="-609600"/>
            <a:r>
              <a:rPr lang="zh-CN" altLang="en-US" sz="2800" noProof="1"/>
              <a:t>延展性学习：</a:t>
            </a:r>
            <a:endParaRPr lang="zh-CN" altLang="en-US" sz="2800" noProof="1"/>
          </a:p>
          <a:p>
            <a:pPr marL="1066800" lvl="1" indent="-609600"/>
            <a:r>
              <a:rPr lang="zh-CN" altLang="en-US" sz="2450" noProof="1"/>
              <a:t>如何确定属性的位置</a:t>
            </a:r>
            <a:endParaRPr lang="zh-CN" altLang="en-US" sz="2450" noProof="1"/>
          </a:p>
          <a:p>
            <a:pPr marL="609600" indent="-609600"/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buFontTx/>
              <a:buNone/>
            </a:pPr>
            <a:r>
              <a:rPr lang="en-US" altLang="zh-CN" sz="2400" noProof="1"/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7</a:t>
            </a:r>
            <a:r>
              <a:rPr kumimoji="0" lang="zh-CN" altLang="en-US" sz="2400"/>
              <a:t>章：</a:t>
            </a:r>
            <a:r>
              <a:rPr kumimoji="0" lang="en-US" altLang="zh-CN" sz="2400"/>
              <a:t>7.21</a:t>
            </a:r>
            <a:endParaRPr kumimoji="0" lang="en-US" altLang="zh-CN" sz="2400" dirty="0"/>
          </a:p>
          <a:p>
            <a:pPr marL="990600" lvl="1" indent="-533400">
              <a:buFontTx/>
              <a:buNone/>
            </a:pPr>
            <a:endParaRPr lang="zh-CN" altLang="en-US" sz="2400" noProof="1">
              <a:solidFill>
                <a:srgbClr val="FF0000"/>
              </a:solidFill>
            </a:endParaRPr>
          </a:p>
          <a:p>
            <a:pPr marL="609600" indent="-609600"/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130264a3-c673-4956-bca2-a0f6454140f4"/>
  <p:tag name="COMMONDATA" val="eyJoZGlkIjoiZjhjYzFlMzY2NzEzZGU1MWExNDI1Zjc4ZTVjZjA3MmQifQ==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3548</Words>
  <Application>WPS 演示</Application>
  <PresentationFormat>全屏显示(4:3)</PresentationFormat>
  <Paragraphs>687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黑体</vt:lpstr>
      <vt:lpstr>Tahoma</vt:lpstr>
      <vt:lpstr>楷体_GB2312</vt:lpstr>
      <vt:lpstr>新宋体</vt:lpstr>
      <vt:lpstr>KSOF3FCF8E91</vt:lpstr>
      <vt:lpstr>AMGDT</vt:lpstr>
      <vt:lpstr>KSOF3FB35F8F</vt:lpstr>
      <vt:lpstr>微软雅黑</vt:lpstr>
      <vt:lpstr>Arial Unicode MS</vt:lpstr>
      <vt:lpstr>Helvetica</vt:lpstr>
      <vt:lpstr>MS PGothic</vt:lpstr>
      <vt:lpstr>Times New Roman</vt:lpstr>
      <vt:lpstr>Wingdings</vt:lpstr>
      <vt:lpstr>楷体_GB2312</vt:lpstr>
      <vt:lpstr>方正楷体_GB2312</vt:lpstr>
      <vt:lpstr>Helvetica LT Pro</vt:lpstr>
      <vt:lpstr>KSOFAED8AD8F</vt:lpstr>
      <vt:lpstr>KSOFD1D2A08D</vt:lpstr>
      <vt:lpstr>KSOF7FC4CF2A</vt:lpstr>
      <vt:lpstr>01069079</vt:lpstr>
      <vt:lpstr>                E-R模型扩展知识</vt:lpstr>
      <vt:lpstr>ER模型</vt:lpstr>
      <vt:lpstr>主要学习目标</vt:lpstr>
      <vt:lpstr>案例1.a：学院对象的表示</vt:lpstr>
      <vt:lpstr>PowerPoint 演示文稿</vt:lpstr>
      <vt:lpstr>方法二：将所有学院看作一个实体集</vt:lpstr>
      <vt:lpstr>案例2：学生成绩的表示</vt:lpstr>
      <vt:lpstr>设计方法一：放在学生实体集中</vt:lpstr>
      <vt:lpstr>设计方法二：放在课程实体集中</vt:lpstr>
      <vt:lpstr>设计方法三：：放在联系上</vt:lpstr>
      <vt:lpstr>案例3：工资和岗位的表示</vt:lpstr>
      <vt:lpstr>案例4: 电话信息的表示</vt:lpstr>
      <vt:lpstr>【例】零件的销售价格是一个多值属性（经销、代销、批发、零售）</vt:lpstr>
      <vt:lpstr>PowerPoint 演示文稿</vt:lpstr>
      <vt:lpstr>案例5：选课信息的表示</vt:lpstr>
      <vt:lpstr>案例6：家属（爱人）信息的表示</vt:lpstr>
      <vt:lpstr>案例7:父母关系的表示</vt:lpstr>
      <vt:lpstr>案例8:教师指导学生做项目的表示</vt:lpstr>
      <vt:lpstr>二 扩展E-R模型</vt:lpstr>
      <vt:lpstr>相交与不相交特化的另一示例</vt:lpstr>
      <vt:lpstr>2.2 聚集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第5讲：                     E-R模型扩展知识</dc:title>
  <dc:creator>Microsoft Office 用户</dc:creator>
  <cp:lastModifiedBy>O₂</cp:lastModifiedBy>
  <cp:revision>26</cp:revision>
  <dcterms:created xsi:type="dcterms:W3CDTF">2017-03-06T07:45:00Z</dcterms:created>
  <dcterms:modified xsi:type="dcterms:W3CDTF">2026-06-02T08:04:00Z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BCEBBD2CF78F4E1CA499679018A05BE1</vt:lpwstr>
  </property>
  <property fmtid="{D5CDD505-2E9C-101B-9397-08002B2CF9AE}" pid="4" name="KSOProductBuildVer">
    <vt:lpwstr>2052-12.1.0.26375</vt:lpwstr>
  </property>
</Properties>
</file>