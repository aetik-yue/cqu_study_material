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4"/>
  </p:notesMasterIdLst>
  <p:handoutMasterIdLst>
    <p:handoutMasterId r:id="rId111"/>
  </p:handoutMasterIdLst>
  <p:sldIdLst>
    <p:sldId id="270" r:id="rId3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358" r:id="rId19"/>
    <p:sldId id="359" r:id="rId20"/>
    <p:sldId id="285" r:id="rId21"/>
    <p:sldId id="286" r:id="rId22"/>
    <p:sldId id="287" r:id="rId23"/>
    <p:sldId id="288" r:id="rId24"/>
    <p:sldId id="289" r:id="rId25"/>
    <p:sldId id="290" r:id="rId26"/>
    <p:sldId id="334" r:id="rId27"/>
    <p:sldId id="335" r:id="rId28"/>
    <p:sldId id="291" r:id="rId29"/>
    <p:sldId id="292" r:id="rId30"/>
    <p:sldId id="293" r:id="rId31"/>
    <p:sldId id="294" r:id="rId32"/>
    <p:sldId id="295" r:id="rId33"/>
    <p:sldId id="296" r:id="rId34"/>
    <p:sldId id="361" r:id="rId35"/>
    <p:sldId id="336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62" r:id="rId45"/>
    <p:sldId id="363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6" r:id="rId56"/>
    <p:sldId id="315" r:id="rId57"/>
    <p:sldId id="318" r:id="rId58"/>
    <p:sldId id="317" r:id="rId59"/>
    <p:sldId id="366" r:id="rId60"/>
    <p:sldId id="364" r:id="rId61"/>
    <p:sldId id="365" r:id="rId62"/>
    <p:sldId id="319" r:id="rId63"/>
    <p:sldId id="320" r:id="rId64"/>
    <p:sldId id="321" r:id="rId65"/>
    <p:sldId id="322" r:id="rId66"/>
    <p:sldId id="338" r:id="rId67"/>
    <p:sldId id="323" r:id="rId68"/>
    <p:sldId id="369" r:id="rId69"/>
    <p:sldId id="370" r:id="rId70"/>
    <p:sldId id="368" r:id="rId71"/>
    <p:sldId id="367" r:id="rId72"/>
    <p:sldId id="324" r:id="rId73"/>
    <p:sldId id="371" r:id="rId74"/>
    <p:sldId id="372" r:id="rId75"/>
    <p:sldId id="325" r:id="rId76"/>
    <p:sldId id="373" r:id="rId77"/>
    <p:sldId id="326" r:id="rId78"/>
    <p:sldId id="327" r:id="rId79"/>
    <p:sldId id="328" r:id="rId80"/>
    <p:sldId id="329" r:id="rId81"/>
    <p:sldId id="374" r:id="rId82"/>
    <p:sldId id="375" r:id="rId83"/>
    <p:sldId id="331" r:id="rId84"/>
    <p:sldId id="409" r:id="rId85"/>
    <p:sldId id="410" r:id="rId86"/>
    <p:sldId id="332" r:id="rId87"/>
    <p:sldId id="343" r:id="rId88"/>
    <p:sldId id="344" r:id="rId89"/>
    <p:sldId id="376" r:id="rId90"/>
    <p:sldId id="345" r:id="rId91"/>
    <p:sldId id="340" r:id="rId92"/>
    <p:sldId id="346" r:id="rId93"/>
    <p:sldId id="347" r:id="rId94"/>
    <p:sldId id="348" r:id="rId95"/>
    <p:sldId id="341" r:id="rId96"/>
    <p:sldId id="349" r:id="rId97"/>
    <p:sldId id="350" r:id="rId98"/>
    <p:sldId id="351" r:id="rId99"/>
    <p:sldId id="352" r:id="rId100"/>
    <p:sldId id="339" r:id="rId101"/>
    <p:sldId id="353" r:id="rId102"/>
    <p:sldId id="354" r:id="rId103"/>
    <p:sldId id="355" r:id="rId104"/>
    <p:sldId id="342" r:id="rId105"/>
    <p:sldId id="377" r:id="rId106"/>
    <p:sldId id="356" r:id="rId107"/>
    <p:sldId id="357" r:id="rId108"/>
    <p:sldId id="333" r:id="rId109"/>
    <p:sldId id="407" r:id="rId110"/>
  </p:sldIdLst>
  <p:sldSz cx="9144000" cy="6858000" type="screen4x3"/>
  <p:notesSz cx="7099300" cy="10234295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FF0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82316" autoAdjust="0"/>
  </p:normalViewPr>
  <p:slideViewPr>
    <p:cSldViewPr snapToObjects="1" showGuides="1">
      <p:cViewPr varScale="1">
        <p:scale>
          <a:sx n="58" d="100"/>
          <a:sy n="58" d="100"/>
        </p:scale>
        <p:origin x="145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4" Type="http://schemas.openxmlformats.org/officeDocument/2006/relationships/tableStyles" Target="tableStyles.xml"/><Relationship Id="rId113" Type="http://schemas.openxmlformats.org/officeDocument/2006/relationships/viewProps" Target="viewProps.xml"/><Relationship Id="rId112" Type="http://schemas.openxmlformats.org/officeDocument/2006/relationships/presProps" Target="presProps.xml"/><Relationship Id="rId111" Type="http://schemas.openxmlformats.org/officeDocument/2006/relationships/handoutMaster" Target="handoutMasters/handoutMaster1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  <a:endParaRPr lang="en-AU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96825D54-61A1-4F90-A6D0-E1B13E3F0F94}" type="datetime3">
              <a:rPr lang="en-AU" altLang="zh-CN"/>
            </a:fld>
            <a:endParaRPr lang="en-AU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  <a:endParaRPr lang="en-AU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6E5A04D8-CB1E-42D6-AEEB-25B5B188BE2B}" type="slidenum">
              <a:rPr lang="en-AU" altLang="zh-CN"/>
            </a:fld>
            <a:endParaRPr lang="en-AU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  <a:endParaRPr lang="en-A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A8C06EAF-5CA1-41B1-9748-081226C38632}" type="datetime3">
              <a:rPr lang="en-AU" altLang="zh-CN"/>
            </a:fld>
            <a:endParaRPr lang="en-AU" altLang="zh-CN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AU" noProof="0" smtClean="0"/>
              <a:t>Click to edit Master text styles</a:t>
            </a:r>
            <a:endParaRPr lang="en-AU" noProof="0" smtClean="0"/>
          </a:p>
          <a:p>
            <a:pPr lvl="1"/>
            <a:r>
              <a:rPr lang="en-AU" noProof="0" smtClean="0"/>
              <a:t>Second level</a:t>
            </a:r>
            <a:endParaRPr lang="en-AU" noProof="0" smtClean="0"/>
          </a:p>
          <a:p>
            <a:pPr lvl="2"/>
            <a:r>
              <a:rPr lang="en-AU" noProof="0" smtClean="0"/>
              <a:t>Third level</a:t>
            </a:r>
            <a:endParaRPr lang="en-AU" noProof="0" smtClean="0"/>
          </a:p>
          <a:p>
            <a:pPr lvl="3"/>
            <a:r>
              <a:rPr lang="en-AU" noProof="0" smtClean="0"/>
              <a:t>Fourth level</a:t>
            </a:r>
            <a:endParaRPr lang="en-AU" noProof="0" smtClean="0"/>
          </a:p>
          <a:p>
            <a:pPr lvl="4"/>
            <a:r>
              <a:rPr lang="en-AU" noProof="0" smtClean="0"/>
              <a:t>Fifth level</a:t>
            </a:r>
            <a:endParaRPr lang="en-AU" noProof="0" smtClean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  <a:endParaRPr lang="en-AU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24206FFA-0B2B-49BB-83F3-A3ACB40C6167}" type="slidenum">
              <a:rPr lang="en-AU" altLang="zh-CN"/>
            </a:fld>
            <a:endParaRPr lang="en-AU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2F1D44-4FF2-454B-A8CC-AB0BF1BED0C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05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05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044309-BE55-4817-80D0-4426C985863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05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4A39A1-D1DC-4C0E-89DB-9689D1DD331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16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16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7990F0-1E50-4877-BEF1-C65518D8C48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16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F83FAB-0AAF-4CFB-8A5C-246180DCBA9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26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26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75171E-6053-46E8-AC26-B6807282CD9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26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Induction variable (loop iteration variable)</a:t>
            </a: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3AF7FE-A7D3-4334-A230-75DC890080F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36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36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ABDECA-2B88-44E8-84BB-B34564C6115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36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AD0B96-CAA6-4D79-A0FC-1FFC60DBB85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46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46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A529E9-72F2-4907-8F42-556932606CC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46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DADEAC-C942-492D-8474-6B8C8B73AB7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57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57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198C38-76E8-4B0E-8B3C-A20CC31A08E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57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79443A-2278-4D13-92A0-C3849A25BA9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67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1919EA-A7F3-43EC-9162-A2E8AB60858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67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B06BF3-CA45-4562-BB0B-87798DF51698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77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77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79EF0D-6FE8-4726-8E6A-AF012B90338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77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Cache </a:t>
            </a:r>
            <a:r>
              <a:rPr lang="zh-CN" altLang="en-US" dirty="0" smtClean="0"/>
              <a:t>需要管理</a:t>
            </a:r>
            <a:r>
              <a:rPr lang="zh-CN" altLang="en-US" baseline="0" dirty="0" smtClean="0"/>
              <a:t> 每个块中缓存的内存块的信息？ </a:t>
            </a:r>
            <a:r>
              <a:rPr lang="en-US" altLang="zh-CN" baseline="0" dirty="0" smtClean="0"/>
              <a:t>Tag </a:t>
            </a:r>
            <a:endParaRPr lang="en-US" altLang="zh-CN" baseline="0" dirty="0" smtClean="0"/>
          </a:p>
          <a:p>
            <a:r>
              <a:rPr lang="en-US" baseline="0" dirty="0" smtClean="0"/>
              <a:t>                </a:t>
            </a:r>
            <a:r>
              <a:rPr lang="zh-CN" altLang="en-US" baseline="0" dirty="0" smtClean="0"/>
              <a:t>缓存中的块是否有效？</a:t>
            </a:r>
            <a:r>
              <a:rPr lang="en-US" baseline="0" dirty="0" smtClean="0"/>
              <a:t>      Valid bit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88E9FD-54F7-4691-ABA9-D7A89F79B24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87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87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5F6BFA-6EF5-4A74-AE46-C0DA022131B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87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8 </a:t>
            </a:r>
            <a:r>
              <a:rPr lang="zh-CN" altLang="en-US" dirty="0" smtClean="0"/>
              <a:t>块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5EE384-AC79-422A-A7E3-09C7B44DE68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98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198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A18FA8-52C5-4AE7-BE7F-2A3FE942366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198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1D991B-3943-46AB-B2B8-D9D8CD675C6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08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08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793EB1-E7A1-4E89-9E47-A8F3B1B2228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08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A115A3-4030-475E-9BB4-7A16602E5C20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18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18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447A5E-6067-4AD7-B490-BB6AB632896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18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CE2B70-8F4A-4E8D-BCCA-A793031139D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28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8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FB3A1B-3147-4DE9-AD11-06C3A51BDA3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28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1BF484-96C7-4022-8F0F-691E3E0F93D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39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39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055B99-D832-4714-A577-AF4A89FE0BE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39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9B9792-EB09-4681-B2CD-E9BF5DD5B92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49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49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35E0D1-3993-413E-8BE2-E56B5FC992D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49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地址的分段方式 </a:t>
            </a:r>
            <a:r>
              <a:rPr lang="en-US" altLang="zh-CN" dirty="0" smtClean="0"/>
              <a:t>1K</a:t>
            </a:r>
            <a:r>
              <a:rPr lang="en-US" altLang="zh-CN" baseline="0" dirty="0" smtClean="0"/>
              <a:t> Word = 4KB </a:t>
            </a:r>
            <a:r>
              <a:rPr lang="zh-CN" altLang="en-US" baseline="0" dirty="0" smtClean="0"/>
              <a:t>的地址组织方式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en-US" altLang="zh-CN" dirty="0" smtClean="0"/>
              <a:t>Cache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中的数据表中的每个段的大小的设置问题。？？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 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zh-CN" altLang="en-US" dirty="0" smtClean="0"/>
              <a:t>假定 </a:t>
            </a:r>
            <a:r>
              <a:rPr lang="en-US" altLang="zh-CN" dirty="0" smtClean="0"/>
              <a:t>Cache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中的数据表中的每个段的大小</a:t>
            </a:r>
            <a:endParaRPr lang="en-US" altLang="zh-CN" baseline="0" dirty="0" smtClean="0"/>
          </a:p>
          <a:p>
            <a:r>
              <a:rPr lang="en-US" altLang="zh-CN" baseline="0" dirty="0" smtClean="0"/>
              <a:t> 15% </a:t>
            </a:r>
            <a:r>
              <a:rPr lang="zh-CN" altLang="en-US" baseline="0" dirty="0" smtClean="0"/>
              <a:t>的数据用以存放</a:t>
            </a:r>
            <a:r>
              <a:rPr lang="en-US" altLang="zh-CN" baseline="0" dirty="0" smtClean="0"/>
              <a:t>Tag </a:t>
            </a:r>
            <a:r>
              <a:rPr lang="zh-CN" altLang="en-US" baseline="0" dirty="0" smtClean="0"/>
              <a:t>和 </a:t>
            </a:r>
            <a:r>
              <a:rPr lang="en-US" altLang="zh-CN" baseline="0" dirty="0" smtClean="0"/>
              <a:t>Valid bit </a:t>
            </a:r>
            <a:r>
              <a:rPr lang="zh-CN" altLang="en-US" baseline="0" dirty="0" smtClean="0"/>
              <a:t>信息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ABA85B-805F-464B-A545-56AAD484C2F7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59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59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EC3F2F-A1CB-452E-911A-0775697A853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59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0774ED-7F75-4AF4-8DC8-820BA6B2CE6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69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69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BCD616-2C07-46D0-B8A3-6037315A78D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69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zh-CN" sz="1200" dirty="0" smtClean="0">
                <a:solidFill>
                  <a:srgbClr val="FF0000"/>
                </a:solidFill>
                <a:sym typeface="Symbol" panose="05050102010706020507" pitchFamily="18" charset="2"/>
              </a:rPr>
              <a:t>Early restart:</a:t>
            </a:r>
            <a:r>
              <a:rPr lang="en-US" altLang="zh-CN" sz="1200" baseline="0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1200" baseline="0" dirty="0" smtClean="0">
                <a:solidFill>
                  <a:srgbClr val="FF0000"/>
                </a:solidFill>
                <a:sym typeface="Symbol" panose="05050102010706020507" pitchFamily="18" charset="2"/>
              </a:rPr>
              <a:t>当失效的字取回来之后就，开始返回给</a:t>
            </a:r>
            <a:r>
              <a:rPr lang="en-US" altLang="zh-CN" sz="1200" baseline="0" dirty="0" smtClean="0">
                <a:solidFill>
                  <a:srgbClr val="FF0000"/>
                </a:solidFill>
                <a:sym typeface="Symbol" panose="05050102010706020507" pitchFamily="18" charset="2"/>
              </a:rPr>
              <a:t>CPU,</a:t>
            </a:r>
            <a:r>
              <a:rPr lang="zh-CN" altLang="en-US" sz="1200" baseline="0" dirty="0" smtClean="0">
                <a:solidFill>
                  <a:srgbClr val="FF0000"/>
                </a:solidFill>
                <a:sym typeface="Symbol" panose="05050102010706020507" pitchFamily="18" charset="2"/>
              </a:rPr>
              <a:t>不需要等待整个块传回</a:t>
            </a:r>
            <a:endParaRPr lang="en-US" altLang="zh-CN" sz="1200" baseline="0" dirty="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200" baseline="0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1200" dirty="0" smtClean="0">
                <a:solidFill>
                  <a:srgbClr val="FF0000"/>
                </a:solidFill>
                <a:sym typeface="Symbol" panose="05050102010706020507" pitchFamily="18" charset="2"/>
              </a:rPr>
              <a:t>Critical word first</a:t>
            </a:r>
            <a:r>
              <a:rPr lang="zh-CN" altLang="en-US" sz="1200" smtClean="0">
                <a:solidFill>
                  <a:srgbClr val="FF0000"/>
                </a:solidFill>
                <a:sym typeface="Symbol" panose="05050102010706020507" pitchFamily="18" charset="2"/>
              </a:rPr>
              <a:t>： 从新组织内存，优先读取失效的字，然后读取后续的字，之后再从头开始传输。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451118-6DF3-4728-B614-C1800EA4423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80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80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F711A6-C637-4A55-86E0-B5B968BF373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80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A3A4B8-C91B-4093-A06B-B2A90F2307B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90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290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3DE6E9-8FC5-427C-8FEE-DD3AF628623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290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7E39D7-28B0-428F-AA13-87C939053C3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00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0B8EA1-D1B2-4726-B17D-B5A85D0E272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00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without waiting for the block to be written into </a:t>
            </a:r>
            <a:r>
              <a:rPr lang="en-US" altLang="zh-CN" smtClean="0"/>
              <a:t>memory first?</a:t>
            </a:r>
            <a:endParaRPr lang="en-AU" altLang="zh-CN" smtClean="0">
              <a:ea typeface="宋体" panose="02010600030101010101" pitchFamily="2" charset="-122"/>
            </a:endParaRPr>
          </a:p>
          <a:p>
            <a:endParaRPr 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89DD1C-96C7-4B36-A1D5-1DBDAD8A1E4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10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10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1D669B-0FBD-4121-894F-8502DFB82AB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10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861BF3-AA50-4CFA-83B3-B107DAEF37A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21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21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A1CCF5-F003-4B8D-9573-6776E242315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21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BAE821-F3EB-4354-9992-D059EA00444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31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31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578D3A-F2FA-4C06-A491-F1D808B3D52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31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0464C9-339D-47CB-A665-C0E2549B55A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41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41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759E5A-9B16-4DDB-82CC-00057C4AC1C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41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3CE76F-84D7-468B-B9C9-389E4FFA03E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51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51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93C4C8-835F-484D-9B8E-6B93E9F2B75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51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996CF8-E438-4186-BCBB-2F5CAC229CD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61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61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2FDD21-470E-4521-9FEC-FBA5D51B513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61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133CA3-943D-4181-8B7C-E61662651D38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7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72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9767D9-B928-4A79-B0C1-477803A1157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7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C19619-F2D3-4BC9-B8E0-99C14139A77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82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82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C8B61A-5AD3-4103-A410-E5E783DA85C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82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B5E07D-B0B5-4E5B-A0FA-50B1130CB760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92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392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35918-3F04-400E-B47D-D0A85AC2C9B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392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80971A-BABF-47E5-BF6F-D85C0A9EE85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02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02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2B0D4A-D877-4D14-8AF0-B10DFAE24D9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02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2E059-8FF4-440F-8EB2-9B23FABDC96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13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13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0E7983-AC0F-4A87-9808-B40E63199E8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13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162BAC-4E17-41AA-9208-9FFB69E1360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23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23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790A22-E4FB-4935-8942-34E1AE2EFC2E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23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i="1" dirty="0" smtClean="0">
                <a:solidFill>
                  <a:schemeClr val="tx2"/>
                </a:solidFill>
              </a:rPr>
              <a:t>n</a:t>
            </a:r>
            <a:r>
              <a:rPr lang="en-US" altLang="zh-CN" dirty="0" smtClean="0">
                <a:solidFill>
                  <a:schemeClr val="tx2"/>
                </a:solidFill>
              </a:rPr>
              <a:t>-way set associative</a:t>
            </a:r>
            <a:r>
              <a:rPr lang="zh-CN" altLang="en-US" dirty="0" smtClean="0"/>
              <a:t> 多路相联， 组间直接映射，组内全映射方式。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98AE3B-3FF7-4005-A4EE-F911E3E69D0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33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33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DFB0D8-AC6B-4082-9281-7EDCE2899BC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33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FAD783-DF12-4918-87F2-4C6940184C8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43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4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5F49A2-ADE2-42DE-937E-DBB7EFDB50B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4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Cache</a:t>
            </a:r>
            <a:r>
              <a:rPr lang="zh-CN" altLang="en-US" dirty="0" smtClean="0"/>
              <a:t>关联方式，以只有</a:t>
            </a:r>
            <a:r>
              <a:rPr lang="en-US" altLang="zh-CN" dirty="0" smtClean="0"/>
              <a:t>8</a:t>
            </a:r>
            <a:r>
              <a:rPr lang="zh-CN" altLang="en-US" dirty="0" smtClean="0"/>
              <a:t>块为例，可以设置为直接映像，或者两路、四路、八路映像，那种方式更好？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DF379C-3FBA-4D09-AACA-629D79A63CC8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54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54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DB029C-9B19-4855-89B2-9765BAF2759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54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各种映像方式的假定</a:t>
            </a:r>
            <a:r>
              <a:rPr lang="zh-CN" altLang="en-US" baseline="0" dirty="0" smtClean="0"/>
              <a:t> 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5BE9B3-69DB-4FDF-BB10-5264B4C1F76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64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64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238243-091B-4D97-849E-62966CFE3C0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64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1C7B69-25D2-461F-B6B1-794DCAC5711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7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7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3CF517-AEBF-4074-B4CB-975BDA18C725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7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74771-0D2B-45C4-8814-8DC9D9D5742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84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8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14EEC6-633E-4A0C-92E7-8B26F3A54E8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8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相联存储器的原理参见 存储器的工作原理。</a:t>
            </a:r>
            <a:endParaRPr lang="en-US" altLang="zh-CN" dirty="0" smtClean="0"/>
          </a:p>
          <a:p>
            <a:r>
              <a:rPr lang="en-US" altLang="zh-CN" dirty="0" smtClean="0"/>
              <a:t>ternary  ['</a:t>
            </a:r>
            <a:r>
              <a:rPr lang="en-US" altLang="zh-CN" dirty="0" err="1" smtClean="0"/>
              <a:t>ter·na·ry</a:t>
            </a:r>
            <a:r>
              <a:rPr lang="en-US" altLang="zh-CN" dirty="0" smtClean="0"/>
              <a:t> || '</a:t>
            </a:r>
            <a:r>
              <a:rPr lang="en-US" altLang="zh-CN" dirty="0" err="1" smtClean="0"/>
              <a:t>tɜrnərɪ</a:t>
            </a:r>
            <a:r>
              <a:rPr lang="en-US" altLang="zh-CN" dirty="0" smtClean="0"/>
              <a:t> /</a:t>
            </a:r>
            <a:r>
              <a:rPr lang="en-US" altLang="zh-CN" dirty="0" err="1" smtClean="0"/>
              <a:t>tɜ</a:t>
            </a:r>
            <a:r>
              <a:rPr lang="en-US" altLang="zh-CN" dirty="0" smtClean="0"/>
              <a:t>ː-]</a:t>
            </a:r>
            <a:endParaRPr lang="en-US" altLang="zh-CN" dirty="0" smtClean="0"/>
          </a:p>
          <a:p>
            <a:r>
              <a:rPr lang="en-US" altLang="zh-CN" dirty="0" smtClean="0"/>
              <a:t>adj.  </a:t>
            </a:r>
            <a:r>
              <a:rPr lang="zh-CN" altLang="en-US" dirty="0" smtClean="0"/>
              <a:t>三个的</a:t>
            </a:r>
            <a:r>
              <a:rPr lang="en-US" altLang="zh-CN" dirty="0" smtClean="0"/>
              <a:t>, </a:t>
            </a:r>
            <a:r>
              <a:rPr lang="zh-CN" altLang="en-US" dirty="0" smtClean="0"/>
              <a:t>三重的</a:t>
            </a:r>
            <a:r>
              <a:rPr lang="en-US" altLang="zh-CN" dirty="0" smtClean="0"/>
              <a:t>, </a:t>
            </a:r>
            <a:r>
              <a:rPr lang="zh-CN" altLang="en-US" dirty="0" smtClean="0"/>
              <a:t>三个一组的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FD77DD-0A6D-4A9A-9823-38E60F00AD5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95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495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02BCD8-02D5-4397-9436-1E9633DEDE1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495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1936F7-207E-4D3C-BF7E-DEE38BCCD02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05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05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0EE5C-85F0-491F-A898-0859B1EEE530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05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FEB9A3-2299-410E-ABA6-17EDCB89C92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15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15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A6E0B9-9563-42BA-8483-7DD836F2E32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15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70A8B0-3814-4652-BF6E-D33A49D2981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25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2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A25850-AC0A-4B59-AB6C-32D748D58BF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2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407390-DF80-4BBE-84FF-90121C4042C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36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36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E27BD9-4124-4BDC-B031-35AA9961256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36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91253C-2536-4024-8174-23D384521C7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46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4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362C4D-3159-479A-8015-C468F261C4E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4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2A2953-A754-4D14-8A86-B3C36C7BDC6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B55F90-251D-45E3-9B61-61C631FBD45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但基数排序的缺点是不呈现时空局部性，因为在按位对每个数进行排序的过程中，一个数的位置可能发生巨大的变化，所以不能充分利用现代机器缓存提供的优势。同时计数排序作为中间稳定排序的话，不具有原地排序的特点，当内存容量比较宝贵的时候，还是有待商榷。</a:t>
            </a:r>
            <a:endParaRPr lang="zh-CN" altLang="en-US" dirty="0" smtClean="0"/>
          </a:p>
          <a:p>
            <a:r>
              <a:rPr lang="zh-CN" altLang="en-US" dirty="0" smtClean="0"/>
              <a:t> 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C671DC-65CD-48ED-88BD-5ED842D8B5A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66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6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618C8-68E9-4BDA-AD35-CD9651FE4225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6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C8498-37D5-4460-A5FD-56980C6FE0A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77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77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EE8E5F-D4DB-4C6B-9746-BEC3220E7AD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77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0CF1F8-73F1-4DAE-802D-B4BF9B9327A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87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87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5717C2-1847-4066-A308-BC8DCF54ECA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87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13A8C0-D3A3-440F-9434-E6FBCA2D0E9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97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597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895BC4-0012-49ED-80F4-1478FF27502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597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AB733A-1290-4B82-987C-5FAD4670126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07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07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D26A78-4B7B-4303-8E9E-A312C48F6BF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07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CA02A5-4A4D-46E1-B491-5F548FCE8AE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17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17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189763-F44E-43D6-AAA6-D4D814ED42D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17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由于</a:t>
            </a:r>
            <a:r>
              <a:rPr lang="en-US" altLang="zh-CN" dirty="0" err="1" smtClean="0"/>
              <a:t>PageTable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比较大，导致采用纯页式虚拟存储模式较少采用。</a:t>
            </a:r>
            <a:endParaRPr lang="en-US" altLang="zh-CN" baseline="0" dirty="0" smtClean="0"/>
          </a:p>
          <a:p>
            <a:r>
              <a:rPr lang="zh-CN" altLang="en-US" baseline="0" dirty="0" smtClean="0"/>
              <a:t>段式和段页式的管理方式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采用有限的虚拟表的大小，根据需要拓展</a:t>
            </a:r>
            <a:endParaRPr lang="en-US" altLang="zh-CN" dirty="0" smtClean="0"/>
          </a:p>
          <a:p>
            <a:r>
              <a:rPr lang="en-US" altLang="zh-CN" dirty="0" smtClean="0"/>
              <a:t>2 </a:t>
            </a:r>
            <a:r>
              <a:rPr lang="zh-CN" altLang="en-US" dirty="0" smtClean="0"/>
              <a:t>将虚表大小限制在物理存储器的大小范围内。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多层虚表的方式，类似于段页式</a:t>
            </a:r>
            <a:endParaRPr lang="en-US" altLang="zh-CN" baseline="0" dirty="0" smtClean="0"/>
          </a:p>
          <a:p>
            <a:r>
              <a:rPr lang="en-US" altLang="zh-CN" baseline="0" dirty="0" smtClean="0"/>
              <a:t>4 </a:t>
            </a:r>
            <a:r>
              <a:rPr lang="zh-CN" altLang="en-US" baseline="0" dirty="0" smtClean="0"/>
              <a:t>将页表分页存储，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1406D4-A780-41D0-800E-732FF5D5051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28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28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C1C4E9-06B2-4167-9EF6-35234EB550B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28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A45888-DCED-41EA-BFC2-47C8714D76B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38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38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DF9628-F096-4FEF-AEA0-0D8045F956D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38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4A7BD3-76CB-4837-9AC7-2878430C830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48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48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63AA5C-5939-4254-B624-4D7D0D0F97D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4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DF83BA-0283-4029-A68D-6618E1EDD60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58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58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8A9DE8-9D8B-4A83-8CF0-3B7430ED2770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58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FE3416-5327-4625-A071-70915D2026C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69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6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F32444-FDEA-4E2B-88B4-87840D1A177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6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12699C-1780-49FB-9051-2B97CF3CEA7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79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79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F81BDD-F1DE-478F-8067-8737929B6F8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79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可以根据</a:t>
            </a:r>
            <a:r>
              <a:rPr lang="en-US" altLang="zh-CN" baseline="0" dirty="0" smtClean="0"/>
              <a:t>VA</a:t>
            </a:r>
            <a:r>
              <a:rPr lang="zh-CN" altLang="en-US" baseline="0" dirty="0" smtClean="0"/>
              <a:t>的地址在</a:t>
            </a:r>
            <a:r>
              <a:rPr lang="en-US" altLang="zh-CN" baseline="0" dirty="0" smtClean="0"/>
              <a:t>Cache</a:t>
            </a:r>
            <a:r>
              <a:rPr lang="zh-CN" altLang="en-US" baseline="0" dirty="0" smtClean="0"/>
              <a:t>中查找数据，但是直接使用存在一定的问题：</a:t>
            </a:r>
            <a:endParaRPr lang="en-US" altLang="zh-CN" baseline="0" dirty="0" smtClean="0"/>
          </a:p>
          <a:p>
            <a:r>
              <a:rPr lang="en-US" altLang="zh-CN" baseline="0" dirty="0" smtClean="0"/>
              <a:t>  1</a:t>
            </a:r>
            <a:r>
              <a:rPr lang="zh-CN" altLang="en-US" baseline="0" dirty="0" smtClean="0"/>
              <a:t>） 不同的虚地址共享物理内存</a:t>
            </a:r>
            <a:endParaRPr lang="en-US" altLang="zh-CN" baseline="0" dirty="0" smtClean="0"/>
          </a:p>
          <a:p>
            <a:r>
              <a:rPr lang="en-US" altLang="zh-CN" baseline="0" dirty="0" smtClean="0"/>
              <a:t>  2) </a:t>
            </a:r>
            <a:r>
              <a:rPr lang="zh-CN" altLang="en-US" baseline="0" smtClean="0"/>
              <a:t>一个程序在写数据时，另一个程序无法感知其变化</a:t>
            </a:r>
            <a:endParaRPr lang="en-US" altLang="zh-CN" baseline="0" dirty="0" smtClean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TLB(</a:t>
            </a:r>
            <a:r>
              <a:rPr lang="zh-CN" altLang="en-US" dirty="0" smtClean="0"/>
              <a:t>块表</a:t>
            </a:r>
            <a:r>
              <a:rPr lang="en-US" altLang="zh-CN" dirty="0" smtClean="0"/>
              <a:t>)</a:t>
            </a:r>
            <a:r>
              <a:rPr lang="zh-CN" altLang="en-US" dirty="0" smtClean="0"/>
              <a:t>与</a:t>
            </a:r>
            <a:r>
              <a:rPr lang="en-US" altLang="zh-CN" dirty="0" smtClean="0"/>
              <a:t>Cache </a:t>
            </a:r>
            <a:r>
              <a:rPr lang="zh-CN" altLang="en-US" dirty="0" smtClean="0"/>
              <a:t>同时工作，即访问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时不需要进行物理地址的翻译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8C06EAF-5CA1-41B1-9748-081226C38632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5 — Large and Fast: Exploiting Memory Hierarchy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4206FFA-0B2B-49BB-83F3-A3ACB40C6167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E94BA-4091-41E1-A6ED-FA1A210E0FB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AFCC9E-8084-4D3B-8A13-3C38D743676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errant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[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er·rant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|| '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erənt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]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pPr rtl="0"/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adj.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周游的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;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错误的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;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不定的</a:t>
            </a:r>
            <a:endParaRPr lang="zh-CN" alt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4671A8-5980-455D-A396-4878E8B85FA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99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699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B09D5B-3F81-439B-9E59-43BA21ED41D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69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EF1873-6C4A-43B6-A6D5-36BF5F6F7AE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10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1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DC7DFF-08C0-4A17-AC5A-BE1FABE5FD0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1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B7F6F4-FEE9-4ED8-994F-C26D3B869E2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20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20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3F634A-D49E-45F7-9814-E9B997498B05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20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20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94DC6C-F2A6-4E3C-B080-57CA749DFAD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30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30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74B3DD-41DF-47D1-96E5-D4B1040FEB7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3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0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896DE5-492B-45BE-B88A-64D77D8B776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40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40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B6B50A-A7FD-44B0-AD62-028E5E6DBF7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40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E87846-87C9-460F-B933-AFC9C2C14E6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51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51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359801-BEFF-4959-82E7-F509CA49FAA0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51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F4FD21-8B91-4F3B-8024-D50FB99ECAA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66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BFBFEC-A2B2-4387-A412-BBA3467758F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6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66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F03F43-8116-4042-BB3B-42EAE898B8B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61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61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8B2592-E024-4CE8-9839-10DC54C2048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61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C6C296-1E65-4646-ABEE-1B93E439DB8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7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7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53B75F-0A3E-4272-BB41-BFEEF62AAA0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7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1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AEEB5F-EE2F-4069-A1FF-72AD156F051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8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8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3CAB28-CB29-4CB0-964A-4DD02080E49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8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2D58D8-9F77-4361-9DDD-C55F49928DD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792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8BAF4C-2A97-4FAA-B48E-1036169A65F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79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92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358E5-7CFB-4F79-B41B-C7D721D68CD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02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02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DFD569-A5E8-42BD-8E08-10D36C5E4F5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02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02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82F780-36B0-4E67-BAA8-18219AF3EAD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12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12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32B006-7148-4CB5-9122-7F324C05905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12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12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724B26-229F-4E9E-A569-FCF4DB91317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2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2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749507-0FE6-48CD-9D29-13F997ABC1D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2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22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E83CB7-5E2F-4FAB-8658-37C366DEF2A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33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33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EA9E47D-610A-4E46-855A-D7F2022E267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33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2CEFB6-B625-41C2-9477-22C7A6C10D70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4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4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274A3-BEB9-406E-BA5F-2D6AE11AB77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4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B92005-4FF0-49CD-A536-817E5A24FF2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53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53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654648-F95B-4FE1-B58E-8187B253FEE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53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560895-BAB1-4ADE-B7B3-50000192869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63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63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D98F3C-940A-4425-8400-07D0DF05641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6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63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727407-8942-492E-8250-2EB126C9724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73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73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B08102-33E0-4A37-ADA4-CB42CA1583EE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7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73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8B7CEF-946A-49A9-A203-F22EDD0B1F17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84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84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5FDB63-37F2-488C-B996-6B32D32020B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8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84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CB472F-93ED-4E56-B6C9-BA691C10611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94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894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8FC625-381D-4ADE-B0AE-7205B34C5F1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89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94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6913E0-7495-44D1-927D-F016C3CBE00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04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04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356920-F88C-415A-9BAA-C5CCE0DB5EC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0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04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DE0A18-A975-4C42-B654-D69B523C045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14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1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65F78C-725E-4C58-B292-2880BEE88AE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1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14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9C1FFB-2E2A-4903-99F3-F8DEF2106528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25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25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4A626A-73C8-4BBC-9C7A-C8A300DA9CA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25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25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73C942-1229-491E-8A99-BD44EB3838E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35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35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C07949-81AD-4399-B693-8BDD7D6AC83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35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35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056574-010B-42CA-B46C-70293B01928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45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45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A08884-80E4-4BA6-A6C1-5BF21A76C9E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45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9F416B-5782-42A9-8722-7A3836B889C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55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55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4F6051-0819-4586-BA93-AA4A0ADF4D9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55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55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F4FD21-8B91-4F3B-8024-D50FB99ECAA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66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5 — Large and Fast: Exploiting Memory Hierarchy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BFBFEC-A2B2-4387-A412-BBA3467758F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96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66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48"/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Chapter …</a:t>
            </a:r>
            <a:endParaRPr lang="en-AU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Subtitle</a:t>
            </a:r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B28F409A-B5CB-4C88-B267-5AB6CE43B9B3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4F51310C-6E50-49DE-8385-66D1F8BB6B16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EDA15B95-5E78-4DC5-98E8-7852ED1FC350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996EAD30-8635-4DDB-A6BB-712C6B53218C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CC5A1A9F-8525-4B81-A234-8D17AC0954A1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DFE0C630-C879-48C5-84FE-052C34763427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B00CC712-D17F-4A9C-905E-13C023A5FE46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DD363C92-5E9F-4243-BCA4-C5BD147BDDD7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E0FF45C6-D713-4600-B4A3-769EDCD560C6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304160CF-1942-430E-AFD1-E5CCF369E56A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5 — Large and Fast: Exploiting Memory Hierarchy — </a:t>
            </a:r>
            <a:fld id="{4202083A-CC7F-4580-A806-8FB1B34AF34B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/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/>
            <a:r>
              <a:rPr lang="en-AU" altLang="zh-CN" smtClean="0"/>
              <a:t>Click to edit Master title style</a:t>
            </a:r>
            <a:endParaRPr lang="en-AU" altLang="zh-CN" smtClean="0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zh-CN" smtClean="0"/>
              <a:t>Click to edit Master text styles</a:t>
            </a:r>
            <a:endParaRPr lang="en-AU" altLang="zh-CN" smtClean="0"/>
          </a:p>
          <a:p>
            <a:pPr lvl="1"/>
            <a:r>
              <a:rPr lang="en-AU" altLang="zh-CN" smtClean="0"/>
              <a:t>Second level</a:t>
            </a:r>
            <a:endParaRPr lang="en-AU" altLang="zh-CN" smtClean="0"/>
          </a:p>
          <a:p>
            <a:pPr lvl="2"/>
            <a:r>
              <a:rPr lang="en-AU" altLang="zh-CN" smtClean="0"/>
              <a:t>Third level</a:t>
            </a:r>
            <a:endParaRPr lang="en-AU" altLang="zh-CN" smtClean="0"/>
          </a:p>
          <a:p>
            <a:pPr lvl="3"/>
            <a:r>
              <a:rPr lang="en-AU" altLang="zh-CN" smtClean="0"/>
              <a:t>Fourth level</a:t>
            </a:r>
            <a:endParaRPr lang="en-AU" altLang="zh-CN" smtClean="0"/>
          </a:p>
          <a:p>
            <a:pPr lvl="4"/>
            <a:r>
              <a:rPr lang="en-AU" altLang="zh-CN" smtClean="0"/>
              <a:t>Fifth level</a:t>
            </a:r>
            <a:endParaRPr lang="en-AU" altLang="zh-CN" smtClean="0"/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1">
                <a:ea typeface="宋体" panose="02010600030101010101" pitchFamily="2" charset="-122"/>
              </a:defRPr>
            </a:lvl1pPr>
          </a:lstStyle>
          <a:p>
            <a:r>
              <a:rPr lang="en-AU" altLang="zh-CN"/>
              <a:t>Chapter 5 — Large and Fast: Exploiting Memory Hierarchy — </a:t>
            </a:r>
            <a:fld id="{7643E6E2-C152-438D-A4E3-73AACCED08BD}" type="slidenum">
              <a:rPr lang="en-AU" altLang="zh-CN"/>
            </a:fld>
            <a:endParaRPr lang="en-AU" altLang="zh-CN"/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6162675" cy="1554163"/>
          </a:xfrm>
        </p:spPr>
        <p:txBody>
          <a:bodyPr/>
          <a:lstStyle/>
          <a:p>
            <a:pPr eaLnBrk="1" hangingPunct="1"/>
            <a:r>
              <a:rPr lang="en-AU" altLang="zh-CN" dirty="0" smtClean="0">
                <a:ea typeface="宋体" panose="02010600030101010101" pitchFamily="2" charset="-122"/>
              </a:rPr>
              <a:t>Large and Fast: Exploiting Memory Hierarchy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0" y="0"/>
            <a:ext cx="9144000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600" kern="0" dirty="0">
                <a:solidFill>
                  <a:srgbClr val="FFC000"/>
                </a:solidFill>
                <a:latin typeface="Arial Black" panose="020B0A04020102020204" pitchFamily="34" charset="0"/>
                <a:ea typeface="+mj-ea"/>
                <a:cs typeface="+mj-cs"/>
              </a:rPr>
              <a:t>Computer Organization and Design</a:t>
            </a:r>
            <a:endParaRPr lang="en-US" sz="3600" kern="0" dirty="0">
              <a:solidFill>
                <a:srgbClr val="FFC00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algn="ctr" eaLnBrk="1" hangingPunct="1">
              <a:defRPr/>
            </a:pPr>
            <a:endParaRPr lang="en-US" sz="3600" kern="0" dirty="0">
              <a:solidFill>
                <a:schemeClr val="bg1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07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E92115E-E496-4E01-A7C8-66FFADAF87BC}" type="slidenum">
              <a:rPr lang="en-AU" altLang="zh-CN"/>
            </a:fld>
            <a:endParaRPr lang="en-AU" altLang="zh-CN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Memory Technology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Static RAM (SRAM)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0.5ns – 2.5ns, $2000 – $5000 per GB</a:t>
            </a:r>
            <a:endParaRPr lang="en-US" sz="2400" smtClean="0"/>
          </a:p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Dynamic RAM (DRAM)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50ns – 70ns, $20 – $75 per GB</a:t>
            </a:r>
            <a:endParaRPr lang="en-US" sz="2400" smtClean="0"/>
          </a:p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Magnetic disk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5ms – 20ms, $0.20 – $2 per GB</a:t>
            </a:r>
            <a:endParaRPr lang="en-US" sz="2400" smtClean="0"/>
          </a:p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Flash Memory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0.1 – 2 ms, $5 – 50 per GB</a:t>
            </a:r>
            <a:endParaRPr lang="en-US" sz="2400" smtClean="0"/>
          </a:p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Ideal memory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Access time of SRAM</a:t>
            </a:r>
            <a:endParaRPr lang="en-US" sz="2400" smtClean="0"/>
          </a:p>
          <a:p>
            <a:pPr lvl="1" eaLnBrk="1" hangingPunct="1"/>
            <a:r>
              <a:rPr lang="en-US" sz="2400" smtClean="0"/>
              <a:t>Capacity and cost/GB of disk</a:t>
            </a:r>
            <a:endParaRPr lang="en-US" sz="2400" smtClean="0"/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§5.1 Introduction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1C003BF-B0F0-43BB-9AF6-A6B3AC3C2CDC}" type="slidenum">
              <a:rPr lang="en-AU" altLang="zh-CN"/>
            </a:fld>
            <a:endParaRPr lang="en-AU" altLang="zh-CN"/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Principle of Locality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Programs access a small proportion of their address space at any time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Temporal locality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Items accessed recently are likely to be accessed again soon</a:t>
            </a:r>
            <a:endParaRPr lang="en-US" smtClean="0"/>
          </a:p>
          <a:p>
            <a:pPr lvl="1" eaLnBrk="1" hangingPunct="1"/>
            <a:r>
              <a:rPr lang="en-US" smtClean="0"/>
              <a:t>e.g., instructions in a loop, induction variables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Spatial locality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Items near those accessed recently are likely to be accessed soon</a:t>
            </a:r>
            <a:endParaRPr lang="en-US" smtClean="0"/>
          </a:p>
          <a:p>
            <a:pPr lvl="1" eaLnBrk="1" hangingPunct="1"/>
            <a:r>
              <a:rPr lang="en-US" smtClean="0"/>
              <a:t>e.g., sequential instruction access, array data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FB6076A-E9F6-44CA-A357-95841D992195}" type="slidenum">
              <a:rPr lang="en-AU" altLang="zh-CN"/>
            </a:fld>
            <a:endParaRPr lang="en-AU" altLang="zh-CN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Taking Advantage of Locality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19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/>
                </a:solidFill>
              </a:rPr>
              <a:t>Memory hierarchy</a:t>
            </a:r>
            <a:endParaRPr lang="en-US" smtClean="0">
              <a:solidFill>
                <a:schemeClr val="tx2"/>
              </a:solidFill>
            </a:endParaRPr>
          </a:p>
          <a:p>
            <a:pPr eaLnBrk="1" hangingPunct="1"/>
            <a:r>
              <a:rPr lang="en-US" smtClean="0"/>
              <a:t>Store everything on disk</a:t>
            </a:r>
            <a:endParaRPr lang="en-US" smtClean="0"/>
          </a:p>
          <a:p>
            <a:pPr eaLnBrk="1" hangingPunct="1"/>
            <a:r>
              <a:rPr lang="en-US" smtClean="0"/>
              <a:t>Copy recently accessed (and nearby) items from disk to smaller DRAM memory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Main memory</a:t>
            </a:r>
            <a:endParaRPr lang="en-US" smtClean="0">
              <a:solidFill>
                <a:srgbClr val="FF0000"/>
              </a:solidFill>
            </a:endParaRPr>
          </a:p>
          <a:p>
            <a:pPr eaLnBrk="1" hangingPunct="1"/>
            <a:r>
              <a:rPr lang="en-US" smtClean="0"/>
              <a:t>Copy more recently accessed (and nearby) items from DRAM to smaller SRAM memory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Cache memory </a:t>
            </a:r>
            <a:r>
              <a:rPr lang="en-US" smtClean="0"/>
              <a:t>attached to CPU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F879FF8-20C8-42BE-831A-CC7B4A23C6CB}" type="slidenum">
              <a:rPr lang="en-AU" altLang="zh-CN"/>
            </a:fld>
            <a:endParaRPr lang="en-AU" altLang="zh-CN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Memory Hierarchy Levels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125538"/>
            <a:ext cx="4572000" cy="2517775"/>
          </a:xfrm>
        </p:spPr>
        <p:txBody>
          <a:bodyPr/>
          <a:lstStyle/>
          <a:p>
            <a:pPr eaLnBrk="1" hangingPunct="1"/>
            <a:r>
              <a:rPr lang="en-US" sz="2200" dirty="0" smtClean="0"/>
              <a:t>Block (aka line): unit of copying</a:t>
            </a:r>
            <a:endParaRPr lang="en-US" sz="2200" dirty="0" smtClean="0"/>
          </a:p>
          <a:p>
            <a:pPr lvl="1" eaLnBrk="1" hangingPunct="1"/>
            <a:r>
              <a:rPr lang="en-US" sz="2000" dirty="0" smtClean="0"/>
              <a:t>May be multiple words</a:t>
            </a:r>
            <a:endParaRPr lang="en-US" sz="1200" dirty="0" smtClean="0"/>
          </a:p>
          <a:p>
            <a:pPr eaLnBrk="1" hangingPunct="1"/>
            <a:r>
              <a:rPr lang="en-US" sz="2200" dirty="0" smtClean="0"/>
              <a:t>If accessed data is present in upper level</a:t>
            </a:r>
            <a:endParaRPr lang="en-US" sz="2200" dirty="0" smtClean="0"/>
          </a:p>
          <a:p>
            <a:pPr lvl="1" eaLnBrk="1" hangingPunct="1"/>
            <a:r>
              <a:rPr lang="en-US" sz="2000" dirty="0" smtClean="0">
                <a:solidFill>
                  <a:srgbClr val="FF0000"/>
                </a:solidFill>
              </a:rPr>
              <a:t>Hit</a:t>
            </a:r>
            <a:r>
              <a:rPr lang="en-US" sz="2000" dirty="0" smtClean="0"/>
              <a:t>: access satisfied by upper level</a:t>
            </a:r>
            <a:endParaRPr lang="en-US" sz="2000" dirty="0" smtClean="0"/>
          </a:p>
          <a:p>
            <a:pPr lvl="2" eaLnBrk="1" hangingPunct="1"/>
            <a:r>
              <a:rPr lang="en-US" sz="1800" dirty="0" smtClean="0"/>
              <a:t>Hit ratio: hits/accesses</a:t>
            </a:r>
            <a:endParaRPr lang="en-US" sz="1800" dirty="0" smtClean="0"/>
          </a:p>
        </p:txBody>
      </p:sp>
      <p:pic>
        <p:nvPicPr>
          <p:cNvPr id="7173" name="Picture 9" descr="f05-01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768475"/>
            <a:ext cx="4429125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72000" y="3643313"/>
            <a:ext cx="4572000" cy="27574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ECEAA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200">
                <a:solidFill>
                  <a:srgbClr val="000000"/>
                </a:solidFill>
              </a:rPr>
              <a:t>If accessed data is absent</a:t>
            </a:r>
            <a:endParaRPr lang="en-US" sz="220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1AFBF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>
                <a:solidFill>
                  <a:srgbClr val="FF0000"/>
                </a:solidFill>
              </a:rPr>
              <a:t>Miss</a:t>
            </a:r>
            <a:r>
              <a:rPr lang="en-US" sz="2000">
                <a:solidFill>
                  <a:srgbClr val="000000"/>
                </a:solidFill>
              </a:rPr>
              <a:t>: block copied from lower level</a:t>
            </a:r>
            <a:endParaRPr lang="en-US" sz="2000">
              <a:solidFill>
                <a:srgbClr val="000000"/>
              </a:solidFill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ECEAA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>
                <a:solidFill>
                  <a:srgbClr val="000000"/>
                </a:solidFill>
              </a:rPr>
              <a:t>Time taken: miss penalty</a:t>
            </a:r>
            <a:endParaRPr lang="en-US">
              <a:solidFill>
                <a:srgbClr val="000000"/>
              </a:solidFill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ECEAA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>
                <a:solidFill>
                  <a:srgbClr val="000000"/>
                </a:solidFill>
              </a:rPr>
              <a:t>Miss ratio: misses/accesses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= 1 – hit ratio</a:t>
            </a:r>
            <a:endParaRPr lang="en-US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1AFBF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>
                <a:solidFill>
                  <a:srgbClr val="000000"/>
                </a:solidFill>
              </a:rPr>
              <a:t>Then accessed data supplied from upper level</a:t>
            </a:r>
            <a:endParaRPr lang="en-AU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cxnSp>
        <p:nvCxnSpPr>
          <p:cNvPr id="7175" name="Straight Arrow Connector 8"/>
          <p:cNvCxnSpPr>
            <a:cxnSpLocks noChangeShapeType="1"/>
          </p:cNvCxnSpPr>
          <p:nvPr/>
        </p:nvCxnSpPr>
        <p:spPr bwMode="auto">
          <a:xfrm rot="5400000">
            <a:off x="1217613" y="2573338"/>
            <a:ext cx="287337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6" name="Straight Arrow Connector 10"/>
          <p:cNvCxnSpPr>
            <a:cxnSpLocks noChangeShapeType="1"/>
          </p:cNvCxnSpPr>
          <p:nvPr/>
        </p:nvCxnSpPr>
        <p:spPr bwMode="auto">
          <a:xfrm rot="5400000">
            <a:off x="1250157" y="3256756"/>
            <a:ext cx="28575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7" name="Straight Arrow Connector 12"/>
          <p:cNvCxnSpPr>
            <a:cxnSpLocks noChangeShapeType="1"/>
          </p:cNvCxnSpPr>
          <p:nvPr/>
        </p:nvCxnSpPr>
        <p:spPr bwMode="auto">
          <a:xfrm rot="16200000" flipH="1">
            <a:off x="1259682" y="4315619"/>
            <a:ext cx="2667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F6D3336-B7A2-4060-AA2F-77B4E1367DF6}" type="slidenum">
              <a:rPr lang="en-AU" altLang="zh-CN"/>
            </a:fld>
            <a:endParaRPr lang="en-AU" altLang="zh-CN"/>
          </a:p>
        </p:txBody>
      </p:sp>
      <p:pic>
        <p:nvPicPr>
          <p:cNvPr id="8195" name="Picture 10" descr="f05-0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3429000"/>
            <a:ext cx="37433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Memory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197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276475"/>
          </a:xfrm>
        </p:spPr>
        <p:txBody>
          <a:bodyPr/>
          <a:lstStyle/>
          <a:p>
            <a:pPr eaLnBrk="1" hangingPunct="1"/>
            <a:r>
              <a:rPr lang="en-US" smtClean="0"/>
              <a:t>Cache memory</a:t>
            </a:r>
            <a:endParaRPr lang="en-US" smtClean="0"/>
          </a:p>
          <a:p>
            <a:pPr lvl="1" eaLnBrk="1" hangingPunct="1"/>
            <a:r>
              <a:rPr lang="en-US" smtClean="0"/>
              <a:t>The level of the memory hierarchy closest to the CPU</a:t>
            </a:r>
            <a:endParaRPr lang="en-US" smtClean="0"/>
          </a:p>
          <a:p>
            <a:pPr eaLnBrk="1" hangingPunct="1"/>
            <a:r>
              <a:rPr lang="en-US" smtClean="0"/>
              <a:t>Given accesses X</a:t>
            </a:r>
            <a:r>
              <a:rPr lang="en-US" baseline="-25000" smtClean="0"/>
              <a:t>1</a:t>
            </a:r>
            <a:r>
              <a:rPr lang="en-US" smtClean="0"/>
              <a:t>, …, X</a:t>
            </a:r>
            <a:r>
              <a:rPr lang="en-US" baseline="-25000" smtClean="0"/>
              <a:t>n–1</a:t>
            </a:r>
            <a:r>
              <a:rPr lang="en-US" smtClean="0"/>
              <a:t>, X</a:t>
            </a:r>
            <a:r>
              <a:rPr lang="en-US" baseline="-25000" smtClean="0"/>
              <a:t>n</a:t>
            </a:r>
            <a:endParaRPr lang="en-AU" altLang="zh-CN" baseline="-25000" smtClean="0">
              <a:ea typeface="宋体" panose="02010600030101010101" pitchFamily="2" charset="-122"/>
            </a:endParaRPr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 rot="5400000">
            <a:off x="7503319" y="1273969"/>
            <a:ext cx="2914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§5.2 The Basics of Caches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5148263" y="3789363"/>
            <a:ext cx="3811587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>
                <a:solidFill>
                  <a:srgbClr val="FF0000"/>
                </a:solidFill>
              </a:rPr>
              <a:t>How do we know if the data is present?</a:t>
            </a:r>
            <a:endParaRPr lang="en-US" sz="2800">
              <a:solidFill>
                <a:srgbClr val="FF0000"/>
              </a:solidFill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>
                <a:solidFill>
                  <a:srgbClr val="FF0000"/>
                </a:solidFill>
              </a:rPr>
              <a:t>Where do we look?</a:t>
            </a:r>
            <a:endParaRPr 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03A7A3B6-C422-436D-85BC-284119668B31}" type="slidenum">
              <a:rPr lang="en-AU" altLang="zh-CN"/>
            </a:fld>
            <a:endParaRPr lang="en-AU" altLang="zh-CN"/>
          </a:p>
        </p:txBody>
      </p:sp>
      <p:pic>
        <p:nvPicPr>
          <p:cNvPr id="11267" name="Picture 9" descr="f05-05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Direct Mapped Cache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6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01812"/>
          </a:xfrm>
        </p:spPr>
        <p:txBody>
          <a:bodyPr/>
          <a:lstStyle/>
          <a:p>
            <a:pPr eaLnBrk="1" hangingPunct="1"/>
            <a:r>
              <a:rPr lang="en-US" smtClean="0"/>
              <a:t>Location determined by </a:t>
            </a:r>
            <a:r>
              <a:rPr lang="en-US" smtClean="0">
                <a:solidFill>
                  <a:schemeClr val="tx2"/>
                </a:solidFill>
              </a:rPr>
              <a:t>address</a:t>
            </a:r>
            <a:endParaRPr lang="en-US" smtClean="0">
              <a:solidFill>
                <a:schemeClr val="tx2"/>
              </a:solidFill>
            </a:endParaRPr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Direct mapped</a:t>
            </a:r>
            <a:r>
              <a:rPr lang="en-US" smtClean="0"/>
              <a:t>: only one choice</a:t>
            </a:r>
            <a:endParaRPr lang="en-US" smtClean="0"/>
          </a:p>
          <a:p>
            <a:pPr lvl="1" eaLnBrk="1" hangingPunct="1"/>
            <a:r>
              <a:rPr lang="en-US" smtClean="0"/>
              <a:t>(Block address) modulo (#Blocks in cache)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6084888" y="3500438"/>
            <a:ext cx="280352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/>
              <a:t>#Blocks is a power of 2</a:t>
            </a:r>
            <a:endParaRPr lang="en-US" sz="2800"/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/>
              <a:t>Use low-order address bits for block addr</a:t>
            </a:r>
            <a:endParaRPr lang="en-AU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4273ED9-52A0-45DB-AA99-DF982B5DEAF3}" type="slidenum">
              <a:rPr lang="en-AU" altLang="zh-CN"/>
            </a:fld>
            <a:endParaRPr lang="en-AU" altLang="zh-CN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Tags and Valid Bits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229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do we know which particular block is stored in a cache location?</a:t>
            </a:r>
            <a:endParaRPr lang="en-US" smtClean="0"/>
          </a:p>
          <a:p>
            <a:pPr lvl="1" eaLnBrk="1" hangingPunct="1"/>
            <a:r>
              <a:rPr lang="en-US" smtClean="0"/>
              <a:t>Store block address as well as the data</a:t>
            </a:r>
            <a:endParaRPr lang="en-US" smtClean="0"/>
          </a:p>
          <a:p>
            <a:pPr lvl="1" eaLnBrk="1" hangingPunct="1"/>
            <a:r>
              <a:rPr lang="en-US" smtClean="0"/>
              <a:t>Actually, only need the high-order bits</a:t>
            </a:r>
            <a:endParaRPr lang="en-US" smtClean="0"/>
          </a:p>
          <a:p>
            <a:pPr lvl="1" eaLnBrk="1" hangingPunct="1"/>
            <a:r>
              <a:rPr lang="en-US" smtClean="0"/>
              <a:t>Called the </a:t>
            </a:r>
            <a:r>
              <a:rPr lang="en-US" smtClean="0">
                <a:solidFill>
                  <a:srgbClr val="FF0000"/>
                </a:solidFill>
              </a:rPr>
              <a:t>tag</a:t>
            </a:r>
            <a:endParaRPr lang="en-US" smtClean="0">
              <a:solidFill>
                <a:srgbClr val="FF0000"/>
              </a:solidFill>
            </a:endParaRPr>
          </a:p>
          <a:p>
            <a:pPr eaLnBrk="1" hangingPunct="1"/>
            <a:r>
              <a:rPr lang="en-US" smtClean="0"/>
              <a:t>What if there is no data in a location?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Valid bit</a:t>
            </a:r>
            <a:r>
              <a:rPr lang="en-US" smtClean="0"/>
              <a:t>: 1 = present, 0 = not present</a:t>
            </a:r>
            <a:endParaRPr lang="en-US" smtClean="0"/>
          </a:p>
          <a:p>
            <a:pPr lvl="1" eaLnBrk="1" hangingPunct="1"/>
            <a:r>
              <a:rPr lang="en-US" smtClean="0"/>
              <a:t>Initially 0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FFF4BEC-6422-4BE1-BB67-6E09B25F98D6}" type="slidenum">
              <a:rPr lang="en-AU" altLang="zh-CN"/>
            </a:fld>
            <a:endParaRPr lang="en-AU" altLang="zh-CN"/>
          </a:p>
        </p:txBody>
      </p:sp>
      <p:sp>
        <p:nvSpPr>
          <p:cNvPr id="11267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68" name="Rectangle 5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38262"/>
          </a:xfrm>
        </p:spPr>
        <p:txBody>
          <a:bodyPr/>
          <a:lstStyle/>
          <a:p>
            <a:pPr eaLnBrk="1" hangingPunct="1"/>
            <a:r>
              <a:rPr lang="en-US" smtClean="0"/>
              <a:t>8-blocks, 1 word/block, direct mapped</a:t>
            </a:r>
            <a:endParaRPr lang="en-US" smtClean="0"/>
          </a:p>
          <a:p>
            <a:pPr eaLnBrk="1" hangingPunct="1"/>
            <a:r>
              <a:rPr lang="en-US" smtClean="0"/>
              <a:t>Initial state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54980" name="Group 4"/>
          <p:cNvGraphicFramePr>
            <a:graphicFrameLocks noGrp="1"/>
          </p:cNvGraphicFramePr>
          <p:nvPr/>
        </p:nvGraphicFramePr>
        <p:xfrm>
          <a:off x="2143125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8"/>
                <a:gridCol w="1150937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AutoShape 43"/>
          <p:cNvSpPr/>
          <p:nvPr/>
        </p:nvSpPr>
        <p:spPr bwMode="auto">
          <a:xfrm>
            <a:off x="142875" y="3427413"/>
            <a:ext cx="1795463" cy="1004887"/>
          </a:xfrm>
          <a:prstGeom prst="borderCallout1">
            <a:avLst>
              <a:gd name="adj1" fmla="val -8843"/>
              <a:gd name="adj2" fmla="val 58056"/>
              <a:gd name="adj3" fmla="val -32389"/>
              <a:gd name="adj4" fmla="val 107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Block address (lower order address bits) </a:t>
            </a:r>
            <a:endParaRPr lang="en-AU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2B2F9EE-AAD0-416B-80BF-8E8A46EAD64F}" type="slidenum">
              <a:rPr lang="en-AU" altLang="zh-CN"/>
            </a:fld>
            <a:endParaRPr lang="en-AU" altLang="zh-CN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57027" name="Group 3"/>
          <p:cNvGraphicFramePr>
            <a:graphicFrameLocks noGrp="1"/>
          </p:cNvGraphicFramePr>
          <p:nvPr/>
        </p:nvGraphicFramePr>
        <p:xfrm>
          <a:off x="1547813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Mem[10110]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7079" name="Group 55"/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A4AC414-8D38-4695-A5CA-93BD2421815E}" type="slidenum">
              <a:rPr lang="en-AU" altLang="zh-CN"/>
            </a:fld>
            <a:endParaRPr lang="en-AU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59075" name="Group 3"/>
          <p:cNvGraphicFramePr>
            <a:graphicFrameLocks noGrp="1"/>
          </p:cNvGraphicFramePr>
          <p:nvPr/>
        </p:nvGraphicFramePr>
        <p:xfrm>
          <a:off x="1547813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Mem[11010]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9127" name="Group 55"/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03302561-2995-4E9A-966F-0949A441A807}" type="slidenum">
              <a:rPr lang="en-AU" altLang="zh-CN"/>
            </a:fld>
            <a:endParaRPr lang="en-AU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61123" name="Group 3"/>
          <p:cNvGraphicFramePr>
            <a:graphicFrameLocks noGrp="1"/>
          </p:cNvGraphicFramePr>
          <p:nvPr/>
        </p:nvGraphicFramePr>
        <p:xfrm>
          <a:off x="1547813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Mem[11010]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1175" name="Group 55"/>
          <p:cNvGraphicFramePr>
            <a:graphicFrameLocks noGrp="1"/>
          </p:cNvGraphicFramePr>
          <p:nvPr/>
        </p:nvGraphicFramePr>
        <p:xfrm>
          <a:off x="1547813" y="1320800"/>
          <a:ext cx="6072187" cy="1096974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20006943-0C49-4699-A9C2-BB746DBDA2EE}" type="slidenum">
              <a:rPr lang="en-AU" altLang="zh-CN"/>
            </a:fld>
            <a:endParaRPr lang="en-AU" altLang="zh-CN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63171" name="Group 3"/>
          <p:cNvGraphicFramePr>
            <a:graphicFrameLocks noGrp="1"/>
          </p:cNvGraphicFramePr>
          <p:nvPr/>
        </p:nvGraphicFramePr>
        <p:xfrm>
          <a:off x="1547813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Mem[10000]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Mem[11010]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Mem[00011]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3223" name="Group 55"/>
          <p:cNvGraphicFramePr>
            <a:graphicFrameLocks noGrp="1"/>
          </p:cNvGraphicFramePr>
          <p:nvPr/>
        </p:nvGraphicFramePr>
        <p:xfrm>
          <a:off x="1547813" y="1320800"/>
          <a:ext cx="6072187" cy="1466852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00 011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6F4B0E0-9E30-4083-BCEC-652836C38699}" type="slidenum">
              <a:rPr lang="en-AU" altLang="zh-CN"/>
            </a:fld>
            <a:endParaRPr lang="en-AU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65219" name="Group 3"/>
          <p:cNvGraphicFramePr>
            <a:graphicFrameLocks noGrp="1"/>
          </p:cNvGraphicFramePr>
          <p:nvPr/>
        </p:nvGraphicFramePr>
        <p:xfrm>
          <a:off x="1547813" y="2924175"/>
          <a:ext cx="6096000" cy="3292002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Mem[10000]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Mem[10010]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Mem[00011]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5271" name="Group 55"/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2B4F3624-E4DA-4B3E-A383-43F759352BCA}" type="slidenum">
              <a:rPr lang="en-AU" altLang="zh-CN"/>
            </a:fld>
            <a:endParaRPr lang="en-AU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Address Subdivision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pic>
        <p:nvPicPr>
          <p:cNvPr id="17412" name="Picture 4" descr="f05-07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Cache Field Sizes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2400" smtClean="0"/>
              <a:t>The number of bits in a cache includes both the storage for data and for the tags</a:t>
            </a:r>
            <a:endParaRPr lang="en-US" sz="2400" smtClean="0"/>
          </a:p>
          <a:p>
            <a:pPr lvl="1">
              <a:spcBef>
                <a:spcPts val="600"/>
              </a:spcBef>
            </a:pPr>
            <a:r>
              <a:rPr lang="en-US" sz="2400" smtClean="0"/>
              <a:t>32-bit byte address</a:t>
            </a:r>
            <a:endParaRPr lang="en-US" sz="2400" smtClean="0"/>
          </a:p>
          <a:p>
            <a:pPr lvl="1">
              <a:spcBef>
                <a:spcPts val="600"/>
              </a:spcBef>
            </a:pPr>
            <a:r>
              <a:rPr lang="en-US" sz="2400" smtClean="0"/>
              <a:t>For a direct mapped cache with </a:t>
            </a:r>
            <a:r>
              <a:rPr lang="en-US" sz="2400" smtClean="0">
                <a:solidFill>
                  <a:schemeClr val="tx2"/>
                </a:solidFill>
              </a:rPr>
              <a:t>2</a:t>
            </a:r>
            <a:r>
              <a:rPr lang="en-US" sz="2400" baseline="30000" smtClean="0">
                <a:solidFill>
                  <a:schemeClr val="tx2"/>
                </a:solidFill>
              </a:rPr>
              <a:t>n</a:t>
            </a:r>
            <a:r>
              <a:rPr lang="en-US" sz="2400" smtClean="0"/>
              <a:t> blocks, </a:t>
            </a:r>
            <a:r>
              <a:rPr lang="en-US" sz="2400" i="1" smtClean="0">
                <a:solidFill>
                  <a:schemeClr val="tx2"/>
                </a:solidFill>
              </a:rPr>
              <a:t>n</a:t>
            </a:r>
            <a:r>
              <a:rPr lang="en-US" sz="2400" smtClean="0"/>
              <a:t> bits are used for the </a:t>
            </a:r>
            <a:r>
              <a:rPr lang="en-US" sz="2400" smtClean="0">
                <a:solidFill>
                  <a:srgbClr val="FF0000"/>
                </a:solidFill>
              </a:rPr>
              <a:t>index</a:t>
            </a:r>
            <a:endParaRPr lang="en-US" sz="2400" smtClean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sz="2400" smtClean="0"/>
              <a:t>For a block size of </a:t>
            </a:r>
            <a:r>
              <a:rPr lang="en-US" sz="2400" smtClean="0">
                <a:solidFill>
                  <a:schemeClr val="tx2"/>
                </a:solidFill>
              </a:rPr>
              <a:t>2</a:t>
            </a:r>
            <a:r>
              <a:rPr lang="en-US" sz="2400" baseline="30000" smtClean="0">
                <a:solidFill>
                  <a:schemeClr val="tx2"/>
                </a:solidFill>
              </a:rPr>
              <a:t>m</a:t>
            </a:r>
            <a:r>
              <a:rPr lang="en-US" sz="2400" smtClean="0"/>
              <a:t> words (</a:t>
            </a:r>
            <a:r>
              <a:rPr lang="en-US" sz="2400" smtClean="0">
                <a:solidFill>
                  <a:schemeClr val="tx2"/>
                </a:solidFill>
              </a:rPr>
              <a:t>2</a:t>
            </a:r>
            <a:r>
              <a:rPr lang="en-US" sz="2400" baseline="30000" smtClean="0">
                <a:solidFill>
                  <a:schemeClr val="tx2"/>
                </a:solidFill>
              </a:rPr>
              <a:t>m+2</a:t>
            </a:r>
            <a:r>
              <a:rPr lang="en-US" sz="2400" smtClean="0"/>
              <a:t> bytes), </a:t>
            </a:r>
            <a:r>
              <a:rPr lang="en-US" sz="2400" i="1" smtClean="0"/>
              <a:t>m</a:t>
            </a:r>
            <a:r>
              <a:rPr lang="en-US" sz="2400" smtClean="0"/>
              <a:t> bits are used to address the word within the block and 2 bits are used to address the byte within the word</a:t>
            </a:r>
            <a:endParaRPr lang="en-US" sz="2400" smtClean="0"/>
          </a:p>
          <a:p>
            <a:pPr>
              <a:spcBef>
                <a:spcPts val="600"/>
              </a:spcBef>
            </a:pPr>
            <a:r>
              <a:rPr lang="en-US" sz="2400" smtClean="0"/>
              <a:t>What is the size of the </a:t>
            </a:r>
            <a:r>
              <a:rPr lang="en-US" sz="2400" smtClean="0">
                <a:solidFill>
                  <a:srgbClr val="FF0000"/>
                </a:solidFill>
              </a:rPr>
              <a:t>tag</a:t>
            </a:r>
            <a:r>
              <a:rPr lang="en-US" sz="2400" smtClean="0"/>
              <a:t> field?</a:t>
            </a:r>
            <a:endParaRPr lang="en-US" sz="2400" smtClean="0"/>
          </a:p>
          <a:p>
            <a:pPr lvl="1">
              <a:spcBef>
                <a:spcPts val="600"/>
              </a:spcBef>
            </a:pPr>
            <a:r>
              <a:rPr lang="en-US" sz="2400" smtClean="0">
                <a:solidFill>
                  <a:schemeClr val="tx2"/>
                </a:solidFill>
              </a:rPr>
              <a:t>32 – (n+m+2)</a:t>
            </a:r>
            <a:endParaRPr lang="en-US" sz="240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400" smtClean="0"/>
              <a:t>The total number of bits in a direct-mapped cache is then</a:t>
            </a:r>
            <a:endParaRPr lang="en-US" sz="2400" smtClean="0"/>
          </a:p>
          <a:p>
            <a:pPr lvl="1" algn="ctr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400" smtClean="0">
                <a:solidFill>
                  <a:schemeClr val="tx2"/>
                </a:solidFill>
              </a:rPr>
              <a:t>2</a:t>
            </a:r>
            <a:r>
              <a:rPr lang="en-US" sz="2400" baseline="30000" smtClean="0">
                <a:solidFill>
                  <a:schemeClr val="tx2"/>
                </a:solidFill>
              </a:rPr>
              <a:t>n</a:t>
            </a:r>
            <a:r>
              <a:rPr lang="en-US" sz="2400" smtClean="0">
                <a:solidFill>
                  <a:schemeClr val="tx2"/>
                </a:solidFill>
              </a:rPr>
              <a:t> x (block size + tag field size + valid field size)</a:t>
            </a:r>
            <a:endParaRPr lang="en-US" sz="2400" smtClean="0">
              <a:solidFill>
                <a:schemeClr val="tx2"/>
              </a:solidFill>
            </a:endParaRPr>
          </a:p>
        </p:txBody>
      </p:sp>
      <p:sp>
        <p:nvSpPr>
          <p:cNvPr id="18436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FDB6D16-3462-4684-A740-7C6B6E554E94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Field Sizes</a:t>
            </a:r>
            <a:r>
              <a:rPr lang="zh-CN" altLang="en-US" dirty="0" smtClean="0"/>
              <a:t>： </a:t>
            </a:r>
            <a:r>
              <a:rPr lang="en-US" altLang="zh-CN" dirty="0" smtClean="0"/>
              <a:t>Example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How many total bits are required for a direct mapped cache with 16KB of data and 4-word blocks assuming a 32-bit address?</a:t>
            </a:r>
            <a:endParaRPr lang="en-US" sz="2400" smtClean="0"/>
          </a:p>
          <a:p>
            <a:pPr lvl="1"/>
            <a:r>
              <a:rPr lang="en-US" sz="2000" smtClean="0"/>
              <a:t>16KB is </a:t>
            </a:r>
            <a:r>
              <a:rPr lang="en-US" sz="2000" smtClean="0">
                <a:solidFill>
                  <a:srgbClr val="FF0000"/>
                </a:solidFill>
              </a:rPr>
              <a:t>4K (2</a:t>
            </a:r>
            <a:r>
              <a:rPr lang="en-US" sz="2000" baseline="30000" smtClean="0">
                <a:solidFill>
                  <a:srgbClr val="FF0000"/>
                </a:solidFill>
              </a:rPr>
              <a:t>12</a:t>
            </a:r>
            <a:r>
              <a:rPr lang="en-US" sz="2000" smtClean="0">
                <a:solidFill>
                  <a:srgbClr val="FF0000"/>
                </a:solidFill>
              </a:rPr>
              <a:t>) words</a:t>
            </a:r>
            <a:endParaRPr lang="en-US" sz="20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With a block size of 4 words, there are </a:t>
            </a:r>
            <a:r>
              <a:rPr lang="en-US" sz="2000" smtClean="0">
                <a:solidFill>
                  <a:srgbClr val="FF0000"/>
                </a:solidFill>
              </a:rPr>
              <a:t>1024 (2</a:t>
            </a:r>
            <a:r>
              <a:rPr lang="en-US" sz="2000" baseline="30000" smtClean="0">
                <a:solidFill>
                  <a:srgbClr val="FF0000"/>
                </a:solidFill>
              </a:rPr>
              <a:t>10</a:t>
            </a:r>
            <a:r>
              <a:rPr lang="en-US" sz="2000" smtClean="0">
                <a:solidFill>
                  <a:srgbClr val="FF0000"/>
                </a:solidFill>
              </a:rPr>
              <a:t>) blocks </a:t>
            </a:r>
            <a:endParaRPr lang="en-US" sz="20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Each block has 4x32 or 128 bits of data plus a tag which is 32 – (10 + 2 + 2) = 18 bits, plus a valid bit = </a:t>
            </a:r>
            <a:r>
              <a:rPr lang="en-US" sz="2000" smtClean="0">
                <a:solidFill>
                  <a:srgbClr val="FF0000"/>
                </a:solidFill>
              </a:rPr>
              <a:t>19 bits</a:t>
            </a:r>
            <a:r>
              <a:rPr lang="en-US" sz="2000" smtClean="0"/>
              <a:t> </a:t>
            </a:r>
            <a:endParaRPr lang="en-US" sz="2000" smtClean="0"/>
          </a:p>
          <a:p>
            <a:pPr lvl="1"/>
            <a:r>
              <a:rPr lang="en-US" sz="2000" smtClean="0"/>
              <a:t>So the total cache size is</a:t>
            </a:r>
            <a:endParaRPr lang="en-US" sz="2000" smtClean="0"/>
          </a:p>
          <a:p>
            <a:pPr lvl="1">
              <a:buFont typeface="Wingdings" panose="05000000000000000000" pitchFamily="2" charset="2"/>
              <a:buNone/>
            </a:pPr>
            <a:r>
              <a:rPr lang="en-US" sz="2000" smtClean="0"/>
              <a:t>	2</a:t>
            </a:r>
            <a:r>
              <a:rPr lang="en-US" sz="2000" baseline="30000" smtClean="0"/>
              <a:t>10</a:t>
            </a:r>
            <a:r>
              <a:rPr lang="en-US" sz="2000" smtClean="0"/>
              <a:t> x (4x32 +18 + 1) = 2</a:t>
            </a:r>
            <a:r>
              <a:rPr lang="en-US" sz="2000" baseline="30000" smtClean="0"/>
              <a:t>10</a:t>
            </a:r>
            <a:r>
              <a:rPr lang="en-US" sz="2000" smtClean="0"/>
              <a:t> x 147 = </a:t>
            </a:r>
            <a:r>
              <a:rPr lang="en-US" sz="2000" smtClean="0">
                <a:solidFill>
                  <a:srgbClr val="FF0000"/>
                </a:solidFill>
              </a:rPr>
              <a:t>147Kbits</a:t>
            </a:r>
            <a:r>
              <a:rPr lang="en-US" sz="2000" smtClean="0"/>
              <a:t> </a:t>
            </a:r>
            <a:endParaRPr lang="en-US" sz="2000" smtClean="0"/>
          </a:p>
          <a:p>
            <a:pPr lvl="1"/>
            <a:r>
              <a:rPr lang="en-US" sz="2000" smtClean="0"/>
              <a:t>or about </a:t>
            </a:r>
            <a:r>
              <a:rPr lang="en-US" sz="2000" smtClean="0">
                <a:solidFill>
                  <a:srgbClr val="FF0000"/>
                </a:solidFill>
              </a:rPr>
              <a:t>1.15x</a:t>
            </a:r>
            <a:r>
              <a:rPr lang="en-US" sz="2000" smtClean="0"/>
              <a:t> as many as needed just for storage of the data</a:t>
            </a:r>
            <a:endParaRPr lang="en-US" sz="2000" smtClean="0"/>
          </a:p>
          <a:p>
            <a:endParaRPr lang="en-US" sz="2400" smtClean="0"/>
          </a:p>
          <a:p>
            <a:endParaRPr lang="en-US" smtClean="0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0B7507E-4521-4F9A-8213-7BC6B02A2797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0E2F290C-1A48-41CE-A119-BA395663BEF5}" type="slidenum">
              <a:rPr lang="en-AU" altLang="zh-CN"/>
            </a:fld>
            <a:endParaRPr lang="en-AU" altLang="zh-CN"/>
          </a:p>
        </p:txBody>
      </p:sp>
      <p:sp>
        <p:nvSpPr>
          <p:cNvPr id="20483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Larger Block Size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0484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8194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008000"/>
                </a:solidFill>
              </a:rPr>
              <a:t>64 blocks, 16 bytes/block</a:t>
            </a:r>
            <a:endParaRPr lang="en-US" smtClean="0">
              <a:solidFill>
                <a:srgbClr val="008000"/>
              </a:solidFill>
            </a:endParaRPr>
          </a:p>
          <a:p>
            <a:pPr lvl="1" eaLnBrk="1" hangingPunct="1"/>
            <a:r>
              <a:rPr lang="en-US" smtClean="0"/>
              <a:t>To what block number does address 1200 map?</a:t>
            </a:r>
            <a:endParaRPr lang="en-US" smtClean="0"/>
          </a:p>
          <a:p>
            <a:pPr marL="742950" lvl="2" indent="-342900" eaLnBrk="1" hangingPunct="1">
              <a:buSzPct val="60000"/>
            </a:pPr>
            <a:r>
              <a:rPr lang="en-US" smtClean="0"/>
              <a:t>Block no. = (Block addr) modulo (#Blocks in cache)</a:t>
            </a:r>
            <a:endParaRPr lang="en-US" smtClean="0"/>
          </a:p>
          <a:p>
            <a:pPr eaLnBrk="1" hangingPunct="1"/>
            <a:r>
              <a:rPr lang="en-US" smtClean="0"/>
              <a:t>Block address = Byte addr/Bytes per block = </a:t>
            </a:r>
            <a:r>
              <a:rPr lang="en-US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</a:t>
            </a:r>
            <a:r>
              <a:rPr lang="en-US" smtClean="0"/>
              <a:t>1200/16</a:t>
            </a:r>
            <a:r>
              <a:rPr lang="en-US" smtClean="0">
                <a:sym typeface="Symbol" panose="05050102010706020507" pitchFamily="18" charset="2"/>
              </a:rPr>
              <a:t></a:t>
            </a:r>
            <a:r>
              <a:rPr lang="en-US" smtClean="0"/>
              <a:t> = 75</a:t>
            </a:r>
            <a:endParaRPr lang="en-US" smtClean="0"/>
          </a:p>
          <a:p>
            <a:pPr eaLnBrk="1" hangingPunct="1"/>
            <a:r>
              <a:rPr lang="en-US" smtClean="0"/>
              <a:t>Block number = 75 modulo 64 = 11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 bwMode="auto">
          <a:xfrm>
            <a:off x="1619250" y="4895850"/>
            <a:ext cx="5226050" cy="1104900"/>
            <a:chOff x="1228" y="2755"/>
            <a:chExt cx="3292" cy="696"/>
          </a:xfrm>
        </p:grpSpPr>
        <p:sp>
          <p:nvSpPr>
            <p:cNvPr id="20486" name="Rectangle 4"/>
            <p:cNvSpPr>
              <a:spLocks noChangeArrowheads="1"/>
            </p:cNvSpPr>
            <p:nvPr/>
          </p:nvSpPr>
          <p:spPr bwMode="auto">
            <a:xfrm>
              <a:off x="1247" y="2976"/>
              <a:ext cx="1724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Tag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0487" name="Rectangle 5"/>
            <p:cNvSpPr>
              <a:spLocks noChangeArrowheads="1"/>
            </p:cNvSpPr>
            <p:nvPr/>
          </p:nvSpPr>
          <p:spPr bwMode="auto">
            <a:xfrm>
              <a:off x="2971" y="2976"/>
              <a:ext cx="862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Index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0488" name="Rectangle 6"/>
            <p:cNvSpPr>
              <a:spLocks noChangeArrowheads="1"/>
            </p:cNvSpPr>
            <p:nvPr/>
          </p:nvSpPr>
          <p:spPr bwMode="auto">
            <a:xfrm>
              <a:off x="3833" y="2976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Offset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0489" name="Text Box 7"/>
            <p:cNvSpPr txBox="1">
              <a:spLocks noChangeArrowheads="1"/>
            </p:cNvSpPr>
            <p:nvPr/>
          </p:nvSpPr>
          <p:spPr bwMode="auto"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0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0" name="Text Box 8"/>
            <p:cNvSpPr txBox="1">
              <a:spLocks noChangeArrowheads="1"/>
            </p:cNvSpPr>
            <p:nvPr/>
          </p:nvSpPr>
          <p:spPr bwMode="auto">
            <a:xfrm>
              <a:off x="3825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3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1" name="Text Box 9"/>
            <p:cNvSpPr txBox="1">
              <a:spLocks noChangeArrowheads="1"/>
            </p:cNvSpPr>
            <p:nvPr/>
          </p:nvSpPr>
          <p:spPr bwMode="auto">
            <a:xfrm>
              <a:off x="3602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4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2" name="Text Box 10"/>
            <p:cNvSpPr txBox="1">
              <a:spLocks noChangeArrowheads="1"/>
            </p:cNvSpPr>
            <p:nvPr/>
          </p:nvSpPr>
          <p:spPr bwMode="auto">
            <a:xfrm>
              <a:off x="2963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9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3" name="Text Box 11"/>
            <p:cNvSpPr txBox="1">
              <a:spLocks noChangeArrowheads="1"/>
            </p:cNvSpPr>
            <p:nvPr/>
          </p:nvSpPr>
          <p:spPr bwMode="auto"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10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4" name="Text Box 12"/>
            <p:cNvSpPr txBox="1">
              <a:spLocks noChangeArrowheads="1"/>
            </p:cNvSpPr>
            <p:nvPr/>
          </p:nvSpPr>
          <p:spPr bwMode="auto">
            <a:xfrm>
              <a:off x="1228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31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5" name="Text Box 13"/>
            <p:cNvSpPr txBox="1">
              <a:spLocks noChangeArrowheads="1"/>
            </p:cNvSpPr>
            <p:nvPr/>
          </p:nvSpPr>
          <p:spPr bwMode="auto">
            <a:xfrm>
              <a:off x="3919" y="322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4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6" name="Text Box 14"/>
            <p:cNvSpPr txBox="1">
              <a:spLocks noChangeArrowheads="1"/>
            </p:cNvSpPr>
            <p:nvPr/>
          </p:nvSpPr>
          <p:spPr bwMode="auto">
            <a:xfrm>
              <a:off x="3162" y="322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6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20497" name="Text Box 15"/>
            <p:cNvSpPr txBox="1">
              <a:spLocks noChangeArrowheads="1"/>
            </p:cNvSpPr>
            <p:nvPr/>
          </p:nvSpPr>
          <p:spPr bwMode="auto">
            <a:xfrm>
              <a:off x="1851" y="3220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22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AE2FB36-EB67-41C7-8223-F26700E5E28F}" type="slidenum">
              <a:rPr lang="en-AU" altLang="zh-CN"/>
            </a:fld>
            <a:endParaRPr lang="en-AU" altLang="zh-CN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Block Size Considerations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0063" y="1041400"/>
            <a:ext cx="8455025" cy="5699125"/>
          </a:xfrm>
        </p:spPr>
        <p:txBody>
          <a:bodyPr/>
          <a:lstStyle/>
          <a:p>
            <a:pPr eaLnBrk="1" hangingPunct="1"/>
            <a:r>
              <a:rPr lang="en-US" sz="2000" dirty="0" smtClean="0"/>
              <a:t>Larger blocks should reduce miss rate</a:t>
            </a:r>
            <a:endParaRPr lang="en-US" sz="2000" dirty="0" smtClean="0"/>
          </a:p>
          <a:p>
            <a:pPr lvl="1" eaLnBrk="1" hangingPunct="1"/>
            <a:r>
              <a:rPr lang="en-US" sz="1800" dirty="0" smtClean="0"/>
              <a:t>Due to spatial locality</a:t>
            </a:r>
            <a:endParaRPr lang="en-US" sz="1200" dirty="0" smtClean="0"/>
          </a:p>
          <a:p>
            <a:pPr eaLnBrk="1" hangingPunct="1"/>
            <a:r>
              <a:rPr lang="en-US" sz="2000" dirty="0" smtClean="0"/>
              <a:t>But in a fixed-sized cache</a:t>
            </a:r>
            <a:endParaRPr lang="en-US" sz="2000" dirty="0" smtClean="0"/>
          </a:p>
          <a:p>
            <a:pPr lvl="1" eaLnBrk="1" hangingPunct="1"/>
            <a:r>
              <a:rPr lang="en-US" sz="1800" dirty="0" smtClean="0"/>
              <a:t>Larger blocks </a:t>
            </a:r>
            <a:r>
              <a:rPr lang="en-US" sz="1800" dirty="0" smtClean="0">
                <a:sym typeface="Symbol" panose="05050102010706020507" pitchFamily="18" charset="2"/>
              </a:rPr>
              <a:t> fewer of</a:t>
            </a:r>
            <a:br>
              <a:rPr lang="en-US" sz="1800" dirty="0" smtClean="0">
                <a:sym typeface="Symbol" panose="05050102010706020507" pitchFamily="18" charset="2"/>
              </a:rPr>
            </a:br>
            <a:r>
              <a:rPr lang="en-US" sz="1800" dirty="0" smtClean="0">
                <a:sym typeface="Symbol" panose="05050102010706020507" pitchFamily="18" charset="2"/>
              </a:rPr>
              <a:t> them</a:t>
            </a:r>
            <a:endParaRPr lang="en-US" sz="1800" dirty="0" smtClean="0">
              <a:sym typeface="Symbol" panose="05050102010706020507" pitchFamily="18" charset="2"/>
            </a:endParaRPr>
          </a:p>
          <a:p>
            <a:pPr lvl="2" eaLnBrk="1" hangingPunct="1"/>
            <a:r>
              <a:rPr lang="en-US" sz="1800" dirty="0" smtClean="0">
                <a:sym typeface="Symbol" panose="05050102010706020507" pitchFamily="18" charset="2"/>
              </a:rPr>
              <a:t>More competition  </a:t>
            </a:r>
            <a:br>
              <a:rPr lang="en-US" sz="1800" dirty="0" smtClean="0">
                <a:sym typeface="Symbol" panose="05050102010706020507" pitchFamily="18" charset="2"/>
              </a:rPr>
            </a:br>
            <a:r>
              <a:rPr lang="en-US" sz="1800" dirty="0" smtClean="0">
                <a:sym typeface="Symbol" panose="05050102010706020507" pitchFamily="18" charset="2"/>
              </a:rPr>
              <a:t>increased miss rate</a:t>
            </a:r>
            <a:endParaRPr lang="en-US" sz="1800" dirty="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1800" dirty="0" smtClean="0">
                <a:sym typeface="Symbol" panose="05050102010706020507" pitchFamily="18" charset="2"/>
              </a:rPr>
              <a:t>Larger blocks  pollution</a:t>
            </a:r>
            <a:endParaRPr lang="en-US" sz="12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sz="2000" dirty="0" smtClean="0">
                <a:sym typeface="Symbol" panose="05050102010706020507" pitchFamily="18" charset="2"/>
              </a:rPr>
              <a:t>Larger miss penalty</a:t>
            </a:r>
            <a:endParaRPr lang="en-US" sz="2000" dirty="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1800" dirty="0" smtClean="0"/>
              <a:t>Larger blocks </a:t>
            </a:r>
            <a:r>
              <a:rPr lang="en-US" sz="1800" dirty="0" smtClean="0">
                <a:sym typeface="Symbol" panose="05050102010706020507" pitchFamily="18" charset="2"/>
              </a:rPr>
              <a:t> more time required to fetch</a:t>
            </a:r>
            <a:endParaRPr lang="en-US" sz="1800" dirty="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1800" dirty="0" smtClean="0">
                <a:sym typeface="Symbol" panose="05050102010706020507" pitchFamily="18" charset="2"/>
              </a:rPr>
              <a:t>Can override benefit of reduced miss rate</a:t>
            </a:r>
            <a:endParaRPr lang="en-US" sz="1800" dirty="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1800" dirty="0" smtClean="0">
                <a:sym typeface="Symbol" panose="05050102010706020507" pitchFamily="18" charset="2"/>
              </a:rPr>
              <a:t>Early restart and critical-word-first can help</a:t>
            </a:r>
            <a:endParaRPr lang="en-US" sz="1800" dirty="0" smtClean="0">
              <a:sym typeface="Symbol" panose="05050102010706020507" pitchFamily="18" charset="2"/>
            </a:endParaRPr>
          </a:p>
          <a:p>
            <a:pPr lvl="2" eaLnBrk="1" hangingPunct="1"/>
            <a:r>
              <a:rPr lang="en-US" sz="1600" dirty="0" smtClean="0">
                <a:solidFill>
                  <a:srgbClr val="FF0000"/>
                </a:solidFill>
                <a:sym typeface="Symbol" panose="05050102010706020507" pitchFamily="18" charset="2"/>
              </a:rPr>
              <a:t>Early restart:</a:t>
            </a:r>
            <a:r>
              <a:rPr lang="en-US" sz="1600" dirty="0" smtClean="0">
                <a:sym typeface="Symbol" panose="05050102010706020507" pitchFamily="18" charset="2"/>
              </a:rPr>
              <a:t> resume execution as soon as requested word in block is returned</a:t>
            </a:r>
            <a:endParaRPr lang="en-US" sz="1600" dirty="0" smtClean="0">
              <a:sym typeface="Symbol" panose="05050102010706020507" pitchFamily="18" charset="2"/>
            </a:endParaRPr>
          </a:p>
          <a:p>
            <a:pPr lvl="3" eaLnBrk="1" hangingPunct="1"/>
            <a:r>
              <a:rPr lang="en-US" sz="1600" dirty="0" smtClean="0">
                <a:sym typeface="Symbol" panose="05050102010706020507" pitchFamily="18" charset="2"/>
              </a:rPr>
              <a:t>Rather than wait for entire block to be returned</a:t>
            </a:r>
            <a:endParaRPr lang="en-US" sz="1600" dirty="0" smtClean="0">
              <a:sym typeface="Symbol" panose="05050102010706020507" pitchFamily="18" charset="2"/>
            </a:endParaRPr>
          </a:p>
          <a:p>
            <a:pPr lvl="2" eaLnBrk="1" hangingPunct="1"/>
            <a:r>
              <a:rPr lang="en-US" sz="1600" dirty="0" smtClean="0">
                <a:solidFill>
                  <a:srgbClr val="FF0000"/>
                </a:solidFill>
                <a:sym typeface="Symbol" panose="05050102010706020507" pitchFamily="18" charset="2"/>
              </a:rPr>
              <a:t>Critical word first: </a:t>
            </a:r>
            <a:r>
              <a:rPr lang="en-US" sz="1600" dirty="0" smtClean="0">
                <a:sym typeface="Symbol" panose="05050102010706020507" pitchFamily="18" charset="2"/>
              </a:rPr>
              <a:t>organize memory so that requested word is transferred first</a:t>
            </a:r>
            <a:endParaRPr lang="en-US" sz="1600" dirty="0" smtClean="0">
              <a:sym typeface="Symbol" panose="05050102010706020507" pitchFamily="18" charset="2"/>
            </a:endParaRPr>
          </a:p>
          <a:p>
            <a:pPr lvl="3" eaLnBrk="1" hangingPunct="1"/>
            <a:r>
              <a:rPr lang="en-US" sz="1600" dirty="0" smtClean="0">
                <a:sym typeface="Symbol" panose="05050102010706020507" pitchFamily="18" charset="2"/>
              </a:rPr>
              <a:t>Remainder of block transferred afterwards</a:t>
            </a:r>
            <a:endParaRPr lang="en-US" sz="1600" dirty="0" smtClean="0">
              <a:sym typeface="Symbol" panose="05050102010706020507" pitchFamily="18" charset="2"/>
            </a:endParaRPr>
          </a:p>
          <a:p>
            <a:pPr lvl="3" eaLnBrk="1" hangingPunct="1"/>
            <a:r>
              <a:rPr lang="en-US" sz="1600" dirty="0" smtClean="0">
                <a:sym typeface="Symbol" panose="05050102010706020507" pitchFamily="18" charset="2"/>
              </a:rPr>
              <a:t>Wrap address around to beginning of block</a:t>
            </a:r>
            <a:endParaRPr lang="en-US" sz="1600" dirty="0" smtClean="0">
              <a:sym typeface="Symbol" panose="05050102010706020507" pitchFamily="18" charset="2"/>
            </a:endParaRPr>
          </a:p>
        </p:txBody>
      </p:sp>
      <p:pic>
        <p:nvPicPr>
          <p:cNvPr id="23557" name="Picture 4" descr="f05-08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1500188"/>
            <a:ext cx="51498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1766271-B983-4746-BFB0-573504FB8E7C}" type="slidenum">
              <a:rPr lang="en-AU" altLang="zh-CN"/>
            </a:fld>
            <a:endParaRPr lang="en-AU" altLang="zh-CN"/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Misses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 cache hit, CPU proceeds normally</a:t>
            </a:r>
            <a:endParaRPr lang="en-US" smtClean="0"/>
          </a:p>
          <a:p>
            <a:pPr eaLnBrk="1" hangingPunct="1"/>
            <a:r>
              <a:rPr lang="en-US" smtClean="0"/>
              <a:t>On cache miss</a:t>
            </a:r>
            <a:endParaRPr lang="en-US" smtClean="0"/>
          </a:p>
          <a:p>
            <a:pPr lvl="1" eaLnBrk="1" hangingPunct="1"/>
            <a:r>
              <a:rPr lang="en-US" smtClean="0"/>
              <a:t>Stall the CPU pipeline</a:t>
            </a:r>
            <a:endParaRPr lang="en-US" smtClean="0"/>
          </a:p>
          <a:p>
            <a:pPr lvl="2" eaLnBrk="1" hangingPunct="1"/>
            <a:r>
              <a:rPr lang="en-US" smtClean="0"/>
              <a:t>Instead of interrupts which require saving context</a:t>
            </a:r>
            <a:endParaRPr lang="en-US" smtClean="0"/>
          </a:p>
          <a:p>
            <a:pPr lvl="1" eaLnBrk="1" hangingPunct="1"/>
            <a:r>
              <a:rPr lang="en-US" smtClean="0"/>
              <a:t>Fetch block from next level of hierarchy</a:t>
            </a:r>
            <a:endParaRPr lang="en-US" smtClean="0"/>
          </a:p>
          <a:p>
            <a:pPr lvl="1" eaLnBrk="1" hangingPunct="1"/>
            <a:r>
              <a:rPr lang="en-US" smtClean="0"/>
              <a:t>Instruction cache miss</a:t>
            </a:r>
            <a:endParaRPr lang="en-US" smtClean="0"/>
          </a:p>
          <a:p>
            <a:pPr lvl="2" eaLnBrk="1" hangingPunct="1"/>
            <a:r>
              <a:rPr lang="en-US" smtClean="0"/>
              <a:t>Restart instruction fetch</a:t>
            </a:r>
            <a:endParaRPr lang="en-US" smtClean="0"/>
          </a:p>
          <a:p>
            <a:pPr lvl="1" eaLnBrk="1" hangingPunct="1"/>
            <a:r>
              <a:rPr lang="en-US" smtClean="0"/>
              <a:t>Data cache miss</a:t>
            </a:r>
            <a:endParaRPr lang="en-US" smtClean="0"/>
          </a:p>
          <a:p>
            <a:pPr lvl="2" eaLnBrk="1" hangingPunct="1"/>
            <a:r>
              <a:rPr lang="en-US" smtClean="0"/>
              <a:t>Complete data access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F3C9DD5-15DE-47FE-9711-E8194D71B554}" type="slidenum">
              <a:rPr lang="en-AU" altLang="zh-CN"/>
            </a:fld>
            <a:endParaRPr lang="en-AU" altLang="zh-CN"/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Handling Cache Writes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On data-write hit, could just update the block in cache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then cache and memory would be inconsistent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FF0000"/>
                </a:solidFill>
              </a:rPr>
              <a:t>Write through: </a:t>
            </a:r>
            <a:r>
              <a:rPr lang="en-US" sz="2800" smtClean="0"/>
              <a:t>also update memory</a:t>
            </a:r>
            <a:endParaRPr 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But makes writes take longer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e.g., if base CPI = 1, 10% of instructions are stores, write to memory takes 100 cycles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 Effective CPI = 1 + 0.1×100 = 11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Solution: </a:t>
            </a:r>
            <a:r>
              <a:rPr lang="en-US" sz="2800" smtClean="0">
                <a:solidFill>
                  <a:srgbClr val="FF0000"/>
                </a:solidFill>
              </a:rPr>
              <a:t>write buffer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Holds data waiting to be written to memory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CPU continues immediately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Only stalls on write if write buffer is already full</a:t>
            </a: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DF48BF8-F5C4-49BE-9078-A2AD4CC9556F}" type="slidenum">
              <a:rPr lang="en-AU" altLang="zh-CN"/>
            </a:fld>
            <a:endParaRPr lang="en-AU" altLang="zh-CN"/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Write-Back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458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Alternative Solution: On data-write hit, just update the block in cache</a:t>
            </a:r>
            <a:endParaRPr lang="en-US" dirty="0" smtClean="0"/>
          </a:p>
          <a:p>
            <a:pPr lvl="1" eaLnBrk="1" hangingPunct="1"/>
            <a:r>
              <a:rPr lang="en-US" dirty="0" smtClean="0"/>
              <a:t>Keep track of whether each block is </a:t>
            </a:r>
            <a:r>
              <a:rPr lang="en-US" dirty="0" smtClean="0">
                <a:solidFill>
                  <a:srgbClr val="FF0000"/>
                </a:solidFill>
              </a:rPr>
              <a:t>dirty</a:t>
            </a:r>
            <a:endParaRPr lang="en-US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 smtClean="0"/>
              <a:t>When a </a:t>
            </a:r>
            <a:r>
              <a:rPr lang="en-US" dirty="0" smtClean="0">
                <a:solidFill>
                  <a:srgbClr val="FF0000"/>
                </a:solidFill>
              </a:rPr>
              <a:t>dirty</a:t>
            </a:r>
            <a:r>
              <a:rPr lang="en-US" dirty="0" smtClean="0"/>
              <a:t> block is replaced</a:t>
            </a:r>
            <a:endParaRPr lang="en-US" dirty="0" smtClean="0"/>
          </a:p>
          <a:p>
            <a:pPr lvl="1" eaLnBrk="1" hangingPunct="1"/>
            <a:r>
              <a:rPr lang="en-US" dirty="0" smtClean="0"/>
              <a:t>Write it back to memory</a:t>
            </a:r>
            <a:endParaRPr lang="en-US" dirty="0" smtClean="0"/>
          </a:p>
          <a:p>
            <a:pPr lvl="1" eaLnBrk="1" hangingPunct="1"/>
            <a:r>
              <a:rPr lang="en-US" dirty="0" smtClean="0"/>
              <a:t>Can use a write buffer to allow replacing block to be read first</a:t>
            </a:r>
            <a:endParaRPr lang="en-US" dirty="0" smtClean="0"/>
          </a:p>
          <a:p>
            <a:pPr lvl="2" eaLnBrk="1" hangingPunct="1"/>
            <a:r>
              <a:rPr lang="en-US" dirty="0" smtClean="0"/>
              <a:t>without waiting for the block to be written into memory first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54FACF8-9E34-4EF2-ACAC-E280CBC8CE6F}" type="slidenum">
              <a:rPr lang="en-AU" altLang="zh-CN"/>
            </a:fld>
            <a:endParaRPr lang="en-AU" altLang="zh-CN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Write Allocation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should happen on a write miss?</a:t>
            </a:r>
            <a:endParaRPr lang="en-US" smtClean="0"/>
          </a:p>
          <a:p>
            <a:pPr eaLnBrk="1" hangingPunct="1"/>
            <a:r>
              <a:rPr lang="en-US" smtClean="0"/>
              <a:t>Alternatives for write-through</a:t>
            </a:r>
            <a:endParaRPr lang="en-US" smtClean="0"/>
          </a:p>
          <a:p>
            <a:pPr lvl="1" eaLnBrk="1" hangingPunct="1"/>
            <a:r>
              <a:rPr lang="en-US" sz="2400" smtClean="0"/>
              <a:t>Allocate on miss: fetch the block, overwrite appropriate portion of block with word(s)</a:t>
            </a:r>
            <a:endParaRPr lang="en-US" sz="2400" smtClean="0"/>
          </a:p>
          <a:p>
            <a:pPr lvl="1" eaLnBrk="1" hangingPunct="1"/>
            <a:r>
              <a:rPr lang="en-US" sz="2400" smtClean="0"/>
              <a:t>Write around: don’t fetch the block</a:t>
            </a:r>
            <a:endParaRPr lang="en-US" sz="2400" smtClean="0"/>
          </a:p>
          <a:p>
            <a:pPr lvl="2" eaLnBrk="1" hangingPunct="1"/>
            <a:r>
              <a:rPr lang="en-US" smtClean="0"/>
              <a:t>Aka no write allocate</a:t>
            </a:r>
            <a:endParaRPr lang="en-US" smtClean="0"/>
          </a:p>
          <a:p>
            <a:pPr lvl="2" eaLnBrk="1" hangingPunct="1"/>
            <a:r>
              <a:rPr lang="en-US" smtClean="0"/>
              <a:t>Since programs often write whole blocks of data without needing to read, or access data immediately (e.g., when OS zeros a memory page)</a:t>
            </a:r>
            <a:endParaRPr lang="en-US" smtClean="0"/>
          </a:p>
          <a:p>
            <a:pPr eaLnBrk="1" hangingPunct="1"/>
            <a:r>
              <a:rPr lang="en-US" smtClean="0"/>
              <a:t>Alternatives for write-back</a:t>
            </a:r>
            <a:endParaRPr lang="en-US" smtClean="0"/>
          </a:p>
          <a:p>
            <a:pPr lvl="1" eaLnBrk="1" hangingPunct="1"/>
            <a:r>
              <a:rPr lang="en-US" sz="2400" smtClean="0"/>
              <a:t>Usually fetch the block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215A7B6-B065-468E-B618-D491C420C979}" type="slidenum">
              <a:rPr lang="en-AU" altLang="zh-CN"/>
            </a:fld>
            <a:endParaRPr lang="en-AU" altLang="zh-CN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dirty="0" smtClean="0">
                <a:ea typeface="宋体" panose="02010600030101010101" pitchFamily="2" charset="-122"/>
              </a:rPr>
              <a:t>Example: </a:t>
            </a:r>
            <a:r>
              <a:rPr lang="en-AU" altLang="zh-CN" dirty="0" err="1" smtClean="0">
                <a:ea typeface="宋体" panose="02010600030101010101" pitchFamily="2" charset="-122"/>
              </a:rPr>
              <a:t>Intrinsity</a:t>
            </a:r>
            <a:r>
              <a:rPr lang="en-AU" altLang="zh-CN" dirty="0" smtClean="0">
                <a:ea typeface="宋体" panose="02010600030101010101" pitchFamily="2" charset="-122"/>
              </a:rPr>
              <a:t> </a:t>
            </a:r>
            <a:r>
              <a:rPr lang="en-AU" altLang="zh-CN" dirty="0" err="1" smtClean="0">
                <a:ea typeface="宋体" panose="02010600030101010101" pitchFamily="2" charset="-122"/>
              </a:rPr>
              <a:t>FastMATH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Embedded MIPS processor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12-stage pipeline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Instruction and data access on each cycle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solidFill>
                  <a:schemeClr val="tx2"/>
                </a:solidFill>
                <a:ea typeface="宋体" panose="02010600030101010101" pitchFamily="2" charset="-122"/>
              </a:rPr>
              <a:t>Split cache</a:t>
            </a:r>
            <a:r>
              <a:rPr lang="en-AU" altLang="zh-CN" smtClean="0">
                <a:ea typeface="宋体" panose="02010600030101010101" pitchFamily="2" charset="-122"/>
              </a:rPr>
              <a:t>: separate I-cache and D-cache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Each 16KB: 256 blocks </a:t>
            </a:r>
            <a:r>
              <a:rPr lang="en-US" smtClean="0">
                <a:cs typeface="Arial" panose="020B0604020202020204" pitchFamily="34" charset="0"/>
              </a:rPr>
              <a:t>×</a:t>
            </a:r>
            <a:r>
              <a:rPr lang="en-AU" altLang="zh-CN" smtClean="0">
                <a:ea typeface="宋体" panose="02010600030101010101" pitchFamily="2" charset="-122"/>
              </a:rPr>
              <a:t> 16 words/block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D-cache: write-through or write-back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OS decides which to use for an application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SPEC2000 miss rates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I-cache: 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0.4%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D-cache: 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11.4%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Weighted average: 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3.2%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C0DBD6D-20A2-4D89-B858-4F6EF0F414CD}" type="slidenum">
              <a:rPr lang="en-AU" altLang="zh-CN"/>
            </a:fld>
            <a:endParaRPr lang="en-AU" altLang="zh-CN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Example: Intrinsity FastMATH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27652" name="Picture 4" descr="f05-09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18FE03E-2B63-4DAB-A94C-44AA8BFCAD79}" type="slidenum">
              <a:rPr lang="en-AU" altLang="zh-CN"/>
            </a:fld>
            <a:endParaRPr lang="en-AU" altLang="zh-CN"/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Main Memory Supporting Caches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307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Use DRAMs for main memory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Fixed width (e.g., 1 word)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Connected by fixed-width clocked bus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Bus clock is typically slower than CPU clock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 cache block read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 bus cycle for address transfer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15 bus cycles per DRAM access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 bus cycle per data word transfer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For 4-word block, 1-word-wide DRAM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Miss penalty = 1 + 4×15 + 4×1 = 65 bus cycles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Bandwidth = 16 bytes / 65 cycles = 0.25 B/cycle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1 GHz clocked DRAM would have 250 MB/sec bandwidth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A64F0AF-5B6E-4E71-92EE-3005EFD5E4F7}" type="slidenum">
              <a:rPr lang="en-AU" altLang="zh-CN"/>
            </a:fld>
            <a:endParaRPr lang="en-AU" altLang="zh-CN"/>
          </a:p>
        </p:txBody>
      </p:sp>
      <p:pic>
        <p:nvPicPr>
          <p:cNvPr id="29699" name="Picture 6" descr="f05-1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Increasing Memory Bandwidth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2195513" y="4076700"/>
            <a:ext cx="675957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/>
              <a:t>4-word wide memory</a:t>
            </a:r>
            <a:endParaRPr lang="en-US" sz="2400"/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/>
              <a:t>Miss penalty = 1 + 15 + 1 = 17 bus cycles</a:t>
            </a:r>
            <a:endParaRPr lang="en-US" sz="2000"/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/>
              <a:t>Bandwidth = 16 bytes / 17 cycles = 0.94 B/cycle</a:t>
            </a:r>
            <a:endParaRPr lang="en-US" sz="20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/>
              <a:t>4-bank interleaved memory</a:t>
            </a:r>
            <a:endParaRPr lang="en-US" sz="2400"/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/>
              <a:t>Miss penalty = 1 + 15 + 4×1 = 20 bus cycles</a:t>
            </a:r>
            <a:endParaRPr lang="en-US" sz="2000"/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/>
              <a:t>Bandwidth = 16 bytes / 20 cycles = 0.8 B/cycle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6" name="AutoShape 43"/>
          <p:cNvSpPr/>
          <p:nvPr/>
        </p:nvSpPr>
        <p:spPr bwMode="auto">
          <a:xfrm>
            <a:off x="7148513" y="1357313"/>
            <a:ext cx="1795462" cy="642937"/>
          </a:xfrm>
          <a:prstGeom prst="borderCallout1">
            <a:avLst>
              <a:gd name="adj1" fmla="val 110227"/>
              <a:gd name="adj2" fmla="val 37921"/>
              <a:gd name="adj3" fmla="val 247088"/>
              <a:gd name="adj4" fmla="val -353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Independent writes/bank</a:t>
            </a:r>
            <a:endParaRPr lang="en-AU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1D2CD01B-CDD1-4A19-9372-6FFE402E738D}" type="slidenum">
              <a:rPr lang="en-AU" altLang="zh-CN"/>
            </a:fld>
            <a:endParaRPr lang="en-AU" altLang="zh-CN"/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Advanced DRAM Organization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07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DRAMs include clocks to eliminate memory-processor synchronization time</a:t>
            </a:r>
            <a:endParaRPr lang="en-US" sz="2800" smtClean="0"/>
          </a:p>
          <a:p>
            <a:pPr lvl="1" eaLnBrk="1" hangingPunct="1"/>
            <a:r>
              <a:rPr lang="en-US" sz="2400" smtClean="0">
                <a:solidFill>
                  <a:schemeClr val="tx2"/>
                </a:solidFill>
              </a:rPr>
              <a:t>Synchronized DRAM (SDRAM)</a:t>
            </a:r>
            <a:endParaRPr lang="en-US" sz="2400" smtClean="0">
              <a:solidFill>
                <a:schemeClr val="tx2"/>
              </a:solidFill>
            </a:endParaRPr>
          </a:p>
          <a:p>
            <a:pPr eaLnBrk="1" hangingPunct="1"/>
            <a:r>
              <a:rPr lang="en-US" sz="2800" smtClean="0"/>
              <a:t>DRAM bits are organized as a rectangular array</a:t>
            </a:r>
            <a:endParaRPr lang="en-US" sz="2800" smtClean="0"/>
          </a:p>
          <a:p>
            <a:pPr lvl="1" eaLnBrk="1" hangingPunct="1"/>
            <a:r>
              <a:rPr lang="en-US" sz="2400" smtClean="0"/>
              <a:t>DRAM accesses (and buffers) an entire row</a:t>
            </a:r>
            <a:endParaRPr lang="en-US" sz="24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Burst mode</a:t>
            </a:r>
            <a:r>
              <a:rPr lang="en-US" sz="2400" smtClean="0"/>
              <a:t>: supply successive words from a row (buffer) with reduced latency</a:t>
            </a:r>
            <a:endParaRPr lang="en-US" sz="2400" smtClean="0"/>
          </a:p>
          <a:p>
            <a:pPr eaLnBrk="1" hangingPunct="1"/>
            <a:r>
              <a:rPr lang="en-US" sz="2800" smtClean="0"/>
              <a:t>Double data rate (DDR) DRAM</a:t>
            </a:r>
            <a:endParaRPr lang="en-US" sz="2800" smtClean="0"/>
          </a:p>
          <a:p>
            <a:pPr lvl="1" eaLnBrk="1" hangingPunct="1"/>
            <a:r>
              <a:rPr lang="en-US" sz="2400" smtClean="0"/>
              <a:t>Transfer on rising and falling clock edges</a:t>
            </a:r>
            <a:endParaRPr lang="en-US" sz="2400" smtClean="0"/>
          </a:p>
          <a:p>
            <a:pPr eaLnBrk="1" hangingPunct="1"/>
            <a:r>
              <a:rPr lang="en-US" sz="2800" smtClean="0"/>
              <a:t>Quad data rate (QDR) DRAM</a:t>
            </a:r>
            <a:endParaRPr lang="en-US" sz="2800" smtClean="0"/>
          </a:p>
          <a:p>
            <a:pPr lvl="1" eaLnBrk="1" hangingPunct="1"/>
            <a:r>
              <a:rPr lang="en-US" sz="2400" smtClean="0"/>
              <a:t>Separate DDR inputs and outputs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6A9BEF1-5BDA-4C5A-810C-FD03573D8667}" type="slidenum">
              <a:rPr lang="en-AU" altLang="zh-CN"/>
            </a:fld>
            <a:endParaRPr lang="en-AU" altLang="zh-CN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DRAM Generations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1748" name="Object 3"/>
          <p:cNvGraphicFramePr>
            <a:graphicFrameLocks noChangeAspect="1"/>
          </p:cNvGraphicFramePr>
          <p:nvPr/>
        </p:nvGraphicFramePr>
        <p:xfrm>
          <a:off x="3779838" y="1357313"/>
          <a:ext cx="5253037" cy="441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5" name="Chart" r:id="rId1" imgW="5805170" imgH="4777740" progId="MSGraph.Chart.8">
                  <p:embed followColorScheme="full"/>
                </p:oleObj>
              </mc:Choice>
              <mc:Fallback>
                <p:oleObj name="Chart" r:id="rId1" imgW="5805170" imgH="477774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357313"/>
                        <a:ext cx="5253037" cy="441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2" name="Group 58"/>
          <p:cNvGraphicFramePr>
            <a:graphicFrameLocks noGrp="1"/>
          </p:cNvGraphicFramePr>
          <p:nvPr/>
        </p:nvGraphicFramePr>
        <p:xfrm>
          <a:off x="682625" y="1700213"/>
          <a:ext cx="2952750" cy="4064004"/>
        </p:xfrm>
        <a:graphic>
          <a:graphicData uri="http://schemas.openxmlformats.org/drawingml/2006/table">
            <a:tbl>
              <a:tblPr/>
              <a:tblGrid>
                <a:gridCol w="790575"/>
                <a:gridCol w="1009650"/>
                <a:gridCol w="1152525"/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Year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Capacity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$/GB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64Kbit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$1500000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1983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256Kbit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1985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$200000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1989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1992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$15000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1996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1998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128Mbit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$4000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256Mbit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2004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512Mbit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$250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2007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1Gbit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99" name="TextBox 5"/>
          <p:cNvSpPr txBox="1">
            <a:spLocks noChangeArrowheads="1"/>
          </p:cNvSpPr>
          <p:nvPr/>
        </p:nvSpPr>
        <p:spPr bwMode="auto">
          <a:xfrm>
            <a:off x="4071938" y="5715000"/>
            <a:ext cx="4348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/>
              <a:t>Trac: Total access time to new row/column</a:t>
            </a:r>
            <a:endParaRPr lang="en-US" sz="1600" b="1"/>
          </a:p>
          <a:p>
            <a:r>
              <a:rPr lang="en-US" sz="1600" b="1"/>
              <a:t>Tcac: Column access time to existing row</a:t>
            </a:r>
            <a:endParaRPr 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57931FC-E743-43F0-9A42-7F81EAB5E6C2}" type="slidenum">
              <a:rPr lang="en-AU" altLang="zh-CN"/>
            </a:fld>
            <a:endParaRPr lang="en-AU" altLang="zh-CN"/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Measuring Cache Performance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205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7352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Components of CPU time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 execution cycles</a:t>
            </a:r>
            <a:endParaRPr lang="en-US" sz="2400" dirty="0" smtClean="0"/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Includes cache hit time</a:t>
            </a:r>
            <a:endParaRPr lang="en-US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Memory stall cycles</a:t>
            </a:r>
            <a:endParaRPr lang="en-US" sz="2400" dirty="0" smtClean="0"/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Mainly from cache misses</a:t>
            </a:r>
            <a:endParaRPr lang="en-US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With simplifying assumptions: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Write buffer stalls negligible</a:t>
            </a:r>
            <a:endParaRPr lang="en-AU" altLang="zh-CN" sz="2400" dirty="0" smtClean="0">
              <a:ea typeface="宋体" panose="02010600030101010101" pitchFamily="2" charset="-122"/>
            </a:endParaRP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 rot="5400000">
            <a:off x="6277769" y="2499519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§5.3 Measuring and Improving Cache Performance</a:t>
            </a:r>
            <a:endParaRPr lang="en-US">
              <a:solidFill>
                <a:schemeClr val="folHlink"/>
              </a:solidFill>
            </a:endParaRP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1385888" y="3994150"/>
          <a:ext cx="6148387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1" imgW="3073400" imgH="1092200" progId="Equation.3">
                  <p:embed/>
                </p:oleObj>
              </mc:Choice>
              <mc:Fallback>
                <p:oleObj name="Equation" r:id="rId1" imgW="3073400" imgH="1092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3994150"/>
                        <a:ext cx="6148387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8B864D1-FD41-435E-8E35-4446D5DEB8C7}" type="slidenum">
              <a:rPr lang="en-AU" altLang="zh-CN"/>
            </a:fld>
            <a:endParaRPr lang="en-AU" altLang="zh-CN"/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Performance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Given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I-cache miss rate = 2%</a:t>
            </a:r>
            <a:endParaRPr 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D-cache miss rate = 4%</a:t>
            </a:r>
            <a:endParaRPr 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Miss penalty = 100 cycles</a:t>
            </a:r>
            <a:endParaRPr 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Base CPI (without memory stalls) = 2</a:t>
            </a:r>
            <a:endParaRPr 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Load &amp; stores are 36% of instructions</a:t>
            </a:r>
            <a:endParaRPr lang="en-US" sz="2400" smtClean="0"/>
          </a:p>
          <a:p>
            <a:pPr eaLnBrk="1" hangingPunct="1">
              <a:lnSpc>
                <a:spcPct val="80000"/>
              </a:lnSpc>
            </a:pPr>
            <a:r>
              <a:rPr lang="en-US" sz="2800" smtClean="0">
                <a:solidFill>
                  <a:srgbClr val="FF0000"/>
                </a:solidFill>
              </a:rPr>
              <a:t>How much faster would a processor run with a perfect cache that never missed?</a:t>
            </a:r>
            <a:endParaRPr lang="en-US" sz="1600" smtClean="0"/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Miss cycles per instruction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I-cache: 0.02 × 100 = 2</a:t>
            </a:r>
            <a:endParaRPr 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D-cache: 0.36 × 0.04 × 100 = 1.44</a:t>
            </a:r>
            <a:endParaRPr lang="en-US" sz="2400" smtClean="0"/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Actual CPI = 2 + 2 + 1.44 = 5.44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Ideal CPU is 5.44/2 =2.72 times faster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Cache Performance Example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What if we speed-up the computer by reducing the CPI</a:t>
            </a:r>
            <a:r>
              <a:rPr lang="en-US" sz="2800" baseline="-25000" smtClean="0"/>
              <a:t>ideal</a:t>
            </a:r>
            <a:r>
              <a:rPr lang="en-US" sz="2800" smtClean="0"/>
              <a:t> to 1, without changing clock rate?</a:t>
            </a:r>
            <a:endParaRPr lang="en-US" sz="2800" smtClean="0"/>
          </a:p>
          <a:p>
            <a:pPr lvl="1"/>
            <a:r>
              <a:rPr lang="en-US" sz="2400" smtClean="0"/>
              <a:t>Actual CPI = 1 + 3.44 = 4.44</a:t>
            </a:r>
            <a:endParaRPr lang="en-US" sz="2400" smtClean="0"/>
          </a:p>
          <a:p>
            <a:pPr lvl="1"/>
            <a:r>
              <a:rPr lang="en-US" sz="2400" smtClean="0"/>
              <a:t>Ideal CPU is 4.44/1 =</a:t>
            </a:r>
            <a:r>
              <a:rPr lang="en-US" sz="2400" smtClean="0">
                <a:solidFill>
                  <a:srgbClr val="FF0000"/>
                </a:solidFill>
              </a:rPr>
              <a:t>4.44</a:t>
            </a:r>
            <a:r>
              <a:rPr lang="en-US" sz="2400" smtClean="0"/>
              <a:t> times faster</a:t>
            </a:r>
            <a:endParaRPr lang="en-US" sz="2400" smtClean="0"/>
          </a:p>
          <a:p>
            <a:pPr lvl="1"/>
            <a:r>
              <a:rPr lang="en-US" sz="2400" smtClean="0"/>
              <a:t>Amount of execution time spent on memory stalls rises from 3.44/5.44 = </a:t>
            </a:r>
            <a:r>
              <a:rPr lang="en-US" sz="2400" smtClean="0">
                <a:solidFill>
                  <a:srgbClr val="FF0000"/>
                </a:solidFill>
              </a:rPr>
              <a:t>63%</a:t>
            </a:r>
            <a:r>
              <a:rPr lang="en-US" sz="2400" smtClean="0"/>
              <a:t> to 3.44/4.44 = </a:t>
            </a:r>
            <a:r>
              <a:rPr lang="en-US" sz="2400" smtClean="0">
                <a:solidFill>
                  <a:srgbClr val="FF0000"/>
                </a:solidFill>
              </a:rPr>
              <a:t>77%</a:t>
            </a:r>
            <a:endParaRPr lang="en-US" sz="2400" smtClean="0"/>
          </a:p>
          <a:p>
            <a:r>
              <a:rPr lang="en-US" sz="2800" smtClean="0"/>
              <a:t>What if we increased clock rate?</a:t>
            </a:r>
            <a:endParaRPr lang="en-US" sz="2800" smtClean="0"/>
          </a:p>
          <a:p>
            <a:pPr lvl="1"/>
            <a:r>
              <a:rPr lang="en-US" sz="2400" smtClean="0"/>
              <a:t>Similar increase in performance lost due to cache misses</a:t>
            </a:r>
            <a:endParaRPr lang="en-US" sz="2400" smtClean="0">
              <a:solidFill>
                <a:srgbClr val="FF0000"/>
              </a:solidFill>
            </a:endParaRPr>
          </a:p>
          <a:p>
            <a:r>
              <a:rPr lang="en-US" sz="2800" smtClean="0">
                <a:solidFill>
                  <a:srgbClr val="FF0000"/>
                </a:solidFill>
              </a:rPr>
              <a:t>Remember Amdahl’s law!</a:t>
            </a:r>
            <a:endParaRPr lang="en-AU" altLang="zh-CN" sz="28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endParaRPr lang="en-US" sz="2000" smtClean="0"/>
          </a:p>
          <a:p>
            <a:pPr lvl="1"/>
            <a:endParaRPr lang="en-US" sz="2000" smtClean="0"/>
          </a:p>
          <a:p>
            <a:endParaRPr lang="en-US" smtClean="0"/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11B9989A-D943-4357-B39F-0165A4DE9A79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774C8FB-3C8C-4C98-872B-3E7639AF4D22}" type="slidenum">
              <a:rPr lang="en-AU" altLang="zh-CN"/>
            </a:fld>
            <a:endParaRPr lang="en-AU" altLang="zh-CN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Average Access Time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Hit time </a:t>
            </a:r>
            <a:r>
              <a:rPr lang="en-AU" altLang="zh-CN" smtClean="0">
                <a:ea typeface="宋体" panose="02010600030101010101" pitchFamily="2" charset="-122"/>
              </a:rPr>
              <a:t>is also important for performance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Average memory access time (</a:t>
            </a:r>
            <a:r>
              <a:rPr lang="en-AU" altLang="zh-CN" smtClean="0">
                <a:solidFill>
                  <a:schemeClr val="tx2"/>
                </a:solidFill>
                <a:ea typeface="宋体" panose="02010600030101010101" pitchFamily="2" charset="-122"/>
              </a:rPr>
              <a:t>AMAT</a:t>
            </a:r>
            <a:r>
              <a:rPr lang="en-AU" altLang="zh-CN" smtClean="0">
                <a:ea typeface="宋体" panose="02010600030101010101" pitchFamily="2" charset="-122"/>
              </a:rPr>
              <a:t>)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solidFill>
                  <a:schemeClr val="tx2"/>
                </a:solidFill>
                <a:ea typeface="宋体" panose="02010600030101010101" pitchFamily="2" charset="-122"/>
              </a:rPr>
              <a:t>AMAT = Hit time + Miss rate </a:t>
            </a:r>
            <a:r>
              <a:rPr lang="en-US" smtClean="0">
                <a:solidFill>
                  <a:schemeClr val="tx2"/>
                </a:solidFill>
                <a:cs typeface="Arial" panose="020B0604020202020204" pitchFamily="34" charset="0"/>
              </a:rPr>
              <a:t>× Miss penalty</a:t>
            </a:r>
            <a:endParaRPr lang="en-US" smtClean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smtClean="0">
                <a:cs typeface="Arial" panose="020B0604020202020204" pitchFamily="34" charset="0"/>
              </a:rPr>
              <a:t>Example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CPU with 1ns clock, hit time = 1 cycle, miss penalty = 20 cycles, miss rate/instruction = 5%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AMAT = 1 + 0.05 × 20 = 2ns</a:t>
            </a:r>
            <a:endParaRPr lang="en-US" smtClean="0">
              <a:cs typeface="Arial" panose="020B0604020202020204" pitchFamily="34" charset="0"/>
            </a:endParaRPr>
          </a:p>
          <a:p>
            <a:pPr lvl="2" eaLnBrk="1" hangingPunct="1"/>
            <a:r>
              <a:rPr lang="en-US" smtClean="0">
                <a:cs typeface="Arial" panose="020B0604020202020204" pitchFamily="34" charset="0"/>
              </a:rPr>
              <a:t>2 cycles per instruction</a:t>
            </a:r>
            <a:endParaRPr 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4BA7319-6DF2-484C-A29A-98DDFED5B916}" type="slidenum">
              <a:rPr lang="en-AU" altLang="zh-CN"/>
            </a:fld>
            <a:endParaRPr lang="en-AU" altLang="zh-CN"/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Performance Summary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68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When CPU performance increased</a:t>
            </a:r>
            <a:endParaRPr lang="en-US" smtClean="0"/>
          </a:p>
          <a:p>
            <a:pPr lvl="1" eaLnBrk="1" hangingPunct="1"/>
            <a:r>
              <a:rPr lang="en-US" smtClean="0"/>
              <a:t>Miss penalty becomes more significant</a:t>
            </a:r>
            <a:endParaRPr lang="en-US" smtClean="0"/>
          </a:p>
          <a:p>
            <a:pPr eaLnBrk="1" hangingPunct="1"/>
            <a:r>
              <a:rPr lang="en-US" smtClean="0"/>
              <a:t>Decreasing base CPI</a:t>
            </a:r>
            <a:endParaRPr lang="en-US" smtClean="0"/>
          </a:p>
          <a:p>
            <a:pPr lvl="1" eaLnBrk="1" hangingPunct="1"/>
            <a:r>
              <a:rPr lang="en-US" smtClean="0"/>
              <a:t>Greater proportion of time spent on memory stalls</a:t>
            </a:r>
            <a:endParaRPr lang="en-US" smtClean="0"/>
          </a:p>
          <a:p>
            <a:pPr eaLnBrk="1" hangingPunct="1"/>
            <a:r>
              <a:rPr lang="en-US" smtClean="0"/>
              <a:t>Increasing clock rate</a:t>
            </a:r>
            <a:endParaRPr lang="en-US" smtClean="0"/>
          </a:p>
          <a:p>
            <a:pPr lvl="1" eaLnBrk="1" hangingPunct="1"/>
            <a:r>
              <a:rPr lang="en-US" smtClean="0"/>
              <a:t>Memory stalls account for more CPU cycles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chemeClr val="tx2"/>
                </a:solidFill>
              </a:rPr>
              <a:t>Can’t neglect cache behavior when evaluating system performance</a:t>
            </a:r>
            <a:endParaRPr lang="en-AU" altLang="zh-CN" smtClean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9DFB8F9-AA0E-4784-A04C-DB23FBC260BA}" type="slidenum">
              <a:rPr lang="en-AU" altLang="zh-CN"/>
            </a:fld>
            <a:endParaRPr lang="en-AU" altLang="zh-CN"/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Associative Caches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789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/>
                </a:solidFill>
              </a:rPr>
              <a:t>Fully associative</a:t>
            </a:r>
            <a:endParaRPr lang="en-US" dirty="0" smtClean="0">
              <a:solidFill>
                <a:schemeClr val="tx2"/>
              </a:solidFill>
            </a:endParaRPr>
          </a:p>
          <a:p>
            <a:pPr lvl="1" eaLnBrk="1" hangingPunct="1"/>
            <a:r>
              <a:rPr lang="en-US" dirty="0" smtClean="0"/>
              <a:t>Allow a given block to go in any cache entry</a:t>
            </a:r>
            <a:endParaRPr lang="en-US" dirty="0" smtClean="0"/>
          </a:p>
          <a:p>
            <a:pPr lvl="1" eaLnBrk="1" hangingPunct="1"/>
            <a:r>
              <a:rPr lang="en-US" dirty="0" smtClean="0"/>
              <a:t>Requires all entries to be searched at once</a:t>
            </a:r>
            <a:endParaRPr lang="en-US" dirty="0" smtClean="0"/>
          </a:p>
          <a:p>
            <a:pPr lvl="1" eaLnBrk="1" hangingPunct="1"/>
            <a:r>
              <a:rPr lang="en-US" dirty="0" smtClean="0"/>
              <a:t>One comparator per cache entry (</a:t>
            </a:r>
            <a:r>
              <a:rPr lang="en-US" dirty="0" smtClean="0">
                <a:solidFill>
                  <a:srgbClr val="FF0000"/>
                </a:solidFill>
              </a:rPr>
              <a:t>expensive!</a:t>
            </a:r>
            <a:r>
              <a:rPr lang="en-US" dirty="0" smtClean="0"/>
              <a:t>)</a:t>
            </a:r>
            <a:endParaRPr lang="en-US" dirty="0" smtClean="0"/>
          </a:p>
          <a:p>
            <a:pPr eaLnBrk="1" hangingPunct="1"/>
            <a:r>
              <a:rPr lang="en-US" i="1" dirty="0" smtClean="0">
                <a:solidFill>
                  <a:schemeClr val="tx2"/>
                </a:solidFill>
              </a:rPr>
              <a:t>n</a:t>
            </a:r>
            <a:r>
              <a:rPr lang="en-US" dirty="0" smtClean="0">
                <a:solidFill>
                  <a:schemeClr val="tx2"/>
                </a:solidFill>
              </a:rPr>
              <a:t>-way set associative</a:t>
            </a:r>
            <a:endParaRPr lang="en-US" dirty="0" smtClean="0">
              <a:solidFill>
                <a:schemeClr val="tx2"/>
              </a:solidFill>
            </a:endParaRPr>
          </a:p>
          <a:p>
            <a:pPr lvl="1" eaLnBrk="1" hangingPunct="1"/>
            <a:r>
              <a:rPr lang="en-US" dirty="0" smtClean="0"/>
              <a:t>Each set contains </a:t>
            </a:r>
            <a:r>
              <a:rPr lang="en-US" i="1" dirty="0" smtClean="0"/>
              <a:t>n</a:t>
            </a:r>
            <a:r>
              <a:rPr lang="en-US" dirty="0" smtClean="0"/>
              <a:t> entries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dirty="0" smtClean="0"/>
              <a:t>Block number determines which set</a:t>
            </a:r>
            <a:endParaRPr lang="en-US" dirty="0" smtClean="0"/>
          </a:p>
          <a:p>
            <a:pPr lvl="2" eaLnBrk="1" hangingPunct="1"/>
            <a:r>
              <a:rPr lang="en-US" dirty="0" smtClean="0"/>
              <a:t>(Block number) modulo (#Sets in cache)</a:t>
            </a:r>
            <a:endParaRPr lang="en-US" dirty="0" smtClean="0"/>
          </a:p>
          <a:p>
            <a:pPr lvl="1" eaLnBrk="1" hangingPunct="1"/>
            <a:r>
              <a:rPr lang="en-US" dirty="0" smtClean="0"/>
              <a:t>Search all entries in a given set at once</a:t>
            </a:r>
            <a:endParaRPr lang="en-US" dirty="0" smtClean="0"/>
          </a:p>
          <a:p>
            <a:pPr lvl="1" eaLnBrk="1" hangingPunct="1"/>
            <a:r>
              <a:rPr lang="en-US" i="1" dirty="0" smtClean="0"/>
              <a:t>n</a:t>
            </a:r>
            <a:r>
              <a:rPr lang="en-US" dirty="0" smtClean="0"/>
              <a:t> comparators (</a:t>
            </a:r>
            <a:r>
              <a:rPr lang="en-US" dirty="0" smtClean="0">
                <a:solidFill>
                  <a:srgbClr val="FF0000"/>
                </a:solidFill>
              </a:rPr>
              <a:t>less expensive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3B83B3C-14BC-406B-85D8-485F8183358A}" type="slidenum">
              <a:rPr lang="en-AU" altLang="zh-CN"/>
            </a:fld>
            <a:endParaRPr lang="en-AU" altLang="zh-CN"/>
          </a:p>
        </p:txBody>
      </p:sp>
      <p:pic>
        <p:nvPicPr>
          <p:cNvPr id="38915" name="Picture 5" descr="f05-1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731125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Associative 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6D0C043-E586-4A15-B23A-B98AE3641E54}" type="slidenum">
              <a:rPr lang="en-AU" altLang="zh-CN"/>
            </a:fld>
            <a:endParaRPr lang="en-AU" altLang="zh-CN"/>
          </a:p>
        </p:txBody>
      </p:sp>
      <p:sp>
        <p:nvSpPr>
          <p:cNvPr id="3993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Spectrum of Associativity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3994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For a cache with 8 entries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pic>
        <p:nvPicPr>
          <p:cNvPr id="39941" name="Picture 7" descr="f05-14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844675"/>
            <a:ext cx="551338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FBCC9F7-ADF0-4A91-9E2D-C55191D57A7F}" type="slidenum">
              <a:rPr lang="en-AU" altLang="zh-CN"/>
            </a:fld>
            <a:endParaRPr lang="en-AU" altLang="zh-CN"/>
          </a:p>
        </p:txBody>
      </p:sp>
      <p:sp>
        <p:nvSpPr>
          <p:cNvPr id="40963" name="Rectangle 6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Associativity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0964" name="Rectangle 65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459787" cy="2808287"/>
          </a:xfrm>
        </p:spPr>
        <p:txBody>
          <a:bodyPr/>
          <a:lstStyle/>
          <a:p>
            <a:pPr eaLnBrk="1" hangingPunct="1"/>
            <a:r>
              <a:rPr lang="en-US" smtClean="0"/>
              <a:t>Compare 4-block caches</a:t>
            </a:r>
            <a:endParaRPr lang="en-US" smtClean="0"/>
          </a:p>
          <a:p>
            <a:pPr lvl="1" eaLnBrk="1" hangingPunct="1"/>
            <a:r>
              <a:rPr lang="en-US" sz="2400" smtClean="0"/>
              <a:t>Direct mapped, 2-way set associative, fully associative</a:t>
            </a:r>
            <a:endParaRPr lang="en-US" sz="2400" smtClean="0"/>
          </a:p>
          <a:p>
            <a:pPr lvl="1" eaLnBrk="1" hangingPunct="1"/>
            <a:r>
              <a:rPr lang="en-US" sz="2400" smtClean="0"/>
              <a:t>Block access sequence: 0, 8, 0, 6, 8</a:t>
            </a:r>
            <a:endParaRPr lang="en-US" sz="2400" smtClean="0"/>
          </a:p>
          <a:p>
            <a:pPr eaLnBrk="1" hangingPunct="1">
              <a:spcBef>
                <a:spcPct val="50000"/>
              </a:spcBef>
            </a:pPr>
            <a:r>
              <a:rPr lang="en-US" smtClean="0">
                <a:solidFill>
                  <a:srgbClr val="009900"/>
                </a:solidFill>
              </a:rPr>
              <a:t>Direct mapped</a:t>
            </a:r>
            <a:endParaRPr lang="en-US" smtClean="0">
              <a:solidFill>
                <a:srgbClr val="0099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400" smtClean="0"/>
              <a:t>Block address to cache block mapping</a:t>
            </a:r>
            <a:endParaRPr lang="en-US" sz="2400" smtClean="0"/>
          </a:p>
          <a:p>
            <a:pPr lvl="2" eaLnBrk="1" hangingPunct="1">
              <a:spcBef>
                <a:spcPts val="600"/>
              </a:spcBef>
            </a:pPr>
            <a:r>
              <a:rPr lang="en-US" smtClean="0">
                <a:solidFill>
                  <a:srgbClr val="FF0000"/>
                </a:solidFill>
              </a:rPr>
              <a:t>0 modulo 4 = 0; 6 modulo 4 = 2; 8 modulo 4 = 0;</a:t>
            </a:r>
            <a:endParaRPr lang="en-US" smtClean="0">
              <a:solidFill>
                <a:srgbClr val="FF0000"/>
              </a:solidFill>
            </a:endParaRPr>
          </a:p>
        </p:txBody>
      </p:sp>
      <p:graphicFrame>
        <p:nvGraphicFramePr>
          <p:cNvPr id="304132" name="Group 4"/>
          <p:cNvGraphicFramePr>
            <a:graphicFrameLocks noGrp="1"/>
          </p:cNvGraphicFramePr>
          <p:nvPr/>
        </p:nvGraphicFramePr>
        <p:xfrm>
          <a:off x="1258888" y="4572000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index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FCEDA7F-6457-4128-91DC-D946545003A9}" type="slidenum">
              <a:rPr lang="en-AU" altLang="zh-CN"/>
            </a:fld>
            <a:endParaRPr lang="en-AU" altLang="zh-CN"/>
          </a:p>
        </p:txBody>
      </p:sp>
      <p:sp>
        <p:nvSpPr>
          <p:cNvPr id="41987" name="Rectangle 1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Associativity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1988" name="Rectangle 119"/>
          <p:cNvSpPr>
            <a:spLocks noGrp="1" noChangeArrowheads="1"/>
          </p:cNvSpPr>
          <p:nvPr>
            <p:ph type="body" idx="1"/>
          </p:nvPr>
        </p:nvSpPr>
        <p:spPr>
          <a:xfrm>
            <a:off x="684213" y="928688"/>
            <a:ext cx="8270875" cy="719137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009900"/>
                </a:solidFill>
              </a:rPr>
              <a:t>2-way set associative</a:t>
            </a:r>
            <a:endParaRPr lang="en-US" smtClean="0">
              <a:solidFill>
                <a:srgbClr val="009900"/>
              </a:solidFill>
            </a:endParaRPr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0 modulo 2 = 0; 6 modulo 2 = 0; 8 modulo 2 = 0;</a:t>
            </a:r>
            <a:endParaRPr lang="en-US" sz="2400" smtClean="0">
              <a:solidFill>
                <a:srgbClr val="FF0000"/>
              </a:solidFill>
            </a:endParaRPr>
          </a:p>
        </p:txBody>
      </p:sp>
      <p:graphicFrame>
        <p:nvGraphicFramePr>
          <p:cNvPr id="306180" name="Group 4"/>
          <p:cNvGraphicFramePr>
            <a:graphicFrameLocks noGrp="1"/>
          </p:cNvGraphicFramePr>
          <p:nvPr/>
        </p:nvGraphicFramePr>
        <p:xfrm>
          <a:off x="1258888" y="1987550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index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Set 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Set 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47" name="Rectangle 62"/>
          <p:cNvSpPr>
            <a:spLocks noChangeArrowheads="1"/>
          </p:cNvSpPr>
          <p:nvPr/>
        </p:nvSpPr>
        <p:spPr bwMode="auto">
          <a:xfrm>
            <a:off x="684213" y="3860800"/>
            <a:ext cx="77724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3200">
                <a:solidFill>
                  <a:srgbClr val="009900"/>
                </a:solidFill>
              </a:rPr>
              <a:t>Fully associative</a:t>
            </a:r>
            <a:endParaRPr lang="en-US" sz="3200">
              <a:solidFill>
                <a:srgbClr val="009900"/>
              </a:solidFill>
            </a:endParaRPr>
          </a:p>
        </p:txBody>
      </p:sp>
      <p:graphicFrame>
        <p:nvGraphicFramePr>
          <p:cNvPr id="306239" name="Group 63"/>
          <p:cNvGraphicFramePr>
            <a:graphicFrameLocks noGrp="1"/>
          </p:cNvGraphicFramePr>
          <p:nvPr/>
        </p:nvGraphicFramePr>
        <p:xfrm>
          <a:off x="1258888" y="4508500"/>
          <a:ext cx="6985000" cy="1609728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337CB82-63CD-45B2-A406-03F631827AC0}" type="slidenum">
              <a:rPr lang="en-AU" altLang="zh-CN"/>
            </a:fld>
            <a:endParaRPr lang="en-AU" altLang="zh-CN"/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How Much Associativity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Increased associativity decreases miss rate</a:t>
            </a:r>
            <a:endParaRPr lang="en-US" sz="2800" dirty="0" smtClean="0"/>
          </a:p>
          <a:p>
            <a:pPr marL="1828800" lvl="4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sz="2800" dirty="0" smtClean="0"/>
              <a:t>Simulation of a system with 64KB D-cache, 16-word blocks, SPEC2000; Miss Rates:</a:t>
            </a:r>
            <a:endParaRPr lang="en-US" sz="2800" dirty="0" smtClean="0"/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1-way: 10.3%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2-way: 8.6%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4-way: 8.3%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8-way: 8.1%</a:t>
            </a:r>
            <a:endParaRPr lang="en-AU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8D154DE-C52E-42C7-BB8B-3D83DD97F6D9}" type="slidenum">
              <a:rPr lang="en-AU" altLang="zh-CN"/>
            </a:fld>
            <a:endParaRPr lang="en-AU" altLang="zh-CN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Set Associative Cache Organization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pic>
        <p:nvPicPr>
          <p:cNvPr id="44036" name="Picture 4" descr="f05-17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196975"/>
            <a:ext cx="6061075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3"/>
          <p:cNvSpPr>
            <a:spLocks noGrp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r>
              <a:rPr lang="en-US" sz="4000" smtClean="0"/>
              <a:t>Range of Set Associative Caches</a:t>
            </a:r>
            <a:endParaRPr lang="en-US" sz="4000" smtClean="0"/>
          </a:p>
        </p:txBody>
      </p:sp>
      <p:sp>
        <p:nvSpPr>
          <p:cNvPr id="4505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For a fixed size cache, each increase by a factor of two in associativity </a:t>
            </a:r>
            <a:r>
              <a:rPr lang="en-US" sz="2400" smtClean="0">
                <a:solidFill>
                  <a:srgbClr val="FF0000"/>
                </a:solidFill>
              </a:rPr>
              <a:t>doubles</a:t>
            </a:r>
            <a:r>
              <a:rPr lang="en-US" sz="2400" smtClean="0"/>
              <a:t> the number of blocks per set (i.e., the number or ways) and halves the number of sets – decreases the size of the index by 1 bit and increases the size of the tag by 1 bit</a:t>
            </a:r>
            <a:endParaRPr lang="en-US" sz="2400" smtClean="0"/>
          </a:p>
          <a:p>
            <a:endParaRPr lang="en-US" smtClean="0"/>
          </a:p>
        </p:txBody>
      </p:sp>
      <p:sp>
        <p:nvSpPr>
          <p:cNvPr id="4506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1B16BC96-1D74-4F82-8CBF-D616E8DFE33E}" type="slidenum">
              <a:rPr lang="en-AU" altLang="zh-CN"/>
            </a:fld>
            <a:endParaRPr lang="en-AU" altLang="zh-CN"/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762000" y="3792538"/>
            <a:ext cx="6831013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Line 5"/>
          <p:cNvSpPr>
            <a:spLocks noChangeShapeType="1"/>
          </p:cNvSpPr>
          <p:nvPr/>
        </p:nvSpPr>
        <p:spPr bwMode="auto">
          <a:xfrm>
            <a:off x="5916613" y="37925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Line 6"/>
          <p:cNvSpPr>
            <a:spLocks noChangeShapeType="1"/>
          </p:cNvSpPr>
          <p:nvPr/>
        </p:nvSpPr>
        <p:spPr bwMode="auto">
          <a:xfrm>
            <a:off x="3859213" y="37925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4" name="Line 7"/>
          <p:cNvSpPr>
            <a:spLocks noChangeShapeType="1"/>
          </p:cNvSpPr>
          <p:nvPr/>
        </p:nvSpPr>
        <p:spPr bwMode="auto">
          <a:xfrm>
            <a:off x="7135813" y="37925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Text Box 8"/>
          <p:cNvSpPr txBox="1">
            <a:spLocks noChangeArrowheads="1"/>
          </p:cNvSpPr>
          <p:nvPr/>
        </p:nvSpPr>
        <p:spPr bwMode="auto">
          <a:xfrm>
            <a:off x="5916613" y="3792538"/>
            <a:ext cx="1235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Block offset</a:t>
            </a:r>
            <a:endParaRPr lang="en-US" sz="1600"/>
          </a:p>
        </p:txBody>
      </p:sp>
      <p:sp>
        <p:nvSpPr>
          <p:cNvPr id="45066" name="Text Box 9"/>
          <p:cNvSpPr txBox="1">
            <a:spLocks noChangeArrowheads="1"/>
          </p:cNvSpPr>
          <p:nvPr/>
        </p:nvSpPr>
        <p:spPr bwMode="auto">
          <a:xfrm>
            <a:off x="7059613" y="3792538"/>
            <a:ext cx="1146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Byte offset</a:t>
            </a:r>
            <a:endParaRPr lang="en-US" sz="1600"/>
          </a:p>
        </p:txBody>
      </p:sp>
      <p:sp>
        <p:nvSpPr>
          <p:cNvPr id="45067" name="Text Box 10"/>
          <p:cNvSpPr txBox="1">
            <a:spLocks noChangeArrowheads="1"/>
          </p:cNvSpPr>
          <p:nvPr/>
        </p:nvSpPr>
        <p:spPr bwMode="auto">
          <a:xfrm>
            <a:off x="4549775" y="3792538"/>
            <a:ext cx="681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Index</a:t>
            </a:r>
            <a:endParaRPr lang="en-US" sz="1600"/>
          </a:p>
        </p:txBody>
      </p:sp>
      <p:sp>
        <p:nvSpPr>
          <p:cNvPr id="45068" name="Text Box 11"/>
          <p:cNvSpPr txBox="1">
            <a:spLocks noChangeArrowheads="1"/>
          </p:cNvSpPr>
          <p:nvPr/>
        </p:nvSpPr>
        <p:spPr bwMode="auto">
          <a:xfrm>
            <a:off x="2182813" y="3792538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Tag</a:t>
            </a:r>
            <a:endParaRPr lang="en-US" sz="1600"/>
          </a:p>
        </p:txBody>
      </p:sp>
      <p:grpSp>
        <p:nvGrpSpPr>
          <p:cNvPr id="2" name="Group 12"/>
          <p:cNvGrpSpPr/>
          <p:nvPr/>
        </p:nvGrpSpPr>
        <p:grpSpPr bwMode="auto">
          <a:xfrm>
            <a:off x="811213" y="4402138"/>
            <a:ext cx="3048000" cy="457200"/>
            <a:chOff x="624" y="2496"/>
            <a:chExt cx="1920" cy="288"/>
          </a:xfrm>
        </p:grpSpPr>
        <p:sp>
          <p:nvSpPr>
            <p:cNvPr id="45091" name="Line 13"/>
            <p:cNvSpPr>
              <a:spLocks noChangeShapeType="1"/>
            </p:cNvSpPr>
            <p:nvPr/>
          </p:nvSpPr>
          <p:spPr bwMode="auto">
            <a:xfrm>
              <a:off x="2544" y="254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Line 14"/>
            <p:cNvSpPr>
              <a:spLocks noChangeShapeType="1"/>
            </p:cNvSpPr>
            <p:nvPr/>
          </p:nvSpPr>
          <p:spPr bwMode="auto">
            <a:xfrm flipH="1">
              <a:off x="2304" y="264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3" name="Text Box 15"/>
            <p:cNvSpPr txBox="1">
              <a:spLocks noChangeArrowheads="1"/>
            </p:cNvSpPr>
            <p:nvPr/>
          </p:nvSpPr>
          <p:spPr bwMode="auto">
            <a:xfrm>
              <a:off x="624" y="2496"/>
              <a:ext cx="1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/>
                <a:t>Decreasing associativity</a:t>
              </a:r>
              <a:endParaRPr lang="en-US"/>
            </a:p>
          </p:txBody>
        </p:sp>
      </p:grpSp>
      <p:grpSp>
        <p:nvGrpSpPr>
          <p:cNvPr id="3" name="Group 16"/>
          <p:cNvGrpSpPr/>
          <p:nvPr/>
        </p:nvGrpSpPr>
        <p:grpSpPr bwMode="auto">
          <a:xfrm>
            <a:off x="3859213" y="4811713"/>
            <a:ext cx="4673600" cy="1190625"/>
            <a:chOff x="2544" y="2832"/>
            <a:chExt cx="2944" cy="750"/>
          </a:xfrm>
        </p:grpSpPr>
        <p:sp>
          <p:nvSpPr>
            <p:cNvPr id="45088" name="Line 17"/>
            <p:cNvSpPr>
              <a:spLocks noChangeShapeType="1"/>
            </p:cNvSpPr>
            <p:nvPr/>
          </p:nvSpPr>
          <p:spPr bwMode="auto">
            <a:xfrm flipV="1">
              <a:off x="2544" y="2976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Text Box 19"/>
            <p:cNvSpPr txBox="1">
              <a:spLocks noChangeArrowheads="1"/>
            </p:cNvSpPr>
            <p:nvPr/>
          </p:nvSpPr>
          <p:spPr bwMode="auto">
            <a:xfrm>
              <a:off x="3828" y="2832"/>
              <a:ext cx="16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/>
                <a:t>Fully associative</a:t>
              </a:r>
              <a:endParaRPr lang="en-US"/>
            </a:p>
            <a:p>
              <a:r>
                <a:rPr lang="en-US"/>
                <a:t>(only one set)</a:t>
              </a:r>
              <a:endParaRPr lang="en-US"/>
            </a:p>
            <a:p>
              <a:r>
                <a:rPr lang="en-US"/>
                <a:t>Tag is all the bits except</a:t>
              </a:r>
              <a:endParaRPr lang="en-US"/>
            </a:p>
            <a:p>
              <a:r>
                <a:rPr lang="en-US"/>
                <a:t>block and byte offset</a:t>
              </a:r>
              <a:endParaRPr lang="en-US"/>
            </a:p>
          </p:txBody>
        </p:sp>
      </p:grpSp>
      <p:grpSp>
        <p:nvGrpSpPr>
          <p:cNvPr id="4" name="Group 20"/>
          <p:cNvGrpSpPr/>
          <p:nvPr/>
        </p:nvGrpSpPr>
        <p:grpSpPr bwMode="auto">
          <a:xfrm>
            <a:off x="1420813" y="5010150"/>
            <a:ext cx="2438400" cy="1276350"/>
            <a:chOff x="960" y="3168"/>
            <a:chExt cx="1536" cy="804"/>
          </a:xfrm>
        </p:grpSpPr>
        <p:sp>
          <p:nvSpPr>
            <p:cNvPr id="45085" name="Line 21"/>
            <p:cNvSpPr>
              <a:spLocks noChangeShapeType="1"/>
            </p:cNvSpPr>
            <p:nvPr/>
          </p:nvSpPr>
          <p:spPr bwMode="auto">
            <a:xfrm flipH="1">
              <a:off x="2064" y="331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Line 22"/>
            <p:cNvSpPr>
              <a:spLocks noChangeShapeType="1"/>
            </p:cNvSpPr>
            <p:nvPr/>
          </p:nvSpPr>
          <p:spPr bwMode="auto">
            <a:xfrm>
              <a:off x="2064" y="316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Text Box 23"/>
            <p:cNvSpPr txBox="1">
              <a:spLocks noChangeArrowheads="1"/>
            </p:cNvSpPr>
            <p:nvPr/>
          </p:nvSpPr>
          <p:spPr bwMode="auto">
            <a:xfrm>
              <a:off x="960" y="3216"/>
              <a:ext cx="1505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/>
                <a:t>Direct mapped</a:t>
              </a:r>
              <a:endParaRPr lang="en-US"/>
            </a:p>
            <a:p>
              <a:r>
                <a:rPr lang="en-US"/>
                <a:t>(only one way)</a:t>
              </a:r>
              <a:endParaRPr lang="en-US"/>
            </a:p>
            <a:p>
              <a:r>
                <a:rPr lang="en-US"/>
                <a:t>Smaller tags, only a single comparator</a:t>
              </a:r>
              <a:endParaRPr lang="en-US"/>
            </a:p>
          </p:txBody>
        </p:sp>
      </p:grpSp>
      <p:grpSp>
        <p:nvGrpSpPr>
          <p:cNvPr id="5" name="Group 24"/>
          <p:cNvGrpSpPr/>
          <p:nvPr/>
        </p:nvGrpSpPr>
        <p:grpSpPr bwMode="auto">
          <a:xfrm>
            <a:off x="3859213" y="4173538"/>
            <a:ext cx="2914650" cy="457200"/>
            <a:chOff x="2544" y="2256"/>
            <a:chExt cx="1836" cy="288"/>
          </a:xfrm>
        </p:grpSpPr>
        <p:sp>
          <p:nvSpPr>
            <p:cNvPr id="45082" name="Line 25"/>
            <p:cNvSpPr>
              <a:spLocks noChangeShapeType="1"/>
            </p:cNvSpPr>
            <p:nvPr/>
          </p:nvSpPr>
          <p:spPr bwMode="auto">
            <a:xfrm>
              <a:off x="2544" y="240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Text Box 26"/>
            <p:cNvSpPr txBox="1">
              <a:spLocks noChangeArrowheads="1"/>
            </p:cNvSpPr>
            <p:nvPr/>
          </p:nvSpPr>
          <p:spPr bwMode="auto">
            <a:xfrm>
              <a:off x="2784" y="2304"/>
              <a:ext cx="1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/>
                <a:t>Increasing associativity</a:t>
              </a:r>
              <a:endParaRPr lang="en-US"/>
            </a:p>
          </p:txBody>
        </p:sp>
        <p:sp>
          <p:nvSpPr>
            <p:cNvPr id="45084" name="Line 27"/>
            <p:cNvSpPr>
              <a:spLocks noChangeShapeType="1"/>
            </p:cNvSpPr>
            <p:nvPr/>
          </p:nvSpPr>
          <p:spPr bwMode="auto">
            <a:xfrm>
              <a:off x="2544" y="2256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7"/>
          <p:cNvGrpSpPr/>
          <p:nvPr/>
        </p:nvGrpSpPr>
        <p:grpSpPr bwMode="auto">
          <a:xfrm>
            <a:off x="4164013" y="3106738"/>
            <a:ext cx="1517650" cy="793750"/>
            <a:chOff x="2448" y="1968"/>
            <a:chExt cx="956" cy="500"/>
          </a:xfrm>
        </p:grpSpPr>
        <p:sp>
          <p:nvSpPr>
            <p:cNvPr id="45080" name="Line 29"/>
            <p:cNvSpPr>
              <a:spLocks noChangeShapeType="1"/>
            </p:cNvSpPr>
            <p:nvPr/>
          </p:nvSpPr>
          <p:spPr bwMode="auto">
            <a:xfrm flipV="1">
              <a:off x="2880" y="218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Text Box 30"/>
            <p:cNvSpPr txBox="1">
              <a:spLocks noChangeArrowheads="1"/>
            </p:cNvSpPr>
            <p:nvPr/>
          </p:nvSpPr>
          <p:spPr bwMode="auto">
            <a:xfrm>
              <a:off x="2448" y="1968"/>
              <a:ext cx="9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/>
                <a:t>Selects the set</a:t>
              </a:r>
              <a:endParaRPr lang="en-US" sz="1600"/>
            </a:p>
          </p:txBody>
        </p:sp>
      </p:grpSp>
      <p:grpSp>
        <p:nvGrpSpPr>
          <p:cNvPr id="7" name="Group 38"/>
          <p:cNvGrpSpPr/>
          <p:nvPr/>
        </p:nvGrpSpPr>
        <p:grpSpPr bwMode="auto">
          <a:xfrm>
            <a:off x="1497013" y="3106738"/>
            <a:ext cx="2139950" cy="793750"/>
            <a:chOff x="960" y="1968"/>
            <a:chExt cx="1348" cy="500"/>
          </a:xfrm>
        </p:grpSpPr>
        <p:sp>
          <p:nvSpPr>
            <p:cNvPr id="45078" name="Text Box 31"/>
            <p:cNvSpPr txBox="1">
              <a:spLocks noChangeArrowheads="1"/>
            </p:cNvSpPr>
            <p:nvPr/>
          </p:nvSpPr>
          <p:spPr bwMode="auto">
            <a:xfrm>
              <a:off x="960" y="1968"/>
              <a:ext cx="13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/>
                <a:t>Used for tag compare</a:t>
              </a:r>
              <a:endParaRPr lang="en-US" sz="1600"/>
            </a:p>
          </p:txBody>
        </p:sp>
        <p:sp>
          <p:nvSpPr>
            <p:cNvPr id="45079" name="Line 32"/>
            <p:cNvSpPr>
              <a:spLocks noChangeShapeType="1"/>
            </p:cNvSpPr>
            <p:nvPr/>
          </p:nvSpPr>
          <p:spPr bwMode="auto">
            <a:xfrm flipV="1">
              <a:off x="1584" y="218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6"/>
          <p:cNvGrpSpPr/>
          <p:nvPr/>
        </p:nvGrpSpPr>
        <p:grpSpPr bwMode="auto">
          <a:xfrm>
            <a:off x="5840413" y="3106738"/>
            <a:ext cx="2770187" cy="793750"/>
            <a:chOff x="3504" y="1968"/>
            <a:chExt cx="1745" cy="500"/>
          </a:xfrm>
        </p:grpSpPr>
        <p:sp>
          <p:nvSpPr>
            <p:cNvPr id="45076" name="Line 33"/>
            <p:cNvSpPr>
              <a:spLocks noChangeShapeType="1"/>
            </p:cNvSpPr>
            <p:nvPr/>
          </p:nvSpPr>
          <p:spPr bwMode="auto">
            <a:xfrm flipV="1">
              <a:off x="3936" y="218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Text Box 34"/>
            <p:cNvSpPr txBox="1">
              <a:spLocks noChangeArrowheads="1"/>
            </p:cNvSpPr>
            <p:nvPr/>
          </p:nvSpPr>
          <p:spPr bwMode="auto">
            <a:xfrm>
              <a:off x="3504" y="1968"/>
              <a:ext cx="17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/>
                <a:t>Selects the word in the block</a:t>
              </a:r>
              <a:endParaRPr 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Addressable Memory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962025"/>
            <a:ext cx="8455025" cy="5329238"/>
          </a:xfrm>
        </p:spPr>
        <p:txBody>
          <a:bodyPr/>
          <a:lstStyle/>
          <a:p>
            <a:r>
              <a:rPr lang="en-US" sz="2400" smtClean="0"/>
              <a:t>CAM</a:t>
            </a:r>
            <a:endParaRPr lang="en-US" sz="2400" smtClean="0"/>
          </a:p>
          <a:p>
            <a:pPr lvl="1"/>
            <a:r>
              <a:rPr lang="en-US" sz="2000" smtClean="0"/>
              <a:t>Circuit that combines</a:t>
            </a:r>
            <a:br>
              <a:rPr lang="en-US" sz="2000" smtClean="0"/>
            </a:br>
            <a:r>
              <a:rPr lang="en-US" sz="2000" smtClean="0"/>
              <a:t>comparison and storage </a:t>
            </a:r>
            <a:br>
              <a:rPr lang="en-US" sz="2000" smtClean="0"/>
            </a:br>
            <a:r>
              <a:rPr lang="en-US" sz="2000" smtClean="0"/>
              <a:t>in a single device</a:t>
            </a:r>
            <a:endParaRPr lang="en-US" sz="2000" smtClean="0"/>
          </a:p>
          <a:p>
            <a:pPr lvl="1"/>
            <a:r>
              <a:rPr lang="en-US" sz="2000" smtClean="0"/>
              <a:t>Supply data, CAM looks </a:t>
            </a:r>
            <a:br>
              <a:rPr lang="en-US" sz="2000" smtClean="0"/>
            </a:br>
            <a:r>
              <a:rPr lang="en-US" sz="2000" smtClean="0"/>
              <a:t>for a copy, returning index </a:t>
            </a:r>
            <a:br>
              <a:rPr lang="en-US" sz="2000" smtClean="0"/>
            </a:br>
            <a:r>
              <a:rPr lang="en-US" sz="2000" smtClean="0"/>
              <a:t>of matching rows</a:t>
            </a:r>
            <a:endParaRPr lang="en-US" sz="2000" smtClean="0"/>
          </a:p>
          <a:p>
            <a:pPr lvl="1"/>
            <a:r>
              <a:rPr lang="en-US" sz="2000" smtClean="0"/>
              <a:t>High speed table lookup</a:t>
            </a:r>
            <a:endParaRPr lang="en-US" sz="2000" smtClean="0"/>
          </a:p>
          <a:p>
            <a:pPr>
              <a:buFont typeface="Wingdings" panose="05000000000000000000" pitchFamily="2" charset="2"/>
              <a:buNone/>
            </a:pPr>
            <a:endParaRPr lang="en-US" sz="2600" smtClean="0"/>
          </a:p>
          <a:p>
            <a:endParaRPr lang="en-US" sz="2600" smtClean="0"/>
          </a:p>
          <a:p>
            <a:endParaRPr lang="en-US" sz="2400" smtClean="0"/>
          </a:p>
          <a:p>
            <a:endParaRPr lang="en-US" sz="1400" smtClean="0"/>
          </a:p>
          <a:p>
            <a:r>
              <a:rPr lang="en-US" sz="2400" smtClean="0">
                <a:solidFill>
                  <a:schemeClr val="tx2"/>
                </a:solidFill>
              </a:rPr>
              <a:t>Recent trend (~2011)</a:t>
            </a:r>
            <a:endParaRPr lang="en-US" sz="2400" smtClean="0">
              <a:solidFill>
                <a:schemeClr val="tx2"/>
              </a:solidFill>
            </a:endParaRPr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2, 4 way set associativity built using SRAMs, comparators</a:t>
            </a:r>
            <a:endParaRPr lang="en-US" sz="2000" smtClean="0">
              <a:solidFill>
                <a:schemeClr val="tx2"/>
              </a:solidFill>
            </a:endParaRPr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8 way and above built using CAMs</a:t>
            </a:r>
            <a:endParaRPr lang="en-US" sz="2000" smtClean="0">
              <a:solidFill>
                <a:schemeClr val="tx2"/>
              </a:solidFill>
            </a:endParaRPr>
          </a:p>
          <a:p>
            <a:endParaRPr lang="en-US" sz="2400" smtClean="0"/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16F28DC-2DCB-4027-B831-1EC2C250BC15}" type="slidenum">
              <a:rPr lang="en-AU" altLang="zh-CN"/>
            </a:fld>
            <a:endParaRPr lang="en-AU" altLang="zh-CN"/>
          </a:p>
        </p:txBody>
      </p:sp>
      <p:pic>
        <p:nvPicPr>
          <p:cNvPr id="4608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1125538"/>
            <a:ext cx="4405312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TextBox 6"/>
          <p:cNvSpPr txBox="1">
            <a:spLocks noChangeArrowheads="1"/>
          </p:cNvSpPr>
          <p:nvPr/>
        </p:nvSpPr>
        <p:spPr bwMode="auto">
          <a:xfrm>
            <a:off x="4678363" y="3300413"/>
            <a:ext cx="3608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rgbClr val="FF0000"/>
                </a:solidFill>
              </a:rPr>
              <a:t>NOR-based CAM implementation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986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846513"/>
            <a:ext cx="171450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846513"/>
            <a:ext cx="1643062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6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88" y="3868738"/>
            <a:ext cx="1643062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57250" y="5002213"/>
            <a:ext cx="2466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rgbClr val="FF0000"/>
                </a:solidFill>
              </a:rPr>
              <a:t>6 transistor SRAM cell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032250" y="5002213"/>
            <a:ext cx="1825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rgbClr val="FF0000"/>
                </a:solidFill>
              </a:rPr>
              <a:t>Binary CAM cell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746875" y="5002213"/>
            <a:ext cx="1941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Ternary CAM cell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056D9A9-CA61-4F87-AA1F-91B39993B208}" type="slidenum">
              <a:rPr lang="en-AU" altLang="zh-CN"/>
            </a:fld>
            <a:endParaRPr lang="en-AU" altLang="zh-CN"/>
          </a:p>
        </p:txBody>
      </p:sp>
      <p:sp>
        <p:nvSpPr>
          <p:cNvPr id="471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Replacement Policy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506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Direct mapped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no choice</a:t>
            </a: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Set associative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Prefer non-valid entry, if there is one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Otherwise, choose among entries in the set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Least-recently used (LRU)</a:t>
            </a:r>
            <a:endParaRPr lang="en-US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Choose the one unused for the longest time</a:t>
            </a:r>
            <a:endParaRPr lang="en-US" smtClean="0"/>
          </a:p>
          <a:p>
            <a:pPr lvl="3" eaLnBrk="1" hangingPunct="1">
              <a:lnSpc>
                <a:spcPct val="80000"/>
              </a:lnSpc>
            </a:pPr>
            <a:r>
              <a:rPr lang="en-US" smtClean="0"/>
              <a:t>Simple for 2-way, manageable for 4-way, too hard beyond that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Random</a:t>
            </a:r>
            <a:endParaRPr lang="en-US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mtClean="0"/>
              <a:t>Gives approximately the same performance as LRU for high associativity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E0622BF-C1E1-4E6B-882F-51455BF6E1E2}" type="slidenum">
              <a:rPr lang="en-AU" altLang="zh-CN"/>
            </a:fld>
            <a:endParaRPr lang="en-AU" altLang="zh-CN"/>
          </a:p>
        </p:txBody>
      </p:sp>
      <p:sp>
        <p:nvSpPr>
          <p:cNvPr id="4813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Multilevel Caches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60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Primary cache attached to CPU</a:t>
            </a:r>
            <a:endParaRPr lang="en-US" smtClean="0"/>
          </a:p>
          <a:p>
            <a:pPr lvl="1" eaLnBrk="1" hangingPunct="1"/>
            <a:r>
              <a:rPr lang="en-US" smtClean="0"/>
              <a:t>Small, but fast</a:t>
            </a:r>
            <a:endParaRPr lang="en-US" smtClean="0"/>
          </a:p>
          <a:p>
            <a:pPr eaLnBrk="1" hangingPunct="1"/>
            <a:r>
              <a:rPr lang="en-US" smtClean="0"/>
              <a:t>Level-2 cache services misses from primary cache</a:t>
            </a:r>
            <a:endParaRPr lang="en-US" smtClean="0"/>
          </a:p>
          <a:p>
            <a:pPr lvl="1" eaLnBrk="1" hangingPunct="1"/>
            <a:r>
              <a:rPr lang="en-US" smtClean="0"/>
              <a:t>Larger, slower, but still faster than main memory</a:t>
            </a:r>
            <a:endParaRPr lang="en-US" smtClean="0"/>
          </a:p>
          <a:p>
            <a:pPr eaLnBrk="1" hangingPunct="1"/>
            <a:r>
              <a:rPr lang="en-US" smtClean="0"/>
              <a:t>Main memory services L-2 cache misses</a:t>
            </a:r>
            <a:endParaRPr lang="en-US" smtClean="0"/>
          </a:p>
          <a:p>
            <a:pPr eaLnBrk="1" hangingPunct="1"/>
            <a:r>
              <a:rPr lang="en-US" smtClean="0"/>
              <a:t>Some high-end systems include L-3 cache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9C1E664-563F-4594-A632-A8F427E1F2AF}" type="slidenum">
              <a:rPr lang="en-AU" altLang="zh-CN"/>
            </a:fld>
            <a:endParaRPr lang="en-AU" altLang="zh-CN"/>
          </a:p>
        </p:txBody>
      </p:sp>
      <p:sp>
        <p:nvSpPr>
          <p:cNvPr id="491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Multilevel Cache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710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Given</a:t>
            </a:r>
            <a:endParaRPr lang="en-US" sz="2800" smtClean="0"/>
          </a:p>
          <a:p>
            <a:pPr lvl="1" eaLnBrk="1" hangingPunct="1"/>
            <a:r>
              <a:rPr lang="en-US" sz="2400" smtClean="0"/>
              <a:t>CPU base CPI = 1, clock rate = 4GHz</a:t>
            </a:r>
            <a:endParaRPr lang="en-US" sz="2400" smtClean="0"/>
          </a:p>
          <a:p>
            <a:pPr lvl="1" eaLnBrk="1" hangingPunct="1"/>
            <a:r>
              <a:rPr lang="en-US" sz="2400" smtClean="0"/>
              <a:t>Miss rate/instruction = 2%</a:t>
            </a:r>
            <a:endParaRPr lang="en-US" sz="2400" smtClean="0"/>
          </a:p>
          <a:p>
            <a:pPr lvl="1" eaLnBrk="1" hangingPunct="1"/>
            <a:r>
              <a:rPr lang="en-US" sz="2400" smtClean="0"/>
              <a:t>Main memory access time = 100ns</a:t>
            </a:r>
            <a:endParaRPr lang="en-US" sz="2400" smtClean="0"/>
          </a:p>
          <a:p>
            <a:pPr eaLnBrk="1" hangingPunct="1"/>
            <a:r>
              <a:rPr lang="en-US" sz="2800" smtClean="0"/>
              <a:t>How much faster will the processor be with a secondary cache with 5 ns access time, and is large enough to reduce miss rate to 0.5%?</a:t>
            </a:r>
            <a:endParaRPr lang="en-US" sz="2800" smtClean="0"/>
          </a:p>
          <a:p>
            <a:pPr eaLnBrk="1" hangingPunct="1"/>
            <a:r>
              <a:rPr lang="en-US" sz="2800" smtClean="0"/>
              <a:t>With just primary cache</a:t>
            </a:r>
            <a:endParaRPr lang="en-US" sz="28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Miss penalty </a:t>
            </a:r>
            <a:r>
              <a:rPr lang="en-US" sz="2400" smtClean="0"/>
              <a:t>= 100ns/0.25ns = 400 cycles</a:t>
            </a:r>
            <a:endParaRPr lang="en-US" sz="24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Effective CPI </a:t>
            </a:r>
            <a:r>
              <a:rPr lang="en-US" sz="2400" smtClean="0"/>
              <a:t>= 1 + 0.02 × 400 = 9</a:t>
            </a:r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C3AD2ED-55B5-42D8-A827-DD5E57C9ACA6}" type="slidenum">
              <a:rPr lang="en-AU" altLang="zh-CN"/>
            </a:fld>
            <a:endParaRPr lang="en-AU" altLang="zh-CN"/>
          </a:p>
        </p:txBody>
      </p:sp>
      <p:sp>
        <p:nvSpPr>
          <p:cNvPr id="501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(cont.)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813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Now add L-2 cache</a:t>
            </a:r>
            <a:endParaRPr lang="en-US" smtClean="0"/>
          </a:p>
          <a:p>
            <a:pPr lvl="1" eaLnBrk="1" hangingPunct="1"/>
            <a:r>
              <a:rPr lang="en-US" smtClean="0"/>
              <a:t>Access time = 5ns</a:t>
            </a:r>
            <a:endParaRPr lang="en-US" smtClean="0"/>
          </a:p>
          <a:p>
            <a:pPr lvl="1" eaLnBrk="1" hangingPunct="1"/>
            <a:r>
              <a:rPr lang="en-US" smtClean="0"/>
              <a:t>Global miss rate to main memory = 0.5%</a:t>
            </a:r>
            <a:endParaRPr lang="en-US" smtClean="0"/>
          </a:p>
          <a:p>
            <a:pPr eaLnBrk="1" hangingPunct="1"/>
            <a:r>
              <a:rPr lang="en-US" smtClean="0"/>
              <a:t>Primary miss with L-2 hit</a:t>
            </a:r>
            <a:endParaRPr lang="en-US" smtClean="0"/>
          </a:p>
          <a:p>
            <a:pPr lvl="1" eaLnBrk="1" hangingPunct="1"/>
            <a:r>
              <a:rPr lang="en-US" smtClean="0"/>
              <a:t>Penalty = 5ns/0.25ns = 20 cycles</a:t>
            </a:r>
            <a:endParaRPr lang="en-US" smtClean="0"/>
          </a:p>
          <a:p>
            <a:pPr eaLnBrk="1" hangingPunct="1"/>
            <a:r>
              <a:rPr lang="en-US" smtClean="0"/>
              <a:t>Primary miss with L-2 miss</a:t>
            </a:r>
            <a:endParaRPr lang="en-US" smtClean="0"/>
          </a:p>
          <a:p>
            <a:pPr lvl="1" eaLnBrk="1" hangingPunct="1"/>
            <a:r>
              <a:rPr lang="en-US" smtClean="0"/>
              <a:t>Extra penalty = 400 cycles</a:t>
            </a:r>
            <a:endParaRPr lang="en-US" smtClean="0"/>
          </a:p>
          <a:p>
            <a:pPr eaLnBrk="1" hangingPunct="1"/>
            <a:r>
              <a:rPr lang="en-US" smtClean="0"/>
              <a:t>CPI = 1 + 0.02 × 20 + 0.005 × 400 = 3.4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Performance ratio = 9/3.4 = 2.6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7E13654-B399-49AD-8931-1C1FDAD17982}" type="slidenum">
              <a:rPr lang="en-AU" altLang="zh-CN"/>
            </a:fld>
            <a:endParaRPr lang="en-AU" altLang="zh-CN"/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Multilevel Cache Considerations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Primary cache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Focus on minimal hit time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L-2 cache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Focus on low miss rate to avoid main memory access</a:t>
            </a:r>
            <a:endParaRPr lang="en-US" smtClean="0"/>
          </a:p>
          <a:p>
            <a:pPr lvl="1" eaLnBrk="1" hangingPunct="1"/>
            <a:r>
              <a:rPr lang="en-US" smtClean="0"/>
              <a:t>Hit time has less overall impact</a:t>
            </a:r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Results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L-1 cache usually smaller than a single cache</a:t>
            </a:r>
            <a:endParaRPr lang="en-US" smtClean="0"/>
          </a:p>
          <a:p>
            <a:pPr lvl="1" eaLnBrk="1" hangingPunct="1"/>
            <a:r>
              <a:rPr lang="en-US" smtClean="0"/>
              <a:t>L-1 block size smaller than L-2 block size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96B3997-8662-4E14-BAC1-4216AA54B918}" type="slidenum">
              <a:rPr lang="en-AU" altLang="zh-CN"/>
            </a:fld>
            <a:endParaRPr lang="en-AU" altLang="zh-CN"/>
          </a:p>
        </p:txBody>
      </p:sp>
      <p:sp>
        <p:nvSpPr>
          <p:cNvPr id="52227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US" sz="3600" smtClean="0"/>
              <a:t>Interactions with Advanced CPUs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sp>
        <p:nvSpPr>
          <p:cNvPr id="5018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Out-of-order CPUs can execute instructions during cache miss</a:t>
            </a:r>
            <a:endParaRPr lang="en-US" smtClean="0"/>
          </a:p>
          <a:p>
            <a:pPr lvl="1" eaLnBrk="1" hangingPunct="1"/>
            <a:r>
              <a:rPr lang="en-US" smtClean="0"/>
              <a:t>Pending store stays in load/store unit</a:t>
            </a:r>
            <a:endParaRPr lang="en-US" smtClean="0"/>
          </a:p>
          <a:p>
            <a:pPr lvl="1" eaLnBrk="1" hangingPunct="1"/>
            <a:r>
              <a:rPr lang="en-US" smtClean="0"/>
              <a:t>Dependent instructions wait in reservation stations</a:t>
            </a:r>
            <a:endParaRPr lang="en-US" smtClean="0"/>
          </a:p>
          <a:p>
            <a:pPr lvl="2" eaLnBrk="1" hangingPunct="1"/>
            <a:r>
              <a:rPr lang="en-US" smtClean="0"/>
              <a:t>Independent instructions continue</a:t>
            </a:r>
            <a:endParaRPr lang="en-US" smtClean="0"/>
          </a:p>
          <a:p>
            <a:pPr eaLnBrk="1" hangingPunct="1"/>
            <a:r>
              <a:rPr lang="en-US" smtClean="0"/>
              <a:t>Effect of miss depends on program data flow</a:t>
            </a:r>
            <a:endParaRPr lang="en-US" smtClean="0"/>
          </a:p>
          <a:p>
            <a:pPr lvl="1" eaLnBrk="1" hangingPunct="1"/>
            <a:r>
              <a:rPr lang="en-US" smtClean="0"/>
              <a:t>Much harder to analyze</a:t>
            </a:r>
            <a:endParaRPr lang="en-US" smtClean="0"/>
          </a:p>
          <a:p>
            <a:pPr lvl="1" eaLnBrk="1" hangingPunct="1"/>
            <a:r>
              <a:rPr lang="en-US" smtClean="0"/>
              <a:t>Use system simulation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B4595D6-E71D-4B71-82D9-EA60DD72250C}" type="slidenum">
              <a:rPr lang="en-AU" altLang="zh-CN"/>
            </a:fld>
            <a:endParaRPr lang="en-AU" altLang="zh-CN"/>
          </a:p>
        </p:txBody>
      </p:sp>
      <p:pic>
        <p:nvPicPr>
          <p:cNvPr id="53251" name="Picture 6" descr="f05-18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1143000"/>
            <a:ext cx="2922587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Interactions with Software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071563"/>
            <a:ext cx="5149850" cy="535146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Radix sort vs. Quicksort</a:t>
            </a:r>
            <a:endParaRPr lang="en-US" sz="2400" dirty="0" smtClean="0"/>
          </a:p>
          <a:p>
            <a:pPr lvl="1" eaLnBrk="1" hangingPunct="1"/>
            <a:r>
              <a:rPr lang="en-US" sz="2000" dirty="0" smtClean="0"/>
              <a:t>Radix sort has algorithmic advantage in terms on no. of operations per item</a:t>
            </a:r>
            <a:endParaRPr lang="en-US" sz="2000" dirty="0" smtClean="0"/>
          </a:p>
          <a:p>
            <a:pPr lvl="1" eaLnBrk="1" hangingPunct="1"/>
            <a:r>
              <a:rPr lang="en-US" sz="2000" dirty="0" smtClean="0"/>
              <a:t>But time/item for radix sort increases as shown in Fig b. =&gt; Why??</a:t>
            </a:r>
            <a:endParaRPr lang="en-US" sz="2000" dirty="0" smtClean="0"/>
          </a:p>
          <a:p>
            <a:pPr lvl="2" eaLnBrk="1" hangingPunct="1"/>
            <a:r>
              <a:rPr lang="en-US" sz="2000" i="1" dirty="0" smtClean="0">
                <a:solidFill>
                  <a:schemeClr val="tx2"/>
                </a:solidFill>
              </a:rPr>
              <a:t>See Fig. c for answer</a:t>
            </a:r>
            <a:endParaRPr lang="en-US" sz="2000" i="1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en-US" sz="2400" dirty="0" smtClean="0"/>
              <a:t>Misses depend on memory access patterns</a:t>
            </a:r>
            <a:endParaRPr lang="en-US" sz="2400" dirty="0" smtClean="0"/>
          </a:p>
          <a:p>
            <a:pPr lvl="1" eaLnBrk="1" hangingPunct="1"/>
            <a:r>
              <a:rPr lang="en-US" sz="2000" dirty="0" smtClean="0"/>
              <a:t>Algorithm behavior, compiler  optimization for memory access</a:t>
            </a:r>
            <a:endParaRPr lang="en-US" sz="2000" dirty="0" smtClean="0"/>
          </a:p>
          <a:p>
            <a:pPr eaLnBrk="1" hangingPunct="1"/>
            <a:r>
              <a:rPr lang="en-US" sz="2400" dirty="0" err="1" smtClean="0">
                <a:solidFill>
                  <a:srgbClr val="FF0000"/>
                </a:solidFill>
              </a:rPr>
              <a:t>Autotuning</a:t>
            </a:r>
            <a:r>
              <a:rPr lang="en-US" sz="2400" dirty="0" smtClean="0"/>
              <a:t> helps performance</a:t>
            </a:r>
            <a:endParaRPr lang="en-US" sz="2400" dirty="0" smtClean="0"/>
          </a:p>
          <a:p>
            <a:pPr lvl="1" eaLnBrk="1" hangingPunct="1"/>
            <a:r>
              <a:rPr lang="en-US" sz="2000" dirty="0" smtClean="0"/>
              <a:t>Parameterize algorithms and find best parameter combination at runtime for given architecture</a:t>
            </a:r>
            <a:endParaRPr lang="en-US" sz="2000" dirty="0" smtClean="0"/>
          </a:p>
          <a:p>
            <a:pPr lvl="2" eaLnBrk="1" hangingPunct="1"/>
            <a:r>
              <a:rPr lang="en-US" sz="1800" dirty="0" smtClean="0"/>
              <a:t>e.g. write back vs. write through, etc.</a:t>
            </a: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49502C0-2336-4C30-98FF-DFF5B6BF9444}" type="slidenum">
              <a:rPr lang="en-AU" altLang="zh-CN"/>
            </a:fld>
            <a:endParaRPr lang="en-AU" altLang="zh-CN"/>
          </a:p>
        </p:txBody>
      </p:sp>
      <p:sp>
        <p:nvSpPr>
          <p:cNvPr id="5427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Memory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530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Use main memory as a “cache” for secondary (disk) storage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Managed jointly by CPU hardware and the operating system (OS)</a:t>
            </a: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Programs share main memory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Each gets a private virtual address space holding its frequently used code and data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Protected from other programs</a:t>
            </a: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CPU and OS translate virtual addresses to physical addresses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VM “block” is called a </a:t>
            </a:r>
            <a:r>
              <a:rPr lang="en-US" smtClean="0">
                <a:solidFill>
                  <a:srgbClr val="FF0000"/>
                </a:solidFill>
              </a:rPr>
              <a:t>page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VM translation “miss” is called a </a:t>
            </a:r>
            <a:r>
              <a:rPr lang="en-US" smtClean="0">
                <a:solidFill>
                  <a:srgbClr val="FF0000"/>
                </a:solidFill>
              </a:rPr>
              <a:t>page fault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4277" name="Text Box 4"/>
          <p:cNvSpPr txBox="1">
            <a:spLocks noChangeArrowheads="1"/>
          </p:cNvSpPr>
          <p:nvPr/>
        </p:nvSpPr>
        <p:spPr bwMode="auto">
          <a:xfrm rot="5400000">
            <a:off x="7846219" y="931069"/>
            <a:ext cx="2228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§5.4 Virtual Memory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3B453B1-8FEC-4EBF-8DFB-569A32291924}" type="slidenum">
              <a:rPr lang="en-AU" altLang="zh-CN"/>
            </a:fld>
            <a:endParaRPr lang="en-AU" altLang="zh-CN"/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Address Translation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Fixed-size pages (e.g., 4K)</a:t>
            </a:r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Main memory can have 1GB while virtual address space is 4 GB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55301" name="Picture 8" descr="f05-20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93900"/>
            <a:ext cx="43180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9" descr="f05-19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82825"/>
            <a:ext cx="344805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A3778F9-BEE2-4818-ACBB-EF7778243C79}" type="slidenum">
              <a:rPr lang="en-AU" altLang="zh-CN"/>
            </a:fld>
            <a:endParaRPr lang="en-AU" altLang="zh-CN"/>
          </a:p>
        </p:txBody>
      </p:sp>
      <p:sp>
        <p:nvSpPr>
          <p:cNvPr id="5632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Tables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837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Stores placement information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Array of page table entries (PTEs), indexed by virtual page number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Page table register in CPU points to page table in physical memory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rgbClr val="FF0000"/>
                </a:solidFill>
              </a:rPr>
              <a:t>If page is present in memory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PTE stores the physical page number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Plus other status bits (referenced, dirty, …)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rgbClr val="FF0000"/>
                </a:solidFill>
              </a:rPr>
              <a:t>If page is not present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PTE can refer to location in swap space on disk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957D172-EE31-445C-BD90-BCD091A38661}" type="slidenum">
              <a:rPr lang="en-AU" altLang="zh-CN"/>
            </a:fld>
            <a:endParaRPr lang="en-AU" altLang="zh-CN"/>
          </a:p>
        </p:txBody>
      </p:sp>
      <p:sp>
        <p:nvSpPr>
          <p:cNvPr id="573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Page Fault Penalty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734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 page fault, the page must be fetched from disk</a:t>
            </a:r>
            <a:endParaRPr lang="en-US" smtClean="0"/>
          </a:p>
          <a:p>
            <a:pPr lvl="1" eaLnBrk="1" hangingPunct="1"/>
            <a:r>
              <a:rPr lang="en-US" smtClean="0"/>
              <a:t>Takes </a:t>
            </a:r>
            <a:r>
              <a:rPr lang="en-US" smtClean="0">
                <a:solidFill>
                  <a:srgbClr val="FF0000"/>
                </a:solidFill>
              </a:rPr>
              <a:t>millions</a:t>
            </a:r>
            <a:r>
              <a:rPr lang="en-US" smtClean="0"/>
              <a:t> of clock cycles!</a:t>
            </a:r>
            <a:endParaRPr lang="en-US" smtClean="0"/>
          </a:p>
          <a:p>
            <a:pPr lvl="1" eaLnBrk="1" hangingPunct="1"/>
            <a:r>
              <a:rPr lang="en-US" smtClean="0"/>
              <a:t>Handled by OS code</a:t>
            </a:r>
            <a:endParaRPr lang="en-US" smtClean="0"/>
          </a:p>
          <a:p>
            <a:pPr eaLnBrk="1" hangingPunct="1"/>
            <a:r>
              <a:rPr lang="en-US" smtClean="0"/>
              <a:t>Try to minimize page fault rate</a:t>
            </a:r>
            <a:endParaRPr lang="en-US" smtClean="0"/>
          </a:p>
          <a:p>
            <a:pPr lvl="1" eaLnBrk="1" hangingPunct="1"/>
            <a:r>
              <a:rPr lang="en-US" smtClean="0"/>
              <a:t>Fully associative placement</a:t>
            </a:r>
            <a:endParaRPr lang="en-US" smtClean="0"/>
          </a:p>
          <a:p>
            <a:pPr lvl="1" eaLnBrk="1" hangingPunct="1"/>
            <a:r>
              <a:rPr lang="en-US" smtClean="0"/>
              <a:t>Smart replacement algorithms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C13331C-A731-4AFE-8B43-A9D51566E10C}" type="slidenum">
              <a:rPr lang="en-AU" altLang="zh-CN"/>
            </a:fld>
            <a:endParaRPr lang="en-AU" altLang="zh-CN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Translation Using a Page Table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pic>
        <p:nvPicPr>
          <p:cNvPr id="58372" name="Picture 4" descr="f05-2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12875"/>
            <a:ext cx="5757863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FDF1323-AA3F-4CC5-8D57-850F74374BB5}" type="slidenum">
              <a:rPr lang="en-AU" altLang="zh-CN"/>
            </a:fld>
            <a:endParaRPr lang="en-AU" altLang="zh-CN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Mapping Pages to Storage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59396" name="Picture 4" descr="f05-22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557338"/>
            <a:ext cx="53340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Segmentation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0063" y="1125538"/>
            <a:ext cx="8643937" cy="5111750"/>
          </a:xfrm>
        </p:spPr>
        <p:txBody>
          <a:bodyPr/>
          <a:lstStyle/>
          <a:p>
            <a:r>
              <a:rPr lang="en-US" sz="2800" smtClean="0">
                <a:solidFill>
                  <a:schemeClr val="tx2"/>
                </a:solidFill>
              </a:rPr>
              <a:t>Paging</a:t>
            </a:r>
            <a:r>
              <a:rPr lang="en-US" sz="2800" smtClean="0"/>
              <a:t>: fixed size blocks</a:t>
            </a:r>
            <a:endParaRPr lang="en-US" sz="2800" smtClean="0"/>
          </a:p>
          <a:p>
            <a:r>
              <a:rPr lang="en-US" sz="2800" smtClean="0">
                <a:solidFill>
                  <a:schemeClr val="tx2"/>
                </a:solidFill>
              </a:rPr>
              <a:t>Segmentation</a:t>
            </a:r>
            <a:r>
              <a:rPr lang="en-US" sz="2800" smtClean="0"/>
              <a:t>: variable size blocks</a:t>
            </a:r>
            <a:endParaRPr lang="en-US" sz="2800" smtClean="0"/>
          </a:p>
          <a:p>
            <a:pPr lvl="1"/>
            <a:r>
              <a:rPr lang="en-US" sz="2400" smtClean="0"/>
              <a:t>Address consists of two parts: </a:t>
            </a:r>
            <a:r>
              <a:rPr lang="en-US" sz="2400" smtClean="0">
                <a:solidFill>
                  <a:srgbClr val="FF0000"/>
                </a:solidFill>
              </a:rPr>
              <a:t>segment address </a:t>
            </a:r>
            <a:r>
              <a:rPr lang="en-US" sz="2400" smtClean="0"/>
              <a:t>(mapped to physical address) and a </a:t>
            </a:r>
            <a:r>
              <a:rPr lang="en-US" sz="2400" smtClean="0">
                <a:solidFill>
                  <a:srgbClr val="FF0000"/>
                </a:solidFill>
              </a:rPr>
              <a:t>segment offset</a:t>
            </a:r>
            <a:endParaRPr lang="en-US" sz="2400" smtClean="0">
              <a:solidFill>
                <a:srgbClr val="FF0000"/>
              </a:solidFill>
            </a:endParaRPr>
          </a:p>
          <a:p>
            <a:pPr lvl="1"/>
            <a:r>
              <a:rPr lang="en-US" sz="2400" smtClean="0"/>
              <a:t>Bounds check required to ensure offset within segment</a:t>
            </a:r>
            <a:endParaRPr lang="en-US" sz="2400" smtClean="0"/>
          </a:p>
          <a:p>
            <a:pPr lvl="1"/>
            <a:r>
              <a:rPr lang="en-US" sz="2400" smtClean="0"/>
              <a:t>(+) Enables more powerful methods of protection, sharing</a:t>
            </a:r>
            <a:endParaRPr lang="en-US" sz="2400" smtClean="0"/>
          </a:p>
          <a:p>
            <a:pPr lvl="1"/>
            <a:r>
              <a:rPr lang="en-US" sz="2400" smtClean="0"/>
              <a:t>(-) Splits address space into logically separate pieces that must be manipulated as a 2-part address</a:t>
            </a:r>
            <a:endParaRPr lang="en-US" sz="2400" smtClean="0"/>
          </a:p>
          <a:p>
            <a:pPr lvl="2"/>
            <a:r>
              <a:rPr lang="en-US" sz="2000" smtClean="0"/>
              <a:t>Paging makes boundary between page number and offset invisible to programmers and compilers</a:t>
            </a:r>
            <a:endParaRPr lang="en-US" sz="2000" smtClean="0"/>
          </a:p>
          <a:p>
            <a:pPr lvl="1"/>
            <a:r>
              <a:rPr lang="en-US" smtClean="0">
                <a:solidFill>
                  <a:srgbClr val="008000"/>
                </a:solidFill>
              </a:rPr>
              <a:t>Will focus on paging =&gt; more efficient</a:t>
            </a:r>
            <a:endParaRPr lang="en-US" smtClean="0">
              <a:solidFill>
                <a:srgbClr val="008000"/>
              </a:solidFill>
            </a:endParaRPr>
          </a:p>
        </p:txBody>
      </p:sp>
      <p:sp>
        <p:nvSpPr>
          <p:cNvPr id="6042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B5DEA39-C8EC-46C4-BAF7-CF773C9EE4FE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Page Table Size Calculation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32-bit virtual address space</a:t>
            </a:r>
            <a:endParaRPr lang="en-US" sz="2800" smtClean="0"/>
          </a:p>
          <a:p>
            <a:r>
              <a:rPr lang="en-US" sz="2800" smtClean="0"/>
              <a:t>4 KB pages, 4 bytes/PTE</a:t>
            </a:r>
            <a:endParaRPr lang="en-US" sz="2800" smtClean="0"/>
          </a:p>
          <a:p>
            <a:r>
              <a:rPr lang="en-US" sz="2800" smtClean="0">
                <a:solidFill>
                  <a:srgbClr val="C00000"/>
                </a:solidFill>
              </a:rPr>
              <a:t>What is the total page table size?</a:t>
            </a:r>
            <a:endParaRPr lang="en-US" sz="2800" smtClean="0">
              <a:solidFill>
                <a:srgbClr val="C00000"/>
              </a:solidFill>
            </a:endParaRPr>
          </a:p>
          <a:p>
            <a:pPr lvl="3"/>
            <a:endParaRPr lang="en-US" sz="1600" smtClean="0">
              <a:solidFill>
                <a:srgbClr val="C00000"/>
              </a:solidFill>
            </a:endParaRPr>
          </a:p>
          <a:p>
            <a:r>
              <a:rPr lang="en-US" sz="2800" smtClean="0"/>
              <a:t>No. of page table entries = 2</a:t>
            </a:r>
            <a:r>
              <a:rPr lang="en-US" sz="2800" baseline="30000" smtClean="0"/>
              <a:t>32</a:t>
            </a:r>
            <a:r>
              <a:rPr lang="en-US" sz="2800" smtClean="0"/>
              <a:t>/2</a:t>
            </a:r>
            <a:r>
              <a:rPr lang="en-US" sz="2800" baseline="30000" smtClean="0"/>
              <a:t>12</a:t>
            </a:r>
            <a:r>
              <a:rPr lang="en-US" sz="2800" smtClean="0"/>
              <a:t> = 2</a:t>
            </a:r>
            <a:r>
              <a:rPr lang="en-US" sz="2800" baseline="30000" smtClean="0"/>
              <a:t>20</a:t>
            </a:r>
            <a:r>
              <a:rPr lang="en-US" sz="2800" smtClean="0"/>
              <a:t> </a:t>
            </a:r>
            <a:endParaRPr lang="en-US" sz="2800" smtClean="0"/>
          </a:p>
          <a:p>
            <a:r>
              <a:rPr lang="en-US" sz="2800" smtClean="0"/>
              <a:t>Size of page table = 2</a:t>
            </a:r>
            <a:r>
              <a:rPr lang="en-US" sz="2800" baseline="30000" smtClean="0"/>
              <a:t>20</a:t>
            </a:r>
            <a:r>
              <a:rPr lang="en-US" sz="2800" smtClean="0"/>
              <a:t> PTE x 2</a:t>
            </a:r>
            <a:r>
              <a:rPr lang="en-US" sz="2800" baseline="30000" smtClean="0"/>
              <a:t>2</a:t>
            </a:r>
            <a:r>
              <a:rPr lang="en-US" sz="2800" smtClean="0"/>
              <a:t> bytes/PTE = </a:t>
            </a:r>
            <a:br>
              <a:rPr lang="en-US" sz="2800" smtClean="0"/>
            </a:br>
            <a:r>
              <a:rPr lang="en-US" sz="2800" smtClean="0">
                <a:solidFill>
                  <a:srgbClr val="FF0000"/>
                </a:solidFill>
              </a:rPr>
              <a:t>4 MB </a:t>
            </a:r>
            <a:r>
              <a:rPr lang="en-US" sz="2800" smtClean="0"/>
              <a:t>per program in execution at any given time</a:t>
            </a:r>
            <a:endParaRPr lang="en-US" sz="2800" smtClean="0"/>
          </a:p>
          <a:p>
            <a:r>
              <a:rPr lang="en-US" sz="2800" smtClean="0">
                <a:solidFill>
                  <a:schemeClr val="tx2"/>
                </a:solidFill>
              </a:rPr>
              <a:t>What if there are hundreds of programs in execution? </a:t>
            </a:r>
            <a:endParaRPr lang="en-US" sz="2800" smtClean="0">
              <a:solidFill>
                <a:schemeClr val="tx2"/>
              </a:solidFill>
            </a:endParaRPr>
          </a:p>
          <a:p>
            <a:r>
              <a:rPr lang="en-US" sz="2800" smtClean="0">
                <a:solidFill>
                  <a:schemeClr val="tx2"/>
                </a:solidFill>
              </a:rPr>
              <a:t>How can we handle 64-bit addresses that would need 2</a:t>
            </a:r>
            <a:r>
              <a:rPr lang="en-US" sz="2800" baseline="30000" smtClean="0">
                <a:solidFill>
                  <a:schemeClr val="tx2"/>
                </a:solidFill>
              </a:rPr>
              <a:t>52</a:t>
            </a:r>
            <a:r>
              <a:rPr lang="en-US" sz="2800" smtClean="0">
                <a:solidFill>
                  <a:schemeClr val="tx2"/>
                </a:solidFill>
              </a:rPr>
              <a:t> PTEs?</a:t>
            </a:r>
            <a:endParaRPr lang="en-US" sz="2800" smtClean="0">
              <a:solidFill>
                <a:schemeClr val="tx2"/>
              </a:solidFill>
            </a:endParaRPr>
          </a:p>
        </p:txBody>
      </p:sp>
      <p:sp>
        <p:nvSpPr>
          <p:cNvPr id="6144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214B2266-02BC-49C4-9C2B-C12CC4A37C69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684213" y="307975"/>
            <a:ext cx="8259762" cy="600075"/>
          </a:xfrm>
        </p:spPr>
        <p:txBody>
          <a:bodyPr/>
          <a:lstStyle/>
          <a:p>
            <a:r>
              <a:rPr lang="en-US" sz="3300" smtClean="0"/>
              <a:t>Techniques to Minimize Page Table Size</a:t>
            </a:r>
            <a:endParaRPr lang="en-US" sz="33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chemeClr val="tx2"/>
                </a:solidFill>
              </a:rPr>
              <a:t>Limit register: restricts size of page table for a process</a:t>
            </a:r>
            <a:endParaRPr lang="en-US" sz="2400" dirty="0" smtClean="0">
              <a:solidFill>
                <a:schemeClr val="tx2"/>
              </a:solidFill>
            </a:endParaRPr>
          </a:p>
          <a:p>
            <a:pPr lvl="1"/>
            <a:r>
              <a:rPr lang="en-US" sz="2000" dirty="0" smtClean="0"/>
              <a:t>If virtual page number becomes larger than contents of limit register, add entries to page table (i.e., page tables grows)</a:t>
            </a:r>
            <a:endParaRPr lang="en-US" sz="2000" dirty="0" smtClean="0"/>
          </a:p>
          <a:p>
            <a:r>
              <a:rPr lang="en-US" sz="2400" dirty="0" smtClean="0">
                <a:solidFill>
                  <a:schemeClr val="tx2"/>
                </a:solidFill>
              </a:rPr>
              <a:t>Use hashing function for virtual address to limit page table size to number of physical pages in main memory</a:t>
            </a:r>
            <a:endParaRPr lang="en-US" sz="2400" dirty="0" smtClean="0">
              <a:solidFill>
                <a:schemeClr val="tx2"/>
              </a:solidFill>
            </a:endParaRPr>
          </a:p>
          <a:p>
            <a:pPr lvl="1"/>
            <a:r>
              <a:rPr lang="en-US" sz="2000" dirty="0" smtClean="0"/>
              <a:t>Inverted page table; more complex lookup procedure</a:t>
            </a:r>
            <a:endParaRPr lang="en-US" sz="2000" dirty="0" smtClean="0"/>
          </a:p>
          <a:p>
            <a:r>
              <a:rPr lang="en-US" sz="2400" dirty="0" smtClean="0">
                <a:solidFill>
                  <a:schemeClr val="tx2"/>
                </a:solidFill>
              </a:rPr>
              <a:t>Multiple levels of page tables (typically 2-level)</a:t>
            </a:r>
            <a:endParaRPr lang="en-US" sz="2400" dirty="0" smtClean="0">
              <a:solidFill>
                <a:schemeClr val="tx2"/>
              </a:solidFill>
            </a:endParaRPr>
          </a:p>
          <a:p>
            <a:pPr lvl="1"/>
            <a:r>
              <a:rPr lang="en-US" sz="2000" dirty="0" smtClean="0"/>
              <a:t>First level maps large fixed size blocks of virtual address space 64 to 256 pages in total (segment table); Second level contains page tables; More complex address translation</a:t>
            </a:r>
            <a:endParaRPr lang="en-US" sz="2000" dirty="0" smtClean="0"/>
          </a:p>
          <a:p>
            <a:r>
              <a:rPr lang="en-US" sz="2400" dirty="0" smtClean="0">
                <a:solidFill>
                  <a:schemeClr val="tx2"/>
                </a:solidFill>
              </a:rPr>
              <a:t>Paging the page tables</a:t>
            </a:r>
            <a:r>
              <a:rPr lang="zh-CN" altLang="en-US" sz="2000" dirty="0" smtClean="0">
                <a:solidFill>
                  <a:schemeClr val="tx2"/>
                </a:solidFill>
              </a:rPr>
              <a:t>（改变存储方式，不减小页表数量）</a:t>
            </a:r>
            <a:endParaRPr lang="en-US" sz="2400" dirty="0" smtClean="0">
              <a:solidFill>
                <a:schemeClr val="tx2"/>
              </a:solidFill>
            </a:endParaRPr>
          </a:p>
          <a:p>
            <a:pPr lvl="1"/>
            <a:r>
              <a:rPr lang="en-US" sz="2000" dirty="0" smtClean="0"/>
              <a:t>Page tables reside in virtual address space</a:t>
            </a:r>
            <a:endParaRPr lang="en-US" sz="2000" dirty="0" smtClean="0"/>
          </a:p>
          <a:p>
            <a:pPr lvl="1"/>
            <a:r>
              <a:rPr lang="en-US" sz="2000" dirty="0" smtClean="0"/>
              <a:t>Most modern systems allow this to reduce the actual main memory tied up in page tables</a:t>
            </a:r>
            <a:endParaRPr lang="en-US" sz="2000" dirty="0" smtClean="0"/>
          </a:p>
          <a:p>
            <a:endParaRPr lang="en-US" sz="2400" dirty="0" smtClean="0"/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2C8195F-4EB3-428C-A514-6EAD12FBEB2A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D2AED2DF-0D46-40E5-9DE4-4491FD9FFD1D}" type="slidenum">
              <a:rPr lang="en-AU" altLang="zh-CN"/>
            </a:fld>
            <a:endParaRPr lang="en-AU" altLang="zh-CN"/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Replacement and Writes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14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To reduce page fault rate, prefer </a:t>
            </a:r>
            <a:r>
              <a:rPr lang="en-US" smtClean="0">
                <a:solidFill>
                  <a:srgbClr val="FF0000"/>
                </a:solidFill>
              </a:rPr>
              <a:t>least-recently used (LRU) </a:t>
            </a:r>
            <a:r>
              <a:rPr lang="en-US" smtClean="0"/>
              <a:t>replacement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Reference bit (aka use bit) in PTE set to 1 on access to page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Periodically cleared to 0 by OS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A page with reference bit = 0 has not been used recently</a:t>
            </a: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Disk writes take millions of cycles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Block at once, not individual locations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Write through </a:t>
            </a:r>
            <a:r>
              <a:rPr lang="en-US" smtClean="0"/>
              <a:t>is impractical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Use write-back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Dirty bit in PTE set when page is written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32EA78B-3905-47C1-ADED-969D3B93DEBD}" type="slidenum">
              <a:rPr lang="en-AU" altLang="zh-CN"/>
            </a:fld>
            <a:endParaRPr lang="en-AU" altLang="zh-CN"/>
          </a:p>
        </p:txBody>
      </p:sp>
      <p:sp>
        <p:nvSpPr>
          <p:cNvPr id="645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Fast Translation Using a TLB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246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000125"/>
            <a:ext cx="8270875" cy="5111750"/>
          </a:xfrm>
        </p:spPr>
        <p:txBody>
          <a:bodyPr/>
          <a:lstStyle/>
          <a:p>
            <a:pPr eaLnBrk="1" hangingPunct="1"/>
            <a:r>
              <a:rPr lang="en-US" sz="2600" smtClean="0"/>
              <a:t>Address translation would appear to require extra memory references</a:t>
            </a:r>
            <a:endParaRPr lang="en-US" sz="2600" smtClean="0"/>
          </a:p>
          <a:p>
            <a:pPr lvl="1" eaLnBrk="1" hangingPunct="1"/>
            <a:r>
              <a:rPr lang="en-US" sz="2000" smtClean="0"/>
              <a:t>One to access the PTE</a:t>
            </a:r>
            <a:endParaRPr lang="en-US" sz="2000" smtClean="0"/>
          </a:p>
          <a:p>
            <a:pPr lvl="1" eaLnBrk="1" hangingPunct="1"/>
            <a:r>
              <a:rPr lang="en-US" sz="2000" smtClean="0"/>
              <a:t>Then the actual memory access</a:t>
            </a:r>
            <a:endParaRPr lang="en-US" sz="2000" smtClean="0"/>
          </a:p>
          <a:p>
            <a:pPr eaLnBrk="1" hangingPunct="1"/>
            <a:r>
              <a:rPr lang="en-US" sz="2600" smtClean="0"/>
              <a:t>But access to page tables has good locality</a:t>
            </a:r>
            <a:endParaRPr lang="en-US" sz="2600" smtClean="0"/>
          </a:p>
          <a:p>
            <a:pPr lvl="1" eaLnBrk="1" hangingPunct="1"/>
            <a:r>
              <a:rPr lang="en-US" sz="2000" smtClean="0"/>
              <a:t>So use a fast cache of PTEs within the CPU</a:t>
            </a:r>
            <a:endParaRPr lang="en-US" sz="2000" smtClean="0"/>
          </a:p>
          <a:p>
            <a:pPr lvl="1" eaLnBrk="1" hangingPunct="1"/>
            <a:r>
              <a:rPr lang="en-US" sz="2000" smtClean="0"/>
              <a:t>Called a </a:t>
            </a:r>
            <a:r>
              <a:rPr lang="en-US" sz="2000" smtClean="0">
                <a:solidFill>
                  <a:srgbClr val="FF0000"/>
                </a:solidFill>
              </a:rPr>
              <a:t>Translation Look-aside Buffer (TLB)</a:t>
            </a:r>
            <a:endParaRPr lang="en-US" sz="20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000" smtClean="0"/>
              <a:t>Typical: 16–512 PTEs, 0.5–1 cycle for hit, 10–100 cycles for miss, 0.01%–1% miss rate</a:t>
            </a:r>
            <a:endParaRPr lang="en-US" sz="2000" smtClean="0"/>
          </a:p>
          <a:p>
            <a:pPr lvl="1" eaLnBrk="1" hangingPunct="1"/>
            <a:r>
              <a:rPr lang="en-US" sz="2000" smtClean="0"/>
              <a:t>Small TLBs are typically fully associative, large TLBs have small associativity (due to cost issues)</a:t>
            </a:r>
            <a:endParaRPr lang="en-US" sz="2000" smtClean="0"/>
          </a:p>
          <a:p>
            <a:pPr lvl="1" eaLnBrk="1" hangingPunct="1"/>
            <a:r>
              <a:rPr lang="en-US" sz="2000" smtClean="0"/>
              <a:t>Misses could be handled by hardware or software</a:t>
            </a:r>
            <a:endParaRPr lang="en-US" sz="2000" smtClean="0"/>
          </a:p>
          <a:p>
            <a:pPr lvl="2" eaLnBrk="1" hangingPunct="1"/>
            <a:r>
              <a:rPr lang="en-US" sz="1800" smtClean="0"/>
              <a:t>Write back scheme for writing reference, dirty bits to PTE</a:t>
            </a: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B729791-5B27-4EAC-8936-B20DB579C6B7}" type="slidenum">
              <a:rPr lang="en-AU" altLang="zh-CN"/>
            </a:fld>
            <a:endParaRPr lang="en-AU" altLang="zh-CN"/>
          </a:p>
        </p:txBody>
      </p:sp>
      <p:pic>
        <p:nvPicPr>
          <p:cNvPr id="65539" name="Picture 5" descr="f05-2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268413"/>
            <a:ext cx="6815138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Fast Translation Using a TLB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CC4B28C1-5827-489B-A2E2-3188A0C89AE3}" type="slidenum">
              <a:rPr lang="en-AU" altLang="zh-CN"/>
            </a:fld>
            <a:endParaRPr lang="en-AU" altLang="zh-CN"/>
          </a:p>
        </p:txBody>
      </p:sp>
      <p:sp>
        <p:nvSpPr>
          <p:cNvPr id="665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TLB Misses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45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0063" y="1125538"/>
            <a:ext cx="86439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If page is in memory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Load the PTE from memory and retry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10’s of cycles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Could be handled in hardware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200" smtClean="0"/>
              <a:t>Can get complex for more complex page table structures</a:t>
            </a:r>
            <a:endParaRPr lang="en-US" sz="22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Or in software</a:t>
            </a:r>
            <a:endParaRPr 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sz="2200" smtClean="0"/>
              <a:t>Raise a special exception, with optimized handler</a:t>
            </a: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If page is not in memory (page fault)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OS handles fetching the page and updating page table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Then restart the faulting instruction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1,000,000’s of cycles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FF0000"/>
                </a:solidFill>
              </a:rPr>
              <a:t>TLB misses more frequent than page faults</a:t>
            </a:r>
            <a:endParaRPr lang="en-AU" altLang="zh-CN" sz="280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3D5C4A3-6E5F-466E-B3E7-A4C0BF2273EB}" type="slidenum">
              <a:rPr lang="en-AU" altLang="zh-CN"/>
            </a:fld>
            <a:endParaRPr lang="en-AU" altLang="zh-CN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Page Fault Handler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Use faulting virtual address to find PTE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Locate page on disk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Choose page to replace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If dirty, write to disk first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Read page into memory and update page table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Make process runnable again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Restart from faulting instruction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65618E7-594F-4313-907B-243E71C4330F}" type="slidenum">
              <a:rPr lang="en-AU" altLang="zh-CN"/>
            </a:fld>
            <a:endParaRPr lang="en-AU" altLang="zh-CN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sz="3600" smtClean="0"/>
              <a:t>TLB and Cache Interaction Example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64163" y="1125538"/>
            <a:ext cx="3590925" cy="5111750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Intrinsity FastMATH</a:t>
            </a:r>
            <a:endParaRPr lang="en-US" sz="2400" smtClean="0">
              <a:solidFill>
                <a:srgbClr val="FF0000"/>
              </a:solidFill>
            </a:endParaRPr>
          </a:p>
          <a:p>
            <a:pPr eaLnBrk="1" hangingPunct="1"/>
            <a:r>
              <a:rPr lang="en-US" sz="2400" smtClean="0"/>
              <a:t>Fully associative TLB</a:t>
            </a:r>
            <a:endParaRPr lang="en-US" sz="2400" smtClean="0"/>
          </a:p>
          <a:p>
            <a:pPr eaLnBrk="1" hangingPunct="1"/>
            <a:r>
              <a:rPr lang="en-US" sz="2400" smtClean="0"/>
              <a:t>Concatenation avoids 16:1 multiplexor</a:t>
            </a:r>
            <a:endParaRPr lang="en-US" sz="2400" smtClean="0"/>
          </a:p>
          <a:p>
            <a:pPr eaLnBrk="1" hangingPunct="1"/>
            <a:r>
              <a:rPr lang="en-US" sz="2400" smtClean="0"/>
              <a:t>Direct mapped cache</a:t>
            </a:r>
            <a:endParaRPr lang="en-US" sz="2400" smtClean="0"/>
          </a:p>
          <a:p>
            <a:pPr lvl="1" eaLnBrk="1" hangingPunct="1"/>
            <a:r>
              <a:rPr lang="en-US" sz="2000" smtClean="0"/>
              <a:t>Physically tagged and physically indexed</a:t>
            </a:r>
            <a:endParaRPr lang="en-US" sz="2000" smtClean="0"/>
          </a:p>
        </p:txBody>
      </p:sp>
      <p:pic>
        <p:nvPicPr>
          <p:cNvPr id="68613" name="Picture 5" descr="f05-24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68413"/>
            <a:ext cx="4956175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Cache Addressing</a:t>
            </a:r>
            <a:endParaRPr lang="en-US" smtClean="0"/>
          </a:p>
        </p:txBody>
      </p:sp>
      <p:sp>
        <p:nvSpPr>
          <p:cNvPr id="69635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375A398-72E3-411C-BD5D-C3178C0E5359}" type="slidenum">
              <a:rPr lang="en-AU" altLang="zh-CN"/>
            </a:fld>
            <a:endParaRPr lang="en-AU" altLang="zh-CN"/>
          </a:p>
        </p:txBody>
      </p:sp>
      <p:sp>
        <p:nvSpPr>
          <p:cNvPr id="69636" name="Line 5"/>
          <p:cNvSpPr>
            <a:spLocks noChangeShapeType="1"/>
          </p:cNvSpPr>
          <p:nvPr/>
        </p:nvSpPr>
        <p:spPr bwMode="auto">
          <a:xfrm>
            <a:off x="1485900" y="1657350"/>
            <a:ext cx="977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auto">
          <a:xfrm>
            <a:off x="2476500" y="1668463"/>
            <a:ext cx="0" cy="8747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Line 7"/>
          <p:cNvSpPr>
            <a:spLocks noChangeShapeType="1"/>
          </p:cNvSpPr>
          <p:nvPr/>
        </p:nvSpPr>
        <p:spPr bwMode="auto">
          <a:xfrm flipH="1">
            <a:off x="1435100" y="2579688"/>
            <a:ext cx="1054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Rectangle 8"/>
          <p:cNvSpPr>
            <a:spLocks noChangeArrowheads="1"/>
          </p:cNvSpPr>
          <p:nvPr/>
        </p:nvSpPr>
        <p:spPr bwMode="auto">
          <a:xfrm>
            <a:off x="1536700" y="2003425"/>
            <a:ext cx="60960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CPU</a:t>
            </a:r>
            <a:endParaRPr lang="en-US" b="1"/>
          </a:p>
        </p:txBody>
      </p:sp>
      <p:sp>
        <p:nvSpPr>
          <p:cNvPr id="69640" name="Rectangle 9"/>
          <p:cNvSpPr>
            <a:spLocks noChangeArrowheads="1"/>
          </p:cNvSpPr>
          <p:nvPr/>
        </p:nvSpPr>
        <p:spPr bwMode="auto">
          <a:xfrm>
            <a:off x="3136900" y="1692275"/>
            <a:ext cx="10668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b="1"/>
              <a:t>TLB</a:t>
            </a:r>
            <a:endParaRPr lang="en-US" b="1"/>
          </a:p>
          <a:p>
            <a:pPr algn="ctr"/>
            <a:r>
              <a:rPr lang="en-US" b="1"/>
              <a:t>Lookup</a:t>
            </a:r>
            <a:endParaRPr lang="en-US" b="1"/>
          </a:p>
        </p:txBody>
      </p:sp>
      <p:sp>
        <p:nvSpPr>
          <p:cNvPr id="69641" name="Rectangle 10"/>
          <p:cNvSpPr>
            <a:spLocks noChangeArrowheads="1"/>
          </p:cNvSpPr>
          <p:nvPr/>
        </p:nvSpPr>
        <p:spPr bwMode="auto">
          <a:xfrm>
            <a:off x="4965700" y="1692275"/>
            <a:ext cx="10668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b="1"/>
              <a:t>Cache</a:t>
            </a:r>
            <a:endParaRPr lang="en-US" b="1"/>
          </a:p>
        </p:txBody>
      </p:sp>
      <p:sp>
        <p:nvSpPr>
          <p:cNvPr id="69642" name="Rectangle 11"/>
          <p:cNvSpPr>
            <a:spLocks noChangeArrowheads="1"/>
          </p:cNvSpPr>
          <p:nvPr/>
        </p:nvSpPr>
        <p:spPr bwMode="auto">
          <a:xfrm>
            <a:off x="6934200" y="1704975"/>
            <a:ext cx="10668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b="1"/>
              <a:t>Main</a:t>
            </a:r>
            <a:endParaRPr lang="en-US" b="1"/>
          </a:p>
          <a:p>
            <a:pPr algn="ctr"/>
            <a:r>
              <a:rPr lang="en-US" b="1"/>
              <a:t>Memory</a:t>
            </a:r>
            <a:endParaRPr lang="en-US" b="1"/>
          </a:p>
        </p:txBody>
      </p:sp>
      <p:sp>
        <p:nvSpPr>
          <p:cNvPr id="69643" name="Line 12"/>
          <p:cNvSpPr>
            <a:spLocks noChangeShapeType="1"/>
          </p:cNvSpPr>
          <p:nvPr/>
        </p:nvSpPr>
        <p:spPr bwMode="auto">
          <a:xfrm>
            <a:off x="2489200" y="1824038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4" name="Line 13"/>
          <p:cNvSpPr>
            <a:spLocks noChangeShapeType="1"/>
          </p:cNvSpPr>
          <p:nvPr/>
        </p:nvSpPr>
        <p:spPr bwMode="auto">
          <a:xfrm>
            <a:off x="4203700" y="1824038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5" name="Line 14"/>
          <p:cNvSpPr>
            <a:spLocks noChangeShapeType="1"/>
          </p:cNvSpPr>
          <p:nvPr/>
        </p:nvSpPr>
        <p:spPr bwMode="auto">
          <a:xfrm>
            <a:off x="6045200" y="1800225"/>
            <a:ext cx="86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5"/>
          <p:cNvSpPr>
            <a:spLocks noChangeShapeType="1"/>
          </p:cNvSpPr>
          <p:nvPr/>
        </p:nvSpPr>
        <p:spPr bwMode="auto">
          <a:xfrm flipH="1">
            <a:off x="6705600" y="241141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7" name="Line 16"/>
          <p:cNvSpPr>
            <a:spLocks noChangeShapeType="1"/>
          </p:cNvSpPr>
          <p:nvPr/>
        </p:nvSpPr>
        <p:spPr bwMode="auto">
          <a:xfrm>
            <a:off x="6731000" y="2424113"/>
            <a:ext cx="12700" cy="166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8" name="Line 17"/>
          <p:cNvSpPr>
            <a:spLocks noChangeShapeType="1"/>
          </p:cNvSpPr>
          <p:nvPr/>
        </p:nvSpPr>
        <p:spPr bwMode="auto">
          <a:xfrm flipH="1" flipV="1">
            <a:off x="2781300" y="4087813"/>
            <a:ext cx="1930400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9" name="Line 18"/>
          <p:cNvSpPr>
            <a:spLocks noChangeShapeType="1"/>
          </p:cNvSpPr>
          <p:nvPr/>
        </p:nvSpPr>
        <p:spPr bwMode="auto">
          <a:xfrm flipH="1" flipV="1">
            <a:off x="2781300" y="2435225"/>
            <a:ext cx="0" cy="1652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0" name="Line 19"/>
          <p:cNvSpPr>
            <a:spLocks noChangeShapeType="1"/>
          </p:cNvSpPr>
          <p:nvPr/>
        </p:nvSpPr>
        <p:spPr bwMode="auto">
          <a:xfrm flipH="1" flipV="1">
            <a:off x="2476500" y="242411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1" name="Line 21"/>
          <p:cNvSpPr>
            <a:spLocks noChangeShapeType="1"/>
          </p:cNvSpPr>
          <p:nvPr/>
        </p:nvSpPr>
        <p:spPr bwMode="auto">
          <a:xfrm flipH="1">
            <a:off x="6032500" y="2435225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4711700" y="2435225"/>
            <a:ext cx="0" cy="1652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3" name="Rectangle 25"/>
          <p:cNvSpPr>
            <a:spLocks noChangeArrowheads="1"/>
          </p:cNvSpPr>
          <p:nvPr/>
        </p:nvSpPr>
        <p:spPr bwMode="auto">
          <a:xfrm>
            <a:off x="2514600" y="1573213"/>
            <a:ext cx="4445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VA</a:t>
            </a:r>
            <a:endParaRPr lang="en-US" b="1"/>
          </a:p>
        </p:txBody>
      </p:sp>
      <p:sp>
        <p:nvSpPr>
          <p:cNvPr id="69654" name="Rectangle 26"/>
          <p:cNvSpPr>
            <a:spLocks noChangeArrowheads="1"/>
          </p:cNvSpPr>
          <p:nvPr/>
        </p:nvSpPr>
        <p:spPr bwMode="auto">
          <a:xfrm>
            <a:off x="4229100" y="1573213"/>
            <a:ext cx="4445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PA</a:t>
            </a:r>
            <a:endParaRPr lang="en-US" b="1"/>
          </a:p>
        </p:txBody>
      </p:sp>
      <p:sp>
        <p:nvSpPr>
          <p:cNvPr id="69655" name="Rectangle 27"/>
          <p:cNvSpPr>
            <a:spLocks noChangeArrowheads="1"/>
          </p:cNvSpPr>
          <p:nvPr/>
        </p:nvSpPr>
        <p:spPr bwMode="auto">
          <a:xfrm>
            <a:off x="6096000" y="1549400"/>
            <a:ext cx="64770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miss</a:t>
            </a:r>
            <a:endParaRPr lang="en-US" b="1"/>
          </a:p>
        </p:txBody>
      </p:sp>
      <p:sp>
        <p:nvSpPr>
          <p:cNvPr id="69656" name="Rectangle 28"/>
          <p:cNvSpPr>
            <a:spLocks noChangeArrowheads="1"/>
          </p:cNvSpPr>
          <p:nvPr/>
        </p:nvSpPr>
        <p:spPr bwMode="auto">
          <a:xfrm>
            <a:off x="4864100" y="2614613"/>
            <a:ext cx="4064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hit</a:t>
            </a:r>
            <a:endParaRPr lang="en-US" b="1"/>
          </a:p>
        </p:txBody>
      </p:sp>
      <p:sp>
        <p:nvSpPr>
          <p:cNvPr id="69657" name="Rectangle 29"/>
          <p:cNvSpPr>
            <a:spLocks noChangeArrowheads="1"/>
          </p:cNvSpPr>
          <p:nvPr/>
        </p:nvSpPr>
        <p:spPr bwMode="auto">
          <a:xfrm>
            <a:off x="5245100" y="3824288"/>
            <a:ext cx="5969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data</a:t>
            </a:r>
            <a:endParaRPr lang="en-US" b="1"/>
          </a:p>
        </p:txBody>
      </p:sp>
      <p:sp>
        <p:nvSpPr>
          <p:cNvPr id="69658" name="Rectangle 30"/>
          <p:cNvSpPr>
            <a:spLocks noChangeArrowheads="1"/>
          </p:cNvSpPr>
          <p:nvPr/>
        </p:nvSpPr>
        <p:spPr bwMode="auto">
          <a:xfrm>
            <a:off x="3136900" y="2986088"/>
            <a:ext cx="10668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b="1"/>
              <a:t>Trans-</a:t>
            </a:r>
            <a:endParaRPr lang="en-US" b="1"/>
          </a:p>
          <a:p>
            <a:pPr algn="ctr"/>
            <a:r>
              <a:rPr lang="en-US" b="1"/>
              <a:t>lation</a:t>
            </a:r>
            <a:endParaRPr lang="en-US" b="1"/>
          </a:p>
        </p:txBody>
      </p:sp>
      <p:sp>
        <p:nvSpPr>
          <p:cNvPr id="69659" name="Rectangle 31"/>
          <p:cNvSpPr>
            <a:spLocks noChangeArrowheads="1"/>
          </p:cNvSpPr>
          <p:nvPr/>
        </p:nvSpPr>
        <p:spPr bwMode="auto">
          <a:xfrm>
            <a:off x="4229100" y="1357313"/>
            <a:ext cx="4064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hit</a:t>
            </a:r>
            <a:endParaRPr lang="en-US" b="1"/>
          </a:p>
        </p:txBody>
      </p:sp>
      <p:sp>
        <p:nvSpPr>
          <p:cNvPr id="69660" name="Line 32"/>
          <p:cNvSpPr>
            <a:spLocks noChangeShapeType="1"/>
          </p:cNvSpPr>
          <p:nvPr/>
        </p:nvSpPr>
        <p:spPr bwMode="auto">
          <a:xfrm>
            <a:off x="3492500" y="2566988"/>
            <a:ext cx="0" cy="395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1" name="Rectangle 33"/>
          <p:cNvSpPr>
            <a:spLocks noChangeArrowheads="1"/>
          </p:cNvSpPr>
          <p:nvPr/>
        </p:nvSpPr>
        <p:spPr bwMode="auto">
          <a:xfrm>
            <a:off x="2806700" y="2613025"/>
            <a:ext cx="64770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/>
              <a:t>miss</a:t>
            </a:r>
            <a:endParaRPr lang="en-US" b="1"/>
          </a:p>
        </p:txBody>
      </p:sp>
      <p:sp>
        <p:nvSpPr>
          <p:cNvPr id="69662" name="Line 34"/>
          <p:cNvSpPr>
            <a:spLocks noChangeShapeType="1"/>
          </p:cNvSpPr>
          <p:nvPr/>
        </p:nvSpPr>
        <p:spPr bwMode="auto">
          <a:xfrm>
            <a:off x="3670300" y="3884613"/>
            <a:ext cx="0" cy="84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3" name="Line 35"/>
          <p:cNvSpPr>
            <a:spLocks noChangeShapeType="1"/>
          </p:cNvSpPr>
          <p:nvPr/>
        </p:nvSpPr>
        <p:spPr bwMode="auto">
          <a:xfrm>
            <a:off x="3683000" y="39814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4" name="Line 36"/>
          <p:cNvSpPr>
            <a:spLocks noChangeShapeType="1"/>
          </p:cNvSpPr>
          <p:nvPr/>
        </p:nvSpPr>
        <p:spPr bwMode="auto">
          <a:xfrm flipV="1">
            <a:off x="4356100" y="1812925"/>
            <a:ext cx="0" cy="2179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5" name="Line 37"/>
          <p:cNvSpPr>
            <a:spLocks noChangeShapeType="1"/>
          </p:cNvSpPr>
          <p:nvPr/>
        </p:nvSpPr>
        <p:spPr bwMode="auto">
          <a:xfrm flipH="1">
            <a:off x="4686300" y="4100513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6" name="Rectangle 39"/>
          <p:cNvSpPr>
            <a:spLocks noChangeArrowheads="1"/>
          </p:cNvSpPr>
          <p:nvPr/>
        </p:nvSpPr>
        <p:spPr bwMode="auto">
          <a:xfrm>
            <a:off x="5245100" y="1357313"/>
            <a:ext cx="4572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>
                <a:solidFill>
                  <a:schemeClr val="bg2"/>
                </a:solidFill>
              </a:rPr>
              <a:t>¾ t</a:t>
            </a:r>
            <a:endParaRPr lang="en-US" b="1"/>
          </a:p>
        </p:txBody>
      </p:sp>
      <p:sp>
        <p:nvSpPr>
          <p:cNvPr id="69667" name="Rectangle 40"/>
          <p:cNvSpPr>
            <a:spLocks noChangeArrowheads="1"/>
          </p:cNvSpPr>
          <p:nvPr/>
        </p:nvSpPr>
        <p:spPr bwMode="auto">
          <a:xfrm>
            <a:off x="3365500" y="1370013"/>
            <a:ext cx="520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>
                <a:solidFill>
                  <a:schemeClr val="bg2"/>
                </a:solidFill>
              </a:rPr>
              <a:t>¼  t</a:t>
            </a:r>
            <a:endParaRPr lang="en-US" b="1"/>
          </a:p>
        </p:txBody>
      </p:sp>
      <p:sp>
        <p:nvSpPr>
          <p:cNvPr id="69668" name="Line 43"/>
          <p:cNvSpPr>
            <a:spLocks noChangeShapeType="1"/>
          </p:cNvSpPr>
          <p:nvPr/>
        </p:nvSpPr>
        <p:spPr bwMode="auto">
          <a:xfrm>
            <a:off x="6311900" y="2435225"/>
            <a:ext cx="0" cy="1652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9" name="Line 44"/>
          <p:cNvSpPr>
            <a:spLocks noChangeShapeType="1"/>
          </p:cNvSpPr>
          <p:nvPr/>
        </p:nvSpPr>
        <p:spPr bwMode="auto">
          <a:xfrm>
            <a:off x="4711700" y="243522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0" name="Line 32"/>
          <p:cNvSpPr>
            <a:spLocks noChangeShapeType="1"/>
          </p:cNvSpPr>
          <p:nvPr/>
        </p:nvSpPr>
        <p:spPr bwMode="auto">
          <a:xfrm>
            <a:off x="3873500" y="2576513"/>
            <a:ext cx="0" cy="395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Rectangle 41"/>
          <p:cNvSpPr/>
          <p:nvPr/>
        </p:nvSpPr>
        <p:spPr>
          <a:xfrm>
            <a:off x="673100" y="4500563"/>
            <a:ext cx="8270875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ECEAA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>
                <a:solidFill>
                  <a:srgbClr val="FF0000"/>
                </a:solidFill>
              </a:rPr>
              <a:t>Physically tagged and physically indexed caches</a:t>
            </a:r>
            <a:endParaRPr lang="en-US" sz="240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1AFBF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>
                <a:solidFill>
                  <a:srgbClr val="000000"/>
                </a:solidFill>
              </a:rPr>
              <a:t>Need to translate address before cache lookup</a:t>
            </a:r>
            <a:endParaRPr lang="en-US" sz="20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Cache Addressing</a:t>
            </a:r>
            <a:endParaRPr lang="en-US" smtClean="0"/>
          </a:p>
        </p:txBody>
      </p:sp>
      <p:sp>
        <p:nvSpPr>
          <p:cNvPr id="70659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CE3070E-F322-45D8-8E6A-7EF359E7ED6D}" type="slidenum">
              <a:rPr lang="en-AU" altLang="zh-CN"/>
            </a:fld>
            <a:endParaRPr lang="en-AU" altLang="zh-CN"/>
          </a:p>
        </p:txBody>
      </p:sp>
      <p:grpSp>
        <p:nvGrpSpPr>
          <p:cNvPr id="70660" name="Group 4"/>
          <p:cNvGrpSpPr/>
          <p:nvPr/>
        </p:nvGrpSpPr>
        <p:grpSpPr bwMode="auto">
          <a:xfrm>
            <a:off x="1981200" y="1357313"/>
            <a:ext cx="5334000" cy="2079625"/>
            <a:chOff x="1004" y="600"/>
            <a:chExt cx="3360" cy="1310"/>
          </a:xfrm>
        </p:grpSpPr>
        <p:sp>
          <p:nvSpPr>
            <p:cNvPr id="70662" name="Rectangle 5"/>
            <p:cNvSpPr>
              <a:spLocks noChangeArrowheads="1"/>
            </p:cNvSpPr>
            <p:nvPr/>
          </p:nvSpPr>
          <p:spPr bwMode="auto">
            <a:xfrm>
              <a:off x="2174" y="1731"/>
              <a:ext cx="37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data</a:t>
              </a:r>
              <a:endParaRPr lang="en-US" b="1"/>
            </a:p>
          </p:txBody>
        </p:sp>
        <p:sp>
          <p:nvSpPr>
            <p:cNvPr id="70663" name="Line 6"/>
            <p:cNvSpPr>
              <a:spLocks noChangeShapeType="1"/>
            </p:cNvSpPr>
            <p:nvPr/>
          </p:nvSpPr>
          <p:spPr bwMode="auto">
            <a:xfrm>
              <a:off x="1028" y="662"/>
              <a:ext cx="6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4" name="Line 7"/>
            <p:cNvSpPr>
              <a:spLocks noChangeShapeType="1"/>
            </p:cNvSpPr>
            <p:nvPr/>
          </p:nvSpPr>
          <p:spPr bwMode="auto">
            <a:xfrm>
              <a:off x="1670" y="666"/>
              <a:ext cx="0" cy="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5" name="Line 8"/>
            <p:cNvSpPr>
              <a:spLocks noChangeShapeType="1"/>
            </p:cNvSpPr>
            <p:nvPr/>
          </p:nvSpPr>
          <p:spPr bwMode="auto">
            <a:xfrm flipH="1">
              <a:off x="1004" y="1120"/>
              <a:ext cx="6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6" name="Rectangle 9"/>
            <p:cNvSpPr>
              <a:spLocks noChangeArrowheads="1"/>
            </p:cNvSpPr>
            <p:nvPr/>
          </p:nvSpPr>
          <p:spPr bwMode="auto">
            <a:xfrm>
              <a:off x="1062" y="826"/>
              <a:ext cx="38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CPU</a:t>
              </a:r>
              <a:endParaRPr lang="en-US" b="1"/>
            </a:p>
          </p:txBody>
        </p:sp>
        <p:sp>
          <p:nvSpPr>
            <p:cNvPr id="70667" name="Rectangle 10"/>
            <p:cNvSpPr>
              <a:spLocks noChangeArrowheads="1"/>
            </p:cNvSpPr>
            <p:nvPr/>
          </p:nvSpPr>
          <p:spPr bwMode="auto">
            <a:xfrm>
              <a:off x="2091" y="677"/>
              <a:ext cx="695" cy="4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pPr algn="ctr"/>
              <a:r>
                <a:rPr lang="en-US" b="1"/>
                <a:t>Trans-</a:t>
              </a:r>
              <a:endParaRPr lang="en-US" b="1"/>
            </a:p>
            <a:p>
              <a:pPr algn="ctr"/>
              <a:r>
                <a:rPr lang="en-US" b="1"/>
                <a:t>lation</a:t>
              </a:r>
              <a:endParaRPr lang="en-US" b="1"/>
            </a:p>
          </p:txBody>
        </p:sp>
        <p:sp>
          <p:nvSpPr>
            <p:cNvPr id="70668" name="Rectangle 11"/>
            <p:cNvSpPr>
              <a:spLocks noChangeArrowheads="1"/>
            </p:cNvSpPr>
            <p:nvPr/>
          </p:nvSpPr>
          <p:spPr bwMode="auto">
            <a:xfrm>
              <a:off x="2091" y="1166"/>
              <a:ext cx="695" cy="4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pPr algn="ctr"/>
              <a:r>
                <a:rPr lang="en-US" b="1"/>
                <a:t>Cache</a:t>
              </a:r>
              <a:endParaRPr lang="en-US" b="1"/>
            </a:p>
          </p:txBody>
        </p:sp>
        <p:sp>
          <p:nvSpPr>
            <p:cNvPr id="70669" name="Rectangle 12"/>
            <p:cNvSpPr>
              <a:spLocks noChangeArrowheads="1"/>
            </p:cNvSpPr>
            <p:nvPr/>
          </p:nvSpPr>
          <p:spPr bwMode="auto">
            <a:xfrm>
              <a:off x="3669" y="695"/>
              <a:ext cx="695" cy="4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pPr algn="ctr"/>
              <a:r>
                <a:rPr lang="en-US" b="1"/>
                <a:t>Main</a:t>
              </a:r>
              <a:endParaRPr lang="en-US" b="1"/>
            </a:p>
            <a:p>
              <a:pPr algn="ctr"/>
              <a:r>
                <a:rPr lang="en-US" b="1"/>
                <a:t>Memory</a:t>
              </a:r>
              <a:endParaRPr lang="en-US" b="1"/>
            </a:p>
          </p:txBody>
        </p:sp>
        <p:sp>
          <p:nvSpPr>
            <p:cNvPr id="70670" name="Line 13"/>
            <p:cNvSpPr>
              <a:spLocks noChangeShapeType="1"/>
            </p:cNvSpPr>
            <p:nvPr/>
          </p:nvSpPr>
          <p:spPr bwMode="auto">
            <a:xfrm>
              <a:off x="1674" y="745"/>
              <a:ext cx="4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1" name="Line 14"/>
            <p:cNvSpPr>
              <a:spLocks noChangeShapeType="1"/>
            </p:cNvSpPr>
            <p:nvPr/>
          </p:nvSpPr>
          <p:spPr bwMode="auto">
            <a:xfrm>
              <a:off x="1830" y="1233"/>
              <a:ext cx="2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2" name="Line 15"/>
            <p:cNvSpPr>
              <a:spLocks noChangeShapeType="1"/>
            </p:cNvSpPr>
            <p:nvPr/>
          </p:nvSpPr>
          <p:spPr bwMode="auto">
            <a:xfrm>
              <a:off x="2794" y="745"/>
              <a:ext cx="8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3" name="Line 16"/>
            <p:cNvSpPr>
              <a:spLocks noChangeShapeType="1"/>
            </p:cNvSpPr>
            <p:nvPr/>
          </p:nvSpPr>
          <p:spPr bwMode="auto">
            <a:xfrm flipH="1">
              <a:off x="3236" y="1096"/>
              <a:ext cx="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4" name="Line 17"/>
            <p:cNvSpPr>
              <a:spLocks noChangeShapeType="1"/>
            </p:cNvSpPr>
            <p:nvPr/>
          </p:nvSpPr>
          <p:spPr bwMode="auto">
            <a:xfrm>
              <a:off x="3223" y="1100"/>
              <a:ext cx="0" cy="6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5" name="Line 18"/>
            <p:cNvSpPr>
              <a:spLocks noChangeShapeType="1"/>
            </p:cNvSpPr>
            <p:nvPr/>
          </p:nvSpPr>
          <p:spPr bwMode="auto">
            <a:xfrm flipH="1">
              <a:off x="1380" y="1709"/>
              <a:ext cx="1847" cy="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6" name="Line 19"/>
            <p:cNvSpPr>
              <a:spLocks noChangeShapeType="1"/>
            </p:cNvSpPr>
            <p:nvPr/>
          </p:nvSpPr>
          <p:spPr bwMode="auto">
            <a:xfrm flipH="1" flipV="1">
              <a:off x="1372" y="1116"/>
              <a:ext cx="16" cy="6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7" name="Line 20"/>
            <p:cNvSpPr>
              <a:spLocks noChangeShapeType="1"/>
            </p:cNvSpPr>
            <p:nvPr/>
          </p:nvSpPr>
          <p:spPr bwMode="auto">
            <a:xfrm flipV="1">
              <a:off x="2954" y="1437"/>
              <a:ext cx="0" cy="2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8" name="Line 21"/>
            <p:cNvSpPr>
              <a:spLocks noChangeShapeType="1"/>
            </p:cNvSpPr>
            <p:nvPr/>
          </p:nvSpPr>
          <p:spPr bwMode="auto">
            <a:xfrm flipH="1">
              <a:off x="2786" y="1441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9" name="Line 22"/>
            <p:cNvSpPr>
              <a:spLocks noChangeShapeType="1"/>
            </p:cNvSpPr>
            <p:nvPr/>
          </p:nvSpPr>
          <p:spPr bwMode="auto">
            <a:xfrm flipH="1">
              <a:off x="1928" y="1429"/>
              <a:ext cx="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0" name="Line 23"/>
            <p:cNvSpPr>
              <a:spLocks noChangeShapeType="1"/>
            </p:cNvSpPr>
            <p:nvPr/>
          </p:nvSpPr>
          <p:spPr bwMode="auto">
            <a:xfrm>
              <a:off x="1932" y="143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1" name="Oval 24"/>
            <p:cNvSpPr>
              <a:spLocks noChangeArrowheads="1"/>
            </p:cNvSpPr>
            <p:nvPr/>
          </p:nvSpPr>
          <p:spPr bwMode="auto">
            <a:xfrm>
              <a:off x="2950" y="1689"/>
              <a:ext cx="24" cy="2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82" name="Rectangle 25"/>
            <p:cNvSpPr>
              <a:spLocks noChangeArrowheads="1"/>
            </p:cNvSpPr>
            <p:nvPr/>
          </p:nvSpPr>
          <p:spPr bwMode="auto">
            <a:xfrm>
              <a:off x="1692" y="612"/>
              <a:ext cx="28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VA</a:t>
              </a:r>
              <a:endParaRPr lang="en-US" b="1"/>
            </a:p>
          </p:txBody>
        </p:sp>
        <p:sp>
          <p:nvSpPr>
            <p:cNvPr id="70683" name="Rectangle 26"/>
            <p:cNvSpPr>
              <a:spLocks noChangeArrowheads="1"/>
            </p:cNvSpPr>
            <p:nvPr/>
          </p:nvSpPr>
          <p:spPr bwMode="auto">
            <a:xfrm>
              <a:off x="1667" y="1457"/>
              <a:ext cx="25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hit</a:t>
              </a:r>
              <a:endParaRPr lang="en-US" b="1"/>
            </a:p>
          </p:txBody>
        </p:sp>
        <p:sp>
          <p:nvSpPr>
            <p:cNvPr id="70684" name="Line 27"/>
            <p:cNvSpPr>
              <a:spLocks noChangeShapeType="1"/>
            </p:cNvSpPr>
            <p:nvPr/>
          </p:nvSpPr>
          <p:spPr bwMode="auto">
            <a:xfrm flipV="1">
              <a:off x="1809" y="747"/>
              <a:ext cx="0" cy="4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5" name="Rectangle 28"/>
            <p:cNvSpPr>
              <a:spLocks noChangeArrowheads="1"/>
            </p:cNvSpPr>
            <p:nvPr/>
          </p:nvSpPr>
          <p:spPr bwMode="auto">
            <a:xfrm>
              <a:off x="2910" y="600"/>
              <a:ext cx="28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PA</a:t>
              </a:r>
              <a:endParaRPr lang="en-US" b="1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684213" y="3643313"/>
            <a:ext cx="8259762" cy="2813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ECEAA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Virtually tagged and virtually indexed caches </a:t>
            </a:r>
            <a:endParaRPr lang="en-US" sz="2400" dirty="0">
              <a:solidFill>
                <a:srgbClr val="FF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1AFBF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</a:rPr>
              <a:t>TLB not in critical path and accessed only on cache miss to translate virtual address to physical main memory address</a:t>
            </a:r>
            <a:endParaRPr lang="en-US" sz="20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1AFBF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</a:rPr>
              <a:t>Complications due to aliasing</a:t>
            </a:r>
            <a:endParaRPr lang="en-US" sz="2000" dirty="0">
              <a:solidFill>
                <a:srgbClr val="000000"/>
              </a:solidFill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ECEAA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dirty="0">
                <a:solidFill>
                  <a:srgbClr val="000000"/>
                </a:solidFill>
              </a:rPr>
              <a:t>Different virtual addresses for shared physical address</a:t>
            </a:r>
            <a:endParaRPr lang="en-US" dirty="0">
              <a:solidFill>
                <a:srgbClr val="000000"/>
              </a:solidFill>
            </a:endParaRPr>
          </a:p>
          <a:p>
            <a:pPr marL="1600200" lvl="3" indent="-228600" eaLnBrk="1" hangingPunct="1">
              <a:spcBef>
                <a:spcPct val="20000"/>
              </a:spcBef>
              <a:buClr>
                <a:srgbClr val="ECEAA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dirty="0">
                <a:solidFill>
                  <a:srgbClr val="000000"/>
                </a:solidFill>
              </a:rPr>
              <a:t>stored in separate locations in cache</a:t>
            </a:r>
            <a:endParaRPr lang="en-US" dirty="0">
              <a:solidFill>
                <a:srgbClr val="000000"/>
              </a:solidFill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ECEAA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dirty="0">
                <a:solidFill>
                  <a:srgbClr val="000000"/>
                </a:solidFill>
              </a:rPr>
              <a:t>One program can write data without other program being aware that the data has changed – ambiguous! 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5"/>
          <p:cNvSpPr>
            <a:spLocks noGrp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sz="3600" smtClean="0"/>
              <a:t>Cache Addressing</a:t>
            </a:r>
            <a:endParaRPr lang="en-US" sz="3300" smtClean="0"/>
          </a:p>
        </p:txBody>
      </p:sp>
      <p:sp>
        <p:nvSpPr>
          <p:cNvPr id="42" name="Content Placeholder 41"/>
          <p:cNvSpPr>
            <a:spLocks noGrp="1"/>
          </p:cNvSpPr>
          <p:nvPr>
            <p:ph idx="1"/>
          </p:nvPr>
        </p:nvSpPr>
        <p:spPr>
          <a:xfrm>
            <a:off x="500063" y="1071563"/>
            <a:ext cx="8455025" cy="5310187"/>
          </a:xfrm>
        </p:spPr>
        <p:txBody>
          <a:bodyPr/>
          <a:lstStyle/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10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Compromise: virtually indexed</a:t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US" sz="2400" dirty="0" smtClean="0">
                <a:solidFill>
                  <a:srgbClr val="FF0000"/>
                </a:solidFill>
              </a:rPr>
              <a:t> physically tagged caches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1"/>
            <a:r>
              <a:rPr lang="en-US" sz="2000" dirty="0" smtClean="0"/>
              <a:t>Virtual page offset for cache indexing</a:t>
            </a:r>
            <a:endParaRPr lang="en-US" sz="2000" dirty="0" smtClean="0"/>
          </a:p>
          <a:p>
            <a:pPr lvl="2"/>
            <a:r>
              <a:rPr lang="en-US" sz="1800" dirty="0" smtClean="0"/>
              <a:t>Really a physical address as it is not translated</a:t>
            </a:r>
            <a:endParaRPr lang="en-US" sz="1800" dirty="0" smtClean="0"/>
          </a:p>
          <a:p>
            <a:pPr lvl="1"/>
            <a:r>
              <a:rPr lang="en-US" sz="2000" dirty="0" smtClean="0"/>
              <a:t>No aliasing in this case; better performance due to overlap of cache access with TLB access</a:t>
            </a:r>
            <a:endParaRPr lang="en-US" sz="2000" dirty="0" smtClean="0"/>
          </a:p>
        </p:txBody>
      </p:sp>
      <p:sp>
        <p:nvSpPr>
          <p:cNvPr id="71684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E5F1B8BA-1813-48FF-8385-42B8A0F57C9D}" type="slidenum">
              <a:rPr lang="en-AU" altLang="zh-CN"/>
            </a:fld>
            <a:endParaRPr lang="en-AU" altLang="zh-CN"/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7386638" y="2219325"/>
            <a:ext cx="1106487" cy="125571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2400" b="1">
              <a:solidFill>
                <a:srgbClr val="0000B6"/>
              </a:solidFill>
            </a:endParaRPr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auto">
          <a:xfrm>
            <a:off x="5948363" y="2219325"/>
            <a:ext cx="1106487" cy="125571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2400" b="1">
              <a:solidFill>
                <a:srgbClr val="0000B6"/>
              </a:solidFill>
            </a:endParaRPr>
          </a:p>
        </p:txBody>
      </p:sp>
      <p:sp>
        <p:nvSpPr>
          <p:cNvPr id="71687" name="Rectangle 6"/>
          <p:cNvSpPr>
            <a:spLocks noChangeArrowheads="1"/>
          </p:cNvSpPr>
          <p:nvPr/>
        </p:nvSpPr>
        <p:spPr bwMode="auto">
          <a:xfrm>
            <a:off x="5948363" y="3055938"/>
            <a:ext cx="1106487" cy="1206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88" name="Line 7"/>
          <p:cNvSpPr>
            <a:spLocks noChangeShapeType="1"/>
          </p:cNvSpPr>
          <p:nvPr/>
        </p:nvSpPr>
        <p:spPr bwMode="auto">
          <a:xfrm>
            <a:off x="6389688" y="2219325"/>
            <a:ext cx="0" cy="1255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9" name="Text Box 8"/>
          <p:cNvSpPr txBox="1">
            <a:spLocks noChangeArrowheads="1"/>
          </p:cNvSpPr>
          <p:nvPr/>
        </p:nvSpPr>
        <p:spPr bwMode="auto">
          <a:xfrm>
            <a:off x="5868988" y="2479675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Tag</a:t>
            </a:r>
            <a:endParaRPr lang="en-US"/>
          </a:p>
        </p:txBody>
      </p:sp>
      <p:sp>
        <p:nvSpPr>
          <p:cNvPr id="71690" name="Text Box 9"/>
          <p:cNvSpPr txBox="1">
            <a:spLocks noChangeArrowheads="1"/>
          </p:cNvSpPr>
          <p:nvPr/>
        </p:nvSpPr>
        <p:spPr bwMode="auto">
          <a:xfrm>
            <a:off x="6378575" y="247967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Data</a:t>
            </a:r>
            <a:endParaRPr lang="en-US"/>
          </a:p>
        </p:txBody>
      </p:sp>
      <p:sp>
        <p:nvSpPr>
          <p:cNvPr id="71691" name="Rectangle 10"/>
          <p:cNvSpPr>
            <a:spLocks noChangeArrowheads="1"/>
          </p:cNvSpPr>
          <p:nvPr/>
        </p:nvSpPr>
        <p:spPr bwMode="auto">
          <a:xfrm>
            <a:off x="5948363" y="3714750"/>
            <a:ext cx="1106487" cy="1793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2" name="Line 11"/>
          <p:cNvSpPr>
            <a:spLocks noChangeShapeType="1"/>
          </p:cNvSpPr>
          <p:nvPr/>
        </p:nvSpPr>
        <p:spPr bwMode="auto">
          <a:xfrm>
            <a:off x="6389688" y="3714750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3" name="Line 12"/>
          <p:cNvSpPr>
            <a:spLocks noChangeShapeType="1"/>
          </p:cNvSpPr>
          <p:nvPr/>
        </p:nvSpPr>
        <p:spPr bwMode="auto">
          <a:xfrm>
            <a:off x="6169025" y="3475038"/>
            <a:ext cx="0" cy="239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4" name="Line 13"/>
          <p:cNvSpPr>
            <a:spLocks noChangeShapeType="1"/>
          </p:cNvSpPr>
          <p:nvPr/>
        </p:nvSpPr>
        <p:spPr bwMode="auto">
          <a:xfrm>
            <a:off x="6723063" y="3475038"/>
            <a:ext cx="0" cy="239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5" name="Oval 14"/>
          <p:cNvSpPr>
            <a:spLocks noChangeArrowheads="1"/>
          </p:cNvSpPr>
          <p:nvPr/>
        </p:nvSpPr>
        <p:spPr bwMode="auto">
          <a:xfrm>
            <a:off x="5948363" y="4192588"/>
            <a:ext cx="441325" cy="17938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6" name="Text Box 15"/>
          <p:cNvSpPr txBox="1">
            <a:spLocks noChangeArrowheads="1"/>
          </p:cNvSpPr>
          <p:nvPr/>
        </p:nvSpPr>
        <p:spPr bwMode="auto">
          <a:xfrm>
            <a:off x="6015038" y="409416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=</a:t>
            </a:r>
            <a:endParaRPr lang="en-US"/>
          </a:p>
        </p:txBody>
      </p:sp>
      <p:sp>
        <p:nvSpPr>
          <p:cNvPr id="71697" name="Line 16"/>
          <p:cNvSpPr>
            <a:spLocks noChangeShapeType="1"/>
          </p:cNvSpPr>
          <p:nvPr/>
        </p:nvSpPr>
        <p:spPr bwMode="auto">
          <a:xfrm>
            <a:off x="6169025" y="3894138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8" name="Rectangle 17"/>
          <p:cNvSpPr>
            <a:spLocks noChangeArrowheads="1"/>
          </p:cNvSpPr>
          <p:nvPr/>
        </p:nvSpPr>
        <p:spPr bwMode="auto">
          <a:xfrm>
            <a:off x="7386638" y="3055938"/>
            <a:ext cx="1106487" cy="1206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9" name="Line 18"/>
          <p:cNvSpPr>
            <a:spLocks noChangeShapeType="1"/>
          </p:cNvSpPr>
          <p:nvPr/>
        </p:nvSpPr>
        <p:spPr bwMode="auto">
          <a:xfrm>
            <a:off x="7829550" y="2219325"/>
            <a:ext cx="0" cy="1255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0" name="Text Box 19"/>
          <p:cNvSpPr txBox="1">
            <a:spLocks noChangeArrowheads="1"/>
          </p:cNvSpPr>
          <p:nvPr/>
        </p:nvSpPr>
        <p:spPr bwMode="auto">
          <a:xfrm>
            <a:off x="7308850" y="2479675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Tag</a:t>
            </a:r>
            <a:endParaRPr lang="en-US"/>
          </a:p>
        </p:txBody>
      </p:sp>
      <p:sp>
        <p:nvSpPr>
          <p:cNvPr id="71701" name="Text Box 20"/>
          <p:cNvSpPr txBox="1">
            <a:spLocks noChangeArrowheads="1"/>
          </p:cNvSpPr>
          <p:nvPr/>
        </p:nvSpPr>
        <p:spPr bwMode="auto">
          <a:xfrm>
            <a:off x="7818438" y="247967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Data</a:t>
            </a:r>
            <a:endParaRPr lang="en-US"/>
          </a:p>
        </p:txBody>
      </p:sp>
      <p:sp>
        <p:nvSpPr>
          <p:cNvPr id="71702" name="Rectangle 21"/>
          <p:cNvSpPr>
            <a:spLocks noChangeArrowheads="1"/>
          </p:cNvSpPr>
          <p:nvPr/>
        </p:nvSpPr>
        <p:spPr bwMode="auto">
          <a:xfrm>
            <a:off x="7386638" y="3714750"/>
            <a:ext cx="1106487" cy="1793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03" name="Line 22"/>
          <p:cNvSpPr>
            <a:spLocks noChangeShapeType="1"/>
          </p:cNvSpPr>
          <p:nvPr/>
        </p:nvSpPr>
        <p:spPr bwMode="auto">
          <a:xfrm>
            <a:off x="7829550" y="3714750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4" name="Line 23"/>
          <p:cNvSpPr>
            <a:spLocks noChangeShapeType="1"/>
          </p:cNvSpPr>
          <p:nvPr/>
        </p:nvSpPr>
        <p:spPr bwMode="auto">
          <a:xfrm>
            <a:off x="7608888" y="3475038"/>
            <a:ext cx="0" cy="239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5" name="Line 24"/>
          <p:cNvSpPr>
            <a:spLocks noChangeShapeType="1"/>
          </p:cNvSpPr>
          <p:nvPr/>
        </p:nvSpPr>
        <p:spPr bwMode="auto">
          <a:xfrm>
            <a:off x="8161338" y="3475038"/>
            <a:ext cx="0" cy="239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6" name="Oval 25"/>
          <p:cNvSpPr>
            <a:spLocks noChangeArrowheads="1"/>
          </p:cNvSpPr>
          <p:nvPr/>
        </p:nvSpPr>
        <p:spPr bwMode="auto">
          <a:xfrm>
            <a:off x="7386638" y="4192588"/>
            <a:ext cx="442912" cy="17938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07" name="Text Box 26"/>
          <p:cNvSpPr txBox="1">
            <a:spLocks noChangeArrowheads="1"/>
          </p:cNvSpPr>
          <p:nvPr/>
        </p:nvSpPr>
        <p:spPr bwMode="auto">
          <a:xfrm>
            <a:off x="7454900" y="409416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=</a:t>
            </a:r>
            <a:endParaRPr lang="en-US"/>
          </a:p>
        </p:txBody>
      </p:sp>
      <p:sp>
        <p:nvSpPr>
          <p:cNvPr id="71708" name="Line 27"/>
          <p:cNvSpPr>
            <a:spLocks noChangeShapeType="1"/>
          </p:cNvSpPr>
          <p:nvPr/>
        </p:nvSpPr>
        <p:spPr bwMode="auto">
          <a:xfrm>
            <a:off x="7608888" y="3894138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9" name="Rectangle 28"/>
          <p:cNvSpPr>
            <a:spLocks noChangeArrowheads="1"/>
          </p:cNvSpPr>
          <p:nvPr/>
        </p:nvSpPr>
        <p:spPr bwMode="auto">
          <a:xfrm>
            <a:off x="4065588" y="3714750"/>
            <a:ext cx="554037" cy="179388"/>
          </a:xfrm>
          <a:prstGeom prst="rect">
            <a:avLst/>
          </a:prstGeom>
          <a:solidFill>
            <a:srgbClr val="FFFFFF"/>
          </a:solidFill>
          <a:ln w="12700" cap="rnd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0" name="Line 29"/>
          <p:cNvSpPr>
            <a:spLocks noChangeShapeType="1"/>
          </p:cNvSpPr>
          <p:nvPr/>
        </p:nvSpPr>
        <p:spPr bwMode="auto">
          <a:xfrm>
            <a:off x="4341813" y="4013200"/>
            <a:ext cx="3155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1" name="Line 30"/>
          <p:cNvSpPr>
            <a:spLocks noChangeShapeType="1"/>
          </p:cNvSpPr>
          <p:nvPr/>
        </p:nvSpPr>
        <p:spPr bwMode="auto">
          <a:xfrm>
            <a:off x="4341813" y="3894138"/>
            <a:ext cx="0" cy="119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2" name="Line 31"/>
          <p:cNvSpPr>
            <a:spLocks noChangeShapeType="1"/>
          </p:cNvSpPr>
          <p:nvPr/>
        </p:nvSpPr>
        <p:spPr bwMode="auto">
          <a:xfrm>
            <a:off x="6057900" y="4013200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3" name="Line 32"/>
          <p:cNvSpPr>
            <a:spLocks noChangeShapeType="1"/>
          </p:cNvSpPr>
          <p:nvPr/>
        </p:nvSpPr>
        <p:spPr bwMode="auto">
          <a:xfrm>
            <a:off x="7497763" y="4013200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4" name="Rectangle 33"/>
          <p:cNvSpPr>
            <a:spLocks noChangeArrowheads="1"/>
          </p:cNvSpPr>
          <p:nvPr/>
        </p:nvSpPr>
        <p:spPr bwMode="auto">
          <a:xfrm>
            <a:off x="5006975" y="3714750"/>
            <a:ext cx="165100" cy="179388"/>
          </a:xfrm>
          <a:prstGeom prst="rect">
            <a:avLst/>
          </a:prstGeom>
          <a:solidFill>
            <a:srgbClr val="FFFFFF"/>
          </a:solidFill>
          <a:ln w="12700" cap="rnd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5" name="Line 34"/>
          <p:cNvSpPr>
            <a:spLocks noChangeShapeType="1"/>
          </p:cNvSpPr>
          <p:nvPr/>
        </p:nvSpPr>
        <p:spPr bwMode="auto">
          <a:xfrm>
            <a:off x="4827588" y="3133725"/>
            <a:ext cx="11636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6" name="AutoShape 35"/>
          <p:cNvSpPr>
            <a:spLocks noChangeArrowheads="1"/>
          </p:cNvSpPr>
          <p:nvPr/>
        </p:nvSpPr>
        <p:spPr bwMode="auto">
          <a:xfrm rot="-5400000">
            <a:off x="6769100" y="4740275"/>
            <a:ext cx="239713" cy="220663"/>
          </a:xfrm>
          <a:prstGeom prst="flowChartOnlineStorage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7" name="Line 36"/>
          <p:cNvSpPr>
            <a:spLocks noChangeShapeType="1"/>
          </p:cNvSpPr>
          <p:nvPr/>
        </p:nvSpPr>
        <p:spPr bwMode="auto">
          <a:xfrm>
            <a:off x="6169025" y="4371975"/>
            <a:ext cx="0" cy="239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8" name="Line 37"/>
          <p:cNvSpPr>
            <a:spLocks noChangeShapeType="1"/>
          </p:cNvSpPr>
          <p:nvPr/>
        </p:nvSpPr>
        <p:spPr bwMode="auto">
          <a:xfrm>
            <a:off x="7608888" y="4371975"/>
            <a:ext cx="0" cy="239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9" name="Line 38"/>
          <p:cNvSpPr>
            <a:spLocks noChangeShapeType="1"/>
          </p:cNvSpPr>
          <p:nvPr/>
        </p:nvSpPr>
        <p:spPr bwMode="auto">
          <a:xfrm>
            <a:off x="6169025" y="4611688"/>
            <a:ext cx="663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0" name="Line 39"/>
          <p:cNvSpPr>
            <a:spLocks noChangeShapeType="1"/>
          </p:cNvSpPr>
          <p:nvPr/>
        </p:nvSpPr>
        <p:spPr bwMode="auto">
          <a:xfrm>
            <a:off x="6943725" y="4611688"/>
            <a:ext cx="665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1" name="Line 40"/>
          <p:cNvSpPr>
            <a:spLocks noChangeShapeType="1"/>
          </p:cNvSpPr>
          <p:nvPr/>
        </p:nvSpPr>
        <p:spPr bwMode="auto">
          <a:xfrm>
            <a:off x="6832600" y="461168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2" name="Line 41"/>
          <p:cNvSpPr>
            <a:spLocks noChangeShapeType="1"/>
          </p:cNvSpPr>
          <p:nvPr/>
        </p:nvSpPr>
        <p:spPr bwMode="auto">
          <a:xfrm>
            <a:off x="6943725" y="461168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3" name="Line 42"/>
          <p:cNvSpPr>
            <a:spLocks noChangeShapeType="1"/>
          </p:cNvSpPr>
          <p:nvPr/>
        </p:nvSpPr>
        <p:spPr bwMode="auto">
          <a:xfrm>
            <a:off x="6888163" y="4970463"/>
            <a:ext cx="0" cy="300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4" name="Text Box 43"/>
          <p:cNvSpPr txBox="1">
            <a:spLocks noChangeArrowheads="1"/>
          </p:cNvSpPr>
          <p:nvPr/>
        </p:nvSpPr>
        <p:spPr bwMode="auto">
          <a:xfrm>
            <a:off x="6262688" y="5230813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>
                <a:solidFill>
                  <a:schemeClr val="tx2"/>
                </a:solidFill>
              </a:rPr>
              <a:t>Cache Hit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71725" name="AutoShape 44"/>
          <p:cNvSpPr>
            <a:spLocks noChangeArrowheads="1"/>
          </p:cNvSpPr>
          <p:nvPr/>
        </p:nvSpPr>
        <p:spPr bwMode="auto">
          <a:xfrm>
            <a:off x="7829550" y="4791075"/>
            <a:ext cx="663575" cy="300038"/>
          </a:xfrm>
          <a:prstGeom prst="flowChartManualOperation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6" name="Line 45"/>
          <p:cNvSpPr>
            <a:spLocks noChangeShapeType="1"/>
          </p:cNvSpPr>
          <p:nvPr/>
        </p:nvSpPr>
        <p:spPr bwMode="auto">
          <a:xfrm>
            <a:off x="8272463" y="3894138"/>
            <a:ext cx="0" cy="89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7" name="Line 46"/>
          <p:cNvSpPr>
            <a:spLocks noChangeShapeType="1"/>
          </p:cNvSpPr>
          <p:nvPr/>
        </p:nvSpPr>
        <p:spPr bwMode="auto">
          <a:xfrm>
            <a:off x="6723063" y="4492625"/>
            <a:ext cx="127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8" name="Line 47"/>
          <p:cNvSpPr>
            <a:spLocks noChangeShapeType="1"/>
          </p:cNvSpPr>
          <p:nvPr/>
        </p:nvSpPr>
        <p:spPr bwMode="auto">
          <a:xfrm>
            <a:off x="7996238" y="4492625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9" name="Line 48"/>
          <p:cNvSpPr>
            <a:spLocks noChangeShapeType="1"/>
          </p:cNvSpPr>
          <p:nvPr/>
        </p:nvSpPr>
        <p:spPr bwMode="auto">
          <a:xfrm>
            <a:off x="6723063" y="3894138"/>
            <a:ext cx="0" cy="598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0" name="Line 49"/>
          <p:cNvSpPr>
            <a:spLocks noChangeShapeType="1"/>
          </p:cNvSpPr>
          <p:nvPr/>
        </p:nvSpPr>
        <p:spPr bwMode="auto">
          <a:xfrm>
            <a:off x="8161338" y="5091113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1" name="Text Box 50"/>
          <p:cNvSpPr txBox="1">
            <a:spLocks noChangeArrowheads="1"/>
          </p:cNvSpPr>
          <p:nvPr/>
        </p:nvSpPr>
        <p:spPr bwMode="auto">
          <a:xfrm>
            <a:off x="7399338" y="5230813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>
                <a:solidFill>
                  <a:schemeClr val="tx2"/>
                </a:solidFill>
              </a:rPr>
              <a:t>Desired word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71732" name="Line 51"/>
          <p:cNvSpPr>
            <a:spLocks noChangeShapeType="1"/>
          </p:cNvSpPr>
          <p:nvPr/>
        </p:nvSpPr>
        <p:spPr bwMode="auto">
          <a:xfrm>
            <a:off x="6999288" y="4851400"/>
            <a:ext cx="885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3" name="Line 52"/>
          <p:cNvSpPr>
            <a:spLocks noChangeShapeType="1"/>
          </p:cNvSpPr>
          <p:nvPr/>
        </p:nvSpPr>
        <p:spPr bwMode="auto">
          <a:xfrm>
            <a:off x="5116513" y="3894138"/>
            <a:ext cx="0" cy="1136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4" name="Line 53"/>
          <p:cNvSpPr>
            <a:spLocks noChangeShapeType="1"/>
          </p:cNvSpPr>
          <p:nvPr/>
        </p:nvSpPr>
        <p:spPr bwMode="auto">
          <a:xfrm>
            <a:off x="5116513" y="5030788"/>
            <a:ext cx="2824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5" name="Rectangle 54"/>
          <p:cNvSpPr>
            <a:spLocks noChangeArrowheads="1"/>
          </p:cNvSpPr>
          <p:nvPr/>
        </p:nvSpPr>
        <p:spPr bwMode="auto">
          <a:xfrm>
            <a:off x="1779588" y="1381125"/>
            <a:ext cx="2286000" cy="228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36" name="Line 55"/>
          <p:cNvSpPr>
            <a:spLocks noChangeShapeType="1"/>
          </p:cNvSpPr>
          <p:nvPr/>
        </p:nvSpPr>
        <p:spPr bwMode="auto">
          <a:xfrm>
            <a:off x="3214688" y="130492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7" name="Line 56"/>
          <p:cNvSpPr>
            <a:spLocks noChangeShapeType="1"/>
          </p:cNvSpPr>
          <p:nvPr/>
        </p:nvSpPr>
        <p:spPr bwMode="auto">
          <a:xfrm flipV="1">
            <a:off x="4827588" y="2066925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8" name="Line 57"/>
          <p:cNvSpPr>
            <a:spLocks noChangeShapeType="1"/>
          </p:cNvSpPr>
          <p:nvPr/>
        </p:nvSpPr>
        <p:spPr bwMode="auto">
          <a:xfrm>
            <a:off x="3684588" y="16097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9" name="Line 58"/>
          <p:cNvSpPr>
            <a:spLocks noChangeShapeType="1"/>
          </p:cNvSpPr>
          <p:nvPr/>
        </p:nvSpPr>
        <p:spPr bwMode="auto">
          <a:xfrm>
            <a:off x="3684588" y="2066925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0" name="Line 59"/>
          <p:cNvSpPr>
            <a:spLocks noChangeShapeType="1"/>
          </p:cNvSpPr>
          <p:nvPr/>
        </p:nvSpPr>
        <p:spPr bwMode="auto">
          <a:xfrm>
            <a:off x="3989388" y="160972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1" name="Line 60"/>
          <p:cNvSpPr>
            <a:spLocks noChangeShapeType="1"/>
          </p:cNvSpPr>
          <p:nvPr/>
        </p:nvSpPr>
        <p:spPr bwMode="auto">
          <a:xfrm>
            <a:off x="3989388" y="1914525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2" name="Line 61"/>
          <p:cNvSpPr>
            <a:spLocks noChangeShapeType="1"/>
          </p:cNvSpPr>
          <p:nvPr/>
        </p:nvSpPr>
        <p:spPr bwMode="auto">
          <a:xfrm>
            <a:off x="5056188" y="1914525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3" name="Line 62"/>
          <p:cNvSpPr>
            <a:spLocks noChangeShapeType="1"/>
          </p:cNvSpPr>
          <p:nvPr/>
        </p:nvSpPr>
        <p:spPr bwMode="auto">
          <a:xfrm>
            <a:off x="3913188" y="138112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4" name="Rectangle 63"/>
          <p:cNvSpPr>
            <a:spLocks noChangeArrowheads="1"/>
          </p:cNvSpPr>
          <p:nvPr/>
        </p:nvSpPr>
        <p:spPr bwMode="auto">
          <a:xfrm>
            <a:off x="1779588" y="2066925"/>
            <a:ext cx="144780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B6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45" name="Line 64"/>
          <p:cNvSpPr>
            <a:spLocks noChangeShapeType="1"/>
          </p:cNvSpPr>
          <p:nvPr/>
        </p:nvSpPr>
        <p:spPr bwMode="auto">
          <a:xfrm>
            <a:off x="2693988" y="2066925"/>
            <a:ext cx="0" cy="1219200"/>
          </a:xfrm>
          <a:prstGeom prst="line">
            <a:avLst/>
          </a:prstGeom>
          <a:noFill/>
          <a:ln w="12700">
            <a:solidFill>
              <a:srgbClr val="0000B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6" name="Line 65"/>
          <p:cNvSpPr>
            <a:spLocks noChangeShapeType="1"/>
          </p:cNvSpPr>
          <p:nvPr/>
        </p:nvSpPr>
        <p:spPr bwMode="auto">
          <a:xfrm>
            <a:off x="2541588" y="1609725"/>
            <a:ext cx="0" cy="228600"/>
          </a:xfrm>
          <a:prstGeom prst="line">
            <a:avLst/>
          </a:prstGeom>
          <a:noFill/>
          <a:ln w="12700">
            <a:solidFill>
              <a:srgbClr val="0000B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7" name="Line 66"/>
          <p:cNvSpPr>
            <a:spLocks noChangeShapeType="1"/>
          </p:cNvSpPr>
          <p:nvPr/>
        </p:nvSpPr>
        <p:spPr bwMode="auto">
          <a:xfrm flipH="1">
            <a:off x="2084388" y="1838325"/>
            <a:ext cx="457200" cy="0"/>
          </a:xfrm>
          <a:prstGeom prst="line">
            <a:avLst/>
          </a:prstGeom>
          <a:noFill/>
          <a:ln w="12700">
            <a:solidFill>
              <a:srgbClr val="0000B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8" name="Line 67"/>
          <p:cNvSpPr>
            <a:spLocks noChangeShapeType="1"/>
          </p:cNvSpPr>
          <p:nvPr/>
        </p:nvSpPr>
        <p:spPr bwMode="auto">
          <a:xfrm>
            <a:off x="2084388" y="1838325"/>
            <a:ext cx="0" cy="228600"/>
          </a:xfrm>
          <a:prstGeom prst="line">
            <a:avLst/>
          </a:prstGeom>
          <a:noFill/>
          <a:ln w="12700">
            <a:solidFill>
              <a:srgbClr val="0000B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9" name="Line 68"/>
          <p:cNvSpPr>
            <a:spLocks noChangeShapeType="1"/>
          </p:cNvSpPr>
          <p:nvPr/>
        </p:nvSpPr>
        <p:spPr bwMode="auto">
          <a:xfrm>
            <a:off x="2998788" y="328612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0" name="Line 69"/>
          <p:cNvSpPr>
            <a:spLocks noChangeShapeType="1"/>
          </p:cNvSpPr>
          <p:nvPr/>
        </p:nvSpPr>
        <p:spPr bwMode="auto">
          <a:xfrm>
            <a:off x="2998788" y="3514725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1" name="Line 70"/>
          <p:cNvSpPr>
            <a:spLocks noChangeShapeType="1"/>
          </p:cNvSpPr>
          <p:nvPr/>
        </p:nvSpPr>
        <p:spPr bwMode="auto">
          <a:xfrm>
            <a:off x="4370388" y="351472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2" name="Text Box 71"/>
          <p:cNvSpPr txBox="1">
            <a:spLocks noChangeArrowheads="1"/>
          </p:cNvSpPr>
          <p:nvPr/>
        </p:nvSpPr>
        <p:spPr bwMode="auto">
          <a:xfrm>
            <a:off x="1747838" y="2447925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>
                <a:solidFill>
                  <a:srgbClr val="0000B6"/>
                </a:solidFill>
              </a:rPr>
              <a:t>VA Tag</a:t>
            </a:r>
            <a:endParaRPr lang="en-US">
              <a:solidFill>
                <a:srgbClr val="0000B6"/>
              </a:solidFill>
            </a:endParaRPr>
          </a:p>
        </p:txBody>
      </p:sp>
      <p:sp>
        <p:nvSpPr>
          <p:cNvPr id="71753" name="Text Box 72"/>
          <p:cNvSpPr txBox="1">
            <a:spLocks noChangeArrowheads="1"/>
          </p:cNvSpPr>
          <p:nvPr/>
        </p:nvSpPr>
        <p:spPr bwMode="auto">
          <a:xfrm>
            <a:off x="2725738" y="2311400"/>
            <a:ext cx="577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>
                <a:solidFill>
                  <a:srgbClr val="0000B6"/>
                </a:solidFill>
              </a:rPr>
              <a:t>PA</a:t>
            </a:r>
            <a:endParaRPr lang="en-US">
              <a:solidFill>
                <a:srgbClr val="0000B6"/>
              </a:solidFill>
            </a:endParaRPr>
          </a:p>
          <a:p>
            <a:pPr algn="ctr"/>
            <a:r>
              <a:rPr lang="en-US">
                <a:solidFill>
                  <a:srgbClr val="0000B6"/>
                </a:solidFill>
              </a:rPr>
              <a:t>Tag</a:t>
            </a:r>
            <a:endParaRPr lang="en-US">
              <a:solidFill>
                <a:srgbClr val="0000B6"/>
              </a:solidFill>
            </a:endParaRPr>
          </a:p>
        </p:txBody>
      </p:sp>
      <p:sp>
        <p:nvSpPr>
          <p:cNvPr id="71754" name="Line 74"/>
          <p:cNvSpPr>
            <a:spLocks noChangeShapeType="1"/>
          </p:cNvSpPr>
          <p:nvPr/>
        </p:nvSpPr>
        <p:spPr bwMode="auto">
          <a:xfrm>
            <a:off x="2236788" y="3286125"/>
            <a:ext cx="0" cy="381000"/>
          </a:xfrm>
          <a:prstGeom prst="line">
            <a:avLst/>
          </a:prstGeom>
          <a:noFill/>
          <a:ln w="12700">
            <a:solidFill>
              <a:srgbClr val="0000B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5" name="Text Box 75"/>
          <p:cNvSpPr txBox="1">
            <a:spLocks noChangeArrowheads="1"/>
          </p:cNvSpPr>
          <p:nvPr/>
        </p:nvSpPr>
        <p:spPr bwMode="auto">
          <a:xfrm>
            <a:off x="1766888" y="3667125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>
                <a:solidFill>
                  <a:srgbClr val="0000B6"/>
                </a:solidFill>
              </a:rPr>
              <a:t>TLB Hit</a:t>
            </a:r>
            <a:endParaRPr lang="en-US">
              <a:solidFill>
                <a:srgbClr val="0000B6"/>
              </a:solidFill>
            </a:endParaRPr>
          </a:p>
        </p:txBody>
      </p:sp>
      <p:sp>
        <p:nvSpPr>
          <p:cNvPr id="71756" name="Line 76"/>
          <p:cNvSpPr>
            <a:spLocks noChangeShapeType="1"/>
          </p:cNvSpPr>
          <p:nvPr/>
        </p:nvSpPr>
        <p:spPr bwMode="auto">
          <a:xfrm>
            <a:off x="7037388" y="313372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7" name="Text Box 78"/>
          <p:cNvSpPr txBox="1">
            <a:spLocks noChangeArrowheads="1"/>
          </p:cNvSpPr>
          <p:nvPr/>
        </p:nvSpPr>
        <p:spPr bwMode="auto">
          <a:xfrm>
            <a:off x="5881688" y="1711325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2-way Associative Cache</a:t>
            </a:r>
            <a:endParaRPr lang="en-US"/>
          </a:p>
        </p:txBody>
      </p:sp>
      <p:sp>
        <p:nvSpPr>
          <p:cNvPr id="71758" name="Text Box 79"/>
          <p:cNvSpPr txBox="1">
            <a:spLocks noChangeArrowheads="1"/>
          </p:cNvSpPr>
          <p:nvPr/>
        </p:nvSpPr>
        <p:spPr bwMode="auto">
          <a:xfrm>
            <a:off x="3214688" y="2016125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 Index</a:t>
            </a:r>
            <a:endParaRPr lang="en-US"/>
          </a:p>
        </p:txBody>
      </p:sp>
      <p:sp>
        <p:nvSpPr>
          <p:cNvPr id="71759" name="Text Box 80"/>
          <p:cNvSpPr txBox="1">
            <a:spLocks noChangeArrowheads="1"/>
          </p:cNvSpPr>
          <p:nvPr/>
        </p:nvSpPr>
        <p:spPr bwMode="auto">
          <a:xfrm>
            <a:off x="3062288" y="3159125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PA Tag</a:t>
            </a:r>
            <a:endParaRPr lang="en-US"/>
          </a:p>
        </p:txBody>
      </p:sp>
      <p:sp>
        <p:nvSpPr>
          <p:cNvPr id="71760" name="Text Box 81"/>
          <p:cNvSpPr txBox="1">
            <a:spLocks noChangeArrowheads="1"/>
          </p:cNvSpPr>
          <p:nvPr/>
        </p:nvSpPr>
        <p:spPr bwMode="auto">
          <a:xfrm>
            <a:off x="3976688" y="1558925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/>
              <a:t>Block offset</a:t>
            </a:r>
            <a:endParaRPr lang="en-US"/>
          </a:p>
        </p:txBody>
      </p:sp>
      <p:sp>
        <p:nvSpPr>
          <p:cNvPr id="71761" name="Text Box 81"/>
          <p:cNvSpPr txBox="1">
            <a:spLocks noChangeArrowheads="1"/>
          </p:cNvSpPr>
          <p:nvPr/>
        </p:nvSpPr>
        <p:spPr bwMode="auto">
          <a:xfrm>
            <a:off x="3138488" y="1000125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/>
              <a:t>Page offset</a:t>
            </a:r>
            <a:endParaRPr lang="en-US"/>
          </a:p>
        </p:txBody>
      </p:sp>
      <p:sp>
        <p:nvSpPr>
          <p:cNvPr id="71762" name="Text Box 81"/>
          <p:cNvSpPr txBox="1">
            <a:spLocks noChangeArrowheads="1"/>
          </p:cNvSpPr>
          <p:nvPr/>
        </p:nvSpPr>
        <p:spPr bwMode="auto">
          <a:xfrm>
            <a:off x="1614488" y="1000125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/>
              <a:t>Virtual page #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5"/>
          <p:cNvSpPr>
            <a:spLocks noGrp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sz="3600" smtClean="0"/>
              <a:t>TLB, VM, Cache Event Combinations</a:t>
            </a:r>
            <a:endParaRPr lang="en-US" sz="3600" smtClean="0"/>
          </a:p>
        </p:txBody>
      </p:sp>
      <p:sp>
        <p:nvSpPr>
          <p:cNvPr id="72707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DF9A3C4-2C6D-46B9-86B8-FCE842192B2B}" type="slidenum">
              <a:rPr lang="en-AU" altLang="zh-CN"/>
            </a:fld>
            <a:endParaRPr lang="en-AU" altLang="zh-CN"/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704850" y="1227138"/>
          <a:ext cx="8153400" cy="5062084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990600"/>
                <a:gridCol w="5181600"/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TLB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Page Table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Possible?  Under what circumstances?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Miss/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50"/>
          <p:cNvSpPr txBox="1">
            <a:spLocks noChangeArrowheads="1"/>
          </p:cNvSpPr>
          <p:nvPr/>
        </p:nvSpPr>
        <p:spPr bwMode="auto">
          <a:xfrm>
            <a:off x="3676650" y="1912938"/>
            <a:ext cx="2511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Yes – what we want!</a:t>
            </a:r>
            <a:endParaRPr lang="en-US" sz="2000"/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3676650" y="2344738"/>
            <a:ext cx="4302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Yes – although the page table is not </a:t>
            </a:r>
            <a:endParaRPr lang="en-US" sz="2000"/>
          </a:p>
          <a:p>
            <a:r>
              <a:rPr lang="en-US" sz="2000"/>
              <a:t>checked if the TLB hits</a:t>
            </a:r>
            <a:endParaRPr lang="en-US" sz="2000"/>
          </a:p>
        </p:txBody>
      </p:sp>
      <p:sp>
        <p:nvSpPr>
          <p:cNvPr id="10" name="Text Box 52"/>
          <p:cNvSpPr txBox="1">
            <a:spLocks noChangeArrowheads="1"/>
          </p:cNvSpPr>
          <p:nvPr/>
        </p:nvSpPr>
        <p:spPr bwMode="auto">
          <a:xfrm>
            <a:off x="3676650" y="3106738"/>
            <a:ext cx="396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Yes – TLB miss, PA in page table</a:t>
            </a:r>
            <a:endParaRPr lang="en-US" sz="2000"/>
          </a:p>
        </p:txBody>
      </p:sp>
      <p:sp>
        <p:nvSpPr>
          <p:cNvPr id="11" name="Text Box 53"/>
          <p:cNvSpPr txBox="1">
            <a:spLocks noChangeArrowheads="1"/>
          </p:cNvSpPr>
          <p:nvPr/>
        </p:nvSpPr>
        <p:spPr bwMode="auto">
          <a:xfrm>
            <a:off x="3676650" y="3563938"/>
            <a:ext cx="50212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Yes – TLB miss, PA in page table, but data</a:t>
            </a:r>
            <a:endParaRPr lang="en-US" sz="2000"/>
          </a:p>
          <a:p>
            <a:r>
              <a:rPr lang="en-US" sz="2000"/>
              <a:t>not in cache</a:t>
            </a:r>
            <a:endParaRPr lang="en-US" sz="2000"/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3676650" y="4325938"/>
            <a:ext cx="2017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Yes – page fault</a:t>
            </a:r>
            <a:endParaRPr lang="en-US" sz="2000"/>
          </a:p>
        </p:txBody>
      </p:sp>
      <p:sp>
        <p:nvSpPr>
          <p:cNvPr id="13" name="Text Box 55"/>
          <p:cNvSpPr txBox="1">
            <a:spLocks noChangeArrowheads="1"/>
          </p:cNvSpPr>
          <p:nvPr/>
        </p:nvSpPr>
        <p:spPr bwMode="auto">
          <a:xfrm>
            <a:off x="3676650" y="4706938"/>
            <a:ext cx="501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Impossible – TLB translation not possible if</a:t>
            </a:r>
            <a:endParaRPr lang="en-US" sz="2000"/>
          </a:p>
          <a:p>
            <a:r>
              <a:rPr lang="en-US" sz="2000"/>
              <a:t>page is not present in memory</a:t>
            </a:r>
            <a:endParaRPr lang="en-US" sz="2000"/>
          </a:p>
        </p:txBody>
      </p:sp>
      <p:sp>
        <p:nvSpPr>
          <p:cNvPr id="14" name="Text Box 56"/>
          <p:cNvSpPr txBox="1">
            <a:spLocks noChangeArrowheads="1"/>
          </p:cNvSpPr>
          <p:nvPr/>
        </p:nvSpPr>
        <p:spPr bwMode="auto">
          <a:xfrm>
            <a:off x="3676650" y="5494338"/>
            <a:ext cx="4811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Impossible – data not allowed in cache if </a:t>
            </a:r>
            <a:endParaRPr lang="en-US" sz="2000"/>
          </a:p>
          <a:p>
            <a:r>
              <a:rPr lang="en-US" sz="2000"/>
              <a:t>page is not in memory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C9E397C-623D-4A00-8947-4597FBF7E216}" type="slidenum">
              <a:rPr lang="en-AU" altLang="zh-CN"/>
            </a:fld>
            <a:endParaRPr lang="en-AU" altLang="zh-CN"/>
          </a:p>
        </p:txBody>
      </p:sp>
      <p:sp>
        <p:nvSpPr>
          <p:cNvPr id="7373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Memory Protection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373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Different tasks can share parts of their virtual address spaces</a:t>
            </a:r>
            <a:endParaRPr lang="en-US" sz="2800" dirty="0" smtClean="0"/>
          </a:p>
          <a:p>
            <a:pPr lvl="1" eaLnBrk="1" hangingPunct="1"/>
            <a:r>
              <a:rPr lang="en-US" sz="2400" dirty="0" smtClean="0"/>
              <a:t>But need to protect against errant access</a:t>
            </a:r>
            <a:endParaRPr lang="en-US" sz="2400" dirty="0" smtClean="0"/>
          </a:p>
          <a:p>
            <a:pPr lvl="1" eaLnBrk="1" hangingPunct="1"/>
            <a:r>
              <a:rPr lang="en-US" sz="2400" dirty="0" smtClean="0"/>
              <a:t>Requires OS assistance</a:t>
            </a:r>
            <a:endParaRPr lang="en-US" sz="2400" dirty="0" smtClean="0"/>
          </a:p>
          <a:p>
            <a:pPr eaLnBrk="1" hangingPunct="1"/>
            <a:r>
              <a:rPr lang="en-US" sz="2800" dirty="0" smtClean="0"/>
              <a:t>Hardware support for OS protection</a:t>
            </a:r>
            <a:endParaRPr lang="en-US" sz="2800" dirty="0" smtClean="0"/>
          </a:p>
          <a:p>
            <a:pPr lvl="1" eaLnBrk="1" hangingPunct="1"/>
            <a:r>
              <a:rPr lang="en-US" sz="2400" dirty="0" smtClean="0"/>
              <a:t>Supervisor mode (aka kernel mode)</a:t>
            </a:r>
            <a:endParaRPr lang="en-US" sz="2400" dirty="0" smtClean="0"/>
          </a:p>
          <a:p>
            <a:pPr lvl="2" eaLnBrk="1" hangingPunct="1"/>
            <a:r>
              <a:rPr lang="en-US" sz="2000" dirty="0" smtClean="0"/>
              <a:t>Runs privileged instructions not available in user mode</a:t>
            </a:r>
            <a:endParaRPr lang="en-US" sz="2000" dirty="0" smtClean="0"/>
          </a:p>
          <a:p>
            <a:pPr lvl="1" eaLnBrk="1" hangingPunct="1"/>
            <a:r>
              <a:rPr lang="en-US" sz="2400" dirty="0" smtClean="0"/>
              <a:t>Page tables, TLBs and other state information only writeable in supervisor mode (read-only in user mode)</a:t>
            </a:r>
            <a:endParaRPr lang="en-US" sz="2400" dirty="0" smtClean="0"/>
          </a:p>
          <a:p>
            <a:pPr lvl="1" eaLnBrk="1" hangingPunct="1"/>
            <a:r>
              <a:rPr lang="en-US" sz="2400" dirty="0" smtClean="0"/>
              <a:t>System call exception (e.g., </a:t>
            </a:r>
            <a:r>
              <a:rPr lang="en-US" sz="2400" dirty="0" err="1" smtClean="0">
                <a:solidFill>
                  <a:srgbClr val="FF0000"/>
                </a:solidFill>
              </a:rPr>
              <a:t>syscall</a:t>
            </a:r>
            <a:r>
              <a:rPr lang="en-US" sz="2400" dirty="0" smtClean="0"/>
              <a:t> in MIPS) to go from user mode to supervisor mode</a:t>
            </a:r>
            <a:endParaRPr lang="en-AU" altLang="zh-CN" sz="2400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TLB Miss Handling in MIPS</a:t>
            </a:r>
            <a:endParaRPr lang="en-US" smtClean="0"/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684213" y="1000125"/>
            <a:ext cx="8270875" cy="5111750"/>
          </a:xfrm>
        </p:spPr>
        <p:txBody>
          <a:bodyPr/>
          <a:lstStyle/>
          <a:p>
            <a:r>
              <a:rPr lang="en-US" sz="2400" smtClean="0"/>
              <a:t>Consider a TLB miss for a page that is present in memory (i.e., the Valid bit in page table is set)</a:t>
            </a:r>
            <a:endParaRPr lang="en-US" sz="2400" smtClean="0"/>
          </a:p>
          <a:p>
            <a:pPr lvl="1"/>
            <a:r>
              <a:rPr lang="en-US" sz="1800" smtClean="0"/>
              <a:t>MIPS handles TLB misses in software</a:t>
            </a:r>
            <a:endParaRPr lang="en-US" sz="1800" smtClean="0"/>
          </a:p>
          <a:p>
            <a:pPr lvl="1"/>
            <a:r>
              <a:rPr lang="en-US" sz="1800" smtClean="0"/>
              <a:t>A TLB miss (or a page fault exception) must be asserted by the end of the same clock cycle that the memory access occurs so that the next clock cycle will begin exception processing</a:t>
            </a:r>
            <a:endParaRPr lang="en-US" sz="1800" smtClean="0"/>
          </a:p>
          <a:p>
            <a:endParaRPr lang="en-US" smtClean="0"/>
          </a:p>
        </p:txBody>
      </p:sp>
      <p:sp>
        <p:nvSpPr>
          <p:cNvPr id="7475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106DAEA-47DB-4F4C-9A06-649CE29E0329}" type="slidenum">
              <a:rPr lang="en-AU" altLang="zh-CN"/>
            </a:fld>
            <a:endParaRPr lang="en-AU" altLang="zh-C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71563" y="3214688"/>
          <a:ext cx="7239000" cy="3159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1357745"/>
                <a:gridCol w="4509655"/>
              </a:tblGrid>
              <a:tr h="365740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Register</a:t>
                      </a:r>
                      <a:endParaRPr lang="en-US" sz="1800" b="1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CP0</a:t>
                      </a:r>
                      <a:r>
                        <a:rPr lang="en-US" sz="1800" b="1" baseline="0" dirty="0" smtClean="0"/>
                        <a:t> </a:t>
                      </a:r>
                      <a:r>
                        <a:rPr lang="en-US" sz="1800" b="1" baseline="0" dirty="0" err="1" smtClean="0"/>
                        <a:t>Reg</a:t>
                      </a:r>
                      <a:r>
                        <a:rPr lang="en-US" sz="1800" b="1" baseline="0" dirty="0" smtClean="0"/>
                        <a:t> #</a:t>
                      </a:r>
                      <a:endParaRPr lang="en-US" sz="1800" b="1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Description</a:t>
                      </a:r>
                      <a:endParaRPr lang="en-US" sz="1800" b="1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EPC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14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Where to restart after exception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Cause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Cause of exception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BadVAddr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Address</a:t>
                      </a:r>
                      <a:r>
                        <a:rPr lang="en-US" sz="1600" baseline="0" dirty="0" smtClean="0"/>
                        <a:t> that caused exception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Location in TLB to be read/written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Pseudorandom location in TLB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EntryLo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Physical page address and flags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EntryHi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Virtual page address</a:t>
                      </a:r>
                      <a:endParaRPr lang="en-US" sz="1600" dirty="0"/>
                    </a:p>
                  </a:txBody>
                  <a:tcPr marT="45710" marB="45710"/>
                </a:tc>
              </a:tr>
              <a:tr h="34917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Context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 marT="45710" marB="45710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Page table address &amp; page number</a:t>
                      </a:r>
                      <a:endParaRPr lang="en-US" sz="1600" dirty="0"/>
                    </a:p>
                  </a:txBody>
                  <a:tcPr marT="45710" marB="4571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r>
              <a:rPr lang="en-US" sz="4000" smtClean="0"/>
              <a:t>MIPS Software TLB Miss Handler</a:t>
            </a:r>
            <a:endParaRPr lang="en-US" sz="40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125538"/>
            <a:ext cx="8715375" cy="5111750"/>
          </a:xfrm>
        </p:spPr>
        <p:txBody>
          <a:bodyPr/>
          <a:lstStyle/>
          <a:p>
            <a:r>
              <a:rPr lang="en-US" sz="2200" smtClean="0"/>
              <a:t>When a TLB miss occurs, the hardware saves the address that caused the miss in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BadVAddr</a:t>
            </a:r>
            <a:r>
              <a:rPr lang="en-US" sz="2200" smtClean="0"/>
              <a:t> and transfers control to 8000 0000</a:t>
            </a:r>
            <a:r>
              <a:rPr lang="en-US" sz="2200" baseline="-25000" smtClean="0"/>
              <a:t>hex</a:t>
            </a:r>
            <a:r>
              <a:rPr lang="en-US" sz="2200" smtClean="0"/>
              <a:t>, the location of the TLB miss handler</a:t>
            </a:r>
            <a:endParaRPr lang="en-US" sz="2200" smtClean="0"/>
          </a:p>
          <a:p>
            <a:endParaRPr lang="en-US" sz="2200" smtClean="0"/>
          </a:p>
          <a:p>
            <a:endParaRPr lang="en-US" sz="2200" smtClean="0"/>
          </a:p>
          <a:p>
            <a:endParaRPr lang="en-US" sz="2200" smtClean="0"/>
          </a:p>
          <a:p>
            <a:endParaRPr lang="en-US" sz="2200" smtClean="0"/>
          </a:p>
          <a:p>
            <a:endParaRPr lang="en-US" sz="2200" smtClean="0"/>
          </a:p>
          <a:p>
            <a:endParaRPr lang="en-US" sz="2200" smtClean="0"/>
          </a:p>
          <a:p>
            <a:endParaRPr lang="en-US" sz="1600" smtClean="0"/>
          </a:p>
          <a:p>
            <a:r>
              <a:rPr lang="en-US" sz="2200" smtClean="0">
                <a:cs typeface="Courier New" panose="02070309020205020404" pitchFamily="49" charset="0"/>
              </a:rPr>
              <a:t>MIPS hardware places address of missing page in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endParaRPr lang="en-US" sz="2200" smtClean="0">
              <a:cs typeface="Courier New" panose="02070309020205020404" pitchFamily="49" charset="0"/>
            </a:endParaRPr>
          </a:p>
          <a:p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tlbwr</a:t>
            </a:r>
            <a:r>
              <a:rPr lang="en-US" sz="2200" smtClean="0"/>
              <a:t> copies from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EntryLo</a:t>
            </a:r>
            <a:r>
              <a:rPr lang="en-US" sz="2200" smtClean="0"/>
              <a:t> into the TLB entry selected by the control register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endParaRPr lang="en-US" sz="22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smtClean="0"/>
              <a:t>A TLB miss takes about a dozen clock cycles to handle</a:t>
            </a:r>
            <a:endParaRPr lang="en-US" sz="2200" smtClean="0"/>
          </a:p>
          <a:p>
            <a:endParaRPr lang="en-US" sz="2200" smtClean="0"/>
          </a:p>
          <a:p>
            <a:endParaRPr lang="en-US" smtClean="0"/>
          </a:p>
        </p:txBody>
      </p:sp>
      <p:sp>
        <p:nvSpPr>
          <p:cNvPr id="7578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6EB2EB4-68CB-4579-8EF6-84768C78F8FA}" type="slidenum">
              <a:rPr lang="en-AU" altLang="zh-CN"/>
            </a:fld>
            <a:endParaRPr lang="en-AU" altLang="zh-CN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695325" y="2386013"/>
            <a:ext cx="8305800" cy="232886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3500" tIns="25400" rIns="63500" bIns="25400">
            <a:spAutoFit/>
          </a:bodyPr>
          <a:lstStyle/>
          <a:p>
            <a:pPr marL="287655" indent="-287655">
              <a:lnSpc>
                <a:spcPct val="90000"/>
              </a:lnSpc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TLBmiss</a:t>
            </a:r>
            <a:r>
              <a:rPr lang="en-US" sz="20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0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mfc0  $k1, Context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#copy </a:t>
            </a: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of PTE into $k1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$k1, 0($k1)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#put PTE into $k1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mtc0  $k1, </a:t>
            </a:r>
            <a:r>
              <a:rPr lang="en-US" sz="2000" kern="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EntryLo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#put PTE into </a:t>
            </a: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EntryLo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tlbwr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	#put </a:t>
            </a: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EntryLo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into TLB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			#	at Random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" indent="-287655">
              <a:spcBef>
                <a:spcPts val="200"/>
              </a:spcBef>
              <a:buClr>
                <a:schemeClr val="accent1"/>
              </a:buClr>
              <a:buSzPct val="75000"/>
              <a:defRPr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eret</a:t>
            </a:r>
            <a:r>
              <a:rPr lang="en-US" sz="20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	#return from exception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1137C35E-D8E1-4677-9D28-A9BB5F5E211F}" type="slidenum">
              <a:rPr lang="en-AU" altLang="zh-CN"/>
            </a:fld>
            <a:endParaRPr lang="en-AU" altLang="zh-CN"/>
          </a:p>
        </p:txBody>
      </p:sp>
      <p:sp>
        <p:nvSpPr>
          <p:cNvPr id="768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Memory Hierarchy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963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en-US" smtClean="0"/>
              <a:t>Common principles apply at all levels of the memory hierarchy</a:t>
            </a:r>
            <a:endParaRPr lang="en-US" smtClean="0"/>
          </a:p>
          <a:p>
            <a:pPr lvl="1" eaLnBrk="1" hangingPunct="1"/>
            <a:r>
              <a:rPr lang="en-US" smtClean="0"/>
              <a:t>Based on notions of caching</a:t>
            </a:r>
            <a:endParaRPr lang="en-US" smtClean="0"/>
          </a:p>
          <a:p>
            <a:pPr eaLnBrk="1" hangingPunct="1"/>
            <a:r>
              <a:rPr lang="en-US" smtClean="0"/>
              <a:t>At each level in the hierarchy</a:t>
            </a:r>
            <a:endParaRPr lang="en-US" smtClean="0"/>
          </a:p>
          <a:p>
            <a:pPr lvl="1" eaLnBrk="1" hangingPunct="1"/>
            <a:r>
              <a:rPr lang="en-US" smtClean="0"/>
              <a:t>Block placement</a:t>
            </a:r>
            <a:endParaRPr lang="en-US" smtClean="0"/>
          </a:p>
          <a:p>
            <a:pPr lvl="1" eaLnBrk="1" hangingPunct="1"/>
            <a:r>
              <a:rPr lang="en-US" smtClean="0"/>
              <a:t>Finding a block</a:t>
            </a:r>
            <a:endParaRPr lang="en-US" smtClean="0"/>
          </a:p>
          <a:p>
            <a:pPr lvl="1" eaLnBrk="1" hangingPunct="1"/>
            <a:r>
              <a:rPr lang="en-US" smtClean="0"/>
              <a:t>Replacement on a miss</a:t>
            </a:r>
            <a:endParaRPr lang="en-US" smtClean="0"/>
          </a:p>
          <a:p>
            <a:pPr lvl="1" eaLnBrk="1" hangingPunct="1"/>
            <a:r>
              <a:rPr lang="en-US" smtClean="0"/>
              <a:t>Write policy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6805" name="Text Box 4"/>
          <p:cNvSpPr txBox="1">
            <a:spLocks noChangeArrowheads="1"/>
          </p:cNvSpPr>
          <p:nvPr/>
        </p:nvSpPr>
        <p:spPr bwMode="auto">
          <a:xfrm rot="5400000">
            <a:off x="6220619" y="2556669"/>
            <a:ext cx="548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§5.5 A Common Framework for Memory Hierarchies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76806" name="Text Box 7"/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/>
              <a:t>Characteristics of Memory Hierarchy</a:t>
            </a:r>
            <a:endParaRPr lang="en-US" sz="3600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4213" y="3571875"/>
            <a:ext cx="8270875" cy="2665413"/>
          </a:xfrm>
        </p:spPr>
        <p:txBody>
          <a:bodyPr/>
          <a:lstStyle/>
          <a:p>
            <a:r>
              <a:rPr lang="en-US" sz="2800" smtClean="0">
                <a:solidFill>
                  <a:srgbClr val="FF0000"/>
                </a:solidFill>
              </a:rPr>
              <a:t>Four Questions for Memory Hierarchy</a:t>
            </a:r>
            <a:endParaRPr lang="en-US" sz="2800" smtClean="0">
              <a:solidFill>
                <a:srgbClr val="FF0000"/>
              </a:solidFill>
            </a:endParaRPr>
          </a:p>
          <a:p>
            <a:pPr lvl="1"/>
            <a:r>
              <a:rPr lang="en-US" sz="2400" smtClean="0"/>
              <a:t>Q1: Where can a block be placed in the upper level? </a:t>
            </a:r>
            <a:endParaRPr lang="en-US" sz="2400" smtClean="0"/>
          </a:p>
          <a:p>
            <a:pPr lvl="1"/>
            <a:r>
              <a:rPr lang="en-US" sz="2400" smtClean="0"/>
              <a:t>Q2: How is a block found if it is in the upper level?</a:t>
            </a:r>
            <a:endParaRPr lang="en-US" sz="2400" smtClean="0"/>
          </a:p>
          <a:p>
            <a:pPr lvl="1"/>
            <a:r>
              <a:rPr lang="en-US" sz="2400" smtClean="0"/>
              <a:t>Q3: Which block should be replaced on a miss? </a:t>
            </a:r>
            <a:endParaRPr lang="en-US" sz="2400" smtClean="0"/>
          </a:p>
          <a:p>
            <a:pPr lvl="1"/>
            <a:r>
              <a:rPr lang="en-US" sz="2400" smtClean="0"/>
              <a:t>Q4: What happens on a write? </a:t>
            </a:r>
            <a:endParaRPr lang="en-US" sz="2400" i="1" smtClean="0">
              <a:solidFill>
                <a:schemeClr val="hlink"/>
              </a:solidFill>
            </a:endParaRP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32D824C-133F-49D6-B318-B122BCE7CCF9}" type="slidenum">
              <a:rPr lang="en-AU" altLang="zh-CN"/>
            </a:fld>
            <a:endParaRPr lang="en-AU" altLang="zh-CN"/>
          </a:p>
        </p:txBody>
      </p:sp>
      <p:pic>
        <p:nvPicPr>
          <p:cNvPr id="77829" name="Picture 4" descr="f05-29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285875"/>
            <a:ext cx="80311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7D0A9DE-32F4-4E5E-91AC-77AB2CC27680}" type="slidenum">
              <a:rPr lang="en-AU" altLang="zh-CN"/>
            </a:fld>
            <a:endParaRPr lang="en-AU" altLang="zh-CN"/>
          </a:p>
        </p:txBody>
      </p:sp>
      <p:sp>
        <p:nvSpPr>
          <p:cNvPr id="788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Q1. Block Placement?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885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0063" y="1125538"/>
            <a:ext cx="8455025" cy="5111750"/>
          </a:xfrm>
        </p:spPr>
        <p:txBody>
          <a:bodyPr/>
          <a:lstStyle/>
          <a:p>
            <a:pPr eaLnBrk="1" hangingPunct="1"/>
            <a:r>
              <a:rPr lang="en-US" smtClean="0"/>
              <a:t>Determined by associativity</a:t>
            </a:r>
            <a:endParaRPr lang="en-US" smtClean="0"/>
          </a:p>
          <a:p>
            <a:pPr lvl="1" eaLnBrk="1" hangingPunct="1"/>
            <a:r>
              <a:rPr lang="en-US" sz="2400" smtClean="0"/>
              <a:t>Direct mapped </a:t>
            </a:r>
            <a:br>
              <a:rPr lang="en-US" sz="2400" smtClean="0"/>
            </a:br>
            <a:r>
              <a:rPr lang="en-US" sz="2400" smtClean="0"/>
              <a:t>(1-way associative)</a:t>
            </a:r>
            <a:endParaRPr lang="en-US" sz="2400" smtClean="0"/>
          </a:p>
          <a:p>
            <a:pPr lvl="2" eaLnBrk="1" hangingPunct="1"/>
            <a:r>
              <a:rPr lang="en-US" sz="2000" smtClean="0"/>
              <a:t>One choice for placement</a:t>
            </a:r>
            <a:endParaRPr lang="en-US" sz="2000" smtClean="0"/>
          </a:p>
          <a:p>
            <a:pPr lvl="1" eaLnBrk="1" hangingPunct="1"/>
            <a:r>
              <a:rPr lang="en-US" sz="2400" smtClean="0"/>
              <a:t>n-way set associative</a:t>
            </a:r>
            <a:endParaRPr lang="en-US" sz="2400" smtClean="0"/>
          </a:p>
          <a:p>
            <a:pPr lvl="2" eaLnBrk="1" hangingPunct="1"/>
            <a:r>
              <a:rPr lang="en-US" sz="2000" smtClean="0"/>
              <a:t>n choices within a set</a:t>
            </a:r>
            <a:endParaRPr lang="en-US" sz="2000" smtClean="0"/>
          </a:p>
          <a:p>
            <a:pPr lvl="1" eaLnBrk="1" hangingPunct="1"/>
            <a:r>
              <a:rPr lang="en-US" sz="2400" smtClean="0"/>
              <a:t>Fully associative</a:t>
            </a:r>
            <a:endParaRPr lang="en-US" sz="2400" smtClean="0"/>
          </a:p>
          <a:p>
            <a:pPr lvl="2" eaLnBrk="1" hangingPunct="1"/>
            <a:r>
              <a:rPr lang="en-US" sz="2000" smtClean="0"/>
              <a:t>Any location</a:t>
            </a:r>
            <a:endParaRPr lang="en-US" sz="2000" smtClean="0"/>
          </a:p>
          <a:p>
            <a:pPr lvl="4" eaLnBrk="1" hangingPunct="1"/>
            <a:endParaRPr lang="en-US" sz="800" smtClean="0"/>
          </a:p>
          <a:p>
            <a:pPr eaLnBrk="1" hangingPunct="1"/>
            <a:r>
              <a:rPr lang="en-US" smtClean="0"/>
              <a:t>Higher associativity reduces miss rate</a:t>
            </a:r>
            <a:endParaRPr lang="en-US" smtClean="0"/>
          </a:p>
          <a:p>
            <a:pPr lvl="1" eaLnBrk="1" hangingPunct="1"/>
            <a:r>
              <a:rPr lang="en-US" smtClean="0"/>
              <a:t>Increases complexity, cost, and access time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5" name="Picture 4" descr="f05-30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675" y="1714500"/>
            <a:ext cx="4306888" cy="297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492345A6-DF6E-407C-BD39-61DFF983A31C}" type="slidenum">
              <a:rPr lang="en-AU" altLang="zh-CN"/>
            </a:fld>
            <a:endParaRPr lang="en-AU" altLang="zh-CN"/>
          </a:p>
        </p:txBody>
      </p:sp>
      <p:sp>
        <p:nvSpPr>
          <p:cNvPr id="79875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Q2. Finding a Block?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9876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684213" y="3571875"/>
            <a:ext cx="8270875" cy="26654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Hardware caches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Reduce comparisons to reduce cost</a:t>
            </a: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Usually </a:t>
            </a:r>
            <a:r>
              <a:rPr lang="en-US" sz="2000" smtClean="0">
                <a:solidFill>
                  <a:srgbClr val="FF0000"/>
                </a:solidFill>
              </a:rPr>
              <a:t>set associative </a:t>
            </a:r>
            <a:r>
              <a:rPr lang="en-US" sz="2000" smtClean="0"/>
              <a:t>or (less commonly) </a:t>
            </a:r>
            <a:r>
              <a:rPr lang="en-US" sz="2000" smtClean="0">
                <a:solidFill>
                  <a:srgbClr val="FF0000"/>
                </a:solidFill>
              </a:rPr>
              <a:t>direct mapped</a:t>
            </a:r>
            <a:endParaRPr lang="en-US" sz="20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Virtual memory systems (with page tables)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Almost always </a:t>
            </a:r>
            <a:r>
              <a:rPr lang="en-US" sz="2000" smtClean="0">
                <a:solidFill>
                  <a:srgbClr val="FF0000"/>
                </a:solidFill>
              </a:rPr>
              <a:t>fully associative</a:t>
            </a:r>
            <a:r>
              <a:rPr lang="en-US" sz="2000" smtClean="0"/>
              <a:t>, as misses are very expensive</a:t>
            </a: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Software can use sophisticated replacement schemes to further reduce miss rate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  <p:graphicFrame>
        <p:nvGraphicFramePr>
          <p:cNvPr id="355332" name="Group 4"/>
          <p:cNvGraphicFramePr>
            <a:graphicFrameLocks noGrp="1"/>
          </p:cNvGraphicFramePr>
          <p:nvPr/>
        </p:nvGraphicFramePr>
        <p:xfrm>
          <a:off x="793750" y="1357313"/>
          <a:ext cx="8064500" cy="1891515"/>
        </p:xfrm>
        <a:graphic>
          <a:graphicData uri="http://schemas.openxmlformats.org/drawingml/2006/table">
            <a:tbl>
              <a:tblPr/>
              <a:tblGrid>
                <a:gridCol w="2689225"/>
                <a:gridCol w="3040063"/>
                <a:gridCol w="2335212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Associativity</a:t>
                      </a:r>
                      <a:endParaRPr kumimoji="0" lang="en-AU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 method</a:t>
                      </a:r>
                      <a:endParaRPr kumimoji="0" lang="en-AU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 comparisons</a:t>
                      </a:r>
                      <a:endParaRPr kumimoji="0" lang="en-AU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Direct mapped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n-way set associative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Set index, then search entries within the set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Fully associative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Search all entries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#entries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D1FB5AC-9D4F-449B-92F7-0EFDE22943CE}" type="slidenum">
              <a:rPr lang="en-AU" altLang="zh-CN"/>
            </a:fld>
            <a:endParaRPr lang="en-AU" altLang="zh-CN"/>
          </a:p>
        </p:txBody>
      </p:sp>
      <p:sp>
        <p:nvSpPr>
          <p:cNvPr id="808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Q3.	 Replacement on Miss?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09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Choice of entry to replace on a miss</a:t>
            </a:r>
            <a:endParaRPr lang="en-US" smtClean="0"/>
          </a:p>
          <a:p>
            <a:pPr lvl="1" eaLnBrk="1" hangingPunct="1"/>
            <a:r>
              <a:rPr lang="en-US" smtClean="0"/>
              <a:t>Least recently used (LRU)</a:t>
            </a:r>
            <a:endParaRPr lang="en-US" smtClean="0"/>
          </a:p>
          <a:p>
            <a:pPr lvl="2" eaLnBrk="1" hangingPunct="1"/>
            <a:r>
              <a:rPr lang="en-US" smtClean="0"/>
              <a:t>Complex and costly hardware for high associativity</a:t>
            </a:r>
            <a:endParaRPr lang="en-US" smtClean="0"/>
          </a:p>
          <a:p>
            <a:pPr lvl="1" eaLnBrk="1" hangingPunct="1"/>
            <a:r>
              <a:rPr lang="en-US" smtClean="0"/>
              <a:t>Random</a:t>
            </a:r>
            <a:endParaRPr lang="en-US" smtClean="0"/>
          </a:p>
          <a:p>
            <a:pPr lvl="2" eaLnBrk="1" hangingPunct="1"/>
            <a:r>
              <a:rPr lang="en-US" smtClean="0"/>
              <a:t>Close to LRU, easier to implement</a:t>
            </a:r>
            <a:endParaRPr lang="en-US" smtClean="0"/>
          </a:p>
          <a:p>
            <a:pPr eaLnBrk="1" hangingPunct="1"/>
            <a:r>
              <a:rPr lang="en-US" smtClean="0"/>
              <a:t>Virtual memory</a:t>
            </a:r>
            <a:endParaRPr lang="en-US" smtClean="0"/>
          </a:p>
          <a:p>
            <a:pPr lvl="1" eaLnBrk="1" hangingPunct="1"/>
            <a:r>
              <a:rPr lang="en-US" smtClean="0"/>
              <a:t>LRU approximation with hardware support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28872DEE-4355-4DA1-97EA-6987A9B340B8}" type="slidenum">
              <a:rPr lang="en-AU" altLang="zh-CN"/>
            </a:fld>
            <a:endParaRPr lang="en-AU" altLang="zh-CN"/>
          </a:p>
        </p:txBody>
      </p:sp>
      <p:sp>
        <p:nvSpPr>
          <p:cNvPr id="819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Q4. Write Policy?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19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Write-through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Update both upper and lower levels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Simplifies replacement, but may require write buffer</a:t>
            </a: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rgbClr val="FF0000"/>
                </a:solidFill>
              </a:rPr>
              <a:t>Write-back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Update upper level only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Update lower level when block is replaced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Need to keep more state</a:t>
            </a:r>
            <a:endParaRPr lang="en-US" smtClean="0"/>
          </a:p>
          <a:p>
            <a:pPr lvl="4" eaLnBrk="1" hangingPunct="1">
              <a:lnSpc>
                <a:spcPct val="80000"/>
              </a:lnSpc>
            </a:pP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Virtual memory</a:t>
            </a: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Only write-back is feasible, given disk write latency 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Sources of Cache Misses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1125538"/>
            <a:ext cx="8643937" cy="5111750"/>
          </a:xfrm>
        </p:spPr>
        <p:txBody>
          <a:bodyPr/>
          <a:lstStyle/>
          <a:p>
            <a:r>
              <a:rPr lang="en-US" sz="2200" smtClean="0">
                <a:solidFill>
                  <a:srgbClr val="FF0000"/>
                </a:solidFill>
              </a:rPr>
              <a:t>Compulsory</a:t>
            </a:r>
            <a:r>
              <a:rPr lang="en-US" sz="2200" smtClean="0"/>
              <a:t> (cold start or process migration, first reference):</a:t>
            </a:r>
            <a:endParaRPr lang="en-US" sz="2200" smtClean="0"/>
          </a:p>
          <a:p>
            <a:pPr lvl="1"/>
            <a:r>
              <a:rPr lang="en-US" sz="2000" smtClean="0"/>
              <a:t>First access to a block, “cold” fact of life, not a whole lot you can do about it.  If you are going to run “millions” of instruction, compulsory misses are insignificant</a:t>
            </a:r>
            <a:endParaRPr lang="en-US" sz="2000" smtClean="0"/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Solution: </a:t>
            </a:r>
            <a:r>
              <a:rPr lang="en-US" sz="2000" smtClean="0"/>
              <a:t>increase block size (increases miss penalty; very large blocks could increase miss rate)</a:t>
            </a:r>
            <a:endParaRPr lang="en-US" sz="2000" smtClean="0"/>
          </a:p>
          <a:p>
            <a:r>
              <a:rPr lang="en-US" sz="2200" smtClean="0">
                <a:solidFill>
                  <a:srgbClr val="FF0000"/>
                </a:solidFill>
              </a:rPr>
              <a:t>Capacity</a:t>
            </a:r>
            <a:r>
              <a:rPr lang="en-US" sz="2200" smtClean="0"/>
              <a:t>:</a:t>
            </a:r>
            <a:endParaRPr lang="en-US" sz="2200" smtClean="0"/>
          </a:p>
          <a:p>
            <a:pPr lvl="1"/>
            <a:r>
              <a:rPr lang="en-US" sz="2000" smtClean="0"/>
              <a:t>Cache cannot contain all blocks accessed by the program</a:t>
            </a:r>
            <a:endParaRPr lang="en-US" sz="2000" smtClean="0"/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Solution: </a:t>
            </a:r>
            <a:r>
              <a:rPr lang="en-US" sz="2000" smtClean="0"/>
              <a:t>increase cache size (may increase access time)</a:t>
            </a:r>
            <a:endParaRPr lang="en-US" sz="2000" smtClean="0"/>
          </a:p>
          <a:p>
            <a:r>
              <a:rPr lang="en-US" sz="2200" smtClean="0">
                <a:solidFill>
                  <a:srgbClr val="FF0000"/>
                </a:solidFill>
              </a:rPr>
              <a:t>Conflict</a:t>
            </a:r>
            <a:r>
              <a:rPr lang="en-US" sz="2200" smtClean="0">
                <a:solidFill>
                  <a:schemeClr val="accent1"/>
                </a:solidFill>
              </a:rPr>
              <a:t> </a:t>
            </a:r>
            <a:r>
              <a:rPr lang="en-US" sz="2200" smtClean="0"/>
              <a:t>(collision):</a:t>
            </a:r>
            <a:endParaRPr lang="en-US" sz="2200" smtClean="0"/>
          </a:p>
          <a:p>
            <a:pPr lvl="1"/>
            <a:r>
              <a:rPr lang="en-US" sz="2000" smtClean="0"/>
              <a:t>Multiple memory locations mapped to the same cache location</a:t>
            </a:r>
            <a:endParaRPr lang="en-US" sz="2000" smtClean="0"/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Solution 1</a:t>
            </a:r>
            <a:r>
              <a:rPr lang="en-US" sz="2000" smtClean="0"/>
              <a:t>: increase cache size (may increase access time)</a:t>
            </a:r>
            <a:endParaRPr lang="en-US" sz="2000" smtClean="0"/>
          </a:p>
          <a:p>
            <a:pPr lvl="1"/>
            <a:r>
              <a:rPr lang="en-US" sz="2000" smtClean="0">
                <a:solidFill>
                  <a:schemeClr val="tx2"/>
                </a:solidFill>
              </a:rPr>
              <a:t>Solution 2</a:t>
            </a:r>
            <a:r>
              <a:rPr lang="en-US" sz="2000" smtClean="0"/>
              <a:t>: increase associativity (may increase access time)</a:t>
            </a:r>
            <a:endParaRPr lang="en-US" sz="2000" smtClean="0"/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1992BFC-7F9B-435E-9829-92AEC696AC8A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Sources of Cache Misses</a:t>
            </a:r>
            <a:endParaRPr lang="en-US" smtClean="0"/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pPr>
              <a:buFont typeface="Wingdings" panose="05000000000000000000" pitchFamily="2" charset="2"/>
              <a:buNone/>
            </a:pPr>
            <a:endParaRPr lang="en-US" smtClean="0"/>
          </a:p>
          <a:p>
            <a:pPr>
              <a:buFont typeface="Wingdings" panose="05000000000000000000" pitchFamily="2" charset="2"/>
              <a:buNone/>
            </a:pPr>
            <a:endParaRPr lang="en-US" sz="1000" smtClean="0"/>
          </a:p>
          <a:p>
            <a:r>
              <a:rPr lang="en-US" sz="2000" smtClean="0"/>
              <a:t>Compulsory misses 0.006% (not shown in graph)</a:t>
            </a:r>
            <a:endParaRPr lang="en-US" sz="2000" smtClean="0"/>
          </a:p>
          <a:p>
            <a:r>
              <a:rPr lang="en-US" sz="2000" smtClean="0"/>
              <a:t>Capacity misses depend on cache size</a:t>
            </a:r>
            <a:endParaRPr lang="en-US" sz="2000" smtClean="0"/>
          </a:p>
          <a:p>
            <a:r>
              <a:rPr lang="en-US" sz="2000" smtClean="0"/>
              <a:t>Conflict misses shown change with associativity </a:t>
            </a:r>
            <a:endParaRPr lang="en-US" sz="2000" smtClean="0"/>
          </a:p>
        </p:txBody>
      </p:sp>
      <p:sp>
        <p:nvSpPr>
          <p:cNvPr id="8397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B36BCCC-833C-4914-A6F9-24243A1AFD0F}" type="slidenum">
              <a:rPr lang="en-AU" altLang="zh-CN"/>
            </a:fld>
            <a:endParaRPr lang="en-AU" altLang="zh-CN"/>
          </a:p>
        </p:txBody>
      </p:sp>
      <p:pic>
        <p:nvPicPr>
          <p:cNvPr id="83973" name="Picture 4" descr="f05-3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125538"/>
            <a:ext cx="52863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TextBox 5"/>
          <p:cNvSpPr txBox="1">
            <a:spLocks noChangeArrowheads="1"/>
          </p:cNvSpPr>
          <p:nvPr/>
        </p:nvSpPr>
        <p:spPr bwMode="auto">
          <a:xfrm>
            <a:off x="6786563" y="1282700"/>
            <a:ext cx="1423987" cy="6461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/>
              <a:t>SPEC2000</a:t>
            </a:r>
            <a:endParaRPr lang="en-US"/>
          </a:p>
          <a:p>
            <a:pPr algn="ctr"/>
            <a:r>
              <a:rPr lang="en-US"/>
              <a:t> INT and FP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1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1F29BF5B-4531-4305-AD0F-996B1E53C540}" type="slidenum">
              <a:rPr lang="en-AU" altLang="zh-CN"/>
            </a:fld>
            <a:endParaRPr lang="en-AU" altLang="zh-CN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34963"/>
            <a:ext cx="8459787" cy="646112"/>
          </a:xfrm>
        </p:spPr>
        <p:txBody>
          <a:bodyPr/>
          <a:lstStyle/>
          <a:p>
            <a:pPr eaLnBrk="1" hangingPunct="1"/>
            <a:r>
              <a:rPr lang="en-US" sz="3600" smtClean="0"/>
              <a:t>Cache Design Trade-offs: Summary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graphicFrame>
        <p:nvGraphicFramePr>
          <p:cNvPr id="363523" name="Group 3"/>
          <p:cNvGraphicFramePr>
            <a:graphicFrameLocks noGrp="1"/>
          </p:cNvGraphicFramePr>
          <p:nvPr/>
        </p:nvGraphicFramePr>
        <p:xfrm>
          <a:off x="684213" y="1541463"/>
          <a:ext cx="8135937" cy="3832226"/>
        </p:xfrm>
        <a:graphic>
          <a:graphicData uri="http://schemas.openxmlformats.org/drawingml/2006/table">
            <a:tbl>
              <a:tblPr/>
              <a:tblGrid>
                <a:gridCol w="2711450"/>
                <a:gridCol w="2713037"/>
                <a:gridCol w="2711450"/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Design change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Effect on miss rate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Negative performance effect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cache size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capacity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May increase access time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associativity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conflict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May increase access time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block size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compulsory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Increases miss penalty. For very large block size, may increase miss rate due to pollution.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FA4FC3F-A73F-4872-AFC7-FBF9D4F7EE21}" type="slidenum">
              <a:rPr lang="en-AU" altLang="zh-CN"/>
            </a:fld>
            <a:endParaRPr lang="en-AU" altLang="zh-CN"/>
          </a:p>
        </p:txBody>
      </p:sp>
      <p:sp>
        <p:nvSpPr>
          <p:cNvPr id="1085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Concluding Remarks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854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Fast memories are small, large memories are slow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We really want fast, large memories </a:t>
            </a:r>
            <a:r>
              <a:rPr lang="en-US" sz="2400" smtClean="0">
                <a:sym typeface="Wingdings" panose="05000000000000000000" pitchFamily="2" charset="2"/>
              </a:rPr>
              <a:t></a:t>
            </a:r>
            <a:endParaRPr lang="en-US" sz="2400" smtClean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009900"/>
                </a:solidFill>
                <a:sym typeface="Wingdings" panose="05000000000000000000" pitchFamily="2" charset="2"/>
              </a:rPr>
              <a:t>Caching</a:t>
            </a:r>
            <a:r>
              <a:rPr lang="en-US" sz="2400" smtClean="0">
                <a:sym typeface="Wingdings" panose="05000000000000000000" pitchFamily="2" charset="2"/>
              </a:rPr>
              <a:t> gives this illusion </a:t>
            </a:r>
            <a:endParaRPr lang="en-US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FF0000"/>
                </a:solidFill>
              </a:rPr>
              <a:t>Principle of locality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Programs use a small part of their memory space frequently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chemeClr val="tx2"/>
                </a:solidFill>
              </a:rPr>
              <a:t>Memory hierarchy</a:t>
            </a:r>
            <a:endParaRPr lang="en-US" sz="280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L1 cache </a:t>
            </a:r>
            <a:r>
              <a:rPr lang="en-US" sz="2400" smtClean="0">
                <a:sym typeface="Symbol" panose="05050102010706020507" pitchFamily="18" charset="2"/>
              </a:rPr>
              <a:t> L2 cache  …  DRAM memory</a:t>
            </a:r>
            <a:br>
              <a:rPr lang="en-US" sz="2400" smtClean="0">
                <a:sym typeface="Symbol" panose="05050102010706020507" pitchFamily="18" charset="2"/>
              </a:rPr>
            </a:br>
            <a:r>
              <a:rPr lang="en-US" sz="2400" smtClean="0">
                <a:sym typeface="Symbol" panose="05050102010706020507" pitchFamily="18" charset="2"/>
              </a:rPr>
              <a:t> disk</a:t>
            </a:r>
            <a:endParaRPr lang="en-US" sz="24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ym typeface="Symbol" panose="05050102010706020507" pitchFamily="18" charset="2"/>
              </a:rPr>
              <a:t>Memory system design is critical for </a:t>
            </a:r>
            <a:r>
              <a:rPr lang="en-US" sz="2800" smtClean="0">
                <a:solidFill>
                  <a:srgbClr val="7030A0"/>
                </a:solidFill>
                <a:sym typeface="Symbol" panose="05050102010706020507" pitchFamily="18" charset="2"/>
              </a:rPr>
              <a:t>multiprocessors</a:t>
            </a:r>
            <a:endParaRPr lang="en-US" sz="2800" smtClean="0">
              <a:solidFill>
                <a:srgbClr val="7030A0"/>
              </a:solidFill>
              <a:sym typeface="Symbol" panose="05050102010706020507" pitchFamily="18" charset="2"/>
            </a:endParaRPr>
          </a:p>
        </p:txBody>
      </p:sp>
      <p:sp>
        <p:nvSpPr>
          <p:cNvPr id="108549" name="Text Box 4"/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§5.12 Concluding Remarks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Assignment 5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Homework assignment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5.3, 5. 4,5.6,5.12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To be submitted in the next week class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/>
              <a:t>Chapter 1 — Computer Abstractions and Technology — </a:t>
            </a:r>
            <a:fld id="{D05FECF5-5C76-4D82-B1FD-39A9F6C42E60}" type="slidenum">
              <a:rPr lang="en-AU"/>
            </a:fld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0E88F49-8A69-468C-A0E1-2943CA318FA0}" type="slidenum">
              <a:rPr lang="en-AU" altLang="zh-CN"/>
            </a:fld>
            <a:endParaRPr lang="en-AU" altLang="zh-CN"/>
          </a:p>
        </p:txBody>
      </p:sp>
      <p:sp>
        <p:nvSpPr>
          <p:cNvPr id="8601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Virtual Machines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499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4213" y="1028700"/>
            <a:ext cx="8270875" cy="5329238"/>
          </a:xfrm>
        </p:spPr>
        <p:txBody>
          <a:bodyPr/>
          <a:lstStyle/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Host computer emulates guest operating system and machine resources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Improved isolation of multiple guests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Avoids security and reliability problems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Aids sharing of resources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Virtualization has some performance impact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Feasible with modern high-performance computers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Examples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IBM VM/370 (1970s technology!)</a:t>
            </a:r>
            <a:endParaRPr lang="en-AU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Sun VirtualBox</a:t>
            </a:r>
            <a:endParaRPr lang="en-AU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VMWare</a:t>
            </a:r>
            <a:endParaRPr lang="en-AU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Microsoft Virtual PC</a:t>
            </a:r>
            <a:endParaRPr lang="en-AU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AU" altLang="zh-CN" sz="2400" smtClean="0">
              <a:ea typeface="宋体" panose="02010600030101010101" pitchFamily="2" charset="-122"/>
            </a:endParaRPr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 rot="5400000">
            <a:off x="7770019" y="1007269"/>
            <a:ext cx="2381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§5.6 Virtual Machines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4CB6B62-2185-4514-A384-CE2367B93B3F}" type="slidenum">
              <a:rPr lang="en-AU" altLang="zh-CN"/>
            </a:fld>
            <a:endParaRPr lang="en-AU" altLang="zh-CN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46050"/>
            <a:ext cx="8443912" cy="782638"/>
          </a:xfrm>
        </p:spPr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Virtual Machine Monitor (VMM)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VMM (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Hypervisor</a:t>
            </a:r>
            <a:r>
              <a:rPr lang="en-AU" altLang="zh-CN" smtClean="0">
                <a:ea typeface="宋体" panose="02010600030101010101" pitchFamily="2" charset="-122"/>
              </a:rPr>
              <a:t>) software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Maps virtual resources to physical resources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Memory, I/O devices, CPUs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Guest code runs on native machine in user mode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Traps to VMM on privileged instructions and access to protected resources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Guest OS may be different from host OS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VMM handles real I/O devices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Emulates generic virtual I/O devices for guest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B4D0A2E-6D2C-45A1-B272-7E012CE78335}" type="slidenum">
              <a:rPr lang="en-AU" altLang="zh-CN"/>
            </a:fld>
            <a:endParaRPr lang="en-AU" altLang="zh-CN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Example: Timer Virtualization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 native machine, on timer interrupt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OS suspends current process, handles interrupt, selects and resumes next process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With Virtual Machine Monitor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VMM suspends current VM, handles interrupt, selects and resumes next VM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If a VM requires timer interrupts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VMM emulates a virtual timer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Emulates interrupt for VM when physical timer interrupt occurs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Requirements of VMM</a:t>
            </a:r>
            <a:endParaRPr lang="en-US" smtClean="0"/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zh-CN" smtClean="0">
                <a:ea typeface="宋体" panose="02010600030101010101" pitchFamily="2" charset="-122"/>
              </a:rPr>
              <a:t>VMM at higher privilege level than VMs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User and System modes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Privileged instructions only available in system mode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Trap to system if executed in user mode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All physical resources only accessible using privileged instructions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Including page tables, interrupt controls, I/O registers</a:t>
            </a:r>
            <a:endParaRPr lang="en-AU" altLang="zh-CN" smtClean="0">
              <a:ea typeface="宋体" panose="02010600030101010101" pitchFamily="2" charset="-122"/>
            </a:endParaRPr>
          </a:p>
          <a:p>
            <a:endParaRPr lang="en-AU" altLang="zh-CN" smtClean="0">
              <a:ea typeface="宋体" panose="02010600030101010101" pitchFamily="2" charset="-122"/>
            </a:endParaRPr>
          </a:p>
          <a:p>
            <a:endParaRPr lang="en-US" smtClean="0"/>
          </a:p>
        </p:txBody>
      </p:sp>
      <p:sp>
        <p:nvSpPr>
          <p:cNvPr id="8909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EF7AAFD1-5EE4-4E48-8D76-B0E78625447A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E548DF43-2DCC-4961-8032-223CA82629B3}" type="slidenum">
              <a:rPr lang="en-AU" altLang="zh-CN"/>
            </a:fld>
            <a:endParaRPr lang="en-AU" altLang="zh-CN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Instruction Set Support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If VMs are planned for during the design of ISA, easy to reduce instruction count and improve emulation speed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000" smtClean="0">
                <a:ea typeface="宋体" panose="02010600030101010101" pitchFamily="2" charset="-122"/>
              </a:rPr>
              <a:t>e.g. </a:t>
            </a:r>
            <a:r>
              <a:rPr lang="en-AU" altLang="zh-CN" sz="2000" i="1" smtClean="0">
                <a:ea typeface="宋体" panose="02010600030101010101" pitchFamily="2" charset="-122"/>
              </a:rPr>
              <a:t>virtualizable</a:t>
            </a:r>
            <a:r>
              <a:rPr lang="en-AU" altLang="zh-CN" sz="2000" smtClean="0">
                <a:ea typeface="宋体" panose="02010600030101010101" pitchFamily="2" charset="-122"/>
              </a:rPr>
              <a:t> architecture that runs VM directly on hardware, such as </a:t>
            </a:r>
            <a:r>
              <a:rPr lang="en-AU" altLang="zh-CN" sz="2000" smtClean="0">
                <a:solidFill>
                  <a:srgbClr val="FF0000"/>
                </a:solidFill>
                <a:ea typeface="宋体" panose="02010600030101010101" pitchFamily="2" charset="-122"/>
              </a:rPr>
              <a:t>IBM 370</a:t>
            </a:r>
            <a:endParaRPr lang="en-AU" altLang="zh-CN" sz="20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</a:pPr>
            <a:endParaRPr lang="en-AU" altLang="zh-CN" sz="12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Unfortunately, VMs have been considered for desktop and PC based systems only fairly recently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endParaRPr lang="en-AU" altLang="zh-CN" sz="16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Most ISAs were created without virtualization in mind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000" smtClean="0">
                <a:ea typeface="宋体" panose="02010600030101010101" pitchFamily="2" charset="-122"/>
              </a:rPr>
              <a:t>e.g. </a:t>
            </a:r>
            <a:r>
              <a:rPr lang="en-AU" altLang="zh-CN" sz="2000" smtClean="0">
                <a:solidFill>
                  <a:srgbClr val="FF0000"/>
                </a:solidFill>
                <a:ea typeface="宋体" panose="02010600030101010101" pitchFamily="2" charset="-122"/>
              </a:rPr>
              <a:t>x86, most RISC architectures (ARM, MIPS)</a:t>
            </a:r>
            <a:endParaRPr lang="en-AU" altLang="zh-CN" sz="20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</a:pPr>
            <a:endParaRPr lang="en-AU" altLang="zh-CN" sz="12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Renaissance of virtualization support lately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200" smtClean="0">
                <a:ea typeface="宋体" panose="02010600030101010101" pitchFamily="2" charset="-122"/>
              </a:rPr>
              <a:t>Current ISAs (e.g., </a:t>
            </a:r>
            <a:r>
              <a:rPr lang="en-AU" altLang="zh-CN" sz="2200" smtClean="0">
                <a:solidFill>
                  <a:srgbClr val="FF0000"/>
                </a:solidFill>
                <a:ea typeface="宋体" panose="02010600030101010101" pitchFamily="2" charset="-122"/>
              </a:rPr>
              <a:t>x86</a:t>
            </a:r>
            <a:r>
              <a:rPr lang="en-AU" altLang="zh-CN" sz="2200" smtClean="0">
                <a:ea typeface="宋体" panose="02010600030101010101" pitchFamily="2" charset="-122"/>
              </a:rPr>
              <a:t>) adapting to reduce virtualization cost (as seen from new proposals by Intel, AMD)</a:t>
            </a:r>
            <a:endParaRPr lang="en-AU" altLang="zh-CN" sz="2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218F3E1D-AF87-4F51-9E05-AB04E6DA9260}" type="slidenum">
              <a:rPr lang="en-AU" altLang="zh-CN"/>
            </a:fld>
            <a:endParaRPr lang="en-AU" altLang="zh-CN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Cache Control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3743325"/>
          </a:xfrm>
        </p:spPr>
        <p:txBody>
          <a:bodyPr/>
          <a:lstStyle/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Example cache characteristics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Direct-mapped, write-back, write allocate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Block size: 4 words (16 bytes)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Cache size: 16 KB (1024 blocks)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32-bit byte addresses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Valid bit and dirty bit per block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Blocking cache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z="2000" smtClean="0">
                <a:ea typeface="宋体" panose="02010600030101010101" pitchFamily="2" charset="-122"/>
              </a:rPr>
              <a:t>CPU waits until access is complete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  <p:sp>
        <p:nvSpPr>
          <p:cNvPr id="91141" name="Text Box 4"/>
          <p:cNvSpPr txBox="1">
            <a:spLocks noChangeArrowheads="1"/>
          </p:cNvSpPr>
          <p:nvPr/>
        </p:nvSpPr>
        <p:spPr bwMode="auto">
          <a:xfrm rot="5400000">
            <a:off x="5776119" y="3001169"/>
            <a:ext cx="6369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§5.7 </a:t>
            </a:r>
            <a:r>
              <a:rPr lang="en-AU" altLang="zh-CN">
                <a:solidFill>
                  <a:schemeClr val="folHlink"/>
                </a:solidFill>
                <a:ea typeface="宋体" panose="02010600030101010101" pitchFamily="2" charset="-122"/>
              </a:rPr>
              <a:t>Using a Finite State Machine to Control A Simple Cache</a:t>
            </a:r>
            <a:endParaRPr lang="en-US">
              <a:solidFill>
                <a:schemeClr val="folHlink"/>
              </a:solidFill>
            </a:endParaRPr>
          </a:p>
        </p:txBody>
      </p:sp>
      <p:grpSp>
        <p:nvGrpSpPr>
          <p:cNvPr id="91142" name="Group 18"/>
          <p:cNvGrpSpPr/>
          <p:nvPr/>
        </p:nvGrpSpPr>
        <p:grpSpPr bwMode="auto">
          <a:xfrm>
            <a:off x="1619250" y="4941888"/>
            <a:ext cx="5226050" cy="1104900"/>
            <a:chOff x="1020" y="3113"/>
            <a:chExt cx="3292" cy="696"/>
          </a:xfrm>
        </p:grpSpPr>
        <p:sp>
          <p:nvSpPr>
            <p:cNvPr id="91143" name="Rectangle 6"/>
            <p:cNvSpPr>
              <a:spLocks noChangeArrowheads="1"/>
            </p:cNvSpPr>
            <p:nvPr/>
          </p:nvSpPr>
          <p:spPr bwMode="auto">
            <a:xfrm>
              <a:off x="1039" y="3334"/>
              <a:ext cx="1569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Tag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91144" name="Rectangle 7"/>
            <p:cNvSpPr>
              <a:spLocks noChangeArrowheads="1"/>
            </p:cNvSpPr>
            <p:nvPr/>
          </p:nvSpPr>
          <p:spPr bwMode="auto">
            <a:xfrm>
              <a:off x="2608" y="3334"/>
              <a:ext cx="1017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Index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91145" name="Rectangle 8"/>
            <p:cNvSpPr>
              <a:spLocks noChangeArrowheads="1"/>
            </p:cNvSpPr>
            <p:nvPr/>
          </p:nvSpPr>
          <p:spPr bwMode="auto">
            <a:xfrm>
              <a:off x="3625" y="3334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/>
                <a:t>Offset</a:t>
              </a:r>
              <a:endParaRPr lang="en-AU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91146" name="Text Box 9"/>
            <p:cNvSpPr txBox="1">
              <a:spLocks noChangeArrowheads="1"/>
            </p:cNvSpPr>
            <p:nvPr/>
          </p:nvSpPr>
          <p:spPr bwMode="auto">
            <a:xfrm>
              <a:off x="4116" y="311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0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47" name="Text Box 10"/>
            <p:cNvSpPr txBox="1">
              <a:spLocks noChangeArrowheads="1"/>
            </p:cNvSpPr>
            <p:nvPr/>
          </p:nvSpPr>
          <p:spPr bwMode="auto">
            <a:xfrm>
              <a:off x="3617" y="311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3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48" name="Text Box 11"/>
            <p:cNvSpPr txBox="1">
              <a:spLocks noChangeArrowheads="1"/>
            </p:cNvSpPr>
            <p:nvPr/>
          </p:nvSpPr>
          <p:spPr bwMode="auto">
            <a:xfrm>
              <a:off x="3394" y="311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4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49" name="Text Box 12"/>
            <p:cNvSpPr txBox="1">
              <a:spLocks noChangeArrowheads="1"/>
            </p:cNvSpPr>
            <p:nvPr/>
          </p:nvSpPr>
          <p:spPr bwMode="auto">
            <a:xfrm>
              <a:off x="2604" y="311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9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50" name="Text Box 13"/>
            <p:cNvSpPr txBox="1">
              <a:spLocks noChangeArrowheads="1"/>
            </p:cNvSpPr>
            <p:nvPr/>
          </p:nvSpPr>
          <p:spPr bwMode="auto">
            <a:xfrm>
              <a:off x="2381" y="3113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10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51" name="Text Box 14"/>
            <p:cNvSpPr txBox="1">
              <a:spLocks noChangeArrowheads="1"/>
            </p:cNvSpPr>
            <p:nvPr/>
          </p:nvSpPr>
          <p:spPr bwMode="auto">
            <a:xfrm>
              <a:off x="1020" y="3113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31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52" name="Text Box 15"/>
            <p:cNvSpPr txBox="1">
              <a:spLocks noChangeArrowheads="1"/>
            </p:cNvSpPr>
            <p:nvPr/>
          </p:nvSpPr>
          <p:spPr bwMode="auto">
            <a:xfrm>
              <a:off x="3711" y="3578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4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53" name="Text Box 16"/>
            <p:cNvSpPr txBox="1">
              <a:spLocks noChangeArrowheads="1"/>
            </p:cNvSpPr>
            <p:nvPr/>
          </p:nvSpPr>
          <p:spPr bwMode="auto">
            <a:xfrm>
              <a:off x="283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10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  <p:sp>
          <p:nvSpPr>
            <p:cNvPr id="91154" name="Text Box 17"/>
            <p:cNvSpPr txBox="1">
              <a:spLocks noChangeArrowheads="1"/>
            </p:cNvSpPr>
            <p:nvPr/>
          </p:nvSpPr>
          <p:spPr bwMode="auto">
            <a:xfrm>
              <a:off x="156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/>
                <a:t>18 bits</a:t>
              </a:r>
              <a:endParaRPr lang="en-AU" altLang="zh-CN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00E6B630-8ECA-4324-BD25-CFB29FE7ED6F}" type="slidenum">
              <a:rPr lang="en-AU" altLang="zh-CN"/>
            </a:fld>
            <a:endParaRPr lang="en-AU" altLang="zh-CN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Interface Signals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421163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Cache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828675" y="1987550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CPU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759618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Memory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>
            <a:off x="197961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197961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9" name="Text Box 9"/>
          <p:cNvSpPr txBox="1">
            <a:spLocks noChangeArrowheads="1"/>
          </p:cNvSpPr>
          <p:nvPr/>
        </p:nvSpPr>
        <p:spPr bwMode="auto">
          <a:xfrm>
            <a:off x="219551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Read/Write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0" name="Text Box 10"/>
          <p:cNvSpPr txBox="1">
            <a:spLocks noChangeArrowheads="1"/>
          </p:cNvSpPr>
          <p:nvPr/>
        </p:nvSpPr>
        <p:spPr bwMode="auto">
          <a:xfrm>
            <a:off x="219551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Valid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>
            <a:off x="197961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219551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Address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197961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219551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Write Data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197961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219551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 Data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197961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219551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Ready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79" name="Line 19"/>
          <p:cNvSpPr>
            <a:spLocks noChangeShapeType="1"/>
          </p:cNvSpPr>
          <p:nvPr/>
        </p:nvSpPr>
        <p:spPr bwMode="auto">
          <a:xfrm flipV="1">
            <a:off x="375602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0" name="Line 20"/>
          <p:cNvSpPr>
            <a:spLocks noChangeShapeType="1"/>
          </p:cNvSpPr>
          <p:nvPr/>
        </p:nvSpPr>
        <p:spPr bwMode="auto">
          <a:xfrm flipV="1">
            <a:off x="375602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1" name="Line 21"/>
          <p:cNvSpPr>
            <a:spLocks noChangeShapeType="1"/>
          </p:cNvSpPr>
          <p:nvPr/>
        </p:nvSpPr>
        <p:spPr bwMode="auto">
          <a:xfrm flipV="1">
            <a:off x="375602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363696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32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3636963" y="32115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32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3636963" y="36449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32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185" name="Line 25"/>
          <p:cNvSpPr>
            <a:spLocks noChangeShapeType="1"/>
          </p:cNvSpPr>
          <p:nvPr/>
        </p:nvSpPr>
        <p:spPr bwMode="auto">
          <a:xfrm>
            <a:off x="536416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6" name="Line 26"/>
          <p:cNvSpPr>
            <a:spLocks noChangeShapeType="1"/>
          </p:cNvSpPr>
          <p:nvPr/>
        </p:nvSpPr>
        <p:spPr bwMode="auto">
          <a:xfrm>
            <a:off x="536416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7" name="Text Box 27"/>
          <p:cNvSpPr txBox="1">
            <a:spLocks noChangeArrowheads="1"/>
          </p:cNvSpPr>
          <p:nvPr/>
        </p:nvSpPr>
        <p:spPr bwMode="auto">
          <a:xfrm>
            <a:off x="558006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Read/Write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88" name="Text Box 28"/>
          <p:cNvSpPr txBox="1">
            <a:spLocks noChangeArrowheads="1"/>
          </p:cNvSpPr>
          <p:nvPr/>
        </p:nvSpPr>
        <p:spPr bwMode="auto">
          <a:xfrm>
            <a:off x="558006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Valid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89" name="Line 29"/>
          <p:cNvSpPr>
            <a:spLocks noChangeShapeType="1"/>
          </p:cNvSpPr>
          <p:nvPr/>
        </p:nvSpPr>
        <p:spPr bwMode="auto">
          <a:xfrm>
            <a:off x="536416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0" name="Text Box 30"/>
          <p:cNvSpPr txBox="1">
            <a:spLocks noChangeArrowheads="1"/>
          </p:cNvSpPr>
          <p:nvPr/>
        </p:nvSpPr>
        <p:spPr bwMode="auto">
          <a:xfrm>
            <a:off x="558006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Address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91" name="Line 31"/>
          <p:cNvSpPr>
            <a:spLocks noChangeShapeType="1"/>
          </p:cNvSpPr>
          <p:nvPr/>
        </p:nvSpPr>
        <p:spPr bwMode="auto">
          <a:xfrm>
            <a:off x="536416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2" name="Text Box 32"/>
          <p:cNvSpPr txBox="1">
            <a:spLocks noChangeArrowheads="1"/>
          </p:cNvSpPr>
          <p:nvPr/>
        </p:nvSpPr>
        <p:spPr bwMode="auto">
          <a:xfrm>
            <a:off x="558006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Write Data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93" name="Line 33"/>
          <p:cNvSpPr>
            <a:spLocks noChangeShapeType="1"/>
          </p:cNvSpPr>
          <p:nvPr/>
        </p:nvSpPr>
        <p:spPr bwMode="auto">
          <a:xfrm>
            <a:off x="536416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4" name="Text Box 34"/>
          <p:cNvSpPr txBox="1">
            <a:spLocks noChangeArrowheads="1"/>
          </p:cNvSpPr>
          <p:nvPr/>
        </p:nvSpPr>
        <p:spPr bwMode="auto">
          <a:xfrm>
            <a:off x="558006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 Data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95" name="Line 35"/>
          <p:cNvSpPr>
            <a:spLocks noChangeShapeType="1"/>
          </p:cNvSpPr>
          <p:nvPr/>
        </p:nvSpPr>
        <p:spPr bwMode="auto">
          <a:xfrm>
            <a:off x="536416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6" name="Text Box 36"/>
          <p:cNvSpPr txBox="1">
            <a:spLocks noChangeArrowheads="1"/>
          </p:cNvSpPr>
          <p:nvPr/>
        </p:nvSpPr>
        <p:spPr bwMode="auto">
          <a:xfrm>
            <a:off x="558006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Ready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92197" name="Line 37"/>
          <p:cNvSpPr>
            <a:spLocks noChangeShapeType="1"/>
          </p:cNvSpPr>
          <p:nvPr/>
        </p:nvSpPr>
        <p:spPr bwMode="auto">
          <a:xfrm flipV="1">
            <a:off x="714057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8" name="Line 38"/>
          <p:cNvSpPr>
            <a:spLocks noChangeShapeType="1"/>
          </p:cNvSpPr>
          <p:nvPr/>
        </p:nvSpPr>
        <p:spPr bwMode="auto">
          <a:xfrm flipV="1">
            <a:off x="714057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9" name="Line 39"/>
          <p:cNvSpPr>
            <a:spLocks noChangeShapeType="1"/>
          </p:cNvSpPr>
          <p:nvPr/>
        </p:nvSpPr>
        <p:spPr bwMode="auto">
          <a:xfrm flipV="1">
            <a:off x="714057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0" name="Text Box 40"/>
          <p:cNvSpPr txBox="1">
            <a:spLocks noChangeArrowheads="1"/>
          </p:cNvSpPr>
          <p:nvPr/>
        </p:nvSpPr>
        <p:spPr bwMode="auto">
          <a:xfrm>
            <a:off x="702151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32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201" name="Text Box 41"/>
          <p:cNvSpPr txBox="1">
            <a:spLocks noChangeArrowheads="1"/>
          </p:cNvSpPr>
          <p:nvPr/>
        </p:nvSpPr>
        <p:spPr bwMode="auto">
          <a:xfrm>
            <a:off x="6972300" y="3211513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128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202" name="Text Box 42"/>
          <p:cNvSpPr txBox="1">
            <a:spLocks noChangeArrowheads="1"/>
          </p:cNvSpPr>
          <p:nvPr/>
        </p:nvSpPr>
        <p:spPr bwMode="auto">
          <a:xfrm>
            <a:off x="6972300" y="36449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AU" altLang="zh-CN" sz="1400">
                <a:ea typeface="宋体" panose="02010600030101010101" pitchFamily="2" charset="-122"/>
              </a:rPr>
              <a:t>128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92203" name="AutoShape 43"/>
          <p:cNvSpPr/>
          <p:nvPr/>
        </p:nvSpPr>
        <p:spPr bwMode="auto">
          <a:xfrm>
            <a:off x="4643438" y="5300663"/>
            <a:ext cx="1795462" cy="690562"/>
          </a:xfrm>
          <a:prstGeom prst="borderCallout1">
            <a:avLst>
              <a:gd name="adj1" fmla="val 16551"/>
              <a:gd name="adj2" fmla="val 104245"/>
              <a:gd name="adj3" fmla="val -95403"/>
              <a:gd name="adj4" fmla="val 131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Multiple cycles per access</a:t>
            </a:r>
            <a:endParaRPr lang="en-AU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359431B-083C-4D6E-B11E-3F6B72CC4F46}" type="slidenum">
              <a:rPr lang="en-AU" altLang="zh-CN"/>
            </a:fld>
            <a:endParaRPr lang="en-AU" altLang="zh-CN"/>
          </a:p>
        </p:txBody>
      </p:sp>
      <p:pic>
        <p:nvPicPr>
          <p:cNvPr id="93187" name="Picture 6" descr="f05-33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2133600"/>
            <a:ext cx="3795712" cy="33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Finite State Machines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43195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Use an FSM to sequence control steps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Set of states, transition on each clock edge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State values are binary encoded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Current state stored in a register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Next state</a:t>
            </a:r>
            <a:br>
              <a:rPr lang="en-AU" altLang="zh-CN" sz="2400" smtClean="0">
                <a:ea typeface="宋体" panose="02010600030101010101" pitchFamily="2" charset="-122"/>
              </a:rPr>
            </a:br>
            <a:r>
              <a:rPr lang="en-AU" altLang="zh-CN" sz="2400" smtClean="0">
                <a:ea typeface="宋体" panose="02010600030101010101" pitchFamily="2" charset="-122"/>
              </a:rPr>
              <a:t>= </a:t>
            </a:r>
            <a:r>
              <a:rPr lang="en-AU" altLang="zh-CN" sz="2400" i="1" smtClean="0">
                <a:ea typeface="宋体" panose="02010600030101010101" pitchFamily="2" charset="-122"/>
              </a:rPr>
              <a:t>f</a:t>
            </a:r>
            <a:r>
              <a:rPr lang="en-AU" altLang="zh-CN" sz="2400" i="1" baseline="-25000" smtClean="0">
                <a:ea typeface="宋体" panose="02010600030101010101" pitchFamily="2" charset="-122"/>
              </a:rPr>
              <a:t>n</a:t>
            </a:r>
            <a:r>
              <a:rPr lang="en-AU" altLang="zh-CN" sz="2400" smtClean="0">
                <a:ea typeface="宋体" panose="02010600030101010101" pitchFamily="2" charset="-122"/>
              </a:rPr>
              <a:t> (current state,</a:t>
            </a:r>
            <a:br>
              <a:rPr lang="en-AU" altLang="zh-CN" sz="2400" smtClean="0">
                <a:ea typeface="宋体" panose="02010600030101010101" pitchFamily="2" charset="-122"/>
              </a:rPr>
            </a:br>
            <a:r>
              <a:rPr lang="en-AU" altLang="zh-CN" sz="2400" smtClean="0">
                <a:ea typeface="宋体" panose="02010600030101010101" pitchFamily="2" charset="-122"/>
              </a:rPr>
              <a:t>		current inputs)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Control output signals</a:t>
            </a:r>
            <a:br>
              <a:rPr lang="en-AU" altLang="zh-CN" sz="2800" smtClean="0">
                <a:ea typeface="宋体" panose="02010600030101010101" pitchFamily="2" charset="-122"/>
              </a:rPr>
            </a:br>
            <a:r>
              <a:rPr lang="en-AU" altLang="zh-CN" sz="2800" smtClean="0">
                <a:ea typeface="宋体" panose="02010600030101010101" pitchFamily="2" charset="-122"/>
              </a:rPr>
              <a:t>= </a:t>
            </a:r>
            <a:r>
              <a:rPr lang="en-AU" altLang="zh-CN" sz="2800" i="1" smtClean="0">
                <a:ea typeface="宋体" panose="02010600030101010101" pitchFamily="2" charset="-122"/>
              </a:rPr>
              <a:t>f</a:t>
            </a:r>
            <a:r>
              <a:rPr lang="en-AU" altLang="zh-CN" sz="2800" i="1" baseline="-25000" smtClean="0">
                <a:ea typeface="宋体" panose="02010600030101010101" pitchFamily="2" charset="-122"/>
              </a:rPr>
              <a:t>o</a:t>
            </a:r>
            <a:r>
              <a:rPr lang="en-AU" altLang="zh-CN" sz="2800" smtClean="0">
                <a:ea typeface="宋体" panose="02010600030101010101" pitchFamily="2" charset="-122"/>
              </a:rPr>
              <a:t> (current state)</a:t>
            </a:r>
            <a:endParaRPr lang="en-AU" altLang="zh-CN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296C15C-5D0E-4186-948C-5B43B275C12A}" type="slidenum">
              <a:rPr lang="en-AU" altLang="zh-CN"/>
            </a:fld>
            <a:endParaRPr lang="en-AU" altLang="zh-CN"/>
          </a:p>
        </p:txBody>
      </p:sp>
      <p:pic>
        <p:nvPicPr>
          <p:cNvPr id="94211" name="Picture 6" descr="f05-3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341438"/>
            <a:ext cx="5400675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Cache Controller FSM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05509" name="AutoShape 5"/>
          <p:cNvSpPr/>
          <p:nvPr/>
        </p:nvSpPr>
        <p:spPr bwMode="auto">
          <a:xfrm>
            <a:off x="7164388" y="1773238"/>
            <a:ext cx="1655762" cy="1800225"/>
          </a:xfrm>
          <a:prstGeom prst="borderCallout1">
            <a:avLst>
              <a:gd name="adj1" fmla="val 6347"/>
              <a:gd name="adj2" fmla="val -4602"/>
              <a:gd name="adj3" fmla="val 9347"/>
              <a:gd name="adj4" fmla="val -43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AU" altLang="zh-CN">
                <a:ea typeface="宋体" panose="02010600030101010101" pitchFamily="2" charset="-122"/>
              </a:rPr>
              <a:t>Could partition into separate states to reduce clock cycle time</a:t>
            </a:r>
            <a:endParaRPr lang="en-AU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9645653-4BF9-4DD9-A050-456CF2A4C12E}" type="slidenum">
              <a:rPr lang="en-AU" altLang="zh-CN"/>
            </a:fld>
            <a:endParaRPr lang="en-AU" altLang="zh-CN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Cache Coherence Problem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Suppose two CPU cores share a physical address space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Write-through caches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  <p:sp>
        <p:nvSpPr>
          <p:cNvPr id="95237" name="Text Box 4"/>
          <p:cNvSpPr txBox="1">
            <a:spLocks noChangeArrowheads="1"/>
          </p:cNvSpPr>
          <p:nvPr/>
        </p:nvSpPr>
        <p:spPr bwMode="auto">
          <a:xfrm rot="5400000">
            <a:off x="5795169" y="2982119"/>
            <a:ext cx="6330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§5.8 </a:t>
            </a:r>
            <a:r>
              <a:rPr lang="en-AU" altLang="zh-CN">
                <a:solidFill>
                  <a:schemeClr val="folHlink"/>
                </a:solidFill>
                <a:ea typeface="宋体" panose="02010600030101010101" pitchFamily="2" charset="-122"/>
              </a:rPr>
              <a:t>Parallelism and Memory Hierarchies: Cache Coherence</a:t>
            </a:r>
            <a:endParaRPr lang="en-US">
              <a:solidFill>
                <a:schemeClr val="folHlink"/>
              </a:solidFill>
            </a:endParaRPr>
          </a:p>
        </p:txBody>
      </p:sp>
      <p:graphicFrame>
        <p:nvGraphicFramePr>
          <p:cNvPr id="388164" name="Group 68"/>
          <p:cNvGraphicFramePr>
            <a:graphicFrameLocks noGrp="1"/>
          </p:cNvGraphicFramePr>
          <p:nvPr/>
        </p:nvGraphicFramePr>
        <p:xfrm>
          <a:off x="684213" y="2636838"/>
          <a:ext cx="7845425" cy="2735263"/>
        </p:xfrm>
        <a:graphic>
          <a:graphicData uri="http://schemas.openxmlformats.org/drawingml/2006/table">
            <a:tbl>
              <a:tblPr/>
              <a:tblGrid>
                <a:gridCol w="863600"/>
                <a:gridCol w="2519362"/>
                <a:gridCol w="1487488"/>
                <a:gridCol w="1487487"/>
                <a:gridCol w="1487488"/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 step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Event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A’s cache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B’s cache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reads X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reads X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writes 1 to X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286CBBF-3643-4DDD-A11B-D3CF0AAB37DC}" type="slidenum">
              <a:rPr lang="en-AU" altLang="zh-CN"/>
            </a:fld>
            <a:endParaRPr lang="en-AU" altLang="zh-CN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Coherence Defined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Informally: 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Reads return most recently written value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Formally: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P writes X; P reads X (no intervening writes)</a:t>
            </a:r>
            <a:br>
              <a:rPr lang="en-AU" altLang="zh-CN" smtClean="0">
                <a:ea typeface="宋体" panose="02010600030101010101" pitchFamily="2" charset="-122"/>
              </a:rPr>
            </a:b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read returns written value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AU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writes X; P</a:t>
            </a:r>
            <a:r>
              <a:rPr lang="en-AU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reads X (sufficiently later)</a:t>
            </a:r>
            <a:b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read returns written value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c.f. CPU B reading X after step 3 in example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AU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writes X, P</a:t>
            </a:r>
            <a:r>
              <a:rPr lang="en-AU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writes X</a:t>
            </a:r>
            <a:b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all processors see writes in the same order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End up with the same final value for X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855BAAE8-D45D-495E-9713-E45D0901D3AA}" type="slidenum">
              <a:rPr lang="en-AU" altLang="zh-CN"/>
            </a:fld>
            <a:endParaRPr lang="en-AU" altLang="zh-CN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Cache Coherence Protocols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Operations performed by caches in multiprocessors to ensure coherence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Migration of data to local caches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Reduces bandwidth for shared memory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Replication of read-shared data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Reduces contention for access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Snooping protocols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Each cache monitors bus reads/writes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Directory-based protocols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Caches and memory record sharing status of blocks in a directory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8355AE2-1840-4DB3-944E-25C5569656EA}" type="slidenum">
              <a:rPr lang="en-AU" altLang="zh-CN"/>
            </a:fld>
            <a:endParaRPr lang="en-AU" altLang="zh-CN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AU" altLang="zh-CN" sz="4000" smtClean="0">
                <a:ea typeface="宋体" panose="02010600030101010101" pitchFamily="2" charset="-122"/>
              </a:rPr>
              <a:t>Invalidating Snooping Protocols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74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Cache gets exclusive access to a block when it is to be written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Broadcasts an invalidate message on the bus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Subsequent read in another cache misses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Owning cache supplies updated value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12750" name="Group 78"/>
          <p:cNvGraphicFramePr>
            <a:graphicFrameLocks noGrp="1"/>
          </p:cNvGraphicFramePr>
          <p:nvPr/>
        </p:nvGraphicFramePr>
        <p:xfrm>
          <a:off x="611188" y="3644900"/>
          <a:ext cx="8281987" cy="2468580"/>
        </p:xfrm>
        <a:graphic>
          <a:graphicData uri="http://schemas.openxmlformats.org/drawingml/2006/table">
            <a:tbl>
              <a:tblPr/>
              <a:tblGrid>
                <a:gridCol w="2232025"/>
                <a:gridCol w="1944687"/>
                <a:gridCol w="1368425"/>
                <a:gridCol w="1368425"/>
                <a:gridCol w="1368425"/>
              </a:tblGrid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activity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Bus activity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A’s cache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B’s cache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reads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reads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writes 1 to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Invalidate for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6947A076-7353-49DB-B0F3-8132533692CB}" type="slidenum">
              <a:rPr lang="en-AU" altLang="zh-CN"/>
            </a:fld>
            <a:endParaRPr lang="en-AU" altLang="zh-CN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Memory Consistency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When are writes seen by other processors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“Seen” means a read returns the written value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Can’t be instantaneously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Assumptions for maintaining consistency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A write completes only when all processors have </a:t>
            </a:r>
            <a:br>
              <a:rPr lang="en-AU" altLang="zh-CN" sz="2400" smtClean="0">
                <a:ea typeface="宋体" panose="02010600030101010101" pitchFamily="2" charset="-122"/>
              </a:rPr>
            </a:br>
            <a:r>
              <a:rPr lang="en-AU" altLang="zh-CN" sz="2400" smtClean="0">
                <a:ea typeface="宋体" panose="02010600030101010101" pitchFamily="2" charset="-122"/>
              </a:rPr>
              <a:t>seen it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A processor does not reorder writes with other accesses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Consequence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P writes X then writes Y</a:t>
            </a:r>
            <a:br>
              <a:rPr lang="en-AU" altLang="zh-CN" sz="2400" smtClean="0">
                <a:ea typeface="宋体" panose="02010600030101010101" pitchFamily="2" charset="-122"/>
              </a:rPr>
            </a:br>
            <a:r>
              <a:rPr lang="en-AU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 all processors that see new Y also see new X</a:t>
            </a:r>
            <a:endParaRPr lang="en-AU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Processors can reorder reads, but not writes</a:t>
            </a:r>
            <a:endParaRPr lang="en-AU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31DD737E-FB6F-4981-BE97-37F3E5B21B27}" type="slidenum">
              <a:rPr lang="en-AU" altLang="zh-CN"/>
            </a:fld>
            <a:endParaRPr lang="en-AU" altLang="zh-CN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Multilevel On-Chip Caches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 rot="5400000">
            <a:off x="5928519" y="2848769"/>
            <a:ext cx="6064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§5.10 Real Stuff: The AMD Opteron X4 and Intel Nehalem</a:t>
            </a:r>
            <a:endParaRPr lang="en-US">
              <a:solidFill>
                <a:schemeClr val="folHlink"/>
              </a:solidFill>
            </a:endParaRPr>
          </a:p>
        </p:txBody>
      </p:sp>
      <p:pic>
        <p:nvPicPr>
          <p:cNvPr id="100357" name="Picture 5" descr="f05-37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01788"/>
            <a:ext cx="6264275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1023938" y="5848350"/>
            <a:ext cx="6724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>
                <a:ea typeface="宋体" panose="02010600030101010101" pitchFamily="2" charset="-122"/>
              </a:rPr>
              <a:t>Per core: 32KB L1 I-cache, 32KB L1 D-cache, 512KB L2 cache</a:t>
            </a:r>
            <a:endParaRPr lang="en-AU" altLang="zh-CN">
              <a:ea typeface="宋体" panose="02010600030101010101" pitchFamily="2" charset="-122"/>
            </a:endParaRPr>
          </a:p>
          <a:p>
            <a:r>
              <a:rPr lang="en-AU" altLang="zh-CN">
                <a:ea typeface="宋体" panose="02010600030101010101" pitchFamily="2" charset="-122"/>
              </a:rPr>
              <a:t>Shared 8MB L3 cache; 13.5x19.6mm die, 731 million transistors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100359" name="Text Box 8"/>
          <p:cNvSpPr txBox="1">
            <a:spLocks noChangeArrowheads="1"/>
          </p:cNvSpPr>
          <p:nvPr/>
        </p:nvSpPr>
        <p:spPr bwMode="auto">
          <a:xfrm>
            <a:off x="1023938" y="1125538"/>
            <a:ext cx="4483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z="2400">
                <a:solidFill>
                  <a:srgbClr val="FF0000"/>
                </a:solidFill>
                <a:ea typeface="宋体" panose="02010600030101010101" pitchFamily="2" charset="-122"/>
              </a:rPr>
              <a:t>Intel Nehalem 4-core processor</a:t>
            </a:r>
            <a:endParaRPr lang="en-AU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75FF81F8-C379-4478-8274-6BF2DA9F8F95}" type="slidenum">
              <a:rPr lang="en-AU" altLang="zh-CN"/>
            </a:fld>
            <a:endParaRPr lang="en-AU" altLang="zh-CN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2-Level TLB Organization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17890" name="Group 98"/>
          <p:cNvGraphicFramePr>
            <a:graphicFrameLocks noGrp="1"/>
          </p:cNvGraphicFramePr>
          <p:nvPr/>
        </p:nvGraphicFramePr>
        <p:xfrm>
          <a:off x="684213" y="1268413"/>
          <a:ext cx="8280400" cy="4700850"/>
        </p:xfrm>
        <a:graphic>
          <a:graphicData uri="http://schemas.openxmlformats.org/drawingml/2006/table">
            <a:tbl>
              <a:tblPr/>
              <a:tblGrid>
                <a:gridCol w="1655762"/>
                <a:gridCol w="3473450"/>
                <a:gridCol w="3151188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Intel Nehalem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AMD Opteron X4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Virtual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 bits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 bits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Physical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44 bits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 bits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Page size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4KB, 2/4MB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4KB, 2/4MB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TLB</a:t>
                      </a:r>
                      <a:b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(per core)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I-TLB: 128 entries for small pages, 7 per thread (2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for large pages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D-TLB: 64 entries for small pages, 32 for large pages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Both 4-way, LRU replacement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I-TLB: 48 entries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D-TLB: 48 entries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Both fully associative, LRU replacement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3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L2 TLB</a:t>
                      </a:r>
                      <a:b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(per core)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Single L2 TLB: 512 entries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4-way, LRU replacement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L2 I-TLB: 512 entries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L2 D-TLB: 512 entries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Both 4-way, round-robin LRU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TLB misses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Handled in hardware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Handled in hardware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031F32D-561C-41E8-BA96-5E9A5E819E9E}" type="slidenum">
              <a:rPr lang="en-AU" altLang="zh-CN"/>
            </a:fld>
            <a:endParaRPr lang="en-AU" altLang="zh-CN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3-Level Cache Organization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20942" name="Group 78"/>
          <p:cNvGraphicFramePr>
            <a:graphicFrameLocks noGrp="1"/>
          </p:cNvGraphicFramePr>
          <p:nvPr/>
        </p:nvGraphicFramePr>
        <p:xfrm>
          <a:off x="684213" y="1268413"/>
          <a:ext cx="8278812" cy="4901925"/>
        </p:xfrm>
        <a:graphic>
          <a:graphicData uri="http://schemas.openxmlformats.org/drawingml/2006/table">
            <a:tbl>
              <a:tblPr/>
              <a:tblGrid>
                <a:gridCol w="1439862"/>
                <a:gridCol w="3419475"/>
                <a:gridCol w="3419475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Intel Nehalem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AMD Opteron X4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66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caches</a:t>
                      </a:r>
                      <a:b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(per core)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I-cache: 32KB, 64-byte blocks, 4-way, approx LRU replacement, hit time n/a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D-cache: 32KB, 64-byte blocks, 8-way, approx LRU replacement, write-back/allocate, hit time n/a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I-cache: 32KB, 64-byte blocks, 2-way, LRU replacement, hit time 3 cycles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L1 D-cache: 32KB, 64-byte blocks, 2-way, LRU replacement, write-back/allocate, hit time 9 cycles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L2 unified cache</a:t>
                      </a:r>
                      <a:b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(per core)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512KB, 64-byte blocks, 8-way, approx LRU replacement, write-back/allocate, hit time n/a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512KB, 64-byte blocks, 16-way, approx LRU replacement, write-back/allocate, hit time n/a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9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L3 unified cache (shared)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8MB, 64-byte blocks, 16-way, replacement n/a, write-back/allocate, hit time n/a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2MB, 64-byte blocks, 32-way, replace block shared by fewest cores, write-back/allocate, hit time 32 cycles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n/a: data not available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BA588BD6-AEE2-466E-A2D4-6705893340BF}" type="slidenum">
              <a:rPr lang="en-AU" altLang="zh-CN"/>
            </a:fld>
            <a:endParaRPr lang="en-AU" altLang="zh-CN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Miss Penalty Reduction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Return requested word first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Then back-fill rest of block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Non-blocking miss processing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Allow processor to make references to cache while it is handling an earlier miss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Hit under miss: </a:t>
            </a:r>
            <a:r>
              <a:rPr lang="en-AU" altLang="zh-CN" sz="2400" smtClean="0">
                <a:ea typeface="宋体" panose="02010600030101010101" pitchFamily="2" charset="-122"/>
              </a:rPr>
              <a:t>allow hits to proceed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Miss under miss:</a:t>
            </a:r>
            <a:r>
              <a:rPr lang="en-AU" altLang="zh-CN" sz="2400" smtClean="0">
                <a:ea typeface="宋体" panose="02010600030101010101" pitchFamily="2" charset="-122"/>
              </a:rPr>
              <a:t> allow multiple outstanding misses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Hardware prefetch: instructions and data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Opteron X4: bank interleaved L1 D-cache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Two concurrent accesses per cycle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A0F11112-029A-4B31-A572-04642128F30A}" type="slidenum">
              <a:rPr lang="en-AU" altLang="zh-CN"/>
            </a:fld>
            <a:endParaRPr lang="en-AU" altLang="zh-CN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Pitfalls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Byte vs. word addressing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Example: 32-byte direct-mapped cache,</a:t>
            </a:r>
            <a:br>
              <a:rPr lang="en-AU" altLang="zh-CN" smtClean="0">
                <a:ea typeface="宋体" panose="02010600030101010101" pitchFamily="2" charset="-122"/>
              </a:rPr>
            </a:br>
            <a:r>
              <a:rPr lang="en-AU" altLang="zh-CN" smtClean="0">
                <a:ea typeface="宋体" panose="02010600030101010101" pitchFamily="2" charset="-122"/>
              </a:rPr>
              <a:t>4-byte blocks. Mapping for byte 36, word 36?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Byte 36 maps to block 1 (9 modulo 8)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Word 36 maps to block 4 (36 modulo 8)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 rot="5400000">
            <a:off x="7509669" y="1267619"/>
            <a:ext cx="2901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§5.11 Fallacies and Pitfalls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CN" smtClean="0">
                <a:ea typeface="宋体" panose="02010600030101010101" pitchFamily="2" charset="-122"/>
              </a:rPr>
              <a:t>Pitfalls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Ignoring memory system effects when writing or generating code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Iterating over rows vs. columns of arrays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Large strides result in poor locality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MIPS CPU runtime for code is </a:t>
            </a:r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half</a:t>
            </a:r>
            <a:r>
              <a:rPr lang="en-AU" altLang="zh-CN" sz="2400" smtClean="0">
                <a:ea typeface="宋体" panose="02010600030101010101" pitchFamily="2" charset="-122"/>
              </a:rPr>
              <a:t> that of the case when loop order is changed to k, j, i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4" eaLnBrk="1" hangingPunct="1"/>
            <a:endParaRPr lang="en-US" smtClean="0"/>
          </a:p>
          <a:p>
            <a:pPr>
              <a:buFont typeface="Wingdings" panose="05000000000000000000" pitchFamily="2" charset="2"/>
              <a:buNone/>
            </a:pPr>
            <a: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  <a:t>for (i = 0; i! = 500; i = i + 1)</a:t>
            </a:r>
            <a:b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  <a:t>    for (j = 0; j! = 500; j = j + 1)</a:t>
            </a:r>
            <a:b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  <a:t>      for (k = 0; k! = 500; k = k + 1)</a:t>
            </a:r>
            <a:b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  <a:t>        x[i][j] = x[i][j]</a:t>
            </a:r>
            <a:b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rgbClr val="0039A6"/>
                </a:solidFill>
                <a:latin typeface="Lucida Console" panose="020B0609040504020204" pitchFamily="49" charset="0"/>
              </a:rPr>
              <a:t>                  + y[i][k] * z[k][j];</a:t>
            </a:r>
            <a:endParaRPr lang="en-US" smtClean="0"/>
          </a:p>
        </p:txBody>
      </p:sp>
      <p:sp>
        <p:nvSpPr>
          <p:cNvPr id="10547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9FCE0BF-D8E2-4689-B293-EFAD8FCF6289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5FD8779E-CAA8-40DC-81A9-5197DBEE3F9A}" type="slidenum">
              <a:rPr lang="en-AU" altLang="zh-CN"/>
            </a:fld>
            <a:endParaRPr lang="en-AU" altLang="zh-CN"/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Pitfalls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 multiprocessor with shared L2 or L3 cache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Less associativity than cores results in conflict misses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More cores </a:t>
            </a:r>
            <a:r>
              <a:rPr lang="en-AU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 need to increase associativity!</a:t>
            </a:r>
            <a:endParaRPr lang="en-AU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Using AMAT to evaluate memory hierarchy performance of out-of-order processors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Processor continues to execute instructions on cache miss, and may even have more cache misses on a cache miss  AMAT not accurate!</a:t>
            </a:r>
            <a:endParaRPr lang="en-AU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Instead, evaluate performance by simulation</a:t>
            </a:r>
            <a:endParaRPr lang="en-AU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F1F8BEBB-3E00-4050-B066-ED7A434F66A9}" type="slidenum">
              <a:rPr lang="en-AU" altLang="zh-CN"/>
            </a:fld>
            <a:endParaRPr lang="en-AU" altLang="zh-CN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Pitfalls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Extending address range using segments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E.g., Intel 80286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But a segment is not always big enough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Makes address arithmetic complicated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Implementing a VMM on an ISA not designed for virtualization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E.g., non-privileged instructions accessing hardware resources that reveal guest OS is running in a VM; instructions assuming OS has highest privilege level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Either extend ISA, or require guest OS not to use problematic instructions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5 — Large and Fast: Exploiting Memory Hierarchy — </a:t>
            </a:r>
            <a:fld id="{9FA4FC3F-A73F-4872-AFC7-FBF9D4F7EE21}" type="slidenum">
              <a:rPr lang="en-AU" altLang="zh-CN"/>
            </a:fld>
            <a:endParaRPr lang="en-AU" altLang="zh-CN"/>
          </a:p>
        </p:txBody>
      </p:sp>
      <p:sp>
        <p:nvSpPr>
          <p:cNvPr id="1085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Concluding Remarks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854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Fast memories are small, large memories are slow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We really want fast, large memories </a:t>
            </a:r>
            <a:r>
              <a:rPr lang="en-US" sz="2400" smtClean="0">
                <a:sym typeface="Wingdings" panose="05000000000000000000" pitchFamily="2" charset="2"/>
              </a:rPr>
              <a:t></a:t>
            </a:r>
            <a:endParaRPr lang="en-US" sz="2400" smtClean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009900"/>
                </a:solidFill>
                <a:sym typeface="Wingdings" panose="05000000000000000000" pitchFamily="2" charset="2"/>
              </a:rPr>
              <a:t>Caching</a:t>
            </a:r>
            <a:r>
              <a:rPr lang="en-US" sz="2400" smtClean="0">
                <a:sym typeface="Wingdings" panose="05000000000000000000" pitchFamily="2" charset="2"/>
              </a:rPr>
              <a:t> gives this illusion </a:t>
            </a:r>
            <a:endParaRPr lang="en-US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FF0000"/>
                </a:solidFill>
              </a:rPr>
              <a:t>Principle of locality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Programs use a small part of their memory space frequently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chemeClr val="tx2"/>
                </a:solidFill>
              </a:rPr>
              <a:t>Memory hierarchy</a:t>
            </a:r>
            <a:endParaRPr lang="en-US" sz="280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L1 cache </a:t>
            </a:r>
            <a:r>
              <a:rPr lang="en-US" sz="2400" smtClean="0">
                <a:sym typeface="Symbol" panose="05050102010706020507" pitchFamily="18" charset="2"/>
              </a:rPr>
              <a:t> L2 cache  …  DRAM memory</a:t>
            </a:r>
            <a:br>
              <a:rPr lang="en-US" sz="2400" smtClean="0">
                <a:sym typeface="Symbol" panose="05050102010706020507" pitchFamily="18" charset="2"/>
              </a:rPr>
            </a:br>
            <a:r>
              <a:rPr lang="en-US" sz="2400" smtClean="0">
                <a:sym typeface="Symbol" panose="05050102010706020507" pitchFamily="18" charset="2"/>
              </a:rPr>
              <a:t> disk</a:t>
            </a:r>
            <a:endParaRPr lang="en-US" sz="24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ym typeface="Symbol" panose="05050102010706020507" pitchFamily="18" charset="2"/>
              </a:rPr>
              <a:t>Memory system design is critical for </a:t>
            </a:r>
            <a:r>
              <a:rPr lang="en-US" sz="2800" smtClean="0">
                <a:solidFill>
                  <a:srgbClr val="7030A0"/>
                </a:solidFill>
                <a:sym typeface="Symbol" panose="05050102010706020507" pitchFamily="18" charset="2"/>
              </a:rPr>
              <a:t>multiprocessors</a:t>
            </a:r>
            <a:endParaRPr lang="en-US" sz="2800" smtClean="0">
              <a:solidFill>
                <a:srgbClr val="7030A0"/>
              </a:solidFill>
              <a:sym typeface="Symbol" panose="05050102010706020507" pitchFamily="18" charset="2"/>
            </a:endParaRPr>
          </a:p>
        </p:txBody>
      </p:sp>
      <p:sp>
        <p:nvSpPr>
          <p:cNvPr id="108549" name="Text Box 4"/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§5.12 Concluding Remarks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Assignment 5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Homework assignment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5.3, 5. 4,5.6,5.12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To be submitted in the next week class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/>
              <a:t>Chapter 1 — Computer Abstractions and Technology — </a:t>
            </a:r>
            <a:fld id="{D05FECF5-5C76-4D82-B1FD-39A9F6C42E60}" type="slidenum">
              <a:rPr lang="en-AU"/>
            </a:fld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0</TotalTime>
  <Words>40354</Words>
  <Application>WPS 演示</Application>
  <PresentationFormat>全屏显示(4:3)</PresentationFormat>
  <Paragraphs>2442</Paragraphs>
  <Slides>107</Slides>
  <Notes>93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107</vt:i4>
      </vt:variant>
    </vt:vector>
  </HeadingPairs>
  <TitlesOfParts>
    <vt:vector size="122" baseType="lpstr">
      <vt:lpstr>Arial</vt:lpstr>
      <vt:lpstr>宋体</vt:lpstr>
      <vt:lpstr>Wingdings</vt:lpstr>
      <vt:lpstr>Arial Black</vt:lpstr>
      <vt:lpstr>Times New Roman</vt:lpstr>
      <vt:lpstr>微软雅黑</vt:lpstr>
      <vt:lpstr>Arial Unicode MS</vt:lpstr>
      <vt:lpstr>Calibri</vt:lpstr>
      <vt:lpstr>Arial Unicode MS</vt:lpstr>
      <vt:lpstr>Symbol</vt:lpstr>
      <vt:lpstr>Courier New</vt:lpstr>
      <vt:lpstr>Lucida Console</vt:lpstr>
      <vt:lpstr>cod4e</vt:lpstr>
      <vt:lpstr>MSGraph.Chart.8</vt:lpstr>
      <vt:lpstr>Equation.3</vt:lpstr>
      <vt:lpstr>PowerPoint 演示文稿</vt:lpstr>
      <vt:lpstr>Memory Technology</vt:lpstr>
      <vt:lpstr>Principle of Locality</vt:lpstr>
      <vt:lpstr>Taking Advantage of Locality</vt:lpstr>
      <vt:lpstr>Memory Hierarchy Levels</vt:lpstr>
      <vt:lpstr>Cache Memory</vt:lpstr>
      <vt:lpstr>Direct Mapped Cache</vt:lpstr>
      <vt:lpstr>Tags and Valid Bits</vt:lpstr>
      <vt:lpstr>Cache Example</vt:lpstr>
      <vt:lpstr>Cache Example</vt:lpstr>
      <vt:lpstr>Cache Example</vt:lpstr>
      <vt:lpstr>Cache Example</vt:lpstr>
      <vt:lpstr>Cache Example</vt:lpstr>
      <vt:lpstr>Cache Example</vt:lpstr>
      <vt:lpstr>Address Subdivision</vt:lpstr>
      <vt:lpstr>Cache Field Sizes</vt:lpstr>
      <vt:lpstr>Cache Field Sizes： Example</vt:lpstr>
      <vt:lpstr>Example: Larger Block Size</vt:lpstr>
      <vt:lpstr>Block Size Considerations</vt:lpstr>
      <vt:lpstr>Cache Misses</vt:lpstr>
      <vt:lpstr>Handling Cache Writes</vt:lpstr>
      <vt:lpstr>Write-Back</vt:lpstr>
      <vt:lpstr>Write Allocation</vt:lpstr>
      <vt:lpstr>Example: Intrinsity FastMATH</vt:lpstr>
      <vt:lpstr>Example: Intrinsity FastMATH</vt:lpstr>
      <vt:lpstr>Main Memory Supporting Caches</vt:lpstr>
      <vt:lpstr>Increasing Memory Bandwidth</vt:lpstr>
      <vt:lpstr>Advanced DRAM Organization</vt:lpstr>
      <vt:lpstr>DRAM Generations</vt:lpstr>
      <vt:lpstr>Measuring Cache Performance</vt:lpstr>
      <vt:lpstr>Cache Performance Example</vt:lpstr>
      <vt:lpstr>Cache Performance Example</vt:lpstr>
      <vt:lpstr>Average Access Time</vt:lpstr>
      <vt:lpstr>Performance Summary</vt:lpstr>
      <vt:lpstr>Associative Caches</vt:lpstr>
      <vt:lpstr>Associative Cache Example</vt:lpstr>
      <vt:lpstr>Spectrum of Associativity</vt:lpstr>
      <vt:lpstr>Associativity Example</vt:lpstr>
      <vt:lpstr>Associativity Example</vt:lpstr>
      <vt:lpstr>How Much Associativity</vt:lpstr>
      <vt:lpstr>Set Associative Cache Organization</vt:lpstr>
      <vt:lpstr>Range of Set Associative Caches</vt:lpstr>
      <vt:lpstr>Content Addressable Memory</vt:lpstr>
      <vt:lpstr>Replacement Policy</vt:lpstr>
      <vt:lpstr>Multilevel Caches</vt:lpstr>
      <vt:lpstr>Multilevel Cache Example</vt:lpstr>
      <vt:lpstr>Example (cont.)</vt:lpstr>
      <vt:lpstr>Multilevel Cache Considerations</vt:lpstr>
      <vt:lpstr>Interactions with Advanced CPUs</vt:lpstr>
      <vt:lpstr>Interactions with Software</vt:lpstr>
      <vt:lpstr>Virtual Memory</vt:lpstr>
      <vt:lpstr>Address Translation</vt:lpstr>
      <vt:lpstr>Page Tables</vt:lpstr>
      <vt:lpstr>Page Fault Penalty</vt:lpstr>
      <vt:lpstr>Translation Using a Page Table</vt:lpstr>
      <vt:lpstr>Mapping Pages to Storage</vt:lpstr>
      <vt:lpstr>Segmentation</vt:lpstr>
      <vt:lpstr>Page Table Size Calculation</vt:lpstr>
      <vt:lpstr>Techniques to Minimize Page Table Size</vt:lpstr>
      <vt:lpstr>Replacement and Writes</vt:lpstr>
      <vt:lpstr>Fast Translation Using a TLB</vt:lpstr>
      <vt:lpstr>Fast Translation Using a TLB</vt:lpstr>
      <vt:lpstr>TLB Misses</vt:lpstr>
      <vt:lpstr>Page Fault Handler</vt:lpstr>
      <vt:lpstr>TLB and Cache Interaction Example</vt:lpstr>
      <vt:lpstr>Cache Addressing</vt:lpstr>
      <vt:lpstr>Cache Addressing</vt:lpstr>
      <vt:lpstr>Cache Addressing</vt:lpstr>
      <vt:lpstr>TLB, VM, Cache Event Combinations</vt:lpstr>
      <vt:lpstr>Memory Protection</vt:lpstr>
      <vt:lpstr>TLB Miss Handling in MIPS</vt:lpstr>
      <vt:lpstr>MIPS Software TLB Miss Handler</vt:lpstr>
      <vt:lpstr>The Memory Hierarchy</vt:lpstr>
      <vt:lpstr>Characteristics of Memory Hierarchy</vt:lpstr>
      <vt:lpstr>Q1. Block Placement?</vt:lpstr>
      <vt:lpstr>Q2. Finding a Block?</vt:lpstr>
      <vt:lpstr>Q3.	 Replacement on Miss?</vt:lpstr>
      <vt:lpstr>Q4. Write Policy?</vt:lpstr>
      <vt:lpstr>Sources of Cache Misses</vt:lpstr>
      <vt:lpstr>Sources of Cache Misses</vt:lpstr>
      <vt:lpstr>Cache Design Trade-offs: Summary</vt:lpstr>
      <vt:lpstr>Concluding Remarks</vt:lpstr>
      <vt:lpstr>Assignment 5</vt:lpstr>
      <vt:lpstr>Virtual Machines</vt:lpstr>
      <vt:lpstr>Virtual Machine Monitor (VMM)</vt:lpstr>
      <vt:lpstr>Example: Timer Virtualization</vt:lpstr>
      <vt:lpstr>Requirements of VMM</vt:lpstr>
      <vt:lpstr>Instruction Set Support</vt:lpstr>
      <vt:lpstr>Cache Control</vt:lpstr>
      <vt:lpstr>Interface Signals</vt:lpstr>
      <vt:lpstr>Finite State Machines</vt:lpstr>
      <vt:lpstr>Cache Controller FSM</vt:lpstr>
      <vt:lpstr>Cache Coherence Problem</vt:lpstr>
      <vt:lpstr>Coherence Defined</vt:lpstr>
      <vt:lpstr>Cache Coherence Protocols</vt:lpstr>
      <vt:lpstr>Invalidating Snooping Protocols</vt:lpstr>
      <vt:lpstr>Memory Consistency</vt:lpstr>
      <vt:lpstr>Multilevel On-Chip Caches</vt:lpstr>
      <vt:lpstr>2-Level TLB Organization</vt:lpstr>
      <vt:lpstr>3-Level Cache Organization</vt:lpstr>
      <vt:lpstr>Miss Penalty Reduction</vt:lpstr>
      <vt:lpstr>Pitfalls</vt:lpstr>
      <vt:lpstr>Pitfalls</vt:lpstr>
      <vt:lpstr>Pitfalls</vt:lpstr>
      <vt:lpstr>Pitfalls</vt:lpstr>
      <vt:lpstr>Concluding Remarks</vt:lpstr>
      <vt:lpstr>Assignment 5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wcz</cp:lastModifiedBy>
  <cp:revision>248</cp:revision>
  <dcterms:created xsi:type="dcterms:W3CDTF">2008-08-25T10:09:00Z</dcterms:created>
  <dcterms:modified xsi:type="dcterms:W3CDTF">2025-05-20T03:17:59Z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4F7D6F23B06F41CD878DA09FA13275EE_12</vt:lpwstr>
  </property>
  <property fmtid="{D5CDD505-2E9C-101B-9397-08002B2CF9AE}" pid="3" name="KSOProductBuildVer">
    <vt:lpwstr>2052-12.1.0.21171</vt:lpwstr>
  </property>
</Properties>
</file>