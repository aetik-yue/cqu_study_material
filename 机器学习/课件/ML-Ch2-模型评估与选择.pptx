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5"/>
  </p:handoutMasterIdLst>
  <p:sldIdLst>
    <p:sldId id="398" r:id="rId3"/>
    <p:sldId id="388" r:id="rId5"/>
    <p:sldId id="347" r:id="rId6"/>
    <p:sldId id="348" r:id="rId7"/>
    <p:sldId id="349" r:id="rId8"/>
    <p:sldId id="401" r:id="rId9"/>
    <p:sldId id="402" r:id="rId10"/>
    <p:sldId id="351" r:id="rId11"/>
    <p:sldId id="352" r:id="rId12"/>
    <p:sldId id="394" r:id="rId13"/>
    <p:sldId id="353" r:id="rId14"/>
    <p:sldId id="354" r:id="rId15"/>
    <p:sldId id="355" r:id="rId16"/>
    <p:sldId id="395" r:id="rId17"/>
    <p:sldId id="403" r:id="rId18"/>
    <p:sldId id="408" r:id="rId19"/>
    <p:sldId id="436" r:id="rId20"/>
    <p:sldId id="437" r:id="rId21"/>
    <p:sldId id="438" r:id="rId22"/>
    <p:sldId id="412" r:id="rId23"/>
    <p:sldId id="413" r:id="rId24"/>
    <p:sldId id="433" r:id="rId25"/>
    <p:sldId id="414" r:id="rId26"/>
    <p:sldId id="415" r:id="rId27"/>
    <p:sldId id="416" r:id="rId28"/>
    <p:sldId id="417" r:id="rId29"/>
    <p:sldId id="418" r:id="rId30"/>
    <p:sldId id="439" r:id="rId31"/>
    <p:sldId id="443" r:id="rId32"/>
    <p:sldId id="446" r:id="rId33"/>
    <p:sldId id="444" r:id="rId34"/>
    <p:sldId id="445" r:id="rId35"/>
    <p:sldId id="440" r:id="rId36"/>
    <p:sldId id="441" r:id="rId37"/>
    <p:sldId id="442" r:id="rId38"/>
    <p:sldId id="419" r:id="rId39"/>
    <p:sldId id="434" r:id="rId40"/>
    <p:sldId id="421" r:id="rId41"/>
    <p:sldId id="422" r:id="rId42"/>
    <p:sldId id="423" r:id="rId43"/>
    <p:sldId id="424" r:id="rId44"/>
    <p:sldId id="425" r:id="rId45"/>
    <p:sldId id="427" r:id="rId46"/>
    <p:sldId id="429" r:id="rId47"/>
    <p:sldId id="430" r:id="rId48"/>
    <p:sldId id="431" r:id="rId49"/>
    <p:sldId id="432" r:id="rId50"/>
    <p:sldId id="435" r:id="rId51"/>
    <p:sldId id="362" r:id="rId52"/>
    <p:sldId id="407" r:id="rId53"/>
    <p:sldId id="363" r:id="rId54"/>
    <p:sldId id="364" r:id="rId55"/>
    <p:sldId id="365" r:id="rId56"/>
    <p:sldId id="366" r:id="rId57"/>
    <p:sldId id="409" r:id="rId58"/>
    <p:sldId id="410" r:id="rId59"/>
    <p:sldId id="411" r:id="rId60"/>
    <p:sldId id="404" r:id="rId61"/>
    <p:sldId id="368" r:id="rId62"/>
    <p:sldId id="460" r:id="rId63"/>
    <p:sldId id="461" r:id="rId64"/>
    <p:sldId id="462" r:id="rId65"/>
    <p:sldId id="463" r:id="rId66"/>
    <p:sldId id="464" r:id="rId67"/>
    <p:sldId id="465" r:id="rId68"/>
    <p:sldId id="466" r:id="rId69"/>
    <p:sldId id="467" r:id="rId70"/>
    <p:sldId id="468" r:id="rId71"/>
    <p:sldId id="470" r:id="rId72"/>
    <p:sldId id="472" r:id="rId73"/>
    <p:sldId id="473" r:id="rId74"/>
    <p:sldId id="369" r:id="rId75"/>
    <p:sldId id="447" r:id="rId76"/>
    <p:sldId id="448" r:id="rId77"/>
    <p:sldId id="449" r:id="rId78"/>
    <p:sldId id="450" r:id="rId79"/>
    <p:sldId id="451" r:id="rId80"/>
    <p:sldId id="452" r:id="rId81"/>
    <p:sldId id="453" r:id="rId82"/>
    <p:sldId id="474" r:id="rId83"/>
    <p:sldId id="475" r:id="rId84"/>
    <p:sldId id="476" r:id="rId85"/>
    <p:sldId id="371" r:id="rId86"/>
    <p:sldId id="372" r:id="rId87"/>
    <p:sldId id="373" r:id="rId88"/>
    <p:sldId id="374" r:id="rId89"/>
    <p:sldId id="375" r:id="rId90"/>
    <p:sldId id="376" r:id="rId91"/>
    <p:sldId id="377" r:id="rId92"/>
    <p:sldId id="378" r:id="rId93"/>
    <p:sldId id="477" r:id="rId94"/>
    <p:sldId id="405" r:id="rId95"/>
    <p:sldId id="380" r:id="rId96"/>
    <p:sldId id="381" r:id="rId97"/>
    <p:sldId id="382" r:id="rId98"/>
    <p:sldId id="383" r:id="rId99"/>
    <p:sldId id="471" r:id="rId100"/>
    <p:sldId id="384" r:id="rId101"/>
    <p:sldId id="406" r:id="rId102"/>
    <p:sldId id="386" r:id="rId103"/>
    <p:sldId id="387" r:id="rId104"/>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8F"/>
    <a:srgbClr val="0000FF"/>
    <a:srgbClr val="FF00FF"/>
    <a:srgbClr val="FF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98" autoAdjust="0"/>
    <p:restoredTop sz="94499" autoAdjust="0"/>
  </p:normalViewPr>
  <p:slideViewPr>
    <p:cSldViewPr showGuides="1">
      <p:cViewPr varScale="1">
        <p:scale>
          <a:sx n="80" d="100"/>
          <a:sy n="80" d="100"/>
        </p:scale>
        <p:origin x="1728" y="62"/>
      </p:cViewPr>
      <p:guideLst>
        <p:guide orient="horz" pos="2160"/>
        <p:guide pos="2880"/>
      </p:guideLst>
    </p:cSldViewPr>
  </p:slideViewPr>
  <p:outlineViewPr>
    <p:cViewPr>
      <p:scale>
        <a:sx n="33" d="100"/>
        <a:sy n="33" d="100"/>
      </p:scale>
      <p:origin x="0" y="-1993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8" d="100"/>
          <a:sy n="68" d="100"/>
        </p:scale>
        <p:origin x="-1810" y="-6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handoutMaster" Target="handoutMasters/handoutMaster1.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121.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3.wmf"/><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626E299B-63A7-4D5D-8B1C-0F591CF6F3B0}" type="datetimeFigureOut">
              <a:rPr lang="zh-CN" altLang="en-US" smtClean="0"/>
            </a:fld>
            <a:endParaRPr lang="zh-CN" altLang="en-US"/>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52017061-97E9-43D1-90DF-17EAAD8DC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D078651-23C7-450B-A21A-2D0BBC9DF7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8A01C4B7-2712-4B4B-872C-DFA7D5FBE8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idx="4294967295"/>
          </p:nvPr>
        </p:nvSpPr>
        <p:spPr bwMode="auto">
          <a:xfrm>
            <a:off x="0" y="0"/>
            <a:ext cx="3970852"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rPr>
              <a:t>高等代数</a:t>
            </a:r>
            <a:endParaRPr lang="en-US" altLang="zh-CN">
              <a:latin typeface="Times New Roman" panose="02020603050405020304" pitchFamily="18" charset="0"/>
            </a:endParaRPr>
          </a:p>
        </p:txBody>
      </p:sp>
      <p:sp>
        <p:nvSpPr>
          <p:cNvPr id="65539" name="Rectangle 3"/>
          <p:cNvSpPr>
            <a:spLocks noGrp="1" noChangeArrowheads="1"/>
          </p:cNvSpPr>
          <p:nvPr>
            <p:ph type="dt" sz="quarter" idx="4294967295"/>
          </p:nvPr>
        </p:nvSpPr>
        <p:spPr bwMode="auto">
          <a:xfrm>
            <a:off x="5224268" y="0"/>
            <a:ext cx="3968806"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DB1B57B-F05E-4A1C-B6E7-FF5E2CF9A28F}" type="datetime1">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65540" name="Rectangle 7"/>
          <p:cNvSpPr>
            <a:spLocks noGrp="1" noChangeArrowheads="1"/>
          </p:cNvSpPr>
          <p:nvPr>
            <p:ph type="sldNum" sz="quarter" idx="4294967295"/>
          </p:nvPr>
        </p:nvSpPr>
        <p:spPr bwMode="auto">
          <a:xfrm>
            <a:off x="5224268" y="6492070"/>
            <a:ext cx="3968806" cy="37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7C93D8E-CE9A-442A-B2E7-0DC8182FE48B}"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5541" name="Rectangle 2"/>
          <p:cNvSpPr>
            <a:spLocks noGrp="1" noRot="1" noChangeAspect="1" noChangeArrowheads="1" noTextEdit="1"/>
          </p:cNvSpPr>
          <p:nvPr>
            <p:ph type="sldImg"/>
          </p:nvPr>
        </p:nvSpPr>
        <p:spPr bwMode="auto">
          <a:xfrm>
            <a:off x="2897188" y="533400"/>
            <a:ext cx="3403600" cy="2552700"/>
          </a:xfrm>
          <a:solidFill>
            <a:srgbClr val="FFFFFF"/>
          </a:solidFill>
          <a:ln>
            <a:solidFill>
              <a:srgbClr val="000000"/>
            </a:solidFill>
            <a:miter lim="800000"/>
          </a:ln>
        </p:spPr>
      </p:sp>
      <p:sp>
        <p:nvSpPr>
          <p:cNvPr id="65542" name="Rectangle 3"/>
          <p:cNvSpPr>
            <a:spLocks noGrp="1" noChangeArrowheads="1"/>
          </p:cNvSpPr>
          <p:nvPr>
            <p:ph type="body" idx="1"/>
          </p:nvPr>
        </p:nvSpPr>
        <p:spPr bwMode="auto">
          <a:xfrm>
            <a:off x="1253416" y="3246566"/>
            <a:ext cx="6686243" cy="3085941"/>
          </a:xfrm>
          <a:prstGeom prst="rect">
            <a:avLst/>
          </a:prstGeom>
          <a:solidFill>
            <a:srgbClr val="FFFFFF"/>
          </a:solidFill>
          <a:ln>
            <a:solidFill>
              <a:srgbClr val="000000"/>
            </a:solidFill>
            <a:miter lim="800000"/>
          </a:ln>
        </p:spPr>
        <p:txBody>
          <a:bodyPr/>
          <a:lstStyle/>
          <a:p>
            <a:pPr eaLnBrk="1" hangingPunct="1"/>
            <a:r>
              <a:rPr lang="zh-CN" altLang="en-US">
                <a:ea typeface="宋体" panose="02010600030101010101" pitchFamily="2" charset="-122"/>
              </a:rPr>
              <a:t>重庆大学</a:t>
            </a:r>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01C4B7-2712-4B4B-872C-DFA7D5FBE8E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A01C4B7-2712-4B4B-872C-DFA7D5FBE8E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62476" y="571857"/>
            <a:ext cx="7619048" cy="5714286"/>
          </a:xfrm>
          <a:prstGeom prst="rect">
            <a:avLst/>
          </a:prstGeom>
        </p:spPr>
      </p:pic>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8" name="图片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87424"/>
            <a:ext cx="9144000" cy="65527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5.png"/><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0.png"/><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7.png"/><Relationship Id="rId1" Type="http://schemas.openxmlformats.org/officeDocument/2006/relationships/image" Target="../media/image6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72.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0" Type="http://schemas.openxmlformats.org/officeDocument/2006/relationships/slideLayout" Target="../slideLayouts/slideLayout2.xml"/><Relationship Id="rId1" Type="http://schemas.openxmlformats.org/officeDocument/2006/relationships/image" Target="../media/image81.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png"/><Relationship Id="rId1" Type="http://schemas.openxmlformats.org/officeDocument/2006/relationships/image" Target="../media/image94.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image" Target="../media/image107.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1.png"/><Relationship Id="rId1" Type="http://schemas.openxmlformats.org/officeDocument/2006/relationships/image" Target="../media/image110.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_rels/slide8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image" Target="../media/image115.png"/></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wmf"/><Relationship Id="rId3" Type="http://schemas.openxmlformats.org/officeDocument/2006/relationships/oleObject" Target="../embeddings/oleObject3.bin"/><Relationship Id="rId2" Type="http://schemas.openxmlformats.org/officeDocument/2006/relationships/image" Target="../media/image121.wmf"/><Relationship Id="rId1" Type="http://schemas.openxmlformats.org/officeDocument/2006/relationships/oleObject" Target="../embeddings/oleObject2.bin"/></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9.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33.wmf"/><Relationship Id="rId7" Type="http://schemas.openxmlformats.org/officeDocument/2006/relationships/oleObject" Target="../embeddings/oleObject7.bin"/><Relationship Id="rId6" Type="http://schemas.openxmlformats.org/officeDocument/2006/relationships/image" Target="../media/image132.wmf"/><Relationship Id="rId5" Type="http://schemas.openxmlformats.org/officeDocument/2006/relationships/oleObject" Target="../embeddings/oleObject6.bin"/><Relationship Id="rId4" Type="http://schemas.openxmlformats.org/officeDocument/2006/relationships/image" Target="../media/image131.wmf"/><Relationship Id="rId3" Type="http://schemas.openxmlformats.org/officeDocument/2006/relationships/oleObject" Target="../embeddings/oleObject5.bin"/><Relationship Id="rId20" Type="http://schemas.openxmlformats.org/officeDocument/2006/relationships/vmlDrawing" Target="../drawings/vmlDrawing3.vml"/><Relationship Id="rId2" Type="http://schemas.openxmlformats.org/officeDocument/2006/relationships/image" Target="../media/image130.wmf"/><Relationship Id="rId19" Type="http://schemas.openxmlformats.org/officeDocument/2006/relationships/slideLayout" Target="../slideLayouts/slideLayout2.xml"/><Relationship Id="rId18" Type="http://schemas.openxmlformats.org/officeDocument/2006/relationships/image" Target="../media/image139.png"/><Relationship Id="rId17" Type="http://schemas.openxmlformats.org/officeDocument/2006/relationships/image" Target="../media/image138.png"/><Relationship Id="rId16" Type="http://schemas.openxmlformats.org/officeDocument/2006/relationships/image" Target="../media/image137.png"/><Relationship Id="rId15" Type="http://schemas.openxmlformats.org/officeDocument/2006/relationships/oleObject" Target="../embeddings/oleObject11.bin"/><Relationship Id="rId14" Type="http://schemas.openxmlformats.org/officeDocument/2006/relationships/image" Target="../media/image136.wmf"/><Relationship Id="rId13" Type="http://schemas.openxmlformats.org/officeDocument/2006/relationships/oleObject" Target="../embeddings/oleObject10.bin"/><Relationship Id="rId12" Type="http://schemas.openxmlformats.org/officeDocument/2006/relationships/image" Target="../media/image135.wmf"/><Relationship Id="rId11" Type="http://schemas.openxmlformats.org/officeDocument/2006/relationships/oleObject" Target="../embeddings/oleObject9.bin"/><Relationship Id="rId10" Type="http://schemas.openxmlformats.org/officeDocument/2006/relationships/image" Target="../media/image134.png"/><Relationship Id="rId1" Type="http://schemas.openxmlformats.org/officeDocument/2006/relationships/oleObject" Target="../embeddings/oleObject4.bin"/></Relationships>
</file>

<file path=ppt/slides/_rels/slide9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40.png"/></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6.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5E464A9-7234-46D5-84B6-8E871538E384}" type="slidenum">
              <a:rPr lang="en-US" altLang="zh-CN"/>
            </a:fld>
            <a:endParaRPr lang="en-US" altLang="zh-CN"/>
          </a:p>
        </p:txBody>
      </p:sp>
      <p:sp>
        <p:nvSpPr>
          <p:cNvPr id="3076" name="Rectangle 19"/>
          <p:cNvSpPr>
            <a:spLocks noGrp="1" noChangeArrowheads="1"/>
          </p:cNvSpPr>
          <p:nvPr>
            <p:ph type="title"/>
          </p:nvPr>
        </p:nvSpPr>
        <p:spPr>
          <a:xfrm>
            <a:off x="684213" y="836613"/>
            <a:ext cx="7772400" cy="1800225"/>
          </a:xfrm>
        </p:spPr>
        <p:txBody>
          <a:bodyPr/>
          <a:lstStyle/>
          <a:p>
            <a:pPr eaLnBrk="1" hangingPunct="1"/>
            <a:r>
              <a:rPr lang="zh-CN" altLang="en-US" b="1" dirty="0">
                <a:solidFill>
                  <a:srgbClr val="00B050"/>
                </a:solidFill>
              </a:rPr>
              <a:t>机器学习</a:t>
            </a:r>
            <a:br>
              <a:rPr lang="zh-CN" altLang="en-US" b="1" dirty="0">
                <a:solidFill>
                  <a:srgbClr val="00B050"/>
                </a:solidFill>
              </a:rPr>
            </a:br>
            <a:br>
              <a:rPr lang="zh-CN" altLang="en-US" sz="2000" b="1" dirty="0">
                <a:solidFill>
                  <a:srgbClr val="00B050"/>
                </a:solidFill>
              </a:rPr>
            </a:br>
            <a:r>
              <a:rPr lang="en-US" altLang="zh-CN" b="1" dirty="0">
                <a:solidFill>
                  <a:srgbClr val="00B050"/>
                </a:solidFill>
              </a:rPr>
              <a:t>Machine Learning</a:t>
            </a:r>
            <a:endParaRPr lang="en-US" altLang="zh-CN" b="1" dirty="0">
              <a:solidFill>
                <a:srgbClr val="00B050"/>
              </a:solidFill>
            </a:endParaRPr>
          </a:p>
        </p:txBody>
      </p:sp>
      <p:sp>
        <p:nvSpPr>
          <p:cNvPr id="94230" name="Rectangle 22"/>
          <p:cNvSpPr>
            <a:spLocks noChangeArrowheads="1"/>
          </p:cNvSpPr>
          <p:nvPr/>
        </p:nvSpPr>
        <p:spPr bwMode="auto">
          <a:xfrm>
            <a:off x="685800" y="3211513"/>
            <a:ext cx="7772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lnSpc>
                <a:spcPct val="90000"/>
              </a:lnSpc>
              <a:spcBef>
                <a:spcPct val="20000"/>
              </a:spcBef>
            </a:pPr>
            <a:r>
              <a:rPr kumimoji="1" lang="zh-CN" altLang="en-US" sz="4400" b="1" dirty="0">
                <a:latin typeface="幼圆" panose="02010509060101010101" pitchFamily="49" charset="-122"/>
                <a:ea typeface="幼圆" panose="02010509060101010101" pitchFamily="49" charset="-122"/>
              </a:rPr>
              <a:t>第</a:t>
            </a:r>
            <a:r>
              <a:rPr kumimoji="1" lang="en-US" altLang="zh-CN" sz="4400" b="1" dirty="0">
                <a:latin typeface="幼圆" panose="02010509060101010101" pitchFamily="49" charset="-122"/>
                <a:ea typeface="幼圆" panose="02010509060101010101" pitchFamily="49" charset="-122"/>
              </a:rPr>
              <a:t>2</a:t>
            </a:r>
            <a:r>
              <a:rPr kumimoji="1" lang="zh-CN" altLang="en-US" sz="4400" b="1" dirty="0">
                <a:latin typeface="幼圆" panose="02010509060101010101" pitchFamily="49" charset="-122"/>
                <a:ea typeface="幼圆" panose="02010509060101010101" pitchFamily="49" charset="-122"/>
              </a:rPr>
              <a:t>章</a:t>
            </a:r>
            <a:r>
              <a:rPr kumimoji="1" lang="en-US" altLang="zh-CN" sz="4400" b="1" dirty="0">
                <a:latin typeface="幼圆" panose="02010509060101010101" pitchFamily="49" charset="-122"/>
                <a:ea typeface="幼圆" panose="02010509060101010101" pitchFamily="49" charset="-122"/>
              </a:rPr>
              <a:t>	</a:t>
            </a:r>
            <a:r>
              <a:rPr kumimoji="1" lang="zh-CN" altLang="en-US" sz="4400" b="1" dirty="0">
                <a:latin typeface="幼圆" panose="02010509060101010101" pitchFamily="49" charset="-122"/>
                <a:ea typeface="幼圆" panose="02010509060101010101" pitchFamily="49" charset="-122"/>
              </a:rPr>
              <a:t>模型评估与选择</a:t>
            </a:r>
            <a:endParaRPr kumimoji="1" lang="zh-CN" altLang="en-US" sz="4400" b="1" dirty="0">
              <a:latin typeface="幼圆" panose="02010509060101010101" pitchFamily="49" charset="-122"/>
              <a:ea typeface="幼圆" panose="02010509060101010101" pitchFamily="49" charset="-122"/>
            </a:endParaRPr>
          </a:p>
          <a:p>
            <a:pPr marL="342900" indent="-342900" algn="ctr" eaLnBrk="1" hangingPunct="1">
              <a:lnSpc>
                <a:spcPct val="90000"/>
              </a:lnSpc>
              <a:spcBef>
                <a:spcPct val="20000"/>
              </a:spcBef>
            </a:pPr>
            <a:endParaRPr kumimoji="1" lang="zh-CN" altLang="en-US" sz="4400" dirty="0">
              <a:latin typeface="幼圆" panose="02010509060101010101" pitchFamily="49" charset="-122"/>
              <a:ea typeface="幼圆" panose="02010509060101010101" pitchFamily="49" charset="-122"/>
            </a:endParaRPr>
          </a:p>
        </p:txBody>
      </p:sp>
      <p:sp>
        <p:nvSpPr>
          <p:cNvPr id="3078" name="Text Box 24"/>
          <p:cNvSpPr txBox="1">
            <a:spLocks noChangeArrowheads="1"/>
          </p:cNvSpPr>
          <p:nvPr/>
        </p:nvSpPr>
        <p:spPr bwMode="auto">
          <a:xfrm>
            <a:off x="2339752" y="4645909"/>
            <a:ext cx="4895775" cy="523220"/>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GB" sz="2800" b="1" dirty="0">
                <a:latin typeface="楷体_GB2312" pitchFamily="49" charset="-122"/>
                <a:ea typeface="楷体_GB2312" pitchFamily="49" charset="-122"/>
              </a:rPr>
              <a:t>重庆大学计算机学院</a:t>
            </a:r>
            <a:endParaRPr kumimoji="1" lang="en-US" altLang="zh-CN"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大 纲</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solidFill>
                  <a:srgbClr val="0000FF"/>
                </a:solidFill>
                <a:latin typeface="幼圆" panose="02010509060101010101" pitchFamily="49" charset="-122"/>
                <a:ea typeface="幼圆" panose="02010509060101010101" pitchFamily="49" charset="-122"/>
              </a:rPr>
              <a:t>经验误差与过拟合</a:t>
            </a:r>
            <a:endParaRPr lang="en-US" altLang="zh-CN" sz="2400" b="1" dirty="0">
              <a:solidFill>
                <a:srgbClr val="0000FF"/>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原则</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评估方法</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方法</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性能度量</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指标</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比较检验</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性能比较</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偏差与方差</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 </a:t>
            </a:r>
            <a:r>
              <a:rPr lang="zh-CN" altLang="en-US" sz="2000" b="1" dirty="0">
                <a:latin typeface="幼圆" panose="02010509060101010101" pitchFamily="49" charset="-122"/>
                <a:ea typeface="幼圆" panose="02010509060101010101" pitchFamily="49" charset="-122"/>
              </a:rPr>
              <a:t>性能解释</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阅读材料</a:t>
            </a:r>
            <a:endParaRPr lang="zh-CN" altLang="en-US" sz="2400" b="1" dirty="0">
              <a:latin typeface="幼圆" panose="02010509060101010101" pitchFamily="49" charset="-122"/>
              <a:ea typeface="幼圆" panose="020105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5192" y="389163"/>
            <a:ext cx="8229600" cy="1143000"/>
          </a:xfrm>
        </p:spPr>
        <p:txBody>
          <a:bodyPr/>
          <a:lstStyle/>
          <a:p>
            <a:r>
              <a:rPr lang="zh-CN" altLang="en-US" b="1" dirty="0">
                <a:latin typeface="幼圆" panose="02010509060101010101" pitchFamily="49" charset="-122"/>
                <a:ea typeface="幼圆" panose="02010509060101010101" pitchFamily="49" charset="-122"/>
              </a:rPr>
              <a:t>经验误差与过拟合</a:t>
            </a:r>
            <a:endParaRPr lang="zh-CN" altLang="en-US" b="1" dirty="0">
              <a:latin typeface="幼圆" panose="02010509060101010101" pitchFamily="49" charset="-122"/>
              <a:ea typeface="幼圆" panose="02010509060101010101" pitchFamily="49" charset="-122"/>
            </a:endParaRPr>
          </a:p>
        </p:txBody>
      </p:sp>
      <p:sp>
        <p:nvSpPr>
          <p:cNvPr id="7" name="内容占位符 2"/>
          <p:cNvSpPr>
            <a:spLocks noGrp="1"/>
          </p:cNvSpPr>
          <p:nvPr>
            <p:ph idx="1"/>
          </p:nvPr>
        </p:nvSpPr>
        <p:spPr>
          <a:xfrm>
            <a:off x="457200" y="1773573"/>
            <a:ext cx="8616950" cy="2026824"/>
          </a:xfrm>
        </p:spPr>
        <p:txBody>
          <a:bodyPr>
            <a:normAutofit fontScale="77500" lnSpcReduction="20000"/>
          </a:bodyPr>
          <a:lstStyle/>
          <a:p>
            <a:pPr>
              <a:buClr>
                <a:srgbClr val="00B050"/>
              </a:buClr>
              <a:buFont typeface="Wingdings" panose="05000000000000000000" pitchFamily="2" charset="2"/>
              <a:buChar char="p"/>
            </a:pPr>
            <a:r>
              <a:rPr lang="zh-CN" altLang="en-US" b="1" dirty="0">
                <a:solidFill>
                  <a:srgbClr val="023A91"/>
                </a:solidFill>
                <a:latin typeface="幼圆" panose="02010509060101010101" pitchFamily="49" charset="-122"/>
                <a:ea typeface="幼圆" panose="02010509060101010101" pitchFamily="49" charset="-122"/>
              </a:rPr>
              <a:t>错误率</a:t>
            </a:r>
            <a:r>
              <a:rPr lang="en-US" altLang="zh-CN" b="1" dirty="0">
                <a:solidFill>
                  <a:srgbClr val="023A91"/>
                </a:solidFill>
                <a:latin typeface="幼圆" panose="02010509060101010101" pitchFamily="49" charset="-122"/>
                <a:ea typeface="幼圆" panose="02010509060101010101" pitchFamily="49" charset="-122"/>
              </a:rPr>
              <a:t>&amp;</a:t>
            </a:r>
            <a:r>
              <a:rPr lang="zh-CN" altLang="en-US" b="1" dirty="0">
                <a:solidFill>
                  <a:srgbClr val="023A91"/>
                </a:solidFill>
                <a:latin typeface="幼圆" panose="02010509060101010101" pitchFamily="49" charset="-122"/>
                <a:ea typeface="幼圆" panose="02010509060101010101" pitchFamily="49" charset="-122"/>
              </a:rPr>
              <a:t>误差：</a:t>
            </a:r>
            <a:endParaRPr lang="en-US" altLang="zh-CN" b="1" dirty="0">
              <a:solidFill>
                <a:srgbClr val="023A91"/>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错误率</a:t>
            </a:r>
            <a:r>
              <a:rPr lang="en-US" altLang="zh-CN" b="1" dirty="0">
                <a:latin typeface="幼圆" panose="02010509060101010101" pitchFamily="49" charset="-122"/>
                <a:ea typeface="幼圆" panose="02010509060101010101" pitchFamily="49" charset="-122"/>
              </a:rPr>
              <a:t>: </a:t>
            </a:r>
            <a:r>
              <a:rPr lang="zh-CN" altLang="en-US" b="1" dirty="0">
                <a:latin typeface="幼圆" panose="02010509060101010101" pitchFamily="49" charset="-122"/>
                <a:ea typeface="幼圆" panose="02010509060101010101" pitchFamily="49" charset="-122"/>
              </a:rPr>
              <a:t>错分样本的占比：</a:t>
            </a:r>
            <a:endParaRPr lang="en-US" altLang="zh-CN"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误差：样本真实输出与预测输出之间的差异</a:t>
            </a:r>
            <a:endParaRPr lang="en-US" altLang="zh-CN"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训练</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经验</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误差：训练集上</a:t>
            </a:r>
            <a:endParaRPr lang="en-US" altLang="zh-CN"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测试误差：测试集</a:t>
            </a:r>
            <a:endParaRPr lang="en-US" altLang="zh-CN"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泛化误差：除训练集外所有样本</a:t>
            </a:r>
            <a:endParaRPr lang="en-US" altLang="zh-CN" b="1" dirty="0">
              <a:latin typeface="幼圆" panose="02010509060101010101" pitchFamily="49" charset="-122"/>
              <a:ea typeface="幼圆" panose="02010509060101010101" pitchFamily="49" charset="-122"/>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9992" y="2209765"/>
            <a:ext cx="1104900" cy="28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838059" y="4156332"/>
            <a:ext cx="6890499" cy="143290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t>由于事先并不知道新样本的特征，我们只能努力使经验误差最小化；</a:t>
            </a:r>
            <a:endParaRPr lang="en-US" altLang="zh-CN" b="1" dirty="0"/>
          </a:p>
          <a:p>
            <a:pPr marL="800100" lvl="1" indent="-342900">
              <a:buClr>
                <a:srgbClr val="00B050"/>
              </a:buClr>
              <a:buFont typeface="Wingdings" panose="05000000000000000000" pitchFamily="2" charset="2"/>
              <a:buChar char="p"/>
            </a:pPr>
            <a:r>
              <a:rPr lang="zh-CN" altLang="en-US" b="1" dirty="0"/>
              <a:t>很多时候虽然能在训练集上做到分类错误率为零，但多数情况下这样的学习器并不好</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1000"/>
                                        <p:tgtEl>
                                          <p:spTgt spid="8">
                                            <p:txEl>
                                              <p:pRg st="0" end="0"/>
                                            </p:txEl>
                                          </p:spTgt>
                                        </p:tgtEl>
                                      </p:cBhvr>
                                    </p:animEffect>
                                    <p:anim calcmode="lin" valueType="num">
                                      <p:cBhvr>
                                        <p:cTn id="30"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1" end="1"/>
                                            </p:txEl>
                                          </p:spTgt>
                                        </p:tgtEl>
                                        <p:attrNameLst>
                                          <p:attrName>style.visibility</p:attrName>
                                        </p:attrNameLst>
                                      </p:cBhvr>
                                      <p:to>
                                        <p:strVal val="visible"/>
                                      </p:to>
                                    </p:set>
                                    <p:animEffect transition="in" filter="fade">
                                      <p:cBhvr>
                                        <p:cTn id="36" dur="1000"/>
                                        <p:tgtEl>
                                          <p:spTgt spid="8">
                                            <p:txEl>
                                              <p:pRg st="1" end="1"/>
                                            </p:txEl>
                                          </p:spTgt>
                                        </p:tgtEl>
                                      </p:cBhvr>
                                    </p:animEffect>
                                    <p:anim calcmode="lin" valueType="num">
                                      <p:cBhvr>
                                        <p:cTn id="37"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29600" cy="1143000"/>
          </a:xfrm>
        </p:spPr>
        <p:txBody>
          <a:bodyPr/>
          <a:lstStyle/>
          <a:p>
            <a:r>
              <a:rPr lang="zh-CN" altLang="en-US" b="1" dirty="0">
                <a:latin typeface="幼圆" panose="02010509060101010101" pitchFamily="49" charset="-122"/>
                <a:ea typeface="幼圆" panose="02010509060101010101" pitchFamily="49" charset="-122"/>
              </a:rPr>
              <a:t>经验误差与过拟合</a:t>
            </a:r>
            <a:endParaRPr lang="zh-CN" altLang="en-US" b="1" dirty="0">
              <a:latin typeface="幼圆" panose="02010509060101010101" pitchFamily="49" charset="-122"/>
              <a:ea typeface="幼圆" panose="02010509060101010101" pitchFamily="49" charset="-122"/>
            </a:endParaRPr>
          </a:p>
        </p:txBody>
      </p:sp>
      <p:sp>
        <p:nvSpPr>
          <p:cNvPr id="7" name="内容占位符 2"/>
          <p:cNvSpPr>
            <a:spLocks noGrp="1"/>
          </p:cNvSpPr>
          <p:nvPr>
            <p:ph idx="1"/>
          </p:nvPr>
        </p:nvSpPr>
        <p:spPr>
          <a:xfrm>
            <a:off x="557881" y="1700808"/>
            <a:ext cx="8616950" cy="3978276"/>
          </a:xfrm>
        </p:spPr>
        <p:txBody>
          <a:bodyPr>
            <a:normAutofit/>
          </a:bodyPr>
          <a:lstStyle/>
          <a:p>
            <a:pPr>
              <a:buClr>
                <a:srgbClr val="00B050"/>
              </a:buClr>
              <a:buFont typeface="Wingdings" panose="05000000000000000000" pitchFamily="2" charset="2"/>
              <a:buChar char="p"/>
            </a:pPr>
            <a:r>
              <a:rPr lang="zh-CN" altLang="en-US" sz="2400" b="1" dirty="0">
                <a:solidFill>
                  <a:srgbClr val="023A91"/>
                </a:solidFill>
                <a:latin typeface="幼圆" panose="02010509060101010101" pitchFamily="49" charset="-122"/>
                <a:ea typeface="幼圆" panose="02010509060101010101" pitchFamily="49" charset="-122"/>
              </a:rPr>
              <a:t>过拟合</a:t>
            </a:r>
            <a:r>
              <a:rPr lang="en-US" altLang="zh-CN" b="1" dirty="0">
                <a:solidFill>
                  <a:srgbClr val="023A91"/>
                </a:solidFill>
                <a:latin typeface="幼圆" panose="02010509060101010101" pitchFamily="49" charset="-122"/>
                <a:ea typeface="幼圆" panose="02010509060101010101" pitchFamily="49" charset="-122"/>
              </a:rPr>
              <a:t>:</a:t>
            </a:r>
            <a:endParaRPr lang="en-US" altLang="zh-CN" b="1" dirty="0">
              <a:solidFill>
                <a:srgbClr val="023A91"/>
              </a:solidFill>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学习器把训练样本学习的“太好”，将训练样本本身的特点当做所有样本的一般性质，导致泛化性能下降</a:t>
            </a:r>
            <a:endParaRPr lang="en-US" altLang="zh-CN" sz="2000"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优化目标加正则项</a:t>
            </a:r>
            <a:endParaRPr lang="en-US" altLang="zh-CN" sz="2000"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en-US" altLang="zh-CN" sz="2000" b="1" dirty="0">
                <a:latin typeface="幼圆" panose="02010509060101010101" pitchFamily="49" charset="-122"/>
                <a:ea typeface="幼圆" panose="02010509060101010101" pitchFamily="49" charset="-122"/>
              </a:rPr>
              <a:t>early stop</a:t>
            </a:r>
            <a:endParaRPr lang="en-US" altLang="zh-CN" sz="2000" b="1" dirty="0">
              <a:solidFill>
                <a:srgbClr val="023A91"/>
              </a:solidFill>
              <a:latin typeface="幼圆" panose="02010509060101010101" pitchFamily="49" charset="-122"/>
              <a:ea typeface="幼圆" panose="02010509060101010101" pitchFamily="49" charset="-122"/>
            </a:endParaRPr>
          </a:p>
          <a:p>
            <a:pPr>
              <a:buClr>
                <a:srgbClr val="00B050"/>
              </a:buClr>
              <a:buFont typeface="Wingdings" panose="05000000000000000000" pitchFamily="2" charset="2"/>
              <a:buChar char="p"/>
            </a:pPr>
            <a:r>
              <a:rPr lang="zh-CN" altLang="en-US" sz="2400" b="1" dirty="0">
                <a:solidFill>
                  <a:srgbClr val="023A91"/>
                </a:solidFill>
                <a:latin typeface="幼圆" panose="02010509060101010101" pitchFamily="49" charset="-122"/>
                <a:ea typeface="幼圆" panose="02010509060101010101" pitchFamily="49" charset="-122"/>
              </a:rPr>
              <a:t>欠拟合</a:t>
            </a:r>
            <a:r>
              <a:rPr lang="zh-CN" altLang="en-US" b="1" dirty="0">
                <a:solidFill>
                  <a:srgbClr val="023A91"/>
                </a:solidFill>
                <a:latin typeface="幼圆" panose="02010509060101010101" pitchFamily="49" charset="-122"/>
                <a:ea typeface="幼圆" panose="02010509060101010101" pitchFamily="49" charset="-122"/>
              </a:rPr>
              <a:t>：</a:t>
            </a:r>
            <a:endParaRPr lang="en-US" altLang="zh-CN" b="1" dirty="0">
              <a:solidFill>
                <a:srgbClr val="023A91"/>
              </a:solidFill>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对训练样本的一般性质尚未学好</a:t>
            </a:r>
            <a:endParaRPr lang="en-US" altLang="zh-CN" sz="2000"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决策树</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拓展分支</a:t>
            </a:r>
            <a:endParaRPr lang="en-US" altLang="zh-CN" sz="2000"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神经网络</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增加训练轮数</a:t>
            </a:r>
            <a:endParaRPr lang="zh-CN" altLang="en-US" sz="2000" b="1" dirty="0">
              <a:latin typeface="幼圆" panose="02010509060101010101" pitchFamily="49" charset="-122"/>
              <a:ea typeface="幼圆" panose="02010509060101010101" pitchFamily="49" charset="-122"/>
            </a:endParaRPr>
          </a:p>
          <a:p>
            <a:pPr lvl="1">
              <a:lnSpc>
                <a:spcPct val="1100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1000"/>
                                        <p:tgtEl>
                                          <p:spTgt spid="7">
                                            <p:txEl>
                                              <p:pRg st="4" end="4"/>
                                            </p:txEl>
                                          </p:spTgt>
                                        </p:tgtEl>
                                      </p:cBhvr>
                                    </p:animEffect>
                                    <p:anim calcmode="lin" valueType="num">
                                      <p:cBhvr>
                                        <p:cTn id="2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1000"/>
                                        <p:tgtEl>
                                          <p:spTgt spid="7">
                                            <p:txEl>
                                              <p:pRg st="5" end="5"/>
                                            </p:txEl>
                                          </p:spTgt>
                                        </p:tgtEl>
                                      </p:cBhvr>
                                    </p:animEffect>
                                    <p:anim calcmode="lin" valueType="num">
                                      <p:cBhvr>
                                        <p:cTn id="2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fade">
                                      <p:cBhvr>
                                        <p:cTn id="31" dur="1000"/>
                                        <p:tgtEl>
                                          <p:spTgt spid="7">
                                            <p:txEl>
                                              <p:pRg st="6" end="6"/>
                                            </p:txEl>
                                          </p:spTgt>
                                        </p:tgtEl>
                                      </p:cBhvr>
                                    </p:animEffect>
                                    <p:anim calcmode="lin" valueType="num">
                                      <p:cBhvr>
                                        <p:cTn id="3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1000"/>
                                        <p:tgtEl>
                                          <p:spTgt spid="7">
                                            <p:txEl>
                                              <p:pRg st="7" end="7"/>
                                            </p:txEl>
                                          </p:spTgt>
                                        </p:tgtEl>
                                      </p:cBhvr>
                                    </p:animEffect>
                                    <p:anim calcmode="lin" valueType="num">
                                      <p:cBhvr>
                                        <p:cTn id="3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13792"/>
            <a:ext cx="8229600" cy="1143000"/>
          </a:xfrm>
        </p:spPr>
        <p:txBody>
          <a:bodyPr/>
          <a:lstStyle/>
          <a:p>
            <a:r>
              <a:rPr lang="zh-CN" altLang="en-US" b="1" dirty="0">
                <a:latin typeface="幼圆" panose="02010509060101010101" pitchFamily="49" charset="-122"/>
                <a:ea typeface="幼圆" panose="02010509060101010101" pitchFamily="49" charset="-122"/>
              </a:rPr>
              <a:t>经验误差与过拟合</a:t>
            </a:r>
            <a:endParaRPr lang="zh-CN" altLang="en-US" b="1" dirty="0">
              <a:latin typeface="幼圆" panose="02010509060101010101" pitchFamily="49" charset="-122"/>
              <a:ea typeface="幼圆" panose="02010509060101010101" pitchFamily="49" charset="-122"/>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664" y="1916832"/>
            <a:ext cx="6120680" cy="3696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9"/>
          <p:cNvSpPr>
            <a:spLocks noGrp="1"/>
          </p:cNvSpPr>
          <p:nvPr>
            <p:ph sz="half" idx="2"/>
          </p:nvPr>
        </p:nvSpPr>
        <p:spPr>
          <a:xfrm>
            <a:off x="755577" y="764704"/>
            <a:ext cx="7848872" cy="3726656"/>
          </a:xfrm>
        </p:spPr>
        <p:txBody>
          <a:bodyPr vert="horz" lIns="91440" tIns="45720" rIns="91440" bIns="45720" rtlCol="0">
            <a:normAutofit/>
          </a:bodyPr>
          <a:lstStyle/>
          <a:p>
            <a:pPr>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过拟合</a:t>
            </a:r>
            <a:r>
              <a:rPr lang="zh-CN"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模型在训练集模型表现良好，但是在测试集较差。具体表现在训练集为追求好的效果（经验损失小，准确率高等</a:t>
            </a:r>
            <a:r>
              <a:rPr lang="en-US" altLang="zh-CN" sz="2000" b="1" dirty="0">
                <a:latin typeface="幼圆" panose="02010509060101010101" pitchFamily="49" charset="-122"/>
                <a:ea typeface="幼圆" panose="02010509060101010101" pitchFamily="49" charset="-122"/>
              </a:rPr>
              <a:t>)</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模型建立的过于复杂，能够很好反映已知数据，但泛化能力太差。即</a:t>
            </a:r>
            <a:r>
              <a:rPr lang="en-US" altLang="zh-CN" sz="2000" b="1" dirty="0" err="1">
                <a:latin typeface="幼圆" panose="02010509060101010101" pitchFamily="49" charset="-122"/>
                <a:ea typeface="幼圆" panose="02010509060101010101" pitchFamily="49" charset="-122"/>
              </a:rPr>
              <a:t>empirical</a:t>
            </a:r>
            <a:r>
              <a:rPr lang="en-US" altLang="zh-CN" sz="2000" b="1" dirty="0">
                <a:latin typeface="幼圆" panose="02010509060101010101" pitchFamily="49" charset="-122"/>
                <a:ea typeface="幼圆" panose="02010509060101010101" pitchFamily="49" charset="-122"/>
              </a:rPr>
              <a:t> </a:t>
            </a:r>
            <a:r>
              <a:rPr lang="en-US" altLang="zh-CN" sz="2000" b="1" dirty="0" err="1">
                <a:latin typeface="幼圆" panose="02010509060101010101" pitchFamily="49" charset="-122"/>
                <a:ea typeface="幼圆" panose="02010509060101010101" pitchFamily="49" charset="-122"/>
              </a:rPr>
              <a:t>loss</a:t>
            </a:r>
            <a:r>
              <a:rPr altLang="en-US" sz="2000" b="1" dirty="0" err="1">
                <a:latin typeface="幼圆" panose="02010509060101010101" pitchFamily="49" charset="-122"/>
                <a:ea typeface="幼圆" panose="02010509060101010101" pitchFamily="49" charset="-122"/>
              </a:rPr>
              <a:t>比较小，而</a:t>
            </a:r>
            <a:r>
              <a:rPr lang="en-US" altLang="zh-CN" sz="2000" b="1" dirty="0" err="1">
                <a:latin typeface="幼圆" panose="02010509060101010101" pitchFamily="49" charset="-122"/>
                <a:ea typeface="幼圆" panose="02010509060101010101" pitchFamily="49" charset="-122"/>
              </a:rPr>
              <a:t>Generalized</a:t>
            </a:r>
            <a:r>
              <a:rPr lang="en-US" altLang="zh-CN" sz="2000" b="1" dirty="0">
                <a:latin typeface="幼圆" panose="02010509060101010101" pitchFamily="49" charset="-122"/>
                <a:ea typeface="幼圆" panose="02010509060101010101" pitchFamily="49" charset="-122"/>
              </a:rPr>
              <a:t> </a:t>
            </a:r>
            <a:r>
              <a:rPr lang="en-US" altLang="zh-CN" sz="2000" b="1" dirty="0" err="1">
                <a:latin typeface="幼圆" panose="02010509060101010101" pitchFamily="49" charset="-122"/>
                <a:ea typeface="幼圆" panose="02010509060101010101" pitchFamily="49" charset="-122"/>
              </a:rPr>
              <a:t>loss</a:t>
            </a:r>
            <a:r>
              <a:rPr altLang="en-US" sz="2000" b="1" dirty="0" err="1">
                <a:latin typeface="幼圆" panose="02010509060101010101" pitchFamily="49" charset="-122"/>
                <a:ea typeface="幼圆" panose="02010509060101010101" pitchFamily="49" charset="-122"/>
              </a:rPr>
              <a:t>比较大</a:t>
            </a:r>
            <a:r>
              <a:rPr altLang="en-US" sz="2000" b="1" dirty="0">
                <a:latin typeface="幼圆" panose="02010509060101010101" pitchFamily="49" charset="-122"/>
                <a:ea typeface="幼圆" panose="02010509060101010101" pitchFamily="49" charset="-122"/>
              </a:rPr>
              <a:t>。</a:t>
            </a:r>
            <a:endParaRPr altLang="en-US" sz="2000" b="1" dirty="0">
              <a:latin typeface="幼圆" panose="02010509060101010101" pitchFamily="49" charset="-122"/>
              <a:ea typeface="幼圆" panose="02010509060101010101" pitchFamily="49" charset="-122"/>
            </a:endParaRPr>
          </a:p>
        </p:txBody>
      </p:sp>
      <p:pic>
        <p:nvPicPr>
          <p:cNvPr id="1741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1520" y="2204864"/>
            <a:ext cx="8682577"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大 纲</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经验误差与过拟合</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原则</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solidFill>
                  <a:srgbClr val="0000FF"/>
                </a:solidFill>
                <a:latin typeface="幼圆" panose="02010509060101010101" pitchFamily="49" charset="-122"/>
                <a:ea typeface="幼圆" panose="02010509060101010101" pitchFamily="49" charset="-122"/>
              </a:rPr>
              <a:t>评估方法</a:t>
            </a:r>
            <a:endParaRPr lang="en-US" altLang="zh-CN" sz="2400" b="1" dirty="0">
              <a:solidFill>
                <a:srgbClr val="0000FF"/>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方法</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性能度量</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指标</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比较检验</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性能比较</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偏差与方差</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 </a:t>
            </a:r>
            <a:r>
              <a:rPr lang="zh-CN" altLang="en-US" sz="2000" b="1" dirty="0">
                <a:latin typeface="幼圆" panose="02010509060101010101" pitchFamily="49" charset="-122"/>
                <a:ea typeface="幼圆" panose="02010509060101010101" pitchFamily="49" charset="-122"/>
              </a:rPr>
              <a:t>性能解释</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阅读材料</a:t>
            </a:r>
            <a:endParaRPr lang="zh-CN" altLang="en-US" sz="2400" b="1" dirty="0">
              <a:latin typeface="幼圆" panose="02010509060101010101" pitchFamily="49" charset="-122"/>
              <a:ea typeface="幼圆" panose="020105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76672"/>
            <a:ext cx="8229600" cy="1143000"/>
          </a:xfrm>
        </p:spPr>
        <p:txBody>
          <a:bodyPr/>
          <a:lstStyle/>
          <a:p>
            <a:r>
              <a:rPr lang="zh-CN" altLang="en-US" b="1" dirty="0">
                <a:latin typeface="幼圆" panose="02010509060101010101" pitchFamily="49" charset="-122"/>
                <a:ea typeface="幼圆" panose="02010509060101010101" pitchFamily="49" charset="-122"/>
              </a:rPr>
              <a:t>评估方法</a:t>
            </a:r>
            <a:endParaRPr lang="zh-CN" altLang="en-US" b="1" dirty="0">
              <a:latin typeface="幼圆" panose="02010509060101010101" pitchFamily="49" charset="-122"/>
              <a:ea typeface="幼圆" panose="02010509060101010101" pitchFamily="49" charset="-122"/>
            </a:endParaRPr>
          </a:p>
        </p:txBody>
      </p:sp>
      <p:sp>
        <p:nvSpPr>
          <p:cNvPr id="8" name="内容占位符 2"/>
          <p:cNvSpPr txBox="1"/>
          <p:nvPr/>
        </p:nvSpPr>
        <p:spPr>
          <a:xfrm>
            <a:off x="700274" y="1738263"/>
            <a:ext cx="7853374" cy="1509461"/>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zh-CN" altLang="en-US" b="1" dirty="0"/>
              <a:t>现实任务中往往会对学习器的</a:t>
            </a:r>
            <a:r>
              <a:rPr lang="zh-CN" altLang="en-US" b="1" dirty="0">
                <a:solidFill>
                  <a:srgbClr val="0000FF"/>
                </a:solidFill>
              </a:rPr>
              <a:t>泛化性能、时间开销、存储开销、可解释性</a:t>
            </a:r>
            <a:r>
              <a:rPr lang="zh-CN" altLang="en-US" b="1" dirty="0"/>
              <a:t>等方面的因素进行评估并做出选择</a:t>
            </a:r>
            <a:endParaRPr lang="zh-CN" altLang="en-US" b="1" dirty="0"/>
          </a:p>
        </p:txBody>
      </p:sp>
      <p:sp>
        <p:nvSpPr>
          <p:cNvPr id="9" name="内容占位符 2"/>
          <p:cNvSpPr txBox="1"/>
          <p:nvPr/>
        </p:nvSpPr>
        <p:spPr>
          <a:xfrm>
            <a:off x="751074" y="3290232"/>
            <a:ext cx="7853374" cy="19389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zh-CN" altLang="en-US" b="1" dirty="0"/>
              <a:t>假设</a:t>
            </a:r>
            <a:r>
              <a:rPr lang="zh-CN" altLang="en-US" b="1" dirty="0">
                <a:solidFill>
                  <a:srgbClr val="0000FF"/>
                </a:solidFill>
              </a:rPr>
              <a:t>测试集</a:t>
            </a:r>
            <a:r>
              <a:rPr lang="zh-CN" altLang="en-US" b="1" dirty="0"/>
              <a:t>是从样本真实分布中</a:t>
            </a:r>
            <a:r>
              <a:rPr lang="zh-CN" altLang="en-US" b="1" dirty="0">
                <a:solidFill>
                  <a:srgbClr val="0000FF"/>
                </a:solidFill>
              </a:rPr>
              <a:t>独立</a:t>
            </a:r>
            <a:r>
              <a:rPr lang="zh-CN" altLang="en-US" b="1" dirty="0"/>
              <a:t>采样获得，将测试集上的“测试误差”作为</a:t>
            </a:r>
            <a:r>
              <a:rPr lang="zh-CN" altLang="en-US" b="1" dirty="0">
                <a:solidFill>
                  <a:srgbClr val="0000FF"/>
                </a:solidFill>
              </a:rPr>
              <a:t>泛化误差</a:t>
            </a:r>
            <a:r>
              <a:rPr lang="zh-CN" altLang="en-US" b="1" dirty="0"/>
              <a:t>的</a:t>
            </a:r>
            <a:r>
              <a:rPr lang="zh-CN" altLang="en-US" b="1" dirty="0">
                <a:solidFill>
                  <a:srgbClr val="0000FF"/>
                </a:solidFill>
              </a:rPr>
              <a:t>近似</a:t>
            </a:r>
            <a:r>
              <a:rPr lang="zh-CN" altLang="en-US" b="1" dirty="0"/>
              <a:t>，所以测试集要和训练集中的样本尽量</a:t>
            </a:r>
            <a:r>
              <a:rPr lang="zh-CN" altLang="en-US" b="1" dirty="0">
                <a:solidFill>
                  <a:srgbClr val="0000FF"/>
                </a:solidFill>
              </a:rPr>
              <a:t>互斥</a:t>
            </a:r>
            <a:r>
              <a:rPr lang="zh-CN" altLang="en-US" b="1" dirty="0"/>
              <a:t>。</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评估方法</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数据划分</a:t>
            </a:r>
            <a:endParaRPr lang="zh-CN" altLang="en-US" b="1" dirty="0">
              <a:latin typeface="幼圆" panose="02010509060101010101" pitchFamily="49" charset="-122"/>
              <a:ea typeface="幼圆" panose="02010509060101010101" pitchFamily="49" charset="-122"/>
            </a:endParaRPr>
          </a:p>
        </p:txBody>
      </p:sp>
      <p:sp>
        <p:nvSpPr>
          <p:cNvPr id="10" name="内容占位符 2"/>
          <p:cNvSpPr>
            <a:spLocks noGrp="1"/>
          </p:cNvSpPr>
          <p:nvPr>
            <p:ph idx="1"/>
          </p:nvPr>
        </p:nvSpPr>
        <p:spPr>
          <a:xfrm>
            <a:off x="945599" y="1484784"/>
            <a:ext cx="7086668" cy="1800200"/>
          </a:xfrm>
        </p:spPr>
        <p:txBody>
          <a:bodyPr>
            <a:normAutofit fontScale="77500" lnSpcReduction="20000"/>
          </a:bodyPr>
          <a:lstStyle/>
          <a:p>
            <a:pPr>
              <a:buClr>
                <a:srgbClr val="00B050"/>
              </a:buClr>
              <a:buFont typeface="Wingdings" panose="05000000000000000000" pitchFamily="2" charset="2"/>
              <a:buChar char="p"/>
            </a:pPr>
            <a:r>
              <a:rPr lang="zh-CN" altLang="en-US" b="1" dirty="0">
                <a:solidFill>
                  <a:srgbClr val="023A91"/>
                </a:solidFill>
                <a:latin typeface="幼圆" panose="02010509060101010101" pitchFamily="49" charset="-122"/>
                <a:ea typeface="幼圆" panose="02010509060101010101" pitchFamily="49" charset="-122"/>
              </a:rPr>
              <a:t>狭义的：</a:t>
            </a:r>
            <a:endParaRPr lang="en-US" altLang="zh-CN" b="1" dirty="0">
              <a:solidFill>
                <a:srgbClr val="023A91"/>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样例集：训练数据</a:t>
            </a:r>
            <a:endParaRPr lang="en-US" altLang="zh-CN"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划分为两个互斥集合：数据分布的一致性</a:t>
            </a:r>
            <a:endParaRPr lang="en-US" altLang="zh-CN" b="1" dirty="0">
              <a:latin typeface="幼圆" panose="02010509060101010101" pitchFamily="49" charset="-122"/>
              <a:ea typeface="幼圆" panose="02010509060101010101" pitchFamily="49" charset="-122"/>
            </a:endParaRPr>
          </a:p>
          <a:p>
            <a:pPr lvl="3">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训练集</a:t>
            </a:r>
            <a:r>
              <a:rPr lang="en-US" altLang="zh-CN" b="1" dirty="0">
                <a:latin typeface="幼圆" panose="02010509060101010101" pitchFamily="49" charset="-122"/>
                <a:ea typeface="幼圆" panose="02010509060101010101" pitchFamily="49" charset="-122"/>
              </a:rPr>
              <a:t>S</a:t>
            </a:r>
            <a:r>
              <a:rPr lang="zh-CN" altLang="en-US" b="1" dirty="0">
                <a:latin typeface="幼圆" panose="02010509060101010101" pitchFamily="49" charset="-122"/>
                <a:ea typeface="幼圆" panose="02010509060101010101" pitchFamily="49" charset="-122"/>
              </a:rPr>
              <a:t>：训练</a:t>
            </a:r>
            <a:endParaRPr lang="en-US" altLang="zh-CN" b="1" dirty="0">
              <a:latin typeface="幼圆" panose="02010509060101010101" pitchFamily="49" charset="-122"/>
              <a:ea typeface="幼圆" panose="02010509060101010101" pitchFamily="49" charset="-122"/>
            </a:endParaRPr>
          </a:p>
          <a:p>
            <a:pPr lvl="3">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测试集</a:t>
            </a:r>
            <a:r>
              <a:rPr lang="en-US" altLang="zh-CN" b="1" dirty="0">
                <a:latin typeface="幼圆" panose="02010509060101010101" pitchFamily="49" charset="-122"/>
                <a:ea typeface="幼圆" panose="02010509060101010101" pitchFamily="49" charset="-122"/>
              </a:rPr>
              <a:t>T</a:t>
            </a:r>
            <a:r>
              <a:rPr lang="zh-CN" altLang="en-US" b="1" dirty="0">
                <a:latin typeface="幼圆" panose="02010509060101010101" pitchFamily="49" charset="-122"/>
                <a:ea typeface="幼圆" panose="02010509060101010101" pitchFamily="49" charset="-122"/>
              </a:rPr>
              <a:t>：评估</a:t>
            </a:r>
            <a:endParaRPr lang="en-US" altLang="zh-CN" b="1" dirty="0">
              <a:latin typeface="幼圆" panose="02010509060101010101" pitchFamily="49" charset="-122"/>
              <a:ea typeface="幼圆" panose="02010509060101010101" pitchFamily="49" charset="-122"/>
            </a:endParaRPr>
          </a:p>
          <a:p>
            <a:pPr lvl="3">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比例：</a:t>
            </a:r>
            <a:r>
              <a:rPr lang="en-US" altLang="zh-CN" b="1" dirty="0">
                <a:latin typeface="幼圆" panose="02010509060101010101" pitchFamily="49" charset="-122"/>
                <a:ea typeface="幼圆" panose="02010509060101010101" pitchFamily="49" charset="-122"/>
              </a:rPr>
              <a:t>2/3 - 4/5</a:t>
            </a:r>
            <a:endParaRPr lang="en-US" altLang="zh-CN" b="1" dirty="0">
              <a:latin typeface="幼圆" panose="02010509060101010101" pitchFamily="49" charset="-122"/>
              <a:ea typeface="幼圆" panose="02010509060101010101" pitchFamily="49" charset="-122"/>
            </a:endParaRPr>
          </a:p>
        </p:txBody>
      </p:sp>
      <p:grpSp>
        <p:nvGrpSpPr>
          <p:cNvPr id="3" name="组合 2"/>
          <p:cNvGrpSpPr/>
          <p:nvPr/>
        </p:nvGrpSpPr>
        <p:grpSpPr>
          <a:xfrm>
            <a:off x="766837" y="3351297"/>
            <a:ext cx="7793701" cy="738236"/>
            <a:chOff x="674874" y="1408064"/>
            <a:chExt cx="7793701" cy="738236"/>
          </a:xfrm>
        </p:grpSpPr>
        <p:sp>
          <p:nvSpPr>
            <p:cNvPr id="8" name="内容占位符 2"/>
            <p:cNvSpPr txBox="1"/>
            <p:nvPr/>
          </p:nvSpPr>
          <p:spPr>
            <a:xfrm>
              <a:off x="674874" y="1408064"/>
              <a:ext cx="6505202" cy="738236"/>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b="1" dirty="0">
                  <a:latin typeface="幼圆" panose="02010509060101010101" pitchFamily="49" charset="-122"/>
                </a:rPr>
                <a:t>通常将包含个   样本的数据集</a:t>
              </a:r>
              <a:endParaRPr lang="en-US" altLang="zh-CN" b="1" dirty="0">
                <a:latin typeface="幼圆" panose="02010509060101010101" pitchFamily="49" charset="-122"/>
              </a:endParaRPr>
            </a:p>
            <a:p>
              <a:pPr marL="457200" lvl="1" indent="0">
                <a:buNone/>
              </a:pPr>
              <a:r>
                <a:rPr lang="zh-CN" altLang="en-US" b="1" dirty="0">
                  <a:latin typeface="幼圆" panose="02010509060101010101" pitchFamily="49" charset="-122"/>
                </a:rPr>
                <a:t>拆分成训练集   和测试集   ：</a:t>
              </a:r>
              <a:endParaRPr lang="zh-CN" altLang="en-US" b="1" dirty="0">
                <a:latin typeface="幼圆" panose="02010509060101010101" pitchFamily="49" charset="-122"/>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68069" y="1456049"/>
              <a:ext cx="3700506" cy="288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7174" y="1812902"/>
              <a:ext cx="184169" cy="23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6401" y="1824808"/>
              <a:ext cx="193636" cy="219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1630" y="1491841"/>
              <a:ext cx="282575" cy="19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1" name="内容占位符 2"/>
          <p:cNvSpPr txBox="1"/>
          <p:nvPr/>
        </p:nvSpPr>
        <p:spPr>
          <a:xfrm>
            <a:off x="1063293" y="4221088"/>
            <a:ext cx="6759494" cy="1989337"/>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00B050"/>
              </a:buClr>
              <a:buFont typeface="Wingdings" panose="05000000000000000000" pitchFamily="2" charset="2"/>
              <a:buChar char="p"/>
            </a:pPr>
            <a:r>
              <a:rPr lang="zh-CN" altLang="en-US" b="1" dirty="0">
                <a:solidFill>
                  <a:srgbClr val="023A91"/>
                </a:solidFill>
                <a:latin typeface="幼圆" panose="02010509060101010101" pitchFamily="49" charset="-122"/>
                <a:ea typeface="幼圆" panose="02010509060101010101" pitchFamily="49" charset="-122"/>
              </a:rPr>
              <a:t>广义的：</a:t>
            </a:r>
            <a:endParaRPr lang="en-US" altLang="zh-CN" b="1" dirty="0">
              <a:solidFill>
                <a:srgbClr val="023A91"/>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样例集：训练数据</a:t>
            </a:r>
            <a:endParaRPr lang="en-US" altLang="zh-CN" b="1" dirty="0">
              <a:latin typeface="幼圆" panose="02010509060101010101" pitchFamily="49" charset="-122"/>
              <a:ea typeface="幼圆" panose="02010509060101010101" pitchFamily="49" charset="-122"/>
            </a:endParaRPr>
          </a:p>
          <a:p>
            <a:pPr lvl="2">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划分为两个互斥集合：数据分布的一致性</a:t>
            </a:r>
            <a:endParaRPr lang="en-US" altLang="zh-CN" b="1" dirty="0">
              <a:latin typeface="幼圆" panose="02010509060101010101" pitchFamily="49" charset="-122"/>
              <a:ea typeface="幼圆" panose="02010509060101010101" pitchFamily="49" charset="-122"/>
            </a:endParaRPr>
          </a:p>
          <a:p>
            <a:pPr lvl="3">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训练集</a:t>
            </a:r>
            <a:r>
              <a:rPr lang="en-US" altLang="zh-CN" b="1" dirty="0">
                <a:latin typeface="幼圆" panose="02010509060101010101" pitchFamily="49" charset="-122"/>
                <a:ea typeface="幼圆" panose="02010509060101010101" pitchFamily="49" charset="-122"/>
              </a:rPr>
              <a:t>-S</a:t>
            </a:r>
            <a:r>
              <a:rPr lang="zh-CN" altLang="en-US" b="1" dirty="0">
                <a:latin typeface="幼圆" panose="02010509060101010101" pitchFamily="49" charset="-122"/>
                <a:ea typeface="幼圆" panose="02010509060101010101" pitchFamily="49" charset="-122"/>
              </a:rPr>
              <a:t>：训练</a:t>
            </a:r>
            <a:endParaRPr lang="en-US" altLang="zh-CN" b="1" dirty="0">
              <a:latin typeface="幼圆" panose="02010509060101010101" pitchFamily="49" charset="-122"/>
              <a:ea typeface="幼圆" panose="02010509060101010101" pitchFamily="49" charset="-122"/>
            </a:endParaRPr>
          </a:p>
          <a:p>
            <a:pPr lvl="3">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验证集</a:t>
            </a:r>
            <a:r>
              <a:rPr lang="en-US" altLang="zh-CN" b="1" dirty="0">
                <a:latin typeface="幼圆" panose="02010509060101010101" pitchFamily="49" charset="-122"/>
                <a:ea typeface="幼圆" panose="02010509060101010101" pitchFamily="49" charset="-122"/>
              </a:rPr>
              <a:t>-T</a:t>
            </a:r>
            <a:r>
              <a:rPr lang="zh-CN" altLang="en-US" b="1" dirty="0">
                <a:latin typeface="幼圆" panose="02010509060101010101" pitchFamily="49" charset="-122"/>
                <a:ea typeface="幼圆" panose="02010509060101010101" pitchFamily="49" charset="-122"/>
              </a:rPr>
              <a:t>：评估</a:t>
            </a:r>
            <a:endParaRPr lang="en-US" altLang="zh-CN"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实际数据：测试数据</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应用</a:t>
            </a:r>
            <a:endParaRPr lang="zh-CN" altLang="en-US" b="1" dirty="0">
              <a:latin typeface="幼圆" panose="02010509060101010101" pitchFamily="49" charset="-122"/>
              <a:ea typeface="幼圆" panose="02010509060101010101" pitchFamily="49" charset="-122"/>
            </a:endParaRPr>
          </a:p>
          <a:p>
            <a:pPr lvl="1">
              <a:lnSpc>
                <a:spcPct val="110000"/>
              </a:lnSpc>
            </a:pPr>
            <a:endParaRPr lang="en-US" altLang="zh-CN" b="1" dirty="0">
              <a:latin typeface="幼圆" panose="02010509060101010101" pitchFamily="49" charset="-122"/>
              <a:ea typeface="幼圆" panose="020105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3792"/>
            <a:ext cx="8229600" cy="1143000"/>
          </a:xfrm>
        </p:spPr>
        <p:txBody>
          <a:bodyPr/>
          <a:lstStyle/>
          <a:p>
            <a:r>
              <a:rPr lang="zh-CN" altLang="en-US" b="1" dirty="0">
                <a:latin typeface="幼圆" panose="02010509060101010101" pitchFamily="49" charset="-122"/>
                <a:ea typeface="幼圆" panose="02010509060101010101" pitchFamily="49" charset="-122"/>
              </a:rPr>
              <a:t>评估方法</a:t>
            </a:r>
            <a:r>
              <a:rPr lang="en-US" altLang="zh-CN" b="1" dirty="0">
                <a:latin typeface="幼圆" panose="02010509060101010101" pitchFamily="49" charset="-122"/>
                <a:ea typeface="幼圆" panose="02010509060101010101" pitchFamily="49" charset="-122"/>
              </a:rPr>
              <a:t>-1</a:t>
            </a:r>
            <a:endParaRPr lang="zh-CN" altLang="en-US" b="1" dirty="0">
              <a:latin typeface="幼圆" panose="02010509060101010101" pitchFamily="49" charset="-122"/>
              <a:ea typeface="幼圆" panose="02010509060101010101" pitchFamily="49" charset="-122"/>
            </a:endParaRPr>
          </a:p>
        </p:txBody>
      </p:sp>
      <p:sp>
        <p:nvSpPr>
          <p:cNvPr id="10" name="内容占位符 2"/>
          <p:cNvSpPr>
            <a:spLocks noGrp="1"/>
          </p:cNvSpPr>
          <p:nvPr>
            <p:ph idx="1"/>
          </p:nvPr>
        </p:nvSpPr>
        <p:spPr>
          <a:xfrm>
            <a:off x="882972" y="2132856"/>
            <a:ext cx="7937500" cy="2565401"/>
          </a:xfrm>
        </p:spPr>
        <p:txBody>
          <a:bodyPr>
            <a:normAutofit/>
          </a:bodyPr>
          <a:lstStyle/>
          <a:p>
            <a:pPr>
              <a:buClr>
                <a:srgbClr val="00B050"/>
              </a:buClr>
              <a:buFont typeface="Wingdings" panose="05000000000000000000" pitchFamily="2" charset="2"/>
              <a:buChar char="p"/>
            </a:pPr>
            <a:r>
              <a:rPr lang="zh-CN" altLang="en-US" sz="2400" b="1" dirty="0">
                <a:solidFill>
                  <a:srgbClr val="023A91"/>
                </a:solidFill>
                <a:latin typeface="幼圆" panose="02010509060101010101" pitchFamily="49" charset="-122"/>
                <a:ea typeface="幼圆" panose="02010509060101010101" pitchFamily="49" charset="-122"/>
              </a:rPr>
              <a:t>留出法：</a:t>
            </a:r>
            <a:endParaRPr lang="en-US" altLang="zh-CN" sz="2400" b="1" dirty="0">
              <a:solidFill>
                <a:srgbClr val="023A91"/>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直接将数据集划分为两个互斥集合</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训练</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测试集划分要尽可能保持数据分布的一致性</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一般若干次随机划分、重复实验取平均值</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训练</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测试样本比例：</a:t>
            </a:r>
            <a:r>
              <a:rPr lang="en-US" altLang="zh-CN" sz="2400" b="1" dirty="0">
                <a:latin typeface="幼圆" panose="02010509060101010101" pitchFamily="49" charset="-122"/>
                <a:ea typeface="幼圆" panose="02010509060101010101" pitchFamily="49" charset="-122"/>
              </a:rPr>
              <a:t>2:1~4:1</a:t>
            </a:r>
            <a:endParaRPr lang="zh-CN" altLang="en-US" sz="2400" b="1" dirty="0">
              <a:latin typeface="幼圆" panose="02010509060101010101" pitchFamily="49" charset="-122"/>
              <a:ea typeface="幼圆" panose="02010509060101010101" pitchFamily="49" charset="-122"/>
            </a:endParaRPr>
          </a:p>
          <a:p>
            <a:pPr lvl="1">
              <a:lnSpc>
                <a:spcPct val="1100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评估方法</a:t>
            </a:r>
            <a:r>
              <a:rPr lang="en-US" altLang="zh-CN" b="1" dirty="0">
                <a:latin typeface="幼圆" panose="02010509060101010101" pitchFamily="49" charset="-122"/>
                <a:ea typeface="幼圆" panose="02010509060101010101" pitchFamily="49" charset="-122"/>
              </a:rPr>
              <a:t>-2</a:t>
            </a:r>
            <a:endParaRPr lang="zh-CN" altLang="en-US" b="1" dirty="0">
              <a:latin typeface="幼圆" panose="02010509060101010101" pitchFamily="49" charset="-122"/>
              <a:ea typeface="幼圆" panose="02010509060101010101" pitchFamily="49" charset="-122"/>
            </a:endParaRPr>
          </a:p>
        </p:txBody>
      </p:sp>
      <p:sp>
        <p:nvSpPr>
          <p:cNvPr id="10" name="内容占位符 2"/>
          <p:cNvSpPr>
            <a:spLocks noGrp="1"/>
          </p:cNvSpPr>
          <p:nvPr>
            <p:ph idx="1"/>
          </p:nvPr>
        </p:nvSpPr>
        <p:spPr>
          <a:xfrm>
            <a:off x="594940" y="1413641"/>
            <a:ext cx="8513564" cy="2565401"/>
          </a:xfrm>
        </p:spPr>
        <p:txBody>
          <a:bodyPr>
            <a:normAutofit/>
          </a:bodyPr>
          <a:lstStyle/>
          <a:p>
            <a:pPr>
              <a:buClr>
                <a:srgbClr val="00B050"/>
              </a:buClr>
              <a:buFont typeface="Wingdings" panose="05000000000000000000" pitchFamily="2" charset="2"/>
              <a:buChar char="p"/>
            </a:pPr>
            <a:r>
              <a:rPr lang="zh-CN" altLang="en-US" sz="2400" b="1" dirty="0">
                <a:solidFill>
                  <a:srgbClr val="023A91"/>
                </a:solidFill>
                <a:latin typeface="幼圆" panose="02010509060101010101" pitchFamily="49" charset="-122"/>
                <a:ea typeface="幼圆" panose="02010509060101010101" pitchFamily="49" charset="-122"/>
              </a:rPr>
              <a:t>交叉验证法：</a:t>
            </a:r>
            <a:endParaRPr lang="en-US" altLang="zh-CN" sz="2400" b="1" dirty="0">
              <a:solidFill>
                <a:srgbClr val="023A91"/>
              </a:solidFill>
              <a:latin typeface="幼圆" panose="02010509060101010101" pitchFamily="49" charset="-122"/>
              <a:ea typeface="幼圆" panose="02010509060101010101" pitchFamily="49" charset="-122"/>
            </a:endParaRPr>
          </a:p>
          <a:p>
            <a:pPr marL="668655" lvl="1" indent="-342900">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将数据集分层采样划分为</a:t>
            </a:r>
            <a:r>
              <a:rPr lang="en-US" altLang="zh-CN" sz="2400" b="1" dirty="0">
                <a:latin typeface="幼圆" panose="02010509060101010101" pitchFamily="49" charset="-122"/>
                <a:ea typeface="幼圆" panose="02010509060101010101" pitchFamily="49" charset="-122"/>
              </a:rPr>
              <a:t>k</a:t>
            </a:r>
            <a:r>
              <a:rPr lang="zh-CN" altLang="en-US" sz="2400" b="1" dirty="0">
                <a:latin typeface="幼圆" panose="02010509060101010101" pitchFamily="49" charset="-122"/>
                <a:ea typeface="幼圆" panose="02010509060101010101" pitchFamily="49" charset="-122"/>
              </a:rPr>
              <a:t>个大小相似的互斥子集，每次用</a:t>
            </a:r>
            <a:r>
              <a:rPr lang="en-US" altLang="zh-CN" sz="2400" b="1" dirty="0">
                <a:latin typeface="幼圆" panose="02010509060101010101" pitchFamily="49" charset="-122"/>
                <a:ea typeface="幼圆" panose="02010509060101010101" pitchFamily="49" charset="-122"/>
              </a:rPr>
              <a:t>k-1</a:t>
            </a:r>
            <a:r>
              <a:rPr lang="zh-CN" altLang="en-US" sz="2400" b="1" dirty="0">
                <a:latin typeface="幼圆" panose="02010509060101010101" pitchFamily="49" charset="-122"/>
                <a:ea typeface="幼圆" panose="02010509060101010101" pitchFamily="49" charset="-122"/>
              </a:rPr>
              <a:t>个子集的并集作为训练集，余下的子集作为测试集，最终返回</a:t>
            </a:r>
            <a:r>
              <a:rPr lang="en-US" altLang="zh-CN" sz="2400" b="1" dirty="0">
                <a:latin typeface="幼圆" panose="02010509060101010101" pitchFamily="49" charset="-122"/>
                <a:ea typeface="幼圆" panose="02010509060101010101" pitchFamily="49" charset="-122"/>
              </a:rPr>
              <a:t>k</a:t>
            </a:r>
            <a:r>
              <a:rPr lang="zh-CN" altLang="en-US" sz="2400" b="1" dirty="0">
                <a:latin typeface="幼圆" panose="02010509060101010101" pitchFamily="49" charset="-122"/>
                <a:ea typeface="幼圆" panose="02010509060101010101" pitchFamily="49" charset="-122"/>
              </a:rPr>
              <a:t>个测试结果的均值，</a:t>
            </a:r>
            <a:r>
              <a:rPr lang="en-US" altLang="zh-CN" sz="2400" b="1" dirty="0">
                <a:latin typeface="幼圆" panose="02010509060101010101" pitchFamily="49" charset="-122"/>
                <a:ea typeface="幼圆" panose="02010509060101010101" pitchFamily="49" charset="-122"/>
              </a:rPr>
              <a:t>k</a:t>
            </a:r>
            <a:r>
              <a:rPr lang="zh-CN" altLang="en-US" sz="2400" b="1" dirty="0">
                <a:latin typeface="幼圆" panose="02010509060101010101" pitchFamily="49" charset="-122"/>
                <a:ea typeface="幼圆" panose="02010509060101010101" pitchFamily="49" charset="-122"/>
              </a:rPr>
              <a:t>最常用的取值是</a:t>
            </a:r>
            <a:r>
              <a:rPr lang="en-US" altLang="zh-CN" sz="2400" b="1" dirty="0">
                <a:latin typeface="幼圆" panose="02010509060101010101" pitchFamily="49" charset="-122"/>
                <a:ea typeface="幼圆" panose="02010509060101010101" pitchFamily="49" charset="-122"/>
              </a:rPr>
              <a:t>10.</a:t>
            </a:r>
            <a:endParaRPr lang="en-US" altLang="zh-CN" sz="2400" b="1" dirty="0">
              <a:latin typeface="幼圆" panose="02010509060101010101" pitchFamily="49" charset="-122"/>
              <a:ea typeface="幼圆" panose="02010509060101010101" pitchFamily="49" charset="-122"/>
            </a:endParaRPr>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3212976"/>
            <a:ext cx="7290603" cy="29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8654"/>
            <a:ext cx="8229600" cy="1143000"/>
          </a:xfrm>
        </p:spPr>
        <p:txBody>
          <a:bodyPr/>
          <a:lstStyle/>
          <a:p>
            <a:r>
              <a:rPr lang="zh-CN" altLang="en-US" b="1" dirty="0">
                <a:latin typeface="幼圆" panose="02010509060101010101" pitchFamily="49" charset="-122"/>
                <a:ea typeface="幼圆" panose="02010509060101010101" pitchFamily="49" charset="-122"/>
              </a:rPr>
              <a:t>评估方法</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可重复性？</a:t>
            </a:r>
            <a:endParaRPr lang="zh-CN" altLang="en-US" b="1" dirty="0">
              <a:latin typeface="幼圆" panose="02010509060101010101" pitchFamily="49" charset="-122"/>
              <a:ea typeface="幼圆" panose="02010509060101010101" pitchFamily="49" charset="-122"/>
            </a:endParaRPr>
          </a:p>
        </p:txBody>
      </p:sp>
      <p:sp>
        <p:nvSpPr>
          <p:cNvPr id="4" name="内容占位符 3"/>
          <p:cNvSpPr>
            <a:spLocks noGrp="1"/>
          </p:cNvSpPr>
          <p:nvPr>
            <p:ph idx="1"/>
          </p:nvPr>
        </p:nvSpPr>
        <p:spPr>
          <a:xfrm>
            <a:off x="633482" y="1849138"/>
            <a:ext cx="8331006" cy="1579862"/>
          </a:xfrm>
        </p:spPr>
        <p:txBody>
          <a:bodyPr>
            <a:normAutofit fontScale="70000" lnSpcReduction="20000"/>
          </a:bodyPr>
          <a:lstStyle/>
          <a:p>
            <a:pPr>
              <a:lnSpc>
                <a:spcPts val="2800"/>
              </a:lnSpc>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与留出法类似，将数据集</a:t>
            </a:r>
            <a:r>
              <a:rPr lang="en-US" altLang="zh-CN" b="1" dirty="0">
                <a:latin typeface="幼圆" panose="02010509060101010101" pitchFamily="49" charset="-122"/>
                <a:ea typeface="幼圆" panose="02010509060101010101" pitchFamily="49" charset="-122"/>
              </a:rPr>
              <a:t>D</a:t>
            </a:r>
            <a:r>
              <a:rPr lang="zh-CN" altLang="en-US" b="1" dirty="0">
                <a:latin typeface="幼圆" panose="02010509060101010101" pitchFamily="49" charset="-122"/>
                <a:ea typeface="幼圆" panose="02010509060101010101" pitchFamily="49" charset="-122"/>
              </a:rPr>
              <a:t>划分为</a:t>
            </a:r>
            <a:r>
              <a:rPr lang="en-US" altLang="zh-CN" b="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个子集同样存在多种划分方式，为了减小因样本划分不同而引入的差别，</a:t>
            </a:r>
            <a:r>
              <a:rPr lang="en-US" altLang="zh-CN" b="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折交叉验证通常</a:t>
            </a:r>
            <a:r>
              <a:rPr lang="zh-CN" altLang="en-US" b="1" dirty="0">
                <a:solidFill>
                  <a:srgbClr val="0000FF"/>
                </a:solidFill>
                <a:latin typeface="幼圆" panose="02010509060101010101" pitchFamily="49" charset="-122"/>
                <a:ea typeface="幼圆" panose="02010509060101010101" pitchFamily="49" charset="-122"/>
              </a:rPr>
              <a:t>随机</a:t>
            </a:r>
            <a:r>
              <a:rPr lang="zh-CN" altLang="en-US" b="1" dirty="0">
                <a:latin typeface="幼圆" panose="02010509060101010101" pitchFamily="49" charset="-122"/>
                <a:ea typeface="幼圆" panose="02010509060101010101" pitchFamily="49" charset="-122"/>
              </a:rPr>
              <a:t>使用不同的划分</a:t>
            </a:r>
            <a:r>
              <a:rPr lang="zh-CN" altLang="en-US" b="1" dirty="0">
                <a:solidFill>
                  <a:srgbClr val="0000FF"/>
                </a:solidFill>
                <a:latin typeface="幼圆" panose="02010509060101010101" pitchFamily="49" charset="-122"/>
                <a:ea typeface="幼圆" panose="02010509060101010101" pitchFamily="49" charset="-122"/>
              </a:rPr>
              <a:t>重复</a:t>
            </a:r>
            <a:r>
              <a:rPr lang="en-US" altLang="zh-CN" b="1" dirty="0">
                <a:latin typeface="幼圆" panose="02010509060101010101" pitchFamily="49" charset="-122"/>
                <a:ea typeface="幼圆" panose="02010509060101010101" pitchFamily="49" charset="-122"/>
              </a:rPr>
              <a:t>p</a:t>
            </a:r>
            <a:r>
              <a:rPr lang="zh-CN" altLang="en-US" b="1" dirty="0">
                <a:latin typeface="幼圆" panose="02010509060101010101" pitchFamily="49" charset="-122"/>
                <a:ea typeface="幼圆" panose="02010509060101010101" pitchFamily="49" charset="-122"/>
              </a:rPr>
              <a:t>次，最终的评估结果是这</a:t>
            </a:r>
            <a:r>
              <a:rPr lang="en-US" altLang="zh-CN" b="1" dirty="0">
                <a:latin typeface="幼圆" panose="02010509060101010101" pitchFamily="49" charset="-122"/>
                <a:ea typeface="幼圆" panose="02010509060101010101" pitchFamily="49" charset="-122"/>
              </a:rPr>
              <a:t>p</a:t>
            </a:r>
            <a:r>
              <a:rPr lang="zh-CN" altLang="en-US" b="1" dirty="0">
                <a:latin typeface="幼圆" panose="02010509060101010101" pitchFamily="49" charset="-122"/>
                <a:ea typeface="幼圆" panose="02010509060101010101" pitchFamily="49" charset="-122"/>
              </a:rPr>
              <a:t>次</a:t>
            </a:r>
            <a:r>
              <a:rPr lang="en-US" altLang="zh-CN" b="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折交叉验证结果的</a:t>
            </a:r>
            <a:r>
              <a:rPr lang="zh-CN" altLang="en-US" b="1" dirty="0">
                <a:solidFill>
                  <a:srgbClr val="0000FF"/>
                </a:solidFill>
                <a:latin typeface="幼圆" panose="02010509060101010101" pitchFamily="49" charset="-122"/>
                <a:ea typeface="幼圆" panose="02010509060101010101" pitchFamily="49" charset="-122"/>
              </a:rPr>
              <a:t>均值</a:t>
            </a:r>
            <a:r>
              <a:rPr lang="zh-CN" altLang="en-US" b="1" dirty="0">
                <a:latin typeface="幼圆" panose="02010509060101010101" pitchFamily="49" charset="-122"/>
                <a:ea typeface="幼圆" panose="02010509060101010101" pitchFamily="49" charset="-122"/>
              </a:rPr>
              <a:t>，例如常见的“</a:t>
            </a:r>
            <a:r>
              <a:rPr lang="en-US" altLang="zh-CN" b="1" dirty="0">
                <a:latin typeface="幼圆" panose="02010509060101010101" pitchFamily="49" charset="-122"/>
                <a:ea typeface="幼圆" panose="02010509060101010101" pitchFamily="49" charset="-122"/>
              </a:rPr>
              <a:t>10</a:t>
            </a:r>
            <a:r>
              <a:rPr lang="zh-CN" altLang="en-US" b="1" dirty="0">
                <a:latin typeface="幼圆" panose="02010509060101010101" pitchFamily="49" charset="-122"/>
                <a:ea typeface="幼圆" panose="02010509060101010101" pitchFamily="49" charset="-122"/>
              </a:rPr>
              <a:t>次</a:t>
            </a:r>
            <a:r>
              <a:rPr lang="en-US" altLang="zh-CN" b="1" dirty="0">
                <a:latin typeface="幼圆" panose="02010509060101010101" pitchFamily="49" charset="-122"/>
                <a:ea typeface="幼圆" panose="02010509060101010101" pitchFamily="49" charset="-122"/>
              </a:rPr>
              <a:t>10</a:t>
            </a:r>
            <a:r>
              <a:rPr lang="zh-CN" altLang="en-US" b="1" dirty="0">
                <a:latin typeface="幼圆" panose="02010509060101010101" pitchFamily="49" charset="-122"/>
                <a:ea typeface="幼圆" panose="02010509060101010101" pitchFamily="49" charset="-122"/>
              </a:rPr>
              <a:t>折交叉验证”</a:t>
            </a:r>
            <a:endParaRPr lang="zh-CN" altLang="en-US" b="1" dirty="0">
              <a:latin typeface="幼圆" panose="02010509060101010101" pitchFamily="49" charset="-122"/>
              <a:ea typeface="幼圆" panose="02010509060101010101" pitchFamily="49" charset="-122"/>
            </a:endParaRPr>
          </a:p>
        </p:txBody>
      </p:sp>
      <p:grpSp>
        <p:nvGrpSpPr>
          <p:cNvPr id="7" name="组合 6"/>
          <p:cNvGrpSpPr/>
          <p:nvPr/>
        </p:nvGrpSpPr>
        <p:grpSpPr>
          <a:xfrm>
            <a:off x="635570" y="3752995"/>
            <a:ext cx="8256910" cy="1908253"/>
            <a:chOff x="212334" y="2968547"/>
            <a:chExt cx="8256910" cy="1908253"/>
          </a:xfrm>
        </p:grpSpPr>
        <p:sp>
          <p:nvSpPr>
            <p:cNvPr id="8" name="内容占位符 3"/>
            <p:cNvSpPr txBox="1"/>
            <p:nvPr/>
          </p:nvSpPr>
          <p:spPr>
            <a:xfrm>
              <a:off x="212334" y="2968547"/>
              <a:ext cx="8256910" cy="1908253"/>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
                  <a:srgbClr val="00B050"/>
                </a:buClr>
              </a:pPr>
              <a:r>
                <a:rPr lang="zh-CN" altLang="en-US" b="1" dirty="0">
                  <a:latin typeface="幼圆" panose="02010509060101010101" pitchFamily="49" charset="-122"/>
                </a:rPr>
                <a:t>假设数据集</a:t>
              </a:r>
              <a:r>
                <a:rPr lang="en-US" altLang="zh-CN" b="1" dirty="0">
                  <a:latin typeface="幼圆" panose="02010509060101010101" pitchFamily="49" charset="-122"/>
                </a:rPr>
                <a:t>D</a:t>
              </a:r>
              <a:r>
                <a:rPr lang="zh-CN" altLang="en-US" b="1" dirty="0">
                  <a:latin typeface="幼圆" panose="02010509060101010101" pitchFamily="49" charset="-122"/>
                </a:rPr>
                <a:t>包含</a:t>
              </a:r>
              <a:r>
                <a:rPr lang="en-US" altLang="zh-CN" b="1" dirty="0">
                  <a:latin typeface="幼圆" panose="02010509060101010101" pitchFamily="49" charset="-122"/>
                </a:rPr>
                <a:t>m</a:t>
              </a:r>
              <a:r>
                <a:rPr lang="zh-CN" altLang="en-US" b="1" dirty="0">
                  <a:latin typeface="幼圆" panose="02010509060101010101" pitchFamily="49" charset="-122"/>
                </a:rPr>
                <a:t>个样本，若令       ，则得到</a:t>
              </a:r>
              <a:r>
                <a:rPr lang="zh-CN" altLang="en-US" b="1" dirty="0">
                  <a:solidFill>
                    <a:srgbClr val="0000FF"/>
                  </a:solidFill>
                  <a:latin typeface="幼圆" panose="02010509060101010101" pitchFamily="49" charset="-122"/>
                </a:rPr>
                <a:t>留一</a:t>
              </a:r>
              <a:r>
                <a:rPr lang="zh-CN" altLang="en-US" b="1" dirty="0">
                  <a:latin typeface="幼圆" panose="02010509060101010101" pitchFamily="49" charset="-122"/>
                </a:rPr>
                <a:t>法：</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不受随机样本划分方式的影响</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结果往往比较准确</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当数据集比较大时，计算开销难以忍受</a:t>
              </a:r>
              <a:endParaRPr lang="zh-CN" altLang="en-US" b="1" dirty="0">
                <a:latin typeface="幼圆" panose="02010509060101010101" pitchFamily="49" charset="-122"/>
              </a:endParaRPr>
            </a:p>
          </p:txBody>
        </p:sp>
        <p:graphicFrame>
          <p:nvGraphicFramePr>
            <p:cNvPr id="6" name="对象 5"/>
            <p:cNvGraphicFramePr>
              <a:graphicFrameLocks noChangeAspect="1"/>
            </p:cNvGraphicFramePr>
            <p:nvPr/>
          </p:nvGraphicFramePr>
          <p:xfrm>
            <a:off x="4652820" y="3076600"/>
            <a:ext cx="653527" cy="248239"/>
          </p:xfrm>
          <a:graphic>
            <a:graphicData uri="http://schemas.openxmlformats.org/presentationml/2006/ole">
              <mc:AlternateContent xmlns:mc="http://schemas.openxmlformats.org/markup-compatibility/2006">
                <mc:Choice xmlns:v="urn:schemas-microsoft-com:vml" Requires="v">
                  <p:oleObj spid="_x0000_s1221" name="Formula" r:id="rId1" imgW="3095625" imgH="1181100" progId="Equation.Ribbit">
                    <p:embed/>
                  </p:oleObj>
                </mc:Choice>
                <mc:Fallback>
                  <p:oleObj name="Formula" r:id="rId1" imgW="3095625" imgH="1181100" progId="Equation.Ribbit">
                    <p:embed/>
                    <p:pic>
                      <p:nvPicPr>
                        <p:cNvPr id="0" name="图片 1220"/>
                        <p:cNvPicPr/>
                        <p:nvPr/>
                      </p:nvPicPr>
                      <p:blipFill>
                        <a:blip r:embed="rId2"/>
                        <a:stretch>
                          <a:fillRect/>
                        </a:stretch>
                      </p:blipFill>
                      <p:spPr>
                        <a:xfrm>
                          <a:off x="4652820" y="3076600"/>
                          <a:ext cx="653527" cy="248239"/>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41784"/>
            <a:ext cx="8229600" cy="1143000"/>
          </a:xfrm>
        </p:spPr>
        <p:txBody>
          <a:bodyPr/>
          <a:lstStyle/>
          <a:p>
            <a:r>
              <a:rPr lang="zh-CN" altLang="en-US" b="1" dirty="0">
                <a:latin typeface="幼圆" panose="02010509060101010101" pitchFamily="49" charset="-122"/>
                <a:ea typeface="幼圆" panose="02010509060101010101" pitchFamily="49" charset="-122"/>
              </a:rPr>
              <a:t>评估方法</a:t>
            </a:r>
            <a:r>
              <a:rPr lang="en-US" altLang="zh-CN" b="1" dirty="0">
                <a:latin typeface="幼圆" panose="02010509060101010101" pitchFamily="49" charset="-122"/>
                <a:ea typeface="幼圆" panose="02010509060101010101" pitchFamily="49" charset="-122"/>
              </a:rPr>
              <a:t>-3</a:t>
            </a:r>
            <a:endParaRPr lang="zh-CN" altLang="en-US" b="1" dirty="0">
              <a:latin typeface="幼圆" panose="02010509060101010101" pitchFamily="49" charset="-122"/>
              <a:ea typeface="幼圆" panose="02010509060101010101" pitchFamily="49" charset="-122"/>
            </a:endParaRPr>
          </a:p>
        </p:txBody>
      </p:sp>
      <p:sp>
        <p:nvSpPr>
          <p:cNvPr id="10" name="内容占位符 2"/>
          <p:cNvSpPr>
            <a:spLocks noGrp="1"/>
          </p:cNvSpPr>
          <p:nvPr>
            <p:ph idx="1"/>
          </p:nvPr>
        </p:nvSpPr>
        <p:spPr>
          <a:xfrm>
            <a:off x="787693" y="1772816"/>
            <a:ext cx="7937500" cy="1796927"/>
          </a:xfrm>
        </p:spPr>
        <p:txBody>
          <a:bodyPr>
            <a:normAutofit/>
          </a:bodyPr>
          <a:lstStyle/>
          <a:p>
            <a:pPr>
              <a:buClr>
                <a:srgbClr val="00B050"/>
              </a:buClr>
              <a:buFont typeface="Wingdings" panose="05000000000000000000" pitchFamily="2" charset="2"/>
              <a:buChar char="p"/>
            </a:pPr>
            <a:r>
              <a:rPr lang="zh-CN" altLang="en-US" sz="2400" b="1" dirty="0">
                <a:solidFill>
                  <a:srgbClr val="023A91"/>
                </a:solidFill>
                <a:latin typeface="幼圆" panose="02010509060101010101" pitchFamily="49" charset="-122"/>
                <a:ea typeface="幼圆" panose="02010509060101010101" pitchFamily="49" charset="-122"/>
              </a:rPr>
              <a:t>自助法：</a:t>
            </a:r>
            <a:endParaRPr lang="en-US" altLang="zh-CN" sz="2400" b="1" dirty="0">
              <a:solidFill>
                <a:srgbClr val="023A91"/>
              </a:solidFill>
              <a:latin typeface="幼圆" panose="02010509060101010101" pitchFamily="49" charset="-122"/>
              <a:ea typeface="幼圆" panose="02010509060101010101" pitchFamily="49" charset="-122"/>
            </a:endParaRPr>
          </a:p>
          <a:p>
            <a:pPr marL="782955" lvl="1" indent="-457200">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cs typeface="Times New Roman" panose="02020603050405020304" pitchFamily="18" charset="0"/>
              </a:rPr>
              <a:t>以自助采样法为基础，对数据集</a:t>
            </a:r>
            <a:r>
              <a:rPr lang="en-US" altLang="zh-CN" sz="2400" b="1" i="1" dirty="0">
                <a:latin typeface="幼圆" panose="02010509060101010101" pitchFamily="49" charset="-122"/>
                <a:ea typeface="幼圆" panose="02010509060101010101" pitchFamily="49" charset="-122"/>
                <a:cs typeface="Times New Roman" panose="02020603050405020304" pitchFamily="18" charset="0"/>
              </a:rPr>
              <a:t>D </a:t>
            </a:r>
            <a:r>
              <a:rPr lang="zh-CN" altLang="en-US" sz="2400" b="1" dirty="0">
                <a:latin typeface="幼圆" panose="02010509060101010101" pitchFamily="49" charset="-122"/>
                <a:ea typeface="幼圆" panose="02010509060101010101" pitchFamily="49" charset="-122"/>
                <a:cs typeface="Times New Roman" panose="02020603050405020304" pitchFamily="18" charset="0"/>
              </a:rPr>
              <a:t>有放回采样  </a:t>
            </a:r>
            <a:r>
              <a:rPr lang="en-US" altLang="zh-CN" sz="2400" b="1" i="1" dirty="0">
                <a:latin typeface="幼圆" panose="02010509060101010101" pitchFamily="49" charset="-122"/>
                <a:ea typeface="幼圆" panose="02010509060101010101" pitchFamily="49" charset="-122"/>
                <a:cs typeface="Times New Roman" panose="02020603050405020304" pitchFamily="18" charset="0"/>
              </a:rPr>
              <a:t>m </a:t>
            </a:r>
            <a:r>
              <a:rPr lang="zh-CN" altLang="en-US" sz="2400" b="1" dirty="0">
                <a:latin typeface="幼圆" panose="02010509060101010101" pitchFamily="49" charset="-122"/>
                <a:ea typeface="幼圆" panose="02010509060101010101" pitchFamily="49" charset="-122"/>
                <a:cs typeface="Times New Roman" panose="02020603050405020304" pitchFamily="18" charset="0"/>
              </a:rPr>
              <a:t>次得到训练集</a:t>
            </a:r>
            <a:r>
              <a:rPr lang="en-US" altLang="zh-CN" sz="2400" b="1" i="1" dirty="0">
                <a:latin typeface="幼圆" panose="02010509060101010101" pitchFamily="49" charset="-122"/>
                <a:ea typeface="幼圆" panose="02010509060101010101" pitchFamily="49" charset="-122"/>
                <a:cs typeface="Times New Roman" panose="02020603050405020304" pitchFamily="18" charset="0"/>
              </a:rPr>
              <a:t>D’</a:t>
            </a:r>
            <a:r>
              <a:rPr lang="en-US" altLang="zh-CN" sz="2400" b="1" dirty="0">
                <a:latin typeface="幼圆" panose="02010509060101010101" pitchFamily="49" charset="-122"/>
                <a:ea typeface="幼圆" panose="02010509060101010101" pitchFamily="49" charset="-122"/>
                <a:cs typeface="Times New Roman" panose="02020603050405020304" pitchFamily="18" charset="0"/>
              </a:rPr>
              <a:t>,</a:t>
            </a:r>
            <a:r>
              <a:rPr lang="zh-CN" altLang="en-US" sz="2400" b="1" dirty="0">
                <a:latin typeface="幼圆" panose="02010509060101010101" pitchFamily="49" charset="-122"/>
                <a:ea typeface="幼圆" panose="02010509060101010101" pitchFamily="49" charset="-122"/>
                <a:cs typeface="Times New Roman" panose="02020603050405020304" pitchFamily="18" charset="0"/>
              </a:rPr>
              <a:t>用</a:t>
            </a:r>
            <a:r>
              <a:rPr lang="en-US" altLang="zh-CN" sz="2400" b="1" i="1" dirty="0">
                <a:latin typeface="幼圆" panose="02010509060101010101" pitchFamily="49" charset="-122"/>
                <a:ea typeface="幼圆" panose="02010509060101010101" pitchFamily="49" charset="-122"/>
                <a:cs typeface="Times New Roman" panose="02020603050405020304" pitchFamily="18" charset="0"/>
              </a:rPr>
              <a:t>D\D’ </a:t>
            </a:r>
            <a:r>
              <a:rPr lang="zh-CN" altLang="en-US" sz="2400" b="1" dirty="0">
                <a:latin typeface="幼圆" panose="02010509060101010101" pitchFamily="49" charset="-122"/>
                <a:ea typeface="幼圆" panose="02010509060101010101" pitchFamily="49" charset="-122"/>
                <a:cs typeface="Times New Roman" panose="02020603050405020304" pitchFamily="18" charset="0"/>
              </a:rPr>
              <a:t>做测试集。</a:t>
            </a:r>
            <a:endParaRPr lang="en-US" altLang="zh-CN" sz="2400" b="1" dirty="0">
              <a:latin typeface="幼圆" panose="02010509060101010101" pitchFamily="49" charset="-122"/>
              <a:ea typeface="幼圆" panose="02010509060101010101" pitchFamily="49" charset="-122"/>
              <a:cs typeface="Times New Roman" panose="02020603050405020304" pitchFamily="18" charset="0"/>
            </a:endParaRPr>
          </a:p>
          <a:p>
            <a:pPr marL="782955" lvl="1" indent="-457200">
              <a:buClr>
                <a:srgbClr val="00B050"/>
              </a:buClr>
              <a:buFont typeface="Wingdings" panose="05000000000000000000" pitchFamily="2" charset="2"/>
              <a:buChar char="p"/>
            </a:pPr>
            <a:r>
              <a:rPr lang="en-US" altLang="zh-CN" sz="2400" b="1" dirty="0">
                <a:solidFill>
                  <a:srgbClr val="0000FF"/>
                </a:solidFill>
                <a:latin typeface="幼圆" panose="02010509060101010101" pitchFamily="49" charset="-122"/>
                <a:ea typeface="幼圆" panose="02010509060101010101" pitchFamily="49" charset="-122"/>
                <a:cs typeface="Times New Roman" panose="02020603050405020304" pitchFamily="18" charset="0"/>
              </a:rPr>
              <a:t>m</a:t>
            </a:r>
            <a:r>
              <a:rPr lang="zh-CN" altLang="en-US" sz="2400" b="1" dirty="0">
                <a:solidFill>
                  <a:srgbClr val="0000FF"/>
                </a:solidFill>
                <a:latin typeface="幼圆" panose="02010509060101010101" pitchFamily="49" charset="-122"/>
                <a:ea typeface="幼圆" panose="02010509060101010101" pitchFamily="49" charset="-122"/>
                <a:cs typeface="Times New Roman" panose="02020603050405020304" pitchFamily="18" charset="0"/>
              </a:rPr>
              <a:t>次有放回重复抽样</a:t>
            </a:r>
            <a:endParaRPr lang="en-US" altLang="zh-CN" sz="2400" b="1" dirty="0">
              <a:solidFill>
                <a:srgbClr val="0000FF"/>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9" name="内容占位符 2"/>
          <p:cNvSpPr txBox="1"/>
          <p:nvPr/>
        </p:nvSpPr>
        <p:spPr>
          <a:xfrm>
            <a:off x="656644" y="3645024"/>
            <a:ext cx="7937500" cy="2565401"/>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B050"/>
              </a:buClr>
              <a:buFont typeface="Wingdings" panose="05000000000000000000" pitchFamily="2" charset="2"/>
              <a:buChar char="p"/>
            </a:pPr>
            <a:r>
              <a:rPr lang="zh-CN" altLang="en-US" b="1" dirty="0">
                <a:latin typeface="幼圆" panose="02010509060101010101" pitchFamily="49" charset="-122"/>
              </a:rPr>
              <a:t>实际模型与预期模型都使用  </a:t>
            </a:r>
            <a:r>
              <a:rPr lang="en-US" altLang="zh-CN" b="1" i="1" dirty="0">
                <a:latin typeface="幼圆" panose="02010509060101010101" pitchFamily="49" charset="-122"/>
              </a:rPr>
              <a:t>m</a:t>
            </a:r>
            <a:r>
              <a:rPr lang="zh-CN" altLang="en-US" b="1" dirty="0">
                <a:latin typeface="幼圆" panose="02010509060101010101" pitchFamily="49" charset="-122"/>
              </a:rPr>
              <a:t>  个训练样本</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约有</a:t>
            </a:r>
            <a:r>
              <a:rPr lang="en-US" altLang="zh-CN" b="1" dirty="0">
                <a:latin typeface="幼圆" panose="02010509060101010101" pitchFamily="49" charset="-122"/>
              </a:rPr>
              <a:t>1/3</a:t>
            </a:r>
            <a:r>
              <a:rPr lang="zh-CN" altLang="en-US" b="1" dirty="0">
                <a:latin typeface="幼圆" panose="02010509060101010101" pitchFamily="49" charset="-122"/>
              </a:rPr>
              <a:t>的样本没在训练集中出现 </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从初始数据集中产生多个不同的训练集，对集成学习有很大的好处</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自助法在数据集较小、难以有效划分训练</a:t>
            </a:r>
            <a:r>
              <a:rPr lang="en-US" altLang="zh-CN" b="1" dirty="0">
                <a:latin typeface="幼圆" panose="02010509060101010101" pitchFamily="49" charset="-122"/>
              </a:rPr>
              <a:t>/</a:t>
            </a:r>
            <a:r>
              <a:rPr lang="zh-CN" altLang="en-US" b="1" dirty="0">
                <a:latin typeface="幼圆" panose="02010509060101010101" pitchFamily="49" charset="-122"/>
              </a:rPr>
              <a:t>测试集时很有用；</a:t>
            </a:r>
            <a:endParaRPr lang="en-US" altLang="zh-CN" b="1" dirty="0">
              <a:latin typeface="幼圆" panose="02010509060101010101" pitchFamily="49" charset="-122"/>
            </a:endParaRPr>
          </a:p>
          <a:p>
            <a:pPr lvl="1">
              <a:buClr>
                <a:srgbClr val="00B050"/>
              </a:buClr>
              <a:buFont typeface="Wingdings" panose="05000000000000000000" pitchFamily="2" charset="2"/>
              <a:buChar char="p"/>
            </a:pPr>
            <a:r>
              <a:rPr lang="zh-CN" altLang="en-US" b="1" dirty="0">
                <a:latin typeface="幼圆" panose="02010509060101010101" pitchFamily="49" charset="-122"/>
              </a:rPr>
              <a:t>由于改变了数据集分布可能引入估计偏差，在数据量足够时，留出法和交叉验证法更常用。</a:t>
            </a:r>
            <a:endParaRPr lang="en-US" altLang="zh-CN" b="1" dirty="0">
              <a:latin typeface="幼圆" panose="02010509060101010101" pitchFamily="49"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76672"/>
            <a:ext cx="8229600" cy="1143000"/>
          </a:xfrm>
        </p:spPr>
        <p:txBody>
          <a:bodyPr/>
          <a:lstStyle/>
          <a:p>
            <a:r>
              <a:rPr lang="zh-CN" altLang="en-US" b="1" dirty="0">
                <a:latin typeface="幼圆" panose="02010509060101010101" pitchFamily="49" charset="-122"/>
                <a:ea typeface="幼圆" panose="02010509060101010101" pitchFamily="49" charset="-122"/>
              </a:rPr>
              <a:t>调参与最终模型</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981944" y="1772816"/>
            <a:ext cx="6624736" cy="4537917"/>
          </a:xfrm>
        </p:spPr>
        <p:txBody>
          <a:bodyPr>
            <a:noAutofit/>
          </a:bodyPr>
          <a:lstStyle/>
          <a:p>
            <a:pPr>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参数</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算法参数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超参数：几个</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人工调节</a:t>
            </a:r>
            <a:endParaRPr lang="en-US" altLang="zh-CN" sz="20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模型参数：很多</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学习算法训练确定</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最终模型</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验证集：用于模型评估与选择中用于评测的数据</a:t>
            </a:r>
            <a:endParaRPr lang="en-US" altLang="zh-CN" sz="20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模型选择和调参：基于验证集上的性能</a:t>
            </a:r>
            <a:endParaRPr lang="en-US" altLang="zh-CN" sz="20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最终模型训练：</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全部数据</a:t>
            </a:r>
            <a:endParaRPr lang="en-US" altLang="zh-CN" sz="20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大 纲</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经验误差与过拟合</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原则</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评估方法</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方法</a:t>
            </a:r>
            <a:endParaRPr lang="en-US" altLang="zh-CN" sz="2000" b="1" dirty="0">
              <a:latin typeface="幼圆" panose="02010509060101010101" pitchFamily="49" charset="-122"/>
              <a:ea typeface="幼圆" panose="02010509060101010101" pitchFamily="49" charset="-122"/>
            </a:endParaRPr>
          </a:p>
          <a:p>
            <a:pPr>
              <a:buClr>
                <a:srgbClr val="00B050"/>
              </a:buClr>
              <a:buFont typeface="Wingdings" panose="05000000000000000000" pitchFamily="2" charset="2"/>
              <a:buChar char="p"/>
            </a:pPr>
            <a:r>
              <a:rPr lang="zh-CN" altLang="en-US" sz="2400" b="1" dirty="0">
                <a:solidFill>
                  <a:srgbClr val="0000FF"/>
                </a:solidFill>
                <a:latin typeface="幼圆" panose="02010509060101010101" pitchFamily="49" charset="-122"/>
                <a:ea typeface="幼圆" panose="02010509060101010101" pitchFamily="49" charset="-122"/>
              </a:rPr>
              <a:t>性能度量</a:t>
            </a:r>
            <a:endParaRPr lang="en-US" altLang="zh-CN" sz="2400" b="1" dirty="0">
              <a:solidFill>
                <a:srgbClr val="0000FF"/>
              </a:solidFill>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评估</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指标</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比较检验</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性能比较</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偏差与方差</a:t>
            </a:r>
            <a:endParaRPr lang="en-US" altLang="zh-CN" sz="2400" b="1" dirty="0">
              <a:latin typeface="幼圆" panose="02010509060101010101" pitchFamily="49" charset="-122"/>
              <a:ea typeface="幼圆" panose="02010509060101010101" pitchFamily="49" charset="-122"/>
            </a:endParaRPr>
          </a:p>
          <a:p>
            <a:pPr lvl="1">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选择</a:t>
            </a:r>
            <a:r>
              <a:rPr lang="en-US" altLang="zh-CN" sz="2000" b="1" dirty="0">
                <a:latin typeface="幼圆" panose="02010509060101010101" pitchFamily="49" charset="-122"/>
                <a:ea typeface="幼圆" panose="02010509060101010101" pitchFamily="49" charset="-122"/>
              </a:rPr>
              <a:t>. </a:t>
            </a:r>
            <a:r>
              <a:rPr lang="zh-CN" altLang="en-US" sz="2000" b="1" dirty="0">
                <a:latin typeface="幼圆" panose="02010509060101010101" pitchFamily="49" charset="-122"/>
                <a:ea typeface="幼圆" panose="02010509060101010101" pitchFamily="49" charset="-122"/>
              </a:rPr>
              <a:t>性能解释</a:t>
            </a:r>
            <a:endParaRPr lang="en-US" altLang="zh-CN" sz="2000" b="1" dirty="0">
              <a:latin typeface="幼圆" panose="02010509060101010101" pitchFamily="49" charset="-122"/>
              <a:ea typeface="幼圆" panose="020105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阅读材料</a:t>
            </a:r>
            <a:endParaRPr lang="zh-CN" altLang="en-US" sz="24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评价指标</a:t>
            </a:r>
            <a:endParaRPr lang="zh-CN" altLang="en-US" b="1" dirty="0">
              <a:latin typeface="幼圆" panose="02010509060101010101" pitchFamily="49" charset="-122"/>
              <a:ea typeface="幼圆" panose="02010509060101010101" pitchFamily="49" charset="-122"/>
            </a:endParaRPr>
          </a:p>
        </p:txBody>
      </p:sp>
      <p:pic>
        <p:nvPicPr>
          <p:cNvPr id="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9552" y="1340768"/>
            <a:ext cx="7420488" cy="4989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solidFill>
                  <a:srgbClr val="C00000"/>
                </a:solidFill>
                <a:latin typeface="幼圆" panose="02010509060101010101" pitchFamily="49" charset="-122"/>
                <a:ea typeface="幼圆" panose="02010509060101010101" pitchFamily="49" charset="-122"/>
              </a:rPr>
              <a:t>回归</a:t>
            </a:r>
            <a:endParaRPr lang="zh-CN" altLang="en-US" b="1" dirty="0">
              <a:solidFill>
                <a:srgbClr val="C00000"/>
              </a:solidFill>
              <a:latin typeface="幼圆" panose="02010509060101010101" pitchFamily="49" charset="-122"/>
              <a:ea typeface="幼圆" panose="02010509060101010101" pitchFamily="49" charset="-122"/>
            </a:endParaRPr>
          </a:p>
        </p:txBody>
      </p:sp>
      <p:sp>
        <p:nvSpPr>
          <p:cNvPr id="13" name="内容占位符 2"/>
          <p:cNvSpPr txBox="1"/>
          <p:nvPr/>
        </p:nvSpPr>
        <p:spPr>
          <a:xfrm>
            <a:off x="766992" y="1486947"/>
            <a:ext cx="7405407" cy="886942"/>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zh-CN" altLang="en-US" b="1" dirty="0">
                <a:latin typeface="幼圆" panose="02010509060101010101" pitchFamily="49" charset="-122"/>
              </a:rPr>
              <a:t>性能度量是衡量模型泛化能力的评价标准，反映了任务需求；使用不同的</a:t>
            </a:r>
            <a:r>
              <a:rPr lang="zh-CN" altLang="en-US" b="1" dirty="0">
                <a:solidFill>
                  <a:srgbClr val="0000FF"/>
                </a:solidFill>
                <a:latin typeface="幼圆" panose="02010509060101010101" pitchFamily="49" charset="-122"/>
              </a:rPr>
              <a:t>性能指标</a:t>
            </a:r>
            <a:r>
              <a:rPr lang="zh-CN" altLang="en-US" b="1" dirty="0">
                <a:latin typeface="幼圆" panose="02010509060101010101" pitchFamily="49" charset="-122"/>
              </a:rPr>
              <a:t>往往会导致不同的评判结果</a:t>
            </a:r>
            <a:endParaRPr lang="zh-CN" altLang="en-US" b="1" dirty="0">
              <a:latin typeface="幼圆" panose="02010509060101010101" pitchFamily="49" charset="-122"/>
            </a:endParaRPr>
          </a:p>
        </p:txBody>
      </p:sp>
      <p:grpSp>
        <p:nvGrpSpPr>
          <p:cNvPr id="4" name="组合 3"/>
          <p:cNvGrpSpPr/>
          <p:nvPr/>
        </p:nvGrpSpPr>
        <p:grpSpPr>
          <a:xfrm>
            <a:off x="733319" y="2564903"/>
            <a:ext cx="7655105" cy="956251"/>
            <a:chOff x="682520" y="2607320"/>
            <a:chExt cx="7127980" cy="941664"/>
          </a:xfrm>
        </p:grpSpPr>
        <p:sp>
          <p:nvSpPr>
            <p:cNvPr id="18" name="内容占位符 2"/>
            <p:cNvSpPr txBox="1"/>
            <p:nvPr/>
          </p:nvSpPr>
          <p:spPr>
            <a:xfrm>
              <a:off x="682520" y="2607320"/>
              <a:ext cx="7127980" cy="73823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zh-CN" altLang="en-US" b="1" dirty="0">
                  <a:latin typeface="幼圆" panose="02010509060101010101" pitchFamily="49" charset="-122"/>
                </a:rPr>
                <a:t>在</a:t>
              </a:r>
              <a:r>
                <a:rPr lang="zh-CN" altLang="en-US" b="1" dirty="0">
                  <a:solidFill>
                    <a:srgbClr val="0000FF"/>
                  </a:solidFill>
                  <a:latin typeface="幼圆" panose="02010509060101010101" pitchFamily="49" charset="-122"/>
                </a:rPr>
                <a:t>预测</a:t>
              </a:r>
              <a:r>
                <a:rPr lang="zh-CN" altLang="en-US" b="1" dirty="0">
                  <a:latin typeface="幼圆" panose="02010509060101010101" pitchFamily="49" charset="-122"/>
                </a:rPr>
                <a:t>任务中，给定样例集</a:t>
              </a:r>
              <a:endParaRPr lang="en-US" altLang="zh-CN" b="1" dirty="0">
                <a:latin typeface="幼圆" panose="02010509060101010101" pitchFamily="49" charset="-122"/>
              </a:endParaRPr>
            </a:p>
            <a:p>
              <a:pPr marL="457200" lvl="1" indent="0">
                <a:lnSpc>
                  <a:spcPct val="150000"/>
                </a:lnSpc>
                <a:buClr>
                  <a:srgbClr val="00B050"/>
                </a:buClr>
                <a:buNone/>
              </a:pPr>
              <a:r>
                <a:rPr lang="zh-CN" altLang="en-US" b="1" dirty="0">
                  <a:latin typeface="幼圆" panose="02010509060101010101" pitchFamily="49" charset="-122"/>
                </a:rPr>
                <a:t>   评估学习器的性能   也即把预测结果    和真实标记比较</a:t>
              </a:r>
              <a:r>
                <a:rPr lang="en-US" altLang="zh-CN" b="1" dirty="0">
                  <a:latin typeface="幼圆" panose="02010509060101010101" pitchFamily="49" charset="-122"/>
                </a:rPr>
                <a:t>.</a:t>
              </a:r>
              <a:r>
                <a:rPr lang="zh-CN" altLang="en-US" b="1" dirty="0">
                  <a:latin typeface="幼圆" panose="02010509060101010101" pitchFamily="49" charset="-122"/>
                </a:rPr>
                <a:t>  </a:t>
              </a:r>
              <a:endParaRPr lang="zh-CN" altLang="en-US" b="1" dirty="0">
                <a:latin typeface="幼圆" panose="02010509060101010101" pitchFamily="49" charset="-122"/>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90971" y="2799417"/>
              <a:ext cx="3136997" cy="2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0813" y="3301336"/>
              <a:ext cx="181313" cy="247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901" y="3309603"/>
              <a:ext cx="428625" cy="22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组合 2"/>
          <p:cNvGrpSpPr/>
          <p:nvPr/>
        </p:nvGrpSpPr>
        <p:grpSpPr>
          <a:xfrm>
            <a:off x="733320" y="3791473"/>
            <a:ext cx="6973210" cy="1221703"/>
            <a:chOff x="733320" y="3791473"/>
            <a:chExt cx="6973210" cy="993663"/>
          </a:xfrm>
        </p:grpSpPr>
        <p:sp>
          <p:nvSpPr>
            <p:cNvPr id="19" name="内容占位符 2"/>
            <p:cNvSpPr txBox="1"/>
            <p:nvPr/>
          </p:nvSpPr>
          <p:spPr>
            <a:xfrm>
              <a:off x="733320" y="3791473"/>
              <a:ext cx="6973210" cy="73823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zh-CN" altLang="en-US" b="1" dirty="0">
                  <a:solidFill>
                    <a:srgbClr val="0000FF"/>
                  </a:solidFill>
                  <a:latin typeface="幼圆" panose="02010509060101010101" pitchFamily="49" charset="-122"/>
                </a:rPr>
                <a:t>回归任务</a:t>
              </a:r>
              <a:r>
                <a:rPr lang="zh-CN" altLang="en-US" b="1" dirty="0">
                  <a:latin typeface="幼圆" panose="02010509060101010101" pitchFamily="49" charset="-122"/>
                </a:rPr>
                <a:t>最常用的性能度量是“均方误差”：</a:t>
              </a:r>
              <a:endParaRPr lang="zh-CN" altLang="en-US" b="1" dirty="0">
                <a:latin typeface="幼圆" panose="02010509060101010101" pitchFamily="49" charset="-122"/>
              </a:endParaRPr>
            </a:p>
          </p:txBody>
        </p:sp>
        <p:pic>
          <p:nvPicPr>
            <p:cNvPr id="133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988" y="4151089"/>
              <a:ext cx="3735338" cy="634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solidFill>
                  <a:srgbClr val="C00000"/>
                </a:solidFill>
                <a:latin typeface="幼圆" panose="02010509060101010101" pitchFamily="49" charset="-122"/>
                <a:ea typeface="幼圆" panose="02010509060101010101" pitchFamily="49" charset="-122"/>
              </a:rPr>
              <a:t>分类</a:t>
            </a:r>
            <a:endParaRPr lang="zh-CN" altLang="en-US" b="1" dirty="0">
              <a:solidFill>
                <a:srgbClr val="C00000"/>
              </a:solidFill>
              <a:latin typeface="幼圆" panose="02010509060101010101" pitchFamily="49" charset="-122"/>
              <a:ea typeface="幼圆" panose="02010509060101010101" pitchFamily="49" charset="-122"/>
            </a:endParaRPr>
          </a:p>
        </p:txBody>
      </p:sp>
      <p:sp>
        <p:nvSpPr>
          <p:cNvPr id="13" name="内容占位符 2"/>
          <p:cNvSpPr txBox="1"/>
          <p:nvPr/>
        </p:nvSpPr>
        <p:spPr>
          <a:xfrm>
            <a:off x="766992" y="1486946"/>
            <a:ext cx="7045367" cy="158201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对于</a:t>
            </a:r>
            <a:r>
              <a:rPr lang="zh-CN" altLang="en-US" b="1" dirty="0">
                <a:solidFill>
                  <a:srgbClr val="0000FF"/>
                </a:solidFill>
                <a:latin typeface="幼圆" panose="02010509060101010101" pitchFamily="49" charset="-122"/>
              </a:rPr>
              <a:t>分类任务</a:t>
            </a:r>
            <a:r>
              <a:rPr lang="en-US" altLang="zh-CN" b="1" dirty="0">
                <a:latin typeface="幼圆" panose="02010509060101010101" pitchFamily="49" charset="-122"/>
              </a:rPr>
              <a:t>,</a:t>
            </a:r>
            <a:r>
              <a:rPr lang="zh-CN" altLang="en-US" b="1" dirty="0">
                <a:latin typeface="幼圆" panose="02010509060101010101" pitchFamily="49" charset="-122"/>
              </a:rPr>
              <a:t>错误率和精度是最常用的两种性能度量：</a:t>
            </a:r>
            <a:endParaRPr lang="en-US" altLang="zh-CN" b="1" dirty="0">
              <a:latin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rPr>
              <a:t>错误率：分错样本占样本总数的比例</a:t>
            </a:r>
            <a:endParaRPr lang="en-US" altLang="zh-CN" sz="2000" b="1" dirty="0">
              <a:latin typeface="幼圆" panose="02010509060101010101" pitchFamily="49" charset="-122"/>
            </a:endParaRPr>
          </a:p>
          <a:p>
            <a:pPr lvl="2">
              <a:buClr>
                <a:srgbClr val="00B050"/>
              </a:buClr>
              <a:buFont typeface="Wingdings" panose="05000000000000000000" pitchFamily="2" charset="2"/>
              <a:buChar char="p"/>
            </a:pPr>
            <a:r>
              <a:rPr lang="zh-CN" altLang="en-US" sz="2000" b="1" dirty="0">
                <a:latin typeface="幼圆" panose="02010509060101010101" pitchFamily="49" charset="-122"/>
              </a:rPr>
              <a:t>精度：分对样本占样本总数的比率</a:t>
            </a:r>
            <a:endParaRPr lang="en-US" altLang="zh-CN" sz="2000" b="1" dirty="0">
              <a:latin typeface="幼圆" panose="02010509060101010101" pitchFamily="49" charset="-122"/>
            </a:endParaRPr>
          </a:p>
        </p:txBody>
      </p:sp>
      <p:pic>
        <p:nvPicPr>
          <p:cNvPr id="13319"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00084" y="3839284"/>
            <a:ext cx="3623533" cy="801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3839284"/>
            <a:ext cx="3898776" cy="1175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947068" y="3327400"/>
            <a:ext cx="1638300" cy="381000"/>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分类错误率</a:t>
            </a:r>
            <a:endParaRPr lang="zh-CN" altLang="en-US" dirty="0">
              <a:latin typeface="幼圆" panose="02010509060101010101" pitchFamily="49" charset="-122"/>
              <a:ea typeface="幼圆" panose="02010509060101010101" pitchFamily="49" charset="-122"/>
            </a:endParaRPr>
          </a:p>
        </p:txBody>
      </p:sp>
      <p:sp>
        <p:nvSpPr>
          <p:cNvPr id="28" name="TextBox 27"/>
          <p:cNvSpPr txBox="1"/>
          <p:nvPr/>
        </p:nvSpPr>
        <p:spPr>
          <a:xfrm>
            <a:off x="6300192" y="3416387"/>
            <a:ext cx="1638300" cy="381000"/>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精 度</a:t>
            </a:r>
            <a:endParaRPr lang="zh-CN" altLang="en-US"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fade">
                                      <p:cBhvr>
                                        <p:cTn id="7" dur="1000"/>
                                        <p:tgtEl>
                                          <p:spTgt spid="13319"/>
                                        </p:tgtEl>
                                      </p:cBhvr>
                                    </p:animEffect>
                                    <p:anim calcmode="lin" valueType="num">
                                      <p:cBhvr>
                                        <p:cTn id="8" dur="1000" fill="hold"/>
                                        <p:tgtEl>
                                          <p:spTgt spid="13319"/>
                                        </p:tgtEl>
                                        <p:attrNameLst>
                                          <p:attrName>ppt_x</p:attrName>
                                        </p:attrNameLst>
                                      </p:cBhvr>
                                      <p:tavLst>
                                        <p:tav tm="0">
                                          <p:val>
                                            <p:strVal val="#ppt_x"/>
                                          </p:val>
                                        </p:tav>
                                        <p:tav tm="100000">
                                          <p:val>
                                            <p:strVal val="#ppt_x"/>
                                          </p:val>
                                        </p:tav>
                                      </p:tavLst>
                                    </p:anim>
                                    <p:anim calcmode="lin" valueType="num">
                                      <p:cBhvr>
                                        <p:cTn id="9" dur="1000" fill="hold"/>
                                        <p:tgtEl>
                                          <p:spTgt spid="133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320"/>
                                        </p:tgtEl>
                                        <p:attrNameLst>
                                          <p:attrName>style.visibility</p:attrName>
                                        </p:attrNameLst>
                                      </p:cBhvr>
                                      <p:to>
                                        <p:strVal val="visible"/>
                                      </p:to>
                                    </p:set>
                                    <p:animEffect transition="in" filter="fade">
                                      <p:cBhvr>
                                        <p:cTn id="19" dur="1000"/>
                                        <p:tgtEl>
                                          <p:spTgt spid="13320"/>
                                        </p:tgtEl>
                                      </p:cBhvr>
                                    </p:animEffect>
                                    <p:anim calcmode="lin" valueType="num">
                                      <p:cBhvr>
                                        <p:cTn id="20" dur="1000" fill="hold"/>
                                        <p:tgtEl>
                                          <p:spTgt spid="13320"/>
                                        </p:tgtEl>
                                        <p:attrNameLst>
                                          <p:attrName>ppt_x</p:attrName>
                                        </p:attrNameLst>
                                      </p:cBhvr>
                                      <p:tavLst>
                                        <p:tav tm="0">
                                          <p:val>
                                            <p:strVal val="#ppt_x"/>
                                          </p:val>
                                        </p:tav>
                                        <p:tav tm="100000">
                                          <p:val>
                                            <p:strVal val="#ppt_x"/>
                                          </p:val>
                                        </p:tav>
                                      </p:tavLst>
                                    </p:anim>
                                    <p:anim calcmode="lin" valueType="num">
                                      <p:cBhvr>
                                        <p:cTn id="21" dur="1000" fill="hold"/>
                                        <p:tgtEl>
                                          <p:spTgt spid="133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solidFill>
                  <a:srgbClr val="C00000"/>
                </a:solidFill>
                <a:latin typeface="幼圆" panose="02010509060101010101" pitchFamily="49" charset="-122"/>
                <a:ea typeface="幼圆" panose="02010509060101010101" pitchFamily="49" charset="-122"/>
              </a:rPr>
              <a:t>检索</a:t>
            </a:r>
            <a:endParaRPr lang="zh-CN" altLang="en-US" b="1" dirty="0">
              <a:solidFill>
                <a:srgbClr val="C00000"/>
              </a:solidFill>
              <a:latin typeface="幼圆" panose="02010509060101010101" pitchFamily="49" charset="-122"/>
              <a:ea typeface="幼圆" panose="02010509060101010101" pitchFamily="49" charset="-122"/>
            </a:endParaRPr>
          </a:p>
        </p:txBody>
      </p:sp>
      <p:sp>
        <p:nvSpPr>
          <p:cNvPr id="13" name="内容占位符 2"/>
          <p:cNvSpPr txBox="1"/>
          <p:nvPr/>
        </p:nvSpPr>
        <p:spPr>
          <a:xfrm>
            <a:off x="766992" y="1486947"/>
            <a:ext cx="7405407" cy="1156732"/>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800"/>
              </a:lnSpc>
              <a:buClr>
                <a:srgbClr val="00B050"/>
              </a:buClr>
              <a:buFont typeface="Wingdings" panose="05000000000000000000" pitchFamily="2" charset="2"/>
              <a:buChar char="p"/>
            </a:pPr>
            <a:r>
              <a:rPr lang="zh-CN" altLang="en-US" b="1" dirty="0">
                <a:solidFill>
                  <a:srgbClr val="0000FF"/>
                </a:solidFill>
                <a:latin typeface="幼圆" panose="02010509060101010101" pitchFamily="49" charset="-122"/>
              </a:rPr>
              <a:t>查准率</a:t>
            </a:r>
            <a:r>
              <a:rPr lang="en-US" altLang="zh-CN" b="1" dirty="0">
                <a:solidFill>
                  <a:srgbClr val="0000FF"/>
                </a:solidFill>
                <a:latin typeface="幼圆" panose="02010509060101010101" pitchFamily="49" charset="-122"/>
              </a:rPr>
              <a:t>-</a:t>
            </a:r>
            <a:r>
              <a:rPr lang="zh-CN" altLang="en-US" b="1" dirty="0">
                <a:solidFill>
                  <a:srgbClr val="0000FF"/>
                </a:solidFill>
                <a:latin typeface="幼圆" panose="02010509060101010101" pitchFamily="49" charset="-122"/>
              </a:rPr>
              <a:t>查全率</a:t>
            </a:r>
            <a:r>
              <a:rPr lang="zh-CN" altLang="en-US" b="1" dirty="0">
                <a:latin typeface="幼圆" panose="02010509060101010101" pitchFamily="49" charset="-122"/>
              </a:rPr>
              <a:t>：信息检索、</a:t>
            </a:r>
            <a:r>
              <a:rPr lang="en-US" altLang="zh-CN" b="1" dirty="0">
                <a:latin typeface="幼圆" panose="02010509060101010101" pitchFamily="49" charset="-122"/>
              </a:rPr>
              <a:t>Web</a:t>
            </a:r>
            <a:r>
              <a:rPr lang="zh-CN" altLang="en-US" b="1" dirty="0">
                <a:latin typeface="幼圆" panose="02010509060101010101" pitchFamily="49" charset="-122"/>
              </a:rPr>
              <a:t>搜索等场景中经常需要衡量正例被预测出来的比率或者预测出来的正例中正确的比率，此时查准率和查全率比错误率和精度更适合。</a:t>
            </a:r>
            <a:endParaRPr lang="zh-CN" altLang="en-US" b="1" dirty="0">
              <a:latin typeface="幼圆" panose="02010509060101010101" pitchFamily="49" charset="-122"/>
            </a:endParaRPr>
          </a:p>
        </p:txBody>
      </p:sp>
      <p:sp>
        <p:nvSpPr>
          <p:cNvPr id="8" name="内容占位符 2"/>
          <p:cNvSpPr txBox="1"/>
          <p:nvPr/>
        </p:nvSpPr>
        <p:spPr>
          <a:xfrm>
            <a:off x="766993" y="2909347"/>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统计真实标记和预测结果的组合可以得到“</a:t>
            </a:r>
            <a:r>
              <a:rPr lang="zh-CN" altLang="en-US" b="1" dirty="0">
                <a:solidFill>
                  <a:srgbClr val="0000FF"/>
                </a:solidFill>
                <a:latin typeface="幼圆" panose="02010509060101010101" pitchFamily="49" charset="-122"/>
              </a:rPr>
              <a:t>混淆矩阵</a:t>
            </a:r>
            <a:r>
              <a:rPr lang="zh-CN" altLang="en-US" b="1" dirty="0">
                <a:latin typeface="幼圆" panose="02010509060101010101" pitchFamily="49" charset="-122"/>
              </a:rPr>
              <a:t>”</a:t>
            </a:r>
            <a:endParaRPr lang="zh-CN" altLang="en-US" b="1" dirty="0">
              <a:latin typeface="幼圆" panose="02010509060101010101" pitchFamily="49" charset="-122"/>
            </a:endParaRPr>
          </a:p>
        </p:txBody>
      </p:sp>
      <p:pic>
        <p:nvPicPr>
          <p:cNvPr id="14340"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18637" y="3951074"/>
            <a:ext cx="3975664" cy="142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5461000" y="4292813"/>
            <a:ext cx="942975" cy="369332"/>
          </a:xfrm>
          <a:prstGeom prst="rect">
            <a:avLst/>
          </a:prstGeom>
          <a:noFill/>
        </p:spPr>
        <p:txBody>
          <a:bodyPr wrap="square" rtlCol="0">
            <a:spAutoFit/>
          </a:bodyPr>
          <a:lstStyle/>
          <a:p>
            <a:r>
              <a:rPr lang="zh-CN" altLang="en-US" dirty="0"/>
              <a:t>查准率</a:t>
            </a:r>
            <a:endParaRPr lang="zh-CN" altLang="en-US" dirty="0"/>
          </a:p>
        </p:txBody>
      </p:sp>
      <p:pic>
        <p:nvPicPr>
          <p:cNvPr id="143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975" y="4235523"/>
            <a:ext cx="1231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5486400" y="4927813"/>
            <a:ext cx="942975" cy="369332"/>
          </a:xfrm>
          <a:prstGeom prst="rect">
            <a:avLst/>
          </a:prstGeom>
          <a:noFill/>
        </p:spPr>
        <p:txBody>
          <a:bodyPr wrap="square" rtlCol="0">
            <a:spAutoFit/>
          </a:bodyPr>
          <a:lstStyle/>
          <a:p>
            <a:r>
              <a:rPr lang="zh-CN" altLang="en-US" dirty="0"/>
              <a:t>查全率</a:t>
            </a:r>
            <a:endParaRPr lang="zh-CN" altLang="en-US" dirty="0"/>
          </a:p>
        </p:txBody>
      </p:sp>
      <p:pic>
        <p:nvPicPr>
          <p:cNvPr id="1434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348" y="4919315"/>
            <a:ext cx="1204227" cy="42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1000"/>
                                        <p:tgtEl>
                                          <p:spTgt spid="14340"/>
                                        </p:tgtEl>
                                      </p:cBhvr>
                                    </p:animEffect>
                                    <p:anim calcmode="lin" valueType="num">
                                      <p:cBhvr>
                                        <p:cTn id="13" dur="1000" fill="hold"/>
                                        <p:tgtEl>
                                          <p:spTgt spid="14340"/>
                                        </p:tgtEl>
                                        <p:attrNameLst>
                                          <p:attrName>ppt_x</p:attrName>
                                        </p:attrNameLst>
                                      </p:cBhvr>
                                      <p:tavLst>
                                        <p:tav tm="0">
                                          <p:val>
                                            <p:strVal val="#ppt_x"/>
                                          </p:val>
                                        </p:tav>
                                        <p:tav tm="100000">
                                          <p:val>
                                            <p:strVal val="#ppt_x"/>
                                          </p:val>
                                        </p:tav>
                                      </p:tavLst>
                                    </p:anim>
                                    <p:anim calcmode="lin" valueType="num">
                                      <p:cBhvr>
                                        <p:cTn id="14" dur="1000" fill="hold"/>
                                        <p:tgtEl>
                                          <p:spTgt spid="1434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fade">
                                      <p:cBhvr>
                                        <p:cTn id="22" dur="1000"/>
                                        <p:tgtEl>
                                          <p:spTgt spid="14341"/>
                                        </p:tgtEl>
                                      </p:cBhvr>
                                    </p:animEffect>
                                    <p:anim calcmode="lin" valueType="num">
                                      <p:cBhvr>
                                        <p:cTn id="23" dur="1000" fill="hold"/>
                                        <p:tgtEl>
                                          <p:spTgt spid="14341"/>
                                        </p:tgtEl>
                                        <p:attrNameLst>
                                          <p:attrName>ppt_x</p:attrName>
                                        </p:attrNameLst>
                                      </p:cBhvr>
                                      <p:tavLst>
                                        <p:tav tm="0">
                                          <p:val>
                                            <p:strVal val="#ppt_x"/>
                                          </p:val>
                                        </p:tav>
                                        <p:tav tm="100000">
                                          <p:val>
                                            <p:strVal val="#ppt_x"/>
                                          </p:val>
                                        </p:tav>
                                      </p:tavLst>
                                    </p:anim>
                                    <p:anim calcmode="lin" valueType="num">
                                      <p:cBhvr>
                                        <p:cTn id="24" dur="1000" fill="hold"/>
                                        <p:tgtEl>
                                          <p:spTgt spid="1434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fade">
                                      <p:cBhvr>
                                        <p:cTn id="32" dur="1000"/>
                                        <p:tgtEl>
                                          <p:spTgt spid="14342"/>
                                        </p:tgtEl>
                                      </p:cBhvr>
                                    </p:animEffect>
                                    <p:anim calcmode="lin" valueType="num">
                                      <p:cBhvr>
                                        <p:cTn id="33" dur="1000" fill="hold"/>
                                        <p:tgtEl>
                                          <p:spTgt spid="14342"/>
                                        </p:tgtEl>
                                        <p:attrNameLst>
                                          <p:attrName>ppt_x</p:attrName>
                                        </p:attrNameLst>
                                      </p:cBhvr>
                                      <p:tavLst>
                                        <p:tav tm="0">
                                          <p:val>
                                            <p:strVal val="#ppt_x"/>
                                          </p:val>
                                        </p:tav>
                                        <p:tav tm="100000">
                                          <p:val>
                                            <p:strVal val="#ppt_x"/>
                                          </p:val>
                                        </p:tav>
                                      </p:tavLst>
                                    </p:anim>
                                    <p:anim calcmode="lin" valueType="num">
                                      <p:cBhvr>
                                        <p:cTn id="34" dur="1000" fill="hold"/>
                                        <p:tgtEl>
                                          <p:spTgt spid="143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1763688" y="908720"/>
            <a:ext cx="4608512" cy="504056"/>
          </a:xfrm>
        </p:spPr>
        <p:txBody>
          <a:bodyPr anchor="b">
            <a:noAutofit/>
          </a:bodyPr>
          <a:lstStyle/>
          <a:p>
            <a:pPr algn="ctr" eaLnBrk="1" hangingPunct="1">
              <a:spcBef>
                <a:spcPct val="0"/>
              </a:spcBef>
              <a:defRPr/>
            </a:pPr>
            <a:r>
              <a:rPr altLang="en-US" sz="4000" dirty="0" err="1">
                <a:latin typeface="幼圆" panose="02010509060101010101" pitchFamily="49" charset="-122"/>
                <a:ea typeface="幼圆" panose="02010509060101010101" pitchFamily="49" charset="-122"/>
                <a:cs typeface="+mj-cs"/>
              </a:rPr>
              <a:t>分类评价指标</a:t>
            </a:r>
            <a:endParaRPr altLang="en-US" sz="4000" dirty="0">
              <a:latin typeface="幼圆" panose="02010509060101010101" pitchFamily="49" charset="-122"/>
              <a:ea typeface="幼圆" panose="02010509060101010101" pitchFamily="49" charset="-122"/>
              <a:cs typeface="+mj-cs"/>
            </a:endParaRPr>
          </a:p>
        </p:txBody>
      </p:sp>
      <p:sp>
        <p:nvSpPr>
          <p:cNvPr id="47107" name="内容占位符 9"/>
          <p:cNvSpPr>
            <a:spLocks noGrp="1"/>
          </p:cNvSpPr>
          <p:nvPr>
            <p:ph sz="half" idx="2"/>
          </p:nvPr>
        </p:nvSpPr>
        <p:spPr>
          <a:xfrm>
            <a:off x="467544" y="1844825"/>
            <a:ext cx="8496944" cy="3600400"/>
          </a:xfrm>
        </p:spPr>
        <p:txBody>
          <a:bodyPr>
            <a:noAutofit/>
          </a:bodyPr>
          <a:lstStyle/>
          <a:p>
            <a:pPr eaLnBrk="1" hangingPunct="1">
              <a:lnSpc>
                <a:spcPct val="150000"/>
              </a:lnSpc>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混淆矩阵</a:t>
            </a:r>
            <a:r>
              <a:rPr lang="en-US" altLang="zh-CN" sz="2000" b="1" dirty="0">
                <a:latin typeface="幼圆" panose="02010509060101010101" pitchFamily="49" charset="-122"/>
                <a:ea typeface="幼圆" panose="02010509060101010101" pitchFamily="49" charset="-122"/>
              </a:rPr>
              <a:t> Confusion Matrix</a:t>
            </a:r>
            <a:endParaRPr lang="en-US" altLang="zh-CN" sz="2000"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pPr>
            <a:r>
              <a:rPr lang="en-US" altLang="en-US" b="1" dirty="0">
                <a:latin typeface="幼圆" panose="02010509060101010101" pitchFamily="49" charset="-122"/>
                <a:ea typeface="幼圆" panose="02010509060101010101" pitchFamily="49" charset="-122"/>
              </a:rPr>
              <a:t>True Positive(</a:t>
            </a:r>
            <a:r>
              <a:rPr altLang="en-US" b="1" dirty="0" err="1">
                <a:latin typeface="幼圆" panose="02010509060101010101" pitchFamily="49" charset="-122"/>
                <a:ea typeface="幼圆" panose="02010509060101010101" pitchFamily="49" charset="-122"/>
              </a:rPr>
              <a:t>真正</a:t>
            </a:r>
            <a:r>
              <a:rPr lang="en-US" altLang="zh-CN" b="1" dirty="0">
                <a:latin typeface="幼圆" panose="02010509060101010101" pitchFamily="49" charset="-122"/>
                <a:ea typeface="幼圆" panose="02010509060101010101" pitchFamily="49" charset="-122"/>
              </a:rPr>
              <a:t>, </a:t>
            </a:r>
            <a:r>
              <a:rPr lang="en-US" altLang="en-US" b="1" dirty="0">
                <a:latin typeface="幼圆" panose="02010509060101010101" pitchFamily="49" charset="-122"/>
                <a:ea typeface="幼圆" panose="02010509060101010101" pitchFamily="49" charset="-122"/>
              </a:rPr>
              <a:t>TP)：</a:t>
            </a:r>
            <a:r>
              <a:rPr altLang="en-US" b="1" dirty="0" err="1">
                <a:latin typeface="幼圆" panose="02010509060101010101" pitchFamily="49" charset="-122"/>
                <a:ea typeface="幼圆" panose="02010509060101010101" pitchFamily="49" charset="-122"/>
              </a:rPr>
              <a:t>将正类预测为正类数</a:t>
            </a:r>
            <a:r>
              <a:rPr lang="en-US" altLang="zh-CN" b="1" dirty="0">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pPr>
            <a:r>
              <a:rPr lang="en-US" altLang="en-US" b="1" dirty="0">
                <a:latin typeface="幼圆" panose="02010509060101010101" pitchFamily="49" charset="-122"/>
                <a:ea typeface="幼圆" panose="02010509060101010101" pitchFamily="49" charset="-122"/>
              </a:rPr>
              <a:t>True Negative(</a:t>
            </a:r>
            <a:r>
              <a:rPr altLang="en-US" b="1" dirty="0" err="1">
                <a:latin typeface="幼圆" panose="02010509060101010101" pitchFamily="49" charset="-122"/>
                <a:ea typeface="幼圆" panose="02010509060101010101" pitchFamily="49" charset="-122"/>
              </a:rPr>
              <a:t>真负</a:t>
            </a:r>
            <a:r>
              <a:rPr altLang="en-US" b="1" dirty="0">
                <a:latin typeface="幼圆" panose="02010509060101010101" pitchFamily="49" charset="-122"/>
                <a:ea typeface="幼圆" panose="02010509060101010101" pitchFamily="49" charset="-122"/>
              </a:rPr>
              <a:t> </a:t>
            </a:r>
            <a:r>
              <a:rPr lang="en-US" altLang="zh-CN" b="1" dirty="0">
                <a:latin typeface="幼圆" panose="02010509060101010101" pitchFamily="49" charset="-122"/>
                <a:ea typeface="幼圆" panose="02010509060101010101" pitchFamily="49" charset="-122"/>
              </a:rPr>
              <a:t>, </a:t>
            </a:r>
            <a:r>
              <a:rPr lang="en-US" altLang="en-US" b="1" dirty="0">
                <a:latin typeface="幼圆" panose="02010509060101010101" pitchFamily="49" charset="-122"/>
                <a:ea typeface="幼圆" panose="02010509060101010101" pitchFamily="49" charset="-122"/>
              </a:rPr>
              <a:t>TN)：</a:t>
            </a:r>
            <a:r>
              <a:rPr altLang="en-US" b="1" dirty="0" err="1">
                <a:latin typeface="幼圆" panose="02010509060101010101" pitchFamily="49" charset="-122"/>
                <a:ea typeface="幼圆" panose="02010509060101010101" pitchFamily="49" charset="-122"/>
              </a:rPr>
              <a:t>将负类预测为负类数</a:t>
            </a:r>
            <a:r>
              <a:rPr lang="en-US" altLang="zh-CN" b="1" dirty="0">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pPr>
            <a:r>
              <a:rPr lang="en-US" altLang="en-US" b="1" dirty="0">
                <a:latin typeface="幼圆" panose="02010509060101010101" pitchFamily="49" charset="-122"/>
                <a:ea typeface="幼圆" panose="02010509060101010101" pitchFamily="49" charset="-122"/>
              </a:rPr>
              <a:t>False Positive(</a:t>
            </a:r>
            <a:r>
              <a:rPr altLang="en-US" b="1" dirty="0" err="1">
                <a:latin typeface="幼圆" panose="02010509060101010101" pitchFamily="49" charset="-122"/>
                <a:ea typeface="幼圆" panose="02010509060101010101" pitchFamily="49" charset="-122"/>
              </a:rPr>
              <a:t>假正</a:t>
            </a:r>
            <a:r>
              <a:rPr lang="en-US" altLang="zh-CN" b="1" dirty="0">
                <a:latin typeface="幼圆" panose="02010509060101010101" pitchFamily="49" charset="-122"/>
                <a:ea typeface="幼圆" panose="02010509060101010101" pitchFamily="49" charset="-122"/>
              </a:rPr>
              <a:t>, </a:t>
            </a:r>
            <a:r>
              <a:rPr lang="en-US" altLang="en-US" b="1" dirty="0">
                <a:latin typeface="幼圆" panose="02010509060101010101" pitchFamily="49" charset="-122"/>
                <a:ea typeface="幼圆" panose="02010509060101010101" pitchFamily="49" charset="-122"/>
              </a:rPr>
              <a:t>FP)：</a:t>
            </a:r>
            <a:r>
              <a:rPr altLang="en-US" b="1" dirty="0" err="1">
                <a:latin typeface="幼圆" panose="02010509060101010101" pitchFamily="49" charset="-122"/>
                <a:ea typeface="幼圆" panose="02010509060101010101" pitchFamily="49" charset="-122"/>
              </a:rPr>
              <a:t>将负类预测为正类数</a:t>
            </a:r>
            <a:r>
              <a:rPr altLang="en-US" b="1" dirty="0">
                <a:latin typeface="幼圆" panose="02010509060101010101" pitchFamily="49" charset="-122"/>
                <a:ea typeface="幼圆" panose="02010509060101010101" pitchFamily="49" charset="-122"/>
              </a:rPr>
              <a:t> → → </a:t>
            </a:r>
            <a:r>
              <a:rPr altLang="en-US" b="1" dirty="0" err="1">
                <a:latin typeface="幼圆" panose="02010509060101010101" pitchFamily="49" charset="-122"/>
                <a:ea typeface="幼圆" panose="02010509060101010101" pitchFamily="49" charset="-122"/>
              </a:rPr>
              <a:t>误报</a:t>
            </a:r>
            <a:r>
              <a:rPr altLang="en-US" b="1" dirty="0">
                <a:latin typeface="幼圆" panose="02010509060101010101" pitchFamily="49" charset="-122"/>
                <a:ea typeface="幼圆" panose="02010509060101010101" pitchFamily="49" charset="-122"/>
              </a:rPr>
              <a:t> </a:t>
            </a:r>
            <a:r>
              <a:rPr lang="en-US" altLang="zh-CN" b="1" dirty="0">
                <a:latin typeface="幼圆" panose="02010509060101010101" pitchFamily="49" charset="-122"/>
                <a:ea typeface="幼圆" panose="02010509060101010101" pitchFamily="49" charset="-122"/>
              </a:rPr>
              <a:t>(</a:t>
            </a:r>
            <a:r>
              <a:rPr lang="en-US" altLang="en-US" b="1" dirty="0">
                <a:latin typeface="幼圆" panose="02010509060101010101" pitchFamily="49" charset="-122"/>
                <a:ea typeface="幼圆" panose="02010509060101010101" pitchFamily="49" charset="-122"/>
              </a:rPr>
              <a:t>Type I error).</a:t>
            </a:r>
            <a:endParaRPr lang="en-US" altLang="en-US"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pPr>
            <a:r>
              <a:rPr lang="en-US" altLang="en-US" b="1" dirty="0">
                <a:latin typeface="幼圆" panose="02010509060101010101" pitchFamily="49" charset="-122"/>
                <a:ea typeface="幼圆" panose="02010509060101010101" pitchFamily="49" charset="-122"/>
              </a:rPr>
              <a:t>False Negative(</a:t>
            </a:r>
            <a:r>
              <a:rPr altLang="en-US" b="1" dirty="0" err="1">
                <a:latin typeface="幼圆" panose="02010509060101010101" pitchFamily="49" charset="-122"/>
                <a:ea typeface="幼圆" panose="02010509060101010101" pitchFamily="49" charset="-122"/>
              </a:rPr>
              <a:t>假负</a:t>
            </a:r>
            <a:r>
              <a:rPr altLang="en-US" b="1" dirty="0">
                <a:latin typeface="幼圆" panose="02010509060101010101" pitchFamily="49" charset="-122"/>
                <a:ea typeface="幼圆" panose="02010509060101010101" pitchFamily="49" charset="-122"/>
              </a:rPr>
              <a:t> </a:t>
            </a:r>
            <a:r>
              <a:rPr lang="en-US" altLang="zh-CN" b="1" dirty="0">
                <a:latin typeface="幼圆" panose="02010509060101010101" pitchFamily="49" charset="-122"/>
                <a:ea typeface="幼圆" panose="02010509060101010101" pitchFamily="49" charset="-122"/>
              </a:rPr>
              <a:t>, </a:t>
            </a:r>
            <a:r>
              <a:rPr lang="en-US" altLang="en-US" b="1" dirty="0">
                <a:latin typeface="幼圆" panose="02010509060101010101" pitchFamily="49" charset="-122"/>
                <a:ea typeface="幼圆" panose="02010509060101010101" pitchFamily="49" charset="-122"/>
              </a:rPr>
              <a:t>FN)：</a:t>
            </a:r>
            <a:r>
              <a:rPr altLang="en-US" b="1" dirty="0" err="1">
                <a:latin typeface="幼圆" panose="02010509060101010101" pitchFamily="49" charset="-122"/>
                <a:ea typeface="幼圆" panose="02010509060101010101" pitchFamily="49" charset="-122"/>
              </a:rPr>
              <a:t>将正类预测为负类数</a:t>
            </a:r>
            <a:r>
              <a:rPr altLang="en-US" b="1" dirty="0">
                <a:latin typeface="幼圆" panose="02010509060101010101" pitchFamily="49" charset="-122"/>
                <a:ea typeface="幼圆" panose="02010509060101010101" pitchFamily="49" charset="-122"/>
              </a:rPr>
              <a:t> → → </a:t>
            </a:r>
            <a:r>
              <a:rPr altLang="en-US" b="1" dirty="0" err="1">
                <a:latin typeface="幼圆" panose="02010509060101010101" pitchFamily="49" charset="-122"/>
                <a:ea typeface="幼圆" panose="02010509060101010101" pitchFamily="49" charset="-122"/>
              </a:rPr>
              <a:t>漏报</a:t>
            </a:r>
            <a:r>
              <a:rPr altLang="en-US" b="1" dirty="0">
                <a:latin typeface="幼圆" panose="02010509060101010101" pitchFamily="49" charset="-122"/>
                <a:ea typeface="幼圆" panose="02010509060101010101" pitchFamily="49" charset="-122"/>
              </a:rPr>
              <a:t> </a:t>
            </a:r>
            <a:r>
              <a:rPr lang="en-US" altLang="zh-CN" b="1" dirty="0">
                <a:latin typeface="幼圆" panose="02010509060101010101" pitchFamily="49" charset="-122"/>
                <a:ea typeface="幼圆" panose="02010509060101010101" pitchFamily="49" charset="-122"/>
              </a:rPr>
              <a:t>(</a:t>
            </a:r>
            <a:r>
              <a:rPr lang="en-US" altLang="en-US" b="1" dirty="0">
                <a:latin typeface="幼圆" panose="02010509060101010101" pitchFamily="49" charset="-122"/>
                <a:ea typeface="幼圆" panose="02010509060101010101" pitchFamily="49" charset="-122"/>
              </a:rPr>
              <a:t>Type II error).</a:t>
            </a:r>
            <a:endParaRPr altLang="en-US"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内容占位符 9"/>
          <p:cNvSpPr>
            <a:spLocks noGrp="1"/>
          </p:cNvSpPr>
          <p:nvPr>
            <p:ph sz="half" idx="2"/>
          </p:nvPr>
        </p:nvSpPr>
        <p:spPr>
          <a:xfrm>
            <a:off x="827584" y="836712"/>
            <a:ext cx="7992888" cy="5184576"/>
          </a:xfrm>
        </p:spPr>
        <p:txBody>
          <a:bodyPr>
            <a:normAutofit/>
          </a:bodyPr>
          <a:lstStyle/>
          <a:p>
            <a:pPr eaLnBrk="1" hangingPunct="1">
              <a:lnSpc>
                <a:spcPct val="150000"/>
              </a:lnSpc>
              <a:buClr>
                <a:srgbClr val="00B050"/>
              </a:buClr>
              <a:buFont typeface="Wingdings" panose="05000000000000000000" pitchFamily="2" charset="2"/>
              <a:buChar char="p"/>
            </a:pPr>
            <a:r>
              <a:rPr lang="zh-CN" altLang="en-US" sz="2000" b="1" dirty="0" smtClean="0">
                <a:solidFill>
                  <a:srgbClr val="FF0000"/>
                </a:solidFill>
                <a:latin typeface="幼圆" panose="02010509060101010101" pitchFamily="49" charset="-122"/>
                <a:ea typeface="幼圆" panose="02010509060101010101" pitchFamily="49" charset="-122"/>
              </a:rPr>
              <a:t>查准率</a:t>
            </a:r>
            <a:r>
              <a:rPr altLang="en-US" sz="2000" b="1" dirty="0" err="1" smtClean="0">
                <a:latin typeface="幼圆" panose="02010509060101010101" pitchFamily="49" charset="-122"/>
                <a:ea typeface="幼圆" panose="02010509060101010101" pitchFamily="49" charset="-122"/>
              </a:rPr>
              <a:t>是针对</a:t>
            </a:r>
            <a:r>
              <a:rPr altLang="en-US" sz="2000" b="1" dirty="0" err="1" smtClean="0">
                <a:solidFill>
                  <a:srgbClr val="C00000"/>
                </a:solidFill>
                <a:latin typeface="幼圆" panose="02010509060101010101" pitchFamily="49" charset="-122"/>
                <a:ea typeface="幼圆" panose="02010509060101010101" pitchFamily="49" charset="-122"/>
              </a:rPr>
              <a:t>预测结果</a:t>
            </a:r>
            <a:r>
              <a:rPr altLang="en-US" sz="2000" b="1" dirty="0" err="1" smtClean="0">
                <a:latin typeface="幼圆" panose="02010509060101010101" pitchFamily="49" charset="-122"/>
                <a:ea typeface="幼圆" panose="02010509060101010101" pitchFamily="49" charset="-122"/>
              </a:rPr>
              <a:t>而言的</a:t>
            </a:r>
            <a:r>
              <a:rPr altLang="en-US" sz="2000" b="1" dirty="0" err="1">
                <a:latin typeface="幼圆" panose="02010509060101010101" pitchFamily="49" charset="-122"/>
                <a:ea typeface="幼圆" panose="02010509060101010101" pitchFamily="49" charset="-122"/>
              </a:rPr>
              <a:t>，它表示的是预测为正的样本中有多少是真正的正样本。预测为正就有两种可能</a:t>
            </a:r>
            <a:r>
              <a:rPr lang="en-US" altLang="zh-CN" sz="2000" b="1" dirty="0" err="1">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一种就是把正类预测为正类</a:t>
            </a:r>
            <a:r>
              <a:rPr lang="en-US" altLang="zh-CN" sz="2000" b="1" dirty="0">
                <a:latin typeface="幼圆" panose="02010509060101010101" pitchFamily="49" charset="-122"/>
                <a:ea typeface="幼圆" panose="02010509060101010101" pitchFamily="49" charset="-122"/>
              </a:rPr>
              <a:t>(TP)</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另一种就是把负类预测为正类</a:t>
            </a:r>
            <a:r>
              <a:rPr lang="en-US" altLang="zh-CN" sz="2000" b="1" dirty="0">
                <a:latin typeface="幼圆" panose="02010509060101010101" pitchFamily="49" charset="-122"/>
                <a:ea typeface="幼圆" panose="02010509060101010101" pitchFamily="49" charset="-122"/>
              </a:rPr>
              <a:t>(FP)</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也就是</a:t>
            </a:r>
            <a:endParaRPr lang="en-US" altLang="zh-CN" sz="2000" b="1" dirty="0">
              <a:latin typeface="幼圆" panose="02010509060101010101" pitchFamily="49" charset="-122"/>
              <a:ea typeface="幼圆" panose="02010509060101010101" pitchFamily="49" charset="-122"/>
            </a:endParaRPr>
          </a:p>
          <a:p>
            <a:pPr marL="0" indent="0" eaLnBrk="1" hangingPunct="1">
              <a:lnSpc>
                <a:spcPct val="150000"/>
              </a:lnSpc>
              <a:buClr>
                <a:srgbClr val="00B050"/>
              </a:buClr>
              <a:buNone/>
            </a:pPr>
            <a:endParaRPr lang="en-US" altLang="en-US" sz="2000" b="1" dirty="0">
              <a:solidFill>
                <a:srgbClr val="C00000"/>
              </a:solidFill>
              <a:latin typeface="幼圆" panose="02010509060101010101" pitchFamily="49" charset="-122"/>
              <a:ea typeface="幼圆" panose="02010509060101010101" pitchFamily="49" charset="-122"/>
            </a:endParaRPr>
          </a:p>
          <a:p>
            <a:pPr marL="0" indent="0" eaLnBrk="1" hangingPunct="1">
              <a:lnSpc>
                <a:spcPct val="150000"/>
              </a:lnSpc>
              <a:buClr>
                <a:srgbClr val="00B050"/>
              </a:buClr>
              <a:buNone/>
            </a:pPr>
            <a:endParaRPr lang="en-US" altLang="en-US" sz="2000" b="1" dirty="0">
              <a:solidFill>
                <a:srgbClr val="C00000"/>
              </a:solidFill>
              <a:latin typeface="幼圆" panose="02010509060101010101" pitchFamily="49" charset="-122"/>
              <a:ea typeface="幼圆" panose="02010509060101010101" pitchFamily="49" charset="-122"/>
            </a:endParaRPr>
          </a:p>
          <a:p>
            <a:pPr>
              <a:lnSpc>
                <a:spcPct val="150000"/>
              </a:lnSpc>
              <a:buClr>
                <a:srgbClr val="00B050"/>
              </a:buClr>
              <a:buFont typeface="Wingdings" panose="05000000000000000000" pitchFamily="2" charset="2"/>
              <a:buChar char="p"/>
            </a:pPr>
            <a:r>
              <a:rPr lang="zh-CN" altLang="en-US" sz="2000" b="1" dirty="0">
                <a:solidFill>
                  <a:srgbClr val="C00000"/>
                </a:solidFill>
                <a:latin typeface="幼圆" panose="02010509060101010101" pitchFamily="49" charset="-122"/>
                <a:ea typeface="幼圆" panose="02010509060101010101" pitchFamily="49" charset="-122"/>
              </a:rPr>
              <a:t>查全率（召回率）</a:t>
            </a:r>
            <a:r>
              <a:rPr altLang="en-US" sz="2000" b="1" dirty="0" err="1" smtClean="0">
                <a:latin typeface="幼圆" panose="02010509060101010101" pitchFamily="49" charset="-122"/>
                <a:ea typeface="幼圆" panose="02010509060101010101" pitchFamily="49" charset="-122"/>
              </a:rPr>
              <a:t>是针对</a:t>
            </a:r>
            <a:r>
              <a:rPr altLang="en-US" sz="2000" b="1" dirty="0" err="1" smtClean="0">
                <a:solidFill>
                  <a:srgbClr val="C00000"/>
                </a:solidFill>
                <a:latin typeface="幼圆" panose="02010509060101010101" pitchFamily="49" charset="-122"/>
                <a:ea typeface="幼圆" panose="02010509060101010101" pitchFamily="49" charset="-122"/>
              </a:rPr>
              <a:t>原来的样本</a:t>
            </a:r>
            <a:r>
              <a:rPr altLang="en-US" sz="2000" b="1" dirty="0" err="1" smtClean="0">
                <a:latin typeface="幼圆" panose="02010509060101010101" pitchFamily="49" charset="-122"/>
                <a:ea typeface="幼圆" panose="02010509060101010101" pitchFamily="49" charset="-122"/>
              </a:rPr>
              <a:t>而言的</a:t>
            </a:r>
            <a:r>
              <a:rPr altLang="en-US" sz="2000" b="1" dirty="0" err="1">
                <a:latin typeface="幼圆" panose="02010509060101010101" pitchFamily="49" charset="-122"/>
                <a:ea typeface="幼圆" panose="02010509060101010101" pitchFamily="49" charset="-122"/>
              </a:rPr>
              <a:t>，它表示样本中的正例有多少被预测正确了。有两种可能</a:t>
            </a:r>
            <a:r>
              <a:rPr lang="en-US" altLang="zh-CN" sz="2000" b="1" dirty="0" err="1">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一种是把原来的正类预测成正类</a:t>
            </a:r>
            <a:r>
              <a:rPr lang="en-US" altLang="zh-CN" sz="2000" b="1" dirty="0">
                <a:latin typeface="幼圆" panose="02010509060101010101" pitchFamily="49" charset="-122"/>
                <a:ea typeface="幼圆" panose="02010509060101010101" pitchFamily="49" charset="-122"/>
              </a:rPr>
              <a:t>(TP)</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另一种就是把原来的正类预测为负类</a:t>
            </a:r>
            <a:r>
              <a:rPr lang="en-US" altLang="zh-CN" sz="2000" b="1" dirty="0">
                <a:latin typeface="幼圆" panose="02010509060101010101" pitchFamily="49" charset="-122"/>
                <a:ea typeface="幼圆" panose="02010509060101010101" pitchFamily="49" charset="-122"/>
              </a:rPr>
              <a:t>(FN)</a:t>
            </a:r>
            <a:r>
              <a:rPr altLang="en-US"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p:txBody>
      </p:sp>
      <p:pic>
        <p:nvPicPr>
          <p:cNvPr id="48134"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05245" y="2434077"/>
            <a:ext cx="2261638" cy="76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5245" y="4797152"/>
            <a:ext cx="2533509"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图片 3"/>
          <p:cNvPicPr>
            <a:picLocks noChangeAspect="1"/>
          </p:cNvPicPr>
          <p:nvPr/>
        </p:nvPicPr>
        <p:blipFill>
          <a:blip r:embed="rId1">
            <a:extLst>
              <a:ext uri="{28A0092B-C50C-407E-A947-70E740481C1C}">
                <a14:useLocalDpi xmlns:a14="http://schemas.microsoft.com/office/drawing/2010/main" val="0"/>
              </a:ext>
            </a:extLst>
          </a:blip>
          <a:srcRect r="32478"/>
          <a:stretch>
            <a:fillRect/>
          </a:stretch>
        </p:blipFill>
        <p:spPr bwMode="auto">
          <a:xfrm>
            <a:off x="1043608" y="836712"/>
            <a:ext cx="690654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573016"/>
            <a:ext cx="6408712" cy="311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89297" y="869156"/>
            <a:ext cx="7885509" cy="514350"/>
          </a:xfrm>
        </p:spPr>
        <p:txBody>
          <a:bodyPr vert="horz" lIns="91440" tIns="45720" rIns="91440" bIns="45720" rtlCol="0" anchor="b">
            <a:noAutofit/>
          </a:bodyPr>
          <a:lstStyle/>
          <a:p>
            <a:pPr algn="ctr">
              <a:spcBef>
                <a:spcPct val="0"/>
              </a:spcBef>
            </a:pPr>
            <a:r>
              <a:rPr lang="zh-CN" altLang="en-US" sz="4000" dirty="0">
                <a:latin typeface="幼圆" panose="02010509060101010101" pitchFamily="49" charset="-122"/>
                <a:ea typeface="幼圆" panose="02010509060101010101" pitchFamily="49" charset="-122"/>
                <a:cs typeface="+mj-cs"/>
              </a:rPr>
              <a:t>例：</a:t>
            </a:r>
            <a:r>
              <a:rPr altLang="en-US" sz="4000" dirty="0" err="1">
                <a:latin typeface="幼圆" panose="02010509060101010101" pitchFamily="49" charset="-122"/>
                <a:ea typeface="幼圆" panose="02010509060101010101" pitchFamily="49" charset="-122"/>
                <a:cs typeface="+mj-cs"/>
              </a:rPr>
              <a:t>保安的能力评估</a:t>
            </a:r>
            <a:endParaRPr altLang="en-US" sz="4000" dirty="0">
              <a:latin typeface="幼圆" panose="02010509060101010101" pitchFamily="49" charset="-122"/>
              <a:ea typeface="幼圆" panose="02010509060101010101" pitchFamily="49" charset="-122"/>
              <a:cs typeface="+mj-cs"/>
            </a:endParaRPr>
          </a:p>
        </p:txBody>
      </p:sp>
      <p:sp>
        <p:nvSpPr>
          <p:cNvPr id="10" name="内容占位符 9"/>
          <p:cNvSpPr>
            <a:spLocks noGrp="1"/>
          </p:cNvSpPr>
          <p:nvPr>
            <p:ph sz="half" idx="2"/>
          </p:nvPr>
        </p:nvSpPr>
        <p:spPr>
          <a:xfrm>
            <a:off x="683568" y="1484784"/>
            <a:ext cx="8568952" cy="3348038"/>
          </a:xfrm>
        </p:spPr>
        <p:txBody>
          <a:bodyPr>
            <a:noAutofit/>
          </a:bodyPr>
          <a:lstStyle/>
          <a:p>
            <a:pPr eaLnBrk="1" hangingPunct="1">
              <a:lnSpc>
                <a:spcPct val="150000"/>
              </a:lnSpc>
              <a:buClr>
                <a:srgbClr val="00B050"/>
              </a:buClr>
              <a:buFont typeface="Wingdings" panose="05000000000000000000" pitchFamily="2" charset="2"/>
              <a:buChar char="p"/>
              <a:defRPr/>
            </a:pPr>
            <a:r>
              <a:rPr altLang="en-US" sz="1800" b="1" dirty="0">
                <a:latin typeface="幼圆" panose="02010509060101010101" pitchFamily="49" charset="-122"/>
                <a:ea typeface="幼圆" panose="02010509060101010101" pitchFamily="49" charset="-122"/>
              </a:rPr>
              <a:t>保安对进出公司的人员进行盘查，识别其中的小偷。保安有可能犯两类错误： </a:t>
            </a:r>
            <a:endParaRPr altLang="en-US" sz="1800"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defRPr/>
            </a:pPr>
            <a:r>
              <a:rPr lang="en-US" altLang="zh-CN" sz="1800" b="1" dirty="0">
                <a:latin typeface="幼圆" panose="02010509060101010101" pitchFamily="49" charset="-122"/>
                <a:ea typeface="幼圆" panose="02010509060101010101" pitchFamily="49" charset="-122"/>
              </a:rPr>
              <a:t>1. </a:t>
            </a:r>
            <a:r>
              <a:rPr altLang="en-US" sz="1800" b="1" dirty="0">
                <a:latin typeface="幼圆" panose="02010509060101010101" pitchFamily="49" charset="-122"/>
                <a:ea typeface="幼圆" panose="02010509060101010101" pitchFamily="49" charset="-122"/>
              </a:rPr>
              <a:t>把好人误认为小偷，称为假小偷（与之相反称为真小偷）。 </a:t>
            </a:r>
            <a:endParaRPr altLang="en-US" sz="1800"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defRPr/>
            </a:pPr>
            <a:r>
              <a:rPr lang="en-US" altLang="zh-CN" sz="1800" b="1" dirty="0">
                <a:latin typeface="幼圆" panose="02010509060101010101" pitchFamily="49" charset="-122"/>
                <a:ea typeface="幼圆" panose="02010509060101010101" pitchFamily="49" charset="-122"/>
              </a:rPr>
              <a:t>2. </a:t>
            </a:r>
            <a:r>
              <a:rPr altLang="en-US" sz="1800" b="1" dirty="0">
                <a:latin typeface="幼圆" panose="02010509060101010101" pitchFamily="49" charset="-122"/>
                <a:ea typeface="幼圆" panose="02010509060101010101" pitchFamily="49" charset="-122"/>
              </a:rPr>
              <a:t>把小偷误认为好人，称为假好人（与之相反称为真好人）。</a:t>
            </a:r>
            <a:endParaRPr lang="en-US" altLang="zh-CN" sz="18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r>
              <a:rPr altLang="en-US" sz="1800" b="1" dirty="0">
                <a:latin typeface="幼圆" panose="02010509060101010101" pitchFamily="49" charset="-122"/>
                <a:ea typeface="幼圆" panose="02010509060101010101" pitchFamily="49" charset="-122"/>
              </a:rPr>
              <a:t>保安优秀与否可以按照如下的两个标准来评判： </a:t>
            </a:r>
            <a:endParaRPr altLang="en-US" sz="1800"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defRPr/>
            </a:pPr>
            <a:r>
              <a:rPr lang="en-US" altLang="zh-CN" sz="1800" b="1" dirty="0">
                <a:latin typeface="幼圆" panose="02010509060101010101" pitchFamily="49" charset="-122"/>
                <a:ea typeface="幼圆" panose="02010509060101010101" pitchFamily="49" charset="-122"/>
              </a:rPr>
              <a:t>1. </a:t>
            </a:r>
            <a:r>
              <a:rPr altLang="en-US" sz="1800" b="1" dirty="0">
                <a:latin typeface="幼圆" panose="02010509060101010101" pitchFamily="49" charset="-122"/>
                <a:ea typeface="幼圆" panose="02010509060101010101" pitchFamily="49" charset="-122"/>
              </a:rPr>
              <a:t>抓住的小偷中真小偷的比例尽量的高。 </a:t>
            </a:r>
            <a:endParaRPr altLang="en-US" sz="1800" b="1" dirty="0">
              <a:latin typeface="幼圆" panose="02010509060101010101" pitchFamily="49" charset="-122"/>
              <a:ea typeface="幼圆" panose="02010509060101010101" pitchFamily="49" charset="-122"/>
            </a:endParaRPr>
          </a:p>
          <a:p>
            <a:pPr lvl="1" eaLnBrk="1" hangingPunct="1">
              <a:lnSpc>
                <a:spcPct val="150000"/>
              </a:lnSpc>
              <a:buClr>
                <a:srgbClr val="00B050"/>
              </a:buClr>
              <a:buFont typeface="Wingdings" panose="05000000000000000000" pitchFamily="2" charset="2"/>
              <a:buChar char="p"/>
              <a:defRPr/>
            </a:pPr>
            <a:r>
              <a:rPr lang="en-US" altLang="zh-CN" sz="1800" b="1" dirty="0">
                <a:latin typeface="幼圆" panose="02010509060101010101" pitchFamily="49" charset="-122"/>
                <a:ea typeface="幼圆" panose="02010509060101010101" pitchFamily="49" charset="-122"/>
              </a:rPr>
              <a:t>2. </a:t>
            </a:r>
            <a:r>
              <a:rPr altLang="en-US" sz="1800" b="1" dirty="0">
                <a:latin typeface="幼圆" panose="02010509060101010101" pitchFamily="49" charset="-122"/>
                <a:ea typeface="幼圆" panose="02010509060101010101" pitchFamily="49" charset="-122"/>
              </a:rPr>
              <a:t>宁可错抓好人也不放过小偷。</a:t>
            </a:r>
            <a:endParaRPr altLang="en-US" sz="18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r>
              <a:rPr altLang="en-US" sz="1800" b="1" dirty="0">
                <a:latin typeface="幼圆" panose="02010509060101010101" pitchFamily="49" charset="-122"/>
                <a:ea typeface="幼圆" panose="02010509060101010101" pitchFamily="49" charset="-122"/>
              </a:rPr>
              <a:t>标准</a:t>
            </a:r>
            <a:r>
              <a:rPr lang="en-US" altLang="zh-CN" sz="1800" b="1" dirty="0">
                <a:latin typeface="幼圆" panose="02010509060101010101" pitchFamily="49" charset="-122"/>
                <a:ea typeface="幼圆" panose="02010509060101010101" pitchFamily="49" charset="-122"/>
              </a:rPr>
              <a:t>1</a:t>
            </a:r>
            <a:r>
              <a:rPr altLang="en-US" sz="1800" b="1" dirty="0">
                <a:latin typeface="幼圆" panose="02010509060101010101" pitchFamily="49" charset="-122"/>
                <a:ea typeface="幼圆" panose="02010509060101010101" pitchFamily="49" charset="-122"/>
              </a:rPr>
              <a:t>为精准率（</a:t>
            </a:r>
            <a:r>
              <a:rPr lang="en-US" altLang="zh-CN" sz="1800" b="1" dirty="0">
                <a:latin typeface="幼圆" panose="02010509060101010101" pitchFamily="49" charset="-122"/>
                <a:ea typeface="幼圆" panose="02010509060101010101" pitchFamily="49" charset="-122"/>
              </a:rPr>
              <a:t>Precision</a:t>
            </a:r>
            <a:r>
              <a:rPr altLang="en-US" sz="1800" b="1" dirty="0">
                <a:latin typeface="幼圆" panose="02010509060101010101" pitchFamily="49" charset="-122"/>
                <a:ea typeface="幼圆" panose="02010509060101010101" pitchFamily="49" charset="-122"/>
              </a:rPr>
              <a:t>）</a:t>
            </a:r>
            <a:endParaRPr lang="en-US" altLang="zh-CN" sz="18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r>
              <a:rPr altLang="en-US" sz="1800" b="1" dirty="0">
                <a:latin typeface="幼圆" panose="02010509060101010101" pitchFamily="49" charset="-122"/>
                <a:ea typeface="幼圆" panose="02010509060101010101" pitchFamily="49" charset="-122"/>
              </a:rPr>
              <a:t>标准</a:t>
            </a:r>
            <a:r>
              <a:rPr lang="en-US" altLang="zh-CN" sz="1800" b="1" dirty="0">
                <a:latin typeface="幼圆" panose="02010509060101010101" pitchFamily="49" charset="-122"/>
                <a:ea typeface="幼圆" panose="02010509060101010101" pitchFamily="49" charset="-122"/>
              </a:rPr>
              <a:t>2</a:t>
            </a:r>
            <a:r>
              <a:rPr altLang="en-US" sz="1800" b="1" dirty="0">
                <a:latin typeface="幼圆" panose="02010509060101010101" pitchFamily="49" charset="-122"/>
                <a:ea typeface="幼圆" panose="02010509060101010101" pitchFamily="49" charset="-122"/>
              </a:rPr>
              <a:t>为召回率（</a:t>
            </a:r>
            <a:r>
              <a:rPr lang="en-US" altLang="zh-CN" sz="1800" b="1" dirty="0">
                <a:latin typeface="幼圆" panose="02010509060101010101" pitchFamily="49" charset="-122"/>
                <a:ea typeface="幼圆" panose="02010509060101010101" pitchFamily="49" charset="-122"/>
              </a:rPr>
              <a:t>Recall</a:t>
            </a:r>
            <a:r>
              <a:rPr altLang="en-US" sz="1800" b="1" dirty="0">
                <a:latin typeface="幼圆" panose="02010509060101010101" pitchFamily="49" charset="-122"/>
                <a:ea typeface="幼圆" panose="02010509060101010101" pitchFamily="49" charset="-122"/>
              </a:rPr>
              <a:t>）</a:t>
            </a:r>
            <a:endParaRPr altLang="en-US" sz="1800" b="1" dirty="0">
              <a:latin typeface="幼圆" panose="02010509060101010101" pitchFamily="49" charset="-122"/>
              <a:ea typeface="幼圆" panose="02010509060101010101" pitchFamily="49" charset="-122"/>
            </a:endParaRPr>
          </a:p>
        </p:txBody>
      </p:sp>
      <p:pic>
        <p:nvPicPr>
          <p:cNvPr id="4915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180284" y="4509120"/>
            <a:ext cx="4963716" cy="214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内容占位符 9"/>
          <p:cNvSpPr>
            <a:spLocks noGrp="1"/>
          </p:cNvSpPr>
          <p:nvPr>
            <p:ph sz="half" idx="2"/>
          </p:nvPr>
        </p:nvSpPr>
        <p:spPr>
          <a:xfrm>
            <a:off x="683568" y="918418"/>
            <a:ext cx="8280920" cy="5174878"/>
          </a:xfrm>
        </p:spPr>
        <p:txBody>
          <a:bodyPr>
            <a:normAutofit/>
          </a:bodyPr>
          <a:lstStyle/>
          <a:p>
            <a:pPr eaLnBrk="1" hangingPunct="1">
              <a:lnSpc>
                <a:spcPct val="150000"/>
              </a:lnSpc>
              <a:buClr>
                <a:srgbClr val="00B050"/>
              </a:buClr>
              <a:buFont typeface="Wingdings" panose="05000000000000000000" pitchFamily="2" charset="2"/>
              <a:buChar char="p"/>
            </a:pPr>
            <a:r>
              <a:rPr altLang="en-US" sz="2000" b="1" dirty="0">
                <a:latin typeface="幼圆" panose="02010509060101010101" pitchFamily="49" charset="-122"/>
                <a:ea typeface="幼圆" panose="02010509060101010101" pitchFamily="49" charset="-122"/>
              </a:rPr>
              <a:t>假设某公司每天进出</a:t>
            </a:r>
            <a:r>
              <a:rPr lang="en-US" altLang="zh-CN" sz="2000" b="1" dirty="0">
                <a:latin typeface="幼圆" panose="02010509060101010101" pitchFamily="49" charset="-122"/>
                <a:ea typeface="幼圆" panose="02010509060101010101" pitchFamily="49" charset="-122"/>
              </a:rPr>
              <a:t>100</a:t>
            </a:r>
            <a:r>
              <a:rPr altLang="en-US" sz="2000" b="1" dirty="0">
                <a:latin typeface="幼圆" panose="02010509060101010101" pitchFamily="49" charset="-122"/>
                <a:ea typeface="幼圆" panose="02010509060101010101" pitchFamily="49" charset="-122"/>
              </a:rPr>
              <a:t>人，其中</a:t>
            </a:r>
            <a:r>
              <a:rPr lang="en-US" altLang="zh-CN" sz="2000" b="1" dirty="0">
                <a:latin typeface="幼圆" panose="02010509060101010101" pitchFamily="49" charset="-122"/>
                <a:ea typeface="幼圆" panose="02010509060101010101" pitchFamily="49" charset="-122"/>
              </a:rPr>
              <a:t>80</a:t>
            </a:r>
            <a:r>
              <a:rPr altLang="en-US" sz="2000" b="1" dirty="0">
                <a:latin typeface="幼圆" panose="02010509060101010101" pitchFamily="49" charset="-122"/>
                <a:ea typeface="幼圆" panose="02010509060101010101" pitchFamily="49" charset="-122"/>
              </a:rPr>
              <a:t>个好人，</a:t>
            </a:r>
            <a:r>
              <a:rPr lang="en-US" altLang="zh-CN" sz="2000" b="1" dirty="0">
                <a:latin typeface="幼圆" panose="02010509060101010101" pitchFamily="49" charset="-122"/>
                <a:ea typeface="幼圆" panose="02010509060101010101" pitchFamily="49" charset="-122"/>
              </a:rPr>
              <a:t>20</a:t>
            </a:r>
            <a:r>
              <a:rPr altLang="en-US" sz="2000" b="1" dirty="0">
                <a:latin typeface="幼圆" panose="02010509060101010101" pitchFamily="49" charset="-122"/>
                <a:ea typeface="幼圆" panose="02010509060101010101" pitchFamily="49" charset="-122"/>
              </a:rPr>
              <a:t>个小偷，某保安</a:t>
            </a:r>
            <a:r>
              <a:rPr lang="en-US" altLang="zh-CN" sz="2000" b="1" dirty="0">
                <a:latin typeface="幼圆" panose="02010509060101010101" pitchFamily="49" charset="-122"/>
                <a:ea typeface="幼圆" panose="02010509060101010101" pitchFamily="49" charset="-122"/>
              </a:rPr>
              <a:t>A</a:t>
            </a:r>
            <a:r>
              <a:rPr altLang="en-US" sz="2000" b="1" dirty="0">
                <a:latin typeface="幼圆" panose="02010509060101010101" pitchFamily="49" charset="-122"/>
                <a:ea typeface="幼圆" panose="02010509060101010101" pitchFamily="49" charset="-122"/>
              </a:rPr>
              <a:t>的表现如下： </a:t>
            </a: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zh-CN"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altLang="en-US" sz="2000" b="1" dirty="0">
                <a:latin typeface="幼圆" panose="02010509060101010101" pitchFamily="49" charset="-122"/>
                <a:ea typeface="幼圆" panose="02010509060101010101" pitchFamily="49" charset="-122"/>
              </a:rPr>
              <a:t>保安共计抓住</a:t>
            </a:r>
            <a:r>
              <a:rPr lang="en-US" altLang="zh-CN" sz="2000" b="1" dirty="0">
                <a:latin typeface="幼圆" panose="02010509060101010101" pitchFamily="49" charset="-122"/>
                <a:ea typeface="幼圆" panose="02010509060101010101" pitchFamily="49" charset="-122"/>
              </a:rPr>
              <a:t>6</a:t>
            </a:r>
            <a:r>
              <a:rPr altLang="en-US" sz="2000" b="1" dirty="0">
                <a:latin typeface="幼圆" panose="02010509060101010101" pitchFamily="49" charset="-122"/>
                <a:ea typeface="幼圆" panose="02010509060101010101" pitchFamily="49" charset="-122"/>
              </a:rPr>
              <a:t>个小偷，其中</a:t>
            </a:r>
            <a:r>
              <a:rPr lang="en-US" altLang="zh-CN" sz="2000" b="1" dirty="0">
                <a:latin typeface="幼圆" panose="02010509060101010101" pitchFamily="49" charset="-122"/>
                <a:ea typeface="幼圆" panose="02010509060101010101" pitchFamily="49" charset="-122"/>
              </a:rPr>
              <a:t>5</a:t>
            </a:r>
            <a:r>
              <a:rPr altLang="en-US" sz="2000" b="1" dirty="0">
                <a:latin typeface="幼圆" panose="02010509060101010101" pitchFamily="49" charset="-122"/>
                <a:ea typeface="幼圆" panose="02010509060101010101" pitchFamily="49" charset="-122"/>
              </a:rPr>
              <a:t>人是真小偷，另外</a:t>
            </a:r>
            <a:r>
              <a:rPr lang="en-US" altLang="zh-CN" sz="2000" b="1" dirty="0">
                <a:latin typeface="幼圆" panose="02010509060101010101" pitchFamily="49" charset="-122"/>
                <a:ea typeface="幼圆" panose="02010509060101010101" pitchFamily="49" charset="-122"/>
              </a:rPr>
              <a:t>1</a:t>
            </a:r>
            <a:r>
              <a:rPr altLang="en-US" sz="2000" b="1" dirty="0">
                <a:latin typeface="幼圆" panose="02010509060101010101" pitchFamily="49" charset="-122"/>
                <a:ea typeface="幼圆" panose="02010509060101010101" pitchFamily="49" charset="-122"/>
              </a:rPr>
              <a:t>人是假小偷（好人被误抓），</a:t>
            </a:r>
            <a:r>
              <a:rPr altLang="en-US" sz="2000" b="1" dirty="0" err="1">
                <a:latin typeface="幼圆" panose="02010509060101010101" pitchFamily="49" charset="-122"/>
                <a:ea typeface="幼圆" panose="02010509060101010101" pitchFamily="49" charset="-122"/>
              </a:rPr>
              <a:t>依据公式可知，该保安的</a:t>
            </a:r>
            <a:r>
              <a:rPr lang="en-US" altLang="zh-CN" sz="2000" b="1" dirty="0" err="1">
                <a:latin typeface="幼圆" panose="02010509060101010101" pitchFamily="49" charset="-122"/>
                <a:ea typeface="幼圆" panose="02010509060101010101" pitchFamily="49" charset="-122"/>
              </a:rPr>
              <a:t>Precision</a:t>
            </a:r>
            <a:r>
              <a:rPr lang="en-US" altLang="zh-CN" sz="2000" b="1" dirty="0">
                <a:latin typeface="幼圆" panose="02010509060101010101" pitchFamily="49" charset="-122"/>
                <a:ea typeface="幼圆" panose="02010509060101010101" pitchFamily="49" charset="-122"/>
              </a:rPr>
              <a:t>=5/(5+1)=5/6≈88.3%</a:t>
            </a:r>
            <a:r>
              <a:rPr altLang="en-US"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看上去这名保安抓人的准确性挺强，但他是一名好保安吗</a:t>
            </a:r>
            <a:r>
              <a:rPr altLang="en-US" sz="2000" b="1" dirty="0">
                <a:latin typeface="幼圆" panose="02010509060101010101" pitchFamily="49" charset="-122"/>
                <a:ea typeface="幼圆" panose="02010509060101010101" pitchFamily="49" charset="-122"/>
              </a:rPr>
              <a:t>？</a:t>
            </a:r>
            <a:endParaRPr lang="en-US" altLang="en-US" sz="2000" b="1" dirty="0">
              <a:latin typeface="幼圆" panose="02010509060101010101" pitchFamily="49" charset="-122"/>
              <a:ea typeface="幼圆" panose="02010509060101010101" pitchFamily="49" charset="-122"/>
            </a:endParaRPr>
          </a:p>
        </p:txBody>
      </p:sp>
      <p:pic>
        <p:nvPicPr>
          <p:cNvPr id="5018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982875"/>
            <a:ext cx="7648575" cy="1513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内容占位符 9"/>
          <p:cNvSpPr>
            <a:spLocks noGrp="1"/>
          </p:cNvSpPr>
          <p:nvPr>
            <p:ph sz="half" idx="2"/>
          </p:nvPr>
        </p:nvSpPr>
        <p:spPr>
          <a:xfrm>
            <a:off x="654893" y="764704"/>
            <a:ext cx="8262938" cy="4896544"/>
          </a:xfrm>
        </p:spPr>
        <p:txBody>
          <a:bodyPr>
            <a:normAutofit fontScale="77500" lnSpcReduction="20000"/>
          </a:bodyPr>
          <a:lstStyle/>
          <a:p>
            <a:pPr eaLnBrk="1" hangingPunct="1">
              <a:lnSpc>
                <a:spcPct val="150000"/>
              </a:lnSpc>
              <a:buClr>
                <a:srgbClr val="00B050"/>
              </a:buClr>
              <a:buFont typeface="Wingdings" panose="05000000000000000000" pitchFamily="2" charset="2"/>
              <a:buChar char="p"/>
              <a:defRPr/>
            </a:pPr>
            <a:r>
              <a:rPr altLang="en-US" sz="2600" b="1" dirty="0">
                <a:latin typeface="幼圆" panose="02010509060101010101" pitchFamily="49" charset="-122"/>
                <a:ea typeface="幼圆" panose="02010509060101010101" pitchFamily="49" charset="-122"/>
              </a:rPr>
              <a:t>来看看召回率的计算。</a:t>
            </a:r>
            <a:r>
              <a:rPr lang="en-US" altLang="zh-CN" sz="2600" b="1" dirty="0">
                <a:latin typeface="幼圆" panose="02010509060101010101" pitchFamily="49" charset="-122"/>
                <a:ea typeface="幼圆" panose="02010509060101010101" pitchFamily="49" charset="-122"/>
              </a:rPr>
              <a:t>Recall=5/(5+15)=1/4=25%</a:t>
            </a:r>
            <a:r>
              <a:rPr altLang="en-US" sz="2600" b="1" dirty="0">
                <a:latin typeface="幼圆" panose="02010509060101010101" pitchFamily="49" charset="-122"/>
                <a:ea typeface="幼圆" panose="02010509060101010101" pitchFamily="49" charset="-122"/>
              </a:rPr>
              <a:t>。放走的假好人就是被保安误认为好人的小偷。所以</a:t>
            </a:r>
            <a:r>
              <a:rPr lang="en-US" altLang="zh-CN" sz="2600" b="1" dirty="0">
                <a:solidFill>
                  <a:srgbClr val="C00000"/>
                </a:solidFill>
                <a:latin typeface="幼圆" panose="02010509060101010101" pitchFamily="49" charset="-122"/>
                <a:ea typeface="幼圆" panose="02010509060101010101" pitchFamily="49" charset="-122"/>
              </a:rPr>
              <a:t>Recall</a:t>
            </a:r>
            <a:r>
              <a:rPr altLang="en-US" sz="2600" b="1" dirty="0">
                <a:solidFill>
                  <a:srgbClr val="C00000"/>
                </a:solidFill>
                <a:latin typeface="幼圆" panose="02010509060101010101" pitchFamily="49" charset="-122"/>
                <a:ea typeface="幼圆" panose="02010509060101010101" pitchFamily="49" charset="-122"/>
              </a:rPr>
              <a:t>的分母总是等于小偷的总数（而</a:t>
            </a:r>
            <a:r>
              <a:rPr lang="en-US" altLang="zh-CN" sz="2600" b="1" dirty="0">
                <a:solidFill>
                  <a:srgbClr val="C00000"/>
                </a:solidFill>
                <a:latin typeface="幼圆" panose="02010509060101010101" pitchFamily="49" charset="-122"/>
                <a:ea typeface="幼圆" panose="02010509060101010101" pitchFamily="49" charset="-122"/>
              </a:rPr>
              <a:t>Precision</a:t>
            </a:r>
            <a:r>
              <a:rPr altLang="en-US" sz="2600" b="1" dirty="0">
                <a:solidFill>
                  <a:srgbClr val="C00000"/>
                </a:solidFill>
                <a:latin typeface="幼圆" panose="02010509060101010101" pitchFamily="49" charset="-122"/>
                <a:ea typeface="幼圆" panose="02010509060101010101" pitchFamily="49" charset="-122"/>
              </a:rPr>
              <a:t>的分母是抓住的人的总数</a:t>
            </a:r>
            <a:r>
              <a:rPr altLang="en-US" sz="2600" b="1" dirty="0">
                <a:latin typeface="幼圆" panose="02010509060101010101" pitchFamily="49" charset="-122"/>
                <a:ea typeface="幼圆" panose="02010509060101010101" pitchFamily="49" charset="-122"/>
              </a:rPr>
              <a:t>）。从召回率可以看出，这名保安放走了</a:t>
            </a:r>
            <a:r>
              <a:rPr lang="en-US" altLang="zh-CN" sz="2600" b="1" dirty="0">
                <a:latin typeface="幼圆" panose="02010509060101010101" pitchFamily="49" charset="-122"/>
                <a:ea typeface="幼圆" panose="02010509060101010101" pitchFamily="49" charset="-122"/>
              </a:rPr>
              <a:t>3/4</a:t>
            </a:r>
            <a:r>
              <a:rPr altLang="en-US" sz="2600" b="1" dirty="0">
                <a:latin typeface="幼圆" panose="02010509060101010101" pitchFamily="49" charset="-122"/>
                <a:ea typeface="幼圆" panose="02010509060101010101" pitchFamily="49" charset="-122"/>
              </a:rPr>
              <a:t>的小偷，这实在不能算优秀的保安。</a:t>
            </a:r>
            <a:endParaRPr lang="en-US" altLang="zh-CN" sz="26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r>
              <a:rPr altLang="en-US" b="1" dirty="0">
                <a:latin typeface="幼圆" panose="02010509060101010101" pitchFamily="49" charset="-122"/>
                <a:ea typeface="幼圆" panose="02010509060101010101" pitchFamily="49" charset="-122"/>
              </a:rPr>
              <a:t>某保安</a:t>
            </a:r>
            <a:r>
              <a:rPr lang="en-US" altLang="zh-CN" b="1" dirty="0">
                <a:latin typeface="幼圆" panose="02010509060101010101" pitchFamily="49" charset="-122"/>
                <a:ea typeface="幼圆" panose="02010509060101010101" pitchFamily="49" charset="-122"/>
              </a:rPr>
              <a:t>B</a:t>
            </a:r>
            <a:r>
              <a:rPr altLang="en-US" b="1" dirty="0">
                <a:latin typeface="幼圆" panose="02010509060101010101" pitchFamily="49" charset="-122"/>
                <a:ea typeface="幼圆" panose="02010509060101010101" pitchFamily="49" charset="-122"/>
              </a:rPr>
              <a:t>的表现如下：</a:t>
            </a:r>
            <a:endParaRPr lang="en-US" altLang="zh-CN"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endParaRPr lang="en-US" altLang="en-US"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endParaRPr lang="en-US" altLang="en-US"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endParaRPr lang="en-US" altLang="en-US"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endParaRPr lang="en-US" altLang="en-US"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defRPr/>
            </a:pPr>
            <a:r>
              <a:rPr altLang="en-US" b="1" dirty="0">
                <a:latin typeface="幼圆" panose="02010509060101010101" pitchFamily="49" charset="-122"/>
                <a:ea typeface="幼圆" panose="02010509060101010101" pitchFamily="49" charset="-122"/>
              </a:rPr>
              <a:t>根据上述公式计算，</a:t>
            </a:r>
            <a:r>
              <a:rPr lang="en-US" altLang="en-US" b="1" dirty="0">
                <a:latin typeface="幼圆" panose="02010509060101010101" pitchFamily="49" charset="-122"/>
                <a:ea typeface="幼圆" panose="02010509060101010101" pitchFamily="49" charset="-122"/>
              </a:rPr>
              <a:t>Precision=50%，Recall=100%。</a:t>
            </a:r>
            <a:r>
              <a:rPr altLang="en-US" b="1" dirty="0" err="1" smtClean="0">
                <a:latin typeface="幼圆" panose="02010509060101010101" pitchFamily="49" charset="-122"/>
                <a:ea typeface="幼圆" panose="02010509060101010101" pitchFamily="49" charset="-122"/>
              </a:rPr>
              <a:t>虽然</a:t>
            </a:r>
            <a:r>
              <a:rPr lang="zh-CN" altLang="en-US" b="1" dirty="0" smtClean="0">
                <a:latin typeface="幼圆" panose="02010509060101010101" pitchFamily="49" charset="-122"/>
                <a:ea typeface="幼圆" panose="02010509060101010101" pitchFamily="49" charset="-122"/>
              </a:rPr>
              <a:t>查准率</a:t>
            </a:r>
            <a:r>
              <a:rPr altLang="en-US" b="1" dirty="0" err="1" smtClean="0">
                <a:latin typeface="幼圆" panose="02010509060101010101" pitchFamily="49" charset="-122"/>
                <a:ea typeface="幼圆" panose="02010509060101010101" pitchFamily="49" charset="-122"/>
              </a:rPr>
              <a:t>不高</a:t>
            </a:r>
            <a:r>
              <a:rPr altLang="en-US" b="1" dirty="0" err="1">
                <a:latin typeface="幼圆" panose="02010509060101010101" pitchFamily="49" charset="-122"/>
                <a:ea typeface="幼圆" panose="02010509060101010101" pitchFamily="49" charset="-122"/>
              </a:rPr>
              <a:t>，误抓了不少好人，但这名保安抓住了全部小偷</a:t>
            </a:r>
            <a:r>
              <a:rPr altLang="en-US" b="1" dirty="0">
                <a:latin typeface="幼圆" panose="02010509060101010101" pitchFamily="49" charset="-122"/>
                <a:ea typeface="幼圆" panose="02010509060101010101" pitchFamily="49" charset="-122"/>
              </a:rPr>
              <a:t>。</a:t>
            </a:r>
            <a:endParaRPr lang="en-US" altLang="en-US" b="1" dirty="0">
              <a:latin typeface="幼圆" panose="02010509060101010101" pitchFamily="49" charset="-122"/>
              <a:ea typeface="幼圆" panose="02010509060101010101" pitchFamily="49" charset="-122"/>
            </a:endParaRPr>
          </a:p>
        </p:txBody>
      </p:sp>
      <p:pic>
        <p:nvPicPr>
          <p:cNvPr id="5120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55576" y="2924944"/>
            <a:ext cx="7629525" cy="1620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内容占位符 9"/>
          <p:cNvSpPr>
            <a:spLocks noGrp="1"/>
          </p:cNvSpPr>
          <p:nvPr>
            <p:ph sz="half" idx="2"/>
          </p:nvPr>
        </p:nvSpPr>
        <p:spPr>
          <a:xfrm>
            <a:off x="683568" y="1091621"/>
            <a:ext cx="8262938" cy="3996928"/>
          </a:xfrm>
        </p:spPr>
        <p:txBody>
          <a:bodyPr>
            <a:normAutofit/>
          </a:bodyPr>
          <a:lstStyle/>
          <a:p>
            <a:pPr eaLnBrk="1" hangingPunct="1">
              <a:lnSpc>
                <a:spcPct val="150000"/>
              </a:lnSpc>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理想的保安</a:t>
            </a:r>
            <a:r>
              <a:rPr altLang="en-US"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lang="en-US" altLang="en-US" sz="2000" b="1" dirty="0">
                <a:latin typeface="幼圆" panose="02010509060101010101" pitchFamily="49" charset="-122"/>
                <a:ea typeface="幼圆" panose="02010509060101010101" pitchFamily="49" charset="-122"/>
              </a:rPr>
              <a:t>Precision=Recall=100%。</a:t>
            </a:r>
            <a:endParaRPr lang="en-US"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altLang="en-US" sz="2000" b="1" dirty="0">
                <a:latin typeface="幼圆" panose="02010509060101010101" pitchFamily="49" charset="-122"/>
                <a:ea typeface="幼圆" panose="02010509060101010101" pitchFamily="49" charset="-122"/>
              </a:rPr>
              <a:t>将</a:t>
            </a:r>
            <a:r>
              <a:rPr lang="en-US" altLang="en-US" sz="2000" b="1" dirty="0">
                <a:latin typeface="幼圆" panose="02010509060101010101" pitchFamily="49" charset="-122"/>
                <a:ea typeface="幼圆" panose="02010509060101010101" pitchFamily="49" charset="-122"/>
              </a:rPr>
              <a:t>Precision</a:t>
            </a:r>
            <a:r>
              <a:rPr altLang="en-US" sz="2000" b="1" dirty="0">
                <a:latin typeface="幼圆" panose="02010509060101010101" pitchFamily="49" charset="-122"/>
                <a:ea typeface="幼圆" panose="02010509060101010101" pitchFamily="49" charset="-122"/>
              </a:rPr>
              <a:t>和</a:t>
            </a:r>
            <a:r>
              <a:rPr lang="en-US" altLang="en-US" sz="2000" b="1" dirty="0">
                <a:latin typeface="幼圆" panose="02010509060101010101" pitchFamily="49" charset="-122"/>
                <a:ea typeface="幼圆" panose="02010509060101010101" pitchFamily="49" charset="-122"/>
              </a:rPr>
              <a:t>Recall</a:t>
            </a:r>
            <a:r>
              <a:rPr altLang="en-US" sz="2000" b="1" dirty="0">
                <a:latin typeface="幼圆" panose="02010509060101010101" pitchFamily="49" charset="-122"/>
                <a:ea typeface="幼圆" panose="02010509060101010101" pitchFamily="49" charset="-122"/>
              </a:rPr>
              <a:t>放到一个公式中，就构成了</a:t>
            </a:r>
            <a:r>
              <a:rPr lang="en-US" altLang="en-US" sz="2000" b="1" dirty="0">
                <a:latin typeface="幼圆" panose="02010509060101010101" pitchFamily="49" charset="-122"/>
                <a:ea typeface="幼圆" panose="02010509060101010101" pitchFamily="49" charset="-122"/>
              </a:rPr>
              <a:t>F1 </a:t>
            </a:r>
            <a:r>
              <a:rPr lang="en-US" altLang="en-US" sz="2000" b="1" dirty="0" err="1">
                <a:latin typeface="幼圆" panose="02010509060101010101" pitchFamily="49" charset="-122"/>
                <a:ea typeface="幼圆" panose="02010509060101010101" pitchFamily="49" charset="-122"/>
              </a:rPr>
              <a:t>Score</a:t>
            </a:r>
            <a:r>
              <a:rPr altLang="en-US" sz="2000" b="1" dirty="0" err="1">
                <a:latin typeface="幼圆" panose="02010509060101010101" pitchFamily="49" charset="-122"/>
                <a:ea typeface="幼圆" panose="02010509060101010101" pitchFamily="49" charset="-122"/>
              </a:rPr>
              <a:t>，</a:t>
            </a:r>
            <a:r>
              <a:rPr altLang="en-US" sz="2000" b="1" dirty="0" err="1" smtClean="0">
                <a:latin typeface="幼圆" panose="02010509060101010101" pitchFamily="49" charset="-122"/>
                <a:ea typeface="幼圆" panose="02010509060101010101" pitchFamily="49" charset="-122"/>
              </a:rPr>
              <a:t>是</a:t>
            </a:r>
            <a:r>
              <a:rPr lang="zh-CN" altLang="en-US" sz="2000" b="1" smtClean="0">
                <a:latin typeface="幼圆" panose="02010509060101010101" pitchFamily="49" charset="-122"/>
                <a:ea typeface="幼圆" panose="02010509060101010101" pitchFamily="49" charset="-122"/>
              </a:rPr>
              <a:t>查准</a:t>
            </a:r>
            <a:r>
              <a:rPr altLang="en-US" sz="2000" b="1" dirty="0" smtClean="0">
                <a:latin typeface="幼圆" panose="02010509060101010101" pitchFamily="49" charset="-122"/>
                <a:ea typeface="幼圆" panose="02010509060101010101" pitchFamily="49" charset="-122"/>
              </a:rPr>
              <a:t>度和召回率的调和均值</a:t>
            </a:r>
            <a:r>
              <a:rPr altLang="en-US" sz="2000" b="1" dirty="0">
                <a:latin typeface="幼圆" panose="02010509060101010101" pitchFamily="49" charset="-122"/>
                <a:ea typeface="幼圆" panose="02010509060101010101" pitchFamily="49" charset="-122"/>
              </a:rPr>
              <a:t>，两者都高则</a:t>
            </a:r>
            <a:r>
              <a:rPr lang="en-US" altLang="zh-CN" sz="2000" b="1" dirty="0">
                <a:latin typeface="幼圆" panose="02010509060101010101" pitchFamily="49" charset="-122"/>
                <a:ea typeface="幼圆" panose="02010509060101010101" pitchFamily="49" charset="-122"/>
              </a:rPr>
              <a:t>F1</a:t>
            </a:r>
            <a:r>
              <a:rPr altLang="en-US" sz="2000" b="1" dirty="0">
                <a:latin typeface="幼圆" panose="02010509060101010101" pitchFamily="49" charset="-122"/>
                <a:ea typeface="幼圆" panose="02010509060101010101" pitchFamily="49" charset="-122"/>
              </a:rPr>
              <a:t>高</a:t>
            </a:r>
            <a:r>
              <a:rPr lang="en-US" altLang="en-US" sz="2000" b="1" dirty="0">
                <a:latin typeface="幼圆" panose="02010509060101010101" pitchFamily="49" charset="-122"/>
                <a:ea typeface="幼圆" panose="02010509060101010101" pitchFamily="49" charset="-122"/>
              </a:rPr>
              <a:t>，</a:t>
            </a:r>
            <a:r>
              <a:rPr altLang="en-US" sz="2000" b="1" dirty="0">
                <a:latin typeface="幼圆" panose="02010509060101010101" pitchFamily="49" charset="-122"/>
                <a:ea typeface="幼圆" panose="02010509060101010101" pitchFamily="49" charset="-122"/>
              </a:rPr>
              <a:t>其公式如下：</a:t>
            </a:r>
            <a:endParaRPr lang="en-US" altLang="en-US" sz="2000" b="1" dirty="0">
              <a:latin typeface="幼圆" panose="02010509060101010101" pitchFamily="49" charset="-122"/>
              <a:ea typeface="幼圆" panose="02010509060101010101" pitchFamily="49" charset="-122"/>
            </a:endParaRPr>
          </a:p>
        </p:txBody>
      </p:sp>
      <p:pic>
        <p:nvPicPr>
          <p:cNvPr id="5222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5275" y="1700808"/>
            <a:ext cx="8848725" cy="1512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869160"/>
            <a:ext cx="42207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589064" y="764704"/>
            <a:ext cx="7885509" cy="514350"/>
          </a:xfrm>
        </p:spPr>
        <p:txBody>
          <a:bodyPr vert="horz" lIns="91440" tIns="45720" rIns="91440" bIns="45720" rtlCol="0" anchor="b">
            <a:noAutofit/>
          </a:bodyPr>
          <a:lstStyle/>
          <a:p>
            <a:pPr algn="ctr">
              <a:spcBef>
                <a:spcPct val="0"/>
              </a:spcBef>
            </a:pPr>
            <a:r>
              <a:rPr altLang="en-US" sz="4000" dirty="0">
                <a:latin typeface="幼圆" panose="02010509060101010101" pitchFamily="49" charset="-122"/>
                <a:ea typeface="幼圆" panose="02010509060101010101" pitchFamily="49" charset="-122"/>
                <a:cs typeface="+mj-cs"/>
              </a:rPr>
              <a:t>指标分析</a:t>
            </a:r>
            <a:endParaRPr altLang="en-US" sz="4000" dirty="0">
              <a:latin typeface="幼圆" panose="02010509060101010101" pitchFamily="49" charset="-122"/>
              <a:ea typeface="幼圆" panose="02010509060101010101" pitchFamily="49" charset="-122"/>
              <a:cs typeface="+mj-cs"/>
            </a:endParaRPr>
          </a:p>
        </p:txBody>
      </p:sp>
      <p:sp>
        <p:nvSpPr>
          <p:cNvPr id="53251" name="内容占位符 9"/>
          <p:cNvSpPr>
            <a:spLocks noGrp="1"/>
          </p:cNvSpPr>
          <p:nvPr>
            <p:ph sz="half" idx="2"/>
          </p:nvPr>
        </p:nvSpPr>
        <p:spPr>
          <a:xfrm>
            <a:off x="611560" y="1428198"/>
            <a:ext cx="8352928" cy="4968552"/>
          </a:xfrm>
        </p:spPr>
        <p:txBody>
          <a:bodyPr>
            <a:noAutofit/>
          </a:bodyPr>
          <a:lstStyle/>
          <a:p>
            <a:pPr eaLnBrk="1" hangingPunct="1">
              <a:lnSpc>
                <a:spcPct val="150000"/>
              </a:lnSpc>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由此可见</a:t>
            </a:r>
            <a:r>
              <a:rPr altLang="en-US" sz="2000" b="1" dirty="0" smtClean="0">
                <a:latin typeface="幼圆" panose="02010509060101010101" pitchFamily="49" charset="-122"/>
                <a:ea typeface="幼圆" panose="02010509060101010101" pitchFamily="49" charset="-122"/>
              </a:rPr>
              <a:t>，</a:t>
            </a:r>
            <a:r>
              <a:rPr lang="zh-CN" altLang="en-US" sz="2000" b="1" dirty="0" smtClean="0">
                <a:latin typeface="幼圆" panose="02010509060101010101" pitchFamily="49" charset="-122"/>
                <a:ea typeface="幼圆" panose="02010509060101010101" pitchFamily="49" charset="-122"/>
              </a:rPr>
              <a:t>查准率</a:t>
            </a:r>
            <a:r>
              <a:rPr altLang="en-US" sz="2000" b="1" dirty="0" smtClean="0">
                <a:latin typeface="幼圆" panose="02010509060101010101" pitchFamily="49" charset="-122"/>
                <a:ea typeface="幼圆" panose="02010509060101010101" pitchFamily="49" charset="-122"/>
              </a:rPr>
              <a:t>是评估捕获的成果中目标成果所占得比例</a:t>
            </a:r>
            <a:r>
              <a:rPr altLang="en-US" sz="2000" b="1" dirty="0">
                <a:latin typeface="幼圆" panose="02010509060101010101" pitchFamily="49" charset="-122"/>
                <a:ea typeface="幼圆" panose="02010509060101010101" pitchFamily="49" charset="-122"/>
              </a:rPr>
              <a:t>；召回率就是从关注领域中，召回目标类别的比例；而</a:t>
            </a:r>
            <a:r>
              <a:rPr lang="en-US" altLang="zh-CN" sz="2000" b="1" dirty="0">
                <a:latin typeface="幼圆" panose="02010509060101010101" pitchFamily="49" charset="-122"/>
                <a:ea typeface="幼圆" panose="02010509060101010101" pitchFamily="49" charset="-122"/>
              </a:rPr>
              <a:t>F1</a:t>
            </a:r>
            <a:r>
              <a:rPr altLang="en-US" sz="2000" b="1" dirty="0">
                <a:latin typeface="幼圆" panose="02010509060101010101" pitchFamily="49" charset="-122"/>
                <a:ea typeface="幼圆" panose="02010509060101010101" pitchFamily="49" charset="-122"/>
              </a:rPr>
              <a:t>值，则是综合这二者指标的评估指标，用于综合反映整体的指标。</a:t>
            </a:r>
            <a:endParaRPr altLang="en-US"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altLang="en-US" sz="2000" b="1" dirty="0">
                <a:latin typeface="幼圆" panose="02010509060101010101" pitchFamily="49" charset="-122"/>
                <a:ea typeface="幼圆" panose="02010509060101010101" pitchFamily="49" charset="-122"/>
              </a:rPr>
              <a:t>当然希望检索结果</a:t>
            </a:r>
            <a:r>
              <a:rPr lang="en-US" altLang="zh-CN" sz="2000" b="1" dirty="0">
                <a:latin typeface="幼圆" panose="02010509060101010101" pitchFamily="49" charset="-122"/>
                <a:ea typeface="幼圆" panose="02010509060101010101" pitchFamily="49" charset="-122"/>
              </a:rPr>
              <a:t>Precision</a:t>
            </a:r>
            <a:r>
              <a:rPr altLang="en-US" sz="2000" b="1" dirty="0">
                <a:latin typeface="幼圆" panose="02010509060101010101" pitchFamily="49" charset="-122"/>
                <a:ea typeface="幼圆" panose="02010509060101010101" pitchFamily="49" charset="-122"/>
              </a:rPr>
              <a:t>越高越好，同时</a:t>
            </a:r>
            <a:r>
              <a:rPr lang="en-US" altLang="zh-CN" sz="2000" b="1" dirty="0">
                <a:latin typeface="幼圆" panose="02010509060101010101" pitchFamily="49" charset="-122"/>
                <a:ea typeface="幼圆" panose="02010509060101010101" pitchFamily="49" charset="-122"/>
              </a:rPr>
              <a:t>Recall</a:t>
            </a:r>
            <a:r>
              <a:rPr altLang="en-US" sz="2000" b="1" dirty="0">
                <a:latin typeface="幼圆" panose="02010509060101010101" pitchFamily="49" charset="-122"/>
                <a:ea typeface="幼圆" panose="02010509060101010101" pitchFamily="49" charset="-122"/>
              </a:rPr>
              <a:t>也越高越好，但事实上这两者在某些情况下有矛盾的。比如极端情况下，只搜索出了一个结果，且是准确的，那么</a:t>
            </a:r>
            <a:r>
              <a:rPr lang="en-US" altLang="zh-CN" sz="2000" b="1" dirty="0">
                <a:latin typeface="幼圆" panose="02010509060101010101" pitchFamily="49" charset="-122"/>
                <a:ea typeface="幼圆" panose="02010509060101010101" pitchFamily="49" charset="-122"/>
              </a:rPr>
              <a:t>Precision</a:t>
            </a:r>
            <a:r>
              <a:rPr altLang="en-US" sz="2000" b="1" dirty="0">
                <a:latin typeface="幼圆" panose="02010509060101010101" pitchFamily="49" charset="-122"/>
                <a:ea typeface="幼圆" panose="02010509060101010101" pitchFamily="49" charset="-122"/>
              </a:rPr>
              <a:t>就是</a:t>
            </a:r>
            <a:r>
              <a:rPr lang="en-US" altLang="zh-CN" sz="2000" b="1" dirty="0">
                <a:latin typeface="幼圆" panose="02010509060101010101" pitchFamily="49" charset="-122"/>
                <a:ea typeface="幼圆" panose="02010509060101010101" pitchFamily="49" charset="-122"/>
              </a:rPr>
              <a:t>100%</a:t>
            </a:r>
            <a:r>
              <a:rPr altLang="en-US" sz="2000" b="1" dirty="0">
                <a:latin typeface="幼圆" panose="02010509060101010101" pitchFamily="49" charset="-122"/>
                <a:ea typeface="幼圆" panose="02010509060101010101" pitchFamily="49" charset="-122"/>
              </a:rPr>
              <a:t>，但是</a:t>
            </a:r>
            <a:r>
              <a:rPr lang="en-US" altLang="zh-CN" sz="2000" b="1" dirty="0">
                <a:latin typeface="幼圆" panose="02010509060101010101" pitchFamily="49" charset="-122"/>
                <a:ea typeface="幼圆" panose="02010509060101010101" pitchFamily="49" charset="-122"/>
              </a:rPr>
              <a:t>Recall</a:t>
            </a:r>
            <a:r>
              <a:rPr altLang="en-US" sz="2000" b="1" dirty="0">
                <a:latin typeface="幼圆" panose="02010509060101010101" pitchFamily="49" charset="-122"/>
                <a:ea typeface="幼圆" panose="02010509060101010101" pitchFamily="49" charset="-122"/>
              </a:rPr>
              <a:t>就很低；而如果把所有结果都返回，那么比如</a:t>
            </a:r>
            <a:r>
              <a:rPr lang="en-US" altLang="zh-CN" sz="2000" b="1" dirty="0">
                <a:latin typeface="幼圆" panose="02010509060101010101" pitchFamily="49" charset="-122"/>
                <a:ea typeface="幼圆" panose="02010509060101010101" pitchFamily="49" charset="-122"/>
              </a:rPr>
              <a:t>Recall</a:t>
            </a:r>
            <a:r>
              <a:rPr altLang="en-US" sz="2000" b="1" dirty="0">
                <a:latin typeface="幼圆" panose="02010509060101010101" pitchFamily="49" charset="-122"/>
                <a:ea typeface="幼圆" panose="02010509060101010101" pitchFamily="49" charset="-122"/>
              </a:rPr>
              <a:t>是</a:t>
            </a:r>
            <a:r>
              <a:rPr lang="en-US" altLang="zh-CN" sz="2000" b="1" dirty="0">
                <a:latin typeface="幼圆" panose="02010509060101010101" pitchFamily="49" charset="-122"/>
                <a:ea typeface="幼圆" panose="02010509060101010101" pitchFamily="49" charset="-122"/>
              </a:rPr>
              <a:t>100%</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但是</a:t>
            </a:r>
            <a:r>
              <a:rPr lang="en-US" altLang="zh-CN" sz="2000" b="1" dirty="0" err="1">
                <a:latin typeface="幼圆" panose="02010509060101010101" pitchFamily="49" charset="-122"/>
                <a:ea typeface="幼圆" panose="02010509060101010101" pitchFamily="49" charset="-122"/>
              </a:rPr>
              <a:t>Precision</a:t>
            </a:r>
            <a:r>
              <a:rPr altLang="en-US" sz="2000" b="1" dirty="0" err="1">
                <a:latin typeface="幼圆" panose="02010509060101010101" pitchFamily="49" charset="-122"/>
                <a:ea typeface="幼圆" panose="02010509060101010101" pitchFamily="49" charset="-122"/>
              </a:rPr>
              <a:t>就会很低。</a:t>
            </a:r>
            <a:r>
              <a:rPr altLang="en-US" sz="2000" b="1" dirty="0" err="1">
                <a:solidFill>
                  <a:srgbClr val="C00000"/>
                </a:solidFill>
                <a:latin typeface="幼圆" panose="02010509060101010101" pitchFamily="49" charset="-122"/>
                <a:ea typeface="幼圆" panose="02010509060101010101" pitchFamily="49" charset="-122"/>
              </a:rPr>
              <a:t>因此在不同的场合中需要自己判断希望</a:t>
            </a:r>
            <a:r>
              <a:rPr lang="en-US" altLang="zh-CN" sz="2000" b="1" dirty="0" err="1">
                <a:solidFill>
                  <a:srgbClr val="C00000"/>
                </a:solidFill>
                <a:latin typeface="幼圆" panose="02010509060101010101" pitchFamily="49" charset="-122"/>
                <a:ea typeface="幼圆" panose="02010509060101010101" pitchFamily="49" charset="-122"/>
              </a:rPr>
              <a:t>Precision</a:t>
            </a:r>
            <a:r>
              <a:rPr altLang="en-US" sz="2000" b="1" dirty="0" err="1">
                <a:solidFill>
                  <a:srgbClr val="C00000"/>
                </a:solidFill>
                <a:latin typeface="幼圆" panose="02010509060101010101" pitchFamily="49" charset="-122"/>
                <a:ea typeface="幼圆" panose="02010509060101010101" pitchFamily="49" charset="-122"/>
              </a:rPr>
              <a:t>比较高或是</a:t>
            </a:r>
            <a:r>
              <a:rPr lang="en-US" altLang="zh-CN" sz="2000" b="1" dirty="0" err="1">
                <a:solidFill>
                  <a:srgbClr val="C00000"/>
                </a:solidFill>
                <a:latin typeface="幼圆" panose="02010509060101010101" pitchFamily="49" charset="-122"/>
                <a:ea typeface="幼圆" panose="02010509060101010101" pitchFamily="49" charset="-122"/>
              </a:rPr>
              <a:t>Recall</a:t>
            </a:r>
            <a:r>
              <a:rPr altLang="en-US" sz="2000" b="1" dirty="0" err="1">
                <a:solidFill>
                  <a:srgbClr val="C00000"/>
                </a:solidFill>
                <a:latin typeface="幼圆" panose="02010509060101010101" pitchFamily="49" charset="-122"/>
                <a:ea typeface="幼圆" panose="02010509060101010101" pitchFamily="49" charset="-122"/>
              </a:rPr>
              <a:t>比较高</a:t>
            </a:r>
            <a:r>
              <a:rPr altLang="en-US" sz="2000" b="1" dirty="0">
                <a:solidFill>
                  <a:srgbClr val="C00000"/>
                </a:solidFill>
                <a:latin typeface="幼圆" panose="02010509060101010101" pitchFamily="49" charset="-122"/>
                <a:ea typeface="幼圆" panose="02010509060101010101" pitchFamily="49" charset="-122"/>
              </a:rPr>
              <a:t>。</a:t>
            </a:r>
            <a:endParaRPr lang="en-US" altLang="en-US" sz="2000" b="1" dirty="0">
              <a:solidFill>
                <a:srgbClr val="C00000"/>
              </a:solidFill>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r>
              <a:rPr altLang="en-US" sz="2000" b="1" dirty="0" err="1">
                <a:latin typeface="幼圆" panose="02010509060101010101" pitchFamily="49" charset="-122"/>
                <a:ea typeface="幼圆" panose="02010509060101010101" pitchFamily="49" charset="-122"/>
              </a:rPr>
              <a:t>可以绘制</a:t>
            </a:r>
            <a:r>
              <a:rPr lang="en-US" altLang="zh-CN" sz="2000" b="1" dirty="0" err="1">
                <a:latin typeface="幼圆" panose="02010509060101010101" pitchFamily="49" charset="-122"/>
                <a:ea typeface="幼圆" panose="02010509060101010101" pitchFamily="49" charset="-122"/>
              </a:rPr>
              <a:t>Precision-Recall</a:t>
            </a:r>
            <a:r>
              <a:rPr altLang="en-US" sz="2000" b="1" dirty="0" err="1">
                <a:latin typeface="幼圆" panose="02010509060101010101" pitchFamily="49" charset="-122"/>
                <a:ea typeface="幼圆" panose="02010509060101010101" pitchFamily="49" charset="-122"/>
              </a:rPr>
              <a:t>曲线来帮助分析</a:t>
            </a:r>
            <a:r>
              <a:rPr altLang="en-US"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a:p>
            <a:pPr eaLnBrk="1" hangingPunct="1">
              <a:lnSpc>
                <a:spcPct val="150000"/>
              </a:lnSpc>
              <a:buClr>
                <a:srgbClr val="00B050"/>
              </a:buClr>
              <a:buFont typeface="Wingdings" panose="05000000000000000000" pitchFamily="2" charset="2"/>
              <a:buChar char="p"/>
            </a:pPr>
            <a:endParaRPr lang="en-US" altLang="zh-CN" sz="20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9188" y="238335"/>
            <a:ext cx="8229600" cy="1143000"/>
          </a:xfrm>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平衡</a:t>
            </a:r>
            <a:r>
              <a:rPr lang="en-US" altLang="zh-CN" b="1" dirty="0">
                <a:latin typeface="幼圆" panose="02010509060101010101" pitchFamily="49" charset="-122"/>
                <a:ea typeface="幼圆" panose="02010509060101010101" pitchFamily="49" charset="-122"/>
              </a:rPr>
              <a:t>PR</a:t>
            </a:r>
            <a:endParaRPr lang="zh-CN" altLang="en-US" b="1" dirty="0">
              <a:latin typeface="幼圆" panose="02010509060101010101" pitchFamily="49" charset="-122"/>
              <a:ea typeface="幼圆" panose="02010509060101010101" pitchFamily="49" charset="-122"/>
            </a:endParaRPr>
          </a:p>
        </p:txBody>
      </p:sp>
      <p:sp>
        <p:nvSpPr>
          <p:cNvPr id="13" name="内容占位符 2"/>
          <p:cNvSpPr txBox="1"/>
          <p:nvPr/>
        </p:nvSpPr>
        <p:spPr>
          <a:xfrm>
            <a:off x="251520" y="1329655"/>
            <a:ext cx="843528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根据学习器的预测结果按正例可能性大小对样例进行排序，并逐个把样本作为正例进行预测，则可以得到查准率</a:t>
            </a:r>
            <a:r>
              <a:rPr lang="en-US" altLang="zh-CN" b="1" dirty="0">
                <a:latin typeface="幼圆" panose="02010509060101010101" pitchFamily="49" charset="-122"/>
              </a:rPr>
              <a:t>-</a:t>
            </a:r>
            <a:r>
              <a:rPr lang="zh-CN" altLang="en-US" b="1" dirty="0">
                <a:latin typeface="幼圆" panose="02010509060101010101" pitchFamily="49" charset="-122"/>
              </a:rPr>
              <a:t>查全率曲线，简称“</a:t>
            </a:r>
            <a:r>
              <a:rPr lang="en-US" altLang="zh-CN" b="1" dirty="0">
                <a:solidFill>
                  <a:srgbClr val="0000FF"/>
                </a:solidFill>
                <a:latin typeface="幼圆" panose="02010509060101010101" pitchFamily="49" charset="-122"/>
              </a:rPr>
              <a:t>P-R</a:t>
            </a:r>
            <a:r>
              <a:rPr lang="zh-CN" altLang="en-US" b="1" dirty="0">
                <a:solidFill>
                  <a:srgbClr val="0000FF"/>
                </a:solidFill>
                <a:latin typeface="幼圆" panose="02010509060101010101" pitchFamily="49" charset="-122"/>
              </a:rPr>
              <a:t>曲线</a:t>
            </a:r>
            <a:r>
              <a:rPr lang="zh-CN" altLang="en-US" b="1" dirty="0">
                <a:latin typeface="幼圆" panose="02010509060101010101" pitchFamily="49" charset="-122"/>
              </a:rPr>
              <a:t>”</a:t>
            </a:r>
            <a:endParaRPr lang="zh-CN" altLang="en-US" b="1" dirty="0">
              <a:latin typeface="幼圆" panose="02010509060101010101" pitchFamily="49" charset="-122"/>
            </a:endParaRPr>
          </a:p>
        </p:txBody>
      </p:sp>
      <p:pic>
        <p:nvPicPr>
          <p:cNvPr id="153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43808" y="2132856"/>
            <a:ext cx="4968552" cy="420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sp>
        <p:nvSpPr>
          <p:cNvPr id="14" name="TextBox 13"/>
          <p:cNvSpPr txBox="1"/>
          <p:nvPr/>
        </p:nvSpPr>
        <p:spPr>
          <a:xfrm>
            <a:off x="679235" y="2420888"/>
            <a:ext cx="1656184" cy="2585323"/>
          </a:xfrm>
          <a:prstGeom prst="rect">
            <a:avLst/>
          </a:prstGeom>
          <a:noFill/>
        </p:spPr>
        <p:txBody>
          <a:bodyPr wrap="square" rtlCol="0">
            <a:spAutoFit/>
          </a:bodyPr>
          <a:lstStyle/>
          <a:p>
            <a:pPr marL="285750" indent="-285750">
              <a:buClr>
                <a:srgbClr val="00B050"/>
              </a:buClr>
              <a:buFont typeface="Wingdings" panose="05000000000000000000" pitchFamily="2" charset="2"/>
              <a:buChar char="p"/>
            </a:pPr>
            <a:r>
              <a:rPr lang="zh-CN" altLang="en-US" b="1" dirty="0">
                <a:solidFill>
                  <a:srgbClr val="0000FF"/>
                </a:solidFill>
                <a:latin typeface="幼圆" panose="02010509060101010101" pitchFamily="49" charset="-122"/>
                <a:ea typeface="幼圆" panose="02010509060101010101" pitchFamily="49" charset="-122"/>
              </a:rPr>
              <a:t>平衡点</a:t>
            </a:r>
            <a:r>
              <a:rPr lang="zh-CN" altLang="en-US" b="1" dirty="0">
                <a:latin typeface="幼圆" panose="02010509060101010101" pitchFamily="49" charset="-122"/>
                <a:ea typeface="幼圆" panose="02010509060101010101" pitchFamily="49" charset="-122"/>
              </a:rPr>
              <a:t>是曲线上“查准率</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查全率”时的取值，可用来用于度量</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曲线有交叉的分类器性能高低</a:t>
            </a:r>
            <a:endParaRPr lang="zh-CN" altLang="en-US"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绘制</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a:t>
            </a:r>
            <a:endParaRPr lang="zh-CN" altLang="en-US" b="1" dirty="0">
              <a:latin typeface="幼圆" panose="02010509060101010101" pitchFamily="49" charset="-122"/>
              <a:ea typeface="幼圆" panose="02010509060101010101" pitchFamily="49" charset="-122"/>
            </a:endParaRPr>
          </a:p>
        </p:txBody>
      </p:sp>
      <p:sp>
        <p:nvSpPr>
          <p:cNvPr id="13" name="内容占位符 2"/>
          <p:cNvSpPr txBox="1"/>
          <p:nvPr/>
        </p:nvSpPr>
        <p:spPr>
          <a:xfrm>
            <a:off x="323528" y="1772816"/>
            <a:ext cx="8640960" cy="482453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600"/>
              </a:lnSpc>
              <a:buClr>
                <a:srgbClr val="00B050"/>
              </a:buClr>
              <a:buFont typeface="Wingdings" panose="05000000000000000000" pitchFamily="2" charset="2"/>
              <a:buChar char="p"/>
            </a:pPr>
            <a:r>
              <a:rPr lang="zh-CN" altLang="en-US" b="1" dirty="0">
                <a:latin typeface="幼圆" panose="02010509060101010101" pitchFamily="49" charset="-122"/>
              </a:rPr>
              <a:t>在</a:t>
            </a:r>
            <a:r>
              <a:rPr lang="en-US" altLang="zh-CN" b="1" dirty="0">
                <a:latin typeface="幼圆" panose="02010509060101010101" pitchFamily="49" charset="-122"/>
              </a:rPr>
              <a:t>linear model</a:t>
            </a:r>
            <a:r>
              <a:rPr lang="zh-CN" altLang="en-US" b="1" dirty="0">
                <a:latin typeface="幼圆" panose="02010509060101010101" pitchFamily="49" charset="-122"/>
              </a:rPr>
              <a:t>中，对各个特征线性组合，得到</a:t>
            </a:r>
            <a:r>
              <a:rPr lang="en-US" altLang="zh-CN" b="1" dirty="0">
                <a:latin typeface="幼圆" panose="02010509060101010101" pitchFamily="49" charset="-122"/>
              </a:rPr>
              <a:t>linear score,</a:t>
            </a:r>
            <a:r>
              <a:rPr lang="zh-CN" altLang="en-US" b="1" dirty="0">
                <a:latin typeface="幼圆" panose="02010509060101010101" pitchFamily="49" charset="-122"/>
              </a:rPr>
              <a:t>然后确定一个</a:t>
            </a:r>
            <a:r>
              <a:rPr lang="en-US" altLang="zh-CN" b="1" dirty="0">
                <a:latin typeface="幼圆" panose="02010509060101010101" pitchFamily="49" charset="-122"/>
              </a:rPr>
              <a:t>threshold</a:t>
            </a:r>
            <a:r>
              <a:rPr lang="zh-CN" altLang="en-US" b="1" dirty="0">
                <a:latin typeface="幼圆" panose="02010509060101010101" pitchFamily="49" charset="-122"/>
              </a:rPr>
              <a:t>，</a:t>
            </a:r>
            <a:r>
              <a:rPr lang="en-US" altLang="zh-CN" b="1" dirty="0">
                <a:latin typeface="幼圆" panose="02010509060101010101" pitchFamily="49" charset="-122"/>
              </a:rPr>
              <a:t>linear score </a:t>
            </a:r>
            <a:r>
              <a:rPr lang="zh-CN" altLang="en-US" b="1" dirty="0">
                <a:latin typeface="幼圆" panose="02010509060101010101" pitchFamily="49" charset="-122"/>
              </a:rPr>
              <a:t>＜ </a:t>
            </a:r>
            <a:r>
              <a:rPr lang="en-US" altLang="zh-CN" b="1" dirty="0">
                <a:latin typeface="幼圆" panose="02010509060101010101" pitchFamily="49" charset="-122"/>
              </a:rPr>
              <a:t>threshold </a:t>
            </a:r>
            <a:r>
              <a:rPr lang="zh-CN" altLang="en-US" b="1" dirty="0">
                <a:latin typeface="幼圆" panose="02010509060101010101" pitchFamily="49" charset="-122"/>
              </a:rPr>
              <a:t>判为负类，</a:t>
            </a:r>
            <a:r>
              <a:rPr lang="en-US" altLang="zh-CN" b="1" dirty="0">
                <a:latin typeface="幼圆" panose="02010509060101010101" pitchFamily="49" charset="-122"/>
              </a:rPr>
              <a:t>linear score </a:t>
            </a:r>
            <a:r>
              <a:rPr lang="zh-CN" altLang="en-US" b="1" dirty="0">
                <a:latin typeface="幼圆" panose="02010509060101010101" pitchFamily="49" charset="-122"/>
              </a:rPr>
              <a:t>＞ </a:t>
            </a:r>
            <a:r>
              <a:rPr lang="en-US" altLang="zh-CN" b="1" dirty="0">
                <a:latin typeface="幼圆" panose="02010509060101010101" pitchFamily="49" charset="-122"/>
              </a:rPr>
              <a:t>threshold </a:t>
            </a:r>
            <a:r>
              <a:rPr lang="zh-CN" altLang="en-US" b="1" dirty="0">
                <a:latin typeface="幼圆" panose="02010509060101010101" pitchFamily="49" charset="-122"/>
              </a:rPr>
              <a:t>判为正类。</a:t>
            </a: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r>
              <a:rPr lang="zh-CN" altLang="en-US" b="1" dirty="0">
                <a:latin typeface="幼圆" panose="02010509060101010101" pitchFamily="49" charset="-122"/>
              </a:rPr>
              <a:t>画</a:t>
            </a:r>
            <a:r>
              <a:rPr lang="en-US" altLang="zh-CN" b="1" dirty="0">
                <a:latin typeface="幼圆" panose="02010509060101010101" pitchFamily="49" charset="-122"/>
              </a:rPr>
              <a:t>PR</a:t>
            </a:r>
            <a:r>
              <a:rPr lang="zh-CN" altLang="en-US" b="1" dirty="0">
                <a:latin typeface="幼圆" panose="02010509060101010101" pitchFamily="49" charset="-122"/>
              </a:rPr>
              <a:t>曲线时， 可以想象</a:t>
            </a:r>
            <a:r>
              <a:rPr lang="en-US" altLang="zh-CN" b="1" dirty="0">
                <a:latin typeface="幼圆" panose="02010509060101010101" pitchFamily="49" charset="-122"/>
              </a:rPr>
              <a:t>threshold </a:t>
            </a:r>
            <a:r>
              <a:rPr lang="zh-CN" altLang="en-US" b="1" dirty="0">
                <a:latin typeface="幼圆" panose="02010509060101010101" pitchFamily="49" charset="-122"/>
              </a:rPr>
              <a:t>是不断变化的。首先，</a:t>
            </a:r>
            <a:r>
              <a:rPr lang="en-US" altLang="zh-CN" b="1" dirty="0">
                <a:latin typeface="幼圆" panose="02010509060101010101" pitchFamily="49" charset="-122"/>
              </a:rPr>
              <a:t>threshold </a:t>
            </a:r>
            <a:r>
              <a:rPr lang="zh-CN" altLang="en-US" b="1" dirty="0">
                <a:latin typeface="幼圆" panose="02010509060101010101" pitchFamily="49" charset="-122"/>
              </a:rPr>
              <a:t>特别大，这样没有一个是正类，计算出查全率与查准率； 然后 </a:t>
            </a:r>
            <a:r>
              <a:rPr lang="en-US" altLang="zh-CN" b="1" dirty="0">
                <a:latin typeface="幼圆" panose="02010509060101010101" pitchFamily="49" charset="-122"/>
              </a:rPr>
              <a:t>threshold </a:t>
            </a:r>
            <a:r>
              <a:rPr lang="zh-CN" altLang="en-US" b="1" dirty="0">
                <a:latin typeface="幼圆" panose="02010509060101010101" pitchFamily="49" charset="-122"/>
              </a:rPr>
              <a:t>减小， 只有一个正类，计算出查全率与查准率；然后 </a:t>
            </a:r>
            <a:r>
              <a:rPr lang="en-US" altLang="zh-CN" b="1" dirty="0">
                <a:latin typeface="幼圆" panose="02010509060101010101" pitchFamily="49" charset="-122"/>
              </a:rPr>
              <a:t>threshold</a:t>
            </a:r>
            <a:r>
              <a:rPr lang="zh-CN" altLang="en-US" b="1" dirty="0">
                <a:latin typeface="幼圆" panose="02010509060101010101" pitchFamily="49" charset="-122"/>
              </a:rPr>
              <a:t>再减小，有</a:t>
            </a:r>
            <a:r>
              <a:rPr lang="en-US" altLang="zh-CN" b="1" dirty="0">
                <a:latin typeface="幼圆" panose="02010509060101010101" pitchFamily="49" charset="-122"/>
              </a:rPr>
              <a:t>2</a:t>
            </a:r>
            <a:r>
              <a:rPr lang="zh-CN" altLang="en-US" b="1" dirty="0">
                <a:latin typeface="幼圆" panose="02010509060101010101" pitchFamily="49" charset="-122"/>
              </a:rPr>
              <a:t>个正类，计算出查全率与查准率；</a:t>
            </a:r>
            <a:r>
              <a:rPr lang="en-US" altLang="zh-CN" b="1" dirty="0">
                <a:latin typeface="幼圆" panose="02010509060101010101" pitchFamily="49" charset="-122"/>
              </a:rPr>
              <a:t>threshold</a:t>
            </a:r>
            <a:r>
              <a:rPr lang="zh-CN" altLang="en-US" b="1" dirty="0">
                <a:latin typeface="幼圆" panose="02010509060101010101" pitchFamily="49" charset="-122"/>
              </a:rPr>
              <a:t>减小一次，多出一个正类，直到所有的类别都被判为正类。 然后以查全率为横坐标</a:t>
            </a:r>
            <a:r>
              <a:rPr lang="zh-CN" altLang="en-US" b="1" dirty="0" smtClean="0">
                <a:latin typeface="幼圆" panose="02010509060101010101" pitchFamily="49" charset="-122"/>
              </a:rPr>
              <a:t>，查准率</a:t>
            </a:r>
            <a:r>
              <a:rPr lang="zh-CN" altLang="en-US" b="1" dirty="0">
                <a:latin typeface="幼圆" panose="02010509060101010101" pitchFamily="49" charset="-122"/>
              </a:rPr>
              <a:t>为纵坐标，画出图形即可。</a:t>
            </a:r>
            <a:endParaRPr lang="zh-CN" altLang="en-US" b="1" dirty="0">
              <a:latin typeface="幼圆" panose="02010509060101010101" pitchFamily="49"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绘制</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a:t>
            </a:r>
            <a:endParaRPr lang="zh-CN" altLang="en-US" b="1" dirty="0">
              <a:latin typeface="幼圆" panose="02010509060101010101" pitchFamily="49" charset="-122"/>
              <a:ea typeface="幼圆" panose="02010509060101010101" pitchFamily="49" charset="-122"/>
            </a:endParaRPr>
          </a:p>
        </p:txBody>
      </p:sp>
      <p:sp>
        <p:nvSpPr>
          <p:cNvPr id="13" name="内容占位符 2"/>
          <p:cNvSpPr txBox="1"/>
          <p:nvPr/>
        </p:nvSpPr>
        <p:spPr>
          <a:xfrm>
            <a:off x="179512" y="1556792"/>
            <a:ext cx="9001000" cy="518457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600"/>
              </a:lnSpc>
              <a:buClr>
                <a:srgbClr val="00B050"/>
              </a:buClr>
              <a:buFont typeface="Wingdings" panose="05000000000000000000" pitchFamily="2" charset="2"/>
              <a:buChar char="p"/>
            </a:pPr>
            <a:r>
              <a:rPr lang="zh-CN" altLang="en-US" b="1" dirty="0">
                <a:latin typeface="幼圆" panose="02010509060101010101" pitchFamily="49" charset="-122"/>
              </a:rPr>
              <a:t>假设数据集包含</a:t>
            </a:r>
            <a:r>
              <a:rPr lang="en-US" altLang="zh-CN" b="1" dirty="0">
                <a:latin typeface="幼圆" panose="02010509060101010101" pitchFamily="49" charset="-122"/>
              </a:rPr>
              <a:t>n</a:t>
            </a:r>
            <a:r>
              <a:rPr lang="zh-CN" altLang="en-US" b="1" dirty="0">
                <a:latin typeface="幼圆" panose="02010509060101010101" pitchFamily="49" charset="-122"/>
              </a:rPr>
              <a:t>个样本</a:t>
            </a:r>
            <a:r>
              <a:rPr lang="en-US" altLang="zh-CN" b="1" dirty="0">
                <a:latin typeface="幼圆" panose="02010509060101010101" pitchFamily="49" charset="-122"/>
              </a:rPr>
              <a:t>x1,x2,…,</a:t>
            </a:r>
            <a:r>
              <a:rPr lang="en-US" altLang="zh-CN" b="1" dirty="0" err="1">
                <a:latin typeface="幼圆" panose="02010509060101010101" pitchFamily="49" charset="-122"/>
              </a:rPr>
              <a:t>xn</a:t>
            </a:r>
            <a:r>
              <a:rPr lang="zh-CN" altLang="en-US" b="1" dirty="0">
                <a:latin typeface="幼圆" panose="02010509060101010101" pitchFamily="49" charset="-122"/>
              </a:rPr>
              <a:t>，那么经过算法</a:t>
            </a:r>
            <a:r>
              <a:rPr lang="en-US" altLang="zh-CN" b="1" dirty="0">
                <a:latin typeface="幼圆" panose="02010509060101010101" pitchFamily="49" charset="-122"/>
              </a:rPr>
              <a:t>h</a:t>
            </a:r>
            <a:r>
              <a:rPr lang="zh-CN" altLang="en-US" b="1" dirty="0">
                <a:latin typeface="幼圆" panose="02010509060101010101" pitchFamily="49" charset="-122"/>
              </a:rPr>
              <a:t>处理，得到一组数值</a:t>
            </a:r>
            <a:r>
              <a:rPr lang="en-US" altLang="zh-CN" b="1" dirty="0">
                <a:latin typeface="幼圆" panose="02010509060101010101" pitchFamily="49" charset="-122"/>
              </a:rPr>
              <a:t>h(x1),h(x2),…,h(</a:t>
            </a:r>
            <a:r>
              <a:rPr lang="en-US" altLang="zh-CN" b="1" dirty="0" err="1">
                <a:latin typeface="幼圆" panose="02010509060101010101" pitchFamily="49" charset="-122"/>
              </a:rPr>
              <a:t>xn</a:t>
            </a:r>
            <a:r>
              <a:rPr lang="en-US" altLang="zh-CN" b="1" dirty="0">
                <a:latin typeface="幼圆" panose="02010509060101010101" pitchFamily="49" charset="-122"/>
              </a:rPr>
              <a:t>)</a:t>
            </a:r>
            <a:r>
              <a:rPr lang="zh-CN" altLang="en-US" b="1" dirty="0">
                <a:latin typeface="幼圆" panose="02010509060101010101" pitchFamily="49" charset="-122"/>
              </a:rPr>
              <a:t>。将这组值从低到高进行排列，假设排列的顺序就是</a:t>
            </a:r>
            <a:r>
              <a:rPr lang="en-US" altLang="zh-CN" b="1" dirty="0">
                <a:latin typeface="幼圆" panose="02010509060101010101" pitchFamily="49" charset="-122"/>
              </a:rPr>
              <a:t>h(x1),h(x2),…,h(</a:t>
            </a:r>
            <a:r>
              <a:rPr lang="en-US" altLang="zh-CN" b="1" dirty="0" err="1">
                <a:latin typeface="幼圆" panose="02010509060101010101" pitchFamily="49" charset="-122"/>
              </a:rPr>
              <a:t>xn</a:t>
            </a:r>
            <a:r>
              <a:rPr lang="en-US" altLang="zh-CN" b="1" dirty="0">
                <a:latin typeface="幼圆" panose="02010509060101010101" pitchFamily="49" charset="-122"/>
              </a:rPr>
              <a:t>)</a:t>
            </a:r>
            <a:r>
              <a:rPr lang="zh-CN" altLang="en-US" b="1" dirty="0">
                <a:latin typeface="幼圆" panose="02010509060101010101" pitchFamily="49" charset="-122"/>
              </a:rPr>
              <a:t>，其中</a:t>
            </a:r>
            <a:r>
              <a:rPr lang="en-US" altLang="zh-CN" b="1" dirty="0">
                <a:latin typeface="幼圆" panose="02010509060101010101" pitchFamily="49" charset="-122"/>
              </a:rPr>
              <a:t>h(</a:t>
            </a:r>
            <a:r>
              <a:rPr lang="en-US" altLang="zh-CN" b="1" dirty="0" err="1">
                <a:latin typeface="幼圆" panose="02010509060101010101" pitchFamily="49" charset="-122"/>
              </a:rPr>
              <a:t>xn</a:t>
            </a:r>
            <a:r>
              <a:rPr lang="en-US" altLang="zh-CN" b="1" dirty="0">
                <a:latin typeface="幼圆" panose="02010509060101010101" pitchFamily="49" charset="-122"/>
              </a:rPr>
              <a:t>)</a:t>
            </a:r>
            <a:r>
              <a:rPr lang="zh-CN" altLang="en-US" b="1" dirty="0">
                <a:latin typeface="幼圆" panose="02010509060101010101" pitchFamily="49" charset="-122"/>
              </a:rPr>
              <a:t>算法认为最有可能为正例的样本，排在后面的</a:t>
            </a:r>
            <a:r>
              <a:rPr lang="en-US" altLang="zh-CN" b="1" dirty="0">
                <a:latin typeface="幼圆" panose="02010509060101010101" pitchFamily="49" charset="-122"/>
              </a:rPr>
              <a:t>h(x1)</a:t>
            </a:r>
            <a:r>
              <a:rPr lang="zh-CN" altLang="en-US" b="1" dirty="0">
                <a:latin typeface="幼圆" panose="02010509060101010101" pitchFamily="49" charset="-122"/>
              </a:rPr>
              <a:t>，是算法认为最不可能为正例的样本。有了排序结果，还要定义一个阈值</a:t>
            </a:r>
            <a:r>
              <a:rPr lang="en-US" altLang="zh-CN" b="1" dirty="0">
                <a:latin typeface="幼圆" panose="02010509060101010101" pitchFamily="49" charset="-122"/>
              </a:rPr>
              <a:t>p0</a:t>
            </a:r>
            <a:r>
              <a:rPr lang="zh-CN" altLang="en-US" b="1" dirty="0">
                <a:latin typeface="幼圆" panose="02010509060101010101" pitchFamily="49" charset="-122"/>
              </a:rPr>
              <a:t>。在二分类中，高于阈值</a:t>
            </a:r>
            <a:r>
              <a:rPr lang="en-US" altLang="zh-CN" b="1" dirty="0">
                <a:latin typeface="幼圆" panose="02010509060101010101" pitchFamily="49" charset="-122"/>
              </a:rPr>
              <a:t>p0</a:t>
            </a:r>
            <a:r>
              <a:rPr lang="zh-CN" altLang="en-US" b="1" dirty="0">
                <a:latin typeface="幼圆" panose="02010509060101010101" pitchFamily="49" charset="-122"/>
              </a:rPr>
              <a:t>被认为是正例，低于阈值</a:t>
            </a:r>
            <a:r>
              <a:rPr lang="en-US" altLang="zh-CN" b="1" dirty="0">
                <a:latin typeface="幼圆" panose="02010509060101010101" pitchFamily="49" charset="-122"/>
              </a:rPr>
              <a:t>p0</a:t>
            </a:r>
            <a:r>
              <a:rPr lang="zh-CN" altLang="en-US" b="1" dirty="0">
                <a:latin typeface="幼圆" panose="02010509060101010101" pitchFamily="49" charset="-122"/>
              </a:rPr>
              <a:t>的，认为是反例。 </a:t>
            </a:r>
            <a:endParaRPr lang="zh-CN" altLang="en-US"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r>
              <a:rPr lang="zh-CN" altLang="en-US" b="1" dirty="0">
                <a:latin typeface="幼圆" panose="02010509060101010101" pitchFamily="49" charset="-122"/>
              </a:rPr>
              <a:t>假设，将阈值设得很高，开始时，只认为</a:t>
            </a:r>
            <a:r>
              <a:rPr lang="en-US" altLang="zh-CN" b="1" dirty="0" err="1">
                <a:latin typeface="幼圆" panose="02010509060101010101" pitchFamily="49" charset="-122"/>
              </a:rPr>
              <a:t>xn</a:t>
            </a:r>
            <a:r>
              <a:rPr lang="zh-CN" altLang="en-US" b="1" dirty="0">
                <a:latin typeface="幼圆" panose="02010509060101010101" pitchFamily="49" charset="-122"/>
              </a:rPr>
              <a:t>是正例（此时只有</a:t>
            </a:r>
            <a:r>
              <a:rPr lang="en-US" altLang="zh-CN" b="1" dirty="0">
                <a:latin typeface="幼圆" panose="02010509060101010101" pitchFamily="49" charset="-122"/>
              </a:rPr>
              <a:t>h(</a:t>
            </a:r>
            <a:r>
              <a:rPr lang="en-US" altLang="zh-CN" b="1" dirty="0" err="1">
                <a:latin typeface="幼圆" panose="02010509060101010101" pitchFamily="49" charset="-122"/>
              </a:rPr>
              <a:t>xn</a:t>
            </a:r>
            <a:r>
              <a:rPr lang="en-US" altLang="zh-CN" b="1" dirty="0">
                <a:latin typeface="幼圆" panose="02010509060101010101" pitchFamily="49" charset="-122"/>
              </a:rPr>
              <a:t>)&gt;p0)</a:t>
            </a:r>
            <a:r>
              <a:rPr lang="zh-CN" altLang="en-US" b="1" dirty="0">
                <a:latin typeface="幼圆" panose="02010509060101010101" pitchFamily="49" charset="-122"/>
              </a:rPr>
              <a:t>其他结果都是反例。那么可以计算出一组</a:t>
            </a:r>
            <a:r>
              <a:rPr lang="en-US" altLang="zh-CN" b="1" dirty="0">
                <a:latin typeface="幼圆" panose="02010509060101010101" pitchFamily="49" charset="-122"/>
              </a:rPr>
              <a:t>P</a:t>
            </a:r>
            <a:r>
              <a:rPr lang="zh-CN" altLang="en-US" b="1" dirty="0">
                <a:latin typeface="幼圆" panose="02010509060101010101" pitchFamily="49" charset="-122"/>
              </a:rPr>
              <a:t>、</a:t>
            </a:r>
            <a:r>
              <a:rPr lang="en-US" altLang="zh-CN" b="1" dirty="0">
                <a:latin typeface="幼圆" panose="02010509060101010101" pitchFamily="49" charset="-122"/>
              </a:rPr>
              <a:t>R</a:t>
            </a:r>
            <a:r>
              <a:rPr lang="zh-CN" altLang="en-US" b="1" dirty="0">
                <a:latin typeface="幼圆" panose="02010509060101010101" pitchFamily="49" charset="-122"/>
              </a:rPr>
              <a:t>数值。</a:t>
            </a: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r>
              <a:rPr lang="zh-CN" altLang="en-US" b="1" dirty="0">
                <a:latin typeface="幼圆" panose="02010509060101010101" pitchFamily="49" charset="-122"/>
              </a:rPr>
              <a:t>之后，通过不断降低阈值</a:t>
            </a:r>
            <a:r>
              <a:rPr lang="en-US" altLang="zh-CN" b="1" dirty="0">
                <a:latin typeface="幼圆" panose="02010509060101010101" pitchFamily="49" charset="-122"/>
              </a:rPr>
              <a:t>p0</a:t>
            </a:r>
            <a:r>
              <a:rPr lang="zh-CN" altLang="en-US" b="1" dirty="0">
                <a:latin typeface="幼圆" panose="02010509060101010101" pitchFamily="49" charset="-122"/>
              </a:rPr>
              <a:t>的设定，使得被算法判定为正例的样本，从只有</a:t>
            </a:r>
            <a:r>
              <a:rPr lang="en-US" altLang="zh-CN" b="1" dirty="0">
                <a:latin typeface="幼圆" panose="02010509060101010101" pitchFamily="49" charset="-122"/>
              </a:rPr>
              <a:t>{</a:t>
            </a:r>
            <a:r>
              <a:rPr lang="en-US" altLang="zh-CN" b="1" dirty="0" err="1">
                <a:latin typeface="幼圆" panose="02010509060101010101" pitchFamily="49" charset="-122"/>
              </a:rPr>
              <a:t>xn</a:t>
            </a:r>
            <a:r>
              <a:rPr lang="en-US" altLang="zh-CN" b="1" dirty="0">
                <a:latin typeface="幼圆" panose="02010509060101010101" pitchFamily="49" charset="-122"/>
              </a:rPr>
              <a:t>},</a:t>
            </a:r>
            <a:r>
              <a:rPr lang="zh-CN" altLang="en-US" b="1" dirty="0">
                <a:latin typeface="幼圆" panose="02010509060101010101" pitchFamily="49" charset="-122"/>
              </a:rPr>
              <a:t>到</a:t>
            </a:r>
            <a:r>
              <a:rPr lang="en-US" altLang="zh-CN" b="1" dirty="0">
                <a:latin typeface="幼圆" panose="02010509060101010101" pitchFamily="49" charset="-122"/>
              </a:rPr>
              <a:t>{xn,xn−1},{xn,xn−1,xn−2},</a:t>
            </a:r>
            <a:r>
              <a:rPr lang="zh-CN" altLang="en-US" b="1" dirty="0">
                <a:latin typeface="幼圆" panose="02010509060101010101" pitchFamily="49" charset="-122"/>
              </a:rPr>
              <a:t>直至包含所有样本</a:t>
            </a:r>
            <a:r>
              <a:rPr lang="en-US" altLang="zh-CN" b="1" dirty="0">
                <a:latin typeface="幼圆" panose="02010509060101010101" pitchFamily="49" charset="-122"/>
              </a:rPr>
              <a:t>{xn,xn−1,…,x1}</a:t>
            </a:r>
            <a:r>
              <a:rPr lang="zh-CN" altLang="en-US" b="1" dirty="0">
                <a:latin typeface="幼圆" panose="02010509060101010101" pitchFamily="49" charset="-122"/>
              </a:rPr>
              <a:t>。此时可以得到</a:t>
            </a:r>
            <a:r>
              <a:rPr lang="en-US" altLang="zh-CN" b="1" dirty="0">
                <a:latin typeface="幼圆" panose="02010509060101010101" pitchFamily="49" charset="-122"/>
              </a:rPr>
              <a:t>n</a:t>
            </a:r>
            <a:r>
              <a:rPr lang="zh-CN" altLang="en-US" b="1" dirty="0">
                <a:latin typeface="幼圆" panose="02010509060101010101" pitchFamily="49" charset="-122"/>
              </a:rPr>
              <a:t>组不同的</a:t>
            </a:r>
            <a:r>
              <a:rPr lang="en-US" altLang="zh-CN" b="1" dirty="0">
                <a:latin typeface="幼圆" panose="02010509060101010101" pitchFamily="49" charset="-122"/>
              </a:rPr>
              <a:t>P</a:t>
            </a:r>
            <a:r>
              <a:rPr lang="zh-CN" altLang="en-US" b="1" dirty="0">
                <a:latin typeface="幼圆" panose="02010509060101010101" pitchFamily="49" charset="-122"/>
              </a:rPr>
              <a:t>、</a:t>
            </a:r>
            <a:r>
              <a:rPr lang="en-US" altLang="zh-CN" b="1" dirty="0">
                <a:latin typeface="幼圆" panose="02010509060101010101" pitchFamily="49" charset="-122"/>
              </a:rPr>
              <a:t>R</a:t>
            </a:r>
            <a:r>
              <a:rPr lang="zh-CN" altLang="en-US" b="1" dirty="0">
                <a:latin typeface="幼圆" panose="02010509060101010101" pitchFamily="49" charset="-122"/>
              </a:rPr>
              <a:t>值。将查准率</a:t>
            </a:r>
            <a:r>
              <a:rPr lang="en-US" altLang="zh-CN" b="1" dirty="0">
                <a:latin typeface="幼圆" panose="02010509060101010101" pitchFamily="49" charset="-122"/>
              </a:rPr>
              <a:t>P</a:t>
            </a:r>
            <a:r>
              <a:rPr lang="zh-CN" altLang="en-US" b="1" dirty="0">
                <a:latin typeface="幼圆" panose="02010509060101010101" pitchFamily="49" charset="-122"/>
              </a:rPr>
              <a:t>作为</a:t>
            </a:r>
            <a:r>
              <a:rPr lang="zh-CN" altLang="en-US" b="1" dirty="0" smtClean="0">
                <a:latin typeface="幼圆" panose="02010509060101010101" pitchFamily="49" charset="-122"/>
              </a:rPr>
              <a:t>纵轴</a:t>
            </a:r>
            <a:r>
              <a:rPr lang="zh-CN" altLang="en-US" b="1" dirty="0">
                <a:latin typeface="幼圆" panose="02010509060101010101" pitchFamily="49" charset="-122"/>
              </a:rPr>
              <a:t>，查全率</a:t>
            </a:r>
            <a:r>
              <a:rPr lang="en-US" altLang="zh-CN" b="1" dirty="0">
                <a:latin typeface="幼圆" panose="02010509060101010101" pitchFamily="49" charset="-122"/>
              </a:rPr>
              <a:t>R</a:t>
            </a:r>
            <a:r>
              <a:rPr lang="zh-CN" altLang="en-US" b="1" dirty="0">
                <a:latin typeface="幼圆" panose="02010509060101010101" pitchFamily="49" charset="-122"/>
              </a:rPr>
              <a:t>作为横轴，在坐标轴上绘制出这些</a:t>
            </a:r>
            <a:r>
              <a:rPr lang="en-US" altLang="zh-CN" b="1" dirty="0">
                <a:latin typeface="幼圆" panose="02010509060101010101" pitchFamily="49" charset="-122"/>
              </a:rPr>
              <a:t>P-R</a:t>
            </a:r>
            <a:r>
              <a:rPr lang="zh-CN" altLang="en-US" b="1" dirty="0">
                <a:latin typeface="幼圆" panose="02010509060101010101" pitchFamily="49" charset="-122"/>
              </a:rPr>
              <a:t>数组，再连成曲线，即可得到相应的</a:t>
            </a:r>
            <a:r>
              <a:rPr lang="en-US" altLang="zh-CN" b="1" dirty="0">
                <a:latin typeface="幼圆" panose="02010509060101010101" pitchFamily="49" charset="-122"/>
              </a:rPr>
              <a:t>P-R</a:t>
            </a:r>
            <a:r>
              <a:rPr lang="zh-CN" altLang="en-US" b="1" dirty="0">
                <a:latin typeface="幼圆" panose="02010509060101010101" pitchFamily="49" charset="-122"/>
              </a:rPr>
              <a:t>曲线图。</a:t>
            </a: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endParaRPr lang="en-US" altLang="zh-CN" b="1" dirty="0">
              <a:latin typeface="幼圆" panose="02010509060101010101" pitchFamily="49" charset="-122"/>
            </a:endParaRPr>
          </a:p>
          <a:p>
            <a:pPr marL="800100" lvl="1" indent="-342900">
              <a:lnSpc>
                <a:spcPts val="2600"/>
              </a:lnSpc>
              <a:buClr>
                <a:srgbClr val="00B050"/>
              </a:buClr>
              <a:buFont typeface="Wingdings" panose="05000000000000000000" pitchFamily="2" charset="2"/>
              <a:buChar char="p"/>
            </a:pPr>
            <a:endParaRPr lang="en-US" altLang="zh-CN" b="1" dirty="0">
              <a:latin typeface="幼圆" panose="02010509060101010101" pitchFamily="49"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绘制</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a:t>
            </a:r>
            <a:endParaRPr lang="zh-CN" altLang="en-US" b="1" dirty="0">
              <a:latin typeface="幼圆" panose="02010509060101010101" pitchFamily="49" charset="-122"/>
              <a:ea typeface="幼圆" panose="02010509060101010101" pitchFamily="49" charset="-122"/>
            </a:endParaRPr>
          </a:p>
        </p:txBody>
      </p:sp>
      <p:pic>
        <p:nvPicPr>
          <p:cNvPr id="3" name="图片 2"/>
          <p:cNvPicPr>
            <a:picLocks noChangeAspect="1"/>
          </p:cNvPicPr>
          <p:nvPr/>
        </p:nvPicPr>
        <p:blipFill>
          <a:blip r:embed="rId1"/>
          <a:stretch>
            <a:fillRect/>
          </a:stretch>
        </p:blipFill>
        <p:spPr>
          <a:xfrm>
            <a:off x="395536" y="1916832"/>
            <a:ext cx="8646288" cy="382031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绘制</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a:t>
            </a:r>
            <a:endParaRPr lang="zh-CN" altLang="en-US" b="1" dirty="0">
              <a:latin typeface="幼圆" panose="02010509060101010101" pitchFamily="49" charset="-122"/>
              <a:ea typeface="幼圆" panose="02010509060101010101" pitchFamily="49" charset="-122"/>
            </a:endParaRPr>
          </a:p>
        </p:txBody>
      </p:sp>
      <p:pic>
        <p:nvPicPr>
          <p:cNvPr id="6" name="图片 5"/>
          <p:cNvPicPr>
            <a:picLocks noChangeAspect="1"/>
          </p:cNvPicPr>
          <p:nvPr/>
        </p:nvPicPr>
        <p:blipFill>
          <a:blip r:embed="rId1"/>
          <a:stretch>
            <a:fillRect/>
          </a:stretch>
        </p:blipFill>
        <p:spPr>
          <a:xfrm>
            <a:off x="632115" y="1431521"/>
            <a:ext cx="8060552" cy="2520280"/>
          </a:xfrm>
          <a:prstGeom prst="rect">
            <a:avLst/>
          </a:prstGeom>
        </p:spPr>
      </p:pic>
      <p:pic>
        <p:nvPicPr>
          <p:cNvPr id="3" name="图片 2"/>
          <p:cNvPicPr>
            <a:picLocks noChangeAspect="1"/>
          </p:cNvPicPr>
          <p:nvPr/>
        </p:nvPicPr>
        <p:blipFill>
          <a:blip r:embed="rId2"/>
          <a:stretch>
            <a:fillRect/>
          </a:stretch>
        </p:blipFill>
        <p:spPr>
          <a:xfrm>
            <a:off x="4139952" y="2924944"/>
            <a:ext cx="4903317" cy="3328158"/>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绘制</a:t>
            </a:r>
            <a:r>
              <a:rPr lang="en-US" altLang="zh-CN" b="1" dirty="0">
                <a:latin typeface="幼圆" panose="02010509060101010101" pitchFamily="49" charset="-122"/>
                <a:ea typeface="幼圆" panose="02010509060101010101" pitchFamily="49" charset="-122"/>
              </a:rPr>
              <a:t>P-R</a:t>
            </a:r>
            <a:r>
              <a:rPr lang="zh-CN" altLang="en-US" b="1" dirty="0">
                <a:latin typeface="幼圆" panose="02010509060101010101" pitchFamily="49" charset="-122"/>
                <a:ea typeface="幼圆" panose="02010509060101010101" pitchFamily="49" charset="-122"/>
              </a:rPr>
              <a:t>曲线</a:t>
            </a:r>
            <a:endParaRPr lang="zh-CN" altLang="en-US" b="1" dirty="0">
              <a:latin typeface="幼圆" panose="02010509060101010101" pitchFamily="49" charset="-122"/>
              <a:ea typeface="幼圆" panose="02010509060101010101" pitchFamily="49" charset="-122"/>
            </a:endParaRPr>
          </a:p>
        </p:txBody>
      </p:sp>
      <p:sp>
        <p:nvSpPr>
          <p:cNvPr id="13" name="内容占位符 2"/>
          <p:cNvSpPr txBox="1"/>
          <p:nvPr/>
        </p:nvSpPr>
        <p:spPr>
          <a:xfrm>
            <a:off x="766993" y="1486946"/>
            <a:ext cx="6973210" cy="158201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a:t>
            </a:r>
            <a:r>
              <a:rPr lang="en-US" altLang="zh-CN" b="1" dirty="0">
                <a:solidFill>
                  <a:srgbClr val="0000FF"/>
                </a:solidFill>
                <a:latin typeface="幼圆" panose="02010509060101010101" pitchFamily="49" charset="-122"/>
              </a:rPr>
              <a:t>P-R</a:t>
            </a:r>
            <a:r>
              <a:rPr lang="zh-CN" altLang="en-US" b="1" dirty="0">
                <a:solidFill>
                  <a:srgbClr val="0000FF"/>
                </a:solidFill>
                <a:latin typeface="幼圆" panose="02010509060101010101" pitchFamily="49" charset="-122"/>
              </a:rPr>
              <a:t>曲线</a:t>
            </a:r>
            <a:r>
              <a:rPr lang="zh-CN" altLang="en-US" b="1" dirty="0">
                <a:latin typeface="幼圆" panose="02010509060101010101" pitchFamily="49" charset="-122"/>
              </a:rPr>
              <a:t>”绘制步骤：</a:t>
            </a:r>
            <a:endParaRPr lang="en-US" altLang="zh-CN" b="1" dirty="0">
              <a:latin typeface="幼圆" panose="02010509060101010101" pitchFamily="49" charset="-122"/>
            </a:endParaRPr>
          </a:p>
          <a:p>
            <a:pPr marL="800100" lvl="1" indent="-342900">
              <a:buClr>
                <a:srgbClr val="00B050"/>
              </a:buClr>
              <a:buFont typeface="Wingdings" panose="05000000000000000000" pitchFamily="2" charset="2"/>
              <a:buChar char="p"/>
            </a:pPr>
            <a:r>
              <a:rPr lang="en-US" altLang="zh-CN" b="1" dirty="0">
                <a:latin typeface="幼圆" panose="02010509060101010101" pitchFamily="49" charset="-122"/>
              </a:rPr>
              <a:t>	</a:t>
            </a:r>
            <a:r>
              <a:rPr lang="zh-CN" altLang="en-US" b="1" dirty="0">
                <a:latin typeface="幼圆" panose="02010509060101010101" pitchFamily="49" charset="-122"/>
              </a:rPr>
              <a:t>样例排序</a:t>
            </a:r>
            <a:endParaRPr lang="en-US" altLang="zh-CN" b="1" dirty="0">
              <a:latin typeface="幼圆" panose="02010509060101010101" pitchFamily="49" charset="-122"/>
            </a:endParaRPr>
          </a:p>
          <a:p>
            <a:pPr marL="800100" lvl="1" indent="-342900">
              <a:buClr>
                <a:srgbClr val="00B050"/>
              </a:buClr>
              <a:buFont typeface="Wingdings" panose="05000000000000000000" pitchFamily="2" charset="2"/>
              <a:buChar char="p"/>
            </a:pPr>
            <a:r>
              <a:rPr lang="en-US" altLang="zh-CN" b="1" dirty="0">
                <a:latin typeface="幼圆" panose="02010509060101010101" pitchFamily="49" charset="-122"/>
              </a:rPr>
              <a:t>	</a:t>
            </a:r>
            <a:r>
              <a:rPr lang="zh-CN" altLang="en-US" b="1" dirty="0">
                <a:latin typeface="幼圆" panose="02010509060101010101" pitchFamily="49" charset="-122"/>
              </a:rPr>
              <a:t>迭代</a:t>
            </a:r>
            <a:r>
              <a:rPr lang="en-US" altLang="zh-CN" b="1" dirty="0">
                <a:latin typeface="幼圆" panose="02010509060101010101" pitchFamily="49" charset="-122"/>
              </a:rPr>
              <a:t>{</a:t>
            </a:r>
            <a:r>
              <a:rPr lang="zh-CN" altLang="en-US" b="1" dirty="0">
                <a:latin typeface="幼圆" panose="02010509060101010101" pitchFamily="49" charset="-122"/>
              </a:rPr>
              <a:t>逐一分界</a:t>
            </a:r>
            <a:r>
              <a:rPr lang="en-US" altLang="zh-CN" b="1" dirty="0">
                <a:latin typeface="幼圆" panose="02010509060101010101" pitchFamily="49" charset="-122"/>
              </a:rPr>
              <a:t>-</a:t>
            </a:r>
            <a:r>
              <a:rPr lang="zh-CN" altLang="en-US" b="1" dirty="0">
                <a:latin typeface="幼圆" panose="02010509060101010101" pitchFamily="49" charset="-122"/>
              </a:rPr>
              <a:t>计算</a:t>
            </a:r>
            <a:r>
              <a:rPr lang="en-US" altLang="zh-CN" b="1" dirty="0">
                <a:latin typeface="幼圆" panose="02010509060101010101" pitchFamily="49" charset="-122"/>
              </a:rPr>
              <a:t>P/R-</a:t>
            </a:r>
            <a:r>
              <a:rPr lang="zh-CN" altLang="en-US" b="1" dirty="0">
                <a:latin typeface="幼圆" panose="02010509060101010101" pitchFamily="49" charset="-122"/>
              </a:rPr>
              <a:t>绘散点</a:t>
            </a:r>
            <a:r>
              <a:rPr lang="en-US" altLang="zh-CN" b="1" dirty="0">
                <a:latin typeface="幼圆" panose="02010509060101010101" pitchFamily="49" charset="-122"/>
              </a:rPr>
              <a:t>}</a:t>
            </a:r>
            <a:endParaRPr lang="en-US" altLang="zh-CN" b="1" dirty="0">
              <a:latin typeface="幼圆" panose="02010509060101010101" pitchFamily="49" charset="-122"/>
            </a:endParaRPr>
          </a:p>
          <a:p>
            <a:pPr marL="800100" lvl="1" indent="-342900">
              <a:buClr>
                <a:srgbClr val="00B050"/>
              </a:buClr>
              <a:buFont typeface="Wingdings" panose="05000000000000000000" pitchFamily="2" charset="2"/>
              <a:buChar char="p"/>
            </a:pPr>
            <a:r>
              <a:rPr lang="en-US" altLang="zh-CN" b="1" dirty="0">
                <a:latin typeface="幼圆" panose="02010509060101010101" pitchFamily="49" charset="-122"/>
              </a:rPr>
              <a:t>	</a:t>
            </a:r>
            <a:r>
              <a:rPr lang="zh-CN" altLang="en-US" b="1" dirty="0">
                <a:latin typeface="幼圆" panose="02010509060101010101" pitchFamily="49" charset="-122"/>
              </a:rPr>
              <a:t>联折线</a:t>
            </a:r>
            <a:endParaRPr lang="zh-CN" altLang="en-US" b="1" dirty="0">
              <a:latin typeface="幼圆" panose="02010509060101010101" pitchFamily="49" charset="-122"/>
            </a:endParaRPr>
          </a:p>
        </p:txBody>
      </p:sp>
      <p:pic>
        <p:nvPicPr>
          <p:cNvPr id="153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9832" y="2708920"/>
            <a:ext cx="4341218" cy="3670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平均与侧重</a:t>
            </a:r>
            <a:r>
              <a:rPr lang="en-US" altLang="zh-CN" b="1" dirty="0">
                <a:latin typeface="幼圆" panose="02010509060101010101" pitchFamily="49" charset="-122"/>
                <a:ea typeface="幼圆" panose="02010509060101010101" pitchFamily="49" charset="-122"/>
              </a:rPr>
              <a:t>PR</a:t>
            </a:r>
            <a:endParaRPr lang="zh-CN" altLang="en-US" b="1" dirty="0">
              <a:latin typeface="幼圆" panose="02010509060101010101" pitchFamily="49" charset="-122"/>
              <a:ea typeface="幼圆" panose="02010509060101010101" pitchFamily="49" charset="-122"/>
            </a:endParaRPr>
          </a:p>
        </p:txBody>
      </p:sp>
      <p:sp>
        <p:nvSpPr>
          <p:cNvPr id="13" name="内容占位符 2"/>
          <p:cNvSpPr txBox="1"/>
          <p:nvPr/>
        </p:nvSpPr>
        <p:spPr>
          <a:xfrm>
            <a:off x="830493" y="1486947"/>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t>比</a:t>
            </a:r>
            <a:r>
              <a:rPr lang="en-US" altLang="zh-CN" b="1" dirty="0"/>
              <a:t>P-R</a:t>
            </a:r>
            <a:r>
              <a:rPr lang="zh-CN" altLang="en-US" b="1" dirty="0"/>
              <a:t>曲线平衡点更用常用的是</a:t>
            </a:r>
            <a:r>
              <a:rPr lang="en-US" altLang="zh-CN" b="1" dirty="0"/>
              <a:t>F1</a:t>
            </a:r>
            <a:r>
              <a:rPr lang="zh-CN" altLang="en-US" b="1" dirty="0"/>
              <a:t>度量：</a:t>
            </a:r>
            <a:endParaRPr lang="zh-CN" altLang="en-US" b="1" dirty="0"/>
          </a:p>
        </p:txBody>
      </p:sp>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9086" y="1924508"/>
            <a:ext cx="4387381" cy="59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830493" y="2715429"/>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grpSp>
        <p:nvGrpSpPr>
          <p:cNvPr id="5" name="组合 4"/>
          <p:cNvGrpSpPr/>
          <p:nvPr/>
        </p:nvGrpSpPr>
        <p:grpSpPr>
          <a:xfrm>
            <a:off x="830493" y="2677059"/>
            <a:ext cx="6973210" cy="2450733"/>
            <a:chOff x="851833" y="2514967"/>
            <a:chExt cx="6973210" cy="2450733"/>
          </a:xfrm>
        </p:grpSpPr>
        <p:sp>
          <p:nvSpPr>
            <p:cNvPr id="10" name="内容占位符 2"/>
            <p:cNvSpPr txBox="1"/>
            <p:nvPr/>
          </p:nvSpPr>
          <p:spPr>
            <a:xfrm>
              <a:off x="851833" y="2514967"/>
              <a:ext cx="6973210" cy="245073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t>比</a:t>
              </a:r>
              <a:r>
                <a:rPr lang="en-US" altLang="zh-CN" b="1" dirty="0"/>
                <a:t>F1</a:t>
              </a:r>
              <a:r>
                <a:rPr lang="zh-CN" altLang="en-US" b="1" dirty="0"/>
                <a:t>更一般的形式    </a:t>
              </a:r>
              <a:r>
                <a:rPr lang="en-US" altLang="zh-CN" b="1" dirty="0"/>
                <a:t>,</a:t>
              </a:r>
              <a:endParaRPr lang="en-US" altLang="zh-CN" b="1" dirty="0"/>
            </a:p>
            <a:p>
              <a:pPr marL="457200" lvl="1" indent="0">
                <a:buNone/>
              </a:pPr>
              <a:endParaRPr lang="en-US" altLang="zh-CN" b="1" dirty="0"/>
            </a:p>
            <a:p>
              <a:pPr marL="457200" lvl="1" indent="0">
                <a:buNone/>
              </a:pPr>
              <a:endParaRPr lang="en-US" altLang="zh-CN" b="1" dirty="0"/>
            </a:p>
            <a:p>
              <a:pPr marL="1240155" lvl="3" indent="0">
                <a:buNone/>
              </a:pPr>
              <a:endParaRPr lang="en-US" altLang="zh-CN" b="1" dirty="0"/>
            </a:p>
            <a:p>
              <a:pPr marL="1240155" lvl="3" indent="0">
                <a:buNone/>
              </a:pPr>
              <a:r>
                <a:rPr lang="en-US" altLang="zh-CN" b="1" dirty="0"/>
                <a:t>	:  </a:t>
              </a:r>
              <a:r>
                <a:rPr lang="zh-CN" altLang="en-US" sz="1800" b="1" dirty="0">
                  <a:latin typeface="+mn-ea"/>
                  <a:ea typeface="+mn-ea"/>
                </a:rPr>
                <a:t>标准</a:t>
              </a:r>
              <a:r>
                <a:rPr lang="en-US" altLang="zh-CN" sz="1800" b="1" dirty="0">
                  <a:latin typeface="+mn-ea"/>
                  <a:ea typeface="+mn-ea"/>
                </a:rPr>
                <a:t>F1</a:t>
              </a:r>
              <a:endParaRPr lang="en-US" altLang="zh-CN" sz="1800" b="1" dirty="0">
                <a:latin typeface="+mn-ea"/>
                <a:ea typeface="+mn-ea"/>
              </a:endParaRPr>
            </a:p>
            <a:p>
              <a:pPr marL="1240155" lvl="3" indent="0">
                <a:buNone/>
              </a:pPr>
              <a:r>
                <a:rPr lang="en-US" altLang="zh-CN" sz="1800" b="1" dirty="0">
                  <a:latin typeface="+mn-ea"/>
                  <a:ea typeface="+mn-ea"/>
                </a:rPr>
                <a:t>	: </a:t>
              </a:r>
              <a:r>
                <a:rPr lang="zh-CN" altLang="en-US" sz="1800" b="1" dirty="0">
                  <a:latin typeface="+mn-ea"/>
                  <a:ea typeface="+mn-ea"/>
                </a:rPr>
                <a:t>偏重查全率</a:t>
              </a:r>
              <a:r>
                <a:rPr lang="en-US" altLang="zh-CN" sz="1800" b="1" dirty="0">
                  <a:latin typeface="+mn-ea"/>
                  <a:ea typeface="+mn-ea"/>
                </a:rPr>
                <a:t>(</a:t>
              </a:r>
              <a:r>
                <a:rPr lang="zh-CN" altLang="en-US" sz="1800" b="1" dirty="0">
                  <a:latin typeface="+mn-ea"/>
                  <a:ea typeface="+mn-ea"/>
                </a:rPr>
                <a:t>逃犯信息检索</a:t>
              </a:r>
              <a:r>
                <a:rPr lang="en-US" altLang="zh-CN" sz="1800" b="1" dirty="0">
                  <a:latin typeface="+mn-ea"/>
                  <a:ea typeface="+mn-ea"/>
                </a:rPr>
                <a:t>)</a:t>
              </a:r>
              <a:endParaRPr lang="en-US" altLang="zh-CN" sz="1800" b="1" dirty="0">
                <a:latin typeface="+mn-ea"/>
                <a:ea typeface="+mn-ea"/>
              </a:endParaRPr>
            </a:p>
            <a:p>
              <a:pPr marL="1240155" lvl="3" indent="0">
                <a:buNone/>
              </a:pPr>
              <a:r>
                <a:rPr lang="en-US" altLang="zh-CN" sz="1800" b="1" dirty="0">
                  <a:latin typeface="+mn-ea"/>
                  <a:ea typeface="+mn-ea"/>
                </a:rPr>
                <a:t>	</a:t>
              </a:r>
              <a:r>
                <a:rPr lang="zh-CN" altLang="en-US" sz="1800" b="1" dirty="0">
                  <a:latin typeface="+mn-ea"/>
                  <a:ea typeface="+mn-ea"/>
                </a:rPr>
                <a:t>：偏重查准率</a:t>
              </a:r>
              <a:r>
                <a:rPr lang="en-US" altLang="zh-CN" sz="1800" b="1" dirty="0">
                  <a:latin typeface="+mn-ea"/>
                  <a:ea typeface="+mn-ea"/>
                </a:rPr>
                <a:t>(</a:t>
              </a:r>
              <a:r>
                <a:rPr lang="zh-CN" altLang="en-US" sz="1800" b="1" dirty="0">
                  <a:latin typeface="+mn-ea"/>
                  <a:ea typeface="+mn-ea"/>
                </a:rPr>
                <a:t>商品推荐系统</a:t>
              </a:r>
              <a:r>
                <a:rPr lang="en-US" altLang="zh-CN" sz="1800" b="1" dirty="0">
                  <a:latin typeface="+mn-ea"/>
                  <a:ea typeface="+mn-ea"/>
                </a:rPr>
                <a:t>)</a:t>
              </a:r>
              <a:endParaRPr lang="en-US" altLang="zh-CN" sz="1800" b="1" dirty="0">
                <a:latin typeface="+mn-ea"/>
                <a:ea typeface="+mn-ea"/>
              </a:endParaRPr>
            </a:p>
            <a:p>
              <a:pPr marL="457200" lvl="1" indent="0">
                <a:buNone/>
              </a:pPr>
              <a:endParaRPr lang="en-US" altLang="zh-CN" b="1" dirty="0"/>
            </a:p>
            <a:p>
              <a:pPr marL="457200" lvl="1" indent="0">
                <a:buNone/>
              </a:pPr>
              <a:endParaRPr lang="zh-CN" altLang="en-US" b="1" dirty="0"/>
            </a:p>
          </p:txBody>
        </p:sp>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5268" y="2601460"/>
              <a:ext cx="304078"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050" y="2975117"/>
              <a:ext cx="25622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02367" y="3903016"/>
              <a:ext cx="648101" cy="267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03060" y="4197354"/>
              <a:ext cx="647408" cy="246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83411" y="4521148"/>
              <a:ext cx="667057" cy="240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性能度量</a:t>
            </a:r>
            <a:r>
              <a:rPr lang="en-US" altLang="zh-CN" b="1" dirty="0">
                <a:latin typeface="幼圆" panose="02010509060101010101" pitchFamily="49" charset="-122"/>
                <a:ea typeface="幼圆" panose="02010509060101010101" pitchFamily="49" charset="-122"/>
              </a:rPr>
              <a:t>-</a:t>
            </a:r>
            <a:r>
              <a:rPr lang="zh-CN" altLang="en-US" b="1" dirty="0">
                <a:solidFill>
                  <a:srgbClr val="0000FF"/>
                </a:solidFill>
                <a:latin typeface="幼圆" panose="02010509060101010101" pitchFamily="49" charset="-122"/>
                <a:ea typeface="幼圆" panose="02010509060101010101" pitchFamily="49" charset="-122"/>
              </a:rPr>
              <a:t>宏</a:t>
            </a:r>
            <a:r>
              <a:rPr lang="en-US" altLang="zh-CN" b="1" dirty="0">
                <a:solidFill>
                  <a:srgbClr val="0000FF"/>
                </a:solidFill>
                <a:latin typeface="幼圆" panose="02010509060101010101" pitchFamily="49" charset="-122"/>
                <a:ea typeface="幼圆" panose="02010509060101010101" pitchFamily="49" charset="-122"/>
              </a:rPr>
              <a:t>/</a:t>
            </a:r>
            <a:r>
              <a:rPr lang="zh-CN" altLang="en-US" b="1" dirty="0">
                <a:solidFill>
                  <a:srgbClr val="0000FF"/>
                </a:solidFill>
                <a:latin typeface="幼圆" panose="02010509060101010101" pitchFamily="49" charset="-122"/>
                <a:ea typeface="幼圆" panose="02010509060101010101" pitchFamily="49" charset="-122"/>
              </a:rPr>
              <a:t>微平均</a:t>
            </a:r>
            <a:endParaRPr lang="zh-CN" altLang="en-US" b="1" dirty="0">
              <a:solidFill>
                <a:srgbClr val="0000FF"/>
              </a:solidFill>
              <a:latin typeface="幼圆" panose="02010509060101010101" pitchFamily="49" charset="-122"/>
              <a:ea typeface="幼圆" panose="02010509060101010101" pitchFamily="49" charset="-122"/>
            </a:endParaRPr>
          </a:p>
        </p:txBody>
      </p:sp>
      <p:sp>
        <p:nvSpPr>
          <p:cNvPr id="13" name="内容占位符 2"/>
          <p:cNvSpPr txBox="1"/>
          <p:nvPr/>
        </p:nvSpPr>
        <p:spPr>
          <a:xfrm>
            <a:off x="766992" y="1486947"/>
            <a:ext cx="7621431" cy="1200571"/>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t>宏 查准率</a:t>
            </a:r>
            <a:r>
              <a:rPr lang="en-US" altLang="zh-CN" b="1" dirty="0"/>
              <a:t>/</a:t>
            </a:r>
            <a:r>
              <a:rPr lang="zh-CN" altLang="en-US" b="1" dirty="0"/>
              <a:t>查全率：多个混淆矩阵？ </a:t>
            </a:r>
            <a:r>
              <a:rPr lang="zh-CN" altLang="en-US" b="1" dirty="0">
                <a:solidFill>
                  <a:srgbClr val="0000FF"/>
                </a:solidFill>
              </a:rPr>
              <a:t>先精度后平均</a:t>
            </a:r>
            <a:endParaRPr lang="en-US" altLang="zh-CN" b="1" dirty="0">
              <a:solidFill>
                <a:srgbClr val="0000FF"/>
              </a:solidFill>
            </a:endParaRPr>
          </a:p>
          <a:p>
            <a:pPr marL="800100" lvl="1" indent="-342900">
              <a:buClr>
                <a:srgbClr val="00B050"/>
              </a:buClr>
              <a:buFont typeface="Wingdings" panose="05000000000000000000" pitchFamily="2" charset="2"/>
              <a:buChar char="p"/>
            </a:pPr>
            <a:r>
              <a:rPr lang="zh-CN" altLang="en-US" b="1" dirty="0"/>
              <a:t>微 查准率</a:t>
            </a:r>
            <a:r>
              <a:rPr lang="en-US" altLang="zh-CN" b="1" dirty="0"/>
              <a:t>/</a:t>
            </a:r>
            <a:r>
              <a:rPr lang="zh-CN" altLang="en-US" b="1" dirty="0"/>
              <a:t>查全率：多个混淆矩阵？ </a:t>
            </a:r>
            <a:r>
              <a:rPr lang="zh-CN" altLang="en-US" b="1" dirty="0">
                <a:solidFill>
                  <a:srgbClr val="0000FF"/>
                </a:solidFill>
              </a:rPr>
              <a:t>先平均后精度</a:t>
            </a:r>
            <a:endParaRPr lang="en-US" altLang="zh-CN" b="1" dirty="0">
              <a:solidFill>
                <a:srgbClr val="0000FF"/>
              </a:solidFill>
            </a:endParaRPr>
          </a:p>
          <a:p>
            <a:pPr marL="800100" lvl="1" indent="-342900">
              <a:buClr>
                <a:srgbClr val="00B050"/>
              </a:buClr>
              <a:buFont typeface="Wingdings" panose="05000000000000000000" pitchFamily="2" charset="2"/>
              <a:buChar char="p"/>
            </a:pPr>
            <a:r>
              <a:rPr lang="en-US" altLang="zh-CN" b="1" dirty="0"/>
              <a:t>P32-33</a:t>
            </a:r>
            <a:endParaRPr lang="zh-CN" altLang="en-US" b="1" dirty="0"/>
          </a:p>
        </p:txBody>
      </p:sp>
      <p:sp>
        <p:nvSpPr>
          <p:cNvPr id="8" name="内容占位符 2"/>
          <p:cNvSpPr txBox="1"/>
          <p:nvPr/>
        </p:nvSpPr>
        <p:spPr>
          <a:xfrm>
            <a:off x="766993" y="2909347"/>
            <a:ext cx="6973210" cy="600494"/>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t>统计真实标记和预测结果的组合可以得到“</a:t>
            </a:r>
            <a:r>
              <a:rPr lang="zh-CN" altLang="en-US" b="1" dirty="0">
                <a:solidFill>
                  <a:srgbClr val="0000FF"/>
                </a:solidFill>
              </a:rPr>
              <a:t>混淆矩阵</a:t>
            </a:r>
            <a:r>
              <a:rPr lang="zh-CN" altLang="en-US" b="1" dirty="0"/>
              <a:t>”</a:t>
            </a:r>
            <a:endParaRPr lang="zh-CN" altLang="en-US" b="1" dirty="0"/>
          </a:p>
        </p:txBody>
      </p:sp>
      <p:pic>
        <p:nvPicPr>
          <p:cNvPr id="14340"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8214" y="3731670"/>
            <a:ext cx="4831241"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5461000" y="4292813"/>
            <a:ext cx="942975" cy="369332"/>
          </a:xfrm>
          <a:prstGeom prst="rect">
            <a:avLst/>
          </a:prstGeom>
          <a:noFill/>
        </p:spPr>
        <p:txBody>
          <a:bodyPr wrap="square" rtlCol="0">
            <a:spAutoFit/>
          </a:bodyPr>
          <a:lstStyle/>
          <a:p>
            <a:r>
              <a:rPr lang="zh-CN" altLang="en-US" dirty="0"/>
              <a:t>查准率</a:t>
            </a:r>
            <a:endParaRPr lang="zh-CN" altLang="en-US" dirty="0"/>
          </a:p>
        </p:txBody>
      </p:sp>
      <p:pic>
        <p:nvPicPr>
          <p:cNvPr id="143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975" y="4235523"/>
            <a:ext cx="1231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5486400" y="4927813"/>
            <a:ext cx="942975" cy="369332"/>
          </a:xfrm>
          <a:prstGeom prst="rect">
            <a:avLst/>
          </a:prstGeom>
          <a:noFill/>
        </p:spPr>
        <p:txBody>
          <a:bodyPr wrap="square" rtlCol="0">
            <a:spAutoFit/>
          </a:bodyPr>
          <a:lstStyle/>
          <a:p>
            <a:r>
              <a:rPr lang="zh-CN" altLang="en-US" dirty="0"/>
              <a:t>查全率</a:t>
            </a:r>
            <a:endParaRPr lang="zh-CN" altLang="en-US" dirty="0"/>
          </a:p>
        </p:txBody>
      </p:sp>
      <p:pic>
        <p:nvPicPr>
          <p:cNvPr id="1434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348" y="4919315"/>
            <a:ext cx="1204227" cy="42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1000"/>
                                        <p:tgtEl>
                                          <p:spTgt spid="14340"/>
                                        </p:tgtEl>
                                      </p:cBhvr>
                                    </p:animEffect>
                                    <p:anim calcmode="lin" valueType="num">
                                      <p:cBhvr>
                                        <p:cTn id="13" dur="1000" fill="hold"/>
                                        <p:tgtEl>
                                          <p:spTgt spid="14340"/>
                                        </p:tgtEl>
                                        <p:attrNameLst>
                                          <p:attrName>ppt_x</p:attrName>
                                        </p:attrNameLst>
                                      </p:cBhvr>
                                      <p:tavLst>
                                        <p:tav tm="0">
                                          <p:val>
                                            <p:strVal val="#ppt_x"/>
                                          </p:val>
                                        </p:tav>
                                        <p:tav tm="100000">
                                          <p:val>
                                            <p:strVal val="#ppt_x"/>
                                          </p:val>
                                        </p:tav>
                                      </p:tavLst>
                                    </p:anim>
                                    <p:anim calcmode="lin" valueType="num">
                                      <p:cBhvr>
                                        <p:cTn id="14" dur="1000" fill="hold"/>
                                        <p:tgtEl>
                                          <p:spTgt spid="1434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fade">
                                      <p:cBhvr>
                                        <p:cTn id="22" dur="1000"/>
                                        <p:tgtEl>
                                          <p:spTgt spid="14341"/>
                                        </p:tgtEl>
                                      </p:cBhvr>
                                    </p:animEffect>
                                    <p:anim calcmode="lin" valueType="num">
                                      <p:cBhvr>
                                        <p:cTn id="23" dur="1000" fill="hold"/>
                                        <p:tgtEl>
                                          <p:spTgt spid="14341"/>
                                        </p:tgtEl>
                                        <p:attrNameLst>
                                          <p:attrName>ppt_x</p:attrName>
                                        </p:attrNameLst>
                                      </p:cBhvr>
                                      <p:tavLst>
                                        <p:tav tm="0">
                                          <p:val>
                                            <p:strVal val="#ppt_x"/>
                                          </p:val>
                                        </p:tav>
                                        <p:tav tm="100000">
                                          <p:val>
                                            <p:strVal val="#ppt_x"/>
                                          </p:val>
                                        </p:tav>
                                      </p:tavLst>
                                    </p:anim>
                                    <p:anim calcmode="lin" valueType="num">
                                      <p:cBhvr>
                                        <p:cTn id="24" dur="1000" fill="hold"/>
                                        <p:tgtEl>
                                          <p:spTgt spid="1434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fade">
                                      <p:cBhvr>
                                        <p:cTn id="32" dur="1000"/>
                                        <p:tgtEl>
                                          <p:spTgt spid="14342"/>
                                        </p:tgtEl>
                                      </p:cBhvr>
                                    </p:animEffect>
                                    <p:anim calcmode="lin" valueType="num">
                                      <p:cBhvr>
                                        <p:cTn id="33" dur="1000" fill="hold"/>
                                        <p:tgtEl>
                                          <p:spTgt spid="14342"/>
                                        </p:tgtEl>
                                        <p:attrNameLst>
                                          <p:attrName>ppt_x</p:attrName>
                                        </p:attrNameLst>
                                      </p:cBhvr>
                                      <p:tavLst>
                                        <p:tav tm="0">
                                          <p:val>
                                            <p:strVal val="#ppt_x"/>
                                          </p:val>
                                        </p:tav>
                                        <p:tav tm="100000">
                                          <p:val>
                                            <p:strVal val="#ppt_x"/>
                                          </p:val>
                                        </p:tav>
                                      </p:tavLst>
                                    </p:anim>
                                    <p:anim calcmode="lin" valueType="num">
                                      <p:cBhvr>
                                        <p:cTn id="34" dur="1000" fill="hold"/>
                                        <p:tgtEl>
                                          <p:spTgt spid="143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2"/>
          <p:cNvSpPr>
            <a:spLocks noGrp="1"/>
          </p:cNvSpPr>
          <p:nvPr>
            <p:ph type="body" idx="1"/>
          </p:nvPr>
        </p:nvSpPr>
        <p:spPr>
          <a:xfrm>
            <a:off x="2078620" y="836712"/>
            <a:ext cx="3402583" cy="514424"/>
          </a:xfrm>
        </p:spPr>
        <p:txBody>
          <a:bodyPr vert="horz" lIns="91440" tIns="45720" rIns="91440" bIns="45720" rtlCol="0" anchor="b">
            <a:noAutofit/>
          </a:bodyPr>
          <a:lstStyle/>
          <a:p>
            <a:pPr algn="ctr">
              <a:spcBef>
                <a:spcPct val="0"/>
              </a:spcBef>
            </a:pPr>
            <a:r>
              <a:rPr altLang="en-US" sz="4000" dirty="0">
                <a:latin typeface="幼圆" panose="02010509060101010101" pitchFamily="49" charset="-122"/>
                <a:ea typeface="幼圆" panose="02010509060101010101" pitchFamily="49" charset="-122"/>
                <a:cs typeface="+mj-cs"/>
              </a:rPr>
              <a:t>评价指标图示</a:t>
            </a:r>
            <a:endParaRPr altLang="en-US" sz="4000" dirty="0">
              <a:latin typeface="幼圆" panose="02010509060101010101" pitchFamily="49" charset="-122"/>
              <a:ea typeface="幼圆" panose="02010509060101010101" pitchFamily="49" charset="-122"/>
              <a:cs typeface="+mj-cs"/>
            </a:endParaRPr>
          </a:p>
        </p:txBody>
      </p:sp>
      <p:pic>
        <p:nvPicPr>
          <p:cNvPr id="54276"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628800"/>
            <a:ext cx="7744782"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9"/>
          <p:cNvSpPr>
            <a:spLocks noGrp="1"/>
          </p:cNvSpPr>
          <p:nvPr>
            <p:ph sz="half" idx="2"/>
          </p:nvPr>
        </p:nvSpPr>
        <p:spPr>
          <a:xfrm>
            <a:off x="847547" y="4581128"/>
            <a:ext cx="7560840" cy="1152128"/>
          </a:xfrm>
        </p:spPr>
        <p:txBody>
          <a:bodyPr>
            <a:noAutofit/>
          </a:bodyPr>
          <a:lstStyle/>
          <a:p>
            <a:pPr>
              <a:lnSpc>
                <a:spcPts val="2250"/>
              </a:lnSpc>
              <a:spcBef>
                <a:spcPts val="450"/>
              </a:spcBef>
              <a:buClr>
                <a:srgbClr val="00B050"/>
              </a:buClr>
              <a:buFont typeface="Wingdings" panose="05000000000000000000" pitchFamily="2" charset="2"/>
              <a:buChar char="p"/>
              <a:defRPr/>
            </a:pPr>
            <a:r>
              <a:rPr lang="zh-CN" altLang="en-US" sz="2000" b="1" dirty="0" smtClean="0">
                <a:latin typeface="幼圆" panose="02010509060101010101" pitchFamily="49" charset="-122"/>
                <a:ea typeface="幼圆" panose="02010509060101010101" pitchFamily="49" charset="-122"/>
              </a:rPr>
              <a:t>精度</a:t>
            </a:r>
            <a:r>
              <a:rPr altLang="en-US" sz="2000" b="1" dirty="0" smtClean="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accuracy</a:t>
            </a:r>
            <a:r>
              <a:rPr altLang="en-US"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a:p>
            <a:pPr marL="0" indent="0">
              <a:lnSpc>
                <a:spcPts val="2250"/>
              </a:lnSpc>
              <a:spcBef>
                <a:spcPts val="450"/>
              </a:spcBef>
              <a:buClr>
                <a:srgbClr val="00B050"/>
              </a:buClr>
              <a:buNone/>
              <a:defRPr/>
            </a:pPr>
            <a:r>
              <a:rPr lang="en-US" altLang="en-US" sz="2000" b="1" dirty="0">
                <a:latin typeface="幼圆" panose="02010509060101010101" pitchFamily="49" charset="-122"/>
                <a:ea typeface="幼圆" panose="02010509060101010101" pitchFamily="49" charset="-122"/>
              </a:rPr>
              <a:t>  </a:t>
            </a:r>
            <a:r>
              <a:rPr altLang="en-US" sz="2000" b="1" dirty="0">
                <a:latin typeface="幼圆" panose="02010509060101010101" pitchFamily="49" charset="-122"/>
                <a:ea typeface="幼圆" panose="02010509060101010101" pitchFamily="49" charset="-122"/>
              </a:rPr>
              <a:t> </a:t>
            </a:r>
            <a:r>
              <a:rPr lang="en-US" altLang="zh-CN" sz="2000" b="1" dirty="0">
                <a:latin typeface="幼圆" panose="02010509060101010101" pitchFamily="49" charset="-122"/>
                <a:ea typeface="幼圆" panose="02010509060101010101" pitchFamily="49" charset="-122"/>
              </a:rPr>
              <a:t>accuracy = </a:t>
            </a:r>
            <a:r>
              <a:rPr altLang="en-US" sz="2000" b="1" dirty="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TP+TN</a:t>
            </a:r>
            <a:r>
              <a:rPr altLang="en-US" sz="2000" b="1" dirty="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/(P+N)</a:t>
            </a:r>
            <a:r>
              <a:rPr altLang="en-US" sz="2000" b="1" dirty="0">
                <a:latin typeface="幼圆" panose="02010509060101010101" pitchFamily="49" charset="-122"/>
                <a:ea typeface="幼圆" panose="02010509060101010101" pitchFamily="49" charset="-122"/>
              </a:rPr>
              <a:t>，</a:t>
            </a:r>
            <a:r>
              <a:rPr altLang="en-US" sz="2000" b="1" dirty="0" err="1">
                <a:latin typeface="幼圆" panose="02010509060101010101" pitchFamily="49" charset="-122"/>
                <a:ea typeface="幼圆" panose="02010509060101010101" pitchFamily="49" charset="-122"/>
              </a:rPr>
              <a:t>被分对的样本数除以所有的样本数，通常来说</a:t>
            </a:r>
            <a:r>
              <a:rPr altLang="en-US" sz="2000" b="1" dirty="0" smtClean="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精度</a:t>
            </a:r>
            <a:r>
              <a:rPr altLang="en-US" sz="2000" b="1" dirty="0" err="1" smtClean="0">
                <a:latin typeface="幼圆" panose="02010509060101010101" pitchFamily="49" charset="-122"/>
                <a:ea typeface="幼圆" panose="02010509060101010101" pitchFamily="49" charset="-122"/>
              </a:rPr>
              <a:t>越高</a:t>
            </a:r>
            <a:r>
              <a:rPr altLang="en-US" sz="2000" b="1" dirty="0" err="1">
                <a:latin typeface="幼圆" panose="02010509060101010101" pitchFamily="49" charset="-122"/>
                <a:ea typeface="幼圆" panose="02010509060101010101" pitchFamily="49" charset="-122"/>
              </a:rPr>
              <a:t>，分类器越好</a:t>
            </a:r>
            <a:r>
              <a:rPr altLang="en-US" sz="2000" b="1" dirty="0">
                <a:latin typeface="幼圆" panose="02010509060101010101" pitchFamily="49" charset="-122"/>
                <a:ea typeface="幼圆" panose="02010509060101010101" pitchFamily="49" charset="-122"/>
              </a:rPr>
              <a:t>；</a:t>
            </a:r>
            <a:endParaRPr altLang="en-US" sz="20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half" idx="2"/>
          </p:nvPr>
        </p:nvSpPr>
        <p:spPr>
          <a:xfrm>
            <a:off x="755576" y="1340768"/>
            <a:ext cx="7848872" cy="4392488"/>
          </a:xfrm>
        </p:spPr>
        <p:txBody>
          <a:bodyPr>
            <a:noAutofit/>
          </a:bodyPr>
          <a:lstStyle/>
          <a:p>
            <a:pPr>
              <a:lnSpc>
                <a:spcPts val="2250"/>
              </a:lnSpc>
              <a:spcBef>
                <a:spcPts val="450"/>
              </a:spcBef>
              <a:buClr>
                <a:srgbClr val="00B050"/>
              </a:buClr>
              <a:buFont typeface="Wingdings" panose="05000000000000000000" pitchFamily="2" charset="2"/>
              <a:buChar char="p"/>
              <a:defRPr/>
            </a:pPr>
            <a:r>
              <a:rPr altLang="en-US" sz="2000" b="1" dirty="0">
                <a:solidFill>
                  <a:srgbClr val="C00000"/>
                </a:solidFill>
                <a:latin typeface="幼圆" panose="02010509060101010101" pitchFamily="49" charset="-122"/>
                <a:ea typeface="幼圆" panose="02010509060101010101" pitchFamily="49" charset="-122"/>
              </a:rPr>
              <a:t>错误率（</a:t>
            </a:r>
            <a:r>
              <a:rPr lang="en-US" altLang="zh-CN" sz="2000" b="1" dirty="0">
                <a:solidFill>
                  <a:srgbClr val="C00000"/>
                </a:solidFill>
                <a:latin typeface="幼圆" panose="02010509060101010101" pitchFamily="49" charset="-122"/>
                <a:ea typeface="幼圆" panose="02010509060101010101" pitchFamily="49" charset="-122"/>
              </a:rPr>
              <a:t>error rate)</a:t>
            </a:r>
            <a:r>
              <a:rPr altLang="en-US" sz="2000" b="1" dirty="0">
                <a:latin typeface="幼圆" panose="02010509060101010101" pitchFamily="49" charset="-122"/>
                <a:ea typeface="幼圆" panose="02010509060101010101" pitchFamily="49" charset="-122"/>
              </a:rPr>
              <a:t>：</a:t>
            </a:r>
            <a:r>
              <a:rPr altLang="en-US" sz="2000" b="1" dirty="0" err="1" smtClean="0">
                <a:latin typeface="幼圆" panose="02010509060101010101" pitchFamily="49" charset="-122"/>
                <a:ea typeface="幼圆" panose="02010509060101010101" pitchFamily="49" charset="-122"/>
              </a:rPr>
              <a:t>错误率则与</a:t>
            </a:r>
            <a:r>
              <a:rPr lang="zh-CN" altLang="en-US" sz="2000" b="1" dirty="0" smtClean="0">
                <a:latin typeface="幼圆" panose="02010509060101010101" pitchFamily="49" charset="-122"/>
                <a:ea typeface="幼圆" panose="02010509060101010101" pitchFamily="49" charset="-122"/>
              </a:rPr>
              <a:t>精度</a:t>
            </a:r>
            <a:r>
              <a:rPr altLang="en-US" sz="2000" b="1" dirty="0" err="1" smtClean="0">
                <a:latin typeface="幼圆" panose="02010509060101010101" pitchFamily="49" charset="-122"/>
                <a:ea typeface="幼圆" panose="02010509060101010101" pitchFamily="49" charset="-122"/>
              </a:rPr>
              <a:t>相反</a:t>
            </a:r>
            <a:r>
              <a:rPr altLang="en-US" sz="2000" b="1" dirty="0" err="1">
                <a:latin typeface="幼圆" panose="02010509060101010101" pitchFamily="49" charset="-122"/>
                <a:ea typeface="幼圆" panose="02010509060101010101" pitchFamily="49" charset="-122"/>
              </a:rPr>
              <a:t>，描述被分类器错分的比例，</a:t>
            </a:r>
            <a:r>
              <a:rPr lang="en-US" altLang="zh-CN" sz="2000" b="1" dirty="0" err="1">
                <a:latin typeface="幼圆" panose="02010509060101010101" pitchFamily="49" charset="-122"/>
                <a:ea typeface="幼圆" panose="02010509060101010101" pitchFamily="49" charset="-122"/>
              </a:rPr>
              <a:t>error</a:t>
            </a:r>
            <a:r>
              <a:rPr lang="en-US" altLang="zh-CN" sz="2000" b="1" dirty="0">
                <a:latin typeface="幼圆" panose="02010509060101010101" pitchFamily="49" charset="-122"/>
                <a:ea typeface="幼圆" panose="02010509060101010101" pitchFamily="49" charset="-122"/>
              </a:rPr>
              <a:t> rate = (FP+FN)/(P+N)</a:t>
            </a:r>
            <a:r>
              <a:rPr altLang="en-US" sz="2000" b="1" dirty="0">
                <a:latin typeface="幼圆" panose="02010509060101010101" pitchFamily="49" charset="-122"/>
                <a:ea typeface="幼圆" panose="02010509060101010101" pitchFamily="49" charset="-122"/>
              </a:rPr>
              <a:t>，对某一个实例来说，分对与分错是互斥事件，所以 </a:t>
            </a:r>
            <a:r>
              <a:rPr lang="en-US" altLang="zh-CN" sz="2000" b="1" dirty="0">
                <a:latin typeface="幼圆" panose="02010509060101010101" pitchFamily="49" charset="-122"/>
                <a:ea typeface="幼圆" panose="02010509060101010101" pitchFamily="49" charset="-122"/>
              </a:rPr>
              <a:t>accuracy =1 -  error rate</a:t>
            </a:r>
            <a:r>
              <a:rPr altLang="en-US" sz="2000" b="1" dirty="0">
                <a:latin typeface="幼圆" panose="02010509060101010101" pitchFamily="49" charset="-122"/>
                <a:ea typeface="幼圆" panose="02010509060101010101" pitchFamily="49" charset="-122"/>
              </a:rPr>
              <a:t>；</a:t>
            </a:r>
            <a:endParaRPr altLang="en-US" sz="2000" b="1" dirty="0">
              <a:latin typeface="幼圆" panose="02010509060101010101" pitchFamily="49" charset="-122"/>
              <a:ea typeface="幼圆" panose="02010509060101010101" pitchFamily="49" charset="-122"/>
            </a:endParaRPr>
          </a:p>
          <a:p>
            <a:pPr>
              <a:lnSpc>
                <a:spcPts val="2250"/>
              </a:lnSpc>
              <a:spcBef>
                <a:spcPts val="450"/>
              </a:spcBef>
              <a:buClr>
                <a:srgbClr val="00B050"/>
              </a:buClr>
              <a:buFont typeface="Wingdings" panose="05000000000000000000" pitchFamily="2" charset="2"/>
              <a:buChar char="p"/>
              <a:defRPr/>
            </a:pPr>
            <a:r>
              <a:rPr altLang="en-US" sz="2000" b="1" dirty="0">
                <a:solidFill>
                  <a:srgbClr val="C00000"/>
                </a:solidFill>
                <a:latin typeface="幼圆" panose="02010509060101010101" pitchFamily="49" charset="-122"/>
                <a:ea typeface="幼圆" panose="02010509060101010101" pitchFamily="49" charset="-122"/>
              </a:rPr>
              <a:t>灵敏度（</a:t>
            </a:r>
            <a:r>
              <a:rPr lang="en-US" altLang="zh-CN" sz="2000" b="1" dirty="0">
                <a:solidFill>
                  <a:srgbClr val="C00000"/>
                </a:solidFill>
                <a:latin typeface="幼圆" panose="02010509060101010101" pitchFamily="49" charset="-122"/>
                <a:ea typeface="幼圆" panose="02010509060101010101" pitchFamily="49" charset="-122"/>
              </a:rPr>
              <a:t>sensitive</a:t>
            </a:r>
            <a:r>
              <a:rPr altLang="en-US" sz="2000" b="1" dirty="0">
                <a:solidFill>
                  <a:srgbClr val="C00000"/>
                </a:solidFill>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sensitive = TP/P</a:t>
            </a:r>
            <a:r>
              <a:rPr altLang="en-US" sz="2000" b="1" dirty="0">
                <a:latin typeface="幼圆" panose="02010509060101010101" pitchFamily="49" charset="-122"/>
                <a:ea typeface="幼圆" panose="02010509060101010101" pitchFamily="49" charset="-122"/>
              </a:rPr>
              <a:t>，表示的是所有正例中被分对的比例，衡量了分类器对正例的识别能力；</a:t>
            </a:r>
            <a:endParaRPr altLang="en-US" sz="2000" b="1" dirty="0">
              <a:latin typeface="幼圆" panose="02010509060101010101" pitchFamily="49" charset="-122"/>
              <a:ea typeface="幼圆" panose="02010509060101010101" pitchFamily="49" charset="-122"/>
            </a:endParaRPr>
          </a:p>
          <a:p>
            <a:pPr>
              <a:lnSpc>
                <a:spcPts val="2250"/>
              </a:lnSpc>
              <a:spcBef>
                <a:spcPts val="450"/>
              </a:spcBef>
              <a:buClr>
                <a:srgbClr val="00B050"/>
              </a:buClr>
              <a:buFont typeface="Wingdings" panose="05000000000000000000" pitchFamily="2" charset="2"/>
              <a:buChar char="p"/>
              <a:defRPr/>
            </a:pPr>
            <a:r>
              <a:rPr altLang="en-US" sz="2000" b="1" dirty="0">
                <a:solidFill>
                  <a:srgbClr val="C00000"/>
                </a:solidFill>
                <a:latin typeface="幼圆" panose="02010509060101010101" pitchFamily="49" charset="-122"/>
                <a:ea typeface="幼圆" panose="02010509060101010101" pitchFamily="49" charset="-122"/>
              </a:rPr>
              <a:t>特指度（</a:t>
            </a:r>
            <a:r>
              <a:rPr lang="en-US" altLang="zh-CN" sz="2000" b="1" dirty="0">
                <a:solidFill>
                  <a:srgbClr val="C00000"/>
                </a:solidFill>
                <a:latin typeface="幼圆" panose="02010509060101010101" pitchFamily="49" charset="-122"/>
                <a:ea typeface="幼圆" panose="02010509060101010101" pitchFamily="49" charset="-122"/>
              </a:rPr>
              <a:t>specificity)</a:t>
            </a:r>
            <a:r>
              <a:rPr altLang="en-US" sz="2000" b="1" dirty="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specificity = TN/N</a:t>
            </a:r>
            <a:r>
              <a:rPr altLang="en-US" sz="2000" b="1" dirty="0">
                <a:latin typeface="幼圆" panose="02010509060101010101" pitchFamily="49" charset="-122"/>
                <a:ea typeface="幼圆" panose="02010509060101010101" pitchFamily="49" charset="-122"/>
              </a:rPr>
              <a:t>， </a:t>
            </a:r>
            <a:r>
              <a:rPr altLang="en-US" sz="2000" b="1" dirty="0" err="1">
                <a:latin typeface="幼圆" panose="02010509060101010101" pitchFamily="49" charset="-122"/>
                <a:ea typeface="幼圆" panose="02010509060101010101" pitchFamily="49" charset="-122"/>
              </a:rPr>
              <a:t>表示的是所有负例中被分对的比例，衡量了分类器对负例的识别能力</a:t>
            </a:r>
            <a:r>
              <a:rPr altLang="en-US" sz="2000" b="1" dirty="0">
                <a:latin typeface="幼圆" panose="02010509060101010101" pitchFamily="49" charset="-122"/>
                <a:ea typeface="幼圆" panose="02010509060101010101" pitchFamily="49" charset="-122"/>
              </a:rPr>
              <a:t>；</a:t>
            </a:r>
            <a:endParaRPr altLang="en-US" sz="2000" b="1" dirty="0">
              <a:latin typeface="幼圆" panose="02010509060101010101" pitchFamily="49" charset="-122"/>
              <a:ea typeface="幼圆" panose="02010509060101010101" pitchFamily="49" charset="-122"/>
            </a:endParaRPr>
          </a:p>
          <a:p>
            <a:pPr>
              <a:lnSpc>
                <a:spcPts val="2250"/>
              </a:lnSpc>
              <a:spcBef>
                <a:spcPts val="450"/>
              </a:spcBef>
              <a:buClr>
                <a:srgbClr val="00B050"/>
              </a:buClr>
              <a:buFont typeface="Wingdings" panose="05000000000000000000" pitchFamily="2" charset="2"/>
              <a:buChar char="p"/>
              <a:defRPr/>
            </a:pPr>
            <a:r>
              <a:rPr lang="zh-CN" altLang="en-US" sz="2000" b="1" dirty="0" smtClean="0">
                <a:solidFill>
                  <a:srgbClr val="C00000"/>
                </a:solidFill>
                <a:latin typeface="幼圆" panose="02010509060101010101" pitchFamily="49" charset="-122"/>
                <a:ea typeface="幼圆" panose="02010509060101010101" pitchFamily="49" charset="-122"/>
              </a:rPr>
              <a:t>查准率</a:t>
            </a:r>
            <a:r>
              <a:rPr altLang="en-US" sz="2000" b="1" dirty="0" smtClean="0">
                <a:solidFill>
                  <a:srgbClr val="C00000"/>
                </a:solidFill>
                <a:latin typeface="幼圆" panose="02010509060101010101" pitchFamily="49" charset="-122"/>
                <a:ea typeface="幼圆" panose="02010509060101010101" pitchFamily="49" charset="-122"/>
              </a:rPr>
              <a:t>（</a:t>
            </a:r>
            <a:r>
              <a:rPr lang="en-US" altLang="zh-CN" sz="2000" b="1" dirty="0">
                <a:solidFill>
                  <a:srgbClr val="C00000"/>
                </a:solidFill>
                <a:latin typeface="幼圆" panose="02010509060101010101" pitchFamily="49" charset="-122"/>
                <a:ea typeface="幼圆" panose="02010509060101010101" pitchFamily="49" charset="-122"/>
              </a:rPr>
              <a:t>precision</a:t>
            </a:r>
            <a:r>
              <a:rPr altLang="en-US" sz="2000" b="1" dirty="0" smtClean="0">
                <a:solidFill>
                  <a:srgbClr val="C00000"/>
                </a:solidFill>
                <a:latin typeface="幼圆" panose="02010509060101010101" pitchFamily="49" charset="-122"/>
                <a:ea typeface="幼圆" panose="02010509060101010101" pitchFamily="49" charset="-122"/>
              </a:rPr>
              <a:t>）：</a:t>
            </a:r>
            <a:r>
              <a:rPr lang="zh-CN" altLang="en-US" sz="2000" b="1" dirty="0" smtClean="0">
                <a:solidFill>
                  <a:srgbClr val="C00000"/>
                </a:solidFill>
                <a:latin typeface="幼圆" panose="02010509060101010101" pitchFamily="49" charset="-122"/>
                <a:ea typeface="幼圆" panose="02010509060101010101" pitchFamily="49" charset="-122"/>
              </a:rPr>
              <a:t>查准率</a:t>
            </a:r>
            <a:r>
              <a:rPr altLang="en-US" sz="2000" b="1" dirty="0" err="1" smtClean="0">
                <a:latin typeface="幼圆" panose="02010509060101010101" pitchFamily="49" charset="-122"/>
                <a:ea typeface="幼圆" panose="02010509060101010101" pitchFamily="49" charset="-122"/>
              </a:rPr>
              <a:t>是精</a:t>
            </a:r>
            <a:r>
              <a:rPr lang="zh-CN" altLang="en-US" sz="2000" b="1" dirty="0" smtClean="0">
                <a:latin typeface="幼圆" panose="02010509060101010101" pitchFamily="49" charset="-122"/>
                <a:ea typeface="幼圆" panose="02010509060101010101" pitchFamily="49" charset="-122"/>
              </a:rPr>
              <a:t>准</a:t>
            </a:r>
            <a:r>
              <a:rPr altLang="en-US" sz="2000" b="1" dirty="0" err="1" smtClean="0">
                <a:latin typeface="幼圆" panose="02010509060101010101" pitchFamily="49" charset="-122"/>
                <a:ea typeface="幼圆" panose="02010509060101010101" pitchFamily="49" charset="-122"/>
              </a:rPr>
              <a:t>性的度量</a:t>
            </a:r>
            <a:r>
              <a:rPr altLang="en-US" sz="2000" b="1" dirty="0" err="1">
                <a:latin typeface="幼圆" panose="02010509060101010101" pitchFamily="49" charset="-122"/>
                <a:ea typeface="幼圆" panose="02010509060101010101" pitchFamily="49" charset="-122"/>
              </a:rPr>
              <a:t>，表示被分为正例的示例中实际为正例的比例</a:t>
            </a:r>
            <a:r>
              <a:rPr altLang="en-US" sz="2000" b="1" dirty="0" smtClean="0">
                <a:latin typeface="幼圆" panose="02010509060101010101" pitchFamily="49" charset="-122"/>
                <a:ea typeface="幼圆" panose="02010509060101010101" pitchFamily="49" charset="-122"/>
              </a:rPr>
              <a:t>，</a:t>
            </a:r>
            <a:r>
              <a:rPr altLang="en-US" sz="2000" b="1" dirty="0">
                <a:latin typeface="幼圆" panose="02010509060101010101" pitchFamily="49" charset="-122"/>
                <a:ea typeface="幼圆" panose="02010509060101010101" pitchFamily="49" charset="-122"/>
              </a:rPr>
              <a:t> </a:t>
            </a:r>
            <a:r>
              <a:rPr lang="en-US" altLang="zh-CN" sz="2000" b="1" dirty="0">
                <a:latin typeface="幼圆" panose="02010509060101010101" pitchFamily="49" charset="-122"/>
                <a:ea typeface="幼圆" panose="02010509060101010101" pitchFamily="49" charset="-122"/>
              </a:rPr>
              <a:t>precision=TP/</a:t>
            </a:r>
            <a:r>
              <a:rPr altLang="en-US" sz="2000" b="1" dirty="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TP+FP</a:t>
            </a:r>
            <a:r>
              <a:rPr altLang="en-US" sz="2000" b="1" dirty="0">
                <a:latin typeface="幼圆" panose="02010509060101010101" pitchFamily="49" charset="-122"/>
                <a:ea typeface="幼圆" panose="02010509060101010101" pitchFamily="49" charset="-122"/>
              </a:rPr>
              <a:t>）；</a:t>
            </a:r>
            <a:endParaRPr altLang="en-US" sz="2000" b="1" dirty="0">
              <a:latin typeface="幼圆" panose="02010509060101010101" pitchFamily="49" charset="-122"/>
              <a:ea typeface="幼圆" panose="02010509060101010101" pitchFamily="49" charset="-122"/>
            </a:endParaRPr>
          </a:p>
          <a:p>
            <a:pPr>
              <a:lnSpc>
                <a:spcPts val="2250"/>
              </a:lnSpc>
              <a:spcBef>
                <a:spcPts val="450"/>
              </a:spcBef>
              <a:buClr>
                <a:srgbClr val="00B050"/>
              </a:buClr>
              <a:buFont typeface="Wingdings" panose="05000000000000000000" pitchFamily="2" charset="2"/>
              <a:buChar char="p"/>
              <a:defRPr/>
            </a:pPr>
            <a:r>
              <a:rPr altLang="en-US" sz="2000" b="1" dirty="0">
                <a:solidFill>
                  <a:srgbClr val="C00000"/>
                </a:solidFill>
                <a:latin typeface="幼圆" panose="02010509060101010101" pitchFamily="49" charset="-122"/>
                <a:ea typeface="幼圆" panose="02010509060101010101" pitchFamily="49" charset="-122"/>
              </a:rPr>
              <a:t>召回率（</a:t>
            </a:r>
            <a:r>
              <a:rPr lang="en-US" altLang="zh-CN" sz="2000" b="1" dirty="0">
                <a:solidFill>
                  <a:srgbClr val="C00000"/>
                </a:solidFill>
                <a:latin typeface="幼圆" panose="02010509060101010101" pitchFamily="49" charset="-122"/>
                <a:ea typeface="幼圆" panose="02010509060101010101" pitchFamily="49" charset="-122"/>
              </a:rPr>
              <a:t>recall</a:t>
            </a:r>
            <a:r>
              <a:rPr altLang="en-US" sz="2000" b="1" dirty="0">
                <a:solidFill>
                  <a:srgbClr val="C00000"/>
                </a:solidFill>
                <a:latin typeface="幼圆" panose="02010509060101010101" pitchFamily="49" charset="-122"/>
                <a:ea typeface="幼圆" panose="02010509060101010101" pitchFamily="49" charset="-122"/>
              </a:rPr>
              <a:t>）：</a:t>
            </a:r>
            <a:r>
              <a:rPr altLang="en-US" sz="2000" b="1" dirty="0">
                <a:latin typeface="幼圆" panose="02010509060101010101" pitchFamily="49" charset="-122"/>
                <a:ea typeface="幼圆" panose="02010509060101010101" pitchFamily="49" charset="-122"/>
              </a:rPr>
              <a:t>召回率是覆盖面的度量，度量有多个正例被分为正例， </a:t>
            </a:r>
            <a:r>
              <a:rPr lang="en-US" altLang="zh-CN" sz="2000" b="1" dirty="0">
                <a:latin typeface="幼圆" panose="02010509060101010101" pitchFamily="49" charset="-122"/>
                <a:ea typeface="幼圆" panose="02010509060101010101" pitchFamily="49" charset="-122"/>
              </a:rPr>
              <a:t>recall=TP/(TP+FN)=TP/P=Sensitive</a:t>
            </a:r>
            <a:r>
              <a:rPr altLang="en-US" sz="2000" b="1" dirty="0">
                <a:latin typeface="幼圆" panose="02010509060101010101" pitchFamily="49" charset="-122"/>
                <a:ea typeface="幼圆" panose="02010509060101010101" pitchFamily="49" charset="-122"/>
              </a:rPr>
              <a:t>，可以看到召回率与灵敏度是一样的。</a:t>
            </a:r>
            <a:endParaRPr altLang="en-US" sz="20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1188640" y="836712"/>
            <a:ext cx="7885509" cy="514350"/>
          </a:xfrm>
        </p:spPr>
        <p:txBody>
          <a:bodyPr vert="horz" lIns="91440" tIns="45720" rIns="91440" bIns="45720" rtlCol="0" anchor="b">
            <a:noAutofit/>
          </a:bodyPr>
          <a:lstStyle/>
          <a:p>
            <a:pPr algn="ctr">
              <a:spcBef>
                <a:spcPct val="0"/>
              </a:spcBef>
            </a:pPr>
            <a:r>
              <a:rPr altLang="en-US" sz="4000" dirty="0" err="1">
                <a:latin typeface="黑体" panose="02010609060101010101" pitchFamily="49" charset="-122"/>
                <a:ea typeface="黑体" panose="02010609060101010101" pitchFamily="49" charset="-122"/>
                <a:cs typeface="+mj-cs"/>
              </a:rPr>
              <a:t>评价指标</a:t>
            </a:r>
            <a:r>
              <a:rPr lang="en-US" altLang="en-US" sz="4000" dirty="0" err="1">
                <a:latin typeface="黑体" panose="02010609060101010101" pitchFamily="49" charset="-122"/>
                <a:ea typeface="黑体" panose="02010609060101010101" pitchFamily="49" charset="-122"/>
                <a:cs typeface="+mj-cs"/>
              </a:rPr>
              <a:t>ROC</a:t>
            </a:r>
            <a:r>
              <a:rPr lang="zh-CN" altLang="en-US" sz="4000" dirty="0">
                <a:latin typeface="黑体" panose="02010609060101010101" pitchFamily="49" charset="-122"/>
                <a:ea typeface="黑体" panose="02010609060101010101" pitchFamily="49" charset="-122"/>
                <a:cs typeface="+mj-cs"/>
              </a:rPr>
              <a:t>曲线</a:t>
            </a:r>
            <a:endParaRPr lang="zh-CN" altLang="en-US" sz="4000" dirty="0">
              <a:latin typeface="黑体" panose="02010609060101010101" pitchFamily="49" charset="-122"/>
              <a:ea typeface="黑体" panose="02010609060101010101" pitchFamily="49" charset="-122"/>
              <a:cs typeface="+mj-cs"/>
            </a:endParaRPr>
          </a:p>
        </p:txBody>
      </p:sp>
      <p:sp>
        <p:nvSpPr>
          <p:cNvPr id="10" name="内容占位符 9"/>
          <p:cNvSpPr>
            <a:spLocks noGrp="1"/>
          </p:cNvSpPr>
          <p:nvPr>
            <p:ph sz="half" idx="2"/>
          </p:nvPr>
        </p:nvSpPr>
        <p:spPr>
          <a:xfrm>
            <a:off x="610791" y="1700808"/>
            <a:ext cx="8533209" cy="3673078"/>
          </a:xfrm>
        </p:spPr>
        <p:txBody>
          <a:bodyPr>
            <a:noAutofit/>
          </a:bodyPr>
          <a:lstStyle/>
          <a:p>
            <a:pPr eaLnBrk="1" hangingPunct="1">
              <a:lnSpc>
                <a:spcPct val="150000"/>
              </a:lnSpc>
              <a:buClr>
                <a:srgbClr val="00B050"/>
              </a:buClr>
              <a:buFont typeface="Wingdings" panose="05000000000000000000" pitchFamily="2" charset="2"/>
              <a:buChar char="p"/>
              <a:defRPr/>
            </a:pP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横，纵轴的计算公式：</a:t>
            </a:r>
            <a:endParaRPr altLang="en-US" sz="2000" b="1" dirty="0">
              <a:latin typeface="黑体" panose="02010609060101010101" pitchFamily="49" charset="-122"/>
              <a:ea typeface="黑体" panose="02010609060101010101" pitchFamily="49" charset="-122"/>
            </a:endParaRPr>
          </a:p>
          <a:p>
            <a:pPr marL="0" indent="0">
              <a:lnSpc>
                <a:spcPct val="150000"/>
              </a:lnSpc>
              <a:buClr>
                <a:srgbClr val="00B050"/>
              </a:buClr>
              <a:buNone/>
              <a:defRPr/>
            </a:pPr>
            <a:r>
              <a:rPr lang="en-US" altLang="zh-CN" sz="2000" b="1" dirty="0">
                <a:latin typeface="黑体" panose="02010609060101010101" pitchFamily="49" charset="-122"/>
                <a:ea typeface="黑体" panose="02010609060101010101" pitchFamily="49" charset="-122"/>
              </a:rPr>
              <a:t>(1)</a:t>
            </a:r>
            <a:r>
              <a:rPr altLang="en-US" sz="2000" b="1" dirty="0">
                <a:solidFill>
                  <a:srgbClr val="C00000"/>
                </a:solidFill>
                <a:latin typeface="黑体" panose="02010609060101010101" pitchFamily="49" charset="-122"/>
                <a:ea typeface="黑体" panose="02010609060101010101" pitchFamily="49" charset="-122"/>
              </a:rPr>
              <a:t>真正类率</a:t>
            </a:r>
            <a:r>
              <a:rPr lang="en-US" altLang="zh-CN" sz="2000" b="1" dirty="0">
                <a:latin typeface="黑体" panose="02010609060101010101" pitchFamily="49" charset="-122"/>
                <a:ea typeface="黑体" panose="02010609060101010101" pitchFamily="49" charset="-122"/>
              </a:rPr>
              <a:t>(True Positive Rate ,</a:t>
            </a:r>
            <a:r>
              <a:rPr lang="en-US" altLang="zh-CN" sz="2000" b="1" dirty="0">
                <a:solidFill>
                  <a:srgbClr val="C00000"/>
                </a:solidFill>
                <a:latin typeface="黑体" panose="02010609060101010101" pitchFamily="49" charset="-122"/>
                <a:ea typeface="黑体" panose="02010609060101010101" pitchFamily="49" charset="-122"/>
              </a:rPr>
              <a:t> TPR</a:t>
            </a:r>
            <a:r>
              <a:rPr lang="en-US" altLang="zh-CN" sz="2000" b="1" dirty="0">
                <a:latin typeface="黑体" panose="02010609060101010101" pitchFamily="49" charset="-122"/>
                <a:ea typeface="黑体" panose="02010609060101010101" pitchFamily="49" charset="-122"/>
              </a:rPr>
              <a:t>)【</a:t>
            </a:r>
            <a:r>
              <a:rPr altLang="en-US" sz="2000" b="1" dirty="0">
                <a:solidFill>
                  <a:srgbClr val="C00000"/>
                </a:solidFill>
                <a:latin typeface="黑体" panose="02010609060101010101" pitchFamily="49" charset="-122"/>
                <a:ea typeface="黑体" panose="02010609060101010101" pitchFamily="49" charset="-122"/>
              </a:rPr>
              <a:t>灵敏度</a:t>
            </a:r>
            <a:r>
              <a:rPr lang="en-US" altLang="zh-CN" sz="2000" b="1" dirty="0">
                <a:solidFill>
                  <a:srgbClr val="C00000"/>
                </a:solidFill>
                <a:latin typeface="黑体" panose="02010609060101010101" pitchFamily="49" charset="-122"/>
                <a:ea typeface="黑体" panose="02010609060101010101" pitchFamily="49" charset="-122"/>
              </a:rPr>
              <a:t>(sensitivity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a:t>
            </a:r>
            <a:r>
              <a:rPr lang="en-US" altLang="zh-CN" sz="2000" b="1" dirty="0">
                <a:solidFill>
                  <a:srgbClr val="C00000"/>
                </a:solidFill>
                <a:latin typeface="黑体" panose="02010609060101010101" pitchFamily="49" charset="-122"/>
                <a:ea typeface="黑体" panose="02010609060101010101" pitchFamily="49" charset="-122"/>
              </a:rPr>
              <a:t>TPR = TP /(TP + FN) </a:t>
            </a:r>
            <a:r>
              <a:rPr altLang="en-US" sz="2000" b="1" dirty="0">
                <a:latin typeface="黑体" panose="02010609060101010101" pitchFamily="49" charset="-122"/>
                <a:ea typeface="黑体" panose="02010609060101010101" pitchFamily="49" charset="-122"/>
              </a:rPr>
              <a:t>，</a:t>
            </a:r>
            <a:r>
              <a:rPr altLang="en-US" sz="2000" b="1" u="sng" dirty="0">
                <a:solidFill>
                  <a:srgbClr val="C00000"/>
                </a:solidFill>
                <a:latin typeface="黑体" panose="02010609060101010101" pitchFamily="49" charset="-122"/>
                <a:ea typeface="黑体" panose="02010609060101010101" pitchFamily="49" charset="-122"/>
              </a:rPr>
              <a:t>即正样本预测结果数</a:t>
            </a:r>
            <a:r>
              <a:rPr lang="en-US" altLang="zh-CN" sz="2000" b="1" u="sng" dirty="0">
                <a:solidFill>
                  <a:srgbClr val="C00000"/>
                </a:solidFill>
                <a:latin typeface="黑体" panose="02010609060101010101" pitchFamily="49" charset="-122"/>
                <a:ea typeface="黑体" panose="02010609060101010101" pitchFamily="49" charset="-122"/>
              </a:rPr>
              <a:t>/</a:t>
            </a:r>
            <a:r>
              <a:rPr altLang="en-US" sz="2000" b="1" u="sng" dirty="0">
                <a:solidFill>
                  <a:srgbClr val="C00000"/>
                </a:solidFill>
                <a:latin typeface="黑体" panose="02010609060101010101" pitchFamily="49" charset="-122"/>
                <a:ea typeface="黑体" panose="02010609060101010101" pitchFamily="49" charset="-122"/>
              </a:rPr>
              <a:t>正样本实际数</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(2)</a:t>
            </a:r>
            <a:r>
              <a:rPr altLang="en-US" sz="2000" b="1" dirty="0">
                <a:latin typeface="黑体" panose="02010609060101010101" pitchFamily="49" charset="-122"/>
                <a:ea typeface="黑体" panose="02010609060101010101" pitchFamily="49" charset="-122"/>
              </a:rPr>
              <a:t>假负类率</a:t>
            </a:r>
            <a:r>
              <a:rPr lang="en-US" altLang="zh-CN" sz="2000" b="1" dirty="0">
                <a:latin typeface="黑体" panose="02010609060101010101" pitchFamily="49" charset="-122"/>
                <a:ea typeface="黑体" panose="02010609060101010101" pitchFamily="49" charset="-122"/>
              </a:rPr>
              <a:t>(False Negative Rate , FNR) </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FNR = FN /(TP + FN) </a:t>
            </a:r>
            <a:r>
              <a:rPr altLang="en-US" sz="2000" b="1" dirty="0">
                <a:latin typeface="黑体" panose="02010609060101010101" pitchFamily="49" charset="-122"/>
                <a:ea typeface="黑体" panose="02010609060101010101" pitchFamily="49" charset="-122"/>
              </a:rPr>
              <a:t>，即被预测为负的正样本结果数</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正样本实际数</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(3)</a:t>
            </a:r>
            <a:r>
              <a:rPr altLang="en-US" sz="2000" b="1" dirty="0">
                <a:solidFill>
                  <a:srgbClr val="C00000"/>
                </a:solidFill>
                <a:latin typeface="黑体" panose="02010609060101010101" pitchFamily="49" charset="-122"/>
                <a:ea typeface="黑体" panose="02010609060101010101" pitchFamily="49" charset="-122"/>
              </a:rPr>
              <a:t>假正类率</a:t>
            </a:r>
            <a:r>
              <a:rPr lang="en-US" altLang="zh-CN" sz="2000" b="1" dirty="0">
                <a:latin typeface="黑体" panose="02010609060101010101" pitchFamily="49" charset="-122"/>
                <a:ea typeface="黑体" panose="02010609060101010101" pitchFamily="49" charset="-122"/>
              </a:rPr>
              <a:t>(False Positive Rate ,</a:t>
            </a:r>
            <a:r>
              <a:rPr lang="en-US" altLang="zh-CN" sz="2000" b="1" dirty="0">
                <a:solidFill>
                  <a:srgbClr val="C00000"/>
                </a:solidFill>
                <a:latin typeface="黑体" panose="02010609060101010101" pitchFamily="49" charset="-122"/>
                <a:ea typeface="黑体" panose="02010609060101010101" pitchFamily="49" charset="-122"/>
              </a:rPr>
              <a:t> FPR</a:t>
            </a:r>
            <a:r>
              <a:rPr lang="en-US" altLang="zh-CN" sz="2000" b="1" dirty="0">
                <a:latin typeface="黑体" panose="02010609060101010101" pitchFamily="49" charset="-122"/>
                <a:ea typeface="黑体" panose="02010609060101010101" pitchFamily="49" charset="-122"/>
              </a:rPr>
              <a:t>) </a:t>
            </a:r>
            <a:r>
              <a:rPr altLang="en-US" sz="2000" b="1" dirty="0">
                <a:latin typeface="黑体" panose="02010609060101010101" pitchFamily="49" charset="-122"/>
                <a:ea typeface="黑体" panose="02010609060101010101" pitchFamily="49" charset="-122"/>
              </a:rPr>
              <a:t>：</a:t>
            </a:r>
            <a:r>
              <a:rPr lang="en-US" altLang="zh-CN" sz="2000" b="1" dirty="0">
                <a:solidFill>
                  <a:srgbClr val="C00000"/>
                </a:solidFill>
                <a:latin typeface="黑体" panose="02010609060101010101" pitchFamily="49" charset="-122"/>
                <a:ea typeface="黑体" panose="02010609060101010101" pitchFamily="49" charset="-122"/>
              </a:rPr>
              <a:t>FPR = FP /(FP + TN) </a:t>
            </a:r>
            <a:r>
              <a:rPr altLang="en-US" sz="2000" b="1" dirty="0">
                <a:latin typeface="黑体" panose="02010609060101010101" pitchFamily="49" charset="-122"/>
                <a:ea typeface="黑体" panose="02010609060101010101" pitchFamily="49" charset="-122"/>
              </a:rPr>
              <a:t>，</a:t>
            </a:r>
            <a:r>
              <a:rPr altLang="en-US" sz="2000" b="1" u="sng" dirty="0">
                <a:solidFill>
                  <a:srgbClr val="C00000"/>
                </a:solidFill>
                <a:latin typeface="黑体" panose="02010609060101010101" pitchFamily="49" charset="-122"/>
                <a:ea typeface="黑体" panose="02010609060101010101" pitchFamily="49" charset="-122"/>
              </a:rPr>
              <a:t>即被预测为正的负样本结果数</a:t>
            </a:r>
            <a:r>
              <a:rPr lang="en-US" altLang="zh-CN" sz="2000" b="1" u="sng" dirty="0">
                <a:solidFill>
                  <a:srgbClr val="C00000"/>
                </a:solidFill>
                <a:latin typeface="黑体" panose="02010609060101010101" pitchFamily="49" charset="-122"/>
                <a:ea typeface="黑体" panose="02010609060101010101" pitchFamily="49" charset="-122"/>
              </a:rPr>
              <a:t>/</a:t>
            </a:r>
            <a:r>
              <a:rPr altLang="en-US" sz="2000" b="1" u="sng" dirty="0">
                <a:solidFill>
                  <a:srgbClr val="C00000"/>
                </a:solidFill>
                <a:latin typeface="黑体" panose="02010609060101010101" pitchFamily="49" charset="-122"/>
                <a:ea typeface="黑体" panose="02010609060101010101" pitchFamily="49" charset="-122"/>
              </a:rPr>
              <a:t>负样本实际数</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(4)</a:t>
            </a:r>
            <a:r>
              <a:rPr altLang="en-US" sz="2000" b="1" dirty="0">
                <a:latin typeface="黑体" panose="02010609060101010101" pitchFamily="49" charset="-122"/>
                <a:ea typeface="黑体" panose="02010609060101010101" pitchFamily="49" charset="-122"/>
              </a:rPr>
              <a:t>真负类率</a:t>
            </a:r>
            <a:r>
              <a:rPr lang="en-US" altLang="zh-CN" sz="2000" b="1" dirty="0">
                <a:latin typeface="黑体" panose="02010609060101010101" pitchFamily="49" charset="-122"/>
                <a:ea typeface="黑体" panose="02010609060101010101" pitchFamily="49" charset="-122"/>
              </a:rPr>
              <a:t>(True Negative Rate , TNR)【</a:t>
            </a:r>
            <a:r>
              <a:rPr altLang="en-US" sz="2000" b="1" dirty="0">
                <a:latin typeface="黑体" panose="02010609060101010101" pitchFamily="49" charset="-122"/>
                <a:ea typeface="黑体" panose="02010609060101010101" pitchFamily="49" charset="-122"/>
              </a:rPr>
              <a:t>特指度</a:t>
            </a:r>
            <a:r>
              <a:rPr lang="en-US" altLang="zh-CN" sz="2000" b="1" dirty="0">
                <a:latin typeface="黑体" panose="02010609060101010101" pitchFamily="49" charset="-122"/>
                <a:ea typeface="黑体" panose="02010609060101010101" pitchFamily="49" charset="-122"/>
              </a:rPr>
              <a:t>(specificity)】</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TNR = TN /(FP+TN ) </a:t>
            </a:r>
            <a:r>
              <a:rPr altLang="en-US" sz="2000" b="1" dirty="0">
                <a:latin typeface="黑体" panose="02010609060101010101" pitchFamily="49" charset="-122"/>
                <a:ea typeface="黑体" panose="02010609060101010101" pitchFamily="49" charset="-122"/>
              </a:rPr>
              <a:t>，即负样本预测结果数</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负样本实际数</a:t>
            </a:r>
            <a:endParaRPr altLang="en-US" sz="2000" b="1" dirty="0">
              <a:latin typeface="黑体" panose="02010609060101010101" pitchFamily="49" charset="-122"/>
              <a:ea typeface="黑体" panose="02010609060101010101" pitchFamily="49" charset="-122"/>
            </a:endParaRPr>
          </a:p>
          <a:p>
            <a:pPr eaLnBrk="1" hangingPunct="1">
              <a:lnSpc>
                <a:spcPct val="150000"/>
              </a:lnSpc>
              <a:buClr>
                <a:srgbClr val="00B050"/>
              </a:buClr>
              <a:buFont typeface="Wingdings" panose="05000000000000000000" pitchFamily="2" charset="2"/>
              <a:buChar char="p"/>
              <a:defRPr/>
            </a:pPr>
            <a:endParaRPr lang="en-US" altLang="zh-CN" sz="2000" dirty="0">
              <a:latin typeface="幼圆" panose="02010509060101010101" pitchFamily="49" charset="-122"/>
              <a:ea typeface="幼圆" panose="02010509060101010101" pitchFamily="49" charset="-122"/>
            </a:endParaRPr>
          </a:p>
        </p:txBody>
      </p:sp>
      <p:pic>
        <p:nvPicPr>
          <p:cNvPr id="3" name="图片 2"/>
          <p:cNvPicPr>
            <a:picLocks noChangeAspect="1"/>
          </p:cNvPicPr>
          <p:nvPr/>
        </p:nvPicPr>
        <p:blipFill>
          <a:blip r:embed="rId1"/>
          <a:stretch>
            <a:fillRect/>
          </a:stretch>
        </p:blipFill>
        <p:spPr>
          <a:xfrm>
            <a:off x="4716016" y="581961"/>
            <a:ext cx="4330491" cy="155089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305991" y="944166"/>
            <a:ext cx="7885509" cy="514350"/>
          </a:xfrm>
        </p:spPr>
        <p:txBody>
          <a:bodyPr vert="horz" lIns="91440" tIns="45720" rIns="91440" bIns="45720" rtlCol="0" anchor="b">
            <a:noAutofit/>
          </a:bodyPr>
          <a:lstStyle/>
          <a:p>
            <a:pPr algn="ctr">
              <a:spcBef>
                <a:spcPct val="0"/>
              </a:spcBef>
            </a:pPr>
            <a:r>
              <a:rPr lang="en-US" altLang="en-US"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曲线</a:t>
            </a:r>
            <a:endParaRPr altLang="en-US" sz="4000" dirty="0">
              <a:latin typeface="黑体" panose="02010609060101010101" pitchFamily="49" charset="-122"/>
              <a:ea typeface="黑体" panose="02010609060101010101" pitchFamily="49" charset="-122"/>
              <a:cs typeface="+mj-cs"/>
            </a:endParaRPr>
          </a:p>
        </p:txBody>
      </p:sp>
      <p:sp>
        <p:nvSpPr>
          <p:cNvPr id="57347" name="内容占位符 9"/>
          <p:cNvSpPr>
            <a:spLocks noGrp="1"/>
          </p:cNvSpPr>
          <p:nvPr>
            <p:ph sz="half" idx="2"/>
          </p:nvPr>
        </p:nvSpPr>
        <p:spPr>
          <a:xfrm>
            <a:off x="467544" y="1700808"/>
            <a:ext cx="8515151" cy="5094733"/>
          </a:xfrm>
        </p:spPr>
        <p:txBody>
          <a:bodyPr>
            <a:noAutofit/>
          </a:bodyPr>
          <a:lstStyle/>
          <a:p>
            <a:pPr eaLnBrk="1" hangingPunct="1">
              <a:lnSpc>
                <a:spcPct val="150000"/>
              </a:lnSpc>
              <a:buClr>
                <a:srgbClr val="00B050"/>
              </a:buClr>
              <a:buFont typeface="Wingdings" panose="05000000000000000000" pitchFamily="2" charset="2"/>
              <a:buChar char="p"/>
            </a:pPr>
            <a:r>
              <a:rPr lang="en-US" altLang="zh-CN" sz="2000" b="1" dirty="0" err="1">
                <a:latin typeface="黑体" panose="02010609060101010101" pitchFamily="49" charset="-122"/>
                <a:ea typeface="黑体" panose="02010609060101010101" pitchFamily="49" charset="-122"/>
              </a:rPr>
              <a:t>ROC</a:t>
            </a:r>
            <a:r>
              <a:rPr altLang="en-US" sz="2000" b="1" dirty="0" err="1">
                <a:latin typeface="黑体" panose="02010609060101010101" pitchFamily="49" charset="-122"/>
                <a:ea typeface="黑体" panose="02010609060101010101" pitchFamily="49" charset="-122"/>
              </a:rPr>
              <a:t>曲线指受试者工作特征曲线</a:t>
            </a:r>
            <a:r>
              <a:rPr altLang="en-US" sz="2000" b="1" dirty="0">
                <a:latin typeface="黑体" panose="02010609060101010101" pitchFamily="49" charset="-122"/>
                <a:ea typeface="黑体" panose="02010609060101010101" pitchFamily="49" charset="-122"/>
              </a:rPr>
              <a:t> </a:t>
            </a:r>
            <a:r>
              <a:rPr lang="en-US" altLang="zh-CN" sz="2000" b="1" dirty="0">
                <a:latin typeface="黑体" panose="02010609060101010101" pitchFamily="49" charset="-122"/>
                <a:ea typeface="黑体" panose="02010609060101010101" pitchFamily="49" charset="-122"/>
              </a:rPr>
              <a:t>/ </a:t>
            </a:r>
            <a:r>
              <a:rPr altLang="en-US" sz="2000" b="1" dirty="0" err="1">
                <a:latin typeface="黑体" panose="02010609060101010101" pitchFamily="49" charset="-122"/>
                <a:ea typeface="黑体" panose="02010609060101010101" pitchFamily="49" charset="-122"/>
              </a:rPr>
              <a:t>接收器操作特性曲线</a:t>
            </a:r>
            <a:r>
              <a:rPr lang="en-US" altLang="zh-CN" sz="2000" b="1" dirty="0">
                <a:latin typeface="黑体" panose="02010609060101010101" pitchFamily="49" charset="-122"/>
                <a:ea typeface="黑体" panose="02010609060101010101" pitchFamily="49" charset="-122"/>
              </a:rPr>
              <a:t>(receiver operating characteristic curve), </a:t>
            </a:r>
            <a:r>
              <a:rPr altLang="en-US" sz="2000" b="1" dirty="0">
                <a:latin typeface="黑体" panose="02010609060101010101" pitchFamily="49" charset="-122"/>
                <a:ea typeface="黑体" panose="02010609060101010101" pitchFamily="49" charset="-122"/>
              </a:rPr>
              <a:t>是反映敏感性和特异性连续变量的综合指标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是用构图法揭示敏感性和特异性的相互关系，它通过将连续变量设定出多个不同的临界值，从而计算出一系列敏感性和特异性，再以</a:t>
            </a:r>
            <a:r>
              <a:rPr altLang="en-US" sz="2000" b="1" dirty="0">
                <a:solidFill>
                  <a:srgbClr val="C00000"/>
                </a:solidFill>
                <a:latin typeface="黑体" panose="02010609060101010101" pitchFamily="49" charset="-122"/>
                <a:ea typeface="黑体" panose="02010609060101010101" pitchFamily="49" charset="-122"/>
              </a:rPr>
              <a:t>敏感性为纵坐标、（</a:t>
            </a:r>
            <a:r>
              <a:rPr lang="en-US" altLang="zh-CN" sz="2000" b="1" dirty="0">
                <a:solidFill>
                  <a:srgbClr val="C00000"/>
                </a:solidFill>
                <a:latin typeface="黑体" panose="02010609060101010101" pitchFamily="49" charset="-122"/>
                <a:ea typeface="黑体" panose="02010609060101010101" pitchFamily="49" charset="-122"/>
              </a:rPr>
              <a:t>1-</a:t>
            </a:r>
            <a:r>
              <a:rPr altLang="en-US" sz="2000" b="1" dirty="0">
                <a:solidFill>
                  <a:srgbClr val="C00000"/>
                </a:solidFill>
                <a:latin typeface="黑体" panose="02010609060101010101" pitchFamily="49" charset="-122"/>
                <a:ea typeface="黑体" panose="02010609060101010101" pitchFamily="49" charset="-122"/>
              </a:rPr>
              <a:t>特异性）为横坐标绘制成曲线</a:t>
            </a:r>
            <a:r>
              <a:rPr altLang="en-US" sz="2000" b="1" dirty="0">
                <a:latin typeface="黑体" panose="02010609060101010101" pitchFamily="49" charset="-122"/>
                <a:ea typeface="黑体" panose="02010609060101010101" pitchFamily="49" charset="-122"/>
              </a:rPr>
              <a:t>，曲线下面积越大，诊断准确性越高。</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Receiver Operating </a:t>
            </a:r>
            <a:r>
              <a:rPr lang="en-US" altLang="zh-CN" sz="2000" b="1" dirty="0" err="1">
                <a:latin typeface="黑体" panose="02010609060101010101" pitchFamily="49" charset="-122"/>
                <a:ea typeface="黑体" panose="02010609060101010101" pitchFamily="49" charset="-122"/>
              </a:rPr>
              <a:t>Characteristic</a:t>
            </a:r>
            <a:r>
              <a:rPr altLang="en-US" sz="2000" b="1" dirty="0" err="1">
                <a:latin typeface="黑体" panose="02010609060101010101" pitchFamily="49" charset="-122"/>
                <a:ea typeface="黑体" panose="02010609060101010101" pitchFamily="49" charset="-122"/>
              </a:rPr>
              <a:t>）曲线和</a:t>
            </a: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常被用来评价一个二值分类器（</a:t>
            </a:r>
            <a:r>
              <a:rPr lang="en-US" altLang="zh-CN" sz="2000" b="1" dirty="0" err="1">
                <a:latin typeface="黑体" panose="02010609060101010101" pitchFamily="49" charset="-122"/>
                <a:ea typeface="黑体" panose="02010609060101010101" pitchFamily="49" charset="-122"/>
              </a:rPr>
              <a:t>binary</a:t>
            </a:r>
            <a:r>
              <a:rPr lang="en-US" altLang="zh-CN" sz="2000" b="1" dirty="0">
                <a:latin typeface="黑体" panose="02010609060101010101" pitchFamily="49" charset="-122"/>
                <a:ea typeface="黑体" panose="02010609060101010101" pitchFamily="49" charset="-122"/>
              </a:rPr>
              <a:t> </a:t>
            </a:r>
            <a:r>
              <a:rPr lang="en-US" altLang="zh-CN" sz="2000" b="1" dirty="0" err="1">
                <a:latin typeface="黑体" panose="02010609060101010101" pitchFamily="49" charset="-122"/>
                <a:ea typeface="黑体" panose="02010609060101010101" pitchFamily="49" charset="-122"/>
              </a:rPr>
              <a:t>classifier</a:t>
            </a:r>
            <a:r>
              <a:rPr altLang="en-US" sz="2000" b="1" dirty="0" err="1">
                <a:latin typeface="黑体" panose="02010609060101010101" pitchFamily="49" charset="-122"/>
                <a:ea typeface="黑体" panose="02010609060101010101" pitchFamily="49" charset="-122"/>
              </a:rPr>
              <a:t>）的优劣</a:t>
            </a:r>
            <a:r>
              <a:rPr altLang="en-US" sz="2000" b="1" dirty="0">
                <a:latin typeface="黑体" panose="02010609060101010101" pitchFamily="49" charset="-122"/>
                <a:ea typeface="黑体" panose="02010609060101010101" pitchFamily="49" charset="-122"/>
              </a:rPr>
              <a:t> 。</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buClr>
                <a:srgbClr val="00B050"/>
              </a:buClr>
              <a:buFont typeface="Wingdings" panose="05000000000000000000" pitchFamily="2" charset="2"/>
              <a:buChar char="p"/>
            </a:pPr>
            <a:endParaRPr lang="en-US" altLang="zh-CN" sz="2000"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9"/>
          <p:cNvSpPr>
            <a:spLocks noGrp="1"/>
          </p:cNvSpPr>
          <p:nvPr>
            <p:ph sz="half" idx="2"/>
          </p:nvPr>
        </p:nvSpPr>
        <p:spPr>
          <a:xfrm>
            <a:off x="467544" y="1628800"/>
            <a:ext cx="8533209" cy="4446661"/>
          </a:xfrm>
        </p:spPr>
        <p:txBody>
          <a:bodyPr>
            <a:noAutofit/>
          </a:bodyPr>
          <a:lstStyle/>
          <a:p>
            <a:pPr>
              <a:lnSpc>
                <a:spcPct val="150000"/>
              </a:lnSpc>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比如在</a:t>
            </a:r>
            <a:r>
              <a:rPr lang="zh-CN" altLang="en-US" sz="2000" b="1" dirty="0">
                <a:solidFill>
                  <a:srgbClr val="C00000"/>
                </a:solidFill>
                <a:latin typeface="黑体" panose="02010609060101010101" pitchFamily="49" charset="-122"/>
                <a:ea typeface="黑体" panose="02010609060101010101" pitchFamily="49" charset="-122"/>
              </a:rPr>
              <a:t>逻辑回归算法</a:t>
            </a:r>
            <a:r>
              <a:rPr lang="zh-CN" altLang="en-US" sz="2000" b="1" dirty="0">
                <a:latin typeface="黑体" panose="02010609060101010101" pitchFamily="49" charset="-122"/>
                <a:ea typeface="黑体" panose="02010609060101010101" pitchFamily="49" charset="-122"/>
              </a:rPr>
              <a:t>里面，设一个阈值，大于这个值的为正类，小于这个值为负类。如果减小这个阈值，那么更多的样本会被识别为正类。这会提高正类的识别率，但同时也会使得更多的负类被错误识别为正类。</a:t>
            </a:r>
            <a:endParaRPr lang="en-US"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假设采用逻辑回归分类器，其给出针对每个实例为正类的概率，那么通过设定一个阈值如</a:t>
            </a:r>
            <a:r>
              <a:rPr lang="en-US" altLang="zh-CN" sz="2000" b="1" dirty="0">
                <a:latin typeface="黑体" panose="02010609060101010101" pitchFamily="49" charset="-122"/>
                <a:ea typeface="黑体" panose="02010609060101010101" pitchFamily="49" charset="-122"/>
              </a:rPr>
              <a:t>0.6</a:t>
            </a:r>
            <a:r>
              <a:rPr altLang="en-US" sz="2000" b="1" dirty="0">
                <a:latin typeface="黑体" panose="02010609060101010101" pitchFamily="49" charset="-122"/>
                <a:ea typeface="黑体" panose="02010609060101010101" pitchFamily="49" charset="-122"/>
              </a:rPr>
              <a:t>，概率大于等于</a:t>
            </a:r>
            <a:r>
              <a:rPr lang="en-US" altLang="zh-CN" sz="2000" b="1" dirty="0">
                <a:latin typeface="黑体" panose="02010609060101010101" pitchFamily="49" charset="-122"/>
                <a:ea typeface="黑体" panose="02010609060101010101" pitchFamily="49" charset="-122"/>
              </a:rPr>
              <a:t>0.6</a:t>
            </a:r>
            <a:r>
              <a:rPr altLang="en-US" sz="2000" b="1" dirty="0">
                <a:latin typeface="黑体" panose="02010609060101010101" pitchFamily="49" charset="-122"/>
                <a:ea typeface="黑体" panose="02010609060101010101" pitchFamily="49" charset="-122"/>
              </a:rPr>
              <a:t>的为正类，小于</a:t>
            </a:r>
            <a:r>
              <a:rPr lang="en-US" altLang="zh-CN" sz="2000" b="1" dirty="0">
                <a:latin typeface="黑体" panose="02010609060101010101" pitchFamily="49" charset="-122"/>
                <a:ea typeface="黑体" panose="02010609060101010101" pitchFamily="49" charset="-122"/>
              </a:rPr>
              <a:t>0.6</a:t>
            </a:r>
            <a:r>
              <a:rPr altLang="en-US" sz="2000" b="1" dirty="0">
                <a:latin typeface="黑体" panose="02010609060101010101" pitchFamily="49" charset="-122"/>
                <a:ea typeface="黑体" panose="02010609060101010101" pitchFamily="49" charset="-122"/>
              </a:rPr>
              <a:t>的为负类。对应的就可以算出一组</a:t>
            </a:r>
            <a:r>
              <a:rPr lang="en-US" altLang="zh-CN" sz="2000" b="1" dirty="0">
                <a:solidFill>
                  <a:srgbClr val="C00000"/>
                </a:solidFill>
                <a:latin typeface="黑体" panose="02010609060101010101" pitchFamily="49" charset="-122"/>
                <a:ea typeface="黑体" panose="02010609060101010101" pitchFamily="49" charset="-122"/>
              </a:rPr>
              <a:t>(FPR,TPR),</a:t>
            </a:r>
            <a:r>
              <a:rPr altLang="en-US" sz="2000" b="1" dirty="0" err="1">
                <a:latin typeface="黑体" panose="02010609060101010101" pitchFamily="49" charset="-122"/>
                <a:ea typeface="黑体" panose="02010609060101010101" pitchFamily="49" charset="-122"/>
              </a:rPr>
              <a:t>在平面中得到对应坐标点</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随着阈值的逐渐减小，越来越多的实例被划分为正类，但是这些正类中同样也掺杂着真正的负实例，即</a:t>
            </a:r>
            <a:r>
              <a:rPr lang="en-US" altLang="zh-CN" sz="2000" b="1" dirty="0">
                <a:latin typeface="黑体" panose="02010609060101010101" pitchFamily="49" charset="-122"/>
                <a:ea typeface="黑体" panose="02010609060101010101" pitchFamily="49" charset="-122"/>
              </a:rPr>
              <a:t>TPR</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FPR</a:t>
            </a:r>
            <a:r>
              <a:rPr altLang="en-US" sz="2000" b="1" dirty="0">
                <a:latin typeface="黑体" panose="02010609060101010101" pitchFamily="49" charset="-122"/>
                <a:ea typeface="黑体" panose="02010609060101010101" pitchFamily="49" charset="-122"/>
              </a:rPr>
              <a:t>会同时增大。阈值最大时，对应坐标点为</a:t>
            </a:r>
            <a:r>
              <a:rPr lang="en-US" altLang="zh-CN" sz="2000" b="1" dirty="0">
                <a:latin typeface="黑体" panose="02010609060101010101" pitchFamily="49" charset="-122"/>
                <a:ea typeface="黑体" panose="02010609060101010101" pitchFamily="49" charset="-122"/>
              </a:rPr>
              <a:t>(0,0)</a:t>
            </a:r>
            <a:r>
              <a:rPr altLang="en-US" sz="2000" b="1" dirty="0">
                <a:latin typeface="黑体" panose="02010609060101010101" pitchFamily="49" charset="-122"/>
                <a:ea typeface="黑体" panose="02010609060101010101" pitchFamily="49" charset="-122"/>
              </a:rPr>
              <a:t>，</a:t>
            </a:r>
            <a:r>
              <a:rPr altLang="en-US" sz="2000" b="1" dirty="0" err="1">
                <a:latin typeface="黑体" panose="02010609060101010101" pitchFamily="49" charset="-122"/>
                <a:ea typeface="黑体" panose="02010609060101010101" pitchFamily="49" charset="-122"/>
              </a:rPr>
              <a:t>阈值最小时，对应坐标点</a:t>
            </a:r>
            <a:r>
              <a:rPr lang="en-US" altLang="zh-CN" sz="2000" b="1" dirty="0">
                <a:latin typeface="黑体" panose="02010609060101010101" pitchFamily="49" charset="-122"/>
                <a:ea typeface="黑体" panose="02010609060101010101" pitchFamily="49" charset="-122"/>
              </a:rPr>
              <a:t>(1,1)</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p:txBody>
      </p:sp>
      <p:sp>
        <p:nvSpPr>
          <p:cNvPr id="5" name="文本占位符 2"/>
          <p:cNvSpPr>
            <a:spLocks noGrp="1"/>
          </p:cNvSpPr>
          <p:nvPr>
            <p:ph type="body" idx="1"/>
          </p:nvPr>
        </p:nvSpPr>
        <p:spPr>
          <a:xfrm>
            <a:off x="305991" y="944166"/>
            <a:ext cx="7885509" cy="514350"/>
          </a:xfrm>
        </p:spPr>
        <p:txBody>
          <a:bodyPr vert="horz" lIns="91440" tIns="45720" rIns="91440" bIns="45720" rtlCol="0" anchor="b">
            <a:noAutofit/>
          </a:bodyPr>
          <a:lstStyle/>
          <a:p>
            <a:pPr algn="ctr">
              <a:spcBef>
                <a:spcPct val="0"/>
              </a:spcBef>
            </a:pPr>
            <a:r>
              <a:rPr lang="en-US" altLang="en-US"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曲线</a:t>
            </a:r>
            <a:endParaRPr altLang="en-US" sz="4000" dirty="0">
              <a:latin typeface="黑体" panose="02010609060101010101" pitchFamily="49" charset="-122"/>
              <a:ea typeface="黑体" panose="02010609060101010101" pitchFamily="49" charset="-122"/>
              <a:cs typeface="+mj-cs"/>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323528" y="692696"/>
            <a:ext cx="7885509" cy="514350"/>
          </a:xfrm>
        </p:spPr>
        <p:txBody>
          <a:bodyPr vert="horz" lIns="91440" tIns="45720" rIns="91440" bIns="45720" rtlCol="0" anchor="b">
            <a:noAutofit/>
          </a:bodyPr>
          <a:lstStyle/>
          <a:p>
            <a:pPr algn="ctr">
              <a:spcBef>
                <a:spcPct val="0"/>
              </a:spcBef>
            </a:pPr>
            <a:r>
              <a:rPr lang="en-US" altLang="en-US"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曲线</a:t>
            </a:r>
            <a:endParaRPr altLang="en-US" sz="4000" dirty="0">
              <a:latin typeface="黑体" panose="02010609060101010101" pitchFamily="49" charset="-122"/>
              <a:ea typeface="黑体" panose="02010609060101010101" pitchFamily="49" charset="-122"/>
              <a:cs typeface="+mj-cs"/>
            </a:endParaRPr>
          </a:p>
        </p:txBody>
      </p:sp>
      <p:sp>
        <p:nvSpPr>
          <p:cNvPr id="10" name="内容占位符 9"/>
          <p:cNvSpPr>
            <a:spLocks noGrp="1"/>
          </p:cNvSpPr>
          <p:nvPr>
            <p:ph sz="half" idx="2"/>
          </p:nvPr>
        </p:nvSpPr>
        <p:spPr>
          <a:xfrm>
            <a:off x="617923" y="1229883"/>
            <a:ext cx="8533209" cy="3673078"/>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如下面这幅图，</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图中实线为</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曲线，线上每个点对应一个阈值。</a:t>
            </a:r>
            <a:endParaRPr lang="en-US" altLang="zh-CN" sz="2000" b="1" dirty="0">
              <a:latin typeface="黑体" panose="02010609060101010101" pitchFamily="49" charset="-122"/>
              <a:ea typeface="黑体" panose="02010609060101010101" pitchFamily="49" charset="-122"/>
            </a:endParaRPr>
          </a:p>
          <a:p>
            <a:pPr marL="0" indent="0">
              <a:lnSpc>
                <a:spcPct val="150000"/>
              </a:lnSpc>
              <a:buClr>
                <a:srgbClr val="00B050"/>
              </a:buClr>
              <a:buNone/>
            </a:pPr>
            <a:br>
              <a:rPr altLang="en-US" sz="2000" dirty="0">
                <a:latin typeface="幼圆" panose="02010509060101010101" pitchFamily="49" charset="-122"/>
                <a:ea typeface="幼圆" panose="02010509060101010101" pitchFamily="49" charset="-122"/>
              </a:rPr>
            </a:br>
            <a:endParaRPr lang="en-US" altLang="zh-CN" sz="2000" dirty="0">
              <a:latin typeface="幼圆" panose="02010509060101010101" pitchFamily="49" charset="-122"/>
              <a:ea typeface="幼圆" panose="02010509060101010101" pitchFamily="49" charset="-122"/>
            </a:endParaRPr>
          </a:p>
        </p:txBody>
      </p:sp>
      <p:pic>
        <p:nvPicPr>
          <p:cNvPr id="59396" name="图片 1"/>
          <p:cNvPicPr>
            <a:picLocks noChangeAspect="1"/>
          </p:cNvPicPr>
          <p:nvPr/>
        </p:nvPicPr>
        <p:blipFill rotWithShape="1">
          <a:blip r:embed="rId1">
            <a:extLst>
              <a:ext uri="{28A0092B-C50C-407E-A947-70E740481C1C}">
                <a14:useLocalDpi xmlns:a14="http://schemas.microsoft.com/office/drawing/2010/main" val="0"/>
              </a:ext>
            </a:extLst>
          </a:blip>
          <a:srcRect r="53606"/>
          <a:stretch>
            <a:fillRect/>
          </a:stretch>
        </p:blipFill>
        <p:spPr bwMode="auto">
          <a:xfrm>
            <a:off x="2267744" y="1844824"/>
            <a:ext cx="4785188" cy="450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539552" y="859474"/>
            <a:ext cx="7885509" cy="514350"/>
          </a:xfrm>
        </p:spPr>
        <p:txBody>
          <a:bodyPr vert="horz" lIns="91440" tIns="45720" rIns="91440" bIns="45720" rtlCol="0" anchor="b">
            <a:noAutofit/>
          </a:bodyPr>
          <a:lstStyle/>
          <a:p>
            <a:pPr algn="ctr">
              <a:spcBef>
                <a:spcPct val="0"/>
              </a:spcBef>
            </a:pPr>
            <a:r>
              <a:rPr lang="en-US" altLang="en-US"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曲线</a:t>
            </a:r>
            <a:endParaRPr altLang="en-US" sz="4000" dirty="0">
              <a:latin typeface="黑体" panose="02010609060101010101" pitchFamily="49" charset="-122"/>
              <a:ea typeface="黑体" panose="02010609060101010101" pitchFamily="49" charset="-122"/>
              <a:cs typeface="+mj-cs"/>
            </a:endParaRPr>
          </a:p>
        </p:txBody>
      </p:sp>
      <p:sp>
        <p:nvSpPr>
          <p:cNvPr id="10" name="内容占位符 9"/>
          <p:cNvSpPr>
            <a:spLocks noGrp="1"/>
          </p:cNvSpPr>
          <p:nvPr>
            <p:ph sz="half" idx="2"/>
          </p:nvPr>
        </p:nvSpPr>
        <p:spPr>
          <a:xfrm>
            <a:off x="827584" y="1484784"/>
            <a:ext cx="7776863" cy="3600400"/>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横轴</a:t>
            </a:r>
            <a:r>
              <a:rPr lang="en-US" altLang="zh-CN" sz="2000" b="1" dirty="0">
                <a:latin typeface="黑体" panose="02010609060101010101" pitchFamily="49" charset="-122"/>
                <a:ea typeface="黑体" panose="02010609060101010101" pitchFamily="49" charset="-122"/>
              </a:rPr>
              <a:t>FPR</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1-TNR,1-Specificity</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FPR</a:t>
            </a:r>
            <a:r>
              <a:rPr altLang="en-US" sz="2000" b="1" dirty="0">
                <a:latin typeface="黑体" panose="02010609060101010101" pitchFamily="49" charset="-122"/>
                <a:ea typeface="黑体" panose="02010609060101010101" pitchFamily="49" charset="-122"/>
              </a:rPr>
              <a:t>越大，预测正类中实际负类越多。</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纵轴</a:t>
            </a:r>
            <a:r>
              <a:rPr lang="en-US" altLang="zh-CN" sz="2000" b="1" dirty="0">
                <a:latin typeface="黑体" panose="02010609060101010101" pitchFamily="49" charset="-122"/>
                <a:ea typeface="黑体" panose="02010609060101010101" pitchFamily="49" charset="-122"/>
              </a:rPr>
              <a:t>TPR</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Sensitivity(</a:t>
            </a:r>
            <a:r>
              <a:rPr altLang="en-US" sz="2000" b="1" dirty="0">
                <a:latin typeface="黑体" panose="02010609060101010101" pitchFamily="49" charset="-122"/>
                <a:ea typeface="黑体" panose="02010609060101010101" pitchFamily="49" charset="-122"/>
              </a:rPr>
              <a:t>正类覆盖率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TPR</a:t>
            </a:r>
            <a:r>
              <a:rPr altLang="en-US" sz="2000" b="1" dirty="0">
                <a:latin typeface="黑体" panose="02010609060101010101" pitchFamily="49" charset="-122"/>
                <a:ea typeface="黑体" panose="02010609060101010101" pitchFamily="49" charset="-122"/>
              </a:rPr>
              <a:t>越大，预测正类中实际正类越多。</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理想目标：</a:t>
            </a:r>
            <a:r>
              <a:rPr lang="en-US" altLang="zh-CN" sz="2000" b="1" dirty="0">
                <a:latin typeface="黑体" panose="02010609060101010101" pitchFamily="49" charset="-122"/>
                <a:ea typeface="黑体" panose="02010609060101010101" pitchFamily="49" charset="-122"/>
              </a:rPr>
              <a:t>TPR=1</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FPR=0</a:t>
            </a:r>
            <a:r>
              <a:rPr altLang="en-US" sz="2000" b="1" dirty="0">
                <a:latin typeface="黑体" panose="02010609060101010101" pitchFamily="49" charset="-122"/>
                <a:ea typeface="黑体" panose="02010609060101010101" pitchFamily="49" charset="-122"/>
              </a:rPr>
              <a:t>，即图中</a:t>
            </a:r>
            <a:r>
              <a:rPr lang="en-US" altLang="zh-CN" sz="2000" b="1" dirty="0">
                <a:latin typeface="黑体" panose="02010609060101010101" pitchFamily="49" charset="-122"/>
                <a:ea typeface="黑体" panose="02010609060101010101" pitchFamily="49" charset="-122"/>
              </a:rPr>
              <a:t>(0,1)</a:t>
            </a:r>
            <a:r>
              <a:rPr altLang="en-US" sz="2000" b="1" dirty="0">
                <a:latin typeface="黑体" panose="02010609060101010101" pitchFamily="49" charset="-122"/>
                <a:ea typeface="黑体" panose="02010609060101010101" pitchFamily="49" charset="-122"/>
              </a:rPr>
              <a:t>点，故</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曲线越靠拢</a:t>
            </a:r>
            <a:r>
              <a:rPr lang="en-US" altLang="zh-CN" sz="2000" b="1" dirty="0">
                <a:latin typeface="黑体" panose="02010609060101010101" pitchFamily="49" charset="-122"/>
                <a:ea typeface="黑体" panose="02010609060101010101" pitchFamily="49" charset="-122"/>
              </a:rPr>
              <a:t>(0,1)</a:t>
            </a:r>
            <a:r>
              <a:rPr altLang="en-US" sz="2000" b="1" dirty="0">
                <a:latin typeface="黑体" panose="02010609060101010101" pitchFamily="49" charset="-122"/>
                <a:ea typeface="黑体" panose="02010609060101010101" pitchFamily="49" charset="-122"/>
              </a:rPr>
              <a:t>点，越偏离</a:t>
            </a:r>
            <a:r>
              <a:rPr lang="en-US" altLang="zh-CN" sz="2000" b="1" dirty="0">
                <a:latin typeface="黑体" panose="02010609060101010101" pitchFamily="49" charset="-122"/>
                <a:ea typeface="黑体" panose="02010609060101010101" pitchFamily="49" charset="-122"/>
              </a:rPr>
              <a:t>45</a:t>
            </a:r>
            <a:r>
              <a:rPr altLang="en-US" sz="2000" b="1" dirty="0">
                <a:latin typeface="黑体" panose="02010609060101010101" pitchFamily="49" charset="-122"/>
                <a:ea typeface="黑体" panose="02010609060101010101" pitchFamily="49" charset="-122"/>
              </a:rPr>
              <a:t>度对角线越好。</a:t>
            </a:r>
            <a:endParaRPr lang="en-US" altLang="zh-CN" sz="2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1044624" y="867569"/>
            <a:ext cx="7885509" cy="514350"/>
          </a:xfrm>
        </p:spPr>
        <p:txBody>
          <a:bodyPr vert="horz" lIns="91440" tIns="45720" rIns="91440" bIns="45720" rtlCol="0" anchor="b">
            <a:noAutofit/>
          </a:bodyPr>
          <a:lstStyle/>
          <a:p>
            <a:pPr algn="ctr">
              <a:spcBef>
                <a:spcPct val="0"/>
              </a:spcBef>
            </a:pPr>
            <a:r>
              <a:rPr lang="en-US" altLang="en-US"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曲线</a:t>
            </a:r>
            <a:endParaRPr altLang="en-US" sz="4000" dirty="0">
              <a:latin typeface="黑体" panose="02010609060101010101" pitchFamily="49" charset="-122"/>
              <a:ea typeface="黑体" panose="02010609060101010101" pitchFamily="49" charset="-122"/>
              <a:cs typeface="+mj-cs"/>
            </a:endParaRPr>
          </a:p>
        </p:txBody>
      </p:sp>
      <p:sp>
        <p:nvSpPr>
          <p:cNvPr id="10" name="内容占位符 9"/>
          <p:cNvSpPr>
            <a:spLocks noGrp="1"/>
          </p:cNvSpPr>
          <p:nvPr>
            <p:ph sz="half" idx="2"/>
          </p:nvPr>
        </p:nvSpPr>
        <p:spPr>
          <a:xfrm>
            <a:off x="286941" y="1700808"/>
            <a:ext cx="8857059" cy="4806701"/>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考虑</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曲线图中的四个点和一条线。</a:t>
            </a:r>
            <a:endParaRPr lang="en-US" altLang="zh-CN" sz="2000" b="1" dirty="0">
              <a:latin typeface="黑体" panose="02010609060101010101" pitchFamily="49" charset="-122"/>
              <a:ea typeface="黑体" panose="02010609060101010101" pitchFamily="49" charset="-122"/>
            </a:endParaRPr>
          </a:p>
          <a:p>
            <a:pPr lvl="1"/>
            <a:r>
              <a:rPr altLang="en-US" sz="1800" b="1" dirty="0">
                <a:latin typeface="黑体" panose="02010609060101010101" pitchFamily="49" charset="-122"/>
                <a:ea typeface="黑体" panose="02010609060101010101" pitchFamily="49" charset="-122"/>
              </a:rPr>
              <a:t>第一个点，</a:t>
            </a:r>
            <a:r>
              <a:rPr lang="en-US" altLang="zh-CN" sz="1800" b="1" dirty="0">
                <a:latin typeface="黑体" panose="02010609060101010101" pitchFamily="49" charset="-122"/>
                <a:ea typeface="黑体" panose="02010609060101010101" pitchFamily="49" charset="-122"/>
              </a:rPr>
              <a:t>(0,1)</a:t>
            </a:r>
            <a:r>
              <a:rPr altLang="en-US" sz="1800" b="1" dirty="0">
                <a:latin typeface="黑体" panose="02010609060101010101" pitchFamily="49" charset="-122"/>
                <a:ea typeface="黑体" panose="02010609060101010101" pitchFamily="49" charset="-122"/>
              </a:rPr>
              <a:t>，即</a:t>
            </a:r>
            <a:r>
              <a:rPr lang="en-US" altLang="zh-CN" sz="1800" b="1" dirty="0">
                <a:latin typeface="黑体" panose="02010609060101010101" pitchFamily="49" charset="-122"/>
                <a:ea typeface="黑体" panose="02010609060101010101" pitchFamily="49" charset="-122"/>
              </a:rPr>
              <a:t>FPR=0, TPR=1</a:t>
            </a:r>
            <a:r>
              <a:rPr altLang="en-US" sz="1800" b="1" dirty="0">
                <a:latin typeface="黑体" panose="02010609060101010101" pitchFamily="49" charset="-122"/>
                <a:ea typeface="黑体" panose="02010609060101010101" pitchFamily="49" charset="-122"/>
              </a:rPr>
              <a:t>，这意味着</a:t>
            </a:r>
            <a:r>
              <a:rPr lang="en-US" altLang="zh-CN" sz="1800" b="1" dirty="0">
                <a:latin typeface="黑体" panose="02010609060101010101" pitchFamily="49" charset="-122"/>
                <a:ea typeface="黑体" panose="02010609060101010101" pitchFamily="49" charset="-122"/>
              </a:rPr>
              <a:t>FN</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false negative</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=0</a:t>
            </a:r>
            <a:r>
              <a:rPr altLang="en-US" sz="1800" b="1" dirty="0">
                <a:latin typeface="黑体" panose="02010609060101010101" pitchFamily="49" charset="-122"/>
                <a:ea typeface="黑体" panose="02010609060101010101" pitchFamily="49" charset="-122"/>
              </a:rPr>
              <a:t>，并且</a:t>
            </a:r>
            <a:r>
              <a:rPr lang="en-US" altLang="zh-CN" sz="1800" b="1" dirty="0">
                <a:latin typeface="黑体" panose="02010609060101010101" pitchFamily="49" charset="-122"/>
                <a:ea typeface="黑体" panose="02010609060101010101" pitchFamily="49" charset="-122"/>
              </a:rPr>
              <a:t>FP</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false positive</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=0</a:t>
            </a:r>
            <a:r>
              <a:rPr altLang="en-US" sz="1800" b="1" dirty="0">
                <a:latin typeface="黑体" panose="02010609060101010101" pitchFamily="49" charset="-122"/>
                <a:ea typeface="黑体" panose="02010609060101010101" pitchFamily="49" charset="-122"/>
              </a:rPr>
              <a:t>。这是一个完美的分类器，它将所有的样本都正确分类。</a:t>
            </a:r>
            <a:endParaRPr lang="en-US" altLang="zh-CN" sz="1800" b="1" dirty="0">
              <a:latin typeface="黑体" panose="02010609060101010101" pitchFamily="49" charset="-122"/>
              <a:ea typeface="黑体" panose="02010609060101010101" pitchFamily="49" charset="-122"/>
            </a:endParaRPr>
          </a:p>
          <a:p>
            <a:pPr lvl="1"/>
            <a:r>
              <a:rPr altLang="en-US" sz="1800" b="1" dirty="0">
                <a:latin typeface="黑体" panose="02010609060101010101" pitchFamily="49" charset="-122"/>
                <a:ea typeface="黑体" panose="02010609060101010101" pitchFamily="49" charset="-122"/>
              </a:rPr>
              <a:t>第二个点，</a:t>
            </a:r>
            <a:r>
              <a:rPr lang="en-US" altLang="zh-CN" sz="1800" b="1" dirty="0">
                <a:latin typeface="黑体" panose="02010609060101010101" pitchFamily="49" charset="-122"/>
                <a:ea typeface="黑体" panose="02010609060101010101" pitchFamily="49" charset="-122"/>
              </a:rPr>
              <a:t>(1,0)</a:t>
            </a:r>
            <a:r>
              <a:rPr altLang="en-US" sz="1800" b="1" dirty="0">
                <a:latin typeface="黑体" panose="02010609060101010101" pitchFamily="49" charset="-122"/>
                <a:ea typeface="黑体" panose="02010609060101010101" pitchFamily="49" charset="-122"/>
              </a:rPr>
              <a:t>，即</a:t>
            </a:r>
            <a:r>
              <a:rPr lang="en-US" altLang="zh-CN" sz="1800" b="1" dirty="0">
                <a:latin typeface="黑体" panose="02010609060101010101" pitchFamily="49" charset="-122"/>
                <a:ea typeface="黑体" panose="02010609060101010101" pitchFamily="49" charset="-122"/>
              </a:rPr>
              <a:t>FPR=1</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TPR=0</a:t>
            </a:r>
            <a:r>
              <a:rPr altLang="en-US" sz="1800" b="1" dirty="0">
                <a:latin typeface="黑体" panose="02010609060101010101" pitchFamily="49" charset="-122"/>
                <a:ea typeface="黑体" panose="02010609060101010101" pitchFamily="49" charset="-122"/>
              </a:rPr>
              <a:t>，类似地分析可以发现这是一个最糟糕的分类器，因为它成功避开了所有的正确答案。</a:t>
            </a:r>
            <a:endParaRPr lang="en-US" altLang="zh-CN" sz="1800" b="1" dirty="0">
              <a:latin typeface="黑体" panose="02010609060101010101" pitchFamily="49" charset="-122"/>
              <a:ea typeface="黑体" panose="02010609060101010101" pitchFamily="49" charset="-122"/>
            </a:endParaRPr>
          </a:p>
          <a:p>
            <a:pPr lvl="1"/>
            <a:r>
              <a:rPr altLang="en-US" sz="1800" b="1" dirty="0">
                <a:latin typeface="黑体" panose="02010609060101010101" pitchFamily="49" charset="-122"/>
                <a:ea typeface="黑体" panose="02010609060101010101" pitchFamily="49" charset="-122"/>
              </a:rPr>
              <a:t>第三个点，</a:t>
            </a:r>
            <a:r>
              <a:rPr lang="en-US" altLang="zh-CN" sz="1800" b="1" dirty="0">
                <a:latin typeface="黑体" panose="02010609060101010101" pitchFamily="49" charset="-122"/>
                <a:ea typeface="黑体" panose="02010609060101010101" pitchFamily="49" charset="-122"/>
              </a:rPr>
              <a:t>(0,0)</a:t>
            </a:r>
            <a:r>
              <a:rPr altLang="en-US" sz="1800" b="1" dirty="0">
                <a:latin typeface="黑体" panose="02010609060101010101" pitchFamily="49" charset="-122"/>
                <a:ea typeface="黑体" panose="02010609060101010101" pitchFamily="49" charset="-122"/>
              </a:rPr>
              <a:t>，即</a:t>
            </a:r>
            <a:r>
              <a:rPr lang="en-US" altLang="zh-CN" sz="1800" b="1" dirty="0">
                <a:latin typeface="黑体" panose="02010609060101010101" pitchFamily="49" charset="-122"/>
                <a:ea typeface="黑体" panose="02010609060101010101" pitchFamily="49" charset="-122"/>
              </a:rPr>
              <a:t>FPR=TPR=0</a:t>
            </a:r>
            <a:r>
              <a:rPr altLang="en-US" sz="1800" b="1" dirty="0">
                <a:latin typeface="黑体" panose="02010609060101010101" pitchFamily="49" charset="-122"/>
                <a:ea typeface="黑体" panose="02010609060101010101" pitchFamily="49" charset="-122"/>
              </a:rPr>
              <a:t>，即</a:t>
            </a:r>
            <a:r>
              <a:rPr lang="en-US" altLang="zh-CN" sz="1800" b="1" dirty="0">
                <a:latin typeface="黑体" panose="02010609060101010101" pitchFamily="49" charset="-122"/>
                <a:ea typeface="黑体" panose="02010609060101010101" pitchFamily="49" charset="-122"/>
              </a:rPr>
              <a:t>FP</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false positive</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=TP</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true positive</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=0</a:t>
            </a:r>
            <a:r>
              <a:rPr altLang="en-US" sz="1800" b="1" dirty="0">
                <a:latin typeface="黑体" panose="02010609060101010101" pitchFamily="49" charset="-122"/>
                <a:ea typeface="黑体" panose="02010609060101010101" pitchFamily="49" charset="-122"/>
              </a:rPr>
              <a:t>，可以发现该分类器预测所有的样本都为负样本（</a:t>
            </a:r>
            <a:r>
              <a:rPr lang="en-US" altLang="zh-CN" sz="1800" b="1" dirty="0">
                <a:latin typeface="黑体" panose="02010609060101010101" pitchFamily="49" charset="-122"/>
                <a:ea typeface="黑体" panose="02010609060101010101" pitchFamily="49" charset="-122"/>
              </a:rPr>
              <a:t>negative</a:t>
            </a:r>
            <a:r>
              <a:rPr altLang="en-US"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lvl="1"/>
            <a:r>
              <a:rPr altLang="en-US" sz="1800" b="1" dirty="0">
                <a:latin typeface="黑体" panose="02010609060101010101" pitchFamily="49" charset="-122"/>
                <a:ea typeface="黑体" panose="02010609060101010101" pitchFamily="49" charset="-122"/>
              </a:rPr>
              <a:t>第四个点（</a:t>
            </a:r>
            <a:r>
              <a:rPr lang="en-US" altLang="zh-CN" sz="1800" b="1" dirty="0">
                <a:latin typeface="黑体" panose="02010609060101010101" pitchFamily="49" charset="-122"/>
                <a:ea typeface="黑体" panose="02010609060101010101" pitchFamily="49" charset="-122"/>
              </a:rPr>
              <a:t>1,1</a:t>
            </a:r>
            <a:r>
              <a:rPr altLang="en-US" sz="1800" b="1" dirty="0">
                <a:latin typeface="黑体" panose="02010609060101010101" pitchFamily="49" charset="-122"/>
                <a:ea typeface="黑体" panose="02010609060101010101" pitchFamily="49" charset="-122"/>
              </a:rPr>
              <a:t>），</a:t>
            </a:r>
            <a:r>
              <a:rPr altLang="en-US" sz="1800" b="1" dirty="0" err="1">
                <a:latin typeface="黑体" panose="02010609060101010101" pitchFamily="49" charset="-122"/>
                <a:ea typeface="黑体" panose="02010609060101010101" pitchFamily="49" charset="-122"/>
              </a:rPr>
              <a:t>分类器实际上预测所有的样本都为正样本。经过以上的分析，可以断言，</a:t>
            </a:r>
            <a:r>
              <a:rPr lang="en-US" altLang="zh-CN" sz="1800" b="1" dirty="0" err="1">
                <a:latin typeface="黑体" panose="02010609060101010101" pitchFamily="49" charset="-122"/>
                <a:ea typeface="黑体" panose="02010609060101010101" pitchFamily="49" charset="-122"/>
              </a:rPr>
              <a:t>ROC</a:t>
            </a:r>
            <a:r>
              <a:rPr altLang="en-US" sz="1800" b="1" dirty="0" err="1">
                <a:latin typeface="黑体" panose="02010609060101010101" pitchFamily="49" charset="-122"/>
                <a:ea typeface="黑体" panose="02010609060101010101" pitchFamily="49" charset="-122"/>
              </a:rPr>
              <a:t>曲线越接近左上角，该分类器的性能越好</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曲线图中的虚线</a:t>
            </a:r>
            <a:r>
              <a:rPr lang="en-US" altLang="zh-CN" sz="2000" b="1" dirty="0">
                <a:latin typeface="黑体" panose="02010609060101010101" pitchFamily="49" charset="-122"/>
                <a:ea typeface="黑体" panose="02010609060101010101" pitchFamily="49" charset="-122"/>
              </a:rPr>
              <a:t>y=x</a:t>
            </a:r>
            <a:r>
              <a:rPr altLang="en-US" sz="2000" b="1" dirty="0">
                <a:latin typeface="黑体" panose="02010609060101010101" pitchFamily="49" charset="-122"/>
                <a:ea typeface="黑体" panose="02010609060101010101" pitchFamily="49" charset="-122"/>
              </a:rPr>
              <a:t>上的点。这条对角线上的点其实表示的是一个采用随机猜测策略的分类器的结果，例如</a:t>
            </a:r>
            <a:r>
              <a:rPr lang="en-US" altLang="zh-CN" sz="2000" b="1" dirty="0">
                <a:latin typeface="黑体" panose="02010609060101010101" pitchFamily="49" charset="-122"/>
                <a:ea typeface="黑体" panose="02010609060101010101" pitchFamily="49" charset="-122"/>
              </a:rPr>
              <a:t>(0.5,0.5)</a:t>
            </a:r>
            <a:r>
              <a:rPr altLang="en-US" sz="2000" b="1" dirty="0">
                <a:latin typeface="黑体" panose="02010609060101010101" pitchFamily="49" charset="-122"/>
                <a:ea typeface="黑体" panose="02010609060101010101" pitchFamily="49" charset="-122"/>
              </a:rPr>
              <a:t>，表示该分类器随机对于一半的样本猜测其为正样本，另外一半的样本为负样本。</a:t>
            </a:r>
            <a:endParaRPr altLang="en-US" sz="2000" b="1" dirty="0">
              <a:latin typeface="黑体" panose="02010609060101010101" pitchFamily="49" charset="-122"/>
              <a:ea typeface="黑体" panose="02010609060101010101" pitchFamily="49" charset="-122"/>
            </a:endParaRPr>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968677" y="548680"/>
            <a:ext cx="3744416" cy="1339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791393" y="908720"/>
            <a:ext cx="7885509" cy="514350"/>
          </a:xfrm>
        </p:spPr>
        <p:txBody>
          <a:bodyPr vert="horz" lIns="91440" tIns="45720" rIns="91440" bIns="45720" rtlCol="0" anchor="b">
            <a:noAutofit/>
          </a:bodyPr>
          <a:lstStyle/>
          <a:p>
            <a:pPr algn="ctr">
              <a:spcBef>
                <a:spcPct val="0"/>
              </a:spcBef>
            </a:pPr>
            <a:r>
              <a:rPr lang="en-US" altLang="zh-CN" sz="4000" dirty="0">
                <a:latin typeface="黑体" panose="02010609060101010101" pitchFamily="49" charset="-122"/>
                <a:ea typeface="黑体" panose="02010609060101010101" pitchFamily="49" charset="-122"/>
                <a:cs typeface="+mj-cs"/>
              </a:rPr>
              <a:t>AUC</a:t>
            </a:r>
            <a:r>
              <a:rPr altLang="en-US" sz="4000" dirty="0">
                <a:latin typeface="黑体" panose="02010609060101010101" pitchFamily="49" charset="-122"/>
                <a:ea typeface="黑体" panose="02010609060101010101" pitchFamily="49" charset="-122"/>
                <a:cs typeface="+mj-cs"/>
              </a:rPr>
              <a:t>指标</a:t>
            </a:r>
            <a:endParaRPr altLang="en-US" sz="4000" dirty="0">
              <a:latin typeface="黑体" panose="02010609060101010101" pitchFamily="49" charset="-122"/>
              <a:ea typeface="黑体" panose="02010609060101010101" pitchFamily="49" charset="-122"/>
              <a:cs typeface="+mj-cs"/>
            </a:endParaRPr>
          </a:p>
        </p:txBody>
      </p:sp>
      <p:sp>
        <p:nvSpPr>
          <p:cNvPr id="64515" name="内容占位符 9"/>
          <p:cNvSpPr>
            <a:spLocks noGrp="1"/>
          </p:cNvSpPr>
          <p:nvPr>
            <p:ph sz="half" idx="2"/>
          </p:nvPr>
        </p:nvSpPr>
        <p:spPr>
          <a:xfrm>
            <a:off x="610791" y="1414220"/>
            <a:ext cx="8533209" cy="4464496"/>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a:t>
            </a:r>
            <a:r>
              <a:rPr lang="en-US" altLang="zh-CN" sz="2000" b="1" dirty="0" err="1">
                <a:latin typeface="黑体" panose="02010609060101010101" pitchFamily="49" charset="-122"/>
                <a:ea typeface="黑体" panose="02010609060101010101" pitchFamily="49" charset="-122"/>
              </a:rPr>
              <a:t>Area</a:t>
            </a:r>
            <a:r>
              <a:rPr lang="en-US" altLang="zh-CN" sz="2000" b="1" dirty="0">
                <a:latin typeface="黑体" panose="02010609060101010101" pitchFamily="49" charset="-122"/>
                <a:ea typeface="黑体" panose="02010609060101010101" pitchFamily="49" charset="-122"/>
              </a:rPr>
              <a:t> Under Curve</a:t>
            </a:r>
            <a:r>
              <a:rPr altLang="en-US" sz="2000" b="1" dirty="0">
                <a:latin typeface="黑体" panose="02010609060101010101" pitchFamily="49" charset="-122"/>
                <a:ea typeface="黑体" panose="02010609060101010101" pitchFamily="49" charset="-122"/>
              </a:rPr>
              <a:t>）被定义为</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曲线下的面积，显然这个面积的数值不会大于</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。又由于</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曲线一般都处于</a:t>
            </a:r>
            <a:r>
              <a:rPr lang="en-US" altLang="zh-CN" sz="2000" b="1" dirty="0">
                <a:latin typeface="黑体" panose="02010609060101010101" pitchFamily="49" charset="-122"/>
                <a:ea typeface="黑体" panose="02010609060101010101" pitchFamily="49" charset="-122"/>
              </a:rPr>
              <a:t>y=x</a:t>
            </a:r>
            <a:r>
              <a:rPr altLang="en-US" sz="2000" b="1" dirty="0">
                <a:latin typeface="黑体" panose="02010609060101010101" pitchFamily="49" charset="-122"/>
                <a:ea typeface="黑体" panose="02010609060101010101" pitchFamily="49" charset="-122"/>
              </a:rPr>
              <a:t>这条直线的上方，所以</a:t>
            </a:r>
            <a:r>
              <a:rPr lang="en-US" altLang="zh-CN" sz="2000" b="1" dirty="0">
                <a:solidFill>
                  <a:srgbClr val="C00000"/>
                </a:solidFill>
                <a:latin typeface="黑体" panose="02010609060101010101" pitchFamily="49" charset="-122"/>
                <a:ea typeface="黑体" panose="02010609060101010101" pitchFamily="49" charset="-122"/>
              </a:rPr>
              <a:t>AUC</a:t>
            </a:r>
            <a:r>
              <a:rPr altLang="en-US" sz="2000" b="1" dirty="0">
                <a:solidFill>
                  <a:srgbClr val="C00000"/>
                </a:solidFill>
                <a:latin typeface="黑体" panose="02010609060101010101" pitchFamily="49" charset="-122"/>
                <a:ea typeface="黑体" panose="02010609060101010101" pitchFamily="49" charset="-122"/>
              </a:rPr>
              <a:t>的取值范围在</a:t>
            </a:r>
            <a:r>
              <a:rPr lang="en-US" altLang="zh-CN" sz="2000" b="1" dirty="0">
                <a:solidFill>
                  <a:srgbClr val="C00000"/>
                </a:solidFill>
                <a:latin typeface="黑体" panose="02010609060101010101" pitchFamily="49" charset="-122"/>
                <a:ea typeface="黑体" panose="02010609060101010101" pitchFamily="49" charset="-122"/>
              </a:rPr>
              <a:t>0.5</a:t>
            </a:r>
            <a:r>
              <a:rPr altLang="en-US" sz="2000" b="1" dirty="0">
                <a:solidFill>
                  <a:srgbClr val="C00000"/>
                </a:solidFill>
                <a:latin typeface="黑体" panose="02010609060101010101" pitchFamily="49" charset="-122"/>
                <a:ea typeface="黑体" panose="02010609060101010101" pitchFamily="49" charset="-122"/>
              </a:rPr>
              <a:t>和</a:t>
            </a:r>
            <a:r>
              <a:rPr lang="en-US" altLang="zh-CN" sz="2000" b="1" dirty="0">
                <a:solidFill>
                  <a:srgbClr val="C00000"/>
                </a:solidFill>
                <a:latin typeface="黑体" panose="02010609060101010101" pitchFamily="49" charset="-122"/>
                <a:ea typeface="黑体" panose="02010609060101010101" pitchFamily="49" charset="-122"/>
              </a:rPr>
              <a:t>1</a:t>
            </a:r>
            <a:r>
              <a:rPr altLang="en-US" sz="2000" b="1" dirty="0">
                <a:solidFill>
                  <a:srgbClr val="C00000"/>
                </a:solidFill>
                <a:latin typeface="黑体" panose="02010609060101010101" pitchFamily="49" charset="-122"/>
                <a:ea typeface="黑体" panose="02010609060101010101" pitchFamily="49" charset="-122"/>
              </a:rPr>
              <a:t>之间</a:t>
            </a:r>
            <a:r>
              <a:rPr altLang="en-US" sz="2000" b="1" dirty="0">
                <a:latin typeface="黑体" panose="02010609060101010101" pitchFamily="49" charset="-122"/>
                <a:ea typeface="黑体" panose="02010609060101010101" pitchFamily="49" charset="-122"/>
              </a:rPr>
              <a:t>。使用</a:t>
            </a:r>
            <a:r>
              <a:rPr lang="en-US" altLang="zh-CN" sz="2000" b="1" dirty="0">
                <a:latin typeface="黑体" panose="02010609060101010101" pitchFamily="49" charset="-122"/>
                <a:ea typeface="黑体" panose="02010609060101010101" pitchFamily="49" charset="-122"/>
              </a:rPr>
              <a:t>AUC</a:t>
            </a:r>
            <a:r>
              <a:rPr altLang="en-US" sz="2000" b="1" dirty="0">
                <a:latin typeface="黑体" panose="02010609060101010101" pitchFamily="49" charset="-122"/>
                <a:ea typeface="黑体" panose="02010609060101010101" pitchFamily="49" charset="-122"/>
              </a:rPr>
              <a:t>值作为评价标准是因为很多时候</a:t>
            </a:r>
            <a:r>
              <a:rPr lang="en-US" altLang="zh-CN" sz="2000" b="1" dirty="0">
                <a:latin typeface="黑体" panose="02010609060101010101" pitchFamily="49" charset="-122"/>
                <a:ea typeface="黑体" panose="02010609060101010101" pitchFamily="49" charset="-122"/>
              </a:rPr>
              <a:t>ROC</a:t>
            </a:r>
            <a:r>
              <a:rPr altLang="en-US" sz="2000" b="1" dirty="0">
                <a:latin typeface="黑体" panose="02010609060101010101" pitchFamily="49" charset="-122"/>
                <a:ea typeface="黑体" panose="02010609060101010101" pitchFamily="49" charset="-122"/>
              </a:rPr>
              <a:t>曲线并不能清晰的说明哪个分类器的效果更好，而</a:t>
            </a:r>
            <a:r>
              <a:rPr lang="en-US" altLang="zh-CN" sz="2000" b="1" dirty="0">
                <a:solidFill>
                  <a:srgbClr val="C00000"/>
                </a:solidFill>
                <a:latin typeface="黑体" panose="02010609060101010101" pitchFamily="49" charset="-122"/>
                <a:ea typeface="黑体" panose="02010609060101010101" pitchFamily="49" charset="-122"/>
              </a:rPr>
              <a:t>AUC</a:t>
            </a:r>
            <a:r>
              <a:rPr altLang="en-US" sz="2000" b="1" dirty="0">
                <a:solidFill>
                  <a:srgbClr val="C00000"/>
                </a:solidFill>
                <a:latin typeface="黑体" panose="02010609060101010101" pitchFamily="49" charset="-122"/>
                <a:ea typeface="黑体" panose="02010609060101010101" pitchFamily="49" charset="-122"/>
              </a:rPr>
              <a:t>作为数值可以直观的评价分类器的好坏，值越大越好</a:t>
            </a:r>
            <a:r>
              <a:rPr altLang="en-US" sz="2000" b="1" dirty="0">
                <a:latin typeface="黑体" panose="02010609060101010101" pitchFamily="49" charset="-122"/>
                <a:ea typeface="黑体" panose="02010609060101010101" pitchFamily="49" charset="-122"/>
              </a:rPr>
              <a:t>。</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a:latin typeface="黑体" panose="02010609060101010101" pitchFamily="49" charset="-122"/>
                <a:ea typeface="黑体" panose="02010609060101010101" pitchFamily="49" charset="-122"/>
              </a:rPr>
              <a:t>首先</a:t>
            </a:r>
            <a:r>
              <a:rPr lang="en-US" altLang="zh-CN" sz="2000" b="1" dirty="0">
                <a:latin typeface="黑体" panose="02010609060101010101" pitchFamily="49" charset="-122"/>
                <a:ea typeface="黑体" panose="02010609060101010101" pitchFamily="49" charset="-122"/>
              </a:rPr>
              <a:t>AUC</a:t>
            </a:r>
            <a:r>
              <a:rPr altLang="en-US" sz="2000" b="1" dirty="0">
                <a:latin typeface="黑体" panose="02010609060101010101" pitchFamily="49" charset="-122"/>
                <a:ea typeface="黑体" panose="02010609060101010101" pitchFamily="49" charset="-122"/>
              </a:rPr>
              <a:t>值是一个概率值，当随机挑选一个正样本以及一个负样本，当前的分类算法根据计算得到的</a:t>
            </a:r>
            <a:r>
              <a:rPr lang="en-US" altLang="zh-CN" sz="2000" b="1" dirty="0">
                <a:latin typeface="黑体" panose="02010609060101010101" pitchFamily="49" charset="-122"/>
                <a:ea typeface="黑体" panose="02010609060101010101" pitchFamily="49" charset="-122"/>
              </a:rPr>
              <a:t>Score</a:t>
            </a:r>
            <a:r>
              <a:rPr altLang="en-US" sz="2000" b="1" dirty="0">
                <a:latin typeface="黑体" panose="02010609060101010101" pitchFamily="49" charset="-122"/>
                <a:ea typeface="黑体" panose="02010609060101010101" pitchFamily="49" charset="-122"/>
              </a:rPr>
              <a:t>值将这个正样本排在负样本前面的概率就是</a:t>
            </a:r>
            <a:r>
              <a:rPr lang="en-US" altLang="zh-CN" sz="2000" b="1" dirty="0">
                <a:latin typeface="黑体" panose="02010609060101010101" pitchFamily="49" charset="-122"/>
                <a:ea typeface="黑体" panose="02010609060101010101" pitchFamily="49" charset="-122"/>
              </a:rPr>
              <a:t>AUC</a:t>
            </a:r>
            <a:r>
              <a:rPr altLang="en-US" sz="2000" b="1" dirty="0">
                <a:latin typeface="黑体" panose="02010609060101010101" pitchFamily="49" charset="-122"/>
                <a:ea typeface="黑体" panose="02010609060101010101" pitchFamily="49" charset="-122"/>
              </a:rPr>
              <a:t>值。当然，</a:t>
            </a:r>
            <a:r>
              <a:rPr lang="en-US" altLang="zh-CN" sz="2000" b="1" dirty="0">
                <a:latin typeface="黑体" panose="02010609060101010101" pitchFamily="49" charset="-122"/>
                <a:ea typeface="黑体" panose="02010609060101010101" pitchFamily="49" charset="-122"/>
              </a:rPr>
              <a:t>AUC</a:t>
            </a:r>
            <a:r>
              <a:rPr altLang="en-US" sz="2000" b="1" dirty="0">
                <a:latin typeface="黑体" panose="02010609060101010101" pitchFamily="49" charset="-122"/>
                <a:ea typeface="黑体" panose="02010609060101010101" pitchFamily="49" charset="-122"/>
              </a:rPr>
              <a:t>值越大，当前的分类算法越有可能将正样本排在负样本前面，即能够更好的分类。</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endParaRPr altLang="en-US" sz="2000" dirty="0">
              <a:latin typeface="幼圆" panose="02010509060101010101" pitchFamily="49" charset="-122"/>
              <a:ea typeface="幼圆" panose="02010509060101010101" pitchFamily="49" charset="-122"/>
            </a:endParaRPr>
          </a:p>
          <a:p>
            <a:pPr>
              <a:lnSpc>
                <a:spcPct val="150000"/>
              </a:lnSpc>
              <a:buClr>
                <a:srgbClr val="00B050"/>
              </a:buClr>
              <a:buFont typeface="Wingdings" panose="05000000000000000000" pitchFamily="2" charset="2"/>
              <a:buChar char="p"/>
            </a:pPr>
            <a:endParaRPr altLang="en-US" sz="2000"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629245" y="908720"/>
            <a:ext cx="7885509" cy="514350"/>
          </a:xfrm>
        </p:spPr>
        <p:txBody>
          <a:bodyPr vert="horz" lIns="91440" tIns="45720" rIns="91440" bIns="45720" rtlCol="0" anchor="b">
            <a:noAutofit/>
          </a:bodyPr>
          <a:lstStyle/>
          <a:p>
            <a:pPr algn="ctr">
              <a:spcBef>
                <a:spcPct val="0"/>
              </a:spcBef>
            </a:pPr>
            <a:r>
              <a:rPr lang="en-US" altLang="zh-CN" sz="4000" dirty="0">
                <a:latin typeface="黑体" panose="02010609060101010101" pitchFamily="49" charset="-122"/>
                <a:ea typeface="黑体" panose="02010609060101010101" pitchFamily="49" charset="-122"/>
                <a:cs typeface="+mj-cs"/>
              </a:rPr>
              <a:t>AUC</a:t>
            </a:r>
            <a:r>
              <a:rPr altLang="en-US" sz="4000" dirty="0">
                <a:latin typeface="黑体" panose="02010609060101010101" pitchFamily="49" charset="-122"/>
                <a:ea typeface="黑体" panose="02010609060101010101" pitchFamily="49" charset="-122"/>
                <a:cs typeface="+mj-cs"/>
              </a:rPr>
              <a:t>指标</a:t>
            </a:r>
            <a:endParaRPr altLang="en-US" sz="4000" dirty="0">
              <a:latin typeface="黑体" panose="02010609060101010101" pitchFamily="49" charset="-122"/>
              <a:ea typeface="黑体" panose="02010609060101010101" pitchFamily="49" charset="-122"/>
              <a:cs typeface="+mj-cs"/>
            </a:endParaRPr>
          </a:p>
        </p:txBody>
      </p:sp>
      <p:sp>
        <p:nvSpPr>
          <p:cNvPr id="65539" name="内容占位符 9"/>
          <p:cNvSpPr>
            <a:spLocks noGrp="1"/>
          </p:cNvSpPr>
          <p:nvPr>
            <p:ph sz="half" idx="2"/>
          </p:nvPr>
        </p:nvSpPr>
        <p:spPr>
          <a:xfrm>
            <a:off x="52785" y="1628800"/>
            <a:ext cx="9199735" cy="4662685"/>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值为</a:t>
            </a:r>
            <a:r>
              <a:rPr lang="en-US" altLang="zh-CN" sz="2000" b="1" dirty="0" err="1">
                <a:latin typeface="黑体" panose="02010609060101010101" pitchFamily="49" charset="-122"/>
                <a:ea typeface="黑体" panose="02010609060101010101" pitchFamily="49" charset="-122"/>
              </a:rPr>
              <a:t>ROC</a:t>
            </a:r>
            <a:r>
              <a:rPr altLang="en-US" sz="2000" b="1" dirty="0" err="1">
                <a:latin typeface="黑体" panose="02010609060101010101" pitchFamily="49" charset="-122"/>
                <a:ea typeface="黑体" panose="02010609060101010101" pitchFamily="49" charset="-122"/>
              </a:rPr>
              <a:t>曲线所覆盖的区域面积，显然，</a:t>
            </a: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越大，分类器分类效果越好</a:t>
            </a:r>
            <a:r>
              <a:rPr altLang="en-US" sz="2000" b="1" dirty="0">
                <a:latin typeface="黑体" panose="02010609060101010101" pitchFamily="49" charset="-122"/>
                <a:ea typeface="黑体" panose="02010609060101010101" pitchFamily="49" charset="-122"/>
              </a:rPr>
              <a:t>。</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AUC = 1</a:t>
            </a:r>
            <a:r>
              <a:rPr altLang="en-US" sz="2000" b="1" dirty="0">
                <a:latin typeface="黑体" panose="02010609060101010101" pitchFamily="49" charset="-122"/>
                <a:ea typeface="黑体" panose="02010609060101010101" pitchFamily="49" charset="-122"/>
              </a:rPr>
              <a:t>，是完美分类器，采用这个预测模型时，不管设定什么阈值都能得出完美预测。绝大多数预测的场合，不存在完美分类器。</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0.5 &lt; AUC &lt; 1</a:t>
            </a:r>
            <a:r>
              <a:rPr altLang="en-US" sz="2000" b="1" dirty="0">
                <a:latin typeface="黑体" panose="02010609060101010101" pitchFamily="49" charset="-122"/>
                <a:ea typeface="黑体" panose="02010609060101010101" pitchFamily="49" charset="-122"/>
              </a:rPr>
              <a:t>，优于随机猜测。这个分类器（模型）妥善设定阈值的话，能有预测价值。</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AUC = 0.5</a:t>
            </a:r>
            <a:r>
              <a:rPr altLang="en-US" sz="2000" b="1" dirty="0">
                <a:latin typeface="黑体" panose="02010609060101010101" pitchFamily="49" charset="-122"/>
                <a:ea typeface="黑体" panose="02010609060101010101" pitchFamily="49" charset="-122"/>
              </a:rPr>
              <a:t>，跟随机猜测一样（例：丢铜板），</a:t>
            </a:r>
            <a:r>
              <a:rPr altLang="en-US" sz="2000" b="1" dirty="0" err="1">
                <a:latin typeface="黑体" panose="02010609060101010101" pitchFamily="49" charset="-122"/>
                <a:ea typeface="黑体" panose="02010609060101010101" pitchFamily="49" charset="-122"/>
              </a:rPr>
              <a:t>模型没有预测价值</a:t>
            </a:r>
            <a:r>
              <a:rPr altLang="en-US" sz="2000" b="1" dirty="0">
                <a:latin typeface="黑体" panose="02010609060101010101" pitchFamily="49" charset="-122"/>
                <a:ea typeface="黑体" panose="02010609060101010101" pitchFamily="49" charset="-122"/>
              </a:rPr>
              <a:t>。</a:t>
            </a:r>
            <a:br>
              <a:rPr altLang="en-US" sz="2000" b="1" dirty="0">
                <a:latin typeface="黑体" panose="02010609060101010101" pitchFamily="49" charset="-122"/>
                <a:ea typeface="黑体" panose="02010609060101010101" pitchFamily="49" charset="-122"/>
              </a:rPr>
            </a:br>
            <a:r>
              <a:rPr lang="en-US" altLang="zh-CN" sz="2000" b="1" dirty="0">
                <a:latin typeface="黑体" panose="02010609060101010101" pitchFamily="49" charset="-122"/>
                <a:ea typeface="黑体" panose="02010609060101010101" pitchFamily="49" charset="-122"/>
              </a:rPr>
              <a:t>AUC &lt; 0.5</a:t>
            </a:r>
            <a:r>
              <a:rPr altLang="en-US" sz="2000" b="1" dirty="0">
                <a:latin typeface="黑体" panose="02010609060101010101" pitchFamily="49" charset="-122"/>
                <a:ea typeface="黑体" panose="02010609060101010101" pitchFamily="49" charset="-122"/>
              </a:rPr>
              <a:t>，比随机猜测还差；但只要总是反预测而行，就优于随机猜测。</a:t>
            </a:r>
            <a:br>
              <a:rPr altLang="en-US" sz="2000" b="1" dirty="0">
                <a:latin typeface="黑体" panose="02010609060101010101" pitchFamily="49" charset="-122"/>
                <a:ea typeface="黑体" panose="02010609060101010101" pitchFamily="49" charset="-122"/>
              </a:rPr>
            </a:br>
            <a:r>
              <a:rPr altLang="en-US" sz="2000" b="1" dirty="0" err="1">
                <a:latin typeface="黑体" panose="02010609060101010101" pitchFamily="49" charset="-122"/>
                <a:ea typeface="黑体" panose="02010609060101010101" pitchFamily="49" charset="-122"/>
              </a:rPr>
              <a:t>以下示例三种</a:t>
            </a: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值（曲线下面积</a:t>
            </a:r>
            <a:r>
              <a:rPr altLang="en-US" sz="2000" b="1" dirty="0">
                <a:latin typeface="黑体" panose="02010609060101010101" pitchFamily="49" charset="-122"/>
                <a:ea typeface="黑体" panose="02010609060101010101" pitchFamily="49" charset="-122"/>
              </a:rPr>
              <a:t>）：</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endParaRPr altLang="en-US" sz="2000" dirty="0">
              <a:latin typeface="幼圆" panose="02010509060101010101" pitchFamily="49" charset="-122"/>
              <a:ea typeface="幼圆" panose="02010509060101010101" pitchFamily="49" charset="-122"/>
            </a:endParaRPr>
          </a:p>
          <a:p>
            <a:pPr>
              <a:lnSpc>
                <a:spcPct val="150000"/>
              </a:lnSpc>
              <a:buClr>
                <a:srgbClr val="00B050"/>
              </a:buClr>
              <a:buFont typeface="Wingdings" panose="05000000000000000000" pitchFamily="2" charset="2"/>
              <a:buChar char="p"/>
            </a:pPr>
            <a:endParaRPr altLang="en-US" sz="2000"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305991" y="944166"/>
            <a:ext cx="7885509" cy="514350"/>
          </a:xfrm>
        </p:spPr>
        <p:txBody>
          <a:bodyPr vert="horz" lIns="91440" tIns="45720" rIns="91440" bIns="45720" rtlCol="0" anchor="b">
            <a:noAutofit/>
          </a:bodyPr>
          <a:lstStyle/>
          <a:p>
            <a:pPr algn="ctr">
              <a:spcBef>
                <a:spcPct val="0"/>
              </a:spcBef>
            </a:pPr>
            <a:r>
              <a:rPr lang="en-US" altLang="zh-CN" sz="4000" dirty="0">
                <a:latin typeface="黑体" panose="02010609060101010101" pitchFamily="49" charset="-122"/>
                <a:ea typeface="黑体" panose="02010609060101010101" pitchFamily="49" charset="-122"/>
                <a:cs typeface="+mj-cs"/>
              </a:rPr>
              <a:t>AUC</a:t>
            </a:r>
            <a:r>
              <a:rPr altLang="en-US" sz="4000" dirty="0">
                <a:latin typeface="黑体" panose="02010609060101010101" pitchFamily="49" charset="-122"/>
                <a:ea typeface="黑体" panose="02010609060101010101" pitchFamily="49" charset="-122"/>
                <a:cs typeface="+mj-cs"/>
              </a:rPr>
              <a:t>物理意义</a:t>
            </a:r>
            <a:endParaRPr altLang="en-US" sz="4000" dirty="0">
              <a:latin typeface="黑体" panose="02010609060101010101" pitchFamily="49" charset="-122"/>
              <a:ea typeface="黑体" panose="02010609060101010101" pitchFamily="49" charset="-122"/>
              <a:cs typeface="+mj-cs"/>
            </a:endParaRPr>
          </a:p>
        </p:txBody>
      </p:sp>
      <p:sp>
        <p:nvSpPr>
          <p:cNvPr id="66563" name="内容占位符 9"/>
          <p:cNvSpPr>
            <a:spLocks noGrp="1"/>
          </p:cNvSpPr>
          <p:nvPr>
            <p:ph sz="half" idx="2"/>
          </p:nvPr>
        </p:nvSpPr>
        <p:spPr>
          <a:xfrm>
            <a:off x="89297" y="1646635"/>
            <a:ext cx="8533209" cy="3618309"/>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altLang="en-US" sz="2000" b="1" dirty="0" err="1">
                <a:latin typeface="黑体" panose="02010609060101010101" pitchFamily="49" charset="-122"/>
                <a:ea typeface="黑体" panose="02010609060101010101" pitchFamily="49" charset="-122"/>
              </a:rPr>
              <a:t>假设分类器的输出是样本属于正类的</a:t>
            </a:r>
            <a:r>
              <a:rPr lang="en-US" altLang="zh-CN" sz="2000" b="1" dirty="0" err="1">
                <a:latin typeface="黑体" panose="02010609060101010101" pitchFamily="49" charset="-122"/>
                <a:ea typeface="黑体" panose="02010609060101010101" pitchFamily="49" charset="-122"/>
              </a:rPr>
              <a:t>score</a:t>
            </a:r>
            <a:r>
              <a:rPr altLang="en-US" sz="2000" b="1" dirty="0" err="1">
                <a:latin typeface="黑体" panose="02010609060101010101" pitchFamily="49" charset="-122"/>
                <a:ea typeface="黑体" panose="02010609060101010101" pitchFamily="49" charset="-122"/>
              </a:rPr>
              <a:t>（置信度</a:t>
            </a:r>
            <a:r>
              <a:rPr altLang="en-US" sz="2000" b="1" dirty="0">
                <a:latin typeface="黑体" panose="02010609060101010101" pitchFamily="49" charset="-122"/>
                <a:ea typeface="黑体" panose="02010609060101010101" pitchFamily="49" charset="-122"/>
              </a:rPr>
              <a:t>），</a:t>
            </a:r>
            <a:r>
              <a:rPr altLang="en-US" sz="2000" b="1" dirty="0" err="1">
                <a:latin typeface="黑体" panose="02010609060101010101" pitchFamily="49" charset="-122"/>
                <a:ea typeface="黑体" panose="02010609060101010101" pitchFamily="49" charset="-122"/>
              </a:rPr>
              <a:t>则</a:t>
            </a: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的物理意义为，任取一对（正、负）样本，正样本的</a:t>
            </a:r>
            <a:r>
              <a:rPr lang="en-US" altLang="zh-CN" sz="2000" b="1" dirty="0" err="1">
                <a:latin typeface="黑体" panose="02010609060101010101" pitchFamily="49" charset="-122"/>
                <a:ea typeface="黑体" panose="02010609060101010101" pitchFamily="49" charset="-122"/>
              </a:rPr>
              <a:t>score</a:t>
            </a:r>
            <a:r>
              <a:rPr altLang="en-US" sz="2000" b="1" dirty="0" err="1">
                <a:latin typeface="黑体" panose="02010609060101010101" pitchFamily="49" charset="-122"/>
                <a:ea typeface="黑体" panose="02010609060101010101" pitchFamily="49" charset="-122"/>
              </a:rPr>
              <a:t>大于负样本的</a:t>
            </a:r>
            <a:r>
              <a:rPr lang="en-US" altLang="zh-CN" sz="2000" b="1" dirty="0" err="1">
                <a:latin typeface="黑体" panose="02010609060101010101" pitchFamily="49" charset="-122"/>
                <a:ea typeface="黑体" panose="02010609060101010101" pitchFamily="49" charset="-122"/>
              </a:rPr>
              <a:t>score</a:t>
            </a:r>
            <a:r>
              <a:rPr altLang="en-US" sz="2000" b="1" dirty="0" err="1">
                <a:latin typeface="黑体" panose="02010609060101010101" pitchFamily="49" charset="-122"/>
                <a:ea typeface="黑体" panose="02010609060101010101" pitchFamily="49" charset="-122"/>
              </a:rPr>
              <a:t>的概率</a:t>
            </a:r>
            <a:r>
              <a:rPr altLang="en-US" sz="2000" b="1" dirty="0">
                <a:latin typeface="黑体" panose="02010609060101010101" pitchFamily="49" charset="-122"/>
                <a:ea typeface="黑体" panose="02010609060101010101" pitchFamily="49" charset="-122"/>
              </a:rPr>
              <a:t>。</a:t>
            </a:r>
            <a:endParaRPr altLang="en-US"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endParaRPr altLang="en-US" sz="2000" dirty="0">
              <a:latin typeface="幼圆" panose="02010509060101010101" pitchFamily="49" charset="-122"/>
              <a:ea typeface="幼圆" panose="02010509060101010101" pitchFamily="49" charset="-122"/>
            </a:endParaRPr>
          </a:p>
        </p:txBody>
      </p:sp>
      <p:pic>
        <p:nvPicPr>
          <p:cNvPr id="6656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3021305"/>
            <a:ext cx="6984776" cy="334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305991" y="944166"/>
            <a:ext cx="7885509" cy="514350"/>
          </a:xfrm>
        </p:spPr>
        <p:txBody>
          <a:bodyPr vert="horz" lIns="91440" tIns="45720" rIns="91440" bIns="45720" rtlCol="0" anchor="b">
            <a:noAutofit/>
          </a:bodyPr>
          <a:lstStyle/>
          <a:p>
            <a:pPr algn="ctr">
              <a:spcBef>
                <a:spcPct val="0"/>
              </a:spcBef>
            </a:pPr>
            <a:r>
              <a:rPr altLang="en-US" sz="4000" dirty="0">
                <a:latin typeface="黑体" panose="02010609060101010101" pitchFamily="49" charset="-122"/>
                <a:ea typeface="黑体" panose="02010609060101010101" pitchFamily="49" charset="-122"/>
                <a:cs typeface="+mj-cs"/>
              </a:rPr>
              <a:t>为什么需要</a:t>
            </a:r>
            <a:r>
              <a:rPr lang="en-US" altLang="zh-CN" sz="4000" dirty="0">
                <a:latin typeface="黑体" panose="02010609060101010101" pitchFamily="49" charset="-122"/>
                <a:ea typeface="黑体" panose="02010609060101010101" pitchFamily="49" charset="-122"/>
                <a:cs typeface="+mj-cs"/>
              </a:rPr>
              <a:t>ROC</a:t>
            </a:r>
            <a:r>
              <a:rPr altLang="en-US" sz="4000" dirty="0">
                <a:latin typeface="黑体" panose="02010609060101010101" pitchFamily="49" charset="-122"/>
                <a:ea typeface="黑体" panose="02010609060101010101" pitchFamily="49" charset="-122"/>
                <a:cs typeface="+mj-cs"/>
              </a:rPr>
              <a:t>和</a:t>
            </a:r>
            <a:r>
              <a:rPr lang="en-US" altLang="zh-CN" sz="4000" dirty="0">
                <a:latin typeface="黑体" panose="02010609060101010101" pitchFamily="49" charset="-122"/>
                <a:ea typeface="黑体" panose="02010609060101010101" pitchFamily="49" charset="-122"/>
                <a:cs typeface="+mj-cs"/>
              </a:rPr>
              <a:t>AUC</a:t>
            </a:r>
            <a:endParaRPr altLang="en-US" sz="4000" dirty="0">
              <a:latin typeface="黑体" panose="02010609060101010101" pitchFamily="49" charset="-122"/>
              <a:ea typeface="黑体" panose="02010609060101010101" pitchFamily="49" charset="-122"/>
              <a:cs typeface="+mj-cs"/>
            </a:endParaRPr>
          </a:p>
        </p:txBody>
      </p:sp>
      <p:sp>
        <p:nvSpPr>
          <p:cNvPr id="67587" name="内容占位符 9"/>
          <p:cNvSpPr>
            <a:spLocks noGrp="1"/>
          </p:cNvSpPr>
          <p:nvPr>
            <p:ph sz="half" idx="2"/>
          </p:nvPr>
        </p:nvSpPr>
        <p:spPr>
          <a:xfrm>
            <a:off x="611560" y="1772816"/>
            <a:ext cx="7920880" cy="3744416"/>
          </a:xfrm>
        </p:spPr>
        <p:txBody>
          <a:bodyPr vert="horz" lIns="91440" tIns="45720" rIns="91440" bIns="45720" rtlCol="0">
            <a:noAutofit/>
          </a:bodyPr>
          <a:lstStyle/>
          <a:p>
            <a:pPr>
              <a:lnSpc>
                <a:spcPct val="150000"/>
              </a:lnSpc>
              <a:buClr>
                <a:srgbClr val="00B050"/>
              </a:buClr>
              <a:buFont typeface="Wingdings" panose="05000000000000000000" pitchFamily="2" charset="2"/>
              <a:buChar char="p"/>
            </a:pPr>
            <a:r>
              <a:rPr altLang="en-US" sz="2000" b="1" dirty="0" err="1">
                <a:latin typeface="黑体" panose="02010609060101010101" pitchFamily="49" charset="-122"/>
                <a:ea typeface="黑体" panose="02010609060101010101" pitchFamily="49" charset="-122"/>
              </a:rPr>
              <a:t>既然已经有这么多评价标准，为什么还要使用</a:t>
            </a:r>
            <a:r>
              <a:rPr lang="en-US" altLang="zh-CN" sz="2000" b="1" dirty="0" err="1">
                <a:latin typeface="黑体" panose="02010609060101010101" pitchFamily="49" charset="-122"/>
                <a:ea typeface="黑体" panose="02010609060101010101" pitchFamily="49" charset="-122"/>
              </a:rPr>
              <a:t>ROC</a:t>
            </a:r>
            <a:r>
              <a:rPr altLang="en-US" sz="2000" b="1" dirty="0" err="1">
                <a:latin typeface="黑体" panose="02010609060101010101" pitchFamily="49" charset="-122"/>
                <a:ea typeface="黑体" panose="02010609060101010101" pitchFamily="49" charset="-122"/>
              </a:rPr>
              <a:t>和</a:t>
            </a:r>
            <a:r>
              <a:rPr lang="en-US" altLang="zh-CN" sz="2000" b="1" dirty="0" err="1">
                <a:latin typeface="黑体" panose="02010609060101010101" pitchFamily="49" charset="-122"/>
                <a:ea typeface="黑体" panose="02010609060101010101" pitchFamily="49" charset="-122"/>
              </a:rPr>
              <a:t>AUC</a:t>
            </a:r>
            <a:r>
              <a:rPr altLang="en-US" sz="2000" b="1" dirty="0" err="1">
                <a:latin typeface="黑体" panose="02010609060101010101" pitchFamily="49" charset="-122"/>
                <a:ea typeface="黑体" panose="02010609060101010101" pitchFamily="49" charset="-122"/>
              </a:rPr>
              <a:t>呢</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err="1">
                <a:latin typeface="黑体" panose="02010609060101010101" pitchFamily="49" charset="-122"/>
                <a:ea typeface="黑体" panose="02010609060101010101" pitchFamily="49" charset="-122"/>
              </a:rPr>
              <a:t>因为</a:t>
            </a:r>
            <a:r>
              <a:rPr lang="en-US" altLang="zh-CN" sz="2000" b="1" dirty="0" err="1">
                <a:latin typeface="黑体" panose="02010609060101010101" pitchFamily="49" charset="-122"/>
                <a:ea typeface="黑体" panose="02010609060101010101" pitchFamily="49" charset="-122"/>
              </a:rPr>
              <a:t>ROC</a:t>
            </a:r>
            <a:r>
              <a:rPr altLang="en-US" sz="2000" b="1" dirty="0" err="1">
                <a:latin typeface="黑体" panose="02010609060101010101" pitchFamily="49" charset="-122"/>
                <a:ea typeface="黑体" panose="02010609060101010101" pitchFamily="49" charset="-122"/>
              </a:rPr>
              <a:t>曲线有个很好的特性：</a:t>
            </a:r>
            <a:r>
              <a:rPr altLang="en-US" sz="2000" b="1" dirty="0" err="1">
                <a:solidFill>
                  <a:srgbClr val="C00000"/>
                </a:solidFill>
                <a:latin typeface="黑体" panose="02010609060101010101" pitchFamily="49" charset="-122"/>
                <a:ea typeface="黑体" panose="02010609060101010101" pitchFamily="49" charset="-122"/>
              </a:rPr>
              <a:t>当测试集中的正负样本的分布变化的时候，</a:t>
            </a:r>
            <a:r>
              <a:rPr lang="en-US" altLang="zh-CN" sz="2000" b="1" dirty="0" err="1">
                <a:solidFill>
                  <a:srgbClr val="C00000"/>
                </a:solidFill>
                <a:latin typeface="黑体" panose="02010609060101010101" pitchFamily="49" charset="-122"/>
                <a:ea typeface="黑体" panose="02010609060101010101" pitchFamily="49" charset="-122"/>
              </a:rPr>
              <a:t>ROC</a:t>
            </a:r>
            <a:r>
              <a:rPr altLang="en-US" sz="2000" b="1" dirty="0" err="1">
                <a:solidFill>
                  <a:srgbClr val="C00000"/>
                </a:solidFill>
                <a:latin typeface="黑体" panose="02010609060101010101" pitchFamily="49" charset="-122"/>
                <a:ea typeface="黑体" panose="02010609060101010101" pitchFamily="49" charset="-122"/>
              </a:rPr>
              <a:t>曲线能够保持不变</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a:lnSpc>
                <a:spcPct val="150000"/>
              </a:lnSpc>
              <a:buClr>
                <a:srgbClr val="00B050"/>
              </a:buClr>
              <a:buFont typeface="Wingdings" panose="05000000000000000000" pitchFamily="2" charset="2"/>
              <a:buChar char="p"/>
            </a:pPr>
            <a:r>
              <a:rPr altLang="en-US" sz="2000" b="1" dirty="0" err="1">
                <a:latin typeface="黑体" panose="02010609060101010101" pitchFamily="49" charset="-122"/>
                <a:ea typeface="黑体" panose="02010609060101010101" pitchFamily="49" charset="-122"/>
              </a:rPr>
              <a:t>在实际的数据集中经常会出现类不平衡（</a:t>
            </a:r>
            <a:r>
              <a:rPr lang="en-US" altLang="zh-CN" sz="2000" b="1" dirty="0" err="1">
                <a:latin typeface="黑体" panose="02010609060101010101" pitchFamily="49" charset="-122"/>
                <a:ea typeface="黑体" panose="02010609060101010101" pitchFamily="49" charset="-122"/>
              </a:rPr>
              <a:t>class</a:t>
            </a:r>
            <a:r>
              <a:rPr lang="en-US" altLang="zh-CN" sz="2000" b="1" dirty="0">
                <a:latin typeface="黑体" panose="02010609060101010101" pitchFamily="49" charset="-122"/>
                <a:ea typeface="黑体" panose="02010609060101010101" pitchFamily="49" charset="-122"/>
              </a:rPr>
              <a:t> </a:t>
            </a:r>
            <a:r>
              <a:rPr lang="en-US" altLang="zh-CN" sz="2000" b="1" dirty="0" err="1">
                <a:latin typeface="黑体" panose="02010609060101010101" pitchFamily="49" charset="-122"/>
                <a:ea typeface="黑体" panose="02010609060101010101" pitchFamily="49" charset="-122"/>
              </a:rPr>
              <a:t>imbalance</a:t>
            </a:r>
            <a:r>
              <a:rPr altLang="en-US" sz="2000" b="1" dirty="0" err="1">
                <a:latin typeface="黑体" panose="02010609060101010101" pitchFamily="49" charset="-122"/>
                <a:ea typeface="黑体" panose="02010609060101010101" pitchFamily="49" charset="-122"/>
              </a:rPr>
              <a:t>）现象，即负样本比正样本多很多（或者相反</a:t>
            </a:r>
            <a:r>
              <a:rPr altLang="en-US" sz="2000" b="1" dirty="0">
                <a:latin typeface="黑体" panose="02010609060101010101" pitchFamily="49" charset="-122"/>
                <a:ea typeface="黑体" panose="02010609060101010101" pitchFamily="49" charset="-122"/>
              </a:rPr>
              <a:t>），</a:t>
            </a:r>
            <a:r>
              <a:rPr altLang="en-US" sz="2000" b="1" dirty="0" err="1">
                <a:latin typeface="黑体" panose="02010609060101010101" pitchFamily="49" charset="-122"/>
                <a:ea typeface="黑体" panose="02010609060101010101" pitchFamily="49" charset="-122"/>
              </a:rPr>
              <a:t>而且测试数据中的正负样本的分布也可能随着时间变化。下图是</a:t>
            </a:r>
            <a:r>
              <a:rPr lang="en-US" altLang="zh-CN" sz="2000" b="1" dirty="0" err="1">
                <a:latin typeface="黑体" panose="02010609060101010101" pitchFamily="49" charset="-122"/>
                <a:ea typeface="黑体" panose="02010609060101010101" pitchFamily="49" charset="-122"/>
              </a:rPr>
              <a:t>ROC</a:t>
            </a:r>
            <a:r>
              <a:rPr altLang="en-US" sz="2000" b="1" dirty="0" err="1">
                <a:latin typeface="黑体" panose="02010609060101010101" pitchFamily="49" charset="-122"/>
                <a:ea typeface="黑体" panose="02010609060101010101" pitchFamily="49" charset="-122"/>
              </a:rPr>
              <a:t>曲线和</a:t>
            </a:r>
            <a:r>
              <a:rPr lang="en-US" altLang="zh-CN" sz="2000" b="1" dirty="0" err="1">
                <a:latin typeface="黑体" panose="02010609060101010101" pitchFamily="49" charset="-122"/>
                <a:ea typeface="黑体" panose="02010609060101010101" pitchFamily="49" charset="-122"/>
              </a:rPr>
              <a:t>Precision-Recall</a:t>
            </a:r>
            <a:r>
              <a:rPr altLang="en-US" sz="2000" b="1" dirty="0" err="1">
                <a:latin typeface="黑体" panose="02010609060101010101" pitchFamily="49" charset="-122"/>
                <a:ea typeface="黑体" panose="02010609060101010101" pitchFamily="49" charset="-122"/>
              </a:rPr>
              <a:t>曲线的对比</a:t>
            </a:r>
            <a:r>
              <a:rPr altLang="en-US" sz="2000" b="1" dirty="0">
                <a:latin typeface="黑体" panose="02010609060101010101" pitchFamily="49" charset="-122"/>
                <a:ea typeface="黑体" panose="02010609060101010101" pitchFamily="49" charset="-122"/>
              </a:rPr>
              <a:t>：</a:t>
            </a:r>
            <a:endParaRPr altLang="en-US" sz="2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内容占位符 9"/>
          <p:cNvSpPr>
            <a:spLocks noGrp="1"/>
          </p:cNvSpPr>
          <p:nvPr>
            <p:ph sz="half" idx="2"/>
          </p:nvPr>
        </p:nvSpPr>
        <p:spPr>
          <a:xfrm>
            <a:off x="527480" y="980728"/>
            <a:ext cx="2850096" cy="4536503"/>
          </a:xfrm>
        </p:spPr>
        <p:txBody>
          <a:bodyPr vert="horz" lIns="91440" tIns="45720" rIns="91440" bIns="45720" rtlCol="0">
            <a:noAutofit/>
          </a:bodyPr>
          <a:lstStyle/>
          <a:p>
            <a:pPr>
              <a:buClr>
                <a:srgbClr val="00B050"/>
              </a:buClr>
              <a:buFont typeface="Wingdings" panose="05000000000000000000" pitchFamily="2" charset="2"/>
              <a:buChar char="p"/>
            </a:pPr>
            <a:r>
              <a:rPr lang="en-US" altLang="zh-CN" sz="1800" b="1" dirty="0">
                <a:latin typeface="黑体" panose="02010609060101010101" pitchFamily="49" charset="-122"/>
                <a:ea typeface="黑体" panose="02010609060101010101" pitchFamily="49" charset="-122"/>
              </a:rPr>
              <a:t>ROC</a:t>
            </a:r>
            <a:r>
              <a:rPr altLang="en-US" sz="1800" b="1" dirty="0">
                <a:latin typeface="黑体" panose="02010609060101010101" pitchFamily="49" charset="-122"/>
                <a:ea typeface="黑体" panose="02010609060101010101" pitchFamily="49" charset="-122"/>
              </a:rPr>
              <a:t>曲线和</a:t>
            </a:r>
            <a:r>
              <a:rPr lang="en-US" altLang="zh-CN" sz="1800" b="1" dirty="0">
                <a:latin typeface="黑体" panose="02010609060101010101" pitchFamily="49" charset="-122"/>
                <a:ea typeface="黑体" panose="02010609060101010101" pitchFamily="49" charset="-122"/>
              </a:rPr>
              <a:t>Precision-Recall</a:t>
            </a:r>
            <a:r>
              <a:rPr altLang="en-US" sz="1800" b="1" dirty="0">
                <a:latin typeface="黑体" panose="02010609060101010101" pitchFamily="49" charset="-122"/>
                <a:ea typeface="黑体" panose="02010609060101010101" pitchFamily="49" charset="-122"/>
              </a:rPr>
              <a:t>曲线的对比：</a:t>
            </a:r>
            <a:endParaRPr lang="en-US" altLang="zh-CN" sz="18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en-US" altLang="zh-CN" sz="1800" b="1" dirty="0">
                <a:latin typeface="黑体" panose="02010609060101010101" pitchFamily="49" charset="-122"/>
                <a:ea typeface="黑体" panose="02010609060101010101" pitchFamily="49" charset="-122"/>
              </a:rPr>
              <a:t>(a)</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(c)</a:t>
            </a:r>
            <a:r>
              <a:rPr altLang="en-US" sz="1800" b="1" dirty="0">
                <a:latin typeface="黑体" panose="02010609060101010101" pitchFamily="49" charset="-122"/>
                <a:ea typeface="黑体" panose="02010609060101010101" pitchFamily="49" charset="-122"/>
              </a:rPr>
              <a:t>为</a:t>
            </a:r>
            <a:r>
              <a:rPr lang="en-US" altLang="zh-CN" sz="1800" b="1" dirty="0">
                <a:latin typeface="黑体" panose="02010609060101010101" pitchFamily="49" charset="-122"/>
                <a:ea typeface="黑体" panose="02010609060101010101" pitchFamily="49" charset="-122"/>
              </a:rPr>
              <a:t>ROC</a:t>
            </a:r>
            <a:r>
              <a:rPr altLang="en-US" sz="1800" b="1" dirty="0">
                <a:latin typeface="黑体" panose="02010609060101010101" pitchFamily="49" charset="-122"/>
                <a:ea typeface="黑体" panose="02010609060101010101" pitchFamily="49" charset="-122"/>
              </a:rPr>
              <a:t>曲线，</a:t>
            </a:r>
            <a:r>
              <a:rPr lang="en-US" altLang="zh-CN" sz="1800" b="1" dirty="0">
                <a:latin typeface="黑体" panose="02010609060101010101" pitchFamily="49" charset="-122"/>
                <a:ea typeface="黑体" panose="02010609060101010101" pitchFamily="49" charset="-122"/>
              </a:rPr>
              <a:t>(b)</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(d)</a:t>
            </a:r>
            <a:r>
              <a:rPr altLang="en-US" sz="1800" b="1" dirty="0">
                <a:latin typeface="黑体" panose="02010609060101010101" pitchFamily="49" charset="-122"/>
                <a:ea typeface="黑体" panose="02010609060101010101" pitchFamily="49" charset="-122"/>
              </a:rPr>
              <a:t>为</a:t>
            </a:r>
            <a:r>
              <a:rPr lang="en-US" altLang="zh-CN" sz="1800" b="1" dirty="0">
                <a:latin typeface="黑体" panose="02010609060101010101" pitchFamily="49" charset="-122"/>
                <a:ea typeface="黑体" panose="02010609060101010101" pitchFamily="49" charset="-122"/>
              </a:rPr>
              <a:t>Precision-Recall</a:t>
            </a:r>
            <a:r>
              <a:rPr altLang="en-US" sz="1800" b="1" dirty="0">
                <a:latin typeface="黑体" panose="02010609060101010101" pitchFamily="49" charset="-122"/>
                <a:ea typeface="黑体" panose="02010609060101010101" pitchFamily="49" charset="-122"/>
              </a:rPr>
              <a:t>曲线。</a:t>
            </a:r>
            <a:endParaRPr lang="en-US" altLang="zh-CN" sz="18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en-US" altLang="zh-CN" sz="1800" b="1" dirty="0">
                <a:latin typeface="黑体" panose="02010609060101010101" pitchFamily="49" charset="-122"/>
                <a:ea typeface="黑体" panose="02010609060101010101" pitchFamily="49" charset="-122"/>
              </a:rPr>
              <a:t>(a)</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(b)</a:t>
            </a:r>
            <a:r>
              <a:rPr altLang="en-US" sz="1800" b="1" dirty="0" err="1" smtClean="0">
                <a:latin typeface="黑体" panose="02010609060101010101" pitchFamily="49" charset="-122"/>
                <a:ea typeface="黑体" panose="02010609060101010101" pitchFamily="49" charset="-122"/>
              </a:rPr>
              <a:t>展示的是分类</a:t>
            </a:r>
            <a:r>
              <a:rPr lang="zh-CN" altLang="en-US" sz="1800" b="1" dirty="0" smtClean="0">
                <a:latin typeface="黑体" panose="02010609060101010101" pitchFamily="49" charset="-122"/>
                <a:ea typeface="黑体" panose="02010609060101010101" pitchFamily="49" charset="-122"/>
              </a:rPr>
              <a:t>器</a:t>
            </a:r>
            <a:r>
              <a:rPr altLang="en-US" sz="1800" b="1" dirty="0" err="1" smtClean="0">
                <a:latin typeface="黑体" panose="02010609060101010101" pitchFamily="49" charset="-122"/>
                <a:ea typeface="黑体" panose="02010609060101010101" pitchFamily="49" charset="-122"/>
              </a:rPr>
              <a:t>在原始测试集</a:t>
            </a:r>
            <a:r>
              <a:rPr altLang="en-US" sz="1800" b="1" dirty="0" err="1">
                <a:latin typeface="黑体" panose="02010609060101010101" pitchFamily="49" charset="-122"/>
                <a:ea typeface="黑体" panose="02010609060101010101" pitchFamily="49" charset="-122"/>
              </a:rPr>
              <a:t>（正负样本分布平衡）的结果</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(c)</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(d)</a:t>
            </a:r>
            <a:r>
              <a:rPr altLang="en-US" sz="1800" b="1" dirty="0">
                <a:latin typeface="黑体" panose="02010609060101010101" pitchFamily="49" charset="-122"/>
                <a:ea typeface="黑体" panose="02010609060101010101" pitchFamily="49" charset="-122"/>
              </a:rPr>
              <a:t>是将测试集中负样本的数量增加到原来的</a:t>
            </a:r>
            <a:r>
              <a:rPr lang="en-US" altLang="zh-CN" sz="1800" b="1" dirty="0">
                <a:latin typeface="黑体" panose="02010609060101010101" pitchFamily="49" charset="-122"/>
                <a:ea typeface="黑体" panose="02010609060101010101" pitchFamily="49" charset="-122"/>
              </a:rPr>
              <a:t>10</a:t>
            </a:r>
            <a:r>
              <a:rPr altLang="en-US" sz="1800" b="1" dirty="0">
                <a:latin typeface="黑体" panose="02010609060101010101" pitchFamily="49" charset="-122"/>
                <a:ea typeface="黑体" panose="02010609060101010101" pitchFamily="49" charset="-122"/>
              </a:rPr>
              <a:t>倍后，分类器的结果。可以明显的看出，</a:t>
            </a:r>
            <a:r>
              <a:rPr lang="en-US" altLang="zh-CN" sz="1800" b="1" dirty="0">
                <a:latin typeface="黑体" panose="02010609060101010101" pitchFamily="49" charset="-122"/>
                <a:ea typeface="黑体" panose="02010609060101010101" pitchFamily="49" charset="-122"/>
              </a:rPr>
              <a:t>ROC</a:t>
            </a:r>
            <a:r>
              <a:rPr altLang="en-US" sz="1800" b="1" dirty="0">
                <a:latin typeface="黑体" panose="02010609060101010101" pitchFamily="49" charset="-122"/>
                <a:ea typeface="黑体" panose="02010609060101010101" pitchFamily="49" charset="-122"/>
              </a:rPr>
              <a:t>曲线基本保持原貌，而</a:t>
            </a:r>
            <a:r>
              <a:rPr lang="en-US" altLang="zh-CN" sz="1800" b="1" dirty="0">
                <a:latin typeface="黑体" panose="02010609060101010101" pitchFamily="49" charset="-122"/>
                <a:ea typeface="黑体" panose="02010609060101010101" pitchFamily="49" charset="-122"/>
              </a:rPr>
              <a:t>Precision-Recall</a:t>
            </a:r>
            <a:r>
              <a:rPr altLang="en-US" sz="1800" b="1" dirty="0">
                <a:latin typeface="黑体" panose="02010609060101010101" pitchFamily="49" charset="-122"/>
                <a:ea typeface="黑体" panose="02010609060101010101" pitchFamily="49" charset="-122"/>
              </a:rPr>
              <a:t>曲线则变化较大</a:t>
            </a:r>
            <a:endParaRPr altLang="en-US" sz="1800" b="1" dirty="0">
              <a:latin typeface="黑体" panose="02010609060101010101" pitchFamily="49" charset="-122"/>
              <a:ea typeface="黑体" panose="02010609060101010101" pitchFamily="49" charset="-122"/>
            </a:endParaRPr>
          </a:p>
        </p:txBody>
      </p:sp>
      <p:pic>
        <p:nvPicPr>
          <p:cNvPr id="6861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77576" y="639797"/>
            <a:ext cx="5760640" cy="5578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性能度量</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曲线绘制</a:t>
            </a:r>
            <a:endParaRPr lang="zh-CN" altLang="en-US" b="1" dirty="0">
              <a:latin typeface="黑体" panose="02010609060101010101" pitchFamily="49" charset="-122"/>
              <a:ea typeface="黑体" panose="02010609060101010101" pitchFamily="49" charset="-122"/>
            </a:endParaRPr>
          </a:p>
        </p:txBody>
      </p:sp>
      <p:sp>
        <p:nvSpPr>
          <p:cNvPr id="13" name="内容占位符 2"/>
          <p:cNvSpPr txBox="1"/>
          <p:nvPr/>
        </p:nvSpPr>
        <p:spPr>
          <a:xfrm>
            <a:off x="851702" y="1415947"/>
            <a:ext cx="7951355" cy="3166190"/>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en-US" altLang="zh-CN" sz="2400" b="1" dirty="0">
                <a:solidFill>
                  <a:srgbClr val="0000FF"/>
                </a:solidFill>
                <a:latin typeface="黑体" panose="02010609060101010101" pitchFamily="49" charset="-122"/>
                <a:ea typeface="黑体" panose="02010609060101010101" pitchFamily="49" charset="-122"/>
              </a:rPr>
              <a:t>ROC</a:t>
            </a:r>
            <a:r>
              <a:rPr lang="zh-CN" altLang="en-US" sz="2400" b="1" dirty="0">
                <a:solidFill>
                  <a:srgbClr val="0000FF"/>
                </a:solidFill>
                <a:latin typeface="黑体" panose="02010609060101010101" pitchFamily="49" charset="-122"/>
                <a:ea typeface="黑体" panose="02010609060101010101" pitchFamily="49" charset="-122"/>
              </a:rPr>
              <a:t>曲线：</a:t>
            </a:r>
            <a:r>
              <a:rPr lang="zh-CN" altLang="en-US" b="1" dirty="0">
                <a:latin typeface="黑体" panose="02010609060101010101" pitchFamily="49" charset="-122"/>
                <a:ea typeface="黑体" panose="02010609060101010101" pitchFamily="49" charset="-122"/>
              </a:rPr>
              <a:t>类似</a:t>
            </a:r>
            <a:r>
              <a:rPr lang="en-US" altLang="zh-CN" b="1" dirty="0">
                <a:latin typeface="黑体" panose="02010609060101010101" pitchFamily="49" charset="-122"/>
                <a:ea typeface="黑体" panose="02010609060101010101" pitchFamily="49" charset="-122"/>
              </a:rPr>
              <a:t>P-R</a:t>
            </a:r>
            <a:r>
              <a:rPr lang="zh-CN" altLang="en-US" b="1" dirty="0">
                <a:latin typeface="黑体" panose="02010609060101010101" pitchFamily="49" charset="-122"/>
                <a:ea typeface="黑体" panose="02010609060101010101" pitchFamily="49" charset="-122"/>
              </a:rPr>
              <a:t>曲线，根据学习器的预测结果对样例排序，并逐个作为正例进行预测，以“</a:t>
            </a:r>
            <a:r>
              <a:rPr lang="zh-CN" altLang="en-US" b="1" dirty="0">
                <a:solidFill>
                  <a:srgbClr val="0000FF"/>
                </a:solidFill>
                <a:latin typeface="黑体" panose="02010609060101010101" pitchFamily="49" charset="-122"/>
                <a:ea typeface="黑体" panose="02010609060101010101" pitchFamily="49" charset="-122"/>
              </a:rPr>
              <a:t>假正例率</a:t>
            </a:r>
            <a:r>
              <a:rPr lang="zh-CN" altLang="en-US" b="1" dirty="0">
                <a:latin typeface="黑体" panose="02010609060101010101" pitchFamily="49" charset="-122"/>
                <a:ea typeface="黑体" panose="02010609060101010101" pitchFamily="49" charset="-122"/>
              </a:rPr>
              <a:t>”为横轴，“</a:t>
            </a:r>
            <a:r>
              <a:rPr lang="zh-CN" altLang="en-US" b="1" dirty="0">
                <a:solidFill>
                  <a:srgbClr val="0000FF"/>
                </a:solidFill>
                <a:latin typeface="黑体" panose="02010609060101010101" pitchFamily="49" charset="-122"/>
                <a:ea typeface="黑体" panose="02010609060101010101" pitchFamily="49" charset="-122"/>
              </a:rPr>
              <a:t>真正例率</a:t>
            </a:r>
            <a:r>
              <a:rPr lang="zh-CN" altLang="en-US" b="1" dirty="0">
                <a:latin typeface="黑体" panose="02010609060101010101" pitchFamily="49" charset="-122"/>
                <a:ea typeface="黑体" panose="02010609060101010101" pitchFamily="49" charset="-122"/>
              </a:rPr>
              <a:t>”为纵轴可得到</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全称“受试者工作特征</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计算公式：</a:t>
            </a:r>
            <a:endParaRPr lang="en-US" altLang="zh-CN" b="1" dirty="0">
              <a:latin typeface="黑体" panose="02010609060101010101" pitchFamily="49" charset="-122"/>
              <a:ea typeface="黑体" panose="02010609060101010101" pitchFamily="49" charset="-122"/>
            </a:endParaRPr>
          </a:p>
          <a:p>
            <a:pPr marL="457200" lvl="1" indent="0">
              <a:buClr>
                <a:srgbClr val="00B050"/>
              </a:buClr>
              <a:buNone/>
            </a:pPr>
            <a:r>
              <a:rPr lang="zh-CN" altLang="en-US" b="1" dirty="0">
                <a:solidFill>
                  <a:srgbClr val="0000FF"/>
                </a:solidFill>
                <a:latin typeface="黑体" panose="02010609060101010101" pitchFamily="49" charset="-122"/>
                <a:ea typeface="黑体" panose="02010609060101010101" pitchFamily="49" charset="-122"/>
              </a:rPr>
              <a:t>真正例率</a:t>
            </a:r>
            <a:r>
              <a:rPr lang="en-US" altLang="zh-CN" b="1" dirty="0">
                <a:solidFill>
                  <a:srgbClr val="0000FF"/>
                </a:solidFill>
                <a:latin typeface="黑体" panose="02010609060101010101" pitchFamily="49" charset="-122"/>
                <a:ea typeface="黑体" panose="02010609060101010101" pitchFamily="49" charset="-122"/>
              </a:rPr>
              <a:t>	TPR = (</a:t>
            </a:r>
            <a:r>
              <a:rPr lang="zh-CN" altLang="en-US" b="1" dirty="0">
                <a:solidFill>
                  <a:srgbClr val="0000FF"/>
                </a:solidFill>
                <a:latin typeface="黑体" panose="02010609060101010101" pitchFamily="49" charset="-122"/>
                <a:ea typeface="黑体" panose="02010609060101010101" pitchFamily="49" charset="-122"/>
              </a:rPr>
              <a:t>真实正例</a:t>
            </a:r>
            <a:r>
              <a:rPr lang="en-US" altLang="zh-CN" b="1" dirty="0">
                <a:solidFill>
                  <a:srgbClr val="0000FF"/>
                </a:solidFill>
                <a:latin typeface="黑体" panose="02010609060101010101" pitchFamily="49" charset="-122"/>
                <a:ea typeface="黑体" panose="02010609060101010101" pitchFamily="49" charset="-122"/>
              </a:rPr>
              <a:t>&amp;</a:t>
            </a:r>
            <a:r>
              <a:rPr lang="zh-CN" altLang="en-US" b="1" dirty="0">
                <a:solidFill>
                  <a:srgbClr val="0000FF"/>
                </a:solidFill>
                <a:latin typeface="黑体" panose="02010609060101010101" pitchFamily="49" charset="-122"/>
                <a:ea typeface="黑体" panose="02010609060101010101" pitchFamily="49" charset="-122"/>
              </a:rPr>
              <a:t>预判正例</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数</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真实正例数</a:t>
            </a:r>
            <a:endParaRPr lang="en-US" altLang="zh-CN" b="1" dirty="0">
              <a:solidFill>
                <a:srgbClr val="0000FF"/>
              </a:solidFill>
              <a:latin typeface="黑体" panose="02010609060101010101" pitchFamily="49" charset="-122"/>
              <a:ea typeface="黑体" panose="02010609060101010101" pitchFamily="49" charset="-122"/>
            </a:endParaRPr>
          </a:p>
          <a:p>
            <a:pPr marL="457200" lvl="1" indent="0">
              <a:buClr>
                <a:srgbClr val="00B050"/>
              </a:buClr>
              <a:buNone/>
            </a:pPr>
            <a:r>
              <a:rPr lang="en-US" altLang="zh-CN" b="1" dirty="0">
                <a:solidFill>
                  <a:srgbClr val="0000FF"/>
                </a:solidFill>
                <a:latin typeface="黑体" panose="02010609060101010101" pitchFamily="49" charset="-122"/>
                <a:ea typeface="黑体" panose="02010609060101010101" pitchFamily="49" charset="-122"/>
              </a:rPr>
              <a:t>		TPR = TP/(TP+FN)		</a:t>
            </a:r>
            <a:r>
              <a:rPr lang="zh-CN" altLang="en-US" b="1" dirty="0">
                <a:solidFill>
                  <a:srgbClr val="0000FF"/>
                </a:solidFill>
                <a:latin typeface="黑体" panose="02010609060101010101" pitchFamily="49" charset="-122"/>
                <a:ea typeface="黑体" panose="02010609060101010101" pitchFamily="49" charset="-122"/>
              </a:rPr>
              <a:t>正确</a:t>
            </a:r>
            <a:endParaRPr lang="en-US" altLang="zh-CN" b="1" dirty="0">
              <a:solidFill>
                <a:srgbClr val="0000FF"/>
              </a:solidFill>
              <a:latin typeface="黑体" panose="02010609060101010101" pitchFamily="49" charset="-122"/>
              <a:ea typeface="黑体" panose="02010609060101010101" pitchFamily="49" charset="-122"/>
            </a:endParaRPr>
          </a:p>
          <a:p>
            <a:pPr marL="457200" lvl="1" indent="0">
              <a:buClr>
                <a:srgbClr val="00B050"/>
              </a:buClr>
              <a:buNone/>
            </a:pPr>
            <a:r>
              <a:rPr lang="zh-CN" altLang="en-US" b="1" dirty="0">
                <a:solidFill>
                  <a:srgbClr val="0000FF"/>
                </a:solidFill>
                <a:latin typeface="黑体" panose="02010609060101010101" pitchFamily="49" charset="-122"/>
                <a:ea typeface="黑体" panose="02010609060101010101" pitchFamily="49" charset="-122"/>
              </a:rPr>
              <a:t>假正例率</a:t>
            </a:r>
            <a:r>
              <a:rPr lang="en-US" altLang="zh-CN" b="1" dirty="0">
                <a:solidFill>
                  <a:srgbClr val="0000FF"/>
                </a:solidFill>
                <a:latin typeface="黑体" panose="02010609060101010101" pitchFamily="49" charset="-122"/>
                <a:ea typeface="黑体" panose="02010609060101010101" pitchFamily="49" charset="-122"/>
              </a:rPr>
              <a:t>	TPR = (</a:t>
            </a:r>
            <a:r>
              <a:rPr lang="zh-CN" altLang="en-US" b="1" dirty="0">
                <a:solidFill>
                  <a:srgbClr val="0000FF"/>
                </a:solidFill>
                <a:latin typeface="黑体" panose="02010609060101010101" pitchFamily="49" charset="-122"/>
                <a:ea typeface="黑体" panose="02010609060101010101" pitchFamily="49" charset="-122"/>
              </a:rPr>
              <a:t>真实反例</a:t>
            </a:r>
            <a:r>
              <a:rPr lang="en-US" altLang="zh-CN" b="1" dirty="0">
                <a:solidFill>
                  <a:srgbClr val="0000FF"/>
                </a:solidFill>
                <a:latin typeface="黑体" panose="02010609060101010101" pitchFamily="49" charset="-122"/>
                <a:ea typeface="黑体" panose="02010609060101010101" pitchFamily="49" charset="-122"/>
              </a:rPr>
              <a:t>&amp;</a:t>
            </a:r>
            <a:r>
              <a:rPr lang="zh-CN" altLang="en-US" b="1" dirty="0">
                <a:solidFill>
                  <a:srgbClr val="0000FF"/>
                </a:solidFill>
                <a:latin typeface="黑体" panose="02010609060101010101" pitchFamily="49" charset="-122"/>
                <a:ea typeface="黑体" panose="02010609060101010101" pitchFamily="49" charset="-122"/>
              </a:rPr>
              <a:t>预判正例</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数</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真实反例数</a:t>
            </a:r>
            <a:endParaRPr lang="en-US" altLang="zh-CN" b="1" dirty="0">
              <a:solidFill>
                <a:srgbClr val="0000FF"/>
              </a:solidFill>
              <a:latin typeface="黑体" panose="02010609060101010101" pitchFamily="49" charset="-122"/>
              <a:ea typeface="黑体" panose="02010609060101010101" pitchFamily="49" charset="-122"/>
            </a:endParaRPr>
          </a:p>
          <a:p>
            <a:pPr marL="457200" lvl="1" indent="0">
              <a:buClr>
                <a:srgbClr val="00B050"/>
              </a:buClr>
              <a:buNone/>
            </a:pPr>
            <a:r>
              <a:rPr lang="en-US" altLang="zh-CN" b="1" dirty="0">
                <a:solidFill>
                  <a:srgbClr val="0000FF"/>
                </a:solidFill>
                <a:latin typeface="黑体" panose="02010609060101010101" pitchFamily="49" charset="-122"/>
                <a:ea typeface="黑体" panose="02010609060101010101" pitchFamily="49" charset="-122"/>
              </a:rPr>
              <a:t>		FPR =  FP/(TN+FP)		</a:t>
            </a:r>
            <a:r>
              <a:rPr lang="zh-CN" altLang="en-US" b="1" dirty="0">
                <a:solidFill>
                  <a:srgbClr val="0000FF"/>
                </a:solidFill>
                <a:latin typeface="黑体" panose="02010609060101010101" pitchFamily="49" charset="-122"/>
                <a:ea typeface="黑体" panose="02010609060101010101" pitchFamily="49" charset="-122"/>
              </a:rPr>
              <a:t>错误</a:t>
            </a:r>
            <a:endParaRPr lang="en-US" altLang="zh-CN" b="1" dirty="0">
              <a:latin typeface="黑体" panose="02010609060101010101" pitchFamily="49" charset="-122"/>
              <a:ea typeface="黑体" panose="02010609060101010101" pitchFamily="49" charset="-122"/>
            </a:endParaRPr>
          </a:p>
          <a:p>
            <a:pPr marL="800100" lvl="1" indent="-342900">
              <a:buClr>
                <a:srgbClr val="00B050"/>
              </a:buClr>
              <a:buFont typeface="Wingdings" panose="05000000000000000000" pitchFamily="2" charset="2"/>
              <a:buChar char="p"/>
            </a:pPr>
            <a:endParaRPr lang="zh-CN" altLang="en-US" dirty="0">
              <a:latin typeface="幼圆" panose="02010509060101010101" pitchFamily="49" charset="-122"/>
            </a:endParaRPr>
          </a:p>
        </p:txBody>
      </p:sp>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pic>
        <p:nvPicPr>
          <p:cNvPr id="1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51720" y="4359965"/>
            <a:ext cx="4831241"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458646"/>
            <a:ext cx="8229600" cy="1143000"/>
          </a:xfrm>
        </p:spPr>
        <p:txBody>
          <a:bodyPr/>
          <a:lstStyle/>
          <a:p>
            <a:r>
              <a:rPr lang="zh-CN" altLang="en-US" b="1" dirty="0">
                <a:latin typeface="黑体" panose="02010609060101010101" pitchFamily="49" charset="-122"/>
                <a:ea typeface="黑体" panose="02010609060101010101" pitchFamily="49" charset="-122"/>
              </a:rPr>
              <a:t>性能度量</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曲线绘制</a:t>
            </a:r>
            <a:endParaRPr lang="zh-CN" altLang="en-US" b="1" dirty="0">
              <a:latin typeface="黑体" panose="02010609060101010101" pitchFamily="49" charset="-122"/>
              <a:ea typeface="黑体" panose="02010609060101010101" pitchFamily="49" charset="-122"/>
            </a:endParaRPr>
          </a:p>
        </p:txBody>
      </p:sp>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grpSp>
        <p:nvGrpSpPr>
          <p:cNvPr id="3" name="组合 2"/>
          <p:cNvGrpSpPr/>
          <p:nvPr/>
        </p:nvGrpSpPr>
        <p:grpSpPr>
          <a:xfrm>
            <a:off x="323528" y="1961590"/>
            <a:ext cx="8157592" cy="1872208"/>
            <a:chOff x="342595" y="-486682"/>
            <a:chExt cx="6973210" cy="1204555"/>
          </a:xfrm>
        </p:grpSpPr>
        <p:sp>
          <p:nvSpPr>
            <p:cNvPr id="7" name="内容占位符 2"/>
            <p:cNvSpPr txBox="1"/>
            <p:nvPr/>
          </p:nvSpPr>
          <p:spPr>
            <a:xfrm>
              <a:off x="342595" y="-486682"/>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50000"/>
                </a:lnSpc>
                <a:buClr>
                  <a:srgbClr val="00B050"/>
                </a:buClr>
                <a:buFont typeface="Wingdings" panose="05000000000000000000" pitchFamily="2" charset="2"/>
                <a:buChar char="p"/>
              </a:pPr>
              <a:r>
                <a:rPr lang="en-US" altLang="zh-CN" b="1" dirty="0">
                  <a:solidFill>
                    <a:srgbClr val="0000FF"/>
                  </a:solidFill>
                  <a:latin typeface="黑体" panose="02010609060101010101" pitchFamily="49" charset="-122"/>
                  <a:ea typeface="黑体" panose="02010609060101010101" pitchFamily="49" charset="-122"/>
                </a:rPr>
                <a:t>ROC</a:t>
              </a:r>
              <a:r>
                <a:rPr lang="zh-CN" altLang="en-US" b="1" dirty="0">
                  <a:solidFill>
                    <a:srgbClr val="0000FF"/>
                  </a:solidFill>
                  <a:latin typeface="黑体" panose="02010609060101010101" pitchFamily="49" charset="-122"/>
                  <a:ea typeface="黑体" panose="02010609060101010101" pitchFamily="49" charset="-122"/>
                </a:rPr>
                <a:t>图的绘制</a:t>
              </a:r>
              <a:r>
                <a:rPr lang="zh-CN" altLang="en-US" b="1" dirty="0">
                  <a:latin typeface="黑体" panose="02010609060101010101" pitchFamily="49" charset="-122"/>
                  <a:ea typeface="黑体" panose="02010609060101010101" pitchFamily="49" charset="-122"/>
                </a:rPr>
                <a:t>：给定    个正例和    个负例，根据学习器预测结果对样例进行排序，将分类阈值设为每个样例的预测值，当前标记点坐标为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当前若为真正例，则对应标记点的坐标为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当前若为假正例，则对应标记点的坐标为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然后用线段连接相邻点</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9388" y="-404756"/>
              <a:ext cx="430873" cy="26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2008" y="-409079"/>
              <a:ext cx="397885" cy="207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5408" y="186347"/>
              <a:ext cx="436292" cy="2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7448" y="482072"/>
              <a:ext cx="861747" cy="23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1061" y="453694"/>
              <a:ext cx="965506" cy="260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latin typeface="黑体" panose="02010609060101010101" pitchFamily="49" charset="-122"/>
                <a:ea typeface="黑体" panose="02010609060101010101" pitchFamily="49" charset="-122"/>
              </a:rPr>
              <a:t>性能度量</a:t>
            </a:r>
            <a:r>
              <a:rPr lang="en-US" altLang="zh-CN" sz="4000" b="1" dirty="0">
                <a:latin typeface="黑体" panose="02010609060101010101" pitchFamily="49" charset="-122"/>
                <a:ea typeface="黑体" panose="02010609060101010101" pitchFamily="49" charset="-122"/>
              </a:rPr>
              <a:t>-</a:t>
            </a:r>
            <a:r>
              <a:rPr lang="zh-CN" altLang="en-US" sz="4000" b="1" dirty="0">
                <a:solidFill>
                  <a:srgbClr val="0000FF"/>
                </a:solidFill>
                <a:latin typeface="黑体" panose="02010609060101010101" pitchFamily="49" charset="-122"/>
                <a:ea typeface="黑体" panose="02010609060101010101" pitchFamily="49" charset="-122"/>
              </a:rPr>
              <a:t>真假正例纠结</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13" name="内容占位符 2"/>
          <p:cNvSpPr txBox="1"/>
          <p:nvPr/>
        </p:nvSpPr>
        <p:spPr>
          <a:xfrm>
            <a:off x="766992" y="1486946"/>
            <a:ext cx="7919807" cy="1293981"/>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solidFill>
                  <a:srgbClr val="0000FF"/>
                </a:solidFill>
                <a:latin typeface="黑体" panose="02010609060101010101" pitchFamily="49" charset="-122"/>
                <a:ea typeface="黑体" panose="02010609060101010101" pitchFamily="49" charset="-122"/>
              </a:rPr>
              <a:t>学习器的优劣</a:t>
            </a:r>
            <a:r>
              <a:rPr lang="zh-CN" altLang="en-US" b="1" dirty="0">
                <a:latin typeface="黑体" panose="02010609060101010101" pitchFamily="49" charset="-122"/>
                <a:ea typeface="黑体" panose="02010609060101010101" pitchFamily="49" charset="-122"/>
              </a:rPr>
              <a:t>：若某个学习器的</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曲线被另一个学习器的曲线“包住”，则后者性能优于前者；</a:t>
            </a:r>
            <a:endParaRPr lang="en-US" altLang="zh-CN" b="1" dirty="0">
              <a:latin typeface="黑体" panose="02010609060101010101" pitchFamily="49" charset="-122"/>
              <a:ea typeface="黑体" panose="02010609060101010101" pitchFamily="49" charset="-122"/>
            </a:endParaRPr>
          </a:p>
          <a:p>
            <a:pPr marL="800100" lvl="1" indent="-342900">
              <a:buClr>
                <a:srgbClr val="00B050"/>
              </a:buClr>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AUC</a:t>
            </a:r>
            <a:r>
              <a:rPr lang="zh-CN" altLang="en-US" sz="2400" b="1" dirty="0">
                <a:latin typeface="黑体" panose="02010609060101010101" pitchFamily="49" charset="-122"/>
                <a:ea typeface="黑体" panose="02010609060101010101" pitchFamily="49" charset="-122"/>
              </a:rPr>
              <a:t>值：</a:t>
            </a:r>
            <a:r>
              <a:rPr lang="zh-CN" altLang="en-US" b="1" dirty="0">
                <a:latin typeface="黑体" panose="02010609060101010101" pitchFamily="49" charset="-122"/>
                <a:ea typeface="黑体" panose="02010609060101010101" pitchFamily="49" charset="-122"/>
              </a:rPr>
              <a:t>否则如果曲线交叉，可以根据</a:t>
            </a:r>
            <a:r>
              <a:rPr lang="en-US" altLang="zh-CN" b="1" dirty="0">
                <a:latin typeface="黑体" panose="02010609060101010101" pitchFamily="49" charset="-122"/>
                <a:ea typeface="黑体" panose="02010609060101010101" pitchFamily="49" charset="-122"/>
              </a:rPr>
              <a:t>ROC</a:t>
            </a:r>
            <a:r>
              <a:rPr lang="zh-CN" altLang="en-US" b="1" dirty="0">
                <a:solidFill>
                  <a:srgbClr val="0000FF"/>
                </a:solidFill>
                <a:latin typeface="黑体" panose="02010609060101010101" pitchFamily="49" charset="-122"/>
                <a:ea typeface="黑体" panose="02010609060101010101" pitchFamily="49" charset="-122"/>
              </a:rPr>
              <a:t>曲线下面积</a:t>
            </a:r>
            <a:r>
              <a:rPr lang="zh-CN" altLang="en-US" b="1" dirty="0">
                <a:latin typeface="黑体" panose="02010609060101010101" pitchFamily="49" charset="-122"/>
                <a:ea typeface="黑体" panose="02010609060101010101" pitchFamily="49" charset="-122"/>
              </a:rPr>
              <a:t>大小进行比较，也即</a:t>
            </a:r>
            <a:r>
              <a:rPr lang="en-US" altLang="zh-CN" b="1" dirty="0">
                <a:latin typeface="黑体" panose="02010609060101010101" pitchFamily="49" charset="-122"/>
                <a:ea typeface="黑体" panose="02010609060101010101" pitchFamily="49" charset="-122"/>
              </a:rPr>
              <a:t>AUC</a:t>
            </a:r>
            <a:r>
              <a:rPr lang="zh-CN" altLang="en-US" b="1" dirty="0">
                <a:latin typeface="黑体" panose="02010609060101010101" pitchFamily="49" charset="-122"/>
                <a:ea typeface="黑体" panose="02010609060101010101" pitchFamily="49" charset="-122"/>
              </a:rPr>
              <a:t>值</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
        <p:nvSpPr>
          <p:cNvPr id="12" name="内容占位符 2"/>
          <p:cNvSpPr txBox="1"/>
          <p:nvPr/>
        </p:nvSpPr>
        <p:spPr>
          <a:xfrm>
            <a:off x="4288540" y="3326250"/>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0725" y="3116491"/>
            <a:ext cx="3165475" cy="312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3987142" y="3299342"/>
            <a:ext cx="4585358" cy="2308324"/>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假设</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曲线由</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的点按序连接而形成             ，则：</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AUC</a:t>
            </a:r>
            <a:r>
              <a:rPr lang="zh-CN" altLang="en-US" b="1" dirty="0">
                <a:latin typeface="黑体" panose="02010609060101010101" pitchFamily="49" charset="-122"/>
                <a:ea typeface="黑体" panose="02010609060101010101" pitchFamily="49" charset="-122"/>
              </a:rPr>
              <a:t>可估算为：</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algn="ctr"/>
            <a:r>
              <a:rPr lang="en-US" altLang="zh-CN" b="1" dirty="0">
                <a:solidFill>
                  <a:srgbClr val="FF0000"/>
                </a:solidFill>
                <a:latin typeface="黑体" panose="02010609060101010101" pitchFamily="49" charset="-122"/>
                <a:ea typeface="黑体" panose="02010609060101010101" pitchFamily="49" charset="-122"/>
              </a:rPr>
              <a:t>AUC</a:t>
            </a:r>
            <a:r>
              <a:rPr lang="zh-CN" altLang="en-US" b="1" dirty="0">
                <a:solidFill>
                  <a:srgbClr val="FF0000"/>
                </a:solidFill>
                <a:latin typeface="黑体" panose="02010609060101010101" pitchFamily="49" charset="-122"/>
                <a:ea typeface="黑体" panose="02010609060101010101" pitchFamily="49" charset="-122"/>
              </a:rPr>
              <a:t>衡量了样本预测的排序质量。</a:t>
            </a:r>
            <a:endParaRPr lang="en-US" altLang="zh-CN" b="1" dirty="0">
              <a:solidFill>
                <a:srgbClr val="FF0000"/>
              </a:solidFill>
              <a:latin typeface="黑体" panose="02010609060101010101" pitchFamily="49" charset="-122"/>
              <a:ea typeface="黑体" panose="02010609060101010101" pitchFamily="49" charset="-122"/>
            </a:endParaRPr>
          </a:p>
          <a:p>
            <a:endParaRPr lang="zh-CN" altLang="en-US" dirty="0">
              <a:solidFill>
                <a:srgbClr val="FF0000"/>
              </a:solidFill>
              <a:latin typeface="幼圆" panose="02010509060101010101" pitchFamily="49" charset="-122"/>
              <a:ea typeface="幼圆" panose="02010509060101010101" pitchFamily="49" charset="-122"/>
            </a:endParaRPr>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153" y="3406702"/>
            <a:ext cx="2565400" cy="24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5715" y="3682149"/>
            <a:ext cx="1519685" cy="226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133" y="4336725"/>
            <a:ext cx="3153376" cy="599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6" end="6"/>
                                            </p:txEl>
                                          </p:spTgt>
                                        </p:tgtEl>
                                        <p:attrNameLst>
                                          <p:attrName>style.visibility</p:attrName>
                                        </p:attrNameLst>
                                      </p:cBhvr>
                                      <p:to>
                                        <p:strVal val="visible"/>
                                      </p:to>
                                    </p:set>
                                    <p:animEffect transition="in" filter="fade">
                                      <p:cBhvr>
                                        <p:cTn id="7" dur="1000"/>
                                        <p:tgtEl>
                                          <p:spTgt spid="14">
                                            <p:txEl>
                                              <p:pRg st="6" end="6"/>
                                            </p:txEl>
                                          </p:spTgt>
                                        </p:tgtEl>
                                      </p:cBhvr>
                                    </p:animEffect>
                                    <p:anim calcmode="lin" valueType="num">
                                      <p:cBhvr>
                                        <p:cTn id="8"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代价敏感错误率</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
        <p:nvSpPr>
          <p:cNvPr id="13" name="内容占位符 2"/>
          <p:cNvSpPr txBox="1"/>
          <p:nvPr/>
        </p:nvSpPr>
        <p:spPr>
          <a:xfrm>
            <a:off x="507021" y="1377717"/>
            <a:ext cx="8229600" cy="106784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现实任务中不同类型的错误所造成的后果很可能不同，为了权衡不同类型错误所造成的不同损失，可为错误赋予“非均等代价”。</a:t>
            </a:r>
            <a:endParaRPr lang="zh-CN" altLang="en-US" b="1" dirty="0">
              <a:latin typeface="黑体" panose="02010609060101010101" pitchFamily="49" charset="-122"/>
              <a:ea typeface="黑体" panose="02010609060101010101" pitchFamily="49" charset="-122"/>
            </a:endParaRPr>
          </a:p>
        </p:txBody>
      </p:sp>
      <p:sp>
        <p:nvSpPr>
          <p:cNvPr id="12" name="内容占位符 2"/>
          <p:cNvSpPr txBox="1"/>
          <p:nvPr/>
        </p:nvSpPr>
        <p:spPr>
          <a:xfrm>
            <a:off x="4535192" y="2424956"/>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b="1" dirty="0">
              <a:latin typeface="黑体" panose="02010609060101010101" pitchFamily="49" charset="-122"/>
              <a:ea typeface="黑体" panose="02010609060101010101" pitchFamily="49" charset="-122"/>
            </a:endParaRPr>
          </a:p>
        </p:txBody>
      </p:sp>
      <p:grpSp>
        <p:nvGrpSpPr>
          <p:cNvPr id="6" name="组合 5"/>
          <p:cNvGrpSpPr/>
          <p:nvPr/>
        </p:nvGrpSpPr>
        <p:grpSpPr>
          <a:xfrm>
            <a:off x="507021" y="2123440"/>
            <a:ext cx="7943371" cy="1200988"/>
            <a:chOff x="828600" y="2596178"/>
            <a:chExt cx="6973210" cy="1200988"/>
          </a:xfrm>
        </p:grpSpPr>
        <p:sp>
          <p:nvSpPr>
            <p:cNvPr id="11" name="内容占位符 2"/>
            <p:cNvSpPr txBox="1"/>
            <p:nvPr/>
          </p:nvSpPr>
          <p:spPr>
            <a:xfrm>
              <a:off x="828600" y="2596178"/>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以二分类为例，可根据领域知识设定“代价矩阵”，如下表所示，其中      表示将第</a:t>
              </a:r>
              <a:r>
                <a:rPr lang="en-US" altLang="zh-CN" b="1" dirty="0">
                  <a:latin typeface="黑体" panose="02010609060101010101" pitchFamily="49" charset="-122"/>
                  <a:ea typeface="黑体" panose="02010609060101010101" pitchFamily="49" charset="-122"/>
                </a:rPr>
                <a:t>i</a:t>
              </a:r>
              <a:r>
                <a:rPr lang="zh-CN" altLang="en-US" b="1" dirty="0">
                  <a:latin typeface="黑体" panose="02010609060101010101" pitchFamily="49" charset="-122"/>
                  <a:ea typeface="黑体" panose="02010609060101010101" pitchFamily="49" charset="-122"/>
                </a:rPr>
                <a:t>类样本预测为第</a:t>
              </a:r>
              <a:r>
                <a:rPr lang="en-US" altLang="zh-CN" b="1" dirty="0">
                  <a:latin typeface="黑体" panose="02010609060101010101" pitchFamily="49" charset="-122"/>
                  <a:ea typeface="黑体" panose="02010609060101010101" pitchFamily="49" charset="-122"/>
                </a:rPr>
                <a:t>j</a:t>
              </a:r>
              <a:r>
                <a:rPr lang="zh-CN" altLang="en-US" b="1" dirty="0">
                  <a:latin typeface="黑体" panose="02010609060101010101" pitchFamily="49" charset="-122"/>
                  <a:ea typeface="黑体" panose="02010609060101010101" pitchFamily="49" charset="-122"/>
                </a:rPr>
                <a:t>类样本的代价。损失程度越大，     与      值的差别越大。</a:t>
              </a:r>
              <a:endParaRPr lang="zh-CN" altLang="en-US" b="1" dirty="0">
                <a:latin typeface="黑体" panose="02010609060101010101" pitchFamily="49" charset="-122"/>
                <a:ea typeface="黑体" panose="02010609060101010101" pitchFamily="49" charset="-122"/>
              </a:endParaRPr>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2769" y="2946400"/>
              <a:ext cx="623251" cy="25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119" y="3237636"/>
              <a:ext cx="685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8520" y="3212116"/>
              <a:ext cx="6477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 name="组合 3"/>
          <p:cNvGrpSpPr/>
          <p:nvPr/>
        </p:nvGrpSpPr>
        <p:grpSpPr>
          <a:xfrm>
            <a:off x="467544" y="4689083"/>
            <a:ext cx="7894407" cy="1764253"/>
            <a:chOff x="792393" y="3823746"/>
            <a:chExt cx="6973210" cy="1764253"/>
          </a:xfrm>
        </p:grpSpPr>
        <p:sp>
          <p:nvSpPr>
            <p:cNvPr id="16" name="内容占位符 2"/>
            <p:cNvSpPr txBox="1"/>
            <p:nvPr/>
          </p:nvSpPr>
          <p:spPr>
            <a:xfrm>
              <a:off x="792393" y="3823746"/>
              <a:ext cx="6973210" cy="17642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在非均等代价下，不再最小化错误次数，而是最小化“总体代价”，则“代价敏感”错误率相应的为：</a:t>
              </a:r>
              <a:endParaRPr lang="zh-CN" altLang="en-US" b="1" dirty="0">
                <a:latin typeface="黑体" panose="02010609060101010101" pitchFamily="49" charset="-122"/>
                <a:ea typeface="黑体" panose="02010609060101010101" pitchFamily="49" charset="-122"/>
              </a:endParaRPr>
            </a:p>
          </p:txBody>
        </p:sp>
        <p:grpSp>
          <p:nvGrpSpPr>
            <p:cNvPr id="3" name="组合 2"/>
            <p:cNvGrpSpPr/>
            <p:nvPr/>
          </p:nvGrpSpPr>
          <p:grpSpPr>
            <a:xfrm>
              <a:off x="1404938" y="4419776"/>
              <a:ext cx="6088062" cy="825324"/>
              <a:chOff x="1328738" y="4254675"/>
              <a:chExt cx="6197158" cy="570497"/>
            </a:xfrm>
          </p:grpSpPr>
          <p:pic>
            <p:nvPicPr>
              <p:cNvPr id="194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738" y="4305475"/>
                <a:ext cx="3531302" cy="495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0" y="4254675"/>
                <a:ext cx="2604646" cy="570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7" name="图片 6"/>
          <p:cNvPicPr>
            <a:picLocks noChangeAspect="1"/>
          </p:cNvPicPr>
          <p:nvPr/>
        </p:nvPicPr>
        <p:blipFill>
          <a:blip r:embed="rId6"/>
          <a:stretch>
            <a:fillRect/>
          </a:stretch>
        </p:blipFill>
        <p:spPr>
          <a:xfrm>
            <a:off x="1724041" y="2989941"/>
            <a:ext cx="3672408" cy="17612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buClr>
                <a:srgbClr val="00B050"/>
              </a:buClr>
            </a:pPr>
            <a:r>
              <a:rPr lang="zh-CN" altLang="en-US" sz="4000" b="1" dirty="0">
                <a:latin typeface="黑体" panose="02010609060101010101" pitchFamily="49" charset="-122"/>
                <a:ea typeface="黑体" panose="02010609060101010101" pitchFamily="49" charset="-122"/>
              </a:rPr>
              <a:t>代价曲线</a:t>
            </a:r>
            <a:endParaRPr lang="zh-CN" altLang="en-US" sz="4000" b="1" dirty="0">
              <a:latin typeface="黑体" panose="02010609060101010101" pitchFamily="49" charset="-122"/>
              <a:ea typeface="黑体" panose="02010609060101010101" pitchFamily="49" charset="-122"/>
            </a:endParaRPr>
          </a:p>
        </p:txBody>
      </p:sp>
      <p:sp>
        <p:nvSpPr>
          <p:cNvPr id="13" name="内容占位符 2"/>
          <p:cNvSpPr txBox="1"/>
          <p:nvPr/>
        </p:nvSpPr>
        <p:spPr>
          <a:xfrm>
            <a:off x="766992" y="1486947"/>
            <a:ext cx="7919807"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在非均等代价下，</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曲线不能直接反映出学习器的期望总体代价，而“代价曲线”可以。</a:t>
            </a:r>
            <a:endParaRPr lang="zh-CN" altLang="en-US" b="1" dirty="0">
              <a:latin typeface="黑体" panose="02010609060101010101" pitchFamily="49" charset="-122"/>
              <a:ea typeface="黑体" panose="02010609060101010101" pitchFamily="49" charset="-122"/>
            </a:endParaRPr>
          </a:p>
        </p:txBody>
      </p:sp>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grpSp>
        <p:nvGrpSpPr>
          <p:cNvPr id="4" name="组合 3"/>
          <p:cNvGrpSpPr/>
          <p:nvPr/>
        </p:nvGrpSpPr>
        <p:grpSpPr>
          <a:xfrm>
            <a:off x="805093" y="2605594"/>
            <a:ext cx="7049832" cy="2402478"/>
            <a:chOff x="805093" y="2605594"/>
            <a:chExt cx="7049832" cy="2402478"/>
          </a:xfrm>
        </p:grpSpPr>
        <p:sp>
          <p:nvSpPr>
            <p:cNvPr id="11" name="内容占位符 2"/>
            <p:cNvSpPr txBox="1"/>
            <p:nvPr/>
          </p:nvSpPr>
          <p:spPr>
            <a:xfrm>
              <a:off x="805093" y="2605594"/>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代价曲线的横轴是取值为</a:t>
              </a:r>
              <a:r>
                <a:rPr lang="en-US" altLang="zh-CN" b="1" dirty="0">
                  <a:latin typeface="黑体" panose="02010609060101010101" pitchFamily="49" charset="-122"/>
                  <a:ea typeface="黑体" panose="02010609060101010101" pitchFamily="49" charset="-122"/>
                </a:rPr>
                <a:t>[0,1]</a:t>
              </a:r>
              <a:r>
                <a:rPr lang="zh-CN" altLang="en-US" b="1" dirty="0">
                  <a:latin typeface="黑体" panose="02010609060101010101" pitchFamily="49" charset="-122"/>
                  <a:ea typeface="黑体" panose="02010609060101010101" pitchFamily="49" charset="-122"/>
                </a:rPr>
                <a:t>的正例概率代价</a:t>
              </a:r>
              <a:endParaRPr lang="zh-CN" altLang="en-US" b="1" dirty="0">
                <a:latin typeface="黑体" panose="02010609060101010101" pitchFamily="49" charset="-122"/>
                <a:ea typeface="黑体" panose="02010609060101010101" pitchFamily="49" charset="-122"/>
              </a:endParaRPr>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3289" y="3039231"/>
              <a:ext cx="3833066" cy="64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内容占位符 2"/>
            <p:cNvSpPr txBox="1"/>
            <p:nvPr/>
          </p:nvSpPr>
          <p:spPr>
            <a:xfrm>
              <a:off x="881715" y="3765064"/>
              <a:ext cx="6973210"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纵轴是取值为</a:t>
              </a:r>
              <a:r>
                <a:rPr lang="en-US" altLang="zh-CN" b="1" dirty="0">
                  <a:latin typeface="黑体" panose="02010609060101010101" pitchFamily="49" charset="-122"/>
                  <a:ea typeface="黑体" panose="02010609060101010101" pitchFamily="49" charset="-122"/>
                </a:rPr>
                <a:t>[0,1]</a:t>
              </a:r>
              <a:r>
                <a:rPr lang="zh-CN" altLang="en-US" b="1" dirty="0">
                  <a:latin typeface="黑体" panose="02010609060101010101" pitchFamily="49" charset="-122"/>
                  <a:ea typeface="黑体" panose="02010609060101010101" pitchFamily="49" charset="-122"/>
                </a:rPr>
                <a:t>的归一化代价</a:t>
              </a:r>
              <a:endParaRPr lang="zh-CN" altLang="en-US" b="1" dirty="0">
                <a:latin typeface="黑体" panose="02010609060101010101" pitchFamily="49" charset="-122"/>
                <a:ea typeface="黑体" panose="02010609060101010101" pitchFamily="49" charset="-122"/>
              </a:endParaRPr>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289" y="4201018"/>
              <a:ext cx="4728552" cy="80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文本框 2"/>
          <p:cNvSpPr txBox="1"/>
          <p:nvPr/>
        </p:nvSpPr>
        <p:spPr>
          <a:xfrm>
            <a:off x="1475656" y="5373216"/>
            <a:ext cx="5112568" cy="646331"/>
          </a:xfrm>
          <a:prstGeom prst="rect">
            <a:avLst/>
          </a:prstGeom>
          <a:noFill/>
        </p:spPr>
        <p:txBody>
          <a:bodyPr wrap="square" rtlCol="0">
            <a:spAutoFit/>
          </a:bodyPr>
          <a:lstStyle/>
          <a:p>
            <a:r>
              <a:rPr lang="en-US" altLang="zh-CN" b="1" dirty="0">
                <a:latin typeface="黑体" panose="02010609060101010101" pitchFamily="49" charset="-122"/>
                <a:ea typeface="黑体" panose="02010609060101010101" pitchFamily="49" charset="-122"/>
              </a:rPr>
              <a:t>FNR</a:t>
            </a:r>
            <a:r>
              <a:rPr lang="zh-CN" altLang="en-US" b="1" dirty="0">
                <a:latin typeface="黑体" panose="02010609060101010101" pitchFamily="49" charset="-122"/>
                <a:ea typeface="黑体" panose="02010609060101010101" pitchFamily="49" charset="-122"/>
              </a:rPr>
              <a:t>是假反例率</a:t>
            </a:r>
            <a:r>
              <a:rPr lang="en-US" altLang="zh-CN" b="1" dirty="0">
                <a:latin typeface="黑体" panose="02010609060101010101" pitchFamily="49" charset="-122"/>
                <a:ea typeface="黑体" panose="02010609060101010101" pitchFamily="49" charset="-122"/>
              </a:rPr>
              <a:t>(=1-TPR)</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FPR</a:t>
            </a:r>
            <a:r>
              <a:rPr lang="zh-CN" altLang="en-US" b="1" dirty="0">
                <a:latin typeface="黑体" panose="02010609060101010101" pitchFamily="49" charset="-122"/>
                <a:ea typeface="黑体" panose="02010609060101010101" pitchFamily="49" charset="-122"/>
              </a:rPr>
              <a:t>是假正例率</a:t>
            </a:r>
            <a:endParaRPr lang="zh-CN" altLang="en-US" b="1" dirty="0">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3"/>
          <a:stretch>
            <a:fillRect/>
          </a:stretch>
        </p:blipFill>
        <p:spPr>
          <a:xfrm>
            <a:off x="4530752" y="5049023"/>
            <a:ext cx="3743268" cy="13412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latin typeface="黑体" panose="02010609060101010101" pitchFamily="49" charset="-122"/>
                <a:ea typeface="黑体" panose="02010609060101010101" pitchFamily="49" charset="-122"/>
              </a:rPr>
              <a:t>代价曲线</a:t>
            </a:r>
            <a:endParaRPr lang="zh-CN" altLang="en-US" sz="4000" b="1" dirty="0">
              <a:latin typeface="黑体" panose="02010609060101010101" pitchFamily="49" charset="-122"/>
              <a:ea typeface="黑体" panose="02010609060101010101" pitchFamily="49" charset="-122"/>
            </a:endParaRPr>
          </a:p>
        </p:txBody>
      </p:sp>
      <p:sp>
        <p:nvSpPr>
          <p:cNvPr id="12" name="内容占位符 2"/>
          <p:cNvSpPr txBox="1"/>
          <p:nvPr/>
        </p:nvSpPr>
        <p:spPr>
          <a:xfrm>
            <a:off x="4860040" y="2897694"/>
            <a:ext cx="3486605"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p>
        </p:txBody>
      </p:sp>
      <p:sp>
        <p:nvSpPr>
          <p:cNvPr id="7" name="内容占位符 2"/>
          <p:cNvSpPr txBox="1"/>
          <p:nvPr/>
        </p:nvSpPr>
        <p:spPr>
          <a:xfrm>
            <a:off x="179512" y="1318001"/>
            <a:ext cx="8856984" cy="2402522"/>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600"/>
              </a:lnSpc>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代价曲线图的绘制：</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曲线上每个点对应了代价曲线上的一条线段，设</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曲线上点的坐标为</a:t>
            </a:r>
            <a:r>
              <a:rPr lang="en-US" altLang="zh-CN" b="1" dirty="0" smtClean="0">
                <a:latin typeface="黑体" panose="02010609060101010101" pitchFamily="49" charset="-122"/>
                <a:ea typeface="黑体" panose="02010609060101010101" pitchFamily="49" charset="-122"/>
              </a:rPr>
              <a:t>(FPR,</a:t>
            </a:r>
            <a:r>
              <a:rPr lang="en-US" altLang="zh-CN" b="1" dirty="0" smtClean="0">
                <a:latin typeface="黑体" panose="02010609060101010101" pitchFamily="49" charset="-122"/>
                <a:ea typeface="黑体" panose="02010609060101010101" pitchFamily="49" charset="-122"/>
              </a:rPr>
              <a:t>TPR</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则可相应计算出</a:t>
            </a:r>
            <a:r>
              <a:rPr lang="en-US" altLang="zh-CN" b="1" dirty="0">
                <a:latin typeface="黑体" panose="02010609060101010101" pitchFamily="49" charset="-122"/>
                <a:ea typeface="黑体" panose="02010609060101010101" pitchFamily="49" charset="-122"/>
              </a:rPr>
              <a:t>FNR,</a:t>
            </a:r>
            <a:r>
              <a:rPr lang="zh-CN" altLang="en-US" b="1" dirty="0">
                <a:latin typeface="黑体" panose="02010609060101010101" pitchFamily="49" charset="-122"/>
                <a:ea typeface="黑体" panose="02010609060101010101" pitchFamily="49" charset="-122"/>
              </a:rPr>
              <a:t>然后在代价平面上绘制一条从</a:t>
            </a:r>
            <a:r>
              <a:rPr lang="en-US" altLang="zh-CN" b="1" dirty="0">
                <a:latin typeface="黑体" panose="02010609060101010101" pitchFamily="49" charset="-122"/>
                <a:ea typeface="黑体" panose="02010609060101010101" pitchFamily="49" charset="-122"/>
              </a:rPr>
              <a:t>(0,FPR)</a:t>
            </a:r>
            <a:r>
              <a:rPr lang="zh-CN" altLang="en-US" b="1" dirty="0">
                <a:latin typeface="黑体" panose="02010609060101010101" pitchFamily="49" charset="-122"/>
                <a:ea typeface="黑体" panose="02010609060101010101" pitchFamily="49" charset="-122"/>
              </a:rPr>
              <a:t>到</a:t>
            </a:r>
            <a:r>
              <a:rPr lang="en-US" altLang="zh-CN" b="1" dirty="0">
                <a:latin typeface="黑体" panose="02010609060101010101" pitchFamily="49" charset="-122"/>
                <a:ea typeface="黑体" panose="02010609060101010101" pitchFamily="49" charset="-122"/>
              </a:rPr>
              <a:t>(1,FNR)</a:t>
            </a:r>
            <a:r>
              <a:rPr lang="zh-CN" altLang="en-US" b="1" dirty="0">
                <a:latin typeface="黑体" panose="02010609060101010101" pitchFamily="49" charset="-122"/>
                <a:ea typeface="黑体" panose="02010609060101010101" pitchFamily="49" charset="-122"/>
              </a:rPr>
              <a:t>的线段，线段下的面积即表示了该条件下的期望总体代价；如此将</a:t>
            </a:r>
            <a:r>
              <a:rPr lang="en-US" altLang="zh-CN" b="1" dirty="0">
                <a:latin typeface="黑体" panose="02010609060101010101" pitchFamily="49" charset="-122"/>
                <a:ea typeface="黑体" panose="02010609060101010101" pitchFamily="49" charset="-122"/>
              </a:rPr>
              <a:t>ROC</a:t>
            </a:r>
            <a:r>
              <a:rPr lang="zh-CN" altLang="en-US" b="1" dirty="0">
                <a:latin typeface="黑体" panose="02010609060101010101" pitchFamily="49" charset="-122"/>
                <a:ea typeface="黑体" panose="02010609060101010101" pitchFamily="49" charset="-122"/>
              </a:rPr>
              <a:t>曲线上的每个点转化为代价平面上的一条线段，然后取所有线段的下界，围成的面积即为所有条件下学习器的期望总体代价。</a:t>
            </a:r>
            <a:endParaRPr lang="zh-CN" altLang="en-US" b="1" dirty="0">
              <a:latin typeface="黑体" panose="02010609060101010101" pitchFamily="49" charset="-122"/>
              <a:ea typeface="黑体" panose="02010609060101010101" pitchFamily="49" charset="-122"/>
            </a:endParaRPr>
          </a:p>
        </p:txBody>
      </p:sp>
      <p:pic>
        <p:nvPicPr>
          <p:cNvPr id="215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9872" y="3154414"/>
            <a:ext cx="4536504" cy="3218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2"/>
          <p:cNvSpPr>
            <a:spLocks noGrp="1"/>
          </p:cNvSpPr>
          <p:nvPr>
            <p:ph type="body" idx="1"/>
          </p:nvPr>
        </p:nvSpPr>
        <p:spPr>
          <a:xfrm>
            <a:off x="971600" y="785866"/>
            <a:ext cx="7885509" cy="514350"/>
          </a:xfrm>
        </p:spPr>
        <p:txBody>
          <a:bodyPr anchor="b">
            <a:noAutofit/>
          </a:bodyPr>
          <a:lstStyle/>
          <a:p>
            <a:pPr eaLnBrk="1" hangingPunct="1">
              <a:spcBef>
                <a:spcPct val="0"/>
              </a:spcBef>
              <a:defRPr/>
            </a:pPr>
            <a:r>
              <a:rPr lang="en-US" altLang="en-US" sz="3200" dirty="0" err="1">
                <a:latin typeface="黑体" panose="02010609060101010101" pitchFamily="49" charset="-122"/>
                <a:ea typeface="黑体" panose="02010609060101010101" pitchFamily="49" charset="-122"/>
                <a:cs typeface="+mj-cs"/>
              </a:rPr>
              <a:t>Sklearn</a:t>
            </a:r>
            <a:r>
              <a:rPr altLang="en-US" sz="3200" dirty="0">
                <a:latin typeface="黑体" panose="02010609060101010101" pitchFamily="49" charset="-122"/>
                <a:ea typeface="黑体" panose="02010609060101010101" pitchFamily="49" charset="-122"/>
                <a:cs typeface="+mj-cs"/>
              </a:rPr>
              <a:t>评价指标计算</a:t>
            </a:r>
            <a:endParaRPr altLang="en-US" sz="3200" dirty="0">
              <a:latin typeface="黑体" panose="02010609060101010101" pitchFamily="49" charset="-122"/>
              <a:ea typeface="黑体" panose="02010609060101010101" pitchFamily="49" charset="-122"/>
              <a:cs typeface="+mj-cs"/>
            </a:endParaRPr>
          </a:p>
        </p:txBody>
      </p:sp>
      <p:sp>
        <p:nvSpPr>
          <p:cNvPr id="4" name="矩形 3"/>
          <p:cNvSpPr/>
          <p:nvPr/>
        </p:nvSpPr>
        <p:spPr>
          <a:xfrm>
            <a:off x="251223" y="1593057"/>
            <a:ext cx="2232546" cy="53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rmAutofit/>
          </a:bodyPr>
          <a:lstStyle/>
          <a:p>
            <a:pPr eaLnBrk="1" hangingPunct="1">
              <a:lnSpc>
                <a:spcPct val="90000"/>
              </a:lnSpc>
              <a:buClr>
                <a:schemeClr val="accent1"/>
              </a:buClr>
              <a:buFont typeface="Arial" panose="020B0604020202020204" pitchFamily="34" charset="0"/>
              <a:buNone/>
              <a:defRPr/>
            </a:pPr>
            <a:r>
              <a:rPr lang="en-US" altLang="zh-CN" sz="2000" b="1" dirty="0" err="1">
                <a:latin typeface="幼圆" panose="02010509060101010101" pitchFamily="49" charset="-122"/>
                <a:ea typeface="幼圆" panose="02010509060101010101" pitchFamily="49" charset="-122"/>
                <a:cs typeface="+mj-cs"/>
              </a:rPr>
              <a:t>sklearn.metrics</a:t>
            </a:r>
            <a:endParaRPr lang="en-US" altLang="zh-CN" sz="2000" b="1" dirty="0">
              <a:latin typeface="幼圆" panose="02010509060101010101" pitchFamily="49" charset="-122"/>
              <a:ea typeface="幼圆" panose="02010509060101010101" pitchFamily="49" charset="-122"/>
              <a:cs typeface="+mj-cs"/>
            </a:endParaRPr>
          </a:p>
        </p:txBody>
      </p:sp>
      <p:pic>
        <p:nvPicPr>
          <p:cNvPr id="69636"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77703" y="1515666"/>
            <a:ext cx="6313125" cy="362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4167" y="5257665"/>
            <a:ext cx="6477815" cy="917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47638" y="2708920"/>
            <a:ext cx="243006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p>
            <a:pPr eaLnBrk="1" hangingPunct="1">
              <a:lnSpc>
                <a:spcPct val="90000"/>
              </a:lnSpc>
              <a:buClr>
                <a:schemeClr val="accent1"/>
              </a:buClr>
              <a:buFont typeface="Arial" panose="020B0604020202020204" pitchFamily="34" charset="0"/>
              <a:buNone/>
              <a:defRPr/>
            </a:pPr>
            <a:r>
              <a:rPr lang="zh-CN" altLang="en-US" sz="2000" b="1" dirty="0">
                <a:latin typeface="幼圆" panose="02010509060101010101" pitchFamily="49" charset="-122"/>
                <a:ea typeface="幼圆" panose="02010509060101010101" pitchFamily="49" charset="-122"/>
                <a:cs typeface="+mj-cs"/>
              </a:rPr>
              <a:t>http://scikit-learn.org/stable/modules/classes.html#sklearn-metrics-metrics</a:t>
            </a:r>
            <a:endParaRPr lang="zh-CN" altLang="en-US" sz="2000" b="1" dirty="0">
              <a:latin typeface="幼圆" panose="02010509060101010101" pitchFamily="49" charset="-122"/>
              <a:ea typeface="幼圆" panose="02010509060101010101" pitchFamily="49" charset="-122"/>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4370" y="1628800"/>
            <a:ext cx="8976997"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11560" y="908720"/>
            <a:ext cx="8136904" cy="412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大 纲</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经验误差与过拟合</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原则</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评估方法</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方法</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性能度量</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指标</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solidFill>
                  <a:srgbClr val="0000FF"/>
                </a:solidFill>
                <a:latin typeface="黑体" panose="02010609060101010101" pitchFamily="49" charset="-122"/>
                <a:ea typeface="黑体" panose="02010609060101010101" pitchFamily="49" charset="-122"/>
              </a:rPr>
              <a:t>比较检验</a:t>
            </a:r>
            <a:endParaRPr lang="en-US" altLang="zh-CN" sz="2400" b="1" dirty="0">
              <a:solidFill>
                <a:srgbClr val="0000FF"/>
              </a:solidFill>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性能比较</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偏差与方差</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性能解释</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阅读材料</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latin typeface="黑体" panose="02010609060101010101" pitchFamily="49" charset="-122"/>
                <a:ea typeface="黑体" panose="02010609060101010101" pitchFamily="49" charset="-122"/>
              </a:rPr>
              <a:t>性能评估</a:t>
            </a:r>
            <a:r>
              <a:rPr lang="en-US" altLang="zh-CN" sz="4000" b="1" dirty="0">
                <a:latin typeface="黑体" panose="02010609060101010101" pitchFamily="49" charset="-122"/>
                <a:ea typeface="黑体" panose="02010609060101010101" pitchFamily="49" charset="-122"/>
              </a:rPr>
              <a:t>-</a:t>
            </a:r>
            <a:r>
              <a:rPr lang="zh-CN" altLang="en-US" sz="4000" b="1" dirty="0">
                <a:latin typeface="黑体" panose="02010609060101010101" pitchFamily="49" charset="-122"/>
                <a:ea typeface="黑体" panose="02010609060101010101" pitchFamily="49" charset="-122"/>
              </a:rPr>
              <a:t>相对比较</a:t>
            </a:r>
            <a:endParaRPr lang="zh-CN" altLang="en-US" sz="4000"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621673" y="1640462"/>
            <a:ext cx="8616950" cy="2092664"/>
          </a:xfrm>
        </p:spPr>
        <p:txBody>
          <a:bodyPr>
            <a:normAutofit fontScale="77500" lnSpcReduction="20000"/>
          </a:bodyPr>
          <a:lstStyle/>
          <a:p>
            <a:pPr>
              <a:buClr>
                <a:srgbClr val="00B050"/>
              </a:buClr>
              <a:buFont typeface="Wingdings" panose="05000000000000000000" pitchFamily="2" charset="2"/>
              <a:buChar char="p"/>
            </a:pPr>
            <a:r>
              <a:rPr lang="zh-CN" altLang="en-US" sz="3100" b="1" dirty="0">
                <a:solidFill>
                  <a:srgbClr val="0000FF"/>
                </a:solidFill>
                <a:latin typeface="黑体" panose="02010609060101010101" pitchFamily="49" charset="-122"/>
                <a:ea typeface="黑体" panose="02010609060101010101" pitchFamily="49" charset="-122"/>
              </a:rPr>
              <a:t>关于性能比较</a:t>
            </a:r>
            <a:r>
              <a:rPr lang="zh-CN" altLang="en-US" sz="2000" b="1" dirty="0">
                <a:solidFill>
                  <a:srgbClr val="0000FF"/>
                </a:solidFill>
                <a:latin typeface="黑体" panose="02010609060101010101" pitchFamily="49" charset="-122"/>
                <a:ea typeface="黑体" panose="02010609060101010101" pitchFamily="49" charset="-122"/>
              </a:rPr>
              <a:t>：</a:t>
            </a:r>
            <a:endParaRPr lang="en-US" altLang="zh-CN" sz="2000" b="1" dirty="0">
              <a:solidFill>
                <a:srgbClr val="0000FF"/>
              </a:solidFill>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测试性能并不等于泛化性能</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测试性能随着测试集的变化而变化</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很多机器学习算法本身有一定的随机性</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endParaRPr>
          </a:p>
          <a:p>
            <a:pPr marL="325755" lvl="1" indent="0">
              <a:buClr>
                <a:srgbClr val="00B050"/>
              </a:buClr>
              <a:buNone/>
            </a:pPr>
            <a:r>
              <a:rPr lang="zh-CN" altLang="en-US" b="1" dirty="0">
                <a:solidFill>
                  <a:srgbClr val="FF0000"/>
                </a:solidFill>
                <a:latin typeface="黑体" panose="02010609060101010101" pitchFamily="49" charset="-122"/>
                <a:ea typeface="黑体" panose="02010609060101010101" pitchFamily="49" charset="-122"/>
              </a:rPr>
              <a:t>直接选取相应评估方法在相应度量下比大小的方法不可取！</a:t>
            </a:r>
            <a:endParaRPr lang="en-US" altLang="zh-CN" b="1" dirty="0">
              <a:solidFill>
                <a:srgbClr val="FF0000"/>
              </a:solidFill>
              <a:latin typeface="黑体" panose="02010609060101010101" pitchFamily="49" charset="-122"/>
              <a:ea typeface="黑体" panose="02010609060101010101" pitchFamily="49" charset="-122"/>
            </a:endParaRPr>
          </a:p>
        </p:txBody>
      </p:sp>
      <p:sp>
        <p:nvSpPr>
          <p:cNvPr id="4" name="内容占位符 2"/>
          <p:cNvSpPr txBox="1"/>
          <p:nvPr/>
        </p:nvSpPr>
        <p:spPr>
          <a:xfrm>
            <a:off x="179512" y="4077072"/>
            <a:ext cx="8424936" cy="122413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800"/>
              </a:lnSpc>
              <a:buClr>
                <a:srgbClr val="00B050"/>
              </a:buClr>
              <a:buFont typeface="Wingdings" panose="05000000000000000000" pitchFamily="2" charset="2"/>
              <a:buChar char="p"/>
            </a:pPr>
            <a:r>
              <a:rPr lang="zh-CN" altLang="en-US" dirty="0">
                <a:solidFill>
                  <a:srgbClr val="0000FF"/>
                </a:solidFill>
                <a:latin typeface="黑体" panose="02010609060101010101" pitchFamily="49" charset="-122"/>
                <a:ea typeface="黑体" panose="02010609060101010101" pitchFamily="49" charset="-122"/>
              </a:rPr>
              <a:t>假设检验</a:t>
            </a:r>
            <a:r>
              <a:rPr lang="zh-CN" altLang="en-US" dirty="0">
                <a:latin typeface="黑体" panose="02010609060101010101" pitchFamily="49" charset="-122"/>
                <a:ea typeface="黑体" panose="02010609060101010101" pitchFamily="49" charset="-122"/>
              </a:rPr>
              <a:t>为学习器性能比较提供了重要依据，基于其结果我们可以推断出若在测试集上</a:t>
            </a:r>
            <a:r>
              <a:rPr lang="zh-CN" altLang="en-US" b="1" dirty="0">
                <a:latin typeface="黑体" panose="02010609060101010101" pitchFamily="49" charset="-122"/>
                <a:ea typeface="黑体" panose="02010609060101010101" pitchFamily="49" charset="-122"/>
              </a:rPr>
              <a:t>观察到学习器</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比</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好</a:t>
            </a:r>
            <a:r>
              <a:rPr lang="zh-CN" altLang="en-US" dirty="0">
                <a:latin typeface="黑体" panose="02010609060101010101" pitchFamily="49" charset="-122"/>
                <a:ea typeface="黑体" panose="02010609060101010101" pitchFamily="49" charset="-122"/>
              </a:rPr>
              <a:t>，则</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的泛化性能是否在</a:t>
            </a:r>
            <a:r>
              <a:rPr lang="zh-CN" altLang="en-US" b="1" dirty="0">
                <a:latin typeface="黑体" panose="02010609060101010101" pitchFamily="49" charset="-122"/>
                <a:ea typeface="黑体" panose="02010609060101010101" pitchFamily="49" charset="-122"/>
              </a:rPr>
              <a:t>统计意义上</a:t>
            </a:r>
            <a:r>
              <a:rPr lang="zh-CN" altLang="en-US" dirty="0">
                <a:latin typeface="黑体" panose="02010609060101010101" pitchFamily="49" charset="-122"/>
                <a:ea typeface="黑体" panose="02010609060101010101" pitchFamily="49" charset="-122"/>
              </a:rPr>
              <a:t>优于</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，以及这个结论的</a:t>
            </a:r>
            <a:r>
              <a:rPr lang="zh-CN" altLang="en-US" b="1" dirty="0">
                <a:latin typeface="黑体" panose="02010609060101010101" pitchFamily="49" charset="-122"/>
                <a:ea typeface="黑体" panose="02010609060101010101" pitchFamily="49" charset="-122"/>
              </a:rPr>
              <a:t>把握有多大</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latin typeface="黑体" panose="02010609060101010101" pitchFamily="49" charset="-122"/>
                <a:ea typeface="黑体" panose="02010609060101010101" pitchFamily="49" charset="-122"/>
              </a:rPr>
              <a:t>假设检验</a:t>
            </a:r>
            <a:endParaRPr lang="zh-CN" altLang="en-US" sz="4000"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621673" y="1640462"/>
            <a:ext cx="8270807" cy="3012674"/>
          </a:xfrm>
        </p:spPr>
        <p:txBody>
          <a:bodyPr>
            <a:normAutofit fontScale="70000" lnSpcReduction="20000"/>
          </a:bodyPr>
          <a:lstStyle/>
          <a:p>
            <a:pPr>
              <a:buClr>
                <a:srgbClr val="00B050"/>
              </a:buClr>
              <a:buFont typeface="Wingdings" panose="05000000000000000000" pitchFamily="2" charset="2"/>
              <a:buChar char="p"/>
            </a:pPr>
            <a:r>
              <a:rPr lang="en-US" altLang="zh-CN" sz="3100" b="1" dirty="0">
                <a:solidFill>
                  <a:srgbClr val="0000FF"/>
                </a:solidFill>
                <a:latin typeface="黑体" panose="02010609060101010101" pitchFamily="49" charset="-122"/>
                <a:ea typeface="黑体" panose="02010609060101010101" pitchFamily="49" charset="-122"/>
              </a:rPr>
              <a:t>A</a:t>
            </a:r>
            <a:r>
              <a:rPr lang="zh-CN" altLang="en-US" sz="3100" b="1" dirty="0">
                <a:solidFill>
                  <a:srgbClr val="0000FF"/>
                </a:solidFill>
                <a:latin typeface="黑体" panose="02010609060101010101" pitchFamily="49" charset="-122"/>
                <a:ea typeface="黑体" panose="02010609060101010101" pitchFamily="49" charset="-122"/>
              </a:rPr>
              <a:t>和</a:t>
            </a:r>
            <a:r>
              <a:rPr lang="en-US" altLang="zh-CN" sz="3100" b="1" dirty="0">
                <a:solidFill>
                  <a:srgbClr val="0000FF"/>
                </a:solidFill>
                <a:latin typeface="黑体" panose="02010609060101010101" pitchFamily="49" charset="-122"/>
                <a:ea typeface="黑体" panose="02010609060101010101" pitchFamily="49" charset="-122"/>
              </a:rPr>
              <a:t>B</a:t>
            </a:r>
            <a:r>
              <a:rPr lang="zh-CN" altLang="en-US" sz="3100" b="1" dirty="0">
                <a:solidFill>
                  <a:srgbClr val="0000FF"/>
                </a:solidFill>
                <a:latin typeface="黑体" panose="02010609060101010101" pitchFamily="49" charset="-122"/>
                <a:ea typeface="黑体" panose="02010609060101010101" pitchFamily="49" charset="-122"/>
              </a:rPr>
              <a:t>打赌，用硬币</a:t>
            </a:r>
            <a:r>
              <a:rPr lang="zh-CN" altLang="en-US" sz="2000" b="1" dirty="0">
                <a:solidFill>
                  <a:srgbClr val="0000FF"/>
                </a:solidFill>
                <a:latin typeface="黑体" panose="02010609060101010101" pitchFamily="49" charset="-122"/>
                <a:ea typeface="黑体" panose="02010609060101010101" pitchFamily="49" charset="-122"/>
              </a:rPr>
              <a:t>：</a:t>
            </a:r>
            <a:endParaRPr lang="en-US" altLang="zh-CN" sz="2000" b="1" dirty="0">
              <a:solidFill>
                <a:srgbClr val="0000FF"/>
              </a:solidFill>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硬币是公平的，花和字出现的概率相等</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：不相信，我要检查</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绝对不行</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那你扔几次看看？</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同意</a:t>
            </a:r>
            <a:endParaRPr lang="en-US" altLang="zh-CN" b="1" dirty="0">
              <a:latin typeface="黑体" panose="02010609060101010101" pitchFamily="49" charset="-122"/>
              <a:ea typeface="黑体" panose="02010609060101010101" pitchFamily="49" charset="-122"/>
            </a:endParaRPr>
          </a:p>
          <a:p>
            <a:pPr marL="457200" lvl="1" indent="0">
              <a:buClr>
                <a:srgbClr val="00B050"/>
              </a:buClr>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开始扔。扔了</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次，花朝上，正常。扔</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次，花朝上，</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感觉有点正常，但是万一点背呢？继续，扔了</a:t>
            </a:r>
            <a:r>
              <a:rPr lang="en-US" altLang="zh-CN" b="1" dirty="0">
                <a:latin typeface="黑体" panose="02010609060101010101" pitchFamily="49" charset="-122"/>
                <a:ea typeface="黑体" panose="02010609060101010101" pitchFamily="49" charset="-122"/>
              </a:rPr>
              <a:t>10</a:t>
            </a:r>
            <a:r>
              <a:rPr lang="zh-CN" altLang="en-US" b="1" dirty="0">
                <a:latin typeface="黑体" panose="02010609060101010101" pitchFamily="49" charset="-122"/>
                <a:ea typeface="黑体" panose="02010609060101010101" pitchFamily="49" charset="-122"/>
              </a:rPr>
              <a:t>次，花朝上。</a:t>
            </a:r>
            <a:endParaRPr lang="en-US" altLang="zh-CN"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en-US" altLang="zh-CN" sz="2700" b="1" dirty="0">
                <a:latin typeface="黑体" panose="02010609060101010101" pitchFamily="49" charset="-122"/>
                <a:ea typeface="黑体" panose="02010609060101010101" pitchFamily="49" charset="-122"/>
              </a:rPr>
              <a:t>B: </a:t>
            </a:r>
            <a:r>
              <a:rPr lang="zh-CN" altLang="en-US" sz="2700" b="1" dirty="0">
                <a:latin typeface="黑体" panose="02010609060101010101" pitchFamily="49" charset="-122"/>
                <a:ea typeface="黑体" panose="02010609060101010101" pitchFamily="49" charset="-122"/>
              </a:rPr>
              <a:t>不正常，你的硬币有问题（硬币是公平的假设有问题，经不起检验）</a:t>
            </a:r>
            <a:endParaRPr lang="en-US" altLang="zh-CN" sz="2700" b="1" dirty="0">
              <a:latin typeface="黑体" panose="02010609060101010101" pitchFamily="49" charset="-122"/>
              <a:ea typeface="黑体" panose="02010609060101010101" pitchFamily="49" charset="-122"/>
            </a:endParaRPr>
          </a:p>
        </p:txBody>
      </p:sp>
      <p:sp>
        <p:nvSpPr>
          <p:cNvPr id="4" name="内容占位符 2"/>
          <p:cNvSpPr txBox="1"/>
          <p:nvPr/>
        </p:nvSpPr>
        <p:spPr>
          <a:xfrm>
            <a:off x="245096" y="4725144"/>
            <a:ext cx="8424936" cy="1224136"/>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ts val="2800"/>
              </a:lnSpc>
              <a:buClr>
                <a:srgbClr val="00B050"/>
              </a:buClr>
              <a:buFont typeface="Wingdings" panose="05000000000000000000" pitchFamily="2" charset="2"/>
              <a:buChar char="p"/>
            </a:pPr>
            <a:r>
              <a:rPr lang="zh-CN" altLang="en-US" b="1" dirty="0">
                <a:solidFill>
                  <a:srgbClr val="0000FF"/>
                </a:solidFill>
                <a:latin typeface="黑体" panose="02010609060101010101" pitchFamily="49" charset="-122"/>
                <a:ea typeface="黑体" panose="02010609060101010101" pitchFamily="49" charset="-122"/>
              </a:rPr>
              <a:t>假设</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硬币是公平的</a:t>
            </a:r>
            <a:endParaRPr lang="en-US" altLang="zh-CN" b="1" dirty="0">
              <a:solidFill>
                <a:srgbClr val="0000FF"/>
              </a:solidFill>
              <a:latin typeface="黑体" panose="02010609060101010101" pitchFamily="49" charset="-122"/>
              <a:ea typeface="黑体" panose="02010609060101010101" pitchFamily="49" charset="-122"/>
            </a:endParaRPr>
          </a:p>
          <a:p>
            <a:pPr marL="800100" lvl="1" indent="-342900">
              <a:lnSpc>
                <a:spcPts val="2800"/>
              </a:lnSpc>
              <a:buClr>
                <a:srgbClr val="00B050"/>
              </a:buClr>
              <a:buFont typeface="Wingdings" panose="05000000000000000000" pitchFamily="2" charset="2"/>
              <a:buChar char="p"/>
            </a:pPr>
            <a:r>
              <a:rPr lang="zh-CN" altLang="en-US" b="1" dirty="0">
                <a:solidFill>
                  <a:srgbClr val="0000FF"/>
                </a:solidFill>
                <a:latin typeface="黑体" panose="02010609060101010101" pitchFamily="49" charset="-122"/>
                <a:ea typeface="黑体" panose="02010609060101010101" pitchFamily="49" charset="-122"/>
              </a:rPr>
              <a:t>检验：认为假设成立，扔十次看是否与假设符合。</a:t>
            </a:r>
            <a:endParaRPr lang="zh-CN"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27584" y="1268760"/>
            <a:ext cx="7487420" cy="43725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83568" y="1052736"/>
            <a:ext cx="8347856" cy="509436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99592" y="1052736"/>
            <a:ext cx="8144801" cy="525293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27584" y="548680"/>
            <a:ext cx="8109982" cy="616530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27584" y="548680"/>
            <a:ext cx="8112751" cy="593958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745418" y="476672"/>
            <a:ext cx="8398582" cy="616368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83568" y="536899"/>
            <a:ext cx="8172400" cy="578420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79512" y="1196752"/>
            <a:ext cx="8625450" cy="4750063"/>
          </a:xfrm>
          <a:prstGeom prst="rect">
            <a:avLst/>
          </a:prstGeom>
        </p:spPr>
      </p:pic>
      <p:sp>
        <p:nvSpPr>
          <p:cNvPr id="3" name="文本框 2"/>
          <p:cNvSpPr txBox="1"/>
          <p:nvPr/>
        </p:nvSpPr>
        <p:spPr>
          <a:xfrm>
            <a:off x="1475656" y="1268760"/>
            <a:ext cx="3888432" cy="369332"/>
          </a:xfrm>
          <a:prstGeom prst="rect">
            <a:avLst/>
          </a:prstGeom>
          <a:noFill/>
        </p:spPr>
        <p:txBody>
          <a:bodyPr wrap="square" rtlCol="0">
            <a:spAutoFit/>
          </a:bodyPr>
          <a:lstStyle/>
          <a:p>
            <a:r>
              <a:rPr lang="zh-CN" altLang="en-US" b="1" i="0" dirty="0">
                <a:solidFill>
                  <a:srgbClr val="FF0000"/>
                </a:solidFill>
                <a:effectLst/>
                <a:latin typeface="-apple-system"/>
              </a:rPr>
              <a:t>表示假设出错的概率</a:t>
            </a:r>
            <a:r>
              <a:rPr lang="en-US" altLang="zh-CN" b="0" i="0" dirty="0">
                <a:solidFill>
                  <a:srgbClr val="FF0000"/>
                </a:solidFill>
                <a:effectLst/>
                <a:latin typeface="-apple-system"/>
              </a:rPr>
              <a:t>-</a:t>
            </a:r>
            <a:r>
              <a:rPr lang="zh-CN" altLang="en-US" dirty="0">
                <a:solidFill>
                  <a:srgbClr val="FF0000"/>
                </a:solidFill>
              </a:rPr>
              <a:t>小概率事件</a:t>
            </a:r>
            <a:endParaRPr lang="zh-CN" altLang="en-US"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27584" y="548680"/>
            <a:ext cx="7729112" cy="6202857"/>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39552" y="1484784"/>
            <a:ext cx="8363431" cy="4536504"/>
          </a:xfrm>
          <a:prstGeom prst="rect">
            <a:avLst/>
          </a:prstGeom>
        </p:spPr>
      </p:pic>
      <p:sp>
        <p:nvSpPr>
          <p:cNvPr id="5" name="标题 1"/>
          <p:cNvSpPr>
            <a:spLocks noGrp="1"/>
          </p:cNvSpPr>
          <p:nvPr>
            <p:ph type="title"/>
          </p:nvPr>
        </p:nvSpPr>
        <p:spPr>
          <a:xfrm>
            <a:off x="457200" y="274638"/>
            <a:ext cx="8229600" cy="1143000"/>
          </a:xfrm>
        </p:spPr>
        <p:txBody>
          <a:bodyPr/>
          <a:lstStyle/>
          <a:p>
            <a:r>
              <a:rPr lang="zh-CN" altLang="en-US" b="1" dirty="0">
                <a:latin typeface="黑体" panose="02010609060101010101" pitchFamily="49" charset="-122"/>
                <a:ea typeface="黑体" panose="02010609060101010101" pitchFamily="49" charset="-122"/>
              </a:rPr>
              <a:t>二项检验</a:t>
            </a:r>
            <a:endParaRPr lang="zh-CN"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691680" y="980728"/>
            <a:ext cx="6887864" cy="5309211"/>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b="1" dirty="0">
                <a:latin typeface="黑体" panose="02010609060101010101" pitchFamily="49" charset="-122"/>
                <a:ea typeface="黑体" panose="02010609060101010101" pitchFamily="49" charset="-122"/>
              </a:rPr>
              <a:t>二项检验</a:t>
            </a:r>
            <a:endParaRPr lang="zh-CN" altLang="en-US" b="1" dirty="0">
              <a:latin typeface="黑体" panose="02010609060101010101" pitchFamily="49" charset="-122"/>
              <a:ea typeface="黑体" panose="02010609060101010101" pitchFamily="49" charset="-122"/>
            </a:endParaRPr>
          </a:p>
        </p:txBody>
      </p:sp>
      <p:grpSp>
        <p:nvGrpSpPr>
          <p:cNvPr id="6" name="组合 5"/>
          <p:cNvGrpSpPr/>
          <p:nvPr/>
        </p:nvGrpSpPr>
        <p:grpSpPr>
          <a:xfrm>
            <a:off x="166576" y="3270994"/>
            <a:ext cx="9085944" cy="2139640"/>
            <a:chOff x="888285" y="3096336"/>
            <a:chExt cx="9085944" cy="2139640"/>
          </a:xfrm>
        </p:grpSpPr>
        <p:sp>
          <p:nvSpPr>
            <p:cNvPr id="5" name="矩形 4"/>
            <p:cNvSpPr/>
            <p:nvPr/>
          </p:nvSpPr>
          <p:spPr>
            <a:xfrm>
              <a:off x="888285" y="3096336"/>
              <a:ext cx="9085944" cy="2123658"/>
            </a:xfrm>
            <a:prstGeom prst="rect">
              <a:avLst/>
            </a:prstGeom>
          </p:spPr>
          <p:txBody>
            <a:bodyPr wrap="square">
              <a:spAutoFit/>
            </a:bodyPr>
            <a:lstStyle/>
            <a:p>
              <a:r>
                <a:rPr lang="zh-CN" altLang="en-US" sz="2200" b="1" dirty="0">
                  <a:latin typeface="黑体" panose="02010609060101010101" pitchFamily="49" charset="-122"/>
                  <a:ea typeface="黑体" panose="02010609060101010101" pitchFamily="49" charset="-122"/>
                </a:rPr>
                <a:t>假设</a:t>
              </a:r>
              <a:r>
                <a:rPr lang="en-US" altLang="zh-CN" sz="2200" b="1" dirty="0">
                  <a:latin typeface="黑体" panose="02010609060101010101" pitchFamily="49" charset="-122"/>
                  <a:ea typeface="黑体" panose="02010609060101010101" pitchFamily="49" charset="-122"/>
                </a:rPr>
                <a:t>	    ,</a:t>
              </a:r>
              <a:r>
                <a:rPr lang="zh-CN" altLang="en-US" sz="2200" b="1" dirty="0">
                  <a:latin typeface="黑体" panose="02010609060101010101" pitchFamily="49" charset="-122"/>
                  <a:ea typeface="黑体" panose="02010609060101010101" pitchFamily="49" charset="-122"/>
                </a:rPr>
                <a:t>若测试错误率  小于临界值（接受的上限</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即最大错误率）：</a:t>
              </a:r>
              <a:endParaRPr lang="en-US" altLang="zh-CN" sz="2200" b="1" dirty="0">
                <a:latin typeface="黑体" panose="02010609060101010101" pitchFamily="49" charset="-122"/>
                <a:ea typeface="黑体" panose="02010609060101010101" pitchFamily="49" charset="-122"/>
              </a:endParaRPr>
            </a:p>
            <a:p>
              <a:pPr marL="325755" lvl="1"/>
              <a:endParaRPr lang="en-US" altLang="zh-CN" sz="2200" b="1" dirty="0">
                <a:latin typeface="黑体" panose="02010609060101010101" pitchFamily="49" charset="-122"/>
                <a:ea typeface="黑体" panose="02010609060101010101" pitchFamily="49" charset="-122"/>
              </a:endParaRPr>
            </a:p>
            <a:p>
              <a:pPr indent="-131445"/>
              <a:endParaRPr lang="en-US" altLang="zh-CN" sz="2200" b="1" dirty="0">
                <a:latin typeface="黑体" panose="02010609060101010101" pitchFamily="49" charset="-122"/>
                <a:ea typeface="黑体" panose="02010609060101010101" pitchFamily="49" charset="-122"/>
              </a:endParaRPr>
            </a:p>
            <a:p>
              <a:pPr indent="-131445"/>
              <a:endParaRPr lang="en-US" altLang="zh-CN" sz="2200" b="1" dirty="0">
                <a:latin typeface="黑体" panose="02010609060101010101" pitchFamily="49" charset="-122"/>
                <a:ea typeface="黑体" panose="02010609060101010101" pitchFamily="49" charset="-122"/>
              </a:endParaRPr>
            </a:p>
            <a:p>
              <a:pPr indent="-131445"/>
              <a:r>
                <a:rPr lang="zh-CN" altLang="en-US" sz="2200" b="1" dirty="0">
                  <a:latin typeface="黑体" panose="02010609060101010101" pitchFamily="49" charset="-122"/>
                  <a:ea typeface="黑体" panose="02010609060101010101" pitchFamily="49" charset="-122"/>
                </a:rPr>
                <a:t>则在   的</a:t>
              </a:r>
              <a:r>
                <a:rPr lang="zh-CN" altLang="en-US" sz="2200" b="1" dirty="0">
                  <a:solidFill>
                    <a:srgbClr val="FF0000"/>
                  </a:solidFill>
                  <a:latin typeface="黑体" panose="02010609060101010101" pitchFamily="49" charset="-122"/>
                  <a:ea typeface="黑体" panose="02010609060101010101" pitchFamily="49" charset="-122"/>
                </a:rPr>
                <a:t>显著度</a:t>
              </a:r>
              <a:r>
                <a:rPr lang="zh-CN" altLang="en-US" sz="2200" b="1" dirty="0">
                  <a:latin typeface="黑体" panose="02010609060101010101" pitchFamily="49" charset="-122"/>
                  <a:ea typeface="黑体" panose="02010609060101010101" pitchFamily="49" charset="-122"/>
                </a:rPr>
                <a:t>下，假设      不能被拒绝</a:t>
              </a:r>
              <a:r>
                <a:rPr lang="en-US" altLang="zh-CN" sz="2200" b="1" dirty="0">
                  <a:latin typeface="黑体" panose="02010609060101010101" pitchFamily="49" charset="-122"/>
                  <a:ea typeface="黑体" panose="02010609060101010101" pitchFamily="49" charset="-122"/>
                </a:rPr>
                <a:t>, </a:t>
              </a:r>
              <a:r>
                <a:rPr lang="zh-CN" altLang="en-US" sz="2200" b="1" dirty="0">
                  <a:latin typeface="黑体" panose="02010609060101010101" pitchFamily="49" charset="-122"/>
                  <a:ea typeface="黑体" panose="02010609060101010101" pitchFamily="49" charset="-122"/>
                </a:rPr>
                <a:t>也即能以</a:t>
              </a:r>
              <a:endParaRPr lang="en-US" altLang="zh-CN" sz="2200" b="1" dirty="0">
                <a:latin typeface="黑体" panose="02010609060101010101" pitchFamily="49" charset="-122"/>
                <a:ea typeface="黑体" panose="02010609060101010101" pitchFamily="49" charset="-122"/>
              </a:endParaRPr>
            </a:p>
            <a:p>
              <a:pPr indent="-131445"/>
              <a:r>
                <a:rPr lang="zh-CN" altLang="en-US" sz="2200" b="1" dirty="0">
                  <a:latin typeface="黑体" panose="02010609060101010101" pitchFamily="49" charset="-122"/>
                  <a:ea typeface="黑体" panose="02010609060101010101" pitchFamily="49" charset="-122"/>
                </a:rPr>
                <a:t>的</a:t>
              </a:r>
              <a:r>
                <a:rPr lang="zh-CN" altLang="en-US" sz="2200" b="1" dirty="0">
                  <a:solidFill>
                    <a:srgbClr val="FF0000"/>
                  </a:solidFill>
                  <a:latin typeface="黑体" panose="02010609060101010101" pitchFamily="49" charset="-122"/>
                  <a:ea typeface="黑体" panose="02010609060101010101" pitchFamily="49" charset="-122"/>
                </a:rPr>
                <a:t>置信度</a:t>
              </a:r>
              <a:r>
                <a:rPr lang="zh-CN" altLang="en-US" sz="2200" b="1" dirty="0">
                  <a:latin typeface="黑体" panose="02010609060101010101" pitchFamily="49" charset="-122"/>
                  <a:ea typeface="黑体" panose="02010609060101010101" pitchFamily="49" charset="-122"/>
                </a:rPr>
                <a:t>认为，模型的泛化错误率不大于   </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否则该假设可被拒绝。</a:t>
              </a:r>
              <a:endParaRPr lang="en-US" altLang="zh-CN" sz="2200" b="1" dirty="0">
                <a:latin typeface="黑体" panose="02010609060101010101" pitchFamily="49" charset="-122"/>
                <a:ea typeface="黑体" panose="02010609060101010101" pitchFamily="49" charset="-122"/>
              </a:endParaRPr>
            </a:p>
          </p:txBody>
        </p:sp>
        <p:pic>
          <p:nvPicPr>
            <p:cNvPr id="11"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80812" y="3202117"/>
              <a:ext cx="840109" cy="343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301" y="4616210"/>
              <a:ext cx="234357" cy="208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2736" y="4515461"/>
              <a:ext cx="807357" cy="309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5797" y="4898590"/>
              <a:ext cx="337386" cy="337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组合 6"/>
          <p:cNvGrpSpPr/>
          <p:nvPr/>
        </p:nvGrpSpPr>
        <p:grpSpPr>
          <a:xfrm>
            <a:off x="911158" y="1041033"/>
            <a:ext cx="7549274" cy="1200988"/>
            <a:chOff x="474893" y="1080547"/>
            <a:chExt cx="7549274" cy="1200988"/>
          </a:xfrm>
        </p:grpSpPr>
        <p:sp>
          <p:nvSpPr>
            <p:cNvPr id="4" name="内容占位符 2"/>
            <p:cNvSpPr txBox="1"/>
            <p:nvPr/>
          </p:nvSpPr>
          <p:spPr>
            <a:xfrm>
              <a:off x="474893" y="1080547"/>
              <a:ext cx="7549274" cy="1200988"/>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ts val="2800"/>
                </a:lnSpc>
                <a:buClr>
                  <a:srgbClr val="00B050"/>
                </a:buClr>
              </a:pPr>
              <a:r>
                <a:rPr lang="zh-CN" altLang="en-US" b="1" dirty="0">
                  <a:latin typeface="黑体" panose="02010609060101010101" pitchFamily="49" charset="-122"/>
                  <a:ea typeface="黑体" panose="02010609060101010101" pitchFamily="49" charset="-122"/>
                </a:rPr>
                <a:t>记泛化错误率为  ，测试错误率为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假定测试样本从样本总体分布中独立采样而来，我们可以使用“二项检验”对      进行假设检验。</a:t>
              </a:r>
              <a:endParaRPr lang="zh-CN" altLang="en-US" b="1" dirty="0">
                <a:latin typeface="黑体" panose="02010609060101010101" pitchFamily="49" charset="-122"/>
                <a:ea typeface="黑体" panose="02010609060101010101" pitchFamily="49" charset="-122"/>
              </a:endParaRPr>
            </a:p>
          </p:txBody>
        </p:sp>
        <p:pic>
          <p:nvPicPr>
            <p:cNvPr id="2253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9023" y="1176338"/>
              <a:ext cx="228600" cy="23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8711" y="1138581"/>
              <a:ext cx="179151" cy="28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58986" y="1853166"/>
              <a:ext cx="905374" cy="370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4040" y="3357507"/>
            <a:ext cx="179151" cy="28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15867" y="4639146"/>
            <a:ext cx="840109" cy="343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p:cNvPicPr>
            <a:picLocks noChangeAspect="1"/>
          </p:cNvPicPr>
          <p:nvPr/>
        </p:nvPicPr>
        <p:blipFill>
          <a:blip r:embed="rId7"/>
          <a:stretch>
            <a:fillRect/>
          </a:stretch>
        </p:blipFill>
        <p:spPr>
          <a:xfrm>
            <a:off x="-36512" y="3747302"/>
            <a:ext cx="6585040" cy="924438"/>
          </a:xfrm>
          <a:prstGeom prst="rect">
            <a:avLst/>
          </a:prstGeom>
        </p:spPr>
      </p:pic>
      <p:pic>
        <p:nvPicPr>
          <p:cNvPr id="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5325" y="2287420"/>
            <a:ext cx="179151" cy="28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8"/>
          <p:cNvSpPr txBox="1"/>
          <p:nvPr/>
        </p:nvSpPr>
        <p:spPr>
          <a:xfrm>
            <a:off x="1316370" y="2278134"/>
            <a:ext cx="3019248" cy="369332"/>
          </a:xfrm>
          <a:prstGeom prst="rect">
            <a:avLst/>
          </a:prstGeom>
          <a:noFill/>
        </p:spPr>
        <p:txBody>
          <a:bodyPr wrap="square" rtlCol="0">
            <a:spAutoFit/>
          </a:bodyPr>
          <a:lstStyle/>
          <a:p>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事实上是   的采样</a:t>
            </a:r>
            <a:endParaRPr lang="zh-CN" altLang="en-US" b="1" dirty="0">
              <a:latin typeface="黑体" panose="02010609060101010101" pitchFamily="49" charset="-122"/>
              <a:ea typeface="黑体" panose="02010609060101010101" pitchFamily="49" charset="-122"/>
            </a:endParaRPr>
          </a:p>
        </p:txBody>
      </p:sp>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7568" y="2355420"/>
            <a:ext cx="228600" cy="23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图片 13"/>
          <p:cNvPicPr>
            <a:picLocks noChangeAspect="1"/>
          </p:cNvPicPr>
          <p:nvPr/>
        </p:nvPicPr>
        <p:blipFill>
          <a:blip r:embed="rId8"/>
          <a:stretch>
            <a:fillRect/>
          </a:stretch>
        </p:blipFill>
        <p:spPr>
          <a:xfrm>
            <a:off x="3863544" y="2218902"/>
            <a:ext cx="4808580" cy="973589"/>
          </a:xfrm>
          <a:prstGeom prst="rect">
            <a:avLst/>
          </a:prstGeom>
        </p:spPr>
      </p:pic>
      <p:pic>
        <p:nvPicPr>
          <p:cNvPr id="23" name="图片 22"/>
          <p:cNvPicPr>
            <a:picLocks noChangeAspect="1"/>
          </p:cNvPicPr>
          <p:nvPr/>
        </p:nvPicPr>
        <p:blipFill>
          <a:blip r:embed="rId9"/>
          <a:stretch>
            <a:fillRect/>
          </a:stretch>
        </p:blipFill>
        <p:spPr>
          <a:xfrm>
            <a:off x="166576" y="5481165"/>
            <a:ext cx="8674299" cy="8094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endParaRPr lang="zh-CN" altLang="en-US" b="1" dirty="0">
              <a:latin typeface="黑体" panose="02010609060101010101" pitchFamily="49" charset="-122"/>
              <a:ea typeface="黑体" panose="02010609060101010101" pitchFamily="49" charset="-122"/>
            </a:endParaRPr>
          </a:p>
        </p:txBody>
      </p:sp>
      <p:sp>
        <p:nvSpPr>
          <p:cNvPr id="5" name="矩形 4"/>
          <p:cNvSpPr/>
          <p:nvPr/>
        </p:nvSpPr>
        <p:spPr>
          <a:xfrm>
            <a:off x="755576" y="1340768"/>
            <a:ext cx="8136904" cy="1631216"/>
          </a:xfrm>
          <a:prstGeom prst="rect">
            <a:avLst/>
          </a:prstGeom>
        </p:spPr>
        <p:txBody>
          <a:bodyPr wrap="square">
            <a:spAutoFit/>
          </a:bodyPr>
          <a:lstStyle/>
          <a:p>
            <a:pPr marL="342900" indent="-342900">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两块麦田：左边的麦田采用传统</a:t>
            </a:r>
            <a:r>
              <a:rPr lang="en-US" altLang="zh-CN" sz="2000" b="1" dirty="0">
                <a:latin typeface="黑体" panose="02010609060101010101" pitchFamily="49" charset="-122"/>
                <a:ea typeface="黑体" panose="02010609060101010101" pitchFamily="49" charset="-122"/>
              </a:rPr>
              <a:t>A</a:t>
            </a:r>
            <a:r>
              <a:rPr lang="zh-CN" altLang="en-US" sz="2000" b="1" dirty="0">
                <a:latin typeface="黑体" panose="02010609060101010101" pitchFamily="49" charset="-122"/>
                <a:ea typeface="黑体" panose="02010609060101010101" pitchFamily="49" charset="-122"/>
              </a:rPr>
              <a:t>工艺进行种植，</a:t>
            </a:r>
            <a:r>
              <a:rPr lang="zh-CN" altLang="en-US" sz="2000" b="1" dirty="0">
                <a:solidFill>
                  <a:srgbClr val="FF0000"/>
                </a:solidFill>
                <a:latin typeface="黑体" panose="02010609060101010101" pitchFamily="49" charset="-122"/>
                <a:ea typeface="黑体" panose="02010609060101010101" pitchFamily="49" charset="-122"/>
              </a:rPr>
              <a:t>平均每株大麦可以结</a:t>
            </a:r>
            <a:r>
              <a:rPr lang="en-US" altLang="zh-CN" sz="2000" b="1" dirty="0">
                <a:solidFill>
                  <a:srgbClr val="FF0000"/>
                </a:solidFill>
                <a:latin typeface="黑体" panose="02010609060101010101" pitchFamily="49" charset="-122"/>
                <a:ea typeface="黑体" panose="02010609060101010101" pitchFamily="49" charset="-122"/>
              </a:rPr>
              <a:t>100</a:t>
            </a:r>
            <a:r>
              <a:rPr lang="zh-CN" altLang="en-US" sz="2000" b="1" dirty="0">
                <a:solidFill>
                  <a:srgbClr val="FF0000"/>
                </a:solidFill>
                <a:latin typeface="黑体" panose="02010609060101010101" pitchFamily="49" charset="-122"/>
                <a:ea typeface="黑体" panose="02010609060101010101" pitchFamily="49" charset="-122"/>
              </a:rPr>
              <a:t>粒穗子</a:t>
            </a:r>
            <a:r>
              <a:rPr lang="zh-CN" altLang="en-US" sz="2000" b="1" dirty="0">
                <a:latin typeface="黑体" panose="02010609060101010101" pitchFamily="49" charset="-122"/>
                <a:ea typeface="黑体" panose="02010609060101010101" pitchFamily="49" charset="-122"/>
              </a:rPr>
              <a:t>。而右边的麦田采用改进过的</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工艺种植，想知道“</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工艺是否提高了产量”。</a:t>
            </a:r>
            <a:endParaRPr lang="zh-CN" altLang="en-US" sz="2000" b="1" dirty="0">
              <a:latin typeface="黑体" panose="02010609060101010101" pitchFamily="49" charset="-122"/>
              <a:ea typeface="黑体" panose="02010609060101010101" pitchFamily="49" charset="-122"/>
            </a:endParaRPr>
          </a:p>
          <a:p>
            <a:pPr marL="342900" indent="-342900">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为了节约成本、减小损耗，从</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工艺的麦田中</a:t>
            </a:r>
            <a:r>
              <a:rPr lang="zh-CN" altLang="en-US" sz="2000" b="1" dirty="0">
                <a:solidFill>
                  <a:srgbClr val="FF0000"/>
                </a:solidFill>
                <a:latin typeface="黑体" panose="02010609060101010101" pitchFamily="49" charset="-122"/>
                <a:ea typeface="黑体" panose="02010609060101010101" pitchFamily="49" charset="-122"/>
              </a:rPr>
              <a:t>采样了</a:t>
            </a:r>
            <a:r>
              <a:rPr lang="en-US" altLang="zh-CN" sz="2000" b="1" dirty="0">
                <a:solidFill>
                  <a:srgbClr val="FF0000"/>
                </a:solidFill>
                <a:latin typeface="黑体" panose="02010609060101010101" pitchFamily="49" charset="-122"/>
                <a:ea typeface="黑体" panose="02010609060101010101" pitchFamily="49" charset="-122"/>
              </a:rPr>
              <a:t>5</a:t>
            </a:r>
            <a:r>
              <a:rPr lang="zh-CN" altLang="en-US" sz="2000" b="1" dirty="0">
                <a:solidFill>
                  <a:srgbClr val="FF0000"/>
                </a:solidFill>
                <a:latin typeface="黑体" panose="02010609060101010101" pitchFamily="49" charset="-122"/>
                <a:ea typeface="黑体" panose="02010609060101010101" pitchFamily="49" charset="-122"/>
              </a:rPr>
              <a:t>株大麦</a:t>
            </a:r>
            <a:r>
              <a:rPr lang="zh-CN" altLang="en-US" sz="2000" b="1" dirty="0">
                <a:latin typeface="黑体" panose="02010609060101010101" pitchFamily="49" charset="-122"/>
                <a:ea typeface="黑体" panose="02010609060101010101" pitchFamily="49" charset="-122"/>
              </a:rPr>
              <a:t>，样本均值为</a:t>
            </a:r>
            <a:r>
              <a:rPr lang="en-US" altLang="zh-CN" sz="2000" b="1" dirty="0">
                <a:solidFill>
                  <a:srgbClr val="FF0000"/>
                </a:solidFill>
                <a:latin typeface="黑体" panose="02010609060101010101" pitchFamily="49" charset="-122"/>
                <a:ea typeface="黑体" panose="02010609060101010101" pitchFamily="49" charset="-122"/>
              </a:rPr>
              <a:t>120</a:t>
            </a:r>
            <a:r>
              <a:rPr lang="zh-CN" altLang="en-US" sz="2000" b="1" dirty="0">
                <a:solidFill>
                  <a:srgbClr val="FF0000"/>
                </a:solidFill>
                <a:latin typeface="黑体" panose="02010609060101010101" pitchFamily="49" charset="-122"/>
                <a:ea typeface="黑体" panose="02010609060101010101" pitchFamily="49" charset="-122"/>
              </a:rPr>
              <a:t>粒穗子</a:t>
            </a:r>
            <a:r>
              <a:rPr lang="zh-CN" altLang="en-US" sz="2000" b="1" dirty="0">
                <a:latin typeface="黑体" panose="02010609060101010101" pitchFamily="49" charset="-122"/>
                <a:ea typeface="黑体" panose="02010609060101010101" pitchFamily="49" charset="-122"/>
              </a:rPr>
              <a:t>。似乎直观看来产量提高了，毕竟均值增加了。</a:t>
            </a:r>
            <a:endParaRPr lang="en-US" altLang="zh-CN" sz="2000" b="1" dirty="0">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1511660" y="3002641"/>
            <a:ext cx="6120680" cy="3580721"/>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endParaRPr lang="zh-CN" altLang="en-US" b="1" dirty="0">
              <a:latin typeface="黑体" panose="02010609060101010101" pitchFamily="49" charset="-122"/>
              <a:ea typeface="黑体" panose="02010609060101010101" pitchFamily="49" charset="-122"/>
            </a:endParaRPr>
          </a:p>
        </p:txBody>
      </p:sp>
      <p:sp>
        <p:nvSpPr>
          <p:cNvPr id="5" name="矩形 4"/>
          <p:cNvSpPr/>
          <p:nvPr/>
        </p:nvSpPr>
        <p:spPr>
          <a:xfrm>
            <a:off x="755576" y="1340768"/>
            <a:ext cx="7056784" cy="3477875"/>
          </a:xfrm>
          <a:prstGeom prst="rect">
            <a:avLst/>
          </a:prstGeom>
        </p:spPr>
        <p:txBody>
          <a:bodyPr wrap="square">
            <a:spAutoFit/>
          </a:bodyPr>
          <a:lstStyle/>
          <a:p>
            <a:pPr marL="342900" indent="-342900">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假设检验：</a:t>
            </a:r>
            <a:endParaRPr lang="zh-CN" altLang="en-US" sz="2000" b="1" dirty="0">
              <a:latin typeface="黑体" panose="02010609060101010101" pitchFamily="49" charset="-122"/>
              <a:ea typeface="黑体" panose="02010609060101010101" pitchFamily="49" charset="-122"/>
            </a:endParaRPr>
          </a:p>
          <a:p>
            <a:pPr>
              <a:buClr>
                <a:srgbClr val="00B050"/>
              </a:buClr>
            </a:pPr>
            <a:r>
              <a:rPr lang="zh-CN" altLang="en-US" sz="2000" b="1" dirty="0">
                <a:latin typeface="黑体" panose="02010609060101010101" pitchFamily="49" charset="-122"/>
                <a:ea typeface="黑体" panose="02010609060101010101" pitchFamily="49" charset="-122"/>
              </a:rPr>
              <a:t>  假设：</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工艺没有提高产量，即</a:t>
            </a:r>
            <a:r>
              <a:rPr lang="en-US" altLang="zh-CN" sz="2000" b="1" dirty="0">
                <a:latin typeface="黑体" panose="02010609060101010101" pitchFamily="49" charset="-122"/>
                <a:ea typeface="黑体" panose="02010609060101010101" pitchFamily="49" charset="-122"/>
              </a:rPr>
              <a:t>AB</a:t>
            </a:r>
            <a:r>
              <a:rPr lang="zh-CN" altLang="en-US" sz="2000" b="1" dirty="0">
                <a:latin typeface="黑体" panose="02010609060101010101" pitchFamily="49" charset="-122"/>
                <a:ea typeface="黑体" panose="02010609060101010101" pitchFamily="49" charset="-122"/>
              </a:rPr>
              <a:t>下的麦穗都是同一个分布 </a:t>
            </a:r>
            <a:endParaRPr lang="zh-CN" altLang="en-US" sz="2000" b="1" dirty="0">
              <a:latin typeface="黑体" panose="02010609060101010101" pitchFamily="49" charset="-122"/>
              <a:ea typeface="黑体" panose="02010609060101010101" pitchFamily="49" charset="-122"/>
            </a:endParaRPr>
          </a:p>
          <a:p>
            <a:pPr>
              <a:buClr>
                <a:srgbClr val="00B050"/>
              </a:buClr>
            </a:pPr>
            <a:r>
              <a:rPr lang="zh-CN" altLang="en-US" sz="2000" b="1" dirty="0">
                <a:latin typeface="黑体" panose="02010609060101010101" pitchFamily="49" charset="-122"/>
                <a:ea typeface="黑体" panose="02010609060101010101" pitchFamily="49" charset="-122"/>
              </a:rPr>
              <a:t>  检验：看看在此假设下，        发生的概率高不高 。</a:t>
            </a:r>
            <a:endParaRPr lang="en-US" altLang="zh-CN" sz="2000" b="1" dirty="0">
              <a:latin typeface="黑体" panose="02010609060101010101" pitchFamily="49" charset="-122"/>
              <a:ea typeface="黑体" panose="02010609060101010101" pitchFamily="49" charset="-122"/>
            </a:endParaRPr>
          </a:p>
          <a:p>
            <a:pPr>
              <a:buClr>
                <a:srgbClr val="00B050"/>
              </a:buClr>
            </a:pPr>
            <a:endParaRPr lang="en-US" altLang="zh-CN" sz="2000" b="1" dirty="0">
              <a:latin typeface="黑体" panose="02010609060101010101" pitchFamily="49" charset="-122"/>
              <a:ea typeface="黑体" panose="02010609060101010101" pitchFamily="49" charset="-122"/>
            </a:endParaRPr>
          </a:p>
          <a:p>
            <a:pPr>
              <a:buClr>
                <a:srgbClr val="00B050"/>
              </a:buClr>
            </a:pPr>
            <a:r>
              <a:rPr lang="zh-CN" altLang="en-US" sz="2000" b="1" dirty="0">
                <a:latin typeface="黑体" panose="02010609060101010101" pitchFamily="49" charset="-122"/>
                <a:ea typeface="黑体" panose="02010609060101010101" pitchFamily="49" charset="-122"/>
              </a:rPr>
              <a:t>已知的数据是，</a:t>
            </a:r>
            <a:r>
              <a:rPr lang="en-US" altLang="zh-CN" sz="2000" b="1" dirty="0">
                <a:latin typeface="黑体" panose="02010609060101010101" pitchFamily="49" charset="-122"/>
                <a:ea typeface="黑体" panose="02010609060101010101" pitchFamily="49" charset="-122"/>
              </a:rPr>
              <a:t>A</a:t>
            </a:r>
            <a:r>
              <a:rPr lang="zh-CN" altLang="en-US" sz="2000" b="1" dirty="0">
                <a:latin typeface="黑体" panose="02010609060101010101" pitchFamily="49" charset="-122"/>
                <a:ea typeface="黑体" panose="02010609060101010101" pitchFamily="49" charset="-122"/>
              </a:rPr>
              <a:t>工艺下的单株麦穗的个数服从          ，标准差未知的正态分布：</a:t>
            </a:r>
            <a:endParaRPr lang="en-US" altLang="zh-CN" sz="2000" b="1" dirty="0">
              <a:latin typeface="黑体" panose="02010609060101010101" pitchFamily="49" charset="-122"/>
              <a:ea typeface="黑体" panose="02010609060101010101" pitchFamily="49" charset="-122"/>
            </a:endParaRPr>
          </a:p>
          <a:p>
            <a:pPr>
              <a:buClr>
                <a:srgbClr val="00B050"/>
              </a:buClr>
            </a:pPr>
            <a:endParaRPr lang="en-US" altLang="zh-CN" sz="2000" b="1" dirty="0">
              <a:latin typeface="黑体" panose="02010609060101010101" pitchFamily="49" charset="-122"/>
              <a:ea typeface="黑体" panose="02010609060101010101" pitchFamily="49" charset="-122"/>
            </a:endParaRPr>
          </a:p>
          <a:p>
            <a:pPr>
              <a:buClr>
                <a:srgbClr val="00B050"/>
              </a:buClr>
            </a:pPr>
            <a:endParaRPr lang="en-US" altLang="zh-CN" sz="2000" b="1" dirty="0">
              <a:latin typeface="黑体" panose="02010609060101010101" pitchFamily="49" charset="-122"/>
              <a:ea typeface="黑体" panose="02010609060101010101" pitchFamily="49" charset="-122"/>
            </a:endParaRPr>
          </a:p>
          <a:p>
            <a:pPr>
              <a:buClr>
                <a:srgbClr val="00B050"/>
              </a:buClr>
            </a:pPr>
            <a:endParaRPr lang="en-US" altLang="zh-CN" sz="2000" b="1" dirty="0">
              <a:latin typeface="黑体" panose="02010609060101010101" pitchFamily="49" charset="-122"/>
              <a:ea typeface="黑体" panose="02010609060101010101" pitchFamily="49" charset="-122"/>
            </a:endParaRPr>
          </a:p>
          <a:p>
            <a:pPr>
              <a:buClr>
                <a:srgbClr val="00B050"/>
              </a:buClr>
            </a:pPr>
            <a:r>
              <a:rPr lang="zh-CN" altLang="en-US" sz="2000" b="1" dirty="0">
                <a:latin typeface="黑体" panose="02010609060101010101" pitchFamily="49" charset="-122"/>
                <a:ea typeface="黑体" panose="02010609060101010101" pitchFamily="49" charset="-122"/>
              </a:rPr>
              <a:t>而</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工艺下的麦田的样本均值         ，采样了</a:t>
            </a:r>
            <a:r>
              <a:rPr lang="en-US" altLang="zh-CN" sz="2000" b="1" dirty="0">
                <a:latin typeface="黑体" panose="02010609060101010101" pitchFamily="49" charset="-122"/>
                <a:ea typeface="黑体" panose="02010609060101010101" pitchFamily="49" charset="-122"/>
              </a:rPr>
              <a:t>5</a:t>
            </a:r>
            <a:r>
              <a:rPr lang="zh-CN" altLang="en-US" sz="2000" b="1" dirty="0">
                <a:latin typeface="黑体" panose="02010609060101010101" pitchFamily="49" charset="-122"/>
                <a:ea typeface="黑体" panose="02010609060101010101" pitchFamily="49" charset="-122"/>
              </a:rPr>
              <a:t>株。</a:t>
            </a:r>
            <a:endParaRPr lang="zh-CN" altLang="en-US" sz="2000" b="1" dirty="0">
              <a:latin typeface="黑体" panose="02010609060101010101" pitchFamily="49" charset="-122"/>
              <a:ea typeface="黑体" panose="02010609060101010101" pitchFamily="49" charset="-122"/>
            </a:endParaRPr>
          </a:p>
          <a:p>
            <a:pPr>
              <a:buClr>
                <a:srgbClr val="00B050"/>
              </a:buClr>
            </a:pPr>
            <a:r>
              <a:rPr lang="zh-CN" altLang="en-US" sz="2000" b="1" dirty="0">
                <a:latin typeface="黑体" panose="02010609060101010101" pitchFamily="49" charset="-122"/>
                <a:ea typeface="黑体" panose="02010609060101010101" pitchFamily="49" charset="-122"/>
              </a:rPr>
              <a:t>不同的标准差对应的正态分布图像不同：</a:t>
            </a:r>
            <a:endParaRPr lang="en-US" altLang="zh-CN" sz="2000" b="1" dirty="0">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1"/>
          <a:stretch>
            <a:fillRect/>
          </a:stretch>
        </p:blipFill>
        <p:spPr>
          <a:xfrm>
            <a:off x="3839546" y="2008718"/>
            <a:ext cx="1008112" cy="318351"/>
          </a:xfrm>
          <a:prstGeom prst="rect">
            <a:avLst/>
          </a:prstGeom>
        </p:spPr>
      </p:pic>
      <p:pic>
        <p:nvPicPr>
          <p:cNvPr id="8" name="图片 7"/>
          <p:cNvPicPr>
            <a:picLocks noChangeAspect="1"/>
          </p:cNvPicPr>
          <p:nvPr/>
        </p:nvPicPr>
        <p:blipFill>
          <a:blip r:embed="rId2"/>
          <a:stretch>
            <a:fillRect/>
          </a:stretch>
        </p:blipFill>
        <p:spPr>
          <a:xfrm>
            <a:off x="6057824" y="2636912"/>
            <a:ext cx="1245544" cy="360040"/>
          </a:xfrm>
          <a:prstGeom prst="rect">
            <a:avLst/>
          </a:prstGeom>
        </p:spPr>
      </p:pic>
      <p:pic>
        <p:nvPicPr>
          <p:cNvPr id="9" name="图片 8"/>
          <p:cNvPicPr>
            <a:picLocks noChangeAspect="1"/>
          </p:cNvPicPr>
          <p:nvPr/>
        </p:nvPicPr>
        <p:blipFill>
          <a:blip r:embed="rId3"/>
          <a:stretch>
            <a:fillRect/>
          </a:stretch>
        </p:blipFill>
        <p:spPr>
          <a:xfrm>
            <a:off x="2843808" y="3315325"/>
            <a:ext cx="2714625" cy="723900"/>
          </a:xfrm>
          <a:prstGeom prst="rect">
            <a:avLst/>
          </a:prstGeom>
        </p:spPr>
      </p:pic>
      <p:pic>
        <p:nvPicPr>
          <p:cNvPr id="12" name="图片 11"/>
          <p:cNvPicPr>
            <a:picLocks noChangeAspect="1"/>
          </p:cNvPicPr>
          <p:nvPr/>
        </p:nvPicPr>
        <p:blipFill>
          <a:blip r:embed="rId1"/>
          <a:stretch>
            <a:fillRect/>
          </a:stretch>
        </p:blipFill>
        <p:spPr>
          <a:xfrm>
            <a:off x="4067944" y="4110582"/>
            <a:ext cx="1008112" cy="318351"/>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07504" y="2852936"/>
            <a:ext cx="4640868" cy="3024336"/>
          </a:xfrm>
          <a:prstGeom prst="rect">
            <a:avLst/>
          </a:prstGeom>
        </p:spPr>
      </p:pic>
      <p:pic>
        <p:nvPicPr>
          <p:cNvPr id="4" name="图片 3"/>
          <p:cNvPicPr>
            <a:picLocks noChangeAspect="1"/>
          </p:cNvPicPr>
          <p:nvPr/>
        </p:nvPicPr>
        <p:blipFill rotWithShape="1">
          <a:blip r:embed="rId2"/>
          <a:srcRect l="2565"/>
          <a:stretch>
            <a:fillRect/>
          </a:stretch>
        </p:blipFill>
        <p:spPr>
          <a:xfrm>
            <a:off x="2771800" y="476672"/>
            <a:ext cx="5472608" cy="347875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59632" y="548680"/>
            <a:ext cx="6287695" cy="5112568"/>
          </a:xfrm>
          <a:prstGeom prst="rect">
            <a:avLst/>
          </a:prstGeom>
        </p:spPr>
      </p:pic>
      <p:pic>
        <p:nvPicPr>
          <p:cNvPr id="5" name="图片 4"/>
          <p:cNvPicPr>
            <a:picLocks noChangeAspect="1"/>
          </p:cNvPicPr>
          <p:nvPr/>
        </p:nvPicPr>
        <p:blipFill>
          <a:blip r:embed="rId2"/>
          <a:stretch>
            <a:fillRect/>
          </a:stretch>
        </p:blipFill>
        <p:spPr>
          <a:xfrm>
            <a:off x="179512" y="6093296"/>
            <a:ext cx="8820472" cy="61652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27584" y="548680"/>
            <a:ext cx="7848872" cy="5619643"/>
          </a:xfrm>
          <a:prstGeom prst="rect">
            <a:avLst/>
          </a:prstGeom>
        </p:spPr>
      </p:pic>
      <p:pic>
        <p:nvPicPr>
          <p:cNvPr id="3" name="图片 2"/>
          <p:cNvPicPr>
            <a:picLocks noChangeAspect="1"/>
          </p:cNvPicPr>
          <p:nvPr/>
        </p:nvPicPr>
        <p:blipFill>
          <a:blip r:embed="rId2"/>
          <a:stretch>
            <a:fillRect/>
          </a:stretch>
        </p:blipFill>
        <p:spPr>
          <a:xfrm>
            <a:off x="107504" y="5949280"/>
            <a:ext cx="8928992" cy="74824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79512" y="1052736"/>
            <a:ext cx="8814144" cy="4937298"/>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043608" y="1268760"/>
            <a:ext cx="8080092" cy="3960440"/>
          </a:xfrm>
          <a:prstGeom prst="rect">
            <a:avLst/>
          </a:prstGeom>
        </p:spPr>
      </p:pic>
      <p:sp>
        <p:nvSpPr>
          <p:cNvPr id="4" name="文本框 3"/>
          <p:cNvSpPr txBox="1"/>
          <p:nvPr/>
        </p:nvSpPr>
        <p:spPr>
          <a:xfrm>
            <a:off x="1187624" y="5229200"/>
            <a:ext cx="6984776" cy="369332"/>
          </a:xfrm>
          <a:prstGeom prst="rect">
            <a:avLst/>
          </a:prstGeom>
          <a:noFill/>
        </p:spPr>
        <p:txBody>
          <a:bodyPr wrap="square">
            <a:spAutoFit/>
          </a:bodyPr>
          <a:lstStyle/>
          <a:p>
            <a:r>
              <a:rPr lang="zh-CN" altLang="en-US" b="1" i="0" dirty="0">
                <a:solidFill>
                  <a:srgbClr val="FF0000"/>
                </a:solidFill>
                <a:effectLst/>
                <a:latin typeface="-apple-system"/>
              </a:rPr>
              <a:t>自由度：不被限制的样本数，也可以理解为能自由取值的样本数</a:t>
            </a:r>
            <a:endParaRPr lang="zh-CN" altLang="en-US" b="1" dirty="0">
              <a:solidFill>
                <a:srgbClr val="FF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检验统计量</a:t>
            </a:r>
            <a:endParaRPr lang="zh-CN" altLang="en-US" b="1" dirty="0">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247623" y="1772816"/>
            <a:ext cx="8648754" cy="503006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幼圆" panose="02010509060101010101" pitchFamily="49" charset="-122"/>
                <a:ea typeface="幼圆" panose="02010509060101010101" pitchFamily="49" charset="-122"/>
              </a:rPr>
              <a:t>t</a:t>
            </a:r>
            <a:r>
              <a:rPr lang="zh-CN" altLang="en-US" b="1" dirty="0">
                <a:latin typeface="幼圆" panose="02010509060101010101" pitchFamily="49" charset="-122"/>
                <a:ea typeface="幼圆" panose="02010509060101010101" pitchFamily="49" charset="-122"/>
              </a:rPr>
              <a:t>检验</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检验统计量</a:t>
            </a:r>
            <a:endParaRPr lang="zh-CN" altLang="en-US" b="1" dirty="0">
              <a:latin typeface="幼圆" panose="02010509060101010101" pitchFamily="49" charset="-122"/>
              <a:ea typeface="幼圆" panose="02010509060101010101" pitchFamily="49" charset="-122"/>
            </a:endParaRPr>
          </a:p>
        </p:txBody>
      </p:sp>
      <p:pic>
        <p:nvPicPr>
          <p:cNvPr id="3" name="图片 2"/>
          <p:cNvPicPr>
            <a:picLocks noChangeAspect="1"/>
          </p:cNvPicPr>
          <p:nvPr/>
        </p:nvPicPr>
        <p:blipFill>
          <a:blip r:embed="rId1"/>
          <a:stretch>
            <a:fillRect/>
          </a:stretch>
        </p:blipFill>
        <p:spPr>
          <a:xfrm>
            <a:off x="1403648" y="1417638"/>
            <a:ext cx="6840760" cy="5126306"/>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1412776"/>
            <a:ext cx="9144000" cy="1908995"/>
          </a:xfrm>
          <a:prstGeom prst="rect">
            <a:avLst/>
          </a:prstGeom>
        </p:spPr>
      </p:pic>
      <p:pic>
        <p:nvPicPr>
          <p:cNvPr id="5" name="图片 4"/>
          <p:cNvPicPr>
            <a:picLocks noChangeAspect="1"/>
          </p:cNvPicPr>
          <p:nvPr/>
        </p:nvPicPr>
        <p:blipFill>
          <a:blip r:embed="rId2"/>
          <a:stretch>
            <a:fillRect/>
          </a:stretch>
        </p:blipFill>
        <p:spPr>
          <a:xfrm>
            <a:off x="0" y="3321771"/>
            <a:ext cx="9036496" cy="1293408"/>
          </a:xfrm>
          <a:prstGeom prst="rect">
            <a:avLst/>
          </a:prstGeom>
        </p:spPr>
      </p:pic>
      <p:pic>
        <p:nvPicPr>
          <p:cNvPr id="2" name="图片 1"/>
          <p:cNvPicPr>
            <a:picLocks noChangeAspect="1"/>
          </p:cNvPicPr>
          <p:nvPr/>
        </p:nvPicPr>
        <p:blipFill>
          <a:blip r:embed="rId3"/>
          <a:stretch>
            <a:fillRect/>
          </a:stretch>
        </p:blipFill>
        <p:spPr>
          <a:xfrm>
            <a:off x="1763688" y="4725144"/>
            <a:ext cx="5554224" cy="19064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交叉验证</a:t>
            </a:r>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两个算法</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783546" y="1412961"/>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
                <a:srgbClr val="00B050"/>
              </a:buClr>
            </a:pPr>
            <a:r>
              <a:rPr lang="zh-CN" altLang="en-US" b="1" dirty="0">
                <a:latin typeface="黑体" panose="02010609060101010101" pitchFamily="49" charset="-122"/>
                <a:ea typeface="黑体" panose="02010609060101010101" pitchFamily="49" charset="-122"/>
              </a:rPr>
              <a:t>现实任务中，更多时候需要对</a:t>
            </a:r>
            <a:r>
              <a:rPr lang="zh-CN" altLang="en-US" b="1" dirty="0">
                <a:solidFill>
                  <a:srgbClr val="0000FF"/>
                </a:solidFill>
                <a:latin typeface="黑体" panose="02010609060101010101" pitchFamily="49" charset="-122"/>
                <a:ea typeface="黑体" panose="02010609060101010101" pitchFamily="49" charset="-122"/>
              </a:rPr>
              <a:t>不同学习器</a:t>
            </a:r>
            <a:r>
              <a:rPr lang="zh-CN" altLang="en-US" b="1" dirty="0">
                <a:latin typeface="黑体" panose="02010609060101010101" pitchFamily="49" charset="-122"/>
                <a:ea typeface="黑体" panose="02010609060101010101" pitchFamily="49" charset="-122"/>
              </a:rPr>
              <a:t>的性能进行比较</a:t>
            </a:r>
            <a:endParaRPr lang="zh-CN" altLang="en-US" b="1" dirty="0">
              <a:latin typeface="黑体" panose="02010609060101010101" pitchFamily="49" charset="-122"/>
              <a:ea typeface="黑体" panose="02010609060101010101" pitchFamily="49" charset="-122"/>
            </a:endParaRPr>
          </a:p>
        </p:txBody>
      </p:sp>
      <p:grpSp>
        <p:nvGrpSpPr>
          <p:cNvPr id="3" name="组合 2"/>
          <p:cNvGrpSpPr/>
          <p:nvPr/>
        </p:nvGrpSpPr>
        <p:grpSpPr>
          <a:xfrm>
            <a:off x="783546" y="2276872"/>
            <a:ext cx="7820902" cy="1504243"/>
            <a:chOff x="474893" y="2926236"/>
            <a:chExt cx="6973210" cy="1504243"/>
          </a:xfrm>
        </p:grpSpPr>
        <p:sp>
          <p:nvSpPr>
            <p:cNvPr id="12" name="矩形 11"/>
            <p:cNvSpPr/>
            <p:nvPr/>
          </p:nvSpPr>
          <p:spPr>
            <a:xfrm>
              <a:off x="474893" y="2926236"/>
              <a:ext cx="6973210" cy="1446550"/>
            </a:xfrm>
            <a:prstGeom prst="rect">
              <a:avLst/>
            </a:prstGeom>
          </p:spPr>
          <p:txBody>
            <a:bodyPr wrap="square">
              <a:spAutoFit/>
            </a:bodyPr>
            <a:lstStyle/>
            <a:p>
              <a:pPr marL="342900" indent="-342900">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对两个学习器</a:t>
              </a:r>
              <a:r>
                <a:rPr lang="en-US" altLang="zh-CN" sz="2200" b="1" dirty="0">
                  <a:latin typeface="黑体" panose="02010609060101010101" pitchFamily="49" charset="-122"/>
                  <a:ea typeface="黑体" panose="02010609060101010101" pitchFamily="49" charset="-122"/>
                </a:rPr>
                <a:t>A</a:t>
              </a:r>
              <a:r>
                <a:rPr lang="zh-CN" altLang="en-US" sz="2200" b="1" dirty="0">
                  <a:latin typeface="黑体" panose="02010609060101010101" pitchFamily="49" charset="-122"/>
                  <a:ea typeface="黑体" panose="02010609060101010101" pitchFamily="49" charset="-122"/>
                </a:rPr>
                <a:t>和</a:t>
              </a:r>
              <a:r>
                <a:rPr lang="en-US" altLang="zh-CN" sz="2200" b="1" dirty="0">
                  <a:latin typeface="黑体" panose="02010609060101010101" pitchFamily="49" charset="-122"/>
                  <a:ea typeface="黑体" panose="02010609060101010101" pitchFamily="49" charset="-122"/>
                </a:rPr>
                <a:t>B,</a:t>
              </a:r>
              <a:r>
                <a:rPr lang="zh-CN" altLang="en-US" sz="2200" b="1" dirty="0">
                  <a:latin typeface="黑体" panose="02010609060101010101" pitchFamily="49" charset="-122"/>
                  <a:ea typeface="黑体" panose="02010609060101010101" pitchFamily="49" charset="-122"/>
                </a:rPr>
                <a:t>若</a:t>
              </a:r>
              <a:r>
                <a:rPr lang="en-US" altLang="zh-CN" sz="2200" b="1" dirty="0">
                  <a:latin typeface="黑体" panose="02010609060101010101" pitchFamily="49" charset="-122"/>
                  <a:ea typeface="黑体" panose="02010609060101010101" pitchFamily="49" charset="-122"/>
                </a:rPr>
                <a:t>k</a:t>
              </a:r>
              <a:r>
                <a:rPr lang="zh-CN" altLang="en-US" sz="2200" b="1" dirty="0">
                  <a:latin typeface="黑体" panose="02010609060101010101" pitchFamily="49" charset="-122"/>
                  <a:ea typeface="黑体" panose="02010609060101010101" pitchFamily="49" charset="-122"/>
                </a:rPr>
                <a:t>折交叉验证得到的测试错误率分别为</a:t>
              </a:r>
              <a:r>
                <a:rPr lang="en-US" altLang="zh-CN" sz="2200" b="1" dirty="0">
                  <a:latin typeface="黑体" panose="02010609060101010101" pitchFamily="49" charset="-122"/>
                  <a:ea typeface="黑体" panose="02010609060101010101" pitchFamily="49" charset="-122"/>
                </a:rPr>
                <a:t>		</a:t>
              </a:r>
              <a:r>
                <a:rPr lang="zh-CN" altLang="en-US" sz="2200" b="1" dirty="0">
                  <a:latin typeface="黑体" panose="02010609060101010101" pitchFamily="49" charset="-122"/>
                  <a:ea typeface="黑体" panose="02010609060101010101" pitchFamily="49" charset="-122"/>
                </a:rPr>
                <a:t>和        ，可用</a:t>
              </a:r>
              <a:r>
                <a:rPr lang="en-US" altLang="zh-CN" sz="2200" b="1" dirty="0">
                  <a:latin typeface="黑体" panose="02010609060101010101" pitchFamily="49" charset="-122"/>
                  <a:ea typeface="黑体" panose="02010609060101010101" pitchFamily="49" charset="-122"/>
                </a:rPr>
                <a:t>k</a:t>
              </a:r>
              <a:r>
                <a:rPr lang="zh-CN" altLang="en-US" sz="2200" b="1" dirty="0">
                  <a:latin typeface="黑体" panose="02010609060101010101" pitchFamily="49" charset="-122"/>
                  <a:ea typeface="黑体" panose="02010609060101010101" pitchFamily="49" charset="-122"/>
                </a:rPr>
                <a:t>折交叉验证“成对</a:t>
              </a:r>
              <a:r>
                <a:rPr lang="en-US" altLang="zh-CN" sz="2200" b="1" dirty="0">
                  <a:latin typeface="黑体" panose="02010609060101010101" pitchFamily="49" charset="-122"/>
                  <a:ea typeface="黑体" panose="02010609060101010101" pitchFamily="49" charset="-122"/>
                </a:rPr>
                <a:t>t</a:t>
              </a:r>
              <a:r>
                <a:rPr lang="zh-CN" altLang="en-US" sz="2200" b="1" dirty="0">
                  <a:latin typeface="黑体" panose="02010609060101010101" pitchFamily="49" charset="-122"/>
                  <a:ea typeface="黑体" panose="02010609060101010101" pitchFamily="49" charset="-122"/>
                </a:rPr>
                <a:t>检验”进行比较检验。若两个学习器的性能相同，则他们使用相同的训练</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测试集得到的测试错误率应相同，即         </a:t>
              </a:r>
              <a:r>
                <a:rPr lang="en-US" altLang="zh-CN" sz="2200" b="1" dirty="0">
                  <a:latin typeface="黑体" panose="02010609060101010101" pitchFamily="49" charset="-122"/>
                  <a:ea typeface="黑体" panose="02010609060101010101" pitchFamily="49" charset="-122"/>
                </a:rPr>
                <a:t>.</a:t>
              </a:r>
              <a:endParaRPr lang="en-US" altLang="zh-CN" sz="2200" b="1" dirty="0">
                <a:latin typeface="黑体" panose="02010609060101010101" pitchFamily="49" charset="-122"/>
                <a:ea typeface="黑体" panose="02010609060101010101" pitchFamily="49" charset="-122"/>
              </a:endParaRPr>
            </a:p>
          </p:txBody>
        </p:sp>
        <p:pic>
          <p:nvPicPr>
            <p:cNvPr id="1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1987" y="3319912"/>
              <a:ext cx="1028388" cy="315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662" y="3342148"/>
              <a:ext cx="1000743" cy="315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820" y="4006356"/>
              <a:ext cx="1136650" cy="42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交叉验证</a:t>
            </a:r>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827077" y="1458223"/>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
                <a:srgbClr val="00B050"/>
              </a:buClr>
            </a:pPr>
            <a:r>
              <a:rPr lang="zh-CN" altLang="en-US" dirty="0">
                <a:latin typeface="黑体" panose="02010609060101010101" pitchFamily="49" charset="-122"/>
                <a:ea typeface="黑体" panose="02010609060101010101" pitchFamily="49" charset="-122"/>
              </a:rPr>
              <a:t>先对每对结果求差，           </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若两个学习器性能相同，则差值应该为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，继而用         来对“学习器</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与</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性能相同”</a:t>
            </a:r>
            <a:r>
              <a:rPr lang="zh-CN" altLang="en-US" b="1" dirty="0">
                <a:latin typeface="黑体" panose="02010609060101010101" pitchFamily="49" charset="-122"/>
                <a:ea typeface="黑体" panose="02010609060101010101" pitchFamily="49" charset="-122"/>
              </a:rPr>
              <a:t>这个假设做</a:t>
            </a:r>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35896" y="1471446"/>
            <a:ext cx="1649412" cy="368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1859565"/>
            <a:ext cx="1197950" cy="280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内容占位符 2"/>
          <p:cNvSpPr txBox="1"/>
          <p:nvPr/>
        </p:nvSpPr>
        <p:spPr>
          <a:xfrm>
            <a:off x="955532" y="3185423"/>
            <a:ext cx="7576908" cy="18277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Clr>
                <a:srgbClr val="00B050"/>
              </a:buClr>
            </a:pPr>
            <a:r>
              <a:rPr lang="zh-CN" altLang="en-US" b="1" dirty="0">
                <a:latin typeface="黑体" panose="02010609060101010101" pitchFamily="49" charset="-122"/>
                <a:ea typeface="黑体" panose="02010609060101010101" pitchFamily="49" charset="-122"/>
              </a:rPr>
              <a:t>假设检验的前提是测试错误率为泛化错误率的独立采样，然而由于样本有限，使用交叉验证导致训练集重叠，测试错误率并不独立，从而过高估计假设成立的概率，为缓解这一问题，可采用“</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交叉验证”法</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377490" cy="1239560"/>
          </a:xfrm>
        </p:spPr>
        <p:txBody>
          <a:bodyPr/>
          <a:lstStyle/>
          <a:p>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交叉验证法</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474892" y="1271047"/>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p>
        </p:txBody>
      </p:sp>
      <p:sp>
        <p:nvSpPr>
          <p:cNvPr id="11" name="内容占位符 2"/>
          <p:cNvSpPr txBox="1"/>
          <p:nvPr/>
        </p:nvSpPr>
        <p:spPr>
          <a:xfrm>
            <a:off x="603346" y="1271047"/>
            <a:ext cx="8145118" cy="2085945"/>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0B050"/>
              </a:buClr>
            </a:pPr>
            <a:r>
              <a:rPr lang="zh-CN" altLang="en-US" b="1" dirty="0">
                <a:latin typeface="黑体" panose="02010609060101010101" pitchFamily="49" charset="-122"/>
                <a:ea typeface="黑体" panose="02010609060101010101" pitchFamily="49" charset="-122"/>
              </a:rPr>
              <a:t>所谓</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折交叉验证就是做</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次二折交叉验证，每次二折交叉验证之前将数据打乱，使得</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次交叉验证中的数据划分不重复。为缓解测试数据错误率的非独立性，仅计算第一次</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折交叉验证结果的平均值                和每次二折实验计算得到的方差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则变量</a:t>
            </a:r>
            <a:endParaRPr lang="en-US" altLang="zh-CN" b="1" dirty="0">
              <a:latin typeface="黑体" panose="02010609060101010101" pitchFamily="49" charset="-122"/>
              <a:ea typeface="黑体" panose="02010609060101010101" pitchFamily="49" charset="-122"/>
            </a:endParaRPr>
          </a:p>
          <a:p>
            <a:pPr marL="0" indent="0">
              <a:lnSpc>
                <a:spcPct val="150000"/>
              </a:lnSpc>
              <a:buNone/>
            </a:pPr>
            <a:endParaRPr lang="en-US" altLang="zh-CN" b="1" dirty="0">
              <a:latin typeface="黑体" panose="02010609060101010101" pitchFamily="49" charset="-122"/>
              <a:ea typeface="黑体" panose="02010609060101010101" pitchFamily="49" charset="-122"/>
            </a:endParaRPr>
          </a:p>
          <a:p>
            <a:pPr marL="0" indent="0">
              <a:lnSpc>
                <a:spcPct val="150000"/>
              </a:lnSpc>
              <a:buNone/>
            </a:pPr>
            <a:endParaRPr lang="en-US" altLang="zh-CN" b="1" dirty="0">
              <a:latin typeface="黑体" panose="02010609060101010101" pitchFamily="49" charset="-122"/>
              <a:ea typeface="黑体" panose="020106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服从自由度为</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的</a:t>
            </a:r>
            <a:r>
              <a:rPr lang="en-US" altLang="zh-CN" b="1" dirty="0">
                <a:solidFill>
                  <a:srgbClr val="C00000"/>
                </a:solidFill>
                <a:latin typeface="黑体" panose="02010609060101010101" pitchFamily="49" charset="-122"/>
                <a:ea typeface="黑体" panose="02010609060101010101" pitchFamily="49" charset="-122"/>
              </a:rPr>
              <a:t>t</a:t>
            </a:r>
            <a:r>
              <a:rPr lang="zh-CN" altLang="en-US" b="1" dirty="0">
                <a:solidFill>
                  <a:srgbClr val="C00000"/>
                </a:solidFill>
                <a:latin typeface="黑体" panose="02010609060101010101" pitchFamily="49" charset="-122"/>
                <a:ea typeface="黑体" panose="02010609060101010101" pitchFamily="49" charset="-122"/>
              </a:rPr>
              <a:t>分布</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pic>
        <p:nvPicPr>
          <p:cNvPr id="26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9832" y="3889898"/>
            <a:ext cx="2236787" cy="1254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3611" y="2926473"/>
            <a:ext cx="2027237" cy="3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356992"/>
            <a:ext cx="4167963" cy="429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latin typeface="黑体" panose="02010609060101010101" pitchFamily="49" charset="-122"/>
                <a:ea typeface="黑体" panose="02010609060101010101" pitchFamily="49" charset="-122"/>
              </a:rPr>
              <a:t>McNemar</a:t>
            </a:r>
            <a:r>
              <a:rPr lang="zh-CN" altLang="en-US" b="1" dirty="0">
                <a:latin typeface="黑体" panose="02010609060101010101" pitchFamily="49" charset="-122"/>
                <a:ea typeface="黑体" panose="02010609060101010101" pitchFamily="49" charset="-122"/>
              </a:rPr>
              <a:t>检验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二分类</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474892" y="1271047"/>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p>
        </p:txBody>
      </p:sp>
      <p:sp>
        <p:nvSpPr>
          <p:cNvPr id="11" name="内容占位符 2"/>
          <p:cNvSpPr txBox="1"/>
          <p:nvPr/>
        </p:nvSpPr>
        <p:spPr>
          <a:xfrm>
            <a:off x="792392" y="1277069"/>
            <a:ext cx="7576908" cy="10276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dirty="0">
                <a:latin typeface="黑体" panose="02010609060101010101" pitchFamily="49" charset="-122"/>
                <a:ea typeface="黑体" panose="02010609060101010101" pitchFamily="49" charset="-122"/>
              </a:rPr>
              <a:t>对于</a:t>
            </a:r>
            <a:r>
              <a:rPr lang="zh-CN" altLang="en-US" b="1" dirty="0">
                <a:solidFill>
                  <a:srgbClr val="0000FF"/>
                </a:solidFill>
                <a:latin typeface="黑体" panose="02010609060101010101" pitchFamily="49" charset="-122"/>
                <a:ea typeface="黑体" panose="02010609060101010101" pitchFamily="49" charset="-122"/>
              </a:rPr>
              <a:t>二分类</a:t>
            </a:r>
            <a:r>
              <a:rPr lang="zh-CN" altLang="en-US" b="1" dirty="0">
                <a:latin typeface="黑体" panose="02010609060101010101" pitchFamily="49" charset="-122"/>
                <a:ea typeface="黑体" panose="02010609060101010101" pitchFamily="49" charset="-122"/>
              </a:rPr>
              <a:t>问题，</a:t>
            </a:r>
            <a:r>
              <a:rPr lang="zh-CN" altLang="en-US" b="1" dirty="0">
                <a:solidFill>
                  <a:srgbClr val="0000FF"/>
                </a:solidFill>
                <a:latin typeface="黑体" panose="02010609060101010101" pitchFamily="49" charset="-122"/>
                <a:ea typeface="黑体" panose="02010609060101010101" pitchFamily="49" charset="-122"/>
              </a:rPr>
              <a:t>两个算法</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一组数据 </a:t>
            </a:r>
            <a:r>
              <a:rPr lang="zh-CN" altLang="en-US" b="1" dirty="0">
                <a:latin typeface="黑体" panose="02010609060101010101" pitchFamily="49" charset="-122"/>
                <a:ea typeface="黑体" panose="02010609060101010101" pitchFamily="49" charset="-122"/>
              </a:rPr>
              <a:t>留出法不仅可以估计出学习器</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的测试错误率，还能获得两学习器分类结果的差别，如下表所示</a:t>
            </a:r>
            <a:endParaRPr lang="en-US" altLang="zh-CN" b="1" dirty="0">
              <a:latin typeface="黑体" panose="02010609060101010101" pitchFamily="49" charset="-122"/>
              <a:ea typeface="黑体" panose="02010609060101010101" pitchFamily="49" charset="-122"/>
            </a:endParaRPr>
          </a:p>
        </p:txBody>
      </p:sp>
      <p:pic>
        <p:nvPicPr>
          <p:cNvPr id="27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5663" y="2979737"/>
            <a:ext cx="2684010" cy="164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918047" y="2614341"/>
            <a:ext cx="3943253" cy="2897459"/>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latin typeface="黑体" panose="02010609060101010101" pitchFamily="49" charset="-122"/>
                <a:ea typeface="黑体" panose="02010609060101010101" pitchFamily="49" charset="-122"/>
              </a:rPr>
              <a:t>假设两学习器性能相同</a:t>
            </a:r>
            <a:endParaRPr lang="en-US" altLang="zh-CN" b="1" dirty="0">
              <a:latin typeface="黑体" panose="02010609060101010101" pitchFamily="49" charset="-122"/>
              <a:ea typeface="黑体" panose="02010609060101010101" pitchFamily="49" charset="-122"/>
            </a:endParaRPr>
          </a:p>
          <a:p>
            <a:pPr marL="0" indent="0">
              <a:lnSpc>
                <a:spcPct val="100000"/>
              </a:lnSpc>
              <a:buNone/>
            </a:pPr>
            <a:r>
              <a:rPr lang="zh-CN" altLang="en-US" b="1" dirty="0">
                <a:latin typeface="黑体" panose="02010609060101010101" pitchFamily="49" charset="-122"/>
                <a:ea typeface="黑体" panose="02010609060101010101" pitchFamily="49" charset="-122"/>
              </a:rPr>
              <a:t>则       应服从正态分布，且均值为</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，方差为</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a:t>
            </a:r>
            <a:endParaRPr lang="en-US" altLang="zh-CN" b="1" dirty="0">
              <a:latin typeface="黑体" panose="02010609060101010101" pitchFamily="49" charset="-122"/>
              <a:ea typeface="黑体" panose="02010609060101010101" pitchFamily="49" charset="-122"/>
            </a:endParaRPr>
          </a:p>
          <a:p>
            <a:pPr marL="0" indent="0">
              <a:lnSpc>
                <a:spcPct val="100000"/>
              </a:lnSpc>
              <a:buNone/>
            </a:pPr>
            <a:endParaRPr lang="en-US" altLang="zh-CN" b="1" dirty="0">
              <a:latin typeface="黑体" panose="02010609060101010101" pitchFamily="49" charset="-122"/>
              <a:ea typeface="黑体" panose="02010609060101010101" pitchFamily="49" charset="-122"/>
            </a:endParaRPr>
          </a:p>
          <a:p>
            <a:pPr marL="0" indent="0">
              <a:lnSpc>
                <a:spcPct val="100000"/>
              </a:lnSpc>
              <a:buNone/>
            </a:pPr>
            <a:r>
              <a:rPr lang="zh-CN" altLang="en-US" b="1" dirty="0">
                <a:latin typeface="黑体" panose="02010609060101010101" pitchFamily="49" charset="-122"/>
                <a:ea typeface="黑体" panose="02010609060101010101" pitchFamily="49" charset="-122"/>
              </a:rPr>
              <a:t>服从自由度为</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的   分布。</a:t>
            </a:r>
            <a:endParaRPr lang="en-US" altLang="zh-CN" b="1" dirty="0">
              <a:latin typeface="黑体" panose="02010609060101010101" pitchFamily="49" charset="-122"/>
              <a:ea typeface="黑体" panose="02010609060101010101" pitchFamily="49" charset="-122"/>
            </a:endParaRPr>
          </a:p>
        </p:txBody>
      </p: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7363" y="2774949"/>
            <a:ext cx="1125537" cy="225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1446" y="3179098"/>
            <a:ext cx="965151" cy="256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5317" y="3547985"/>
            <a:ext cx="949414" cy="278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9931" y="3956050"/>
            <a:ext cx="2645569" cy="652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2742" y="4710113"/>
            <a:ext cx="333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黑体" panose="02010609060101010101" pitchFamily="49" charset="-122"/>
                <a:ea typeface="黑体" panose="02010609060101010101" pitchFamily="49" charset="-122"/>
              </a:rPr>
              <a:t>Friedman</a:t>
            </a:r>
            <a:r>
              <a:rPr lang="zh-CN" altLang="en-US" b="1" dirty="0">
                <a:latin typeface="黑体" panose="02010609060101010101" pitchFamily="49" charset="-122"/>
                <a:ea typeface="黑体" panose="02010609060101010101" pitchFamily="49" charset="-122"/>
              </a:rPr>
              <a:t>检验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多个算法</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474892" y="1271047"/>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p>
        </p:txBody>
      </p:sp>
      <p:sp>
        <p:nvSpPr>
          <p:cNvPr id="11" name="内容占位符 2"/>
          <p:cNvSpPr txBox="1"/>
          <p:nvPr/>
        </p:nvSpPr>
        <p:spPr>
          <a:xfrm>
            <a:off x="395536" y="1604588"/>
            <a:ext cx="8748464" cy="128957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0B050"/>
              </a:buClr>
            </a:pPr>
            <a:r>
              <a:rPr lang="zh-CN" altLang="en-US" b="1" dirty="0">
                <a:latin typeface="黑体" panose="02010609060101010101" pitchFamily="49" charset="-122"/>
                <a:ea typeface="黑体" panose="02010609060101010101" pitchFamily="49" charset="-122"/>
              </a:rPr>
              <a:t>交叉验证</a:t>
            </a:r>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检验和</a:t>
            </a:r>
            <a:r>
              <a:rPr lang="en-US" altLang="zh-CN" b="1" dirty="0" err="1">
                <a:latin typeface="黑体" panose="02010609060101010101" pitchFamily="49" charset="-122"/>
                <a:ea typeface="黑体" panose="02010609060101010101" pitchFamily="49" charset="-122"/>
              </a:rPr>
              <a:t>McNemar</a:t>
            </a:r>
            <a:r>
              <a:rPr lang="zh-CN" altLang="en-US" b="1" dirty="0">
                <a:latin typeface="黑体" panose="02010609060101010101" pitchFamily="49" charset="-122"/>
                <a:ea typeface="黑体" panose="02010609060101010101" pitchFamily="49" charset="-122"/>
              </a:rPr>
              <a:t>检验都是在一个数据集上比较两个算法的性能，可以用</a:t>
            </a:r>
            <a:r>
              <a:rPr lang="en-US" altLang="zh-CN" b="1" dirty="0">
                <a:latin typeface="黑体" panose="02010609060101010101" pitchFamily="49" charset="-122"/>
                <a:ea typeface="黑体" panose="02010609060101010101" pitchFamily="49" charset="-122"/>
              </a:rPr>
              <a:t>Friedman</a:t>
            </a:r>
            <a:r>
              <a:rPr lang="zh-CN" altLang="en-US" b="1" dirty="0">
                <a:latin typeface="黑体" panose="02010609060101010101" pitchFamily="49" charset="-122"/>
                <a:ea typeface="黑体" panose="02010609060101010101" pitchFamily="49" charset="-122"/>
              </a:rPr>
              <a:t>检验在一组数据集上对</a:t>
            </a:r>
            <a:r>
              <a:rPr lang="zh-CN" altLang="en-US" b="1" dirty="0">
                <a:solidFill>
                  <a:srgbClr val="0000FF"/>
                </a:solidFill>
                <a:latin typeface="黑体" panose="02010609060101010101" pitchFamily="49" charset="-122"/>
                <a:ea typeface="黑体" panose="02010609060101010101" pitchFamily="49" charset="-122"/>
              </a:rPr>
              <a:t>多个算法</a:t>
            </a:r>
            <a:r>
              <a:rPr lang="zh-CN" altLang="en-US" b="1" dirty="0">
                <a:latin typeface="黑体" panose="02010609060101010101" pitchFamily="49" charset="-122"/>
                <a:ea typeface="黑体" panose="02010609060101010101" pitchFamily="49" charset="-122"/>
              </a:rPr>
              <a:t>进行比较。</a:t>
            </a:r>
            <a:endParaRPr lang="en-US" altLang="zh-CN" b="1" dirty="0">
              <a:latin typeface="黑体" panose="02010609060101010101" pitchFamily="49" charset="-122"/>
              <a:ea typeface="黑体" panose="02010609060101010101" pitchFamily="49" charset="-122"/>
            </a:endParaRPr>
          </a:p>
        </p:txBody>
      </p:sp>
      <p:grpSp>
        <p:nvGrpSpPr>
          <p:cNvPr id="7" name="组合 6"/>
          <p:cNvGrpSpPr/>
          <p:nvPr/>
        </p:nvGrpSpPr>
        <p:grpSpPr>
          <a:xfrm>
            <a:off x="539552" y="2742363"/>
            <a:ext cx="8147248" cy="2596241"/>
            <a:chOff x="539329" y="2742363"/>
            <a:chExt cx="7576908" cy="2514347"/>
          </a:xfrm>
        </p:grpSpPr>
        <p:sp>
          <p:nvSpPr>
            <p:cNvPr id="13" name="内容占位符 2"/>
            <p:cNvSpPr txBox="1"/>
            <p:nvPr/>
          </p:nvSpPr>
          <p:spPr>
            <a:xfrm>
              <a:off x="539329" y="2742363"/>
              <a:ext cx="7576908" cy="10276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dirty="0">
                  <a:latin typeface="黑体" panose="02010609060101010101" pitchFamily="49" charset="-122"/>
                  <a:ea typeface="黑体" panose="02010609060101010101" pitchFamily="49" charset="-122"/>
                </a:rPr>
                <a:t>假定用             四个数据集对算法       进行比较。</a:t>
              </a:r>
              <a:endParaRPr lang="en-US" altLang="zh-CN" b="1" dirty="0">
                <a:latin typeface="黑体" panose="02010609060101010101" pitchFamily="49" charset="-122"/>
                <a:ea typeface="黑体" panose="020106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先使用留出法或者交叉验证法得到每个算法在每个数据集上的测试结果，然后在每个数据集上根据性能好坏排序，并赋序值</a:t>
              </a:r>
              <a:r>
                <a:rPr lang="en-US" altLang="zh-CN" b="1" dirty="0">
                  <a:latin typeface="黑体" panose="02010609060101010101" pitchFamily="49" charset="-122"/>
                  <a:ea typeface="黑体" panose="02010609060101010101" pitchFamily="49" charset="-122"/>
                </a:rPr>
                <a:t>1,2,…;</a:t>
              </a:r>
              <a:r>
                <a:rPr lang="zh-CN" altLang="en-US" b="1" dirty="0">
                  <a:latin typeface="黑体" panose="02010609060101010101" pitchFamily="49" charset="-122"/>
                  <a:ea typeface="黑体" panose="02010609060101010101" pitchFamily="49" charset="-122"/>
                </a:rPr>
                <a:t>若算法性能相同则平分序值</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继而得到每个算法的</a:t>
              </a:r>
              <a:r>
                <a:rPr lang="zh-CN" altLang="en-US" b="1" dirty="0">
                  <a:solidFill>
                    <a:srgbClr val="0000FF"/>
                  </a:solidFill>
                  <a:latin typeface="黑体" panose="02010609060101010101" pitchFamily="49" charset="-122"/>
                  <a:ea typeface="黑体" panose="02010609060101010101" pitchFamily="49" charset="-122"/>
                </a:rPr>
                <a:t>平均序值</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nvGraphicFramePr>
          <p:xfrm>
            <a:off x="1409902" y="2961541"/>
            <a:ext cx="1707197" cy="285023"/>
          </p:xfrm>
          <a:graphic>
            <a:graphicData uri="http://schemas.openxmlformats.org/presentationml/2006/ole">
              <mc:AlternateContent xmlns:mc="http://schemas.openxmlformats.org/markup-compatibility/2006">
                <mc:Choice xmlns:v="urn:schemas-microsoft-com:vml" Requires="v">
                  <p:oleObj spid="_x0000_s2444" name="Formula" r:id="rId1" imgW="6972300" imgH="1162050" progId="Equation.Ribbit">
                    <p:embed/>
                  </p:oleObj>
                </mc:Choice>
                <mc:Fallback>
                  <p:oleObj name="Formula" r:id="rId1" imgW="6972300" imgH="1162050" progId="Equation.Ribbit">
                    <p:embed/>
                    <p:pic>
                      <p:nvPicPr>
                        <p:cNvPr id="0" name="图片 2443"/>
                        <p:cNvPicPr/>
                        <p:nvPr/>
                      </p:nvPicPr>
                      <p:blipFill>
                        <a:blip r:embed="rId2"/>
                        <a:stretch>
                          <a:fillRect/>
                        </a:stretch>
                      </p:blipFill>
                      <p:spPr>
                        <a:xfrm>
                          <a:off x="1409902" y="2961541"/>
                          <a:ext cx="1707197" cy="285023"/>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270807" y="2946458"/>
            <a:ext cx="893762" cy="293688"/>
          </p:xfrm>
          <a:graphic>
            <a:graphicData uri="http://schemas.openxmlformats.org/presentationml/2006/ole">
              <mc:AlternateContent xmlns:mc="http://schemas.openxmlformats.org/markup-compatibility/2006">
                <mc:Choice xmlns:v="urn:schemas-microsoft-com:vml" Requires="v">
                  <p:oleObj spid="_x0000_s2445" name="Formula" r:id="rId3" imgW="3657600" imgH="1200150" progId="Equation.Ribbit">
                    <p:embed/>
                  </p:oleObj>
                </mc:Choice>
                <mc:Fallback>
                  <p:oleObj name="Formula" r:id="rId3" imgW="3657600" imgH="1200150" progId="Equation.Ribbit">
                    <p:embed/>
                    <p:pic>
                      <p:nvPicPr>
                        <p:cNvPr id="0" name="图片 2444"/>
                        <p:cNvPicPr>
                          <a:picLocks noChangeAspect="1" noChangeArrowheads="1"/>
                        </p:cNvPicPr>
                        <p:nvPr/>
                      </p:nvPicPr>
                      <p:blipFill>
                        <a:blip r:embed="rId4"/>
                        <a:srcRect/>
                        <a:stretch>
                          <a:fillRect/>
                        </a:stretch>
                      </p:blipFill>
                      <p:spPr bwMode="auto">
                        <a:xfrm>
                          <a:off x="5270807" y="2946458"/>
                          <a:ext cx="89376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8679"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1132" y="5011284"/>
              <a:ext cx="307698" cy="24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黑体" panose="02010609060101010101" pitchFamily="49" charset="-122"/>
                <a:ea typeface="黑体" panose="02010609060101010101" pitchFamily="49" charset="-122"/>
              </a:rPr>
              <a:t>Friedman</a:t>
            </a:r>
            <a:r>
              <a:rPr lang="zh-CN" altLang="en-US" b="1" dirty="0">
                <a:latin typeface="黑体" panose="02010609060101010101" pitchFamily="49" charset="-122"/>
                <a:ea typeface="黑体" panose="02010609060101010101" pitchFamily="49" charset="-122"/>
              </a:rPr>
              <a:t>检验</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474892" y="1271047"/>
            <a:ext cx="7576908" cy="4815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p>
        </p:txBody>
      </p:sp>
      <p:pic>
        <p:nvPicPr>
          <p:cNvPr id="296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347" y="2509029"/>
            <a:ext cx="3459162" cy="2213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p:nvPr/>
        </p:nvSpPr>
        <p:spPr>
          <a:xfrm>
            <a:off x="783546" y="1271047"/>
            <a:ext cx="7576908" cy="10276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dirty="0">
                <a:latin typeface="黑体" panose="02010609060101010101" pitchFamily="49" charset="-122"/>
                <a:ea typeface="黑体" panose="02010609060101010101" pitchFamily="49" charset="-122"/>
              </a:rPr>
              <a:t>得到表格如下所示，由平均序值进行</a:t>
            </a:r>
            <a:r>
              <a:rPr lang="en-US" altLang="zh-CN" b="1" dirty="0">
                <a:latin typeface="黑体" panose="02010609060101010101" pitchFamily="49" charset="-122"/>
                <a:ea typeface="黑体" panose="02010609060101010101" pitchFamily="49" charset="-122"/>
              </a:rPr>
              <a:t>Friedman</a:t>
            </a:r>
            <a:r>
              <a:rPr lang="zh-CN" altLang="en-US" b="1" dirty="0">
                <a:latin typeface="黑体" panose="02010609060101010101" pitchFamily="49" charset="-122"/>
                <a:ea typeface="黑体" panose="02010609060101010101" pitchFamily="49" charset="-122"/>
              </a:rPr>
              <a:t>检验来判断这些</a:t>
            </a:r>
            <a:r>
              <a:rPr lang="zh-CN" altLang="en-US" b="1" dirty="0">
                <a:solidFill>
                  <a:srgbClr val="0000FF"/>
                </a:solidFill>
                <a:latin typeface="黑体" panose="02010609060101010101" pitchFamily="49" charset="-122"/>
                <a:ea typeface="黑体" panose="02010609060101010101" pitchFamily="49" charset="-122"/>
              </a:rPr>
              <a:t>算法是否性能都相同</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pic>
        <p:nvPicPr>
          <p:cNvPr id="297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9101" y="2882900"/>
            <a:ext cx="358990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p:nvPr/>
        </p:nvSpPr>
        <p:spPr>
          <a:xfrm>
            <a:off x="4108546" y="2369073"/>
            <a:ext cx="4362354" cy="1027653"/>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dirty="0">
                <a:latin typeface="黑体" panose="02010609060101010101" pitchFamily="49" charset="-122"/>
                <a:ea typeface="黑体" panose="02010609060101010101" pitchFamily="49" charset="-122"/>
              </a:rPr>
              <a:t>则变量：</a:t>
            </a:r>
            <a:endParaRPr lang="en-US" altLang="zh-CN" b="1" dirty="0">
              <a:latin typeface="黑体" panose="02010609060101010101" pitchFamily="49" charset="-122"/>
              <a:ea typeface="黑体" panose="02010609060101010101" pitchFamily="49" charset="-122"/>
            </a:endParaRPr>
          </a:p>
          <a:p>
            <a:pPr marL="0" indent="0">
              <a:lnSpc>
                <a:spcPct val="150000"/>
              </a:lnSpc>
              <a:buNone/>
            </a:pPr>
            <a:endParaRPr lang="en-US" altLang="zh-CN" dirty="0">
              <a:latin typeface="幼圆" panose="020105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服从自由度为</a:t>
            </a:r>
            <a:r>
              <a:rPr lang="en-US" altLang="zh-CN" b="1" dirty="0">
                <a:latin typeface="黑体" panose="02010609060101010101" pitchFamily="49" charset="-122"/>
                <a:ea typeface="黑体" panose="02010609060101010101" pitchFamily="49" charset="-122"/>
              </a:rPr>
              <a:t>k-1</a:t>
            </a:r>
            <a:r>
              <a:rPr lang="zh-CN" altLang="en-US" b="1" dirty="0">
                <a:latin typeface="黑体" panose="02010609060101010101" pitchFamily="49" charset="-122"/>
                <a:ea typeface="黑体" panose="02010609060101010101" pitchFamily="49" charset="-122"/>
              </a:rPr>
              <a:t>的   分布</a:t>
            </a:r>
            <a:endParaRPr lang="en-US" altLang="zh-CN" b="1" dirty="0">
              <a:latin typeface="黑体" panose="02010609060101010101" pitchFamily="49" charset="-122"/>
              <a:ea typeface="黑体" panose="020106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其中</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k</a:t>
            </a:r>
            <a:r>
              <a:rPr lang="zh-CN" altLang="en-US" b="1" dirty="0">
                <a:latin typeface="黑体" panose="02010609060101010101" pitchFamily="49" charset="-122"/>
                <a:ea typeface="黑体" panose="02010609060101010101" pitchFamily="49" charset="-122"/>
              </a:rPr>
              <a:t>表示数据集和算法数目</a:t>
            </a:r>
            <a:endParaRPr lang="en-US" altLang="zh-CN" b="1" dirty="0">
              <a:latin typeface="黑体" panose="02010609060101010101" pitchFamily="49" charset="-122"/>
              <a:ea typeface="黑体" panose="02010609060101010101" pitchFamily="49" charset="-122"/>
            </a:endParaRPr>
          </a:p>
        </p:txBody>
      </p:sp>
      <p:pic>
        <p:nvPicPr>
          <p:cNvPr id="297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061" y="3757422"/>
            <a:ext cx="328877" cy="31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err="1">
                <a:latin typeface="黑体" panose="02010609060101010101" pitchFamily="49" charset="-122"/>
                <a:ea typeface="黑体" panose="02010609060101010101" pitchFamily="49" charset="-122"/>
              </a:rPr>
              <a:t>Nemenyi</a:t>
            </a:r>
            <a:r>
              <a:rPr lang="zh-CN" altLang="en-US" b="1" dirty="0">
                <a:latin typeface="黑体" panose="02010609060101010101" pitchFamily="49" charset="-122"/>
                <a:ea typeface="黑体" panose="02010609060101010101" pitchFamily="49" charset="-122"/>
              </a:rPr>
              <a:t>后续检验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两两比较</a:t>
            </a:r>
            <a:endParaRPr lang="zh-CN" altLang="en-US" b="1" dirty="0">
              <a:latin typeface="黑体" panose="02010609060101010101" pitchFamily="49" charset="-122"/>
              <a:ea typeface="黑体" panose="02010609060101010101" pitchFamily="49" charset="-122"/>
            </a:endParaRPr>
          </a:p>
        </p:txBody>
      </p:sp>
      <p:sp>
        <p:nvSpPr>
          <p:cNvPr id="4" name="内容占位符 2"/>
          <p:cNvSpPr txBox="1"/>
          <p:nvPr/>
        </p:nvSpPr>
        <p:spPr>
          <a:xfrm>
            <a:off x="899592" y="1340768"/>
            <a:ext cx="7787208" cy="1080120"/>
          </a:xfrm>
          <a:prstGeom prst="rect">
            <a:avLst/>
          </a:prstGeom>
        </p:spPr>
        <p:txBody>
          <a:bodyPr vert="horz" lIns="91440" tIns="46800" rIns="91440" bIns="45720" rtlCol="0">
            <a:no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0B050"/>
              </a:buClr>
            </a:pPr>
            <a:r>
              <a:rPr lang="zh-CN" altLang="en-US" b="1" dirty="0">
                <a:latin typeface="黑体" panose="02010609060101010101" pitchFamily="49" charset="-122"/>
                <a:ea typeface="黑体" panose="02010609060101010101" pitchFamily="49" charset="-122"/>
              </a:rPr>
              <a:t>若“</a:t>
            </a:r>
            <a:r>
              <a:rPr lang="zh-CN" altLang="en-US" b="1" dirty="0">
                <a:solidFill>
                  <a:srgbClr val="0000FF"/>
                </a:solidFill>
                <a:latin typeface="黑体" panose="02010609060101010101" pitchFamily="49" charset="-122"/>
                <a:ea typeface="黑体" panose="02010609060101010101" pitchFamily="49" charset="-122"/>
              </a:rPr>
              <a:t>所有算法的性能相同</a:t>
            </a:r>
            <a:r>
              <a:rPr lang="zh-CN" altLang="en-US" b="1" dirty="0">
                <a:latin typeface="黑体" panose="02010609060101010101" pitchFamily="49" charset="-122"/>
                <a:ea typeface="黑体" panose="02010609060101010101" pitchFamily="49" charset="-122"/>
              </a:rPr>
              <a:t>”这个</a:t>
            </a:r>
            <a:r>
              <a:rPr lang="zh-CN" altLang="en-US" b="1" dirty="0">
                <a:solidFill>
                  <a:srgbClr val="0000FF"/>
                </a:solidFill>
                <a:latin typeface="黑体" panose="02010609060101010101" pitchFamily="49" charset="-122"/>
                <a:ea typeface="黑体" panose="02010609060101010101" pitchFamily="49" charset="-122"/>
              </a:rPr>
              <a:t>假设被拒绝</a:t>
            </a:r>
            <a:r>
              <a:rPr lang="zh-CN" altLang="en-US" b="1" dirty="0">
                <a:latin typeface="黑体" panose="02010609060101010101" pitchFamily="49" charset="-122"/>
                <a:ea typeface="黑体" panose="02010609060101010101" pitchFamily="49" charset="-122"/>
              </a:rPr>
              <a:t>，说明算法的性能显著不同，此时可用</a:t>
            </a:r>
            <a:r>
              <a:rPr lang="en-US" altLang="zh-CN" b="1" dirty="0" err="1">
                <a:latin typeface="黑体" panose="02010609060101010101" pitchFamily="49" charset="-122"/>
                <a:ea typeface="黑体" panose="02010609060101010101" pitchFamily="49" charset="-122"/>
              </a:rPr>
              <a:t>Nemenyi</a:t>
            </a:r>
            <a:r>
              <a:rPr lang="zh-CN" altLang="en-US" b="1" dirty="0">
                <a:latin typeface="黑体" panose="02010609060101010101" pitchFamily="49" charset="-122"/>
                <a:ea typeface="黑体" panose="02010609060101010101" pitchFamily="49" charset="-122"/>
              </a:rPr>
              <a:t>后续检验进一步区分算法。</a:t>
            </a:r>
            <a:endParaRPr lang="en-US" altLang="zh-CN" b="1" dirty="0">
              <a:latin typeface="黑体" panose="02010609060101010101" pitchFamily="49" charset="-122"/>
              <a:ea typeface="黑体" panose="02010609060101010101" pitchFamily="49" charset="-122"/>
            </a:endParaRPr>
          </a:p>
          <a:p>
            <a:pPr marL="0" indent="0">
              <a:lnSpc>
                <a:spcPct val="150000"/>
              </a:lnSpc>
              <a:buNone/>
            </a:pPr>
            <a:r>
              <a:rPr lang="en-US" altLang="zh-CN" b="1" dirty="0" err="1">
                <a:latin typeface="黑体" panose="02010609060101010101" pitchFamily="49" charset="-122"/>
                <a:ea typeface="黑体" panose="02010609060101010101" pitchFamily="49" charset="-122"/>
              </a:rPr>
              <a:t>Nemenyi</a:t>
            </a:r>
            <a:r>
              <a:rPr lang="zh-CN" altLang="en-US" b="1" dirty="0">
                <a:latin typeface="黑体" panose="02010609060101010101" pitchFamily="49" charset="-122"/>
                <a:ea typeface="黑体" panose="02010609060101010101" pitchFamily="49" charset="-122"/>
              </a:rPr>
              <a:t>检验计算平均序值差别的临界阈值</a:t>
            </a:r>
            <a:endParaRPr lang="en-US" altLang="zh-CN" b="1" dirty="0">
              <a:latin typeface="黑体" panose="02010609060101010101" pitchFamily="49" charset="-122"/>
              <a:ea typeface="黑体" panose="02010609060101010101" pitchFamily="49" charset="-122"/>
            </a:endParaRPr>
          </a:p>
          <a:p>
            <a:pPr marL="0" indent="0">
              <a:lnSpc>
                <a:spcPct val="150000"/>
              </a:lnSpc>
              <a:buNone/>
            </a:pPr>
            <a:endParaRPr lang="en-US" altLang="zh-CN" b="1" dirty="0">
              <a:latin typeface="黑体" panose="02010609060101010101" pitchFamily="49" charset="-122"/>
              <a:ea typeface="黑体" panose="020106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如果两个算法的平均序值之差超出了临界阈值</a:t>
            </a:r>
            <a:r>
              <a:rPr lang="en-US" altLang="zh-CN" b="1" dirty="0">
                <a:latin typeface="黑体" panose="02010609060101010101" pitchFamily="49" charset="-122"/>
                <a:ea typeface="黑体" panose="02010609060101010101" pitchFamily="49" charset="-122"/>
              </a:rPr>
              <a:t>CD</a:t>
            </a:r>
            <a:r>
              <a:rPr lang="zh-CN" altLang="en-US" b="1" dirty="0">
                <a:latin typeface="黑体" panose="02010609060101010101" pitchFamily="49" charset="-122"/>
                <a:ea typeface="黑体" panose="02010609060101010101" pitchFamily="49" charset="-122"/>
              </a:rPr>
              <a:t>，则以相应的置信度拒绝“</a:t>
            </a:r>
            <a:r>
              <a:rPr lang="zh-CN" altLang="en-US" b="1" dirty="0">
                <a:solidFill>
                  <a:srgbClr val="0000FF"/>
                </a:solidFill>
                <a:latin typeface="黑体" panose="02010609060101010101" pitchFamily="49" charset="-122"/>
                <a:ea typeface="黑体" panose="02010609060101010101" pitchFamily="49" charset="-122"/>
              </a:rPr>
              <a:t>两个算法性能相同</a:t>
            </a:r>
            <a:r>
              <a:rPr lang="zh-CN" altLang="en-US" b="1" dirty="0">
                <a:latin typeface="黑体" panose="02010609060101010101" pitchFamily="49" charset="-122"/>
                <a:ea typeface="黑体" panose="02010609060101010101" pitchFamily="49" charset="-122"/>
              </a:rPr>
              <a:t>”这一假设。</a:t>
            </a:r>
            <a:endParaRPr lang="en-US" altLang="zh-CN" b="1" dirty="0">
              <a:latin typeface="黑体" panose="02010609060101010101" pitchFamily="49" charset="-122"/>
              <a:ea typeface="黑体" panose="02010609060101010101" pitchFamily="49" charset="-122"/>
            </a:endParaRPr>
          </a:p>
        </p:txBody>
      </p:sp>
      <p:pic>
        <p:nvPicPr>
          <p:cNvPr id="307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06739" y="3040064"/>
            <a:ext cx="2252661" cy="64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黑体" panose="02010609060101010101" pitchFamily="49" charset="-122"/>
                <a:ea typeface="黑体" panose="02010609060101010101" pitchFamily="49" charset="-122"/>
              </a:rPr>
              <a:t>Friedman</a:t>
            </a:r>
            <a:r>
              <a:rPr lang="zh-CN" altLang="en-US" b="1" dirty="0">
                <a:latin typeface="黑体" panose="02010609060101010101" pitchFamily="49" charset="-122"/>
                <a:ea typeface="黑体" panose="02010609060101010101" pitchFamily="49" charset="-122"/>
              </a:rPr>
              <a:t>检验图</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827584" y="1518577"/>
            <a:ext cx="7848872" cy="1694399"/>
          </a:xfrm>
        </p:spPr>
        <p:txBody>
          <a:bodyPr>
            <a:normAutofit/>
          </a:bodyPr>
          <a:lstStyle/>
          <a:p>
            <a:pPr>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根据上例的序值结果可绘制如下</a:t>
            </a:r>
            <a:r>
              <a:rPr lang="en-US" altLang="zh-CN" sz="2000" b="1" dirty="0">
                <a:latin typeface="黑体" panose="02010609060101010101" pitchFamily="49" charset="-122"/>
                <a:ea typeface="黑体" panose="02010609060101010101" pitchFamily="49" charset="-122"/>
              </a:rPr>
              <a:t>Friedman</a:t>
            </a:r>
            <a:r>
              <a:rPr lang="zh-CN" altLang="en-US" sz="2000" b="1" dirty="0">
                <a:latin typeface="黑体" panose="02010609060101010101" pitchFamily="49" charset="-122"/>
                <a:ea typeface="黑体" panose="02010609060101010101" pitchFamily="49" charset="-122"/>
              </a:rPr>
              <a:t>检验图，横轴为平均序值，每个算法圆点为其平均序值，线段为临界阈值的大小。</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     若两个算法有交叠</a:t>
            </a:r>
            <a:r>
              <a:rPr lang="en-US" altLang="zh-CN" sz="2000" b="1" dirty="0">
                <a:latin typeface="黑体" panose="02010609060101010101" pitchFamily="49" charset="-122"/>
                <a:ea typeface="黑体" panose="02010609060101010101" pitchFamily="49" charset="-122"/>
              </a:rPr>
              <a:t>(A</a:t>
            </a:r>
            <a:r>
              <a:rPr lang="zh-CN"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B)</a:t>
            </a:r>
            <a:r>
              <a:rPr lang="zh-CN" altLang="en-US" sz="2000" b="1" dirty="0">
                <a:latin typeface="黑体" panose="02010609060101010101" pitchFamily="49" charset="-122"/>
                <a:ea typeface="黑体" panose="02010609060101010101" pitchFamily="49" charset="-122"/>
              </a:rPr>
              <a:t>，则说明没有显著差别</a:t>
            </a:r>
            <a:r>
              <a:rPr lang="en-US" altLang="zh-CN"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     否则有显著差别</a:t>
            </a:r>
            <a:r>
              <a:rPr lang="en-US" altLang="zh-CN" sz="2000" b="1" dirty="0">
                <a:latin typeface="黑体" panose="02010609060101010101" pitchFamily="49" charset="-122"/>
                <a:ea typeface="黑体" panose="02010609060101010101" pitchFamily="49" charset="-122"/>
              </a:rPr>
              <a:t>(A</a:t>
            </a:r>
            <a:r>
              <a:rPr lang="zh-CN"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C),</a:t>
            </a:r>
            <a:r>
              <a:rPr lang="zh-CN" altLang="en-US" sz="2000" b="1" dirty="0">
                <a:latin typeface="黑体" panose="02010609060101010101" pitchFamily="49" charset="-122"/>
                <a:ea typeface="黑体" panose="02010609060101010101" pitchFamily="49" charset="-122"/>
              </a:rPr>
              <a:t>算法</a:t>
            </a:r>
            <a:r>
              <a:rPr lang="en-US" altLang="zh-CN" sz="2000" b="1" dirty="0">
                <a:latin typeface="黑体" panose="02010609060101010101" pitchFamily="49" charset="-122"/>
                <a:ea typeface="黑体" panose="02010609060101010101" pitchFamily="49" charset="-122"/>
              </a:rPr>
              <a:t>A</a:t>
            </a:r>
            <a:r>
              <a:rPr lang="zh-CN" altLang="en-US" sz="2000" b="1" dirty="0">
                <a:latin typeface="黑体" panose="02010609060101010101" pitchFamily="49" charset="-122"/>
                <a:ea typeface="黑体" panose="02010609060101010101" pitchFamily="49" charset="-122"/>
              </a:rPr>
              <a:t>明显优于算法</a:t>
            </a:r>
            <a:r>
              <a:rPr lang="en-US" altLang="zh-CN" sz="2000" b="1" dirty="0">
                <a:latin typeface="黑体" panose="02010609060101010101" pitchFamily="49" charset="-122"/>
                <a:ea typeface="黑体" panose="02010609060101010101" pitchFamily="49" charset="-122"/>
              </a:rPr>
              <a:t>C.</a:t>
            </a:r>
            <a:endParaRPr lang="zh-CN" altLang="en-US" sz="2000" b="1" dirty="0">
              <a:latin typeface="黑体" panose="02010609060101010101" pitchFamily="49" charset="-122"/>
              <a:ea typeface="黑体" panose="02010609060101010101" pitchFamily="49" charset="-122"/>
            </a:endParaRPr>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648" y="3573016"/>
            <a:ext cx="5145087" cy="220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196752"/>
            <a:ext cx="8889466" cy="424847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大 纲</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经验误差与过拟合</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原则</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评估方法</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方法</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性能度量</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指标</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比较检验</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性能比较</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400" b="1" dirty="0">
                <a:solidFill>
                  <a:srgbClr val="0000FF"/>
                </a:solidFill>
                <a:latin typeface="黑体" panose="02010609060101010101" pitchFamily="49" charset="-122"/>
                <a:ea typeface="黑体" panose="02010609060101010101" pitchFamily="49" charset="-122"/>
              </a:rPr>
              <a:t>偏差与方差</a:t>
            </a:r>
            <a:endParaRPr lang="en-US" altLang="zh-CN" sz="2400" b="1" dirty="0">
              <a:solidFill>
                <a:srgbClr val="0000FF"/>
              </a:solidFill>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性能解释</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阅读材料</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黑体" panose="02010609060101010101" pitchFamily="49" charset="-122"/>
                <a:ea typeface="黑体" panose="02010609060101010101" pitchFamily="49" charset="-122"/>
              </a:rPr>
              <a:t>偏差与方差</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性能解释</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755576" y="1416450"/>
            <a:ext cx="7761684" cy="1042116"/>
          </a:xfrm>
        </p:spPr>
        <p:txBody>
          <a:bodyPr>
            <a:noAutofit/>
          </a:bodyPr>
          <a:lstStyle/>
          <a:p>
            <a:pPr>
              <a:lnSpc>
                <a:spcPts val="2600"/>
              </a:lnSpc>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通过实验可以估计学习算法的泛化性能，而“偏差</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方差分解”可以用来帮助解释泛化性能。偏差</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方差分解试图对学习算法期望的泛华错误率进行拆解。</a:t>
            </a:r>
            <a:endParaRPr lang="en-US" altLang="zh-CN" sz="2000" b="1" dirty="0">
              <a:latin typeface="黑体" panose="02010609060101010101" pitchFamily="49" charset="-122"/>
              <a:ea typeface="黑体" panose="02010609060101010101" pitchFamily="49" charset="-122"/>
            </a:endParaRPr>
          </a:p>
          <a:p>
            <a:pPr>
              <a:lnSpc>
                <a:spcPts val="2600"/>
              </a:lnSpc>
              <a:buClr>
                <a:srgbClr val="00B050"/>
              </a:buClr>
              <a:buFont typeface="Wingdings" panose="05000000000000000000" pitchFamily="2" charset="2"/>
              <a:buChar char="p"/>
            </a:pPr>
            <a:endParaRPr lang="zh-CN" altLang="en-US" sz="2000" dirty="0">
              <a:latin typeface="幼圆" panose="02010509060101010101" pitchFamily="49" charset="-122"/>
              <a:ea typeface="幼圆" panose="02010509060101010101" pitchFamily="49" charset="-122"/>
            </a:endParaRPr>
          </a:p>
        </p:txBody>
      </p:sp>
      <p:grpSp>
        <p:nvGrpSpPr>
          <p:cNvPr id="13" name="组合 12"/>
          <p:cNvGrpSpPr/>
          <p:nvPr/>
        </p:nvGrpSpPr>
        <p:grpSpPr>
          <a:xfrm>
            <a:off x="263525" y="2559450"/>
            <a:ext cx="8616950" cy="3835521"/>
            <a:chOff x="260350" y="2352337"/>
            <a:chExt cx="8616950" cy="3835521"/>
          </a:xfrm>
        </p:grpSpPr>
        <p:sp>
          <p:nvSpPr>
            <p:cNvPr id="5" name="内容占位符 2"/>
            <p:cNvSpPr txBox="1"/>
            <p:nvPr/>
          </p:nvSpPr>
          <p:spPr>
            <a:xfrm>
              <a:off x="260350" y="2352337"/>
              <a:ext cx="8616950" cy="3835521"/>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对测试样本  </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令    为   在数据集中的标记， 为   的真实标记，</a:t>
              </a: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为训练集   上学得模型   在   上的预测输出。以回归任务为例：学习</a:t>
              </a: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算法的期望预期为：</a:t>
              </a: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使用样本数目相同的不同训练集产生的方差为</a:t>
              </a: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endParaRPr lang="en-US" altLang="zh-CN" sz="2000" b="1" dirty="0">
                <a:latin typeface="黑体" panose="02010609060101010101" pitchFamily="49" charset="-122"/>
                <a:ea typeface="黑体" panose="02010609060101010101" pitchFamily="49" charset="-122"/>
              </a:endParaRPr>
            </a:p>
            <a:p>
              <a:pPr marL="0" indent="0">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噪声为</a:t>
              </a:r>
              <a:endParaRPr lang="zh-CN" altLang="en-US" sz="2000"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1763688" y="2446338"/>
            <a:ext cx="173037" cy="236537"/>
          </p:xfrm>
          <a:graphic>
            <a:graphicData uri="http://schemas.openxmlformats.org/presentationml/2006/ole">
              <mc:AlternateContent xmlns:mc="http://schemas.openxmlformats.org/markup-compatibility/2006">
                <mc:Choice xmlns:v="urn:schemas-microsoft-com:vml" Requires="v">
                  <p:oleObj spid="_x0000_s4642" name="Formula" r:id="rId1" imgW="657225" imgH="895350" progId="Equation.Ribbit">
                    <p:embed/>
                  </p:oleObj>
                </mc:Choice>
                <mc:Fallback>
                  <p:oleObj name="Formula" r:id="rId1" imgW="657225" imgH="895350" progId="Equation.Ribbit">
                    <p:embed/>
                    <p:pic>
                      <p:nvPicPr>
                        <p:cNvPr id="0" name="图片 4641"/>
                        <p:cNvPicPr/>
                        <p:nvPr/>
                      </p:nvPicPr>
                      <p:blipFill>
                        <a:blip r:embed="rId2"/>
                        <a:stretch>
                          <a:fillRect/>
                        </a:stretch>
                      </p:blipFill>
                      <p:spPr>
                        <a:xfrm>
                          <a:off x="1763688" y="2446338"/>
                          <a:ext cx="173037" cy="236537"/>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357061" y="2439372"/>
            <a:ext cx="333375" cy="239713"/>
          </p:xfrm>
          <a:graphic>
            <a:graphicData uri="http://schemas.openxmlformats.org/presentationml/2006/ole">
              <mc:AlternateContent xmlns:mc="http://schemas.openxmlformats.org/markup-compatibility/2006">
                <mc:Choice xmlns:v="urn:schemas-microsoft-com:vml" Requires="v">
                  <p:oleObj spid="_x0000_s4643" name="Formula" r:id="rId3" imgW="1257300" imgH="904875" progId="Equation.Ribbit">
                    <p:embed/>
                  </p:oleObj>
                </mc:Choice>
                <mc:Fallback>
                  <p:oleObj name="Formula" r:id="rId3" imgW="1257300" imgH="904875" progId="Equation.Ribbit">
                    <p:embed/>
                    <p:pic>
                      <p:nvPicPr>
                        <p:cNvPr id="0" name="图片 4642"/>
                        <p:cNvPicPr/>
                        <p:nvPr/>
                      </p:nvPicPr>
                      <p:blipFill>
                        <a:blip r:embed="rId4"/>
                        <a:stretch>
                          <a:fillRect/>
                        </a:stretch>
                      </p:blipFill>
                      <p:spPr>
                        <a:xfrm>
                          <a:off x="2357061" y="2439372"/>
                          <a:ext cx="333375" cy="2397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127375" y="2438929"/>
            <a:ext cx="173037" cy="236537"/>
          </p:xfrm>
          <a:graphic>
            <a:graphicData uri="http://schemas.openxmlformats.org/presentationml/2006/ole">
              <mc:AlternateContent xmlns:mc="http://schemas.openxmlformats.org/markup-compatibility/2006">
                <mc:Choice xmlns:v="urn:schemas-microsoft-com:vml" Requires="v">
                  <p:oleObj spid="_x0000_s4644" name="Formula" r:id="rId5" imgW="87630" imgH="119380" progId="Equation.Ribbit">
                    <p:embed/>
                  </p:oleObj>
                </mc:Choice>
                <mc:Fallback>
                  <p:oleObj name="Formula" r:id="rId5" imgW="87630" imgH="119380" progId="Equation.Ribbit">
                    <p:embed/>
                    <p:pic>
                      <p:nvPicPr>
                        <p:cNvPr id="0" name="图片 46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7375" y="2438929"/>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5604073" y="2469207"/>
            <a:ext cx="163513" cy="239713"/>
          </p:xfrm>
          <a:graphic>
            <a:graphicData uri="http://schemas.openxmlformats.org/presentationml/2006/ole">
              <mc:AlternateContent xmlns:mc="http://schemas.openxmlformats.org/markup-compatibility/2006">
                <mc:Choice xmlns:v="urn:schemas-microsoft-com:vml" Requires="v">
                  <p:oleObj spid="_x0000_s4645" name="Formula" r:id="rId7" imgW="619125" imgH="904875" progId="Equation.Ribbit">
                    <p:embed/>
                  </p:oleObj>
                </mc:Choice>
                <mc:Fallback>
                  <p:oleObj name="Formula" r:id="rId7" imgW="619125" imgH="904875" progId="Equation.Ribbit">
                    <p:embed/>
                    <p:pic>
                      <p:nvPicPr>
                        <p:cNvPr id="0" name="图片 4644"/>
                        <p:cNvPicPr/>
                        <p:nvPr/>
                      </p:nvPicPr>
                      <p:blipFill>
                        <a:blip r:embed="rId8"/>
                        <a:stretch>
                          <a:fillRect/>
                        </a:stretch>
                      </p:blipFill>
                      <p:spPr>
                        <a:xfrm>
                          <a:off x="5604073" y="2469207"/>
                          <a:ext cx="163513" cy="2397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199163" y="2466385"/>
            <a:ext cx="173037" cy="236537"/>
          </p:xfrm>
          <a:graphic>
            <a:graphicData uri="http://schemas.openxmlformats.org/presentationml/2006/ole">
              <mc:AlternateContent xmlns:mc="http://schemas.openxmlformats.org/markup-compatibility/2006">
                <mc:Choice xmlns:v="urn:schemas-microsoft-com:vml" Requires="v">
                  <p:oleObj spid="_x0000_s4646" name="Formula" r:id="rId9" imgW="87630" imgH="119380" progId="Equation.Ribbit">
                    <p:embed/>
                  </p:oleObj>
                </mc:Choice>
                <mc:Fallback>
                  <p:oleObj name="Formula" r:id="rId9" imgW="87630" imgH="119380" progId="Equation.Ribbit">
                    <p:embed/>
                    <p:pic>
                      <p:nvPicPr>
                        <p:cNvPr id="0" name="图片 46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9163" y="2466385"/>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778"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3201" y="2357791"/>
              <a:ext cx="830261" cy="289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对象 9"/>
            <p:cNvGraphicFramePr>
              <a:graphicFrameLocks noChangeAspect="1"/>
            </p:cNvGraphicFramePr>
            <p:nvPr/>
          </p:nvGraphicFramePr>
          <p:xfrm>
            <a:off x="1423988" y="2837649"/>
            <a:ext cx="195261" cy="239751"/>
          </p:xfrm>
          <a:graphic>
            <a:graphicData uri="http://schemas.openxmlformats.org/presentationml/2006/ole">
              <mc:AlternateContent xmlns:mc="http://schemas.openxmlformats.org/markup-compatibility/2006">
                <mc:Choice xmlns:v="urn:schemas-microsoft-com:vml" Requires="v">
                  <p:oleObj spid="_x0000_s4647" name="Formula" r:id="rId11" imgW="952500" imgH="1162050" progId="Equation.Ribbit">
                    <p:embed/>
                  </p:oleObj>
                </mc:Choice>
                <mc:Fallback>
                  <p:oleObj name="Formula" r:id="rId11" imgW="952500" imgH="1162050" progId="Equation.Ribbit">
                    <p:embed/>
                    <p:pic>
                      <p:nvPicPr>
                        <p:cNvPr id="0" name="图片 4646"/>
                        <p:cNvPicPr/>
                        <p:nvPr/>
                      </p:nvPicPr>
                      <p:blipFill>
                        <a:blip r:embed="rId12"/>
                        <a:stretch>
                          <a:fillRect/>
                        </a:stretch>
                      </p:blipFill>
                      <p:spPr>
                        <a:xfrm>
                          <a:off x="1423988" y="2837649"/>
                          <a:ext cx="195261" cy="239751"/>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086893" y="2862636"/>
            <a:ext cx="127000" cy="228828"/>
          </p:xfrm>
          <a:graphic>
            <a:graphicData uri="http://schemas.openxmlformats.org/presentationml/2006/ole">
              <mc:AlternateContent xmlns:mc="http://schemas.openxmlformats.org/markup-compatibility/2006">
                <mc:Choice xmlns:v="urn:schemas-microsoft-com:vml" Requires="v">
                  <p:oleObj spid="_x0000_s4648" name="Formula" r:id="rId13" imgW="666750" imgH="1200150" progId="Equation.Ribbit">
                    <p:embed/>
                  </p:oleObj>
                </mc:Choice>
                <mc:Fallback>
                  <p:oleObj name="Formula" r:id="rId13" imgW="666750" imgH="1200150" progId="Equation.Ribbit">
                    <p:embed/>
                    <p:pic>
                      <p:nvPicPr>
                        <p:cNvPr id="0" name="图片 4647"/>
                        <p:cNvPicPr/>
                        <p:nvPr/>
                      </p:nvPicPr>
                      <p:blipFill>
                        <a:blip r:embed="rId14"/>
                        <a:stretch>
                          <a:fillRect/>
                        </a:stretch>
                      </p:blipFill>
                      <p:spPr>
                        <a:xfrm>
                          <a:off x="3086893" y="2862636"/>
                          <a:ext cx="127000" cy="22882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707904" y="2857555"/>
            <a:ext cx="173037" cy="236537"/>
          </p:xfrm>
          <a:graphic>
            <a:graphicData uri="http://schemas.openxmlformats.org/presentationml/2006/ole">
              <mc:AlternateContent xmlns:mc="http://schemas.openxmlformats.org/markup-compatibility/2006">
                <mc:Choice xmlns:v="urn:schemas-microsoft-com:vml" Requires="v">
                  <p:oleObj spid="_x0000_s4649" name="Formula" r:id="rId15" imgW="87630" imgH="119380" progId="Equation.Ribbit">
                    <p:embed/>
                  </p:oleObj>
                </mc:Choice>
                <mc:Fallback>
                  <p:oleObj name="Formula" r:id="rId15" imgW="87630" imgH="119380" progId="Equation.Ribbit">
                    <p:embed/>
                    <p:pic>
                      <p:nvPicPr>
                        <p:cNvPr id="0" name="图片 46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7904" y="2857555"/>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781" name="Picture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14074" y="3462925"/>
              <a:ext cx="2384642" cy="39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82" name="Picture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32423" y="4352820"/>
              <a:ext cx="3755851" cy="493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83" name="Picture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05708" y="5479812"/>
              <a:ext cx="2209279" cy="48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82439"/>
            <a:ext cx="8229600" cy="1143000"/>
          </a:xfrm>
        </p:spPr>
        <p:txBody>
          <a:bodyPr>
            <a:normAutofit/>
          </a:bodyPr>
          <a:lstStyle/>
          <a:p>
            <a:r>
              <a:rPr lang="zh-CN" altLang="en-US" dirty="0">
                <a:latin typeface="黑体" panose="02010609060101010101" pitchFamily="49" charset="-122"/>
                <a:ea typeface="黑体" panose="02010609060101010101" pitchFamily="49" charset="-122"/>
              </a:rPr>
              <a:t>偏差与方差</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期望泛化误差分解</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347538" y="1909293"/>
            <a:ext cx="8616950" cy="873463"/>
          </a:xfrm>
        </p:spPr>
        <p:txBody>
          <a:bodyPr>
            <a:normAutofit fontScale="62500" lnSpcReduction="20000"/>
          </a:bodyPr>
          <a:lstStyle/>
          <a:p>
            <a:pPr marL="0" indent="0">
              <a:buNone/>
            </a:pPr>
            <a:r>
              <a:rPr lang="zh-CN" altLang="en-US" b="1" dirty="0">
                <a:latin typeface="黑体" panose="02010609060101010101" pitchFamily="49" charset="-122"/>
                <a:ea typeface="黑体" panose="02010609060101010101" pitchFamily="49" charset="-122"/>
              </a:rPr>
              <a:t>期望输出与真实标记的差别称为偏差，即</a:t>
            </a: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为便与讨论，假定噪声期望为</a:t>
            </a:r>
            <a:r>
              <a:rPr lang="en-US" altLang="zh-CN" b="1" dirty="0">
                <a:latin typeface="黑体" panose="02010609060101010101" pitchFamily="49" charset="-122"/>
                <a:ea typeface="黑体" panose="02010609060101010101" pitchFamily="49" charset="-122"/>
              </a:rPr>
              <a:t>0</a:t>
            </a:r>
            <a:r>
              <a:rPr lang="zh-CN" altLang="en-US" b="1" dirty="0">
                <a:latin typeface="黑体" panose="02010609060101010101" pitchFamily="49" charset="-122"/>
                <a:ea typeface="黑体" panose="02010609060101010101" pitchFamily="49" charset="-122"/>
              </a:rPr>
              <a:t>，也即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对泛化误差分解</a:t>
            </a:r>
            <a:endParaRPr lang="zh-CN" altLang="en-US" b="1" dirty="0">
              <a:latin typeface="黑体" panose="02010609060101010101" pitchFamily="49" charset="-122"/>
              <a:ea typeface="黑体" panose="02010609060101010101" pitchFamily="49" charset="-122"/>
            </a:endParaRPr>
          </a:p>
        </p:txBody>
      </p:sp>
      <p:pic>
        <p:nvPicPr>
          <p:cNvPr id="33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8064" y="1799391"/>
            <a:ext cx="2815738" cy="456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192" y="2256331"/>
            <a:ext cx="1757036" cy="26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214" y="3082555"/>
            <a:ext cx="7081185" cy="2938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黑体" panose="02010609060101010101" pitchFamily="49" charset="-122"/>
                <a:ea typeface="黑体" panose="02010609060101010101" pitchFamily="49" charset="-122"/>
              </a:rPr>
              <a:t>偏差与方差</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473292" y="3038159"/>
            <a:ext cx="8616950" cy="2392470"/>
          </a:xfrm>
        </p:spPr>
        <p:txBody>
          <a:bodyPr>
            <a:normAutofit/>
          </a:bodyPr>
          <a:lstStyle/>
          <a:p>
            <a:pPr marL="0" indent="0">
              <a:buNone/>
            </a:pPr>
            <a:r>
              <a:rPr lang="zh-CN" altLang="en-US" sz="2400" b="1" dirty="0">
                <a:latin typeface="黑体" panose="02010609060101010101" pitchFamily="49" charset="-122"/>
                <a:ea typeface="黑体" panose="02010609060101010101" pitchFamily="49" charset="-122"/>
              </a:rPr>
              <a:t>又由假设中噪声期望为</a:t>
            </a:r>
            <a:r>
              <a:rPr lang="en-US" altLang="zh-CN" sz="2400" b="1" dirty="0">
                <a:latin typeface="黑体" panose="02010609060101010101" pitchFamily="49" charset="-122"/>
                <a:ea typeface="黑体" panose="02010609060101010101" pitchFamily="49" charset="-122"/>
              </a:rPr>
              <a:t>0</a:t>
            </a:r>
            <a:r>
              <a:rPr lang="zh-CN" altLang="en-US" sz="2400" b="1" dirty="0">
                <a:latin typeface="黑体" panose="02010609060101010101" pitchFamily="49" charset="-122"/>
                <a:ea typeface="黑体" panose="02010609060101010101" pitchFamily="49" charset="-122"/>
              </a:rPr>
              <a:t>，可得</a:t>
            </a:r>
            <a:endParaRPr lang="en-US" altLang="zh-CN" sz="2400" b="1" dirty="0">
              <a:latin typeface="黑体" panose="02010609060101010101" pitchFamily="49" charset="-122"/>
              <a:ea typeface="黑体" panose="02010609060101010101" pitchFamily="49" charset="-122"/>
            </a:endParaRPr>
          </a:p>
          <a:p>
            <a:pPr marL="0" indent="0">
              <a:buNone/>
            </a:pPr>
            <a:endParaRPr lang="en-US" altLang="zh-CN" sz="2400" b="1" dirty="0">
              <a:latin typeface="黑体" panose="02010609060101010101" pitchFamily="49" charset="-122"/>
              <a:ea typeface="黑体" panose="02010609060101010101" pitchFamily="49" charset="-122"/>
            </a:endParaRPr>
          </a:p>
          <a:p>
            <a:pPr marL="0" indent="0">
              <a:buNone/>
            </a:pPr>
            <a:endParaRPr lang="en-US" altLang="zh-CN" sz="2400" b="1" dirty="0">
              <a:latin typeface="黑体" panose="02010609060101010101" pitchFamily="49" charset="-122"/>
              <a:ea typeface="黑体" panose="02010609060101010101" pitchFamily="49" charset="-122"/>
            </a:endParaRPr>
          </a:p>
          <a:p>
            <a:pPr marL="0" indent="0">
              <a:buNone/>
            </a:pPr>
            <a:r>
              <a:rPr lang="zh-CN" altLang="en-US" sz="2400" b="1" dirty="0">
                <a:latin typeface="黑体" panose="02010609060101010101" pitchFamily="49" charset="-122"/>
                <a:ea typeface="黑体" panose="02010609060101010101" pitchFamily="49" charset="-122"/>
              </a:rPr>
              <a:t>于是：</a:t>
            </a:r>
            <a:r>
              <a:rPr lang="en-US" altLang="zh-CN" sz="2400" b="1" dirty="0">
                <a:latin typeface="黑体" panose="02010609060101010101" pitchFamily="49" charset="-122"/>
                <a:ea typeface="黑体" panose="02010609060101010101" pitchFamily="49" charset="-122"/>
              </a:rPr>
              <a:t>                                         </a:t>
            </a:r>
            <a:endParaRPr lang="en-US" altLang="zh-CN" sz="2400" b="1" dirty="0">
              <a:latin typeface="黑体" panose="02010609060101010101" pitchFamily="49" charset="-122"/>
              <a:ea typeface="黑体" panose="02010609060101010101" pitchFamily="49" charset="-122"/>
            </a:endParaRPr>
          </a:p>
          <a:p>
            <a:pPr marL="0" indent="0">
              <a:buNone/>
            </a:pPr>
            <a:r>
              <a:rPr lang="zh-CN" altLang="en-US" sz="2400" b="1" dirty="0">
                <a:latin typeface="黑体" panose="02010609060101010101" pitchFamily="49" charset="-122"/>
                <a:ea typeface="黑体" panose="02010609060101010101" pitchFamily="49" charset="-122"/>
              </a:rPr>
              <a:t>也即泛化误差可分解为偏差、方差与噪声之和。</a:t>
            </a:r>
            <a:endParaRPr lang="en-US" altLang="zh-CN" sz="2400" b="1" dirty="0">
              <a:latin typeface="黑体" panose="02010609060101010101" pitchFamily="49" charset="-122"/>
              <a:ea typeface="黑体" panose="02010609060101010101" pitchFamily="49" charset="-122"/>
            </a:endParaRPr>
          </a:p>
          <a:p>
            <a:pPr marL="0" indent="0">
              <a:buNone/>
            </a:pPr>
            <a:endParaRPr lang="en-US" altLang="zh-CN" sz="2400" b="1" dirty="0">
              <a:latin typeface="黑体" panose="02010609060101010101" pitchFamily="49" charset="-122"/>
              <a:ea typeface="黑体" panose="02010609060101010101" pitchFamily="49" charset="-122"/>
            </a:endParaRPr>
          </a:p>
          <a:p>
            <a:pPr marL="0" indent="0">
              <a:buNone/>
            </a:pPr>
            <a:endParaRPr lang="en-US" altLang="zh-CN" sz="2400" dirty="0">
              <a:latin typeface="幼圆" panose="02010509060101010101" pitchFamily="49" charset="-122"/>
              <a:ea typeface="幼圆" panose="02010509060101010101" pitchFamily="49" charset="-122"/>
            </a:endParaRPr>
          </a:p>
        </p:txBody>
      </p:sp>
      <p:pic>
        <p:nvPicPr>
          <p:cNvPr id="348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5125" y="3553142"/>
            <a:ext cx="6543121" cy="4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22" y="4452548"/>
            <a:ext cx="4188260" cy="344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036" y="1244774"/>
            <a:ext cx="6505966" cy="1517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buClr>
                <a:srgbClr val="00B050"/>
              </a:buClr>
            </a:pPr>
            <a:r>
              <a:rPr lang="zh-CN" altLang="en-US" b="1" dirty="0">
                <a:latin typeface="黑体" panose="02010609060101010101" pitchFamily="49" charset="-122"/>
                <a:ea typeface="黑体" panose="02010609060101010101" pitchFamily="49" charset="-122"/>
              </a:rPr>
              <a:t>偏差与方差</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3525" y="1556792"/>
            <a:ext cx="8616950" cy="4428071"/>
          </a:xfrm>
        </p:spPr>
        <p:txBody>
          <a:bodyPr>
            <a:normAutofit/>
          </a:bodyPr>
          <a:lstStyle/>
          <a:p>
            <a:pPr lvl="1">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偏差度量了学习算法期望预测与真实结果的偏离程度；即刻画了学习算法本身的拟合能力；</a:t>
            </a:r>
            <a:endParaRPr lang="en-US" altLang="zh-CN" sz="22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方差度量了同样大小训练集的变动所导致的学习性能的变化；即刻画了数据扰动所造成的影响；</a:t>
            </a:r>
            <a:endParaRPr lang="en-US" altLang="zh-CN" sz="22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噪声表达了在当前任务上任何学习算法所能达到的期望泛化误差的下界；即刻画了学习问题本身的难度。</a:t>
            </a:r>
            <a:endParaRPr lang="en-US" altLang="zh-CN" sz="22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endParaRPr lang="en-US" altLang="zh-CN" sz="22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泛化性能是由学习算法的能力、数据的充分性以及学习任务本身的难度所共同决定的。给定学习任务为了取得好的泛化性能，需要使偏差小</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充分拟合数据</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而且方差较小</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减少数据扰动产生的影响</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a:t>
            </a:r>
            <a:endParaRPr lang="en-US" altLang="zh-CN" sz="2200" b="1" dirty="0">
              <a:latin typeface="黑体" panose="02010609060101010101" pitchFamily="49" charset="-122"/>
              <a:ea typeface="黑体" panose="02010609060101010101"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115616" y="620688"/>
            <a:ext cx="6984776" cy="5831787"/>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黑体" panose="02010609060101010101" pitchFamily="49" charset="-122"/>
                <a:ea typeface="黑体" panose="02010609060101010101" pitchFamily="49" charset="-122"/>
              </a:rPr>
              <a:t>偏差与方差</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316717" y="1413310"/>
            <a:ext cx="8370083" cy="1196357"/>
          </a:xfrm>
        </p:spPr>
        <p:txBody>
          <a:bodyPr>
            <a:normAutofit/>
          </a:bodyPr>
          <a:lstStyle/>
          <a:p>
            <a:pPr marL="668655" lvl="1" indent="-342900">
              <a:buClr>
                <a:srgbClr val="00B05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一般来说，偏差与方差是有冲突的，称为</a:t>
            </a:r>
            <a:r>
              <a:rPr lang="zh-CN" altLang="en-US" sz="2200" b="1" dirty="0">
                <a:solidFill>
                  <a:srgbClr val="C00000"/>
                </a:solidFill>
                <a:latin typeface="黑体" panose="02010609060101010101" pitchFamily="49" charset="-122"/>
                <a:ea typeface="黑体" panose="02010609060101010101" pitchFamily="49" charset="-122"/>
              </a:rPr>
              <a:t>偏差</a:t>
            </a:r>
            <a:r>
              <a:rPr lang="en-US" altLang="zh-CN" sz="2200" b="1" dirty="0">
                <a:solidFill>
                  <a:srgbClr val="C00000"/>
                </a:solidFill>
                <a:latin typeface="黑体" panose="02010609060101010101" pitchFamily="49" charset="-122"/>
                <a:ea typeface="黑体" panose="02010609060101010101" pitchFamily="49" charset="-122"/>
              </a:rPr>
              <a:t>-</a:t>
            </a:r>
            <a:r>
              <a:rPr lang="zh-CN" altLang="en-US" sz="2200" b="1" dirty="0">
                <a:solidFill>
                  <a:srgbClr val="C00000"/>
                </a:solidFill>
                <a:latin typeface="黑体" panose="02010609060101010101" pitchFamily="49" charset="-122"/>
                <a:ea typeface="黑体" panose="02010609060101010101" pitchFamily="49" charset="-122"/>
              </a:rPr>
              <a:t>方差窘境</a:t>
            </a:r>
            <a:r>
              <a:rPr lang="zh-CN" altLang="en-US" sz="2200" b="1" dirty="0">
                <a:latin typeface="黑体" panose="02010609060101010101" pitchFamily="49" charset="-122"/>
                <a:ea typeface="黑体" panose="02010609060101010101" pitchFamily="49" charset="-122"/>
              </a:rPr>
              <a:t>。如右图所示，假如我们能控制算法的训练程度：</a:t>
            </a:r>
            <a:endParaRPr lang="en-US" altLang="zh-CN" sz="2200" b="1" dirty="0">
              <a:latin typeface="黑体" panose="02010609060101010101" pitchFamily="49" charset="-122"/>
              <a:ea typeface="黑体" panose="02010609060101010101" pitchFamily="49" charset="-122"/>
            </a:endParaRPr>
          </a:p>
        </p:txBody>
      </p:sp>
      <p:sp>
        <p:nvSpPr>
          <p:cNvPr id="4" name="内容占位符 2"/>
          <p:cNvSpPr txBox="1"/>
          <p:nvPr/>
        </p:nvSpPr>
        <p:spPr>
          <a:xfrm>
            <a:off x="-252536" y="2348880"/>
            <a:ext cx="5400600" cy="3712001"/>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B050"/>
              </a:buClr>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在训练不足时，学习器拟合能力不强，训练数据的扰动不足以使学习器的拟合能力产生显著变化，此时偏差主导泛化错误率；</a:t>
            </a:r>
            <a:endParaRPr lang="en-US" altLang="zh-CN" sz="21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随着训练程度加深，学习器拟合能力逐渐增强，方差逐渐主导泛化错误率；</a:t>
            </a:r>
            <a:endParaRPr lang="en-US" altLang="zh-CN" sz="21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训练充足后，学习器的拟合能力非常强，训练数据的轻微扰动都会导致学习器的显著变化，若训练数据自身非全局特性被学到则会发生过拟合。</a:t>
            </a:r>
            <a:endParaRPr lang="en-US" altLang="zh-CN" sz="2100" b="1" dirty="0">
              <a:latin typeface="黑体" panose="02010609060101010101" pitchFamily="49" charset="-122"/>
              <a:ea typeface="黑体" panose="02010609060101010101" pitchFamily="49" charset="-122"/>
            </a:endParaRPr>
          </a:p>
        </p:txBody>
      </p:sp>
      <p:pic>
        <p:nvPicPr>
          <p:cNvPr id="358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2040" y="2492895"/>
            <a:ext cx="4032448" cy="2970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黑体" panose="02010609060101010101" pitchFamily="49" charset="-122"/>
                <a:ea typeface="黑体" panose="02010609060101010101" pitchFamily="49" charset="-122"/>
              </a:rPr>
              <a:t>大 纲</a:t>
            </a:r>
            <a:endParaRPr lang="zh-CN" altLang="en-US"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1115616" y="1268760"/>
            <a:ext cx="6624736" cy="4950163"/>
          </a:xfrm>
        </p:spPr>
        <p:txBody>
          <a:bodyPr>
            <a:noAutofit/>
          </a:bodyPr>
          <a:lstStyle/>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经验误差与过拟合</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原则</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评估方法</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方法</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性能度量</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评估</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指标</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比较检验</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性能比较</a:t>
            </a:r>
            <a:endParaRPr lang="en-US" altLang="zh-CN" sz="2000" b="1" dirty="0">
              <a:latin typeface="黑体" panose="02010609060101010101" pitchFamily="49" charset="-122"/>
              <a:ea typeface="黑体" panose="02010609060101010101" pitchFamily="49" charset="-122"/>
            </a:endParaRPr>
          </a:p>
          <a:p>
            <a:pPr>
              <a:buClr>
                <a:srgbClr val="00B05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偏差与方差</a:t>
            </a:r>
            <a:endParaRPr lang="en-US" altLang="zh-CN" sz="2400" b="1" dirty="0">
              <a:latin typeface="黑体" panose="02010609060101010101" pitchFamily="49" charset="-122"/>
              <a:ea typeface="黑体" panose="02010609060101010101" pitchFamily="49" charset="-122"/>
            </a:endParaRPr>
          </a:p>
          <a:p>
            <a:pPr lvl="1">
              <a:buClr>
                <a:srgbClr val="00B050"/>
              </a:buClr>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选择</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性能解释</a:t>
            </a:r>
            <a:endParaRPr lang="en-US" altLang="zh-CN" sz="2000" b="1" dirty="0">
              <a:latin typeface="黑体" panose="02010609060101010101" pitchFamily="49" charset="-122"/>
              <a:ea typeface="黑体" panose="02010609060101010101" pitchFamily="49" charset="-122"/>
            </a:endParaRPr>
          </a:p>
          <a:p>
            <a:pPr>
              <a:lnSpc>
                <a:spcPct val="100000"/>
              </a:lnSpc>
              <a:buClr>
                <a:srgbClr val="00B050"/>
              </a:buClr>
              <a:buFont typeface="Wingdings" panose="05000000000000000000" pitchFamily="2" charset="2"/>
              <a:buChar char="p"/>
            </a:pPr>
            <a:r>
              <a:rPr lang="zh-CN" altLang="en-US" sz="2400" b="1" dirty="0">
                <a:solidFill>
                  <a:srgbClr val="0000FF"/>
                </a:solidFill>
                <a:latin typeface="黑体" panose="02010609060101010101" pitchFamily="49" charset="-122"/>
                <a:ea typeface="黑体" panose="02010609060101010101" pitchFamily="49" charset="-122"/>
              </a:rPr>
              <a:t>阅读材料</a:t>
            </a:r>
            <a:endParaRPr lang="zh-CN" altLang="en-US" sz="24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幼圆" panose="02010509060101010101" pitchFamily="49" charset="-122"/>
                <a:ea typeface="幼圆" panose="02010509060101010101" pitchFamily="49" charset="-122"/>
              </a:rPr>
              <a:t>阅读材料</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611560" y="1772816"/>
            <a:ext cx="8280920" cy="4464496"/>
          </a:xfrm>
        </p:spPr>
        <p:txBody>
          <a:bodyPr>
            <a:normAutofit fontScale="62500" lnSpcReduction="20000"/>
          </a:bodyPr>
          <a:lstStyle/>
          <a:p>
            <a:pPr>
              <a:lnSpc>
                <a:spcPct val="170000"/>
              </a:lnSpc>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自助采样法在机器学习中有重要用途</a:t>
            </a:r>
            <a:r>
              <a:rPr lang="en-US" altLang="zh-CN" b="1" dirty="0">
                <a:latin typeface="幼圆" panose="02010509060101010101" pitchFamily="49" charset="-122"/>
                <a:ea typeface="幼圆" panose="02010509060101010101" pitchFamily="49" charset="-122"/>
              </a:rPr>
              <a:t>,[Efron and Tibshirani, 1993]</a:t>
            </a:r>
            <a:r>
              <a:rPr lang="zh-CN" altLang="en-US" b="1" dirty="0">
                <a:latin typeface="幼圆" panose="02010509060101010101" pitchFamily="49" charset="-122"/>
                <a:ea typeface="幼圆" panose="02010509060101010101" pitchFamily="49" charset="-122"/>
              </a:rPr>
              <a:t>对此有详细讨论。</a:t>
            </a:r>
            <a:endParaRPr lang="en-US" altLang="zh-CN" b="1" dirty="0">
              <a:latin typeface="幼圆" panose="02010509060101010101" pitchFamily="49" charset="-122"/>
              <a:ea typeface="幼圆" panose="02010509060101010101" pitchFamily="49" charset="-122"/>
            </a:endParaRPr>
          </a:p>
          <a:p>
            <a:pPr>
              <a:lnSpc>
                <a:spcPct val="170000"/>
              </a:lnSpc>
              <a:buClr>
                <a:srgbClr val="00B050"/>
              </a:buClr>
              <a:buFont typeface="Wingdings" panose="05000000000000000000" pitchFamily="2" charset="2"/>
              <a:buChar char="p"/>
            </a:pPr>
            <a:r>
              <a:rPr lang="en-US" altLang="zh-CN" b="1" dirty="0">
                <a:latin typeface="幼圆" panose="02010509060101010101" pitchFamily="49" charset="-122"/>
                <a:ea typeface="幼圆" panose="02010509060101010101" pitchFamily="49" charset="-122"/>
              </a:rPr>
              <a:t>ROC</a:t>
            </a:r>
            <a:r>
              <a:rPr lang="zh-CN" altLang="en-US" b="1" dirty="0">
                <a:latin typeface="幼圆" panose="02010509060101010101" pitchFamily="49" charset="-122"/>
                <a:ea typeface="幼圆" panose="02010509060101010101" pitchFamily="49" charset="-122"/>
              </a:rPr>
              <a:t>曲线在二十世纪八十年代后期被引入机器学习</a:t>
            </a:r>
            <a:r>
              <a:rPr lang="en-US" altLang="zh-CN" b="1" dirty="0">
                <a:latin typeface="幼圆" panose="02010509060101010101" pitchFamily="49" charset="-122"/>
                <a:ea typeface="幼圆" panose="02010509060101010101" pitchFamily="49" charset="-122"/>
              </a:rPr>
              <a:t>[Spackman, 1989],AUC</a:t>
            </a:r>
            <a:r>
              <a:rPr lang="zh-CN" altLang="en-US" b="1" dirty="0">
                <a:latin typeface="幼圆" panose="02010509060101010101" pitchFamily="49" charset="-122"/>
                <a:ea typeface="幼圆" panose="02010509060101010101" pitchFamily="49" charset="-122"/>
              </a:rPr>
              <a:t>则是从九十年代中期起在机器学习领域广为使用</a:t>
            </a:r>
            <a:r>
              <a:rPr lang="en-US" altLang="zh-CN" b="1" dirty="0">
                <a:latin typeface="幼圆" panose="02010509060101010101" pitchFamily="49" charset="-122"/>
                <a:ea typeface="幼圆" panose="02010509060101010101" pitchFamily="49" charset="-122"/>
              </a:rPr>
              <a:t>[Bradley,1997].[Hand and Till,2001]</a:t>
            </a:r>
            <a:r>
              <a:rPr lang="zh-CN" altLang="en-US" b="1" dirty="0">
                <a:latin typeface="幼圆" panose="02010509060101010101" pitchFamily="49" charset="-122"/>
                <a:ea typeface="幼圆" panose="02010509060101010101" pitchFamily="49" charset="-122"/>
              </a:rPr>
              <a:t>将</a:t>
            </a:r>
            <a:r>
              <a:rPr lang="en-US" altLang="zh-CN" b="1" dirty="0">
                <a:latin typeface="幼圆" panose="02010509060101010101" pitchFamily="49" charset="-122"/>
                <a:ea typeface="幼圆" panose="02010509060101010101" pitchFamily="49" charset="-122"/>
              </a:rPr>
              <a:t>ROC</a:t>
            </a:r>
            <a:r>
              <a:rPr lang="zh-CN" altLang="en-US" b="1" dirty="0">
                <a:latin typeface="幼圆" panose="02010509060101010101" pitchFamily="49" charset="-122"/>
                <a:ea typeface="幼圆" panose="02010509060101010101" pitchFamily="49" charset="-122"/>
              </a:rPr>
              <a:t>曲线从二分类任务推广到多分类任务</a:t>
            </a:r>
            <a:r>
              <a:rPr lang="en-US" altLang="zh-CN" b="1" dirty="0">
                <a:latin typeface="幼圆" panose="02010509060101010101" pitchFamily="49" charset="-122"/>
                <a:ea typeface="幼圆" panose="02010509060101010101" pitchFamily="49" charset="-122"/>
              </a:rPr>
              <a:t>.[Fawcett,2006]</a:t>
            </a:r>
            <a:r>
              <a:rPr lang="zh-CN" altLang="en-US" b="1" dirty="0">
                <a:latin typeface="幼圆" panose="02010509060101010101" pitchFamily="49" charset="-122"/>
                <a:ea typeface="幼圆" panose="02010509060101010101" pitchFamily="49" charset="-122"/>
              </a:rPr>
              <a:t>综述了</a:t>
            </a:r>
            <a:r>
              <a:rPr lang="en-US" altLang="zh-CN" b="1" dirty="0">
                <a:latin typeface="幼圆" panose="02010509060101010101" pitchFamily="49" charset="-122"/>
                <a:ea typeface="幼圆" panose="02010509060101010101" pitchFamily="49" charset="-122"/>
              </a:rPr>
              <a:t>ROC</a:t>
            </a:r>
            <a:r>
              <a:rPr lang="zh-CN" altLang="en-US" b="1" dirty="0">
                <a:latin typeface="幼圆" panose="02010509060101010101" pitchFamily="49" charset="-122"/>
                <a:ea typeface="幼圆" panose="02010509060101010101" pitchFamily="49" charset="-122"/>
              </a:rPr>
              <a:t>曲线的用途</a:t>
            </a:r>
            <a:r>
              <a:rPr lang="en-US" altLang="zh-CN" b="1" dirty="0">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a:p>
            <a:pPr>
              <a:lnSpc>
                <a:spcPct val="170000"/>
              </a:lnSpc>
              <a:buClr>
                <a:srgbClr val="00B050"/>
              </a:buClr>
              <a:buFont typeface="Wingdings" panose="05000000000000000000" pitchFamily="2" charset="2"/>
              <a:buChar char="p"/>
            </a:pPr>
            <a:r>
              <a:rPr lang="en-US" altLang="zh-CN" b="1" dirty="0">
                <a:latin typeface="幼圆" panose="02010509060101010101" pitchFamily="49" charset="-122"/>
                <a:ea typeface="幼圆" panose="02010509060101010101" pitchFamily="49" charset="-122"/>
              </a:rPr>
              <a:t>[Drummond and Holte,2006]</a:t>
            </a:r>
            <a:r>
              <a:rPr lang="zh-CN" altLang="en-US" b="1" dirty="0">
                <a:latin typeface="幼圆" panose="02010509060101010101" pitchFamily="49" charset="-122"/>
                <a:ea typeface="幼圆" panose="02010509060101010101" pitchFamily="49" charset="-122"/>
              </a:rPr>
              <a:t>发明了代价曲线</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代价敏感学习</a:t>
            </a:r>
            <a:r>
              <a:rPr lang="en-US" altLang="zh-CN" b="1" dirty="0">
                <a:latin typeface="幼圆" panose="02010509060101010101" pitchFamily="49" charset="-122"/>
                <a:ea typeface="幼圆" panose="02010509060101010101" pitchFamily="49" charset="-122"/>
              </a:rPr>
              <a:t>[Elkan,2001;Zhou and Liu,2006]</a:t>
            </a:r>
            <a:r>
              <a:rPr lang="zh-CN" altLang="en-US" b="1" dirty="0">
                <a:latin typeface="幼圆" panose="02010509060101010101" pitchFamily="49" charset="-122"/>
                <a:ea typeface="幼圆" panose="02010509060101010101" pitchFamily="49" charset="-122"/>
              </a:rPr>
              <a:t>专门研究非均等代价下的学习。</a:t>
            </a:r>
            <a:endParaRPr lang="zh-CN" altLang="en-US"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50000"/>
              </a:lnSpc>
              <a:buClr>
                <a:srgbClr val="00B050"/>
              </a:buClr>
            </a:pPr>
            <a:r>
              <a:rPr lang="zh-CN" altLang="en-US" b="1" dirty="0">
                <a:latin typeface="幼圆" panose="02010509060101010101" pitchFamily="49" charset="-122"/>
                <a:ea typeface="幼圆" panose="02010509060101010101" pitchFamily="49" charset="-122"/>
              </a:rPr>
              <a:t>阅读材料</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457200" y="1600200"/>
            <a:ext cx="8435280" cy="5069160"/>
          </a:xfrm>
        </p:spPr>
        <p:txBody>
          <a:bodyPr>
            <a:normAutofit fontScale="62500" lnSpcReduction="20000"/>
          </a:bodyPr>
          <a:lstStyle/>
          <a:p>
            <a:pPr>
              <a:lnSpc>
                <a:spcPct val="170000"/>
              </a:lnSpc>
              <a:buClr>
                <a:srgbClr val="00B050"/>
              </a:buClr>
              <a:buFont typeface="Wingdings" panose="05000000000000000000" pitchFamily="2" charset="2"/>
              <a:buChar char="p"/>
            </a:pPr>
            <a:r>
              <a:rPr lang="en-US" altLang="zh-CN" b="1" dirty="0">
                <a:latin typeface="幼圆" panose="02010509060101010101" pitchFamily="49" charset="-122"/>
                <a:ea typeface="幼圆" panose="02010509060101010101" pitchFamily="49" charset="-122"/>
              </a:rPr>
              <a:t>[Dietterich,1998]</a:t>
            </a:r>
            <a:r>
              <a:rPr lang="zh-CN" altLang="en-US" b="1" dirty="0">
                <a:latin typeface="幼圆" panose="02010509060101010101" pitchFamily="49" charset="-122"/>
                <a:ea typeface="幼圆" panose="02010509060101010101" pitchFamily="49" charset="-122"/>
              </a:rPr>
              <a:t>指出了常规</a:t>
            </a:r>
            <a:r>
              <a:rPr lang="en-US" altLang="zh-CN" b="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折交叉验证法存在的风险</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并提出了</a:t>
            </a:r>
            <a:r>
              <a:rPr lang="en-US" altLang="zh-CN" b="1" dirty="0">
                <a:latin typeface="幼圆" panose="02010509060101010101" pitchFamily="49" charset="-122"/>
                <a:ea typeface="幼圆" panose="02010509060101010101" pitchFamily="49" charset="-122"/>
              </a:rPr>
              <a:t>5*2</a:t>
            </a:r>
            <a:r>
              <a:rPr lang="zh-CN" altLang="en-US" b="1" dirty="0">
                <a:latin typeface="幼圆" panose="02010509060101010101" pitchFamily="49" charset="-122"/>
                <a:ea typeface="幼圆" panose="02010509060101010101" pitchFamily="49" charset="-122"/>
              </a:rPr>
              <a:t>折交叉验证法</a:t>
            </a:r>
            <a:r>
              <a:rPr lang="en-US" altLang="zh-CN" b="1" dirty="0">
                <a:latin typeface="幼圆" panose="02010509060101010101" pitchFamily="49" charset="-122"/>
                <a:ea typeface="幼圆" panose="02010509060101010101" pitchFamily="49" charset="-122"/>
              </a:rPr>
              <a:t>.[</a:t>
            </a:r>
            <a:r>
              <a:rPr lang="en-US" altLang="zh-CN" b="1" dirty="0" err="1">
                <a:latin typeface="幼圆" panose="02010509060101010101" pitchFamily="49" charset="-122"/>
                <a:ea typeface="幼圆" panose="02010509060101010101" pitchFamily="49" charset="-122"/>
              </a:rPr>
              <a:t>Demsar</a:t>
            </a:r>
            <a:r>
              <a:rPr lang="en-US" altLang="zh-CN" b="1" dirty="0">
                <a:latin typeface="幼圆" panose="02010509060101010101" pitchFamily="49" charset="-122"/>
                <a:ea typeface="幼圆" panose="02010509060101010101" pitchFamily="49" charset="-122"/>
              </a:rPr>
              <a:t>, 2006]</a:t>
            </a:r>
            <a:r>
              <a:rPr lang="zh-CN" altLang="en-US" b="1" dirty="0">
                <a:latin typeface="幼圆" panose="02010509060101010101" pitchFamily="49" charset="-122"/>
                <a:ea typeface="幼圆" panose="02010509060101010101" pitchFamily="49" charset="-122"/>
              </a:rPr>
              <a:t>讨论了对多个算法进行比较检验的方法</a:t>
            </a:r>
            <a:r>
              <a:rPr lang="en-US" altLang="zh-CN" b="1" dirty="0">
                <a:latin typeface="幼圆" panose="02010509060101010101" pitchFamily="49" charset="-122"/>
                <a:ea typeface="幼圆" panose="02010509060101010101" pitchFamily="49" charset="-122"/>
              </a:rPr>
              <a:t>.</a:t>
            </a:r>
            <a:br>
              <a:rPr lang="en-US" altLang="zh-CN" b="1" dirty="0">
                <a:latin typeface="幼圆" panose="02010509060101010101" pitchFamily="49" charset="-122"/>
                <a:ea typeface="幼圆" panose="02010509060101010101" pitchFamily="49" charset="-122"/>
              </a:rPr>
            </a:br>
            <a:endParaRPr lang="en-US" altLang="zh-CN" b="1" dirty="0">
              <a:latin typeface="幼圆" panose="02010509060101010101" pitchFamily="49" charset="-122"/>
              <a:ea typeface="幼圆" panose="02010509060101010101" pitchFamily="49" charset="-122"/>
            </a:endParaRPr>
          </a:p>
          <a:p>
            <a:pPr>
              <a:lnSpc>
                <a:spcPct val="170000"/>
              </a:lnSpc>
              <a:buClr>
                <a:srgbClr val="00B050"/>
              </a:buClr>
              <a:buFont typeface="Wingdings" panose="05000000000000000000" pitchFamily="2" charset="2"/>
              <a:buChar char="p"/>
            </a:pPr>
            <a:r>
              <a:rPr lang="en-US" altLang="zh-CN" b="1" dirty="0">
                <a:latin typeface="幼圆" panose="02010509060101010101" pitchFamily="49" charset="-122"/>
                <a:ea typeface="幼圆" panose="02010509060101010101" pitchFamily="49" charset="-122"/>
              </a:rPr>
              <a:t>[Geman et al.,1992]</a:t>
            </a:r>
            <a:r>
              <a:rPr lang="zh-CN" altLang="en-US" b="1" dirty="0">
                <a:latin typeface="幼圆" panose="02010509060101010101" pitchFamily="49" charset="-122"/>
                <a:ea typeface="幼圆" panose="02010509060101010101" pitchFamily="49" charset="-122"/>
              </a:rPr>
              <a:t>针对回归任务给出了偏差</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方差</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协方差分解，后来被简称为偏差</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方差分解。但仅基于均方误差的回归任务中推导，对分类任务，由于</a:t>
            </a:r>
            <a:r>
              <a:rPr lang="en-US" altLang="zh-CN" b="1" dirty="0">
                <a:latin typeface="幼圆" panose="02010509060101010101" pitchFamily="49" charset="-122"/>
                <a:ea typeface="幼圆" panose="02010509060101010101" pitchFamily="49" charset="-122"/>
              </a:rPr>
              <a:t>0/1</a:t>
            </a:r>
            <a:r>
              <a:rPr lang="zh-CN" altLang="en-US" b="1" dirty="0">
                <a:latin typeface="幼圆" panose="02010509060101010101" pitchFamily="49" charset="-122"/>
                <a:ea typeface="幼圆" panose="02010509060101010101" pitchFamily="49" charset="-122"/>
              </a:rPr>
              <a:t>损失函数的跳变性</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理论上推导出偏差</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方差分解很困难。已有多种方法可通过试验队偏差和方差进行估计</a:t>
            </a:r>
            <a:r>
              <a:rPr lang="en-US" altLang="zh-CN" b="1" dirty="0">
                <a:latin typeface="幼圆" panose="02010509060101010101" pitchFamily="49" charset="-122"/>
                <a:ea typeface="幼圆" panose="02010509060101010101" pitchFamily="49" charset="-122"/>
              </a:rPr>
              <a:t>[Kong and Dietterich,1995;Kohavi and Wolpert,1996; Breiman,1996; Friedman,1997; Domingos,2000]</a:t>
            </a:r>
            <a:endParaRPr lang="zh-CN" altLang="en-US"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12032</Words>
  <Application>WPS 演示</Application>
  <PresentationFormat>全屏显示(4:3)</PresentationFormat>
  <Paragraphs>647</Paragraphs>
  <Slides>101</Slides>
  <Notes>3</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11</vt:i4>
      </vt:variant>
      <vt:variant>
        <vt:lpstr>幻灯片标题</vt:lpstr>
      </vt:variant>
      <vt:variant>
        <vt:i4>101</vt:i4>
      </vt:variant>
    </vt:vector>
  </HeadingPairs>
  <TitlesOfParts>
    <vt:vector size="133" baseType="lpstr">
      <vt:lpstr>Arial</vt:lpstr>
      <vt:lpstr>宋体</vt:lpstr>
      <vt:lpstr>Wingdings</vt:lpstr>
      <vt:lpstr>幼圆</vt:lpstr>
      <vt:lpstr>楷体_GB2312</vt:lpstr>
      <vt:lpstr>新宋体</vt:lpstr>
      <vt:lpstr>Times New Roman</vt:lpstr>
      <vt:lpstr>Verdana</vt:lpstr>
      <vt:lpstr>Calibri</vt:lpstr>
      <vt:lpstr>微软雅黑</vt:lpstr>
      <vt:lpstr>Arial Unicode MS</vt:lpstr>
      <vt:lpstr>黑体</vt:lpstr>
      <vt:lpstr>-apple-system</vt:lpstr>
      <vt:lpstr>AMGDT</vt:lpstr>
      <vt:lpstr>MS PGothic</vt:lpstr>
      <vt:lpstr>-apple-system</vt:lpstr>
      <vt:lpstr>Wingdings</vt:lpstr>
      <vt:lpstr>楷体_GB2312</vt:lpstr>
      <vt:lpstr>方正楷体_GB2312</vt:lpstr>
      <vt:lpstr>Be Happy</vt:lpstr>
      <vt:lpstr>Office 主题</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机器学习  Machine Learning</vt:lpstr>
      <vt:lpstr>大 纲</vt:lpstr>
      <vt:lpstr>经验误差与过拟合</vt:lpstr>
      <vt:lpstr>经验误差与过拟合</vt:lpstr>
      <vt:lpstr>经验误差与过拟合</vt:lpstr>
      <vt:lpstr>PowerPoint 演示文稿</vt:lpstr>
      <vt:lpstr>大 纲</vt:lpstr>
      <vt:lpstr>评估方法</vt:lpstr>
      <vt:lpstr>评估方法-数据划分</vt:lpstr>
      <vt:lpstr>评估方法-1</vt:lpstr>
      <vt:lpstr>评估方法-2</vt:lpstr>
      <vt:lpstr>评估方法-可重复性？</vt:lpstr>
      <vt:lpstr>评估方法-3</vt:lpstr>
      <vt:lpstr>调参与最终模型</vt:lpstr>
      <vt:lpstr>大 纲</vt:lpstr>
      <vt:lpstr>评价指标</vt:lpstr>
      <vt:lpstr>性能度量-回归</vt:lpstr>
      <vt:lpstr>性能度量-分类</vt:lpstr>
      <vt:lpstr>性能度量-检索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性能度量-平衡PR</vt:lpstr>
      <vt:lpstr>性能度量-绘制P-R曲线</vt:lpstr>
      <vt:lpstr>性能度量-绘制P-R曲线</vt:lpstr>
      <vt:lpstr>性能度量-绘制P-R曲线</vt:lpstr>
      <vt:lpstr>性能度量-绘制P-R曲线</vt:lpstr>
      <vt:lpstr>性能度量-绘制P-R曲线</vt:lpstr>
      <vt:lpstr>性能度量-平均与侧重PR</vt:lpstr>
      <vt:lpstr>性能度量-宏/微平均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性能度量-ROC曲线绘制</vt:lpstr>
      <vt:lpstr>性能度量-ROC曲线绘制</vt:lpstr>
      <vt:lpstr>性能度量-真假正例纠结</vt:lpstr>
      <vt:lpstr>代价敏感错误率*</vt:lpstr>
      <vt:lpstr>代价曲线</vt:lpstr>
      <vt:lpstr>代价曲线</vt:lpstr>
      <vt:lpstr>PowerPoint 演示文稿</vt:lpstr>
      <vt:lpstr>PowerPoint 演示文稿</vt:lpstr>
      <vt:lpstr>PowerPoint 演示文稿</vt:lpstr>
      <vt:lpstr>大 纲</vt:lpstr>
      <vt:lpstr>性能评估-相对比较</vt:lpstr>
      <vt:lpstr>假设检验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二项检验</vt:lpstr>
      <vt:lpstr>PowerPoint 演示文稿</vt:lpstr>
      <vt:lpstr>二项检验</vt:lpstr>
      <vt:lpstr>t检验</vt:lpstr>
      <vt:lpstr>t检验</vt:lpstr>
      <vt:lpstr>PowerPoint 演示文稿</vt:lpstr>
      <vt:lpstr>PowerPoint 演示文稿</vt:lpstr>
      <vt:lpstr>PowerPoint 演示文稿</vt:lpstr>
      <vt:lpstr>PowerPoint 演示文稿</vt:lpstr>
      <vt:lpstr>PowerPoint 演示文稿</vt:lpstr>
      <vt:lpstr>t检验-检验统计量</vt:lpstr>
      <vt:lpstr>t检验-检验统计量</vt:lpstr>
      <vt:lpstr>PowerPoint 演示文稿</vt:lpstr>
      <vt:lpstr>交叉验证t检验-两个算法</vt:lpstr>
      <vt:lpstr>交叉验证t检验</vt:lpstr>
      <vt:lpstr>5*2交叉验证法</vt:lpstr>
      <vt:lpstr>McNemar检验@二分类</vt:lpstr>
      <vt:lpstr>Friedman检验-多个算法</vt:lpstr>
      <vt:lpstr>Friedman检验</vt:lpstr>
      <vt:lpstr>Nemenyi后续检验-两两比较</vt:lpstr>
      <vt:lpstr>Friedman检验图</vt:lpstr>
      <vt:lpstr>PowerPoint 演示文稿</vt:lpstr>
      <vt:lpstr>大 纲</vt:lpstr>
      <vt:lpstr>偏差与方差-性能解释</vt:lpstr>
      <vt:lpstr>偏差与方差-期望泛化误差分解</vt:lpstr>
      <vt:lpstr>偏差与方差</vt:lpstr>
      <vt:lpstr>偏差与方差</vt:lpstr>
      <vt:lpstr>PowerPoint 演示文稿</vt:lpstr>
      <vt:lpstr>偏差与方差</vt:lpstr>
      <vt:lpstr>大 纲</vt:lpstr>
      <vt:lpstr>阅读材料</vt:lpstr>
      <vt:lpstr>阅读材料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ZSHE</dc:creator>
  <cp:lastModifiedBy>O₂</cp:lastModifiedBy>
  <cp:revision>221</cp:revision>
  <cp:lastPrinted>2016-05-18T04:44:00Z</cp:lastPrinted>
  <dcterms:created xsi:type="dcterms:W3CDTF">2016-05-18T01:14:00Z</dcterms:created>
  <dcterms:modified xsi:type="dcterms:W3CDTF">2026-06-15T13:57:44Z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11359E38C9994E3CAE9AD6C84EB0AC7D_12</vt:lpwstr>
  </property>
</Properties>
</file>