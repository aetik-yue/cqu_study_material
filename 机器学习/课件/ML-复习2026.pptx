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7" r:id="rId3"/>
    <p:sldId id="440" r:id="rId5"/>
    <p:sldId id="441" r:id="rId6"/>
    <p:sldId id="442" r:id="rId7"/>
    <p:sldId id="338" r:id="rId8"/>
    <p:sldId id="456" r:id="rId9"/>
    <p:sldId id="443" r:id="rId10"/>
    <p:sldId id="444" r:id="rId11"/>
    <p:sldId id="453" r:id="rId12"/>
    <p:sldId id="445" r:id="rId13"/>
    <p:sldId id="452" r:id="rId14"/>
    <p:sldId id="446" r:id="rId15"/>
    <p:sldId id="447" r:id="rId16"/>
    <p:sldId id="455" r:id="rId17"/>
    <p:sldId id="457" r:id="rId18"/>
    <p:sldId id="448" r:id="rId19"/>
    <p:sldId id="458" r:id="rId20"/>
    <p:sldId id="449" r:id="rId21"/>
    <p:sldId id="454" r:id="rId22"/>
    <p:sldId id="459" r:id="rId23"/>
  </p:sldIdLst>
  <p:sldSz cx="9144000" cy="6858000" type="screen4x3"/>
  <p:notesSz cx="9144000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23" autoAdjust="0"/>
    <p:restoredTop sz="94614" autoAdjust="0"/>
  </p:normalViewPr>
  <p:slideViewPr>
    <p:cSldViewPr showGuides="1">
      <p:cViewPr varScale="1">
        <p:scale>
          <a:sx n="83" d="100"/>
          <a:sy n="83" d="100"/>
        </p:scale>
        <p:origin x="876" y="72"/>
      </p:cViewPr>
      <p:guideLst>
        <p:guide orient="horz" pos="2160"/>
        <p:guide pos="285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1810" y="-62"/>
      </p:cViewPr>
      <p:guideLst>
        <p:guide orient="horz" pos="2160"/>
        <p:guide pos="285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22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1DFCA3-140D-47A9-812B-EF4671D077DA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74AB649-9B77-47B4-86AE-79A195B7BF2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22AF62D-6F31-46D6-B269-0F8F56C4162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942E71B-E9B3-4820-B67A-F8BCFD29036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300">
                <a:latin typeface="Times New Roman" panose="02020603050405020304" pitchFamily="18" charset="0"/>
              </a:rPr>
              <a:t>高等代数</a:t>
            </a:r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78746E7-4F05-4954-A5D7-6CD18FB744FA}" type="datetime1">
              <a:rPr kumimoji="1" lang="zh-CN" altLang="en-US" sz="1300" smtClean="0">
                <a:latin typeface="Times New Roman" panose="02020603050405020304" pitchFamily="18" charset="0"/>
              </a:rPr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89C7525-4BD0-4163-98A5-F7837A3EE5AC}" type="slidenum">
              <a:rPr kumimoji="1" lang="en-US" altLang="zh-CN" sz="1300" smtClean="0">
                <a:latin typeface="Times New Roman" panose="02020603050405020304" pitchFamily="18" charset="0"/>
              </a:rPr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重庆大学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300">
                <a:latin typeface="Times New Roman" panose="02020603050405020304" pitchFamily="18" charset="0"/>
              </a:rPr>
              <a:t>高等代数</a:t>
            </a:r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B63EE0D-A2F6-4340-BF26-91E6EF2476B8}" type="datetime1">
              <a:rPr kumimoji="1" lang="zh-CN" altLang="en-US" sz="1300" smtClean="0">
                <a:latin typeface="Times New Roman" panose="02020603050405020304" pitchFamily="18" charset="0"/>
              </a:rPr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4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4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B12B025-9860-401E-B5C6-D8511E97DB0D}" type="slidenum">
              <a:rPr kumimoji="1" lang="en-US" altLang="zh-CN" sz="1300" smtClean="0">
                <a:latin typeface="Times New Roman" panose="02020603050405020304" pitchFamily="18" charset="0"/>
              </a:rPr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42E71B-E9B3-4820-B67A-F8BCFD2903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42E71B-E9B3-4820-B67A-F8BCFD2903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42E71B-E9B3-4820-B67A-F8BCFD2903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3C517D-F1EF-450D-A68B-03ED621FDC5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94204-A637-4043-9CC7-987AF444C4F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8AD0D-2896-4BF3-923E-FFF8221B046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03C437-6D35-4DF2-9DDF-16D33DE3BB7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F5F9B-25E3-46A1-98D1-D8DF1644CD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EA479-BF3B-473D-BBE0-F05445F3474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BB680-830C-4A88-AF9D-51D5BB13C0CE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71099-1BE1-4EC4-99FA-0E8A4EF43A1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9C6AF-5792-4C28-AF80-D5340AE435B0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8EC19-AA48-483B-9C69-7C29A53F1D6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CEB95-638D-4867-89C1-C84FCA55FD0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03AD1-CBA7-43A5-BDAB-D2A6671AEF2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3964D-015F-45A6-BBB8-525A43BB96E4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A8CA2-A1CB-4473-A6CD-72E4CDDC229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1E904-1879-477D-A111-3DA566B9A54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E49F4-97E0-4BE7-BD10-8E3DF8F88B7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26D2F-F923-4410-AEB6-AD53FFFD4FF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97849-179C-4BF5-8A5B-F91223F744E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C7AC8-BDAF-459E-A39D-6ECCEBA3138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3592C-DF7F-4F25-95AD-A0D5EFEFC0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A897F-8DA0-4D46-8DD8-2287ABC8EEC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54C32-A54F-443A-900C-0AC299C29E8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3CAD6-A1E2-4004-850D-629E47C745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71500"/>
            <a:ext cx="762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B7BE501-E7B6-47ED-A922-6C02EB619C1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F1DB772-2744-4267-A0B6-7B9C40C910D0}" type="slidenum">
              <a:rPr lang="zh-CN" altLang="en-US"/>
            </a:fld>
            <a:endParaRPr lang="zh-CN" altLang="en-US"/>
          </a:p>
        </p:txBody>
      </p:sp>
      <p:pic>
        <p:nvPicPr>
          <p:cNvPr id="1032" name="图片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7350"/>
            <a:ext cx="9144000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0" Type="http://schemas.openxmlformats.org/officeDocument/2006/relationships/notesSlide" Target="../notesSlides/notesSlide3.xml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13.png"/><Relationship Id="rId22" Type="http://schemas.openxmlformats.org/officeDocument/2006/relationships/vmlDrawing" Target="../drawings/vmlDrawing3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3.png"/><Relationship Id="rId2" Type="http://schemas.openxmlformats.org/officeDocument/2006/relationships/image" Target="../media/image12.png"/><Relationship Id="rId19" Type="http://schemas.openxmlformats.org/officeDocument/2006/relationships/image" Target="../media/image22.wmf"/><Relationship Id="rId18" Type="http://schemas.openxmlformats.org/officeDocument/2006/relationships/oleObject" Target="../embeddings/oleObject11.bin"/><Relationship Id="rId17" Type="http://schemas.openxmlformats.org/officeDocument/2006/relationships/image" Target="../media/image21.wmf"/><Relationship Id="rId16" Type="http://schemas.openxmlformats.org/officeDocument/2006/relationships/oleObject" Target="../embeddings/oleObject10.bin"/><Relationship Id="rId15" Type="http://schemas.openxmlformats.org/officeDocument/2006/relationships/image" Target="../media/image20.wmf"/><Relationship Id="rId14" Type="http://schemas.openxmlformats.org/officeDocument/2006/relationships/oleObject" Target="../embeddings/oleObject9.bin"/><Relationship Id="rId13" Type="http://schemas.openxmlformats.org/officeDocument/2006/relationships/image" Target="../media/image19.wmf"/><Relationship Id="rId12" Type="http://schemas.openxmlformats.org/officeDocument/2006/relationships/oleObject" Target="../embeddings/oleObject8.bin"/><Relationship Id="rId11" Type="http://schemas.openxmlformats.org/officeDocument/2006/relationships/image" Target="../media/image18.wmf"/><Relationship Id="rId10" Type="http://schemas.openxmlformats.org/officeDocument/2006/relationships/oleObject" Target="../embeddings/oleObject7.bin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29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26.wmf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1.png"/><Relationship Id="rId11" Type="http://schemas.openxmlformats.org/officeDocument/2006/relationships/image" Target="../media/image30.wmf"/><Relationship Id="rId10" Type="http://schemas.openxmlformats.org/officeDocument/2006/relationships/oleObject" Target="../embeddings/oleObject17.bin"/><Relationship Id="rId1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wmf"/><Relationship Id="rId4" Type="http://schemas.openxmlformats.org/officeDocument/2006/relationships/oleObject" Target="../embeddings/oleObject18.bin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tif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578600" y="63023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BF6100-4DD5-48A8-90C7-8C1632C7AE22}" type="slidenum">
              <a:rPr kumimoji="1" lang="en-US" altLang="zh-CN" sz="1400" smtClean="0">
                <a:latin typeface="Times New Roman" panose="02020603050405020304" pitchFamily="18" charset="0"/>
              </a:rPr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468313" y="3573463"/>
            <a:ext cx="82296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4000" b="1" dirty="0">
                <a:latin typeface="宋体" panose="02010600030101010101" pitchFamily="2" charset="-122"/>
              </a:rPr>
              <a:t>课程复习</a:t>
            </a:r>
            <a:endParaRPr kumimoji="1" lang="zh-CN" altLang="en-US" sz="3600" b="1" dirty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457200" y="1736725"/>
            <a:ext cx="82296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4400" b="1">
                <a:latin typeface="Monotype Corsiva" panose="03010101010201010101" pitchFamily="66" charset="0"/>
              </a:rPr>
              <a:t>《</a:t>
            </a:r>
            <a:r>
              <a:rPr kumimoji="1" lang="zh-CN" altLang="en-US" sz="4400" b="1">
                <a:latin typeface="Monotype Corsiva" panose="03010101010201010101" pitchFamily="66" charset="0"/>
              </a:rPr>
              <a:t>机器学习基础</a:t>
            </a:r>
            <a:r>
              <a:rPr kumimoji="1" lang="en-US" altLang="zh-CN" sz="4400" b="1">
                <a:latin typeface="Monotype Corsiva" panose="03010101010201010101" pitchFamily="66" charset="0"/>
              </a:rPr>
              <a:t>》</a:t>
            </a:r>
            <a:br>
              <a:rPr kumimoji="1" lang="en-US" altLang="zh-CN" sz="4400" b="1">
                <a:latin typeface="Monotype Corsiva" panose="03010101010201010101" pitchFamily="66" charset="0"/>
              </a:rPr>
            </a:br>
            <a:r>
              <a:rPr kumimoji="1" lang="en-US" altLang="zh-CN" sz="4400" b="1">
                <a:latin typeface="Monotype Corsiva" panose="03010101010201010101" pitchFamily="66" charset="0"/>
              </a:rPr>
              <a:t>Foundations of Machine Learning</a:t>
            </a:r>
            <a:endParaRPr kumimoji="1" lang="en-US" altLang="zh-CN" sz="4400" b="1">
              <a:latin typeface="Monotype Corsiva" panose="03010101010201010101" pitchFamily="66" charset="0"/>
            </a:endParaRPr>
          </a:p>
        </p:txBody>
      </p:sp>
      <p:sp>
        <p:nvSpPr>
          <p:cNvPr id="5125" name="Text Box 18"/>
          <p:cNvSpPr txBox="1">
            <a:spLocks noChangeArrowheads="1"/>
          </p:cNvSpPr>
          <p:nvPr/>
        </p:nvSpPr>
        <p:spPr bwMode="auto">
          <a:xfrm>
            <a:off x="468313" y="4941888"/>
            <a:ext cx="822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GB" sz="2800" b="1" dirty="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重庆大学计算机学院</a:t>
            </a:r>
            <a:endParaRPr kumimoji="1"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B42C7C-6EB2-4849-9CA4-783BF4E762FA}" type="slidenum">
              <a:rPr kumimoji="1" lang="en-US" altLang="zh-CN" sz="1400" smtClean="0">
                <a:latin typeface="Times New Roman" panose="02020603050405020304" pitchFamily="18" charset="0"/>
              </a:rPr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84213" y="542925"/>
            <a:ext cx="81359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成绩评定</a:t>
            </a:r>
            <a:endParaRPr kumimoji="1"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684213" y="1225550"/>
            <a:ext cx="8351837" cy="587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成绩构成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	</a:t>
            </a:r>
            <a:endParaRPr kumimoji="1"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题型</a:t>
            </a:r>
            <a:endParaRPr kumimoji="1"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spcBef>
                <a:spcPct val="50000"/>
              </a:spcBef>
              <a:buClr>
                <a:srgbClr val="FF0000"/>
              </a:buClr>
              <a:buNone/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单项选择题、简答题、计算题、思考题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考试方式</a:t>
            </a:r>
            <a:endParaRPr kumimoji="1"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spcBef>
                <a:spcPct val="50000"/>
              </a:spcBef>
              <a:buClr>
                <a:srgbClr val="FF0000"/>
              </a:buClr>
              <a:buNone/>
            </a:pPr>
            <a:r>
              <a:rPr kumimoji="1"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闭卷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考试（不能带计算器等电子设备）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kumimoji="1"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30275" y="1924050"/>
          <a:ext cx="7643812" cy="18381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7428"/>
                <a:gridCol w="2925800"/>
                <a:gridCol w="2170584"/>
              </a:tblGrid>
              <a:tr h="6002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考核方式</a:t>
                      </a:r>
                      <a:endParaRPr lang="zh-CN" sz="22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总分</a:t>
                      </a:r>
                      <a:endParaRPr lang="zh-CN" sz="22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占总成绩的比例</a:t>
                      </a:r>
                      <a:endParaRPr lang="zh-CN" sz="22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94" marR="68594" marT="0" marB="0"/>
                </a:tc>
              </a:tr>
              <a:tr h="637736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zh-CN" sz="22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课堂教学</a:t>
                      </a:r>
                      <a:endParaRPr lang="zh-CN" sz="22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</a:t>
                      </a:r>
                      <a:endParaRPr lang="zh-CN" sz="22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60%</a:t>
                      </a:r>
                      <a:endParaRPr lang="zh-CN" sz="22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4" marR="68594" marT="0" marB="0"/>
                </a:tc>
              </a:tr>
              <a:tr h="60022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22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实验项目</a:t>
                      </a:r>
                      <a:r>
                        <a:rPr lang="en-US" altLang="zh-CN" sz="22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kumimoji="0" lang="zh-CN" altLang="en-US" sz="22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作业</a:t>
                      </a:r>
                      <a:endParaRPr lang="zh-CN" sz="22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lang="zh-CN" altLang="en-US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</a:t>
                      </a:r>
                      <a:r>
                        <a:rPr lang="en-US" altLang="zh-CN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+10</a:t>
                      </a:r>
                      <a:r>
                        <a:rPr lang="zh-CN" altLang="en-US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</a:t>
                      </a:r>
                      <a:endParaRPr lang="zh-CN" sz="22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40%</a:t>
                      </a:r>
                      <a:endParaRPr lang="zh-CN" sz="22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4" marR="68594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DB4BF9-AF1A-4419-86C3-EEDB9647A9DB}" type="slidenum">
              <a:rPr kumimoji="1" lang="en-US" altLang="zh-CN" sz="1400">
                <a:latin typeface="Times New Roman" panose="02020603050405020304" pitchFamily="18" charset="0"/>
              </a:rPr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5604" name="Text Box 6"/>
          <p:cNvSpPr txBox="1">
            <a:spLocks noChangeArrowheads="1"/>
          </p:cNvSpPr>
          <p:nvPr/>
        </p:nvSpPr>
        <p:spPr bwMode="auto">
          <a:xfrm>
            <a:off x="684213" y="527843"/>
            <a:ext cx="81359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本课程主要考试范围</a:t>
            </a:r>
            <a:endParaRPr kumimoji="1"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843783" name="Text Box 7"/>
          <p:cNvSpPr txBox="1">
            <a:spLocks noChangeArrowheads="1"/>
          </p:cNvSpPr>
          <p:nvPr/>
        </p:nvSpPr>
        <p:spPr bwMode="auto">
          <a:xfrm>
            <a:off x="684213" y="1076726"/>
            <a:ext cx="8352283" cy="5165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主要参照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周志华的专著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机器学习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，主要章节内容如下：</a:t>
            </a:r>
            <a:endParaRPr kumimoji="1"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绪论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</a:t>
            </a:r>
            <a:r>
              <a:rPr kumimoji="1" lang="zh-CN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学习模型评估与选择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线性模型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决策树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神经网络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支持向量机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贝叶斯分类器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集成学习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聚类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降维与度量学习（不包括流行学习和度量学习）</a:t>
            </a:r>
            <a:endParaRPr kumimoji="1" lang="en-US" altLang="zh-CN" sz="2000" dirty="0">
              <a:solidFill>
                <a:schemeClr val="bg1">
                  <a:lumMod val="9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378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140301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A9DEA-C3F6-4401-A5BF-3745117890AB}" type="slidenum">
              <a:rPr kumimoji="1" lang="en-US" altLang="zh-CN" sz="1400" smtClean="0">
                <a:latin typeface="Times New Roman" panose="02020603050405020304" pitchFamily="18" charset="0"/>
              </a:rPr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7811" name="Rectangle 3"/>
          <p:cNvSpPr>
            <a:spLocks noGrp="1"/>
          </p:cNvSpPr>
          <p:nvPr>
            <p:ph type="body" idx="1"/>
          </p:nvPr>
        </p:nvSpPr>
        <p:spPr>
          <a:xfrm>
            <a:off x="714326" y="920452"/>
            <a:ext cx="8062987" cy="1231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什么是机器学习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“假设用𝑃来评估计算机程序在某任务类𝑇上的性能，若一个程序通过利用经验𝐸在𝑇中任务上获得了性能改善，则我们就说关于𝑇和𝑃，该程序对𝐸进行了学习”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监督学习（</a:t>
            </a:r>
            <a:r>
              <a:rPr lang="en-US" altLang="zh-CN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supervised learning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无监督学习（</a:t>
            </a:r>
            <a:r>
              <a:rPr lang="en-US" altLang="zh-CN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unsupervised learning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分类和回归问题及区别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泛化能力：假设样本独立同分布（</a:t>
            </a:r>
            <a:r>
              <a:rPr lang="en-US" altLang="zh-CN" sz="26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i.i.d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概念学习：假设空间和版本空间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归纳偏好（奥卡姆剃刀）和没有免费的午餐定理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历史：推理期</a:t>
            </a:r>
            <a:r>
              <a:rPr lang="en-US" altLang="zh-CN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知识期</a:t>
            </a:r>
            <a:r>
              <a:rPr lang="en-US" altLang="zh-CN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学习期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84213" y="404664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章：绪论</a:t>
            </a:r>
            <a:endParaRPr kumimoji="1"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8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A9DEA-C3F6-4401-A5BF-3745117890AB}" type="slidenum">
              <a:rPr kumimoji="1" lang="en-US" altLang="zh-CN" sz="1400" smtClean="0">
                <a:latin typeface="Times New Roman" panose="02020603050405020304" pitchFamily="18" charset="0"/>
              </a:rPr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7811" name="Rectangle 3"/>
          <p:cNvSpPr>
            <a:spLocks noGrp="1"/>
          </p:cNvSpPr>
          <p:nvPr>
            <p:ph type="body" idx="1"/>
          </p:nvPr>
        </p:nvSpPr>
        <p:spPr>
          <a:xfrm>
            <a:off x="755576" y="1340768"/>
            <a:ext cx="7416800" cy="1231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过拟合和欠拟合以及相应的解决方案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评估方法：泛化性能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）留出法（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）交叉验证法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）自助法（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）调参与最终模型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性能度量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比较检验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偏差与方差：偏差、方差和噪声解释；偏差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方差窘境（与泛化误差的关系）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84213" y="620713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章：模型评估与选择</a:t>
            </a:r>
            <a:endParaRPr kumimoji="1"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132856"/>
            <a:ext cx="3616849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55576" y="692696"/>
            <a:ext cx="7920880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性能度量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回归任务：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均方误差（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MSE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、平均绝对误差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分类任务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错误率、精度、查准率、查全率（混淆矩阵）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P-R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曲线（查准率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查全率）、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ROC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曲线（真正类率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假正类率）、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AUC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789040"/>
            <a:ext cx="5760640" cy="2060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A9DEA-C3F6-4401-A5BF-3745117890AB}" type="slidenum">
              <a:rPr kumimoji="1" lang="en-US" altLang="zh-CN" sz="1400" smtClean="0">
                <a:latin typeface="Times New Roman" panose="02020603050405020304" pitchFamily="18" charset="0"/>
              </a:rPr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7811" name="Rectangle 3"/>
          <p:cNvSpPr>
            <a:spLocks noGrp="1"/>
          </p:cNvSpPr>
          <p:nvPr>
            <p:ph type="body" idx="1"/>
          </p:nvPr>
        </p:nvSpPr>
        <p:spPr>
          <a:xfrm>
            <a:off x="899592" y="1340768"/>
            <a:ext cx="7416800" cy="1231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线性回归（最小二乘法）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二分类任务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对数几率回归（极大似然法）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线性判别分析（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LDA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）（监督降维技术）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多分类学习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一对一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一对其余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多对多（纠错输出码，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ECOC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类别不平衡问题：欠采样、过采样、再缩放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84213" y="620713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3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章：线性模型</a:t>
            </a:r>
            <a:endParaRPr kumimoji="1"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211960" y="726281"/>
          <a:ext cx="21701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41" name="Formula" r:id="rId1" imgW="1096010" imgH="186690" progId="Equation.Ribbit">
                  <p:embed/>
                </p:oleObj>
              </mc:Choice>
              <mc:Fallback>
                <p:oleObj name="Formula" r:id="rId1" imgW="1096010" imgH="186690" progId="Equation.Ribbit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726281"/>
                        <a:ext cx="21701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2219738"/>
            <a:ext cx="2284422" cy="705860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264021" y="2895020"/>
          <a:ext cx="1422779" cy="626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Formula" r:id="rId4" imgW="839470" imgH="379730" progId="Equation.Ribbit">
                  <p:embed/>
                </p:oleObj>
              </mc:Choice>
              <mc:Fallback>
                <p:oleObj name="Formula" r:id="rId4" imgW="839470" imgH="379730" progId="Equation.Ribbit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021" y="2895020"/>
                        <a:ext cx="1422779" cy="626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673535" y="1618580"/>
          <a:ext cx="23018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Formula" r:id="rId6" imgW="1158240" imgH="344170" progId="Equation.Ribbit">
                  <p:embed/>
                </p:oleObj>
              </mc:Choice>
              <mc:Fallback>
                <p:oleObj name="Formula" r:id="rId6" imgW="1158240" imgH="344170" progId="Equation.Ribbit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535" y="1618580"/>
                        <a:ext cx="23018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8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A9DEA-C3F6-4401-A5BF-3745117890AB}" type="slidenum">
              <a:rPr kumimoji="1" lang="en-US" altLang="zh-CN" sz="1400" smtClean="0">
                <a:latin typeface="Times New Roman" panose="02020603050405020304" pitchFamily="18" charset="0"/>
              </a:rPr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7811" name="Rectangle 3"/>
          <p:cNvSpPr>
            <a:spLocks noGrp="1"/>
          </p:cNvSpPr>
          <p:nvPr>
            <p:ph type="body" idx="1"/>
          </p:nvPr>
        </p:nvSpPr>
        <p:spPr>
          <a:xfrm>
            <a:off x="827584" y="1200150"/>
            <a:ext cx="7416800" cy="1231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经典的属性划分方法：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信息增益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ID3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信息增益率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C4.5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基尼指数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CART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剪枝处理：“过拟合”的解决手段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预剪枝（优缺点）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后剪枝（优缺点）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连续与缺失值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多变量决策树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回归树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798637" y="548680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4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章：决策树</a:t>
            </a:r>
            <a:endParaRPr kumimoji="1"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878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76672"/>
            <a:ext cx="6768752" cy="611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A9DEA-C3F6-4401-A5BF-3745117890AB}" type="slidenum">
              <a:rPr kumimoji="1" lang="en-US" altLang="zh-CN" sz="1400" smtClean="0">
                <a:latin typeface="Times New Roman" panose="02020603050405020304" pitchFamily="18" charset="0"/>
              </a:rPr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7811" name="Rectangle 3"/>
          <p:cNvSpPr>
            <a:spLocks noGrp="1"/>
          </p:cNvSpPr>
          <p:nvPr>
            <p:ph type="body" idx="1"/>
          </p:nvPr>
        </p:nvSpPr>
        <p:spPr>
          <a:xfrm>
            <a:off x="863600" y="1218443"/>
            <a:ext cx="7416800" cy="1231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感知机与多层网络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多层前馈神经网络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误差逆传播算法（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BP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）：标准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BP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和累计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BP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梯度下降优化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缓解过拟合的策略：早停和正则化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全局最小与局部极小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其他常用神经网络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深度学习（特征学习）：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预训练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微调和权共享；常用的激活函数：</a:t>
            </a:r>
            <a:r>
              <a:rPr lang="en-US" altLang="zh-CN" sz="28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ReLU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84213" y="620713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5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章：神经网络</a:t>
            </a:r>
            <a:endParaRPr kumimoji="1"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300192" y="5995987"/>
          <a:ext cx="22479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41" name="Formula" r:id="rId1" imgW="8239125" imgH="1323975" progId="Equation.Ribbit">
                  <p:embed/>
                </p:oleObj>
              </mc:Choice>
              <mc:Fallback>
                <p:oleObj name="Formula" r:id="rId1" imgW="8239125" imgH="1323975" progId="Equation.Ribbit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00192" y="5995987"/>
                        <a:ext cx="2247900" cy="360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78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93911" y="4311524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step1: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step2: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7298" y="1008588"/>
            <a:ext cx="4896543" cy="3240360"/>
            <a:chOff x="5216329" y="1304248"/>
            <a:chExt cx="3806904" cy="2099235"/>
          </a:xfrm>
        </p:grpSpPr>
        <p:pic>
          <p:nvPicPr>
            <p:cNvPr id="7" name="内容占位符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16329" y="1304248"/>
              <a:ext cx="3806904" cy="209923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/>
                <p:cNvSpPr txBox="1"/>
                <p:nvPr/>
              </p:nvSpPr>
              <p:spPr>
                <a:xfrm flipH="1">
                  <a:off x="7684115" y="2509658"/>
                  <a:ext cx="341300" cy="24622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684115" y="2509658"/>
                  <a:ext cx="341300" cy="246221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/>
                <p:cNvSpPr txBox="1"/>
                <p:nvPr/>
              </p:nvSpPr>
              <p:spPr>
                <a:xfrm flipH="1">
                  <a:off x="7676711" y="1712145"/>
                  <a:ext cx="341300" cy="26904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sz="1600" i="1" dirty="0"/>
                </a:p>
              </p:txBody>
            </p:sp>
          </mc:Choice>
          <mc:Fallback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676711" y="1712145"/>
                  <a:ext cx="341300" cy="26904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/>
          <p:cNvGrpSpPr/>
          <p:nvPr/>
        </p:nvGrpSpPr>
        <p:grpSpPr>
          <a:xfrm>
            <a:off x="2448346" y="4297378"/>
            <a:ext cx="3779837" cy="371475"/>
            <a:chOff x="1420894" y="1868744"/>
            <a:chExt cx="3779837" cy="371475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1420894" y="1868744"/>
            <a:ext cx="3779837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41" name="Formula" r:id="rId4" imgW="15792450" imgH="1562100" progId="Equation.Ribbit">
                    <p:embed/>
                  </p:oleObj>
                </mc:Choice>
                <mc:Fallback>
                  <p:oleObj name="Formula" r:id="rId4" imgW="15792450" imgH="1562100" progId="Equation.Ribbit">
                    <p:embed/>
                    <p:pic>
                      <p:nvPicPr>
                        <p:cNvPr id="0" name="对象 11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20894" y="1868744"/>
                          <a:ext cx="3779837" cy="3714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3356663" y="1876378"/>
                  <a:ext cx="285061" cy="307777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kumimoji="0" lang="en-US" altLang="zh-CN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ℎ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/>
                    <a:ea typeface="幼圆" panose="02010509060101010101" pitchFamily="49" charset="-122"/>
                  </a:endParaRPr>
                </a:p>
              </p:txBody>
            </p:sp>
          </mc:Choice>
          <mc:Fallback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663" y="1876378"/>
                  <a:ext cx="285061" cy="30777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2275057" y="1895610"/>
                  <a:ext cx="285061" cy="307777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kumimoji="0" lang="en-US" altLang="zh-CN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ℎ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/>
                    <a:ea typeface="幼圆" panose="02010509060101010101" pitchFamily="49" charset="-122"/>
                  </a:endParaRPr>
                </a:p>
              </p:txBody>
            </p:sp>
          </mc:Choice>
          <mc:Fallback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057" y="1895610"/>
                  <a:ext cx="285061" cy="30777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346" y="4847887"/>
            <a:ext cx="3240360" cy="40111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29714" y="50725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权重：   、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阈值：  、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		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403648" y="614068"/>
          <a:ext cx="396192" cy="271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Formula" r:id="rId8" imgW="1333500" imgH="895350" progId="Equation.Ribbit">
                  <p:embed/>
                </p:oleObj>
              </mc:Choice>
              <mc:Fallback>
                <p:oleObj name="Formula" r:id="rId8" imgW="1333500" imgH="895350" progId="Equation.Ribbit">
                  <p:embed/>
                  <p:pic>
                    <p:nvPicPr>
                      <p:cNvPr id="0" name="对象 1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03648" y="614068"/>
                        <a:ext cx="396192" cy="271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954633" y="598403"/>
          <a:ext cx="493713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Formula" r:id="rId10" imgW="1647825" imgH="1000125" progId="Equation.Ribbit">
                  <p:embed/>
                </p:oleObj>
              </mc:Choice>
              <mc:Fallback>
                <p:oleObj name="Formula" r:id="rId10" imgW="1647825" imgH="1000125" progId="Equation.Ribbit">
                  <p:embed/>
                  <p:pic>
                    <p:nvPicPr>
                      <p:cNvPr id="0" name="对象 1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54633" y="598403"/>
                        <a:ext cx="493713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315570" y="585670"/>
          <a:ext cx="224128" cy="32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Formula" r:id="rId12" imgW="895350" imgH="1304925" progId="Equation.Ribbit">
                  <p:embed/>
                </p:oleObj>
              </mc:Choice>
              <mc:Fallback>
                <p:oleObj name="Formula" r:id="rId12" imgW="895350" imgH="1304925" progId="Equation.Ribbit">
                  <p:embed/>
                  <p:pic>
                    <p:nvPicPr>
                      <p:cNvPr id="0" name="对象 1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15570" y="585670"/>
                        <a:ext cx="224128" cy="328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740121" y="585670"/>
          <a:ext cx="322263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Formula" r:id="rId14" imgW="1104900" imgH="914400" progId="Equation.Ribbit">
                  <p:embed/>
                </p:oleObj>
              </mc:Choice>
              <mc:Fallback>
                <p:oleObj name="Formula" r:id="rId14" imgW="1104900" imgH="914400" progId="Equation.Ribbit">
                  <p:embed/>
                  <p:pic>
                    <p:nvPicPr>
                      <p:cNvPr id="0" name="对象 1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40121" y="585670"/>
                        <a:ext cx="322263" cy="26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247864" y="614068"/>
          <a:ext cx="4497423" cy="303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Formula" r:id="rId16" imgW="19564350" imgH="1323975" progId="Equation.Ribbit">
                  <p:embed/>
                </p:oleObj>
              </mc:Choice>
              <mc:Fallback>
                <p:oleObj name="Formula" r:id="rId16" imgW="19564350" imgH="1323975" progId="Equation.Ribbit">
                  <p:embed/>
                  <p:pic>
                    <p:nvPicPr>
                      <p:cNvPr id="0" name="对象 2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47864" y="614068"/>
                        <a:ext cx="4497423" cy="303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1493911" y="54280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step3: </a:t>
            </a:r>
            <a:endParaRPr lang="zh-CN" altLang="en-US" dirty="0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409002" y="5413889"/>
          <a:ext cx="2379022" cy="377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Formula" r:id="rId18" imgW="11115675" imgH="1762125" progId="Equation.Ribbit">
                  <p:embed/>
                </p:oleObj>
              </mc:Choice>
              <mc:Fallback>
                <p:oleObj name="Formula" r:id="rId18" imgW="11115675" imgH="1762125" progId="Equation.Ribbit">
                  <p:embed/>
                  <p:pic>
                    <p:nvPicPr>
                      <p:cNvPr id="0" name="对象 2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409002" y="5413889"/>
                        <a:ext cx="2379022" cy="377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1646116" y="5938885"/>
            <a:ext cx="3136737" cy="610094"/>
            <a:chOff x="1201527" y="5984421"/>
            <a:chExt cx="3136737" cy="610094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662565" y="5984421"/>
              <a:ext cx="2675699" cy="610094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1201527" y="6059266"/>
              <a:ext cx="7531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(x)=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2A9DEA-C3F6-4401-A5BF-3745117890AB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7811" name="Rectangle 3"/>
          <p:cNvSpPr>
            <a:spLocks noGrp="1"/>
          </p:cNvSpPr>
          <p:nvPr>
            <p:ph type="body" idx="1"/>
          </p:nvPr>
        </p:nvSpPr>
        <p:spPr>
          <a:xfrm>
            <a:off x="467544" y="620713"/>
            <a:ext cx="8928992" cy="144013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支持向量机：最大化间隔与支持向量的稀疏性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对偶问题和序列最小化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SMO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核函数：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通过向高维空间映射解决线性不可分的问题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软间隔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：允许支持向量机在一些样本上不满足约束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正则化：结构风险和经验风险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支持向量回归和核方法（模型总可以表示成核函数的线性组合）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84213" y="620713"/>
            <a:ext cx="81343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6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章：支持向量机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1700808"/>
            <a:ext cx="6048672" cy="14135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61" y="4781600"/>
            <a:ext cx="3158002" cy="7193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2A9DEA-C3F6-4401-A5BF-3745117890AB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7811" name="Rectangle 3"/>
          <p:cNvSpPr>
            <a:spLocks noGrp="1"/>
          </p:cNvSpPr>
          <p:nvPr>
            <p:ph type="body" idx="1"/>
          </p:nvPr>
        </p:nvSpPr>
        <p:spPr>
          <a:xfrm>
            <a:off x="830946" y="607079"/>
            <a:ext cx="7416800" cy="1735956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贝叶斯决策论：</a:t>
            </a: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贝叶斯最优分类器</a:t>
            </a:r>
            <a:endParaRPr lang="en-US" altLang="zh-CN" sz="2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判别式模型：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决策树，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BP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神经网络，支持向量机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给定   ，通过直接建模           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来预测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生成式模型：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贝叶斯分类器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先对联合概率分布          建模，再由此获得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贝叶斯定理：</a:t>
            </a:r>
            <a:endParaRPr lang="zh-CN" altLang="en-US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极大似然估计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朴素贝叶斯分类器和拉普拉斯修正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半朴素贝叶斯分类器和贝叶斯网（吉布斯采样）</a:t>
            </a:r>
            <a:endParaRPr lang="en-US" altLang="zh-CN" sz="2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EM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：对模型中的隐变量做参数估计</a:t>
            </a:r>
            <a:endParaRPr lang="en-US" altLang="zh-CN" sz="2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84213" y="620713"/>
            <a:ext cx="81343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7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章：贝叶斯分类器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39752" y="2485082"/>
          <a:ext cx="184150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41" name="Formula" r:id="rId1" imgW="733425" imgH="904875" progId="Equation.Ribbit">
                  <p:embed/>
                </p:oleObj>
              </mc:Choice>
              <mc:Fallback>
                <p:oleObj name="Formula" r:id="rId1" imgW="733425" imgH="904875" progId="Equation.Ribbit">
                  <p:embed/>
                  <p:pic>
                    <p:nvPicPr>
                      <p:cNvPr id="0" name="对象 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9752" y="2485082"/>
                        <a:ext cx="184150" cy="223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751388" y="2420888"/>
          <a:ext cx="760896" cy="26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Formula" r:id="rId3" imgW="3790950" imgH="1333500" progId="Equation.Ribbit">
                  <p:embed/>
                </p:oleObj>
              </mc:Choice>
              <mc:Fallback>
                <p:oleObj name="Formula" r:id="rId3" imgW="3790950" imgH="1333500" progId="Equation.Ribbit">
                  <p:embed/>
                  <p:pic>
                    <p:nvPicPr>
                      <p:cNvPr id="0" name="对象 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51388" y="2420888"/>
                        <a:ext cx="760896" cy="26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732240" y="2503390"/>
          <a:ext cx="10795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Formula" r:id="rId5" imgW="533400" imgH="895350" progId="Equation.Ribbit">
                  <p:embed/>
                </p:oleObj>
              </mc:Choice>
              <mc:Fallback>
                <p:oleObj name="Formula" r:id="rId5" imgW="533400" imgH="895350" progId="Equation.Ribbit">
                  <p:embed/>
                  <p:pic>
                    <p:nvPicPr>
                      <p:cNvPr id="0" name="对象 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32240" y="2503390"/>
                        <a:ext cx="10795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118009" y="3501008"/>
          <a:ext cx="666750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Formula" r:id="rId7" imgW="3333750" imgH="1323975" progId="Equation.Ribbit">
                  <p:embed/>
                </p:oleObj>
              </mc:Choice>
              <mc:Fallback>
                <p:oleObj name="Formula" r:id="rId7" imgW="3333750" imgH="1323975" progId="Equation.Ribbit">
                  <p:embed/>
                  <p:pic>
                    <p:nvPicPr>
                      <p:cNvPr id="0" name="对象 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18009" y="3501008"/>
                        <a:ext cx="666750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452320" y="3501008"/>
          <a:ext cx="760896" cy="26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Formula" r:id="rId9" imgW="3790950" imgH="1333500" progId="Equation.Ribbit">
                  <p:embed/>
                </p:oleObj>
              </mc:Choice>
              <mc:Fallback>
                <p:oleObj name="Formula" r:id="rId9" imgW="3790950" imgH="1333500" progId="Equation.Ribbit">
                  <p:embed/>
                  <p:pic>
                    <p:nvPicPr>
                      <p:cNvPr id="0" name="对象 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52320" y="3501008"/>
                        <a:ext cx="760896" cy="26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635896" y="3936551"/>
          <a:ext cx="2660719" cy="65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Formula" r:id="rId10" imgW="11572875" imgH="2867025" progId="Equation.Ribbit">
                  <p:embed/>
                </p:oleObj>
              </mc:Choice>
              <mc:Fallback>
                <p:oleObj name="Formula" r:id="rId10" imgW="11572875" imgH="2867025" progId="Equation.Ribbit">
                  <p:embed/>
                  <p:pic>
                    <p:nvPicPr>
                      <p:cNvPr id="0" name="对象 2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35896" y="3936551"/>
                        <a:ext cx="2660719" cy="654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5294" y="1102060"/>
            <a:ext cx="2793003" cy="65618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62068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例子：假定某种疾病很稀少，每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万人只有一人患病。还假定有一种化验很有效，如果一个人患此病，则化验结果为阳性的可能性为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99%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。然而，这种化验是不完美的，在健康人身上化验结果为阳性的可能性是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1/1000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。假定来了一位新患者，其化验结果为阳性。利用贝叶斯法则计算该患者患此疾病的概率有多大？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16" y="2900276"/>
            <a:ext cx="6782388" cy="38560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620688"/>
            <a:ext cx="7920880" cy="8049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72" y="1425597"/>
            <a:ext cx="4420866" cy="302433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689" y="1436778"/>
            <a:ext cx="3855484" cy="1293964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971600" y="4460395"/>
          <a:ext cx="3744416" cy="794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41" name="Formula" r:id="rId4" imgW="16297275" imgH="3476625" progId="Equation.Ribbit">
                  <p:embed/>
                </p:oleObj>
              </mc:Choice>
              <mc:Fallback>
                <p:oleObj name="Formula" r:id="rId4" imgW="16297275" imgH="3476625" progId="Equation.Ribbit">
                  <p:embed/>
                  <p:pic>
                    <p:nvPicPr>
                      <p:cNvPr id="0" name="对象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1600" y="4460395"/>
                        <a:ext cx="3744416" cy="794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6"/>
          <a:srcRect t="1" b="45990"/>
          <a:stretch>
            <a:fillRect/>
          </a:stretch>
        </p:blipFill>
        <p:spPr>
          <a:xfrm>
            <a:off x="833754" y="3039004"/>
            <a:ext cx="4151115" cy="280735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6"/>
          <a:srcRect t="54466"/>
          <a:stretch>
            <a:fillRect/>
          </a:stretch>
        </p:blipFill>
        <p:spPr>
          <a:xfrm>
            <a:off x="5061881" y="3090743"/>
            <a:ext cx="3910405" cy="22187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676" y="3713763"/>
            <a:ext cx="6984776" cy="31442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2A9DEA-C3F6-4401-A5BF-3745117890AB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7811" name="Rectangle 3"/>
          <p:cNvSpPr>
            <a:spLocks noGrp="1"/>
          </p:cNvSpPr>
          <p:nvPr>
            <p:ph type="body" idx="1"/>
          </p:nvPr>
        </p:nvSpPr>
        <p:spPr>
          <a:xfrm>
            <a:off x="755576" y="692696"/>
            <a:ext cx="8351019" cy="1735956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集成学习基本原理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：好而不同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Boosting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Adaboost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GBDT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Xgboost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Bagging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与随机森林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Boosting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Bagging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区别：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Boosting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关注降低偏差；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Bagging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主要关注降低方差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结合策略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平均法、投票法、学习法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多样性 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多样性增强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数据样本扰动、输入属性扰动、输出表示扰动、算法参数扰动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583386" y="548680"/>
            <a:ext cx="81343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8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章：集成学习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672" y="3501008"/>
            <a:ext cx="6287214" cy="275971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7544" y="4437112"/>
            <a:ext cx="10081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Bagging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620688"/>
            <a:ext cx="6071190" cy="259228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58778" y="1948855"/>
            <a:ext cx="12168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Boosting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2A9DEA-C3F6-4401-A5BF-3745117890AB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7811" name="Rectangle 3"/>
          <p:cNvSpPr>
            <a:spLocks noGrp="1"/>
          </p:cNvSpPr>
          <p:nvPr>
            <p:ph type="body" idx="1"/>
          </p:nvPr>
        </p:nvSpPr>
        <p:spPr>
          <a:xfrm>
            <a:off x="863600" y="980728"/>
            <a:ext cx="7416800" cy="1735956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聚类：无监督学习方法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性能度量和距离计算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原型聚类：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均值算法、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学习向量量化算法、高斯混合聚类算法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密度聚类：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DBSCAN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层次聚类：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AGNES</a:t>
            </a: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84213" y="620713"/>
            <a:ext cx="81343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9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章：聚类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:\Users\lamda\Desktop\figures\kmeans_algo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87623" y="764704"/>
            <a:ext cx="7375365" cy="57606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943978"/>
            <a:ext cx="8229600" cy="288032"/>
          </a:xfrm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10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章：降维与度量学习</a:t>
            </a:r>
            <a:b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087994"/>
            <a:ext cx="8229600" cy="45259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近邻学习：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密采样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低维嵌入：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维数灾难、降维的原因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多维缩放（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MDS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主成分分析（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PCA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最近重构性和最大可分性</a:t>
            </a: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96" y="3501008"/>
            <a:ext cx="7092528" cy="32188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1963</Words>
  <Application>WPS 演示</Application>
  <PresentationFormat>全屏显示(4:3)</PresentationFormat>
  <Paragraphs>269</Paragraphs>
  <Slides>20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20</vt:i4>
      </vt:variant>
    </vt:vector>
  </HeadingPairs>
  <TitlesOfParts>
    <vt:vector size="57" baseType="lpstr">
      <vt:lpstr>Arial</vt:lpstr>
      <vt:lpstr>宋体</vt:lpstr>
      <vt:lpstr>Wingdings</vt:lpstr>
      <vt:lpstr>Calibri</vt:lpstr>
      <vt:lpstr>Times New Roman</vt:lpstr>
      <vt:lpstr>楷体_GB2312</vt:lpstr>
      <vt:lpstr>新宋体</vt:lpstr>
      <vt:lpstr>Monotype Corsiva</vt:lpstr>
      <vt:lpstr>楷体</vt:lpstr>
      <vt:lpstr>黑体</vt:lpstr>
      <vt:lpstr>Symbol</vt:lpstr>
      <vt:lpstr>幼圆</vt:lpstr>
      <vt:lpstr>微软雅黑</vt:lpstr>
      <vt:lpstr>Arial Unicode MS</vt:lpstr>
      <vt:lpstr>Cambria Math</vt:lpstr>
      <vt:lpstr>Verdana</vt:lpstr>
      <vt:lpstr>BatangChe</vt:lpstr>
      <vt:lpstr>AMGDT</vt:lpstr>
      <vt:lpstr>Office 主题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第10章：降维与度量学习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ZSHE</dc:creator>
  <cp:lastModifiedBy>O₂</cp:lastModifiedBy>
  <cp:revision>257</cp:revision>
  <dcterms:created xsi:type="dcterms:W3CDTF">2016-05-18T01:14:00Z</dcterms:created>
  <dcterms:modified xsi:type="dcterms:W3CDTF">2026-06-16T14:03:13Z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1338888A261F4995A8B6C50A21BEEC7C_12</vt:lpwstr>
  </property>
</Properties>
</file>