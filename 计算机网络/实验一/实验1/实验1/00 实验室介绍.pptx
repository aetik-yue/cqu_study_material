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2"/>
  </p:notesMasterIdLst>
  <p:sldIdLst>
    <p:sldId id="325" r:id="rId3"/>
    <p:sldId id="343" r:id="rId4"/>
    <p:sldId id="344" r:id="rId5"/>
    <p:sldId id="332" r:id="rId6"/>
    <p:sldId id="345" r:id="rId7"/>
    <p:sldId id="347" r:id="rId8"/>
    <p:sldId id="348" r:id="rId9"/>
    <p:sldId id="346" r:id="rId10"/>
    <p:sldId id="34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899"/>
    <a:srgbClr val="1D5696"/>
    <a:srgbClr val="487C9C"/>
    <a:srgbClr val="004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62" d="100"/>
          <a:sy n="62" d="100"/>
        </p:scale>
        <p:origin x="1400" y="52"/>
      </p:cViewPr>
      <p:guideLst>
        <p:guide orient="horz" pos="211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EA76D-2842-47B2-AAEA-8104B6DC3542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93138-DACD-4B43-A387-94E7198A5A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55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5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607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60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587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69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051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990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3138-DACD-4B43-A387-94E7198A5A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4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92D9-9181-49C6-B375-5192CB6C4F3E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654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CBF-1B28-4C37-953C-3A192D7FA4FC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76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0F4FB-AA6D-4370-9854-DCC676EF323E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3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329C-789F-4580-8108-F0A581703C21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85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6EBB-9F99-4CB4-9A83-433B439EB018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73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F512-BA22-4010-BA38-3D230BC72255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9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98062-B944-45F5-A7A4-443120B3E03C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26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6C999-88D5-4494-949D-09E5BFCE7E1C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0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0971-2A4A-4C7B-9758-10AFEC3C5FBC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9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5E6EE-E66C-49BB-A269-E442383ADB5D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3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3B55-BC54-470B-BB19-7C20CA6505EC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034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86D63-07F5-474B-AB7D-00327A85005F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45114-1532-4B43-B9A6-A29DB777B43D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63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2B449-86B5-469C-A302-ADABE31968E6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F93E2-386E-4748-9397-24F39CB5B88F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738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33D6B-93D1-4CCB-8022-BC2C204DF1D3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36BAF-3DAF-44D7-8B7E-E4959487153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47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FEF8B-77E4-45AA-920E-E2F316657EBE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0C213-4038-4274-8DB7-D5DFE6AF3AC1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93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CE8A4-83F0-49F0-B794-7AB3303E5E45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4D865-BFEA-4DDD-A0D4-09B70B1706A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129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AD559-1BC4-4046-AD71-5113D816D4FE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66169-56C5-4475-BB03-6EFBEF93718F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9403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0FE46-9F33-442D-B8CF-F1B44CCB93C2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B341C-D94D-4875-BA5B-8083368F756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59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38968-D4BB-4B82-87FA-F340B0A21908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094D0-0E75-4AAD-8EBC-BD242BD1E9B8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453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EBF2F-5ED3-484C-A50A-CC1F0265401E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6A023-83DC-4B4B-A430-5A0345E163A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352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9B96F-4654-471B-8695-9B1234F1325F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C7AB3-09C7-42E6-80B8-93650FEFC66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392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FA822-24D5-41F5-848D-8631D61CA845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9D2DD-9270-4FED-9A52-4471B7CD7B2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89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1BFFB-31DF-49BF-A5AC-3B58FF9B00E0}" type="datetime1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C28A-EF6B-4E9C-965D-1BF432563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09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7"/>
          <p:cNvSpPr/>
          <p:nvPr/>
        </p:nvSpPr>
        <p:spPr bwMode="gray">
          <a:xfrm>
            <a:off x="-9525" y="1447800"/>
            <a:ext cx="9164638" cy="3832225"/>
          </a:xfrm>
          <a:custGeom>
            <a:avLst/>
            <a:gdLst/>
            <a:ahLst/>
            <a:cxnLst>
              <a:cxn ang="0">
                <a:pos x="12" y="124"/>
              </a:cxn>
              <a:cxn ang="0">
                <a:pos x="1381" y="12"/>
              </a:cxn>
              <a:cxn ang="0">
                <a:pos x="4064" y="581"/>
              </a:cxn>
              <a:cxn ang="0">
                <a:pos x="5773" y="118"/>
              </a:cxn>
              <a:cxn ang="0">
                <a:pos x="5766" y="2151"/>
              </a:cxn>
              <a:cxn ang="0">
                <a:pos x="3966" y="2263"/>
              </a:cxn>
              <a:cxn ang="0">
                <a:pos x="1963" y="1897"/>
              </a:cxn>
              <a:cxn ang="0">
                <a:pos x="6" y="2407"/>
              </a:cxn>
              <a:cxn ang="0">
                <a:pos x="12" y="124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Freeform 18"/>
          <p:cNvSpPr/>
          <p:nvPr/>
        </p:nvSpPr>
        <p:spPr bwMode="gray">
          <a:xfrm>
            <a:off x="-9525" y="1730375"/>
            <a:ext cx="9150350" cy="3265488"/>
          </a:xfrm>
          <a:custGeom>
            <a:avLst/>
            <a:gdLst/>
            <a:ahLst/>
            <a:cxnLst>
              <a:cxn ang="0">
                <a:pos x="6" y="272"/>
              </a:cxn>
              <a:cxn ang="0">
                <a:pos x="1453" y="10"/>
              </a:cxn>
              <a:cxn ang="0">
                <a:pos x="4182" y="482"/>
              </a:cxn>
              <a:cxn ang="0">
                <a:pos x="5764" y="154"/>
              </a:cxn>
              <a:cxn ang="0">
                <a:pos x="5764" y="1806"/>
              </a:cxn>
              <a:cxn ang="0">
                <a:pos x="4005" y="1994"/>
              </a:cxn>
              <a:cxn ang="0">
                <a:pos x="1891" y="1522"/>
              </a:cxn>
              <a:cxn ang="0">
                <a:pos x="6" y="1967"/>
              </a:cxn>
              <a:cxn ang="0">
                <a:pos x="6" y="272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466948" name="Group 19"/>
          <p:cNvGrpSpPr/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10" name="Oval 2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1" name="Oval 21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466951" name="Group 22"/>
          <p:cNvGrpSpPr/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3" name="Oval 23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4" name="Oval 24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466954" name="Group 25"/>
          <p:cNvGrpSpPr/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6" name="Oval 26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7" name="Oval 27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pic>
        <p:nvPicPr>
          <p:cNvPr id="466957" name="图片 11" descr="重庆大学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700" y="0"/>
            <a:ext cx="9118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6958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6695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877960-B000-4230-8713-6481FFE70262}" type="datetime1">
              <a:rPr lang="zh-CN" altLang="en-US" smtClean="0"/>
              <a:t>2025/9/29</a:t>
            </a:fld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1035F92-2648-494C-9DC9-33D7AA125148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98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fi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PB1yYRERg/?vd_source=9cbcd05b2808295b3112eab9fb43810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A922B2C-5A98-42DC-8426-B71F21AC43F1}"/>
              </a:ext>
            </a:extLst>
          </p:cNvPr>
          <p:cNvSpPr/>
          <p:nvPr/>
        </p:nvSpPr>
        <p:spPr>
          <a:xfrm>
            <a:off x="-48127" y="1593622"/>
            <a:ext cx="9221002" cy="2561139"/>
          </a:xfrm>
          <a:prstGeom prst="rect">
            <a:avLst/>
          </a:prstGeom>
          <a:solidFill>
            <a:srgbClr val="1D569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标题 6145">
            <a:extLst>
              <a:ext uri="{FF2B5EF4-FFF2-40B4-BE49-F238E27FC236}">
                <a16:creationId xmlns:a16="http://schemas.microsoft.com/office/drawing/2014/main" id="{4CEE94A4-77D8-4270-9841-C3854C2CBA0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54050" y="1576552"/>
            <a:ext cx="7924800" cy="2578209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计算机网络实验室环境介绍</a:t>
            </a:r>
            <a:endParaRPr lang="en-US" altLang="zh-CN" sz="3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 eaLnBrk="1" hangingPunct="1">
              <a:lnSpc>
                <a:spcPct val="150000"/>
              </a:lnSpc>
              <a:buClr>
                <a:srgbClr val="000000"/>
              </a:buClr>
            </a:pPr>
            <a:endParaRPr lang="zh-CN" altLang="en-US" sz="3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标题 6145">
            <a:extLst>
              <a:ext uri="{FF2B5EF4-FFF2-40B4-BE49-F238E27FC236}">
                <a16:creationId xmlns:a16="http://schemas.microsoft.com/office/drawing/2014/main" id="{D6F5272F-7AFA-4592-8D91-A355AB0C87E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54050" y="2168525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rgbClr val="000000"/>
              </a:buClr>
            </a:pPr>
            <a:endParaRPr lang="zh-CN" altLang="en-US" sz="3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C7D073F-B95B-41A2-ACD1-D4C14C84F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4614863"/>
            <a:ext cx="79248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858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重庆大学计算机学院专业实验室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D66810-4BA1-4A9D-BFB1-D6E312265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23"/>
            <a:ext cx="2685448" cy="10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1EA0F96-676A-4CF5-AF6D-B3EB4C06C4FC}"/>
              </a:ext>
            </a:extLst>
          </p:cNvPr>
          <p:cNvSpPr/>
          <p:nvPr/>
        </p:nvSpPr>
        <p:spPr>
          <a:xfrm>
            <a:off x="673521" y="1109064"/>
            <a:ext cx="8168921" cy="3893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实训室共分为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大组，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小组，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每小组由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人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组成，能同时容纳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64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人上机操作</a:t>
            </a:r>
          </a:p>
          <a:p>
            <a:pPr marL="3429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每小组共享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台路由器（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RT-MSR2630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）、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台交换机（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LS-5130-30S-HI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）</a:t>
            </a:r>
          </a:p>
          <a:p>
            <a:pPr marL="3429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学生电脑配置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张网卡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张串口卡</a:t>
            </a:r>
          </a:p>
          <a:p>
            <a:pPr marL="3429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所有设备的接口尽可能上配线架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3429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实验时按照需要跳接配线架实现相应设备间连接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3429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每小组分配“试验管理台”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台（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RT-MSR2600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），用于远程登录小组内路由器、交换机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766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小组结构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766C47D-DDBF-4C01-861F-701902A97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215" y="1471942"/>
            <a:ext cx="2493474" cy="40041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AD5015-15B5-C40A-8E6B-BD6F861FA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51" y="3944241"/>
            <a:ext cx="1067733" cy="6325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4343C5-D58B-93F5-85F3-C64978B9B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132" y="3944241"/>
            <a:ext cx="1067733" cy="6325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9A13B4-4669-5D40-DE1F-FF1F4A88B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03" y="2798233"/>
            <a:ext cx="1067733" cy="6325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716BCF-97A6-7F0F-CE1F-37213DD77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132" y="2798233"/>
            <a:ext cx="1067733" cy="6325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A32A5AC-D1DC-268D-F153-AD678F4BC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637" y="4682500"/>
            <a:ext cx="3700653" cy="10049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EAF8C38-796E-06DF-C754-8ABA84795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429" y="2823534"/>
            <a:ext cx="3738755" cy="12145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9C02144-03E2-E52B-C7C5-969C8908DC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637" y="3984194"/>
            <a:ext cx="3862586" cy="90968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40A1814-9A00-6789-EAB7-7C13A67BD731}"/>
              </a:ext>
            </a:extLst>
          </p:cNvPr>
          <p:cNvSpPr txBox="1"/>
          <p:nvPr/>
        </p:nvSpPr>
        <p:spPr>
          <a:xfrm>
            <a:off x="5940499" y="4178128"/>
            <a:ext cx="19912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H3C S5130HI </a:t>
            </a:r>
            <a:r>
              <a:rPr lang="zh-CN" altLang="en-US" sz="1350" dirty="0"/>
              <a:t>交换机 </a:t>
            </a:r>
            <a:r>
              <a:rPr lang="en-US" altLang="zh-CN" sz="1350" dirty="0"/>
              <a:t>3</a:t>
            </a:r>
            <a:r>
              <a:rPr lang="zh-CN" altLang="en-US" sz="1350" dirty="0"/>
              <a:t>台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CF2E20-3110-221A-DA50-96587F4C4A49}"/>
              </a:ext>
            </a:extLst>
          </p:cNvPr>
          <p:cNvSpPr/>
          <p:nvPr/>
        </p:nvSpPr>
        <p:spPr>
          <a:xfrm>
            <a:off x="5977401" y="3335501"/>
            <a:ext cx="186869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Futura Bk"/>
              </a:rPr>
              <a:t>MSR 26-30 </a:t>
            </a:r>
            <a:r>
              <a:rPr lang="zh-CN" altLang="en-US" sz="13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路由器 </a:t>
            </a:r>
            <a:r>
              <a:rPr lang="en-US" altLang="zh-CN" sz="13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3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zh-CN" altLang="en-US" sz="1350" dirty="0"/>
              <a:t>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0C32CD-F82D-FD17-8219-DC983ED0EE56}"/>
              </a:ext>
            </a:extLst>
          </p:cNvPr>
          <p:cNvSpPr/>
          <p:nvPr/>
        </p:nvSpPr>
        <p:spPr>
          <a:xfrm>
            <a:off x="5904498" y="4986680"/>
            <a:ext cx="212658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Futura Bk"/>
              </a:rPr>
              <a:t>MSR 2600-10 </a:t>
            </a:r>
            <a:r>
              <a:rPr lang="zh-CN" altLang="en-US" sz="13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控制器</a:t>
            </a:r>
            <a:r>
              <a:rPr lang="zh-CN" altLang="en-US" sz="1350" dirty="0"/>
              <a:t> </a:t>
            </a:r>
            <a:r>
              <a:rPr lang="en-US" altLang="zh-CN" sz="1350" dirty="0"/>
              <a:t>1</a:t>
            </a:r>
            <a:r>
              <a:rPr lang="zh-CN" altLang="en-US" sz="1350" dirty="0"/>
              <a:t>台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8759908-A4B8-AF87-2EBE-A07C775495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5131" y="2561278"/>
            <a:ext cx="3757805" cy="58105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C1ED84C-47AF-E805-331F-D7CC230A44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2093" y="1563899"/>
            <a:ext cx="3757805" cy="58105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2944A4A-4318-01C7-58CA-4D6A120EFC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9964" y="2069854"/>
            <a:ext cx="3757805" cy="58105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75DD6B2-D1C6-F3FA-C50F-0FC0F2CA2DEC}"/>
              </a:ext>
            </a:extLst>
          </p:cNvPr>
          <p:cNvSpPr/>
          <p:nvPr/>
        </p:nvSpPr>
        <p:spPr>
          <a:xfrm>
            <a:off x="3272660" y="3127528"/>
            <a:ext cx="5751024" cy="260051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B3688F5-BCF2-1A8E-157B-AD8B4E40113C}"/>
              </a:ext>
            </a:extLst>
          </p:cNvPr>
          <p:cNvSpPr/>
          <p:nvPr/>
        </p:nvSpPr>
        <p:spPr>
          <a:xfrm>
            <a:off x="3271188" y="1471942"/>
            <a:ext cx="5751024" cy="15915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44024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3F446F-BF45-A446-2026-1386EB13B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682" y="1107266"/>
            <a:ext cx="6544635" cy="490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2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F259FD-B4BB-5430-35EF-B02FCCEDB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587" y="880235"/>
            <a:ext cx="4230826" cy="564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1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40B09E-185F-380E-EAC1-B2564E9AE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" t="21676"/>
          <a:stretch/>
        </p:blipFill>
        <p:spPr>
          <a:xfrm>
            <a:off x="719847" y="1215380"/>
            <a:ext cx="7955486" cy="473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96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5AADEB-0809-CEF5-089A-C937DB9135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1" b="17337"/>
          <a:stretch/>
        </p:blipFill>
        <p:spPr>
          <a:xfrm>
            <a:off x="780813" y="1045220"/>
            <a:ext cx="7526812" cy="516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8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F5EE0A-8733-114F-F11A-F459982D3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350" y="1215380"/>
            <a:ext cx="6457950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0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E2B4544-5B7A-409D-AD3E-64E3EE8D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553" y="4289"/>
            <a:ext cx="1568447" cy="633722"/>
          </a:xfrm>
          <a:prstGeom prst="rect">
            <a:avLst/>
          </a:prstGeom>
        </p:spPr>
      </p:pic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67CA89B4-DD3E-43BC-9FEB-B7C44DCB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CFBE-E183-406C-A10F-E0642B08ACC5}" type="datetime1">
              <a:rPr lang="zh-CN" altLang="en-US" smtClean="0"/>
              <a:t>2025/9/29</a:t>
            </a:fld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D4192DF-1F4F-43FE-9CBC-6FFCBCE1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C28A-EF6B-4E9C-965D-1BF432563A9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F6E2BEDD-709A-4474-AE1C-28BEDD805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14300"/>
            <a:ext cx="10810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zh-CN" altLang="en-US" sz="35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0D38D35-D9F6-46A8-9111-4C4B30337A96}"/>
              </a:ext>
            </a:extLst>
          </p:cNvPr>
          <p:cNvSpPr/>
          <p:nvPr/>
        </p:nvSpPr>
        <p:spPr>
          <a:xfrm>
            <a:off x="621795" y="583555"/>
            <a:ext cx="778706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64899"/>
                </a:solidFill>
                <a:latin typeface="+mn-ea"/>
                <a:ea typeface="+mn-ea"/>
              </a:rPr>
              <a:t>实验设备</a:t>
            </a:r>
            <a:endParaRPr lang="en-US" altLang="zh-CN" sz="2400" b="1" dirty="0">
              <a:solidFill>
                <a:srgbClr val="064899"/>
              </a:solidFill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854C59-80F5-3DFC-4DC5-8CBA29050C7D}"/>
              </a:ext>
            </a:extLst>
          </p:cNvPr>
          <p:cNvSpPr/>
          <p:nvPr/>
        </p:nvSpPr>
        <p:spPr>
          <a:xfrm>
            <a:off x="673521" y="1109064"/>
            <a:ext cx="8168921" cy="2231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视频讲解链接：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hlinkClick r:id="rId4"/>
              </a:rPr>
              <a:t>https://www.bilibili.com/video/BV1PB1yYRERg/?vd_source=9cbcd05b2808295b3112eab9fb43810c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just">
              <a:lnSpc>
                <a:spcPct val="200000"/>
              </a:lnSpc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9504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2158</TotalTime>
  <Words>177</Words>
  <Application>Microsoft Office PowerPoint</Application>
  <PresentationFormat>全屏显示(4:3)</PresentationFormat>
  <Paragraphs>53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Futura Bk</vt:lpstr>
      <vt:lpstr>等线</vt:lpstr>
      <vt:lpstr>黑体</vt:lpstr>
      <vt:lpstr>宋体</vt:lpstr>
      <vt:lpstr>微软雅黑</vt:lpstr>
      <vt:lpstr>Arial</vt:lpstr>
      <vt:lpstr>Calibri</vt:lpstr>
      <vt:lpstr>Calibri Light</vt:lpstr>
      <vt:lpstr>Wingdings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雪贤 宋</dc:creator>
  <cp:lastModifiedBy>Administrator</cp:lastModifiedBy>
  <cp:revision>314</cp:revision>
  <dcterms:created xsi:type="dcterms:W3CDTF">2019-01-14T10:57:14Z</dcterms:created>
  <dcterms:modified xsi:type="dcterms:W3CDTF">2025-09-29T08:51:26Z</dcterms:modified>
</cp:coreProperties>
</file>