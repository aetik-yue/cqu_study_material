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17" r:id="rId3"/>
    <p:sldId id="270" r:id="rId5"/>
    <p:sldId id="315" r:id="rId6"/>
    <p:sldId id="305" r:id="rId7"/>
    <p:sldId id="258" r:id="rId8"/>
    <p:sldId id="286" r:id="rId9"/>
    <p:sldId id="302" r:id="rId10"/>
    <p:sldId id="303" r:id="rId11"/>
    <p:sldId id="304" r:id="rId12"/>
    <p:sldId id="290" r:id="rId13"/>
    <p:sldId id="291" r:id="rId14"/>
    <p:sldId id="307" r:id="rId15"/>
    <p:sldId id="308" r:id="rId16"/>
    <p:sldId id="309" r:id="rId17"/>
    <p:sldId id="273" r:id="rId18"/>
    <p:sldId id="293" r:id="rId19"/>
    <p:sldId id="268" r:id="rId20"/>
    <p:sldId id="295" r:id="rId21"/>
    <p:sldId id="271" r:id="rId22"/>
    <p:sldId id="267" r:id="rId23"/>
    <p:sldId id="299" r:id="rId24"/>
    <p:sldId id="287" r:id="rId25"/>
    <p:sldId id="314" r:id="rId26"/>
    <p:sldId id="300" r:id="rId27"/>
    <p:sldId id="301" r:id="rId28"/>
    <p:sldId id="310" r:id="rId29"/>
    <p:sldId id="311" r:id="rId30"/>
    <p:sldId id="312" r:id="rId31"/>
    <p:sldId id="26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874"/>
    <a:srgbClr val="5C307D"/>
    <a:srgbClr val="FFFFFF"/>
    <a:srgbClr val="F6F4F7"/>
    <a:srgbClr val="93549F"/>
    <a:srgbClr val="FEFDFF"/>
    <a:srgbClr val="E1D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3"/>
    <p:restoredTop sz="74521"/>
  </p:normalViewPr>
  <p:slideViewPr>
    <p:cSldViewPr snapToGrid="0" snapToObjects="1">
      <p:cViewPr varScale="1">
        <p:scale>
          <a:sx n="93" d="100"/>
          <a:sy n="93" d="100"/>
        </p:scale>
        <p:origin x="1904" y="200"/>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A51940-DB52-3B48-AABB-9C7938529E4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8717E-F74C-4246-A795-6577BEDC838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海关发票是国际贸易和海关查验过程中至关重要的文件。作为一份正式记录，它提供了有关进出口货物的税款、关税等详细信息。海关发票还作为交易证据，用于统计分析。此外，它还帮助确保贸易法规的遵守，防止欺诈或货物错报。因此，自动化提取海关发票中的信息对于税收管理和风险识别具有重要意义。然而，从通常以扫描文档形式保存的这些发票中提取有效信息面临着重大挑战，主要包括三个困难：第一点是字体大小多样性，海关发票不仅在不同文件间存在格式和结构上的差异，在同一张发票内也可能出现字体大小变化较大的情况。第二点是文本复杂：在国际贸易环境下，海关发票可能包含多种语言，甚至同一张发票上出现多语言混排。例如，某些发票可能包含中文、英文、俄文等内容，同时不同地区可能使用特定行业专用词汇。第三点是海关系统每天需要处理大量的海关发票，据估计每日处理量可达三千万份甚至更多。面对如此庞大的数据量，如何高效准确地提取和处理信息成为了一个巨大的挑战。面对以上挑战，传统 </a:t>
            </a:r>
            <a:r>
              <a:rPr lang="en-GB" altLang="zh-CN" sz="1200" kern="1200" dirty="0">
                <a:solidFill>
                  <a:schemeClr val="tx1"/>
                </a:solidFill>
                <a:effectLst/>
                <a:latin typeface="+mn-lt"/>
                <a:ea typeface="+mn-ea"/>
                <a:cs typeface="+mn-cs"/>
              </a:rPr>
              <a:t>OCR </a:t>
            </a:r>
            <a:r>
              <a:rPr lang="zh-CN" altLang="en-US" sz="1200" kern="1200" dirty="0">
                <a:solidFill>
                  <a:schemeClr val="tx1"/>
                </a:solidFill>
                <a:effectLst/>
                <a:latin typeface="+mn-lt"/>
                <a:ea typeface="+mn-ea"/>
                <a:cs typeface="+mn-cs"/>
              </a:rPr>
              <a:t>方法往往存在准确率低、处理速度慢的问题，难以胜任大规模文本图像的识别任务。为此，本文提出了一种基于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架构的发票识别模型</a:t>
            </a:r>
            <a:r>
              <a:rPr lang="zh-CN" alt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并在其基础上引入剪枝与量化策略，进一步优化为轻量化模型</a:t>
            </a:r>
            <a:r>
              <a:rPr lang="zh-CN" alt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该模型通过三个核心模块的整体设计，系统性地解决了海关发票识别中的三大挑战：（</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Swin-Transformer </a:t>
            </a:r>
            <a:r>
              <a:rPr lang="zh-CN" altLang="en-US" sz="1200" kern="1200" dirty="0">
                <a:solidFill>
                  <a:schemeClr val="tx1"/>
                </a:solidFill>
                <a:effectLst/>
                <a:latin typeface="+mn-lt"/>
                <a:ea typeface="+mn-ea"/>
                <a:cs typeface="+mn-cs"/>
              </a:rPr>
              <a:t>主干网络</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多级特征融合模块解决字体大小和布局多样性；（</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）多粒度预测模块应对多语言混杂；（</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L1 </a:t>
            </a:r>
            <a:r>
              <a:rPr lang="zh-CN" altLang="en-US" sz="1200" kern="1200" dirty="0">
                <a:solidFill>
                  <a:schemeClr val="tx1"/>
                </a:solidFill>
                <a:effectLst/>
                <a:latin typeface="+mn-lt"/>
                <a:ea typeface="+mn-ea"/>
                <a:cs typeface="+mn-cs"/>
              </a:rPr>
              <a:t>非结构化剪枝</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量化感知训练满足高并发需求。</a:t>
            </a:r>
            <a:endParaRPr lang="zh-CN" altLang="en-US" sz="1200" kern="1200" dirty="0">
              <a:solidFill>
                <a:schemeClr val="tx1"/>
              </a:solidFill>
              <a:effectLst/>
              <a:latin typeface="+mn-lt"/>
              <a:ea typeface="+mn-ea"/>
              <a:cs typeface="+mn-cs"/>
            </a:endParaRP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我们有针对性地选择了 </a:t>
            </a:r>
            <a:r>
              <a:rPr lang="en-GB" altLang="zh-CN" sz="1200" kern="1200" dirty="0">
                <a:solidFill>
                  <a:schemeClr val="tx1"/>
                </a:solidFill>
                <a:effectLst/>
                <a:latin typeface="+mn-lt"/>
                <a:ea typeface="+mn-ea"/>
                <a:cs typeface="+mn-cs"/>
              </a:rPr>
              <a:t>Swin Transformer </a:t>
            </a:r>
            <a:r>
              <a:rPr lang="zh-CN" altLang="en-US" sz="1200" kern="1200" dirty="0">
                <a:solidFill>
                  <a:schemeClr val="tx1"/>
                </a:solidFill>
                <a:effectLst/>
                <a:latin typeface="+mn-lt"/>
                <a:ea typeface="+mn-ea"/>
                <a:cs typeface="+mn-cs"/>
              </a:rPr>
              <a:t>主干网络作为特征提取主干结构。该网络采用层次化设计，通过逐层下采样与特征聚合，自底向上提取多尺度的视觉信息。同时，其引入的基于滑动窗口的多头注意力，能够兼顾局部建模效率与全局上下文感知能力，尤其适合处理布局多样、细节丰富的海关发票图像。</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实验结果表明，这种特征提取方式提高了模型对不同排版风格和文本样式的适应性，增强了识别过程的鲁棒性。这个图展示采用该模型的海关发票识别结果的一个样例。</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D18717E-F74C-4246-A795-6577BEDC8382}"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grpSp>
        <p:nvGrpSpPr>
          <p:cNvPr id="4" name="组合 3"/>
          <p:cNvGrpSpPr/>
          <p:nvPr userDrawn="1"/>
        </p:nvGrpSpPr>
        <p:grpSpPr>
          <a:xfrm>
            <a:off x="599226" y="1732459"/>
            <a:ext cx="10993549" cy="1907212"/>
            <a:chOff x="599225" y="1732459"/>
            <a:chExt cx="10993549" cy="1907212"/>
          </a:xfrm>
        </p:grpSpPr>
        <p:sp>
          <p:nvSpPr>
            <p:cNvPr id="22" name="矩形 21"/>
            <p:cNvSpPr/>
            <p:nvPr userDrawn="1"/>
          </p:nvSpPr>
          <p:spPr>
            <a:xfrm>
              <a:off x="599225" y="1736370"/>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userDrawn="1"/>
          </p:nvSpPr>
          <p:spPr>
            <a:xfrm>
              <a:off x="599225" y="1732459"/>
              <a:ext cx="489346" cy="792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13" name="Subtitle 2"/>
          <p:cNvSpPr>
            <a:spLocks noGrp="1"/>
          </p:cNvSpPr>
          <p:nvPr>
            <p:ph type="subTitle" idx="1"/>
          </p:nvPr>
        </p:nvSpPr>
        <p:spPr>
          <a:xfrm>
            <a:off x="1221831" y="3819054"/>
            <a:ext cx="974833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dirty="0"/>
          </a:p>
        </p:txBody>
      </p:sp>
      <p:sp>
        <p:nvSpPr>
          <p:cNvPr id="7" name="灯片编号占位符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6" name="标题 5"/>
          <p:cNvSpPr>
            <a:spLocks noGrp="1"/>
          </p:cNvSpPr>
          <p:nvPr>
            <p:ph type="title"/>
          </p:nvPr>
        </p:nvSpPr>
        <p:spPr>
          <a:xfrm>
            <a:off x="1221831" y="2028083"/>
            <a:ext cx="9748800" cy="1317600"/>
          </a:xfrm>
        </p:spPr>
        <p:txBody>
          <a:bodyPr>
            <a:normAutofit/>
          </a:bodyPr>
          <a:lstStyle>
            <a:lvl1pPr algn="ctr">
              <a:defRPr sz="4000"/>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377" y="2180498"/>
            <a:ext cx="10521387" cy="3678303"/>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0" name="标题 9"/>
          <p:cNvSpPr>
            <a:spLocks noGrp="1"/>
          </p:cNvSpPr>
          <p:nvPr>
            <p:ph type="title"/>
          </p:nvPr>
        </p:nvSpPr>
        <p:spPr/>
        <p:txBody>
          <a:bodyPr/>
          <a:lstStyle/>
          <a:p>
            <a:r>
              <a:rPr kumimoji="1" lang="zh-CN" altLang="en-US" dirty="0"/>
              <a:t>单击此处编辑母版标题样式</a:t>
            </a:r>
            <a:endParaRPr kumimoji="1" lang="zh-CN" altLang="en-US" dirty="0"/>
          </a:p>
        </p:txBody>
      </p:sp>
      <p:sp>
        <p:nvSpPr>
          <p:cNvPr id="11" name="日期占位符 10"/>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12" name="页脚占位符 11"/>
          <p:cNvSpPr>
            <a:spLocks noGrp="1"/>
          </p:cNvSpPr>
          <p:nvPr>
            <p:ph type="ftr" sz="quarter" idx="11"/>
          </p:nvPr>
        </p:nvSpPr>
        <p:spPr/>
        <p:txBody>
          <a:bodyPr/>
          <a:lstStyle/>
          <a:p>
            <a:endParaRPr kumimoji="1" lang="zh-CN" altLang="en-US" dirty="0"/>
          </a:p>
        </p:txBody>
      </p:sp>
      <p:sp>
        <p:nvSpPr>
          <p:cNvPr id="13" name="灯片编号占位符 12"/>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Content Placeholder 2"/>
          <p:cNvSpPr>
            <a:spLocks noGrp="1"/>
          </p:cNvSpPr>
          <p:nvPr>
            <p:ph idx="1"/>
          </p:nvPr>
        </p:nvSpPr>
        <p:spPr>
          <a:xfrm>
            <a:off x="1687285" y="2329543"/>
            <a:ext cx="9923523" cy="3391101"/>
          </a:xfrm>
        </p:spPr>
        <p:txBody>
          <a:bodyPr anchor="t">
            <a:normAutofit/>
          </a:bodyPr>
          <a:lstStyle>
            <a:lvl1pPr algn="l">
              <a:defRPr sz="2800"/>
            </a:lvl1pPr>
            <a:lvl2pPr algn="l">
              <a:defRPr sz="2400"/>
            </a:lvl2pPr>
            <a:lvl3pPr algn="l">
              <a:defRPr sz="2000"/>
            </a:lvl3pPr>
            <a:lvl4pPr algn="l">
              <a:defRPr sz="1800"/>
            </a:lvl4pPr>
            <a:lvl5pPr algn="l">
              <a:defRPr sz="1800"/>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13" name="Date Placeholder 3"/>
          <p:cNvSpPr>
            <a:spLocks noGrp="1"/>
          </p:cNvSpPr>
          <p:nvPr>
            <p:ph type="dt" sz="half" idx="10"/>
          </p:nvPr>
        </p:nvSpPr>
        <p:spPr>
          <a:xfrm>
            <a:off x="7605951" y="5597317"/>
            <a:ext cx="2844799" cy="365125"/>
          </a:xfrm>
        </p:spPr>
        <p:txBody>
          <a:bodyPr/>
          <a:lstStyle/>
          <a:p>
            <a:fld id="{E4551058-E5DB-324A-A8E9-6D3BEF243C3B}" type="datetimeFigureOut">
              <a:rPr kumimoji="1" lang="zh-CN" altLang="en-US" smtClean="0"/>
            </a:fld>
            <a:endParaRPr kumimoji="1" lang="zh-CN" altLang="en-US"/>
          </a:p>
        </p:txBody>
      </p:sp>
      <p:sp>
        <p:nvSpPr>
          <p:cNvPr id="16" name="Footer Placeholder 4"/>
          <p:cNvSpPr>
            <a:spLocks noGrp="1"/>
          </p:cNvSpPr>
          <p:nvPr>
            <p:ph type="ftr" sz="quarter" idx="11"/>
          </p:nvPr>
        </p:nvSpPr>
        <p:spPr>
          <a:xfrm>
            <a:off x="1687285" y="5592991"/>
            <a:ext cx="5811116" cy="365125"/>
          </a:xfrm>
        </p:spPr>
        <p:txBody>
          <a:bodyPr/>
          <a:lstStyle/>
          <a:p>
            <a:endParaRPr kumimoji="1" lang="zh-CN" altLang="en-US" dirty="0"/>
          </a:p>
        </p:txBody>
      </p:sp>
      <p:sp>
        <p:nvSpPr>
          <p:cNvPr id="17" name="Slide Number Placeholder 5"/>
          <p:cNvSpPr>
            <a:spLocks noGrp="1"/>
          </p:cNvSpPr>
          <p:nvPr>
            <p:ph type="sldNum" sz="quarter" idx="12"/>
          </p:nvPr>
        </p:nvSpPr>
        <p:spPr>
          <a:xfrm>
            <a:off x="10558300" y="5597317"/>
            <a:ext cx="1052508" cy="365125"/>
          </a:xfrm>
        </p:spPr>
        <p:txBody>
          <a:bodyPr/>
          <a:lstStyle/>
          <a:p>
            <a:fld id="{977BA8E6-E826-B147-AA17-E3D76A29629C}" type="slidenum">
              <a:rPr kumimoji="1" lang="zh-CN" altLang="en-US" smtClean="0"/>
            </a:fld>
            <a:endParaRPr kumimoji="1" lang="zh-CN" altLang="en-US"/>
          </a:p>
        </p:txBody>
      </p:sp>
      <p:sp>
        <p:nvSpPr>
          <p:cNvPr id="18" name="Title 1"/>
          <p:cNvSpPr>
            <a:spLocks noGrp="1"/>
          </p:cNvSpPr>
          <p:nvPr>
            <p:ph type="title"/>
          </p:nvPr>
        </p:nvSpPr>
        <p:spPr>
          <a:xfrm>
            <a:off x="1687285" y="865998"/>
            <a:ext cx="9923522" cy="1351451"/>
          </a:xfrm>
          <a:prstGeom prst="rect">
            <a:avLst/>
          </a:prstGeom>
        </p:spPr>
        <p:txBody>
          <a:bodyPr anchor="ctr">
            <a:normAutofit/>
          </a:bodyPr>
          <a:lstStyle>
            <a:lvl1pPr algn="l">
              <a:defRPr sz="3200"/>
            </a:lvl1pPr>
          </a:lstStyle>
          <a:p>
            <a:r>
              <a:rPr lang="zh-CN" altLang="en-US" dirty="0"/>
              <a:t>单击此处编辑母版标题样式</a:t>
            </a:r>
            <a:endParaRPr lang="en-US" dirty="0"/>
          </a:p>
        </p:txBody>
      </p:sp>
      <p:sp>
        <p:nvSpPr>
          <p:cNvPr id="21" name="Rectangle 8"/>
          <p:cNvSpPr/>
          <p:nvPr userDrawn="1"/>
        </p:nvSpPr>
        <p:spPr>
          <a:xfrm>
            <a:off x="695915" y="678673"/>
            <a:ext cx="360000" cy="583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矩形 11"/>
          <p:cNvSpPr/>
          <p:nvPr userDrawn="1"/>
        </p:nvSpPr>
        <p:spPr>
          <a:xfrm>
            <a:off x="695915" y="1261873"/>
            <a:ext cx="360000" cy="49174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grpSp>
        <p:nvGrpSpPr>
          <p:cNvPr id="9" name="组合 8"/>
          <p:cNvGrpSpPr/>
          <p:nvPr userDrawn="1"/>
        </p:nvGrpSpPr>
        <p:grpSpPr>
          <a:xfrm>
            <a:off x="599225" y="1736370"/>
            <a:ext cx="10993549" cy="1903301"/>
            <a:chOff x="599225" y="1921565"/>
            <a:chExt cx="10993549" cy="1903301"/>
          </a:xfrm>
        </p:grpSpPr>
        <p:sp>
          <p:nvSpPr>
            <p:cNvPr id="10" name="矩形 9"/>
            <p:cNvSpPr/>
            <p:nvPr userDrawn="1"/>
          </p:nvSpPr>
          <p:spPr>
            <a:xfrm>
              <a:off x="599225" y="1921565"/>
              <a:ext cx="10993549" cy="19033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userDrawn="1"/>
          </p:nvSpPr>
          <p:spPr>
            <a:xfrm>
              <a:off x="599227" y="1921566"/>
              <a:ext cx="192900" cy="1903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7" name="日期占位符 10"/>
          <p:cNvSpPr>
            <a:spLocks noGrp="1"/>
          </p:cNvSpPr>
          <p:nvPr>
            <p:ph type="dt" sz="half" idx="10"/>
          </p:nvPr>
        </p:nvSpPr>
        <p:spPr>
          <a:xfrm>
            <a:off x="7523545" y="5597323"/>
            <a:ext cx="2523280" cy="365125"/>
          </a:xfrm>
        </p:spPr>
        <p:txBody>
          <a:bodyPr/>
          <a:lstStyle/>
          <a:p>
            <a:fld id="{E4551058-E5DB-324A-A8E9-6D3BEF243C3B}" type="datetimeFigureOut">
              <a:rPr kumimoji="1" lang="zh-CN" altLang="en-US" smtClean="0"/>
            </a:fld>
            <a:endParaRPr kumimoji="1" lang="zh-CN" altLang="en-US"/>
          </a:p>
        </p:txBody>
      </p:sp>
      <p:sp>
        <p:nvSpPr>
          <p:cNvPr id="28" name="页脚占位符 11"/>
          <p:cNvSpPr>
            <a:spLocks noGrp="1"/>
          </p:cNvSpPr>
          <p:nvPr>
            <p:ph type="ftr" sz="quarter" idx="11"/>
          </p:nvPr>
        </p:nvSpPr>
        <p:spPr>
          <a:xfrm>
            <a:off x="833377" y="5592997"/>
            <a:ext cx="6585500" cy="365125"/>
          </a:xfrm>
        </p:spPr>
        <p:txBody>
          <a:bodyPr/>
          <a:lstStyle/>
          <a:p>
            <a:endParaRPr kumimoji="1" lang="zh-CN" altLang="en-US" dirty="0"/>
          </a:p>
        </p:txBody>
      </p:sp>
      <p:sp>
        <p:nvSpPr>
          <p:cNvPr id="29" name="灯片编号占位符 12"/>
          <p:cNvSpPr>
            <a:spLocks noGrp="1"/>
          </p:cNvSpPr>
          <p:nvPr>
            <p:ph type="sldNum" sz="quarter" idx="12"/>
          </p:nvPr>
        </p:nvSpPr>
        <p:spPr>
          <a:xfrm>
            <a:off x="10151493" y="5597323"/>
            <a:ext cx="1203271" cy="365125"/>
          </a:xfrm>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a:xfrm>
            <a:off x="963167" y="2022534"/>
            <a:ext cx="10267200" cy="1382400"/>
          </a:xfrm>
        </p:spPr>
        <p:txBody>
          <a:bodyPr>
            <a:normAutofit/>
          </a:bodyPr>
          <a:lstStyle>
            <a:lvl1pPr>
              <a:defRPr sz="3600"/>
            </a:lvl1pPr>
          </a:lstStyle>
          <a:p>
            <a:r>
              <a:rPr kumimoji="1" lang="zh-CN" altLang="en-US" dirty="0"/>
              <a:t>单击此处编辑母版标题样式</a:t>
            </a:r>
            <a:endParaRPr kumimoji="1" lang="zh-CN" altLang="en-US" dirty="0"/>
          </a:p>
        </p:txBody>
      </p:sp>
      <p:sp>
        <p:nvSpPr>
          <p:cNvPr id="14" name="Subtitle 2"/>
          <p:cNvSpPr>
            <a:spLocks noGrp="1"/>
          </p:cNvSpPr>
          <p:nvPr>
            <p:ph type="subTitle" idx="1"/>
          </p:nvPr>
        </p:nvSpPr>
        <p:spPr>
          <a:xfrm>
            <a:off x="963167" y="3819054"/>
            <a:ext cx="10265664" cy="1340999"/>
          </a:xfrm>
        </p:spPr>
        <p:txBody>
          <a:bodyPr anchor="t">
            <a:normAutofit/>
          </a:bodyPr>
          <a:lstStyle>
            <a:lvl1pPr marL="0" indent="0" algn="l">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rgbClr val="66087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rgbClr val="66087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0" name="Rectangle 7"/>
          <p:cNvSpPr>
            <a:spLocks noChangeAspect="1"/>
          </p:cNvSpPr>
          <p:nvPr userDrawn="1"/>
        </p:nvSpPr>
        <p:spPr>
          <a:xfrm>
            <a:off x="447816" y="4914808"/>
            <a:ext cx="385561" cy="1032227"/>
          </a:xfrm>
          <a:prstGeom prst="rect">
            <a:avLst/>
          </a:prstGeom>
          <a:solidFill>
            <a:srgbClr val="660874"/>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21463" y="4928762"/>
            <a:ext cx="10333301" cy="653148"/>
          </a:xfrm>
          <a:prstGeom prst="rect">
            <a:avLst/>
          </a:prstGeom>
        </p:spPr>
        <p:txBody>
          <a:bodyPr anchor="ctr">
            <a:normAutofit/>
          </a:bodyPr>
          <a:lstStyle>
            <a:lvl1pPr algn="l">
              <a:defRPr sz="2400" b="0">
                <a:solidFill>
                  <a:srgbClr val="660874"/>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Text Placeholder 3"/>
          <p:cNvSpPr>
            <a:spLocks noGrp="1"/>
          </p:cNvSpPr>
          <p:nvPr>
            <p:ph type="body" sz="half" idx="2"/>
          </p:nvPr>
        </p:nvSpPr>
        <p:spPr>
          <a:xfrm>
            <a:off x="1021463" y="5581910"/>
            <a:ext cx="10333301" cy="365126"/>
          </a:xfrm>
        </p:spPr>
        <p:txBody>
          <a:bodyPr anchor="ctr">
            <a:normAutofit/>
          </a:bodyPr>
          <a:lstStyle>
            <a:lvl1pPr marL="0" indent="0" algn="l">
              <a:buNone/>
              <a:defRPr sz="1600">
                <a:solidFill>
                  <a:srgbClr val="660874"/>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endParaRPr lang="zh-CN" altLang="en-US" dirty="0"/>
          </a:p>
        </p:txBody>
      </p:sp>
      <p:sp>
        <p:nvSpPr>
          <p:cNvPr id="8" name="日期占位符 7"/>
          <p:cNvSpPr>
            <a:spLocks noGrp="1"/>
          </p:cNvSpPr>
          <p:nvPr>
            <p:ph type="dt" sz="half" idx="10"/>
          </p:nvPr>
        </p:nvSpPr>
        <p:spPr>
          <a:xfrm>
            <a:off x="7523545" y="6088813"/>
            <a:ext cx="2523280" cy="365125"/>
          </a:xfrm>
        </p:spPr>
        <p:txBody>
          <a:bodyPr/>
          <a:lstStyle/>
          <a:p>
            <a:fld id="{E4551058-E5DB-324A-A8E9-6D3BEF243C3B}" type="datetimeFigureOut">
              <a:rPr kumimoji="1" lang="zh-CN" altLang="en-US" smtClean="0"/>
            </a:fld>
            <a:endParaRPr kumimoji="1" lang="zh-CN" altLang="en-US"/>
          </a:p>
        </p:txBody>
      </p:sp>
      <p:sp>
        <p:nvSpPr>
          <p:cNvPr id="9" name="页脚占位符 8"/>
          <p:cNvSpPr>
            <a:spLocks noGrp="1"/>
          </p:cNvSpPr>
          <p:nvPr>
            <p:ph type="ftr" sz="quarter" idx="11"/>
          </p:nvPr>
        </p:nvSpPr>
        <p:spPr>
          <a:xfrm>
            <a:off x="833377" y="6084487"/>
            <a:ext cx="6585500" cy="365125"/>
          </a:xfrm>
        </p:spPr>
        <p:txBody>
          <a:bodyPr/>
          <a:lstStyle/>
          <a:p>
            <a:endParaRPr kumimoji="1" lang="zh-CN" altLang="en-US" dirty="0"/>
          </a:p>
        </p:txBody>
      </p:sp>
      <p:sp>
        <p:nvSpPr>
          <p:cNvPr id="11" name="灯片编号占位符 10"/>
          <p:cNvSpPr>
            <a:spLocks noGrp="1"/>
          </p:cNvSpPr>
          <p:nvPr>
            <p:ph type="sldNum" sz="quarter" idx="12"/>
          </p:nvPr>
        </p:nvSpPr>
        <p:spPr>
          <a:xfrm>
            <a:off x="10151493" y="6088813"/>
            <a:ext cx="1203271" cy="365125"/>
          </a:xfrm>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395677"/>
            <a:ext cx="11029616" cy="566738"/>
          </a:xfrm>
          <a:prstGeom prst="rect">
            <a:avLst/>
          </a:prstGeom>
        </p:spPr>
        <p:txBody>
          <a:bodyPr anchor="b">
            <a:normAutofit/>
          </a:bodyPr>
          <a:lstStyle>
            <a:lvl1pPr algn="l">
              <a:defRPr sz="2400" b="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4962417"/>
            <a:ext cx="11029617" cy="5986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endParaRPr lang="zh-CN" alt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竖排标题与文本">
    <p:spTree>
      <p:nvGrpSpPr>
        <p:cNvPr id="1" name=""/>
        <p:cNvGrpSpPr/>
        <p:nvPr/>
      </p:nvGrpSpPr>
      <p:grpSpPr>
        <a:xfrm>
          <a:off x="0" y="0"/>
          <a:ext cx="0" cy="0"/>
          <a:chOff x="0" y="0"/>
          <a:chExt cx="0" cy="0"/>
        </a:xfrm>
      </p:grpSpPr>
      <p:sp>
        <p:nvSpPr>
          <p:cNvPr id="10" name="Rectangle 6"/>
          <p:cNvSpPr>
            <a:spLocks noChangeAspect="1"/>
          </p:cNvSpPr>
          <p:nvPr userDrawn="1"/>
        </p:nvSpPr>
        <p:spPr>
          <a:xfrm>
            <a:off x="8884030" y="675726"/>
            <a:ext cx="88976" cy="7918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p:cNvSpPr>
            <a:spLocks noGrp="1"/>
          </p:cNvSpPr>
          <p:nvPr>
            <p:ph type="title" orient="vert"/>
          </p:nvPr>
        </p:nvSpPr>
        <p:spPr>
          <a:xfrm>
            <a:off x="9169649" y="675726"/>
            <a:ext cx="1899496" cy="5183073"/>
          </a:xfrm>
          <a:prstGeom prst="rect">
            <a:avLst/>
          </a:prstGeom>
        </p:spPr>
        <p:txBody>
          <a:bodyPr vert="eaVert" anchor="b"/>
          <a:lstStyle/>
          <a:p>
            <a:r>
              <a:rPr lang="zh-CN" altLang="en-US" dirty="0"/>
              <a:t>单击此处编辑母版标题样式</a:t>
            </a:r>
            <a:endParaRPr lang="en-US" dirty="0"/>
          </a:p>
        </p:txBody>
      </p:sp>
      <p:sp>
        <p:nvSpPr>
          <p:cNvPr id="12" name="Vertical Text Placeholder 2"/>
          <p:cNvSpPr>
            <a:spLocks noGrp="1"/>
          </p:cNvSpPr>
          <p:nvPr>
            <p:ph type="body" orient="vert" idx="1"/>
          </p:nvPr>
        </p:nvSpPr>
        <p:spPr>
          <a:xfrm>
            <a:off x="774923" y="675726"/>
            <a:ext cx="7791611"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2" name="日期占位符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矩形 8"/>
          <p:cNvSpPr/>
          <p:nvPr userDrawn="1"/>
        </p:nvSpPr>
        <p:spPr>
          <a:xfrm>
            <a:off x="586670" y="654624"/>
            <a:ext cx="82800" cy="89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占位符 6"/>
          <p:cNvSpPr>
            <a:spLocks noGrp="1"/>
          </p:cNvSpPr>
          <p:nvPr>
            <p:ph type="title"/>
          </p:nvPr>
        </p:nvSpPr>
        <p:spPr>
          <a:xfrm>
            <a:off x="835306" y="593424"/>
            <a:ext cx="10521388" cy="1015200"/>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Text Placeholder 2"/>
          <p:cNvSpPr>
            <a:spLocks noGrp="1"/>
          </p:cNvSpPr>
          <p:nvPr>
            <p:ph type="body" idx="1"/>
          </p:nvPr>
        </p:nvSpPr>
        <p:spPr>
          <a:xfrm>
            <a:off x="833376" y="2336003"/>
            <a:ext cx="10521388" cy="3154894"/>
          </a:xfrm>
          <a:prstGeom prst="rect">
            <a:avLst/>
          </a:prstGeom>
        </p:spPr>
        <p:txBody>
          <a:bodyPr vert="horz" lIns="91440" tIns="45720" rIns="91440" bIns="45720" rtlCol="0"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7523545" y="5597323"/>
            <a:ext cx="2523280"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3"/>
          </p:nvPr>
        </p:nvSpPr>
        <p:spPr>
          <a:xfrm>
            <a:off x="833377" y="5592997"/>
            <a:ext cx="6585500"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dirty="0"/>
          </a:p>
        </p:txBody>
      </p:sp>
      <p:sp>
        <p:nvSpPr>
          <p:cNvPr id="6" name="Slide Number Placeholder 5"/>
          <p:cNvSpPr>
            <a:spLocks noGrp="1"/>
          </p:cNvSpPr>
          <p:nvPr>
            <p:ph type="sldNum" sz="quarter" idx="4"/>
          </p:nvPr>
        </p:nvSpPr>
        <p:spPr>
          <a:xfrm>
            <a:off x="10151493" y="5597323"/>
            <a:ext cx="120327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rgbClr val="660874"/>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6.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6.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6.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6.xml"/><Relationship Id="rId2" Type="http://schemas.openxmlformats.org/officeDocument/2006/relationships/image" Target="../media/image50.png"/><Relationship Id="rId1" Type="http://schemas.openxmlformats.org/officeDocument/2006/relationships/image" Target="../media/image49.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6.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stretch>
            <a:fillRect/>
          </a:stretch>
        </p:blipFill>
        <p:spPr>
          <a:xfrm>
            <a:off x="4057015" y="1062355"/>
            <a:ext cx="3997325" cy="36087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221831" y="3819054"/>
            <a:ext cx="9748337" cy="1340999"/>
          </a:xfrm>
        </p:spPr>
        <p:txBody>
          <a:bodyPr>
            <a:normAutofit/>
          </a:bodyPr>
          <a:lstStyle/>
          <a:p>
            <a:r>
              <a:rPr lang="zh-CN" dirty="0"/>
              <a:t>叶博豪</a:t>
            </a:r>
            <a:endParaRPr lang="zh-CN" dirty="0"/>
          </a:p>
          <a:p>
            <a:endParaRPr lang="zh-CN" altLang="en-US" dirty="0"/>
          </a:p>
        </p:txBody>
      </p:sp>
      <p:sp>
        <p:nvSpPr>
          <p:cNvPr id="2" name="标题 1"/>
          <p:cNvSpPr>
            <a:spLocks noGrp="1"/>
          </p:cNvSpPr>
          <p:nvPr>
            <p:ph type="title"/>
          </p:nvPr>
        </p:nvSpPr>
        <p:spPr>
          <a:xfrm>
            <a:off x="1221831" y="2028083"/>
            <a:ext cx="9748800" cy="1317600"/>
          </a:xfrm>
        </p:spPr>
        <p:txBody>
          <a:bodyPr>
            <a:normAutofit/>
          </a:bodyPr>
          <a:lstStyle/>
          <a:p>
            <a:r>
              <a:rPr lang="zh-CN" dirty="0"/>
              <a:t>计组习题分享</a:t>
            </a:r>
            <a:endParaRPr 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69340" y="893445"/>
            <a:ext cx="9643745" cy="5631180"/>
          </a:xfrm>
          <a:prstGeom prst="rect">
            <a:avLst/>
          </a:prstGeom>
          <a:noFill/>
        </p:spPr>
        <p:txBody>
          <a:bodyPr wrap="square" rtlCol="0">
            <a:spAutoFit/>
          </a:bodyPr>
          <a:p>
            <a:r>
              <a:rPr lang="zh-CN" altLang="en-US"/>
              <a:t>习题回忆：（除去常见必考知识点）</a:t>
            </a:r>
            <a:r>
              <a:rPr lang="en-US" altLang="zh-CN"/>
              <a:t>   </a:t>
            </a:r>
            <a:endParaRPr lang="en-US" altLang="zh-CN"/>
          </a:p>
          <a:p>
            <a:endParaRPr lang="zh-CN" altLang="en-US"/>
          </a:p>
          <a:p>
            <a:r>
              <a:rPr lang="en-US" altLang="zh-CN"/>
              <a:t>1.</a:t>
            </a:r>
            <a:r>
              <a:rPr lang="zh-CN" altLang="en-US"/>
              <a:t>加速比</a:t>
            </a:r>
            <a:endParaRPr lang="zh-CN" altLang="en-US"/>
          </a:p>
          <a:p>
            <a:endParaRPr lang="zh-CN" altLang="en-US"/>
          </a:p>
          <a:p>
            <a:r>
              <a:rPr lang="en-US" altLang="zh-CN"/>
              <a:t>2.</a:t>
            </a:r>
            <a:r>
              <a:rPr lang="zh-CN" altLang="en-US"/>
              <a:t>写汇编代码</a:t>
            </a:r>
            <a:endParaRPr lang="zh-CN" altLang="en-US"/>
          </a:p>
          <a:p>
            <a:endParaRPr lang="zh-CN" altLang="en-US"/>
          </a:p>
          <a:p>
            <a:r>
              <a:rPr lang="en-US" altLang="zh-CN"/>
              <a:t>3.</a:t>
            </a:r>
            <a:r>
              <a:rPr lang="zh-CN" altLang="en-US"/>
              <a:t>除法流程</a:t>
            </a:r>
            <a:endParaRPr lang="zh-CN" altLang="en-US"/>
          </a:p>
          <a:p>
            <a:endParaRPr lang="zh-CN" altLang="en-US"/>
          </a:p>
          <a:p>
            <a:r>
              <a:rPr lang="en-US" altLang="zh-CN"/>
              <a:t>4. </a:t>
            </a:r>
            <a:r>
              <a:rPr lang="zh-CN" altLang="en-US"/>
              <a:t>数据冒险算面积</a:t>
            </a:r>
            <a:endParaRPr lang="zh-CN" altLang="en-US"/>
          </a:p>
          <a:p>
            <a:endParaRPr lang="zh-CN" altLang="en-US"/>
          </a:p>
          <a:p>
            <a:r>
              <a:rPr lang="en-US" altLang="zh-CN"/>
              <a:t>5. </a:t>
            </a:r>
            <a:r>
              <a:rPr lang="zh-CN" altLang="en-US"/>
              <a:t>分支预测技术</a:t>
            </a:r>
            <a:r>
              <a:rPr lang="en-US" altLang="zh-CN"/>
              <a:t>-</a:t>
            </a:r>
            <a:r>
              <a:rPr lang="zh-CN" altLang="en-US"/>
              <a:t>双模态触发器</a:t>
            </a:r>
            <a:endParaRPr lang="zh-CN" altLang="en-US"/>
          </a:p>
          <a:p>
            <a:endParaRPr lang="zh-CN" altLang="en-US"/>
          </a:p>
          <a:p>
            <a:endParaRPr lang="zh-CN" altLang="en-US"/>
          </a:p>
          <a:p>
            <a:endParaRPr lang="zh-CN" altLang="en-US"/>
          </a:p>
          <a:p>
            <a:endParaRPr lang="zh-CN" altLang="en-US"/>
          </a:p>
          <a:p>
            <a:endParaRPr lang="zh-CN" altLang="en-US"/>
          </a:p>
          <a:p>
            <a:r>
              <a:rPr lang="en-US" altLang="zh-CN">
                <a:sym typeface="+mn-ea"/>
              </a:rPr>
              <a:t> </a:t>
            </a:r>
            <a:r>
              <a:rPr lang="zh-CN" altLang="en-US">
                <a:sym typeface="+mn-ea"/>
              </a:rPr>
              <a:t>个人认为整体难度挺高的（算最拉差距的一门课），本来这门课就比较晦涩抽象</a:t>
            </a:r>
            <a:r>
              <a:rPr lang="en-US" altLang="zh-CN">
                <a:sym typeface="+mn-ea"/>
              </a:rPr>
              <a:t>+</a:t>
            </a:r>
            <a:r>
              <a:rPr lang="zh-CN" altLang="en-US">
                <a:sym typeface="+mn-ea"/>
              </a:rPr>
              <a:t>英文</a:t>
            </a:r>
            <a:r>
              <a:rPr lang="en-US" altLang="zh-CN">
                <a:sym typeface="+mn-ea"/>
              </a:rPr>
              <a:t>ppt</a:t>
            </a:r>
            <a:r>
              <a:rPr lang="zh-CN" altLang="en-US">
                <a:sym typeface="+mn-ea"/>
              </a:rPr>
              <a:t>看不懂，个人认为应该还是多去看网课（翼云图灵</a:t>
            </a:r>
            <a:r>
              <a:rPr lang="en-US" altLang="zh-CN">
                <a:sym typeface="+mn-ea"/>
              </a:rPr>
              <a:t>+</a:t>
            </a:r>
            <a:r>
              <a:rPr lang="zh-CN" altLang="en-US">
                <a:sym typeface="+mn-ea"/>
              </a:rPr>
              <a:t>多做例题多面向考试），推荐翼云图灵配套的习题课，能消化掉足够应对期末考试，主要是要理解做题的原理和方法。</a:t>
            </a:r>
            <a:endParaRPr lang="zh-CN" altLang="en-US"/>
          </a:p>
          <a:p>
            <a:endParaRPr lang="zh-CN" altLang="en-US"/>
          </a:p>
        </p:txBody>
      </p:sp>
      <p:pic>
        <p:nvPicPr>
          <p:cNvPr id="4" name="图片 3"/>
          <p:cNvPicPr>
            <a:picLocks noChangeAspect="1"/>
          </p:cNvPicPr>
          <p:nvPr/>
        </p:nvPicPr>
        <p:blipFill>
          <a:blip r:embed="rId1"/>
          <a:stretch>
            <a:fillRect/>
          </a:stretch>
        </p:blipFill>
        <p:spPr>
          <a:xfrm>
            <a:off x="8279130" y="291465"/>
            <a:ext cx="2809875" cy="790575"/>
          </a:xfrm>
          <a:prstGeom prst="rect">
            <a:avLst/>
          </a:prstGeom>
        </p:spPr>
      </p:pic>
      <p:pic>
        <p:nvPicPr>
          <p:cNvPr id="5" name="图片 4"/>
          <p:cNvPicPr>
            <a:picLocks noChangeAspect="1"/>
          </p:cNvPicPr>
          <p:nvPr/>
        </p:nvPicPr>
        <p:blipFill>
          <a:blip r:embed="rId2"/>
          <a:stretch>
            <a:fillRect/>
          </a:stretch>
        </p:blipFill>
        <p:spPr>
          <a:xfrm>
            <a:off x="8279130" y="1082040"/>
            <a:ext cx="2508250" cy="398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818630" y="3816350"/>
            <a:ext cx="4737100" cy="1066800"/>
          </a:xfrm>
          <a:prstGeom prst="rect">
            <a:avLst/>
          </a:prstGeom>
        </p:spPr>
      </p:pic>
      <p:sp>
        <p:nvSpPr>
          <p:cNvPr id="3" name="文本框 2"/>
          <p:cNvSpPr txBox="1"/>
          <p:nvPr/>
        </p:nvSpPr>
        <p:spPr>
          <a:xfrm>
            <a:off x="1118870" y="1937385"/>
            <a:ext cx="7276465" cy="460375"/>
          </a:xfrm>
          <a:prstGeom prst="rect">
            <a:avLst/>
          </a:prstGeom>
          <a:noFill/>
        </p:spPr>
        <p:txBody>
          <a:bodyPr wrap="square" rtlCol="0" anchor="t">
            <a:spAutoFit/>
          </a:bodyPr>
          <a:p>
            <a:r>
              <a:rPr lang="zh-CN" altLang="en-US" sz="2400" b="1" dirty="0">
                <a:solidFill>
                  <a:srgbClr val="000000"/>
                </a:solidFill>
                <a:latin typeface="微软雅黑" panose="020B0503020204020204" charset="-122"/>
                <a:sym typeface="+mn-ea"/>
              </a:rPr>
              <a:t>强烈推荐的</a:t>
            </a:r>
            <a:r>
              <a:rPr lang="en-US" altLang="zh-CN" sz="2400" b="1" dirty="0">
                <a:solidFill>
                  <a:srgbClr val="000000"/>
                </a:solidFill>
                <a:latin typeface="微软雅黑" panose="020B0503020204020204" charset="-122"/>
                <a:sym typeface="+mn-ea"/>
              </a:rPr>
              <a:t>UP</a:t>
            </a:r>
            <a:r>
              <a:rPr lang="zh-CN" altLang="en-US" sz="2400" b="1" dirty="0">
                <a:solidFill>
                  <a:srgbClr val="000000"/>
                </a:solidFill>
                <a:latin typeface="微软雅黑" panose="020B0503020204020204" charset="-122"/>
                <a:sym typeface="+mn-ea"/>
              </a:rPr>
              <a:t>：</a:t>
            </a:r>
            <a:r>
              <a:rPr lang="en-US" altLang="zh-CN" sz="2400" b="1" dirty="0">
                <a:solidFill>
                  <a:srgbClr val="000000"/>
                </a:solidFill>
                <a:latin typeface="微软雅黑" panose="020B0503020204020204" charset="-122"/>
                <a:sym typeface="+mn-ea"/>
              </a:rPr>
              <a:t>B</a:t>
            </a:r>
            <a:r>
              <a:rPr lang="zh-CN" altLang="en-US" sz="2400" b="1" dirty="0">
                <a:solidFill>
                  <a:srgbClr val="000000"/>
                </a:solidFill>
                <a:latin typeface="微软雅黑" panose="020B0503020204020204" charset="-122"/>
                <a:sym typeface="+mn-ea"/>
              </a:rPr>
              <a:t>站考研计算机翼云（翼云图灵）</a:t>
            </a:r>
            <a:endParaRPr lang="zh-CN" altLang="en-US" sz="2400" b="1" dirty="0">
              <a:solidFill>
                <a:srgbClr val="000000"/>
              </a:solidFill>
              <a:latin typeface="微软雅黑" panose="020B0503020204020204" charset="-122"/>
              <a:sym typeface="+mn-ea"/>
            </a:endParaRPr>
          </a:p>
        </p:txBody>
      </p:sp>
      <p:pic>
        <p:nvPicPr>
          <p:cNvPr id="4" name="图片 3"/>
          <p:cNvPicPr>
            <a:picLocks noChangeAspect="1"/>
          </p:cNvPicPr>
          <p:nvPr/>
        </p:nvPicPr>
        <p:blipFill>
          <a:blip r:embed="rId2"/>
          <a:stretch>
            <a:fillRect/>
          </a:stretch>
        </p:blipFill>
        <p:spPr>
          <a:xfrm>
            <a:off x="575310" y="3007995"/>
            <a:ext cx="6022975" cy="304482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87285" y="2329543"/>
            <a:ext cx="9923523" cy="3391101"/>
          </a:xfrm>
        </p:spPr>
        <p:txBody>
          <a:bodyPr anchor="t"/>
          <a:lstStyle/>
          <a:p>
            <a:r>
              <a:rPr lang="zh-CN" altLang="en-US" dirty="0"/>
              <a:t>第一章 </a:t>
            </a:r>
            <a:endParaRPr lang="en-US" altLang="zh-CN" dirty="0"/>
          </a:p>
          <a:p>
            <a:r>
              <a:rPr lang="zh-CN" altLang="en-US" dirty="0"/>
              <a:t>第二章</a:t>
            </a:r>
            <a:endParaRPr lang="en-US" altLang="zh-CN" dirty="0"/>
          </a:p>
          <a:p>
            <a:r>
              <a:rPr lang="zh-CN" altLang="en-US" dirty="0"/>
              <a:t>第三章</a:t>
            </a:r>
            <a:endParaRPr lang="en-US" altLang="zh-CN" dirty="0"/>
          </a:p>
          <a:p>
            <a:r>
              <a:rPr lang="zh-CN" altLang="en-US" dirty="0"/>
              <a:t>第四章</a:t>
            </a:r>
            <a:endParaRPr lang="zh-CN" altLang="en-US" dirty="0"/>
          </a:p>
          <a:p>
            <a:r>
              <a:rPr lang="zh-CN" altLang="en-US" dirty="0"/>
              <a:t>第五章</a:t>
            </a:r>
            <a:endParaRPr lang="en-US" altLang="zh-CN" dirty="0"/>
          </a:p>
          <a:p>
            <a:endParaRPr lang="en-US" altLang="zh-CN" dirty="0"/>
          </a:p>
        </p:txBody>
      </p:sp>
      <p:sp>
        <p:nvSpPr>
          <p:cNvPr id="2" name="标题 1"/>
          <p:cNvSpPr>
            <a:spLocks noGrp="1"/>
          </p:cNvSpPr>
          <p:nvPr>
            <p:ph type="title"/>
          </p:nvPr>
        </p:nvSpPr>
        <p:spPr>
          <a:xfrm>
            <a:off x="1687285" y="865998"/>
            <a:ext cx="9923522" cy="1351451"/>
          </a:xfrm>
        </p:spPr>
        <p:txBody>
          <a:bodyPr/>
          <a:lstStyle/>
          <a:p>
            <a:r>
              <a:rPr lang="zh-CN" altLang="en-US" dirty="0"/>
              <a:t>目录 </a:t>
            </a:r>
            <a:r>
              <a:rPr lang="en-US" altLang="zh-CN" dirty="0"/>
              <a:t>Contents</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一、第一章</a:t>
            </a:r>
            <a:endParaRPr kumimoji="1" lang="zh-CN" altLang="en-US" dirty="0"/>
          </a:p>
        </p:txBody>
      </p:sp>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571" t="5951" r="2382"/>
          <a:stretch>
            <a:fillRect/>
          </a:stretch>
        </p:blipFill>
        <p:spPr bwMode="auto">
          <a:xfrm>
            <a:off x="1366520" y="1506220"/>
            <a:ext cx="8587740" cy="51542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755" y="1961515"/>
            <a:ext cx="4064000" cy="922020"/>
          </a:xfrm>
          <a:prstGeom prst="rect">
            <a:avLst/>
          </a:prstGeom>
          <a:noFill/>
        </p:spPr>
        <p:txBody>
          <a:bodyPr wrap="square" rtlCol="0">
            <a:spAutoFit/>
          </a:bodyPr>
          <a:p>
            <a:r>
              <a:rPr lang="zh-CN" altLang="en-US"/>
              <a:t>性能公式：</a:t>
            </a:r>
            <a:endParaRPr lang="zh-CN" altLang="en-US"/>
          </a:p>
          <a:p>
            <a:r>
              <a:rPr lang="en-US" altLang="zh-CN"/>
              <a:t>CPU</a:t>
            </a:r>
            <a:r>
              <a:rPr lang="zh-CN" altLang="en-US"/>
              <a:t>时间</a:t>
            </a:r>
            <a:r>
              <a:rPr lang="en-US" altLang="zh-CN"/>
              <a:t>=</a:t>
            </a:r>
            <a:r>
              <a:rPr lang="zh-CN" altLang="en-US"/>
              <a:t>指令数</a:t>
            </a:r>
            <a:r>
              <a:rPr lang="en-US" altLang="zh-CN"/>
              <a:t>*CPI*</a:t>
            </a:r>
            <a:r>
              <a:rPr lang="zh-CN" altLang="en-US"/>
              <a:t>时钟周期</a:t>
            </a:r>
            <a:endParaRPr lang="zh-CN" altLang="en-US"/>
          </a:p>
          <a:p>
            <a:r>
              <a:rPr lang="en-US" altLang="zh-CN"/>
              <a:t>                =</a:t>
            </a:r>
            <a:r>
              <a:rPr lang="zh-CN" altLang="en-US"/>
              <a:t>指令数</a:t>
            </a:r>
            <a:r>
              <a:rPr lang="en-US" altLang="zh-CN"/>
              <a:t>*CPI/</a:t>
            </a:r>
            <a:r>
              <a:rPr lang="zh-CN" altLang="en-US"/>
              <a:t>时钟频率</a:t>
            </a:r>
            <a:endParaRPr lang="zh-CN" altLang="en-US"/>
          </a:p>
        </p:txBody>
      </p:sp>
      <p:sp>
        <p:nvSpPr>
          <p:cNvPr id="3" name="文本框 2"/>
          <p:cNvSpPr txBox="1"/>
          <p:nvPr/>
        </p:nvSpPr>
        <p:spPr>
          <a:xfrm>
            <a:off x="5206365" y="2238375"/>
            <a:ext cx="4064000" cy="368300"/>
          </a:xfrm>
          <a:prstGeom prst="rect">
            <a:avLst/>
          </a:prstGeom>
          <a:noFill/>
        </p:spPr>
        <p:txBody>
          <a:bodyPr wrap="square" rtlCol="0">
            <a:spAutoFit/>
          </a:bodyPr>
          <a:p>
            <a:r>
              <a:rPr lang="zh-CN" altLang="en-US"/>
              <a:t>注意：</a:t>
            </a:r>
            <a:r>
              <a:rPr lang="en-US" altLang="zh-CN"/>
              <a:t>CPI</a:t>
            </a:r>
            <a:r>
              <a:rPr lang="zh-CN" altLang="en-US"/>
              <a:t>的计算方式</a:t>
            </a:r>
            <a:r>
              <a:rPr lang="en-US" altLang="zh-CN"/>
              <a:t>   </a:t>
            </a:r>
            <a:r>
              <a:rPr lang="en-US" altLang="zh-CN">
                <a:sym typeface="+mn-ea"/>
              </a:rPr>
              <a:t>CPI=cycles / IC</a:t>
            </a:r>
            <a:endParaRPr lang="en-US" altLang="zh-CN"/>
          </a:p>
        </p:txBody>
      </p:sp>
      <p:sp>
        <p:nvSpPr>
          <p:cNvPr id="7" name="文本框 6"/>
          <p:cNvSpPr txBox="1"/>
          <p:nvPr/>
        </p:nvSpPr>
        <p:spPr>
          <a:xfrm>
            <a:off x="452755" y="3681730"/>
            <a:ext cx="7419340" cy="645160"/>
          </a:xfrm>
          <a:prstGeom prst="rect">
            <a:avLst/>
          </a:prstGeom>
          <a:noFill/>
        </p:spPr>
        <p:txBody>
          <a:bodyPr wrap="square" rtlCol="0">
            <a:spAutoFit/>
          </a:bodyPr>
          <a:p>
            <a:r>
              <a:rPr lang="en-US" altLang="zh-CN"/>
              <a:t>Amdahl</a:t>
            </a:r>
            <a:r>
              <a:rPr lang="zh-CN" altLang="en-US"/>
              <a:t>定律：</a:t>
            </a:r>
            <a:endParaRPr lang="zh-CN" altLang="en-US"/>
          </a:p>
          <a:p>
            <a:r>
              <a:rPr lang="zh-CN" altLang="en-US"/>
              <a:t>改进后的执行时间</a:t>
            </a:r>
            <a:r>
              <a:rPr lang="en-US" altLang="zh-CN"/>
              <a:t>=</a:t>
            </a:r>
            <a:r>
              <a:rPr lang="zh-CN" altLang="en-US"/>
              <a:t>受改进影响的执行时间</a:t>
            </a:r>
            <a:r>
              <a:rPr lang="en-US" altLang="zh-CN"/>
              <a:t>/</a:t>
            </a:r>
            <a:r>
              <a:rPr lang="zh-CN" altLang="en-US"/>
              <a:t>改进量</a:t>
            </a:r>
            <a:r>
              <a:rPr lang="en-US" altLang="zh-CN"/>
              <a:t>+</a:t>
            </a:r>
            <a:r>
              <a:rPr lang="zh-CN" altLang="en-US"/>
              <a:t>不受影响的执行时间</a:t>
            </a:r>
            <a:endParaRPr lang="zh-CN" altLang="en-US"/>
          </a:p>
        </p:txBody>
      </p:sp>
      <p:sp>
        <p:nvSpPr>
          <p:cNvPr id="9" name="文本框 8"/>
          <p:cNvSpPr txBox="1"/>
          <p:nvPr/>
        </p:nvSpPr>
        <p:spPr>
          <a:xfrm>
            <a:off x="494030" y="5292725"/>
            <a:ext cx="4064000" cy="368300"/>
          </a:xfrm>
          <a:prstGeom prst="rect">
            <a:avLst/>
          </a:prstGeom>
          <a:noFill/>
        </p:spPr>
        <p:txBody>
          <a:bodyPr wrap="square" rtlCol="0">
            <a:spAutoFit/>
          </a:bodyPr>
          <a:p>
            <a:r>
              <a:rPr lang="zh-CN" altLang="en-US"/>
              <a:t>注意加速比的计算方法</a:t>
            </a:r>
            <a:endParaRPr lang="zh-CN" altLang="en-US"/>
          </a:p>
        </p:txBody>
      </p:sp>
      <p:sp>
        <p:nvSpPr>
          <p:cNvPr id="4" name="文本框 3"/>
          <p:cNvSpPr txBox="1"/>
          <p:nvPr/>
        </p:nvSpPr>
        <p:spPr>
          <a:xfrm>
            <a:off x="4794250" y="5292725"/>
            <a:ext cx="4064000" cy="368300"/>
          </a:xfrm>
          <a:prstGeom prst="rect">
            <a:avLst/>
          </a:prstGeom>
          <a:noFill/>
        </p:spPr>
        <p:txBody>
          <a:bodyPr wrap="square" rtlCol="0">
            <a:spAutoFit/>
          </a:bodyPr>
          <a:p>
            <a:r>
              <a:rPr lang="zh-CN" altLang="en-US"/>
              <a:t>功耗</a:t>
            </a:r>
            <a:r>
              <a:rPr lang="en-US" altLang="zh-CN"/>
              <a:t> P=1/2 * CU</a:t>
            </a:r>
            <a:r>
              <a:rPr lang="en-US" altLang="zh-CN" baseline="30000"/>
              <a:t>2</a:t>
            </a:r>
            <a:r>
              <a:rPr lang="en-US" altLang="zh-CN"/>
              <a:t> * f</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153920" y="1845945"/>
            <a:ext cx="4738370" cy="1082675"/>
          </a:xfrm>
          <a:prstGeom prst="rect">
            <a:avLst/>
          </a:prstGeom>
        </p:spPr>
      </p:pic>
      <p:pic>
        <p:nvPicPr>
          <p:cNvPr id="4" name="图片 3"/>
          <p:cNvPicPr>
            <a:picLocks noChangeAspect="1"/>
          </p:cNvPicPr>
          <p:nvPr/>
        </p:nvPicPr>
        <p:blipFill>
          <a:blip r:embed="rId2"/>
          <a:stretch>
            <a:fillRect/>
          </a:stretch>
        </p:blipFill>
        <p:spPr>
          <a:xfrm>
            <a:off x="2259330" y="170180"/>
            <a:ext cx="7042150" cy="1422400"/>
          </a:xfrm>
          <a:prstGeom prst="rect">
            <a:avLst/>
          </a:prstGeom>
        </p:spPr>
      </p:pic>
      <p:pic>
        <p:nvPicPr>
          <p:cNvPr id="5" name="图片 4"/>
          <p:cNvPicPr>
            <a:picLocks noChangeAspect="1"/>
          </p:cNvPicPr>
          <p:nvPr/>
        </p:nvPicPr>
        <p:blipFill>
          <a:blip r:embed="rId3"/>
          <a:stretch>
            <a:fillRect/>
          </a:stretch>
        </p:blipFill>
        <p:spPr>
          <a:xfrm>
            <a:off x="840105" y="3156585"/>
            <a:ext cx="4459605" cy="3507740"/>
          </a:xfrm>
          <a:prstGeom prst="rect">
            <a:avLst/>
          </a:prstGeom>
        </p:spPr>
      </p:pic>
      <p:pic>
        <p:nvPicPr>
          <p:cNvPr id="6" name="图片 5"/>
          <p:cNvPicPr>
            <a:picLocks noChangeAspect="1"/>
          </p:cNvPicPr>
          <p:nvPr/>
        </p:nvPicPr>
        <p:blipFill>
          <a:blip r:embed="rId4"/>
          <a:stretch>
            <a:fillRect/>
          </a:stretch>
        </p:blipFill>
        <p:spPr>
          <a:xfrm>
            <a:off x="6125845" y="3181985"/>
            <a:ext cx="4122420" cy="34188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661795" y="40640"/>
            <a:ext cx="7127240" cy="2080895"/>
          </a:xfrm>
          <a:prstGeom prst="rect">
            <a:avLst/>
          </a:prstGeom>
        </p:spPr>
      </p:pic>
      <p:pic>
        <p:nvPicPr>
          <p:cNvPr id="4" name="图片 3"/>
          <p:cNvPicPr>
            <a:picLocks noChangeAspect="1"/>
          </p:cNvPicPr>
          <p:nvPr/>
        </p:nvPicPr>
        <p:blipFill>
          <a:blip r:embed="rId2"/>
          <a:stretch>
            <a:fillRect/>
          </a:stretch>
        </p:blipFill>
        <p:spPr>
          <a:xfrm>
            <a:off x="300355" y="2173605"/>
            <a:ext cx="3489960" cy="4562475"/>
          </a:xfrm>
          <a:prstGeom prst="rect">
            <a:avLst/>
          </a:prstGeom>
        </p:spPr>
      </p:pic>
      <p:pic>
        <p:nvPicPr>
          <p:cNvPr id="5" name="图片 4"/>
          <p:cNvPicPr>
            <a:picLocks noChangeAspect="1"/>
          </p:cNvPicPr>
          <p:nvPr/>
        </p:nvPicPr>
        <p:blipFill>
          <a:blip r:embed="rId3"/>
          <a:stretch>
            <a:fillRect/>
          </a:stretch>
        </p:blipFill>
        <p:spPr>
          <a:xfrm>
            <a:off x="4174490" y="2173605"/>
            <a:ext cx="3304540" cy="2602230"/>
          </a:xfrm>
          <a:prstGeom prst="rect">
            <a:avLst/>
          </a:prstGeom>
        </p:spPr>
      </p:pic>
      <p:pic>
        <p:nvPicPr>
          <p:cNvPr id="6" name="图片 5"/>
          <p:cNvPicPr>
            <a:picLocks noChangeAspect="1"/>
          </p:cNvPicPr>
          <p:nvPr/>
        </p:nvPicPr>
        <p:blipFill>
          <a:blip r:embed="rId4"/>
          <a:stretch>
            <a:fillRect/>
          </a:stretch>
        </p:blipFill>
        <p:spPr>
          <a:xfrm>
            <a:off x="7670800" y="1861820"/>
            <a:ext cx="3424555" cy="47942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二、第二章</a:t>
            </a:r>
            <a:endParaRPr kumimoji="1" lang="zh-CN" altLang="en-US" dirty="0"/>
          </a:p>
        </p:txBody>
      </p:sp>
      <p:sp>
        <p:nvSpPr>
          <p:cNvPr id="3" name="副标题 2"/>
          <p:cNvSpPr>
            <a:spLocks noGrp="1"/>
          </p:cNvSpPr>
          <p:nvPr>
            <p:ph type="subTitle" idx="1"/>
          </p:nvPr>
        </p:nvSpPr>
        <p:spPr>
          <a:xfrm>
            <a:off x="963295" y="3818890"/>
            <a:ext cx="10265410" cy="2924175"/>
          </a:xfrm>
        </p:spPr>
        <p:txBody>
          <a:bodyPr>
            <a:normAutofit lnSpcReduction="10000"/>
          </a:bodyPr>
          <a:lstStyle/>
          <a:p>
            <a:r>
              <a:rPr lang="en-US" altLang="zh-CN" dirty="0">
                <a:sym typeface="+mn-ea"/>
              </a:rPr>
              <a:t>1.mips</a:t>
            </a:r>
            <a:r>
              <a:rPr lang="zh-CN" altLang="en-US" dirty="0">
                <a:sym typeface="+mn-ea"/>
              </a:rPr>
              <a:t>汇编指令，格式，寄存器</a:t>
            </a:r>
            <a:endParaRPr lang="en-US" altLang="zh-CN" dirty="0"/>
          </a:p>
          <a:p>
            <a:r>
              <a:rPr lang="en-US" altLang="zh-CN" dirty="0">
                <a:sym typeface="+mn-ea"/>
              </a:rPr>
              <a:t>2.</a:t>
            </a:r>
            <a:r>
              <a:rPr lang="zh-CN" altLang="en-US" dirty="0">
                <a:sym typeface="+mn-ea"/>
              </a:rPr>
              <a:t>寻址方式</a:t>
            </a:r>
            <a:endParaRPr lang="en-US" altLang="zh-CN" dirty="0"/>
          </a:p>
          <a:p>
            <a:r>
              <a:rPr lang="en-US" altLang="zh-CN" dirty="0">
                <a:sym typeface="+mn-ea"/>
              </a:rPr>
              <a:t>3.</a:t>
            </a:r>
            <a:r>
              <a:rPr lang="zh-CN" altLang="en-US" dirty="0">
                <a:sym typeface="+mn-ea"/>
              </a:rPr>
              <a:t>嵌套，</a:t>
            </a:r>
            <a:r>
              <a:rPr lang="en-US" altLang="zh-CN" dirty="0" err="1">
                <a:sym typeface="+mn-ea"/>
              </a:rPr>
              <a:t>jal</a:t>
            </a:r>
            <a:r>
              <a:rPr lang="zh-CN" altLang="en-US" dirty="0">
                <a:sym typeface="+mn-ea"/>
              </a:rPr>
              <a:t>的使用</a:t>
            </a:r>
            <a:endParaRPr kumimoji="1" lang="zh-CN" altLang="en-US" dirty="0">
              <a:latin typeface="+mj-ea"/>
              <a:ea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2731770" y="755650"/>
            <a:ext cx="5457825" cy="925195"/>
          </a:xfrm>
          <a:prstGeom prst="rect">
            <a:avLst/>
          </a:prstGeom>
        </p:spPr>
      </p:pic>
      <p:sp>
        <p:nvSpPr>
          <p:cNvPr id="13" name="文本框 12"/>
          <p:cNvSpPr txBox="1"/>
          <p:nvPr/>
        </p:nvSpPr>
        <p:spPr>
          <a:xfrm>
            <a:off x="3048000" y="2690495"/>
            <a:ext cx="6096000" cy="2322830"/>
          </a:xfrm>
          <a:prstGeom prst="rect">
            <a:avLst/>
          </a:prstGeom>
          <a:noFill/>
        </p:spPr>
        <p:txBody>
          <a:bodyPr wrap="square" rtlCol="0" anchor="t">
            <a:noAutofit/>
          </a:bodyPr>
          <a:p>
            <a:r>
              <a:rPr lang="en-US" altLang="zh-CN"/>
              <a:t>sub $t0, $s3, $s4      # $t0 = i - j</a:t>
            </a:r>
            <a:endParaRPr lang="en-US" altLang="zh-CN"/>
          </a:p>
          <a:p>
            <a:endParaRPr lang="en-US" altLang="zh-CN"/>
          </a:p>
          <a:p>
            <a:r>
              <a:rPr lang="en-US" altLang="zh-CN"/>
              <a:t>sll $t0, $t0, 2        # $t0 = (i - j) * 4</a:t>
            </a:r>
            <a:endParaRPr lang="en-US" altLang="zh-CN"/>
          </a:p>
          <a:p>
            <a:endParaRPr lang="en-US" altLang="zh-CN"/>
          </a:p>
          <a:p>
            <a:r>
              <a:rPr lang="en-US" altLang="zh-CN"/>
              <a:t>add $t0, $s6, $t0      # $t0 = A[i-j] </a:t>
            </a:r>
            <a:r>
              <a:rPr lang="zh-CN" altLang="en-US"/>
              <a:t>的地址</a:t>
            </a:r>
            <a:endParaRPr lang="zh-CN" altLang="en-US"/>
          </a:p>
          <a:p>
            <a:endParaRPr lang="zh-CN" altLang="en-US"/>
          </a:p>
          <a:p>
            <a:r>
              <a:rPr lang="en-US" altLang="zh-CN"/>
              <a:t>lw  $t1, 0($t0)        # $t1 = A[i-j]</a:t>
            </a:r>
            <a:endParaRPr lang="en-US" altLang="zh-CN"/>
          </a:p>
          <a:p>
            <a:endParaRPr lang="en-US" altLang="zh-CN"/>
          </a:p>
          <a:p>
            <a:r>
              <a:rPr lang="en-US" altLang="zh-CN"/>
              <a:t>sw  $t1, 32($s7)       # B[8] = A[i-j]</a:t>
            </a: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484120" y="230505"/>
            <a:ext cx="4892675" cy="2315210"/>
          </a:xfrm>
          <a:prstGeom prst="rect">
            <a:avLst/>
          </a:prstGeom>
        </p:spPr>
      </p:pic>
      <p:pic>
        <p:nvPicPr>
          <p:cNvPr id="3" name="图片 2"/>
          <p:cNvPicPr>
            <a:picLocks noChangeAspect="1"/>
          </p:cNvPicPr>
          <p:nvPr/>
        </p:nvPicPr>
        <p:blipFill>
          <a:blip r:embed="rId2"/>
          <a:stretch>
            <a:fillRect/>
          </a:stretch>
        </p:blipFill>
        <p:spPr>
          <a:xfrm>
            <a:off x="443230" y="2341245"/>
            <a:ext cx="4480560" cy="3640455"/>
          </a:xfrm>
          <a:prstGeom prst="rect">
            <a:avLst/>
          </a:prstGeom>
        </p:spPr>
      </p:pic>
      <p:sp>
        <p:nvSpPr>
          <p:cNvPr id="4" name="文本框 3"/>
          <p:cNvSpPr txBox="1"/>
          <p:nvPr/>
        </p:nvSpPr>
        <p:spPr>
          <a:xfrm>
            <a:off x="574675" y="6205855"/>
            <a:ext cx="2992755" cy="368300"/>
          </a:xfrm>
          <a:prstGeom prst="rect">
            <a:avLst/>
          </a:prstGeom>
          <a:noFill/>
        </p:spPr>
        <p:txBody>
          <a:bodyPr wrap="square" rtlCol="0" anchor="t">
            <a:spAutoFit/>
          </a:bodyPr>
          <a:p>
            <a:r>
              <a:rPr lang="en-US" altLang="zh-CN"/>
              <a:t>add $s0, $s0, $s0</a:t>
            </a:r>
            <a:endParaRPr lang="zh-CN" altLang="en-US"/>
          </a:p>
        </p:txBody>
      </p:sp>
      <p:pic>
        <p:nvPicPr>
          <p:cNvPr id="5" name="图片 4"/>
          <p:cNvPicPr>
            <a:picLocks noChangeAspect="1"/>
          </p:cNvPicPr>
          <p:nvPr/>
        </p:nvPicPr>
        <p:blipFill>
          <a:blip r:embed="rId3"/>
          <a:stretch>
            <a:fillRect/>
          </a:stretch>
        </p:blipFill>
        <p:spPr>
          <a:xfrm>
            <a:off x="5755640" y="2262505"/>
            <a:ext cx="4927600" cy="2432050"/>
          </a:xfrm>
          <a:prstGeom prst="rect">
            <a:avLst/>
          </a:prstGeom>
        </p:spPr>
      </p:pic>
      <p:pic>
        <p:nvPicPr>
          <p:cNvPr id="6" name="图片 5"/>
          <p:cNvPicPr>
            <a:picLocks noChangeAspect="1"/>
          </p:cNvPicPr>
          <p:nvPr/>
        </p:nvPicPr>
        <p:blipFill>
          <a:blip r:embed="rId4"/>
          <a:stretch>
            <a:fillRect/>
          </a:stretch>
        </p:blipFill>
        <p:spPr>
          <a:xfrm>
            <a:off x="5619750" y="4694555"/>
            <a:ext cx="5741670" cy="211455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r>
              <a:rPr lang="zh-CN" altLang="en-US"/>
              <a:t>寻址方式</a:t>
            </a:r>
            <a:endParaRPr lang="zh-CN" altLang="en-US"/>
          </a:p>
        </p:txBody>
      </p:sp>
      <p:pic>
        <p:nvPicPr>
          <p:cNvPr id="4" name="内容占位符 3"/>
          <p:cNvPicPr>
            <a:picLocks noChangeAspect="1"/>
          </p:cNvPicPr>
          <p:nvPr>
            <p:ph idx="1"/>
          </p:nvPr>
        </p:nvPicPr>
        <p:blipFill>
          <a:blip r:embed="rId1"/>
          <a:stretch>
            <a:fillRect/>
          </a:stretch>
        </p:blipFill>
        <p:spPr>
          <a:xfrm>
            <a:off x="645795" y="2059305"/>
            <a:ext cx="7174865" cy="38182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ph idx="1"/>
          </p:nvPr>
        </p:nvPicPr>
        <p:blipFill>
          <a:blip r:embed="rId1"/>
          <a:stretch>
            <a:fillRect/>
          </a:stretch>
        </p:blipFill>
        <p:spPr>
          <a:xfrm>
            <a:off x="979805" y="403860"/>
            <a:ext cx="7405370" cy="648970"/>
          </a:xfrm>
          <a:prstGeom prst="rect">
            <a:avLst/>
          </a:prstGeom>
        </p:spPr>
      </p:pic>
      <p:pic>
        <p:nvPicPr>
          <p:cNvPr id="5" name="图片 4"/>
          <p:cNvPicPr>
            <a:picLocks noChangeAspect="1"/>
          </p:cNvPicPr>
          <p:nvPr/>
        </p:nvPicPr>
        <p:blipFill>
          <a:blip r:embed="rId2"/>
          <a:stretch>
            <a:fillRect/>
          </a:stretch>
        </p:blipFill>
        <p:spPr>
          <a:xfrm>
            <a:off x="941705" y="3900170"/>
            <a:ext cx="6413500" cy="577850"/>
          </a:xfrm>
          <a:prstGeom prst="rect">
            <a:avLst/>
          </a:prstGeom>
        </p:spPr>
      </p:pic>
      <p:pic>
        <p:nvPicPr>
          <p:cNvPr id="6" name="图片 5"/>
          <p:cNvPicPr>
            <a:picLocks noChangeAspect="1"/>
          </p:cNvPicPr>
          <p:nvPr/>
        </p:nvPicPr>
        <p:blipFill>
          <a:blip r:embed="rId3"/>
          <a:stretch>
            <a:fillRect/>
          </a:stretch>
        </p:blipFill>
        <p:spPr>
          <a:xfrm>
            <a:off x="941705" y="1146175"/>
            <a:ext cx="4864100" cy="2463800"/>
          </a:xfrm>
          <a:prstGeom prst="rect">
            <a:avLst/>
          </a:prstGeom>
        </p:spPr>
      </p:pic>
      <p:sp>
        <p:nvSpPr>
          <p:cNvPr id="7" name="文本框 6"/>
          <p:cNvSpPr txBox="1"/>
          <p:nvPr/>
        </p:nvSpPr>
        <p:spPr>
          <a:xfrm>
            <a:off x="7381240" y="1196340"/>
            <a:ext cx="2924810" cy="368300"/>
          </a:xfrm>
          <a:prstGeom prst="rect">
            <a:avLst/>
          </a:prstGeom>
          <a:noFill/>
        </p:spPr>
        <p:txBody>
          <a:bodyPr wrap="square" rtlCol="0">
            <a:spAutoFit/>
          </a:bodyPr>
          <a:p>
            <a:r>
              <a:rPr lang="en-US" altLang="zh-CN"/>
              <a:t>PC</a:t>
            </a:r>
            <a:r>
              <a:rPr lang="zh-CN" altLang="en-US"/>
              <a:t>相对寻址</a:t>
            </a:r>
            <a:endParaRPr lang="zh-CN" altLang="en-US"/>
          </a:p>
        </p:txBody>
      </p:sp>
      <p:cxnSp>
        <p:nvCxnSpPr>
          <p:cNvPr id="8" name="直接箭头连接符 7"/>
          <p:cNvCxnSpPr>
            <a:stCxn id="7" idx="1"/>
          </p:cNvCxnSpPr>
          <p:nvPr/>
        </p:nvCxnSpPr>
        <p:spPr>
          <a:xfrm flipH="1" flipV="1">
            <a:off x="5805805" y="930275"/>
            <a:ext cx="1575435" cy="4502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8218805" y="4004945"/>
            <a:ext cx="2924810" cy="368300"/>
          </a:xfrm>
          <a:prstGeom prst="rect">
            <a:avLst/>
          </a:prstGeom>
          <a:noFill/>
        </p:spPr>
        <p:txBody>
          <a:bodyPr wrap="square" rtlCol="0">
            <a:spAutoFit/>
          </a:bodyPr>
          <a:p>
            <a:r>
              <a:rPr lang="zh-CN"/>
              <a:t>伪直接寻址</a:t>
            </a:r>
            <a:endParaRPr lang="zh-CN"/>
          </a:p>
        </p:txBody>
      </p:sp>
      <p:cxnSp>
        <p:nvCxnSpPr>
          <p:cNvPr id="10" name="直接箭头连接符 9"/>
          <p:cNvCxnSpPr/>
          <p:nvPr/>
        </p:nvCxnSpPr>
        <p:spPr>
          <a:xfrm flipH="1">
            <a:off x="7010400" y="4176395"/>
            <a:ext cx="10941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1" name="图片 10"/>
          <p:cNvPicPr>
            <a:picLocks noChangeAspect="1"/>
          </p:cNvPicPr>
          <p:nvPr/>
        </p:nvPicPr>
        <p:blipFill>
          <a:blip r:embed="rId4"/>
          <a:stretch>
            <a:fillRect/>
          </a:stretch>
        </p:blipFill>
        <p:spPr>
          <a:xfrm>
            <a:off x="432435" y="4607560"/>
            <a:ext cx="4279900" cy="1339850"/>
          </a:xfrm>
          <a:prstGeom prst="rect">
            <a:avLst/>
          </a:prstGeom>
        </p:spPr>
      </p:pic>
      <p:pic>
        <p:nvPicPr>
          <p:cNvPr id="12" name="图片 11"/>
          <p:cNvPicPr>
            <a:picLocks noChangeAspect="1"/>
          </p:cNvPicPr>
          <p:nvPr/>
        </p:nvPicPr>
        <p:blipFill>
          <a:blip r:embed="rId5"/>
          <a:stretch>
            <a:fillRect/>
          </a:stretch>
        </p:blipFill>
        <p:spPr>
          <a:xfrm>
            <a:off x="4509135" y="4594860"/>
            <a:ext cx="3829050" cy="698500"/>
          </a:xfrm>
          <a:prstGeom prst="rect">
            <a:avLst/>
          </a:prstGeom>
        </p:spPr>
      </p:pic>
      <p:pic>
        <p:nvPicPr>
          <p:cNvPr id="13" name="图片 12"/>
          <p:cNvPicPr>
            <a:picLocks noChangeAspect="1"/>
          </p:cNvPicPr>
          <p:nvPr/>
        </p:nvPicPr>
        <p:blipFill>
          <a:blip r:embed="rId6"/>
          <a:stretch>
            <a:fillRect/>
          </a:stretch>
        </p:blipFill>
        <p:spPr>
          <a:xfrm>
            <a:off x="4979035" y="5798820"/>
            <a:ext cx="2077085" cy="499745"/>
          </a:xfrm>
          <a:prstGeom prst="rect">
            <a:avLst/>
          </a:prstGeom>
        </p:spPr>
      </p:pic>
      <p:pic>
        <p:nvPicPr>
          <p:cNvPr id="14" name="图片 13"/>
          <p:cNvPicPr>
            <a:picLocks noChangeAspect="1"/>
          </p:cNvPicPr>
          <p:nvPr/>
        </p:nvPicPr>
        <p:blipFill>
          <a:blip r:embed="rId7"/>
          <a:stretch>
            <a:fillRect/>
          </a:stretch>
        </p:blipFill>
        <p:spPr>
          <a:xfrm>
            <a:off x="8042275" y="5514975"/>
            <a:ext cx="3600450" cy="1206500"/>
          </a:xfrm>
          <a:prstGeom prst="rect">
            <a:avLst/>
          </a:prstGeom>
        </p:spPr>
      </p:pic>
      <p:sp>
        <p:nvSpPr>
          <p:cNvPr id="15" name="文本框 14"/>
          <p:cNvSpPr txBox="1"/>
          <p:nvPr/>
        </p:nvSpPr>
        <p:spPr>
          <a:xfrm>
            <a:off x="7218045" y="2895600"/>
            <a:ext cx="3929380" cy="368300"/>
          </a:xfrm>
          <a:prstGeom prst="rect">
            <a:avLst/>
          </a:prstGeom>
          <a:noFill/>
        </p:spPr>
        <p:txBody>
          <a:bodyPr wrap="square" rtlCol="0">
            <a:spAutoFit/>
          </a:bodyPr>
          <a:p>
            <a:r>
              <a:rPr lang="zh-CN">
                <a:solidFill>
                  <a:srgbClr val="FF0000"/>
                </a:solidFill>
              </a:rPr>
              <a:t>注意！</a:t>
            </a:r>
            <a:r>
              <a:rPr lang="en-US" altLang="zh-CN"/>
              <a:t> 4</a:t>
            </a:r>
            <a:r>
              <a:rPr lang="zh-CN" altLang="en-US"/>
              <a:t>均为字地址，</a:t>
            </a:r>
            <a:r>
              <a:rPr lang="en-US" altLang="zh-CN"/>
              <a:t>1</a:t>
            </a:r>
            <a:r>
              <a:rPr lang="zh-CN" altLang="en-US"/>
              <a:t>个字</a:t>
            </a:r>
            <a:r>
              <a:rPr lang="en-US" altLang="zh-CN"/>
              <a:t>=4</a:t>
            </a:r>
            <a:r>
              <a:rPr lang="zh-CN" altLang="en-US"/>
              <a:t>个字节</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三、第三章</a:t>
            </a:r>
            <a:endParaRPr kumimoji="1" lang="zh-CN" altLang="en-US" dirty="0"/>
          </a:p>
        </p:txBody>
      </p:sp>
      <p:sp>
        <p:nvSpPr>
          <p:cNvPr id="3" name="副标题 2"/>
          <p:cNvSpPr>
            <a:spLocks noGrp="1"/>
          </p:cNvSpPr>
          <p:nvPr>
            <p:ph type="subTitle" idx="1"/>
          </p:nvPr>
        </p:nvSpPr>
        <p:spPr>
          <a:xfrm>
            <a:off x="625475" y="3899535"/>
            <a:ext cx="10265410" cy="2187575"/>
          </a:xfrm>
        </p:spPr>
        <p:txBody>
          <a:bodyPr>
            <a:noAutofit/>
          </a:bodyPr>
          <a:lstStyle/>
          <a:p>
            <a:endParaRPr lang="zh-CN" altLang="en-US" sz="1900">
              <a:latin typeface="+mn-ea"/>
              <a:cs typeface="+mn-ea"/>
              <a:sym typeface="+mn-ea"/>
            </a:endParaRPr>
          </a:p>
          <a:p>
            <a:pPr>
              <a:lnSpc>
                <a:spcPct val="120000"/>
              </a:lnSpc>
            </a:pPr>
            <a:r>
              <a:rPr kumimoji="1" lang="zh-CN" altLang="en-US" sz="1300" dirty="0">
                <a:latin typeface="+mn-ea"/>
                <a:cs typeface="+mn-ea"/>
                <a:sym typeface="+mn-ea"/>
              </a:rPr>
              <a:t> </a:t>
            </a:r>
            <a:endParaRPr kumimoji="1" lang="zh-CN" altLang="en-US" sz="1300" dirty="0">
              <a:latin typeface="+mn-ea"/>
              <a:cs typeface="+mn-ea"/>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575310" y="593725"/>
            <a:ext cx="9275445" cy="5448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88365" y="166370"/>
            <a:ext cx="5283200" cy="6357620"/>
          </a:xfrm>
          <a:prstGeom prst="rect">
            <a:avLst/>
          </a:prstGeom>
        </p:spPr>
      </p:pic>
      <p:pic>
        <p:nvPicPr>
          <p:cNvPr id="9" name="图片 8"/>
          <p:cNvPicPr>
            <a:picLocks noChangeAspect="1"/>
          </p:cNvPicPr>
          <p:nvPr/>
        </p:nvPicPr>
        <p:blipFill>
          <a:blip r:embed="rId2"/>
          <a:stretch>
            <a:fillRect/>
          </a:stretch>
        </p:blipFill>
        <p:spPr>
          <a:xfrm>
            <a:off x="6446520" y="855980"/>
            <a:ext cx="5244465" cy="2573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r>
              <a:rPr lang="zh-CN" altLang="en-US"/>
              <a:t>乘法器、除法器（去年应该是考了一个画除法器如何运作的）</a:t>
            </a:r>
            <a:endParaRPr lang="zh-CN" altLang="en-US"/>
          </a:p>
        </p:txBody>
      </p:sp>
      <p:pic>
        <p:nvPicPr>
          <p:cNvPr id="3" name="图片 2"/>
          <p:cNvPicPr>
            <a:picLocks noChangeAspect="1"/>
          </p:cNvPicPr>
          <p:nvPr/>
        </p:nvPicPr>
        <p:blipFill>
          <a:blip r:embed="rId1"/>
          <a:stretch>
            <a:fillRect/>
          </a:stretch>
        </p:blipFill>
        <p:spPr>
          <a:xfrm>
            <a:off x="687070" y="2000250"/>
            <a:ext cx="9632315" cy="25482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3167" y="2022534"/>
            <a:ext cx="10267200" cy="1382400"/>
          </a:xfrm>
        </p:spPr>
        <p:txBody>
          <a:bodyPr/>
          <a:lstStyle/>
          <a:p>
            <a:r>
              <a:rPr kumimoji="1" lang="zh-CN" altLang="en-US" dirty="0"/>
              <a:t>四、第四章</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33450" y="192405"/>
            <a:ext cx="6839585" cy="2006600"/>
          </a:xfrm>
          <a:prstGeom prst="rect">
            <a:avLst/>
          </a:prstGeom>
        </p:spPr>
      </p:pic>
      <p:pic>
        <p:nvPicPr>
          <p:cNvPr id="8" name="图片 7"/>
          <p:cNvPicPr>
            <a:picLocks noChangeAspect="1"/>
          </p:cNvPicPr>
          <p:nvPr/>
        </p:nvPicPr>
        <p:blipFill>
          <a:blip r:embed="rId2"/>
          <a:stretch>
            <a:fillRect/>
          </a:stretch>
        </p:blipFill>
        <p:spPr>
          <a:xfrm>
            <a:off x="4423410" y="1692275"/>
            <a:ext cx="6280785" cy="49136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45490" y="172720"/>
            <a:ext cx="7016750" cy="2654300"/>
          </a:xfrm>
          <a:prstGeom prst="rect">
            <a:avLst/>
          </a:prstGeom>
        </p:spPr>
      </p:pic>
      <p:pic>
        <p:nvPicPr>
          <p:cNvPr id="6" name="图片 5"/>
          <p:cNvPicPr>
            <a:picLocks noChangeAspect="1"/>
          </p:cNvPicPr>
          <p:nvPr/>
        </p:nvPicPr>
        <p:blipFill>
          <a:blip r:embed="rId2"/>
          <a:stretch>
            <a:fillRect/>
          </a:stretch>
        </p:blipFill>
        <p:spPr>
          <a:xfrm>
            <a:off x="469265" y="3301365"/>
            <a:ext cx="2139950" cy="685800"/>
          </a:xfrm>
          <a:prstGeom prst="rect">
            <a:avLst/>
          </a:prstGeom>
        </p:spPr>
      </p:pic>
      <p:sp>
        <p:nvSpPr>
          <p:cNvPr id="7" name="文本框 6"/>
          <p:cNvSpPr txBox="1"/>
          <p:nvPr/>
        </p:nvSpPr>
        <p:spPr>
          <a:xfrm>
            <a:off x="568960" y="4330700"/>
            <a:ext cx="1441450" cy="2306955"/>
          </a:xfrm>
          <a:prstGeom prst="rect">
            <a:avLst/>
          </a:prstGeom>
          <a:noFill/>
        </p:spPr>
        <p:txBody>
          <a:bodyPr wrap="square" rtlCol="0" anchor="t">
            <a:spAutoFit/>
          </a:bodyPr>
          <a:p>
            <a:r>
              <a:rPr lang="en-US" altLang="zh-CN"/>
              <a:t>(2)</a:t>
            </a:r>
            <a:endParaRPr lang="en-US" altLang="zh-CN"/>
          </a:p>
          <a:p>
            <a:r>
              <a:rPr lang="en-US" altLang="zh-CN"/>
              <a:t>or  r1, r2, r3</a:t>
            </a:r>
            <a:endParaRPr lang="en-US" altLang="zh-CN"/>
          </a:p>
          <a:p>
            <a:r>
              <a:rPr lang="en-US" altLang="zh-CN"/>
              <a:t>nop</a:t>
            </a:r>
            <a:endParaRPr lang="en-US" altLang="zh-CN"/>
          </a:p>
          <a:p>
            <a:r>
              <a:rPr lang="en-US" altLang="zh-CN"/>
              <a:t>nop</a:t>
            </a:r>
            <a:endParaRPr lang="en-US" altLang="zh-CN"/>
          </a:p>
          <a:p>
            <a:r>
              <a:rPr lang="en-US" altLang="zh-CN"/>
              <a:t>or  r2, r1, r4</a:t>
            </a:r>
            <a:endParaRPr lang="en-US" altLang="zh-CN"/>
          </a:p>
          <a:p>
            <a:r>
              <a:rPr lang="en-US" altLang="zh-CN"/>
              <a:t>nop</a:t>
            </a:r>
            <a:endParaRPr lang="en-US" altLang="zh-CN"/>
          </a:p>
          <a:p>
            <a:r>
              <a:rPr lang="en-US" altLang="zh-CN"/>
              <a:t>nop</a:t>
            </a:r>
            <a:endParaRPr lang="en-US" altLang="zh-CN"/>
          </a:p>
          <a:p>
            <a:r>
              <a:rPr lang="en-US" altLang="zh-CN"/>
              <a:t>or  r1, r1, r2</a:t>
            </a:r>
            <a:endParaRPr lang="zh-CN" altLang="en-US"/>
          </a:p>
        </p:txBody>
      </p:sp>
      <p:pic>
        <p:nvPicPr>
          <p:cNvPr id="9" name="图片 8"/>
          <p:cNvPicPr>
            <a:picLocks noChangeAspect="1"/>
          </p:cNvPicPr>
          <p:nvPr/>
        </p:nvPicPr>
        <p:blipFill>
          <a:blip r:embed="rId3"/>
          <a:stretch>
            <a:fillRect/>
          </a:stretch>
        </p:blipFill>
        <p:spPr>
          <a:xfrm>
            <a:off x="3140710" y="2781935"/>
            <a:ext cx="2349500" cy="1651000"/>
          </a:xfrm>
          <a:prstGeom prst="rect">
            <a:avLst/>
          </a:prstGeom>
        </p:spPr>
      </p:pic>
      <p:sp>
        <p:nvSpPr>
          <p:cNvPr id="11" name="文本框 10"/>
          <p:cNvSpPr txBox="1"/>
          <p:nvPr/>
        </p:nvSpPr>
        <p:spPr>
          <a:xfrm>
            <a:off x="2971165" y="4551045"/>
            <a:ext cx="1441450" cy="645160"/>
          </a:xfrm>
          <a:prstGeom prst="rect">
            <a:avLst/>
          </a:prstGeom>
          <a:noFill/>
        </p:spPr>
        <p:txBody>
          <a:bodyPr wrap="square" rtlCol="0" anchor="t">
            <a:spAutoFit/>
          </a:bodyPr>
          <a:p>
            <a:r>
              <a:rPr lang="en-US" altLang="zh-CN"/>
              <a:t>(3)</a:t>
            </a:r>
            <a:endParaRPr lang="en-US" altLang="zh-CN"/>
          </a:p>
          <a:p>
            <a:r>
              <a:rPr lang="zh-CN" altLang="en-US"/>
              <a:t>不需要添加</a:t>
            </a:r>
            <a:endParaRPr lang="zh-CN" altLang="en-US"/>
          </a:p>
        </p:txBody>
      </p:sp>
      <p:pic>
        <p:nvPicPr>
          <p:cNvPr id="15" name="图片 14"/>
          <p:cNvPicPr>
            <a:picLocks noChangeAspect="1"/>
          </p:cNvPicPr>
          <p:nvPr/>
        </p:nvPicPr>
        <p:blipFill>
          <a:blip r:embed="rId4"/>
          <a:stretch>
            <a:fillRect/>
          </a:stretch>
        </p:blipFill>
        <p:spPr>
          <a:xfrm>
            <a:off x="2971165" y="5381625"/>
            <a:ext cx="2660015" cy="1256030"/>
          </a:xfrm>
          <a:prstGeom prst="rect">
            <a:avLst/>
          </a:prstGeom>
        </p:spPr>
      </p:pic>
      <p:sp>
        <p:nvSpPr>
          <p:cNvPr id="16" name="文本框 15"/>
          <p:cNvSpPr txBox="1"/>
          <p:nvPr/>
        </p:nvSpPr>
        <p:spPr>
          <a:xfrm>
            <a:off x="7675880" y="4099560"/>
            <a:ext cx="2424430" cy="2030095"/>
          </a:xfrm>
          <a:prstGeom prst="rect">
            <a:avLst/>
          </a:prstGeom>
          <a:noFill/>
        </p:spPr>
        <p:txBody>
          <a:bodyPr wrap="square" rtlCol="0" anchor="t">
            <a:spAutoFit/>
          </a:bodyPr>
          <a:p>
            <a:r>
              <a:rPr lang="en-US" altLang="zh-CN"/>
              <a:t>(5) </a:t>
            </a:r>
            <a:r>
              <a:rPr lang="zh-CN" altLang="en-US"/>
              <a:t>无</a:t>
            </a:r>
            <a:r>
              <a:rPr lang="en-US" altLang="zh-CN"/>
              <a:t>MEM-ALU</a:t>
            </a:r>
            <a:r>
              <a:rPr lang="zh-CN" altLang="en-US"/>
              <a:t>旁路</a:t>
            </a:r>
            <a:endParaRPr lang="zh-CN" altLang="en-US"/>
          </a:p>
          <a:p>
            <a:endParaRPr lang="en-US" altLang="zh-CN"/>
          </a:p>
          <a:p>
            <a:r>
              <a:rPr lang="en-US" altLang="zh-CN"/>
              <a:t>or  r1, r2, r3</a:t>
            </a:r>
            <a:endParaRPr lang="en-US" altLang="zh-CN"/>
          </a:p>
          <a:p>
            <a:r>
              <a:rPr lang="en-US" altLang="zh-CN"/>
              <a:t>or  r2, r1, r4</a:t>
            </a:r>
            <a:endParaRPr lang="en-US" altLang="zh-CN"/>
          </a:p>
          <a:p>
            <a:r>
              <a:rPr lang="en-US" altLang="zh-CN"/>
              <a:t>nop</a:t>
            </a:r>
            <a:endParaRPr lang="en-US" altLang="zh-CN"/>
          </a:p>
          <a:p>
            <a:r>
              <a:rPr lang="en-US" altLang="zh-CN"/>
              <a:t>nop</a:t>
            </a:r>
            <a:endParaRPr lang="en-US" altLang="zh-CN"/>
          </a:p>
          <a:p>
            <a:r>
              <a:rPr lang="en-US" altLang="zh-CN"/>
              <a:t>or  r1, r1, r2</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五、第五章</a:t>
            </a:r>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35585" y="383540"/>
            <a:ext cx="4805045" cy="1588770"/>
          </a:xfrm>
          <a:prstGeom prst="rect">
            <a:avLst/>
          </a:prstGeom>
        </p:spPr>
      </p:pic>
      <p:pic>
        <p:nvPicPr>
          <p:cNvPr id="3" name="图片 2"/>
          <p:cNvPicPr>
            <a:picLocks noChangeAspect="1"/>
          </p:cNvPicPr>
          <p:nvPr/>
        </p:nvPicPr>
        <p:blipFill>
          <a:blip r:embed="rId2"/>
          <a:stretch>
            <a:fillRect/>
          </a:stretch>
        </p:blipFill>
        <p:spPr>
          <a:xfrm>
            <a:off x="235585" y="2232025"/>
            <a:ext cx="2710815" cy="2919730"/>
          </a:xfrm>
          <a:prstGeom prst="rect">
            <a:avLst/>
          </a:prstGeom>
        </p:spPr>
      </p:pic>
      <p:pic>
        <p:nvPicPr>
          <p:cNvPr id="5" name="图片 4"/>
          <p:cNvPicPr>
            <a:picLocks noChangeAspect="1"/>
          </p:cNvPicPr>
          <p:nvPr/>
        </p:nvPicPr>
        <p:blipFill>
          <a:blip r:embed="rId3"/>
          <a:stretch>
            <a:fillRect/>
          </a:stretch>
        </p:blipFill>
        <p:spPr>
          <a:xfrm>
            <a:off x="5447030" y="319405"/>
            <a:ext cx="4360545" cy="2156460"/>
          </a:xfrm>
          <a:prstGeom prst="rect">
            <a:avLst/>
          </a:prstGeom>
        </p:spPr>
      </p:pic>
      <p:pic>
        <p:nvPicPr>
          <p:cNvPr id="6" name="图片 5"/>
          <p:cNvPicPr>
            <a:picLocks noChangeAspect="1"/>
          </p:cNvPicPr>
          <p:nvPr/>
        </p:nvPicPr>
        <p:blipFill>
          <a:blip r:embed="rId4"/>
          <a:stretch>
            <a:fillRect/>
          </a:stretch>
        </p:blipFill>
        <p:spPr>
          <a:xfrm>
            <a:off x="4565650" y="2674620"/>
            <a:ext cx="3060700" cy="2740025"/>
          </a:xfrm>
          <a:prstGeom prst="rect">
            <a:avLst/>
          </a:prstGeom>
        </p:spPr>
      </p:pic>
      <p:pic>
        <p:nvPicPr>
          <p:cNvPr id="7" name="图片 6"/>
          <p:cNvPicPr>
            <a:picLocks noChangeAspect="1"/>
          </p:cNvPicPr>
          <p:nvPr/>
        </p:nvPicPr>
        <p:blipFill>
          <a:blip r:embed="rId5"/>
          <a:stretch>
            <a:fillRect/>
          </a:stretch>
        </p:blipFill>
        <p:spPr>
          <a:xfrm>
            <a:off x="8079105" y="3025775"/>
            <a:ext cx="3750310" cy="15906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endParaRPr lang="zh-CN" altLang="en-US"/>
          </a:p>
        </p:txBody>
      </p:sp>
      <p:pic>
        <p:nvPicPr>
          <p:cNvPr id="8" name="图片 7"/>
          <p:cNvPicPr>
            <a:picLocks noChangeAspect="1"/>
          </p:cNvPicPr>
          <p:nvPr/>
        </p:nvPicPr>
        <p:blipFill>
          <a:blip r:embed="rId1"/>
          <a:stretch>
            <a:fillRect/>
          </a:stretch>
        </p:blipFill>
        <p:spPr>
          <a:xfrm>
            <a:off x="835025" y="357505"/>
            <a:ext cx="8436610" cy="61607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827405" y="128905"/>
            <a:ext cx="6437630" cy="2809875"/>
          </a:xfrm>
          <a:prstGeom prst="rect">
            <a:avLst/>
          </a:prstGeom>
        </p:spPr>
      </p:pic>
      <p:pic>
        <p:nvPicPr>
          <p:cNvPr id="10" name="图片 9"/>
          <p:cNvPicPr>
            <a:picLocks noChangeAspect="1"/>
          </p:cNvPicPr>
          <p:nvPr/>
        </p:nvPicPr>
        <p:blipFill>
          <a:blip r:embed="rId2"/>
          <a:stretch>
            <a:fillRect/>
          </a:stretch>
        </p:blipFill>
        <p:spPr>
          <a:xfrm>
            <a:off x="278130" y="3206115"/>
            <a:ext cx="4672965" cy="857885"/>
          </a:xfrm>
          <a:prstGeom prst="rect">
            <a:avLst/>
          </a:prstGeom>
        </p:spPr>
      </p:pic>
      <p:pic>
        <p:nvPicPr>
          <p:cNvPr id="11" name="图片 10"/>
          <p:cNvPicPr>
            <a:picLocks noChangeAspect="1"/>
          </p:cNvPicPr>
          <p:nvPr/>
        </p:nvPicPr>
        <p:blipFill>
          <a:blip r:embed="rId3"/>
          <a:stretch>
            <a:fillRect/>
          </a:stretch>
        </p:blipFill>
        <p:spPr>
          <a:xfrm>
            <a:off x="388620" y="4064000"/>
            <a:ext cx="3096895" cy="2622550"/>
          </a:xfrm>
          <a:prstGeom prst="rect">
            <a:avLst/>
          </a:prstGeom>
        </p:spPr>
      </p:pic>
      <p:pic>
        <p:nvPicPr>
          <p:cNvPr id="12" name="图片 11"/>
          <p:cNvPicPr>
            <a:picLocks noChangeAspect="1"/>
          </p:cNvPicPr>
          <p:nvPr/>
        </p:nvPicPr>
        <p:blipFill>
          <a:blip r:embed="rId4"/>
          <a:stretch>
            <a:fillRect/>
          </a:stretch>
        </p:blipFill>
        <p:spPr>
          <a:xfrm>
            <a:off x="5006975" y="2750185"/>
            <a:ext cx="4935220" cy="1313815"/>
          </a:xfrm>
          <a:prstGeom prst="rect">
            <a:avLst/>
          </a:prstGeom>
        </p:spPr>
      </p:pic>
      <p:pic>
        <p:nvPicPr>
          <p:cNvPr id="13" name="图片 12"/>
          <p:cNvPicPr>
            <a:picLocks noChangeAspect="1"/>
          </p:cNvPicPr>
          <p:nvPr/>
        </p:nvPicPr>
        <p:blipFill>
          <a:blip r:embed="rId5"/>
          <a:stretch>
            <a:fillRect/>
          </a:stretch>
        </p:blipFill>
        <p:spPr>
          <a:xfrm>
            <a:off x="5509895" y="4308475"/>
            <a:ext cx="4389755" cy="16865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p:nvPr>
            <p:ph type="title"/>
          </p:nvPr>
        </p:nvSpPr>
        <p:spPr/>
        <p:txBody>
          <a:bodyPr/>
          <a:p>
            <a:endParaRPr lang="zh-CN" altLang="en-US"/>
          </a:p>
        </p:txBody>
      </p:sp>
      <p:pic>
        <p:nvPicPr>
          <p:cNvPr id="2" name="图片 1"/>
          <p:cNvPicPr>
            <a:picLocks noChangeAspect="1"/>
          </p:cNvPicPr>
          <p:nvPr/>
        </p:nvPicPr>
        <p:blipFill>
          <a:blip r:embed="rId1"/>
          <a:stretch>
            <a:fillRect/>
          </a:stretch>
        </p:blipFill>
        <p:spPr>
          <a:xfrm>
            <a:off x="127000" y="409575"/>
            <a:ext cx="5855970" cy="4970145"/>
          </a:xfrm>
          <a:prstGeom prst="rect">
            <a:avLst/>
          </a:prstGeom>
        </p:spPr>
      </p:pic>
      <p:pic>
        <p:nvPicPr>
          <p:cNvPr id="3" name="图片 2"/>
          <p:cNvPicPr>
            <a:picLocks noChangeAspect="1"/>
          </p:cNvPicPr>
          <p:nvPr/>
        </p:nvPicPr>
        <p:blipFill>
          <a:blip r:embed="rId2"/>
          <a:stretch>
            <a:fillRect/>
          </a:stretch>
        </p:blipFill>
        <p:spPr>
          <a:xfrm>
            <a:off x="6043295" y="409575"/>
            <a:ext cx="5700395" cy="30200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p:nvPr>
            <p:ph type="title"/>
          </p:nvPr>
        </p:nvSpPr>
        <p:spPr/>
        <p:txBody>
          <a:bodyPr/>
          <a:p>
            <a:endParaRPr lang="zh-CN" altLang="en-US"/>
          </a:p>
        </p:txBody>
      </p:sp>
      <p:pic>
        <p:nvPicPr>
          <p:cNvPr id="2" name="图片 1"/>
          <p:cNvPicPr>
            <a:picLocks noChangeAspect="1"/>
          </p:cNvPicPr>
          <p:nvPr/>
        </p:nvPicPr>
        <p:blipFill>
          <a:blip r:embed="rId1"/>
          <a:stretch>
            <a:fillRect/>
          </a:stretch>
        </p:blipFill>
        <p:spPr>
          <a:xfrm>
            <a:off x="215900" y="0"/>
            <a:ext cx="6826250" cy="2546350"/>
          </a:xfrm>
          <a:prstGeom prst="rect">
            <a:avLst/>
          </a:prstGeom>
        </p:spPr>
      </p:pic>
      <p:pic>
        <p:nvPicPr>
          <p:cNvPr id="3" name="图片 2"/>
          <p:cNvPicPr>
            <a:picLocks noChangeAspect="1"/>
          </p:cNvPicPr>
          <p:nvPr/>
        </p:nvPicPr>
        <p:blipFill>
          <a:blip r:embed="rId2"/>
          <a:stretch>
            <a:fillRect/>
          </a:stretch>
        </p:blipFill>
        <p:spPr>
          <a:xfrm>
            <a:off x="374015" y="2713355"/>
            <a:ext cx="3740150" cy="368300"/>
          </a:xfrm>
          <a:prstGeom prst="rect">
            <a:avLst/>
          </a:prstGeom>
        </p:spPr>
      </p:pic>
      <p:pic>
        <p:nvPicPr>
          <p:cNvPr id="5" name="图片 4"/>
          <p:cNvPicPr>
            <a:picLocks noChangeAspect="1"/>
          </p:cNvPicPr>
          <p:nvPr/>
        </p:nvPicPr>
        <p:blipFill>
          <a:blip r:embed="rId3"/>
          <a:stretch>
            <a:fillRect/>
          </a:stretch>
        </p:blipFill>
        <p:spPr>
          <a:xfrm>
            <a:off x="264160" y="3081655"/>
            <a:ext cx="3392170" cy="2810510"/>
          </a:xfrm>
          <a:prstGeom prst="rect">
            <a:avLst/>
          </a:prstGeom>
        </p:spPr>
      </p:pic>
      <p:pic>
        <p:nvPicPr>
          <p:cNvPr id="6" name="图片 5"/>
          <p:cNvPicPr>
            <a:picLocks noChangeAspect="1"/>
          </p:cNvPicPr>
          <p:nvPr/>
        </p:nvPicPr>
        <p:blipFill>
          <a:blip r:embed="rId4"/>
          <a:stretch>
            <a:fillRect/>
          </a:stretch>
        </p:blipFill>
        <p:spPr>
          <a:xfrm>
            <a:off x="3656330" y="3081655"/>
            <a:ext cx="3301365" cy="1665605"/>
          </a:xfrm>
          <a:prstGeom prst="rect">
            <a:avLst/>
          </a:prstGeom>
        </p:spPr>
      </p:pic>
      <p:pic>
        <p:nvPicPr>
          <p:cNvPr id="7" name="图片 6"/>
          <p:cNvPicPr>
            <a:picLocks noChangeAspect="1"/>
          </p:cNvPicPr>
          <p:nvPr/>
        </p:nvPicPr>
        <p:blipFill>
          <a:blip r:embed="rId5"/>
          <a:stretch>
            <a:fillRect/>
          </a:stretch>
        </p:blipFill>
        <p:spPr>
          <a:xfrm>
            <a:off x="7156450" y="2293620"/>
            <a:ext cx="3968750" cy="40201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51485" y="146050"/>
            <a:ext cx="5191125" cy="6256655"/>
          </a:xfrm>
          <a:prstGeom prst="rect">
            <a:avLst/>
          </a:prstGeom>
        </p:spPr>
      </p:pic>
      <p:pic>
        <p:nvPicPr>
          <p:cNvPr id="5" name="图片 4"/>
          <p:cNvPicPr>
            <a:picLocks noChangeAspect="1"/>
          </p:cNvPicPr>
          <p:nvPr/>
        </p:nvPicPr>
        <p:blipFill>
          <a:blip r:embed="rId2"/>
          <a:stretch>
            <a:fillRect/>
          </a:stretch>
        </p:blipFill>
        <p:spPr>
          <a:xfrm>
            <a:off x="5706745" y="60960"/>
            <a:ext cx="3676650" cy="2561590"/>
          </a:xfrm>
          <a:prstGeom prst="rect">
            <a:avLst/>
          </a:prstGeom>
        </p:spPr>
      </p:pic>
      <p:pic>
        <p:nvPicPr>
          <p:cNvPr id="2" name="图片 1"/>
          <p:cNvPicPr>
            <a:picLocks noChangeAspect="1"/>
          </p:cNvPicPr>
          <p:nvPr/>
        </p:nvPicPr>
        <p:blipFill>
          <a:blip r:embed="rId3"/>
          <a:stretch>
            <a:fillRect/>
          </a:stretch>
        </p:blipFill>
        <p:spPr>
          <a:xfrm>
            <a:off x="5951855" y="2783205"/>
            <a:ext cx="4645660" cy="3619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1831" y="2028083"/>
            <a:ext cx="9748800" cy="1317600"/>
          </a:xfrm>
        </p:spPr>
        <p:txBody>
          <a:bodyPr/>
          <a:lstStyle/>
          <a:p>
            <a:r>
              <a:rPr lang="zh-CN" altLang="en-US" dirty="0"/>
              <a:t>感谢观看！</a:t>
            </a:r>
            <a:endParaRPr lang="zh-CN" altLang="en-US" dirty="0"/>
          </a:p>
        </p:txBody>
      </p:sp>
    </p:spTree>
  </p:cSld>
  <p:clrMapOvr>
    <a:masterClrMapping/>
  </p:clrMapOvr>
</p:sld>
</file>

<file path=ppt/theme/theme1.xml><?xml version="1.0" encoding="utf-8"?>
<a:theme xmlns:a="http://schemas.openxmlformats.org/drawingml/2006/main" name="清华简约主题-扁平-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855</Words>
  <Application>WPS 演示</Application>
  <PresentationFormat>宽屏</PresentationFormat>
  <Paragraphs>108</Paragraphs>
  <Slides>29</Slides>
  <Notes>13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Arial</vt:lpstr>
      <vt:lpstr>宋体</vt:lpstr>
      <vt:lpstr>Wingdings</vt:lpstr>
      <vt:lpstr>Wingdings 2</vt:lpstr>
      <vt:lpstr>微软雅黑</vt:lpstr>
      <vt:lpstr>Gill Sans MT</vt:lpstr>
      <vt:lpstr>Arial Unicode MS</vt:lpstr>
      <vt:lpstr>华文中宋</vt:lpstr>
      <vt:lpstr>等线</vt:lpstr>
      <vt:lpstr>Calibri</vt:lpstr>
      <vt:lpstr>清华简约主题-扁平-16:9</vt:lpstr>
      <vt:lpstr>PowerPoint 演示文稿</vt:lpstr>
      <vt:lpstr>计组习题分享</vt:lpstr>
      <vt:lpstr>PowerPoint 演示文稿</vt:lpstr>
      <vt:lpstr>PowerPoint 演示文稿</vt:lpstr>
      <vt:lpstr>目录 Contents</vt:lpstr>
      <vt:lpstr>一、第一章</vt:lpstr>
      <vt:lpstr>PowerPoint 演示文稿</vt:lpstr>
      <vt:lpstr>PowerPoint 演示文稿</vt:lpstr>
      <vt:lpstr>PowerPoint 演示文稿</vt:lpstr>
      <vt:lpstr>二、第二章</vt:lpstr>
      <vt:lpstr>PowerPoint 演示文稿</vt:lpstr>
      <vt:lpstr>PowerPoint 演示文稿</vt:lpstr>
      <vt:lpstr>寻址方式</vt:lpstr>
      <vt:lpstr>PowerPoint 演示文稿</vt:lpstr>
      <vt:lpstr>三、第三章</vt:lpstr>
      <vt:lpstr>PowerPoint 演示文稿</vt:lpstr>
      <vt:lpstr>PowerPoint 演示文稿</vt:lpstr>
      <vt:lpstr>乘法器、除法器（去年应该是考了一个画除法器如何运作的）</vt:lpstr>
      <vt:lpstr>四、第四章</vt:lpstr>
      <vt:lpstr>PowerPoint 演示文稿</vt:lpstr>
      <vt:lpstr>PowerPoint 演示文稿</vt:lpstr>
      <vt:lpstr>五、第五章</vt:lpstr>
      <vt:lpstr>PowerPoint 演示文稿</vt:lpstr>
      <vt:lpstr>PowerPoint 演示文稿</vt:lpstr>
      <vt:lpstr>PowerPoint 演示文稿</vt:lpstr>
      <vt:lpstr>PowerPoint 演示文稿</vt:lpstr>
      <vt:lpstr>PowerPoint 演示文稿</vt:lpstr>
      <vt:lpstr>PowerPoint 演示文稿</vt:lpstr>
      <vt:lpstr>感谢观看！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O₂</cp:lastModifiedBy>
  <cp:revision>1498</cp:revision>
  <cp:lastPrinted>2020-04-04T02:50:00Z</cp:lastPrinted>
  <dcterms:created xsi:type="dcterms:W3CDTF">2020-01-04T07:43:00Z</dcterms:created>
  <dcterms:modified xsi:type="dcterms:W3CDTF">2026-06-24T15:05:21Z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4E788A4D6AED4158A4C7B1CABB89EB6A_12</vt:lpwstr>
  </property>
  <property fmtid="{D5CDD505-2E9C-101B-9397-08002B2CF9AE}" pid="3" name="KSOProductBuildVer">
    <vt:lpwstr>2052-12.1.0.26895</vt:lpwstr>
  </property>
</Properties>
</file>