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8" r:id="rId5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137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1D0E8-DFE0-4853-8EE5-B9320E6F5A1B}" type="datetimeFigureOut">
              <a:rPr lang="zh-CN" altLang="en-US" smtClean="0"/>
              <a:t>2012/10/18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817B4-30C5-4057-9A16-B10B049C1F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836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fld id="{7AE1191F-4B6F-424B-BEDB-359806AF4B6B}" type="slidenum">
              <a:rPr lang="en-US" altLang="zh-CN" sz="1200" b="0" smtClean="0"/>
              <a:pPr eaLnBrk="1" hangingPunct="1"/>
              <a:t>44</a:t>
            </a:fld>
            <a:endParaRPr lang="en-US" altLang="zh-CN" sz="1200" b="0" smtClean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zh-CN" altLang="zh-CN" smtClean="0">
              <a:ea typeface="宋体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3276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76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zh-CN" altLang="en-US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41D05BA3-947F-49BB-893D-3C2B02E2EEB5}" type="slidenum">
              <a:rPr lang="zh-CN" altLang="en-US">
                <a:solidFill>
                  <a:srgbClr val="1C1C1C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56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D1D121-9412-4B34-8247-A2BAFF1CEC5D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83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6D01D-540F-4E1B-8731-DAED882C2CE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2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1981200"/>
            <a:ext cx="4191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191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7980D9-1096-432D-B877-F96BA21EF8A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345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A09DB3-7346-4FD9-B32E-45E6E463FD1D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3669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1A94FE-718E-4AC2-A287-1EF8ABD5A48C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7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CA06FF-0AED-4754-9EA1-ADA25B9A4A7A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120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9B9C1F-CB63-4C6E-B1FA-F416BB17B518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3080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FE4ECF-8770-4BFA-B1E4-2AE578A22266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4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3CCE96-EED6-4182-8C55-4146F7FCEB7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868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5600" y="609600"/>
            <a:ext cx="21336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2484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84717F-C5DB-466E-9052-B1F0A3559A3F}" type="slidenum">
              <a:rPr lang="zh-CN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5813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ect">
            <a:avLst/>
          </a:prstGeom>
          <a:gradFill rotWithShape="0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27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326659" name="Rectangle 3"/>
          <p:cNvSpPr>
            <a:spLocks noChangeArrowheads="1"/>
          </p:cNvSpPr>
          <p:nvPr/>
        </p:nvSpPr>
        <p:spPr bwMode="auto">
          <a:xfrm>
            <a:off x="228600" y="228600"/>
            <a:ext cx="8686800" cy="6400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0960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981200"/>
            <a:ext cx="8534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2666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 smtClean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2666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76600" y="61722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 smtClean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2666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 smtClean="0">
                <a:ea typeface="宋体" pitchFamily="2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B55F62E-4289-448D-BD85-B11271A8D7A1}" type="slidenum">
              <a:rPr lang="zh-CN" altLang="en-US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26665" name="Text Box 9"/>
          <p:cNvSpPr txBox="1">
            <a:spLocks noChangeArrowheads="1"/>
          </p:cNvSpPr>
          <p:nvPr/>
        </p:nvSpPr>
        <p:spPr bwMode="auto">
          <a:xfrm>
            <a:off x="228600" y="6378575"/>
            <a:ext cx="12509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zh-CN" altLang="en-US" sz="1200" b="1">
                <a:solidFill>
                  <a:srgbClr val="0000FF"/>
                </a:solidFill>
                <a:latin typeface="宋体" pitchFamily="2" charset="-122"/>
              </a:rPr>
              <a:t>计算机组成原理</a:t>
            </a:r>
          </a:p>
        </p:txBody>
      </p:sp>
      <p:sp>
        <p:nvSpPr>
          <p:cNvPr id="326666" name="Rectangle 10"/>
          <p:cNvSpPr>
            <a:spLocks noGrp="1" noChangeArrowheads="1"/>
          </p:cNvSpPr>
          <p:nvPr userDrawn="1"/>
        </p:nvSpPr>
        <p:spPr bwMode="auto">
          <a:xfrm>
            <a:off x="8001000" y="6172200"/>
            <a:ext cx="167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6D77B9C-F25F-45A0-BCF5-F06DEAD02CF8}" type="slidenum">
              <a:rPr lang="zh-CN" altLang="en-US" sz="1200">
                <a:solidFill>
                  <a:srgbClr val="3333CC"/>
                </a:solidFill>
              </a:rPr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sz="120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55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026"/>
          <p:cNvSpPr>
            <a:spLocks noChangeArrowheads="1"/>
          </p:cNvSpPr>
          <p:nvPr/>
        </p:nvSpPr>
        <p:spPr bwMode="auto">
          <a:xfrm>
            <a:off x="381000" y="2057400"/>
            <a:ext cx="8534400" cy="370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99"/>
                </a:solidFill>
                <a:latin typeface="宋体" charset="-122"/>
              </a:rPr>
              <a:t> 任意一个十进制数 </a:t>
            </a:r>
            <a:r>
              <a:rPr kumimoji="1" lang="zh-CN" altLang="en-US" sz="2400" b="1" i="1">
                <a:solidFill>
                  <a:srgbClr val="333399"/>
                </a:solidFill>
                <a:latin typeface="宋体" charset="-122"/>
              </a:rPr>
              <a:t>Ｎ</a:t>
            </a:r>
            <a:r>
              <a:rPr kumimoji="1" lang="zh-CN" altLang="en-US" sz="2400" b="1">
                <a:solidFill>
                  <a:srgbClr val="333399"/>
                </a:solidFill>
                <a:latin typeface="宋体" charset="-122"/>
              </a:rPr>
              <a:t> 可以写成</a:t>
            </a:r>
          </a:p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6600FF"/>
                </a:solidFill>
                <a:latin typeface="宋体" charset="-122"/>
              </a:rPr>
              <a:t>                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Ｎ</a:t>
            </a:r>
            <a:r>
              <a:rPr kumimoji="1" lang="zh-CN" altLang="en-US" sz="2400" b="1" baseline="30000">
                <a:solidFill>
                  <a:srgbClr val="FF0000"/>
                </a:solidFill>
                <a:latin typeface="宋体" charset="-122"/>
              </a:rPr>
              <a:t>＝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10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宋体" charset="-122"/>
              </a:rPr>
              <a:t>E 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×Ｍ</a:t>
            </a:r>
          </a:p>
          <a:p>
            <a:pPr fontAlgn="base">
              <a:lnSpc>
                <a:spcPct val="35000"/>
              </a:lnSpc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FF0000"/>
              </a:solidFill>
              <a:latin typeface="宋体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333399"/>
                </a:solidFill>
                <a:latin typeface="宋体" charset="-12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计算机中一个任意进制数 </a:t>
            </a:r>
            <a:r>
              <a:rPr kumimoji="1" lang="zh-CN" altLang="en-US" sz="2400" b="1" i="1">
                <a:solidFill>
                  <a:srgbClr val="000000"/>
                </a:solidFill>
                <a:latin typeface="宋体" charset="-122"/>
              </a:rPr>
              <a:t>Ｎ 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可以写成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i="1">
                <a:solidFill>
                  <a:srgbClr val="6600FF"/>
                </a:solidFill>
                <a:latin typeface="宋体" charset="-122"/>
              </a:rPr>
              <a:t>　　　　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Ｎ＝Ｒ</a:t>
            </a:r>
            <a:r>
              <a:rPr kumimoji="1" lang="en-US" altLang="zh-CN" sz="2400" b="1" baseline="30000">
                <a:solidFill>
                  <a:srgbClr val="FF0000"/>
                </a:solidFill>
                <a:latin typeface="宋体" charset="-122"/>
              </a:rPr>
              <a:t>e 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×</a:t>
            </a:r>
            <a:r>
              <a:rPr kumimoji="1" lang="en-US" altLang="zh-CN" sz="2400" b="1">
                <a:solidFill>
                  <a:srgbClr val="FF0000"/>
                </a:solidFill>
                <a:latin typeface="宋体" charset="-122"/>
              </a:rPr>
              <a:t>m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00"/>
                </a:solidFill>
                <a:latin typeface="宋体" charset="-122"/>
              </a:rPr>
              <a:t>    m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 ：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尾数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，是一个纯小数。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    </a:t>
            </a:r>
            <a:r>
              <a:rPr kumimoji="1" lang="en-US" altLang="zh-CN" sz="2400" b="1" i="1">
                <a:solidFill>
                  <a:srgbClr val="000000"/>
                </a:solidFill>
                <a:latin typeface="宋体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 ：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浮点的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指数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, 是一个整数。  </a:t>
            </a:r>
          </a:p>
          <a:p>
            <a:pPr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    </a:t>
            </a:r>
            <a:r>
              <a:rPr kumimoji="1" lang="en-US" altLang="zh-CN" sz="2400" b="1" i="1">
                <a:solidFill>
                  <a:srgbClr val="000000"/>
                </a:solidFill>
                <a:latin typeface="宋体" charset="-122"/>
              </a:rPr>
              <a:t>R 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：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基数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，对于二进计数值的机器是一个常数，一般规定</a:t>
            </a:r>
            <a:r>
              <a:rPr kumimoji="1" lang="zh-CN" altLang="en-US" sz="2400" b="1" i="1">
                <a:solidFill>
                  <a:srgbClr val="000000"/>
                </a:solidFill>
                <a:latin typeface="宋体" charset="-122"/>
              </a:rPr>
              <a:t>Ｒ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为2，8或16。 </a:t>
            </a:r>
          </a:p>
        </p:txBody>
      </p:sp>
      <p:sp>
        <p:nvSpPr>
          <p:cNvPr id="54275" name="Rectangle 1030"/>
          <p:cNvSpPr>
            <a:spLocks noChangeArrowheads="1"/>
          </p:cNvSpPr>
          <p:nvPr/>
        </p:nvSpPr>
        <p:spPr bwMode="auto">
          <a:xfrm>
            <a:off x="304800" y="228600"/>
            <a:ext cx="49530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4000" b="1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浮点数的表示方法</a:t>
            </a:r>
          </a:p>
        </p:txBody>
      </p:sp>
      <p:sp>
        <p:nvSpPr>
          <p:cNvPr id="54276" name="Rectangle 1031"/>
          <p:cNvSpPr>
            <a:spLocks noChangeArrowheads="1"/>
          </p:cNvSpPr>
          <p:nvPr/>
        </p:nvSpPr>
        <p:spPr bwMode="auto">
          <a:xfrm>
            <a:off x="609600" y="914400"/>
            <a:ext cx="8001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9×10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itchFamily="18" charset="0"/>
              </a:rPr>
              <a:t>－28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= 0.9 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-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itchFamily="18" charset="0"/>
              </a:rPr>
              <a:t>27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2×10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itchFamily="18" charset="0"/>
              </a:rPr>
              <a:t>33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= 0.2 ×10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Times New Roman" pitchFamily="18" charset="0"/>
              </a:rPr>
              <a:t>34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baseline="30000">
                <a:solidFill>
                  <a:srgbClr val="000000"/>
                </a:solidFill>
                <a:latin typeface="Times New Roman" pitchFamily="18" charset="0"/>
              </a:rPr>
              <a:t>                              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——</a:t>
            </a:r>
            <a:r>
              <a:rPr kumimoji="1" lang="zh-CN" altLang="en-US" sz="2400" b="1" i="1">
                <a:solidFill>
                  <a:srgbClr val="6600FF"/>
                </a:solidFill>
                <a:latin typeface="Times New Roman" pitchFamily="18" charset="0"/>
              </a:rPr>
              <a:t>Ｎ=10</a:t>
            </a:r>
            <a:r>
              <a:rPr kumimoji="1" lang="en-US" altLang="zh-CN" sz="2400" b="1" i="1" baseline="30000">
                <a:solidFill>
                  <a:srgbClr val="6600FF"/>
                </a:solidFill>
                <a:latin typeface="Times New Roman" pitchFamily="18" charset="0"/>
              </a:rPr>
              <a:t>E</a:t>
            </a:r>
            <a:r>
              <a:rPr kumimoji="1" lang="en-US" altLang="zh-CN" sz="2400" b="1" i="1">
                <a:solidFill>
                  <a:srgbClr val="6600FF"/>
                </a:solidFill>
                <a:latin typeface="Times New Roman" pitchFamily="18" charset="0"/>
                <a:cs typeface="Times New Roman" pitchFamily="18" charset="0"/>
              </a:rPr>
              <a:t>·</a:t>
            </a:r>
            <a:r>
              <a:rPr kumimoji="1" lang="zh-CN" altLang="en-US" sz="2400" b="1" i="1">
                <a:solidFill>
                  <a:srgbClr val="6600FF"/>
                </a:solidFill>
                <a:latin typeface="Times New Roman" pitchFamily="18" charset="0"/>
              </a:rPr>
              <a:t>Ｍ 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（十进制表示）</a:t>
            </a:r>
          </a:p>
        </p:txBody>
      </p:sp>
    </p:spTree>
    <p:extLst>
      <p:ext uri="{BB962C8B-B14F-4D97-AF65-F5344CB8AC3E}">
        <p14:creationId xmlns:p14="http://schemas.microsoft.com/office/powerpoint/2010/main" val="10483930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026"/>
          <p:cNvSpPr>
            <a:spLocks noChangeArrowheads="1"/>
          </p:cNvSpPr>
          <p:nvPr/>
        </p:nvSpPr>
        <p:spPr bwMode="auto">
          <a:xfrm>
            <a:off x="228600" y="914400"/>
            <a:ext cx="8610600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 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尾数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：用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定点小数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表示，给出有效数字的位数，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             决定了浮点数的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表示精度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；</a:t>
            </a:r>
          </a:p>
          <a:p>
            <a:pPr fontAlgn="base">
              <a:lnSpc>
                <a:spcPct val="14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    阶码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：用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定点整数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形式表示，指明小数点在数据中的位置，决定了浮点数的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表示范围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。</a:t>
            </a:r>
          </a:p>
        </p:txBody>
      </p:sp>
      <p:grpSp>
        <p:nvGrpSpPr>
          <p:cNvPr id="1028" name="Group 1041"/>
          <p:cNvGrpSpPr>
            <a:grpSpLocks/>
          </p:cNvGrpSpPr>
          <p:nvPr/>
        </p:nvGrpSpPr>
        <p:grpSpPr bwMode="auto">
          <a:xfrm>
            <a:off x="987425" y="2743200"/>
            <a:ext cx="7366000" cy="1325563"/>
            <a:chOff x="622" y="2333"/>
            <a:chExt cx="4640" cy="835"/>
          </a:xfrm>
        </p:grpSpPr>
        <p:sp>
          <p:nvSpPr>
            <p:cNvPr id="1031" name="Text Box 1028"/>
            <p:cNvSpPr txBox="1">
              <a:spLocks noChangeArrowheads="1"/>
            </p:cNvSpPr>
            <p:nvPr/>
          </p:nvSpPr>
          <p:spPr bwMode="auto">
            <a:xfrm>
              <a:off x="622" y="2513"/>
              <a:ext cx="4640" cy="3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  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     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1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2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……  E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     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s     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1 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2 </a:t>
              </a: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……  M</a:t>
              </a:r>
              <a:r>
                <a:rPr lang="en-US" altLang="zh-CN" sz="2800" b="1" baseline="-25000">
                  <a:solidFill>
                    <a:srgbClr val="000000"/>
                  </a:solidFill>
                  <a:latin typeface="Times New Roman" pitchFamily="18" charset="0"/>
                </a:rPr>
                <a:t>n</a:t>
              </a:r>
              <a:endParaRPr lang="en-US" altLang="zh-CN" sz="2800" b="1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graphicFrame>
          <p:nvGraphicFramePr>
            <p:cNvPr id="1026" name="Object 2048"/>
            <p:cNvGraphicFramePr>
              <a:graphicFrameLocks noChangeAspect="1"/>
            </p:cNvGraphicFramePr>
            <p:nvPr/>
          </p:nvGraphicFramePr>
          <p:xfrm>
            <a:off x="2748" y="2333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Equation" r:id="rId3" imgW="114120" imgH="215640" progId="Equation.3">
                    <p:embed/>
                  </p:oleObj>
                </mc:Choice>
                <mc:Fallback>
                  <p:oleObj name="Equation" r:id="rId3" imgW="11412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8" y="2333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32" name="Line 1030"/>
            <p:cNvSpPr>
              <a:spLocks noChangeShapeType="1"/>
            </p:cNvSpPr>
            <p:nvPr/>
          </p:nvSpPr>
          <p:spPr bwMode="auto">
            <a:xfrm>
              <a:off x="1152" y="2513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33" name="Line 1031"/>
            <p:cNvSpPr>
              <a:spLocks noChangeShapeType="1"/>
            </p:cNvSpPr>
            <p:nvPr/>
          </p:nvSpPr>
          <p:spPr bwMode="auto">
            <a:xfrm>
              <a:off x="2872" y="2513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34" name="Line 1032"/>
            <p:cNvSpPr>
              <a:spLocks noChangeShapeType="1"/>
            </p:cNvSpPr>
            <p:nvPr/>
          </p:nvSpPr>
          <p:spPr bwMode="auto">
            <a:xfrm>
              <a:off x="3461" y="2513"/>
              <a:ext cx="0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35" name="Text Box 1033"/>
            <p:cNvSpPr txBox="1">
              <a:spLocks noChangeArrowheads="1"/>
            </p:cNvSpPr>
            <p:nvPr/>
          </p:nvSpPr>
          <p:spPr bwMode="auto">
            <a:xfrm>
              <a:off x="654" y="2880"/>
              <a:ext cx="39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000099"/>
                  </a:solidFill>
                  <a:latin typeface="Times New Roman" pitchFamily="18" charset="0"/>
                </a:rPr>
                <a:t>阶符                 阶码               数符                尾数</a:t>
              </a:r>
            </a:p>
          </p:txBody>
        </p:sp>
        <p:sp>
          <p:nvSpPr>
            <p:cNvPr id="1036" name="Line 1034"/>
            <p:cNvSpPr>
              <a:spLocks noChangeShapeType="1"/>
            </p:cNvSpPr>
            <p:nvPr/>
          </p:nvSpPr>
          <p:spPr bwMode="auto">
            <a:xfrm>
              <a:off x="1152" y="2936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37" name="Line 1035"/>
            <p:cNvSpPr>
              <a:spLocks noChangeShapeType="1"/>
            </p:cNvSpPr>
            <p:nvPr/>
          </p:nvSpPr>
          <p:spPr bwMode="auto">
            <a:xfrm>
              <a:off x="2868" y="2944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038" name="Line 1036"/>
            <p:cNvSpPr>
              <a:spLocks noChangeShapeType="1"/>
            </p:cNvSpPr>
            <p:nvPr/>
          </p:nvSpPr>
          <p:spPr bwMode="auto">
            <a:xfrm>
              <a:off x="3460" y="2944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1029" name="Rectangle 1038"/>
          <p:cNvSpPr>
            <a:spLocks noChangeArrowheads="1"/>
          </p:cNvSpPr>
          <p:nvPr/>
        </p:nvSpPr>
        <p:spPr bwMode="auto">
          <a:xfrm>
            <a:off x="304800" y="381000"/>
            <a:ext cx="6618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一个机器浮点数由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阶码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和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尾数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及其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符号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位组成：</a:t>
            </a:r>
          </a:p>
        </p:txBody>
      </p:sp>
      <p:sp>
        <p:nvSpPr>
          <p:cNvPr id="1030" name="Rectangle 1042"/>
          <p:cNvSpPr>
            <a:spLocks noChangeArrowheads="1"/>
          </p:cNvSpPr>
          <p:nvPr/>
        </p:nvSpPr>
        <p:spPr bwMode="auto">
          <a:xfrm>
            <a:off x="304800" y="4397375"/>
            <a:ext cx="861060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(2) 浮点数的标准格式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       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（Ｎ＝Ｒ</a:t>
            </a:r>
            <a:r>
              <a:rPr kumimoji="1" lang="en-US" altLang="zh-CN" sz="2400" b="1" baseline="30000">
                <a:solidFill>
                  <a:srgbClr val="0000FF"/>
                </a:solidFill>
                <a:latin typeface="宋体" charset="-122"/>
              </a:rPr>
              <a:t>e</a:t>
            </a:r>
            <a:r>
              <a:rPr kumimoji="1" lang="en-US" altLang="zh-CN" sz="2400" b="1">
                <a:solidFill>
                  <a:srgbClr val="0000FF"/>
                </a:solidFill>
                <a:latin typeface="宋体" charset="-122"/>
              </a:rPr>
              <a:t>.m）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为便于软件移植，使用 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IEEE（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电气和电子工程师协会）标准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>
                <a:solidFill>
                  <a:srgbClr val="FF0000"/>
                </a:solidFill>
                <a:latin typeface="宋体" charset="-122"/>
              </a:rPr>
              <a:t>IEEE754 </a:t>
            </a:r>
            <a:r>
              <a:rPr kumimoji="1" lang="zh-CN" altLang="zh-CN" sz="2400" b="1">
                <a:solidFill>
                  <a:srgbClr val="0000FF"/>
                </a:solidFill>
                <a:latin typeface="宋体" charset="-122"/>
              </a:rPr>
              <a:t>标准</a:t>
            </a:r>
            <a:r>
              <a:rPr kumimoji="1" lang="zh-CN" altLang="zh-CN" sz="2400" b="1">
                <a:solidFill>
                  <a:srgbClr val="FF0000"/>
                </a:solidFill>
                <a:latin typeface="宋体" charset="-122"/>
              </a:rPr>
              <a:t>：尾数用</a:t>
            </a:r>
            <a:r>
              <a:rPr kumimoji="1" lang="zh-CN" altLang="zh-CN" sz="2400" b="1">
                <a:solidFill>
                  <a:srgbClr val="0000FF"/>
                </a:solidFill>
                <a:latin typeface="宋体" charset="-122"/>
              </a:rPr>
              <a:t>原码；</a:t>
            </a:r>
            <a:r>
              <a:rPr kumimoji="1" lang="zh-CN" altLang="zh-CN" sz="2400" b="1">
                <a:solidFill>
                  <a:srgbClr val="FF0000"/>
                </a:solidFill>
                <a:latin typeface="宋体" charset="-122"/>
              </a:rPr>
              <a:t>阶码用</a:t>
            </a:r>
            <a:r>
              <a:rPr kumimoji="1" lang="zh-CN" altLang="zh-CN" sz="2400" b="1">
                <a:solidFill>
                  <a:srgbClr val="0000FF"/>
                </a:solidFill>
                <a:latin typeface="宋体" charset="-122"/>
              </a:rPr>
              <a:t>移码；</a:t>
            </a:r>
            <a:r>
              <a:rPr kumimoji="1" lang="zh-CN" altLang="zh-CN" sz="2400" b="1">
                <a:solidFill>
                  <a:srgbClr val="FF0000"/>
                </a:solidFill>
                <a:latin typeface="宋体" charset="-122"/>
              </a:rPr>
              <a:t>基为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2</a:t>
            </a:r>
          </a:p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2480129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368300" y="3225800"/>
            <a:ext cx="8616950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——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尾数符号，0正1负；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M</a:t>
            </a:r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——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尾数, 纯小数表示, 小数点放在尾数域的最前面。</a:t>
            </a:r>
          </a:p>
          <a:p>
            <a:pPr eaLnBrk="1" fontAlgn="base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            采用原码表示。 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E</a:t>
            </a:r>
            <a:r>
              <a:rPr lang="en-US" altLang="zh-CN" b="1">
                <a:solidFill>
                  <a:srgbClr val="000099"/>
                </a:solidFill>
                <a:latin typeface="Times New Roman" pitchFamily="18" charset="0"/>
              </a:rPr>
              <a:t>——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阶码，采用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“移码”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表示;</a:t>
            </a:r>
          </a:p>
          <a:p>
            <a:pPr eaLnBrk="1" fontAlgn="base" hangingPunct="1">
              <a:lnSpc>
                <a:spcPct val="6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            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阶符采用隐含方式，即采用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“移码”</a:t>
            </a:r>
            <a:r>
              <a:rPr lang="zh-CN" altLang="en-US" b="1">
                <a:solidFill>
                  <a:srgbClr val="000099"/>
                </a:solidFill>
                <a:latin typeface="Times New Roman" pitchFamily="18" charset="0"/>
              </a:rPr>
              <a:t>方法来表示正负指数。</a:t>
            </a: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auto">
          <a:xfrm>
            <a:off x="228600" y="533400"/>
            <a:ext cx="85613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   •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  按照 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itchFamily="18" charset="0"/>
              </a:rPr>
              <a:t>IEEE754 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的标准，32位浮点数和64位浮点数的标准格式为 ：</a:t>
            </a:r>
          </a:p>
        </p:txBody>
      </p:sp>
      <p:grpSp>
        <p:nvGrpSpPr>
          <p:cNvPr id="55300" name="Group 28"/>
          <p:cNvGrpSpPr>
            <a:grpSpLocks/>
          </p:cNvGrpSpPr>
          <p:nvPr/>
        </p:nvGrpSpPr>
        <p:grpSpPr bwMode="auto">
          <a:xfrm>
            <a:off x="1003300" y="1039813"/>
            <a:ext cx="4967288" cy="968375"/>
            <a:chOff x="632" y="655"/>
            <a:chExt cx="3129" cy="610"/>
          </a:xfrm>
        </p:grpSpPr>
        <p:sp>
          <p:nvSpPr>
            <p:cNvPr id="55308" name="Text Box 6"/>
            <p:cNvSpPr txBox="1">
              <a:spLocks noChangeArrowheads="1"/>
            </p:cNvSpPr>
            <p:nvPr/>
          </p:nvSpPr>
          <p:spPr bwMode="auto">
            <a:xfrm>
              <a:off x="1359" y="917"/>
              <a:ext cx="2360" cy="333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 S        E              M</a:t>
              </a:r>
            </a:p>
          </p:txBody>
        </p:sp>
        <p:sp>
          <p:nvSpPr>
            <p:cNvPr id="55309" name="Line 7"/>
            <p:cNvSpPr>
              <a:spLocks noChangeShapeType="1"/>
            </p:cNvSpPr>
            <p:nvPr/>
          </p:nvSpPr>
          <p:spPr bwMode="auto">
            <a:xfrm>
              <a:off x="1704" y="917"/>
              <a:ext cx="1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5310" name="Line 9"/>
            <p:cNvSpPr>
              <a:spLocks noChangeShapeType="1"/>
            </p:cNvSpPr>
            <p:nvPr/>
          </p:nvSpPr>
          <p:spPr bwMode="auto">
            <a:xfrm>
              <a:off x="2424" y="917"/>
              <a:ext cx="1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55311" name="Text Box 8"/>
            <p:cNvSpPr txBox="1">
              <a:spLocks noChangeArrowheads="1"/>
            </p:cNvSpPr>
            <p:nvPr/>
          </p:nvSpPr>
          <p:spPr bwMode="auto">
            <a:xfrm>
              <a:off x="1389" y="655"/>
              <a:ext cx="2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0000FF"/>
                  </a:solidFill>
                  <a:latin typeface="Times New Roman" pitchFamily="18" charset="0"/>
                </a:rPr>
                <a:t>31  30      23 22                    0</a:t>
              </a:r>
            </a:p>
          </p:txBody>
        </p:sp>
        <p:sp>
          <p:nvSpPr>
            <p:cNvPr id="55312" name="Text Box 10"/>
            <p:cNvSpPr txBox="1">
              <a:spLocks noChangeArrowheads="1"/>
            </p:cNvSpPr>
            <p:nvPr/>
          </p:nvSpPr>
          <p:spPr bwMode="auto">
            <a:xfrm>
              <a:off x="632" y="938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32位</a:t>
              </a:r>
            </a:p>
          </p:txBody>
        </p:sp>
      </p:grpSp>
      <p:grpSp>
        <p:nvGrpSpPr>
          <p:cNvPr id="55301" name="Group 29"/>
          <p:cNvGrpSpPr>
            <a:grpSpLocks/>
          </p:cNvGrpSpPr>
          <p:nvPr/>
        </p:nvGrpSpPr>
        <p:grpSpPr bwMode="auto">
          <a:xfrm>
            <a:off x="1003300" y="2052638"/>
            <a:ext cx="7926388" cy="944562"/>
            <a:chOff x="632" y="1293"/>
            <a:chExt cx="4993" cy="595"/>
          </a:xfrm>
        </p:grpSpPr>
        <p:sp>
          <p:nvSpPr>
            <p:cNvPr id="55302" name="Text Box 13"/>
            <p:cNvSpPr txBox="1">
              <a:spLocks noChangeArrowheads="1"/>
            </p:cNvSpPr>
            <p:nvPr/>
          </p:nvSpPr>
          <p:spPr bwMode="auto">
            <a:xfrm>
              <a:off x="1351" y="1555"/>
              <a:ext cx="4241" cy="333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50000"/>
                </a:spcBef>
                <a:spcAft>
                  <a:spcPct val="0"/>
                </a:spcAft>
              </a:pPr>
              <a:r>
                <a:rPr lang="en-US" altLang="zh-CN" sz="2800" b="1">
                  <a:solidFill>
                    <a:srgbClr val="000000"/>
                  </a:solidFill>
                  <a:latin typeface="Times New Roman" pitchFamily="18" charset="0"/>
                </a:rPr>
                <a:t> S            E                                 M</a:t>
              </a:r>
            </a:p>
          </p:txBody>
        </p:sp>
        <p:grpSp>
          <p:nvGrpSpPr>
            <p:cNvPr id="55303" name="Group 25"/>
            <p:cNvGrpSpPr>
              <a:grpSpLocks/>
            </p:cNvGrpSpPr>
            <p:nvPr/>
          </p:nvGrpSpPr>
          <p:grpSpPr bwMode="auto">
            <a:xfrm>
              <a:off x="1696" y="1555"/>
              <a:ext cx="1477" cy="333"/>
              <a:chOff x="1696" y="1555"/>
              <a:chExt cx="1477" cy="333"/>
            </a:xfrm>
          </p:grpSpPr>
          <p:sp>
            <p:nvSpPr>
              <p:cNvPr id="55306" name="Line 14"/>
              <p:cNvSpPr>
                <a:spLocks noChangeShapeType="1"/>
              </p:cNvSpPr>
              <p:nvPr/>
            </p:nvSpPr>
            <p:spPr bwMode="auto">
              <a:xfrm>
                <a:off x="1696" y="1555"/>
                <a:ext cx="1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55307" name="Line 15"/>
              <p:cNvSpPr>
                <a:spLocks noChangeShapeType="1"/>
              </p:cNvSpPr>
              <p:nvPr/>
            </p:nvSpPr>
            <p:spPr bwMode="auto">
              <a:xfrm>
                <a:off x="3172" y="1555"/>
                <a:ext cx="1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55304" name="Text Box 16"/>
            <p:cNvSpPr txBox="1">
              <a:spLocks noChangeArrowheads="1"/>
            </p:cNvSpPr>
            <p:nvPr/>
          </p:nvSpPr>
          <p:spPr bwMode="auto">
            <a:xfrm>
              <a:off x="1381" y="1293"/>
              <a:ext cx="4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0000FF"/>
                  </a:solidFill>
                  <a:latin typeface="Times New Roman" pitchFamily="18" charset="0"/>
                </a:rPr>
                <a:t>63  62                      52 51                                           0</a:t>
              </a:r>
            </a:p>
          </p:txBody>
        </p:sp>
        <p:sp>
          <p:nvSpPr>
            <p:cNvPr id="55305" name="Text Box 17"/>
            <p:cNvSpPr txBox="1">
              <a:spLocks noChangeArrowheads="1"/>
            </p:cNvSpPr>
            <p:nvPr/>
          </p:nvSpPr>
          <p:spPr bwMode="auto">
            <a:xfrm>
              <a:off x="632" y="1498"/>
              <a:ext cx="5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itchFamily="18" charset="0"/>
                </a:rPr>
                <a:t>64位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8763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ChangeArrowheads="1"/>
          </p:cNvSpPr>
          <p:nvPr/>
        </p:nvSpPr>
        <p:spPr bwMode="auto">
          <a:xfrm>
            <a:off x="279400" y="719138"/>
            <a:ext cx="39036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</a:rPr>
              <a:t>(3) 浮点数的规格化表示</a:t>
            </a:r>
          </a:p>
        </p:txBody>
      </p:sp>
      <p:sp>
        <p:nvSpPr>
          <p:cNvPr id="56323" name="Text Box 6"/>
          <p:cNvSpPr txBox="1">
            <a:spLocks noChangeArrowheads="1"/>
          </p:cNvSpPr>
          <p:nvPr/>
        </p:nvSpPr>
        <p:spPr bwMode="auto">
          <a:xfrm>
            <a:off x="596900" y="2628900"/>
            <a:ext cx="80962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一个浮点数有不同的表示：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  0.5；  0.05</a:t>
            </a:r>
            <a:r>
              <a:rPr lang="zh-CN" altLang="en-US" b="1">
                <a:solidFill>
                  <a:srgbClr val="000000"/>
                </a:solidFill>
                <a:latin typeface="宋体" charset="-122"/>
                <a:sym typeface="Symbol" pitchFamily="18" charset="2"/>
              </a:rPr>
              <a:t>10</a:t>
            </a:r>
            <a:r>
              <a:rPr lang="zh-CN" altLang="en-US" b="1" baseline="30000">
                <a:solidFill>
                  <a:srgbClr val="000000"/>
                </a:solidFill>
                <a:latin typeface="宋体" charset="-122"/>
                <a:sym typeface="Symbol" pitchFamily="18" charset="2"/>
              </a:rPr>
              <a:t>1</a:t>
            </a:r>
            <a:r>
              <a:rPr lang="en-US" altLang="zh-CN" b="1">
                <a:solidFill>
                  <a:srgbClr val="000000"/>
                </a:solidFill>
                <a:latin typeface="宋体" charset="-122"/>
              </a:rPr>
              <a:t> ；  0.005 </a:t>
            </a:r>
            <a:r>
              <a:rPr lang="zh-CN" altLang="en-US" b="1">
                <a:solidFill>
                  <a:srgbClr val="000000"/>
                </a:solidFill>
                <a:latin typeface="宋体" charset="-122"/>
                <a:sym typeface="Symbol" pitchFamily="18" charset="2"/>
              </a:rPr>
              <a:t>10</a:t>
            </a:r>
            <a:r>
              <a:rPr lang="zh-CN" altLang="en-US" b="1" baseline="30000">
                <a:solidFill>
                  <a:srgbClr val="000000"/>
                </a:solidFill>
                <a:latin typeface="宋体" charset="-122"/>
                <a:sym typeface="Symbol" pitchFamily="18" charset="2"/>
              </a:rPr>
              <a:t>2 ；  </a:t>
            </a:r>
            <a:r>
              <a:rPr lang="zh-CN" altLang="en-US" b="1">
                <a:solidFill>
                  <a:srgbClr val="000000"/>
                </a:solidFill>
                <a:latin typeface="宋体" charset="-122"/>
                <a:sym typeface="Symbol" pitchFamily="18" charset="2"/>
              </a:rPr>
              <a:t>50 10</a:t>
            </a:r>
            <a:r>
              <a:rPr lang="zh-CN" altLang="en-US" b="1" baseline="30000">
                <a:solidFill>
                  <a:srgbClr val="000000"/>
                </a:solidFill>
                <a:latin typeface="宋体" charset="-122"/>
                <a:sym typeface="Symbol" pitchFamily="18" charset="2"/>
              </a:rPr>
              <a:t>-2</a:t>
            </a:r>
            <a:endParaRPr lang="en-US" altLang="zh-CN" b="1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56324" name="Text Box 7"/>
          <p:cNvSpPr txBox="1">
            <a:spLocks noChangeArrowheads="1"/>
          </p:cNvSpPr>
          <p:nvPr/>
        </p:nvSpPr>
        <p:spPr bwMode="auto">
          <a:xfrm>
            <a:off x="533400" y="3886200"/>
            <a:ext cx="8096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为提高数据的表示精度，需做规格化处理。</a:t>
            </a:r>
          </a:p>
        </p:txBody>
      </p:sp>
      <p:sp>
        <p:nvSpPr>
          <p:cNvPr id="56325" name="Text Box 8"/>
          <p:cNvSpPr txBox="1">
            <a:spLocks noChangeArrowheads="1"/>
          </p:cNvSpPr>
          <p:nvPr/>
        </p:nvSpPr>
        <p:spPr bwMode="auto">
          <a:xfrm>
            <a:off x="444500" y="1409700"/>
            <a:ext cx="82486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      浮点数是数学中实数的子集合，由一个纯小数乘上一个指数值来组成。</a:t>
            </a:r>
          </a:p>
        </p:txBody>
      </p:sp>
    </p:spTree>
    <p:extLst>
      <p:ext uri="{BB962C8B-B14F-4D97-AF65-F5344CB8AC3E}">
        <p14:creationId xmlns:p14="http://schemas.microsoft.com/office/powerpoint/2010/main" val="67841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382000" cy="609600"/>
          </a:xfrm>
        </p:spPr>
        <p:txBody>
          <a:bodyPr/>
          <a:lstStyle/>
          <a:p>
            <a:pPr eaLnBrk="1" hangingPunct="1"/>
            <a:r>
              <a:rPr lang="zh-CN" altLang="en-US" sz="3600" b="1" smtClean="0">
                <a:solidFill>
                  <a:srgbClr val="0000FF"/>
                </a:solidFill>
                <a:ea typeface="隶书" pitchFamily="49" charset="-122"/>
              </a:rPr>
              <a:t>浮点数的</a:t>
            </a:r>
            <a:r>
              <a:rPr lang="zh-CN" altLang="en-US" sz="3600" b="1" smtClean="0">
                <a:solidFill>
                  <a:srgbClr val="0000FF"/>
                </a:solidFill>
                <a:latin typeface="宋体" charset="-122"/>
                <a:ea typeface="隶书" pitchFamily="49" charset="-122"/>
              </a:rPr>
              <a:t>规格化</a:t>
            </a:r>
            <a:endParaRPr lang="zh-CN" altLang="en-US" sz="3600" b="1" smtClean="0">
              <a:solidFill>
                <a:srgbClr val="0000FF"/>
              </a:solidFill>
              <a:ea typeface="隶书" pitchFamily="49" charset="-122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305800" cy="26670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000" b="1" smtClean="0">
                <a:solidFill>
                  <a:srgbClr val="0000FF"/>
                </a:solidFill>
                <a:latin typeface="宋体" charset="-122"/>
              </a:rPr>
              <a:t>规格化目的：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 b="1" smtClean="0">
                <a:latin typeface="宋体" charset="-122"/>
              </a:rPr>
              <a:t>为了提高数据的</a:t>
            </a:r>
            <a:r>
              <a:rPr lang="zh-CN" altLang="en-US" sz="2000" b="1" smtClean="0">
                <a:solidFill>
                  <a:schemeClr val="hlink"/>
                </a:solidFill>
                <a:latin typeface="宋体" charset="-122"/>
              </a:rPr>
              <a:t>表示精度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 b="1" smtClean="0">
                <a:latin typeface="宋体" charset="-122"/>
              </a:rPr>
              <a:t>为了数据表示的</a:t>
            </a:r>
            <a:r>
              <a:rPr lang="zh-CN" altLang="en-US" sz="2000" b="1" smtClean="0">
                <a:solidFill>
                  <a:schemeClr val="hlink"/>
                </a:solidFill>
                <a:latin typeface="宋体" charset="-122"/>
              </a:rPr>
              <a:t>唯一性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 b="1" smtClean="0">
                <a:solidFill>
                  <a:srgbClr val="0000FF"/>
                </a:solidFill>
                <a:latin typeface="宋体" charset="-122"/>
              </a:rPr>
              <a:t>尾数为</a:t>
            </a:r>
            <a:r>
              <a:rPr lang="en-US" altLang="zh-CN" sz="2000" b="1" smtClean="0">
                <a:solidFill>
                  <a:srgbClr val="0000FF"/>
                </a:solidFill>
                <a:latin typeface="宋体" charset="-122"/>
              </a:rPr>
              <a:t>R</a:t>
            </a:r>
            <a:r>
              <a:rPr lang="zh-CN" altLang="en-US" sz="2000" b="1" smtClean="0">
                <a:solidFill>
                  <a:srgbClr val="0000FF"/>
                </a:solidFill>
                <a:latin typeface="宋体" charset="-122"/>
              </a:rPr>
              <a:t>进制的规格化</a:t>
            </a:r>
            <a:r>
              <a:rPr lang="zh-CN" altLang="en-US" sz="2000" b="1" smtClean="0">
                <a:latin typeface="宋体" charset="-122"/>
              </a:rPr>
              <a:t>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 b="1" smtClean="0">
                <a:latin typeface="宋体" charset="-122"/>
              </a:rPr>
              <a:t>   绝对值</a:t>
            </a:r>
            <a:r>
              <a:rPr lang="zh-CN" altLang="en-US" sz="2000" b="1" smtClean="0">
                <a:solidFill>
                  <a:schemeClr val="hlink"/>
                </a:solidFill>
                <a:latin typeface="宋体" charset="-122"/>
              </a:rPr>
              <a:t>大于或等于1/</a:t>
            </a:r>
            <a:r>
              <a:rPr lang="en-US" altLang="zh-CN" sz="2000" b="1" smtClean="0">
                <a:solidFill>
                  <a:schemeClr val="hlink"/>
                </a:solidFill>
                <a:latin typeface="宋体" charset="-122"/>
              </a:rPr>
              <a:t>R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000" b="1" smtClean="0">
                <a:solidFill>
                  <a:srgbClr val="0000FF"/>
                </a:solidFill>
                <a:latin typeface="宋体" charset="-122"/>
              </a:rPr>
              <a:t>二进制原码的规格化数的</a:t>
            </a:r>
            <a:r>
              <a:rPr lang="zh-CN" altLang="en-US" sz="2000" b="1" smtClean="0">
                <a:solidFill>
                  <a:schemeClr val="hlink"/>
                </a:solidFill>
                <a:latin typeface="宋体" charset="-122"/>
              </a:rPr>
              <a:t>表现形式</a:t>
            </a:r>
            <a:r>
              <a:rPr lang="zh-CN" altLang="en-US" sz="2000" b="1" smtClean="0">
                <a:latin typeface="宋体" charset="-122"/>
              </a:rPr>
              <a:t>：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sz="2000" b="1" smtClean="0">
                <a:latin typeface="宋体" charset="-122"/>
              </a:rPr>
              <a:t>     </a:t>
            </a:r>
          </a:p>
        </p:txBody>
      </p:sp>
      <p:sp>
        <p:nvSpPr>
          <p:cNvPr id="57348" name="Text Box 4"/>
          <p:cNvSpPr txBox="1">
            <a:spLocks noChangeArrowheads="1"/>
          </p:cNvSpPr>
          <p:nvPr/>
        </p:nvSpPr>
        <p:spPr bwMode="auto">
          <a:xfrm>
            <a:off x="5562600" y="4953000"/>
            <a:ext cx="3124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正数  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0.1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xxxxxx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负数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1.0xxxxxx</a:t>
            </a:r>
          </a:p>
        </p:txBody>
      </p:sp>
      <p:sp>
        <p:nvSpPr>
          <p:cNvPr id="57349" name="Text Box 5"/>
          <p:cNvSpPr txBox="1">
            <a:spLocks noChangeArrowheads="1"/>
          </p:cNvSpPr>
          <p:nvPr/>
        </p:nvSpPr>
        <p:spPr bwMode="auto">
          <a:xfrm>
            <a:off x="2895600" y="3429000"/>
            <a:ext cx="32004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正数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0.1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xxxxxx</a:t>
            </a:r>
          </a:p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负数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1.1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xxxxxx</a:t>
            </a: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304800" y="5029200"/>
            <a:ext cx="5486400" cy="93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补码尾数的规格化的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表现形式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：</a:t>
            </a:r>
          </a:p>
          <a:p>
            <a:pPr lvl="1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FF0000"/>
              </a:buClr>
              <a:buSzPct val="55000"/>
              <a:buFont typeface="Wingdings" pitchFamily="2" charset="2"/>
              <a:buNone/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尾数的最高位与符号位相反</a:t>
            </a:r>
          </a:p>
        </p:txBody>
      </p:sp>
    </p:spTree>
    <p:extLst>
      <p:ext uri="{BB962C8B-B14F-4D97-AF65-F5344CB8AC3E}">
        <p14:creationId xmlns:p14="http://schemas.microsoft.com/office/powerpoint/2010/main" val="10173185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1026"/>
          <p:cNvSpPr txBox="1">
            <a:spLocks noChangeArrowheads="1"/>
          </p:cNvSpPr>
          <p:nvPr/>
        </p:nvSpPr>
        <p:spPr bwMode="auto">
          <a:xfrm>
            <a:off x="304800" y="3783013"/>
            <a:ext cx="85852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    把不满足这一表示要求的尾数，变成满足这一要求的尾数的操作过程，叫作浮点数的</a:t>
            </a:r>
            <a:r>
              <a:rPr lang="zh-CN" altLang="en-US" b="1">
                <a:solidFill>
                  <a:srgbClr val="0000FF"/>
                </a:solidFill>
                <a:latin typeface="宋体" charset="-122"/>
              </a:rPr>
              <a:t>规格化处理</a:t>
            </a: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，通过</a:t>
            </a:r>
            <a:r>
              <a:rPr lang="zh-CN" altLang="en-US" b="1">
                <a:solidFill>
                  <a:srgbClr val="0000FF"/>
                </a:solidFill>
                <a:latin typeface="宋体" charset="-122"/>
              </a:rPr>
              <a:t>尾数移位和修改阶码实现</a:t>
            </a: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。</a:t>
            </a:r>
          </a:p>
        </p:txBody>
      </p:sp>
      <p:sp>
        <p:nvSpPr>
          <p:cNvPr id="58371" name="Rectangle 1027"/>
          <p:cNvSpPr>
            <a:spLocks noChangeArrowheads="1"/>
          </p:cNvSpPr>
          <p:nvPr/>
        </p:nvSpPr>
        <p:spPr bwMode="auto">
          <a:xfrm>
            <a:off x="304800" y="1231900"/>
            <a:ext cx="8458200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在计算机内，其纯小数部分被称为浮点数的尾数，对非 0 值的浮点数，要求尾数的绝对值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必须 &gt;= 1/2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，即尾数域的最高有效位应为1,称满足这种表示要求的浮点数为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规格化表示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:</a:t>
            </a:r>
          </a:p>
          <a:p>
            <a:pPr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              0.1000101010</a:t>
            </a:r>
          </a:p>
        </p:txBody>
      </p:sp>
      <p:sp>
        <p:nvSpPr>
          <p:cNvPr id="58372" name="Rectangle 1031"/>
          <p:cNvSpPr>
            <a:spLocks noChangeArrowheads="1"/>
          </p:cNvSpPr>
          <p:nvPr/>
        </p:nvSpPr>
        <p:spPr bwMode="auto">
          <a:xfrm>
            <a:off x="304800" y="433388"/>
            <a:ext cx="26320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规格化处理：</a:t>
            </a:r>
          </a:p>
        </p:txBody>
      </p:sp>
    </p:spTree>
    <p:extLst>
      <p:ext uri="{BB962C8B-B14F-4D97-AF65-F5344CB8AC3E}">
        <p14:creationId xmlns:p14="http://schemas.microsoft.com/office/powerpoint/2010/main" val="39117223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ChangeArrowheads="1"/>
          </p:cNvSpPr>
          <p:nvPr/>
        </p:nvSpPr>
        <p:spPr bwMode="auto">
          <a:xfrm>
            <a:off x="431800" y="1155700"/>
            <a:ext cx="82296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    既然非 0 值浮点数的尾数数值最高位必定为 1，则在保存浮点数到内存前，通过尾数左移,  强行把该位去掉, 用同样多的尾数位就能多存一位二进制数，有利于提高数据表示精度，称这种处理方案使用了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隐藏位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技术。        </a:t>
            </a:r>
          </a:p>
        </p:txBody>
      </p:sp>
      <p:sp>
        <p:nvSpPr>
          <p:cNvPr id="59395" name="Text Box 1028"/>
          <p:cNvSpPr txBox="1">
            <a:spLocks noChangeArrowheads="1"/>
          </p:cNvSpPr>
          <p:nvPr/>
        </p:nvSpPr>
        <p:spPr bwMode="auto">
          <a:xfrm>
            <a:off x="2286000" y="3200400"/>
            <a:ext cx="5448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FF"/>
                </a:solidFill>
                <a:latin typeface="宋体" charset="-122"/>
              </a:rPr>
              <a:t>0.1100010  </a:t>
            </a:r>
            <a:r>
              <a:rPr lang="zh-CN" altLang="en-US" sz="3200" b="1">
                <a:solidFill>
                  <a:srgbClr val="0000FF"/>
                </a:solidFill>
                <a:latin typeface="宋体" charset="-122"/>
                <a:sym typeface="Symbol" pitchFamily="18" charset="2"/>
              </a:rPr>
              <a:t>  1.100010</a:t>
            </a:r>
            <a:endParaRPr lang="zh-CN" altLang="en-US" sz="3200" b="1">
              <a:solidFill>
                <a:srgbClr val="0000FF"/>
              </a:solidFill>
              <a:latin typeface="宋体" charset="-122"/>
            </a:endParaRPr>
          </a:p>
        </p:txBody>
      </p:sp>
      <p:sp>
        <p:nvSpPr>
          <p:cNvPr id="59396" name="Text Box 1029"/>
          <p:cNvSpPr txBox="1">
            <a:spLocks noChangeArrowheads="1"/>
          </p:cNvSpPr>
          <p:nvPr/>
        </p:nvSpPr>
        <p:spPr bwMode="auto">
          <a:xfrm>
            <a:off x="373063" y="4133850"/>
            <a:ext cx="848360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    当然，在取回这样的浮点数到运算器执行运算时，必须先恢复该隐藏位。</a:t>
            </a:r>
          </a:p>
        </p:txBody>
      </p:sp>
      <p:sp>
        <p:nvSpPr>
          <p:cNvPr id="59397" name="Rectangle 1032"/>
          <p:cNvSpPr>
            <a:spLocks noChangeArrowheads="1"/>
          </p:cNvSpPr>
          <p:nvPr/>
        </p:nvSpPr>
        <p:spPr bwMode="auto">
          <a:xfrm>
            <a:off x="228600" y="431800"/>
            <a:ext cx="23590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3200" b="1">
                <a:solidFill>
                  <a:srgbClr val="FF0000"/>
                </a:solidFill>
                <a:latin typeface="Times New Roman" pitchFamily="18" charset="0"/>
                <a:ea typeface="隶书" pitchFamily="49" charset="-122"/>
              </a:rPr>
              <a:t>隐藏位技术:</a:t>
            </a:r>
          </a:p>
        </p:txBody>
      </p:sp>
    </p:spTree>
    <p:extLst>
      <p:ext uri="{BB962C8B-B14F-4D97-AF65-F5344CB8AC3E}">
        <p14:creationId xmlns:p14="http://schemas.microsoft.com/office/powerpoint/2010/main" val="22509935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ChangeArrowheads="1"/>
          </p:cNvSpPr>
          <p:nvPr/>
        </p:nvSpPr>
        <p:spPr bwMode="auto">
          <a:xfrm>
            <a:off x="304800" y="304800"/>
            <a:ext cx="3903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 b="1">
                <a:solidFill>
                  <a:srgbClr val="FF0000"/>
                </a:solidFill>
                <a:latin typeface="Times New Roman" pitchFamily="18" charset="0"/>
              </a:rPr>
              <a:t>(4) 规格化浮点数的真值</a:t>
            </a:r>
          </a:p>
        </p:txBody>
      </p:sp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533400" y="3505200"/>
            <a:ext cx="8153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CC0000"/>
                </a:solidFill>
                <a:latin typeface="Times New Roman" pitchFamily="18" charset="0"/>
              </a:rPr>
              <a:t>        x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 =</a:t>
            </a:r>
            <a:r>
              <a:rPr kumimoji="1" lang="en-US" altLang="zh-CN" sz="2800" b="1">
                <a:solidFill>
                  <a:srgbClr val="6600FF"/>
                </a:solidFill>
                <a:latin typeface="Times New Roman" pitchFamily="18" charset="0"/>
              </a:rPr>
              <a:t>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(</a:t>
            </a:r>
            <a:r>
              <a:rPr kumimoji="1" lang="en-US" altLang="zh-CN" sz="2800" b="1">
                <a:solidFill>
                  <a:srgbClr val="CC0000"/>
                </a:solidFill>
                <a:latin typeface="宋体" charset="-122"/>
              </a:rPr>
              <a:t>-1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)</a:t>
            </a:r>
            <a:r>
              <a:rPr kumimoji="1" lang="en-US" altLang="zh-CN" sz="2800" b="1" baseline="30000">
                <a:solidFill>
                  <a:srgbClr val="CC0000"/>
                </a:solidFill>
                <a:latin typeface="Times New Roman" pitchFamily="18" charset="0"/>
              </a:rPr>
              <a:t>s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en-US" altLang="zh-CN" sz="2800" b="1">
                <a:solidFill>
                  <a:srgbClr val="6600FF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(1.</a:t>
            </a:r>
            <a:r>
              <a:rPr kumimoji="1" lang="zh-CN" altLang="en-US" sz="2800" b="1" i="1">
                <a:solidFill>
                  <a:srgbClr val="CC0000"/>
                </a:solidFill>
                <a:latin typeface="Times New Roman" pitchFamily="18" charset="0"/>
              </a:rPr>
              <a:t>Ｍ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</a:rPr>
              <a:t>)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</a:rPr>
              <a:t> 2</a:t>
            </a:r>
            <a:r>
              <a:rPr kumimoji="1" lang="zh-CN" altLang="en-US" sz="2800" b="1" i="1" baseline="30000">
                <a:solidFill>
                  <a:srgbClr val="CC0000"/>
                </a:solidFill>
                <a:latin typeface="Times New Roman" pitchFamily="18" charset="0"/>
              </a:rPr>
              <a:t>Ｅ－127                  </a:t>
            </a:r>
            <a:r>
              <a:rPr kumimoji="1" lang="en-US" altLang="zh-CN" sz="2800" b="1" i="1">
                <a:solidFill>
                  <a:srgbClr val="6600FF"/>
                </a:solidFill>
                <a:latin typeface="Times New Roman" pitchFamily="18" charset="0"/>
              </a:rPr>
              <a:t>e </a:t>
            </a:r>
            <a:r>
              <a:rPr kumimoji="1" lang="en-US" altLang="zh-CN" sz="2800" b="1">
                <a:solidFill>
                  <a:srgbClr val="6600FF"/>
                </a:solidFill>
                <a:latin typeface="Times New Roman" pitchFamily="18" charset="0"/>
              </a:rPr>
              <a:t>=</a:t>
            </a:r>
            <a:r>
              <a:rPr kumimoji="1" lang="zh-CN" altLang="en-US" sz="2800" b="1" i="1">
                <a:solidFill>
                  <a:srgbClr val="6600FF"/>
                </a:solidFill>
                <a:latin typeface="Times New Roman" pitchFamily="18" charset="0"/>
              </a:rPr>
              <a:t>Ｅ </a:t>
            </a:r>
            <a:r>
              <a:rPr kumimoji="1" lang="zh-CN" altLang="en-US" sz="2800" b="1">
                <a:solidFill>
                  <a:srgbClr val="0000FF"/>
                </a:solidFill>
                <a:latin typeface="Times New Roman" pitchFamily="18" charset="0"/>
              </a:rPr>
              <a:t>– </a:t>
            </a:r>
            <a:r>
              <a:rPr kumimoji="1" lang="zh-CN" altLang="en-US" sz="2800" b="1">
                <a:solidFill>
                  <a:srgbClr val="6600FF"/>
                </a:solidFill>
                <a:latin typeface="Times New Roman" pitchFamily="18" charset="0"/>
              </a:rPr>
              <a:t>127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endParaRPr kumimoji="1" lang="zh-CN" altLang="en-US" sz="2800" b="1">
              <a:solidFill>
                <a:srgbClr val="CC0000"/>
              </a:solidFill>
              <a:latin typeface="Times New Roman" pitchFamily="18" charset="0"/>
            </a:endParaRPr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457200" y="3022600"/>
            <a:ext cx="546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</a:rPr>
              <a:t>一个规格化的32位浮点数</a:t>
            </a:r>
            <a:r>
              <a:rPr kumimoji="1" lang="zh-CN" altLang="en-US" sz="2400" b="1" i="1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</a:rPr>
              <a:t>的真值为：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 </a:t>
            </a:r>
          </a:p>
        </p:txBody>
      </p:sp>
      <p:grpSp>
        <p:nvGrpSpPr>
          <p:cNvPr id="60421" name="Group 24"/>
          <p:cNvGrpSpPr>
            <a:grpSpLocks/>
          </p:cNvGrpSpPr>
          <p:nvPr/>
        </p:nvGrpSpPr>
        <p:grpSpPr bwMode="auto">
          <a:xfrm>
            <a:off x="3595688" y="762000"/>
            <a:ext cx="3813175" cy="944563"/>
            <a:chOff x="2265" y="735"/>
            <a:chExt cx="2402" cy="595"/>
          </a:xfrm>
        </p:grpSpPr>
        <p:grpSp>
          <p:nvGrpSpPr>
            <p:cNvPr id="60431" name="Group 23"/>
            <p:cNvGrpSpPr>
              <a:grpSpLocks/>
            </p:cNvGrpSpPr>
            <p:nvPr/>
          </p:nvGrpSpPr>
          <p:grpSpPr bwMode="auto">
            <a:xfrm>
              <a:off x="2265" y="997"/>
              <a:ext cx="2360" cy="333"/>
              <a:chOff x="2265" y="997"/>
              <a:chExt cx="2360" cy="333"/>
            </a:xfrm>
          </p:grpSpPr>
          <p:sp>
            <p:nvSpPr>
              <p:cNvPr id="60434" name="Text Box 9"/>
              <p:cNvSpPr txBox="1">
                <a:spLocks noChangeArrowheads="1"/>
              </p:cNvSpPr>
              <p:nvPr/>
            </p:nvSpPr>
            <p:spPr bwMode="auto">
              <a:xfrm>
                <a:off x="2265" y="997"/>
                <a:ext cx="2360" cy="333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fontAlgn="base" hangingPunct="1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altLang="zh-CN" sz="2800" b="1">
                    <a:solidFill>
                      <a:srgbClr val="000000"/>
                    </a:solidFill>
                    <a:latin typeface="Times New Roman" pitchFamily="18" charset="0"/>
                  </a:rPr>
                  <a:t> S        E              M</a:t>
                </a:r>
              </a:p>
            </p:txBody>
          </p:sp>
          <p:sp>
            <p:nvSpPr>
              <p:cNvPr id="60435" name="Line 10"/>
              <p:cNvSpPr>
                <a:spLocks noChangeShapeType="1"/>
              </p:cNvSpPr>
              <p:nvPr/>
            </p:nvSpPr>
            <p:spPr bwMode="auto">
              <a:xfrm>
                <a:off x="2610" y="997"/>
                <a:ext cx="1" cy="3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0432" name="Text Box 11"/>
            <p:cNvSpPr txBox="1">
              <a:spLocks noChangeArrowheads="1"/>
            </p:cNvSpPr>
            <p:nvPr/>
          </p:nvSpPr>
          <p:spPr bwMode="auto">
            <a:xfrm>
              <a:off x="2295" y="735"/>
              <a:ext cx="2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b="1">
                  <a:solidFill>
                    <a:srgbClr val="0000FF"/>
                  </a:solidFill>
                  <a:latin typeface="Times New Roman" pitchFamily="18" charset="0"/>
                </a:rPr>
                <a:t>31  30      23 22                    0</a:t>
              </a:r>
            </a:p>
          </p:txBody>
        </p:sp>
        <p:sp>
          <p:nvSpPr>
            <p:cNvPr id="60433" name="Line 12"/>
            <p:cNvSpPr>
              <a:spLocks noChangeShapeType="1"/>
            </p:cNvSpPr>
            <p:nvPr/>
          </p:nvSpPr>
          <p:spPr bwMode="auto">
            <a:xfrm>
              <a:off x="3330" y="997"/>
              <a:ext cx="1" cy="3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grpSp>
        <p:nvGrpSpPr>
          <p:cNvPr id="60422" name="Group 13"/>
          <p:cNvGrpSpPr>
            <a:grpSpLocks/>
          </p:cNvGrpSpPr>
          <p:nvPr/>
        </p:nvGrpSpPr>
        <p:grpSpPr bwMode="auto">
          <a:xfrm>
            <a:off x="2819400" y="1981200"/>
            <a:ext cx="5308600" cy="1006475"/>
            <a:chOff x="2151" y="2363"/>
            <a:chExt cx="3344" cy="634"/>
          </a:xfrm>
        </p:grpSpPr>
        <p:sp>
          <p:nvSpPr>
            <p:cNvPr id="60428" name="Text Box 14"/>
            <p:cNvSpPr txBox="1">
              <a:spLocks noChangeArrowheads="1"/>
            </p:cNvSpPr>
            <p:nvPr/>
          </p:nvSpPr>
          <p:spPr bwMode="auto">
            <a:xfrm>
              <a:off x="2583" y="2670"/>
              <a:ext cx="88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FF"/>
                  </a:solidFill>
                  <a:latin typeface="Times New Roman" pitchFamily="18" charset="0"/>
                </a:rPr>
                <a:t> = 2</a:t>
              </a:r>
              <a:r>
                <a:rPr lang="en-US" altLang="zh-CN" sz="2800" b="1" baseline="30000">
                  <a:solidFill>
                    <a:srgbClr val="0000FF"/>
                  </a:solidFill>
                  <a:latin typeface="Times New Roman" pitchFamily="18" charset="0"/>
                </a:rPr>
                <a:t>n 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</a:rPr>
                <a:t>+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endParaRPr lang="en-US" altLang="zh-CN" sz="2800" b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  <p:sp>
          <p:nvSpPr>
            <p:cNvPr id="60429" name="Text Box 15"/>
            <p:cNvSpPr txBox="1">
              <a:spLocks noChangeArrowheads="1"/>
            </p:cNvSpPr>
            <p:nvPr/>
          </p:nvSpPr>
          <p:spPr bwMode="auto">
            <a:xfrm>
              <a:off x="4055" y="2654"/>
              <a:ext cx="14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800" b="1">
                  <a:solidFill>
                    <a:srgbClr val="0000FF"/>
                  </a:solidFill>
                  <a:latin typeface="Times New Roman" pitchFamily="18" charset="0"/>
                </a:rPr>
                <a:t>  -2</a:t>
              </a:r>
              <a:r>
                <a:rPr lang="en-US" altLang="zh-CN" sz="2800" b="1" baseline="30000">
                  <a:solidFill>
                    <a:srgbClr val="0000FF"/>
                  </a:solidFill>
                  <a:latin typeface="Times New Roman" pitchFamily="18" charset="0"/>
                </a:rPr>
                <a:t>n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  <a:sym typeface="Symbol" pitchFamily="18" charset="2"/>
                </a:rPr>
                <a:t>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zh-CN" altLang="en-US" sz="2800" b="1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sz="2800" b="1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  <a:ea typeface="楷体_GB2312" pitchFamily="49" charset="-122"/>
                  <a:sym typeface="Symbol" pitchFamily="18" charset="2"/>
                </a:rPr>
                <a:t>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itchFamily="18" charset="0"/>
                </a:rPr>
                <a:t> 2</a:t>
              </a:r>
              <a:r>
                <a:rPr lang="en-US" altLang="zh-CN" sz="2800" b="1" baseline="30000">
                  <a:solidFill>
                    <a:srgbClr val="0000FF"/>
                  </a:solidFill>
                  <a:latin typeface="Times New Roman" pitchFamily="18" charset="0"/>
                </a:rPr>
                <a:t>n</a:t>
              </a:r>
            </a:p>
          </p:txBody>
        </p:sp>
        <p:sp>
          <p:nvSpPr>
            <p:cNvPr id="60430" name="Rectangle 16"/>
            <p:cNvSpPr>
              <a:spLocks noChangeArrowheads="1"/>
            </p:cNvSpPr>
            <p:nvPr/>
          </p:nvSpPr>
          <p:spPr bwMode="auto">
            <a:xfrm>
              <a:off x="2151" y="2363"/>
              <a:ext cx="2689" cy="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800" b="1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kumimoji="1" lang="en-US" altLang="zh-CN" sz="2800" b="1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  <a:r>
                <a:rPr kumimoji="1" lang="zh-CN" altLang="en-US" sz="2800" b="1" baseline="-25000">
                  <a:solidFill>
                    <a:srgbClr val="0000FF"/>
                  </a:solidFill>
                  <a:latin typeface="Times New Roman" pitchFamily="18" charset="0"/>
                </a:rPr>
                <a:t>移</a:t>
              </a:r>
              <a:r>
                <a:rPr kumimoji="1" lang="zh-CN" altLang="en-US" sz="2800" b="1">
                  <a:solidFill>
                    <a:srgbClr val="0000FF"/>
                  </a:solidFill>
                  <a:latin typeface="Times New Roman" pitchFamily="18" charset="0"/>
                </a:rPr>
                <a:t> =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itchFamily="18" charset="0"/>
                </a:rPr>
                <a:t>x0 x</a:t>
              </a:r>
              <a:r>
                <a:rPr kumimoji="1" lang="zh-CN" altLang="en-US" sz="2800" b="1" i="1">
                  <a:solidFill>
                    <a:srgbClr val="0000FF"/>
                  </a:solidFill>
                  <a:latin typeface="Times New Roman" pitchFamily="18" charset="0"/>
                </a:rPr>
                <a:t>1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itchFamily="18" charset="0"/>
                </a:rPr>
                <a:t>x2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itchFamily="18" charset="0"/>
                  <a:cs typeface="Times New Roman" pitchFamily="18" charset="0"/>
                </a:rPr>
                <a:t>··· </a:t>
              </a:r>
              <a:r>
                <a:rPr kumimoji="1" lang="en-US" altLang="zh-CN" sz="2800" b="1" i="1">
                  <a:solidFill>
                    <a:srgbClr val="0000FF"/>
                  </a:solidFill>
                  <a:latin typeface="Times New Roman" pitchFamily="18" charset="0"/>
                </a:rPr>
                <a:t>xn</a:t>
              </a:r>
              <a:endParaRPr kumimoji="1" lang="zh-CN" altLang="en-US" sz="2800" b="1" i="1">
                <a:solidFill>
                  <a:srgbClr val="0000FF"/>
                </a:solidFill>
                <a:latin typeface="Times New Roman" pitchFamily="18" charset="0"/>
              </a:endParaRPr>
            </a:p>
          </p:txBody>
        </p:sp>
      </p:grpSp>
      <p:sp>
        <p:nvSpPr>
          <p:cNvPr id="60423" name="Text Box 17"/>
          <p:cNvSpPr txBox="1">
            <a:spLocks noChangeArrowheads="1"/>
          </p:cNvSpPr>
          <p:nvPr/>
        </p:nvSpPr>
        <p:spPr bwMode="auto">
          <a:xfrm>
            <a:off x="685800" y="1219200"/>
            <a:ext cx="2581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32位浮点数格式：</a:t>
            </a:r>
            <a:endParaRPr lang="en-US" altLang="zh-CN" b="1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60424" name="Text Box 18"/>
          <p:cNvSpPr txBox="1">
            <a:spLocks noChangeArrowheads="1"/>
          </p:cNvSpPr>
          <p:nvPr/>
        </p:nvSpPr>
        <p:spPr bwMode="auto">
          <a:xfrm>
            <a:off x="762000" y="2057400"/>
            <a:ext cx="174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宋体" charset="-122"/>
              </a:rPr>
              <a:t>移码定义：</a:t>
            </a:r>
            <a:endParaRPr lang="en-US" altLang="zh-CN" b="1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60425" name="Rectangle 19"/>
          <p:cNvSpPr>
            <a:spLocks noChangeArrowheads="1"/>
          </p:cNvSpPr>
          <p:nvPr/>
        </p:nvSpPr>
        <p:spPr bwMode="auto">
          <a:xfrm>
            <a:off x="838200" y="5181600"/>
            <a:ext cx="4945063" cy="66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13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i="1">
                <a:solidFill>
                  <a:srgbClr val="6600FF"/>
                </a:solidFill>
                <a:latin typeface="Times New Roman" pitchFamily="18" charset="0"/>
              </a:rPr>
              <a:t>        </a:t>
            </a:r>
            <a:r>
              <a:rPr kumimoji="1" lang="en-US" altLang="zh-CN" sz="2800" b="1" i="1">
                <a:solidFill>
                  <a:srgbClr val="CC0000"/>
                </a:solidFill>
                <a:latin typeface="Times New Roman" pitchFamily="18" charset="0"/>
              </a:rPr>
              <a:t>x 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= ( 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</a:rPr>
              <a:t>–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1)</a:t>
            </a:r>
            <a:r>
              <a:rPr kumimoji="1" lang="en-US" altLang="zh-CN" sz="2800" b="1" i="1" baseline="30000">
                <a:solidFill>
                  <a:srgbClr val="CC0000"/>
                </a:solidFill>
                <a:latin typeface="Times New Roman" pitchFamily="18" charset="0"/>
              </a:rPr>
              <a:t>s</a:t>
            </a:r>
            <a:r>
              <a:rPr kumimoji="1" lang="en-US" altLang="zh-CN" sz="2800" b="1">
                <a:solidFill>
                  <a:srgbClr val="CC0000"/>
                </a:solidFill>
                <a:latin typeface="Times New Roman" pitchFamily="18" charset="0"/>
              </a:rPr>
              <a:t>×(1.</a:t>
            </a:r>
            <a:r>
              <a:rPr kumimoji="1" lang="zh-CN" altLang="en-US" sz="2800" b="1" i="1">
                <a:solidFill>
                  <a:srgbClr val="CC0000"/>
                </a:solidFill>
                <a:latin typeface="Times New Roman" pitchFamily="18" charset="0"/>
              </a:rPr>
              <a:t>Ｍ</a:t>
            </a:r>
            <a:r>
              <a:rPr kumimoji="1" lang="zh-CN" altLang="en-US" sz="2800" b="1">
                <a:solidFill>
                  <a:srgbClr val="CC0000"/>
                </a:solidFill>
                <a:latin typeface="Times New Roman" pitchFamily="18" charset="0"/>
              </a:rPr>
              <a:t>)×2</a:t>
            </a:r>
            <a:r>
              <a:rPr kumimoji="1" lang="zh-CN" altLang="en-US" sz="2800" b="1" i="1" baseline="30000">
                <a:solidFill>
                  <a:srgbClr val="CC0000"/>
                </a:solidFill>
                <a:latin typeface="Times New Roman" pitchFamily="18" charset="0"/>
              </a:rPr>
              <a:t>Ｅ－1023</a:t>
            </a:r>
          </a:p>
        </p:txBody>
      </p:sp>
      <p:sp>
        <p:nvSpPr>
          <p:cNvPr id="60426" name="Rectangle 20"/>
          <p:cNvSpPr>
            <a:spLocks noChangeArrowheads="1"/>
          </p:cNvSpPr>
          <p:nvPr/>
        </p:nvSpPr>
        <p:spPr bwMode="auto">
          <a:xfrm>
            <a:off x="685800" y="4699000"/>
            <a:ext cx="546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</a:rPr>
              <a:t>一个规格化的64位浮点数</a:t>
            </a:r>
            <a:r>
              <a:rPr kumimoji="1" lang="zh-CN" altLang="en-US" sz="2400" b="1" i="1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</a:rPr>
              <a:t>的真值为： </a:t>
            </a:r>
          </a:p>
        </p:txBody>
      </p:sp>
      <p:sp>
        <p:nvSpPr>
          <p:cNvPr id="60427" name="Rectangle 25"/>
          <p:cNvSpPr>
            <a:spLocks noChangeArrowheads="1"/>
          </p:cNvSpPr>
          <p:nvPr/>
        </p:nvSpPr>
        <p:spPr bwMode="auto">
          <a:xfrm>
            <a:off x="990600" y="6070600"/>
            <a:ext cx="3689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6600FF"/>
                </a:solidFill>
                <a:latin typeface="Times New Roman" pitchFamily="18" charset="0"/>
              </a:rPr>
              <a:t>这里</a:t>
            </a:r>
            <a:r>
              <a:rPr kumimoji="1" lang="en-US" altLang="zh-CN" sz="2400" b="1">
                <a:solidFill>
                  <a:srgbClr val="FF0000"/>
                </a:solidFill>
                <a:latin typeface="Times New Roman" pitchFamily="18" charset="0"/>
              </a:rPr>
              <a:t>e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是真值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</a:rPr>
              <a:t>，Ｅ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</a:rPr>
              <a:t>是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</a:rPr>
              <a:t>机器数</a:t>
            </a:r>
          </a:p>
        </p:txBody>
      </p:sp>
    </p:spTree>
    <p:extLst>
      <p:ext uri="{BB962C8B-B14F-4D97-AF65-F5344CB8AC3E}">
        <p14:creationId xmlns:p14="http://schemas.microsoft.com/office/powerpoint/2010/main" val="35732622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auto">
          <a:xfrm>
            <a:off x="381000" y="381000"/>
            <a:ext cx="87630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例：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itchFamily="18" charset="0"/>
              </a:rPr>
              <a:t>若浮点数 </a:t>
            </a:r>
            <a:r>
              <a:rPr kumimoji="1" lang="en-US" altLang="zh-CN" sz="2400" b="1" i="1">
                <a:solidFill>
                  <a:srgbClr val="006600"/>
                </a:solidFill>
                <a:latin typeface="Times New Roman" pitchFamily="18" charset="0"/>
                <a:ea typeface="隶书" pitchFamily="49" charset="-122"/>
              </a:rPr>
              <a:t>x 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itchFamily="18" charset="0"/>
              </a:rPr>
              <a:t>的二进制存储格式为(41360000)</a:t>
            </a:r>
            <a:r>
              <a:rPr kumimoji="1" lang="zh-CN" altLang="en-US" sz="2400" b="1" baseline="-30000">
                <a:solidFill>
                  <a:srgbClr val="006600"/>
                </a:solidFill>
                <a:latin typeface="Times New Roman" pitchFamily="18" charset="0"/>
              </a:rPr>
              <a:t>16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itchFamily="18" charset="0"/>
              </a:rPr>
              <a:t>，求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6600"/>
                </a:solidFill>
                <a:latin typeface="Times New Roman" pitchFamily="18" charset="0"/>
              </a:rPr>
              <a:t>          其32位浮点数的十进制值。</a:t>
            </a:r>
          </a:p>
        </p:txBody>
      </p:sp>
      <p:sp>
        <p:nvSpPr>
          <p:cNvPr id="61443" name="Text Box 4"/>
          <p:cNvSpPr txBox="1">
            <a:spLocks noChangeArrowheads="1"/>
          </p:cNvSpPr>
          <p:nvPr/>
        </p:nvSpPr>
        <p:spPr bwMode="auto">
          <a:xfrm>
            <a:off x="304800" y="1485900"/>
            <a:ext cx="8534400" cy="445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解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： 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itchFamily="18" charset="0"/>
              </a:rPr>
              <a:t>100,0001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,</a:t>
            </a:r>
            <a:r>
              <a:rPr lang="zh-CN" altLang="en-US" b="1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011,0110,0000,0000,0000,0000</a:t>
            </a:r>
          </a:p>
          <a:p>
            <a:pPr eaLnBrk="1" fontAlgn="base" hangingPunct="1">
              <a:lnSpc>
                <a:spcPct val="7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      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数符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：0</a:t>
            </a:r>
          </a:p>
          <a:p>
            <a:pPr eaLnBrk="1" fontAlgn="base" hangingPunct="1">
              <a:lnSpc>
                <a:spcPct val="4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>      </a:t>
            </a:r>
            <a:r>
              <a:rPr lang="zh-CN" altLang="en-US" b="1">
                <a:solidFill>
                  <a:srgbClr val="0000FF"/>
                </a:solidFill>
                <a:latin typeface="Times New Roman" pitchFamily="18" charset="0"/>
              </a:rPr>
              <a:t>阶码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：1000,0010</a:t>
            </a:r>
          </a:p>
          <a:p>
            <a:pPr eaLnBrk="1" fontAlgn="base" hangingPunct="1">
              <a:lnSpc>
                <a:spcPct val="4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>      尾数：011,0110,0000,0000,0000,0000</a:t>
            </a:r>
          </a:p>
          <a:p>
            <a:pPr eaLnBrk="1" fontAlgn="base" hangingPunct="1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      指数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e＝</a:t>
            </a: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阶码－127＝10000010－01111111 ＝00000011=(3)</a:t>
            </a:r>
            <a:r>
              <a:rPr lang="zh-CN" altLang="en-US" b="1" baseline="-30000">
                <a:solidFill>
                  <a:srgbClr val="333399"/>
                </a:solidFill>
                <a:latin typeface="Times New Roman" pitchFamily="18" charset="0"/>
              </a:rPr>
              <a:t>10</a:t>
            </a:r>
            <a: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zh-CN" altLang="en-US" b="1">
                <a:solidFill>
                  <a:srgbClr val="000000"/>
                </a:solidFill>
                <a:latin typeface="Times New Roman" pitchFamily="18" charset="0"/>
              </a:rPr>
            </a:b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　  包括隐藏位1的尾数：</a:t>
            </a:r>
          </a:p>
          <a:p>
            <a:pPr eaLnBrk="1" fontAlgn="base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         1.</a:t>
            </a:r>
            <a:r>
              <a:rPr lang="en-US" altLang="zh-CN" b="1" i="1">
                <a:solidFill>
                  <a:srgbClr val="333399"/>
                </a:solidFill>
                <a:latin typeface="Times New Roman" pitchFamily="18" charset="0"/>
              </a:rPr>
              <a:t>M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＝1.011 0110 0000 0000 0000 0000＝1.011011</a:t>
            </a:r>
            <a: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  <a:t/>
            </a:r>
            <a:br>
              <a:rPr lang="en-US" altLang="zh-CN" b="1">
                <a:solidFill>
                  <a:srgbClr val="000000"/>
                </a:solidFill>
                <a:latin typeface="Times New Roman" pitchFamily="18" charset="0"/>
              </a:rPr>
            </a:br>
            <a:endParaRPr lang="en-US" altLang="zh-CN" b="1">
              <a:solidFill>
                <a:srgbClr val="000000"/>
              </a:solidFill>
              <a:latin typeface="Times New Roman" pitchFamily="18" charset="0"/>
            </a:endParaRPr>
          </a:p>
          <a:p>
            <a:pPr eaLnBrk="1" fontAlgn="base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endParaRPr lang="en-US" altLang="zh-CN" b="1">
              <a:solidFill>
                <a:srgbClr val="000000"/>
              </a:solidFill>
              <a:latin typeface="Times New Roman" pitchFamily="18" charset="0"/>
            </a:endParaRPr>
          </a:p>
          <a:p>
            <a:pPr eaLnBrk="1" fontAlgn="base" hangingPunct="1">
              <a:lnSpc>
                <a:spcPct val="30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于是有  </a:t>
            </a:r>
            <a:r>
              <a:rPr lang="en-US" altLang="zh-CN" b="1" i="1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＝(－1)</a:t>
            </a:r>
            <a:r>
              <a:rPr lang="en-US" altLang="zh-CN" b="1" baseline="3000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×1.</a:t>
            </a:r>
            <a:r>
              <a:rPr lang="en-US" altLang="zh-CN" b="1" i="1">
                <a:solidFill>
                  <a:srgbClr val="0000FF"/>
                </a:solidFill>
                <a:latin typeface="Times New Roman" pitchFamily="18" charset="0"/>
              </a:rPr>
              <a:t>M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×2</a:t>
            </a:r>
            <a:r>
              <a:rPr lang="en-US" altLang="zh-CN" b="1" baseline="30000">
                <a:solidFill>
                  <a:srgbClr val="0000FF"/>
                </a:solidFill>
                <a:latin typeface="Times New Roman" pitchFamily="18" charset="0"/>
              </a:rPr>
              <a:t>e</a:t>
            </a:r>
          </a:p>
          <a:p>
            <a:pPr eaLnBrk="1" fontAlgn="base" hangingPunct="1">
              <a:lnSpc>
                <a:spcPct val="30000"/>
              </a:lnSpc>
              <a:spcBef>
                <a:spcPct val="50000"/>
              </a:spcBef>
              <a:spcAft>
                <a:spcPct val="0"/>
              </a:spcAft>
            </a:pPr>
            <a:endParaRPr lang="en-US" altLang="zh-CN" b="1" baseline="30000">
              <a:solidFill>
                <a:srgbClr val="0000FF"/>
              </a:solidFill>
              <a:latin typeface="Times New Roman" pitchFamily="18" charset="0"/>
            </a:endParaRPr>
          </a:p>
          <a:p>
            <a:pPr eaLnBrk="1" fontAlgn="base" hangingPunct="1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     　       ＝＋(1.</a:t>
            </a:r>
            <a:r>
              <a:rPr lang="en-US" altLang="zh-CN" b="1">
                <a:solidFill>
                  <a:srgbClr val="0000FF"/>
                </a:solidFill>
                <a:latin typeface="Times New Roman" pitchFamily="18" charset="0"/>
              </a:rPr>
              <a:t>011011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)×2</a:t>
            </a:r>
            <a:r>
              <a:rPr lang="en-US" altLang="zh-CN" b="1" baseline="30000">
                <a:solidFill>
                  <a:srgbClr val="0000FF"/>
                </a:solidFill>
                <a:latin typeface="Times New Roman" pitchFamily="18" charset="0"/>
              </a:rPr>
              <a:t>3</a:t>
            </a:r>
            <a:r>
              <a:rPr lang="en-US" altLang="zh-CN" b="1">
                <a:solidFill>
                  <a:srgbClr val="FF0000"/>
                </a:solidFill>
                <a:latin typeface="Times New Roman" pitchFamily="18" charset="0"/>
              </a:rPr>
              <a:t>＝＋1011.011＝(11.375)</a:t>
            </a:r>
            <a:r>
              <a:rPr lang="en-US" altLang="zh-CN" b="1" baseline="-30000">
                <a:solidFill>
                  <a:srgbClr val="FF0000"/>
                </a:solidFill>
                <a:latin typeface="Times New Roman" pitchFamily="18" charset="0"/>
              </a:rPr>
              <a:t>10</a:t>
            </a:r>
            <a:endParaRPr lang="zh-CN" altLang="en-US" b="1">
              <a:solidFill>
                <a:srgbClr val="FF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2218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ChangeArrowheads="1"/>
          </p:cNvSpPr>
          <p:nvPr/>
        </p:nvSpPr>
        <p:spPr bwMode="auto">
          <a:xfrm>
            <a:off x="228600" y="685800"/>
            <a:ext cx="891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Times New Roman" pitchFamily="18" charset="0"/>
              </a:rPr>
              <a:t>例:</a:t>
            </a:r>
            <a:r>
              <a:rPr kumimoji="1" lang="zh-CN" altLang="en-US" sz="2400" b="1">
                <a:solidFill>
                  <a:srgbClr val="006600"/>
                </a:solidFill>
                <a:latin typeface="Times New Roman" pitchFamily="18" charset="0"/>
              </a:rPr>
              <a:t> 将十进制数20.59375转换成32位浮点数的二进制格式来存储</a:t>
            </a:r>
          </a:p>
        </p:txBody>
      </p:sp>
      <p:sp>
        <p:nvSpPr>
          <p:cNvPr id="62467" name="Text Box 3"/>
          <p:cNvSpPr txBox="1">
            <a:spLocks noChangeArrowheads="1"/>
          </p:cNvSpPr>
          <p:nvPr/>
        </p:nvSpPr>
        <p:spPr bwMode="auto">
          <a:xfrm>
            <a:off x="228600" y="1295400"/>
            <a:ext cx="8686800" cy="388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fontAlgn="base" hangingPunct="1"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解</a:t>
            </a: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：首先分别将整数和分数部分转换成二进制数：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             20.59375＝10100.10011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　　然后移动小数点，使其在第1，2位之间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　　  10100.10011＝1.010010011×2</a:t>
            </a:r>
            <a:r>
              <a:rPr lang="zh-CN" altLang="en-US" b="1" baseline="30000">
                <a:solidFill>
                  <a:srgbClr val="333399"/>
                </a:solidFill>
                <a:latin typeface="Times New Roman" pitchFamily="18" charset="0"/>
              </a:rPr>
              <a:t>4　　　　</a:t>
            </a:r>
            <a:r>
              <a:rPr lang="zh-CN" altLang="en-US" b="1" i="1">
                <a:solidFill>
                  <a:srgbClr val="333399"/>
                </a:solidFill>
                <a:latin typeface="Times New Roman" pitchFamily="18" charset="0"/>
              </a:rPr>
              <a:t>　</a:t>
            </a:r>
            <a:r>
              <a:rPr lang="en-US" altLang="zh-CN" b="1" i="1">
                <a:solidFill>
                  <a:srgbClr val="333399"/>
                </a:solidFill>
                <a:latin typeface="Times New Roman" pitchFamily="18" charset="0"/>
              </a:rPr>
              <a:t>e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＝4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　　</a:t>
            </a: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于是得到： </a:t>
            </a:r>
            <a:r>
              <a:rPr lang="en-US" altLang="zh-CN" sz="2800" b="1" i="1">
                <a:solidFill>
                  <a:srgbClr val="6600FF"/>
                </a:solidFill>
                <a:latin typeface="Times New Roman" pitchFamily="18" charset="0"/>
              </a:rPr>
              <a:t>e </a:t>
            </a:r>
            <a:r>
              <a:rPr lang="en-US" altLang="zh-CN" sz="2800" b="1">
                <a:solidFill>
                  <a:srgbClr val="6600FF"/>
                </a:solidFill>
                <a:latin typeface="Times New Roman" pitchFamily="18" charset="0"/>
              </a:rPr>
              <a:t>=</a:t>
            </a:r>
            <a:r>
              <a:rPr lang="zh-CN" altLang="en-US" sz="2800" b="1" i="1">
                <a:solidFill>
                  <a:srgbClr val="6600FF"/>
                </a:solidFill>
                <a:latin typeface="Times New Roman" pitchFamily="18" charset="0"/>
              </a:rPr>
              <a:t>Ｅ </a:t>
            </a:r>
            <a:r>
              <a:rPr lang="zh-CN" altLang="en-US" sz="2800" b="1">
                <a:solidFill>
                  <a:srgbClr val="0000FF"/>
                </a:solidFill>
                <a:latin typeface="Times New Roman" pitchFamily="18" charset="0"/>
              </a:rPr>
              <a:t>– </a:t>
            </a:r>
            <a:r>
              <a:rPr lang="zh-CN" altLang="en-US" sz="2800" b="1">
                <a:solidFill>
                  <a:srgbClr val="6600FF"/>
                </a:solidFill>
                <a:latin typeface="Times New Roman" pitchFamily="18" charset="0"/>
              </a:rPr>
              <a:t>127</a:t>
            </a:r>
            <a:endParaRPr lang="zh-CN" altLang="en-US" b="1">
              <a:solidFill>
                <a:srgbClr val="333399"/>
              </a:solidFill>
              <a:latin typeface="Times New Roman" pitchFamily="18" charset="0"/>
            </a:endParaRPr>
          </a:p>
          <a:p>
            <a:pPr algn="ctr"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 i="1">
                <a:solidFill>
                  <a:srgbClr val="333399"/>
                </a:solidFill>
                <a:latin typeface="Times New Roman" pitchFamily="18" charset="0"/>
              </a:rPr>
              <a:t>S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＝0，</a:t>
            </a:r>
            <a:r>
              <a:rPr lang="en-US" altLang="zh-CN" b="1" i="1">
                <a:solidFill>
                  <a:srgbClr val="333399"/>
                </a:solidFill>
                <a:latin typeface="Times New Roman" pitchFamily="18" charset="0"/>
              </a:rPr>
              <a:t>E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＝4＋127＝131=1000,0011，</a:t>
            </a:r>
            <a:r>
              <a:rPr lang="en-US" altLang="zh-CN" b="1" i="1">
                <a:solidFill>
                  <a:srgbClr val="333399"/>
                </a:solidFill>
                <a:latin typeface="Times New Roman" pitchFamily="18" charset="0"/>
              </a:rPr>
              <a:t>M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＝010010011</a:t>
            </a:r>
          </a:p>
          <a:p>
            <a:pPr eaLnBrk="1" fontAlgn="base" hangingPunct="1">
              <a:lnSpc>
                <a:spcPct val="75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　　</a:t>
            </a: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最后得到32位浮点数的二进制存储格式为</a:t>
            </a:r>
          </a:p>
          <a:p>
            <a:pPr eaLnBrk="1" fontAlgn="base" hangingPunct="1">
              <a:lnSpc>
                <a:spcPct val="115000"/>
              </a:lnSpc>
              <a:spcBef>
                <a:spcPct val="50000"/>
              </a:spcBef>
              <a:spcAft>
                <a:spcPct val="0"/>
              </a:spcAft>
            </a:pP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         </a:t>
            </a:r>
            <a:r>
              <a:rPr lang="zh-CN" altLang="en-US" b="1">
                <a:solidFill>
                  <a:srgbClr val="FF0000"/>
                </a:solidFill>
                <a:latin typeface="Times New Roman" pitchFamily="18" charset="0"/>
              </a:rPr>
              <a:t>0</a:t>
            </a:r>
            <a:r>
              <a:rPr lang="zh-CN" altLang="en-US" b="1">
                <a:solidFill>
                  <a:srgbClr val="0000FF"/>
                </a:solidFill>
                <a:latin typeface="Times New Roman" pitchFamily="18" charset="0"/>
              </a:rPr>
              <a:t>100 0001</a:t>
            </a: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 </a:t>
            </a:r>
            <a:r>
              <a:rPr lang="zh-CN" altLang="en-US" b="1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zh-CN" altLang="en-US" b="1">
                <a:solidFill>
                  <a:srgbClr val="FF6600"/>
                </a:solidFill>
                <a:latin typeface="Times New Roman" pitchFamily="18" charset="0"/>
              </a:rPr>
              <a:t>010 0100 1100 0000 0000 0000</a:t>
            </a:r>
            <a:r>
              <a:rPr lang="zh-CN" altLang="en-US" b="1">
                <a:solidFill>
                  <a:srgbClr val="333399"/>
                </a:solidFill>
                <a:latin typeface="Times New Roman" pitchFamily="18" charset="0"/>
              </a:rPr>
              <a:t>＝ (41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A4C000)</a:t>
            </a:r>
            <a:r>
              <a:rPr lang="en-US" altLang="zh-CN" b="1" baseline="-30000">
                <a:solidFill>
                  <a:srgbClr val="333399"/>
                </a:solidFill>
                <a:latin typeface="Times New Roman" pitchFamily="18" charset="0"/>
              </a:rPr>
              <a:t>16</a:t>
            </a:r>
            <a:r>
              <a:rPr lang="en-US" altLang="zh-CN" b="1">
                <a:solidFill>
                  <a:srgbClr val="333399"/>
                </a:solidFill>
                <a:latin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54574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3"/>
          <p:cNvSpPr>
            <a:spLocks noChangeArrowheads="1"/>
          </p:cNvSpPr>
          <p:nvPr/>
        </p:nvSpPr>
        <p:spPr bwMode="auto">
          <a:xfrm>
            <a:off x="304800" y="1447800"/>
            <a:ext cx="8610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解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：-0.75 = -3/4 = -0.11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2 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 -1.1×2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-1</a:t>
            </a: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=(-1)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×(1 + 0.1000 0000 0000 0000 0000 000)×2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-1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=(-1)</a:t>
            </a:r>
            <a:r>
              <a:rPr kumimoji="1" lang="zh-CN" altLang="en-US" sz="2400" b="1" baseline="30000">
                <a:solidFill>
                  <a:srgbClr val="FF0000"/>
                </a:solidFill>
                <a:latin typeface="宋体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×(1 + 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0.1000 0000 0000 0000 0000 000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)×2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126-127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 baseline="30000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i="1">
                <a:solidFill>
                  <a:srgbClr val="000000"/>
                </a:solidFill>
                <a:latin typeface="宋体" charset="-122"/>
              </a:rPr>
              <a:t>s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=</a:t>
            </a:r>
            <a:r>
              <a:rPr kumimoji="1" lang="en-US" altLang="zh-CN" sz="2400" b="1">
                <a:solidFill>
                  <a:srgbClr val="FF0000"/>
                </a:solidFill>
                <a:latin typeface="宋体" charset="-12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，E= 126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宋体" charset="-122"/>
              </a:rPr>
              <a:t>10 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= 01111110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宋体" charset="-122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， F  = </a:t>
            </a:r>
            <a:r>
              <a:rPr kumimoji="1" lang="en-US" altLang="zh-CN" sz="2400" b="1">
                <a:solidFill>
                  <a:srgbClr val="0000FF"/>
                </a:solidFill>
                <a:latin typeface="宋体" charset="-122"/>
              </a:rPr>
              <a:t>1000 </a:t>
            </a:r>
            <a:r>
              <a:rPr kumimoji="1" lang="en-US" altLang="zh-CN" sz="2400" b="1">
                <a:solidFill>
                  <a:srgbClr val="0000FF"/>
                </a:solidFill>
                <a:latin typeface="Times New Roman" pitchFamily="18" charset="0"/>
              </a:rPr>
              <a:t>…</a:t>
            </a:r>
            <a:r>
              <a:rPr kumimoji="1" lang="en-US" altLang="zh-CN" sz="2400" b="1">
                <a:solidFill>
                  <a:srgbClr val="0000FF"/>
                </a:solidFill>
                <a:latin typeface="宋体" charset="-122"/>
              </a:rPr>
              <a:t> 000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。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	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011,1111,0 </a:t>
            </a:r>
            <a:r>
              <a:rPr kumimoji="1" lang="zh-CN" altLang="en-US" sz="2400" b="1">
                <a:solidFill>
                  <a:srgbClr val="0000FF"/>
                </a:solidFill>
                <a:latin typeface="宋体" charset="-122"/>
              </a:rPr>
              <a:t>100,0000,0000,0000,0000,0000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        </a:t>
            </a:r>
            <a:r>
              <a:rPr kumimoji="1" lang="en-US" altLang="zh-CN" sz="2400" b="1">
                <a:solidFill>
                  <a:srgbClr val="0000FF"/>
                </a:solidFill>
                <a:latin typeface="宋体" charset="-122"/>
              </a:rPr>
              <a:t>B     F    4    0    0    0    0    0 H</a:t>
            </a:r>
          </a:p>
        </p:txBody>
      </p:sp>
      <p:sp>
        <p:nvSpPr>
          <p:cNvPr id="63491" name="Rectangle 4"/>
          <p:cNvSpPr>
            <a:spLocks noChangeArrowheads="1"/>
          </p:cNvSpPr>
          <p:nvPr/>
        </p:nvSpPr>
        <p:spPr bwMode="auto">
          <a:xfrm>
            <a:off x="381000" y="617538"/>
            <a:ext cx="7700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例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：将十进制数-0.75表示成单精度的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IEEE 754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标准代码</a:t>
            </a:r>
          </a:p>
        </p:txBody>
      </p:sp>
    </p:spTree>
    <p:extLst>
      <p:ext uri="{BB962C8B-B14F-4D97-AF65-F5344CB8AC3E}">
        <p14:creationId xmlns:p14="http://schemas.microsoft.com/office/powerpoint/2010/main" val="19099915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ChangeArrowheads="1"/>
          </p:cNvSpPr>
          <p:nvPr/>
        </p:nvSpPr>
        <p:spPr bwMode="auto">
          <a:xfrm>
            <a:off x="304800" y="1219200"/>
            <a:ext cx="85344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解：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S=1，</a:t>
            </a:r>
            <a:r>
              <a:rPr kumimoji="1" lang="en-US" altLang="zh-CN" sz="2400" b="1" i="1">
                <a:solidFill>
                  <a:srgbClr val="000000"/>
                </a:solidFill>
                <a:latin typeface="宋体" charset="-122"/>
              </a:rPr>
              <a:t>E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=129，F = 1/4 = 0.25，</a:t>
            </a: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(-1)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1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×(1+0.25)×2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129-127</a:t>
            </a: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 -1×1.25×2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2</a:t>
            </a: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 -1.25×4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 -5.0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64515" name="Rectangle 4"/>
          <p:cNvSpPr>
            <a:spLocks noChangeArrowheads="1"/>
          </p:cNvSpPr>
          <p:nvPr/>
        </p:nvSpPr>
        <p:spPr bwMode="auto">
          <a:xfrm>
            <a:off x="152400" y="304800"/>
            <a:ext cx="84582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求如下</a:t>
            </a:r>
            <a:r>
              <a:rPr kumimoji="1" lang="en-US" altLang="zh-CN" sz="2400" b="1">
                <a:solidFill>
                  <a:srgbClr val="000000"/>
                </a:solidFill>
                <a:latin typeface="宋体" charset="-122"/>
              </a:rPr>
              <a:t>IEEE 754 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单精度浮点数的十进制数值：</a:t>
            </a:r>
          </a:p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	1</a:t>
            </a: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 10000001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01000000000000000000000</a:t>
            </a:r>
          </a:p>
        </p:txBody>
      </p:sp>
      <p:sp>
        <p:nvSpPr>
          <p:cNvPr id="64516" name="Rectangle 5"/>
          <p:cNvSpPr>
            <a:spLocks noChangeArrowheads="1"/>
          </p:cNvSpPr>
          <p:nvPr/>
        </p:nvSpPr>
        <p:spPr bwMode="auto">
          <a:xfrm>
            <a:off x="304800" y="4038600"/>
            <a:ext cx="8458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解：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123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10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=1111011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 0.1111011000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2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×2</a:t>
            </a: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7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 baseline="30000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 baseline="30000">
                <a:solidFill>
                  <a:srgbClr val="000000"/>
                </a:solidFill>
                <a:latin typeface="宋体" charset="-122"/>
              </a:rPr>
              <a:t>	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[7]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移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=10000+00111 = 10111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	 [0.1111011000]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补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=0.1111011000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   	 [123]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浮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=0 10111 1111011000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 b="1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64517" name="Rectangle 6"/>
          <p:cNvSpPr>
            <a:spLocks noChangeArrowheads="1"/>
          </p:cNvSpPr>
          <p:nvPr/>
        </p:nvSpPr>
        <p:spPr bwMode="auto">
          <a:xfrm>
            <a:off x="304800" y="3200400"/>
            <a:ext cx="8596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FF0000"/>
                </a:solidFill>
                <a:latin typeface="宋体" charset="-122"/>
              </a:rPr>
              <a:t>例：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对数据123</a:t>
            </a:r>
            <a:r>
              <a:rPr kumimoji="1" lang="zh-CN" altLang="en-US" sz="2400" b="1" baseline="-25000">
                <a:solidFill>
                  <a:srgbClr val="000000"/>
                </a:solidFill>
                <a:latin typeface="宋体" charset="-122"/>
              </a:rPr>
              <a:t>10</a:t>
            </a:r>
            <a:r>
              <a:rPr kumimoji="1" lang="zh-CN" altLang="en-US" sz="2400" b="1">
                <a:solidFill>
                  <a:srgbClr val="000000"/>
                </a:solidFill>
                <a:latin typeface="宋体" charset="-122"/>
              </a:rPr>
              <a:t>作规格化浮点数的编码，假定1位符号位，基数为2，阶码5位，采用移码，尾数10位，采用补码。</a:t>
            </a:r>
          </a:p>
        </p:txBody>
      </p:sp>
    </p:spTree>
    <p:extLst>
      <p:ext uri="{BB962C8B-B14F-4D97-AF65-F5344CB8AC3E}">
        <p14:creationId xmlns:p14="http://schemas.microsoft.com/office/powerpoint/2010/main" val="23574761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69"/>
          <p:cNvSpPr>
            <a:spLocks noChangeArrowheads="1"/>
          </p:cNvSpPr>
          <p:nvPr/>
        </p:nvSpPr>
        <p:spPr bwMode="auto">
          <a:xfrm>
            <a:off x="762000" y="1905000"/>
            <a:ext cx="7620000" cy="28194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8382000" cy="1143000"/>
          </a:xfrm>
        </p:spPr>
        <p:txBody>
          <a:bodyPr/>
          <a:lstStyle/>
          <a:p>
            <a:pPr eaLnBrk="1" hangingPunct="1"/>
            <a:r>
              <a:rPr lang="en-US" altLang="zh-CN" sz="4000" smtClean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IEEE754</a:t>
            </a:r>
            <a:r>
              <a:rPr lang="zh-CN" altLang="en-US" sz="4000" smtClean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浮点数的范围</a:t>
            </a:r>
          </a:p>
        </p:txBody>
      </p:sp>
      <p:grpSp>
        <p:nvGrpSpPr>
          <p:cNvPr id="65540" name="Group 168"/>
          <p:cNvGrpSpPr>
            <a:grpSpLocks/>
          </p:cNvGrpSpPr>
          <p:nvPr/>
        </p:nvGrpSpPr>
        <p:grpSpPr bwMode="auto">
          <a:xfrm>
            <a:off x="762000" y="1905000"/>
            <a:ext cx="7629525" cy="2833688"/>
            <a:chOff x="633" y="1248"/>
            <a:chExt cx="4806" cy="1785"/>
          </a:xfrm>
        </p:grpSpPr>
        <p:sp>
          <p:nvSpPr>
            <p:cNvPr id="65542" name="Rectangle 4"/>
            <p:cNvSpPr>
              <a:spLocks noChangeArrowheads="1"/>
            </p:cNvSpPr>
            <p:nvPr/>
          </p:nvSpPr>
          <p:spPr bwMode="auto">
            <a:xfrm>
              <a:off x="839" y="1289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格式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3" name="Rectangle 5"/>
            <p:cNvSpPr>
              <a:spLocks noChangeArrowheads="1"/>
            </p:cNvSpPr>
            <p:nvPr/>
          </p:nvSpPr>
          <p:spPr bwMode="auto">
            <a:xfrm>
              <a:off x="2034" y="1289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最小值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4" name="Rectangle 6"/>
            <p:cNvSpPr>
              <a:spLocks noChangeArrowheads="1"/>
            </p:cNvSpPr>
            <p:nvPr/>
          </p:nvSpPr>
          <p:spPr bwMode="auto">
            <a:xfrm>
              <a:off x="4052" y="1289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最大值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5" name="Rectangle 7"/>
            <p:cNvSpPr>
              <a:spLocks noChangeArrowheads="1"/>
            </p:cNvSpPr>
            <p:nvPr/>
          </p:nvSpPr>
          <p:spPr bwMode="auto">
            <a:xfrm>
              <a:off x="633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6" name="Line 8"/>
            <p:cNvSpPr>
              <a:spLocks noChangeShapeType="1"/>
            </p:cNvSpPr>
            <p:nvPr/>
          </p:nvSpPr>
          <p:spPr bwMode="auto">
            <a:xfrm>
              <a:off x="633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7" name="Line 9"/>
            <p:cNvSpPr>
              <a:spLocks noChangeShapeType="1"/>
            </p:cNvSpPr>
            <p:nvPr/>
          </p:nvSpPr>
          <p:spPr bwMode="auto">
            <a:xfrm>
              <a:off x="633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8" name="Rectangle 10"/>
            <p:cNvSpPr>
              <a:spLocks noChangeArrowheads="1"/>
            </p:cNvSpPr>
            <p:nvPr/>
          </p:nvSpPr>
          <p:spPr bwMode="auto">
            <a:xfrm>
              <a:off x="633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49" name="Line 11"/>
            <p:cNvSpPr>
              <a:spLocks noChangeShapeType="1"/>
            </p:cNvSpPr>
            <p:nvPr/>
          </p:nvSpPr>
          <p:spPr bwMode="auto">
            <a:xfrm>
              <a:off x="633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0" name="Line 12"/>
            <p:cNvSpPr>
              <a:spLocks noChangeShapeType="1"/>
            </p:cNvSpPr>
            <p:nvPr/>
          </p:nvSpPr>
          <p:spPr bwMode="auto">
            <a:xfrm>
              <a:off x="633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1" name="Rectangle 13"/>
            <p:cNvSpPr>
              <a:spLocks noChangeArrowheads="1"/>
            </p:cNvSpPr>
            <p:nvPr/>
          </p:nvSpPr>
          <p:spPr bwMode="auto">
            <a:xfrm>
              <a:off x="647" y="1248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2" name="Line 14"/>
            <p:cNvSpPr>
              <a:spLocks noChangeShapeType="1"/>
            </p:cNvSpPr>
            <p:nvPr/>
          </p:nvSpPr>
          <p:spPr bwMode="auto">
            <a:xfrm>
              <a:off x="647" y="1248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3" name="Rectangle 15"/>
            <p:cNvSpPr>
              <a:spLocks noChangeArrowheads="1"/>
            </p:cNvSpPr>
            <p:nvPr/>
          </p:nvSpPr>
          <p:spPr bwMode="auto">
            <a:xfrm>
              <a:off x="1402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4" name="Line 16"/>
            <p:cNvSpPr>
              <a:spLocks noChangeShapeType="1"/>
            </p:cNvSpPr>
            <p:nvPr/>
          </p:nvSpPr>
          <p:spPr bwMode="auto">
            <a:xfrm>
              <a:off x="1402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5" name="Line 17"/>
            <p:cNvSpPr>
              <a:spLocks noChangeShapeType="1"/>
            </p:cNvSpPr>
            <p:nvPr/>
          </p:nvSpPr>
          <p:spPr bwMode="auto">
            <a:xfrm>
              <a:off x="1402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6" name="Rectangle 18"/>
            <p:cNvSpPr>
              <a:spLocks noChangeArrowheads="1"/>
            </p:cNvSpPr>
            <p:nvPr/>
          </p:nvSpPr>
          <p:spPr bwMode="auto">
            <a:xfrm>
              <a:off x="1416" y="1248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7" name="Line 19"/>
            <p:cNvSpPr>
              <a:spLocks noChangeShapeType="1"/>
            </p:cNvSpPr>
            <p:nvPr/>
          </p:nvSpPr>
          <p:spPr bwMode="auto">
            <a:xfrm>
              <a:off x="1416" y="1248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8" name="Rectangle 20"/>
            <p:cNvSpPr>
              <a:spLocks noChangeArrowheads="1"/>
            </p:cNvSpPr>
            <p:nvPr/>
          </p:nvSpPr>
          <p:spPr bwMode="auto">
            <a:xfrm>
              <a:off x="3228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59" name="Line 21"/>
            <p:cNvSpPr>
              <a:spLocks noChangeShapeType="1"/>
            </p:cNvSpPr>
            <p:nvPr/>
          </p:nvSpPr>
          <p:spPr bwMode="auto">
            <a:xfrm>
              <a:off x="3228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0" name="Line 22"/>
            <p:cNvSpPr>
              <a:spLocks noChangeShapeType="1"/>
            </p:cNvSpPr>
            <p:nvPr/>
          </p:nvSpPr>
          <p:spPr bwMode="auto">
            <a:xfrm>
              <a:off x="3228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1" name="Rectangle 23"/>
            <p:cNvSpPr>
              <a:spLocks noChangeArrowheads="1"/>
            </p:cNvSpPr>
            <p:nvPr/>
          </p:nvSpPr>
          <p:spPr bwMode="auto">
            <a:xfrm>
              <a:off x="3242" y="1248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2" name="Line 24"/>
            <p:cNvSpPr>
              <a:spLocks noChangeShapeType="1"/>
            </p:cNvSpPr>
            <p:nvPr/>
          </p:nvSpPr>
          <p:spPr bwMode="auto">
            <a:xfrm>
              <a:off x="3242" y="1248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3" name="Rectangle 25"/>
            <p:cNvSpPr>
              <a:spLocks noChangeArrowheads="1"/>
            </p:cNvSpPr>
            <p:nvPr/>
          </p:nvSpPr>
          <p:spPr bwMode="auto">
            <a:xfrm>
              <a:off x="5425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4" name="Line 26"/>
            <p:cNvSpPr>
              <a:spLocks noChangeShapeType="1"/>
            </p:cNvSpPr>
            <p:nvPr/>
          </p:nvSpPr>
          <p:spPr bwMode="auto">
            <a:xfrm>
              <a:off x="5425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5" name="Line 27"/>
            <p:cNvSpPr>
              <a:spLocks noChangeShapeType="1"/>
            </p:cNvSpPr>
            <p:nvPr/>
          </p:nvSpPr>
          <p:spPr bwMode="auto">
            <a:xfrm>
              <a:off x="5425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6" name="Rectangle 28"/>
            <p:cNvSpPr>
              <a:spLocks noChangeArrowheads="1"/>
            </p:cNvSpPr>
            <p:nvPr/>
          </p:nvSpPr>
          <p:spPr bwMode="auto">
            <a:xfrm>
              <a:off x="5425" y="1248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7" name="Line 29"/>
            <p:cNvSpPr>
              <a:spLocks noChangeShapeType="1"/>
            </p:cNvSpPr>
            <p:nvPr/>
          </p:nvSpPr>
          <p:spPr bwMode="auto">
            <a:xfrm>
              <a:off x="5425" y="1248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8" name="Line 30"/>
            <p:cNvSpPr>
              <a:spLocks noChangeShapeType="1"/>
            </p:cNvSpPr>
            <p:nvPr/>
          </p:nvSpPr>
          <p:spPr bwMode="auto">
            <a:xfrm>
              <a:off x="5425" y="1248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69" name="Rectangle 31"/>
            <p:cNvSpPr>
              <a:spLocks noChangeArrowheads="1"/>
            </p:cNvSpPr>
            <p:nvPr/>
          </p:nvSpPr>
          <p:spPr bwMode="auto">
            <a:xfrm>
              <a:off x="633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0" name="Line 32"/>
            <p:cNvSpPr>
              <a:spLocks noChangeShapeType="1"/>
            </p:cNvSpPr>
            <p:nvPr/>
          </p:nvSpPr>
          <p:spPr bwMode="auto">
            <a:xfrm>
              <a:off x="633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1" name="Rectangle 33"/>
            <p:cNvSpPr>
              <a:spLocks noChangeArrowheads="1"/>
            </p:cNvSpPr>
            <p:nvPr/>
          </p:nvSpPr>
          <p:spPr bwMode="auto">
            <a:xfrm>
              <a:off x="1402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2" name="Line 34"/>
            <p:cNvSpPr>
              <a:spLocks noChangeShapeType="1"/>
            </p:cNvSpPr>
            <p:nvPr/>
          </p:nvSpPr>
          <p:spPr bwMode="auto">
            <a:xfrm>
              <a:off x="1402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3" name="Rectangle 35"/>
            <p:cNvSpPr>
              <a:spLocks noChangeArrowheads="1"/>
            </p:cNvSpPr>
            <p:nvPr/>
          </p:nvSpPr>
          <p:spPr bwMode="auto">
            <a:xfrm>
              <a:off x="3228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4" name="Line 36"/>
            <p:cNvSpPr>
              <a:spLocks noChangeShapeType="1"/>
            </p:cNvSpPr>
            <p:nvPr/>
          </p:nvSpPr>
          <p:spPr bwMode="auto">
            <a:xfrm>
              <a:off x="3228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5" name="Rectangle 37"/>
            <p:cNvSpPr>
              <a:spLocks noChangeArrowheads="1"/>
            </p:cNvSpPr>
            <p:nvPr/>
          </p:nvSpPr>
          <p:spPr bwMode="auto">
            <a:xfrm>
              <a:off x="5425" y="1262"/>
              <a:ext cx="14" cy="24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6" name="Line 38"/>
            <p:cNvSpPr>
              <a:spLocks noChangeShapeType="1"/>
            </p:cNvSpPr>
            <p:nvPr/>
          </p:nvSpPr>
          <p:spPr bwMode="auto">
            <a:xfrm>
              <a:off x="5425" y="1262"/>
              <a:ext cx="1" cy="247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7" name="Rectangle 39"/>
            <p:cNvSpPr>
              <a:spLocks noChangeArrowheads="1"/>
            </p:cNvSpPr>
            <p:nvPr/>
          </p:nvSpPr>
          <p:spPr bwMode="auto">
            <a:xfrm>
              <a:off x="743" y="1550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单精度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78" name="Rectangle 40"/>
            <p:cNvSpPr>
              <a:spLocks noChangeArrowheads="1"/>
            </p:cNvSpPr>
            <p:nvPr/>
          </p:nvSpPr>
          <p:spPr bwMode="auto">
            <a:xfrm>
              <a:off x="1896" y="1536"/>
              <a:ext cx="8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</a:rPr>
                <a:t>E=1, M=0,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5579" name="Rectangle 41"/>
            <p:cNvSpPr>
              <a:spLocks noChangeArrowheads="1"/>
            </p:cNvSpPr>
            <p:nvPr/>
          </p:nvSpPr>
          <p:spPr bwMode="auto">
            <a:xfrm>
              <a:off x="1635" y="1770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1.0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0" name="Rectangle 42"/>
            <p:cNvSpPr>
              <a:spLocks noChangeArrowheads="1"/>
            </p:cNvSpPr>
            <p:nvPr/>
          </p:nvSpPr>
          <p:spPr bwMode="auto">
            <a:xfrm>
              <a:off x="1883" y="1783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1" name="Rectangle 43"/>
            <p:cNvSpPr>
              <a:spLocks noChangeArrowheads="1"/>
            </p:cNvSpPr>
            <p:nvPr/>
          </p:nvSpPr>
          <p:spPr bwMode="auto">
            <a:xfrm>
              <a:off x="2075" y="1770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2" name="Rectangle 44"/>
            <p:cNvSpPr>
              <a:spLocks noChangeArrowheads="1"/>
            </p:cNvSpPr>
            <p:nvPr/>
          </p:nvSpPr>
          <p:spPr bwMode="auto">
            <a:xfrm>
              <a:off x="2171" y="1728"/>
              <a:ext cx="33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1-127 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3" name="Rectangle 45"/>
            <p:cNvSpPr>
              <a:spLocks noChangeArrowheads="1"/>
            </p:cNvSpPr>
            <p:nvPr/>
          </p:nvSpPr>
          <p:spPr bwMode="auto">
            <a:xfrm>
              <a:off x="2514" y="1770"/>
              <a:ext cx="2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= 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4" name="Rectangle 46"/>
            <p:cNvSpPr>
              <a:spLocks noChangeArrowheads="1"/>
            </p:cNvSpPr>
            <p:nvPr/>
          </p:nvSpPr>
          <p:spPr bwMode="auto">
            <a:xfrm>
              <a:off x="2775" y="1728"/>
              <a:ext cx="23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-126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5" name="Rectangle 47"/>
            <p:cNvSpPr>
              <a:spLocks noChangeArrowheads="1"/>
            </p:cNvSpPr>
            <p:nvPr/>
          </p:nvSpPr>
          <p:spPr bwMode="auto">
            <a:xfrm>
              <a:off x="3599" y="1536"/>
              <a:ext cx="1213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</a:rPr>
                <a:t>E=254, f=.1111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5586" name="Rectangle 48"/>
            <p:cNvSpPr>
              <a:spLocks noChangeArrowheads="1"/>
            </p:cNvSpPr>
            <p:nvPr/>
          </p:nvSpPr>
          <p:spPr bwMode="auto">
            <a:xfrm>
              <a:off x="4835" y="1550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7" name="Rectangle 49"/>
            <p:cNvSpPr>
              <a:spLocks noChangeArrowheads="1"/>
            </p:cNvSpPr>
            <p:nvPr/>
          </p:nvSpPr>
          <p:spPr bwMode="auto">
            <a:xfrm>
              <a:off x="5027" y="1536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8" name="Rectangle 50"/>
            <p:cNvSpPr>
              <a:spLocks noChangeArrowheads="1"/>
            </p:cNvSpPr>
            <p:nvPr/>
          </p:nvSpPr>
          <p:spPr bwMode="auto">
            <a:xfrm>
              <a:off x="3599" y="1783"/>
              <a:ext cx="4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1.111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89" name="Rectangle 51"/>
            <p:cNvSpPr>
              <a:spLocks noChangeArrowheads="1"/>
            </p:cNvSpPr>
            <p:nvPr/>
          </p:nvSpPr>
          <p:spPr bwMode="auto">
            <a:xfrm>
              <a:off x="4038" y="179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0" name="Rectangle 52"/>
            <p:cNvSpPr>
              <a:spLocks noChangeArrowheads="1"/>
            </p:cNvSpPr>
            <p:nvPr/>
          </p:nvSpPr>
          <p:spPr bwMode="auto">
            <a:xfrm>
              <a:off x="4231" y="178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1" name="Rectangle 53"/>
            <p:cNvSpPr>
              <a:spLocks noChangeArrowheads="1"/>
            </p:cNvSpPr>
            <p:nvPr/>
          </p:nvSpPr>
          <p:spPr bwMode="auto">
            <a:xfrm>
              <a:off x="4327" y="1797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2" name="Rectangle 54"/>
            <p:cNvSpPr>
              <a:spLocks noChangeArrowheads="1"/>
            </p:cNvSpPr>
            <p:nvPr/>
          </p:nvSpPr>
          <p:spPr bwMode="auto">
            <a:xfrm>
              <a:off x="4519" y="178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3" name="Rectangle 55"/>
            <p:cNvSpPr>
              <a:spLocks noChangeArrowheads="1"/>
            </p:cNvSpPr>
            <p:nvPr/>
          </p:nvSpPr>
          <p:spPr bwMode="auto">
            <a:xfrm>
              <a:off x="4615" y="1742"/>
              <a:ext cx="427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254-127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4" name="Rectangle 56"/>
            <p:cNvSpPr>
              <a:spLocks noChangeArrowheads="1"/>
            </p:cNvSpPr>
            <p:nvPr/>
          </p:nvSpPr>
          <p:spPr bwMode="auto">
            <a:xfrm>
              <a:off x="3723" y="2030"/>
              <a:ext cx="25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= 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5" name="Rectangle 57"/>
            <p:cNvSpPr>
              <a:spLocks noChangeArrowheads="1"/>
            </p:cNvSpPr>
            <p:nvPr/>
          </p:nvSpPr>
          <p:spPr bwMode="auto">
            <a:xfrm>
              <a:off x="3984" y="1989"/>
              <a:ext cx="19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127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6" name="Rectangle 58"/>
            <p:cNvSpPr>
              <a:spLocks noChangeArrowheads="1"/>
            </p:cNvSpPr>
            <p:nvPr/>
          </p:nvSpPr>
          <p:spPr bwMode="auto">
            <a:xfrm>
              <a:off x="4189" y="2044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7" name="Rectangle 59"/>
            <p:cNvSpPr>
              <a:spLocks noChangeArrowheads="1"/>
            </p:cNvSpPr>
            <p:nvPr/>
          </p:nvSpPr>
          <p:spPr bwMode="auto">
            <a:xfrm>
              <a:off x="4382" y="2030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(2-2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8" name="Rectangle 60"/>
            <p:cNvSpPr>
              <a:spLocks noChangeArrowheads="1"/>
            </p:cNvSpPr>
            <p:nvPr/>
          </p:nvSpPr>
          <p:spPr bwMode="auto">
            <a:xfrm>
              <a:off x="4711" y="1989"/>
              <a:ext cx="1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-23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599" name="Rectangle 61"/>
            <p:cNvSpPr>
              <a:spLocks noChangeArrowheads="1"/>
            </p:cNvSpPr>
            <p:nvPr/>
          </p:nvSpPr>
          <p:spPr bwMode="auto">
            <a:xfrm>
              <a:off x="4890" y="2030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0" name="Rectangle 62"/>
            <p:cNvSpPr>
              <a:spLocks noChangeArrowheads="1"/>
            </p:cNvSpPr>
            <p:nvPr/>
          </p:nvSpPr>
          <p:spPr bwMode="auto">
            <a:xfrm>
              <a:off x="633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1" name="Line 63"/>
            <p:cNvSpPr>
              <a:spLocks noChangeShapeType="1"/>
            </p:cNvSpPr>
            <p:nvPr/>
          </p:nvSpPr>
          <p:spPr bwMode="auto">
            <a:xfrm>
              <a:off x="633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2" name="Line 64"/>
            <p:cNvSpPr>
              <a:spLocks noChangeShapeType="1"/>
            </p:cNvSpPr>
            <p:nvPr/>
          </p:nvSpPr>
          <p:spPr bwMode="auto">
            <a:xfrm>
              <a:off x="633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3" name="Rectangle 65"/>
            <p:cNvSpPr>
              <a:spLocks noChangeArrowheads="1"/>
            </p:cNvSpPr>
            <p:nvPr/>
          </p:nvSpPr>
          <p:spPr bwMode="auto">
            <a:xfrm>
              <a:off x="647" y="1509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4" name="Line 66"/>
            <p:cNvSpPr>
              <a:spLocks noChangeShapeType="1"/>
            </p:cNvSpPr>
            <p:nvPr/>
          </p:nvSpPr>
          <p:spPr bwMode="auto">
            <a:xfrm>
              <a:off x="647" y="1509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5" name="Rectangle 67"/>
            <p:cNvSpPr>
              <a:spLocks noChangeArrowheads="1"/>
            </p:cNvSpPr>
            <p:nvPr/>
          </p:nvSpPr>
          <p:spPr bwMode="auto">
            <a:xfrm>
              <a:off x="1402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6" name="Line 68"/>
            <p:cNvSpPr>
              <a:spLocks noChangeShapeType="1"/>
            </p:cNvSpPr>
            <p:nvPr/>
          </p:nvSpPr>
          <p:spPr bwMode="auto">
            <a:xfrm>
              <a:off x="1402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7" name="Line 69"/>
            <p:cNvSpPr>
              <a:spLocks noChangeShapeType="1"/>
            </p:cNvSpPr>
            <p:nvPr/>
          </p:nvSpPr>
          <p:spPr bwMode="auto">
            <a:xfrm>
              <a:off x="1402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8" name="Rectangle 70"/>
            <p:cNvSpPr>
              <a:spLocks noChangeArrowheads="1"/>
            </p:cNvSpPr>
            <p:nvPr/>
          </p:nvSpPr>
          <p:spPr bwMode="auto">
            <a:xfrm>
              <a:off x="1416" y="1509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09" name="Line 71"/>
            <p:cNvSpPr>
              <a:spLocks noChangeShapeType="1"/>
            </p:cNvSpPr>
            <p:nvPr/>
          </p:nvSpPr>
          <p:spPr bwMode="auto">
            <a:xfrm>
              <a:off x="1416" y="1509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0" name="Rectangle 72"/>
            <p:cNvSpPr>
              <a:spLocks noChangeArrowheads="1"/>
            </p:cNvSpPr>
            <p:nvPr/>
          </p:nvSpPr>
          <p:spPr bwMode="auto">
            <a:xfrm>
              <a:off x="3228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1" name="Line 73"/>
            <p:cNvSpPr>
              <a:spLocks noChangeShapeType="1"/>
            </p:cNvSpPr>
            <p:nvPr/>
          </p:nvSpPr>
          <p:spPr bwMode="auto">
            <a:xfrm>
              <a:off x="3228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2" name="Line 74"/>
            <p:cNvSpPr>
              <a:spLocks noChangeShapeType="1"/>
            </p:cNvSpPr>
            <p:nvPr/>
          </p:nvSpPr>
          <p:spPr bwMode="auto">
            <a:xfrm>
              <a:off x="3228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3" name="Rectangle 75"/>
            <p:cNvSpPr>
              <a:spLocks noChangeArrowheads="1"/>
            </p:cNvSpPr>
            <p:nvPr/>
          </p:nvSpPr>
          <p:spPr bwMode="auto">
            <a:xfrm>
              <a:off x="3242" y="1509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4" name="Line 76"/>
            <p:cNvSpPr>
              <a:spLocks noChangeShapeType="1"/>
            </p:cNvSpPr>
            <p:nvPr/>
          </p:nvSpPr>
          <p:spPr bwMode="auto">
            <a:xfrm>
              <a:off x="3242" y="1509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5" name="Rectangle 77"/>
            <p:cNvSpPr>
              <a:spLocks noChangeArrowheads="1"/>
            </p:cNvSpPr>
            <p:nvPr/>
          </p:nvSpPr>
          <p:spPr bwMode="auto">
            <a:xfrm>
              <a:off x="5425" y="150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6" name="Line 78"/>
            <p:cNvSpPr>
              <a:spLocks noChangeShapeType="1"/>
            </p:cNvSpPr>
            <p:nvPr/>
          </p:nvSpPr>
          <p:spPr bwMode="auto">
            <a:xfrm>
              <a:off x="5425" y="150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7" name="Line 79"/>
            <p:cNvSpPr>
              <a:spLocks noChangeShapeType="1"/>
            </p:cNvSpPr>
            <p:nvPr/>
          </p:nvSpPr>
          <p:spPr bwMode="auto">
            <a:xfrm>
              <a:off x="5425" y="150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8" name="Rectangle 80"/>
            <p:cNvSpPr>
              <a:spLocks noChangeArrowheads="1"/>
            </p:cNvSpPr>
            <p:nvPr/>
          </p:nvSpPr>
          <p:spPr bwMode="auto">
            <a:xfrm>
              <a:off x="633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19" name="Line 81"/>
            <p:cNvSpPr>
              <a:spLocks noChangeShapeType="1"/>
            </p:cNvSpPr>
            <p:nvPr/>
          </p:nvSpPr>
          <p:spPr bwMode="auto">
            <a:xfrm>
              <a:off x="633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0" name="Rectangle 82"/>
            <p:cNvSpPr>
              <a:spLocks noChangeArrowheads="1"/>
            </p:cNvSpPr>
            <p:nvPr/>
          </p:nvSpPr>
          <p:spPr bwMode="auto">
            <a:xfrm>
              <a:off x="1402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1" name="Line 83"/>
            <p:cNvSpPr>
              <a:spLocks noChangeShapeType="1"/>
            </p:cNvSpPr>
            <p:nvPr/>
          </p:nvSpPr>
          <p:spPr bwMode="auto">
            <a:xfrm>
              <a:off x="1402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2" name="Rectangle 84"/>
            <p:cNvSpPr>
              <a:spLocks noChangeArrowheads="1"/>
            </p:cNvSpPr>
            <p:nvPr/>
          </p:nvSpPr>
          <p:spPr bwMode="auto">
            <a:xfrm>
              <a:off x="3228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3" name="Line 85"/>
            <p:cNvSpPr>
              <a:spLocks noChangeShapeType="1"/>
            </p:cNvSpPr>
            <p:nvPr/>
          </p:nvSpPr>
          <p:spPr bwMode="auto">
            <a:xfrm>
              <a:off x="3228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4" name="Rectangle 86"/>
            <p:cNvSpPr>
              <a:spLocks noChangeArrowheads="1"/>
            </p:cNvSpPr>
            <p:nvPr/>
          </p:nvSpPr>
          <p:spPr bwMode="auto">
            <a:xfrm>
              <a:off x="5425" y="1523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5" name="Line 87"/>
            <p:cNvSpPr>
              <a:spLocks noChangeShapeType="1"/>
            </p:cNvSpPr>
            <p:nvPr/>
          </p:nvSpPr>
          <p:spPr bwMode="auto">
            <a:xfrm>
              <a:off x="5425" y="1523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6" name="Rectangle 88"/>
            <p:cNvSpPr>
              <a:spLocks noChangeArrowheads="1"/>
            </p:cNvSpPr>
            <p:nvPr/>
          </p:nvSpPr>
          <p:spPr bwMode="auto">
            <a:xfrm>
              <a:off x="743" y="2305"/>
              <a:ext cx="57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双精度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7" name="Rectangle 89"/>
            <p:cNvSpPr>
              <a:spLocks noChangeArrowheads="1"/>
            </p:cNvSpPr>
            <p:nvPr/>
          </p:nvSpPr>
          <p:spPr bwMode="auto">
            <a:xfrm>
              <a:off x="1896" y="2291"/>
              <a:ext cx="8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</a:rPr>
                <a:t>E=1, M=0,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5628" name="Rectangle 90"/>
            <p:cNvSpPr>
              <a:spLocks noChangeArrowheads="1"/>
            </p:cNvSpPr>
            <p:nvPr/>
          </p:nvSpPr>
          <p:spPr bwMode="auto">
            <a:xfrm>
              <a:off x="1594" y="2525"/>
              <a:ext cx="24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1.0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29" name="Rectangle 91"/>
            <p:cNvSpPr>
              <a:spLocks noChangeArrowheads="1"/>
            </p:cNvSpPr>
            <p:nvPr/>
          </p:nvSpPr>
          <p:spPr bwMode="auto">
            <a:xfrm>
              <a:off x="1841" y="2538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0" name="Rectangle 92"/>
            <p:cNvSpPr>
              <a:spLocks noChangeArrowheads="1"/>
            </p:cNvSpPr>
            <p:nvPr/>
          </p:nvSpPr>
          <p:spPr bwMode="auto">
            <a:xfrm>
              <a:off x="2034" y="2525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1" name="Rectangle 93"/>
            <p:cNvSpPr>
              <a:spLocks noChangeArrowheads="1"/>
            </p:cNvSpPr>
            <p:nvPr/>
          </p:nvSpPr>
          <p:spPr bwMode="auto">
            <a:xfrm>
              <a:off x="2130" y="2483"/>
              <a:ext cx="39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1-1023 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2" name="Rectangle 94"/>
            <p:cNvSpPr>
              <a:spLocks noChangeArrowheads="1"/>
            </p:cNvSpPr>
            <p:nvPr/>
          </p:nvSpPr>
          <p:spPr bwMode="auto">
            <a:xfrm>
              <a:off x="2542" y="2525"/>
              <a:ext cx="2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=2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3" name="Rectangle 95"/>
            <p:cNvSpPr>
              <a:spLocks noChangeArrowheads="1"/>
            </p:cNvSpPr>
            <p:nvPr/>
          </p:nvSpPr>
          <p:spPr bwMode="auto">
            <a:xfrm>
              <a:off x="2748" y="2483"/>
              <a:ext cx="29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-1022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4" name="Rectangle 96"/>
            <p:cNvSpPr>
              <a:spLocks noChangeArrowheads="1"/>
            </p:cNvSpPr>
            <p:nvPr/>
          </p:nvSpPr>
          <p:spPr bwMode="auto">
            <a:xfrm>
              <a:off x="3544" y="2291"/>
              <a:ext cx="1309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itchFamily="18" charset="0"/>
                </a:rPr>
                <a:t>E=2046, f=.1111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5635" name="Rectangle 97"/>
            <p:cNvSpPr>
              <a:spLocks noChangeArrowheads="1"/>
            </p:cNvSpPr>
            <p:nvPr/>
          </p:nvSpPr>
          <p:spPr bwMode="auto">
            <a:xfrm>
              <a:off x="4876" y="2305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6" name="Rectangle 98"/>
            <p:cNvSpPr>
              <a:spLocks noChangeArrowheads="1"/>
            </p:cNvSpPr>
            <p:nvPr/>
          </p:nvSpPr>
          <p:spPr bwMode="auto">
            <a:xfrm>
              <a:off x="5068" y="2291"/>
              <a:ext cx="4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7" name="Rectangle 99"/>
            <p:cNvSpPr>
              <a:spLocks noChangeArrowheads="1"/>
            </p:cNvSpPr>
            <p:nvPr/>
          </p:nvSpPr>
          <p:spPr bwMode="auto">
            <a:xfrm>
              <a:off x="3530" y="2538"/>
              <a:ext cx="43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1.111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8" name="Rectangle 100"/>
            <p:cNvSpPr>
              <a:spLocks noChangeArrowheads="1"/>
            </p:cNvSpPr>
            <p:nvPr/>
          </p:nvSpPr>
          <p:spPr bwMode="auto">
            <a:xfrm>
              <a:off x="3970" y="255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…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39" name="Rectangle 101"/>
            <p:cNvSpPr>
              <a:spLocks noChangeArrowheads="1"/>
            </p:cNvSpPr>
            <p:nvPr/>
          </p:nvSpPr>
          <p:spPr bwMode="auto">
            <a:xfrm>
              <a:off x="4162" y="253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0" name="Rectangle 102"/>
            <p:cNvSpPr>
              <a:spLocks noChangeArrowheads="1"/>
            </p:cNvSpPr>
            <p:nvPr/>
          </p:nvSpPr>
          <p:spPr bwMode="auto">
            <a:xfrm>
              <a:off x="4258" y="2552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1" name="Rectangle 103"/>
            <p:cNvSpPr>
              <a:spLocks noChangeArrowheads="1"/>
            </p:cNvSpPr>
            <p:nvPr/>
          </p:nvSpPr>
          <p:spPr bwMode="auto">
            <a:xfrm>
              <a:off x="4450" y="253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2" name="Rectangle 104"/>
            <p:cNvSpPr>
              <a:spLocks noChangeArrowheads="1"/>
            </p:cNvSpPr>
            <p:nvPr/>
          </p:nvSpPr>
          <p:spPr bwMode="auto">
            <a:xfrm>
              <a:off x="4547" y="2497"/>
              <a:ext cx="55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2046-1023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3" name="Rectangle 105"/>
            <p:cNvSpPr>
              <a:spLocks noChangeArrowheads="1"/>
            </p:cNvSpPr>
            <p:nvPr/>
          </p:nvSpPr>
          <p:spPr bwMode="auto">
            <a:xfrm>
              <a:off x="3709" y="2785"/>
              <a:ext cx="20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=2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4" name="Rectangle 106"/>
            <p:cNvSpPr>
              <a:spLocks noChangeArrowheads="1"/>
            </p:cNvSpPr>
            <p:nvPr/>
          </p:nvSpPr>
          <p:spPr bwMode="auto">
            <a:xfrm>
              <a:off x="3915" y="2744"/>
              <a:ext cx="25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1023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5" name="Rectangle 107"/>
            <p:cNvSpPr>
              <a:spLocks noChangeArrowheads="1"/>
            </p:cNvSpPr>
            <p:nvPr/>
          </p:nvSpPr>
          <p:spPr bwMode="auto">
            <a:xfrm>
              <a:off x="4189" y="2799"/>
              <a:ext cx="192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6" name="Rectangle 108"/>
            <p:cNvSpPr>
              <a:spLocks noChangeArrowheads="1"/>
            </p:cNvSpPr>
            <p:nvPr/>
          </p:nvSpPr>
          <p:spPr bwMode="auto">
            <a:xfrm>
              <a:off x="4382" y="2785"/>
              <a:ext cx="32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(2-2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7" name="Rectangle 109"/>
            <p:cNvSpPr>
              <a:spLocks noChangeArrowheads="1"/>
            </p:cNvSpPr>
            <p:nvPr/>
          </p:nvSpPr>
          <p:spPr bwMode="auto">
            <a:xfrm>
              <a:off x="4711" y="2744"/>
              <a:ext cx="171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>
                  <a:solidFill>
                    <a:srgbClr val="000000"/>
                  </a:solidFill>
                  <a:latin typeface="Times New Roman" pitchFamily="18" charset="0"/>
                </a:rPr>
                <a:t>-52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8" name="Rectangle 110"/>
            <p:cNvSpPr>
              <a:spLocks noChangeArrowheads="1"/>
            </p:cNvSpPr>
            <p:nvPr/>
          </p:nvSpPr>
          <p:spPr bwMode="auto">
            <a:xfrm>
              <a:off x="4890" y="2785"/>
              <a:ext cx="6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>
                  <a:solidFill>
                    <a:srgbClr val="000000"/>
                  </a:solidFill>
                  <a:latin typeface="Times New Roman" pitchFamily="18" charset="0"/>
                </a:rPr>
                <a:t>)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49" name="Rectangle 111"/>
            <p:cNvSpPr>
              <a:spLocks noChangeArrowheads="1"/>
            </p:cNvSpPr>
            <p:nvPr/>
          </p:nvSpPr>
          <p:spPr bwMode="auto">
            <a:xfrm>
              <a:off x="633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0" name="Line 112"/>
            <p:cNvSpPr>
              <a:spLocks noChangeShapeType="1"/>
            </p:cNvSpPr>
            <p:nvPr/>
          </p:nvSpPr>
          <p:spPr bwMode="auto">
            <a:xfrm>
              <a:off x="633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1" name="Line 113"/>
            <p:cNvSpPr>
              <a:spLocks noChangeShapeType="1"/>
            </p:cNvSpPr>
            <p:nvPr/>
          </p:nvSpPr>
          <p:spPr bwMode="auto">
            <a:xfrm>
              <a:off x="633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2" name="Rectangle 114"/>
            <p:cNvSpPr>
              <a:spLocks noChangeArrowheads="1"/>
            </p:cNvSpPr>
            <p:nvPr/>
          </p:nvSpPr>
          <p:spPr bwMode="auto">
            <a:xfrm>
              <a:off x="647" y="2264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3" name="Line 115"/>
            <p:cNvSpPr>
              <a:spLocks noChangeShapeType="1"/>
            </p:cNvSpPr>
            <p:nvPr/>
          </p:nvSpPr>
          <p:spPr bwMode="auto">
            <a:xfrm>
              <a:off x="647" y="2264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4" name="Rectangle 116"/>
            <p:cNvSpPr>
              <a:spLocks noChangeArrowheads="1"/>
            </p:cNvSpPr>
            <p:nvPr/>
          </p:nvSpPr>
          <p:spPr bwMode="auto">
            <a:xfrm>
              <a:off x="1402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5" name="Line 117"/>
            <p:cNvSpPr>
              <a:spLocks noChangeShapeType="1"/>
            </p:cNvSpPr>
            <p:nvPr/>
          </p:nvSpPr>
          <p:spPr bwMode="auto">
            <a:xfrm>
              <a:off x="1402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6" name="Line 118"/>
            <p:cNvSpPr>
              <a:spLocks noChangeShapeType="1"/>
            </p:cNvSpPr>
            <p:nvPr/>
          </p:nvSpPr>
          <p:spPr bwMode="auto">
            <a:xfrm>
              <a:off x="1402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7" name="Rectangle 119"/>
            <p:cNvSpPr>
              <a:spLocks noChangeArrowheads="1"/>
            </p:cNvSpPr>
            <p:nvPr/>
          </p:nvSpPr>
          <p:spPr bwMode="auto">
            <a:xfrm>
              <a:off x="1416" y="2264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8" name="Line 120"/>
            <p:cNvSpPr>
              <a:spLocks noChangeShapeType="1"/>
            </p:cNvSpPr>
            <p:nvPr/>
          </p:nvSpPr>
          <p:spPr bwMode="auto">
            <a:xfrm>
              <a:off x="1416" y="2264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59" name="Rectangle 121"/>
            <p:cNvSpPr>
              <a:spLocks noChangeArrowheads="1"/>
            </p:cNvSpPr>
            <p:nvPr/>
          </p:nvSpPr>
          <p:spPr bwMode="auto">
            <a:xfrm>
              <a:off x="3228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0" name="Line 122"/>
            <p:cNvSpPr>
              <a:spLocks noChangeShapeType="1"/>
            </p:cNvSpPr>
            <p:nvPr/>
          </p:nvSpPr>
          <p:spPr bwMode="auto">
            <a:xfrm>
              <a:off x="3228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1" name="Line 123"/>
            <p:cNvSpPr>
              <a:spLocks noChangeShapeType="1"/>
            </p:cNvSpPr>
            <p:nvPr/>
          </p:nvSpPr>
          <p:spPr bwMode="auto">
            <a:xfrm>
              <a:off x="3228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2" name="Rectangle 124"/>
            <p:cNvSpPr>
              <a:spLocks noChangeArrowheads="1"/>
            </p:cNvSpPr>
            <p:nvPr/>
          </p:nvSpPr>
          <p:spPr bwMode="auto">
            <a:xfrm>
              <a:off x="3242" y="2264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3" name="Line 125"/>
            <p:cNvSpPr>
              <a:spLocks noChangeShapeType="1"/>
            </p:cNvSpPr>
            <p:nvPr/>
          </p:nvSpPr>
          <p:spPr bwMode="auto">
            <a:xfrm>
              <a:off x="3242" y="2264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4" name="Rectangle 126"/>
            <p:cNvSpPr>
              <a:spLocks noChangeArrowheads="1"/>
            </p:cNvSpPr>
            <p:nvPr/>
          </p:nvSpPr>
          <p:spPr bwMode="auto">
            <a:xfrm>
              <a:off x="5425" y="2264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5" name="Line 127"/>
            <p:cNvSpPr>
              <a:spLocks noChangeShapeType="1"/>
            </p:cNvSpPr>
            <p:nvPr/>
          </p:nvSpPr>
          <p:spPr bwMode="auto">
            <a:xfrm>
              <a:off x="5425" y="2264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6" name="Line 128"/>
            <p:cNvSpPr>
              <a:spLocks noChangeShapeType="1"/>
            </p:cNvSpPr>
            <p:nvPr/>
          </p:nvSpPr>
          <p:spPr bwMode="auto">
            <a:xfrm>
              <a:off x="5425" y="2264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7" name="Rectangle 129"/>
            <p:cNvSpPr>
              <a:spLocks noChangeArrowheads="1"/>
            </p:cNvSpPr>
            <p:nvPr/>
          </p:nvSpPr>
          <p:spPr bwMode="auto">
            <a:xfrm>
              <a:off x="633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8" name="Line 130"/>
            <p:cNvSpPr>
              <a:spLocks noChangeShapeType="1"/>
            </p:cNvSpPr>
            <p:nvPr/>
          </p:nvSpPr>
          <p:spPr bwMode="auto">
            <a:xfrm>
              <a:off x="633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69" name="Rectangle 131"/>
            <p:cNvSpPr>
              <a:spLocks noChangeArrowheads="1"/>
            </p:cNvSpPr>
            <p:nvPr/>
          </p:nvSpPr>
          <p:spPr bwMode="auto">
            <a:xfrm>
              <a:off x="633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0" name="Line 132"/>
            <p:cNvSpPr>
              <a:spLocks noChangeShapeType="1"/>
            </p:cNvSpPr>
            <p:nvPr/>
          </p:nvSpPr>
          <p:spPr bwMode="auto">
            <a:xfrm>
              <a:off x="633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1" name="Line 133"/>
            <p:cNvSpPr>
              <a:spLocks noChangeShapeType="1"/>
            </p:cNvSpPr>
            <p:nvPr/>
          </p:nvSpPr>
          <p:spPr bwMode="auto">
            <a:xfrm>
              <a:off x="633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2" name="Rectangle 134"/>
            <p:cNvSpPr>
              <a:spLocks noChangeArrowheads="1"/>
            </p:cNvSpPr>
            <p:nvPr/>
          </p:nvSpPr>
          <p:spPr bwMode="auto">
            <a:xfrm>
              <a:off x="633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3" name="Line 135"/>
            <p:cNvSpPr>
              <a:spLocks noChangeShapeType="1"/>
            </p:cNvSpPr>
            <p:nvPr/>
          </p:nvSpPr>
          <p:spPr bwMode="auto">
            <a:xfrm>
              <a:off x="633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4" name="Line 136"/>
            <p:cNvSpPr>
              <a:spLocks noChangeShapeType="1"/>
            </p:cNvSpPr>
            <p:nvPr/>
          </p:nvSpPr>
          <p:spPr bwMode="auto">
            <a:xfrm>
              <a:off x="633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5" name="Rectangle 137"/>
            <p:cNvSpPr>
              <a:spLocks noChangeArrowheads="1"/>
            </p:cNvSpPr>
            <p:nvPr/>
          </p:nvSpPr>
          <p:spPr bwMode="auto">
            <a:xfrm>
              <a:off x="647" y="3019"/>
              <a:ext cx="755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6" name="Line 138"/>
            <p:cNvSpPr>
              <a:spLocks noChangeShapeType="1"/>
            </p:cNvSpPr>
            <p:nvPr/>
          </p:nvSpPr>
          <p:spPr bwMode="auto">
            <a:xfrm>
              <a:off x="647" y="3019"/>
              <a:ext cx="75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7" name="Rectangle 139"/>
            <p:cNvSpPr>
              <a:spLocks noChangeArrowheads="1"/>
            </p:cNvSpPr>
            <p:nvPr/>
          </p:nvSpPr>
          <p:spPr bwMode="auto">
            <a:xfrm>
              <a:off x="1402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8" name="Line 140"/>
            <p:cNvSpPr>
              <a:spLocks noChangeShapeType="1"/>
            </p:cNvSpPr>
            <p:nvPr/>
          </p:nvSpPr>
          <p:spPr bwMode="auto">
            <a:xfrm>
              <a:off x="1402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79" name="Rectangle 141"/>
            <p:cNvSpPr>
              <a:spLocks noChangeArrowheads="1"/>
            </p:cNvSpPr>
            <p:nvPr/>
          </p:nvSpPr>
          <p:spPr bwMode="auto">
            <a:xfrm>
              <a:off x="1402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0" name="Line 142"/>
            <p:cNvSpPr>
              <a:spLocks noChangeShapeType="1"/>
            </p:cNvSpPr>
            <p:nvPr/>
          </p:nvSpPr>
          <p:spPr bwMode="auto">
            <a:xfrm>
              <a:off x="1402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1" name="Line 143"/>
            <p:cNvSpPr>
              <a:spLocks noChangeShapeType="1"/>
            </p:cNvSpPr>
            <p:nvPr/>
          </p:nvSpPr>
          <p:spPr bwMode="auto">
            <a:xfrm>
              <a:off x="1402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2" name="Rectangle 144"/>
            <p:cNvSpPr>
              <a:spLocks noChangeArrowheads="1"/>
            </p:cNvSpPr>
            <p:nvPr/>
          </p:nvSpPr>
          <p:spPr bwMode="auto">
            <a:xfrm>
              <a:off x="1416" y="3019"/>
              <a:ext cx="1812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3" name="Line 145"/>
            <p:cNvSpPr>
              <a:spLocks noChangeShapeType="1"/>
            </p:cNvSpPr>
            <p:nvPr/>
          </p:nvSpPr>
          <p:spPr bwMode="auto">
            <a:xfrm>
              <a:off x="1416" y="3019"/>
              <a:ext cx="18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4" name="Rectangle 146"/>
            <p:cNvSpPr>
              <a:spLocks noChangeArrowheads="1"/>
            </p:cNvSpPr>
            <p:nvPr/>
          </p:nvSpPr>
          <p:spPr bwMode="auto">
            <a:xfrm>
              <a:off x="3228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5" name="Line 147"/>
            <p:cNvSpPr>
              <a:spLocks noChangeShapeType="1"/>
            </p:cNvSpPr>
            <p:nvPr/>
          </p:nvSpPr>
          <p:spPr bwMode="auto">
            <a:xfrm>
              <a:off x="3228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6" name="Rectangle 148"/>
            <p:cNvSpPr>
              <a:spLocks noChangeArrowheads="1"/>
            </p:cNvSpPr>
            <p:nvPr/>
          </p:nvSpPr>
          <p:spPr bwMode="auto">
            <a:xfrm>
              <a:off x="3228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7" name="Line 149"/>
            <p:cNvSpPr>
              <a:spLocks noChangeShapeType="1"/>
            </p:cNvSpPr>
            <p:nvPr/>
          </p:nvSpPr>
          <p:spPr bwMode="auto">
            <a:xfrm>
              <a:off x="3228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8" name="Line 150"/>
            <p:cNvSpPr>
              <a:spLocks noChangeShapeType="1"/>
            </p:cNvSpPr>
            <p:nvPr/>
          </p:nvSpPr>
          <p:spPr bwMode="auto">
            <a:xfrm>
              <a:off x="3228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89" name="Rectangle 151"/>
            <p:cNvSpPr>
              <a:spLocks noChangeArrowheads="1"/>
            </p:cNvSpPr>
            <p:nvPr/>
          </p:nvSpPr>
          <p:spPr bwMode="auto">
            <a:xfrm>
              <a:off x="3242" y="3019"/>
              <a:ext cx="2183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0" name="Line 152"/>
            <p:cNvSpPr>
              <a:spLocks noChangeShapeType="1"/>
            </p:cNvSpPr>
            <p:nvPr/>
          </p:nvSpPr>
          <p:spPr bwMode="auto">
            <a:xfrm>
              <a:off x="3242" y="3019"/>
              <a:ext cx="218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1" name="Rectangle 153"/>
            <p:cNvSpPr>
              <a:spLocks noChangeArrowheads="1"/>
            </p:cNvSpPr>
            <p:nvPr/>
          </p:nvSpPr>
          <p:spPr bwMode="auto">
            <a:xfrm>
              <a:off x="5425" y="2278"/>
              <a:ext cx="14" cy="74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2" name="Line 154"/>
            <p:cNvSpPr>
              <a:spLocks noChangeShapeType="1"/>
            </p:cNvSpPr>
            <p:nvPr/>
          </p:nvSpPr>
          <p:spPr bwMode="auto">
            <a:xfrm>
              <a:off x="5425" y="2278"/>
              <a:ext cx="1" cy="7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3" name="Rectangle 155"/>
            <p:cNvSpPr>
              <a:spLocks noChangeArrowheads="1"/>
            </p:cNvSpPr>
            <p:nvPr/>
          </p:nvSpPr>
          <p:spPr bwMode="auto">
            <a:xfrm>
              <a:off x="5425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4" name="Line 156"/>
            <p:cNvSpPr>
              <a:spLocks noChangeShapeType="1"/>
            </p:cNvSpPr>
            <p:nvPr/>
          </p:nvSpPr>
          <p:spPr bwMode="auto">
            <a:xfrm>
              <a:off x="5425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5" name="Line 157"/>
            <p:cNvSpPr>
              <a:spLocks noChangeShapeType="1"/>
            </p:cNvSpPr>
            <p:nvPr/>
          </p:nvSpPr>
          <p:spPr bwMode="auto">
            <a:xfrm>
              <a:off x="5425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6" name="Rectangle 158"/>
            <p:cNvSpPr>
              <a:spLocks noChangeArrowheads="1"/>
            </p:cNvSpPr>
            <p:nvPr/>
          </p:nvSpPr>
          <p:spPr bwMode="auto">
            <a:xfrm>
              <a:off x="5425" y="3019"/>
              <a:ext cx="14" cy="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7" name="Line 159"/>
            <p:cNvSpPr>
              <a:spLocks noChangeShapeType="1"/>
            </p:cNvSpPr>
            <p:nvPr/>
          </p:nvSpPr>
          <p:spPr bwMode="auto">
            <a:xfrm>
              <a:off x="5425" y="3019"/>
              <a:ext cx="1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5698" name="Line 160"/>
            <p:cNvSpPr>
              <a:spLocks noChangeShapeType="1"/>
            </p:cNvSpPr>
            <p:nvPr/>
          </p:nvSpPr>
          <p:spPr bwMode="auto">
            <a:xfrm>
              <a:off x="5425" y="3019"/>
              <a:ext cx="1" cy="1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  <p:sp>
        <p:nvSpPr>
          <p:cNvPr id="65541" name="Rectangle 161"/>
          <p:cNvSpPr>
            <a:spLocks noChangeArrowheads="1"/>
          </p:cNvSpPr>
          <p:nvPr/>
        </p:nvSpPr>
        <p:spPr bwMode="auto">
          <a:xfrm>
            <a:off x="-215900" y="4922838"/>
            <a:ext cx="65405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800">
                <a:solidFill>
                  <a:srgbClr val="000000"/>
                </a:solidFill>
                <a:latin typeface="Times New Roman" pitchFamily="18" charset="0"/>
              </a:rPr>
              <a:t>      </a:t>
            </a:r>
            <a:endParaRPr kumimoji="1" lang="zh-CN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03345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359"/>
          <p:cNvSpPr>
            <a:spLocks noChangeArrowheads="1"/>
          </p:cNvSpPr>
          <p:nvPr/>
        </p:nvSpPr>
        <p:spPr bwMode="auto">
          <a:xfrm>
            <a:off x="1371600" y="2209800"/>
            <a:ext cx="5943600" cy="3429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2400">
              <a:solidFill>
                <a:srgbClr val="000000"/>
              </a:solidFill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8382000" cy="1143000"/>
          </a:xfrm>
        </p:spPr>
        <p:txBody>
          <a:bodyPr/>
          <a:lstStyle/>
          <a:p>
            <a:pPr eaLnBrk="1" hangingPunct="1"/>
            <a:r>
              <a:rPr lang="zh-CN" altLang="en-US" sz="4000" smtClean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浮点数标准(</a:t>
            </a:r>
            <a:r>
              <a:rPr lang="en-US" altLang="zh-CN" sz="4000" smtClean="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IEEE754)</a:t>
            </a:r>
            <a:endParaRPr lang="zh-CN" altLang="en-US" sz="4000" smtClean="0">
              <a:solidFill>
                <a:srgbClr val="0000FF"/>
              </a:solidFill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66564" name="Group 358"/>
          <p:cNvGrpSpPr>
            <a:grpSpLocks/>
          </p:cNvGrpSpPr>
          <p:nvPr/>
        </p:nvGrpSpPr>
        <p:grpSpPr bwMode="auto">
          <a:xfrm>
            <a:off x="1370013" y="1801813"/>
            <a:ext cx="5938837" cy="3863975"/>
            <a:chOff x="863" y="1135"/>
            <a:chExt cx="3741" cy="2434"/>
          </a:xfrm>
        </p:grpSpPr>
        <p:grpSp>
          <p:nvGrpSpPr>
            <p:cNvPr id="66565" name="Group 204"/>
            <p:cNvGrpSpPr>
              <a:grpSpLocks/>
            </p:cNvGrpSpPr>
            <p:nvPr/>
          </p:nvGrpSpPr>
          <p:grpSpPr bwMode="auto">
            <a:xfrm>
              <a:off x="863" y="1135"/>
              <a:ext cx="3741" cy="1894"/>
              <a:chOff x="863" y="1135"/>
              <a:chExt cx="3741" cy="1894"/>
            </a:xfrm>
          </p:grpSpPr>
          <p:sp>
            <p:nvSpPr>
              <p:cNvPr id="66719" name="Rectangle 4"/>
              <p:cNvSpPr>
                <a:spLocks noChangeArrowheads="1"/>
              </p:cNvSpPr>
              <p:nvPr/>
            </p:nvSpPr>
            <p:spPr bwMode="auto">
              <a:xfrm>
                <a:off x="911" y="1167"/>
                <a:ext cx="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0" name="Rectangle 5"/>
              <p:cNvSpPr>
                <a:spLocks noChangeArrowheads="1"/>
              </p:cNvSpPr>
              <p:nvPr/>
            </p:nvSpPr>
            <p:spPr bwMode="auto">
              <a:xfrm>
                <a:off x="1150" y="1135"/>
                <a:ext cx="511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>
                    <a:solidFill>
                      <a:srgbClr val="000000"/>
                    </a:solidFill>
                    <a:latin typeface="Times New Roman" pitchFamily="18" charset="0"/>
                  </a:rPr>
                  <a:t>  </a:t>
                </a:r>
                <a:r>
                  <a:rPr kumimoji="1" lang="en-US" altLang="zh-CN" sz="2400">
                    <a:solidFill>
                      <a:srgbClr val="000000"/>
                    </a:solidFill>
                    <a:latin typeface="Times New Roman" pitchFamily="18" charset="0"/>
                  </a:rPr>
                  <a:t>IEEE</a:t>
                </a:r>
                <a:endParaRPr kumimoji="1" lang="en-US" altLang="zh-CN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1" name="Rectangle 6"/>
              <p:cNvSpPr>
                <a:spLocks noChangeArrowheads="1"/>
              </p:cNvSpPr>
              <p:nvPr/>
            </p:nvSpPr>
            <p:spPr bwMode="auto">
              <a:xfrm>
                <a:off x="2041" y="1167"/>
                <a:ext cx="2006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400">
                    <a:solidFill>
                      <a:srgbClr val="000000"/>
                    </a:solidFill>
                    <a:latin typeface="黑体" pitchFamily="2" charset="-122"/>
                    <a:ea typeface="黑体" pitchFamily="2" charset="-122"/>
                  </a:rPr>
                  <a:t>单精度浮点数编码格式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2" name="Rectangle 7"/>
              <p:cNvSpPr>
                <a:spLocks noChangeArrowheads="1"/>
              </p:cNvSpPr>
              <p:nvPr/>
            </p:nvSpPr>
            <p:spPr bwMode="auto">
              <a:xfrm>
                <a:off x="974" y="1469"/>
                <a:ext cx="557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charset="-122"/>
                  </a:rPr>
                  <a:t>符号位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3" name="Rectangle 8"/>
              <p:cNvSpPr>
                <a:spLocks noChangeArrowheads="1"/>
              </p:cNvSpPr>
              <p:nvPr/>
            </p:nvSpPr>
            <p:spPr bwMode="auto">
              <a:xfrm>
                <a:off x="1707" y="1469"/>
                <a:ext cx="398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charset="-122"/>
                  </a:rPr>
                  <a:t>阶码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4" name="Rectangle 9"/>
              <p:cNvSpPr>
                <a:spLocks noChangeArrowheads="1"/>
              </p:cNvSpPr>
              <p:nvPr/>
            </p:nvSpPr>
            <p:spPr bwMode="auto">
              <a:xfrm>
                <a:off x="2455" y="1469"/>
                <a:ext cx="398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charset="-122"/>
                  </a:rPr>
                  <a:t>尾数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5" name="Rectangle 10"/>
              <p:cNvSpPr>
                <a:spLocks noChangeArrowheads="1"/>
              </p:cNvSpPr>
              <p:nvPr/>
            </p:nvSpPr>
            <p:spPr bwMode="auto">
              <a:xfrm>
                <a:off x="3665" y="1469"/>
                <a:ext cx="398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charset="-122"/>
                  </a:rPr>
                  <a:t>表示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6" name="Rectangle 11"/>
              <p:cNvSpPr>
                <a:spLocks noChangeArrowheads="1"/>
              </p:cNvSpPr>
              <p:nvPr/>
            </p:nvSpPr>
            <p:spPr bwMode="auto">
              <a:xfrm>
                <a:off x="863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7" name="Line 12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8" name="Line 13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29" name="Rectangle 14"/>
              <p:cNvSpPr>
                <a:spLocks noChangeArrowheads="1"/>
              </p:cNvSpPr>
              <p:nvPr/>
            </p:nvSpPr>
            <p:spPr bwMode="auto">
              <a:xfrm>
                <a:off x="863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0" name="Line 15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1" name="Line 16"/>
              <p:cNvSpPr>
                <a:spLocks noChangeShapeType="1"/>
              </p:cNvSpPr>
              <p:nvPr/>
            </p:nvSpPr>
            <p:spPr bwMode="auto">
              <a:xfrm>
                <a:off x="863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2" name="Rectangle 17"/>
              <p:cNvSpPr>
                <a:spLocks noChangeArrowheads="1"/>
              </p:cNvSpPr>
              <p:nvPr/>
            </p:nvSpPr>
            <p:spPr bwMode="auto">
              <a:xfrm>
                <a:off x="879" y="1390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3" name="Line 18"/>
              <p:cNvSpPr>
                <a:spLocks noChangeShapeType="1"/>
              </p:cNvSpPr>
              <p:nvPr/>
            </p:nvSpPr>
            <p:spPr bwMode="auto">
              <a:xfrm>
                <a:off x="879" y="1390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4" name="Rectangle 19"/>
              <p:cNvSpPr>
                <a:spLocks noChangeArrowheads="1"/>
              </p:cNvSpPr>
              <p:nvPr/>
            </p:nvSpPr>
            <p:spPr bwMode="auto">
              <a:xfrm>
                <a:off x="1532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5" name="Line 20"/>
              <p:cNvSpPr>
                <a:spLocks noChangeShapeType="1"/>
              </p:cNvSpPr>
              <p:nvPr/>
            </p:nvSpPr>
            <p:spPr bwMode="auto">
              <a:xfrm>
                <a:off x="1532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6" name="Line 21"/>
              <p:cNvSpPr>
                <a:spLocks noChangeShapeType="1"/>
              </p:cNvSpPr>
              <p:nvPr/>
            </p:nvSpPr>
            <p:spPr bwMode="auto">
              <a:xfrm>
                <a:off x="1532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7" name="Rectangle 22"/>
              <p:cNvSpPr>
                <a:spLocks noChangeArrowheads="1"/>
              </p:cNvSpPr>
              <p:nvPr/>
            </p:nvSpPr>
            <p:spPr bwMode="auto">
              <a:xfrm>
                <a:off x="1548" y="1390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8" name="Line 23"/>
              <p:cNvSpPr>
                <a:spLocks noChangeShapeType="1"/>
              </p:cNvSpPr>
              <p:nvPr/>
            </p:nvSpPr>
            <p:spPr bwMode="auto">
              <a:xfrm>
                <a:off x="1548" y="1390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39" name="Rectangle 24"/>
              <p:cNvSpPr>
                <a:spLocks noChangeArrowheads="1"/>
              </p:cNvSpPr>
              <p:nvPr/>
            </p:nvSpPr>
            <p:spPr bwMode="auto">
              <a:xfrm>
                <a:off x="2184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0" name="Line 25"/>
              <p:cNvSpPr>
                <a:spLocks noChangeShapeType="1"/>
              </p:cNvSpPr>
              <p:nvPr/>
            </p:nvSpPr>
            <p:spPr bwMode="auto">
              <a:xfrm>
                <a:off x="2184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1" name="Line 26"/>
              <p:cNvSpPr>
                <a:spLocks noChangeShapeType="1"/>
              </p:cNvSpPr>
              <p:nvPr/>
            </p:nvSpPr>
            <p:spPr bwMode="auto">
              <a:xfrm>
                <a:off x="2184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2" name="Rectangle 27"/>
              <p:cNvSpPr>
                <a:spLocks noChangeArrowheads="1"/>
              </p:cNvSpPr>
              <p:nvPr/>
            </p:nvSpPr>
            <p:spPr bwMode="auto">
              <a:xfrm>
                <a:off x="2200" y="1390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3" name="Line 28"/>
              <p:cNvSpPr>
                <a:spLocks noChangeShapeType="1"/>
              </p:cNvSpPr>
              <p:nvPr/>
            </p:nvSpPr>
            <p:spPr bwMode="auto">
              <a:xfrm>
                <a:off x="2200" y="1390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4" name="Rectangle 29"/>
              <p:cNvSpPr>
                <a:spLocks noChangeArrowheads="1"/>
              </p:cNvSpPr>
              <p:nvPr/>
            </p:nvSpPr>
            <p:spPr bwMode="auto">
              <a:xfrm>
                <a:off x="3028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5" name="Line 30"/>
              <p:cNvSpPr>
                <a:spLocks noChangeShapeType="1"/>
              </p:cNvSpPr>
              <p:nvPr/>
            </p:nvSpPr>
            <p:spPr bwMode="auto">
              <a:xfrm>
                <a:off x="3028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6" name="Line 31"/>
              <p:cNvSpPr>
                <a:spLocks noChangeShapeType="1"/>
              </p:cNvSpPr>
              <p:nvPr/>
            </p:nvSpPr>
            <p:spPr bwMode="auto">
              <a:xfrm>
                <a:off x="3028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7" name="Rectangle 32"/>
              <p:cNvSpPr>
                <a:spLocks noChangeArrowheads="1"/>
              </p:cNvSpPr>
              <p:nvPr/>
            </p:nvSpPr>
            <p:spPr bwMode="auto">
              <a:xfrm>
                <a:off x="3044" y="1390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8" name="Line 33"/>
              <p:cNvSpPr>
                <a:spLocks noChangeShapeType="1"/>
              </p:cNvSpPr>
              <p:nvPr/>
            </p:nvSpPr>
            <p:spPr bwMode="auto">
              <a:xfrm>
                <a:off x="3044" y="1390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49" name="Rectangle 34"/>
              <p:cNvSpPr>
                <a:spLocks noChangeArrowheads="1"/>
              </p:cNvSpPr>
              <p:nvPr/>
            </p:nvSpPr>
            <p:spPr bwMode="auto">
              <a:xfrm>
                <a:off x="4588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0" name="Line 35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1" name="Line 36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2" name="Rectangle 37"/>
              <p:cNvSpPr>
                <a:spLocks noChangeArrowheads="1"/>
              </p:cNvSpPr>
              <p:nvPr/>
            </p:nvSpPr>
            <p:spPr bwMode="auto">
              <a:xfrm>
                <a:off x="4588" y="139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3" name="Line 38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4" name="Line 39"/>
              <p:cNvSpPr>
                <a:spLocks noChangeShapeType="1"/>
              </p:cNvSpPr>
              <p:nvPr/>
            </p:nvSpPr>
            <p:spPr bwMode="auto">
              <a:xfrm>
                <a:off x="4588" y="139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5" name="Rectangle 40"/>
              <p:cNvSpPr>
                <a:spLocks noChangeArrowheads="1"/>
              </p:cNvSpPr>
              <p:nvPr/>
            </p:nvSpPr>
            <p:spPr bwMode="auto">
              <a:xfrm>
                <a:off x="863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6" name="Line 41"/>
              <p:cNvSpPr>
                <a:spLocks noChangeShapeType="1"/>
              </p:cNvSpPr>
              <p:nvPr/>
            </p:nvSpPr>
            <p:spPr bwMode="auto">
              <a:xfrm>
                <a:off x="863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7" name="Rectangle 42"/>
              <p:cNvSpPr>
                <a:spLocks noChangeArrowheads="1"/>
              </p:cNvSpPr>
              <p:nvPr/>
            </p:nvSpPr>
            <p:spPr bwMode="auto">
              <a:xfrm>
                <a:off x="1532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8" name="Line 43"/>
              <p:cNvSpPr>
                <a:spLocks noChangeShapeType="1"/>
              </p:cNvSpPr>
              <p:nvPr/>
            </p:nvSpPr>
            <p:spPr bwMode="auto">
              <a:xfrm>
                <a:off x="1532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59" name="Rectangle 44"/>
              <p:cNvSpPr>
                <a:spLocks noChangeArrowheads="1"/>
              </p:cNvSpPr>
              <p:nvPr/>
            </p:nvSpPr>
            <p:spPr bwMode="auto">
              <a:xfrm>
                <a:off x="2184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0" name="Line 45"/>
              <p:cNvSpPr>
                <a:spLocks noChangeShapeType="1"/>
              </p:cNvSpPr>
              <p:nvPr/>
            </p:nvSpPr>
            <p:spPr bwMode="auto">
              <a:xfrm>
                <a:off x="2184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1" name="Rectangle 46"/>
              <p:cNvSpPr>
                <a:spLocks noChangeArrowheads="1"/>
              </p:cNvSpPr>
              <p:nvPr/>
            </p:nvSpPr>
            <p:spPr bwMode="auto">
              <a:xfrm>
                <a:off x="3028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2" name="Line 47"/>
              <p:cNvSpPr>
                <a:spLocks noChangeShapeType="1"/>
              </p:cNvSpPr>
              <p:nvPr/>
            </p:nvSpPr>
            <p:spPr bwMode="auto">
              <a:xfrm>
                <a:off x="3028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3" name="Rectangle 48"/>
              <p:cNvSpPr>
                <a:spLocks noChangeArrowheads="1"/>
              </p:cNvSpPr>
              <p:nvPr/>
            </p:nvSpPr>
            <p:spPr bwMode="auto">
              <a:xfrm>
                <a:off x="4588" y="1406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4" name="Line 49"/>
              <p:cNvSpPr>
                <a:spLocks noChangeShapeType="1"/>
              </p:cNvSpPr>
              <p:nvPr/>
            </p:nvSpPr>
            <p:spPr bwMode="auto">
              <a:xfrm>
                <a:off x="4588" y="1406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5" name="Rectangle 50"/>
              <p:cNvSpPr>
                <a:spLocks noChangeArrowheads="1"/>
              </p:cNvSpPr>
              <p:nvPr/>
            </p:nvSpPr>
            <p:spPr bwMode="auto">
              <a:xfrm>
                <a:off x="1102" y="1724"/>
                <a:ext cx="27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0/1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6" name="Rectangle 51"/>
              <p:cNvSpPr>
                <a:spLocks noChangeArrowheads="1"/>
              </p:cNvSpPr>
              <p:nvPr/>
            </p:nvSpPr>
            <p:spPr bwMode="auto">
              <a:xfrm>
                <a:off x="1754" y="1724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7" name="Rectangle 52"/>
              <p:cNvSpPr>
                <a:spLocks noChangeArrowheads="1"/>
              </p:cNvSpPr>
              <p:nvPr/>
            </p:nvSpPr>
            <p:spPr bwMode="auto">
              <a:xfrm>
                <a:off x="2487" y="1740"/>
                <a:ext cx="23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charset="-122"/>
                  </a:rPr>
                  <a:t>非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8" name="Rectangle 53"/>
              <p:cNvSpPr>
                <a:spLocks noChangeArrowheads="1"/>
              </p:cNvSpPr>
              <p:nvPr/>
            </p:nvSpPr>
            <p:spPr bwMode="auto">
              <a:xfrm>
                <a:off x="2678" y="1724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69" name="Rectangle 54"/>
              <p:cNvSpPr>
                <a:spLocks noChangeArrowheads="1"/>
              </p:cNvSpPr>
              <p:nvPr/>
            </p:nvSpPr>
            <p:spPr bwMode="auto">
              <a:xfrm>
                <a:off x="3776" y="1724"/>
                <a:ext cx="30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>
                    <a:solidFill>
                      <a:srgbClr val="000000"/>
                    </a:solidFill>
                    <a:latin typeface="Times New Roman" pitchFamily="18" charset="0"/>
                  </a:rPr>
                  <a:t>NaN</a:t>
                </a:r>
                <a:endParaRPr kumimoji="1" lang="en-US" altLang="zh-CN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0" name="Rectangle 55"/>
              <p:cNvSpPr>
                <a:spLocks noChangeArrowheads="1"/>
              </p:cNvSpPr>
              <p:nvPr/>
            </p:nvSpPr>
            <p:spPr bwMode="auto">
              <a:xfrm>
                <a:off x="863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1" name="Line 56"/>
              <p:cNvSpPr>
                <a:spLocks noChangeShapeType="1"/>
              </p:cNvSpPr>
              <p:nvPr/>
            </p:nvSpPr>
            <p:spPr bwMode="auto">
              <a:xfrm>
                <a:off x="863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2" name="Line 57"/>
              <p:cNvSpPr>
                <a:spLocks noChangeShapeType="1"/>
              </p:cNvSpPr>
              <p:nvPr/>
            </p:nvSpPr>
            <p:spPr bwMode="auto">
              <a:xfrm>
                <a:off x="863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3" name="Rectangle 58"/>
              <p:cNvSpPr>
                <a:spLocks noChangeArrowheads="1"/>
              </p:cNvSpPr>
              <p:nvPr/>
            </p:nvSpPr>
            <p:spPr bwMode="auto">
              <a:xfrm>
                <a:off x="879" y="1660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4" name="Line 59"/>
              <p:cNvSpPr>
                <a:spLocks noChangeShapeType="1"/>
              </p:cNvSpPr>
              <p:nvPr/>
            </p:nvSpPr>
            <p:spPr bwMode="auto">
              <a:xfrm>
                <a:off x="879" y="1660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5" name="Rectangle 60"/>
              <p:cNvSpPr>
                <a:spLocks noChangeArrowheads="1"/>
              </p:cNvSpPr>
              <p:nvPr/>
            </p:nvSpPr>
            <p:spPr bwMode="auto">
              <a:xfrm>
                <a:off x="1532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6" name="Line 61"/>
              <p:cNvSpPr>
                <a:spLocks noChangeShapeType="1"/>
              </p:cNvSpPr>
              <p:nvPr/>
            </p:nvSpPr>
            <p:spPr bwMode="auto">
              <a:xfrm>
                <a:off x="1532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7" name="Line 62"/>
              <p:cNvSpPr>
                <a:spLocks noChangeShapeType="1"/>
              </p:cNvSpPr>
              <p:nvPr/>
            </p:nvSpPr>
            <p:spPr bwMode="auto">
              <a:xfrm>
                <a:off x="1532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8" name="Rectangle 63"/>
              <p:cNvSpPr>
                <a:spLocks noChangeArrowheads="1"/>
              </p:cNvSpPr>
              <p:nvPr/>
            </p:nvSpPr>
            <p:spPr bwMode="auto">
              <a:xfrm>
                <a:off x="1548" y="1660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79" name="Line 64"/>
              <p:cNvSpPr>
                <a:spLocks noChangeShapeType="1"/>
              </p:cNvSpPr>
              <p:nvPr/>
            </p:nvSpPr>
            <p:spPr bwMode="auto">
              <a:xfrm>
                <a:off x="1548" y="1660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0" name="Rectangle 65"/>
              <p:cNvSpPr>
                <a:spLocks noChangeArrowheads="1"/>
              </p:cNvSpPr>
              <p:nvPr/>
            </p:nvSpPr>
            <p:spPr bwMode="auto">
              <a:xfrm>
                <a:off x="2184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1" name="Line 66"/>
              <p:cNvSpPr>
                <a:spLocks noChangeShapeType="1"/>
              </p:cNvSpPr>
              <p:nvPr/>
            </p:nvSpPr>
            <p:spPr bwMode="auto">
              <a:xfrm>
                <a:off x="2184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2" name="Line 67"/>
              <p:cNvSpPr>
                <a:spLocks noChangeShapeType="1"/>
              </p:cNvSpPr>
              <p:nvPr/>
            </p:nvSpPr>
            <p:spPr bwMode="auto">
              <a:xfrm>
                <a:off x="2184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3" name="Rectangle 68"/>
              <p:cNvSpPr>
                <a:spLocks noChangeArrowheads="1"/>
              </p:cNvSpPr>
              <p:nvPr/>
            </p:nvSpPr>
            <p:spPr bwMode="auto">
              <a:xfrm>
                <a:off x="2200" y="1660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4" name="Line 69"/>
              <p:cNvSpPr>
                <a:spLocks noChangeShapeType="1"/>
              </p:cNvSpPr>
              <p:nvPr/>
            </p:nvSpPr>
            <p:spPr bwMode="auto">
              <a:xfrm>
                <a:off x="2200" y="1660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5" name="Rectangle 70"/>
              <p:cNvSpPr>
                <a:spLocks noChangeArrowheads="1"/>
              </p:cNvSpPr>
              <p:nvPr/>
            </p:nvSpPr>
            <p:spPr bwMode="auto">
              <a:xfrm>
                <a:off x="3028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6" name="Line 71"/>
              <p:cNvSpPr>
                <a:spLocks noChangeShapeType="1"/>
              </p:cNvSpPr>
              <p:nvPr/>
            </p:nvSpPr>
            <p:spPr bwMode="auto">
              <a:xfrm>
                <a:off x="3028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7" name="Line 72"/>
              <p:cNvSpPr>
                <a:spLocks noChangeShapeType="1"/>
              </p:cNvSpPr>
              <p:nvPr/>
            </p:nvSpPr>
            <p:spPr bwMode="auto">
              <a:xfrm>
                <a:off x="3028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8" name="Rectangle 73"/>
              <p:cNvSpPr>
                <a:spLocks noChangeArrowheads="1"/>
              </p:cNvSpPr>
              <p:nvPr/>
            </p:nvSpPr>
            <p:spPr bwMode="auto">
              <a:xfrm>
                <a:off x="3044" y="1660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89" name="Line 74"/>
              <p:cNvSpPr>
                <a:spLocks noChangeShapeType="1"/>
              </p:cNvSpPr>
              <p:nvPr/>
            </p:nvSpPr>
            <p:spPr bwMode="auto">
              <a:xfrm>
                <a:off x="3044" y="1660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0" name="Rectangle 75"/>
              <p:cNvSpPr>
                <a:spLocks noChangeArrowheads="1"/>
              </p:cNvSpPr>
              <p:nvPr/>
            </p:nvSpPr>
            <p:spPr bwMode="auto">
              <a:xfrm>
                <a:off x="4588" y="1660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1" name="Line 76"/>
              <p:cNvSpPr>
                <a:spLocks noChangeShapeType="1"/>
              </p:cNvSpPr>
              <p:nvPr/>
            </p:nvSpPr>
            <p:spPr bwMode="auto">
              <a:xfrm>
                <a:off x="4588" y="1660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2" name="Line 77"/>
              <p:cNvSpPr>
                <a:spLocks noChangeShapeType="1"/>
              </p:cNvSpPr>
              <p:nvPr/>
            </p:nvSpPr>
            <p:spPr bwMode="auto">
              <a:xfrm>
                <a:off x="4588" y="1660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3" name="Rectangle 78"/>
              <p:cNvSpPr>
                <a:spLocks noChangeArrowheads="1"/>
              </p:cNvSpPr>
              <p:nvPr/>
            </p:nvSpPr>
            <p:spPr bwMode="auto">
              <a:xfrm>
                <a:off x="863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4" name="Line 79"/>
              <p:cNvSpPr>
                <a:spLocks noChangeShapeType="1"/>
              </p:cNvSpPr>
              <p:nvPr/>
            </p:nvSpPr>
            <p:spPr bwMode="auto">
              <a:xfrm>
                <a:off x="863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5" name="Rectangle 80"/>
              <p:cNvSpPr>
                <a:spLocks noChangeArrowheads="1"/>
              </p:cNvSpPr>
              <p:nvPr/>
            </p:nvSpPr>
            <p:spPr bwMode="auto">
              <a:xfrm>
                <a:off x="1532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6" name="Line 81"/>
              <p:cNvSpPr>
                <a:spLocks noChangeShapeType="1"/>
              </p:cNvSpPr>
              <p:nvPr/>
            </p:nvSpPr>
            <p:spPr bwMode="auto">
              <a:xfrm>
                <a:off x="1532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7" name="Rectangle 82"/>
              <p:cNvSpPr>
                <a:spLocks noChangeArrowheads="1"/>
              </p:cNvSpPr>
              <p:nvPr/>
            </p:nvSpPr>
            <p:spPr bwMode="auto">
              <a:xfrm>
                <a:off x="2184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8" name="Line 83"/>
              <p:cNvSpPr>
                <a:spLocks noChangeShapeType="1"/>
              </p:cNvSpPr>
              <p:nvPr/>
            </p:nvSpPr>
            <p:spPr bwMode="auto">
              <a:xfrm>
                <a:off x="2184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799" name="Rectangle 84"/>
              <p:cNvSpPr>
                <a:spLocks noChangeArrowheads="1"/>
              </p:cNvSpPr>
              <p:nvPr/>
            </p:nvSpPr>
            <p:spPr bwMode="auto">
              <a:xfrm>
                <a:off x="3028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0" name="Line 85"/>
              <p:cNvSpPr>
                <a:spLocks noChangeShapeType="1"/>
              </p:cNvSpPr>
              <p:nvPr/>
            </p:nvSpPr>
            <p:spPr bwMode="auto">
              <a:xfrm>
                <a:off x="3028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1" name="Rectangle 86"/>
              <p:cNvSpPr>
                <a:spLocks noChangeArrowheads="1"/>
              </p:cNvSpPr>
              <p:nvPr/>
            </p:nvSpPr>
            <p:spPr bwMode="auto">
              <a:xfrm>
                <a:off x="4588" y="1676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2" name="Line 87"/>
              <p:cNvSpPr>
                <a:spLocks noChangeShapeType="1"/>
              </p:cNvSpPr>
              <p:nvPr/>
            </p:nvSpPr>
            <p:spPr bwMode="auto">
              <a:xfrm>
                <a:off x="4588" y="1676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3" name="Rectangle 88"/>
              <p:cNvSpPr>
                <a:spLocks noChangeArrowheads="1"/>
              </p:cNvSpPr>
              <p:nvPr/>
            </p:nvSpPr>
            <p:spPr bwMode="auto">
              <a:xfrm>
                <a:off x="1102" y="1994"/>
                <a:ext cx="27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0/1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4" name="Rectangle 89"/>
              <p:cNvSpPr>
                <a:spLocks noChangeArrowheads="1"/>
              </p:cNvSpPr>
              <p:nvPr/>
            </p:nvSpPr>
            <p:spPr bwMode="auto">
              <a:xfrm>
                <a:off x="1754" y="1994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5" name="Rectangle 90"/>
              <p:cNvSpPr>
                <a:spLocks noChangeArrowheads="1"/>
              </p:cNvSpPr>
              <p:nvPr/>
            </p:nvSpPr>
            <p:spPr bwMode="auto">
              <a:xfrm>
                <a:off x="2487" y="2010"/>
                <a:ext cx="239" cy="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宋体" charset="-122"/>
                  </a:rPr>
                  <a:t>非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6" name="Rectangle 91"/>
              <p:cNvSpPr>
                <a:spLocks noChangeArrowheads="1"/>
              </p:cNvSpPr>
              <p:nvPr/>
            </p:nvSpPr>
            <p:spPr bwMode="auto">
              <a:xfrm>
                <a:off x="2678" y="1994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7" name="Rectangle 92"/>
              <p:cNvSpPr>
                <a:spLocks noChangeArrowheads="1"/>
              </p:cNvSpPr>
              <p:nvPr/>
            </p:nvSpPr>
            <p:spPr bwMode="auto">
              <a:xfrm>
                <a:off x="3760" y="1994"/>
                <a:ext cx="303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>
                    <a:solidFill>
                      <a:srgbClr val="000000"/>
                    </a:solidFill>
                    <a:latin typeface="Times New Roman" pitchFamily="18" charset="0"/>
                  </a:rPr>
                  <a:t>NaN</a:t>
                </a:r>
                <a:endParaRPr kumimoji="1" lang="en-US" altLang="zh-CN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8" name="Rectangle 93"/>
              <p:cNvSpPr>
                <a:spLocks noChangeArrowheads="1"/>
              </p:cNvSpPr>
              <p:nvPr/>
            </p:nvSpPr>
            <p:spPr bwMode="auto">
              <a:xfrm>
                <a:off x="863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09" name="Line 94"/>
              <p:cNvSpPr>
                <a:spLocks noChangeShapeType="1"/>
              </p:cNvSpPr>
              <p:nvPr/>
            </p:nvSpPr>
            <p:spPr bwMode="auto">
              <a:xfrm>
                <a:off x="863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0" name="Line 95"/>
              <p:cNvSpPr>
                <a:spLocks noChangeShapeType="1"/>
              </p:cNvSpPr>
              <p:nvPr/>
            </p:nvSpPr>
            <p:spPr bwMode="auto">
              <a:xfrm>
                <a:off x="863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1" name="Rectangle 96"/>
              <p:cNvSpPr>
                <a:spLocks noChangeArrowheads="1"/>
              </p:cNvSpPr>
              <p:nvPr/>
            </p:nvSpPr>
            <p:spPr bwMode="auto">
              <a:xfrm>
                <a:off x="879" y="1931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2" name="Line 97"/>
              <p:cNvSpPr>
                <a:spLocks noChangeShapeType="1"/>
              </p:cNvSpPr>
              <p:nvPr/>
            </p:nvSpPr>
            <p:spPr bwMode="auto">
              <a:xfrm>
                <a:off x="879" y="1931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3" name="Rectangle 98"/>
              <p:cNvSpPr>
                <a:spLocks noChangeArrowheads="1"/>
              </p:cNvSpPr>
              <p:nvPr/>
            </p:nvSpPr>
            <p:spPr bwMode="auto">
              <a:xfrm>
                <a:off x="1532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4" name="Line 99"/>
              <p:cNvSpPr>
                <a:spLocks noChangeShapeType="1"/>
              </p:cNvSpPr>
              <p:nvPr/>
            </p:nvSpPr>
            <p:spPr bwMode="auto">
              <a:xfrm>
                <a:off x="1532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5" name="Line 100"/>
              <p:cNvSpPr>
                <a:spLocks noChangeShapeType="1"/>
              </p:cNvSpPr>
              <p:nvPr/>
            </p:nvSpPr>
            <p:spPr bwMode="auto">
              <a:xfrm>
                <a:off x="1532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6" name="Rectangle 101"/>
              <p:cNvSpPr>
                <a:spLocks noChangeArrowheads="1"/>
              </p:cNvSpPr>
              <p:nvPr/>
            </p:nvSpPr>
            <p:spPr bwMode="auto">
              <a:xfrm>
                <a:off x="1548" y="1931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7" name="Line 102"/>
              <p:cNvSpPr>
                <a:spLocks noChangeShapeType="1"/>
              </p:cNvSpPr>
              <p:nvPr/>
            </p:nvSpPr>
            <p:spPr bwMode="auto">
              <a:xfrm>
                <a:off x="1548" y="1931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8" name="Rectangle 103"/>
              <p:cNvSpPr>
                <a:spLocks noChangeArrowheads="1"/>
              </p:cNvSpPr>
              <p:nvPr/>
            </p:nvSpPr>
            <p:spPr bwMode="auto">
              <a:xfrm>
                <a:off x="2184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19" name="Line 104"/>
              <p:cNvSpPr>
                <a:spLocks noChangeShapeType="1"/>
              </p:cNvSpPr>
              <p:nvPr/>
            </p:nvSpPr>
            <p:spPr bwMode="auto">
              <a:xfrm>
                <a:off x="2184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0" name="Line 105"/>
              <p:cNvSpPr>
                <a:spLocks noChangeShapeType="1"/>
              </p:cNvSpPr>
              <p:nvPr/>
            </p:nvSpPr>
            <p:spPr bwMode="auto">
              <a:xfrm>
                <a:off x="2184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1" name="Rectangle 106"/>
              <p:cNvSpPr>
                <a:spLocks noChangeArrowheads="1"/>
              </p:cNvSpPr>
              <p:nvPr/>
            </p:nvSpPr>
            <p:spPr bwMode="auto">
              <a:xfrm>
                <a:off x="2200" y="1931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2" name="Line 107"/>
              <p:cNvSpPr>
                <a:spLocks noChangeShapeType="1"/>
              </p:cNvSpPr>
              <p:nvPr/>
            </p:nvSpPr>
            <p:spPr bwMode="auto">
              <a:xfrm>
                <a:off x="2200" y="1931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3" name="Rectangle 108"/>
              <p:cNvSpPr>
                <a:spLocks noChangeArrowheads="1"/>
              </p:cNvSpPr>
              <p:nvPr/>
            </p:nvSpPr>
            <p:spPr bwMode="auto">
              <a:xfrm>
                <a:off x="3028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4" name="Line 109"/>
              <p:cNvSpPr>
                <a:spLocks noChangeShapeType="1"/>
              </p:cNvSpPr>
              <p:nvPr/>
            </p:nvSpPr>
            <p:spPr bwMode="auto">
              <a:xfrm>
                <a:off x="3028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5" name="Line 110"/>
              <p:cNvSpPr>
                <a:spLocks noChangeShapeType="1"/>
              </p:cNvSpPr>
              <p:nvPr/>
            </p:nvSpPr>
            <p:spPr bwMode="auto">
              <a:xfrm>
                <a:off x="3028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6" name="Rectangle 111"/>
              <p:cNvSpPr>
                <a:spLocks noChangeArrowheads="1"/>
              </p:cNvSpPr>
              <p:nvPr/>
            </p:nvSpPr>
            <p:spPr bwMode="auto">
              <a:xfrm>
                <a:off x="3044" y="1931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7" name="Line 112"/>
              <p:cNvSpPr>
                <a:spLocks noChangeShapeType="1"/>
              </p:cNvSpPr>
              <p:nvPr/>
            </p:nvSpPr>
            <p:spPr bwMode="auto">
              <a:xfrm>
                <a:off x="3044" y="1931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8" name="Rectangle 113"/>
              <p:cNvSpPr>
                <a:spLocks noChangeArrowheads="1"/>
              </p:cNvSpPr>
              <p:nvPr/>
            </p:nvSpPr>
            <p:spPr bwMode="auto">
              <a:xfrm>
                <a:off x="4588" y="193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29" name="Line 114"/>
              <p:cNvSpPr>
                <a:spLocks noChangeShapeType="1"/>
              </p:cNvSpPr>
              <p:nvPr/>
            </p:nvSpPr>
            <p:spPr bwMode="auto">
              <a:xfrm>
                <a:off x="4588" y="193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0" name="Line 115"/>
              <p:cNvSpPr>
                <a:spLocks noChangeShapeType="1"/>
              </p:cNvSpPr>
              <p:nvPr/>
            </p:nvSpPr>
            <p:spPr bwMode="auto">
              <a:xfrm>
                <a:off x="4588" y="193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1" name="Rectangle 116"/>
              <p:cNvSpPr>
                <a:spLocks noChangeArrowheads="1"/>
              </p:cNvSpPr>
              <p:nvPr/>
            </p:nvSpPr>
            <p:spPr bwMode="auto">
              <a:xfrm>
                <a:off x="863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2" name="Line 117"/>
              <p:cNvSpPr>
                <a:spLocks noChangeShapeType="1"/>
              </p:cNvSpPr>
              <p:nvPr/>
            </p:nvSpPr>
            <p:spPr bwMode="auto">
              <a:xfrm>
                <a:off x="863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3" name="Rectangle 118"/>
              <p:cNvSpPr>
                <a:spLocks noChangeArrowheads="1"/>
              </p:cNvSpPr>
              <p:nvPr/>
            </p:nvSpPr>
            <p:spPr bwMode="auto">
              <a:xfrm>
                <a:off x="1532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4" name="Line 119"/>
              <p:cNvSpPr>
                <a:spLocks noChangeShapeType="1"/>
              </p:cNvSpPr>
              <p:nvPr/>
            </p:nvSpPr>
            <p:spPr bwMode="auto">
              <a:xfrm>
                <a:off x="1532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5" name="Rectangle 120"/>
              <p:cNvSpPr>
                <a:spLocks noChangeArrowheads="1"/>
              </p:cNvSpPr>
              <p:nvPr/>
            </p:nvSpPr>
            <p:spPr bwMode="auto">
              <a:xfrm>
                <a:off x="2184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6" name="Line 121"/>
              <p:cNvSpPr>
                <a:spLocks noChangeShapeType="1"/>
              </p:cNvSpPr>
              <p:nvPr/>
            </p:nvSpPr>
            <p:spPr bwMode="auto">
              <a:xfrm>
                <a:off x="2184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7" name="Rectangle 122"/>
              <p:cNvSpPr>
                <a:spLocks noChangeArrowheads="1"/>
              </p:cNvSpPr>
              <p:nvPr/>
            </p:nvSpPr>
            <p:spPr bwMode="auto">
              <a:xfrm>
                <a:off x="3028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8" name="Line 123"/>
              <p:cNvSpPr>
                <a:spLocks noChangeShapeType="1"/>
              </p:cNvSpPr>
              <p:nvPr/>
            </p:nvSpPr>
            <p:spPr bwMode="auto">
              <a:xfrm>
                <a:off x="3028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39" name="Rectangle 124"/>
              <p:cNvSpPr>
                <a:spLocks noChangeArrowheads="1"/>
              </p:cNvSpPr>
              <p:nvPr/>
            </p:nvSpPr>
            <p:spPr bwMode="auto">
              <a:xfrm>
                <a:off x="4588" y="1947"/>
                <a:ext cx="16" cy="25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0" name="Line 125"/>
              <p:cNvSpPr>
                <a:spLocks noChangeShapeType="1"/>
              </p:cNvSpPr>
              <p:nvPr/>
            </p:nvSpPr>
            <p:spPr bwMode="auto">
              <a:xfrm>
                <a:off x="4588" y="1947"/>
                <a:ext cx="1" cy="254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1" name="Rectangle 126"/>
              <p:cNvSpPr>
                <a:spLocks noChangeArrowheads="1"/>
              </p:cNvSpPr>
              <p:nvPr/>
            </p:nvSpPr>
            <p:spPr bwMode="auto">
              <a:xfrm>
                <a:off x="1165" y="226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2" name="Rectangle 127"/>
              <p:cNvSpPr>
                <a:spLocks noChangeArrowheads="1"/>
              </p:cNvSpPr>
              <p:nvPr/>
            </p:nvSpPr>
            <p:spPr bwMode="auto">
              <a:xfrm>
                <a:off x="1754" y="2265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3" name="Rectangle 128"/>
              <p:cNvSpPr>
                <a:spLocks noChangeArrowheads="1"/>
              </p:cNvSpPr>
              <p:nvPr/>
            </p:nvSpPr>
            <p:spPr bwMode="auto">
              <a:xfrm>
                <a:off x="2582" y="226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4" name="Rectangle 129"/>
              <p:cNvSpPr>
                <a:spLocks noChangeArrowheads="1"/>
              </p:cNvSpPr>
              <p:nvPr/>
            </p:nvSpPr>
            <p:spPr bwMode="auto">
              <a:xfrm>
                <a:off x="3649" y="2265"/>
                <a:ext cx="414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+</a:t>
                </a:r>
                <a:r>
                  <a:rPr kumimoji="1" lang="en-US" altLang="zh-CN" sz="2000">
                    <a:solidFill>
                      <a:srgbClr val="000000"/>
                    </a:solidFill>
                    <a:latin typeface="Times New Roman" pitchFamily="18" charset="0"/>
                  </a:rPr>
                  <a:t>INF</a:t>
                </a:r>
                <a:endParaRPr kumimoji="1" lang="en-US" altLang="zh-CN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5" name="Rectangle 130"/>
              <p:cNvSpPr>
                <a:spLocks noChangeArrowheads="1"/>
              </p:cNvSpPr>
              <p:nvPr/>
            </p:nvSpPr>
            <p:spPr bwMode="auto">
              <a:xfrm>
                <a:off x="863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6" name="Line 131"/>
              <p:cNvSpPr>
                <a:spLocks noChangeShapeType="1"/>
              </p:cNvSpPr>
              <p:nvPr/>
            </p:nvSpPr>
            <p:spPr bwMode="auto">
              <a:xfrm>
                <a:off x="863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7" name="Line 132"/>
              <p:cNvSpPr>
                <a:spLocks noChangeShapeType="1"/>
              </p:cNvSpPr>
              <p:nvPr/>
            </p:nvSpPr>
            <p:spPr bwMode="auto">
              <a:xfrm>
                <a:off x="863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8" name="Rectangle 133"/>
              <p:cNvSpPr>
                <a:spLocks noChangeArrowheads="1"/>
              </p:cNvSpPr>
              <p:nvPr/>
            </p:nvSpPr>
            <p:spPr bwMode="auto">
              <a:xfrm>
                <a:off x="879" y="2201"/>
                <a:ext cx="653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49" name="Line 134"/>
              <p:cNvSpPr>
                <a:spLocks noChangeShapeType="1"/>
              </p:cNvSpPr>
              <p:nvPr/>
            </p:nvSpPr>
            <p:spPr bwMode="auto">
              <a:xfrm>
                <a:off x="879" y="2201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0" name="Rectangle 135"/>
              <p:cNvSpPr>
                <a:spLocks noChangeArrowheads="1"/>
              </p:cNvSpPr>
              <p:nvPr/>
            </p:nvSpPr>
            <p:spPr bwMode="auto">
              <a:xfrm>
                <a:off x="1532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1" name="Line 136"/>
              <p:cNvSpPr>
                <a:spLocks noChangeShapeType="1"/>
              </p:cNvSpPr>
              <p:nvPr/>
            </p:nvSpPr>
            <p:spPr bwMode="auto">
              <a:xfrm>
                <a:off x="1532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2" name="Line 137"/>
              <p:cNvSpPr>
                <a:spLocks noChangeShapeType="1"/>
              </p:cNvSpPr>
              <p:nvPr/>
            </p:nvSpPr>
            <p:spPr bwMode="auto">
              <a:xfrm>
                <a:off x="1532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3" name="Rectangle 138"/>
              <p:cNvSpPr>
                <a:spLocks noChangeArrowheads="1"/>
              </p:cNvSpPr>
              <p:nvPr/>
            </p:nvSpPr>
            <p:spPr bwMode="auto">
              <a:xfrm>
                <a:off x="1548" y="2201"/>
                <a:ext cx="63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4" name="Line 139"/>
              <p:cNvSpPr>
                <a:spLocks noChangeShapeType="1"/>
              </p:cNvSpPr>
              <p:nvPr/>
            </p:nvSpPr>
            <p:spPr bwMode="auto">
              <a:xfrm>
                <a:off x="1548" y="2201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5" name="Rectangle 140"/>
              <p:cNvSpPr>
                <a:spLocks noChangeArrowheads="1"/>
              </p:cNvSpPr>
              <p:nvPr/>
            </p:nvSpPr>
            <p:spPr bwMode="auto">
              <a:xfrm>
                <a:off x="2184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6" name="Line 141"/>
              <p:cNvSpPr>
                <a:spLocks noChangeShapeType="1"/>
              </p:cNvSpPr>
              <p:nvPr/>
            </p:nvSpPr>
            <p:spPr bwMode="auto">
              <a:xfrm>
                <a:off x="2184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7" name="Line 142"/>
              <p:cNvSpPr>
                <a:spLocks noChangeShapeType="1"/>
              </p:cNvSpPr>
              <p:nvPr/>
            </p:nvSpPr>
            <p:spPr bwMode="auto">
              <a:xfrm>
                <a:off x="2184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8" name="Rectangle 143"/>
              <p:cNvSpPr>
                <a:spLocks noChangeArrowheads="1"/>
              </p:cNvSpPr>
              <p:nvPr/>
            </p:nvSpPr>
            <p:spPr bwMode="auto">
              <a:xfrm>
                <a:off x="2200" y="2201"/>
                <a:ext cx="828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59" name="Line 144"/>
              <p:cNvSpPr>
                <a:spLocks noChangeShapeType="1"/>
              </p:cNvSpPr>
              <p:nvPr/>
            </p:nvSpPr>
            <p:spPr bwMode="auto">
              <a:xfrm>
                <a:off x="2200" y="2201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0" name="Rectangle 145"/>
              <p:cNvSpPr>
                <a:spLocks noChangeArrowheads="1"/>
              </p:cNvSpPr>
              <p:nvPr/>
            </p:nvSpPr>
            <p:spPr bwMode="auto">
              <a:xfrm>
                <a:off x="3028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1" name="Line 146"/>
              <p:cNvSpPr>
                <a:spLocks noChangeShapeType="1"/>
              </p:cNvSpPr>
              <p:nvPr/>
            </p:nvSpPr>
            <p:spPr bwMode="auto">
              <a:xfrm>
                <a:off x="3028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2" name="Line 147"/>
              <p:cNvSpPr>
                <a:spLocks noChangeShapeType="1"/>
              </p:cNvSpPr>
              <p:nvPr/>
            </p:nvSpPr>
            <p:spPr bwMode="auto">
              <a:xfrm>
                <a:off x="3028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3" name="Rectangle 148"/>
              <p:cNvSpPr>
                <a:spLocks noChangeArrowheads="1"/>
              </p:cNvSpPr>
              <p:nvPr/>
            </p:nvSpPr>
            <p:spPr bwMode="auto">
              <a:xfrm>
                <a:off x="3044" y="2201"/>
                <a:ext cx="154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4" name="Line 149"/>
              <p:cNvSpPr>
                <a:spLocks noChangeShapeType="1"/>
              </p:cNvSpPr>
              <p:nvPr/>
            </p:nvSpPr>
            <p:spPr bwMode="auto">
              <a:xfrm>
                <a:off x="3044" y="2201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5" name="Rectangle 150"/>
              <p:cNvSpPr>
                <a:spLocks noChangeArrowheads="1"/>
              </p:cNvSpPr>
              <p:nvPr/>
            </p:nvSpPr>
            <p:spPr bwMode="auto">
              <a:xfrm>
                <a:off x="4588" y="2201"/>
                <a:ext cx="16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6" name="Line 151"/>
              <p:cNvSpPr>
                <a:spLocks noChangeShapeType="1"/>
              </p:cNvSpPr>
              <p:nvPr/>
            </p:nvSpPr>
            <p:spPr bwMode="auto">
              <a:xfrm>
                <a:off x="4588" y="2201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7" name="Line 152"/>
              <p:cNvSpPr>
                <a:spLocks noChangeShapeType="1"/>
              </p:cNvSpPr>
              <p:nvPr/>
            </p:nvSpPr>
            <p:spPr bwMode="auto">
              <a:xfrm>
                <a:off x="4588" y="2201"/>
                <a:ext cx="1" cy="16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8" name="Rectangle 153"/>
              <p:cNvSpPr>
                <a:spLocks noChangeArrowheads="1"/>
              </p:cNvSpPr>
              <p:nvPr/>
            </p:nvSpPr>
            <p:spPr bwMode="auto">
              <a:xfrm>
                <a:off x="863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69" name="Line 154"/>
              <p:cNvSpPr>
                <a:spLocks noChangeShapeType="1"/>
              </p:cNvSpPr>
              <p:nvPr/>
            </p:nvSpPr>
            <p:spPr bwMode="auto">
              <a:xfrm>
                <a:off x="863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0" name="Rectangle 155"/>
              <p:cNvSpPr>
                <a:spLocks noChangeArrowheads="1"/>
              </p:cNvSpPr>
              <p:nvPr/>
            </p:nvSpPr>
            <p:spPr bwMode="auto">
              <a:xfrm>
                <a:off x="1532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1" name="Line 156"/>
              <p:cNvSpPr>
                <a:spLocks noChangeShapeType="1"/>
              </p:cNvSpPr>
              <p:nvPr/>
            </p:nvSpPr>
            <p:spPr bwMode="auto">
              <a:xfrm>
                <a:off x="1532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2" name="Rectangle 157"/>
              <p:cNvSpPr>
                <a:spLocks noChangeArrowheads="1"/>
              </p:cNvSpPr>
              <p:nvPr/>
            </p:nvSpPr>
            <p:spPr bwMode="auto">
              <a:xfrm>
                <a:off x="2184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3" name="Line 158"/>
              <p:cNvSpPr>
                <a:spLocks noChangeShapeType="1"/>
              </p:cNvSpPr>
              <p:nvPr/>
            </p:nvSpPr>
            <p:spPr bwMode="auto">
              <a:xfrm>
                <a:off x="2184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4" name="Rectangle 159"/>
              <p:cNvSpPr>
                <a:spLocks noChangeArrowheads="1"/>
              </p:cNvSpPr>
              <p:nvPr/>
            </p:nvSpPr>
            <p:spPr bwMode="auto">
              <a:xfrm>
                <a:off x="3028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5" name="Line 160"/>
              <p:cNvSpPr>
                <a:spLocks noChangeShapeType="1"/>
              </p:cNvSpPr>
              <p:nvPr/>
            </p:nvSpPr>
            <p:spPr bwMode="auto">
              <a:xfrm>
                <a:off x="3028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6" name="Rectangle 161"/>
              <p:cNvSpPr>
                <a:spLocks noChangeArrowheads="1"/>
              </p:cNvSpPr>
              <p:nvPr/>
            </p:nvSpPr>
            <p:spPr bwMode="auto">
              <a:xfrm>
                <a:off x="4588" y="221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7" name="Line 162"/>
              <p:cNvSpPr>
                <a:spLocks noChangeShapeType="1"/>
              </p:cNvSpPr>
              <p:nvPr/>
            </p:nvSpPr>
            <p:spPr bwMode="auto">
              <a:xfrm>
                <a:off x="4588" y="221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8" name="Rectangle 163"/>
              <p:cNvSpPr>
                <a:spLocks noChangeArrowheads="1"/>
              </p:cNvSpPr>
              <p:nvPr/>
            </p:nvSpPr>
            <p:spPr bwMode="auto">
              <a:xfrm>
                <a:off x="1165" y="253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79" name="Rectangle 164"/>
              <p:cNvSpPr>
                <a:spLocks noChangeArrowheads="1"/>
              </p:cNvSpPr>
              <p:nvPr/>
            </p:nvSpPr>
            <p:spPr bwMode="auto">
              <a:xfrm>
                <a:off x="1754" y="2535"/>
                <a:ext cx="302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255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0" name="Rectangle 165"/>
              <p:cNvSpPr>
                <a:spLocks noChangeArrowheads="1"/>
              </p:cNvSpPr>
              <p:nvPr/>
            </p:nvSpPr>
            <p:spPr bwMode="auto">
              <a:xfrm>
                <a:off x="2582" y="2535"/>
                <a:ext cx="143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1" name="Rectangle 166"/>
              <p:cNvSpPr>
                <a:spLocks noChangeArrowheads="1"/>
              </p:cNvSpPr>
              <p:nvPr/>
            </p:nvSpPr>
            <p:spPr bwMode="auto">
              <a:xfrm>
                <a:off x="3665" y="2535"/>
                <a:ext cx="366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-</a:t>
                </a:r>
                <a:r>
                  <a:rPr kumimoji="1" lang="en-US" altLang="zh-CN" sz="2000">
                    <a:solidFill>
                      <a:srgbClr val="000000"/>
                    </a:solidFill>
                    <a:latin typeface="Times New Roman" pitchFamily="18" charset="0"/>
                  </a:rPr>
                  <a:t>INF</a:t>
                </a:r>
                <a:endParaRPr kumimoji="1" lang="en-US" altLang="zh-CN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2" name="Rectangle 167"/>
              <p:cNvSpPr>
                <a:spLocks noChangeArrowheads="1"/>
              </p:cNvSpPr>
              <p:nvPr/>
            </p:nvSpPr>
            <p:spPr bwMode="auto">
              <a:xfrm>
                <a:off x="863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3" name="Line 168"/>
              <p:cNvSpPr>
                <a:spLocks noChangeShapeType="1"/>
              </p:cNvSpPr>
              <p:nvPr/>
            </p:nvSpPr>
            <p:spPr bwMode="auto">
              <a:xfrm>
                <a:off x="863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4" name="Line 169"/>
              <p:cNvSpPr>
                <a:spLocks noChangeShapeType="1"/>
              </p:cNvSpPr>
              <p:nvPr/>
            </p:nvSpPr>
            <p:spPr bwMode="auto">
              <a:xfrm>
                <a:off x="863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5" name="Rectangle 170"/>
              <p:cNvSpPr>
                <a:spLocks noChangeArrowheads="1"/>
              </p:cNvSpPr>
              <p:nvPr/>
            </p:nvSpPr>
            <p:spPr bwMode="auto">
              <a:xfrm>
                <a:off x="879" y="2472"/>
                <a:ext cx="653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6" name="Line 171"/>
              <p:cNvSpPr>
                <a:spLocks noChangeShapeType="1"/>
              </p:cNvSpPr>
              <p:nvPr/>
            </p:nvSpPr>
            <p:spPr bwMode="auto">
              <a:xfrm>
                <a:off x="879" y="2472"/>
                <a:ext cx="653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7" name="Rectangle 172"/>
              <p:cNvSpPr>
                <a:spLocks noChangeArrowheads="1"/>
              </p:cNvSpPr>
              <p:nvPr/>
            </p:nvSpPr>
            <p:spPr bwMode="auto">
              <a:xfrm>
                <a:off x="1532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8" name="Line 173"/>
              <p:cNvSpPr>
                <a:spLocks noChangeShapeType="1"/>
              </p:cNvSpPr>
              <p:nvPr/>
            </p:nvSpPr>
            <p:spPr bwMode="auto">
              <a:xfrm>
                <a:off x="1532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89" name="Line 174"/>
              <p:cNvSpPr>
                <a:spLocks noChangeShapeType="1"/>
              </p:cNvSpPr>
              <p:nvPr/>
            </p:nvSpPr>
            <p:spPr bwMode="auto">
              <a:xfrm>
                <a:off x="1532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0" name="Rectangle 175"/>
              <p:cNvSpPr>
                <a:spLocks noChangeArrowheads="1"/>
              </p:cNvSpPr>
              <p:nvPr/>
            </p:nvSpPr>
            <p:spPr bwMode="auto">
              <a:xfrm>
                <a:off x="1548" y="2472"/>
                <a:ext cx="63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1" name="Line 176"/>
              <p:cNvSpPr>
                <a:spLocks noChangeShapeType="1"/>
              </p:cNvSpPr>
              <p:nvPr/>
            </p:nvSpPr>
            <p:spPr bwMode="auto">
              <a:xfrm>
                <a:off x="1548" y="2472"/>
                <a:ext cx="63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2" name="Rectangle 177"/>
              <p:cNvSpPr>
                <a:spLocks noChangeArrowheads="1"/>
              </p:cNvSpPr>
              <p:nvPr/>
            </p:nvSpPr>
            <p:spPr bwMode="auto">
              <a:xfrm>
                <a:off x="2184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3" name="Line 178"/>
              <p:cNvSpPr>
                <a:spLocks noChangeShapeType="1"/>
              </p:cNvSpPr>
              <p:nvPr/>
            </p:nvSpPr>
            <p:spPr bwMode="auto">
              <a:xfrm>
                <a:off x="2184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4" name="Line 179"/>
              <p:cNvSpPr>
                <a:spLocks noChangeShapeType="1"/>
              </p:cNvSpPr>
              <p:nvPr/>
            </p:nvSpPr>
            <p:spPr bwMode="auto">
              <a:xfrm>
                <a:off x="2184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5" name="Rectangle 180"/>
              <p:cNvSpPr>
                <a:spLocks noChangeArrowheads="1"/>
              </p:cNvSpPr>
              <p:nvPr/>
            </p:nvSpPr>
            <p:spPr bwMode="auto">
              <a:xfrm>
                <a:off x="2200" y="2472"/>
                <a:ext cx="828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6" name="Line 181"/>
              <p:cNvSpPr>
                <a:spLocks noChangeShapeType="1"/>
              </p:cNvSpPr>
              <p:nvPr/>
            </p:nvSpPr>
            <p:spPr bwMode="auto">
              <a:xfrm>
                <a:off x="2200" y="2472"/>
                <a:ext cx="82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7" name="Rectangle 182"/>
              <p:cNvSpPr>
                <a:spLocks noChangeArrowheads="1"/>
              </p:cNvSpPr>
              <p:nvPr/>
            </p:nvSpPr>
            <p:spPr bwMode="auto">
              <a:xfrm>
                <a:off x="3028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8" name="Line 183"/>
              <p:cNvSpPr>
                <a:spLocks noChangeShapeType="1"/>
              </p:cNvSpPr>
              <p:nvPr/>
            </p:nvSpPr>
            <p:spPr bwMode="auto">
              <a:xfrm>
                <a:off x="3028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899" name="Line 184"/>
              <p:cNvSpPr>
                <a:spLocks noChangeShapeType="1"/>
              </p:cNvSpPr>
              <p:nvPr/>
            </p:nvSpPr>
            <p:spPr bwMode="auto">
              <a:xfrm>
                <a:off x="3028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0" name="Rectangle 185"/>
              <p:cNvSpPr>
                <a:spLocks noChangeArrowheads="1"/>
              </p:cNvSpPr>
              <p:nvPr/>
            </p:nvSpPr>
            <p:spPr bwMode="auto">
              <a:xfrm>
                <a:off x="3044" y="2472"/>
                <a:ext cx="1544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1" name="Line 186"/>
              <p:cNvSpPr>
                <a:spLocks noChangeShapeType="1"/>
              </p:cNvSpPr>
              <p:nvPr/>
            </p:nvSpPr>
            <p:spPr bwMode="auto">
              <a:xfrm>
                <a:off x="3044" y="2472"/>
                <a:ext cx="154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2" name="Rectangle 187"/>
              <p:cNvSpPr>
                <a:spLocks noChangeArrowheads="1"/>
              </p:cNvSpPr>
              <p:nvPr/>
            </p:nvSpPr>
            <p:spPr bwMode="auto">
              <a:xfrm>
                <a:off x="4588" y="2472"/>
                <a:ext cx="16" cy="1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3" name="Line 188"/>
              <p:cNvSpPr>
                <a:spLocks noChangeShapeType="1"/>
              </p:cNvSpPr>
              <p:nvPr/>
            </p:nvSpPr>
            <p:spPr bwMode="auto">
              <a:xfrm>
                <a:off x="4588" y="2472"/>
                <a:ext cx="16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4" name="Line 189"/>
              <p:cNvSpPr>
                <a:spLocks noChangeShapeType="1"/>
              </p:cNvSpPr>
              <p:nvPr/>
            </p:nvSpPr>
            <p:spPr bwMode="auto">
              <a:xfrm>
                <a:off x="4588" y="2472"/>
                <a:ext cx="1" cy="1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5" name="Rectangle 190"/>
              <p:cNvSpPr>
                <a:spLocks noChangeArrowheads="1"/>
              </p:cNvSpPr>
              <p:nvPr/>
            </p:nvSpPr>
            <p:spPr bwMode="auto">
              <a:xfrm>
                <a:off x="863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6" name="Line 191"/>
              <p:cNvSpPr>
                <a:spLocks noChangeShapeType="1"/>
              </p:cNvSpPr>
              <p:nvPr/>
            </p:nvSpPr>
            <p:spPr bwMode="auto">
              <a:xfrm>
                <a:off x="863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7" name="Rectangle 192"/>
              <p:cNvSpPr>
                <a:spLocks noChangeArrowheads="1"/>
              </p:cNvSpPr>
              <p:nvPr/>
            </p:nvSpPr>
            <p:spPr bwMode="auto">
              <a:xfrm>
                <a:off x="1532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8" name="Line 193"/>
              <p:cNvSpPr>
                <a:spLocks noChangeShapeType="1"/>
              </p:cNvSpPr>
              <p:nvPr/>
            </p:nvSpPr>
            <p:spPr bwMode="auto">
              <a:xfrm>
                <a:off x="1532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09" name="Rectangle 194"/>
              <p:cNvSpPr>
                <a:spLocks noChangeArrowheads="1"/>
              </p:cNvSpPr>
              <p:nvPr/>
            </p:nvSpPr>
            <p:spPr bwMode="auto">
              <a:xfrm>
                <a:off x="2184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0" name="Line 195"/>
              <p:cNvSpPr>
                <a:spLocks noChangeShapeType="1"/>
              </p:cNvSpPr>
              <p:nvPr/>
            </p:nvSpPr>
            <p:spPr bwMode="auto">
              <a:xfrm>
                <a:off x="2184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1" name="Rectangle 196"/>
              <p:cNvSpPr>
                <a:spLocks noChangeArrowheads="1"/>
              </p:cNvSpPr>
              <p:nvPr/>
            </p:nvSpPr>
            <p:spPr bwMode="auto">
              <a:xfrm>
                <a:off x="3028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2" name="Line 197"/>
              <p:cNvSpPr>
                <a:spLocks noChangeShapeType="1"/>
              </p:cNvSpPr>
              <p:nvPr/>
            </p:nvSpPr>
            <p:spPr bwMode="auto">
              <a:xfrm>
                <a:off x="3028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3" name="Rectangle 198"/>
              <p:cNvSpPr>
                <a:spLocks noChangeArrowheads="1"/>
              </p:cNvSpPr>
              <p:nvPr/>
            </p:nvSpPr>
            <p:spPr bwMode="auto">
              <a:xfrm>
                <a:off x="4588" y="2487"/>
                <a:ext cx="16" cy="25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4" name="Line 199"/>
              <p:cNvSpPr>
                <a:spLocks noChangeShapeType="1"/>
              </p:cNvSpPr>
              <p:nvPr/>
            </p:nvSpPr>
            <p:spPr bwMode="auto">
              <a:xfrm>
                <a:off x="4588" y="2487"/>
                <a:ext cx="1" cy="25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5" name="Rectangle 200"/>
              <p:cNvSpPr>
                <a:spLocks noChangeArrowheads="1"/>
              </p:cNvSpPr>
              <p:nvPr/>
            </p:nvSpPr>
            <p:spPr bwMode="auto">
              <a:xfrm>
                <a:off x="1102" y="2806"/>
                <a:ext cx="27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0/1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6" name="Rectangle 201"/>
              <p:cNvSpPr>
                <a:spLocks noChangeArrowheads="1"/>
              </p:cNvSpPr>
              <p:nvPr/>
            </p:nvSpPr>
            <p:spPr bwMode="auto">
              <a:xfrm>
                <a:off x="1691" y="2806"/>
                <a:ext cx="430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1-254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7" name="Rectangle 202"/>
              <p:cNvSpPr>
                <a:spLocks noChangeArrowheads="1"/>
              </p:cNvSpPr>
              <p:nvPr/>
            </p:nvSpPr>
            <p:spPr bwMode="auto">
              <a:xfrm>
                <a:off x="2598" y="2806"/>
                <a:ext cx="111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en-US" altLang="zh-CN" sz="2000" i="1">
                    <a:solidFill>
                      <a:srgbClr val="000000"/>
                    </a:solidFill>
                    <a:latin typeface="Times New Roman" pitchFamily="18" charset="0"/>
                  </a:rPr>
                  <a:t>f</a:t>
                </a:r>
                <a:endParaRPr kumimoji="1" lang="en-US" altLang="zh-CN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66918" name="Rectangle 203"/>
              <p:cNvSpPr>
                <a:spLocks noChangeArrowheads="1"/>
              </p:cNvSpPr>
              <p:nvPr/>
            </p:nvSpPr>
            <p:spPr bwMode="auto">
              <a:xfrm>
                <a:off x="3299" y="2806"/>
                <a:ext cx="287" cy="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1" lang="zh-CN" altLang="en-US" sz="2000">
                    <a:solidFill>
                      <a:srgbClr val="000000"/>
                    </a:solidFill>
                    <a:latin typeface="Times New Roman" pitchFamily="18" charset="0"/>
                  </a:rPr>
                  <a:t>(-1)</a:t>
                </a:r>
                <a:endParaRPr kumimoji="1" lang="zh-CN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66566" name="Rectangle 205"/>
            <p:cNvSpPr>
              <a:spLocks noChangeArrowheads="1"/>
            </p:cNvSpPr>
            <p:nvPr/>
          </p:nvSpPr>
          <p:spPr bwMode="auto">
            <a:xfrm>
              <a:off x="3521" y="2806"/>
              <a:ext cx="64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567" name="Rectangle 206"/>
            <p:cNvSpPr>
              <a:spLocks noChangeArrowheads="1"/>
            </p:cNvSpPr>
            <p:nvPr/>
          </p:nvSpPr>
          <p:spPr bwMode="auto">
            <a:xfrm>
              <a:off x="3553" y="282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68" name="Rectangle 207"/>
            <p:cNvSpPr>
              <a:spLocks noChangeArrowheads="1"/>
            </p:cNvSpPr>
            <p:nvPr/>
          </p:nvSpPr>
          <p:spPr bwMode="auto">
            <a:xfrm>
              <a:off x="3712" y="2806"/>
              <a:ext cx="19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1.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69" name="Rectangle 208"/>
            <p:cNvSpPr>
              <a:spLocks noChangeArrowheads="1"/>
            </p:cNvSpPr>
            <p:nvPr/>
          </p:nvSpPr>
          <p:spPr bwMode="auto">
            <a:xfrm>
              <a:off x="3840" y="280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f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570" name="Rectangle 209"/>
            <p:cNvSpPr>
              <a:spLocks noChangeArrowheads="1"/>
            </p:cNvSpPr>
            <p:nvPr/>
          </p:nvSpPr>
          <p:spPr bwMode="auto">
            <a:xfrm>
              <a:off x="3888" y="282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1" name="Rectangle 210"/>
            <p:cNvSpPr>
              <a:spLocks noChangeArrowheads="1"/>
            </p:cNvSpPr>
            <p:nvPr/>
          </p:nvSpPr>
          <p:spPr bwMode="auto">
            <a:xfrm>
              <a:off x="4047" y="280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2" name="Rectangle 211"/>
            <p:cNvSpPr>
              <a:spLocks noChangeArrowheads="1"/>
            </p:cNvSpPr>
            <p:nvPr/>
          </p:nvSpPr>
          <p:spPr bwMode="auto">
            <a:xfrm>
              <a:off x="4126" y="2806"/>
              <a:ext cx="255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itchFamily="18" charset="0"/>
                </a:rPr>
                <a:t>e-127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573" name="Rectangle 212"/>
            <p:cNvSpPr>
              <a:spLocks noChangeArrowheads="1"/>
            </p:cNvSpPr>
            <p:nvPr/>
          </p:nvSpPr>
          <p:spPr bwMode="auto">
            <a:xfrm>
              <a:off x="863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4" name="Line 213"/>
            <p:cNvSpPr>
              <a:spLocks noChangeShapeType="1"/>
            </p:cNvSpPr>
            <p:nvPr/>
          </p:nvSpPr>
          <p:spPr bwMode="auto">
            <a:xfrm>
              <a:off x="863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5" name="Line 214"/>
            <p:cNvSpPr>
              <a:spLocks noChangeShapeType="1"/>
            </p:cNvSpPr>
            <p:nvPr/>
          </p:nvSpPr>
          <p:spPr bwMode="auto">
            <a:xfrm>
              <a:off x="863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6" name="Rectangle 215"/>
            <p:cNvSpPr>
              <a:spLocks noChangeArrowheads="1"/>
            </p:cNvSpPr>
            <p:nvPr/>
          </p:nvSpPr>
          <p:spPr bwMode="auto">
            <a:xfrm>
              <a:off x="879" y="2742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7" name="Line 216"/>
            <p:cNvSpPr>
              <a:spLocks noChangeShapeType="1"/>
            </p:cNvSpPr>
            <p:nvPr/>
          </p:nvSpPr>
          <p:spPr bwMode="auto">
            <a:xfrm>
              <a:off x="879" y="2742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8" name="Rectangle 217"/>
            <p:cNvSpPr>
              <a:spLocks noChangeArrowheads="1"/>
            </p:cNvSpPr>
            <p:nvPr/>
          </p:nvSpPr>
          <p:spPr bwMode="auto">
            <a:xfrm>
              <a:off x="1532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79" name="Line 218"/>
            <p:cNvSpPr>
              <a:spLocks noChangeShapeType="1"/>
            </p:cNvSpPr>
            <p:nvPr/>
          </p:nvSpPr>
          <p:spPr bwMode="auto">
            <a:xfrm>
              <a:off x="1532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0" name="Line 219"/>
            <p:cNvSpPr>
              <a:spLocks noChangeShapeType="1"/>
            </p:cNvSpPr>
            <p:nvPr/>
          </p:nvSpPr>
          <p:spPr bwMode="auto">
            <a:xfrm>
              <a:off x="1532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1" name="Rectangle 220"/>
            <p:cNvSpPr>
              <a:spLocks noChangeArrowheads="1"/>
            </p:cNvSpPr>
            <p:nvPr/>
          </p:nvSpPr>
          <p:spPr bwMode="auto">
            <a:xfrm>
              <a:off x="1548" y="2742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2" name="Line 221"/>
            <p:cNvSpPr>
              <a:spLocks noChangeShapeType="1"/>
            </p:cNvSpPr>
            <p:nvPr/>
          </p:nvSpPr>
          <p:spPr bwMode="auto">
            <a:xfrm>
              <a:off x="1548" y="2742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3" name="Rectangle 222"/>
            <p:cNvSpPr>
              <a:spLocks noChangeArrowheads="1"/>
            </p:cNvSpPr>
            <p:nvPr/>
          </p:nvSpPr>
          <p:spPr bwMode="auto">
            <a:xfrm>
              <a:off x="2184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4" name="Line 223"/>
            <p:cNvSpPr>
              <a:spLocks noChangeShapeType="1"/>
            </p:cNvSpPr>
            <p:nvPr/>
          </p:nvSpPr>
          <p:spPr bwMode="auto">
            <a:xfrm>
              <a:off x="2184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5" name="Line 224"/>
            <p:cNvSpPr>
              <a:spLocks noChangeShapeType="1"/>
            </p:cNvSpPr>
            <p:nvPr/>
          </p:nvSpPr>
          <p:spPr bwMode="auto">
            <a:xfrm>
              <a:off x="2184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6" name="Rectangle 225"/>
            <p:cNvSpPr>
              <a:spLocks noChangeArrowheads="1"/>
            </p:cNvSpPr>
            <p:nvPr/>
          </p:nvSpPr>
          <p:spPr bwMode="auto">
            <a:xfrm>
              <a:off x="2200" y="2742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7" name="Line 226"/>
            <p:cNvSpPr>
              <a:spLocks noChangeShapeType="1"/>
            </p:cNvSpPr>
            <p:nvPr/>
          </p:nvSpPr>
          <p:spPr bwMode="auto">
            <a:xfrm>
              <a:off x="2200" y="2742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8" name="Rectangle 227"/>
            <p:cNvSpPr>
              <a:spLocks noChangeArrowheads="1"/>
            </p:cNvSpPr>
            <p:nvPr/>
          </p:nvSpPr>
          <p:spPr bwMode="auto">
            <a:xfrm>
              <a:off x="3028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89" name="Line 228"/>
            <p:cNvSpPr>
              <a:spLocks noChangeShapeType="1"/>
            </p:cNvSpPr>
            <p:nvPr/>
          </p:nvSpPr>
          <p:spPr bwMode="auto">
            <a:xfrm>
              <a:off x="3028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0" name="Line 229"/>
            <p:cNvSpPr>
              <a:spLocks noChangeShapeType="1"/>
            </p:cNvSpPr>
            <p:nvPr/>
          </p:nvSpPr>
          <p:spPr bwMode="auto">
            <a:xfrm>
              <a:off x="3028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1" name="Rectangle 230"/>
            <p:cNvSpPr>
              <a:spLocks noChangeArrowheads="1"/>
            </p:cNvSpPr>
            <p:nvPr/>
          </p:nvSpPr>
          <p:spPr bwMode="auto">
            <a:xfrm>
              <a:off x="3044" y="2742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2" name="Line 231"/>
            <p:cNvSpPr>
              <a:spLocks noChangeShapeType="1"/>
            </p:cNvSpPr>
            <p:nvPr/>
          </p:nvSpPr>
          <p:spPr bwMode="auto">
            <a:xfrm>
              <a:off x="3044" y="2742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3" name="Rectangle 232"/>
            <p:cNvSpPr>
              <a:spLocks noChangeArrowheads="1"/>
            </p:cNvSpPr>
            <p:nvPr/>
          </p:nvSpPr>
          <p:spPr bwMode="auto">
            <a:xfrm>
              <a:off x="4588" y="274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4" name="Line 233"/>
            <p:cNvSpPr>
              <a:spLocks noChangeShapeType="1"/>
            </p:cNvSpPr>
            <p:nvPr/>
          </p:nvSpPr>
          <p:spPr bwMode="auto">
            <a:xfrm>
              <a:off x="4588" y="274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5" name="Line 234"/>
            <p:cNvSpPr>
              <a:spLocks noChangeShapeType="1"/>
            </p:cNvSpPr>
            <p:nvPr/>
          </p:nvSpPr>
          <p:spPr bwMode="auto">
            <a:xfrm>
              <a:off x="4588" y="274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6" name="Rectangle 235"/>
            <p:cNvSpPr>
              <a:spLocks noChangeArrowheads="1"/>
            </p:cNvSpPr>
            <p:nvPr/>
          </p:nvSpPr>
          <p:spPr bwMode="auto">
            <a:xfrm>
              <a:off x="863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7" name="Line 236"/>
            <p:cNvSpPr>
              <a:spLocks noChangeShapeType="1"/>
            </p:cNvSpPr>
            <p:nvPr/>
          </p:nvSpPr>
          <p:spPr bwMode="auto">
            <a:xfrm>
              <a:off x="863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8" name="Rectangle 237"/>
            <p:cNvSpPr>
              <a:spLocks noChangeArrowheads="1"/>
            </p:cNvSpPr>
            <p:nvPr/>
          </p:nvSpPr>
          <p:spPr bwMode="auto">
            <a:xfrm>
              <a:off x="1532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599" name="Line 238"/>
            <p:cNvSpPr>
              <a:spLocks noChangeShapeType="1"/>
            </p:cNvSpPr>
            <p:nvPr/>
          </p:nvSpPr>
          <p:spPr bwMode="auto">
            <a:xfrm>
              <a:off x="1532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0" name="Rectangle 239"/>
            <p:cNvSpPr>
              <a:spLocks noChangeArrowheads="1"/>
            </p:cNvSpPr>
            <p:nvPr/>
          </p:nvSpPr>
          <p:spPr bwMode="auto">
            <a:xfrm>
              <a:off x="2184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1" name="Line 240"/>
            <p:cNvSpPr>
              <a:spLocks noChangeShapeType="1"/>
            </p:cNvSpPr>
            <p:nvPr/>
          </p:nvSpPr>
          <p:spPr bwMode="auto">
            <a:xfrm>
              <a:off x="2184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2" name="Rectangle 241"/>
            <p:cNvSpPr>
              <a:spLocks noChangeArrowheads="1"/>
            </p:cNvSpPr>
            <p:nvPr/>
          </p:nvSpPr>
          <p:spPr bwMode="auto">
            <a:xfrm>
              <a:off x="3028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3" name="Line 242"/>
            <p:cNvSpPr>
              <a:spLocks noChangeShapeType="1"/>
            </p:cNvSpPr>
            <p:nvPr/>
          </p:nvSpPr>
          <p:spPr bwMode="auto">
            <a:xfrm>
              <a:off x="3028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4" name="Rectangle 243"/>
            <p:cNvSpPr>
              <a:spLocks noChangeArrowheads="1"/>
            </p:cNvSpPr>
            <p:nvPr/>
          </p:nvSpPr>
          <p:spPr bwMode="auto">
            <a:xfrm>
              <a:off x="4588" y="2758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5" name="Line 244"/>
            <p:cNvSpPr>
              <a:spLocks noChangeShapeType="1"/>
            </p:cNvSpPr>
            <p:nvPr/>
          </p:nvSpPr>
          <p:spPr bwMode="auto">
            <a:xfrm>
              <a:off x="4588" y="2758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6" name="Rectangle 245"/>
            <p:cNvSpPr>
              <a:spLocks noChangeArrowheads="1"/>
            </p:cNvSpPr>
            <p:nvPr/>
          </p:nvSpPr>
          <p:spPr bwMode="auto">
            <a:xfrm>
              <a:off x="1102" y="3076"/>
              <a:ext cx="2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0/1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7" name="Rectangle 246"/>
            <p:cNvSpPr>
              <a:spLocks noChangeArrowheads="1"/>
            </p:cNvSpPr>
            <p:nvPr/>
          </p:nvSpPr>
          <p:spPr bwMode="auto">
            <a:xfrm>
              <a:off x="1834" y="307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08" name="Rectangle 247"/>
            <p:cNvSpPr>
              <a:spLocks noChangeArrowheads="1"/>
            </p:cNvSpPr>
            <p:nvPr/>
          </p:nvSpPr>
          <p:spPr bwMode="auto">
            <a:xfrm>
              <a:off x="2407" y="307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f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609" name="Rectangle 248"/>
            <p:cNvSpPr>
              <a:spLocks noChangeArrowheads="1"/>
            </p:cNvSpPr>
            <p:nvPr/>
          </p:nvSpPr>
          <p:spPr bwMode="auto">
            <a:xfrm>
              <a:off x="2455" y="307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(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0" name="Rectangle 249"/>
            <p:cNvSpPr>
              <a:spLocks noChangeArrowheads="1"/>
            </p:cNvSpPr>
            <p:nvPr/>
          </p:nvSpPr>
          <p:spPr bwMode="auto">
            <a:xfrm>
              <a:off x="2503" y="309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宋体" charset="-122"/>
                </a:rPr>
                <a:t>非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1" name="Rectangle 250"/>
            <p:cNvSpPr>
              <a:spLocks noChangeArrowheads="1"/>
            </p:cNvSpPr>
            <p:nvPr/>
          </p:nvSpPr>
          <p:spPr bwMode="auto">
            <a:xfrm>
              <a:off x="2694" y="3076"/>
              <a:ext cx="19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0)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2" name="Rectangle 251"/>
            <p:cNvSpPr>
              <a:spLocks noChangeArrowheads="1"/>
            </p:cNvSpPr>
            <p:nvPr/>
          </p:nvSpPr>
          <p:spPr bwMode="auto">
            <a:xfrm>
              <a:off x="3299" y="3076"/>
              <a:ext cx="287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(-1)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3" name="Rectangle 252"/>
            <p:cNvSpPr>
              <a:spLocks noChangeArrowheads="1"/>
            </p:cNvSpPr>
            <p:nvPr/>
          </p:nvSpPr>
          <p:spPr bwMode="auto">
            <a:xfrm>
              <a:off x="3521" y="3076"/>
              <a:ext cx="64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614" name="Rectangle 253"/>
            <p:cNvSpPr>
              <a:spLocks noChangeArrowheads="1"/>
            </p:cNvSpPr>
            <p:nvPr/>
          </p:nvSpPr>
          <p:spPr bwMode="auto">
            <a:xfrm>
              <a:off x="3553" y="309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5" name="Rectangle 254"/>
            <p:cNvSpPr>
              <a:spLocks noChangeArrowheads="1"/>
            </p:cNvSpPr>
            <p:nvPr/>
          </p:nvSpPr>
          <p:spPr bwMode="auto">
            <a:xfrm>
              <a:off x="3712" y="3076"/>
              <a:ext cx="19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0.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6" name="Rectangle 255"/>
            <p:cNvSpPr>
              <a:spLocks noChangeArrowheads="1"/>
            </p:cNvSpPr>
            <p:nvPr/>
          </p:nvSpPr>
          <p:spPr bwMode="auto">
            <a:xfrm>
              <a:off x="3840" y="3076"/>
              <a:ext cx="11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2000" i="1">
                  <a:solidFill>
                    <a:srgbClr val="000000"/>
                  </a:solidFill>
                  <a:latin typeface="Times New Roman" pitchFamily="18" charset="0"/>
                </a:rPr>
                <a:t>f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617" name="Rectangle 256"/>
            <p:cNvSpPr>
              <a:spLocks noChangeArrowheads="1"/>
            </p:cNvSpPr>
            <p:nvPr/>
          </p:nvSpPr>
          <p:spPr bwMode="auto">
            <a:xfrm>
              <a:off x="3888" y="3092"/>
              <a:ext cx="239" cy="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宋体" charset="-122"/>
                </a:rPr>
                <a:t>×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8" name="Rectangle 257"/>
            <p:cNvSpPr>
              <a:spLocks noChangeArrowheads="1"/>
            </p:cNvSpPr>
            <p:nvPr/>
          </p:nvSpPr>
          <p:spPr bwMode="auto">
            <a:xfrm>
              <a:off x="4047" y="307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19" name="Rectangle 258"/>
            <p:cNvSpPr>
              <a:spLocks noChangeArrowheads="1"/>
            </p:cNvSpPr>
            <p:nvPr/>
          </p:nvSpPr>
          <p:spPr bwMode="auto">
            <a:xfrm>
              <a:off x="4126" y="3076"/>
              <a:ext cx="255" cy="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>
                  <a:solidFill>
                    <a:srgbClr val="000000"/>
                  </a:solidFill>
                  <a:latin typeface="Times New Roman" pitchFamily="18" charset="0"/>
                </a:rPr>
                <a:t>e-126</a:t>
              </a:r>
              <a:endParaRPr kumimoji="1" lang="en-US" altLang="zh-CN" sz="2400">
                <a:solidFill>
                  <a:srgbClr val="000000"/>
                </a:solidFill>
              </a:endParaRPr>
            </a:p>
          </p:txBody>
        </p:sp>
        <p:sp>
          <p:nvSpPr>
            <p:cNvPr id="66620" name="Rectangle 259"/>
            <p:cNvSpPr>
              <a:spLocks noChangeArrowheads="1"/>
            </p:cNvSpPr>
            <p:nvPr/>
          </p:nvSpPr>
          <p:spPr bwMode="auto">
            <a:xfrm>
              <a:off x="863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1" name="Line 260"/>
            <p:cNvSpPr>
              <a:spLocks noChangeShapeType="1"/>
            </p:cNvSpPr>
            <p:nvPr/>
          </p:nvSpPr>
          <p:spPr bwMode="auto">
            <a:xfrm>
              <a:off x="863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2" name="Line 261"/>
            <p:cNvSpPr>
              <a:spLocks noChangeShapeType="1"/>
            </p:cNvSpPr>
            <p:nvPr/>
          </p:nvSpPr>
          <p:spPr bwMode="auto">
            <a:xfrm>
              <a:off x="863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3" name="Rectangle 262"/>
            <p:cNvSpPr>
              <a:spLocks noChangeArrowheads="1"/>
            </p:cNvSpPr>
            <p:nvPr/>
          </p:nvSpPr>
          <p:spPr bwMode="auto">
            <a:xfrm>
              <a:off x="879" y="3012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4" name="Line 263"/>
            <p:cNvSpPr>
              <a:spLocks noChangeShapeType="1"/>
            </p:cNvSpPr>
            <p:nvPr/>
          </p:nvSpPr>
          <p:spPr bwMode="auto">
            <a:xfrm>
              <a:off x="879" y="3012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5" name="Rectangle 264"/>
            <p:cNvSpPr>
              <a:spLocks noChangeArrowheads="1"/>
            </p:cNvSpPr>
            <p:nvPr/>
          </p:nvSpPr>
          <p:spPr bwMode="auto">
            <a:xfrm>
              <a:off x="1532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6" name="Line 265"/>
            <p:cNvSpPr>
              <a:spLocks noChangeShapeType="1"/>
            </p:cNvSpPr>
            <p:nvPr/>
          </p:nvSpPr>
          <p:spPr bwMode="auto">
            <a:xfrm>
              <a:off x="1532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7" name="Line 266"/>
            <p:cNvSpPr>
              <a:spLocks noChangeShapeType="1"/>
            </p:cNvSpPr>
            <p:nvPr/>
          </p:nvSpPr>
          <p:spPr bwMode="auto">
            <a:xfrm>
              <a:off x="1532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8" name="Rectangle 267"/>
            <p:cNvSpPr>
              <a:spLocks noChangeArrowheads="1"/>
            </p:cNvSpPr>
            <p:nvPr/>
          </p:nvSpPr>
          <p:spPr bwMode="auto">
            <a:xfrm>
              <a:off x="1548" y="3012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29" name="Line 268"/>
            <p:cNvSpPr>
              <a:spLocks noChangeShapeType="1"/>
            </p:cNvSpPr>
            <p:nvPr/>
          </p:nvSpPr>
          <p:spPr bwMode="auto">
            <a:xfrm>
              <a:off x="1548" y="3012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0" name="Rectangle 269"/>
            <p:cNvSpPr>
              <a:spLocks noChangeArrowheads="1"/>
            </p:cNvSpPr>
            <p:nvPr/>
          </p:nvSpPr>
          <p:spPr bwMode="auto">
            <a:xfrm>
              <a:off x="2184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1" name="Line 270"/>
            <p:cNvSpPr>
              <a:spLocks noChangeShapeType="1"/>
            </p:cNvSpPr>
            <p:nvPr/>
          </p:nvSpPr>
          <p:spPr bwMode="auto">
            <a:xfrm>
              <a:off x="2184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2" name="Line 271"/>
            <p:cNvSpPr>
              <a:spLocks noChangeShapeType="1"/>
            </p:cNvSpPr>
            <p:nvPr/>
          </p:nvSpPr>
          <p:spPr bwMode="auto">
            <a:xfrm>
              <a:off x="2184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3" name="Rectangle 272"/>
            <p:cNvSpPr>
              <a:spLocks noChangeArrowheads="1"/>
            </p:cNvSpPr>
            <p:nvPr/>
          </p:nvSpPr>
          <p:spPr bwMode="auto">
            <a:xfrm>
              <a:off x="2200" y="3012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4" name="Line 273"/>
            <p:cNvSpPr>
              <a:spLocks noChangeShapeType="1"/>
            </p:cNvSpPr>
            <p:nvPr/>
          </p:nvSpPr>
          <p:spPr bwMode="auto">
            <a:xfrm>
              <a:off x="2200" y="3012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5" name="Rectangle 274"/>
            <p:cNvSpPr>
              <a:spLocks noChangeArrowheads="1"/>
            </p:cNvSpPr>
            <p:nvPr/>
          </p:nvSpPr>
          <p:spPr bwMode="auto">
            <a:xfrm>
              <a:off x="3028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6" name="Line 275"/>
            <p:cNvSpPr>
              <a:spLocks noChangeShapeType="1"/>
            </p:cNvSpPr>
            <p:nvPr/>
          </p:nvSpPr>
          <p:spPr bwMode="auto">
            <a:xfrm>
              <a:off x="3028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7" name="Line 276"/>
            <p:cNvSpPr>
              <a:spLocks noChangeShapeType="1"/>
            </p:cNvSpPr>
            <p:nvPr/>
          </p:nvSpPr>
          <p:spPr bwMode="auto">
            <a:xfrm>
              <a:off x="3028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8" name="Rectangle 277"/>
            <p:cNvSpPr>
              <a:spLocks noChangeArrowheads="1"/>
            </p:cNvSpPr>
            <p:nvPr/>
          </p:nvSpPr>
          <p:spPr bwMode="auto">
            <a:xfrm>
              <a:off x="3044" y="3012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39" name="Line 278"/>
            <p:cNvSpPr>
              <a:spLocks noChangeShapeType="1"/>
            </p:cNvSpPr>
            <p:nvPr/>
          </p:nvSpPr>
          <p:spPr bwMode="auto">
            <a:xfrm>
              <a:off x="3044" y="3012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0" name="Rectangle 279"/>
            <p:cNvSpPr>
              <a:spLocks noChangeArrowheads="1"/>
            </p:cNvSpPr>
            <p:nvPr/>
          </p:nvSpPr>
          <p:spPr bwMode="auto">
            <a:xfrm>
              <a:off x="4588" y="3012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1" name="Line 280"/>
            <p:cNvSpPr>
              <a:spLocks noChangeShapeType="1"/>
            </p:cNvSpPr>
            <p:nvPr/>
          </p:nvSpPr>
          <p:spPr bwMode="auto">
            <a:xfrm>
              <a:off x="4588" y="3012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2" name="Line 281"/>
            <p:cNvSpPr>
              <a:spLocks noChangeShapeType="1"/>
            </p:cNvSpPr>
            <p:nvPr/>
          </p:nvSpPr>
          <p:spPr bwMode="auto">
            <a:xfrm>
              <a:off x="4588" y="3012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3" name="Rectangle 282"/>
            <p:cNvSpPr>
              <a:spLocks noChangeArrowheads="1"/>
            </p:cNvSpPr>
            <p:nvPr/>
          </p:nvSpPr>
          <p:spPr bwMode="auto">
            <a:xfrm>
              <a:off x="863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4" name="Line 283"/>
            <p:cNvSpPr>
              <a:spLocks noChangeShapeType="1"/>
            </p:cNvSpPr>
            <p:nvPr/>
          </p:nvSpPr>
          <p:spPr bwMode="auto">
            <a:xfrm>
              <a:off x="863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5" name="Rectangle 284"/>
            <p:cNvSpPr>
              <a:spLocks noChangeArrowheads="1"/>
            </p:cNvSpPr>
            <p:nvPr/>
          </p:nvSpPr>
          <p:spPr bwMode="auto">
            <a:xfrm>
              <a:off x="1532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6" name="Line 285"/>
            <p:cNvSpPr>
              <a:spLocks noChangeShapeType="1"/>
            </p:cNvSpPr>
            <p:nvPr/>
          </p:nvSpPr>
          <p:spPr bwMode="auto">
            <a:xfrm>
              <a:off x="1532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7" name="Rectangle 286"/>
            <p:cNvSpPr>
              <a:spLocks noChangeArrowheads="1"/>
            </p:cNvSpPr>
            <p:nvPr/>
          </p:nvSpPr>
          <p:spPr bwMode="auto">
            <a:xfrm>
              <a:off x="2184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8" name="Line 287"/>
            <p:cNvSpPr>
              <a:spLocks noChangeShapeType="1"/>
            </p:cNvSpPr>
            <p:nvPr/>
          </p:nvSpPr>
          <p:spPr bwMode="auto">
            <a:xfrm>
              <a:off x="2184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49" name="Rectangle 288"/>
            <p:cNvSpPr>
              <a:spLocks noChangeArrowheads="1"/>
            </p:cNvSpPr>
            <p:nvPr/>
          </p:nvSpPr>
          <p:spPr bwMode="auto">
            <a:xfrm>
              <a:off x="3028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0" name="Line 289"/>
            <p:cNvSpPr>
              <a:spLocks noChangeShapeType="1"/>
            </p:cNvSpPr>
            <p:nvPr/>
          </p:nvSpPr>
          <p:spPr bwMode="auto">
            <a:xfrm>
              <a:off x="3028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1" name="Rectangle 290"/>
            <p:cNvSpPr>
              <a:spLocks noChangeArrowheads="1"/>
            </p:cNvSpPr>
            <p:nvPr/>
          </p:nvSpPr>
          <p:spPr bwMode="auto">
            <a:xfrm>
              <a:off x="4588" y="3028"/>
              <a:ext cx="16" cy="25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2" name="Line 291"/>
            <p:cNvSpPr>
              <a:spLocks noChangeShapeType="1"/>
            </p:cNvSpPr>
            <p:nvPr/>
          </p:nvSpPr>
          <p:spPr bwMode="auto">
            <a:xfrm>
              <a:off x="4588" y="3028"/>
              <a:ext cx="1" cy="25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3" name="Rectangle 292"/>
            <p:cNvSpPr>
              <a:spLocks noChangeArrowheads="1"/>
            </p:cNvSpPr>
            <p:nvPr/>
          </p:nvSpPr>
          <p:spPr bwMode="auto">
            <a:xfrm>
              <a:off x="1102" y="3346"/>
              <a:ext cx="271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0/1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4" name="Rectangle 293"/>
            <p:cNvSpPr>
              <a:spLocks noChangeArrowheads="1"/>
            </p:cNvSpPr>
            <p:nvPr/>
          </p:nvSpPr>
          <p:spPr bwMode="auto">
            <a:xfrm>
              <a:off x="1834" y="334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5" name="Rectangle 294"/>
            <p:cNvSpPr>
              <a:spLocks noChangeArrowheads="1"/>
            </p:cNvSpPr>
            <p:nvPr/>
          </p:nvSpPr>
          <p:spPr bwMode="auto">
            <a:xfrm>
              <a:off x="2582" y="3346"/>
              <a:ext cx="143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6" name="Rectangle 295"/>
            <p:cNvSpPr>
              <a:spLocks noChangeArrowheads="1"/>
            </p:cNvSpPr>
            <p:nvPr/>
          </p:nvSpPr>
          <p:spPr bwMode="auto">
            <a:xfrm>
              <a:off x="3649" y="3346"/>
              <a:ext cx="414" cy="2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>
                  <a:solidFill>
                    <a:srgbClr val="000000"/>
                  </a:solidFill>
                  <a:latin typeface="Times New Roman" pitchFamily="18" charset="0"/>
                </a:rPr>
                <a:t>+0/-0</a:t>
              </a: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7" name="Rectangle 296"/>
            <p:cNvSpPr>
              <a:spLocks noChangeArrowheads="1"/>
            </p:cNvSpPr>
            <p:nvPr/>
          </p:nvSpPr>
          <p:spPr bwMode="auto">
            <a:xfrm>
              <a:off x="863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8" name="Line 297"/>
            <p:cNvSpPr>
              <a:spLocks noChangeShapeType="1"/>
            </p:cNvSpPr>
            <p:nvPr/>
          </p:nvSpPr>
          <p:spPr bwMode="auto">
            <a:xfrm>
              <a:off x="863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59" name="Line 298"/>
            <p:cNvSpPr>
              <a:spLocks noChangeShapeType="1"/>
            </p:cNvSpPr>
            <p:nvPr/>
          </p:nvSpPr>
          <p:spPr bwMode="auto">
            <a:xfrm>
              <a:off x="863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0" name="Rectangle 299"/>
            <p:cNvSpPr>
              <a:spLocks noChangeArrowheads="1"/>
            </p:cNvSpPr>
            <p:nvPr/>
          </p:nvSpPr>
          <p:spPr bwMode="auto">
            <a:xfrm>
              <a:off x="879" y="3283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1" name="Line 300"/>
            <p:cNvSpPr>
              <a:spLocks noChangeShapeType="1"/>
            </p:cNvSpPr>
            <p:nvPr/>
          </p:nvSpPr>
          <p:spPr bwMode="auto">
            <a:xfrm>
              <a:off x="879" y="3283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2" name="Rectangle 301"/>
            <p:cNvSpPr>
              <a:spLocks noChangeArrowheads="1"/>
            </p:cNvSpPr>
            <p:nvPr/>
          </p:nvSpPr>
          <p:spPr bwMode="auto">
            <a:xfrm>
              <a:off x="1532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3" name="Line 302"/>
            <p:cNvSpPr>
              <a:spLocks noChangeShapeType="1"/>
            </p:cNvSpPr>
            <p:nvPr/>
          </p:nvSpPr>
          <p:spPr bwMode="auto">
            <a:xfrm>
              <a:off x="1532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4" name="Line 303"/>
            <p:cNvSpPr>
              <a:spLocks noChangeShapeType="1"/>
            </p:cNvSpPr>
            <p:nvPr/>
          </p:nvSpPr>
          <p:spPr bwMode="auto">
            <a:xfrm>
              <a:off x="1532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5" name="Rectangle 304"/>
            <p:cNvSpPr>
              <a:spLocks noChangeArrowheads="1"/>
            </p:cNvSpPr>
            <p:nvPr/>
          </p:nvSpPr>
          <p:spPr bwMode="auto">
            <a:xfrm>
              <a:off x="1548" y="3283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6" name="Line 305"/>
            <p:cNvSpPr>
              <a:spLocks noChangeShapeType="1"/>
            </p:cNvSpPr>
            <p:nvPr/>
          </p:nvSpPr>
          <p:spPr bwMode="auto">
            <a:xfrm>
              <a:off x="1548" y="3283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7" name="Rectangle 306"/>
            <p:cNvSpPr>
              <a:spLocks noChangeArrowheads="1"/>
            </p:cNvSpPr>
            <p:nvPr/>
          </p:nvSpPr>
          <p:spPr bwMode="auto">
            <a:xfrm>
              <a:off x="2184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8" name="Line 307"/>
            <p:cNvSpPr>
              <a:spLocks noChangeShapeType="1"/>
            </p:cNvSpPr>
            <p:nvPr/>
          </p:nvSpPr>
          <p:spPr bwMode="auto">
            <a:xfrm>
              <a:off x="2184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69" name="Line 308"/>
            <p:cNvSpPr>
              <a:spLocks noChangeShapeType="1"/>
            </p:cNvSpPr>
            <p:nvPr/>
          </p:nvSpPr>
          <p:spPr bwMode="auto">
            <a:xfrm>
              <a:off x="2184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0" name="Rectangle 309"/>
            <p:cNvSpPr>
              <a:spLocks noChangeArrowheads="1"/>
            </p:cNvSpPr>
            <p:nvPr/>
          </p:nvSpPr>
          <p:spPr bwMode="auto">
            <a:xfrm>
              <a:off x="2200" y="3283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1" name="Line 310"/>
            <p:cNvSpPr>
              <a:spLocks noChangeShapeType="1"/>
            </p:cNvSpPr>
            <p:nvPr/>
          </p:nvSpPr>
          <p:spPr bwMode="auto">
            <a:xfrm>
              <a:off x="2200" y="3283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2" name="Rectangle 311"/>
            <p:cNvSpPr>
              <a:spLocks noChangeArrowheads="1"/>
            </p:cNvSpPr>
            <p:nvPr/>
          </p:nvSpPr>
          <p:spPr bwMode="auto">
            <a:xfrm>
              <a:off x="3028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3" name="Line 312"/>
            <p:cNvSpPr>
              <a:spLocks noChangeShapeType="1"/>
            </p:cNvSpPr>
            <p:nvPr/>
          </p:nvSpPr>
          <p:spPr bwMode="auto">
            <a:xfrm>
              <a:off x="3028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4" name="Line 313"/>
            <p:cNvSpPr>
              <a:spLocks noChangeShapeType="1"/>
            </p:cNvSpPr>
            <p:nvPr/>
          </p:nvSpPr>
          <p:spPr bwMode="auto">
            <a:xfrm>
              <a:off x="3028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5" name="Rectangle 314"/>
            <p:cNvSpPr>
              <a:spLocks noChangeArrowheads="1"/>
            </p:cNvSpPr>
            <p:nvPr/>
          </p:nvSpPr>
          <p:spPr bwMode="auto">
            <a:xfrm>
              <a:off x="3044" y="3283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6" name="Line 315"/>
            <p:cNvSpPr>
              <a:spLocks noChangeShapeType="1"/>
            </p:cNvSpPr>
            <p:nvPr/>
          </p:nvSpPr>
          <p:spPr bwMode="auto">
            <a:xfrm>
              <a:off x="3044" y="3283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7" name="Rectangle 316"/>
            <p:cNvSpPr>
              <a:spLocks noChangeArrowheads="1"/>
            </p:cNvSpPr>
            <p:nvPr/>
          </p:nvSpPr>
          <p:spPr bwMode="auto">
            <a:xfrm>
              <a:off x="4588" y="328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8" name="Line 317"/>
            <p:cNvSpPr>
              <a:spLocks noChangeShapeType="1"/>
            </p:cNvSpPr>
            <p:nvPr/>
          </p:nvSpPr>
          <p:spPr bwMode="auto">
            <a:xfrm>
              <a:off x="4588" y="328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79" name="Line 318"/>
            <p:cNvSpPr>
              <a:spLocks noChangeShapeType="1"/>
            </p:cNvSpPr>
            <p:nvPr/>
          </p:nvSpPr>
          <p:spPr bwMode="auto">
            <a:xfrm>
              <a:off x="4588" y="328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0" name="Rectangle 319"/>
            <p:cNvSpPr>
              <a:spLocks noChangeArrowheads="1"/>
            </p:cNvSpPr>
            <p:nvPr/>
          </p:nvSpPr>
          <p:spPr bwMode="auto">
            <a:xfrm>
              <a:off x="863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1" name="Line 320"/>
            <p:cNvSpPr>
              <a:spLocks noChangeShapeType="1"/>
            </p:cNvSpPr>
            <p:nvPr/>
          </p:nvSpPr>
          <p:spPr bwMode="auto">
            <a:xfrm>
              <a:off x="863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2" name="Rectangle 321"/>
            <p:cNvSpPr>
              <a:spLocks noChangeArrowheads="1"/>
            </p:cNvSpPr>
            <p:nvPr/>
          </p:nvSpPr>
          <p:spPr bwMode="auto">
            <a:xfrm>
              <a:off x="863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3" name="Line 322"/>
            <p:cNvSpPr>
              <a:spLocks noChangeShapeType="1"/>
            </p:cNvSpPr>
            <p:nvPr/>
          </p:nvSpPr>
          <p:spPr bwMode="auto">
            <a:xfrm>
              <a:off x="863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4" name="Line 323"/>
            <p:cNvSpPr>
              <a:spLocks noChangeShapeType="1"/>
            </p:cNvSpPr>
            <p:nvPr/>
          </p:nvSpPr>
          <p:spPr bwMode="auto">
            <a:xfrm>
              <a:off x="863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5" name="Rectangle 324"/>
            <p:cNvSpPr>
              <a:spLocks noChangeArrowheads="1"/>
            </p:cNvSpPr>
            <p:nvPr/>
          </p:nvSpPr>
          <p:spPr bwMode="auto">
            <a:xfrm>
              <a:off x="863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6" name="Line 325"/>
            <p:cNvSpPr>
              <a:spLocks noChangeShapeType="1"/>
            </p:cNvSpPr>
            <p:nvPr/>
          </p:nvSpPr>
          <p:spPr bwMode="auto">
            <a:xfrm>
              <a:off x="863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7" name="Line 326"/>
            <p:cNvSpPr>
              <a:spLocks noChangeShapeType="1"/>
            </p:cNvSpPr>
            <p:nvPr/>
          </p:nvSpPr>
          <p:spPr bwMode="auto">
            <a:xfrm>
              <a:off x="863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8" name="Rectangle 327"/>
            <p:cNvSpPr>
              <a:spLocks noChangeArrowheads="1"/>
            </p:cNvSpPr>
            <p:nvPr/>
          </p:nvSpPr>
          <p:spPr bwMode="auto">
            <a:xfrm>
              <a:off x="879" y="3553"/>
              <a:ext cx="653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89" name="Line 328"/>
            <p:cNvSpPr>
              <a:spLocks noChangeShapeType="1"/>
            </p:cNvSpPr>
            <p:nvPr/>
          </p:nvSpPr>
          <p:spPr bwMode="auto">
            <a:xfrm>
              <a:off x="879" y="3553"/>
              <a:ext cx="65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0" name="Rectangle 329"/>
            <p:cNvSpPr>
              <a:spLocks noChangeArrowheads="1"/>
            </p:cNvSpPr>
            <p:nvPr/>
          </p:nvSpPr>
          <p:spPr bwMode="auto">
            <a:xfrm>
              <a:off x="1532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1" name="Line 330"/>
            <p:cNvSpPr>
              <a:spLocks noChangeShapeType="1"/>
            </p:cNvSpPr>
            <p:nvPr/>
          </p:nvSpPr>
          <p:spPr bwMode="auto">
            <a:xfrm>
              <a:off x="1532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2" name="Rectangle 331"/>
            <p:cNvSpPr>
              <a:spLocks noChangeArrowheads="1"/>
            </p:cNvSpPr>
            <p:nvPr/>
          </p:nvSpPr>
          <p:spPr bwMode="auto">
            <a:xfrm>
              <a:off x="1532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3" name="Line 332"/>
            <p:cNvSpPr>
              <a:spLocks noChangeShapeType="1"/>
            </p:cNvSpPr>
            <p:nvPr/>
          </p:nvSpPr>
          <p:spPr bwMode="auto">
            <a:xfrm>
              <a:off x="1532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4" name="Line 333"/>
            <p:cNvSpPr>
              <a:spLocks noChangeShapeType="1"/>
            </p:cNvSpPr>
            <p:nvPr/>
          </p:nvSpPr>
          <p:spPr bwMode="auto">
            <a:xfrm>
              <a:off x="1532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5" name="Rectangle 334"/>
            <p:cNvSpPr>
              <a:spLocks noChangeArrowheads="1"/>
            </p:cNvSpPr>
            <p:nvPr/>
          </p:nvSpPr>
          <p:spPr bwMode="auto">
            <a:xfrm>
              <a:off x="1548" y="3553"/>
              <a:ext cx="63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6" name="Line 335"/>
            <p:cNvSpPr>
              <a:spLocks noChangeShapeType="1"/>
            </p:cNvSpPr>
            <p:nvPr/>
          </p:nvSpPr>
          <p:spPr bwMode="auto">
            <a:xfrm>
              <a:off x="1548" y="3553"/>
              <a:ext cx="63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7" name="Rectangle 336"/>
            <p:cNvSpPr>
              <a:spLocks noChangeArrowheads="1"/>
            </p:cNvSpPr>
            <p:nvPr/>
          </p:nvSpPr>
          <p:spPr bwMode="auto">
            <a:xfrm>
              <a:off x="2184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8" name="Line 337"/>
            <p:cNvSpPr>
              <a:spLocks noChangeShapeType="1"/>
            </p:cNvSpPr>
            <p:nvPr/>
          </p:nvSpPr>
          <p:spPr bwMode="auto">
            <a:xfrm>
              <a:off x="2184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699" name="Rectangle 338"/>
            <p:cNvSpPr>
              <a:spLocks noChangeArrowheads="1"/>
            </p:cNvSpPr>
            <p:nvPr/>
          </p:nvSpPr>
          <p:spPr bwMode="auto">
            <a:xfrm>
              <a:off x="2184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0" name="Line 339"/>
            <p:cNvSpPr>
              <a:spLocks noChangeShapeType="1"/>
            </p:cNvSpPr>
            <p:nvPr/>
          </p:nvSpPr>
          <p:spPr bwMode="auto">
            <a:xfrm>
              <a:off x="2184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1" name="Line 340"/>
            <p:cNvSpPr>
              <a:spLocks noChangeShapeType="1"/>
            </p:cNvSpPr>
            <p:nvPr/>
          </p:nvSpPr>
          <p:spPr bwMode="auto">
            <a:xfrm>
              <a:off x="2184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2" name="Rectangle 341"/>
            <p:cNvSpPr>
              <a:spLocks noChangeArrowheads="1"/>
            </p:cNvSpPr>
            <p:nvPr/>
          </p:nvSpPr>
          <p:spPr bwMode="auto">
            <a:xfrm>
              <a:off x="2200" y="3553"/>
              <a:ext cx="828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3" name="Line 342"/>
            <p:cNvSpPr>
              <a:spLocks noChangeShapeType="1"/>
            </p:cNvSpPr>
            <p:nvPr/>
          </p:nvSpPr>
          <p:spPr bwMode="auto">
            <a:xfrm>
              <a:off x="2200" y="3553"/>
              <a:ext cx="828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4" name="Rectangle 343"/>
            <p:cNvSpPr>
              <a:spLocks noChangeArrowheads="1"/>
            </p:cNvSpPr>
            <p:nvPr/>
          </p:nvSpPr>
          <p:spPr bwMode="auto">
            <a:xfrm>
              <a:off x="3028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5" name="Line 344"/>
            <p:cNvSpPr>
              <a:spLocks noChangeShapeType="1"/>
            </p:cNvSpPr>
            <p:nvPr/>
          </p:nvSpPr>
          <p:spPr bwMode="auto">
            <a:xfrm>
              <a:off x="3028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6" name="Rectangle 345"/>
            <p:cNvSpPr>
              <a:spLocks noChangeArrowheads="1"/>
            </p:cNvSpPr>
            <p:nvPr/>
          </p:nvSpPr>
          <p:spPr bwMode="auto">
            <a:xfrm>
              <a:off x="3028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7" name="Line 346"/>
            <p:cNvSpPr>
              <a:spLocks noChangeShapeType="1"/>
            </p:cNvSpPr>
            <p:nvPr/>
          </p:nvSpPr>
          <p:spPr bwMode="auto">
            <a:xfrm>
              <a:off x="3028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8" name="Line 347"/>
            <p:cNvSpPr>
              <a:spLocks noChangeShapeType="1"/>
            </p:cNvSpPr>
            <p:nvPr/>
          </p:nvSpPr>
          <p:spPr bwMode="auto">
            <a:xfrm>
              <a:off x="3028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09" name="Rectangle 348"/>
            <p:cNvSpPr>
              <a:spLocks noChangeArrowheads="1"/>
            </p:cNvSpPr>
            <p:nvPr/>
          </p:nvSpPr>
          <p:spPr bwMode="auto">
            <a:xfrm>
              <a:off x="3044" y="3553"/>
              <a:ext cx="1544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0" name="Line 349"/>
            <p:cNvSpPr>
              <a:spLocks noChangeShapeType="1"/>
            </p:cNvSpPr>
            <p:nvPr/>
          </p:nvSpPr>
          <p:spPr bwMode="auto">
            <a:xfrm>
              <a:off x="3044" y="3553"/>
              <a:ext cx="154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1" name="Rectangle 350"/>
            <p:cNvSpPr>
              <a:spLocks noChangeArrowheads="1"/>
            </p:cNvSpPr>
            <p:nvPr/>
          </p:nvSpPr>
          <p:spPr bwMode="auto">
            <a:xfrm>
              <a:off x="4588" y="3299"/>
              <a:ext cx="16" cy="25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2" name="Line 351"/>
            <p:cNvSpPr>
              <a:spLocks noChangeShapeType="1"/>
            </p:cNvSpPr>
            <p:nvPr/>
          </p:nvSpPr>
          <p:spPr bwMode="auto">
            <a:xfrm>
              <a:off x="4588" y="3299"/>
              <a:ext cx="1" cy="25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3" name="Rectangle 352"/>
            <p:cNvSpPr>
              <a:spLocks noChangeArrowheads="1"/>
            </p:cNvSpPr>
            <p:nvPr/>
          </p:nvSpPr>
          <p:spPr bwMode="auto">
            <a:xfrm>
              <a:off x="4588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4" name="Line 353"/>
            <p:cNvSpPr>
              <a:spLocks noChangeShapeType="1"/>
            </p:cNvSpPr>
            <p:nvPr/>
          </p:nvSpPr>
          <p:spPr bwMode="auto">
            <a:xfrm>
              <a:off x="4588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5" name="Line 354"/>
            <p:cNvSpPr>
              <a:spLocks noChangeShapeType="1"/>
            </p:cNvSpPr>
            <p:nvPr/>
          </p:nvSpPr>
          <p:spPr bwMode="auto">
            <a:xfrm>
              <a:off x="4588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6" name="Rectangle 355"/>
            <p:cNvSpPr>
              <a:spLocks noChangeArrowheads="1"/>
            </p:cNvSpPr>
            <p:nvPr/>
          </p:nvSpPr>
          <p:spPr bwMode="auto">
            <a:xfrm>
              <a:off x="4588" y="3553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7" name="Line 356"/>
            <p:cNvSpPr>
              <a:spLocks noChangeShapeType="1"/>
            </p:cNvSpPr>
            <p:nvPr/>
          </p:nvSpPr>
          <p:spPr bwMode="auto">
            <a:xfrm>
              <a:off x="4588" y="3553"/>
              <a:ext cx="16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66718" name="Line 357"/>
            <p:cNvSpPr>
              <a:spLocks noChangeShapeType="1"/>
            </p:cNvSpPr>
            <p:nvPr/>
          </p:nvSpPr>
          <p:spPr bwMode="auto">
            <a:xfrm>
              <a:off x="4588" y="3553"/>
              <a:ext cx="1" cy="1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kumimoji="1" lang="zh-CN" altLang="en-US" sz="240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53573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ChangeArrowheads="1"/>
          </p:cNvSpPr>
          <p:nvPr/>
        </p:nvSpPr>
        <p:spPr bwMode="auto">
          <a:xfrm>
            <a:off x="533400" y="762000"/>
            <a:ext cx="67913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浮点运算方法和浮点运算器</a:t>
            </a:r>
          </a:p>
        </p:txBody>
      </p:sp>
      <p:sp>
        <p:nvSpPr>
          <p:cNvPr id="129027" name="Rectangle 6"/>
          <p:cNvSpPr>
            <a:spLocks noChangeArrowheads="1"/>
          </p:cNvSpPr>
          <p:nvPr/>
        </p:nvSpPr>
        <p:spPr bwMode="auto">
          <a:xfrm>
            <a:off x="609600" y="1981200"/>
            <a:ext cx="5724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>
                <a:solidFill>
                  <a:schemeClr val="folHlink"/>
                </a:solidFill>
                <a:latin typeface="宋体" charset="-122"/>
              </a:rPr>
              <a:t>浮点加、减法运算</a:t>
            </a:r>
          </a:p>
        </p:txBody>
      </p:sp>
      <p:sp>
        <p:nvSpPr>
          <p:cNvPr id="129028" name="Rectangle 7"/>
          <p:cNvSpPr>
            <a:spLocks noChangeArrowheads="1"/>
          </p:cNvSpPr>
          <p:nvPr/>
        </p:nvSpPr>
        <p:spPr bwMode="auto">
          <a:xfrm>
            <a:off x="628650" y="2733675"/>
            <a:ext cx="5724525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800">
                <a:solidFill>
                  <a:schemeClr val="folHlink"/>
                </a:solidFill>
                <a:latin typeface="宋体" charset="-122"/>
              </a:rPr>
              <a:t>浮点乘、除法运算</a:t>
            </a:r>
          </a:p>
        </p:txBody>
      </p:sp>
    </p:spTree>
    <p:extLst>
      <p:ext uri="{BB962C8B-B14F-4D97-AF65-F5344CB8AC3E}">
        <p14:creationId xmlns:p14="http://schemas.microsoft.com/office/powerpoint/2010/main" val="322062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ChangeArrowheads="1"/>
          </p:cNvSpPr>
          <p:nvPr/>
        </p:nvSpPr>
        <p:spPr bwMode="auto">
          <a:xfrm>
            <a:off x="323850" y="1520825"/>
            <a:ext cx="7907338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Times New Roman" pitchFamily="18" charset="0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尾数</a:t>
            </a:r>
            <a:r>
              <a:rPr lang="zh-CN" altLang="en-US">
                <a:latin typeface="Times New Roman" pitchFamily="18" charset="0"/>
              </a:rPr>
              <a:t>：用定点小数表示，给出有效数字的位数，</a:t>
            </a:r>
          </a:p>
          <a:p>
            <a:r>
              <a:rPr lang="zh-CN" altLang="en-US">
                <a:latin typeface="Times New Roman" pitchFamily="18" charset="0"/>
              </a:rPr>
              <a:t>                决定了浮点数的表示精度；</a:t>
            </a:r>
          </a:p>
          <a:p>
            <a:pPr>
              <a:lnSpc>
                <a:spcPct val="145000"/>
              </a:lnSpc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    阶码</a:t>
            </a:r>
            <a:r>
              <a:rPr lang="zh-CN" altLang="en-US">
                <a:latin typeface="Times New Roman" pitchFamily="18" charset="0"/>
              </a:rPr>
              <a:t>：用整数形式表示，指明小数点在数据中的位</a:t>
            </a:r>
          </a:p>
          <a:p>
            <a:r>
              <a:rPr lang="zh-CN" altLang="en-US">
                <a:latin typeface="Times New Roman" pitchFamily="18" charset="0"/>
              </a:rPr>
              <a:t>                置，决定了浮点数的表示范围。</a:t>
            </a:r>
          </a:p>
        </p:txBody>
      </p:sp>
      <p:sp>
        <p:nvSpPr>
          <p:cNvPr id="130051" name="Rectangle 13"/>
          <p:cNvSpPr>
            <a:spLocks noChangeArrowheads="1"/>
          </p:cNvSpPr>
          <p:nvPr/>
        </p:nvSpPr>
        <p:spPr bwMode="auto">
          <a:xfrm>
            <a:off x="298450" y="628650"/>
            <a:ext cx="3448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latin typeface="Times New Roman" pitchFamily="18" charset="0"/>
                <a:ea typeface="隶书" pitchFamily="49" charset="-122"/>
              </a:rPr>
              <a:t>机器浮点数格式：</a:t>
            </a:r>
          </a:p>
        </p:txBody>
      </p:sp>
      <p:sp>
        <p:nvSpPr>
          <p:cNvPr id="130052" name="Rectangle 16"/>
          <p:cNvSpPr>
            <a:spLocks noChangeArrowheads="1"/>
          </p:cNvSpPr>
          <p:nvPr/>
        </p:nvSpPr>
        <p:spPr bwMode="auto">
          <a:xfrm>
            <a:off x="228600" y="304800"/>
            <a:ext cx="56483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浮点数的表示方法</a:t>
            </a:r>
          </a:p>
        </p:txBody>
      </p:sp>
      <p:grpSp>
        <p:nvGrpSpPr>
          <p:cNvPr id="130053" name="Group 23"/>
          <p:cNvGrpSpPr>
            <a:grpSpLocks/>
          </p:cNvGrpSpPr>
          <p:nvPr/>
        </p:nvGrpSpPr>
        <p:grpSpPr bwMode="auto">
          <a:xfrm>
            <a:off x="974725" y="3371850"/>
            <a:ext cx="7407275" cy="1325563"/>
            <a:chOff x="614" y="2124"/>
            <a:chExt cx="4666" cy="835"/>
          </a:xfrm>
        </p:grpSpPr>
        <p:sp>
          <p:nvSpPr>
            <p:cNvPr id="130054" name="Rectangle 22"/>
            <p:cNvSpPr>
              <a:spLocks noChangeArrowheads="1"/>
            </p:cNvSpPr>
            <p:nvPr/>
          </p:nvSpPr>
          <p:spPr bwMode="auto">
            <a:xfrm>
              <a:off x="624" y="2304"/>
              <a:ext cx="4656" cy="288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0055" name="Object 5"/>
            <p:cNvGraphicFramePr>
              <a:graphicFrameLocks noChangeAspect="1"/>
            </p:cNvGraphicFramePr>
            <p:nvPr/>
          </p:nvGraphicFramePr>
          <p:xfrm>
            <a:off x="2740" y="2124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3" imgW="114151" imgH="215619" progId="Equation.3">
                    <p:embed/>
                  </p:oleObj>
                </mc:Choice>
                <mc:Fallback>
                  <p:oleObj name="Equation" r:id="rId3" imgW="114151" imgH="21561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0" y="2124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0056" name="Text Box 9"/>
            <p:cNvSpPr txBox="1">
              <a:spLocks noChangeArrowheads="1"/>
            </p:cNvSpPr>
            <p:nvPr/>
          </p:nvSpPr>
          <p:spPr bwMode="auto">
            <a:xfrm>
              <a:off x="646" y="2671"/>
              <a:ext cx="39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rgbClr val="000099"/>
                  </a:solidFill>
                  <a:latin typeface="Times New Roman" pitchFamily="18" charset="0"/>
                </a:rPr>
                <a:t>阶符                 阶码               数符                尾数</a:t>
              </a:r>
            </a:p>
          </p:txBody>
        </p:sp>
        <p:sp>
          <p:nvSpPr>
            <p:cNvPr id="130057" name="Line 10"/>
            <p:cNvSpPr>
              <a:spLocks noChangeShapeType="1"/>
            </p:cNvSpPr>
            <p:nvPr/>
          </p:nvSpPr>
          <p:spPr bwMode="auto">
            <a:xfrm>
              <a:off x="1104" y="264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58" name="Line 11"/>
            <p:cNvSpPr>
              <a:spLocks noChangeShapeType="1"/>
            </p:cNvSpPr>
            <p:nvPr/>
          </p:nvSpPr>
          <p:spPr bwMode="auto">
            <a:xfrm>
              <a:off x="2928" y="264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059" name="Line 12"/>
            <p:cNvSpPr>
              <a:spLocks noChangeShapeType="1"/>
            </p:cNvSpPr>
            <p:nvPr/>
          </p:nvSpPr>
          <p:spPr bwMode="auto">
            <a:xfrm>
              <a:off x="3408" y="2640"/>
              <a:ext cx="0" cy="1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0060" name="Group 21"/>
            <p:cNvGrpSpPr>
              <a:grpSpLocks/>
            </p:cNvGrpSpPr>
            <p:nvPr/>
          </p:nvGrpSpPr>
          <p:grpSpPr bwMode="auto">
            <a:xfrm>
              <a:off x="614" y="2304"/>
              <a:ext cx="4640" cy="294"/>
              <a:chOff x="614" y="2304"/>
              <a:chExt cx="4640" cy="294"/>
            </a:xfrm>
          </p:grpSpPr>
          <p:sp>
            <p:nvSpPr>
              <p:cNvPr id="130061" name="Text Box 4"/>
              <p:cNvSpPr txBox="1">
                <a:spLocks noChangeArrowheads="1"/>
              </p:cNvSpPr>
              <p:nvPr/>
            </p:nvSpPr>
            <p:spPr bwMode="auto">
              <a:xfrm>
                <a:off x="614" y="2304"/>
                <a:ext cx="4640" cy="29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</a:rPr>
                  <a:t>  E</a:t>
                </a:r>
                <a:r>
                  <a:rPr lang="en-US" altLang="zh-CN" baseline="-25000">
                    <a:latin typeface="Times New Roman" pitchFamily="18" charset="0"/>
                  </a:rPr>
                  <a:t>s</a:t>
                </a:r>
                <a:r>
                  <a:rPr lang="en-US" altLang="zh-CN">
                    <a:latin typeface="Times New Roman" pitchFamily="18" charset="0"/>
                  </a:rPr>
                  <a:t>      E</a:t>
                </a:r>
                <a:r>
                  <a:rPr lang="en-US" altLang="zh-CN" baseline="-25000">
                    <a:latin typeface="Times New Roman" pitchFamily="18" charset="0"/>
                  </a:rPr>
                  <a:t>1    </a:t>
                </a:r>
                <a:r>
                  <a:rPr lang="en-US" altLang="zh-CN">
                    <a:latin typeface="Times New Roman" pitchFamily="18" charset="0"/>
                  </a:rPr>
                  <a:t>E</a:t>
                </a:r>
                <a:r>
                  <a:rPr lang="en-US" altLang="zh-CN" baseline="-25000">
                    <a:latin typeface="Times New Roman" pitchFamily="18" charset="0"/>
                  </a:rPr>
                  <a:t>2       </a:t>
                </a:r>
                <a:r>
                  <a:rPr lang="en-US" altLang="zh-CN">
                    <a:latin typeface="Times New Roman" pitchFamily="18" charset="0"/>
                  </a:rPr>
                  <a:t>……    E</a:t>
                </a:r>
                <a:r>
                  <a:rPr lang="en-US" altLang="zh-CN" baseline="-25000">
                    <a:latin typeface="Times New Roman" pitchFamily="18" charset="0"/>
                  </a:rPr>
                  <a:t>m</a:t>
                </a:r>
                <a:r>
                  <a:rPr lang="en-US" altLang="zh-CN">
                    <a:latin typeface="Times New Roman" pitchFamily="18" charset="0"/>
                  </a:rPr>
                  <a:t>      M</a:t>
                </a:r>
                <a:r>
                  <a:rPr lang="en-US" altLang="zh-CN" baseline="-25000">
                    <a:latin typeface="Times New Roman" pitchFamily="18" charset="0"/>
                  </a:rPr>
                  <a:t>s        </a:t>
                </a:r>
                <a:r>
                  <a:rPr lang="en-US" altLang="zh-CN">
                    <a:latin typeface="Times New Roman" pitchFamily="18" charset="0"/>
                  </a:rPr>
                  <a:t>M</a:t>
                </a:r>
                <a:r>
                  <a:rPr lang="en-US" altLang="zh-CN" baseline="-25000">
                    <a:latin typeface="Times New Roman" pitchFamily="18" charset="0"/>
                  </a:rPr>
                  <a:t>1   </a:t>
                </a:r>
                <a:r>
                  <a:rPr lang="en-US" altLang="zh-CN">
                    <a:latin typeface="Times New Roman" pitchFamily="18" charset="0"/>
                  </a:rPr>
                  <a:t>M</a:t>
                </a:r>
                <a:r>
                  <a:rPr lang="en-US" altLang="zh-CN" baseline="-25000">
                    <a:latin typeface="Times New Roman" pitchFamily="18" charset="0"/>
                  </a:rPr>
                  <a:t>2    </a:t>
                </a:r>
                <a:r>
                  <a:rPr lang="en-US" altLang="zh-CN">
                    <a:latin typeface="Times New Roman" pitchFamily="18" charset="0"/>
                  </a:rPr>
                  <a:t>……   M</a:t>
                </a:r>
                <a:r>
                  <a:rPr lang="en-US" altLang="zh-CN" baseline="-25000">
                    <a:latin typeface="Times New Roman" pitchFamily="18" charset="0"/>
                  </a:rPr>
                  <a:t>n</a:t>
                </a:r>
                <a:endParaRPr lang="en-US" altLang="zh-CN">
                  <a:latin typeface="Times New Roman" pitchFamily="18" charset="0"/>
                </a:endParaRPr>
              </a:p>
            </p:txBody>
          </p:sp>
          <p:sp>
            <p:nvSpPr>
              <p:cNvPr id="130062" name="Line 18"/>
              <p:cNvSpPr>
                <a:spLocks noChangeShapeType="1"/>
              </p:cNvSpPr>
              <p:nvPr/>
            </p:nvSpPr>
            <p:spPr bwMode="auto">
              <a:xfrm>
                <a:off x="2928" y="23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0063" name="Line 19"/>
              <p:cNvSpPr>
                <a:spLocks noChangeShapeType="1"/>
              </p:cNvSpPr>
              <p:nvPr/>
            </p:nvSpPr>
            <p:spPr bwMode="auto">
              <a:xfrm>
                <a:off x="1104" y="23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30064" name="Line 20"/>
              <p:cNvSpPr>
                <a:spLocks noChangeShapeType="1"/>
              </p:cNvSpPr>
              <p:nvPr/>
            </p:nvSpPr>
            <p:spPr bwMode="auto">
              <a:xfrm>
                <a:off x="3408" y="2304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1258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5"/>
          <p:cNvSpPr>
            <a:spLocks noChangeArrowheads="1"/>
          </p:cNvSpPr>
          <p:nvPr/>
        </p:nvSpPr>
        <p:spPr bwMode="auto">
          <a:xfrm>
            <a:off x="1947863" y="3733800"/>
            <a:ext cx="6705600" cy="38100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07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09600" y="4470400"/>
            <a:ext cx="7848600" cy="5334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IEEE 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标准：尾数用原码</a:t>
            </a:r>
            <a:r>
              <a:rPr lang="zh-CN" altLang="en-US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； 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阶码用</a:t>
            </a:r>
            <a:r>
              <a:rPr lang="zh-CN" altLang="en-US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“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移码</a:t>
            </a:r>
            <a:r>
              <a:rPr lang="zh-CN" altLang="en-US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”；</a:t>
            </a:r>
            <a:r>
              <a:rPr lang="zh-CN" altLang="zh-CN" sz="2400" b="1" smtClean="0">
                <a:solidFill>
                  <a:srgbClr val="A50021"/>
                </a:solidFill>
                <a:latin typeface="Times New Roman" pitchFamily="18" charset="0"/>
                <a:ea typeface="楷体_GB2312" pitchFamily="49" charset="-122"/>
              </a:rPr>
              <a:t>基为2。</a:t>
            </a:r>
            <a:endParaRPr lang="zh-CN" altLang="en-US" sz="2400" b="1" smtClean="0">
              <a:solidFill>
                <a:srgbClr val="A50021"/>
              </a:solidFill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31076" name="Rectangle 6"/>
          <p:cNvSpPr>
            <a:spLocks noChangeArrowheads="1"/>
          </p:cNvSpPr>
          <p:nvPr/>
        </p:nvSpPr>
        <p:spPr bwMode="auto">
          <a:xfrm>
            <a:off x="304800" y="457200"/>
            <a:ext cx="3448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浮点数的标准格式</a:t>
            </a:r>
          </a:p>
        </p:txBody>
      </p:sp>
      <p:sp>
        <p:nvSpPr>
          <p:cNvPr id="131077" name="Rectangle 7"/>
          <p:cNvSpPr>
            <a:spLocks noChangeArrowheads="1"/>
          </p:cNvSpPr>
          <p:nvPr/>
        </p:nvSpPr>
        <p:spPr bwMode="auto">
          <a:xfrm>
            <a:off x="304800" y="1600200"/>
            <a:ext cx="85312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zh-CN" altLang="en-US">
                <a:latin typeface="Times New Roman" pitchFamily="18" charset="0"/>
              </a:rPr>
              <a:t>按照 </a:t>
            </a:r>
            <a:r>
              <a:rPr lang="en-US" altLang="zh-CN">
                <a:latin typeface="Times New Roman" pitchFamily="18" charset="0"/>
              </a:rPr>
              <a:t>IEEE754 </a:t>
            </a:r>
            <a:r>
              <a:rPr lang="zh-CN" altLang="en-US">
                <a:latin typeface="Times New Roman" pitchFamily="18" charset="0"/>
              </a:rPr>
              <a:t>的标准，</a:t>
            </a:r>
            <a:r>
              <a:rPr lang="en-US" altLang="zh-CN">
                <a:latin typeface="Times New Roman" pitchFamily="18" charset="0"/>
              </a:rPr>
              <a:t>32</a:t>
            </a:r>
            <a:r>
              <a:rPr lang="zh-CN" altLang="en-US">
                <a:latin typeface="Times New Roman" pitchFamily="18" charset="0"/>
              </a:rPr>
              <a:t>位浮点数和</a:t>
            </a:r>
            <a:r>
              <a:rPr lang="en-US" altLang="zh-CN">
                <a:latin typeface="Times New Roman" pitchFamily="18" charset="0"/>
              </a:rPr>
              <a:t>64</a:t>
            </a:r>
            <a:r>
              <a:rPr lang="zh-CN" altLang="en-US">
                <a:latin typeface="Times New Roman" pitchFamily="18" charset="0"/>
              </a:rPr>
              <a:t>位浮点数 </a:t>
            </a:r>
          </a:p>
          <a:p>
            <a:r>
              <a:rPr lang="zh-CN" altLang="en-US">
                <a:latin typeface="Times New Roman" pitchFamily="18" charset="0"/>
              </a:rPr>
              <a:t>   的标准格式为 ：</a:t>
            </a:r>
          </a:p>
        </p:txBody>
      </p:sp>
      <p:grpSp>
        <p:nvGrpSpPr>
          <p:cNvPr id="131078" name="Group 26"/>
          <p:cNvGrpSpPr>
            <a:grpSpLocks/>
          </p:cNvGrpSpPr>
          <p:nvPr/>
        </p:nvGrpSpPr>
        <p:grpSpPr bwMode="auto">
          <a:xfrm>
            <a:off x="785813" y="2346325"/>
            <a:ext cx="4967287" cy="919163"/>
            <a:chOff x="495" y="1478"/>
            <a:chExt cx="3129" cy="579"/>
          </a:xfrm>
        </p:grpSpPr>
        <p:sp>
          <p:nvSpPr>
            <p:cNvPr id="131087" name="Rectangle 24"/>
            <p:cNvSpPr>
              <a:spLocks noChangeArrowheads="1"/>
            </p:cNvSpPr>
            <p:nvPr/>
          </p:nvSpPr>
          <p:spPr bwMode="auto">
            <a:xfrm>
              <a:off x="1218" y="1737"/>
              <a:ext cx="2352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88" name="Text Box 11"/>
            <p:cNvSpPr txBox="1">
              <a:spLocks noChangeArrowheads="1"/>
            </p:cNvSpPr>
            <p:nvPr/>
          </p:nvSpPr>
          <p:spPr bwMode="auto">
            <a:xfrm>
              <a:off x="1252" y="1478"/>
              <a:ext cx="23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00FF"/>
                  </a:solidFill>
                  <a:latin typeface="Times New Roman" pitchFamily="18" charset="0"/>
                </a:rPr>
                <a:t>31  30      23 22                    0</a:t>
              </a:r>
            </a:p>
          </p:txBody>
        </p:sp>
        <p:grpSp>
          <p:nvGrpSpPr>
            <p:cNvPr id="131089" name="Group 22"/>
            <p:cNvGrpSpPr>
              <a:grpSpLocks/>
            </p:cNvGrpSpPr>
            <p:nvPr/>
          </p:nvGrpSpPr>
          <p:grpSpPr bwMode="auto">
            <a:xfrm>
              <a:off x="1222" y="1740"/>
              <a:ext cx="2360" cy="248"/>
              <a:chOff x="1222" y="1740"/>
              <a:chExt cx="2360" cy="248"/>
            </a:xfrm>
          </p:grpSpPr>
          <p:sp>
            <p:nvSpPr>
              <p:cNvPr id="131091" name="Text Box 9"/>
              <p:cNvSpPr txBox="1">
                <a:spLocks noChangeArrowheads="1"/>
              </p:cNvSpPr>
              <p:nvPr/>
            </p:nvSpPr>
            <p:spPr bwMode="auto">
              <a:xfrm>
                <a:off x="1222" y="1740"/>
                <a:ext cx="2360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</a:rPr>
                  <a:t> S        E              M</a:t>
                </a:r>
              </a:p>
            </p:txBody>
          </p:sp>
          <p:sp>
            <p:nvSpPr>
              <p:cNvPr id="131092" name="Line 10"/>
              <p:cNvSpPr>
                <a:spLocks noChangeShapeType="1"/>
              </p:cNvSpPr>
              <p:nvPr/>
            </p:nvSpPr>
            <p:spPr bwMode="auto">
              <a:xfrm>
                <a:off x="1567" y="1740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93" name="Line 12"/>
              <p:cNvSpPr>
                <a:spLocks noChangeShapeType="1"/>
              </p:cNvSpPr>
              <p:nvPr/>
            </p:nvSpPr>
            <p:spPr bwMode="auto">
              <a:xfrm>
                <a:off x="2287" y="1740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1090" name="Text Box 13"/>
            <p:cNvSpPr txBox="1">
              <a:spLocks noChangeArrowheads="1"/>
            </p:cNvSpPr>
            <p:nvPr/>
          </p:nvSpPr>
          <p:spPr bwMode="auto">
            <a:xfrm>
              <a:off x="495" y="1769"/>
              <a:ext cx="5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32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位</a:t>
              </a:r>
            </a:p>
          </p:txBody>
        </p:sp>
      </p:grpSp>
      <p:grpSp>
        <p:nvGrpSpPr>
          <p:cNvPr id="131079" name="Group 27"/>
          <p:cNvGrpSpPr>
            <a:grpSpLocks/>
          </p:cNvGrpSpPr>
          <p:nvPr/>
        </p:nvGrpSpPr>
        <p:grpSpPr bwMode="auto">
          <a:xfrm>
            <a:off x="785813" y="3319463"/>
            <a:ext cx="7926387" cy="833437"/>
            <a:chOff x="495" y="2091"/>
            <a:chExt cx="4993" cy="525"/>
          </a:xfrm>
        </p:grpSpPr>
        <p:grpSp>
          <p:nvGrpSpPr>
            <p:cNvPr id="131081" name="Group 23"/>
            <p:cNvGrpSpPr>
              <a:grpSpLocks/>
            </p:cNvGrpSpPr>
            <p:nvPr/>
          </p:nvGrpSpPr>
          <p:grpSpPr bwMode="auto">
            <a:xfrm>
              <a:off x="1214" y="2353"/>
              <a:ext cx="4241" cy="248"/>
              <a:chOff x="1214" y="2353"/>
              <a:chExt cx="4241" cy="248"/>
            </a:xfrm>
          </p:grpSpPr>
          <p:sp>
            <p:nvSpPr>
              <p:cNvPr id="131084" name="Text Box 15"/>
              <p:cNvSpPr txBox="1">
                <a:spLocks noChangeArrowheads="1"/>
              </p:cNvSpPr>
              <p:nvPr/>
            </p:nvSpPr>
            <p:spPr bwMode="auto">
              <a:xfrm>
                <a:off x="1214" y="2353"/>
                <a:ext cx="4241" cy="24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  <a:spcBef>
                    <a:spcPct val="50000"/>
                  </a:spcBef>
                </a:pPr>
                <a:r>
                  <a:rPr lang="en-US" altLang="zh-CN">
                    <a:latin typeface="Times New Roman" pitchFamily="18" charset="0"/>
                  </a:rPr>
                  <a:t> S                  E                                 M</a:t>
                </a:r>
              </a:p>
            </p:txBody>
          </p:sp>
          <p:sp>
            <p:nvSpPr>
              <p:cNvPr id="131085" name="Line 16"/>
              <p:cNvSpPr>
                <a:spLocks noChangeShapeType="1"/>
              </p:cNvSpPr>
              <p:nvPr/>
            </p:nvSpPr>
            <p:spPr bwMode="auto">
              <a:xfrm>
                <a:off x="1559" y="2353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1086" name="Line 17"/>
              <p:cNvSpPr>
                <a:spLocks noChangeShapeType="1"/>
              </p:cNvSpPr>
              <p:nvPr/>
            </p:nvSpPr>
            <p:spPr bwMode="auto">
              <a:xfrm>
                <a:off x="3035" y="2353"/>
                <a:ext cx="1" cy="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1082" name="Text Box 18"/>
            <p:cNvSpPr txBox="1">
              <a:spLocks noChangeArrowheads="1"/>
            </p:cNvSpPr>
            <p:nvPr/>
          </p:nvSpPr>
          <p:spPr bwMode="auto">
            <a:xfrm>
              <a:off x="1244" y="2091"/>
              <a:ext cx="4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0000FF"/>
                  </a:solidFill>
                  <a:latin typeface="Times New Roman" pitchFamily="18" charset="0"/>
                </a:rPr>
                <a:t>63  62                      52 51                                           0</a:t>
              </a:r>
            </a:p>
          </p:txBody>
        </p:sp>
        <p:sp>
          <p:nvSpPr>
            <p:cNvPr id="131083" name="Text Box 19"/>
            <p:cNvSpPr txBox="1">
              <a:spLocks noChangeArrowheads="1"/>
            </p:cNvSpPr>
            <p:nvPr/>
          </p:nvSpPr>
          <p:spPr bwMode="auto">
            <a:xfrm>
              <a:off x="495" y="2328"/>
              <a:ext cx="5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0000"/>
                  </a:solidFill>
                  <a:latin typeface="Times New Roman" pitchFamily="18" charset="0"/>
                </a:rPr>
                <a:t>64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位</a:t>
              </a:r>
            </a:p>
          </p:txBody>
        </p:sp>
      </p:grpSp>
      <p:sp>
        <p:nvSpPr>
          <p:cNvPr id="131080" name="Rectangle 20"/>
          <p:cNvSpPr>
            <a:spLocks noChangeArrowheads="1"/>
          </p:cNvSpPr>
          <p:nvPr/>
        </p:nvSpPr>
        <p:spPr bwMode="auto">
          <a:xfrm>
            <a:off x="457200" y="1131888"/>
            <a:ext cx="492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latin typeface="Times New Roman" pitchFamily="18" charset="0"/>
                <a:cs typeface="Times New Roman" pitchFamily="18" charset="0"/>
              </a:rPr>
              <a:t>•  </a:t>
            </a:r>
            <a:r>
              <a:rPr lang="zh-CN" altLang="en-US">
                <a:latin typeface="Times New Roman" pitchFamily="18" charset="0"/>
              </a:rPr>
              <a:t>为便于软件移植，使用 </a:t>
            </a:r>
            <a:r>
              <a:rPr lang="en-US" altLang="zh-CN">
                <a:latin typeface="Times New Roman" pitchFamily="18" charset="0"/>
              </a:rPr>
              <a:t>IEEE</a:t>
            </a:r>
            <a:r>
              <a:rPr lang="zh-CN" altLang="en-US">
                <a:latin typeface="Times New Roman" pitchFamily="18" charset="0"/>
              </a:rPr>
              <a:t>标准</a:t>
            </a:r>
          </a:p>
        </p:txBody>
      </p:sp>
    </p:spTree>
    <p:extLst>
      <p:ext uri="{BB962C8B-B14F-4D97-AF65-F5344CB8AC3E}">
        <p14:creationId xmlns:p14="http://schemas.microsoft.com/office/powerpoint/2010/main" val="555341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610600" cy="520700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sz="2400" b="1" smtClean="0"/>
              <a:t>设有两个浮点数</a:t>
            </a:r>
            <a:r>
              <a:rPr lang="zh-CN" altLang="en-US" sz="2400" b="1" i="1" smtClean="0"/>
              <a:t>ｘ</a:t>
            </a:r>
            <a:r>
              <a:rPr lang="zh-CN" altLang="en-US" sz="2400" b="1" smtClean="0"/>
              <a:t>和</a:t>
            </a:r>
            <a:r>
              <a:rPr lang="zh-CN" altLang="en-US" sz="2400" b="1" i="1" smtClean="0"/>
              <a:t>ｙ</a:t>
            </a:r>
            <a:r>
              <a:rPr lang="en-US" altLang="zh-CN" sz="2400" b="1" smtClean="0"/>
              <a:t>,  </a:t>
            </a:r>
            <a:r>
              <a:rPr lang="zh-CN" altLang="en-US" sz="2400" b="1" smtClean="0"/>
              <a:t>它们分别为</a:t>
            </a:r>
            <a:r>
              <a:rPr lang="en-US" altLang="zh-CN" sz="2400" b="1" smtClean="0"/>
              <a:t>:</a:t>
            </a:r>
          </a:p>
        </p:txBody>
      </p:sp>
      <p:sp>
        <p:nvSpPr>
          <p:cNvPr id="132099" name="Rectangle 3"/>
          <p:cNvSpPr>
            <a:spLocks noChangeArrowheads="1"/>
          </p:cNvSpPr>
          <p:nvPr/>
        </p:nvSpPr>
        <p:spPr bwMode="auto">
          <a:xfrm>
            <a:off x="228600" y="304800"/>
            <a:ext cx="5724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浮点加、减法运算</a:t>
            </a:r>
          </a:p>
        </p:txBody>
      </p:sp>
      <p:sp>
        <p:nvSpPr>
          <p:cNvPr id="132100" name="Text Box 6"/>
          <p:cNvSpPr txBox="1">
            <a:spLocks noChangeArrowheads="1"/>
          </p:cNvSpPr>
          <p:nvPr/>
        </p:nvSpPr>
        <p:spPr bwMode="auto">
          <a:xfrm>
            <a:off x="228600" y="2476500"/>
            <a:ext cx="8610600" cy="206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 dirty="0">
                <a:latin typeface="Times New Roman" pitchFamily="18" charset="0"/>
              </a:rPr>
              <a:t>     </a:t>
            </a:r>
            <a:r>
              <a:rPr lang="zh-CN" altLang="en-US" dirty="0">
                <a:latin typeface="Times New Roman" pitchFamily="18" charset="0"/>
              </a:rPr>
              <a:t>其中 </a:t>
            </a:r>
            <a:r>
              <a:rPr lang="en-US" altLang="zh-CN" dirty="0">
                <a:latin typeface="Times New Roman" pitchFamily="18" charset="0"/>
              </a:rPr>
              <a:t>E</a:t>
            </a:r>
            <a:r>
              <a:rPr lang="en-US" altLang="zh-CN" baseline="-25000" dirty="0">
                <a:latin typeface="Times New Roman" pitchFamily="18" charset="0"/>
              </a:rPr>
              <a:t>x </a:t>
            </a:r>
            <a:r>
              <a:rPr lang="zh-CN" altLang="en-US" dirty="0">
                <a:latin typeface="Times New Roman" pitchFamily="18" charset="0"/>
              </a:rPr>
              <a:t>和 </a:t>
            </a:r>
            <a:r>
              <a:rPr lang="en-US" altLang="zh-CN" dirty="0" err="1">
                <a:latin typeface="Times New Roman" pitchFamily="18" charset="0"/>
              </a:rPr>
              <a:t>E</a:t>
            </a:r>
            <a:r>
              <a:rPr lang="en-US" altLang="zh-CN" baseline="-25000" dirty="0" err="1">
                <a:latin typeface="Times New Roman" pitchFamily="18" charset="0"/>
              </a:rPr>
              <a:t>y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分别为数ｘ和ｙ的阶码，</a:t>
            </a:r>
          </a:p>
          <a:p>
            <a:pPr eaLnBrk="1" hangingPunct="1">
              <a:spcBef>
                <a:spcPct val="20000"/>
              </a:spcBef>
            </a:pPr>
            <a:r>
              <a:rPr lang="zh-CN" altLang="en-US" dirty="0">
                <a:latin typeface="Times New Roman" pitchFamily="18" charset="0"/>
              </a:rPr>
              <a:t>              </a:t>
            </a:r>
            <a:r>
              <a:rPr lang="en-US" altLang="zh-CN" dirty="0" err="1">
                <a:latin typeface="Times New Roman" pitchFamily="18" charset="0"/>
              </a:rPr>
              <a:t>M</a:t>
            </a:r>
            <a:r>
              <a:rPr lang="en-US" altLang="zh-CN" baseline="-25000" dirty="0" err="1">
                <a:latin typeface="Times New Roman" pitchFamily="18" charset="0"/>
              </a:rPr>
              <a:t>x</a:t>
            </a:r>
            <a:r>
              <a:rPr lang="en-US" altLang="zh-CN" baseline="-25000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和 </a:t>
            </a:r>
            <a:r>
              <a:rPr lang="en-US" altLang="zh-CN" dirty="0">
                <a:latin typeface="Times New Roman" pitchFamily="18" charset="0"/>
              </a:rPr>
              <a:t>M</a:t>
            </a:r>
            <a:r>
              <a:rPr lang="en-US" altLang="zh-CN" baseline="-25000" dirty="0">
                <a:latin typeface="Times New Roman" pitchFamily="18" charset="0"/>
              </a:rPr>
              <a:t>y</a:t>
            </a:r>
            <a:r>
              <a:rPr lang="zh-CN" altLang="en-US" dirty="0">
                <a:latin typeface="Times New Roman" pitchFamily="18" charset="0"/>
              </a:rPr>
              <a:t>为数ｘ和ｙ的尾数。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lang="zh-CN" altLang="en-US" dirty="0">
                <a:latin typeface="Times New Roman" pitchFamily="18" charset="0"/>
              </a:rPr>
              <a:t>     两浮点数进行加法和减法的运算规则是</a:t>
            </a:r>
            <a:r>
              <a:rPr lang="en-US" altLang="zh-CN" dirty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30000"/>
              </a:lnSpc>
              <a:spcBef>
                <a:spcPct val="20000"/>
              </a:spcBef>
            </a:pPr>
            <a:endParaRPr lang="en-US" altLang="zh-CN" dirty="0">
              <a:latin typeface="Times New Roman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                    </a:t>
            </a:r>
            <a:r>
              <a:rPr lang="zh-CN" altLang="en-US" dirty="0">
                <a:solidFill>
                  <a:srgbClr val="6600FF"/>
                </a:solidFill>
                <a:latin typeface="Times New Roman" pitchFamily="18" charset="0"/>
              </a:rPr>
              <a:t>ｘ</a:t>
            </a: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±</a:t>
            </a:r>
            <a:r>
              <a:rPr lang="zh-CN" altLang="en-US" dirty="0">
                <a:solidFill>
                  <a:srgbClr val="6600FF"/>
                </a:solidFill>
                <a:latin typeface="Times New Roman" pitchFamily="18" charset="0"/>
              </a:rPr>
              <a:t>ｙ＝</a:t>
            </a: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(M</a:t>
            </a:r>
            <a:r>
              <a:rPr lang="en-US" altLang="zh-CN" baseline="-30000" dirty="0">
                <a:solidFill>
                  <a:srgbClr val="6600FF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2</a:t>
            </a:r>
            <a:r>
              <a:rPr lang="en-US" altLang="zh-CN" baseline="30000" dirty="0">
                <a:solidFill>
                  <a:srgbClr val="6600FF"/>
                </a:solidFill>
                <a:latin typeface="Times New Roman" pitchFamily="18" charset="0"/>
              </a:rPr>
              <a:t>Ex</a:t>
            </a:r>
            <a:r>
              <a:rPr lang="zh-CN" altLang="en-US" baseline="30000" dirty="0">
                <a:solidFill>
                  <a:srgbClr val="6600FF"/>
                </a:solidFill>
                <a:latin typeface="Times New Roman" pitchFamily="18" charset="0"/>
              </a:rPr>
              <a:t>－</a:t>
            </a:r>
            <a:r>
              <a:rPr lang="en-US" altLang="zh-CN" baseline="30000" dirty="0" err="1">
                <a:solidFill>
                  <a:srgbClr val="6600FF"/>
                </a:solidFill>
                <a:latin typeface="Times New Roman" pitchFamily="18" charset="0"/>
              </a:rPr>
              <a:t>Ey</a:t>
            </a:r>
            <a:r>
              <a:rPr lang="en-US" altLang="zh-CN" dirty="0" err="1">
                <a:solidFill>
                  <a:srgbClr val="6600FF"/>
                </a:solidFill>
                <a:latin typeface="Times New Roman" pitchFamily="18" charset="0"/>
              </a:rPr>
              <a:t>±M</a:t>
            </a:r>
            <a:r>
              <a:rPr lang="en-US" altLang="zh-CN" baseline="-30000" dirty="0" err="1">
                <a:solidFill>
                  <a:srgbClr val="6600FF"/>
                </a:solidFill>
                <a:latin typeface="Times New Roman" pitchFamily="18" charset="0"/>
              </a:rPr>
              <a:t>y</a:t>
            </a: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)2</a:t>
            </a:r>
            <a:r>
              <a:rPr lang="en-US" altLang="zh-CN" baseline="30000" dirty="0">
                <a:solidFill>
                  <a:srgbClr val="6600FF"/>
                </a:solidFill>
                <a:latin typeface="Times New Roman" pitchFamily="18" charset="0"/>
              </a:rPr>
              <a:t>Ey          </a:t>
            </a: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E</a:t>
            </a:r>
            <a:r>
              <a:rPr lang="en-US" altLang="zh-CN" baseline="-25000" dirty="0">
                <a:solidFill>
                  <a:srgbClr val="6600FF"/>
                </a:solidFill>
                <a:latin typeface="Times New Roman" pitchFamily="18" charset="0"/>
              </a:rPr>
              <a:t>x </a:t>
            </a:r>
            <a:r>
              <a:rPr lang="en-US" altLang="zh-CN" dirty="0">
                <a:solidFill>
                  <a:srgbClr val="6600FF"/>
                </a:solidFill>
                <a:latin typeface="Times New Roman" pitchFamily="18" charset="0"/>
              </a:rPr>
              <a:t>&lt;= </a:t>
            </a:r>
            <a:r>
              <a:rPr lang="en-US" altLang="zh-CN" dirty="0" err="1">
                <a:solidFill>
                  <a:srgbClr val="6600FF"/>
                </a:solidFill>
                <a:latin typeface="Times New Roman" pitchFamily="18" charset="0"/>
              </a:rPr>
              <a:t>E</a:t>
            </a:r>
            <a:r>
              <a:rPr lang="en-US" altLang="zh-CN" baseline="-25000" dirty="0" err="1">
                <a:solidFill>
                  <a:srgbClr val="6600FF"/>
                </a:solidFill>
                <a:latin typeface="Times New Roman" pitchFamily="18" charset="0"/>
              </a:rPr>
              <a:t>y</a:t>
            </a:r>
            <a:r>
              <a:rPr lang="zh-CN" altLang="en-US" dirty="0">
                <a:solidFill>
                  <a:srgbClr val="6600FF"/>
                </a:solidFill>
                <a:latin typeface="Times New Roman" pitchFamily="18" charset="0"/>
              </a:rPr>
              <a:t>　　</a:t>
            </a:r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132101" name="Rectangle 7"/>
          <p:cNvSpPr>
            <a:spLocks noChangeArrowheads="1"/>
          </p:cNvSpPr>
          <p:nvPr/>
        </p:nvSpPr>
        <p:spPr bwMode="auto">
          <a:xfrm>
            <a:off x="1625600" y="1358900"/>
            <a:ext cx="4572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ｘ＝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Ex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· M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ｘ</a:t>
            </a:r>
            <a:endParaRPr lang="zh-CN" altLang="en-US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        ｙ＝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Ey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· M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ｙ</a:t>
            </a:r>
          </a:p>
        </p:txBody>
      </p:sp>
    </p:spTree>
    <p:extLst>
      <p:ext uri="{BB962C8B-B14F-4D97-AF65-F5344CB8AC3E}">
        <p14:creationId xmlns:p14="http://schemas.microsoft.com/office/powerpoint/2010/main" val="990724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762000"/>
            <a:ext cx="7620000" cy="609600"/>
          </a:xfrm>
          <a:noFill/>
        </p:spPr>
        <p:txBody>
          <a:bodyPr/>
          <a:lstStyle/>
          <a:p>
            <a:pPr marL="609600" indent="-609600" eaLnBrk="1" hangingPunct="1">
              <a:buFont typeface="Wingdings" pitchFamily="2" charset="2"/>
              <a:buNone/>
            </a:pPr>
            <a:r>
              <a:rPr lang="zh-CN" altLang="en-US" sz="2400" b="1" smtClean="0">
                <a:solidFill>
                  <a:schemeClr val="hlink"/>
                </a:solidFill>
              </a:rPr>
              <a:t>完成浮点加减运算的操作过程大体分为四步：</a:t>
            </a:r>
          </a:p>
        </p:txBody>
      </p:sp>
      <p:sp>
        <p:nvSpPr>
          <p:cNvPr id="133123" name="Rectangle 3"/>
          <p:cNvSpPr>
            <a:spLocks noChangeArrowheads="1"/>
          </p:cNvSpPr>
          <p:nvPr/>
        </p:nvSpPr>
        <p:spPr bwMode="auto">
          <a:xfrm>
            <a:off x="609600" y="1524000"/>
            <a:ext cx="3065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(1)  0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操作数的检查；</a:t>
            </a:r>
          </a:p>
        </p:txBody>
      </p:sp>
      <p:sp>
        <p:nvSpPr>
          <p:cNvPr id="133124" name="Rectangle 4"/>
          <p:cNvSpPr>
            <a:spLocks noChangeArrowheads="1"/>
          </p:cNvSpPr>
          <p:nvPr/>
        </p:nvSpPr>
        <p:spPr bwMode="auto">
          <a:xfrm>
            <a:off x="609600" y="2057400"/>
            <a:ext cx="4292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(2) 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比较阶码大小并完成对阶；</a:t>
            </a:r>
          </a:p>
        </p:txBody>
      </p:sp>
      <p:sp>
        <p:nvSpPr>
          <p:cNvPr id="133125" name="Rectangle 5"/>
          <p:cNvSpPr>
            <a:spLocks noChangeArrowheads="1"/>
          </p:cNvSpPr>
          <p:nvPr/>
        </p:nvSpPr>
        <p:spPr bwMode="auto">
          <a:xfrm>
            <a:off x="615950" y="2576513"/>
            <a:ext cx="367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尾数进行加或减运算；</a:t>
            </a:r>
          </a:p>
        </p:txBody>
      </p:sp>
      <p:sp>
        <p:nvSpPr>
          <p:cNvPr id="133126" name="Rectangle 6"/>
          <p:cNvSpPr>
            <a:spLocks noChangeArrowheads="1"/>
          </p:cNvSpPr>
          <p:nvPr/>
        </p:nvSpPr>
        <p:spPr bwMode="auto">
          <a:xfrm>
            <a:off x="609600" y="3109913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(4)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结果规格化。</a:t>
            </a:r>
          </a:p>
        </p:txBody>
      </p:sp>
      <p:sp>
        <p:nvSpPr>
          <p:cNvPr id="133127" name="Rectangle 11"/>
          <p:cNvSpPr>
            <a:spLocks noChangeArrowheads="1"/>
          </p:cNvSpPr>
          <p:nvPr/>
        </p:nvSpPr>
        <p:spPr bwMode="auto">
          <a:xfrm>
            <a:off x="609600" y="3657600"/>
            <a:ext cx="2147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(5)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舍入处理。</a:t>
            </a:r>
          </a:p>
        </p:txBody>
      </p:sp>
      <p:sp>
        <p:nvSpPr>
          <p:cNvPr id="133128" name="Text Box 12"/>
          <p:cNvSpPr txBox="1">
            <a:spLocks noChangeArrowheads="1"/>
          </p:cNvSpPr>
          <p:nvPr/>
        </p:nvSpPr>
        <p:spPr bwMode="auto">
          <a:xfrm>
            <a:off x="533400" y="4267200"/>
            <a:ext cx="3408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3333FF"/>
                </a:solidFill>
                <a:latin typeface="宋体" charset="-122"/>
              </a:rPr>
              <a:t>(6)</a:t>
            </a:r>
            <a:r>
              <a:rPr lang="zh-CN" altLang="en-US">
                <a:solidFill>
                  <a:srgbClr val="3333FF"/>
                </a:solidFill>
                <a:latin typeface="宋体" charset="-122"/>
              </a:rPr>
              <a:t>溢出处理。</a:t>
            </a:r>
            <a:endParaRPr lang="zh-CN" altLang="en-US">
              <a:solidFill>
                <a:srgbClr val="000000"/>
              </a:solidFill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0609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65100" y="1617663"/>
            <a:ext cx="8686800" cy="3430587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/>
              <a:t>   </a:t>
            </a:r>
            <a:r>
              <a:rPr lang="zh-CN" altLang="en-US" sz="2400" b="1" smtClean="0"/>
              <a:t>使二数阶码相同（即小数点位置对齐），这个过程叫作</a:t>
            </a:r>
            <a:r>
              <a:rPr lang="zh-CN" altLang="en-US" sz="2400" b="1" smtClean="0">
                <a:solidFill>
                  <a:srgbClr val="FF0000"/>
                </a:solidFill>
              </a:rPr>
              <a:t>对阶</a:t>
            </a:r>
            <a:r>
              <a:rPr lang="zh-CN" altLang="en-US" sz="2400" b="1" smtClean="0"/>
              <a:t>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sz="2400" b="1" smtClean="0">
                <a:solidFill>
                  <a:srgbClr val="0000FF"/>
                </a:solidFill>
                <a:latin typeface="宋体" charset="-122"/>
              </a:rPr>
              <a:t> </a:t>
            </a:r>
            <a:r>
              <a:rPr lang="en-US" altLang="zh-CN" sz="2400" b="1" smtClean="0">
                <a:solidFill>
                  <a:srgbClr val="FF0000"/>
                </a:solidFill>
                <a:latin typeface="Times New Roman" pitchFamily="18" charset="0"/>
              </a:rPr>
              <a:t>•</a:t>
            </a: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b="1" smtClean="0">
                <a:solidFill>
                  <a:srgbClr val="FF0000"/>
                </a:solidFill>
                <a:latin typeface="宋体" charset="-122"/>
              </a:rPr>
              <a:t>先</a:t>
            </a:r>
            <a:r>
              <a:rPr lang="zh-CN" altLang="en-US" sz="2400" b="1" smtClean="0">
                <a:solidFill>
                  <a:srgbClr val="FF0000"/>
                </a:solidFill>
              </a:rPr>
              <a:t>求两数阶码 </a:t>
            </a:r>
            <a:r>
              <a:rPr lang="en-US" altLang="zh-CN" sz="2400" b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x </a:t>
            </a:r>
            <a:r>
              <a:rPr lang="zh-CN" altLang="en-US" sz="2400" b="1" smtClean="0">
                <a:solidFill>
                  <a:srgbClr val="FF0000"/>
                </a:solidFill>
              </a:rPr>
              <a:t>和 </a:t>
            </a:r>
            <a:r>
              <a:rPr lang="en-US" altLang="zh-CN" sz="2400" b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y</a:t>
            </a:r>
            <a:r>
              <a:rPr lang="zh-CN" altLang="en-US" sz="2400" b="1" smtClean="0">
                <a:solidFill>
                  <a:srgbClr val="FF0000"/>
                </a:solidFill>
              </a:rPr>
              <a:t>之差，即△</a:t>
            </a:r>
            <a:r>
              <a:rPr lang="en-US" altLang="zh-CN" sz="2400" b="1" smtClean="0">
                <a:solidFill>
                  <a:srgbClr val="FF0000"/>
                </a:solidFill>
              </a:rPr>
              <a:t>E = 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x</a:t>
            </a:r>
            <a:r>
              <a:rPr lang="zh-CN" altLang="en-US" sz="2400" b="1" smtClean="0">
                <a:solidFill>
                  <a:srgbClr val="FF0000"/>
                </a:solidFill>
              </a:rPr>
              <a:t>－</a:t>
            </a:r>
            <a:r>
              <a:rPr lang="en-US" altLang="zh-CN" sz="2400" b="1" smtClean="0">
                <a:solidFill>
                  <a:srgbClr val="FF0000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FF0000"/>
                </a:solidFill>
              </a:rPr>
              <a:t>y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  </a:t>
            </a:r>
            <a:r>
              <a:rPr lang="zh-CN" altLang="en-US" sz="2400" b="1" smtClean="0">
                <a:solidFill>
                  <a:srgbClr val="0000FF"/>
                </a:solidFill>
                <a:latin typeface="宋体" charset="-122"/>
              </a:rPr>
              <a:t>若△</a:t>
            </a:r>
            <a:r>
              <a:rPr lang="en-US" altLang="zh-CN" sz="2400" b="1" smtClean="0">
                <a:solidFill>
                  <a:srgbClr val="0000FF"/>
                </a:solidFill>
              </a:rPr>
              <a:t>E = 0</a:t>
            </a:r>
            <a:r>
              <a:rPr lang="zh-CN" altLang="en-US" sz="2400" b="1" smtClean="0">
                <a:solidFill>
                  <a:srgbClr val="0000FF"/>
                </a:solidFill>
                <a:latin typeface="宋体" charset="-122"/>
              </a:rPr>
              <a:t>，</a:t>
            </a:r>
            <a:r>
              <a:rPr lang="zh-CN" altLang="en-US" sz="2400" b="1" smtClean="0">
                <a:latin typeface="宋体" charset="-122"/>
              </a:rPr>
              <a:t>表示</a:t>
            </a:r>
            <a:r>
              <a:rPr lang="zh-CN" altLang="en-US" sz="2400" b="1" smtClean="0">
                <a:solidFill>
                  <a:srgbClr val="0000FF"/>
                </a:solidFill>
                <a:latin typeface="宋体" charset="-122"/>
              </a:rPr>
              <a:t>  </a:t>
            </a:r>
            <a:r>
              <a:rPr lang="en-US" altLang="zh-CN" sz="2400" b="1" smtClean="0">
                <a:solidFill>
                  <a:srgbClr val="0000FF"/>
                </a:solidFill>
              </a:rPr>
              <a:t>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x</a:t>
            </a:r>
            <a:r>
              <a:rPr lang="en-US" altLang="zh-CN" sz="2400" b="1" smtClean="0">
                <a:solidFill>
                  <a:srgbClr val="0000FF"/>
                </a:solidFill>
              </a:rPr>
              <a:t>=E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y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FF"/>
                </a:solidFill>
                <a:latin typeface="宋体" charset="-122"/>
              </a:rPr>
              <a:t>  </a:t>
            </a:r>
            <a:r>
              <a:rPr lang="zh-CN" altLang="en-US" sz="2400" b="1" smtClean="0">
                <a:solidFill>
                  <a:srgbClr val="0000FF"/>
                </a:solidFill>
                <a:latin typeface="宋体" charset="-122"/>
              </a:rPr>
              <a:t>若△</a:t>
            </a:r>
            <a:r>
              <a:rPr lang="en-US" altLang="zh-CN" sz="2400" b="1" smtClean="0">
                <a:solidFill>
                  <a:srgbClr val="0000FF"/>
                </a:solidFill>
              </a:rPr>
              <a:t>E &gt; 0,               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x</a:t>
            </a:r>
            <a:r>
              <a:rPr lang="en-US" altLang="zh-CN" sz="2400" b="1" smtClean="0">
                <a:solidFill>
                  <a:srgbClr val="0000FF"/>
                </a:solidFill>
              </a:rPr>
              <a:t>&gt;E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y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FF"/>
                </a:solidFill>
                <a:latin typeface="宋体" charset="-122"/>
              </a:rPr>
              <a:t>  </a:t>
            </a:r>
            <a:r>
              <a:rPr lang="zh-CN" altLang="en-US" sz="2400" b="1" smtClean="0">
                <a:solidFill>
                  <a:srgbClr val="0000FF"/>
                </a:solidFill>
                <a:latin typeface="宋体" charset="-122"/>
              </a:rPr>
              <a:t>若△</a:t>
            </a:r>
            <a:r>
              <a:rPr lang="en-US" altLang="zh-CN" sz="2400" b="1" smtClean="0">
                <a:solidFill>
                  <a:srgbClr val="0000FF"/>
                </a:solidFill>
              </a:rPr>
              <a:t>E &lt; 0,               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x</a:t>
            </a:r>
            <a:r>
              <a:rPr lang="en-US" altLang="zh-CN" sz="2400" b="1" smtClean="0">
                <a:solidFill>
                  <a:srgbClr val="0000FF"/>
                </a:solidFill>
              </a:rPr>
              <a:t>&lt;E</a:t>
            </a:r>
            <a:r>
              <a:rPr lang="en-US" altLang="zh-CN" sz="2400" b="1" baseline="-25000" smtClean="0">
                <a:solidFill>
                  <a:srgbClr val="0000FF"/>
                </a:solidFill>
              </a:rPr>
              <a:t>y</a:t>
            </a:r>
          </a:p>
        </p:txBody>
      </p:sp>
      <p:grpSp>
        <p:nvGrpSpPr>
          <p:cNvPr id="134147" name="Group 3"/>
          <p:cNvGrpSpPr>
            <a:grpSpLocks/>
          </p:cNvGrpSpPr>
          <p:nvPr/>
        </p:nvGrpSpPr>
        <p:grpSpPr bwMode="auto">
          <a:xfrm>
            <a:off x="4529138" y="3216275"/>
            <a:ext cx="3776662" cy="822325"/>
            <a:chOff x="3216" y="2229"/>
            <a:chExt cx="2379" cy="518"/>
          </a:xfrm>
        </p:grpSpPr>
        <p:sp>
          <p:nvSpPr>
            <p:cNvPr id="134151" name="Rectangle 4"/>
            <p:cNvSpPr>
              <a:spLocks noChangeArrowheads="1"/>
            </p:cNvSpPr>
            <p:nvPr/>
          </p:nvSpPr>
          <p:spPr bwMode="auto">
            <a:xfrm>
              <a:off x="3387" y="2229"/>
              <a:ext cx="2208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>
                  <a:solidFill>
                    <a:srgbClr val="000000"/>
                  </a:solidFill>
                  <a:latin typeface="宋体" charset="-122"/>
                </a:rPr>
                <a:t>通过尾数的移动来改变</a:t>
              </a:r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x</a:t>
              </a:r>
              <a:r>
                <a:rPr lang="zh-CN" altLang="en-US">
                  <a:solidFill>
                    <a:srgbClr val="000000"/>
                  </a:solidFill>
                  <a:latin typeface="宋体" charset="-122"/>
                </a:rPr>
                <a:t>或</a:t>
              </a:r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r>
                <a:rPr lang="en-US" altLang="zh-CN" baseline="-25000">
                  <a:solidFill>
                    <a:srgbClr val="000000"/>
                  </a:solidFill>
                  <a:latin typeface="Times New Roman" pitchFamily="18" charset="0"/>
                </a:rPr>
                <a:t>y</a:t>
              </a:r>
              <a:r>
                <a:rPr lang="zh-CN" altLang="en-US">
                  <a:solidFill>
                    <a:srgbClr val="000000"/>
                  </a:solidFill>
                  <a:latin typeface="Times New Roman" pitchFamily="18" charset="0"/>
                </a:rPr>
                <a:t>，</a:t>
              </a:r>
              <a:r>
                <a:rPr lang="zh-CN" altLang="en-US">
                  <a:solidFill>
                    <a:srgbClr val="000000"/>
                  </a:solidFill>
                  <a:latin typeface="宋体" charset="-122"/>
                </a:rPr>
                <a:t>使其相等</a:t>
              </a:r>
              <a:r>
                <a:rPr lang="en-US" altLang="zh-CN">
                  <a:solidFill>
                    <a:srgbClr val="000000"/>
                  </a:solidFill>
                  <a:latin typeface="Times New Roman" pitchFamily="18" charset="0"/>
                </a:rPr>
                <a:t>.</a:t>
              </a:r>
            </a:p>
          </p:txBody>
        </p:sp>
        <p:sp>
          <p:nvSpPr>
            <p:cNvPr id="134152" name="AutoShape 5"/>
            <p:cNvSpPr>
              <a:spLocks/>
            </p:cNvSpPr>
            <p:nvPr/>
          </p:nvSpPr>
          <p:spPr bwMode="auto">
            <a:xfrm>
              <a:off x="3216" y="2304"/>
              <a:ext cx="192" cy="432"/>
            </a:xfrm>
            <a:prstGeom prst="leftBrace">
              <a:avLst>
                <a:gd name="adj1" fmla="val 18750"/>
                <a:gd name="adj2" fmla="val 50000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148" name="Text Box 6"/>
          <p:cNvSpPr txBox="1">
            <a:spLocks noChangeArrowheads="1"/>
          </p:cNvSpPr>
          <p:nvPr/>
        </p:nvSpPr>
        <p:spPr bwMode="auto">
          <a:xfrm>
            <a:off x="381000" y="4495800"/>
            <a:ext cx="84645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对阶原则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宋体" charset="-122"/>
              </a:rPr>
              <a:t>   阶码小的数向阶码大的数对齐；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宋体" charset="-122"/>
              </a:rPr>
              <a:t>   小阶的尾数右移，每右移一位</a:t>
            </a:r>
            <a:r>
              <a:rPr lang="en-US" altLang="zh-CN">
                <a:latin typeface="宋体" charset="-122"/>
              </a:rPr>
              <a:t>,</a:t>
            </a:r>
            <a:r>
              <a:rPr lang="zh-CN" altLang="en-US">
                <a:latin typeface="宋体" charset="-122"/>
              </a:rPr>
              <a:t>其阶码加</a:t>
            </a:r>
            <a:r>
              <a:rPr lang="en-US" altLang="zh-CN">
                <a:latin typeface="宋体" charset="-122"/>
              </a:rPr>
              <a:t>1</a:t>
            </a:r>
            <a:r>
              <a:rPr lang="en-US" altLang="zh-CN">
                <a:solidFill>
                  <a:schemeClr val="hlink"/>
                </a:solidFill>
                <a:latin typeface="宋体" charset="-122"/>
              </a:rPr>
              <a:t>(</a:t>
            </a:r>
            <a:r>
              <a:rPr lang="zh-CN" altLang="en-US">
                <a:solidFill>
                  <a:schemeClr val="hlink"/>
                </a:solidFill>
                <a:latin typeface="宋体" charset="-122"/>
              </a:rPr>
              <a:t>右</a:t>
            </a: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规</a:t>
            </a:r>
            <a:r>
              <a:rPr lang="en-US" altLang="zh-CN">
                <a:solidFill>
                  <a:schemeClr val="hlink"/>
                </a:solidFill>
                <a:latin typeface="宋体" charset="-122"/>
              </a:rPr>
              <a:t>)</a:t>
            </a:r>
            <a:r>
              <a:rPr lang="zh-CN" altLang="en-US">
                <a:latin typeface="宋体" charset="-122"/>
              </a:rPr>
              <a:t>。</a:t>
            </a:r>
          </a:p>
        </p:txBody>
      </p:sp>
      <p:sp>
        <p:nvSpPr>
          <p:cNvPr id="134149" name="Rectangle 10"/>
          <p:cNvSpPr>
            <a:spLocks noChangeArrowheads="1"/>
          </p:cNvSpPr>
          <p:nvPr/>
        </p:nvSpPr>
        <p:spPr bwMode="auto">
          <a:xfrm>
            <a:off x="381000" y="914400"/>
            <a:ext cx="1228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(2)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对阶</a:t>
            </a:r>
          </a:p>
        </p:txBody>
      </p:sp>
      <p:sp>
        <p:nvSpPr>
          <p:cNvPr id="134150" name="Text Box 11"/>
          <p:cNvSpPr txBox="1">
            <a:spLocks noChangeArrowheads="1"/>
          </p:cNvSpPr>
          <p:nvPr/>
        </p:nvSpPr>
        <p:spPr bwMode="auto">
          <a:xfrm>
            <a:off x="304800" y="228600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(1)  0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操作数检查</a:t>
            </a:r>
            <a:r>
              <a:rPr lang="zh-CN" altLang="en-US">
                <a:latin typeface="Times New Roman" pitchFamily="18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03665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533400"/>
            <a:ext cx="8589963" cy="609600"/>
          </a:xfrm>
          <a:noFill/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smtClean="0">
                <a:solidFill>
                  <a:srgbClr val="0066FF"/>
                </a:solidFill>
              </a:rPr>
              <a:t>例</a:t>
            </a:r>
            <a:r>
              <a:rPr lang="en-US" altLang="zh-CN" sz="2400" b="1" smtClean="0">
                <a:solidFill>
                  <a:srgbClr val="0066FF"/>
                </a:solidFill>
              </a:rPr>
              <a:t>:  x=2</a:t>
            </a:r>
            <a:r>
              <a:rPr lang="en-US" altLang="zh-CN" sz="2400" b="1" baseline="30000" smtClean="0">
                <a:solidFill>
                  <a:srgbClr val="0066FF"/>
                </a:solidFill>
              </a:rPr>
              <a:t>01</a:t>
            </a:r>
            <a:r>
              <a:rPr lang="en-US" altLang="zh-CN" sz="2400" b="1" smtClean="0">
                <a:solidFill>
                  <a:srgbClr val="0066FF"/>
                </a:solidFill>
              </a:rPr>
              <a:t>×0.1101,  y=2</a:t>
            </a:r>
            <a:r>
              <a:rPr lang="en-US" altLang="zh-CN" sz="2400" b="1" baseline="30000" smtClean="0">
                <a:solidFill>
                  <a:srgbClr val="0066FF"/>
                </a:solidFill>
              </a:rPr>
              <a:t>11</a:t>
            </a:r>
            <a:r>
              <a:rPr lang="en-US" altLang="zh-CN" sz="2400" b="1" smtClean="0">
                <a:solidFill>
                  <a:srgbClr val="0066FF"/>
                </a:solidFill>
              </a:rPr>
              <a:t>×(-0.1010),   </a:t>
            </a:r>
            <a:r>
              <a:rPr lang="zh-CN" altLang="en-US" sz="2400" b="1" smtClean="0">
                <a:solidFill>
                  <a:srgbClr val="0066FF"/>
                </a:solidFill>
              </a:rPr>
              <a:t>求</a:t>
            </a:r>
            <a:r>
              <a:rPr lang="en-US" altLang="zh-CN" sz="2400" b="1" smtClean="0">
                <a:solidFill>
                  <a:srgbClr val="0066FF"/>
                </a:solidFill>
              </a:rPr>
              <a:t>x+y=?</a:t>
            </a:r>
          </a:p>
        </p:txBody>
      </p:sp>
      <p:sp>
        <p:nvSpPr>
          <p:cNvPr id="135171" name="Text Box 3"/>
          <p:cNvSpPr txBox="1">
            <a:spLocks noChangeArrowheads="1"/>
          </p:cNvSpPr>
          <p:nvPr/>
        </p:nvSpPr>
        <p:spPr bwMode="auto">
          <a:xfrm>
            <a:off x="190500" y="1192213"/>
            <a:ext cx="8589963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解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：为便于直观了解，两数均以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  <a:ea typeface="黑体" pitchFamily="2" charset="-122"/>
              </a:rPr>
              <a:t>补码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表示，阶码、尾数均采用</a:t>
            </a: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       双符号位。</a:t>
            </a:r>
          </a:p>
          <a:p>
            <a:pPr algn="just" eaLnBrk="1" hangingPunct="1">
              <a:lnSpc>
                <a:spcPct val="20000"/>
              </a:lnSpc>
              <a:spcBef>
                <a:spcPct val="20000"/>
              </a:spcBef>
            </a:pPr>
            <a:endParaRPr lang="zh-CN" altLang="en-US">
              <a:solidFill>
                <a:srgbClr val="000000"/>
              </a:solidFill>
              <a:latin typeface="Times New Roman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ct val="20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01,   00.1101         [y]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11,   11.0110   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[△E]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 [ E</a:t>
            </a:r>
            <a:r>
              <a:rPr lang="en-US" altLang="zh-CN" baseline="-2500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[E</a:t>
            </a:r>
            <a:r>
              <a:rPr lang="en-US" altLang="zh-CN" baseline="-2500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 00 01+11 01 = 11 10    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△E = 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2,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表示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E</a:t>
            </a:r>
            <a:r>
              <a:rPr lang="en-US" altLang="zh-CN" baseline="-2500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比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E</a:t>
            </a:r>
            <a:r>
              <a:rPr lang="en-US" altLang="zh-CN" baseline="-25000">
                <a:solidFill>
                  <a:srgbClr val="FF0000"/>
                </a:solidFill>
                <a:latin typeface="Times New Roman" pitchFamily="18" charset="0"/>
              </a:rPr>
              <a:t>y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小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2,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因此将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的尾数右移两位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.</a:t>
            </a:r>
            <a:endParaRPr lang="en-US" altLang="zh-CN">
              <a:solidFill>
                <a:srgbClr val="3333FF"/>
              </a:solidFill>
              <a:latin typeface="Times New Roman" pitchFamily="18" charset="0"/>
            </a:endParaRP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3333FF"/>
                </a:solidFill>
                <a:latin typeface="Times New Roman" pitchFamily="18" charset="0"/>
              </a:rPr>
              <a:t>     </a:t>
            </a:r>
            <a:r>
              <a:rPr lang="zh-CN" altLang="en-US">
                <a:solidFill>
                  <a:srgbClr val="3333FF"/>
                </a:solidFill>
                <a:latin typeface="Times New Roman" pitchFamily="18" charset="0"/>
              </a:rPr>
              <a:t>右移一位</a:t>
            </a:r>
            <a:r>
              <a:rPr lang="en-US" altLang="zh-CN">
                <a:solidFill>
                  <a:srgbClr val="3333FF"/>
                </a:solidFill>
                <a:latin typeface="Times New Roman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得 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10,   00.0110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zh-CN" altLang="en-US">
                <a:solidFill>
                  <a:srgbClr val="3333FF"/>
                </a:solidFill>
                <a:latin typeface="Times New Roman" pitchFamily="18" charset="0"/>
              </a:rPr>
              <a:t>再右移一位</a:t>
            </a:r>
            <a:r>
              <a:rPr lang="en-US" altLang="zh-CN">
                <a:solidFill>
                  <a:srgbClr val="3333FF"/>
                </a:solidFill>
                <a:latin typeface="Times New Roman" pitchFamily="18" charset="0"/>
              </a:rPr>
              <a:t>,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得 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[x]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11,   00.0011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 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至此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, △E=0,      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对阶完毕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.</a:t>
            </a:r>
            <a:endParaRPr lang="en-US" altLang="zh-CN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446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47650" y="1235075"/>
            <a:ext cx="8658225" cy="4708525"/>
          </a:xfrm>
          <a:noFill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FF"/>
                </a:solidFill>
              </a:rPr>
              <a:t>   </a:t>
            </a:r>
            <a:r>
              <a:rPr lang="zh-CN" altLang="en-US" sz="2400" b="1" smtClean="0"/>
              <a:t>尾数求和方法与定点加减法运算完全一样。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smtClean="0">
                <a:solidFill>
                  <a:srgbClr val="FF0000"/>
                </a:solidFill>
                <a:latin typeface="宋体" charset="-122"/>
              </a:rPr>
              <a:t>  对阶完毕可得</a:t>
            </a: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:</a:t>
            </a: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 [x]</a:t>
            </a:r>
            <a:r>
              <a:rPr lang="zh-CN" altLang="en-US" sz="2400" b="1" baseline="-25000" smtClean="0">
                <a:solidFill>
                  <a:srgbClr val="000000"/>
                </a:solidFill>
                <a:latin typeface="宋体" charset="-122"/>
              </a:rPr>
              <a:t>补</a:t>
            </a: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=00 11, 00.0011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                [y]</a:t>
            </a:r>
            <a:r>
              <a:rPr lang="zh-CN" altLang="en-US" sz="2400" b="1" baseline="-25000" smtClean="0">
                <a:solidFill>
                  <a:srgbClr val="000000"/>
                </a:solidFill>
                <a:latin typeface="宋体" charset="-122"/>
              </a:rPr>
              <a:t>补</a:t>
            </a: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=00 11, 11.0110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b="1" smtClean="0">
                <a:solidFill>
                  <a:srgbClr val="FF0000"/>
                </a:solidFill>
                <a:latin typeface="宋体" charset="-122"/>
              </a:rPr>
              <a:t>对尾数求和</a:t>
            </a: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: </a:t>
            </a: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  00.0011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             + 11.0110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               11.1001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400" b="1" smtClean="0">
                <a:solidFill>
                  <a:srgbClr val="FF0000"/>
                </a:solidFill>
                <a:latin typeface="宋体" charset="-122"/>
              </a:rPr>
              <a:t>即得</a:t>
            </a:r>
            <a:r>
              <a:rPr lang="en-US" altLang="zh-CN" sz="2400" b="1" smtClean="0">
                <a:solidFill>
                  <a:srgbClr val="FF0000"/>
                </a:solidFill>
                <a:latin typeface="宋体" charset="-122"/>
              </a:rPr>
              <a:t>:</a:t>
            </a: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 [x+y]</a:t>
            </a:r>
            <a:r>
              <a:rPr lang="zh-CN" altLang="en-US" sz="2400" b="1" baseline="-25000" smtClean="0">
                <a:solidFill>
                  <a:srgbClr val="000000"/>
                </a:solidFill>
                <a:latin typeface="宋体" charset="-122"/>
              </a:rPr>
              <a:t>补</a:t>
            </a:r>
            <a:r>
              <a:rPr lang="en-US" altLang="zh-CN" sz="2400" b="1" smtClean="0">
                <a:solidFill>
                  <a:srgbClr val="000000"/>
                </a:solidFill>
                <a:latin typeface="宋体" charset="-122"/>
              </a:rPr>
              <a:t>=00 11, 11.1001</a:t>
            </a:r>
          </a:p>
        </p:txBody>
      </p:sp>
      <p:sp>
        <p:nvSpPr>
          <p:cNvPr id="136195" name="Line 3"/>
          <p:cNvSpPr>
            <a:spLocks noChangeShapeType="1"/>
          </p:cNvSpPr>
          <p:nvPr/>
        </p:nvSpPr>
        <p:spPr bwMode="auto">
          <a:xfrm>
            <a:off x="1974850" y="3935413"/>
            <a:ext cx="25765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6196" name="Rectangle 7"/>
          <p:cNvSpPr>
            <a:spLocks noChangeArrowheads="1"/>
          </p:cNvSpPr>
          <p:nvPr/>
        </p:nvSpPr>
        <p:spPr bwMode="auto">
          <a:xfrm>
            <a:off x="158750" y="690563"/>
            <a:ext cx="245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尾数求和运算</a:t>
            </a:r>
          </a:p>
        </p:txBody>
      </p:sp>
    </p:spTree>
    <p:extLst>
      <p:ext uri="{BB962C8B-B14F-4D97-AF65-F5344CB8AC3E}">
        <p14:creationId xmlns:p14="http://schemas.microsoft.com/office/powerpoint/2010/main" val="158207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2"/>
          <p:cNvSpPr txBox="1">
            <a:spLocks noChangeArrowheads="1"/>
          </p:cNvSpPr>
          <p:nvPr/>
        </p:nvSpPr>
        <p:spPr bwMode="auto">
          <a:xfrm>
            <a:off x="188913" y="695325"/>
            <a:ext cx="4678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(4)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结果规格化</a:t>
            </a:r>
          </a:p>
        </p:txBody>
      </p:sp>
      <p:sp>
        <p:nvSpPr>
          <p:cNvPr id="137219" name="Text Box 3"/>
          <p:cNvSpPr txBox="1">
            <a:spLocks noChangeArrowheads="1"/>
          </p:cNvSpPr>
          <p:nvPr/>
        </p:nvSpPr>
        <p:spPr bwMode="auto">
          <a:xfrm>
            <a:off x="201613" y="1065213"/>
            <a:ext cx="8728075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求和之后得到的数可能不是规格化了的数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为了增加有效数字的位数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提高运算精度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必须将求和的结果规格化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.</a:t>
            </a:r>
          </a:p>
          <a:p>
            <a:pPr algn="just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宋体" charset="-122"/>
              </a:rPr>
              <a:t> ①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规格化的定义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: 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                              </a:t>
            </a:r>
          </a:p>
        </p:txBody>
      </p:sp>
      <p:sp>
        <p:nvSpPr>
          <p:cNvPr id="137220" name="Rectangle 4"/>
          <p:cNvSpPr>
            <a:spLocks noChangeArrowheads="1"/>
          </p:cNvSpPr>
          <p:nvPr/>
        </p:nvSpPr>
        <p:spPr bwMode="auto">
          <a:xfrm>
            <a:off x="6278563" y="2063750"/>
            <a:ext cx="1614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solidFill>
                  <a:srgbClr val="000000"/>
                </a:solidFill>
                <a:latin typeface="宋体" charset="-122"/>
              </a:rPr>
              <a:t>(</a:t>
            </a:r>
            <a:r>
              <a:rPr lang="zh-CN" altLang="en-US" sz="2800">
                <a:solidFill>
                  <a:srgbClr val="000000"/>
                </a:solidFill>
                <a:latin typeface="宋体" charset="-122"/>
              </a:rPr>
              <a:t>二进制</a:t>
            </a:r>
            <a:r>
              <a:rPr lang="en-US" altLang="zh-CN" sz="2800">
                <a:solidFill>
                  <a:srgbClr val="000000"/>
                </a:solidFill>
                <a:latin typeface="宋体" charset="-122"/>
              </a:rPr>
              <a:t>)</a:t>
            </a:r>
          </a:p>
        </p:txBody>
      </p:sp>
      <p:graphicFrame>
        <p:nvGraphicFramePr>
          <p:cNvPr id="137221" name="Object 5"/>
          <p:cNvGraphicFramePr>
            <a:graphicFrameLocks noChangeAspect="1"/>
          </p:cNvGraphicFramePr>
          <p:nvPr/>
        </p:nvGraphicFramePr>
        <p:xfrm>
          <a:off x="3151188" y="1863725"/>
          <a:ext cx="215265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672808" imgH="406224" progId="Equation.3">
                  <p:embed/>
                </p:oleObj>
              </mc:Choice>
              <mc:Fallback>
                <p:oleObj name="Equation" r:id="rId3" imgW="672808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1188" y="1863725"/>
                        <a:ext cx="215265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222" name="Rectangle 6"/>
          <p:cNvSpPr>
            <a:spLocks noChangeArrowheads="1"/>
          </p:cNvSpPr>
          <p:nvPr/>
        </p:nvSpPr>
        <p:spPr bwMode="auto">
          <a:xfrm>
            <a:off x="1073150" y="4265613"/>
            <a:ext cx="56753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对正数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: 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S=00.1×××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×</a:t>
            </a:r>
          </a:p>
          <a:p>
            <a:pPr>
              <a:lnSpc>
                <a:spcPct val="5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对负数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: 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S=11.0×××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×</a:t>
            </a:r>
          </a:p>
        </p:txBody>
      </p:sp>
      <p:sp>
        <p:nvSpPr>
          <p:cNvPr id="137223" name="Text Box 10"/>
          <p:cNvSpPr txBox="1">
            <a:spLocks noChangeArrowheads="1"/>
          </p:cNvSpPr>
          <p:nvPr/>
        </p:nvSpPr>
        <p:spPr bwMode="auto">
          <a:xfrm>
            <a:off x="514350" y="3771900"/>
            <a:ext cx="5372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黑体" pitchFamily="2" charset="-122"/>
              </a:rPr>
              <a:t>采用双符号位的补码：</a:t>
            </a:r>
          </a:p>
        </p:txBody>
      </p:sp>
      <p:sp>
        <p:nvSpPr>
          <p:cNvPr id="137224" name="Text Box 11"/>
          <p:cNvSpPr txBox="1">
            <a:spLocks noChangeArrowheads="1"/>
          </p:cNvSpPr>
          <p:nvPr/>
        </p:nvSpPr>
        <p:spPr bwMode="auto">
          <a:xfrm>
            <a:off x="584200" y="2438400"/>
            <a:ext cx="6342063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  <a:ea typeface="黑体" pitchFamily="2" charset="-122"/>
              </a:rPr>
              <a:t>采用原码：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 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正数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:</a:t>
            </a:r>
            <a:r>
              <a:rPr lang="en-US" altLang="zh-CN">
                <a:latin typeface="Times New Roman" pitchFamily="18" charset="0"/>
              </a:rPr>
              <a:t>    S=0.1 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×××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×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负数： </a:t>
            </a:r>
            <a:r>
              <a:rPr lang="en-US" altLang="zh-CN">
                <a:latin typeface="Times New Roman" pitchFamily="18" charset="0"/>
              </a:rPr>
              <a:t>S=1.1 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×××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…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×</a:t>
            </a:r>
          </a:p>
        </p:txBody>
      </p:sp>
    </p:spTree>
    <p:extLst>
      <p:ext uri="{BB962C8B-B14F-4D97-AF65-F5344CB8AC3E}">
        <p14:creationId xmlns:p14="http://schemas.microsoft.com/office/powerpoint/2010/main" val="4011614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Text Box 2"/>
          <p:cNvSpPr txBox="1">
            <a:spLocks noChangeArrowheads="1"/>
          </p:cNvSpPr>
          <p:nvPr/>
        </p:nvSpPr>
        <p:spPr bwMode="auto">
          <a:xfrm>
            <a:off x="381000" y="838200"/>
            <a:ext cx="8534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若不是规格化的数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需要尾数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向左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移位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以实现规格化的过程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我们称其为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向左规格化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</a:t>
            </a:r>
            <a:endParaRPr lang="zh-CN" altLang="en-US">
              <a:latin typeface="Times New Roman" pitchFamily="18" charset="0"/>
            </a:endParaRPr>
          </a:p>
        </p:txBody>
      </p:sp>
      <p:sp>
        <p:nvSpPr>
          <p:cNvPr id="138243" name="Rectangle 3"/>
          <p:cNvSpPr>
            <a:spLocks noChangeArrowheads="1"/>
          </p:cNvSpPr>
          <p:nvPr/>
        </p:nvSpPr>
        <p:spPr bwMode="auto">
          <a:xfrm>
            <a:off x="381000" y="381000"/>
            <a:ext cx="2022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宋体" charset="-122"/>
              </a:rPr>
              <a:t>②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向左规格化</a:t>
            </a:r>
          </a:p>
        </p:txBody>
      </p:sp>
      <p:sp>
        <p:nvSpPr>
          <p:cNvPr id="138244" name="Text Box 4"/>
          <p:cNvSpPr txBox="1">
            <a:spLocks noChangeArrowheads="1"/>
          </p:cNvSpPr>
          <p:nvPr/>
        </p:nvSpPr>
        <p:spPr bwMode="auto">
          <a:xfrm>
            <a:off x="533400" y="1828800"/>
            <a:ext cx="8382000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宋体" charset="-122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宋体" charset="-122"/>
              </a:rPr>
              <a:t>前例中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, 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00 11, 11.1001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不是规格化数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因而需要左规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即</a:t>
            </a:r>
            <a:r>
              <a:rPr lang="zh-CN" altLang="en-US">
                <a:solidFill>
                  <a:srgbClr val="0066FF"/>
                </a:solidFill>
                <a:latin typeface="宋体" charset="-122"/>
              </a:rPr>
              <a:t>左移一位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66FF"/>
                </a:solidFill>
                <a:latin typeface="宋体" charset="-122"/>
              </a:rPr>
              <a:t>阶码减</a:t>
            </a:r>
            <a:r>
              <a:rPr lang="en-US" altLang="zh-CN">
                <a:solidFill>
                  <a:srgbClr val="0066FF"/>
                </a:solidFill>
                <a:latin typeface="宋体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得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:</a:t>
            </a:r>
          </a:p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      [x+y]</a:t>
            </a:r>
            <a:r>
              <a:rPr lang="zh-CN" altLang="en-US" baseline="-25000">
                <a:solidFill>
                  <a:srgbClr val="000000"/>
                </a:solidFill>
                <a:latin typeface="宋体" charset="-122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=00 10, 11.0010</a:t>
            </a:r>
          </a:p>
        </p:txBody>
      </p:sp>
      <p:sp>
        <p:nvSpPr>
          <p:cNvPr id="138245" name="Rectangle 8"/>
          <p:cNvSpPr>
            <a:spLocks noChangeArrowheads="1"/>
          </p:cNvSpPr>
          <p:nvPr/>
        </p:nvSpPr>
        <p:spPr bwMode="auto">
          <a:xfrm>
            <a:off x="304800" y="3494088"/>
            <a:ext cx="271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FF0000"/>
                </a:solidFill>
                <a:latin typeface="宋体" charset="-122"/>
              </a:rPr>
              <a:t>③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向右规格化</a:t>
            </a:r>
          </a:p>
        </p:txBody>
      </p:sp>
      <p:sp>
        <p:nvSpPr>
          <p:cNvPr id="138246" name="Text Box 9"/>
          <p:cNvSpPr txBox="1">
            <a:spLocks noChangeArrowheads="1"/>
          </p:cNvSpPr>
          <p:nvPr/>
        </p:nvSpPr>
        <p:spPr bwMode="auto">
          <a:xfrm>
            <a:off x="304800" y="4191000"/>
            <a:ext cx="8683625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浮点加减运算时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尾数求和的结果也可能得到：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宋体" charset="-122"/>
              </a:rPr>
              <a:t>      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01.×××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×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或  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10.×××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…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×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即两符号位不等，即结果的绝对值大于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向左破坏了规格化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  此时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将尾数运算的结果右移一位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阶码加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称为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向右规格化。</a:t>
            </a:r>
          </a:p>
        </p:txBody>
      </p:sp>
    </p:spTree>
    <p:extLst>
      <p:ext uri="{BB962C8B-B14F-4D97-AF65-F5344CB8AC3E}">
        <p14:creationId xmlns:p14="http://schemas.microsoft.com/office/powerpoint/2010/main" val="1194341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2"/>
          <p:cNvSpPr txBox="1">
            <a:spLocks noChangeArrowheads="1"/>
          </p:cNvSpPr>
          <p:nvPr/>
        </p:nvSpPr>
        <p:spPr bwMode="auto">
          <a:xfrm>
            <a:off x="152400" y="533400"/>
            <a:ext cx="878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例：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两浮点数  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x=0.1101 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2</a:t>
            </a:r>
            <a:r>
              <a:rPr lang="en-US" altLang="zh-CN" baseline="30000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10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 , y=(0.1011) 2</a:t>
            </a:r>
            <a:r>
              <a:rPr lang="en-US" altLang="zh-CN" baseline="30000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01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, 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求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x+y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。</a:t>
            </a:r>
          </a:p>
        </p:txBody>
      </p:sp>
      <p:sp>
        <p:nvSpPr>
          <p:cNvPr id="139267" name="Text Box 3"/>
          <p:cNvSpPr txBox="1">
            <a:spLocks noChangeArrowheads="1"/>
          </p:cNvSpPr>
          <p:nvPr/>
        </p:nvSpPr>
        <p:spPr bwMode="auto">
          <a:xfrm>
            <a:off x="254000" y="1079500"/>
            <a:ext cx="8636000" cy="315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解</a:t>
            </a:r>
            <a:r>
              <a:rPr lang="zh-CN" altLang="en-US">
                <a:latin typeface="Times New Roman" pitchFamily="18" charset="0"/>
              </a:rPr>
              <a:t>：  </a:t>
            </a:r>
            <a:r>
              <a:rPr lang="en-US" altLang="zh-CN">
                <a:latin typeface="Times New Roman" pitchFamily="18" charset="0"/>
              </a:rPr>
              <a:t>[x]</a:t>
            </a:r>
            <a:r>
              <a:rPr lang="zh-CN" altLang="en-US" baseline="-25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=00 10</a:t>
            </a:r>
            <a:r>
              <a:rPr lang="zh-CN" altLang="en-US">
                <a:latin typeface="Times New Roman" pitchFamily="18" charset="0"/>
              </a:rPr>
              <a:t>，</a:t>
            </a:r>
            <a:r>
              <a:rPr lang="en-US" altLang="zh-CN">
                <a:latin typeface="Times New Roman" pitchFamily="18" charset="0"/>
              </a:rPr>
              <a:t>00.1101           [y]</a:t>
            </a:r>
            <a:r>
              <a:rPr lang="zh-CN" altLang="en-US" baseline="-25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=00 01</a:t>
            </a:r>
            <a:r>
              <a:rPr lang="zh-CN" altLang="en-US">
                <a:latin typeface="Times New Roman" pitchFamily="18" charset="0"/>
              </a:rPr>
              <a:t>，</a:t>
            </a:r>
            <a:r>
              <a:rPr lang="en-US" altLang="zh-CN">
                <a:latin typeface="Times New Roman" pitchFamily="18" charset="0"/>
              </a:rPr>
              <a:t>00.1011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对阶：</a:t>
            </a:r>
            <a:r>
              <a:rPr lang="zh-CN" altLang="en-US">
                <a:latin typeface="Times New Roman" pitchFamily="18" charset="0"/>
              </a:rPr>
              <a:t>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[△E]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 [ E</a:t>
            </a:r>
            <a:r>
              <a:rPr lang="en-US" altLang="zh-CN" baseline="-25000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－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[E</a:t>
            </a:r>
            <a:r>
              <a:rPr lang="en-US" altLang="zh-CN" baseline="-25000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10+ 11 11= 00 01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           y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向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x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对齐，将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y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的尾数右移一位，阶码加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           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[y]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10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00.0101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求和：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 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00.1101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            +  00.0101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                     01.0010</a:t>
            </a:r>
          </a:p>
        </p:txBody>
      </p:sp>
      <p:sp>
        <p:nvSpPr>
          <p:cNvPr id="139268" name="Line 4"/>
          <p:cNvSpPr>
            <a:spLocks noChangeShapeType="1"/>
          </p:cNvSpPr>
          <p:nvPr/>
        </p:nvSpPr>
        <p:spPr bwMode="auto">
          <a:xfrm>
            <a:off x="1498600" y="3886200"/>
            <a:ext cx="172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9269" name="Rectangle 8"/>
          <p:cNvSpPr>
            <a:spLocks noChangeArrowheads="1"/>
          </p:cNvSpPr>
          <p:nvPr/>
        </p:nvSpPr>
        <p:spPr bwMode="auto">
          <a:xfrm>
            <a:off x="4216400" y="3746500"/>
            <a:ext cx="345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[x+y]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=00 10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01.0010   </a:t>
            </a:r>
          </a:p>
        </p:txBody>
      </p:sp>
      <p:sp>
        <p:nvSpPr>
          <p:cNvPr id="139270" name="Rectangle 9"/>
          <p:cNvSpPr>
            <a:spLocks noChangeArrowheads="1"/>
          </p:cNvSpPr>
          <p:nvPr/>
        </p:nvSpPr>
        <p:spPr bwMode="auto">
          <a:xfrm>
            <a:off x="546100" y="4314825"/>
            <a:ext cx="7581900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右归：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运算结果两符号位不同，其绝对值大于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，右归。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            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[x+y]</a:t>
            </a:r>
            <a:r>
              <a:rPr lang="zh-CN" altLang="en-US" baseline="-25000">
                <a:solidFill>
                  <a:srgbClr val="000000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= 00 11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00.1001</a:t>
            </a:r>
          </a:p>
        </p:txBody>
      </p:sp>
    </p:spTree>
    <p:extLst>
      <p:ext uri="{BB962C8B-B14F-4D97-AF65-F5344CB8AC3E}">
        <p14:creationId xmlns:p14="http://schemas.microsoft.com/office/powerpoint/2010/main" val="3762110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Text Box 2"/>
          <p:cNvSpPr txBox="1">
            <a:spLocks noChangeArrowheads="1"/>
          </p:cNvSpPr>
          <p:nvPr/>
        </p:nvSpPr>
        <p:spPr bwMode="auto">
          <a:xfrm>
            <a:off x="200025" y="1054100"/>
            <a:ext cx="8716963" cy="3852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</a:rPr>
              <a:t>在对阶或向右规格化时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尾数要向右移位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这样</a:t>
            </a:r>
            <a:r>
              <a:rPr lang="en-US" altLang="zh-CN">
                <a:latin typeface="Times New Roman" pitchFamily="18" charset="0"/>
              </a:rPr>
              <a:t>, </a:t>
            </a:r>
            <a:r>
              <a:rPr lang="zh-CN" altLang="en-US">
                <a:latin typeface="Times New Roman" pitchFamily="18" charset="0"/>
              </a:rPr>
              <a:t>被右移的尾数的低位部分会被丢掉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从而造成一定误差</a:t>
            </a:r>
            <a:r>
              <a:rPr lang="en-US" altLang="zh-CN">
                <a:latin typeface="Times New Roman" pitchFamily="18" charset="0"/>
              </a:rPr>
              <a:t>,</a:t>
            </a:r>
            <a:r>
              <a:rPr lang="zh-CN" altLang="en-US">
                <a:latin typeface="Times New Roman" pitchFamily="18" charset="0"/>
              </a:rPr>
              <a:t>因此要进行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舍入处理</a:t>
            </a:r>
            <a:r>
              <a:rPr lang="zh-CN" altLang="en-US">
                <a:latin typeface="Times New Roman" pitchFamily="18" charset="0"/>
              </a:rPr>
              <a:t>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6600"/>
                </a:solidFill>
                <a:latin typeface="Times New Roman" pitchFamily="18" charset="0"/>
              </a:rPr>
              <a:t>  </a:t>
            </a:r>
            <a:r>
              <a:rPr lang="en-US" altLang="zh-CN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•</a:t>
            </a:r>
            <a:r>
              <a:rPr lang="en-US" altLang="zh-CN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简单的舍入方法有两种</a:t>
            </a:r>
            <a:r>
              <a:rPr lang="zh-CN" altLang="en-US">
                <a:solidFill>
                  <a:srgbClr val="00330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宋体" charset="-122"/>
              </a:rPr>
              <a:t> ①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舍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入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法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    即如果右移时被丢掉数位的最高位为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则舍去，反之则将尾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数的末位加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宋体" charset="-122"/>
              </a:rPr>
              <a:t> ②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“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恒置</a:t>
            </a:r>
            <a:r>
              <a:rPr lang="en-US" altLang="zh-CN">
                <a:solidFill>
                  <a:srgbClr val="FF0000"/>
                </a:solidFill>
                <a:latin typeface="宋体" charset="-122"/>
              </a:rPr>
              <a:t>1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”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法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    即只要数位被移掉，就在尾数的末位恒置</a:t>
            </a:r>
            <a:r>
              <a:rPr lang="zh-CN" altLang="en-US">
                <a:solidFill>
                  <a:srgbClr val="000000"/>
                </a:solidFill>
                <a:latin typeface="Times New Roman" pitchFamily="18" charset="0"/>
              </a:rPr>
              <a:t>“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</a:t>
            </a:r>
            <a:r>
              <a:rPr lang="en-US" altLang="zh-CN">
                <a:solidFill>
                  <a:srgbClr val="000000"/>
                </a:solidFill>
                <a:latin typeface="Times New Roman" pitchFamily="18" charset="0"/>
              </a:rPr>
              <a:t>”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。从概率上来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说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,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丢掉的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0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各为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1/2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</a:t>
            </a:r>
          </a:p>
        </p:txBody>
      </p:sp>
      <p:sp>
        <p:nvSpPr>
          <p:cNvPr id="140291" name="Rectangle 6"/>
          <p:cNvSpPr>
            <a:spLocks noChangeArrowheads="1"/>
          </p:cNvSpPr>
          <p:nvPr/>
        </p:nvSpPr>
        <p:spPr bwMode="auto">
          <a:xfrm>
            <a:off x="193675" y="636588"/>
            <a:ext cx="1841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(5)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舍入处理</a:t>
            </a:r>
          </a:p>
        </p:txBody>
      </p:sp>
      <p:sp>
        <p:nvSpPr>
          <p:cNvPr id="140292" name="Rectangle 7"/>
          <p:cNvSpPr>
            <a:spLocks noChangeArrowheads="1"/>
          </p:cNvSpPr>
          <p:nvPr/>
        </p:nvSpPr>
        <p:spPr bwMode="auto">
          <a:xfrm>
            <a:off x="342900" y="5011738"/>
            <a:ext cx="7191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>
                <a:solidFill>
                  <a:srgbClr val="006600"/>
                </a:solidFill>
                <a:latin typeface="Times New Roman" pitchFamily="18" charset="0"/>
                <a:ea typeface="黑体" pitchFamily="2" charset="-122"/>
              </a:rPr>
              <a:t>•</a:t>
            </a:r>
            <a:r>
              <a:rPr lang="en-US" altLang="zh-CN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 IEEE754</a:t>
            </a:r>
            <a:r>
              <a:rPr lang="zh-CN" altLang="en-US">
                <a:solidFill>
                  <a:srgbClr val="006600"/>
                </a:solidFill>
                <a:latin typeface="黑体" pitchFamily="2" charset="-122"/>
                <a:ea typeface="黑体" pitchFamily="2" charset="-122"/>
              </a:rPr>
              <a:t>标准中，舍入处理提供了四种可选方法：</a:t>
            </a:r>
          </a:p>
        </p:txBody>
      </p:sp>
    </p:spTree>
    <p:extLst>
      <p:ext uri="{BB962C8B-B14F-4D97-AF65-F5344CB8AC3E}">
        <p14:creationId xmlns:p14="http://schemas.microsoft.com/office/powerpoint/2010/main" val="393776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2"/>
          <p:cNvSpPr txBox="1">
            <a:spLocks noChangeArrowheads="1"/>
          </p:cNvSpPr>
          <p:nvPr/>
        </p:nvSpPr>
        <p:spPr bwMode="auto">
          <a:xfrm>
            <a:off x="201613" y="704850"/>
            <a:ext cx="3408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3333FF"/>
                </a:solidFill>
                <a:latin typeface="宋体" charset="-122"/>
              </a:rPr>
              <a:t>(6)</a:t>
            </a:r>
            <a:r>
              <a:rPr lang="zh-CN" altLang="en-US">
                <a:solidFill>
                  <a:srgbClr val="3333FF"/>
                </a:solidFill>
                <a:latin typeface="宋体" charset="-122"/>
              </a:rPr>
              <a:t>溢出处理</a:t>
            </a:r>
            <a:endParaRPr lang="zh-CN" altLang="en-US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141315" name="Text Box 6"/>
          <p:cNvSpPr txBox="1">
            <a:spLocks noChangeArrowheads="1"/>
          </p:cNvSpPr>
          <p:nvPr/>
        </p:nvSpPr>
        <p:spPr bwMode="auto">
          <a:xfrm>
            <a:off x="457200" y="1244600"/>
            <a:ext cx="82740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</a:t>
            </a:r>
            <a:r>
              <a:rPr lang="zh-CN" altLang="en-US">
                <a:latin typeface="Times New Roman" pitchFamily="18" charset="0"/>
              </a:rPr>
              <a:t>与定点加减法一样，浮点加减运算最后一步也需判溢出。在浮点规格化中已指出，当尾数之和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zh-CN" altLang="en-US">
                <a:latin typeface="Times New Roman" pitchFamily="18" charset="0"/>
              </a:rPr>
              <a:t>差</a:t>
            </a:r>
            <a:r>
              <a:rPr lang="en-US" altLang="zh-CN">
                <a:latin typeface="Times New Roman" pitchFamily="18" charset="0"/>
              </a:rPr>
              <a:t>)</a:t>
            </a:r>
            <a:r>
              <a:rPr lang="zh-CN" altLang="en-US">
                <a:latin typeface="Times New Roman" pitchFamily="18" charset="0"/>
              </a:rPr>
              <a:t>出现</a:t>
            </a:r>
            <a:r>
              <a:rPr lang="en-US" altLang="zh-CN">
                <a:latin typeface="Times New Roman" pitchFamily="18" charset="0"/>
              </a:rPr>
              <a:t>01</a:t>
            </a:r>
            <a:r>
              <a:rPr lang="zh-CN" altLang="en-US">
                <a:latin typeface="Times New Roman" pitchFamily="18" charset="0"/>
              </a:rPr>
              <a:t>．</a:t>
            </a:r>
            <a:r>
              <a:rPr lang="en-US" altLang="zh-CN">
                <a:latin typeface="Times New Roman" pitchFamily="18" charset="0"/>
              </a:rPr>
              <a:t>××…×</a:t>
            </a:r>
            <a:r>
              <a:rPr lang="zh-CN" altLang="en-US">
                <a:latin typeface="Times New Roman" pitchFamily="18" charset="0"/>
              </a:rPr>
              <a:t>或</a:t>
            </a:r>
            <a:r>
              <a:rPr lang="en-US" altLang="zh-CN">
                <a:latin typeface="Times New Roman" pitchFamily="18" charset="0"/>
              </a:rPr>
              <a:t>10</a:t>
            </a:r>
            <a:r>
              <a:rPr lang="zh-CN" altLang="en-US">
                <a:latin typeface="Times New Roman" pitchFamily="18" charset="0"/>
              </a:rPr>
              <a:t>．</a:t>
            </a:r>
            <a:r>
              <a:rPr lang="en-US" altLang="zh-CN">
                <a:latin typeface="Times New Roman" pitchFamily="18" charset="0"/>
              </a:rPr>
              <a:t>××…×</a:t>
            </a:r>
            <a:r>
              <a:rPr lang="zh-CN" altLang="en-US">
                <a:latin typeface="Times New Roman" pitchFamily="18" charset="0"/>
              </a:rPr>
              <a:t>时，并不表示溢出，只有将此数</a:t>
            </a: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右规</a:t>
            </a:r>
            <a:r>
              <a:rPr lang="zh-CN" altLang="en-US">
                <a:latin typeface="Times New Roman" pitchFamily="18" charset="0"/>
              </a:rPr>
              <a:t>后，再根据</a:t>
            </a: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阶码</a:t>
            </a:r>
            <a:r>
              <a:rPr lang="zh-CN" altLang="en-US">
                <a:latin typeface="Times New Roman" pitchFamily="18" charset="0"/>
              </a:rPr>
              <a:t>来判断浮点运算结果是否溢出。</a:t>
            </a:r>
          </a:p>
        </p:txBody>
      </p:sp>
    </p:spTree>
    <p:extLst>
      <p:ext uri="{BB962C8B-B14F-4D97-AF65-F5344CB8AC3E}">
        <p14:creationId xmlns:p14="http://schemas.microsoft.com/office/powerpoint/2010/main" val="199556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Text Box 2"/>
          <p:cNvSpPr txBox="1">
            <a:spLocks noChangeArrowheads="1"/>
          </p:cNvSpPr>
          <p:nvPr/>
        </p:nvSpPr>
        <p:spPr bwMode="auto">
          <a:xfrm>
            <a:off x="241300" y="723900"/>
            <a:ext cx="86614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</a:t>
            </a:r>
            <a:r>
              <a:rPr lang="zh-CN" altLang="en-US">
                <a:latin typeface="Times New Roman" pitchFamily="18" charset="0"/>
              </a:rPr>
              <a:t>若机器数为补码，尾数为规格化形式，并假设阶符取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位，阶码取</a:t>
            </a:r>
            <a:r>
              <a:rPr lang="en-US" altLang="zh-CN">
                <a:latin typeface="Times New Roman" pitchFamily="18" charset="0"/>
              </a:rPr>
              <a:t>7</a:t>
            </a:r>
            <a:r>
              <a:rPr lang="zh-CN" altLang="en-US">
                <a:latin typeface="Times New Roman" pitchFamily="18" charset="0"/>
              </a:rPr>
              <a:t>位、数符取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位，尾数取</a:t>
            </a:r>
            <a:r>
              <a:rPr lang="en-US" altLang="zh-CN">
                <a:latin typeface="Times New Roman" pitchFamily="18" charset="0"/>
              </a:rPr>
              <a:t>n</a:t>
            </a:r>
            <a:r>
              <a:rPr lang="zh-CN" altLang="en-US">
                <a:latin typeface="Times New Roman" pitchFamily="18" charset="0"/>
              </a:rPr>
              <a:t>位，则它们能表示的补码在数轴上的表示范围如图所示。</a:t>
            </a:r>
          </a:p>
        </p:txBody>
      </p:sp>
      <p:grpSp>
        <p:nvGrpSpPr>
          <p:cNvPr id="142339" name="Group 6"/>
          <p:cNvGrpSpPr>
            <a:grpSpLocks/>
          </p:cNvGrpSpPr>
          <p:nvPr/>
        </p:nvGrpSpPr>
        <p:grpSpPr bwMode="auto">
          <a:xfrm>
            <a:off x="469900" y="2497138"/>
            <a:ext cx="8229600" cy="2379662"/>
            <a:chOff x="296" y="1389"/>
            <a:chExt cx="5184" cy="1499"/>
          </a:xfrm>
        </p:grpSpPr>
        <p:grpSp>
          <p:nvGrpSpPr>
            <p:cNvPr id="142340" name="Group 7"/>
            <p:cNvGrpSpPr>
              <a:grpSpLocks/>
            </p:cNvGrpSpPr>
            <p:nvPr/>
          </p:nvGrpSpPr>
          <p:grpSpPr bwMode="auto">
            <a:xfrm>
              <a:off x="296" y="1389"/>
              <a:ext cx="5184" cy="1499"/>
              <a:chOff x="304" y="429"/>
              <a:chExt cx="5184" cy="1499"/>
            </a:xfrm>
          </p:grpSpPr>
          <p:pic>
            <p:nvPicPr>
              <p:cNvPr id="142345" name="Picture 8" descr="sspictmp0077A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4" y="429"/>
                <a:ext cx="5184" cy="1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2346" name="Rectangle 9"/>
              <p:cNvSpPr>
                <a:spLocks noChangeArrowheads="1"/>
              </p:cNvSpPr>
              <p:nvPr/>
            </p:nvSpPr>
            <p:spPr bwMode="auto">
              <a:xfrm>
                <a:off x="3344" y="864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2347" name="Rectangle 10"/>
              <p:cNvSpPr>
                <a:spLocks noChangeArrowheads="1"/>
              </p:cNvSpPr>
              <p:nvPr/>
            </p:nvSpPr>
            <p:spPr bwMode="auto">
              <a:xfrm>
                <a:off x="1216" y="856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2341" name="Group 11"/>
            <p:cNvGrpSpPr>
              <a:grpSpLocks/>
            </p:cNvGrpSpPr>
            <p:nvPr/>
          </p:nvGrpSpPr>
          <p:grpSpPr bwMode="auto">
            <a:xfrm>
              <a:off x="472" y="1429"/>
              <a:ext cx="4504" cy="499"/>
              <a:chOff x="472" y="1429"/>
              <a:chExt cx="4504" cy="499"/>
            </a:xfrm>
          </p:grpSpPr>
          <p:sp>
            <p:nvSpPr>
              <p:cNvPr id="142342" name="Line 12"/>
              <p:cNvSpPr>
                <a:spLocks noChangeShapeType="1"/>
              </p:cNvSpPr>
              <p:nvPr/>
            </p:nvSpPr>
            <p:spPr bwMode="auto">
              <a:xfrm>
                <a:off x="2944" y="1792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2343" name="Text Box 13"/>
              <p:cNvSpPr txBox="1">
                <a:spLocks noChangeArrowheads="1"/>
              </p:cNvSpPr>
              <p:nvPr/>
            </p:nvSpPr>
            <p:spPr bwMode="auto">
              <a:xfrm>
                <a:off x="4656" y="1445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itchFamily="18" charset="0"/>
                  </a:rPr>
                  <a:t>正</a:t>
                </a:r>
              </a:p>
            </p:txBody>
          </p:sp>
          <p:sp>
            <p:nvSpPr>
              <p:cNvPr id="142344" name="Text Box 14"/>
              <p:cNvSpPr txBox="1">
                <a:spLocks noChangeArrowheads="1"/>
              </p:cNvSpPr>
              <p:nvPr/>
            </p:nvSpPr>
            <p:spPr bwMode="auto">
              <a:xfrm>
                <a:off x="472" y="1429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itchFamily="18" charset="0"/>
                  </a:rPr>
                  <a:t>负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5151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6"/>
          <p:cNvSpPr txBox="1">
            <a:spLocks noChangeArrowheads="1"/>
          </p:cNvSpPr>
          <p:nvPr/>
        </p:nvSpPr>
        <p:spPr bwMode="auto">
          <a:xfrm>
            <a:off x="304800" y="3590925"/>
            <a:ext cx="8356600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</a:t>
            </a:r>
            <a:r>
              <a:rPr lang="zh-CN" altLang="en-US">
                <a:latin typeface="Times New Roman" pitchFamily="18" charset="0"/>
              </a:rPr>
              <a:t>图中</a:t>
            </a:r>
            <a:r>
              <a:rPr lang="en-US" altLang="zh-CN">
                <a:latin typeface="Times New Roman" pitchFamily="18" charset="0"/>
              </a:rPr>
              <a:t>A</a:t>
            </a:r>
            <a:r>
              <a:rPr lang="zh-CN" altLang="en-US">
                <a:latin typeface="Times New Roman" pitchFamily="18" charset="0"/>
              </a:rPr>
              <a:t>，</a:t>
            </a:r>
            <a:r>
              <a:rPr lang="en-US" altLang="zh-CN">
                <a:latin typeface="Times New Roman" pitchFamily="18" charset="0"/>
              </a:rPr>
              <a:t>B</a:t>
            </a:r>
            <a:r>
              <a:rPr lang="zh-CN" altLang="en-US">
                <a:latin typeface="Times New Roman" pitchFamily="18" charset="0"/>
              </a:rPr>
              <a:t>，</a:t>
            </a:r>
            <a:r>
              <a:rPr lang="en-US" altLang="zh-CN">
                <a:latin typeface="Times New Roman" pitchFamily="18" charset="0"/>
              </a:rPr>
              <a:t>a</a:t>
            </a:r>
            <a:r>
              <a:rPr lang="zh-CN" altLang="en-US">
                <a:latin typeface="Times New Roman" pitchFamily="18" charset="0"/>
              </a:rPr>
              <a:t>，</a:t>
            </a:r>
            <a:r>
              <a:rPr lang="en-US" altLang="zh-CN">
                <a:latin typeface="Times New Roman" pitchFamily="18" charset="0"/>
              </a:rPr>
              <a:t>b</a:t>
            </a:r>
            <a:r>
              <a:rPr lang="zh-CN" altLang="en-US">
                <a:latin typeface="Times New Roman" pitchFamily="18" charset="0"/>
              </a:rPr>
              <a:t>分别对应最小负数、最大正数、最大负数和最小正数。它们所对应的真值分别是：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</a:t>
            </a:r>
            <a:r>
              <a:rPr lang="en-US" altLang="zh-CN">
                <a:latin typeface="Times New Roman" pitchFamily="18" charset="0"/>
              </a:rPr>
              <a:t>A</a:t>
            </a:r>
            <a:r>
              <a:rPr lang="zh-CN" altLang="en-US">
                <a:latin typeface="Times New Roman" pitchFamily="18" charset="0"/>
              </a:rPr>
              <a:t>最小负数    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en-US" altLang="zh-CN" baseline="30000">
                <a:latin typeface="Times New Roman" pitchFamily="18" charset="0"/>
              </a:rPr>
              <a:t>+127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(-1)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B</a:t>
            </a:r>
            <a:r>
              <a:rPr lang="zh-CN" altLang="en-US">
                <a:latin typeface="Times New Roman" pitchFamily="18" charset="0"/>
              </a:rPr>
              <a:t>最大正数    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en-US" altLang="zh-CN" baseline="30000">
                <a:latin typeface="Times New Roman" pitchFamily="18" charset="0"/>
              </a:rPr>
              <a:t>+127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(1-2</a:t>
            </a:r>
            <a:r>
              <a:rPr lang="en-US" altLang="zh-CN" baseline="30000">
                <a:latin typeface="Times New Roman" pitchFamily="18" charset="0"/>
              </a:rPr>
              <a:t>-n</a:t>
            </a:r>
            <a:r>
              <a:rPr lang="en-US" altLang="zh-CN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a</a:t>
            </a:r>
            <a:r>
              <a:rPr lang="zh-CN" altLang="en-US">
                <a:latin typeface="Times New Roman" pitchFamily="18" charset="0"/>
              </a:rPr>
              <a:t>最大负数    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en-US" altLang="zh-CN" baseline="30000">
                <a:latin typeface="Times New Roman" pitchFamily="18" charset="0"/>
              </a:rPr>
              <a:t>-128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(-2</a:t>
            </a:r>
            <a:r>
              <a:rPr lang="en-US" altLang="zh-CN" baseline="30000">
                <a:latin typeface="Times New Roman" pitchFamily="18" charset="0"/>
              </a:rPr>
              <a:t>-1</a:t>
            </a:r>
            <a:r>
              <a:rPr lang="en-US" altLang="zh-CN">
                <a:latin typeface="Times New Roman" pitchFamily="18" charset="0"/>
              </a:rPr>
              <a:t>-2</a:t>
            </a:r>
            <a:r>
              <a:rPr lang="en-US" altLang="zh-CN" baseline="30000">
                <a:latin typeface="Times New Roman" pitchFamily="18" charset="0"/>
              </a:rPr>
              <a:t>-n</a:t>
            </a:r>
            <a:r>
              <a:rPr lang="en-US" altLang="zh-CN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b</a:t>
            </a:r>
            <a:r>
              <a:rPr lang="zh-CN" altLang="en-US">
                <a:latin typeface="Times New Roman" pitchFamily="18" charset="0"/>
              </a:rPr>
              <a:t>最小正数    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en-US" altLang="zh-CN" baseline="30000">
                <a:latin typeface="Times New Roman" pitchFamily="18" charset="0"/>
              </a:rPr>
              <a:t>-128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 baseline="30000">
                <a:latin typeface="Times New Roman" pitchFamily="18" charset="0"/>
              </a:rPr>
              <a:t> 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en-US" altLang="zh-CN" baseline="30000">
                <a:latin typeface="Times New Roman" pitchFamily="18" charset="0"/>
              </a:rPr>
              <a:t>-1</a:t>
            </a:r>
            <a:endParaRPr lang="en-US" altLang="zh-CN">
              <a:latin typeface="Times New Roman" pitchFamily="18" charset="0"/>
            </a:endParaRPr>
          </a:p>
        </p:txBody>
      </p:sp>
      <p:grpSp>
        <p:nvGrpSpPr>
          <p:cNvPr id="143363" name="Group 7"/>
          <p:cNvGrpSpPr>
            <a:grpSpLocks/>
          </p:cNvGrpSpPr>
          <p:nvPr/>
        </p:nvGrpSpPr>
        <p:grpSpPr bwMode="auto">
          <a:xfrm>
            <a:off x="381000" y="762000"/>
            <a:ext cx="8229600" cy="2379663"/>
            <a:chOff x="296" y="1389"/>
            <a:chExt cx="5184" cy="1499"/>
          </a:xfrm>
        </p:grpSpPr>
        <p:grpSp>
          <p:nvGrpSpPr>
            <p:cNvPr id="143364" name="Group 8"/>
            <p:cNvGrpSpPr>
              <a:grpSpLocks/>
            </p:cNvGrpSpPr>
            <p:nvPr/>
          </p:nvGrpSpPr>
          <p:grpSpPr bwMode="auto">
            <a:xfrm>
              <a:off x="296" y="1389"/>
              <a:ext cx="5184" cy="1499"/>
              <a:chOff x="304" y="429"/>
              <a:chExt cx="5184" cy="1499"/>
            </a:xfrm>
          </p:grpSpPr>
          <p:pic>
            <p:nvPicPr>
              <p:cNvPr id="143369" name="Picture 9" descr="sspictmp0077A1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4" y="429"/>
                <a:ext cx="5184" cy="14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370" name="Rectangle 10"/>
              <p:cNvSpPr>
                <a:spLocks noChangeArrowheads="1"/>
              </p:cNvSpPr>
              <p:nvPr/>
            </p:nvSpPr>
            <p:spPr bwMode="auto">
              <a:xfrm>
                <a:off x="3344" y="864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3371" name="Rectangle 11"/>
              <p:cNvSpPr>
                <a:spLocks noChangeArrowheads="1"/>
              </p:cNvSpPr>
              <p:nvPr/>
            </p:nvSpPr>
            <p:spPr bwMode="auto">
              <a:xfrm>
                <a:off x="1216" y="856"/>
                <a:ext cx="1288" cy="104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43365" name="Group 12"/>
            <p:cNvGrpSpPr>
              <a:grpSpLocks/>
            </p:cNvGrpSpPr>
            <p:nvPr/>
          </p:nvGrpSpPr>
          <p:grpSpPr bwMode="auto">
            <a:xfrm>
              <a:off x="472" y="1429"/>
              <a:ext cx="4504" cy="499"/>
              <a:chOff x="472" y="1429"/>
              <a:chExt cx="4504" cy="499"/>
            </a:xfrm>
          </p:grpSpPr>
          <p:sp>
            <p:nvSpPr>
              <p:cNvPr id="143366" name="Line 13"/>
              <p:cNvSpPr>
                <a:spLocks noChangeShapeType="1"/>
              </p:cNvSpPr>
              <p:nvPr/>
            </p:nvSpPr>
            <p:spPr bwMode="auto">
              <a:xfrm>
                <a:off x="2944" y="1792"/>
                <a:ext cx="0" cy="13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367" name="Text Box 14"/>
              <p:cNvSpPr txBox="1">
                <a:spLocks noChangeArrowheads="1"/>
              </p:cNvSpPr>
              <p:nvPr/>
            </p:nvSpPr>
            <p:spPr bwMode="auto">
              <a:xfrm>
                <a:off x="4656" y="1445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itchFamily="18" charset="0"/>
                  </a:rPr>
                  <a:t>正</a:t>
                </a:r>
              </a:p>
            </p:txBody>
          </p:sp>
          <p:sp>
            <p:nvSpPr>
              <p:cNvPr id="143368" name="Text Box 15"/>
              <p:cNvSpPr txBox="1">
                <a:spLocks noChangeArrowheads="1"/>
              </p:cNvSpPr>
              <p:nvPr/>
            </p:nvSpPr>
            <p:spPr bwMode="auto">
              <a:xfrm>
                <a:off x="472" y="1429"/>
                <a:ext cx="3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1pPr>
                <a:lvl2pPr marL="742950" indent="-28575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2pPr>
                <a:lvl3pPr marL="11430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3pPr>
                <a:lvl4pPr marL="16002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4pPr>
                <a:lvl5pPr marL="2057400" indent="-228600" eaLnBrk="0" hangingPunct="0"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ahoma" pitchFamily="34" charset="0"/>
                    <a:ea typeface="宋体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zh-CN" altLang="en-US" sz="2000">
                    <a:solidFill>
                      <a:srgbClr val="FF0000"/>
                    </a:solidFill>
                    <a:latin typeface="Times New Roman" pitchFamily="18" charset="0"/>
                  </a:rPr>
                  <a:t>负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257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/>
          <p:cNvSpPr txBox="1">
            <a:spLocks noChangeArrowheads="1"/>
          </p:cNvSpPr>
          <p:nvPr/>
        </p:nvSpPr>
        <p:spPr bwMode="auto">
          <a:xfrm>
            <a:off x="342900" y="901700"/>
            <a:ext cx="8420100" cy="410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图中</a:t>
            </a:r>
            <a:r>
              <a:rPr lang="en-US" altLang="zh-CN" dirty="0" err="1">
                <a:latin typeface="Times New Roman" pitchFamily="18" charset="0"/>
              </a:rPr>
              <a:t>a,b</a:t>
            </a:r>
            <a:r>
              <a:rPr lang="zh-CN" altLang="en-US" dirty="0">
                <a:latin typeface="Times New Roman" pitchFamily="18" charset="0"/>
              </a:rPr>
              <a:t>之间的阴影部分，对应阶码小于</a:t>
            </a:r>
            <a:r>
              <a:rPr lang="en-US" altLang="zh-CN" dirty="0">
                <a:latin typeface="Times New Roman" pitchFamily="18" charset="0"/>
              </a:rPr>
              <a:t>128</a:t>
            </a:r>
            <a:r>
              <a:rPr lang="zh-CN" altLang="en-US" dirty="0">
                <a:latin typeface="Times New Roman" pitchFamily="18" charset="0"/>
              </a:rPr>
              <a:t>的情况，叫做浮点数的下溢。下溢时．浮点数值趋于零，故机器不做溢出处理，仅把它作为机器零。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图中的</a:t>
            </a:r>
            <a:r>
              <a:rPr lang="en-US" altLang="zh-CN" dirty="0">
                <a:latin typeface="Times New Roman" pitchFamily="18" charset="0"/>
              </a:rPr>
              <a:t>A</a:t>
            </a:r>
            <a:r>
              <a:rPr lang="zh-CN" altLang="en-US" dirty="0">
                <a:latin typeface="Times New Roman" pitchFamily="18" charset="0"/>
              </a:rPr>
              <a:t>、</a:t>
            </a:r>
            <a:r>
              <a:rPr lang="en-US" altLang="zh-CN" dirty="0">
                <a:latin typeface="Times New Roman" pitchFamily="18" charset="0"/>
              </a:rPr>
              <a:t>B</a:t>
            </a:r>
            <a:r>
              <a:rPr lang="zh-CN" altLang="en-US" dirty="0">
                <a:latin typeface="Times New Roman" pitchFamily="18" charset="0"/>
              </a:rPr>
              <a:t>两侧阴影部分，对应阶码大于</a:t>
            </a:r>
            <a:r>
              <a:rPr lang="en-US" altLang="zh-CN" dirty="0">
                <a:latin typeface="Times New Roman" pitchFamily="18" charset="0"/>
              </a:rPr>
              <a:t>127</a:t>
            </a:r>
            <a:r>
              <a:rPr lang="zh-CN" altLang="en-US" dirty="0">
                <a:latin typeface="Times New Roman" pitchFamily="18" charset="0"/>
              </a:rPr>
              <a:t>的情况，叫做浮点数的上溢。此刻，浮点数真正溢出，机器需停止运算，作溢出中断处理。</a:t>
            </a:r>
            <a:r>
              <a:rPr lang="zh-CN" altLang="en-US" dirty="0">
                <a:solidFill>
                  <a:schemeClr val="hlink"/>
                </a:solidFill>
                <a:latin typeface="Times New Roman" pitchFamily="18" charset="0"/>
              </a:rPr>
              <a:t>一般说浮点溢出，均是指上溢。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可见，浮点机的溢出与否可由阶码的符号决定：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    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阶码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[j]</a:t>
            </a:r>
            <a:r>
              <a:rPr lang="zh-CN" altLang="en-US" baseline="-25000" dirty="0">
                <a:solidFill>
                  <a:srgbClr val="0000FF"/>
                </a:solidFill>
                <a:latin typeface="Times New Roman" pitchFamily="18" charset="0"/>
              </a:rPr>
              <a:t>补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=01, 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    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为上溢，机器停止运算，做中断处理；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    阶码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[j]</a:t>
            </a:r>
            <a:r>
              <a:rPr lang="zh-CN" altLang="en-US" baseline="-25000" dirty="0">
                <a:solidFill>
                  <a:srgbClr val="0000FF"/>
                </a:solidFill>
                <a:latin typeface="Times New Roman" pitchFamily="18" charset="0"/>
              </a:rPr>
              <a:t>补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=10, 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sym typeface="Symbol" pitchFamily="18" charset="2"/>
              </a:rPr>
              <a:t>    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为下溢，按机器零处理。</a:t>
            </a:r>
          </a:p>
        </p:txBody>
      </p:sp>
    </p:spTree>
    <p:extLst>
      <p:ext uri="{BB962C8B-B14F-4D97-AF65-F5344CB8AC3E}">
        <p14:creationId xmlns:p14="http://schemas.microsoft.com/office/powerpoint/2010/main" val="863455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5"/>
          <p:cNvSpPr txBox="1">
            <a:spLocks noChangeArrowheads="1"/>
          </p:cNvSpPr>
          <p:nvPr/>
        </p:nvSpPr>
        <p:spPr bwMode="auto">
          <a:xfrm>
            <a:off x="304800" y="3429000"/>
            <a:ext cx="850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例：</a:t>
            </a:r>
            <a:r>
              <a:rPr lang="zh-CN" altLang="en-US">
                <a:latin typeface="Times New Roman" pitchFamily="18" charset="0"/>
              </a:rPr>
              <a:t>若某次加法操作的结果为 </a:t>
            </a:r>
            <a:r>
              <a:rPr lang="en-US" altLang="zh-CN">
                <a:latin typeface="Times New Roman" pitchFamily="18" charset="0"/>
              </a:rPr>
              <a:t>[X+Y]</a:t>
            </a:r>
            <a:r>
              <a:rPr lang="zh-CN" altLang="en-US" baseline="-25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=11.010, 00.0000110111</a:t>
            </a:r>
          </a:p>
        </p:txBody>
      </p:sp>
      <p:sp>
        <p:nvSpPr>
          <p:cNvPr id="145411" name="Text Box 6"/>
          <p:cNvSpPr txBox="1">
            <a:spLocks noChangeArrowheads="1"/>
          </p:cNvSpPr>
          <p:nvPr/>
        </p:nvSpPr>
        <p:spPr bwMode="auto">
          <a:xfrm>
            <a:off x="533400" y="4114800"/>
            <a:ext cx="82169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则应对其进行向左规格化操作：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     尾数为：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00.1101110000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，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阶码减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：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      </a:t>
            </a:r>
          </a:p>
        </p:txBody>
      </p:sp>
      <p:grpSp>
        <p:nvGrpSpPr>
          <p:cNvPr id="145412" name="Group 7"/>
          <p:cNvGrpSpPr>
            <a:grpSpLocks/>
          </p:cNvGrpSpPr>
          <p:nvPr/>
        </p:nvGrpSpPr>
        <p:grpSpPr bwMode="auto">
          <a:xfrm>
            <a:off x="6324600" y="4343400"/>
            <a:ext cx="2197100" cy="1006475"/>
            <a:chOff x="4136" y="2664"/>
            <a:chExt cx="1384" cy="634"/>
          </a:xfrm>
        </p:grpSpPr>
        <p:sp>
          <p:nvSpPr>
            <p:cNvPr id="145416" name="Text Box 8"/>
            <p:cNvSpPr txBox="1">
              <a:spLocks noChangeArrowheads="1"/>
            </p:cNvSpPr>
            <p:nvPr/>
          </p:nvSpPr>
          <p:spPr bwMode="auto">
            <a:xfrm>
              <a:off x="4136" y="2664"/>
              <a:ext cx="1384" cy="6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Times New Roman" pitchFamily="18" charset="0"/>
                </a:rPr>
                <a:t>   11.010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 sz="2000">
                  <a:solidFill>
                    <a:srgbClr val="FF0000"/>
                  </a:solidFill>
                  <a:latin typeface="Times New Roman" pitchFamily="18" charset="0"/>
                </a:rPr>
                <a:t>+ 11.100     [-4]</a:t>
              </a:r>
              <a:r>
                <a:rPr lang="zh-CN" altLang="en-US" sz="2000" baseline="-25000">
                  <a:solidFill>
                    <a:srgbClr val="FF0000"/>
                  </a:solidFill>
                  <a:latin typeface="Times New Roman" pitchFamily="18" charset="0"/>
                </a:rPr>
                <a:t>补</a:t>
              </a:r>
              <a:endParaRPr lang="zh-CN" altLang="en-US" sz="200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zh-CN" altLang="en-US" sz="2000">
                  <a:solidFill>
                    <a:srgbClr val="FF0000"/>
                  </a:solidFill>
                  <a:latin typeface="Times New Roman" pitchFamily="18" charset="0"/>
                </a:rPr>
                <a:t>   </a:t>
              </a:r>
              <a:r>
                <a:rPr lang="en-US" altLang="zh-CN" sz="2000">
                  <a:solidFill>
                    <a:srgbClr val="FF0000"/>
                  </a:solidFill>
                  <a:latin typeface="Times New Roman" pitchFamily="18" charset="0"/>
                </a:rPr>
                <a:t>10.110 </a:t>
              </a:r>
            </a:p>
          </p:txBody>
        </p:sp>
        <p:sp>
          <p:nvSpPr>
            <p:cNvPr id="145417" name="Line 9"/>
            <p:cNvSpPr>
              <a:spLocks noChangeShapeType="1"/>
            </p:cNvSpPr>
            <p:nvPr/>
          </p:nvSpPr>
          <p:spPr bwMode="auto">
            <a:xfrm>
              <a:off x="4144" y="3112"/>
              <a:ext cx="79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5413" name="Text Box 11"/>
          <p:cNvSpPr txBox="1">
            <a:spLocks noChangeArrowheads="1"/>
          </p:cNvSpPr>
          <p:nvPr/>
        </p:nvSpPr>
        <p:spPr bwMode="auto">
          <a:xfrm>
            <a:off x="304800" y="457200"/>
            <a:ext cx="850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例：</a:t>
            </a:r>
            <a:r>
              <a:rPr lang="zh-CN" altLang="en-US">
                <a:latin typeface="Times New Roman" pitchFamily="18" charset="0"/>
              </a:rPr>
              <a:t>若某次加法操作的结果为 </a:t>
            </a:r>
            <a:r>
              <a:rPr lang="en-US" altLang="zh-CN">
                <a:latin typeface="Times New Roman" pitchFamily="18" charset="0"/>
              </a:rPr>
              <a:t>[X+Y]</a:t>
            </a:r>
            <a:r>
              <a:rPr lang="zh-CN" altLang="en-US" baseline="-25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=00.111, 10.1011100111</a:t>
            </a:r>
          </a:p>
        </p:txBody>
      </p:sp>
      <p:sp>
        <p:nvSpPr>
          <p:cNvPr id="145414" name="Text Box 12"/>
          <p:cNvSpPr txBox="1">
            <a:spLocks noChangeArrowheads="1"/>
          </p:cNvSpPr>
          <p:nvPr/>
        </p:nvSpPr>
        <p:spPr bwMode="auto">
          <a:xfrm>
            <a:off x="381000" y="1143000"/>
            <a:ext cx="82169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则应对其进行向右规格化操作：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     尾数为：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11.0101110011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，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阶码加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：  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01.000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    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阶码超出了它所能表示的最大正数（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+7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），表明本次浮点运算产生了溢出。</a:t>
            </a:r>
          </a:p>
        </p:txBody>
      </p:sp>
      <p:sp>
        <p:nvSpPr>
          <p:cNvPr id="145415" name="Rectangle 13"/>
          <p:cNvSpPr>
            <a:spLocks noChangeArrowheads="1"/>
          </p:cNvSpPr>
          <p:nvPr/>
        </p:nvSpPr>
        <p:spPr bwMode="auto">
          <a:xfrm>
            <a:off x="533400" y="5334000"/>
            <a:ext cx="81788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   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阶码超出了它所能表示的最小负数（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-8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），表明本次浮点运算产生了溢出。</a:t>
            </a:r>
          </a:p>
        </p:txBody>
      </p:sp>
    </p:spTree>
    <p:extLst>
      <p:ext uri="{BB962C8B-B14F-4D97-AF65-F5344CB8AC3E}">
        <p14:creationId xmlns:p14="http://schemas.microsoft.com/office/powerpoint/2010/main" val="572482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314325" y="1716088"/>
            <a:ext cx="857408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在加、减运算过程中要检查是否产生了溢出：若阶码正常，加减运算正常结束；若阶码溢出，则要进行相应的处理。</a:t>
            </a:r>
          </a:p>
        </p:txBody>
      </p:sp>
      <p:sp>
        <p:nvSpPr>
          <p:cNvPr id="146435" name="Text Box 3"/>
          <p:cNvSpPr txBox="1">
            <a:spLocks noChangeArrowheads="1"/>
          </p:cNvSpPr>
          <p:nvPr/>
        </p:nvSpPr>
        <p:spPr bwMode="auto">
          <a:xfrm>
            <a:off x="314325" y="2679700"/>
            <a:ext cx="8599488" cy="1992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阶码上溢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——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超过了阶码可能表示的最大值的正指数值</a:t>
            </a:r>
            <a:r>
              <a:rPr lang="en-US" altLang="zh-CN" dirty="0">
                <a:latin typeface="Times New Roman" pitchFamily="18" charset="0"/>
              </a:rPr>
              <a:t>,</a:t>
            </a:r>
            <a:r>
              <a:rPr lang="zh-CN" altLang="en-US" dirty="0">
                <a:latin typeface="Times New Roman" pitchFamily="18" charset="0"/>
              </a:rPr>
              <a:t>一般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                      将其认为是＋</a:t>
            </a:r>
            <a:r>
              <a:rPr lang="zh-CN" altLang="en-US" dirty="0">
                <a:solidFill>
                  <a:srgbClr val="000000"/>
                </a:solidFill>
                <a:latin typeface="宋体" charset="-122"/>
              </a:rPr>
              <a:t>∞</a:t>
            </a:r>
            <a:r>
              <a:rPr lang="zh-CN" altLang="en-US" dirty="0">
                <a:latin typeface="Times New Roman" pitchFamily="18" charset="0"/>
              </a:rPr>
              <a:t>和－</a:t>
            </a:r>
            <a:r>
              <a:rPr lang="zh-CN" altLang="en-US" dirty="0">
                <a:solidFill>
                  <a:srgbClr val="000000"/>
                </a:solidFill>
                <a:latin typeface="宋体" charset="-122"/>
              </a:rPr>
              <a:t>∞</a:t>
            </a:r>
            <a:r>
              <a:rPr lang="zh-CN" altLang="en-US" dirty="0">
                <a:latin typeface="Times New Roman" pitchFamily="18" charset="0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阶码下溢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——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zh-CN" altLang="en-US" dirty="0">
                <a:latin typeface="Times New Roman" pitchFamily="18" charset="0"/>
              </a:rPr>
              <a:t>超过了阶码可能表示的最小值的负指数值</a:t>
            </a:r>
            <a:r>
              <a:rPr lang="en-US" altLang="zh-CN" dirty="0">
                <a:latin typeface="Times New Roman" pitchFamily="18" charset="0"/>
              </a:rPr>
              <a:t>,</a:t>
            </a:r>
            <a:r>
              <a:rPr lang="zh-CN" altLang="en-US" dirty="0">
                <a:latin typeface="Times New Roman" pitchFamily="18" charset="0"/>
              </a:rPr>
              <a:t>一般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                      将其认为是</a:t>
            </a:r>
            <a:r>
              <a:rPr lang="en-US" altLang="zh-CN" dirty="0">
                <a:latin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</a:rPr>
              <a:t>。</a:t>
            </a:r>
          </a:p>
        </p:txBody>
      </p:sp>
      <p:sp>
        <p:nvSpPr>
          <p:cNvPr id="146436" name="Rectangle 7"/>
          <p:cNvSpPr>
            <a:spLocks noChangeArrowheads="1"/>
          </p:cNvSpPr>
          <p:nvPr/>
        </p:nvSpPr>
        <p:spPr bwMode="auto">
          <a:xfrm>
            <a:off x="206375" y="1214438"/>
            <a:ext cx="695254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Times New Roman" pitchFamily="18" charset="0"/>
              </a:rPr>
              <a:t>•</a:t>
            </a:r>
            <a:r>
              <a:rPr lang="en-US" altLang="zh-CN" sz="2800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800" dirty="0">
                <a:solidFill>
                  <a:srgbClr val="FF0000"/>
                </a:solidFill>
                <a:latin typeface="宋体" charset="-122"/>
              </a:rPr>
              <a:t>浮点数的溢出是以其阶码溢出表现出来的</a:t>
            </a:r>
          </a:p>
        </p:txBody>
      </p:sp>
      <p:sp>
        <p:nvSpPr>
          <p:cNvPr id="146437" name="Rectangle 8"/>
          <p:cNvSpPr>
            <a:spLocks noChangeArrowheads="1"/>
          </p:cNvSpPr>
          <p:nvPr/>
        </p:nvSpPr>
        <p:spPr bwMode="auto">
          <a:xfrm>
            <a:off x="257175" y="4775200"/>
            <a:ext cx="79207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•</a:t>
            </a:r>
            <a:r>
              <a:rPr lang="en-US" altLang="zh-CN" dirty="0">
                <a:solidFill>
                  <a:srgbClr val="FF0000"/>
                </a:solidFill>
                <a:latin typeface="宋体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对尾数的溢出也需要处理</a:t>
            </a:r>
            <a:r>
              <a:rPr lang="en-US" altLang="zh-CN" sz="2400" dirty="0">
                <a:solidFill>
                  <a:srgbClr val="FF0000"/>
                </a:solidFill>
                <a:latin typeface="宋体" charset="-122"/>
              </a:rPr>
              <a:t>(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上溢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—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右归，下溢</a:t>
            </a:r>
            <a:r>
              <a:rPr lang="en-US" altLang="zh-CN" sz="2400" dirty="0">
                <a:solidFill>
                  <a:srgbClr val="FF0000"/>
                </a:solidFill>
                <a:latin typeface="Times New Roman" pitchFamily="18" charset="0"/>
              </a:rPr>
              <a:t>—</a:t>
            </a:r>
            <a:r>
              <a:rPr lang="zh-CN" altLang="en-US" sz="2400" dirty="0">
                <a:solidFill>
                  <a:srgbClr val="FF0000"/>
                </a:solidFill>
                <a:latin typeface="宋体" charset="-122"/>
              </a:rPr>
              <a:t>舍入）。</a:t>
            </a:r>
          </a:p>
        </p:txBody>
      </p:sp>
      <p:sp>
        <p:nvSpPr>
          <p:cNvPr id="146438" name="Text Box 9"/>
          <p:cNvSpPr txBox="1">
            <a:spLocks noChangeArrowheads="1"/>
          </p:cNvSpPr>
          <p:nvPr/>
        </p:nvSpPr>
        <p:spPr bwMode="auto">
          <a:xfrm>
            <a:off x="381000" y="317500"/>
            <a:ext cx="2536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>
                <a:solidFill>
                  <a:schemeClr val="hlink"/>
                </a:solidFill>
                <a:latin typeface="Times New Roman" pitchFamily="18" charset="0"/>
              </a:rPr>
              <a:t>小结：</a:t>
            </a:r>
          </a:p>
        </p:txBody>
      </p:sp>
    </p:spTree>
    <p:extLst>
      <p:ext uri="{BB962C8B-B14F-4D97-AF65-F5344CB8AC3E}">
        <p14:creationId xmlns:p14="http://schemas.microsoft.com/office/powerpoint/2010/main" val="144342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 descr="浮点运算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457200"/>
            <a:ext cx="848995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526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Text Box 2"/>
          <p:cNvSpPr txBox="1">
            <a:spLocks noChangeArrowheads="1"/>
          </p:cNvSpPr>
          <p:nvPr/>
        </p:nvSpPr>
        <p:spPr bwMode="auto">
          <a:xfrm>
            <a:off x="228600" y="457200"/>
            <a:ext cx="868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例</a:t>
            </a:r>
            <a:r>
              <a:rPr lang="zh-CN" altLang="en-US">
                <a:solidFill>
                  <a:srgbClr val="FF00FF"/>
                </a:solidFill>
                <a:latin typeface="Times New Roman" pitchFamily="18" charset="0"/>
              </a:rPr>
              <a:t>  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设ｘ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=2</a:t>
            </a:r>
            <a:r>
              <a:rPr lang="en-US" altLang="zh-CN" baseline="30000">
                <a:solidFill>
                  <a:srgbClr val="0066FF"/>
                </a:solidFill>
                <a:latin typeface="Times New Roman" pitchFamily="18" charset="0"/>
              </a:rPr>
              <a:t>010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0.11011011,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=2</a:t>
            </a:r>
            <a:r>
              <a:rPr lang="en-US" altLang="zh-CN" baseline="30000">
                <a:solidFill>
                  <a:srgbClr val="0066FF"/>
                </a:solidFill>
                <a:latin typeface="Times New Roman" pitchFamily="18" charset="0"/>
              </a:rPr>
              <a:t>100 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(</a:t>
            </a:r>
            <a:r>
              <a:rPr lang="en-US" altLang="zh-CN">
                <a:solidFill>
                  <a:srgbClr val="0066FF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0.10101100), 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求ｘ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ｙ。</a:t>
            </a:r>
          </a:p>
        </p:txBody>
      </p:sp>
      <p:sp>
        <p:nvSpPr>
          <p:cNvPr id="148483" name="Text Box 3"/>
          <p:cNvSpPr txBox="1">
            <a:spLocks noChangeArrowheads="1"/>
          </p:cNvSpPr>
          <p:nvPr/>
        </p:nvSpPr>
        <p:spPr bwMode="auto">
          <a:xfrm>
            <a:off x="336550" y="1222375"/>
            <a:ext cx="850265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解：</a:t>
            </a:r>
            <a:r>
              <a:rPr lang="zh-CN" altLang="en-US">
                <a:latin typeface="Times New Roman" pitchFamily="18" charset="0"/>
              </a:rPr>
              <a:t>  阶码采用双符号位</a:t>
            </a:r>
            <a:r>
              <a:rPr lang="en-US" altLang="zh-CN">
                <a:latin typeface="Times New Roman" pitchFamily="18" charset="0"/>
              </a:rPr>
              <a:t>, </a:t>
            </a:r>
            <a:r>
              <a:rPr lang="zh-CN" altLang="en-US">
                <a:latin typeface="Times New Roman" pitchFamily="18" charset="0"/>
              </a:rPr>
              <a:t>尾数采用单符号位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则它们的浮点表示分别为            </a:t>
            </a:r>
            <a:r>
              <a:rPr lang="en-US" altLang="zh-CN">
                <a:latin typeface="Times New Roman" pitchFamily="18" charset="0"/>
              </a:rPr>
              <a:t>[</a:t>
            </a:r>
            <a:r>
              <a:rPr lang="en-US" altLang="zh-CN" i="1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en-US" altLang="zh-CN">
                <a:latin typeface="Times New Roman" pitchFamily="18" charset="0"/>
              </a:rPr>
              <a:t>= 00 010,</a:t>
            </a:r>
            <a:r>
              <a:rPr lang="zh-CN" altLang="en-US">
                <a:latin typeface="Times New Roman" pitchFamily="18" charset="0"/>
              </a:rPr>
              <a:t>　 </a:t>
            </a:r>
            <a:r>
              <a:rPr lang="en-US" altLang="zh-CN">
                <a:latin typeface="Times New Roman" pitchFamily="18" charset="0"/>
              </a:rPr>
              <a:t>0.11011011</a:t>
            </a:r>
            <a:br>
              <a:rPr lang="en-US" altLang="zh-CN">
                <a:latin typeface="Times New Roman" pitchFamily="18" charset="0"/>
              </a:rPr>
            </a:br>
            <a:r>
              <a:rPr lang="en-US" altLang="zh-CN">
                <a:latin typeface="Times New Roman" pitchFamily="18" charset="0"/>
              </a:rPr>
              <a:t>                            [y]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en-US" altLang="zh-CN">
                <a:latin typeface="Times New Roman" pitchFamily="18" charset="0"/>
              </a:rPr>
              <a:t>= 00 100,</a:t>
            </a:r>
            <a:r>
              <a:rPr lang="zh-CN" altLang="en-US">
                <a:latin typeface="Times New Roman" pitchFamily="18" charset="0"/>
              </a:rPr>
              <a:t>　 </a:t>
            </a:r>
            <a:r>
              <a:rPr lang="en-US" altLang="zh-CN">
                <a:latin typeface="Times New Roman" pitchFamily="18" charset="0"/>
              </a:rPr>
              <a:t>1.01010100</a:t>
            </a:r>
          </a:p>
          <a:p>
            <a:pPr eaLnBrk="1" hangingPunct="1">
              <a:lnSpc>
                <a:spcPct val="95000"/>
              </a:lnSpc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(1)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求阶差并对阶</a:t>
            </a:r>
          </a:p>
        </p:txBody>
      </p:sp>
      <p:sp>
        <p:nvSpPr>
          <p:cNvPr id="148484" name="Rectangle 4"/>
          <p:cNvSpPr>
            <a:spLocks noChangeArrowheads="1"/>
          </p:cNvSpPr>
          <p:nvPr/>
        </p:nvSpPr>
        <p:spPr bwMode="auto">
          <a:xfrm>
            <a:off x="1106488" y="2916238"/>
            <a:ext cx="762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Times New Roman" pitchFamily="18" charset="0"/>
              </a:rPr>
              <a:t>△E = E</a:t>
            </a:r>
            <a:r>
              <a:rPr lang="en-US" altLang="zh-CN" baseline="-30000">
                <a:latin typeface="Times New Roman" pitchFamily="18" charset="0"/>
              </a:rPr>
              <a:t>x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latin typeface="Times New Roman" pitchFamily="18" charset="0"/>
                <a:ea typeface="黑体" pitchFamily="2" charset="-122"/>
              </a:rPr>
              <a:t> </a:t>
            </a:r>
            <a:r>
              <a:rPr lang="en-US" altLang="zh-CN">
                <a:latin typeface="Times New Roman" pitchFamily="18" charset="0"/>
              </a:rPr>
              <a:t>E</a:t>
            </a:r>
            <a:r>
              <a:rPr lang="en-US" altLang="zh-CN" baseline="-30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= [E</a:t>
            </a:r>
            <a:r>
              <a:rPr lang="en-US" altLang="zh-CN" baseline="-30000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+ [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latin typeface="Times New Roman" pitchFamily="18" charset="0"/>
              </a:rPr>
              <a:t>E</a:t>
            </a:r>
            <a:r>
              <a:rPr lang="en-US" altLang="zh-CN" baseline="-30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00 010 + 11 100 = 11 110</a:t>
            </a:r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2211388" y="3941763"/>
            <a:ext cx="5027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latin typeface="Times New Roman" pitchFamily="18" charset="0"/>
              </a:rPr>
              <a:t>[x]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zh-CN" altLang="en-US">
                <a:latin typeface="Times New Roman" pitchFamily="18" charset="0"/>
              </a:rPr>
              <a:t>＝</a:t>
            </a:r>
            <a:r>
              <a:rPr lang="en-US" altLang="zh-CN">
                <a:latin typeface="Times New Roman" pitchFamily="18" charset="0"/>
              </a:rPr>
              <a:t>00 100,  0.00110110(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11</a:t>
            </a:r>
            <a:r>
              <a:rPr lang="en-US" altLang="zh-CN">
                <a:latin typeface="Times New Roman" pitchFamily="18" charset="0"/>
              </a:rPr>
              <a:t>)</a:t>
            </a:r>
          </a:p>
        </p:txBody>
      </p:sp>
      <p:sp>
        <p:nvSpPr>
          <p:cNvPr id="148486" name="Rectangle 6"/>
          <p:cNvSpPr>
            <a:spLocks noChangeArrowheads="1"/>
          </p:cNvSpPr>
          <p:nvPr/>
        </p:nvSpPr>
        <p:spPr bwMode="auto">
          <a:xfrm>
            <a:off x="1089025" y="4376738"/>
            <a:ext cx="65452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其中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11</a:t>
            </a:r>
            <a:r>
              <a:rPr lang="en-US" altLang="zh-CN">
                <a:latin typeface="Times New Roman" pitchFamily="18" charset="0"/>
              </a:rPr>
              <a:t>)</a:t>
            </a:r>
            <a:r>
              <a:rPr lang="zh-CN" altLang="en-US">
                <a:latin typeface="Times New Roman" pitchFamily="18" charset="0"/>
              </a:rPr>
              <a:t>表示</a:t>
            </a:r>
            <a:r>
              <a:rPr lang="en-US" altLang="zh-CN">
                <a:latin typeface="Times New Roman" pitchFamily="18" charset="0"/>
              </a:rPr>
              <a:t>M</a:t>
            </a:r>
            <a:r>
              <a:rPr lang="zh-CN" altLang="en-US" baseline="-30000">
                <a:latin typeface="Times New Roman" pitchFamily="18" charset="0"/>
              </a:rPr>
              <a:t>ｘ</a:t>
            </a:r>
            <a:r>
              <a:rPr lang="zh-CN" altLang="en-US">
                <a:latin typeface="Times New Roman" pitchFamily="18" charset="0"/>
              </a:rPr>
              <a:t>右移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位后移出的最低两位数。</a:t>
            </a:r>
          </a:p>
        </p:txBody>
      </p:sp>
      <p:sp>
        <p:nvSpPr>
          <p:cNvPr id="148487" name="Text Box 7"/>
          <p:cNvSpPr txBox="1">
            <a:spLocks noChangeArrowheads="1"/>
          </p:cNvSpPr>
          <p:nvPr/>
        </p:nvSpPr>
        <p:spPr bwMode="auto">
          <a:xfrm>
            <a:off x="1106488" y="3433763"/>
            <a:ext cx="76247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即△</a:t>
            </a:r>
            <a:r>
              <a:rPr lang="en-US" altLang="zh-CN">
                <a:latin typeface="Times New Roman" pitchFamily="18" charset="0"/>
              </a:rPr>
              <a:t>E</a:t>
            </a:r>
            <a:r>
              <a:rPr lang="zh-CN" altLang="en-US">
                <a:latin typeface="Times New Roman" pitchFamily="18" charset="0"/>
              </a:rPr>
              <a:t>为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latin typeface="Times New Roman" pitchFamily="18" charset="0"/>
              </a:rPr>
              <a:t>2,  x</a:t>
            </a:r>
            <a:r>
              <a:rPr lang="zh-CN" altLang="en-US">
                <a:latin typeface="Times New Roman" pitchFamily="18" charset="0"/>
              </a:rPr>
              <a:t>的阶码小</a:t>
            </a:r>
            <a:r>
              <a:rPr lang="en-US" altLang="zh-CN">
                <a:latin typeface="Times New Roman" pitchFamily="18" charset="0"/>
              </a:rPr>
              <a:t>,   </a:t>
            </a:r>
            <a:r>
              <a:rPr lang="zh-CN" altLang="en-US">
                <a:latin typeface="Times New Roman" pitchFamily="18" charset="0"/>
              </a:rPr>
              <a:t>应使 </a:t>
            </a:r>
            <a:r>
              <a:rPr lang="en-US" altLang="zh-CN">
                <a:latin typeface="Times New Roman" pitchFamily="18" charset="0"/>
              </a:rPr>
              <a:t>M</a:t>
            </a:r>
            <a:r>
              <a:rPr lang="en-US" altLang="zh-CN" baseline="-30000">
                <a:latin typeface="Times New Roman" pitchFamily="18" charset="0"/>
              </a:rPr>
              <a:t>x</a:t>
            </a:r>
            <a:r>
              <a:rPr lang="zh-CN" altLang="en-US">
                <a:latin typeface="Times New Roman" pitchFamily="18" charset="0"/>
              </a:rPr>
              <a:t>右移两位</a:t>
            </a:r>
            <a:r>
              <a:rPr lang="en-US" altLang="zh-CN">
                <a:latin typeface="Times New Roman" pitchFamily="18" charset="0"/>
              </a:rPr>
              <a:t>,  E</a:t>
            </a:r>
            <a:r>
              <a:rPr lang="en-US" altLang="zh-CN" baseline="-30000">
                <a:latin typeface="Times New Roman" pitchFamily="18" charset="0"/>
              </a:rPr>
              <a:t>x</a:t>
            </a:r>
            <a:r>
              <a:rPr lang="zh-CN" altLang="en-US">
                <a:latin typeface="Times New Roman" pitchFamily="18" charset="0"/>
              </a:rPr>
              <a:t>加</a:t>
            </a:r>
            <a:r>
              <a:rPr lang="en-US" altLang="zh-CN">
                <a:latin typeface="Times New Roman" pitchFamily="18" charset="0"/>
              </a:rPr>
              <a:t>2,</a:t>
            </a:r>
          </a:p>
        </p:txBody>
      </p:sp>
    </p:spTree>
    <p:extLst>
      <p:ext uri="{BB962C8B-B14F-4D97-AF65-F5344CB8AC3E}">
        <p14:creationId xmlns:p14="http://schemas.microsoft.com/office/powerpoint/2010/main" val="356168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2"/>
          <p:cNvSpPr txBox="1">
            <a:spLocks noChangeArrowheads="1"/>
          </p:cNvSpPr>
          <p:nvPr/>
        </p:nvSpPr>
        <p:spPr bwMode="auto">
          <a:xfrm>
            <a:off x="228600" y="381000"/>
            <a:ext cx="2162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宋体" charset="-122"/>
              </a:rPr>
              <a:t>(2)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尾数求和</a:t>
            </a:r>
            <a:endParaRPr lang="zh-CN" altLang="en-US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149507" name="Line 3"/>
          <p:cNvSpPr>
            <a:spLocks noChangeShapeType="1"/>
          </p:cNvSpPr>
          <p:nvPr/>
        </p:nvSpPr>
        <p:spPr bwMode="auto">
          <a:xfrm>
            <a:off x="3489325" y="1236663"/>
            <a:ext cx="30162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9508" name="Text Box 4"/>
          <p:cNvSpPr txBox="1">
            <a:spLocks noChangeArrowheads="1"/>
          </p:cNvSpPr>
          <p:nvPr/>
        </p:nvSpPr>
        <p:spPr bwMode="auto">
          <a:xfrm>
            <a:off x="228600" y="3276600"/>
            <a:ext cx="24812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宋体" charset="-122"/>
              </a:rPr>
              <a:t>(4) 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舍入处理</a:t>
            </a:r>
          </a:p>
        </p:txBody>
      </p:sp>
      <p:sp>
        <p:nvSpPr>
          <p:cNvPr id="149509" name="Text Box 5"/>
          <p:cNvSpPr txBox="1">
            <a:spLocks noChangeArrowheads="1"/>
          </p:cNvSpPr>
          <p:nvPr/>
        </p:nvSpPr>
        <p:spPr bwMode="auto">
          <a:xfrm>
            <a:off x="381000" y="3810000"/>
            <a:ext cx="3919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采用</a:t>
            </a:r>
            <a:r>
              <a:rPr lang="en-US" altLang="zh-CN">
                <a:latin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</a:rPr>
              <a:t>舍</a:t>
            </a:r>
            <a:r>
              <a:rPr lang="en-US" altLang="zh-CN">
                <a:latin typeface="Times New Roman" pitchFamily="18" charset="0"/>
              </a:rPr>
              <a:t>1</a:t>
            </a:r>
            <a:r>
              <a:rPr lang="zh-CN" altLang="en-US">
                <a:latin typeface="Times New Roman" pitchFamily="18" charset="0"/>
              </a:rPr>
              <a:t>入法处理</a:t>
            </a:r>
            <a:r>
              <a:rPr lang="en-US" altLang="zh-CN">
                <a:latin typeface="Times New Roman" pitchFamily="18" charset="0"/>
              </a:rPr>
              <a:t>, </a:t>
            </a:r>
            <a:r>
              <a:rPr lang="zh-CN" altLang="en-US">
                <a:latin typeface="Times New Roman" pitchFamily="18" charset="0"/>
              </a:rPr>
              <a:t>则有</a:t>
            </a:r>
            <a:r>
              <a:rPr lang="en-US" altLang="zh-CN">
                <a:latin typeface="Times New Roman" pitchFamily="18" charset="0"/>
              </a:rPr>
              <a:t>:</a:t>
            </a:r>
          </a:p>
        </p:txBody>
      </p:sp>
      <p:sp>
        <p:nvSpPr>
          <p:cNvPr id="149510" name="Text Box 6"/>
          <p:cNvSpPr txBox="1">
            <a:spLocks noChangeArrowheads="1"/>
          </p:cNvSpPr>
          <p:nvPr/>
        </p:nvSpPr>
        <p:spPr bwMode="auto">
          <a:xfrm>
            <a:off x="4624388" y="3124200"/>
            <a:ext cx="243522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1.00010101</a:t>
            </a:r>
          </a:p>
          <a:p>
            <a:pPr algn="just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 u="sng">
                <a:solidFill>
                  <a:srgbClr val="000000"/>
                </a:solidFill>
                <a:latin typeface="宋体" charset="-122"/>
              </a:rPr>
              <a:t>+          1  </a:t>
            </a:r>
          </a:p>
          <a:p>
            <a:pPr algn="just" eaLnBrk="1" hangingPunct="1">
              <a:lnSpc>
                <a:spcPct val="70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1.00010110</a:t>
            </a:r>
          </a:p>
        </p:txBody>
      </p:sp>
      <p:sp>
        <p:nvSpPr>
          <p:cNvPr id="149511" name="Text Box 7"/>
          <p:cNvSpPr txBox="1">
            <a:spLocks noChangeArrowheads="1"/>
          </p:cNvSpPr>
          <p:nvPr/>
        </p:nvSpPr>
        <p:spPr bwMode="auto">
          <a:xfrm>
            <a:off x="2706688" y="304800"/>
            <a:ext cx="36464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      0.00110110(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)</a:t>
            </a:r>
          </a:p>
          <a:p>
            <a:pPr algn="just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   +  1.01010100</a:t>
            </a:r>
            <a:r>
              <a:rPr lang="en-US" altLang="zh-CN" u="sng">
                <a:solidFill>
                  <a:srgbClr val="000000"/>
                </a:solidFill>
                <a:latin typeface="宋体" charset="-122"/>
              </a:rPr>
              <a:t>       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</a:t>
            </a:r>
            <a:r>
              <a:rPr lang="en-US" altLang="zh-CN" u="sng">
                <a:solidFill>
                  <a:srgbClr val="000000"/>
                </a:solidFill>
                <a:latin typeface="宋体" charset="-122"/>
              </a:rPr>
              <a:t> </a:t>
            </a:r>
          </a:p>
          <a:p>
            <a:pPr algn="just"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宋体" charset="-122"/>
              </a:rPr>
              <a:t>         1.10001010(</a:t>
            </a:r>
            <a:r>
              <a:rPr lang="en-US" altLang="zh-CN">
                <a:solidFill>
                  <a:srgbClr val="0000FF"/>
                </a:solidFill>
                <a:latin typeface="宋体" charset="-122"/>
              </a:rPr>
              <a:t>11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)</a:t>
            </a:r>
          </a:p>
        </p:txBody>
      </p:sp>
      <p:sp>
        <p:nvSpPr>
          <p:cNvPr id="149512" name="Text Box 8"/>
          <p:cNvSpPr txBox="1">
            <a:spLocks noChangeArrowheads="1"/>
          </p:cNvSpPr>
          <p:nvPr/>
        </p:nvSpPr>
        <p:spPr bwMode="auto">
          <a:xfrm>
            <a:off x="228600" y="1676400"/>
            <a:ext cx="8585200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宋体" charset="-122"/>
              </a:rPr>
              <a:t>(3) 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规格化处理</a:t>
            </a:r>
            <a:endParaRPr lang="zh-CN" altLang="en-US">
              <a:solidFill>
                <a:srgbClr val="000000"/>
              </a:solidFill>
              <a:latin typeface="宋体" charset="-122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  尾数运算结果的符号位与最高数值位为同值，应执行左规处</a:t>
            </a:r>
          </a:p>
          <a:p>
            <a:pPr algn="just"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理，结果为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1.00010101(10)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， 阶码为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00 011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。</a:t>
            </a:r>
            <a:endParaRPr lang="zh-CN" altLang="en-US" sz="2800">
              <a:latin typeface="Times New Roman" pitchFamily="18" charset="0"/>
            </a:endParaRPr>
          </a:p>
        </p:txBody>
      </p:sp>
      <p:sp>
        <p:nvSpPr>
          <p:cNvPr id="149513" name="Text Box 12"/>
          <p:cNvSpPr txBox="1">
            <a:spLocks noChangeArrowheads="1"/>
          </p:cNvSpPr>
          <p:nvPr/>
        </p:nvSpPr>
        <p:spPr bwMode="auto">
          <a:xfrm>
            <a:off x="304800" y="4572000"/>
            <a:ext cx="8297863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宋体" charset="-122"/>
              </a:rPr>
              <a:t>(5) </a:t>
            </a:r>
            <a:r>
              <a:rPr lang="zh-CN" altLang="en-US">
                <a:solidFill>
                  <a:srgbClr val="FF0000"/>
                </a:solidFill>
                <a:latin typeface="宋体" charset="-122"/>
              </a:rPr>
              <a:t>判断溢出</a:t>
            </a:r>
            <a:endParaRPr lang="zh-CN" altLang="en-US">
              <a:solidFill>
                <a:srgbClr val="000000"/>
              </a:solidFill>
              <a:latin typeface="宋体" charset="-122"/>
            </a:endParaRPr>
          </a:p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rgbClr val="000000"/>
                </a:solidFill>
                <a:latin typeface="宋体" charset="-122"/>
              </a:rPr>
              <a:t>   阶码符号位为</a:t>
            </a:r>
            <a:r>
              <a:rPr lang="en-US" altLang="zh-CN">
                <a:solidFill>
                  <a:srgbClr val="000000"/>
                </a:solidFill>
                <a:latin typeface="宋体" charset="-122"/>
              </a:rPr>
              <a:t>00</a:t>
            </a:r>
            <a:r>
              <a:rPr lang="zh-CN" altLang="en-US">
                <a:solidFill>
                  <a:srgbClr val="000000"/>
                </a:solidFill>
                <a:latin typeface="宋体" charset="-122"/>
              </a:rPr>
              <a:t>，不溢出，故得最终结果为</a:t>
            </a:r>
          </a:p>
          <a:p>
            <a:pPr algn="just"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宋体" charset="-122"/>
              </a:rPr>
              <a:t>     </a:t>
            </a:r>
            <a:r>
              <a:rPr lang="en-US" altLang="zh-CN" sz="2800">
                <a:solidFill>
                  <a:srgbClr val="0000FF"/>
                </a:solidFill>
                <a:latin typeface="Times New Roman" pitchFamily="18" charset="0"/>
              </a:rPr>
              <a:t>x + y = 2</a:t>
            </a:r>
            <a:r>
              <a:rPr lang="en-US" altLang="zh-CN" sz="2800" baseline="30000">
                <a:solidFill>
                  <a:srgbClr val="0000FF"/>
                </a:solidFill>
                <a:latin typeface="Times New Roman" pitchFamily="18" charset="0"/>
              </a:rPr>
              <a:t>011 × </a:t>
            </a:r>
            <a:r>
              <a:rPr lang="en-US" altLang="zh-CN" sz="2800">
                <a:solidFill>
                  <a:srgbClr val="0000FF"/>
                </a:solidFill>
                <a:latin typeface="Times New Roman" pitchFamily="18" charset="0"/>
              </a:rPr>
              <a:t>(-0.11101010)</a:t>
            </a:r>
          </a:p>
        </p:txBody>
      </p:sp>
    </p:spTree>
    <p:extLst>
      <p:ext uri="{BB962C8B-B14F-4D97-AF65-F5344CB8AC3E}">
        <p14:creationId xmlns:p14="http://schemas.microsoft.com/office/powerpoint/2010/main" val="385275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381000" y="304800"/>
            <a:ext cx="8153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>
                <a:solidFill>
                  <a:schemeClr val="hlink"/>
                </a:solidFill>
                <a:latin typeface="黑体" pitchFamily="2" charset="-122"/>
                <a:ea typeface="黑体" pitchFamily="2" charset="-122"/>
              </a:rPr>
              <a:t>例 </a:t>
            </a:r>
            <a:r>
              <a:rPr lang="zh-CN" altLang="en-US"/>
              <a:t>两浮点数</a:t>
            </a:r>
            <a:r>
              <a:rPr lang="en-US" altLang="zh-CN" i="1"/>
              <a:t>x</a:t>
            </a:r>
            <a:r>
              <a:rPr lang="en-US" altLang="zh-CN"/>
              <a:t> = 2</a:t>
            </a:r>
            <a:r>
              <a:rPr lang="en-US" altLang="zh-CN" baseline="30000"/>
              <a:t>01</a:t>
            </a:r>
            <a:r>
              <a:rPr lang="en-US" altLang="zh-CN"/>
              <a:t>×0.1101</a:t>
            </a:r>
            <a:r>
              <a:rPr lang="zh-CN" altLang="en-US"/>
              <a:t>，</a:t>
            </a:r>
            <a:r>
              <a:rPr lang="en-US" altLang="zh-CN" i="1"/>
              <a:t>y</a:t>
            </a:r>
            <a:r>
              <a:rPr lang="en-US" altLang="zh-CN"/>
              <a:t> = 2</a:t>
            </a:r>
            <a:r>
              <a:rPr lang="en-US" altLang="zh-CN" baseline="30000"/>
              <a:t>11</a:t>
            </a:r>
            <a:r>
              <a:rPr lang="en-US" altLang="zh-CN"/>
              <a:t>×(-0.1010)</a:t>
            </a:r>
            <a:r>
              <a:rPr lang="zh-CN" altLang="en-US"/>
              <a:t>。假设尾数在计算机中以补码表示，可存储</a:t>
            </a:r>
            <a:r>
              <a:rPr lang="en-US" altLang="zh-CN"/>
              <a:t>4</a:t>
            </a:r>
            <a:r>
              <a:rPr lang="zh-CN" altLang="en-US"/>
              <a:t>位尾数，</a:t>
            </a:r>
            <a:r>
              <a:rPr lang="en-US" altLang="zh-CN"/>
              <a:t>2</a:t>
            </a:r>
            <a:r>
              <a:rPr lang="zh-CN" altLang="en-US"/>
              <a:t>位保护位，阶码以原码表示，求</a:t>
            </a:r>
            <a:r>
              <a:rPr lang="en-US" altLang="zh-CN" i="1"/>
              <a:t>x</a:t>
            </a:r>
            <a:r>
              <a:rPr lang="en-US" altLang="zh-CN"/>
              <a:t>+</a:t>
            </a:r>
            <a:r>
              <a:rPr lang="en-US" altLang="zh-CN" i="1"/>
              <a:t>y</a:t>
            </a:r>
            <a:r>
              <a:rPr lang="zh-CN" altLang="en-US"/>
              <a:t>。</a:t>
            </a:r>
          </a:p>
        </p:txBody>
      </p:sp>
      <p:sp>
        <p:nvSpPr>
          <p:cNvPr id="150531" name="Rectangle 3"/>
          <p:cNvSpPr>
            <a:spLocks noChangeArrowheads="1"/>
          </p:cNvSpPr>
          <p:nvPr/>
        </p:nvSpPr>
        <p:spPr bwMode="auto">
          <a:xfrm>
            <a:off x="381000" y="1524000"/>
            <a:ext cx="83820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solidFill>
                  <a:schemeClr val="hlink"/>
                </a:solidFill>
                <a:latin typeface="宋体" charset="-122"/>
              </a:rPr>
              <a:t>解：</a:t>
            </a:r>
            <a:r>
              <a:rPr lang="zh-CN" altLang="en-US" sz="2000">
                <a:latin typeface="宋体" charset="-122"/>
              </a:rPr>
              <a:t>将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,</a:t>
            </a:r>
            <a:r>
              <a:rPr lang="en-US" altLang="zh-CN" sz="2000" i="1">
                <a:latin typeface="宋体" charset="-122"/>
              </a:rPr>
              <a:t>y</a:t>
            </a:r>
            <a:r>
              <a:rPr lang="zh-CN" altLang="en-US" sz="2000">
                <a:latin typeface="宋体" charset="-122"/>
              </a:rPr>
              <a:t>转换成浮点数据格式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	</a:t>
            </a:r>
            <a:r>
              <a:rPr lang="en-US" altLang="zh-CN" sz="2000">
                <a:latin typeface="宋体" charset="-122"/>
              </a:rPr>
              <a:t>[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]</a:t>
            </a:r>
            <a:r>
              <a:rPr lang="zh-CN" altLang="en-US" sz="2000" baseline="-25000">
                <a:latin typeface="宋体" charset="-122"/>
              </a:rPr>
              <a:t>浮</a:t>
            </a:r>
            <a:r>
              <a:rPr lang="zh-CN" altLang="en-US" sz="2000">
                <a:latin typeface="宋体" charset="-122"/>
              </a:rPr>
              <a:t> </a:t>
            </a:r>
            <a:r>
              <a:rPr lang="en-US" altLang="zh-CN" sz="2000">
                <a:latin typeface="宋体" charset="-122"/>
              </a:rPr>
              <a:t>= 00 01, 00.1101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latin typeface="宋体" charset="-122"/>
              </a:rPr>
              <a:t>	[</a:t>
            </a:r>
            <a:r>
              <a:rPr lang="en-US" altLang="zh-CN" sz="2000" i="1">
                <a:latin typeface="宋体" charset="-122"/>
              </a:rPr>
              <a:t>y</a:t>
            </a:r>
            <a:r>
              <a:rPr lang="en-US" altLang="zh-CN" sz="2000">
                <a:latin typeface="宋体" charset="-122"/>
              </a:rPr>
              <a:t>]</a:t>
            </a:r>
            <a:r>
              <a:rPr lang="zh-CN" altLang="en-US" sz="2000" baseline="-25000">
                <a:latin typeface="宋体" charset="-122"/>
              </a:rPr>
              <a:t>浮</a:t>
            </a:r>
            <a:r>
              <a:rPr lang="zh-CN" altLang="en-US" sz="2000">
                <a:latin typeface="宋体" charset="-122"/>
              </a:rPr>
              <a:t> </a:t>
            </a:r>
            <a:r>
              <a:rPr lang="en-US" altLang="zh-CN" sz="2000">
                <a:latin typeface="宋体" charset="-122"/>
              </a:rPr>
              <a:t>= 00 11, 11.0110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步骤</a:t>
            </a:r>
            <a:r>
              <a:rPr lang="en-US" altLang="zh-CN" sz="2000">
                <a:latin typeface="宋体" charset="-122"/>
              </a:rPr>
              <a:t>1</a:t>
            </a:r>
            <a:r>
              <a:rPr lang="zh-CN" altLang="en-US" sz="2000">
                <a:latin typeface="宋体" charset="-122"/>
              </a:rPr>
              <a:t>：对阶，阶差为</a:t>
            </a:r>
            <a:r>
              <a:rPr lang="en-US" altLang="zh-CN" sz="2000">
                <a:latin typeface="宋体" charset="-122"/>
              </a:rPr>
              <a:t>11-01=10</a:t>
            </a:r>
            <a:r>
              <a:rPr lang="zh-CN" altLang="en-US" sz="2000">
                <a:latin typeface="宋体" charset="-122"/>
              </a:rPr>
              <a:t>，即</a:t>
            </a:r>
            <a:r>
              <a:rPr lang="en-US" altLang="zh-CN" sz="2000">
                <a:latin typeface="宋体" charset="-122"/>
              </a:rPr>
              <a:t>2</a:t>
            </a:r>
            <a:r>
              <a:rPr lang="zh-CN" altLang="en-US" sz="2000">
                <a:latin typeface="宋体" charset="-122"/>
              </a:rPr>
              <a:t>，因此将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zh-CN" altLang="en-US" sz="2000">
                <a:latin typeface="宋体" charset="-122"/>
              </a:rPr>
              <a:t>的尾数右移两位，得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	</a:t>
            </a:r>
            <a:r>
              <a:rPr lang="en-US" altLang="zh-CN" sz="2000">
                <a:latin typeface="宋体" charset="-122"/>
              </a:rPr>
              <a:t>[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]</a:t>
            </a:r>
            <a:r>
              <a:rPr lang="zh-CN" altLang="en-US" sz="2000" baseline="-25000">
                <a:latin typeface="宋体" charset="-122"/>
              </a:rPr>
              <a:t>浮</a:t>
            </a:r>
            <a:r>
              <a:rPr lang="zh-CN" altLang="en-US" sz="2000">
                <a:latin typeface="宋体" charset="-122"/>
              </a:rPr>
              <a:t> </a:t>
            </a:r>
            <a:r>
              <a:rPr lang="en-US" altLang="zh-CN" sz="2000">
                <a:latin typeface="宋体" charset="-122"/>
              </a:rPr>
              <a:t>= 00 11, 00.0011</a:t>
            </a:r>
            <a:r>
              <a:rPr lang="en-US" altLang="zh-CN" sz="2000">
                <a:solidFill>
                  <a:srgbClr val="0000FF"/>
                </a:solidFill>
                <a:latin typeface="宋体" charset="-122"/>
              </a:rPr>
              <a:t>01</a:t>
            </a:r>
            <a:endParaRPr lang="en-US" altLang="zh-CN" sz="2000">
              <a:latin typeface="宋体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步骤</a:t>
            </a:r>
            <a:r>
              <a:rPr lang="en-US" altLang="zh-CN" sz="2000">
                <a:latin typeface="宋体" charset="-122"/>
              </a:rPr>
              <a:t>2</a:t>
            </a:r>
            <a:r>
              <a:rPr lang="zh-CN" altLang="en-US" sz="2000">
                <a:latin typeface="宋体" charset="-122"/>
              </a:rPr>
              <a:t>：对尾数求和，得</a:t>
            </a:r>
            <a:r>
              <a:rPr lang="en-US" altLang="zh-CN" sz="2000">
                <a:latin typeface="宋体" charset="-122"/>
              </a:rPr>
              <a:t>: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latin typeface="宋体" charset="-122"/>
              </a:rPr>
              <a:t>	[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+</a:t>
            </a:r>
            <a:r>
              <a:rPr lang="en-US" altLang="zh-CN" sz="2000" i="1">
                <a:latin typeface="宋体" charset="-122"/>
              </a:rPr>
              <a:t>y</a:t>
            </a:r>
            <a:r>
              <a:rPr lang="en-US" altLang="zh-CN" sz="2000">
                <a:latin typeface="宋体" charset="-122"/>
              </a:rPr>
              <a:t>]</a:t>
            </a:r>
            <a:r>
              <a:rPr lang="zh-CN" altLang="en-US" sz="2000" baseline="-25000">
                <a:latin typeface="宋体" charset="-122"/>
              </a:rPr>
              <a:t>浮</a:t>
            </a:r>
            <a:r>
              <a:rPr lang="zh-CN" altLang="en-US" sz="2000">
                <a:latin typeface="宋体" charset="-122"/>
              </a:rPr>
              <a:t> </a:t>
            </a:r>
            <a:r>
              <a:rPr lang="en-US" altLang="zh-CN" sz="2000">
                <a:latin typeface="宋体" charset="-122"/>
              </a:rPr>
              <a:t>= 00 11, 11.1001</a:t>
            </a:r>
            <a:r>
              <a:rPr lang="en-US" altLang="zh-CN" sz="2000">
                <a:solidFill>
                  <a:srgbClr val="0000FF"/>
                </a:solidFill>
                <a:latin typeface="宋体" charset="-122"/>
              </a:rPr>
              <a:t>01</a:t>
            </a:r>
            <a:endParaRPr lang="en-US" altLang="zh-CN" sz="2000">
              <a:latin typeface="宋体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步骤</a:t>
            </a:r>
            <a:r>
              <a:rPr lang="en-US" altLang="zh-CN" sz="2000">
                <a:latin typeface="宋体" charset="-122"/>
              </a:rPr>
              <a:t>3</a:t>
            </a:r>
            <a:r>
              <a:rPr lang="zh-CN" altLang="en-US" sz="2000">
                <a:latin typeface="宋体" charset="-122"/>
              </a:rPr>
              <a:t>：由于符号位和第一位数相等，不是规格化数，向左规格化，得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	</a:t>
            </a:r>
            <a:r>
              <a:rPr lang="en-US" altLang="zh-CN" sz="2000">
                <a:latin typeface="宋体" charset="-122"/>
              </a:rPr>
              <a:t>[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+</a:t>
            </a:r>
            <a:r>
              <a:rPr lang="en-US" altLang="zh-CN" sz="2000" i="1">
                <a:latin typeface="宋体" charset="-122"/>
              </a:rPr>
              <a:t>y</a:t>
            </a:r>
            <a:r>
              <a:rPr lang="en-US" altLang="zh-CN" sz="2000">
                <a:latin typeface="宋体" charset="-122"/>
              </a:rPr>
              <a:t>]</a:t>
            </a:r>
            <a:r>
              <a:rPr lang="zh-CN" altLang="en-US" sz="2000" baseline="-25000">
                <a:latin typeface="宋体" charset="-122"/>
              </a:rPr>
              <a:t>浮</a:t>
            </a:r>
            <a:r>
              <a:rPr lang="zh-CN" altLang="en-US" sz="2000">
                <a:latin typeface="宋体" charset="-122"/>
              </a:rPr>
              <a:t> </a:t>
            </a:r>
            <a:r>
              <a:rPr lang="en-US" altLang="zh-CN" sz="2000">
                <a:latin typeface="宋体" charset="-122"/>
              </a:rPr>
              <a:t>= 00 10, 11.0010</a:t>
            </a:r>
            <a:r>
              <a:rPr lang="en-US" altLang="zh-CN" sz="2000">
                <a:solidFill>
                  <a:srgbClr val="0000FF"/>
                </a:solidFill>
                <a:latin typeface="宋体" charset="-122"/>
              </a:rPr>
              <a:t>10</a:t>
            </a:r>
            <a:endParaRPr lang="en-US" altLang="zh-CN" sz="2000">
              <a:latin typeface="宋体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步骤</a:t>
            </a:r>
            <a:r>
              <a:rPr lang="en-US" altLang="zh-CN" sz="2000">
                <a:latin typeface="宋体" charset="-122"/>
              </a:rPr>
              <a:t>4</a:t>
            </a:r>
            <a:r>
              <a:rPr lang="zh-CN" altLang="en-US" sz="2000">
                <a:latin typeface="宋体" charset="-122"/>
              </a:rPr>
              <a:t>：截去。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	</a:t>
            </a:r>
            <a:r>
              <a:rPr lang="en-US" altLang="zh-CN" sz="2000">
                <a:latin typeface="宋体" charset="-122"/>
              </a:rPr>
              <a:t>[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+</a:t>
            </a:r>
            <a:r>
              <a:rPr lang="en-US" altLang="zh-CN" sz="2000" i="1">
                <a:latin typeface="宋体" charset="-122"/>
              </a:rPr>
              <a:t>y</a:t>
            </a:r>
            <a:r>
              <a:rPr lang="en-US" altLang="zh-CN" sz="2000">
                <a:latin typeface="宋体" charset="-122"/>
              </a:rPr>
              <a:t>]</a:t>
            </a:r>
            <a:r>
              <a:rPr lang="zh-CN" altLang="en-US" sz="2000" baseline="-25000">
                <a:latin typeface="宋体" charset="-122"/>
              </a:rPr>
              <a:t>浮</a:t>
            </a:r>
            <a:r>
              <a:rPr lang="zh-CN" altLang="en-US" sz="2000">
                <a:latin typeface="宋体" charset="-122"/>
              </a:rPr>
              <a:t> </a:t>
            </a:r>
            <a:r>
              <a:rPr lang="en-US" altLang="zh-CN" sz="2000">
                <a:latin typeface="宋体" charset="-122"/>
              </a:rPr>
              <a:t>= 00 10, 11.0010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步骤</a:t>
            </a:r>
            <a:r>
              <a:rPr lang="en-US" altLang="zh-CN" sz="2000">
                <a:latin typeface="宋体" charset="-122"/>
              </a:rPr>
              <a:t>5: </a:t>
            </a:r>
            <a:r>
              <a:rPr lang="zh-CN" altLang="en-US" sz="2000">
                <a:latin typeface="宋体" charset="-122"/>
              </a:rPr>
              <a:t>数据无溢出，因此结果为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zh-CN" altLang="en-US" sz="2000">
                <a:latin typeface="宋体" charset="-122"/>
              </a:rPr>
              <a:t>	</a:t>
            </a:r>
            <a:r>
              <a:rPr lang="en-US" altLang="zh-CN" sz="2000" i="1">
                <a:latin typeface="宋体" charset="-122"/>
              </a:rPr>
              <a:t>x</a:t>
            </a:r>
            <a:r>
              <a:rPr lang="en-US" altLang="zh-CN" sz="2000">
                <a:latin typeface="宋体" charset="-122"/>
              </a:rPr>
              <a:t>+</a:t>
            </a:r>
            <a:r>
              <a:rPr lang="en-US" altLang="zh-CN" sz="2000" i="1">
                <a:latin typeface="宋体" charset="-122"/>
              </a:rPr>
              <a:t>y</a:t>
            </a:r>
            <a:r>
              <a:rPr lang="en-US" altLang="zh-CN" sz="2000">
                <a:latin typeface="宋体" charset="-122"/>
              </a:rPr>
              <a:t> = 2</a:t>
            </a:r>
            <a:r>
              <a:rPr lang="en-US" altLang="zh-CN" sz="2000" baseline="30000">
                <a:latin typeface="宋体" charset="-122"/>
              </a:rPr>
              <a:t>10</a:t>
            </a:r>
            <a:r>
              <a:rPr lang="en-US" altLang="zh-CN" sz="2000">
                <a:latin typeface="宋体" charset="-122"/>
              </a:rPr>
              <a:t>×(-0.1110)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</a:pPr>
            <a:endParaRPr lang="en-US" altLang="zh-CN" sz="2000">
              <a:latin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6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228600" y="228600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3900" b="0">
                <a:solidFill>
                  <a:schemeClr val="hlink"/>
                </a:solidFill>
                <a:ea typeface="隶书" pitchFamily="49" charset="-122"/>
              </a:rPr>
              <a:t>浮点运算电路</a:t>
            </a:r>
            <a:endParaRPr lang="zh-CN" altLang="en-US" sz="4400" b="0">
              <a:solidFill>
                <a:schemeClr val="hlink"/>
              </a:solidFill>
            </a:endParaRPr>
          </a:p>
        </p:txBody>
      </p:sp>
      <p:sp>
        <p:nvSpPr>
          <p:cNvPr id="151555" name="Rectangle 8"/>
          <p:cNvSpPr>
            <a:spLocks noChangeArrowheads="1"/>
          </p:cNvSpPr>
          <p:nvPr/>
        </p:nvSpPr>
        <p:spPr bwMode="auto">
          <a:xfrm>
            <a:off x="1905000" y="6172200"/>
            <a:ext cx="230028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宋体" charset="-122"/>
              </a:rPr>
              <a:t>浮点加法器原理框图</a:t>
            </a:r>
            <a:endParaRPr lang="zh-CN" altLang="en-US" sz="2000"/>
          </a:p>
        </p:txBody>
      </p:sp>
      <p:grpSp>
        <p:nvGrpSpPr>
          <p:cNvPr id="151556" name="Group 179"/>
          <p:cNvGrpSpPr>
            <a:grpSpLocks/>
          </p:cNvGrpSpPr>
          <p:nvPr/>
        </p:nvGrpSpPr>
        <p:grpSpPr bwMode="auto">
          <a:xfrm>
            <a:off x="1287463" y="1047750"/>
            <a:ext cx="6480175" cy="5162550"/>
            <a:chOff x="811" y="660"/>
            <a:chExt cx="4082" cy="3252"/>
          </a:xfrm>
        </p:grpSpPr>
        <p:sp>
          <p:nvSpPr>
            <p:cNvPr id="151557" name="Rectangle 176"/>
            <p:cNvSpPr>
              <a:spLocks noChangeArrowheads="1"/>
            </p:cNvSpPr>
            <p:nvPr/>
          </p:nvSpPr>
          <p:spPr bwMode="auto">
            <a:xfrm>
              <a:off x="4100" y="1313"/>
              <a:ext cx="715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58" name="Rectangle 177"/>
            <p:cNvSpPr>
              <a:spLocks noChangeArrowheads="1"/>
            </p:cNvSpPr>
            <p:nvPr/>
          </p:nvSpPr>
          <p:spPr bwMode="auto">
            <a:xfrm>
              <a:off x="3160" y="1313"/>
              <a:ext cx="715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59" name="Rectangle 9"/>
            <p:cNvSpPr>
              <a:spLocks noChangeArrowheads="1"/>
            </p:cNvSpPr>
            <p:nvPr/>
          </p:nvSpPr>
          <p:spPr bwMode="auto">
            <a:xfrm>
              <a:off x="1986" y="660"/>
              <a:ext cx="1106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0" name="Rectangle 10"/>
            <p:cNvSpPr>
              <a:spLocks noChangeArrowheads="1"/>
            </p:cNvSpPr>
            <p:nvPr/>
          </p:nvSpPr>
          <p:spPr bwMode="auto">
            <a:xfrm>
              <a:off x="2475" y="689"/>
              <a:ext cx="1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endParaRPr lang="en-US" altLang="zh-CN"/>
            </a:p>
          </p:txBody>
        </p:sp>
        <p:sp>
          <p:nvSpPr>
            <p:cNvPr id="151561" name="Rectangle 11"/>
            <p:cNvSpPr>
              <a:spLocks noChangeArrowheads="1"/>
            </p:cNvSpPr>
            <p:nvPr/>
          </p:nvSpPr>
          <p:spPr bwMode="auto">
            <a:xfrm>
              <a:off x="1437" y="660"/>
              <a:ext cx="558" cy="2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2" name="Rectangle 12"/>
            <p:cNvSpPr>
              <a:spLocks noChangeArrowheads="1"/>
            </p:cNvSpPr>
            <p:nvPr/>
          </p:nvSpPr>
          <p:spPr bwMode="auto">
            <a:xfrm>
              <a:off x="1672" y="689"/>
              <a:ext cx="9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151563" name="Rectangle 13"/>
            <p:cNvSpPr>
              <a:spLocks noChangeArrowheads="1"/>
            </p:cNvSpPr>
            <p:nvPr/>
          </p:nvSpPr>
          <p:spPr bwMode="auto">
            <a:xfrm>
              <a:off x="1281" y="660"/>
              <a:ext cx="166" cy="2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4" name="Rectangle 14"/>
            <p:cNvSpPr>
              <a:spLocks noChangeArrowheads="1"/>
            </p:cNvSpPr>
            <p:nvPr/>
          </p:nvSpPr>
          <p:spPr bwMode="auto">
            <a:xfrm>
              <a:off x="1320" y="689"/>
              <a:ext cx="76" cy="16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lang="en-US" altLang="zh-CN"/>
            </a:p>
          </p:txBody>
        </p:sp>
        <p:sp>
          <p:nvSpPr>
            <p:cNvPr id="151565" name="Rectangle 15"/>
            <p:cNvSpPr>
              <a:spLocks noChangeArrowheads="1"/>
            </p:cNvSpPr>
            <p:nvPr/>
          </p:nvSpPr>
          <p:spPr bwMode="auto">
            <a:xfrm>
              <a:off x="3885" y="660"/>
              <a:ext cx="1008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6" name="Rectangle 16"/>
            <p:cNvSpPr>
              <a:spLocks noChangeArrowheads="1"/>
            </p:cNvSpPr>
            <p:nvPr/>
          </p:nvSpPr>
          <p:spPr bwMode="auto">
            <a:xfrm>
              <a:off x="4325" y="689"/>
              <a:ext cx="1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endParaRPr lang="en-US" altLang="zh-CN"/>
            </a:p>
          </p:txBody>
        </p:sp>
        <p:sp>
          <p:nvSpPr>
            <p:cNvPr id="151567" name="Rectangle 17"/>
            <p:cNvSpPr>
              <a:spLocks noChangeArrowheads="1"/>
            </p:cNvSpPr>
            <p:nvPr/>
          </p:nvSpPr>
          <p:spPr bwMode="auto">
            <a:xfrm>
              <a:off x="3386" y="660"/>
              <a:ext cx="509" cy="2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68" name="Rectangle 18"/>
            <p:cNvSpPr>
              <a:spLocks noChangeArrowheads="1"/>
            </p:cNvSpPr>
            <p:nvPr/>
          </p:nvSpPr>
          <p:spPr bwMode="auto">
            <a:xfrm>
              <a:off x="3591" y="689"/>
              <a:ext cx="9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151569" name="Rectangle 19"/>
            <p:cNvSpPr>
              <a:spLocks noChangeArrowheads="1"/>
            </p:cNvSpPr>
            <p:nvPr/>
          </p:nvSpPr>
          <p:spPr bwMode="auto">
            <a:xfrm>
              <a:off x="3239" y="660"/>
              <a:ext cx="156" cy="2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0" name="Rectangle 20"/>
            <p:cNvSpPr>
              <a:spLocks noChangeArrowheads="1"/>
            </p:cNvSpPr>
            <p:nvPr/>
          </p:nvSpPr>
          <p:spPr bwMode="auto">
            <a:xfrm>
              <a:off x="3268" y="689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lang="en-US" altLang="zh-CN"/>
            </a:p>
          </p:txBody>
        </p:sp>
        <p:sp>
          <p:nvSpPr>
            <p:cNvPr id="151571" name="Rectangle 21"/>
            <p:cNvSpPr>
              <a:spLocks noChangeArrowheads="1"/>
            </p:cNvSpPr>
            <p:nvPr/>
          </p:nvSpPr>
          <p:spPr bwMode="auto">
            <a:xfrm>
              <a:off x="1633" y="1388"/>
              <a:ext cx="558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2" name="Rectangle 22"/>
            <p:cNvSpPr>
              <a:spLocks noChangeArrowheads="1"/>
            </p:cNvSpPr>
            <p:nvPr/>
          </p:nvSpPr>
          <p:spPr bwMode="auto">
            <a:xfrm>
              <a:off x="1692" y="1417"/>
              <a:ext cx="1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小</a:t>
              </a:r>
              <a:endParaRPr lang="zh-CN" altLang="en-US"/>
            </a:p>
          </p:txBody>
        </p:sp>
        <p:sp>
          <p:nvSpPr>
            <p:cNvPr id="151573" name="Rectangle 23"/>
            <p:cNvSpPr>
              <a:spLocks noChangeArrowheads="1"/>
            </p:cNvSpPr>
            <p:nvPr/>
          </p:nvSpPr>
          <p:spPr bwMode="auto">
            <a:xfrm>
              <a:off x="1858" y="1407"/>
              <a:ext cx="28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ALU</a:t>
              </a:r>
              <a:endParaRPr lang="en-US" altLang="zh-CN"/>
            </a:p>
          </p:txBody>
        </p:sp>
        <p:sp>
          <p:nvSpPr>
            <p:cNvPr id="151574" name="Rectangle 24"/>
            <p:cNvSpPr>
              <a:spLocks noChangeArrowheads="1"/>
            </p:cNvSpPr>
            <p:nvPr/>
          </p:nvSpPr>
          <p:spPr bwMode="auto">
            <a:xfrm>
              <a:off x="3630" y="2154"/>
              <a:ext cx="793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75" name="Rectangle 25"/>
            <p:cNvSpPr>
              <a:spLocks noChangeArrowheads="1"/>
            </p:cNvSpPr>
            <p:nvPr/>
          </p:nvSpPr>
          <p:spPr bwMode="auto">
            <a:xfrm>
              <a:off x="3807" y="2182"/>
              <a:ext cx="1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大</a:t>
              </a:r>
              <a:endParaRPr lang="zh-CN" altLang="en-US"/>
            </a:p>
          </p:txBody>
        </p:sp>
        <p:sp>
          <p:nvSpPr>
            <p:cNvPr id="151576" name="Rectangle 26"/>
            <p:cNvSpPr>
              <a:spLocks noChangeArrowheads="1"/>
            </p:cNvSpPr>
            <p:nvPr/>
          </p:nvSpPr>
          <p:spPr bwMode="auto">
            <a:xfrm>
              <a:off x="3973" y="2173"/>
              <a:ext cx="28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ALU</a:t>
              </a:r>
              <a:endParaRPr lang="en-US" altLang="zh-CN"/>
            </a:p>
          </p:txBody>
        </p:sp>
        <p:grpSp>
          <p:nvGrpSpPr>
            <p:cNvPr id="151577" name="Group 29"/>
            <p:cNvGrpSpPr>
              <a:grpSpLocks/>
            </p:cNvGrpSpPr>
            <p:nvPr/>
          </p:nvGrpSpPr>
          <p:grpSpPr bwMode="auto">
            <a:xfrm>
              <a:off x="1712" y="925"/>
              <a:ext cx="68" cy="388"/>
              <a:chOff x="1712" y="925"/>
              <a:chExt cx="68" cy="388"/>
            </a:xfrm>
          </p:grpSpPr>
          <p:sp>
            <p:nvSpPr>
              <p:cNvPr id="151725" name="Line 27"/>
              <p:cNvSpPr>
                <a:spLocks noChangeShapeType="1"/>
              </p:cNvSpPr>
              <p:nvPr/>
            </p:nvSpPr>
            <p:spPr bwMode="auto">
              <a:xfrm>
                <a:off x="1751" y="925"/>
                <a:ext cx="1" cy="35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26" name="Freeform 28"/>
              <p:cNvSpPr>
                <a:spLocks/>
              </p:cNvSpPr>
              <p:nvPr/>
            </p:nvSpPr>
            <p:spPr bwMode="auto">
              <a:xfrm>
                <a:off x="1712" y="1256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578" name="Group 32"/>
            <p:cNvGrpSpPr>
              <a:grpSpLocks/>
            </p:cNvGrpSpPr>
            <p:nvPr/>
          </p:nvGrpSpPr>
          <p:grpSpPr bwMode="auto">
            <a:xfrm>
              <a:off x="2103" y="991"/>
              <a:ext cx="69" cy="322"/>
              <a:chOff x="2103" y="991"/>
              <a:chExt cx="69" cy="322"/>
            </a:xfrm>
          </p:grpSpPr>
          <p:sp>
            <p:nvSpPr>
              <p:cNvPr id="151723" name="Line 30"/>
              <p:cNvSpPr>
                <a:spLocks noChangeShapeType="1"/>
              </p:cNvSpPr>
              <p:nvPr/>
            </p:nvSpPr>
            <p:spPr bwMode="auto">
              <a:xfrm>
                <a:off x="2142" y="991"/>
                <a:ext cx="1" cy="28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24" name="Freeform 31"/>
              <p:cNvSpPr>
                <a:spLocks/>
              </p:cNvSpPr>
              <p:nvPr/>
            </p:nvSpPr>
            <p:spPr bwMode="auto">
              <a:xfrm>
                <a:off x="2103" y="1256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579" name="Rectangle 33"/>
            <p:cNvSpPr>
              <a:spLocks noChangeArrowheads="1"/>
            </p:cNvSpPr>
            <p:nvPr/>
          </p:nvSpPr>
          <p:spPr bwMode="auto">
            <a:xfrm>
              <a:off x="1672" y="2248"/>
              <a:ext cx="715" cy="274"/>
            </a:xfrm>
            <a:prstGeom prst="rect">
              <a:avLst/>
            </a:prstGeom>
            <a:solidFill>
              <a:srgbClr val="FFFF66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0" name="Rectangle 34"/>
            <p:cNvSpPr>
              <a:spLocks noChangeArrowheads="1"/>
            </p:cNvSpPr>
            <p:nvPr/>
          </p:nvSpPr>
          <p:spPr bwMode="auto">
            <a:xfrm>
              <a:off x="1888" y="2286"/>
              <a:ext cx="2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控制</a:t>
              </a:r>
              <a:endParaRPr lang="zh-CN" altLang="en-US"/>
            </a:p>
          </p:txBody>
        </p:sp>
        <p:sp>
          <p:nvSpPr>
            <p:cNvPr id="151581" name="Rectangle 35"/>
            <p:cNvSpPr>
              <a:spLocks noChangeArrowheads="1"/>
            </p:cNvSpPr>
            <p:nvPr/>
          </p:nvSpPr>
          <p:spPr bwMode="auto">
            <a:xfrm>
              <a:off x="3082" y="1719"/>
              <a:ext cx="871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2" name="Rectangle 36"/>
            <p:cNvSpPr>
              <a:spLocks noChangeArrowheads="1"/>
            </p:cNvSpPr>
            <p:nvPr/>
          </p:nvSpPr>
          <p:spPr bwMode="auto">
            <a:xfrm>
              <a:off x="3376" y="1757"/>
              <a:ext cx="2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右移</a:t>
              </a:r>
              <a:endParaRPr lang="zh-CN" altLang="en-US"/>
            </a:p>
          </p:txBody>
        </p:sp>
        <p:sp>
          <p:nvSpPr>
            <p:cNvPr id="151583" name="Rectangle 37"/>
            <p:cNvSpPr>
              <a:spLocks noChangeArrowheads="1"/>
            </p:cNvSpPr>
            <p:nvPr/>
          </p:nvSpPr>
          <p:spPr bwMode="auto">
            <a:xfrm>
              <a:off x="3474" y="2645"/>
              <a:ext cx="1106" cy="274"/>
            </a:xfrm>
            <a:prstGeom prst="rect">
              <a:avLst/>
            </a:prstGeom>
            <a:solidFill>
              <a:srgbClr val="FF66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4" name="Rectangle 38"/>
            <p:cNvSpPr>
              <a:spLocks noChangeArrowheads="1"/>
            </p:cNvSpPr>
            <p:nvPr/>
          </p:nvSpPr>
          <p:spPr bwMode="auto">
            <a:xfrm>
              <a:off x="3679" y="2683"/>
              <a:ext cx="68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左移或右移</a:t>
              </a:r>
              <a:endParaRPr lang="zh-CN" altLang="en-US"/>
            </a:p>
          </p:txBody>
        </p:sp>
        <p:sp>
          <p:nvSpPr>
            <p:cNvPr id="151585" name="Rectangle 39"/>
            <p:cNvSpPr>
              <a:spLocks noChangeArrowheads="1"/>
            </p:cNvSpPr>
            <p:nvPr/>
          </p:nvSpPr>
          <p:spPr bwMode="auto">
            <a:xfrm>
              <a:off x="3474" y="3175"/>
              <a:ext cx="1106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6" name="Rectangle 40"/>
            <p:cNvSpPr>
              <a:spLocks noChangeArrowheads="1"/>
            </p:cNvSpPr>
            <p:nvPr/>
          </p:nvSpPr>
          <p:spPr bwMode="auto">
            <a:xfrm>
              <a:off x="3748" y="3212"/>
              <a:ext cx="54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舍入部件</a:t>
              </a:r>
              <a:endParaRPr lang="zh-CN" altLang="en-US"/>
            </a:p>
          </p:txBody>
        </p:sp>
        <p:sp>
          <p:nvSpPr>
            <p:cNvPr id="151587" name="Rectangle 41"/>
            <p:cNvSpPr>
              <a:spLocks noChangeArrowheads="1"/>
            </p:cNvSpPr>
            <p:nvPr/>
          </p:nvSpPr>
          <p:spPr bwMode="auto">
            <a:xfrm>
              <a:off x="1516" y="1785"/>
              <a:ext cx="871" cy="274"/>
            </a:xfrm>
            <a:prstGeom prst="rect">
              <a:avLst/>
            </a:prstGeom>
            <a:solidFill>
              <a:srgbClr val="FFCC99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88" name="Rectangle 42"/>
            <p:cNvSpPr>
              <a:spLocks noChangeArrowheads="1"/>
            </p:cNvSpPr>
            <p:nvPr/>
          </p:nvSpPr>
          <p:spPr bwMode="auto">
            <a:xfrm>
              <a:off x="1741" y="1823"/>
              <a:ext cx="41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阶码差</a:t>
              </a:r>
              <a:endParaRPr lang="zh-CN" altLang="en-US"/>
            </a:p>
          </p:txBody>
        </p:sp>
        <p:sp>
          <p:nvSpPr>
            <p:cNvPr id="151589" name="Rectangle 43"/>
            <p:cNvSpPr>
              <a:spLocks noChangeArrowheads="1"/>
            </p:cNvSpPr>
            <p:nvPr/>
          </p:nvSpPr>
          <p:spPr bwMode="auto">
            <a:xfrm>
              <a:off x="811" y="2579"/>
              <a:ext cx="871" cy="274"/>
            </a:xfrm>
            <a:prstGeom prst="rect">
              <a:avLst/>
            </a:prstGeom>
            <a:solidFill>
              <a:srgbClr val="FF9966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590" name="Rectangle 44"/>
            <p:cNvSpPr>
              <a:spLocks noChangeArrowheads="1"/>
            </p:cNvSpPr>
            <p:nvPr/>
          </p:nvSpPr>
          <p:spPr bwMode="auto">
            <a:xfrm>
              <a:off x="919" y="2617"/>
              <a:ext cx="13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加</a:t>
              </a:r>
              <a:endParaRPr lang="zh-CN" altLang="en-US"/>
            </a:p>
          </p:txBody>
        </p:sp>
        <p:sp>
          <p:nvSpPr>
            <p:cNvPr id="151591" name="Rectangle 45"/>
            <p:cNvSpPr>
              <a:spLocks noChangeArrowheads="1"/>
            </p:cNvSpPr>
            <p:nvPr/>
          </p:nvSpPr>
          <p:spPr bwMode="auto">
            <a:xfrm>
              <a:off x="1085" y="260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51592" name="Rectangle 46"/>
            <p:cNvSpPr>
              <a:spLocks noChangeArrowheads="1"/>
            </p:cNvSpPr>
            <p:nvPr/>
          </p:nvSpPr>
          <p:spPr bwMode="auto">
            <a:xfrm>
              <a:off x="1183" y="2617"/>
              <a:ext cx="274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1700">
                  <a:solidFill>
                    <a:srgbClr val="000000"/>
                  </a:solidFill>
                  <a:latin typeface="宋体" charset="-122"/>
                </a:rPr>
                <a:t>或减</a:t>
              </a:r>
              <a:endParaRPr lang="zh-CN" altLang="en-US"/>
            </a:p>
          </p:txBody>
        </p:sp>
        <p:sp>
          <p:nvSpPr>
            <p:cNvPr id="151593" name="Rectangle 47"/>
            <p:cNvSpPr>
              <a:spLocks noChangeArrowheads="1"/>
            </p:cNvSpPr>
            <p:nvPr/>
          </p:nvSpPr>
          <p:spPr bwMode="auto">
            <a:xfrm>
              <a:off x="1486" y="2607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grpSp>
          <p:nvGrpSpPr>
            <p:cNvPr id="151594" name="Group 50"/>
            <p:cNvGrpSpPr>
              <a:grpSpLocks/>
            </p:cNvGrpSpPr>
            <p:nvPr/>
          </p:nvGrpSpPr>
          <p:grpSpPr bwMode="auto">
            <a:xfrm>
              <a:off x="1868" y="1653"/>
              <a:ext cx="69" cy="132"/>
              <a:chOff x="1868" y="1653"/>
              <a:chExt cx="69" cy="132"/>
            </a:xfrm>
          </p:grpSpPr>
          <p:sp>
            <p:nvSpPr>
              <p:cNvPr id="151721" name="Line 48"/>
              <p:cNvSpPr>
                <a:spLocks noChangeShapeType="1"/>
              </p:cNvSpPr>
              <p:nvPr/>
            </p:nvSpPr>
            <p:spPr bwMode="auto">
              <a:xfrm>
                <a:off x="1907" y="1653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22" name="Freeform 49"/>
              <p:cNvSpPr>
                <a:spLocks/>
              </p:cNvSpPr>
              <p:nvPr/>
            </p:nvSpPr>
            <p:spPr bwMode="auto">
              <a:xfrm>
                <a:off x="1868" y="1728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595" name="Group 53"/>
            <p:cNvGrpSpPr>
              <a:grpSpLocks/>
            </p:cNvGrpSpPr>
            <p:nvPr/>
          </p:nvGrpSpPr>
          <p:grpSpPr bwMode="auto">
            <a:xfrm>
              <a:off x="928" y="1057"/>
              <a:ext cx="69" cy="1116"/>
              <a:chOff x="928" y="1057"/>
              <a:chExt cx="69" cy="1116"/>
            </a:xfrm>
          </p:grpSpPr>
          <p:sp>
            <p:nvSpPr>
              <p:cNvPr id="151719" name="Line 51"/>
              <p:cNvSpPr>
                <a:spLocks noChangeShapeType="1"/>
              </p:cNvSpPr>
              <p:nvPr/>
            </p:nvSpPr>
            <p:spPr bwMode="auto">
              <a:xfrm>
                <a:off x="968" y="1057"/>
                <a:ext cx="1" cy="1078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20" name="Freeform 52"/>
              <p:cNvSpPr>
                <a:spLocks/>
              </p:cNvSpPr>
              <p:nvPr/>
            </p:nvSpPr>
            <p:spPr bwMode="auto">
              <a:xfrm>
                <a:off x="928" y="2116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40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40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596" name="Group 56"/>
            <p:cNvGrpSpPr>
              <a:grpSpLocks/>
            </p:cNvGrpSpPr>
            <p:nvPr/>
          </p:nvGrpSpPr>
          <p:grpSpPr bwMode="auto">
            <a:xfrm>
              <a:off x="1320" y="1190"/>
              <a:ext cx="69" cy="983"/>
              <a:chOff x="1320" y="1190"/>
              <a:chExt cx="69" cy="983"/>
            </a:xfrm>
          </p:grpSpPr>
          <p:sp>
            <p:nvSpPr>
              <p:cNvPr id="151717" name="Line 54"/>
              <p:cNvSpPr>
                <a:spLocks noChangeShapeType="1"/>
              </p:cNvSpPr>
              <p:nvPr/>
            </p:nvSpPr>
            <p:spPr bwMode="auto">
              <a:xfrm>
                <a:off x="1359" y="1190"/>
                <a:ext cx="1" cy="94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18" name="Freeform 55"/>
              <p:cNvSpPr>
                <a:spLocks/>
              </p:cNvSpPr>
              <p:nvPr/>
            </p:nvSpPr>
            <p:spPr bwMode="auto">
              <a:xfrm>
                <a:off x="1320" y="2116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597" name="Group 59"/>
            <p:cNvGrpSpPr>
              <a:grpSpLocks/>
            </p:cNvGrpSpPr>
            <p:nvPr/>
          </p:nvGrpSpPr>
          <p:grpSpPr bwMode="auto">
            <a:xfrm>
              <a:off x="3591" y="1190"/>
              <a:ext cx="69" cy="132"/>
              <a:chOff x="3591" y="1190"/>
              <a:chExt cx="69" cy="132"/>
            </a:xfrm>
          </p:grpSpPr>
          <p:sp>
            <p:nvSpPr>
              <p:cNvPr id="151715" name="Line 57"/>
              <p:cNvSpPr>
                <a:spLocks noChangeShapeType="1"/>
              </p:cNvSpPr>
              <p:nvPr/>
            </p:nvSpPr>
            <p:spPr bwMode="auto">
              <a:xfrm>
                <a:off x="3630" y="1190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16" name="Freeform 58"/>
              <p:cNvSpPr>
                <a:spLocks/>
              </p:cNvSpPr>
              <p:nvPr/>
            </p:nvSpPr>
            <p:spPr bwMode="auto">
              <a:xfrm>
                <a:off x="3591" y="1265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598" name="Group 62"/>
            <p:cNvGrpSpPr>
              <a:grpSpLocks/>
            </p:cNvGrpSpPr>
            <p:nvPr/>
          </p:nvGrpSpPr>
          <p:grpSpPr bwMode="auto">
            <a:xfrm>
              <a:off x="4218" y="1123"/>
              <a:ext cx="68" cy="199"/>
              <a:chOff x="4218" y="1123"/>
              <a:chExt cx="68" cy="199"/>
            </a:xfrm>
          </p:grpSpPr>
          <p:sp>
            <p:nvSpPr>
              <p:cNvPr id="151713" name="Line 60"/>
              <p:cNvSpPr>
                <a:spLocks noChangeShapeType="1"/>
              </p:cNvSpPr>
              <p:nvPr/>
            </p:nvSpPr>
            <p:spPr bwMode="auto">
              <a:xfrm>
                <a:off x="4257" y="1123"/>
                <a:ext cx="1" cy="16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14" name="Freeform 61"/>
              <p:cNvSpPr>
                <a:spLocks/>
              </p:cNvSpPr>
              <p:nvPr/>
            </p:nvSpPr>
            <p:spPr bwMode="auto">
              <a:xfrm>
                <a:off x="4218" y="1265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599" name="Group 65"/>
            <p:cNvGrpSpPr>
              <a:grpSpLocks/>
            </p:cNvGrpSpPr>
            <p:nvPr/>
          </p:nvGrpSpPr>
          <p:grpSpPr bwMode="auto">
            <a:xfrm>
              <a:off x="4531" y="925"/>
              <a:ext cx="68" cy="397"/>
              <a:chOff x="4531" y="925"/>
              <a:chExt cx="68" cy="397"/>
            </a:xfrm>
          </p:grpSpPr>
          <p:sp>
            <p:nvSpPr>
              <p:cNvPr id="151711" name="Line 63"/>
              <p:cNvSpPr>
                <a:spLocks noChangeShapeType="1"/>
              </p:cNvSpPr>
              <p:nvPr/>
            </p:nvSpPr>
            <p:spPr bwMode="auto">
              <a:xfrm>
                <a:off x="4570" y="925"/>
                <a:ext cx="1" cy="359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12" name="Freeform 64"/>
              <p:cNvSpPr>
                <a:spLocks/>
              </p:cNvSpPr>
              <p:nvPr/>
            </p:nvSpPr>
            <p:spPr bwMode="auto">
              <a:xfrm>
                <a:off x="4531" y="1265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00" name="Line 66"/>
            <p:cNvSpPr>
              <a:spLocks noChangeShapeType="1"/>
            </p:cNvSpPr>
            <p:nvPr/>
          </p:nvSpPr>
          <p:spPr bwMode="auto">
            <a:xfrm>
              <a:off x="968" y="1057"/>
              <a:ext cx="7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01" name="Group 69"/>
            <p:cNvGrpSpPr>
              <a:grpSpLocks/>
            </p:cNvGrpSpPr>
            <p:nvPr/>
          </p:nvGrpSpPr>
          <p:grpSpPr bwMode="auto">
            <a:xfrm>
              <a:off x="3278" y="1123"/>
              <a:ext cx="68" cy="199"/>
              <a:chOff x="3278" y="1123"/>
              <a:chExt cx="68" cy="199"/>
            </a:xfrm>
          </p:grpSpPr>
          <p:sp>
            <p:nvSpPr>
              <p:cNvPr id="151709" name="Line 67"/>
              <p:cNvSpPr>
                <a:spLocks noChangeShapeType="1"/>
              </p:cNvSpPr>
              <p:nvPr/>
            </p:nvSpPr>
            <p:spPr bwMode="auto">
              <a:xfrm>
                <a:off x="3317" y="1123"/>
                <a:ext cx="1" cy="16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10" name="Freeform 68"/>
              <p:cNvSpPr>
                <a:spLocks/>
              </p:cNvSpPr>
              <p:nvPr/>
            </p:nvSpPr>
            <p:spPr bwMode="auto">
              <a:xfrm>
                <a:off x="3278" y="1265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02" name="Line 70"/>
            <p:cNvSpPr>
              <a:spLocks noChangeShapeType="1"/>
            </p:cNvSpPr>
            <p:nvPr/>
          </p:nvSpPr>
          <p:spPr bwMode="auto">
            <a:xfrm>
              <a:off x="1359" y="1190"/>
              <a:ext cx="78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03" name="Line 71"/>
            <p:cNvSpPr>
              <a:spLocks noChangeShapeType="1"/>
            </p:cNvSpPr>
            <p:nvPr/>
          </p:nvSpPr>
          <p:spPr bwMode="auto">
            <a:xfrm>
              <a:off x="3630" y="925"/>
              <a:ext cx="1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04" name="Line 72"/>
            <p:cNvSpPr>
              <a:spLocks noChangeShapeType="1"/>
            </p:cNvSpPr>
            <p:nvPr/>
          </p:nvSpPr>
          <p:spPr bwMode="auto">
            <a:xfrm>
              <a:off x="2534" y="925"/>
              <a:ext cx="1" cy="1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05" name="Line 73"/>
            <p:cNvSpPr>
              <a:spLocks noChangeShapeType="1"/>
            </p:cNvSpPr>
            <p:nvPr/>
          </p:nvSpPr>
          <p:spPr bwMode="auto">
            <a:xfrm>
              <a:off x="2534" y="1123"/>
              <a:ext cx="172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06" name="Line 74"/>
            <p:cNvSpPr>
              <a:spLocks noChangeShapeType="1"/>
            </p:cNvSpPr>
            <p:nvPr/>
          </p:nvSpPr>
          <p:spPr bwMode="auto">
            <a:xfrm>
              <a:off x="3630" y="1190"/>
              <a:ext cx="94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07" name="Line 75"/>
            <p:cNvSpPr>
              <a:spLocks noChangeShapeType="1"/>
            </p:cNvSpPr>
            <p:nvPr/>
          </p:nvSpPr>
          <p:spPr bwMode="auto">
            <a:xfrm>
              <a:off x="2142" y="991"/>
              <a:ext cx="148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08" name="Group 78"/>
            <p:cNvGrpSpPr>
              <a:grpSpLocks/>
            </p:cNvGrpSpPr>
            <p:nvPr/>
          </p:nvGrpSpPr>
          <p:grpSpPr bwMode="auto">
            <a:xfrm>
              <a:off x="3513" y="1587"/>
              <a:ext cx="68" cy="132"/>
              <a:chOff x="3513" y="1587"/>
              <a:chExt cx="68" cy="132"/>
            </a:xfrm>
          </p:grpSpPr>
          <p:sp>
            <p:nvSpPr>
              <p:cNvPr id="151707" name="Line 76"/>
              <p:cNvSpPr>
                <a:spLocks noChangeShapeType="1"/>
              </p:cNvSpPr>
              <p:nvPr/>
            </p:nvSpPr>
            <p:spPr bwMode="auto">
              <a:xfrm>
                <a:off x="3552" y="1587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08" name="Freeform 77"/>
              <p:cNvSpPr>
                <a:spLocks/>
              </p:cNvSpPr>
              <p:nvPr/>
            </p:nvSpPr>
            <p:spPr bwMode="auto">
              <a:xfrm>
                <a:off x="3513" y="1662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09" name="Group 81"/>
            <p:cNvGrpSpPr>
              <a:grpSpLocks/>
            </p:cNvGrpSpPr>
            <p:nvPr/>
          </p:nvGrpSpPr>
          <p:grpSpPr bwMode="auto">
            <a:xfrm>
              <a:off x="3513" y="1984"/>
              <a:ext cx="68" cy="132"/>
              <a:chOff x="3513" y="1984"/>
              <a:chExt cx="68" cy="132"/>
            </a:xfrm>
          </p:grpSpPr>
          <p:sp>
            <p:nvSpPr>
              <p:cNvPr id="151705" name="Line 79"/>
              <p:cNvSpPr>
                <a:spLocks noChangeShapeType="1"/>
              </p:cNvSpPr>
              <p:nvPr/>
            </p:nvSpPr>
            <p:spPr bwMode="auto">
              <a:xfrm>
                <a:off x="3552" y="1984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06" name="Freeform 80"/>
              <p:cNvSpPr>
                <a:spLocks/>
              </p:cNvSpPr>
              <p:nvPr/>
            </p:nvSpPr>
            <p:spPr bwMode="auto">
              <a:xfrm>
                <a:off x="3513" y="2059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10" name="Group 84"/>
            <p:cNvGrpSpPr>
              <a:grpSpLocks/>
            </p:cNvGrpSpPr>
            <p:nvPr/>
          </p:nvGrpSpPr>
          <p:grpSpPr bwMode="auto">
            <a:xfrm>
              <a:off x="4453" y="1587"/>
              <a:ext cx="68" cy="529"/>
              <a:chOff x="4453" y="1587"/>
              <a:chExt cx="68" cy="529"/>
            </a:xfrm>
          </p:grpSpPr>
          <p:sp>
            <p:nvSpPr>
              <p:cNvPr id="151703" name="Line 82"/>
              <p:cNvSpPr>
                <a:spLocks noChangeShapeType="1"/>
              </p:cNvSpPr>
              <p:nvPr/>
            </p:nvSpPr>
            <p:spPr bwMode="auto">
              <a:xfrm>
                <a:off x="4492" y="1587"/>
                <a:ext cx="1" cy="49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04" name="Freeform 83"/>
              <p:cNvSpPr>
                <a:spLocks/>
              </p:cNvSpPr>
              <p:nvPr/>
            </p:nvSpPr>
            <p:spPr bwMode="auto">
              <a:xfrm>
                <a:off x="4453" y="2059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11" name="Group 87"/>
            <p:cNvGrpSpPr>
              <a:grpSpLocks/>
            </p:cNvGrpSpPr>
            <p:nvPr/>
          </p:nvGrpSpPr>
          <p:grpSpPr bwMode="auto">
            <a:xfrm>
              <a:off x="3983" y="2513"/>
              <a:ext cx="68" cy="123"/>
              <a:chOff x="3983" y="2513"/>
              <a:chExt cx="68" cy="123"/>
            </a:xfrm>
          </p:grpSpPr>
          <p:sp>
            <p:nvSpPr>
              <p:cNvPr id="151701" name="Line 85"/>
              <p:cNvSpPr>
                <a:spLocks noChangeShapeType="1"/>
              </p:cNvSpPr>
              <p:nvPr/>
            </p:nvSpPr>
            <p:spPr bwMode="auto">
              <a:xfrm>
                <a:off x="4022" y="2513"/>
                <a:ext cx="1" cy="8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02" name="Freeform 86"/>
              <p:cNvSpPr>
                <a:spLocks/>
              </p:cNvSpPr>
              <p:nvPr/>
            </p:nvSpPr>
            <p:spPr bwMode="auto">
              <a:xfrm>
                <a:off x="3983" y="2579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12" name="Group 90"/>
            <p:cNvGrpSpPr>
              <a:grpSpLocks/>
            </p:cNvGrpSpPr>
            <p:nvPr/>
          </p:nvGrpSpPr>
          <p:grpSpPr bwMode="auto">
            <a:xfrm>
              <a:off x="3983" y="2910"/>
              <a:ext cx="68" cy="255"/>
              <a:chOff x="3983" y="2910"/>
              <a:chExt cx="68" cy="255"/>
            </a:xfrm>
          </p:grpSpPr>
          <p:sp>
            <p:nvSpPr>
              <p:cNvPr id="151699" name="Line 88"/>
              <p:cNvSpPr>
                <a:spLocks noChangeShapeType="1"/>
              </p:cNvSpPr>
              <p:nvPr/>
            </p:nvSpPr>
            <p:spPr bwMode="auto">
              <a:xfrm>
                <a:off x="4022" y="2910"/>
                <a:ext cx="1" cy="21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700" name="Freeform 89"/>
              <p:cNvSpPr>
                <a:spLocks/>
              </p:cNvSpPr>
              <p:nvPr/>
            </p:nvSpPr>
            <p:spPr bwMode="auto">
              <a:xfrm>
                <a:off x="3983" y="3108"/>
                <a:ext cx="68" cy="57"/>
              </a:xfrm>
              <a:custGeom>
                <a:avLst/>
                <a:gdLst>
                  <a:gd name="T0" fmla="*/ 0 w 68"/>
                  <a:gd name="T1" fmla="*/ 0 h 57"/>
                  <a:gd name="T2" fmla="*/ 39 w 68"/>
                  <a:gd name="T3" fmla="*/ 57 h 57"/>
                  <a:gd name="T4" fmla="*/ 68 w 68"/>
                  <a:gd name="T5" fmla="*/ 0 h 57"/>
                  <a:gd name="T6" fmla="*/ 0 w 68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7"/>
                  <a:gd name="T14" fmla="*/ 68 w 68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7">
                    <a:moveTo>
                      <a:pt x="0" y="0"/>
                    </a:moveTo>
                    <a:lnTo>
                      <a:pt x="39" y="57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13" name="Group 93"/>
            <p:cNvGrpSpPr>
              <a:grpSpLocks/>
            </p:cNvGrpSpPr>
            <p:nvPr/>
          </p:nvGrpSpPr>
          <p:grpSpPr bwMode="auto">
            <a:xfrm>
              <a:off x="1516" y="2343"/>
              <a:ext cx="156" cy="66"/>
              <a:chOff x="1516" y="2343"/>
              <a:chExt cx="156" cy="66"/>
            </a:xfrm>
          </p:grpSpPr>
          <p:sp>
            <p:nvSpPr>
              <p:cNvPr id="151697" name="Line 91"/>
              <p:cNvSpPr>
                <a:spLocks noChangeShapeType="1"/>
              </p:cNvSpPr>
              <p:nvPr/>
            </p:nvSpPr>
            <p:spPr bwMode="auto">
              <a:xfrm flipH="1">
                <a:off x="1516" y="2381"/>
                <a:ext cx="15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98" name="Freeform 92"/>
              <p:cNvSpPr>
                <a:spLocks/>
              </p:cNvSpPr>
              <p:nvPr/>
            </p:nvSpPr>
            <p:spPr bwMode="auto">
              <a:xfrm>
                <a:off x="1516" y="2343"/>
                <a:ext cx="59" cy="66"/>
              </a:xfrm>
              <a:custGeom>
                <a:avLst/>
                <a:gdLst>
                  <a:gd name="T0" fmla="*/ 59 w 59"/>
                  <a:gd name="T1" fmla="*/ 0 h 66"/>
                  <a:gd name="T2" fmla="*/ 0 w 59"/>
                  <a:gd name="T3" fmla="*/ 38 h 66"/>
                  <a:gd name="T4" fmla="*/ 59 w 59"/>
                  <a:gd name="T5" fmla="*/ 66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59" y="0"/>
                    </a:moveTo>
                    <a:lnTo>
                      <a:pt x="0" y="38"/>
                    </a:lnTo>
                    <a:lnTo>
                      <a:pt x="59" y="66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14" name="Group 96"/>
            <p:cNvGrpSpPr>
              <a:grpSpLocks/>
            </p:cNvGrpSpPr>
            <p:nvPr/>
          </p:nvGrpSpPr>
          <p:grpSpPr bwMode="auto">
            <a:xfrm>
              <a:off x="1868" y="2050"/>
              <a:ext cx="69" cy="189"/>
              <a:chOff x="1868" y="2050"/>
              <a:chExt cx="69" cy="189"/>
            </a:xfrm>
          </p:grpSpPr>
          <p:sp>
            <p:nvSpPr>
              <p:cNvPr id="151695" name="Line 94"/>
              <p:cNvSpPr>
                <a:spLocks noChangeShapeType="1"/>
              </p:cNvSpPr>
              <p:nvPr/>
            </p:nvSpPr>
            <p:spPr bwMode="auto">
              <a:xfrm>
                <a:off x="1907" y="2050"/>
                <a:ext cx="1" cy="15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96" name="Freeform 95"/>
              <p:cNvSpPr>
                <a:spLocks/>
              </p:cNvSpPr>
              <p:nvPr/>
            </p:nvSpPr>
            <p:spPr bwMode="auto">
              <a:xfrm>
                <a:off x="1868" y="2182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15" name="Line 97"/>
            <p:cNvSpPr>
              <a:spLocks noChangeShapeType="1"/>
            </p:cNvSpPr>
            <p:nvPr/>
          </p:nvSpPr>
          <p:spPr bwMode="auto">
            <a:xfrm>
              <a:off x="2221" y="2513"/>
              <a:ext cx="1" cy="1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16" name="Group 100"/>
            <p:cNvGrpSpPr>
              <a:grpSpLocks/>
            </p:cNvGrpSpPr>
            <p:nvPr/>
          </p:nvGrpSpPr>
          <p:grpSpPr bwMode="auto">
            <a:xfrm>
              <a:off x="2221" y="2683"/>
              <a:ext cx="1253" cy="66"/>
              <a:chOff x="2221" y="2683"/>
              <a:chExt cx="1253" cy="66"/>
            </a:xfrm>
          </p:grpSpPr>
          <p:sp>
            <p:nvSpPr>
              <p:cNvPr id="151693" name="Line 98"/>
              <p:cNvSpPr>
                <a:spLocks noChangeShapeType="1"/>
              </p:cNvSpPr>
              <p:nvPr/>
            </p:nvSpPr>
            <p:spPr bwMode="auto">
              <a:xfrm flipH="1">
                <a:off x="2221" y="2711"/>
                <a:ext cx="125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94" name="Freeform 99"/>
              <p:cNvSpPr>
                <a:spLocks/>
              </p:cNvSpPr>
              <p:nvPr/>
            </p:nvSpPr>
            <p:spPr bwMode="auto">
              <a:xfrm>
                <a:off x="3415" y="2683"/>
                <a:ext cx="59" cy="66"/>
              </a:xfrm>
              <a:custGeom>
                <a:avLst/>
                <a:gdLst>
                  <a:gd name="T0" fmla="*/ 0 w 59"/>
                  <a:gd name="T1" fmla="*/ 66 h 66"/>
                  <a:gd name="T2" fmla="*/ 59 w 59"/>
                  <a:gd name="T3" fmla="*/ 28 h 66"/>
                  <a:gd name="T4" fmla="*/ 0 w 59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0" y="66"/>
                    </a:moveTo>
                    <a:lnTo>
                      <a:pt x="59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17" name="Group 103"/>
            <p:cNvGrpSpPr>
              <a:grpSpLocks/>
            </p:cNvGrpSpPr>
            <p:nvPr/>
          </p:nvGrpSpPr>
          <p:grpSpPr bwMode="auto">
            <a:xfrm>
              <a:off x="1829" y="3212"/>
              <a:ext cx="1645" cy="67"/>
              <a:chOff x="1829" y="3212"/>
              <a:chExt cx="1645" cy="67"/>
            </a:xfrm>
          </p:grpSpPr>
          <p:sp>
            <p:nvSpPr>
              <p:cNvPr id="151691" name="Line 101"/>
              <p:cNvSpPr>
                <a:spLocks noChangeShapeType="1"/>
              </p:cNvSpPr>
              <p:nvPr/>
            </p:nvSpPr>
            <p:spPr bwMode="auto">
              <a:xfrm flipH="1">
                <a:off x="1829" y="3241"/>
                <a:ext cx="1645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92" name="Freeform 102"/>
              <p:cNvSpPr>
                <a:spLocks/>
              </p:cNvSpPr>
              <p:nvPr/>
            </p:nvSpPr>
            <p:spPr bwMode="auto">
              <a:xfrm>
                <a:off x="3415" y="3212"/>
                <a:ext cx="59" cy="67"/>
              </a:xfrm>
              <a:custGeom>
                <a:avLst/>
                <a:gdLst>
                  <a:gd name="T0" fmla="*/ 0 w 59"/>
                  <a:gd name="T1" fmla="*/ 67 h 67"/>
                  <a:gd name="T2" fmla="*/ 59 w 59"/>
                  <a:gd name="T3" fmla="*/ 29 h 67"/>
                  <a:gd name="T4" fmla="*/ 0 w 59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7"/>
                  <a:gd name="T11" fmla="*/ 59 w 59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7">
                    <a:moveTo>
                      <a:pt x="0" y="67"/>
                    </a:moveTo>
                    <a:lnTo>
                      <a:pt x="59" y="29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18" name="Line 104"/>
            <p:cNvSpPr>
              <a:spLocks noChangeShapeType="1"/>
            </p:cNvSpPr>
            <p:nvPr/>
          </p:nvSpPr>
          <p:spPr bwMode="auto">
            <a:xfrm>
              <a:off x="1829" y="2513"/>
              <a:ext cx="1" cy="718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19" name="Line 105"/>
            <p:cNvSpPr>
              <a:spLocks noChangeShapeType="1"/>
            </p:cNvSpPr>
            <p:nvPr/>
          </p:nvSpPr>
          <p:spPr bwMode="auto">
            <a:xfrm>
              <a:off x="2377" y="2381"/>
              <a:ext cx="4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20" name="Line 106"/>
            <p:cNvSpPr>
              <a:spLocks noChangeShapeType="1"/>
            </p:cNvSpPr>
            <p:nvPr/>
          </p:nvSpPr>
          <p:spPr bwMode="auto">
            <a:xfrm>
              <a:off x="2377" y="2248"/>
              <a:ext cx="314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21" name="Line 107"/>
            <p:cNvSpPr>
              <a:spLocks noChangeShapeType="1"/>
            </p:cNvSpPr>
            <p:nvPr/>
          </p:nvSpPr>
          <p:spPr bwMode="auto">
            <a:xfrm>
              <a:off x="2142" y="2116"/>
              <a:ext cx="392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22" name="Group 110"/>
            <p:cNvGrpSpPr>
              <a:grpSpLocks/>
            </p:cNvGrpSpPr>
            <p:nvPr/>
          </p:nvGrpSpPr>
          <p:grpSpPr bwMode="auto">
            <a:xfrm>
              <a:off x="2847" y="1889"/>
              <a:ext cx="235" cy="66"/>
              <a:chOff x="2847" y="1889"/>
              <a:chExt cx="235" cy="66"/>
            </a:xfrm>
          </p:grpSpPr>
          <p:sp>
            <p:nvSpPr>
              <p:cNvPr id="151689" name="Line 108"/>
              <p:cNvSpPr>
                <a:spLocks noChangeShapeType="1"/>
              </p:cNvSpPr>
              <p:nvPr/>
            </p:nvSpPr>
            <p:spPr bwMode="auto">
              <a:xfrm>
                <a:off x="2847" y="1917"/>
                <a:ext cx="235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90" name="Freeform 109"/>
              <p:cNvSpPr>
                <a:spLocks/>
              </p:cNvSpPr>
              <p:nvPr/>
            </p:nvSpPr>
            <p:spPr bwMode="auto">
              <a:xfrm>
                <a:off x="3023" y="1889"/>
                <a:ext cx="59" cy="66"/>
              </a:xfrm>
              <a:custGeom>
                <a:avLst/>
                <a:gdLst>
                  <a:gd name="T0" fmla="*/ 0 w 59"/>
                  <a:gd name="T1" fmla="*/ 66 h 66"/>
                  <a:gd name="T2" fmla="*/ 59 w 59"/>
                  <a:gd name="T3" fmla="*/ 28 h 66"/>
                  <a:gd name="T4" fmla="*/ 0 w 59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0" y="66"/>
                    </a:moveTo>
                    <a:lnTo>
                      <a:pt x="59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23" name="Line 111"/>
            <p:cNvSpPr>
              <a:spLocks noChangeShapeType="1"/>
            </p:cNvSpPr>
            <p:nvPr/>
          </p:nvSpPr>
          <p:spPr bwMode="auto">
            <a:xfrm flipV="1">
              <a:off x="2847" y="1917"/>
              <a:ext cx="1" cy="464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24" name="Line 112"/>
            <p:cNvSpPr>
              <a:spLocks noChangeShapeType="1"/>
            </p:cNvSpPr>
            <p:nvPr/>
          </p:nvSpPr>
          <p:spPr bwMode="auto">
            <a:xfrm flipV="1">
              <a:off x="2691" y="1653"/>
              <a:ext cx="1" cy="58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25" name="Line 113"/>
            <p:cNvSpPr>
              <a:spLocks noChangeShapeType="1"/>
            </p:cNvSpPr>
            <p:nvPr/>
          </p:nvSpPr>
          <p:spPr bwMode="auto">
            <a:xfrm flipV="1">
              <a:off x="2534" y="1520"/>
              <a:ext cx="1" cy="59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26" name="Group 116"/>
            <p:cNvGrpSpPr>
              <a:grpSpLocks/>
            </p:cNvGrpSpPr>
            <p:nvPr/>
          </p:nvGrpSpPr>
          <p:grpSpPr bwMode="auto">
            <a:xfrm>
              <a:off x="2534" y="1492"/>
              <a:ext cx="626" cy="66"/>
              <a:chOff x="2534" y="1492"/>
              <a:chExt cx="626" cy="66"/>
            </a:xfrm>
          </p:grpSpPr>
          <p:sp>
            <p:nvSpPr>
              <p:cNvPr id="151687" name="Line 114"/>
              <p:cNvSpPr>
                <a:spLocks noChangeShapeType="1"/>
              </p:cNvSpPr>
              <p:nvPr/>
            </p:nvSpPr>
            <p:spPr bwMode="auto">
              <a:xfrm>
                <a:off x="2534" y="1520"/>
                <a:ext cx="62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88" name="Freeform 115"/>
              <p:cNvSpPr>
                <a:spLocks/>
              </p:cNvSpPr>
              <p:nvPr/>
            </p:nvSpPr>
            <p:spPr bwMode="auto">
              <a:xfrm>
                <a:off x="3102" y="1492"/>
                <a:ext cx="58" cy="66"/>
              </a:xfrm>
              <a:custGeom>
                <a:avLst/>
                <a:gdLst>
                  <a:gd name="T0" fmla="*/ 0 w 58"/>
                  <a:gd name="T1" fmla="*/ 66 h 66"/>
                  <a:gd name="T2" fmla="*/ 58 w 58"/>
                  <a:gd name="T3" fmla="*/ 28 h 66"/>
                  <a:gd name="T4" fmla="*/ 0 w 58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66"/>
                  <a:gd name="T11" fmla="*/ 58 w 58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66">
                    <a:moveTo>
                      <a:pt x="0" y="66"/>
                    </a:moveTo>
                    <a:lnTo>
                      <a:pt x="58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27" name="Line 117"/>
            <p:cNvSpPr>
              <a:spLocks noChangeShapeType="1"/>
            </p:cNvSpPr>
            <p:nvPr/>
          </p:nvSpPr>
          <p:spPr bwMode="auto">
            <a:xfrm>
              <a:off x="2691" y="1653"/>
              <a:ext cx="125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28" name="Line 118"/>
            <p:cNvSpPr>
              <a:spLocks noChangeShapeType="1"/>
            </p:cNvSpPr>
            <p:nvPr/>
          </p:nvSpPr>
          <p:spPr bwMode="auto">
            <a:xfrm flipV="1">
              <a:off x="2142" y="2107"/>
              <a:ext cx="1" cy="132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29" name="Line 119"/>
            <p:cNvSpPr>
              <a:spLocks noChangeShapeType="1"/>
            </p:cNvSpPr>
            <p:nvPr/>
          </p:nvSpPr>
          <p:spPr bwMode="auto">
            <a:xfrm flipV="1">
              <a:off x="3944" y="1520"/>
              <a:ext cx="1" cy="133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30" name="Group 122"/>
            <p:cNvGrpSpPr>
              <a:grpSpLocks/>
            </p:cNvGrpSpPr>
            <p:nvPr/>
          </p:nvGrpSpPr>
          <p:grpSpPr bwMode="auto">
            <a:xfrm>
              <a:off x="3944" y="1492"/>
              <a:ext cx="156" cy="66"/>
              <a:chOff x="3944" y="1492"/>
              <a:chExt cx="156" cy="66"/>
            </a:xfrm>
          </p:grpSpPr>
          <p:sp>
            <p:nvSpPr>
              <p:cNvPr id="151685" name="Line 120"/>
              <p:cNvSpPr>
                <a:spLocks noChangeShapeType="1"/>
              </p:cNvSpPr>
              <p:nvPr/>
            </p:nvSpPr>
            <p:spPr bwMode="auto">
              <a:xfrm flipH="1">
                <a:off x="3944" y="1520"/>
                <a:ext cx="156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86" name="Freeform 121"/>
              <p:cNvSpPr>
                <a:spLocks/>
              </p:cNvSpPr>
              <p:nvPr/>
            </p:nvSpPr>
            <p:spPr bwMode="auto">
              <a:xfrm>
                <a:off x="4041" y="1492"/>
                <a:ext cx="59" cy="66"/>
              </a:xfrm>
              <a:custGeom>
                <a:avLst/>
                <a:gdLst>
                  <a:gd name="T0" fmla="*/ 0 w 59"/>
                  <a:gd name="T1" fmla="*/ 66 h 66"/>
                  <a:gd name="T2" fmla="*/ 59 w 59"/>
                  <a:gd name="T3" fmla="*/ 28 h 66"/>
                  <a:gd name="T4" fmla="*/ 0 w 59"/>
                  <a:gd name="T5" fmla="*/ 0 h 66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66"/>
                  <a:gd name="T11" fmla="*/ 59 w 59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66">
                    <a:moveTo>
                      <a:pt x="0" y="66"/>
                    </a:moveTo>
                    <a:lnTo>
                      <a:pt x="59" y="28"/>
                    </a:lnTo>
                    <a:lnTo>
                      <a:pt x="0" y="0"/>
                    </a:lnTo>
                  </a:path>
                </a:pathLst>
              </a:cu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31" name="Group 125"/>
            <p:cNvGrpSpPr>
              <a:grpSpLocks/>
            </p:cNvGrpSpPr>
            <p:nvPr/>
          </p:nvGrpSpPr>
          <p:grpSpPr bwMode="auto">
            <a:xfrm>
              <a:off x="1163" y="2447"/>
              <a:ext cx="69" cy="132"/>
              <a:chOff x="1163" y="2447"/>
              <a:chExt cx="69" cy="132"/>
            </a:xfrm>
          </p:grpSpPr>
          <p:sp>
            <p:nvSpPr>
              <p:cNvPr id="151683" name="Line 123"/>
              <p:cNvSpPr>
                <a:spLocks noChangeShapeType="1"/>
              </p:cNvSpPr>
              <p:nvPr/>
            </p:nvSpPr>
            <p:spPr bwMode="auto">
              <a:xfrm>
                <a:off x="1203" y="2447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84" name="Freeform 124"/>
              <p:cNvSpPr>
                <a:spLocks/>
              </p:cNvSpPr>
              <p:nvPr/>
            </p:nvSpPr>
            <p:spPr bwMode="auto">
              <a:xfrm>
                <a:off x="1163" y="2522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40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40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32" name="Rectangle 126"/>
            <p:cNvSpPr>
              <a:spLocks noChangeArrowheads="1"/>
            </p:cNvSpPr>
            <p:nvPr/>
          </p:nvSpPr>
          <p:spPr bwMode="auto">
            <a:xfrm>
              <a:off x="3552" y="3638"/>
              <a:ext cx="1106" cy="274"/>
            </a:xfrm>
            <a:prstGeom prst="rect">
              <a:avLst/>
            </a:prstGeom>
            <a:solidFill>
              <a:srgbClr val="FF99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33" name="Rectangle 127"/>
            <p:cNvSpPr>
              <a:spLocks noChangeArrowheads="1"/>
            </p:cNvSpPr>
            <p:nvPr/>
          </p:nvSpPr>
          <p:spPr bwMode="auto">
            <a:xfrm>
              <a:off x="4041" y="3666"/>
              <a:ext cx="12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M</a:t>
              </a:r>
              <a:endParaRPr lang="en-US" altLang="zh-CN"/>
            </a:p>
          </p:txBody>
        </p:sp>
        <p:sp>
          <p:nvSpPr>
            <p:cNvPr id="151634" name="Rectangle 128"/>
            <p:cNvSpPr>
              <a:spLocks noChangeArrowheads="1"/>
            </p:cNvSpPr>
            <p:nvPr/>
          </p:nvSpPr>
          <p:spPr bwMode="auto">
            <a:xfrm>
              <a:off x="3004" y="3638"/>
              <a:ext cx="558" cy="274"/>
            </a:xfrm>
            <a:prstGeom prst="rect">
              <a:avLst/>
            </a:prstGeom>
            <a:solidFill>
              <a:srgbClr val="FF9966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35" name="Rectangle 129"/>
            <p:cNvSpPr>
              <a:spLocks noChangeArrowheads="1"/>
            </p:cNvSpPr>
            <p:nvPr/>
          </p:nvSpPr>
          <p:spPr bwMode="auto">
            <a:xfrm>
              <a:off x="3239" y="3666"/>
              <a:ext cx="9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E</a:t>
              </a:r>
              <a:endParaRPr lang="en-US" altLang="zh-CN"/>
            </a:p>
          </p:txBody>
        </p:sp>
        <p:sp>
          <p:nvSpPr>
            <p:cNvPr id="151636" name="Rectangle 130"/>
            <p:cNvSpPr>
              <a:spLocks noChangeArrowheads="1"/>
            </p:cNvSpPr>
            <p:nvPr/>
          </p:nvSpPr>
          <p:spPr bwMode="auto">
            <a:xfrm>
              <a:off x="2847" y="3638"/>
              <a:ext cx="167" cy="274"/>
            </a:xfrm>
            <a:prstGeom prst="rect">
              <a:avLst/>
            </a:prstGeom>
            <a:solidFill>
              <a:srgbClr val="CCECFF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37" name="Rectangle 131"/>
            <p:cNvSpPr>
              <a:spLocks noChangeArrowheads="1"/>
            </p:cNvSpPr>
            <p:nvPr/>
          </p:nvSpPr>
          <p:spPr bwMode="auto">
            <a:xfrm>
              <a:off x="2886" y="3666"/>
              <a:ext cx="7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S</a:t>
              </a:r>
              <a:endParaRPr lang="en-US" altLang="zh-CN"/>
            </a:p>
          </p:txBody>
        </p:sp>
        <p:grpSp>
          <p:nvGrpSpPr>
            <p:cNvPr id="151638" name="Group 134"/>
            <p:cNvGrpSpPr>
              <a:grpSpLocks/>
            </p:cNvGrpSpPr>
            <p:nvPr/>
          </p:nvGrpSpPr>
          <p:grpSpPr bwMode="auto">
            <a:xfrm>
              <a:off x="4061" y="3439"/>
              <a:ext cx="69" cy="199"/>
              <a:chOff x="4061" y="3439"/>
              <a:chExt cx="69" cy="199"/>
            </a:xfrm>
          </p:grpSpPr>
          <p:sp>
            <p:nvSpPr>
              <p:cNvPr id="151681" name="Line 132"/>
              <p:cNvSpPr>
                <a:spLocks noChangeShapeType="1"/>
              </p:cNvSpPr>
              <p:nvPr/>
            </p:nvSpPr>
            <p:spPr bwMode="auto">
              <a:xfrm>
                <a:off x="4100" y="3439"/>
                <a:ext cx="1" cy="16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82" name="Freeform 133"/>
              <p:cNvSpPr>
                <a:spLocks/>
              </p:cNvSpPr>
              <p:nvPr/>
            </p:nvSpPr>
            <p:spPr bwMode="auto">
              <a:xfrm>
                <a:off x="4061" y="3581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51639" name="Group 137"/>
            <p:cNvGrpSpPr>
              <a:grpSpLocks/>
            </p:cNvGrpSpPr>
            <p:nvPr/>
          </p:nvGrpSpPr>
          <p:grpSpPr bwMode="auto">
            <a:xfrm>
              <a:off x="3278" y="3496"/>
              <a:ext cx="68" cy="132"/>
              <a:chOff x="3278" y="3496"/>
              <a:chExt cx="68" cy="132"/>
            </a:xfrm>
          </p:grpSpPr>
          <p:sp>
            <p:nvSpPr>
              <p:cNvPr id="151679" name="Line 135"/>
              <p:cNvSpPr>
                <a:spLocks noChangeShapeType="1"/>
              </p:cNvSpPr>
              <p:nvPr/>
            </p:nvSpPr>
            <p:spPr bwMode="auto">
              <a:xfrm>
                <a:off x="3317" y="3496"/>
                <a:ext cx="1" cy="9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80" name="Freeform 136"/>
              <p:cNvSpPr>
                <a:spLocks/>
              </p:cNvSpPr>
              <p:nvPr/>
            </p:nvSpPr>
            <p:spPr bwMode="auto">
              <a:xfrm>
                <a:off x="3278" y="3572"/>
                <a:ext cx="68" cy="56"/>
              </a:xfrm>
              <a:custGeom>
                <a:avLst/>
                <a:gdLst>
                  <a:gd name="T0" fmla="*/ 0 w 68"/>
                  <a:gd name="T1" fmla="*/ 0 h 56"/>
                  <a:gd name="T2" fmla="*/ 39 w 68"/>
                  <a:gd name="T3" fmla="*/ 56 h 56"/>
                  <a:gd name="T4" fmla="*/ 68 w 68"/>
                  <a:gd name="T5" fmla="*/ 0 h 56"/>
                  <a:gd name="T6" fmla="*/ 0 w 68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56"/>
                  <a:gd name="T14" fmla="*/ 68 w 68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56">
                    <a:moveTo>
                      <a:pt x="0" y="0"/>
                    </a:moveTo>
                    <a:lnTo>
                      <a:pt x="39" y="56"/>
                    </a:lnTo>
                    <a:lnTo>
                      <a:pt x="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40" name="Line 138"/>
            <p:cNvSpPr>
              <a:spLocks noChangeShapeType="1"/>
            </p:cNvSpPr>
            <p:nvPr/>
          </p:nvSpPr>
          <p:spPr bwMode="auto">
            <a:xfrm>
              <a:off x="3865" y="3439"/>
              <a:ext cx="1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41" name="Line 139"/>
            <p:cNvSpPr>
              <a:spLocks noChangeShapeType="1"/>
            </p:cNvSpPr>
            <p:nvPr/>
          </p:nvSpPr>
          <p:spPr bwMode="auto">
            <a:xfrm>
              <a:off x="3317" y="3505"/>
              <a:ext cx="548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42" name="Group 142"/>
            <p:cNvGrpSpPr>
              <a:grpSpLocks/>
            </p:cNvGrpSpPr>
            <p:nvPr/>
          </p:nvGrpSpPr>
          <p:grpSpPr bwMode="auto">
            <a:xfrm>
              <a:off x="3591" y="3033"/>
              <a:ext cx="69" cy="132"/>
              <a:chOff x="3591" y="3033"/>
              <a:chExt cx="69" cy="132"/>
            </a:xfrm>
          </p:grpSpPr>
          <p:sp>
            <p:nvSpPr>
              <p:cNvPr id="151677" name="Line 140"/>
              <p:cNvSpPr>
                <a:spLocks noChangeShapeType="1"/>
              </p:cNvSpPr>
              <p:nvPr/>
            </p:nvSpPr>
            <p:spPr bwMode="auto">
              <a:xfrm>
                <a:off x="3630" y="3033"/>
                <a:ext cx="1" cy="94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8" name="Freeform 141"/>
              <p:cNvSpPr>
                <a:spLocks/>
              </p:cNvSpPr>
              <p:nvPr/>
            </p:nvSpPr>
            <p:spPr bwMode="auto">
              <a:xfrm>
                <a:off x="3591" y="3108"/>
                <a:ext cx="69" cy="57"/>
              </a:xfrm>
              <a:custGeom>
                <a:avLst/>
                <a:gdLst>
                  <a:gd name="T0" fmla="*/ 0 w 69"/>
                  <a:gd name="T1" fmla="*/ 0 h 57"/>
                  <a:gd name="T2" fmla="*/ 39 w 69"/>
                  <a:gd name="T3" fmla="*/ 57 h 57"/>
                  <a:gd name="T4" fmla="*/ 69 w 69"/>
                  <a:gd name="T5" fmla="*/ 0 h 57"/>
                  <a:gd name="T6" fmla="*/ 0 w 69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7"/>
                  <a:gd name="T14" fmla="*/ 69 w 69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7">
                    <a:moveTo>
                      <a:pt x="0" y="0"/>
                    </a:moveTo>
                    <a:lnTo>
                      <a:pt x="39" y="57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43" name="Line 143"/>
            <p:cNvSpPr>
              <a:spLocks noChangeShapeType="1"/>
            </p:cNvSpPr>
            <p:nvPr/>
          </p:nvSpPr>
          <p:spPr bwMode="auto">
            <a:xfrm flipH="1">
              <a:off x="1203" y="3042"/>
              <a:ext cx="242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44" name="Line 144"/>
            <p:cNvSpPr>
              <a:spLocks noChangeShapeType="1"/>
            </p:cNvSpPr>
            <p:nvPr/>
          </p:nvSpPr>
          <p:spPr bwMode="auto">
            <a:xfrm>
              <a:off x="1203" y="2844"/>
              <a:ext cx="1" cy="189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45" name="Line 145"/>
            <p:cNvSpPr>
              <a:spLocks noChangeShapeType="1"/>
            </p:cNvSpPr>
            <p:nvPr/>
          </p:nvSpPr>
          <p:spPr bwMode="auto">
            <a:xfrm>
              <a:off x="2925" y="2976"/>
              <a:ext cx="1097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46" name="Group 148"/>
            <p:cNvGrpSpPr>
              <a:grpSpLocks/>
            </p:cNvGrpSpPr>
            <p:nvPr/>
          </p:nvGrpSpPr>
          <p:grpSpPr bwMode="auto">
            <a:xfrm>
              <a:off x="2886" y="2976"/>
              <a:ext cx="69" cy="652"/>
              <a:chOff x="2886" y="2976"/>
              <a:chExt cx="69" cy="652"/>
            </a:xfrm>
          </p:grpSpPr>
          <p:sp>
            <p:nvSpPr>
              <p:cNvPr id="151675" name="Line 146"/>
              <p:cNvSpPr>
                <a:spLocks noChangeShapeType="1"/>
              </p:cNvSpPr>
              <p:nvPr/>
            </p:nvSpPr>
            <p:spPr bwMode="auto">
              <a:xfrm flipV="1">
                <a:off x="2925" y="2976"/>
                <a:ext cx="1" cy="615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6" name="Freeform 147"/>
              <p:cNvSpPr>
                <a:spLocks/>
              </p:cNvSpPr>
              <p:nvPr/>
            </p:nvSpPr>
            <p:spPr bwMode="auto">
              <a:xfrm>
                <a:off x="2886" y="3572"/>
                <a:ext cx="69" cy="56"/>
              </a:xfrm>
              <a:custGeom>
                <a:avLst/>
                <a:gdLst>
                  <a:gd name="T0" fmla="*/ 0 w 69"/>
                  <a:gd name="T1" fmla="*/ 0 h 56"/>
                  <a:gd name="T2" fmla="*/ 39 w 69"/>
                  <a:gd name="T3" fmla="*/ 56 h 56"/>
                  <a:gd name="T4" fmla="*/ 69 w 69"/>
                  <a:gd name="T5" fmla="*/ 0 h 56"/>
                  <a:gd name="T6" fmla="*/ 0 w 69"/>
                  <a:gd name="T7" fmla="*/ 0 h 5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9"/>
                  <a:gd name="T13" fmla="*/ 0 h 56"/>
                  <a:gd name="T14" fmla="*/ 69 w 69"/>
                  <a:gd name="T15" fmla="*/ 56 h 5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9" h="56">
                    <a:moveTo>
                      <a:pt x="0" y="0"/>
                    </a:moveTo>
                    <a:lnTo>
                      <a:pt x="39" y="56"/>
                    </a:lnTo>
                    <a:lnTo>
                      <a:pt x="6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47" name="Line 149"/>
            <p:cNvSpPr>
              <a:spLocks noChangeShapeType="1"/>
            </p:cNvSpPr>
            <p:nvPr/>
          </p:nvSpPr>
          <p:spPr bwMode="auto">
            <a:xfrm>
              <a:off x="1516" y="1303"/>
              <a:ext cx="31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48" name="Line 150"/>
            <p:cNvSpPr>
              <a:spLocks noChangeShapeType="1"/>
            </p:cNvSpPr>
            <p:nvPr/>
          </p:nvSpPr>
          <p:spPr bwMode="auto">
            <a:xfrm>
              <a:off x="1986" y="1303"/>
              <a:ext cx="313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49" name="Line 151"/>
            <p:cNvSpPr>
              <a:spLocks noChangeShapeType="1"/>
            </p:cNvSpPr>
            <p:nvPr/>
          </p:nvSpPr>
          <p:spPr bwMode="auto">
            <a:xfrm>
              <a:off x="1829" y="1303"/>
              <a:ext cx="78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0" name="Line 152"/>
            <p:cNvSpPr>
              <a:spLocks noChangeShapeType="1"/>
            </p:cNvSpPr>
            <p:nvPr/>
          </p:nvSpPr>
          <p:spPr bwMode="auto">
            <a:xfrm flipH="1">
              <a:off x="1907" y="1303"/>
              <a:ext cx="79" cy="66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1" name="Line 153"/>
            <p:cNvSpPr>
              <a:spLocks noChangeShapeType="1"/>
            </p:cNvSpPr>
            <p:nvPr/>
          </p:nvSpPr>
          <p:spPr bwMode="auto">
            <a:xfrm>
              <a:off x="1516" y="1303"/>
              <a:ext cx="156" cy="3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2" name="Line 154"/>
            <p:cNvSpPr>
              <a:spLocks noChangeShapeType="1"/>
            </p:cNvSpPr>
            <p:nvPr/>
          </p:nvSpPr>
          <p:spPr bwMode="auto">
            <a:xfrm flipH="1">
              <a:off x="2142" y="1303"/>
              <a:ext cx="157" cy="33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3" name="Line 155"/>
            <p:cNvSpPr>
              <a:spLocks noChangeShapeType="1"/>
            </p:cNvSpPr>
            <p:nvPr/>
          </p:nvSpPr>
          <p:spPr bwMode="auto">
            <a:xfrm>
              <a:off x="1672" y="1634"/>
              <a:ext cx="470" cy="1"/>
            </a:xfrm>
            <a:prstGeom prst="line">
              <a:avLst/>
            </a:pr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1654" name="Group 178"/>
            <p:cNvGrpSpPr>
              <a:grpSpLocks/>
            </p:cNvGrpSpPr>
            <p:nvPr/>
          </p:nvGrpSpPr>
          <p:grpSpPr bwMode="auto">
            <a:xfrm>
              <a:off x="3395" y="2097"/>
              <a:ext cx="1253" cy="398"/>
              <a:chOff x="3395" y="2097"/>
              <a:chExt cx="1253" cy="398"/>
            </a:xfrm>
          </p:grpSpPr>
          <p:sp>
            <p:nvSpPr>
              <p:cNvPr id="151668" name="Line 156"/>
              <p:cNvSpPr>
                <a:spLocks noChangeShapeType="1"/>
              </p:cNvSpPr>
              <p:nvPr/>
            </p:nvSpPr>
            <p:spPr bwMode="auto">
              <a:xfrm>
                <a:off x="3395" y="2097"/>
                <a:ext cx="549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69" name="Line 157"/>
              <p:cNvSpPr>
                <a:spLocks noChangeShapeType="1"/>
              </p:cNvSpPr>
              <p:nvPr/>
            </p:nvSpPr>
            <p:spPr bwMode="auto">
              <a:xfrm>
                <a:off x="4100" y="2097"/>
                <a:ext cx="548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0" name="Line 158"/>
              <p:cNvSpPr>
                <a:spLocks noChangeShapeType="1"/>
              </p:cNvSpPr>
              <p:nvPr/>
            </p:nvSpPr>
            <p:spPr bwMode="auto">
              <a:xfrm>
                <a:off x="3944" y="2097"/>
                <a:ext cx="78" cy="6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1" name="Line 159"/>
              <p:cNvSpPr>
                <a:spLocks noChangeShapeType="1"/>
              </p:cNvSpPr>
              <p:nvPr/>
            </p:nvSpPr>
            <p:spPr bwMode="auto">
              <a:xfrm flipH="1">
                <a:off x="4022" y="2097"/>
                <a:ext cx="78" cy="6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2" name="Line 160"/>
              <p:cNvSpPr>
                <a:spLocks noChangeShapeType="1"/>
              </p:cNvSpPr>
              <p:nvPr/>
            </p:nvSpPr>
            <p:spPr bwMode="auto">
              <a:xfrm>
                <a:off x="3395" y="2097"/>
                <a:ext cx="235" cy="3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3" name="Line 161"/>
              <p:cNvSpPr>
                <a:spLocks noChangeShapeType="1"/>
              </p:cNvSpPr>
              <p:nvPr/>
            </p:nvSpPr>
            <p:spPr bwMode="auto">
              <a:xfrm flipH="1">
                <a:off x="4413" y="2097"/>
                <a:ext cx="235" cy="397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1674" name="Line 162"/>
              <p:cNvSpPr>
                <a:spLocks noChangeShapeType="1"/>
              </p:cNvSpPr>
              <p:nvPr/>
            </p:nvSpPr>
            <p:spPr bwMode="auto">
              <a:xfrm>
                <a:off x="3630" y="2494"/>
                <a:ext cx="783" cy="1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1655" name="Rectangle 163"/>
            <p:cNvSpPr>
              <a:spLocks noChangeArrowheads="1"/>
            </p:cNvSpPr>
            <p:nvPr/>
          </p:nvSpPr>
          <p:spPr bwMode="auto">
            <a:xfrm>
              <a:off x="811" y="2163"/>
              <a:ext cx="715" cy="274"/>
            </a:xfrm>
            <a:prstGeom prst="rect">
              <a:avLst/>
            </a:prstGeom>
            <a:solidFill>
              <a:srgbClr val="CCFFCC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6" name="Rectangle 164"/>
            <p:cNvSpPr>
              <a:spLocks noChangeArrowheads="1"/>
            </p:cNvSpPr>
            <p:nvPr/>
          </p:nvSpPr>
          <p:spPr bwMode="auto">
            <a:xfrm>
              <a:off x="3591" y="1246"/>
              <a:ext cx="16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7" name="Rectangle 165"/>
            <p:cNvSpPr>
              <a:spLocks noChangeArrowheads="1"/>
            </p:cNvSpPr>
            <p:nvPr/>
          </p:nvSpPr>
          <p:spPr bwMode="auto">
            <a:xfrm>
              <a:off x="3601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51658" name="Rectangle 166"/>
            <p:cNvSpPr>
              <a:spLocks noChangeArrowheads="1"/>
            </p:cNvSpPr>
            <p:nvPr/>
          </p:nvSpPr>
          <p:spPr bwMode="auto">
            <a:xfrm>
              <a:off x="4531" y="1246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59" name="Rectangle 167"/>
            <p:cNvSpPr>
              <a:spLocks noChangeArrowheads="1"/>
            </p:cNvSpPr>
            <p:nvPr/>
          </p:nvSpPr>
          <p:spPr bwMode="auto">
            <a:xfrm>
              <a:off x="4541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51660" name="Rectangle 168"/>
            <p:cNvSpPr>
              <a:spLocks noChangeArrowheads="1"/>
            </p:cNvSpPr>
            <p:nvPr/>
          </p:nvSpPr>
          <p:spPr bwMode="auto">
            <a:xfrm>
              <a:off x="1320" y="2097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61" name="Rectangle 169"/>
            <p:cNvSpPr>
              <a:spLocks noChangeArrowheads="1"/>
            </p:cNvSpPr>
            <p:nvPr/>
          </p:nvSpPr>
          <p:spPr bwMode="auto">
            <a:xfrm>
              <a:off x="1330" y="2171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1</a:t>
              </a:r>
              <a:endParaRPr lang="en-US" altLang="zh-CN"/>
            </a:p>
          </p:txBody>
        </p:sp>
        <p:sp>
          <p:nvSpPr>
            <p:cNvPr id="151662" name="Rectangle 170"/>
            <p:cNvSpPr>
              <a:spLocks noChangeArrowheads="1"/>
            </p:cNvSpPr>
            <p:nvPr/>
          </p:nvSpPr>
          <p:spPr bwMode="auto">
            <a:xfrm>
              <a:off x="3278" y="1246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63" name="Rectangle 171"/>
            <p:cNvSpPr>
              <a:spLocks noChangeArrowheads="1"/>
            </p:cNvSpPr>
            <p:nvPr/>
          </p:nvSpPr>
          <p:spPr bwMode="auto">
            <a:xfrm>
              <a:off x="3288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151664" name="Rectangle 172"/>
            <p:cNvSpPr>
              <a:spLocks noChangeArrowheads="1"/>
            </p:cNvSpPr>
            <p:nvPr/>
          </p:nvSpPr>
          <p:spPr bwMode="auto">
            <a:xfrm>
              <a:off x="4218" y="1246"/>
              <a:ext cx="166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65" name="Rectangle 173"/>
            <p:cNvSpPr>
              <a:spLocks noChangeArrowheads="1"/>
            </p:cNvSpPr>
            <p:nvPr/>
          </p:nvSpPr>
          <p:spPr bwMode="auto">
            <a:xfrm>
              <a:off x="4227" y="1325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zh-CN"/>
            </a:p>
          </p:txBody>
        </p:sp>
        <p:sp>
          <p:nvSpPr>
            <p:cNvPr id="151666" name="Rectangle 174"/>
            <p:cNvSpPr>
              <a:spLocks noChangeArrowheads="1"/>
            </p:cNvSpPr>
            <p:nvPr/>
          </p:nvSpPr>
          <p:spPr bwMode="auto">
            <a:xfrm>
              <a:off x="928" y="2097"/>
              <a:ext cx="167" cy="2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667" name="Rectangle 175"/>
            <p:cNvSpPr>
              <a:spLocks noChangeArrowheads="1"/>
            </p:cNvSpPr>
            <p:nvPr/>
          </p:nvSpPr>
          <p:spPr bwMode="auto">
            <a:xfrm>
              <a:off x="938" y="2160"/>
              <a:ext cx="68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700">
                  <a:solidFill>
                    <a:srgbClr val="000000"/>
                  </a:solidFill>
                  <a:latin typeface="Times New Roman" pitchFamily="18" charset="0"/>
                </a:rPr>
                <a:t>0</a:t>
              </a:r>
              <a:endParaRPr lang="en-US" altLang="zh-CN"/>
            </a:p>
          </p:txBody>
        </p:sp>
      </p:grpSp>
    </p:spTree>
    <p:extLst>
      <p:ext uri="{BB962C8B-B14F-4D97-AF65-F5344CB8AC3E}">
        <p14:creationId xmlns:p14="http://schemas.microsoft.com/office/powerpoint/2010/main" val="68154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228600" y="304800"/>
            <a:ext cx="57245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 </a:t>
            </a:r>
            <a:r>
              <a:rPr lang="zh-CN" altLang="en-US" sz="3600">
                <a:solidFill>
                  <a:schemeClr val="hlink"/>
                </a:solidFill>
                <a:latin typeface="隶书" pitchFamily="49" charset="-122"/>
                <a:ea typeface="隶书" pitchFamily="49" charset="-122"/>
              </a:rPr>
              <a:t>浮点乘、除法运算</a:t>
            </a:r>
          </a:p>
        </p:txBody>
      </p:sp>
      <p:sp>
        <p:nvSpPr>
          <p:cNvPr id="152579" name="Text Box 5"/>
          <p:cNvSpPr txBox="1">
            <a:spLocks noChangeArrowheads="1"/>
          </p:cNvSpPr>
          <p:nvPr/>
        </p:nvSpPr>
        <p:spPr bwMode="auto">
          <a:xfrm>
            <a:off x="152400" y="914400"/>
            <a:ext cx="6502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1.</a:t>
            </a:r>
            <a:r>
              <a:rPr lang="zh-CN" altLang="en-US" sz="3200">
                <a:solidFill>
                  <a:srgbClr val="0000FF"/>
                </a:solidFill>
                <a:latin typeface="隶书" pitchFamily="49" charset="-122"/>
                <a:ea typeface="隶书" pitchFamily="49" charset="-122"/>
              </a:rPr>
              <a:t>浮点乘法、除法运算规则</a:t>
            </a:r>
          </a:p>
        </p:txBody>
      </p:sp>
      <p:sp>
        <p:nvSpPr>
          <p:cNvPr id="152580" name="Text Box 6"/>
          <p:cNvSpPr txBox="1">
            <a:spLocks noChangeArrowheads="1"/>
          </p:cNvSpPr>
          <p:nvPr/>
        </p:nvSpPr>
        <p:spPr bwMode="auto">
          <a:xfrm>
            <a:off x="304800" y="1524000"/>
            <a:ext cx="8458200" cy="385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</a:rPr>
              <a:t>设有两个浮点数ｘ和ｙ：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ｘ＝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Ex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·M</a:t>
            </a:r>
            <a:r>
              <a:rPr lang="en-US" altLang="zh-CN" baseline="-3000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/>
            </a:r>
            <a:br>
              <a:rPr lang="en-US" altLang="zh-CN">
                <a:solidFill>
                  <a:srgbClr val="0000FF"/>
                </a:solidFill>
                <a:latin typeface="Times New Roman" pitchFamily="18" charset="0"/>
              </a:rPr>
            </a:b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　　　　                                 ｙ＝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Ey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·M</a:t>
            </a:r>
            <a:r>
              <a:rPr lang="en-US" altLang="zh-CN" baseline="-25000">
                <a:solidFill>
                  <a:srgbClr val="0000FF"/>
                </a:solidFill>
                <a:latin typeface="Times New Roman" pitchFamily="18" charset="0"/>
              </a:rPr>
              <a:t>y</a:t>
            </a:r>
            <a:endParaRPr lang="en-US" altLang="zh-CN" baseline="-25000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浮点乘法运算的规则是：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     ｘ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ｙ＝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6600FF"/>
                </a:solidFill>
                <a:latin typeface="Times New Roman" pitchFamily="18" charset="0"/>
              </a:rPr>
              <a:t>(Ex+ Ey) 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· (M</a:t>
            </a:r>
            <a:r>
              <a:rPr lang="en-US" altLang="zh-CN" baseline="-30000">
                <a:solidFill>
                  <a:srgbClr val="6600FF"/>
                </a:solidFill>
                <a:latin typeface="Times New Roman" pitchFamily="18" charset="0"/>
              </a:rPr>
              <a:t>x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  <a:sym typeface="Symbol" pitchFamily="18" charset="2"/>
              </a:rPr>
              <a:t>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M</a:t>
            </a:r>
            <a:r>
              <a:rPr lang="en-US" altLang="zh-CN" baseline="-30000">
                <a:solidFill>
                  <a:srgbClr val="6600FF"/>
                </a:solidFill>
                <a:latin typeface="Times New Roman" pitchFamily="18" charset="0"/>
              </a:rPr>
              <a:t>y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)</a:t>
            </a:r>
            <a:endParaRPr lang="en-US" altLang="zh-CN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</a:t>
            </a:r>
            <a:r>
              <a:rPr lang="zh-CN" altLang="en-US">
                <a:latin typeface="Times New Roman" pitchFamily="18" charset="0"/>
              </a:rPr>
              <a:t>即：  乘积的尾数是相乘两数的尾数之积</a:t>
            </a:r>
            <a:r>
              <a:rPr lang="en-US" altLang="zh-CN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      </a:t>
            </a:r>
            <a:r>
              <a:rPr lang="zh-CN" altLang="en-US">
                <a:latin typeface="Times New Roman" pitchFamily="18" charset="0"/>
              </a:rPr>
              <a:t>乘积的阶码是相乘两数的阶码之和。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浮点除法运算的规则是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:</a:t>
            </a:r>
            <a:r>
              <a:rPr lang="en-US" altLang="zh-CN">
                <a:latin typeface="Times New Roman" pitchFamily="18" charset="0"/>
              </a:rPr>
              <a:t> 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       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÷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ｙ＝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6600FF"/>
                </a:solidFill>
                <a:latin typeface="Times New Roman" pitchFamily="18" charset="0"/>
              </a:rPr>
              <a:t>(Ex</a:t>
            </a:r>
            <a:r>
              <a:rPr lang="zh-CN" altLang="en-US" baseline="30000">
                <a:solidFill>
                  <a:srgbClr val="6600FF"/>
                </a:solidFill>
                <a:latin typeface="Times New Roman" pitchFamily="18" charset="0"/>
              </a:rPr>
              <a:t>－</a:t>
            </a:r>
            <a:r>
              <a:rPr lang="en-US" altLang="zh-CN" baseline="30000">
                <a:solidFill>
                  <a:srgbClr val="6600FF"/>
                </a:solidFill>
                <a:latin typeface="Times New Roman" pitchFamily="18" charset="0"/>
              </a:rPr>
              <a:t>Ey) 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· (M</a:t>
            </a:r>
            <a:r>
              <a:rPr lang="en-US" altLang="zh-CN" baseline="-30000">
                <a:solidFill>
                  <a:srgbClr val="6600FF"/>
                </a:solidFill>
                <a:latin typeface="Times New Roman" pitchFamily="18" charset="0"/>
              </a:rPr>
              <a:t>x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÷M</a:t>
            </a:r>
            <a:r>
              <a:rPr lang="en-US" altLang="zh-CN" baseline="-30000">
                <a:solidFill>
                  <a:srgbClr val="6600FF"/>
                </a:solidFill>
                <a:latin typeface="Times New Roman" pitchFamily="18" charset="0"/>
              </a:rPr>
              <a:t>y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)</a:t>
            </a:r>
            <a:endParaRPr lang="en-US" altLang="zh-CN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</a:t>
            </a:r>
            <a:r>
              <a:rPr lang="zh-CN" altLang="en-US">
                <a:latin typeface="Times New Roman" pitchFamily="18" charset="0"/>
              </a:rPr>
              <a:t>即：商的尾数是相除两数的尾数之商</a:t>
            </a:r>
            <a:r>
              <a:rPr lang="en-US" altLang="zh-CN">
                <a:latin typeface="Times New Roman" pitchFamily="18" charset="0"/>
              </a:rPr>
              <a:t>;</a:t>
            </a:r>
          </a:p>
          <a:p>
            <a:pPr eaLnBrk="1" hangingPunct="1">
              <a:lnSpc>
                <a:spcPct val="65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      </a:t>
            </a:r>
            <a:r>
              <a:rPr lang="zh-CN" altLang="en-US">
                <a:latin typeface="Times New Roman" pitchFamily="18" charset="0"/>
              </a:rPr>
              <a:t>商的阶码是相除两数的阶码之差。</a:t>
            </a:r>
          </a:p>
        </p:txBody>
      </p:sp>
    </p:spTree>
    <p:extLst>
      <p:ext uri="{BB962C8B-B14F-4D97-AF65-F5344CB8AC3E}">
        <p14:creationId xmlns:p14="http://schemas.microsoft.com/office/powerpoint/2010/main" val="2704577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2"/>
          <p:cNvSpPr txBox="1">
            <a:spLocks noChangeArrowheads="1"/>
          </p:cNvSpPr>
          <p:nvPr/>
        </p:nvSpPr>
        <p:spPr bwMode="auto">
          <a:xfrm>
            <a:off x="274638" y="688975"/>
            <a:ext cx="5568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>
                <a:solidFill>
                  <a:srgbClr val="0000FF"/>
                </a:solidFill>
                <a:latin typeface="宋体" charset="-122"/>
              </a:rPr>
              <a:t>2. </a:t>
            </a:r>
            <a:r>
              <a:rPr lang="zh-CN" altLang="en-US" sz="3200">
                <a:solidFill>
                  <a:srgbClr val="0000FF"/>
                </a:solidFill>
                <a:latin typeface="宋体" charset="-122"/>
              </a:rPr>
              <a:t>浮点乘、除法运算步骤</a:t>
            </a:r>
          </a:p>
        </p:txBody>
      </p:sp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419100" y="1460500"/>
            <a:ext cx="6896100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浮点数的乘除运算大体分为四步：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(1)  0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操作数检查；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(2)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阶码加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减操作；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(3)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尾数乘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/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除操作；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(4)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结果规格化及舍入处理。</a:t>
            </a:r>
          </a:p>
        </p:txBody>
      </p:sp>
    </p:spTree>
    <p:extLst>
      <p:ext uri="{BB962C8B-B14F-4D97-AF65-F5344CB8AC3E}">
        <p14:creationId xmlns:p14="http://schemas.microsoft.com/office/powerpoint/2010/main" val="158805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Text Box 5"/>
          <p:cNvSpPr txBox="1">
            <a:spLocks noChangeArrowheads="1"/>
          </p:cNvSpPr>
          <p:nvPr/>
        </p:nvSpPr>
        <p:spPr bwMode="auto">
          <a:xfrm>
            <a:off x="381000" y="457200"/>
            <a:ext cx="4073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(2)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浮点数的阶码运算</a:t>
            </a:r>
            <a:endParaRPr lang="zh-CN" altLang="en-US">
              <a:latin typeface="Times New Roman" pitchFamily="18" charset="0"/>
            </a:endParaRPr>
          </a:p>
        </p:txBody>
      </p:sp>
      <p:sp>
        <p:nvSpPr>
          <p:cNvPr id="154627" name="Text Box 6"/>
          <p:cNvSpPr txBox="1">
            <a:spLocks noChangeArrowheads="1"/>
          </p:cNvSpPr>
          <p:nvPr/>
        </p:nvSpPr>
        <p:spPr bwMode="auto">
          <a:xfrm>
            <a:off x="279400" y="1114425"/>
            <a:ext cx="854075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altLang="zh-CN">
                <a:latin typeface="Times New Roman" pitchFamily="18" charset="0"/>
              </a:rPr>
              <a:t> </a:t>
            </a:r>
            <a:r>
              <a:rPr lang="zh-CN" altLang="en-US">
                <a:latin typeface="Times New Roman" pitchFamily="18" charset="0"/>
              </a:rPr>
              <a:t>对阶码的运算有＋</a:t>
            </a:r>
            <a:r>
              <a:rPr lang="en-US" altLang="zh-CN">
                <a:latin typeface="Times New Roman" pitchFamily="18" charset="0"/>
              </a:rPr>
              <a:t>1</a:t>
            </a:r>
            <a:r>
              <a:rPr lang="zh-CN" altLang="en-US">
                <a:latin typeface="Times New Roman" pitchFamily="18" charset="0"/>
              </a:rPr>
              <a:t>、－</a:t>
            </a:r>
            <a:r>
              <a:rPr lang="en-US" altLang="zh-CN">
                <a:latin typeface="Times New Roman" pitchFamily="18" charset="0"/>
              </a:rPr>
              <a:t>1</a:t>
            </a:r>
            <a:r>
              <a:rPr lang="zh-CN" altLang="en-US">
                <a:latin typeface="Times New Roman" pitchFamily="18" charset="0"/>
              </a:rPr>
              <a:t>、两阶码求和、两阶码求差四种</a:t>
            </a:r>
            <a:r>
              <a:rPr lang="en-US" altLang="zh-CN">
                <a:latin typeface="Times New Roman" pitchFamily="18" charset="0"/>
              </a:rPr>
              <a:t>,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</a:t>
            </a:r>
            <a:r>
              <a:rPr lang="zh-CN" altLang="en-US">
                <a:latin typeface="Times New Roman" pitchFamily="18" charset="0"/>
              </a:rPr>
              <a:t>运算时还必须检查结果是否溢出。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>
                <a:latin typeface="Times New Roman" pitchFamily="18" charset="0"/>
              </a:rPr>
              <a:t>在计算机中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阶码通常用补码或移码形式表示。</a:t>
            </a:r>
          </a:p>
        </p:txBody>
      </p:sp>
      <p:sp>
        <p:nvSpPr>
          <p:cNvPr id="154628" name="Text Box 7"/>
          <p:cNvSpPr txBox="1">
            <a:spLocks noChangeArrowheads="1"/>
          </p:cNvSpPr>
          <p:nvPr/>
        </p:nvSpPr>
        <p:spPr bwMode="auto">
          <a:xfrm>
            <a:off x="379413" y="2339975"/>
            <a:ext cx="7835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66FF"/>
                </a:solidFill>
                <a:latin typeface="宋体" charset="-122"/>
              </a:rPr>
              <a:t>①</a:t>
            </a:r>
            <a:r>
              <a:rPr lang="zh-CN" altLang="en-US">
                <a:solidFill>
                  <a:srgbClr val="0066FF"/>
                </a:solidFill>
                <a:latin typeface="宋体" charset="-122"/>
              </a:rPr>
              <a:t>移码的运算规则和判定溢出的方法</a:t>
            </a:r>
          </a:p>
        </p:txBody>
      </p:sp>
      <p:sp>
        <p:nvSpPr>
          <p:cNvPr id="154629" name="Text Box 8"/>
          <p:cNvSpPr txBox="1">
            <a:spLocks noChangeArrowheads="1"/>
          </p:cNvSpPr>
          <p:nvPr/>
        </p:nvSpPr>
        <p:spPr bwMode="auto">
          <a:xfrm>
            <a:off x="423863" y="2982913"/>
            <a:ext cx="8264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移码的定义为      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[x]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　　　 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- 2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  <a:cs typeface="Times New Roman" pitchFamily="18" charset="0"/>
              </a:rPr>
              <a:t>≤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x &lt;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</a:t>
            </a:r>
            <a:endParaRPr lang="en-US" altLang="zh-CN">
              <a:latin typeface="Times New Roman" pitchFamily="18" charset="0"/>
            </a:endParaRPr>
          </a:p>
        </p:txBody>
      </p:sp>
      <p:sp>
        <p:nvSpPr>
          <p:cNvPr id="154630" name="Rectangle 9"/>
          <p:cNvSpPr>
            <a:spLocks noChangeArrowheads="1"/>
          </p:cNvSpPr>
          <p:nvPr/>
        </p:nvSpPr>
        <p:spPr bwMode="auto">
          <a:xfrm>
            <a:off x="2830513" y="3578225"/>
            <a:ext cx="3694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[x]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 [y]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</a:p>
        </p:txBody>
      </p:sp>
      <p:sp>
        <p:nvSpPr>
          <p:cNvPr id="154631" name="Rectangle 10"/>
          <p:cNvSpPr>
            <a:spLocks noChangeArrowheads="1"/>
          </p:cNvSpPr>
          <p:nvPr/>
        </p:nvSpPr>
        <p:spPr bwMode="auto">
          <a:xfrm>
            <a:off x="4214813" y="4632325"/>
            <a:ext cx="2116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+[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移</a:t>
            </a:r>
          </a:p>
        </p:txBody>
      </p:sp>
      <p:sp>
        <p:nvSpPr>
          <p:cNvPr id="154632" name="Rectangle 11"/>
          <p:cNvSpPr>
            <a:spLocks noChangeArrowheads="1"/>
          </p:cNvSpPr>
          <p:nvPr/>
        </p:nvSpPr>
        <p:spPr bwMode="auto">
          <a:xfrm>
            <a:off x="406400" y="3598863"/>
            <a:ext cx="225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按此定义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则有</a:t>
            </a:r>
          </a:p>
        </p:txBody>
      </p:sp>
      <p:sp>
        <p:nvSpPr>
          <p:cNvPr id="154633" name="Text Box 12"/>
          <p:cNvSpPr txBox="1">
            <a:spLocks noChangeArrowheads="1"/>
          </p:cNvSpPr>
          <p:nvPr/>
        </p:nvSpPr>
        <p:spPr bwMode="auto">
          <a:xfrm>
            <a:off x="4208463" y="4094163"/>
            <a:ext cx="2932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+(2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+(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))</a:t>
            </a:r>
          </a:p>
        </p:txBody>
      </p:sp>
      <p:sp>
        <p:nvSpPr>
          <p:cNvPr id="154634" name="Text Box 13"/>
          <p:cNvSpPr txBox="1">
            <a:spLocks noChangeArrowheads="1"/>
          </p:cNvSpPr>
          <p:nvPr/>
        </p:nvSpPr>
        <p:spPr bwMode="auto">
          <a:xfrm>
            <a:off x="2724150" y="5189538"/>
            <a:ext cx="4667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[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</a:t>
            </a:r>
            <a:r>
              <a:rPr lang="en-US" altLang="zh-CN">
                <a:solidFill>
                  <a:srgbClr val="0000FF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 [x]</a:t>
            </a:r>
            <a:r>
              <a:rPr lang="zh-CN" altLang="en-US" baseline="-25000">
                <a:solidFill>
                  <a:srgbClr val="0000FF"/>
                </a:solidFill>
                <a:latin typeface="Times New Roman" pitchFamily="18" charset="0"/>
              </a:rPr>
              <a:t>移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 [y]</a:t>
            </a:r>
            <a:r>
              <a:rPr lang="zh-CN" altLang="en-US" baseline="-25000">
                <a:solidFill>
                  <a:srgbClr val="0000FF"/>
                </a:solidFill>
                <a:latin typeface="Times New Roman" pitchFamily="18" charset="0"/>
              </a:rPr>
              <a:t>移</a:t>
            </a:r>
          </a:p>
        </p:txBody>
      </p:sp>
    </p:spTree>
    <p:extLst>
      <p:ext uri="{BB962C8B-B14F-4D97-AF65-F5344CB8AC3E}">
        <p14:creationId xmlns:p14="http://schemas.microsoft.com/office/powerpoint/2010/main" val="236997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5"/>
          <p:cNvSpPr txBox="1">
            <a:spLocks noChangeArrowheads="1"/>
          </p:cNvSpPr>
          <p:nvPr/>
        </p:nvSpPr>
        <p:spPr bwMode="auto">
          <a:xfrm>
            <a:off x="241300" y="1174750"/>
            <a:ext cx="8669338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</a:t>
            </a:r>
            <a:r>
              <a:rPr lang="zh-CN" altLang="en-US">
                <a:latin typeface="Times New Roman" pitchFamily="18" charset="0"/>
              </a:rPr>
              <a:t>考虑到移码和补码的关系：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 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对同一个数值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其数值位完全相同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而符号位正好完全相反。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</a:t>
            </a:r>
            <a:r>
              <a:rPr lang="en-US" altLang="zh-CN">
                <a:latin typeface="Times New Roman" pitchFamily="18" charset="0"/>
              </a:rPr>
              <a:t>[y]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zh-CN" altLang="en-US">
                <a:latin typeface="Times New Roman" pitchFamily="18" charset="0"/>
              </a:rPr>
              <a:t>的定义为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        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[y]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n+1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  <a:endParaRPr lang="zh-CN" altLang="en-US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  则求阶码和用如下方式完成：</a:t>
            </a:r>
            <a:r>
              <a:rPr lang="zh-CN" altLang="en-US">
                <a:latin typeface="Times New Roman" pitchFamily="18" charset="0"/>
              </a:rPr>
              <a:t>　　　　</a:t>
            </a:r>
          </a:p>
        </p:txBody>
      </p:sp>
      <p:sp>
        <p:nvSpPr>
          <p:cNvPr id="155651" name="Rectangle 6"/>
          <p:cNvSpPr>
            <a:spLocks noChangeArrowheads="1"/>
          </p:cNvSpPr>
          <p:nvPr/>
        </p:nvSpPr>
        <p:spPr bwMode="auto">
          <a:xfrm>
            <a:off x="3635375" y="3721100"/>
            <a:ext cx="2897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n+1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 (2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+(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))</a:t>
            </a:r>
          </a:p>
        </p:txBody>
      </p:sp>
      <p:sp>
        <p:nvSpPr>
          <p:cNvPr id="155652" name="Rectangle 7"/>
          <p:cNvSpPr>
            <a:spLocks noChangeArrowheads="1"/>
          </p:cNvSpPr>
          <p:nvPr/>
        </p:nvSpPr>
        <p:spPr bwMode="auto">
          <a:xfrm>
            <a:off x="2097088" y="3087688"/>
            <a:ext cx="383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[x]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+[y]</a:t>
            </a:r>
            <a:r>
              <a:rPr lang="zh-CN" altLang="en-US" baseline="-30000">
                <a:solidFill>
                  <a:srgbClr val="0000FF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=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 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+ 2</a:t>
            </a:r>
            <a:r>
              <a:rPr lang="en-US" altLang="zh-CN" baseline="30000">
                <a:solidFill>
                  <a:srgbClr val="0000FF"/>
                </a:solidFill>
                <a:latin typeface="Times New Roman" pitchFamily="18" charset="0"/>
              </a:rPr>
              <a:t>n+1 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ｙ</a:t>
            </a:r>
          </a:p>
        </p:txBody>
      </p:sp>
      <p:sp>
        <p:nvSpPr>
          <p:cNvPr id="155653" name="Text Box 8"/>
          <p:cNvSpPr txBox="1">
            <a:spLocks noChangeArrowheads="1"/>
          </p:cNvSpPr>
          <p:nvPr/>
        </p:nvSpPr>
        <p:spPr bwMode="auto">
          <a:xfrm>
            <a:off x="585788" y="4200525"/>
            <a:ext cx="820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即：</a:t>
            </a:r>
          </a:p>
        </p:txBody>
      </p:sp>
      <p:sp>
        <p:nvSpPr>
          <p:cNvPr id="155654" name="Text Box 9"/>
          <p:cNvSpPr txBox="1">
            <a:spLocks noChangeArrowheads="1"/>
          </p:cNvSpPr>
          <p:nvPr/>
        </p:nvSpPr>
        <p:spPr bwMode="auto">
          <a:xfrm>
            <a:off x="1963738" y="4278313"/>
            <a:ext cx="5792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[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+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6600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= [x]</a:t>
            </a:r>
            <a:r>
              <a:rPr lang="zh-CN" altLang="en-US" baseline="-30000">
                <a:solidFill>
                  <a:srgbClr val="6600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+[y]</a:t>
            </a:r>
            <a:r>
              <a:rPr lang="zh-CN" altLang="en-US" baseline="-30000">
                <a:solidFill>
                  <a:srgbClr val="6600FF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　　      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(mod 2</a:t>
            </a:r>
            <a:r>
              <a:rPr lang="en-US" altLang="zh-CN" baseline="30000">
                <a:solidFill>
                  <a:srgbClr val="6600FF"/>
                </a:solidFill>
                <a:latin typeface="Times New Roman" pitchFamily="18" charset="0"/>
              </a:rPr>
              <a:t>n+1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55655" name="Text Box 10"/>
          <p:cNvSpPr txBox="1">
            <a:spLocks noChangeArrowheads="1"/>
          </p:cNvSpPr>
          <p:nvPr/>
        </p:nvSpPr>
        <p:spPr bwMode="auto">
          <a:xfrm>
            <a:off x="549275" y="4886325"/>
            <a:ext cx="1147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同理：</a:t>
            </a:r>
          </a:p>
        </p:txBody>
      </p:sp>
      <p:sp>
        <p:nvSpPr>
          <p:cNvPr id="155656" name="Text Box 11"/>
          <p:cNvSpPr txBox="1">
            <a:spLocks noChangeArrowheads="1"/>
          </p:cNvSpPr>
          <p:nvPr/>
        </p:nvSpPr>
        <p:spPr bwMode="auto">
          <a:xfrm>
            <a:off x="2005013" y="4953000"/>
            <a:ext cx="598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[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6600FF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6600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=  [x]</a:t>
            </a:r>
            <a:r>
              <a:rPr lang="zh-CN" altLang="en-US" baseline="-30000">
                <a:solidFill>
                  <a:srgbClr val="6600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+[</a:t>
            </a:r>
            <a:r>
              <a:rPr lang="en-US" altLang="zh-CN">
                <a:solidFill>
                  <a:srgbClr val="6600FF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y]</a:t>
            </a:r>
            <a:r>
              <a:rPr lang="zh-CN" altLang="en-US" baseline="-30000">
                <a:solidFill>
                  <a:srgbClr val="6600FF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6600FF"/>
                </a:solidFill>
                <a:latin typeface="Times New Roman" pitchFamily="18" charset="0"/>
              </a:rPr>
              <a:t>　　   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(mod 2</a:t>
            </a:r>
            <a:r>
              <a:rPr lang="en-US" altLang="zh-CN" baseline="30000">
                <a:solidFill>
                  <a:srgbClr val="6600FF"/>
                </a:solidFill>
                <a:latin typeface="Times New Roman" pitchFamily="18" charset="0"/>
              </a:rPr>
              <a:t>n+1</a:t>
            </a:r>
            <a:r>
              <a:rPr lang="en-US" altLang="zh-CN">
                <a:solidFill>
                  <a:srgbClr val="6600FF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155657" name="Rectangle 12"/>
          <p:cNvSpPr>
            <a:spLocks noChangeArrowheads="1"/>
          </p:cNvSpPr>
          <p:nvPr/>
        </p:nvSpPr>
        <p:spPr bwMode="auto">
          <a:xfrm>
            <a:off x="228600" y="381000"/>
            <a:ext cx="54879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solidFill>
                  <a:srgbClr val="0066FF"/>
                </a:solidFill>
                <a:latin typeface="宋体" charset="-122"/>
              </a:rPr>
              <a:t>②</a:t>
            </a:r>
            <a:r>
              <a:rPr lang="zh-CN" altLang="en-US" sz="2400" dirty="0">
                <a:solidFill>
                  <a:srgbClr val="0066FF"/>
                </a:solidFill>
                <a:latin typeface="宋体" charset="-122"/>
              </a:rPr>
              <a:t>混合使用移码和补码</a:t>
            </a:r>
          </a:p>
        </p:txBody>
      </p:sp>
    </p:spTree>
    <p:extLst>
      <p:ext uri="{BB962C8B-B14F-4D97-AF65-F5344CB8AC3E}">
        <p14:creationId xmlns:p14="http://schemas.microsoft.com/office/powerpoint/2010/main" val="985803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Text Box 2"/>
          <p:cNvSpPr txBox="1">
            <a:spLocks noChangeArrowheads="1"/>
          </p:cNvSpPr>
          <p:nvPr/>
        </p:nvSpPr>
        <p:spPr bwMode="auto">
          <a:xfrm>
            <a:off x="287338" y="1211263"/>
            <a:ext cx="8634412" cy="3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</a:rPr>
              <a:t>   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使用双符号位的阶码加法器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,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并规定移码的第二个符号位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,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即最高符号位恒用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0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参加加减运算</a:t>
            </a:r>
            <a:r>
              <a:rPr lang="en-US" altLang="zh-CN" dirty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则溢出条件是结果的最高符号位为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 dirty="0">
                <a:latin typeface="Times New Roman" pitchFamily="18" charset="0"/>
              </a:rPr>
              <a:t>当低位符号位为 </a:t>
            </a:r>
            <a:r>
              <a:rPr lang="en-US" altLang="zh-CN" dirty="0">
                <a:latin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</a:rPr>
              <a:t>时</a:t>
            </a:r>
            <a:r>
              <a:rPr lang="en-US" altLang="zh-CN" dirty="0">
                <a:latin typeface="Times New Roman" pitchFamily="18" charset="0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10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）</a:t>
            </a:r>
            <a:r>
              <a:rPr lang="zh-CN" altLang="en-US" dirty="0">
                <a:latin typeface="Times New Roman" pitchFamily="18" charset="0"/>
              </a:rPr>
              <a:t>  表明结果上溢</a:t>
            </a:r>
            <a:r>
              <a:rPr lang="en-US" altLang="zh-CN" dirty="0">
                <a:latin typeface="Times New Roman" pitchFamily="18" charset="0"/>
              </a:rPr>
              <a:t>,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</a:rPr>
              <a:t>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 dirty="0">
                <a:latin typeface="Times New Roman" pitchFamily="18" charset="0"/>
              </a:rPr>
              <a:t>当低位符号位为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时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11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）</a:t>
            </a:r>
            <a:r>
              <a:rPr lang="zh-CN" altLang="en-US" dirty="0">
                <a:latin typeface="Times New Roman" pitchFamily="18" charset="0"/>
              </a:rPr>
              <a:t> 表明结果下溢。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 dirty="0">
                <a:latin typeface="Times New Roman" pitchFamily="18" charset="0"/>
              </a:rPr>
              <a:t>当最高符号位为</a:t>
            </a:r>
            <a:r>
              <a:rPr lang="en-US" altLang="zh-CN" dirty="0">
                <a:latin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</a:rPr>
              <a:t>时</a:t>
            </a:r>
            <a:r>
              <a:rPr lang="en-US" altLang="zh-CN" dirty="0">
                <a:latin typeface="Times New Roman" pitchFamily="18" charset="0"/>
              </a:rPr>
              <a:t>, </a:t>
            </a:r>
            <a:r>
              <a:rPr lang="zh-CN" altLang="en-US" dirty="0">
                <a:latin typeface="Times New Roman" pitchFamily="18" charset="0"/>
              </a:rPr>
              <a:t>表明没有溢出</a:t>
            </a:r>
            <a:r>
              <a:rPr lang="en-US" altLang="zh-CN" dirty="0">
                <a:latin typeface="Times New Roman" pitchFamily="18" charset="0"/>
              </a:rPr>
              <a:t>: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</a:rPr>
              <a:t>      </a:t>
            </a:r>
            <a:r>
              <a:rPr lang="zh-CN" altLang="en-US" dirty="0">
                <a:latin typeface="Times New Roman" pitchFamily="18" charset="0"/>
              </a:rPr>
              <a:t>低位符号位为</a:t>
            </a:r>
            <a:r>
              <a:rPr lang="en-US" altLang="zh-CN" dirty="0">
                <a:latin typeface="Times New Roman" pitchFamily="18" charset="0"/>
              </a:rPr>
              <a:t>1,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01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）</a:t>
            </a:r>
            <a:r>
              <a:rPr lang="zh-CN" altLang="en-US" dirty="0">
                <a:latin typeface="Times New Roman" pitchFamily="18" charset="0"/>
              </a:rPr>
              <a:t> 表明结果为正</a:t>
            </a:r>
            <a:r>
              <a:rPr lang="en-US" altLang="zh-CN" dirty="0">
                <a:latin typeface="Times New Roman" pitchFamily="18" charset="0"/>
              </a:rPr>
              <a:t>; 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</a:rPr>
              <a:t>                          </a:t>
            </a:r>
            <a:r>
              <a:rPr lang="zh-CN" altLang="en-US" dirty="0">
                <a:latin typeface="Times New Roman" pitchFamily="18" charset="0"/>
              </a:rPr>
              <a:t>为</a:t>
            </a:r>
            <a:r>
              <a:rPr lang="en-US" altLang="zh-CN" dirty="0">
                <a:latin typeface="Times New Roman" pitchFamily="18" charset="0"/>
              </a:rPr>
              <a:t>0,  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00</a:t>
            </a:r>
            <a:r>
              <a:rPr lang="zh-CN" altLang="en-US" dirty="0">
                <a:solidFill>
                  <a:srgbClr val="FF0000"/>
                </a:solidFill>
                <a:latin typeface="Times New Roman" pitchFamily="18" charset="0"/>
              </a:rPr>
              <a:t>） </a:t>
            </a:r>
            <a:r>
              <a:rPr lang="zh-CN" altLang="en-US" dirty="0">
                <a:latin typeface="Times New Roman" pitchFamily="18" charset="0"/>
              </a:rPr>
              <a:t>表明结果为负。</a:t>
            </a:r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228600" y="457200"/>
            <a:ext cx="5918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solidFill>
                  <a:srgbClr val="0066FF"/>
                </a:solidFill>
                <a:latin typeface="宋体" charset="-122"/>
              </a:rPr>
              <a:t>③ </a:t>
            </a:r>
            <a:r>
              <a:rPr lang="zh-CN" altLang="en-US" sz="2400" dirty="0">
                <a:solidFill>
                  <a:srgbClr val="0066FF"/>
                </a:solidFill>
                <a:latin typeface="宋体" charset="-122"/>
              </a:rPr>
              <a:t>阶码运算结果溢出处理</a:t>
            </a:r>
          </a:p>
        </p:txBody>
      </p:sp>
    </p:spTree>
    <p:extLst>
      <p:ext uri="{BB962C8B-B14F-4D97-AF65-F5344CB8AC3E}">
        <p14:creationId xmlns:p14="http://schemas.microsoft.com/office/powerpoint/2010/main" val="2231872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4"/>
          <p:cNvSpPr txBox="1">
            <a:spLocks noChangeArrowheads="1"/>
          </p:cNvSpPr>
          <p:nvPr/>
        </p:nvSpPr>
        <p:spPr bwMode="auto">
          <a:xfrm>
            <a:off x="392113" y="533400"/>
            <a:ext cx="875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例：</a:t>
            </a:r>
            <a:r>
              <a:rPr lang="zh-CN" altLang="en-US">
                <a:latin typeface="Times New Roman" pitchFamily="18" charset="0"/>
              </a:rPr>
              <a:t>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ｘ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= +011,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ｙ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= +110, 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求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[x+y]</a:t>
            </a:r>
            <a:r>
              <a:rPr lang="zh-CN" altLang="en-US" baseline="-30000">
                <a:solidFill>
                  <a:srgbClr val="0066FF"/>
                </a:solidFill>
                <a:latin typeface="Times New Roman" pitchFamily="18" charset="0"/>
              </a:rPr>
              <a:t>移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 和 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[x-y]</a:t>
            </a:r>
            <a:r>
              <a:rPr lang="zh-CN" altLang="en-US" baseline="-30000">
                <a:solidFill>
                  <a:srgbClr val="0066FF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0066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66FF"/>
                </a:solidFill>
                <a:latin typeface="Times New Roman" pitchFamily="18" charset="0"/>
              </a:rPr>
              <a:t>并判断是否溢出</a:t>
            </a:r>
            <a:r>
              <a:rPr lang="zh-CN" altLang="en-US">
                <a:solidFill>
                  <a:srgbClr val="FF00FF"/>
                </a:solidFill>
                <a:latin typeface="Times New Roman" pitchFamily="18" charset="0"/>
              </a:rPr>
              <a:t>。</a:t>
            </a:r>
            <a:endParaRPr lang="zh-CN" altLang="en-US">
              <a:latin typeface="Times New Roman" pitchFamily="18" charset="0"/>
            </a:endParaRPr>
          </a:p>
        </p:txBody>
      </p:sp>
      <p:sp>
        <p:nvSpPr>
          <p:cNvPr id="157699" name="Text Box 5"/>
          <p:cNvSpPr txBox="1">
            <a:spLocks noChangeArrowheads="1"/>
          </p:cNvSpPr>
          <p:nvPr/>
        </p:nvSpPr>
        <p:spPr bwMode="auto">
          <a:xfrm>
            <a:off x="257175" y="1238250"/>
            <a:ext cx="8751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解：阶码取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3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位（不含符号位），其对应的真值范围是 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-8~+7</a:t>
            </a:r>
          </a:p>
        </p:txBody>
      </p:sp>
      <p:sp>
        <p:nvSpPr>
          <p:cNvPr id="157700" name="Rectangle 6"/>
          <p:cNvSpPr>
            <a:spLocks noChangeArrowheads="1"/>
          </p:cNvSpPr>
          <p:nvPr/>
        </p:nvSpPr>
        <p:spPr bwMode="auto">
          <a:xfrm>
            <a:off x="1071563" y="1658938"/>
            <a:ext cx="6665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 01 011,     [y]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 00 110,       [-y]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=11 010</a:t>
            </a:r>
          </a:p>
        </p:txBody>
      </p:sp>
      <p:sp>
        <p:nvSpPr>
          <p:cNvPr id="157701" name="Rectangle 7"/>
          <p:cNvSpPr>
            <a:spLocks noChangeArrowheads="1"/>
          </p:cNvSpPr>
          <p:nvPr/>
        </p:nvSpPr>
        <p:spPr bwMode="auto">
          <a:xfrm>
            <a:off x="1068388" y="2166938"/>
            <a:ext cx="3011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[x+y]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 [x]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+ [y]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</a:t>
            </a:r>
          </a:p>
        </p:txBody>
      </p:sp>
      <p:sp>
        <p:nvSpPr>
          <p:cNvPr id="157702" name="Rectangle 8"/>
          <p:cNvSpPr>
            <a:spLocks noChangeArrowheads="1"/>
          </p:cNvSpPr>
          <p:nvPr/>
        </p:nvSpPr>
        <p:spPr bwMode="auto">
          <a:xfrm>
            <a:off x="1093788" y="3619500"/>
            <a:ext cx="2938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</a:t>
            </a:r>
            <a:r>
              <a:rPr lang="en-US" altLang="zh-CN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y]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 [x]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移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+ [-y]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=</a:t>
            </a:r>
          </a:p>
        </p:txBody>
      </p:sp>
      <p:grpSp>
        <p:nvGrpSpPr>
          <p:cNvPr id="157703" name="Group 9"/>
          <p:cNvGrpSpPr>
            <a:grpSpLocks/>
          </p:cNvGrpSpPr>
          <p:nvPr/>
        </p:nvGrpSpPr>
        <p:grpSpPr bwMode="auto">
          <a:xfrm>
            <a:off x="3825875" y="2192338"/>
            <a:ext cx="1649413" cy="1187450"/>
            <a:chOff x="4304" y="1266"/>
            <a:chExt cx="1039" cy="748"/>
          </a:xfrm>
        </p:grpSpPr>
        <p:sp>
          <p:nvSpPr>
            <p:cNvPr id="157709" name="Text Box 10"/>
            <p:cNvSpPr txBox="1">
              <a:spLocks noChangeArrowheads="1"/>
            </p:cNvSpPr>
            <p:nvPr/>
          </p:nvSpPr>
          <p:spPr bwMode="auto">
            <a:xfrm>
              <a:off x="4407" y="1266"/>
              <a:ext cx="91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</a:rPr>
                <a:t>   01 011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</a:rPr>
                <a:t>+ 00 110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</a:rPr>
                <a:t>   10 001</a:t>
              </a:r>
            </a:p>
          </p:txBody>
        </p:sp>
        <p:sp>
          <p:nvSpPr>
            <p:cNvPr id="157710" name="Line 11"/>
            <p:cNvSpPr>
              <a:spLocks noChangeShapeType="1"/>
            </p:cNvSpPr>
            <p:nvPr/>
          </p:nvSpPr>
          <p:spPr bwMode="auto">
            <a:xfrm>
              <a:off x="4304" y="1768"/>
              <a:ext cx="1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7704" name="Rectangle 12"/>
          <p:cNvSpPr>
            <a:spLocks noChangeArrowheads="1"/>
          </p:cNvSpPr>
          <p:nvPr/>
        </p:nvSpPr>
        <p:spPr bwMode="auto">
          <a:xfrm>
            <a:off x="6210300" y="2760663"/>
            <a:ext cx="170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结果上溢。</a:t>
            </a:r>
          </a:p>
        </p:txBody>
      </p:sp>
      <p:sp>
        <p:nvSpPr>
          <p:cNvPr id="157705" name="Rectangle 13"/>
          <p:cNvSpPr>
            <a:spLocks noChangeArrowheads="1"/>
          </p:cNvSpPr>
          <p:nvPr/>
        </p:nvSpPr>
        <p:spPr bwMode="auto">
          <a:xfrm>
            <a:off x="5964238" y="4324350"/>
            <a:ext cx="2546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结果正确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为</a:t>
            </a:r>
            <a:r>
              <a:rPr lang="en-US" altLang="zh-CN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3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。</a:t>
            </a:r>
          </a:p>
        </p:txBody>
      </p:sp>
      <p:grpSp>
        <p:nvGrpSpPr>
          <p:cNvPr id="157706" name="Group 14"/>
          <p:cNvGrpSpPr>
            <a:grpSpLocks/>
          </p:cNvGrpSpPr>
          <p:nvPr/>
        </p:nvGrpSpPr>
        <p:grpSpPr bwMode="auto">
          <a:xfrm>
            <a:off x="3879850" y="3594100"/>
            <a:ext cx="1649413" cy="1187450"/>
            <a:chOff x="4304" y="1266"/>
            <a:chExt cx="1039" cy="748"/>
          </a:xfrm>
        </p:grpSpPr>
        <p:sp>
          <p:nvSpPr>
            <p:cNvPr id="157707" name="Text Box 15"/>
            <p:cNvSpPr txBox="1">
              <a:spLocks noChangeArrowheads="1"/>
            </p:cNvSpPr>
            <p:nvPr/>
          </p:nvSpPr>
          <p:spPr bwMode="auto">
            <a:xfrm>
              <a:off x="4407" y="1266"/>
              <a:ext cx="912" cy="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</a:rPr>
                <a:t>   01 011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</a:rPr>
                <a:t>+ 11 010</a:t>
              </a:r>
            </a:p>
            <a:p>
              <a:pPr eaLnBrk="1" hangingPunct="1">
                <a:lnSpc>
                  <a:spcPct val="50000"/>
                </a:lnSpc>
                <a:spcBef>
                  <a:spcPct val="50000"/>
                </a:spcBef>
              </a:pPr>
              <a:r>
                <a:rPr lang="en-US" altLang="zh-CN">
                  <a:latin typeface="Times New Roman" pitchFamily="18" charset="0"/>
                </a:rPr>
                <a:t>   00 101</a:t>
              </a:r>
            </a:p>
          </p:txBody>
        </p:sp>
        <p:sp>
          <p:nvSpPr>
            <p:cNvPr id="157708" name="Line 16"/>
            <p:cNvSpPr>
              <a:spLocks noChangeShapeType="1"/>
            </p:cNvSpPr>
            <p:nvPr/>
          </p:nvSpPr>
          <p:spPr bwMode="auto">
            <a:xfrm>
              <a:off x="4304" y="1768"/>
              <a:ext cx="10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043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Text Box 2"/>
          <p:cNvSpPr txBox="1">
            <a:spLocks noChangeArrowheads="1"/>
          </p:cNvSpPr>
          <p:nvPr/>
        </p:nvSpPr>
        <p:spPr bwMode="auto">
          <a:xfrm>
            <a:off x="190500" y="666750"/>
            <a:ext cx="3228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FF0000"/>
                </a:solidFill>
                <a:latin typeface="Times New Roman" pitchFamily="18" charset="0"/>
              </a:rPr>
              <a:t>(3)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尾数处理</a:t>
            </a:r>
            <a:endParaRPr lang="zh-CN" altLang="en-US">
              <a:latin typeface="Times New Roman" pitchFamily="18" charset="0"/>
            </a:endParaRPr>
          </a:p>
        </p:txBody>
      </p:sp>
      <p:sp>
        <p:nvSpPr>
          <p:cNvPr id="158723" name="Text Box 3"/>
          <p:cNvSpPr txBox="1">
            <a:spLocks noChangeArrowheads="1"/>
          </p:cNvSpPr>
          <p:nvPr/>
        </p:nvSpPr>
        <p:spPr bwMode="auto">
          <a:xfrm>
            <a:off x="190500" y="1063625"/>
            <a:ext cx="8751888" cy="418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</a:rPr>
              <a:t>浮点加减法对结果的规格化及舍入处理也适用于浮点乘除法。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第一种方法是：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无条件地丢掉正常尾数最低位之后的全部数值。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 这种办法被称为截断处理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好处是处理简单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缺点是影响结果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的精度。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第二种办法是：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运算过程中保留右移中移出的若干高位的值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最后再按某种规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则用这些位上的值修正尾数。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 这种处理方法被称为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舍入处理</a:t>
            </a:r>
            <a:r>
              <a:rPr lang="zh-CN" altLang="en-US">
                <a:latin typeface="Times New Roman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65413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638175" y="1404938"/>
            <a:ext cx="7896225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 dirty="0">
                <a:latin typeface="Times New Roman" pitchFamily="18" charset="0"/>
              </a:rPr>
              <a:t>当尾数用原码表示时</a:t>
            </a:r>
            <a:r>
              <a:rPr lang="en-US" altLang="zh-CN" dirty="0"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</a:rPr>
              <a:t>      </a:t>
            </a:r>
            <a:r>
              <a:rPr lang="zh-CN" altLang="en-US" dirty="0">
                <a:latin typeface="Times New Roman" pitchFamily="18" charset="0"/>
              </a:rPr>
              <a:t>最简便的方法是，只要尾数的最低位为</a:t>
            </a:r>
            <a:r>
              <a:rPr lang="en-US" altLang="zh-CN" dirty="0">
                <a:latin typeface="Times New Roman" pitchFamily="18" charset="0"/>
              </a:rPr>
              <a:t>1,  </a:t>
            </a:r>
            <a:r>
              <a:rPr lang="zh-CN" altLang="en-US" dirty="0">
                <a:latin typeface="Times New Roman" pitchFamily="18" charset="0"/>
              </a:rPr>
              <a:t>或移出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的几位中有为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的数值位</a:t>
            </a:r>
            <a:r>
              <a:rPr lang="en-US" altLang="zh-CN" dirty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就使最低位的值为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  另一种是</a:t>
            </a:r>
            <a:r>
              <a:rPr lang="en-US" altLang="zh-CN" dirty="0">
                <a:latin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</a:rPr>
              <a:t>舍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入法</a:t>
            </a:r>
            <a:r>
              <a:rPr lang="en-US" altLang="zh-CN" dirty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即当丢失的最高位的值为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时</a:t>
            </a:r>
            <a:r>
              <a:rPr lang="en-US" altLang="zh-CN" dirty="0">
                <a:latin typeface="Times New Roman" pitchFamily="18" charset="0"/>
              </a:rPr>
              <a:t>,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把这个</a:t>
            </a:r>
            <a:r>
              <a:rPr lang="en-US" altLang="zh-CN" dirty="0">
                <a:latin typeface="Times New Roman" pitchFamily="18" charset="0"/>
              </a:rPr>
              <a:t>1</a:t>
            </a:r>
            <a:r>
              <a:rPr lang="zh-CN" altLang="en-US" dirty="0">
                <a:latin typeface="Times New Roman" pitchFamily="18" charset="0"/>
              </a:rPr>
              <a:t>加到最低数值位上进行修正</a:t>
            </a:r>
            <a:r>
              <a:rPr lang="en-US" altLang="zh-CN" dirty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否则舍去丢失的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的各位的值。这样处理时</a:t>
            </a:r>
            <a:r>
              <a:rPr lang="en-US" altLang="zh-CN" dirty="0">
                <a:latin typeface="Times New Roman" pitchFamily="18" charset="0"/>
              </a:rPr>
              <a:t>,</a:t>
            </a:r>
            <a:r>
              <a:rPr lang="zh-CN" altLang="en-US" dirty="0">
                <a:latin typeface="Times New Roman" pitchFamily="18" charset="0"/>
              </a:rPr>
              <a:t>舍入效果对正数负数相同</a:t>
            </a:r>
            <a:r>
              <a:rPr lang="en-US" altLang="zh-CN" dirty="0">
                <a:latin typeface="Times New Roman" pitchFamily="18" charset="0"/>
              </a:rPr>
              <a:t>,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入将使数的绝对值变大</a:t>
            </a:r>
            <a:r>
              <a:rPr lang="en-US" altLang="zh-CN" dirty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舍则使数的绝对值变小。</a:t>
            </a:r>
          </a:p>
        </p:txBody>
      </p:sp>
      <p:sp>
        <p:nvSpPr>
          <p:cNvPr id="159747" name="Rectangle 3"/>
          <p:cNvSpPr>
            <a:spLocks noChangeArrowheads="1"/>
          </p:cNvSpPr>
          <p:nvPr/>
        </p:nvSpPr>
        <p:spPr bwMode="auto">
          <a:xfrm>
            <a:off x="285750" y="733425"/>
            <a:ext cx="16209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itchFamily="18" charset="0"/>
              </a:rPr>
              <a:t>舍入处理</a:t>
            </a:r>
          </a:p>
        </p:txBody>
      </p:sp>
    </p:spTree>
    <p:extLst>
      <p:ext uri="{BB962C8B-B14F-4D97-AF65-F5344CB8AC3E}">
        <p14:creationId xmlns:p14="http://schemas.microsoft.com/office/powerpoint/2010/main" val="2527377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Text Box 2"/>
          <p:cNvSpPr txBox="1">
            <a:spLocks noChangeArrowheads="1"/>
          </p:cNvSpPr>
          <p:nvPr/>
        </p:nvSpPr>
        <p:spPr bwMode="auto">
          <a:xfrm>
            <a:off x="301625" y="428625"/>
            <a:ext cx="8613775" cy="5130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zh-CN" altLang="en-US">
                <a:latin typeface="Times New Roman" pitchFamily="18" charset="0"/>
              </a:rPr>
              <a:t>当尾数是用补码表示时</a:t>
            </a:r>
            <a:r>
              <a:rPr lang="en-US" altLang="zh-CN">
                <a:latin typeface="Times New Roman" pitchFamily="18" charset="0"/>
              </a:rPr>
              <a:t>: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 </a:t>
            </a:r>
            <a:r>
              <a:rPr lang="zh-CN" altLang="en-US">
                <a:latin typeface="Times New Roman" pitchFamily="18" charset="0"/>
              </a:rPr>
              <a:t>采用</a:t>
            </a:r>
            <a:r>
              <a:rPr lang="en-US" altLang="zh-CN">
                <a:latin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</a:rPr>
              <a:t>舍</a:t>
            </a:r>
            <a:r>
              <a:rPr lang="en-US" altLang="zh-CN">
                <a:latin typeface="Times New Roman" pitchFamily="18" charset="0"/>
              </a:rPr>
              <a:t>1</a:t>
            </a:r>
            <a:r>
              <a:rPr lang="zh-CN" altLang="en-US">
                <a:latin typeface="Times New Roman" pitchFamily="18" charset="0"/>
              </a:rPr>
              <a:t>入法时，若丢失的位不全为</a:t>
            </a:r>
            <a:r>
              <a:rPr lang="en-US" altLang="zh-CN">
                <a:latin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</a:rPr>
              <a:t>时：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     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对正数来说，舍入的结果与原码分析相同；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         对负数来说，舍入的结果与原码分析相反，</a:t>
            </a:r>
            <a:r>
              <a:rPr lang="zh-CN" altLang="en-US">
                <a:latin typeface="Times New Roman" pitchFamily="18" charset="0"/>
              </a:rPr>
              <a:t>即“舍”使绝对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值变大，“入”使绝对值变小；为使原、补码舍入处理后的结果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相同，对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</a:rPr>
              <a:t>负数</a:t>
            </a:r>
            <a:r>
              <a:rPr lang="zh-CN" altLang="en-US">
                <a:latin typeface="Times New Roman" pitchFamily="18" charset="0"/>
              </a:rPr>
              <a:t>可采用如下规则进行舍入处理：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FF0080"/>
                </a:solidFill>
                <a:latin typeface="Times New Roman" pitchFamily="18" charset="0"/>
              </a:rPr>
              <a:t>　   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当丢失的各位均为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不必舍入；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　     当丢失的最高位为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0 ,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以下各位不全为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0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或者丢失的最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高位为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1,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以下各位均为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0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则舍去丢失位上的值；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　    当丢失的最高位为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1,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以下各位不全为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0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时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则执行在尾数最低位入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1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的修正操作。</a:t>
            </a:r>
          </a:p>
        </p:txBody>
      </p:sp>
    </p:spTree>
    <p:extLst>
      <p:ext uri="{BB962C8B-B14F-4D97-AF65-F5344CB8AC3E}">
        <p14:creationId xmlns:p14="http://schemas.microsoft.com/office/powerpoint/2010/main" val="403429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2"/>
          <p:cNvSpPr txBox="1">
            <a:spLocks noChangeArrowheads="1"/>
          </p:cNvSpPr>
          <p:nvPr/>
        </p:nvSpPr>
        <p:spPr bwMode="auto">
          <a:xfrm>
            <a:off x="177800" y="695325"/>
            <a:ext cx="87630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例</a:t>
            </a:r>
            <a:r>
              <a:rPr lang="zh-CN" altLang="en-US">
                <a:latin typeface="Times New Roman" pitchFamily="18" charset="0"/>
              </a:rPr>
              <a:t> 设  </a:t>
            </a:r>
            <a:r>
              <a:rPr lang="en-US" altLang="zh-CN">
                <a:latin typeface="Times New Roman" pitchFamily="18" charset="0"/>
              </a:rPr>
              <a:t>[x</a:t>
            </a:r>
            <a:r>
              <a:rPr lang="en-US" altLang="zh-CN" baseline="-30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11.01100000,  [x</a:t>
            </a:r>
            <a:r>
              <a:rPr lang="en-US" altLang="zh-CN" baseline="-30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11.01100001,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      [x</a:t>
            </a:r>
            <a:r>
              <a:rPr lang="en-US" altLang="zh-CN" baseline="-30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11.01101000,  [x</a:t>
            </a:r>
            <a:r>
              <a:rPr lang="en-US" altLang="zh-CN" baseline="-30000">
                <a:latin typeface="Times New Roman" pitchFamily="18" charset="0"/>
              </a:rPr>
              <a:t>4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11.01111001,  </a:t>
            </a:r>
            <a:r>
              <a:rPr lang="zh-CN" altLang="en-US">
                <a:latin typeface="Times New Roman" pitchFamily="18" charset="0"/>
              </a:rPr>
              <a:t>求执行只保留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    小数点后</a:t>
            </a:r>
            <a:r>
              <a:rPr lang="en-US" altLang="zh-CN">
                <a:latin typeface="Times New Roman" pitchFamily="18" charset="0"/>
              </a:rPr>
              <a:t>4</a:t>
            </a:r>
            <a:r>
              <a:rPr lang="zh-CN" altLang="en-US">
                <a:latin typeface="Times New Roman" pitchFamily="18" charset="0"/>
              </a:rPr>
              <a:t>位有效数字的舍入操作值。</a:t>
            </a:r>
          </a:p>
        </p:txBody>
      </p:sp>
      <p:sp>
        <p:nvSpPr>
          <p:cNvPr id="161795" name="Text Box 3"/>
          <p:cNvSpPr txBox="1">
            <a:spLocks noChangeArrowheads="1"/>
          </p:cNvSpPr>
          <p:nvPr/>
        </p:nvSpPr>
        <p:spPr bwMode="auto">
          <a:xfrm>
            <a:off x="344488" y="2071688"/>
            <a:ext cx="8420100" cy="294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20000"/>
              </a:lnSpc>
              <a:spcBef>
                <a:spcPct val="50000"/>
              </a:spcBef>
            </a:pPr>
            <a:endParaRPr lang="en-US" altLang="zh-CN">
              <a:latin typeface="Times New Roman" pitchFamily="18" charset="0"/>
            </a:endParaRPr>
          </a:p>
          <a:p>
            <a:pPr eaLnBrk="1" hangingPunct="1">
              <a:lnSpc>
                <a:spcPct val="5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解</a:t>
            </a:r>
            <a:r>
              <a:rPr lang="zh-CN" altLang="en-US">
                <a:latin typeface="Times New Roman" pitchFamily="18" charset="0"/>
              </a:rPr>
              <a:t>：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执行舍入操作后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,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其结果值分别为</a:t>
            </a:r>
            <a:br>
              <a:rPr lang="zh-CN" altLang="en-US">
                <a:solidFill>
                  <a:srgbClr val="333399"/>
                </a:solidFill>
                <a:latin typeface="Times New Roman" pitchFamily="18" charset="0"/>
              </a:rPr>
            </a:b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　　　　　　　　　</a:t>
            </a:r>
            <a:endParaRPr lang="zh-CN" altLang="en-US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　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itchFamily="18" charset="0"/>
              </a:rPr>
              <a:t>1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11.0110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   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不舍不入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)</a:t>
            </a:r>
            <a:endParaRPr lang="en-US" altLang="zh-CN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    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itchFamily="18" charset="0"/>
              </a:rPr>
              <a:t>2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11.0110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   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舍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) </a:t>
            </a:r>
            <a:endParaRPr lang="en-US" altLang="zh-CN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　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itchFamily="18" charset="0"/>
              </a:rPr>
              <a:t>3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11.0110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   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舍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)</a:t>
            </a:r>
            <a:endParaRPr lang="en-US" altLang="zh-CN">
              <a:latin typeface="Times New Roman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　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[x</a:t>
            </a:r>
            <a:r>
              <a:rPr lang="en-US" altLang="zh-CN" baseline="-30000">
                <a:solidFill>
                  <a:srgbClr val="333399"/>
                </a:solidFill>
                <a:latin typeface="Times New Roman" pitchFamily="18" charset="0"/>
              </a:rPr>
              <a:t>4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]</a:t>
            </a:r>
            <a:r>
              <a:rPr lang="zh-CN" altLang="en-US" baseline="-30000">
                <a:solidFill>
                  <a:srgbClr val="333399"/>
                </a:solidFill>
                <a:latin typeface="Times New Roman" pitchFamily="18" charset="0"/>
              </a:rPr>
              <a:t>补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＝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11.1000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    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(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入</a:t>
            </a:r>
            <a:r>
              <a:rPr lang="en-US" altLang="zh-CN">
                <a:solidFill>
                  <a:srgbClr val="333399"/>
                </a:solidFill>
                <a:latin typeface="Times New Roman" pitchFamily="18" charset="0"/>
              </a:rPr>
              <a:t>)</a:t>
            </a:r>
            <a:endParaRPr lang="en-US" altLang="zh-CN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13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Text Box 2"/>
          <p:cNvSpPr txBox="1">
            <a:spLocks noChangeArrowheads="1"/>
          </p:cNvSpPr>
          <p:nvPr/>
        </p:nvSpPr>
        <p:spPr bwMode="auto">
          <a:xfrm>
            <a:off x="368300" y="381000"/>
            <a:ext cx="8547100" cy="17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例</a:t>
            </a:r>
            <a:r>
              <a:rPr lang="zh-CN" altLang="en-US">
                <a:latin typeface="Times New Roman" pitchFamily="18" charset="0"/>
              </a:rPr>
              <a:t> 设有浮点数ｘ</a:t>
            </a:r>
            <a:r>
              <a:rPr lang="en-US" altLang="zh-CN">
                <a:latin typeface="Times New Roman" pitchFamily="18" charset="0"/>
              </a:rPr>
              <a:t>=2</a:t>
            </a:r>
            <a:r>
              <a:rPr lang="zh-CN" altLang="en-US" baseline="30000">
                <a:latin typeface="Times New Roman" pitchFamily="18" charset="0"/>
              </a:rPr>
              <a:t>－</a:t>
            </a:r>
            <a:r>
              <a:rPr lang="en-US" altLang="zh-CN" baseline="30000">
                <a:latin typeface="Times New Roman" pitchFamily="18" charset="0"/>
              </a:rPr>
              <a:t>5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0.0110011, </a:t>
            </a:r>
            <a:r>
              <a:rPr lang="zh-CN" altLang="en-US">
                <a:latin typeface="Times New Roman" pitchFamily="18" charset="0"/>
              </a:rPr>
              <a:t>ｙ</a:t>
            </a:r>
            <a:r>
              <a:rPr lang="en-US" altLang="zh-CN">
                <a:latin typeface="Times New Roman" pitchFamily="18" charset="0"/>
              </a:rPr>
              <a:t>= 2</a:t>
            </a:r>
            <a:r>
              <a:rPr lang="en-US" altLang="zh-CN" baseline="30000">
                <a:latin typeface="Times New Roman" pitchFamily="18" charset="0"/>
              </a:rPr>
              <a:t>3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latin typeface="Times New Roman" pitchFamily="18" charset="0"/>
              </a:rPr>
              <a:t>0.1110010),  </a:t>
            </a:r>
            <a:r>
              <a:rPr lang="zh-CN" altLang="en-US">
                <a:latin typeface="Times New Roman" pitchFamily="18" charset="0"/>
              </a:rPr>
              <a:t>阶码用</a:t>
            </a:r>
            <a:r>
              <a:rPr lang="en-US" altLang="zh-CN">
                <a:latin typeface="Times New Roman" pitchFamily="18" charset="0"/>
              </a:rPr>
              <a:t>4</a:t>
            </a:r>
            <a:r>
              <a:rPr lang="zh-CN" altLang="en-US">
                <a:latin typeface="Times New Roman" pitchFamily="18" charset="0"/>
              </a:rPr>
              <a:t>位移码表示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尾数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zh-CN" altLang="en-US">
                <a:latin typeface="Times New Roman" pitchFamily="18" charset="0"/>
              </a:rPr>
              <a:t>含符号位</a:t>
            </a:r>
            <a:r>
              <a:rPr lang="en-US" altLang="zh-CN">
                <a:latin typeface="Times New Roman" pitchFamily="18" charset="0"/>
              </a:rPr>
              <a:t>)</a:t>
            </a:r>
            <a:r>
              <a:rPr lang="zh-CN" altLang="en-US">
                <a:latin typeface="Times New Roman" pitchFamily="18" charset="0"/>
              </a:rPr>
              <a:t>用</a:t>
            </a:r>
            <a:r>
              <a:rPr lang="en-US" altLang="zh-CN">
                <a:latin typeface="Times New Roman" pitchFamily="18" charset="0"/>
              </a:rPr>
              <a:t>8</a:t>
            </a:r>
            <a:r>
              <a:rPr lang="zh-CN" altLang="en-US">
                <a:latin typeface="Times New Roman" pitchFamily="18" charset="0"/>
              </a:rPr>
              <a:t>位补码表示。求</a:t>
            </a:r>
            <a:r>
              <a:rPr lang="en-US" altLang="zh-CN">
                <a:latin typeface="Times New Roman" pitchFamily="18" charset="0"/>
              </a:rPr>
              <a:t>[</a:t>
            </a:r>
            <a:r>
              <a:rPr lang="zh-CN" altLang="en-US">
                <a:latin typeface="Times New Roman" pitchFamily="18" charset="0"/>
              </a:rPr>
              <a:t>ｘ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</a:t>
            </a:r>
            <a:r>
              <a:rPr lang="zh-CN" altLang="en-US">
                <a:latin typeface="Times New Roman" pitchFamily="18" charset="0"/>
              </a:rPr>
              <a:t>ｙ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zh-CN" altLang="en-US">
                <a:latin typeface="Times New Roman" pitchFamily="18" charset="0"/>
              </a:rPr>
              <a:t>。要求用补码完成尾数乘法运算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运算结果尾数保留高</a:t>
            </a:r>
            <a:r>
              <a:rPr lang="en-US" altLang="zh-CN">
                <a:latin typeface="Times New Roman" pitchFamily="18" charset="0"/>
              </a:rPr>
              <a:t>8</a:t>
            </a:r>
            <a:r>
              <a:rPr lang="zh-CN" altLang="en-US">
                <a:latin typeface="Times New Roman" pitchFamily="18" charset="0"/>
              </a:rPr>
              <a:t>位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zh-CN" altLang="en-US">
                <a:latin typeface="Times New Roman" pitchFamily="18" charset="0"/>
              </a:rPr>
              <a:t>含符号位</a:t>
            </a:r>
            <a:r>
              <a:rPr lang="en-US" altLang="zh-CN">
                <a:latin typeface="Times New Roman" pitchFamily="18" charset="0"/>
              </a:rPr>
              <a:t>),  </a:t>
            </a:r>
            <a:r>
              <a:rPr lang="zh-CN" altLang="en-US">
                <a:latin typeface="Times New Roman" pitchFamily="18" charset="0"/>
              </a:rPr>
              <a:t>并用尾数低位字长值处理舍入操作。</a:t>
            </a:r>
          </a:p>
        </p:txBody>
      </p:sp>
      <p:sp>
        <p:nvSpPr>
          <p:cNvPr id="162819" name="Text Box 6"/>
          <p:cNvSpPr txBox="1">
            <a:spLocks noChangeArrowheads="1"/>
          </p:cNvSpPr>
          <p:nvPr/>
        </p:nvSpPr>
        <p:spPr bwMode="auto">
          <a:xfrm>
            <a:off x="219075" y="2501900"/>
            <a:ext cx="8747125" cy="261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>
                <a:solidFill>
                  <a:schemeClr val="hlink"/>
                </a:solidFill>
                <a:latin typeface="Times New Roman" pitchFamily="18" charset="0"/>
              </a:rPr>
              <a:t>解</a:t>
            </a:r>
            <a:r>
              <a:rPr lang="en-US" altLang="zh-CN">
                <a:solidFill>
                  <a:schemeClr val="hlink"/>
                </a:solidFill>
                <a:latin typeface="Times New Roman" pitchFamily="18" charset="0"/>
              </a:rPr>
              <a:t>:</a:t>
            </a:r>
            <a:r>
              <a:rPr lang="zh-CN" altLang="en-US">
                <a:solidFill>
                  <a:srgbClr val="333399"/>
                </a:solidFill>
                <a:latin typeface="Times New Roman" pitchFamily="18" charset="0"/>
              </a:rPr>
              <a:t>　 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移码采用双符号位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尾数补码采用单符号位</a:t>
            </a: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, 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则有</a:t>
            </a:r>
            <a:br>
              <a:rPr lang="zh-CN" altLang="en-US">
                <a:solidFill>
                  <a:srgbClr val="0000FF"/>
                </a:solidFill>
                <a:latin typeface="Times New Roman" pitchFamily="18" charset="0"/>
              </a:rPr>
            </a:br>
            <a:endParaRPr lang="zh-CN" altLang="en-US">
              <a:solidFill>
                <a:srgbClr val="0000FF"/>
              </a:solidFill>
              <a:latin typeface="Times New Roman" pitchFamily="18" charset="0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　　</a:t>
            </a:r>
            <a:r>
              <a:rPr lang="en-US" altLang="zh-CN">
                <a:latin typeface="Times New Roman" pitchFamily="18" charset="0"/>
              </a:rPr>
              <a:t>[M</a:t>
            </a:r>
            <a:r>
              <a:rPr lang="en-US" altLang="zh-CN" baseline="-30000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0.0110011,    [M</a:t>
            </a:r>
            <a:r>
              <a:rPr lang="en-US" altLang="zh-CN" baseline="-30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1.0001110,</a:t>
            </a:r>
            <a:br>
              <a:rPr lang="en-US" altLang="zh-CN">
                <a:latin typeface="Times New Roman" pitchFamily="18" charset="0"/>
              </a:rPr>
            </a:br>
            <a:r>
              <a:rPr lang="en-US" altLang="zh-CN">
                <a:latin typeface="Times New Roman" pitchFamily="18" charset="0"/>
              </a:rPr>
              <a:t>       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E</a:t>
            </a:r>
            <a:r>
              <a:rPr lang="en-US" altLang="zh-CN" baseline="-30000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移</a:t>
            </a:r>
            <a:r>
              <a:rPr lang="en-US" altLang="zh-CN">
                <a:latin typeface="Times New Roman" pitchFamily="18" charset="0"/>
              </a:rPr>
              <a:t>= 00 011,</a:t>
            </a:r>
            <a:r>
              <a:rPr lang="zh-CN" altLang="en-US">
                <a:latin typeface="Times New Roman" pitchFamily="18" charset="0"/>
              </a:rPr>
              <a:t>　</a:t>
            </a:r>
            <a:r>
              <a:rPr lang="en-US" altLang="zh-CN">
                <a:latin typeface="Times New Roman" pitchFamily="18" charset="0"/>
              </a:rPr>
              <a:t>[E</a:t>
            </a:r>
            <a:r>
              <a:rPr lang="en-US" altLang="zh-CN" baseline="-30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移 </a:t>
            </a:r>
            <a:r>
              <a:rPr lang="en-US" altLang="zh-CN">
                <a:latin typeface="Times New Roman" pitchFamily="18" charset="0"/>
              </a:rPr>
              <a:t>= 01 011,    [E</a:t>
            </a:r>
            <a:r>
              <a:rPr lang="en-US" altLang="zh-CN" baseline="-30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00 011,  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　    </a:t>
            </a:r>
            <a:r>
              <a:rPr lang="en-US" altLang="zh-CN">
                <a:latin typeface="Times New Roman" pitchFamily="18" charset="0"/>
              </a:rPr>
              <a:t>[x]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zh-CN" altLang="en-US">
                <a:latin typeface="Times New Roman" pitchFamily="18" charset="0"/>
              </a:rPr>
              <a:t>＝</a:t>
            </a:r>
            <a:r>
              <a:rPr lang="en-US" altLang="zh-CN">
                <a:latin typeface="Times New Roman" pitchFamily="18" charset="0"/>
              </a:rPr>
              <a:t>00 011, 0.0110011,    [y]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zh-CN" altLang="en-US">
                <a:latin typeface="Times New Roman" pitchFamily="18" charset="0"/>
              </a:rPr>
              <a:t>＝</a:t>
            </a:r>
            <a:r>
              <a:rPr lang="en-US" altLang="zh-CN">
                <a:latin typeface="Times New Roman" pitchFamily="18" charset="0"/>
              </a:rPr>
              <a:t>01 011, 1.0001110</a:t>
            </a:r>
          </a:p>
        </p:txBody>
      </p:sp>
    </p:spTree>
    <p:extLst>
      <p:ext uri="{BB962C8B-B14F-4D97-AF65-F5344CB8AC3E}">
        <p14:creationId xmlns:p14="http://schemas.microsoft.com/office/powerpoint/2010/main" val="2859828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2"/>
          <p:cNvSpPr txBox="1">
            <a:spLocks noChangeArrowheads="1"/>
          </p:cNvSpPr>
          <p:nvPr/>
        </p:nvSpPr>
        <p:spPr bwMode="auto">
          <a:xfrm>
            <a:off x="393700" y="2494980"/>
            <a:ext cx="69215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(2) 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</a:rPr>
              <a:t>尾数乘法运算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dirty="0">
                <a:solidFill>
                  <a:srgbClr val="9900FF"/>
                </a:solidFill>
                <a:latin typeface="Times New Roman" pitchFamily="18" charset="0"/>
              </a:rPr>
              <a:t>       </a:t>
            </a:r>
            <a:r>
              <a:rPr lang="zh-CN" altLang="en-US" dirty="0">
                <a:latin typeface="Times New Roman" pitchFamily="18" charset="0"/>
              </a:rPr>
              <a:t>可采用补码阵列乘法器实现</a:t>
            </a:r>
            <a:r>
              <a:rPr lang="en-US" altLang="zh-CN" dirty="0">
                <a:latin typeface="Times New Roman" pitchFamily="18" charset="0"/>
              </a:rPr>
              <a:t>,  </a:t>
            </a:r>
            <a:r>
              <a:rPr lang="zh-CN" altLang="en-US" dirty="0">
                <a:latin typeface="Times New Roman" pitchFamily="18" charset="0"/>
              </a:rPr>
              <a:t>即有</a:t>
            </a:r>
          </a:p>
        </p:txBody>
      </p:sp>
      <p:sp>
        <p:nvSpPr>
          <p:cNvPr id="163843" name="Rectangle 3"/>
          <p:cNvSpPr>
            <a:spLocks noChangeArrowheads="1"/>
          </p:cNvSpPr>
          <p:nvPr/>
        </p:nvSpPr>
        <p:spPr bwMode="auto">
          <a:xfrm>
            <a:off x="393700" y="736600"/>
            <a:ext cx="18517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Times New Roman" pitchFamily="18" charset="0"/>
              </a:rPr>
              <a:t>(1) </a:t>
            </a:r>
            <a:r>
              <a:rPr lang="zh-CN" altLang="en-US" sz="2400" dirty="0">
                <a:solidFill>
                  <a:srgbClr val="0000FF"/>
                </a:solidFill>
                <a:latin typeface="Times New Roman" pitchFamily="18" charset="0"/>
              </a:rPr>
              <a:t>求阶码和</a:t>
            </a:r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711200" y="1282700"/>
            <a:ext cx="72771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[E</a:t>
            </a:r>
            <a:r>
              <a:rPr lang="en-US" altLang="zh-CN" baseline="-25000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+ E</a:t>
            </a:r>
            <a:r>
              <a:rPr lang="en-US" altLang="zh-CN" baseline="-25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移</a:t>
            </a:r>
            <a:r>
              <a:rPr lang="en-US" altLang="zh-CN">
                <a:latin typeface="Times New Roman" pitchFamily="18" charset="0"/>
              </a:rPr>
              <a:t>= [E</a:t>
            </a:r>
            <a:r>
              <a:rPr lang="en-US" altLang="zh-CN" baseline="-25000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移</a:t>
            </a:r>
            <a:r>
              <a:rPr lang="en-US" altLang="zh-CN">
                <a:latin typeface="Times New Roman" pitchFamily="18" charset="0"/>
              </a:rPr>
              <a:t>+ [E</a:t>
            </a:r>
            <a:r>
              <a:rPr lang="en-US" altLang="zh-CN" baseline="-25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</a:t>
            </a:r>
            <a:r>
              <a:rPr lang="en-US" altLang="zh-CN">
                <a:latin typeface="Times New Roman" pitchFamily="18" charset="0"/>
              </a:rPr>
              <a:t>= 00 011+ 00 011= 00 110,</a:t>
            </a:r>
          </a:p>
          <a:p>
            <a:pPr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值为移码形式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。</a:t>
            </a:r>
          </a:p>
        </p:txBody>
      </p:sp>
      <p:sp>
        <p:nvSpPr>
          <p:cNvPr id="163845" name="Text Box 5"/>
          <p:cNvSpPr txBox="1">
            <a:spLocks noChangeArrowheads="1"/>
          </p:cNvSpPr>
          <p:nvPr/>
        </p:nvSpPr>
        <p:spPr bwMode="auto">
          <a:xfrm>
            <a:off x="977900" y="3759200"/>
            <a:ext cx="7200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[M</a:t>
            </a:r>
            <a:r>
              <a:rPr lang="en-US" altLang="zh-CN" baseline="-25000">
                <a:latin typeface="Times New Roman" pitchFamily="18" charset="0"/>
              </a:rPr>
              <a:t>x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 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[M</a:t>
            </a:r>
            <a:r>
              <a:rPr lang="en-US" altLang="zh-CN" baseline="-25000">
                <a:latin typeface="Times New Roman" pitchFamily="18" charset="0"/>
              </a:rPr>
              <a:t>y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补 </a:t>
            </a:r>
            <a:r>
              <a:rPr lang="en-US" altLang="zh-CN">
                <a:latin typeface="Times New Roman" pitchFamily="18" charset="0"/>
              </a:rPr>
              <a:t>= [0.0110011]</a:t>
            </a:r>
            <a:r>
              <a:rPr lang="zh-CN" altLang="en-US" baseline="-30000">
                <a:latin typeface="Times New Roman" pitchFamily="18" charset="0"/>
              </a:rPr>
              <a:t>补 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[1.0001110]</a:t>
            </a:r>
            <a:r>
              <a:rPr lang="zh-CN" altLang="en-US" baseline="-30000">
                <a:latin typeface="Times New Roman" pitchFamily="18" charset="0"/>
              </a:rPr>
              <a:t>补</a:t>
            </a:r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3284538" y="4495800"/>
            <a:ext cx="33073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itchFamily="18" charset="0"/>
              </a:rPr>
              <a:t>= [1.1010010,1001010]</a:t>
            </a:r>
            <a:r>
              <a:rPr lang="zh-CN" altLang="en-US" sz="2400" baseline="-30000" dirty="0">
                <a:latin typeface="Times New Roman" pitchFamily="18" charset="0"/>
              </a:rPr>
              <a:t>补</a:t>
            </a:r>
          </a:p>
        </p:txBody>
      </p:sp>
    </p:spTree>
    <p:extLst>
      <p:ext uri="{BB962C8B-B14F-4D97-AF65-F5344CB8AC3E}">
        <p14:creationId xmlns:p14="http://schemas.microsoft.com/office/powerpoint/2010/main" val="402318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Text Box 2"/>
          <p:cNvSpPr txBox="1">
            <a:spLocks noChangeArrowheads="1"/>
          </p:cNvSpPr>
          <p:nvPr/>
        </p:nvSpPr>
        <p:spPr bwMode="auto">
          <a:xfrm>
            <a:off x="277813" y="2193925"/>
            <a:ext cx="358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(4)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舍入处理</a:t>
            </a:r>
          </a:p>
        </p:txBody>
      </p:sp>
      <p:sp>
        <p:nvSpPr>
          <p:cNvPr id="164867" name="Text Box 3"/>
          <p:cNvSpPr txBox="1">
            <a:spLocks noChangeArrowheads="1"/>
          </p:cNvSpPr>
          <p:nvPr/>
        </p:nvSpPr>
        <p:spPr bwMode="auto">
          <a:xfrm>
            <a:off x="203200" y="701675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FF"/>
                </a:solidFill>
                <a:latin typeface="Times New Roman" pitchFamily="18" charset="0"/>
              </a:rPr>
              <a:t>(3) </a:t>
            </a:r>
            <a:r>
              <a:rPr lang="zh-CN" altLang="en-US">
                <a:solidFill>
                  <a:srgbClr val="0000FF"/>
                </a:solidFill>
                <a:latin typeface="Times New Roman" pitchFamily="18" charset="0"/>
              </a:rPr>
              <a:t>规格化处理</a:t>
            </a:r>
          </a:p>
        </p:txBody>
      </p:sp>
      <p:sp>
        <p:nvSpPr>
          <p:cNvPr id="164868" name="Text Box 4"/>
          <p:cNvSpPr txBox="1">
            <a:spLocks noChangeArrowheads="1"/>
          </p:cNvSpPr>
          <p:nvPr/>
        </p:nvSpPr>
        <p:spPr bwMode="auto">
          <a:xfrm>
            <a:off x="354013" y="1298575"/>
            <a:ext cx="85486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</a:t>
            </a:r>
            <a:r>
              <a:rPr lang="zh-CN" altLang="en-US">
                <a:latin typeface="Times New Roman" pitchFamily="18" charset="0"/>
              </a:rPr>
              <a:t>乘积的尾数符号位与最高数值位符号相同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不是规格化的数</a:t>
            </a:r>
            <a:r>
              <a:rPr lang="en-US" altLang="zh-CN">
                <a:latin typeface="Times New Roman" pitchFamily="18" charset="0"/>
              </a:rPr>
              <a:t>,</a:t>
            </a:r>
            <a:r>
              <a:rPr lang="zh-CN" altLang="en-US">
                <a:latin typeface="Times New Roman" pitchFamily="18" charset="0"/>
              </a:rPr>
              <a:t>需要左规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阶码变为</a:t>
            </a:r>
            <a:r>
              <a:rPr lang="en-US" altLang="zh-CN">
                <a:latin typeface="Times New Roman" pitchFamily="18" charset="0"/>
              </a:rPr>
              <a:t>00 101(</a:t>
            </a:r>
            <a:r>
              <a:rPr lang="en-US" altLang="zh-CN">
                <a:latin typeface="黑体" pitchFamily="2" charset="-122"/>
                <a:ea typeface="黑体" pitchFamily="2" charset="-122"/>
              </a:rPr>
              <a:t>-</a:t>
            </a:r>
            <a:r>
              <a:rPr lang="en-US" altLang="zh-CN">
                <a:latin typeface="Times New Roman" pitchFamily="18" charset="0"/>
              </a:rPr>
              <a:t>3),  </a:t>
            </a:r>
            <a:r>
              <a:rPr lang="zh-CN" altLang="en-US">
                <a:latin typeface="Times New Roman" pitchFamily="18" charset="0"/>
              </a:rPr>
              <a:t>尾数变为 </a:t>
            </a:r>
            <a:r>
              <a:rPr lang="en-US" altLang="zh-CN">
                <a:latin typeface="Times New Roman" pitchFamily="18" charset="0"/>
              </a:rPr>
              <a:t>1.0100101,0010100</a:t>
            </a:r>
            <a:r>
              <a:rPr lang="zh-CN" altLang="en-US">
                <a:latin typeface="Times New Roman" pitchFamily="18" charset="0"/>
              </a:rPr>
              <a:t>。</a:t>
            </a:r>
          </a:p>
        </p:txBody>
      </p:sp>
      <p:sp>
        <p:nvSpPr>
          <p:cNvPr id="164869" name="Text Box 5"/>
          <p:cNvSpPr txBox="1">
            <a:spLocks noChangeArrowheads="1"/>
          </p:cNvSpPr>
          <p:nvPr/>
        </p:nvSpPr>
        <p:spPr bwMode="auto">
          <a:xfrm>
            <a:off x="277813" y="2781300"/>
            <a:ext cx="8548687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</a:t>
            </a:r>
            <a:r>
              <a:rPr lang="zh-CN" altLang="en-US">
                <a:latin typeface="Times New Roman" pitchFamily="18" charset="0"/>
              </a:rPr>
              <a:t>尾数为负数</a:t>
            </a:r>
            <a:r>
              <a:rPr lang="en-US" altLang="zh-CN">
                <a:latin typeface="Times New Roman" pitchFamily="18" charset="0"/>
              </a:rPr>
              <a:t>,  </a:t>
            </a:r>
            <a:r>
              <a:rPr lang="zh-CN" altLang="en-US">
                <a:latin typeface="Times New Roman" pitchFamily="18" charset="0"/>
              </a:rPr>
              <a:t>取尾数高位字长，按舍入规则</a:t>
            </a:r>
            <a:r>
              <a:rPr lang="en-US" altLang="zh-CN">
                <a:latin typeface="Times New Roman" pitchFamily="18" charset="0"/>
              </a:rPr>
              <a:t>, </a:t>
            </a:r>
            <a:r>
              <a:rPr lang="zh-CN" altLang="en-US">
                <a:latin typeface="Times New Roman" pitchFamily="18" charset="0"/>
              </a:rPr>
              <a:t>舍去低位字长，故尾数为</a:t>
            </a:r>
            <a:r>
              <a:rPr lang="en-US" altLang="zh-CN">
                <a:latin typeface="Times New Roman" pitchFamily="18" charset="0"/>
              </a:rPr>
              <a:t>1.0100101 </a:t>
            </a:r>
            <a:r>
              <a:rPr lang="zh-CN" altLang="en-US">
                <a:latin typeface="Times New Roman" pitchFamily="18" charset="0"/>
              </a:rPr>
              <a:t>。　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lang="zh-CN" altLang="en-US">
                <a:latin typeface="Times New Roman" pitchFamily="18" charset="0"/>
              </a:rPr>
              <a:t>    最终相乘结果为</a:t>
            </a:r>
          </a:p>
        </p:txBody>
      </p:sp>
      <p:sp>
        <p:nvSpPr>
          <p:cNvPr id="164870" name="Text Box 6"/>
          <p:cNvSpPr txBox="1">
            <a:spLocks noChangeArrowheads="1"/>
          </p:cNvSpPr>
          <p:nvPr/>
        </p:nvSpPr>
        <p:spPr bwMode="auto">
          <a:xfrm>
            <a:off x="508000" y="4229100"/>
            <a:ext cx="7912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     </a:t>
            </a:r>
            <a:r>
              <a:rPr lang="zh-CN" altLang="en-US">
                <a:latin typeface="Times New Roman" pitchFamily="18" charset="0"/>
              </a:rPr>
              <a:t>其真值为       ｘ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</a:t>
            </a:r>
            <a:r>
              <a:rPr lang="zh-CN" altLang="en-US">
                <a:latin typeface="Times New Roman" pitchFamily="18" charset="0"/>
              </a:rPr>
              <a:t>ｙ＝</a:t>
            </a:r>
            <a:r>
              <a:rPr lang="en-US" altLang="zh-CN">
                <a:latin typeface="Times New Roman" pitchFamily="18" charset="0"/>
              </a:rPr>
              <a:t>2</a:t>
            </a:r>
            <a:r>
              <a:rPr lang="zh-CN" altLang="en-US" baseline="30000">
                <a:latin typeface="Times New Roman" pitchFamily="18" charset="0"/>
              </a:rPr>
              <a:t>－</a:t>
            </a:r>
            <a:r>
              <a:rPr lang="en-US" altLang="zh-CN" baseline="30000">
                <a:latin typeface="Times New Roman" pitchFamily="18" charset="0"/>
              </a:rPr>
              <a:t>3 </a:t>
            </a:r>
            <a:r>
              <a:rPr lang="en-US" altLang="zh-CN">
                <a:latin typeface="Times New Roman" pitchFamily="18" charset="0"/>
                <a:sym typeface="Symbol" pitchFamily="18" charset="2"/>
              </a:rPr>
              <a:t> </a:t>
            </a:r>
            <a:r>
              <a:rPr lang="en-US" altLang="zh-CN">
                <a:latin typeface="Times New Roman" pitchFamily="18" charset="0"/>
              </a:rPr>
              <a:t>(</a:t>
            </a:r>
            <a:r>
              <a:rPr lang="zh-CN" altLang="en-US">
                <a:latin typeface="Times New Roman" pitchFamily="18" charset="0"/>
              </a:rPr>
              <a:t>－</a:t>
            </a:r>
            <a:r>
              <a:rPr lang="en-US" altLang="zh-CN">
                <a:latin typeface="Times New Roman" pitchFamily="18" charset="0"/>
              </a:rPr>
              <a:t>0.1011011)</a:t>
            </a:r>
          </a:p>
        </p:txBody>
      </p:sp>
      <p:sp>
        <p:nvSpPr>
          <p:cNvPr id="164871" name="Rectangle 7"/>
          <p:cNvSpPr>
            <a:spLocks noChangeArrowheads="1"/>
          </p:cNvSpPr>
          <p:nvPr/>
        </p:nvSpPr>
        <p:spPr bwMode="auto">
          <a:xfrm>
            <a:off x="3346450" y="3530600"/>
            <a:ext cx="396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[</a:t>
            </a:r>
            <a:r>
              <a:rPr lang="zh-CN" altLang="en-US">
                <a:latin typeface="Times New Roman" pitchFamily="18" charset="0"/>
              </a:rPr>
              <a:t>ｘ</a:t>
            </a:r>
            <a:r>
              <a:rPr lang="zh-CN" altLang="en-US">
                <a:latin typeface="Times New Roman" pitchFamily="18" charset="0"/>
                <a:sym typeface="Symbol" pitchFamily="18" charset="2"/>
              </a:rPr>
              <a:t></a:t>
            </a:r>
            <a:r>
              <a:rPr lang="zh-CN" altLang="en-US">
                <a:latin typeface="Times New Roman" pitchFamily="18" charset="0"/>
              </a:rPr>
              <a:t>ｙ</a:t>
            </a:r>
            <a:r>
              <a:rPr lang="en-US" altLang="zh-CN">
                <a:latin typeface="Times New Roman" pitchFamily="18" charset="0"/>
              </a:rPr>
              <a:t>]</a:t>
            </a:r>
            <a:r>
              <a:rPr lang="zh-CN" altLang="en-US" baseline="-30000">
                <a:latin typeface="Times New Roman" pitchFamily="18" charset="0"/>
              </a:rPr>
              <a:t>浮</a:t>
            </a:r>
            <a:r>
              <a:rPr lang="zh-CN" altLang="en-US">
                <a:latin typeface="Times New Roman" pitchFamily="18" charset="0"/>
              </a:rPr>
              <a:t>＝</a:t>
            </a:r>
            <a:r>
              <a:rPr lang="en-US" altLang="zh-CN">
                <a:latin typeface="Times New Roman" pitchFamily="18" charset="0"/>
              </a:rPr>
              <a:t>00 101,1.0100101 </a:t>
            </a:r>
          </a:p>
        </p:txBody>
      </p:sp>
    </p:spTree>
    <p:extLst>
      <p:ext uri="{BB962C8B-B14F-4D97-AF65-F5344CB8AC3E}">
        <p14:creationId xmlns:p14="http://schemas.microsoft.com/office/powerpoint/2010/main" val="274833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2"/>
          <p:cNvSpPr txBox="1">
            <a:spLocks noChangeArrowheads="1"/>
          </p:cNvSpPr>
          <p:nvPr/>
        </p:nvSpPr>
        <p:spPr bwMode="auto">
          <a:xfrm>
            <a:off x="314325" y="1716088"/>
            <a:ext cx="8574088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altLang="zh-CN" dirty="0" smtClean="0">
                <a:solidFill>
                  <a:srgbClr val="000000"/>
                </a:solidFill>
                <a:latin typeface="宋体" charset="-122"/>
              </a:rPr>
              <a:t>1</a:t>
            </a:r>
            <a:r>
              <a:rPr lang="zh-CN" altLang="en-US" dirty="0" smtClean="0">
                <a:solidFill>
                  <a:srgbClr val="000000"/>
                </a:solidFill>
                <a:latin typeface="宋体" charset="-122"/>
              </a:rPr>
              <a:t>） </a:t>
            </a:r>
            <a:r>
              <a:rPr lang="en-US" altLang="zh-CN" dirty="0" smtClean="0">
                <a:solidFill>
                  <a:srgbClr val="000000"/>
                </a:solidFill>
                <a:latin typeface="宋体" charset="-122"/>
              </a:rPr>
              <a:t>IEEE 754 </a:t>
            </a:r>
            <a:r>
              <a:rPr lang="zh-CN" altLang="en-US" dirty="0" smtClean="0">
                <a:solidFill>
                  <a:srgbClr val="000000"/>
                </a:solidFill>
                <a:latin typeface="宋体" charset="-122"/>
              </a:rPr>
              <a:t>浮点数的表示</a:t>
            </a:r>
            <a:endParaRPr lang="en-US" altLang="zh-CN" dirty="0" smtClean="0">
              <a:solidFill>
                <a:srgbClr val="000000"/>
              </a:solidFill>
              <a:latin typeface="宋体" charset="-122"/>
            </a:endParaRPr>
          </a:p>
          <a:p>
            <a:pPr marL="457200" indent="-457200" algn="just" eaLnBrk="1" hangingPunct="1">
              <a:spcBef>
                <a:spcPct val="50000"/>
              </a:spcBef>
              <a:buAutoNum type="arabicParenR" startAt="2"/>
            </a:pPr>
            <a:r>
              <a:rPr lang="zh-CN" altLang="en-US" dirty="0" smtClean="0">
                <a:solidFill>
                  <a:srgbClr val="000000"/>
                </a:solidFill>
                <a:latin typeface="宋体" charset="-122"/>
              </a:rPr>
              <a:t> 尾数的规格化表示</a:t>
            </a:r>
            <a:endParaRPr lang="en-US" altLang="zh-CN" dirty="0" smtClean="0">
              <a:solidFill>
                <a:srgbClr val="000000"/>
              </a:solidFill>
              <a:latin typeface="宋体" charset="-122"/>
            </a:endParaRPr>
          </a:p>
          <a:p>
            <a:pPr marL="457200" indent="-457200" algn="just" eaLnBrk="1" hangingPunct="1">
              <a:spcBef>
                <a:spcPct val="50000"/>
              </a:spcBef>
              <a:buAutoNum type="arabicParenR" startAt="2"/>
            </a:pPr>
            <a:r>
              <a:rPr lang="en-US" altLang="zh-CN" dirty="0">
                <a:solidFill>
                  <a:srgbClr val="000000"/>
                </a:solidFill>
                <a:latin typeface="宋体" charset="-122"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latin typeface="宋体" charset="-122"/>
              </a:rPr>
              <a:t>浮点数的计算流程</a:t>
            </a:r>
            <a:endParaRPr lang="en-US" altLang="zh-CN" dirty="0" smtClean="0">
              <a:solidFill>
                <a:srgbClr val="000000"/>
              </a:solidFill>
              <a:latin typeface="宋体" charset="-122"/>
            </a:endParaRPr>
          </a:p>
          <a:p>
            <a:pPr marL="457200" indent="-457200" algn="just" eaLnBrk="1" hangingPunct="1">
              <a:spcBef>
                <a:spcPct val="50000"/>
              </a:spcBef>
              <a:buAutoNum type="arabicParenR" startAt="2"/>
            </a:pPr>
            <a:r>
              <a:rPr lang="en-US" altLang="zh-CN" dirty="0">
                <a:solidFill>
                  <a:srgbClr val="000000"/>
                </a:solidFill>
                <a:latin typeface="宋体" charset="-122"/>
              </a:rPr>
              <a:t> </a:t>
            </a:r>
            <a:r>
              <a:rPr lang="zh-CN" altLang="en-US" smtClean="0">
                <a:solidFill>
                  <a:srgbClr val="000000"/>
                </a:solidFill>
                <a:latin typeface="宋体" charset="-122"/>
              </a:rPr>
              <a:t>浮点数计算的硬件实现</a:t>
            </a:r>
            <a:endParaRPr lang="en-US" altLang="zh-CN" dirty="0" smtClean="0">
              <a:solidFill>
                <a:srgbClr val="000000"/>
              </a:solidFill>
              <a:latin typeface="宋体" charset="-122"/>
            </a:endParaRPr>
          </a:p>
          <a:p>
            <a:pPr marL="457200" indent="-457200" algn="just" eaLnBrk="1" hangingPunct="1">
              <a:spcBef>
                <a:spcPct val="50000"/>
              </a:spcBef>
              <a:buAutoNum type="arabicParenR" startAt="2"/>
            </a:pPr>
            <a:endParaRPr lang="en-US" altLang="zh-CN" dirty="0" smtClean="0">
              <a:solidFill>
                <a:srgbClr val="000000"/>
              </a:solidFill>
              <a:latin typeface="宋体" charset="-122"/>
            </a:endParaRPr>
          </a:p>
          <a:p>
            <a:pPr marL="457200" indent="-457200" algn="just" eaLnBrk="1" hangingPunct="1">
              <a:spcBef>
                <a:spcPct val="50000"/>
              </a:spcBef>
              <a:buAutoNum type="arabicParenR" startAt="2"/>
            </a:pPr>
            <a:endParaRPr lang="zh-CN" altLang="en-US" dirty="0">
              <a:solidFill>
                <a:srgbClr val="000000"/>
              </a:solidFill>
              <a:latin typeface="宋体" charset="-122"/>
            </a:endParaRPr>
          </a:p>
        </p:txBody>
      </p:sp>
      <p:sp>
        <p:nvSpPr>
          <p:cNvPr id="146438" name="Text Box 9"/>
          <p:cNvSpPr txBox="1">
            <a:spLocks noChangeArrowheads="1"/>
          </p:cNvSpPr>
          <p:nvPr/>
        </p:nvSpPr>
        <p:spPr bwMode="auto">
          <a:xfrm>
            <a:off x="381000" y="317500"/>
            <a:ext cx="2536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600">
                <a:solidFill>
                  <a:schemeClr val="hlink"/>
                </a:solidFill>
                <a:latin typeface="Times New Roman" pitchFamily="18" charset="0"/>
              </a:rPr>
              <a:t>小结：</a:t>
            </a:r>
          </a:p>
        </p:txBody>
      </p:sp>
    </p:spTree>
    <p:extLst>
      <p:ext uri="{BB962C8B-B14F-4D97-AF65-F5344CB8AC3E}">
        <p14:creationId xmlns:p14="http://schemas.microsoft.com/office/powerpoint/2010/main" val="157565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组成原理">
  <a:themeElements>
    <a:clrScheme name="组成原理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组成原理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组成原理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组成原理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组成原理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组成原理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4516</Words>
  <Application>Microsoft Office PowerPoint</Application>
  <PresentationFormat>全屏显示(4:3)</PresentationFormat>
  <Paragraphs>555</Paragraphs>
  <Slides>51</Slides>
  <Notes>1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3" baseType="lpstr">
      <vt:lpstr>组成原理</vt:lpstr>
      <vt:lpstr>Equation</vt:lpstr>
      <vt:lpstr>PowerPoint 演示文稿</vt:lpstr>
      <vt:lpstr>PowerPoint 演示文稿</vt:lpstr>
      <vt:lpstr>PowerPoint 演示文稿</vt:lpstr>
      <vt:lpstr>PowerPoint 演示文稿</vt:lpstr>
      <vt:lpstr>浮点数的规格化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IEEE754浮点数的范围</vt:lpstr>
      <vt:lpstr>浮点数标准(IEEE754)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JZhong</dc:creator>
  <cp:lastModifiedBy>JZhong</cp:lastModifiedBy>
  <cp:revision>4</cp:revision>
  <dcterms:created xsi:type="dcterms:W3CDTF">2012-10-15T14:35:23Z</dcterms:created>
  <dcterms:modified xsi:type="dcterms:W3CDTF">2012-10-18T01:46:27Z</dcterms:modified>
</cp:coreProperties>
</file>