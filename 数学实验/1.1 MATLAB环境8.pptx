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370" r:id="rId4"/>
    <p:sldId id="388" r:id="rId5"/>
    <p:sldId id="347" r:id="rId6"/>
    <p:sldId id="346" r:id="rId7"/>
    <p:sldId id="384" r:id="rId8"/>
    <p:sldId id="327" r:id="rId9"/>
    <p:sldId id="386" r:id="rId10"/>
    <p:sldId id="364" r:id="rId11"/>
    <p:sldId id="337" r:id="rId12"/>
    <p:sldId id="375" r:id="rId14"/>
    <p:sldId id="376" r:id="rId15"/>
    <p:sldId id="371" r:id="rId16"/>
    <p:sldId id="372" r:id="rId17"/>
    <p:sldId id="374" r:id="rId18"/>
    <p:sldId id="377" r:id="rId19"/>
    <p:sldId id="378" r:id="rId20"/>
    <p:sldId id="365" r:id="rId21"/>
    <p:sldId id="387" r:id="rId22"/>
    <p:sldId id="366" r:id="rId23"/>
    <p:sldId id="380" r:id="rId24"/>
    <p:sldId id="381" r:id="rId25"/>
    <p:sldId id="382" r:id="rId26"/>
    <p:sldId id="383" r:id="rId27"/>
    <p:sldId id="379" r:id="rId28"/>
    <p:sldId id="335" r:id="rId29"/>
    <p:sldId id="357" r:id="rId30"/>
    <p:sldId id="390" r:id="rId31"/>
    <p:sldId id="369" r:id="rId32"/>
    <p:sldId id="367" r:id="rId33"/>
    <p:sldId id="368" r:id="rId34"/>
    <p:sldId id="358" r:id="rId35"/>
    <p:sldId id="338" r:id="rId36"/>
    <p:sldId id="339" r:id="rId37"/>
    <p:sldId id="314" r:id="rId38"/>
    <p:sldId id="391" r:id="rId39"/>
    <p:sldId id="392" r:id="rId40"/>
    <p:sldId id="315" r:id="rId41"/>
    <p:sldId id="276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5CC3"/>
    <a:srgbClr val="FFCCFF"/>
    <a:srgbClr val="0066FF"/>
    <a:srgbClr val="FF7C80"/>
    <a:srgbClr val="0085D2"/>
    <a:srgbClr val="0077CA"/>
    <a:srgbClr val="004576"/>
    <a:srgbClr val="002A48"/>
    <a:srgbClr val="0091F6"/>
    <a:srgbClr val="0053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906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28F2320-8906-4DF0-8AD0-EBDACD442E9C}" type="slidenum">
              <a:rPr lang="en-US" altLang="zh-CN"/>
            </a:fld>
            <a:endParaRPr lang="en-US" altLang="zh-CN"/>
          </a:p>
        </p:txBody>
      </p:sp>
      <p:sp>
        <p:nvSpPr>
          <p:cNvPr id="2058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28F2320-8906-4DF0-8AD0-EBDACD442E9C}" type="slidenum">
              <a:rPr lang="en-US" altLang="zh-CN"/>
            </a:fld>
            <a:endParaRPr lang="en-US" altLang="zh-CN"/>
          </a:p>
        </p:txBody>
      </p:sp>
      <p:sp>
        <p:nvSpPr>
          <p:cNvPr id="2058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3392E6-C3CF-4EFB-9041-240DB2210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09028" y="1122363"/>
            <a:ext cx="5558971" cy="266586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09028" y="3962399"/>
            <a:ext cx="5558972" cy="132442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949200" y="1648800"/>
            <a:ext cx="7430400" cy="3783600"/>
          </a:xfrm>
        </p:spPr>
        <p:txBody>
          <a:bodyPr>
            <a:normAutofit/>
          </a:bodyPr>
          <a:lstStyle>
            <a:lvl1pPr marL="0" indent="0" algn="just">
              <a:lnSpc>
                <a:spcPct val="14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 indent="0">
              <a:buFont typeface="Arial" panose="020B0604020202020204" pitchFamily="34" charset="0"/>
              <a:buNone/>
              <a:defRPr sz="20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7391083" y="319405"/>
            <a:ext cx="3119438" cy="3349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 fontAlgn="base">
              <a:buNone/>
            </a:pPr>
            <a:r>
              <a:rPr lang="zh-CN" altLang="en-US" sz="1600" b="1" strike="noStrike" noProof="1">
                <a:solidFill>
                  <a:schemeClr val="bg1"/>
                </a:solidFill>
                <a:latin typeface="Times New Roman" panose="02020603050405020304" pitchFamily="18" charset="0"/>
                <a:ea typeface="-봄IIL" pitchFamily="18" charset="-127"/>
                <a:cs typeface="+mn-ea"/>
              </a:rPr>
              <a:t>Mathematical  Laboratory</a:t>
            </a:r>
            <a:endParaRPr lang="zh-CN" altLang="en-US" sz="1600" b="1" strike="noStrike" noProof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62400" y="4161600"/>
            <a:ext cx="9068400" cy="1191600"/>
          </a:xfrm>
        </p:spPr>
        <p:txBody>
          <a:bodyPr anchor="t" anchorCtr="0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775679" y="619349"/>
            <a:ext cx="26533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3410745" y="638631"/>
            <a:ext cx="0" cy="54453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3410745" y="1183166"/>
            <a:ext cx="8440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4257982" y="761136"/>
            <a:ext cx="793401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flipV="1">
            <a:off x="4254807" y="761136"/>
            <a:ext cx="0" cy="42203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 userDrawn="1"/>
        </p:nvSpPr>
        <p:spPr>
          <a:xfrm rot="2914656">
            <a:off x="500236" y="292520"/>
            <a:ext cx="563949" cy="589305"/>
          </a:xfrm>
          <a:custGeom>
            <a:avLst/>
            <a:gdLst>
              <a:gd name="connsiteX0" fmla="*/ 0 w 563949"/>
              <a:gd name="connsiteY0" fmla="*/ 215460 h 589305"/>
              <a:gd name="connsiteX1" fmla="*/ 190104 w 563949"/>
              <a:gd name="connsiteY1" fmla="*/ 215460 h 589305"/>
              <a:gd name="connsiteX2" fmla="*/ 190104 w 563949"/>
              <a:gd name="connsiteY2" fmla="*/ 0 h 589305"/>
              <a:gd name="connsiteX3" fmla="*/ 563949 w 563949"/>
              <a:gd name="connsiteY3" fmla="*/ 0 h 589305"/>
              <a:gd name="connsiteX4" fmla="*/ 563949 w 563949"/>
              <a:gd name="connsiteY4" fmla="*/ 373845 h 589305"/>
              <a:gd name="connsiteX5" fmla="*/ 373845 w 563949"/>
              <a:gd name="connsiteY5" fmla="*/ 373845 h 589305"/>
              <a:gd name="connsiteX6" fmla="*/ 373845 w 563949"/>
              <a:gd name="connsiteY6" fmla="*/ 589305 h 589305"/>
              <a:gd name="connsiteX7" fmla="*/ 0 w 563949"/>
              <a:gd name="connsiteY7" fmla="*/ 589305 h 589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3949" h="589305">
                <a:moveTo>
                  <a:pt x="0" y="215460"/>
                </a:moveTo>
                <a:lnTo>
                  <a:pt x="190104" y="215460"/>
                </a:lnTo>
                <a:lnTo>
                  <a:pt x="190104" y="0"/>
                </a:lnTo>
                <a:lnTo>
                  <a:pt x="563949" y="0"/>
                </a:lnTo>
                <a:lnTo>
                  <a:pt x="563949" y="373845"/>
                </a:lnTo>
                <a:lnTo>
                  <a:pt x="373845" y="373845"/>
                </a:lnTo>
                <a:lnTo>
                  <a:pt x="373845" y="589305"/>
                </a:lnTo>
                <a:lnTo>
                  <a:pt x="0" y="58930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 rot="2914656">
            <a:off x="420569" y="642090"/>
            <a:ext cx="401474" cy="401474"/>
          </a:xfrm>
          <a:prstGeom prst="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rot="2914656">
            <a:off x="729141" y="642091"/>
            <a:ext cx="401474" cy="401474"/>
          </a:xfrm>
          <a:prstGeom prst="rect">
            <a:avLst/>
          </a:prstGeom>
          <a:solidFill>
            <a:srgbClr val="00AF92"/>
          </a:solidFill>
          <a:ln>
            <a:solidFill>
              <a:srgbClr val="00AF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 rot="2772067">
            <a:off x="4957430" y="2466235"/>
            <a:ext cx="1183104" cy="1183103"/>
          </a:xfrm>
          <a:prstGeom prst="rect">
            <a:avLst/>
          </a:prstGeom>
          <a:solidFill>
            <a:srgbClr val="73B9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任意多边形 16"/>
          <p:cNvSpPr/>
          <p:nvPr userDrawn="1"/>
        </p:nvSpPr>
        <p:spPr>
          <a:xfrm>
            <a:off x="5738495" y="2221390"/>
            <a:ext cx="1672793" cy="1672793"/>
          </a:xfrm>
          <a:custGeom>
            <a:avLst/>
            <a:gdLst>
              <a:gd name="connsiteX0" fmla="*/ 853933 w 1672793"/>
              <a:gd name="connsiteY0" fmla="*/ 0 h 1672793"/>
              <a:gd name="connsiteX1" fmla="*/ 1672793 w 1672793"/>
              <a:gd name="connsiteY1" fmla="*/ 853933 h 1672793"/>
              <a:gd name="connsiteX2" fmla="*/ 818861 w 1672793"/>
              <a:gd name="connsiteY2" fmla="*/ 1672793 h 1672793"/>
              <a:gd name="connsiteX3" fmla="*/ 0 w 1672793"/>
              <a:gd name="connsiteY3" fmla="*/ 818860 h 167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2793" h="1672793">
                <a:moveTo>
                  <a:pt x="853933" y="0"/>
                </a:moveTo>
                <a:lnTo>
                  <a:pt x="1672793" y="853933"/>
                </a:lnTo>
                <a:lnTo>
                  <a:pt x="818861" y="1672793"/>
                </a:lnTo>
                <a:lnTo>
                  <a:pt x="0" y="8188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7200" dirty="0">
              <a:solidFill>
                <a:prstClr val="white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949200" y="1585005"/>
            <a:ext cx="7430400" cy="2293199"/>
          </a:xfrm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/>
            </a:lvl2pPr>
            <a:lvl3pPr marL="9144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3pPr>
            <a:lvl4pPr marL="13716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4pPr>
            <a:lvl5pPr marL="18288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3949200" y="3937480"/>
            <a:ext cx="7430400" cy="2293199"/>
          </a:xfrm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/>
            </a:lvl2pPr>
            <a:lvl3pPr marL="9144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3pPr>
            <a:lvl4pPr marL="13716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4pPr>
            <a:lvl5pPr marL="182880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77615"/>
            <a:ext cx="2743200" cy="365125"/>
          </a:xfrm>
        </p:spPr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77615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77615"/>
            <a:ext cx="2743200" cy="365125"/>
          </a:xfrm>
        </p:spPr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7391083" y="319405"/>
            <a:ext cx="3119438" cy="3349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 fontAlgn="base">
              <a:buNone/>
            </a:pPr>
            <a:r>
              <a:rPr lang="zh-CN" altLang="en-US" sz="1600" b="1" strike="noStrike" noProof="1">
                <a:solidFill>
                  <a:schemeClr val="bg1"/>
                </a:solidFill>
                <a:latin typeface="Times New Roman" panose="02020603050405020304" pitchFamily="18" charset="0"/>
                <a:ea typeface="-봄IIL" pitchFamily="18" charset="-127"/>
                <a:cs typeface="+mn-ea"/>
              </a:rPr>
              <a:t>Mathematical  Laboratory</a:t>
            </a:r>
            <a:endParaRPr lang="zh-CN" altLang="en-US" sz="1600" b="1" strike="noStrike" noProof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4000" y="14400"/>
            <a:ext cx="10515600" cy="66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139315"/>
            <a:ext cx="5157787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 marL="800100" indent="-342900"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139315"/>
            <a:ext cx="5183188" cy="3684588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 marL="800100" indent="-342900"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91083" y="319405"/>
            <a:ext cx="3119438" cy="3349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 fontAlgn="base">
              <a:buNone/>
            </a:pPr>
            <a:r>
              <a:rPr lang="zh-CN" altLang="en-US" sz="1600" b="1" strike="noStrike" noProof="1">
                <a:solidFill>
                  <a:schemeClr val="bg1"/>
                </a:solidFill>
                <a:latin typeface="Times New Roman" panose="02020603050405020304" pitchFamily="18" charset="0"/>
                <a:ea typeface="-봄IIL" pitchFamily="18" charset="-127"/>
                <a:cs typeface="+mn-ea"/>
              </a:rPr>
              <a:t>Mathematical  Laboratory</a:t>
            </a:r>
            <a:endParaRPr lang="zh-CN" altLang="en-US" sz="1600" b="1" strike="noStrike" noProof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108400" y="1123200"/>
            <a:ext cx="5558400" cy="2667600"/>
          </a:xfrm>
        </p:spPr>
        <p:txBody>
          <a:bodyPr anchor="b" anchorCtr="0">
            <a:normAutofit/>
          </a:bodyPr>
          <a:lstStyle>
            <a:lvl1pPr algn="ctr">
              <a:defRPr sz="88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4000" y="14400"/>
            <a:ext cx="10515600" cy="669600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8400" y="1537200"/>
            <a:ext cx="2883600" cy="423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747600" y="1537200"/>
            <a:ext cx="7862400" cy="4204800"/>
          </a:xfrm>
          <a:solidFill>
            <a:schemeClr val="accent1"/>
          </a:solidFill>
        </p:spPr>
        <p:txBody>
          <a:bodyPr lIns="144000" tIns="144000" rIns="144000" bIns="144000" anchor="ctr" anchorCtr="0">
            <a:normAutofit/>
          </a:bodyPr>
          <a:lstStyle>
            <a:lvl1pPr marL="0" indent="0" algn="just">
              <a:lnSpc>
                <a:spcPct val="15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00460" y="365125"/>
            <a:ext cx="1853339" cy="5811838"/>
          </a:xfrm>
        </p:spPr>
        <p:txBody>
          <a:bodyPr vert="eaVert"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199" y="365125"/>
            <a:ext cx="8522777" cy="5811838"/>
          </a:xfrm>
        </p:spPr>
        <p:txBody>
          <a:bodyPr vert="eaVert"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 marL="800100" indent="-342900"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800" y="363600"/>
            <a:ext cx="10515600" cy="58104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 marL="800100" indent="-342900">
              <a:buFont typeface="Arial" panose="020B0604020202020204" pitchFamily="34" charset="0"/>
              <a:buChar char="•"/>
              <a:defRPr sz="2000"/>
            </a:lvl2pPr>
            <a:lvl3pPr marL="1200150" indent="-285750">
              <a:buFont typeface="Arial" panose="020B0604020202020204" pitchFamily="34" charset="0"/>
              <a:buChar char="•"/>
              <a:defRPr sz="1800"/>
            </a:lvl3pPr>
            <a:lvl4pPr marL="1657350" indent="-285750">
              <a:buFont typeface="Arial" panose="020B0604020202020204" pitchFamily="34" charset="0"/>
              <a:buChar char="•"/>
              <a:defRPr sz="1800"/>
            </a:lvl4pPr>
            <a:lvl5pPr marL="2114550" indent="-285750"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54312" y="14515"/>
            <a:ext cx="10515600" cy="6676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870857"/>
            <a:ext cx="10515600" cy="5306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 sz="2400" dirty="0" smtClean="0"/>
              <a:t>单击此处编辑文本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第二级</a:t>
            </a:r>
            <a:endParaRPr lang="zh-CN" altLang="en-US" sz="2000" dirty="0" smtClean="0"/>
          </a:p>
          <a:p>
            <a:pPr lvl="2"/>
            <a:r>
              <a:rPr lang="zh-CN" altLang="en-US" sz="1800" dirty="0" smtClean="0"/>
              <a:t>第三级</a:t>
            </a:r>
            <a:endParaRPr lang="zh-CN" altLang="en-US" sz="1800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8DE5B-C62B-44E2-9C7C-8F656456D3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6F5C8-6162-48B7-B978-6F8104EF9F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32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3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slide" Target="slide29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slide" Target="slide16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jpeg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1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1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20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51684" y="1925955"/>
            <a:ext cx="8783955" cy="14293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kumimoji="1" lang="zh-CN" altLang="en-US" sz="8000" b="1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粗标宋体" charset="0"/>
                <a:ea typeface="粗标宋体" charset="0"/>
                <a:cs typeface="+mn-cs"/>
                <a:sym typeface="+mn-ea"/>
              </a:rPr>
              <a:t>MATLAB软件入门</a:t>
            </a:r>
            <a:endParaRPr kumimoji="1" lang="zh-CN" altLang="en-US" sz="8000" b="1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粗标宋体" charset="0"/>
              <a:ea typeface="粗标宋体" charset="0"/>
              <a:cs typeface="+mn-cs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93435" y="4446905"/>
            <a:ext cx="5388610" cy="13246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kumimoji="1"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kumimoji="1" lang="en-US" altLang="zh-CN" sz="3200" b="1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kumimoji="1" lang="en-US" altLang="zh-CN" sz="32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sz="3200" b="1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MATLAB</a:t>
            </a:r>
            <a:r>
              <a:rPr kumimoji="1" lang="zh-CN" altLang="en-US" sz="3200" b="1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环境</a:t>
            </a:r>
            <a:endParaRPr kumimoji="1" sz="32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3432175" y="6086475"/>
            <a:ext cx="5943600" cy="48323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重庆大学数学与统计学院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 descr="重大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078605" y="6065520"/>
            <a:ext cx="517525" cy="517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120904" y="191897"/>
            <a:ext cx="5543550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fontAlgn="base"/>
            <a:r>
              <a:rPr lang="zh-CN" altLang="en-US" sz="3600" b="1" strike="noStrike" noProof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Mathematical </a:t>
            </a:r>
            <a:r>
              <a:rPr lang="en-US" altLang="zh-CN" sz="3600" b="1" strike="noStrike" noProof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Experiments</a:t>
            </a:r>
            <a:endParaRPr lang="en-US" altLang="zh-CN" sz="3600" b="1" strike="noStrike" noProof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  <p:custDataLst>
      <p:tags r:id="rId2"/>
    </p:custDataLst>
  </p:cSld>
  <p:clrMapOvr>
    <a:masterClrMapping/>
  </p:clrMapOvr>
  <p:transition advTm="6947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4000" dirty="0">
                <a:effectLst/>
                <a:latin typeface="粗标宋体" charset="0"/>
                <a:ea typeface="粗标宋体" charset="0"/>
              </a:rPr>
              <a:t>主要内容</a:t>
            </a:r>
            <a:endParaRPr lang="zh-CN" altLang="zh-CN" sz="4000" dirty="0"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13" name="Picture 23" descr="C:\WINDOWS\Application Data\Microsoft\Media Catalog\Bd14572_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447" y="2191965"/>
            <a:ext cx="228600" cy="22860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23" name="圆角矩形 22"/>
          <p:cNvSpPr/>
          <p:nvPr>
            <p:custDataLst>
              <p:tags r:id="rId2"/>
            </p:custDataLst>
          </p:nvPr>
        </p:nvSpPr>
        <p:spPr>
          <a:xfrm>
            <a:off x="2498389" y="1720477"/>
            <a:ext cx="2897505" cy="137287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>
            <a:normAutofit/>
          </a:bodyPr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操作界面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泪滴形 23"/>
          <p:cNvSpPr/>
          <p:nvPr>
            <p:custDataLst>
              <p:tags r:id="rId3"/>
            </p:custDataLst>
          </p:nvPr>
        </p:nvSpPr>
        <p:spPr>
          <a:xfrm>
            <a:off x="3787439" y="1377577"/>
            <a:ext cx="889000" cy="889000"/>
          </a:xfrm>
          <a:prstGeom prst="teardrop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sz="4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25">
            <a:hlinkClick r:id="rId4" action="ppaction://hlinksldjump"/>
          </p:cNvPr>
          <p:cNvSpPr/>
          <p:nvPr>
            <p:custDataLst>
              <p:tags r:id="rId5"/>
            </p:custDataLst>
          </p:nvPr>
        </p:nvSpPr>
        <p:spPr>
          <a:xfrm>
            <a:off x="6573819" y="1720477"/>
            <a:ext cx="3078480" cy="138811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>
            <a:normAutofit/>
          </a:bodyPr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变量及其创建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泪滴形 26"/>
          <p:cNvSpPr/>
          <p:nvPr>
            <p:custDataLst>
              <p:tags r:id="rId6"/>
            </p:custDataLst>
          </p:nvPr>
        </p:nvSpPr>
        <p:spPr>
          <a:xfrm>
            <a:off x="7302799" y="1377577"/>
            <a:ext cx="889000" cy="889000"/>
          </a:xfrm>
          <a:prstGeom prst="teardrop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zh-CN" sz="4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>
            <a:hlinkClick r:id="rId7" action="ppaction://hlinksldjump"/>
          </p:cNvPr>
          <p:cNvSpPr/>
          <p:nvPr>
            <p:custDataLst>
              <p:tags r:id="rId8"/>
            </p:custDataLst>
          </p:nvPr>
        </p:nvSpPr>
        <p:spPr>
          <a:xfrm>
            <a:off x="2529952" y="4229474"/>
            <a:ext cx="2896870" cy="132715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>
            <a:normAutofit/>
          </a:bodyPr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搜索路径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泪滴形 28"/>
          <p:cNvSpPr/>
          <p:nvPr>
            <p:custDataLst>
              <p:tags r:id="rId9"/>
            </p:custDataLst>
          </p:nvPr>
        </p:nvSpPr>
        <p:spPr>
          <a:xfrm>
            <a:off x="3819637" y="3886393"/>
            <a:ext cx="889000" cy="889000"/>
          </a:xfrm>
          <a:prstGeom prst="teardrop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zh-CN" sz="4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10"/>
            </p:custDataLst>
          </p:nvPr>
        </p:nvSpPr>
        <p:spPr>
          <a:xfrm>
            <a:off x="6605382" y="4229474"/>
            <a:ext cx="3088640" cy="132715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accent5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>
            <a:normAutofit/>
          </a:bodyPr>
          <a:lstStyle/>
          <a:p>
            <a:pPr algn="ctr"/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帮助系统</a:t>
            </a:r>
            <a:endParaRPr lang="zh-CN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泪滴形 30"/>
          <p:cNvSpPr/>
          <p:nvPr>
            <p:custDataLst>
              <p:tags r:id="rId11"/>
            </p:custDataLst>
          </p:nvPr>
        </p:nvSpPr>
        <p:spPr>
          <a:xfrm>
            <a:off x="7334997" y="3886393"/>
            <a:ext cx="889000" cy="889000"/>
          </a:xfrm>
          <a:prstGeom prst="teardrop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zh-CN" sz="440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0462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 smtClean="0">
                <a:effectLst/>
                <a:latin typeface="粗标宋体" charset="0"/>
                <a:ea typeface="粗标宋体" charset="0"/>
              </a:rPr>
              <a:t>操作界面</a:t>
            </a:r>
            <a:endParaRPr lang="zh-CN" altLang="zh-CN" sz="4000" dirty="0">
              <a:effectLst/>
              <a:latin typeface="粗标宋体" charset="0"/>
              <a:ea typeface="粗标宋体" charset="0"/>
            </a:endParaRPr>
          </a:p>
        </p:txBody>
      </p:sp>
      <p:sp>
        <p:nvSpPr>
          <p:cNvPr id="21" name="Text Box 3093"/>
          <p:cNvSpPr txBox="1">
            <a:spLocks noChangeArrowheads="1"/>
          </p:cNvSpPr>
          <p:nvPr/>
        </p:nvSpPr>
        <p:spPr bwMode="auto">
          <a:xfrm>
            <a:off x="2465315" y="2152608"/>
            <a:ext cx="36710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8FD4FF"/>
                    </a:gs>
                    <a:gs pos="100000">
                      <a:srgbClr val="8FD4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1</a:t>
            </a:r>
            <a:r>
              <a:rPr lang="en-US" altLang="zh-CN" sz="2800" dirty="0" smtClean="0"/>
              <a:t>. </a:t>
            </a:r>
            <a:r>
              <a:rPr lang="zh-CN" altLang="en-US" sz="2800" dirty="0" smtClean="0"/>
              <a:t>功能区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2. </a:t>
            </a:r>
            <a:r>
              <a:rPr lang="zh-CN" altLang="en-US" sz="2800" dirty="0" smtClean="0"/>
              <a:t>当前文件夹</a:t>
            </a: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3. </a:t>
            </a:r>
            <a:r>
              <a:rPr lang="zh-CN" altLang="en-US" sz="2800" dirty="0" smtClean="0"/>
              <a:t>命令窗口</a:t>
            </a:r>
            <a:endParaRPr lang="zh-CN" altLang="en-US" sz="2800" dirty="0"/>
          </a:p>
        </p:txBody>
      </p:sp>
      <p:sp>
        <p:nvSpPr>
          <p:cNvPr id="25" name="Text Box 3093"/>
          <p:cNvSpPr txBox="1">
            <a:spLocks noChangeArrowheads="1"/>
          </p:cNvSpPr>
          <p:nvPr/>
        </p:nvSpPr>
        <p:spPr bwMode="auto">
          <a:xfrm>
            <a:off x="6998335" y="2044800"/>
            <a:ext cx="32790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8FD4FF"/>
                    </a:gs>
                    <a:gs pos="100000">
                      <a:srgbClr val="8FD4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4. </a:t>
            </a:r>
            <a:r>
              <a:rPr lang="zh-CN" altLang="en-US" sz="2800" dirty="0"/>
              <a:t>工作区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 smtClean="0"/>
              <a:t>5. </a:t>
            </a:r>
            <a:r>
              <a:rPr lang="zh-CN" altLang="en-US" sz="2800" dirty="0" smtClean="0"/>
              <a:t>程序编辑</a:t>
            </a:r>
            <a:r>
              <a:rPr lang="zh-CN" altLang="en-US" sz="2800" dirty="0"/>
              <a:t>窗口</a:t>
            </a:r>
            <a:endParaRPr lang="en-US" altLang="zh-CN" sz="2800" dirty="0" smtClean="0"/>
          </a:p>
          <a:p>
            <a:pPr algn="l">
              <a:lnSpc>
                <a:spcPct val="150000"/>
              </a:lnSpc>
            </a:pPr>
            <a:r>
              <a:rPr lang="en-US" altLang="zh-CN" sz="2800" dirty="0" smtClean="0">
                <a:latin typeface="Times New Roman" panose="02020603050405020304" pitchFamily="18" charset="0"/>
              </a:rPr>
              <a:t>6. 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脚本文件</a:t>
            </a:r>
            <a:endParaRPr lang="en-US" altLang="zh-CN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/>
        </p:nvSpPr>
        <p:spPr>
          <a:xfrm>
            <a:off x="1101407" y="73190"/>
            <a:ext cx="4644969" cy="5486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72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操作界面</a:t>
            </a: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292" y="540328"/>
            <a:ext cx="10878508" cy="949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94292" y="1489462"/>
            <a:ext cx="4644079" cy="2812029"/>
            <a:chOff x="94292" y="1489462"/>
            <a:chExt cx="4644079" cy="2812029"/>
          </a:xfrm>
        </p:grpSpPr>
        <p:sp>
          <p:nvSpPr>
            <p:cNvPr id="17" name="矩形 16"/>
            <p:cNvSpPr/>
            <p:nvPr/>
          </p:nvSpPr>
          <p:spPr>
            <a:xfrm>
              <a:off x="1314121" y="1489462"/>
              <a:ext cx="3424250" cy="20922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94292" y="1953491"/>
              <a:ext cx="2981813" cy="2348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accent1"/>
                  </a:solidFill>
                </a:rPr>
                <a:t>当前文件夹</a:t>
              </a:r>
              <a:endParaRPr lang="en-US" altLang="zh-CN" sz="2800" dirty="0" smtClean="0">
                <a:solidFill>
                  <a:schemeClr val="accent1"/>
                </a:solidFill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1213909" y="1635555"/>
              <a:ext cx="1143398" cy="84294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998"/>
    </mc:Choice>
    <mc:Fallback>
      <p:transition spd="slow" advTm="669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/>
        </p:nvSpPr>
        <p:spPr>
          <a:xfrm>
            <a:off x="1101407" y="73190"/>
            <a:ext cx="3034175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当前文件夹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899" y="1223829"/>
            <a:ext cx="9638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       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r>
              <a:rPr lang="zh-CN" altLang="en-US" sz="2400" dirty="0" smtClean="0">
                <a:solidFill>
                  <a:srgbClr val="C00000"/>
                </a:solidFill>
              </a:rPr>
              <a:t>当前文件夹</a:t>
            </a:r>
            <a:r>
              <a:rPr lang="zh-CN" altLang="en-US" sz="2400" dirty="0" smtClean="0"/>
              <a:t>是</a:t>
            </a:r>
            <a:r>
              <a:rPr lang="en-US" altLang="zh-CN" sz="2400" dirty="0" smtClean="0"/>
              <a:t>MATLAB</a:t>
            </a:r>
            <a:r>
              <a:rPr lang="zh-CN" altLang="en-US" sz="2400" dirty="0" smtClean="0"/>
              <a:t>读取和存储文件的默认文件夹。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       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zh-CN" altLang="en-US" sz="2400" dirty="0" smtClean="0">
                <a:solidFill>
                  <a:srgbClr val="C00000"/>
                </a:solidFill>
              </a:rPr>
              <a:t>当前文件夹可以修改或新建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26633" y="3838188"/>
            <a:ext cx="8720140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      为了更有条理地分类存放你编写的程序，可以新建当前文件夹，鼠标点击文件夹路径左边的按钮，点击“新建文件夹”，修改文件夹名称。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087" y="2519203"/>
            <a:ext cx="7186723" cy="8390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813464" y="2657850"/>
            <a:ext cx="322118" cy="2872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240"/>
    </mc:Choice>
    <mc:Fallback>
      <p:transition spd="slow" advTm="4924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/>
        </p:nvSpPr>
        <p:spPr>
          <a:xfrm>
            <a:off x="1101407" y="73190"/>
            <a:ext cx="4644969" cy="5486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72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操作界面</a:t>
            </a: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38054" y="1953490"/>
            <a:ext cx="8946573" cy="45616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46376" y="3626082"/>
            <a:ext cx="2917659" cy="5847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rgbClr val="C00000"/>
                </a:solidFill>
              </a:rPr>
              <a:t>命令行窗口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58"/>
    </mc:Choice>
    <mc:Fallback>
      <p:transition spd="slow" advTm="10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08" y="1551621"/>
            <a:ext cx="9330431" cy="488480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657599" y="3058600"/>
            <a:ext cx="6791417" cy="31468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960256" y="3184185"/>
            <a:ext cx="2762391" cy="809838"/>
            <a:chOff x="4086705" y="2471720"/>
            <a:chExt cx="2762391" cy="809838"/>
          </a:xfrm>
        </p:grpSpPr>
        <p:grpSp>
          <p:nvGrpSpPr>
            <p:cNvPr id="3" name="组合 2"/>
            <p:cNvGrpSpPr/>
            <p:nvPr/>
          </p:nvGrpSpPr>
          <p:grpSpPr>
            <a:xfrm>
              <a:off x="4460588" y="2653374"/>
              <a:ext cx="2388508" cy="628184"/>
              <a:chOff x="4153117" y="2527605"/>
              <a:chExt cx="2388508" cy="628184"/>
            </a:xfrm>
          </p:grpSpPr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5093825" y="2779551"/>
                <a:ext cx="1447800" cy="376238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rgbClr val="CC0000"/>
                </a:solidFill>
                <a:miter lim="800000"/>
              </a:ln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D009A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00FF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 b="1" dirty="0">
                    <a:solidFill>
                      <a:srgbClr val="FF0000"/>
                    </a:solidFill>
                    <a:latin typeface="Monotype Corsiva" panose="03010101010201010101" pitchFamily="66" charset="0"/>
                    <a:ea typeface="楷体_GB2312" panose="02010609030101010101" pitchFamily="49" charset="-122"/>
                  </a:rPr>
                  <a:t>命令提示符</a:t>
                </a:r>
                <a:endParaRPr lang="zh-CN" altLang="en-US" sz="1800" b="1" dirty="0">
                  <a:solidFill>
                    <a:srgbClr val="FF0000"/>
                  </a:solidFill>
                  <a:latin typeface="Monotype Corsiva" panose="03010101010201010101" pitchFamily="66" charset="0"/>
                  <a:ea typeface="楷体_GB2312" panose="02010609030101010101" pitchFamily="49" charset="-122"/>
                </a:endParaRPr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 flipH="1" flipV="1">
                <a:off x="4153117" y="2527605"/>
                <a:ext cx="943379" cy="39425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4086705" y="2471720"/>
              <a:ext cx="373883" cy="43661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 Box 1027"/>
          <p:cNvSpPr txBox="1">
            <a:spLocks noChangeArrowheads="1"/>
          </p:cNvSpPr>
          <p:nvPr/>
        </p:nvSpPr>
        <p:spPr bwMode="auto">
          <a:xfrm>
            <a:off x="3640272" y="764969"/>
            <a:ext cx="70815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用于输入命令（或语句），显示命令执行后的结果。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endParaRPr lang="en-US" altLang="zh-CN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标题 1"/>
          <p:cNvSpPr>
            <a:spLocks noGrp="1"/>
          </p:cNvSpPr>
          <p:nvPr/>
        </p:nvSpPr>
        <p:spPr>
          <a:xfrm>
            <a:off x="1087562" y="20915"/>
            <a:ext cx="5105420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命令行窗口</a:t>
            </a: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28795" y="810970"/>
            <a:ext cx="2048085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命令行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窗口</a:t>
            </a:r>
            <a:endParaRPr lang="zh-CN" altLang="en-US" sz="2800" dirty="0"/>
          </a:p>
        </p:txBody>
      </p:sp>
      <p:cxnSp>
        <p:nvCxnSpPr>
          <p:cNvPr id="9" name="直接箭头连接符 8"/>
          <p:cNvCxnSpPr>
            <a:stCxn id="16" idx="3"/>
          </p:cNvCxnSpPr>
          <p:nvPr/>
        </p:nvCxnSpPr>
        <p:spPr>
          <a:xfrm>
            <a:off x="2976880" y="1072580"/>
            <a:ext cx="2811361" cy="240083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039"/>
    </mc:Choice>
    <mc:Fallback>
      <p:transition spd="slow" advTm="31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/>
        </p:nvSpPr>
        <p:spPr>
          <a:xfrm>
            <a:off x="1101407" y="73190"/>
            <a:ext cx="4644969" cy="5486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72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操作界面</a:t>
            </a: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38054" y="1953490"/>
            <a:ext cx="8946573" cy="45616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46376" y="3626082"/>
            <a:ext cx="2917659" cy="5847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rgbClr val="C00000"/>
                </a:solidFill>
              </a:rPr>
              <a:t>命令行窗口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4292" y="1489462"/>
            <a:ext cx="4644079" cy="2812029"/>
            <a:chOff x="94292" y="1489462"/>
            <a:chExt cx="4644079" cy="2812029"/>
          </a:xfrm>
        </p:grpSpPr>
        <p:sp>
          <p:nvSpPr>
            <p:cNvPr id="17" name="矩形 16"/>
            <p:cNvSpPr/>
            <p:nvPr/>
          </p:nvSpPr>
          <p:spPr>
            <a:xfrm>
              <a:off x="1314121" y="1489462"/>
              <a:ext cx="3424250" cy="20922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94292" y="1953491"/>
              <a:ext cx="2981813" cy="2348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accent1"/>
                  </a:solidFill>
                </a:rPr>
                <a:t>当前文件夹</a:t>
              </a:r>
              <a:endParaRPr lang="en-US" altLang="zh-CN" sz="2800" dirty="0" smtClean="0">
                <a:solidFill>
                  <a:schemeClr val="accent1"/>
                </a:solidFill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1213909" y="1635555"/>
              <a:ext cx="1143398" cy="842945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94292" y="4894118"/>
            <a:ext cx="2981813" cy="1701378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C000"/>
                </a:solidFill>
              </a:rPr>
              <a:t>工作区</a:t>
            </a:r>
            <a:endParaRPr lang="en-US" altLang="zh-CN" sz="2800" dirty="0" smtClean="0">
              <a:solidFill>
                <a:srgbClr val="FFC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65"/>
    </mc:Choice>
    <mc:Fallback>
      <p:transition spd="slow" advTm="52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25" y="1907163"/>
            <a:ext cx="8714705" cy="452556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8331" y="905451"/>
            <a:ext cx="1392009" cy="52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工作区</a:t>
            </a:r>
            <a:endParaRPr lang="zh-CN" altLang="en-US" sz="2800" dirty="0"/>
          </a:p>
        </p:txBody>
      </p:sp>
      <p:cxnSp>
        <p:nvCxnSpPr>
          <p:cNvPr id="5" name="直接箭头连接符 4"/>
          <p:cNvCxnSpPr>
            <a:stCxn id="7" idx="2"/>
          </p:cNvCxnSpPr>
          <p:nvPr/>
        </p:nvCxnSpPr>
        <p:spPr>
          <a:xfrm>
            <a:off x="1544336" y="1428671"/>
            <a:ext cx="1527338" cy="35073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601158" y="5165011"/>
            <a:ext cx="2148396" cy="10209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495662" y="829945"/>
            <a:ext cx="90165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命令执行后所创建</a:t>
            </a:r>
            <a:r>
              <a:rPr lang="zh-CN" altLang="en-US" sz="3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的所有变量值都</a:t>
            </a:r>
            <a:r>
              <a:rPr lang="zh-CN" altLang="en-US" sz="32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存储在</a:t>
            </a:r>
            <a:r>
              <a:rPr lang="en-US" altLang="zh-CN" sz="32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32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的内存空间了，工作区记录了创建的</a:t>
            </a:r>
            <a:r>
              <a:rPr lang="zh-CN" altLang="en-US" sz="32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所有</a:t>
            </a:r>
            <a:r>
              <a:rPr lang="zh-CN" altLang="en-US" sz="32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变量。</a:t>
            </a:r>
            <a:endParaRPr lang="zh-CN" altLang="en-US" sz="32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工作区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77"/>
    </mc:Choice>
    <mc:Fallback>
      <p:transition spd="slow" advTm="1287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Text Box 1027"/>
          <p:cNvSpPr txBox="1">
            <a:spLocks noChangeArrowheads="1"/>
          </p:cNvSpPr>
          <p:nvPr/>
        </p:nvSpPr>
        <p:spPr bwMode="auto">
          <a:xfrm>
            <a:off x="477027" y="812022"/>
            <a:ext cx="99061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赋值语句的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一般形式为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： 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  （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）变量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     （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）表达式      </a:t>
            </a:r>
            <a:endParaRPr lang="en-US" altLang="zh-CN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101407" y="73190"/>
            <a:ext cx="5476038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命令或语句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44928"/>
            <a:ext cx="7884037" cy="471826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93"/>
    </mc:Choice>
    <mc:Fallback>
      <p:transition spd="slow" advTm="318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5" name="Text Box 3"/>
          <p:cNvSpPr txBox="1">
            <a:spLocks noChangeArrowheads="1"/>
          </p:cNvSpPr>
          <p:nvPr/>
        </p:nvSpPr>
        <p:spPr bwMode="auto">
          <a:xfrm>
            <a:off x="1101407" y="1917261"/>
            <a:ext cx="1012603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”，不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结果，但会计算表达式的值并赋给左边的变量；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跟‘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’或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Enter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，将显示表达式的计算结果；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</a:t>
            </a:r>
            <a:r>
              <a:rPr lang="zh-CN" altLang="en-US" sz="2400" dirty="0" smtClean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跟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…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，该命令行未完待续。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996" name="Text Box 4"/>
          <p:cNvSpPr txBox="1">
            <a:spLocks noChangeArrowheads="1"/>
          </p:cNvSpPr>
          <p:nvPr/>
        </p:nvSpPr>
        <p:spPr bwMode="auto">
          <a:xfrm>
            <a:off x="180025" y="932533"/>
            <a:ext cx="10243596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赋值</a:t>
            </a: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语句的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结束</a:t>
            </a:r>
            <a:r>
              <a:rPr lang="zh-CN" altLang="en-US" sz="2800" b="1" dirty="0" smtClean="0">
                <a:latin typeface="微软雅黑" panose="020B0503020204020204" charset="-122"/>
                <a:ea typeface="微软雅黑" panose="020B0503020204020204" charset="-122"/>
              </a:rPr>
              <a:t>标示</a:t>
            </a:r>
            <a:r>
              <a:rPr lang="en-US" altLang="zh-CN" sz="2800" b="1" dirty="0" smtClean="0"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’‘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’‘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…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和回车的作用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赋值语句结束符号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173" y="3590905"/>
            <a:ext cx="5359356" cy="3116030"/>
          </a:xfrm>
          <a:prstGeom prst="rect">
            <a:avLst/>
          </a:prstGeom>
        </p:spPr>
      </p:pic>
      <p:sp>
        <p:nvSpPr>
          <p:cNvPr id="4" name="矩形标注 3"/>
          <p:cNvSpPr/>
          <p:nvPr/>
        </p:nvSpPr>
        <p:spPr>
          <a:xfrm>
            <a:off x="4867835" y="4742329"/>
            <a:ext cx="1192306" cy="528918"/>
          </a:xfrm>
          <a:prstGeom prst="wedgeRectCallout">
            <a:avLst>
              <a:gd name="adj1" fmla="val -50156"/>
              <a:gd name="adj2" fmla="val 963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续行符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4616826" y="5432612"/>
            <a:ext cx="251009" cy="3137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123"/>
    </mc:Choice>
    <mc:Fallback>
      <p:transition spd="slow" advTm="741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Text Box 1027"/>
          <p:cNvSpPr txBox="1">
            <a:spLocks noChangeArrowheads="1"/>
          </p:cNvSpPr>
          <p:nvPr/>
        </p:nvSpPr>
        <p:spPr bwMode="auto">
          <a:xfrm>
            <a:off x="2467336" y="1603398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按‘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’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键，重新调入上一命令行；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  按‘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’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键，重新调入下一命令行；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‘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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’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, ‘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’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键可左右移动光标；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‘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Home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键，光标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移到行首； 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  ‘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End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键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光标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移到行尾；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  ‘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Esc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键，清除当前命令行；</a:t>
            </a:r>
            <a:endParaRPr lang="en-US" altLang="zh-CN" sz="28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·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 ‘</a:t>
            </a:r>
            <a:r>
              <a:rPr lang="en-US" altLang="zh-CN" sz="2800" dirty="0" err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clc</a:t>
            </a:r>
            <a:r>
              <a:rPr lang="en-US" altLang="zh-CN" sz="2800" dirty="0" smtClean="0">
                <a:latin typeface="微软雅黑" panose="020B0503020204020204" charset="-122"/>
                <a:ea typeface="微软雅黑" panose="020B0503020204020204" charset="-122"/>
              </a:rPr>
              <a:t>’</a:t>
            </a: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命令，清除命令行窗口的所有文字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 smtClean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…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573" name="Text Box 1029"/>
          <p:cNvSpPr txBox="1">
            <a:spLocks noChangeArrowheads="1"/>
          </p:cNvSpPr>
          <p:nvPr/>
        </p:nvSpPr>
        <p:spPr bwMode="auto">
          <a:xfrm>
            <a:off x="1101407" y="772401"/>
            <a:ext cx="874184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用于命令行编辑的控制</a:t>
            </a:r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键、方向键和</a:t>
            </a:r>
            <a:r>
              <a:rPr lang="en-US" altLang="zh-CN" sz="3200" dirty="0" err="1" smtClean="0">
                <a:latin typeface="微软雅黑" panose="020B0503020204020204" charset="-122"/>
                <a:ea typeface="微软雅黑" panose="020B0503020204020204" charset="-122"/>
              </a:rPr>
              <a:t>clc</a:t>
            </a:r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</a:rPr>
              <a:t>命令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101407" y="73190"/>
            <a:ext cx="6120275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命令行编辑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601"/>
    </mc:Choice>
    <mc:Fallback>
      <p:transition spd="slow" advTm="3260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9" name="Text Box 13" descr="羊皮纸"/>
          <p:cNvSpPr txBox="1">
            <a:spLocks noChangeArrowheads="1"/>
          </p:cNvSpPr>
          <p:nvPr/>
        </p:nvSpPr>
        <p:spPr bwMode="auto">
          <a:xfrm>
            <a:off x="754602" y="1044661"/>
            <a:ext cx="2417413" cy="4832092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0070C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主页单击“新建脚本”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按钮，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就会弹出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程序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编辑器窗口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，在此可建立和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编辑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程序，脚本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endParaRPr lang="en-US" altLang="zh-CN" sz="2800" dirty="0" smtClean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just"/>
            <a:endParaRPr lang="en-US" altLang="zh-CN" sz="2800" dirty="0" smtClean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just"/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1101407" y="73190"/>
            <a:ext cx="4315545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程序编辑器窗口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902" y="1044661"/>
            <a:ext cx="8097463" cy="486074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529073" y="2395564"/>
            <a:ext cx="5905366" cy="2096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360257" y="3029820"/>
            <a:ext cx="3266611" cy="5847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D009A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程序编辑器窗口</a:t>
            </a:r>
            <a:endParaRPr lang="zh-CN" altLang="en-US" b="1" dirty="0">
              <a:solidFill>
                <a:srgbClr val="FF0000"/>
              </a:solidFill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24"/>
    </mc:Choice>
    <mc:Fallback>
      <p:transition spd="slow" advTm="318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Text Box 1027"/>
          <p:cNvSpPr txBox="1">
            <a:spLocks noChangeArrowheads="1"/>
          </p:cNvSpPr>
          <p:nvPr/>
        </p:nvSpPr>
        <p:spPr bwMode="auto">
          <a:xfrm>
            <a:off x="1518439" y="993052"/>
            <a:ext cx="99061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注意：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  </a:t>
            </a: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“%”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符号后是注释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    </a:t>
            </a:r>
            <a:endParaRPr lang="en-US" altLang="zh-CN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脚本文件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1027"/>
          <p:cNvSpPr txBox="1">
            <a:spLocks noChangeArrowheads="1"/>
          </p:cNvSpPr>
          <p:nvPr/>
        </p:nvSpPr>
        <p:spPr bwMode="auto">
          <a:xfrm>
            <a:off x="1518439" y="2262812"/>
            <a:ext cx="990611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  脚本文件是静态的，没有外部输入和输出</a:t>
            </a: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  在脚本执行后，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在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脚本中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建立或修改的所有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变量的值都会保存下来，在工作区可以看到。</a:t>
            </a:r>
            <a:endParaRPr lang="en-US" altLang="zh-CN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867"/>
    </mc:Choice>
    <mc:Fallback>
      <p:transition spd="slow" advTm="788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utoUpdateAnimBg="0"/>
      <p:bldP spid="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123950" y="1114340"/>
            <a:ext cx="4305178" cy="584775"/>
          </a:xfrm>
          <a:prstGeom prst="rect">
            <a:avLst/>
          </a:prstGeom>
          <a:noFill/>
          <a:ln w="57150" cmpd="thinThick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文件的命名规则</a:t>
            </a:r>
            <a:endParaRPr kumimoji="1"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711242" y="1997898"/>
            <a:ext cx="9076362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1" dirty="0">
                <a:latin typeface="+mn-ea"/>
              </a:rPr>
              <a:t> 1</a:t>
            </a:r>
            <a:r>
              <a:rPr lang="zh-CN" altLang="en-US" sz="2400" b="1" dirty="0">
                <a:latin typeface="+mn-ea"/>
              </a:rPr>
              <a:t>）</a:t>
            </a:r>
            <a:r>
              <a:rPr lang="zh-CN" altLang="en-US" sz="2400" b="1" dirty="0" smtClean="0">
                <a:latin typeface="+mn-ea"/>
              </a:rPr>
              <a:t>以英文字母</a:t>
            </a:r>
            <a:r>
              <a:rPr lang="zh-CN" altLang="en-US" sz="2400" b="1" dirty="0">
                <a:latin typeface="+mn-ea"/>
              </a:rPr>
              <a:t>开头，</a:t>
            </a:r>
            <a:r>
              <a:rPr lang="zh-CN" altLang="en-US" sz="2400" b="1" dirty="0" smtClean="0">
                <a:latin typeface="+mn-ea"/>
              </a:rPr>
              <a:t>后面是字母</a:t>
            </a:r>
            <a:r>
              <a:rPr lang="zh-CN" altLang="en-US" sz="2400" b="1" dirty="0">
                <a:latin typeface="+mn-ea"/>
              </a:rPr>
              <a:t>，数字和下</a:t>
            </a:r>
            <a:r>
              <a:rPr lang="zh-CN" altLang="en-US" sz="2400" b="1" dirty="0" smtClean="0">
                <a:latin typeface="+mn-ea"/>
              </a:rPr>
              <a:t>短线的任意组合；</a:t>
            </a:r>
            <a:endParaRPr lang="zh-CN" altLang="en-US" sz="2400" b="1" dirty="0">
              <a:latin typeface="+mn-ea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latin typeface="+mn-ea"/>
              </a:rPr>
              <a:t> </a:t>
            </a:r>
            <a:r>
              <a:rPr lang="en-US" altLang="zh-CN" sz="2400" b="1" dirty="0">
                <a:latin typeface="+mn-ea"/>
              </a:rPr>
              <a:t>2</a:t>
            </a:r>
            <a:r>
              <a:rPr lang="zh-CN" altLang="en-US" sz="2400" b="1" dirty="0">
                <a:latin typeface="+mn-ea"/>
              </a:rPr>
              <a:t>）大小写字母有</a:t>
            </a:r>
            <a:r>
              <a:rPr lang="zh-CN" altLang="en-US" sz="2400" b="1" dirty="0" smtClean="0">
                <a:latin typeface="+mn-ea"/>
              </a:rPr>
              <a:t>区别。</a:t>
            </a:r>
            <a:r>
              <a:rPr lang="en-US" altLang="zh-CN" sz="2400" b="1" dirty="0" smtClean="0">
                <a:latin typeface="+mn-ea"/>
              </a:rPr>
              <a:t> 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01407" y="73190"/>
            <a:ext cx="4315545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MATLAB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脚本文件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1036"/>
          <p:cNvSpPr txBox="1">
            <a:spLocks noChangeArrowheads="1"/>
          </p:cNvSpPr>
          <p:nvPr/>
        </p:nvSpPr>
        <p:spPr bwMode="auto">
          <a:xfrm>
            <a:off x="1711242" y="3964572"/>
            <a:ext cx="88312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注意：由于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MATLAB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有很多内置函数，我们的文件名要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尽量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避免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与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MATLAB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中的内部函数名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相同。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237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/>
          <p:cNvSpPr txBox="1">
            <a:spLocks noChangeArrowheads="1"/>
          </p:cNvSpPr>
          <p:nvPr/>
        </p:nvSpPr>
        <p:spPr bwMode="auto">
          <a:xfrm>
            <a:off x="1883473" y="1673326"/>
            <a:ext cx="9359491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4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）</a:t>
            </a:r>
            <a:r>
              <a:rPr lang="en-US" altLang="zh-CN" sz="2800" dirty="0" smtClean="0">
                <a:latin typeface="+mn-ea"/>
              </a:rPr>
              <a:t>MATLAB</a:t>
            </a:r>
            <a:r>
              <a:rPr lang="zh-CN" altLang="en-US" sz="2800" dirty="0" smtClean="0">
                <a:latin typeface="+mn-ea"/>
              </a:rPr>
              <a:t>是一种“弱化类型”的语言；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zh-CN" altLang="en-US" sz="2800" dirty="0">
                <a:latin typeface="+mn-ea"/>
              </a:rPr>
              <a:t> </a:t>
            </a: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 smtClean="0">
                <a:latin typeface="+mn-ea"/>
              </a:rPr>
              <a:t>不需要初始化变量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 smtClean="0">
                <a:latin typeface="+mn-ea"/>
              </a:rPr>
              <a:t> 2</a:t>
            </a:r>
            <a:r>
              <a:rPr lang="zh-CN" altLang="en-US" sz="2800" dirty="0" smtClean="0">
                <a:latin typeface="+mn-ea"/>
              </a:rPr>
              <a:t>）</a:t>
            </a:r>
            <a:r>
              <a:rPr lang="en-US" altLang="zh-CN" sz="2800" dirty="0" smtClean="0">
                <a:latin typeface="+mn-ea"/>
              </a:rPr>
              <a:t>MATLAB</a:t>
            </a:r>
            <a:r>
              <a:rPr lang="zh-CN" altLang="en-US" sz="2800" dirty="0" smtClean="0">
                <a:latin typeface="+mn-ea"/>
              </a:rPr>
              <a:t>支持各种类型；最常见的是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</a:t>
            </a:r>
            <a:r>
              <a:rPr lang="en-US" altLang="zh-CN" sz="2800" dirty="0" smtClean="0">
                <a:latin typeface="+mn-ea"/>
                <a:sym typeface="Symbol" panose="05050102010706020507" pitchFamily="18" charset="2"/>
              </a:rPr>
              <a:t>  </a:t>
            </a:r>
            <a:r>
              <a:rPr lang="en-US" altLang="zh-CN" sz="2800" dirty="0" smtClean="0">
                <a:latin typeface="+mn-ea"/>
              </a:rPr>
              <a:t>5.26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      </a:t>
            </a:r>
            <a:r>
              <a:rPr lang="en-US" altLang="zh-CN" sz="2800" dirty="0" smtClean="0">
                <a:latin typeface="+mn-ea"/>
                <a:sym typeface="Symbol" panose="05050102010706020507" pitchFamily="18" charset="2"/>
              </a:rPr>
              <a:t> </a:t>
            </a:r>
            <a:r>
              <a:rPr lang="en-US" altLang="zh-CN" sz="2800" dirty="0" smtClean="0">
                <a:latin typeface="+mn-ea"/>
              </a:rPr>
              <a:t>64</a:t>
            </a:r>
            <a:r>
              <a:rPr lang="zh-CN" altLang="en-US" sz="2800" dirty="0" smtClean="0">
                <a:latin typeface="+mn-ea"/>
              </a:rPr>
              <a:t>位双精度（缺省）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</a:t>
            </a:r>
            <a:r>
              <a:rPr lang="en-US" altLang="zh-CN" sz="2800" dirty="0" smtClean="0">
                <a:latin typeface="+mn-ea"/>
              </a:rPr>
              <a:t>‘A’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      </a:t>
            </a:r>
            <a:r>
              <a:rPr lang="en-US" altLang="zh-CN" sz="2800" dirty="0" smtClean="0">
                <a:latin typeface="+mn-ea"/>
                <a:sym typeface="Symbol" panose="05050102010706020507" pitchFamily="18" charset="2"/>
              </a:rPr>
              <a:t> </a:t>
            </a:r>
            <a:r>
              <a:rPr lang="en-US" altLang="zh-CN" sz="2800" dirty="0" smtClean="0">
                <a:latin typeface="+mn-ea"/>
              </a:rPr>
              <a:t>16</a:t>
            </a:r>
            <a:r>
              <a:rPr lang="zh-CN" altLang="en-US" sz="2800" dirty="0" smtClean="0">
                <a:latin typeface="+mn-ea"/>
              </a:rPr>
              <a:t>位字符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800" dirty="0" smtClean="0">
                <a:latin typeface="+mn-ea"/>
              </a:rPr>
              <a:t>3</a:t>
            </a:r>
            <a:r>
              <a:rPr lang="zh-CN" altLang="en-US" sz="2800" dirty="0" smtClean="0">
                <a:latin typeface="+mn-ea"/>
              </a:rPr>
              <a:t>）其他类型也支持：复变量，符号变量，</a:t>
            </a:r>
            <a:r>
              <a:rPr lang="en-US" altLang="zh-CN" sz="2800" dirty="0" smtClean="0">
                <a:latin typeface="+mn-ea"/>
              </a:rPr>
              <a:t>16</a:t>
            </a:r>
            <a:r>
              <a:rPr lang="zh-CN" altLang="en-US" sz="2800" dirty="0" smtClean="0">
                <a:latin typeface="+mn-ea"/>
              </a:rPr>
              <a:t>位和</a:t>
            </a:r>
            <a:r>
              <a:rPr lang="en-US" altLang="zh-CN" sz="2800" dirty="0" smtClean="0">
                <a:latin typeface="+mn-ea"/>
              </a:rPr>
              <a:t>8</a:t>
            </a:r>
            <a:r>
              <a:rPr lang="zh-CN" altLang="en-US" sz="2800" dirty="0" smtClean="0">
                <a:latin typeface="+mn-ea"/>
              </a:rPr>
              <a:t>位整数等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1469501" y="844503"/>
            <a:ext cx="48372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变量类型</a:t>
            </a:r>
            <a:endParaRPr lang="zh-CN" altLang="en-US" sz="28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/>
          <p:cNvSpPr txBox="1">
            <a:spLocks noChangeArrowheads="1"/>
          </p:cNvSpPr>
          <p:nvPr/>
        </p:nvSpPr>
        <p:spPr bwMode="auto">
          <a:xfrm>
            <a:off x="1985735" y="4671387"/>
            <a:ext cx="935949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400" dirty="0">
                <a:latin typeface="+mn-ea"/>
              </a:rPr>
              <a:t> </a:t>
            </a:r>
            <a:r>
              <a:rPr lang="en-US" altLang="zh-CN" sz="2800" dirty="0">
                <a:latin typeface="+mn-ea"/>
              </a:rPr>
              <a:t>1</a:t>
            </a:r>
            <a:r>
              <a:rPr lang="zh-CN" altLang="en-US" sz="2800" dirty="0">
                <a:latin typeface="+mn-ea"/>
              </a:rPr>
              <a:t>）以字母开头，</a:t>
            </a:r>
            <a:r>
              <a:rPr lang="zh-CN" altLang="en-US" sz="2800" dirty="0" smtClean="0">
                <a:latin typeface="+mn-ea"/>
              </a:rPr>
              <a:t>后面是字母</a:t>
            </a:r>
            <a:r>
              <a:rPr lang="zh-CN" altLang="en-US" sz="2800" dirty="0">
                <a:latin typeface="+mn-ea"/>
              </a:rPr>
              <a:t>，数字和下</a:t>
            </a:r>
            <a:r>
              <a:rPr lang="zh-CN" altLang="en-US" sz="2800" dirty="0" smtClean="0">
                <a:latin typeface="+mn-ea"/>
              </a:rPr>
              <a:t>短线的任意组合；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zh-CN" altLang="en-US" sz="2800" dirty="0">
                <a:latin typeface="+mn-ea"/>
              </a:rPr>
              <a:t> </a:t>
            </a:r>
            <a:r>
              <a:rPr lang="en-US" altLang="zh-CN" sz="2800" dirty="0">
                <a:latin typeface="+mn-ea"/>
              </a:rPr>
              <a:t>2</a:t>
            </a:r>
            <a:r>
              <a:rPr lang="zh-CN" altLang="en-US" sz="2800" dirty="0">
                <a:latin typeface="+mn-ea"/>
              </a:rPr>
              <a:t>）大小写字母有</a:t>
            </a:r>
            <a:r>
              <a:rPr lang="zh-CN" altLang="en-US" sz="2800" dirty="0" smtClean="0">
                <a:latin typeface="+mn-ea"/>
              </a:rPr>
              <a:t>区别。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1501268" y="3915949"/>
            <a:ext cx="48372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变量的命名规则</a:t>
            </a:r>
            <a:endParaRPr lang="zh-CN" altLang="en-US" sz="28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1428532" y="973883"/>
            <a:ext cx="2362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创建变量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985735" y="1758758"/>
            <a:ext cx="935949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dirty="0" smtClean="0">
                <a:latin typeface="+mn-ea"/>
              </a:rPr>
              <a:t>创建变量，只需要将数值赋值给变量即可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ct val="0"/>
              </a:spcBef>
            </a:pP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 smtClean="0">
                <a:solidFill>
                  <a:srgbClr val="FF0000"/>
                </a:solidFill>
                <a:latin typeface="+mn-ea"/>
              </a:rPr>
              <a:t>myNumberVariable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=5.865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 smtClean="0">
                <a:solidFill>
                  <a:srgbClr val="FF0000"/>
                </a:solidFill>
                <a:latin typeface="+mn-ea"/>
              </a:rPr>
              <a:t>myStringVariable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=‘Zhang Hua’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2036618" y="2328705"/>
            <a:ext cx="774925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800" dirty="0" err="1">
                <a:solidFill>
                  <a:srgbClr val="C00000"/>
                </a:solidFill>
                <a:latin typeface="+mn-ea"/>
              </a:rPr>
              <a:t>ans</a:t>
            </a:r>
            <a:r>
              <a:rPr lang="en-US" altLang="zh-CN" sz="2800" dirty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</a:rPr>
              <a:t>   </a:t>
            </a:r>
            <a:r>
              <a:rPr lang="zh-CN" altLang="en-US" sz="2800" dirty="0" smtClean="0">
                <a:latin typeface="+mn-ea"/>
              </a:rPr>
              <a:t>用于</a:t>
            </a:r>
            <a:r>
              <a:rPr lang="zh-CN" altLang="en-US" sz="2800" dirty="0">
                <a:latin typeface="+mn-ea"/>
              </a:rPr>
              <a:t>结果的缺省变量名</a:t>
            </a:r>
            <a:r>
              <a:rPr lang="en-US" altLang="zh-CN" sz="2800" dirty="0">
                <a:latin typeface="+mn-ea"/>
              </a:rPr>
              <a:t>; 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en-US" altLang="zh-CN" sz="2800" dirty="0" smtClean="0">
                <a:solidFill>
                  <a:srgbClr val="C00000"/>
                </a:solidFill>
                <a:latin typeface="+mn-ea"/>
              </a:rPr>
              <a:t>pi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>
                <a:latin typeface="+mn-ea"/>
              </a:rPr>
              <a:t>圆周率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>
                <a:solidFill>
                  <a:srgbClr val="C00000"/>
                </a:solidFill>
                <a:latin typeface="+mn-ea"/>
              </a:rPr>
              <a:t>eps</a:t>
            </a:r>
            <a:r>
              <a:rPr lang="en-US" altLang="zh-CN" sz="2800" dirty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</a:rPr>
              <a:t>   </a:t>
            </a:r>
            <a:r>
              <a:rPr lang="zh-CN" altLang="en-US" sz="2800" dirty="0">
                <a:latin typeface="+mn-ea"/>
              </a:rPr>
              <a:t>计算机的最小数</a:t>
            </a:r>
            <a:r>
              <a:rPr lang="en-US" altLang="zh-CN" sz="2800" dirty="0">
                <a:latin typeface="+mn-ea"/>
              </a:rPr>
              <a:t>;    </a:t>
            </a:r>
            <a:r>
              <a:rPr lang="en-US" altLang="zh-CN" sz="2800" dirty="0" smtClean="0">
                <a:latin typeface="+mn-ea"/>
              </a:rPr>
              <a:t>    </a:t>
            </a:r>
            <a:r>
              <a:rPr lang="en-US" altLang="zh-CN" sz="2800" dirty="0" err="1" smtClean="0">
                <a:solidFill>
                  <a:srgbClr val="C00000"/>
                </a:solidFill>
                <a:latin typeface="+mn-ea"/>
              </a:rPr>
              <a:t>inf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>
                <a:latin typeface="+mn-ea"/>
              </a:rPr>
              <a:t>无穷大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>
                <a:solidFill>
                  <a:srgbClr val="C00000"/>
                </a:solidFill>
                <a:latin typeface="+mn-ea"/>
              </a:rPr>
              <a:t>i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或</a:t>
            </a:r>
            <a:r>
              <a:rPr lang="en-US" altLang="zh-CN" sz="2800" dirty="0">
                <a:solidFill>
                  <a:srgbClr val="C00000"/>
                </a:solidFill>
                <a:latin typeface="+mn-ea"/>
              </a:rPr>
              <a:t>j</a:t>
            </a:r>
            <a:r>
              <a:rPr lang="en-US" altLang="zh-CN" sz="2800" dirty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en-US" altLang="zh-CN" sz="2800" dirty="0" err="1" smtClean="0">
                <a:latin typeface="+mn-ea"/>
              </a:rPr>
              <a:t>i</a:t>
            </a:r>
            <a:r>
              <a:rPr lang="en-US" altLang="zh-CN" sz="2800" dirty="0" smtClean="0">
                <a:latin typeface="+mn-ea"/>
              </a:rPr>
              <a:t>=j</a:t>
            </a:r>
            <a:r>
              <a:rPr lang="en-US" altLang="zh-CN" sz="2800" dirty="0">
                <a:latin typeface="+mn-ea"/>
              </a:rPr>
              <a:t>= -1</a:t>
            </a:r>
            <a:r>
              <a:rPr lang="zh-CN" altLang="en-US" sz="2800" dirty="0">
                <a:latin typeface="+mn-ea"/>
              </a:rPr>
              <a:t>的开方</a:t>
            </a:r>
            <a:r>
              <a:rPr lang="en-US" altLang="zh-CN" sz="2800" dirty="0">
                <a:latin typeface="+mn-ea"/>
              </a:rPr>
              <a:t>;    </a:t>
            </a:r>
            <a:r>
              <a:rPr lang="en-US" altLang="zh-CN" sz="2800" dirty="0" smtClean="0">
                <a:latin typeface="+mn-ea"/>
              </a:rPr>
              <a:t>     </a:t>
            </a:r>
            <a:r>
              <a:rPr lang="en-US" altLang="zh-CN" sz="2800" dirty="0" err="1" smtClean="0">
                <a:solidFill>
                  <a:srgbClr val="C00000"/>
                </a:solidFill>
                <a:latin typeface="+mn-ea"/>
              </a:rPr>
              <a:t>NaN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zh-CN" altLang="en-US" sz="2800" dirty="0">
                <a:latin typeface="+mn-ea"/>
              </a:rPr>
              <a:t>不定量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 smtClean="0">
                <a:solidFill>
                  <a:srgbClr val="C00000"/>
                </a:solidFill>
                <a:latin typeface="+mn-ea"/>
              </a:rPr>
              <a:t>realmin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最小</a:t>
            </a:r>
            <a:r>
              <a:rPr lang="zh-CN" altLang="en-US" sz="2800" dirty="0">
                <a:latin typeface="+mn-ea"/>
              </a:rPr>
              <a:t>可用正实数</a:t>
            </a:r>
            <a:r>
              <a:rPr lang="en-US" altLang="zh-CN" sz="2800" dirty="0" smtClean="0">
                <a:latin typeface="+mn-ea"/>
              </a:rPr>
              <a:t>;   </a:t>
            </a:r>
            <a:endParaRPr lang="en-US" altLang="zh-CN" sz="2800" dirty="0" smtClean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en-US" altLang="zh-CN" sz="2800" dirty="0" err="1" smtClean="0">
                <a:solidFill>
                  <a:srgbClr val="C00000"/>
                </a:solidFill>
                <a:latin typeface="+mn-ea"/>
              </a:rPr>
              <a:t>realmax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>
                <a:latin typeface="+mn-ea"/>
              </a:rPr>
              <a:t>最大可用正实数        </a:t>
            </a:r>
            <a:endParaRPr lang="zh-CN" altLang="en-US" sz="2800" dirty="0">
              <a:latin typeface="+mn-ea"/>
            </a:endParaRPr>
          </a:p>
          <a:p>
            <a:pPr algn="just">
              <a:spcBef>
                <a:spcPct val="0"/>
              </a:spcBef>
            </a:pPr>
            <a:r>
              <a:rPr lang="zh-CN" altLang="en-US" sz="2800" dirty="0">
                <a:latin typeface="+mn-ea"/>
              </a:rPr>
              <a:t>   对于变量，</a:t>
            </a:r>
            <a:r>
              <a:rPr lang="en-US" altLang="zh-CN" sz="2800" dirty="0">
                <a:latin typeface="+mn-ea"/>
              </a:rPr>
              <a:t>MATLAB</a:t>
            </a:r>
            <a:r>
              <a:rPr lang="zh-CN" altLang="en-US" sz="2800" dirty="0">
                <a:latin typeface="+mn-ea"/>
              </a:rPr>
              <a:t>不需要任何类型的说明或维数语句，当输入一个新变量名时</a:t>
            </a:r>
            <a:r>
              <a:rPr lang="en-US" altLang="zh-CN" sz="2800" dirty="0">
                <a:latin typeface="+mn-ea"/>
              </a:rPr>
              <a:t>MATLAB</a:t>
            </a:r>
            <a:r>
              <a:rPr lang="zh-CN" altLang="en-US" sz="2800" dirty="0">
                <a:latin typeface="+mn-ea"/>
              </a:rPr>
              <a:t>自动建立变量并为其分配内存空间。</a:t>
            </a:r>
            <a:endParaRPr lang="zh-CN" altLang="en-US" sz="3600" dirty="0">
              <a:latin typeface="+mn-ea"/>
            </a:endParaRP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1448718" y="1362617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+mn-ea"/>
              </a:rPr>
              <a:t>特殊变量</a:t>
            </a:r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名（内置变量）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6"/>
          <p:cNvSpPr txBox="1">
            <a:spLocks noChangeArrowheads="1"/>
          </p:cNvSpPr>
          <p:nvPr/>
        </p:nvSpPr>
        <p:spPr bwMode="auto">
          <a:xfrm>
            <a:off x="1562504" y="985229"/>
            <a:ext cx="91447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注意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：避免变量名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与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MATLAB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中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的特殊变量名相同，否则会修改这些特殊变量的预设值。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543" y="2066126"/>
            <a:ext cx="8976633" cy="4397427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1036"/>
          <p:cNvSpPr txBox="1">
            <a:spLocks noChangeArrowheads="1"/>
          </p:cNvSpPr>
          <p:nvPr/>
        </p:nvSpPr>
        <p:spPr bwMode="auto">
          <a:xfrm>
            <a:off x="1540833" y="1922708"/>
            <a:ext cx="88312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注意：（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）由于变量与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文件的命名规则相同，因此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MATLAB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不能区分我们在命令窗口输入的字符串是变量还是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文件。</a:t>
            </a:r>
            <a:endParaRPr lang="en-US" altLang="zh-CN" sz="2400" b="1" dirty="0" smtClean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）尽量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避免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变量名与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文件名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相同，尽量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避免变量名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与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</a:rPr>
              <a:t>MATLAB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中的内部函数名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相同。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2422265" y="1673018"/>
            <a:ext cx="774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8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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a=23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847267" y="615687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标量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99222" y="3844171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数组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433252" y="3221841"/>
            <a:ext cx="774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 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b=1.2*5-2*a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00032" y="4614006"/>
            <a:ext cx="77492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像其他程序语言一样，数组是</a:t>
            </a:r>
            <a:r>
              <a:rPr lang="en-US" altLang="zh-CN" sz="2400" dirty="0" smtClean="0">
                <a:latin typeface="+mn-ea"/>
              </a:rPr>
              <a:t>MATLAB</a:t>
            </a:r>
            <a:r>
              <a:rPr lang="zh-CN" altLang="en-US" sz="2400" dirty="0" smtClean="0">
                <a:latin typeface="+mn-ea"/>
              </a:rPr>
              <a:t>的重要组成部分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800032" y="5292850"/>
            <a:ext cx="77492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400" dirty="0" smtClean="0">
                <a:latin typeface="+mn-ea"/>
              </a:rPr>
              <a:t>有两种类型的数组：数字矩阵（双精度或复数）；对象的元胞数组（更高级的数据结构）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644168" y="1290085"/>
            <a:ext cx="774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dirty="0" smtClean="0">
                <a:latin typeface="+mn-ea"/>
                <a:sym typeface="Symbol" panose="05050102010706020507" pitchFamily="18" charset="2"/>
              </a:rPr>
              <a:t> 变量</a:t>
            </a:r>
            <a:r>
              <a:rPr lang="zh-CN" altLang="en-US" sz="2800" dirty="0" smtClean="0">
                <a:latin typeface="+mn-ea"/>
              </a:rPr>
              <a:t>可以直接被赋予一个数值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2422265" y="2108410"/>
            <a:ext cx="774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800" dirty="0" smtClean="0">
                <a:latin typeface="+mn-ea"/>
                <a:sym typeface="Symbol" panose="05050102010706020507" pitchFamily="18" charset="2"/>
              </a:rPr>
              <a:t> </a:t>
            </a:r>
            <a:r>
              <a:rPr lang="zh-CN" altLang="en-US" sz="2800" dirty="0" smtClean="0">
                <a:latin typeface="+mn-ea"/>
              </a:rPr>
              <a:t>出现在工作区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644168" y="2660594"/>
            <a:ext cx="77492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800" dirty="0" smtClean="0">
                <a:latin typeface="+mn-ea"/>
                <a:sym typeface="Symbol" panose="05050102010706020507" pitchFamily="18" charset="2"/>
              </a:rPr>
              <a:t> </a:t>
            </a:r>
            <a:r>
              <a:rPr lang="zh-CN" altLang="en-US" sz="2800" dirty="0" smtClean="0">
                <a:latin typeface="+mn-ea"/>
              </a:rPr>
              <a:t>或作为数值和已有变量的函数</a:t>
            </a:r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438327" y="1048466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行向量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438327" y="4817157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工作区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943100" y="1677982"/>
            <a:ext cx="77492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400" dirty="0" smtClean="0">
                <a:latin typeface="+mn-ea"/>
              </a:rPr>
              <a:t>Row=[1 3.2 2 4 8 7]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943100" y="2193992"/>
            <a:ext cx="77492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400" dirty="0" smtClean="0">
                <a:latin typeface="+mn-ea"/>
              </a:rPr>
              <a:t>Row=[1,3.2,2,4,8,7]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438327" y="2704982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命令窗口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64" y="3339082"/>
            <a:ext cx="5419725" cy="14287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64" y="5504657"/>
            <a:ext cx="2924175" cy="79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344808" y="942168"/>
            <a:ext cx="83475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列向量：</a:t>
            </a:r>
            <a:r>
              <a:rPr lang="zh-CN" altLang="en-US" sz="3200" dirty="0" smtClean="0">
                <a:latin typeface="+mn-ea"/>
              </a:rPr>
              <a:t>方括弧之间的数值用分号“；”间开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088573" y="1567578"/>
            <a:ext cx="77492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400" dirty="0" smtClean="0">
                <a:latin typeface="+mn-ea"/>
              </a:rPr>
              <a:t>col=[1;3.2;2;4;8;7]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864" y="2427404"/>
            <a:ext cx="3638550" cy="2552700"/>
          </a:xfrm>
          <a:prstGeom prst="rect">
            <a:avLst/>
          </a:prstGeom>
        </p:spPr>
      </p:pic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344808" y="2364092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命令窗口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1344808" y="5043416"/>
            <a:ext cx="4827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工作区</a:t>
            </a:r>
            <a:endParaRPr lang="zh-CN" altLang="en-US" sz="3200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024" y="5210490"/>
            <a:ext cx="2924175" cy="962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ize </a:t>
            </a: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length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344808" y="942168"/>
            <a:ext cx="83475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可以用函数</a:t>
            </a:r>
            <a:r>
              <a:rPr lang="en-US" altLang="zh-CN" sz="3200" dirty="0" smtClean="0">
                <a:solidFill>
                  <a:srgbClr val="C00000"/>
                </a:solidFill>
                <a:latin typeface="+mn-ea"/>
              </a:rPr>
              <a:t>size</a:t>
            </a:r>
            <a:r>
              <a:rPr lang="zh-CN" altLang="en-US" sz="3200" dirty="0" smtClean="0">
                <a:solidFill>
                  <a:srgbClr val="C00000"/>
                </a:solidFill>
                <a:latin typeface="+mn-ea"/>
              </a:rPr>
              <a:t>查看变量的型号（大小）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204" y="1868656"/>
            <a:ext cx="2298124" cy="199459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70" y="1868656"/>
            <a:ext cx="2274311" cy="1999696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204" y="4008727"/>
            <a:ext cx="2298124" cy="206201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71" y="4058518"/>
            <a:ext cx="2274310" cy="2012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/>
        </p:nvSpPr>
        <p:spPr>
          <a:xfrm>
            <a:off x="1101407" y="73190"/>
            <a:ext cx="4573251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矩阵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101407" y="862088"/>
            <a:ext cx="83475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  <a:sym typeface="Symbol" panose="05050102010706020507" pitchFamily="18" charset="2"/>
              </a:rPr>
              <a:t> </a:t>
            </a:r>
            <a:r>
              <a:rPr lang="zh-CN" altLang="en-US" sz="3200" dirty="0" smtClean="0">
                <a:latin typeface="+mn-ea"/>
              </a:rPr>
              <a:t>像向量一样创建矩阵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259422" y="1552830"/>
            <a:ext cx="8347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  <a:sym typeface="Symbol" panose="05050102010706020507" pitchFamily="18" charset="2"/>
              </a:rPr>
              <a:t> </a:t>
            </a:r>
            <a:r>
              <a:rPr lang="zh-CN" altLang="en-US" sz="2800" dirty="0" smtClean="0">
                <a:latin typeface="+mn-ea"/>
              </a:rPr>
              <a:t>矩阵元素逐个键入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2259422" y="2200914"/>
            <a:ext cx="83475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  <a:latin typeface="+mn-ea"/>
                <a:sym typeface="Symbol" panose="05050102010706020507" pitchFamily="18" charset="2"/>
              </a:rPr>
              <a:t>      </a:t>
            </a:r>
            <a:r>
              <a:rPr lang="en-US" altLang="zh-CN" sz="3200" dirty="0" smtClean="0">
                <a:solidFill>
                  <a:srgbClr val="FF0000"/>
                </a:solidFill>
                <a:latin typeface="+mn-ea"/>
              </a:rPr>
              <a:t>A=[1 2;3 4]</a:t>
            </a:r>
            <a:endParaRPr lang="zh-CN" altLang="en-US" sz="320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774497" y="1504908"/>
          <a:ext cx="1674454" cy="988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公式" r:id="rId1" imgW="18592800" imgH="10972800" progId="Equation.3">
                  <p:embed/>
                </p:oleObj>
              </mc:Choice>
              <mc:Fallback>
                <p:oleObj name="公式" r:id="rId1" imgW="18592800" imgH="10972800" progId="Equation.3">
                  <p:embed/>
                  <p:pic>
                    <p:nvPicPr>
                      <p:cNvPr id="0" name="图片 10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74497" y="1504908"/>
                        <a:ext cx="1674454" cy="988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箭头连接符 27"/>
          <p:cNvCxnSpPr/>
          <p:nvPr/>
        </p:nvCxnSpPr>
        <p:spPr>
          <a:xfrm flipH="1">
            <a:off x="5976869" y="2065732"/>
            <a:ext cx="1797628" cy="49419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1101407" y="2959912"/>
            <a:ext cx="83475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  <a:sym typeface="Symbol" panose="05050102010706020507" pitchFamily="18" charset="2"/>
              </a:rPr>
              <a:t> </a:t>
            </a:r>
            <a:r>
              <a:rPr lang="zh-CN" altLang="en-US" sz="3200" dirty="0" smtClean="0">
                <a:latin typeface="+mn-ea"/>
              </a:rPr>
              <a:t>用向量或矩阵拼接（注意维数的匹配）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50" y="3837075"/>
            <a:ext cx="7990694" cy="24805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447800" y="1479600"/>
            <a:ext cx="9112624" cy="4117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zh-CN" altLang="en-US" sz="36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如何清除工作区的变量呢？</a:t>
            </a:r>
            <a:endParaRPr lang="en-US" altLang="zh-CN" sz="3600" dirty="0" smtClean="0">
              <a:solidFill>
                <a:srgbClr val="C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）用命令清除。例如：</a:t>
            </a:r>
            <a:endParaRPr lang="en-US" altLang="zh-CN" sz="3600" b="1" dirty="0" smtClean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1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en-US" altLang="zh-CN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     &gt;&gt;</a:t>
            </a:r>
            <a: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clear, 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lang="en-US" altLang="zh-CN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&gt;&gt; clear a b c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endParaRPr lang="en-US" altLang="zh-CN" sz="3600" dirty="0" smtClean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3600" b="1" dirty="0" smtClean="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r>
              <a:rPr lang="zh-CN" altLang="en-US" sz="36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在工作区窗口中鼠标指到要删除的变量，在右键菜单中点击“删除”选项</a:t>
            </a:r>
            <a:endParaRPr lang="zh-CN" altLang="en-US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标题 1"/>
          <p:cNvSpPr>
            <a:spLocks noGrp="1"/>
          </p:cNvSpPr>
          <p:nvPr/>
        </p:nvSpPr>
        <p:spPr>
          <a:xfrm>
            <a:off x="1101407" y="73190"/>
            <a:ext cx="5631902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变量清除</a:t>
            </a:r>
            <a:endParaRPr lang="zh-CN" altLang="en-US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00" name="Text Box 8"/>
          <p:cNvSpPr txBox="1">
            <a:spLocks noChangeArrowheads="1"/>
          </p:cNvSpPr>
          <p:nvPr/>
        </p:nvSpPr>
        <p:spPr bwMode="auto">
          <a:xfrm>
            <a:off x="1981200" y="1524001"/>
            <a:ext cx="4114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4000" dirty="0">
                <a:solidFill>
                  <a:srgbClr val="C00000"/>
                </a:solidFill>
                <a:ea typeface="华文行楷" panose="02010800040101010101" pitchFamily="2" charset="-122"/>
              </a:rPr>
              <a:t>保存工作区变量</a:t>
            </a:r>
            <a:endParaRPr lang="zh-CN" altLang="en-US" sz="4000" dirty="0">
              <a:solidFill>
                <a:srgbClr val="C00000"/>
              </a:solidFill>
              <a:ea typeface="华文行楷" panose="02010800040101010101" pitchFamily="2" charset="-122"/>
            </a:endParaRPr>
          </a:p>
        </p:txBody>
      </p:sp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2171700" y="2672168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quit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 </a:t>
            </a:r>
            <a:r>
              <a:rPr lang="zh-CN" altLang="en-US" sz="2800" dirty="0">
                <a:ea typeface="宋体" panose="02010600030101010101" pitchFamily="2" charset="-122"/>
              </a:rPr>
              <a:t>或 单击右上角的“</a:t>
            </a: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ea typeface="宋体" panose="02010600030101010101" pitchFamily="2" charset="-122"/>
              </a:rPr>
              <a:t>”按钮，</a:t>
            </a:r>
            <a:r>
              <a:rPr lang="zh-CN" altLang="en-US" sz="2800" dirty="0" smtClean="0">
                <a:ea typeface="宋体" panose="02010600030101010101" pitchFamily="2" charset="-122"/>
              </a:rPr>
              <a:t>退出</a:t>
            </a:r>
            <a:r>
              <a:rPr lang="en-US" altLang="zh-CN" sz="2800" dirty="0" smtClean="0">
                <a:ea typeface="宋体" panose="02010600030101010101" pitchFamily="2" charset="-122"/>
              </a:rPr>
              <a:t>MATLAB,</a:t>
            </a:r>
            <a:r>
              <a:rPr lang="zh-CN" altLang="en-US" sz="2800" dirty="0" smtClean="0">
                <a:ea typeface="宋体" panose="02010600030101010101" pitchFamily="2" charset="-122"/>
              </a:rPr>
              <a:t>这时工作区所有变量也不存在了。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161801" name="Text Box 9"/>
          <p:cNvSpPr txBox="1">
            <a:spLocks noChangeArrowheads="1"/>
          </p:cNvSpPr>
          <p:nvPr/>
        </p:nvSpPr>
        <p:spPr bwMode="auto">
          <a:xfrm>
            <a:off x="2171700" y="4141695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ea typeface="宋体" panose="02010600030101010101" pitchFamily="2" charset="-122"/>
              </a:rPr>
              <a:t>save  (</a:t>
            </a:r>
            <a:r>
              <a:rPr lang="zh-CN" altLang="en-US" sz="2800" dirty="0">
                <a:ea typeface="宋体" panose="02010600030101010101" pitchFamily="2" charset="-122"/>
              </a:rPr>
              <a:t>文件名</a:t>
            </a:r>
            <a:r>
              <a:rPr lang="en-US" altLang="zh-CN" sz="2800" dirty="0">
                <a:ea typeface="宋体" panose="02010600030101010101" pitchFamily="2" charset="-122"/>
              </a:rPr>
              <a:t>)         </a:t>
            </a:r>
            <a:r>
              <a:rPr lang="zh-CN" altLang="en-US" sz="2800" dirty="0">
                <a:ea typeface="宋体" panose="02010600030101010101" pitchFamily="2" charset="-122"/>
              </a:rPr>
              <a:t>将当前工作区的变量储存</a:t>
            </a:r>
            <a:r>
              <a:rPr lang="zh-CN" altLang="en-US" sz="2800" dirty="0" smtClean="0">
                <a:ea typeface="宋体" panose="02010600030101010101" pitchFamily="2" charset="-122"/>
              </a:rPr>
              <a:t>在</a:t>
            </a:r>
            <a:endParaRPr lang="zh-CN" altLang="en-US" sz="2800" dirty="0" smtClean="0">
              <a:ea typeface="宋体" panose="02010600030101010101" pitchFamily="2" charset="-122"/>
            </a:endParaRPr>
          </a:p>
          <a:p>
            <a:pPr algn="l"/>
            <a:r>
              <a:rPr lang="zh-CN" altLang="en-US" sz="2800" dirty="0" smtClean="0">
                <a:ea typeface="宋体" panose="02010600030101010101" pitchFamily="2" charset="-122"/>
              </a:rPr>
              <a:t>                                 一个</a:t>
            </a:r>
            <a:r>
              <a:rPr lang="en-US" altLang="zh-CN" sz="2800" dirty="0" smtClean="0">
                <a:ea typeface="宋体" panose="02010600030101010101" pitchFamily="2" charset="-122"/>
              </a:rPr>
              <a:t>MAT-</a:t>
            </a:r>
            <a:r>
              <a:rPr lang="zh-CN" altLang="en-US" sz="2800" dirty="0" smtClean="0">
                <a:ea typeface="宋体" panose="02010600030101010101" pitchFamily="2" charset="-122"/>
              </a:rPr>
              <a:t>文件中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161802" name="Text Box 10"/>
          <p:cNvSpPr txBox="1">
            <a:spLocks noChangeArrowheads="1"/>
          </p:cNvSpPr>
          <p:nvPr/>
        </p:nvSpPr>
        <p:spPr bwMode="auto">
          <a:xfrm>
            <a:off x="2171700" y="5423648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 dirty="0">
                <a:ea typeface="宋体" panose="02010600030101010101" pitchFamily="2" charset="-122"/>
              </a:rPr>
              <a:t>load  (</a:t>
            </a:r>
            <a:r>
              <a:rPr lang="zh-CN" altLang="en-US" sz="2800" dirty="0">
                <a:ea typeface="宋体" panose="02010600030101010101" pitchFamily="2" charset="-122"/>
              </a:rPr>
              <a:t>文件名）       调出一个</a:t>
            </a:r>
            <a:r>
              <a:rPr lang="en-US" altLang="zh-CN" sz="2800" dirty="0">
                <a:ea typeface="宋体" panose="02010600030101010101" pitchFamily="2" charset="-122"/>
              </a:rPr>
              <a:t>MAT-</a:t>
            </a:r>
            <a:r>
              <a:rPr lang="zh-CN" altLang="en-US" sz="2800" dirty="0">
                <a:ea typeface="宋体" panose="02010600030101010101" pitchFamily="2" charset="-122"/>
              </a:rPr>
              <a:t>文件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101407" y="73190"/>
            <a:ext cx="5912457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变量保存与调出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180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6180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6180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179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0" grpId="0" autoUpdateAnimBg="0"/>
      <p:bldP spid="161794" grpId="0" autoUpdateAnimBg="0"/>
      <p:bldP spid="161801" grpId="0" autoUpdateAnimBg="0"/>
      <p:bldP spid="16180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2928522" y="1358273"/>
            <a:ext cx="61267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变量的类型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变量的命名规则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特殊变量名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变量的创建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ea typeface="宋体" panose="02010600030101010101" pitchFamily="2" charset="-122"/>
              </a:rPr>
              <a:t>变量的清除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变量</a:t>
            </a:r>
            <a:r>
              <a:rPr lang="zh-CN" altLang="en-US" sz="2400" dirty="0" smtClean="0">
                <a:ea typeface="宋体" panose="02010600030101010101" pitchFamily="2" charset="-122"/>
              </a:rPr>
              <a:t>的保存与</a:t>
            </a:r>
            <a:r>
              <a:rPr lang="zh-CN" altLang="en-US" sz="2400" dirty="0">
                <a:ea typeface="宋体" panose="02010600030101010101" pitchFamily="2" charset="-122"/>
              </a:rPr>
              <a:t>加载（调出</a:t>
            </a:r>
            <a:r>
              <a:rPr lang="zh-CN" altLang="en-US" sz="2400" dirty="0" smtClean="0">
                <a:ea typeface="宋体" panose="02010600030101010101" pitchFamily="2" charset="-122"/>
              </a:rPr>
              <a:t>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101407" y="73190"/>
            <a:ext cx="5912457" cy="527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576000" rIns="9144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ctr">
              <a:lnSpc>
                <a:spcPct val="12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变量及其创建</a:t>
            </a:r>
            <a:endParaRPr lang="zh-CN" altLang="en-US" sz="4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400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6179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Text Box 1028" descr="羊皮纸"/>
          <p:cNvSpPr txBox="1">
            <a:spLocks noChangeArrowheads="1"/>
          </p:cNvSpPr>
          <p:nvPr/>
        </p:nvSpPr>
        <p:spPr bwMode="auto">
          <a:xfrm>
            <a:off x="1631575" y="1151983"/>
            <a:ext cx="467061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dirty="0" smtClean="0">
                <a:latin typeface="+mn-ea"/>
              </a:rPr>
              <a:t>MATLAB</a:t>
            </a:r>
            <a:r>
              <a:rPr lang="zh-CN" altLang="en-US" sz="2400" dirty="0" smtClean="0">
                <a:latin typeface="+mn-ea"/>
              </a:rPr>
              <a:t>对变量和</a:t>
            </a:r>
            <a:r>
              <a:rPr lang="en-US" altLang="zh-CN" sz="2400" dirty="0" smtClean="0">
                <a:latin typeface="+mn-ea"/>
              </a:rPr>
              <a:t>M</a:t>
            </a:r>
            <a:r>
              <a:rPr lang="zh-CN" altLang="en-US" sz="2400" dirty="0" smtClean="0">
                <a:latin typeface="+mn-ea"/>
              </a:rPr>
              <a:t>文件的搜索顺序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MATLAB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的搜索顺序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57081" y="2236285"/>
            <a:ext cx="1864659" cy="448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变量</a:t>
            </a:r>
            <a:endParaRPr lang="zh-CN" altLang="en-US" sz="24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57081" y="3082629"/>
            <a:ext cx="1864659" cy="448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内部</a:t>
            </a:r>
            <a:r>
              <a:rPr lang="zh-CN" altLang="en-US" sz="24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</a:t>
            </a:r>
            <a:endParaRPr lang="zh-CN" altLang="en-US" sz="24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66046" y="3929794"/>
            <a:ext cx="3711389" cy="448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当前文件夹下的程序文件</a:t>
            </a:r>
            <a:endParaRPr lang="zh-CN" altLang="en-US" sz="24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66046" y="4825651"/>
            <a:ext cx="4984379" cy="4482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文件搜索路径文件夹下的程序文件</a:t>
            </a:r>
            <a:endParaRPr lang="zh-CN" altLang="en-US" sz="24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下箭头 5"/>
          <p:cNvSpPr/>
          <p:nvPr/>
        </p:nvSpPr>
        <p:spPr>
          <a:xfrm>
            <a:off x="2572871" y="2720380"/>
            <a:ext cx="251011" cy="31865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2563904" y="3560103"/>
            <a:ext cx="251011" cy="31865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2563904" y="4457482"/>
            <a:ext cx="251011" cy="31865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Text Box 1028" descr="羊皮纸"/>
          <p:cNvSpPr txBox="1">
            <a:spLocks noChangeArrowheads="1"/>
          </p:cNvSpPr>
          <p:nvPr/>
        </p:nvSpPr>
        <p:spPr bwMode="auto">
          <a:xfrm>
            <a:off x="1604681" y="838218"/>
            <a:ext cx="4670613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 smtClean="0">
                <a:latin typeface="+mn-ea"/>
              </a:rPr>
              <a:t>例如：</a:t>
            </a:r>
            <a:endParaRPr lang="zh-CN" altLang="en-US" sz="2400" dirty="0"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MATLAB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的搜索顺序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233" y="918901"/>
            <a:ext cx="3457061" cy="562264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726051" y="2744414"/>
            <a:ext cx="38906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如果此时要调用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sin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函数该怎么办？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21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051" y="1473574"/>
            <a:ext cx="89535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21"/>
          <p:cNvSpPr txBox="1"/>
          <p:nvPr/>
        </p:nvSpPr>
        <p:spPr>
          <a:xfrm>
            <a:off x="6726051" y="4420814"/>
            <a:ext cx="38906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只要删除工作区中的变量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sin,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再用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sin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时，就是内部函数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sin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了。</a:t>
            </a:r>
            <a:endParaRPr lang="zh-CN" altLang="en-US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Text Box 1028" descr="羊皮纸"/>
          <p:cNvSpPr txBox="1">
            <a:spLocks noChangeArrowheads="1"/>
          </p:cNvSpPr>
          <p:nvPr/>
        </p:nvSpPr>
        <p:spPr bwMode="auto">
          <a:xfrm>
            <a:off x="1523999" y="1398308"/>
            <a:ext cx="8122023" cy="461665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鼠标单击</a:t>
            </a:r>
            <a:r>
              <a:rPr lang="zh-CN" altLang="en-US" sz="2400" dirty="0" smtClean="0">
                <a:solidFill>
                  <a:srgbClr val="00206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2400" dirty="0" smtClean="0">
                <a:solidFill>
                  <a:srgbClr val="C00000"/>
                </a:solidFill>
                <a:ea typeface="隶书" panose="02010509060101010101" pitchFamily="49" charset="-122"/>
              </a:rPr>
              <a:t>设置路径</a:t>
            </a:r>
            <a:r>
              <a:rPr lang="zh-CN" altLang="en-US" sz="2400" dirty="0" smtClean="0">
                <a:solidFill>
                  <a:srgbClr val="002060"/>
                </a:solidFill>
                <a:ea typeface="隶书" panose="02010509060101010101" pitchFamily="49" charset="-122"/>
              </a:rPr>
              <a:t>” 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按钮，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即可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打开“设置</a:t>
            </a:r>
            <a:r>
              <a:rPr lang="zh-CN" altLang="en-US" sz="2400" dirty="0" smtClean="0">
                <a:solidFill>
                  <a:srgbClr val="002060"/>
                </a:solidFill>
                <a:ea typeface="隶书" panose="02010509060101010101" pitchFamily="49" charset="-122"/>
              </a:rPr>
              <a:t>路径窗口”。</a:t>
            </a:r>
            <a:endParaRPr lang="zh-CN" altLang="en-US" sz="24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MATLAB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的搜索路径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2522951"/>
            <a:ext cx="8561772" cy="2575492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7095565" y="3269644"/>
            <a:ext cx="806823" cy="3048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Text Box 1028" descr="羊皮纸"/>
          <p:cNvSpPr txBox="1">
            <a:spLocks noChangeArrowheads="1"/>
          </p:cNvSpPr>
          <p:nvPr/>
        </p:nvSpPr>
        <p:spPr bwMode="auto">
          <a:xfrm>
            <a:off x="1231527" y="1180066"/>
            <a:ext cx="9499226" cy="1200329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）查看搜索路径。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在“设置路径窗口”能够查看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的所有搜索路径，如果你编写的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文件不在这些文件夹中，则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会找不到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,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运行时会出错。</a:t>
            </a:r>
            <a:endParaRPr lang="en-US" altLang="zh-CN" sz="2400" dirty="0" smtClean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MATLAB</a:t>
            </a:r>
            <a:r>
              <a:rPr kumimoji="1" lang="zh-CN" altLang="en-US" sz="4000" b="1" dirty="0" smtClean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的搜索路径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05" y="2528022"/>
            <a:ext cx="5880848" cy="3950699"/>
          </a:xfrm>
          <a:prstGeom prst="rect">
            <a:avLst/>
          </a:prstGeom>
        </p:spPr>
      </p:pic>
      <p:sp>
        <p:nvSpPr>
          <p:cNvPr id="10" name="Text Box 1028" descr="羊皮纸"/>
          <p:cNvSpPr txBox="1">
            <a:spLocks noChangeArrowheads="1"/>
          </p:cNvSpPr>
          <p:nvPr/>
        </p:nvSpPr>
        <p:spPr bwMode="auto">
          <a:xfrm>
            <a:off x="1231527" y="2528022"/>
            <a:ext cx="3519766" cy="156966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）添加搜索路径。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可以在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“设置路径窗口” 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添加文件夹，从而增加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的搜索范围。</a:t>
            </a:r>
            <a:endParaRPr lang="zh-CN" altLang="en-US" sz="24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" name="Text Box 1028" descr="羊皮纸"/>
          <p:cNvSpPr txBox="1">
            <a:spLocks noChangeArrowheads="1"/>
          </p:cNvSpPr>
          <p:nvPr/>
        </p:nvSpPr>
        <p:spPr bwMode="auto">
          <a:xfrm>
            <a:off x="1231526" y="4170397"/>
            <a:ext cx="3519767" cy="2308324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chemeClr val="hlink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2400" dirty="0" smtClean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）注意程序所在文件夹</a:t>
            </a:r>
            <a:r>
              <a:rPr lang="zh-CN" altLang="en-US" sz="240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若存放</a:t>
            </a:r>
            <a:r>
              <a:rPr lang="en-US" altLang="zh-CN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文件（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程序</a:t>
            </a:r>
            <a:r>
              <a:rPr lang="zh-CN" altLang="en-US" sz="24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的文件夹不是当前文件夹也不是</a:t>
            </a:r>
            <a:r>
              <a:rPr lang="en-US" altLang="zh-CN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4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搜索路径范围内的文件夹，则运行时会出错。</a:t>
            </a:r>
            <a:endParaRPr lang="zh-CN" altLang="en-US" sz="24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0" name="Text Box 1034" descr="新闻纸"/>
          <p:cNvSpPr txBox="1">
            <a:spLocks noChangeArrowheads="1"/>
          </p:cNvSpPr>
          <p:nvPr/>
        </p:nvSpPr>
        <p:spPr bwMode="auto">
          <a:xfrm>
            <a:off x="929833" y="1027619"/>
            <a:ext cx="2362200" cy="3539430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rgbClr val="0070C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鼠标点击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主页的“帮助”按钮，会有“文档”和“示例”等选项。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选择“示例”可查看</a:t>
            </a:r>
            <a:r>
              <a:rPr lang="en-US" altLang="zh-CN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例子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endParaRPr lang="en-US" altLang="zh-CN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 smtClean="0">
                <a:solidFill>
                  <a:schemeClr val="bg1"/>
                </a:solidFill>
                <a:effectLst/>
                <a:latin typeface="粗标宋体" charset="0"/>
                <a:ea typeface="粗标宋体" charset="0"/>
              </a:rPr>
              <a:t>帮助系统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97" y="1027619"/>
            <a:ext cx="7721625" cy="3729576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8727310" y="1342663"/>
            <a:ext cx="1250067" cy="159730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1034" descr="新闻纸"/>
          <p:cNvSpPr txBox="1">
            <a:spLocks noChangeArrowheads="1"/>
          </p:cNvSpPr>
          <p:nvPr/>
        </p:nvSpPr>
        <p:spPr bwMode="auto">
          <a:xfrm>
            <a:off x="929833" y="5072239"/>
            <a:ext cx="10277990" cy="954107"/>
          </a:xfrm>
          <a:prstGeom prst="rect">
            <a:avLst/>
          </a:prstGeom>
          <a:blipFill dpi="0" rotWithShape="0">
            <a:blip r:embed="rId1"/>
            <a:srcRect/>
            <a:tile tx="0" ty="0" sx="100000" sy="100000" flip="none" algn="tl"/>
          </a:blipFill>
          <a:ln w="9525">
            <a:solidFill>
              <a:srgbClr val="0070C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选择“文档”可进入</a:t>
            </a:r>
            <a:r>
              <a:rPr lang="en-US" altLang="zh-CN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MATLAB</a:t>
            </a:r>
            <a:r>
              <a:rPr lang="zh-CN" altLang="en-US" sz="2800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的帮助文档页面，可按目录查阅所有的帮助文档。</a:t>
            </a:r>
            <a:endParaRPr lang="en-US" altLang="zh-CN" sz="2800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0" grpId="0" animBg="1" autoUpdateAnimBg="0"/>
      <p:bldP spid="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0" name="Text Box 1034" descr="新闻纸"/>
          <p:cNvSpPr txBox="1">
            <a:spLocks noChangeArrowheads="1"/>
          </p:cNvSpPr>
          <p:nvPr/>
        </p:nvSpPr>
        <p:spPr bwMode="auto">
          <a:xfrm>
            <a:off x="4874148" y="829341"/>
            <a:ext cx="2362200" cy="584775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MATLAB</a:t>
            </a:r>
            <a:r>
              <a:rPr lang="zh-CN" altLang="en-US" sz="3200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示例</a:t>
            </a:r>
            <a:endParaRPr lang="en-US" altLang="zh-CN" sz="32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 smtClean="0">
                <a:solidFill>
                  <a:schemeClr val="bg1"/>
                </a:solidFill>
                <a:effectLst/>
                <a:latin typeface="粗标宋体" charset="0"/>
                <a:ea typeface="粗标宋体" charset="0"/>
              </a:rPr>
              <a:t>帮助系统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287" y="1508127"/>
            <a:ext cx="9129678" cy="49206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0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0" name="Text Box 1034" descr="新闻纸"/>
          <p:cNvSpPr txBox="1">
            <a:spLocks noChangeArrowheads="1"/>
          </p:cNvSpPr>
          <p:nvPr/>
        </p:nvSpPr>
        <p:spPr bwMode="auto">
          <a:xfrm>
            <a:off x="482849" y="735330"/>
            <a:ext cx="2362200" cy="584775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帮助文档</a:t>
            </a:r>
            <a:endParaRPr lang="en-US" altLang="zh-CN" sz="3200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dirty="0" smtClean="0">
                <a:solidFill>
                  <a:schemeClr val="bg1"/>
                </a:solidFill>
                <a:effectLst/>
                <a:latin typeface="粗标宋体" charset="0"/>
                <a:ea typeface="粗标宋体" charset="0"/>
              </a:rPr>
              <a:t>帮助系统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1402715"/>
            <a:ext cx="10031768" cy="5133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0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759017" y="735330"/>
            <a:ext cx="88643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Symbol" panose="05050102010706020507" pitchFamily="18" charset="2"/>
              <a:buChar char="·"/>
            </a:pPr>
            <a:r>
              <a:rPr lang="en-US" altLang="zh-CN" sz="2800" dirty="0" smtClean="0">
                <a:latin typeface="Times New Roman" panose="02020603050405020304" pitchFamily="18" charset="0"/>
              </a:rPr>
              <a:t>help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 </a:t>
            </a:r>
            <a:r>
              <a:rPr lang="en-US" altLang="zh-CN" sz="28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自学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MATLAB, 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快速入门的最重要命令。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</a:rPr>
              <a:t>命令行</a:t>
            </a:r>
            <a:r>
              <a:rPr lang="zh-CN" altLang="en-US" sz="4000" b="1" dirty="0" smtClean="0">
                <a:latin typeface="+mn-ea"/>
              </a:rPr>
              <a:t>帮助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17" y="1258550"/>
            <a:ext cx="10941752" cy="55284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5" name="Group 15"/>
          <p:cNvGrpSpPr/>
          <p:nvPr/>
        </p:nvGrpSpPr>
        <p:grpSpPr bwMode="auto">
          <a:xfrm>
            <a:off x="363273" y="1567754"/>
            <a:ext cx="6475413" cy="3854450"/>
            <a:chOff x="434" y="1941"/>
            <a:chExt cx="4079" cy="2428"/>
          </a:xfrm>
        </p:grpSpPr>
        <p:sp>
          <p:nvSpPr>
            <p:cNvPr id="225283" name="Text Box 3"/>
            <p:cNvSpPr txBox="1">
              <a:spLocks noChangeArrowheads="1"/>
            </p:cNvSpPr>
            <p:nvPr/>
          </p:nvSpPr>
          <p:spPr bwMode="auto">
            <a:xfrm>
              <a:off x="434" y="1941"/>
              <a:ext cx="24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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help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函数名</a:t>
              </a:r>
              <a:r>
                <a:rPr lang="zh-CN" altLang="en-US" sz="28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</a:t>
              </a:r>
              <a:endPara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25285" name="Text Box 5"/>
            <p:cNvSpPr txBox="1">
              <a:spLocks noChangeArrowheads="1"/>
            </p:cNvSpPr>
            <p:nvPr/>
          </p:nvSpPr>
          <p:spPr bwMode="auto">
            <a:xfrm>
              <a:off x="713" y="2237"/>
              <a:ext cx="380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zh-CN" altLang="en-US" sz="2800" dirty="0" smtClean="0">
                  <a:latin typeface="Times New Roman" panose="02020603050405020304" pitchFamily="18" charset="0"/>
                </a:rPr>
                <a:t>显示该函数的用途和用法及相关函数的帮助链接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25287" name="Text Box 7"/>
            <p:cNvSpPr txBox="1">
              <a:spLocks noChangeArrowheads="1"/>
            </p:cNvSpPr>
            <p:nvPr/>
          </p:nvSpPr>
          <p:spPr bwMode="auto">
            <a:xfrm>
              <a:off x="434" y="2864"/>
              <a:ext cx="3680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457200" indent="-457200" algn="l">
                <a:spcBef>
                  <a:spcPct val="0"/>
                </a:spcBef>
                <a:buFont typeface="Symbol" panose="05050102010706020507" pitchFamily="18" charset="2"/>
                <a:buChar char="·"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dirty="0" smtClean="0">
                  <a:latin typeface="Times New Roman" panose="02020603050405020304" pitchFamily="18" charset="0"/>
                </a:rPr>
                <a:t>oc </a:t>
              </a:r>
              <a:r>
                <a:rPr lang="zh-CN" altLang="en-US" sz="2800" dirty="0" smtClean="0">
                  <a:latin typeface="Times New Roman" panose="02020603050405020304" pitchFamily="18" charset="0"/>
                </a:rPr>
                <a:t>函数名</a:t>
              </a:r>
              <a:endParaRPr lang="en-US" altLang="zh-CN" sz="2800" dirty="0" smtClean="0">
                <a:latin typeface="Times New Roman" panose="02020603050405020304" pitchFamily="18" charset="0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800" dirty="0" smtClean="0">
                  <a:latin typeface="Times New Roman" panose="02020603050405020304" pitchFamily="18" charset="0"/>
                </a:rPr>
                <a:t>     显示可读性更强的帮助，有例子。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l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434" y="3535"/>
              <a:ext cx="3680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457200" indent="-457200" algn="l">
                <a:spcBef>
                  <a:spcPct val="0"/>
                </a:spcBef>
                <a:buFont typeface="Symbol" panose="05050102010706020507" pitchFamily="18" charset="2"/>
                <a:buChar char="·"/>
              </a:pPr>
              <a:r>
                <a:rPr lang="en-US" altLang="zh-CN" sz="2800" dirty="0" err="1" smtClean="0">
                  <a:latin typeface="Times New Roman" panose="02020603050405020304" pitchFamily="18" charset="0"/>
                </a:rPr>
                <a:t>docsearch</a:t>
              </a:r>
              <a:r>
                <a:rPr lang="en-US" altLang="zh-CN" sz="2800" dirty="0" smtClean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 smtClean="0">
                  <a:latin typeface="Times New Roman" panose="02020603050405020304" pitchFamily="18" charset="0"/>
                </a:rPr>
                <a:t>关键词</a:t>
              </a:r>
              <a:endParaRPr lang="en-US" altLang="zh-CN" sz="2800" dirty="0" smtClean="0">
                <a:latin typeface="Times New Roman" panose="02020603050405020304" pitchFamily="18" charset="0"/>
              </a:endParaRPr>
            </a:p>
            <a:p>
              <a:pPr algn="l">
                <a:spcBef>
                  <a:spcPct val="0"/>
                </a:spcBef>
              </a:pPr>
              <a:r>
                <a:rPr lang="zh-CN" altLang="en-US" sz="2800" dirty="0" smtClean="0">
                  <a:latin typeface="Times New Roman" panose="02020603050405020304" pitchFamily="18" charset="0"/>
                </a:rPr>
                <a:t>     由特定的关键词搜索相关函数。</a:t>
              </a:r>
              <a:endParaRPr lang="zh-CN" altLang="en-US" sz="2800" dirty="0">
                <a:latin typeface="Times New Roman" panose="02020603050405020304" pitchFamily="18" charset="0"/>
              </a:endParaRPr>
            </a:p>
            <a:p>
              <a:pPr algn="l"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619" y="1827310"/>
            <a:ext cx="4811928" cy="3415235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</a:rPr>
              <a:t>命令行</a:t>
            </a:r>
            <a:r>
              <a:rPr lang="zh-CN" altLang="en-US" sz="4000" b="1" dirty="0" smtClean="0">
                <a:latin typeface="+mn-ea"/>
              </a:rPr>
              <a:t>帮助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/>
        </p:nvSpPr>
        <p:spPr>
          <a:xfrm>
            <a:off x="1123950" y="67945"/>
            <a:ext cx="5874385" cy="6673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 smtClean="0">
                <a:latin typeface="+mn-ea"/>
              </a:rPr>
              <a:t>本课程用到的工具箱</a:t>
            </a:r>
            <a:endParaRPr lang="zh-CN" altLang="zh-CN" sz="4000" dirty="0">
              <a:solidFill>
                <a:schemeClr val="bg1"/>
              </a:solidFill>
              <a:effectLst/>
              <a:latin typeface="粗标宋体" charset="0"/>
              <a:ea typeface="粗标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2" y="1177137"/>
            <a:ext cx="4286250" cy="2714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168" y="1179001"/>
            <a:ext cx="3200400" cy="1647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84625" y="1189240"/>
            <a:ext cx="5558400" cy="266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sz="10000" b="1" smtClean="0">
                <a:latin typeface="Times New Roman" panose="02020603050405020304" pitchFamily="18" charset="0"/>
              </a:rPr>
              <a:t>Thanks</a:t>
            </a:r>
            <a:endParaRPr lang="en-US" altLang="zh-CN" sz="10000" b="1" smtClean="0">
              <a:latin typeface="Times New Roman" panose="02020603050405020304" pitchFamily="18" charset="0"/>
            </a:endParaRP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3432175" y="6086475"/>
            <a:ext cx="5943600" cy="48323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重庆大学数学与统计学院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 descr="重大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78605" y="6065520"/>
            <a:ext cx="517525" cy="517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EMPLATE_CATEGORY" val="custom"/>
  <p:tag name="KSO_WM_TEMPLATE_INDEX" val="160165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h_f"/>
  <p:tag name="KSO_WM_UNIT_INDEX" val="1_1_1"/>
  <p:tag name="KSO_WM_UNIT_ID" val="custom160165_17*l_h_f*1_1_1"/>
  <p:tag name="KSO_WM_UNIT_CLEAR" val="1"/>
  <p:tag name="KSO_WM_UNIT_LAYERLEVEL" val="1_1_1"/>
  <p:tag name="KSO_WM_UNIT_VALUE" val="40"/>
  <p:tag name="KSO_WM_UNIT_HIGHLIGHT" val="0"/>
  <p:tag name="KSO_WM_UNIT_COMPATIBLE" val="0"/>
  <p:tag name="KSO_WM_UNIT_PRESET_TEXT_INDEX" val="3"/>
  <p:tag name="KSO_WM_UNIT_PRESET_TEXT_LEN" val="17"/>
  <p:tag name="KSO_WM_DIAGRAM_GROUP_CODE" val="l1-2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i"/>
  <p:tag name="KSO_WM_UNIT_INDEX" val="1_1"/>
  <p:tag name="KSO_WM_UNIT_ID" val="custom160165_17*l_i*1_1"/>
  <p:tag name="KSO_WM_UNIT_CLEAR" val="1"/>
  <p:tag name="KSO_WM_UNIT_LAYERLEVEL" val="1_1"/>
  <p:tag name="KSO_WM_DIAGRAM_GROUP_CODE" val="l1-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h_f"/>
  <p:tag name="KSO_WM_UNIT_INDEX" val="1_2_1"/>
  <p:tag name="KSO_WM_UNIT_ID" val="custom160165_17*l_h_f*1_2_1"/>
  <p:tag name="KSO_WM_UNIT_CLEAR" val="1"/>
  <p:tag name="KSO_WM_UNIT_LAYERLEVEL" val="1_1_1"/>
  <p:tag name="KSO_WM_UNIT_VALUE" val="40"/>
  <p:tag name="KSO_WM_UNIT_HIGHLIGHT" val="0"/>
  <p:tag name="KSO_WM_UNIT_COMPATIBLE" val="0"/>
  <p:tag name="KSO_WM_UNIT_PRESET_TEXT_INDEX" val="3"/>
  <p:tag name="KSO_WM_UNIT_PRESET_TEXT_LEN" val="17"/>
  <p:tag name="KSO_WM_DIAGRAM_GROUP_CODE" val="l1-2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i"/>
  <p:tag name="KSO_WM_UNIT_INDEX" val="1_2"/>
  <p:tag name="KSO_WM_UNIT_ID" val="custom160165_17*l_i*1_2"/>
  <p:tag name="KSO_WM_UNIT_CLEAR" val="1"/>
  <p:tag name="KSO_WM_UNIT_LAYERLEVEL" val="1_1"/>
  <p:tag name="KSO_WM_DIAGRAM_GROUP_CODE" val="l1-2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h_f"/>
  <p:tag name="KSO_WM_UNIT_INDEX" val="1_4_1"/>
  <p:tag name="KSO_WM_UNIT_ID" val="custom160165_17*l_h_f*1_4_1"/>
  <p:tag name="KSO_WM_UNIT_CLEAR" val="1"/>
  <p:tag name="KSO_WM_UNIT_LAYERLEVEL" val="1_1_1"/>
  <p:tag name="KSO_WM_UNIT_VALUE" val="40"/>
  <p:tag name="KSO_WM_UNIT_HIGHLIGHT" val="0"/>
  <p:tag name="KSO_WM_UNIT_COMPATIBLE" val="0"/>
  <p:tag name="KSO_WM_UNIT_PRESET_TEXT_INDEX" val="3"/>
  <p:tag name="KSO_WM_UNIT_PRESET_TEXT_LEN" val="17"/>
  <p:tag name="KSO_WM_DIAGRAM_GROUP_CODE" val="l1-2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i"/>
  <p:tag name="KSO_WM_UNIT_INDEX" val="1_4"/>
  <p:tag name="KSO_WM_UNIT_ID" val="custom160165_17*l_i*1_4"/>
  <p:tag name="KSO_WM_UNIT_CLEAR" val="1"/>
  <p:tag name="KSO_WM_UNIT_LAYERLEVEL" val="1_1"/>
  <p:tag name="KSO_WM_DIAGRAM_GROUP_CODE" val="l1-2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h_f"/>
  <p:tag name="KSO_WM_UNIT_INDEX" val="1_5_1"/>
  <p:tag name="KSO_WM_UNIT_ID" val="custom160165_17*l_h_f*1_5_1"/>
  <p:tag name="KSO_WM_UNIT_CLEAR" val="1"/>
  <p:tag name="KSO_WM_UNIT_LAYERLEVEL" val="1_1_1"/>
  <p:tag name="KSO_WM_UNIT_VALUE" val="40"/>
  <p:tag name="KSO_WM_UNIT_HIGHLIGHT" val="0"/>
  <p:tag name="KSO_WM_UNIT_COMPATIBLE" val="0"/>
  <p:tag name="KSO_WM_UNIT_PRESET_TEXT_INDEX" val="3"/>
  <p:tag name="KSO_WM_UNIT_PRESET_TEXT_LEN" val="17"/>
  <p:tag name="KSO_WM_DIAGRAM_GROUP_CODE" val="l1-2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l_i"/>
  <p:tag name="KSO_WM_UNIT_INDEX" val="1_5"/>
  <p:tag name="KSO_WM_UNIT_ID" val="custom160165_17*l_i*1_5"/>
  <p:tag name="KSO_WM_UNIT_CLEAR" val="1"/>
  <p:tag name="KSO_WM_UNIT_LAYERLEVEL" val="1_1"/>
  <p:tag name="KSO_WM_DIAGRAM_GROUP_CODE" val="l1-2"/>
</p:tagLst>
</file>

<file path=ppt/tags/tag10.xml><?xml version="1.0" encoding="utf-8"?>
<p:tagLst xmlns:p="http://schemas.openxmlformats.org/presentationml/2006/main">
  <p:tag name="TIMING" val="|9.9|17.5"/>
</p:tagLst>
</file>

<file path=ppt/tags/tag11.xml><?xml version="1.0" encoding="utf-8"?>
<p:tagLst xmlns:p="http://schemas.openxmlformats.org/presentationml/2006/main">
  <p:tag name="TIMING" val="|1.7"/>
</p:tagLst>
</file>

<file path=ppt/tags/tag12.xml><?xml version="1.0" encoding="utf-8"?>
<p:tagLst xmlns:p="http://schemas.openxmlformats.org/presentationml/2006/main">
  <p:tag name="TIMING" val="|2.3"/>
</p:tagLst>
</file>

<file path=ppt/tags/tag13.xml><?xml version="1.0" encoding="utf-8"?>
<p:tagLst xmlns:p="http://schemas.openxmlformats.org/presentationml/2006/main">
  <p:tag name="TIMING" val="|2.3"/>
</p:tagLst>
</file>

<file path=ppt/tags/tag14.xml><?xml version="1.0" encoding="utf-8"?>
<p:tagLst xmlns:p="http://schemas.openxmlformats.org/presentationml/2006/main">
  <p:tag name="TIMING" val="|2.1"/>
</p:tagLst>
</file>

<file path=ppt/tags/tag15.xml><?xml version="1.0" encoding="utf-8"?>
<p:tagLst xmlns:p="http://schemas.openxmlformats.org/presentationml/2006/main">
  <p:tag name="TIMING" val="|12.1"/>
</p:tagLst>
</file>

<file path=ppt/tags/tag16.xml><?xml version="1.0" encoding="utf-8"?>
<p:tagLst xmlns:p="http://schemas.openxmlformats.org/presentationml/2006/main">
  <p:tag name="TIMING" val="|27.1"/>
</p:tagLst>
</file>

<file path=ppt/tags/tag17.xml><?xml version="1.0" encoding="utf-8"?>
<p:tagLst xmlns:p="http://schemas.openxmlformats.org/presentationml/2006/main">
  <p:tag name="TIMING" val="|1|51.7"/>
</p:tagLst>
</file>

<file path=ppt/tags/tag18.xml><?xml version="1.0" encoding="utf-8"?>
<p:tagLst xmlns:p="http://schemas.openxmlformats.org/presentationml/2006/main">
  <p:tag name="TIMING" val="|22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165"/>
  <p:tag name="KSO_WM_UNIT_TYPE" val="a"/>
  <p:tag name="KSO_WM_UNIT_INDEX" val="1"/>
  <p:tag name="KSO_WM_UNIT_ID" val="custom160165_30*a*1"/>
  <p:tag name="KSO_WM_UNIT_CLEAR" val="1"/>
  <p:tag name="KSO_WM_UNIT_LAYERLEVEL" val="1"/>
  <p:tag name="KSO_WM_UNIT_ISCONTENTSTITLE" val="0"/>
  <p:tag name="KSO_WM_UNIT_VALUE" val="10"/>
  <p:tag name="KSO_WM_UNIT_HIGHLIGHT" val="0"/>
  <p:tag name="KSO_WM_UNIT_COMPATIBLE" val="0"/>
  <p:tag name="KSO_WM_UNIT_PRESET_TEXT" val="THANKS"/>
</p:tagLst>
</file>

<file path=ppt/tags/tag20.xml><?xml version="1.0" encoding="utf-8"?>
<p:tagLst xmlns:p="http://schemas.openxmlformats.org/presentationml/2006/main">
  <p:tag name="KSO_WM_TEMPLATE_CATEGORY" val="custom"/>
  <p:tag name="KSO_WM_TEMPLATE_INDEX" val="160165"/>
  <p:tag name="KSO_WM_TAG_VERSION" val="1.0"/>
  <p:tag name="KSO_WM_SLIDE_ID" val="custom160165_29"/>
  <p:tag name="KSO_WM_SLIDE_INDEX" val="29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1_Office 主题">
  <a:themeElements>
    <a:clrScheme name="自定义 1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AF92"/>
      </a:accent1>
      <a:accent2>
        <a:srgbClr val="3F3F3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2912</Words>
  <Application>WPS 演示</Application>
  <PresentationFormat>宽屏</PresentationFormat>
  <Paragraphs>349</Paragraphs>
  <Slides>39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-봄IIL</vt:lpstr>
      <vt:lpstr>Malgun Gothic</vt:lpstr>
      <vt:lpstr>Calibri</vt:lpstr>
      <vt:lpstr>粗标宋体</vt:lpstr>
      <vt:lpstr>微软雅黑</vt:lpstr>
      <vt:lpstr>Tahoma</vt:lpstr>
      <vt:lpstr>Monotype Corsiva</vt:lpstr>
      <vt:lpstr>楷体_GB2312</vt:lpstr>
      <vt:lpstr>新宋体</vt:lpstr>
      <vt:lpstr>隶书</vt:lpstr>
      <vt:lpstr>Arial Unicode MS</vt:lpstr>
      <vt:lpstr>Symbol</vt:lpstr>
      <vt:lpstr>华文彩云</vt:lpstr>
      <vt:lpstr>黑体</vt:lpstr>
      <vt:lpstr>华文行楷</vt:lpstr>
      <vt:lpstr>1_Office 主题</vt:lpstr>
      <vt:lpstr>Equation.3</vt:lpstr>
      <vt:lpstr>MATLAB软件入门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gongqu</cp:lastModifiedBy>
  <cp:revision>292</cp:revision>
  <dcterms:created xsi:type="dcterms:W3CDTF">2016-02-25T08:24:00Z</dcterms:created>
  <dcterms:modified xsi:type="dcterms:W3CDTF">2026-03-01T15:32:24Z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3F6BEF3C137A42AC9995F6F03910CA7C_12</vt:lpwstr>
  </property>
</Properties>
</file>