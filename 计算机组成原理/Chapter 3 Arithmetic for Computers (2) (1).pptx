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144"/>
  </p:handoutMasterIdLst>
  <p:sldIdLst>
    <p:sldId id="270" r:id="rId4"/>
    <p:sldId id="327" r:id="rId6"/>
    <p:sldId id="328" r:id="rId7"/>
    <p:sldId id="325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61" r:id="rId22"/>
    <p:sldId id="362" r:id="rId23"/>
    <p:sldId id="363" r:id="rId24"/>
    <p:sldId id="364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29" r:id="rId38"/>
    <p:sldId id="282" r:id="rId39"/>
    <p:sldId id="283" r:id="rId40"/>
    <p:sldId id="284" r:id="rId41"/>
    <p:sldId id="360" r:id="rId42"/>
    <p:sldId id="359" r:id="rId43"/>
    <p:sldId id="285" r:id="rId44"/>
    <p:sldId id="367" r:id="rId45"/>
    <p:sldId id="369" r:id="rId46"/>
    <p:sldId id="286" r:id="rId47"/>
    <p:sldId id="287" r:id="rId48"/>
    <p:sldId id="288" r:id="rId49"/>
    <p:sldId id="289" r:id="rId50"/>
    <p:sldId id="290" r:id="rId51"/>
    <p:sldId id="368" r:id="rId52"/>
    <p:sldId id="291" r:id="rId53"/>
    <p:sldId id="292" r:id="rId54"/>
    <p:sldId id="371" r:id="rId55"/>
    <p:sldId id="372" r:id="rId56"/>
    <p:sldId id="373" r:id="rId57"/>
    <p:sldId id="374" r:id="rId58"/>
    <p:sldId id="375" r:id="rId59"/>
    <p:sldId id="376" r:id="rId60"/>
    <p:sldId id="377" r:id="rId61"/>
    <p:sldId id="378" r:id="rId62"/>
    <p:sldId id="379" r:id="rId63"/>
    <p:sldId id="380" r:id="rId64"/>
    <p:sldId id="381" r:id="rId65"/>
    <p:sldId id="382" r:id="rId66"/>
    <p:sldId id="383" r:id="rId67"/>
    <p:sldId id="384" r:id="rId68"/>
    <p:sldId id="385" r:id="rId69"/>
    <p:sldId id="386" r:id="rId70"/>
    <p:sldId id="387" r:id="rId71"/>
    <p:sldId id="388" r:id="rId72"/>
    <p:sldId id="389" r:id="rId73"/>
    <p:sldId id="390" r:id="rId74"/>
    <p:sldId id="391" r:id="rId75"/>
    <p:sldId id="392" r:id="rId76"/>
    <p:sldId id="393" r:id="rId77"/>
    <p:sldId id="394" r:id="rId78"/>
    <p:sldId id="395" r:id="rId79"/>
    <p:sldId id="396" r:id="rId80"/>
    <p:sldId id="397" r:id="rId81"/>
    <p:sldId id="398" r:id="rId82"/>
    <p:sldId id="399" r:id="rId83"/>
    <p:sldId id="400" r:id="rId84"/>
    <p:sldId id="401" r:id="rId85"/>
    <p:sldId id="402" r:id="rId86"/>
    <p:sldId id="403" r:id="rId87"/>
    <p:sldId id="404" r:id="rId88"/>
    <p:sldId id="405" r:id="rId89"/>
    <p:sldId id="406" r:id="rId90"/>
    <p:sldId id="407" r:id="rId91"/>
    <p:sldId id="408" r:id="rId92"/>
    <p:sldId id="409" r:id="rId93"/>
    <p:sldId id="410" r:id="rId94"/>
    <p:sldId id="411" r:id="rId95"/>
    <p:sldId id="412" r:id="rId96"/>
    <p:sldId id="413" r:id="rId97"/>
    <p:sldId id="414" r:id="rId98"/>
    <p:sldId id="415" r:id="rId99"/>
    <p:sldId id="416" r:id="rId100"/>
    <p:sldId id="417" r:id="rId101"/>
    <p:sldId id="418" r:id="rId102"/>
    <p:sldId id="419" r:id="rId103"/>
    <p:sldId id="420" r:id="rId104"/>
    <p:sldId id="421" r:id="rId105"/>
    <p:sldId id="293" r:id="rId106"/>
    <p:sldId id="294" r:id="rId107"/>
    <p:sldId id="295" r:id="rId108"/>
    <p:sldId id="298" r:id="rId109"/>
    <p:sldId id="299" r:id="rId110"/>
    <p:sldId id="300" r:id="rId111"/>
    <p:sldId id="296" r:id="rId112"/>
    <p:sldId id="365" r:id="rId113"/>
    <p:sldId id="366" r:id="rId114"/>
    <p:sldId id="297" r:id="rId115"/>
    <p:sldId id="302" r:id="rId116"/>
    <p:sldId id="303" r:id="rId117"/>
    <p:sldId id="304" r:id="rId118"/>
    <p:sldId id="305" r:id="rId119"/>
    <p:sldId id="306" r:id="rId120"/>
    <p:sldId id="307" r:id="rId121"/>
    <p:sldId id="308" r:id="rId122"/>
    <p:sldId id="309" r:id="rId123"/>
    <p:sldId id="310" r:id="rId124"/>
    <p:sldId id="311" r:id="rId125"/>
    <p:sldId id="312" r:id="rId126"/>
    <p:sldId id="319" r:id="rId127"/>
    <p:sldId id="320" r:id="rId128"/>
    <p:sldId id="321" r:id="rId129"/>
    <p:sldId id="313" r:id="rId130"/>
    <p:sldId id="322" r:id="rId131"/>
    <p:sldId id="275" r:id="rId132"/>
    <p:sldId id="314" r:id="rId133"/>
    <p:sldId id="323" r:id="rId134"/>
    <p:sldId id="324" r:id="rId135"/>
    <p:sldId id="316" r:id="rId136"/>
    <p:sldId id="317" r:id="rId137"/>
    <p:sldId id="330" r:id="rId138"/>
    <p:sldId id="331" r:id="rId139"/>
    <p:sldId id="326" r:id="rId140"/>
    <p:sldId id="318" r:id="rId141"/>
    <p:sldId id="333" r:id="rId142"/>
    <p:sldId id="370" r:id="rId143"/>
  </p:sldIdLst>
  <p:sldSz cx="9144000" cy="6858000" type="screen4x3"/>
  <p:notesSz cx="7099300" cy="10234295"/>
  <p:custDataLst>
    <p:tags r:id="rId148"/>
  </p:custDataLst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0000"/>
    <a:srgbClr val="009900"/>
    <a:srgbClr val="CCFF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1" autoAdjust="0"/>
    <p:restoredTop sz="88828" autoAdjust="0"/>
  </p:normalViewPr>
  <p:slideViewPr>
    <p:cSldViewPr>
      <p:cViewPr varScale="1">
        <p:scale>
          <a:sx n="56" d="100"/>
          <a:sy n="56" d="100"/>
        </p:scale>
        <p:origin x="-1397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992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8" Type="http://schemas.openxmlformats.org/officeDocument/2006/relationships/tags" Target="tags/tag1.xml"/><Relationship Id="rId147" Type="http://schemas.openxmlformats.org/officeDocument/2006/relationships/tableStyles" Target="tableStyles.xml"/><Relationship Id="rId146" Type="http://schemas.openxmlformats.org/officeDocument/2006/relationships/viewProps" Target="viewProps.xml"/><Relationship Id="rId145" Type="http://schemas.openxmlformats.org/officeDocument/2006/relationships/presProps" Target="presProps.xml"/><Relationship Id="rId144" Type="http://schemas.openxmlformats.org/officeDocument/2006/relationships/handoutMaster" Target="handoutMasters/handoutMaster1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14" Type="http://schemas.openxmlformats.org/officeDocument/2006/relationships/slide" Target="slides/slide10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" Type="http://schemas.openxmlformats.org/officeDocument/2006/relationships/slide" Target="slides/slide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125" Type="http://schemas.openxmlformats.org/officeDocument/2006/relationships/slide" Target="slides/slide12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8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5" Type="http://schemas.openxmlformats.org/officeDocument/2006/relationships/slide" Target="slides/slide112.xml"/><Relationship Id="rId4" Type="http://schemas.openxmlformats.org/officeDocument/2006/relationships/slide" Target="slides/slide107.xml"/><Relationship Id="rId3" Type="http://schemas.openxmlformats.org/officeDocument/2006/relationships/slide" Target="slides/slide106.xml"/><Relationship Id="rId2" Type="http://schemas.openxmlformats.org/officeDocument/2006/relationships/slide" Target="slides/slide105.xml"/><Relationship Id="rId1" Type="http://schemas.openxmlformats.org/officeDocument/2006/relationships/slide" Target="slides/slide10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  <a:endParaRPr lang="en-AU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fld id="{231B80F3-473D-4DE6-924D-D274C80E0847}" type="datetime3">
              <a:rPr lang="en-AU" altLang="zh-CN"/>
            </a:fld>
            <a:endParaRPr lang="en-AU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AU"/>
              <a:t>Chapter 3 — Arithmetic for Computers</a:t>
            </a:r>
            <a:endParaRPr lang="en-AU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fld id="{B70742B4-EA10-406A-82BE-F3D322135400}" type="slidenum">
              <a:rPr lang="en-AU" altLang="zh-CN"/>
            </a:fld>
            <a:endParaRPr lang="en-AU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AU"/>
              <a:t>Morgan Kaufmann Publishers</a:t>
            </a:r>
            <a:endParaRPr lang="en-AU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fld id="{94B2A7C1-738B-40AB-801E-9D2313C08075}" type="datetime3">
              <a:rPr lang="en-AU" altLang="zh-CN"/>
            </a:fld>
            <a:endParaRPr lang="en-AU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lvl="0"/>
            <a:r>
              <a:rPr lang="en-AU" noProof="0" smtClean="0"/>
              <a:t>Click to edit Master text styles</a:t>
            </a:r>
            <a:endParaRPr lang="en-AU" noProof="0" smtClean="0"/>
          </a:p>
          <a:p>
            <a:pPr lvl="1"/>
            <a:r>
              <a:rPr lang="en-AU" noProof="0" smtClean="0"/>
              <a:t>Second level</a:t>
            </a:r>
            <a:endParaRPr lang="en-AU" noProof="0" smtClean="0"/>
          </a:p>
          <a:p>
            <a:pPr lvl="2"/>
            <a:r>
              <a:rPr lang="en-AU" noProof="0" smtClean="0"/>
              <a:t>Third level</a:t>
            </a:r>
            <a:endParaRPr lang="en-AU" noProof="0" smtClean="0"/>
          </a:p>
          <a:p>
            <a:pPr lvl="3"/>
            <a:r>
              <a:rPr lang="en-AU" noProof="0" smtClean="0"/>
              <a:t>Fourth level</a:t>
            </a:r>
            <a:endParaRPr lang="en-AU" noProof="0" smtClean="0"/>
          </a:p>
          <a:p>
            <a:pPr lvl="4"/>
            <a:r>
              <a:rPr lang="en-AU" noProof="0" smtClean="0"/>
              <a:t>Fifth level</a:t>
            </a:r>
            <a:endParaRPr lang="en-AU" noProof="0" smtClean="0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AU"/>
              <a:t>Chapter 3 — Arithmetic for Computers</a:t>
            </a:r>
            <a:endParaRPr lang="en-AU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fld id="{2372D2EF-E9A4-443D-991B-B354B7392F9A}" type="slidenum">
              <a:rPr lang="en-AU" altLang="zh-CN"/>
            </a:fld>
            <a:endParaRPr lang="en-AU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A241F5-C736-4583-B22B-C7CDE47C7FBF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593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593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8FC176-5F8E-4AC6-B3D8-6F6EC68B0BA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593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1435" y="774703"/>
            <a:ext cx="4716433" cy="382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1435" y="774703"/>
            <a:ext cx="4716433" cy="382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1435" y="774703"/>
            <a:ext cx="4716433" cy="382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rtl="0"/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cascaded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pPr rtl="0"/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adj. 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级联的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 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像瀑布般下落的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zh-CN" altLang="zh-CN" dirty="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1435" y="774703"/>
            <a:ext cx="4716433" cy="382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1435" y="774703"/>
            <a:ext cx="4716433" cy="382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1435" y="774703"/>
            <a:ext cx="4716433" cy="3823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C87863-BB45-4B9F-8A8B-D53A599ACD8B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04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04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968710-58D5-42B0-AD25-F81DFD17A8EF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04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CF5BE5-7ECB-478F-A056-2CC40753B62A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14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14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3BE0CF-3957-497C-A2DF-15E2BA4ED34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14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F968CD-9E1A-41DD-965F-9BEDAD937B8D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24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24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05D780-D20E-4830-BC6B-B3AD7F3C2AA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24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EB0754-4AFE-44A7-9D0F-FB66E669C026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34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34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DD0DDA-00BA-49A0-B16A-3B6236ABC708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34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factorisation</a:t>
            </a:r>
            <a:r>
              <a:rPr lang="en-US" altLang="zh-CN" dirty="0" smtClean="0"/>
              <a:t>  </a:t>
            </a:r>
            <a:endParaRPr lang="en-US" altLang="zh-CN" dirty="0" smtClean="0"/>
          </a:p>
          <a:p>
            <a:r>
              <a:rPr lang="en-US" altLang="zh-CN" dirty="0" smtClean="0"/>
              <a:t>n. </a:t>
            </a:r>
            <a:r>
              <a:rPr lang="zh-CN" altLang="en-US" dirty="0" smtClean="0"/>
              <a:t>因子分解</a:t>
            </a:r>
            <a:endParaRPr lang="en-US" altLang="zh-CN" dirty="0" smtClean="0"/>
          </a:p>
          <a:p>
            <a:r>
              <a:rPr lang="zh-CN" altLang="en-US" dirty="0" smtClean="0"/>
              <a:t>注意</a:t>
            </a:r>
            <a:r>
              <a:rPr lang="en-US" altLang="zh-CN" dirty="0" err="1" smtClean="0"/>
              <a:t>Pi,Gi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与</a:t>
            </a:r>
            <a:r>
              <a:rPr lang="en-US" altLang="zh-CN" baseline="0" dirty="0" err="1" smtClean="0"/>
              <a:t>Ci</a:t>
            </a:r>
            <a:r>
              <a:rPr lang="en-US" altLang="zh-CN" baseline="0" dirty="0" smtClean="0"/>
              <a:t> </a:t>
            </a:r>
            <a:r>
              <a:rPr lang="zh-CN" altLang="en-US" baseline="0" smtClean="0"/>
              <a:t>无关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Morgan Kaufmann Publishers</a:t>
            </a:r>
            <a:endParaRPr lang="en-AU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94B2A7C1-738B-40AB-801E-9D2313C08075}" type="datetime3">
              <a:rPr lang="en-AU" altLang="zh-CN" smtClean="0"/>
            </a:fld>
            <a:endParaRPr lang="en-AU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AU" smtClean="0"/>
              <a:t>Chapter 3 — Arithmetic for Computers</a:t>
            </a:r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372D2EF-E9A4-443D-991B-B354B7392F9A}" type="slidenum">
              <a:rPr lang="en-AU" altLang="zh-CN" smtClean="0"/>
            </a:fld>
            <a:endParaRPr lang="en-AU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73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8063" y="657225"/>
            <a:ext cx="5097462" cy="3824288"/>
          </a:xfr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DC0C97-5FE0-47D4-BF1A-1F0FAEB800B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45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45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E46FBE-B336-4A3A-A680-78A1BDC40C7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45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BFB397-225B-4458-A583-422B68A5FFCA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55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55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2AACF4-C455-4CF6-8301-E634EA7C166C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55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D742E3-14FB-43A2-9D90-8537B14D3CC3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65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65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BDA958-0BBA-4556-A8AE-176DA5088F6D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65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90433A-2ADB-4827-BEF8-3856E1B58F18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75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75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76BD1F-51F5-4C6E-B1C6-343A3223F8E5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75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D8F6024-82E7-4512-806A-AE2A6E08CA75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86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86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63F4531-EE1A-4D28-AC5B-EF79AE21C80D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86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具体的内容参见</a:t>
            </a:r>
            <a:r>
              <a:rPr lang="en-US" altLang="zh-CN" dirty="0" smtClean="0"/>
              <a:t>C.6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1DEC1E-3E15-42BB-B2DA-46FE50F1F00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96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696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322A19-57EF-4306-96D7-284E5E085A23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696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29EB82-CFC7-4900-A54B-DC79B782A915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06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06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047916-C682-4930-9BE9-955EC27B0AD0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06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3735D6-8DCA-4DA2-866A-8798E0CE4F53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16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16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EA6C68-AA64-42B6-A567-6F89EAA0811B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16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73A6EB-292A-421B-9158-E8E5F852278C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27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27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22BE91-A1EA-4385-8D5F-D1AFF3E1784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6F52EE-8E9C-4E88-B519-C98D8F1ADE6A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37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37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75D517-558F-436F-8E6A-C4180F38BE5F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37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82A830-E287-4072-8CBD-6D947D32BA96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47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47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FA2270-58A8-459F-8260-50D3F5480D88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47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6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804545" indent="-309245" eaLnBrk="0" hangingPunct="0">
              <a:defRPr kumimoji="1" sz="26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38250" indent="-247650" eaLnBrk="0" hangingPunct="0">
              <a:defRPr kumimoji="1" sz="26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33550" indent="-247650" eaLnBrk="0" hangingPunct="0">
              <a:defRPr kumimoji="1" sz="26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228850" indent="-247650" eaLnBrk="0" hangingPunct="0">
              <a:defRPr kumimoji="1" sz="26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723515" indent="-24765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218815" indent="-24765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714115" indent="-24765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209415" indent="-247650" eaLnBrk="0" fontAlgn="base" hangingPunct="0">
              <a:spcBef>
                <a:spcPct val="0"/>
              </a:spcBef>
              <a:spcAft>
                <a:spcPct val="0"/>
              </a:spcAft>
              <a:defRPr kumimoji="1" sz="26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E1191F-4B6F-424B-BEDB-359806AF4B6B}" type="slidenum">
              <a:rPr lang="en-US" altLang="zh-CN" sz="1300" b="0">
                <a:solidFill>
                  <a:prstClr val="black"/>
                </a:solidFill>
              </a:rPr>
            </a:fld>
            <a:endParaRPr lang="en-US" altLang="zh-CN" sz="1300" b="0">
              <a:solidFill>
                <a:prstClr val="black"/>
              </a:solidFill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A484E3-5BAE-48D8-9EA3-DACAD45AD72B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57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57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2C0157-115C-408B-9880-C74FB744CEFD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57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72CD549-173C-4614-AD65-0EB2916DB4DF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68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68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073D148-2578-43AB-B799-5EF00EC6686C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68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F0DFB2-FD8B-4158-AC9E-683345CF9E73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78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78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E4600B-3634-4FAF-82CA-B34205154083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78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772D7A-EA48-4EFA-A627-74D0E7C26E0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88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88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F36767-7B1E-42F5-B858-C3EB97000A5B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88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47B11C-080E-4BD9-A57C-AAC27AD796CC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98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798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A24A99-6E5A-4388-A728-CAE923089CA9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798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36CDB8-F5BA-4ECB-992A-88B99D8D0897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09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09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1ED5CF-39A3-4811-BAF4-BDF6577EFAF8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09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790F0D-05F4-40B6-821F-D7042C8D551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19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19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3517AB-FC8F-4EA5-BE9B-83EB96B8C54B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19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59FD31-0020-4A2C-BA0D-5F52E7C74D7E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29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29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AA00EF-FBCC-49BB-91DA-2AD318214137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29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D64F654-4D86-4B91-95C7-9F1779F4AFC7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39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39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8150E5-6BF8-4A7B-98DA-4FB50620D04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39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DB0586-0137-4F89-B1FD-38D3941DC41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49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49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91CB39-99E7-4A0D-8671-F0F72C0057B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49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95B21A-5BC6-4A2D-9B73-369056239E21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60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60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60DE26-1B1B-430A-B1A4-942FCC2A61D7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60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382C11-00E9-432A-BB4A-D32C8BD57BBD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70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70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26A1FC-227E-48C2-8AD2-FBEAEE3B3BB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70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2C27BD-52DA-4CDD-8F14-9E8733F92D65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80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19BE54-CC84-47F1-896D-0ACC94F4E320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80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384DB5-56AE-4C43-9893-05FF720CB9BD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90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890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F520AF-2FC3-4730-AC19-0AEF376F26F7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890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163745-CD51-4162-BDB8-F7FBEABDDA3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011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01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DB1EF8-A15A-43CE-9771-121BA1C20DC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01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AD36B3-DE72-4FD7-9C0E-51743B53355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11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11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717690-DCAE-4908-976E-001645491CFF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11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2FDE36-8C74-4C22-8C55-1E0F8874722D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21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21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3657AE-7AD4-4CD7-83DF-2FF28F65B1A7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21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2D5280-91C2-4DBC-AF5A-F70D7D755F33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31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31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DC77C1-0FA8-4E28-936E-4D890A97F47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31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1D9E49-523D-499B-9662-28EE7709B143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42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42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C73A6C-DCC0-42CE-8527-FE310522685B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42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mtClean="0"/>
              <a:t>No load immediates in floating point instructions; Floating point immediates are used but only for offset calculations in loads and stores</a:t>
            </a:r>
            <a:endParaRPr 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EFD029-83BB-4CC8-B870-7C257E4F6302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523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52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D64FF9-3F5C-4639-BD93-54249E3FE7A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52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F1E524-6564-4E47-8E6F-B20C5BCB8AD0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62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62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08D4C1-BF2A-4761-82DB-2C5DAB37B3A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62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F0EAE1-3492-4BD0-AEEF-BBC27E48FAD1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72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72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A5090E-7264-49DF-B98F-8836BBEFCE63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72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B36861-A23E-4F66-8F22-E2D05C5C8C1B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83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83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40251E-82C0-46AE-A482-C3C947D279B1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83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C4FAB5-D451-4B5E-BBFC-943EA919C47D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93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993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1F2906-EEBC-4169-B790-E18514F91906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993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9BC968-DD5D-43B5-8B34-8759CAB5E809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03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03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B781DF-5BAE-462E-929E-75E2E4916C13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03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E3A920-2135-41C7-8C3F-048613141F2C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13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13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3CFC62-57A6-446A-8A79-E6BC23B8BF36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13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7926DA-E45F-4CC9-BCFA-1A560ADBD250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24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24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AAC3F2-36BD-48B7-906A-B8B1A55BD4A4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24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575818-5B69-46B9-97DD-D0043FD8EA04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34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34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E22A4B-219B-452A-B9FE-26D15F9F53D2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34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94EA86-6587-451D-8247-1C492435B6A7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44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44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7F38F4-E3C3-48C7-B281-B60AFFE95477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44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240150E-B0B9-45D7-8110-B72BA8902B0E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54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54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4D0708-993B-4650-989A-6A28F703F4EA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54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Morgan Kaufmann Publishers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2AE607-9E3F-4A87-B24B-CBA235C8C8BF}" type="datetime3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65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smtClean="0">
                <a:latin typeface="Times New Roman" panose="02020603050405020304" pitchFamily="18" charset="0"/>
              </a:rPr>
              <a:t>Chapter 3 — Arithmetic for Computers</a:t>
            </a:r>
            <a:endParaRPr lang="en-AU" altLang="zh-CN" smtClean="0">
              <a:latin typeface="Times New Roman" panose="02020603050405020304" pitchFamily="18" charset="0"/>
            </a:endParaRPr>
          </a:p>
        </p:txBody>
      </p:sp>
      <p:sp>
        <p:nvSpPr>
          <p:cNvPr id="1065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192B59-79E8-441A-9DAA-5C18829979F5}" type="slidenum">
              <a:rPr lang="en-AU" altLang="zh-CN">
                <a:latin typeface="Times New Roman" panose="02020603050405020304" pitchFamily="18" charset="0"/>
              </a:rPr>
            </a:fld>
            <a:endParaRPr lang="en-AU" altLang="zh-CN">
              <a:latin typeface="Times New Roman" panose="02020603050405020304" pitchFamily="18" charset="0"/>
            </a:endParaRPr>
          </a:p>
        </p:txBody>
      </p:sp>
      <p:sp>
        <p:nvSpPr>
          <p:cNvPr id="1065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/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36"/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37"/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38"/>
          <p:cNvSpPr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48"/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6" name="Rectangle 1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r>
              <a:rPr lang="en-AU"/>
              <a:t>Chapter …</a:t>
            </a:r>
            <a:endParaRPr lang="en-AU"/>
          </a:p>
        </p:txBody>
      </p:sp>
      <p:sp>
        <p:nvSpPr>
          <p:cNvPr id="41997" name="Rectangle 1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1pPr>
          </a:lstStyle>
          <a:p>
            <a:r>
              <a:rPr lang="en-AU"/>
              <a:t>Subtitle</a:t>
            </a:r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3 — Arithmetic for Computers — </a:t>
            </a:r>
            <a:fld id="{9ED5DF9C-31E0-4D77-A353-E0C904335272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3 — Arithmetic for Computers — </a:t>
            </a:r>
            <a:fld id="{BA1D98FD-2411-4ACC-B262-8D403C05603F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3 — Arithmetic for Computers — </a:t>
            </a:r>
            <a:fld id="{D18DD79B-0485-49D9-AD32-D381BBA509ED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3 — Arithmetic for Computers — </a:t>
            </a:r>
            <a:fld id="{3D5A97E7-237A-4811-9D1A-8E7D0E9112EB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3 — Arithmetic for Computers — </a:t>
            </a:r>
            <a:fld id="{B663B431-F4E0-47C6-8550-B22268306A2F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3 — Arithmetic for Computers — </a:t>
            </a:r>
            <a:fld id="{E52C7137-9F11-4612-BE2B-20DA99B54AF7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3 — Arithmetic for Computers — </a:t>
            </a:r>
            <a:fld id="{F831D04B-7809-413D-9E4F-58B7B9AAE99E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3 — Arithmetic for Computers — </a:t>
            </a:r>
            <a:fld id="{A9CC5877-D9C0-4356-B9DB-C1A770EADFDD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3 — Arithmetic for Computers — </a:t>
            </a:r>
            <a:fld id="{B12DB09B-0E6A-494D-AF65-656BBBB0202D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altLang="zh-CN"/>
              <a:t>Chapter 3 — Arithmetic for Computers — </a:t>
            </a:r>
            <a:fld id="{1B8113FB-10C4-41E2-83DB-6500E69684E1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</p:grpSp>
      <p:sp>
        <p:nvSpPr>
          <p:cNvPr id="3276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276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srgbClr val="1C1C1C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srgbClr val="1C1C1C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1D05BA3-947F-49BB-893D-3C2B02E2EEB5}" type="slidenum">
              <a:rPr lang="zh-CN" altLang="en-US">
                <a:solidFill>
                  <a:srgbClr val="1C1C1C"/>
                </a:solidFill>
              </a:rPr>
            </a:fld>
            <a:endParaRPr lang="zh-CN" altLang="en-US">
              <a:solidFill>
                <a:srgbClr val="1C1C1C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1D121-9412-4B34-8247-A2BAFF1CEC5D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6D01D-540F-4E1B-8731-DAED882C2CE6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1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191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980D9-1096-432D-B877-F96BA21EF8A6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09DB3-7346-4FD9-B32E-45E6E463FD1D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A94FE-718E-4AC2-A287-1EF8ABD5A48C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A06FF-0AED-4754-9EA1-ADA25B9A4A7A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B9C1F-CB63-4C6E-B1FA-F416BB17B518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E4ECF-8770-4BFA-B1E4-2AE578A22266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3CCE96-EED6-4182-8C55-4146F7FCEB7F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609600"/>
            <a:ext cx="21336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2484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4717F-C5DB-466E-9052-B1F0A3559A3F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6"/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spAutoFit/>
          </a:bodyPr>
          <a:lstStyle/>
          <a:p>
            <a:pPr lvl="0"/>
            <a:r>
              <a:rPr lang="en-AU" altLang="zh-CN" smtClean="0"/>
              <a:t>Click to edit Master title style</a:t>
            </a:r>
            <a:endParaRPr lang="en-AU" altLang="zh-CN" smtClean="0"/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AU" altLang="zh-CN" smtClean="0"/>
              <a:t>Click to edit Master text styles</a:t>
            </a:r>
            <a:endParaRPr lang="en-AU" altLang="zh-CN" smtClean="0"/>
          </a:p>
          <a:p>
            <a:pPr lvl="1"/>
            <a:r>
              <a:rPr lang="en-AU" altLang="zh-CN" smtClean="0"/>
              <a:t>Second level</a:t>
            </a:r>
            <a:endParaRPr lang="en-AU" altLang="zh-CN" smtClean="0"/>
          </a:p>
          <a:p>
            <a:pPr lvl="2"/>
            <a:r>
              <a:rPr lang="en-AU" altLang="zh-CN" smtClean="0"/>
              <a:t>Third level</a:t>
            </a:r>
            <a:endParaRPr lang="en-AU" altLang="zh-CN" smtClean="0"/>
          </a:p>
          <a:p>
            <a:pPr lvl="3"/>
            <a:r>
              <a:rPr lang="en-AU" altLang="zh-CN" smtClean="0"/>
              <a:t>Fourth level</a:t>
            </a:r>
            <a:endParaRPr lang="en-AU" altLang="zh-CN" smtClean="0"/>
          </a:p>
          <a:p>
            <a:pPr lvl="4"/>
            <a:r>
              <a:rPr lang="en-AU" altLang="zh-CN" smtClean="0"/>
              <a:t>Fifth level</a:t>
            </a:r>
            <a:endParaRPr lang="en-AU" altLang="zh-CN" smtClean="0"/>
          </a:p>
        </p:txBody>
      </p:sp>
      <p:sp>
        <p:nvSpPr>
          <p:cNvPr id="40979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1">
                <a:ea typeface="宋体" panose="02010600030101010101" pitchFamily="2" charset="-122"/>
              </a:defRPr>
            </a:lvl1pPr>
          </a:lstStyle>
          <a:p>
            <a:r>
              <a:rPr lang="en-AU" altLang="zh-CN"/>
              <a:t>Chapter 3 — Arithmetic for Computers — </a:t>
            </a:r>
            <a:fld id="{2B7D68B7-917C-4E95-9866-4DACA907D628}" type="slidenum">
              <a:rPr lang="en-AU" altLang="zh-CN"/>
            </a:fld>
            <a:endParaRPr lang="en-AU" altLang="zh-CN"/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553200"/>
          </a:xfrm>
          <a:prstGeom prst="rect">
            <a:avLst/>
          </a:prstGeom>
          <a:gradFill rotWithShape="0"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zh-CN" altLang="en-US" sz="2400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326659" name="Rectangle 3"/>
          <p:cNvSpPr>
            <a:spLocks noChangeArrowheads="1"/>
          </p:cNvSpPr>
          <p:nvPr/>
        </p:nvSpPr>
        <p:spPr bwMode="auto">
          <a:xfrm>
            <a:off x="2286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zh-CN" altLang="en-US" sz="2400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09600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981200"/>
            <a:ext cx="8534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2666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 smtClean="0">
                <a:ea typeface="宋体" panose="02010600030101010101" pitchFamily="2" charset="-122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32666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1722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 smtClean="0">
                <a:ea typeface="宋体" panose="02010600030101010101" pitchFamily="2" charset="-122"/>
              </a:defRPr>
            </a:lvl1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32666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 smtClean="0">
                <a:ea typeface="宋体" panose="02010600030101010101" pitchFamily="2" charset="-122"/>
              </a:defRPr>
            </a:lvl1pPr>
          </a:lstStyle>
          <a:p>
            <a:pPr eaLnBrk="1" hangingPunct="1">
              <a:defRPr/>
            </a:pPr>
            <a:fld id="{EB55F62E-4289-448D-BD85-B11271A8D7A1}" type="slidenum">
              <a:rPr lang="zh-CN" altLang="en-US">
                <a:solidFill>
                  <a:srgbClr val="000000"/>
                </a:solidFill>
                <a:latin typeface="Tahoma" panose="020B0604030504040204"/>
              </a:rPr>
            </a:fld>
            <a:endParaRPr lang="zh-CN" altLang="en-US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326665" name="Text Box 9"/>
          <p:cNvSpPr txBox="1">
            <a:spLocks noChangeArrowheads="1"/>
          </p:cNvSpPr>
          <p:nvPr/>
        </p:nvSpPr>
        <p:spPr bwMode="auto">
          <a:xfrm>
            <a:off x="228600" y="6378575"/>
            <a:ext cx="1250950" cy="274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1200" b="1">
                <a:solidFill>
                  <a:srgbClr val="0000FF"/>
                </a:solidFill>
                <a:latin typeface="宋体" panose="02010600030101010101" pitchFamily="2" charset="-122"/>
              </a:rPr>
              <a:t>计算机组成原理</a:t>
            </a:r>
            <a:endParaRPr kumimoji="1" lang="zh-CN" altLang="en-US" sz="12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26666" name="Rectangle 10"/>
          <p:cNvSpPr>
            <a:spLocks noGrp="1" noChangeArrowheads="1"/>
          </p:cNvSpPr>
          <p:nvPr userDrawn="1"/>
        </p:nvSpPr>
        <p:spPr bwMode="auto">
          <a:xfrm>
            <a:off x="8001000" y="6172200"/>
            <a:ext cx="16764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algn="ctr">
              <a:defRPr/>
            </a:pPr>
            <a:fld id="{A6D77B9C-F25F-45A0-BCF5-F06DEAD02CF8}" type="slidenum">
              <a:rPr lang="zh-CN" altLang="en-US" sz="1200">
                <a:solidFill>
                  <a:srgbClr val="3333CC"/>
                </a:solidFill>
                <a:latin typeface="Tahoma" panose="020B0604030504040204"/>
              </a:rPr>
            </a:fld>
            <a:endParaRPr lang="zh-CN" altLang="en-US" sz="1200">
              <a:solidFill>
                <a:srgbClr val="3333CC"/>
              </a:solidFill>
              <a:latin typeface="Tahoma" panose="020B060403050404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&#31532;&#20845;&#12289;&#19971;&#12289;&#20843;&#35762;&#65288;&#31639;&#27861;&#19982;&#23454;&#29616;&#65289;/&#20108;&#36827;&#21046;&#20056;&#27861;.swf" TargetMode="Externa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3.bin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4.bin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7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7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8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wmf"/><Relationship Id="rId1" Type="http://schemas.openxmlformats.org/officeDocument/2006/relationships/oleObject" Target="../embeddings/oleObject5.bin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8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emf"/><Relationship Id="rId1" Type="http://schemas.openxmlformats.org/officeDocument/2006/relationships/oleObject" Target="../embeddings/oleObject6.bin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jpe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Arithmetic for Computers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 bwMode="auto">
          <a:xfrm>
            <a:off x="1643063" y="4500563"/>
            <a:ext cx="5857875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endParaRPr lang="en-US" sz="2000" kern="0" dirty="0">
              <a:latin typeface="+mj-lt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0" y="0"/>
            <a:ext cx="9144000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600" kern="0" dirty="0">
                <a:solidFill>
                  <a:srgbClr val="FFC000"/>
                </a:solidFill>
                <a:latin typeface="Arial Black" panose="020B0A04020102020204" pitchFamily="34" charset="0"/>
                <a:ea typeface="+mj-ea"/>
                <a:cs typeface="+mj-cs"/>
              </a:rPr>
              <a:t>Computer Organization and </a:t>
            </a:r>
            <a:r>
              <a:rPr lang="en-US" sz="3600" kern="0" dirty="0" smtClean="0">
                <a:solidFill>
                  <a:srgbClr val="FFC000"/>
                </a:solidFill>
                <a:latin typeface="Arial Black" panose="020B0A04020102020204" pitchFamily="34" charset="0"/>
                <a:ea typeface="+mj-ea"/>
                <a:cs typeface="+mj-cs"/>
              </a:rPr>
              <a:t>Design</a:t>
            </a:r>
            <a:endParaRPr lang="en-US" sz="3600" kern="0" dirty="0">
              <a:solidFill>
                <a:srgbClr val="FFC00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00063" y="292100"/>
            <a:ext cx="8643937" cy="615950"/>
          </a:xfrm>
        </p:spPr>
        <p:txBody>
          <a:bodyPr/>
          <a:lstStyle/>
          <a:p>
            <a:r>
              <a:rPr lang="en-US" sz="3400" smtClean="0"/>
              <a:t>Review:  MIPS (RISC) Design Principles</a:t>
            </a:r>
            <a:endParaRPr lang="en-US" sz="34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solidFill>
                  <a:srgbClr val="FF0000"/>
                </a:solidFill>
              </a:rPr>
              <a:t>Simplicity favors regularity</a:t>
            </a:r>
            <a:endParaRPr lang="en-US" sz="2400" smtClean="0">
              <a:solidFill>
                <a:srgbClr val="FF0000"/>
              </a:solidFill>
            </a:endParaRPr>
          </a:p>
          <a:p>
            <a:pPr lvl="1"/>
            <a:r>
              <a:rPr lang="en-US" sz="2000" smtClean="0"/>
              <a:t>fixed size instructions</a:t>
            </a:r>
            <a:endParaRPr lang="en-US" sz="2000" smtClean="0"/>
          </a:p>
          <a:p>
            <a:pPr lvl="1"/>
            <a:r>
              <a:rPr lang="en-US" sz="2000" smtClean="0"/>
              <a:t>small number of instruction formats</a:t>
            </a:r>
            <a:endParaRPr lang="en-US" sz="2000" smtClean="0"/>
          </a:p>
          <a:p>
            <a:pPr lvl="1"/>
            <a:r>
              <a:rPr lang="en-US" sz="2000" smtClean="0"/>
              <a:t>opcode always the first 6 bits</a:t>
            </a:r>
            <a:endParaRPr lang="en-US" sz="2000" smtClean="0"/>
          </a:p>
          <a:p>
            <a:r>
              <a:rPr lang="en-US" sz="2400" smtClean="0">
                <a:solidFill>
                  <a:srgbClr val="FF0000"/>
                </a:solidFill>
              </a:rPr>
              <a:t>Smaller is faster</a:t>
            </a:r>
            <a:endParaRPr lang="en-US" sz="2400" smtClean="0">
              <a:solidFill>
                <a:srgbClr val="FF0000"/>
              </a:solidFill>
            </a:endParaRPr>
          </a:p>
          <a:p>
            <a:pPr lvl="1"/>
            <a:r>
              <a:rPr lang="en-US" sz="2000" smtClean="0"/>
              <a:t>limited instruction set</a:t>
            </a:r>
            <a:endParaRPr lang="en-US" sz="2000" smtClean="0"/>
          </a:p>
          <a:p>
            <a:pPr lvl="1"/>
            <a:r>
              <a:rPr lang="en-US" sz="2000" smtClean="0"/>
              <a:t>limited number of registers in register file</a:t>
            </a:r>
            <a:endParaRPr lang="en-US" sz="2000" smtClean="0"/>
          </a:p>
          <a:p>
            <a:pPr lvl="1"/>
            <a:r>
              <a:rPr lang="en-US" sz="2000" smtClean="0"/>
              <a:t>limited number of addressing modes</a:t>
            </a:r>
            <a:endParaRPr lang="en-US" sz="2000" smtClean="0"/>
          </a:p>
          <a:p>
            <a:r>
              <a:rPr lang="en-US" sz="2400" smtClean="0">
                <a:solidFill>
                  <a:srgbClr val="FF0000"/>
                </a:solidFill>
              </a:rPr>
              <a:t>Make the common case fast</a:t>
            </a:r>
            <a:endParaRPr lang="en-US" sz="2400" smtClean="0">
              <a:solidFill>
                <a:srgbClr val="FF0000"/>
              </a:solidFill>
            </a:endParaRPr>
          </a:p>
          <a:p>
            <a:pPr lvl="1"/>
            <a:r>
              <a:rPr lang="en-US" sz="2000" smtClean="0"/>
              <a:t>arithmetic operands from the register file (load-store machine)</a:t>
            </a:r>
            <a:endParaRPr lang="en-US" sz="2000" smtClean="0"/>
          </a:p>
          <a:p>
            <a:pPr lvl="1"/>
            <a:r>
              <a:rPr lang="en-US" sz="2000" smtClean="0"/>
              <a:t>allow instructions to contain immediate operands</a:t>
            </a:r>
            <a:endParaRPr lang="en-US" sz="2000" smtClean="0"/>
          </a:p>
          <a:p>
            <a:r>
              <a:rPr lang="en-US" sz="2400" smtClean="0">
                <a:solidFill>
                  <a:srgbClr val="FF0000"/>
                </a:solidFill>
              </a:rPr>
              <a:t>Good design demands good compromises</a:t>
            </a:r>
            <a:endParaRPr lang="en-US" sz="2400" smtClean="0">
              <a:solidFill>
                <a:srgbClr val="FF0000"/>
              </a:solidFill>
            </a:endParaRPr>
          </a:p>
          <a:p>
            <a:pPr lvl="1"/>
            <a:r>
              <a:rPr lang="en-US" sz="2000" smtClean="0"/>
              <a:t>three instruction formats</a:t>
            </a:r>
            <a:r>
              <a:rPr lang="en-US" sz="2000" smtClean="0">
                <a:solidFill>
                  <a:schemeClr val="accent1"/>
                </a:solidFill>
              </a:rPr>
              <a:t> </a:t>
            </a:r>
            <a:endParaRPr lang="en-US" sz="2000" smtClean="0">
              <a:solidFill>
                <a:schemeClr val="accent1"/>
              </a:solidFill>
            </a:endParaRPr>
          </a:p>
          <a:p>
            <a:endParaRPr lang="en-US" sz="2400" smtClean="0"/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B0B9A449-14E9-4637-A276-AF409C01915E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r>
              <a:rPr lang="en-US" sz="3600" smtClean="0"/>
              <a:t>Review:  MIPS Addressing Modes</a:t>
            </a:r>
            <a:endParaRPr lang="en-US" sz="3600" smtClean="0"/>
          </a:p>
        </p:txBody>
      </p:sp>
      <p:sp>
        <p:nvSpPr>
          <p:cNvPr id="5123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A2E2479E-76B2-4FD8-93E3-7B1093686BBB}" type="slidenum">
              <a:rPr lang="en-AU" altLang="zh-CN"/>
            </a:fld>
            <a:endParaRPr lang="en-AU" altLang="zh-CN"/>
          </a:p>
        </p:txBody>
      </p:sp>
      <p:grpSp>
        <p:nvGrpSpPr>
          <p:cNvPr id="5124" name="Group 3"/>
          <p:cNvGrpSpPr/>
          <p:nvPr/>
        </p:nvGrpSpPr>
        <p:grpSpPr bwMode="auto">
          <a:xfrm>
            <a:off x="401638" y="942975"/>
            <a:ext cx="8610600" cy="1128713"/>
            <a:chOff x="192" y="384"/>
            <a:chExt cx="5424" cy="711"/>
          </a:xfrm>
        </p:grpSpPr>
        <p:sp>
          <p:nvSpPr>
            <p:cNvPr id="184" name="Rectangle 4"/>
            <p:cNvSpPr>
              <a:spLocks noChangeArrowheads="1"/>
            </p:cNvSpPr>
            <p:nvPr/>
          </p:nvSpPr>
          <p:spPr bwMode="auto">
            <a:xfrm>
              <a:off x="336" y="624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5" name="Line 5"/>
            <p:cNvSpPr>
              <a:spLocks noChangeShapeType="1"/>
            </p:cNvSpPr>
            <p:nvPr/>
          </p:nvSpPr>
          <p:spPr bwMode="auto">
            <a:xfrm>
              <a:off x="816" y="624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6" name="Line 6"/>
            <p:cNvSpPr>
              <a:spLocks noChangeShapeType="1"/>
            </p:cNvSpPr>
            <p:nvPr/>
          </p:nvSpPr>
          <p:spPr bwMode="auto">
            <a:xfrm>
              <a:off x="1200" y="624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7" name="Line 7"/>
            <p:cNvSpPr>
              <a:spLocks noChangeShapeType="1"/>
            </p:cNvSpPr>
            <p:nvPr/>
          </p:nvSpPr>
          <p:spPr bwMode="auto">
            <a:xfrm>
              <a:off x="1584" y="624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8" name="Line 8"/>
            <p:cNvSpPr>
              <a:spLocks noChangeShapeType="1"/>
            </p:cNvSpPr>
            <p:nvPr/>
          </p:nvSpPr>
          <p:spPr bwMode="auto">
            <a:xfrm>
              <a:off x="1920" y="624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9" name="Line 9"/>
            <p:cNvSpPr>
              <a:spLocks noChangeShapeType="1"/>
            </p:cNvSpPr>
            <p:nvPr/>
          </p:nvSpPr>
          <p:spPr bwMode="auto">
            <a:xfrm>
              <a:off x="2304" y="624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0" name="Rectangle 10"/>
            <p:cNvSpPr>
              <a:spLocks noChangeArrowheads="1"/>
            </p:cNvSpPr>
            <p:nvPr/>
          </p:nvSpPr>
          <p:spPr bwMode="auto">
            <a:xfrm>
              <a:off x="192" y="384"/>
              <a:ext cx="2208" cy="25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</a:rPr>
                <a:t>1. Register addressing</a:t>
              </a:r>
              <a:endParaRPr lang="en-US" sz="2000" kern="0">
                <a:solidFill>
                  <a:srgbClr val="000000"/>
                </a:solidFill>
              </a:endParaRPr>
            </a:p>
          </p:txBody>
        </p:sp>
        <p:sp>
          <p:nvSpPr>
            <p:cNvPr id="191" name="Rectangle 11"/>
            <p:cNvSpPr>
              <a:spLocks noChangeArrowheads="1"/>
            </p:cNvSpPr>
            <p:nvPr/>
          </p:nvSpPr>
          <p:spPr bwMode="auto">
            <a:xfrm>
              <a:off x="3168" y="864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2" name="Text Box 12"/>
            <p:cNvSpPr txBox="1">
              <a:spLocks noChangeArrowheads="1"/>
            </p:cNvSpPr>
            <p:nvPr/>
          </p:nvSpPr>
          <p:spPr bwMode="auto">
            <a:xfrm>
              <a:off x="432" y="624"/>
              <a:ext cx="2284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</a:rPr>
                <a:t>op         rs      rt      rd             funct</a:t>
              </a:r>
              <a:endParaRPr lang="en-US" kern="0">
                <a:solidFill>
                  <a:srgbClr val="000000"/>
                </a:solidFill>
              </a:endParaRPr>
            </a:p>
          </p:txBody>
        </p:sp>
        <p:sp>
          <p:nvSpPr>
            <p:cNvPr id="193" name="Line 13"/>
            <p:cNvSpPr>
              <a:spLocks noChangeShapeType="1"/>
            </p:cNvSpPr>
            <p:nvPr/>
          </p:nvSpPr>
          <p:spPr bwMode="auto">
            <a:xfrm>
              <a:off x="1056" y="816"/>
              <a:ext cx="0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4" name="Line 14"/>
            <p:cNvSpPr>
              <a:spLocks noChangeShapeType="1"/>
            </p:cNvSpPr>
            <p:nvPr/>
          </p:nvSpPr>
          <p:spPr bwMode="auto">
            <a:xfrm>
              <a:off x="1056" y="960"/>
              <a:ext cx="211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5" name="Rectangle 15"/>
            <p:cNvSpPr>
              <a:spLocks noChangeArrowheads="1"/>
            </p:cNvSpPr>
            <p:nvPr/>
          </p:nvSpPr>
          <p:spPr bwMode="auto">
            <a:xfrm>
              <a:off x="3888" y="624"/>
              <a:ext cx="912" cy="25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</a:rPr>
                <a:t>Register</a:t>
              </a:r>
              <a:endParaRPr lang="en-US" sz="2000" kern="0">
                <a:solidFill>
                  <a:srgbClr val="000000"/>
                </a:solidFill>
              </a:endParaRPr>
            </a:p>
          </p:txBody>
        </p:sp>
        <p:sp>
          <p:nvSpPr>
            <p:cNvPr id="196" name="Text Box 16"/>
            <p:cNvSpPr txBox="1">
              <a:spLocks noChangeArrowheads="1"/>
            </p:cNvSpPr>
            <p:nvPr/>
          </p:nvSpPr>
          <p:spPr bwMode="auto">
            <a:xfrm>
              <a:off x="3744" y="864"/>
              <a:ext cx="996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 dirty="0">
                  <a:solidFill>
                    <a:srgbClr val="000000"/>
                  </a:solidFill>
                </a:rPr>
                <a:t>word </a:t>
              </a:r>
              <a:r>
                <a:rPr lang="en-US" kern="0" dirty="0">
                  <a:solidFill>
                    <a:srgbClr val="FF0000"/>
                  </a:solidFill>
                </a:rPr>
                <a:t>operand</a:t>
              </a:r>
              <a:endParaRPr lang="en-US" kern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125" name="Group 17"/>
          <p:cNvGrpSpPr/>
          <p:nvPr/>
        </p:nvGrpSpPr>
        <p:grpSpPr bwMode="auto">
          <a:xfrm>
            <a:off x="401638" y="1857375"/>
            <a:ext cx="8610600" cy="1509713"/>
            <a:chOff x="192" y="960"/>
            <a:chExt cx="5424" cy="951"/>
          </a:xfrm>
        </p:grpSpPr>
        <p:sp>
          <p:nvSpPr>
            <p:cNvPr id="198" name="Text Box 18"/>
            <p:cNvSpPr txBox="1">
              <a:spLocks noChangeArrowheads="1"/>
            </p:cNvSpPr>
            <p:nvPr/>
          </p:nvSpPr>
          <p:spPr bwMode="auto">
            <a:xfrm>
              <a:off x="432" y="1200"/>
              <a:ext cx="1916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</a:rPr>
                <a:t>op         rs       rt           offset</a:t>
              </a:r>
              <a:endParaRPr lang="en-US" kern="0">
                <a:solidFill>
                  <a:srgbClr val="000000"/>
                </a:solidFill>
              </a:endParaRPr>
            </a:p>
          </p:txBody>
        </p:sp>
        <p:sp>
          <p:nvSpPr>
            <p:cNvPr id="199" name="Rectangle 19"/>
            <p:cNvSpPr>
              <a:spLocks noChangeArrowheads="1"/>
            </p:cNvSpPr>
            <p:nvPr/>
          </p:nvSpPr>
          <p:spPr bwMode="auto">
            <a:xfrm>
              <a:off x="336" y="1200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0" name="Line 20"/>
            <p:cNvSpPr>
              <a:spLocks noChangeShapeType="1"/>
            </p:cNvSpPr>
            <p:nvPr/>
          </p:nvSpPr>
          <p:spPr bwMode="auto">
            <a:xfrm>
              <a:off x="816" y="1200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1" name="Line 21"/>
            <p:cNvSpPr>
              <a:spLocks noChangeShapeType="1"/>
            </p:cNvSpPr>
            <p:nvPr/>
          </p:nvSpPr>
          <p:spPr bwMode="auto">
            <a:xfrm>
              <a:off x="1200" y="1200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2" name="Line 22"/>
            <p:cNvSpPr>
              <a:spLocks noChangeShapeType="1"/>
            </p:cNvSpPr>
            <p:nvPr/>
          </p:nvSpPr>
          <p:spPr bwMode="auto">
            <a:xfrm>
              <a:off x="1584" y="1200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3" name="Rectangle 23"/>
            <p:cNvSpPr>
              <a:spLocks noChangeArrowheads="1"/>
            </p:cNvSpPr>
            <p:nvPr/>
          </p:nvSpPr>
          <p:spPr bwMode="auto">
            <a:xfrm>
              <a:off x="192" y="960"/>
              <a:ext cx="2832" cy="252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 dirty="0">
                  <a:solidFill>
                    <a:srgbClr val="000000"/>
                  </a:solidFill>
                </a:rPr>
                <a:t>2. Base (displacement) addressing</a:t>
              </a:r>
              <a:endParaRPr lang="en-US" sz="2000" kern="0" dirty="0">
                <a:solidFill>
                  <a:srgbClr val="000000"/>
                </a:solidFill>
              </a:endParaRPr>
            </a:p>
          </p:txBody>
        </p:sp>
        <p:sp>
          <p:nvSpPr>
            <p:cNvPr id="204" name="Rectangle 24"/>
            <p:cNvSpPr>
              <a:spLocks noChangeArrowheads="1"/>
            </p:cNvSpPr>
            <p:nvPr/>
          </p:nvSpPr>
          <p:spPr bwMode="auto">
            <a:xfrm>
              <a:off x="336" y="1680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5" name="Text Box 25"/>
            <p:cNvSpPr txBox="1">
              <a:spLocks noChangeArrowheads="1"/>
            </p:cNvSpPr>
            <p:nvPr/>
          </p:nvSpPr>
          <p:spPr bwMode="auto">
            <a:xfrm>
              <a:off x="1008" y="1680"/>
              <a:ext cx="948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</a:rPr>
                <a:t>base register</a:t>
              </a:r>
              <a:endParaRPr lang="en-US" kern="0">
                <a:solidFill>
                  <a:srgbClr val="000000"/>
                </a:solidFill>
              </a:endParaRPr>
            </a:p>
          </p:txBody>
        </p:sp>
        <p:grpSp>
          <p:nvGrpSpPr>
            <p:cNvPr id="5184" name="Group 26"/>
            <p:cNvGrpSpPr/>
            <p:nvPr/>
          </p:nvGrpSpPr>
          <p:grpSpPr bwMode="auto">
            <a:xfrm>
              <a:off x="2880" y="1416"/>
              <a:ext cx="192" cy="340"/>
              <a:chOff x="1392" y="2880"/>
              <a:chExt cx="288" cy="480"/>
            </a:xfrm>
          </p:grpSpPr>
          <p:sp>
            <p:nvSpPr>
              <p:cNvPr id="215" name="Line 27"/>
              <p:cNvSpPr>
                <a:spLocks noChangeShapeType="1"/>
              </p:cNvSpPr>
              <p:nvPr/>
            </p:nvSpPr>
            <p:spPr bwMode="auto">
              <a:xfrm>
                <a:off x="1392" y="3072"/>
                <a:ext cx="48" cy="4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6" name="Line 28"/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48" cy="4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7" name="Line 29"/>
              <p:cNvSpPr>
                <a:spLocks noChangeShapeType="1"/>
              </p:cNvSpPr>
              <p:nvPr/>
            </p:nvSpPr>
            <p:spPr bwMode="auto">
              <a:xfrm flipV="1">
                <a:off x="1392" y="2880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8" name="Line 30"/>
              <p:cNvSpPr>
                <a:spLocks noChangeShapeType="1"/>
              </p:cNvSpPr>
              <p:nvPr/>
            </p:nvSpPr>
            <p:spPr bwMode="auto">
              <a:xfrm flipV="1">
                <a:off x="1392" y="3168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9" name="Line 31"/>
              <p:cNvSpPr>
                <a:spLocks noChangeShapeType="1"/>
              </p:cNvSpPr>
              <p:nvPr/>
            </p:nvSpPr>
            <p:spPr bwMode="auto">
              <a:xfrm flipV="1">
                <a:off x="1392" y="3216"/>
                <a:ext cx="288" cy="14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0" name="Line 32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1" name="Line 33"/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288" cy="14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07" name="Line 34"/>
            <p:cNvSpPr>
              <a:spLocks noChangeShapeType="1"/>
            </p:cNvSpPr>
            <p:nvPr/>
          </p:nvSpPr>
          <p:spPr bwMode="auto">
            <a:xfrm>
              <a:off x="2160" y="1392"/>
              <a:ext cx="0" cy="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8" name="Line 35"/>
            <p:cNvSpPr>
              <a:spLocks noChangeShapeType="1"/>
            </p:cNvSpPr>
            <p:nvPr/>
          </p:nvSpPr>
          <p:spPr bwMode="auto">
            <a:xfrm>
              <a:off x="2160" y="1440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9" name="Line 36"/>
            <p:cNvSpPr>
              <a:spLocks noChangeShapeType="1"/>
            </p:cNvSpPr>
            <p:nvPr/>
          </p:nvSpPr>
          <p:spPr bwMode="auto">
            <a:xfrm>
              <a:off x="1584" y="1632"/>
              <a:ext cx="12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0" name="Line 37"/>
            <p:cNvSpPr>
              <a:spLocks noChangeShapeType="1"/>
            </p:cNvSpPr>
            <p:nvPr/>
          </p:nvSpPr>
          <p:spPr bwMode="auto">
            <a:xfrm>
              <a:off x="1584" y="1632"/>
              <a:ext cx="0" cy="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1" name="Rectangle 38"/>
            <p:cNvSpPr>
              <a:spLocks noChangeArrowheads="1"/>
            </p:cNvSpPr>
            <p:nvPr/>
          </p:nvSpPr>
          <p:spPr bwMode="auto">
            <a:xfrm>
              <a:off x="3168" y="1440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2" name="Rectangle 39"/>
            <p:cNvSpPr>
              <a:spLocks noChangeArrowheads="1"/>
            </p:cNvSpPr>
            <p:nvPr/>
          </p:nvSpPr>
          <p:spPr bwMode="auto">
            <a:xfrm>
              <a:off x="3888" y="1200"/>
              <a:ext cx="912" cy="25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</a:rPr>
                <a:t>Memory</a:t>
              </a:r>
              <a:endParaRPr lang="en-US" sz="2000" kern="0">
                <a:solidFill>
                  <a:srgbClr val="000000"/>
                </a:solidFill>
              </a:endParaRPr>
            </a:p>
          </p:txBody>
        </p:sp>
        <p:sp>
          <p:nvSpPr>
            <p:cNvPr id="213" name="Text Box 40"/>
            <p:cNvSpPr txBox="1">
              <a:spLocks noChangeArrowheads="1"/>
            </p:cNvSpPr>
            <p:nvPr/>
          </p:nvSpPr>
          <p:spPr bwMode="auto">
            <a:xfrm>
              <a:off x="3552" y="1440"/>
              <a:ext cx="1476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 dirty="0">
                  <a:solidFill>
                    <a:srgbClr val="000000"/>
                  </a:solidFill>
                </a:rPr>
                <a:t>word or byte </a:t>
              </a:r>
              <a:r>
                <a:rPr lang="en-US" kern="0" dirty="0">
                  <a:solidFill>
                    <a:srgbClr val="FF0000"/>
                  </a:solidFill>
                </a:rPr>
                <a:t>operand</a:t>
              </a:r>
              <a:endParaRPr lang="en-US" kern="0" dirty="0">
                <a:solidFill>
                  <a:srgbClr val="FF0000"/>
                </a:solidFill>
              </a:endParaRPr>
            </a:p>
          </p:txBody>
        </p:sp>
        <p:sp>
          <p:nvSpPr>
            <p:cNvPr id="214" name="Line 41"/>
            <p:cNvSpPr>
              <a:spLocks noChangeShapeType="1"/>
            </p:cNvSpPr>
            <p:nvPr/>
          </p:nvSpPr>
          <p:spPr bwMode="auto">
            <a:xfrm>
              <a:off x="3072" y="1584"/>
              <a:ext cx="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126" name="Group 42"/>
          <p:cNvGrpSpPr/>
          <p:nvPr/>
        </p:nvGrpSpPr>
        <p:grpSpPr bwMode="auto">
          <a:xfrm>
            <a:off x="401638" y="3305175"/>
            <a:ext cx="4114800" cy="747713"/>
            <a:chOff x="192" y="1872"/>
            <a:chExt cx="2592" cy="471"/>
          </a:xfrm>
        </p:grpSpPr>
        <p:sp>
          <p:nvSpPr>
            <p:cNvPr id="223" name="Rectangle 43"/>
            <p:cNvSpPr>
              <a:spLocks noChangeArrowheads="1"/>
            </p:cNvSpPr>
            <p:nvPr/>
          </p:nvSpPr>
          <p:spPr bwMode="auto">
            <a:xfrm>
              <a:off x="192" y="1872"/>
              <a:ext cx="2208" cy="25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</a:rPr>
                <a:t>3. Immediate addressing</a:t>
              </a:r>
              <a:endParaRPr lang="en-US" sz="2000" kern="0">
                <a:solidFill>
                  <a:srgbClr val="000000"/>
                </a:solidFill>
              </a:endParaRPr>
            </a:p>
          </p:txBody>
        </p:sp>
        <p:sp>
          <p:nvSpPr>
            <p:cNvPr id="224" name="Text Box 44"/>
            <p:cNvSpPr txBox="1">
              <a:spLocks noChangeArrowheads="1"/>
            </p:cNvSpPr>
            <p:nvPr/>
          </p:nvSpPr>
          <p:spPr bwMode="auto">
            <a:xfrm>
              <a:off x="432" y="2112"/>
              <a:ext cx="1892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 dirty="0">
                  <a:solidFill>
                    <a:srgbClr val="000000"/>
                  </a:solidFill>
                </a:rPr>
                <a:t>op         </a:t>
              </a:r>
              <a:r>
                <a:rPr lang="en-US" kern="0" dirty="0" err="1">
                  <a:solidFill>
                    <a:srgbClr val="000000"/>
                  </a:solidFill>
                </a:rPr>
                <a:t>rs</a:t>
              </a:r>
              <a:r>
                <a:rPr lang="en-US" kern="0" dirty="0">
                  <a:solidFill>
                    <a:srgbClr val="000000"/>
                  </a:solidFill>
                </a:rPr>
                <a:t>      </a:t>
              </a:r>
              <a:r>
                <a:rPr lang="en-US" kern="0" dirty="0" err="1">
                  <a:solidFill>
                    <a:srgbClr val="000000"/>
                  </a:solidFill>
                </a:rPr>
                <a:t>rt</a:t>
              </a:r>
              <a:r>
                <a:rPr lang="en-US" kern="0" dirty="0">
                  <a:solidFill>
                    <a:srgbClr val="000000"/>
                  </a:solidFill>
                </a:rPr>
                <a:t>       </a:t>
              </a:r>
              <a:r>
                <a:rPr lang="en-US" kern="0" dirty="0">
                  <a:solidFill>
                    <a:srgbClr val="FF0000"/>
                  </a:solidFill>
                </a:rPr>
                <a:t>operand</a:t>
              </a:r>
              <a:endParaRPr lang="en-US" kern="0" dirty="0">
                <a:solidFill>
                  <a:srgbClr val="FF0000"/>
                </a:solidFill>
              </a:endParaRPr>
            </a:p>
          </p:txBody>
        </p:sp>
        <p:sp>
          <p:nvSpPr>
            <p:cNvPr id="225" name="Rectangle 45"/>
            <p:cNvSpPr>
              <a:spLocks noChangeArrowheads="1"/>
            </p:cNvSpPr>
            <p:nvPr/>
          </p:nvSpPr>
          <p:spPr bwMode="auto">
            <a:xfrm>
              <a:off x="336" y="2112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26" name="Line 46"/>
            <p:cNvSpPr>
              <a:spLocks noChangeShapeType="1"/>
            </p:cNvSpPr>
            <p:nvPr/>
          </p:nvSpPr>
          <p:spPr bwMode="auto">
            <a:xfrm>
              <a:off x="816" y="2112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7" name="Line 47"/>
            <p:cNvSpPr>
              <a:spLocks noChangeShapeType="1"/>
            </p:cNvSpPr>
            <p:nvPr/>
          </p:nvSpPr>
          <p:spPr bwMode="auto">
            <a:xfrm>
              <a:off x="1200" y="2112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8" name="Line 48"/>
            <p:cNvSpPr>
              <a:spLocks noChangeShapeType="1"/>
            </p:cNvSpPr>
            <p:nvPr/>
          </p:nvSpPr>
          <p:spPr bwMode="auto">
            <a:xfrm>
              <a:off x="1584" y="2112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127" name="Group 49"/>
          <p:cNvGrpSpPr/>
          <p:nvPr/>
        </p:nvGrpSpPr>
        <p:grpSpPr bwMode="auto">
          <a:xfrm>
            <a:off x="401638" y="3990975"/>
            <a:ext cx="8610600" cy="1509713"/>
            <a:chOff x="192" y="2304"/>
            <a:chExt cx="5424" cy="951"/>
          </a:xfrm>
        </p:grpSpPr>
        <p:sp>
          <p:nvSpPr>
            <p:cNvPr id="230" name="Rectangle 50"/>
            <p:cNvSpPr>
              <a:spLocks noChangeArrowheads="1"/>
            </p:cNvSpPr>
            <p:nvPr/>
          </p:nvSpPr>
          <p:spPr bwMode="auto">
            <a:xfrm>
              <a:off x="192" y="2304"/>
              <a:ext cx="2208" cy="25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</a:rPr>
                <a:t>4. PC-relative addressing</a:t>
              </a:r>
              <a:endParaRPr lang="en-US" sz="2000" kern="0">
                <a:solidFill>
                  <a:srgbClr val="000000"/>
                </a:solidFill>
              </a:endParaRPr>
            </a:p>
          </p:txBody>
        </p:sp>
        <p:sp>
          <p:nvSpPr>
            <p:cNvPr id="231" name="Text Box 51"/>
            <p:cNvSpPr txBox="1">
              <a:spLocks noChangeArrowheads="1"/>
            </p:cNvSpPr>
            <p:nvPr/>
          </p:nvSpPr>
          <p:spPr bwMode="auto">
            <a:xfrm>
              <a:off x="432" y="2544"/>
              <a:ext cx="1916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</a:rPr>
                <a:t>op         rs       rt           offset</a:t>
              </a:r>
              <a:endParaRPr lang="en-US" kern="0">
                <a:solidFill>
                  <a:srgbClr val="000000"/>
                </a:solidFill>
              </a:endParaRPr>
            </a:p>
          </p:txBody>
        </p:sp>
        <p:sp>
          <p:nvSpPr>
            <p:cNvPr id="232" name="Rectangle 52"/>
            <p:cNvSpPr>
              <a:spLocks noChangeArrowheads="1"/>
            </p:cNvSpPr>
            <p:nvPr/>
          </p:nvSpPr>
          <p:spPr bwMode="auto">
            <a:xfrm>
              <a:off x="336" y="2544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3" name="Line 53"/>
            <p:cNvSpPr>
              <a:spLocks noChangeShapeType="1"/>
            </p:cNvSpPr>
            <p:nvPr/>
          </p:nvSpPr>
          <p:spPr bwMode="auto">
            <a:xfrm>
              <a:off x="816" y="2544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4" name="Line 54"/>
            <p:cNvSpPr>
              <a:spLocks noChangeShapeType="1"/>
            </p:cNvSpPr>
            <p:nvPr/>
          </p:nvSpPr>
          <p:spPr bwMode="auto">
            <a:xfrm>
              <a:off x="1200" y="2544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5" name="Line 55"/>
            <p:cNvSpPr>
              <a:spLocks noChangeShapeType="1"/>
            </p:cNvSpPr>
            <p:nvPr/>
          </p:nvSpPr>
          <p:spPr bwMode="auto">
            <a:xfrm>
              <a:off x="1584" y="2544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6" name="Rectangle 56"/>
            <p:cNvSpPr>
              <a:spLocks noChangeArrowheads="1"/>
            </p:cNvSpPr>
            <p:nvPr/>
          </p:nvSpPr>
          <p:spPr bwMode="auto">
            <a:xfrm>
              <a:off x="336" y="3024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37" name="Text Box 57"/>
            <p:cNvSpPr txBox="1">
              <a:spLocks noChangeArrowheads="1"/>
            </p:cNvSpPr>
            <p:nvPr/>
          </p:nvSpPr>
          <p:spPr bwMode="auto">
            <a:xfrm>
              <a:off x="816" y="3024"/>
              <a:ext cx="1556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</a:rPr>
                <a:t>Program Counter (PC)</a:t>
              </a:r>
              <a:endParaRPr lang="en-US" kern="0">
                <a:solidFill>
                  <a:srgbClr val="000000"/>
                </a:solidFill>
              </a:endParaRPr>
            </a:p>
          </p:txBody>
        </p:sp>
        <p:grpSp>
          <p:nvGrpSpPr>
            <p:cNvPr id="5154" name="Group 58"/>
            <p:cNvGrpSpPr/>
            <p:nvPr/>
          </p:nvGrpSpPr>
          <p:grpSpPr bwMode="auto">
            <a:xfrm>
              <a:off x="2880" y="2760"/>
              <a:ext cx="192" cy="340"/>
              <a:chOff x="1392" y="2880"/>
              <a:chExt cx="288" cy="480"/>
            </a:xfrm>
          </p:grpSpPr>
          <p:sp>
            <p:nvSpPr>
              <p:cNvPr id="247" name="Line 59"/>
              <p:cNvSpPr>
                <a:spLocks noChangeShapeType="1"/>
              </p:cNvSpPr>
              <p:nvPr/>
            </p:nvSpPr>
            <p:spPr bwMode="auto">
              <a:xfrm>
                <a:off x="1392" y="3072"/>
                <a:ext cx="48" cy="4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8" name="Line 60"/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48" cy="4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49" name="Line 61"/>
              <p:cNvSpPr>
                <a:spLocks noChangeShapeType="1"/>
              </p:cNvSpPr>
              <p:nvPr/>
            </p:nvSpPr>
            <p:spPr bwMode="auto">
              <a:xfrm flipV="1">
                <a:off x="1392" y="2880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0" name="Line 62"/>
              <p:cNvSpPr>
                <a:spLocks noChangeShapeType="1"/>
              </p:cNvSpPr>
              <p:nvPr/>
            </p:nvSpPr>
            <p:spPr bwMode="auto">
              <a:xfrm flipV="1">
                <a:off x="1392" y="3168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1" name="Line 63"/>
              <p:cNvSpPr>
                <a:spLocks noChangeShapeType="1"/>
              </p:cNvSpPr>
              <p:nvPr/>
            </p:nvSpPr>
            <p:spPr bwMode="auto">
              <a:xfrm flipV="1">
                <a:off x="1392" y="3216"/>
                <a:ext cx="288" cy="14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2" name="Line 64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53" name="Line 65"/>
              <p:cNvSpPr>
                <a:spLocks noChangeShapeType="1"/>
              </p:cNvSpPr>
              <p:nvPr/>
            </p:nvSpPr>
            <p:spPr bwMode="auto">
              <a:xfrm>
                <a:off x="1392" y="2880"/>
                <a:ext cx="288" cy="14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39" name="Line 66"/>
            <p:cNvSpPr>
              <a:spLocks noChangeShapeType="1"/>
            </p:cNvSpPr>
            <p:nvPr/>
          </p:nvSpPr>
          <p:spPr bwMode="auto">
            <a:xfrm>
              <a:off x="2160" y="2736"/>
              <a:ext cx="0" cy="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0" name="Line 67"/>
            <p:cNvSpPr>
              <a:spLocks noChangeShapeType="1"/>
            </p:cNvSpPr>
            <p:nvPr/>
          </p:nvSpPr>
          <p:spPr bwMode="auto">
            <a:xfrm>
              <a:off x="2160" y="2784"/>
              <a:ext cx="7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1" name="Line 68"/>
            <p:cNvSpPr>
              <a:spLocks noChangeShapeType="1"/>
            </p:cNvSpPr>
            <p:nvPr/>
          </p:nvSpPr>
          <p:spPr bwMode="auto">
            <a:xfrm>
              <a:off x="1584" y="2976"/>
              <a:ext cx="12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2" name="Line 69"/>
            <p:cNvSpPr>
              <a:spLocks noChangeShapeType="1"/>
            </p:cNvSpPr>
            <p:nvPr/>
          </p:nvSpPr>
          <p:spPr bwMode="auto">
            <a:xfrm>
              <a:off x="1584" y="2976"/>
              <a:ext cx="0" cy="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3" name="Rectangle 70"/>
            <p:cNvSpPr>
              <a:spLocks noChangeArrowheads="1"/>
            </p:cNvSpPr>
            <p:nvPr/>
          </p:nvSpPr>
          <p:spPr bwMode="auto">
            <a:xfrm>
              <a:off x="3168" y="2784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44" name="Rectangle 71"/>
            <p:cNvSpPr>
              <a:spLocks noChangeArrowheads="1"/>
            </p:cNvSpPr>
            <p:nvPr/>
          </p:nvSpPr>
          <p:spPr bwMode="auto">
            <a:xfrm>
              <a:off x="3888" y="2544"/>
              <a:ext cx="912" cy="25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</a:rPr>
                <a:t>Memory</a:t>
              </a:r>
              <a:endParaRPr lang="en-US" sz="2000" kern="0">
                <a:solidFill>
                  <a:srgbClr val="000000"/>
                </a:solidFill>
              </a:endParaRPr>
            </a:p>
          </p:txBody>
        </p:sp>
        <p:sp>
          <p:nvSpPr>
            <p:cNvPr id="245" name="Text Box 72"/>
            <p:cNvSpPr txBox="1">
              <a:spLocks noChangeArrowheads="1"/>
            </p:cNvSpPr>
            <p:nvPr/>
          </p:nvSpPr>
          <p:spPr bwMode="auto">
            <a:xfrm>
              <a:off x="3312" y="2784"/>
              <a:ext cx="1988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 dirty="0">
                  <a:solidFill>
                    <a:srgbClr val="000000"/>
                  </a:solidFill>
                </a:rPr>
                <a:t>branch destination </a:t>
              </a:r>
              <a:r>
                <a:rPr lang="en-US" kern="0" dirty="0">
                  <a:solidFill>
                    <a:srgbClr val="FF0000"/>
                  </a:solidFill>
                </a:rPr>
                <a:t>instruction</a:t>
              </a:r>
              <a:endParaRPr lang="en-US" kern="0" dirty="0">
                <a:solidFill>
                  <a:srgbClr val="FF0000"/>
                </a:solidFill>
              </a:endParaRPr>
            </a:p>
          </p:txBody>
        </p:sp>
        <p:sp>
          <p:nvSpPr>
            <p:cNvPr id="246" name="Line 73"/>
            <p:cNvSpPr>
              <a:spLocks noChangeShapeType="1"/>
            </p:cNvSpPr>
            <p:nvPr/>
          </p:nvSpPr>
          <p:spPr bwMode="auto">
            <a:xfrm>
              <a:off x="3072" y="2928"/>
              <a:ext cx="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128" name="Group 74"/>
          <p:cNvGrpSpPr/>
          <p:nvPr/>
        </p:nvGrpSpPr>
        <p:grpSpPr bwMode="auto">
          <a:xfrm>
            <a:off x="401638" y="5438775"/>
            <a:ext cx="8610600" cy="1433513"/>
            <a:chOff x="192" y="3216"/>
            <a:chExt cx="5424" cy="903"/>
          </a:xfrm>
        </p:grpSpPr>
        <p:sp>
          <p:nvSpPr>
            <p:cNvPr id="255" name="Rectangle 75"/>
            <p:cNvSpPr>
              <a:spLocks noChangeArrowheads="1"/>
            </p:cNvSpPr>
            <p:nvPr/>
          </p:nvSpPr>
          <p:spPr bwMode="auto">
            <a:xfrm>
              <a:off x="192" y="3216"/>
              <a:ext cx="2208" cy="25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</a:rPr>
                <a:t>5. Pseudo-direct addressing</a:t>
              </a:r>
              <a:endParaRPr lang="en-US" sz="2000" kern="0">
                <a:solidFill>
                  <a:srgbClr val="000000"/>
                </a:solidFill>
              </a:endParaRPr>
            </a:p>
          </p:txBody>
        </p:sp>
        <p:sp>
          <p:nvSpPr>
            <p:cNvPr id="256" name="Text Box 76"/>
            <p:cNvSpPr txBox="1">
              <a:spLocks noChangeArrowheads="1"/>
            </p:cNvSpPr>
            <p:nvPr/>
          </p:nvSpPr>
          <p:spPr bwMode="auto">
            <a:xfrm>
              <a:off x="432" y="3456"/>
              <a:ext cx="1740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</a:rPr>
                <a:t>op               jump address</a:t>
              </a:r>
              <a:endParaRPr lang="en-US" kern="0">
                <a:solidFill>
                  <a:srgbClr val="000000"/>
                </a:solidFill>
              </a:endParaRPr>
            </a:p>
          </p:txBody>
        </p:sp>
        <p:sp>
          <p:nvSpPr>
            <p:cNvPr id="257" name="Rectangle 77"/>
            <p:cNvSpPr>
              <a:spLocks noChangeArrowheads="1"/>
            </p:cNvSpPr>
            <p:nvPr/>
          </p:nvSpPr>
          <p:spPr bwMode="auto">
            <a:xfrm>
              <a:off x="336" y="3456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58" name="Line 78"/>
            <p:cNvSpPr>
              <a:spLocks noChangeShapeType="1"/>
            </p:cNvSpPr>
            <p:nvPr/>
          </p:nvSpPr>
          <p:spPr bwMode="auto">
            <a:xfrm>
              <a:off x="816" y="3456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9" name="Rectangle 79"/>
            <p:cNvSpPr>
              <a:spLocks noChangeArrowheads="1"/>
            </p:cNvSpPr>
            <p:nvPr/>
          </p:nvSpPr>
          <p:spPr bwMode="auto">
            <a:xfrm>
              <a:off x="336" y="3888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0" name="Text Box 80"/>
            <p:cNvSpPr txBox="1">
              <a:spLocks noChangeArrowheads="1"/>
            </p:cNvSpPr>
            <p:nvPr/>
          </p:nvSpPr>
          <p:spPr bwMode="auto">
            <a:xfrm>
              <a:off x="816" y="3888"/>
              <a:ext cx="1556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>
                  <a:solidFill>
                    <a:srgbClr val="000000"/>
                  </a:solidFill>
                </a:rPr>
                <a:t>Program Counter (PC)</a:t>
              </a:r>
              <a:endParaRPr lang="en-US" kern="0">
                <a:solidFill>
                  <a:srgbClr val="000000"/>
                </a:solidFill>
              </a:endParaRPr>
            </a:p>
          </p:txBody>
        </p:sp>
        <p:sp>
          <p:nvSpPr>
            <p:cNvPr id="261" name="Line 81"/>
            <p:cNvSpPr>
              <a:spLocks noChangeShapeType="1"/>
            </p:cNvSpPr>
            <p:nvPr/>
          </p:nvSpPr>
          <p:spPr bwMode="auto">
            <a:xfrm>
              <a:off x="1632" y="3648"/>
              <a:ext cx="0" cy="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2" name="Line 82"/>
            <p:cNvSpPr>
              <a:spLocks noChangeShapeType="1"/>
            </p:cNvSpPr>
            <p:nvPr/>
          </p:nvSpPr>
          <p:spPr bwMode="auto">
            <a:xfrm>
              <a:off x="1632" y="3696"/>
              <a:ext cx="124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3" name="Line 83"/>
            <p:cNvSpPr>
              <a:spLocks noChangeShapeType="1"/>
            </p:cNvSpPr>
            <p:nvPr/>
          </p:nvSpPr>
          <p:spPr bwMode="auto">
            <a:xfrm>
              <a:off x="480" y="3840"/>
              <a:ext cx="24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4" name="Line 84"/>
            <p:cNvSpPr>
              <a:spLocks noChangeShapeType="1"/>
            </p:cNvSpPr>
            <p:nvPr/>
          </p:nvSpPr>
          <p:spPr bwMode="auto">
            <a:xfrm>
              <a:off x="480" y="3840"/>
              <a:ext cx="0" cy="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5" name="Rectangle 85"/>
            <p:cNvSpPr>
              <a:spLocks noChangeArrowheads="1"/>
            </p:cNvSpPr>
            <p:nvPr/>
          </p:nvSpPr>
          <p:spPr bwMode="auto">
            <a:xfrm>
              <a:off x="3168" y="3648"/>
              <a:ext cx="2448" cy="19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6" name="Rectangle 86"/>
            <p:cNvSpPr>
              <a:spLocks noChangeArrowheads="1"/>
            </p:cNvSpPr>
            <p:nvPr/>
          </p:nvSpPr>
          <p:spPr bwMode="auto">
            <a:xfrm>
              <a:off x="3888" y="3408"/>
              <a:ext cx="912" cy="25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kern="0">
                  <a:solidFill>
                    <a:srgbClr val="000000"/>
                  </a:solidFill>
                </a:rPr>
                <a:t>Memory</a:t>
              </a:r>
              <a:endParaRPr lang="en-US" sz="2000" kern="0">
                <a:solidFill>
                  <a:srgbClr val="000000"/>
                </a:solidFill>
              </a:endParaRPr>
            </a:p>
          </p:txBody>
        </p:sp>
        <p:sp>
          <p:nvSpPr>
            <p:cNvPr id="267" name="Text Box 87"/>
            <p:cNvSpPr txBox="1">
              <a:spLocks noChangeArrowheads="1"/>
            </p:cNvSpPr>
            <p:nvPr/>
          </p:nvSpPr>
          <p:spPr bwMode="auto">
            <a:xfrm>
              <a:off x="3456" y="3648"/>
              <a:ext cx="1860" cy="231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kern="0" dirty="0">
                  <a:solidFill>
                    <a:srgbClr val="000000"/>
                  </a:solidFill>
                </a:rPr>
                <a:t>jump destination </a:t>
              </a:r>
              <a:r>
                <a:rPr lang="en-US" kern="0" dirty="0">
                  <a:solidFill>
                    <a:srgbClr val="FF0000"/>
                  </a:solidFill>
                </a:rPr>
                <a:t>instruction</a:t>
              </a:r>
              <a:endParaRPr lang="en-US" kern="0" dirty="0">
                <a:solidFill>
                  <a:srgbClr val="FF0000"/>
                </a:solidFill>
              </a:endParaRPr>
            </a:p>
          </p:txBody>
        </p:sp>
        <p:sp>
          <p:nvSpPr>
            <p:cNvPr id="268" name="Line 88"/>
            <p:cNvSpPr>
              <a:spLocks noChangeShapeType="1"/>
            </p:cNvSpPr>
            <p:nvPr/>
          </p:nvSpPr>
          <p:spPr bwMode="auto">
            <a:xfrm>
              <a:off x="3072" y="3792"/>
              <a:ext cx="9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9" name="Line 89"/>
            <p:cNvSpPr>
              <a:spLocks noChangeShapeType="1"/>
            </p:cNvSpPr>
            <p:nvPr/>
          </p:nvSpPr>
          <p:spPr bwMode="auto">
            <a:xfrm>
              <a:off x="672" y="3888"/>
              <a:ext cx="0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0" name="Oval 90"/>
            <p:cNvSpPr>
              <a:spLocks noChangeArrowheads="1"/>
            </p:cNvSpPr>
            <p:nvPr/>
          </p:nvSpPr>
          <p:spPr bwMode="auto">
            <a:xfrm>
              <a:off x="2880" y="3600"/>
              <a:ext cx="192" cy="384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1" name="Text Box 91"/>
            <p:cNvSpPr txBox="1">
              <a:spLocks noChangeArrowheads="1"/>
            </p:cNvSpPr>
            <p:nvPr/>
          </p:nvSpPr>
          <p:spPr bwMode="auto">
            <a:xfrm>
              <a:off x="2890" y="3587"/>
              <a:ext cx="190" cy="330"/>
            </a:xfrm>
            <a:prstGeom prst="rect">
              <a:avLst/>
            </a:prstGeom>
            <a:noFill/>
            <a:ln w="12700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kern="0" dirty="0">
                  <a:solidFill>
                    <a:srgbClr val="000000"/>
                  </a:solidFill>
                </a:rPr>
                <a:t>:</a:t>
              </a:r>
              <a:endParaRPr lang="en-US" sz="2800" kern="0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r>
              <a:rPr lang="en-US" sz="3600" smtClean="0"/>
              <a:t>Review: Number Representations</a:t>
            </a:r>
            <a:endParaRPr lang="en-US" sz="3600" smtClean="0"/>
          </a:p>
        </p:txBody>
      </p:sp>
      <p:sp>
        <p:nvSpPr>
          <p:cNvPr id="6147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76B59BE3-A64D-4292-92D0-7A3DDF817D25}" type="slidenum">
              <a:rPr lang="en-AU" altLang="zh-CN"/>
            </a:fld>
            <a:endParaRPr lang="en-AU" altLang="zh-CN"/>
          </a:p>
        </p:txBody>
      </p:sp>
      <p:sp>
        <p:nvSpPr>
          <p:cNvPr id="6148" name="Rectangle 4"/>
          <p:cNvSpPr>
            <a:spLocks noGrp="1" noChangeArrowheads="1"/>
          </p:cNvSpPr>
          <p:nvPr/>
        </p:nvSpPr>
        <p:spPr bwMode="auto">
          <a:xfrm>
            <a:off x="571500" y="1143000"/>
            <a:ext cx="81534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marL="342900" indent="-342900">
              <a:lnSpc>
                <a:spcPct val="8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sz="2400"/>
              <a:t>32-bit signed numbers (2’s complement):</a:t>
            </a:r>
            <a:br>
              <a:rPr lang="en-US" sz="2400"/>
            </a:br>
            <a:br>
              <a:rPr lang="en-US" sz="2000"/>
            </a:br>
            <a:r>
              <a:rPr lang="en-US" sz="1600">
                <a:latin typeface="Courier New" panose="02070309020205020404" pitchFamily="49" charset="0"/>
              </a:rPr>
              <a:t>0000 0000 0000 0000 0000 0000 0000 0000</a:t>
            </a:r>
            <a:r>
              <a:rPr lang="en-US" sz="1600" baseline="-25000">
                <a:latin typeface="Courier New" panose="02070309020205020404" pitchFamily="49" charset="0"/>
              </a:rPr>
              <a:t>two</a:t>
            </a:r>
            <a:r>
              <a:rPr lang="en-US" sz="1600">
                <a:latin typeface="Courier New" panose="02070309020205020404" pitchFamily="49" charset="0"/>
              </a:rPr>
              <a:t> = 0</a:t>
            </a:r>
            <a:r>
              <a:rPr lang="en-US" sz="1600" baseline="-25000">
                <a:latin typeface="Courier New" panose="02070309020205020404" pitchFamily="49" charset="0"/>
              </a:rPr>
              <a:t>ten</a:t>
            </a:r>
            <a:br>
              <a:rPr lang="en-US" sz="1600" baseline="-25000">
                <a:latin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</a:rPr>
              <a:t>0000 0000 0000 0000 0000 0000 0000 0001</a:t>
            </a:r>
            <a:r>
              <a:rPr lang="en-US" sz="1600" baseline="-25000">
                <a:latin typeface="Courier New" panose="02070309020205020404" pitchFamily="49" charset="0"/>
              </a:rPr>
              <a:t>two</a:t>
            </a:r>
            <a:r>
              <a:rPr lang="en-US" sz="1600">
                <a:latin typeface="Courier New" panose="02070309020205020404" pitchFamily="49" charset="0"/>
              </a:rPr>
              <a:t> = + 1</a:t>
            </a:r>
            <a:r>
              <a:rPr lang="en-US" sz="1600" baseline="-25000">
                <a:latin typeface="Courier New" panose="02070309020205020404" pitchFamily="49" charset="0"/>
              </a:rPr>
              <a:t>ten</a:t>
            </a:r>
            <a:br>
              <a:rPr lang="en-US" sz="1600" baseline="-25000">
                <a:latin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</a:rPr>
              <a:t>...</a:t>
            </a:r>
            <a:endParaRPr lang="en-US" sz="1600">
              <a:latin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None/>
            </a:pPr>
            <a:br>
              <a:rPr lang="en-US" sz="1600" baseline="-25000">
                <a:latin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</a:rPr>
              <a:t>0111 1111 1111 1111 1111 1111 1111 1110</a:t>
            </a:r>
            <a:r>
              <a:rPr lang="en-US" sz="1600" baseline="-25000">
                <a:latin typeface="Courier New" panose="02070309020205020404" pitchFamily="49" charset="0"/>
              </a:rPr>
              <a:t>two</a:t>
            </a:r>
            <a:r>
              <a:rPr lang="en-US" sz="1600">
                <a:latin typeface="Courier New" panose="02070309020205020404" pitchFamily="49" charset="0"/>
              </a:rPr>
              <a:t> = + 2,147,483,646</a:t>
            </a:r>
            <a:r>
              <a:rPr lang="en-US" sz="1600" baseline="-25000">
                <a:latin typeface="Courier New" panose="02070309020205020404" pitchFamily="49" charset="0"/>
              </a:rPr>
              <a:t>ten</a:t>
            </a:r>
            <a:br>
              <a:rPr lang="en-US" sz="1600" baseline="-25000">
                <a:latin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</a:rPr>
              <a:t>0111 1111 1111 1111 1111 1111 1111 1111</a:t>
            </a:r>
            <a:r>
              <a:rPr lang="en-US" sz="1600" baseline="-25000">
                <a:latin typeface="Courier New" panose="02070309020205020404" pitchFamily="49" charset="0"/>
              </a:rPr>
              <a:t>two</a:t>
            </a:r>
            <a:r>
              <a:rPr lang="en-US" sz="1600">
                <a:latin typeface="Courier New" panose="02070309020205020404" pitchFamily="49" charset="0"/>
              </a:rPr>
              <a:t> = </a:t>
            </a:r>
            <a:r>
              <a:rPr lang="en-US" sz="1600">
                <a:solidFill>
                  <a:schemeClr val="accent1"/>
                </a:solidFill>
                <a:latin typeface="Courier New" panose="02070309020205020404" pitchFamily="49" charset="0"/>
              </a:rPr>
              <a:t>+ 2,147,483,647</a:t>
            </a:r>
            <a:r>
              <a:rPr lang="en-US" sz="1600" baseline="-25000">
                <a:solidFill>
                  <a:schemeClr val="accent1"/>
                </a:solidFill>
                <a:latin typeface="Courier New" panose="02070309020205020404" pitchFamily="49" charset="0"/>
              </a:rPr>
              <a:t>ten</a:t>
            </a:r>
            <a:br>
              <a:rPr lang="en-US" sz="1600" baseline="-25000">
                <a:latin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</a:rPr>
              <a:t>1000 0000 0000 0000 0000 0000 0000 0000</a:t>
            </a:r>
            <a:r>
              <a:rPr lang="en-US" sz="1600" baseline="-25000">
                <a:latin typeface="Courier New" panose="02070309020205020404" pitchFamily="49" charset="0"/>
              </a:rPr>
              <a:t>two</a:t>
            </a:r>
            <a:r>
              <a:rPr lang="en-US" sz="1600">
                <a:latin typeface="Courier New" panose="02070309020205020404" pitchFamily="49" charset="0"/>
              </a:rPr>
              <a:t> = </a:t>
            </a:r>
            <a:r>
              <a:rPr lang="en-US" sz="1600">
                <a:solidFill>
                  <a:srgbClr val="009900"/>
                </a:solidFill>
                <a:latin typeface="Courier New" panose="02070309020205020404" pitchFamily="49" charset="0"/>
              </a:rPr>
              <a:t>– 2,147,483,648</a:t>
            </a:r>
            <a:r>
              <a:rPr lang="en-US" sz="1600" baseline="-25000">
                <a:solidFill>
                  <a:srgbClr val="009900"/>
                </a:solidFill>
                <a:latin typeface="Courier New" panose="02070309020205020404" pitchFamily="49" charset="0"/>
              </a:rPr>
              <a:t>ten</a:t>
            </a:r>
            <a:br>
              <a:rPr lang="en-US" sz="1600" baseline="-25000">
                <a:latin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</a:rPr>
              <a:t>1000 0000 0000 0000 0000 0000 0000 0001</a:t>
            </a:r>
            <a:r>
              <a:rPr lang="en-US" sz="1600" baseline="-25000">
                <a:latin typeface="Courier New" panose="02070309020205020404" pitchFamily="49" charset="0"/>
              </a:rPr>
              <a:t>two</a:t>
            </a:r>
            <a:r>
              <a:rPr lang="en-US" sz="1600">
                <a:latin typeface="Courier New" panose="02070309020205020404" pitchFamily="49" charset="0"/>
              </a:rPr>
              <a:t> = – 2,147,483,647</a:t>
            </a:r>
            <a:r>
              <a:rPr lang="en-US" sz="1600" baseline="-25000">
                <a:latin typeface="Courier New" panose="02070309020205020404" pitchFamily="49" charset="0"/>
              </a:rPr>
              <a:t>ten</a:t>
            </a:r>
            <a:br>
              <a:rPr lang="en-US" sz="1600" baseline="-25000">
                <a:latin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</a:rPr>
              <a:t>...</a:t>
            </a:r>
            <a:endParaRPr lang="en-US" sz="1600">
              <a:latin typeface="Courier New" panose="02070309020205020404" pitchFamily="49" charset="0"/>
            </a:endParaRPr>
          </a:p>
          <a:p>
            <a:pPr marL="342900" indent="-342900">
              <a:lnSpc>
                <a:spcPct val="8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None/>
            </a:pPr>
            <a:br>
              <a:rPr lang="en-US" sz="1600" baseline="-25000">
                <a:latin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</a:rPr>
              <a:t>1111 1111 1111 1111 1111 1111 1111 1110</a:t>
            </a:r>
            <a:r>
              <a:rPr lang="en-US" sz="1600" baseline="-25000">
                <a:latin typeface="Courier New" panose="02070309020205020404" pitchFamily="49" charset="0"/>
              </a:rPr>
              <a:t>two</a:t>
            </a:r>
            <a:r>
              <a:rPr lang="en-US" sz="1600">
                <a:latin typeface="Courier New" panose="02070309020205020404" pitchFamily="49" charset="0"/>
              </a:rPr>
              <a:t> = – 2</a:t>
            </a:r>
            <a:r>
              <a:rPr lang="en-US" sz="1600" baseline="-25000">
                <a:latin typeface="Courier New" panose="02070309020205020404" pitchFamily="49" charset="0"/>
              </a:rPr>
              <a:t>ten</a:t>
            </a:r>
            <a:br>
              <a:rPr lang="en-US" sz="1600" baseline="-25000">
                <a:latin typeface="Courier New" panose="02070309020205020404" pitchFamily="49" charset="0"/>
              </a:rPr>
            </a:br>
            <a:r>
              <a:rPr lang="en-US" sz="1600">
                <a:latin typeface="Courier New" panose="02070309020205020404" pitchFamily="49" charset="0"/>
              </a:rPr>
              <a:t>1111 1111 1111 1111 1111 1111 1111 1111</a:t>
            </a:r>
            <a:r>
              <a:rPr lang="en-US" sz="1600" baseline="-25000">
                <a:latin typeface="Courier New" panose="02070309020205020404" pitchFamily="49" charset="0"/>
              </a:rPr>
              <a:t>two</a:t>
            </a:r>
            <a:r>
              <a:rPr lang="en-US" sz="1600">
                <a:latin typeface="Courier New" panose="02070309020205020404" pitchFamily="49" charset="0"/>
              </a:rPr>
              <a:t> = – 1</a:t>
            </a:r>
            <a:r>
              <a:rPr lang="en-US" sz="1600" baseline="-25000">
                <a:latin typeface="Courier New" panose="02070309020205020404" pitchFamily="49" charset="0"/>
              </a:rPr>
              <a:t>ten</a:t>
            </a:r>
            <a:br>
              <a:rPr lang="en-US" sz="2000">
                <a:latin typeface="Courier New" panose="02070309020205020404" pitchFamily="49" charset="0"/>
              </a:rPr>
            </a:br>
            <a:endParaRPr lang="en-US" sz="2000">
              <a:latin typeface="Courier New" panose="02070309020205020404" pitchFamily="49" charset="0"/>
            </a:endParaRPr>
          </a:p>
        </p:txBody>
      </p:sp>
      <p:grpSp>
        <p:nvGrpSpPr>
          <p:cNvPr id="6149" name="Group 5"/>
          <p:cNvGrpSpPr/>
          <p:nvPr/>
        </p:nvGrpSpPr>
        <p:grpSpPr bwMode="auto">
          <a:xfrm>
            <a:off x="7353300" y="1676400"/>
            <a:ext cx="1320800" cy="1066800"/>
            <a:chOff x="4560" y="1200"/>
            <a:chExt cx="832" cy="672"/>
          </a:xfrm>
        </p:grpSpPr>
        <p:sp>
          <p:nvSpPr>
            <p:cNvPr id="6160" name="Rectangle 15"/>
            <p:cNvSpPr>
              <a:spLocks noChangeArrowheads="1"/>
            </p:cNvSpPr>
            <p:nvPr/>
          </p:nvSpPr>
          <p:spPr bwMode="auto">
            <a:xfrm>
              <a:off x="4848" y="1200"/>
              <a:ext cx="544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2100"/>
                </a:lnSpc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b="1" i="1">
                  <a:solidFill>
                    <a:schemeClr val="accent1"/>
                  </a:solidFill>
                </a:rPr>
                <a:t>maxint</a:t>
              </a:r>
              <a:endParaRPr lang="en-US" b="1" i="1">
                <a:solidFill>
                  <a:schemeClr val="accent1"/>
                </a:solidFill>
              </a:endParaRPr>
            </a:p>
          </p:txBody>
        </p:sp>
        <p:sp>
          <p:nvSpPr>
            <p:cNvPr id="6161" name="Line 7"/>
            <p:cNvSpPr>
              <a:spLocks noChangeShapeType="1"/>
            </p:cNvSpPr>
            <p:nvPr/>
          </p:nvSpPr>
          <p:spPr bwMode="auto">
            <a:xfrm flipH="1">
              <a:off x="4560" y="1392"/>
              <a:ext cx="240" cy="48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150" name="Group 6"/>
          <p:cNvGrpSpPr/>
          <p:nvPr/>
        </p:nvGrpSpPr>
        <p:grpSpPr bwMode="auto">
          <a:xfrm>
            <a:off x="7200900" y="3048000"/>
            <a:ext cx="1195388" cy="1074738"/>
            <a:chOff x="4560" y="2064"/>
            <a:chExt cx="753" cy="677"/>
          </a:xfrm>
        </p:grpSpPr>
        <p:sp>
          <p:nvSpPr>
            <p:cNvPr id="6158" name="Rectangle 13"/>
            <p:cNvSpPr>
              <a:spLocks noChangeArrowheads="1"/>
            </p:cNvSpPr>
            <p:nvPr/>
          </p:nvSpPr>
          <p:spPr bwMode="auto">
            <a:xfrm>
              <a:off x="4800" y="2496"/>
              <a:ext cx="51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2100"/>
                </a:lnSpc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b="1" i="1">
                  <a:solidFill>
                    <a:srgbClr val="009900"/>
                  </a:solidFill>
                </a:rPr>
                <a:t>minint</a:t>
              </a:r>
              <a:endParaRPr lang="en-US" b="1" i="1">
                <a:solidFill>
                  <a:srgbClr val="009900"/>
                </a:solidFill>
              </a:endParaRPr>
            </a:p>
          </p:txBody>
        </p:sp>
        <p:sp>
          <p:nvSpPr>
            <p:cNvPr id="6159" name="Line 8"/>
            <p:cNvSpPr>
              <a:spLocks noChangeShapeType="1"/>
            </p:cNvSpPr>
            <p:nvPr/>
          </p:nvSpPr>
          <p:spPr bwMode="auto">
            <a:xfrm flipH="1" flipV="1">
              <a:off x="4560" y="2064"/>
              <a:ext cx="240" cy="480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151" name="Group 7"/>
          <p:cNvGrpSpPr/>
          <p:nvPr/>
        </p:nvGrpSpPr>
        <p:grpSpPr bwMode="auto">
          <a:xfrm>
            <a:off x="342900" y="1600200"/>
            <a:ext cx="838200" cy="2743200"/>
            <a:chOff x="144" y="768"/>
            <a:chExt cx="528" cy="1728"/>
          </a:xfrm>
        </p:grpSpPr>
        <p:sp>
          <p:nvSpPr>
            <p:cNvPr id="6156" name="Oval 11"/>
            <p:cNvSpPr>
              <a:spLocks noChangeArrowheads="1"/>
            </p:cNvSpPr>
            <p:nvPr/>
          </p:nvSpPr>
          <p:spPr bwMode="auto">
            <a:xfrm>
              <a:off x="480" y="768"/>
              <a:ext cx="192" cy="1728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6157" name="Text Box 13"/>
            <p:cNvSpPr txBox="1">
              <a:spLocks noChangeArrowheads="1"/>
            </p:cNvSpPr>
            <p:nvPr/>
          </p:nvSpPr>
          <p:spPr bwMode="auto">
            <a:xfrm>
              <a:off x="144" y="2160"/>
              <a:ext cx="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2000">
                  <a:solidFill>
                    <a:srgbClr val="FF0000"/>
                  </a:solidFill>
                  <a:latin typeface="Courier New" panose="02070309020205020404" pitchFamily="49" charset="0"/>
                </a:rPr>
                <a:t>MSB</a:t>
              </a:r>
              <a:endParaRPr lang="en-US" sz="200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</p:grpSp>
      <p:grpSp>
        <p:nvGrpSpPr>
          <p:cNvPr id="6152" name="Group 8"/>
          <p:cNvGrpSpPr/>
          <p:nvPr/>
        </p:nvGrpSpPr>
        <p:grpSpPr bwMode="auto">
          <a:xfrm>
            <a:off x="5600700" y="1600200"/>
            <a:ext cx="869950" cy="2987675"/>
            <a:chOff x="3456" y="768"/>
            <a:chExt cx="548" cy="1882"/>
          </a:xfrm>
        </p:grpSpPr>
        <p:sp>
          <p:nvSpPr>
            <p:cNvPr id="6154" name="Oval 9"/>
            <p:cNvSpPr>
              <a:spLocks noChangeArrowheads="1"/>
            </p:cNvSpPr>
            <p:nvPr/>
          </p:nvSpPr>
          <p:spPr bwMode="auto">
            <a:xfrm>
              <a:off x="3456" y="768"/>
              <a:ext cx="192" cy="1728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6155" name="Text Box 15"/>
            <p:cNvSpPr txBox="1">
              <a:spLocks noChangeArrowheads="1"/>
            </p:cNvSpPr>
            <p:nvPr/>
          </p:nvSpPr>
          <p:spPr bwMode="auto">
            <a:xfrm>
              <a:off x="3600" y="2400"/>
              <a:ext cx="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2000">
                  <a:solidFill>
                    <a:srgbClr val="FF0000"/>
                  </a:solidFill>
                  <a:latin typeface="Courier New" panose="02070309020205020404" pitchFamily="49" charset="0"/>
                </a:rPr>
                <a:t>LSB</a:t>
              </a:r>
              <a:endParaRPr lang="en-US" sz="2000">
                <a:solidFill>
                  <a:srgbClr val="FF0000"/>
                </a:solidFill>
                <a:latin typeface="Courier New" panose="02070309020205020404" pitchFamily="49" charset="0"/>
              </a:endParaRPr>
            </a:p>
          </p:txBody>
        </p:sp>
      </p:grp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428625" y="4579938"/>
            <a:ext cx="8153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>
              <a:lnSpc>
                <a:spcPct val="8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sz="2400"/>
              <a:t>Converting &lt;32-bit values into 32-bit values</a:t>
            </a:r>
            <a:endParaRPr lang="en-US" sz="2400"/>
          </a:p>
          <a:p>
            <a:pPr marL="742950" lvl="1" indent="-285750">
              <a:spcBef>
                <a:spcPct val="40000"/>
              </a:spcBef>
              <a:buClr>
                <a:schemeClr val="accent1"/>
              </a:buClr>
              <a:buSzPct val="75000"/>
              <a:buFont typeface="Monotype Sorts"/>
              <a:buChar char="l"/>
            </a:pPr>
            <a:r>
              <a:rPr lang="en-US" sz="2000"/>
              <a:t>copy the most significant bit (the sign bit) into the “empty” bits</a:t>
            </a:r>
            <a:br>
              <a:rPr lang="en-US" sz="2000"/>
            </a:br>
            <a:r>
              <a:rPr lang="en-US" sz="2000">
                <a:latin typeface="Courier New" panose="02070309020205020404" pitchFamily="49" charset="0"/>
              </a:rPr>
              <a:t>		0010  -&gt; 0000 0010</a:t>
            </a:r>
            <a:br>
              <a:rPr lang="en-US" sz="2000">
                <a:latin typeface="Courier New" panose="02070309020205020404" pitchFamily="49" charset="0"/>
              </a:rPr>
            </a:br>
            <a:r>
              <a:rPr lang="en-US" sz="2000">
                <a:latin typeface="Courier New" panose="02070309020205020404" pitchFamily="49" charset="0"/>
              </a:rPr>
              <a:t>		1010  -&gt; 1111 1010</a:t>
            </a:r>
            <a:endParaRPr lang="en-US" sz="2000"/>
          </a:p>
          <a:p>
            <a:pPr marL="742950" lvl="1" indent="-285750">
              <a:lnSpc>
                <a:spcPct val="130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Monotype Sorts"/>
              <a:buChar char="l"/>
            </a:pPr>
            <a:r>
              <a:rPr lang="en-US" sz="2000">
                <a:solidFill>
                  <a:srgbClr val="FF0000"/>
                </a:solidFill>
              </a:rPr>
              <a:t>sign extend    </a:t>
            </a:r>
            <a:r>
              <a:rPr lang="en-US" sz="2000"/>
              <a:t>versus     zero extend   (</a:t>
            </a:r>
            <a:r>
              <a:rPr lang="en-US" sz="2000">
                <a:latin typeface="Courier New" panose="02070309020205020404" pitchFamily="49" charset="0"/>
              </a:rPr>
              <a:t>lb</a:t>
            </a:r>
            <a:r>
              <a:rPr lang="en-US" sz="2000"/>
              <a:t>  vs.  </a:t>
            </a:r>
            <a:r>
              <a:rPr lang="en-US" sz="2000">
                <a:latin typeface="Courier New" panose="02070309020205020404" pitchFamily="49" charset="0"/>
              </a:rPr>
              <a:t>lbu</a:t>
            </a:r>
            <a:r>
              <a:rPr lang="en-US" sz="2000"/>
              <a:t>) </a:t>
            </a:r>
            <a:r>
              <a:rPr lang="en-US"/>
              <a:t>	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Constructing </a:t>
            </a:r>
            <a:r>
              <a:rPr lang="en-US" altLang="zh-CN" dirty="0"/>
              <a:t>an ALU</a:t>
            </a:r>
            <a:endParaRPr lang="en-US" altLang="zh-CN" dirty="0"/>
          </a:p>
        </p:txBody>
      </p:sp>
      <p:sp>
        <p:nvSpPr>
          <p:cNvPr id="16387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Step by step: build a single bit ALU and expand it to the desired width</a:t>
            </a:r>
            <a:endParaRPr lang="en-US" altLang="zh-CN" smtClean="0"/>
          </a:p>
          <a:p>
            <a:r>
              <a:rPr lang="en-US" altLang="zh-CN" smtClean="0"/>
              <a:t>First function: logic AND and OR</a:t>
            </a:r>
            <a:endParaRPr lang="en-US" altLang="zh-CN" smtClean="0"/>
          </a:p>
        </p:txBody>
      </p:sp>
      <p:pic>
        <p:nvPicPr>
          <p:cNvPr id="16388" name="Picture 5" descr="ando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819400"/>
            <a:ext cx="4778375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 half adder</a:t>
            </a:r>
            <a:endParaRPr lang="en-US" altLang="zh-CN"/>
          </a:p>
        </p:txBody>
      </p:sp>
      <p:sp>
        <p:nvSpPr>
          <p:cNvPr id="17411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Sum = a b + a b</a:t>
            </a:r>
            <a:endParaRPr lang="en-US" altLang="zh-CN" dirty="0" smtClean="0"/>
          </a:p>
          <a:p>
            <a:r>
              <a:rPr lang="en-US" altLang="zh-CN" dirty="0" smtClean="0"/>
              <a:t>Carry = a b</a:t>
            </a:r>
            <a:endParaRPr lang="en-US" altLang="zh-CN" dirty="0" smtClean="0"/>
          </a:p>
        </p:txBody>
      </p:sp>
      <p:pic>
        <p:nvPicPr>
          <p:cNvPr id="17412" name="Picture 4" descr="halfad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401888"/>
            <a:ext cx="4800600" cy="269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2407568" y="1223566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endParaRPr lang="zh-CN" alt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>
            <a:off x="3773285" y="1196752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 full adder</a:t>
            </a:r>
            <a:endParaRPr lang="en-US" altLang="zh-CN"/>
          </a:p>
        </p:txBody>
      </p:sp>
      <p:sp>
        <p:nvSpPr>
          <p:cNvPr id="18435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Accepts a carry in</a:t>
            </a:r>
            <a:endParaRPr lang="en-US" altLang="zh-CN" smtClean="0"/>
          </a:p>
          <a:p>
            <a:r>
              <a:rPr lang="en-US" altLang="zh-CN" smtClean="0"/>
              <a:t>Sum = A xor B xor CarryIn</a:t>
            </a:r>
            <a:endParaRPr lang="en-US" altLang="zh-CN" smtClean="0"/>
          </a:p>
          <a:p>
            <a:r>
              <a:rPr lang="en-US" altLang="zh-CN" smtClean="0"/>
              <a:t>CarryOut = B CarryIn + A CarryIn + A B</a:t>
            </a:r>
            <a:endParaRPr lang="en-US" altLang="zh-CN" smtClean="0"/>
          </a:p>
        </p:txBody>
      </p:sp>
      <p:graphicFrame>
        <p:nvGraphicFramePr>
          <p:cNvPr id="285801" name="Group 105"/>
          <p:cNvGraphicFramePr>
            <a:graphicFrameLocks noGrp="1"/>
          </p:cNvGraphicFramePr>
          <p:nvPr/>
        </p:nvGraphicFramePr>
        <p:xfrm>
          <a:off x="914400" y="3054350"/>
          <a:ext cx="7239000" cy="3327400"/>
        </p:xfrm>
        <a:graphic>
          <a:graphicData uri="http://schemas.openxmlformats.org/drawingml/2006/table">
            <a:tbl>
              <a:tblPr/>
              <a:tblGrid>
                <a:gridCol w="1066800"/>
                <a:gridCol w="1066800"/>
                <a:gridCol w="1219200"/>
                <a:gridCol w="1219200"/>
                <a:gridCol w="1143000"/>
                <a:gridCol w="1524000"/>
              </a:tblGrid>
              <a:tr h="309563"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Inputs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>
                        <a:alpha val="5000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Outputs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>
                        <a:alpha val="50000"/>
                      </a:srgbClr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Comments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(two)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>
                        <a:alpha val="50000"/>
                      </a:srgbClr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CarryIn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CarryOut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Sum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>
                        <a:alpha val="50000"/>
                      </a:srgbClr>
                    </a:solidFill>
                  </a:tcPr>
                </a:tc>
                <a:tc vMerge="1">
                  <a:tcPr/>
                </a:tc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0+0+0=00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0+0+1=01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0+1+0=01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0+1+1=10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1+0+0=01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1+0+1=10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1+1+0=10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1+1+1=11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Full adder</a:t>
            </a:r>
            <a:endParaRPr lang="en-US" altLang="zh-CN"/>
          </a:p>
        </p:txBody>
      </p:sp>
      <p:sp>
        <p:nvSpPr>
          <p:cNvPr id="19459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Full adder in 2-level design</a:t>
            </a:r>
            <a:endParaRPr lang="en-US" altLang="zh-CN" smtClean="0"/>
          </a:p>
        </p:txBody>
      </p:sp>
      <p:pic>
        <p:nvPicPr>
          <p:cNvPr id="19460" name="Picture 4" descr="fullad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14550"/>
            <a:ext cx="6400800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1 bit ALU</a:t>
            </a:r>
            <a:endParaRPr lang="en-US" altLang="zh-CN"/>
          </a:p>
        </p:txBody>
      </p:sp>
      <p:sp>
        <p:nvSpPr>
          <p:cNvPr id="20483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ALU</a:t>
            </a:r>
            <a:endParaRPr lang="en-US" altLang="zh-CN" smtClean="0"/>
          </a:p>
          <a:p>
            <a:pPr lvl="1"/>
            <a:r>
              <a:rPr lang="en-US" altLang="zh-CN" smtClean="0"/>
              <a:t>AND</a:t>
            </a:r>
            <a:endParaRPr lang="en-US" altLang="zh-CN" smtClean="0"/>
          </a:p>
          <a:p>
            <a:pPr lvl="1"/>
            <a:r>
              <a:rPr lang="en-US" altLang="zh-CN" smtClean="0"/>
              <a:t>OR</a:t>
            </a:r>
            <a:endParaRPr lang="en-US" altLang="zh-CN" smtClean="0"/>
          </a:p>
          <a:p>
            <a:pPr lvl="1"/>
            <a:r>
              <a:rPr lang="en-US" altLang="zh-CN" smtClean="0"/>
              <a:t>ADD</a:t>
            </a:r>
            <a:endParaRPr lang="en-US" altLang="zh-CN" smtClean="0"/>
          </a:p>
          <a:p>
            <a:r>
              <a:rPr lang="en-US" altLang="zh-CN" smtClean="0"/>
              <a:t>Cascade Element</a:t>
            </a:r>
            <a:endParaRPr lang="en-US" altLang="zh-CN" smtClean="0"/>
          </a:p>
        </p:txBody>
      </p:sp>
      <p:pic>
        <p:nvPicPr>
          <p:cNvPr id="20484" name="Picture 4" descr="bital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196752"/>
            <a:ext cx="4040188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Basic 32 bit ALU</a:t>
            </a:r>
            <a:endParaRPr lang="en-US" altLang="zh-CN"/>
          </a:p>
        </p:txBody>
      </p:sp>
      <p:sp>
        <p:nvSpPr>
          <p:cNvPr id="21507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Inputs parallel</a:t>
            </a:r>
            <a:endParaRPr lang="en-US" altLang="zh-CN" dirty="0" smtClean="0"/>
          </a:p>
          <a:p>
            <a:r>
              <a:rPr lang="en-US" altLang="zh-CN" dirty="0" smtClean="0"/>
              <a:t>Carry is cascaded</a:t>
            </a:r>
            <a:endParaRPr lang="en-US" altLang="zh-CN" dirty="0" smtClean="0"/>
          </a:p>
          <a:p>
            <a:r>
              <a:rPr lang="en-US" altLang="zh-CN" dirty="0" smtClean="0"/>
              <a:t>Ripple carry adder</a:t>
            </a:r>
            <a:endParaRPr lang="en-US" altLang="zh-CN" dirty="0" smtClean="0"/>
          </a:p>
          <a:p>
            <a:r>
              <a:rPr lang="en-US" altLang="zh-CN" dirty="0" smtClean="0"/>
              <a:t>Slow, but simple</a:t>
            </a:r>
            <a:endParaRPr lang="en-US" altLang="zh-CN" dirty="0" smtClean="0"/>
          </a:p>
          <a:p>
            <a:r>
              <a:rPr lang="en-US" altLang="zh-CN" dirty="0" smtClean="0"/>
              <a:t>1st Carry In = 0</a:t>
            </a:r>
            <a:endParaRPr lang="en-US" altLang="zh-CN" dirty="0" smtClean="0"/>
          </a:p>
        </p:txBody>
      </p:sp>
      <p:pic>
        <p:nvPicPr>
          <p:cNvPr id="21508" name="Picture 4" descr="wrdal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052736"/>
            <a:ext cx="27559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Extended 1 bit ALU</a:t>
            </a:r>
            <a:endParaRPr lang="en-US" altLang="zh-CN"/>
          </a:p>
        </p:txBody>
      </p:sp>
      <p:sp>
        <p:nvSpPr>
          <p:cNvPr id="22531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Subtraction</a:t>
            </a:r>
            <a:endParaRPr lang="en-US" altLang="zh-CN" smtClean="0"/>
          </a:p>
          <a:p>
            <a:pPr>
              <a:buFontTx/>
              <a:buNone/>
            </a:pPr>
            <a:r>
              <a:rPr lang="en-US" altLang="zh-CN" smtClean="0"/>
              <a:t>		a - b</a:t>
            </a:r>
            <a:endParaRPr lang="en-US" altLang="zh-CN" smtClean="0"/>
          </a:p>
          <a:p>
            <a:pPr lvl="1"/>
            <a:r>
              <a:rPr lang="en-US" altLang="zh-CN" smtClean="0"/>
              <a:t>Inverting b</a:t>
            </a:r>
            <a:endParaRPr lang="en-US" altLang="zh-CN" smtClean="0"/>
          </a:p>
          <a:p>
            <a:pPr lvl="1"/>
            <a:r>
              <a:rPr lang="en-US" altLang="zh-CN" smtClean="0"/>
              <a:t>1st CarryIn= 1</a:t>
            </a:r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  <a:p>
            <a:pPr lvl="1"/>
            <a:endParaRPr lang="en-US" altLang="zh-CN" smtClean="0"/>
          </a:p>
        </p:txBody>
      </p:sp>
      <p:pic>
        <p:nvPicPr>
          <p:cNvPr id="22532" name="Picture 4" descr="extal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700213"/>
            <a:ext cx="4183063" cy="355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Extended 1 bit ALU</a:t>
            </a:r>
            <a:endParaRPr lang="en-US" altLang="zh-CN"/>
          </a:p>
        </p:txBody>
      </p:sp>
      <p:sp>
        <p:nvSpPr>
          <p:cNvPr id="23555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Functions</a:t>
            </a:r>
            <a:endParaRPr lang="en-US" altLang="zh-CN" dirty="0" smtClean="0"/>
          </a:p>
          <a:p>
            <a:pPr lvl="1"/>
            <a:r>
              <a:rPr lang="en-US" altLang="zh-CN" sz="2000" dirty="0" smtClean="0"/>
              <a:t>AND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OR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Add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Subtract</a:t>
            </a:r>
            <a:endParaRPr lang="en-US" altLang="zh-CN" sz="2000" dirty="0" smtClean="0"/>
          </a:p>
          <a:p>
            <a:r>
              <a:rPr lang="en-US" altLang="zh-CN" dirty="0" smtClean="0"/>
              <a:t>Missing: comparison</a:t>
            </a:r>
            <a:endParaRPr lang="en-US" altLang="zh-CN" dirty="0" smtClean="0"/>
          </a:p>
          <a:p>
            <a:pPr lvl="1"/>
            <a:r>
              <a:rPr lang="en-US" altLang="zh-CN" sz="2400" dirty="0" err="1" smtClean="0"/>
              <a:t>Slt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rd,rs,rt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If </a:t>
            </a:r>
            <a:r>
              <a:rPr lang="en-US" altLang="zh-CN" sz="2400" dirty="0" err="1" smtClean="0"/>
              <a:t>rs</a:t>
            </a:r>
            <a:r>
              <a:rPr lang="en-US" altLang="zh-CN" sz="2400" dirty="0" smtClean="0"/>
              <a:t> &lt; </a:t>
            </a:r>
            <a:r>
              <a:rPr lang="en-US" altLang="zh-CN" sz="2400" dirty="0" err="1" smtClean="0"/>
              <a:t>rt</a:t>
            </a:r>
            <a:r>
              <a:rPr lang="en-US" altLang="zh-CN" sz="2400" dirty="0" smtClean="0"/>
              <a:t>, </a:t>
            </a:r>
            <a:r>
              <a:rPr lang="en-US" altLang="zh-CN" sz="2400" dirty="0" err="1" smtClean="0"/>
              <a:t>rd</a:t>
            </a:r>
            <a:r>
              <a:rPr lang="en-US" altLang="zh-CN" sz="2400" dirty="0" smtClean="0"/>
              <a:t>=1, else </a:t>
            </a:r>
            <a:r>
              <a:rPr lang="en-US" altLang="zh-CN" sz="2400" dirty="0" err="1" smtClean="0"/>
              <a:t>rd</a:t>
            </a:r>
            <a:r>
              <a:rPr lang="en-US" altLang="zh-CN" sz="2400" dirty="0" smtClean="0"/>
              <a:t>=0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All bits = 0 except the least significant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Subtraction (</a:t>
            </a:r>
            <a:r>
              <a:rPr lang="en-US" altLang="zh-CN" sz="2400" dirty="0" err="1" smtClean="0"/>
              <a:t>rs</a:t>
            </a:r>
            <a:r>
              <a:rPr lang="en-US" altLang="zh-CN" sz="2400" dirty="0" smtClean="0"/>
              <a:t> - </a:t>
            </a:r>
            <a:r>
              <a:rPr lang="en-US" altLang="zh-CN" sz="2400" dirty="0" err="1" smtClean="0"/>
              <a:t>rt</a:t>
            </a:r>
            <a:r>
              <a:rPr lang="en-US" altLang="zh-CN" sz="2400" dirty="0" smtClean="0"/>
              <a:t>), if the result is negative -&gt; </a:t>
            </a:r>
            <a:r>
              <a:rPr lang="en-US" altLang="zh-CN" sz="2400" dirty="0" err="1" smtClean="0"/>
              <a:t>rs</a:t>
            </a:r>
            <a:r>
              <a:rPr lang="en-US" altLang="zh-CN" sz="2400" dirty="0" smtClean="0"/>
              <a:t> &lt; </a:t>
            </a:r>
            <a:r>
              <a:rPr lang="en-US" altLang="zh-CN" sz="2400" dirty="0" err="1" smtClean="0"/>
              <a:t>rt</a:t>
            </a:r>
            <a:endParaRPr lang="en-US" altLang="zh-CN" sz="2400" dirty="0" smtClean="0"/>
          </a:p>
          <a:p>
            <a:pPr lvl="1"/>
            <a:r>
              <a:rPr lang="en-US" altLang="zh-CN" sz="2400" dirty="0" smtClean="0"/>
              <a:t>Use of sign bit as indicator</a:t>
            </a:r>
            <a:endParaRPr lang="en-US" altLang="zh-CN" sz="24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Extended 1 bit ALU</a:t>
            </a:r>
            <a:endParaRPr lang="en-US" altLang="zh-CN"/>
          </a:p>
        </p:txBody>
      </p:sp>
      <p:sp>
        <p:nvSpPr>
          <p:cNvPr id="24579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ALU bit with input for Less data</a:t>
            </a:r>
            <a:endParaRPr lang="en-US" altLang="zh-CN" smtClean="0"/>
          </a:p>
        </p:txBody>
      </p:sp>
      <p:pic>
        <p:nvPicPr>
          <p:cNvPr id="24580" name="Picture 4" descr="exdal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052638"/>
            <a:ext cx="5121275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Most significant bit</a:t>
            </a:r>
            <a:endParaRPr lang="en-US" altLang="zh-CN"/>
          </a:p>
        </p:txBody>
      </p:sp>
      <p:sp>
        <p:nvSpPr>
          <p:cNvPr id="25603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Set for comparison</a:t>
            </a:r>
            <a:endParaRPr lang="en-US" altLang="zh-CN" smtClean="0"/>
          </a:p>
          <a:p>
            <a:r>
              <a:rPr lang="en-US" altLang="zh-CN" smtClean="0"/>
              <a:t>Overflow detect</a:t>
            </a:r>
            <a:endParaRPr lang="en-US" altLang="zh-CN" smtClean="0"/>
          </a:p>
        </p:txBody>
      </p:sp>
      <p:pic>
        <p:nvPicPr>
          <p:cNvPr id="25604" name="Picture 4" descr="al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1675904"/>
            <a:ext cx="4903787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Complete ALU</a:t>
            </a:r>
            <a:endParaRPr lang="en-US" altLang="zh-CN"/>
          </a:p>
        </p:txBody>
      </p:sp>
      <p:sp>
        <p:nvSpPr>
          <p:cNvPr id="26627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Input</a:t>
            </a:r>
            <a:endParaRPr lang="en-US" altLang="zh-CN" smtClean="0"/>
          </a:p>
          <a:p>
            <a:pPr lvl="1"/>
            <a:r>
              <a:rPr lang="en-US" altLang="zh-CN" smtClean="0"/>
              <a:t>A</a:t>
            </a:r>
            <a:endParaRPr lang="en-US" altLang="zh-CN" smtClean="0"/>
          </a:p>
          <a:p>
            <a:pPr lvl="1"/>
            <a:r>
              <a:rPr lang="en-US" altLang="zh-CN" smtClean="0"/>
              <a:t>B</a:t>
            </a:r>
            <a:endParaRPr lang="en-US" altLang="zh-CN" smtClean="0"/>
          </a:p>
          <a:p>
            <a:r>
              <a:rPr lang="en-US" altLang="zh-CN" smtClean="0"/>
              <a:t>Control lines</a:t>
            </a:r>
            <a:endParaRPr lang="en-US" altLang="zh-CN" smtClean="0"/>
          </a:p>
          <a:p>
            <a:pPr lvl="1"/>
            <a:r>
              <a:rPr lang="en-US" altLang="zh-CN" smtClean="0"/>
              <a:t>Binvert</a:t>
            </a:r>
            <a:endParaRPr lang="en-US" altLang="zh-CN" smtClean="0"/>
          </a:p>
          <a:p>
            <a:pPr lvl="1"/>
            <a:r>
              <a:rPr lang="en-US" altLang="zh-CN" smtClean="0"/>
              <a:t>Operation</a:t>
            </a:r>
            <a:endParaRPr lang="en-US" altLang="zh-CN" smtClean="0"/>
          </a:p>
          <a:p>
            <a:pPr lvl="1"/>
            <a:r>
              <a:rPr lang="en-US" altLang="zh-CN" smtClean="0"/>
              <a:t>Carryin</a:t>
            </a:r>
            <a:endParaRPr lang="en-US" altLang="zh-CN" smtClean="0"/>
          </a:p>
          <a:p>
            <a:r>
              <a:rPr lang="en-US" altLang="zh-CN" smtClean="0"/>
              <a:t>Output</a:t>
            </a:r>
            <a:endParaRPr lang="en-US" altLang="zh-CN" smtClean="0"/>
          </a:p>
          <a:p>
            <a:pPr lvl="1"/>
            <a:r>
              <a:rPr lang="en-US" altLang="zh-CN" smtClean="0"/>
              <a:t>Result</a:t>
            </a:r>
            <a:endParaRPr lang="en-US" altLang="zh-CN" smtClean="0"/>
          </a:p>
          <a:p>
            <a:pPr lvl="1"/>
            <a:r>
              <a:rPr lang="en-US" altLang="zh-CN" smtClean="0"/>
              <a:t>Overflow</a:t>
            </a:r>
            <a:endParaRPr lang="en-US" altLang="zh-CN" smtClean="0"/>
          </a:p>
        </p:txBody>
      </p:sp>
      <p:pic>
        <p:nvPicPr>
          <p:cNvPr id="26628" name="Picture 5"/>
          <p:cNvPicPr>
            <a:picLocks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484312"/>
            <a:ext cx="4320480" cy="5113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Complete ALU</a:t>
            </a:r>
            <a:endParaRPr lang="en-US" altLang="zh-CN" dirty="0"/>
          </a:p>
        </p:txBody>
      </p:sp>
      <p:sp>
        <p:nvSpPr>
          <p:cNvPr id="27651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Add a Zero detector</a:t>
            </a:r>
            <a:endParaRPr lang="en-US" altLang="zh-CN" smtClean="0"/>
          </a:p>
        </p:txBody>
      </p:sp>
      <p:pic>
        <p:nvPicPr>
          <p:cNvPr id="27652" name="Picture 5"/>
          <p:cNvPicPr>
            <a:picLocks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827" y="1721994"/>
            <a:ext cx="4800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ALU symbol &amp; control</a:t>
            </a:r>
            <a:endParaRPr lang="en-US" altLang="zh-CN"/>
          </a:p>
        </p:txBody>
      </p:sp>
      <p:sp>
        <p:nvSpPr>
          <p:cNvPr id="28675" name="AutoShape 3"/>
          <p:cNvSpPr>
            <a:spLocks noGrp="1" noChangeArrowheads="1"/>
          </p:cNvSpPr>
          <p:nvPr>
            <p:ph type="body" idx="1"/>
          </p:nvPr>
        </p:nvSpPr>
        <p:spPr>
          <a:xfrm>
            <a:off x="293688" y="1401763"/>
            <a:ext cx="8382000" cy="4114800"/>
          </a:xfrm>
        </p:spPr>
        <p:txBody>
          <a:bodyPr/>
          <a:lstStyle/>
          <a:p>
            <a:r>
              <a:rPr lang="en-US" altLang="zh-CN" dirty="0" smtClean="0"/>
              <a:t>Function table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Symbol of the ALU</a:t>
            </a:r>
            <a:endParaRPr lang="en-US" altLang="zh-CN" dirty="0" smtClean="0"/>
          </a:p>
        </p:txBody>
      </p:sp>
      <p:graphicFrame>
        <p:nvGraphicFramePr>
          <p:cNvPr id="295969" name="Group 33"/>
          <p:cNvGraphicFramePr>
            <a:graphicFrameLocks noGrp="1"/>
          </p:cNvGraphicFramePr>
          <p:nvPr/>
        </p:nvGraphicFramePr>
        <p:xfrm>
          <a:off x="1524000" y="1989138"/>
          <a:ext cx="5486400" cy="1995636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325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ALU Control Lines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Function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FF99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And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Or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Sub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Set on less than</a:t>
                      </a:r>
                      <a:endParaRPr kumimoji="1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488" marR="90488" marT="44383" marB="443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8699" name="Picture 34" descr="alusyb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4149725"/>
            <a:ext cx="226377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85761403-F36E-4A1E-B706-A60EFB1E6799}" type="slidenum">
              <a:rPr lang="en-AU" altLang="zh-CN"/>
            </a:fld>
            <a:endParaRPr lang="en-AU" altLang="zh-CN"/>
          </a:p>
        </p:txBody>
      </p:sp>
      <p:sp>
        <p:nvSpPr>
          <p:cNvPr id="717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Arithmetic for Computers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17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5255790"/>
          </a:xfrm>
        </p:spPr>
        <p:txBody>
          <a:bodyPr/>
          <a:lstStyle/>
          <a:p>
            <a:pPr eaLnBrk="1" hangingPunct="1"/>
            <a:r>
              <a:rPr lang="en-AU" altLang="zh-CN" dirty="0" smtClean="0">
                <a:ea typeface="宋体" panose="02010600030101010101" pitchFamily="2" charset="-122"/>
              </a:rPr>
              <a:t>Operations on integers</a:t>
            </a:r>
            <a:endParaRPr lang="en-AU" altLang="zh-CN" dirty="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 smtClean="0">
                <a:ea typeface="宋体" panose="02010600030101010101" pitchFamily="2" charset="-122"/>
              </a:rPr>
              <a:t>Addition and subtraction</a:t>
            </a:r>
            <a:endParaRPr lang="en-AU" altLang="zh-CN" dirty="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 smtClean="0">
                <a:ea typeface="宋体" panose="02010600030101010101" pitchFamily="2" charset="-122"/>
              </a:rPr>
              <a:t>Multiplication and division</a:t>
            </a:r>
            <a:endParaRPr lang="en-AU" altLang="zh-CN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What about fractions and real numbers?</a:t>
            </a:r>
            <a:endParaRPr lang="en-AU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 smtClean="0">
                <a:ea typeface="宋体" panose="02010600030101010101" pitchFamily="2" charset="-122"/>
              </a:rPr>
              <a:t>Representation and operations </a:t>
            </a:r>
            <a:endParaRPr lang="en-AU" altLang="zh-CN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How are overflow scenarios handled?</a:t>
            </a:r>
            <a:endParaRPr lang="en-AU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 smtClean="0">
                <a:ea typeface="宋体" panose="02010600030101010101" pitchFamily="2" charset="-122"/>
              </a:rPr>
              <a:t>e.g. An operation creates a number bigger than can be represented</a:t>
            </a:r>
            <a:endParaRPr lang="en-AU" altLang="zh-CN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How does hardware really multiply and divide numbers?</a:t>
            </a:r>
            <a:endParaRPr lang="en-AU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173" name="Text Box 9"/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§3.1 Introduction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29FF62F5-2489-43D0-A479-AEA12B32EEE3}" type="slidenum">
              <a:rPr lang="en-AU" altLang="zh-CN"/>
            </a:fld>
            <a:endParaRPr lang="en-AU" altLang="zh-CN"/>
          </a:p>
        </p:txBody>
      </p:sp>
      <p:pic>
        <p:nvPicPr>
          <p:cNvPr id="9219" name="Picture 9" descr="f03-01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844675"/>
            <a:ext cx="6938962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Integer Addition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74687"/>
          </a:xfrm>
        </p:spPr>
        <p:txBody>
          <a:bodyPr/>
          <a:lstStyle/>
          <a:p>
            <a:pPr eaLnBrk="1" hangingPunct="1"/>
            <a:r>
              <a:rPr lang="en-US" smtClean="0"/>
              <a:t>Example: 7 + 6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222" name="Text Box 4"/>
          <p:cNvSpPr txBox="1">
            <a:spLocks noChangeArrowheads="1"/>
          </p:cNvSpPr>
          <p:nvPr/>
        </p:nvSpPr>
        <p:spPr bwMode="auto">
          <a:xfrm rot="5400000">
            <a:off x="7369969" y="1407319"/>
            <a:ext cx="31813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§3.2 Addition and Subtraction</a:t>
            </a:r>
            <a:endParaRPr lang="en-US">
              <a:solidFill>
                <a:schemeClr val="folHlink"/>
              </a:solidFill>
            </a:endParaRP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684213" y="3644900"/>
            <a:ext cx="7772400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800">
                <a:solidFill>
                  <a:srgbClr val="FF0000"/>
                </a:solidFill>
              </a:rPr>
              <a:t>Overflow if result out of range</a:t>
            </a:r>
            <a:endParaRPr lang="en-US" sz="2800">
              <a:solidFill>
                <a:srgbClr val="FF0000"/>
              </a:solidFill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400"/>
              <a:t>Adding +ve and –ve operands, no overflow</a:t>
            </a:r>
            <a:endParaRPr lang="en-US" sz="240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400"/>
              <a:t>Adding two +ve operands</a:t>
            </a:r>
            <a:endParaRPr lang="en-US" sz="2400"/>
          </a:p>
          <a:p>
            <a:pPr marL="1143000" lvl="2" indent="-228600" eaLnBrk="1" hangingPunct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sz="2000"/>
              <a:t>Overflow if result sign bit is 1</a:t>
            </a:r>
            <a:endParaRPr lang="en-US" sz="200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400"/>
              <a:t>Adding two –ve operands</a:t>
            </a:r>
            <a:endParaRPr lang="en-US" sz="2400"/>
          </a:p>
          <a:p>
            <a:pPr marL="1143000" lvl="2" indent="-228600" eaLnBrk="1" hangingPunct="1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sz="2000"/>
              <a:t>Overflow if result sign bit is 0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242976A3-ED5B-4908-BFAA-3881E41EB59F}" type="slidenum">
              <a:rPr lang="en-AU" altLang="zh-CN"/>
            </a:fld>
            <a:endParaRPr lang="en-AU" altLang="zh-CN"/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Integer Subtraction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24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Add negation of second operand</a:t>
            </a:r>
            <a:endParaRPr lang="en-US" sz="2800" smtClean="0"/>
          </a:p>
          <a:p>
            <a:pPr eaLnBrk="1" hangingPunct="1"/>
            <a:r>
              <a:rPr lang="en-US" sz="2800" smtClean="0"/>
              <a:t>Example: 7 – 6 = 7 + (–6)</a:t>
            </a:r>
            <a:endParaRPr lang="en-US" sz="2800" smtClean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sz="2400" smtClean="0"/>
              <a:t>	+7:	0000 0000 … 0000 0111</a:t>
            </a:r>
            <a:br>
              <a:rPr lang="en-US" sz="2400" smtClean="0"/>
            </a:br>
            <a:r>
              <a:rPr lang="en-US" sz="2400" u="sng" smtClean="0"/>
              <a:t>–6:	1111 1111 … 1111 1010</a:t>
            </a:r>
            <a:br>
              <a:rPr lang="en-US" sz="2400" smtClean="0"/>
            </a:br>
            <a:r>
              <a:rPr lang="en-US" sz="2400" smtClean="0"/>
              <a:t>+1:	0000 0000 … 0000 0001</a:t>
            </a:r>
            <a:endParaRPr lang="en-US" sz="2400" smtClean="0"/>
          </a:p>
          <a:p>
            <a:pPr eaLnBrk="1" hangingPunct="1"/>
            <a:r>
              <a:rPr lang="en-US" sz="2800" smtClean="0">
                <a:solidFill>
                  <a:srgbClr val="FF0000"/>
                </a:solidFill>
              </a:rPr>
              <a:t>Overflow if result out of range</a:t>
            </a:r>
            <a:endParaRPr lang="en-US" sz="28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400" smtClean="0"/>
              <a:t>Subtracting two +ve or two –ve operands, no overflow</a:t>
            </a:r>
            <a:endParaRPr lang="en-US" sz="2400" smtClean="0"/>
          </a:p>
          <a:p>
            <a:pPr lvl="1" eaLnBrk="1" hangingPunct="1"/>
            <a:r>
              <a:rPr lang="en-US" sz="2400" smtClean="0"/>
              <a:t>Subtracting +ve from –ve operand</a:t>
            </a:r>
            <a:endParaRPr lang="en-US" sz="2400" smtClean="0"/>
          </a:p>
          <a:p>
            <a:pPr lvl="2" eaLnBrk="1" hangingPunct="1"/>
            <a:r>
              <a:rPr lang="en-US" sz="2000" smtClean="0"/>
              <a:t>Overflow if result sign bit is 0</a:t>
            </a:r>
            <a:endParaRPr lang="en-US" sz="2000" smtClean="0"/>
          </a:p>
          <a:p>
            <a:pPr lvl="1" eaLnBrk="1" hangingPunct="1"/>
            <a:r>
              <a:rPr lang="en-US" sz="2400" smtClean="0"/>
              <a:t>Subtracting –ve from +ve operand</a:t>
            </a:r>
            <a:endParaRPr lang="en-US" sz="2400" smtClean="0"/>
          </a:p>
          <a:p>
            <a:pPr lvl="2" eaLnBrk="1" hangingPunct="1"/>
            <a:r>
              <a:rPr lang="en-US" sz="2000" smtClean="0"/>
              <a:t>Overflow if result sign bit is 1</a:t>
            </a:r>
            <a:endParaRPr 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824FDC95-D62F-4810-96C1-5C392ECBA7FB}" type="slidenum">
              <a:rPr lang="en-AU" altLang="zh-CN"/>
            </a:fld>
            <a:endParaRPr lang="en-AU" altLang="zh-CN"/>
          </a:p>
        </p:txBody>
      </p:sp>
      <p:sp>
        <p:nvSpPr>
          <p:cNvPr id="1126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Dealing with Overflow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126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Some languages (e.g., C) ignore overflow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C compilers use MIPS </a:t>
            </a:r>
            <a:r>
              <a:rPr 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addu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addui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subu</a:t>
            </a:r>
            <a:r>
              <a:rPr lang="en-US" dirty="0" smtClean="0"/>
              <a:t> instructions</a:t>
            </a: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Other languages (e.g., Ada, Fortran) require raising an exception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Use MIPS </a:t>
            </a: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add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addi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sub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instructions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On overflow, invoke exception handler</a:t>
            </a:r>
            <a:endParaRPr 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Save PC in exception program counter (EPC) register</a:t>
            </a:r>
            <a:endParaRPr 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Jump to predefined handler address</a:t>
            </a:r>
            <a:endParaRPr 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mfc0</a:t>
            </a:r>
            <a:r>
              <a:rPr lang="en-US" dirty="0" smtClean="0"/>
              <a:t> (move from coprocessor </a:t>
            </a:r>
            <a:r>
              <a:rPr lang="en-US" dirty="0" err="1" smtClean="0"/>
              <a:t>reg</a:t>
            </a:r>
            <a:r>
              <a:rPr lang="en-US" dirty="0" smtClean="0"/>
              <a:t>) instruction can retrieve EPC value, to return after corrective action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Speed considerations</a:t>
            </a:r>
            <a:endParaRPr lang="en-US" altLang="zh-CN"/>
          </a:p>
        </p:txBody>
      </p:sp>
      <p:sp>
        <p:nvSpPr>
          <p:cNvPr id="30723" name="AutoShap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4258816" cy="5300662"/>
          </a:xfrm>
        </p:spPr>
        <p:txBody>
          <a:bodyPr/>
          <a:lstStyle/>
          <a:p>
            <a:r>
              <a:rPr lang="en-US" altLang="zh-CN" dirty="0" smtClean="0"/>
              <a:t>Delay of one adder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 time units</a:t>
            </a:r>
            <a:endParaRPr lang="en-US" altLang="zh-CN" dirty="0" smtClean="0"/>
          </a:p>
          <a:p>
            <a:r>
              <a:rPr lang="en-US" altLang="zh-CN" dirty="0" smtClean="0"/>
              <a:t>Total delay for</a:t>
            </a:r>
            <a:endParaRPr lang="en-US" altLang="zh-CN" dirty="0" smtClean="0"/>
          </a:p>
          <a:p>
            <a:pPr>
              <a:buFontTx/>
              <a:buNone/>
            </a:pPr>
            <a:r>
              <a:rPr lang="en-US" altLang="zh-CN" dirty="0" smtClean="0"/>
              <a:t>	stages:</a:t>
            </a:r>
            <a:endParaRPr lang="en-US" altLang="zh-CN" dirty="0" smtClean="0"/>
          </a:p>
          <a:p>
            <a:pPr>
              <a:buFontTx/>
              <a:buNone/>
            </a:pPr>
            <a:r>
              <a:rPr lang="en-US" altLang="zh-CN" dirty="0" smtClean="0"/>
              <a:t>	2n unit delays</a:t>
            </a:r>
            <a:endParaRPr lang="en-US" altLang="zh-CN" dirty="0" smtClean="0"/>
          </a:p>
          <a:p>
            <a:r>
              <a:rPr lang="en-US" altLang="zh-CN" dirty="0" smtClean="0"/>
              <a:t>Not appropriate for</a:t>
            </a:r>
            <a:endParaRPr lang="en-US" altLang="zh-CN" dirty="0" smtClean="0"/>
          </a:p>
          <a:p>
            <a:pPr>
              <a:buFontTx/>
              <a:buNone/>
            </a:pPr>
            <a:r>
              <a:rPr lang="en-US" altLang="zh-CN" dirty="0" smtClean="0"/>
              <a:t>	high speed application</a:t>
            </a:r>
            <a:endParaRPr lang="en-US" altLang="zh-CN" dirty="0" smtClean="0"/>
          </a:p>
        </p:txBody>
      </p:sp>
      <p:pic>
        <p:nvPicPr>
          <p:cNvPr id="30724" name="Picture 4" descr="delay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2060575"/>
            <a:ext cx="4724400" cy="416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Fast adders</a:t>
            </a:r>
            <a:endParaRPr lang="en-US" altLang="zh-CN"/>
          </a:p>
        </p:txBody>
      </p:sp>
      <p:sp>
        <p:nvSpPr>
          <p:cNvPr id="31747" name="AutoShap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992243" cy="5111750"/>
          </a:xfrm>
        </p:spPr>
        <p:txBody>
          <a:bodyPr/>
          <a:lstStyle/>
          <a:p>
            <a:r>
              <a:rPr lang="en-US" altLang="zh-CN" dirty="0" smtClean="0"/>
              <a:t>All functions can be represented in 2-level logic.</a:t>
            </a:r>
            <a:endParaRPr lang="en-US" altLang="zh-CN" dirty="0" smtClean="0"/>
          </a:p>
          <a:p>
            <a:r>
              <a:rPr lang="en-US" altLang="zh-CN" dirty="0" smtClean="0"/>
              <a:t>But: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The number of inputs of the gates would drastically rise</a:t>
            </a:r>
            <a:endParaRPr lang="en-US" altLang="zh-CN" dirty="0" smtClean="0"/>
          </a:p>
          <a:p>
            <a:r>
              <a:rPr lang="en-US" altLang="zh-CN" dirty="0" smtClean="0"/>
              <a:t>Target:</a:t>
            </a:r>
            <a:endParaRPr lang="en-US" altLang="zh-CN" dirty="0" smtClean="0"/>
          </a:p>
          <a:p>
            <a:pPr>
              <a:buFontTx/>
              <a:buNone/>
            </a:pPr>
            <a:r>
              <a:rPr lang="en-US" altLang="zh-CN" dirty="0" smtClean="0"/>
              <a:t>	Optimum between speed and size</a:t>
            </a:r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Fast adders</a:t>
            </a:r>
            <a:endParaRPr lang="en-US" altLang="zh-CN"/>
          </a:p>
        </p:txBody>
      </p:sp>
      <p:sp>
        <p:nvSpPr>
          <p:cNvPr id="32771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/>
              <a:t>Carry look-ahead adder</a:t>
            </a:r>
            <a:endParaRPr lang="en-US" altLang="zh-CN" smtClean="0"/>
          </a:p>
          <a:p>
            <a:pPr lvl="1"/>
            <a:r>
              <a:rPr lang="en-US" altLang="zh-CN" smtClean="0"/>
              <a:t>Calculating the carries before the sum is ready</a:t>
            </a:r>
            <a:endParaRPr lang="en-US" altLang="zh-CN" smtClean="0"/>
          </a:p>
          <a:p>
            <a:r>
              <a:rPr lang="en-US" altLang="zh-CN" smtClean="0"/>
              <a:t>Carry skip adder</a:t>
            </a:r>
            <a:endParaRPr lang="en-US" altLang="zh-CN" smtClean="0"/>
          </a:p>
          <a:p>
            <a:pPr lvl="1"/>
            <a:r>
              <a:rPr lang="en-US" altLang="zh-CN" smtClean="0"/>
              <a:t>Accelerating the carry calculation by skipping some blocks</a:t>
            </a:r>
            <a:endParaRPr lang="en-US" altLang="zh-CN" smtClean="0"/>
          </a:p>
          <a:p>
            <a:r>
              <a:rPr lang="en-US" altLang="zh-CN" smtClean="0"/>
              <a:t>Carry select adder</a:t>
            </a:r>
            <a:endParaRPr lang="en-US" altLang="zh-CN" smtClean="0"/>
          </a:p>
          <a:p>
            <a:pPr lvl="1"/>
            <a:r>
              <a:rPr lang="en-US" altLang="zh-CN" smtClean="0"/>
              <a:t>Calculate two results and use the correct one</a:t>
            </a:r>
            <a:endParaRPr lang="en-US" altLang="zh-CN" smtClean="0"/>
          </a:p>
          <a:p>
            <a:r>
              <a:rPr lang="en-US" altLang="zh-CN" smtClean="0"/>
              <a:t>...</a:t>
            </a:r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Carry look ahead adder (CLA)</a:t>
            </a:r>
            <a:endParaRPr lang="en-US" altLang="zh-CN"/>
          </a:p>
        </p:txBody>
      </p:sp>
      <p:sp>
        <p:nvSpPr>
          <p:cNvPr id="33795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Separation of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add operation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carry calculation</a:t>
            </a:r>
            <a:endParaRPr lang="en-US" altLang="zh-CN" dirty="0" smtClean="0"/>
          </a:p>
          <a:p>
            <a:r>
              <a:rPr lang="en-US" altLang="zh-CN" dirty="0" err="1" smtClean="0"/>
              <a:t>Factorisation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Ci+1   = (bi * ci) + (</a:t>
            </a:r>
            <a:r>
              <a:rPr lang="en-US" altLang="zh-CN" dirty="0" err="1" smtClean="0"/>
              <a:t>ai</a:t>
            </a:r>
            <a:r>
              <a:rPr lang="en-US" altLang="zh-CN" dirty="0" smtClean="0"/>
              <a:t> * ci) + (</a:t>
            </a:r>
            <a:r>
              <a:rPr lang="en-US" altLang="zh-CN" dirty="0" err="1" smtClean="0"/>
              <a:t>ai</a:t>
            </a:r>
            <a:r>
              <a:rPr lang="en-US" altLang="zh-CN" dirty="0" smtClean="0"/>
              <a:t> * bi)</a:t>
            </a:r>
            <a:endParaRPr lang="en-US" altLang="zh-CN" dirty="0" smtClean="0"/>
          </a:p>
          <a:p>
            <a:pPr lvl="1">
              <a:buFontTx/>
              <a:buNone/>
            </a:pPr>
            <a:r>
              <a:rPr lang="en-US" altLang="zh-CN" dirty="0" smtClean="0"/>
              <a:t>		     =(</a:t>
            </a:r>
            <a:r>
              <a:rPr lang="en-US" altLang="zh-CN" dirty="0" err="1" smtClean="0"/>
              <a:t>ai</a:t>
            </a:r>
            <a:r>
              <a:rPr lang="en-US" altLang="zh-CN" dirty="0" smtClean="0"/>
              <a:t> * bi) + (</a:t>
            </a:r>
            <a:r>
              <a:rPr lang="en-US" altLang="zh-CN" dirty="0" err="1" smtClean="0"/>
              <a:t>ai</a:t>
            </a:r>
            <a:r>
              <a:rPr lang="en-US" altLang="zh-CN" dirty="0" smtClean="0"/>
              <a:t> + bi) * ci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Generate  </a:t>
            </a:r>
            <a:r>
              <a:rPr lang="en-US" altLang="zh-CN" dirty="0" err="1" smtClean="0"/>
              <a:t>gi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ai</a:t>
            </a:r>
            <a:r>
              <a:rPr lang="en-US" altLang="zh-CN" dirty="0" smtClean="0"/>
              <a:t> * bi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Propagate pi = </a:t>
            </a:r>
            <a:r>
              <a:rPr lang="en-US" altLang="zh-CN" dirty="0" err="1" smtClean="0"/>
              <a:t>ai</a:t>
            </a:r>
            <a:r>
              <a:rPr lang="en-US" altLang="zh-CN" dirty="0" smtClean="0"/>
              <a:t> + bi</a:t>
            </a:r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Carry look ahead adder</a:t>
            </a:r>
            <a:endParaRPr lang="en-US" altLang="zh-CN"/>
          </a:p>
        </p:txBody>
      </p:sp>
      <p:sp>
        <p:nvSpPr>
          <p:cNvPr id="34819" name="AutoShap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74788"/>
            <a:ext cx="8382000" cy="4114800"/>
          </a:xfrm>
        </p:spPr>
        <p:txBody>
          <a:bodyPr/>
          <a:lstStyle/>
          <a:p>
            <a:r>
              <a:rPr lang="en-US" altLang="zh-CN" smtClean="0"/>
              <a:t>Ci+1 = gi + pi * ci</a:t>
            </a:r>
            <a:endParaRPr lang="en-US" altLang="zh-CN" smtClean="0"/>
          </a:p>
          <a:p>
            <a:r>
              <a:rPr lang="en-US" altLang="zh-CN" smtClean="0"/>
              <a:t>Carry generate: gi = ai * bi</a:t>
            </a:r>
            <a:endParaRPr lang="en-US" altLang="zh-CN" smtClean="0"/>
          </a:p>
          <a:p>
            <a:pPr lvl="1"/>
            <a:r>
              <a:rPr lang="en-US" altLang="zh-CN" smtClean="0"/>
              <a:t>If a and b are '1' -&gt;</a:t>
            </a:r>
            <a:endParaRPr lang="en-US" altLang="zh-CN" smtClean="0"/>
          </a:p>
          <a:p>
            <a:pPr lvl="1">
              <a:buFontTx/>
              <a:buNone/>
            </a:pPr>
            <a:r>
              <a:rPr lang="en-US" altLang="zh-CN" smtClean="0"/>
              <a:t>	we always have a carryout independent of ci</a:t>
            </a:r>
            <a:endParaRPr lang="en-US" altLang="zh-CN" smtClean="0"/>
          </a:p>
          <a:p>
            <a:r>
              <a:rPr lang="en-US" altLang="zh-CN" smtClean="0"/>
              <a:t>Carry propagate: pi = ai+ bi</a:t>
            </a:r>
            <a:endParaRPr lang="en-US" altLang="zh-CN" smtClean="0"/>
          </a:p>
          <a:p>
            <a:pPr lvl="1"/>
            <a:r>
              <a:rPr lang="en-US" altLang="zh-CN" smtClean="0"/>
              <a:t>If only one of a and b is '1' -&gt;</a:t>
            </a:r>
            <a:endParaRPr lang="en-US" altLang="zh-CN" smtClean="0"/>
          </a:p>
          <a:p>
            <a:pPr lvl="1">
              <a:buFontTx/>
              <a:buNone/>
            </a:pPr>
            <a:r>
              <a:rPr lang="en-US" altLang="zh-CN" smtClean="0"/>
              <a:t>	the carry out depends on the carry in</a:t>
            </a:r>
            <a:endParaRPr lang="en-US" altLang="zh-CN" smtClean="0"/>
          </a:p>
          <a:p>
            <a:pPr lvl="1"/>
            <a:r>
              <a:rPr lang="en-US" altLang="zh-CN" smtClean="0"/>
              <a:t>pi propagates the carry</a:t>
            </a:r>
            <a:endParaRPr lang="en-US" altLang="zh-CN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88640"/>
            <a:ext cx="8784332" cy="7620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Four bit carry look ahead adder</a:t>
            </a:r>
            <a:endParaRPr lang="en-US" altLang="zh-CN" dirty="0"/>
          </a:p>
        </p:txBody>
      </p:sp>
      <p:sp>
        <p:nvSpPr>
          <p:cNvPr id="35843" name="AutoShap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84313"/>
            <a:ext cx="8382000" cy="4114800"/>
          </a:xfrm>
        </p:spPr>
        <p:txBody>
          <a:bodyPr/>
          <a:lstStyle/>
          <a:p>
            <a:r>
              <a:rPr lang="en-US" altLang="zh-CN" sz="2000" dirty="0" smtClean="0"/>
              <a:t>c1 = g0 + (p0 * c0)</a:t>
            </a:r>
            <a:endParaRPr lang="en-US" altLang="zh-CN" sz="2000" dirty="0" smtClean="0"/>
          </a:p>
          <a:p>
            <a:r>
              <a:rPr lang="en-US" altLang="zh-CN" sz="2000" dirty="0" smtClean="0"/>
              <a:t>c2 = g1 + p1*c1 = g1 + (p1 * g0) + (p1 * p0 * c0)</a:t>
            </a:r>
            <a:endParaRPr lang="en-US" altLang="zh-CN" sz="2000" dirty="0" smtClean="0"/>
          </a:p>
          <a:p>
            <a:r>
              <a:rPr lang="en-US" altLang="zh-CN" sz="2000" dirty="0" smtClean="0"/>
              <a:t>c3 = g2 + p2*c2 = g2 + (p2 * g1) + (p2 * p1 * g0) + (p2 * p1 * p0 * c0)</a:t>
            </a:r>
            <a:endParaRPr lang="en-US" altLang="zh-CN" sz="2000" dirty="0" smtClean="0"/>
          </a:p>
          <a:p>
            <a:r>
              <a:rPr lang="en-US" altLang="zh-CN" sz="2000" dirty="0" smtClean="0"/>
              <a:t>c4 = g3 + p3*c3 = g3 + (p3 * g2) + (p3 * p2 * g1)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		                     +(p3 * p2 * p1 * g0) + (p3 * p2 * p1 * p0 * c0)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COMMENT: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	 This kind of adder will be faster than the ripple carry adder, and smaller than the adder with the tow-level logic. 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PROBLEM: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	 If the number of the adder bits is very large, this kind of adder will be too large. So we must seek more efficient ways.</a:t>
            </a:r>
            <a:endParaRPr lang="en-US" altLang="zh-CN" sz="2000" dirty="0" smtClean="0"/>
          </a:p>
          <a:p>
            <a:pPr>
              <a:buFontTx/>
              <a:buNone/>
            </a:pPr>
            <a:endParaRPr lang="en-US" altLang="zh-CN" sz="20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0164"/>
            <a:ext cx="8568308" cy="707886"/>
          </a:xfrm>
        </p:spPr>
        <p:txBody>
          <a:bodyPr/>
          <a:lstStyle/>
          <a:p>
            <a:pPr>
              <a:defRPr/>
            </a:pPr>
            <a:r>
              <a:rPr lang="en-US" altLang="zh-CN" sz="4000" dirty="0"/>
              <a:t>Four bit carry look ahead adder</a:t>
            </a:r>
            <a:endParaRPr lang="en-US" altLang="zh-CN" sz="4000" dirty="0"/>
          </a:p>
        </p:txBody>
      </p:sp>
      <p:sp>
        <p:nvSpPr>
          <p:cNvPr id="36867" name="AutoShape 3"/>
          <p:cNvSpPr>
            <a:spLocks noGrp="1" noChangeArrowheads="1"/>
          </p:cNvSpPr>
          <p:nvPr>
            <p:ph type="body" idx="1"/>
          </p:nvPr>
        </p:nvSpPr>
        <p:spPr>
          <a:xfrm>
            <a:off x="539552" y="1080120"/>
            <a:ext cx="8458200" cy="594928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Let</a:t>
            </a:r>
            <a:r>
              <a:rPr lang="en-US" altLang="zh-CN" sz="2000" dirty="0" smtClean="0">
                <a:latin typeface="Times New Roman" panose="02020603050405020304" pitchFamily="18" charset="0"/>
              </a:rPr>
              <a:t>’</a:t>
            </a:r>
            <a:r>
              <a:rPr lang="en-US" altLang="zh-CN" sz="2000" dirty="0" smtClean="0"/>
              <a:t>s consider a 16-bit adder.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Divide 16 bits into 4 </a:t>
            </a:r>
            <a:r>
              <a:rPr lang="en-US" altLang="zh-CN" sz="2000" dirty="0" err="1" smtClean="0"/>
              <a:t>groups.Each</a:t>
            </a:r>
            <a:r>
              <a:rPr lang="en-US" altLang="zh-CN" sz="2000" dirty="0" smtClean="0"/>
              <a:t> group has 4 bits.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As we know: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	c4 = g3 + p3*g2 + p3*p2*g1 + p3*p2*p1*g0 + p3*p2*p1*p0*c0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err="1" smtClean="0"/>
              <a:t>So,we</a:t>
            </a:r>
            <a:r>
              <a:rPr lang="en-US" altLang="zh-CN" sz="2000" dirty="0" smtClean="0"/>
              <a:t> can get the following: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c8 = g7 + p7*g6 + p7*p6*g5 + p7*p6*p5*g4 + p7*p6*5*p4*c4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c12 = g11+p11*g10+p11*p10*g9+p11*p10*p9*g8+p11*p10*p9*p8*c8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c16=g15+p15*g14+p15*p14*g13+p15*p14*p13*g12+p15*p14*p13*p12*c12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Assume: 	G0= g3 + p3*g2 + p3*p2 *g1 +p3*p2*p1*g0 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 			G1= g7 + p7*g6 + p7*p6*g5 + p7*p6*p5*g4 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			G2= g11+p11*g10+p11*p10*g9+p11*p10*p9*g8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			G3= g15+p15*g14+p15*p14*g13+p15*p14*p13*g12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			P0= p3 * p2 * p1 * p0 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			P1= p7 * p6 * p5 * p4 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			P2= p11 * p10 * p9 * p8 </a:t>
            </a:r>
            <a:endParaRPr lang="en-US" altLang="zh-CN" sz="2000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 smtClean="0"/>
              <a:t>			P3= p15 * p14 * p13 * p12 </a:t>
            </a:r>
            <a:endParaRPr lang="en-US" altLang="zh-CN" sz="20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2" y="200164"/>
            <a:ext cx="9000355" cy="707886"/>
          </a:xfrm>
        </p:spPr>
        <p:txBody>
          <a:bodyPr/>
          <a:lstStyle/>
          <a:p>
            <a:pPr>
              <a:defRPr/>
            </a:pPr>
            <a:r>
              <a:rPr lang="en-US" altLang="zh-CN" sz="4000" dirty="0"/>
              <a:t>Four bit carry look ahead adder</a:t>
            </a:r>
            <a:endParaRPr lang="en-US" altLang="zh-CN" sz="4000" dirty="0"/>
          </a:p>
        </p:txBody>
      </p:sp>
      <p:sp>
        <p:nvSpPr>
          <p:cNvPr id="37891" name="AutoShap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z="2000" dirty="0" smtClean="0"/>
              <a:t>Then we get: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	c4=G0+P0*c0 ;          c8=G1+P1*c4 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	c12=G2+P2*c8 ;        c16=G3+P3*c12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Assume:C1=c4,C2=c8,C3=c12,C4=c16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Then: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	C1=G0+P0*c0 ;         C2=G1+P1*C1 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	C3=G2+P2*C2 ;        C4=G3+P3*C3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err="1" smtClean="0"/>
              <a:t>And,we</a:t>
            </a:r>
            <a:r>
              <a:rPr lang="en-US" altLang="zh-CN" sz="2000" dirty="0" smtClean="0"/>
              <a:t> can further get: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C1=G0+P0*c0 ;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C2= G1+P1*C1 = G1+P1*G0+ P1* P0*c0 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C3=G2+P2*C2 = G2+P2*G1 + P2* P1*G0+ P2* P1* P0*c0 </a:t>
            </a:r>
            <a:endParaRPr lang="en-US" altLang="zh-CN" sz="2000" dirty="0" smtClean="0"/>
          </a:p>
          <a:p>
            <a:pPr>
              <a:buFontTx/>
              <a:buNone/>
            </a:pPr>
            <a:r>
              <a:rPr lang="en-US" altLang="zh-CN" sz="2000" dirty="0" smtClean="0"/>
              <a:t>C4=G3+P3*C3= G3+P3*G2+P3*P2*G1+P3*P2*P1*G0+P3*P2*P1* P0*c0 </a:t>
            </a:r>
            <a:endParaRPr lang="en-US" altLang="zh-CN" sz="20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988840"/>
            <a:ext cx="4319588" cy="2308324"/>
          </a:xfrm>
        </p:spPr>
        <p:txBody>
          <a:bodyPr/>
          <a:lstStyle/>
          <a:p>
            <a:pPr>
              <a:defRPr/>
            </a:pPr>
            <a:r>
              <a:rPr lang="en-US" altLang="zh-CN" sz="3600" dirty="0" smtClean="0"/>
              <a:t>Four 4-bit ALUs using carry </a:t>
            </a:r>
            <a:r>
              <a:rPr lang="en-US" altLang="zh-CN" sz="3600" dirty="0" err="1" smtClean="0"/>
              <a:t>lookahead</a:t>
            </a:r>
            <a:r>
              <a:rPr lang="en-US" altLang="zh-CN" sz="3600" dirty="0" smtClean="0"/>
              <a:t> to form a 16-bit adder.</a:t>
            </a:r>
            <a:endParaRPr lang="zh-CN" altLang="en-US" sz="3600" dirty="0"/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2" t="16380" r="34285" b="17381"/>
          <a:stretch>
            <a:fillRect/>
          </a:stretch>
        </p:blipFill>
        <p:spPr bwMode="auto">
          <a:xfrm>
            <a:off x="4572000" y="235335"/>
            <a:ext cx="4319587" cy="6480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Hybrid CLA + Ripple carry</a:t>
            </a:r>
            <a:endParaRPr lang="en-US" altLang="zh-CN"/>
          </a:p>
        </p:txBody>
      </p:sp>
      <p:sp>
        <p:nvSpPr>
          <p:cNvPr id="40963" name="AutoShap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84313"/>
            <a:ext cx="8382000" cy="4114800"/>
          </a:xfrm>
        </p:spPr>
        <p:txBody>
          <a:bodyPr/>
          <a:lstStyle/>
          <a:p>
            <a:r>
              <a:rPr lang="en-US" altLang="zh-CN" dirty="0" err="1" smtClean="0"/>
              <a:t>Realisation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Ripple carry adders and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Carry look ahead logic</a:t>
            </a:r>
            <a:endParaRPr lang="en-US" altLang="zh-CN" dirty="0" smtClean="0"/>
          </a:p>
          <a:p>
            <a:pPr>
              <a:buFontTx/>
              <a:buNone/>
            </a:pPr>
            <a:endParaRPr lang="en-US" altLang="zh-CN" dirty="0" smtClean="0"/>
          </a:p>
        </p:txBody>
      </p:sp>
      <p:pic>
        <p:nvPicPr>
          <p:cNvPr id="40964" name="Picture 4" descr="delay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03513"/>
            <a:ext cx="7361238" cy="336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ChangeArrowheads="1"/>
          </p:cNvSpPr>
          <p:nvPr/>
        </p:nvSpPr>
        <p:spPr bwMode="auto">
          <a:xfrm>
            <a:off x="457200" y="457200"/>
            <a:ext cx="7024680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 smtClean="0">
                <a:latin typeface="宋体" panose="02010600030101010101" pitchFamily="2" charset="-122"/>
              </a:rPr>
              <a:t>Suppose  Time (AND) =0.5 T ,Time(Or)=1.0 T</a:t>
            </a:r>
            <a:r>
              <a:rPr lang="zh-CN" altLang="en-US" sz="2400" b="1" dirty="0" smtClean="0">
                <a:latin typeface="宋体" panose="02010600030101010101" pitchFamily="2" charset="-122"/>
              </a:rPr>
              <a:t>　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52227" name="Group 4"/>
          <p:cNvGrpSpPr/>
          <p:nvPr/>
        </p:nvGrpSpPr>
        <p:grpSpPr bwMode="auto">
          <a:xfrm>
            <a:off x="4114800" y="3959225"/>
            <a:ext cx="5086350" cy="2555875"/>
            <a:chOff x="2156" y="280"/>
            <a:chExt cx="3204" cy="1610"/>
          </a:xfrm>
        </p:grpSpPr>
        <p:sp>
          <p:nvSpPr>
            <p:cNvPr id="52339" name="Line 5"/>
            <p:cNvSpPr>
              <a:spLocks noChangeShapeType="1"/>
            </p:cNvSpPr>
            <p:nvPr/>
          </p:nvSpPr>
          <p:spPr bwMode="auto">
            <a:xfrm>
              <a:off x="2442" y="393"/>
              <a:ext cx="4" cy="12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40" name="Line 6"/>
            <p:cNvSpPr>
              <a:spLocks noChangeShapeType="1"/>
            </p:cNvSpPr>
            <p:nvPr/>
          </p:nvSpPr>
          <p:spPr bwMode="auto">
            <a:xfrm>
              <a:off x="2446" y="1667"/>
              <a:ext cx="28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41" name="Line 7"/>
            <p:cNvSpPr>
              <a:spLocks noChangeShapeType="1"/>
            </p:cNvSpPr>
            <p:nvPr/>
          </p:nvSpPr>
          <p:spPr bwMode="auto">
            <a:xfrm>
              <a:off x="2442" y="1447"/>
              <a:ext cx="5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42" name="Line 8"/>
            <p:cNvSpPr>
              <a:spLocks noChangeShapeType="1"/>
            </p:cNvSpPr>
            <p:nvPr/>
          </p:nvSpPr>
          <p:spPr bwMode="auto">
            <a:xfrm>
              <a:off x="2442" y="1205"/>
              <a:ext cx="5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43" name="Line 9"/>
            <p:cNvSpPr>
              <a:spLocks noChangeShapeType="1"/>
            </p:cNvSpPr>
            <p:nvPr/>
          </p:nvSpPr>
          <p:spPr bwMode="auto">
            <a:xfrm>
              <a:off x="2440" y="952"/>
              <a:ext cx="5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44" name="Line 10"/>
            <p:cNvSpPr>
              <a:spLocks noChangeShapeType="1"/>
            </p:cNvSpPr>
            <p:nvPr/>
          </p:nvSpPr>
          <p:spPr bwMode="auto">
            <a:xfrm>
              <a:off x="2440" y="950"/>
              <a:ext cx="5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45" name="Line 11"/>
            <p:cNvSpPr>
              <a:spLocks noChangeShapeType="1"/>
            </p:cNvSpPr>
            <p:nvPr/>
          </p:nvSpPr>
          <p:spPr bwMode="auto">
            <a:xfrm>
              <a:off x="2584" y="1603"/>
              <a:ext cx="0" cy="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46" name="Line 12"/>
            <p:cNvSpPr>
              <a:spLocks noChangeShapeType="1"/>
            </p:cNvSpPr>
            <p:nvPr/>
          </p:nvSpPr>
          <p:spPr bwMode="auto">
            <a:xfrm>
              <a:off x="2722" y="1609"/>
              <a:ext cx="0" cy="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47" name="Line 13"/>
            <p:cNvSpPr>
              <a:spLocks noChangeShapeType="1"/>
            </p:cNvSpPr>
            <p:nvPr/>
          </p:nvSpPr>
          <p:spPr bwMode="auto">
            <a:xfrm>
              <a:off x="2860" y="1609"/>
              <a:ext cx="0" cy="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48" name="Line 14"/>
            <p:cNvSpPr>
              <a:spLocks noChangeShapeType="1"/>
            </p:cNvSpPr>
            <p:nvPr/>
          </p:nvSpPr>
          <p:spPr bwMode="auto">
            <a:xfrm>
              <a:off x="2998" y="1609"/>
              <a:ext cx="0" cy="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49" name="Line 15"/>
            <p:cNvSpPr>
              <a:spLocks noChangeShapeType="1"/>
            </p:cNvSpPr>
            <p:nvPr/>
          </p:nvSpPr>
          <p:spPr bwMode="auto">
            <a:xfrm>
              <a:off x="3124" y="1609"/>
              <a:ext cx="0" cy="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0" name="Line 16"/>
            <p:cNvSpPr>
              <a:spLocks noChangeShapeType="1"/>
            </p:cNvSpPr>
            <p:nvPr/>
          </p:nvSpPr>
          <p:spPr bwMode="auto">
            <a:xfrm>
              <a:off x="3250" y="1609"/>
              <a:ext cx="0" cy="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1" name="Line 17"/>
            <p:cNvSpPr>
              <a:spLocks noChangeShapeType="1"/>
            </p:cNvSpPr>
            <p:nvPr/>
          </p:nvSpPr>
          <p:spPr bwMode="auto">
            <a:xfrm>
              <a:off x="3388" y="1609"/>
              <a:ext cx="0" cy="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2" name="Line 18"/>
            <p:cNvSpPr>
              <a:spLocks noChangeShapeType="1"/>
            </p:cNvSpPr>
            <p:nvPr/>
          </p:nvSpPr>
          <p:spPr bwMode="auto">
            <a:xfrm>
              <a:off x="3526" y="1609"/>
              <a:ext cx="0" cy="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3" name="Line 19"/>
            <p:cNvSpPr>
              <a:spLocks noChangeShapeType="1"/>
            </p:cNvSpPr>
            <p:nvPr/>
          </p:nvSpPr>
          <p:spPr bwMode="auto">
            <a:xfrm>
              <a:off x="3658" y="1603"/>
              <a:ext cx="0" cy="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4" name="Line 20"/>
            <p:cNvSpPr>
              <a:spLocks noChangeShapeType="1"/>
            </p:cNvSpPr>
            <p:nvPr/>
          </p:nvSpPr>
          <p:spPr bwMode="auto">
            <a:xfrm>
              <a:off x="3796" y="1609"/>
              <a:ext cx="0" cy="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5" name="Line 21"/>
            <p:cNvSpPr>
              <a:spLocks noChangeShapeType="1"/>
            </p:cNvSpPr>
            <p:nvPr/>
          </p:nvSpPr>
          <p:spPr bwMode="auto">
            <a:xfrm>
              <a:off x="3934" y="1609"/>
              <a:ext cx="0" cy="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6" name="Line 22"/>
            <p:cNvSpPr>
              <a:spLocks noChangeShapeType="1"/>
            </p:cNvSpPr>
            <p:nvPr/>
          </p:nvSpPr>
          <p:spPr bwMode="auto">
            <a:xfrm>
              <a:off x="4072" y="1609"/>
              <a:ext cx="0" cy="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7" name="Line 23"/>
            <p:cNvSpPr>
              <a:spLocks noChangeShapeType="1"/>
            </p:cNvSpPr>
            <p:nvPr/>
          </p:nvSpPr>
          <p:spPr bwMode="auto">
            <a:xfrm>
              <a:off x="4186" y="1609"/>
              <a:ext cx="0" cy="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8" name="Line 24"/>
            <p:cNvSpPr>
              <a:spLocks noChangeShapeType="1"/>
            </p:cNvSpPr>
            <p:nvPr/>
          </p:nvSpPr>
          <p:spPr bwMode="auto">
            <a:xfrm>
              <a:off x="4324" y="1609"/>
              <a:ext cx="0" cy="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59" name="Line 25"/>
            <p:cNvSpPr>
              <a:spLocks noChangeShapeType="1"/>
            </p:cNvSpPr>
            <p:nvPr/>
          </p:nvSpPr>
          <p:spPr bwMode="auto">
            <a:xfrm>
              <a:off x="4462" y="1609"/>
              <a:ext cx="0" cy="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60" name="Line 26"/>
            <p:cNvSpPr>
              <a:spLocks noChangeShapeType="1"/>
            </p:cNvSpPr>
            <p:nvPr/>
          </p:nvSpPr>
          <p:spPr bwMode="auto">
            <a:xfrm>
              <a:off x="4600" y="1609"/>
              <a:ext cx="0" cy="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61" name="Text Box 27"/>
            <p:cNvSpPr txBox="1">
              <a:spLocks noChangeArrowheads="1"/>
            </p:cNvSpPr>
            <p:nvPr/>
          </p:nvSpPr>
          <p:spPr bwMode="auto">
            <a:xfrm>
              <a:off x="2303" y="1651"/>
              <a:ext cx="37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16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362" name="Text Box 28"/>
            <p:cNvSpPr txBox="1">
              <a:spLocks noChangeArrowheads="1"/>
            </p:cNvSpPr>
            <p:nvPr/>
          </p:nvSpPr>
          <p:spPr bwMode="auto">
            <a:xfrm>
              <a:off x="2839" y="1635"/>
              <a:ext cx="37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12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363" name="Text Box 29"/>
            <p:cNvSpPr txBox="1">
              <a:spLocks noChangeArrowheads="1"/>
            </p:cNvSpPr>
            <p:nvPr/>
          </p:nvSpPr>
          <p:spPr bwMode="auto">
            <a:xfrm>
              <a:off x="3392" y="1631"/>
              <a:ext cx="37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8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364" name="Text Box 30"/>
            <p:cNvSpPr txBox="1">
              <a:spLocks noChangeArrowheads="1"/>
            </p:cNvSpPr>
            <p:nvPr/>
          </p:nvSpPr>
          <p:spPr bwMode="auto">
            <a:xfrm>
              <a:off x="3934" y="1631"/>
              <a:ext cx="37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4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365" name="Text Box 31"/>
            <p:cNvSpPr txBox="1">
              <a:spLocks noChangeArrowheads="1"/>
            </p:cNvSpPr>
            <p:nvPr/>
          </p:nvSpPr>
          <p:spPr bwMode="auto">
            <a:xfrm>
              <a:off x="4490" y="1635"/>
              <a:ext cx="37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0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366" name="Oval 32"/>
            <p:cNvSpPr>
              <a:spLocks noChangeArrowheads="1"/>
            </p:cNvSpPr>
            <p:nvPr/>
          </p:nvSpPr>
          <p:spPr bwMode="auto">
            <a:xfrm>
              <a:off x="4430" y="1415"/>
              <a:ext cx="48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67" name="Oval 33"/>
            <p:cNvSpPr>
              <a:spLocks noChangeArrowheads="1"/>
            </p:cNvSpPr>
            <p:nvPr/>
          </p:nvSpPr>
          <p:spPr bwMode="auto">
            <a:xfrm>
              <a:off x="4280" y="1420"/>
              <a:ext cx="48" cy="4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68" name="Oval 34"/>
            <p:cNvSpPr>
              <a:spLocks noChangeArrowheads="1"/>
            </p:cNvSpPr>
            <p:nvPr/>
          </p:nvSpPr>
          <p:spPr bwMode="auto">
            <a:xfrm>
              <a:off x="4160" y="1420"/>
              <a:ext cx="48" cy="4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69" name="Oval 35"/>
            <p:cNvSpPr>
              <a:spLocks noChangeArrowheads="1"/>
            </p:cNvSpPr>
            <p:nvPr/>
          </p:nvSpPr>
          <p:spPr bwMode="auto">
            <a:xfrm>
              <a:off x="3358" y="932"/>
              <a:ext cx="48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70" name="Oval 36"/>
            <p:cNvSpPr>
              <a:spLocks noChangeArrowheads="1"/>
            </p:cNvSpPr>
            <p:nvPr/>
          </p:nvSpPr>
          <p:spPr bwMode="auto">
            <a:xfrm>
              <a:off x="3226" y="932"/>
              <a:ext cx="48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71" name="Oval 37"/>
            <p:cNvSpPr>
              <a:spLocks noChangeArrowheads="1"/>
            </p:cNvSpPr>
            <p:nvPr/>
          </p:nvSpPr>
          <p:spPr bwMode="auto">
            <a:xfrm>
              <a:off x="3100" y="932"/>
              <a:ext cx="48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72" name="Oval 38"/>
            <p:cNvSpPr>
              <a:spLocks noChangeArrowheads="1"/>
            </p:cNvSpPr>
            <p:nvPr/>
          </p:nvSpPr>
          <p:spPr bwMode="auto">
            <a:xfrm>
              <a:off x="2812" y="929"/>
              <a:ext cx="48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73" name="Oval 39"/>
            <p:cNvSpPr>
              <a:spLocks noChangeArrowheads="1"/>
            </p:cNvSpPr>
            <p:nvPr/>
          </p:nvSpPr>
          <p:spPr bwMode="auto">
            <a:xfrm>
              <a:off x="2680" y="929"/>
              <a:ext cx="48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74" name="Oval 40"/>
            <p:cNvSpPr>
              <a:spLocks noChangeArrowheads="1"/>
            </p:cNvSpPr>
            <p:nvPr/>
          </p:nvSpPr>
          <p:spPr bwMode="auto">
            <a:xfrm>
              <a:off x="2554" y="929"/>
              <a:ext cx="48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75" name="Text Box 41"/>
            <p:cNvSpPr txBox="1">
              <a:spLocks noChangeArrowheads="1"/>
            </p:cNvSpPr>
            <p:nvPr/>
          </p:nvSpPr>
          <p:spPr bwMode="auto">
            <a:xfrm>
              <a:off x="2156" y="1344"/>
              <a:ext cx="3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1.5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376" name="Text Box 42"/>
            <p:cNvSpPr txBox="1">
              <a:spLocks noChangeArrowheads="1"/>
            </p:cNvSpPr>
            <p:nvPr/>
          </p:nvSpPr>
          <p:spPr bwMode="auto">
            <a:xfrm>
              <a:off x="2156" y="1102"/>
              <a:ext cx="3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  3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377" name="Text Box 43"/>
            <p:cNvSpPr txBox="1">
              <a:spLocks noChangeArrowheads="1"/>
            </p:cNvSpPr>
            <p:nvPr/>
          </p:nvSpPr>
          <p:spPr bwMode="auto">
            <a:xfrm>
              <a:off x="2168" y="850"/>
              <a:ext cx="3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4.5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378" name="Text Box 44"/>
            <p:cNvSpPr txBox="1">
              <a:spLocks noChangeArrowheads="1"/>
            </p:cNvSpPr>
            <p:nvPr/>
          </p:nvSpPr>
          <p:spPr bwMode="auto">
            <a:xfrm>
              <a:off x="2210" y="619"/>
              <a:ext cx="3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 6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379" name="Rectangle 45"/>
            <p:cNvSpPr>
              <a:spLocks noChangeArrowheads="1"/>
            </p:cNvSpPr>
            <p:nvPr/>
          </p:nvSpPr>
          <p:spPr bwMode="auto">
            <a:xfrm>
              <a:off x="2242" y="280"/>
              <a:ext cx="22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y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52380" name="Text Box 46"/>
            <p:cNvSpPr txBox="1">
              <a:spLocks noChangeArrowheads="1"/>
            </p:cNvSpPr>
            <p:nvPr/>
          </p:nvSpPr>
          <p:spPr bwMode="auto">
            <a:xfrm>
              <a:off x="4338" y="1635"/>
              <a:ext cx="37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2381" name="Text Box 47"/>
            <p:cNvSpPr txBox="1">
              <a:spLocks noChangeArrowheads="1"/>
            </p:cNvSpPr>
            <p:nvPr/>
          </p:nvSpPr>
          <p:spPr bwMode="auto">
            <a:xfrm>
              <a:off x="5116" y="1659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382" name="Rectangle 48"/>
            <p:cNvSpPr>
              <a:spLocks noChangeArrowheads="1"/>
            </p:cNvSpPr>
            <p:nvPr/>
          </p:nvSpPr>
          <p:spPr bwMode="auto">
            <a:xfrm>
              <a:off x="4086" y="1633"/>
              <a:ext cx="2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3</a:t>
              </a:r>
              <a:endParaRPr lang="en-US" altLang="zh-CN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2383" name="Rectangle 49"/>
            <p:cNvSpPr>
              <a:spLocks noChangeArrowheads="1"/>
            </p:cNvSpPr>
            <p:nvPr/>
          </p:nvSpPr>
          <p:spPr bwMode="auto">
            <a:xfrm>
              <a:off x="3471" y="1145"/>
              <a:ext cx="98" cy="9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84" name="Rectangle 50"/>
            <p:cNvSpPr>
              <a:spLocks noChangeArrowheads="1"/>
            </p:cNvSpPr>
            <p:nvPr/>
          </p:nvSpPr>
          <p:spPr bwMode="auto">
            <a:xfrm>
              <a:off x="4012" y="1146"/>
              <a:ext cx="98" cy="9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85" name="Rectangle 51"/>
            <p:cNvSpPr>
              <a:spLocks noChangeArrowheads="1"/>
            </p:cNvSpPr>
            <p:nvPr/>
          </p:nvSpPr>
          <p:spPr bwMode="auto">
            <a:xfrm>
              <a:off x="2937" y="1151"/>
              <a:ext cx="98" cy="9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86" name="Rectangle 52"/>
            <p:cNvSpPr>
              <a:spLocks noChangeArrowheads="1"/>
            </p:cNvSpPr>
            <p:nvPr/>
          </p:nvSpPr>
          <p:spPr bwMode="auto">
            <a:xfrm>
              <a:off x="2396" y="1145"/>
              <a:ext cx="98" cy="9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87" name="Oval 53"/>
            <p:cNvSpPr>
              <a:spLocks noChangeArrowheads="1"/>
            </p:cNvSpPr>
            <p:nvPr/>
          </p:nvSpPr>
          <p:spPr bwMode="auto">
            <a:xfrm>
              <a:off x="3892" y="926"/>
              <a:ext cx="48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88" name="Oval 54"/>
            <p:cNvSpPr>
              <a:spLocks noChangeArrowheads="1"/>
            </p:cNvSpPr>
            <p:nvPr/>
          </p:nvSpPr>
          <p:spPr bwMode="auto">
            <a:xfrm>
              <a:off x="3760" y="926"/>
              <a:ext cx="48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89" name="Oval 55"/>
            <p:cNvSpPr>
              <a:spLocks noChangeArrowheads="1"/>
            </p:cNvSpPr>
            <p:nvPr/>
          </p:nvSpPr>
          <p:spPr bwMode="auto">
            <a:xfrm>
              <a:off x="3634" y="926"/>
              <a:ext cx="48" cy="4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2228" name="Group 56"/>
          <p:cNvGrpSpPr/>
          <p:nvPr/>
        </p:nvGrpSpPr>
        <p:grpSpPr bwMode="auto">
          <a:xfrm>
            <a:off x="455613" y="952500"/>
            <a:ext cx="8421687" cy="2836863"/>
            <a:chOff x="318" y="2139"/>
            <a:chExt cx="5305" cy="1799"/>
          </a:xfrm>
        </p:grpSpPr>
        <p:grpSp>
          <p:nvGrpSpPr>
            <p:cNvPr id="52229" name="Group 57"/>
            <p:cNvGrpSpPr/>
            <p:nvPr/>
          </p:nvGrpSpPr>
          <p:grpSpPr bwMode="auto">
            <a:xfrm>
              <a:off x="4074" y="2757"/>
              <a:ext cx="1140" cy="1169"/>
              <a:chOff x="2862" y="2742"/>
              <a:chExt cx="1140" cy="1169"/>
            </a:xfrm>
          </p:grpSpPr>
          <p:sp>
            <p:nvSpPr>
              <p:cNvPr id="52319" name="Rectangle 58"/>
              <p:cNvSpPr>
                <a:spLocks noChangeArrowheads="1"/>
              </p:cNvSpPr>
              <p:nvPr/>
            </p:nvSpPr>
            <p:spPr bwMode="auto">
              <a:xfrm>
                <a:off x="2976" y="3282"/>
                <a:ext cx="912" cy="264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320" name="Text Box 59"/>
              <p:cNvSpPr txBox="1">
                <a:spLocks noChangeArrowheads="1"/>
              </p:cNvSpPr>
              <p:nvPr/>
            </p:nvSpPr>
            <p:spPr bwMode="auto">
              <a:xfrm>
                <a:off x="3126" y="3299"/>
                <a:ext cx="72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第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小组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321" name="Line 60"/>
              <p:cNvSpPr>
                <a:spLocks noChangeShapeType="1"/>
              </p:cNvSpPr>
              <p:nvPr/>
            </p:nvSpPr>
            <p:spPr bwMode="auto">
              <a:xfrm>
                <a:off x="3078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22" name="Line 61"/>
              <p:cNvSpPr>
                <a:spLocks noChangeShapeType="1"/>
              </p:cNvSpPr>
              <p:nvPr/>
            </p:nvSpPr>
            <p:spPr bwMode="auto">
              <a:xfrm>
                <a:off x="3156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23" name="Line 62"/>
              <p:cNvSpPr>
                <a:spLocks noChangeShapeType="1"/>
              </p:cNvSpPr>
              <p:nvPr/>
            </p:nvSpPr>
            <p:spPr bwMode="auto">
              <a:xfrm>
                <a:off x="3246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24" name="Line 63"/>
              <p:cNvSpPr>
                <a:spLocks noChangeShapeType="1"/>
              </p:cNvSpPr>
              <p:nvPr/>
            </p:nvSpPr>
            <p:spPr bwMode="auto">
              <a:xfrm>
                <a:off x="3324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25" name="Line 64"/>
              <p:cNvSpPr>
                <a:spLocks noChangeShapeType="1"/>
              </p:cNvSpPr>
              <p:nvPr/>
            </p:nvSpPr>
            <p:spPr bwMode="auto">
              <a:xfrm>
                <a:off x="3552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26" name="Line 65"/>
              <p:cNvSpPr>
                <a:spLocks noChangeShapeType="1"/>
              </p:cNvSpPr>
              <p:nvPr/>
            </p:nvSpPr>
            <p:spPr bwMode="auto">
              <a:xfrm>
                <a:off x="3630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27" name="Line 66"/>
              <p:cNvSpPr>
                <a:spLocks noChangeShapeType="1"/>
              </p:cNvSpPr>
              <p:nvPr/>
            </p:nvSpPr>
            <p:spPr bwMode="auto">
              <a:xfrm>
                <a:off x="3720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28" name="Line 67"/>
              <p:cNvSpPr>
                <a:spLocks noChangeShapeType="1"/>
              </p:cNvSpPr>
              <p:nvPr/>
            </p:nvSpPr>
            <p:spPr bwMode="auto">
              <a:xfrm>
                <a:off x="3798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2329" name="Group 68"/>
              <p:cNvGrpSpPr/>
              <p:nvPr/>
            </p:nvGrpSpPr>
            <p:grpSpPr bwMode="auto">
              <a:xfrm>
                <a:off x="3420" y="3168"/>
                <a:ext cx="372" cy="114"/>
                <a:chOff x="3420" y="3108"/>
                <a:chExt cx="372" cy="174"/>
              </a:xfrm>
            </p:grpSpPr>
            <p:sp>
              <p:nvSpPr>
                <p:cNvPr id="52336" name="Line 69"/>
                <p:cNvSpPr>
                  <a:spLocks noChangeShapeType="1"/>
                </p:cNvSpPr>
                <p:nvPr/>
              </p:nvSpPr>
              <p:spPr bwMode="auto">
                <a:xfrm>
                  <a:off x="3420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37" name="Line 70"/>
                <p:cNvSpPr>
                  <a:spLocks noChangeShapeType="1"/>
                </p:cNvSpPr>
                <p:nvPr/>
              </p:nvSpPr>
              <p:spPr bwMode="auto">
                <a:xfrm>
                  <a:off x="3612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38" name="Line 71"/>
                <p:cNvSpPr>
                  <a:spLocks noChangeShapeType="1"/>
                </p:cNvSpPr>
                <p:nvPr/>
              </p:nvSpPr>
              <p:spPr bwMode="auto">
                <a:xfrm>
                  <a:off x="3792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330" name="Group 72"/>
              <p:cNvGrpSpPr/>
              <p:nvPr/>
            </p:nvGrpSpPr>
            <p:grpSpPr bwMode="auto">
              <a:xfrm>
                <a:off x="3090" y="2784"/>
                <a:ext cx="156" cy="492"/>
                <a:chOff x="3090" y="2700"/>
                <a:chExt cx="156" cy="576"/>
              </a:xfrm>
            </p:grpSpPr>
            <p:sp>
              <p:nvSpPr>
                <p:cNvPr id="52334" name="Line 73"/>
                <p:cNvSpPr>
                  <a:spLocks noChangeShapeType="1"/>
                </p:cNvSpPr>
                <p:nvPr/>
              </p:nvSpPr>
              <p:spPr bwMode="auto">
                <a:xfrm>
                  <a:off x="3090" y="27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35" name="Line 74"/>
                <p:cNvSpPr>
                  <a:spLocks noChangeShapeType="1"/>
                </p:cNvSpPr>
                <p:nvPr/>
              </p:nvSpPr>
              <p:spPr bwMode="auto">
                <a:xfrm>
                  <a:off x="3246" y="27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331" name="Text Box 75"/>
              <p:cNvSpPr txBox="1">
                <a:spLocks noChangeArrowheads="1"/>
              </p:cNvSpPr>
              <p:nvPr/>
            </p:nvSpPr>
            <p:spPr bwMode="auto">
              <a:xfrm>
                <a:off x="3066" y="3678"/>
                <a:ext cx="93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3~0    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   Y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3~0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332" name="Text Box 76"/>
              <p:cNvSpPr txBox="1">
                <a:spLocks noChangeArrowheads="1"/>
              </p:cNvSpPr>
              <p:nvPr/>
            </p:nvSpPr>
            <p:spPr bwMode="auto">
              <a:xfrm>
                <a:off x="3288" y="2956"/>
                <a:ext cx="648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3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 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 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333" name="Text Box 77"/>
              <p:cNvSpPr txBox="1">
                <a:spLocks noChangeArrowheads="1"/>
              </p:cNvSpPr>
              <p:nvPr/>
            </p:nvSpPr>
            <p:spPr bwMode="auto">
              <a:xfrm>
                <a:off x="2862" y="2742"/>
                <a:ext cx="67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0         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0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30" name="Group 78"/>
            <p:cNvGrpSpPr/>
            <p:nvPr/>
          </p:nvGrpSpPr>
          <p:grpSpPr bwMode="auto">
            <a:xfrm>
              <a:off x="2826" y="2769"/>
              <a:ext cx="1140" cy="1169"/>
              <a:chOff x="2862" y="2742"/>
              <a:chExt cx="1140" cy="1169"/>
            </a:xfrm>
          </p:grpSpPr>
          <p:sp>
            <p:nvSpPr>
              <p:cNvPr id="52299" name="Rectangle 79"/>
              <p:cNvSpPr>
                <a:spLocks noChangeArrowheads="1"/>
              </p:cNvSpPr>
              <p:nvPr/>
            </p:nvSpPr>
            <p:spPr bwMode="auto">
              <a:xfrm>
                <a:off x="2976" y="3282"/>
                <a:ext cx="912" cy="264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300" name="Text Box 80"/>
              <p:cNvSpPr txBox="1">
                <a:spLocks noChangeArrowheads="1"/>
              </p:cNvSpPr>
              <p:nvPr/>
            </p:nvSpPr>
            <p:spPr bwMode="auto">
              <a:xfrm>
                <a:off x="3126" y="3299"/>
                <a:ext cx="72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第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小组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301" name="Line 81"/>
              <p:cNvSpPr>
                <a:spLocks noChangeShapeType="1"/>
              </p:cNvSpPr>
              <p:nvPr/>
            </p:nvSpPr>
            <p:spPr bwMode="auto">
              <a:xfrm>
                <a:off x="3078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02" name="Line 82"/>
              <p:cNvSpPr>
                <a:spLocks noChangeShapeType="1"/>
              </p:cNvSpPr>
              <p:nvPr/>
            </p:nvSpPr>
            <p:spPr bwMode="auto">
              <a:xfrm>
                <a:off x="3156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03" name="Line 83"/>
              <p:cNvSpPr>
                <a:spLocks noChangeShapeType="1"/>
              </p:cNvSpPr>
              <p:nvPr/>
            </p:nvSpPr>
            <p:spPr bwMode="auto">
              <a:xfrm>
                <a:off x="3246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04" name="Line 84"/>
              <p:cNvSpPr>
                <a:spLocks noChangeShapeType="1"/>
              </p:cNvSpPr>
              <p:nvPr/>
            </p:nvSpPr>
            <p:spPr bwMode="auto">
              <a:xfrm>
                <a:off x="3324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05" name="Line 85"/>
              <p:cNvSpPr>
                <a:spLocks noChangeShapeType="1"/>
              </p:cNvSpPr>
              <p:nvPr/>
            </p:nvSpPr>
            <p:spPr bwMode="auto">
              <a:xfrm>
                <a:off x="3552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06" name="Line 86"/>
              <p:cNvSpPr>
                <a:spLocks noChangeShapeType="1"/>
              </p:cNvSpPr>
              <p:nvPr/>
            </p:nvSpPr>
            <p:spPr bwMode="auto">
              <a:xfrm>
                <a:off x="3630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07" name="Line 87"/>
              <p:cNvSpPr>
                <a:spLocks noChangeShapeType="1"/>
              </p:cNvSpPr>
              <p:nvPr/>
            </p:nvSpPr>
            <p:spPr bwMode="auto">
              <a:xfrm>
                <a:off x="3720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08" name="Line 88"/>
              <p:cNvSpPr>
                <a:spLocks noChangeShapeType="1"/>
              </p:cNvSpPr>
              <p:nvPr/>
            </p:nvSpPr>
            <p:spPr bwMode="auto">
              <a:xfrm>
                <a:off x="3798" y="3546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2309" name="Group 89"/>
              <p:cNvGrpSpPr/>
              <p:nvPr/>
            </p:nvGrpSpPr>
            <p:grpSpPr bwMode="auto">
              <a:xfrm>
                <a:off x="3420" y="3168"/>
                <a:ext cx="372" cy="114"/>
                <a:chOff x="3420" y="3108"/>
                <a:chExt cx="372" cy="174"/>
              </a:xfrm>
            </p:grpSpPr>
            <p:sp>
              <p:nvSpPr>
                <p:cNvPr id="52316" name="Line 90"/>
                <p:cNvSpPr>
                  <a:spLocks noChangeShapeType="1"/>
                </p:cNvSpPr>
                <p:nvPr/>
              </p:nvSpPr>
              <p:spPr bwMode="auto">
                <a:xfrm>
                  <a:off x="3420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17" name="Line 91"/>
                <p:cNvSpPr>
                  <a:spLocks noChangeShapeType="1"/>
                </p:cNvSpPr>
                <p:nvPr/>
              </p:nvSpPr>
              <p:spPr bwMode="auto">
                <a:xfrm>
                  <a:off x="3612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18" name="Line 92"/>
                <p:cNvSpPr>
                  <a:spLocks noChangeShapeType="1"/>
                </p:cNvSpPr>
                <p:nvPr/>
              </p:nvSpPr>
              <p:spPr bwMode="auto">
                <a:xfrm>
                  <a:off x="3792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310" name="Group 93"/>
              <p:cNvGrpSpPr/>
              <p:nvPr/>
            </p:nvGrpSpPr>
            <p:grpSpPr bwMode="auto">
              <a:xfrm>
                <a:off x="3090" y="2784"/>
                <a:ext cx="156" cy="492"/>
                <a:chOff x="3090" y="2700"/>
                <a:chExt cx="156" cy="576"/>
              </a:xfrm>
            </p:grpSpPr>
            <p:sp>
              <p:nvSpPr>
                <p:cNvPr id="52314" name="Line 94"/>
                <p:cNvSpPr>
                  <a:spLocks noChangeShapeType="1"/>
                </p:cNvSpPr>
                <p:nvPr/>
              </p:nvSpPr>
              <p:spPr bwMode="auto">
                <a:xfrm>
                  <a:off x="3090" y="27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315" name="Line 95"/>
                <p:cNvSpPr>
                  <a:spLocks noChangeShapeType="1"/>
                </p:cNvSpPr>
                <p:nvPr/>
              </p:nvSpPr>
              <p:spPr bwMode="auto">
                <a:xfrm>
                  <a:off x="3246" y="27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311" name="Text Box 96"/>
              <p:cNvSpPr txBox="1">
                <a:spLocks noChangeArrowheads="1"/>
              </p:cNvSpPr>
              <p:nvPr/>
            </p:nvSpPr>
            <p:spPr bwMode="auto">
              <a:xfrm>
                <a:off x="3066" y="3678"/>
                <a:ext cx="93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7~4    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   Y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7~4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312" name="Text Box 97"/>
              <p:cNvSpPr txBox="1">
                <a:spLocks noChangeArrowheads="1"/>
              </p:cNvSpPr>
              <p:nvPr/>
            </p:nvSpPr>
            <p:spPr bwMode="auto">
              <a:xfrm>
                <a:off x="3288" y="2956"/>
                <a:ext cx="648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7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 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6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 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5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313" name="Text Box 98"/>
              <p:cNvSpPr txBox="1">
                <a:spLocks noChangeArrowheads="1"/>
              </p:cNvSpPr>
              <p:nvPr/>
            </p:nvSpPr>
            <p:spPr bwMode="auto">
              <a:xfrm>
                <a:off x="2862" y="2742"/>
                <a:ext cx="67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         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31" name="Group 99"/>
            <p:cNvGrpSpPr/>
            <p:nvPr/>
          </p:nvGrpSpPr>
          <p:grpSpPr bwMode="auto">
            <a:xfrm>
              <a:off x="1584" y="2757"/>
              <a:ext cx="1140" cy="1169"/>
              <a:chOff x="1446" y="2691"/>
              <a:chExt cx="1140" cy="1169"/>
            </a:xfrm>
          </p:grpSpPr>
          <p:sp>
            <p:nvSpPr>
              <p:cNvPr id="52279" name="Rectangle 100"/>
              <p:cNvSpPr>
                <a:spLocks noChangeArrowheads="1"/>
              </p:cNvSpPr>
              <p:nvPr/>
            </p:nvSpPr>
            <p:spPr bwMode="auto">
              <a:xfrm>
                <a:off x="1560" y="3231"/>
                <a:ext cx="912" cy="264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80" name="Text Box 101"/>
              <p:cNvSpPr txBox="1">
                <a:spLocks noChangeArrowheads="1"/>
              </p:cNvSpPr>
              <p:nvPr/>
            </p:nvSpPr>
            <p:spPr bwMode="auto">
              <a:xfrm>
                <a:off x="1710" y="3248"/>
                <a:ext cx="72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800">
                    <a:latin typeface="Times New Roman" panose="02020603050405020304" pitchFamily="18" charset="0"/>
                  </a:rPr>
                  <a:t>第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1800">
                    <a:latin typeface="Times New Roman" panose="02020603050405020304" pitchFamily="18" charset="0"/>
                  </a:rPr>
                  <a:t>小组</a:t>
                </a: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81" name="Line 102"/>
              <p:cNvSpPr>
                <a:spLocks noChangeShapeType="1"/>
              </p:cNvSpPr>
              <p:nvPr/>
            </p:nvSpPr>
            <p:spPr bwMode="auto">
              <a:xfrm>
                <a:off x="1662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82" name="Line 103"/>
              <p:cNvSpPr>
                <a:spLocks noChangeShapeType="1"/>
              </p:cNvSpPr>
              <p:nvPr/>
            </p:nvSpPr>
            <p:spPr bwMode="auto">
              <a:xfrm>
                <a:off x="1740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83" name="Line 104"/>
              <p:cNvSpPr>
                <a:spLocks noChangeShapeType="1"/>
              </p:cNvSpPr>
              <p:nvPr/>
            </p:nvSpPr>
            <p:spPr bwMode="auto">
              <a:xfrm>
                <a:off x="1830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84" name="Line 105"/>
              <p:cNvSpPr>
                <a:spLocks noChangeShapeType="1"/>
              </p:cNvSpPr>
              <p:nvPr/>
            </p:nvSpPr>
            <p:spPr bwMode="auto">
              <a:xfrm>
                <a:off x="1908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85" name="Line 106"/>
              <p:cNvSpPr>
                <a:spLocks noChangeShapeType="1"/>
              </p:cNvSpPr>
              <p:nvPr/>
            </p:nvSpPr>
            <p:spPr bwMode="auto">
              <a:xfrm>
                <a:off x="2136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86" name="Line 107"/>
              <p:cNvSpPr>
                <a:spLocks noChangeShapeType="1"/>
              </p:cNvSpPr>
              <p:nvPr/>
            </p:nvSpPr>
            <p:spPr bwMode="auto">
              <a:xfrm>
                <a:off x="2214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87" name="Line 108"/>
              <p:cNvSpPr>
                <a:spLocks noChangeShapeType="1"/>
              </p:cNvSpPr>
              <p:nvPr/>
            </p:nvSpPr>
            <p:spPr bwMode="auto">
              <a:xfrm>
                <a:off x="2304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88" name="Line 109"/>
              <p:cNvSpPr>
                <a:spLocks noChangeShapeType="1"/>
              </p:cNvSpPr>
              <p:nvPr/>
            </p:nvSpPr>
            <p:spPr bwMode="auto">
              <a:xfrm>
                <a:off x="2382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2289" name="Group 110"/>
              <p:cNvGrpSpPr/>
              <p:nvPr/>
            </p:nvGrpSpPr>
            <p:grpSpPr bwMode="auto">
              <a:xfrm>
                <a:off x="2004" y="3117"/>
                <a:ext cx="372" cy="114"/>
                <a:chOff x="3420" y="3108"/>
                <a:chExt cx="372" cy="174"/>
              </a:xfrm>
            </p:grpSpPr>
            <p:sp>
              <p:nvSpPr>
                <p:cNvPr id="52296" name="Line 111"/>
                <p:cNvSpPr>
                  <a:spLocks noChangeShapeType="1"/>
                </p:cNvSpPr>
                <p:nvPr/>
              </p:nvSpPr>
              <p:spPr bwMode="auto">
                <a:xfrm>
                  <a:off x="3420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97" name="Line 112"/>
                <p:cNvSpPr>
                  <a:spLocks noChangeShapeType="1"/>
                </p:cNvSpPr>
                <p:nvPr/>
              </p:nvSpPr>
              <p:spPr bwMode="auto">
                <a:xfrm>
                  <a:off x="3612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98" name="Line 113"/>
                <p:cNvSpPr>
                  <a:spLocks noChangeShapeType="1"/>
                </p:cNvSpPr>
                <p:nvPr/>
              </p:nvSpPr>
              <p:spPr bwMode="auto">
                <a:xfrm>
                  <a:off x="3792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290" name="Group 114"/>
              <p:cNvGrpSpPr/>
              <p:nvPr/>
            </p:nvGrpSpPr>
            <p:grpSpPr bwMode="auto">
              <a:xfrm>
                <a:off x="1674" y="2733"/>
                <a:ext cx="156" cy="492"/>
                <a:chOff x="3090" y="2700"/>
                <a:chExt cx="156" cy="576"/>
              </a:xfrm>
            </p:grpSpPr>
            <p:sp>
              <p:nvSpPr>
                <p:cNvPr id="52294" name="Line 115"/>
                <p:cNvSpPr>
                  <a:spLocks noChangeShapeType="1"/>
                </p:cNvSpPr>
                <p:nvPr/>
              </p:nvSpPr>
              <p:spPr bwMode="auto">
                <a:xfrm>
                  <a:off x="3090" y="27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95" name="Line 116"/>
                <p:cNvSpPr>
                  <a:spLocks noChangeShapeType="1"/>
                </p:cNvSpPr>
                <p:nvPr/>
              </p:nvSpPr>
              <p:spPr bwMode="auto">
                <a:xfrm>
                  <a:off x="3246" y="27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291" name="Text Box 117"/>
              <p:cNvSpPr txBox="1">
                <a:spLocks noChangeArrowheads="1"/>
              </p:cNvSpPr>
              <p:nvPr/>
            </p:nvSpPr>
            <p:spPr bwMode="auto">
              <a:xfrm>
                <a:off x="1650" y="3627"/>
                <a:ext cx="93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11~8    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 Y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11~8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92" name="Text Box 118"/>
              <p:cNvSpPr txBox="1">
                <a:spLocks noChangeArrowheads="1"/>
              </p:cNvSpPr>
              <p:nvPr/>
            </p:nvSpPr>
            <p:spPr bwMode="auto">
              <a:xfrm>
                <a:off x="1842" y="2899"/>
                <a:ext cx="720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11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10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9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93" name="Text Box 119"/>
              <p:cNvSpPr txBox="1">
                <a:spLocks noChangeArrowheads="1"/>
              </p:cNvSpPr>
              <p:nvPr/>
            </p:nvSpPr>
            <p:spPr bwMode="auto">
              <a:xfrm>
                <a:off x="1446" y="2691"/>
                <a:ext cx="67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2         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2232" name="Group 120"/>
            <p:cNvGrpSpPr/>
            <p:nvPr/>
          </p:nvGrpSpPr>
          <p:grpSpPr bwMode="auto">
            <a:xfrm>
              <a:off x="318" y="2757"/>
              <a:ext cx="1140" cy="1169"/>
              <a:chOff x="222" y="2691"/>
              <a:chExt cx="1140" cy="1169"/>
            </a:xfrm>
          </p:grpSpPr>
          <p:sp>
            <p:nvSpPr>
              <p:cNvPr id="52259" name="Rectangle 121"/>
              <p:cNvSpPr>
                <a:spLocks noChangeArrowheads="1"/>
              </p:cNvSpPr>
              <p:nvPr/>
            </p:nvSpPr>
            <p:spPr bwMode="auto">
              <a:xfrm>
                <a:off x="336" y="3231"/>
                <a:ext cx="912" cy="264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260" name="Text Box 122"/>
              <p:cNvSpPr txBox="1">
                <a:spLocks noChangeArrowheads="1"/>
              </p:cNvSpPr>
              <p:nvPr/>
            </p:nvSpPr>
            <p:spPr bwMode="auto">
              <a:xfrm>
                <a:off x="486" y="3248"/>
                <a:ext cx="72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800" dirty="0">
                    <a:latin typeface="Times New Roman" panose="02020603050405020304" pitchFamily="18" charset="0"/>
                  </a:rPr>
                  <a:t>第</a:t>
                </a:r>
                <a:r>
                  <a:rPr lang="en-US" altLang="zh-CN" sz="1800" dirty="0">
                    <a:latin typeface="Times New Roman" panose="02020603050405020304" pitchFamily="18" charset="0"/>
                  </a:rPr>
                  <a:t>4</a:t>
                </a:r>
                <a:r>
                  <a:rPr lang="zh-CN" altLang="en-US" sz="1800" dirty="0">
                    <a:latin typeface="Times New Roman" panose="02020603050405020304" pitchFamily="18" charset="0"/>
                  </a:rPr>
                  <a:t>小组</a:t>
                </a:r>
                <a:endParaRPr lang="zh-CN" altLang="en-US" sz="1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61" name="Line 123"/>
              <p:cNvSpPr>
                <a:spLocks noChangeShapeType="1"/>
              </p:cNvSpPr>
              <p:nvPr/>
            </p:nvSpPr>
            <p:spPr bwMode="auto">
              <a:xfrm>
                <a:off x="438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2" name="Line 124"/>
              <p:cNvSpPr>
                <a:spLocks noChangeShapeType="1"/>
              </p:cNvSpPr>
              <p:nvPr/>
            </p:nvSpPr>
            <p:spPr bwMode="auto">
              <a:xfrm>
                <a:off x="516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3" name="Line 125"/>
              <p:cNvSpPr>
                <a:spLocks noChangeShapeType="1"/>
              </p:cNvSpPr>
              <p:nvPr/>
            </p:nvSpPr>
            <p:spPr bwMode="auto">
              <a:xfrm>
                <a:off x="606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4" name="Line 126"/>
              <p:cNvSpPr>
                <a:spLocks noChangeShapeType="1"/>
              </p:cNvSpPr>
              <p:nvPr/>
            </p:nvSpPr>
            <p:spPr bwMode="auto">
              <a:xfrm>
                <a:off x="684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5" name="Line 127"/>
              <p:cNvSpPr>
                <a:spLocks noChangeShapeType="1"/>
              </p:cNvSpPr>
              <p:nvPr/>
            </p:nvSpPr>
            <p:spPr bwMode="auto">
              <a:xfrm>
                <a:off x="912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6" name="Line 128"/>
              <p:cNvSpPr>
                <a:spLocks noChangeShapeType="1"/>
              </p:cNvSpPr>
              <p:nvPr/>
            </p:nvSpPr>
            <p:spPr bwMode="auto">
              <a:xfrm>
                <a:off x="990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7" name="Line 129"/>
              <p:cNvSpPr>
                <a:spLocks noChangeShapeType="1"/>
              </p:cNvSpPr>
              <p:nvPr/>
            </p:nvSpPr>
            <p:spPr bwMode="auto">
              <a:xfrm>
                <a:off x="1080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68" name="Line 130"/>
              <p:cNvSpPr>
                <a:spLocks noChangeShapeType="1"/>
              </p:cNvSpPr>
              <p:nvPr/>
            </p:nvSpPr>
            <p:spPr bwMode="auto">
              <a:xfrm>
                <a:off x="1158" y="3495"/>
                <a:ext cx="0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2269" name="Group 131"/>
              <p:cNvGrpSpPr/>
              <p:nvPr/>
            </p:nvGrpSpPr>
            <p:grpSpPr bwMode="auto">
              <a:xfrm>
                <a:off x="780" y="3117"/>
                <a:ext cx="372" cy="114"/>
                <a:chOff x="3420" y="3108"/>
                <a:chExt cx="372" cy="174"/>
              </a:xfrm>
            </p:grpSpPr>
            <p:sp>
              <p:nvSpPr>
                <p:cNvPr id="52276" name="Line 132"/>
                <p:cNvSpPr>
                  <a:spLocks noChangeShapeType="1"/>
                </p:cNvSpPr>
                <p:nvPr/>
              </p:nvSpPr>
              <p:spPr bwMode="auto">
                <a:xfrm>
                  <a:off x="3420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77" name="Line 133"/>
                <p:cNvSpPr>
                  <a:spLocks noChangeShapeType="1"/>
                </p:cNvSpPr>
                <p:nvPr/>
              </p:nvSpPr>
              <p:spPr bwMode="auto">
                <a:xfrm>
                  <a:off x="3612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78" name="Line 134"/>
                <p:cNvSpPr>
                  <a:spLocks noChangeShapeType="1"/>
                </p:cNvSpPr>
                <p:nvPr/>
              </p:nvSpPr>
              <p:spPr bwMode="auto">
                <a:xfrm>
                  <a:off x="3792" y="3108"/>
                  <a:ext cx="0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270" name="Group 135"/>
              <p:cNvGrpSpPr/>
              <p:nvPr/>
            </p:nvGrpSpPr>
            <p:grpSpPr bwMode="auto">
              <a:xfrm>
                <a:off x="450" y="2733"/>
                <a:ext cx="156" cy="492"/>
                <a:chOff x="3090" y="2700"/>
                <a:chExt cx="156" cy="576"/>
              </a:xfrm>
            </p:grpSpPr>
            <p:sp>
              <p:nvSpPr>
                <p:cNvPr id="52274" name="Line 136"/>
                <p:cNvSpPr>
                  <a:spLocks noChangeShapeType="1"/>
                </p:cNvSpPr>
                <p:nvPr/>
              </p:nvSpPr>
              <p:spPr bwMode="auto">
                <a:xfrm>
                  <a:off x="3090" y="27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275" name="Line 137"/>
                <p:cNvSpPr>
                  <a:spLocks noChangeShapeType="1"/>
                </p:cNvSpPr>
                <p:nvPr/>
              </p:nvSpPr>
              <p:spPr bwMode="auto">
                <a:xfrm>
                  <a:off x="3246" y="2700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non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2271" name="Text Box 138"/>
              <p:cNvSpPr txBox="1">
                <a:spLocks noChangeArrowheads="1"/>
              </p:cNvSpPr>
              <p:nvPr/>
            </p:nvSpPr>
            <p:spPr bwMode="auto">
              <a:xfrm>
                <a:off x="426" y="3627"/>
                <a:ext cx="93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15~12  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 Y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15~12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72" name="Text Box 139"/>
              <p:cNvSpPr txBox="1">
                <a:spLocks noChangeArrowheads="1"/>
              </p:cNvSpPr>
              <p:nvPr/>
            </p:nvSpPr>
            <p:spPr bwMode="auto">
              <a:xfrm>
                <a:off x="618" y="2899"/>
                <a:ext cx="720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15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14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3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73" name="Text Box 140"/>
              <p:cNvSpPr txBox="1">
                <a:spLocks noChangeArrowheads="1"/>
              </p:cNvSpPr>
              <p:nvPr/>
            </p:nvSpPr>
            <p:spPr bwMode="auto">
              <a:xfrm>
                <a:off x="222" y="2691"/>
                <a:ext cx="67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3         </a:t>
                </a:r>
                <a:r>
                  <a:rPr lang="en-US" altLang="zh-CN" sz="1800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1800" baseline="-25000">
                    <a:latin typeface="Times New Roman" panose="02020603050405020304" pitchFamily="18" charset="0"/>
                  </a:rPr>
                  <a:t>3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2233" name="Rectangle 141"/>
            <p:cNvSpPr>
              <a:spLocks noChangeArrowheads="1"/>
            </p:cNvSpPr>
            <p:nvPr/>
          </p:nvSpPr>
          <p:spPr bwMode="auto">
            <a:xfrm>
              <a:off x="384" y="2500"/>
              <a:ext cx="4740" cy="299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4" name="Text Box 142"/>
            <p:cNvSpPr txBox="1">
              <a:spLocks noChangeArrowheads="1"/>
            </p:cNvSpPr>
            <p:nvPr/>
          </p:nvSpPr>
          <p:spPr bwMode="auto">
            <a:xfrm>
              <a:off x="2114" y="2512"/>
              <a:ext cx="108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>
                  <a:latin typeface="Times New Roman" panose="02020603050405020304" pitchFamily="18" charset="0"/>
                </a:rPr>
                <a:t>第二级进位链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52235" name="Line 143"/>
            <p:cNvSpPr>
              <a:spLocks noChangeShapeType="1"/>
            </p:cNvSpPr>
            <p:nvPr/>
          </p:nvSpPr>
          <p:spPr bwMode="auto">
            <a:xfrm flipV="1">
              <a:off x="4368" y="2304"/>
              <a:ext cx="0" cy="19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6" name="Line 144"/>
            <p:cNvSpPr>
              <a:spLocks noChangeShapeType="1"/>
            </p:cNvSpPr>
            <p:nvPr/>
          </p:nvSpPr>
          <p:spPr bwMode="auto">
            <a:xfrm flipV="1">
              <a:off x="3120" y="2304"/>
              <a:ext cx="0" cy="19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7" name="Line 145"/>
            <p:cNvSpPr>
              <a:spLocks noChangeShapeType="1"/>
            </p:cNvSpPr>
            <p:nvPr/>
          </p:nvSpPr>
          <p:spPr bwMode="auto">
            <a:xfrm flipV="1">
              <a:off x="1884" y="2302"/>
              <a:ext cx="0" cy="19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8" name="Line 146"/>
            <p:cNvSpPr>
              <a:spLocks noChangeShapeType="1"/>
            </p:cNvSpPr>
            <p:nvPr/>
          </p:nvSpPr>
          <p:spPr bwMode="auto">
            <a:xfrm flipV="1">
              <a:off x="624" y="2302"/>
              <a:ext cx="0" cy="196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9" name="Line 147"/>
            <p:cNvSpPr>
              <a:spLocks noChangeShapeType="1"/>
            </p:cNvSpPr>
            <p:nvPr/>
          </p:nvSpPr>
          <p:spPr bwMode="auto">
            <a:xfrm>
              <a:off x="5100" y="3398"/>
              <a:ext cx="34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0" name="Line 148"/>
            <p:cNvSpPr>
              <a:spLocks noChangeShapeType="1"/>
            </p:cNvSpPr>
            <p:nvPr/>
          </p:nvSpPr>
          <p:spPr bwMode="auto">
            <a:xfrm flipV="1">
              <a:off x="5262" y="2646"/>
              <a:ext cx="0" cy="75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1" name="Line 149"/>
            <p:cNvSpPr>
              <a:spLocks noChangeShapeType="1"/>
            </p:cNvSpPr>
            <p:nvPr/>
          </p:nvSpPr>
          <p:spPr bwMode="auto">
            <a:xfrm flipH="1">
              <a:off x="5124" y="2646"/>
              <a:ext cx="13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242" name="Group 150"/>
            <p:cNvGrpSpPr/>
            <p:nvPr/>
          </p:nvGrpSpPr>
          <p:grpSpPr bwMode="auto">
            <a:xfrm>
              <a:off x="3852" y="2382"/>
              <a:ext cx="516" cy="1016"/>
              <a:chOff x="3852" y="2382"/>
              <a:chExt cx="516" cy="1016"/>
            </a:xfrm>
          </p:grpSpPr>
          <p:sp>
            <p:nvSpPr>
              <p:cNvPr id="52256" name="Line 151"/>
              <p:cNvSpPr>
                <a:spLocks noChangeShapeType="1"/>
              </p:cNvSpPr>
              <p:nvPr/>
            </p:nvSpPr>
            <p:spPr bwMode="auto">
              <a:xfrm>
                <a:off x="4008" y="2388"/>
                <a:ext cx="36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7" name="Line 152"/>
              <p:cNvSpPr>
                <a:spLocks noChangeShapeType="1"/>
              </p:cNvSpPr>
              <p:nvPr/>
            </p:nvSpPr>
            <p:spPr bwMode="auto">
              <a:xfrm>
                <a:off x="4008" y="2382"/>
                <a:ext cx="0" cy="101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8" name="Line 153"/>
              <p:cNvSpPr>
                <a:spLocks noChangeShapeType="1"/>
              </p:cNvSpPr>
              <p:nvPr/>
            </p:nvSpPr>
            <p:spPr bwMode="auto">
              <a:xfrm flipH="1">
                <a:off x="3852" y="3398"/>
                <a:ext cx="15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243" name="Group 154"/>
            <p:cNvGrpSpPr/>
            <p:nvPr/>
          </p:nvGrpSpPr>
          <p:grpSpPr bwMode="auto">
            <a:xfrm>
              <a:off x="2610" y="2388"/>
              <a:ext cx="516" cy="1016"/>
              <a:chOff x="3852" y="2382"/>
              <a:chExt cx="516" cy="1016"/>
            </a:xfrm>
          </p:grpSpPr>
          <p:sp>
            <p:nvSpPr>
              <p:cNvPr id="52253" name="Line 155"/>
              <p:cNvSpPr>
                <a:spLocks noChangeShapeType="1"/>
              </p:cNvSpPr>
              <p:nvPr/>
            </p:nvSpPr>
            <p:spPr bwMode="auto">
              <a:xfrm>
                <a:off x="4008" y="2388"/>
                <a:ext cx="36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4" name="Line 156"/>
              <p:cNvSpPr>
                <a:spLocks noChangeShapeType="1"/>
              </p:cNvSpPr>
              <p:nvPr/>
            </p:nvSpPr>
            <p:spPr bwMode="auto">
              <a:xfrm>
                <a:off x="4008" y="2382"/>
                <a:ext cx="0" cy="101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5" name="Line 157"/>
              <p:cNvSpPr>
                <a:spLocks noChangeShapeType="1"/>
              </p:cNvSpPr>
              <p:nvPr/>
            </p:nvSpPr>
            <p:spPr bwMode="auto">
              <a:xfrm flipH="1">
                <a:off x="3852" y="3398"/>
                <a:ext cx="15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2244" name="Group 158"/>
            <p:cNvGrpSpPr/>
            <p:nvPr/>
          </p:nvGrpSpPr>
          <p:grpSpPr bwMode="auto">
            <a:xfrm>
              <a:off x="1344" y="2388"/>
              <a:ext cx="540" cy="1016"/>
              <a:chOff x="3852" y="2382"/>
              <a:chExt cx="516" cy="1016"/>
            </a:xfrm>
          </p:grpSpPr>
          <p:sp>
            <p:nvSpPr>
              <p:cNvPr id="52250" name="Line 159"/>
              <p:cNvSpPr>
                <a:spLocks noChangeShapeType="1"/>
              </p:cNvSpPr>
              <p:nvPr/>
            </p:nvSpPr>
            <p:spPr bwMode="auto">
              <a:xfrm>
                <a:off x="4008" y="2388"/>
                <a:ext cx="360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1" name="Line 160"/>
              <p:cNvSpPr>
                <a:spLocks noChangeShapeType="1"/>
              </p:cNvSpPr>
              <p:nvPr/>
            </p:nvSpPr>
            <p:spPr bwMode="auto">
              <a:xfrm>
                <a:off x="4008" y="2382"/>
                <a:ext cx="0" cy="101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2" name="Line 161"/>
              <p:cNvSpPr>
                <a:spLocks noChangeShapeType="1"/>
              </p:cNvSpPr>
              <p:nvPr/>
            </p:nvSpPr>
            <p:spPr bwMode="auto">
              <a:xfrm flipH="1">
                <a:off x="3852" y="3398"/>
                <a:ext cx="15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245" name="Text Box 162"/>
            <p:cNvSpPr txBox="1">
              <a:spLocks noChangeArrowheads="1"/>
            </p:cNvSpPr>
            <p:nvPr/>
          </p:nvSpPr>
          <p:spPr bwMode="auto">
            <a:xfrm>
              <a:off x="5299" y="3362"/>
              <a:ext cx="3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0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246" name="Text Box 163"/>
            <p:cNvSpPr txBox="1">
              <a:spLocks noChangeArrowheads="1"/>
            </p:cNvSpPr>
            <p:nvPr/>
          </p:nvSpPr>
          <p:spPr bwMode="auto">
            <a:xfrm>
              <a:off x="4302" y="2139"/>
              <a:ext cx="3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4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247" name="Text Box 164"/>
            <p:cNvSpPr txBox="1">
              <a:spLocks noChangeArrowheads="1"/>
            </p:cNvSpPr>
            <p:nvPr/>
          </p:nvSpPr>
          <p:spPr bwMode="auto">
            <a:xfrm>
              <a:off x="3078" y="2163"/>
              <a:ext cx="3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8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248" name="Text Box 165"/>
            <p:cNvSpPr txBox="1">
              <a:spLocks noChangeArrowheads="1"/>
            </p:cNvSpPr>
            <p:nvPr/>
          </p:nvSpPr>
          <p:spPr bwMode="auto">
            <a:xfrm>
              <a:off x="1846" y="2166"/>
              <a:ext cx="3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12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2249" name="Text Box 166"/>
            <p:cNvSpPr txBox="1">
              <a:spLocks noChangeArrowheads="1"/>
            </p:cNvSpPr>
            <p:nvPr/>
          </p:nvSpPr>
          <p:spPr bwMode="auto">
            <a:xfrm>
              <a:off x="592" y="2178"/>
              <a:ext cx="3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latin typeface="Times New Roman" panose="02020603050405020304" pitchFamily="18" charset="0"/>
                </a:rPr>
                <a:t>C</a:t>
              </a:r>
              <a:r>
                <a:rPr lang="en-US" altLang="zh-CN" sz="1800" baseline="-25000">
                  <a:latin typeface="Times New Roman" panose="02020603050405020304" pitchFamily="18" charset="0"/>
                </a:rPr>
                <a:t>16</a:t>
              </a:r>
              <a:endParaRPr lang="en-US" altLang="zh-CN" sz="1800">
                <a:latin typeface="Times New Roman" panose="02020603050405020304" pitchFamily="18" charset="0"/>
              </a:endParaRPr>
            </a:p>
          </p:txBody>
        </p:sp>
      </p:grp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3727212"/>
            <a:ext cx="4108450" cy="301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74813" y="4076184"/>
            <a:ext cx="1830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Ripple Carry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36569" y="4216162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Carry </a:t>
            </a:r>
            <a:r>
              <a:rPr lang="en-US" altLang="zh-CN" dirty="0" err="1" smtClean="0">
                <a:solidFill>
                  <a:srgbClr val="FF0000"/>
                </a:solidFill>
              </a:rPr>
              <a:t>Lookahead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237" y="92299"/>
            <a:ext cx="6940252" cy="769441"/>
          </a:xfrm>
          <a:noFill/>
        </p:spPr>
        <p:txBody>
          <a:bodyPr/>
          <a:lstStyle/>
          <a:p>
            <a:r>
              <a:rPr lang="en-US" altLang="zh-CN" dirty="0"/>
              <a:t>Complete ALU</a:t>
            </a:r>
            <a:endParaRPr lang="en-US" altLang="zh-CN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7848600" cy="668338"/>
          </a:xfrm>
          <a:noFill/>
        </p:spPr>
        <p:txBody>
          <a:bodyPr/>
          <a:lstStyle/>
          <a:p>
            <a:r>
              <a:rPr lang="en-US" altLang="zh-CN" dirty="0"/>
              <a:t>A - B = A + (– B)</a:t>
            </a:r>
            <a:endParaRPr lang="en-US" altLang="zh-CN" dirty="0"/>
          </a:p>
          <a:p>
            <a:pPr lvl="1"/>
            <a:r>
              <a:rPr lang="en-US" altLang="zh-CN" dirty="0"/>
              <a:t>form two complement by invert and add one</a:t>
            </a:r>
            <a:endParaRPr lang="en-US" altLang="zh-CN" dirty="0"/>
          </a:p>
        </p:txBody>
      </p:sp>
      <p:sp>
        <p:nvSpPr>
          <p:cNvPr id="56324" name="Arc 4"/>
          <p:cNvSpPr/>
          <p:nvPr/>
        </p:nvSpPr>
        <p:spPr bwMode="auto">
          <a:xfrm>
            <a:off x="4856163" y="2714342"/>
            <a:ext cx="317500" cy="304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5" name="Arc 5"/>
          <p:cNvSpPr/>
          <p:nvPr/>
        </p:nvSpPr>
        <p:spPr bwMode="auto">
          <a:xfrm rot="10800000">
            <a:off x="4856163" y="3019142"/>
            <a:ext cx="317500" cy="3048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492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712"/>
                  <a:pt x="9604" y="59"/>
                  <a:pt x="21492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712"/>
                  <a:pt x="9604" y="59"/>
                  <a:pt x="21492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6" name="Line 6"/>
          <p:cNvSpPr>
            <a:spLocks noChangeShapeType="1"/>
          </p:cNvSpPr>
          <p:nvPr/>
        </p:nvSpPr>
        <p:spPr bwMode="auto">
          <a:xfrm flipH="1">
            <a:off x="4411663" y="2714342"/>
            <a:ext cx="444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7" name="Line 7"/>
          <p:cNvSpPr>
            <a:spLocks noChangeShapeType="1"/>
          </p:cNvSpPr>
          <p:nvPr/>
        </p:nvSpPr>
        <p:spPr bwMode="auto">
          <a:xfrm>
            <a:off x="4411663" y="2714342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8" name="Line 8"/>
          <p:cNvSpPr>
            <a:spLocks noChangeShapeType="1"/>
          </p:cNvSpPr>
          <p:nvPr/>
        </p:nvSpPr>
        <p:spPr bwMode="auto">
          <a:xfrm flipH="1">
            <a:off x="4411663" y="3323942"/>
            <a:ext cx="444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9" name="Line 9"/>
          <p:cNvSpPr>
            <a:spLocks noChangeShapeType="1"/>
          </p:cNvSpPr>
          <p:nvPr/>
        </p:nvSpPr>
        <p:spPr bwMode="auto">
          <a:xfrm flipH="1">
            <a:off x="2590800" y="2866742"/>
            <a:ext cx="1820863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0" name="Line 10"/>
          <p:cNvSpPr>
            <a:spLocks noChangeShapeType="1"/>
          </p:cNvSpPr>
          <p:nvPr/>
        </p:nvSpPr>
        <p:spPr bwMode="auto">
          <a:xfrm flipH="1">
            <a:off x="4030663" y="3171542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1" name="Line 11"/>
          <p:cNvSpPr>
            <a:spLocks noChangeShapeType="1"/>
          </p:cNvSpPr>
          <p:nvPr/>
        </p:nvSpPr>
        <p:spPr bwMode="auto">
          <a:xfrm>
            <a:off x="5173663" y="3019142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2" name="Rectangle 12"/>
          <p:cNvSpPr>
            <a:spLocks noChangeArrowheads="1"/>
          </p:cNvSpPr>
          <p:nvPr/>
        </p:nvSpPr>
        <p:spPr bwMode="auto">
          <a:xfrm>
            <a:off x="2262188" y="2712755"/>
            <a:ext cx="330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endParaRPr lang="en-US" altLang="zh-CN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33" name="Arc 13"/>
          <p:cNvSpPr/>
          <p:nvPr/>
        </p:nvSpPr>
        <p:spPr bwMode="auto">
          <a:xfrm>
            <a:off x="4476750" y="3781142"/>
            <a:ext cx="646113" cy="304800"/>
          </a:xfrm>
          <a:custGeom>
            <a:avLst/>
            <a:gdLst>
              <a:gd name="G0" fmla="+- 53 0 0"/>
              <a:gd name="G1" fmla="+- 21600 0 0"/>
              <a:gd name="G2" fmla="+- 21600 0 0"/>
              <a:gd name="T0" fmla="*/ 0 w 21653"/>
              <a:gd name="T1" fmla="*/ 0 h 21600"/>
              <a:gd name="T2" fmla="*/ 21653 w 21653"/>
              <a:gd name="T3" fmla="*/ 21600 h 21600"/>
              <a:gd name="T4" fmla="*/ 53 w 2165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53" h="21600" fill="none" extrusionOk="0">
                <a:moveTo>
                  <a:pt x="0" y="0"/>
                </a:moveTo>
                <a:cubicBezTo>
                  <a:pt x="17" y="0"/>
                  <a:pt x="35" y="-1"/>
                  <a:pt x="53" y="0"/>
                </a:cubicBezTo>
                <a:cubicBezTo>
                  <a:pt x="11982" y="0"/>
                  <a:pt x="21653" y="9670"/>
                  <a:pt x="21653" y="21600"/>
                </a:cubicBezTo>
              </a:path>
              <a:path w="21653" h="21600" stroke="0" extrusionOk="0">
                <a:moveTo>
                  <a:pt x="0" y="0"/>
                </a:moveTo>
                <a:cubicBezTo>
                  <a:pt x="17" y="0"/>
                  <a:pt x="35" y="-1"/>
                  <a:pt x="53" y="0"/>
                </a:cubicBezTo>
                <a:cubicBezTo>
                  <a:pt x="11982" y="0"/>
                  <a:pt x="21653" y="9670"/>
                  <a:pt x="21653" y="21600"/>
                </a:cubicBezTo>
                <a:lnTo>
                  <a:pt x="53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4" name="Arc 14"/>
          <p:cNvSpPr/>
          <p:nvPr/>
        </p:nvSpPr>
        <p:spPr bwMode="auto">
          <a:xfrm rot="10800000">
            <a:off x="4475163" y="4085942"/>
            <a:ext cx="646112" cy="3048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47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1"/>
                  <a:pt x="9638" y="29"/>
                  <a:pt x="21547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1"/>
                  <a:pt x="9638" y="29"/>
                  <a:pt x="21547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5" name="Arc 15"/>
          <p:cNvSpPr/>
          <p:nvPr/>
        </p:nvSpPr>
        <p:spPr bwMode="auto">
          <a:xfrm>
            <a:off x="4411663" y="3781142"/>
            <a:ext cx="193675" cy="304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6" name="Arc 16"/>
          <p:cNvSpPr/>
          <p:nvPr/>
        </p:nvSpPr>
        <p:spPr bwMode="auto">
          <a:xfrm rot="10800000">
            <a:off x="4413250" y="4085942"/>
            <a:ext cx="193675" cy="304800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0 w 21600"/>
              <a:gd name="T1" fmla="*/ 21599 h 21599"/>
              <a:gd name="T2" fmla="*/ 21423 w 21600"/>
              <a:gd name="T3" fmla="*/ 0 h 21599"/>
              <a:gd name="T4" fmla="*/ 21600 w 21600"/>
              <a:gd name="T5" fmla="*/ 21599 h 21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599" fill="none" extrusionOk="0">
                <a:moveTo>
                  <a:pt x="0" y="21599"/>
                </a:moveTo>
                <a:cubicBezTo>
                  <a:pt x="0" y="9738"/>
                  <a:pt x="9563" y="96"/>
                  <a:pt x="21422" y="-1"/>
                </a:cubicBezTo>
              </a:path>
              <a:path w="21600" h="21599" stroke="0" extrusionOk="0">
                <a:moveTo>
                  <a:pt x="0" y="21599"/>
                </a:moveTo>
                <a:cubicBezTo>
                  <a:pt x="0" y="9738"/>
                  <a:pt x="9563" y="96"/>
                  <a:pt x="21422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7" name="Line 17"/>
          <p:cNvSpPr>
            <a:spLocks noChangeShapeType="1"/>
          </p:cNvSpPr>
          <p:nvPr/>
        </p:nvSpPr>
        <p:spPr bwMode="auto">
          <a:xfrm>
            <a:off x="5097463" y="4085942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8" name="Line 18"/>
          <p:cNvSpPr>
            <a:spLocks noChangeShapeType="1"/>
          </p:cNvSpPr>
          <p:nvPr/>
        </p:nvSpPr>
        <p:spPr bwMode="auto">
          <a:xfrm flipH="1">
            <a:off x="3725863" y="3933542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9" name="Line 19"/>
          <p:cNvSpPr>
            <a:spLocks noChangeShapeType="1"/>
          </p:cNvSpPr>
          <p:nvPr/>
        </p:nvSpPr>
        <p:spPr bwMode="auto">
          <a:xfrm flipH="1">
            <a:off x="4030663" y="4238342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40" name="Rectangle 20"/>
          <p:cNvSpPr>
            <a:spLocks noChangeArrowheads="1"/>
          </p:cNvSpPr>
          <p:nvPr/>
        </p:nvSpPr>
        <p:spPr bwMode="auto">
          <a:xfrm>
            <a:off x="2262188" y="5532155"/>
            <a:ext cx="3190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endParaRPr lang="en-US" altLang="zh-CN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1" name="Rectangle 21"/>
          <p:cNvSpPr>
            <a:spLocks noChangeArrowheads="1"/>
          </p:cNvSpPr>
          <p:nvPr/>
        </p:nvSpPr>
        <p:spPr bwMode="auto">
          <a:xfrm>
            <a:off x="4576763" y="4860642"/>
            <a:ext cx="965200" cy="889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4700588" y="4922555"/>
            <a:ext cx="7366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rPr>
              <a:t>1-bit</a:t>
            </a:r>
            <a:endParaRPr lang="en-US" altLang="zh-CN" sz="16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rPr>
              <a:t>Full</a:t>
            </a:r>
            <a:endParaRPr lang="en-US" altLang="zh-CN" sz="1600" b="1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rPr>
              <a:t>Adder</a:t>
            </a:r>
            <a:endParaRPr lang="en-US" altLang="zh-CN" sz="16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43" name="Line 23"/>
          <p:cNvSpPr>
            <a:spLocks noChangeShapeType="1"/>
          </p:cNvSpPr>
          <p:nvPr/>
        </p:nvSpPr>
        <p:spPr bwMode="auto">
          <a:xfrm flipV="1">
            <a:off x="3581400" y="5533742"/>
            <a:ext cx="982663" cy="158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44" name="Line 24"/>
          <p:cNvSpPr>
            <a:spLocks noChangeShapeType="1"/>
          </p:cNvSpPr>
          <p:nvPr/>
        </p:nvSpPr>
        <p:spPr bwMode="auto">
          <a:xfrm>
            <a:off x="4030663" y="3171542"/>
            <a:ext cx="0" cy="2362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45" name="Line 25"/>
          <p:cNvSpPr>
            <a:spLocks noChangeShapeType="1"/>
          </p:cNvSpPr>
          <p:nvPr/>
        </p:nvSpPr>
        <p:spPr bwMode="auto">
          <a:xfrm>
            <a:off x="3725863" y="2866742"/>
            <a:ext cx="0" cy="2209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46" name="Line 26"/>
          <p:cNvSpPr>
            <a:spLocks noChangeShapeType="1"/>
          </p:cNvSpPr>
          <p:nvPr/>
        </p:nvSpPr>
        <p:spPr bwMode="auto">
          <a:xfrm>
            <a:off x="3725863" y="5076542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47" name="Line 27"/>
          <p:cNvSpPr>
            <a:spLocks noChangeShapeType="1"/>
          </p:cNvSpPr>
          <p:nvPr/>
        </p:nvSpPr>
        <p:spPr bwMode="auto">
          <a:xfrm>
            <a:off x="5249863" y="2409542"/>
            <a:ext cx="0" cy="2438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48" name="Line 28"/>
          <p:cNvSpPr>
            <a:spLocks noChangeShapeType="1"/>
          </p:cNvSpPr>
          <p:nvPr/>
        </p:nvSpPr>
        <p:spPr bwMode="auto">
          <a:xfrm>
            <a:off x="5097463" y="5762342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49" name="Rectangle 29"/>
          <p:cNvSpPr>
            <a:spLocks noChangeArrowheads="1"/>
          </p:cNvSpPr>
          <p:nvPr/>
        </p:nvSpPr>
        <p:spPr bwMode="auto">
          <a:xfrm>
            <a:off x="5157788" y="5989355"/>
            <a:ext cx="950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CarryOut</a:t>
            </a:r>
            <a:endParaRPr lang="en-US" altLang="zh-CN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0" name="Line 30"/>
          <p:cNvSpPr>
            <a:spLocks noChangeShapeType="1"/>
          </p:cNvSpPr>
          <p:nvPr/>
        </p:nvSpPr>
        <p:spPr bwMode="auto">
          <a:xfrm>
            <a:off x="6011863" y="2714342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51" name="Line 31"/>
          <p:cNvSpPr>
            <a:spLocks noChangeShapeType="1"/>
          </p:cNvSpPr>
          <p:nvPr/>
        </p:nvSpPr>
        <p:spPr bwMode="auto">
          <a:xfrm>
            <a:off x="6011863" y="2714342"/>
            <a:ext cx="4572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52" name="Line 32"/>
          <p:cNvSpPr>
            <a:spLocks noChangeShapeType="1"/>
          </p:cNvSpPr>
          <p:nvPr/>
        </p:nvSpPr>
        <p:spPr bwMode="auto">
          <a:xfrm>
            <a:off x="6469063" y="2942942"/>
            <a:ext cx="0" cy="2590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53" name="Rectangle 33"/>
          <p:cNvSpPr>
            <a:spLocks noChangeArrowheads="1"/>
          </p:cNvSpPr>
          <p:nvPr/>
        </p:nvSpPr>
        <p:spPr bwMode="auto">
          <a:xfrm rot="5400000">
            <a:off x="5919788" y="4008155"/>
            <a:ext cx="5905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</a:rPr>
              <a:t>Mux</a:t>
            </a:r>
            <a:endParaRPr lang="en-US" altLang="zh-CN" sz="16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4" name="Line 34"/>
          <p:cNvSpPr>
            <a:spLocks noChangeShapeType="1"/>
          </p:cNvSpPr>
          <p:nvPr/>
        </p:nvSpPr>
        <p:spPr bwMode="auto">
          <a:xfrm flipV="1">
            <a:off x="6011863" y="5533742"/>
            <a:ext cx="4572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55" name="Line 35"/>
          <p:cNvSpPr>
            <a:spLocks noChangeShapeType="1"/>
          </p:cNvSpPr>
          <p:nvPr/>
        </p:nvSpPr>
        <p:spPr bwMode="auto">
          <a:xfrm>
            <a:off x="5554663" y="5305142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56" name="Line 36"/>
          <p:cNvSpPr>
            <a:spLocks noChangeShapeType="1"/>
          </p:cNvSpPr>
          <p:nvPr/>
        </p:nvSpPr>
        <p:spPr bwMode="auto">
          <a:xfrm>
            <a:off x="6469063" y="4085942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57" name="Rectangle 37"/>
          <p:cNvSpPr>
            <a:spLocks noChangeArrowheads="1"/>
          </p:cNvSpPr>
          <p:nvPr/>
        </p:nvSpPr>
        <p:spPr bwMode="auto">
          <a:xfrm>
            <a:off x="4471988" y="2255555"/>
            <a:ext cx="8159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CarryIn</a:t>
            </a:r>
            <a:endParaRPr lang="en-US" altLang="zh-CN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8" name="Rectangle 38"/>
          <p:cNvSpPr>
            <a:spLocks noChangeArrowheads="1"/>
          </p:cNvSpPr>
          <p:nvPr/>
        </p:nvSpPr>
        <p:spPr bwMode="auto">
          <a:xfrm>
            <a:off x="6453188" y="3779555"/>
            <a:ext cx="7032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>
                <a:solidFill>
                  <a:schemeClr val="tx1"/>
                </a:solidFill>
                <a:latin typeface="Times New Roman" panose="02020603050405020304" pitchFamily="18" charset="0"/>
              </a:rPr>
              <a:t>Result</a:t>
            </a:r>
            <a:endParaRPr lang="en-US" altLang="zh-CN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59" name="Rectangle 39"/>
          <p:cNvSpPr>
            <a:spLocks noChangeArrowheads="1"/>
          </p:cNvSpPr>
          <p:nvPr/>
        </p:nvSpPr>
        <p:spPr bwMode="auto">
          <a:xfrm>
            <a:off x="5470525" y="4862230"/>
            <a:ext cx="5445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 b="1"/>
              <a:t>add</a:t>
            </a:r>
            <a:endParaRPr lang="en-US" altLang="zh-CN" sz="1600" b="1"/>
          </a:p>
        </p:txBody>
      </p:sp>
      <p:sp>
        <p:nvSpPr>
          <p:cNvPr id="56360" name="Rectangle 40"/>
          <p:cNvSpPr>
            <a:spLocks noChangeArrowheads="1"/>
          </p:cNvSpPr>
          <p:nvPr/>
        </p:nvSpPr>
        <p:spPr bwMode="auto">
          <a:xfrm>
            <a:off x="5394325" y="2554005"/>
            <a:ext cx="565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/>
              <a:t>and</a:t>
            </a:r>
            <a:endParaRPr lang="en-US" altLang="zh-CN"/>
          </a:p>
        </p:txBody>
      </p:sp>
      <p:sp>
        <p:nvSpPr>
          <p:cNvPr id="56361" name="Rectangle 41"/>
          <p:cNvSpPr>
            <a:spLocks noChangeArrowheads="1"/>
          </p:cNvSpPr>
          <p:nvPr/>
        </p:nvSpPr>
        <p:spPr bwMode="auto">
          <a:xfrm>
            <a:off x="5470525" y="3697005"/>
            <a:ext cx="38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/>
              <a:t>or</a:t>
            </a:r>
            <a:endParaRPr lang="en-US" altLang="zh-CN"/>
          </a:p>
        </p:txBody>
      </p:sp>
      <p:sp>
        <p:nvSpPr>
          <p:cNvPr id="56362" name="Line 42"/>
          <p:cNvSpPr>
            <a:spLocks noChangeShapeType="1"/>
          </p:cNvSpPr>
          <p:nvPr/>
        </p:nvSpPr>
        <p:spPr bwMode="auto">
          <a:xfrm>
            <a:off x="6172200" y="2425417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63" name="Arc 43"/>
          <p:cNvSpPr/>
          <p:nvPr/>
        </p:nvSpPr>
        <p:spPr bwMode="auto">
          <a:xfrm>
            <a:off x="2952750" y="5228942"/>
            <a:ext cx="646113" cy="304800"/>
          </a:xfrm>
          <a:custGeom>
            <a:avLst/>
            <a:gdLst>
              <a:gd name="G0" fmla="+- 53 0 0"/>
              <a:gd name="G1" fmla="+- 21600 0 0"/>
              <a:gd name="G2" fmla="+- 21600 0 0"/>
              <a:gd name="T0" fmla="*/ 0 w 21653"/>
              <a:gd name="T1" fmla="*/ 0 h 21600"/>
              <a:gd name="T2" fmla="*/ 21653 w 21653"/>
              <a:gd name="T3" fmla="*/ 21600 h 21600"/>
              <a:gd name="T4" fmla="*/ 53 w 2165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53" h="21600" fill="none" extrusionOk="0">
                <a:moveTo>
                  <a:pt x="0" y="0"/>
                </a:moveTo>
                <a:cubicBezTo>
                  <a:pt x="17" y="0"/>
                  <a:pt x="35" y="-1"/>
                  <a:pt x="53" y="0"/>
                </a:cubicBezTo>
                <a:cubicBezTo>
                  <a:pt x="11982" y="0"/>
                  <a:pt x="21653" y="9670"/>
                  <a:pt x="21653" y="21600"/>
                </a:cubicBezTo>
              </a:path>
              <a:path w="21653" h="21600" stroke="0" extrusionOk="0">
                <a:moveTo>
                  <a:pt x="0" y="0"/>
                </a:moveTo>
                <a:cubicBezTo>
                  <a:pt x="17" y="0"/>
                  <a:pt x="35" y="-1"/>
                  <a:pt x="53" y="0"/>
                </a:cubicBezTo>
                <a:cubicBezTo>
                  <a:pt x="11982" y="0"/>
                  <a:pt x="21653" y="9670"/>
                  <a:pt x="21653" y="21600"/>
                </a:cubicBezTo>
                <a:lnTo>
                  <a:pt x="53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64" name="Arc 44"/>
          <p:cNvSpPr/>
          <p:nvPr/>
        </p:nvSpPr>
        <p:spPr bwMode="auto">
          <a:xfrm rot="10800000">
            <a:off x="2951163" y="5533742"/>
            <a:ext cx="646112" cy="3048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47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1"/>
                  <a:pt x="9638" y="29"/>
                  <a:pt x="21547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1"/>
                  <a:pt x="9638" y="29"/>
                  <a:pt x="21547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65" name="Arc 45"/>
          <p:cNvSpPr/>
          <p:nvPr/>
        </p:nvSpPr>
        <p:spPr bwMode="auto">
          <a:xfrm>
            <a:off x="2887663" y="5228942"/>
            <a:ext cx="193675" cy="304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66" name="Arc 46"/>
          <p:cNvSpPr/>
          <p:nvPr/>
        </p:nvSpPr>
        <p:spPr bwMode="auto">
          <a:xfrm rot="10800000">
            <a:off x="2889250" y="5533742"/>
            <a:ext cx="193675" cy="304800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0 w 21600"/>
              <a:gd name="T1" fmla="*/ 21599 h 21599"/>
              <a:gd name="T2" fmla="*/ 21423 w 21600"/>
              <a:gd name="T3" fmla="*/ 0 h 21599"/>
              <a:gd name="T4" fmla="*/ 21600 w 21600"/>
              <a:gd name="T5" fmla="*/ 21599 h 21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599" fill="none" extrusionOk="0">
                <a:moveTo>
                  <a:pt x="0" y="21599"/>
                </a:moveTo>
                <a:cubicBezTo>
                  <a:pt x="0" y="9738"/>
                  <a:pt x="9563" y="96"/>
                  <a:pt x="21422" y="-1"/>
                </a:cubicBezTo>
              </a:path>
              <a:path w="21600" h="21599" stroke="0" extrusionOk="0">
                <a:moveTo>
                  <a:pt x="0" y="21599"/>
                </a:moveTo>
                <a:cubicBezTo>
                  <a:pt x="0" y="9738"/>
                  <a:pt x="9563" y="96"/>
                  <a:pt x="21422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67" name="Arc 47"/>
          <p:cNvSpPr/>
          <p:nvPr/>
        </p:nvSpPr>
        <p:spPr bwMode="auto">
          <a:xfrm>
            <a:off x="2735263" y="5228942"/>
            <a:ext cx="193675" cy="304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68" name="Arc 48"/>
          <p:cNvSpPr/>
          <p:nvPr/>
        </p:nvSpPr>
        <p:spPr bwMode="auto">
          <a:xfrm rot="10800000">
            <a:off x="2736850" y="5533742"/>
            <a:ext cx="193675" cy="304800"/>
          </a:xfrm>
          <a:custGeom>
            <a:avLst/>
            <a:gdLst>
              <a:gd name="G0" fmla="+- 21600 0 0"/>
              <a:gd name="G1" fmla="+- 21599 0 0"/>
              <a:gd name="G2" fmla="+- 21600 0 0"/>
              <a:gd name="T0" fmla="*/ 0 w 21600"/>
              <a:gd name="T1" fmla="*/ 21599 h 21599"/>
              <a:gd name="T2" fmla="*/ 21423 w 21600"/>
              <a:gd name="T3" fmla="*/ 0 h 21599"/>
              <a:gd name="T4" fmla="*/ 21600 w 21600"/>
              <a:gd name="T5" fmla="*/ 21599 h 21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599" fill="none" extrusionOk="0">
                <a:moveTo>
                  <a:pt x="0" y="21599"/>
                </a:moveTo>
                <a:cubicBezTo>
                  <a:pt x="0" y="9738"/>
                  <a:pt x="9563" y="96"/>
                  <a:pt x="21422" y="-1"/>
                </a:cubicBezTo>
              </a:path>
              <a:path w="21600" h="21599" stroke="0" extrusionOk="0">
                <a:moveTo>
                  <a:pt x="0" y="21599"/>
                </a:moveTo>
                <a:cubicBezTo>
                  <a:pt x="0" y="9738"/>
                  <a:pt x="9563" y="96"/>
                  <a:pt x="21422" y="-1"/>
                </a:cubicBezTo>
                <a:lnTo>
                  <a:pt x="21600" y="21599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69" name="Line 49"/>
          <p:cNvSpPr>
            <a:spLocks noChangeShapeType="1"/>
          </p:cNvSpPr>
          <p:nvPr/>
        </p:nvSpPr>
        <p:spPr bwMode="auto">
          <a:xfrm>
            <a:off x="2514600" y="5702017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70" name="Rectangle 50"/>
          <p:cNvSpPr>
            <a:spLocks noChangeArrowheads="1"/>
          </p:cNvSpPr>
          <p:nvPr/>
        </p:nvSpPr>
        <p:spPr bwMode="auto">
          <a:xfrm>
            <a:off x="5775325" y="2020605"/>
            <a:ext cx="1009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</a:rPr>
              <a:t>S-select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6371" name="Freeform 51"/>
          <p:cNvSpPr/>
          <p:nvPr/>
        </p:nvSpPr>
        <p:spPr bwMode="auto">
          <a:xfrm>
            <a:off x="2667000" y="2577817"/>
            <a:ext cx="230188" cy="2820988"/>
          </a:xfrm>
          <a:custGeom>
            <a:avLst/>
            <a:gdLst>
              <a:gd name="T0" fmla="*/ 0 w 145"/>
              <a:gd name="T1" fmla="*/ 0 h 1777"/>
              <a:gd name="T2" fmla="*/ 0 w 145"/>
              <a:gd name="T3" fmla="*/ 1729 h 1777"/>
              <a:gd name="T4" fmla="*/ 144 w 145"/>
              <a:gd name="T5" fmla="*/ 1776 h 17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5" h="1777">
                <a:moveTo>
                  <a:pt x="0" y="0"/>
                </a:moveTo>
                <a:lnTo>
                  <a:pt x="0" y="1729"/>
                </a:lnTo>
                <a:lnTo>
                  <a:pt x="144" y="177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72" name="Rectangle 52"/>
          <p:cNvSpPr>
            <a:spLocks noChangeArrowheads="1"/>
          </p:cNvSpPr>
          <p:nvPr/>
        </p:nvSpPr>
        <p:spPr bwMode="auto">
          <a:xfrm>
            <a:off x="2498725" y="2249205"/>
            <a:ext cx="742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</a:rPr>
              <a:t>invert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56373" name="Rectangle 53"/>
          <p:cNvSpPr>
            <a:spLocks noChangeArrowheads="1"/>
          </p:cNvSpPr>
          <p:nvPr/>
        </p:nvSpPr>
        <p:spPr bwMode="auto">
          <a:xfrm>
            <a:off x="822325" y="6341780"/>
            <a:ext cx="4151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Set-less-than? – left as an exercise</a:t>
            </a:r>
            <a:endParaRPr lang="en-US" altLang="zh-CN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684213" y="261938"/>
            <a:ext cx="8259762" cy="646112"/>
          </a:xfrm>
        </p:spPr>
        <p:txBody>
          <a:bodyPr/>
          <a:lstStyle/>
          <a:p>
            <a:r>
              <a:rPr lang="en-US" sz="3600" smtClean="0"/>
              <a:t>MIPS Arithmetic Logic Unit (ALU)</a:t>
            </a:r>
            <a:endParaRPr lang="en-US" sz="3600" smtClean="0"/>
          </a:p>
        </p:txBody>
      </p:sp>
      <p:sp>
        <p:nvSpPr>
          <p:cNvPr id="8195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8A86D24C-1BA2-47AE-A5E1-0DC10B5D9A89}" type="slidenum">
              <a:rPr lang="en-AU" altLang="zh-CN"/>
            </a:fld>
            <a:endParaRPr lang="en-AU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33400" y="1004888"/>
            <a:ext cx="8153400" cy="3246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9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sz="3200" kern="0" dirty="0">
                <a:latin typeface="+mn-lt"/>
              </a:rPr>
              <a:t>Must support the Arithmetic/Logic                      operations of the ISA</a:t>
            </a:r>
            <a:endParaRPr lang="en-US" sz="3200" kern="0" dirty="0">
              <a:latin typeface="+mn-lt"/>
            </a:endParaRPr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lang="en-US" sz="2000" kern="0" dirty="0">
                <a:latin typeface="Courier New" panose="02070309020205020404" pitchFamily="49" charset="0"/>
              </a:rPr>
              <a:t>add, </a:t>
            </a:r>
            <a:r>
              <a:rPr lang="en-US" sz="2000" kern="0" dirty="0" err="1">
                <a:latin typeface="Courier New" panose="02070309020205020404" pitchFamily="49" charset="0"/>
              </a:rPr>
              <a:t>addi</a:t>
            </a:r>
            <a:r>
              <a:rPr lang="en-US" sz="2000" kern="0" dirty="0">
                <a:latin typeface="Courier New" panose="02070309020205020404" pitchFamily="49" charset="0"/>
              </a:rPr>
              <a:t>, </a:t>
            </a:r>
            <a:r>
              <a:rPr lang="en-US" sz="2000" kern="0" dirty="0" err="1">
                <a:latin typeface="Courier New" panose="02070309020205020404" pitchFamily="49" charset="0"/>
              </a:rPr>
              <a:t>addiu</a:t>
            </a:r>
            <a:r>
              <a:rPr lang="en-US" sz="2000" kern="0" dirty="0">
                <a:latin typeface="Courier New" panose="02070309020205020404" pitchFamily="49" charset="0"/>
              </a:rPr>
              <a:t>, </a:t>
            </a:r>
            <a:r>
              <a:rPr lang="en-US" sz="2000" kern="0" dirty="0" err="1">
                <a:latin typeface="Courier New" panose="02070309020205020404" pitchFamily="49" charset="0"/>
              </a:rPr>
              <a:t>addu</a:t>
            </a:r>
            <a:endParaRPr lang="en-US" sz="2000" kern="0" dirty="0">
              <a:latin typeface="Courier New" panose="02070309020205020404" pitchFamily="49" charset="0"/>
            </a:endParaRPr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lang="en-US" sz="2000" kern="0" dirty="0">
                <a:latin typeface="Courier New" panose="02070309020205020404" pitchFamily="49" charset="0"/>
              </a:rPr>
              <a:t>sub, </a:t>
            </a:r>
            <a:r>
              <a:rPr lang="en-US" sz="2000" kern="0" dirty="0" err="1">
                <a:latin typeface="Courier New" panose="02070309020205020404" pitchFamily="49" charset="0"/>
              </a:rPr>
              <a:t>subu</a:t>
            </a:r>
            <a:endParaRPr lang="en-US" sz="2000" kern="0" dirty="0">
              <a:latin typeface="Courier New" panose="02070309020205020404" pitchFamily="49" charset="0"/>
            </a:endParaRPr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lang="en-US" sz="2000" kern="0" dirty="0" err="1">
                <a:latin typeface="Courier New" panose="02070309020205020404" pitchFamily="49" charset="0"/>
              </a:rPr>
              <a:t>mult</a:t>
            </a:r>
            <a:r>
              <a:rPr lang="en-US" sz="2000" kern="0" dirty="0">
                <a:latin typeface="Courier New" panose="02070309020205020404" pitchFamily="49" charset="0"/>
              </a:rPr>
              <a:t>, </a:t>
            </a:r>
            <a:r>
              <a:rPr lang="en-US" sz="2000" kern="0" dirty="0" err="1">
                <a:latin typeface="Courier New" panose="02070309020205020404" pitchFamily="49" charset="0"/>
              </a:rPr>
              <a:t>multu</a:t>
            </a:r>
            <a:r>
              <a:rPr lang="en-US" sz="2000" kern="0" dirty="0">
                <a:latin typeface="Courier New" panose="02070309020205020404" pitchFamily="49" charset="0"/>
              </a:rPr>
              <a:t>, div, </a:t>
            </a:r>
            <a:r>
              <a:rPr lang="en-US" sz="2000" kern="0" dirty="0" err="1">
                <a:latin typeface="Courier New" panose="02070309020205020404" pitchFamily="49" charset="0"/>
              </a:rPr>
              <a:t>divu</a:t>
            </a:r>
            <a:r>
              <a:rPr lang="en-US" sz="2000" kern="0" dirty="0">
                <a:latin typeface="Courier New" panose="02070309020205020404" pitchFamily="49" charset="0"/>
              </a:rPr>
              <a:t> </a:t>
            </a:r>
            <a:endParaRPr lang="en-US" sz="2000" kern="0" dirty="0">
              <a:latin typeface="Courier New" panose="02070309020205020404" pitchFamily="49" charset="0"/>
            </a:endParaRPr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lang="en-US" sz="2000" kern="0" dirty="0" err="1">
                <a:latin typeface="Courier New" panose="02070309020205020404" pitchFamily="49" charset="0"/>
              </a:rPr>
              <a:t>sqrt</a:t>
            </a:r>
            <a:endParaRPr lang="en-US" sz="2000" kern="0" dirty="0">
              <a:latin typeface="Courier New" panose="02070309020205020404" pitchFamily="49" charset="0"/>
            </a:endParaRPr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lang="en-US" sz="2000" kern="0" dirty="0">
                <a:latin typeface="Courier New" panose="02070309020205020404" pitchFamily="49" charset="0"/>
              </a:rPr>
              <a:t>and, </a:t>
            </a:r>
            <a:r>
              <a:rPr lang="en-US" sz="2000" kern="0" dirty="0" err="1">
                <a:latin typeface="Courier New" panose="02070309020205020404" pitchFamily="49" charset="0"/>
              </a:rPr>
              <a:t>andi</a:t>
            </a:r>
            <a:r>
              <a:rPr lang="en-US" sz="2000" kern="0" dirty="0">
                <a:latin typeface="Courier New" panose="02070309020205020404" pitchFamily="49" charset="0"/>
              </a:rPr>
              <a:t>, nor, or, </a:t>
            </a:r>
            <a:r>
              <a:rPr lang="en-US" sz="2000" kern="0" dirty="0" err="1">
                <a:latin typeface="Courier New" panose="02070309020205020404" pitchFamily="49" charset="0"/>
              </a:rPr>
              <a:t>ori</a:t>
            </a:r>
            <a:r>
              <a:rPr lang="en-US" sz="2000" kern="0" dirty="0">
                <a:latin typeface="Courier New" panose="02070309020205020404" pitchFamily="49" charset="0"/>
              </a:rPr>
              <a:t>, </a:t>
            </a:r>
            <a:r>
              <a:rPr lang="en-US" sz="2000" kern="0" dirty="0" err="1">
                <a:latin typeface="Courier New" panose="02070309020205020404" pitchFamily="49" charset="0"/>
              </a:rPr>
              <a:t>xor</a:t>
            </a:r>
            <a:r>
              <a:rPr lang="en-US" sz="2000" kern="0" dirty="0">
                <a:latin typeface="Courier New" panose="02070309020205020404" pitchFamily="49" charset="0"/>
              </a:rPr>
              <a:t>, x</a:t>
            </a:r>
            <a:r>
              <a:rPr lang="en-US" sz="2000" kern="0" dirty="0" err="1">
                <a:latin typeface="Courier New" panose="02070309020205020404" pitchFamily="49" charset="0"/>
              </a:rPr>
              <a:t>ori</a:t>
            </a:r>
            <a:r>
              <a:rPr lang="en-US" sz="2000" kern="0" dirty="0">
                <a:latin typeface="Courier New" panose="02070309020205020404" pitchFamily="49" charset="0"/>
              </a:rPr>
              <a:t> </a:t>
            </a:r>
            <a:endParaRPr lang="en-US" sz="2000" kern="0" dirty="0">
              <a:latin typeface="Courier New" panose="02070309020205020404" pitchFamily="49" charset="0"/>
            </a:endParaRPr>
          </a:p>
          <a:p>
            <a:pPr marL="742950" lvl="1" indent="-285750">
              <a:lnSpc>
                <a:spcPct val="95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Monotype Sorts" pitchFamily="2" charset="2"/>
              <a:buNone/>
              <a:defRPr/>
            </a:pPr>
            <a:r>
              <a:rPr lang="en-US" sz="2000" kern="0" dirty="0" err="1">
                <a:latin typeface="Courier New" panose="02070309020205020404" pitchFamily="49" charset="0"/>
              </a:rPr>
              <a:t>beq</a:t>
            </a:r>
            <a:r>
              <a:rPr lang="en-US" sz="2000" kern="0" dirty="0">
                <a:latin typeface="Courier New" panose="02070309020205020404" pitchFamily="49" charset="0"/>
              </a:rPr>
              <a:t>, </a:t>
            </a:r>
            <a:r>
              <a:rPr lang="en-US" sz="2000" kern="0" dirty="0" err="1">
                <a:latin typeface="Courier New" panose="02070309020205020404" pitchFamily="49" charset="0"/>
              </a:rPr>
              <a:t>bne</a:t>
            </a:r>
            <a:r>
              <a:rPr lang="en-US" sz="2000" kern="0" dirty="0">
                <a:latin typeface="Courier New" panose="02070309020205020404" pitchFamily="49" charset="0"/>
              </a:rPr>
              <a:t>, </a:t>
            </a:r>
            <a:r>
              <a:rPr lang="en-US" sz="2000" kern="0" dirty="0" err="1">
                <a:latin typeface="Courier New" panose="02070309020205020404" pitchFamily="49" charset="0"/>
              </a:rPr>
              <a:t>slt</a:t>
            </a:r>
            <a:r>
              <a:rPr lang="en-US" sz="2000" kern="0" dirty="0">
                <a:latin typeface="Courier New" panose="02070309020205020404" pitchFamily="49" charset="0"/>
              </a:rPr>
              <a:t>, </a:t>
            </a:r>
            <a:r>
              <a:rPr lang="en-US" sz="2000" kern="0" dirty="0" err="1">
                <a:latin typeface="Courier New" panose="02070309020205020404" pitchFamily="49" charset="0"/>
              </a:rPr>
              <a:t>slti</a:t>
            </a:r>
            <a:r>
              <a:rPr lang="en-US" sz="2000" kern="0" dirty="0">
                <a:latin typeface="Courier New" panose="02070309020205020404" pitchFamily="49" charset="0"/>
              </a:rPr>
              <a:t>, </a:t>
            </a:r>
            <a:r>
              <a:rPr lang="en-US" sz="2000" kern="0" dirty="0" err="1">
                <a:latin typeface="Courier New" panose="02070309020205020404" pitchFamily="49" charset="0"/>
              </a:rPr>
              <a:t>sltiu</a:t>
            </a:r>
            <a:r>
              <a:rPr lang="en-US" sz="2000" kern="0" dirty="0">
                <a:latin typeface="Courier New" panose="02070309020205020404" pitchFamily="49" charset="0"/>
              </a:rPr>
              <a:t>, </a:t>
            </a:r>
            <a:r>
              <a:rPr lang="en-US" sz="2000" kern="0" dirty="0" err="1">
                <a:latin typeface="Courier New" panose="02070309020205020404" pitchFamily="49" charset="0"/>
              </a:rPr>
              <a:t>sltu</a:t>
            </a:r>
            <a:endParaRPr lang="en-US" sz="2000" kern="0" dirty="0">
              <a:latin typeface="Courier New" panose="02070309020205020404" pitchFamily="49" charset="0"/>
            </a:endParaRPr>
          </a:p>
        </p:txBody>
      </p:sp>
      <p:grpSp>
        <p:nvGrpSpPr>
          <p:cNvPr id="8197" name="Group 30"/>
          <p:cNvGrpSpPr/>
          <p:nvPr/>
        </p:nvGrpSpPr>
        <p:grpSpPr bwMode="auto">
          <a:xfrm>
            <a:off x="6000750" y="1071563"/>
            <a:ext cx="3381375" cy="3048000"/>
            <a:chOff x="3015" y="1008"/>
            <a:chExt cx="2130" cy="1920"/>
          </a:xfrm>
        </p:grpSpPr>
        <p:sp>
          <p:nvSpPr>
            <p:cNvPr id="8200" name="Freeform 4"/>
            <p:cNvSpPr/>
            <p:nvPr/>
          </p:nvSpPr>
          <p:spPr bwMode="auto">
            <a:xfrm>
              <a:off x="3696" y="1453"/>
              <a:ext cx="388" cy="1099"/>
            </a:xfrm>
            <a:custGeom>
              <a:avLst/>
              <a:gdLst>
                <a:gd name="T0" fmla="*/ 0 w 388"/>
                <a:gd name="T1" fmla="*/ 0 h 1099"/>
                <a:gd name="T2" fmla="*/ 0 w 388"/>
                <a:gd name="T3" fmla="*/ 427 h 1099"/>
                <a:gd name="T4" fmla="*/ 111 w 388"/>
                <a:gd name="T5" fmla="*/ 553 h 1099"/>
                <a:gd name="T6" fmla="*/ 0 w 388"/>
                <a:gd name="T7" fmla="*/ 671 h 1099"/>
                <a:gd name="T8" fmla="*/ 0 w 388"/>
                <a:gd name="T9" fmla="*/ 1098 h 1099"/>
                <a:gd name="T10" fmla="*/ 387 w 388"/>
                <a:gd name="T11" fmla="*/ 790 h 1099"/>
                <a:gd name="T12" fmla="*/ 387 w 388"/>
                <a:gd name="T13" fmla="*/ 308 h 1099"/>
                <a:gd name="T14" fmla="*/ 0 w 388"/>
                <a:gd name="T15" fmla="*/ 0 h 10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88"/>
                <a:gd name="T25" fmla="*/ 0 h 1099"/>
                <a:gd name="T26" fmla="*/ 388 w 388"/>
                <a:gd name="T27" fmla="*/ 1099 h 109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88" h="1099">
                  <a:moveTo>
                    <a:pt x="0" y="0"/>
                  </a:moveTo>
                  <a:lnTo>
                    <a:pt x="0" y="427"/>
                  </a:lnTo>
                  <a:lnTo>
                    <a:pt x="111" y="553"/>
                  </a:lnTo>
                  <a:lnTo>
                    <a:pt x="0" y="671"/>
                  </a:lnTo>
                  <a:lnTo>
                    <a:pt x="0" y="1098"/>
                  </a:lnTo>
                  <a:lnTo>
                    <a:pt x="387" y="790"/>
                  </a:lnTo>
                  <a:lnTo>
                    <a:pt x="387" y="308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" name="Line 5"/>
            <p:cNvSpPr>
              <a:spLocks noChangeShapeType="1"/>
            </p:cNvSpPr>
            <p:nvPr/>
          </p:nvSpPr>
          <p:spPr bwMode="auto">
            <a:xfrm>
              <a:off x="3172" y="2377"/>
              <a:ext cx="48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" name="Line 6"/>
            <p:cNvSpPr>
              <a:spLocks noChangeShapeType="1"/>
            </p:cNvSpPr>
            <p:nvPr/>
          </p:nvSpPr>
          <p:spPr bwMode="auto">
            <a:xfrm>
              <a:off x="4096" y="2022"/>
              <a:ext cx="4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" name="Line 7"/>
            <p:cNvSpPr>
              <a:spLocks noChangeShapeType="1"/>
            </p:cNvSpPr>
            <p:nvPr/>
          </p:nvSpPr>
          <p:spPr bwMode="auto">
            <a:xfrm>
              <a:off x="3165" y="1658"/>
              <a:ext cx="4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" name="Line 8"/>
            <p:cNvSpPr>
              <a:spLocks noChangeShapeType="1"/>
            </p:cNvSpPr>
            <p:nvPr/>
          </p:nvSpPr>
          <p:spPr bwMode="auto">
            <a:xfrm flipH="1">
              <a:off x="3307" y="1600"/>
              <a:ext cx="78" cy="133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" name="Rectangle 9"/>
            <p:cNvSpPr>
              <a:spLocks noChangeArrowheads="1"/>
            </p:cNvSpPr>
            <p:nvPr/>
          </p:nvSpPr>
          <p:spPr bwMode="auto">
            <a:xfrm>
              <a:off x="3207" y="1728"/>
              <a:ext cx="37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200"/>
                </a:lnSpc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/>
                <a:t>32</a:t>
              </a:r>
              <a:endParaRPr lang="en-US" sz="1600"/>
            </a:p>
          </p:txBody>
        </p:sp>
        <p:sp>
          <p:nvSpPr>
            <p:cNvPr id="8206" name="Line 10"/>
            <p:cNvSpPr>
              <a:spLocks noChangeShapeType="1"/>
            </p:cNvSpPr>
            <p:nvPr/>
          </p:nvSpPr>
          <p:spPr bwMode="auto">
            <a:xfrm flipH="1">
              <a:off x="3307" y="2311"/>
              <a:ext cx="78" cy="133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" name="Rectangle 11"/>
            <p:cNvSpPr>
              <a:spLocks noChangeArrowheads="1"/>
            </p:cNvSpPr>
            <p:nvPr/>
          </p:nvSpPr>
          <p:spPr bwMode="auto">
            <a:xfrm>
              <a:off x="3207" y="2448"/>
              <a:ext cx="371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200"/>
                </a:lnSpc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/>
                <a:t>32</a:t>
              </a:r>
              <a:endParaRPr lang="en-US" sz="1600"/>
            </a:p>
          </p:txBody>
        </p:sp>
        <p:sp>
          <p:nvSpPr>
            <p:cNvPr id="8208" name="Line 12"/>
            <p:cNvSpPr>
              <a:spLocks noChangeShapeType="1"/>
            </p:cNvSpPr>
            <p:nvPr/>
          </p:nvSpPr>
          <p:spPr bwMode="auto">
            <a:xfrm flipH="1">
              <a:off x="4301" y="1956"/>
              <a:ext cx="78" cy="133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Rectangle 13"/>
            <p:cNvSpPr>
              <a:spLocks noChangeArrowheads="1"/>
            </p:cNvSpPr>
            <p:nvPr/>
          </p:nvSpPr>
          <p:spPr bwMode="auto">
            <a:xfrm>
              <a:off x="4215" y="2112"/>
              <a:ext cx="371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200"/>
                </a:lnSpc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/>
                <a:t>32</a:t>
              </a:r>
              <a:endParaRPr lang="en-US" sz="1600"/>
            </a:p>
          </p:txBody>
        </p:sp>
        <p:sp>
          <p:nvSpPr>
            <p:cNvPr id="8210" name="Line 14"/>
            <p:cNvSpPr>
              <a:spLocks noChangeShapeType="1"/>
            </p:cNvSpPr>
            <p:nvPr/>
          </p:nvSpPr>
          <p:spPr bwMode="auto">
            <a:xfrm>
              <a:off x="3843" y="2500"/>
              <a:ext cx="133" cy="6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1" name="Rectangle 15"/>
            <p:cNvSpPr>
              <a:spLocks noChangeArrowheads="1"/>
            </p:cNvSpPr>
            <p:nvPr/>
          </p:nvSpPr>
          <p:spPr bwMode="auto">
            <a:xfrm>
              <a:off x="3831" y="2688"/>
              <a:ext cx="105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>
                  <a:solidFill>
                    <a:srgbClr val="000000"/>
                  </a:solidFill>
                </a:rPr>
                <a:t>m (operation)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8212" name="Rectangle 16"/>
            <p:cNvSpPr>
              <a:spLocks noChangeArrowheads="1"/>
            </p:cNvSpPr>
            <p:nvPr/>
          </p:nvSpPr>
          <p:spPr bwMode="auto">
            <a:xfrm>
              <a:off x="4647" y="1920"/>
              <a:ext cx="498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>
                  <a:solidFill>
                    <a:srgbClr val="000000"/>
                  </a:solidFill>
                </a:rPr>
                <a:t>result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8213" name="Rectangle 17"/>
            <p:cNvSpPr>
              <a:spLocks noChangeArrowheads="1"/>
            </p:cNvSpPr>
            <p:nvPr/>
          </p:nvSpPr>
          <p:spPr bwMode="auto">
            <a:xfrm>
              <a:off x="3015" y="1584"/>
              <a:ext cx="174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>
                  <a:solidFill>
                    <a:srgbClr val="000000"/>
                  </a:solidFill>
                </a:rPr>
                <a:t>A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8214" name="Rectangle 18"/>
            <p:cNvSpPr>
              <a:spLocks noChangeArrowheads="1"/>
            </p:cNvSpPr>
            <p:nvPr/>
          </p:nvSpPr>
          <p:spPr bwMode="auto">
            <a:xfrm>
              <a:off x="3015" y="2304"/>
              <a:ext cx="222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>
                  <a:solidFill>
                    <a:srgbClr val="000000"/>
                  </a:solidFill>
                </a:rPr>
                <a:t>B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8215" name="Rectangle 19"/>
            <p:cNvSpPr>
              <a:spLocks noChangeArrowheads="1"/>
            </p:cNvSpPr>
            <p:nvPr/>
          </p:nvSpPr>
          <p:spPr bwMode="auto">
            <a:xfrm>
              <a:off x="3783" y="1920"/>
              <a:ext cx="336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600"/>
                </a:lnSpc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>
                  <a:solidFill>
                    <a:srgbClr val="000000"/>
                  </a:solidFill>
                </a:rPr>
                <a:t>ALU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8216" name="Rectangle 20"/>
            <p:cNvSpPr>
              <a:spLocks noChangeArrowheads="1"/>
            </p:cNvSpPr>
            <p:nvPr/>
          </p:nvSpPr>
          <p:spPr bwMode="auto">
            <a:xfrm>
              <a:off x="3975" y="2496"/>
              <a:ext cx="37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200"/>
                </a:lnSpc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/>
                <a:t>4</a:t>
              </a:r>
              <a:endParaRPr lang="en-US" sz="1600"/>
            </a:p>
          </p:txBody>
        </p:sp>
        <p:sp>
          <p:nvSpPr>
            <p:cNvPr id="8217" name="Line 21"/>
            <p:cNvSpPr>
              <a:spLocks noChangeShapeType="1"/>
            </p:cNvSpPr>
            <p:nvPr/>
          </p:nvSpPr>
          <p:spPr bwMode="auto">
            <a:xfrm flipV="1">
              <a:off x="3927" y="2352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Line 22"/>
            <p:cNvSpPr>
              <a:spLocks noChangeShapeType="1"/>
            </p:cNvSpPr>
            <p:nvPr/>
          </p:nvSpPr>
          <p:spPr bwMode="auto">
            <a:xfrm flipV="1">
              <a:off x="4023" y="1200"/>
              <a:ext cx="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Line 23"/>
            <p:cNvSpPr>
              <a:spLocks noChangeShapeType="1"/>
            </p:cNvSpPr>
            <p:nvPr/>
          </p:nvSpPr>
          <p:spPr bwMode="auto">
            <a:xfrm flipV="1">
              <a:off x="3831" y="120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0" name="Rectangle 24"/>
            <p:cNvSpPr>
              <a:spLocks noChangeArrowheads="1"/>
            </p:cNvSpPr>
            <p:nvPr/>
          </p:nvSpPr>
          <p:spPr bwMode="auto">
            <a:xfrm>
              <a:off x="3687" y="10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>
                  <a:solidFill>
                    <a:srgbClr val="000000"/>
                  </a:solidFill>
                </a:rPr>
                <a:t>zero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8221" name="Rectangle 25"/>
            <p:cNvSpPr>
              <a:spLocks noChangeArrowheads="1"/>
            </p:cNvSpPr>
            <p:nvPr/>
          </p:nvSpPr>
          <p:spPr bwMode="auto">
            <a:xfrm>
              <a:off x="3975" y="10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>
                  <a:solidFill>
                    <a:srgbClr val="000000"/>
                  </a:solidFill>
                </a:rPr>
                <a:t>ovf</a:t>
              </a: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8222" name="Line 26"/>
            <p:cNvSpPr>
              <a:spLocks noChangeShapeType="1"/>
            </p:cNvSpPr>
            <p:nvPr/>
          </p:nvSpPr>
          <p:spPr bwMode="auto">
            <a:xfrm>
              <a:off x="3783" y="1392"/>
              <a:ext cx="133" cy="6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Line 27"/>
            <p:cNvSpPr>
              <a:spLocks noChangeShapeType="1"/>
            </p:cNvSpPr>
            <p:nvPr/>
          </p:nvSpPr>
          <p:spPr bwMode="auto">
            <a:xfrm>
              <a:off x="3975" y="1536"/>
              <a:ext cx="133" cy="62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Rectangle 28"/>
            <p:cNvSpPr>
              <a:spLocks noChangeArrowheads="1"/>
            </p:cNvSpPr>
            <p:nvPr/>
          </p:nvSpPr>
          <p:spPr bwMode="auto">
            <a:xfrm>
              <a:off x="4071" y="1488"/>
              <a:ext cx="1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200"/>
                </a:lnSpc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/>
                <a:t>1</a:t>
              </a:r>
              <a:endParaRPr lang="en-US" sz="1600"/>
            </a:p>
          </p:txBody>
        </p:sp>
        <p:sp>
          <p:nvSpPr>
            <p:cNvPr id="8225" name="Rectangle 29"/>
            <p:cNvSpPr>
              <a:spLocks noChangeArrowheads="1"/>
            </p:cNvSpPr>
            <p:nvPr/>
          </p:nvSpPr>
          <p:spPr bwMode="auto">
            <a:xfrm>
              <a:off x="3879" y="1344"/>
              <a:ext cx="1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9050" tIns="26988" rIns="19050" bIns="26988"/>
            <a:lstStyle/>
            <a:p>
              <a:pPr defTabSz="904875">
                <a:lnSpc>
                  <a:spcPts val="1200"/>
                </a:lnSpc>
                <a:tabLst>
                  <a:tab pos="452120" algn="l"/>
                  <a:tab pos="904875" algn="l"/>
                  <a:tab pos="1356995" algn="l"/>
                </a:tabLst>
              </a:pPr>
              <a:r>
                <a:rPr lang="en-US" sz="1600"/>
                <a:t>1</a:t>
              </a:r>
              <a:endParaRPr lang="en-US" sz="1600"/>
            </a:p>
          </p:txBody>
        </p:sp>
      </p:grp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571500" y="4286250"/>
            <a:ext cx="8153400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 marL="287655" indent="-287655">
              <a:lnSpc>
                <a:spcPct val="95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sz="2400"/>
              <a:t>With special handling for</a:t>
            </a:r>
            <a:endParaRPr lang="en-US" sz="2400"/>
          </a:p>
          <a:p>
            <a:pPr marL="741680" lvl="1" indent="-24638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Monotype Sorts"/>
              <a:buChar char="l"/>
            </a:pPr>
            <a:r>
              <a:rPr lang="en-US" sz="2000">
                <a:solidFill>
                  <a:schemeClr val="tx2"/>
                </a:solidFill>
              </a:rPr>
              <a:t>sign extend </a:t>
            </a:r>
            <a:r>
              <a:rPr lang="en-US" sz="2000"/>
              <a:t>– </a:t>
            </a:r>
            <a:r>
              <a:rPr lang="en-US" sz="2000">
                <a:latin typeface="Courier New" panose="02070309020205020404" pitchFamily="49" charset="0"/>
              </a:rPr>
              <a:t>addi, addiu, slti, sltiu</a:t>
            </a:r>
            <a:endParaRPr lang="en-US" sz="2000">
              <a:latin typeface="Courier New" panose="02070309020205020404" pitchFamily="49" charset="0"/>
            </a:endParaRPr>
          </a:p>
          <a:p>
            <a:pPr marL="741680" lvl="1" indent="-24638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Monotype Sorts"/>
              <a:buChar char="l"/>
            </a:pPr>
            <a:r>
              <a:rPr lang="en-US" sz="2000">
                <a:solidFill>
                  <a:schemeClr val="tx2"/>
                </a:solidFill>
              </a:rPr>
              <a:t>zero extend </a:t>
            </a:r>
            <a:r>
              <a:rPr lang="en-US" sz="2000"/>
              <a:t>– </a:t>
            </a:r>
            <a:r>
              <a:rPr lang="en-US" sz="2000">
                <a:latin typeface="Courier New" panose="02070309020205020404" pitchFamily="49" charset="0"/>
              </a:rPr>
              <a:t>andi, ori, xori</a:t>
            </a:r>
            <a:endParaRPr lang="en-US" sz="2000">
              <a:latin typeface="Courier New" panose="02070309020205020404" pitchFamily="49" charset="0"/>
            </a:endParaRPr>
          </a:p>
          <a:p>
            <a:pPr marL="741680" lvl="1" indent="-24638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Monotype Sorts"/>
              <a:buChar char="l"/>
            </a:pPr>
            <a:r>
              <a:rPr lang="en-US" sz="2000">
                <a:solidFill>
                  <a:schemeClr val="tx2"/>
                </a:solidFill>
              </a:rPr>
              <a:t>overflow detection </a:t>
            </a:r>
            <a:r>
              <a:rPr lang="en-US" sz="2000"/>
              <a:t>– </a:t>
            </a:r>
            <a:r>
              <a:rPr lang="en-US" sz="2000">
                <a:latin typeface="Courier New" panose="02070309020205020404" pitchFamily="49" charset="0"/>
              </a:rPr>
              <a:t>add, addi, sub</a:t>
            </a:r>
            <a:endParaRPr lang="en-US" sz="2000">
              <a:latin typeface="Courier New" panose="02070309020205020404" pitchFamily="49" charset="0"/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468313" y="6000750"/>
            <a:ext cx="86439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Review Appendix C (from CD or lecture page) for more details on ALU design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4DB8C375-02E8-4519-B0F6-A6C25BEDD8FF}" type="slidenum">
              <a:rPr lang="en-AU" altLang="zh-CN"/>
            </a:fld>
            <a:endParaRPr lang="en-AU" altLang="zh-CN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Arithmetic for Multimedia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dirty="0" smtClean="0">
                <a:ea typeface="宋体" panose="02010600030101010101" pitchFamily="2" charset="-122"/>
              </a:rPr>
              <a:t>Graphics and media processing operates on vectors of 8-bit and 16-bit data</a:t>
            </a:r>
            <a:endParaRPr lang="en-AU" altLang="zh-CN" dirty="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 smtClean="0">
                <a:ea typeface="宋体" panose="02010600030101010101" pitchFamily="2" charset="-122"/>
              </a:rPr>
              <a:t>Use 64-bit adder, with partitioned carry chain</a:t>
            </a:r>
            <a:endParaRPr lang="en-AU" altLang="zh-CN" dirty="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AU" altLang="zh-CN" dirty="0" smtClean="0">
                <a:ea typeface="宋体" panose="02010600030101010101" pitchFamily="2" charset="-122"/>
              </a:rPr>
              <a:t>Operate on 8</a:t>
            </a:r>
            <a:r>
              <a:rPr lang="en-US" dirty="0" smtClean="0">
                <a:cs typeface="Arial" panose="020B0604020202020204" pitchFamily="34" charset="0"/>
              </a:rPr>
              <a:t>×8-bit, 4×16-bit, or 2×32-bit vectors</a:t>
            </a:r>
            <a:endParaRPr lang="en-US" dirty="0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  <a:cs typeface="Arial" panose="020B0604020202020204" pitchFamily="34" charset="0"/>
              </a:rPr>
              <a:t>SIMD (single-instruction, multiple-data)</a:t>
            </a:r>
            <a:endParaRPr lang="en-US" dirty="0" smtClean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eaLnBrk="1" hangingPunct="1"/>
            <a:r>
              <a:rPr lang="en-US" dirty="0" smtClean="0">
                <a:cs typeface="Arial" panose="020B0604020202020204" pitchFamily="34" charset="0"/>
              </a:rPr>
              <a:t>Saturating operations</a:t>
            </a:r>
            <a:endParaRPr lang="en-US" dirty="0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dirty="0" smtClean="0">
                <a:cs typeface="Arial" panose="020B0604020202020204" pitchFamily="34" charset="0"/>
              </a:rPr>
              <a:t>On overflow, result is set to the </a:t>
            </a:r>
            <a:br>
              <a:rPr lang="en-US" dirty="0" smtClean="0">
                <a:cs typeface="Arial" panose="020B0604020202020204" pitchFamily="34" charset="0"/>
              </a:rPr>
            </a:br>
            <a:r>
              <a:rPr lang="en-US" dirty="0" smtClean="0">
                <a:cs typeface="Arial" panose="020B0604020202020204" pitchFamily="34" charset="0"/>
              </a:rPr>
              <a:t>largest representable value</a:t>
            </a:r>
            <a:endParaRPr lang="en-US" dirty="0" smtClean="0">
              <a:cs typeface="Arial" panose="020B0604020202020204" pitchFamily="34" charset="0"/>
            </a:endParaRPr>
          </a:p>
          <a:p>
            <a:pPr lvl="2" eaLnBrk="1" hangingPunct="1"/>
            <a:r>
              <a:rPr lang="en-US" dirty="0" smtClean="0">
                <a:cs typeface="Arial" panose="020B0604020202020204" pitchFamily="34" charset="0"/>
              </a:rPr>
              <a:t>c.f. 2s-complement modulo arithmetic</a:t>
            </a:r>
            <a:endParaRPr lang="en-US" dirty="0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dirty="0" smtClean="0">
                <a:cs typeface="Arial" panose="020B0604020202020204" pitchFamily="34" charset="0"/>
              </a:rPr>
              <a:t>E.g., clipping in audio, saturation in video</a:t>
            </a:r>
            <a:endParaRPr lang="en-US" dirty="0" smtClean="0"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7451725" y="3716338"/>
            <a:ext cx="14097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/>
              <a:t>   10000000</a:t>
            </a:r>
            <a:endParaRPr lang="en-US"/>
          </a:p>
          <a:p>
            <a:r>
              <a:rPr lang="en-US" u="sng"/>
              <a:t>+ 10000000</a:t>
            </a:r>
            <a:endParaRPr lang="en-US" u="sng"/>
          </a:p>
          <a:p>
            <a:r>
              <a:rPr lang="en-US"/>
              <a:t> 100000000</a:t>
            </a:r>
            <a:endParaRPr lang="en-US"/>
          </a:p>
          <a:p>
            <a:endParaRPr lang="en-US"/>
          </a:p>
          <a:p>
            <a:r>
              <a:rPr lang="en-US"/>
              <a:t>    11111111</a:t>
            </a:r>
            <a:endParaRPr lang="en-US"/>
          </a:p>
        </p:txBody>
      </p: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>
            <a:off x="5940425" y="4941888"/>
            <a:ext cx="1727200" cy="714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 flipV="1">
            <a:off x="7092950" y="4456113"/>
            <a:ext cx="358775" cy="9890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EA5DBE4B-EF44-4D62-ABDF-7954BF333B26}" type="slidenum">
              <a:rPr lang="en-AU" altLang="zh-CN"/>
            </a:fld>
            <a:endParaRPr lang="en-AU" altLang="zh-CN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Multiplication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66762"/>
          </a:xfrm>
        </p:spPr>
        <p:txBody>
          <a:bodyPr/>
          <a:lstStyle/>
          <a:p>
            <a:pPr eaLnBrk="1" hangingPunct="1"/>
            <a:r>
              <a:rPr lang="en-US" smtClean="0"/>
              <a:t>Start with long-multiplication approach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pSp>
        <p:nvGrpSpPr>
          <p:cNvPr id="13317" name="Group 4"/>
          <p:cNvGrpSpPr/>
          <p:nvPr/>
        </p:nvGrpSpPr>
        <p:grpSpPr bwMode="auto">
          <a:xfrm>
            <a:off x="1808163" y="2349500"/>
            <a:ext cx="1250950" cy="2225675"/>
            <a:chOff x="703" y="1616"/>
            <a:chExt cx="788" cy="1402"/>
          </a:xfrm>
        </p:grpSpPr>
        <p:sp>
          <p:nvSpPr>
            <p:cNvPr id="13324" name="Text Box 5"/>
            <p:cNvSpPr txBox="1">
              <a:spLocks noChangeArrowheads="1"/>
            </p:cNvSpPr>
            <p:nvPr/>
          </p:nvSpPr>
          <p:spPr bwMode="auto">
            <a:xfrm>
              <a:off x="703" y="1616"/>
              <a:ext cx="788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sz="2000">
                  <a:latin typeface="Lucida Console" panose="020B0609040504020204" pitchFamily="49" charset="0"/>
                </a:rPr>
                <a:t>   1000</a:t>
              </a:r>
              <a:endParaRPr lang="en-US" sz="2000">
                <a:latin typeface="Lucida Console" panose="020B0609040504020204" pitchFamily="49" charset="0"/>
              </a:endParaRPr>
            </a:p>
            <a:p>
              <a:r>
                <a:rPr lang="en-US" sz="2000">
                  <a:latin typeface="Lucida Console" panose="020B0609040504020204" pitchFamily="49" charset="0"/>
                </a:rPr>
                <a:t>×  1001</a:t>
              </a:r>
              <a:endParaRPr lang="en-US" sz="2000">
                <a:latin typeface="Lucida Console" panose="020B0609040504020204" pitchFamily="49" charset="0"/>
              </a:endParaRPr>
            </a:p>
            <a:p>
              <a:r>
                <a:rPr lang="en-US" sz="2000">
                  <a:latin typeface="Lucida Console" panose="020B0609040504020204" pitchFamily="49" charset="0"/>
                </a:rPr>
                <a:t>   1000</a:t>
              </a:r>
              <a:endParaRPr lang="en-US" sz="2000">
                <a:latin typeface="Lucida Console" panose="020B0609040504020204" pitchFamily="49" charset="0"/>
              </a:endParaRPr>
            </a:p>
            <a:p>
              <a:r>
                <a:rPr lang="en-US" sz="2000">
                  <a:latin typeface="Lucida Console" panose="020B0609040504020204" pitchFamily="49" charset="0"/>
                </a:rPr>
                <a:t>  0000 </a:t>
              </a:r>
              <a:endParaRPr lang="en-US" sz="2000">
                <a:latin typeface="Lucida Console" panose="020B0609040504020204" pitchFamily="49" charset="0"/>
              </a:endParaRPr>
            </a:p>
            <a:p>
              <a:r>
                <a:rPr lang="en-US" sz="2000">
                  <a:latin typeface="Lucida Console" panose="020B0609040504020204" pitchFamily="49" charset="0"/>
                </a:rPr>
                <a:t> 0000  </a:t>
              </a:r>
              <a:endParaRPr lang="en-US" sz="2000">
                <a:latin typeface="Lucida Console" panose="020B0609040504020204" pitchFamily="49" charset="0"/>
              </a:endParaRPr>
            </a:p>
            <a:p>
              <a:r>
                <a:rPr lang="en-US" sz="2000">
                  <a:latin typeface="Lucida Console" panose="020B0609040504020204" pitchFamily="49" charset="0"/>
                </a:rPr>
                <a:t>1000   </a:t>
              </a:r>
              <a:endParaRPr lang="en-US" sz="2000">
                <a:latin typeface="Lucida Console" panose="020B0609040504020204" pitchFamily="49" charset="0"/>
              </a:endParaRPr>
            </a:p>
            <a:p>
              <a:r>
                <a:rPr lang="en-US" sz="2000">
                  <a:latin typeface="Lucida Console" panose="020B0609040504020204" pitchFamily="49" charset="0"/>
                </a:rPr>
                <a:t>1001000</a:t>
              </a:r>
              <a:endParaRPr lang="en-AU" altLang="zh-CN" sz="2000">
                <a:latin typeface="Lucida Console" panose="020B060904050402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13325" name="Line 6"/>
            <p:cNvSpPr>
              <a:spLocks noChangeShapeType="1"/>
            </p:cNvSpPr>
            <p:nvPr/>
          </p:nvSpPr>
          <p:spPr bwMode="auto">
            <a:xfrm flipH="1">
              <a:off x="703" y="2024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" name="Line 7"/>
            <p:cNvSpPr>
              <a:spLocks noChangeShapeType="1"/>
            </p:cNvSpPr>
            <p:nvPr/>
          </p:nvSpPr>
          <p:spPr bwMode="auto">
            <a:xfrm flipH="1">
              <a:off x="703" y="2795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18" name="Text Box 9"/>
          <p:cNvSpPr txBox="1">
            <a:spLocks noChangeArrowheads="1"/>
          </p:cNvSpPr>
          <p:nvPr/>
        </p:nvSpPr>
        <p:spPr bwMode="auto">
          <a:xfrm>
            <a:off x="682625" y="4803775"/>
            <a:ext cx="2305050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/>
              <a:t>Length of product is the sum of operand lengths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13319" name="AutoShape 10"/>
          <p:cNvSpPr/>
          <p:nvPr/>
        </p:nvSpPr>
        <p:spPr bwMode="auto">
          <a:xfrm>
            <a:off x="179388" y="2090738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121634"/>
              <a:gd name="adj4" fmla="val 144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/>
              <a:t>multiplicand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13320" name="AutoShape 11"/>
          <p:cNvSpPr/>
          <p:nvPr/>
        </p:nvSpPr>
        <p:spPr bwMode="auto">
          <a:xfrm>
            <a:off x="179388" y="2565400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69231"/>
              <a:gd name="adj4" fmla="val 146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/>
              <a:t>multiplier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13321" name="AutoShape 12"/>
          <p:cNvSpPr/>
          <p:nvPr/>
        </p:nvSpPr>
        <p:spPr bwMode="auto">
          <a:xfrm>
            <a:off x="179388" y="4149725"/>
            <a:ext cx="1150937" cy="358775"/>
          </a:xfrm>
          <a:prstGeom prst="borderCallout1">
            <a:avLst>
              <a:gd name="adj1" fmla="val 31856"/>
              <a:gd name="adj2" fmla="val 106620"/>
              <a:gd name="adj3" fmla="val 58407"/>
              <a:gd name="adj4" fmla="val 1445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/>
              <a:t>product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13322" name="Text Box 14"/>
          <p:cNvSpPr txBox="1">
            <a:spLocks noChangeArrowheads="1"/>
          </p:cNvSpPr>
          <p:nvPr/>
        </p:nvSpPr>
        <p:spPr bwMode="auto">
          <a:xfrm rot="5400000">
            <a:off x="7954169" y="823119"/>
            <a:ext cx="2012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§3.3 Multiplication</a:t>
            </a:r>
            <a:endParaRPr lang="en-US">
              <a:solidFill>
                <a:schemeClr val="folHlink"/>
              </a:solidFill>
            </a:endParaRPr>
          </a:p>
        </p:txBody>
      </p:sp>
      <p:pic>
        <p:nvPicPr>
          <p:cNvPr id="13323" name="Picture 15" descr="f03-04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2133600"/>
            <a:ext cx="5326063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 animBg="1"/>
      <p:bldP spid="13319" grpId="0" animBg="1"/>
      <p:bldP spid="13320" grpId="0" animBg="1"/>
      <p:bldP spid="133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1A27EDBB-F915-4211-8B75-CCC7D86E7AFA}" type="slidenum">
              <a:rPr lang="en-AU" altLang="zh-CN"/>
            </a:fld>
            <a:endParaRPr lang="en-AU" altLang="zh-CN"/>
          </a:p>
        </p:txBody>
      </p:sp>
      <p:pic>
        <p:nvPicPr>
          <p:cNvPr id="14339" name="Picture 9" descr="f03-05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" y="1500188"/>
            <a:ext cx="3436937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Multiplication Hardware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4341" name="AutoShape 5"/>
          <p:cNvSpPr/>
          <p:nvPr/>
        </p:nvSpPr>
        <p:spPr bwMode="auto">
          <a:xfrm>
            <a:off x="6156325" y="5589588"/>
            <a:ext cx="1439863" cy="330200"/>
          </a:xfrm>
          <a:prstGeom prst="borderCallout1">
            <a:avLst>
              <a:gd name="adj1" fmla="val 34616"/>
              <a:gd name="adj2" fmla="val -5292"/>
              <a:gd name="adj3" fmla="val -167787"/>
              <a:gd name="adj4" fmla="val -403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>
                <a:latin typeface="Tahoma" panose="020B0604030504040204" pitchFamily="34" charset="0"/>
              </a:rPr>
              <a:t>Initially 0</a:t>
            </a:r>
            <a:endParaRPr lang="en-AU" altLang="zh-CN" sz="16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14342" name="Picture 8" descr="f03-04-P3744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0" y="2133600"/>
            <a:ext cx="5326063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TextBox 6"/>
          <p:cNvSpPr txBox="1">
            <a:spLocks noChangeArrowheads="1"/>
          </p:cNvSpPr>
          <p:nvPr/>
        </p:nvSpPr>
        <p:spPr bwMode="auto">
          <a:xfrm>
            <a:off x="4286250" y="1143000"/>
            <a:ext cx="48593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>
                <a:solidFill>
                  <a:srgbClr val="FF0000"/>
                </a:solidFill>
              </a:rPr>
              <a:t>Sequential Implementation</a:t>
            </a:r>
            <a:endParaRPr lang="en-US" b="1">
              <a:solidFill>
                <a:srgbClr val="FF0000"/>
              </a:solidFill>
            </a:endParaRPr>
          </a:p>
          <a:p>
            <a:r>
              <a:rPr lang="en-US" b="1"/>
              <a:t>~100 cycles for multiplying 2 32-bit values </a:t>
            </a: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457200" y="457200"/>
            <a:ext cx="72831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the recurrence formula </a:t>
            </a:r>
            <a:r>
              <a:rPr lang="en-US" altLang="zh-CN" sz="2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for 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product</a:t>
            </a:r>
            <a:endParaRPr lang="zh-CN" altLang="en-US" sz="2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683568" y="1177688"/>
            <a:ext cx="8087816" cy="505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let </a:t>
            </a:r>
            <a:r>
              <a:rPr lang="en-US" altLang="zh-CN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z</a:t>
            </a:r>
            <a:r>
              <a:rPr lang="en-US" altLang="zh-CN" baseline="-25000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baseline="-250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denotes the </a:t>
            </a:r>
            <a:r>
              <a:rPr lang="en-US" altLang="zh-CN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ith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product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we could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get 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the recurrence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formula 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75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= 0,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  z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= 2</a:t>
            </a:r>
            <a:r>
              <a:rPr lang="en-US" altLang="zh-CN" baseline="30000" dirty="0">
                <a:solidFill>
                  <a:srgbClr val="000000"/>
                </a:solidFill>
                <a:latin typeface="宋体" panose="02010600030101010101" pitchFamily="2" charset="-122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(y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x+z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  z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= 2</a:t>
            </a:r>
            <a:r>
              <a:rPr lang="en-US" altLang="zh-CN" baseline="30000" dirty="0">
                <a:solidFill>
                  <a:srgbClr val="000000"/>
                </a:solidFill>
                <a:latin typeface="宋体" panose="02010600030101010101" pitchFamily="2" charset="-122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(y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n-1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x+z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  ┊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</a:rPr>
              <a:t>z</a:t>
            </a:r>
            <a:r>
              <a:rPr lang="en-US" altLang="zh-CN" baseline="-25000" dirty="0" err="1">
                <a:solidFill>
                  <a:srgbClr val="000000"/>
                </a:solidFill>
                <a:latin typeface="宋体" panose="02010600030101010101" pitchFamily="2" charset="-122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= 2</a:t>
            </a:r>
            <a:r>
              <a:rPr lang="en-US" altLang="zh-CN" baseline="30000" dirty="0">
                <a:solidFill>
                  <a:srgbClr val="000000"/>
                </a:solidFill>
                <a:latin typeface="宋体" panose="02010600030101010101" pitchFamily="2" charset="-122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(y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n-i+1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x+z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i-1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  ┊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45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</a:rPr>
              <a:t>z</a:t>
            </a:r>
            <a:r>
              <a:rPr lang="en-US" altLang="zh-CN" baseline="-25000" dirty="0" err="1">
                <a:solidFill>
                  <a:srgbClr val="000000"/>
                </a:solidFill>
                <a:latin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</a:t>
            </a:r>
            <a:r>
              <a:rPr lang="en-US" altLang="zh-CN" dirty="0" err="1">
                <a:solidFill>
                  <a:srgbClr val="000000"/>
                </a:solidFill>
                <a:latin typeface="宋体" panose="02010600030101010101" pitchFamily="2" charset="-122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= 2</a:t>
            </a:r>
            <a:r>
              <a:rPr lang="en-US" altLang="zh-CN" baseline="30000" dirty="0">
                <a:solidFill>
                  <a:srgbClr val="000000"/>
                </a:solidFill>
                <a:latin typeface="宋体" panose="02010600030101010101" pitchFamily="2" charset="-122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(y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x+ z</a:t>
            </a:r>
            <a:r>
              <a:rPr lang="en-US" altLang="zh-CN" baseline="-25000" dirty="0">
                <a:solidFill>
                  <a:srgbClr val="000000"/>
                </a:solidFill>
                <a:latin typeface="宋体" panose="02010600030101010101" pitchFamily="2" charset="-122"/>
              </a:rPr>
              <a:t>n-1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特点：</a:t>
            </a:r>
            <a:r>
              <a:rPr lang="zh-CN" altLang="en-US" dirty="0">
                <a:solidFill>
                  <a:srgbClr val="3333FF"/>
                </a:solidFill>
                <a:latin typeface="宋体" panose="02010600030101010101" pitchFamily="2" charset="-122"/>
              </a:rPr>
              <a:t>每次只需要相加两个数，然后右移一位。且相加的两个数（部分积和位积）都只有</a:t>
            </a:r>
            <a:r>
              <a:rPr lang="en-US" altLang="zh-CN" dirty="0">
                <a:solidFill>
                  <a:srgbClr val="3333FF"/>
                </a:solidFill>
                <a:latin typeface="宋体" panose="02010600030101010101" pitchFamily="2" charset="-122"/>
              </a:rPr>
              <a:t>n</a:t>
            </a:r>
            <a:r>
              <a:rPr lang="zh-CN" altLang="en-US" dirty="0">
                <a:solidFill>
                  <a:srgbClr val="3333FF"/>
                </a:solidFill>
                <a:latin typeface="宋体" panose="02010600030101010101" pitchFamily="2" charset="-122"/>
              </a:rPr>
              <a:t>位，因而不需要</a:t>
            </a:r>
            <a:r>
              <a:rPr lang="en-US" altLang="zh-CN" dirty="0">
                <a:solidFill>
                  <a:srgbClr val="3333FF"/>
                </a:solidFill>
                <a:latin typeface="宋体" panose="02010600030101010101" pitchFamily="2" charset="-122"/>
              </a:rPr>
              <a:t>2n</a:t>
            </a:r>
            <a:r>
              <a:rPr lang="zh-CN" altLang="en-US" dirty="0">
                <a:solidFill>
                  <a:srgbClr val="3333FF"/>
                </a:solidFill>
                <a:latin typeface="宋体" panose="02010600030101010101" pitchFamily="2" charset="-122"/>
              </a:rPr>
              <a:t>位的加法器。</a:t>
            </a:r>
            <a:endParaRPr lang="zh-CN" altLang="en-US" dirty="0">
              <a:solidFill>
                <a:srgbClr val="3333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755576" y="1157667"/>
            <a:ext cx="8686800" cy="1951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0000FF"/>
                </a:solidFill>
                <a:latin typeface="宋体" panose="02010600030101010101" pitchFamily="2" charset="-122"/>
              </a:rPr>
              <a:t>Let</a:t>
            </a: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dirty="0" err="1" smtClean="0">
                <a:solidFill>
                  <a:srgbClr val="0000FF"/>
                </a:solidFill>
                <a:latin typeface="宋体" panose="02010600030101010101" pitchFamily="2" charset="-122"/>
              </a:rPr>
              <a:t>x,y</a:t>
            </a:r>
            <a:r>
              <a:rPr lang="en-US" altLang="zh-CN" dirty="0" smtClean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</a:rPr>
              <a:t>are fractional </a:t>
            </a:r>
            <a:r>
              <a:rPr lang="en-US" altLang="zh-CN" dirty="0" smtClean="0">
                <a:solidFill>
                  <a:srgbClr val="0000FF"/>
                </a:solidFill>
                <a:latin typeface="宋体" panose="02010600030101010101" pitchFamily="2" charset="-122"/>
              </a:rPr>
              <a:t>fixed-point both x and y less then 1.</a:t>
            </a:r>
            <a:endParaRPr lang="zh-CN" altLang="en-US" sz="280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x=0.x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......</a:t>
            </a:r>
            <a:r>
              <a:rPr lang="en-US" altLang="zh-CN" sz="2800" dirty="0" err="1">
                <a:solidFill>
                  <a:srgbClr val="FF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800" baseline="-25000" dirty="0" err="1">
                <a:solidFill>
                  <a:srgbClr val="FF0000"/>
                </a:solidFill>
                <a:latin typeface="宋体" panose="02010600030101010101" pitchFamily="2" charset="-122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 &lt;1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   y=0.y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y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......</a:t>
            </a:r>
            <a:r>
              <a:rPr lang="en-US" altLang="zh-CN" sz="2800" dirty="0" err="1">
                <a:solidFill>
                  <a:srgbClr val="FF0000"/>
                </a:solidFill>
                <a:latin typeface="宋体" panose="02010600030101010101" pitchFamily="2" charset="-122"/>
              </a:rPr>
              <a:t>y</a:t>
            </a:r>
            <a:r>
              <a:rPr lang="en-US" altLang="zh-CN" sz="2800" baseline="-25000" dirty="0" err="1">
                <a:solidFill>
                  <a:srgbClr val="FF0000"/>
                </a:solidFill>
                <a:latin typeface="宋体" panose="02010600030101010101" pitchFamily="2" charset="-122"/>
              </a:rPr>
              <a:t>n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 &lt;1 </a:t>
            </a:r>
            <a:endParaRPr lang="en-US" altLang="zh-CN" sz="2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8611" name="Text Box 4"/>
          <p:cNvSpPr txBox="1">
            <a:spLocks noChangeArrowheads="1"/>
          </p:cNvSpPr>
          <p:nvPr/>
        </p:nvSpPr>
        <p:spPr bwMode="auto">
          <a:xfrm>
            <a:off x="457200" y="3089767"/>
            <a:ext cx="86868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  <a:latin typeface="宋体" panose="02010600030101010101" pitchFamily="2" charset="-122"/>
              </a:rPr>
              <a:t>The </a:t>
            </a:r>
            <a:r>
              <a:rPr lang="en-US" altLang="zh-CN" dirty="0" smtClean="0">
                <a:solidFill>
                  <a:srgbClr val="0000FF"/>
                </a:solidFill>
                <a:latin typeface="宋体" panose="02010600030101010101" pitchFamily="2" charset="-122"/>
              </a:rPr>
              <a:t>product of x and y is </a:t>
            </a: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dirty="0" err="1">
                <a:latin typeface="宋体" panose="02010600030101010101" pitchFamily="2" charset="-122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</a:rPr>
              <a:t>·</a:t>
            </a:r>
            <a:r>
              <a:rPr lang="en-US" altLang="zh-CN" sz="2800" dirty="0" err="1">
                <a:latin typeface="宋体" panose="02010600030101010101" pitchFamily="2" charset="-122"/>
              </a:rPr>
              <a:t>y</a:t>
            </a:r>
            <a:r>
              <a:rPr lang="en-US" altLang="zh-CN" sz="2800" dirty="0">
                <a:latin typeface="宋体" panose="02010600030101010101" pitchFamily="2" charset="-122"/>
              </a:rPr>
              <a:t>=x(0.y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latin typeface="宋体" panose="02010600030101010101" pitchFamily="2" charset="-122"/>
              </a:rPr>
              <a:t>y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2</a:t>
            </a:r>
            <a:r>
              <a:rPr lang="en-US" altLang="zh-CN" sz="2800" dirty="0">
                <a:latin typeface="宋体" panose="02010600030101010101" pitchFamily="2" charset="-122"/>
              </a:rPr>
              <a:t>......</a:t>
            </a:r>
            <a:r>
              <a:rPr lang="en-US" altLang="zh-CN" sz="2800" dirty="0" err="1">
                <a:latin typeface="宋体" panose="02010600030101010101" pitchFamily="2" charset="-122"/>
              </a:rPr>
              <a:t>y</a:t>
            </a:r>
            <a:r>
              <a:rPr lang="en-US" altLang="zh-CN" sz="2800" baseline="-25000" dirty="0" err="1">
                <a:latin typeface="宋体" panose="02010600030101010101" pitchFamily="2" charset="-122"/>
              </a:rPr>
              <a:t>n</a:t>
            </a:r>
            <a:r>
              <a:rPr lang="en-US" altLang="zh-CN" sz="2800" dirty="0">
                <a:latin typeface="宋体" panose="02010600030101010101" pitchFamily="2" charset="-122"/>
              </a:rPr>
              <a:t> )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宋体" panose="02010600030101010101" pitchFamily="2" charset="-122"/>
              </a:rPr>
              <a:t>  =x(y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en-US" altLang="zh-CN" sz="2800" baseline="30000" dirty="0">
                <a:latin typeface="宋体" panose="02010600030101010101" pitchFamily="2" charset="-122"/>
              </a:rPr>
              <a:t>-1 </a:t>
            </a:r>
            <a:r>
              <a:rPr lang="en-US" altLang="zh-CN" sz="2800" dirty="0">
                <a:latin typeface="宋体" panose="02010600030101010101" pitchFamily="2" charset="-122"/>
              </a:rPr>
              <a:t>+y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2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en-US" altLang="zh-CN" sz="2800" baseline="30000" dirty="0">
                <a:latin typeface="宋体" panose="02010600030101010101" pitchFamily="2" charset="-122"/>
              </a:rPr>
              <a:t>-2 </a:t>
            </a:r>
            <a:r>
              <a:rPr lang="en-US" altLang="zh-CN" sz="2800" dirty="0">
                <a:latin typeface="宋体" panose="02010600030101010101" pitchFamily="2" charset="-122"/>
              </a:rPr>
              <a:t>+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宋体" panose="02010600030101010101" pitchFamily="2" charset="-122"/>
              </a:rPr>
              <a:t>+ y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n</a:t>
            </a:r>
            <a:r>
              <a:rPr lang="en-US" altLang="zh-CN" sz="2800" dirty="0">
                <a:latin typeface="宋体" panose="02010600030101010101" pitchFamily="2" charset="-122"/>
              </a:rPr>
              <a:t>2</a:t>
            </a:r>
            <a:r>
              <a:rPr lang="en-US" altLang="zh-CN" sz="2800" baseline="30000" dirty="0">
                <a:latin typeface="宋体" panose="02010600030101010101" pitchFamily="2" charset="-122"/>
              </a:rPr>
              <a:t>-n 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宋体" panose="02010600030101010101" pitchFamily="2" charset="-122"/>
              </a:rPr>
              <a:t>  = 2</a:t>
            </a:r>
            <a:r>
              <a:rPr lang="en-US" altLang="zh-CN" sz="2800" baseline="30000" dirty="0">
                <a:latin typeface="宋体" panose="02010600030101010101" pitchFamily="2" charset="-122"/>
              </a:rPr>
              <a:t>-1</a:t>
            </a:r>
            <a:r>
              <a:rPr lang="en-US" altLang="zh-CN" sz="2800" dirty="0">
                <a:latin typeface="宋体" panose="02010600030101010101" pitchFamily="2" charset="-122"/>
              </a:rPr>
              <a:t>(y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latin typeface="宋体" panose="02010600030101010101" pitchFamily="2" charset="-122"/>
              </a:rPr>
              <a:t>x+2</a:t>
            </a:r>
            <a:r>
              <a:rPr lang="en-US" altLang="zh-CN" sz="2800" baseline="30000" dirty="0">
                <a:latin typeface="宋体" panose="02010600030101010101" pitchFamily="2" charset="-122"/>
              </a:rPr>
              <a:t>-1</a:t>
            </a:r>
            <a:r>
              <a:rPr lang="en-US" altLang="zh-CN" sz="2800" dirty="0">
                <a:latin typeface="宋体" panose="02010600030101010101" pitchFamily="2" charset="-122"/>
              </a:rPr>
              <a:t>(y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2</a:t>
            </a:r>
            <a:r>
              <a:rPr lang="en-US" altLang="zh-CN" sz="2800" dirty="0">
                <a:latin typeface="宋体" panose="02010600030101010101" pitchFamily="2" charset="-122"/>
              </a:rPr>
              <a:t>x+2</a:t>
            </a:r>
            <a:r>
              <a:rPr lang="en-US" altLang="zh-CN" sz="2800" baseline="30000" dirty="0">
                <a:latin typeface="宋体" panose="02010600030101010101" pitchFamily="2" charset="-122"/>
              </a:rPr>
              <a:t>-1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宋体" panose="02010600030101010101" pitchFamily="2" charset="-122"/>
              </a:rPr>
              <a:t>+2</a:t>
            </a:r>
            <a:r>
              <a:rPr lang="en-US" altLang="zh-CN" sz="2800" baseline="30000" dirty="0">
                <a:latin typeface="宋体" panose="02010600030101010101" pitchFamily="2" charset="-122"/>
              </a:rPr>
              <a:t>-1</a:t>
            </a:r>
            <a:r>
              <a:rPr lang="en-US" altLang="zh-CN" sz="2800" dirty="0">
                <a:latin typeface="宋体" panose="02010600030101010101" pitchFamily="2" charset="-122"/>
              </a:rPr>
              <a:t>(y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n-1</a:t>
            </a:r>
            <a:r>
              <a:rPr lang="en-US" altLang="zh-CN" sz="2800" dirty="0">
                <a:latin typeface="宋体" panose="02010600030101010101" pitchFamily="2" charset="-122"/>
              </a:rPr>
              <a:t>x+2</a:t>
            </a:r>
            <a:r>
              <a:rPr lang="en-US" altLang="zh-CN" sz="2800" baseline="30000" dirty="0">
                <a:latin typeface="宋体" panose="02010600030101010101" pitchFamily="2" charset="-122"/>
              </a:rPr>
              <a:t>-1</a:t>
            </a:r>
            <a:r>
              <a:rPr lang="en-US" altLang="zh-CN" sz="2800" dirty="0">
                <a:latin typeface="宋体" panose="02010600030101010101" pitchFamily="2" charset="-122"/>
              </a:rPr>
              <a:t>(y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n</a:t>
            </a:r>
            <a:r>
              <a:rPr lang="en-US" altLang="zh-CN" sz="2800" dirty="0">
                <a:latin typeface="宋体" panose="02010600030101010101" pitchFamily="2" charset="-122"/>
              </a:rPr>
              <a:t>x+0))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宋体" panose="02010600030101010101" pitchFamily="2" charset="-122"/>
              </a:rPr>
              <a:t>)))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853D79E8-1F8B-475E-8EEF-7A97DAB2B68F}" type="slidenum">
              <a:rPr lang="en-AU" altLang="zh-CN"/>
            </a:fld>
            <a:endParaRPr lang="en-AU" altLang="zh-CN"/>
          </a:p>
        </p:txBody>
      </p:sp>
      <p:pic>
        <p:nvPicPr>
          <p:cNvPr id="15363" name="Picture 9" descr="f03-06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89138"/>
            <a:ext cx="5340350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Optimized Multiplier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5365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719137"/>
          </a:xfrm>
        </p:spPr>
        <p:txBody>
          <a:bodyPr/>
          <a:lstStyle/>
          <a:p>
            <a:pPr eaLnBrk="1" hangingPunct="1"/>
            <a:r>
              <a:rPr lang="en-US" smtClean="0"/>
              <a:t>Perform steps in parallel: add/shift</a:t>
            </a:r>
            <a:endParaRPr lang="en-US" smtClean="0"/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684213" y="5013325"/>
            <a:ext cx="8270875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3200"/>
              <a:t>One cycle per partial-product addition</a:t>
            </a:r>
            <a:endParaRPr lang="en-US" sz="320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400"/>
              <a:t>That’s ok, if frequency of multiplications is low</a:t>
            </a:r>
            <a:endParaRPr lang="en-US" sz="240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400">
                <a:solidFill>
                  <a:srgbClr val="FF0000"/>
                </a:solidFill>
              </a:rPr>
              <a:t>~32 cycles for multiplying 2 32-bit values </a:t>
            </a:r>
            <a:endParaRPr lang="en-AU" altLang="zh-CN" sz="24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AutoShape 5"/>
          <p:cNvSpPr/>
          <p:nvPr/>
        </p:nvSpPr>
        <p:spPr bwMode="auto">
          <a:xfrm>
            <a:off x="6000750" y="2071688"/>
            <a:ext cx="1439863" cy="571500"/>
          </a:xfrm>
          <a:prstGeom prst="borderCallout1">
            <a:avLst>
              <a:gd name="adj1" fmla="val 34616"/>
              <a:gd name="adj2" fmla="val -5292"/>
              <a:gd name="adj3" fmla="val 297880"/>
              <a:gd name="adj4" fmla="val -10764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>
                <a:latin typeface="Tahoma" panose="020B0604030504040204" pitchFamily="34" charset="0"/>
              </a:rPr>
              <a:t>multiplier in right half</a:t>
            </a:r>
            <a:endParaRPr lang="en-AU" altLang="zh-CN" sz="16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1079500" y="1354138"/>
            <a:ext cx="1409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部分积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3606800" y="1279525"/>
            <a:ext cx="1409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乘数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5219700" y="1304925"/>
            <a:ext cx="1409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说明</a:t>
            </a:r>
            <a:endParaRPr lang="zh-CN" altLang="en-US" sz="2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736600" y="5699125"/>
            <a:ext cx="420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最后结果 ：   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y=0.10001111</a:t>
            </a:r>
            <a:endParaRPr lang="en-US" altLang="zh-CN" sz="200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1686" name="Text Box 7"/>
          <p:cNvSpPr txBox="1">
            <a:spLocks noChangeArrowheads="1"/>
          </p:cNvSpPr>
          <p:nvPr/>
        </p:nvSpPr>
        <p:spPr bwMode="auto">
          <a:xfrm>
            <a:off x="533400" y="1762125"/>
            <a:ext cx="8115300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0 0.0 0 0 0                   </a:t>
            </a:r>
            <a:r>
              <a:rPr lang="en-US" altLang="zh-CN" sz="2000">
                <a:latin typeface="Times New Roman" panose="02020603050405020304" pitchFamily="18" charset="0"/>
              </a:rPr>
              <a:t>y</a:t>
            </a:r>
            <a:r>
              <a:rPr lang="en-US" altLang="zh-CN" sz="2000" baseline="-25000">
                <a:latin typeface="Times New Roman" panose="02020603050405020304" pitchFamily="18" charset="0"/>
              </a:rPr>
              <a:t>f       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1 0 1 1</a:t>
            </a:r>
            <a:r>
              <a:rPr lang="en-US" altLang="zh-CN" sz="2000" baseline="-25000">
                <a:latin typeface="Times New Roman" panose="02020603050405020304" pitchFamily="18" charset="0"/>
              </a:rPr>
              <a:t>                </a:t>
            </a:r>
            <a:r>
              <a:rPr lang="en-US" altLang="zh-CN" sz="2000">
                <a:latin typeface="Times New Roman" panose="02020603050405020304" pitchFamily="18" charset="0"/>
              </a:rPr>
              <a:t>z</a:t>
            </a:r>
            <a:r>
              <a:rPr lang="en-US" altLang="zh-CN" sz="2000" baseline="-25000">
                <a:latin typeface="Times New Roman" panose="02020603050405020304" pitchFamily="18" charset="0"/>
              </a:rPr>
              <a:t>0</a:t>
            </a:r>
            <a:r>
              <a:rPr lang="en-US" altLang="zh-CN" sz="2000">
                <a:latin typeface="Times New Roman" panose="02020603050405020304" pitchFamily="18" charset="0"/>
              </a:rPr>
              <a:t>=0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+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   0 0.1 1 0 1                                                  </a:t>
            </a:r>
            <a:r>
              <a:rPr lang="en-US" altLang="zh-CN" sz="2000">
                <a:latin typeface="Times New Roman" panose="02020603050405020304" pitchFamily="18" charset="0"/>
              </a:rPr>
              <a:t>y</a:t>
            </a:r>
            <a:r>
              <a:rPr lang="en-US" altLang="zh-CN" sz="2000" baseline="-25000"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latin typeface="Times New Roman" panose="02020603050405020304" pitchFamily="18" charset="0"/>
              </a:rPr>
              <a:t>=1,  +x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      0 0.1 1 0 1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</a:rPr>
              <a:t>0 0.0 1 1 0                   1</a:t>
            </a:r>
            <a:r>
              <a:rPr lang="en-US" altLang="zh-CN" sz="2000">
                <a:latin typeface="Times New Roman" panose="02020603050405020304" pitchFamily="18" charset="0"/>
              </a:rPr>
              <a:t>   y</a:t>
            </a:r>
            <a:r>
              <a:rPr lang="en-US" altLang="zh-CN" sz="2000" baseline="-25000">
                <a:latin typeface="Times New Roman" panose="02020603050405020304" pitchFamily="18" charset="0"/>
              </a:rPr>
              <a:t>f    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1 0 1           </a:t>
            </a:r>
            <a:r>
              <a:rPr lang="zh-CN" altLang="en-US" sz="2000">
                <a:latin typeface="Times New Roman" panose="02020603050405020304" pitchFamily="18" charset="0"/>
              </a:rPr>
              <a:t>右移，得</a:t>
            </a:r>
            <a:r>
              <a:rPr lang="en-US" altLang="zh-CN" sz="2000">
                <a:latin typeface="Times New Roman" panose="02020603050405020304" pitchFamily="18" charset="0"/>
              </a:rPr>
              <a:t>z</a:t>
            </a:r>
            <a:r>
              <a:rPr lang="en-US" altLang="zh-CN" sz="2000" baseline="-25000">
                <a:latin typeface="Times New Roman" panose="02020603050405020304" pitchFamily="18" charset="0"/>
              </a:rPr>
              <a:t>1</a:t>
            </a:r>
            <a:endParaRPr lang="en-US" altLang="zh-CN" sz="20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 +   0 0.1 1 0 1                                                  </a:t>
            </a:r>
            <a:r>
              <a:rPr lang="en-US" altLang="zh-CN" sz="2000">
                <a:latin typeface="Times New Roman" panose="02020603050405020304" pitchFamily="18" charset="0"/>
              </a:rPr>
              <a:t>y</a:t>
            </a:r>
            <a:r>
              <a:rPr lang="en-US" altLang="zh-CN" sz="2000" baseline="-25000">
                <a:latin typeface="Times New Roman" panose="02020603050405020304" pitchFamily="18" charset="0"/>
              </a:rPr>
              <a:t>3</a:t>
            </a:r>
            <a:r>
              <a:rPr lang="en-US" altLang="zh-CN" sz="2000">
                <a:latin typeface="Times New Roman" panose="02020603050405020304" pitchFamily="18" charset="0"/>
              </a:rPr>
              <a:t>=1,   +x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000">
                <a:latin typeface="Times New Roman" panose="02020603050405020304" pitchFamily="18" charset="0"/>
              </a:rPr>
              <a:t>0 1.0 0 1 1 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</a:rPr>
              <a:t>  0 0.1 0 0 1                   1 1</a:t>
            </a:r>
            <a:r>
              <a:rPr lang="en-US" altLang="zh-CN" sz="2000">
                <a:latin typeface="Times New Roman" panose="02020603050405020304" pitchFamily="18" charset="0"/>
              </a:rPr>
              <a:t>  y</a:t>
            </a:r>
            <a:r>
              <a:rPr lang="en-US" altLang="zh-CN" sz="2000" baseline="-25000">
                <a:latin typeface="Times New Roman" panose="02020603050405020304" pitchFamily="18" charset="0"/>
              </a:rPr>
              <a:t>f  </a:t>
            </a:r>
            <a:r>
              <a:rPr lang="en-US" altLang="zh-CN" sz="2000">
                <a:latin typeface="Times New Roman" panose="02020603050405020304" pitchFamily="18" charset="0"/>
              </a:rPr>
              <a:t>   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1 0           </a:t>
            </a:r>
            <a:r>
              <a:rPr lang="zh-CN" altLang="en-US" sz="2000">
                <a:latin typeface="Times New Roman" panose="02020603050405020304" pitchFamily="18" charset="0"/>
              </a:rPr>
              <a:t>右移，得</a:t>
            </a:r>
            <a:r>
              <a:rPr lang="en-US" altLang="zh-CN" sz="2000">
                <a:latin typeface="Times New Roman" panose="02020603050405020304" pitchFamily="18" charset="0"/>
              </a:rPr>
              <a:t>z</a:t>
            </a:r>
            <a:r>
              <a:rPr lang="en-US" altLang="zh-CN" sz="2000" baseline="-25000">
                <a:latin typeface="Times New Roman" panose="02020603050405020304" pitchFamily="18" charset="0"/>
              </a:rPr>
              <a:t>2</a:t>
            </a:r>
            <a:endParaRPr lang="en-US" altLang="zh-CN" sz="20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 +   0 0.0 0 0 0                                                  </a:t>
            </a:r>
            <a:r>
              <a:rPr lang="en-US" altLang="zh-CN" sz="2000">
                <a:latin typeface="Times New Roman" panose="02020603050405020304" pitchFamily="18" charset="0"/>
              </a:rPr>
              <a:t>y</a:t>
            </a:r>
            <a:r>
              <a:rPr lang="en-US" altLang="zh-CN" sz="2000" baseline="-25000"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latin typeface="Times New Roman" panose="02020603050405020304" pitchFamily="18" charset="0"/>
              </a:rPr>
              <a:t>=0,   +0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sz="2000">
                <a:solidFill>
                  <a:schemeClr val="tx2"/>
                </a:solidFill>
                <a:latin typeface="Times New Roman" panose="02020603050405020304" pitchFamily="18" charset="0"/>
              </a:rPr>
              <a:t>0 0.1 0 0 1</a:t>
            </a:r>
            <a:endParaRPr lang="en-US" altLang="zh-CN" sz="200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  <a:buFont typeface="Symbol" panose="05050102010706020507" pitchFamily="18" charset="2"/>
              <a:buChar char="®"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</a:rPr>
              <a:t>  0 0.0 1 0 0                   1 1 1</a:t>
            </a:r>
            <a:r>
              <a:rPr lang="en-US" altLang="zh-CN" sz="2000">
                <a:latin typeface="Times New Roman" panose="02020603050405020304" pitchFamily="18" charset="0"/>
              </a:rPr>
              <a:t>  y</a:t>
            </a:r>
            <a:r>
              <a:rPr lang="en-US" altLang="zh-CN" sz="2000" baseline="-25000">
                <a:latin typeface="Times New Roman" panose="02020603050405020304" pitchFamily="18" charset="0"/>
              </a:rPr>
              <a:t>f       </a:t>
            </a:r>
            <a:r>
              <a:rPr lang="en-US" altLang="zh-CN" sz="2000" baseline="-25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1           </a:t>
            </a:r>
            <a:r>
              <a:rPr lang="zh-CN" altLang="en-US" sz="2000">
                <a:latin typeface="Times New Roman" panose="02020603050405020304" pitchFamily="18" charset="0"/>
              </a:rPr>
              <a:t>右移，得</a:t>
            </a:r>
            <a:r>
              <a:rPr lang="en-US" altLang="zh-CN" sz="2000">
                <a:latin typeface="Times New Roman" panose="02020603050405020304" pitchFamily="18" charset="0"/>
              </a:rPr>
              <a:t>z</a:t>
            </a:r>
            <a:r>
              <a:rPr lang="en-US" altLang="zh-CN" sz="2000" baseline="-25000">
                <a:latin typeface="Times New Roman" panose="02020603050405020304" pitchFamily="18" charset="0"/>
              </a:rPr>
              <a:t>3</a:t>
            </a:r>
            <a:endParaRPr lang="en-US" altLang="zh-CN" sz="20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  +  0 0.1 1 0 1                                                  </a:t>
            </a:r>
            <a:r>
              <a:rPr lang="en-US" altLang="zh-CN" sz="2000">
                <a:latin typeface="Times New Roman" panose="02020603050405020304" pitchFamily="18" charset="0"/>
              </a:rPr>
              <a:t>y</a:t>
            </a:r>
            <a:r>
              <a:rPr lang="en-US" altLang="zh-CN" sz="2000" baseline="-25000"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latin typeface="Times New Roman" panose="02020603050405020304" pitchFamily="18" charset="0"/>
              </a:rPr>
              <a:t>=1,   +x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rPr>
              <a:t>      0 1.0 0 0 1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50000"/>
              </a:lnSpc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</a:rPr>
              <a:t>  0 0.1 0 0 0                   1 1 1 1</a:t>
            </a:r>
            <a:r>
              <a:rPr lang="en-US" altLang="zh-CN" sz="2000">
                <a:latin typeface="Times New Roman" panose="02020603050405020304" pitchFamily="18" charset="0"/>
              </a:rPr>
              <a:t>  y</a:t>
            </a:r>
            <a:r>
              <a:rPr lang="en-US" altLang="zh-CN" sz="2000" baseline="-25000">
                <a:latin typeface="Times New Roman" panose="02020603050405020304" pitchFamily="18" charset="0"/>
              </a:rPr>
              <a:t>f                      </a:t>
            </a:r>
            <a:r>
              <a:rPr lang="zh-CN" altLang="en-US" sz="2000">
                <a:latin typeface="Times New Roman" panose="02020603050405020304" pitchFamily="18" charset="0"/>
              </a:rPr>
              <a:t>右移，得</a:t>
            </a:r>
            <a:r>
              <a:rPr lang="en-US" altLang="zh-CN" sz="2000">
                <a:latin typeface="Times New Roman" panose="02020603050405020304" pitchFamily="18" charset="0"/>
              </a:rPr>
              <a:t>z</a:t>
            </a:r>
            <a:r>
              <a:rPr lang="en-US" altLang="zh-CN" sz="2000" baseline="-25000"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latin typeface="Times New Roman" panose="02020603050405020304" pitchFamily="18" charset="0"/>
              </a:rPr>
              <a:t>=x</a:t>
            </a:r>
            <a:r>
              <a:rPr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y</a:t>
            </a:r>
            <a:endParaRPr lang="en-US" altLang="zh-CN" sz="20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1687" name="Line 8"/>
          <p:cNvSpPr>
            <a:spLocks noChangeShapeType="1"/>
          </p:cNvSpPr>
          <p:nvPr/>
        </p:nvSpPr>
        <p:spPr bwMode="auto">
          <a:xfrm>
            <a:off x="498475" y="2293938"/>
            <a:ext cx="23415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8" name="Line 9"/>
          <p:cNvSpPr>
            <a:spLocks noChangeShapeType="1"/>
          </p:cNvSpPr>
          <p:nvPr/>
        </p:nvSpPr>
        <p:spPr bwMode="auto">
          <a:xfrm>
            <a:off x="441325" y="3221038"/>
            <a:ext cx="23415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9" name="Line 10"/>
          <p:cNvSpPr>
            <a:spLocks noChangeShapeType="1"/>
          </p:cNvSpPr>
          <p:nvPr/>
        </p:nvSpPr>
        <p:spPr bwMode="auto">
          <a:xfrm>
            <a:off x="381000" y="4133850"/>
            <a:ext cx="245903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90" name="Line 11"/>
          <p:cNvSpPr>
            <a:spLocks noChangeShapeType="1"/>
          </p:cNvSpPr>
          <p:nvPr/>
        </p:nvSpPr>
        <p:spPr bwMode="auto">
          <a:xfrm>
            <a:off x="381000" y="5035550"/>
            <a:ext cx="24114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1691" name="Group 12"/>
          <p:cNvGrpSpPr/>
          <p:nvPr/>
        </p:nvGrpSpPr>
        <p:grpSpPr bwMode="auto">
          <a:xfrm>
            <a:off x="3225800" y="1782763"/>
            <a:ext cx="866775" cy="3863975"/>
            <a:chOff x="2366" y="677"/>
            <a:chExt cx="618" cy="2796"/>
          </a:xfrm>
        </p:grpSpPr>
        <p:sp>
          <p:nvSpPr>
            <p:cNvPr id="71694" name="Line 13"/>
            <p:cNvSpPr>
              <a:spLocks noChangeShapeType="1"/>
            </p:cNvSpPr>
            <p:nvPr/>
          </p:nvSpPr>
          <p:spPr bwMode="auto">
            <a:xfrm>
              <a:off x="2366" y="677"/>
              <a:ext cx="0" cy="6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Line 14"/>
            <p:cNvSpPr>
              <a:spLocks noChangeShapeType="1"/>
            </p:cNvSpPr>
            <p:nvPr/>
          </p:nvSpPr>
          <p:spPr bwMode="auto">
            <a:xfrm>
              <a:off x="2366" y="1295"/>
              <a:ext cx="1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Line 15"/>
            <p:cNvSpPr>
              <a:spLocks noChangeShapeType="1"/>
            </p:cNvSpPr>
            <p:nvPr/>
          </p:nvSpPr>
          <p:spPr bwMode="auto">
            <a:xfrm>
              <a:off x="2522" y="1955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7" name="Line 16"/>
            <p:cNvSpPr>
              <a:spLocks noChangeShapeType="1"/>
            </p:cNvSpPr>
            <p:nvPr/>
          </p:nvSpPr>
          <p:spPr bwMode="auto">
            <a:xfrm>
              <a:off x="2530" y="1295"/>
              <a:ext cx="0" cy="6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8" name="Line 17"/>
            <p:cNvSpPr>
              <a:spLocks noChangeShapeType="1"/>
            </p:cNvSpPr>
            <p:nvPr/>
          </p:nvSpPr>
          <p:spPr bwMode="auto">
            <a:xfrm>
              <a:off x="2664" y="1955"/>
              <a:ext cx="0" cy="6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Line 18"/>
            <p:cNvSpPr>
              <a:spLocks noChangeShapeType="1"/>
            </p:cNvSpPr>
            <p:nvPr/>
          </p:nvSpPr>
          <p:spPr bwMode="auto">
            <a:xfrm>
              <a:off x="2671" y="2594"/>
              <a:ext cx="1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0" name="Line 19"/>
            <p:cNvSpPr>
              <a:spLocks noChangeShapeType="1"/>
            </p:cNvSpPr>
            <p:nvPr/>
          </p:nvSpPr>
          <p:spPr bwMode="auto">
            <a:xfrm>
              <a:off x="2812" y="2602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Line 20"/>
            <p:cNvSpPr>
              <a:spLocks noChangeShapeType="1"/>
            </p:cNvSpPr>
            <p:nvPr/>
          </p:nvSpPr>
          <p:spPr bwMode="auto">
            <a:xfrm>
              <a:off x="2820" y="3274"/>
              <a:ext cx="1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2" name="Line 21"/>
            <p:cNvSpPr>
              <a:spLocks noChangeShapeType="1"/>
            </p:cNvSpPr>
            <p:nvPr/>
          </p:nvSpPr>
          <p:spPr bwMode="auto">
            <a:xfrm>
              <a:off x="2984" y="3274"/>
              <a:ext cx="0" cy="1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692" name="Text Box 22"/>
          <p:cNvSpPr txBox="1">
            <a:spLocks noChangeArrowheads="1"/>
          </p:cNvSpPr>
          <p:nvPr/>
        </p:nvSpPr>
        <p:spPr bwMode="auto">
          <a:xfrm>
            <a:off x="381000" y="381000"/>
            <a:ext cx="4991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</a:rPr>
              <a:t>x=0.1101 ,  y=0.1011 , 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</a:rPr>
              <a:t>求 </a:t>
            </a:r>
            <a:r>
              <a:rPr lang="en-US" altLang="zh-CN">
                <a:solidFill>
                  <a:srgbClr val="000099"/>
                </a:solidFill>
                <a:latin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</a:rPr>
              <a:t>·</a:t>
            </a:r>
            <a:r>
              <a:rPr lang="en-US" altLang="zh-CN">
                <a:solidFill>
                  <a:srgbClr val="000099"/>
                </a:solidFill>
                <a:latin typeface="宋体" panose="02010600030101010101" pitchFamily="2" charset="-122"/>
              </a:rPr>
              <a:t>y</a:t>
            </a:r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93" name="AutoShape 23">
            <a:hlinkClick r:id="rId1" action="ppaction://hlinkfile" highlightClick="1"/>
          </p:cNvPr>
          <p:cNvSpPr>
            <a:spLocks noChangeArrowheads="1"/>
          </p:cNvSpPr>
          <p:nvPr/>
        </p:nvSpPr>
        <p:spPr bwMode="auto">
          <a:xfrm>
            <a:off x="7391400" y="6021388"/>
            <a:ext cx="349250" cy="431800"/>
          </a:xfrm>
          <a:prstGeom prst="actionButtonForwardNex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685800" y="774700"/>
          <a:ext cx="7950200" cy="532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3" name="Image" r:id="rId1" imgW="8928100" imgH="6870700" progId="Photoshop.Image.6">
                  <p:embed/>
                </p:oleObj>
              </mc:Choice>
              <mc:Fallback>
                <p:oleObj name="Image" r:id="rId1" imgW="8928100" imgH="6870700" progId="Photoshop.Image.6">
                  <p:embed/>
                  <p:pic>
                    <p:nvPicPr>
                      <p:cNvPr id="0" name="图片 49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774700"/>
                        <a:ext cx="7950200" cy="532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6"/>
          <p:cNvSpPr txBox="1">
            <a:spLocks noChangeArrowheads="1"/>
          </p:cNvSpPr>
          <p:nvPr/>
        </p:nvSpPr>
        <p:spPr>
          <a:xfrm>
            <a:off x="539552" y="9572"/>
            <a:ext cx="8259762" cy="762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 smtClean="0"/>
              <a:t>Even Faster Multiplier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854709A5-27DF-465D-B2EA-91921BB03AEA}" type="slidenum">
              <a:rPr lang="en-AU" altLang="zh-CN"/>
            </a:fld>
            <a:endParaRPr lang="en-AU" altLang="zh-CN"/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Even Faster Multiplier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00063" y="990600"/>
            <a:ext cx="8531225" cy="1223963"/>
          </a:xfrm>
        </p:spPr>
        <p:txBody>
          <a:bodyPr/>
          <a:lstStyle/>
          <a:p>
            <a:pPr eaLnBrk="1" hangingPunct="1"/>
            <a:r>
              <a:rPr lang="en-US" sz="2800" smtClean="0"/>
              <a:t>Uses multiple adders</a:t>
            </a:r>
            <a:endParaRPr lang="en-US" sz="2800" smtClean="0"/>
          </a:p>
          <a:p>
            <a:pPr lvl="1" eaLnBrk="1" hangingPunct="1"/>
            <a:r>
              <a:rPr lang="en-US" sz="2400" smtClean="0"/>
              <a:t>Cost/performance tradeoff</a:t>
            </a:r>
            <a:endParaRPr lang="en-US" sz="2400" smtClean="0"/>
          </a:p>
          <a:p>
            <a:pPr lvl="2" eaLnBrk="1" hangingPunct="1"/>
            <a:r>
              <a:rPr lang="en-US" sz="2000" smtClean="0">
                <a:solidFill>
                  <a:srgbClr val="FF0000"/>
                </a:solidFill>
              </a:rPr>
              <a:t>31 adders → log</a:t>
            </a:r>
            <a:r>
              <a:rPr lang="en-US" sz="2000" baseline="-25000" smtClean="0">
                <a:solidFill>
                  <a:srgbClr val="FF0000"/>
                </a:solidFill>
              </a:rPr>
              <a:t>2</a:t>
            </a:r>
            <a:r>
              <a:rPr lang="en-US" sz="2000" smtClean="0">
                <a:solidFill>
                  <a:srgbClr val="FF0000"/>
                </a:solidFill>
              </a:rPr>
              <a:t>(31) = ~5 cycles for multiplying 2 32-bit values </a:t>
            </a:r>
            <a:endParaRPr lang="en-US" sz="2000" smtClean="0">
              <a:solidFill>
                <a:srgbClr val="FF0000"/>
              </a:solidFill>
            </a:endParaRPr>
          </a:p>
        </p:txBody>
      </p:sp>
      <p:pic>
        <p:nvPicPr>
          <p:cNvPr id="16389" name="Picture 5" descr="f03-08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2420938"/>
            <a:ext cx="7578725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Rectangle 8"/>
          <p:cNvSpPr>
            <a:spLocks noChangeArrowheads="1"/>
          </p:cNvSpPr>
          <p:nvPr/>
        </p:nvSpPr>
        <p:spPr bwMode="auto">
          <a:xfrm>
            <a:off x="473075" y="5348288"/>
            <a:ext cx="8342313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3200"/>
              <a:t>Can be pipelined</a:t>
            </a:r>
            <a:endParaRPr lang="en-US" sz="3200"/>
          </a:p>
          <a:p>
            <a:pPr marL="742950" lvl="1" indent="-285750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sz="2800"/>
              <a:t>Several multiplication performed in parallel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B1CF4163-9C58-403D-8EFD-AA3586180835}" type="slidenum">
              <a:rPr lang="en-AU" altLang="zh-CN"/>
            </a:fld>
            <a:endParaRPr lang="en-AU" altLang="zh-CN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MIPS Multiplication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Two 32-bit registers for product</a:t>
            </a:r>
            <a:endParaRPr lang="en-US" sz="2800" smtClean="0"/>
          </a:p>
          <a:p>
            <a:pPr lvl="1" eaLnBrk="1" hangingPunct="1"/>
            <a:r>
              <a:rPr lang="en-US" sz="2400" smtClean="0">
                <a:solidFill>
                  <a:srgbClr val="FF0000"/>
                </a:solidFill>
              </a:rPr>
              <a:t>HI:</a:t>
            </a:r>
            <a:r>
              <a:rPr lang="en-US" sz="2400" smtClean="0"/>
              <a:t> most-significant 32 bits</a:t>
            </a:r>
            <a:endParaRPr lang="en-US" sz="2400" smtClean="0"/>
          </a:p>
          <a:p>
            <a:pPr lvl="1" eaLnBrk="1" hangingPunct="1"/>
            <a:r>
              <a:rPr lang="en-US" sz="2400" smtClean="0">
                <a:solidFill>
                  <a:srgbClr val="FF0000"/>
                </a:solidFill>
              </a:rPr>
              <a:t>LO:</a:t>
            </a:r>
            <a:r>
              <a:rPr lang="en-US" sz="2400" smtClean="0"/>
              <a:t> least-significant 32-bits</a:t>
            </a:r>
            <a:endParaRPr lang="en-US" sz="2400" smtClean="0"/>
          </a:p>
          <a:p>
            <a:pPr eaLnBrk="1" hangingPunct="1"/>
            <a:r>
              <a:rPr lang="en-US" sz="2800" smtClean="0"/>
              <a:t>Instructions</a:t>
            </a:r>
            <a:endParaRPr lang="en-US" sz="2800" smtClean="0"/>
          </a:p>
          <a:p>
            <a:pPr lvl="1" eaLnBrk="1" hangingPunct="1"/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mult rs, rt  </a:t>
            </a:r>
            <a:r>
              <a:rPr lang="en-US" sz="2400" smtClean="0">
                <a:latin typeface="Lucida Console" panose="020B0609040504020204" pitchFamily="49" charset="0"/>
              </a:rPr>
              <a:t>/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multu rs, rt</a:t>
            </a:r>
            <a:endParaRPr lang="en-US" sz="240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lvl="2" eaLnBrk="1" hangingPunct="1"/>
            <a:r>
              <a:rPr lang="en-US" sz="2000" smtClean="0"/>
              <a:t>64-bit product in HI/LO</a:t>
            </a:r>
            <a:endParaRPr lang="en-US" sz="2000" smtClean="0"/>
          </a:p>
          <a:p>
            <a:pPr lvl="1" eaLnBrk="1" hangingPunct="1"/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mfhi rd  </a:t>
            </a:r>
            <a:r>
              <a:rPr lang="en-US" sz="2400" smtClean="0">
                <a:latin typeface="Lucida Console" panose="020B0609040504020204" pitchFamily="49" charset="0"/>
              </a:rPr>
              <a:t>/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mflo rd</a:t>
            </a:r>
            <a:endParaRPr lang="en-US" sz="240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lvl="2" eaLnBrk="1" hangingPunct="1"/>
            <a:r>
              <a:rPr lang="en-US" sz="2000" smtClean="0"/>
              <a:t>Move from HI/LO to rd</a:t>
            </a:r>
            <a:endParaRPr lang="en-US" sz="2000" smtClean="0"/>
          </a:p>
          <a:p>
            <a:pPr lvl="2" eaLnBrk="1" hangingPunct="1"/>
            <a:r>
              <a:rPr lang="en-US" sz="2000" smtClean="0"/>
              <a:t>Can test HI value to see if product overflows 32 bits</a:t>
            </a:r>
            <a:endParaRPr lang="en-AU" altLang="zh-CN" sz="20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mul rd, rs, rt</a:t>
            </a:r>
            <a:endParaRPr lang="en-US" sz="240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lvl="2" eaLnBrk="1" hangingPunct="1"/>
            <a:r>
              <a:rPr lang="en-US" sz="2000" smtClean="0"/>
              <a:t>Least-significant 32 bits of product –&gt; rd</a:t>
            </a:r>
            <a:endParaRPr 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2104891C-3614-4AF3-825E-26A794D5F19B}" type="slidenum">
              <a:rPr lang="en-AU" altLang="zh-CN"/>
            </a:fld>
            <a:endParaRPr lang="en-AU" altLang="zh-CN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Division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54438" y="1125538"/>
            <a:ext cx="5200650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Check for 0 divisor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Long division approach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If divisor ≤ dividend bits</a:t>
            </a:r>
            <a:endParaRPr lang="en-US" sz="2000" smtClean="0"/>
          </a:p>
          <a:p>
            <a:pPr lvl="2" eaLnBrk="1" hangingPunct="1">
              <a:lnSpc>
                <a:spcPct val="90000"/>
              </a:lnSpc>
            </a:pPr>
            <a:r>
              <a:rPr lang="en-US" sz="1800" smtClean="0"/>
              <a:t>1 bit in quotient, subtract</a:t>
            </a:r>
            <a:endParaRPr lang="en-US" sz="18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Otherwise</a:t>
            </a:r>
            <a:endParaRPr lang="en-US" sz="2000" smtClean="0"/>
          </a:p>
          <a:p>
            <a:pPr lvl="2" eaLnBrk="1" hangingPunct="1">
              <a:lnSpc>
                <a:spcPct val="90000"/>
              </a:lnSpc>
            </a:pPr>
            <a:r>
              <a:rPr lang="en-US" sz="1800" smtClean="0"/>
              <a:t>0 bit in quotient, bring down next dividend bit</a:t>
            </a:r>
            <a:endParaRPr lang="en-US" sz="18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Restoring division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Do the subtract, and if remainder goes &lt; 0, add divisor back</a:t>
            </a: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Signed division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Divide using absolute values</a:t>
            </a:r>
            <a:endParaRPr lang="en-US" sz="20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Adjust sign of quotient and remainder as required</a:t>
            </a:r>
            <a:endParaRPr lang="en-US" sz="2000" smtClean="0"/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1592263" y="2565400"/>
            <a:ext cx="201295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>
                <a:latin typeface="Lucida Console" panose="020B0609040504020204" pitchFamily="49" charset="0"/>
              </a:rPr>
              <a:t>        1001</a:t>
            </a:r>
            <a:endParaRPr lang="en-US" sz="2000">
              <a:latin typeface="Lucida Console" panose="020B0609040504020204" pitchFamily="49" charset="0"/>
            </a:endParaRPr>
          </a:p>
          <a:p>
            <a:r>
              <a:rPr lang="en-US" sz="2000">
                <a:latin typeface="Lucida Console" panose="020B0609040504020204" pitchFamily="49" charset="0"/>
              </a:rPr>
              <a:t>1000 1001010</a:t>
            </a:r>
            <a:endParaRPr lang="en-US" sz="2000">
              <a:latin typeface="Lucida Console" panose="020B0609040504020204" pitchFamily="49" charset="0"/>
            </a:endParaRPr>
          </a:p>
          <a:p>
            <a:r>
              <a:rPr lang="en-US" sz="2000">
                <a:latin typeface="Lucida Console" panose="020B0609040504020204" pitchFamily="49" charset="0"/>
              </a:rPr>
              <a:t>    -1000</a:t>
            </a:r>
            <a:endParaRPr lang="en-US" sz="2000">
              <a:latin typeface="Lucida Console" panose="020B0609040504020204" pitchFamily="49" charset="0"/>
            </a:endParaRPr>
          </a:p>
          <a:p>
            <a:r>
              <a:rPr lang="en-US" sz="2000">
                <a:latin typeface="Lucida Console" panose="020B0609040504020204" pitchFamily="49" charset="0"/>
              </a:rPr>
              <a:t>        10</a:t>
            </a:r>
            <a:endParaRPr lang="en-US" sz="2000">
              <a:latin typeface="Lucida Console" panose="020B0609040504020204" pitchFamily="49" charset="0"/>
            </a:endParaRPr>
          </a:p>
          <a:p>
            <a:r>
              <a:rPr lang="en-US" sz="2000">
                <a:latin typeface="Lucida Console" panose="020B0609040504020204" pitchFamily="49" charset="0"/>
              </a:rPr>
              <a:t>        101 </a:t>
            </a:r>
            <a:endParaRPr lang="en-US" sz="2000">
              <a:latin typeface="Lucida Console" panose="020B0609040504020204" pitchFamily="49" charset="0"/>
            </a:endParaRPr>
          </a:p>
          <a:p>
            <a:r>
              <a:rPr lang="en-US" sz="2000">
                <a:latin typeface="Lucida Console" panose="020B0609040504020204" pitchFamily="49" charset="0"/>
              </a:rPr>
              <a:t>        1010</a:t>
            </a:r>
            <a:endParaRPr lang="en-US" sz="2000">
              <a:latin typeface="Lucida Console" panose="020B0609040504020204" pitchFamily="49" charset="0"/>
            </a:endParaRPr>
          </a:p>
          <a:p>
            <a:r>
              <a:rPr lang="en-US" sz="2000">
                <a:latin typeface="Lucida Console" panose="020B0609040504020204" pitchFamily="49" charset="0"/>
              </a:rPr>
              <a:t>       -1000</a:t>
            </a:r>
            <a:endParaRPr lang="en-US" sz="2000">
              <a:latin typeface="Lucida Console" panose="020B0609040504020204" pitchFamily="49" charset="0"/>
            </a:endParaRPr>
          </a:p>
          <a:p>
            <a:r>
              <a:rPr lang="en-US" sz="2000">
                <a:latin typeface="Lucida Console" panose="020B0609040504020204" pitchFamily="49" charset="0"/>
              </a:rPr>
              <a:t>          10</a:t>
            </a:r>
            <a:endParaRPr lang="en-AU" altLang="zh-CN" sz="200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8438" name="Line 5"/>
          <p:cNvSpPr>
            <a:spLocks noChangeShapeType="1"/>
          </p:cNvSpPr>
          <p:nvPr/>
        </p:nvSpPr>
        <p:spPr bwMode="auto">
          <a:xfrm flipH="1">
            <a:off x="2339975" y="2924175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9" name="Line 6"/>
          <p:cNvSpPr>
            <a:spLocks noChangeShapeType="1"/>
          </p:cNvSpPr>
          <p:nvPr/>
        </p:nvSpPr>
        <p:spPr bwMode="auto">
          <a:xfrm flipH="1">
            <a:off x="2411413" y="35004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Text Box 7"/>
          <p:cNvSpPr txBox="1">
            <a:spLocks noChangeArrowheads="1"/>
          </p:cNvSpPr>
          <p:nvPr/>
        </p:nvSpPr>
        <p:spPr bwMode="auto">
          <a:xfrm>
            <a:off x="827088" y="5376863"/>
            <a:ext cx="2686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i="1"/>
              <a:t>n</a:t>
            </a:r>
            <a:r>
              <a:rPr lang="en-US"/>
              <a:t>-bit operands yield </a:t>
            </a:r>
            <a:r>
              <a:rPr lang="en-US" i="1"/>
              <a:t>n</a:t>
            </a:r>
            <a:r>
              <a:rPr lang="en-US"/>
              <a:t>-bit</a:t>
            </a:r>
            <a:br>
              <a:rPr lang="en-US"/>
            </a:br>
            <a:r>
              <a:rPr lang="en-US"/>
              <a:t>quotient and remainder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21513" name="AutoShape 8"/>
          <p:cNvSpPr/>
          <p:nvPr/>
        </p:nvSpPr>
        <p:spPr bwMode="auto">
          <a:xfrm>
            <a:off x="684213" y="18446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237019"/>
              <a:gd name="adj4" fmla="val 154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/>
              <a:t>quotient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21514" name="AutoShape 9"/>
          <p:cNvSpPr/>
          <p:nvPr/>
        </p:nvSpPr>
        <p:spPr bwMode="auto">
          <a:xfrm>
            <a:off x="684213" y="2276475"/>
            <a:ext cx="1439862" cy="330200"/>
          </a:xfrm>
          <a:prstGeom prst="borderCallout1">
            <a:avLst>
              <a:gd name="adj1" fmla="val 34616"/>
              <a:gd name="adj2" fmla="val 105292"/>
              <a:gd name="adj3" fmla="val 178366"/>
              <a:gd name="adj4" fmla="val 1308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/>
              <a:t>dividend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21515" name="AutoShape 10"/>
          <p:cNvSpPr/>
          <p:nvPr/>
        </p:nvSpPr>
        <p:spPr bwMode="auto">
          <a:xfrm>
            <a:off x="1042988" y="4797425"/>
            <a:ext cx="1150937" cy="330200"/>
          </a:xfrm>
          <a:prstGeom prst="borderCallout1">
            <a:avLst>
              <a:gd name="adj1" fmla="val 34616"/>
              <a:gd name="adj2" fmla="val 106620"/>
              <a:gd name="adj3" fmla="val 33171"/>
              <a:gd name="adj4" fmla="val 1806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/>
              <a:t>remainder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18444" name="Line 11"/>
          <p:cNvSpPr>
            <a:spLocks noChangeShapeType="1"/>
          </p:cNvSpPr>
          <p:nvPr/>
        </p:nvSpPr>
        <p:spPr bwMode="auto">
          <a:xfrm flipH="1">
            <a:off x="2843213" y="47244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5" name="Arc 12"/>
          <p:cNvSpPr/>
          <p:nvPr/>
        </p:nvSpPr>
        <p:spPr bwMode="auto">
          <a:xfrm>
            <a:off x="2339975" y="2924175"/>
            <a:ext cx="73025" cy="144463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6" name="Arc 13"/>
          <p:cNvSpPr/>
          <p:nvPr/>
        </p:nvSpPr>
        <p:spPr bwMode="auto">
          <a:xfrm flipV="1">
            <a:off x="2339975" y="3068638"/>
            <a:ext cx="73025" cy="144462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19" name="AutoShape 14"/>
          <p:cNvSpPr/>
          <p:nvPr/>
        </p:nvSpPr>
        <p:spPr bwMode="auto">
          <a:xfrm>
            <a:off x="250825" y="3357563"/>
            <a:ext cx="1079500" cy="330200"/>
          </a:xfrm>
          <a:prstGeom prst="borderCallout1">
            <a:avLst>
              <a:gd name="adj1" fmla="val 34616"/>
              <a:gd name="adj2" fmla="val 107060"/>
              <a:gd name="adj3" fmla="val -48556"/>
              <a:gd name="adj4" fmla="val 131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/>
              <a:t>divisor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 rot="5400000">
            <a:off x="8214519" y="562769"/>
            <a:ext cx="1492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§3.4 Division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2" grpId="0"/>
      <p:bldP spid="21513" grpId="0" animBg="1"/>
      <p:bldP spid="21514" grpId="0" animBg="1"/>
      <p:bldP spid="21515" grpId="0" animBg="1"/>
      <p:bldP spid="215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C3D6A602-3A47-4A59-A9A3-FC8166BDBAE1}" type="slidenum">
              <a:rPr lang="en-AU" altLang="zh-CN"/>
            </a:fld>
            <a:endParaRPr lang="en-AU" altLang="zh-CN"/>
          </a:p>
        </p:txBody>
      </p:sp>
      <p:pic>
        <p:nvPicPr>
          <p:cNvPr id="19459" name="Picture 9" descr="f03-10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908720"/>
            <a:ext cx="4429125" cy="5877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Division Hardware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9461" name="AutoShape 5"/>
          <p:cNvSpPr/>
          <p:nvPr/>
        </p:nvSpPr>
        <p:spPr bwMode="auto">
          <a:xfrm>
            <a:off x="6588125" y="5516563"/>
            <a:ext cx="1728788" cy="330200"/>
          </a:xfrm>
          <a:prstGeom prst="borderCallout1">
            <a:avLst>
              <a:gd name="adj1" fmla="val 34616"/>
              <a:gd name="adj2" fmla="val -4407"/>
              <a:gd name="adj3" fmla="val -157213"/>
              <a:gd name="adj4" fmla="val -321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/>
              <a:t>Initially dividend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19462" name="AutoShape 6"/>
          <p:cNvSpPr/>
          <p:nvPr/>
        </p:nvSpPr>
        <p:spPr bwMode="auto">
          <a:xfrm>
            <a:off x="7092950" y="1484313"/>
            <a:ext cx="1584325" cy="576262"/>
          </a:xfrm>
          <a:prstGeom prst="borderCallout1">
            <a:avLst>
              <a:gd name="adj1" fmla="val 19833"/>
              <a:gd name="adj2" fmla="val -4810"/>
              <a:gd name="adj3" fmla="val 155648"/>
              <a:gd name="adj4" fmla="val -3446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/>
              <a:t>Initially divisor in left half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pic>
        <p:nvPicPr>
          <p:cNvPr id="19463" name="Picture 7" descr="f03-09-P37449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2349500"/>
            <a:ext cx="4425950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E214D48E-A834-4296-BB9C-49458BBFEA44}" type="slidenum">
              <a:rPr lang="en-AU" altLang="zh-CN"/>
            </a:fld>
            <a:endParaRPr lang="en-AU" altLang="zh-CN"/>
          </a:p>
        </p:txBody>
      </p:sp>
      <p:pic>
        <p:nvPicPr>
          <p:cNvPr id="20483" name="Picture 6" descr="f03-12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484313"/>
            <a:ext cx="5340350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Optimized Divider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583113"/>
            <a:ext cx="8270875" cy="1654175"/>
          </a:xfrm>
        </p:spPr>
        <p:txBody>
          <a:bodyPr/>
          <a:lstStyle/>
          <a:p>
            <a:pPr eaLnBrk="1" hangingPunct="1"/>
            <a:r>
              <a:rPr lang="en-US" sz="2800" smtClean="0"/>
              <a:t>One cycle per partial-remainder subtraction</a:t>
            </a:r>
            <a:endParaRPr lang="en-US" sz="2800" smtClean="0"/>
          </a:p>
          <a:p>
            <a:pPr eaLnBrk="1" hangingPunct="1"/>
            <a:r>
              <a:rPr lang="en-US" sz="2800" smtClean="0">
                <a:solidFill>
                  <a:srgbClr val="FF0000"/>
                </a:solidFill>
              </a:rPr>
              <a:t>Looks a lot like a multiplier!</a:t>
            </a:r>
            <a:endParaRPr lang="en-US" sz="28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400" smtClean="0"/>
              <a:t>Same hardware can be used for both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  <p:sp>
        <p:nvSpPr>
          <p:cNvPr id="20486" name="AutoShape 5"/>
          <p:cNvSpPr/>
          <p:nvPr/>
        </p:nvSpPr>
        <p:spPr bwMode="auto">
          <a:xfrm>
            <a:off x="5000625" y="1928813"/>
            <a:ext cx="1728788" cy="330200"/>
          </a:xfrm>
          <a:prstGeom prst="borderCallout1">
            <a:avLst>
              <a:gd name="adj1" fmla="val 34616"/>
              <a:gd name="adj2" fmla="val -4407"/>
              <a:gd name="adj3" fmla="val 371833"/>
              <a:gd name="adj4" fmla="val -2740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 sz="1600"/>
              <a:t>Quotient</a:t>
            </a:r>
            <a:endParaRPr lang="en-AU" altLang="zh-CN" sz="16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6"/>
          <p:cNvSpPr txBox="1">
            <a:spLocks noChangeArrowheads="1"/>
          </p:cNvSpPr>
          <p:nvPr/>
        </p:nvSpPr>
        <p:spPr bwMode="auto">
          <a:xfrm>
            <a:off x="286543" y="1124744"/>
            <a:ext cx="7612063" cy="561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0 0.1 0 0 1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+[-y]</a:t>
            </a:r>
            <a:r>
              <a:rPr lang="zh-CN" altLang="en-US" sz="2000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</a:rPr>
              <a:t>1 1.0 1 0 1                                        x</a:t>
            </a:r>
            <a:r>
              <a:rPr lang="zh-CN" altLang="en-US" sz="2000" dirty="0">
                <a:latin typeface="Times New Roman" panose="02020603050405020304" pitchFamily="18" charset="0"/>
              </a:rPr>
              <a:t>减</a:t>
            </a:r>
            <a:r>
              <a:rPr lang="en-US" altLang="zh-CN" sz="2000" dirty="0">
                <a:latin typeface="Times New Roman" panose="02020603050405020304" pitchFamily="18" charset="0"/>
              </a:rPr>
              <a:t>y               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1 1.1 1 1 0                                        </a:t>
            </a:r>
            <a:r>
              <a:rPr lang="zh-CN" altLang="en-US" sz="2000" dirty="0">
                <a:latin typeface="Times New Roman" panose="02020603050405020304" pitchFamily="18" charset="0"/>
              </a:rPr>
              <a:t>余数 </a:t>
            </a:r>
            <a:r>
              <a:rPr lang="en-US" altLang="zh-CN" sz="2000" dirty="0">
                <a:latin typeface="Times New Roman" panose="02020603050405020304" pitchFamily="18" charset="0"/>
              </a:rPr>
              <a:t>r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</a:rPr>
              <a:t>&lt;0</a:t>
            </a:r>
            <a:r>
              <a:rPr lang="zh-CN" altLang="en-US" sz="2000" dirty="0">
                <a:latin typeface="Times New Roman" panose="02020603050405020304" pitchFamily="18" charset="0"/>
              </a:rPr>
              <a:t>，商“</a:t>
            </a:r>
            <a:r>
              <a:rPr lang="en-US" altLang="zh-CN" sz="2000" dirty="0">
                <a:latin typeface="Times New Roman" panose="02020603050405020304" pitchFamily="18" charset="0"/>
              </a:rPr>
              <a:t>0”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 [y]</a:t>
            </a:r>
            <a:r>
              <a:rPr lang="zh-CN" altLang="en-US" sz="2000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0 0.1 0 1 1                                       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恢复余数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0 0.1 0 0 1                                         r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’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  0 1.0 0 1 0                      0               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商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移入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左移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+[-y]</a:t>
            </a:r>
            <a:r>
              <a:rPr lang="zh-CN" altLang="en-US" sz="2000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</a:rPr>
              <a:t>1 1.0 1 0 1                                         </a:t>
            </a:r>
            <a:r>
              <a:rPr lang="zh-CN" altLang="en-US" sz="2000" dirty="0">
                <a:latin typeface="Times New Roman" panose="02020603050405020304" pitchFamily="18" charset="0"/>
              </a:rPr>
              <a:t>减</a:t>
            </a:r>
            <a:r>
              <a:rPr lang="en-US" altLang="zh-CN" sz="2000" dirty="0">
                <a:latin typeface="Times New Roman" panose="02020603050405020304" pitchFamily="18" charset="0"/>
              </a:rPr>
              <a:t>y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0 0.0 1 1 1                                         r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&gt;0</a:t>
            </a:r>
            <a:r>
              <a:rPr lang="zh-CN" altLang="en-US" sz="2000" dirty="0">
                <a:latin typeface="Times New Roman" panose="02020603050405020304" pitchFamily="18" charset="0"/>
              </a:rPr>
              <a:t>，商“</a:t>
            </a:r>
            <a:r>
              <a:rPr lang="en-US" altLang="zh-CN" sz="2000" dirty="0">
                <a:latin typeface="Times New Roman" panose="02020603050405020304" pitchFamily="18" charset="0"/>
              </a:rPr>
              <a:t>1”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  0 0.1 1 1 0                  0. 1               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商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移入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左移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+[-y]</a:t>
            </a:r>
            <a:r>
              <a:rPr lang="zh-CN" altLang="en-US" sz="2000" baseline="-25000" dirty="0">
                <a:latin typeface="Times New Roman" panose="02020603050405020304" pitchFamily="18" charset="0"/>
              </a:rPr>
              <a:t>补</a:t>
            </a:r>
            <a:r>
              <a:rPr lang="zh-CN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</a:rPr>
              <a:t>1 1.0 1 0 1                                          </a:t>
            </a:r>
            <a:r>
              <a:rPr lang="zh-CN" altLang="en-US" sz="2000" dirty="0">
                <a:latin typeface="Times New Roman" panose="02020603050405020304" pitchFamily="18" charset="0"/>
              </a:rPr>
              <a:t>减</a:t>
            </a:r>
            <a:r>
              <a:rPr lang="en-US" altLang="zh-CN" sz="2000" dirty="0">
                <a:latin typeface="Times New Roman" panose="02020603050405020304" pitchFamily="18" charset="0"/>
              </a:rPr>
              <a:t>y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0 0.0 0 1 1                                          r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&gt;0</a:t>
            </a:r>
            <a:r>
              <a:rPr lang="zh-CN" altLang="en-US" sz="2000" dirty="0">
                <a:latin typeface="Times New Roman" panose="02020603050405020304" pitchFamily="18" charset="0"/>
              </a:rPr>
              <a:t>，商“</a:t>
            </a:r>
            <a:r>
              <a:rPr lang="en-US" altLang="zh-CN" sz="2000" dirty="0">
                <a:latin typeface="Times New Roman" panose="02020603050405020304" pitchFamily="18" charset="0"/>
              </a:rPr>
              <a:t>1”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  0 0.0 1 1 0                0. 1 1              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商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移入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左移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+[-y]</a:t>
            </a:r>
            <a:r>
              <a:rPr lang="zh-CN" altLang="en-US" sz="2000" baseline="-25000" dirty="0">
                <a:latin typeface="Times New Roman" panose="02020603050405020304" pitchFamily="18" charset="0"/>
              </a:rPr>
              <a:t>补   </a:t>
            </a:r>
            <a:r>
              <a:rPr lang="en-US" altLang="zh-CN" sz="2000" dirty="0">
                <a:latin typeface="Times New Roman" panose="02020603050405020304" pitchFamily="18" charset="0"/>
              </a:rPr>
              <a:t>1 1.0 1 0 1                                          </a:t>
            </a:r>
            <a:r>
              <a:rPr lang="zh-CN" altLang="en-US" sz="2000" dirty="0">
                <a:latin typeface="Times New Roman" panose="02020603050405020304" pitchFamily="18" charset="0"/>
              </a:rPr>
              <a:t>减</a:t>
            </a:r>
            <a:r>
              <a:rPr lang="en-US" altLang="zh-CN" sz="2000" dirty="0">
                <a:latin typeface="Times New Roman" panose="02020603050405020304" pitchFamily="18" charset="0"/>
              </a:rPr>
              <a:t>y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1 1.1 0 1 1                                         r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&lt;0</a:t>
            </a:r>
            <a:r>
              <a:rPr lang="zh-CN" altLang="en-US" sz="2000" dirty="0">
                <a:latin typeface="Times New Roman" panose="02020603050405020304" pitchFamily="18" charset="0"/>
              </a:rPr>
              <a:t>，商“</a:t>
            </a:r>
            <a:r>
              <a:rPr lang="en-US" altLang="zh-CN" sz="2000" dirty="0">
                <a:latin typeface="Times New Roman" panose="02020603050405020304" pitchFamily="18" charset="0"/>
              </a:rPr>
              <a:t>0”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+[y]</a:t>
            </a:r>
            <a:r>
              <a:rPr lang="zh-CN" altLang="en-US" sz="2000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补  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0 0.1 0 1 1                                       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恢复余数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0 0.0 1 1 0                                         r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sz="2000" baseline="30000" dirty="0">
                <a:latin typeface="Times New Roman" panose="02020603050405020304" pitchFamily="18" charset="0"/>
              </a:rPr>
              <a:t>’</a:t>
            </a:r>
            <a:r>
              <a:rPr lang="en-US" altLang="zh-CN" sz="2000" dirty="0">
                <a:latin typeface="Times New Roman" panose="02020603050405020304" pitchFamily="18" charset="0"/>
              </a:rPr>
              <a:t>=2r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  0 0.1 1 0 0              0. 1 1 0             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商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移入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左移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</a:rPr>
              <a:t>+[-y]</a:t>
            </a:r>
            <a:r>
              <a:rPr lang="zh-CN" alt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</a:rPr>
              <a:t>1 1.0 1 0 1                                         </a:t>
            </a:r>
            <a:r>
              <a:rPr lang="zh-CN" altLang="en-US" sz="2000" dirty="0">
                <a:latin typeface="Times New Roman" panose="02020603050405020304" pitchFamily="18" charset="0"/>
              </a:rPr>
              <a:t>减</a:t>
            </a:r>
            <a:r>
              <a:rPr lang="en-US" altLang="zh-CN" sz="2000" dirty="0">
                <a:latin typeface="Times New Roman" panose="02020603050405020304" pitchFamily="18" charset="0"/>
              </a:rPr>
              <a:t>y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0 0.0 0 0 1                                         r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&gt;0</a:t>
            </a:r>
            <a:r>
              <a:rPr lang="zh-CN" altLang="en-US" sz="2000" dirty="0">
                <a:latin typeface="Times New Roman" panose="02020603050405020304" pitchFamily="18" charset="0"/>
              </a:rPr>
              <a:t>，商“</a:t>
            </a:r>
            <a:r>
              <a:rPr lang="en-US" altLang="zh-CN" sz="2000" dirty="0">
                <a:latin typeface="Times New Roman" panose="02020603050405020304" pitchFamily="18" charset="0"/>
              </a:rPr>
              <a:t>1”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   0 0.0 0 0 1           0. 1 1 0 1             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商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移入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不左移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08547" name="Line 7"/>
          <p:cNvSpPr>
            <a:spLocks noChangeShapeType="1"/>
          </p:cNvSpPr>
          <p:nvPr/>
        </p:nvSpPr>
        <p:spPr bwMode="auto">
          <a:xfrm>
            <a:off x="304800" y="1428750"/>
            <a:ext cx="21701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48" name="Line 8"/>
          <p:cNvSpPr>
            <a:spLocks noChangeShapeType="1"/>
          </p:cNvSpPr>
          <p:nvPr/>
        </p:nvSpPr>
        <p:spPr bwMode="auto">
          <a:xfrm>
            <a:off x="304800" y="2000250"/>
            <a:ext cx="21701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49" name="Line 9"/>
          <p:cNvSpPr>
            <a:spLocks noChangeShapeType="1"/>
          </p:cNvSpPr>
          <p:nvPr/>
        </p:nvSpPr>
        <p:spPr bwMode="auto">
          <a:xfrm>
            <a:off x="304800" y="2819400"/>
            <a:ext cx="21701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0" name="Line 10"/>
          <p:cNvSpPr>
            <a:spLocks noChangeShapeType="1"/>
          </p:cNvSpPr>
          <p:nvPr/>
        </p:nvSpPr>
        <p:spPr bwMode="auto">
          <a:xfrm>
            <a:off x="304800" y="3651250"/>
            <a:ext cx="21701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1" name="Line 11"/>
          <p:cNvSpPr>
            <a:spLocks noChangeShapeType="1"/>
          </p:cNvSpPr>
          <p:nvPr/>
        </p:nvSpPr>
        <p:spPr bwMode="auto">
          <a:xfrm>
            <a:off x="304800" y="4484688"/>
            <a:ext cx="217011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2" name="Line 12"/>
          <p:cNvSpPr>
            <a:spLocks noChangeShapeType="1"/>
          </p:cNvSpPr>
          <p:nvPr/>
        </p:nvSpPr>
        <p:spPr bwMode="auto">
          <a:xfrm>
            <a:off x="304800" y="5032375"/>
            <a:ext cx="21701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3" name="Line 13"/>
          <p:cNvSpPr>
            <a:spLocks noChangeShapeType="1"/>
          </p:cNvSpPr>
          <p:nvPr/>
        </p:nvSpPr>
        <p:spPr bwMode="auto">
          <a:xfrm>
            <a:off x="304800" y="5849938"/>
            <a:ext cx="217011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4" name="Text Box 14"/>
          <p:cNvSpPr txBox="1">
            <a:spLocks noChangeArrowheads="1"/>
          </p:cNvSpPr>
          <p:nvPr/>
        </p:nvSpPr>
        <p:spPr bwMode="auto">
          <a:xfrm>
            <a:off x="412750" y="647700"/>
            <a:ext cx="7761288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被除数</a:t>
            </a: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</a:rPr>
              <a:t>x / 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余数 </a:t>
            </a: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</a:rPr>
              <a:t>r            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商</a:t>
            </a:r>
            <a:r>
              <a:rPr lang="en-US" altLang="zh-CN" sz="1800">
                <a:solidFill>
                  <a:srgbClr val="FF0000"/>
                </a:solidFill>
                <a:latin typeface="Times New Roman" panose="02020603050405020304" pitchFamily="18" charset="0"/>
              </a:rPr>
              <a:t>q                            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说明</a:t>
            </a: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555" name="Line 15"/>
          <p:cNvSpPr>
            <a:spLocks noChangeShapeType="1"/>
          </p:cNvSpPr>
          <p:nvPr/>
        </p:nvSpPr>
        <p:spPr bwMode="auto">
          <a:xfrm>
            <a:off x="2733675" y="933450"/>
            <a:ext cx="0" cy="544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6" name="Line 16"/>
          <p:cNvSpPr>
            <a:spLocks noChangeShapeType="1"/>
          </p:cNvSpPr>
          <p:nvPr/>
        </p:nvSpPr>
        <p:spPr bwMode="auto">
          <a:xfrm>
            <a:off x="2733675" y="1428750"/>
            <a:ext cx="1358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7" name="Line 17"/>
          <p:cNvSpPr>
            <a:spLocks noChangeShapeType="1"/>
          </p:cNvSpPr>
          <p:nvPr/>
        </p:nvSpPr>
        <p:spPr bwMode="auto">
          <a:xfrm>
            <a:off x="2771775" y="2000250"/>
            <a:ext cx="1358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8" name="Line 18"/>
          <p:cNvSpPr>
            <a:spLocks noChangeShapeType="1"/>
          </p:cNvSpPr>
          <p:nvPr/>
        </p:nvSpPr>
        <p:spPr bwMode="auto">
          <a:xfrm>
            <a:off x="2771775" y="2816225"/>
            <a:ext cx="1358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59" name="Line 19"/>
          <p:cNvSpPr>
            <a:spLocks noChangeShapeType="1"/>
          </p:cNvSpPr>
          <p:nvPr/>
        </p:nvSpPr>
        <p:spPr bwMode="auto">
          <a:xfrm>
            <a:off x="2771775" y="3636963"/>
            <a:ext cx="13589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0" name="Line 20"/>
          <p:cNvSpPr>
            <a:spLocks noChangeShapeType="1"/>
          </p:cNvSpPr>
          <p:nvPr/>
        </p:nvSpPr>
        <p:spPr bwMode="auto">
          <a:xfrm>
            <a:off x="2771775" y="4484688"/>
            <a:ext cx="13589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1" name="Line 21"/>
          <p:cNvSpPr>
            <a:spLocks noChangeShapeType="1"/>
          </p:cNvSpPr>
          <p:nvPr/>
        </p:nvSpPr>
        <p:spPr bwMode="auto">
          <a:xfrm>
            <a:off x="2771775" y="5040313"/>
            <a:ext cx="13589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2" name="Line 22"/>
          <p:cNvSpPr>
            <a:spLocks noChangeShapeType="1"/>
          </p:cNvSpPr>
          <p:nvPr/>
        </p:nvSpPr>
        <p:spPr bwMode="auto">
          <a:xfrm>
            <a:off x="2763838" y="5849938"/>
            <a:ext cx="13589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563" name="Rectangle 23"/>
          <p:cNvSpPr>
            <a:spLocks noChangeArrowheads="1"/>
          </p:cNvSpPr>
          <p:nvPr/>
        </p:nvSpPr>
        <p:spPr bwMode="auto">
          <a:xfrm>
            <a:off x="7086600" y="762000"/>
            <a:ext cx="167005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原 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０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.1001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[y]</a:t>
            </a:r>
            <a:r>
              <a:rPr lang="zh-CN" altLang="en-US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=0.1011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[-y]</a:t>
            </a:r>
            <a:r>
              <a:rPr lang="zh-CN" altLang="en-US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=1.0101</a:t>
            </a:r>
            <a:endParaRPr lang="en-US" altLang="zh-CN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9946DFF2-D335-4058-B10D-254A93DC0125}" type="slidenum">
              <a:rPr lang="en-AU" altLang="zh-CN"/>
            </a:fld>
            <a:endParaRPr lang="en-AU" altLang="zh-CN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Faster Division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Can’t use parallel hardware as in multiplier</a:t>
            </a:r>
            <a:endParaRPr lang="en-US" dirty="0" smtClean="0"/>
          </a:p>
          <a:p>
            <a:pPr lvl="1" eaLnBrk="1" hangingPunct="1"/>
            <a:r>
              <a:rPr lang="en-US" dirty="0" smtClean="0"/>
              <a:t>Subtraction is conditional on sign of remainder</a:t>
            </a:r>
            <a:endParaRPr lang="en-US" dirty="0" smtClean="0"/>
          </a:p>
          <a:p>
            <a:pPr eaLnBrk="1" hangingPunct="1"/>
            <a:r>
              <a:rPr lang="en-US" dirty="0" smtClean="0"/>
              <a:t>Faster dividers (e.g. </a:t>
            </a:r>
            <a:r>
              <a:rPr lang="en-US" dirty="0" smtClean="0">
                <a:solidFill>
                  <a:srgbClr val="FF0000"/>
                </a:solidFill>
              </a:rPr>
              <a:t>SRT division</a:t>
            </a:r>
            <a:r>
              <a:rPr lang="en-US" dirty="0" smtClean="0"/>
              <a:t>) generate multiple quotient bits per step</a:t>
            </a:r>
            <a:endParaRPr lang="en-US" dirty="0" smtClean="0"/>
          </a:p>
          <a:p>
            <a:pPr lvl="1" eaLnBrk="1" hangingPunct="1"/>
            <a:r>
              <a:rPr lang="en-US" dirty="0" smtClean="0"/>
              <a:t>Guesses quotient bits using a table lookup based on upper bits of dividend, remainder</a:t>
            </a:r>
            <a:endParaRPr lang="en-US" dirty="0" smtClean="0"/>
          </a:p>
          <a:p>
            <a:pPr lvl="2" eaLnBrk="1" hangingPunct="1"/>
            <a:r>
              <a:rPr lang="en-US" dirty="0" smtClean="0"/>
              <a:t>Subsequent steps correct wrong guesses</a:t>
            </a:r>
            <a:endParaRPr lang="en-US" dirty="0" smtClean="0"/>
          </a:p>
          <a:p>
            <a:pPr lvl="1" eaLnBrk="1" hangingPunct="1"/>
            <a:r>
              <a:rPr lang="en-US" dirty="0" smtClean="0"/>
              <a:t>Still require multiple steps</a:t>
            </a:r>
            <a:endParaRPr lang="en-US" dirty="0" smtClean="0"/>
          </a:p>
          <a:p>
            <a:pPr eaLnBrk="1" hangingPunct="1"/>
            <a:r>
              <a:rPr lang="en-US" dirty="0" smtClean="0"/>
              <a:t>Other faster dividers exist</a:t>
            </a:r>
            <a:endParaRPr lang="en-US" dirty="0" smtClean="0"/>
          </a:p>
          <a:p>
            <a:pPr lvl="1" eaLnBrk="1" hangingPunct="1"/>
            <a:r>
              <a:rPr lang="en-US" dirty="0" err="1" smtClean="0"/>
              <a:t>nonrestoring</a:t>
            </a:r>
            <a:r>
              <a:rPr lang="en-US" dirty="0" smtClean="0"/>
              <a:t> dividers, nonperforming dividers, …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026F276E-71BD-4F97-9E33-E4C1DFBDD041}" type="slidenum">
              <a:rPr lang="en-AU" altLang="zh-CN"/>
            </a:fld>
            <a:endParaRPr lang="en-AU" altLang="zh-CN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MIPS Division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Use HI/LO registers for result</a:t>
            </a:r>
            <a:endParaRPr lang="en-US" dirty="0" smtClean="0"/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HI:</a:t>
            </a:r>
            <a:r>
              <a:rPr lang="en-US" dirty="0" smtClean="0"/>
              <a:t> 32-bit remainder</a:t>
            </a:r>
            <a:endParaRPr lang="en-US" dirty="0" smtClean="0"/>
          </a:p>
          <a:p>
            <a:pPr lvl="1" eaLnBrk="1" hangingPunct="1"/>
            <a:r>
              <a:rPr lang="en-US" dirty="0" smtClean="0">
                <a:solidFill>
                  <a:srgbClr val="FF0000"/>
                </a:solidFill>
              </a:rPr>
              <a:t>LO:</a:t>
            </a:r>
            <a:r>
              <a:rPr lang="en-US" dirty="0" smtClean="0"/>
              <a:t> 32-bit quotient</a:t>
            </a:r>
            <a:endParaRPr lang="en-US" dirty="0" smtClean="0"/>
          </a:p>
          <a:p>
            <a:pPr eaLnBrk="1" hangingPunct="1"/>
            <a:r>
              <a:rPr lang="en-US" dirty="0" smtClean="0"/>
              <a:t>Instructions</a:t>
            </a:r>
            <a:endParaRPr lang="en-US" dirty="0" smtClean="0"/>
          </a:p>
          <a:p>
            <a:pPr lvl="1" eaLnBrk="1" hangingPunct="1"/>
            <a:r>
              <a:rPr lang="en-US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div </a:t>
            </a:r>
            <a:r>
              <a:rPr lang="en-US" dirty="0" err="1" smtClean="0">
                <a:solidFill>
                  <a:schemeClr val="tx2"/>
                </a:solidFill>
                <a:latin typeface="Lucida Console" panose="020B0609040504020204" pitchFamily="49" charset="0"/>
              </a:rPr>
              <a:t>rs</a:t>
            </a:r>
            <a:r>
              <a:rPr lang="en-US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, </a:t>
            </a:r>
            <a:r>
              <a:rPr lang="en-US" dirty="0" err="1" smtClean="0">
                <a:solidFill>
                  <a:schemeClr val="tx2"/>
                </a:solidFill>
                <a:latin typeface="Lucida Console" panose="020B0609040504020204" pitchFamily="49" charset="0"/>
              </a:rPr>
              <a:t>rt</a:t>
            </a:r>
            <a:r>
              <a:rPr lang="en-US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  </a:t>
            </a:r>
            <a:r>
              <a:rPr lang="en-US" dirty="0" smtClean="0">
                <a:latin typeface="Lucida Console" panose="020B0609040504020204" pitchFamily="49" charset="0"/>
              </a:rPr>
              <a:t>/  </a:t>
            </a:r>
            <a:r>
              <a:rPr lang="en-US" dirty="0" err="1" smtClean="0">
                <a:solidFill>
                  <a:schemeClr val="tx2"/>
                </a:solidFill>
                <a:latin typeface="Lucida Console" panose="020B0609040504020204" pitchFamily="49" charset="0"/>
              </a:rPr>
              <a:t>divu</a:t>
            </a:r>
            <a:r>
              <a:rPr lang="en-US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latin typeface="Lucida Console" panose="020B0609040504020204" pitchFamily="49" charset="0"/>
              </a:rPr>
              <a:t>rs</a:t>
            </a:r>
            <a:r>
              <a:rPr lang="en-US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, </a:t>
            </a:r>
            <a:r>
              <a:rPr lang="en-US" dirty="0" err="1" smtClean="0">
                <a:solidFill>
                  <a:schemeClr val="tx2"/>
                </a:solidFill>
                <a:latin typeface="Lucida Console" panose="020B0609040504020204" pitchFamily="49" charset="0"/>
              </a:rPr>
              <a:t>rt</a:t>
            </a:r>
            <a:endParaRPr lang="en-US" dirty="0" smtClean="0"/>
          </a:p>
          <a:p>
            <a:pPr lvl="1" eaLnBrk="1" hangingPunct="1"/>
            <a:r>
              <a:rPr lang="en-US" dirty="0" smtClean="0"/>
              <a:t>Use </a:t>
            </a:r>
            <a:r>
              <a:rPr lang="en-US" dirty="0" err="1" smtClean="0">
                <a:solidFill>
                  <a:schemeClr val="tx2"/>
                </a:solidFill>
                <a:latin typeface="Lucida Console" panose="020B0609040504020204" pitchFamily="49" charset="0"/>
              </a:rPr>
              <a:t>mfhi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chemeClr val="tx2"/>
                </a:solidFill>
                <a:latin typeface="Lucida Console" panose="020B0609040504020204" pitchFamily="49" charset="0"/>
              </a:rPr>
              <a:t>mflo</a:t>
            </a:r>
            <a:r>
              <a:rPr lang="en-US" dirty="0" smtClean="0"/>
              <a:t> to access result</a:t>
            </a:r>
            <a:endParaRPr lang="en-US" dirty="0" smtClean="0"/>
          </a:p>
          <a:p>
            <a:pPr lvl="1" eaLnBrk="1" hangingPunct="1"/>
            <a:r>
              <a:rPr lang="en-US" dirty="0" smtClean="0"/>
              <a:t>No overflow or divide-by-0 checking</a:t>
            </a:r>
            <a:endParaRPr lang="en-US" dirty="0" smtClean="0"/>
          </a:p>
          <a:p>
            <a:pPr lvl="2" eaLnBrk="1" hangingPunct="1"/>
            <a:r>
              <a:rPr lang="en-US" dirty="0" smtClean="0"/>
              <a:t>Software must perform checks if required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ChangeArrowheads="1"/>
          </p:cNvSpPr>
          <p:nvPr/>
        </p:nvSpPr>
        <p:spPr bwMode="auto">
          <a:xfrm>
            <a:off x="381000" y="2057400"/>
            <a:ext cx="8534400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 任意一个十进制数 </a:t>
            </a:r>
            <a:r>
              <a:rPr kumimoji="1" lang="zh-CN" altLang="en-US" sz="2400" b="1" i="1">
                <a:solidFill>
                  <a:srgbClr val="333399"/>
                </a:solidFill>
                <a:latin typeface="宋体" panose="02010600030101010101" pitchFamily="2" charset="-122"/>
              </a:rPr>
              <a:t>Ｎ</a:t>
            </a:r>
            <a:r>
              <a:rPr kumimoji="1"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 可以写成</a:t>
            </a:r>
            <a:endParaRPr kumimoji="1" lang="zh-CN" altLang="en-US" sz="2400" b="1">
              <a:solidFill>
                <a:srgbClr val="333399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kumimoji="1" lang="zh-CN" altLang="en-US" sz="2400" b="1">
                <a:solidFill>
                  <a:srgbClr val="6600FF"/>
                </a:solidFill>
                <a:latin typeface="宋体" panose="02010600030101010101" pitchFamily="2" charset="-122"/>
              </a:rPr>
              <a:t>                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Ｎ</a:t>
            </a:r>
            <a:r>
              <a:rPr kumimoji="1" lang="zh-CN" altLang="en-US" sz="2400" b="1" baseline="30000">
                <a:solidFill>
                  <a:srgbClr val="FF0000"/>
                </a:solidFill>
                <a:latin typeface="宋体" panose="02010600030101010101" pitchFamily="2" charset="-122"/>
              </a:rPr>
              <a:t>＝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10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宋体" panose="02010600030101010101" pitchFamily="2" charset="-122"/>
              </a:rPr>
              <a:t>E 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×Ｍ</a:t>
            </a:r>
            <a:endParaRPr kumimoji="1"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35000"/>
              </a:lnSpc>
            </a:pPr>
            <a:endParaRPr kumimoji="1"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kumimoji="1" lang="zh-CN" altLang="en-US" sz="2400" b="1">
                <a:solidFill>
                  <a:srgbClr val="333399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计算机中一个任意进制数 </a:t>
            </a:r>
            <a:r>
              <a:rPr kumimoji="1" lang="zh-CN" altLang="en-US" sz="2400" b="1" i="1">
                <a:solidFill>
                  <a:srgbClr val="000000"/>
                </a:solidFill>
                <a:latin typeface="宋体" panose="02010600030101010101" pitchFamily="2" charset="-122"/>
              </a:rPr>
              <a:t>Ｎ 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可以写成 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r>
              <a:rPr kumimoji="1" lang="zh-CN" altLang="en-US" sz="2400" b="1" i="1">
                <a:solidFill>
                  <a:srgbClr val="6600FF"/>
                </a:solidFill>
                <a:latin typeface="宋体" panose="02010600030101010101" pitchFamily="2" charset="-122"/>
              </a:rPr>
              <a:t>　　　　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Ｎ＝Ｒ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宋体" panose="02010600030101010101" pitchFamily="2" charset="-122"/>
              </a:rPr>
              <a:t>e 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×</a:t>
            </a:r>
            <a:r>
              <a:rPr kumimoji="1"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m</a:t>
            </a:r>
            <a:endParaRPr kumimoji="1" lang="en-US" altLang="zh-CN" sz="24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400" b="1" i="1">
                <a:solidFill>
                  <a:srgbClr val="000000"/>
                </a:solidFill>
                <a:latin typeface="宋体" panose="02010600030101010101" pitchFamily="2" charset="-122"/>
              </a:rPr>
              <a:t>    m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：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尾数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，是一个纯小数。 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2400" b="1" i="1">
                <a:solidFill>
                  <a:srgbClr val="000000"/>
                </a:solidFill>
                <a:latin typeface="宋体" panose="02010600030101010101" pitchFamily="2" charset="-122"/>
              </a:rPr>
              <a:t>e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：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浮点的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指数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, 是一个整数。  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2400" b="1" i="1">
                <a:solidFill>
                  <a:srgbClr val="000000"/>
                </a:solidFill>
                <a:latin typeface="宋体" panose="02010600030101010101" pitchFamily="2" charset="-122"/>
              </a:rPr>
              <a:t>R 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基数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，对于二进计数值的机器是一个常数，一般规定</a:t>
            </a:r>
            <a:r>
              <a:rPr kumimoji="1" lang="zh-CN" altLang="en-US" sz="2400" b="1" i="1">
                <a:solidFill>
                  <a:srgbClr val="000000"/>
                </a:solidFill>
                <a:latin typeface="宋体" panose="02010600030101010101" pitchFamily="2" charset="-122"/>
              </a:rPr>
              <a:t>Ｒ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为2，8或16。 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4275" name="Rectangle 1030"/>
          <p:cNvSpPr>
            <a:spLocks noChangeArrowheads="1"/>
          </p:cNvSpPr>
          <p:nvPr/>
        </p:nvSpPr>
        <p:spPr bwMode="auto">
          <a:xfrm>
            <a:off x="304800" y="228600"/>
            <a:ext cx="495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4000" b="1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浮点数的表示方法</a:t>
            </a:r>
            <a:endParaRPr kumimoji="1" lang="zh-CN" altLang="en-US" sz="4000" b="1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4276" name="Rectangle 1031"/>
          <p:cNvSpPr>
            <a:spLocks noChangeArrowheads="1"/>
          </p:cNvSpPr>
          <p:nvPr/>
        </p:nvSpPr>
        <p:spPr bwMode="auto">
          <a:xfrm>
            <a:off x="609600" y="914400"/>
            <a:ext cx="8001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9×10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－28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= 0.9 ×10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panose="02010600030101010101" pitchFamily="2" charset="-122"/>
              </a:rPr>
              <a:t>-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27</a:t>
            </a:r>
            <a:endParaRPr kumimoji="1" lang="zh-CN" altLang="en-US" sz="2400" b="1" baseline="30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2×10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33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= 0.2 ×10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34   </a:t>
            </a:r>
            <a:endParaRPr kumimoji="1" lang="zh-CN" altLang="en-US" sz="2400" b="1" baseline="30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zh-CN" altLang="en-US" sz="2400" b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——</a:t>
            </a:r>
            <a:r>
              <a:rPr kumimoji="1" lang="zh-CN" altLang="en-US" sz="2400" b="1" i="1">
                <a:solidFill>
                  <a:srgbClr val="6600FF"/>
                </a:solidFill>
                <a:latin typeface="Times New Roman" panose="02020603050405020304" pitchFamily="18" charset="0"/>
              </a:rPr>
              <a:t>Ｎ=10</a:t>
            </a:r>
            <a:r>
              <a:rPr kumimoji="1" lang="en-US" altLang="zh-CN" sz="2400" b="1" i="1" baseline="30000">
                <a:solidFill>
                  <a:srgbClr val="6600FF"/>
                </a:solidFill>
                <a:latin typeface="Times New Roman" panose="02020603050405020304" pitchFamily="18" charset="0"/>
              </a:rPr>
              <a:t>E</a:t>
            </a:r>
            <a:r>
              <a:rPr kumimoji="1" lang="en-US" altLang="zh-CN" sz="2400" b="1" i="1">
                <a:solidFill>
                  <a:srgbClr val="66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kumimoji="1" lang="zh-CN" altLang="en-US" sz="2400" b="1" i="1">
                <a:solidFill>
                  <a:srgbClr val="6600FF"/>
                </a:solidFill>
                <a:latin typeface="Times New Roman" panose="02020603050405020304" pitchFamily="18" charset="0"/>
              </a:rPr>
              <a:t>Ｍ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（十进制表示）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/>
          <p:cNvSpPr>
            <a:spLocks noChangeArrowheads="1"/>
          </p:cNvSpPr>
          <p:nvPr/>
        </p:nvSpPr>
        <p:spPr bwMode="auto">
          <a:xfrm>
            <a:off x="228600" y="914400"/>
            <a:ext cx="8610600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尾数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：用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定点小数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表示，给出有效数字的位数，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               决定了浮点数的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表示精度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；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45000"/>
              </a:lnSpc>
            </a:pP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    阶码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：用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定点整数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形式表示，指明小数点在数据中的位置，决定了浮点数的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表示范围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028" name="Group 1041"/>
          <p:cNvGrpSpPr/>
          <p:nvPr/>
        </p:nvGrpSpPr>
        <p:grpSpPr bwMode="auto">
          <a:xfrm>
            <a:off x="987425" y="2743200"/>
            <a:ext cx="7366000" cy="1325563"/>
            <a:chOff x="622" y="2333"/>
            <a:chExt cx="4640" cy="835"/>
          </a:xfrm>
        </p:grpSpPr>
        <p:sp>
          <p:nvSpPr>
            <p:cNvPr id="1031" name="Text Box 1028"/>
            <p:cNvSpPr txBox="1">
              <a:spLocks noChangeArrowheads="1"/>
            </p:cNvSpPr>
            <p:nvPr/>
          </p:nvSpPr>
          <p:spPr bwMode="auto">
            <a:xfrm>
              <a:off x="622" y="2513"/>
              <a:ext cx="4640" cy="3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E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E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 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……  E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M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s     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……  M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6" name="Object 2048"/>
            <p:cNvGraphicFramePr>
              <a:graphicFrameLocks noChangeAspect="1"/>
            </p:cNvGraphicFramePr>
            <p:nvPr/>
          </p:nvGraphicFramePr>
          <p:xfrm>
            <a:off x="2748" y="2333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82" name="Equation" r:id="rId1" imgW="114300" imgH="215900" progId="Equation.3">
                    <p:embed/>
                  </p:oleObj>
                </mc:Choice>
                <mc:Fallback>
                  <p:oleObj name="Equation" r:id="rId1" imgW="114300" imgH="215900" progId="Equation.3">
                    <p:embed/>
                    <p:pic>
                      <p:nvPicPr>
                        <p:cNvPr id="0" name="图片 501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8" y="2333"/>
                          <a:ext cx="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2" name="Line 1030"/>
            <p:cNvSpPr>
              <a:spLocks noChangeShapeType="1"/>
            </p:cNvSpPr>
            <p:nvPr/>
          </p:nvSpPr>
          <p:spPr bwMode="auto">
            <a:xfrm>
              <a:off x="1152" y="2513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033" name="Line 1031"/>
            <p:cNvSpPr>
              <a:spLocks noChangeShapeType="1"/>
            </p:cNvSpPr>
            <p:nvPr/>
          </p:nvSpPr>
          <p:spPr bwMode="auto">
            <a:xfrm>
              <a:off x="2872" y="2513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034" name="Line 1032"/>
            <p:cNvSpPr>
              <a:spLocks noChangeShapeType="1"/>
            </p:cNvSpPr>
            <p:nvPr/>
          </p:nvSpPr>
          <p:spPr bwMode="auto">
            <a:xfrm>
              <a:off x="3461" y="2513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035" name="Text Box 1033"/>
            <p:cNvSpPr txBox="1">
              <a:spLocks noChangeArrowheads="1"/>
            </p:cNvSpPr>
            <p:nvPr/>
          </p:nvSpPr>
          <p:spPr bwMode="auto">
            <a:xfrm>
              <a:off x="654" y="2880"/>
              <a:ext cx="39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阶符                 阶码               数符                尾数</a:t>
              </a:r>
              <a:endParaRPr lang="zh-CN" altLang="en-US" b="1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6" name="Line 1034"/>
            <p:cNvSpPr>
              <a:spLocks noChangeShapeType="1"/>
            </p:cNvSpPr>
            <p:nvPr/>
          </p:nvSpPr>
          <p:spPr bwMode="auto">
            <a:xfrm>
              <a:off x="1152" y="2936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037" name="Line 1035"/>
            <p:cNvSpPr>
              <a:spLocks noChangeShapeType="1"/>
            </p:cNvSpPr>
            <p:nvPr/>
          </p:nvSpPr>
          <p:spPr bwMode="auto">
            <a:xfrm>
              <a:off x="2868" y="2944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038" name="Line 1036"/>
            <p:cNvSpPr>
              <a:spLocks noChangeShapeType="1"/>
            </p:cNvSpPr>
            <p:nvPr/>
          </p:nvSpPr>
          <p:spPr bwMode="auto">
            <a:xfrm>
              <a:off x="3460" y="2944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</p:grpSp>
      <p:sp>
        <p:nvSpPr>
          <p:cNvPr id="1029" name="Rectangle 1038"/>
          <p:cNvSpPr>
            <a:spLocks noChangeArrowheads="1"/>
          </p:cNvSpPr>
          <p:nvPr/>
        </p:nvSpPr>
        <p:spPr bwMode="auto">
          <a:xfrm>
            <a:off x="304800" y="381000"/>
            <a:ext cx="661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一个机器浮点数由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阶码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尾数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及其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符号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位组成：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30" name="Rectangle 1042"/>
          <p:cNvSpPr>
            <a:spLocks noChangeArrowheads="1"/>
          </p:cNvSpPr>
          <p:nvPr/>
        </p:nvSpPr>
        <p:spPr bwMode="auto">
          <a:xfrm>
            <a:off x="304800" y="4397375"/>
            <a:ext cx="861060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(2) 浮点数的标准格式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         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（Ｎ＝Ｒ</a:t>
            </a:r>
            <a:r>
              <a:rPr kumimoji="1" lang="en-US" altLang="zh-CN" sz="2400" b="1" baseline="30000">
                <a:solidFill>
                  <a:srgbClr val="0000FF"/>
                </a:solidFill>
                <a:latin typeface="宋体" panose="02010600030101010101" pitchFamily="2" charset="-122"/>
              </a:rPr>
              <a:t>e</a:t>
            </a:r>
            <a:r>
              <a:rPr kumimoji="1"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.m）</a:t>
            </a:r>
            <a:endParaRPr kumimoji="1" lang="en-US" altLang="zh-CN" sz="24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为便于软件移植，使用 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IEEE（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电气和电子工程师协会）标准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IEEE754 </a:t>
            </a:r>
            <a:r>
              <a:rPr kumimoji="1" lang="zh-CN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标准</a:t>
            </a:r>
            <a:r>
              <a:rPr kumimoji="1" lang="zh-CN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：尾数用</a:t>
            </a:r>
            <a:r>
              <a:rPr kumimoji="1" lang="zh-CN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原码；</a:t>
            </a:r>
            <a:r>
              <a:rPr kumimoji="1" lang="zh-CN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阶码用</a:t>
            </a:r>
            <a:r>
              <a:rPr kumimoji="1" lang="zh-CN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移码；</a:t>
            </a:r>
            <a:r>
              <a:rPr kumimoji="1" lang="zh-CN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基为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endParaRPr kumimoji="1"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                                    </a:t>
            </a:r>
            <a:endParaRPr kumimoji="1"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368300" y="3225800"/>
            <a:ext cx="861695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99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</a:rPr>
              <a:t>尾数符号，0正1负；</a:t>
            </a:r>
            <a:endParaRPr lang="zh-CN" altLang="en-US" b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="1">
                <a:solidFill>
                  <a:srgbClr val="000099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</a:rPr>
              <a:t>尾数, 纯小数表示, 小数点放在尾数域的最前面。</a:t>
            </a:r>
            <a:endParaRPr lang="zh-CN" altLang="en-US" b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</a:rPr>
              <a:t>            采用原码表示。 </a:t>
            </a:r>
            <a:endParaRPr lang="zh-CN" altLang="en-US" b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>
                <a:solidFill>
                  <a:srgbClr val="000099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</a:rPr>
              <a:t>阶码，采用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“移码”</a:t>
            </a: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</a:rPr>
              <a:t>表示;</a:t>
            </a:r>
            <a:endParaRPr lang="zh-CN" altLang="en-US" b="1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</a:rPr>
              <a:t>阶符采用隐含方式，即采用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“移码”</a:t>
            </a: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</a:rPr>
              <a:t>方法来表示正负指数。</a:t>
            </a:r>
            <a:endParaRPr lang="zh-CN" altLang="en-US" b="1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228600" y="533400"/>
            <a:ext cx="85613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•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按照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IEEE754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的标准，32位浮点数和64位浮点数的标准格式为 ：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5300" name="Group 28"/>
          <p:cNvGrpSpPr/>
          <p:nvPr/>
        </p:nvGrpSpPr>
        <p:grpSpPr bwMode="auto">
          <a:xfrm>
            <a:off x="1003300" y="1039813"/>
            <a:ext cx="4967288" cy="968375"/>
            <a:chOff x="632" y="655"/>
            <a:chExt cx="3129" cy="610"/>
          </a:xfrm>
        </p:grpSpPr>
        <p:sp>
          <p:nvSpPr>
            <p:cNvPr id="55308" name="Text Box 6"/>
            <p:cNvSpPr txBox="1">
              <a:spLocks noChangeArrowheads="1"/>
            </p:cNvSpPr>
            <p:nvPr/>
          </p:nvSpPr>
          <p:spPr bwMode="auto">
            <a:xfrm>
              <a:off x="1359" y="917"/>
              <a:ext cx="2360" cy="3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S        E              M</a:t>
              </a:r>
              <a:endPara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09" name="Line 7"/>
            <p:cNvSpPr>
              <a:spLocks noChangeShapeType="1"/>
            </p:cNvSpPr>
            <p:nvPr/>
          </p:nvSpPr>
          <p:spPr bwMode="auto">
            <a:xfrm>
              <a:off x="1704" y="917"/>
              <a:ext cx="1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55310" name="Line 9"/>
            <p:cNvSpPr>
              <a:spLocks noChangeShapeType="1"/>
            </p:cNvSpPr>
            <p:nvPr/>
          </p:nvSpPr>
          <p:spPr bwMode="auto">
            <a:xfrm>
              <a:off x="2424" y="917"/>
              <a:ext cx="1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55311" name="Text Box 8"/>
            <p:cNvSpPr txBox="1">
              <a:spLocks noChangeArrowheads="1"/>
            </p:cNvSpPr>
            <p:nvPr/>
          </p:nvSpPr>
          <p:spPr bwMode="auto">
            <a:xfrm>
              <a:off x="1389" y="655"/>
              <a:ext cx="2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31  30      23 22                    0</a:t>
              </a:r>
              <a:endParaRPr lang="zh-CN" altLang="en-US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2" name="Text Box 10"/>
            <p:cNvSpPr txBox="1">
              <a:spLocks noChangeArrowheads="1"/>
            </p:cNvSpPr>
            <p:nvPr/>
          </p:nvSpPr>
          <p:spPr bwMode="auto">
            <a:xfrm>
              <a:off x="632" y="938"/>
              <a:ext cx="5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32位</a:t>
              </a:r>
              <a:endPara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5301" name="Group 29"/>
          <p:cNvGrpSpPr/>
          <p:nvPr/>
        </p:nvGrpSpPr>
        <p:grpSpPr bwMode="auto">
          <a:xfrm>
            <a:off x="1003300" y="2052638"/>
            <a:ext cx="7926388" cy="944562"/>
            <a:chOff x="632" y="1293"/>
            <a:chExt cx="4993" cy="595"/>
          </a:xfrm>
        </p:grpSpPr>
        <p:sp>
          <p:nvSpPr>
            <p:cNvPr id="55302" name="Text Box 13"/>
            <p:cNvSpPr txBox="1">
              <a:spLocks noChangeArrowheads="1"/>
            </p:cNvSpPr>
            <p:nvPr/>
          </p:nvSpPr>
          <p:spPr bwMode="auto">
            <a:xfrm>
              <a:off x="1351" y="1555"/>
              <a:ext cx="4241" cy="33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S            E                                 M</a:t>
              </a:r>
              <a:endPara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5303" name="Group 25"/>
            <p:cNvGrpSpPr/>
            <p:nvPr/>
          </p:nvGrpSpPr>
          <p:grpSpPr bwMode="auto">
            <a:xfrm>
              <a:off x="1696" y="1555"/>
              <a:ext cx="1477" cy="333"/>
              <a:chOff x="1696" y="1555"/>
              <a:chExt cx="1477" cy="333"/>
            </a:xfrm>
          </p:grpSpPr>
          <p:sp>
            <p:nvSpPr>
              <p:cNvPr id="55306" name="Line 14"/>
              <p:cNvSpPr>
                <a:spLocks noChangeShapeType="1"/>
              </p:cNvSpPr>
              <p:nvPr/>
            </p:nvSpPr>
            <p:spPr bwMode="auto">
              <a:xfrm>
                <a:off x="1696" y="1555"/>
                <a:ext cx="1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55307" name="Line 15"/>
              <p:cNvSpPr>
                <a:spLocks noChangeShapeType="1"/>
              </p:cNvSpPr>
              <p:nvPr/>
            </p:nvSpPr>
            <p:spPr bwMode="auto">
              <a:xfrm>
                <a:off x="3172" y="1555"/>
                <a:ext cx="1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55304" name="Text Box 16"/>
            <p:cNvSpPr txBox="1">
              <a:spLocks noChangeArrowheads="1"/>
            </p:cNvSpPr>
            <p:nvPr/>
          </p:nvSpPr>
          <p:spPr bwMode="auto">
            <a:xfrm>
              <a:off x="1381" y="1293"/>
              <a:ext cx="4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63  62                      52 51                                           0</a:t>
              </a:r>
              <a:endParaRPr lang="zh-CN" altLang="en-US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05" name="Text Box 17"/>
            <p:cNvSpPr txBox="1">
              <a:spLocks noChangeArrowheads="1"/>
            </p:cNvSpPr>
            <p:nvPr/>
          </p:nvSpPr>
          <p:spPr bwMode="auto">
            <a:xfrm>
              <a:off x="632" y="1498"/>
              <a:ext cx="5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64位</a:t>
              </a:r>
              <a:endPara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ChangeArrowheads="1"/>
          </p:cNvSpPr>
          <p:nvPr/>
        </p:nvSpPr>
        <p:spPr bwMode="auto">
          <a:xfrm>
            <a:off x="279400" y="719138"/>
            <a:ext cx="3903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(3) 浮点数的规格化表示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Text Box 6"/>
          <p:cNvSpPr txBox="1">
            <a:spLocks noChangeArrowheads="1"/>
          </p:cNvSpPr>
          <p:nvPr/>
        </p:nvSpPr>
        <p:spPr bwMode="auto">
          <a:xfrm>
            <a:off x="596900" y="2628900"/>
            <a:ext cx="809625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一个浮点数有不同的表示：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  0.5；  0.05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10</a:t>
            </a:r>
            <a:r>
              <a:rPr lang="zh-CN" altLang="en-US" b="1" baseline="3000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 ；  0.005 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10</a:t>
            </a:r>
            <a:r>
              <a:rPr lang="zh-CN" altLang="en-US" b="1" baseline="3000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2 ；  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50 10</a:t>
            </a:r>
            <a:r>
              <a:rPr lang="zh-CN" altLang="en-US" b="1" baseline="30000">
                <a:solidFill>
                  <a:srgbClr val="0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-2</a:t>
            </a:r>
            <a:endParaRPr lang="en-US" altLang="zh-CN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6324" name="Text Box 7"/>
          <p:cNvSpPr txBox="1">
            <a:spLocks noChangeArrowheads="1"/>
          </p:cNvSpPr>
          <p:nvPr/>
        </p:nvSpPr>
        <p:spPr bwMode="auto">
          <a:xfrm>
            <a:off x="533400" y="3886200"/>
            <a:ext cx="8096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为提高数据的表示精度，需做规格化处理。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6325" name="Text Box 8"/>
          <p:cNvSpPr txBox="1">
            <a:spLocks noChangeArrowheads="1"/>
          </p:cNvSpPr>
          <p:nvPr/>
        </p:nvSpPr>
        <p:spPr bwMode="auto">
          <a:xfrm>
            <a:off x="444500" y="1409700"/>
            <a:ext cx="82486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      浮点数是数学中实数的子集合，由一个纯小数乘上一个指数值来组成。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2000" cy="609600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solidFill>
                  <a:srgbClr val="0000FF"/>
                </a:solidFill>
                <a:ea typeface="隶书" panose="02010509060101010101" pitchFamily="49" charset="-122"/>
              </a:rPr>
              <a:t>浮点数的</a:t>
            </a:r>
            <a:r>
              <a:rPr lang="zh-CN" altLang="en-US" sz="3600" b="1" smtClean="0">
                <a:solidFill>
                  <a:srgbClr val="0000FF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规格化</a:t>
            </a:r>
            <a:endParaRPr lang="zh-CN" altLang="en-US" sz="3600" b="1" smtClean="0">
              <a:solidFill>
                <a:srgbClr val="0000FF"/>
              </a:solidFill>
              <a:ea typeface="隶书" panose="02010509060101010101" pitchFamily="49" charset="-122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305800" cy="2667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smtClean="0">
                <a:solidFill>
                  <a:srgbClr val="0000FF"/>
                </a:solidFill>
                <a:latin typeface="宋体" panose="02010600030101010101" pitchFamily="2" charset="-122"/>
              </a:rPr>
              <a:t>规格化目的：</a:t>
            </a:r>
            <a:endParaRPr lang="zh-CN" altLang="en-US" sz="2000" b="1" smtClean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b="1" smtClean="0">
                <a:latin typeface="宋体" panose="02010600030101010101" pitchFamily="2" charset="-122"/>
              </a:rPr>
              <a:t>为了提高数据的</a:t>
            </a:r>
            <a:r>
              <a:rPr lang="zh-CN" altLang="en-US" sz="2000" b="1" smtClean="0">
                <a:solidFill>
                  <a:schemeClr val="hlink"/>
                </a:solidFill>
                <a:latin typeface="宋体" panose="02010600030101010101" pitchFamily="2" charset="-122"/>
              </a:rPr>
              <a:t>表示精度</a:t>
            </a:r>
            <a:endParaRPr lang="zh-CN" altLang="en-US" sz="2000" b="1" smtClean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b="1" smtClean="0">
                <a:latin typeface="宋体" panose="02010600030101010101" pitchFamily="2" charset="-122"/>
              </a:rPr>
              <a:t>为了数据表示的</a:t>
            </a:r>
            <a:r>
              <a:rPr lang="zh-CN" altLang="en-US" sz="2000" b="1" smtClean="0">
                <a:solidFill>
                  <a:schemeClr val="hlink"/>
                </a:solidFill>
                <a:latin typeface="宋体" panose="02010600030101010101" pitchFamily="2" charset="-122"/>
              </a:rPr>
              <a:t>唯一性</a:t>
            </a:r>
            <a:endParaRPr lang="zh-CN" altLang="en-US" sz="2000" b="1" smtClean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b="1" smtClean="0">
                <a:solidFill>
                  <a:srgbClr val="0000FF"/>
                </a:solidFill>
                <a:latin typeface="宋体" panose="02010600030101010101" pitchFamily="2" charset="-122"/>
              </a:rPr>
              <a:t>尾数为</a:t>
            </a:r>
            <a:r>
              <a:rPr lang="en-US" altLang="zh-CN" sz="2000" b="1" smtClean="0">
                <a:solidFill>
                  <a:srgbClr val="0000FF"/>
                </a:solidFill>
                <a:latin typeface="宋体" panose="02010600030101010101" pitchFamily="2" charset="-122"/>
              </a:rPr>
              <a:t>R</a:t>
            </a:r>
            <a:r>
              <a:rPr lang="zh-CN" altLang="en-US" sz="2000" b="1" smtClean="0">
                <a:solidFill>
                  <a:srgbClr val="0000FF"/>
                </a:solidFill>
                <a:latin typeface="宋体" panose="02010600030101010101" pitchFamily="2" charset="-122"/>
              </a:rPr>
              <a:t>进制的规格化</a:t>
            </a:r>
            <a:r>
              <a:rPr lang="zh-CN" altLang="en-US" sz="2000" b="1" smtClean="0">
                <a:latin typeface="宋体" panose="02010600030101010101" pitchFamily="2" charset="-122"/>
              </a:rPr>
              <a:t>：</a:t>
            </a:r>
            <a:endParaRPr lang="zh-CN" altLang="en-US" sz="2000" b="1" smtClean="0">
              <a:latin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b="1" smtClean="0">
                <a:latin typeface="宋体" panose="02010600030101010101" pitchFamily="2" charset="-122"/>
              </a:rPr>
              <a:t>   绝对值</a:t>
            </a:r>
            <a:r>
              <a:rPr lang="zh-CN" altLang="en-US" sz="2000" b="1" smtClean="0">
                <a:solidFill>
                  <a:schemeClr val="hlink"/>
                </a:solidFill>
                <a:latin typeface="宋体" panose="02010600030101010101" pitchFamily="2" charset="-122"/>
              </a:rPr>
              <a:t>大于或等于1/</a:t>
            </a:r>
            <a:r>
              <a:rPr lang="en-US" altLang="zh-CN" sz="2000" b="1" smtClean="0">
                <a:solidFill>
                  <a:schemeClr val="hlink"/>
                </a:solidFill>
                <a:latin typeface="宋体" panose="02010600030101010101" pitchFamily="2" charset="-122"/>
              </a:rPr>
              <a:t>R</a:t>
            </a:r>
            <a:endParaRPr lang="en-US" altLang="zh-CN" sz="2000" b="1" smtClean="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 smtClean="0">
                <a:solidFill>
                  <a:srgbClr val="0000FF"/>
                </a:solidFill>
                <a:latin typeface="宋体" panose="02010600030101010101" pitchFamily="2" charset="-122"/>
              </a:rPr>
              <a:t>二进制原码的规格化数的</a:t>
            </a:r>
            <a:r>
              <a:rPr lang="zh-CN" altLang="en-US" sz="2000" b="1" smtClean="0">
                <a:solidFill>
                  <a:schemeClr val="hlink"/>
                </a:solidFill>
                <a:latin typeface="宋体" panose="02010600030101010101" pitchFamily="2" charset="-122"/>
              </a:rPr>
              <a:t>表现形式</a:t>
            </a:r>
            <a:r>
              <a:rPr lang="zh-CN" altLang="en-US" sz="2000" b="1" smtClean="0">
                <a:latin typeface="宋体" panose="02010600030101010101" pitchFamily="2" charset="-122"/>
              </a:rPr>
              <a:t>：</a:t>
            </a:r>
            <a:endParaRPr lang="zh-CN" altLang="en-US" sz="2000" b="1" smtClean="0">
              <a:latin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 b="1" smtClean="0">
                <a:latin typeface="宋体" panose="02010600030101010101" pitchFamily="2" charset="-122"/>
              </a:rPr>
              <a:t>     </a:t>
            </a:r>
            <a:endParaRPr lang="zh-CN" altLang="en-US" sz="2000" b="1" smtClean="0">
              <a:latin typeface="宋体" panose="02010600030101010101" pitchFamily="2" charset="-122"/>
            </a:endParaRP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5562600" y="4953000"/>
            <a:ext cx="3124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正数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0.1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xxxxxx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负数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1.0xxxxxx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2895600" y="3429000"/>
            <a:ext cx="32004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正数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0.1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xxxxxx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负数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1.1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xxxxxx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304800" y="5029200"/>
            <a:ext cx="5486400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补码尾数的规格化的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表现形式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Pct val="55000"/>
              <a:buFont typeface="Wingdings" panose="05000000000000000000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尾数的最高位与符号位相反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026"/>
          <p:cNvSpPr txBox="1">
            <a:spLocks noChangeArrowheads="1"/>
          </p:cNvSpPr>
          <p:nvPr/>
        </p:nvSpPr>
        <p:spPr bwMode="auto">
          <a:xfrm>
            <a:off x="304800" y="3783013"/>
            <a:ext cx="8585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    把不满足这一表示要求的尾数，变成满足这一要求的尾数的操作过程，叫作浮点数的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</a:rPr>
              <a:t>规格化处理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，通过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</a:rPr>
              <a:t>尾数移位和修改阶码实现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8371" name="Rectangle 1027"/>
          <p:cNvSpPr>
            <a:spLocks noChangeArrowheads="1"/>
          </p:cNvSpPr>
          <p:nvPr/>
        </p:nvSpPr>
        <p:spPr bwMode="auto">
          <a:xfrm>
            <a:off x="304800" y="1231900"/>
            <a:ext cx="845820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  在计算机内，其纯小数部分被称为浮点数的尾数，对非 0 值的浮点数，要求尾数的绝对值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必须 &gt;= 1/2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，即尾数域的最高有效位应为1,称满足这种表示要求的浮点数为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规格化表示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: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                0.1000101010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8372" name="Rectangle 1031"/>
          <p:cNvSpPr>
            <a:spLocks noChangeArrowheads="1"/>
          </p:cNvSpPr>
          <p:nvPr/>
        </p:nvSpPr>
        <p:spPr bwMode="auto">
          <a:xfrm>
            <a:off x="304800" y="433388"/>
            <a:ext cx="26320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规格化处理：</a:t>
            </a:r>
            <a:endParaRPr kumimoji="1"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/>
          <p:cNvSpPr>
            <a:spLocks noChangeArrowheads="1"/>
          </p:cNvSpPr>
          <p:nvPr/>
        </p:nvSpPr>
        <p:spPr bwMode="auto">
          <a:xfrm>
            <a:off x="431800" y="1155700"/>
            <a:ext cx="8229600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      既然非 0 值浮点数的尾数数值最高位必定为 1，则在保存浮点数到内存前，通过尾数左移,  强行把该位去掉, 用同样多的尾数位就能多存一位二进制数，有利于提高数据表示精度，称这种处理方案使用了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隐藏位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技术。        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9395" name="Text Box 1028"/>
          <p:cNvSpPr txBox="1">
            <a:spLocks noChangeArrowheads="1"/>
          </p:cNvSpPr>
          <p:nvPr/>
        </p:nvSpPr>
        <p:spPr bwMode="auto">
          <a:xfrm>
            <a:off x="2286000" y="3200400"/>
            <a:ext cx="5448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  <a:latin typeface="宋体" panose="02010600030101010101" pitchFamily="2" charset="-122"/>
              </a:rPr>
              <a:t>0.1100010  </a:t>
            </a:r>
            <a:r>
              <a:rPr lang="zh-CN" altLang="en-US" sz="3200" b="1">
                <a:solidFill>
                  <a:srgbClr val="0000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  1.100010</a:t>
            </a:r>
            <a:endParaRPr lang="zh-CN" altLang="en-US" sz="32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9396" name="Text Box 1029"/>
          <p:cNvSpPr txBox="1">
            <a:spLocks noChangeArrowheads="1"/>
          </p:cNvSpPr>
          <p:nvPr/>
        </p:nvSpPr>
        <p:spPr bwMode="auto">
          <a:xfrm>
            <a:off x="373063" y="4133850"/>
            <a:ext cx="84836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    当然，在取回这样的浮点数到运算器执行运算时，必须先恢复该隐藏位。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59397" name="Rectangle 1032"/>
          <p:cNvSpPr>
            <a:spLocks noChangeArrowheads="1"/>
          </p:cNvSpPr>
          <p:nvPr/>
        </p:nvSpPr>
        <p:spPr bwMode="auto">
          <a:xfrm>
            <a:off x="228600" y="431800"/>
            <a:ext cx="2359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隐藏位技术:</a:t>
            </a:r>
            <a:endParaRPr kumimoji="1"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304800" y="304800"/>
            <a:ext cx="3903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(4) 规格化浮点数的真值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533400" y="3505200"/>
            <a:ext cx="81534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</a:rPr>
              <a:t>        x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 =</a:t>
            </a:r>
            <a:r>
              <a:rPr kumimoji="1" lang="en-US" altLang="zh-CN" sz="2800" b="1">
                <a:solidFill>
                  <a:srgbClr val="66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>
                <a:solidFill>
                  <a:srgbClr val="CC0000"/>
                </a:solidFill>
                <a:latin typeface="宋体" panose="02010600030101010101" pitchFamily="2" charset="-122"/>
              </a:rPr>
              <a:t>-1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2800" b="1" baseline="30000">
                <a:solidFill>
                  <a:srgbClr val="CC0000"/>
                </a:solidFill>
                <a:latin typeface="Times New Roman" panose="02020603050405020304" pitchFamily="18" charset="0"/>
              </a:rPr>
              <a:t>s 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sz="2800" b="1">
                <a:solidFill>
                  <a:srgbClr val="66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(1.</a:t>
            </a:r>
            <a:r>
              <a:rPr kumimoji="1" lang="zh-CN" altLang="en-US" sz="2800" b="1" i="1">
                <a:solidFill>
                  <a:srgbClr val="CC0000"/>
                </a:solidFill>
                <a:latin typeface="Times New Roman" panose="02020603050405020304" pitchFamily="18" charset="0"/>
              </a:rPr>
              <a:t>Ｍ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) 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 2</a:t>
            </a:r>
            <a:r>
              <a:rPr kumimoji="1" lang="zh-CN" altLang="en-US" sz="2800" b="1" i="1" baseline="30000">
                <a:solidFill>
                  <a:srgbClr val="CC0000"/>
                </a:solidFill>
                <a:latin typeface="Times New Roman" panose="02020603050405020304" pitchFamily="18" charset="0"/>
              </a:rPr>
              <a:t>Ｅ－127                  </a:t>
            </a:r>
            <a:r>
              <a:rPr kumimoji="1" lang="en-US" altLang="zh-CN" sz="2800" b="1" i="1">
                <a:solidFill>
                  <a:srgbClr val="6600FF"/>
                </a:solidFill>
                <a:latin typeface="Times New Roman" panose="02020603050405020304" pitchFamily="18" charset="0"/>
              </a:rPr>
              <a:t>e </a:t>
            </a:r>
            <a:r>
              <a:rPr kumimoji="1" lang="en-US" altLang="zh-CN" sz="2800" b="1">
                <a:solidFill>
                  <a:srgbClr val="6600FF"/>
                </a:solidFill>
                <a:latin typeface="Times New Roman" panose="02020603050405020304" pitchFamily="18" charset="0"/>
              </a:rPr>
              <a:t>=</a:t>
            </a:r>
            <a:r>
              <a:rPr kumimoji="1" lang="zh-CN" altLang="en-US" sz="2800" b="1" i="1">
                <a:solidFill>
                  <a:srgbClr val="6600FF"/>
                </a:solidFill>
                <a:latin typeface="Times New Roman" panose="02020603050405020304" pitchFamily="18" charset="0"/>
              </a:rPr>
              <a:t>Ｅ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– </a:t>
            </a:r>
            <a:r>
              <a:rPr kumimoji="1" lang="zh-CN" altLang="en-US" sz="2800" b="1">
                <a:solidFill>
                  <a:srgbClr val="6600FF"/>
                </a:solidFill>
                <a:latin typeface="Times New Roman" panose="02020603050405020304" pitchFamily="18" charset="0"/>
              </a:rPr>
              <a:t>127</a:t>
            </a:r>
            <a:endParaRPr kumimoji="1" lang="zh-CN" altLang="en-US" sz="2800" b="1">
              <a:solidFill>
                <a:srgbClr val="6600FF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kumimoji="1" lang="zh-CN" altLang="en-US" sz="2800" b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457200" y="3022600"/>
            <a:ext cx="546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一个规格化的32位浮点数</a:t>
            </a:r>
            <a:r>
              <a:rPr kumimoji="1" lang="zh-CN" altLang="en-US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ｘ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的真值为：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0421" name="Group 24"/>
          <p:cNvGrpSpPr/>
          <p:nvPr/>
        </p:nvGrpSpPr>
        <p:grpSpPr bwMode="auto">
          <a:xfrm>
            <a:off x="3595688" y="762000"/>
            <a:ext cx="3813175" cy="944563"/>
            <a:chOff x="2265" y="735"/>
            <a:chExt cx="2402" cy="595"/>
          </a:xfrm>
        </p:grpSpPr>
        <p:grpSp>
          <p:nvGrpSpPr>
            <p:cNvPr id="60431" name="Group 23"/>
            <p:cNvGrpSpPr/>
            <p:nvPr/>
          </p:nvGrpSpPr>
          <p:grpSpPr bwMode="auto">
            <a:xfrm>
              <a:off x="2265" y="997"/>
              <a:ext cx="2360" cy="333"/>
              <a:chOff x="2265" y="997"/>
              <a:chExt cx="2360" cy="333"/>
            </a:xfrm>
          </p:grpSpPr>
          <p:sp>
            <p:nvSpPr>
              <p:cNvPr id="60434" name="Text Box 9"/>
              <p:cNvSpPr txBox="1">
                <a:spLocks noChangeArrowheads="1"/>
              </p:cNvSpPr>
              <p:nvPr/>
            </p:nvSpPr>
            <p:spPr bwMode="auto">
              <a:xfrm>
                <a:off x="2265" y="997"/>
                <a:ext cx="2360" cy="333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S        E              M</a:t>
                </a:r>
                <a:endParaRPr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35" name="Line 10"/>
              <p:cNvSpPr>
                <a:spLocks noChangeShapeType="1"/>
              </p:cNvSpPr>
              <p:nvPr/>
            </p:nvSpPr>
            <p:spPr bwMode="auto">
              <a:xfrm>
                <a:off x="2610" y="997"/>
                <a:ext cx="1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60432" name="Text Box 11"/>
            <p:cNvSpPr txBox="1">
              <a:spLocks noChangeArrowheads="1"/>
            </p:cNvSpPr>
            <p:nvPr/>
          </p:nvSpPr>
          <p:spPr bwMode="auto">
            <a:xfrm>
              <a:off x="2295" y="735"/>
              <a:ext cx="2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31  30      23 22                    0</a:t>
              </a:r>
              <a:endParaRPr lang="zh-CN" altLang="en-US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33" name="Line 12"/>
            <p:cNvSpPr>
              <a:spLocks noChangeShapeType="1"/>
            </p:cNvSpPr>
            <p:nvPr/>
          </p:nvSpPr>
          <p:spPr bwMode="auto">
            <a:xfrm>
              <a:off x="3330" y="997"/>
              <a:ext cx="1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</p:grpSp>
      <p:grpSp>
        <p:nvGrpSpPr>
          <p:cNvPr id="60422" name="Group 13"/>
          <p:cNvGrpSpPr/>
          <p:nvPr/>
        </p:nvGrpSpPr>
        <p:grpSpPr bwMode="auto">
          <a:xfrm>
            <a:off x="2819400" y="1981200"/>
            <a:ext cx="5308600" cy="1006475"/>
            <a:chOff x="2151" y="2363"/>
            <a:chExt cx="3344" cy="634"/>
          </a:xfrm>
        </p:grpSpPr>
        <p:sp>
          <p:nvSpPr>
            <p:cNvPr id="60428" name="Text Box 14"/>
            <p:cNvSpPr txBox="1">
              <a:spLocks noChangeArrowheads="1"/>
            </p:cNvSpPr>
            <p:nvPr/>
          </p:nvSpPr>
          <p:spPr bwMode="auto">
            <a:xfrm>
              <a:off x="2583" y="2670"/>
              <a:ext cx="8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 = 2</a:t>
              </a:r>
              <a:r>
                <a:rPr lang="en-US" altLang="zh-CN" sz="2800" b="1" baseline="30000">
                  <a:solidFill>
                    <a:srgbClr val="0000FF"/>
                  </a:solidFill>
                  <a:latin typeface="Times New Roman" panose="02020603050405020304" pitchFamily="18" charset="0"/>
                </a:rPr>
                <a:t>n 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+ </a:t>
              </a:r>
              <a:r>
                <a:rPr lang="en-US" altLang="zh-CN" sz="28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29" name="Text Box 15"/>
            <p:cNvSpPr txBox="1">
              <a:spLocks noChangeArrowheads="1"/>
            </p:cNvSpPr>
            <p:nvPr/>
          </p:nvSpPr>
          <p:spPr bwMode="auto">
            <a:xfrm>
              <a:off x="4055" y="2654"/>
              <a:ext cx="14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  -2</a:t>
              </a:r>
              <a:r>
                <a:rPr lang="en-US" altLang="zh-CN" sz="2800" b="1" baseline="3000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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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 2</a:t>
              </a:r>
              <a:r>
                <a:rPr lang="en-US" altLang="zh-CN" sz="2800" b="1" baseline="3000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30" name="Rectangle 16"/>
            <p:cNvSpPr>
              <a:spLocks noChangeArrowheads="1"/>
            </p:cNvSpPr>
            <p:nvPr/>
          </p:nvSpPr>
          <p:spPr bwMode="auto">
            <a:xfrm>
              <a:off x="2151" y="2363"/>
              <a:ext cx="268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r>
                <a:rPr kumimoji="1"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[</a:t>
              </a:r>
              <a:r>
                <a:rPr kumimoji="1" lang="en-US" altLang="zh-CN" sz="28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x</a:t>
              </a:r>
              <a:r>
                <a:rPr kumimoji="1"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]</a:t>
              </a:r>
              <a:r>
                <a:rPr kumimoji="1" lang="zh-CN" altLang="en-US" sz="2800" b="1" baseline="-25000">
                  <a:solidFill>
                    <a:srgbClr val="0000FF"/>
                  </a:solidFill>
                  <a:latin typeface="Times New Roman" panose="02020603050405020304" pitchFamily="18" charset="0"/>
                </a:rPr>
                <a:t>移</a:t>
              </a:r>
              <a:r>
                <a:rPr kumimoji="1"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 = </a:t>
              </a:r>
              <a:r>
                <a:rPr kumimoji="1" lang="en-US" altLang="zh-CN" sz="28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x0 x</a:t>
              </a:r>
              <a:r>
                <a:rPr kumimoji="1" lang="zh-CN" altLang="en-US" sz="28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1 </a:t>
              </a:r>
              <a:r>
                <a:rPr kumimoji="1" lang="en-US" altLang="zh-CN" sz="28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x2 </a:t>
              </a:r>
              <a:r>
                <a:rPr kumimoji="1" lang="en-US" altLang="zh-CN" sz="2800" b="1" i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··· </a:t>
              </a:r>
              <a:r>
                <a:rPr kumimoji="1" lang="en-US" altLang="zh-CN" sz="2800" b="1" i="1">
                  <a:solidFill>
                    <a:srgbClr val="0000FF"/>
                  </a:solidFill>
                  <a:latin typeface="Times New Roman" panose="02020603050405020304" pitchFamily="18" charset="0"/>
                </a:rPr>
                <a:t>xn</a:t>
              </a:r>
              <a:endParaRPr kumimoji="1" lang="zh-CN" altLang="en-US" sz="2800" b="1" i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0423" name="Text Box 17"/>
          <p:cNvSpPr txBox="1">
            <a:spLocks noChangeArrowheads="1"/>
          </p:cNvSpPr>
          <p:nvPr/>
        </p:nvSpPr>
        <p:spPr bwMode="auto">
          <a:xfrm>
            <a:off x="685800" y="1219200"/>
            <a:ext cx="2581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32位浮点数格式：</a:t>
            </a:r>
            <a:endParaRPr lang="en-US" altLang="zh-CN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0424" name="Text Box 18"/>
          <p:cNvSpPr txBox="1">
            <a:spLocks noChangeArrowheads="1"/>
          </p:cNvSpPr>
          <p:nvPr/>
        </p:nvSpPr>
        <p:spPr bwMode="auto">
          <a:xfrm>
            <a:off x="762000" y="2057400"/>
            <a:ext cx="174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移码定义：</a:t>
            </a:r>
            <a:endParaRPr lang="en-US" altLang="zh-CN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0425" name="Rectangle 19"/>
          <p:cNvSpPr>
            <a:spLocks noChangeArrowheads="1"/>
          </p:cNvSpPr>
          <p:nvPr/>
        </p:nvSpPr>
        <p:spPr bwMode="auto">
          <a:xfrm>
            <a:off x="838200" y="5181600"/>
            <a:ext cx="4945063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lnSpc>
                <a:spcPct val="135000"/>
              </a:lnSpc>
            </a:pPr>
            <a:r>
              <a:rPr kumimoji="1" lang="en-US" altLang="zh-CN" sz="2800" b="1" i="1">
                <a:solidFill>
                  <a:srgbClr val="66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</a:rPr>
              <a:t>x 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= ( 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–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1)</a:t>
            </a:r>
            <a:r>
              <a:rPr kumimoji="1" lang="en-US" altLang="zh-CN" sz="2800" b="1" i="1" baseline="30000">
                <a:solidFill>
                  <a:srgbClr val="CC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</a:rPr>
              <a:t>×(1.</a:t>
            </a:r>
            <a:r>
              <a:rPr kumimoji="1" lang="zh-CN" altLang="en-US" sz="2800" b="1" i="1">
                <a:solidFill>
                  <a:srgbClr val="CC0000"/>
                </a:solidFill>
                <a:latin typeface="Times New Roman" panose="02020603050405020304" pitchFamily="18" charset="0"/>
              </a:rPr>
              <a:t>Ｍ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</a:rPr>
              <a:t>)×2</a:t>
            </a:r>
            <a:r>
              <a:rPr kumimoji="1" lang="zh-CN" altLang="en-US" sz="2800" b="1" i="1" baseline="30000">
                <a:solidFill>
                  <a:srgbClr val="CC0000"/>
                </a:solidFill>
                <a:latin typeface="Times New Roman" panose="02020603050405020304" pitchFamily="18" charset="0"/>
              </a:rPr>
              <a:t>Ｅ－1023</a:t>
            </a:r>
            <a:endParaRPr kumimoji="1" lang="zh-CN" altLang="en-US" sz="2800" b="1" i="1" baseline="3000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6" name="Rectangle 20"/>
          <p:cNvSpPr>
            <a:spLocks noChangeArrowheads="1"/>
          </p:cNvSpPr>
          <p:nvPr/>
        </p:nvSpPr>
        <p:spPr bwMode="auto">
          <a:xfrm>
            <a:off x="685800" y="4699000"/>
            <a:ext cx="546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一个规格化的64位浮点数</a:t>
            </a:r>
            <a:r>
              <a:rPr kumimoji="1" lang="zh-CN" altLang="en-US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ｘ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的真值为： 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7" name="Rectangle 25"/>
          <p:cNvSpPr>
            <a:spLocks noChangeArrowheads="1"/>
          </p:cNvSpPr>
          <p:nvPr/>
        </p:nvSpPr>
        <p:spPr bwMode="auto">
          <a:xfrm>
            <a:off x="990600" y="6070600"/>
            <a:ext cx="368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6600FF"/>
                </a:solidFill>
                <a:latin typeface="Times New Roman" panose="02020603050405020304" pitchFamily="18" charset="0"/>
              </a:rPr>
              <a:t>这里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是真值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，Ｅ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是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机器数</a:t>
            </a:r>
            <a:endParaRPr kumimoji="1"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381000" y="381000"/>
            <a:ext cx="8763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例：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anose="02020603050405020304" pitchFamily="18" charset="0"/>
              </a:rPr>
              <a:t>若浮点数 </a:t>
            </a:r>
            <a:r>
              <a:rPr kumimoji="1" lang="en-US" altLang="zh-CN" sz="2400" b="1" i="1">
                <a:solidFill>
                  <a:srgbClr val="0066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x 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anose="02020603050405020304" pitchFamily="18" charset="0"/>
              </a:rPr>
              <a:t>的二进制存储格式为(41360000)</a:t>
            </a:r>
            <a:r>
              <a:rPr kumimoji="1" lang="zh-CN" altLang="en-US" sz="2400" b="1" baseline="-30000">
                <a:solidFill>
                  <a:srgbClr val="006600"/>
                </a:solidFill>
                <a:latin typeface="Times New Roman" panose="02020603050405020304" pitchFamily="18" charset="0"/>
              </a:rPr>
              <a:t>16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anose="02020603050405020304" pitchFamily="18" charset="0"/>
              </a:rPr>
              <a:t>，求</a:t>
            </a:r>
            <a:endParaRPr kumimoji="1" lang="zh-CN" altLang="en-US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zh-CN" altLang="en-US" sz="2400" b="1">
                <a:solidFill>
                  <a:srgbClr val="006600"/>
                </a:solidFill>
                <a:latin typeface="Times New Roman" panose="02020603050405020304" pitchFamily="18" charset="0"/>
              </a:rPr>
              <a:t>          其32位浮点数的十进制值。</a:t>
            </a:r>
            <a:endParaRPr kumimoji="1" lang="zh-CN" altLang="en-US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3" name="Text Box 4"/>
          <p:cNvSpPr txBox="1">
            <a:spLocks noChangeArrowheads="1"/>
          </p:cNvSpPr>
          <p:nvPr/>
        </p:nvSpPr>
        <p:spPr bwMode="auto">
          <a:xfrm>
            <a:off x="304800" y="1485900"/>
            <a:ext cx="8534400" cy="445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：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100,0001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011,0110,0000,0000,0000,0000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数符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：0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45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阶码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：1000,0010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4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     尾数：011,0110,0000,0000,0000,0000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     指数</a:t>
            </a:r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</a:rPr>
              <a:t>e＝</a:t>
            </a: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阶码－127＝10000010－01111111 ＝00000011=(3)</a:t>
            </a:r>
            <a:r>
              <a:rPr lang="zh-CN" altLang="en-US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10</a:t>
            </a:r>
            <a:b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　  包括隐藏位1的尾数：</a:t>
            </a:r>
            <a:endParaRPr lang="zh-CN" altLang="en-US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        1.</a:t>
            </a:r>
            <a:r>
              <a:rPr lang="en-US" altLang="zh-CN" b="1" i="1">
                <a:solidFill>
                  <a:srgbClr val="3333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</a:rPr>
              <a:t>＝1.011 0110 0000 0000 0000 0000＝1.011011</a:t>
            </a:r>
            <a:b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于是有  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＝(－1)</a:t>
            </a:r>
            <a:r>
              <a:rPr lang="en-US" altLang="zh-CN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×1.</a:t>
            </a:r>
            <a:r>
              <a:rPr lang="en-US" altLang="zh-CN" b="1" i="1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×2</a:t>
            </a:r>
            <a:r>
              <a:rPr lang="en-US" altLang="zh-CN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endParaRPr lang="en-US" altLang="zh-CN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30000"/>
              </a:lnSpc>
              <a:spcBef>
                <a:spcPct val="50000"/>
              </a:spcBef>
            </a:pPr>
            <a:endParaRPr lang="en-US" altLang="zh-CN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     　       ＝＋(1.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</a:rPr>
              <a:t>011011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)×2</a:t>
            </a:r>
            <a:r>
              <a:rPr lang="en-US" altLang="zh-CN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＝＋1011.011＝(11.375)</a:t>
            </a:r>
            <a:r>
              <a:rPr lang="en-US" altLang="zh-CN" b="1" baseline="-3000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228600" y="685800"/>
            <a:ext cx="891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例: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anose="02020603050405020304" pitchFamily="18" charset="0"/>
              </a:rPr>
              <a:t> 将十进制数20.59375转换成32位浮点数的二进制格式来存储</a:t>
            </a:r>
            <a:endParaRPr kumimoji="1" lang="zh-CN" altLang="en-US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228600" y="1295400"/>
            <a:ext cx="8686800" cy="388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：首先分别将整数和分数部分转换成二进制数：</a:t>
            </a:r>
            <a:endParaRPr lang="zh-CN" altLang="en-US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            20.59375＝10100.10011</a:t>
            </a:r>
            <a:endParaRPr lang="zh-CN" altLang="en-US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　　然后移动小数点，使其在第1，2位之间</a:t>
            </a:r>
            <a:endParaRPr lang="zh-CN" altLang="en-US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　　  10100.10011＝1.010010011×2</a:t>
            </a:r>
            <a:r>
              <a:rPr lang="zh-CN" altLang="en-US" b="1" baseline="30000">
                <a:solidFill>
                  <a:srgbClr val="333399"/>
                </a:solidFill>
                <a:latin typeface="Times New Roman" panose="02020603050405020304" pitchFamily="18" charset="0"/>
              </a:rPr>
              <a:t>4　　　　</a:t>
            </a:r>
            <a:r>
              <a:rPr lang="zh-CN" altLang="en-US" b="1" i="1">
                <a:solidFill>
                  <a:srgbClr val="333399"/>
                </a:solidFill>
                <a:latin typeface="Times New Roman" panose="02020603050405020304" pitchFamily="18" charset="0"/>
              </a:rPr>
              <a:t>　</a:t>
            </a:r>
            <a:r>
              <a:rPr lang="en-US" altLang="zh-CN" b="1" i="1">
                <a:solidFill>
                  <a:srgbClr val="333399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</a:rPr>
              <a:t>＝4</a:t>
            </a:r>
            <a:endParaRPr lang="en-US" altLang="zh-CN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</a:rPr>
              <a:t>　　</a:t>
            </a: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于是得到： </a:t>
            </a:r>
            <a:r>
              <a:rPr lang="en-US" altLang="zh-CN" sz="2800" b="1" i="1">
                <a:solidFill>
                  <a:srgbClr val="6600FF"/>
                </a:solidFill>
                <a:latin typeface="Times New Roman" panose="02020603050405020304" pitchFamily="18" charset="0"/>
              </a:rPr>
              <a:t>e </a:t>
            </a:r>
            <a:r>
              <a:rPr lang="en-US" altLang="zh-CN" sz="2800" b="1">
                <a:solidFill>
                  <a:srgbClr val="6600FF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800" b="1" i="1">
                <a:solidFill>
                  <a:srgbClr val="6600FF"/>
                </a:solidFill>
                <a:latin typeface="Times New Roman" panose="02020603050405020304" pitchFamily="18" charset="0"/>
              </a:rPr>
              <a:t>Ｅ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– </a:t>
            </a:r>
            <a:r>
              <a:rPr lang="zh-CN" altLang="en-US" sz="2800" b="1">
                <a:solidFill>
                  <a:srgbClr val="6600FF"/>
                </a:solidFill>
                <a:latin typeface="Times New Roman" panose="02020603050405020304" pitchFamily="18" charset="0"/>
              </a:rPr>
              <a:t>127</a:t>
            </a:r>
            <a:endParaRPr lang="zh-CN" altLang="en-US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 b="1" i="1">
                <a:solidFill>
                  <a:srgbClr val="3333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</a:rPr>
              <a:t>＝0，</a:t>
            </a:r>
            <a:r>
              <a:rPr lang="en-US" altLang="zh-CN" b="1" i="1">
                <a:solidFill>
                  <a:srgbClr val="333399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</a:rPr>
              <a:t>＝4＋127＝131=1000,0011，</a:t>
            </a:r>
            <a:r>
              <a:rPr lang="en-US" altLang="zh-CN" b="1" i="1">
                <a:solidFill>
                  <a:srgbClr val="333399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</a:rPr>
              <a:t>＝010010011</a:t>
            </a:r>
            <a:endParaRPr lang="en-US" altLang="zh-CN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</a:rPr>
              <a:t>　　</a:t>
            </a: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最后得到32位浮点数的二进制存储格式为</a:t>
            </a:r>
            <a:endParaRPr lang="zh-CN" altLang="en-US" b="1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100 0001</a:t>
            </a: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>
                <a:solidFill>
                  <a:srgbClr val="FF6600"/>
                </a:solidFill>
                <a:latin typeface="Times New Roman" panose="02020603050405020304" pitchFamily="18" charset="0"/>
              </a:rPr>
              <a:t>010 0100 1100 0000 0000 0000</a:t>
            </a:r>
            <a:r>
              <a:rPr lang="zh-CN" altLang="en-US" b="1">
                <a:solidFill>
                  <a:srgbClr val="333399"/>
                </a:solidFill>
                <a:latin typeface="Times New Roman" panose="02020603050405020304" pitchFamily="18" charset="0"/>
              </a:rPr>
              <a:t>＝ (41</a:t>
            </a:r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</a:rPr>
              <a:t>A4C000)</a:t>
            </a:r>
            <a:r>
              <a:rPr lang="en-US" altLang="zh-CN" b="1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16</a:t>
            </a:r>
            <a:r>
              <a:rPr lang="en-US" altLang="zh-CN" b="1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endParaRPr lang="en-US" altLang="zh-CN" b="1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ChangeArrowheads="1"/>
          </p:cNvSpPr>
          <p:nvPr/>
        </p:nvSpPr>
        <p:spPr bwMode="auto">
          <a:xfrm>
            <a:off x="304800" y="1447800"/>
            <a:ext cx="8610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：-0.75 = -3/4 = -0.11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panose="02010600030101010101" pitchFamily="2" charset="-122"/>
              </a:rPr>
              <a:t>2 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= -1.1×2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panose="02010600030101010101" pitchFamily="2" charset="-122"/>
              </a:rPr>
              <a:t>-1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=(-1)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×(1 + 0.1000 0000 0000 0000 0000 000)×2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panose="02010600030101010101" pitchFamily="2" charset="-122"/>
              </a:rPr>
              <a:t>-1</a:t>
            </a:r>
            <a:endParaRPr kumimoji="1" lang="zh-CN" altLang="en-US" sz="2400" b="1" baseline="30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=(-1)</a:t>
            </a:r>
            <a:r>
              <a:rPr kumimoji="1" lang="zh-CN" altLang="en-US" sz="2400" b="1" baseline="3000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×(1 + 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0.1000 0000 0000 0000 0000 000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)×2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panose="02010600030101010101" pitchFamily="2" charset="-122"/>
              </a:rPr>
              <a:t>126-127</a:t>
            </a:r>
            <a:endParaRPr kumimoji="1" lang="zh-CN" altLang="en-US" sz="2400" b="1" baseline="30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 baseline="30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en-US" altLang="zh-CN" sz="2400" b="1" i="1">
                <a:solidFill>
                  <a:srgbClr val="000000"/>
                </a:solidFill>
                <a:latin typeface="宋体" panose="02010600030101010101" pitchFamily="2" charset="-122"/>
              </a:rPr>
              <a:t>s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=</a:t>
            </a:r>
            <a:r>
              <a:rPr kumimoji="1"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，E= 126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宋体" panose="02010600030101010101" pitchFamily="2" charset="-122"/>
              </a:rPr>
              <a:t>10 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= 01111110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， F  = </a:t>
            </a:r>
            <a:r>
              <a:rPr kumimoji="1"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1000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 000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kumimoji="1" lang="en-US" altLang="zh-CN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	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011,1111,0 </a:t>
            </a:r>
            <a:r>
              <a:rPr kumimoji="1"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100,0000,0000,0000,0000,0000</a:t>
            </a:r>
            <a:endParaRPr kumimoji="1" lang="zh-CN" altLang="en-US" sz="2400" b="1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        </a:t>
            </a:r>
            <a:r>
              <a:rPr kumimoji="1" lang="en-US" altLang="zh-CN" sz="2400" b="1">
                <a:solidFill>
                  <a:srgbClr val="0000FF"/>
                </a:solidFill>
                <a:latin typeface="宋体" panose="02010600030101010101" pitchFamily="2" charset="-122"/>
              </a:rPr>
              <a:t>B     F    4    0    0    0    0    0 H</a:t>
            </a:r>
            <a:endParaRPr kumimoji="1" lang="en-US" altLang="zh-CN" sz="24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381000" y="617538"/>
            <a:ext cx="7700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：将十进制数-0.75表示成单精度的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IEEE 754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标准代码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304800" y="1219200"/>
            <a:ext cx="85344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解：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S=1，</a:t>
            </a:r>
            <a:r>
              <a:rPr kumimoji="1" lang="en-US" altLang="zh-CN" sz="2400" b="1" i="1">
                <a:solidFill>
                  <a:srgbClr val="000000"/>
                </a:solidFill>
                <a:latin typeface="宋体" panose="02010600030101010101" pitchFamily="2" charset="-122"/>
              </a:rPr>
              <a:t>E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=129，F = 1/4 = 0.25，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(-1)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×(1+0.25)×2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panose="02010600030101010101" pitchFamily="2" charset="-122"/>
              </a:rPr>
              <a:t>129-127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= -1×1.25×2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= -1.25×4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= -5.0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/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152400" y="304800"/>
            <a:ext cx="8458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求如下</a:t>
            </a:r>
            <a:r>
              <a:rPr kumimoji="1"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IEEE 754 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单精度浮点数的十进制数值：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	1</a:t>
            </a:r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 10000001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01000000000000000000000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4516" name="Rectangle 5"/>
          <p:cNvSpPr>
            <a:spLocks noChangeArrowheads="1"/>
          </p:cNvSpPr>
          <p:nvPr/>
        </p:nvSpPr>
        <p:spPr bwMode="auto">
          <a:xfrm>
            <a:off x="304800" y="4038600"/>
            <a:ext cx="84582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解：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123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=1111011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= 0.1111011000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panose="02010600030101010101" pitchFamily="2" charset="-122"/>
              </a:rPr>
              <a:t>7</a:t>
            </a:r>
            <a:endParaRPr kumimoji="1" lang="zh-CN" altLang="en-US" sz="2400" b="1" baseline="30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 baseline="30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 baseline="30000">
                <a:solidFill>
                  <a:srgbClr val="000000"/>
                </a:solidFill>
                <a:latin typeface="宋体" panose="02010600030101010101" pitchFamily="2" charset="-122"/>
              </a:rPr>
              <a:t>	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[7]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panose="02010600030101010101" pitchFamily="2" charset="-122"/>
              </a:rPr>
              <a:t>移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=10000+00111 = 10111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	 [0.1111011000]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panose="02010600030101010101" pitchFamily="2" charset="-122"/>
              </a:rPr>
              <a:t>补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=0.1111011000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  	 [123]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panose="02010600030101010101" pitchFamily="2" charset="-122"/>
              </a:rPr>
              <a:t>浮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=0 10111 1111011000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hangingPunct="1"/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4517" name="Rectangle 6"/>
          <p:cNvSpPr>
            <a:spLocks noChangeArrowheads="1"/>
          </p:cNvSpPr>
          <p:nvPr/>
        </p:nvSpPr>
        <p:spPr bwMode="auto">
          <a:xfrm>
            <a:off x="304800" y="3200400"/>
            <a:ext cx="85963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对数据123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作规格化浮点数的编码，假定1位符号位，基数为2，阶码5位，采用移码，尾数10位，采用补码。</a:t>
            </a:r>
            <a:endParaRPr kumimoji="1"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69"/>
          <p:cNvSpPr>
            <a:spLocks noChangeArrowheads="1"/>
          </p:cNvSpPr>
          <p:nvPr/>
        </p:nvSpPr>
        <p:spPr bwMode="auto">
          <a:xfrm>
            <a:off x="762000" y="1905000"/>
            <a:ext cx="7620000" cy="2819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1" hangingPunct="1"/>
            <a:endParaRPr kumimoji="1" lang="zh-CN" altLang="en-US" sz="2400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IEEE754</a:t>
            </a:r>
            <a:r>
              <a:rPr lang="zh-CN" altLang="en-US" sz="4000" smtClean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浮点数的范围</a:t>
            </a:r>
            <a:endParaRPr lang="zh-CN" altLang="en-US" sz="4000" smtClean="0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65540" name="Group 168"/>
          <p:cNvGrpSpPr/>
          <p:nvPr/>
        </p:nvGrpSpPr>
        <p:grpSpPr bwMode="auto">
          <a:xfrm>
            <a:off x="762000" y="1905000"/>
            <a:ext cx="7629525" cy="2833688"/>
            <a:chOff x="633" y="1248"/>
            <a:chExt cx="4806" cy="1785"/>
          </a:xfrm>
        </p:grpSpPr>
        <p:sp>
          <p:nvSpPr>
            <p:cNvPr id="65542" name="Rectangle 4"/>
            <p:cNvSpPr>
              <a:spLocks noChangeArrowheads="1"/>
            </p:cNvSpPr>
            <p:nvPr/>
          </p:nvSpPr>
          <p:spPr bwMode="auto">
            <a:xfrm>
              <a:off x="839" y="1289"/>
              <a:ext cx="38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格式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43" name="Rectangle 5"/>
            <p:cNvSpPr>
              <a:spLocks noChangeArrowheads="1"/>
            </p:cNvSpPr>
            <p:nvPr/>
          </p:nvSpPr>
          <p:spPr bwMode="auto">
            <a:xfrm>
              <a:off x="2034" y="1289"/>
              <a:ext cx="5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最小值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44" name="Rectangle 6"/>
            <p:cNvSpPr>
              <a:spLocks noChangeArrowheads="1"/>
            </p:cNvSpPr>
            <p:nvPr/>
          </p:nvSpPr>
          <p:spPr bwMode="auto">
            <a:xfrm>
              <a:off x="4052" y="1289"/>
              <a:ext cx="5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最大值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45" name="Rectangle 7"/>
            <p:cNvSpPr>
              <a:spLocks noChangeArrowheads="1"/>
            </p:cNvSpPr>
            <p:nvPr/>
          </p:nvSpPr>
          <p:spPr bwMode="auto">
            <a:xfrm>
              <a:off x="633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46" name="Line 8"/>
            <p:cNvSpPr>
              <a:spLocks noChangeShapeType="1"/>
            </p:cNvSpPr>
            <p:nvPr/>
          </p:nvSpPr>
          <p:spPr bwMode="auto">
            <a:xfrm>
              <a:off x="633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47" name="Line 9"/>
            <p:cNvSpPr>
              <a:spLocks noChangeShapeType="1"/>
            </p:cNvSpPr>
            <p:nvPr/>
          </p:nvSpPr>
          <p:spPr bwMode="auto">
            <a:xfrm>
              <a:off x="633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48" name="Rectangle 10"/>
            <p:cNvSpPr>
              <a:spLocks noChangeArrowheads="1"/>
            </p:cNvSpPr>
            <p:nvPr/>
          </p:nvSpPr>
          <p:spPr bwMode="auto">
            <a:xfrm>
              <a:off x="633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49" name="Line 11"/>
            <p:cNvSpPr>
              <a:spLocks noChangeShapeType="1"/>
            </p:cNvSpPr>
            <p:nvPr/>
          </p:nvSpPr>
          <p:spPr bwMode="auto">
            <a:xfrm>
              <a:off x="633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50" name="Line 12"/>
            <p:cNvSpPr>
              <a:spLocks noChangeShapeType="1"/>
            </p:cNvSpPr>
            <p:nvPr/>
          </p:nvSpPr>
          <p:spPr bwMode="auto">
            <a:xfrm>
              <a:off x="633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51" name="Rectangle 13"/>
            <p:cNvSpPr>
              <a:spLocks noChangeArrowheads="1"/>
            </p:cNvSpPr>
            <p:nvPr/>
          </p:nvSpPr>
          <p:spPr bwMode="auto">
            <a:xfrm>
              <a:off x="647" y="1248"/>
              <a:ext cx="755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52" name="Line 14"/>
            <p:cNvSpPr>
              <a:spLocks noChangeShapeType="1"/>
            </p:cNvSpPr>
            <p:nvPr/>
          </p:nvSpPr>
          <p:spPr bwMode="auto">
            <a:xfrm>
              <a:off x="647" y="1248"/>
              <a:ext cx="7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53" name="Rectangle 15"/>
            <p:cNvSpPr>
              <a:spLocks noChangeArrowheads="1"/>
            </p:cNvSpPr>
            <p:nvPr/>
          </p:nvSpPr>
          <p:spPr bwMode="auto">
            <a:xfrm>
              <a:off x="1402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54" name="Line 16"/>
            <p:cNvSpPr>
              <a:spLocks noChangeShapeType="1"/>
            </p:cNvSpPr>
            <p:nvPr/>
          </p:nvSpPr>
          <p:spPr bwMode="auto">
            <a:xfrm>
              <a:off x="1402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55" name="Line 17"/>
            <p:cNvSpPr>
              <a:spLocks noChangeShapeType="1"/>
            </p:cNvSpPr>
            <p:nvPr/>
          </p:nvSpPr>
          <p:spPr bwMode="auto">
            <a:xfrm>
              <a:off x="1402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56" name="Rectangle 18"/>
            <p:cNvSpPr>
              <a:spLocks noChangeArrowheads="1"/>
            </p:cNvSpPr>
            <p:nvPr/>
          </p:nvSpPr>
          <p:spPr bwMode="auto">
            <a:xfrm>
              <a:off x="1416" y="1248"/>
              <a:ext cx="1812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57" name="Line 19"/>
            <p:cNvSpPr>
              <a:spLocks noChangeShapeType="1"/>
            </p:cNvSpPr>
            <p:nvPr/>
          </p:nvSpPr>
          <p:spPr bwMode="auto">
            <a:xfrm>
              <a:off x="1416" y="1248"/>
              <a:ext cx="18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58" name="Rectangle 20"/>
            <p:cNvSpPr>
              <a:spLocks noChangeArrowheads="1"/>
            </p:cNvSpPr>
            <p:nvPr/>
          </p:nvSpPr>
          <p:spPr bwMode="auto">
            <a:xfrm>
              <a:off x="3228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59" name="Line 21"/>
            <p:cNvSpPr>
              <a:spLocks noChangeShapeType="1"/>
            </p:cNvSpPr>
            <p:nvPr/>
          </p:nvSpPr>
          <p:spPr bwMode="auto">
            <a:xfrm>
              <a:off x="3228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60" name="Line 22"/>
            <p:cNvSpPr>
              <a:spLocks noChangeShapeType="1"/>
            </p:cNvSpPr>
            <p:nvPr/>
          </p:nvSpPr>
          <p:spPr bwMode="auto">
            <a:xfrm>
              <a:off x="3228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61" name="Rectangle 23"/>
            <p:cNvSpPr>
              <a:spLocks noChangeArrowheads="1"/>
            </p:cNvSpPr>
            <p:nvPr/>
          </p:nvSpPr>
          <p:spPr bwMode="auto">
            <a:xfrm>
              <a:off x="3242" y="1248"/>
              <a:ext cx="2183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62" name="Line 24"/>
            <p:cNvSpPr>
              <a:spLocks noChangeShapeType="1"/>
            </p:cNvSpPr>
            <p:nvPr/>
          </p:nvSpPr>
          <p:spPr bwMode="auto">
            <a:xfrm>
              <a:off x="3242" y="1248"/>
              <a:ext cx="21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63" name="Rectangle 25"/>
            <p:cNvSpPr>
              <a:spLocks noChangeArrowheads="1"/>
            </p:cNvSpPr>
            <p:nvPr/>
          </p:nvSpPr>
          <p:spPr bwMode="auto">
            <a:xfrm>
              <a:off x="5425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64" name="Line 26"/>
            <p:cNvSpPr>
              <a:spLocks noChangeShapeType="1"/>
            </p:cNvSpPr>
            <p:nvPr/>
          </p:nvSpPr>
          <p:spPr bwMode="auto">
            <a:xfrm>
              <a:off x="5425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65" name="Line 27"/>
            <p:cNvSpPr>
              <a:spLocks noChangeShapeType="1"/>
            </p:cNvSpPr>
            <p:nvPr/>
          </p:nvSpPr>
          <p:spPr bwMode="auto">
            <a:xfrm>
              <a:off x="5425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66" name="Rectangle 28"/>
            <p:cNvSpPr>
              <a:spLocks noChangeArrowheads="1"/>
            </p:cNvSpPr>
            <p:nvPr/>
          </p:nvSpPr>
          <p:spPr bwMode="auto">
            <a:xfrm>
              <a:off x="5425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67" name="Line 29"/>
            <p:cNvSpPr>
              <a:spLocks noChangeShapeType="1"/>
            </p:cNvSpPr>
            <p:nvPr/>
          </p:nvSpPr>
          <p:spPr bwMode="auto">
            <a:xfrm>
              <a:off x="5425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68" name="Line 30"/>
            <p:cNvSpPr>
              <a:spLocks noChangeShapeType="1"/>
            </p:cNvSpPr>
            <p:nvPr/>
          </p:nvSpPr>
          <p:spPr bwMode="auto">
            <a:xfrm>
              <a:off x="5425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69" name="Rectangle 31"/>
            <p:cNvSpPr>
              <a:spLocks noChangeArrowheads="1"/>
            </p:cNvSpPr>
            <p:nvPr/>
          </p:nvSpPr>
          <p:spPr bwMode="auto">
            <a:xfrm>
              <a:off x="633" y="1262"/>
              <a:ext cx="14" cy="2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70" name="Line 32"/>
            <p:cNvSpPr>
              <a:spLocks noChangeShapeType="1"/>
            </p:cNvSpPr>
            <p:nvPr/>
          </p:nvSpPr>
          <p:spPr bwMode="auto">
            <a:xfrm>
              <a:off x="633" y="1262"/>
              <a:ext cx="1" cy="24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71" name="Rectangle 33"/>
            <p:cNvSpPr>
              <a:spLocks noChangeArrowheads="1"/>
            </p:cNvSpPr>
            <p:nvPr/>
          </p:nvSpPr>
          <p:spPr bwMode="auto">
            <a:xfrm>
              <a:off x="1402" y="1262"/>
              <a:ext cx="14" cy="2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72" name="Line 34"/>
            <p:cNvSpPr>
              <a:spLocks noChangeShapeType="1"/>
            </p:cNvSpPr>
            <p:nvPr/>
          </p:nvSpPr>
          <p:spPr bwMode="auto">
            <a:xfrm>
              <a:off x="1402" y="1262"/>
              <a:ext cx="1" cy="24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73" name="Rectangle 35"/>
            <p:cNvSpPr>
              <a:spLocks noChangeArrowheads="1"/>
            </p:cNvSpPr>
            <p:nvPr/>
          </p:nvSpPr>
          <p:spPr bwMode="auto">
            <a:xfrm>
              <a:off x="3228" y="1262"/>
              <a:ext cx="14" cy="2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74" name="Line 36"/>
            <p:cNvSpPr>
              <a:spLocks noChangeShapeType="1"/>
            </p:cNvSpPr>
            <p:nvPr/>
          </p:nvSpPr>
          <p:spPr bwMode="auto">
            <a:xfrm>
              <a:off x="3228" y="1262"/>
              <a:ext cx="1" cy="24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75" name="Rectangle 37"/>
            <p:cNvSpPr>
              <a:spLocks noChangeArrowheads="1"/>
            </p:cNvSpPr>
            <p:nvPr/>
          </p:nvSpPr>
          <p:spPr bwMode="auto">
            <a:xfrm>
              <a:off x="5425" y="1262"/>
              <a:ext cx="14" cy="2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76" name="Line 38"/>
            <p:cNvSpPr>
              <a:spLocks noChangeShapeType="1"/>
            </p:cNvSpPr>
            <p:nvPr/>
          </p:nvSpPr>
          <p:spPr bwMode="auto">
            <a:xfrm>
              <a:off x="5425" y="1262"/>
              <a:ext cx="1" cy="24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77" name="Rectangle 39"/>
            <p:cNvSpPr>
              <a:spLocks noChangeArrowheads="1"/>
            </p:cNvSpPr>
            <p:nvPr/>
          </p:nvSpPr>
          <p:spPr bwMode="auto">
            <a:xfrm>
              <a:off x="743" y="1550"/>
              <a:ext cx="5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单精度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78" name="Rectangle 40"/>
            <p:cNvSpPr>
              <a:spLocks noChangeArrowheads="1"/>
            </p:cNvSpPr>
            <p:nvPr/>
          </p:nvSpPr>
          <p:spPr bwMode="auto">
            <a:xfrm>
              <a:off x="1896" y="1536"/>
              <a:ext cx="8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E=1, M=0,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79" name="Rectangle 41"/>
            <p:cNvSpPr>
              <a:spLocks noChangeArrowheads="1"/>
            </p:cNvSpPr>
            <p:nvPr/>
          </p:nvSpPr>
          <p:spPr bwMode="auto">
            <a:xfrm>
              <a:off x="1635" y="1770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1.0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80" name="Rectangle 42"/>
            <p:cNvSpPr>
              <a:spLocks noChangeArrowheads="1"/>
            </p:cNvSpPr>
            <p:nvPr/>
          </p:nvSpPr>
          <p:spPr bwMode="auto">
            <a:xfrm>
              <a:off x="1883" y="178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81" name="Rectangle 43"/>
            <p:cNvSpPr>
              <a:spLocks noChangeArrowheads="1"/>
            </p:cNvSpPr>
            <p:nvPr/>
          </p:nvSpPr>
          <p:spPr bwMode="auto">
            <a:xfrm>
              <a:off x="2075" y="17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82" name="Rectangle 44"/>
            <p:cNvSpPr>
              <a:spLocks noChangeArrowheads="1"/>
            </p:cNvSpPr>
            <p:nvPr/>
          </p:nvSpPr>
          <p:spPr bwMode="auto">
            <a:xfrm>
              <a:off x="2171" y="1728"/>
              <a:ext cx="33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1-127 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83" name="Rectangle 45"/>
            <p:cNvSpPr>
              <a:spLocks noChangeArrowheads="1"/>
            </p:cNvSpPr>
            <p:nvPr/>
          </p:nvSpPr>
          <p:spPr bwMode="auto">
            <a:xfrm>
              <a:off x="2514" y="1770"/>
              <a:ext cx="2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= 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84" name="Rectangle 46"/>
            <p:cNvSpPr>
              <a:spLocks noChangeArrowheads="1"/>
            </p:cNvSpPr>
            <p:nvPr/>
          </p:nvSpPr>
          <p:spPr bwMode="auto">
            <a:xfrm>
              <a:off x="2775" y="1728"/>
              <a:ext cx="23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-126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85" name="Rectangle 47"/>
            <p:cNvSpPr>
              <a:spLocks noChangeArrowheads="1"/>
            </p:cNvSpPr>
            <p:nvPr/>
          </p:nvSpPr>
          <p:spPr bwMode="auto">
            <a:xfrm>
              <a:off x="3599" y="1536"/>
              <a:ext cx="121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E=254, f=.1111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86" name="Rectangle 48"/>
            <p:cNvSpPr>
              <a:spLocks noChangeArrowheads="1"/>
            </p:cNvSpPr>
            <p:nvPr/>
          </p:nvSpPr>
          <p:spPr bwMode="auto">
            <a:xfrm>
              <a:off x="4835" y="1550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…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87" name="Rectangle 49"/>
            <p:cNvSpPr>
              <a:spLocks noChangeArrowheads="1"/>
            </p:cNvSpPr>
            <p:nvPr/>
          </p:nvSpPr>
          <p:spPr bwMode="auto">
            <a:xfrm>
              <a:off x="5027" y="1536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88" name="Rectangle 50"/>
            <p:cNvSpPr>
              <a:spLocks noChangeArrowheads="1"/>
            </p:cNvSpPr>
            <p:nvPr/>
          </p:nvSpPr>
          <p:spPr bwMode="auto">
            <a:xfrm>
              <a:off x="3599" y="1783"/>
              <a:ext cx="43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1.111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89" name="Rectangle 51"/>
            <p:cNvSpPr>
              <a:spLocks noChangeArrowheads="1"/>
            </p:cNvSpPr>
            <p:nvPr/>
          </p:nvSpPr>
          <p:spPr bwMode="auto">
            <a:xfrm>
              <a:off x="4038" y="179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…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90" name="Rectangle 52"/>
            <p:cNvSpPr>
              <a:spLocks noChangeArrowheads="1"/>
            </p:cNvSpPr>
            <p:nvPr/>
          </p:nvSpPr>
          <p:spPr bwMode="auto">
            <a:xfrm>
              <a:off x="4231" y="178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91" name="Rectangle 53"/>
            <p:cNvSpPr>
              <a:spLocks noChangeArrowheads="1"/>
            </p:cNvSpPr>
            <p:nvPr/>
          </p:nvSpPr>
          <p:spPr bwMode="auto">
            <a:xfrm>
              <a:off x="4327" y="179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92" name="Rectangle 54"/>
            <p:cNvSpPr>
              <a:spLocks noChangeArrowheads="1"/>
            </p:cNvSpPr>
            <p:nvPr/>
          </p:nvSpPr>
          <p:spPr bwMode="auto">
            <a:xfrm>
              <a:off x="4519" y="178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93" name="Rectangle 55"/>
            <p:cNvSpPr>
              <a:spLocks noChangeArrowheads="1"/>
            </p:cNvSpPr>
            <p:nvPr/>
          </p:nvSpPr>
          <p:spPr bwMode="auto">
            <a:xfrm>
              <a:off x="4615" y="1742"/>
              <a:ext cx="42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254-127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94" name="Rectangle 56"/>
            <p:cNvSpPr>
              <a:spLocks noChangeArrowheads="1"/>
            </p:cNvSpPr>
            <p:nvPr/>
          </p:nvSpPr>
          <p:spPr bwMode="auto">
            <a:xfrm>
              <a:off x="3723" y="2030"/>
              <a:ext cx="2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= 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95" name="Rectangle 57"/>
            <p:cNvSpPr>
              <a:spLocks noChangeArrowheads="1"/>
            </p:cNvSpPr>
            <p:nvPr/>
          </p:nvSpPr>
          <p:spPr bwMode="auto">
            <a:xfrm>
              <a:off x="3984" y="1989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127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96" name="Rectangle 58"/>
            <p:cNvSpPr>
              <a:spLocks noChangeArrowheads="1"/>
            </p:cNvSpPr>
            <p:nvPr/>
          </p:nvSpPr>
          <p:spPr bwMode="auto">
            <a:xfrm>
              <a:off x="4189" y="204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97" name="Rectangle 59"/>
            <p:cNvSpPr>
              <a:spLocks noChangeArrowheads="1"/>
            </p:cNvSpPr>
            <p:nvPr/>
          </p:nvSpPr>
          <p:spPr bwMode="auto">
            <a:xfrm>
              <a:off x="4382" y="2030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(2-2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98" name="Rectangle 60"/>
            <p:cNvSpPr>
              <a:spLocks noChangeArrowheads="1"/>
            </p:cNvSpPr>
            <p:nvPr/>
          </p:nvSpPr>
          <p:spPr bwMode="auto">
            <a:xfrm>
              <a:off x="4711" y="1989"/>
              <a:ext cx="1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-23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599" name="Rectangle 61"/>
            <p:cNvSpPr>
              <a:spLocks noChangeArrowheads="1"/>
            </p:cNvSpPr>
            <p:nvPr/>
          </p:nvSpPr>
          <p:spPr bwMode="auto">
            <a:xfrm>
              <a:off x="4890" y="2030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00" name="Rectangle 62"/>
            <p:cNvSpPr>
              <a:spLocks noChangeArrowheads="1"/>
            </p:cNvSpPr>
            <p:nvPr/>
          </p:nvSpPr>
          <p:spPr bwMode="auto">
            <a:xfrm>
              <a:off x="633" y="150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01" name="Line 63"/>
            <p:cNvSpPr>
              <a:spLocks noChangeShapeType="1"/>
            </p:cNvSpPr>
            <p:nvPr/>
          </p:nvSpPr>
          <p:spPr bwMode="auto">
            <a:xfrm>
              <a:off x="633" y="150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02" name="Line 64"/>
            <p:cNvSpPr>
              <a:spLocks noChangeShapeType="1"/>
            </p:cNvSpPr>
            <p:nvPr/>
          </p:nvSpPr>
          <p:spPr bwMode="auto">
            <a:xfrm>
              <a:off x="633" y="150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03" name="Rectangle 65"/>
            <p:cNvSpPr>
              <a:spLocks noChangeArrowheads="1"/>
            </p:cNvSpPr>
            <p:nvPr/>
          </p:nvSpPr>
          <p:spPr bwMode="auto">
            <a:xfrm>
              <a:off x="647" y="1509"/>
              <a:ext cx="755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04" name="Line 66"/>
            <p:cNvSpPr>
              <a:spLocks noChangeShapeType="1"/>
            </p:cNvSpPr>
            <p:nvPr/>
          </p:nvSpPr>
          <p:spPr bwMode="auto">
            <a:xfrm>
              <a:off x="647" y="1509"/>
              <a:ext cx="7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05" name="Rectangle 67"/>
            <p:cNvSpPr>
              <a:spLocks noChangeArrowheads="1"/>
            </p:cNvSpPr>
            <p:nvPr/>
          </p:nvSpPr>
          <p:spPr bwMode="auto">
            <a:xfrm>
              <a:off x="1402" y="150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06" name="Line 68"/>
            <p:cNvSpPr>
              <a:spLocks noChangeShapeType="1"/>
            </p:cNvSpPr>
            <p:nvPr/>
          </p:nvSpPr>
          <p:spPr bwMode="auto">
            <a:xfrm>
              <a:off x="1402" y="150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07" name="Line 69"/>
            <p:cNvSpPr>
              <a:spLocks noChangeShapeType="1"/>
            </p:cNvSpPr>
            <p:nvPr/>
          </p:nvSpPr>
          <p:spPr bwMode="auto">
            <a:xfrm>
              <a:off x="1402" y="150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08" name="Rectangle 70"/>
            <p:cNvSpPr>
              <a:spLocks noChangeArrowheads="1"/>
            </p:cNvSpPr>
            <p:nvPr/>
          </p:nvSpPr>
          <p:spPr bwMode="auto">
            <a:xfrm>
              <a:off x="1416" y="1509"/>
              <a:ext cx="1812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09" name="Line 71"/>
            <p:cNvSpPr>
              <a:spLocks noChangeShapeType="1"/>
            </p:cNvSpPr>
            <p:nvPr/>
          </p:nvSpPr>
          <p:spPr bwMode="auto">
            <a:xfrm>
              <a:off x="1416" y="1509"/>
              <a:ext cx="18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10" name="Rectangle 72"/>
            <p:cNvSpPr>
              <a:spLocks noChangeArrowheads="1"/>
            </p:cNvSpPr>
            <p:nvPr/>
          </p:nvSpPr>
          <p:spPr bwMode="auto">
            <a:xfrm>
              <a:off x="3228" y="150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11" name="Line 73"/>
            <p:cNvSpPr>
              <a:spLocks noChangeShapeType="1"/>
            </p:cNvSpPr>
            <p:nvPr/>
          </p:nvSpPr>
          <p:spPr bwMode="auto">
            <a:xfrm>
              <a:off x="3228" y="150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12" name="Line 74"/>
            <p:cNvSpPr>
              <a:spLocks noChangeShapeType="1"/>
            </p:cNvSpPr>
            <p:nvPr/>
          </p:nvSpPr>
          <p:spPr bwMode="auto">
            <a:xfrm>
              <a:off x="3228" y="150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13" name="Rectangle 75"/>
            <p:cNvSpPr>
              <a:spLocks noChangeArrowheads="1"/>
            </p:cNvSpPr>
            <p:nvPr/>
          </p:nvSpPr>
          <p:spPr bwMode="auto">
            <a:xfrm>
              <a:off x="3242" y="1509"/>
              <a:ext cx="2183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14" name="Line 76"/>
            <p:cNvSpPr>
              <a:spLocks noChangeShapeType="1"/>
            </p:cNvSpPr>
            <p:nvPr/>
          </p:nvSpPr>
          <p:spPr bwMode="auto">
            <a:xfrm>
              <a:off x="3242" y="1509"/>
              <a:ext cx="21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15" name="Rectangle 77"/>
            <p:cNvSpPr>
              <a:spLocks noChangeArrowheads="1"/>
            </p:cNvSpPr>
            <p:nvPr/>
          </p:nvSpPr>
          <p:spPr bwMode="auto">
            <a:xfrm>
              <a:off x="5425" y="150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16" name="Line 78"/>
            <p:cNvSpPr>
              <a:spLocks noChangeShapeType="1"/>
            </p:cNvSpPr>
            <p:nvPr/>
          </p:nvSpPr>
          <p:spPr bwMode="auto">
            <a:xfrm>
              <a:off x="5425" y="150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17" name="Line 79"/>
            <p:cNvSpPr>
              <a:spLocks noChangeShapeType="1"/>
            </p:cNvSpPr>
            <p:nvPr/>
          </p:nvSpPr>
          <p:spPr bwMode="auto">
            <a:xfrm>
              <a:off x="5425" y="150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18" name="Rectangle 80"/>
            <p:cNvSpPr>
              <a:spLocks noChangeArrowheads="1"/>
            </p:cNvSpPr>
            <p:nvPr/>
          </p:nvSpPr>
          <p:spPr bwMode="auto">
            <a:xfrm>
              <a:off x="633" y="1523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19" name="Line 81"/>
            <p:cNvSpPr>
              <a:spLocks noChangeShapeType="1"/>
            </p:cNvSpPr>
            <p:nvPr/>
          </p:nvSpPr>
          <p:spPr bwMode="auto">
            <a:xfrm>
              <a:off x="633" y="1523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20" name="Rectangle 82"/>
            <p:cNvSpPr>
              <a:spLocks noChangeArrowheads="1"/>
            </p:cNvSpPr>
            <p:nvPr/>
          </p:nvSpPr>
          <p:spPr bwMode="auto">
            <a:xfrm>
              <a:off x="1402" y="1523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21" name="Line 83"/>
            <p:cNvSpPr>
              <a:spLocks noChangeShapeType="1"/>
            </p:cNvSpPr>
            <p:nvPr/>
          </p:nvSpPr>
          <p:spPr bwMode="auto">
            <a:xfrm>
              <a:off x="1402" y="1523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22" name="Rectangle 84"/>
            <p:cNvSpPr>
              <a:spLocks noChangeArrowheads="1"/>
            </p:cNvSpPr>
            <p:nvPr/>
          </p:nvSpPr>
          <p:spPr bwMode="auto">
            <a:xfrm>
              <a:off x="3228" y="1523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23" name="Line 85"/>
            <p:cNvSpPr>
              <a:spLocks noChangeShapeType="1"/>
            </p:cNvSpPr>
            <p:nvPr/>
          </p:nvSpPr>
          <p:spPr bwMode="auto">
            <a:xfrm>
              <a:off x="3228" y="1523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24" name="Rectangle 86"/>
            <p:cNvSpPr>
              <a:spLocks noChangeArrowheads="1"/>
            </p:cNvSpPr>
            <p:nvPr/>
          </p:nvSpPr>
          <p:spPr bwMode="auto">
            <a:xfrm>
              <a:off x="5425" y="1523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25" name="Line 87"/>
            <p:cNvSpPr>
              <a:spLocks noChangeShapeType="1"/>
            </p:cNvSpPr>
            <p:nvPr/>
          </p:nvSpPr>
          <p:spPr bwMode="auto">
            <a:xfrm>
              <a:off x="5425" y="1523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26" name="Rectangle 88"/>
            <p:cNvSpPr>
              <a:spLocks noChangeArrowheads="1"/>
            </p:cNvSpPr>
            <p:nvPr/>
          </p:nvSpPr>
          <p:spPr bwMode="auto">
            <a:xfrm>
              <a:off x="743" y="2305"/>
              <a:ext cx="5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双精度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27" name="Rectangle 89"/>
            <p:cNvSpPr>
              <a:spLocks noChangeArrowheads="1"/>
            </p:cNvSpPr>
            <p:nvPr/>
          </p:nvSpPr>
          <p:spPr bwMode="auto">
            <a:xfrm>
              <a:off x="1896" y="2291"/>
              <a:ext cx="8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E=1, M=0,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28" name="Rectangle 90"/>
            <p:cNvSpPr>
              <a:spLocks noChangeArrowheads="1"/>
            </p:cNvSpPr>
            <p:nvPr/>
          </p:nvSpPr>
          <p:spPr bwMode="auto">
            <a:xfrm>
              <a:off x="1594" y="2525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1.0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29" name="Rectangle 91"/>
            <p:cNvSpPr>
              <a:spLocks noChangeArrowheads="1"/>
            </p:cNvSpPr>
            <p:nvPr/>
          </p:nvSpPr>
          <p:spPr bwMode="auto">
            <a:xfrm>
              <a:off x="1841" y="2538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30" name="Rectangle 92"/>
            <p:cNvSpPr>
              <a:spLocks noChangeArrowheads="1"/>
            </p:cNvSpPr>
            <p:nvPr/>
          </p:nvSpPr>
          <p:spPr bwMode="auto">
            <a:xfrm>
              <a:off x="2034" y="25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31" name="Rectangle 93"/>
            <p:cNvSpPr>
              <a:spLocks noChangeArrowheads="1"/>
            </p:cNvSpPr>
            <p:nvPr/>
          </p:nvSpPr>
          <p:spPr bwMode="auto">
            <a:xfrm>
              <a:off x="2130" y="2483"/>
              <a:ext cx="39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1-1023 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32" name="Rectangle 94"/>
            <p:cNvSpPr>
              <a:spLocks noChangeArrowheads="1"/>
            </p:cNvSpPr>
            <p:nvPr/>
          </p:nvSpPr>
          <p:spPr bwMode="auto">
            <a:xfrm>
              <a:off x="2542" y="2525"/>
              <a:ext cx="20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=2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33" name="Rectangle 95"/>
            <p:cNvSpPr>
              <a:spLocks noChangeArrowheads="1"/>
            </p:cNvSpPr>
            <p:nvPr/>
          </p:nvSpPr>
          <p:spPr bwMode="auto">
            <a:xfrm>
              <a:off x="2748" y="2483"/>
              <a:ext cx="29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-1022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34" name="Rectangle 96"/>
            <p:cNvSpPr>
              <a:spLocks noChangeArrowheads="1"/>
            </p:cNvSpPr>
            <p:nvPr/>
          </p:nvSpPr>
          <p:spPr bwMode="auto">
            <a:xfrm>
              <a:off x="3544" y="2291"/>
              <a:ext cx="13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E=2046, f=.1111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35" name="Rectangle 97"/>
            <p:cNvSpPr>
              <a:spLocks noChangeArrowheads="1"/>
            </p:cNvSpPr>
            <p:nvPr/>
          </p:nvSpPr>
          <p:spPr bwMode="auto">
            <a:xfrm>
              <a:off x="4876" y="230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…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36" name="Rectangle 98"/>
            <p:cNvSpPr>
              <a:spLocks noChangeArrowheads="1"/>
            </p:cNvSpPr>
            <p:nvPr/>
          </p:nvSpPr>
          <p:spPr bwMode="auto">
            <a:xfrm>
              <a:off x="5068" y="2291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37" name="Rectangle 99"/>
            <p:cNvSpPr>
              <a:spLocks noChangeArrowheads="1"/>
            </p:cNvSpPr>
            <p:nvPr/>
          </p:nvSpPr>
          <p:spPr bwMode="auto">
            <a:xfrm>
              <a:off x="3530" y="2538"/>
              <a:ext cx="43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1.111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38" name="Rectangle 100"/>
            <p:cNvSpPr>
              <a:spLocks noChangeArrowheads="1"/>
            </p:cNvSpPr>
            <p:nvPr/>
          </p:nvSpPr>
          <p:spPr bwMode="auto">
            <a:xfrm>
              <a:off x="3970" y="255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…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39" name="Rectangle 101"/>
            <p:cNvSpPr>
              <a:spLocks noChangeArrowheads="1"/>
            </p:cNvSpPr>
            <p:nvPr/>
          </p:nvSpPr>
          <p:spPr bwMode="auto">
            <a:xfrm>
              <a:off x="4162" y="253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40" name="Rectangle 102"/>
            <p:cNvSpPr>
              <a:spLocks noChangeArrowheads="1"/>
            </p:cNvSpPr>
            <p:nvPr/>
          </p:nvSpPr>
          <p:spPr bwMode="auto">
            <a:xfrm>
              <a:off x="4258" y="255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41" name="Rectangle 103"/>
            <p:cNvSpPr>
              <a:spLocks noChangeArrowheads="1"/>
            </p:cNvSpPr>
            <p:nvPr/>
          </p:nvSpPr>
          <p:spPr bwMode="auto">
            <a:xfrm>
              <a:off x="4450" y="253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42" name="Rectangle 104"/>
            <p:cNvSpPr>
              <a:spLocks noChangeArrowheads="1"/>
            </p:cNvSpPr>
            <p:nvPr/>
          </p:nvSpPr>
          <p:spPr bwMode="auto">
            <a:xfrm>
              <a:off x="4547" y="2497"/>
              <a:ext cx="55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2046-1023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43" name="Rectangle 105"/>
            <p:cNvSpPr>
              <a:spLocks noChangeArrowheads="1"/>
            </p:cNvSpPr>
            <p:nvPr/>
          </p:nvSpPr>
          <p:spPr bwMode="auto">
            <a:xfrm>
              <a:off x="3709" y="2785"/>
              <a:ext cx="20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=2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44" name="Rectangle 106"/>
            <p:cNvSpPr>
              <a:spLocks noChangeArrowheads="1"/>
            </p:cNvSpPr>
            <p:nvPr/>
          </p:nvSpPr>
          <p:spPr bwMode="auto">
            <a:xfrm>
              <a:off x="3915" y="2744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1023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45" name="Rectangle 107"/>
            <p:cNvSpPr>
              <a:spLocks noChangeArrowheads="1"/>
            </p:cNvSpPr>
            <p:nvPr/>
          </p:nvSpPr>
          <p:spPr bwMode="auto">
            <a:xfrm>
              <a:off x="4189" y="2799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宋体" panose="02010600030101010101" pitchFamily="2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46" name="Rectangle 108"/>
            <p:cNvSpPr>
              <a:spLocks noChangeArrowheads="1"/>
            </p:cNvSpPr>
            <p:nvPr/>
          </p:nvSpPr>
          <p:spPr bwMode="auto">
            <a:xfrm>
              <a:off x="4382" y="2785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(2-2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47" name="Rectangle 109"/>
            <p:cNvSpPr>
              <a:spLocks noChangeArrowheads="1"/>
            </p:cNvSpPr>
            <p:nvPr/>
          </p:nvSpPr>
          <p:spPr bwMode="auto">
            <a:xfrm>
              <a:off x="4711" y="2744"/>
              <a:ext cx="1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1600">
                  <a:solidFill>
                    <a:srgbClr val="000000"/>
                  </a:solidFill>
                  <a:latin typeface="Times New Roman" panose="02020603050405020304" pitchFamily="18" charset="0"/>
                </a:rPr>
                <a:t>-52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48" name="Rectangle 110"/>
            <p:cNvSpPr>
              <a:spLocks noChangeArrowheads="1"/>
            </p:cNvSpPr>
            <p:nvPr/>
          </p:nvSpPr>
          <p:spPr bwMode="auto">
            <a:xfrm>
              <a:off x="4890" y="278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49" name="Rectangle 111"/>
            <p:cNvSpPr>
              <a:spLocks noChangeArrowheads="1"/>
            </p:cNvSpPr>
            <p:nvPr/>
          </p:nvSpPr>
          <p:spPr bwMode="auto">
            <a:xfrm>
              <a:off x="633" y="2264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50" name="Line 112"/>
            <p:cNvSpPr>
              <a:spLocks noChangeShapeType="1"/>
            </p:cNvSpPr>
            <p:nvPr/>
          </p:nvSpPr>
          <p:spPr bwMode="auto">
            <a:xfrm>
              <a:off x="633" y="2264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51" name="Line 113"/>
            <p:cNvSpPr>
              <a:spLocks noChangeShapeType="1"/>
            </p:cNvSpPr>
            <p:nvPr/>
          </p:nvSpPr>
          <p:spPr bwMode="auto">
            <a:xfrm>
              <a:off x="633" y="2264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52" name="Rectangle 114"/>
            <p:cNvSpPr>
              <a:spLocks noChangeArrowheads="1"/>
            </p:cNvSpPr>
            <p:nvPr/>
          </p:nvSpPr>
          <p:spPr bwMode="auto">
            <a:xfrm>
              <a:off x="647" y="2264"/>
              <a:ext cx="755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53" name="Line 115"/>
            <p:cNvSpPr>
              <a:spLocks noChangeShapeType="1"/>
            </p:cNvSpPr>
            <p:nvPr/>
          </p:nvSpPr>
          <p:spPr bwMode="auto">
            <a:xfrm>
              <a:off x="647" y="2264"/>
              <a:ext cx="7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54" name="Rectangle 116"/>
            <p:cNvSpPr>
              <a:spLocks noChangeArrowheads="1"/>
            </p:cNvSpPr>
            <p:nvPr/>
          </p:nvSpPr>
          <p:spPr bwMode="auto">
            <a:xfrm>
              <a:off x="1402" y="2264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55" name="Line 117"/>
            <p:cNvSpPr>
              <a:spLocks noChangeShapeType="1"/>
            </p:cNvSpPr>
            <p:nvPr/>
          </p:nvSpPr>
          <p:spPr bwMode="auto">
            <a:xfrm>
              <a:off x="1402" y="2264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56" name="Line 118"/>
            <p:cNvSpPr>
              <a:spLocks noChangeShapeType="1"/>
            </p:cNvSpPr>
            <p:nvPr/>
          </p:nvSpPr>
          <p:spPr bwMode="auto">
            <a:xfrm>
              <a:off x="1402" y="2264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57" name="Rectangle 119"/>
            <p:cNvSpPr>
              <a:spLocks noChangeArrowheads="1"/>
            </p:cNvSpPr>
            <p:nvPr/>
          </p:nvSpPr>
          <p:spPr bwMode="auto">
            <a:xfrm>
              <a:off x="1416" y="2264"/>
              <a:ext cx="1812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58" name="Line 120"/>
            <p:cNvSpPr>
              <a:spLocks noChangeShapeType="1"/>
            </p:cNvSpPr>
            <p:nvPr/>
          </p:nvSpPr>
          <p:spPr bwMode="auto">
            <a:xfrm>
              <a:off x="1416" y="2264"/>
              <a:ext cx="18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59" name="Rectangle 121"/>
            <p:cNvSpPr>
              <a:spLocks noChangeArrowheads="1"/>
            </p:cNvSpPr>
            <p:nvPr/>
          </p:nvSpPr>
          <p:spPr bwMode="auto">
            <a:xfrm>
              <a:off x="3228" y="2264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60" name="Line 122"/>
            <p:cNvSpPr>
              <a:spLocks noChangeShapeType="1"/>
            </p:cNvSpPr>
            <p:nvPr/>
          </p:nvSpPr>
          <p:spPr bwMode="auto">
            <a:xfrm>
              <a:off x="3228" y="2264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61" name="Line 123"/>
            <p:cNvSpPr>
              <a:spLocks noChangeShapeType="1"/>
            </p:cNvSpPr>
            <p:nvPr/>
          </p:nvSpPr>
          <p:spPr bwMode="auto">
            <a:xfrm>
              <a:off x="3228" y="2264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62" name="Rectangle 124"/>
            <p:cNvSpPr>
              <a:spLocks noChangeArrowheads="1"/>
            </p:cNvSpPr>
            <p:nvPr/>
          </p:nvSpPr>
          <p:spPr bwMode="auto">
            <a:xfrm>
              <a:off x="3242" y="2264"/>
              <a:ext cx="2183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63" name="Line 125"/>
            <p:cNvSpPr>
              <a:spLocks noChangeShapeType="1"/>
            </p:cNvSpPr>
            <p:nvPr/>
          </p:nvSpPr>
          <p:spPr bwMode="auto">
            <a:xfrm>
              <a:off x="3242" y="2264"/>
              <a:ext cx="21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64" name="Rectangle 126"/>
            <p:cNvSpPr>
              <a:spLocks noChangeArrowheads="1"/>
            </p:cNvSpPr>
            <p:nvPr/>
          </p:nvSpPr>
          <p:spPr bwMode="auto">
            <a:xfrm>
              <a:off x="5425" y="2264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65" name="Line 127"/>
            <p:cNvSpPr>
              <a:spLocks noChangeShapeType="1"/>
            </p:cNvSpPr>
            <p:nvPr/>
          </p:nvSpPr>
          <p:spPr bwMode="auto">
            <a:xfrm>
              <a:off x="5425" y="2264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66" name="Line 128"/>
            <p:cNvSpPr>
              <a:spLocks noChangeShapeType="1"/>
            </p:cNvSpPr>
            <p:nvPr/>
          </p:nvSpPr>
          <p:spPr bwMode="auto">
            <a:xfrm>
              <a:off x="5425" y="2264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67" name="Rectangle 129"/>
            <p:cNvSpPr>
              <a:spLocks noChangeArrowheads="1"/>
            </p:cNvSpPr>
            <p:nvPr/>
          </p:nvSpPr>
          <p:spPr bwMode="auto">
            <a:xfrm>
              <a:off x="633" y="2278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68" name="Line 130"/>
            <p:cNvSpPr>
              <a:spLocks noChangeShapeType="1"/>
            </p:cNvSpPr>
            <p:nvPr/>
          </p:nvSpPr>
          <p:spPr bwMode="auto">
            <a:xfrm>
              <a:off x="633" y="2278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69" name="Rectangle 131"/>
            <p:cNvSpPr>
              <a:spLocks noChangeArrowheads="1"/>
            </p:cNvSpPr>
            <p:nvPr/>
          </p:nvSpPr>
          <p:spPr bwMode="auto">
            <a:xfrm>
              <a:off x="633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70" name="Line 132"/>
            <p:cNvSpPr>
              <a:spLocks noChangeShapeType="1"/>
            </p:cNvSpPr>
            <p:nvPr/>
          </p:nvSpPr>
          <p:spPr bwMode="auto">
            <a:xfrm>
              <a:off x="633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71" name="Line 133"/>
            <p:cNvSpPr>
              <a:spLocks noChangeShapeType="1"/>
            </p:cNvSpPr>
            <p:nvPr/>
          </p:nvSpPr>
          <p:spPr bwMode="auto">
            <a:xfrm>
              <a:off x="633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72" name="Rectangle 134"/>
            <p:cNvSpPr>
              <a:spLocks noChangeArrowheads="1"/>
            </p:cNvSpPr>
            <p:nvPr/>
          </p:nvSpPr>
          <p:spPr bwMode="auto">
            <a:xfrm>
              <a:off x="633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73" name="Line 135"/>
            <p:cNvSpPr>
              <a:spLocks noChangeShapeType="1"/>
            </p:cNvSpPr>
            <p:nvPr/>
          </p:nvSpPr>
          <p:spPr bwMode="auto">
            <a:xfrm>
              <a:off x="633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74" name="Line 136"/>
            <p:cNvSpPr>
              <a:spLocks noChangeShapeType="1"/>
            </p:cNvSpPr>
            <p:nvPr/>
          </p:nvSpPr>
          <p:spPr bwMode="auto">
            <a:xfrm>
              <a:off x="633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75" name="Rectangle 137"/>
            <p:cNvSpPr>
              <a:spLocks noChangeArrowheads="1"/>
            </p:cNvSpPr>
            <p:nvPr/>
          </p:nvSpPr>
          <p:spPr bwMode="auto">
            <a:xfrm>
              <a:off x="647" y="3019"/>
              <a:ext cx="755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76" name="Line 138"/>
            <p:cNvSpPr>
              <a:spLocks noChangeShapeType="1"/>
            </p:cNvSpPr>
            <p:nvPr/>
          </p:nvSpPr>
          <p:spPr bwMode="auto">
            <a:xfrm>
              <a:off x="647" y="3019"/>
              <a:ext cx="7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77" name="Rectangle 139"/>
            <p:cNvSpPr>
              <a:spLocks noChangeArrowheads="1"/>
            </p:cNvSpPr>
            <p:nvPr/>
          </p:nvSpPr>
          <p:spPr bwMode="auto">
            <a:xfrm>
              <a:off x="1402" y="2278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78" name="Line 140"/>
            <p:cNvSpPr>
              <a:spLocks noChangeShapeType="1"/>
            </p:cNvSpPr>
            <p:nvPr/>
          </p:nvSpPr>
          <p:spPr bwMode="auto">
            <a:xfrm>
              <a:off x="1402" y="2278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79" name="Rectangle 141"/>
            <p:cNvSpPr>
              <a:spLocks noChangeArrowheads="1"/>
            </p:cNvSpPr>
            <p:nvPr/>
          </p:nvSpPr>
          <p:spPr bwMode="auto">
            <a:xfrm>
              <a:off x="1402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80" name="Line 142"/>
            <p:cNvSpPr>
              <a:spLocks noChangeShapeType="1"/>
            </p:cNvSpPr>
            <p:nvPr/>
          </p:nvSpPr>
          <p:spPr bwMode="auto">
            <a:xfrm>
              <a:off x="1402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81" name="Line 143"/>
            <p:cNvSpPr>
              <a:spLocks noChangeShapeType="1"/>
            </p:cNvSpPr>
            <p:nvPr/>
          </p:nvSpPr>
          <p:spPr bwMode="auto">
            <a:xfrm>
              <a:off x="1402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82" name="Rectangle 144"/>
            <p:cNvSpPr>
              <a:spLocks noChangeArrowheads="1"/>
            </p:cNvSpPr>
            <p:nvPr/>
          </p:nvSpPr>
          <p:spPr bwMode="auto">
            <a:xfrm>
              <a:off x="1416" y="3019"/>
              <a:ext cx="1812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83" name="Line 145"/>
            <p:cNvSpPr>
              <a:spLocks noChangeShapeType="1"/>
            </p:cNvSpPr>
            <p:nvPr/>
          </p:nvSpPr>
          <p:spPr bwMode="auto">
            <a:xfrm>
              <a:off x="1416" y="3019"/>
              <a:ext cx="18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84" name="Rectangle 146"/>
            <p:cNvSpPr>
              <a:spLocks noChangeArrowheads="1"/>
            </p:cNvSpPr>
            <p:nvPr/>
          </p:nvSpPr>
          <p:spPr bwMode="auto">
            <a:xfrm>
              <a:off x="3228" y="2278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85" name="Line 147"/>
            <p:cNvSpPr>
              <a:spLocks noChangeShapeType="1"/>
            </p:cNvSpPr>
            <p:nvPr/>
          </p:nvSpPr>
          <p:spPr bwMode="auto">
            <a:xfrm>
              <a:off x="3228" y="2278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86" name="Rectangle 148"/>
            <p:cNvSpPr>
              <a:spLocks noChangeArrowheads="1"/>
            </p:cNvSpPr>
            <p:nvPr/>
          </p:nvSpPr>
          <p:spPr bwMode="auto">
            <a:xfrm>
              <a:off x="3228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87" name="Line 149"/>
            <p:cNvSpPr>
              <a:spLocks noChangeShapeType="1"/>
            </p:cNvSpPr>
            <p:nvPr/>
          </p:nvSpPr>
          <p:spPr bwMode="auto">
            <a:xfrm>
              <a:off x="3228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88" name="Line 150"/>
            <p:cNvSpPr>
              <a:spLocks noChangeShapeType="1"/>
            </p:cNvSpPr>
            <p:nvPr/>
          </p:nvSpPr>
          <p:spPr bwMode="auto">
            <a:xfrm>
              <a:off x="3228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89" name="Rectangle 151"/>
            <p:cNvSpPr>
              <a:spLocks noChangeArrowheads="1"/>
            </p:cNvSpPr>
            <p:nvPr/>
          </p:nvSpPr>
          <p:spPr bwMode="auto">
            <a:xfrm>
              <a:off x="3242" y="3019"/>
              <a:ext cx="2183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90" name="Line 152"/>
            <p:cNvSpPr>
              <a:spLocks noChangeShapeType="1"/>
            </p:cNvSpPr>
            <p:nvPr/>
          </p:nvSpPr>
          <p:spPr bwMode="auto">
            <a:xfrm>
              <a:off x="3242" y="3019"/>
              <a:ext cx="21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91" name="Rectangle 153"/>
            <p:cNvSpPr>
              <a:spLocks noChangeArrowheads="1"/>
            </p:cNvSpPr>
            <p:nvPr/>
          </p:nvSpPr>
          <p:spPr bwMode="auto">
            <a:xfrm>
              <a:off x="5425" y="2278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92" name="Line 154"/>
            <p:cNvSpPr>
              <a:spLocks noChangeShapeType="1"/>
            </p:cNvSpPr>
            <p:nvPr/>
          </p:nvSpPr>
          <p:spPr bwMode="auto">
            <a:xfrm>
              <a:off x="5425" y="2278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93" name="Rectangle 155"/>
            <p:cNvSpPr>
              <a:spLocks noChangeArrowheads="1"/>
            </p:cNvSpPr>
            <p:nvPr/>
          </p:nvSpPr>
          <p:spPr bwMode="auto">
            <a:xfrm>
              <a:off x="5425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94" name="Line 156"/>
            <p:cNvSpPr>
              <a:spLocks noChangeShapeType="1"/>
            </p:cNvSpPr>
            <p:nvPr/>
          </p:nvSpPr>
          <p:spPr bwMode="auto">
            <a:xfrm>
              <a:off x="5425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95" name="Line 157"/>
            <p:cNvSpPr>
              <a:spLocks noChangeShapeType="1"/>
            </p:cNvSpPr>
            <p:nvPr/>
          </p:nvSpPr>
          <p:spPr bwMode="auto">
            <a:xfrm>
              <a:off x="5425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96" name="Rectangle 158"/>
            <p:cNvSpPr>
              <a:spLocks noChangeArrowheads="1"/>
            </p:cNvSpPr>
            <p:nvPr/>
          </p:nvSpPr>
          <p:spPr bwMode="auto">
            <a:xfrm>
              <a:off x="5425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97" name="Line 159"/>
            <p:cNvSpPr>
              <a:spLocks noChangeShapeType="1"/>
            </p:cNvSpPr>
            <p:nvPr/>
          </p:nvSpPr>
          <p:spPr bwMode="auto">
            <a:xfrm>
              <a:off x="5425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5698" name="Line 160"/>
            <p:cNvSpPr>
              <a:spLocks noChangeShapeType="1"/>
            </p:cNvSpPr>
            <p:nvPr/>
          </p:nvSpPr>
          <p:spPr bwMode="auto">
            <a:xfrm>
              <a:off x="5425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</p:grpSp>
      <p:sp>
        <p:nvSpPr>
          <p:cNvPr id="65541" name="Rectangle 161"/>
          <p:cNvSpPr>
            <a:spLocks noChangeArrowheads="1"/>
          </p:cNvSpPr>
          <p:nvPr/>
        </p:nvSpPr>
        <p:spPr bwMode="auto">
          <a:xfrm>
            <a:off x="-215900" y="4922838"/>
            <a:ext cx="6540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/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endParaRPr kumimoji="1" lang="zh-CN" altLang="en-US" sz="2400">
              <a:solidFill>
                <a:srgbClr val="000000"/>
              </a:solidFill>
              <a:latin typeface="Tahoma" panose="020B06040305040402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59"/>
          <p:cNvSpPr>
            <a:spLocks noChangeArrowheads="1"/>
          </p:cNvSpPr>
          <p:nvPr/>
        </p:nvSpPr>
        <p:spPr bwMode="auto">
          <a:xfrm>
            <a:off x="1371600" y="2209800"/>
            <a:ext cx="5943600" cy="3429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1" hangingPunct="1"/>
            <a:endParaRPr kumimoji="1" lang="zh-CN" altLang="en-US" sz="2400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1143000"/>
          </a:xfrm>
        </p:spPr>
        <p:txBody>
          <a:bodyPr/>
          <a:lstStyle/>
          <a:p>
            <a:pPr eaLnBrk="1" hangingPunct="1"/>
            <a:r>
              <a:rPr lang="zh-CN" altLang="en-US" sz="4000" smtClean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浮点数标准(</a:t>
            </a:r>
            <a:r>
              <a:rPr lang="en-US" altLang="zh-CN" sz="4000" smtClean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IEEE754)</a:t>
            </a:r>
            <a:endParaRPr lang="zh-CN" altLang="en-US" sz="4000" smtClean="0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66564" name="Group 358"/>
          <p:cNvGrpSpPr/>
          <p:nvPr/>
        </p:nvGrpSpPr>
        <p:grpSpPr bwMode="auto">
          <a:xfrm>
            <a:off x="1370013" y="1801813"/>
            <a:ext cx="5938837" cy="3863975"/>
            <a:chOff x="863" y="1135"/>
            <a:chExt cx="3741" cy="2434"/>
          </a:xfrm>
        </p:grpSpPr>
        <p:grpSp>
          <p:nvGrpSpPr>
            <p:cNvPr id="66565" name="Group 204"/>
            <p:cNvGrpSpPr/>
            <p:nvPr/>
          </p:nvGrpSpPr>
          <p:grpSpPr bwMode="auto">
            <a:xfrm>
              <a:off x="863" y="1135"/>
              <a:ext cx="3741" cy="1894"/>
              <a:chOff x="863" y="1135"/>
              <a:chExt cx="3741" cy="1894"/>
            </a:xfrm>
          </p:grpSpPr>
          <p:sp>
            <p:nvSpPr>
              <p:cNvPr id="66719" name="Rectangle 4"/>
              <p:cNvSpPr>
                <a:spLocks noChangeArrowheads="1"/>
              </p:cNvSpPr>
              <p:nvPr/>
            </p:nvSpPr>
            <p:spPr bwMode="auto">
              <a:xfrm>
                <a:off x="911" y="1167"/>
                <a:ext cx="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20" name="Rectangle 5"/>
              <p:cNvSpPr>
                <a:spLocks noChangeArrowheads="1"/>
              </p:cNvSpPr>
              <p:nvPr/>
            </p:nvSpPr>
            <p:spPr bwMode="auto">
              <a:xfrm>
                <a:off x="1150" y="1135"/>
                <a:ext cx="51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kumimoji="1"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IEEE</a:t>
                </a:r>
                <a:endParaRPr kumimoji="1" lang="en-US" altLang="zh-CN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21" name="Rectangle 6"/>
              <p:cNvSpPr>
                <a:spLocks noChangeArrowheads="1"/>
              </p:cNvSpPr>
              <p:nvPr/>
            </p:nvSpPr>
            <p:spPr bwMode="auto">
              <a:xfrm>
                <a:off x="2041" y="1167"/>
                <a:ext cx="2006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400">
                    <a:solidFill>
                      <a:srgbClr val="000000"/>
                    </a:solidFill>
                    <a:latin typeface="黑体" panose="02010609060101010101" pitchFamily="2" charset="-122"/>
                    <a:ea typeface="黑体" panose="02010609060101010101" pitchFamily="2" charset="-122"/>
                  </a:rPr>
                  <a:t>单精度浮点数编码格式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22" name="Rectangle 7"/>
              <p:cNvSpPr>
                <a:spLocks noChangeArrowheads="1"/>
              </p:cNvSpPr>
              <p:nvPr/>
            </p:nvSpPr>
            <p:spPr bwMode="auto">
              <a:xfrm>
                <a:off x="974" y="1469"/>
                <a:ext cx="557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符号位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23" name="Rectangle 8"/>
              <p:cNvSpPr>
                <a:spLocks noChangeArrowheads="1"/>
              </p:cNvSpPr>
              <p:nvPr/>
            </p:nvSpPr>
            <p:spPr bwMode="auto">
              <a:xfrm>
                <a:off x="1707" y="1469"/>
                <a:ext cx="398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阶码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24" name="Rectangle 9"/>
              <p:cNvSpPr>
                <a:spLocks noChangeArrowheads="1"/>
              </p:cNvSpPr>
              <p:nvPr/>
            </p:nvSpPr>
            <p:spPr bwMode="auto">
              <a:xfrm>
                <a:off x="2455" y="1469"/>
                <a:ext cx="398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尾数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25" name="Rectangle 10"/>
              <p:cNvSpPr>
                <a:spLocks noChangeArrowheads="1"/>
              </p:cNvSpPr>
              <p:nvPr/>
            </p:nvSpPr>
            <p:spPr bwMode="auto">
              <a:xfrm>
                <a:off x="3665" y="1469"/>
                <a:ext cx="398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表示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26" name="Rectangle 11"/>
              <p:cNvSpPr>
                <a:spLocks noChangeArrowheads="1"/>
              </p:cNvSpPr>
              <p:nvPr/>
            </p:nvSpPr>
            <p:spPr bwMode="auto">
              <a:xfrm>
                <a:off x="863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27" name="Line 12"/>
              <p:cNvSpPr>
                <a:spLocks noChangeShapeType="1"/>
              </p:cNvSpPr>
              <p:nvPr/>
            </p:nvSpPr>
            <p:spPr bwMode="auto">
              <a:xfrm>
                <a:off x="863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28" name="Line 13"/>
              <p:cNvSpPr>
                <a:spLocks noChangeShapeType="1"/>
              </p:cNvSpPr>
              <p:nvPr/>
            </p:nvSpPr>
            <p:spPr bwMode="auto">
              <a:xfrm>
                <a:off x="863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29" name="Rectangle 14"/>
              <p:cNvSpPr>
                <a:spLocks noChangeArrowheads="1"/>
              </p:cNvSpPr>
              <p:nvPr/>
            </p:nvSpPr>
            <p:spPr bwMode="auto">
              <a:xfrm>
                <a:off x="863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30" name="Line 15"/>
              <p:cNvSpPr>
                <a:spLocks noChangeShapeType="1"/>
              </p:cNvSpPr>
              <p:nvPr/>
            </p:nvSpPr>
            <p:spPr bwMode="auto">
              <a:xfrm>
                <a:off x="863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31" name="Line 16"/>
              <p:cNvSpPr>
                <a:spLocks noChangeShapeType="1"/>
              </p:cNvSpPr>
              <p:nvPr/>
            </p:nvSpPr>
            <p:spPr bwMode="auto">
              <a:xfrm>
                <a:off x="863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32" name="Rectangle 17"/>
              <p:cNvSpPr>
                <a:spLocks noChangeArrowheads="1"/>
              </p:cNvSpPr>
              <p:nvPr/>
            </p:nvSpPr>
            <p:spPr bwMode="auto">
              <a:xfrm>
                <a:off x="879" y="1390"/>
                <a:ext cx="653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33" name="Line 18"/>
              <p:cNvSpPr>
                <a:spLocks noChangeShapeType="1"/>
              </p:cNvSpPr>
              <p:nvPr/>
            </p:nvSpPr>
            <p:spPr bwMode="auto">
              <a:xfrm>
                <a:off x="879" y="1390"/>
                <a:ext cx="65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34" name="Rectangle 19"/>
              <p:cNvSpPr>
                <a:spLocks noChangeArrowheads="1"/>
              </p:cNvSpPr>
              <p:nvPr/>
            </p:nvSpPr>
            <p:spPr bwMode="auto">
              <a:xfrm>
                <a:off x="1532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35" name="Line 20"/>
              <p:cNvSpPr>
                <a:spLocks noChangeShapeType="1"/>
              </p:cNvSpPr>
              <p:nvPr/>
            </p:nvSpPr>
            <p:spPr bwMode="auto">
              <a:xfrm>
                <a:off x="1532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36" name="Line 21"/>
              <p:cNvSpPr>
                <a:spLocks noChangeShapeType="1"/>
              </p:cNvSpPr>
              <p:nvPr/>
            </p:nvSpPr>
            <p:spPr bwMode="auto">
              <a:xfrm>
                <a:off x="1532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37" name="Rectangle 22"/>
              <p:cNvSpPr>
                <a:spLocks noChangeArrowheads="1"/>
              </p:cNvSpPr>
              <p:nvPr/>
            </p:nvSpPr>
            <p:spPr bwMode="auto">
              <a:xfrm>
                <a:off x="1548" y="1390"/>
                <a:ext cx="63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38" name="Line 23"/>
              <p:cNvSpPr>
                <a:spLocks noChangeShapeType="1"/>
              </p:cNvSpPr>
              <p:nvPr/>
            </p:nvSpPr>
            <p:spPr bwMode="auto">
              <a:xfrm>
                <a:off x="1548" y="1390"/>
                <a:ext cx="6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39" name="Rectangle 24"/>
              <p:cNvSpPr>
                <a:spLocks noChangeArrowheads="1"/>
              </p:cNvSpPr>
              <p:nvPr/>
            </p:nvSpPr>
            <p:spPr bwMode="auto">
              <a:xfrm>
                <a:off x="2184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40" name="Line 25"/>
              <p:cNvSpPr>
                <a:spLocks noChangeShapeType="1"/>
              </p:cNvSpPr>
              <p:nvPr/>
            </p:nvSpPr>
            <p:spPr bwMode="auto">
              <a:xfrm>
                <a:off x="2184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41" name="Line 26"/>
              <p:cNvSpPr>
                <a:spLocks noChangeShapeType="1"/>
              </p:cNvSpPr>
              <p:nvPr/>
            </p:nvSpPr>
            <p:spPr bwMode="auto">
              <a:xfrm>
                <a:off x="2184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42" name="Rectangle 27"/>
              <p:cNvSpPr>
                <a:spLocks noChangeArrowheads="1"/>
              </p:cNvSpPr>
              <p:nvPr/>
            </p:nvSpPr>
            <p:spPr bwMode="auto">
              <a:xfrm>
                <a:off x="2200" y="1390"/>
                <a:ext cx="828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43" name="Line 28"/>
              <p:cNvSpPr>
                <a:spLocks noChangeShapeType="1"/>
              </p:cNvSpPr>
              <p:nvPr/>
            </p:nvSpPr>
            <p:spPr bwMode="auto">
              <a:xfrm>
                <a:off x="2200" y="1390"/>
                <a:ext cx="8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44" name="Rectangle 29"/>
              <p:cNvSpPr>
                <a:spLocks noChangeArrowheads="1"/>
              </p:cNvSpPr>
              <p:nvPr/>
            </p:nvSpPr>
            <p:spPr bwMode="auto">
              <a:xfrm>
                <a:off x="3028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45" name="Line 30"/>
              <p:cNvSpPr>
                <a:spLocks noChangeShapeType="1"/>
              </p:cNvSpPr>
              <p:nvPr/>
            </p:nvSpPr>
            <p:spPr bwMode="auto">
              <a:xfrm>
                <a:off x="3028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46" name="Line 31"/>
              <p:cNvSpPr>
                <a:spLocks noChangeShapeType="1"/>
              </p:cNvSpPr>
              <p:nvPr/>
            </p:nvSpPr>
            <p:spPr bwMode="auto">
              <a:xfrm>
                <a:off x="3028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47" name="Rectangle 32"/>
              <p:cNvSpPr>
                <a:spLocks noChangeArrowheads="1"/>
              </p:cNvSpPr>
              <p:nvPr/>
            </p:nvSpPr>
            <p:spPr bwMode="auto">
              <a:xfrm>
                <a:off x="3044" y="1390"/>
                <a:ext cx="1544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48" name="Line 33"/>
              <p:cNvSpPr>
                <a:spLocks noChangeShapeType="1"/>
              </p:cNvSpPr>
              <p:nvPr/>
            </p:nvSpPr>
            <p:spPr bwMode="auto">
              <a:xfrm>
                <a:off x="3044" y="1390"/>
                <a:ext cx="154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49" name="Rectangle 34"/>
              <p:cNvSpPr>
                <a:spLocks noChangeArrowheads="1"/>
              </p:cNvSpPr>
              <p:nvPr/>
            </p:nvSpPr>
            <p:spPr bwMode="auto">
              <a:xfrm>
                <a:off x="4588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50" name="Line 35"/>
              <p:cNvSpPr>
                <a:spLocks noChangeShapeType="1"/>
              </p:cNvSpPr>
              <p:nvPr/>
            </p:nvSpPr>
            <p:spPr bwMode="auto">
              <a:xfrm>
                <a:off x="4588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51" name="Line 36"/>
              <p:cNvSpPr>
                <a:spLocks noChangeShapeType="1"/>
              </p:cNvSpPr>
              <p:nvPr/>
            </p:nvSpPr>
            <p:spPr bwMode="auto">
              <a:xfrm>
                <a:off x="4588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52" name="Rectangle 37"/>
              <p:cNvSpPr>
                <a:spLocks noChangeArrowheads="1"/>
              </p:cNvSpPr>
              <p:nvPr/>
            </p:nvSpPr>
            <p:spPr bwMode="auto">
              <a:xfrm>
                <a:off x="4588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53" name="Line 38"/>
              <p:cNvSpPr>
                <a:spLocks noChangeShapeType="1"/>
              </p:cNvSpPr>
              <p:nvPr/>
            </p:nvSpPr>
            <p:spPr bwMode="auto">
              <a:xfrm>
                <a:off x="4588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54" name="Line 39"/>
              <p:cNvSpPr>
                <a:spLocks noChangeShapeType="1"/>
              </p:cNvSpPr>
              <p:nvPr/>
            </p:nvSpPr>
            <p:spPr bwMode="auto">
              <a:xfrm>
                <a:off x="4588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55" name="Rectangle 40"/>
              <p:cNvSpPr>
                <a:spLocks noChangeArrowheads="1"/>
              </p:cNvSpPr>
              <p:nvPr/>
            </p:nvSpPr>
            <p:spPr bwMode="auto">
              <a:xfrm>
                <a:off x="863" y="1406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56" name="Line 41"/>
              <p:cNvSpPr>
                <a:spLocks noChangeShapeType="1"/>
              </p:cNvSpPr>
              <p:nvPr/>
            </p:nvSpPr>
            <p:spPr bwMode="auto">
              <a:xfrm>
                <a:off x="863" y="1406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57" name="Rectangle 42"/>
              <p:cNvSpPr>
                <a:spLocks noChangeArrowheads="1"/>
              </p:cNvSpPr>
              <p:nvPr/>
            </p:nvSpPr>
            <p:spPr bwMode="auto">
              <a:xfrm>
                <a:off x="1532" y="1406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58" name="Line 43"/>
              <p:cNvSpPr>
                <a:spLocks noChangeShapeType="1"/>
              </p:cNvSpPr>
              <p:nvPr/>
            </p:nvSpPr>
            <p:spPr bwMode="auto">
              <a:xfrm>
                <a:off x="1532" y="1406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59" name="Rectangle 44"/>
              <p:cNvSpPr>
                <a:spLocks noChangeArrowheads="1"/>
              </p:cNvSpPr>
              <p:nvPr/>
            </p:nvSpPr>
            <p:spPr bwMode="auto">
              <a:xfrm>
                <a:off x="2184" y="1406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60" name="Line 45"/>
              <p:cNvSpPr>
                <a:spLocks noChangeShapeType="1"/>
              </p:cNvSpPr>
              <p:nvPr/>
            </p:nvSpPr>
            <p:spPr bwMode="auto">
              <a:xfrm>
                <a:off x="2184" y="1406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61" name="Rectangle 46"/>
              <p:cNvSpPr>
                <a:spLocks noChangeArrowheads="1"/>
              </p:cNvSpPr>
              <p:nvPr/>
            </p:nvSpPr>
            <p:spPr bwMode="auto">
              <a:xfrm>
                <a:off x="3028" y="1406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62" name="Line 47"/>
              <p:cNvSpPr>
                <a:spLocks noChangeShapeType="1"/>
              </p:cNvSpPr>
              <p:nvPr/>
            </p:nvSpPr>
            <p:spPr bwMode="auto">
              <a:xfrm>
                <a:off x="3028" y="1406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63" name="Rectangle 48"/>
              <p:cNvSpPr>
                <a:spLocks noChangeArrowheads="1"/>
              </p:cNvSpPr>
              <p:nvPr/>
            </p:nvSpPr>
            <p:spPr bwMode="auto">
              <a:xfrm>
                <a:off x="4588" y="1406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64" name="Line 49"/>
              <p:cNvSpPr>
                <a:spLocks noChangeShapeType="1"/>
              </p:cNvSpPr>
              <p:nvPr/>
            </p:nvSpPr>
            <p:spPr bwMode="auto">
              <a:xfrm>
                <a:off x="4588" y="1406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65" name="Rectangle 50"/>
              <p:cNvSpPr>
                <a:spLocks noChangeArrowheads="1"/>
              </p:cNvSpPr>
              <p:nvPr/>
            </p:nvSpPr>
            <p:spPr bwMode="auto">
              <a:xfrm>
                <a:off x="1102" y="1724"/>
                <a:ext cx="27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0/1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66" name="Rectangle 51"/>
              <p:cNvSpPr>
                <a:spLocks noChangeArrowheads="1"/>
              </p:cNvSpPr>
              <p:nvPr/>
            </p:nvSpPr>
            <p:spPr bwMode="auto">
              <a:xfrm>
                <a:off x="1754" y="1724"/>
                <a:ext cx="302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255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67" name="Rectangle 52"/>
              <p:cNvSpPr>
                <a:spLocks noChangeArrowheads="1"/>
              </p:cNvSpPr>
              <p:nvPr/>
            </p:nvSpPr>
            <p:spPr bwMode="auto">
              <a:xfrm>
                <a:off x="2487" y="1740"/>
                <a:ext cx="239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非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68" name="Rectangle 53"/>
              <p:cNvSpPr>
                <a:spLocks noChangeArrowheads="1"/>
              </p:cNvSpPr>
              <p:nvPr/>
            </p:nvSpPr>
            <p:spPr bwMode="auto">
              <a:xfrm>
                <a:off x="2678" y="1724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69" name="Rectangle 54"/>
              <p:cNvSpPr>
                <a:spLocks noChangeArrowheads="1"/>
              </p:cNvSpPr>
              <p:nvPr/>
            </p:nvSpPr>
            <p:spPr bwMode="auto">
              <a:xfrm>
                <a:off x="3776" y="1724"/>
                <a:ext cx="30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en-US" altLang="zh-CN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NaN</a:t>
                </a:r>
                <a:endParaRPr kumimoji="1" lang="en-US" altLang="zh-CN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70" name="Rectangle 55"/>
              <p:cNvSpPr>
                <a:spLocks noChangeArrowheads="1"/>
              </p:cNvSpPr>
              <p:nvPr/>
            </p:nvSpPr>
            <p:spPr bwMode="auto">
              <a:xfrm>
                <a:off x="863" y="166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71" name="Line 56"/>
              <p:cNvSpPr>
                <a:spLocks noChangeShapeType="1"/>
              </p:cNvSpPr>
              <p:nvPr/>
            </p:nvSpPr>
            <p:spPr bwMode="auto">
              <a:xfrm>
                <a:off x="863" y="166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72" name="Line 57"/>
              <p:cNvSpPr>
                <a:spLocks noChangeShapeType="1"/>
              </p:cNvSpPr>
              <p:nvPr/>
            </p:nvSpPr>
            <p:spPr bwMode="auto">
              <a:xfrm>
                <a:off x="863" y="166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73" name="Rectangle 58"/>
              <p:cNvSpPr>
                <a:spLocks noChangeArrowheads="1"/>
              </p:cNvSpPr>
              <p:nvPr/>
            </p:nvSpPr>
            <p:spPr bwMode="auto">
              <a:xfrm>
                <a:off x="879" y="1660"/>
                <a:ext cx="653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74" name="Line 59"/>
              <p:cNvSpPr>
                <a:spLocks noChangeShapeType="1"/>
              </p:cNvSpPr>
              <p:nvPr/>
            </p:nvSpPr>
            <p:spPr bwMode="auto">
              <a:xfrm>
                <a:off x="879" y="1660"/>
                <a:ext cx="65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75" name="Rectangle 60"/>
              <p:cNvSpPr>
                <a:spLocks noChangeArrowheads="1"/>
              </p:cNvSpPr>
              <p:nvPr/>
            </p:nvSpPr>
            <p:spPr bwMode="auto">
              <a:xfrm>
                <a:off x="1532" y="166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76" name="Line 61"/>
              <p:cNvSpPr>
                <a:spLocks noChangeShapeType="1"/>
              </p:cNvSpPr>
              <p:nvPr/>
            </p:nvSpPr>
            <p:spPr bwMode="auto">
              <a:xfrm>
                <a:off x="1532" y="166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77" name="Line 62"/>
              <p:cNvSpPr>
                <a:spLocks noChangeShapeType="1"/>
              </p:cNvSpPr>
              <p:nvPr/>
            </p:nvSpPr>
            <p:spPr bwMode="auto">
              <a:xfrm>
                <a:off x="1532" y="166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78" name="Rectangle 63"/>
              <p:cNvSpPr>
                <a:spLocks noChangeArrowheads="1"/>
              </p:cNvSpPr>
              <p:nvPr/>
            </p:nvSpPr>
            <p:spPr bwMode="auto">
              <a:xfrm>
                <a:off x="1548" y="1660"/>
                <a:ext cx="63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79" name="Line 64"/>
              <p:cNvSpPr>
                <a:spLocks noChangeShapeType="1"/>
              </p:cNvSpPr>
              <p:nvPr/>
            </p:nvSpPr>
            <p:spPr bwMode="auto">
              <a:xfrm>
                <a:off x="1548" y="1660"/>
                <a:ext cx="6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80" name="Rectangle 65"/>
              <p:cNvSpPr>
                <a:spLocks noChangeArrowheads="1"/>
              </p:cNvSpPr>
              <p:nvPr/>
            </p:nvSpPr>
            <p:spPr bwMode="auto">
              <a:xfrm>
                <a:off x="2184" y="166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81" name="Line 66"/>
              <p:cNvSpPr>
                <a:spLocks noChangeShapeType="1"/>
              </p:cNvSpPr>
              <p:nvPr/>
            </p:nvSpPr>
            <p:spPr bwMode="auto">
              <a:xfrm>
                <a:off x="2184" y="166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82" name="Line 67"/>
              <p:cNvSpPr>
                <a:spLocks noChangeShapeType="1"/>
              </p:cNvSpPr>
              <p:nvPr/>
            </p:nvSpPr>
            <p:spPr bwMode="auto">
              <a:xfrm>
                <a:off x="2184" y="166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83" name="Rectangle 68"/>
              <p:cNvSpPr>
                <a:spLocks noChangeArrowheads="1"/>
              </p:cNvSpPr>
              <p:nvPr/>
            </p:nvSpPr>
            <p:spPr bwMode="auto">
              <a:xfrm>
                <a:off x="2200" y="1660"/>
                <a:ext cx="828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84" name="Line 69"/>
              <p:cNvSpPr>
                <a:spLocks noChangeShapeType="1"/>
              </p:cNvSpPr>
              <p:nvPr/>
            </p:nvSpPr>
            <p:spPr bwMode="auto">
              <a:xfrm>
                <a:off x="2200" y="1660"/>
                <a:ext cx="8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85" name="Rectangle 70"/>
              <p:cNvSpPr>
                <a:spLocks noChangeArrowheads="1"/>
              </p:cNvSpPr>
              <p:nvPr/>
            </p:nvSpPr>
            <p:spPr bwMode="auto">
              <a:xfrm>
                <a:off x="3028" y="166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86" name="Line 71"/>
              <p:cNvSpPr>
                <a:spLocks noChangeShapeType="1"/>
              </p:cNvSpPr>
              <p:nvPr/>
            </p:nvSpPr>
            <p:spPr bwMode="auto">
              <a:xfrm>
                <a:off x="3028" y="166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87" name="Line 72"/>
              <p:cNvSpPr>
                <a:spLocks noChangeShapeType="1"/>
              </p:cNvSpPr>
              <p:nvPr/>
            </p:nvSpPr>
            <p:spPr bwMode="auto">
              <a:xfrm>
                <a:off x="3028" y="166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88" name="Rectangle 73"/>
              <p:cNvSpPr>
                <a:spLocks noChangeArrowheads="1"/>
              </p:cNvSpPr>
              <p:nvPr/>
            </p:nvSpPr>
            <p:spPr bwMode="auto">
              <a:xfrm>
                <a:off x="3044" y="1660"/>
                <a:ext cx="1544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89" name="Line 74"/>
              <p:cNvSpPr>
                <a:spLocks noChangeShapeType="1"/>
              </p:cNvSpPr>
              <p:nvPr/>
            </p:nvSpPr>
            <p:spPr bwMode="auto">
              <a:xfrm>
                <a:off x="3044" y="1660"/>
                <a:ext cx="154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90" name="Rectangle 75"/>
              <p:cNvSpPr>
                <a:spLocks noChangeArrowheads="1"/>
              </p:cNvSpPr>
              <p:nvPr/>
            </p:nvSpPr>
            <p:spPr bwMode="auto">
              <a:xfrm>
                <a:off x="4588" y="166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91" name="Line 76"/>
              <p:cNvSpPr>
                <a:spLocks noChangeShapeType="1"/>
              </p:cNvSpPr>
              <p:nvPr/>
            </p:nvSpPr>
            <p:spPr bwMode="auto">
              <a:xfrm>
                <a:off x="4588" y="166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92" name="Line 77"/>
              <p:cNvSpPr>
                <a:spLocks noChangeShapeType="1"/>
              </p:cNvSpPr>
              <p:nvPr/>
            </p:nvSpPr>
            <p:spPr bwMode="auto">
              <a:xfrm>
                <a:off x="4588" y="166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93" name="Rectangle 78"/>
              <p:cNvSpPr>
                <a:spLocks noChangeArrowheads="1"/>
              </p:cNvSpPr>
              <p:nvPr/>
            </p:nvSpPr>
            <p:spPr bwMode="auto">
              <a:xfrm>
                <a:off x="863" y="1676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94" name="Line 79"/>
              <p:cNvSpPr>
                <a:spLocks noChangeShapeType="1"/>
              </p:cNvSpPr>
              <p:nvPr/>
            </p:nvSpPr>
            <p:spPr bwMode="auto">
              <a:xfrm>
                <a:off x="863" y="1676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95" name="Rectangle 80"/>
              <p:cNvSpPr>
                <a:spLocks noChangeArrowheads="1"/>
              </p:cNvSpPr>
              <p:nvPr/>
            </p:nvSpPr>
            <p:spPr bwMode="auto">
              <a:xfrm>
                <a:off x="1532" y="1676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96" name="Line 81"/>
              <p:cNvSpPr>
                <a:spLocks noChangeShapeType="1"/>
              </p:cNvSpPr>
              <p:nvPr/>
            </p:nvSpPr>
            <p:spPr bwMode="auto">
              <a:xfrm>
                <a:off x="1532" y="1676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97" name="Rectangle 82"/>
              <p:cNvSpPr>
                <a:spLocks noChangeArrowheads="1"/>
              </p:cNvSpPr>
              <p:nvPr/>
            </p:nvSpPr>
            <p:spPr bwMode="auto">
              <a:xfrm>
                <a:off x="2184" y="1676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98" name="Line 83"/>
              <p:cNvSpPr>
                <a:spLocks noChangeShapeType="1"/>
              </p:cNvSpPr>
              <p:nvPr/>
            </p:nvSpPr>
            <p:spPr bwMode="auto">
              <a:xfrm>
                <a:off x="2184" y="1676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799" name="Rectangle 84"/>
              <p:cNvSpPr>
                <a:spLocks noChangeArrowheads="1"/>
              </p:cNvSpPr>
              <p:nvPr/>
            </p:nvSpPr>
            <p:spPr bwMode="auto">
              <a:xfrm>
                <a:off x="3028" y="1676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00" name="Line 85"/>
              <p:cNvSpPr>
                <a:spLocks noChangeShapeType="1"/>
              </p:cNvSpPr>
              <p:nvPr/>
            </p:nvSpPr>
            <p:spPr bwMode="auto">
              <a:xfrm>
                <a:off x="3028" y="1676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01" name="Rectangle 86"/>
              <p:cNvSpPr>
                <a:spLocks noChangeArrowheads="1"/>
              </p:cNvSpPr>
              <p:nvPr/>
            </p:nvSpPr>
            <p:spPr bwMode="auto">
              <a:xfrm>
                <a:off x="4588" y="1676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02" name="Line 87"/>
              <p:cNvSpPr>
                <a:spLocks noChangeShapeType="1"/>
              </p:cNvSpPr>
              <p:nvPr/>
            </p:nvSpPr>
            <p:spPr bwMode="auto">
              <a:xfrm>
                <a:off x="4588" y="1676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03" name="Rectangle 88"/>
              <p:cNvSpPr>
                <a:spLocks noChangeArrowheads="1"/>
              </p:cNvSpPr>
              <p:nvPr/>
            </p:nvSpPr>
            <p:spPr bwMode="auto">
              <a:xfrm>
                <a:off x="1102" y="1994"/>
                <a:ext cx="27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0/1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04" name="Rectangle 89"/>
              <p:cNvSpPr>
                <a:spLocks noChangeArrowheads="1"/>
              </p:cNvSpPr>
              <p:nvPr/>
            </p:nvSpPr>
            <p:spPr bwMode="auto">
              <a:xfrm>
                <a:off x="1754" y="1994"/>
                <a:ext cx="302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255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05" name="Rectangle 90"/>
              <p:cNvSpPr>
                <a:spLocks noChangeArrowheads="1"/>
              </p:cNvSpPr>
              <p:nvPr/>
            </p:nvSpPr>
            <p:spPr bwMode="auto">
              <a:xfrm>
                <a:off x="2487" y="2010"/>
                <a:ext cx="239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非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06" name="Rectangle 91"/>
              <p:cNvSpPr>
                <a:spLocks noChangeArrowheads="1"/>
              </p:cNvSpPr>
              <p:nvPr/>
            </p:nvSpPr>
            <p:spPr bwMode="auto">
              <a:xfrm>
                <a:off x="2678" y="1994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07" name="Rectangle 92"/>
              <p:cNvSpPr>
                <a:spLocks noChangeArrowheads="1"/>
              </p:cNvSpPr>
              <p:nvPr/>
            </p:nvSpPr>
            <p:spPr bwMode="auto">
              <a:xfrm>
                <a:off x="3760" y="1994"/>
                <a:ext cx="30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en-US" altLang="zh-CN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NaN</a:t>
                </a:r>
                <a:endParaRPr kumimoji="1" lang="en-US" altLang="zh-CN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08" name="Rectangle 93"/>
              <p:cNvSpPr>
                <a:spLocks noChangeArrowheads="1"/>
              </p:cNvSpPr>
              <p:nvPr/>
            </p:nvSpPr>
            <p:spPr bwMode="auto">
              <a:xfrm>
                <a:off x="863" y="193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09" name="Line 94"/>
              <p:cNvSpPr>
                <a:spLocks noChangeShapeType="1"/>
              </p:cNvSpPr>
              <p:nvPr/>
            </p:nvSpPr>
            <p:spPr bwMode="auto">
              <a:xfrm>
                <a:off x="863" y="193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10" name="Line 95"/>
              <p:cNvSpPr>
                <a:spLocks noChangeShapeType="1"/>
              </p:cNvSpPr>
              <p:nvPr/>
            </p:nvSpPr>
            <p:spPr bwMode="auto">
              <a:xfrm>
                <a:off x="863" y="193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11" name="Rectangle 96"/>
              <p:cNvSpPr>
                <a:spLocks noChangeArrowheads="1"/>
              </p:cNvSpPr>
              <p:nvPr/>
            </p:nvSpPr>
            <p:spPr bwMode="auto">
              <a:xfrm>
                <a:off x="879" y="1931"/>
                <a:ext cx="653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12" name="Line 97"/>
              <p:cNvSpPr>
                <a:spLocks noChangeShapeType="1"/>
              </p:cNvSpPr>
              <p:nvPr/>
            </p:nvSpPr>
            <p:spPr bwMode="auto">
              <a:xfrm>
                <a:off x="879" y="1931"/>
                <a:ext cx="65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13" name="Rectangle 98"/>
              <p:cNvSpPr>
                <a:spLocks noChangeArrowheads="1"/>
              </p:cNvSpPr>
              <p:nvPr/>
            </p:nvSpPr>
            <p:spPr bwMode="auto">
              <a:xfrm>
                <a:off x="1532" y="193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14" name="Line 99"/>
              <p:cNvSpPr>
                <a:spLocks noChangeShapeType="1"/>
              </p:cNvSpPr>
              <p:nvPr/>
            </p:nvSpPr>
            <p:spPr bwMode="auto">
              <a:xfrm>
                <a:off x="1532" y="193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15" name="Line 100"/>
              <p:cNvSpPr>
                <a:spLocks noChangeShapeType="1"/>
              </p:cNvSpPr>
              <p:nvPr/>
            </p:nvSpPr>
            <p:spPr bwMode="auto">
              <a:xfrm>
                <a:off x="1532" y="193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16" name="Rectangle 101"/>
              <p:cNvSpPr>
                <a:spLocks noChangeArrowheads="1"/>
              </p:cNvSpPr>
              <p:nvPr/>
            </p:nvSpPr>
            <p:spPr bwMode="auto">
              <a:xfrm>
                <a:off x="1548" y="1931"/>
                <a:ext cx="63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17" name="Line 102"/>
              <p:cNvSpPr>
                <a:spLocks noChangeShapeType="1"/>
              </p:cNvSpPr>
              <p:nvPr/>
            </p:nvSpPr>
            <p:spPr bwMode="auto">
              <a:xfrm>
                <a:off x="1548" y="1931"/>
                <a:ext cx="6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18" name="Rectangle 103"/>
              <p:cNvSpPr>
                <a:spLocks noChangeArrowheads="1"/>
              </p:cNvSpPr>
              <p:nvPr/>
            </p:nvSpPr>
            <p:spPr bwMode="auto">
              <a:xfrm>
                <a:off x="2184" y="193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19" name="Line 104"/>
              <p:cNvSpPr>
                <a:spLocks noChangeShapeType="1"/>
              </p:cNvSpPr>
              <p:nvPr/>
            </p:nvSpPr>
            <p:spPr bwMode="auto">
              <a:xfrm>
                <a:off x="2184" y="193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20" name="Line 105"/>
              <p:cNvSpPr>
                <a:spLocks noChangeShapeType="1"/>
              </p:cNvSpPr>
              <p:nvPr/>
            </p:nvSpPr>
            <p:spPr bwMode="auto">
              <a:xfrm>
                <a:off x="2184" y="193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21" name="Rectangle 106"/>
              <p:cNvSpPr>
                <a:spLocks noChangeArrowheads="1"/>
              </p:cNvSpPr>
              <p:nvPr/>
            </p:nvSpPr>
            <p:spPr bwMode="auto">
              <a:xfrm>
                <a:off x="2200" y="1931"/>
                <a:ext cx="828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22" name="Line 107"/>
              <p:cNvSpPr>
                <a:spLocks noChangeShapeType="1"/>
              </p:cNvSpPr>
              <p:nvPr/>
            </p:nvSpPr>
            <p:spPr bwMode="auto">
              <a:xfrm>
                <a:off x="2200" y="1931"/>
                <a:ext cx="8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23" name="Rectangle 108"/>
              <p:cNvSpPr>
                <a:spLocks noChangeArrowheads="1"/>
              </p:cNvSpPr>
              <p:nvPr/>
            </p:nvSpPr>
            <p:spPr bwMode="auto">
              <a:xfrm>
                <a:off x="3028" y="193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24" name="Line 109"/>
              <p:cNvSpPr>
                <a:spLocks noChangeShapeType="1"/>
              </p:cNvSpPr>
              <p:nvPr/>
            </p:nvSpPr>
            <p:spPr bwMode="auto">
              <a:xfrm>
                <a:off x="3028" y="193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25" name="Line 110"/>
              <p:cNvSpPr>
                <a:spLocks noChangeShapeType="1"/>
              </p:cNvSpPr>
              <p:nvPr/>
            </p:nvSpPr>
            <p:spPr bwMode="auto">
              <a:xfrm>
                <a:off x="3028" y="193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26" name="Rectangle 111"/>
              <p:cNvSpPr>
                <a:spLocks noChangeArrowheads="1"/>
              </p:cNvSpPr>
              <p:nvPr/>
            </p:nvSpPr>
            <p:spPr bwMode="auto">
              <a:xfrm>
                <a:off x="3044" y="1931"/>
                <a:ext cx="1544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27" name="Line 112"/>
              <p:cNvSpPr>
                <a:spLocks noChangeShapeType="1"/>
              </p:cNvSpPr>
              <p:nvPr/>
            </p:nvSpPr>
            <p:spPr bwMode="auto">
              <a:xfrm>
                <a:off x="3044" y="1931"/>
                <a:ext cx="154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28" name="Rectangle 113"/>
              <p:cNvSpPr>
                <a:spLocks noChangeArrowheads="1"/>
              </p:cNvSpPr>
              <p:nvPr/>
            </p:nvSpPr>
            <p:spPr bwMode="auto">
              <a:xfrm>
                <a:off x="4588" y="193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29" name="Line 114"/>
              <p:cNvSpPr>
                <a:spLocks noChangeShapeType="1"/>
              </p:cNvSpPr>
              <p:nvPr/>
            </p:nvSpPr>
            <p:spPr bwMode="auto">
              <a:xfrm>
                <a:off x="4588" y="193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30" name="Line 115"/>
              <p:cNvSpPr>
                <a:spLocks noChangeShapeType="1"/>
              </p:cNvSpPr>
              <p:nvPr/>
            </p:nvSpPr>
            <p:spPr bwMode="auto">
              <a:xfrm>
                <a:off x="4588" y="193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31" name="Rectangle 116"/>
              <p:cNvSpPr>
                <a:spLocks noChangeArrowheads="1"/>
              </p:cNvSpPr>
              <p:nvPr/>
            </p:nvSpPr>
            <p:spPr bwMode="auto">
              <a:xfrm>
                <a:off x="863" y="1947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32" name="Line 117"/>
              <p:cNvSpPr>
                <a:spLocks noChangeShapeType="1"/>
              </p:cNvSpPr>
              <p:nvPr/>
            </p:nvSpPr>
            <p:spPr bwMode="auto">
              <a:xfrm>
                <a:off x="863" y="1947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33" name="Rectangle 118"/>
              <p:cNvSpPr>
                <a:spLocks noChangeArrowheads="1"/>
              </p:cNvSpPr>
              <p:nvPr/>
            </p:nvSpPr>
            <p:spPr bwMode="auto">
              <a:xfrm>
                <a:off x="1532" y="1947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34" name="Line 119"/>
              <p:cNvSpPr>
                <a:spLocks noChangeShapeType="1"/>
              </p:cNvSpPr>
              <p:nvPr/>
            </p:nvSpPr>
            <p:spPr bwMode="auto">
              <a:xfrm>
                <a:off x="1532" y="1947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35" name="Rectangle 120"/>
              <p:cNvSpPr>
                <a:spLocks noChangeArrowheads="1"/>
              </p:cNvSpPr>
              <p:nvPr/>
            </p:nvSpPr>
            <p:spPr bwMode="auto">
              <a:xfrm>
                <a:off x="2184" y="1947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36" name="Line 121"/>
              <p:cNvSpPr>
                <a:spLocks noChangeShapeType="1"/>
              </p:cNvSpPr>
              <p:nvPr/>
            </p:nvSpPr>
            <p:spPr bwMode="auto">
              <a:xfrm>
                <a:off x="2184" y="1947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37" name="Rectangle 122"/>
              <p:cNvSpPr>
                <a:spLocks noChangeArrowheads="1"/>
              </p:cNvSpPr>
              <p:nvPr/>
            </p:nvSpPr>
            <p:spPr bwMode="auto">
              <a:xfrm>
                <a:off x="3028" y="1947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38" name="Line 123"/>
              <p:cNvSpPr>
                <a:spLocks noChangeShapeType="1"/>
              </p:cNvSpPr>
              <p:nvPr/>
            </p:nvSpPr>
            <p:spPr bwMode="auto">
              <a:xfrm>
                <a:off x="3028" y="1947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39" name="Rectangle 124"/>
              <p:cNvSpPr>
                <a:spLocks noChangeArrowheads="1"/>
              </p:cNvSpPr>
              <p:nvPr/>
            </p:nvSpPr>
            <p:spPr bwMode="auto">
              <a:xfrm>
                <a:off x="4588" y="1947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40" name="Line 125"/>
              <p:cNvSpPr>
                <a:spLocks noChangeShapeType="1"/>
              </p:cNvSpPr>
              <p:nvPr/>
            </p:nvSpPr>
            <p:spPr bwMode="auto">
              <a:xfrm>
                <a:off x="4588" y="1947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41" name="Rectangle 126"/>
              <p:cNvSpPr>
                <a:spLocks noChangeArrowheads="1"/>
              </p:cNvSpPr>
              <p:nvPr/>
            </p:nvSpPr>
            <p:spPr bwMode="auto">
              <a:xfrm>
                <a:off x="1165" y="2265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42" name="Rectangle 127"/>
              <p:cNvSpPr>
                <a:spLocks noChangeArrowheads="1"/>
              </p:cNvSpPr>
              <p:nvPr/>
            </p:nvSpPr>
            <p:spPr bwMode="auto">
              <a:xfrm>
                <a:off x="1754" y="2265"/>
                <a:ext cx="302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255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43" name="Rectangle 128"/>
              <p:cNvSpPr>
                <a:spLocks noChangeArrowheads="1"/>
              </p:cNvSpPr>
              <p:nvPr/>
            </p:nvSpPr>
            <p:spPr bwMode="auto">
              <a:xfrm>
                <a:off x="2582" y="2265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44" name="Rectangle 129"/>
              <p:cNvSpPr>
                <a:spLocks noChangeArrowheads="1"/>
              </p:cNvSpPr>
              <p:nvPr/>
            </p:nvSpPr>
            <p:spPr bwMode="auto">
              <a:xfrm>
                <a:off x="3649" y="2265"/>
                <a:ext cx="41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+</a:t>
                </a:r>
                <a:r>
                  <a:rPr kumimoji="1" lang="en-US" altLang="zh-CN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INF</a:t>
                </a:r>
                <a:endParaRPr kumimoji="1" lang="en-US" altLang="zh-CN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45" name="Rectangle 130"/>
              <p:cNvSpPr>
                <a:spLocks noChangeArrowheads="1"/>
              </p:cNvSpPr>
              <p:nvPr/>
            </p:nvSpPr>
            <p:spPr bwMode="auto">
              <a:xfrm>
                <a:off x="863" y="220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46" name="Line 131"/>
              <p:cNvSpPr>
                <a:spLocks noChangeShapeType="1"/>
              </p:cNvSpPr>
              <p:nvPr/>
            </p:nvSpPr>
            <p:spPr bwMode="auto">
              <a:xfrm>
                <a:off x="863" y="220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47" name="Line 132"/>
              <p:cNvSpPr>
                <a:spLocks noChangeShapeType="1"/>
              </p:cNvSpPr>
              <p:nvPr/>
            </p:nvSpPr>
            <p:spPr bwMode="auto">
              <a:xfrm>
                <a:off x="863" y="220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48" name="Rectangle 133"/>
              <p:cNvSpPr>
                <a:spLocks noChangeArrowheads="1"/>
              </p:cNvSpPr>
              <p:nvPr/>
            </p:nvSpPr>
            <p:spPr bwMode="auto">
              <a:xfrm>
                <a:off x="879" y="2201"/>
                <a:ext cx="653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49" name="Line 134"/>
              <p:cNvSpPr>
                <a:spLocks noChangeShapeType="1"/>
              </p:cNvSpPr>
              <p:nvPr/>
            </p:nvSpPr>
            <p:spPr bwMode="auto">
              <a:xfrm>
                <a:off x="879" y="2201"/>
                <a:ext cx="65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50" name="Rectangle 135"/>
              <p:cNvSpPr>
                <a:spLocks noChangeArrowheads="1"/>
              </p:cNvSpPr>
              <p:nvPr/>
            </p:nvSpPr>
            <p:spPr bwMode="auto">
              <a:xfrm>
                <a:off x="1532" y="220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51" name="Line 136"/>
              <p:cNvSpPr>
                <a:spLocks noChangeShapeType="1"/>
              </p:cNvSpPr>
              <p:nvPr/>
            </p:nvSpPr>
            <p:spPr bwMode="auto">
              <a:xfrm>
                <a:off x="1532" y="220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52" name="Line 137"/>
              <p:cNvSpPr>
                <a:spLocks noChangeShapeType="1"/>
              </p:cNvSpPr>
              <p:nvPr/>
            </p:nvSpPr>
            <p:spPr bwMode="auto">
              <a:xfrm>
                <a:off x="1532" y="220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53" name="Rectangle 138"/>
              <p:cNvSpPr>
                <a:spLocks noChangeArrowheads="1"/>
              </p:cNvSpPr>
              <p:nvPr/>
            </p:nvSpPr>
            <p:spPr bwMode="auto">
              <a:xfrm>
                <a:off x="1548" y="2201"/>
                <a:ext cx="63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54" name="Line 139"/>
              <p:cNvSpPr>
                <a:spLocks noChangeShapeType="1"/>
              </p:cNvSpPr>
              <p:nvPr/>
            </p:nvSpPr>
            <p:spPr bwMode="auto">
              <a:xfrm>
                <a:off x="1548" y="2201"/>
                <a:ext cx="6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55" name="Rectangle 140"/>
              <p:cNvSpPr>
                <a:spLocks noChangeArrowheads="1"/>
              </p:cNvSpPr>
              <p:nvPr/>
            </p:nvSpPr>
            <p:spPr bwMode="auto">
              <a:xfrm>
                <a:off x="2184" y="220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56" name="Line 141"/>
              <p:cNvSpPr>
                <a:spLocks noChangeShapeType="1"/>
              </p:cNvSpPr>
              <p:nvPr/>
            </p:nvSpPr>
            <p:spPr bwMode="auto">
              <a:xfrm>
                <a:off x="2184" y="220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57" name="Line 142"/>
              <p:cNvSpPr>
                <a:spLocks noChangeShapeType="1"/>
              </p:cNvSpPr>
              <p:nvPr/>
            </p:nvSpPr>
            <p:spPr bwMode="auto">
              <a:xfrm>
                <a:off x="2184" y="220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58" name="Rectangle 143"/>
              <p:cNvSpPr>
                <a:spLocks noChangeArrowheads="1"/>
              </p:cNvSpPr>
              <p:nvPr/>
            </p:nvSpPr>
            <p:spPr bwMode="auto">
              <a:xfrm>
                <a:off x="2200" y="2201"/>
                <a:ext cx="828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59" name="Line 144"/>
              <p:cNvSpPr>
                <a:spLocks noChangeShapeType="1"/>
              </p:cNvSpPr>
              <p:nvPr/>
            </p:nvSpPr>
            <p:spPr bwMode="auto">
              <a:xfrm>
                <a:off x="2200" y="2201"/>
                <a:ext cx="8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60" name="Rectangle 145"/>
              <p:cNvSpPr>
                <a:spLocks noChangeArrowheads="1"/>
              </p:cNvSpPr>
              <p:nvPr/>
            </p:nvSpPr>
            <p:spPr bwMode="auto">
              <a:xfrm>
                <a:off x="3028" y="220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61" name="Line 146"/>
              <p:cNvSpPr>
                <a:spLocks noChangeShapeType="1"/>
              </p:cNvSpPr>
              <p:nvPr/>
            </p:nvSpPr>
            <p:spPr bwMode="auto">
              <a:xfrm>
                <a:off x="3028" y="220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62" name="Line 147"/>
              <p:cNvSpPr>
                <a:spLocks noChangeShapeType="1"/>
              </p:cNvSpPr>
              <p:nvPr/>
            </p:nvSpPr>
            <p:spPr bwMode="auto">
              <a:xfrm>
                <a:off x="3028" y="220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63" name="Rectangle 148"/>
              <p:cNvSpPr>
                <a:spLocks noChangeArrowheads="1"/>
              </p:cNvSpPr>
              <p:nvPr/>
            </p:nvSpPr>
            <p:spPr bwMode="auto">
              <a:xfrm>
                <a:off x="3044" y="2201"/>
                <a:ext cx="1544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64" name="Line 149"/>
              <p:cNvSpPr>
                <a:spLocks noChangeShapeType="1"/>
              </p:cNvSpPr>
              <p:nvPr/>
            </p:nvSpPr>
            <p:spPr bwMode="auto">
              <a:xfrm>
                <a:off x="3044" y="2201"/>
                <a:ext cx="154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65" name="Rectangle 150"/>
              <p:cNvSpPr>
                <a:spLocks noChangeArrowheads="1"/>
              </p:cNvSpPr>
              <p:nvPr/>
            </p:nvSpPr>
            <p:spPr bwMode="auto">
              <a:xfrm>
                <a:off x="4588" y="220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66" name="Line 151"/>
              <p:cNvSpPr>
                <a:spLocks noChangeShapeType="1"/>
              </p:cNvSpPr>
              <p:nvPr/>
            </p:nvSpPr>
            <p:spPr bwMode="auto">
              <a:xfrm>
                <a:off x="4588" y="220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67" name="Line 152"/>
              <p:cNvSpPr>
                <a:spLocks noChangeShapeType="1"/>
              </p:cNvSpPr>
              <p:nvPr/>
            </p:nvSpPr>
            <p:spPr bwMode="auto">
              <a:xfrm>
                <a:off x="4588" y="220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68" name="Rectangle 153"/>
              <p:cNvSpPr>
                <a:spLocks noChangeArrowheads="1"/>
              </p:cNvSpPr>
              <p:nvPr/>
            </p:nvSpPr>
            <p:spPr bwMode="auto">
              <a:xfrm>
                <a:off x="863" y="221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69" name="Line 154"/>
              <p:cNvSpPr>
                <a:spLocks noChangeShapeType="1"/>
              </p:cNvSpPr>
              <p:nvPr/>
            </p:nvSpPr>
            <p:spPr bwMode="auto">
              <a:xfrm>
                <a:off x="863" y="221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70" name="Rectangle 155"/>
              <p:cNvSpPr>
                <a:spLocks noChangeArrowheads="1"/>
              </p:cNvSpPr>
              <p:nvPr/>
            </p:nvSpPr>
            <p:spPr bwMode="auto">
              <a:xfrm>
                <a:off x="1532" y="221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71" name="Line 156"/>
              <p:cNvSpPr>
                <a:spLocks noChangeShapeType="1"/>
              </p:cNvSpPr>
              <p:nvPr/>
            </p:nvSpPr>
            <p:spPr bwMode="auto">
              <a:xfrm>
                <a:off x="1532" y="221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72" name="Rectangle 157"/>
              <p:cNvSpPr>
                <a:spLocks noChangeArrowheads="1"/>
              </p:cNvSpPr>
              <p:nvPr/>
            </p:nvSpPr>
            <p:spPr bwMode="auto">
              <a:xfrm>
                <a:off x="2184" y="221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73" name="Line 158"/>
              <p:cNvSpPr>
                <a:spLocks noChangeShapeType="1"/>
              </p:cNvSpPr>
              <p:nvPr/>
            </p:nvSpPr>
            <p:spPr bwMode="auto">
              <a:xfrm>
                <a:off x="2184" y="221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74" name="Rectangle 159"/>
              <p:cNvSpPr>
                <a:spLocks noChangeArrowheads="1"/>
              </p:cNvSpPr>
              <p:nvPr/>
            </p:nvSpPr>
            <p:spPr bwMode="auto">
              <a:xfrm>
                <a:off x="3028" y="221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75" name="Line 160"/>
              <p:cNvSpPr>
                <a:spLocks noChangeShapeType="1"/>
              </p:cNvSpPr>
              <p:nvPr/>
            </p:nvSpPr>
            <p:spPr bwMode="auto">
              <a:xfrm>
                <a:off x="3028" y="221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76" name="Rectangle 161"/>
              <p:cNvSpPr>
                <a:spLocks noChangeArrowheads="1"/>
              </p:cNvSpPr>
              <p:nvPr/>
            </p:nvSpPr>
            <p:spPr bwMode="auto">
              <a:xfrm>
                <a:off x="4588" y="221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77" name="Line 162"/>
              <p:cNvSpPr>
                <a:spLocks noChangeShapeType="1"/>
              </p:cNvSpPr>
              <p:nvPr/>
            </p:nvSpPr>
            <p:spPr bwMode="auto">
              <a:xfrm>
                <a:off x="4588" y="221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78" name="Rectangle 163"/>
              <p:cNvSpPr>
                <a:spLocks noChangeArrowheads="1"/>
              </p:cNvSpPr>
              <p:nvPr/>
            </p:nvSpPr>
            <p:spPr bwMode="auto">
              <a:xfrm>
                <a:off x="1165" y="2535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79" name="Rectangle 164"/>
              <p:cNvSpPr>
                <a:spLocks noChangeArrowheads="1"/>
              </p:cNvSpPr>
              <p:nvPr/>
            </p:nvSpPr>
            <p:spPr bwMode="auto">
              <a:xfrm>
                <a:off x="1754" y="2535"/>
                <a:ext cx="302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255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80" name="Rectangle 165"/>
              <p:cNvSpPr>
                <a:spLocks noChangeArrowheads="1"/>
              </p:cNvSpPr>
              <p:nvPr/>
            </p:nvSpPr>
            <p:spPr bwMode="auto">
              <a:xfrm>
                <a:off x="2582" y="2535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81" name="Rectangle 166"/>
              <p:cNvSpPr>
                <a:spLocks noChangeArrowheads="1"/>
              </p:cNvSpPr>
              <p:nvPr/>
            </p:nvSpPr>
            <p:spPr bwMode="auto">
              <a:xfrm>
                <a:off x="3665" y="2535"/>
                <a:ext cx="366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-</a:t>
                </a:r>
                <a:r>
                  <a:rPr kumimoji="1" lang="en-US" altLang="zh-CN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INF</a:t>
                </a:r>
                <a:endParaRPr kumimoji="1" lang="en-US" altLang="zh-CN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82" name="Rectangle 167"/>
              <p:cNvSpPr>
                <a:spLocks noChangeArrowheads="1"/>
              </p:cNvSpPr>
              <p:nvPr/>
            </p:nvSpPr>
            <p:spPr bwMode="auto">
              <a:xfrm>
                <a:off x="863" y="2472"/>
                <a:ext cx="1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83" name="Line 168"/>
              <p:cNvSpPr>
                <a:spLocks noChangeShapeType="1"/>
              </p:cNvSpPr>
              <p:nvPr/>
            </p:nvSpPr>
            <p:spPr bwMode="auto">
              <a:xfrm>
                <a:off x="863" y="2472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84" name="Line 169"/>
              <p:cNvSpPr>
                <a:spLocks noChangeShapeType="1"/>
              </p:cNvSpPr>
              <p:nvPr/>
            </p:nvSpPr>
            <p:spPr bwMode="auto">
              <a:xfrm>
                <a:off x="863" y="2472"/>
                <a:ext cx="1" cy="1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85" name="Rectangle 170"/>
              <p:cNvSpPr>
                <a:spLocks noChangeArrowheads="1"/>
              </p:cNvSpPr>
              <p:nvPr/>
            </p:nvSpPr>
            <p:spPr bwMode="auto">
              <a:xfrm>
                <a:off x="879" y="2472"/>
                <a:ext cx="653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86" name="Line 171"/>
              <p:cNvSpPr>
                <a:spLocks noChangeShapeType="1"/>
              </p:cNvSpPr>
              <p:nvPr/>
            </p:nvSpPr>
            <p:spPr bwMode="auto">
              <a:xfrm>
                <a:off x="879" y="2472"/>
                <a:ext cx="65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87" name="Rectangle 172"/>
              <p:cNvSpPr>
                <a:spLocks noChangeArrowheads="1"/>
              </p:cNvSpPr>
              <p:nvPr/>
            </p:nvSpPr>
            <p:spPr bwMode="auto">
              <a:xfrm>
                <a:off x="1532" y="2472"/>
                <a:ext cx="1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88" name="Line 173"/>
              <p:cNvSpPr>
                <a:spLocks noChangeShapeType="1"/>
              </p:cNvSpPr>
              <p:nvPr/>
            </p:nvSpPr>
            <p:spPr bwMode="auto">
              <a:xfrm>
                <a:off x="1532" y="2472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89" name="Line 174"/>
              <p:cNvSpPr>
                <a:spLocks noChangeShapeType="1"/>
              </p:cNvSpPr>
              <p:nvPr/>
            </p:nvSpPr>
            <p:spPr bwMode="auto">
              <a:xfrm>
                <a:off x="1532" y="2472"/>
                <a:ext cx="1" cy="1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90" name="Rectangle 175"/>
              <p:cNvSpPr>
                <a:spLocks noChangeArrowheads="1"/>
              </p:cNvSpPr>
              <p:nvPr/>
            </p:nvSpPr>
            <p:spPr bwMode="auto">
              <a:xfrm>
                <a:off x="1548" y="2472"/>
                <a:ext cx="63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91" name="Line 176"/>
              <p:cNvSpPr>
                <a:spLocks noChangeShapeType="1"/>
              </p:cNvSpPr>
              <p:nvPr/>
            </p:nvSpPr>
            <p:spPr bwMode="auto">
              <a:xfrm>
                <a:off x="1548" y="2472"/>
                <a:ext cx="6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92" name="Rectangle 177"/>
              <p:cNvSpPr>
                <a:spLocks noChangeArrowheads="1"/>
              </p:cNvSpPr>
              <p:nvPr/>
            </p:nvSpPr>
            <p:spPr bwMode="auto">
              <a:xfrm>
                <a:off x="2184" y="2472"/>
                <a:ext cx="1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93" name="Line 178"/>
              <p:cNvSpPr>
                <a:spLocks noChangeShapeType="1"/>
              </p:cNvSpPr>
              <p:nvPr/>
            </p:nvSpPr>
            <p:spPr bwMode="auto">
              <a:xfrm>
                <a:off x="2184" y="2472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94" name="Line 179"/>
              <p:cNvSpPr>
                <a:spLocks noChangeShapeType="1"/>
              </p:cNvSpPr>
              <p:nvPr/>
            </p:nvSpPr>
            <p:spPr bwMode="auto">
              <a:xfrm>
                <a:off x="2184" y="2472"/>
                <a:ext cx="1" cy="1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95" name="Rectangle 180"/>
              <p:cNvSpPr>
                <a:spLocks noChangeArrowheads="1"/>
              </p:cNvSpPr>
              <p:nvPr/>
            </p:nvSpPr>
            <p:spPr bwMode="auto">
              <a:xfrm>
                <a:off x="2200" y="2472"/>
                <a:ext cx="828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96" name="Line 181"/>
              <p:cNvSpPr>
                <a:spLocks noChangeShapeType="1"/>
              </p:cNvSpPr>
              <p:nvPr/>
            </p:nvSpPr>
            <p:spPr bwMode="auto">
              <a:xfrm>
                <a:off x="2200" y="2472"/>
                <a:ext cx="8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97" name="Rectangle 182"/>
              <p:cNvSpPr>
                <a:spLocks noChangeArrowheads="1"/>
              </p:cNvSpPr>
              <p:nvPr/>
            </p:nvSpPr>
            <p:spPr bwMode="auto">
              <a:xfrm>
                <a:off x="3028" y="2472"/>
                <a:ext cx="1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98" name="Line 183"/>
              <p:cNvSpPr>
                <a:spLocks noChangeShapeType="1"/>
              </p:cNvSpPr>
              <p:nvPr/>
            </p:nvSpPr>
            <p:spPr bwMode="auto">
              <a:xfrm>
                <a:off x="3028" y="2472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899" name="Line 184"/>
              <p:cNvSpPr>
                <a:spLocks noChangeShapeType="1"/>
              </p:cNvSpPr>
              <p:nvPr/>
            </p:nvSpPr>
            <p:spPr bwMode="auto">
              <a:xfrm>
                <a:off x="3028" y="2472"/>
                <a:ext cx="1" cy="1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00" name="Rectangle 185"/>
              <p:cNvSpPr>
                <a:spLocks noChangeArrowheads="1"/>
              </p:cNvSpPr>
              <p:nvPr/>
            </p:nvSpPr>
            <p:spPr bwMode="auto">
              <a:xfrm>
                <a:off x="3044" y="2472"/>
                <a:ext cx="154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01" name="Line 186"/>
              <p:cNvSpPr>
                <a:spLocks noChangeShapeType="1"/>
              </p:cNvSpPr>
              <p:nvPr/>
            </p:nvSpPr>
            <p:spPr bwMode="auto">
              <a:xfrm>
                <a:off x="3044" y="2472"/>
                <a:ext cx="154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02" name="Rectangle 187"/>
              <p:cNvSpPr>
                <a:spLocks noChangeArrowheads="1"/>
              </p:cNvSpPr>
              <p:nvPr/>
            </p:nvSpPr>
            <p:spPr bwMode="auto">
              <a:xfrm>
                <a:off x="4588" y="2472"/>
                <a:ext cx="1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03" name="Line 188"/>
              <p:cNvSpPr>
                <a:spLocks noChangeShapeType="1"/>
              </p:cNvSpPr>
              <p:nvPr/>
            </p:nvSpPr>
            <p:spPr bwMode="auto">
              <a:xfrm>
                <a:off x="4588" y="2472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04" name="Line 189"/>
              <p:cNvSpPr>
                <a:spLocks noChangeShapeType="1"/>
              </p:cNvSpPr>
              <p:nvPr/>
            </p:nvSpPr>
            <p:spPr bwMode="auto">
              <a:xfrm>
                <a:off x="4588" y="2472"/>
                <a:ext cx="1" cy="1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05" name="Rectangle 190"/>
              <p:cNvSpPr>
                <a:spLocks noChangeArrowheads="1"/>
              </p:cNvSpPr>
              <p:nvPr/>
            </p:nvSpPr>
            <p:spPr bwMode="auto">
              <a:xfrm>
                <a:off x="863" y="248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06" name="Line 191"/>
              <p:cNvSpPr>
                <a:spLocks noChangeShapeType="1"/>
              </p:cNvSpPr>
              <p:nvPr/>
            </p:nvSpPr>
            <p:spPr bwMode="auto">
              <a:xfrm>
                <a:off x="863" y="248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07" name="Rectangle 192"/>
              <p:cNvSpPr>
                <a:spLocks noChangeArrowheads="1"/>
              </p:cNvSpPr>
              <p:nvPr/>
            </p:nvSpPr>
            <p:spPr bwMode="auto">
              <a:xfrm>
                <a:off x="1532" y="248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08" name="Line 193"/>
              <p:cNvSpPr>
                <a:spLocks noChangeShapeType="1"/>
              </p:cNvSpPr>
              <p:nvPr/>
            </p:nvSpPr>
            <p:spPr bwMode="auto">
              <a:xfrm>
                <a:off x="1532" y="248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09" name="Rectangle 194"/>
              <p:cNvSpPr>
                <a:spLocks noChangeArrowheads="1"/>
              </p:cNvSpPr>
              <p:nvPr/>
            </p:nvSpPr>
            <p:spPr bwMode="auto">
              <a:xfrm>
                <a:off x="2184" y="248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10" name="Line 195"/>
              <p:cNvSpPr>
                <a:spLocks noChangeShapeType="1"/>
              </p:cNvSpPr>
              <p:nvPr/>
            </p:nvSpPr>
            <p:spPr bwMode="auto">
              <a:xfrm>
                <a:off x="2184" y="248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11" name="Rectangle 196"/>
              <p:cNvSpPr>
                <a:spLocks noChangeArrowheads="1"/>
              </p:cNvSpPr>
              <p:nvPr/>
            </p:nvSpPr>
            <p:spPr bwMode="auto">
              <a:xfrm>
                <a:off x="3028" y="248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12" name="Line 197"/>
              <p:cNvSpPr>
                <a:spLocks noChangeShapeType="1"/>
              </p:cNvSpPr>
              <p:nvPr/>
            </p:nvSpPr>
            <p:spPr bwMode="auto">
              <a:xfrm>
                <a:off x="3028" y="248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13" name="Rectangle 198"/>
              <p:cNvSpPr>
                <a:spLocks noChangeArrowheads="1"/>
              </p:cNvSpPr>
              <p:nvPr/>
            </p:nvSpPr>
            <p:spPr bwMode="auto">
              <a:xfrm>
                <a:off x="4588" y="248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14" name="Line 199"/>
              <p:cNvSpPr>
                <a:spLocks noChangeShapeType="1"/>
              </p:cNvSpPr>
              <p:nvPr/>
            </p:nvSpPr>
            <p:spPr bwMode="auto">
              <a:xfrm>
                <a:off x="4588" y="248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hangingPunct="1"/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15" name="Rectangle 200"/>
              <p:cNvSpPr>
                <a:spLocks noChangeArrowheads="1"/>
              </p:cNvSpPr>
              <p:nvPr/>
            </p:nvSpPr>
            <p:spPr bwMode="auto">
              <a:xfrm>
                <a:off x="1102" y="2806"/>
                <a:ext cx="27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0/1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16" name="Rectangle 201"/>
              <p:cNvSpPr>
                <a:spLocks noChangeArrowheads="1"/>
              </p:cNvSpPr>
              <p:nvPr/>
            </p:nvSpPr>
            <p:spPr bwMode="auto">
              <a:xfrm>
                <a:off x="1691" y="2806"/>
                <a:ext cx="43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1-254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17" name="Rectangle 202"/>
              <p:cNvSpPr>
                <a:spLocks noChangeArrowheads="1"/>
              </p:cNvSpPr>
              <p:nvPr/>
            </p:nvSpPr>
            <p:spPr bwMode="auto">
              <a:xfrm>
                <a:off x="2598" y="2806"/>
                <a:ext cx="11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en-US" altLang="zh-CN" sz="2000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f</a:t>
                </a:r>
                <a:endParaRPr kumimoji="1" lang="en-US" altLang="zh-CN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66918" name="Rectangle 203"/>
              <p:cNvSpPr>
                <a:spLocks noChangeArrowheads="1"/>
              </p:cNvSpPr>
              <p:nvPr/>
            </p:nvSpPr>
            <p:spPr bwMode="auto">
              <a:xfrm>
                <a:off x="3299" y="2806"/>
                <a:ext cx="287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eaLnBrk="1" hangingPunct="1"/>
                <a:r>
                  <a:rPr kumimoji="1"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(-1)</a:t>
                </a:r>
                <a:endParaRPr kumimoji="1" lang="zh-CN" altLang="en-US" sz="2400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66566" name="Rectangle 205"/>
            <p:cNvSpPr>
              <a:spLocks noChangeArrowheads="1"/>
            </p:cNvSpPr>
            <p:nvPr/>
          </p:nvSpPr>
          <p:spPr bwMode="auto">
            <a:xfrm>
              <a:off x="3521" y="2806"/>
              <a:ext cx="64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67" name="Rectangle 206"/>
            <p:cNvSpPr>
              <a:spLocks noChangeArrowheads="1"/>
            </p:cNvSpPr>
            <p:nvPr/>
          </p:nvSpPr>
          <p:spPr bwMode="auto">
            <a:xfrm>
              <a:off x="3553" y="282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68" name="Rectangle 207"/>
            <p:cNvSpPr>
              <a:spLocks noChangeArrowheads="1"/>
            </p:cNvSpPr>
            <p:nvPr/>
          </p:nvSpPr>
          <p:spPr bwMode="auto">
            <a:xfrm>
              <a:off x="3712" y="2806"/>
              <a:ext cx="19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1.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69" name="Rectangle 208"/>
            <p:cNvSpPr>
              <a:spLocks noChangeArrowheads="1"/>
            </p:cNvSpPr>
            <p:nvPr/>
          </p:nvSpPr>
          <p:spPr bwMode="auto">
            <a:xfrm>
              <a:off x="3840" y="2806"/>
              <a:ext cx="11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70" name="Rectangle 209"/>
            <p:cNvSpPr>
              <a:spLocks noChangeArrowheads="1"/>
            </p:cNvSpPr>
            <p:nvPr/>
          </p:nvSpPr>
          <p:spPr bwMode="auto">
            <a:xfrm>
              <a:off x="3888" y="282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71" name="Rectangle 210"/>
            <p:cNvSpPr>
              <a:spLocks noChangeArrowheads="1"/>
            </p:cNvSpPr>
            <p:nvPr/>
          </p:nvSpPr>
          <p:spPr bwMode="auto">
            <a:xfrm>
              <a:off x="4047" y="2806"/>
              <a:ext cx="1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72" name="Rectangle 211"/>
            <p:cNvSpPr>
              <a:spLocks noChangeArrowheads="1"/>
            </p:cNvSpPr>
            <p:nvPr/>
          </p:nvSpPr>
          <p:spPr bwMode="auto">
            <a:xfrm>
              <a:off x="4126" y="2806"/>
              <a:ext cx="255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e-127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73" name="Rectangle 212"/>
            <p:cNvSpPr>
              <a:spLocks noChangeArrowheads="1"/>
            </p:cNvSpPr>
            <p:nvPr/>
          </p:nvSpPr>
          <p:spPr bwMode="auto">
            <a:xfrm>
              <a:off x="863" y="274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74" name="Line 213"/>
            <p:cNvSpPr>
              <a:spLocks noChangeShapeType="1"/>
            </p:cNvSpPr>
            <p:nvPr/>
          </p:nvSpPr>
          <p:spPr bwMode="auto">
            <a:xfrm>
              <a:off x="863" y="274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75" name="Line 214"/>
            <p:cNvSpPr>
              <a:spLocks noChangeShapeType="1"/>
            </p:cNvSpPr>
            <p:nvPr/>
          </p:nvSpPr>
          <p:spPr bwMode="auto">
            <a:xfrm>
              <a:off x="863" y="274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76" name="Rectangle 215"/>
            <p:cNvSpPr>
              <a:spLocks noChangeArrowheads="1"/>
            </p:cNvSpPr>
            <p:nvPr/>
          </p:nvSpPr>
          <p:spPr bwMode="auto">
            <a:xfrm>
              <a:off x="879" y="2742"/>
              <a:ext cx="653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77" name="Line 216"/>
            <p:cNvSpPr>
              <a:spLocks noChangeShapeType="1"/>
            </p:cNvSpPr>
            <p:nvPr/>
          </p:nvSpPr>
          <p:spPr bwMode="auto">
            <a:xfrm>
              <a:off x="879" y="2742"/>
              <a:ext cx="65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78" name="Rectangle 217"/>
            <p:cNvSpPr>
              <a:spLocks noChangeArrowheads="1"/>
            </p:cNvSpPr>
            <p:nvPr/>
          </p:nvSpPr>
          <p:spPr bwMode="auto">
            <a:xfrm>
              <a:off x="1532" y="274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79" name="Line 218"/>
            <p:cNvSpPr>
              <a:spLocks noChangeShapeType="1"/>
            </p:cNvSpPr>
            <p:nvPr/>
          </p:nvSpPr>
          <p:spPr bwMode="auto">
            <a:xfrm>
              <a:off x="1532" y="274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80" name="Line 219"/>
            <p:cNvSpPr>
              <a:spLocks noChangeShapeType="1"/>
            </p:cNvSpPr>
            <p:nvPr/>
          </p:nvSpPr>
          <p:spPr bwMode="auto">
            <a:xfrm>
              <a:off x="1532" y="274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81" name="Rectangle 220"/>
            <p:cNvSpPr>
              <a:spLocks noChangeArrowheads="1"/>
            </p:cNvSpPr>
            <p:nvPr/>
          </p:nvSpPr>
          <p:spPr bwMode="auto">
            <a:xfrm>
              <a:off x="1548" y="2742"/>
              <a:ext cx="63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82" name="Line 221"/>
            <p:cNvSpPr>
              <a:spLocks noChangeShapeType="1"/>
            </p:cNvSpPr>
            <p:nvPr/>
          </p:nvSpPr>
          <p:spPr bwMode="auto">
            <a:xfrm>
              <a:off x="1548" y="2742"/>
              <a:ext cx="6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83" name="Rectangle 222"/>
            <p:cNvSpPr>
              <a:spLocks noChangeArrowheads="1"/>
            </p:cNvSpPr>
            <p:nvPr/>
          </p:nvSpPr>
          <p:spPr bwMode="auto">
            <a:xfrm>
              <a:off x="2184" y="274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84" name="Line 223"/>
            <p:cNvSpPr>
              <a:spLocks noChangeShapeType="1"/>
            </p:cNvSpPr>
            <p:nvPr/>
          </p:nvSpPr>
          <p:spPr bwMode="auto">
            <a:xfrm>
              <a:off x="2184" y="274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85" name="Line 224"/>
            <p:cNvSpPr>
              <a:spLocks noChangeShapeType="1"/>
            </p:cNvSpPr>
            <p:nvPr/>
          </p:nvSpPr>
          <p:spPr bwMode="auto">
            <a:xfrm>
              <a:off x="2184" y="274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86" name="Rectangle 225"/>
            <p:cNvSpPr>
              <a:spLocks noChangeArrowheads="1"/>
            </p:cNvSpPr>
            <p:nvPr/>
          </p:nvSpPr>
          <p:spPr bwMode="auto">
            <a:xfrm>
              <a:off x="2200" y="2742"/>
              <a:ext cx="828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87" name="Line 226"/>
            <p:cNvSpPr>
              <a:spLocks noChangeShapeType="1"/>
            </p:cNvSpPr>
            <p:nvPr/>
          </p:nvSpPr>
          <p:spPr bwMode="auto">
            <a:xfrm>
              <a:off x="2200" y="2742"/>
              <a:ext cx="8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88" name="Rectangle 227"/>
            <p:cNvSpPr>
              <a:spLocks noChangeArrowheads="1"/>
            </p:cNvSpPr>
            <p:nvPr/>
          </p:nvSpPr>
          <p:spPr bwMode="auto">
            <a:xfrm>
              <a:off x="3028" y="274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89" name="Line 228"/>
            <p:cNvSpPr>
              <a:spLocks noChangeShapeType="1"/>
            </p:cNvSpPr>
            <p:nvPr/>
          </p:nvSpPr>
          <p:spPr bwMode="auto">
            <a:xfrm>
              <a:off x="3028" y="274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90" name="Line 229"/>
            <p:cNvSpPr>
              <a:spLocks noChangeShapeType="1"/>
            </p:cNvSpPr>
            <p:nvPr/>
          </p:nvSpPr>
          <p:spPr bwMode="auto">
            <a:xfrm>
              <a:off x="3028" y="274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91" name="Rectangle 230"/>
            <p:cNvSpPr>
              <a:spLocks noChangeArrowheads="1"/>
            </p:cNvSpPr>
            <p:nvPr/>
          </p:nvSpPr>
          <p:spPr bwMode="auto">
            <a:xfrm>
              <a:off x="3044" y="2742"/>
              <a:ext cx="1544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92" name="Line 231"/>
            <p:cNvSpPr>
              <a:spLocks noChangeShapeType="1"/>
            </p:cNvSpPr>
            <p:nvPr/>
          </p:nvSpPr>
          <p:spPr bwMode="auto">
            <a:xfrm>
              <a:off x="3044" y="2742"/>
              <a:ext cx="154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93" name="Rectangle 232"/>
            <p:cNvSpPr>
              <a:spLocks noChangeArrowheads="1"/>
            </p:cNvSpPr>
            <p:nvPr/>
          </p:nvSpPr>
          <p:spPr bwMode="auto">
            <a:xfrm>
              <a:off x="4588" y="274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94" name="Line 233"/>
            <p:cNvSpPr>
              <a:spLocks noChangeShapeType="1"/>
            </p:cNvSpPr>
            <p:nvPr/>
          </p:nvSpPr>
          <p:spPr bwMode="auto">
            <a:xfrm>
              <a:off x="4588" y="274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95" name="Line 234"/>
            <p:cNvSpPr>
              <a:spLocks noChangeShapeType="1"/>
            </p:cNvSpPr>
            <p:nvPr/>
          </p:nvSpPr>
          <p:spPr bwMode="auto">
            <a:xfrm>
              <a:off x="4588" y="274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96" name="Rectangle 235"/>
            <p:cNvSpPr>
              <a:spLocks noChangeArrowheads="1"/>
            </p:cNvSpPr>
            <p:nvPr/>
          </p:nvSpPr>
          <p:spPr bwMode="auto">
            <a:xfrm>
              <a:off x="863" y="2758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97" name="Line 236"/>
            <p:cNvSpPr>
              <a:spLocks noChangeShapeType="1"/>
            </p:cNvSpPr>
            <p:nvPr/>
          </p:nvSpPr>
          <p:spPr bwMode="auto">
            <a:xfrm>
              <a:off x="863" y="2758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98" name="Rectangle 237"/>
            <p:cNvSpPr>
              <a:spLocks noChangeArrowheads="1"/>
            </p:cNvSpPr>
            <p:nvPr/>
          </p:nvSpPr>
          <p:spPr bwMode="auto">
            <a:xfrm>
              <a:off x="1532" y="2758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599" name="Line 238"/>
            <p:cNvSpPr>
              <a:spLocks noChangeShapeType="1"/>
            </p:cNvSpPr>
            <p:nvPr/>
          </p:nvSpPr>
          <p:spPr bwMode="auto">
            <a:xfrm>
              <a:off x="1532" y="2758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00" name="Rectangle 239"/>
            <p:cNvSpPr>
              <a:spLocks noChangeArrowheads="1"/>
            </p:cNvSpPr>
            <p:nvPr/>
          </p:nvSpPr>
          <p:spPr bwMode="auto">
            <a:xfrm>
              <a:off x="2184" y="2758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01" name="Line 240"/>
            <p:cNvSpPr>
              <a:spLocks noChangeShapeType="1"/>
            </p:cNvSpPr>
            <p:nvPr/>
          </p:nvSpPr>
          <p:spPr bwMode="auto">
            <a:xfrm>
              <a:off x="2184" y="2758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02" name="Rectangle 241"/>
            <p:cNvSpPr>
              <a:spLocks noChangeArrowheads="1"/>
            </p:cNvSpPr>
            <p:nvPr/>
          </p:nvSpPr>
          <p:spPr bwMode="auto">
            <a:xfrm>
              <a:off x="3028" y="2758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03" name="Line 242"/>
            <p:cNvSpPr>
              <a:spLocks noChangeShapeType="1"/>
            </p:cNvSpPr>
            <p:nvPr/>
          </p:nvSpPr>
          <p:spPr bwMode="auto">
            <a:xfrm>
              <a:off x="3028" y="2758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04" name="Rectangle 243"/>
            <p:cNvSpPr>
              <a:spLocks noChangeArrowheads="1"/>
            </p:cNvSpPr>
            <p:nvPr/>
          </p:nvSpPr>
          <p:spPr bwMode="auto">
            <a:xfrm>
              <a:off x="4588" y="2758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05" name="Line 244"/>
            <p:cNvSpPr>
              <a:spLocks noChangeShapeType="1"/>
            </p:cNvSpPr>
            <p:nvPr/>
          </p:nvSpPr>
          <p:spPr bwMode="auto">
            <a:xfrm>
              <a:off x="4588" y="2758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06" name="Rectangle 245"/>
            <p:cNvSpPr>
              <a:spLocks noChangeArrowheads="1"/>
            </p:cNvSpPr>
            <p:nvPr/>
          </p:nvSpPr>
          <p:spPr bwMode="auto">
            <a:xfrm>
              <a:off x="1102" y="3076"/>
              <a:ext cx="27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0/1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07" name="Rectangle 246"/>
            <p:cNvSpPr>
              <a:spLocks noChangeArrowheads="1"/>
            </p:cNvSpPr>
            <p:nvPr/>
          </p:nvSpPr>
          <p:spPr bwMode="auto">
            <a:xfrm>
              <a:off x="1834" y="3076"/>
              <a:ext cx="1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08" name="Rectangle 247"/>
            <p:cNvSpPr>
              <a:spLocks noChangeArrowheads="1"/>
            </p:cNvSpPr>
            <p:nvPr/>
          </p:nvSpPr>
          <p:spPr bwMode="auto">
            <a:xfrm>
              <a:off x="2407" y="3076"/>
              <a:ext cx="11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09" name="Rectangle 248"/>
            <p:cNvSpPr>
              <a:spLocks noChangeArrowheads="1"/>
            </p:cNvSpPr>
            <p:nvPr/>
          </p:nvSpPr>
          <p:spPr bwMode="auto">
            <a:xfrm>
              <a:off x="2455" y="3076"/>
              <a:ext cx="11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10" name="Rectangle 249"/>
            <p:cNvSpPr>
              <a:spLocks noChangeArrowheads="1"/>
            </p:cNvSpPr>
            <p:nvPr/>
          </p:nvSpPr>
          <p:spPr bwMode="auto">
            <a:xfrm>
              <a:off x="2503" y="309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非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11" name="Rectangle 250"/>
            <p:cNvSpPr>
              <a:spLocks noChangeArrowheads="1"/>
            </p:cNvSpPr>
            <p:nvPr/>
          </p:nvSpPr>
          <p:spPr bwMode="auto">
            <a:xfrm>
              <a:off x="2694" y="3076"/>
              <a:ext cx="19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0)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12" name="Rectangle 251"/>
            <p:cNvSpPr>
              <a:spLocks noChangeArrowheads="1"/>
            </p:cNvSpPr>
            <p:nvPr/>
          </p:nvSpPr>
          <p:spPr bwMode="auto">
            <a:xfrm>
              <a:off x="3299" y="3076"/>
              <a:ext cx="287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(-1)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13" name="Rectangle 252"/>
            <p:cNvSpPr>
              <a:spLocks noChangeArrowheads="1"/>
            </p:cNvSpPr>
            <p:nvPr/>
          </p:nvSpPr>
          <p:spPr bwMode="auto">
            <a:xfrm>
              <a:off x="3521" y="3076"/>
              <a:ext cx="64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14" name="Rectangle 253"/>
            <p:cNvSpPr>
              <a:spLocks noChangeArrowheads="1"/>
            </p:cNvSpPr>
            <p:nvPr/>
          </p:nvSpPr>
          <p:spPr bwMode="auto">
            <a:xfrm>
              <a:off x="3553" y="309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15" name="Rectangle 254"/>
            <p:cNvSpPr>
              <a:spLocks noChangeArrowheads="1"/>
            </p:cNvSpPr>
            <p:nvPr/>
          </p:nvSpPr>
          <p:spPr bwMode="auto">
            <a:xfrm>
              <a:off x="3712" y="3076"/>
              <a:ext cx="19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0.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16" name="Rectangle 255"/>
            <p:cNvSpPr>
              <a:spLocks noChangeArrowheads="1"/>
            </p:cNvSpPr>
            <p:nvPr/>
          </p:nvSpPr>
          <p:spPr bwMode="auto">
            <a:xfrm>
              <a:off x="3840" y="3076"/>
              <a:ext cx="11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17" name="Rectangle 256"/>
            <p:cNvSpPr>
              <a:spLocks noChangeArrowheads="1"/>
            </p:cNvSpPr>
            <p:nvPr/>
          </p:nvSpPr>
          <p:spPr bwMode="auto">
            <a:xfrm>
              <a:off x="3888" y="309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宋体" panose="02010600030101010101" pitchFamily="2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18" name="Rectangle 257"/>
            <p:cNvSpPr>
              <a:spLocks noChangeArrowheads="1"/>
            </p:cNvSpPr>
            <p:nvPr/>
          </p:nvSpPr>
          <p:spPr bwMode="auto">
            <a:xfrm>
              <a:off x="4047" y="3076"/>
              <a:ext cx="1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19" name="Rectangle 258"/>
            <p:cNvSpPr>
              <a:spLocks noChangeArrowheads="1"/>
            </p:cNvSpPr>
            <p:nvPr/>
          </p:nvSpPr>
          <p:spPr bwMode="auto">
            <a:xfrm>
              <a:off x="4126" y="3076"/>
              <a:ext cx="255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e-126</a:t>
              </a:r>
              <a:endParaRPr kumimoji="1" lang="en-US" altLang="zh-CN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20" name="Rectangle 259"/>
            <p:cNvSpPr>
              <a:spLocks noChangeArrowheads="1"/>
            </p:cNvSpPr>
            <p:nvPr/>
          </p:nvSpPr>
          <p:spPr bwMode="auto">
            <a:xfrm>
              <a:off x="863" y="301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21" name="Line 260"/>
            <p:cNvSpPr>
              <a:spLocks noChangeShapeType="1"/>
            </p:cNvSpPr>
            <p:nvPr/>
          </p:nvSpPr>
          <p:spPr bwMode="auto">
            <a:xfrm>
              <a:off x="863" y="301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22" name="Line 261"/>
            <p:cNvSpPr>
              <a:spLocks noChangeShapeType="1"/>
            </p:cNvSpPr>
            <p:nvPr/>
          </p:nvSpPr>
          <p:spPr bwMode="auto">
            <a:xfrm>
              <a:off x="863" y="301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23" name="Rectangle 262"/>
            <p:cNvSpPr>
              <a:spLocks noChangeArrowheads="1"/>
            </p:cNvSpPr>
            <p:nvPr/>
          </p:nvSpPr>
          <p:spPr bwMode="auto">
            <a:xfrm>
              <a:off x="879" y="3012"/>
              <a:ext cx="653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24" name="Line 263"/>
            <p:cNvSpPr>
              <a:spLocks noChangeShapeType="1"/>
            </p:cNvSpPr>
            <p:nvPr/>
          </p:nvSpPr>
          <p:spPr bwMode="auto">
            <a:xfrm>
              <a:off x="879" y="3012"/>
              <a:ext cx="65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25" name="Rectangle 264"/>
            <p:cNvSpPr>
              <a:spLocks noChangeArrowheads="1"/>
            </p:cNvSpPr>
            <p:nvPr/>
          </p:nvSpPr>
          <p:spPr bwMode="auto">
            <a:xfrm>
              <a:off x="1532" y="301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26" name="Line 265"/>
            <p:cNvSpPr>
              <a:spLocks noChangeShapeType="1"/>
            </p:cNvSpPr>
            <p:nvPr/>
          </p:nvSpPr>
          <p:spPr bwMode="auto">
            <a:xfrm>
              <a:off x="1532" y="301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27" name="Line 266"/>
            <p:cNvSpPr>
              <a:spLocks noChangeShapeType="1"/>
            </p:cNvSpPr>
            <p:nvPr/>
          </p:nvSpPr>
          <p:spPr bwMode="auto">
            <a:xfrm>
              <a:off x="1532" y="301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28" name="Rectangle 267"/>
            <p:cNvSpPr>
              <a:spLocks noChangeArrowheads="1"/>
            </p:cNvSpPr>
            <p:nvPr/>
          </p:nvSpPr>
          <p:spPr bwMode="auto">
            <a:xfrm>
              <a:off x="1548" y="3012"/>
              <a:ext cx="63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29" name="Line 268"/>
            <p:cNvSpPr>
              <a:spLocks noChangeShapeType="1"/>
            </p:cNvSpPr>
            <p:nvPr/>
          </p:nvSpPr>
          <p:spPr bwMode="auto">
            <a:xfrm>
              <a:off x="1548" y="3012"/>
              <a:ext cx="6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30" name="Rectangle 269"/>
            <p:cNvSpPr>
              <a:spLocks noChangeArrowheads="1"/>
            </p:cNvSpPr>
            <p:nvPr/>
          </p:nvSpPr>
          <p:spPr bwMode="auto">
            <a:xfrm>
              <a:off x="2184" y="301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31" name="Line 270"/>
            <p:cNvSpPr>
              <a:spLocks noChangeShapeType="1"/>
            </p:cNvSpPr>
            <p:nvPr/>
          </p:nvSpPr>
          <p:spPr bwMode="auto">
            <a:xfrm>
              <a:off x="2184" y="301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32" name="Line 271"/>
            <p:cNvSpPr>
              <a:spLocks noChangeShapeType="1"/>
            </p:cNvSpPr>
            <p:nvPr/>
          </p:nvSpPr>
          <p:spPr bwMode="auto">
            <a:xfrm>
              <a:off x="2184" y="301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33" name="Rectangle 272"/>
            <p:cNvSpPr>
              <a:spLocks noChangeArrowheads="1"/>
            </p:cNvSpPr>
            <p:nvPr/>
          </p:nvSpPr>
          <p:spPr bwMode="auto">
            <a:xfrm>
              <a:off x="2200" y="3012"/>
              <a:ext cx="828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34" name="Line 273"/>
            <p:cNvSpPr>
              <a:spLocks noChangeShapeType="1"/>
            </p:cNvSpPr>
            <p:nvPr/>
          </p:nvSpPr>
          <p:spPr bwMode="auto">
            <a:xfrm>
              <a:off x="2200" y="3012"/>
              <a:ext cx="8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35" name="Rectangle 274"/>
            <p:cNvSpPr>
              <a:spLocks noChangeArrowheads="1"/>
            </p:cNvSpPr>
            <p:nvPr/>
          </p:nvSpPr>
          <p:spPr bwMode="auto">
            <a:xfrm>
              <a:off x="3028" y="301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36" name="Line 275"/>
            <p:cNvSpPr>
              <a:spLocks noChangeShapeType="1"/>
            </p:cNvSpPr>
            <p:nvPr/>
          </p:nvSpPr>
          <p:spPr bwMode="auto">
            <a:xfrm>
              <a:off x="3028" y="301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37" name="Line 276"/>
            <p:cNvSpPr>
              <a:spLocks noChangeShapeType="1"/>
            </p:cNvSpPr>
            <p:nvPr/>
          </p:nvSpPr>
          <p:spPr bwMode="auto">
            <a:xfrm>
              <a:off x="3028" y="301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38" name="Rectangle 277"/>
            <p:cNvSpPr>
              <a:spLocks noChangeArrowheads="1"/>
            </p:cNvSpPr>
            <p:nvPr/>
          </p:nvSpPr>
          <p:spPr bwMode="auto">
            <a:xfrm>
              <a:off x="3044" y="3012"/>
              <a:ext cx="1544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39" name="Line 278"/>
            <p:cNvSpPr>
              <a:spLocks noChangeShapeType="1"/>
            </p:cNvSpPr>
            <p:nvPr/>
          </p:nvSpPr>
          <p:spPr bwMode="auto">
            <a:xfrm>
              <a:off x="3044" y="3012"/>
              <a:ext cx="154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40" name="Rectangle 279"/>
            <p:cNvSpPr>
              <a:spLocks noChangeArrowheads="1"/>
            </p:cNvSpPr>
            <p:nvPr/>
          </p:nvSpPr>
          <p:spPr bwMode="auto">
            <a:xfrm>
              <a:off x="4588" y="301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41" name="Line 280"/>
            <p:cNvSpPr>
              <a:spLocks noChangeShapeType="1"/>
            </p:cNvSpPr>
            <p:nvPr/>
          </p:nvSpPr>
          <p:spPr bwMode="auto">
            <a:xfrm>
              <a:off x="4588" y="301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42" name="Line 281"/>
            <p:cNvSpPr>
              <a:spLocks noChangeShapeType="1"/>
            </p:cNvSpPr>
            <p:nvPr/>
          </p:nvSpPr>
          <p:spPr bwMode="auto">
            <a:xfrm>
              <a:off x="4588" y="301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43" name="Rectangle 282"/>
            <p:cNvSpPr>
              <a:spLocks noChangeArrowheads="1"/>
            </p:cNvSpPr>
            <p:nvPr/>
          </p:nvSpPr>
          <p:spPr bwMode="auto">
            <a:xfrm>
              <a:off x="863" y="3028"/>
              <a:ext cx="16" cy="25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44" name="Line 283"/>
            <p:cNvSpPr>
              <a:spLocks noChangeShapeType="1"/>
            </p:cNvSpPr>
            <p:nvPr/>
          </p:nvSpPr>
          <p:spPr bwMode="auto">
            <a:xfrm>
              <a:off x="863" y="3028"/>
              <a:ext cx="1" cy="25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45" name="Rectangle 284"/>
            <p:cNvSpPr>
              <a:spLocks noChangeArrowheads="1"/>
            </p:cNvSpPr>
            <p:nvPr/>
          </p:nvSpPr>
          <p:spPr bwMode="auto">
            <a:xfrm>
              <a:off x="1532" y="3028"/>
              <a:ext cx="16" cy="25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46" name="Line 285"/>
            <p:cNvSpPr>
              <a:spLocks noChangeShapeType="1"/>
            </p:cNvSpPr>
            <p:nvPr/>
          </p:nvSpPr>
          <p:spPr bwMode="auto">
            <a:xfrm>
              <a:off x="1532" y="3028"/>
              <a:ext cx="1" cy="25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47" name="Rectangle 286"/>
            <p:cNvSpPr>
              <a:spLocks noChangeArrowheads="1"/>
            </p:cNvSpPr>
            <p:nvPr/>
          </p:nvSpPr>
          <p:spPr bwMode="auto">
            <a:xfrm>
              <a:off x="2184" y="3028"/>
              <a:ext cx="16" cy="25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48" name="Line 287"/>
            <p:cNvSpPr>
              <a:spLocks noChangeShapeType="1"/>
            </p:cNvSpPr>
            <p:nvPr/>
          </p:nvSpPr>
          <p:spPr bwMode="auto">
            <a:xfrm>
              <a:off x="2184" y="3028"/>
              <a:ext cx="1" cy="25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49" name="Rectangle 288"/>
            <p:cNvSpPr>
              <a:spLocks noChangeArrowheads="1"/>
            </p:cNvSpPr>
            <p:nvPr/>
          </p:nvSpPr>
          <p:spPr bwMode="auto">
            <a:xfrm>
              <a:off x="3028" y="3028"/>
              <a:ext cx="16" cy="25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50" name="Line 289"/>
            <p:cNvSpPr>
              <a:spLocks noChangeShapeType="1"/>
            </p:cNvSpPr>
            <p:nvPr/>
          </p:nvSpPr>
          <p:spPr bwMode="auto">
            <a:xfrm>
              <a:off x="3028" y="3028"/>
              <a:ext cx="1" cy="25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51" name="Rectangle 290"/>
            <p:cNvSpPr>
              <a:spLocks noChangeArrowheads="1"/>
            </p:cNvSpPr>
            <p:nvPr/>
          </p:nvSpPr>
          <p:spPr bwMode="auto">
            <a:xfrm>
              <a:off x="4588" y="3028"/>
              <a:ext cx="16" cy="25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52" name="Line 291"/>
            <p:cNvSpPr>
              <a:spLocks noChangeShapeType="1"/>
            </p:cNvSpPr>
            <p:nvPr/>
          </p:nvSpPr>
          <p:spPr bwMode="auto">
            <a:xfrm>
              <a:off x="4588" y="3028"/>
              <a:ext cx="1" cy="25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53" name="Rectangle 292"/>
            <p:cNvSpPr>
              <a:spLocks noChangeArrowheads="1"/>
            </p:cNvSpPr>
            <p:nvPr/>
          </p:nvSpPr>
          <p:spPr bwMode="auto">
            <a:xfrm>
              <a:off x="1102" y="3346"/>
              <a:ext cx="27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0/1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54" name="Rectangle 293"/>
            <p:cNvSpPr>
              <a:spLocks noChangeArrowheads="1"/>
            </p:cNvSpPr>
            <p:nvPr/>
          </p:nvSpPr>
          <p:spPr bwMode="auto">
            <a:xfrm>
              <a:off x="1834" y="3346"/>
              <a:ext cx="1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55" name="Rectangle 294"/>
            <p:cNvSpPr>
              <a:spLocks noChangeArrowheads="1"/>
            </p:cNvSpPr>
            <p:nvPr/>
          </p:nvSpPr>
          <p:spPr bwMode="auto">
            <a:xfrm>
              <a:off x="2582" y="3346"/>
              <a:ext cx="1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56" name="Rectangle 295"/>
            <p:cNvSpPr>
              <a:spLocks noChangeArrowheads="1"/>
            </p:cNvSpPr>
            <p:nvPr/>
          </p:nvSpPr>
          <p:spPr bwMode="auto">
            <a:xfrm>
              <a:off x="3649" y="3346"/>
              <a:ext cx="41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kumimoji="1"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+0/-0</a:t>
              </a:r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57" name="Rectangle 296"/>
            <p:cNvSpPr>
              <a:spLocks noChangeArrowheads="1"/>
            </p:cNvSpPr>
            <p:nvPr/>
          </p:nvSpPr>
          <p:spPr bwMode="auto">
            <a:xfrm>
              <a:off x="863" y="328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58" name="Line 297"/>
            <p:cNvSpPr>
              <a:spLocks noChangeShapeType="1"/>
            </p:cNvSpPr>
            <p:nvPr/>
          </p:nvSpPr>
          <p:spPr bwMode="auto">
            <a:xfrm>
              <a:off x="863" y="328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59" name="Line 298"/>
            <p:cNvSpPr>
              <a:spLocks noChangeShapeType="1"/>
            </p:cNvSpPr>
            <p:nvPr/>
          </p:nvSpPr>
          <p:spPr bwMode="auto">
            <a:xfrm>
              <a:off x="863" y="328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60" name="Rectangle 299"/>
            <p:cNvSpPr>
              <a:spLocks noChangeArrowheads="1"/>
            </p:cNvSpPr>
            <p:nvPr/>
          </p:nvSpPr>
          <p:spPr bwMode="auto">
            <a:xfrm>
              <a:off x="879" y="3283"/>
              <a:ext cx="653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61" name="Line 300"/>
            <p:cNvSpPr>
              <a:spLocks noChangeShapeType="1"/>
            </p:cNvSpPr>
            <p:nvPr/>
          </p:nvSpPr>
          <p:spPr bwMode="auto">
            <a:xfrm>
              <a:off x="879" y="3283"/>
              <a:ext cx="65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62" name="Rectangle 301"/>
            <p:cNvSpPr>
              <a:spLocks noChangeArrowheads="1"/>
            </p:cNvSpPr>
            <p:nvPr/>
          </p:nvSpPr>
          <p:spPr bwMode="auto">
            <a:xfrm>
              <a:off x="1532" y="328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63" name="Line 302"/>
            <p:cNvSpPr>
              <a:spLocks noChangeShapeType="1"/>
            </p:cNvSpPr>
            <p:nvPr/>
          </p:nvSpPr>
          <p:spPr bwMode="auto">
            <a:xfrm>
              <a:off x="1532" y="328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64" name="Line 303"/>
            <p:cNvSpPr>
              <a:spLocks noChangeShapeType="1"/>
            </p:cNvSpPr>
            <p:nvPr/>
          </p:nvSpPr>
          <p:spPr bwMode="auto">
            <a:xfrm>
              <a:off x="1532" y="328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65" name="Rectangle 304"/>
            <p:cNvSpPr>
              <a:spLocks noChangeArrowheads="1"/>
            </p:cNvSpPr>
            <p:nvPr/>
          </p:nvSpPr>
          <p:spPr bwMode="auto">
            <a:xfrm>
              <a:off x="1548" y="3283"/>
              <a:ext cx="63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66" name="Line 305"/>
            <p:cNvSpPr>
              <a:spLocks noChangeShapeType="1"/>
            </p:cNvSpPr>
            <p:nvPr/>
          </p:nvSpPr>
          <p:spPr bwMode="auto">
            <a:xfrm>
              <a:off x="1548" y="3283"/>
              <a:ext cx="6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67" name="Rectangle 306"/>
            <p:cNvSpPr>
              <a:spLocks noChangeArrowheads="1"/>
            </p:cNvSpPr>
            <p:nvPr/>
          </p:nvSpPr>
          <p:spPr bwMode="auto">
            <a:xfrm>
              <a:off x="2184" y="328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68" name="Line 307"/>
            <p:cNvSpPr>
              <a:spLocks noChangeShapeType="1"/>
            </p:cNvSpPr>
            <p:nvPr/>
          </p:nvSpPr>
          <p:spPr bwMode="auto">
            <a:xfrm>
              <a:off x="2184" y="328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69" name="Line 308"/>
            <p:cNvSpPr>
              <a:spLocks noChangeShapeType="1"/>
            </p:cNvSpPr>
            <p:nvPr/>
          </p:nvSpPr>
          <p:spPr bwMode="auto">
            <a:xfrm>
              <a:off x="2184" y="328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70" name="Rectangle 309"/>
            <p:cNvSpPr>
              <a:spLocks noChangeArrowheads="1"/>
            </p:cNvSpPr>
            <p:nvPr/>
          </p:nvSpPr>
          <p:spPr bwMode="auto">
            <a:xfrm>
              <a:off x="2200" y="3283"/>
              <a:ext cx="828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71" name="Line 310"/>
            <p:cNvSpPr>
              <a:spLocks noChangeShapeType="1"/>
            </p:cNvSpPr>
            <p:nvPr/>
          </p:nvSpPr>
          <p:spPr bwMode="auto">
            <a:xfrm>
              <a:off x="2200" y="3283"/>
              <a:ext cx="8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72" name="Rectangle 311"/>
            <p:cNvSpPr>
              <a:spLocks noChangeArrowheads="1"/>
            </p:cNvSpPr>
            <p:nvPr/>
          </p:nvSpPr>
          <p:spPr bwMode="auto">
            <a:xfrm>
              <a:off x="3028" y="328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73" name="Line 312"/>
            <p:cNvSpPr>
              <a:spLocks noChangeShapeType="1"/>
            </p:cNvSpPr>
            <p:nvPr/>
          </p:nvSpPr>
          <p:spPr bwMode="auto">
            <a:xfrm>
              <a:off x="3028" y="328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74" name="Line 313"/>
            <p:cNvSpPr>
              <a:spLocks noChangeShapeType="1"/>
            </p:cNvSpPr>
            <p:nvPr/>
          </p:nvSpPr>
          <p:spPr bwMode="auto">
            <a:xfrm>
              <a:off x="3028" y="328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75" name="Rectangle 314"/>
            <p:cNvSpPr>
              <a:spLocks noChangeArrowheads="1"/>
            </p:cNvSpPr>
            <p:nvPr/>
          </p:nvSpPr>
          <p:spPr bwMode="auto">
            <a:xfrm>
              <a:off x="3044" y="3283"/>
              <a:ext cx="1544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76" name="Line 315"/>
            <p:cNvSpPr>
              <a:spLocks noChangeShapeType="1"/>
            </p:cNvSpPr>
            <p:nvPr/>
          </p:nvSpPr>
          <p:spPr bwMode="auto">
            <a:xfrm>
              <a:off x="3044" y="3283"/>
              <a:ext cx="154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77" name="Rectangle 316"/>
            <p:cNvSpPr>
              <a:spLocks noChangeArrowheads="1"/>
            </p:cNvSpPr>
            <p:nvPr/>
          </p:nvSpPr>
          <p:spPr bwMode="auto">
            <a:xfrm>
              <a:off x="4588" y="328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78" name="Line 317"/>
            <p:cNvSpPr>
              <a:spLocks noChangeShapeType="1"/>
            </p:cNvSpPr>
            <p:nvPr/>
          </p:nvSpPr>
          <p:spPr bwMode="auto">
            <a:xfrm>
              <a:off x="4588" y="328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79" name="Line 318"/>
            <p:cNvSpPr>
              <a:spLocks noChangeShapeType="1"/>
            </p:cNvSpPr>
            <p:nvPr/>
          </p:nvSpPr>
          <p:spPr bwMode="auto">
            <a:xfrm>
              <a:off x="4588" y="328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80" name="Rectangle 319"/>
            <p:cNvSpPr>
              <a:spLocks noChangeArrowheads="1"/>
            </p:cNvSpPr>
            <p:nvPr/>
          </p:nvSpPr>
          <p:spPr bwMode="auto">
            <a:xfrm>
              <a:off x="863" y="3299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81" name="Line 320"/>
            <p:cNvSpPr>
              <a:spLocks noChangeShapeType="1"/>
            </p:cNvSpPr>
            <p:nvPr/>
          </p:nvSpPr>
          <p:spPr bwMode="auto">
            <a:xfrm>
              <a:off x="863" y="3299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82" name="Rectangle 321"/>
            <p:cNvSpPr>
              <a:spLocks noChangeArrowheads="1"/>
            </p:cNvSpPr>
            <p:nvPr/>
          </p:nvSpPr>
          <p:spPr bwMode="auto">
            <a:xfrm>
              <a:off x="863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83" name="Line 322"/>
            <p:cNvSpPr>
              <a:spLocks noChangeShapeType="1"/>
            </p:cNvSpPr>
            <p:nvPr/>
          </p:nvSpPr>
          <p:spPr bwMode="auto">
            <a:xfrm>
              <a:off x="863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84" name="Line 323"/>
            <p:cNvSpPr>
              <a:spLocks noChangeShapeType="1"/>
            </p:cNvSpPr>
            <p:nvPr/>
          </p:nvSpPr>
          <p:spPr bwMode="auto">
            <a:xfrm>
              <a:off x="863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85" name="Rectangle 324"/>
            <p:cNvSpPr>
              <a:spLocks noChangeArrowheads="1"/>
            </p:cNvSpPr>
            <p:nvPr/>
          </p:nvSpPr>
          <p:spPr bwMode="auto">
            <a:xfrm>
              <a:off x="863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86" name="Line 325"/>
            <p:cNvSpPr>
              <a:spLocks noChangeShapeType="1"/>
            </p:cNvSpPr>
            <p:nvPr/>
          </p:nvSpPr>
          <p:spPr bwMode="auto">
            <a:xfrm>
              <a:off x="863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87" name="Line 326"/>
            <p:cNvSpPr>
              <a:spLocks noChangeShapeType="1"/>
            </p:cNvSpPr>
            <p:nvPr/>
          </p:nvSpPr>
          <p:spPr bwMode="auto">
            <a:xfrm>
              <a:off x="863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88" name="Rectangle 327"/>
            <p:cNvSpPr>
              <a:spLocks noChangeArrowheads="1"/>
            </p:cNvSpPr>
            <p:nvPr/>
          </p:nvSpPr>
          <p:spPr bwMode="auto">
            <a:xfrm>
              <a:off x="879" y="3553"/>
              <a:ext cx="653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89" name="Line 328"/>
            <p:cNvSpPr>
              <a:spLocks noChangeShapeType="1"/>
            </p:cNvSpPr>
            <p:nvPr/>
          </p:nvSpPr>
          <p:spPr bwMode="auto">
            <a:xfrm>
              <a:off x="879" y="3553"/>
              <a:ext cx="65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90" name="Rectangle 329"/>
            <p:cNvSpPr>
              <a:spLocks noChangeArrowheads="1"/>
            </p:cNvSpPr>
            <p:nvPr/>
          </p:nvSpPr>
          <p:spPr bwMode="auto">
            <a:xfrm>
              <a:off x="1532" y="3299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91" name="Line 330"/>
            <p:cNvSpPr>
              <a:spLocks noChangeShapeType="1"/>
            </p:cNvSpPr>
            <p:nvPr/>
          </p:nvSpPr>
          <p:spPr bwMode="auto">
            <a:xfrm>
              <a:off x="1532" y="3299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92" name="Rectangle 331"/>
            <p:cNvSpPr>
              <a:spLocks noChangeArrowheads="1"/>
            </p:cNvSpPr>
            <p:nvPr/>
          </p:nvSpPr>
          <p:spPr bwMode="auto">
            <a:xfrm>
              <a:off x="1532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93" name="Line 332"/>
            <p:cNvSpPr>
              <a:spLocks noChangeShapeType="1"/>
            </p:cNvSpPr>
            <p:nvPr/>
          </p:nvSpPr>
          <p:spPr bwMode="auto">
            <a:xfrm>
              <a:off x="1532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94" name="Line 333"/>
            <p:cNvSpPr>
              <a:spLocks noChangeShapeType="1"/>
            </p:cNvSpPr>
            <p:nvPr/>
          </p:nvSpPr>
          <p:spPr bwMode="auto">
            <a:xfrm>
              <a:off x="1532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95" name="Rectangle 334"/>
            <p:cNvSpPr>
              <a:spLocks noChangeArrowheads="1"/>
            </p:cNvSpPr>
            <p:nvPr/>
          </p:nvSpPr>
          <p:spPr bwMode="auto">
            <a:xfrm>
              <a:off x="1548" y="3553"/>
              <a:ext cx="63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96" name="Line 335"/>
            <p:cNvSpPr>
              <a:spLocks noChangeShapeType="1"/>
            </p:cNvSpPr>
            <p:nvPr/>
          </p:nvSpPr>
          <p:spPr bwMode="auto">
            <a:xfrm>
              <a:off x="1548" y="3553"/>
              <a:ext cx="6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97" name="Rectangle 336"/>
            <p:cNvSpPr>
              <a:spLocks noChangeArrowheads="1"/>
            </p:cNvSpPr>
            <p:nvPr/>
          </p:nvSpPr>
          <p:spPr bwMode="auto">
            <a:xfrm>
              <a:off x="2184" y="3299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98" name="Line 337"/>
            <p:cNvSpPr>
              <a:spLocks noChangeShapeType="1"/>
            </p:cNvSpPr>
            <p:nvPr/>
          </p:nvSpPr>
          <p:spPr bwMode="auto">
            <a:xfrm>
              <a:off x="2184" y="3299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699" name="Rectangle 338"/>
            <p:cNvSpPr>
              <a:spLocks noChangeArrowheads="1"/>
            </p:cNvSpPr>
            <p:nvPr/>
          </p:nvSpPr>
          <p:spPr bwMode="auto">
            <a:xfrm>
              <a:off x="2184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00" name="Line 339"/>
            <p:cNvSpPr>
              <a:spLocks noChangeShapeType="1"/>
            </p:cNvSpPr>
            <p:nvPr/>
          </p:nvSpPr>
          <p:spPr bwMode="auto">
            <a:xfrm>
              <a:off x="2184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01" name="Line 340"/>
            <p:cNvSpPr>
              <a:spLocks noChangeShapeType="1"/>
            </p:cNvSpPr>
            <p:nvPr/>
          </p:nvSpPr>
          <p:spPr bwMode="auto">
            <a:xfrm>
              <a:off x="2184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02" name="Rectangle 341"/>
            <p:cNvSpPr>
              <a:spLocks noChangeArrowheads="1"/>
            </p:cNvSpPr>
            <p:nvPr/>
          </p:nvSpPr>
          <p:spPr bwMode="auto">
            <a:xfrm>
              <a:off x="2200" y="3553"/>
              <a:ext cx="828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03" name="Line 342"/>
            <p:cNvSpPr>
              <a:spLocks noChangeShapeType="1"/>
            </p:cNvSpPr>
            <p:nvPr/>
          </p:nvSpPr>
          <p:spPr bwMode="auto">
            <a:xfrm>
              <a:off x="2200" y="3553"/>
              <a:ext cx="8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04" name="Rectangle 343"/>
            <p:cNvSpPr>
              <a:spLocks noChangeArrowheads="1"/>
            </p:cNvSpPr>
            <p:nvPr/>
          </p:nvSpPr>
          <p:spPr bwMode="auto">
            <a:xfrm>
              <a:off x="3028" y="3299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05" name="Line 344"/>
            <p:cNvSpPr>
              <a:spLocks noChangeShapeType="1"/>
            </p:cNvSpPr>
            <p:nvPr/>
          </p:nvSpPr>
          <p:spPr bwMode="auto">
            <a:xfrm>
              <a:off x="3028" y="3299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06" name="Rectangle 345"/>
            <p:cNvSpPr>
              <a:spLocks noChangeArrowheads="1"/>
            </p:cNvSpPr>
            <p:nvPr/>
          </p:nvSpPr>
          <p:spPr bwMode="auto">
            <a:xfrm>
              <a:off x="3028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07" name="Line 346"/>
            <p:cNvSpPr>
              <a:spLocks noChangeShapeType="1"/>
            </p:cNvSpPr>
            <p:nvPr/>
          </p:nvSpPr>
          <p:spPr bwMode="auto">
            <a:xfrm>
              <a:off x="3028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08" name="Line 347"/>
            <p:cNvSpPr>
              <a:spLocks noChangeShapeType="1"/>
            </p:cNvSpPr>
            <p:nvPr/>
          </p:nvSpPr>
          <p:spPr bwMode="auto">
            <a:xfrm>
              <a:off x="3028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09" name="Rectangle 348"/>
            <p:cNvSpPr>
              <a:spLocks noChangeArrowheads="1"/>
            </p:cNvSpPr>
            <p:nvPr/>
          </p:nvSpPr>
          <p:spPr bwMode="auto">
            <a:xfrm>
              <a:off x="3044" y="3553"/>
              <a:ext cx="1544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10" name="Line 349"/>
            <p:cNvSpPr>
              <a:spLocks noChangeShapeType="1"/>
            </p:cNvSpPr>
            <p:nvPr/>
          </p:nvSpPr>
          <p:spPr bwMode="auto">
            <a:xfrm>
              <a:off x="3044" y="3553"/>
              <a:ext cx="154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11" name="Rectangle 350"/>
            <p:cNvSpPr>
              <a:spLocks noChangeArrowheads="1"/>
            </p:cNvSpPr>
            <p:nvPr/>
          </p:nvSpPr>
          <p:spPr bwMode="auto">
            <a:xfrm>
              <a:off x="4588" y="3299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12" name="Line 351"/>
            <p:cNvSpPr>
              <a:spLocks noChangeShapeType="1"/>
            </p:cNvSpPr>
            <p:nvPr/>
          </p:nvSpPr>
          <p:spPr bwMode="auto">
            <a:xfrm>
              <a:off x="4588" y="3299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13" name="Rectangle 352"/>
            <p:cNvSpPr>
              <a:spLocks noChangeArrowheads="1"/>
            </p:cNvSpPr>
            <p:nvPr/>
          </p:nvSpPr>
          <p:spPr bwMode="auto">
            <a:xfrm>
              <a:off x="4588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14" name="Line 353"/>
            <p:cNvSpPr>
              <a:spLocks noChangeShapeType="1"/>
            </p:cNvSpPr>
            <p:nvPr/>
          </p:nvSpPr>
          <p:spPr bwMode="auto">
            <a:xfrm>
              <a:off x="4588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15" name="Line 354"/>
            <p:cNvSpPr>
              <a:spLocks noChangeShapeType="1"/>
            </p:cNvSpPr>
            <p:nvPr/>
          </p:nvSpPr>
          <p:spPr bwMode="auto">
            <a:xfrm>
              <a:off x="4588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16" name="Rectangle 355"/>
            <p:cNvSpPr>
              <a:spLocks noChangeArrowheads="1"/>
            </p:cNvSpPr>
            <p:nvPr/>
          </p:nvSpPr>
          <p:spPr bwMode="auto">
            <a:xfrm>
              <a:off x="4588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17" name="Line 356"/>
            <p:cNvSpPr>
              <a:spLocks noChangeShapeType="1"/>
            </p:cNvSpPr>
            <p:nvPr/>
          </p:nvSpPr>
          <p:spPr bwMode="auto">
            <a:xfrm>
              <a:off x="4588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66718" name="Line 357"/>
            <p:cNvSpPr>
              <a:spLocks noChangeShapeType="1"/>
            </p:cNvSpPr>
            <p:nvPr/>
          </p:nvSpPr>
          <p:spPr bwMode="auto">
            <a:xfrm>
              <a:off x="4588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/>
              <a:endParaRPr kumimoji="1" lang="zh-CN" altLang="en-US" sz="2400">
                <a:solidFill>
                  <a:srgbClr val="000000"/>
                </a:solidFill>
                <a:latin typeface="Tahoma" panose="020B0604030504040204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ChangeArrowheads="1"/>
          </p:cNvSpPr>
          <p:nvPr/>
        </p:nvSpPr>
        <p:spPr bwMode="auto">
          <a:xfrm>
            <a:off x="533400" y="762000"/>
            <a:ext cx="67913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浮点运算方法和浮点运算器</a:t>
            </a:r>
            <a:endParaRPr lang="zh-CN" altLang="en-US" sz="36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9027" name="Rectangle 6"/>
          <p:cNvSpPr>
            <a:spLocks noChangeArrowheads="1"/>
          </p:cNvSpPr>
          <p:nvPr/>
        </p:nvSpPr>
        <p:spPr bwMode="auto">
          <a:xfrm>
            <a:off x="609600" y="1981200"/>
            <a:ext cx="57245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solidFill>
                  <a:srgbClr val="3333CC"/>
                </a:solidFill>
                <a:latin typeface="宋体" panose="02010600030101010101" pitchFamily="2" charset="-122"/>
              </a:rPr>
              <a:t>浮点加、减法运算</a:t>
            </a:r>
            <a:endParaRPr lang="zh-CN" altLang="en-US" sz="2800">
              <a:solidFill>
                <a:srgbClr val="3333CC"/>
              </a:solidFill>
              <a:latin typeface="宋体" panose="02010600030101010101" pitchFamily="2" charset="-122"/>
            </a:endParaRPr>
          </a:p>
        </p:txBody>
      </p:sp>
      <p:sp>
        <p:nvSpPr>
          <p:cNvPr id="129028" name="Rectangle 7"/>
          <p:cNvSpPr>
            <a:spLocks noChangeArrowheads="1"/>
          </p:cNvSpPr>
          <p:nvPr/>
        </p:nvSpPr>
        <p:spPr bwMode="auto">
          <a:xfrm>
            <a:off x="628650" y="2733675"/>
            <a:ext cx="57245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solidFill>
                  <a:srgbClr val="3333CC"/>
                </a:solidFill>
                <a:latin typeface="宋体" panose="02010600030101010101" pitchFamily="2" charset="-122"/>
              </a:rPr>
              <a:t>浮点乘、除法运算</a:t>
            </a:r>
            <a:endParaRPr lang="zh-CN" altLang="en-US" sz="2800">
              <a:solidFill>
                <a:srgbClr val="3333CC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ChangeArrowheads="1"/>
          </p:cNvSpPr>
          <p:nvPr/>
        </p:nvSpPr>
        <p:spPr bwMode="auto">
          <a:xfrm>
            <a:off x="323850" y="1520825"/>
            <a:ext cx="7907338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尾数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：用定点小数表示，给出有效数字的位数，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        决定了浮点数的表示精度；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    阶码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：用整数形式表示，指明小数点在数据中的位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        置，决定了浮点数的表示范围。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0051" name="Rectangle 13"/>
          <p:cNvSpPr>
            <a:spLocks noChangeArrowheads="1"/>
          </p:cNvSpPr>
          <p:nvPr/>
        </p:nvSpPr>
        <p:spPr bwMode="auto">
          <a:xfrm>
            <a:off x="298450" y="628650"/>
            <a:ext cx="3448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0000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机器浮点数格式：</a:t>
            </a:r>
            <a:endParaRPr lang="zh-CN" altLang="en-US" sz="3200">
              <a:solidFill>
                <a:srgbClr val="0000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30052" name="Rectangle 16"/>
          <p:cNvSpPr>
            <a:spLocks noChangeArrowheads="1"/>
          </p:cNvSpPr>
          <p:nvPr/>
        </p:nvSpPr>
        <p:spPr bwMode="auto">
          <a:xfrm>
            <a:off x="228600" y="304800"/>
            <a:ext cx="56483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36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浮点数的表示方法</a:t>
            </a:r>
            <a:endParaRPr lang="zh-CN" altLang="en-US" sz="36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30053" name="Group 23"/>
          <p:cNvGrpSpPr/>
          <p:nvPr/>
        </p:nvGrpSpPr>
        <p:grpSpPr bwMode="auto">
          <a:xfrm>
            <a:off x="974725" y="3371850"/>
            <a:ext cx="7407275" cy="1325563"/>
            <a:chOff x="614" y="2124"/>
            <a:chExt cx="4666" cy="835"/>
          </a:xfrm>
        </p:grpSpPr>
        <p:sp>
          <p:nvSpPr>
            <p:cNvPr id="130054" name="Rectangle 22"/>
            <p:cNvSpPr>
              <a:spLocks noChangeArrowheads="1"/>
            </p:cNvSpPr>
            <p:nvPr/>
          </p:nvSpPr>
          <p:spPr bwMode="auto">
            <a:xfrm>
              <a:off x="624" y="2304"/>
              <a:ext cx="4656" cy="28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aphicFrame>
          <p:nvGraphicFramePr>
            <p:cNvPr id="130055" name="Object 5"/>
            <p:cNvGraphicFramePr>
              <a:graphicFrameLocks noChangeAspect="1"/>
            </p:cNvGraphicFramePr>
            <p:nvPr/>
          </p:nvGraphicFramePr>
          <p:xfrm>
            <a:off x="2740" y="2124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06" name="Equation" r:id="rId1" imgW="114300" imgH="215900" progId="Equation.3">
                    <p:embed/>
                  </p:oleObj>
                </mc:Choice>
                <mc:Fallback>
                  <p:oleObj name="Equation" r:id="rId1" imgW="114300" imgH="215900" progId="Equation.3">
                    <p:embed/>
                    <p:pic>
                      <p:nvPicPr>
                        <p:cNvPr id="0" name="图片 512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" y="2124"/>
                          <a:ext cx="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0056" name="Text Box 9"/>
            <p:cNvSpPr txBox="1">
              <a:spLocks noChangeArrowheads="1"/>
            </p:cNvSpPr>
            <p:nvPr/>
          </p:nvSpPr>
          <p:spPr bwMode="auto">
            <a:xfrm>
              <a:off x="646" y="2671"/>
              <a:ext cx="39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>
                  <a:solidFill>
                    <a:srgbClr val="000099"/>
                  </a:solidFill>
                  <a:latin typeface="Times New Roman" panose="02020603050405020304" pitchFamily="18" charset="0"/>
                </a:rPr>
                <a:t>阶符                 阶码               数符                尾数</a:t>
              </a:r>
              <a:endParaRPr lang="zh-CN" altLang="en-US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0057" name="Line 10"/>
            <p:cNvSpPr>
              <a:spLocks noChangeShapeType="1"/>
            </p:cNvSpPr>
            <p:nvPr/>
          </p:nvSpPr>
          <p:spPr bwMode="auto">
            <a:xfrm>
              <a:off x="1104" y="2640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30058" name="Line 11"/>
            <p:cNvSpPr>
              <a:spLocks noChangeShapeType="1"/>
            </p:cNvSpPr>
            <p:nvPr/>
          </p:nvSpPr>
          <p:spPr bwMode="auto">
            <a:xfrm>
              <a:off x="2928" y="2640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30059" name="Line 12"/>
            <p:cNvSpPr>
              <a:spLocks noChangeShapeType="1"/>
            </p:cNvSpPr>
            <p:nvPr/>
          </p:nvSpPr>
          <p:spPr bwMode="auto">
            <a:xfrm>
              <a:off x="3408" y="2640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30060" name="Group 21"/>
            <p:cNvGrpSpPr/>
            <p:nvPr/>
          </p:nvGrpSpPr>
          <p:grpSpPr bwMode="auto">
            <a:xfrm>
              <a:off x="614" y="2304"/>
              <a:ext cx="4640" cy="294"/>
              <a:chOff x="614" y="2304"/>
              <a:chExt cx="4640" cy="294"/>
            </a:xfrm>
          </p:grpSpPr>
          <p:sp>
            <p:nvSpPr>
              <p:cNvPr id="130061" name="Text Box 4"/>
              <p:cNvSpPr txBox="1">
                <a:spLocks noChangeArrowheads="1"/>
              </p:cNvSpPr>
              <p:nvPr/>
            </p:nvSpPr>
            <p:spPr bwMode="auto">
              <a:xfrm>
                <a:off x="614" y="2304"/>
                <a:ext cx="46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</a:pPr>
                <a:r>
                  <a:rPr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E</a:t>
                </a:r>
                <a:r>
                  <a:rPr lang="en-US" altLang="zh-CN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   E</a:t>
                </a:r>
                <a:r>
                  <a:rPr lang="en-US" altLang="zh-CN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    </a:t>
                </a:r>
                <a:r>
                  <a:rPr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E</a:t>
                </a:r>
                <a:r>
                  <a:rPr lang="en-US" altLang="zh-CN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       </a:t>
                </a:r>
                <a:r>
                  <a:rPr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……    E</a:t>
                </a:r>
                <a:r>
                  <a:rPr lang="en-US" altLang="zh-CN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m</a:t>
                </a:r>
                <a:r>
                  <a:rPr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   M</a:t>
                </a:r>
                <a:r>
                  <a:rPr lang="en-US" altLang="zh-CN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s        </a:t>
                </a:r>
                <a:r>
                  <a:rPr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M</a:t>
                </a:r>
                <a:r>
                  <a:rPr lang="en-US" altLang="zh-CN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   </a:t>
                </a:r>
                <a:r>
                  <a:rPr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M</a:t>
                </a:r>
                <a:r>
                  <a:rPr lang="en-US" altLang="zh-CN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2    </a:t>
                </a:r>
                <a:r>
                  <a:rPr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……   M</a:t>
                </a:r>
                <a:r>
                  <a:rPr lang="en-US" altLang="zh-CN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0062" name="Line 18"/>
              <p:cNvSpPr>
                <a:spLocks noChangeShapeType="1"/>
              </p:cNvSpPr>
              <p:nvPr/>
            </p:nvSpPr>
            <p:spPr bwMode="auto">
              <a:xfrm>
                <a:off x="2928" y="230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30063" name="Line 19"/>
              <p:cNvSpPr>
                <a:spLocks noChangeShapeType="1"/>
              </p:cNvSpPr>
              <p:nvPr/>
            </p:nvSpPr>
            <p:spPr bwMode="auto">
              <a:xfrm>
                <a:off x="1104" y="230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30064" name="Line 20"/>
              <p:cNvSpPr>
                <a:spLocks noChangeShapeType="1"/>
              </p:cNvSpPr>
              <p:nvPr/>
            </p:nvSpPr>
            <p:spPr bwMode="auto">
              <a:xfrm>
                <a:off x="3408" y="230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5"/>
          <p:cNvSpPr>
            <a:spLocks noChangeArrowheads="1"/>
          </p:cNvSpPr>
          <p:nvPr/>
        </p:nvSpPr>
        <p:spPr bwMode="auto">
          <a:xfrm>
            <a:off x="1947863" y="3733800"/>
            <a:ext cx="67056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131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4470400"/>
            <a:ext cx="7848600" cy="5334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IEEE </a:t>
            </a:r>
            <a:r>
              <a:rPr lang="zh-CN" altLang="zh-CN" sz="2400" b="1" smtClean="0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标准：尾数用原码</a:t>
            </a:r>
            <a:r>
              <a:rPr lang="zh-CN" altLang="en-US" sz="2400" b="1" smtClean="0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； </a:t>
            </a:r>
            <a:r>
              <a:rPr lang="zh-CN" altLang="zh-CN" sz="2400" b="1" smtClean="0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阶码用</a:t>
            </a:r>
            <a:r>
              <a:rPr lang="zh-CN" altLang="en-US" sz="2400" b="1" smtClean="0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zh-CN" sz="2400" b="1" smtClean="0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移码</a:t>
            </a:r>
            <a:r>
              <a:rPr lang="zh-CN" altLang="en-US" sz="2400" b="1" smtClean="0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”；</a:t>
            </a:r>
            <a:r>
              <a:rPr lang="zh-CN" altLang="zh-CN" sz="2400" b="1" smtClean="0">
                <a:solidFill>
                  <a:srgbClr val="A50021"/>
                </a:solidFill>
                <a:latin typeface="Times New Roman" panose="02020603050405020304" pitchFamily="18" charset="0"/>
                <a:ea typeface="楷体_GB2312" pitchFamily="49" charset="-122"/>
              </a:rPr>
              <a:t>基为2。</a:t>
            </a:r>
            <a:endParaRPr lang="zh-CN" altLang="en-US" sz="2400" b="1" smtClean="0">
              <a:solidFill>
                <a:srgbClr val="A5002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1076" name="Rectangle 6"/>
          <p:cNvSpPr>
            <a:spLocks noChangeArrowheads="1"/>
          </p:cNvSpPr>
          <p:nvPr/>
        </p:nvSpPr>
        <p:spPr bwMode="auto">
          <a:xfrm>
            <a:off x="304800" y="457200"/>
            <a:ext cx="3448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浮点数的标准格式</a:t>
            </a:r>
            <a:endParaRPr lang="zh-CN" altLang="en-US" sz="3200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1077" name="Rectangle 7"/>
          <p:cNvSpPr>
            <a:spLocks noChangeArrowheads="1"/>
          </p:cNvSpPr>
          <p:nvPr/>
        </p:nvSpPr>
        <p:spPr bwMode="auto">
          <a:xfrm>
            <a:off x="304800" y="1600200"/>
            <a:ext cx="85312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按照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IEEE754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的标准，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32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位浮点数和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64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位浮点数 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的标准格式为 ：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1078" name="Group 26"/>
          <p:cNvGrpSpPr/>
          <p:nvPr/>
        </p:nvGrpSpPr>
        <p:grpSpPr bwMode="auto">
          <a:xfrm>
            <a:off x="785813" y="2346325"/>
            <a:ext cx="4967287" cy="919163"/>
            <a:chOff x="495" y="1478"/>
            <a:chExt cx="3129" cy="579"/>
          </a:xfrm>
        </p:grpSpPr>
        <p:sp>
          <p:nvSpPr>
            <p:cNvPr id="131087" name="Rectangle 24"/>
            <p:cNvSpPr>
              <a:spLocks noChangeArrowheads="1"/>
            </p:cNvSpPr>
            <p:nvPr/>
          </p:nvSpPr>
          <p:spPr bwMode="auto">
            <a:xfrm>
              <a:off x="1218" y="1737"/>
              <a:ext cx="2352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31088" name="Text Box 11"/>
            <p:cNvSpPr txBox="1">
              <a:spLocks noChangeArrowheads="1"/>
            </p:cNvSpPr>
            <p:nvPr/>
          </p:nvSpPr>
          <p:spPr bwMode="auto">
            <a:xfrm>
              <a:off x="1252" y="1478"/>
              <a:ext cx="2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31  30      23 22                    0</a:t>
              </a:r>
              <a:endParaRPr lang="en-US" altLang="zh-CN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31089" name="Group 22"/>
            <p:cNvGrpSpPr/>
            <p:nvPr/>
          </p:nvGrpSpPr>
          <p:grpSpPr bwMode="auto">
            <a:xfrm>
              <a:off x="1222" y="1740"/>
              <a:ext cx="2360" cy="248"/>
              <a:chOff x="1222" y="1740"/>
              <a:chExt cx="2360" cy="248"/>
            </a:xfrm>
          </p:grpSpPr>
          <p:sp>
            <p:nvSpPr>
              <p:cNvPr id="131091" name="Text Box 9"/>
              <p:cNvSpPr txBox="1">
                <a:spLocks noChangeArrowheads="1"/>
              </p:cNvSpPr>
              <p:nvPr/>
            </p:nvSpPr>
            <p:spPr bwMode="auto">
              <a:xfrm>
                <a:off x="1222" y="1740"/>
                <a:ext cx="2360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</a:pPr>
                <a:r>
                  <a:rPr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S        E              M</a:t>
                </a:r>
                <a:endPara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092" name="Line 10"/>
              <p:cNvSpPr>
                <a:spLocks noChangeShapeType="1"/>
              </p:cNvSpPr>
              <p:nvPr/>
            </p:nvSpPr>
            <p:spPr bwMode="auto">
              <a:xfrm>
                <a:off x="1567" y="1740"/>
                <a:ext cx="1" cy="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31093" name="Line 12"/>
              <p:cNvSpPr>
                <a:spLocks noChangeShapeType="1"/>
              </p:cNvSpPr>
              <p:nvPr/>
            </p:nvSpPr>
            <p:spPr bwMode="auto">
              <a:xfrm>
                <a:off x="2287" y="1740"/>
                <a:ext cx="1" cy="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31090" name="Text Box 13"/>
            <p:cNvSpPr txBox="1">
              <a:spLocks noChangeArrowheads="1"/>
            </p:cNvSpPr>
            <p:nvPr/>
          </p:nvSpPr>
          <p:spPr bwMode="auto">
            <a:xfrm>
              <a:off x="495" y="1769"/>
              <a:ext cx="5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32</a:t>
              </a:r>
              <a:r>
                <a:rPr lang="zh-CN" altLang="en-US">
                  <a:solidFill>
                    <a:srgbClr val="FF0000"/>
                  </a:solidFill>
                  <a:latin typeface="Times New Roman" panose="02020603050405020304" pitchFamily="18" charset="0"/>
                </a:rPr>
                <a:t>位</a:t>
              </a:r>
              <a:endParaRPr lang="zh-CN" altLang="en-US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1079" name="Group 27"/>
          <p:cNvGrpSpPr/>
          <p:nvPr/>
        </p:nvGrpSpPr>
        <p:grpSpPr bwMode="auto">
          <a:xfrm>
            <a:off x="785813" y="3319463"/>
            <a:ext cx="7926387" cy="833437"/>
            <a:chOff x="495" y="2091"/>
            <a:chExt cx="4993" cy="525"/>
          </a:xfrm>
        </p:grpSpPr>
        <p:grpSp>
          <p:nvGrpSpPr>
            <p:cNvPr id="131081" name="Group 23"/>
            <p:cNvGrpSpPr/>
            <p:nvPr/>
          </p:nvGrpSpPr>
          <p:grpSpPr bwMode="auto">
            <a:xfrm>
              <a:off x="1214" y="2353"/>
              <a:ext cx="4241" cy="248"/>
              <a:chOff x="1214" y="2353"/>
              <a:chExt cx="4241" cy="248"/>
            </a:xfrm>
          </p:grpSpPr>
          <p:sp>
            <p:nvSpPr>
              <p:cNvPr id="131084" name="Text Box 15"/>
              <p:cNvSpPr txBox="1">
                <a:spLocks noChangeArrowheads="1"/>
              </p:cNvSpPr>
              <p:nvPr/>
            </p:nvSpPr>
            <p:spPr bwMode="auto">
              <a:xfrm>
                <a:off x="1214" y="2353"/>
                <a:ext cx="4241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ts val="0"/>
                  </a:spcAft>
                </a:pPr>
                <a:r>
                  <a:rPr lang="en-US" altLang="zh-CN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S                  E                                 M</a:t>
                </a:r>
                <a:endPara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085" name="Line 16"/>
              <p:cNvSpPr>
                <a:spLocks noChangeShapeType="1"/>
              </p:cNvSpPr>
              <p:nvPr/>
            </p:nvSpPr>
            <p:spPr bwMode="auto">
              <a:xfrm>
                <a:off x="1559" y="2353"/>
                <a:ext cx="1" cy="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31086" name="Line 17"/>
              <p:cNvSpPr>
                <a:spLocks noChangeShapeType="1"/>
              </p:cNvSpPr>
              <p:nvPr/>
            </p:nvSpPr>
            <p:spPr bwMode="auto">
              <a:xfrm>
                <a:off x="3035" y="2353"/>
                <a:ext cx="1" cy="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31082" name="Text Box 18"/>
            <p:cNvSpPr txBox="1">
              <a:spLocks noChangeArrowheads="1"/>
            </p:cNvSpPr>
            <p:nvPr/>
          </p:nvSpPr>
          <p:spPr bwMode="auto">
            <a:xfrm>
              <a:off x="1244" y="2091"/>
              <a:ext cx="4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63  62                      52 51                                           0</a:t>
              </a:r>
              <a:endParaRPr lang="en-US" altLang="zh-CN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1083" name="Text Box 19"/>
            <p:cNvSpPr txBox="1">
              <a:spLocks noChangeArrowheads="1"/>
            </p:cNvSpPr>
            <p:nvPr/>
          </p:nvSpPr>
          <p:spPr bwMode="auto">
            <a:xfrm>
              <a:off x="495" y="2328"/>
              <a:ext cx="5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64</a:t>
              </a:r>
              <a:r>
                <a:rPr lang="zh-CN" altLang="en-US">
                  <a:solidFill>
                    <a:srgbClr val="FF0000"/>
                  </a:solidFill>
                  <a:latin typeface="Times New Roman" panose="02020603050405020304" pitchFamily="18" charset="0"/>
                </a:rPr>
                <a:t>位</a:t>
              </a:r>
              <a:endParaRPr lang="zh-CN" altLang="en-US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31080" name="Rectangle 20"/>
          <p:cNvSpPr>
            <a:spLocks noChangeArrowheads="1"/>
          </p:cNvSpPr>
          <p:nvPr/>
        </p:nvSpPr>
        <p:spPr bwMode="auto">
          <a:xfrm>
            <a:off x="457200" y="1131888"/>
            <a:ext cx="492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为便于软件移植，使用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IEEE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标准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10600" cy="5207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smtClean="0"/>
              <a:t>设有两个浮点数</a:t>
            </a:r>
            <a:r>
              <a:rPr lang="zh-CN" altLang="en-US" sz="2400" b="1" i="1" smtClean="0"/>
              <a:t>ｘ</a:t>
            </a:r>
            <a:r>
              <a:rPr lang="zh-CN" altLang="en-US" sz="2400" b="1" smtClean="0"/>
              <a:t>和</a:t>
            </a:r>
            <a:r>
              <a:rPr lang="zh-CN" altLang="en-US" sz="2400" b="1" i="1" smtClean="0"/>
              <a:t>ｙ</a:t>
            </a:r>
            <a:r>
              <a:rPr lang="en-US" altLang="zh-CN" sz="2400" b="1" smtClean="0"/>
              <a:t>,  </a:t>
            </a:r>
            <a:r>
              <a:rPr lang="zh-CN" altLang="en-US" sz="2400" b="1" smtClean="0"/>
              <a:t>它们分别为</a:t>
            </a:r>
            <a:r>
              <a:rPr lang="en-US" altLang="zh-CN" sz="2400" b="1" smtClean="0"/>
              <a:t>:</a:t>
            </a:r>
            <a:endParaRPr lang="en-US" altLang="zh-CN" sz="2400" b="1" smtClean="0"/>
          </a:p>
        </p:txBody>
      </p:sp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228600" y="304800"/>
            <a:ext cx="57245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36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浮点加、减法运算</a:t>
            </a:r>
            <a:endParaRPr lang="zh-CN" altLang="en-US" sz="36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2100" name="Text Box 6"/>
          <p:cNvSpPr txBox="1">
            <a:spLocks noChangeArrowheads="1"/>
          </p:cNvSpPr>
          <p:nvPr/>
        </p:nvSpPr>
        <p:spPr bwMode="auto">
          <a:xfrm>
            <a:off x="228600" y="2476500"/>
            <a:ext cx="861060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2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其中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分别为数ｘ和ｙ的阶码，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为数ｘ和ｙ的尾数。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130000"/>
              </a:lnSpc>
              <a:spcBef>
                <a:spcPct val="2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两浮点数进行加法和减法的运算规则是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30000"/>
              </a:lnSpc>
              <a:spcBef>
                <a:spcPct val="20000"/>
              </a:spcBef>
              <a:spcAft>
                <a:spcPts val="0"/>
              </a:spcAft>
            </a:pP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6600FF"/>
                </a:solidFill>
                <a:latin typeface="Times New Roman" panose="02020603050405020304" pitchFamily="18" charset="0"/>
              </a:rPr>
              <a:t>                    </a:t>
            </a:r>
            <a:r>
              <a:rPr lang="zh-CN" altLang="en-US" dirty="0">
                <a:solidFill>
                  <a:srgbClr val="6600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 dirty="0">
                <a:solidFill>
                  <a:srgbClr val="6600FF"/>
                </a:solidFill>
                <a:latin typeface="Times New Roman" panose="02020603050405020304" pitchFamily="18" charset="0"/>
              </a:rPr>
              <a:t>±</a:t>
            </a:r>
            <a:r>
              <a:rPr lang="zh-CN" altLang="en-US" dirty="0">
                <a:solidFill>
                  <a:srgbClr val="6600FF"/>
                </a:solidFill>
                <a:latin typeface="Times New Roman" panose="02020603050405020304" pitchFamily="18" charset="0"/>
              </a:rPr>
              <a:t>ｙ＝</a:t>
            </a:r>
            <a:r>
              <a:rPr lang="en-US" altLang="zh-CN" dirty="0">
                <a:solidFill>
                  <a:srgbClr val="6600FF"/>
                </a:solidFill>
                <a:latin typeface="Times New Roman" panose="02020603050405020304" pitchFamily="18" charset="0"/>
              </a:rPr>
              <a:t>(M</a:t>
            </a:r>
            <a:r>
              <a:rPr lang="en-US" altLang="zh-CN" baseline="-30000" dirty="0">
                <a:solidFill>
                  <a:srgbClr val="66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66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solidFill>
                  <a:srgbClr val="6600FF"/>
                </a:solidFill>
                <a:latin typeface="Times New Roman" panose="02020603050405020304" pitchFamily="18" charset="0"/>
              </a:rPr>
              <a:t>Ex</a:t>
            </a:r>
            <a:r>
              <a:rPr lang="zh-CN" altLang="en-US" baseline="30000" dirty="0">
                <a:solidFill>
                  <a:srgbClr val="6600FF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aseline="30000" dirty="0" err="1">
                <a:solidFill>
                  <a:srgbClr val="6600FF"/>
                </a:solidFill>
                <a:latin typeface="Times New Roman" panose="02020603050405020304" pitchFamily="18" charset="0"/>
              </a:rPr>
              <a:t>Ey</a:t>
            </a:r>
            <a:r>
              <a:rPr lang="en-US" altLang="zh-CN" dirty="0" err="1">
                <a:solidFill>
                  <a:srgbClr val="6600FF"/>
                </a:solidFill>
                <a:latin typeface="Times New Roman" panose="02020603050405020304" pitchFamily="18" charset="0"/>
              </a:rPr>
              <a:t>±M</a:t>
            </a:r>
            <a:r>
              <a:rPr lang="en-US" altLang="zh-CN" baseline="-30000" dirty="0" err="1">
                <a:solidFill>
                  <a:srgbClr val="6600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6600FF"/>
                </a:solidFill>
                <a:latin typeface="Times New Roman" panose="02020603050405020304" pitchFamily="18" charset="0"/>
              </a:rPr>
              <a:t>)2</a:t>
            </a:r>
            <a:r>
              <a:rPr lang="en-US" altLang="zh-CN" baseline="30000" dirty="0">
                <a:solidFill>
                  <a:srgbClr val="6600FF"/>
                </a:solidFill>
                <a:latin typeface="Times New Roman" panose="02020603050405020304" pitchFamily="18" charset="0"/>
              </a:rPr>
              <a:t>Ey          </a:t>
            </a:r>
            <a:r>
              <a:rPr lang="en-US" altLang="zh-CN" dirty="0">
                <a:solidFill>
                  <a:srgbClr val="660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6600FF"/>
                </a:solidFill>
                <a:latin typeface="Times New Roman" panose="02020603050405020304" pitchFamily="18" charset="0"/>
              </a:rPr>
              <a:t>x </a:t>
            </a:r>
            <a:r>
              <a:rPr lang="en-US" altLang="zh-CN" dirty="0">
                <a:solidFill>
                  <a:srgbClr val="6600FF"/>
                </a:solidFill>
                <a:latin typeface="Times New Roman" panose="02020603050405020304" pitchFamily="18" charset="0"/>
              </a:rPr>
              <a:t>&lt;= </a:t>
            </a:r>
            <a:r>
              <a:rPr lang="en-US" altLang="zh-CN" dirty="0" err="1">
                <a:solidFill>
                  <a:srgbClr val="660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aseline="-25000" dirty="0" err="1">
                <a:solidFill>
                  <a:srgbClr val="6600FF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dirty="0">
                <a:solidFill>
                  <a:srgbClr val="6600FF"/>
                </a:solidFill>
                <a:latin typeface="Times New Roman" panose="02020603050405020304" pitchFamily="18" charset="0"/>
              </a:rPr>
              <a:t>　　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101" name="Rectangle 7"/>
          <p:cNvSpPr>
            <a:spLocks noChangeArrowheads="1"/>
          </p:cNvSpPr>
          <p:nvPr/>
        </p:nvSpPr>
        <p:spPr bwMode="auto">
          <a:xfrm>
            <a:off x="1625600" y="1358900"/>
            <a:ext cx="45720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ｘ＝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Ex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· M</a:t>
            </a:r>
            <a:r>
              <a:rPr lang="zh-CN" altLang="en-US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ｘ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        ｙ＝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Ey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· M</a:t>
            </a:r>
            <a:r>
              <a:rPr lang="zh-CN" altLang="en-US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ｙ</a:t>
            </a:r>
            <a:endParaRPr lang="zh-CN" altLang="en-US" baseline="-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7620000" cy="609600"/>
          </a:xfrm>
          <a:noFill/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 b="1" smtClean="0">
                <a:solidFill>
                  <a:schemeClr val="hlink"/>
                </a:solidFill>
              </a:rPr>
              <a:t>完成浮点加减运算的操作过程大体分为四步：</a:t>
            </a:r>
            <a:endParaRPr lang="zh-CN" altLang="en-US" sz="2400" b="1" smtClean="0">
              <a:solidFill>
                <a:schemeClr val="hlink"/>
              </a:solidFill>
            </a:endParaRPr>
          </a:p>
        </p:txBody>
      </p:sp>
      <p:sp>
        <p:nvSpPr>
          <p:cNvPr id="133123" name="Rectangle 3"/>
          <p:cNvSpPr>
            <a:spLocks noChangeArrowheads="1"/>
          </p:cNvSpPr>
          <p:nvPr/>
        </p:nvSpPr>
        <p:spPr bwMode="auto">
          <a:xfrm>
            <a:off x="609600" y="1524000"/>
            <a:ext cx="3065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(1)  0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操作数的检查；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24" name="Rectangle 4"/>
          <p:cNvSpPr>
            <a:spLocks noChangeArrowheads="1"/>
          </p:cNvSpPr>
          <p:nvPr/>
        </p:nvSpPr>
        <p:spPr bwMode="auto">
          <a:xfrm>
            <a:off x="609600" y="2057400"/>
            <a:ext cx="429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比较阶码大小并完成对阶；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25" name="Rectangle 5"/>
          <p:cNvSpPr>
            <a:spLocks noChangeArrowheads="1"/>
          </p:cNvSpPr>
          <p:nvPr/>
        </p:nvSpPr>
        <p:spPr bwMode="auto">
          <a:xfrm>
            <a:off x="615950" y="2576513"/>
            <a:ext cx="3679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尾数进行加或减运算；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26" name="Rectangle 6"/>
          <p:cNvSpPr>
            <a:spLocks noChangeArrowheads="1"/>
          </p:cNvSpPr>
          <p:nvPr/>
        </p:nvSpPr>
        <p:spPr bwMode="auto">
          <a:xfrm>
            <a:off x="609600" y="3109913"/>
            <a:ext cx="245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(4)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结果规格化。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27" name="Rectangle 11"/>
          <p:cNvSpPr>
            <a:spLocks noChangeArrowheads="1"/>
          </p:cNvSpPr>
          <p:nvPr/>
        </p:nvSpPr>
        <p:spPr bwMode="auto">
          <a:xfrm>
            <a:off x="609600" y="3657600"/>
            <a:ext cx="2147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(5)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舍入处理。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28" name="Text Box 12"/>
          <p:cNvSpPr txBox="1">
            <a:spLocks noChangeArrowheads="1"/>
          </p:cNvSpPr>
          <p:nvPr/>
        </p:nvSpPr>
        <p:spPr bwMode="auto">
          <a:xfrm>
            <a:off x="533400" y="4267200"/>
            <a:ext cx="3408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3333FF"/>
                </a:solidFill>
                <a:latin typeface="宋体" panose="02010600030101010101" pitchFamily="2" charset="-122"/>
              </a:rPr>
              <a:t>(6)</a:t>
            </a:r>
            <a:r>
              <a:rPr lang="zh-CN" altLang="en-US">
                <a:solidFill>
                  <a:srgbClr val="3333FF"/>
                </a:solidFill>
                <a:latin typeface="宋体" panose="02010600030101010101" pitchFamily="2" charset="-122"/>
              </a:rPr>
              <a:t>溢出处理。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5100" y="1617663"/>
            <a:ext cx="8686800" cy="3430587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smtClean="0"/>
              <a:t>   </a:t>
            </a:r>
            <a:r>
              <a:rPr lang="zh-CN" altLang="en-US" sz="2400" b="1" smtClean="0"/>
              <a:t>使二数阶码相同（即小数点位置对齐），这个过程叫作</a:t>
            </a:r>
            <a:r>
              <a:rPr lang="zh-CN" altLang="en-US" sz="2400" b="1" smtClean="0">
                <a:solidFill>
                  <a:srgbClr val="FF0000"/>
                </a:solidFill>
              </a:rPr>
              <a:t>对阶</a:t>
            </a:r>
            <a:r>
              <a:rPr lang="zh-CN" altLang="en-US" sz="2400" b="1" smtClean="0"/>
              <a:t>。</a:t>
            </a:r>
            <a:endParaRPr lang="zh-CN" altLang="en-US" sz="2400" b="1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smtClean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smtClean="0">
                <a:solidFill>
                  <a:srgbClr val="FF0000"/>
                </a:solidFill>
                <a:latin typeface="Times New Roman" panose="02020603050405020304" pitchFamily="18" charset="0"/>
              </a:rPr>
              <a:t>•</a:t>
            </a:r>
            <a:r>
              <a:rPr lang="en-US" altLang="zh-CN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先</a:t>
            </a:r>
            <a:r>
              <a:rPr lang="zh-CN" altLang="en-US" sz="2400" b="1" smtClean="0">
                <a:solidFill>
                  <a:srgbClr val="FF0000"/>
                </a:solidFill>
              </a:rPr>
              <a:t>求两数阶码 </a:t>
            </a:r>
            <a:r>
              <a:rPr lang="en-US" altLang="zh-CN" sz="2400" b="1" smtClean="0">
                <a:solidFill>
                  <a:srgbClr val="FF0000"/>
                </a:solidFill>
              </a:rPr>
              <a:t>E</a:t>
            </a:r>
            <a:r>
              <a:rPr lang="en-US" altLang="zh-CN" sz="2400" b="1" baseline="-25000" smtClean="0">
                <a:solidFill>
                  <a:srgbClr val="FF0000"/>
                </a:solidFill>
              </a:rPr>
              <a:t>x </a:t>
            </a:r>
            <a:r>
              <a:rPr lang="zh-CN" altLang="en-US" sz="2400" b="1" smtClean="0">
                <a:solidFill>
                  <a:srgbClr val="FF0000"/>
                </a:solidFill>
              </a:rPr>
              <a:t>和 </a:t>
            </a:r>
            <a:r>
              <a:rPr lang="en-US" altLang="zh-CN" sz="2400" b="1" smtClean="0">
                <a:solidFill>
                  <a:srgbClr val="FF0000"/>
                </a:solidFill>
              </a:rPr>
              <a:t>E</a:t>
            </a:r>
            <a:r>
              <a:rPr lang="en-US" altLang="zh-CN" sz="2400" b="1" baseline="-25000" smtClean="0">
                <a:solidFill>
                  <a:srgbClr val="FF0000"/>
                </a:solidFill>
              </a:rPr>
              <a:t>y</a:t>
            </a:r>
            <a:r>
              <a:rPr lang="zh-CN" altLang="en-US" sz="2400" b="1" smtClean="0">
                <a:solidFill>
                  <a:srgbClr val="FF0000"/>
                </a:solidFill>
              </a:rPr>
              <a:t>之差，即△</a:t>
            </a:r>
            <a:r>
              <a:rPr lang="en-US" altLang="zh-CN" sz="2400" b="1" smtClean="0">
                <a:solidFill>
                  <a:srgbClr val="FF0000"/>
                </a:solidFill>
              </a:rPr>
              <a:t>E = E</a:t>
            </a:r>
            <a:r>
              <a:rPr lang="en-US" altLang="zh-CN" sz="2400" b="1" baseline="-25000" smtClean="0">
                <a:solidFill>
                  <a:srgbClr val="FF0000"/>
                </a:solidFill>
              </a:rPr>
              <a:t>x</a:t>
            </a:r>
            <a:r>
              <a:rPr lang="zh-CN" altLang="en-US" sz="2400" b="1" smtClean="0">
                <a:solidFill>
                  <a:srgbClr val="FF0000"/>
                </a:solidFill>
              </a:rPr>
              <a:t>－</a:t>
            </a:r>
            <a:r>
              <a:rPr lang="en-US" altLang="zh-CN" sz="2400" b="1" smtClean="0">
                <a:solidFill>
                  <a:srgbClr val="FF0000"/>
                </a:solidFill>
              </a:rPr>
              <a:t>E</a:t>
            </a:r>
            <a:r>
              <a:rPr lang="en-US" altLang="zh-CN" sz="2400" b="1" baseline="-25000" smtClean="0">
                <a:solidFill>
                  <a:srgbClr val="FF0000"/>
                </a:solidFill>
              </a:rPr>
              <a:t>y</a:t>
            </a:r>
            <a:endParaRPr lang="en-US" altLang="zh-CN" sz="2400" b="1" baseline="-25000" smtClean="0">
              <a:solidFill>
                <a:srgbClr val="FF0000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b="1" smtClean="0">
                <a:solidFill>
                  <a:srgbClr val="0000FF"/>
                </a:solidFill>
                <a:latin typeface="宋体" panose="02010600030101010101" pitchFamily="2" charset="-122"/>
              </a:rPr>
              <a:t>若△</a:t>
            </a:r>
            <a:r>
              <a:rPr lang="en-US" altLang="zh-CN" sz="2400" b="1" smtClean="0">
                <a:solidFill>
                  <a:srgbClr val="0000FF"/>
                </a:solidFill>
              </a:rPr>
              <a:t>E = 0</a:t>
            </a:r>
            <a:r>
              <a:rPr lang="zh-CN" altLang="en-US" sz="2400" b="1" smtClean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400" b="1" smtClean="0">
                <a:latin typeface="宋体" panose="02010600030101010101" pitchFamily="2" charset="-122"/>
              </a:rPr>
              <a:t>表示</a:t>
            </a:r>
            <a:r>
              <a:rPr lang="zh-CN" altLang="en-US" sz="2400" b="1" smtClean="0">
                <a:solidFill>
                  <a:srgbClr val="0000FF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400" b="1" smtClean="0">
                <a:solidFill>
                  <a:srgbClr val="0000FF"/>
                </a:solidFill>
              </a:rPr>
              <a:t>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x</a:t>
            </a:r>
            <a:r>
              <a:rPr lang="en-US" altLang="zh-CN" sz="2400" b="1" smtClean="0">
                <a:solidFill>
                  <a:srgbClr val="0000FF"/>
                </a:solidFill>
              </a:rPr>
              <a:t>=E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y</a:t>
            </a:r>
            <a:endParaRPr lang="en-US" altLang="zh-CN" sz="2400" b="1" baseline="-25000" smtClean="0">
              <a:solidFill>
                <a:srgbClr val="0000FF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0000FF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b="1" smtClean="0">
                <a:solidFill>
                  <a:srgbClr val="0000FF"/>
                </a:solidFill>
                <a:latin typeface="宋体" panose="02010600030101010101" pitchFamily="2" charset="-122"/>
              </a:rPr>
              <a:t>若△</a:t>
            </a:r>
            <a:r>
              <a:rPr lang="en-US" altLang="zh-CN" sz="2400" b="1" smtClean="0">
                <a:solidFill>
                  <a:srgbClr val="0000FF"/>
                </a:solidFill>
              </a:rPr>
              <a:t>E &gt; 0,               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x</a:t>
            </a:r>
            <a:r>
              <a:rPr lang="en-US" altLang="zh-CN" sz="2400" b="1" smtClean="0">
                <a:solidFill>
                  <a:srgbClr val="0000FF"/>
                </a:solidFill>
              </a:rPr>
              <a:t>&gt;E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y</a:t>
            </a:r>
            <a:endParaRPr lang="en-US" altLang="zh-CN" sz="2400" b="1" baseline="-25000" smtClean="0">
              <a:solidFill>
                <a:srgbClr val="0000FF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0000FF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b="1" smtClean="0">
                <a:solidFill>
                  <a:srgbClr val="0000FF"/>
                </a:solidFill>
                <a:latin typeface="宋体" panose="02010600030101010101" pitchFamily="2" charset="-122"/>
              </a:rPr>
              <a:t>若△</a:t>
            </a:r>
            <a:r>
              <a:rPr lang="en-US" altLang="zh-CN" sz="2400" b="1" smtClean="0">
                <a:solidFill>
                  <a:srgbClr val="0000FF"/>
                </a:solidFill>
              </a:rPr>
              <a:t>E &lt; 0,               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x</a:t>
            </a:r>
            <a:r>
              <a:rPr lang="en-US" altLang="zh-CN" sz="2400" b="1" smtClean="0">
                <a:solidFill>
                  <a:srgbClr val="0000FF"/>
                </a:solidFill>
              </a:rPr>
              <a:t>&lt;E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y</a:t>
            </a:r>
            <a:endParaRPr lang="en-US" altLang="zh-CN" sz="2400" b="1" baseline="-25000" smtClean="0">
              <a:solidFill>
                <a:srgbClr val="0000FF"/>
              </a:solidFill>
            </a:endParaRPr>
          </a:p>
        </p:txBody>
      </p:sp>
      <p:grpSp>
        <p:nvGrpSpPr>
          <p:cNvPr id="134147" name="Group 3"/>
          <p:cNvGrpSpPr/>
          <p:nvPr/>
        </p:nvGrpSpPr>
        <p:grpSpPr bwMode="auto">
          <a:xfrm>
            <a:off x="4529138" y="3216275"/>
            <a:ext cx="3776662" cy="822325"/>
            <a:chOff x="3216" y="2229"/>
            <a:chExt cx="2379" cy="518"/>
          </a:xfrm>
        </p:grpSpPr>
        <p:sp>
          <p:nvSpPr>
            <p:cNvPr id="134151" name="Rectangle 4"/>
            <p:cNvSpPr>
              <a:spLocks noChangeArrowheads="1"/>
            </p:cNvSpPr>
            <p:nvPr/>
          </p:nvSpPr>
          <p:spPr bwMode="auto">
            <a:xfrm>
              <a:off x="3387" y="2229"/>
              <a:ext cx="220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ct val="20000"/>
                </a:spcBef>
                <a:spcAft>
                  <a:spcPts val="0"/>
                </a:spcAft>
              </a:pPr>
              <a:r>
                <a:rPr lang="zh-CN" altLang="en-US">
                  <a:solidFill>
                    <a:srgbClr val="000000"/>
                  </a:solidFill>
                  <a:latin typeface="宋体" panose="02010600030101010101" pitchFamily="2" charset="-122"/>
                </a:rPr>
                <a:t>通过尾数的移动来改变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r>
                <a:rPr lang="zh-CN" altLang="en-US">
                  <a:solidFill>
                    <a:srgbClr val="000000"/>
                  </a:solidFill>
                  <a:latin typeface="宋体" panose="02010600030101010101" pitchFamily="2" charset="-122"/>
                </a:rPr>
                <a:t>或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r>
                <a:rPr lang="zh-CN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>
                  <a:solidFill>
                    <a:srgbClr val="000000"/>
                  </a:solidFill>
                  <a:latin typeface="宋体" panose="02010600030101010101" pitchFamily="2" charset="-122"/>
                </a:rPr>
                <a:t>使其相等</a:t>
              </a: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4152" name="AutoShape 5"/>
            <p:cNvSpPr/>
            <p:nvPr/>
          </p:nvSpPr>
          <p:spPr bwMode="auto">
            <a:xfrm>
              <a:off x="3216" y="2304"/>
              <a:ext cx="192" cy="432"/>
            </a:xfrm>
            <a:prstGeom prst="leftBrace">
              <a:avLst>
                <a:gd name="adj1" fmla="val 1875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</p:grpSp>
      <p:sp>
        <p:nvSpPr>
          <p:cNvPr id="134148" name="Text Box 6"/>
          <p:cNvSpPr txBox="1">
            <a:spLocks noChangeArrowheads="1"/>
          </p:cNvSpPr>
          <p:nvPr/>
        </p:nvSpPr>
        <p:spPr bwMode="auto">
          <a:xfrm>
            <a:off x="381000" y="4495800"/>
            <a:ext cx="84645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对阶原则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   阶码小的数向阶码大的数对齐；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   小阶的尾数右移，每右移一位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其阶码加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右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规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4149" name="Rectangle 10"/>
          <p:cNvSpPr>
            <a:spLocks noChangeArrowheads="1"/>
          </p:cNvSpPr>
          <p:nvPr/>
        </p:nvSpPr>
        <p:spPr bwMode="auto">
          <a:xfrm>
            <a:off x="381000" y="914400"/>
            <a:ext cx="1228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对阶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50" name="Text Box 11"/>
          <p:cNvSpPr txBox="1">
            <a:spLocks noChangeArrowheads="1"/>
          </p:cNvSpPr>
          <p:nvPr/>
        </p:nvSpPr>
        <p:spPr bwMode="auto">
          <a:xfrm>
            <a:off x="304800" y="2286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2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(1)  0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操作数检查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533400"/>
            <a:ext cx="8589963" cy="609600"/>
          </a:xfrm>
          <a:noFill/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smtClean="0">
                <a:solidFill>
                  <a:srgbClr val="0066FF"/>
                </a:solidFill>
              </a:rPr>
              <a:t>例</a:t>
            </a:r>
            <a:r>
              <a:rPr lang="en-US" altLang="zh-CN" sz="2400" b="1" smtClean="0">
                <a:solidFill>
                  <a:srgbClr val="0066FF"/>
                </a:solidFill>
              </a:rPr>
              <a:t>:  x=2</a:t>
            </a:r>
            <a:r>
              <a:rPr lang="en-US" altLang="zh-CN" sz="2400" b="1" baseline="30000" smtClean="0">
                <a:solidFill>
                  <a:srgbClr val="0066FF"/>
                </a:solidFill>
              </a:rPr>
              <a:t>01</a:t>
            </a:r>
            <a:r>
              <a:rPr lang="en-US" altLang="zh-CN" sz="2400" b="1" smtClean="0">
                <a:solidFill>
                  <a:srgbClr val="0066FF"/>
                </a:solidFill>
              </a:rPr>
              <a:t>×0.1101,  y=2</a:t>
            </a:r>
            <a:r>
              <a:rPr lang="en-US" altLang="zh-CN" sz="2400" b="1" baseline="30000" smtClean="0">
                <a:solidFill>
                  <a:srgbClr val="0066FF"/>
                </a:solidFill>
              </a:rPr>
              <a:t>11</a:t>
            </a:r>
            <a:r>
              <a:rPr lang="en-US" altLang="zh-CN" sz="2400" b="1" smtClean="0">
                <a:solidFill>
                  <a:srgbClr val="0066FF"/>
                </a:solidFill>
              </a:rPr>
              <a:t>×(-0.1010),   </a:t>
            </a:r>
            <a:r>
              <a:rPr lang="zh-CN" altLang="en-US" sz="2400" b="1" smtClean="0">
                <a:solidFill>
                  <a:srgbClr val="0066FF"/>
                </a:solidFill>
              </a:rPr>
              <a:t>求</a:t>
            </a:r>
            <a:r>
              <a:rPr lang="en-US" altLang="zh-CN" sz="2400" b="1" smtClean="0">
                <a:solidFill>
                  <a:srgbClr val="0066FF"/>
                </a:solidFill>
              </a:rPr>
              <a:t>x+y=?</a:t>
            </a:r>
            <a:endParaRPr lang="en-US" altLang="zh-CN" sz="2400" b="1" smtClean="0">
              <a:solidFill>
                <a:srgbClr val="0066FF"/>
              </a:solidFill>
            </a:endParaRPr>
          </a:p>
        </p:txBody>
      </p:sp>
      <p:sp>
        <p:nvSpPr>
          <p:cNvPr id="135171" name="Text Box 3"/>
          <p:cNvSpPr txBox="1">
            <a:spLocks noChangeArrowheads="1"/>
          </p:cNvSpPr>
          <p:nvPr/>
        </p:nvSpPr>
        <p:spPr bwMode="auto">
          <a:xfrm>
            <a:off x="190500" y="1192213"/>
            <a:ext cx="8589963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：为便于直观了解，两数均以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补码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表示，阶码、尾数均采用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 双符号位。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auto" hangingPunct="1">
              <a:lnSpc>
                <a:spcPct val="20000"/>
              </a:lnSpc>
              <a:spcBef>
                <a:spcPct val="20000"/>
              </a:spcBef>
              <a:spcAft>
                <a:spcPts val="0"/>
              </a:spcAft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auto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=00 01,   00.1101         [y]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=00 11,   11.0110  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[△E]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[ E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[E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00 01+11 01 = 11 10   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△E = </a:t>
            </a:r>
            <a:r>
              <a:rPr lang="en-US" altLang="zh-CN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2,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表示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比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小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2,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因此将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的尾数右移两位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algn="just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>
                <a:solidFill>
                  <a:srgbClr val="3333FF"/>
                </a:solidFill>
                <a:latin typeface="Times New Roman" panose="02020603050405020304" pitchFamily="18" charset="0"/>
              </a:rPr>
              <a:t>右移一位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得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=00 10,   00.0110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>
                <a:solidFill>
                  <a:srgbClr val="3333FF"/>
                </a:solidFill>
                <a:latin typeface="Times New Roman" panose="02020603050405020304" pitchFamily="18" charset="0"/>
              </a:rPr>
              <a:t>再右移一位</a:t>
            </a:r>
            <a:r>
              <a:rPr lang="en-US" altLang="zh-CN">
                <a:solidFill>
                  <a:srgbClr val="3333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得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=00 11,   00.0011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eaLnBrk="1" fontAlgn="auto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至此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△E=0, 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对阶完毕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47650" y="1235075"/>
            <a:ext cx="8658225" cy="47085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0000FF"/>
                </a:solidFill>
              </a:rPr>
              <a:t>   </a:t>
            </a:r>
            <a:r>
              <a:rPr lang="zh-CN" altLang="en-US" sz="2400" b="1" smtClean="0"/>
              <a:t>尾数求和方法与定点加减法运算完全一样。</a:t>
            </a:r>
            <a:endParaRPr lang="zh-CN" altLang="en-US" sz="2400" b="1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  对阶完毕可得</a:t>
            </a:r>
            <a:r>
              <a:rPr lang="en-US" altLang="zh-CN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 [x]</a:t>
            </a:r>
            <a:r>
              <a:rPr lang="zh-CN" altLang="en-US" sz="2400" b="1" baseline="-25000" smtClean="0">
                <a:solidFill>
                  <a:srgbClr val="000000"/>
                </a:solidFill>
                <a:latin typeface="宋体" panose="02010600030101010101" pitchFamily="2" charset="-122"/>
              </a:rPr>
              <a:t>补</a:t>
            </a:r>
            <a:r>
              <a:rPr lang="en-US" altLang="zh-CN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=00 11, 00.0011</a:t>
            </a:r>
            <a:endParaRPr lang="en-US" altLang="zh-CN" sz="2400" b="1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                [y]</a:t>
            </a:r>
            <a:r>
              <a:rPr lang="zh-CN" altLang="en-US" sz="2400" b="1" baseline="-25000" smtClean="0">
                <a:solidFill>
                  <a:srgbClr val="000000"/>
                </a:solidFill>
                <a:latin typeface="宋体" panose="02010600030101010101" pitchFamily="2" charset="-122"/>
              </a:rPr>
              <a:t>补</a:t>
            </a:r>
            <a:r>
              <a:rPr lang="en-US" altLang="zh-CN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=00 11, 11.0110</a:t>
            </a:r>
            <a:endParaRPr lang="en-US" altLang="zh-CN" sz="2400" b="1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endParaRPr lang="en-US" altLang="zh-CN" sz="2400" b="1" smtClean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对尾数求和</a:t>
            </a:r>
            <a:r>
              <a:rPr lang="en-US" altLang="zh-CN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: </a:t>
            </a:r>
            <a:r>
              <a:rPr lang="en-US" altLang="zh-CN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  00.0011 </a:t>
            </a:r>
            <a:endParaRPr lang="en-US" altLang="zh-CN" sz="2400" b="1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             + 11.0110 </a:t>
            </a:r>
            <a:endParaRPr lang="en-US" altLang="zh-CN" sz="2400" b="1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               11.1001</a:t>
            </a:r>
            <a:endParaRPr lang="en-US" altLang="zh-CN" sz="2400" b="1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即得</a:t>
            </a:r>
            <a:r>
              <a:rPr lang="en-US" altLang="zh-CN" sz="2400" b="1" smtClean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 [x+y]</a:t>
            </a:r>
            <a:r>
              <a:rPr lang="zh-CN" altLang="en-US" sz="2400" b="1" baseline="-25000" smtClean="0">
                <a:solidFill>
                  <a:srgbClr val="000000"/>
                </a:solidFill>
                <a:latin typeface="宋体" panose="02010600030101010101" pitchFamily="2" charset="-122"/>
              </a:rPr>
              <a:t>补</a:t>
            </a:r>
            <a:r>
              <a:rPr lang="en-US" altLang="zh-CN" sz="2400" b="1" smtClean="0">
                <a:solidFill>
                  <a:srgbClr val="000000"/>
                </a:solidFill>
                <a:latin typeface="宋体" panose="02010600030101010101" pitchFamily="2" charset="-122"/>
              </a:rPr>
              <a:t>=00 11, 11.1001</a:t>
            </a:r>
            <a:endParaRPr lang="en-US" altLang="zh-CN" sz="2400" b="1" smtClean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6195" name="Line 3"/>
          <p:cNvSpPr>
            <a:spLocks noChangeShapeType="1"/>
          </p:cNvSpPr>
          <p:nvPr/>
        </p:nvSpPr>
        <p:spPr bwMode="auto">
          <a:xfrm>
            <a:off x="1974850" y="3935413"/>
            <a:ext cx="2576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136196" name="Rectangle 7"/>
          <p:cNvSpPr>
            <a:spLocks noChangeArrowheads="1"/>
          </p:cNvSpPr>
          <p:nvPr/>
        </p:nvSpPr>
        <p:spPr bwMode="auto">
          <a:xfrm>
            <a:off x="158750" y="690563"/>
            <a:ext cx="245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尾数求和运算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188913" y="695325"/>
            <a:ext cx="4678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(4)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结果规格化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201613" y="1065213"/>
            <a:ext cx="8728075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求和之后得到的数可能不是规格化了的数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为了增加有效数字的位数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提高运算精度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必须将求和的结果规格化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 ①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规格化的定义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: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                              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7220" name="Rectangle 4"/>
          <p:cNvSpPr>
            <a:spLocks noChangeArrowheads="1"/>
          </p:cNvSpPr>
          <p:nvPr/>
        </p:nvSpPr>
        <p:spPr bwMode="auto">
          <a:xfrm>
            <a:off x="6278563" y="2063750"/>
            <a:ext cx="1614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二进制</a:t>
            </a:r>
            <a:r>
              <a:rPr lang="en-US" altLang="zh-CN" sz="280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sz="28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37221" name="Object 5"/>
          <p:cNvGraphicFramePr>
            <a:graphicFrameLocks noChangeAspect="1"/>
          </p:cNvGraphicFramePr>
          <p:nvPr/>
        </p:nvGraphicFramePr>
        <p:xfrm>
          <a:off x="3151188" y="1863725"/>
          <a:ext cx="21526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0" name="Equation" r:id="rId1" imgW="673100" imgH="406400" progId="Equation.3">
                  <p:embed/>
                </p:oleObj>
              </mc:Choice>
              <mc:Fallback>
                <p:oleObj name="Equation" r:id="rId1" imgW="673100" imgH="406400" progId="Equation.3">
                  <p:embed/>
                  <p:pic>
                    <p:nvPicPr>
                      <p:cNvPr id="0" name="图片 52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1863725"/>
                        <a:ext cx="215265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2" name="Rectangle 6"/>
          <p:cNvSpPr>
            <a:spLocks noChangeArrowheads="1"/>
          </p:cNvSpPr>
          <p:nvPr/>
        </p:nvSpPr>
        <p:spPr bwMode="auto">
          <a:xfrm>
            <a:off x="1073150" y="4265613"/>
            <a:ext cx="56753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对正数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: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S=00.1×××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×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lnSpc>
                <a:spcPct val="5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对负数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: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S=11.0×××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×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7223" name="Text Box 10"/>
          <p:cNvSpPr txBox="1">
            <a:spLocks noChangeArrowheads="1"/>
          </p:cNvSpPr>
          <p:nvPr/>
        </p:nvSpPr>
        <p:spPr bwMode="auto">
          <a:xfrm>
            <a:off x="514350" y="3771900"/>
            <a:ext cx="5372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采用双符号位的补码：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37224" name="Text Box 11"/>
          <p:cNvSpPr txBox="1">
            <a:spLocks noChangeArrowheads="1"/>
          </p:cNvSpPr>
          <p:nvPr/>
        </p:nvSpPr>
        <p:spPr bwMode="auto">
          <a:xfrm>
            <a:off x="584200" y="2438400"/>
            <a:ext cx="6342063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采用原码：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正数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S=0.1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×××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×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负数：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S=1.1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×××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×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381000" y="838200"/>
            <a:ext cx="853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若不是规格化的数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需要尾数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向左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移位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以实现规格化的过程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我们称其为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向左规格化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43" name="Rectangle 3"/>
          <p:cNvSpPr>
            <a:spLocks noChangeArrowheads="1"/>
          </p:cNvSpPr>
          <p:nvPr/>
        </p:nvSpPr>
        <p:spPr bwMode="auto">
          <a:xfrm>
            <a:off x="381000" y="381000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②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向左规格化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533400" y="1828800"/>
            <a:ext cx="83820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</a:rPr>
              <a:t>前例中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00 11, 11.1001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不是规格化数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因而需要左规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即</a:t>
            </a:r>
            <a:r>
              <a:rPr lang="zh-CN" altLang="en-US">
                <a:solidFill>
                  <a:srgbClr val="0066FF"/>
                </a:solidFill>
                <a:latin typeface="宋体" panose="02010600030101010101" pitchFamily="2" charset="-122"/>
              </a:rPr>
              <a:t>左移一位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66FF"/>
                </a:solidFill>
                <a:latin typeface="宋体" panose="02010600030101010101" pitchFamily="2" charset="-122"/>
              </a:rPr>
              <a:t>阶码减</a:t>
            </a:r>
            <a:r>
              <a:rPr lang="en-US" altLang="zh-CN">
                <a:solidFill>
                  <a:srgbClr val="0066FF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得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: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      [x+y]</a:t>
            </a:r>
            <a:r>
              <a:rPr lang="zh-CN" altLang="en-US" baseline="-25000">
                <a:solidFill>
                  <a:srgbClr val="000000"/>
                </a:solidFill>
                <a:latin typeface="宋体" panose="02010600030101010101" pitchFamily="2" charset="-122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=00 10, 11.0010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38245" name="Rectangle 8"/>
          <p:cNvSpPr>
            <a:spLocks noChangeArrowheads="1"/>
          </p:cNvSpPr>
          <p:nvPr/>
        </p:nvSpPr>
        <p:spPr bwMode="auto">
          <a:xfrm>
            <a:off x="304800" y="3494088"/>
            <a:ext cx="271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③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向右规格化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38246" name="Text Box 9"/>
          <p:cNvSpPr txBox="1">
            <a:spLocks noChangeArrowheads="1"/>
          </p:cNvSpPr>
          <p:nvPr/>
        </p:nvSpPr>
        <p:spPr bwMode="auto">
          <a:xfrm>
            <a:off x="304800" y="4191000"/>
            <a:ext cx="8683625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浮点加减运算时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尾数求和的结果也可能得到：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01.×××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× 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或  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10.×××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×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即两符号位不等，即结果的绝对值大于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向左破坏了规格化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  此时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将尾数运算的结果右移一位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阶码加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1,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称为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向右规格化。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152400" y="533400"/>
            <a:ext cx="878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例：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</a:rPr>
              <a:t>两浮点数  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x=0.1101 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2</a:t>
            </a:r>
            <a:r>
              <a:rPr lang="en-US" altLang="zh-CN" baseline="30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, y=(0.1011) 2</a:t>
            </a:r>
            <a:r>
              <a:rPr lang="en-US" altLang="zh-CN" baseline="3000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01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求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x+y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>
              <a:solidFill>
                <a:srgbClr val="0066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9267" name="Text Box 3"/>
          <p:cNvSpPr txBox="1">
            <a:spLocks noChangeArrowheads="1"/>
          </p:cNvSpPr>
          <p:nvPr/>
        </p:nvSpPr>
        <p:spPr bwMode="auto">
          <a:xfrm>
            <a:off x="254000" y="1079500"/>
            <a:ext cx="8636000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：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=00 10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00.1101           [y]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=00 01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00.1011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对阶：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[△E]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[ E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[E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=00 10+ 11 11= 00 01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       y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向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对齐，将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的尾数右移一位，阶码加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   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[y]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=00 10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00.0101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求和：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00.1101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5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+  00.0101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5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01.0010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9268" name="Line 4"/>
          <p:cNvSpPr>
            <a:spLocks noChangeShapeType="1"/>
          </p:cNvSpPr>
          <p:nvPr/>
        </p:nvSpPr>
        <p:spPr bwMode="auto">
          <a:xfrm>
            <a:off x="1498600" y="3886200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139269" name="Rectangle 8"/>
          <p:cNvSpPr>
            <a:spLocks noChangeArrowheads="1"/>
          </p:cNvSpPr>
          <p:nvPr/>
        </p:nvSpPr>
        <p:spPr bwMode="auto">
          <a:xfrm>
            <a:off x="4216400" y="3746500"/>
            <a:ext cx="345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[x+y]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=00 10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01.0010  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9270" name="Rectangle 9"/>
          <p:cNvSpPr>
            <a:spLocks noChangeArrowheads="1"/>
          </p:cNvSpPr>
          <p:nvPr/>
        </p:nvSpPr>
        <p:spPr bwMode="auto">
          <a:xfrm>
            <a:off x="546100" y="4314825"/>
            <a:ext cx="7581900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85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右归：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运算结果两符号位不同，其绝对值大于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，右归。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[x+y]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00 11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00.1001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200025" y="1054100"/>
            <a:ext cx="8716963" cy="385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在对阶或向右规格化时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尾数要向右移位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这样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被右移的尾数的低位部分会被丢掉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从而造成一定误差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因此要进行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舍入处理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66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>
                <a:solidFill>
                  <a:srgbClr val="0066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en-US">
                <a:solidFill>
                  <a:srgbClr val="0066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简单的舍入方法有两种</a:t>
            </a:r>
            <a:r>
              <a:rPr lang="zh-CN" altLang="en-US">
                <a:solidFill>
                  <a:srgbClr val="00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endParaRPr lang="zh-CN" altLang="en-US">
              <a:solidFill>
                <a:srgbClr val="00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 ①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舍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入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法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    即如果右移时被丢掉数位的最高位为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则舍去，反之则将尾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数的末位加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 ②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恒置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法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    即只要数位被移掉，就在尾数的末位恒置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。从概率上来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eaLnBrk="1" fontAlgn="auto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说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丢掉的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各为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1/2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0291" name="Rectangle 6"/>
          <p:cNvSpPr>
            <a:spLocks noChangeArrowheads="1"/>
          </p:cNvSpPr>
          <p:nvPr/>
        </p:nvSpPr>
        <p:spPr bwMode="auto">
          <a:xfrm>
            <a:off x="193675" y="636588"/>
            <a:ext cx="184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(5)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舍入处理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0292" name="Rectangle 7"/>
          <p:cNvSpPr>
            <a:spLocks noChangeArrowheads="1"/>
          </p:cNvSpPr>
          <p:nvPr/>
        </p:nvSpPr>
        <p:spPr bwMode="auto">
          <a:xfrm>
            <a:off x="342900" y="5011738"/>
            <a:ext cx="7191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66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>
                <a:solidFill>
                  <a:srgbClr val="0066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IEEE754</a:t>
            </a:r>
            <a:r>
              <a:rPr lang="zh-CN" altLang="en-US">
                <a:solidFill>
                  <a:srgbClr val="0066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标准中，舍入处理提供了四种可选方法：</a:t>
            </a:r>
            <a:endParaRPr lang="zh-CN" altLang="en-US">
              <a:solidFill>
                <a:srgbClr val="0066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 Box 2"/>
          <p:cNvSpPr txBox="1">
            <a:spLocks noChangeArrowheads="1"/>
          </p:cNvSpPr>
          <p:nvPr/>
        </p:nvSpPr>
        <p:spPr bwMode="auto">
          <a:xfrm>
            <a:off x="201613" y="704850"/>
            <a:ext cx="3408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3333FF"/>
                </a:solidFill>
                <a:latin typeface="宋体" panose="02010600030101010101" pitchFamily="2" charset="-122"/>
              </a:rPr>
              <a:t>(6)</a:t>
            </a:r>
            <a:r>
              <a:rPr lang="zh-CN" altLang="en-US">
                <a:solidFill>
                  <a:srgbClr val="3333FF"/>
                </a:solidFill>
                <a:latin typeface="宋体" panose="02010600030101010101" pitchFamily="2" charset="-122"/>
              </a:rPr>
              <a:t>溢出处理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1315" name="Text Box 6"/>
          <p:cNvSpPr txBox="1">
            <a:spLocks noChangeArrowheads="1"/>
          </p:cNvSpPr>
          <p:nvPr/>
        </p:nvSpPr>
        <p:spPr bwMode="auto">
          <a:xfrm>
            <a:off x="457200" y="1244600"/>
            <a:ext cx="82740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与定点加减法一样，浮点加减运算最后一步也需判溢出。在浮点规格化中已指出，当尾数之和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差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出现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．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××…×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．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××…×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时，并不表示溢出，只有将此数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右规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后，再根据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阶码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来判断浮点运算结果是否溢出。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241300" y="723900"/>
            <a:ext cx="8661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若机器数为补码，尾数为规格化形式，并假设阶符取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位，阶码取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位、数符取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位，尾数取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位，则它们能表示的补码在数轴上的表示范围如图所示。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2339" name="Group 6"/>
          <p:cNvGrpSpPr/>
          <p:nvPr/>
        </p:nvGrpSpPr>
        <p:grpSpPr bwMode="auto">
          <a:xfrm>
            <a:off x="469900" y="2497138"/>
            <a:ext cx="8229600" cy="2379662"/>
            <a:chOff x="296" y="1389"/>
            <a:chExt cx="5184" cy="1499"/>
          </a:xfrm>
        </p:grpSpPr>
        <p:grpSp>
          <p:nvGrpSpPr>
            <p:cNvPr id="142340" name="Group 7"/>
            <p:cNvGrpSpPr/>
            <p:nvPr/>
          </p:nvGrpSpPr>
          <p:grpSpPr bwMode="auto">
            <a:xfrm>
              <a:off x="296" y="1389"/>
              <a:ext cx="5184" cy="1499"/>
              <a:chOff x="304" y="429"/>
              <a:chExt cx="5184" cy="1499"/>
            </a:xfrm>
          </p:grpSpPr>
          <p:pic>
            <p:nvPicPr>
              <p:cNvPr id="142345" name="Picture 8" descr="sspictmp0077A1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4" y="429"/>
                <a:ext cx="5184" cy="1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346" name="Rectangle 9"/>
              <p:cNvSpPr>
                <a:spLocks noChangeArrowheads="1"/>
              </p:cNvSpPr>
              <p:nvPr/>
            </p:nvSpPr>
            <p:spPr bwMode="auto">
              <a:xfrm>
                <a:off x="3344" y="864"/>
                <a:ext cx="1288" cy="1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42347" name="Rectangle 10"/>
              <p:cNvSpPr>
                <a:spLocks noChangeArrowheads="1"/>
              </p:cNvSpPr>
              <p:nvPr/>
            </p:nvSpPr>
            <p:spPr bwMode="auto">
              <a:xfrm>
                <a:off x="1216" y="856"/>
                <a:ext cx="1288" cy="1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42341" name="Group 11"/>
            <p:cNvGrpSpPr/>
            <p:nvPr/>
          </p:nvGrpSpPr>
          <p:grpSpPr bwMode="auto">
            <a:xfrm>
              <a:off x="472" y="1429"/>
              <a:ext cx="4504" cy="499"/>
              <a:chOff x="472" y="1429"/>
              <a:chExt cx="4504" cy="499"/>
            </a:xfrm>
          </p:grpSpPr>
          <p:sp>
            <p:nvSpPr>
              <p:cNvPr id="142342" name="Line 12"/>
              <p:cNvSpPr>
                <a:spLocks noChangeShapeType="1"/>
              </p:cNvSpPr>
              <p:nvPr/>
            </p:nvSpPr>
            <p:spPr bwMode="auto">
              <a:xfrm>
                <a:off x="2944" y="1792"/>
                <a:ext cx="0" cy="1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42343" name="Text Box 13"/>
              <p:cNvSpPr txBox="1">
                <a:spLocks noChangeArrowheads="1"/>
              </p:cNvSpPr>
              <p:nvPr/>
            </p:nvSpPr>
            <p:spPr bwMode="auto">
              <a:xfrm>
                <a:off x="4656" y="1445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正</a:t>
                </a:r>
                <a:endPara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344" name="Text Box 14"/>
              <p:cNvSpPr txBox="1">
                <a:spLocks noChangeArrowheads="1"/>
              </p:cNvSpPr>
              <p:nvPr/>
            </p:nvSpPr>
            <p:spPr bwMode="auto">
              <a:xfrm>
                <a:off x="472" y="1429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负</a:t>
                </a:r>
                <a:endPara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6"/>
          <p:cNvSpPr txBox="1">
            <a:spLocks noChangeArrowheads="1"/>
          </p:cNvSpPr>
          <p:nvPr/>
        </p:nvSpPr>
        <p:spPr bwMode="auto">
          <a:xfrm>
            <a:off x="304800" y="3590925"/>
            <a:ext cx="835660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图中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分别对应最小负数、最大正数、最大负数和最小正数。它们所对应的真值分别是：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65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最小负数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+127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(-1)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6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B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最大正数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+127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(1-2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-n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6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a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最大负数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-128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(-2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-n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6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b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最小正数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-128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-1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3363" name="Group 7"/>
          <p:cNvGrpSpPr/>
          <p:nvPr/>
        </p:nvGrpSpPr>
        <p:grpSpPr bwMode="auto">
          <a:xfrm>
            <a:off x="381000" y="762000"/>
            <a:ext cx="8229600" cy="2379663"/>
            <a:chOff x="296" y="1389"/>
            <a:chExt cx="5184" cy="1499"/>
          </a:xfrm>
        </p:grpSpPr>
        <p:grpSp>
          <p:nvGrpSpPr>
            <p:cNvPr id="143364" name="Group 8"/>
            <p:cNvGrpSpPr/>
            <p:nvPr/>
          </p:nvGrpSpPr>
          <p:grpSpPr bwMode="auto">
            <a:xfrm>
              <a:off x="296" y="1389"/>
              <a:ext cx="5184" cy="1499"/>
              <a:chOff x="304" y="429"/>
              <a:chExt cx="5184" cy="1499"/>
            </a:xfrm>
          </p:grpSpPr>
          <p:pic>
            <p:nvPicPr>
              <p:cNvPr id="143369" name="Picture 9" descr="sspictmp0077A1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4" y="429"/>
                <a:ext cx="5184" cy="1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370" name="Rectangle 10"/>
              <p:cNvSpPr>
                <a:spLocks noChangeArrowheads="1"/>
              </p:cNvSpPr>
              <p:nvPr/>
            </p:nvSpPr>
            <p:spPr bwMode="auto">
              <a:xfrm>
                <a:off x="3344" y="864"/>
                <a:ext cx="1288" cy="1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43371" name="Rectangle 11"/>
              <p:cNvSpPr>
                <a:spLocks noChangeArrowheads="1"/>
              </p:cNvSpPr>
              <p:nvPr/>
            </p:nvSpPr>
            <p:spPr bwMode="auto">
              <a:xfrm>
                <a:off x="1216" y="856"/>
                <a:ext cx="1288" cy="1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43365" name="Group 12"/>
            <p:cNvGrpSpPr/>
            <p:nvPr/>
          </p:nvGrpSpPr>
          <p:grpSpPr bwMode="auto">
            <a:xfrm>
              <a:off x="472" y="1429"/>
              <a:ext cx="4504" cy="499"/>
              <a:chOff x="472" y="1429"/>
              <a:chExt cx="4504" cy="499"/>
            </a:xfrm>
          </p:grpSpPr>
          <p:sp>
            <p:nvSpPr>
              <p:cNvPr id="143366" name="Line 13"/>
              <p:cNvSpPr>
                <a:spLocks noChangeShapeType="1"/>
              </p:cNvSpPr>
              <p:nvPr/>
            </p:nvSpPr>
            <p:spPr bwMode="auto">
              <a:xfrm>
                <a:off x="2944" y="1792"/>
                <a:ext cx="0" cy="1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43367" name="Text Box 14"/>
              <p:cNvSpPr txBox="1">
                <a:spLocks noChangeArrowheads="1"/>
              </p:cNvSpPr>
              <p:nvPr/>
            </p:nvSpPr>
            <p:spPr bwMode="auto">
              <a:xfrm>
                <a:off x="4656" y="1445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正</a:t>
                </a:r>
                <a:endPara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3368" name="Text Box 15"/>
              <p:cNvSpPr txBox="1">
                <a:spLocks noChangeArrowheads="1"/>
              </p:cNvSpPr>
              <p:nvPr/>
            </p:nvSpPr>
            <p:spPr bwMode="auto">
              <a:xfrm>
                <a:off x="472" y="1429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负</a:t>
                </a:r>
                <a:endPara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342900" y="901700"/>
            <a:ext cx="8420100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图中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a,b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之间的阴影部分，对应阶码小于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128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的情况，叫做浮点数的下溢。下溢时．浮点数值趋于零，故机器不做溢出处理，仅把它作为机器零。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图中的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两侧阴影部分，对应阶码大于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127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的情况，叫做浮点数的上溢。此刻，浮点数真正溢出，机器需停止运算，作溢出中断处理。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一般说浮点溢出，均是指上溢。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可见，浮点机的溢出与否可由阶码的符号决定：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阶码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[j]</a:t>
            </a:r>
            <a:r>
              <a:rPr lang="zh-CN" altLang="en-US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=01,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   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为上溢，机器停止运算，做中断处理；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    阶码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[j]</a:t>
            </a:r>
            <a:r>
              <a:rPr lang="zh-CN" altLang="en-US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=10,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   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为下溢，按机器零处理。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5"/>
          <p:cNvSpPr txBox="1">
            <a:spLocks noChangeArrowheads="1"/>
          </p:cNvSpPr>
          <p:nvPr/>
        </p:nvSpPr>
        <p:spPr bwMode="auto">
          <a:xfrm>
            <a:off x="304800" y="3429000"/>
            <a:ext cx="850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例：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若某次加法操作的结果为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[X+Y]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=11.010, 00.0000110111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411" name="Text Box 6"/>
          <p:cNvSpPr txBox="1">
            <a:spLocks noChangeArrowheads="1"/>
          </p:cNvSpPr>
          <p:nvPr/>
        </p:nvSpPr>
        <p:spPr bwMode="auto">
          <a:xfrm>
            <a:off x="533400" y="4114800"/>
            <a:ext cx="82169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则应对其进行向左规格化操作：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     尾数为：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00.1101110000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，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阶码减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5412" name="Group 7"/>
          <p:cNvGrpSpPr/>
          <p:nvPr/>
        </p:nvGrpSpPr>
        <p:grpSpPr bwMode="auto">
          <a:xfrm>
            <a:off x="6324600" y="4343400"/>
            <a:ext cx="2197100" cy="1006475"/>
            <a:chOff x="4136" y="2664"/>
            <a:chExt cx="1384" cy="634"/>
          </a:xfrm>
        </p:grpSpPr>
        <p:sp>
          <p:nvSpPr>
            <p:cNvPr id="145416" name="Text Box 8"/>
            <p:cNvSpPr txBox="1">
              <a:spLocks noChangeArrowheads="1"/>
            </p:cNvSpPr>
            <p:nvPr/>
          </p:nvSpPr>
          <p:spPr bwMode="auto">
            <a:xfrm>
              <a:off x="4136" y="2664"/>
              <a:ext cx="1384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  11.010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eaLnBrk="1" fontAlgn="auto" hangingPunct="1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+ 11.100     [-4]</a:t>
              </a:r>
              <a:r>
                <a:rPr lang="zh-CN" altLang="en-US" sz="2000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补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  <a:p>
              <a:pPr eaLnBrk="1" fontAlgn="auto" hangingPunct="1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</a:pP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10.110 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5417" name="Line 9"/>
            <p:cNvSpPr>
              <a:spLocks noChangeShapeType="1"/>
            </p:cNvSpPr>
            <p:nvPr/>
          </p:nvSpPr>
          <p:spPr bwMode="auto">
            <a:xfrm>
              <a:off x="4144" y="3112"/>
              <a:ext cx="79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</p:grpSp>
      <p:sp>
        <p:nvSpPr>
          <p:cNvPr id="145413" name="Text Box 11"/>
          <p:cNvSpPr txBox="1">
            <a:spLocks noChangeArrowheads="1"/>
          </p:cNvSpPr>
          <p:nvPr/>
        </p:nvSpPr>
        <p:spPr bwMode="auto">
          <a:xfrm>
            <a:off x="304800" y="457200"/>
            <a:ext cx="850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例：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若某次加法操作的结果为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[X+Y]</a:t>
            </a:r>
            <a:r>
              <a:rPr lang="zh-CN" altLang="en-US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=00.111, 10.1011100111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414" name="Text Box 12"/>
          <p:cNvSpPr txBox="1">
            <a:spLocks noChangeArrowheads="1"/>
          </p:cNvSpPr>
          <p:nvPr/>
        </p:nvSpPr>
        <p:spPr bwMode="auto">
          <a:xfrm>
            <a:off x="381000" y="1143000"/>
            <a:ext cx="82169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则应对其进行向右规格化操作：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     尾数为：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11.0101110011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，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阶码加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： 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01.000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阶码超出了它所能表示的最大正数（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+7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），表明本次浮点运算产生了溢出。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5415" name="Rectangle 13"/>
          <p:cNvSpPr>
            <a:spLocks noChangeArrowheads="1"/>
          </p:cNvSpPr>
          <p:nvPr/>
        </p:nvSpPr>
        <p:spPr bwMode="auto">
          <a:xfrm>
            <a:off x="533400" y="5334000"/>
            <a:ext cx="8178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阶码超出了它所能表示的最小负数（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-8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），表明本次浮点运算产生了溢出。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 Box 2"/>
          <p:cNvSpPr txBox="1">
            <a:spLocks noChangeArrowheads="1"/>
          </p:cNvSpPr>
          <p:nvPr/>
        </p:nvSpPr>
        <p:spPr bwMode="auto">
          <a:xfrm>
            <a:off x="314325" y="1716088"/>
            <a:ext cx="85740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在加、减运算过程中要检查是否产生了溢出：若阶码正常，加减运算正常结束；若阶码溢出，则要进行相应的处理。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314325" y="2679700"/>
            <a:ext cx="8599488" cy="199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阶码上溢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超过了阶码可能表示的最大值的正指数值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一般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5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将其认为是＋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∞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和－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∞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阶码下溢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——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超过了阶码可能表示的最小值的负指数值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一般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5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将其认为是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6436" name="Rectangle 7"/>
          <p:cNvSpPr>
            <a:spLocks noChangeArrowheads="1"/>
          </p:cNvSpPr>
          <p:nvPr/>
        </p:nvSpPr>
        <p:spPr bwMode="auto">
          <a:xfrm>
            <a:off x="206375" y="1214438"/>
            <a:ext cx="69525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•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浮点数的溢出是以其阶码溢出表现出来的</a:t>
            </a:r>
            <a:endParaRPr lang="zh-CN" altLang="en-US" sz="28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46437" name="Rectangle 8"/>
          <p:cNvSpPr>
            <a:spLocks noChangeArrowheads="1"/>
          </p:cNvSpPr>
          <p:nvPr/>
        </p:nvSpPr>
        <p:spPr bwMode="auto">
          <a:xfrm>
            <a:off x="257175" y="4775200"/>
            <a:ext cx="79207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•</a:t>
            </a:r>
            <a:r>
              <a:rPr lang="en-US" altLang="zh-CN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对尾数的溢出也需要处理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上溢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右归，下溢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—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舍入）。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46438" name="Text Box 9"/>
          <p:cNvSpPr txBox="1">
            <a:spLocks noChangeArrowheads="1"/>
          </p:cNvSpPr>
          <p:nvPr/>
        </p:nvSpPr>
        <p:spPr bwMode="auto">
          <a:xfrm>
            <a:off x="381000" y="317500"/>
            <a:ext cx="2536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3600">
                <a:solidFill>
                  <a:srgbClr val="FF0000"/>
                </a:solidFill>
                <a:latin typeface="Times New Roman" panose="02020603050405020304" pitchFamily="18" charset="0"/>
              </a:rPr>
              <a:t>小结：</a:t>
            </a:r>
            <a:endParaRPr lang="zh-CN" altLang="en-US" sz="36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 descr="浮点运算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457200"/>
            <a:ext cx="848995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228600" y="457200"/>
            <a:ext cx="868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>
                <a:solidFill>
                  <a:srgbClr val="FF00FF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</a:rPr>
              <a:t>设ｘ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=2</a:t>
            </a:r>
            <a:r>
              <a:rPr lang="en-US" altLang="zh-CN" baseline="30000">
                <a:solidFill>
                  <a:srgbClr val="0066FF"/>
                </a:solidFill>
                <a:latin typeface="Times New Roman" panose="02020603050405020304" pitchFamily="18" charset="0"/>
              </a:rPr>
              <a:t>010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0.11011011, 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=2</a:t>
            </a:r>
            <a:r>
              <a:rPr lang="en-US" altLang="zh-CN" baseline="30000">
                <a:solidFill>
                  <a:srgbClr val="0066FF"/>
                </a:solidFill>
                <a:latin typeface="Times New Roman" panose="02020603050405020304" pitchFamily="18" charset="0"/>
              </a:rPr>
              <a:t>100 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>
                <a:solidFill>
                  <a:srgbClr val="0066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0.10101100),  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</a:rPr>
              <a:t>求ｘ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</a:rPr>
              <a:t>ｙ。</a:t>
            </a:r>
            <a:endParaRPr lang="zh-CN" altLang="en-US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3" name="Text Box 3"/>
          <p:cNvSpPr txBox="1">
            <a:spLocks noChangeArrowheads="1"/>
          </p:cNvSpPr>
          <p:nvPr/>
        </p:nvSpPr>
        <p:spPr bwMode="auto">
          <a:xfrm>
            <a:off x="336550" y="1222375"/>
            <a:ext cx="850265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阶码采用双符号位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尾数采用单符号位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则它们的浮点表示分别为        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浮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00 010,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　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0.11011011</a:t>
            </a:r>
            <a:b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[y]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浮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00 100,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　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1.01010100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(1)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求阶差并对阶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1106488" y="2916238"/>
            <a:ext cx="7624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△E = E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[E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+ [</a:t>
            </a:r>
            <a:r>
              <a:rPr lang="en-US" altLang="zh-CN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00 010 + 11 100 = 11 110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2211388" y="3941763"/>
            <a:ext cx="5027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浮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00 100,  0.00110110(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6" name="Rectangle 6"/>
          <p:cNvSpPr>
            <a:spLocks noChangeArrowheads="1"/>
          </p:cNvSpPr>
          <p:nvPr/>
        </p:nvSpPr>
        <p:spPr bwMode="auto">
          <a:xfrm>
            <a:off x="1089025" y="4376738"/>
            <a:ext cx="65452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135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其中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表示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ｘ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右移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位后移出的最低两位数。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1106488" y="3433763"/>
            <a:ext cx="7624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即△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2,  x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的阶码小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应使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右移两位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E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加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2,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2"/>
          <p:cNvSpPr txBox="1">
            <a:spLocks noChangeArrowheads="1"/>
          </p:cNvSpPr>
          <p:nvPr/>
        </p:nvSpPr>
        <p:spPr bwMode="auto">
          <a:xfrm>
            <a:off x="228600" y="381000"/>
            <a:ext cx="2162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(2)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尾数求和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9507" name="Line 3"/>
          <p:cNvSpPr>
            <a:spLocks noChangeShapeType="1"/>
          </p:cNvSpPr>
          <p:nvPr/>
        </p:nvSpPr>
        <p:spPr bwMode="auto">
          <a:xfrm>
            <a:off x="3489325" y="1236663"/>
            <a:ext cx="301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228600" y="3276600"/>
            <a:ext cx="2481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(4)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舍入处理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381000" y="3810000"/>
            <a:ext cx="3919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采用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入法处理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则有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10" name="Text Box 6"/>
          <p:cNvSpPr txBox="1">
            <a:spLocks noChangeArrowheads="1"/>
          </p:cNvSpPr>
          <p:nvPr/>
        </p:nvSpPr>
        <p:spPr bwMode="auto">
          <a:xfrm>
            <a:off x="4624388" y="3124200"/>
            <a:ext cx="243522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1.00010101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 u="sng">
                <a:solidFill>
                  <a:srgbClr val="000000"/>
                </a:solidFill>
                <a:latin typeface="宋体" panose="02010600030101010101" pitchFamily="2" charset="-122"/>
              </a:rPr>
              <a:t>+          1  </a:t>
            </a:r>
            <a:endParaRPr lang="en-US" altLang="zh-CN" u="sng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1.00010110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9511" name="Text Box 7"/>
          <p:cNvSpPr txBox="1">
            <a:spLocks noChangeArrowheads="1"/>
          </p:cNvSpPr>
          <p:nvPr/>
        </p:nvSpPr>
        <p:spPr bwMode="auto">
          <a:xfrm>
            <a:off x="2706688" y="304800"/>
            <a:ext cx="364648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      0.00110110(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11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fontAlgn="auto" hangingPunct="1">
              <a:lnSpc>
                <a:spcPct val="7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   +  1.01010100</a:t>
            </a:r>
            <a:r>
              <a:rPr lang="en-US" altLang="zh-CN" u="sng">
                <a:solidFill>
                  <a:srgbClr val="000000"/>
                </a:solidFill>
                <a:latin typeface="宋体" panose="02010600030101010101" pitchFamily="2" charset="-122"/>
              </a:rPr>
              <a:t>       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u="sng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endParaRPr lang="en-US" altLang="zh-CN" u="sng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fontAlgn="auto" hangingPunct="1">
              <a:lnSpc>
                <a:spcPct val="7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         1.10001010(</a:t>
            </a:r>
            <a:r>
              <a:rPr lang="en-US" altLang="zh-CN">
                <a:solidFill>
                  <a:srgbClr val="0000FF"/>
                </a:solidFill>
                <a:latin typeface="宋体" panose="02010600030101010101" pitchFamily="2" charset="-122"/>
              </a:rPr>
              <a:t>11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228600" y="1676400"/>
            <a:ext cx="8585200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(3)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规格化处理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  尾数运算结果的符号位与最高数值位为同值，应执行左规处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理，结果为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1.00010101(10)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， 阶码为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00 011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513" name="Text Box 12"/>
          <p:cNvSpPr txBox="1">
            <a:spLocks noChangeArrowheads="1"/>
          </p:cNvSpPr>
          <p:nvPr/>
        </p:nvSpPr>
        <p:spPr bwMode="auto">
          <a:xfrm>
            <a:off x="304800" y="4572000"/>
            <a:ext cx="8297863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</a:rPr>
              <a:t>(5) 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判断溢出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   阶码符号位为</a:t>
            </a:r>
            <a:r>
              <a:rPr lang="en-US" altLang="zh-CN">
                <a:solidFill>
                  <a:srgbClr val="000000"/>
                </a:solidFill>
                <a:latin typeface="宋体" panose="02010600030101010101" pitchFamily="2" charset="-122"/>
              </a:rPr>
              <a:t>00</a:t>
            </a:r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，不溢出，故得最终结果为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x + y = 2</a:t>
            </a:r>
            <a:r>
              <a:rPr lang="en-US" altLang="zh-CN" sz="2800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011 × 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(-0.11101010)</a:t>
            </a:r>
            <a:endParaRPr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ChangeArrowheads="1"/>
          </p:cNvSpPr>
          <p:nvPr/>
        </p:nvSpPr>
        <p:spPr bwMode="auto">
          <a:xfrm>
            <a:off x="381000" y="3048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例 </a:t>
            </a:r>
            <a:r>
              <a:rPr lang="zh-CN" altLang="en-US">
                <a:solidFill>
                  <a:srgbClr val="000000"/>
                </a:solidFill>
                <a:latin typeface="Tahoma" panose="020B0604030504040204"/>
              </a:rPr>
              <a:t>两浮点数</a:t>
            </a:r>
            <a:r>
              <a:rPr lang="en-US" altLang="zh-CN" i="1">
                <a:solidFill>
                  <a:srgbClr val="000000"/>
                </a:solidFill>
                <a:latin typeface="Tahoma" panose="020B0604030504040204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ahoma" panose="020B0604030504040204"/>
              </a:rPr>
              <a:t> = 2</a:t>
            </a:r>
            <a:r>
              <a:rPr lang="en-US" altLang="zh-CN" baseline="30000">
                <a:solidFill>
                  <a:srgbClr val="000000"/>
                </a:solidFill>
                <a:latin typeface="Tahoma" panose="020B0604030504040204"/>
              </a:rPr>
              <a:t>01</a:t>
            </a:r>
            <a:r>
              <a:rPr lang="en-US" altLang="zh-CN">
                <a:solidFill>
                  <a:srgbClr val="000000"/>
                </a:solidFill>
                <a:latin typeface="Tahoma" panose="020B0604030504040204"/>
              </a:rPr>
              <a:t>×0.1101</a:t>
            </a:r>
            <a:r>
              <a:rPr lang="zh-CN" altLang="en-US">
                <a:solidFill>
                  <a:srgbClr val="000000"/>
                </a:solidFill>
                <a:latin typeface="Tahoma" panose="020B0604030504040204"/>
              </a:rPr>
              <a:t>，</a:t>
            </a:r>
            <a:r>
              <a:rPr lang="en-US" altLang="zh-CN" i="1">
                <a:solidFill>
                  <a:srgbClr val="000000"/>
                </a:solidFill>
                <a:latin typeface="Tahoma" panose="020B0604030504040204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ahoma" panose="020B0604030504040204"/>
              </a:rPr>
              <a:t> = 2</a:t>
            </a:r>
            <a:r>
              <a:rPr lang="en-US" altLang="zh-CN" baseline="30000">
                <a:solidFill>
                  <a:srgbClr val="000000"/>
                </a:solidFill>
                <a:latin typeface="Tahoma" panose="020B0604030504040204"/>
              </a:rPr>
              <a:t>11</a:t>
            </a:r>
            <a:r>
              <a:rPr lang="en-US" altLang="zh-CN">
                <a:solidFill>
                  <a:srgbClr val="000000"/>
                </a:solidFill>
                <a:latin typeface="Tahoma" panose="020B0604030504040204"/>
              </a:rPr>
              <a:t>×(-0.1010)</a:t>
            </a:r>
            <a:r>
              <a:rPr lang="zh-CN" altLang="en-US">
                <a:solidFill>
                  <a:srgbClr val="000000"/>
                </a:solidFill>
                <a:latin typeface="Tahoma" panose="020B0604030504040204"/>
              </a:rPr>
              <a:t>。假设尾数在计算机中以补码表示，可存储</a:t>
            </a:r>
            <a:r>
              <a:rPr lang="en-US" altLang="zh-CN">
                <a:solidFill>
                  <a:srgbClr val="000000"/>
                </a:solidFill>
                <a:latin typeface="Tahoma" panose="020B0604030504040204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Tahoma" panose="020B0604030504040204"/>
              </a:rPr>
              <a:t>位尾数，</a:t>
            </a:r>
            <a:r>
              <a:rPr lang="en-US" altLang="zh-CN">
                <a:solidFill>
                  <a:srgbClr val="000000"/>
                </a:solidFill>
                <a:latin typeface="Tahoma" panose="020B0604030504040204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Tahoma" panose="020B0604030504040204"/>
              </a:rPr>
              <a:t>位保护位，阶码以原码表示，求</a:t>
            </a:r>
            <a:r>
              <a:rPr lang="en-US" altLang="zh-CN" i="1">
                <a:solidFill>
                  <a:srgbClr val="000000"/>
                </a:solidFill>
                <a:latin typeface="Tahoma" panose="020B0604030504040204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ahoma" panose="020B0604030504040204"/>
              </a:rPr>
              <a:t>+</a:t>
            </a:r>
            <a:r>
              <a:rPr lang="en-US" altLang="zh-CN" i="1">
                <a:solidFill>
                  <a:srgbClr val="000000"/>
                </a:solidFill>
                <a:latin typeface="Tahoma" panose="020B0604030504040204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Tahoma" panose="020B0604030504040204"/>
              </a:rPr>
              <a:t>。</a:t>
            </a:r>
            <a:endParaRPr lang="zh-CN" altLang="en-US">
              <a:solidFill>
                <a:srgbClr val="000000"/>
              </a:solidFill>
              <a:latin typeface="Tahoma" panose="020B0604030504040204"/>
            </a:endParaRPr>
          </a:p>
        </p:txBody>
      </p:sp>
      <p:sp>
        <p:nvSpPr>
          <p:cNvPr id="150531" name="Rectangle 3"/>
          <p:cNvSpPr>
            <a:spLocks noChangeArrowheads="1"/>
          </p:cNvSpPr>
          <p:nvPr/>
        </p:nvSpPr>
        <p:spPr bwMode="auto">
          <a:xfrm>
            <a:off x="381000" y="1524000"/>
            <a:ext cx="8382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将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转换成浮点数据格式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[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000" baseline="-25000">
                <a:solidFill>
                  <a:srgbClr val="000000"/>
                </a:solidFill>
                <a:latin typeface="宋体" panose="02010600030101010101" pitchFamily="2" charset="-122"/>
              </a:rPr>
              <a:t>浮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= 00 01, 00.1101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	[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y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000" baseline="-25000">
                <a:solidFill>
                  <a:srgbClr val="000000"/>
                </a:solidFill>
                <a:latin typeface="宋体" panose="02010600030101010101" pitchFamily="2" charset="-122"/>
              </a:rPr>
              <a:t>浮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= 00 11, 11.0110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步骤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：对阶，阶差为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11-01=10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，即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，因此将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的尾数右移两位，得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[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000" baseline="-25000">
                <a:solidFill>
                  <a:srgbClr val="000000"/>
                </a:solidFill>
                <a:latin typeface="宋体" panose="02010600030101010101" pitchFamily="2" charset="-122"/>
              </a:rPr>
              <a:t>浮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= 00 11, 00.0011</a:t>
            </a:r>
            <a:r>
              <a:rPr lang="en-US" altLang="zh-CN" sz="2000">
                <a:solidFill>
                  <a:srgbClr val="0000FF"/>
                </a:solidFill>
                <a:latin typeface="宋体" panose="02010600030101010101" pitchFamily="2" charset="-122"/>
              </a:rPr>
              <a:t>01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步骤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：对尾数求和，得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: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	[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y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000" baseline="-25000">
                <a:solidFill>
                  <a:srgbClr val="000000"/>
                </a:solidFill>
                <a:latin typeface="宋体" panose="02010600030101010101" pitchFamily="2" charset="-122"/>
              </a:rPr>
              <a:t>浮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= 00 11, 11.1001</a:t>
            </a:r>
            <a:r>
              <a:rPr lang="en-US" altLang="zh-CN" sz="2000">
                <a:solidFill>
                  <a:srgbClr val="0000FF"/>
                </a:solidFill>
                <a:latin typeface="宋体" panose="02010600030101010101" pitchFamily="2" charset="-122"/>
              </a:rPr>
              <a:t>01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步骤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：由于符号位和第一位数相等，不是规格化数，向左规格化，得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[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y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000" baseline="-25000">
                <a:solidFill>
                  <a:srgbClr val="000000"/>
                </a:solidFill>
                <a:latin typeface="宋体" panose="02010600030101010101" pitchFamily="2" charset="-122"/>
              </a:rPr>
              <a:t>浮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= 00 10, 11.0010</a:t>
            </a:r>
            <a:r>
              <a:rPr lang="en-US" altLang="zh-CN" sz="2000">
                <a:solidFill>
                  <a:srgbClr val="0000FF"/>
                </a:solidFill>
                <a:latin typeface="宋体" panose="02010600030101010101" pitchFamily="2" charset="-122"/>
              </a:rPr>
              <a:t>10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步骤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：截去。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[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y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]</a:t>
            </a:r>
            <a:r>
              <a:rPr lang="zh-CN" altLang="en-US" sz="2000" baseline="-25000">
                <a:solidFill>
                  <a:srgbClr val="000000"/>
                </a:solidFill>
                <a:latin typeface="宋体" panose="02010600030101010101" pitchFamily="2" charset="-122"/>
              </a:rPr>
              <a:t>浮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= 00 10, 11.0010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步骤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5: </a:t>
            </a: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数据无溢出，因此结果为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	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+</a:t>
            </a:r>
            <a:r>
              <a:rPr lang="en-US" altLang="zh-CN" sz="2000" i="1">
                <a:solidFill>
                  <a:srgbClr val="000000"/>
                </a:solidFill>
                <a:latin typeface="宋体" panose="02010600030101010101" pitchFamily="2" charset="-122"/>
              </a:rPr>
              <a:t>y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 = 2</a:t>
            </a:r>
            <a:r>
              <a:rPr lang="en-US" altLang="zh-CN" sz="2000" baseline="3000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2000">
                <a:solidFill>
                  <a:srgbClr val="000000"/>
                </a:solidFill>
                <a:latin typeface="宋体" panose="02010600030101010101" pitchFamily="2" charset="-122"/>
              </a:rPr>
              <a:t>×(-0.1110)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228600" y="2286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3900">
                <a:solidFill>
                  <a:srgbClr val="FF0000"/>
                </a:solidFill>
                <a:latin typeface="Tahoma" panose="020B0604030504040204"/>
                <a:ea typeface="隶书" panose="02010509060101010101" pitchFamily="49" charset="-122"/>
              </a:rPr>
              <a:t>浮点运算电路</a:t>
            </a:r>
            <a:endParaRPr lang="zh-CN" altLang="en-US" sz="4400">
              <a:solidFill>
                <a:srgbClr val="FF0000"/>
              </a:solidFill>
              <a:latin typeface="Tahoma" panose="020B0604030504040204"/>
            </a:endParaRPr>
          </a:p>
        </p:txBody>
      </p:sp>
      <p:sp>
        <p:nvSpPr>
          <p:cNvPr id="151555" name="Rectangle 8"/>
          <p:cNvSpPr>
            <a:spLocks noChangeArrowheads="1"/>
          </p:cNvSpPr>
          <p:nvPr/>
        </p:nvSpPr>
        <p:spPr bwMode="auto">
          <a:xfrm>
            <a:off x="1905000" y="6172200"/>
            <a:ext cx="2300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浮点加法器原理框图</a:t>
            </a:r>
            <a:endParaRPr lang="zh-CN" altLang="en-US" sz="2000">
              <a:solidFill>
                <a:srgbClr val="000000"/>
              </a:solidFill>
              <a:latin typeface="Tahoma" panose="020B0604030504040204"/>
            </a:endParaRPr>
          </a:p>
        </p:txBody>
      </p:sp>
      <p:grpSp>
        <p:nvGrpSpPr>
          <p:cNvPr id="151556" name="Group 179"/>
          <p:cNvGrpSpPr/>
          <p:nvPr/>
        </p:nvGrpSpPr>
        <p:grpSpPr bwMode="auto">
          <a:xfrm>
            <a:off x="1287463" y="1047750"/>
            <a:ext cx="6480175" cy="5162550"/>
            <a:chOff x="811" y="660"/>
            <a:chExt cx="4082" cy="3252"/>
          </a:xfrm>
        </p:grpSpPr>
        <p:sp>
          <p:nvSpPr>
            <p:cNvPr id="151557" name="Rectangle 176"/>
            <p:cNvSpPr>
              <a:spLocks noChangeArrowheads="1"/>
            </p:cNvSpPr>
            <p:nvPr/>
          </p:nvSpPr>
          <p:spPr bwMode="auto">
            <a:xfrm>
              <a:off x="4100" y="1313"/>
              <a:ext cx="715" cy="274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58" name="Rectangle 177"/>
            <p:cNvSpPr>
              <a:spLocks noChangeArrowheads="1"/>
            </p:cNvSpPr>
            <p:nvPr/>
          </p:nvSpPr>
          <p:spPr bwMode="auto">
            <a:xfrm>
              <a:off x="3160" y="1313"/>
              <a:ext cx="715" cy="274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59" name="Rectangle 9"/>
            <p:cNvSpPr>
              <a:spLocks noChangeArrowheads="1"/>
            </p:cNvSpPr>
            <p:nvPr/>
          </p:nvSpPr>
          <p:spPr bwMode="auto">
            <a:xfrm>
              <a:off x="1986" y="660"/>
              <a:ext cx="1106" cy="274"/>
            </a:xfrm>
            <a:prstGeom prst="rect">
              <a:avLst/>
            </a:prstGeom>
            <a:solidFill>
              <a:srgbClr val="FF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60" name="Rectangle 10"/>
            <p:cNvSpPr>
              <a:spLocks noChangeArrowheads="1"/>
            </p:cNvSpPr>
            <p:nvPr/>
          </p:nvSpPr>
          <p:spPr bwMode="auto">
            <a:xfrm>
              <a:off x="2475" y="689"/>
              <a:ext cx="1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61" name="Rectangle 11"/>
            <p:cNvSpPr>
              <a:spLocks noChangeArrowheads="1"/>
            </p:cNvSpPr>
            <p:nvPr/>
          </p:nvSpPr>
          <p:spPr bwMode="auto">
            <a:xfrm>
              <a:off x="1437" y="660"/>
              <a:ext cx="558" cy="27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62" name="Rectangle 12"/>
            <p:cNvSpPr>
              <a:spLocks noChangeArrowheads="1"/>
            </p:cNvSpPr>
            <p:nvPr/>
          </p:nvSpPr>
          <p:spPr bwMode="auto">
            <a:xfrm>
              <a:off x="1672" y="689"/>
              <a:ext cx="9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63" name="Rectangle 13"/>
            <p:cNvSpPr>
              <a:spLocks noChangeArrowheads="1"/>
            </p:cNvSpPr>
            <p:nvPr/>
          </p:nvSpPr>
          <p:spPr bwMode="auto">
            <a:xfrm>
              <a:off x="1281" y="660"/>
              <a:ext cx="166" cy="27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64" name="Rectangle 14"/>
            <p:cNvSpPr>
              <a:spLocks noChangeArrowheads="1"/>
            </p:cNvSpPr>
            <p:nvPr/>
          </p:nvSpPr>
          <p:spPr bwMode="auto">
            <a:xfrm>
              <a:off x="1320" y="689"/>
              <a:ext cx="76" cy="16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65" name="Rectangle 15"/>
            <p:cNvSpPr>
              <a:spLocks noChangeArrowheads="1"/>
            </p:cNvSpPr>
            <p:nvPr/>
          </p:nvSpPr>
          <p:spPr bwMode="auto">
            <a:xfrm>
              <a:off x="3885" y="660"/>
              <a:ext cx="1008" cy="274"/>
            </a:xfrm>
            <a:prstGeom prst="rect">
              <a:avLst/>
            </a:prstGeom>
            <a:solidFill>
              <a:srgbClr val="FF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66" name="Rectangle 16"/>
            <p:cNvSpPr>
              <a:spLocks noChangeArrowheads="1"/>
            </p:cNvSpPr>
            <p:nvPr/>
          </p:nvSpPr>
          <p:spPr bwMode="auto">
            <a:xfrm>
              <a:off x="4325" y="689"/>
              <a:ext cx="1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67" name="Rectangle 17"/>
            <p:cNvSpPr>
              <a:spLocks noChangeArrowheads="1"/>
            </p:cNvSpPr>
            <p:nvPr/>
          </p:nvSpPr>
          <p:spPr bwMode="auto">
            <a:xfrm>
              <a:off x="3386" y="660"/>
              <a:ext cx="509" cy="27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68" name="Rectangle 18"/>
            <p:cNvSpPr>
              <a:spLocks noChangeArrowheads="1"/>
            </p:cNvSpPr>
            <p:nvPr/>
          </p:nvSpPr>
          <p:spPr bwMode="auto">
            <a:xfrm>
              <a:off x="3591" y="689"/>
              <a:ext cx="9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69" name="Rectangle 19"/>
            <p:cNvSpPr>
              <a:spLocks noChangeArrowheads="1"/>
            </p:cNvSpPr>
            <p:nvPr/>
          </p:nvSpPr>
          <p:spPr bwMode="auto">
            <a:xfrm>
              <a:off x="3239" y="660"/>
              <a:ext cx="156" cy="27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70" name="Rectangle 20"/>
            <p:cNvSpPr>
              <a:spLocks noChangeArrowheads="1"/>
            </p:cNvSpPr>
            <p:nvPr/>
          </p:nvSpPr>
          <p:spPr bwMode="auto">
            <a:xfrm>
              <a:off x="3268" y="689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71" name="Rectangle 21"/>
            <p:cNvSpPr>
              <a:spLocks noChangeArrowheads="1"/>
            </p:cNvSpPr>
            <p:nvPr/>
          </p:nvSpPr>
          <p:spPr bwMode="auto">
            <a:xfrm>
              <a:off x="1633" y="1388"/>
              <a:ext cx="55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72" name="Rectangle 22"/>
            <p:cNvSpPr>
              <a:spLocks noChangeArrowheads="1"/>
            </p:cNvSpPr>
            <p:nvPr/>
          </p:nvSpPr>
          <p:spPr bwMode="auto">
            <a:xfrm>
              <a:off x="1692" y="1417"/>
              <a:ext cx="13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>
                  <a:solidFill>
                    <a:srgbClr val="000000"/>
                  </a:solidFill>
                  <a:latin typeface="宋体" panose="02010600030101010101" pitchFamily="2" charset="-122"/>
                </a:rPr>
                <a:t>小</a:t>
              </a: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73" name="Rectangle 23"/>
            <p:cNvSpPr>
              <a:spLocks noChangeArrowheads="1"/>
            </p:cNvSpPr>
            <p:nvPr/>
          </p:nvSpPr>
          <p:spPr bwMode="auto">
            <a:xfrm>
              <a:off x="1858" y="1407"/>
              <a:ext cx="28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ALU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74" name="Rectangle 24"/>
            <p:cNvSpPr>
              <a:spLocks noChangeArrowheads="1"/>
            </p:cNvSpPr>
            <p:nvPr/>
          </p:nvSpPr>
          <p:spPr bwMode="auto">
            <a:xfrm>
              <a:off x="3630" y="2154"/>
              <a:ext cx="793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75" name="Rectangle 25"/>
            <p:cNvSpPr>
              <a:spLocks noChangeArrowheads="1"/>
            </p:cNvSpPr>
            <p:nvPr/>
          </p:nvSpPr>
          <p:spPr bwMode="auto">
            <a:xfrm>
              <a:off x="3807" y="2182"/>
              <a:ext cx="13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>
                  <a:solidFill>
                    <a:srgbClr val="000000"/>
                  </a:solidFill>
                  <a:latin typeface="宋体" panose="02010600030101010101" pitchFamily="2" charset="-122"/>
                </a:rPr>
                <a:t>大</a:t>
              </a: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76" name="Rectangle 26"/>
            <p:cNvSpPr>
              <a:spLocks noChangeArrowheads="1"/>
            </p:cNvSpPr>
            <p:nvPr/>
          </p:nvSpPr>
          <p:spPr bwMode="auto">
            <a:xfrm>
              <a:off x="3973" y="2173"/>
              <a:ext cx="28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ALU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577" name="Group 29"/>
            <p:cNvGrpSpPr/>
            <p:nvPr/>
          </p:nvGrpSpPr>
          <p:grpSpPr bwMode="auto">
            <a:xfrm>
              <a:off x="1712" y="925"/>
              <a:ext cx="68" cy="388"/>
              <a:chOff x="1712" y="925"/>
              <a:chExt cx="68" cy="388"/>
            </a:xfrm>
          </p:grpSpPr>
          <p:sp>
            <p:nvSpPr>
              <p:cNvPr id="151725" name="Line 27"/>
              <p:cNvSpPr>
                <a:spLocks noChangeShapeType="1"/>
              </p:cNvSpPr>
              <p:nvPr/>
            </p:nvSpPr>
            <p:spPr bwMode="auto">
              <a:xfrm>
                <a:off x="1751" y="925"/>
                <a:ext cx="1" cy="35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26" name="Freeform 28"/>
              <p:cNvSpPr/>
              <p:nvPr/>
            </p:nvSpPr>
            <p:spPr bwMode="auto">
              <a:xfrm>
                <a:off x="1712" y="1256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578" name="Group 32"/>
            <p:cNvGrpSpPr/>
            <p:nvPr/>
          </p:nvGrpSpPr>
          <p:grpSpPr bwMode="auto">
            <a:xfrm>
              <a:off x="2103" y="991"/>
              <a:ext cx="69" cy="322"/>
              <a:chOff x="2103" y="991"/>
              <a:chExt cx="69" cy="322"/>
            </a:xfrm>
          </p:grpSpPr>
          <p:sp>
            <p:nvSpPr>
              <p:cNvPr id="151723" name="Line 30"/>
              <p:cNvSpPr>
                <a:spLocks noChangeShapeType="1"/>
              </p:cNvSpPr>
              <p:nvPr/>
            </p:nvSpPr>
            <p:spPr bwMode="auto">
              <a:xfrm>
                <a:off x="2142" y="991"/>
                <a:ext cx="1" cy="28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24" name="Freeform 31"/>
              <p:cNvSpPr/>
              <p:nvPr/>
            </p:nvSpPr>
            <p:spPr bwMode="auto">
              <a:xfrm>
                <a:off x="2103" y="1256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579" name="Rectangle 33"/>
            <p:cNvSpPr>
              <a:spLocks noChangeArrowheads="1"/>
            </p:cNvSpPr>
            <p:nvPr/>
          </p:nvSpPr>
          <p:spPr bwMode="auto">
            <a:xfrm>
              <a:off x="1672" y="2248"/>
              <a:ext cx="715" cy="274"/>
            </a:xfrm>
            <a:prstGeom prst="rect">
              <a:avLst/>
            </a:prstGeom>
            <a:solidFill>
              <a:srgbClr val="FFFF66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80" name="Rectangle 34"/>
            <p:cNvSpPr>
              <a:spLocks noChangeArrowheads="1"/>
            </p:cNvSpPr>
            <p:nvPr/>
          </p:nvSpPr>
          <p:spPr bwMode="auto">
            <a:xfrm>
              <a:off x="1888" y="2286"/>
              <a:ext cx="2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>
                  <a:solidFill>
                    <a:srgbClr val="000000"/>
                  </a:solidFill>
                  <a:latin typeface="宋体" panose="02010600030101010101" pitchFamily="2" charset="-122"/>
                </a:rPr>
                <a:t>控制</a:t>
              </a: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81" name="Rectangle 35"/>
            <p:cNvSpPr>
              <a:spLocks noChangeArrowheads="1"/>
            </p:cNvSpPr>
            <p:nvPr/>
          </p:nvSpPr>
          <p:spPr bwMode="auto">
            <a:xfrm>
              <a:off x="3082" y="1719"/>
              <a:ext cx="871" cy="274"/>
            </a:xfrm>
            <a:prstGeom prst="rect">
              <a:avLst/>
            </a:prstGeom>
            <a:solidFill>
              <a:srgbClr val="FF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82" name="Rectangle 36"/>
            <p:cNvSpPr>
              <a:spLocks noChangeArrowheads="1"/>
            </p:cNvSpPr>
            <p:nvPr/>
          </p:nvSpPr>
          <p:spPr bwMode="auto">
            <a:xfrm>
              <a:off x="3376" y="1757"/>
              <a:ext cx="2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>
                  <a:solidFill>
                    <a:srgbClr val="000000"/>
                  </a:solidFill>
                  <a:latin typeface="宋体" panose="02010600030101010101" pitchFamily="2" charset="-122"/>
                </a:rPr>
                <a:t>右移</a:t>
              </a: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83" name="Rectangle 37"/>
            <p:cNvSpPr>
              <a:spLocks noChangeArrowheads="1"/>
            </p:cNvSpPr>
            <p:nvPr/>
          </p:nvSpPr>
          <p:spPr bwMode="auto">
            <a:xfrm>
              <a:off x="3474" y="2645"/>
              <a:ext cx="1106" cy="274"/>
            </a:xfrm>
            <a:prstGeom prst="rect">
              <a:avLst/>
            </a:prstGeom>
            <a:solidFill>
              <a:srgbClr val="FF66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84" name="Rectangle 38"/>
            <p:cNvSpPr>
              <a:spLocks noChangeArrowheads="1"/>
            </p:cNvSpPr>
            <p:nvPr/>
          </p:nvSpPr>
          <p:spPr bwMode="auto">
            <a:xfrm>
              <a:off x="3679" y="2683"/>
              <a:ext cx="68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>
                  <a:solidFill>
                    <a:srgbClr val="000000"/>
                  </a:solidFill>
                  <a:latin typeface="宋体" panose="02010600030101010101" pitchFamily="2" charset="-122"/>
                </a:rPr>
                <a:t>左移或右移</a:t>
              </a: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85" name="Rectangle 39"/>
            <p:cNvSpPr>
              <a:spLocks noChangeArrowheads="1"/>
            </p:cNvSpPr>
            <p:nvPr/>
          </p:nvSpPr>
          <p:spPr bwMode="auto">
            <a:xfrm>
              <a:off x="3474" y="3175"/>
              <a:ext cx="1106" cy="274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86" name="Rectangle 40"/>
            <p:cNvSpPr>
              <a:spLocks noChangeArrowheads="1"/>
            </p:cNvSpPr>
            <p:nvPr/>
          </p:nvSpPr>
          <p:spPr bwMode="auto">
            <a:xfrm>
              <a:off x="3748" y="3212"/>
              <a:ext cx="54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>
                  <a:solidFill>
                    <a:srgbClr val="000000"/>
                  </a:solidFill>
                  <a:latin typeface="宋体" panose="02010600030101010101" pitchFamily="2" charset="-122"/>
                </a:rPr>
                <a:t>舍入部件</a:t>
              </a: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87" name="Rectangle 41"/>
            <p:cNvSpPr>
              <a:spLocks noChangeArrowheads="1"/>
            </p:cNvSpPr>
            <p:nvPr/>
          </p:nvSpPr>
          <p:spPr bwMode="auto">
            <a:xfrm>
              <a:off x="1516" y="1785"/>
              <a:ext cx="871" cy="27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88" name="Rectangle 42"/>
            <p:cNvSpPr>
              <a:spLocks noChangeArrowheads="1"/>
            </p:cNvSpPr>
            <p:nvPr/>
          </p:nvSpPr>
          <p:spPr bwMode="auto">
            <a:xfrm>
              <a:off x="1741" y="1823"/>
              <a:ext cx="41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>
                  <a:solidFill>
                    <a:srgbClr val="000000"/>
                  </a:solidFill>
                  <a:latin typeface="宋体" panose="02010600030101010101" pitchFamily="2" charset="-122"/>
                </a:rPr>
                <a:t>阶码差</a:t>
              </a: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89" name="Rectangle 43"/>
            <p:cNvSpPr>
              <a:spLocks noChangeArrowheads="1"/>
            </p:cNvSpPr>
            <p:nvPr/>
          </p:nvSpPr>
          <p:spPr bwMode="auto">
            <a:xfrm>
              <a:off x="811" y="2579"/>
              <a:ext cx="871" cy="274"/>
            </a:xfrm>
            <a:prstGeom prst="rect">
              <a:avLst/>
            </a:prstGeom>
            <a:solidFill>
              <a:srgbClr val="FF9966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90" name="Rectangle 44"/>
            <p:cNvSpPr>
              <a:spLocks noChangeArrowheads="1"/>
            </p:cNvSpPr>
            <p:nvPr/>
          </p:nvSpPr>
          <p:spPr bwMode="auto">
            <a:xfrm>
              <a:off x="919" y="2617"/>
              <a:ext cx="13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>
                  <a:solidFill>
                    <a:srgbClr val="000000"/>
                  </a:solidFill>
                  <a:latin typeface="宋体" panose="02010600030101010101" pitchFamily="2" charset="-122"/>
                </a:rPr>
                <a:t>加</a:t>
              </a: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91" name="Rectangle 45"/>
            <p:cNvSpPr>
              <a:spLocks noChangeArrowheads="1"/>
            </p:cNvSpPr>
            <p:nvPr/>
          </p:nvSpPr>
          <p:spPr bwMode="auto">
            <a:xfrm>
              <a:off x="1085" y="260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92" name="Rectangle 46"/>
            <p:cNvSpPr>
              <a:spLocks noChangeArrowheads="1"/>
            </p:cNvSpPr>
            <p:nvPr/>
          </p:nvSpPr>
          <p:spPr bwMode="auto">
            <a:xfrm>
              <a:off x="1183" y="2617"/>
              <a:ext cx="2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700">
                  <a:solidFill>
                    <a:srgbClr val="000000"/>
                  </a:solidFill>
                  <a:latin typeface="宋体" panose="02010600030101010101" pitchFamily="2" charset="-122"/>
                </a:rPr>
                <a:t>或减</a:t>
              </a: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593" name="Rectangle 47"/>
            <p:cNvSpPr>
              <a:spLocks noChangeArrowheads="1"/>
            </p:cNvSpPr>
            <p:nvPr/>
          </p:nvSpPr>
          <p:spPr bwMode="auto">
            <a:xfrm>
              <a:off x="1486" y="260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594" name="Group 50"/>
            <p:cNvGrpSpPr/>
            <p:nvPr/>
          </p:nvGrpSpPr>
          <p:grpSpPr bwMode="auto">
            <a:xfrm>
              <a:off x="1868" y="1653"/>
              <a:ext cx="69" cy="132"/>
              <a:chOff x="1868" y="1653"/>
              <a:chExt cx="69" cy="132"/>
            </a:xfrm>
          </p:grpSpPr>
          <p:sp>
            <p:nvSpPr>
              <p:cNvPr id="151721" name="Line 48"/>
              <p:cNvSpPr>
                <a:spLocks noChangeShapeType="1"/>
              </p:cNvSpPr>
              <p:nvPr/>
            </p:nvSpPr>
            <p:spPr bwMode="auto">
              <a:xfrm>
                <a:off x="1907" y="1653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22" name="Freeform 49"/>
              <p:cNvSpPr/>
              <p:nvPr/>
            </p:nvSpPr>
            <p:spPr bwMode="auto">
              <a:xfrm>
                <a:off x="1868" y="1728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595" name="Group 53"/>
            <p:cNvGrpSpPr/>
            <p:nvPr/>
          </p:nvGrpSpPr>
          <p:grpSpPr bwMode="auto">
            <a:xfrm>
              <a:off x="928" y="1057"/>
              <a:ext cx="69" cy="1116"/>
              <a:chOff x="928" y="1057"/>
              <a:chExt cx="69" cy="1116"/>
            </a:xfrm>
          </p:grpSpPr>
          <p:sp>
            <p:nvSpPr>
              <p:cNvPr id="151719" name="Line 51"/>
              <p:cNvSpPr>
                <a:spLocks noChangeShapeType="1"/>
              </p:cNvSpPr>
              <p:nvPr/>
            </p:nvSpPr>
            <p:spPr bwMode="auto">
              <a:xfrm>
                <a:off x="968" y="1057"/>
                <a:ext cx="1" cy="107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20" name="Freeform 52"/>
              <p:cNvSpPr/>
              <p:nvPr/>
            </p:nvSpPr>
            <p:spPr bwMode="auto">
              <a:xfrm>
                <a:off x="928" y="2116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40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40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596" name="Group 56"/>
            <p:cNvGrpSpPr/>
            <p:nvPr/>
          </p:nvGrpSpPr>
          <p:grpSpPr bwMode="auto">
            <a:xfrm>
              <a:off x="1320" y="1190"/>
              <a:ext cx="69" cy="983"/>
              <a:chOff x="1320" y="1190"/>
              <a:chExt cx="69" cy="983"/>
            </a:xfrm>
          </p:grpSpPr>
          <p:sp>
            <p:nvSpPr>
              <p:cNvPr id="151717" name="Line 54"/>
              <p:cNvSpPr>
                <a:spLocks noChangeShapeType="1"/>
              </p:cNvSpPr>
              <p:nvPr/>
            </p:nvSpPr>
            <p:spPr bwMode="auto">
              <a:xfrm>
                <a:off x="1359" y="1190"/>
                <a:ext cx="1" cy="94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18" name="Freeform 55"/>
              <p:cNvSpPr/>
              <p:nvPr/>
            </p:nvSpPr>
            <p:spPr bwMode="auto">
              <a:xfrm>
                <a:off x="1320" y="2116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597" name="Group 59"/>
            <p:cNvGrpSpPr/>
            <p:nvPr/>
          </p:nvGrpSpPr>
          <p:grpSpPr bwMode="auto">
            <a:xfrm>
              <a:off x="3591" y="1190"/>
              <a:ext cx="69" cy="132"/>
              <a:chOff x="3591" y="1190"/>
              <a:chExt cx="69" cy="132"/>
            </a:xfrm>
          </p:grpSpPr>
          <p:sp>
            <p:nvSpPr>
              <p:cNvPr id="151715" name="Line 57"/>
              <p:cNvSpPr>
                <a:spLocks noChangeShapeType="1"/>
              </p:cNvSpPr>
              <p:nvPr/>
            </p:nvSpPr>
            <p:spPr bwMode="auto">
              <a:xfrm>
                <a:off x="3630" y="1190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16" name="Freeform 58"/>
              <p:cNvSpPr/>
              <p:nvPr/>
            </p:nvSpPr>
            <p:spPr bwMode="auto">
              <a:xfrm>
                <a:off x="3591" y="1265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598" name="Group 62"/>
            <p:cNvGrpSpPr/>
            <p:nvPr/>
          </p:nvGrpSpPr>
          <p:grpSpPr bwMode="auto">
            <a:xfrm>
              <a:off x="4218" y="1123"/>
              <a:ext cx="68" cy="199"/>
              <a:chOff x="4218" y="1123"/>
              <a:chExt cx="68" cy="199"/>
            </a:xfrm>
          </p:grpSpPr>
          <p:sp>
            <p:nvSpPr>
              <p:cNvPr id="151713" name="Line 60"/>
              <p:cNvSpPr>
                <a:spLocks noChangeShapeType="1"/>
              </p:cNvSpPr>
              <p:nvPr/>
            </p:nvSpPr>
            <p:spPr bwMode="auto">
              <a:xfrm>
                <a:off x="4257" y="1123"/>
                <a:ext cx="1" cy="16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14" name="Freeform 61"/>
              <p:cNvSpPr/>
              <p:nvPr/>
            </p:nvSpPr>
            <p:spPr bwMode="auto">
              <a:xfrm>
                <a:off x="4218" y="1265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599" name="Group 65"/>
            <p:cNvGrpSpPr/>
            <p:nvPr/>
          </p:nvGrpSpPr>
          <p:grpSpPr bwMode="auto">
            <a:xfrm>
              <a:off x="4531" y="925"/>
              <a:ext cx="68" cy="397"/>
              <a:chOff x="4531" y="925"/>
              <a:chExt cx="68" cy="397"/>
            </a:xfrm>
          </p:grpSpPr>
          <p:sp>
            <p:nvSpPr>
              <p:cNvPr id="151711" name="Line 63"/>
              <p:cNvSpPr>
                <a:spLocks noChangeShapeType="1"/>
              </p:cNvSpPr>
              <p:nvPr/>
            </p:nvSpPr>
            <p:spPr bwMode="auto">
              <a:xfrm>
                <a:off x="4570" y="925"/>
                <a:ext cx="1" cy="35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12" name="Freeform 64"/>
              <p:cNvSpPr/>
              <p:nvPr/>
            </p:nvSpPr>
            <p:spPr bwMode="auto">
              <a:xfrm>
                <a:off x="4531" y="1265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00" name="Line 66"/>
            <p:cNvSpPr>
              <a:spLocks noChangeShapeType="1"/>
            </p:cNvSpPr>
            <p:nvPr/>
          </p:nvSpPr>
          <p:spPr bwMode="auto">
            <a:xfrm>
              <a:off x="968" y="1057"/>
              <a:ext cx="78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601" name="Group 69"/>
            <p:cNvGrpSpPr/>
            <p:nvPr/>
          </p:nvGrpSpPr>
          <p:grpSpPr bwMode="auto">
            <a:xfrm>
              <a:off x="3278" y="1123"/>
              <a:ext cx="68" cy="199"/>
              <a:chOff x="3278" y="1123"/>
              <a:chExt cx="68" cy="199"/>
            </a:xfrm>
          </p:grpSpPr>
          <p:sp>
            <p:nvSpPr>
              <p:cNvPr id="151709" name="Line 67"/>
              <p:cNvSpPr>
                <a:spLocks noChangeShapeType="1"/>
              </p:cNvSpPr>
              <p:nvPr/>
            </p:nvSpPr>
            <p:spPr bwMode="auto">
              <a:xfrm>
                <a:off x="3317" y="1123"/>
                <a:ext cx="1" cy="16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10" name="Freeform 68"/>
              <p:cNvSpPr/>
              <p:nvPr/>
            </p:nvSpPr>
            <p:spPr bwMode="auto">
              <a:xfrm>
                <a:off x="3278" y="1265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02" name="Line 70"/>
            <p:cNvSpPr>
              <a:spLocks noChangeShapeType="1"/>
            </p:cNvSpPr>
            <p:nvPr/>
          </p:nvSpPr>
          <p:spPr bwMode="auto">
            <a:xfrm>
              <a:off x="1359" y="1190"/>
              <a:ext cx="78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03" name="Line 71"/>
            <p:cNvSpPr>
              <a:spLocks noChangeShapeType="1"/>
            </p:cNvSpPr>
            <p:nvPr/>
          </p:nvSpPr>
          <p:spPr bwMode="auto">
            <a:xfrm>
              <a:off x="3630" y="925"/>
              <a:ext cx="1" cy="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04" name="Line 72"/>
            <p:cNvSpPr>
              <a:spLocks noChangeShapeType="1"/>
            </p:cNvSpPr>
            <p:nvPr/>
          </p:nvSpPr>
          <p:spPr bwMode="auto">
            <a:xfrm>
              <a:off x="2534" y="925"/>
              <a:ext cx="1" cy="18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05" name="Line 73"/>
            <p:cNvSpPr>
              <a:spLocks noChangeShapeType="1"/>
            </p:cNvSpPr>
            <p:nvPr/>
          </p:nvSpPr>
          <p:spPr bwMode="auto">
            <a:xfrm>
              <a:off x="2534" y="1123"/>
              <a:ext cx="172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06" name="Line 74"/>
            <p:cNvSpPr>
              <a:spLocks noChangeShapeType="1"/>
            </p:cNvSpPr>
            <p:nvPr/>
          </p:nvSpPr>
          <p:spPr bwMode="auto">
            <a:xfrm>
              <a:off x="3630" y="1190"/>
              <a:ext cx="94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07" name="Line 75"/>
            <p:cNvSpPr>
              <a:spLocks noChangeShapeType="1"/>
            </p:cNvSpPr>
            <p:nvPr/>
          </p:nvSpPr>
          <p:spPr bwMode="auto">
            <a:xfrm>
              <a:off x="2142" y="991"/>
              <a:ext cx="14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608" name="Group 78"/>
            <p:cNvGrpSpPr/>
            <p:nvPr/>
          </p:nvGrpSpPr>
          <p:grpSpPr bwMode="auto">
            <a:xfrm>
              <a:off x="3513" y="1587"/>
              <a:ext cx="68" cy="132"/>
              <a:chOff x="3513" y="1587"/>
              <a:chExt cx="68" cy="132"/>
            </a:xfrm>
          </p:grpSpPr>
          <p:sp>
            <p:nvSpPr>
              <p:cNvPr id="151707" name="Line 76"/>
              <p:cNvSpPr>
                <a:spLocks noChangeShapeType="1"/>
              </p:cNvSpPr>
              <p:nvPr/>
            </p:nvSpPr>
            <p:spPr bwMode="auto">
              <a:xfrm>
                <a:off x="3552" y="1587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08" name="Freeform 77"/>
              <p:cNvSpPr/>
              <p:nvPr/>
            </p:nvSpPr>
            <p:spPr bwMode="auto">
              <a:xfrm>
                <a:off x="3513" y="1662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609" name="Group 81"/>
            <p:cNvGrpSpPr/>
            <p:nvPr/>
          </p:nvGrpSpPr>
          <p:grpSpPr bwMode="auto">
            <a:xfrm>
              <a:off x="3513" y="1984"/>
              <a:ext cx="68" cy="132"/>
              <a:chOff x="3513" y="1984"/>
              <a:chExt cx="68" cy="132"/>
            </a:xfrm>
          </p:grpSpPr>
          <p:sp>
            <p:nvSpPr>
              <p:cNvPr id="151705" name="Line 79"/>
              <p:cNvSpPr>
                <a:spLocks noChangeShapeType="1"/>
              </p:cNvSpPr>
              <p:nvPr/>
            </p:nvSpPr>
            <p:spPr bwMode="auto">
              <a:xfrm>
                <a:off x="3552" y="1984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06" name="Freeform 80"/>
              <p:cNvSpPr/>
              <p:nvPr/>
            </p:nvSpPr>
            <p:spPr bwMode="auto">
              <a:xfrm>
                <a:off x="3513" y="2059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610" name="Group 84"/>
            <p:cNvGrpSpPr/>
            <p:nvPr/>
          </p:nvGrpSpPr>
          <p:grpSpPr bwMode="auto">
            <a:xfrm>
              <a:off x="4453" y="1587"/>
              <a:ext cx="68" cy="529"/>
              <a:chOff x="4453" y="1587"/>
              <a:chExt cx="68" cy="529"/>
            </a:xfrm>
          </p:grpSpPr>
          <p:sp>
            <p:nvSpPr>
              <p:cNvPr id="151703" name="Line 82"/>
              <p:cNvSpPr>
                <a:spLocks noChangeShapeType="1"/>
              </p:cNvSpPr>
              <p:nvPr/>
            </p:nvSpPr>
            <p:spPr bwMode="auto">
              <a:xfrm>
                <a:off x="4492" y="1587"/>
                <a:ext cx="1" cy="49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04" name="Freeform 83"/>
              <p:cNvSpPr/>
              <p:nvPr/>
            </p:nvSpPr>
            <p:spPr bwMode="auto">
              <a:xfrm>
                <a:off x="4453" y="2059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611" name="Group 87"/>
            <p:cNvGrpSpPr/>
            <p:nvPr/>
          </p:nvGrpSpPr>
          <p:grpSpPr bwMode="auto">
            <a:xfrm>
              <a:off x="3983" y="2513"/>
              <a:ext cx="68" cy="123"/>
              <a:chOff x="3983" y="2513"/>
              <a:chExt cx="68" cy="123"/>
            </a:xfrm>
          </p:grpSpPr>
          <p:sp>
            <p:nvSpPr>
              <p:cNvPr id="151701" name="Line 85"/>
              <p:cNvSpPr>
                <a:spLocks noChangeShapeType="1"/>
              </p:cNvSpPr>
              <p:nvPr/>
            </p:nvSpPr>
            <p:spPr bwMode="auto">
              <a:xfrm>
                <a:off x="4022" y="2513"/>
                <a:ext cx="1" cy="8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02" name="Freeform 86"/>
              <p:cNvSpPr/>
              <p:nvPr/>
            </p:nvSpPr>
            <p:spPr bwMode="auto">
              <a:xfrm>
                <a:off x="3983" y="2579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612" name="Group 90"/>
            <p:cNvGrpSpPr/>
            <p:nvPr/>
          </p:nvGrpSpPr>
          <p:grpSpPr bwMode="auto">
            <a:xfrm>
              <a:off x="3983" y="2910"/>
              <a:ext cx="68" cy="255"/>
              <a:chOff x="3983" y="2910"/>
              <a:chExt cx="68" cy="255"/>
            </a:xfrm>
          </p:grpSpPr>
          <p:sp>
            <p:nvSpPr>
              <p:cNvPr id="151699" name="Line 88"/>
              <p:cNvSpPr>
                <a:spLocks noChangeShapeType="1"/>
              </p:cNvSpPr>
              <p:nvPr/>
            </p:nvSpPr>
            <p:spPr bwMode="auto">
              <a:xfrm>
                <a:off x="4022" y="2910"/>
                <a:ext cx="1" cy="21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700" name="Freeform 89"/>
              <p:cNvSpPr/>
              <p:nvPr/>
            </p:nvSpPr>
            <p:spPr bwMode="auto">
              <a:xfrm>
                <a:off x="3983" y="3108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613" name="Group 93"/>
            <p:cNvGrpSpPr/>
            <p:nvPr/>
          </p:nvGrpSpPr>
          <p:grpSpPr bwMode="auto">
            <a:xfrm>
              <a:off x="1516" y="2343"/>
              <a:ext cx="156" cy="66"/>
              <a:chOff x="1516" y="2343"/>
              <a:chExt cx="156" cy="66"/>
            </a:xfrm>
          </p:grpSpPr>
          <p:sp>
            <p:nvSpPr>
              <p:cNvPr id="151697" name="Line 91"/>
              <p:cNvSpPr>
                <a:spLocks noChangeShapeType="1"/>
              </p:cNvSpPr>
              <p:nvPr/>
            </p:nvSpPr>
            <p:spPr bwMode="auto">
              <a:xfrm flipH="1">
                <a:off x="1516" y="2381"/>
                <a:ext cx="15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98" name="Freeform 92"/>
              <p:cNvSpPr/>
              <p:nvPr/>
            </p:nvSpPr>
            <p:spPr bwMode="auto">
              <a:xfrm>
                <a:off x="1516" y="2343"/>
                <a:ext cx="59" cy="66"/>
              </a:xfrm>
              <a:custGeom>
                <a:avLst/>
                <a:gdLst>
                  <a:gd name="T0" fmla="*/ 59 w 59"/>
                  <a:gd name="T1" fmla="*/ 0 h 66"/>
                  <a:gd name="T2" fmla="*/ 0 w 59"/>
                  <a:gd name="T3" fmla="*/ 38 h 66"/>
                  <a:gd name="T4" fmla="*/ 59 w 59"/>
                  <a:gd name="T5" fmla="*/ 66 h 66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66"/>
                  <a:gd name="T11" fmla="*/ 59 w 59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66">
                    <a:moveTo>
                      <a:pt x="59" y="0"/>
                    </a:moveTo>
                    <a:lnTo>
                      <a:pt x="0" y="38"/>
                    </a:lnTo>
                    <a:lnTo>
                      <a:pt x="59" y="66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614" name="Group 96"/>
            <p:cNvGrpSpPr/>
            <p:nvPr/>
          </p:nvGrpSpPr>
          <p:grpSpPr bwMode="auto">
            <a:xfrm>
              <a:off x="1868" y="2050"/>
              <a:ext cx="69" cy="189"/>
              <a:chOff x="1868" y="2050"/>
              <a:chExt cx="69" cy="189"/>
            </a:xfrm>
          </p:grpSpPr>
          <p:sp>
            <p:nvSpPr>
              <p:cNvPr id="151695" name="Line 94"/>
              <p:cNvSpPr>
                <a:spLocks noChangeShapeType="1"/>
              </p:cNvSpPr>
              <p:nvPr/>
            </p:nvSpPr>
            <p:spPr bwMode="auto">
              <a:xfrm>
                <a:off x="1907" y="2050"/>
                <a:ext cx="1" cy="15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96" name="Freeform 95"/>
              <p:cNvSpPr/>
              <p:nvPr/>
            </p:nvSpPr>
            <p:spPr bwMode="auto">
              <a:xfrm>
                <a:off x="1868" y="2182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15" name="Line 97"/>
            <p:cNvSpPr>
              <a:spLocks noChangeShapeType="1"/>
            </p:cNvSpPr>
            <p:nvPr/>
          </p:nvSpPr>
          <p:spPr bwMode="auto">
            <a:xfrm>
              <a:off x="2221" y="2513"/>
              <a:ext cx="1" cy="18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616" name="Group 100"/>
            <p:cNvGrpSpPr/>
            <p:nvPr/>
          </p:nvGrpSpPr>
          <p:grpSpPr bwMode="auto">
            <a:xfrm>
              <a:off x="2221" y="2683"/>
              <a:ext cx="1253" cy="66"/>
              <a:chOff x="2221" y="2683"/>
              <a:chExt cx="1253" cy="66"/>
            </a:xfrm>
          </p:grpSpPr>
          <p:sp>
            <p:nvSpPr>
              <p:cNvPr id="151693" name="Line 98"/>
              <p:cNvSpPr>
                <a:spLocks noChangeShapeType="1"/>
              </p:cNvSpPr>
              <p:nvPr/>
            </p:nvSpPr>
            <p:spPr bwMode="auto">
              <a:xfrm flipH="1">
                <a:off x="2221" y="2711"/>
                <a:ext cx="125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94" name="Freeform 99"/>
              <p:cNvSpPr/>
              <p:nvPr/>
            </p:nvSpPr>
            <p:spPr bwMode="auto">
              <a:xfrm>
                <a:off x="3415" y="2683"/>
                <a:ext cx="59" cy="66"/>
              </a:xfrm>
              <a:custGeom>
                <a:avLst/>
                <a:gdLst>
                  <a:gd name="T0" fmla="*/ 0 w 59"/>
                  <a:gd name="T1" fmla="*/ 66 h 66"/>
                  <a:gd name="T2" fmla="*/ 59 w 59"/>
                  <a:gd name="T3" fmla="*/ 28 h 66"/>
                  <a:gd name="T4" fmla="*/ 0 w 59"/>
                  <a:gd name="T5" fmla="*/ 0 h 66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66"/>
                  <a:gd name="T11" fmla="*/ 59 w 59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66">
                    <a:moveTo>
                      <a:pt x="0" y="66"/>
                    </a:moveTo>
                    <a:lnTo>
                      <a:pt x="59" y="28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617" name="Group 103"/>
            <p:cNvGrpSpPr/>
            <p:nvPr/>
          </p:nvGrpSpPr>
          <p:grpSpPr bwMode="auto">
            <a:xfrm>
              <a:off x="1829" y="3212"/>
              <a:ext cx="1645" cy="67"/>
              <a:chOff x="1829" y="3212"/>
              <a:chExt cx="1645" cy="67"/>
            </a:xfrm>
          </p:grpSpPr>
          <p:sp>
            <p:nvSpPr>
              <p:cNvPr id="151691" name="Line 101"/>
              <p:cNvSpPr>
                <a:spLocks noChangeShapeType="1"/>
              </p:cNvSpPr>
              <p:nvPr/>
            </p:nvSpPr>
            <p:spPr bwMode="auto">
              <a:xfrm flipH="1">
                <a:off x="1829" y="3241"/>
                <a:ext cx="1645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92" name="Freeform 102"/>
              <p:cNvSpPr/>
              <p:nvPr/>
            </p:nvSpPr>
            <p:spPr bwMode="auto">
              <a:xfrm>
                <a:off x="3415" y="3212"/>
                <a:ext cx="59" cy="67"/>
              </a:xfrm>
              <a:custGeom>
                <a:avLst/>
                <a:gdLst>
                  <a:gd name="T0" fmla="*/ 0 w 59"/>
                  <a:gd name="T1" fmla="*/ 67 h 67"/>
                  <a:gd name="T2" fmla="*/ 59 w 59"/>
                  <a:gd name="T3" fmla="*/ 29 h 67"/>
                  <a:gd name="T4" fmla="*/ 0 w 59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67"/>
                  <a:gd name="T11" fmla="*/ 59 w 59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67">
                    <a:moveTo>
                      <a:pt x="0" y="67"/>
                    </a:moveTo>
                    <a:lnTo>
                      <a:pt x="59" y="29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18" name="Line 104"/>
            <p:cNvSpPr>
              <a:spLocks noChangeShapeType="1"/>
            </p:cNvSpPr>
            <p:nvPr/>
          </p:nvSpPr>
          <p:spPr bwMode="auto">
            <a:xfrm>
              <a:off x="1829" y="2513"/>
              <a:ext cx="1" cy="71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19" name="Line 105"/>
            <p:cNvSpPr>
              <a:spLocks noChangeShapeType="1"/>
            </p:cNvSpPr>
            <p:nvPr/>
          </p:nvSpPr>
          <p:spPr bwMode="auto">
            <a:xfrm>
              <a:off x="2377" y="2381"/>
              <a:ext cx="47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20" name="Line 106"/>
            <p:cNvSpPr>
              <a:spLocks noChangeShapeType="1"/>
            </p:cNvSpPr>
            <p:nvPr/>
          </p:nvSpPr>
          <p:spPr bwMode="auto">
            <a:xfrm>
              <a:off x="2377" y="2248"/>
              <a:ext cx="314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21" name="Line 107"/>
            <p:cNvSpPr>
              <a:spLocks noChangeShapeType="1"/>
            </p:cNvSpPr>
            <p:nvPr/>
          </p:nvSpPr>
          <p:spPr bwMode="auto">
            <a:xfrm>
              <a:off x="2142" y="2116"/>
              <a:ext cx="39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622" name="Group 110"/>
            <p:cNvGrpSpPr/>
            <p:nvPr/>
          </p:nvGrpSpPr>
          <p:grpSpPr bwMode="auto">
            <a:xfrm>
              <a:off x="2847" y="1889"/>
              <a:ext cx="235" cy="66"/>
              <a:chOff x="2847" y="1889"/>
              <a:chExt cx="235" cy="66"/>
            </a:xfrm>
          </p:grpSpPr>
          <p:sp>
            <p:nvSpPr>
              <p:cNvPr id="151689" name="Line 108"/>
              <p:cNvSpPr>
                <a:spLocks noChangeShapeType="1"/>
              </p:cNvSpPr>
              <p:nvPr/>
            </p:nvSpPr>
            <p:spPr bwMode="auto">
              <a:xfrm>
                <a:off x="2847" y="1917"/>
                <a:ext cx="235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90" name="Freeform 109"/>
              <p:cNvSpPr/>
              <p:nvPr/>
            </p:nvSpPr>
            <p:spPr bwMode="auto">
              <a:xfrm>
                <a:off x="3023" y="1889"/>
                <a:ext cx="59" cy="66"/>
              </a:xfrm>
              <a:custGeom>
                <a:avLst/>
                <a:gdLst>
                  <a:gd name="T0" fmla="*/ 0 w 59"/>
                  <a:gd name="T1" fmla="*/ 66 h 66"/>
                  <a:gd name="T2" fmla="*/ 59 w 59"/>
                  <a:gd name="T3" fmla="*/ 28 h 66"/>
                  <a:gd name="T4" fmla="*/ 0 w 59"/>
                  <a:gd name="T5" fmla="*/ 0 h 66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66"/>
                  <a:gd name="T11" fmla="*/ 59 w 59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66">
                    <a:moveTo>
                      <a:pt x="0" y="66"/>
                    </a:moveTo>
                    <a:lnTo>
                      <a:pt x="59" y="28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23" name="Line 111"/>
            <p:cNvSpPr>
              <a:spLocks noChangeShapeType="1"/>
            </p:cNvSpPr>
            <p:nvPr/>
          </p:nvSpPr>
          <p:spPr bwMode="auto">
            <a:xfrm flipV="1">
              <a:off x="2847" y="1917"/>
              <a:ext cx="1" cy="46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24" name="Line 112"/>
            <p:cNvSpPr>
              <a:spLocks noChangeShapeType="1"/>
            </p:cNvSpPr>
            <p:nvPr/>
          </p:nvSpPr>
          <p:spPr bwMode="auto">
            <a:xfrm flipV="1">
              <a:off x="2691" y="1653"/>
              <a:ext cx="1" cy="58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25" name="Line 113"/>
            <p:cNvSpPr>
              <a:spLocks noChangeShapeType="1"/>
            </p:cNvSpPr>
            <p:nvPr/>
          </p:nvSpPr>
          <p:spPr bwMode="auto">
            <a:xfrm flipV="1">
              <a:off x="2534" y="1520"/>
              <a:ext cx="1" cy="5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626" name="Group 116"/>
            <p:cNvGrpSpPr/>
            <p:nvPr/>
          </p:nvGrpSpPr>
          <p:grpSpPr bwMode="auto">
            <a:xfrm>
              <a:off x="2534" y="1492"/>
              <a:ext cx="626" cy="66"/>
              <a:chOff x="2534" y="1492"/>
              <a:chExt cx="626" cy="66"/>
            </a:xfrm>
          </p:grpSpPr>
          <p:sp>
            <p:nvSpPr>
              <p:cNvPr id="151687" name="Line 114"/>
              <p:cNvSpPr>
                <a:spLocks noChangeShapeType="1"/>
              </p:cNvSpPr>
              <p:nvPr/>
            </p:nvSpPr>
            <p:spPr bwMode="auto">
              <a:xfrm>
                <a:off x="2534" y="1520"/>
                <a:ext cx="62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88" name="Freeform 115"/>
              <p:cNvSpPr/>
              <p:nvPr/>
            </p:nvSpPr>
            <p:spPr bwMode="auto">
              <a:xfrm>
                <a:off x="3102" y="1492"/>
                <a:ext cx="58" cy="66"/>
              </a:xfrm>
              <a:custGeom>
                <a:avLst/>
                <a:gdLst>
                  <a:gd name="T0" fmla="*/ 0 w 58"/>
                  <a:gd name="T1" fmla="*/ 66 h 66"/>
                  <a:gd name="T2" fmla="*/ 58 w 58"/>
                  <a:gd name="T3" fmla="*/ 28 h 66"/>
                  <a:gd name="T4" fmla="*/ 0 w 58"/>
                  <a:gd name="T5" fmla="*/ 0 h 66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66"/>
                  <a:gd name="T11" fmla="*/ 58 w 58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66">
                    <a:moveTo>
                      <a:pt x="0" y="66"/>
                    </a:moveTo>
                    <a:lnTo>
                      <a:pt x="58" y="28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27" name="Line 117"/>
            <p:cNvSpPr>
              <a:spLocks noChangeShapeType="1"/>
            </p:cNvSpPr>
            <p:nvPr/>
          </p:nvSpPr>
          <p:spPr bwMode="auto">
            <a:xfrm>
              <a:off x="2691" y="1653"/>
              <a:ext cx="125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28" name="Line 118"/>
            <p:cNvSpPr>
              <a:spLocks noChangeShapeType="1"/>
            </p:cNvSpPr>
            <p:nvPr/>
          </p:nvSpPr>
          <p:spPr bwMode="auto">
            <a:xfrm flipV="1">
              <a:off x="2142" y="2107"/>
              <a:ext cx="1" cy="13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29" name="Line 119"/>
            <p:cNvSpPr>
              <a:spLocks noChangeShapeType="1"/>
            </p:cNvSpPr>
            <p:nvPr/>
          </p:nvSpPr>
          <p:spPr bwMode="auto">
            <a:xfrm flipV="1">
              <a:off x="3944" y="1520"/>
              <a:ext cx="1" cy="13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630" name="Group 122"/>
            <p:cNvGrpSpPr/>
            <p:nvPr/>
          </p:nvGrpSpPr>
          <p:grpSpPr bwMode="auto">
            <a:xfrm>
              <a:off x="3944" y="1492"/>
              <a:ext cx="156" cy="66"/>
              <a:chOff x="3944" y="1492"/>
              <a:chExt cx="156" cy="66"/>
            </a:xfrm>
          </p:grpSpPr>
          <p:sp>
            <p:nvSpPr>
              <p:cNvPr id="151685" name="Line 120"/>
              <p:cNvSpPr>
                <a:spLocks noChangeShapeType="1"/>
              </p:cNvSpPr>
              <p:nvPr/>
            </p:nvSpPr>
            <p:spPr bwMode="auto">
              <a:xfrm flipH="1">
                <a:off x="3944" y="1520"/>
                <a:ext cx="15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86" name="Freeform 121"/>
              <p:cNvSpPr/>
              <p:nvPr/>
            </p:nvSpPr>
            <p:spPr bwMode="auto">
              <a:xfrm>
                <a:off x="4041" y="1492"/>
                <a:ext cx="59" cy="66"/>
              </a:xfrm>
              <a:custGeom>
                <a:avLst/>
                <a:gdLst>
                  <a:gd name="T0" fmla="*/ 0 w 59"/>
                  <a:gd name="T1" fmla="*/ 66 h 66"/>
                  <a:gd name="T2" fmla="*/ 59 w 59"/>
                  <a:gd name="T3" fmla="*/ 28 h 66"/>
                  <a:gd name="T4" fmla="*/ 0 w 59"/>
                  <a:gd name="T5" fmla="*/ 0 h 66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66"/>
                  <a:gd name="T11" fmla="*/ 59 w 59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66">
                    <a:moveTo>
                      <a:pt x="0" y="66"/>
                    </a:moveTo>
                    <a:lnTo>
                      <a:pt x="59" y="28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631" name="Group 125"/>
            <p:cNvGrpSpPr/>
            <p:nvPr/>
          </p:nvGrpSpPr>
          <p:grpSpPr bwMode="auto">
            <a:xfrm>
              <a:off x="1163" y="2447"/>
              <a:ext cx="69" cy="132"/>
              <a:chOff x="1163" y="2447"/>
              <a:chExt cx="69" cy="132"/>
            </a:xfrm>
          </p:grpSpPr>
          <p:sp>
            <p:nvSpPr>
              <p:cNvPr id="151683" name="Line 123"/>
              <p:cNvSpPr>
                <a:spLocks noChangeShapeType="1"/>
              </p:cNvSpPr>
              <p:nvPr/>
            </p:nvSpPr>
            <p:spPr bwMode="auto">
              <a:xfrm>
                <a:off x="1203" y="2447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84" name="Freeform 124"/>
              <p:cNvSpPr/>
              <p:nvPr/>
            </p:nvSpPr>
            <p:spPr bwMode="auto">
              <a:xfrm>
                <a:off x="1163" y="2522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40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40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32" name="Rectangle 126"/>
            <p:cNvSpPr>
              <a:spLocks noChangeArrowheads="1"/>
            </p:cNvSpPr>
            <p:nvPr/>
          </p:nvSpPr>
          <p:spPr bwMode="auto">
            <a:xfrm>
              <a:off x="3552" y="3638"/>
              <a:ext cx="1106" cy="274"/>
            </a:xfrm>
            <a:prstGeom prst="rect">
              <a:avLst/>
            </a:prstGeom>
            <a:solidFill>
              <a:srgbClr val="FF99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33" name="Rectangle 127"/>
            <p:cNvSpPr>
              <a:spLocks noChangeArrowheads="1"/>
            </p:cNvSpPr>
            <p:nvPr/>
          </p:nvSpPr>
          <p:spPr bwMode="auto">
            <a:xfrm>
              <a:off x="4041" y="3666"/>
              <a:ext cx="1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34" name="Rectangle 128"/>
            <p:cNvSpPr>
              <a:spLocks noChangeArrowheads="1"/>
            </p:cNvSpPr>
            <p:nvPr/>
          </p:nvSpPr>
          <p:spPr bwMode="auto">
            <a:xfrm>
              <a:off x="3004" y="3638"/>
              <a:ext cx="558" cy="274"/>
            </a:xfrm>
            <a:prstGeom prst="rect">
              <a:avLst/>
            </a:prstGeom>
            <a:solidFill>
              <a:srgbClr val="FF9966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35" name="Rectangle 129"/>
            <p:cNvSpPr>
              <a:spLocks noChangeArrowheads="1"/>
            </p:cNvSpPr>
            <p:nvPr/>
          </p:nvSpPr>
          <p:spPr bwMode="auto">
            <a:xfrm>
              <a:off x="3239" y="3666"/>
              <a:ext cx="9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36" name="Rectangle 130"/>
            <p:cNvSpPr>
              <a:spLocks noChangeArrowheads="1"/>
            </p:cNvSpPr>
            <p:nvPr/>
          </p:nvSpPr>
          <p:spPr bwMode="auto">
            <a:xfrm>
              <a:off x="2847" y="3638"/>
              <a:ext cx="167" cy="27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37" name="Rectangle 131"/>
            <p:cNvSpPr>
              <a:spLocks noChangeArrowheads="1"/>
            </p:cNvSpPr>
            <p:nvPr/>
          </p:nvSpPr>
          <p:spPr bwMode="auto">
            <a:xfrm>
              <a:off x="2886" y="3666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638" name="Group 134"/>
            <p:cNvGrpSpPr/>
            <p:nvPr/>
          </p:nvGrpSpPr>
          <p:grpSpPr bwMode="auto">
            <a:xfrm>
              <a:off x="4061" y="3439"/>
              <a:ext cx="69" cy="199"/>
              <a:chOff x="4061" y="3439"/>
              <a:chExt cx="69" cy="199"/>
            </a:xfrm>
          </p:grpSpPr>
          <p:sp>
            <p:nvSpPr>
              <p:cNvPr id="151681" name="Line 132"/>
              <p:cNvSpPr>
                <a:spLocks noChangeShapeType="1"/>
              </p:cNvSpPr>
              <p:nvPr/>
            </p:nvSpPr>
            <p:spPr bwMode="auto">
              <a:xfrm>
                <a:off x="4100" y="3439"/>
                <a:ext cx="1" cy="16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82" name="Freeform 133"/>
              <p:cNvSpPr/>
              <p:nvPr/>
            </p:nvSpPr>
            <p:spPr bwMode="auto">
              <a:xfrm>
                <a:off x="4061" y="3581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grpSp>
          <p:nvGrpSpPr>
            <p:cNvPr id="151639" name="Group 137"/>
            <p:cNvGrpSpPr/>
            <p:nvPr/>
          </p:nvGrpSpPr>
          <p:grpSpPr bwMode="auto">
            <a:xfrm>
              <a:off x="3278" y="3496"/>
              <a:ext cx="68" cy="132"/>
              <a:chOff x="3278" y="3496"/>
              <a:chExt cx="68" cy="132"/>
            </a:xfrm>
          </p:grpSpPr>
          <p:sp>
            <p:nvSpPr>
              <p:cNvPr id="151679" name="Line 135"/>
              <p:cNvSpPr>
                <a:spLocks noChangeShapeType="1"/>
              </p:cNvSpPr>
              <p:nvPr/>
            </p:nvSpPr>
            <p:spPr bwMode="auto">
              <a:xfrm>
                <a:off x="3317" y="3496"/>
                <a:ext cx="1" cy="9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80" name="Freeform 136"/>
              <p:cNvSpPr/>
              <p:nvPr/>
            </p:nvSpPr>
            <p:spPr bwMode="auto">
              <a:xfrm>
                <a:off x="3278" y="3572"/>
                <a:ext cx="68" cy="56"/>
              </a:xfrm>
              <a:custGeom>
                <a:avLst/>
                <a:gdLst>
                  <a:gd name="T0" fmla="*/ 0 w 68"/>
                  <a:gd name="T1" fmla="*/ 0 h 56"/>
                  <a:gd name="T2" fmla="*/ 39 w 68"/>
                  <a:gd name="T3" fmla="*/ 56 h 56"/>
                  <a:gd name="T4" fmla="*/ 68 w 68"/>
                  <a:gd name="T5" fmla="*/ 0 h 56"/>
                  <a:gd name="T6" fmla="*/ 0 w 68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6"/>
                  <a:gd name="T14" fmla="*/ 68 w 68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6">
                    <a:moveTo>
                      <a:pt x="0" y="0"/>
                    </a:moveTo>
                    <a:lnTo>
                      <a:pt x="39" y="56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40" name="Line 138"/>
            <p:cNvSpPr>
              <a:spLocks noChangeShapeType="1"/>
            </p:cNvSpPr>
            <p:nvPr/>
          </p:nvSpPr>
          <p:spPr bwMode="auto">
            <a:xfrm>
              <a:off x="3865" y="3439"/>
              <a:ext cx="1" cy="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41" name="Line 139"/>
            <p:cNvSpPr>
              <a:spLocks noChangeShapeType="1"/>
            </p:cNvSpPr>
            <p:nvPr/>
          </p:nvSpPr>
          <p:spPr bwMode="auto">
            <a:xfrm>
              <a:off x="3317" y="3505"/>
              <a:ext cx="54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642" name="Group 142"/>
            <p:cNvGrpSpPr/>
            <p:nvPr/>
          </p:nvGrpSpPr>
          <p:grpSpPr bwMode="auto">
            <a:xfrm>
              <a:off x="3591" y="3033"/>
              <a:ext cx="69" cy="132"/>
              <a:chOff x="3591" y="3033"/>
              <a:chExt cx="69" cy="132"/>
            </a:xfrm>
          </p:grpSpPr>
          <p:sp>
            <p:nvSpPr>
              <p:cNvPr id="151677" name="Line 140"/>
              <p:cNvSpPr>
                <a:spLocks noChangeShapeType="1"/>
              </p:cNvSpPr>
              <p:nvPr/>
            </p:nvSpPr>
            <p:spPr bwMode="auto">
              <a:xfrm>
                <a:off x="3630" y="3033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78" name="Freeform 141"/>
              <p:cNvSpPr/>
              <p:nvPr/>
            </p:nvSpPr>
            <p:spPr bwMode="auto">
              <a:xfrm>
                <a:off x="3591" y="3108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43" name="Line 143"/>
            <p:cNvSpPr>
              <a:spLocks noChangeShapeType="1"/>
            </p:cNvSpPr>
            <p:nvPr/>
          </p:nvSpPr>
          <p:spPr bwMode="auto">
            <a:xfrm flipH="1">
              <a:off x="1203" y="3042"/>
              <a:ext cx="242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44" name="Line 144"/>
            <p:cNvSpPr>
              <a:spLocks noChangeShapeType="1"/>
            </p:cNvSpPr>
            <p:nvPr/>
          </p:nvSpPr>
          <p:spPr bwMode="auto">
            <a:xfrm>
              <a:off x="1203" y="2844"/>
              <a:ext cx="1" cy="18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45" name="Line 145"/>
            <p:cNvSpPr>
              <a:spLocks noChangeShapeType="1"/>
            </p:cNvSpPr>
            <p:nvPr/>
          </p:nvSpPr>
          <p:spPr bwMode="auto">
            <a:xfrm>
              <a:off x="2925" y="2976"/>
              <a:ext cx="109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646" name="Group 148"/>
            <p:cNvGrpSpPr/>
            <p:nvPr/>
          </p:nvGrpSpPr>
          <p:grpSpPr bwMode="auto">
            <a:xfrm>
              <a:off x="2886" y="2976"/>
              <a:ext cx="69" cy="652"/>
              <a:chOff x="2886" y="2976"/>
              <a:chExt cx="69" cy="652"/>
            </a:xfrm>
          </p:grpSpPr>
          <p:sp>
            <p:nvSpPr>
              <p:cNvPr id="151675" name="Line 146"/>
              <p:cNvSpPr>
                <a:spLocks noChangeShapeType="1"/>
              </p:cNvSpPr>
              <p:nvPr/>
            </p:nvSpPr>
            <p:spPr bwMode="auto">
              <a:xfrm flipV="1">
                <a:off x="2925" y="2976"/>
                <a:ext cx="1" cy="61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76" name="Freeform 147"/>
              <p:cNvSpPr/>
              <p:nvPr/>
            </p:nvSpPr>
            <p:spPr bwMode="auto">
              <a:xfrm>
                <a:off x="2886" y="3572"/>
                <a:ext cx="69" cy="56"/>
              </a:xfrm>
              <a:custGeom>
                <a:avLst/>
                <a:gdLst>
                  <a:gd name="T0" fmla="*/ 0 w 69"/>
                  <a:gd name="T1" fmla="*/ 0 h 56"/>
                  <a:gd name="T2" fmla="*/ 39 w 69"/>
                  <a:gd name="T3" fmla="*/ 56 h 56"/>
                  <a:gd name="T4" fmla="*/ 69 w 69"/>
                  <a:gd name="T5" fmla="*/ 0 h 56"/>
                  <a:gd name="T6" fmla="*/ 0 w 6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6"/>
                  <a:gd name="T14" fmla="*/ 69 w 6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6">
                    <a:moveTo>
                      <a:pt x="0" y="0"/>
                    </a:moveTo>
                    <a:lnTo>
                      <a:pt x="39" y="56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47" name="Line 149"/>
            <p:cNvSpPr>
              <a:spLocks noChangeShapeType="1"/>
            </p:cNvSpPr>
            <p:nvPr/>
          </p:nvSpPr>
          <p:spPr bwMode="auto">
            <a:xfrm>
              <a:off x="1516" y="1303"/>
              <a:ext cx="31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48" name="Line 150"/>
            <p:cNvSpPr>
              <a:spLocks noChangeShapeType="1"/>
            </p:cNvSpPr>
            <p:nvPr/>
          </p:nvSpPr>
          <p:spPr bwMode="auto">
            <a:xfrm>
              <a:off x="1986" y="1303"/>
              <a:ext cx="31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49" name="Line 151"/>
            <p:cNvSpPr>
              <a:spLocks noChangeShapeType="1"/>
            </p:cNvSpPr>
            <p:nvPr/>
          </p:nvSpPr>
          <p:spPr bwMode="auto">
            <a:xfrm>
              <a:off x="1829" y="1303"/>
              <a:ext cx="78" cy="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50" name="Line 152"/>
            <p:cNvSpPr>
              <a:spLocks noChangeShapeType="1"/>
            </p:cNvSpPr>
            <p:nvPr/>
          </p:nvSpPr>
          <p:spPr bwMode="auto">
            <a:xfrm flipH="1">
              <a:off x="1907" y="1303"/>
              <a:ext cx="79" cy="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51" name="Line 153"/>
            <p:cNvSpPr>
              <a:spLocks noChangeShapeType="1"/>
            </p:cNvSpPr>
            <p:nvPr/>
          </p:nvSpPr>
          <p:spPr bwMode="auto">
            <a:xfrm>
              <a:off x="1516" y="1303"/>
              <a:ext cx="156" cy="3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52" name="Line 154"/>
            <p:cNvSpPr>
              <a:spLocks noChangeShapeType="1"/>
            </p:cNvSpPr>
            <p:nvPr/>
          </p:nvSpPr>
          <p:spPr bwMode="auto">
            <a:xfrm flipH="1">
              <a:off x="2142" y="1303"/>
              <a:ext cx="157" cy="3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53" name="Line 155"/>
            <p:cNvSpPr>
              <a:spLocks noChangeShapeType="1"/>
            </p:cNvSpPr>
            <p:nvPr/>
          </p:nvSpPr>
          <p:spPr bwMode="auto">
            <a:xfrm>
              <a:off x="1672" y="1634"/>
              <a:ext cx="47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grpSp>
          <p:nvGrpSpPr>
            <p:cNvPr id="151654" name="Group 178"/>
            <p:cNvGrpSpPr/>
            <p:nvPr/>
          </p:nvGrpSpPr>
          <p:grpSpPr bwMode="auto">
            <a:xfrm>
              <a:off x="3395" y="2097"/>
              <a:ext cx="1253" cy="398"/>
              <a:chOff x="3395" y="2097"/>
              <a:chExt cx="1253" cy="398"/>
            </a:xfrm>
          </p:grpSpPr>
          <p:sp>
            <p:nvSpPr>
              <p:cNvPr id="151668" name="Line 156"/>
              <p:cNvSpPr>
                <a:spLocks noChangeShapeType="1"/>
              </p:cNvSpPr>
              <p:nvPr/>
            </p:nvSpPr>
            <p:spPr bwMode="auto">
              <a:xfrm>
                <a:off x="3395" y="2097"/>
                <a:ext cx="549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69" name="Line 157"/>
              <p:cNvSpPr>
                <a:spLocks noChangeShapeType="1"/>
              </p:cNvSpPr>
              <p:nvPr/>
            </p:nvSpPr>
            <p:spPr bwMode="auto">
              <a:xfrm>
                <a:off x="4100" y="2097"/>
                <a:ext cx="548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70" name="Line 158"/>
              <p:cNvSpPr>
                <a:spLocks noChangeShapeType="1"/>
              </p:cNvSpPr>
              <p:nvPr/>
            </p:nvSpPr>
            <p:spPr bwMode="auto">
              <a:xfrm>
                <a:off x="3944" y="2097"/>
                <a:ext cx="78" cy="66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71" name="Line 159"/>
              <p:cNvSpPr>
                <a:spLocks noChangeShapeType="1"/>
              </p:cNvSpPr>
              <p:nvPr/>
            </p:nvSpPr>
            <p:spPr bwMode="auto">
              <a:xfrm flipH="1">
                <a:off x="4022" y="2097"/>
                <a:ext cx="78" cy="66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72" name="Line 160"/>
              <p:cNvSpPr>
                <a:spLocks noChangeShapeType="1"/>
              </p:cNvSpPr>
              <p:nvPr/>
            </p:nvSpPr>
            <p:spPr bwMode="auto">
              <a:xfrm>
                <a:off x="3395" y="2097"/>
                <a:ext cx="235" cy="39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73" name="Line 161"/>
              <p:cNvSpPr>
                <a:spLocks noChangeShapeType="1"/>
              </p:cNvSpPr>
              <p:nvPr/>
            </p:nvSpPr>
            <p:spPr bwMode="auto">
              <a:xfrm flipH="1">
                <a:off x="4413" y="2097"/>
                <a:ext cx="235" cy="39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  <p:sp>
            <p:nvSpPr>
              <p:cNvPr id="151674" name="Line 162"/>
              <p:cNvSpPr>
                <a:spLocks noChangeShapeType="1"/>
              </p:cNvSpPr>
              <p:nvPr/>
            </p:nvSpPr>
            <p:spPr bwMode="auto">
              <a:xfrm>
                <a:off x="3630" y="2494"/>
                <a:ext cx="78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srgbClr val="000000"/>
                  </a:solidFill>
                  <a:latin typeface="Tahoma" panose="020B0604030504040204"/>
                </a:endParaRPr>
              </a:p>
            </p:txBody>
          </p:sp>
        </p:grpSp>
        <p:sp>
          <p:nvSpPr>
            <p:cNvPr id="151655" name="Rectangle 163"/>
            <p:cNvSpPr>
              <a:spLocks noChangeArrowheads="1"/>
            </p:cNvSpPr>
            <p:nvPr/>
          </p:nvSpPr>
          <p:spPr bwMode="auto">
            <a:xfrm>
              <a:off x="811" y="2163"/>
              <a:ext cx="715" cy="274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56" name="Rectangle 164"/>
            <p:cNvSpPr>
              <a:spLocks noChangeArrowheads="1"/>
            </p:cNvSpPr>
            <p:nvPr/>
          </p:nvSpPr>
          <p:spPr bwMode="auto">
            <a:xfrm>
              <a:off x="3591" y="1246"/>
              <a:ext cx="16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57" name="Rectangle 165"/>
            <p:cNvSpPr>
              <a:spLocks noChangeArrowheads="1"/>
            </p:cNvSpPr>
            <p:nvPr/>
          </p:nvSpPr>
          <p:spPr bwMode="auto">
            <a:xfrm>
              <a:off x="3601" y="132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58" name="Rectangle 166"/>
            <p:cNvSpPr>
              <a:spLocks noChangeArrowheads="1"/>
            </p:cNvSpPr>
            <p:nvPr/>
          </p:nvSpPr>
          <p:spPr bwMode="auto">
            <a:xfrm>
              <a:off x="4531" y="1246"/>
              <a:ext cx="166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59" name="Rectangle 167"/>
            <p:cNvSpPr>
              <a:spLocks noChangeArrowheads="1"/>
            </p:cNvSpPr>
            <p:nvPr/>
          </p:nvSpPr>
          <p:spPr bwMode="auto">
            <a:xfrm>
              <a:off x="4541" y="132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60" name="Rectangle 168"/>
            <p:cNvSpPr>
              <a:spLocks noChangeArrowheads="1"/>
            </p:cNvSpPr>
            <p:nvPr/>
          </p:nvSpPr>
          <p:spPr bwMode="auto">
            <a:xfrm>
              <a:off x="1320" y="2097"/>
              <a:ext cx="166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61" name="Rectangle 169"/>
            <p:cNvSpPr>
              <a:spLocks noChangeArrowheads="1"/>
            </p:cNvSpPr>
            <p:nvPr/>
          </p:nvSpPr>
          <p:spPr bwMode="auto">
            <a:xfrm>
              <a:off x="1330" y="217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62" name="Rectangle 170"/>
            <p:cNvSpPr>
              <a:spLocks noChangeArrowheads="1"/>
            </p:cNvSpPr>
            <p:nvPr/>
          </p:nvSpPr>
          <p:spPr bwMode="auto">
            <a:xfrm>
              <a:off x="3278" y="1246"/>
              <a:ext cx="166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63" name="Rectangle 171"/>
            <p:cNvSpPr>
              <a:spLocks noChangeArrowheads="1"/>
            </p:cNvSpPr>
            <p:nvPr/>
          </p:nvSpPr>
          <p:spPr bwMode="auto">
            <a:xfrm>
              <a:off x="3288" y="132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64" name="Rectangle 172"/>
            <p:cNvSpPr>
              <a:spLocks noChangeArrowheads="1"/>
            </p:cNvSpPr>
            <p:nvPr/>
          </p:nvSpPr>
          <p:spPr bwMode="auto">
            <a:xfrm>
              <a:off x="4218" y="1246"/>
              <a:ext cx="166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65" name="Rectangle 173"/>
            <p:cNvSpPr>
              <a:spLocks noChangeArrowheads="1"/>
            </p:cNvSpPr>
            <p:nvPr/>
          </p:nvSpPr>
          <p:spPr bwMode="auto">
            <a:xfrm>
              <a:off x="4227" y="132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66" name="Rectangle 174"/>
            <p:cNvSpPr>
              <a:spLocks noChangeArrowheads="1"/>
            </p:cNvSpPr>
            <p:nvPr/>
          </p:nvSpPr>
          <p:spPr bwMode="auto">
            <a:xfrm>
              <a:off x="928" y="2097"/>
              <a:ext cx="16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  <p:sp>
          <p:nvSpPr>
            <p:cNvPr id="151667" name="Rectangle 175"/>
            <p:cNvSpPr>
              <a:spLocks noChangeArrowheads="1"/>
            </p:cNvSpPr>
            <p:nvPr/>
          </p:nvSpPr>
          <p:spPr bwMode="auto">
            <a:xfrm>
              <a:off x="938" y="216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>
                <a:solidFill>
                  <a:srgbClr val="000000"/>
                </a:solidFill>
                <a:latin typeface="Tahoma" panose="020B060403050404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ChangeArrowheads="1"/>
          </p:cNvSpPr>
          <p:nvPr/>
        </p:nvSpPr>
        <p:spPr bwMode="auto">
          <a:xfrm>
            <a:off x="228600" y="304800"/>
            <a:ext cx="57245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36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浮点乘、除法运算</a:t>
            </a:r>
            <a:endParaRPr lang="zh-CN" altLang="en-US" sz="36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2579" name="Text Box 5"/>
          <p:cNvSpPr txBox="1">
            <a:spLocks noChangeArrowheads="1"/>
          </p:cNvSpPr>
          <p:nvPr/>
        </p:nvSpPr>
        <p:spPr bwMode="auto">
          <a:xfrm>
            <a:off x="152400" y="914400"/>
            <a:ext cx="650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32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1.</a:t>
            </a:r>
            <a:r>
              <a:rPr lang="zh-CN" altLang="en-US" sz="320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浮点乘法、除法运算规则</a:t>
            </a:r>
            <a:endParaRPr lang="zh-CN" altLang="en-US" sz="3200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2580" name="Text Box 6"/>
          <p:cNvSpPr txBox="1">
            <a:spLocks noChangeArrowheads="1"/>
          </p:cNvSpPr>
          <p:nvPr/>
        </p:nvSpPr>
        <p:spPr bwMode="auto">
          <a:xfrm>
            <a:off x="304800" y="1524000"/>
            <a:ext cx="8458200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设有两个浮点数ｘ和ｙ：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ｘ＝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Ex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·M</a:t>
            </a:r>
            <a:r>
              <a:rPr lang="en-US" altLang="zh-CN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b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</a:b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　　　　                                 ｙ＝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Ey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·M</a:t>
            </a:r>
            <a:r>
              <a:rPr lang="en-US" altLang="zh-CN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y</a:t>
            </a:r>
            <a:endParaRPr lang="en-US" altLang="zh-CN" baseline="-250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浮点乘法运算的规则是：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</a:rPr>
              <a:t>     ｘ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</a:rPr>
              <a:t>ｙ＝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6600FF"/>
                </a:solidFill>
                <a:latin typeface="Times New Roman" panose="02020603050405020304" pitchFamily="18" charset="0"/>
              </a:rPr>
              <a:t>(Ex+ Ey) 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· (M</a:t>
            </a:r>
            <a:r>
              <a:rPr lang="en-US" altLang="zh-CN" baseline="-30000">
                <a:solidFill>
                  <a:srgbClr val="66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baseline="-30000">
                <a:solidFill>
                  <a:srgbClr val="6600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即：  乘积的尾数是相乘两数的尾数之积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6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乘积的阶码是相乘两数的阶码之和。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浮点除法运算的规则是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÷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</a:rPr>
              <a:t>ｙ＝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6600FF"/>
                </a:solidFill>
                <a:latin typeface="Times New Roman" panose="02020603050405020304" pitchFamily="18" charset="0"/>
              </a:rPr>
              <a:t>(Ex</a:t>
            </a:r>
            <a:r>
              <a:rPr lang="zh-CN" altLang="en-US" baseline="30000">
                <a:solidFill>
                  <a:srgbClr val="6600FF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aseline="30000">
                <a:solidFill>
                  <a:srgbClr val="6600FF"/>
                </a:solidFill>
                <a:latin typeface="Times New Roman" panose="02020603050405020304" pitchFamily="18" charset="0"/>
              </a:rPr>
              <a:t>Ey) 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· (M</a:t>
            </a:r>
            <a:r>
              <a:rPr lang="en-US" altLang="zh-CN" baseline="-30000">
                <a:solidFill>
                  <a:srgbClr val="66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÷M</a:t>
            </a:r>
            <a:r>
              <a:rPr lang="en-US" altLang="zh-CN" baseline="-30000">
                <a:solidFill>
                  <a:srgbClr val="6600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即：商的尾数是相除两数的尾数之商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6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商的阶码是相除两数的阶码之差。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2"/>
          <p:cNvSpPr txBox="1">
            <a:spLocks noChangeArrowheads="1"/>
          </p:cNvSpPr>
          <p:nvPr/>
        </p:nvSpPr>
        <p:spPr bwMode="auto">
          <a:xfrm>
            <a:off x="274638" y="688975"/>
            <a:ext cx="556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3200">
                <a:solidFill>
                  <a:srgbClr val="0000FF"/>
                </a:solidFill>
                <a:latin typeface="宋体" panose="02010600030101010101" pitchFamily="2" charset="-122"/>
              </a:rPr>
              <a:t>2. </a:t>
            </a:r>
            <a:r>
              <a:rPr lang="zh-CN" altLang="en-US" sz="3200">
                <a:solidFill>
                  <a:srgbClr val="0000FF"/>
                </a:solidFill>
                <a:latin typeface="宋体" panose="02010600030101010101" pitchFamily="2" charset="-122"/>
              </a:rPr>
              <a:t>浮点乘、除法运算步骤</a:t>
            </a:r>
            <a:endParaRPr lang="zh-CN" altLang="en-US" sz="320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419100" y="1460500"/>
            <a:ext cx="68961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浮点数的乘除运算大体分为四步：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(1)  0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操作数检查；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(2)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阶码加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减操作；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尾数乘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除操作；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结果规格化及舍入处理。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5"/>
          <p:cNvSpPr txBox="1">
            <a:spLocks noChangeArrowheads="1"/>
          </p:cNvSpPr>
          <p:nvPr/>
        </p:nvSpPr>
        <p:spPr bwMode="auto">
          <a:xfrm>
            <a:off x="381000" y="457200"/>
            <a:ext cx="4073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浮点数的阶码运算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627" name="Text Box 6"/>
          <p:cNvSpPr txBox="1">
            <a:spLocks noChangeArrowheads="1"/>
          </p:cNvSpPr>
          <p:nvPr/>
        </p:nvSpPr>
        <p:spPr bwMode="auto">
          <a:xfrm>
            <a:off x="279400" y="1114425"/>
            <a:ext cx="854075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对阶码的运算有＋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、－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、两阶码求和、两阶码求差四种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运算时还必须检查结果是否溢出。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在计算机中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阶码通常用补码或移码形式表示。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628" name="Text Box 7"/>
          <p:cNvSpPr txBox="1">
            <a:spLocks noChangeArrowheads="1"/>
          </p:cNvSpPr>
          <p:nvPr/>
        </p:nvSpPr>
        <p:spPr bwMode="auto">
          <a:xfrm>
            <a:off x="379413" y="2339975"/>
            <a:ext cx="783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66FF"/>
                </a:solidFill>
                <a:latin typeface="宋体" panose="02010600030101010101" pitchFamily="2" charset="-122"/>
              </a:rPr>
              <a:t>①</a:t>
            </a:r>
            <a:r>
              <a:rPr lang="zh-CN" altLang="en-US">
                <a:solidFill>
                  <a:srgbClr val="0066FF"/>
                </a:solidFill>
                <a:latin typeface="宋体" panose="02010600030101010101" pitchFamily="2" charset="-122"/>
              </a:rPr>
              <a:t>移码的运算规则和判定溢出的方法</a:t>
            </a:r>
            <a:endParaRPr lang="zh-CN" altLang="en-US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  <p:sp>
        <p:nvSpPr>
          <p:cNvPr id="154629" name="Text Box 8"/>
          <p:cNvSpPr txBox="1">
            <a:spLocks noChangeArrowheads="1"/>
          </p:cNvSpPr>
          <p:nvPr/>
        </p:nvSpPr>
        <p:spPr bwMode="auto">
          <a:xfrm>
            <a:off x="423863" y="2982913"/>
            <a:ext cx="826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移码的定义为      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移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ｘ　　　 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- 2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x &lt;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630" name="Rectangle 9"/>
          <p:cNvSpPr>
            <a:spLocks noChangeArrowheads="1"/>
          </p:cNvSpPr>
          <p:nvPr/>
        </p:nvSpPr>
        <p:spPr bwMode="auto">
          <a:xfrm>
            <a:off x="2830513" y="3578225"/>
            <a:ext cx="3694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 [y]</a:t>
            </a:r>
            <a:r>
              <a:rPr lang="zh-CN" altLang="en-US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移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ｙ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631" name="Rectangle 10"/>
          <p:cNvSpPr>
            <a:spLocks noChangeArrowheads="1"/>
          </p:cNvSpPr>
          <p:nvPr/>
        </p:nvSpPr>
        <p:spPr bwMode="auto">
          <a:xfrm>
            <a:off x="4214813" y="4632325"/>
            <a:ext cx="2116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+[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移</a:t>
            </a:r>
            <a:endParaRPr lang="zh-CN" altLang="en-US" baseline="-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632" name="Rectangle 11"/>
          <p:cNvSpPr>
            <a:spLocks noChangeArrowheads="1"/>
          </p:cNvSpPr>
          <p:nvPr/>
        </p:nvSpPr>
        <p:spPr bwMode="auto">
          <a:xfrm>
            <a:off x="406400" y="3598863"/>
            <a:ext cx="2251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按此定义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则有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633" name="Text Box 12"/>
          <p:cNvSpPr txBox="1">
            <a:spLocks noChangeArrowheads="1"/>
          </p:cNvSpPr>
          <p:nvPr/>
        </p:nvSpPr>
        <p:spPr bwMode="auto">
          <a:xfrm>
            <a:off x="4208463" y="4094163"/>
            <a:ext cx="2932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+(2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+(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))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634" name="Text Box 13"/>
          <p:cNvSpPr txBox="1">
            <a:spLocks noChangeArrowheads="1"/>
          </p:cNvSpPr>
          <p:nvPr/>
        </p:nvSpPr>
        <p:spPr bwMode="auto">
          <a:xfrm>
            <a:off x="2724150" y="5189538"/>
            <a:ext cx="4667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移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 [x]</a:t>
            </a:r>
            <a:r>
              <a:rPr lang="zh-CN" altLang="en-US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移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 [y]</a:t>
            </a:r>
            <a:r>
              <a:rPr lang="zh-CN" altLang="en-US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移</a:t>
            </a:r>
            <a:endParaRPr lang="zh-CN" altLang="en-US" baseline="-25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5"/>
          <p:cNvSpPr txBox="1">
            <a:spLocks noChangeArrowheads="1"/>
          </p:cNvSpPr>
          <p:nvPr/>
        </p:nvSpPr>
        <p:spPr bwMode="auto">
          <a:xfrm>
            <a:off x="241300" y="1174750"/>
            <a:ext cx="8669338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考虑到移码和补码的关系：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5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对同一个数值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其数值位完全相同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而符号位正好完全相反。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[y]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的定义为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[y]</a:t>
            </a:r>
            <a:r>
              <a:rPr lang="zh-CN" altLang="en-US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n+1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ｙ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  则求阶码和用如下方式完成：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　　　　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51" name="Rectangle 6"/>
          <p:cNvSpPr>
            <a:spLocks noChangeArrowheads="1"/>
          </p:cNvSpPr>
          <p:nvPr/>
        </p:nvSpPr>
        <p:spPr bwMode="auto">
          <a:xfrm>
            <a:off x="3635375" y="3721100"/>
            <a:ext cx="2897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n+1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 (2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+(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))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52" name="Rectangle 7"/>
          <p:cNvSpPr>
            <a:spLocks noChangeArrowheads="1"/>
          </p:cNvSpPr>
          <p:nvPr/>
        </p:nvSpPr>
        <p:spPr bwMode="auto">
          <a:xfrm>
            <a:off x="2097088" y="3087688"/>
            <a:ext cx="383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+[y]</a:t>
            </a:r>
            <a:r>
              <a:rPr lang="zh-CN" altLang="en-US" baseline="-30000">
                <a:solidFill>
                  <a:srgbClr val="0000FF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 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+ 2</a:t>
            </a:r>
            <a:r>
              <a:rPr lang="en-US" altLang="zh-CN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n+1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ｙ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53" name="Text Box 8"/>
          <p:cNvSpPr txBox="1">
            <a:spLocks noChangeArrowheads="1"/>
          </p:cNvSpPr>
          <p:nvPr/>
        </p:nvSpPr>
        <p:spPr bwMode="auto">
          <a:xfrm>
            <a:off x="585788" y="4200525"/>
            <a:ext cx="820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即：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54" name="Text Box 9"/>
          <p:cNvSpPr txBox="1">
            <a:spLocks noChangeArrowheads="1"/>
          </p:cNvSpPr>
          <p:nvPr/>
        </p:nvSpPr>
        <p:spPr bwMode="auto">
          <a:xfrm>
            <a:off x="1963738" y="4278313"/>
            <a:ext cx="5792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[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6600FF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= [x]</a:t>
            </a:r>
            <a:r>
              <a:rPr lang="zh-CN" altLang="en-US" baseline="-30000">
                <a:solidFill>
                  <a:srgbClr val="6600FF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+[y]</a:t>
            </a:r>
            <a:r>
              <a:rPr lang="zh-CN" altLang="en-US" baseline="-30000">
                <a:solidFill>
                  <a:srgbClr val="6600FF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</a:rPr>
              <a:t>　　      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(mod 2</a:t>
            </a:r>
            <a:r>
              <a:rPr lang="en-US" altLang="zh-CN" baseline="30000">
                <a:solidFill>
                  <a:srgbClr val="6600FF"/>
                </a:solidFill>
                <a:latin typeface="Times New Roman" panose="02020603050405020304" pitchFamily="18" charset="0"/>
              </a:rPr>
              <a:t>n+1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66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55" name="Text Box 10"/>
          <p:cNvSpPr txBox="1">
            <a:spLocks noChangeArrowheads="1"/>
          </p:cNvSpPr>
          <p:nvPr/>
        </p:nvSpPr>
        <p:spPr bwMode="auto">
          <a:xfrm>
            <a:off x="549275" y="4886325"/>
            <a:ext cx="1147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同理：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56" name="Text Box 11"/>
          <p:cNvSpPr txBox="1">
            <a:spLocks noChangeArrowheads="1"/>
          </p:cNvSpPr>
          <p:nvPr/>
        </p:nvSpPr>
        <p:spPr bwMode="auto">
          <a:xfrm>
            <a:off x="2005013" y="4953000"/>
            <a:ext cx="5983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[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>
                <a:solidFill>
                  <a:srgbClr val="66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6600FF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=  [x]</a:t>
            </a:r>
            <a:r>
              <a:rPr lang="zh-CN" altLang="en-US" baseline="-30000">
                <a:solidFill>
                  <a:srgbClr val="6600FF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+[</a:t>
            </a:r>
            <a:r>
              <a:rPr lang="en-US" altLang="zh-CN">
                <a:solidFill>
                  <a:srgbClr val="66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y]</a:t>
            </a:r>
            <a:r>
              <a:rPr lang="zh-CN" altLang="en-US" baseline="-30000">
                <a:solidFill>
                  <a:srgbClr val="6600FF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>
                <a:solidFill>
                  <a:srgbClr val="6600FF"/>
                </a:solidFill>
                <a:latin typeface="Times New Roman" panose="02020603050405020304" pitchFamily="18" charset="0"/>
              </a:rPr>
              <a:t>　　   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(mod 2</a:t>
            </a:r>
            <a:r>
              <a:rPr lang="en-US" altLang="zh-CN" baseline="30000">
                <a:solidFill>
                  <a:srgbClr val="6600FF"/>
                </a:solidFill>
                <a:latin typeface="Times New Roman" panose="02020603050405020304" pitchFamily="18" charset="0"/>
              </a:rPr>
              <a:t>n+1</a:t>
            </a:r>
            <a:r>
              <a:rPr lang="en-US" altLang="zh-CN">
                <a:solidFill>
                  <a:srgbClr val="6600FF"/>
                </a:solidFill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66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657" name="Rectangle 12"/>
          <p:cNvSpPr>
            <a:spLocks noChangeArrowheads="1"/>
          </p:cNvSpPr>
          <p:nvPr/>
        </p:nvSpPr>
        <p:spPr bwMode="auto">
          <a:xfrm>
            <a:off x="228600" y="381000"/>
            <a:ext cx="54879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66FF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400" dirty="0">
                <a:solidFill>
                  <a:srgbClr val="0066FF"/>
                </a:solidFill>
                <a:latin typeface="宋体" panose="02010600030101010101" pitchFamily="2" charset="-122"/>
              </a:rPr>
              <a:t>混合使用移码和补码</a:t>
            </a:r>
            <a:endParaRPr lang="zh-CN" altLang="en-US" sz="2400" dirty="0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ext Box 2"/>
          <p:cNvSpPr txBox="1">
            <a:spLocks noChangeArrowheads="1"/>
          </p:cNvSpPr>
          <p:nvPr/>
        </p:nvSpPr>
        <p:spPr bwMode="auto">
          <a:xfrm>
            <a:off x="287338" y="1211263"/>
            <a:ext cx="8634412" cy="3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使用双符号位的阶码加法器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并规定移码的第二个符号位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即最高符号位恒用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0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参加加减运算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则溢出条件是结果的最高符号位为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当低位符号位为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表明结果上溢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当低位符号位为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11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表明结果下溢。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5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当最高符号位为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表明没有溢出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低位符号位为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1,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01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表明结果为正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; 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5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0, 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00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）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表明结果为负。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228600" y="457200"/>
            <a:ext cx="591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66FF"/>
                </a:solidFill>
                <a:latin typeface="宋体" panose="02010600030101010101" pitchFamily="2" charset="-122"/>
              </a:rPr>
              <a:t>③ </a:t>
            </a:r>
            <a:r>
              <a:rPr lang="zh-CN" altLang="en-US" sz="2400" dirty="0">
                <a:solidFill>
                  <a:srgbClr val="0066FF"/>
                </a:solidFill>
                <a:latin typeface="宋体" panose="02010600030101010101" pitchFamily="2" charset="-122"/>
              </a:rPr>
              <a:t>阶码运算结果溢出处理</a:t>
            </a:r>
            <a:endParaRPr lang="zh-CN" altLang="en-US" sz="2400" dirty="0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4"/>
          <p:cNvSpPr txBox="1">
            <a:spLocks noChangeArrowheads="1"/>
          </p:cNvSpPr>
          <p:nvPr/>
        </p:nvSpPr>
        <p:spPr bwMode="auto">
          <a:xfrm>
            <a:off x="392113" y="533400"/>
            <a:ext cx="875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例：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</a:rPr>
              <a:t>ｘ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= +011,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= +110,  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</a:rPr>
              <a:t>求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[x+y]</a:t>
            </a:r>
            <a:r>
              <a:rPr lang="zh-CN" altLang="en-US" baseline="-30000">
                <a:solidFill>
                  <a:srgbClr val="0066FF"/>
                </a:solidFill>
                <a:latin typeface="Times New Roman" panose="02020603050405020304" pitchFamily="18" charset="0"/>
              </a:rPr>
              <a:t>移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</a:rPr>
              <a:t> 和 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[x-y]</a:t>
            </a:r>
            <a:r>
              <a:rPr lang="zh-CN" altLang="en-US" baseline="-30000">
                <a:solidFill>
                  <a:srgbClr val="0066FF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0066FF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66FF"/>
                </a:solidFill>
                <a:latin typeface="Times New Roman" panose="02020603050405020304" pitchFamily="18" charset="0"/>
              </a:rPr>
              <a:t>并判断是否溢出</a:t>
            </a:r>
            <a:r>
              <a:rPr lang="zh-CN" altLang="en-US">
                <a:solidFill>
                  <a:srgbClr val="FF00FF"/>
                </a:solidFill>
                <a:latin typeface="Times New Roman" panose="02020603050405020304" pitchFamily="18" charset="0"/>
              </a:rPr>
              <a:t>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7699" name="Text Box 5"/>
          <p:cNvSpPr txBox="1">
            <a:spLocks noChangeArrowheads="1"/>
          </p:cNvSpPr>
          <p:nvPr/>
        </p:nvSpPr>
        <p:spPr bwMode="auto">
          <a:xfrm>
            <a:off x="257175" y="1238250"/>
            <a:ext cx="875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解：阶码取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位（不含符号位），其对应的真值范围是 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-8~+7</a:t>
            </a:r>
            <a:endParaRPr lang="en-US" altLang="zh-CN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7700" name="Rectangle 6"/>
          <p:cNvSpPr>
            <a:spLocks noChangeArrowheads="1"/>
          </p:cNvSpPr>
          <p:nvPr/>
        </p:nvSpPr>
        <p:spPr bwMode="auto">
          <a:xfrm>
            <a:off x="1071563" y="1658938"/>
            <a:ext cx="6665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= 01 011,     [y]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= 00 110,       [-y]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=11 010</a:t>
            </a:r>
            <a:endParaRPr lang="en-US" altLang="zh-CN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7701" name="Rectangle 7"/>
          <p:cNvSpPr>
            <a:spLocks noChangeArrowheads="1"/>
          </p:cNvSpPr>
          <p:nvPr/>
        </p:nvSpPr>
        <p:spPr bwMode="auto">
          <a:xfrm>
            <a:off x="1068388" y="2166938"/>
            <a:ext cx="301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[x+y]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= [x]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+ [y]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=</a:t>
            </a:r>
            <a:endParaRPr lang="en-US" altLang="zh-CN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7702" name="Rectangle 8"/>
          <p:cNvSpPr>
            <a:spLocks noChangeArrowheads="1"/>
          </p:cNvSpPr>
          <p:nvPr/>
        </p:nvSpPr>
        <p:spPr bwMode="auto">
          <a:xfrm>
            <a:off x="1093788" y="3619500"/>
            <a:ext cx="2938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[x</a:t>
            </a:r>
            <a:r>
              <a:rPr lang="en-US" altLang="zh-CN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y]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= [x]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+ [-y]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=</a:t>
            </a:r>
            <a:endParaRPr lang="en-US" altLang="zh-CN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7703" name="Group 9"/>
          <p:cNvGrpSpPr/>
          <p:nvPr/>
        </p:nvGrpSpPr>
        <p:grpSpPr bwMode="auto">
          <a:xfrm>
            <a:off x="3825875" y="2192338"/>
            <a:ext cx="1649413" cy="1187450"/>
            <a:chOff x="4304" y="1266"/>
            <a:chExt cx="1039" cy="748"/>
          </a:xfrm>
        </p:grpSpPr>
        <p:sp>
          <p:nvSpPr>
            <p:cNvPr id="157709" name="Text Box 10"/>
            <p:cNvSpPr txBox="1">
              <a:spLocks noChangeArrowheads="1"/>
            </p:cNvSpPr>
            <p:nvPr/>
          </p:nvSpPr>
          <p:spPr bwMode="auto">
            <a:xfrm>
              <a:off x="4407" y="1266"/>
              <a:ext cx="912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   01 011</a:t>
              </a:r>
              <a:endParaRPr lang="en-US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fontAlgn="auto" hangingPunct="1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+ 00 110</a:t>
              </a:r>
              <a:endParaRPr lang="en-US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fontAlgn="auto" hangingPunct="1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   10 001</a:t>
              </a:r>
              <a:endParaRPr lang="en-US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7710" name="Line 11"/>
            <p:cNvSpPr>
              <a:spLocks noChangeShapeType="1"/>
            </p:cNvSpPr>
            <p:nvPr/>
          </p:nvSpPr>
          <p:spPr bwMode="auto">
            <a:xfrm>
              <a:off x="4304" y="1768"/>
              <a:ext cx="10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</p:grpSp>
      <p:sp>
        <p:nvSpPr>
          <p:cNvPr id="157704" name="Rectangle 12"/>
          <p:cNvSpPr>
            <a:spLocks noChangeArrowheads="1"/>
          </p:cNvSpPr>
          <p:nvPr/>
        </p:nvSpPr>
        <p:spPr bwMode="auto">
          <a:xfrm>
            <a:off x="6210300" y="2760663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结果上溢。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7705" name="Rectangle 13"/>
          <p:cNvSpPr>
            <a:spLocks noChangeArrowheads="1"/>
          </p:cNvSpPr>
          <p:nvPr/>
        </p:nvSpPr>
        <p:spPr bwMode="auto">
          <a:xfrm>
            <a:off x="5964238" y="4324350"/>
            <a:ext cx="2546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结果正确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。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7706" name="Group 14"/>
          <p:cNvGrpSpPr/>
          <p:nvPr/>
        </p:nvGrpSpPr>
        <p:grpSpPr bwMode="auto">
          <a:xfrm>
            <a:off x="3879850" y="3594100"/>
            <a:ext cx="1649413" cy="1187450"/>
            <a:chOff x="4304" y="1266"/>
            <a:chExt cx="1039" cy="748"/>
          </a:xfrm>
        </p:grpSpPr>
        <p:sp>
          <p:nvSpPr>
            <p:cNvPr id="157707" name="Text Box 15"/>
            <p:cNvSpPr txBox="1">
              <a:spLocks noChangeArrowheads="1"/>
            </p:cNvSpPr>
            <p:nvPr/>
          </p:nvSpPr>
          <p:spPr bwMode="auto">
            <a:xfrm>
              <a:off x="4407" y="1266"/>
              <a:ext cx="912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   01 011</a:t>
              </a:r>
              <a:endParaRPr lang="en-US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fontAlgn="auto" hangingPunct="1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+ 11 010</a:t>
              </a:r>
              <a:endParaRPr lang="en-US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eaLnBrk="1" fontAlgn="auto" hangingPunct="1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</a:pPr>
              <a:r>
                <a:rPr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   00 101</a:t>
              </a:r>
              <a:endParaRPr lang="en-US" altLang="zh-CN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7708" name="Line 16"/>
            <p:cNvSpPr>
              <a:spLocks noChangeShapeType="1"/>
            </p:cNvSpPr>
            <p:nvPr/>
          </p:nvSpPr>
          <p:spPr bwMode="auto">
            <a:xfrm>
              <a:off x="4304" y="1768"/>
              <a:ext cx="10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srgbClr val="000000"/>
                </a:solidFill>
                <a:latin typeface="Tahoma" panose="020B060403050404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190500" y="666750"/>
            <a:ext cx="3228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尾数处理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190500" y="1063625"/>
            <a:ext cx="8751888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浮点加减法对结果的规格化及舍入处理也适用于浮点乘除法。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第一种方法是：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无条件地丢掉正常尾数最低位之后的全部数值。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这种办法被称为截断处理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好处是处理简单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缺点是影响结果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5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的精度。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第二种办法是：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运算过程中保留右移中移出的若干高位的值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最后再按某种规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6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则用这些位上的值修正尾数。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这种处理方法被称为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舍入处理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638175" y="1404938"/>
            <a:ext cx="789622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当尾数用原码表示时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最简便的方法是，只要尾数的最低位为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1,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或移出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的几位中有为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的数值位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就使最低位的值为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     另一种是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舍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入法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即当丢失的最高位的值为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把这个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加到最低数值位上进行修正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否则舍去丢失的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的各位的值。这样处理时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舍入效果对正数负数相同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入将使数的绝对值变大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舍则使数的绝对值变小。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285750" y="733425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舍入处理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ext Box 2"/>
          <p:cNvSpPr txBox="1">
            <a:spLocks noChangeArrowheads="1"/>
          </p:cNvSpPr>
          <p:nvPr/>
        </p:nvSpPr>
        <p:spPr bwMode="auto">
          <a:xfrm>
            <a:off x="301625" y="428625"/>
            <a:ext cx="8613775" cy="5130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当尾数是用补码表示时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采用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入法时，若丢失的位不全为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时：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对正数来说，舍入的结果与原码分析相同；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         对负数来说，舍入的结果与原码分析相反，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即“舍”使绝对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值变大，“入”使绝对值变小；为使原、补码舍入处理后的结果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相同，对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负数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可采用如下规则进行舍入处理：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80"/>
                </a:solidFill>
                <a:latin typeface="Times New Roman" panose="02020603050405020304" pitchFamily="18" charset="0"/>
              </a:rPr>
              <a:t>　   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当丢失的各位均为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不必舍入；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　     当丢失的最高位为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0 ,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以下各位不全为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0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或者丢失的最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高位为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1,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以下各位均为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则舍去丢失位上的值；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　    当丢失的最高位为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1,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以下各位不全为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0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则执行在尾数最低位入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的修正操作。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 Box 2"/>
          <p:cNvSpPr txBox="1">
            <a:spLocks noChangeArrowheads="1"/>
          </p:cNvSpPr>
          <p:nvPr/>
        </p:nvSpPr>
        <p:spPr bwMode="auto">
          <a:xfrm>
            <a:off x="177800" y="695325"/>
            <a:ext cx="87630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设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11.01100000,  [x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11.01100001,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     [x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11.01101000,  [x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11.01111001,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求执行只保留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小数点后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位有效数字的舍入操作值。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795" name="Text Box 3"/>
          <p:cNvSpPr txBox="1">
            <a:spLocks noChangeArrowheads="1"/>
          </p:cNvSpPr>
          <p:nvPr/>
        </p:nvSpPr>
        <p:spPr bwMode="auto">
          <a:xfrm>
            <a:off x="344488" y="2071688"/>
            <a:ext cx="84201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lnSpc>
                <a:spcPct val="20000"/>
              </a:lnSpc>
              <a:spcBef>
                <a:spcPct val="50000"/>
              </a:spcBef>
              <a:spcAft>
                <a:spcPts val="0"/>
              </a:spcAft>
            </a:pP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55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执行舍入操作后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其结果值分别为</a:t>
            </a:r>
            <a:b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</a:b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　　　　　　　　　　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　　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[x</a:t>
            </a:r>
            <a:r>
              <a:rPr lang="en-US" altLang="zh-CN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11.0110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　   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不舍不入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　    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[x</a:t>
            </a:r>
            <a:r>
              <a:rPr lang="en-US" altLang="zh-CN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11.0110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　   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舍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)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　　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[x</a:t>
            </a:r>
            <a:r>
              <a:rPr lang="en-US" altLang="zh-CN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11.0110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　   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舍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　　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[x</a:t>
            </a:r>
            <a:r>
              <a:rPr lang="en-US" altLang="zh-CN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333399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11.1000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　    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入</a:t>
            </a:r>
            <a:r>
              <a:rPr lang="en-US" altLang="zh-CN">
                <a:solidFill>
                  <a:srgbClr val="333399"/>
                </a:solidFill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Text Box 2"/>
          <p:cNvSpPr txBox="1">
            <a:spLocks noChangeArrowheads="1"/>
          </p:cNvSpPr>
          <p:nvPr/>
        </p:nvSpPr>
        <p:spPr bwMode="auto">
          <a:xfrm>
            <a:off x="368300" y="381000"/>
            <a:ext cx="8547100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lnSpc>
                <a:spcPct val="115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设有浮点数ｘ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=2</a:t>
            </a:r>
            <a:r>
              <a:rPr lang="zh-CN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5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0.0110011,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2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0.1110010),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阶码用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位移码表示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尾数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含符号位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用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位补码表示。求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ｘ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浮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。要求用补码完成尾数乘法运算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运算结果尾数保留高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含符号位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并用尾数低位字长值处理舍入操作。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2819" name="Text Box 6"/>
          <p:cNvSpPr txBox="1">
            <a:spLocks noChangeArrowheads="1"/>
          </p:cNvSpPr>
          <p:nvPr/>
        </p:nvSpPr>
        <p:spPr bwMode="auto">
          <a:xfrm>
            <a:off x="219075" y="2501900"/>
            <a:ext cx="8747125" cy="261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>
                <a:solidFill>
                  <a:srgbClr val="333399"/>
                </a:solidFill>
                <a:latin typeface="Times New Roman" panose="02020603050405020304" pitchFamily="18" charset="0"/>
              </a:rPr>
              <a:t>　 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移码采用双符号位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尾数补码采用单符号位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则有</a:t>
            </a:r>
            <a:b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</a:b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　　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[M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0.0110011,    [M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1.0001110,</a:t>
            </a:r>
            <a:b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E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00 011,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[E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移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01 011,    [E</a:t>
            </a:r>
            <a:r>
              <a:rPr lang="en-US" altLang="zh-CN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00 011, 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　  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[x]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浮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00 011, 0.0110011,    [y]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浮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01 011, 1.0001110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393700" y="2494980"/>
            <a:ext cx="69215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尾数乘法运算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9900FF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可采用补码阵列乘法器实现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即有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393700" y="736600"/>
            <a:ext cx="18517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求阶码和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711200" y="1282700"/>
            <a:ext cx="72771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[E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+ E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[E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移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+ [E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00 011+ 00 011= 00 110,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值为移码形式</a:t>
            </a:r>
            <a:r>
              <a:rPr lang="en-US" altLang="zh-CN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5" name="Text Box 5"/>
          <p:cNvSpPr txBox="1">
            <a:spLocks noChangeArrowheads="1"/>
          </p:cNvSpPr>
          <p:nvPr/>
        </p:nvSpPr>
        <p:spPr bwMode="auto">
          <a:xfrm>
            <a:off x="977900" y="375920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[M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[M</a:t>
            </a:r>
            <a:r>
              <a:rPr lang="en-US" altLang="zh-CN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= [0.0110011]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[1.0001110]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endParaRPr lang="zh-CN" altLang="en-US" baseline="-30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46" name="Rectangle 6"/>
          <p:cNvSpPr>
            <a:spLocks noChangeArrowheads="1"/>
          </p:cNvSpPr>
          <p:nvPr/>
        </p:nvSpPr>
        <p:spPr bwMode="auto">
          <a:xfrm>
            <a:off x="3284538" y="4495800"/>
            <a:ext cx="3307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= [1.1010010,1001010]</a:t>
            </a:r>
            <a:r>
              <a:rPr lang="zh-CN" altLang="en-US" sz="2400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补</a:t>
            </a:r>
            <a:endParaRPr lang="zh-CN" altLang="en-US" sz="2400" baseline="-30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ext Box 2"/>
          <p:cNvSpPr txBox="1">
            <a:spLocks noChangeArrowheads="1"/>
          </p:cNvSpPr>
          <p:nvPr/>
        </p:nvSpPr>
        <p:spPr bwMode="auto">
          <a:xfrm>
            <a:off x="277813" y="2193925"/>
            <a:ext cx="3584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(4)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舍入处理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203200" y="701675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规格化处理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354013" y="1298575"/>
            <a:ext cx="85486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乘积的尾数符号位与最高数值位符号相同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不是规格化的数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需要左规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阶码变为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00 101(</a:t>
            </a:r>
            <a:r>
              <a:rPr lang="en-US" altLang="zh-CN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-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3),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尾数变为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1.0100101,0010100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277813" y="2781300"/>
            <a:ext cx="8548687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尾数为负数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取尾数高位字长，按舍入规则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舍去低位字长，故尾数为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1.0100101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。　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50000"/>
              </a:spcBef>
              <a:spcAft>
                <a:spcPts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最终相乘结果为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70" name="Text Box 6"/>
          <p:cNvSpPr txBox="1">
            <a:spLocks noChangeArrowheads="1"/>
          </p:cNvSpPr>
          <p:nvPr/>
        </p:nvSpPr>
        <p:spPr bwMode="auto">
          <a:xfrm>
            <a:off x="508000" y="4229100"/>
            <a:ext cx="7912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其真值为       ｘ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ｙ＝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3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0.1011011)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71" name="Rectangle 7"/>
          <p:cNvSpPr>
            <a:spLocks noChangeArrowheads="1"/>
          </p:cNvSpPr>
          <p:nvPr/>
        </p:nvSpPr>
        <p:spPr bwMode="auto">
          <a:xfrm>
            <a:off x="3346450" y="3530600"/>
            <a:ext cx="396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ｘ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ｙ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浮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00 101,1.0100101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 Box 2"/>
          <p:cNvSpPr txBox="1">
            <a:spLocks noChangeArrowheads="1"/>
          </p:cNvSpPr>
          <p:nvPr/>
        </p:nvSpPr>
        <p:spPr bwMode="auto">
          <a:xfrm>
            <a:off x="314325" y="1716088"/>
            <a:ext cx="8574088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） 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</a:rPr>
              <a:t>IEEE 754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浮点数的表示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457200" indent="-457200" algn="just" eaLnBrk="1" fontAlgn="auto" hangingPunct="1">
              <a:spcBef>
                <a:spcPct val="50000"/>
              </a:spcBef>
              <a:spcAft>
                <a:spcPts val="0"/>
              </a:spcAft>
              <a:buFontTx/>
              <a:buAutoNum type="arabicParenR" startAt="2"/>
            </a:pP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尾数的规格化表示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457200" indent="-457200" algn="just" eaLnBrk="1" fontAlgn="auto" hangingPunct="1">
              <a:spcBef>
                <a:spcPct val="50000"/>
              </a:spcBef>
              <a:spcAft>
                <a:spcPts val="0"/>
              </a:spcAft>
              <a:buFontTx/>
              <a:buAutoNum type="arabicParenR" startAt="2"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浮点数计算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流程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457200" indent="-457200" algn="just" eaLnBrk="1" fontAlgn="auto" hangingPunct="1">
              <a:spcBef>
                <a:spcPct val="50000"/>
              </a:spcBef>
              <a:spcAft>
                <a:spcPts val="0"/>
              </a:spcAft>
              <a:buFontTx/>
              <a:buAutoNum type="arabicParenR" startAt="2"/>
            </a:pP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浮点数计算的硬件实现</a:t>
            </a: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457200" indent="-457200" algn="just" eaLnBrk="1" fontAlgn="auto" hangingPunct="1">
              <a:spcBef>
                <a:spcPct val="50000"/>
              </a:spcBef>
              <a:spcAft>
                <a:spcPts val="0"/>
              </a:spcAft>
              <a:buFontTx/>
              <a:buAutoNum type="arabicParenR" startAt="2"/>
            </a:pPr>
            <a:endParaRPr lang="en-US" altLang="zh-CN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457200" indent="-457200" algn="just" eaLnBrk="1" fontAlgn="auto" hangingPunct="1">
              <a:spcBef>
                <a:spcPct val="50000"/>
              </a:spcBef>
              <a:spcAft>
                <a:spcPts val="0"/>
              </a:spcAft>
              <a:buFontTx/>
              <a:buAutoNum type="arabicParenR" startAt="2"/>
            </a:pP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46438" name="Text Box 9"/>
          <p:cNvSpPr txBox="1">
            <a:spLocks noChangeArrowheads="1"/>
          </p:cNvSpPr>
          <p:nvPr/>
        </p:nvSpPr>
        <p:spPr bwMode="auto">
          <a:xfrm>
            <a:off x="381000" y="317500"/>
            <a:ext cx="541513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36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浮点数表示与算法小结</a:t>
            </a:r>
            <a:r>
              <a:rPr lang="zh-CN" altLang="en-US" sz="3600" dirty="0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endParaRPr lang="zh-CN" altLang="en-US" sz="36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3A684680-3D3F-49C2-B142-EEFE92EF0D69}" type="slidenum">
              <a:rPr lang="en-AU" altLang="zh-CN"/>
            </a:fld>
            <a:endParaRPr lang="en-AU" altLang="zh-CN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Floating Point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Representation for non-integral numbers</a:t>
            </a:r>
            <a:endParaRPr lang="en-US" smtClean="0"/>
          </a:p>
          <a:p>
            <a:pPr lvl="1" eaLnBrk="1" hangingPunct="1"/>
            <a:r>
              <a:rPr lang="en-US" smtClean="0"/>
              <a:t>Including very small and very large numbers</a:t>
            </a:r>
            <a:endParaRPr lang="en-US" smtClean="0"/>
          </a:p>
          <a:p>
            <a:pPr eaLnBrk="1" hangingPunct="1"/>
            <a:r>
              <a:rPr lang="en-US" smtClean="0"/>
              <a:t>Like scientific notation</a:t>
            </a:r>
            <a:endParaRPr lang="en-US" smtClean="0"/>
          </a:p>
          <a:p>
            <a:pPr lvl="1" eaLnBrk="1" hangingPunct="1"/>
            <a:r>
              <a:rPr lang="en-US" smtClean="0"/>
              <a:t>–2.34 × 10</a:t>
            </a:r>
            <a:r>
              <a:rPr lang="en-US" baseline="30000" smtClean="0"/>
              <a:t>56</a:t>
            </a:r>
            <a:endParaRPr lang="en-US" smtClean="0"/>
          </a:p>
          <a:p>
            <a:pPr lvl="1" eaLnBrk="1" hangingPunct="1"/>
            <a:r>
              <a:rPr lang="en-US" smtClean="0"/>
              <a:t>+0.002 × 10</a:t>
            </a:r>
            <a:r>
              <a:rPr lang="en-US" baseline="30000" smtClean="0"/>
              <a:t>–4</a:t>
            </a:r>
            <a:endParaRPr lang="en-US" smtClean="0"/>
          </a:p>
          <a:p>
            <a:pPr lvl="1" eaLnBrk="1" hangingPunct="1"/>
            <a:r>
              <a:rPr lang="en-US" smtClean="0"/>
              <a:t>+987.02 × 10</a:t>
            </a:r>
            <a:r>
              <a:rPr lang="en-US" baseline="30000" smtClean="0"/>
              <a:t>9</a:t>
            </a:r>
            <a:endParaRPr lang="en-US" smtClean="0"/>
          </a:p>
          <a:p>
            <a:pPr eaLnBrk="1" hangingPunct="1"/>
            <a:r>
              <a:rPr lang="en-US" smtClean="0"/>
              <a:t>In binary</a:t>
            </a:r>
            <a:endParaRPr lang="en-US" smtClean="0"/>
          </a:p>
          <a:p>
            <a:pPr lvl="1" eaLnBrk="1" hangingPunct="1"/>
            <a:r>
              <a:rPr lang="en-US" smtClean="0">
                <a:cs typeface="Arial" panose="020B0604020202020204" pitchFamily="34" charset="0"/>
              </a:rPr>
              <a:t>±1.</a:t>
            </a:r>
            <a:r>
              <a:rPr lang="en-US" i="1" smtClean="0">
                <a:cs typeface="Arial" panose="020B0604020202020204" pitchFamily="34" charset="0"/>
              </a:rPr>
              <a:t>xxxxxxx</a:t>
            </a:r>
            <a:r>
              <a:rPr lang="en-US" baseline="-25000" smtClean="0">
                <a:cs typeface="Arial" panose="020B0604020202020204" pitchFamily="34" charset="0"/>
              </a:rPr>
              <a:t>2</a:t>
            </a:r>
            <a:r>
              <a:rPr lang="en-US" smtClean="0">
                <a:cs typeface="Arial" panose="020B0604020202020204" pitchFamily="34" charset="0"/>
              </a:rPr>
              <a:t> × 2</a:t>
            </a:r>
            <a:r>
              <a:rPr lang="en-US" i="1" baseline="30000" smtClean="0">
                <a:cs typeface="Arial" panose="020B0604020202020204" pitchFamily="34" charset="0"/>
              </a:rPr>
              <a:t>yyyy</a:t>
            </a:r>
            <a:endParaRPr lang="en-US" i="1" baseline="30000" smtClean="0">
              <a:cs typeface="Arial" panose="020B0604020202020204" pitchFamily="34" charset="0"/>
            </a:endParaRPr>
          </a:p>
          <a:p>
            <a:pPr eaLnBrk="1" hangingPunct="1"/>
            <a:r>
              <a:rPr lang="en-US" smtClean="0"/>
              <a:t>Types </a:t>
            </a:r>
            <a:r>
              <a:rPr lang="en-US" smtClean="0">
                <a:solidFill>
                  <a:srgbClr val="FF0000"/>
                </a:solidFill>
                <a:latin typeface="Lucida Console" panose="020B0609040504020204" pitchFamily="49" charset="0"/>
              </a:rPr>
              <a:t>float</a:t>
            </a:r>
            <a:r>
              <a:rPr lang="en-US" smtClean="0"/>
              <a:t> and </a:t>
            </a:r>
            <a:r>
              <a:rPr lang="en-US" smtClean="0">
                <a:solidFill>
                  <a:srgbClr val="FF0000"/>
                </a:solidFill>
                <a:latin typeface="Lucida Console" panose="020B0609040504020204" pitchFamily="49" charset="0"/>
              </a:rPr>
              <a:t>double</a:t>
            </a:r>
            <a:r>
              <a:rPr lang="en-US" smtClean="0"/>
              <a:t> in C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6629" name="AutoShape 4"/>
          <p:cNvSpPr/>
          <p:nvPr/>
        </p:nvSpPr>
        <p:spPr bwMode="auto">
          <a:xfrm>
            <a:off x="5219700" y="2924175"/>
            <a:ext cx="1508125" cy="401638"/>
          </a:xfrm>
          <a:prstGeom prst="borderCallout1">
            <a:avLst>
              <a:gd name="adj1" fmla="val 28458"/>
              <a:gd name="adj2" fmla="val -5051"/>
              <a:gd name="adj3" fmla="val 28458"/>
              <a:gd name="adj4" fmla="val -9105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/>
              <a:t>normalized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26630" name="AutoShape 5"/>
          <p:cNvSpPr/>
          <p:nvPr/>
        </p:nvSpPr>
        <p:spPr bwMode="auto">
          <a:xfrm>
            <a:off x="5651500" y="3573463"/>
            <a:ext cx="1944688" cy="401637"/>
          </a:xfrm>
          <a:prstGeom prst="borderCallout1">
            <a:avLst>
              <a:gd name="adj1" fmla="val 28458"/>
              <a:gd name="adj2" fmla="val -3917"/>
              <a:gd name="adj3" fmla="val -2370"/>
              <a:gd name="adj4" fmla="val -8726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/>
          <a:p>
            <a:pPr algn="ctr"/>
            <a:r>
              <a:rPr lang="en-US"/>
              <a:t>not normalized</a:t>
            </a:r>
            <a:endParaRPr lang="en-AU" altLang="zh-CN">
              <a:ea typeface="宋体" panose="02010600030101010101" pitchFamily="2" charset="-122"/>
            </a:endParaRPr>
          </a:p>
        </p:txBody>
      </p:sp>
      <p:sp>
        <p:nvSpPr>
          <p:cNvPr id="26631" name="Line 6"/>
          <p:cNvSpPr>
            <a:spLocks noChangeShapeType="1"/>
          </p:cNvSpPr>
          <p:nvPr/>
        </p:nvSpPr>
        <p:spPr bwMode="auto">
          <a:xfrm flipH="1">
            <a:off x="4067175" y="3790950"/>
            <a:ext cx="15128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 rot="5400000">
            <a:off x="7916069" y="861219"/>
            <a:ext cx="2089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§3.5 Floating Point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nimBg="1"/>
      <p:bldP spid="26630" grpId="0" animBg="1"/>
      <p:bldP spid="26631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D2E3C6A0-5288-4C52-857E-D2F8C1C74839}" type="slidenum">
              <a:rPr lang="en-AU" altLang="zh-CN"/>
            </a:fld>
            <a:endParaRPr lang="en-AU" altLang="zh-CN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Floating Point Standard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5446712"/>
          </a:xfrm>
        </p:spPr>
        <p:txBody>
          <a:bodyPr/>
          <a:lstStyle/>
          <a:p>
            <a:pPr eaLnBrk="1" hangingPunct="1"/>
            <a:r>
              <a:rPr lang="en-US" smtClean="0"/>
              <a:t>Defined by IEEE 754  Standard</a:t>
            </a:r>
            <a:endParaRPr lang="en-US" smtClean="0"/>
          </a:p>
          <a:p>
            <a:pPr eaLnBrk="1" hangingPunct="1"/>
            <a:r>
              <a:rPr lang="en-US" smtClean="0"/>
              <a:t>Developed in response to divergence of representations</a:t>
            </a:r>
            <a:endParaRPr lang="en-US" smtClean="0"/>
          </a:p>
          <a:p>
            <a:pPr lvl="1" eaLnBrk="1" hangingPunct="1"/>
            <a:r>
              <a:rPr lang="en-US" smtClean="0"/>
              <a:t>Portability issues for scientific code</a:t>
            </a:r>
            <a:endParaRPr lang="en-US" smtClean="0"/>
          </a:p>
          <a:p>
            <a:pPr eaLnBrk="1" hangingPunct="1"/>
            <a:r>
              <a:rPr lang="en-US" smtClean="0"/>
              <a:t>Now almost universally adopted</a:t>
            </a:r>
            <a:endParaRPr lang="en-US" smtClean="0"/>
          </a:p>
          <a:p>
            <a:pPr lvl="1" eaLnBrk="1" hangingPunct="1"/>
            <a:r>
              <a:rPr lang="en-US" smtClean="0"/>
              <a:t>In every computer invented since 1980</a:t>
            </a:r>
            <a:endParaRPr lang="en-US" smtClean="0"/>
          </a:p>
          <a:p>
            <a:pPr eaLnBrk="1" hangingPunct="1"/>
            <a:r>
              <a:rPr lang="en-US" smtClean="0"/>
              <a:t>Two representations</a:t>
            </a:r>
            <a:endParaRPr lang="en-US" smtClean="0"/>
          </a:p>
          <a:p>
            <a:pPr lvl="1" eaLnBrk="1" hangingPunct="1"/>
            <a:r>
              <a:rPr lang="en-US" smtClean="0">
                <a:solidFill>
                  <a:srgbClr val="FF0000"/>
                </a:solidFill>
              </a:rPr>
              <a:t>Single</a:t>
            </a:r>
            <a:r>
              <a:rPr lang="en-US" smtClean="0"/>
              <a:t> precision (</a:t>
            </a:r>
            <a:r>
              <a:rPr lang="en-US" smtClean="0">
                <a:solidFill>
                  <a:srgbClr val="FF0000"/>
                </a:solidFill>
              </a:rPr>
              <a:t>32-bit</a:t>
            </a:r>
            <a:r>
              <a:rPr lang="en-US" smtClean="0"/>
              <a:t>)</a:t>
            </a:r>
            <a:endParaRPr lang="en-US" smtClean="0"/>
          </a:p>
          <a:p>
            <a:pPr lvl="1" eaLnBrk="1" hangingPunct="1"/>
            <a:r>
              <a:rPr lang="en-US" smtClean="0">
                <a:solidFill>
                  <a:srgbClr val="FF0000"/>
                </a:solidFill>
              </a:rPr>
              <a:t>Double</a:t>
            </a:r>
            <a:r>
              <a:rPr lang="en-US" smtClean="0"/>
              <a:t> precision (</a:t>
            </a:r>
            <a:r>
              <a:rPr lang="en-US" smtClean="0">
                <a:solidFill>
                  <a:srgbClr val="FF0000"/>
                </a:solidFill>
              </a:rPr>
              <a:t>64-bit</a:t>
            </a:r>
            <a:r>
              <a:rPr lang="en-US" smtClean="0"/>
              <a:t>)</a:t>
            </a:r>
            <a:endParaRPr lang="en-US" smtClean="0"/>
          </a:p>
          <a:p>
            <a:pPr lvl="2" eaLnBrk="1" hangingPunct="1"/>
            <a:r>
              <a:rPr lang="en-US" smtClean="0"/>
              <a:t>reduces chance of </a:t>
            </a:r>
            <a:r>
              <a:rPr lang="en-US" smtClean="0">
                <a:solidFill>
                  <a:schemeClr val="tx2"/>
                </a:solidFill>
              </a:rPr>
              <a:t>underflow</a:t>
            </a:r>
            <a:r>
              <a:rPr lang="en-US" smtClean="0"/>
              <a:t> and </a:t>
            </a:r>
            <a:r>
              <a:rPr lang="en-US" smtClean="0">
                <a:solidFill>
                  <a:srgbClr val="008000"/>
                </a:solidFill>
              </a:rPr>
              <a:t>overflow </a:t>
            </a:r>
            <a:endParaRPr lang="en-AU" altLang="zh-CN" smtClean="0">
              <a:solidFill>
                <a:srgbClr val="008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DE7CB204-90F3-4AB1-965A-7718B19DDC1B}" type="slidenum">
              <a:rPr lang="en-AU" altLang="zh-CN"/>
            </a:fld>
            <a:endParaRPr lang="en-AU" altLang="zh-CN"/>
          </a:p>
        </p:txBody>
      </p:sp>
      <p:sp>
        <p:nvSpPr>
          <p:cNvPr id="25603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IEEE Floating-Point Format</a:t>
            </a:r>
            <a:endParaRPr lang="en-US" smtClean="0"/>
          </a:p>
        </p:txBody>
      </p:sp>
      <p:sp>
        <p:nvSpPr>
          <p:cNvPr id="1029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684213" y="3573463"/>
            <a:ext cx="8270875" cy="26638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S: sign bit (0 </a:t>
            </a:r>
            <a:r>
              <a:rPr lang="en-US" sz="2400" dirty="0" smtClean="0">
                <a:sym typeface="Symbol" panose="05050102010706020507" pitchFamily="18" charset="2"/>
              </a:rPr>
              <a:t> non-negative, 1  negative)</a:t>
            </a:r>
            <a:endParaRPr lang="en-US" sz="2400" dirty="0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sym typeface="Symbol" panose="05050102010706020507" pitchFamily="18" charset="2"/>
              </a:rPr>
              <a:t>Normalize </a:t>
            </a:r>
            <a:r>
              <a:rPr lang="en-US" sz="2400" dirty="0" err="1" smtClean="0">
                <a:sym typeface="Symbol" panose="05050102010706020507" pitchFamily="18" charset="2"/>
              </a:rPr>
              <a:t>significand</a:t>
            </a:r>
            <a:r>
              <a:rPr lang="en-US" sz="2400" dirty="0" smtClean="0">
                <a:sym typeface="Symbol" panose="05050102010706020507" pitchFamily="18" charset="2"/>
              </a:rPr>
              <a:t>: 1.0 ≤ |</a:t>
            </a:r>
            <a:r>
              <a:rPr lang="en-US" sz="2400" dirty="0" err="1" smtClean="0">
                <a:solidFill>
                  <a:srgbClr val="FF0000"/>
                </a:solidFill>
                <a:sym typeface="Symbol" panose="05050102010706020507" pitchFamily="18" charset="2"/>
              </a:rPr>
              <a:t>significand</a:t>
            </a:r>
            <a:r>
              <a:rPr lang="en-US" sz="2400" dirty="0" smtClean="0">
                <a:sym typeface="Symbol" panose="05050102010706020507" pitchFamily="18" charset="2"/>
              </a:rPr>
              <a:t>| &lt; 2.0</a:t>
            </a:r>
            <a:endParaRPr lang="en-US" sz="2400" dirty="0" smtClean="0"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sym typeface="Symbol" panose="05050102010706020507" pitchFamily="18" charset="2"/>
              </a:rPr>
              <a:t>Always has a leading pre-binary-point 1 bit, so no need to represent it explicitly (hidden bit)</a:t>
            </a:r>
            <a:endParaRPr lang="en-US" sz="2000" dirty="0" smtClean="0"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 smtClean="0">
                <a:sym typeface="Symbol" panose="05050102010706020507" pitchFamily="18" charset="2"/>
              </a:rPr>
              <a:t>Significand</a:t>
            </a:r>
            <a:r>
              <a:rPr lang="en-US" sz="2000" dirty="0" smtClean="0">
                <a:sym typeface="Symbol" panose="05050102010706020507" pitchFamily="18" charset="2"/>
              </a:rPr>
              <a:t> is Fraction with the “1.” restored</a:t>
            </a:r>
            <a:endParaRPr lang="en-US" sz="2000" dirty="0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sym typeface="Symbol" panose="05050102010706020507" pitchFamily="18" charset="2"/>
              </a:rPr>
              <a:t>Exponent: excess representation: </a:t>
            </a:r>
            <a:r>
              <a:rPr lang="en-US" sz="2400" dirty="0" smtClean="0">
                <a:solidFill>
                  <a:srgbClr val="FF0000"/>
                </a:solidFill>
                <a:sym typeface="Symbol" panose="05050102010706020507" pitchFamily="18" charset="2"/>
              </a:rPr>
              <a:t>actual exponent + Bias</a:t>
            </a:r>
            <a:endParaRPr lang="en-US" sz="2400" dirty="0" smtClean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sym typeface="Symbol" panose="05050102010706020507" pitchFamily="18" charset="2"/>
              </a:rPr>
              <a:t>Ensures exponent is unsigned</a:t>
            </a:r>
            <a:endParaRPr lang="en-US" sz="2000" dirty="0" smtClean="0"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sym typeface="Symbol" panose="05050102010706020507" pitchFamily="18" charset="2"/>
              </a:rPr>
              <a:t>Single: Bias = 127; Double: Bias = 1203</a:t>
            </a:r>
            <a:endParaRPr lang="en-US" sz="2000" dirty="0" smtClean="0">
              <a:sym typeface="Symbol" panose="05050102010706020507" pitchFamily="18" charset="2"/>
            </a:endParaRP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1549400" y="1917700"/>
            <a:ext cx="35877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/>
              <a:t>S</a:t>
            </a:r>
            <a:endParaRPr lang="en-US" sz="2400"/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1908175" y="1917700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/>
              <a:t>Exponent</a:t>
            </a:r>
            <a:endParaRPr lang="en-US" sz="2400"/>
          </a:p>
        </p:txBody>
      </p:sp>
      <p:sp>
        <p:nvSpPr>
          <p:cNvPr id="25607" name="Text Box 6"/>
          <p:cNvSpPr txBox="1">
            <a:spLocks noChangeArrowheads="1"/>
          </p:cNvSpPr>
          <p:nvPr/>
        </p:nvSpPr>
        <p:spPr bwMode="auto">
          <a:xfrm>
            <a:off x="3494088" y="1917700"/>
            <a:ext cx="3671887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/>
              <a:t>Fraction</a:t>
            </a:r>
            <a:endParaRPr lang="en-US" sz="2400"/>
          </a:p>
        </p:txBody>
      </p:sp>
      <p:sp>
        <p:nvSpPr>
          <p:cNvPr id="25608" name="Text Box 7"/>
          <p:cNvSpPr txBox="1">
            <a:spLocks noChangeArrowheads="1"/>
          </p:cNvSpPr>
          <p:nvPr/>
        </p:nvSpPr>
        <p:spPr bwMode="auto">
          <a:xfrm>
            <a:off x="1836738" y="1196975"/>
            <a:ext cx="1857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>
                <a:latin typeface="Tahoma" panose="020B0604030504040204" pitchFamily="34" charset="0"/>
              </a:rPr>
              <a:t>single: 8 bits</a:t>
            </a:r>
            <a:br>
              <a:rPr lang="en-US" sz="2000">
                <a:latin typeface="Tahoma" panose="020B0604030504040204" pitchFamily="34" charset="0"/>
              </a:rPr>
            </a:br>
            <a:r>
              <a:rPr lang="en-US" sz="2000">
                <a:latin typeface="Tahoma" panose="020B0604030504040204" pitchFamily="34" charset="0"/>
              </a:rPr>
              <a:t>double: 11 bits</a:t>
            </a:r>
            <a:endParaRPr lang="en-US" sz="2000">
              <a:latin typeface="Tahoma" panose="020B0604030504040204" pitchFamily="34" charset="0"/>
            </a:endParaRPr>
          </a:p>
        </p:txBody>
      </p:sp>
      <p:sp>
        <p:nvSpPr>
          <p:cNvPr id="25609" name="Text Box 8"/>
          <p:cNvSpPr txBox="1">
            <a:spLocks noChangeArrowheads="1"/>
          </p:cNvSpPr>
          <p:nvPr/>
        </p:nvSpPr>
        <p:spPr bwMode="auto">
          <a:xfrm>
            <a:off x="4427538" y="1196975"/>
            <a:ext cx="18573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000">
                <a:latin typeface="Tahoma" panose="020B0604030504040204" pitchFamily="34" charset="0"/>
              </a:rPr>
              <a:t>single: 23 bits</a:t>
            </a:r>
            <a:br>
              <a:rPr lang="en-US" sz="2000">
                <a:latin typeface="Tahoma" panose="020B0604030504040204" pitchFamily="34" charset="0"/>
              </a:rPr>
            </a:br>
            <a:r>
              <a:rPr lang="en-US" sz="2000">
                <a:latin typeface="Tahoma" panose="020B0604030504040204" pitchFamily="34" charset="0"/>
              </a:rPr>
              <a:t>double: 52 bits</a:t>
            </a:r>
            <a:endParaRPr lang="en-US" sz="2000">
              <a:latin typeface="Tahoma" panose="020B0604030504040204" pitchFamily="34" charset="0"/>
            </a:endParaRPr>
          </a:p>
        </p:txBody>
      </p:sp>
      <p:graphicFrame>
        <p:nvGraphicFramePr>
          <p:cNvPr id="25610" name="Object 9"/>
          <p:cNvGraphicFramePr>
            <a:graphicFrameLocks noChangeAspect="1"/>
          </p:cNvGraphicFramePr>
          <p:nvPr/>
        </p:nvGraphicFramePr>
        <p:xfrm>
          <a:off x="1476375" y="2667000"/>
          <a:ext cx="5867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6" name="Equation" r:id="rId1" imgW="2451100" imgH="228600" progId="Equation.3">
                  <p:embed/>
                </p:oleObj>
              </mc:Choice>
              <mc:Fallback>
                <p:oleObj name="Equation" r:id="rId1" imgW="24511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667000"/>
                        <a:ext cx="5867400" cy="5461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D91A99AA-FC0E-432E-AB10-8DFFF4CF27A7}" type="slidenum">
              <a:rPr lang="en-AU" altLang="zh-CN"/>
            </a:fld>
            <a:endParaRPr lang="en-AU" altLang="zh-CN"/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Single-Precision Range</a:t>
            </a:r>
            <a:endParaRPr lang="en-US" smtClean="0"/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Exponents 00000000 and 11111111 reserved</a:t>
            </a:r>
            <a:endParaRPr lang="en-US" sz="2800" smtClean="0"/>
          </a:p>
          <a:p>
            <a:pPr eaLnBrk="1" hangingPunct="1"/>
            <a:r>
              <a:rPr lang="en-US" sz="2800" smtClean="0">
                <a:solidFill>
                  <a:srgbClr val="FF0000"/>
                </a:solidFill>
              </a:rPr>
              <a:t>Smallest value</a:t>
            </a:r>
            <a:endParaRPr lang="en-US" sz="28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400" smtClean="0"/>
              <a:t>Exponent: 00000001</a:t>
            </a:r>
            <a:br>
              <a:rPr lang="en-US" sz="2400" smtClean="0"/>
            </a:br>
            <a:r>
              <a:rPr lang="en-US" sz="2400" smtClean="0">
                <a:sym typeface="Symbol" panose="05050102010706020507" pitchFamily="18" charset="2"/>
              </a:rPr>
              <a:t> actual exponent = 1 – 127 = –126</a:t>
            </a:r>
            <a:endParaRPr lang="en-US" sz="240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smtClean="0">
                <a:sym typeface="Symbol" panose="05050102010706020507" pitchFamily="18" charset="2"/>
              </a:rPr>
              <a:t>Fraction: 000…00</a:t>
            </a:r>
            <a:r>
              <a:rPr lang="en-US" sz="2400" smtClean="0"/>
              <a:t> </a:t>
            </a:r>
            <a:r>
              <a:rPr lang="en-US" sz="2400" smtClean="0">
                <a:sym typeface="Symbol" panose="05050102010706020507" pitchFamily="18" charset="2"/>
              </a:rPr>
              <a:t> significand = 1.0</a:t>
            </a:r>
            <a:endParaRPr lang="en-US" sz="240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smtClean="0">
                <a:sym typeface="Symbol" panose="05050102010706020507" pitchFamily="18" charset="2"/>
              </a:rPr>
              <a:t>±1.0 × 2</a:t>
            </a:r>
            <a:r>
              <a:rPr lang="en-US" sz="2400" baseline="30000" smtClean="0">
                <a:sym typeface="Symbol" panose="05050102010706020507" pitchFamily="18" charset="2"/>
              </a:rPr>
              <a:t>–126</a:t>
            </a:r>
            <a:r>
              <a:rPr lang="en-US" sz="2400" smtClean="0">
                <a:sym typeface="Symbol" panose="05050102010706020507" pitchFamily="18" charset="2"/>
              </a:rPr>
              <a:t> ≈ ±1.2 × 10</a:t>
            </a:r>
            <a:r>
              <a:rPr lang="en-US" sz="2400" baseline="30000" smtClean="0">
                <a:sym typeface="Symbol" panose="05050102010706020507" pitchFamily="18" charset="2"/>
              </a:rPr>
              <a:t>–38</a:t>
            </a:r>
            <a:endParaRPr lang="en-US" sz="2400" baseline="30000" smtClean="0">
              <a:sym typeface="Symbol" panose="05050102010706020507" pitchFamily="18" charset="2"/>
            </a:endParaRPr>
          </a:p>
          <a:p>
            <a:pPr eaLnBrk="1" hangingPunct="1"/>
            <a:r>
              <a:rPr lang="en-US" sz="2800" smtClean="0">
                <a:solidFill>
                  <a:srgbClr val="FF0000"/>
                </a:solidFill>
                <a:sym typeface="Symbol" panose="05050102010706020507" pitchFamily="18" charset="2"/>
              </a:rPr>
              <a:t>Largest value</a:t>
            </a:r>
            <a:endParaRPr lang="en-US" sz="2800" smtClean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smtClean="0">
                <a:sym typeface="Symbol" panose="05050102010706020507" pitchFamily="18" charset="2"/>
              </a:rPr>
              <a:t>exponent: 11111110</a:t>
            </a:r>
            <a:br>
              <a:rPr lang="en-US" sz="2400" smtClean="0">
                <a:sym typeface="Symbol" panose="05050102010706020507" pitchFamily="18" charset="2"/>
              </a:rPr>
            </a:br>
            <a:r>
              <a:rPr lang="en-US" sz="2400" smtClean="0">
                <a:sym typeface="Symbol" panose="05050102010706020507" pitchFamily="18" charset="2"/>
              </a:rPr>
              <a:t> actual exponent = 254 – 127 = +127</a:t>
            </a:r>
            <a:endParaRPr lang="en-US" sz="240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smtClean="0">
                <a:sym typeface="Symbol" panose="05050102010706020507" pitchFamily="18" charset="2"/>
              </a:rPr>
              <a:t>Fraction: 111…11</a:t>
            </a:r>
            <a:r>
              <a:rPr lang="en-US" sz="2400" smtClean="0"/>
              <a:t> </a:t>
            </a:r>
            <a:r>
              <a:rPr lang="en-US" sz="2400" smtClean="0">
                <a:sym typeface="Symbol" panose="05050102010706020507" pitchFamily="18" charset="2"/>
              </a:rPr>
              <a:t> significand ≈ 2.0</a:t>
            </a:r>
            <a:endParaRPr lang="en-US" sz="240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smtClean="0">
                <a:sym typeface="Symbol" panose="05050102010706020507" pitchFamily="18" charset="2"/>
              </a:rPr>
              <a:t>±2.0 × 2</a:t>
            </a:r>
            <a:r>
              <a:rPr lang="en-US" sz="2400" baseline="30000" smtClean="0">
                <a:sym typeface="Symbol" panose="05050102010706020507" pitchFamily="18" charset="2"/>
              </a:rPr>
              <a:t>+127</a:t>
            </a:r>
            <a:r>
              <a:rPr lang="en-US" sz="2400" smtClean="0">
                <a:sym typeface="Symbol" panose="05050102010706020507" pitchFamily="18" charset="2"/>
              </a:rPr>
              <a:t> ≈ ±3.4 × 10</a:t>
            </a:r>
            <a:r>
              <a:rPr lang="en-US" sz="2400" baseline="30000" smtClean="0">
                <a:sym typeface="Symbol" panose="05050102010706020507" pitchFamily="18" charset="2"/>
              </a:rPr>
              <a:t>+38</a:t>
            </a:r>
            <a:endParaRPr lang="en-US" sz="2400" baseline="30000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ABE31F97-B4C9-4460-9709-FD78C2E34A6D}" type="slidenum">
              <a:rPr lang="en-AU" altLang="zh-CN"/>
            </a:fld>
            <a:endParaRPr lang="en-AU" altLang="zh-CN"/>
          </a:p>
        </p:txBody>
      </p:sp>
      <p:sp>
        <p:nvSpPr>
          <p:cNvPr id="2765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Double-Precision Range</a:t>
            </a:r>
            <a:endParaRPr lang="en-US" smtClean="0"/>
          </a:p>
        </p:txBody>
      </p:sp>
      <p:sp>
        <p:nvSpPr>
          <p:cNvPr id="29700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Exponents 0000…00 and 1111…11 reserved</a:t>
            </a:r>
            <a:endParaRPr lang="en-US" sz="2800" smtClean="0"/>
          </a:p>
          <a:p>
            <a:pPr eaLnBrk="1" hangingPunct="1"/>
            <a:r>
              <a:rPr lang="en-US" sz="2800" smtClean="0">
                <a:solidFill>
                  <a:srgbClr val="FF0000"/>
                </a:solidFill>
              </a:rPr>
              <a:t>Smallest value</a:t>
            </a:r>
            <a:endParaRPr lang="en-US" sz="28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400" smtClean="0"/>
              <a:t>Exponent: 00000000001</a:t>
            </a:r>
            <a:br>
              <a:rPr lang="en-US" sz="2400" smtClean="0"/>
            </a:br>
            <a:r>
              <a:rPr lang="en-US" sz="2400" smtClean="0">
                <a:sym typeface="Symbol" panose="05050102010706020507" pitchFamily="18" charset="2"/>
              </a:rPr>
              <a:t> actual exponent = 1 – 1023 = –1022</a:t>
            </a:r>
            <a:endParaRPr lang="en-US" sz="240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smtClean="0">
                <a:sym typeface="Symbol" panose="05050102010706020507" pitchFamily="18" charset="2"/>
              </a:rPr>
              <a:t>Fraction: 000…00</a:t>
            </a:r>
            <a:r>
              <a:rPr lang="en-US" sz="2400" smtClean="0"/>
              <a:t> </a:t>
            </a:r>
            <a:r>
              <a:rPr lang="en-US" sz="2400" smtClean="0">
                <a:sym typeface="Symbol" panose="05050102010706020507" pitchFamily="18" charset="2"/>
              </a:rPr>
              <a:t> significand = 1.0</a:t>
            </a:r>
            <a:endParaRPr lang="en-US" sz="240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smtClean="0">
                <a:sym typeface="Symbol" panose="05050102010706020507" pitchFamily="18" charset="2"/>
              </a:rPr>
              <a:t>±1.0 × 2</a:t>
            </a:r>
            <a:r>
              <a:rPr lang="en-US" sz="2400" baseline="30000" smtClean="0">
                <a:sym typeface="Symbol" panose="05050102010706020507" pitchFamily="18" charset="2"/>
              </a:rPr>
              <a:t>–1022</a:t>
            </a:r>
            <a:r>
              <a:rPr lang="en-US" sz="2400" smtClean="0">
                <a:sym typeface="Symbol" panose="05050102010706020507" pitchFamily="18" charset="2"/>
              </a:rPr>
              <a:t> ≈ ±2.2 × 10</a:t>
            </a:r>
            <a:r>
              <a:rPr lang="en-US" sz="2400" baseline="30000" smtClean="0">
                <a:sym typeface="Symbol" panose="05050102010706020507" pitchFamily="18" charset="2"/>
              </a:rPr>
              <a:t>–308</a:t>
            </a:r>
            <a:endParaRPr lang="en-US" sz="2400" baseline="30000" smtClean="0">
              <a:sym typeface="Symbol" panose="05050102010706020507" pitchFamily="18" charset="2"/>
            </a:endParaRPr>
          </a:p>
          <a:p>
            <a:pPr eaLnBrk="1" hangingPunct="1"/>
            <a:r>
              <a:rPr lang="en-US" sz="2800" smtClean="0">
                <a:solidFill>
                  <a:srgbClr val="FF0000"/>
                </a:solidFill>
                <a:sym typeface="Symbol" panose="05050102010706020507" pitchFamily="18" charset="2"/>
              </a:rPr>
              <a:t>Largest value</a:t>
            </a:r>
            <a:endParaRPr lang="en-US" sz="2800" smtClean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smtClean="0">
                <a:sym typeface="Symbol" panose="05050102010706020507" pitchFamily="18" charset="2"/>
              </a:rPr>
              <a:t>Exponent: 11111111110</a:t>
            </a:r>
            <a:br>
              <a:rPr lang="en-US" sz="2400" smtClean="0">
                <a:sym typeface="Symbol" panose="05050102010706020507" pitchFamily="18" charset="2"/>
              </a:rPr>
            </a:br>
            <a:r>
              <a:rPr lang="en-US" sz="2400" smtClean="0">
                <a:sym typeface="Symbol" panose="05050102010706020507" pitchFamily="18" charset="2"/>
              </a:rPr>
              <a:t> actual exponent = 2046 – 1023 = +1023</a:t>
            </a:r>
            <a:endParaRPr lang="en-US" sz="240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smtClean="0">
                <a:sym typeface="Symbol" panose="05050102010706020507" pitchFamily="18" charset="2"/>
              </a:rPr>
              <a:t>Fraction: 111…11</a:t>
            </a:r>
            <a:r>
              <a:rPr lang="en-US" sz="2400" smtClean="0"/>
              <a:t> </a:t>
            </a:r>
            <a:r>
              <a:rPr lang="en-US" sz="2400" smtClean="0">
                <a:sym typeface="Symbol" panose="05050102010706020507" pitchFamily="18" charset="2"/>
              </a:rPr>
              <a:t> significand ≈ 2.0</a:t>
            </a:r>
            <a:endParaRPr lang="en-US" sz="240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sz="2400" smtClean="0">
                <a:sym typeface="Symbol" panose="05050102010706020507" pitchFamily="18" charset="2"/>
              </a:rPr>
              <a:t>±2.0 × 2</a:t>
            </a:r>
            <a:r>
              <a:rPr lang="en-US" sz="2400" baseline="30000" smtClean="0">
                <a:sym typeface="Symbol" panose="05050102010706020507" pitchFamily="18" charset="2"/>
              </a:rPr>
              <a:t>+1023</a:t>
            </a:r>
            <a:r>
              <a:rPr lang="en-US" sz="2400" smtClean="0">
                <a:sym typeface="Symbol" panose="05050102010706020507" pitchFamily="18" charset="2"/>
              </a:rPr>
              <a:t> ≈ ±1.8 × 10</a:t>
            </a:r>
            <a:r>
              <a:rPr lang="en-US" sz="2400" baseline="30000" smtClean="0">
                <a:sym typeface="Symbol" panose="05050102010706020507" pitchFamily="18" charset="2"/>
              </a:rPr>
              <a:t>+308</a:t>
            </a:r>
            <a:endParaRPr lang="en-US" sz="2400" baseline="30000" smtClean="0">
              <a:sym typeface="Symbol" panose="05050102010706020507" pitchFamily="18" charset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C68CC4C4-4118-44A8-A306-93822F9BC355}" type="slidenum">
              <a:rPr lang="en-AU" altLang="zh-CN"/>
            </a:fld>
            <a:endParaRPr lang="en-AU" altLang="zh-CN"/>
          </a:p>
        </p:txBody>
      </p:sp>
      <p:sp>
        <p:nvSpPr>
          <p:cNvPr id="2867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Floating-Point Precision</a:t>
            </a:r>
            <a:endParaRPr lang="en-US" smtClean="0"/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00063" y="1125538"/>
            <a:ext cx="8643937" cy="5111750"/>
          </a:xfrm>
        </p:spPr>
        <p:txBody>
          <a:bodyPr/>
          <a:lstStyle/>
          <a:p>
            <a:pPr eaLnBrk="1" hangingPunct="1"/>
            <a:r>
              <a:rPr lang="en-US" sz="2800" smtClean="0"/>
              <a:t>Relative precision</a:t>
            </a:r>
            <a:endParaRPr lang="en-US" sz="2800" smtClean="0"/>
          </a:p>
          <a:p>
            <a:pPr lvl="1" eaLnBrk="1" hangingPunct="1"/>
            <a:r>
              <a:rPr lang="en-US" sz="2000" smtClean="0"/>
              <a:t>all fraction bits are significant</a:t>
            </a:r>
            <a:endParaRPr lang="en-US" sz="2000" smtClean="0"/>
          </a:p>
          <a:p>
            <a:pPr lvl="1" eaLnBrk="1" hangingPunct="1"/>
            <a:r>
              <a:rPr lang="en-US" sz="2000" smtClean="0">
                <a:solidFill>
                  <a:srgbClr val="FF0000"/>
                </a:solidFill>
              </a:rPr>
              <a:t>Single:</a:t>
            </a:r>
            <a:r>
              <a:rPr lang="en-US" sz="2000" smtClean="0"/>
              <a:t> approx 2</a:t>
            </a:r>
            <a:r>
              <a:rPr lang="en-US" sz="2000" baseline="30000" smtClean="0"/>
              <a:t>–23</a:t>
            </a:r>
            <a:endParaRPr lang="en-US" sz="2000" baseline="30000" smtClean="0"/>
          </a:p>
          <a:p>
            <a:pPr lvl="2" eaLnBrk="1" hangingPunct="1"/>
            <a:r>
              <a:rPr lang="en-US" sz="1800" smtClean="0"/>
              <a:t>Equivalent to 23 × log</a:t>
            </a:r>
            <a:r>
              <a:rPr lang="en-US" sz="1800" baseline="-25000" smtClean="0"/>
              <a:t>10</a:t>
            </a:r>
            <a:r>
              <a:rPr lang="en-US" sz="1800" smtClean="0"/>
              <a:t>2 ≈ 23 × 0.3 ≈ 6 decimal digits of precision</a:t>
            </a:r>
            <a:endParaRPr lang="en-US" sz="1800" smtClean="0"/>
          </a:p>
          <a:p>
            <a:pPr lvl="1" eaLnBrk="1" hangingPunct="1"/>
            <a:r>
              <a:rPr lang="en-US" sz="2000" smtClean="0">
                <a:solidFill>
                  <a:srgbClr val="FF0000"/>
                </a:solidFill>
              </a:rPr>
              <a:t>Double:</a:t>
            </a:r>
            <a:r>
              <a:rPr lang="en-US" sz="2000" smtClean="0"/>
              <a:t> approx 2</a:t>
            </a:r>
            <a:r>
              <a:rPr lang="en-US" sz="2000" baseline="30000" smtClean="0"/>
              <a:t>–52</a:t>
            </a:r>
            <a:endParaRPr lang="en-US" sz="2000" baseline="30000" smtClean="0"/>
          </a:p>
          <a:p>
            <a:pPr lvl="2" eaLnBrk="1" hangingPunct="1"/>
            <a:r>
              <a:rPr lang="en-US" sz="1800" smtClean="0"/>
              <a:t>Equivalent to 52 × log</a:t>
            </a:r>
            <a:r>
              <a:rPr lang="en-US" sz="1800" baseline="-25000" smtClean="0"/>
              <a:t>10</a:t>
            </a:r>
            <a:r>
              <a:rPr lang="en-US" sz="1800" smtClean="0"/>
              <a:t>2 ≈ 52 × 0.3 ≈ 16 decimal digits of precision</a:t>
            </a:r>
            <a:endParaRPr lang="en-US" sz="1800" smtClean="0"/>
          </a:p>
        </p:txBody>
      </p:sp>
      <p:pic>
        <p:nvPicPr>
          <p:cNvPr id="28677" name="Picture 4" descr="f03-14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3578225"/>
            <a:ext cx="8869362" cy="249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F4621D4F-354F-4773-B362-F656F22B26EB}" type="slidenum">
              <a:rPr lang="en-AU" altLang="zh-CN"/>
            </a:fld>
            <a:endParaRPr lang="en-AU" altLang="zh-CN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Floating-Point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Represent –0.75</a:t>
            </a:r>
            <a:endParaRPr lang="en-US" smtClean="0"/>
          </a:p>
          <a:p>
            <a:pPr lvl="1" eaLnBrk="1" hangingPunct="1"/>
            <a:r>
              <a:rPr lang="en-US" smtClean="0"/>
              <a:t>–0.75 = –0.11</a:t>
            </a:r>
            <a:r>
              <a:rPr lang="en-US" baseline="-25000" smtClean="0"/>
              <a:t>2</a:t>
            </a:r>
            <a:r>
              <a:rPr lang="en-US" smtClean="0"/>
              <a:t> = (–1)</a:t>
            </a:r>
            <a:r>
              <a:rPr lang="en-US" baseline="30000" smtClean="0"/>
              <a:t>1</a:t>
            </a:r>
            <a:r>
              <a:rPr lang="en-US" smtClean="0"/>
              <a:t> × 1.1</a:t>
            </a:r>
            <a:r>
              <a:rPr lang="en-US" baseline="-25000" smtClean="0"/>
              <a:t>2</a:t>
            </a:r>
            <a:r>
              <a:rPr lang="en-US" smtClean="0"/>
              <a:t> × 2</a:t>
            </a:r>
            <a:r>
              <a:rPr lang="en-US" baseline="30000" smtClean="0"/>
              <a:t>–1</a:t>
            </a:r>
            <a:endParaRPr lang="en-US" baseline="30000" smtClean="0"/>
          </a:p>
          <a:p>
            <a:pPr lvl="1" eaLnBrk="1" hangingPunct="1"/>
            <a:r>
              <a:rPr lang="en-US" smtClean="0"/>
              <a:t>S = 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mtClean="0"/>
              <a:t>Fraction = </a:t>
            </a:r>
            <a:r>
              <a:rPr lang="en-US" smtClean="0">
                <a:solidFill>
                  <a:schemeClr val="tx2"/>
                </a:solidFill>
              </a:rPr>
              <a:t>1000…00</a:t>
            </a:r>
            <a:r>
              <a:rPr lang="en-US" baseline="-25000" smtClean="0"/>
              <a:t>2</a:t>
            </a:r>
            <a:endParaRPr lang="en-US" smtClean="0">
              <a:solidFill>
                <a:schemeClr val="folHlink"/>
              </a:solidFill>
            </a:endParaRPr>
          </a:p>
          <a:p>
            <a:pPr lvl="1" eaLnBrk="1" hangingPunct="1"/>
            <a:r>
              <a:rPr lang="en-US" smtClean="0"/>
              <a:t>Exponent = –1 + Bias</a:t>
            </a:r>
            <a:endParaRPr lang="en-US" smtClean="0"/>
          </a:p>
          <a:p>
            <a:pPr lvl="2" eaLnBrk="1" hangingPunct="1"/>
            <a:r>
              <a:rPr lang="en-US" smtClean="0"/>
              <a:t>Single: –1 + 127 = 126 = </a:t>
            </a:r>
            <a:r>
              <a:rPr lang="en-US" smtClean="0">
                <a:solidFill>
                  <a:srgbClr val="008000"/>
                </a:solidFill>
              </a:rPr>
              <a:t>01111110</a:t>
            </a:r>
            <a:r>
              <a:rPr lang="en-US" baseline="-25000" smtClean="0"/>
              <a:t>2</a:t>
            </a:r>
            <a:endParaRPr lang="en-US" smtClean="0"/>
          </a:p>
          <a:p>
            <a:pPr lvl="2" eaLnBrk="1" hangingPunct="1"/>
            <a:r>
              <a:rPr lang="en-US" smtClean="0"/>
              <a:t>Double: –1 + 1023 = 1022 = </a:t>
            </a:r>
            <a:r>
              <a:rPr lang="en-US" smtClean="0">
                <a:solidFill>
                  <a:srgbClr val="008000"/>
                </a:solidFill>
              </a:rPr>
              <a:t>01111111110</a:t>
            </a:r>
            <a:r>
              <a:rPr lang="en-US" baseline="-25000" smtClean="0"/>
              <a:t>2</a:t>
            </a:r>
            <a:endParaRPr lang="en-US" smtClean="0"/>
          </a:p>
          <a:p>
            <a:pPr eaLnBrk="1" hangingPunct="1"/>
            <a:r>
              <a:rPr lang="en-US" smtClean="0"/>
              <a:t>Single: 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>
                <a:solidFill>
                  <a:srgbClr val="008000"/>
                </a:solidFill>
              </a:rPr>
              <a:t>01111110</a:t>
            </a:r>
            <a:r>
              <a:rPr lang="en-US" smtClean="0">
                <a:solidFill>
                  <a:schemeClr val="tx2"/>
                </a:solidFill>
              </a:rPr>
              <a:t>1000…00</a:t>
            </a:r>
            <a:endParaRPr lang="en-US" smtClean="0">
              <a:solidFill>
                <a:schemeClr val="tx2"/>
              </a:solidFill>
            </a:endParaRPr>
          </a:p>
          <a:p>
            <a:pPr eaLnBrk="1" hangingPunct="1"/>
            <a:r>
              <a:rPr lang="en-US" smtClean="0"/>
              <a:t>Double: 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>
                <a:solidFill>
                  <a:srgbClr val="008000"/>
                </a:solidFill>
              </a:rPr>
              <a:t>01111111110</a:t>
            </a:r>
            <a:r>
              <a:rPr lang="en-US" smtClean="0">
                <a:solidFill>
                  <a:schemeClr val="tx2"/>
                </a:solidFill>
              </a:rPr>
              <a:t>1000…00</a:t>
            </a:r>
            <a:endParaRPr lang="en-US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ChangeArrowheads="1"/>
          </p:cNvSpPr>
          <p:nvPr/>
        </p:nvSpPr>
        <p:spPr bwMode="auto">
          <a:xfrm>
            <a:off x="567985" y="1340768"/>
            <a:ext cx="8610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en-US" b="1" dirty="0">
                <a:latin typeface="宋体" panose="02010600030101010101" pitchFamily="2" charset="-122"/>
              </a:rPr>
              <a:t>解：-0.75 = -3/4 = -0.11</a:t>
            </a:r>
            <a:r>
              <a:rPr lang="zh-CN" altLang="en-US" b="1" baseline="-25000" dirty="0">
                <a:latin typeface="宋体" panose="02010600030101010101" pitchFamily="2" charset="-122"/>
              </a:rPr>
              <a:t>2 </a:t>
            </a:r>
            <a:r>
              <a:rPr lang="zh-CN" altLang="en-US" b="1" dirty="0">
                <a:latin typeface="宋体" panose="02010600030101010101" pitchFamily="2" charset="-122"/>
              </a:rPr>
              <a:t>= -1.1×2</a:t>
            </a:r>
            <a:r>
              <a:rPr lang="zh-CN" altLang="en-US" b="1" baseline="30000" dirty="0">
                <a:latin typeface="宋体" panose="02010600030101010101" pitchFamily="2" charset="-122"/>
              </a:rPr>
              <a:t>-1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just"/>
            <a:r>
              <a:rPr lang="zh-CN" altLang="en-US" b="1" dirty="0">
                <a:latin typeface="宋体" panose="02010600030101010101" pitchFamily="2" charset="-122"/>
              </a:rPr>
              <a:t> 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just"/>
            <a:r>
              <a:rPr lang="zh-CN" altLang="en-US" b="1" dirty="0">
                <a:latin typeface="宋体" panose="02010600030101010101" pitchFamily="2" charset="-122"/>
              </a:rPr>
              <a:t>=(-1)</a:t>
            </a:r>
            <a:r>
              <a:rPr lang="zh-CN" altLang="en-US" b="1" baseline="30000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×(1 + 0.1000 0000 0000 0000 0000 000)×2</a:t>
            </a:r>
            <a:r>
              <a:rPr lang="zh-CN" altLang="en-US" b="1" baseline="30000" dirty="0">
                <a:latin typeface="宋体" panose="02010600030101010101" pitchFamily="2" charset="-122"/>
              </a:rPr>
              <a:t>-1</a:t>
            </a:r>
            <a:endParaRPr lang="zh-CN" altLang="en-US" b="1" baseline="30000" dirty="0">
              <a:latin typeface="宋体" panose="02010600030101010101" pitchFamily="2" charset="-122"/>
            </a:endParaRPr>
          </a:p>
          <a:p>
            <a:pPr algn="just"/>
            <a:endParaRPr lang="zh-CN" altLang="en-US" b="1" dirty="0">
              <a:latin typeface="宋体" panose="02010600030101010101" pitchFamily="2" charset="-122"/>
            </a:endParaRPr>
          </a:p>
          <a:p>
            <a:pPr algn="just"/>
            <a:r>
              <a:rPr lang="zh-CN" altLang="en-US" b="1" dirty="0">
                <a:latin typeface="宋体" panose="02010600030101010101" pitchFamily="2" charset="-122"/>
              </a:rPr>
              <a:t> =(-1)</a:t>
            </a:r>
            <a:r>
              <a:rPr lang="zh-CN" altLang="en-US" b="1" baseline="30000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×(1 + 0.1000 0000 0000 0000 0000 000)×2</a:t>
            </a:r>
            <a:r>
              <a:rPr lang="zh-CN" altLang="en-US" b="1" baseline="30000" dirty="0">
                <a:latin typeface="宋体" panose="02010600030101010101" pitchFamily="2" charset="-122"/>
              </a:rPr>
              <a:t>126-127</a:t>
            </a:r>
            <a:endParaRPr lang="zh-CN" altLang="en-US" b="1" baseline="30000" dirty="0">
              <a:latin typeface="宋体" panose="02010600030101010101" pitchFamily="2" charset="-122"/>
            </a:endParaRPr>
          </a:p>
          <a:p>
            <a:pPr algn="just"/>
            <a:endParaRPr lang="zh-CN" altLang="en-US" b="1" baseline="30000" dirty="0">
              <a:latin typeface="宋体" panose="02010600030101010101" pitchFamily="2" charset="-122"/>
            </a:endParaRPr>
          </a:p>
          <a:p>
            <a:pPr algn="just"/>
            <a:r>
              <a:rPr lang="en-US" altLang="zh-CN" b="1" i="1" dirty="0">
                <a:latin typeface="宋体" panose="02010600030101010101" pitchFamily="2" charset="-122"/>
              </a:rPr>
              <a:t>s</a:t>
            </a:r>
            <a:r>
              <a:rPr lang="en-US" altLang="zh-CN" b="1" dirty="0">
                <a:latin typeface="宋体" panose="02010600030101010101" pitchFamily="2" charset="-122"/>
              </a:rPr>
              <a:t>=1，E= 126</a:t>
            </a:r>
            <a:r>
              <a:rPr lang="en-US" altLang="zh-CN" b="1" baseline="-25000" dirty="0">
                <a:latin typeface="宋体" panose="02010600030101010101" pitchFamily="2" charset="-122"/>
              </a:rPr>
              <a:t>10 </a:t>
            </a:r>
            <a:r>
              <a:rPr lang="en-US" altLang="zh-CN" b="1" dirty="0">
                <a:latin typeface="宋体" panose="02010600030101010101" pitchFamily="2" charset="-122"/>
              </a:rPr>
              <a:t>= 01111110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， F  = 1000 </a:t>
            </a:r>
            <a:r>
              <a:rPr lang="en-US" altLang="zh-CN" b="1" dirty="0">
                <a:latin typeface="Times New Roman" panose="02020603050405020304" pitchFamily="18" charset="0"/>
              </a:rPr>
              <a:t>…</a:t>
            </a:r>
            <a:r>
              <a:rPr lang="en-US" altLang="zh-CN" b="1" dirty="0">
                <a:latin typeface="宋体" panose="02010600030101010101" pitchFamily="2" charset="-122"/>
              </a:rPr>
              <a:t> 000。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just"/>
            <a:endParaRPr lang="zh-CN" altLang="en-US" b="1" dirty="0">
              <a:latin typeface="宋体" panose="02010600030101010101" pitchFamily="2" charset="-122"/>
            </a:endParaRPr>
          </a:p>
          <a:p>
            <a:pPr algn="just"/>
            <a:r>
              <a:rPr lang="zh-CN" altLang="en-US" b="1" dirty="0">
                <a:latin typeface="宋体" panose="02010600030101010101" pitchFamily="2" charset="-122"/>
              </a:rPr>
              <a:t>	1 011,1111,0 100,0000,0000,0000,0000,0000</a:t>
            </a:r>
            <a:endParaRPr lang="zh-CN" altLang="en-US" b="1" dirty="0">
              <a:latin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</a:rPr>
              <a:t>        </a:t>
            </a:r>
            <a:r>
              <a:rPr lang="en-US" altLang="zh-CN" b="1" dirty="0">
                <a:latin typeface="宋体" panose="02010600030101010101" pitchFamily="2" charset="-122"/>
              </a:rPr>
              <a:t>B     F    4    0    0    0    0    0 H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759618" y="405975"/>
            <a:ext cx="58897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</a:rPr>
              <a:t>例：将十进制数-0.75表示成单精度的</a:t>
            </a:r>
            <a:r>
              <a:rPr lang="en-US" altLang="zh-CN" b="1" dirty="0">
                <a:latin typeface="宋体" panose="02010600030101010101" pitchFamily="2" charset="-122"/>
              </a:rPr>
              <a:t>IEEE 754</a:t>
            </a:r>
            <a:r>
              <a:rPr lang="zh-CN" altLang="en-US" b="1" dirty="0">
                <a:latin typeface="宋体" panose="02010600030101010101" pitchFamily="2" charset="-122"/>
              </a:rPr>
              <a:t>标准代码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609600" y="1210101"/>
            <a:ext cx="85344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en-US" sz="2400" b="1" dirty="0">
                <a:latin typeface="宋体" panose="02010600030101010101" pitchFamily="2" charset="-122"/>
              </a:rPr>
              <a:t>解：</a:t>
            </a:r>
            <a:r>
              <a:rPr lang="en-US" altLang="zh-CN" sz="2400" b="1" dirty="0">
                <a:latin typeface="宋体" panose="02010600030101010101" pitchFamily="2" charset="-122"/>
              </a:rPr>
              <a:t>S=1，</a:t>
            </a:r>
            <a:r>
              <a:rPr lang="en-US" altLang="zh-CN" sz="2400" b="1" i="1" dirty="0">
                <a:latin typeface="宋体" panose="02010600030101010101" pitchFamily="2" charset="-122"/>
              </a:rPr>
              <a:t>E</a:t>
            </a:r>
            <a:r>
              <a:rPr lang="en-US" altLang="zh-CN" sz="2400" b="1" dirty="0">
                <a:latin typeface="宋体" panose="02010600030101010101" pitchFamily="2" charset="-122"/>
              </a:rPr>
              <a:t>=129，F = 1/4 = 0.25，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/>
            <a:r>
              <a:rPr lang="zh-CN" altLang="en-US" sz="2400" b="1" dirty="0">
                <a:latin typeface="宋体" panose="02010600030101010101" pitchFamily="2" charset="-122"/>
              </a:rPr>
              <a:t>(-1)</a:t>
            </a:r>
            <a:r>
              <a:rPr lang="zh-CN" altLang="en-US" sz="2400" b="1" baseline="30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×(1+0.25)×2</a:t>
            </a:r>
            <a:r>
              <a:rPr lang="zh-CN" altLang="en-US" sz="2400" b="1" baseline="30000" dirty="0">
                <a:latin typeface="宋体" panose="02010600030101010101" pitchFamily="2" charset="-122"/>
              </a:rPr>
              <a:t>129-127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/>
            <a:r>
              <a:rPr lang="zh-CN" altLang="en-US" sz="2400" b="1" dirty="0">
                <a:latin typeface="宋体" panose="02010600030101010101" pitchFamily="2" charset="-122"/>
              </a:rPr>
              <a:t>= -1×1.25×2</a:t>
            </a:r>
            <a:r>
              <a:rPr lang="zh-CN" altLang="en-US" sz="2400" b="1" baseline="30000" dirty="0">
                <a:latin typeface="宋体" panose="02010600030101010101" pitchFamily="2" charset="-122"/>
              </a:rPr>
              <a:t>2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/>
            <a:r>
              <a:rPr lang="zh-CN" altLang="en-US" sz="2400" b="1" dirty="0">
                <a:latin typeface="宋体" panose="02010600030101010101" pitchFamily="2" charset="-122"/>
              </a:rPr>
              <a:t>= -1.25×4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algn="just"/>
            <a:r>
              <a:rPr lang="zh-CN" altLang="en-US" sz="2400" b="1" dirty="0">
                <a:latin typeface="宋体" panose="02010600030101010101" pitchFamily="2" charset="-122"/>
              </a:rPr>
              <a:t>= -5.0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342900" y="116632"/>
            <a:ext cx="84582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例：求如下</a:t>
            </a:r>
            <a:r>
              <a:rPr lang="en-US" altLang="zh-CN" b="1" dirty="0">
                <a:latin typeface="宋体" panose="02010600030101010101" pitchFamily="2" charset="-122"/>
              </a:rPr>
              <a:t>IEEE 754 </a:t>
            </a:r>
            <a:r>
              <a:rPr lang="zh-CN" altLang="en-US" b="1" dirty="0">
                <a:latin typeface="宋体" panose="02010600030101010101" pitchFamily="2" charset="-122"/>
              </a:rPr>
              <a:t>单精度浮点数的十进制数值：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	1 10000001 01000000000000000000000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4516" name="Rectangle 5"/>
          <p:cNvSpPr>
            <a:spLocks noChangeArrowheads="1"/>
          </p:cNvSpPr>
          <p:nvPr/>
        </p:nvSpPr>
        <p:spPr bwMode="auto">
          <a:xfrm>
            <a:off x="304800" y="4038600"/>
            <a:ext cx="84582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en-US" b="1" dirty="0">
                <a:latin typeface="宋体" panose="02010600030101010101" pitchFamily="2" charset="-122"/>
              </a:rPr>
              <a:t>解：</a:t>
            </a:r>
            <a:r>
              <a:rPr lang="zh-CN" altLang="en-US" sz="2000" b="1" dirty="0">
                <a:latin typeface="宋体" panose="02010600030101010101" pitchFamily="2" charset="-122"/>
              </a:rPr>
              <a:t>123</a:t>
            </a:r>
            <a:r>
              <a:rPr lang="zh-CN" altLang="en-US" sz="2000" b="1" baseline="-25000" dirty="0">
                <a:latin typeface="宋体" panose="02010600030101010101" pitchFamily="2" charset="-122"/>
              </a:rPr>
              <a:t>10</a:t>
            </a:r>
            <a:r>
              <a:rPr lang="zh-CN" altLang="en-US" sz="2000" b="1" dirty="0">
                <a:latin typeface="宋体" panose="02010600030101010101" pitchFamily="2" charset="-122"/>
              </a:rPr>
              <a:t>=1111011</a:t>
            </a:r>
            <a:r>
              <a:rPr lang="zh-CN" altLang="en-US" sz="20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= 0.1111011000</a:t>
            </a:r>
            <a:r>
              <a:rPr lang="zh-CN" altLang="en-US" sz="20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×2</a:t>
            </a:r>
            <a:r>
              <a:rPr lang="zh-CN" altLang="en-US" sz="2000" b="1" baseline="30000" dirty="0">
                <a:latin typeface="宋体" panose="02010600030101010101" pitchFamily="2" charset="-122"/>
              </a:rPr>
              <a:t>7</a:t>
            </a:r>
            <a:endParaRPr lang="zh-CN" altLang="en-US" sz="2000" b="1" baseline="30000" dirty="0">
              <a:latin typeface="宋体" panose="02010600030101010101" pitchFamily="2" charset="-122"/>
            </a:endParaRPr>
          </a:p>
          <a:p>
            <a:pPr algn="just"/>
            <a:endParaRPr lang="zh-CN" altLang="en-US" sz="2000" b="1" baseline="30000" dirty="0">
              <a:latin typeface="宋体" panose="02010600030101010101" pitchFamily="2" charset="-122"/>
            </a:endParaRPr>
          </a:p>
          <a:p>
            <a:pPr algn="just"/>
            <a:r>
              <a:rPr lang="zh-CN" altLang="en-US" sz="2000" b="1" baseline="30000" dirty="0">
                <a:latin typeface="宋体" panose="02010600030101010101" pitchFamily="2" charset="-122"/>
              </a:rPr>
              <a:t>	</a:t>
            </a:r>
            <a:r>
              <a:rPr lang="zh-CN" altLang="en-US" sz="2000" b="1" dirty="0">
                <a:latin typeface="宋体" panose="02010600030101010101" pitchFamily="2" charset="-122"/>
              </a:rPr>
              <a:t> [7]</a:t>
            </a:r>
            <a:r>
              <a:rPr lang="zh-CN" altLang="en-US" sz="2000" b="1" baseline="-25000" dirty="0">
                <a:latin typeface="宋体" panose="02010600030101010101" pitchFamily="2" charset="-122"/>
              </a:rPr>
              <a:t>移</a:t>
            </a:r>
            <a:r>
              <a:rPr lang="zh-CN" altLang="en-US" sz="2000" b="1" dirty="0">
                <a:latin typeface="宋体" panose="02010600030101010101" pitchFamily="2" charset="-122"/>
              </a:rPr>
              <a:t>=10000+00111 = 10111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algn="just"/>
            <a:endParaRPr lang="zh-CN" altLang="en-US" sz="2000" b="1" dirty="0">
              <a:latin typeface="宋体" panose="02010600030101010101" pitchFamily="2" charset="-122"/>
            </a:endParaRPr>
          </a:p>
          <a:p>
            <a:pPr algn="just"/>
            <a:r>
              <a:rPr lang="zh-CN" altLang="en-US" sz="2000" b="1" dirty="0">
                <a:latin typeface="宋体" panose="02010600030101010101" pitchFamily="2" charset="-122"/>
              </a:rPr>
              <a:t>	 [0.1111011000]</a:t>
            </a:r>
            <a:r>
              <a:rPr lang="zh-CN" altLang="en-US" sz="2000" b="1" baseline="-25000" dirty="0">
                <a:latin typeface="宋体" panose="02010600030101010101" pitchFamily="2" charset="-122"/>
              </a:rPr>
              <a:t>补</a:t>
            </a:r>
            <a:r>
              <a:rPr lang="zh-CN" altLang="en-US" sz="2000" b="1" dirty="0">
                <a:latin typeface="宋体" panose="02010600030101010101" pitchFamily="2" charset="-122"/>
              </a:rPr>
              <a:t>=0.1111011000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algn="just"/>
            <a:endParaRPr lang="zh-CN" altLang="en-US" sz="2000" b="1" dirty="0">
              <a:latin typeface="宋体" panose="02010600030101010101" pitchFamily="2" charset="-122"/>
            </a:endParaRPr>
          </a:p>
          <a:p>
            <a:pPr algn="just"/>
            <a:r>
              <a:rPr lang="zh-CN" altLang="en-US" sz="2000" b="1" dirty="0">
                <a:latin typeface="宋体" panose="02010600030101010101" pitchFamily="2" charset="-122"/>
              </a:rPr>
              <a:t>   	 [123]</a:t>
            </a:r>
            <a:r>
              <a:rPr lang="zh-CN" altLang="en-US" sz="2000" b="1" baseline="-25000" dirty="0">
                <a:latin typeface="宋体" panose="02010600030101010101" pitchFamily="2" charset="-122"/>
              </a:rPr>
              <a:t>浮</a:t>
            </a:r>
            <a:r>
              <a:rPr lang="zh-CN" altLang="en-US" sz="2000" b="1" dirty="0">
                <a:latin typeface="宋体" panose="02010600030101010101" pitchFamily="2" charset="-122"/>
              </a:rPr>
              <a:t>=0 10111 1111011000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64517" name="Rectangle 6"/>
          <p:cNvSpPr>
            <a:spLocks noChangeArrowheads="1"/>
          </p:cNvSpPr>
          <p:nvPr/>
        </p:nvSpPr>
        <p:spPr bwMode="auto">
          <a:xfrm>
            <a:off x="304800" y="3323890"/>
            <a:ext cx="85963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</a:rPr>
              <a:t>例：对数据123</a:t>
            </a:r>
            <a:r>
              <a:rPr lang="zh-CN" altLang="en-US" sz="2000" b="1" baseline="-25000" dirty="0">
                <a:latin typeface="宋体" panose="02010600030101010101" pitchFamily="2" charset="-122"/>
              </a:rPr>
              <a:t>10</a:t>
            </a:r>
            <a:r>
              <a:rPr lang="zh-CN" altLang="en-US" sz="2000" b="1" dirty="0">
                <a:latin typeface="宋体" panose="02010600030101010101" pitchFamily="2" charset="-122"/>
              </a:rPr>
              <a:t>作规格化浮点数的编码，假定1位符号位，基数为2，阶码5位，采用移码，尾数10位，采用补码。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D8EC0AB9-E96B-42B7-B62D-23E2201EDE79}" type="slidenum">
              <a:rPr lang="en-AU" altLang="zh-CN"/>
            </a:fld>
            <a:endParaRPr lang="en-AU" altLang="zh-CN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Floating-Point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What number is represented by the single-precision float</a:t>
            </a:r>
            <a:endParaRPr lang="en-US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mtClean="0">
                <a:solidFill>
                  <a:schemeClr val="hlink"/>
                </a:solidFill>
              </a:rPr>
              <a:t>	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>
                <a:solidFill>
                  <a:srgbClr val="008000"/>
                </a:solidFill>
              </a:rPr>
              <a:t>10000001</a:t>
            </a:r>
            <a:r>
              <a:rPr lang="en-US" smtClean="0">
                <a:solidFill>
                  <a:schemeClr val="tx2"/>
                </a:solidFill>
              </a:rPr>
              <a:t>01000…00</a:t>
            </a:r>
            <a:endParaRPr lang="en-US" smtClean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 = 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Fraction = </a:t>
            </a:r>
            <a:r>
              <a:rPr lang="en-US" smtClean="0">
                <a:solidFill>
                  <a:schemeClr val="tx2"/>
                </a:solidFill>
              </a:rPr>
              <a:t>01000…00</a:t>
            </a:r>
            <a:r>
              <a:rPr lang="en-US" baseline="-25000" smtClean="0"/>
              <a:t>2</a:t>
            </a:r>
            <a:endParaRPr lang="en-US" smtClean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Exponent = </a:t>
            </a:r>
            <a:r>
              <a:rPr lang="en-US" smtClean="0">
                <a:solidFill>
                  <a:srgbClr val="008000"/>
                </a:solidFill>
              </a:rPr>
              <a:t>10000001</a:t>
            </a:r>
            <a:r>
              <a:rPr lang="en-US" baseline="-25000" smtClean="0"/>
              <a:t>2</a:t>
            </a:r>
            <a:r>
              <a:rPr lang="en-US" smtClean="0"/>
              <a:t> = 129</a:t>
            </a: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x = (–1)</a:t>
            </a:r>
            <a:r>
              <a:rPr lang="en-US" baseline="30000" smtClean="0"/>
              <a:t>1</a:t>
            </a:r>
            <a:r>
              <a:rPr lang="en-US" smtClean="0"/>
              <a:t> × (1 + .01</a:t>
            </a:r>
            <a:r>
              <a:rPr lang="en-US" baseline="-25000" smtClean="0"/>
              <a:t>2</a:t>
            </a:r>
            <a:r>
              <a:rPr lang="en-US" smtClean="0"/>
              <a:t>) × 2</a:t>
            </a:r>
            <a:r>
              <a:rPr lang="en-US" baseline="30000" smtClean="0"/>
              <a:t>(129 – 127)</a:t>
            </a:r>
            <a:endParaRPr lang="en-US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mtClean="0"/>
              <a:t>	= (–1) × 1.25 × 2</a:t>
            </a:r>
            <a:r>
              <a:rPr lang="en-US" baseline="30000" smtClean="0"/>
              <a:t>2</a:t>
            </a:r>
            <a:endParaRPr lang="en-US" smtClean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mtClean="0"/>
              <a:t>	= –5.0</a:t>
            </a:r>
            <a:endParaRPr 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7D2B3CD0-C8A1-4C06-B1B4-B344FE2C0DAB}" type="slidenum">
              <a:rPr lang="en-AU" altLang="zh-CN"/>
            </a:fld>
            <a:endParaRPr lang="en-AU" altLang="zh-CN"/>
          </a:p>
        </p:txBody>
      </p:sp>
      <p:sp>
        <p:nvSpPr>
          <p:cNvPr id="317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Infinities and NaNs</a:t>
            </a:r>
            <a:endParaRPr lang="en-US" smtClean="0"/>
          </a:p>
        </p:txBody>
      </p:sp>
      <p:sp>
        <p:nvSpPr>
          <p:cNvPr id="3379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Exponent = 111...1, Fraction = 000...0</a:t>
            </a:r>
            <a:endParaRPr lang="en-US" smtClean="0"/>
          </a:p>
          <a:p>
            <a:pPr lvl="1" eaLnBrk="1" hangingPunct="1"/>
            <a:r>
              <a:rPr lang="en-US" smtClean="0">
                <a:solidFill>
                  <a:srgbClr val="FF0000"/>
                </a:solidFill>
              </a:rPr>
              <a:t>±Infinity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mtClean="0"/>
              <a:t>Can be used in subsequent calculations, avoiding need for overflow check</a:t>
            </a:r>
            <a:endParaRPr lang="en-US" smtClean="0"/>
          </a:p>
          <a:p>
            <a:pPr eaLnBrk="1" hangingPunct="1"/>
            <a:r>
              <a:rPr lang="en-US" smtClean="0"/>
              <a:t>Exponent = 111...1, Fraction ≠ 000...0</a:t>
            </a:r>
            <a:endParaRPr lang="en-US" smtClean="0"/>
          </a:p>
          <a:p>
            <a:pPr lvl="1" eaLnBrk="1" hangingPunct="1"/>
            <a:r>
              <a:rPr lang="en-US" smtClean="0">
                <a:solidFill>
                  <a:srgbClr val="FF0000"/>
                </a:solidFill>
              </a:rPr>
              <a:t>Not-a-Number (NaN)</a:t>
            </a:r>
            <a:endParaRPr lang="en-US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mtClean="0"/>
              <a:t>Indicates illegal or undefined result</a:t>
            </a:r>
            <a:endParaRPr lang="en-US" smtClean="0"/>
          </a:p>
          <a:p>
            <a:pPr lvl="2" eaLnBrk="1" hangingPunct="1"/>
            <a:r>
              <a:rPr lang="en-US" smtClean="0"/>
              <a:t>e.g., 0.0 / 0.0</a:t>
            </a:r>
            <a:endParaRPr lang="en-US" smtClean="0"/>
          </a:p>
          <a:p>
            <a:pPr lvl="1" eaLnBrk="1" hangingPunct="1"/>
            <a:r>
              <a:rPr lang="en-US" smtClean="0"/>
              <a:t>Can be used in subsequent calculations</a:t>
            </a:r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F201DDE7-1B13-4963-8CDE-185E85358714}" type="slidenum">
              <a:rPr lang="en-AU" altLang="zh-CN"/>
            </a:fld>
            <a:endParaRPr lang="en-AU" altLang="zh-CN"/>
          </a:p>
        </p:txBody>
      </p:sp>
      <p:sp>
        <p:nvSpPr>
          <p:cNvPr id="3277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Floating-Point Addition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482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Consider a 4-digit decimal example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chemeClr val="tx2"/>
                </a:solidFill>
              </a:rPr>
              <a:t>9.999 × 10</a:t>
            </a:r>
            <a:r>
              <a:rPr lang="en-US" sz="2400" baseline="30000" smtClean="0">
                <a:solidFill>
                  <a:schemeClr val="tx2"/>
                </a:solidFill>
              </a:rPr>
              <a:t>1</a:t>
            </a:r>
            <a:r>
              <a:rPr lang="en-US" sz="2400" smtClean="0">
                <a:solidFill>
                  <a:schemeClr val="tx2"/>
                </a:solidFill>
              </a:rPr>
              <a:t> + 1.610 × 10</a:t>
            </a:r>
            <a:r>
              <a:rPr lang="en-US" sz="2400" baseline="30000" smtClean="0">
                <a:solidFill>
                  <a:schemeClr val="tx2"/>
                </a:solidFill>
              </a:rPr>
              <a:t>–1</a:t>
            </a:r>
            <a:endParaRPr lang="en-US" sz="2400" baseline="30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1. Align decimal points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Shift number with smaller exponent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chemeClr val="tx2"/>
                </a:solidFill>
              </a:rPr>
              <a:t>9.999 × 10</a:t>
            </a:r>
            <a:r>
              <a:rPr lang="en-US" sz="2400" baseline="30000" smtClean="0">
                <a:solidFill>
                  <a:schemeClr val="tx2"/>
                </a:solidFill>
              </a:rPr>
              <a:t>1</a:t>
            </a:r>
            <a:r>
              <a:rPr lang="en-US" sz="2400" smtClean="0">
                <a:solidFill>
                  <a:schemeClr val="tx2"/>
                </a:solidFill>
              </a:rPr>
              <a:t> + 0.016 × 10</a:t>
            </a:r>
            <a:r>
              <a:rPr lang="en-US" sz="2400" baseline="30000" smtClean="0">
                <a:solidFill>
                  <a:schemeClr val="tx2"/>
                </a:solidFill>
              </a:rPr>
              <a:t>1</a:t>
            </a:r>
            <a:endParaRPr lang="en-US" sz="2400" baseline="30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2. Add significands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chemeClr val="tx2"/>
                </a:solidFill>
              </a:rPr>
              <a:t>9.999 × 10</a:t>
            </a:r>
            <a:r>
              <a:rPr lang="en-US" sz="2400" baseline="30000" smtClean="0">
                <a:solidFill>
                  <a:schemeClr val="tx2"/>
                </a:solidFill>
              </a:rPr>
              <a:t>1</a:t>
            </a:r>
            <a:r>
              <a:rPr lang="en-US" sz="2400" smtClean="0">
                <a:solidFill>
                  <a:schemeClr val="tx2"/>
                </a:solidFill>
              </a:rPr>
              <a:t> + 0.016 × 10</a:t>
            </a:r>
            <a:r>
              <a:rPr lang="en-US" sz="2400" baseline="30000" smtClean="0">
                <a:solidFill>
                  <a:schemeClr val="tx2"/>
                </a:solidFill>
              </a:rPr>
              <a:t>1</a:t>
            </a:r>
            <a:r>
              <a:rPr lang="en-US" sz="2400" smtClean="0">
                <a:solidFill>
                  <a:schemeClr val="tx2"/>
                </a:solidFill>
              </a:rPr>
              <a:t> = 10.015 × 10</a:t>
            </a:r>
            <a:r>
              <a:rPr lang="en-US" sz="2400" baseline="30000" smtClean="0">
                <a:solidFill>
                  <a:schemeClr val="tx2"/>
                </a:solidFill>
              </a:rPr>
              <a:t>1</a:t>
            </a:r>
            <a:endParaRPr lang="en-US" sz="2400" baseline="30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3. Normalize result &amp; check for over/underflow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chemeClr val="tx2"/>
                </a:solidFill>
              </a:rPr>
              <a:t>1.0015 × 10</a:t>
            </a:r>
            <a:r>
              <a:rPr lang="en-US" sz="2400" baseline="30000" smtClean="0">
                <a:solidFill>
                  <a:schemeClr val="tx2"/>
                </a:solidFill>
              </a:rPr>
              <a:t>2</a:t>
            </a:r>
            <a:endParaRPr lang="en-US" sz="2400" baseline="30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4. Round and renormalize if necessary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chemeClr val="tx2"/>
                </a:solidFill>
              </a:rPr>
              <a:t>1.002 × 10</a:t>
            </a:r>
            <a:r>
              <a:rPr lang="en-US" sz="2400" baseline="30000" smtClean="0">
                <a:solidFill>
                  <a:schemeClr val="tx2"/>
                </a:solidFill>
              </a:rPr>
              <a:t>2</a:t>
            </a:r>
            <a:endParaRPr lang="en-US" sz="2400" baseline="3000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4D6EEADD-5EF0-4185-AC49-6D186EEEAE0F}" type="slidenum">
              <a:rPr lang="en-AU" altLang="zh-CN"/>
            </a:fld>
            <a:endParaRPr lang="en-AU" altLang="zh-CN"/>
          </a:p>
        </p:txBody>
      </p:sp>
      <p:sp>
        <p:nvSpPr>
          <p:cNvPr id="3379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Floating-Point Addition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584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Now consider a 4-digit binary example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chemeClr val="tx2"/>
                </a:solidFill>
              </a:rPr>
              <a:t>1.000</a:t>
            </a:r>
            <a:r>
              <a:rPr lang="en-US" sz="2400" baseline="-25000" smtClean="0">
                <a:solidFill>
                  <a:schemeClr val="tx2"/>
                </a:solidFill>
              </a:rPr>
              <a:t>2</a:t>
            </a:r>
            <a:r>
              <a:rPr lang="en-US" sz="2400" smtClean="0">
                <a:solidFill>
                  <a:schemeClr val="tx2"/>
                </a:solidFill>
              </a:rPr>
              <a:t> × 2</a:t>
            </a:r>
            <a:r>
              <a:rPr lang="en-US" sz="2400" baseline="30000" smtClean="0">
                <a:solidFill>
                  <a:schemeClr val="tx2"/>
                </a:solidFill>
              </a:rPr>
              <a:t>–1</a:t>
            </a:r>
            <a:r>
              <a:rPr lang="en-US" sz="2400" smtClean="0">
                <a:solidFill>
                  <a:schemeClr val="tx2"/>
                </a:solidFill>
              </a:rPr>
              <a:t> + –1.110</a:t>
            </a:r>
            <a:r>
              <a:rPr lang="en-US" sz="2400" baseline="-25000" smtClean="0">
                <a:solidFill>
                  <a:schemeClr val="tx2"/>
                </a:solidFill>
              </a:rPr>
              <a:t>2</a:t>
            </a:r>
            <a:r>
              <a:rPr lang="en-US" sz="2400" smtClean="0">
                <a:solidFill>
                  <a:schemeClr val="tx2"/>
                </a:solidFill>
              </a:rPr>
              <a:t> × 2</a:t>
            </a:r>
            <a:r>
              <a:rPr lang="en-US" sz="2400" baseline="30000" smtClean="0">
                <a:solidFill>
                  <a:schemeClr val="tx2"/>
                </a:solidFill>
              </a:rPr>
              <a:t>–2</a:t>
            </a:r>
            <a:r>
              <a:rPr lang="en-US" sz="2400" smtClean="0">
                <a:solidFill>
                  <a:schemeClr val="tx2"/>
                </a:solidFill>
              </a:rPr>
              <a:t> (0.5 + –0.4375)</a:t>
            </a:r>
            <a:endParaRPr lang="en-US" sz="24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1. Align binary points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Shift number with smaller exponent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chemeClr val="tx2"/>
                </a:solidFill>
              </a:rPr>
              <a:t>1.000</a:t>
            </a:r>
            <a:r>
              <a:rPr lang="en-US" sz="2400" baseline="-25000" smtClean="0">
                <a:solidFill>
                  <a:schemeClr val="tx2"/>
                </a:solidFill>
              </a:rPr>
              <a:t>2</a:t>
            </a:r>
            <a:r>
              <a:rPr lang="en-US" sz="2400" smtClean="0">
                <a:solidFill>
                  <a:schemeClr val="tx2"/>
                </a:solidFill>
              </a:rPr>
              <a:t> × 2</a:t>
            </a:r>
            <a:r>
              <a:rPr lang="en-US" sz="2400" baseline="30000" smtClean="0">
                <a:solidFill>
                  <a:schemeClr val="tx2"/>
                </a:solidFill>
              </a:rPr>
              <a:t>–1</a:t>
            </a:r>
            <a:r>
              <a:rPr lang="en-US" sz="2400" smtClean="0">
                <a:solidFill>
                  <a:schemeClr val="tx2"/>
                </a:solidFill>
              </a:rPr>
              <a:t> + –0.111</a:t>
            </a:r>
            <a:r>
              <a:rPr lang="en-US" sz="2400" baseline="-25000" smtClean="0">
                <a:solidFill>
                  <a:schemeClr val="tx2"/>
                </a:solidFill>
              </a:rPr>
              <a:t>2</a:t>
            </a:r>
            <a:r>
              <a:rPr lang="en-US" sz="2400" smtClean="0">
                <a:solidFill>
                  <a:schemeClr val="tx2"/>
                </a:solidFill>
              </a:rPr>
              <a:t> × 2</a:t>
            </a:r>
            <a:r>
              <a:rPr lang="en-US" sz="2400" baseline="30000" smtClean="0">
                <a:solidFill>
                  <a:schemeClr val="tx2"/>
                </a:solidFill>
              </a:rPr>
              <a:t>–1</a:t>
            </a:r>
            <a:endParaRPr lang="en-US" sz="2400" baseline="30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2. Add significands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chemeClr val="tx2"/>
                </a:solidFill>
              </a:rPr>
              <a:t>1.000</a:t>
            </a:r>
            <a:r>
              <a:rPr lang="en-US" sz="2400" baseline="-25000" smtClean="0">
                <a:solidFill>
                  <a:schemeClr val="tx2"/>
                </a:solidFill>
              </a:rPr>
              <a:t>2</a:t>
            </a:r>
            <a:r>
              <a:rPr lang="en-US" sz="2400" smtClean="0">
                <a:solidFill>
                  <a:schemeClr val="tx2"/>
                </a:solidFill>
              </a:rPr>
              <a:t> × 2</a:t>
            </a:r>
            <a:r>
              <a:rPr lang="en-US" sz="2400" baseline="30000" smtClean="0">
                <a:solidFill>
                  <a:schemeClr val="tx2"/>
                </a:solidFill>
              </a:rPr>
              <a:t>–1</a:t>
            </a:r>
            <a:r>
              <a:rPr lang="en-US" sz="2400" smtClean="0">
                <a:solidFill>
                  <a:schemeClr val="tx2"/>
                </a:solidFill>
              </a:rPr>
              <a:t> + –0.111</a:t>
            </a:r>
            <a:r>
              <a:rPr lang="en-US" sz="2400" baseline="-25000" smtClean="0">
                <a:solidFill>
                  <a:schemeClr val="tx2"/>
                </a:solidFill>
              </a:rPr>
              <a:t>2</a:t>
            </a:r>
            <a:r>
              <a:rPr lang="en-US" sz="2400" smtClean="0">
                <a:solidFill>
                  <a:schemeClr val="tx2"/>
                </a:solidFill>
              </a:rPr>
              <a:t> × 2</a:t>
            </a:r>
            <a:r>
              <a:rPr lang="en-US" sz="2400" baseline="30000" smtClean="0">
                <a:solidFill>
                  <a:schemeClr val="tx2"/>
                </a:solidFill>
              </a:rPr>
              <a:t>–1</a:t>
            </a:r>
            <a:r>
              <a:rPr lang="en-US" sz="2400" smtClean="0">
                <a:solidFill>
                  <a:schemeClr val="tx2"/>
                </a:solidFill>
              </a:rPr>
              <a:t> = 0.001</a:t>
            </a:r>
            <a:r>
              <a:rPr lang="en-US" sz="2400" baseline="-25000" smtClean="0">
                <a:solidFill>
                  <a:schemeClr val="tx2"/>
                </a:solidFill>
              </a:rPr>
              <a:t>2</a:t>
            </a:r>
            <a:r>
              <a:rPr lang="en-US" sz="2400" smtClean="0">
                <a:solidFill>
                  <a:schemeClr val="tx2"/>
                </a:solidFill>
              </a:rPr>
              <a:t> × 2</a:t>
            </a:r>
            <a:r>
              <a:rPr lang="en-US" sz="2400" baseline="30000" smtClean="0">
                <a:solidFill>
                  <a:schemeClr val="tx2"/>
                </a:solidFill>
              </a:rPr>
              <a:t>–1</a:t>
            </a:r>
            <a:endParaRPr lang="en-US" sz="2400" baseline="30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3. Normalize result &amp; check for over/underflow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chemeClr val="tx2"/>
                </a:solidFill>
              </a:rPr>
              <a:t>1.000</a:t>
            </a:r>
            <a:r>
              <a:rPr lang="en-US" sz="2400" baseline="-25000" smtClean="0">
                <a:solidFill>
                  <a:schemeClr val="tx2"/>
                </a:solidFill>
              </a:rPr>
              <a:t>2</a:t>
            </a:r>
            <a:r>
              <a:rPr lang="en-US" sz="2400" smtClean="0">
                <a:solidFill>
                  <a:schemeClr val="tx2"/>
                </a:solidFill>
              </a:rPr>
              <a:t> × 2</a:t>
            </a:r>
            <a:r>
              <a:rPr lang="en-US" sz="2400" baseline="30000" smtClean="0">
                <a:solidFill>
                  <a:schemeClr val="tx2"/>
                </a:solidFill>
              </a:rPr>
              <a:t>–4</a:t>
            </a:r>
            <a:r>
              <a:rPr lang="en-US" sz="2400" smtClean="0">
                <a:solidFill>
                  <a:schemeClr val="tx2"/>
                </a:solidFill>
              </a:rPr>
              <a:t>, with no over/underflow</a:t>
            </a:r>
            <a:endParaRPr lang="en-US" sz="24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4. Round and renormalize if necessary</a:t>
            </a:r>
            <a:endParaRPr lang="en-US" sz="2800" smtClean="0"/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solidFill>
                  <a:schemeClr val="tx2"/>
                </a:solidFill>
              </a:rPr>
              <a:t>1.000</a:t>
            </a:r>
            <a:r>
              <a:rPr lang="en-US" sz="2400" baseline="-25000" smtClean="0">
                <a:solidFill>
                  <a:schemeClr val="tx2"/>
                </a:solidFill>
              </a:rPr>
              <a:t>2</a:t>
            </a:r>
            <a:r>
              <a:rPr lang="en-US" sz="2400" smtClean="0">
                <a:solidFill>
                  <a:schemeClr val="tx2"/>
                </a:solidFill>
              </a:rPr>
              <a:t> × 2</a:t>
            </a:r>
            <a:r>
              <a:rPr lang="en-US" sz="2400" baseline="30000" smtClean="0">
                <a:solidFill>
                  <a:schemeClr val="tx2"/>
                </a:solidFill>
              </a:rPr>
              <a:t>–4</a:t>
            </a:r>
            <a:r>
              <a:rPr lang="en-US" sz="2400" smtClean="0">
                <a:solidFill>
                  <a:schemeClr val="tx2"/>
                </a:solidFill>
              </a:rPr>
              <a:t> (no change)  = 0.0625</a:t>
            </a:r>
            <a:endParaRPr lang="en-US" sz="240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D0F50FEF-B372-41BA-B602-BE1881F06E00}" type="slidenum">
              <a:rPr lang="en-AU" altLang="zh-CN"/>
            </a:fld>
            <a:endParaRPr lang="en-AU" altLang="zh-CN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FP Adder Hardware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FF0000"/>
                </a:solidFill>
              </a:rPr>
              <a:t>Much more complex </a:t>
            </a:r>
            <a:r>
              <a:rPr lang="en-US" smtClean="0"/>
              <a:t>than integer adder</a:t>
            </a:r>
            <a:endParaRPr lang="en-US" smtClean="0"/>
          </a:p>
          <a:p>
            <a:pPr eaLnBrk="1" hangingPunct="1"/>
            <a:r>
              <a:rPr lang="en-US" smtClean="0"/>
              <a:t>Doing it in one clock cycle would take too long</a:t>
            </a:r>
            <a:endParaRPr lang="en-US" smtClean="0"/>
          </a:p>
          <a:p>
            <a:pPr lvl="1" eaLnBrk="1" hangingPunct="1"/>
            <a:r>
              <a:rPr lang="en-US" smtClean="0"/>
              <a:t>Much longer than integer operations</a:t>
            </a:r>
            <a:endParaRPr lang="en-US" smtClean="0"/>
          </a:p>
          <a:p>
            <a:pPr lvl="1" eaLnBrk="1" hangingPunct="1"/>
            <a:r>
              <a:rPr lang="en-US" smtClean="0">
                <a:solidFill>
                  <a:schemeClr val="tx2"/>
                </a:solidFill>
              </a:rPr>
              <a:t>Slower clock would penalize all instructions</a:t>
            </a:r>
            <a:endParaRPr lang="en-US" smtClean="0">
              <a:solidFill>
                <a:schemeClr val="tx2"/>
              </a:solidFill>
            </a:endParaRPr>
          </a:p>
          <a:p>
            <a:pPr eaLnBrk="1" hangingPunct="1"/>
            <a:r>
              <a:rPr lang="en-US" smtClean="0"/>
              <a:t>FP adder usually takes several cycles</a:t>
            </a:r>
            <a:endParaRPr lang="en-US" smtClean="0"/>
          </a:p>
          <a:p>
            <a:pPr lvl="1" eaLnBrk="1" hangingPunct="1"/>
            <a:r>
              <a:rPr lang="en-US" smtClean="0"/>
              <a:t>Can be pipelined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2EF8E3D5-365E-4334-9E9D-60D2F897D7DD}" type="slidenum">
              <a:rPr lang="en-AU" altLang="zh-CN"/>
            </a:fld>
            <a:endParaRPr lang="en-AU" altLang="zh-CN"/>
          </a:p>
        </p:txBody>
      </p:sp>
      <p:pic>
        <p:nvPicPr>
          <p:cNvPr id="35843" name="Picture 14" descr="f03-16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268413"/>
            <a:ext cx="5863406" cy="5328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FP Adder Hardware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5845" name="AutoShape 4"/>
          <p:cNvSpPr/>
          <p:nvPr/>
        </p:nvSpPr>
        <p:spPr bwMode="auto">
          <a:xfrm>
            <a:off x="6588125" y="1844675"/>
            <a:ext cx="144463" cy="1800225"/>
          </a:xfrm>
          <a:prstGeom prst="rightBrace">
            <a:avLst>
              <a:gd name="adj1" fmla="val 103846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AutoShape 5"/>
          <p:cNvSpPr/>
          <p:nvPr/>
        </p:nvSpPr>
        <p:spPr bwMode="auto">
          <a:xfrm>
            <a:off x="6588125" y="3716338"/>
            <a:ext cx="144463" cy="792162"/>
          </a:xfrm>
          <a:prstGeom prst="rightBrace">
            <a:avLst>
              <a:gd name="adj1" fmla="val 45696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AutoShape 6"/>
          <p:cNvSpPr/>
          <p:nvPr/>
        </p:nvSpPr>
        <p:spPr bwMode="auto">
          <a:xfrm>
            <a:off x="6588125" y="4795838"/>
            <a:ext cx="144463" cy="576262"/>
          </a:xfrm>
          <a:prstGeom prst="rightBrace">
            <a:avLst>
              <a:gd name="adj1" fmla="val 33242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AutoShape 7"/>
          <p:cNvSpPr/>
          <p:nvPr/>
        </p:nvSpPr>
        <p:spPr bwMode="auto">
          <a:xfrm>
            <a:off x="6588125" y="5445125"/>
            <a:ext cx="144463" cy="576263"/>
          </a:xfrm>
          <a:prstGeom prst="rightBrace">
            <a:avLst>
              <a:gd name="adj1" fmla="val 33242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9" name="Text Box 8"/>
          <p:cNvSpPr txBox="1">
            <a:spLocks noChangeArrowheads="1"/>
          </p:cNvSpPr>
          <p:nvPr/>
        </p:nvSpPr>
        <p:spPr bwMode="auto">
          <a:xfrm>
            <a:off x="6877050" y="2568575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/>
              <a:t>Step 1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35850" name="Text Box 9"/>
          <p:cNvSpPr txBox="1">
            <a:spLocks noChangeArrowheads="1"/>
          </p:cNvSpPr>
          <p:nvPr/>
        </p:nvSpPr>
        <p:spPr bwMode="auto">
          <a:xfrm>
            <a:off x="6877050" y="3937000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/>
              <a:t>Step 2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35851" name="Text Box 10"/>
          <p:cNvSpPr txBox="1">
            <a:spLocks noChangeArrowheads="1"/>
          </p:cNvSpPr>
          <p:nvPr/>
        </p:nvSpPr>
        <p:spPr bwMode="auto">
          <a:xfrm>
            <a:off x="6877050" y="4873625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/>
              <a:t>Step 3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35852" name="Text Box 11"/>
          <p:cNvSpPr txBox="1">
            <a:spLocks noChangeArrowheads="1"/>
          </p:cNvSpPr>
          <p:nvPr/>
        </p:nvSpPr>
        <p:spPr bwMode="auto">
          <a:xfrm>
            <a:off x="6877050" y="5521325"/>
            <a:ext cx="781050" cy="346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1600"/>
              <a:t>Step 4</a:t>
            </a:r>
            <a:endParaRPr lang="en-AU" altLang="zh-CN" sz="1600">
              <a:ea typeface="宋体" panose="02010600030101010101" pitchFamily="2" charset="-122"/>
            </a:endParaRPr>
          </a:p>
        </p:txBody>
      </p:sp>
      <p:sp>
        <p:nvSpPr>
          <p:cNvPr id="35853" name="AutoShape 12"/>
          <p:cNvSpPr>
            <a:spLocks noChangeArrowheads="1"/>
          </p:cNvSpPr>
          <p:nvPr/>
        </p:nvSpPr>
        <p:spPr bwMode="auto">
          <a:xfrm rot="10800000">
            <a:off x="7740650" y="4940300"/>
            <a:ext cx="288925" cy="792163"/>
          </a:xfrm>
          <a:prstGeom prst="curvedRightArrow">
            <a:avLst>
              <a:gd name="adj1" fmla="val 54835"/>
              <a:gd name="adj2" fmla="val 10967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9F685C88-C0CB-4A2D-A776-CC3231233C7D}" type="slidenum">
              <a:rPr lang="en-AU" altLang="zh-CN"/>
            </a:fld>
            <a:endParaRPr lang="en-AU" altLang="zh-CN"/>
          </a:p>
        </p:txBody>
      </p:sp>
      <p:sp>
        <p:nvSpPr>
          <p:cNvPr id="3686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Floating-Point Multiplication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891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Consider a 4-digit decimal example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tx2"/>
                </a:solidFill>
              </a:rPr>
              <a:t>1.110 × 10</a:t>
            </a:r>
            <a:r>
              <a:rPr lang="en-US" sz="2000" baseline="30000" smtClean="0">
                <a:solidFill>
                  <a:schemeClr val="tx2"/>
                </a:solidFill>
              </a:rPr>
              <a:t>10</a:t>
            </a:r>
            <a:r>
              <a:rPr lang="en-US" sz="2000" smtClean="0">
                <a:solidFill>
                  <a:schemeClr val="tx2"/>
                </a:solidFill>
              </a:rPr>
              <a:t> × 9.200 × 10</a:t>
            </a:r>
            <a:r>
              <a:rPr lang="en-US" sz="2000" baseline="30000" smtClean="0">
                <a:solidFill>
                  <a:schemeClr val="tx2"/>
                </a:solidFill>
              </a:rPr>
              <a:t>–5</a:t>
            </a:r>
            <a:endParaRPr lang="en-US" sz="2000" baseline="30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1. Add exponents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For biased exponents, subtract bias from sum</a:t>
            </a:r>
            <a:endParaRPr lang="en-US" sz="20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New exponent = </a:t>
            </a:r>
            <a:r>
              <a:rPr lang="en-US" sz="2000" smtClean="0">
                <a:solidFill>
                  <a:schemeClr val="tx2"/>
                </a:solidFill>
              </a:rPr>
              <a:t>10 + –5 = 5</a:t>
            </a:r>
            <a:endParaRPr lang="en-US" sz="2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2. Multiply significands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tx2"/>
                </a:solidFill>
              </a:rPr>
              <a:t>1.110 × 9.200 = 10.212  </a:t>
            </a:r>
            <a:r>
              <a:rPr lang="en-US" sz="2000" smtClean="0">
                <a:solidFill>
                  <a:schemeClr val="tx2"/>
                </a:solidFill>
                <a:sym typeface="Symbol" panose="05050102010706020507" pitchFamily="18" charset="2"/>
              </a:rPr>
              <a:t>  10.212 </a:t>
            </a:r>
            <a:r>
              <a:rPr lang="en-US" sz="2000" smtClean="0">
                <a:solidFill>
                  <a:schemeClr val="tx2"/>
                </a:solidFill>
              </a:rPr>
              <a:t>× 10</a:t>
            </a:r>
            <a:r>
              <a:rPr lang="en-US" sz="2000" baseline="30000" smtClean="0">
                <a:solidFill>
                  <a:schemeClr val="tx2"/>
                </a:solidFill>
              </a:rPr>
              <a:t>5</a:t>
            </a:r>
            <a:endParaRPr lang="en-US" sz="2000" baseline="30000" smtClean="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3. Normalize result &amp; check for over/underflow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tx2"/>
                </a:solidFill>
              </a:rPr>
              <a:t>1.0212 × 10</a:t>
            </a:r>
            <a:r>
              <a:rPr lang="en-US" sz="2000" baseline="30000" smtClean="0">
                <a:solidFill>
                  <a:schemeClr val="tx2"/>
                </a:solidFill>
              </a:rPr>
              <a:t>6</a:t>
            </a:r>
            <a:endParaRPr lang="en-US" sz="2000" baseline="30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4. Round and renormalize if necessary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tx2"/>
                </a:solidFill>
              </a:rPr>
              <a:t>1.021 × 10</a:t>
            </a:r>
            <a:r>
              <a:rPr lang="en-US" sz="2000" baseline="30000" smtClean="0">
                <a:solidFill>
                  <a:schemeClr val="tx2"/>
                </a:solidFill>
              </a:rPr>
              <a:t>6</a:t>
            </a:r>
            <a:endParaRPr lang="en-US" sz="2000" baseline="30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5. Determine sign of result from signs of operands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tx2"/>
                </a:solidFill>
              </a:rPr>
              <a:t>+1.021 × 10</a:t>
            </a:r>
            <a:r>
              <a:rPr lang="en-US" sz="2000" baseline="30000" smtClean="0">
                <a:solidFill>
                  <a:schemeClr val="tx2"/>
                </a:solidFill>
              </a:rPr>
              <a:t>6</a:t>
            </a:r>
            <a:endParaRPr lang="en-US" sz="2000" baseline="3000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890B96E9-D5C1-440F-B9E9-2DFC65321552}" type="slidenum">
              <a:rPr lang="en-AU" altLang="zh-CN"/>
            </a:fld>
            <a:endParaRPr lang="en-AU" altLang="zh-CN"/>
          </a:p>
        </p:txBody>
      </p:sp>
      <p:sp>
        <p:nvSpPr>
          <p:cNvPr id="378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Floating-Point Multiplication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994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Now consider a 4-digit binary example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tx2"/>
                </a:solidFill>
              </a:rPr>
              <a:t>1.000</a:t>
            </a:r>
            <a:r>
              <a:rPr lang="en-US" sz="2000" baseline="-25000" smtClean="0">
                <a:solidFill>
                  <a:schemeClr val="tx2"/>
                </a:solidFill>
              </a:rPr>
              <a:t>2</a:t>
            </a:r>
            <a:r>
              <a:rPr lang="en-US" sz="2000" smtClean="0">
                <a:solidFill>
                  <a:schemeClr val="tx2"/>
                </a:solidFill>
              </a:rPr>
              <a:t> × 2</a:t>
            </a:r>
            <a:r>
              <a:rPr lang="en-US" sz="2000" baseline="30000" smtClean="0">
                <a:solidFill>
                  <a:schemeClr val="tx2"/>
                </a:solidFill>
              </a:rPr>
              <a:t>–1</a:t>
            </a:r>
            <a:r>
              <a:rPr lang="en-US" sz="2000" smtClean="0">
                <a:solidFill>
                  <a:schemeClr val="tx2"/>
                </a:solidFill>
              </a:rPr>
              <a:t> × –1.110</a:t>
            </a:r>
            <a:r>
              <a:rPr lang="en-US" sz="2000" baseline="-25000" smtClean="0">
                <a:solidFill>
                  <a:schemeClr val="tx2"/>
                </a:solidFill>
              </a:rPr>
              <a:t>2</a:t>
            </a:r>
            <a:r>
              <a:rPr lang="en-US" sz="2000" smtClean="0">
                <a:solidFill>
                  <a:schemeClr val="tx2"/>
                </a:solidFill>
              </a:rPr>
              <a:t> × 2</a:t>
            </a:r>
            <a:r>
              <a:rPr lang="en-US" sz="2000" baseline="30000" smtClean="0">
                <a:solidFill>
                  <a:schemeClr val="tx2"/>
                </a:solidFill>
              </a:rPr>
              <a:t>–2</a:t>
            </a:r>
            <a:r>
              <a:rPr lang="en-US" sz="2000" smtClean="0">
                <a:solidFill>
                  <a:schemeClr val="tx2"/>
                </a:solidFill>
              </a:rPr>
              <a:t> (0.5 × –0.4375)</a:t>
            </a:r>
            <a:endParaRPr lang="en-US" sz="2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1. Add exponents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Unbiased: </a:t>
            </a:r>
            <a:r>
              <a:rPr lang="en-US" sz="2000" smtClean="0">
                <a:solidFill>
                  <a:schemeClr val="tx2"/>
                </a:solidFill>
              </a:rPr>
              <a:t>–1 + –2 = –3</a:t>
            </a:r>
            <a:endParaRPr lang="en-US" sz="2000" smtClean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Biased: </a:t>
            </a:r>
            <a:r>
              <a:rPr lang="en-US" sz="2000" smtClean="0">
                <a:solidFill>
                  <a:schemeClr val="tx2"/>
                </a:solidFill>
              </a:rPr>
              <a:t>(–1 + 127) + (–2 + 127) = –3 + 254 – 127 = –3 + 127</a:t>
            </a:r>
            <a:endParaRPr lang="en-US" sz="2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2. Multiply significands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tx2"/>
                </a:solidFill>
              </a:rPr>
              <a:t>1.000</a:t>
            </a:r>
            <a:r>
              <a:rPr lang="en-US" sz="2000" baseline="-25000" smtClean="0">
                <a:solidFill>
                  <a:schemeClr val="tx2"/>
                </a:solidFill>
              </a:rPr>
              <a:t>2</a:t>
            </a:r>
            <a:r>
              <a:rPr lang="en-US" sz="2000" smtClean="0">
                <a:solidFill>
                  <a:schemeClr val="tx2"/>
                </a:solidFill>
              </a:rPr>
              <a:t> × 1.110</a:t>
            </a:r>
            <a:r>
              <a:rPr lang="en-US" sz="2000" baseline="-25000" smtClean="0">
                <a:solidFill>
                  <a:schemeClr val="tx2"/>
                </a:solidFill>
              </a:rPr>
              <a:t>2</a:t>
            </a:r>
            <a:r>
              <a:rPr lang="en-US" sz="2000" smtClean="0">
                <a:solidFill>
                  <a:schemeClr val="tx2"/>
                </a:solidFill>
              </a:rPr>
              <a:t> = 1.1102  </a:t>
            </a:r>
            <a:r>
              <a:rPr lang="en-US" sz="2000" smtClean="0">
                <a:solidFill>
                  <a:schemeClr val="tx2"/>
                </a:solidFill>
                <a:sym typeface="Symbol" panose="05050102010706020507" pitchFamily="18" charset="2"/>
              </a:rPr>
              <a:t>  </a:t>
            </a:r>
            <a:r>
              <a:rPr lang="en-US" sz="2000" smtClean="0">
                <a:solidFill>
                  <a:schemeClr val="tx2"/>
                </a:solidFill>
              </a:rPr>
              <a:t>1.110</a:t>
            </a:r>
            <a:r>
              <a:rPr lang="en-US" sz="2000" baseline="-25000" smtClean="0">
                <a:solidFill>
                  <a:schemeClr val="tx2"/>
                </a:solidFill>
              </a:rPr>
              <a:t>2</a:t>
            </a:r>
            <a:r>
              <a:rPr lang="en-US" sz="2000" smtClean="0">
                <a:solidFill>
                  <a:schemeClr val="tx2"/>
                </a:solidFill>
              </a:rPr>
              <a:t> × 2</a:t>
            </a:r>
            <a:r>
              <a:rPr lang="en-US" sz="2000" baseline="30000" smtClean="0">
                <a:solidFill>
                  <a:schemeClr val="tx2"/>
                </a:solidFill>
              </a:rPr>
              <a:t>–3</a:t>
            </a:r>
            <a:endParaRPr lang="en-US" sz="2000" baseline="30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3. Normalize result &amp; check for over/underflow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tx2"/>
                </a:solidFill>
              </a:rPr>
              <a:t>1.110</a:t>
            </a:r>
            <a:r>
              <a:rPr lang="en-US" sz="2000" baseline="-25000" smtClean="0">
                <a:solidFill>
                  <a:schemeClr val="tx2"/>
                </a:solidFill>
              </a:rPr>
              <a:t>2</a:t>
            </a:r>
            <a:r>
              <a:rPr lang="en-US" sz="2000" smtClean="0">
                <a:solidFill>
                  <a:schemeClr val="tx2"/>
                </a:solidFill>
              </a:rPr>
              <a:t> × 2</a:t>
            </a:r>
            <a:r>
              <a:rPr lang="en-US" sz="2000" baseline="30000" smtClean="0">
                <a:solidFill>
                  <a:schemeClr val="tx2"/>
                </a:solidFill>
              </a:rPr>
              <a:t>–3</a:t>
            </a:r>
            <a:r>
              <a:rPr lang="en-US" sz="2000" smtClean="0">
                <a:solidFill>
                  <a:schemeClr val="tx2"/>
                </a:solidFill>
              </a:rPr>
              <a:t> (no change) with no over/underflow</a:t>
            </a:r>
            <a:endParaRPr lang="en-US" sz="2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4. Round and renormalize if necessary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tx2"/>
                </a:solidFill>
              </a:rPr>
              <a:t>1.110</a:t>
            </a:r>
            <a:r>
              <a:rPr lang="en-US" sz="2000" baseline="-25000" smtClean="0">
                <a:solidFill>
                  <a:schemeClr val="tx2"/>
                </a:solidFill>
              </a:rPr>
              <a:t>2</a:t>
            </a:r>
            <a:r>
              <a:rPr lang="en-US" sz="2000" smtClean="0">
                <a:solidFill>
                  <a:schemeClr val="tx2"/>
                </a:solidFill>
              </a:rPr>
              <a:t> × 2</a:t>
            </a:r>
            <a:r>
              <a:rPr lang="en-US" sz="2000" baseline="30000" smtClean="0">
                <a:solidFill>
                  <a:schemeClr val="tx2"/>
                </a:solidFill>
              </a:rPr>
              <a:t>–3</a:t>
            </a:r>
            <a:r>
              <a:rPr lang="en-US" sz="2000" smtClean="0">
                <a:solidFill>
                  <a:schemeClr val="tx2"/>
                </a:solidFill>
              </a:rPr>
              <a:t> (no change)</a:t>
            </a:r>
            <a:endParaRPr lang="en-US" sz="200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5. Determine sign: +ve × –ve </a:t>
            </a:r>
            <a:r>
              <a:rPr lang="en-US" sz="2400" smtClean="0">
                <a:sym typeface="Symbol" panose="05050102010706020507" pitchFamily="18" charset="2"/>
              </a:rPr>
              <a:t> </a:t>
            </a:r>
            <a:r>
              <a:rPr lang="en-US" sz="2400" smtClean="0"/>
              <a:t>–ve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tx2"/>
                </a:solidFill>
              </a:rPr>
              <a:t>–1.110</a:t>
            </a:r>
            <a:r>
              <a:rPr lang="en-US" sz="2000" baseline="-25000" smtClean="0">
                <a:solidFill>
                  <a:schemeClr val="tx2"/>
                </a:solidFill>
              </a:rPr>
              <a:t>2</a:t>
            </a:r>
            <a:r>
              <a:rPr lang="en-US" sz="2000" smtClean="0">
                <a:solidFill>
                  <a:schemeClr val="tx2"/>
                </a:solidFill>
              </a:rPr>
              <a:t> × 2</a:t>
            </a:r>
            <a:r>
              <a:rPr lang="en-US" sz="2000" baseline="30000" smtClean="0">
                <a:solidFill>
                  <a:schemeClr val="tx2"/>
                </a:solidFill>
              </a:rPr>
              <a:t>–3</a:t>
            </a:r>
            <a:r>
              <a:rPr lang="en-US" sz="2000" smtClean="0">
                <a:solidFill>
                  <a:schemeClr val="tx2"/>
                </a:solidFill>
              </a:rPr>
              <a:t>  = –0.21875</a:t>
            </a:r>
            <a:endParaRPr lang="en-US" sz="2000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08AD393A-0105-4F6A-B883-F44FC8DCCABD}" type="slidenum">
              <a:rPr lang="en-AU" altLang="zh-CN"/>
            </a:fld>
            <a:endParaRPr lang="en-AU" altLang="zh-CN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FP Arithmetic Hardware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FP multiplier is of similar complexity to FP adder</a:t>
            </a: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But uses a multiplier for significands instead of an adder</a:t>
            </a: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FP arithmetic hardware usually does</a:t>
            </a: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Addition, subtraction, multiplication, division, reciprocal, square-root</a:t>
            </a: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FP </a:t>
            </a:r>
            <a:r>
              <a:rPr lang="en-US" smtClean="0">
                <a:sym typeface="Symbol" panose="05050102010706020507" pitchFamily="18" charset="2"/>
              </a:rPr>
              <a:t> integer conversion</a:t>
            </a:r>
            <a:endParaRPr lang="en-US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Operations usually takes several cycles</a:t>
            </a:r>
            <a:endParaRPr lang="en-US" smtClean="0"/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Can be pipelined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F9DA3F58-7875-4657-B8A9-71B9B794DC44}" type="slidenum">
              <a:rPr lang="en-AU" altLang="zh-CN"/>
            </a:fld>
            <a:endParaRPr lang="en-AU" altLang="zh-CN"/>
          </a:p>
        </p:txBody>
      </p:sp>
      <p:sp>
        <p:nvSpPr>
          <p:cNvPr id="3993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FP Instructions in MIPS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096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FP hardware is coprocessor 1</a:t>
            </a:r>
            <a:endParaRPr lang="en-US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Adjunct processor that extends the ISA</a:t>
            </a: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Separate FP registers</a:t>
            </a:r>
            <a:endParaRPr lang="en-US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32 single-precision: </a:t>
            </a:r>
            <a:r>
              <a:rPr lang="en-US" sz="2400" dirty="0" smtClean="0">
                <a:solidFill>
                  <a:srgbClr val="FF0000"/>
                </a:solidFill>
              </a:rPr>
              <a:t>$f0, $f1, … $f31</a:t>
            </a:r>
            <a:endParaRPr lang="en-US" sz="2400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Paired for double-precision: $</a:t>
            </a:r>
            <a:r>
              <a:rPr lang="en-US" sz="2400" dirty="0" smtClean="0">
                <a:solidFill>
                  <a:srgbClr val="FF0000"/>
                </a:solidFill>
              </a:rPr>
              <a:t>f0/$f1, $f2/$f3</a:t>
            </a:r>
            <a:r>
              <a:rPr lang="en-US" sz="2400" dirty="0" smtClean="0"/>
              <a:t>, …</a:t>
            </a:r>
            <a:endParaRPr lang="en-US" sz="2400" dirty="0" smtClean="0"/>
          </a:p>
          <a:p>
            <a:pPr lvl="2" eaLnBrk="1" hangingPunct="1">
              <a:lnSpc>
                <a:spcPct val="80000"/>
              </a:lnSpc>
            </a:pPr>
            <a:r>
              <a:rPr lang="en-US" sz="2000" dirty="0" smtClean="0"/>
              <a:t>Release 2 of MIPs ISA supports 32 × 64-bit FP </a:t>
            </a:r>
            <a:r>
              <a:rPr lang="en-US" sz="2000" dirty="0" err="1" smtClean="0"/>
              <a:t>reg’s</a:t>
            </a: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FP instructions operate only on FP registers</a:t>
            </a:r>
            <a:endParaRPr lang="en-US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Programs generally don’t do integer ops on FP data, or vice versa</a:t>
            </a:r>
            <a:endParaRPr lang="en-US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More registers with minimal code-size impact</a:t>
            </a: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FP load and store instructions</a:t>
            </a:r>
            <a:endParaRPr lang="en-US" sz="28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lwc1</a:t>
            </a:r>
            <a:r>
              <a:rPr lang="en-US" sz="2400" dirty="0" smtClean="0">
                <a:solidFill>
                  <a:schemeClr val="tx2"/>
                </a:solidFill>
              </a:rPr>
              <a:t>, </a:t>
            </a:r>
            <a:r>
              <a:rPr lang="en-US" sz="2400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ldc1</a:t>
            </a:r>
            <a:r>
              <a:rPr lang="en-US" sz="2400" dirty="0" smtClean="0">
                <a:solidFill>
                  <a:schemeClr val="tx2"/>
                </a:solidFill>
              </a:rPr>
              <a:t>, </a:t>
            </a:r>
            <a:r>
              <a:rPr lang="en-US" sz="2400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swc1</a:t>
            </a:r>
            <a:r>
              <a:rPr lang="en-US" sz="2400" dirty="0" smtClean="0">
                <a:solidFill>
                  <a:schemeClr val="tx2"/>
                </a:solidFill>
              </a:rPr>
              <a:t>, </a:t>
            </a:r>
            <a:r>
              <a:rPr lang="en-US" sz="2400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sdc1</a:t>
            </a:r>
            <a:endParaRPr lang="en-US" sz="2400" dirty="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sz="2000" dirty="0" smtClean="0"/>
              <a:t>e.g., </a:t>
            </a:r>
            <a:r>
              <a:rPr lang="en-US" sz="2000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ldc1 $f8, 32($</a:t>
            </a:r>
            <a:r>
              <a:rPr lang="en-US" sz="2000" dirty="0" err="1" smtClean="0">
                <a:solidFill>
                  <a:schemeClr val="tx2"/>
                </a:solidFill>
                <a:latin typeface="Lucida Console" panose="020B0609040504020204" pitchFamily="49" charset="0"/>
              </a:rPr>
              <a:t>sp</a:t>
            </a:r>
            <a:r>
              <a:rPr lang="en-US" sz="2000" dirty="0" smtClean="0">
                <a:solidFill>
                  <a:schemeClr val="tx2"/>
                </a:solidFill>
                <a:latin typeface="Lucida Console" panose="020B0609040504020204" pitchFamily="49" charset="0"/>
              </a:rPr>
              <a:t>)</a:t>
            </a:r>
            <a:endParaRPr lang="en-AU" altLang="zh-CN" sz="20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A1FF79BD-346D-4FF0-AFFD-6C38A31E6B10}" type="slidenum">
              <a:rPr lang="en-AU" altLang="zh-CN"/>
            </a:fld>
            <a:endParaRPr lang="en-AU" altLang="zh-CN"/>
          </a:p>
        </p:txBody>
      </p:sp>
      <p:sp>
        <p:nvSpPr>
          <p:cNvPr id="4096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FP Instructions in MIPS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198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smtClean="0"/>
              <a:t>Single-precision arithmetic</a:t>
            </a:r>
            <a:endParaRPr lang="en-US" sz="28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add.s</a:t>
            </a:r>
            <a:r>
              <a:rPr lang="en-US" sz="2400" smtClean="0">
                <a:solidFill>
                  <a:schemeClr val="tx2"/>
                </a:solidFill>
              </a:rPr>
              <a:t>, 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sub.s</a:t>
            </a:r>
            <a:r>
              <a:rPr lang="en-US" sz="2400" smtClean="0">
                <a:solidFill>
                  <a:schemeClr val="tx2"/>
                </a:solidFill>
              </a:rPr>
              <a:t>, 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mul.s</a:t>
            </a:r>
            <a:r>
              <a:rPr lang="en-US" sz="2400" smtClean="0">
                <a:solidFill>
                  <a:schemeClr val="tx2"/>
                </a:solidFill>
              </a:rPr>
              <a:t>, div.s</a:t>
            </a:r>
            <a:endParaRPr lang="en-US" sz="2400" smtClean="0">
              <a:solidFill>
                <a:schemeClr val="tx2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sz="2000" smtClean="0"/>
              <a:t>e.g., </a:t>
            </a:r>
            <a:r>
              <a:rPr lang="en-US" sz="2000" smtClean="0">
                <a:solidFill>
                  <a:schemeClr val="tx2"/>
                </a:solidFill>
                <a:latin typeface="Lucida Console" panose="020B0609040504020204" pitchFamily="49" charset="0"/>
              </a:rPr>
              <a:t>add.s $f0, $f1, $f6</a:t>
            </a:r>
            <a:endParaRPr lang="en-US" sz="200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Double-precision arithmetic</a:t>
            </a:r>
            <a:endParaRPr lang="en-US" sz="28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add.d</a:t>
            </a:r>
            <a:r>
              <a:rPr lang="en-US" sz="2400" smtClean="0">
                <a:solidFill>
                  <a:schemeClr val="tx2"/>
                </a:solidFill>
              </a:rPr>
              <a:t>, 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sub.d</a:t>
            </a:r>
            <a:r>
              <a:rPr lang="en-US" sz="2400" smtClean="0">
                <a:solidFill>
                  <a:schemeClr val="tx2"/>
                </a:solidFill>
              </a:rPr>
              <a:t>, 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mul.d</a:t>
            </a:r>
            <a:r>
              <a:rPr lang="en-US" sz="2400" smtClean="0">
                <a:solidFill>
                  <a:schemeClr val="tx2"/>
                </a:solidFill>
              </a:rPr>
              <a:t>, 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div.d</a:t>
            </a:r>
            <a:endParaRPr lang="en-US" sz="240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sz="2000" smtClean="0"/>
              <a:t>e.g., </a:t>
            </a:r>
            <a:r>
              <a:rPr lang="en-US" sz="2000" smtClean="0">
                <a:solidFill>
                  <a:schemeClr val="tx2"/>
                </a:solidFill>
                <a:latin typeface="Lucida Console" panose="020B0609040504020204" pitchFamily="49" charset="0"/>
              </a:rPr>
              <a:t>mul.d $f4, $f4, $f6</a:t>
            </a:r>
            <a:endParaRPr lang="en-US" sz="200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Single- and double-precision comparison</a:t>
            </a:r>
            <a:endParaRPr lang="en-US" sz="28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c.</a:t>
            </a:r>
            <a:r>
              <a:rPr lang="en-US" sz="2400" i="1" smtClean="0">
                <a:solidFill>
                  <a:schemeClr val="tx2"/>
                </a:solidFill>
                <a:latin typeface="Lucida Console" panose="020B0609040504020204" pitchFamily="49" charset="0"/>
              </a:rPr>
              <a:t>xx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.s</a:t>
            </a:r>
            <a:r>
              <a:rPr lang="en-US" sz="2400" smtClean="0">
                <a:solidFill>
                  <a:schemeClr val="tx2"/>
                </a:solidFill>
              </a:rPr>
              <a:t>, 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c.</a:t>
            </a:r>
            <a:r>
              <a:rPr lang="en-US" sz="2400" i="1" smtClean="0">
                <a:solidFill>
                  <a:schemeClr val="tx2"/>
                </a:solidFill>
                <a:latin typeface="Lucida Console" panose="020B0609040504020204" pitchFamily="49" charset="0"/>
              </a:rPr>
              <a:t>xx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.d</a:t>
            </a:r>
            <a:r>
              <a:rPr lang="en-US" sz="2400" smtClean="0">
                <a:solidFill>
                  <a:schemeClr val="tx2"/>
                </a:solidFill>
              </a:rPr>
              <a:t> (</a:t>
            </a:r>
            <a:r>
              <a:rPr lang="en-US" sz="2400" i="1" smtClean="0">
                <a:solidFill>
                  <a:schemeClr val="tx2"/>
                </a:solidFill>
              </a:rPr>
              <a:t>xx</a:t>
            </a:r>
            <a:r>
              <a:rPr lang="en-US" sz="2400" smtClean="0">
                <a:solidFill>
                  <a:schemeClr val="tx2"/>
                </a:solidFill>
              </a:rPr>
              <a:t> is 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eq</a:t>
            </a:r>
            <a:r>
              <a:rPr lang="en-US" sz="2400" smtClean="0">
                <a:solidFill>
                  <a:schemeClr val="tx2"/>
                </a:solidFill>
              </a:rPr>
              <a:t>, 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lt</a:t>
            </a:r>
            <a:r>
              <a:rPr lang="en-US" sz="2400" smtClean="0">
                <a:solidFill>
                  <a:schemeClr val="tx2"/>
                </a:solidFill>
              </a:rPr>
              <a:t>, 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le</a:t>
            </a:r>
            <a:r>
              <a:rPr lang="en-US" sz="2400" smtClean="0">
                <a:solidFill>
                  <a:schemeClr val="tx2"/>
                </a:solidFill>
              </a:rPr>
              <a:t>, …)</a:t>
            </a:r>
            <a:endParaRPr lang="en-US" sz="2400" smtClean="0">
              <a:solidFill>
                <a:schemeClr val="tx2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2400" smtClean="0"/>
              <a:t>Sets or clears FP condition-code bit</a:t>
            </a:r>
            <a:endParaRPr lang="en-US" sz="2400" smtClean="0"/>
          </a:p>
          <a:p>
            <a:pPr lvl="2" eaLnBrk="1" hangingPunct="1">
              <a:lnSpc>
                <a:spcPct val="80000"/>
              </a:lnSpc>
            </a:pPr>
            <a:r>
              <a:rPr lang="en-US" sz="2000" smtClean="0"/>
              <a:t>e.g. </a:t>
            </a:r>
            <a:r>
              <a:rPr lang="en-US" sz="2000" smtClean="0">
                <a:solidFill>
                  <a:schemeClr val="tx2"/>
                </a:solidFill>
                <a:latin typeface="Lucida Console" panose="020B0609040504020204" pitchFamily="49" charset="0"/>
              </a:rPr>
              <a:t>c.lt.s $f3, $f4</a:t>
            </a:r>
            <a:endParaRPr lang="en-US" sz="200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 smtClean="0"/>
              <a:t>Branch on FP condition code true or false</a:t>
            </a:r>
            <a:endParaRPr lang="en-US" sz="2800" smtClean="0"/>
          </a:p>
          <a:p>
            <a:pPr lvl="1" eaLnBrk="1" hangingPunct="1">
              <a:lnSpc>
                <a:spcPct val="80000"/>
              </a:lnSpc>
            </a:pP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bc1t</a:t>
            </a:r>
            <a:r>
              <a:rPr lang="en-US" sz="2400" smtClean="0">
                <a:solidFill>
                  <a:schemeClr val="tx2"/>
                </a:solidFill>
              </a:rPr>
              <a:t>, 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bc1f</a:t>
            </a:r>
            <a:endParaRPr lang="en-US" sz="240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sz="2000" smtClean="0"/>
              <a:t>e.g., </a:t>
            </a:r>
            <a:r>
              <a:rPr lang="en-US" sz="2000" smtClean="0">
                <a:solidFill>
                  <a:schemeClr val="tx2"/>
                </a:solidFill>
                <a:latin typeface="Lucida Console" panose="020B0609040504020204" pitchFamily="49" charset="0"/>
              </a:rPr>
              <a:t>bc1t TargetLabel</a:t>
            </a:r>
            <a:endParaRPr lang="en-AU" altLang="zh-CN" sz="20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8C4C18EE-FBF2-4CC6-8E0B-E1296E397F67}" type="slidenum">
              <a:rPr lang="en-AU" altLang="zh-CN"/>
            </a:fld>
            <a:endParaRPr lang="en-AU" altLang="zh-CN"/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FP Example: °F to °C</a:t>
            </a:r>
            <a:endParaRPr lang="en-US" smtClean="0"/>
          </a:p>
        </p:txBody>
      </p:sp>
      <p:sp>
        <p:nvSpPr>
          <p:cNvPr id="4403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 code:</a:t>
            </a:r>
            <a:endParaRPr lang="en-US" sz="28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smtClean="0">
                <a:latin typeface="Lucida Console" panose="020B0609040504020204" pitchFamily="49" charset="0"/>
              </a:rPr>
              <a:t>	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float f2c (float fahr) {</a:t>
            </a:r>
            <a:b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return ((5.0/9.0)*(fahr - 32.0));</a:t>
            </a:r>
            <a:b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}</a:t>
            </a:r>
            <a:endParaRPr lang="en-US" sz="240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latin typeface="Lucida Console" panose="020B0609040504020204" pitchFamily="49" charset="0"/>
              </a:rPr>
              <a:t>fahr</a:t>
            </a:r>
            <a:r>
              <a:rPr lang="en-US" sz="2400" smtClean="0"/>
              <a:t> in </a:t>
            </a:r>
            <a:r>
              <a:rPr lang="en-US" sz="2400" smtClean="0">
                <a:solidFill>
                  <a:srgbClr val="FF0000"/>
                </a:solidFill>
              </a:rPr>
              <a:t>$f12</a:t>
            </a:r>
            <a:r>
              <a:rPr lang="en-US" sz="2400" smtClean="0"/>
              <a:t>, result in </a:t>
            </a:r>
            <a:r>
              <a:rPr lang="en-US" sz="2400" smtClean="0">
                <a:solidFill>
                  <a:srgbClr val="FF0000"/>
                </a:solidFill>
              </a:rPr>
              <a:t>$f0</a:t>
            </a:r>
            <a:r>
              <a:rPr lang="en-US" sz="2400" smtClean="0"/>
              <a:t>, literals in global memory space</a:t>
            </a:r>
            <a:endParaRPr 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Compiled MIPS code:</a:t>
            </a:r>
            <a:endParaRPr lang="en-US" sz="28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smtClean="0">
                <a:latin typeface="Lucida Console" panose="020B0609040504020204" pitchFamily="49" charset="0"/>
              </a:rPr>
              <a:t>	</a:t>
            </a: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f2c: lwc1  $f16, const5($gp)</a:t>
            </a:r>
            <a:b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 lwc2  $f18, const9($gp)</a:t>
            </a:r>
            <a:b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 div.s $f16, $f16, $f18</a:t>
            </a:r>
            <a:b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 lwc1  $f18, const32($gp)</a:t>
            </a:r>
            <a:b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 sub.s $f18, $f12, $f18</a:t>
            </a:r>
            <a:b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 mul.s $f0,  $f16, $f18</a:t>
            </a:r>
            <a:b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en-US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 jr    $ra</a:t>
            </a:r>
            <a:endParaRPr lang="en-AU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07EBE580-296E-48A9-8CCF-66204ACFD155}" type="slidenum">
              <a:rPr lang="en-AU" altLang="zh-CN"/>
            </a:fld>
            <a:endParaRPr lang="en-AU" altLang="zh-CN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sz="4000" smtClean="0"/>
              <a:t>FP Example: Array Multiplication</a:t>
            </a:r>
            <a:endParaRPr lang="en-US" sz="4000" smtClean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X = X + Y </a:t>
            </a:r>
            <a:r>
              <a:rPr lang="en-US" sz="2800" smtClean="0">
                <a:cs typeface="Arial" panose="020B0604020202020204" pitchFamily="34" charset="0"/>
              </a:rPr>
              <a:t>× Z</a:t>
            </a:r>
            <a:endParaRPr lang="en-US" sz="2800" smtClean="0"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smtClean="0">
                <a:cs typeface="Arial" panose="020B0604020202020204" pitchFamily="34" charset="0"/>
              </a:rPr>
              <a:t>All 32 × 32 matrices, 64-bit double-precision elements</a:t>
            </a:r>
            <a:endParaRPr lang="en-US" sz="2400" smtClean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 code:</a:t>
            </a:r>
            <a:endParaRPr lang="en-US" sz="28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smtClean="0">
                <a:latin typeface="Lucida Console" panose="020B0609040504020204" pitchFamily="49" charset="0"/>
              </a:rPr>
              <a:t>	</a:t>
            </a:r>
            <a: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void mm (double x[][],</a:t>
            </a:r>
            <a:b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     double y[][], double z[][]) {</a:t>
            </a:r>
            <a:b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int i, j, k;</a:t>
            </a:r>
            <a:b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for (i = 0; i! = 32; i = i + 1)</a:t>
            </a:r>
            <a:b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for (j = 0; j! = 32; j = j + 1)</a:t>
            </a:r>
            <a:b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  for (k = 0; k! = 32; k = k + 1)</a:t>
            </a:r>
            <a:b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    x[i][j] = x[i][j]</a:t>
            </a:r>
            <a:b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                  + y[i][k] * z[k][j];</a:t>
            </a:r>
            <a:b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</a:br>
            <a:r>
              <a:rPr lang="nb-NO" sz="2400" smtClean="0">
                <a:solidFill>
                  <a:schemeClr val="tx2"/>
                </a:solidFill>
                <a:latin typeface="Lucida Console" panose="020B0609040504020204" pitchFamily="49" charset="0"/>
              </a:rPr>
              <a:t>}</a:t>
            </a:r>
            <a:endParaRPr lang="en-US" sz="2400" smtClean="0">
              <a:solidFill>
                <a:schemeClr val="tx2"/>
              </a:solidFill>
              <a:latin typeface="Lucida Console" panose="020B0609040504020204" pitchFamily="49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Addresses of </a:t>
            </a:r>
            <a:r>
              <a:rPr lang="en-US" sz="2400" smtClean="0">
                <a:latin typeface="Lucida Console" panose="020B0609040504020204" pitchFamily="49" charset="0"/>
              </a:rPr>
              <a:t>x</a:t>
            </a:r>
            <a:r>
              <a:rPr lang="en-US" sz="2400" smtClean="0"/>
              <a:t>, </a:t>
            </a:r>
            <a:r>
              <a:rPr lang="en-US" sz="2400" smtClean="0">
                <a:latin typeface="Lucida Console" panose="020B0609040504020204" pitchFamily="49" charset="0"/>
              </a:rPr>
              <a:t>y</a:t>
            </a:r>
            <a:r>
              <a:rPr lang="en-US" sz="2400" smtClean="0"/>
              <a:t>, </a:t>
            </a:r>
            <a:r>
              <a:rPr lang="en-US" sz="2400" smtClean="0">
                <a:latin typeface="Lucida Console" panose="020B0609040504020204" pitchFamily="49" charset="0"/>
              </a:rPr>
              <a:t>z</a:t>
            </a:r>
            <a:r>
              <a:rPr lang="en-US" sz="2400" smtClean="0"/>
              <a:t> in </a:t>
            </a:r>
            <a:r>
              <a:rPr lang="en-US" sz="2400" smtClean="0">
                <a:solidFill>
                  <a:srgbClr val="FF0000"/>
                </a:solidFill>
              </a:rPr>
              <a:t>$a0, $a1, $a2</a:t>
            </a:r>
            <a:r>
              <a:rPr lang="en-US" sz="2400" smtClean="0"/>
              <a:t>, and</a:t>
            </a:r>
            <a:br>
              <a:rPr lang="en-US" sz="2400" smtClean="0"/>
            </a:br>
            <a:r>
              <a:rPr lang="en-US" sz="2400" smtClean="0">
                <a:latin typeface="Lucida Console" panose="020B0609040504020204" pitchFamily="49" charset="0"/>
              </a:rPr>
              <a:t>i</a:t>
            </a:r>
            <a:r>
              <a:rPr lang="en-US" sz="2400" smtClean="0"/>
              <a:t>, </a:t>
            </a:r>
            <a:r>
              <a:rPr lang="en-US" sz="2400" smtClean="0">
                <a:latin typeface="Lucida Console" panose="020B0609040504020204" pitchFamily="49" charset="0"/>
              </a:rPr>
              <a:t>j</a:t>
            </a:r>
            <a:r>
              <a:rPr lang="en-US" sz="2400" smtClean="0"/>
              <a:t>, </a:t>
            </a:r>
            <a:r>
              <a:rPr lang="en-US" sz="2400" smtClean="0">
                <a:latin typeface="Lucida Console" panose="020B0609040504020204" pitchFamily="49" charset="0"/>
              </a:rPr>
              <a:t>k</a:t>
            </a:r>
            <a:r>
              <a:rPr lang="en-US" sz="2400" smtClean="0"/>
              <a:t> in </a:t>
            </a:r>
            <a:r>
              <a:rPr lang="en-US" sz="2400" smtClean="0">
                <a:solidFill>
                  <a:srgbClr val="FF0000"/>
                </a:solidFill>
              </a:rPr>
              <a:t>$s0, $s1, $s2</a:t>
            </a:r>
            <a:endParaRPr lang="en-US" sz="24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1B5E2F19-F438-404B-B23E-C5D7AB969512}" type="slidenum">
              <a:rPr lang="en-AU" altLang="zh-CN"/>
            </a:fld>
            <a:endParaRPr lang="en-AU" altLang="zh-CN"/>
          </a:p>
        </p:txBody>
      </p:sp>
      <p:sp>
        <p:nvSpPr>
          <p:cNvPr id="44035" name="Rectangle 7"/>
          <p:cNvSpPr>
            <a:spLocks noChangeArrowheads="1"/>
          </p:cNvSpPr>
          <p:nvPr/>
        </p:nvSpPr>
        <p:spPr bwMode="auto">
          <a:xfrm>
            <a:off x="684213" y="1628775"/>
            <a:ext cx="8135937" cy="12382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36" name="Rectangle 8"/>
          <p:cNvSpPr>
            <a:spLocks noChangeArrowheads="1"/>
          </p:cNvSpPr>
          <p:nvPr/>
        </p:nvSpPr>
        <p:spPr bwMode="auto">
          <a:xfrm>
            <a:off x="684213" y="2867025"/>
            <a:ext cx="8135937" cy="15049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37" name="Rectangle 9"/>
          <p:cNvSpPr>
            <a:spLocks noChangeArrowheads="1"/>
          </p:cNvSpPr>
          <p:nvPr/>
        </p:nvSpPr>
        <p:spPr bwMode="auto">
          <a:xfrm>
            <a:off x="684213" y="4371975"/>
            <a:ext cx="8135937" cy="15049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38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sz="4000" smtClean="0"/>
              <a:t>FP Example: Array Multiplication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44039" name="Rectangle 5"/>
          <p:cNvSpPr>
            <a:spLocks noChangeArrowheads="1"/>
          </p:cNvSpPr>
          <p:nvPr/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sz="2800"/>
              <a:t>  MIPS code:</a:t>
            </a:r>
            <a:endParaRPr lang="en-US" sz="2800"/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Lucida Console" panose="020B0609040504020204" pitchFamily="49" charset="0"/>
              </a:rPr>
              <a:t>    </a:t>
            </a: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li   $t1, 32       # $t1 = 32 (row size/loop end)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    li   $s0, 0        # i = 0; initialize 1st for loop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L1: li   $s1, 0        # j = 0; restart 2nd for loop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L2: li   $s2, 0        # k = 0; restart 3rd for loop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    sll  $t2, $s0, 5   # $t2 = i * 32 (size of row of x)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    </a:t>
            </a:r>
            <a:r>
              <a:rPr lang="fr-FR">
                <a:latin typeface="Lucida Console" panose="020B0609040504020204" pitchFamily="49" charset="0"/>
              </a:rPr>
              <a:t>addu $t2, $t2, $s1 # $t2 = i * size(row) + j</a:t>
            </a:r>
            <a:br>
              <a:rPr lang="fr-FR">
                <a:latin typeface="Lucida Console" panose="020B0609040504020204" pitchFamily="49" charset="0"/>
              </a:rPr>
            </a:br>
            <a:r>
              <a:rPr lang="fr-FR">
                <a:latin typeface="Lucida Console" panose="020B0609040504020204" pitchFamily="49" charset="0"/>
              </a:rPr>
              <a:t>    </a:t>
            </a: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sll  $t2, $t2, 3   # $t2 = byte offset of [i][j]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    addu $t2, $a0, $t2 # $t2 = byte address of x[i][j]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    l.d  $f4, 0($t2)   # $f4 = 8 bytes of x[i][j]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>
                <a:latin typeface="Lucida Console" panose="020B0609040504020204" pitchFamily="49" charset="0"/>
              </a:rPr>
              <a:t>L3: sll  $t0, $s2, 5   # $t0 = k * 32 (size of row of z)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addu $t0, $t0, $s1 # $t0 = k * size(row) + j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sll  $t0, $t0, 3   # $t0 = byte offset of [k][j]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addu $t0, $a2, $t0 # $t0 = byte address of z[k][j]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l.d  $f16, 0($t0)  # $f16 = 8 bytes of z[k][j]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…</a:t>
            </a:r>
            <a:endParaRPr lang="en-US">
              <a:latin typeface="Lucida Console" panose="020B060904050402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2C75AF23-061B-4222-B2CE-54B15CBE7199}" type="slidenum">
              <a:rPr lang="en-AU" altLang="zh-CN"/>
            </a:fld>
            <a:endParaRPr lang="en-AU" altLang="zh-CN"/>
          </a:p>
        </p:txBody>
      </p:sp>
      <p:sp>
        <p:nvSpPr>
          <p:cNvPr id="45059" name="Rectangle 5"/>
          <p:cNvSpPr>
            <a:spLocks noChangeArrowheads="1"/>
          </p:cNvSpPr>
          <p:nvPr/>
        </p:nvSpPr>
        <p:spPr bwMode="auto">
          <a:xfrm>
            <a:off x="684213" y="1484313"/>
            <a:ext cx="8135937" cy="149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0" name="Rectangle 6"/>
          <p:cNvSpPr>
            <a:spLocks noChangeArrowheads="1"/>
          </p:cNvSpPr>
          <p:nvPr/>
        </p:nvSpPr>
        <p:spPr bwMode="auto">
          <a:xfrm>
            <a:off x="684213" y="2982913"/>
            <a:ext cx="8135937" cy="5984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1" name="Rectangle 7"/>
          <p:cNvSpPr>
            <a:spLocks noChangeArrowheads="1"/>
          </p:cNvSpPr>
          <p:nvPr/>
        </p:nvSpPr>
        <p:spPr bwMode="auto">
          <a:xfrm>
            <a:off x="684213" y="3581400"/>
            <a:ext cx="8135937" cy="914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2" name="Rectangle 8"/>
          <p:cNvSpPr>
            <a:spLocks noChangeArrowheads="1"/>
          </p:cNvSpPr>
          <p:nvPr/>
        </p:nvSpPr>
        <p:spPr bwMode="auto">
          <a:xfrm>
            <a:off x="684213" y="4495800"/>
            <a:ext cx="8135937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3" name="Rectangle 9"/>
          <p:cNvSpPr>
            <a:spLocks noChangeArrowheads="1"/>
          </p:cNvSpPr>
          <p:nvPr/>
        </p:nvSpPr>
        <p:spPr bwMode="auto">
          <a:xfrm>
            <a:off x="684213" y="5105400"/>
            <a:ext cx="8135937" cy="60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6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sz="4000" smtClean="0"/>
              <a:t>FP Example: Array Multiplication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45065" name="Rectangle 3"/>
          <p:cNvSpPr>
            <a:spLocks noChangeArrowheads="1"/>
          </p:cNvSpPr>
          <p:nvPr/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>
                <a:latin typeface="Lucida Console" panose="020B0609040504020204" pitchFamily="49" charset="0"/>
              </a:rPr>
              <a:t>    …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</a:t>
            </a: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sll  $t0, $s0, 5       # $t0 = i*32 (size of row of y)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    addu  $t0, $t0, $s2    # $t0 = i*size(row) + k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    sll   $t0, $t0, 3      # $t0 = byte offset of [i][k]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    addu  $t0, $a1, $t0    # $t0 = byte address of y[i][k]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    l.d   $f18, 0($t0)     # $f18 = 8 bytes of y[i][k]</a:t>
            </a:r>
            <a:b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>
                <a:latin typeface="Lucida Console" panose="020B0609040504020204" pitchFamily="49" charset="0"/>
                <a:ea typeface="宋体" panose="02010600030101010101" pitchFamily="2" charset="-122"/>
              </a:rPr>
              <a:t>    </a:t>
            </a:r>
            <a:r>
              <a:rPr lang="en-US">
                <a:latin typeface="Lucida Console" panose="020B0609040504020204" pitchFamily="49" charset="0"/>
              </a:rPr>
              <a:t>mul.d $f16, $f18, $f16 # $f16 = y[i][k] * z[k][j]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add.d $f4, $f4, $f16   # f4=x[i][j] + y[i][k]*z[k][j]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addiu $s2, $s2, 1      # $k = k + 1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bne   $s2, $t1, L3     # if (k != 32) go to L3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s.d   $f4, 0($t2)      # x[i][j] = $f4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addiu $s1, $s1, 1      # $j = j + 1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bne   $s1, $t1, L2     # if (j != 32) go to L2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addiu $s0, $s0, 1      # $i = i + 1</a:t>
            </a:r>
            <a:br>
              <a:rPr lang="en-US">
                <a:latin typeface="Lucida Console" panose="020B0609040504020204" pitchFamily="49" charset="0"/>
              </a:rPr>
            </a:br>
            <a:r>
              <a:rPr lang="en-US">
                <a:latin typeface="Lucida Console" panose="020B0609040504020204" pitchFamily="49" charset="0"/>
              </a:rPr>
              <a:t>    bne   $s0, $t1, L1     # if (i != 32) go to L1</a:t>
            </a:r>
            <a:endParaRPr lang="en-US">
              <a:latin typeface="Lucida Console" panose="020B060904050402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F836383E-8A16-4D90-A116-45728D5F86D0}" type="slidenum">
              <a:rPr lang="en-AU" altLang="zh-CN"/>
            </a:fld>
            <a:endParaRPr lang="en-AU" altLang="zh-CN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Accurate Arithmetic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Infinite variety of real numbers between, say, 0 and 1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Only 2</a:t>
            </a:r>
            <a:r>
              <a:rPr lang="en-US" sz="2000" baseline="30000" smtClean="0"/>
              <a:t>53</a:t>
            </a:r>
            <a:r>
              <a:rPr lang="en-US" sz="2000" smtClean="0"/>
              <a:t> can be represented by double precision FP</a:t>
            </a: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IEEE Std 754 specifies additional rounding control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Extra bits of precision (</a:t>
            </a:r>
            <a:r>
              <a:rPr lang="en-US" sz="2000" smtClean="0">
                <a:solidFill>
                  <a:srgbClr val="FF0000"/>
                </a:solidFill>
              </a:rPr>
              <a:t>guard, round, sticky</a:t>
            </a:r>
            <a:r>
              <a:rPr lang="en-US" sz="2000" smtClean="0"/>
              <a:t>)</a:t>
            </a:r>
            <a:endParaRPr lang="en-US" sz="20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rgbClr val="FF0000"/>
                </a:solidFill>
              </a:rPr>
              <a:t>guard</a:t>
            </a:r>
            <a:r>
              <a:rPr lang="en-US" sz="2000" smtClean="0"/>
              <a:t> and </a:t>
            </a:r>
            <a:r>
              <a:rPr lang="en-US" sz="2000" smtClean="0">
                <a:solidFill>
                  <a:srgbClr val="FF0000"/>
                </a:solidFill>
              </a:rPr>
              <a:t>round </a:t>
            </a:r>
            <a:r>
              <a:rPr lang="en-US" sz="2000" smtClean="0"/>
              <a:t>bits are 2 extra bits kept on the right during intermediate additions</a:t>
            </a:r>
            <a:endParaRPr lang="en-US" sz="2000" smtClean="0"/>
          </a:p>
          <a:p>
            <a:pPr lvl="1"/>
            <a:r>
              <a:rPr lang="en-US" sz="2000" smtClean="0">
                <a:solidFill>
                  <a:srgbClr val="FF0000"/>
                </a:solidFill>
              </a:rPr>
              <a:t>sticky</a:t>
            </a:r>
            <a:r>
              <a:rPr lang="en-US" sz="2000" smtClean="0"/>
              <a:t> bit used in rounding in addition to </a:t>
            </a:r>
            <a:r>
              <a:rPr lang="en-US" sz="2000" smtClean="0">
                <a:solidFill>
                  <a:srgbClr val="FF0000"/>
                </a:solidFill>
              </a:rPr>
              <a:t>guard</a:t>
            </a:r>
            <a:r>
              <a:rPr lang="en-US" sz="2000" smtClean="0"/>
              <a:t> and </a:t>
            </a:r>
            <a:r>
              <a:rPr lang="en-US" sz="2000" smtClean="0">
                <a:solidFill>
                  <a:srgbClr val="FF0000"/>
                </a:solidFill>
              </a:rPr>
              <a:t>round</a:t>
            </a:r>
            <a:r>
              <a:rPr lang="en-US" sz="2000" smtClean="0"/>
              <a:t> bits; is set whenever a 1 bit shifts right of the round bit</a:t>
            </a: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endParaRPr lang="en-US" sz="12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Not all FP units implement all options</a:t>
            </a:r>
            <a:endParaRPr 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Most programming languages and FP libraries just use defaults</a:t>
            </a: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Trade-off between hardware complexity, performance, and market requirements</a:t>
            </a:r>
            <a:endParaRPr lang="en-US" sz="2400" smtClean="0"/>
          </a:p>
          <a:p>
            <a:pPr eaLnBrk="1" hangingPunct="1">
              <a:lnSpc>
                <a:spcPct val="90000"/>
              </a:lnSpc>
            </a:pPr>
            <a:endParaRPr lang="en-AU" altLang="zh-CN" sz="2400" smtClean="0">
              <a:ea typeface="宋体" panose="02010600030101010101" pitchFamily="2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600200" y="3954463"/>
            <a:ext cx="59150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>
                <a:solidFill>
                  <a:srgbClr val="008000"/>
                </a:solidFill>
              </a:rPr>
              <a:t>F  =  1 . </a:t>
            </a:r>
            <a:r>
              <a:rPr lang="en-US" sz="2400"/>
              <a:t>xxxxxxxxxxxxxxxxxxxxxxx</a:t>
            </a:r>
            <a:r>
              <a:rPr lang="en-US" sz="2400">
                <a:solidFill>
                  <a:schemeClr val="accent2"/>
                </a:solidFill>
              </a:rPr>
              <a:t> </a:t>
            </a:r>
            <a:r>
              <a:rPr lang="en-US" sz="2400">
                <a:solidFill>
                  <a:srgbClr val="008000"/>
                </a:solidFill>
              </a:rPr>
              <a:t>G R S</a:t>
            </a:r>
            <a:endParaRPr lang="en-US" sz="240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68B998DE-BF1D-4C6B-8E31-9AE120D05D38}" type="slidenum">
              <a:rPr lang="en-AU" altLang="zh-CN"/>
            </a:fld>
            <a:endParaRPr lang="en-AU" altLang="zh-CN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Interpretation of Data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33575"/>
            <a:ext cx="8270875" cy="4303713"/>
          </a:xfrm>
        </p:spPr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Bits have no inherent meaning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Same bits can represent a variety of objects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Interpretation depends on the instructions applied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Computer representations of numbers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Finite range and precision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Programmers, computer systems must </a:t>
            </a:r>
            <a:r>
              <a:rPr lang="en-AU" altLang="zh-CN" sz="2400" smtClean="0">
                <a:solidFill>
                  <a:srgbClr val="008000"/>
                </a:solidFill>
                <a:ea typeface="宋体" panose="02010600030101010101" pitchFamily="2" charset="-122"/>
              </a:rPr>
              <a:t>minimize gap </a:t>
            </a:r>
            <a:r>
              <a:rPr lang="en-AU" altLang="zh-CN" sz="2400" smtClean="0">
                <a:ea typeface="宋体" panose="02010600030101010101" pitchFamily="2" charset="-122"/>
              </a:rPr>
              <a:t>between computer arithmetic and real world arithmetic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  <p:sp>
        <p:nvSpPr>
          <p:cNvPr id="47109" name="Text Box 4"/>
          <p:cNvSpPr txBox="1">
            <a:spLocks noChangeArrowheads="1"/>
          </p:cNvSpPr>
          <p:nvPr/>
        </p:nvSpPr>
        <p:spPr bwMode="auto">
          <a:xfrm>
            <a:off x="684213" y="1258888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b="1">
                <a:solidFill>
                  <a:schemeClr val="folHlink"/>
                </a:solidFill>
                <a:latin typeface="Arial Black" panose="020B0A04020102020204" pitchFamily="34" charset="0"/>
              </a:rPr>
              <a:t>The BIG Picture</a:t>
            </a:r>
            <a:endParaRPr lang="en-US" sz="2400" b="1">
              <a:solidFill>
                <a:schemeClr val="folHlink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43D536C4-7BD5-43BC-B0BF-2C12D733AC24}" type="slidenum">
              <a:rPr lang="en-AU" altLang="zh-CN"/>
            </a:fld>
            <a:endParaRPr lang="en-AU" altLang="zh-CN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dirty="0" smtClean="0">
                <a:ea typeface="宋体" panose="02010600030101010101" pitchFamily="2" charset="-122"/>
              </a:rPr>
              <a:t>Parallelism and Associativity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636712"/>
          </a:xfrm>
        </p:spPr>
        <p:txBody>
          <a:bodyPr/>
          <a:lstStyle/>
          <a:p>
            <a:pPr eaLnBrk="1" hangingPunct="1"/>
            <a:r>
              <a:rPr lang="en-AU" altLang="zh-CN" sz="2400" smtClean="0">
                <a:ea typeface="宋体" panose="02010600030101010101" pitchFamily="2" charset="-122"/>
              </a:rPr>
              <a:t>Parallel programs may interleave operations in unexpected orders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000" smtClean="0">
                <a:ea typeface="宋体" panose="02010600030101010101" pitchFamily="2" charset="-122"/>
              </a:rPr>
              <a:t>Integer addition is associative</a:t>
            </a:r>
            <a:endParaRPr lang="en-AU" altLang="zh-CN" sz="20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000" smtClean="0">
                <a:ea typeface="宋体" panose="02010600030101010101" pitchFamily="2" charset="-122"/>
              </a:rPr>
              <a:t>Assumptions of associativity for FP numbers may fail!</a:t>
            </a:r>
            <a:endParaRPr lang="en-AU" altLang="zh-CN" sz="2000" smtClean="0">
              <a:ea typeface="宋体" panose="02010600030101010101" pitchFamily="2" charset="-122"/>
            </a:endParaRPr>
          </a:p>
        </p:txBody>
      </p:sp>
      <p:sp>
        <p:nvSpPr>
          <p:cNvPr id="48133" name="Text Box 4"/>
          <p:cNvSpPr txBox="1">
            <a:spLocks noChangeArrowheads="1"/>
          </p:cNvSpPr>
          <p:nvPr/>
        </p:nvSpPr>
        <p:spPr bwMode="auto">
          <a:xfrm rot="5400000">
            <a:off x="6068219" y="2709069"/>
            <a:ext cx="57848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§3.6 Parallelism and Computer Arithmetic: Associativity</a:t>
            </a:r>
            <a:endParaRPr lang="en-US">
              <a:solidFill>
                <a:schemeClr val="folHlink"/>
              </a:solidFill>
            </a:endParaRP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771650" y="2800350"/>
          <a:ext cx="5238750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2" name="Worksheet" r:id="rId1" imgW="5732780" imgH="2075180" progId="Excel.Sheet.8">
                  <p:embed/>
                </p:oleObj>
              </mc:Choice>
              <mc:Fallback>
                <p:oleObj name="Worksheet" r:id="rId1" imgW="5732780" imgH="207518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2800350"/>
                        <a:ext cx="5238750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6"/>
          <p:cNvSpPr>
            <a:spLocks noChangeArrowheads="1"/>
          </p:cNvSpPr>
          <p:nvPr/>
        </p:nvSpPr>
        <p:spPr bwMode="auto">
          <a:xfrm>
            <a:off x="571500" y="4857750"/>
            <a:ext cx="82708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AU" altLang="zh-CN" sz="2400">
                <a:solidFill>
                  <a:srgbClr val="FF0000"/>
                </a:solidFill>
                <a:ea typeface="宋体" panose="02010600030101010101" pitchFamily="2" charset="-122"/>
              </a:rPr>
              <a:t>Floating point numbers are approximations of real numbers – not associative!</a:t>
            </a:r>
            <a:endParaRPr lang="en-AU" altLang="zh-CN" sz="24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AU" altLang="zh-CN" sz="2400">
                <a:ea typeface="宋体" panose="02010600030101010101" pitchFamily="2" charset="-122"/>
              </a:rPr>
              <a:t>Need to validate parallel programs under varying degrees of parallelism</a:t>
            </a:r>
            <a:endParaRPr lang="en-AU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9A059957-F14D-4750-83B0-D42BA02C859D}" type="slidenum">
              <a:rPr lang="en-AU" altLang="zh-CN"/>
            </a:fld>
            <a:endParaRPr lang="en-AU" altLang="zh-CN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x86 FP Architecture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Originally based on 8087 FP coprocessor</a:t>
            </a:r>
            <a:endParaRPr lang="en-US" sz="2800" smtClean="0"/>
          </a:p>
          <a:p>
            <a:pPr lvl="1" eaLnBrk="1" hangingPunct="1"/>
            <a:r>
              <a:rPr lang="en-US" sz="2400" smtClean="0"/>
              <a:t>8 × 80-bit extended-precision registers</a:t>
            </a:r>
            <a:endParaRPr lang="en-US" sz="2400" smtClean="0"/>
          </a:p>
          <a:p>
            <a:pPr lvl="1" eaLnBrk="1" hangingPunct="1"/>
            <a:r>
              <a:rPr lang="en-US" sz="2400" smtClean="0"/>
              <a:t>Used as a push-down stack</a:t>
            </a:r>
            <a:endParaRPr lang="en-US" sz="2400" smtClean="0"/>
          </a:p>
          <a:p>
            <a:pPr lvl="1" eaLnBrk="1" hangingPunct="1"/>
            <a:r>
              <a:rPr lang="en-US" sz="2400" smtClean="0"/>
              <a:t>Registers indexed from TOS: ST(0), ST(1), …</a:t>
            </a:r>
            <a:endParaRPr lang="en-US" sz="2400" smtClean="0"/>
          </a:p>
          <a:p>
            <a:pPr eaLnBrk="1" hangingPunct="1"/>
            <a:endParaRPr lang="en-US" sz="2800" smtClean="0"/>
          </a:p>
          <a:p>
            <a:pPr eaLnBrk="1" hangingPunct="1"/>
            <a:r>
              <a:rPr lang="en-US" sz="2800" smtClean="0"/>
              <a:t>FP values are 32-bit or 64-bit in memory</a:t>
            </a:r>
            <a:endParaRPr lang="en-US" sz="2800" smtClean="0"/>
          </a:p>
          <a:p>
            <a:pPr lvl="1" eaLnBrk="1" hangingPunct="1"/>
            <a:r>
              <a:rPr lang="en-US" sz="2400" smtClean="0"/>
              <a:t>Converted on load/store of memory operand</a:t>
            </a:r>
            <a:endParaRPr lang="en-US" sz="2400" smtClean="0"/>
          </a:p>
          <a:p>
            <a:pPr lvl="1" eaLnBrk="1" hangingPunct="1"/>
            <a:r>
              <a:rPr lang="en-US" sz="2400" smtClean="0"/>
              <a:t>Integer operands can also be converted</a:t>
            </a:r>
            <a:br>
              <a:rPr lang="en-US" sz="2400" smtClean="0"/>
            </a:br>
            <a:r>
              <a:rPr lang="en-US" sz="2400" smtClean="0"/>
              <a:t>on load/store</a:t>
            </a:r>
            <a:endParaRPr lang="en-US" sz="2400" smtClean="0"/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 rot="5400000">
            <a:off x="6823869" y="1953419"/>
            <a:ext cx="42735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§3.7 Real Stuff: Floating Point in the x86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35BE382C-DA09-4227-A67B-3913C6993AF8}" type="slidenum">
              <a:rPr lang="en-AU" altLang="zh-CN"/>
            </a:fld>
            <a:endParaRPr lang="en-AU" altLang="zh-CN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x86 FP Instructions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4213" y="4171950"/>
            <a:ext cx="8459787" cy="20653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No FP branch – FSTSW sends result of CMP to INT CPU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Optional variations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I</a:t>
            </a:r>
            <a:r>
              <a:rPr lang="en-AU" altLang="zh-CN" sz="2400" smtClean="0">
                <a:ea typeface="宋体" panose="02010600030101010101" pitchFamily="2" charset="-122"/>
              </a:rPr>
              <a:t>: integer operand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P</a:t>
            </a:r>
            <a:r>
              <a:rPr lang="en-AU" altLang="zh-CN" sz="2400" smtClean="0">
                <a:ea typeface="宋体" panose="02010600030101010101" pitchFamily="2" charset="-122"/>
              </a:rPr>
              <a:t>: pop operand from stack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</a:t>
            </a:r>
            <a:r>
              <a:rPr lang="en-AU" altLang="zh-CN" sz="2400" smtClean="0">
                <a:ea typeface="宋体" panose="02010600030101010101" pitchFamily="2" charset="-122"/>
              </a:rPr>
              <a:t>: reverse operand order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But not all combinations allowed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  <p:graphicFrame>
        <p:nvGraphicFramePr>
          <p:cNvPr id="356398" name="Group 46"/>
          <p:cNvGraphicFramePr>
            <a:graphicFrameLocks noGrp="1"/>
          </p:cNvGraphicFramePr>
          <p:nvPr/>
        </p:nvGraphicFramePr>
        <p:xfrm>
          <a:off x="684213" y="1397000"/>
          <a:ext cx="8255000" cy="2513029"/>
        </p:xfrm>
        <a:graphic>
          <a:graphicData uri="http://schemas.openxmlformats.org/drawingml/2006/table">
            <a:tbl>
              <a:tblPr/>
              <a:tblGrid>
                <a:gridCol w="2087562"/>
                <a:gridCol w="2376488"/>
                <a:gridCol w="1800225"/>
                <a:gridCol w="1990725"/>
              </a:tblGrid>
              <a:tr h="4221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transfer</a:t>
                      </a:r>
                      <a:endParaRPr kumimoji="0" lang="en-A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Arithmetic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Compare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Transcendental</a:t>
                      </a:r>
                      <a:endParaRPr kumimoji="0" lang="en-A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08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LD  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mem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/ST(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)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ST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P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mem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/ST(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)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FLDPI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FLD1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FLDZ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ADD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P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 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mem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/ST(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)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SUB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RP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mem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/ST(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) F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MUL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P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 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mem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/ST(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) F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DIV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RP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 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mem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/ST(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)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FSQRT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FABS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FRNDINT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COM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P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I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UCOM</a:t>
                      </a: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</a:rPr>
                        <a:t>P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FSTSW AX/</a:t>
                      </a:r>
                      <a:r>
                        <a:rPr kumimoji="0" lang="en-AU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mem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FPATAN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F2XMI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FCOS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FPTAN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FPREM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FPSIN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</a:rPr>
                        <a:t>FYL2X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5E4EDD3F-CAEE-4388-9ED1-A41457D81540}" type="slidenum">
              <a:rPr lang="en-AU" altLang="zh-CN"/>
            </a:fld>
            <a:endParaRPr lang="en-AU" altLang="zh-CN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6700"/>
            <a:ext cx="8259762" cy="641350"/>
          </a:xfrm>
        </p:spPr>
        <p:txBody>
          <a:bodyPr/>
          <a:lstStyle/>
          <a:p>
            <a:pPr eaLnBrk="1" hangingPunct="1"/>
            <a:r>
              <a:rPr lang="en-AU" altLang="zh-CN" sz="3600" smtClean="0">
                <a:ea typeface="宋体" panose="02010600030101010101" pitchFamily="2" charset="-122"/>
              </a:rPr>
              <a:t>Streaming SIMD Extension 2 (SSE2)</a:t>
            </a:r>
            <a:endParaRPr lang="en-AU" altLang="zh-CN" sz="3600" smtClean="0">
              <a:ea typeface="宋体" panose="02010600030101010101" pitchFamily="2" charset="-122"/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Adds 4 </a:t>
            </a:r>
            <a:r>
              <a:rPr lang="en-US" smtClean="0">
                <a:cs typeface="Arial" panose="020B0604020202020204" pitchFamily="34" charset="0"/>
              </a:rPr>
              <a:t>× </a:t>
            </a:r>
            <a:r>
              <a:rPr lang="en-US" smtClean="0">
                <a:solidFill>
                  <a:srgbClr val="FF0000"/>
                </a:solidFill>
                <a:cs typeface="Arial" panose="020B0604020202020204" pitchFamily="34" charset="0"/>
              </a:rPr>
              <a:t>128-bit</a:t>
            </a:r>
            <a:r>
              <a:rPr lang="en-US" smtClean="0">
                <a:cs typeface="Arial" panose="020B0604020202020204" pitchFamily="34" charset="0"/>
              </a:rPr>
              <a:t> registers</a:t>
            </a:r>
            <a:endParaRPr lang="en-US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smtClean="0">
                <a:cs typeface="Arial" panose="020B0604020202020204" pitchFamily="34" charset="0"/>
              </a:rPr>
              <a:t>Extended to 8 registers in AMD64/EM64T</a:t>
            </a:r>
            <a:endParaRPr 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smtClean="0">
                <a:cs typeface="Arial" panose="020B0604020202020204" pitchFamily="34" charset="0"/>
              </a:rPr>
              <a:t>Can be used for multiple FP operands</a:t>
            </a:r>
            <a:endParaRPr lang="en-US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smtClean="0">
                <a:cs typeface="Arial" panose="020B0604020202020204" pitchFamily="34" charset="0"/>
              </a:rPr>
              <a:t>2</a:t>
            </a:r>
            <a:r>
              <a:rPr lang="en-AU" altLang="zh-CN" smtClean="0">
                <a:ea typeface="宋体" panose="02010600030101010101" pitchFamily="2" charset="-122"/>
              </a:rPr>
              <a:t> </a:t>
            </a:r>
            <a:r>
              <a:rPr lang="en-US" smtClean="0">
                <a:cs typeface="Arial" panose="020B0604020202020204" pitchFamily="34" charset="0"/>
              </a:rPr>
              <a:t>× </a:t>
            </a:r>
            <a:r>
              <a:rPr lang="en-US" smtClean="0">
                <a:solidFill>
                  <a:srgbClr val="FF0000"/>
                </a:solidFill>
                <a:cs typeface="Arial" panose="020B0604020202020204" pitchFamily="34" charset="0"/>
              </a:rPr>
              <a:t>64-bit</a:t>
            </a:r>
            <a:r>
              <a:rPr lang="en-US" smtClean="0">
                <a:cs typeface="Arial" panose="020B0604020202020204" pitchFamily="34" charset="0"/>
              </a:rPr>
              <a:t> double precision</a:t>
            </a:r>
            <a:endParaRPr lang="en-US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smtClean="0">
                <a:cs typeface="Arial" panose="020B0604020202020204" pitchFamily="34" charset="0"/>
              </a:rPr>
              <a:t>4</a:t>
            </a:r>
            <a:r>
              <a:rPr lang="en-AU" altLang="zh-CN" smtClean="0">
                <a:ea typeface="宋体" panose="02010600030101010101" pitchFamily="2" charset="-122"/>
              </a:rPr>
              <a:t> </a:t>
            </a:r>
            <a:r>
              <a:rPr lang="en-US" smtClean="0">
                <a:cs typeface="Arial" panose="020B0604020202020204" pitchFamily="34" charset="0"/>
              </a:rPr>
              <a:t>× </a:t>
            </a:r>
            <a:r>
              <a:rPr lang="en-US" smtClean="0">
                <a:solidFill>
                  <a:srgbClr val="FF0000"/>
                </a:solidFill>
                <a:cs typeface="Arial" panose="020B0604020202020204" pitchFamily="34" charset="0"/>
              </a:rPr>
              <a:t>32-bit</a:t>
            </a:r>
            <a:r>
              <a:rPr lang="en-US" smtClean="0">
                <a:cs typeface="Arial" panose="020B0604020202020204" pitchFamily="34" charset="0"/>
              </a:rPr>
              <a:t> single precision</a:t>
            </a:r>
            <a:endParaRPr lang="en-US" smtClean="0">
              <a:cs typeface="Arial" panose="020B0604020202020204" pitchFamily="34" charset="0"/>
            </a:endParaRPr>
          </a:p>
          <a:p>
            <a:pPr lvl="1" eaLnBrk="1" hangingPunct="1"/>
            <a:r>
              <a:rPr lang="en-US" smtClean="0">
                <a:cs typeface="Arial" panose="020B0604020202020204" pitchFamily="34" charset="0"/>
              </a:rPr>
              <a:t>Instructions operate on them simultaneously</a:t>
            </a:r>
            <a:endParaRPr lang="en-US" smtClean="0">
              <a:cs typeface="Arial" panose="020B0604020202020204" pitchFamily="34" charset="0"/>
            </a:endParaRPr>
          </a:p>
          <a:p>
            <a:pPr lvl="2" eaLnBrk="1" hangingPunct="1"/>
            <a:r>
              <a:rPr lang="en-US" u="sng" smtClean="0">
                <a:cs typeface="Arial" panose="020B0604020202020204" pitchFamily="34" charset="0"/>
              </a:rPr>
              <a:t>S</a:t>
            </a:r>
            <a:r>
              <a:rPr lang="en-US" smtClean="0">
                <a:cs typeface="Arial" panose="020B0604020202020204" pitchFamily="34" charset="0"/>
              </a:rPr>
              <a:t>ingle-</a:t>
            </a:r>
            <a:r>
              <a:rPr lang="en-US" u="sng" smtClean="0">
                <a:cs typeface="Arial" panose="020B0604020202020204" pitchFamily="34" charset="0"/>
              </a:rPr>
              <a:t>I</a:t>
            </a:r>
            <a:r>
              <a:rPr lang="en-US" smtClean="0">
                <a:cs typeface="Arial" panose="020B0604020202020204" pitchFamily="34" charset="0"/>
              </a:rPr>
              <a:t>nstruction </a:t>
            </a:r>
            <a:r>
              <a:rPr lang="en-US" u="sng" smtClean="0">
                <a:cs typeface="Arial" panose="020B0604020202020204" pitchFamily="34" charset="0"/>
              </a:rPr>
              <a:t>M</a:t>
            </a:r>
            <a:r>
              <a:rPr lang="en-US" smtClean="0">
                <a:cs typeface="Arial" panose="020B0604020202020204" pitchFamily="34" charset="0"/>
              </a:rPr>
              <a:t>ultiple-</a:t>
            </a:r>
            <a:r>
              <a:rPr lang="en-US" u="sng" smtClean="0">
                <a:cs typeface="Arial" panose="020B0604020202020204" pitchFamily="34" charset="0"/>
              </a:rPr>
              <a:t>D</a:t>
            </a:r>
            <a:r>
              <a:rPr lang="en-US" smtClean="0">
                <a:cs typeface="Arial" panose="020B0604020202020204" pitchFamily="34" charset="0"/>
              </a:rPr>
              <a:t>ata</a:t>
            </a:r>
            <a:endParaRPr lang="en-US" smtClean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 dirty="0"/>
              <a:t>Chapter 3 — Arithmetic for Computers — </a:t>
            </a:r>
            <a:fld id="{8D7EF85A-2243-46C1-9A0E-2E57524BD50F}" type="slidenum">
              <a:rPr lang="en-AU" altLang="zh-CN"/>
            </a:fld>
            <a:endParaRPr lang="en-AU" altLang="zh-CN" dirty="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46050"/>
            <a:ext cx="8259762" cy="646113"/>
          </a:xfrm>
        </p:spPr>
        <p:txBody>
          <a:bodyPr/>
          <a:lstStyle/>
          <a:p>
            <a:pPr eaLnBrk="1" hangingPunct="1"/>
            <a:r>
              <a:rPr lang="en-US" sz="3600" smtClean="0"/>
              <a:t>Fallacy: Right Shift and Division</a:t>
            </a:r>
            <a:endParaRPr lang="en-AU" altLang="zh-CN" sz="3600" smtClean="0">
              <a:ea typeface="宋体" panose="02010600030101010101" pitchFamily="2" charset="-122"/>
            </a:endParaRP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Left shift by </a:t>
            </a:r>
            <a:r>
              <a:rPr lang="en-US" i="1" dirty="0" err="1" smtClean="0"/>
              <a:t>i</a:t>
            </a:r>
            <a:r>
              <a:rPr lang="en-US" dirty="0" smtClean="0"/>
              <a:t> places multiplies an integer by 2</a:t>
            </a:r>
            <a:r>
              <a:rPr lang="en-US" i="1" baseline="30000" dirty="0" smtClean="0"/>
              <a:t>i</a:t>
            </a: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Right shift divides by 2</a:t>
            </a:r>
            <a:r>
              <a:rPr lang="en-US" i="1" baseline="30000" dirty="0" smtClean="0"/>
              <a:t>i</a:t>
            </a:r>
            <a:r>
              <a:rPr lang="en-US" dirty="0" smtClean="0"/>
              <a:t>?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008000"/>
                </a:solidFill>
              </a:rPr>
              <a:t>Only for unsigned integers!</a:t>
            </a:r>
            <a:endParaRPr lang="en-US" dirty="0" smtClean="0">
              <a:solidFill>
                <a:srgbClr val="008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For signed integers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Logical right shift is clearly erroneous</a:t>
            </a:r>
            <a:endParaRPr 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e.g., –5 / 4</a:t>
            </a:r>
            <a:endParaRPr lang="en-US" dirty="0" smtClean="0">
              <a:solidFill>
                <a:srgbClr val="FF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1111011</a:t>
            </a:r>
            <a:r>
              <a:rPr lang="en-US" baseline="-25000" dirty="0" smtClean="0"/>
              <a:t>2</a:t>
            </a:r>
            <a:r>
              <a:rPr lang="en-US" dirty="0" smtClean="0"/>
              <a:t> &gt;&gt;&gt; 2 = </a:t>
            </a:r>
            <a:r>
              <a:rPr lang="en-US" dirty="0" smtClean="0">
                <a:solidFill>
                  <a:srgbClr val="FF0000"/>
                </a:solidFill>
              </a:rPr>
              <a:t>001</a:t>
            </a:r>
            <a:r>
              <a:rPr lang="en-US" dirty="0" smtClean="0"/>
              <a:t>11110</a:t>
            </a:r>
            <a:r>
              <a:rPr lang="en-US" baseline="-25000" dirty="0" smtClean="0"/>
              <a:t>2</a:t>
            </a:r>
            <a:r>
              <a:rPr lang="en-US" dirty="0" smtClean="0"/>
              <a:t> = +62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Arithmetic right shift - replicate the sign bit</a:t>
            </a:r>
            <a:endParaRPr 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en-US" dirty="0" smtClean="0"/>
              <a:t>1111011</a:t>
            </a:r>
            <a:r>
              <a:rPr lang="en-US" baseline="-25000" dirty="0" smtClean="0"/>
              <a:t>2</a:t>
            </a:r>
            <a:r>
              <a:rPr lang="en-US" dirty="0" smtClean="0"/>
              <a:t> &gt;&gt; 2 = </a:t>
            </a:r>
            <a:r>
              <a:rPr lang="en-US" dirty="0" smtClean="0">
                <a:solidFill>
                  <a:srgbClr val="FF0000"/>
                </a:solidFill>
              </a:rPr>
              <a:t>111</a:t>
            </a:r>
            <a:r>
              <a:rPr lang="en-US" dirty="0" smtClean="0"/>
              <a:t>11110</a:t>
            </a:r>
            <a:r>
              <a:rPr lang="en-US" baseline="-25000" dirty="0" smtClean="0"/>
              <a:t>2</a:t>
            </a:r>
            <a:r>
              <a:rPr lang="en-US" dirty="0" smtClean="0"/>
              <a:t> = –2</a:t>
            </a:r>
            <a:endParaRPr 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FF0000"/>
                </a:solidFill>
              </a:rPr>
              <a:t>Result is -2 instead of -1; close, but no cigar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52229" name="Text Box 4"/>
          <p:cNvSpPr txBox="1">
            <a:spLocks noChangeArrowheads="1"/>
          </p:cNvSpPr>
          <p:nvPr/>
        </p:nvSpPr>
        <p:spPr bwMode="auto">
          <a:xfrm rot="5400000">
            <a:off x="7573169" y="1204119"/>
            <a:ext cx="2774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§3.8 Fallacies and Pitfalls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29456509-6DCC-42FE-A86E-781F82380BF1}" type="slidenum">
              <a:rPr lang="en-AU" altLang="zh-CN"/>
            </a:fld>
            <a:endParaRPr lang="en-AU" altLang="zh-CN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Who Cares About FP Accuracy?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928688"/>
            <a:ext cx="8383588" cy="5308600"/>
          </a:xfrm>
        </p:spPr>
        <p:txBody>
          <a:bodyPr/>
          <a:lstStyle/>
          <a:p>
            <a:pPr eaLnBrk="1" hangingPunct="1"/>
            <a:r>
              <a:rPr lang="en-US" smtClean="0"/>
              <a:t>Important for scientific code</a:t>
            </a:r>
            <a:endParaRPr lang="en-US" smtClean="0"/>
          </a:p>
          <a:p>
            <a:pPr lvl="1" eaLnBrk="1" hangingPunct="1"/>
            <a:r>
              <a:rPr lang="en-US" smtClean="0"/>
              <a:t>But for everyday consumer use?</a:t>
            </a:r>
            <a:endParaRPr lang="en-US" smtClean="0"/>
          </a:p>
          <a:p>
            <a:pPr lvl="2" eaLnBrk="1" hangingPunct="1"/>
            <a:r>
              <a:rPr lang="en-US" smtClean="0"/>
              <a:t>“My bank balance is out by 0.0002¢!” </a:t>
            </a:r>
            <a:r>
              <a:rPr lang="en-US" smtClean="0">
                <a:sym typeface="Wingdings" panose="05000000000000000000" pitchFamily="2" charset="2"/>
              </a:rPr>
              <a:t></a:t>
            </a:r>
            <a:endParaRPr lang="en-US" smtClean="0">
              <a:sym typeface="Wingdings" panose="05000000000000000000" pitchFamily="2" charset="2"/>
            </a:endParaRPr>
          </a:p>
          <a:p>
            <a:pPr eaLnBrk="1" hangingPunct="1"/>
            <a:r>
              <a:rPr lang="en-US" smtClean="0"/>
              <a:t>The Intel Pentium FDIV bug (~1994)</a:t>
            </a:r>
            <a:endParaRPr lang="en-US" smtClean="0"/>
          </a:p>
          <a:p>
            <a:pPr lvl="1" eaLnBrk="1" hangingPunct="1"/>
            <a:r>
              <a:rPr lang="en-US" sz="2400" smtClean="0"/>
              <a:t>Bug in LUT used to guess multiple quotient bits per step; wrong values in</a:t>
            </a:r>
            <a:br>
              <a:rPr lang="en-US" sz="2400" smtClean="0"/>
            </a:br>
            <a:r>
              <a:rPr lang="en-US" sz="2400" smtClean="0"/>
              <a:t>some LUT locations</a:t>
            </a:r>
            <a:endParaRPr lang="en-US" sz="2400" smtClean="0"/>
          </a:p>
          <a:p>
            <a:pPr lvl="1" eaLnBrk="1" hangingPunct="1"/>
            <a:r>
              <a:rPr lang="en-US" sz="2400" smtClean="0">
                <a:solidFill>
                  <a:srgbClr val="FF0000"/>
                </a:solidFill>
              </a:rPr>
              <a:t>Cost Intel $300+ million</a:t>
            </a:r>
            <a:endParaRPr lang="en-US" sz="240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sz="2400" smtClean="0"/>
              <a:t>The market expects </a:t>
            </a:r>
            <a:br>
              <a:rPr lang="en-US" sz="2400" smtClean="0"/>
            </a:br>
            <a:r>
              <a:rPr lang="en-US" sz="2400" smtClean="0"/>
              <a:t>accuracy</a:t>
            </a:r>
            <a:endParaRPr lang="en-US" sz="2400" smtClean="0"/>
          </a:p>
          <a:p>
            <a:pPr lvl="1" eaLnBrk="1" hangingPunct="1"/>
            <a:r>
              <a:rPr lang="en-US" sz="2400" smtClean="0"/>
              <a:t>See Colwell, </a:t>
            </a:r>
            <a:r>
              <a:rPr lang="en-US" sz="2400" i="1" smtClean="0"/>
              <a:t>The </a:t>
            </a:r>
            <a:br>
              <a:rPr lang="en-US" sz="2400" i="1" smtClean="0"/>
            </a:br>
            <a:r>
              <a:rPr lang="en-US" sz="2400" i="1" smtClean="0"/>
              <a:t>Pentium Chronicles</a:t>
            </a:r>
            <a:endParaRPr lang="en-US" sz="2400" smtClean="0"/>
          </a:p>
        </p:txBody>
      </p:sp>
      <p:pic>
        <p:nvPicPr>
          <p:cNvPr id="54277" name="Picture 4" descr="f03-23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5" y="3467100"/>
            <a:ext cx="4214813" cy="306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646113"/>
          </a:xfrm>
        </p:spPr>
        <p:txBody>
          <a:bodyPr/>
          <a:lstStyle/>
          <a:p>
            <a:r>
              <a:rPr lang="en-US" sz="3600" smtClean="0"/>
              <a:t>Summary: MIPS Instruction Set</a:t>
            </a:r>
            <a:endParaRPr lang="en-US" sz="3600" smtClean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5D5F7806-11AC-49C7-B588-616671D783A1}" type="slidenum">
              <a:rPr lang="en-AU" altLang="zh-CN"/>
            </a:fld>
            <a:endParaRPr lang="en-AU" altLang="zh-CN"/>
          </a:p>
        </p:txBody>
      </p:sp>
      <p:pic>
        <p:nvPicPr>
          <p:cNvPr id="54277" name="Picture 4" descr="f03-24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923925"/>
            <a:ext cx="7118350" cy="586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646113"/>
          </a:xfrm>
        </p:spPr>
        <p:txBody>
          <a:bodyPr/>
          <a:lstStyle/>
          <a:p>
            <a:r>
              <a:rPr lang="en-US" sz="3600" smtClean="0">
                <a:solidFill>
                  <a:srgbClr val="0039A6"/>
                </a:solidFill>
              </a:rPr>
              <a:t>Summary: MIPS Instruction Set</a:t>
            </a:r>
            <a:endParaRPr lang="en-US" smtClean="0"/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5530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3303ACC4-52F6-44EC-BC7E-7DC70AC104DF}" type="slidenum">
              <a:rPr lang="en-AU" altLang="zh-CN"/>
            </a:fld>
            <a:endParaRPr lang="en-AU" altLang="zh-CN"/>
          </a:p>
        </p:txBody>
      </p:sp>
      <p:pic>
        <p:nvPicPr>
          <p:cNvPr id="55301" name="Picture 4" descr="f03-25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836712"/>
            <a:ext cx="5184775" cy="592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584200"/>
          </a:xfrm>
        </p:spPr>
        <p:txBody>
          <a:bodyPr/>
          <a:lstStyle/>
          <a:p>
            <a:r>
              <a:rPr lang="en-US" sz="3200" smtClean="0"/>
              <a:t>Frequency of Common MIPS Instructions</a:t>
            </a:r>
            <a:endParaRPr lang="en-US" sz="3200" smtClean="0"/>
          </a:p>
        </p:txBody>
      </p:sp>
      <p:sp>
        <p:nvSpPr>
          <p:cNvPr id="56323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36B2A4F2-7BB0-446C-A32A-AF9B401CBFE3}" type="slidenum">
              <a:rPr lang="en-AU" altLang="zh-CN"/>
            </a:fld>
            <a:endParaRPr lang="en-AU" altLang="zh-CN"/>
          </a:p>
        </p:txBody>
      </p:sp>
      <p:sp>
        <p:nvSpPr>
          <p:cNvPr id="56324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153400" cy="382588"/>
          </a:xfrm>
        </p:spPr>
        <p:txBody>
          <a:bodyPr/>
          <a:lstStyle/>
          <a:p>
            <a:r>
              <a:rPr lang="en-US" sz="2200" smtClean="0"/>
              <a:t>Only included those with &gt;3% (table 1) and  &gt;1% (table 2)</a:t>
            </a:r>
            <a:endParaRPr lang="en-US" sz="220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1524000"/>
          <a:ext cx="4152900" cy="51911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7313"/>
                <a:gridCol w="1435099"/>
                <a:gridCol w="1360488"/>
              </a:tblGrid>
              <a:tr h="370795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MIPS core</a:t>
                      </a:r>
                      <a:endParaRPr lang="en-US" sz="1800" b="1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 smtClean="0"/>
                        <a:t>SPEC</a:t>
                      </a:r>
                      <a:r>
                        <a:rPr lang="en-US" sz="1800" b="1" baseline="0" dirty="0" err="1" smtClean="0"/>
                        <a:t>int</a:t>
                      </a:r>
                      <a:endParaRPr lang="en-US" sz="1800" b="1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 smtClean="0"/>
                        <a:t>SPECfp</a:t>
                      </a:r>
                      <a:endParaRPr lang="en-US" sz="1800" b="1" dirty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addu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5.2%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3.5%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addiu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9.0%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7.2%</a:t>
                      </a:r>
                      <a:endParaRPr lang="en-US" sz="1800" dirty="0" smtClean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4.0%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1.2%</a:t>
                      </a:r>
                      <a:endParaRPr lang="en-US" sz="1800" dirty="0" smtClean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sll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4.4%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1.9%</a:t>
                      </a:r>
                      <a:endParaRPr lang="en-US" sz="1800" dirty="0" smtClean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lui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3.3%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0.5%</a:t>
                      </a:r>
                      <a:endParaRPr lang="en-US" sz="1800" dirty="0" smtClean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lw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18.6%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5.8%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7.6%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2.0%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lbu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3.7%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0.1%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beq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8.6%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2.2%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bne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8.4%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1.4%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9.9%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2.3%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slti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3.1%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0.3%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</a:tr>
              <a:tr h="37079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sltu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3.4%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0.8%</a:t>
                      </a:r>
                      <a:endParaRPr lang="en-US" sz="1800" dirty="0"/>
                    </a:p>
                  </a:txBody>
                  <a:tcPr marL="91439" marR="91439" marT="45714" marB="45714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0" y="1524000"/>
          <a:ext cx="3886200" cy="47196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064"/>
                <a:gridCol w="1214446"/>
                <a:gridCol w="1128690"/>
              </a:tblGrid>
              <a:tr h="640123">
                <a:tc>
                  <a:txBody>
                    <a:bodyPr/>
                    <a:lstStyle/>
                    <a:p>
                      <a:r>
                        <a:rPr lang="en-US" sz="1800" b="1" dirty="0" err="1" smtClean="0"/>
                        <a:t>Arith</a:t>
                      </a:r>
                      <a:r>
                        <a:rPr lang="en-US" sz="1800" b="1" dirty="0" smtClean="0"/>
                        <a:t> core + MIPS-32</a:t>
                      </a:r>
                      <a:endParaRPr lang="en-US" sz="1800" b="1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 smtClean="0"/>
                        <a:t>SPEC</a:t>
                      </a:r>
                      <a:r>
                        <a:rPr lang="en-US" sz="1800" b="1" baseline="0" dirty="0" err="1" smtClean="0"/>
                        <a:t>int</a:t>
                      </a:r>
                      <a:endParaRPr lang="en-US" sz="1800" b="1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 smtClean="0"/>
                        <a:t>SPECfp</a:t>
                      </a:r>
                      <a:endParaRPr lang="en-US" sz="1800" b="1" dirty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add.d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10.6%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sub.d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4.9%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mul.d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15.0%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add.s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1.5%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sub.s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1.8%</a:t>
                      </a:r>
                      <a:endParaRPr lang="en-US" sz="1800" dirty="0" smtClean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mul.s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2.4%</a:t>
                      </a:r>
                      <a:endParaRPr lang="en-US" sz="1800" dirty="0" smtClean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l.d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17.5%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s.d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4.9%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l.s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4.2%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s.s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1.1%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70865"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lhu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1.3%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0.0%</a:t>
                      </a:r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zh-CN"/>
              <a:t>Chapter 3 — Arithmetic for Computers — </a:t>
            </a:r>
            <a:fld id="{B5798E05-EF2D-4B22-80B1-5225A51B4E64}" type="slidenum">
              <a:rPr lang="en-AU" altLang="zh-CN"/>
            </a:fld>
            <a:endParaRPr lang="en-AU" altLang="zh-CN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Concluding Remarks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ISAs support arithmetic</a:t>
            </a:r>
            <a:endParaRPr lang="en-US" smtClean="0"/>
          </a:p>
          <a:p>
            <a:pPr lvl="1" eaLnBrk="1" hangingPunct="1"/>
            <a:r>
              <a:rPr lang="en-US" smtClean="0"/>
              <a:t>Signed and unsigned integers</a:t>
            </a:r>
            <a:endParaRPr lang="en-US" smtClean="0"/>
          </a:p>
          <a:p>
            <a:pPr lvl="1" eaLnBrk="1" hangingPunct="1"/>
            <a:r>
              <a:rPr lang="en-US" smtClean="0"/>
              <a:t>Floating-point approximation for reals</a:t>
            </a:r>
            <a:endParaRPr lang="en-US" smtClean="0"/>
          </a:p>
          <a:p>
            <a:pPr eaLnBrk="1" hangingPunct="1"/>
            <a:r>
              <a:rPr lang="en-US" smtClean="0"/>
              <a:t>Bounded range and precision</a:t>
            </a:r>
            <a:endParaRPr lang="en-US" smtClean="0"/>
          </a:p>
          <a:p>
            <a:pPr lvl="1" eaLnBrk="1" hangingPunct="1"/>
            <a:r>
              <a:rPr lang="en-US" smtClean="0"/>
              <a:t>Operations can overflow and underflow</a:t>
            </a:r>
            <a:endParaRPr lang="en-US" smtClean="0"/>
          </a:p>
          <a:p>
            <a:pPr eaLnBrk="1" hangingPunct="1"/>
            <a:r>
              <a:rPr lang="en-US" smtClean="0"/>
              <a:t>MIPS ISA</a:t>
            </a:r>
            <a:endParaRPr lang="en-US" smtClean="0"/>
          </a:p>
          <a:p>
            <a:pPr lvl="1" eaLnBrk="1" hangingPunct="1"/>
            <a:r>
              <a:rPr lang="en-US" smtClean="0">
                <a:solidFill>
                  <a:srgbClr val="FF0000"/>
                </a:solidFill>
              </a:rPr>
              <a:t>MIPS core </a:t>
            </a:r>
            <a:r>
              <a:rPr lang="en-US" smtClean="0"/>
              <a:t>and </a:t>
            </a:r>
            <a:r>
              <a:rPr lang="en-US" smtClean="0">
                <a:solidFill>
                  <a:srgbClr val="FF0000"/>
                </a:solidFill>
              </a:rPr>
              <a:t>arithmetic core </a:t>
            </a:r>
            <a:r>
              <a:rPr lang="en-US" smtClean="0"/>
              <a:t>instructions: 54 most frequently used</a:t>
            </a:r>
            <a:endParaRPr lang="en-US" smtClean="0"/>
          </a:p>
          <a:p>
            <a:pPr lvl="2" eaLnBrk="1" hangingPunct="1"/>
            <a:r>
              <a:rPr lang="en-US" smtClean="0"/>
              <a:t>100% of SPECINT, 97% of SPECFP</a:t>
            </a:r>
            <a:endParaRPr lang="en-US" smtClean="0"/>
          </a:p>
          <a:p>
            <a:pPr lvl="1" eaLnBrk="1" hangingPunct="1"/>
            <a:r>
              <a:rPr lang="en-US" smtClean="0"/>
              <a:t>Other instructions: less frequent</a:t>
            </a:r>
            <a:endParaRPr lang="en-US" smtClean="0"/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 rot="5400000">
            <a:off x="7554119" y="1223169"/>
            <a:ext cx="2813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>
                <a:solidFill>
                  <a:schemeClr val="folHlink"/>
                </a:solidFill>
              </a:rPr>
              <a:t>§3.9 Concluding Remarks</a:t>
            </a:r>
            <a:endParaRPr 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Assignment 3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Homework assignment 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3.3, 3.8 ,3.10, 3.11(.1~.4)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To be submitted in the next week class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r>
              <a:rPr lang="en-US" altLang="zh-CN" dirty="0" smtClean="0">
                <a:ea typeface="宋体" panose="02010600030101010101" pitchFamily="2" charset="-122"/>
              </a:rPr>
              <a:t>Read Section 3.10 of Chapter 3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  Historical Perspective and Further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Reading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349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/>
              <a:t>Chapter 1 — Computer Abstractions and Technology — </a:t>
            </a:r>
            <a:fld id="{D05FECF5-5C76-4D82-B1FD-39A9F6C42E60}" type="slidenum">
              <a:rPr lang="en-AU"/>
            </a:fld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Project 1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980728"/>
            <a:ext cx="8424936" cy="56166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dirty="0"/>
              <a:t>1. </a:t>
            </a:r>
            <a:r>
              <a:rPr lang="zh-CN" altLang="en-US" sz="1600" dirty="0"/>
              <a:t>项目目标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(1) </a:t>
            </a:r>
            <a:r>
              <a:rPr lang="zh-CN" altLang="en-US" sz="1600" dirty="0"/>
              <a:t>深入掌握二进制数的表示方法以及不同进制数的转换；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(2) </a:t>
            </a:r>
            <a:r>
              <a:rPr lang="zh-CN" altLang="en-US" sz="1600" dirty="0"/>
              <a:t>掌握二进制不同编码的表示方法；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(3) </a:t>
            </a:r>
            <a:r>
              <a:rPr lang="zh-CN" altLang="en-US" sz="1600" dirty="0"/>
              <a:t>掌握</a:t>
            </a:r>
            <a:r>
              <a:rPr lang="en-US" altLang="zh-CN" sz="1600" dirty="0"/>
              <a:t>IEEE 754 </a:t>
            </a:r>
            <a:r>
              <a:rPr lang="zh-CN" altLang="en-US" sz="1600" dirty="0"/>
              <a:t>中单精度浮点数的表示和计算。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2. </a:t>
            </a:r>
            <a:r>
              <a:rPr lang="zh-CN" altLang="en-US" sz="1600" dirty="0"/>
              <a:t>具体要求</a:t>
            </a: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假设没有浮点表示和计算的硬件，用软件方法采用仿真方式实现</a:t>
            </a:r>
            <a:r>
              <a:rPr lang="en-US" altLang="zh-CN" sz="1600" dirty="0"/>
              <a:t>IEEE 754</a:t>
            </a:r>
            <a:r>
              <a:rPr lang="zh-CN" altLang="en-US" sz="1600" dirty="0"/>
              <a:t>单精度浮点数的表示及运算功能，具体要求如下：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(1) </a:t>
            </a:r>
            <a:r>
              <a:rPr lang="zh-CN" altLang="en-US" sz="1600" dirty="0"/>
              <a:t>程序需要提供人机交互方式（</a:t>
            </a:r>
            <a:r>
              <a:rPr lang="en-US" altLang="zh-CN" sz="1600" dirty="0"/>
              <a:t>GUI</a:t>
            </a:r>
            <a:r>
              <a:rPr lang="zh-CN" altLang="en-US" sz="1600" dirty="0"/>
              <a:t>或者字符界面）供用户选择相应的功能；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(2) </a:t>
            </a:r>
            <a:r>
              <a:rPr lang="zh-CN" altLang="en-US" sz="1600" dirty="0"/>
              <a:t>可接受十进制实数形式的输入，在内存中以</a:t>
            </a:r>
            <a:r>
              <a:rPr lang="en-US" altLang="zh-CN" sz="1600" dirty="0"/>
              <a:t>IEEE 754</a:t>
            </a:r>
            <a:r>
              <a:rPr lang="zh-CN" altLang="en-US" sz="1600" dirty="0"/>
              <a:t>单精度方式表示，支持以二进制和十六进制的方式显示输出；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(3) </a:t>
            </a:r>
            <a:r>
              <a:rPr lang="zh-CN" altLang="en-US" sz="1600" dirty="0"/>
              <a:t>可实现浮点数的加减乘除运算；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(4) </a:t>
            </a:r>
            <a:r>
              <a:rPr lang="zh-CN" altLang="en-US" sz="1600" dirty="0"/>
              <a:t>可以使用</a:t>
            </a:r>
            <a:r>
              <a:rPr lang="en-US" altLang="zh-CN" sz="1600" dirty="0"/>
              <a:t>80X86</a:t>
            </a:r>
            <a:r>
              <a:rPr lang="zh-CN" altLang="en-US" sz="1600" dirty="0"/>
              <a:t>或</a:t>
            </a:r>
            <a:r>
              <a:rPr lang="en-US" altLang="zh-CN" sz="1600" dirty="0"/>
              <a:t>MIPS</a:t>
            </a:r>
            <a:r>
              <a:rPr lang="zh-CN" altLang="en-US" sz="1600" dirty="0"/>
              <a:t>或</a:t>
            </a:r>
            <a:r>
              <a:rPr lang="en-US" altLang="zh-CN" sz="1600" dirty="0"/>
              <a:t>ARM</a:t>
            </a:r>
            <a:r>
              <a:rPr lang="zh-CN" altLang="en-US" sz="1600" dirty="0"/>
              <a:t>汇编指令，但是不能使用浮点指令，只能利用整数运算指令来编写软件完成。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3. </a:t>
            </a:r>
            <a:r>
              <a:rPr lang="zh-CN" altLang="en-US" sz="1600" dirty="0"/>
              <a:t>开发工具</a:t>
            </a: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利用汇编语言来实现，可在一个程序中实现所有功能，也可分解为若干个程序，但是必须完成</a:t>
            </a:r>
            <a:r>
              <a:rPr lang="en-US" altLang="zh-CN" sz="1600" dirty="0"/>
              <a:t>2</a:t>
            </a:r>
            <a:r>
              <a:rPr lang="zh-CN" altLang="en-US" sz="1600" dirty="0"/>
              <a:t>中的所有功能。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4. </a:t>
            </a:r>
            <a:r>
              <a:rPr lang="zh-CN" altLang="en-US" sz="1600" dirty="0"/>
              <a:t>提交资料</a:t>
            </a: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按照学校实验报告的格式，要求提交源程序、设计文档以及编译后可以执行程序的电子版。</a:t>
            </a:r>
            <a:endParaRPr lang="zh-CN" altLang="en-US" sz="1600" dirty="0"/>
          </a:p>
          <a:p>
            <a:pPr marL="0" indent="0">
              <a:buNone/>
            </a:pPr>
            <a:r>
              <a:rPr lang="en-US" altLang="zh-CN" sz="1600" dirty="0"/>
              <a:t>5. </a:t>
            </a:r>
            <a:r>
              <a:rPr lang="zh-CN" altLang="en-US" sz="1600" dirty="0"/>
              <a:t>提交时间</a:t>
            </a: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期末考试前一周。</a:t>
            </a:r>
            <a:endParaRPr lang="zh-CN" altLang="en-US" sz="1600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altLang="zh-CN" dirty="0" smtClean="0"/>
              <a:t>Chapter 3 — Arithmetic for Computers — </a:t>
            </a:r>
            <a:fld id="{9ED5DF9C-31E0-4D77-A353-E0C904335272}" type="slidenum">
              <a:rPr lang="en-AU" altLang="zh-CN" smtClean="0"/>
            </a:fld>
            <a:endParaRPr lang="en-AU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Tg2OGVlMWE3MWNiZTFmOTNlMTMyNDA1NjRlY2YxMWEifQ=="/>
</p:tagLst>
</file>

<file path=ppt/theme/theme1.xml><?xml version="1.0" encoding="utf-8"?>
<a:theme xmlns:a="http://schemas.openxmlformats.org/drawingml/2006/main" name="cod4e">
  <a:themeElements>
    <a:clrScheme name="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A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组成原理">
  <a:themeElements>
    <a:clrScheme name="组成原理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组成原理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组成原理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组成原理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组成原理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组成原理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组成原理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组成原理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组成原理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40306</Words>
  <Application>WPS 演示</Application>
  <PresentationFormat>全屏显示(4:3)</PresentationFormat>
  <Paragraphs>2504</Paragraphs>
  <Slides>139</Slides>
  <Notes>64</Notes>
  <HiddenSlides>18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139</vt:i4>
      </vt:variant>
    </vt:vector>
  </HeadingPairs>
  <TitlesOfParts>
    <vt:vector size="167" baseType="lpstr">
      <vt:lpstr>Arial</vt:lpstr>
      <vt:lpstr>宋体</vt:lpstr>
      <vt:lpstr>Wingdings</vt:lpstr>
      <vt:lpstr>Arial Black</vt:lpstr>
      <vt:lpstr>Tahoma</vt:lpstr>
      <vt:lpstr>Tahoma</vt:lpstr>
      <vt:lpstr>Times New Roman</vt:lpstr>
      <vt:lpstr>Courier New</vt:lpstr>
      <vt:lpstr>Monotype Sorts</vt:lpstr>
      <vt:lpstr>Wingdings</vt:lpstr>
      <vt:lpstr>微软雅黑</vt:lpstr>
      <vt:lpstr>Arial Unicode MS</vt:lpstr>
      <vt:lpstr>Calibri</vt:lpstr>
      <vt:lpstr>Lucida Console</vt:lpstr>
      <vt:lpstr>Monotype Sorts</vt:lpstr>
      <vt:lpstr>Symbol</vt:lpstr>
      <vt:lpstr>隶书</vt:lpstr>
      <vt:lpstr>楷体_GB2312</vt:lpstr>
      <vt:lpstr>新宋体</vt:lpstr>
      <vt:lpstr>黑体</vt:lpstr>
      <vt:lpstr>cod4e</vt:lpstr>
      <vt:lpstr>组成原理</vt:lpstr>
      <vt:lpstr>Photoshop.Image.6</vt:lpstr>
      <vt:lpstr>Equation.3</vt:lpstr>
      <vt:lpstr>Equation.3</vt:lpstr>
      <vt:lpstr>Equation.3</vt:lpstr>
      <vt:lpstr>Equation.3</vt:lpstr>
      <vt:lpstr>Excel.Sheet.8</vt:lpstr>
      <vt:lpstr>PowerPoint 演示文稿</vt:lpstr>
      <vt:lpstr>Review:  MIPS (RISC) Design Principles</vt:lpstr>
      <vt:lpstr>Review:  MIPS Addressing Modes</vt:lpstr>
      <vt:lpstr>Review: Number Representations</vt:lpstr>
      <vt:lpstr>Constructing an ALU</vt:lpstr>
      <vt:lpstr>A half adder</vt:lpstr>
      <vt:lpstr>A full adder</vt:lpstr>
      <vt:lpstr>Full adder</vt:lpstr>
      <vt:lpstr>1 bit ALU</vt:lpstr>
      <vt:lpstr>Basic 32 bit ALU</vt:lpstr>
      <vt:lpstr>Extended 1 bit ALU</vt:lpstr>
      <vt:lpstr>Extended 1 bit ALU</vt:lpstr>
      <vt:lpstr>Extended 1 bit ALU</vt:lpstr>
      <vt:lpstr>Most significant bit</vt:lpstr>
      <vt:lpstr>Complete ALU</vt:lpstr>
      <vt:lpstr>Complete ALU</vt:lpstr>
      <vt:lpstr>ALU symbol &amp; control</vt:lpstr>
      <vt:lpstr>Arithmetic for Computers</vt:lpstr>
      <vt:lpstr>Integer Addition</vt:lpstr>
      <vt:lpstr>Integer Subtraction</vt:lpstr>
      <vt:lpstr>Dealing with Overflow</vt:lpstr>
      <vt:lpstr>Speed considerations</vt:lpstr>
      <vt:lpstr>Fast adders</vt:lpstr>
      <vt:lpstr>Fast adders</vt:lpstr>
      <vt:lpstr>Carry look ahead adder (CLA)</vt:lpstr>
      <vt:lpstr>Carry look ahead adder</vt:lpstr>
      <vt:lpstr>Four bit carry look ahead adder</vt:lpstr>
      <vt:lpstr>Four bit carry look ahead adder</vt:lpstr>
      <vt:lpstr>Four bit carry look ahead adder</vt:lpstr>
      <vt:lpstr>Four 4-bit ALUs using carry lookahead to form a 16-bit adder.</vt:lpstr>
      <vt:lpstr>Hybrid CLA + Ripple carry</vt:lpstr>
      <vt:lpstr>PowerPoint 演示文稿</vt:lpstr>
      <vt:lpstr>Complete ALU</vt:lpstr>
      <vt:lpstr>MIPS Arithmetic Logic Unit (ALU)</vt:lpstr>
      <vt:lpstr>Arithmetic for Multimedia</vt:lpstr>
      <vt:lpstr>Multiplication</vt:lpstr>
      <vt:lpstr>Multiplication Hardware</vt:lpstr>
      <vt:lpstr>PowerPoint 演示文稿</vt:lpstr>
      <vt:lpstr>PowerPoint 演示文稿</vt:lpstr>
      <vt:lpstr>Optimized Multiplier</vt:lpstr>
      <vt:lpstr>PowerPoint 演示文稿</vt:lpstr>
      <vt:lpstr>PowerPoint 演示文稿</vt:lpstr>
      <vt:lpstr>Even Faster Multiplier</vt:lpstr>
      <vt:lpstr>MIPS Multiplication</vt:lpstr>
      <vt:lpstr>Division</vt:lpstr>
      <vt:lpstr>Division Hardware</vt:lpstr>
      <vt:lpstr>Optimized Divider</vt:lpstr>
      <vt:lpstr>PowerPoint 演示文稿</vt:lpstr>
      <vt:lpstr>Faster Division</vt:lpstr>
      <vt:lpstr>MIPS Division</vt:lpstr>
      <vt:lpstr>PowerPoint 演示文稿</vt:lpstr>
      <vt:lpstr>PowerPoint 演示文稿</vt:lpstr>
      <vt:lpstr>PowerPoint 演示文稿</vt:lpstr>
      <vt:lpstr>PowerPoint 演示文稿</vt:lpstr>
      <vt:lpstr>浮点数的规格化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IEEE754浮点数的范围</vt:lpstr>
      <vt:lpstr>浮点数标准(IEEE754)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Floating Point</vt:lpstr>
      <vt:lpstr>Floating Point Standard</vt:lpstr>
      <vt:lpstr>IEEE Floating-Point Format</vt:lpstr>
      <vt:lpstr>Single-Precision Range</vt:lpstr>
      <vt:lpstr>Double-Precision Range</vt:lpstr>
      <vt:lpstr>Floating-Point Precision</vt:lpstr>
      <vt:lpstr>Floating-Point Example</vt:lpstr>
      <vt:lpstr>PowerPoint 演示文稿</vt:lpstr>
      <vt:lpstr>PowerPoint 演示文稿</vt:lpstr>
      <vt:lpstr>Floating-Point Example</vt:lpstr>
      <vt:lpstr>Infinities and NaNs</vt:lpstr>
      <vt:lpstr>Floating-Point Addition</vt:lpstr>
      <vt:lpstr>Floating-Point Addition</vt:lpstr>
      <vt:lpstr>FP Adder Hardware</vt:lpstr>
      <vt:lpstr>FP Adder Hardware</vt:lpstr>
      <vt:lpstr>Floating-Point Multiplication</vt:lpstr>
      <vt:lpstr>Floating-Point Multiplication</vt:lpstr>
      <vt:lpstr>FP Arithmetic Hardware</vt:lpstr>
      <vt:lpstr>FP Instructions in MIPS</vt:lpstr>
      <vt:lpstr>FP Instructions in MIPS</vt:lpstr>
      <vt:lpstr>FP Example: °F to °C</vt:lpstr>
      <vt:lpstr>FP Example: Array Multiplication</vt:lpstr>
      <vt:lpstr>FP Example: Array Multiplication</vt:lpstr>
      <vt:lpstr>FP Example: Array Multiplication</vt:lpstr>
      <vt:lpstr>Accurate Arithmetic</vt:lpstr>
      <vt:lpstr>Interpretation of Data</vt:lpstr>
      <vt:lpstr>Parallelism and Associativity</vt:lpstr>
      <vt:lpstr>x86 FP Architecture</vt:lpstr>
      <vt:lpstr>x86 FP Instructions</vt:lpstr>
      <vt:lpstr>Streaming SIMD Extension 2 (SSE2)</vt:lpstr>
      <vt:lpstr>Fallacy: Right Shift and Division</vt:lpstr>
      <vt:lpstr>Who Cares About FP Accuracy?</vt:lpstr>
      <vt:lpstr>Summary: MIPS Instruction Set</vt:lpstr>
      <vt:lpstr>Summary: MIPS Instruction Set</vt:lpstr>
      <vt:lpstr>Frequency of Common MIPS Instructions</vt:lpstr>
      <vt:lpstr>Concluding Remarks</vt:lpstr>
      <vt:lpstr>Assignment 3</vt:lpstr>
      <vt:lpstr>Project 1 </vt:lpstr>
    </vt:vector>
  </TitlesOfParts>
  <Company>Ashenden Designs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...</dc:title>
  <dc:creator>Peter Ashenden</dc:creator>
  <cp:lastModifiedBy>wcz</cp:lastModifiedBy>
  <cp:revision>177</cp:revision>
  <dcterms:created xsi:type="dcterms:W3CDTF">2008-07-28T10:20:00Z</dcterms:created>
  <dcterms:modified xsi:type="dcterms:W3CDTF">2024-03-14T13:21:12Z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D1C95096007642F38483F3F1BBEA2C4C_12</vt:lpwstr>
  </property>
  <property fmtid="{D5CDD505-2E9C-101B-9397-08002B2CF9AE}" pid="3" name="KSOProductBuildVer">
    <vt:lpwstr>2052-12.1.0.16388</vt:lpwstr>
  </property>
</Properties>
</file>