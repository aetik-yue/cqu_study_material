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ink/ink1.xml" ContentType="application/inkml+xml"/>
  <Override PartName="/ppt/ink/ink2.xml" ContentType="application/inkml+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1" r:id="rId1"/>
  </p:sldMasterIdLst>
  <p:sldIdLst>
    <p:sldId id="256" r:id="rId2"/>
    <p:sldId id="257" r:id="rId3"/>
    <p:sldId id="302" r:id="rId4"/>
    <p:sldId id="258" r:id="rId5"/>
    <p:sldId id="303" r:id="rId6"/>
    <p:sldId id="304" r:id="rId7"/>
    <p:sldId id="259" r:id="rId8"/>
    <p:sldId id="310" r:id="rId9"/>
    <p:sldId id="305" r:id="rId10"/>
    <p:sldId id="306" r:id="rId11"/>
    <p:sldId id="308" r:id="rId12"/>
    <p:sldId id="260" r:id="rId13"/>
    <p:sldId id="309" r:id="rId14"/>
    <p:sldId id="261" r:id="rId15"/>
    <p:sldId id="311" r:id="rId16"/>
    <p:sldId id="312" r:id="rId17"/>
    <p:sldId id="314" r:id="rId18"/>
    <p:sldId id="313" r:id="rId19"/>
    <p:sldId id="315" r:id="rId20"/>
    <p:sldId id="262" r:id="rId21"/>
    <p:sldId id="316" r:id="rId22"/>
    <p:sldId id="263" r:id="rId23"/>
    <p:sldId id="264" r:id="rId24"/>
    <p:sldId id="266" r:id="rId25"/>
    <p:sldId id="267" r:id="rId26"/>
    <p:sldId id="268" r:id="rId27"/>
    <p:sldId id="269" r:id="rId28"/>
    <p:sldId id="270" r:id="rId29"/>
    <p:sldId id="271" r:id="rId30"/>
    <p:sldId id="272" r:id="rId31"/>
    <p:sldId id="273" r:id="rId32"/>
    <p:sldId id="274" r:id="rId33"/>
    <p:sldId id="275" r:id="rId34"/>
    <p:sldId id="276" r:id="rId35"/>
    <p:sldId id="277" r:id="rId36"/>
    <p:sldId id="278" r:id="rId37"/>
    <p:sldId id="279" r:id="rId38"/>
    <p:sldId id="280" r:id="rId39"/>
    <p:sldId id="281" r:id="rId40"/>
    <p:sldId id="282" r:id="rId41"/>
    <p:sldId id="283" r:id="rId42"/>
    <p:sldId id="284" r:id="rId43"/>
    <p:sldId id="285" r:id="rId44"/>
    <p:sldId id="286" r:id="rId45"/>
    <p:sldId id="287" r:id="rId46"/>
    <p:sldId id="288" r:id="rId47"/>
    <p:sldId id="289" r:id="rId48"/>
    <p:sldId id="317" r:id="rId49"/>
    <p:sldId id="318" r:id="rId50"/>
    <p:sldId id="319" r:id="rId51"/>
    <p:sldId id="290" r:id="rId52"/>
    <p:sldId id="291" r:id="rId53"/>
    <p:sldId id="292" r:id="rId54"/>
    <p:sldId id="293" r:id="rId55"/>
    <p:sldId id="294" r:id="rId56"/>
    <p:sldId id="295" r:id="rId57"/>
    <p:sldId id="296" r:id="rId58"/>
    <p:sldId id="297" r:id="rId59"/>
    <p:sldId id="298" r:id="rId60"/>
    <p:sldId id="299" r:id="rId61"/>
    <p:sldId id="300" r:id="rId62"/>
    <p:sldId id="301" r:id="rId63"/>
  </p:sldIdLst>
  <p:sldSz cx="12192000" cy="6858000"/>
  <p:notesSz cx="6858000" cy="9144000"/>
  <p:kinsoku lang="zh-CN" invalStChars="!%),.:;?]}¨·ˇˉ་―‖’”…‰∶、。〃々〉》」』】〕〗！＂＇％），．：；？］｀｜｝～￠" invalEndChars="([{·‘“〈《「『【〔〖（．［｛￡￥"/>
  <p:defaultTextStyle>
    <a:defPPr>
      <a:defRPr lang="zh-CN"/>
    </a:defPPr>
    <a:lvl1pPr marL="0" indent="0" algn="l" defTabSz="914400" eaLnBrk="1" fontAlgn="auto" latinLnBrk="0" hangingPunct="1">
      <a:buNone/>
      <a:defRPr sz="1800" kern="1200">
        <a:solidFill>
          <a:schemeClr val="tx1"/>
        </a:solidFill>
        <a:latin typeface="Droid Sans" charset="0"/>
        <a:ea typeface="Droid Sans" charset="0"/>
        <a:cs typeface="Droid Sans" charset="0"/>
      </a:defRPr>
    </a:lvl1pPr>
    <a:lvl2pPr marL="457200" indent="0" algn="l" defTabSz="914400" eaLnBrk="1" fontAlgn="auto" latinLnBrk="0" hangingPunct="1">
      <a:buNone/>
      <a:defRPr sz="1800" kern="1200">
        <a:solidFill>
          <a:schemeClr val="tx1"/>
        </a:solidFill>
        <a:latin typeface="Droid Sans" charset="0"/>
        <a:ea typeface="Droid Sans" charset="0"/>
        <a:cs typeface="Droid Sans" charset="0"/>
      </a:defRPr>
    </a:lvl2pPr>
    <a:lvl3pPr marL="914400" indent="0" algn="l" defTabSz="914400" eaLnBrk="1" fontAlgn="auto" latinLnBrk="0" hangingPunct="1">
      <a:buNone/>
      <a:defRPr sz="1800" kern="1200">
        <a:solidFill>
          <a:schemeClr val="tx1"/>
        </a:solidFill>
        <a:latin typeface="Droid Sans" charset="0"/>
        <a:ea typeface="Droid Sans" charset="0"/>
        <a:cs typeface="Droid Sans" charset="0"/>
      </a:defRPr>
    </a:lvl3pPr>
    <a:lvl4pPr marL="1371600" indent="0" algn="l" defTabSz="914400" eaLnBrk="1" fontAlgn="auto" latinLnBrk="0" hangingPunct="1">
      <a:buNone/>
      <a:defRPr sz="1800" kern="1200">
        <a:solidFill>
          <a:schemeClr val="tx1"/>
        </a:solidFill>
        <a:latin typeface="Droid Sans" charset="0"/>
        <a:ea typeface="Droid Sans" charset="0"/>
        <a:cs typeface="Droid Sans" charset="0"/>
      </a:defRPr>
    </a:lvl4pPr>
    <a:lvl5pPr marL="1828800" indent="0" algn="l" defTabSz="914400" eaLnBrk="1" fontAlgn="auto" latinLnBrk="0" hangingPunct="1">
      <a:buNone/>
      <a:defRPr sz="1800" kern="1200">
        <a:solidFill>
          <a:schemeClr val="tx1"/>
        </a:solidFill>
        <a:latin typeface="Droid Sans" charset="0"/>
        <a:ea typeface="Droid Sans" charset="0"/>
        <a:cs typeface="Droid Sans" charset="0"/>
      </a:defRPr>
    </a:lvl5pPr>
    <a:lvl6pPr marL="2286000" indent="0" algn="l" defTabSz="914400" eaLnBrk="1" fontAlgn="auto" latinLnBrk="0" hangingPunct="1">
      <a:buNone/>
      <a:defRPr sz="1800" kern="1200">
        <a:solidFill>
          <a:schemeClr val="tx1"/>
        </a:solidFill>
        <a:latin typeface="Droid Sans" charset="0"/>
        <a:ea typeface="Droid Sans" charset="0"/>
        <a:cs typeface="Droid Sans" charset="0"/>
      </a:defRPr>
    </a:lvl6pPr>
    <a:lvl7pPr marL="2743200" indent="0" algn="l" defTabSz="914400" eaLnBrk="1" fontAlgn="auto" latinLnBrk="0" hangingPunct="1">
      <a:buNone/>
      <a:defRPr sz="1800" kern="1200">
        <a:solidFill>
          <a:schemeClr val="tx1"/>
        </a:solidFill>
        <a:latin typeface="Droid Sans" charset="0"/>
        <a:ea typeface="Droid Sans" charset="0"/>
        <a:cs typeface="Droid Sans" charset="0"/>
      </a:defRPr>
    </a:lvl7pPr>
    <a:lvl8pPr marL="3200400" indent="0" algn="l" defTabSz="914400" eaLnBrk="1" fontAlgn="auto" latinLnBrk="0" hangingPunct="1">
      <a:buNone/>
      <a:defRPr sz="1800" kern="1200">
        <a:solidFill>
          <a:schemeClr val="tx1"/>
        </a:solidFill>
        <a:latin typeface="Droid Sans" charset="0"/>
        <a:ea typeface="Droid Sans" charset="0"/>
        <a:cs typeface="Droid Sans" charset="0"/>
      </a:defRPr>
    </a:lvl8pPr>
    <a:lvl9pPr marL="3200400" indent="0" algn="l" defTabSz="914400" eaLnBrk="1" fontAlgn="auto" latinLnBrk="0" hangingPunct="1">
      <a:buNone/>
      <a:defRPr sz="1800" kern="1200">
        <a:solidFill>
          <a:schemeClr val="tx1"/>
        </a:solidFill>
        <a:latin typeface="Droid Sans" charset="0"/>
        <a:ea typeface="Droid Sans" charset="0"/>
        <a:cs typeface="Droid Sans" charset="0"/>
      </a:defRPr>
    </a:lvl9pPr>
  </p:defaultTextStyle>
  <p:extLst>
    <p:ext uri="{EFAFB233-063F-42B5-8137-9DF3F51BA10A}">
      <p15:sldGuideLst xmlns:p15="http://schemas.microsoft.com/office/powerpoint/2012/main">
        <p15:guide id="1" orient="horz" pos="2152">
          <p15:clr>
            <a:srgbClr val="A4A3A4"/>
          </p15:clr>
        </p15:guide>
        <p15:guide id="2" pos="3832">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777" autoAdjust="0"/>
    <p:restoredTop sz="99500" autoAdjust="0"/>
  </p:normalViewPr>
  <p:slideViewPr>
    <p:cSldViewPr snapToGrid="0">
      <p:cViewPr varScale="1">
        <p:scale>
          <a:sx n="92" d="100"/>
          <a:sy n="92" d="100"/>
        </p:scale>
        <p:origin x="88" y="80"/>
      </p:cViewPr>
      <p:guideLst>
        <p:guide orient="horz" pos="2152"/>
        <p:guide pos="3832"/>
      </p:guideLst>
    </p:cSldViewPr>
  </p:slideViewPr>
  <p:outlineViewPr>
    <p:cViewPr>
      <p:scale>
        <a:sx n="33" d="100"/>
        <a:sy n="33" d="100"/>
      </p:scale>
      <p:origin x="0" y="0"/>
    </p:cViewPr>
  </p:outlineViewPr>
  <p:notesTextViewPr>
    <p:cViewPr>
      <p:scale>
        <a:sx n="150" d="100"/>
        <a:sy n="150" d="100"/>
      </p:scale>
      <p:origin x="0" y="0"/>
    </p:cViewPr>
  </p:notesTextViewPr>
  <p:sorterViewPr>
    <p:cViewPr>
      <p:scale>
        <a:sx n="66" d="100"/>
        <a:sy n="66" d="100"/>
      </p:scale>
      <p:origin x="0" y="0"/>
    </p:cViewPr>
  </p:sorterViewPr>
  <p:notesViewPr>
    <p:cSldViewPr snapToGrid="0">
      <p:cViewPr varScale="1">
        <p:scale>
          <a:sx n="92" d="100"/>
          <a:sy n="92" d="100"/>
        </p:scale>
        <p:origin x="0" y="0"/>
      </p:cViewPr>
      <p:guideLst/>
    </p:cSldViewPr>
  </p:notesViewPr>
  <p:gridSpacing cx="72010" cy="7201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5-05-19T14:31:40"/>
    </inkml:context>
    <inkml:brush xml:id="br0">
      <inkml:brushProperty name="width" value="0.07936" units="cm"/>
      <inkml:brushProperty name="height" value="0.07936" units="cm"/>
      <inkml:brushProperty name="color" value="#FFFFFF"/>
      <inkml:brushProperty name="fitToCurve" value="1"/>
    </inkml:brush>
  </inkml:definitions>
  <inkml:trace contextRef="#ctx0" brushRef="#br0">2 4 204,'34'88'0,"0"30"0,-17 44 0,1-74 0,-1 15 0,0 309 0,0-133 0,0-191 0,-17 15 0,17-15-204</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5-05-19T14:31:40"/>
    </inkml:context>
    <inkml:brush xml:id="br0">
      <inkml:brushProperty name="width" value="0.07936" units="cm"/>
      <inkml:brushProperty name="height" value="0.07936" units="cm"/>
      <inkml:brushProperty name="color" value="#FFFFFF"/>
      <inkml:brushProperty name="fitToCurve" value="1"/>
    </inkml:brush>
  </inkml:definitions>
  <inkml:trace contextRef="#ctx0" brushRef="#br0">2 4 204,'34'88'0,"0"30"0,-17 44 0,1-74 0,-1 15 0,0 309 0,0-133 0,0-191 0,-17 15 0,17-15-204</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solidFill>
          <a:schemeClr val="bg1"/>
        </a:solidFill>
        <a:effectLst/>
      </p:bgPr>
    </p:bg>
    <p:spTree>
      <p:nvGrpSpPr>
        <p:cNvPr id="1" name=""/>
        <p:cNvGrpSpPr/>
        <p:nvPr/>
      </p:nvGrpSpPr>
      <p:grpSpPr>
        <a:xfrm>
          <a:off x="0" y="0"/>
          <a:ext cx="0" cy="0"/>
          <a:chOff x="0" y="0"/>
          <a:chExt cx="0" cy="0"/>
        </a:xfrm>
      </p:grpSpPr>
      <p:sp>
        <p:nvSpPr>
          <p:cNvPr id="7" name="文本框"/>
          <p:cNvSpPr>
            <a:spLocks noGrp="1"/>
          </p:cNvSpPr>
          <p:nvPr>
            <p:ph type="ctrTitle"/>
          </p:nvPr>
        </p:nvSpPr>
        <p:spPr>
          <a:xfrm>
            <a:off x="1198800" y="914400"/>
            <a:ext cx="9799200" cy="2570400"/>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marL="0" indent="0" algn="ctr">
              <a:lnSpc>
                <a:spcPct val="100000"/>
              </a:lnSpc>
              <a:spcBef>
                <a:spcPts val="0"/>
              </a:spcBef>
              <a:spcAft>
                <a:spcPts val="0"/>
              </a:spcAft>
              <a:buNone/>
            </a:pPr>
            <a:r>
              <a:rPr lang="zh-CN" altLang="en-US" sz="6000" b="1" i="0" u="none" strike="noStrike" kern="1200" cap="none" spc="300" baseline="0">
                <a:solidFill>
                  <a:srgbClr val="262626"/>
                </a:solidFill>
                <a:latin typeface="Arial" charset="0"/>
                <a:ea typeface="微软雅黑" charset="0"/>
                <a:cs typeface="Lucida Sans"/>
              </a:rPr>
              <a:t>单击此处编辑母版标题样式</a:t>
            </a:r>
          </a:p>
        </p:txBody>
      </p:sp>
      <p:sp>
        <p:nvSpPr>
          <p:cNvPr id="8" name="文本框"/>
          <p:cNvSpPr>
            <a:spLocks noGrp="1"/>
          </p:cNvSpPr>
          <p:nvPr>
            <p:ph type="subTitle" idx="1"/>
          </p:nvPr>
        </p:nvSpPr>
        <p:spPr>
          <a:xfrm>
            <a:off x="1198800" y="3560400"/>
            <a:ext cx="9799200" cy="1472399"/>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pPr marL="0" indent="0" algn="ctr">
              <a:lnSpc>
                <a:spcPct val="110000"/>
              </a:lnSpc>
              <a:spcBef>
                <a:spcPts val="0"/>
              </a:spcBef>
              <a:spcAft>
                <a:spcPts val="1000"/>
              </a:spcAft>
              <a:buNone/>
            </a:pPr>
            <a:r>
              <a:rPr lang="zh-CN" altLang="en-US" sz="2400" b="0" i="0" u="none" strike="noStrike" kern="1200" cap="none" spc="200" baseline="0">
                <a:solidFill>
                  <a:srgbClr val="595959"/>
                </a:solidFill>
                <a:latin typeface="Arial" charset="0"/>
                <a:ea typeface="微软雅黑" charset="0"/>
                <a:cs typeface="Lucida Sans"/>
              </a:rPr>
              <a:t>单击此处编辑母版副标题样式</a:t>
            </a:r>
          </a:p>
        </p:txBody>
      </p:sp>
      <p:sp>
        <p:nvSpPr>
          <p:cNvPr id="9" name="文本框"/>
          <p:cNvSpPr>
            <a:spLocks noGrp="1"/>
          </p:cNvSpPr>
          <p:nvPr>
            <p:ph type="dt" idx="10"/>
          </p:nvPr>
        </p:nvSpPr>
        <p:spPr>
          <a:xfrm>
            <a:off x="611999" y="6314400"/>
            <a:ext cx="2700000" cy="316800"/>
          </a:xfrm>
          <a:prstGeom prst="rect">
            <a:avLst/>
          </a:prstGeom>
          <a:noFill/>
          <a:ln cap="flat" cmpd="sng">
            <a:noFill/>
            <a:prstDash val="solid"/>
            <a:miter/>
          </a:ln>
        </p:spPr>
        <p:txBody>
          <a:bodyPr vert="horz" wrap="square" lIns="91440" tIns="45720" rIns="91440" bIns="45720" anchor="ctr" anchorCtr="0">
            <a:prstTxWarp prst="textNoShape">
              <a:avLst/>
            </a:prstTxWarp>
          </a:bodyPr>
          <a:lstStyle/>
          <a:p>
            <a:pPr marL="0" indent="0" algn="l">
              <a:lnSpc>
                <a:spcPct val="100000"/>
              </a:lnSpc>
              <a:spcBef>
                <a:spcPts val="0"/>
              </a:spcBef>
              <a:spcAft>
                <a:spcPts val="0"/>
              </a:spcAft>
              <a:buNone/>
            </a:pPr>
            <a:r>
              <a:rPr lang="zh-CN" altLang="en-US" sz="1000" b="0" i="0" u="none" strike="noStrike" kern="1200" cap="none" spc="0" baseline="0">
                <a:solidFill>
                  <a:srgbClr val="898989"/>
                </a:solidFill>
                <a:latin typeface="Arial" charset="0"/>
                <a:ea typeface="微软雅黑" charset="0"/>
                <a:cs typeface="Arial" charset="0"/>
              </a:rPr>
              <a:t>《日期/时间》</a:t>
            </a:r>
          </a:p>
        </p:txBody>
      </p:sp>
      <p:sp>
        <p:nvSpPr>
          <p:cNvPr id="10" name="文本框"/>
          <p:cNvSpPr>
            <a:spLocks noGrp="1"/>
          </p:cNvSpPr>
          <p:nvPr>
            <p:ph type="ftr"/>
          </p:nvPr>
        </p:nvSpPr>
        <p:spPr>
          <a:xfrm>
            <a:off x="4116000" y="6314400"/>
            <a:ext cx="3960000" cy="316800"/>
          </a:xfrm>
          <a:prstGeom prst="rect">
            <a:avLst/>
          </a:prstGeom>
          <a:noFill/>
          <a:ln cap="flat" cmpd="sng">
            <a:noFill/>
            <a:prstDash val="solid"/>
            <a:miter/>
          </a:ln>
        </p:spPr>
        <p:txBody>
          <a:bodyPr vert="horz" wrap="square" lIns="91440" tIns="45720" rIns="91440" bIns="45720" anchor="ctr" anchorCtr="0">
            <a:prstTxWarp prst="textNoShape">
              <a:avLst/>
            </a:prstTxWarp>
          </a:bodyPr>
          <a:lstStyle/>
          <a:p>
            <a:pPr marL="0" indent="0" algn="ctr">
              <a:lnSpc>
                <a:spcPct val="100000"/>
              </a:lnSpc>
              <a:spcBef>
                <a:spcPts val="0"/>
              </a:spcBef>
              <a:spcAft>
                <a:spcPts val="0"/>
              </a:spcAft>
              <a:buNone/>
            </a:pPr>
            <a:endParaRPr lang="zh-CN" altLang="en-US" sz="1000" b="0" i="0" u="none" strike="noStrike" kern="1200" cap="none" spc="0" baseline="0">
              <a:solidFill>
                <a:srgbClr val="898989"/>
              </a:solidFill>
              <a:latin typeface="Arial" charset="0"/>
              <a:ea typeface="微软雅黑" charset="0"/>
              <a:cs typeface="Arial" charset="0"/>
            </a:endParaRPr>
          </a:p>
        </p:txBody>
      </p:sp>
      <p:sp>
        <p:nvSpPr>
          <p:cNvPr id="11" name="文本框"/>
          <p:cNvSpPr>
            <a:spLocks noGrp="1"/>
          </p:cNvSpPr>
          <p:nvPr>
            <p:ph type="sldNum"/>
          </p:nvPr>
        </p:nvSpPr>
        <p:spPr>
          <a:xfrm>
            <a:off x="8877600" y="6314400"/>
            <a:ext cx="2700000" cy="316800"/>
          </a:xfrm>
          <a:prstGeom prst="rect">
            <a:avLst/>
          </a:prstGeom>
          <a:noFill/>
          <a:ln cap="flat" cmpd="sng">
            <a:noFill/>
            <a:prstDash val="solid"/>
            <a:miter/>
          </a:ln>
        </p:spPr>
        <p:txBody>
          <a:bodyPr vert="horz" wrap="square" lIns="91440" tIns="45720" rIns="91440" bIns="45720" anchor="ctr" anchorCtr="0">
            <a:prstTxWarp prst="textNoShape">
              <a:avLst/>
            </a:prstTxWarp>
          </a:bodyPr>
          <a:lstStyle/>
          <a:p>
            <a:pPr marL="0" indent="0" algn="r">
              <a:lnSpc>
                <a:spcPct val="100000"/>
              </a:lnSpc>
              <a:spcBef>
                <a:spcPts val="0"/>
              </a:spcBef>
              <a:spcAft>
                <a:spcPts val="0"/>
              </a:spcAft>
              <a:buNone/>
            </a:pPr>
            <a:fld id="{CAD2D6BD-DE1B-4B5F-8B41-2702339687B9}" type="slidenum">
              <a:rPr lang="en-US" altLang="zh-CN" sz="1000" b="0" i="0" u="none" strike="noStrike" kern="1200" cap="none" spc="0" baseline="0">
                <a:solidFill>
                  <a:srgbClr val="898989"/>
                </a:solidFill>
                <a:latin typeface="Arial" charset="0"/>
                <a:ea typeface="微软雅黑" charset="0"/>
                <a:cs typeface="Arial" charset="0"/>
              </a:rPr>
              <a:t>‹#›</a:t>
            </a:fld>
            <a:endParaRPr lang="zh-CN" altLang="en-US" sz="1000" b="0" i="0" u="none" strike="noStrike" kern="1200" cap="none" spc="0" baseline="0">
              <a:solidFill>
                <a:srgbClr val="898989"/>
              </a:solidFill>
              <a:latin typeface="Arial" charset="0"/>
              <a:ea typeface="微软雅黑" charset="0"/>
              <a:cs typeface="Arial" charset="0"/>
            </a:endParaRPr>
          </a:p>
        </p:txBody>
      </p:sp>
    </p:spTree>
    <p:extLst>
      <p:ext uri="{BB962C8B-B14F-4D97-AF65-F5344CB8AC3E}">
        <p14:creationId xmlns:p14="http://schemas.microsoft.com/office/powerpoint/2010/main" val="8293879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文本框"/>
          <p:cNvSpPr>
            <a:spLocks noGrp="1"/>
          </p:cNvSpPr>
          <p:nvPr>
            <p:ph type="title"/>
          </p:nvPr>
        </p:nvSpPr>
        <p:spPr/>
        <p:txBody>
          <a:bodyPr/>
          <a:lstStyle/>
          <a:p>
            <a:r>
              <a:rPr lang="zh-CN" altLang="en-US"/>
              <a:t>单击此处编辑母版标题样式</a:t>
            </a:r>
          </a:p>
        </p:txBody>
      </p:sp>
      <p:sp>
        <p:nvSpPr>
          <p:cNvPr id="3" name="文本框"/>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框"/>
          <p:cNvSpPr>
            <a:spLocks noGrp="1"/>
          </p:cNvSpPr>
          <p:nvPr>
            <p:ph type="dt" sz="half" idx="10"/>
          </p:nvPr>
        </p:nvSpPr>
        <p:spPr/>
        <p:txBody>
          <a:bodyPr/>
          <a:lstStyle/>
          <a:p>
            <a:fld id="{72514870-5082-4025-BC8A-5E070B8EB77D}" type="datetimeFigureOut">
              <a:rPr lang="zh-CN" altLang="en-US" smtClean="0"/>
              <a:t>2026/6/4</a:t>
            </a:fld>
            <a:endParaRPr lang="zh-CN" altLang="en-US"/>
          </a:p>
        </p:txBody>
      </p:sp>
      <p:sp>
        <p:nvSpPr>
          <p:cNvPr id="5" name="文本框"/>
          <p:cNvSpPr>
            <a:spLocks noGrp="1"/>
          </p:cNvSpPr>
          <p:nvPr>
            <p:ph type="ftr" sz="quarter" idx="11"/>
          </p:nvPr>
        </p:nvSpPr>
        <p:spPr/>
        <p:txBody>
          <a:bodyPr/>
          <a:lstStyle/>
          <a:p>
            <a:endParaRPr lang="zh-CN" altLang="en-US"/>
          </a:p>
        </p:txBody>
      </p:sp>
      <p:sp>
        <p:nvSpPr>
          <p:cNvPr id="6" name="文本框"/>
          <p:cNvSpPr>
            <a:spLocks noGrp="1"/>
          </p:cNvSpPr>
          <p:nvPr>
            <p:ph type="sldNum" sz="quarter" idx="12"/>
          </p:nvPr>
        </p:nvSpPr>
        <p:spPr/>
        <p:txBody>
          <a:bodyPr/>
          <a:lstStyle/>
          <a:p>
            <a:fld id="{3E00D155-3BB6-43CF-9AC4-BC63A66E74A9}" type="slidenum">
              <a:rPr lang="zh-CN" altLang="en-US" smtClean="0"/>
              <a:t>‹#›</a:t>
            </a:fld>
            <a:endParaRPr lang="zh-CN" altLang="en-US"/>
          </a:p>
        </p:txBody>
      </p:sp>
    </p:spTree>
    <p:extLst>
      <p:ext uri="{BB962C8B-B14F-4D97-AF65-F5344CB8AC3E}">
        <p14:creationId xmlns:p14="http://schemas.microsoft.com/office/powerpoint/2010/main" val="530360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文本框"/>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框"/>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文本框"/>
          <p:cNvSpPr>
            <a:spLocks noGrp="1"/>
          </p:cNvSpPr>
          <p:nvPr>
            <p:ph type="dt" sz="half" idx="10"/>
          </p:nvPr>
        </p:nvSpPr>
        <p:spPr/>
        <p:txBody>
          <a:bodyPr/>
          <a:lstStyle/>
          <a:p>
            <a:fld id="{72514870-5082-4025-BC8A-5E070B8EB77D}" type="datetimeFigureOut">
              <a:rPr lang="zh-CN" altLang="en-US" smtClean="0"/>
              <a:t>2026/6/4</a:t>
            </a:fld>
            <a:endParaRPr lang="zh-CN" altLang="en-US"/>
          </a:p>
        </p:txBody>
      </p:sp>
      <p:sp>
        <p:nvSpPr>
          <p:cNvPr id="5" name="文本框"/>
          <p:cNvSpPr>
            <a:spLocks noGrp="1"/>
          </p:cNvSpPr>
          <p:nvPr>
            <p:ph type="ftr" sz="quarter" idx="11"/>
          </p:nvPr>
        </p:nvSpPr>
        <p:spPr/>
        <p:txBody>
          <a:bodyPr/>
          <a:lstStyle/>
          <a:p>
            <a:endParaRPr lang="zh-CN" altLang="en-US"/>
          </a:p>
        </p:txBody>
      </p:sp>
      <p:sp>
        <p:nvSpPr>
          <p:cNvPr id="6" name="文本框"/>
          <p:cNvSpPr>
            <a:spLocks noGrp="1"/>
          </p:cNvSpPr>
          <p:nvPr>
            <p:ph type="sldNum" sz="quarter" idx="12"/>
          </p:nvPr>
        </p:nvSpPr>
        <p:spPr/>
        <p:txBody>
          <a:bodyPr/>
          <a:lstStyle/>
          <a:p>
            <a:fld id="{3E00D155-3BB6-43CF-9AC4-BC63A66E74A9}" type="slidenum">
              <a:rPr lang="zh-CN" altLang="en-US" smtClean="0"/>
              <a:t>‹#›</a:t>
            </a:fld>
            <a:endParaRPr lang="zh-CN" altLang="en-US"/>
          </a:p>
        </p:txBody>
      </p:sp>
    </p:spTree>
    <p:extLst>
      <p:ext uri="{BB962C8B-B14F-4D97-AF65-F5344CB8AC3E}">
        <p14:creationId xmlns:p14="http://schemas.microsoft.com/office/powerpoint/2010/main" val="825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文本框"/>
          <p:cNvSpPr>
            <a:spLocks noGrp="1"/>
          </p:cNvSpPr>
          <p:nvPr>
            <p:ph type="title"/>
          </p:nvPr>
        </p:nvSpPr>
        <p:spPr/>
        <p:txBody>
          <a:bodyPr/>
          <a:lstStyle/>
          <a:p>
            <a:r>
              <a:rPr lang="zh-CN" altLang="en-US"/>
              <a:t>单击此处编辑母版标题样式</a:t>
            </a:r>
          </a:p>
        </p:txBody>
      </p:sp>
      <p:sp>
        <p:nvSpPr>
          <p:cNvPr id="3" name="文本框"/>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框"/>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框"/>
          <p:cNvSpPr>
            <a:spLocks noGrp="1"/>
          </p:cNvSpPr>
          <p:nvPr>
            <p:ph type="dt" sz="half" idx="10"/>
          </p:nvPr>
        </p:nvSpPr>
        <p:spPr/>
        <p:txBody>
          <a:bodyPr/>
          <a:lstStyle/>
          <a:p>
            <a:fld id="{72514870-5082-4025-BC8A-5E070B8EB77D}" type="datetimeFigureOut">
              <a:rPr lang="zh-CN" altLang="en-US" smtClean="0"/>
              <a:t>2026/6/4</a:t>
            </a:fld>
            <a:endParaRPr lang="zh-CN" altLang="en-US"/>
          </a:p>
        </p:txBody>
      </p:sp>
      <p:sp>
        <p:nvSpPr>
          <p:cNvPr id="6" name="文本框"/>
          <p:cNvSpPr>
            <a:spLocks noGrp="1"/>
          </p:cNvSpPr>
          <p:nvPr>
            <p:ph type="ftr" sz="quarter" idx="11"/>
          </p:nvPr>
        </p:nvSpPr>
        <p:spPr/>
        <p:txBody>
          <a:bodyPr/>
          <a:lstStyle/>
          <a:p>
            <a:endParaRPr lang="zh-CN" altLang="en-US"/>
          </a:p>
        </p:txBody>
      </p:sp>
      <p:sp>
        <p:nvSpPr>
          <p:cNvPr id="7" name="文本框"/>
          <p:cNvSpPr>
            <a:spLocks noGrp="1"/>
          </p:cNvSpPr>
          <p:nvPr>
            <p:ph type="sldNum" sz="quarter" idx="12"/>
          </p:nvPr>
        </p:nvSpPr>
        <p:spPr/>
        <p:txBody>
          <a:bodyPr/>
          <a:lstStyle/>
          <a:p>
            <a:fld id="{3E00D155-3BB6-43CF-9AC4-BC63A66E74A9}" type="slidenum">
              <a:rPr lang="zh-CN" altLang="en-US" smtClean="0"/>
              <a:t>‹#›</a:t>
            </a:fld>
            <a:endParaRPr lang="zh-CN" altLang="en-US"/>
          </a:p>
        </p:txBody>
      </p:sp>
    </p:spTree>
    <p:extLst>
      <p:ext uri="{BB962C8B-B14F-4D97-AF65-F5344CB8AC3E}">
        <p14:creationId xmlns:p14="http://schemas.microsoft.com/office/powerpoint/2010/main" val="14914017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文本框"/>
          <p:cNvSpPr>
            <a:spLocks noGrp="1"/>
          </p:cNvSpPr>
          <p:nvPr>
            <p:ph type="title"/>
          </p:nvPr>
        </p:nvSpPr>
        <p:spPr/>
        <p:txBody>
          <a:bodyPr/>
          <a:lstStyle>
            <a:lvl1pPr>
              <a:defRPr/>
            </a:lvl1pPr>
          </a:lstStyle>
          <a:p>
            <a:r>
              <a:rPr lang="zh-CN" altLang="en-US"/>
              <a:t>单击此处编辑母版标题样式</a:t>
            </a:r>
          </a:p>
        </p:txBody>
      </p:sp>
      <p:sp>
        <p:nvSpPr>
          <p:cNvPr id="3" name="文本框"/>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文本框"/>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框"/>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文本框"/>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文本框"/>
          <p:cNvSpPr>
            <a:spLocks noGrp="1"/>
          </p:cNvSpPr>
          <p:nvPr>
            <p:ph type="dt" sz="half" idx="10"/>
          </p:nvPr>
        </p:nvSpPr>
        <p:spPr/>
        <p:txBody>
          <a:bodyPr/>
          <a:lstStyle/>
          <a:p>
            <a:fld id="{72514870-5082-4025-BC8A-5E070B8EB77D}" type="datetimeFigureOut">
              <a:rPr lang="zh-CN" altLang="en-US" smtClean="0"/>
              <a:t>2026/6/4</a:t>
            </a:fld>
            <a:endParaRPr lang="zh-CN" altLang="en-US"/>
          </a:p>
        </p:txBody>
      </p:sp>
      <p:sp>
        <p:nvSpPr>
          <p:cNvPr id="8" name="文本框"/>
          <p:cNvSpPr>
            <a:spLocks noGrp="1"/>
          </p:cNvSpPr>
          <p:nvPr>
            <p:ph type="ftr" sz="quarter" idx="11"/>
          </p:nvPr>
        </p:nvSpPr>
        <p:spPr/>
        <p:txBody>
          <a:bodyPr/>
          <a:lstStyle/>
          <a:p>
            <a:endParaRPr lang="zh-CN" altLang="en-US"/>
          </a:p>
        </p:txBody>
      </p:sp>
      <p:sp>
        <p:nvSpPr>
          <p:cNvPr id="9" name="文本框"/>
          <p:cNvSpPr>
            <a:spLocks noGrp="1"/>
          </p:cNvSpPr>
          <p:nvPr>
            <p:ph type="sldNum" sz="quarter" idx="12"/>
          </p:nvPr>
        </p:nvSpPr>
        <p:spPr/>
        <p:txBody>
          <a:bodyPr/>
          <a:lstStyle/>
          <a:p>
            <a:fld id="{3E00D155-3BB6-43CF-9AC4-BC63A66E74A9}" type="slidenum">
              <a:rPr lang="zh-CN" altLang="en-US" smtClean="0"/>
              <a:t>‹#›</a:t>
            </a:fld>
            <a:endParaRPr lang="zh-CN" altLang="en-US"/>
          </a:p>
        </p:txBody>
      </p:sp>
    </p:spTree>
    <p:extLst>
      <p:ext uri="{BB962C8B-B14F-4D97-AF65-F5344CB8AC3E}">
        <p14:creationId xmlns:p14="http://schemas.microsoft.com/office/powerpoint/2010/main" val="4132702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文本框"/>
          <p:cNvSpPr>
            <a:spLocks noGrp="1"/>
          </p:cNvSpPr>
          <p:nvPr>
            <p:ph type="title"/>
          </p:nvPr>
        </p:nvSpPr>
        <p:spPr/>
        <p:txBody>
          <a:bodyPr/>
          <a:lstStyle/>
          <a:p>
            <a:r>
              <a:rPr lang="zh-CN" altLang="en-US"/>
              <a:t>单击此处编辑母版标题样式</a:t>
            </a:r>
          </a:p>
        </p:txBody>
      </p:sp>
      <p:sp>
        <p:nvSpPr>
          <p:cNvPr id="3" name="文本框"/>
          <p:cNvSpPr>
            <a:spLocks noGrp="1"/>
          </p:cNvSpPr>
          <p:nvPr>
            <p:ph type="dt" sz="half" idx="10"/>
          </p:nvPr>
        </p:nvSpPr>
        <p:spPr/>
        <p:txBody>
          <a:bodyPr/>
          <a:lstStyle/>
          <a:p>
            <a:fld id="{72514870-5082-4025-BC8A-5E070B8EB77D}" type="datetimeFigureOut">
              <a:rPr lang="zh-CN" altLang="en-US" smtClean="0"/>
              <a:t>2026/6/4</a:t>
            </a:fld>
            <a:endParaRPr lang="zh-CN" altLang="en-US"/>
          </a:p>
        </p:txBody>
      </p:sp>
      <p:sp>
        <p:nvSpPr>
          <p:cNvPr id="4" name="文本框"/>
          <p:cNvSpPr>
            <a:spLocks noGrp="1"/>
          </p:cNvSpPr>
          <p:nvPr>
            <p:ph type="ftr" sz="quarter" idx="11"/>
          </p:nvPr>
        </p:nvSpPr>
        <p:spPr/>
        <p:txBody>
          <a:bodyPr/>
          <a:lstStyle/>
          <a:p>
            <a:endParaRPr lang="zh-CN" altLang="en-US"/>
          </a:p>
        </p:txBody>
      </p:sp>
      <p:sp>
        <p:nvSpPr>
          <p:cNvPr id="5" name="文本框"/>
          <p:cNvSpPr>
            <a:spLocks noGrp="1"/>
          </p:cNvSpPr>
          <p:nvPr>
            <p:ph type="sldNum" sz="quarter" idx="12"/>
          </p:nvPr>
        </p:nvSpPr>
        <p:spPr/>
        <p:txBody>
          <a:bodyPr/>
          <a:lstStyle/>
          <a:p>
            <a:fld id="{3E00D155-3BB6-43CF-9AC4-BC63A66E74A9}" type="slidenum">
              <a:rPr lang="zh-CN" altLang="en-US" smtClean="0"/>
              <a:t>‹#›</a:t>
            </a:fld>
            <a:endParaRPr lang="zh-CN" altLang="en-US"/>
          </a:p>
        </p:txBody>
      </p:sp>
    </p:spTree>
    <p:extLst>
      <p:ext uri="{BB962C8B-B14F-4D97-AF65-F5344CB8AC3E}">
        <p14:creationId xmlns:p14="http://schemas.microsoft.com/office/powerpoint/2010/main" val="3446805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文本框"/>
          <p:cNvSpPr>
            <a:spLocks noGrp="1"/>
          </p:cNvSpPr>
          <p:nvPr>
            <p:ph type="dt" sz="half" idx="10"/>
          </p:nvPr>
        </p:nvSpPr>
        <p:spPr/>
        <p:txBody>
          <a:bodyPr/>
          <a:lstStyle/>
          <a:p>
            <a:fld id="{72514870-5082-4025-BC8A-5E070B8EB77D}" type="datetimeFigureOut">
              <a:rPr lang="zh-CN" altLang="en-US" smtClean="0"/>
              <a:t>2026/6/4</a:t>
            </a:fld>
            <a:endParaRPr lang="zh-CN" altLang="en-US"/>
          </a:p>
        </p:txBody>
      </p:sp>
      <p:sp>
        <p:nvSpPr>
          <p:cNvPr id="3" name="文本框"/>
          <p:cNvSpPr>
            <a:spLocks noGrp="1"/>
          </p:cNvSpPr>
          <p:nvPr>
            <p:ph type="ftr" sz="quarter" idx="11"/>
          </p:nvPr>
        </p:nvSpPr>
        <p:spPr/>
        <p:txBody>
          <a:bodyPr/>
          <a:lstStyle/>
          <a:p>
            <a:endParaRPr lang="zh-CN" altLang="en-US"/>
          </a:p>
        </p:txBody>
      </p:sp>
      <p:sp>
        <p:nvSpPr>
          <p:cNvPr id="4" name="文本框"/>
          <p:cNvSpPr>
            <a:spLocks noGrp="1"/>
          </p:cNvSpPr>
          <p:nvPr>
            <p:ph type="sldNum" sz="quarter" idx="12"/>
          </p:nvPr>
        </p:nvSpPr>
        <p:spPr/>
        <p:txBody>
          <a:bodyPr/>
          <a:lstStyle/>
          <a:p>
            <a:fld id="{3E00D155-3BB6-43CF-9AC4-BC63A66E74A9}" type="slidenum">
              <a:rPr lang="zh-CN" altLang="en-US" smtClean="0"/>
              <a:t>‹#›</a:t>
            </a:fld>
            <a:endParaRPr lang="zh-CN" altLang="en-US"/>
          </a:p>
        </p:txBody>
      </p:sp>
    </p:spTree>
    <p:extLst>
      <p:ext uri="{BB962C8B-B14F-4D97-AF65-F5344CB8AC3E}">
        <p14:creationId xmlns:p14="http://schemas.microsoft.com/office/powerpoint/2010/main" val="11836942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文本框"/>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文本框"/>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框"/>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文本框"/>
          <p:cNvSpPr>
            <a:spLocks noGrp="1"/>
          </p:cNvSpPr>
          <p:nvPr>
            <p:ph type="dt" sz="half" idx="10"/>
          </p:nvPr>
        </p:nvSpPr>
        <p:spPr/>
        <p:txBody>
          <a:bodyPr/>
          <a:lstStyle/>
          <a:p>
            <a:fld id="{72514870-5082-4025-BC8A-5E070B8EB77D}" type="datetimeFigureOut">
              <a:rPr lang="zh-CN" altLang="en-US" smtClean="0"/>
              <a:t>2026/6/4</a:t>
            </a:fld>
            <a:endParaRPr lang="zh-CN" altLang="en-US"/>
          </a:p>
        </p:txBody>
      </p:sp>
      <p:sp>
        <p:nvSpPr>
          <p:cNvPr id="6" name="文本框"/>
          <p:cNvSpPr>
            <a:spLocks noGrp="1"/>
          </p:cNvSpPr>
          <p:nvPr>
            <p:ph type="ftr" sz="quarter" idx="11"/>
          </p:nvPr>
        </p:nvSpPr>
        <p:spPr/>
        <p:txBody>
          <a:bodyPr/>
          <a:lstStyle/>
          <a:p>
            <a:endParaRPr lang="zh-CN" altLang="en-US"/>
          </a:p>
        </p:txBody>
      </p:sp>
      <p:sp>
        <p:nvSpPr>
          <p:cNvPr id="7" name="文本框"/>
          <p:cNvSpPr>
            <a:spLocks noGrp="1"/>
          </p:cNvSpPr>
          <p:nvPr>
            <p:ph type="sldNum" sz="quarter" idx="12"/>
          </p:nvPr>
        </p:nvSpPr>
        <p:spPr/>
        <p:txBody>
          <a:bodyPr/>
          <a:lstStyle/>
          <a:p>
            <a:fld id="{3E00D155-3BB6-43CF-9AC4-BC63A66E74A9}" type="slidenum">
              <a:rPr lang="zh-CN" altLang="en-US" smtClean="0"/>
              <a:t>‹#›</a:t>
            </a:fld>
            <a:endParaRPr lang="zh-CN" altLang="en-US"/>
          </a:p>
        </p:txBody>
      </p:sp>
    </p:spTree>
    <p:extLst>
      <p:ext uri="{BB962C8B-B14F-4D97-AF65-F5344CB8AC3E}">
        <p14:creationId xmlns:p14="http://schemas.microsoft.com/office/powerpoint/2010/main" val="17260072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文本框"/>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文本框"/>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框"/>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文本框"/>
          <p:cNvSpPr>
            <a:spLocks noGrp="1"/>
          </p:cNvSpPr>
          <p:nvPr>
            <p:ph type="dt" sz="half" idx="10"/>
          </p:nvPr>
        </p:nvSpPr>
        <p:spPr/>
        <p:txBody>
          <a:bodyPr/>
          <a:lstStyle/>
          <a:p>
            <a:fld id="{72514870-5082-4025-BC8A-5E070B8EB77D}" type="datetimeFigureOut">
              <a:rPr lang="zh-CN" altLang="en-US" smtClean="0"/>
              <a:t>2026/6/4</a:t>
            </a:fld>
            <a:endParaRPr lang="zh-CN" altLang="en-US"/>
          </a:p>
        </p:txBody>
      </p:sp>
      <p:sp>
        <p:nvSpPr>
          <p:cNvPr id="6" name="文本框"/>
          <p:cNvSpPr>
            <a:spLocks noGrp="1"/>
          </p:cNvSpPr>
          <p:nvPr>
            <p:ph type="ftr" sz="quarter" idx="11"/>
          </p:nvPr>
        </p:nvSpPr>
        <p:spPr/>
        <p:txBody>
          <a:bodyPr/>
          <a:lstStyle/>
          <a:p>
            <a:endParaRPr lang="zh-CN" altLang="en-US"/>
          </a:p>
        </p:txBody>
      </p:sp>
      <p:sp>
        <p:nvSpPr>
          <p:cNvPr id="7" name="文本框"/>
          <p:cNvSpPr>
            <a:spLocks noGrp="1"/>
          </p:cNvSpPr>
          <p:nvPr>
            <p:ph type="sldNum" sz="quarter" idx="12"/>
          </p:nvPr>
        </p:nvSpPr>
        <p:spPr/>
        <p:txBody>
          <a:bodyPr/>
          <a:lstStyle/>
          <a:p>
            <a:fld id="{3E00D155-3BB6-43CF-9AC4-BC63A66E74A9}" type="slidenum">
              <a:rPr lang="zh-CN" altLang="en-US" smtClean="0"/>
              <a:t>‹#›</a:t>
            </a:fld>
            <a:endParaRPr lang="zh-CN" altLang="en-US"/>
          </a:p>
        </p:txBody>
      </p:sp>
    </p:spTree>
    <p:extLst>
      <p:ext uri="{BB962C8B-B14F-4D97-AF65-F5344CB8AC3E}">
        <p14:creationId xmlns:p14="http://schemas.microsoft.com/office/powerpoint/2010/main" val="9189920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本">
    <p:spTree>
      <p:nvGrpSpPr>
        <p:cNvPr id="1" name=""/>
        <p:cNvGrpSpPr/>
        <p:nvPr/>
      </p:nvGrpSpPr>
      <p:grpSpPr>
        <a:xfrm>
          <a:off x="0" y="0"/>
          <a:ext cx="0" cy="0"/>
          <a:chOff x="0" y="0"/>
          <a:chExt cx="0" cy="0"/>
        </a:xfrm>
      </p:grpSpPr>
      <p:sp>
        <p:nvSpPr>
          <p:cNvPr id="2" name="文本框"/>
          <p:cNvSpPr>
            <a:spLocks noGrp="1"/>
          </p:cNvSpPr>
          <p:nvPr>
            <p:ph type="title"/>
          </p:nvPr>
        </p:nvSpPr>
        <p:spPr/>
        <p:txBody>
          <a:bodyPr/>
          <a:lstStyle/>
          <a:p>
            <a:r>
              <a:rPr lang="zh-CN" altLang="en-US"/>
              <a:t>单击此处编辑母版标题样式</a:t>
            </a:r>
          </a:p>
        </p:txBody>
      </p:sp>
      <p:sp>
        <p:nvSpPr>
          <p:cNvPr id="3" name="文本框"/>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框"/>
          <p:cNvSpPr>
            <a:spLocks noGrp="1"/>
          </p:cNvSpPr>
          <p:nvPr>
            <p:ph type="dt" sz="half" idx="10"/>
          </p:nvPr>
        </p:nvSpPr>
        <p:spPr/>
        <p:txBody>
          <a:bodyPr/>
          <a:lstStyle/>
          <a:p>
            <a:fld id="{72514870-5082-4025-BC8A-5E070B8EB77D}" type="datetimeFigureOut">
              <a:rPr lang="zh-CN" altLang="en-US" smtClean="0"/>
              <a:t>2026/6/4</a:t>
            </a:fld>
            <a:endParaRPr lang="zh-CN" altLang="en-US"/>
          </a:p>
        </p:txBody>
      </p:sp>
      <p:sp>
        <p:nvSpPr>
          <p:cNvPr id="5" name="文本框"/>
          <p:cNvSpPr>
            <a:spLocks noGrp="1"/>
          </p:cNvSpPr>
          <p:nvPr>
            <p:ph type="ftr" sz="quarter" idx="11"/>
          </p:nvPr>
        </p:nvSpPr>
        <p:spPr/>
        <p:txBody>
          <a:bodyPr/>
          <a:lstStyle/>
          <a:p>
            <a:endParaRPr lang="zh-CN" altLang="en-US"/>
          </a:p>
        </p:txBody>
      </p:sp>
      <p:sp>
        <p:nvSpPr>
          <p:cNvPr id="6" name="文本框"/>
          <p:cNvSpPr>
            <a:spLocks noGrp="1"/>
          </p:cNvSpPr>
          <p:nvPr>
            <p:ph type="sldNum" sz="quarter" idx="12"/>
          </p:nvPr>
        </p:nvSpPr>
        <p:spPr/>
        <p:txBody>
          <a:bodyPr/>
          <a:lstStyle/>
          <a:p>
            <a:fld id="{3E00D155-3BB6-43CF-9AC4-BC63A66E74A9}" type="slidenum">
              <a:rPr lang="zh-CN" altLang="en-US" smtClean="0"/>
              <a:t>‹#›</a:t>
            </a:fld>
            <a:endParaRPr lang="zh-CN" altLang="en-US"/>
          </a:p>
        </p:txBody>
      </p:sp>
    </p:spTree>
    <p:extLst>
      <p:ext uri="{BB962C8B-B14F-4D97-AF65-F5344CB8AC3E}">
        <p14:creationId xmlns:p14="http://schemas.microsoft.com/office/powerpoint/2010/main" val="16345781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文本框"/>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文本框"/>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框"/>
          <p:cNvSpPr>
            <a:spLocks noGrp="1"/>
          </p:cNvSpPr>
          <p:nvPr>
            <p:ph type="dt" sz="half" idx="10"/>
          </p:nvPr>
        </p:nvSpPr>
        <p:spPr/>
        <p:txBody>
          <a:bodyPr/>
          <a:lstStyle/>
          <a:p>
            <a:fld id="{72514870-5082-4025-BC8A-5E070B8EB77D}" type="datetimeFigureOut">
              <a:rPr lang="zh-CN" altLang="en-US" smtClean="0"/>
              <a:t>2026/6/4</a:t>
            </a:fld>
            <a:endParaRPr lang="zh-CN" altLang="en-US"/>
          </a:p>
        </p:txBody>
      </p:sp>
      <p:sp>
        <p:nvSpPr>
          <p:cNvPr id="5" name="文本框"/>
          <p:cNvSpPr>
            <a:spLocks noGrp="1"/>
          </p:cNvSpPr>
          <p:nvPr>
            <p:ph type="ftr" sz="quarter" idx="11"/>
          </p:nvPr>
        </p:nvSpPr>
        <p:spPr/>
        <p:txBody>
          <a:bodyPr/>
          <a:lstStyle/>
          <a:p>
            <a:endParaRPr lang="zh-CN" altLang="en-US"/>
          </a:p>
        </p:txBody>
      </p:sp>
      <p:sp>
        <p:nvSpPr>
          <p:cNvPr id="6" name="文本框"/>
          <p:cNvSpPr>
            <a:spLocks noGrp="1"/>
          </p:cNvSpPr>
          <p:nvPr>
            <p:ph type="sldNum" sz="quarter" idx="12"/>
          </p:nvPr>
        </p:nvSpPr>
        <p:spPr/>
        <p:txBody>
          <a:bodyPr/>
          <a:lstStyle/>
          <a:p>
            <a:fld id="{3E00D155-3BB6-43CF-9AC4-BC63A66E74A9}" type="slidenum">
              <a:rPr lang="zh-CN" altLang="en-US" smtClean="0"/>
              <a:t>‹#›</a:t>
            </a:fld>
            <a:endParaRPr lang="zh-CN" altLang="en-US"/>
          </a:p>
        </p:txBody>
      </p:sp>
    </p:spTree>
    <p:extLst>
      <p:ext uri="{BB962C8B-B14F-4D97-AF65-F5344CB8AC3E}">
        <p14:creationId xmlns:p14="http://schemas.microsoft.com/office/powerpoint/2010/main" val="67402912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自定义版式">
    <p:bg>
      <p:bgPr>
        <a:solidFill>
          <a:schemeClr val="bg1"/>
        </a:solidFill>
        <a:effectLst/>
      </p:bgPr>
    </p:bg>
    <p:spTree>
      <p:nvGrpSpPr>
        <p:cNvPr id="1" name=""/>
        <p:cNvGrpSpPr/>
        <p:nvPr/>
      </p:nvGrpSpPr>
      <p:grpSpPr>
        <a:xfrm>
          <a:off x="0" y="0"/>
          <a:ext cx="0" cy="0"/>
          <a:chOff x="0" y="0"/>
          <a:chExt cx="0" cy="0"/>
        </a:xfrm>
      </p:grpSpPr>
      <p:sp>
        <p:nvSpPr>
          <p:cNvPr id="14" name="文本框"/>
          <p:cNvSpPr>
            <a:spLocks noGrp="1"/>
          </p:cNvSpPr>
          <p:nvPr>
            <p:ph type="title"/>
          </p:nvPr>
        </p:nvSpPr>
        <p:spPr>
          <a:xfrm>
            <a:off x="608400" y="608400"/>
            <a:ext cx="10969201" cy="705599"/>
          </a:xfrm>
          <a:prstGeom prst="rect">
            <a:avLst/>
          </a:prstGeom>
          <a:noFill/>
          <a:ln w="12700" cap="flat" cmpd="sng">
            <a:noFill/>
            <a:prstDash val="solid"/>
            <a:miter/>
          </a:ln>
        </p:spPr>
        <p:txBody>
          <a:bodyPr vert="horz" wrap="square" lIns="90000" tIns="46800" rIns="90000" bIns="46800" anchor="ctr" anchorCtr="0">
            <a:prstTxWarp prst="textNoShape">
              <a:avLst/>
            </a:prstTxWarp>
          </a:bodyPr>
          <a:lstStyle/>
          <a:p>
            <a:r>
              <a:rPr lang="zh-CN" altLang="en-US"/>
              <a:t>单击此处编辑母版标题样式</a:t>
            </a:r>
          </a:p>
        </p:txBody>
      </p:sp>
      <p:sp>
        <p:nvSpPr>
          <p:cNvPr id="15" name="文本框"/>
          <p:cNvSpPr>
            <a:spLocks noGrp="1"/>
          </p:cNvSpPr>
          <p:nvPr>
            <p:ph type="dt" idx="10"/>
          </p:nvPr>
        </p:nvSpPr>
        <p:spPr>
          <a:xfrm>
            <a:off x="611999" y="6314400"/>
            <a:ext cx="2700000" cy="316800"/>
          </a:xfrm>
          <a:prstGeom prst="rect">
            <a:avLst/>
          </a:prstGeom>
          <a:noFill/>
          <a:ln cap="flat" cmpd="sng">
            <a:noFill/>
            <a:prstDash val="solid"/>
            <a:miter/>
          </a:ln>
        </p:spPr>
        <p:txBody>
          <a:bodyPr vert="horz" wrap="square" lIns="91440" tIns="45720" rIns="91440" bIns="45720" anchor="ctr" anchorCtr="0">
            <a:prstTxWarp prst="textNoShape">
              <a:avLst/>
            </a:prstTxWarp>
          </a:bodyPr>
          <a:lstStyle/>
          <a:p>
            <a:pPr algn="l"/>
            <a:r>
              <a:rPr lang="zh-CN" altLang="en-US" sz="1000" baseline="0">
                <a:solidFill>
                  <a:srgbClr val="898989"/>
                </a:solidFill>
                <a:latin typeface="Arial" charset="0"/>
                <a:ea typeface="微软雅黑" charset="0"/>
                <a:cs typeface="Arial" charset="0"/>
              </a:rPr>
              <a:t>《日期/时间》</a:t>
            </a:r>
          </a:p>
        </p:txBody>
      </p:sp>
      <p:sp>
        <p:nvSpPr>
          <p:cNvPr id="16" name="文本框"/>
          <p:cNvSpPr>
            <a:spLocks noGrp="1"/>
          </p:cNvSpPr>
          <p:nvPr>
            <p:ph type="ftr"/>
          </p:nvPr>
        </p:nvSpPr>
        <p:spPr>
          <a:xfrm>
            <a:off x="4116000" y="6314400"/>
            <a:ext cx="3960000" cy="316800"/>
          </a:xfrm>
          <a:prstGeom prst="rect">
            <a:avLst/>
          </a:prstGeom>
          <a:noFill/>
          <a:ln cap="flat" cmpd="sng">
            <a:noFill/>
            <a:prstDash val="solid"/>
            <a:miter/>
          </a:ln>
        </p:spPr>
        <p:txBody>
          <a:bodyPr vert="horz" wrap="square" lIns="91440" tIns="45720" rIns="91440" bIns="45720" anchor="ctr" anchorCtr="0">
            <a:prstTxWarp prst="textNoShape">
              <a:avLst/>
            </a:prstTxWarp>
          </a:bodyPr>
          <a:lstStyle/>
          <a:p>
            <a:pPr algn="ctr"/>
            <a:endParaRPr lang="zh-CN" altLang="en-US" sz="1000" baseline="0">
              <a:solidFill>
                <a:srgbClr val="898989"/>
              </a:solidFill>
              <a:latin typeface="Arial" charset="0"/>
              <a:ea typeface="微软雅黑" charset="0"/>
              <a:cs typeface="Arial" charset="0"/>
            </a:endParaRPr>
          </a:p>
        </p:txBody>
      </p:sp>
      <p:sp>
        <p:nvSpPr>
          <p:cNvPr id="17" name="文本框"/>
          <p:cNvSpPr>
            <a:spLocks noGrp="1"/>
          </p:cNvSpPr>
          <p:nvPr>
            <p:ph type="sldNum"/>
          </p:nvPr>
        </p:nvSpPr>
        <p:spPr>
          <a:xfrm>
            <a:off x="8877600" y="6314400"/>
            <a:ext cx="2700000" cy="316800"/>
          </a:xfrm>
          <a:prstGeom prst="rect">
            <a:avLst/>
          </a:prstGeom>
          <a:noFill/>
          <a:ln cap="flat" cmpd="sng">
            <a:noFill/>
            <a:prstDash val="solid"/>
            <a:miter/>
          </a:ln>
        </p:spPr>
        <p:txBody>
          <a:bodyPr vert="horz" wrap="square" lIns="91440" tIns="45720" rIns="91440" bIns="45720" anchor="ctr" anchorCtr="0">
            <a:prstTxWarp prst="textNoShape">
              <a:avLst/>
            </a:prstTxWarp>
          </a:bodyPr>
          <a:lstStyle/>
          <a:p>
            <a:pPr algn="r"/>
            <a:fld id="{CAD2D6BD-DE1B-4B5F-8B41-2702339687B9}" type="slidenum">
              <a:rPr lang="en-US" altLang="zh-CN" sz="1000" b="0" i="0" u="none" strike="noStrike" kern="1200" cap="none" spc="0" baseline="0">
                <a:solidFill>
                  <a:srgbClr val="898989"/>
                </a:solidFill>
                <a:latin typeface="Arial" charset="0"/>
                <a:ea typeface="微软雅黑" charset="0"/>
                <a:cs typeface="Arial" charset="0"/>
              </a:rPr>
              <a:t>‹#›</a:t>
            </a:fld>
            <a:endParaRPr lang="zh-CN" altLang="en-US" sz="1000" baseline="0">
              <a:solidFill>
                <a:srgbClr val="898989"/>
              </a:solidFill>
              <a:latin typeface="Arial" charset="0"/>
              <a:ea typeface="微软雅黑" charset="0"/>
              <a:cs typeface="Arial" charset="0"/>
            </a:endParaRPr>
          </a:p>
        </p:txBody>
      </p:sp>
    </p:spTree>
    <p:extLst>
      <p:ext uri="{BB962C8B-B14F-4D97-AF65-F5344CB8AC3E}">
        <p14:creationId xmlns:p14="http://schemas.microsoft.com/office/powerpoint/2010/main" val="8710658"/>
      </p:ext>
    </p:extLst>
  </p:cSld>
  <p:clrMapOvr>
    <a:masterClrMapping/>
  </p:clrMapOvr>
  <p:hf sldNum="0"/>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自定义版式">
    <p:bg>
      <p:bgPr>
        <a:solidFill>
          <a:schemeClr val="bg1"/>
        </a:solidFill>
        <a:effectLst/>
      </p:bgPr>
    </p:bg>
    <p:spTree>
      <p:nvGrpSpPr>
        <p:cNvPr id="1" name=""/>
        <p:cNvGrpSpPr/>
        <p:nvPr/>
      </p:nvGrpSpPr>
      <p:grpSpPr>
        <a:xfrm>
          <a:off x="0" y="0"/>
          <a:ext cx="0" cy="0"/>
          <a:chOff x="0" y="0"/>
          <a:chExt cx="0" cy="0"/>
        </a:xfrm>
      </p:grpSpPr>
      <p:sp>
        <p:nvSpPr>
          <p:cNvPr id="38" name="文本框"/>
          <p:cNvSpPr>
            <a:spLocks noGrp="1"/>
          </p:cNvSpPr>
          <p:nvPr>
            <p:ph type="dt" idx="10"/>
          </p:nvPr>
        </p:nvSpPr>
        <p:spPr>
          <a:xfrm>
            <a:off x="611999" y="6314400"/>
            <a:ext cx="2700000" cy="316800"/>
          </a:xfrm>
          <a:prstGeom prst="rect">
            <a:avLst/>
          </a:prstGeom>
          <a:noFill/>
          <a:ln cap="flat" cmpd="sng">
            <a:noFill/>
            <a:prstDash val="solid"/>
            <a:miter/>
          </a:ln>
        </p:spPr>
        <p:txBody>
          <a:bodyPr vert="horz" wrap="square" lIns="91440" tIns="45720" rIns="91440" bIns="45720" anchor="ctr" anchorCtr="0">
            <a:prstTxWarp prst="textNoShape">
              <a:avLst/>
            </a:prstTxWarp>
          </a:bodyPr>
          <a:lstStyle/>
          <a:p>
            <a:pPr algn="l"/>
            <a:r>
              <a:rPr lang="zh-CN" altLang="en-US" sz="1000" baseline="0">
                <a:solidFill>
                  <a:srgbClr val="898989"/>
                </a:solidFill>
                <a:latin typeface="Arial" charset="0"/>
                <a:ea typeface="微软雅黑" charset="0"/>
                <a:cs typeface="Arial" charset="0"/>
              </a:rPr>
              <a:t>《日期/时间》</a:t>
            </a:r>
          </a:p>
        </p:txBody>
      </p:sp>
      <p:sp>
        <p:nvSpPr>
          <p:cNvPr id="39" name="文本框"/>
          <p:cNvSpPr>
            <a:spLocks noGrp="1"/>
          </p:cNvSpPr>
          <p:nvPr>
            <p:ph type="ftr"/>
          </p:nvPr>
        </p:nvSpPr>
        <p:spPr>
          <a:xfrm>
            <a:off x="4116000" y="6314400"/>
            <a:ext cx="3960000" cy="316800"/>
          </a:xfrm>
          <a:prstGeom prst="rect">
            <a:avLst/>
          </a:prstGeom>
          <a:noFill/>
          <a:ln cap="flat" cmpd="sng">
            <a:noFill/>
            <a:prstDash val="solid"/>
            <a:miter/>
          </a:ln>
        </p:spPr>
        <p:txBody>
          <a:bodyPr vert="horz" wrap="square" lIns="91440" tIns="45720" rIns="91440" bIns="45720" anchor="ctr" anchorCtr="0">
            <a:prstTxWarp prst="textNoShape">
              <a:avLst/>
            </a:prstTxWarp>
          </a:bodyPr>
          <a:lstStyle/>
          <a:p>
            <a:pPr algn="ctr"/>
            <a:endParaRPr lang="zh-CN" altLang="en-US" sz="1000" baseline="0">
              <a:solidFill>
                <a:srgbClr val="898989"/>
              </a:solidFill>
              <a:latin typeface="Arial" charset="0"/>
              <a:ea typeface="微软雅黑" charset="0"/>
              <a:cs typeface="Arial" charset="0"/>
            </a:endParaRPr>
          </a:p>
        </p:txBody>
      </p:sp>
      <p:sp>
        <p:nvSpPr>
          <p:cNvPr id="40" name="文本框"/>
          <p:cNvSpPr>
            <a:spLocks noGrp="1"/>
          </p:cNvSpPr>
          <p:nvPr>
            <p:ph type="sldNum"/>
          </p:nvPr>
        </p:nvSpPr>
        <p:spPr>
          <a:xfrm>
            <a:off x="8877600" y="6314400"/>
            <a:ext cx="2700000" cy="316800"/>
          </a:xfrm>
          <a:prstGeom prst="rect">
            <a:avLst/>
          </a:prstGeom>
          <a:noFill/>
          <a:ln cap="flat" cmpd="sng">
            <a:noFill/>
            <a:prstDash val="solid"/>
            <a:miter/>
          </a:ln>
        </p:spPr>
        <p:txBody>
          <a:bodyPr vert="horz" wrap="square" lIns="91440" tIns="45720" rIns="91440" bIns="45720" anchor="ctr" anchorCtr="0">
            <a:prstTxWarp prst="textNoShape">
              <a:avLst/>
            </a:prstTxWarp>
          </a:bodyPr>
          <a:lstStyle/>
          <a:p>
            <a:pPr algn="r"/>
            <a:fld id="{CAD2D6BD-DE1B-4B5F-8B41-2702339687B9}" type="slidenum">
              <a:rPr lang="en-US" altLang="zh-CN" sz="1000" b="0" i="0" u="none" strike="noStrike" kern="1200" cap="none" spc="0" baseline="0">
                <a:solidFill>
                  <a:srgbClr val="898989"/>
                </a:solidFill>
                <a:latin typeface="Arial" charset="0"/>
                <a:ea typeface="微软雅黑" charset="0"/>
                <a:cs typeface="Arial" charset="0"/>
              </a:rPr>
              <a:t>‹#›</a:t>
            </a:fld>
            <a:endParaRPr lang="zh-CN" altLang="en-US" sz="1000" baseline="0">
              <a:solidFill>
                <a:srgbClr val="898989"/>
              </a:solidFill>
              <a:latin typeface="Arial" charset="0"/>
              <a:ea typeface="微软雅黑" charset="0"/>
              <a:cs typeface="Arial" charset="0"/>
            </a:endParaRPr>
          </a:p>
        </p:txBody>
      </p:sp>
    </p:spTree>
    <p:extLst>
      <p:ext uri="{BB962C8B-B14F-4D97-AF65-F5344CB8AC3E}">
        <p14:creationId xmlns:p14="http://schemas.microsoft.com/office/powerpoint/2010/main" val="1936179070"/>
      </p:ext>
    </p:extLst>
  </p:cSld>
  <p:clrMapOvr>
    <a:masterClrMapping/>
  </p:clrMapOvr>
  <p:hf sldNum="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文本框"/>
          <p:cNvSpPr>
            <a:spLocks noGrp="1"/>
          </p:cNvSpPr>
          <p:nvPr>
            <p:ph type="title"/>
          </p:nvPr>
        </p:nvSpPr>
        <p:spPr>
          <a:xfrm>
            <a:off x="608400" y="608400"/>
            <a:ext cx="10969201" cy="705599"/>
          </a:xfrm>
          <a:prstGeom prst="rect">
            <a:avLst/>
          </a:prstGeom>
          <a:noFill/>
          <a:ln w="12700" cap="flat" cmpd="sng">
            <a:noFill/>
            <a:prstDash val="solid"/>
            <a:miter/>
          </a:ln>
        </p:spPr>
        <p:txBody>
          <a:bodyPr vert="horz" wrap="square" lIns="90170" tIns="46990" rIns="90170" bIns="46990" anchor="ctr" anchorCtr="0">
            <a:prstTxWarp prst="textNoShape">
              <a:avLst/>
            </a:prstTxWarp>
          </a:bodyPr>
          <a:lstStyle/>
          <a:p>
            <a:r>
              <a:rPr lang="zh-CN" altLang="en-US"/>
              <a:t>单击此处编辑母版标题样式</a:t>
            </a:r>
          </a:p>
        </p:txBody>
      </p:sp>
      <p:sp>
        <p:nvSpPr>
          <p:cNvPr id="3" name="文本框"/>
          <p:cNvSpPr>
            <a:spLocks noGrp="1"/>
          </p:cNvSpPr>
          <p:nvPr>
            <p:ph type="body" idx="1"/>
          </p:nvPr>
        </p:nvSpPr>
        <p:spPr>
          <a:xfrm>
            <a:off x="608400" y="1490400"/>
            <a:ext cx="10969201" cy="4759200"/>
          </a:xfrm>
          <a:prstGeom prst="rect">
            <a:avLst/>
          </a:prstGeom>
          <a:noFill/>
          <a:ln w="12700" cap="flat" cmpd="sng">
            <a:noFill/>
            <a:prstDash val="solid"/>
            <a:miter/>
          </a:ln>
        </p:spPr>
        <p:txBody>
          <a:bodyPr vert="horz" wrap="square" lIns="90000" tIns="46800" rIns="90000" bIns="46800" anchor="t" anchorCtr="0">
            <a:prstTxWarp prst="textNoShape">
              <a:avLst/>
            </a:prstTxWarp>
          </a:bodyPr>
          <a:lstStyle/>
          <a:p>
            <a:r>
              <a:rPr lang="zh-CN" altLang="en-US"/>
              <a:t>单击此处编辑母版文本样式</a:t>
            </a:r>
            <a:endParaRPr lang="en-US" altLang="zh-CN"/>
          </a:p>
          <a:p>
            <a:pPr lvl="1"/>
            <a:r>
              <a:rPr lang="zh-CN" altLang="en-US"/>
              <a:t>第二级</a:t>
            </a:r>
            <a:endParaRPr lang="en-US" altLang="zh-CN"/>
          </a:p>
          <a:p>
            <a:pPr lvl="2"/>
            <a:r>
              <a:rPr lang="zh-CN" altLang="en-US"/>
              <a:t>第三级</a:t>
            </a:r>
            <a:endParaRPr lang="en-US" altLang="zh-CN"/>
          </a:p>
          <a:p>
            <a:pPr lvl="3"/>
            <a:r>
              <a:rPr lang="zh-CN" altLang="en-US"/>
              <a:t>第四级</a:t>
            </a:r>
            <a:endParaRPr lang="en-US" altLang="zh-CN"/>
          </a:p>
          <a:p>
            <a:pPr lvl="4"/>
            <a:r>
              <a:rPr lang="zh-CN" altLang="en-US"/>
              <a:t>第五级</a:t>
            </a:r>
          </a:p>
        </p:txBody>
      </p:sp>
      <p:sp>
        <p:nvSpPr>
          <p:cNvPr id="4" name="文本框"/>
          <p:cNvSpPr>
            <a:spLocks noGrp="1"/>
          </p:cNvSpPr>
          <p:nvPr>
            <p:ph type="dt" idx="2"/>
          </p:nvPr>
        </p:nvSpPr>
        <p:spPr>
          <a:xfrm>
            <a:off x="611999" y="6314400"/>
            <a:ext cx="2700000" cy="316800"/>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algn="l"/>
            <a:fld id="{CAD2D6BD-DE1B-4B5F-8B41-2702339687B9}" type="datetime1">
              <a:rPr lang="zh-CN" altLang="en-US" sz="1000" baseline="0">
                <a:solidFill>
                  <a:srgbClr val="898989"/>
                </a:solidFill>
                <a:latin typeface="Arial" charset="0"/>
                <a:ea typeface="微软雅黑" charset="0"/>
                <a:cs typeface="Arial" charset="0"/>
              </a:rPr>
              <a:t>2026/6/4</a:t>
            </a:fld>
            <a:endParaRPr lang="zh-CN" altLang="en-US" sz="1000" baseline="0">
              <a:solidFill>
                <a:srgbClr val="898989"/>
              </a:solidFill>
              <a:latin typeface="Arial" charset="0"/>
              <a:ea typeface="微软雅黑" charset="0"/>
              <a:cs typeface="Arial" charset="0"/>
            </a:endParaRPr>
          </a:p>
        </p:txBody>
      </p:sp>
      <p:sp>
        <p:nvSpPr>
          <p:cNvPr id="5" name="文本框"/>
          <p:cNvSpPr>
            <a:spLocks noGrp="1"/>
          </p:cNvSpPr>
          <p:nvPr>
            <p:ph type="ftr" idx="3"/>
          </p:nvPr>
        </p:nvSpPr>
        <p:spPr>
          <a:xfrm>
            <a:off x="4116000" y="6314400"/>
            <a:ext cx="3960000" cy="316800"/>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algn="ctr"/>
            <a:endParaRPr lang="zh-CN" altLang="en-US" sz="1000" baseline="0">
              <a:solidFill>
                <a:srgbClr val="898989"/>
              </a:solidFill>
              <a:latin typeface="Arial" charset="0"/>
              <a:ea typeface="微软雅黑" charset="0"/>
              <a:cs typeface="Arial" charset="0"/>
            </a:endParaRPr>
          </a:p>
        </p:txBody>
      </p:sp>
      <p:sp>
        <p:nvSpPr>
          <p:cNvPr id="6" name="文本框"/>
          <p:cNvSpPr>
            <a:spLocks noGrp="1"/>
          </p:cNvSpPr>
          <p:nvPr>
            <p:ph type="sldNum" idx="4"/>
          </p:nvPr>
        </p:nvSpPr>
        <p:spPr>
          <a:xfrm>
            <a:off x="8877600" y="6314400"/>
            <a:ext cx="2700000" cy="316800"/>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algn="r"/>
            <a:fld id="{CAD2D6BD-DE1B-4B5F-8B41-2702339687B9}" type="slidenum">
              <a:rPr lang="en-US" altLang="zh-CN" sz="1000" b="0" i="0" u="none" strike="noStrike" kern="1200" cap="none" spc="0" baseline="0">
                <a:solidFill>
                  <a:srgbClr val="898989"/>
                </a:solidFill>
                <a:latin typeface="Arial" charset="0"/>
                <a:ea typeface="微软雅黑" charset="0"/>
                <a:cs typeface="Arial" charset="0"/>
              </a:rPr>
              <a:t>‹#›</a:t>
            </a:fld>
            <a:endParaRPr lang="zh-CN" altLang="en-US" sz="1000" baseline="0">
              <a:solidFill>
                <a:srgbClr val="898989"/>
              </a:solidFill>
              <a:latin typeface="Arial" charset="0"/>
              <a:ea typeface="微软雅黑" charset="0"/>
              <a:cs typeface="Arial" charset="0"/>
            </a:endParaRPr>
          </a:p>
        </p:txBody>
      </p:sp>
    </p:spTree>
    <p:extLst>
      <p:ext uri="{BB962C8B-B14F-4D97-AF65-F5344CB8AC3E}">
        <p14:creationId xmlns:p14="http://schemas.microsoft.com/office/powerpoint/2010/main" val="1622942785"/>
      </p:ext>
    </p:extLst>
  </p:cSld>
  <p:clrMap bg1="lt1" tx1="dk1" bg2="lt2" tx2="dk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sldNum="0" hdr="0" ftr="0" dt="0"/>
  <p:txStyles>
    <p:titleStyle>
      <a:lvl1pPr algn="l" defTabSz="914400" eaLnBrk="1" fontAlgn="auto" latinLnBrk="0" hangingPunct="1">
        <a:lnSpc>
          <a:spcPct val="100000"/>
        </a:lnSpc>
        <a:spcBef>
          <a:spcPts val="0"/>
        </a:spcBef>
        <a:buNone/>
        <a:defRPr sz="3600" b="1" u="none" strike="noStrike" kern="1200" cap="none" spc="300" baseline="0">
          <a:solidFill>
            <a:srgbClr val="262626"/>
          </a:solidFill>
          <a:latin typeface="Arial" charset="0"/>
          <a:ea typeface="微软雅黑" charset="0"/>
          <a:cs typeface="Arial" charset="0"/>
        </a:defRPr>
      </a:lvl1pPr>
    </p:titleStyle>
    <p:bodyStyle>
      <a:lvl1pPr marL="228600" indent="-228600" algn="l" defTabSz="914400" eaLnBrk="1" fontAlgn="auto" latinLnBrk="0" hangingPunct="1">
        <a:lnSpc>
          <a:spcPct val="129999"/>
        </a:lnSpc>
        <a:spcBef>
          <a:spcPts val="0"/>
        </a:spcBef>
        <a:spcAft>
          <a:spcPts val="1000"/>
        </a:spcAft>
        <a:buFont typeface="Arial" charset="0"/>
        <a:buChar char="●"/>
        <a:defRPr sz="1800" u="none" strike="noStrike" kern="1200" cap="none" spc="150" baseline="0">
          <a:solidFill>
            <a:srgbClr val="595959"/>
          </a:solidFill>
          <a:latin typeface="Arial" charset="0"/>
          <a:ea typeface="微软雅黑" charset="0"/>
          <a:cs typeface="Arial" charset="0"/>
        </a:defRPr>
      </a:lvl1pPr>
      <a:lvl2pPr marL="685800" indent="-228600" algn="l" defTabSz="914400" eaLnBrk="1" fontAlgn="auto" latinLnBrk="0" hangingPunct="1">
        <a:lnSpc>
          <a:spcPct val="120000"/>
        </a:lnSpc>
        <a:spcBef>
          <a:spcPts val="0"/>
        </a:spcBef>
        <a:spcAft>
          <a:spcPts val="600"/>
        </a:spcAft>
        <a:buFont typeface="Arial" charset="0"/>
        <a:buChar char="●"/>
        <a:tabLst>
          <a:tab pos="1609725" algn="l"/>
        </a:tabLst>
        <a:defRPr sz="1600" u="none" strike="noStrike" kern="1200" cap="none" spc="150" baseline="0">
          <a:solidFill>
            <a:srgbClr val="595959"/>
          </a:solidFill>
          <a:latin typeface="Arial" charset="0"/>
          <a:ea typeface="微软雅黑" charset="0"/>
          <a:cs typeface="Arial" charset="0"/>
        </a:defRPr>
      </a:lvl2pPr>
      <a:lvl3pPr marL="1143000" indent="-228600" algn="l" defTabSz="914400" eaLnBrk="1" fontAlgn="auto" latinLnBrk="0" hangingPunct="1">
        <a:lnSpc>
          <a:spcPct val="120000"/>
        </a:lnSpc>
        <a:spcBef>
          <a:spcPts val="0"/>
        </a:spcBef>
        <a:spcAft>
          <a:spcPts val="600"/>
        </a:spcAft>
        <a:buFont typeface="Arial" charset="0"/>
        <a:buChar char="●"/>
        <a:defRPr sz="1600" u="none" strike="noStrike" kern="1200" cap="none" spc="150" baseline="0">
          <a:solidFill>
            <a:srgbClr val="595959"/>
          </a:solidFill>
          <a:latin typeface="Arial" charset="0"/>
          <a:ea typeface="微软雅黑" charset="0"/>
          <a:cs typeface="Arial" charset="0"/>
        </a:defRPr>
      </a:lvl3pPr>
      <a:lvl4pPr marL="1600200" indent="-228600" algn="l" defTabSz="914400" eaLnBrk="1" fontAlgn="auto" latinLnBrk="0" hangingPunct="1">
        <a:lnSpc>
          <a:spcPct val="120000"/>
        </a:lnSpc>
        <a:spcBef>
          <a:spcPts val="0"/>
        </a:spcBef>
        <a:spcAft>
          <a:spcPts val="300"/>
        </a:spcAft>
        <a:buFont typeface="Wingdings" charset="0"/>
        <a:buChar char=""/>
        <a:defRPr sz="1400" u="none" strike="noStrike" kern="1200" cap="none" spc="150" baseline="0">
          <a:solidFill>
            <a:srgbClr val="595959"/>
          </a:solidFill>
          <a:latin typeface="Arial" charset="0"/>
          <a:ea typeface="微软雅黑" charset="0"/>
          <a:cs typeface="Arial" charset="0"/>
        </a:defRPr>
      </a:lvl4pPr>
      <a:lvl5pPr marL="2057400" indent="-228600" algn="l" defTabSz="914400" eaLnBrk="1" fontAlgn="auto" latinLnBrk="0" hangingPunct="1">
        <a:lnSpc>
          <a:spcPct val="120000"/>
        </a:lnSpc>
        <a:spcBef>
          <a:spcPts val="0"/>
        </a:spcBef>
        <a:spcAft>
          <a:spcPts val="300"/>
        </a:spcAft>
        <a:buFont typeface="Arial" charset="0"/>
        <a:buChar char="•"/>
        <a:defRPr sz="1400" u="none" strike="noStrike" kern="1200" cap="none" spc="150" baseline="0">
          <a:solidFill>
            <a:srgbClr val="595959"/>
          </a:solidFill>
          <a:latin typeface="Arial" charset="0"/>
          <a:ea typeface="微软雅黑" charset="0"/>
          <a:cs typeface="Arial" charset="0"/>
        </a:defRPr>
      </a:lvl5pPr>
      <a:lvl6pPr marL="2514600" indent="-228600" algn="l" defTabSz="914400" eaLnBrk="1" fontAlgn="auto" latinLnBrk="0" hangingPunct="1">
        <a:lnSpc>
          <a:spcPct val="90000"/>
        </a:lnSpc>
        <a:spcBef>
          <a:spcPts val="500"/>
        </a:spcBef>
        <a:buFont typeface="Arial" charset="0"/>
        <a:buChar char="•"/>
        <a:defRPr sz="1800" kern="1200">
          <a:solidFill>
            <a:schemeClr val="tx1"/>
          </a:solidFill>
          <a:latin typeface="Arial" charset="0"/>
          <a:ea typeface="微软雅黑" charset="0"/>
          <a:cs typeface="Arial" charset="0"/>
        </a:defRPr>
      </a:lvl6pPr>
      <a:lvl7pPr marL="2971800" indent="-228600" algn="l" defTabSz="914400" eaLnBrk="1" fontAlgn="auto" latinLnBrk="0" hangingPunct="1">
        <a:lnSpc>
          <a:spcPct val="90000"/>
        </a:lnSpc>
        <a:spcBef>
          <a:spcPts val="500"/>
        </a:spcBef>
        <a:buFont typeface="Arial" charset="0"/>
        <a:buChar char="•"/>
        <a:defRPr sz="1800" kern="1200">
          <a:solidFill>
            <a:schemeClr val="tx1"/>
          </a:solidFill>
          <a:latin typeface="Arial" charset="0"/>
          <a:ea typeface="微软雅黑" charset="0"/>
          <a:cs typeface="Arial" charset="0"/>
        </a:defRPr>
      </a:lvl7pPr>
      <a:lvl8pPr marL="3429000" indent="-228600" algn="l" defTabSz="914400" eaLnBrk="1" fontAlgn="auto" latinLnBrk="0" hangingPunct="1">
        <a:lnSpc>
          <a:spcPct val="90000"/>
        </a:lnSpc>
        <a:spcBef>
          <a:spcPts val="500"/>
        </a:spcBef>
        <a:buFont typeface="Arial" charset="0"/>
        <a:buChar char="•"/>
        <a:defRPr sz="1800" kern="1200">
          <a:solidFill>
            <a:schemeClr val="tx1"/>
          </a:solidFill>
          <a:latin typeface="Arial" charset="0"/>
          <a:ea typeface="微软雅黑" charset="0"/>
          <a:cs typeface="Arial" charset="0"/>
        </a:defRPr>
      </a:lvl8pPr>
      <a:lvl9pPr marL="3429000" indent="-228600" algn="l" defTabSz="914400" eaLnBrk="1" fontAlgn="auto" latinLnBrk="0" hangingPunct="1">
        <a:lnSpc>
          <a:spcPct val="90000"/>
        </a:lnSpc>
        <a:spcBef>
          <a:spcPts val="500"/>
        </a:spcBef>
        <a:buFont typeface="Arial" charset="0"/>
        <a:buChar char="•"/>
        <a:defRPr sz="1800" kern="1200">
          <a:solidFill>
            <a:schemeClr val="tx1"/>
          </a:solidFill>
          <a:latin typeface="Arial" charset="0"/>
          <a:ea typeface="微软雅黑" charset="0"/>
          <a:cs typeface="Arial" charset="0"/>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customXml" Target="../ink/ink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customXml" Target="../ink/ink2.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13.xml"/><Relationship Id="rId4" Type="http://schemas.openxmlformats.org/officeDocument/2006/relationships/image" Target="../media/image26.png"/></Relationships>
</file>

<file path=ppt/slides/_rels/slide3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7.xml"/><Relationship Id="rId4" Type="http://schemas.openxmlformats.org/officeDocument/2006/relationships/image" Target="../media/image36.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3.xml"/></Relationships>
</file>

<file path=ppt/slides/_rels/slide60.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文本框"/>
          <p:cNvSpPr>
            <a:spLocks noGrp="1"/>
          </p:cNvSpPr>
          <p:nvPr>
            <p:ph type="ctrTitle"/>
          </p:nvPr>
        </p:nvSpPr>
        <p:spPr>
          <a:xfrm>
            <a:off x="1198800" y="914400"/>
            <a:ext cx="9799200" cy="2570400"/>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marL="0" indent="0" algn="ctr">
              <a:lnSpc>
                <a:spcPct val="100000"/>
              </a:lnSpc>
              <a:spcBef>
                <a:spcPts val="0"/>
              </a:spcBef>
              <a:spcAft>
                <a:spcPts val="0"/>
              </a:spcAft>
              <a:buNone/>
            </a:pPr>
            <a:r>
              <a:rPr lang="zh-CN" altLang="en-US" sz="6000" b="1" i="0" u="none" strike="noStrike" kern="1200" cap="none" spc="300" baseline="0">
                <a:solidFill>
                  <a:srgbClr val="262626"/>
                </a:solidFill>
                <a:latin typeface="Arial" charset="0"/>
                <a:ea typeface="微软雅黑" charset="0"/>
                <a:cs typeface="Lucida Sans"/>
              </a:rPr>
              <a:t>机器学习朋辈辅导</a:t>
            </a:r>
          </a:p>
        </p:txBody>
      </p:sp>
      <p:sp>
        <p:nvSpPr>
          <p:cNvPr id="13" name="文本框"/>
          <p:cNvSpPr>
            <a:spLocks noGrp="1"/>
          </p:cNvSpPr>
          <p:nvPr>
            <p:ph type="subTitle" idx="1"/>
          </p:nvPr>
        </p:nvSpPr>
        <p:spPr>
          <a:xfrm>
            <a:off x="1196399" y="4402788"/>
            <a:ext cx="9799202" cy="1472399"/>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pPr marL="0" indent="0" algn="ctr">
              <a:lnSpc>
                <a:spcPct val="110000"/>
              </a:lnSpc>
              <a:spcBef>
                <a:spcPts val="0"/>
              </a:spcBef>
              <a:spcAft>
                <a:spcPts val="1000"/>
              </a:spcAft>
              <a:buNone/>
            </a:pPr>
            <a:r>
              <a:rPr lang="zh-CN" altLang="en-US" sz="2400" b="0" i="0" u="none" strike="noStrike" kern="1200" cap="none" spc="200" baseline="0" dirty="0">
                <a:solidFill>
                  <a:srgbClr val="595959"/>
                </a:solidFill>
                <a:latin typeface="Arial" charset="0"/>
                <a:ea typeface="微软雅黑" charset="0"/>
                <a:cs typeface="Lucida Sans"/>
              </a:rPr>
              <a:t>袁如意</a:t>
            </a:r>
            <a:r>
              <a:rPr lang="en-US" altLang="zh-CN" sz="2400" b="0" i="0" u="none" strike="noStrike" kern="1200" cap="none" spc="200" baseline="0" dirty="0">
                <a:solidFill>
                  <a:srgbClr val="595959"/>
                </a:solidFill>
                <a:latin typeface="Arial" charset="0"/>
                <a:ea typeface="微软雅黑" charset="0"/>
                <a:cs typeface="Lucida Sans"/>
              </a:rPr>
              <a:t> 23</a:t>
            </a:r>
            <a:r>
              <a:rPr lang="zh-CN" altLang="en-US" sz="2400" b="0" i="0" u="none" strike="noStrike" kern="1200" cap="none" spc="200" baseline="0" dirty="0">
                <a:solidFill>
                  <a:srgbClr val="595959"/>
                </a:solidFill>
                <a:latin typeface="Arial" charset="0"/>
                <a:ea typeface="微软雅黑" charset="0"/>
                <a:cs typeface="Lucida Sans"/>
              </a:rPr>
              <a:t>计卓</a:t>
            </a:r>
            <a:r>
              <a:rPr lang="en-US" altLang="zh-CN" sz="2400" b="0" i="0" u="none" strike="noStrike" kern="1200" cap="none" spc="200" baseline="0" dirty="0">
                <a:solidFill>
                  <a:srgbClr val="595959"/>
                </a:solidFill>
                <a:latin typeface="Arial" charset="0"/>
                <a:ea typeface="微软雅黑" charset="0"/>
                <a:cs typeface="Lucida Sans"/>
              </a:rPr>
              <a:t>01 </a:t>
            </a:r>
          </a:p>
          <a:p>
            <a:pPr marL="0" indent="0" algn="ctr">
              <a:lnSpc>
                <a:spcPct val="110000"/>
              </a:lnSpc>
              <a:spcBef>
                <a:spcPts val="0"/>
              </a:spcBef>
              <a:spcAft>
                <a:spcPts val="1000"/>
              </a:spcAft>
              <a:buNone/>
            </a:pPr>
            <a:r>
              <a:rPr lang="en-US" altLang="zh-CN" sz="2400" spc="200" dirty="0">
                <a:cs typeface="Lucida Sans"/>
              </a:rPr>
              <a:t> </a:t>
            </a:r>
            <a:r>
              <a:rPr lang="zh-CN" altLang="en-US" sz="2400" spc="200" dirty="0">
                <a:cs typeface="Lucida Sans"/>
              </a:rPr>
              <a:t>袁泉 </a:t>
            </a:r>
            <a:r>
              <a:rPr lang="en-US" altLang="zh-CN" sz="2400" spc="200" dirty="0">
                <a:cs typeface="Lucida Sans"/>
              </a:rPr>
              <a:t>23</a:t>
            </a:r>
            <a:r>
              <a:rPr lang="zh-CN" altLang="en-US" sz="2400" spc="200" dirty="0">
                <a:cs typeface="Lucida Sans"/>
              </a:rPr>
              <a:t>计卓</a:t>
            </a:r>
            <a:r>
              <a:rPr lang="en-US" altLang="zh-CN" sz="2400" spc="200" dirty="0">
                <a:cs typeface="Lucida Sans"/>
              </a:rPr>
              <a:t>01</a:t>
            </a:r>
            <a:endParaRPr lang="zh-CN" altLang="en-US" sz="2400" b="0" i="0" u="none" strike="noStrike" kern="1200" cap="none" spc="200" baseline="0" dirty="0">
              <a:solidFill>
                <a:srgbClr val="595959"/>
              </a:solidFill>
              <a:latin typeface="Arial" charset="0"/>
              <a:ea typeface="微软雅黑" charset="0"/>
              <a:cs typeface="Lucida Sans"/>
            </a:endParaRPr>
          </a:p>
        </p:txBody>
      </p:sp>
      <mc:AlternateContent xmlns:mc="http://schemas.openxmlformats.org/markup-compatibility/2006" xmlns:p14="http://schemas.microsoft.com/office/powerpoint/2010/main">
        <mc:Choice Requires="p14">
          <p:contentPart p14:bwMode="clr" r:id="rId2">
            <p14:nvContentPartPr>
              <p14:cNvPr id="116" name="HONOR Docs"/>
              <p14:cNvContentPartPr>
                <a14:cpLocks xmlns:a14="http://schemas.microsoft.com/office/drawing/2010/main" noSelect="1" noChangeArrowheads="1"/>
              </p14:cNvContentPartPr>
              <p14:nvPr/>
            </p14:nvContentPartPr>
            <p14:xfrm>
              <a:off x="10468407" y="528095"/>
              <a:ext cx="73560" cy="555502"/>
            </p14:xfrm>
          </p:contentPart>
        </mc:Choice>
        <mc:Fallback xmlns=""/>
      </mc:AlternateContent>
    </p:spTree>
    <p:extLst>
      <p:ext uri="{BB962C8B-B14F-4D97-AF65-F5344CB8AC3E}">
        <p14:creationId xmlns:p14="http://schemas.microsoft.com/office/powerpoint/2010/main" val="5159145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文本框"/>
          <p:cNvSpPr>
            <a:spLocks noGrp="1"/>
          </p:cNvSpPr>
          <p:nvPr>
            <p:ph type="title"/>
          </p:nvPr>
        </p:nvSpPr>
        <p:spPr>
          <a:xfrm>
            <a:off x="608400" y="608400"/>
            <a:ext cx="10969201" cy="705599"/>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marL="0" indent="0" algn="l">
              <a:lnSpc>
                <a:spcPct val="100000"/>
              </a:lnSpc>
              <a:spcBef>
                <a:spcPts val="0"/>
              </a:spcBef>
              <a:spcAft>
                <a:spcPts val="0"/>
              </a:spcAft>
              <a:buNone/>
            </a:pPr>
            <a:r>
              <a:rPr lang="en-US" altLang="zh-CN" sz="3600" b="1" i="0" u="none" strike="noStrike" kern="1200" cap="none" spc="300" baseline="0" dirty="0">
                <a:solidFill>
                  <a:srgbClr val="262626"/>
                </a:solidFill>
                <a:latin typeface="Arial" charset="0"/>
                <a:ea typeface="微软雅黑" charset="0"/>
                <a:cs typeface="Lucida Sans"/>
              </a:rPr>
              <a:t>1. </a:t>
            </a:r>
            <a:r>
              <a:rPr lang="zh-CN" altLang="en-US" sz="3600" b="1" i="0" u="none" strike="noStrike" kern="1200" cap="none" spc="300" baseline="0" dirty="0">
                <a:solidFill>
                  <a:srgbClr val="262626"/>
                </a:solidFill>
                <a:latin typeface="Arial" charset="0"/>
                <a:ea typeface="微软雅黑" charset="0"/>
                <a:cs typeface="Lucida Sans"/>
              </a:rPr>
              <a:t>去年考试情况</a:t>
            </a:r>
          </a:p>
        </p:txBody>
      </p:sp>
      <p:sp>
        <p:nvSpPr>
          <p:cNvPr id="19" name="矩形"/>
          <p:cNvSpPr>
            <a:spLocks/>
          </p:cNvSpPr>
          <p:nvPr/>
        </p:nvSpPr>
        <p:spPr>
          <a:xfrm>
            <a:off x="789347" y="1572491"/>
            <a:ext cx="9916258" cy="4821192"/>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285750" indent="-285750" algn="l">
              <a:lnSpc>
                <a:spcPct val="250000"/>
              </a:lnSpc>
              <a:spcBef>
                <a:spcPts val="0"/>
              </a:spcBef>
              <a:spcAft>
                <a:spcPts val="0"/>
              </a:spcAft>
              <a:buFont typeface="Arial" charset="0"/>
              <a:buChar char="•"/>
            </a:pPr>
            <a:r>
              <a:rPr lang="zh-CN" altLang="en-US" sz="1800" b="0" i="0" u="none" strike="noStrike" kern="1200" cap="none" spc="0" baseline="0" dirty="0">
                <a:solidFill>
                  <a:schemeClr val="tx1"/>
                </a:solidFill>
                <a:latin typeface="Arial" charset="0"/>
                <a:ea typeface="微软雅黑" charset="0"/>
                <a:cs typeface="Arial" charset="0"/>
              </a:rPr>
              <a:t>第一次和医学院联合考，所以往年难度的题都是医学院的，变难的题都是我们学院的。。。（背刺！）</a:t>
            </a:r>
            <a:endParaRPr lang="en-US" altLang="zh-CN" sz="1800" b="0" i="0" u="none" strike="noStrike" kern="1200" cap="none" spc="0" baseline="0" dirty="0">
              <a:solidFill>
                <a:schemeClr val="tx1"/>
              </a:solidFill>
              <a:latin typeface="Arial" charset="0"/>
              <a:ea typeface="微软雅黑" charset="0"/>
              <a:cs typeface="Arial" charset="0"/>
            </a:endParaRPr>
          </a:p>
          <a:p>
            <a:pPr marL="285750" indent="-285750" algn="l">
              <a:lnSpc>
                <a:spcPct val="250000"/>
              </a:lnSpc>
              <a:spcBef>
                <a:spcPts val="0"/>
              </a:spcBef>
              <a:spcAft>
                <a:spcPts val="0"/>
              </a:spcAft>
              <a:buFont typeface="Arial" charset="0"/>
              <a:buChar char="•"/>
            </a:pPr>
            <a:r>
              <a:rPr lang="zh-CN" altLang="en-US" sz="1800" b="0" i="0" u="none" strike="noStrike" kern="1200" cap="none" spc="0" baseline="0" dirty="0">
                <a:solidFill>
                  <a:schemeClr val="tx1"/>
                </a:solidFill>
                <a:latin typeface="Arial" charset="0"/>
                <a:ea typeface="微软雅黑" charset="0"/>
                <a:cs typeface="Arial" charset="0"/>
              </a:rPr>
              <a:t>题型是选择题</a:t>
            </a:r>
            <a:r>
              <a:rPr lang="en-US" altLang="zh-CN" sz="1800" b="0" i="0" u="none" strike="noStrike" kern="1200" cap="none" spc="0" baseline="0" dirty="0">
                <a:solidFill>
                  <a:schemeClr val="tx1"/>
                </a:solidFill>
                <a:latin typeface="Arial" charset="0"/>
                <a:ea typeface="微软雅黑" charset="0"/>
                <a:cs typeface="Arial" charset="0"/>
              </a:rPr>
              <a:t>10</a:t>
            </a:r>
            <a:r>
              <a:rPr lang="en-US" altLang="zh-CN" dirty="0">
                <a:latin typeface="Arial" charset="0"/>
                <a:ea typeface="微软雅黑" charset="0"/>
                <a:cs typeface="Arial" charset="0"/>
              </a:rPr>
              <a:t>x2,</a:t>
            </a:r>
            <a:r>
              <a:rPr lang="zh-CN" altLang="en-US" dirty="0">
                <a:latin typeface="Arial" charset="0"/>
                <a:ea typeface="微软雅黑" charset="0"/>
                <a:cs typeface="Arial" charset="0"/>
              </a:rPr>
              <a:t>简答</a:t>
            </a:r>
            <a:r>
              <a:rPr lang="en-US" altLang="zh-CN" dirty="0">
                <a:latin typeface="Arial" charset="0"/>
                <a:ea typeface="微软雅黑" charset="0"/>
                <a:cs typeface="Arial" charset="0"/>
              </a:rPr>
              <a:t>4x10,</a:t>
            </a:r>
            <a:r>
              <a:rPr lang="zh-CN" altLang="en-US" dirty="0">
                <a:latin typeface="Arial" charset="0"/>
                <a:ea typeface="微软雅黑" charset="0"/>
                <a:cs typeface="Arial" charset="0"/>
              </a:rPr>
              <a:t>计算</a:t>
            </a:r>
            <a:r>
              <a:rPr lang="en-US" altLang="zh-CN" dirty="0">
                <a:latin typeface="Arial" charset="0"/>
                <a:ea typeface="微软雅黑" charset="0"/>
                <a:cs typeface="Arial" charset="0"/>
              </a:rPr>
              <a:t>3x10,</a:t>
            </a:r>
            <a:r>
              <a:rPr lang="zh-CN" altLang="en-US" dirty="0">
                <a:latin typeface="Arial" charset="0"/>
                <a:ea typeface="微软雅黑" charset="0"/>
                <a:cs typeface="Arial" charset="0"/>
              </a:rPr>
              <a:t>还有一个思考题</a:t>
            </a:r>
            <a:r>
              <a:rPr lang="en-US" altLang="zh-CN" dirty="0">
                <a:latin typeface="Arial" charset="0"/>
                <a:ea typeface="微软雅黑" charset="0"/>
                <a:cs typeface="Arial" charset="0"/>
              </a:rPr>
              <a:t>10</a:t>
            </a:r>
            <a:r>
              <a:rPr lang="zh-CN" altLang="en-US" dirty="0">
                <a:latin typeface="Arial" charset="0"/>
                <a:ea typeface="微软雅黑" charset="0"/>
                <a:cs typeface="Arial" charset="0"/>
              </a:rPr>
              <a:t>分</a:t>
            </a:r>
            <a:endParaRPr lang="en-US" altLang="zh-CN" dirty="0">
              <a:latin typeface="Arial" charset="0"/>
              <a:ea typeface="微软雅黑" charset="0"/>
              <a:cs typeface="Arial" charset="0"/>
            </a:endParaRPr>
          </a:p>
          <a:p>
            <a:pPr marL="285750" indent="-285750" algn="l">
              <a:lnSpc>
                <a:spcPct val="250000"/>
              </a:lnSpc>
              <a:spcBef>
                <a:spcPts val="0"/>
              </a:spcBef>
              <a:spcAft>
                <a:spcPts val="0"/>
              </a:spcAft>
              <a:buFont typeface="Arial" charset="0"/>
              <a:buChar char="•"/>
            </a:pPr>
            <a:r>
              <a:rPr lang="zh-CN" altLang="en-US" sz="1800" b="0" i="0" u="none" strike="noStrike" kern="1200" cap="none" spc="0" baseline="0" dirty="0">
                <a:solidFill>
                  <a:schemeClr val="tx1"/>
                </a:solidFill>
                <a:latin typeface="Arial" charset="0"/>
                <a:ea typeface="微软雅黑" charset="0"/>
                <a:cs typeface="Arial" charset="0"/>
              </a:rPr>
              <a:t>选择比较基础</a:t>
            </a:r>
            <a:endParaRPr lang="en-US" altLang="zh-CN" sz="1800" b="0" i="0" u="none" strike="noStrike" kern="1200" cap="none" spc="0" baseline="0" dirty="0">
              <a:solidFill>
                <a:schemeClr val="tx1"/>
              </a:solidFill>
              <a:latin typeface="Arial" charset="0"/>
              <a:ea typeface="微软雅黑" charset="0"/>
              <a:cs typeface="Arial" charset="0"/>
            </a:endParaRPr>
          </a:p>
          <a:p>
            <a:pPr marL="285750" indent="-285750" algn="l">
              <a:lnSpc>
                <a:spcPct val="250000"/>
              </a:lnSpc>
              <a:spcBef>
                <a:spcPts val="0"/>
              </a:spcBef>
              <a:spcAft>
                <a:spcPts val="0"/>
              </a:spcAft>
              <a:buFont typeface="Arial" charset="0"/>
              <a:buChar char="•"/>
            </a:pPr>
            <a:r>
              <a:rPr lang="zh-CN" altLang="en-US" sz="1800" b="0" i="0" u="none" strike="noStrike" kern="1200" cap="none" spc="0" baseline="0" dirty="0">
                <a:solidFill>
                  <a:schemeClr val="tx1"/>
                </a:solidFill>
                <a:latin typeface="Arial" charset="0"/>
                <a:ea typeface="微软雅黑" charset="0"/>
                <a:cs typeface="Arial" charset="0"/>
              </a:rPr>
              <a:t>简答和计算也比较基础</a:t>
            </a:r>
            <a:endParaRPr lang="en-US" altLang="zh-CN" sz="1800" b="0" i="0" u="none" strike="noStrike" kern="1200" cap="none" spc="0" baseline="0" dirty="0">
              <a:solidFill>
                <a:schemeClr val="tx1"/>
              </a:solidFill>
              <a:latin typeface="Arial" charset="0"/>
              <a:ea typeface="微软雅黑" charset="0"/>
              <a:cs typeface="Arial" charset="0"/>
            </a:endParaRPr>
          </a:p>
          <a:p>
            <a:pPr marL="285750" indent="-285750" algn="l">
              <a:lnSpc>
                <a:spcPct val="250000"/>
              </a:lnSpc>
              <a:spcBef>
                <a:spcPts val="0"/>
              </a:spcBef>
              <a:spcAft>
                <a:spcPts val="0"/>
              </a:spcAft>
              <a:buFont typeface="Arial" charset="0"/>
              <a:buChar char="•"/>
            </a:pPr>
            <a:r>
              <a:rPr lang="zh-CN" altLang="en-US" sz="1800" b="0" i="0" u="none" strike="noStrike" kern="1200" cap="none" spc="0" baseline="0" dirty="0">
                <a:solidFill>
                  <a:schemeClr val="tx1"/>
                </a:solidFill>
                <a:latin typeface="Arial" charset="0"/>
                <a:ea typeface="微软雅黑" charset="0"/>
                <a:cs typeface="Arial" charset="0"/>
              </a:rPr>
              <a:t>思考题有点意外，考了随机森林伪代码手写（今年的话可以多问问不同教学班最后一节课复习的时候透露的啥，去年</a:t>
            </a:r>
            <a:r>
              <a:rPr lang="en-US" altLang="zh-CN" sz="1800" b="0" i="0" u="none" strike="noStrike" kern="1200" cap="none" spc="0" baseline="0" dirty="0" err="1">
                <a:solidFill>
                  <a:schemeClr val="tx1"/>
                </a:solidFill>
                <a:latin typeface="Arial" charset="0"/>
                <a:ea typeface="微软雅黑" charset="0"/>
                <a:cs typeface="Arial" charset="0"/>
              </a:rPr>
              <a:t>czy</a:t>
            </a:r>
            <a:r>
              <a:rPr lang="zh-CN" altLang="en-US" sz="1800" b="0" i="0" u="none" strike="noStrike" kern="1200" cap="none" spc="0" baseline="0" dirty="0">
                <a:solidFill>
                  <a:schemeClr val="tx1"/>
                </a:solidFill>
                <a:latin typeface="Arial" charset="0"/>
                <a:ea typeface="微软雅黑" charset="0"/>
                <a:cs typeface="Arial" charset="0"/>
              </a:rPr>
              <a:t>老师最后有说到这个随机森林，然后没有人信。。。）</a:t>
            </a:r>
          </a:p>
        </p:txBody>
      </p:sp>
    </p:spTree>
    <p:extLst>
      <p:ext uri="{BB962C8B-B14F-4D97-AF65-F5344CB8AC3E}">
        <p14:creationId xmlns:p14="http://schemas.microsoft.com/office/powerpoint/2010/main" val="843904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53BED3-AC3E-4C30-E6B8-CCF78317DCB3}"/>
            </a:ext>
          </a:extLst>
        </p:cNvPr>
        <p:cNvGrpSpPr/>
        <p:nvPr/>
      </p:nvGrpSpPr>
      <p:grpSpPr>
        <a:xfrm>
          <a:off x="0" y="0"/>
          <a:ext cx="0" cy="0"/>
          <a:chOff x="0" y="0"/>
          <a:chExt cx="0" cy="0"/>
        </a:xfrm>
      </p:grpSpPr>
      <p:sp>
        <p:nvSpPr>
          <p:cNvPr id="20" name="文本框">
            <a:extLst>
              <a:ext uri="{FF2B5EF4-FFF2-40B4-BE49-F238E27FC236}">
                <a16:creationId xmlns:a16="http://schemas.microsoft.com/office/drawing/2014/main" id="{E3C84308-E056-B8E4-07E1-9B10FD287E9B}"/>
              </a:ext>
            </a:extLst>
          </p:cNvPr>
          <p:cNvSpPr>
            <a:spLocks noGrp="1"/>
          </p:cNvSpPr>
          <p:nvPr>
            <p:ph type="title"/>
          </p:nvPr>
        </p:nvSpPr>
        <p:spPr>
          <a:xfrm>
            <a:off x="608400" y="608400"/>
            <a:ext cx="10969201" cy="705599"/>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marL="0" indent="0" algn="l">
              <a:lnSpc>
                <a:spcPct val="100000"/>
              </a:lnSpc>
              <a:spcBef>
                <a:spcPts val="0"/>
              </a:spcBef>
              <a:spcAft>
                <a:spcPts val="0"/>
              </a:spcAft>
              <a:buNone/>
            </a:pPr>
            <a:r>
              <a:rPr lang="zh-CN" altLang="en-US" sz="3600" b="1" i="0" u="none" strike="noStrike" kern="1200" cap="none" spc="300" baseline="0" dirty="0">
                <a:solidFill>
                  <a:srgbClr val="262626"/>
                </a:solidFill>
                <a:latin typeface="Arial" charset="0"/>
                <a:ea typeface="微软雅黑" charset="0"/>
                <a:cs typeface="Lucida Sans"/>
              </a:rPr>
              <a:t>题型</a:t>
            </a:r>
            <a:r>
              <a:rPr lang="en-US" altLang="zh-CN" sz="3600" b="1" i="0" u="none" strike="noStrike" kern="1200" cap="none" spc="300" baseline="0" dirty="0">
                <a:solidFill>
                  <a:srgbClr val="262626"/>
                </a:solidFill>
                <a:latin typeface="Arial" charset="0"/>
                <a:ea typeface="微软雅黑" charset="0"/>
                <a:cs typeface="Lucida Sans"/>
              </a:rPr>
              <a:t>1 </a:t>
            </a:r>
            <a:r>
              <a:rPr lang="zh-CN" altLang="en-US" sz="3600" b="1" i="0" u="none" strike="noStrike" kern="1200" cap="none" spc="300" baseline="0" dirty="0">
                <a:solidFill>
                  <a:srgbClr val="262626"/>
                </a:solidFill>
                <a:latin typeface="Arial" charset="0"/>
                <a:ea typeface="微软雅黑" charset="0"/>
                <a:cs typeface="Lucida Sans"/>
              </a:rPr>
              <a:t>：</a:t>
            </a:r>
            <a:r>
              <a:rPr lang="en-US" altLang="zh-CN" sz="3600" b="1" i="0" u="none" strike="noStrike" kern="1200" cap="none" spc="300" baseline="0" dirty="0">
                <a:solidFill>
                  <a:srgbClr val="262626"/>
                </a:solidFill>
                <a:latin typeface="Arial" charset="0"/>
                <a:ea typeface="微软雅黑" charset="0"/>
                <a:cs typeface="Lucida Sans"/>
              </a:rPr>
              <a:t> </a:t>
            </a:r>
            <a:r>
              <a:rPr lang="zh-CN" altLang="en-US" dirty="0">
                <a:cs typeface="Lucida Sans"/>
              </a:rPr>
              <a:t>选择</a:t>
            </a:r>
            <a:r>
              <a:rPr lang="zh-CN" altLang="en-US" sz="3600" b="1" i="0" u="none" strike="noStrike" kern="1200" cap="none" spc="300" baseline="0" dirty="0">
                <a:solidFill>
                  <a:srgbClr val="262626"/>
                </a:solidFill>
                <a:latin typeface="Arial" charset="0"/>
                <a:ea typeface="微软雅黑" charset="0"/>
                <a:cs typeface="Lucida Sans"/>
              </a:rPr>
              <a:t>题</a:t>
            </a:r>
            <a:r>
              <a:rPr lang="en-US" altLang="zh-CN" sz="3600" b="1" i="0" u="none" strike="noStrike" kern="1200" cap="none" spc="300" baseline="0" dirty="0">
                <a:solidFill>
                  <a:srgbClr val="262626"/>
                </a:solidFill>
                <a:latin typeface="Arial" charset="0"/>
                <a:ea typeface="微软雅黑" charset="0"/>
                <a:cs typeface="Lucida Sans"/>
              </a:rPr>
              <a:t> </a:t>
            </a:r>
            <a:endParaRPr lang="zh-CN" altLang="en-US" sz="3600" b="1" i="0" u="none" strike="noStrike" kern="1200" cap="none" spc="300" baseline="0" dirty="0">
              <a:solidFill>
                <a:srgbClr val="262626"/>
              </a:solidFill>
              <a:latin typeface="Arial" charset="0"/>
              <a:ea typeface="微软雅黑" charset="0"/>
              <a:cs typeface="Lucida Sans"/>
            </a:endParaRPr>
          </a:p>
        </p:txBody>
      </p:sp>
      <p:sp>
        <p:nvSpPr>
          <p:cNvPr id="21" name="矩形">
            <a:extLst>
              <a:ext uri="{FF2B5EF4-FFF2-40B4-BE49-F238E27FC236}">
                <a16:creationId xmlns:a16="http://schemas.microsoft.com/office/drawing/2014/main" id="{20D1DFBA-7761-20EA-49E9-F2E161E78979}"/>
              </a:ext>
            </a:extLst>
          </p:cNvPr>
          <p:cNvSpPr>
            <a:spLocks/>
          </p:cNvSpPr>
          <p:nvPr/>
        </p:nvSpPr>
        <p:spPr>
          <a:xfrm>
            <a:off x="558165" y="1725930"/>
            <a:ext cx="4328159" cy="646331"/>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r>
              <a:rPr lang="zh-CN" altLang="zh-CN" b="1" dirty="0"/>
              <a:t>选择题部分没有计算，全是概念，主打一个泛但是不深，要拿分就是看的多才行</a:t>
            </a:r>
            <a:r>
              <a:rPr lang="zh-CN" altLang="en-US" b="1" dirty="0"/>
              <a:t>。</a:t>
            </a:r>
            <a:endParaRPr lang="zh-CN" altLang="en-US" sz="1800" b="0" i="0" u="none" strike="noStrike" kern="1200" cap="none" spc="0" baseline="0" dirty="0">
              <a:solidFill>
                <a:schemeClr val="tx1"/>
              </a:solidFill>
              <a:latin typeface="Arial" charset="0"/>
              <a:ea typeface="微软雅黑" charset="0"/>
              <a:cs typeface="Arial" charset="0"/>
            </a:endParaRPr>
          </a:p>
        </p:txBody>
      </p:sp>
      <p:sp>
        <p:nvSpPr>
          <p:cNvPr id="4" name="文本框 3">
            <a:extLst>
              <a:ext uri="{FF2B5EF4-FFF2-40B4-BE49-F238E27FC236}">
                <a16:creationId xmlns:a16="http://schemas.microsoft.com/office/drawing/2014/main" id="{0480ED35-236F-06A9-9964-F5D2C7B84029}"/>
              </a:ext>
            </a:extLst>
          </p:cNvPr>
          <p:cNvSpPr txBox="1"/>
          <p:nvPr/>
        </p:nvSpPr>
        <p:spPr>
          <a:xfrm>
            <a:off x="345869" y="2556738"/>
            <a:ext cx="6095010" cy="1477328"/>
          </a:xfrm>
          <a:prstGeom prst="rect">
            <a:avLst/>
          </a:prstGeom>
          <a:noFill/>
        </p:spPr>
        <p:txBody>
          <a:bodyPr wrap="square">
            <a:spAutoFit/>
          </a:bodyPr>
          <a:lstStyle/>
          <a:p>
            <a:pPr>
              <a:buNone/>
            </a:pPr>
            <a:r>
              <a:rPr lang="zh-CN" altLang="en-US" dirty="0"/>
              <a:t>下列关于贝叶斯分类器的说法中，错误的是： </a:t>
            </a:r>
            <a:r>
              <a:rPr lang="en-US" altLang="zh-CN" dirty="0">
                <a:solidFill>
                  <a:schemeClr val="accent6"/>
                </a:solidFill>
              </a:rPr>
              <a:t>D</a:t>
            </a:r>
            <a:endParaRPr lang="zh-CN" altLang="en-US" dirty="0"/>
          </a:p>
          <a:p>
            <a:pPr>
              <a:buNone/>
            </a:pPr>
            <a:r>
              <a:rPr lang="en-US" altLang="zh-CN" dirty="0"/>
              <a:t>A. </a:t>
            </a:r>
            <a:r>
              <a:rPr lang="zh-CN" altLang="en-US" dirty="0"/>
              <a:t>贝叶斯分类器基于贝叶斯公式进行分类</a:t>
            </a:r>
            <a:br>
              <a:rPr lang="zh-CN" altLang="en-US" dirty="0"/>
            </a:br>
            <a:r>
              <a:rPr lang="en-US" altLang="zh-CN" dirty="0"/>
              <a:t>B. </a:t>
            </a:r>
            <a:r>
              <a:rPr lang="zh-CN" altLang="en-US" dirty="0"/>
              <a:t>贝叶斯分类器需要利用训练样本估计概率</a:t>
            </a:r>
            <a:br>
              <a:rPr lang="zh-CN" altLang="en-US" dirty="0"/>
            </a:br>
            <a:r>
              <a:rPr lang="en-US" altLang="zh-CN" dirty="0"/>
              <a:t>C. </a:t>
            </a:r>
            <a:r>
              <a:rPr lang="zh-CN" altLang="en-US" dirty="0"/>
              <a:t>贝叶斯分类器属于监督学习方法</a:t>
            </a:r>
            <a:br>
              <a:rPr lang="zh-CN" altLang="en-US" dirty="0"/>
            </a:br>
            <a:r>
              <a:rPr lang="en-US" altLang="zh-CN" dirty="0"/>
              <a:t>D. </a:t>
            </a:r>
            <a:r>
              <a:rPr lang="zh-CN" altLang="en-US" dirty="0"/>
              <a:t>贝叶斯分类器是无监督的</a:t>
            </a:r>
          </a:p>
        </p:txBody>
      </p:sp>
      <p:sp>
        <p:nvSpPr>
          <p:cNvPr id="6" name="文本框 5">
            <a:extLst>
              <a:ext uri="{FF2B5EF4-FFF2-40B4-BE49-F238E27FC236}">
                <a16:creationId xmlns:a16="http://schemas.microsoft.com/office/drawing/2014/main" id="{0167BD28-40B1-F313-B686-3A8E75965251}"/>
              </a:ext>
            </a:extLst>
          </p:cNvPr>
          <p:cNvSpPr txBox="1"/>
          <p:nvPr/>
        </p:nvSpPr>
        <p:spPr>
          <a:xfrm>
            <a:off x="0" y="4080610"/>
            <a:ext cx="6665026" cy="1754326"/>
          </a:xfrm>
          <a:prstGeom prst="rect">
            <a:avLst/>
          </a:prstGeom>
          <a:noFill/>
        </p:spPr>
        <p:txBody>
          <a:bodyPr wrap="square">
            <a:spAutoFit/>
          </a:bodyPr>
          <a:lstStyle/>
          <a:p>
            <a:pPr>
              <a:buNone/>
            </a:pPr>
            <a:r>
              <a:rPr lang="zh-CN" altLang="en-US" b="1" dirty="0"/>
              <a:t>关于随机梯度下降和梯度下降的描述，错误的是：</a:t>
            </a:r>
            <a:r>
              <a:rPr lang="en-US" altLang="zh-CN" b="1" dirty="0">
                <a:solidFill>
                  <a:schemeClr val="accent6"/>
                </a:solidFill>
              </a:rPr>
              <a:t>D</a:t>
            </a:r>
            <a:endParaRPr lang="zh-CN" altLang="en-US" b="1" dirty="0"/>
          </a:p>
          <a:p>
            <a:pPr>
              <a:buNone/>
            </a:pPr>
            <a:r>
              <a:rPr lang="en-US" altLang="zh-CN" dirty="0"/>
              <a:t>A. </a:t>
            </a:r>
            <a:r>
              <a:rPr lang="zh-CN" altLang="en-US" dirty="0"/>
              <a:t>批量梯度下降每次更新参数时使用整个训练集计算梯度。</a:t>
            </a:r>
            <a:br>
              <a:rPr lang="zh-CN" altLang="en-US" dirty="0"/>
            </a:br>
            <a:r>
              <a:rPr lang="en-US" altLang="zh-CN" dirty="0"/>
              <a:t>B. </a:t>
            </a:r>
            <a:r>
              <a:rPr lang="zh-CN" altLang="en-US" dirty="0"/>
              <a:t>随机梯度下降每次通常使用一个样本或一个小批量样本估计梯度。</a:t>
            </a:r>
            <a:br>
              <a:rPr lang="zh-CN" altLang="en-US" dirty="0"/>
            </a:br>
            <a:r>
              <a:rPr lang="en-US" altLang="zh-CN" dirty="0"/>
              <a:t>C. </a:t>
            </a:r>
            <a:r>
              <a:rPr lang="zh-CN" altLang="en-US" dirty="0"/>
              <a:t>随机梯度下降计算速度较快，但更新方向可能有噪声。</a:t>
            </a:r>
            <a:br>
              <a:rPr lang="zh-CN" altLang="en-US" dirty="0"/>
            </a:br>
            <a:r>
              <a:rPr lang="en-US" altLang="zh-CN" dirty="0"/>
              <a:t>D. </a:t>
            </a:r>
            <a:r>
              <a:rPr lang="zh-CN" altLang="en-US" dirty="0"/>
              <a:t>随机梯度下降每次更新参数时都必须使用所有样本计算梯度。</a:t>
            </a:r>
          </a:p>
        </p:txBody>
      </p:sp>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57C0ECB7-372E-DCBB-91AD-5F054A0A198E}"/>
                  </a:ext>
                </a:extLst>
              </p:cNvPr>
              <p:cNvSpPr txBox="1"/>
              <p:nvPr/>
            </p:nvSpPr>
            <p:spPr>
              <a:xfrm>
                <a:off x="6569066" y="809169"/>
                <a:ext cx="6596742" cy="1592937"/>
              </a:xfrm>
              <a:prstGeom prst="rect">
                <a:avLst/>
              </a:prstGeom>
              <a:noFill/>
            </p:spPr>
            <p:txBody>
              <a:bodyPr wrap="square">
                <a:spAutoFit/>
              </a:bodyPr>
              <a:lstStyle/>
              <a:p>
                <a:pPr>
                  <a:buNone/>
                </a:pPr>
                <a:r>
                  <a:rPr lang="zh-CN" altLang="en-US" b="1" dirty="0"/>
                  <a:t>神经网络中的 </a:t>
                </a:r>
                <a:r>
                  <a:rPr lang="en-US" altLang="zh-CN" b="1" dirty="0" err="1"/>
                  <a:t>ReLU</a:t>
                </a:r>
                <a:r>
                  <a:rPr lang="en-US" altLang="zh-CN" b="1" dirty="0"/>
                  <a:t> </a:t>
                </a:r>
                <a:r>
                  <a:rPr lang="zh-CN" altLang="en-US" b="1" dirty="0"/>
                  <a:t>激活函数是：</a:t>
                </a:r>
                <a:r>
                  <a:rPr lang="en-US" altLang="zh-CN" b="1" dirty="0">
                    <a:solidFill>
                      <a:schemeClr val="accent6"/>
                    </a:solidFill>
                  </a:rPr>
                  <a:t>B</a:t>
                </a:r>
                <a:endParaRPr lang="zh-CN" altLang="en-US" b="1" dirty="0"/>
              </a:p>
              <a:p>
                <a:pPr>
                  <a:buNone/>
                </a:pPr>
                <a:r>
                  <a:rPr lang="en-US" altLang="zh-CN" dirty="0"/>
                  <a:t>A. </a:t>
                </a:r>
                <a14:m>
                  <m:oMath xmlns:m="http://schemas.openxmlformats.org/officeDocument/2006/math">
                    <m:r>
                      <a:rPr lang="zh-CN" altLang="en-US" i="1">
                        <a:latin typeface="Cambria Math" panose="02040503050406030204" pitchFamily="18" charset="0"/>
                      </a:rPr>
                      <m:t>𝜎</m:t>
                    </m:r>
                    <m:d>
                      <m:dPr>
                        <m:ctrlPr>
                          <a:rPr lang="ar-AE" altLang="zh-CN" i="1">
                            <a:latin typeface="Cambria Math" panose="02040503050406030204" pitchFamily="18" charset="0"/>
                          </a:rPr>
                        </m:ctrlPr>
                      </m:dPr>
                      <m:e>
                        <m:r>
                          <a:rPr lang="zh-CN" altLang="ar-AE" i="1">
                            <a:latin typeface="Cambria Math" panose="02040503050406030204" pitchFamily="18" charset="0"/>
                          </a:rPr>
                          <m:t>𝑧</m:t>
                        </m:r>
                      </m:e>
                    </m:d>
                    <m:r>
                      <a:rPr lang="ar-AE" altLang="zh-CN" i="0">
                        <a:latin typeface="Cambria Math" panose="02040503050406030204" pitchFamily="18" charset="0"/>
                      </a:rPr>
                      <m:t>=</m:t>
                    </m:r>
                    <m:f>
                      <m:fPr>
                        <m:ctrlPr>
                          <a:rPr lang="ar-AE" altLang="zh-CN" i="1">
                            <a:latin typeface="Cambria Math" panose="02040503050406030204" pitchFamily="18" charset="0"/>
                          </a:rPr>
                        </m:ctrlPr>
                      </m:fPr>
                      <m:num>
                        <m:r>
                          <a:rPr lang="ar-AE" altLang="zh-CN" i="0">
                            <a:latin typeface="Cambria Math" panose="02040503050406030204" pitchFamily="18" charset="0"/>
                          </a:rPr>
                          <m:t>1</m:t>
                        </m:r>
                      </m:num>
                      <m:den>
                        <m:r>
                          <a:rPr lang="ar-AE" altLang="zh-CN" i="0">
                            <a:latin typeface="Cambria Math" panose="02040503050406030204" pitchFamily="18" charset="0"/>
                          </a:rPr>
                          <m:t>1</m:t>
                        </m:r>
                        <m:r>
                          <a:rPr lang="ar-AE" altLang="zh-CN" i="0">
                            <a:latin typeface="Cambria Math" panose="02040503050406030204" pitchFamily="18" charset="0"/>
                          </a:rPr>
                          <m:t>+</m:t>
                        </m:r>
                        <m:sSup>
                          <m:sSupPr>
                            <m:ctrlPr>
                              <a:rPr lang="ar-AE" altLang="zh-CN" i="1">
                                <a:latin typeface="Cambria Math" panose="02040503050406030204" pitchFamily="18" charset="0"/>
                              </a:rPr>
                            </m:ctrlPr>
                          </m:sSupPr>
                          <m:e>
                            <m:r>
                              <a:rPr lang="zh-CN" altLang="ar-AE" i="1">
                                <a:latin typeface="Cambria Math" panose="02040503050406030204" pitchFamily="18" charset="0"/>
                              </a:rPr>
                              <m:t>𝑒</m:t>
                            </m:r>
                          </m:e>
                          <m:sup>
                            <m:r>
                              <a:rPr lang="ar-AE" altLang="zh-CN" i="0">
                                <a:latin typeface="Cambria Math" panose="02040503050406030204" pitchFamily="18" charset="0"/>
                              </a:rPr>
                              <m:t>−</m:t>
                            </m:r>
                            <m:r>
                              <a:rPr lang="zh-CN" altLang="ar-AE" i="1">
                                <a:latin typeface="Cambria Math" panose="02040503050406030204" pitchFamily="18" charset="0"/>
                              </a:rPr>
                              <m:t>𝑧</m:t>
                            </m:r>
                          </m:sup>
                        </m:sSup>
                      </m:den>
                    </m:f>
                  </m:oMath>
                </a14:m>
                <a:br>
                  <a:rPr lang="ar-AE" altLang="zh-CN" dirty="0"/>
                </a:br>
                <a:r>
                  <a:rPr lang="en-US" altLang="zh-CN" dirty="0"/>
                  <a:t>B. </a:t>
                </a:r>
                <a14:m>
                  <m:oMath xmlns:m="http://schemas.openxmlformats.org/officeDocument/2006/math">
                    <m:r>
                      <m:rPr>
                        <m:sty m:val="p"/>
                      </m:rPr>
                      <a:rPr lang="en-US" altLang="zh-CN">
                        <a:latin typeface="Cambria Math" panose="02040503050406030204" pitchFamily="18" charset="0"/>
                      </a:rPr>
                      <m:t>max</m:t>
                    </m:r>
                    <m:r>
                      <a:rPr lang="en-US" altLang="zh-CN" i="0">
                        <a:latin typeface="Cambria Math" panose="02040503050406030204" pitchFamily="18" charset="0"/>
                      </a:rPr>
                      <m:t>⁡</m:t>
                    </m:r>
                    <m:d>
                      <m:dPr>
                        <m:sepChr m:val=","/>
                        <m:ctrlPr>
                          <a:rPr lang="ar-AE" altLang="zh-CN" i="1">
                            <a:latin typeface="Cambria Math" panose="02040503050406030204" pitchFamily="18" charset="0"/>
                          </a:rPr>
                        </m:ctrlPr>
                      </m:dPr>
                      <m:e>
                        <m:r>
                          <a:rPr lang="zh-CN" altLang="ar-AE" i="1">
                            <a:latin typeface="Cambria Math" panose="02040503050406030204" pitchFamily="18" charset="0"/>
                          </a:rPr>
                          <m:t>𝑧</m:t>
                        </m:r>
                      </m:e>
                      <m:e>
                        <m:r>
                          <a:rPr lang="ar-AE" altLang="zh-CN" i="0">
                            <a:latin typeface="Cambria Math" panose="02040503050406030204" pitchFamily="18" charset="0"/>
                          </a:rPr>
                          <m:t>0</m:t>
                        </m:r>
                      </m:e>
                    </m:d>
                  </m:oMath>
                </a14:m>
                <a:br>
                  <a:rPr lang="ar-AE" altLang="zh-CN" dirty="0"/>
                </a:br>
                <a:r>
                  <a:rPr lang="en-US" altLang="zh-CN" dirty="0"/>
                  <a:t>C. </a:t>
                </a:r>
                <a14:m>
                  <m:oMath xmlns:m="http://schemas.openxmlformats.org/officeDocument/2006/math">
                    <m:r>
                      <m:rPr>
                        <m:sty m:val="p"/>
                      </m:rPr>
                      <a:rPr lang="en-US" altLang="zh-CN">
                        <a:latin typeface="Cambria Math" panose="02040503050406030204" pitchFamily="18" charset="0"/>
                      </a:rPr>
                      <m:t>tanh</m:t>
                    </m:r>
                    <m:r>
                      <a:rPr lang="en-US" altLang="zh-CN" i="0">
                        <a:latin typeface="Cambria Math" panose="02040503050406030204" pitchFamily="18" charset="0"/>
                      </a:rPr>
                      <m:t>⁡</m:t>
                    </m:r>
                    <m:d>
                      <m:dPr>
                        <m:ctrlPr>
                          <a:rPr lang="ar-AE" altLang="zh-CN" i="1">
                            <a:latin typeface="Cambria Math" panose="02040503050406030204" pitchFamily="18" charset="0"/>
                          </a:rPr>
                        </m:ctrlPr>
                      </m:dPr>
                      <m:e>
                        <m:r>
                          <a:rPr lang="zh-CN" altLang="ar-AE" i="1">
                            <a:latin typeface="Cambria Math" panose="02040503050406030204" pitchFamily="18" charset="0"/>
                          </a:rPr>
                          <m:t>𝑧</m:t>
                        </m:r>
                      </m:e>
                    </m:d>
                  </m:oMath>
                </a14:m>
                <a:br>
                  <a:rPr lang="ar-AE" altLang="zh-CN" dirty="0"/>
                </a:br>
                <a:r>
                  <a:rPr lang="en-US" altLang="zh-CN" dirty="0"/>
                  <a:t>D. </a:t>
                </a:r>
                <a14:m>
                  <m:oMath xmlns:m="http://schemas.openxmlformats.org/officeDocument/2006/math">
                    <m:sSup>
                      <m:sSupPr>
                        <m:ctrlPr>
                          <a:rPr lang="ar-AE" altLang="zh-CN" i="1">
                            <a:latin typeface="Cambria Math" panose="02040503050406030204" pitchFamily="18" charset="0"/>
                          </a:rPr>
                        </m:ctrlPr>
                      </m:sSupPr>
                      <m:e>
                        <m:r>
                          <a:rPr lang="zh-CN" altLang="ar-AE" i="1">
                            <a:latin typeface="Cambria Math" panose="02040503050406030204" pitchFamily="18" charset="0"/>
                          </a:rPr>
                          <m:t>𝑧</m:t>
                        </m:r>
                      </m:e>
                      <m:sup>
                        <m:r>
                          <a:rPr lang="ar-AE" altLang="zh-CN" i="0">
                            <a:latin typeface="Cambria Math" panose="02040503050406030204" pitchFamily="18" charset="0"/>
                          </a:rPr>
                          <m:t>2</m:t>
                        </m:r>
                      </m:sup>
                    </m:sSup>
                  </m:oMath>
                </a14:m>
                <a:endParaRPr lang="ar-AE" altLang="zh-CN" dirty="0"/>
              </a:p>
            </p:txBody>
          </p:sp>
        </mc:Choice>
        <mc:Fallback xmlns="">
          <p:sp>
            <p:nvSpPr>
              <p:cNvPr id="8" name="文本框 7">
                <a:extLst>
                  <a:ext uri="{FF2B5EF4-FFF2-40B4-BE49-F238E27FC236}">
                    <a16:creationId xmlns:a16="http://schemas.microsoft.com/office/drawing/2014/main" id="{57C0ECB7-372E-DCBB-91AD-5F054A0A198E}"/>
                  </a:ext>
                </a:extLst>
              </p:cNvPr>
              <p:cNvSpPr txBox="1">
                <a:spLocks noRot="1" noChangeAspect="1" noMove="1" noResize="1" noEditPoints="1" noAdjustHandles="1" noChangeArrowheads="1" noChangeShapeType="1" noTextEdit="1"/>
              </p:cNvSpPr>
              <p:nvPr/>
            </p:nvSpPr>
            <p:spPr>
              <a:xfrm>
                <a:off x="6569066" y="809169"/>
                <a:ext cx="6596742" cy="1592937"/>
              </a:xfrm>
              <a:prstGeom prst="rect">
                <a:avLst/>
              </a:prstGeom>
              <a:blipFill>
                <a:blip r:embed="rId2"/>
                <a:stretch>
                  <a:fillRect l="-832" t="-2299" b="-5364"/>
                </a:stretch>
              </a:blipFill>
            </p:spPr>
            <p:txBody>
              <a:bodyPr/>
              <a:lstStyle/>
              <a:p>
                <a:r>
                  <a:rPr lang="zh-CN" altLang="en-US">
                    <a:noFill/>
                  </a:rPr>
                  <a:t> </a:t>
                </a:r>
              </a:p>
            </p:txBody>
          </p:sp>
        </mc:Fallback>
      </mc:AlternateContent>
      <p:sp>
        <p:nvSpPr>
          <p:cNvPr id="12" name="文本框 11">
            <a:extLst>
              <a:ext uri="{FF2B5EF4-FFF2-40B4-BE49-F238E27FC236}">
                <a16:creationId xmlns:a16="http://schemas.microsoft.com/office/drawing/2014/main" id="{298E00C6-8905-F46F-8676-FC3C1FC84238}"/>
              </a:ext>
            </a:extLst>
          </p:cNvPr>
          <p:cNvSpPr txBox="1"/>
          <p:nvPr/>
        </p:nvSpPr>
        <p:spPr>
          <a:xfrm>
            <a:off x="6524073" y="2637415"/>
            <a:ext cx="8678254" cy="1477328"/>
          </a:xfrm>
          <a:prstGeom prst="rect">
            <a:avLst/>
          </a:prstGeom>
          <a:noFill/>
        </p:spPr>
        <p:txBody>
          <a:bodyPr wrap="square">
            <a:spAutoFit/>
          </a:bodyPr>
          <a:lstStyle/>
          <a:p>
            <a:pPr>
              <a:buNone/>
            </a:pPr>
            <a:r>
              <a:rPr lang="zh-CN" altLang="en-US" b="1" dirty="0"/>
              <a:t>下列可以作为决策树最佳划分标准的是：</a:t>
            </a:r>
            <a:r>
              <a:rPr lang="en-US" altLang="zh-CN" b="1" dirty="0">
                <a:solidFill>
                  <a:schemeClr val="accent6"/>
                </a:solidFill>
              </a:rPr>
              <a:t>B</a:t>
            </a:r>
            <a:endParaRPr lang="zh-CN" altLang="en-US" b="1" dirty="0"/>
          </a:p>
          <a:p>
            <a:pPr>
              <a:buNone/>
            </a:pPr>
            <a:r>
              <a:rPr lang="en-US" altLang="zh-CN" dirty="0"/>
              <a:t>A. </a:t>
            </a:r>
            <a:r>
              <a:rPr lang="zh-CN" altLang="en-US" dirty="0"/>
              <a:t>欧氏距离</a:t>
            </a:r>
            <a:br>
              <a:rPr lang="zh-CN" altLang="en-US" dirty="0"/>
            </a:br>
            <a:r>
              <a:rPr lang="en-US" altLang="zh-CN" dirty="0"/>
              <a:t>B. </a:t>
            </a:r>
            <a:r>
              <a:rPr lang="zh-CN" altLang="en-US" dirty="0"/>
              <a:t>信息增益</a:t>
            </a:r>
            <a:br>
              <a:rPr lang="zh-CN" altLang="en-US" dirty="0"/>
            </a:br>
            <a:r>
              <a:rPr lang="en-US" altLang="zh-CN" dirty="0"/>
              <a:t>C. </a:t>
            </a:r>
            <a:r>
              <a:rPr lang="zh-CN" altLang="en-US" dirty="0"/>
              <a:t>均方误差</a:t>
            </a:r>
            <a:br>
              <a:rPr lang="zh-CN" altLang="en-US" dirty="0"/>
            </a:br>
            <a:r>
              <a:rPr lang="en-US" altLang="zh-CN" dirty="0"/>
              <a:t>D. </a:t>
            </a:r>
            <a:r>
              <a:rPr lang="zh-CN" altLang="en-US" dirty="0"/>
              <a:t>梯度下降</a:t>
            </a:r>
          </a:p>
        </p:txBody>
      </p:sp>
      <p:sp>
        <p:nvSpPr>
          <p:cNvPr id="14" name="文本框 13">
            <a:extLst>
              <a:ext uri="{FF2B5EF4-FFF2-40B4-BE49-F238E27FC236}">
                <a16:creationId xmlns:a16="http://schemas.microsoft.com/office/drawing/2014/main" id="{465023A6-C114-81D2-1B46-9790718AEC8A}"/>
              </a:ext>
            </a:extLst>
          </p:cNvPr>
          <p:cNvSpPr txBox="1"/>
          <p:nvPr/>
        </p:nvSpPr>
        <p:spPr>
          <a:xfrm>
            <a:off x="6524073" y="4235242"/>
            <a:ext cx="9695202" cy="1477328"/>
          </a:xfrm>
          <a:prstGeom prst="rect">
            <a:avLst/>
          </a:prstGeom>
          <a:noFill/>
        </p:spPr>
        <p:txBody>
          <a:bodyPr wrap="square">
            <a:spAutoFit/>
          </a:bodyPr>
          <a:lstStyle/>
          <a:p>
            <a:pPr>
              <a:buNone/>
            </a:pPr>
            <a:r>
              <a:rPr lang="en-US" altLang="zh-CN" b="1" dirty="0"/>
              <a:t>K-means </a:t>
            </a:r>
            <a:r>
              <a:rPr lang="zh-CN" altLang="en-US" b="1" dirty="0"/>
              <a:t>算法中，初始聚类中心应如何选择更合适？</a:t>
            </a:r>
            <a:r>
              <a:rPr lang="en-US" altLang="zh-CN" b="1" dirty="0">
                <a:solidFill>
                  <a:schemeClr val="accent6"/>
                </a:solidFill>
              </a:rPr>
              <a:t>C</a:t>
            </a:r>
            <a:endParaRPr lang="zh-CN" altLang="en-US" b="1" dirty="0"/>
          </a:p>
          <a:p>
            <a:pPr>
              <a:buNone/>
            </a:pPr>
            <a:r>
              <a:rPr lang="en-US" altLang="zh-CN" dirty="0"/>
              <a:t>A. </a:t>
            </a:r>
            <a:r>
              <a:rPr lang="zh-CN" altLang="en-US" dirty="0"/>
              <a:t>随便选取，完全不影响结果</a:t>
            </a:r>
            <a:br>
              <a:rPr lang="zh-CN" altLang="en-US" dirty="0"/>
            </a:br>
            <a:r>
              <a:rPr lang="en-US" altLang="zh-CN" dirty="0"/>
              <a:t>B. </a:t>
            </a:r>
            <a:r>
              <a:rPr lang="zh-CN" altLang="en-US" dirty="0"/>
              <a:t>选择靠近所有样本均值向量的位置</a:t>
            </a:r>
            <a:br>
              <a:rPr lang="zh-CN" altLang="en-US" dirty="0"/>
            </a:br>
            <a:r>
              <a:rPr lang="en-US" altLang="zh-CN" dirty="0"/>
              <a:t>C. </a:t>
            </a:r>
            <a:r>
              <a:rPr lang="zh-CN" altLang="en-US" dirty="0"/>
              <a:t>尽量选择相互分散的点作为初始聚类中心</a:t>
            </a:r>
            <a:br>
              <a:rPr lang="zh-CN" altLang="en-US" dirty="0"/>
            </a:br>
            <a:r>
              <a:rPr lang="en-US" altLang="zh-CN" dirty="0"/>
              <a:t>D. </a:t>
            </a:r>
            <a:r>
              <a:rPr lang="zh-CN" altLang="en-US" dirty="0"/>
              <a:t>选择完全相同的点作为初始聚类中心</a:t>
            </a:r>
          </a:p>
        </p:txBody>
      </p:sp>
    </p:spTree>
    <p:extLst>
      <p:ext uri="{BB962C8B-B14F-4D97-AF65-F5344CB8AC3E}">
        <p14:creationId xmlns:p14="http://schemas.microsoft.com/office/powerpoint/2010/main" val="37946994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 name="文本框"/>
          <p:cNvSpPr>
            <a:spLocks noGrp="1"/>
          </p:cNvSpPr>
          <p:nvPr>
            <p:ph type="title"/>
          </p:nvPr>
        </p:nvSpPr>
        <p:spPr>
          <a:xfrm>
            <a:off x="608400" y="608400"/>
            <a:ext cx="10969201" cy="705599"/>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marL="0" indent="0" algn="l">
              <a:lnSpc>
                <a:spcPct val="100000"/>
              </a:lnSpc>
              <a:spcBef>
                <a:spcPts val="0"/>
              </a:spcBef>
              <a:spcAft>
                <a:spcPts val="0"/>
              </a:spcAft>
              <a:buNone/>
            </a:pPr>
            <a:r>
              <a:rPr lang="zh-CN" altLang="en-US" sz="3600" b="1" i="0" u="none" strike="noStrike" kern="1200" cap="none" spc="300" baseline="0" dirty="0">
                <a:solidFill>
                  <a:srgbClr val="262626"/>
                </a:solidFill>
                <a:latin typeface="Arial" charset="0"/>
                <a:ea typeface="微软雅黑" charset="0"/>
                <a:cs typeface="Lucida Sans"/>
              </a:rPr>
              <a:t>题型</a:t>
            </a:r>
            <a:r>
              <a:rPr lang="en-US" altLang="zh-CN" dirty="0">
                <a:cs typeface="Lucida Sans"/>
              </a:rPr>
              <a:t>2</a:t>
            </a:r>
            <a:r>
              <a:rPr lang="en-US" altLang="zh-CN" sz="3600" b="1" i="0" u="none" strike="noStrike" kern="1200" cap="none" spc="300" baseline="0" dirty="0">
                <a:solidFill>
                  <a:srgbClr val="262626"/>
                </a:solidFill>
                <a:latin typeface="Arial" charset="0"/>
                <a:ea typeface="微软雅黑" charset="0"/>
                <a:cs typeface="Lucida Sans"/>
              </a:rPr>
              <a:t> </a:t>
            </a:r>
            <a:r>
              <a:rPr lang="zh-CN" altLang="en-US" sz="3600" b="1" i="0" u="none" strike="noStrike" kern="1200" cap="none" spc="300" baseline="0" dirty="0">
                <a:solidFill>
                  <a:srgbClr val="262626"/>
                </a:solidFill>
                <a:latin typeface="Arial" charset="0"/>
                <a:ea typeface="微软雅黑" charset="0"/>
                <a:cs typeface="Lucida Sans"/>
              </a:rPr>
              <a:t>：</a:t>
            </a:r>
            <a:r>
              <a:rPr lang="en-US" altLang="zh-CN" sz="3600" b="1" i="0" u="none" strike="noStrike" kern="1200" cap="none" spc="300" baseline="0" dirty="0">
                <a:solidFill>
                  <a:srgbClr val="262626"/>
                </a:solidFill>
                <a:latin typeface="Arial" charset="0"/>
                <a:ea typeface="微软雅黑" charset="0"/>
                <a:cs typeface="Lucida Sans"/>
              </a:rPr>
              <a:t> </a:t>
            </a:r>
            <a:r>
              <a:rPr lang="zh-CN" altLang="en-US" sz="3600" b="1" i="0" u="none" strike="noStrike" kern="1200" cap="none" spc="300" baseline="0" dirty="0">
                <a:solidFill>
                  <a:srgbClr val="262626"/>
                </a:solidFill>
                <a:latin typeface="Arial" charset="0"/>
                <a:ea typeface="微软雅黑" charset="0"/>
                <a:cs typeface="Lucida Sans"/>
              </a:rPr>
              <a:t>简答题</a:t>
            </a:r>
            <a:r>
              <a:rPr lang="en-US" altLang="zh-CN" sz="3600" b="1" i="0" u="none" strike="noStrike" kern="1200" cap="none" spc="300" baseline="0" dirty="0">
                <a:solidFill>
                  <a:srgbClr val="262626"/>
                </a:solidFill>
                <a:latin typeface="Arial" charset="0"/>
                <a:ea typeface="微软雅黑" charset="0"/>
                <a:cs typeface="Lucida Sans"/>
              </a:rPr>
              <a:t> </a:t>
            </a:r>
            <a:endParaRPr lang="zh-CN" altLang="en-US" sz="3600" b="1" i="0" u="none" strike="noStrike" kern="1200" cap="none" spc="300" baseline="0" dirty="0">
              <a:solidFill>
                <a:srgbClr val="262626"/>
              </a:solidFill>
              <a:latin typeface="Arial" charset="0"/>
              <a:ea typeface="微软雅黑" charset="0"/>
              <a:cs typeface="Lucida Sans"/>
            </a:endParaRPr>
          </a:p>
        </p:txBody>
      </p:sp>
      <p:sp>
        <p:nvSpPr>
          <p:cNvPr id="21" name="矩形"/>
          <p:cNvSpPr>
            <a:spLocks/>
          </p:cNvSpPr>
          <p:nvPr/>
        </p:nvSpPr>
        <p:spPr>
          <a:xfrm>
            <a:off x="558165" y="1725930"/>
            <a:ext cx="4063999" cy="646331"/>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zh-CN" altLang="en-US" sz="1800" b="0" i="0" u="none" strike="noStrike" kern="1200" cap="none" spc="0" baseline="0" dirty="0">
                <a:solidFill>
                  <a:schemeClr val="tx1"/>
                </a:solidFill>
                <a:latin typeface="Arial" charset="0"/>
                <a:ea typeface="微软雅黑" charset="0"/>
                <a:cs typeface="Arial" charset="0"/>
              </a:rPr>
              <a:t>基本上</a:t>
            </a:r>
            <a:r>
              <a:rPr lang="zh-CN" altLang="en-US" dirty="0">
                <a:latin typeface="Arial" charset="0"/>
                <a:ea typeface="微软雅黑" charset="0"/>
                <a:cs typeface="Arial" charset="0"/>
              </a:rPr>
              <a:t>好好背每一章常考的简答题，</a:t>
            </a:r>
            <a:r>
              <a:rPr lang="zh-CN" altLang="en-US" sz="1800" b="0" i="0" u="none" strike="noStrike" kern="1200" cap="none" spc="0" baseline="0" dirty="0">
                <a:solidFill>
                  <a:schemeClr val="tx1"/>
                </a:solidFill>
                <a:latin typeface="Arial" charset="0"/>
                <a:ea typeface="微软雅黑" charset="0"/>
                <a:cs typeface="Arial" charset="0"/>
              </a:rPr>
              <a:t>别乱写，都能拿分。</a:t>
            </a:r>
          </a:p>
        </p:txBody>
      </p:sp>
      <p:sp>
        <p:nvSpPr>
          <p:cNvPr id="22" name="矩形"/>
          <p:cNvSpPr>
            <a:spLocks/>
          </p:cNvSpPr>
          <p:nvPr/>
        </p:nvSpPr>
        <p:spPr>
          <a:xfrm>
            <a:off x="558165" y="2625420"/>
            <a:ext cx="3880485" cy="646331"/>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zh-CN" altLang="en-US" sz="1800" b="0" i="0" u="none" strike="noStrike" kern="1200" cap="none" spc="0" baseline="0" dirty="0">
                <a:solidFill>
                  <a:schemeClr val="tx1"/>
                </a:solidFill>
                <a:latin typeface="Arial" charset="0"/>
                <a:ea typeface="微软雅黑" charset="0"/>
                <a:cs typeface="Arial" charset="0"/>
              </a:rPr>
              <a:t>往年经常问什么是监督学习</a:t>
            </a:r>
            <a:r>
              <a:rPr lang="zh-CN" altLang="en-US" dirty="0">
                <a:latin typeface="Arial" charset="0"/>
                <a:ea typeface="微软雅黑" charset="0"/>
                <a:cs typeface="Arial" charset="0"/>
              </a:rPr>
              <a:t>？</a:t>
            </a:r>
            <a:endParaRPr lang="en-US" altLang="zh-CN" sz="1800" b="0" i="0" u="none" strike="noStrike" kern="1200" cap="none" spc="0" baseline="0" dirty="0">
              <a:solidFill>
                <a:schemeClr val="tx1"/>
              </a:solidFill>
              <a:latin typeface="Arial" charset="0"/>
              <a:ea typeface="微软雅黑" charset="0"/>
              <a:cs typeface="Arial" charset="0"/>
            </a:endParaRPr>
          </a:p>
          <a:p>
            <a:pPr marL="0" indent="0" algn="l">
              <a:lnSpc>
                <a:spcPct val="100000"/>
              </a:lnSpc>
              <a:spcBef>
                <a:spcPts val="0"/>
              </a:spcBef>
              <a:spcAft>
                <a:spcPts val="0"/>
              </a:spcAft>
              <a:buNone/>
            </a:pPr>
            <a:r>
              <a:rPr lang="zh-CN" altLang="en-US" sz="1800" b="0" i="0" u="none" strike="noStrike" kern="1200" cap="none" spc="0" baseline="0" dirty="0">
                <a:solidFill>
                  <a:schemeClr val="tx1"/>
                </a:solidFill>
                <a:latin typeface="Arial" charset="0"/>
                <a:ea typeface="微软雅黑" charset="0"/>
                <a:cs typeface="Arial" charset="0"/>
              </a:rPr>
              <a:t>什么是非监督学习？</a:t>
            </a:r>
          </a:p>
        </p:txBody>
      </p:sp>
      <p:pic>
        <p:nvPicPr>
          <p:cNvPr id="24" name="图片"/>
          <p:cNvPicPr>
            <a:picLocks noChangeAspect="1"/>
          </p:cNvPicPr>
          <p:nvPr/>
        </p:nvPicPr>
        <p:blipFill>
          <a:blip r:embed="rId2" cstate="print"/>
          <a:stretch>
            <a:fillRect/>
          </a:stretch>
        </p:blipFill>
        <p:spPr>
          <a:xfrm>
            <a:off x="194945" y="3271751"/>
            <a:ext cx="4691380" cy="2114550"/>
          </a:xfrm>
          <a:prstGeom prst="rect">
            <a:avLst/>
          </a:prstGeom>
          <a:noFill/>
          <a:ln w="12700" cap="flat" cmpd="sng">
            <a:noFill/>
            <a:prstDash val="solid"/>
            <a:miter/>
          </a:ln>
        </p:spPr>
      </p:pic>
      <p:pic>
        <p:nvPicPr>
          <p:cNvPr id="25" name="图片"/>
          <p:cNvPicPr>
            <a:picLocks noChangeAspect="1"/>
          </p:cNvPicPr>
          <p:nvPr/>
        </p:nvPicPr>
        <p:blipFill>
          <a:blip r:embed="rId3" cstate="print"/>
          <a:stretch>
            <a:fillRect/>
          </a:stretch>
        </p:blipFill>
        <p:spPr>
          <a:xfrm>
            <a:off x="274912" y="5566398"/>
            <a:ext cx="6057900" cy="824230"/>
          </a:xfrm>
          <a:prstGeom prst="rect">
            <a:avLst/>
          </a:prstGeom>
          <a:noFill/>
          <a:ln w="12700" cap="flat" cmpd="sng">
            <a:noFill/>
            <a:prstDash val="solid"/>
            <a:miter/>
          </a:ln>
        </p:spPr>
      </p:pic>
      <p:sp>
        <p:nvSpPr>
          <p:cNvPr id="4" name="文本框 3">
            <a:extLst>
              <a:ext uri="{FF2B5EF4-FFF2-40B4-BE49-F238E27FC236}">
                <a16:creationId xmlns:a16="http://schemas.microsoft.com/office/drawing/2014/main" id="{31D1D6DE-1939-15B4-617A-02873C23EA89}"/>
              </a:ext>
            </a:extLst>
          </p:cNvPr>
          <p:cNvSpPr txBox="1"/>
          <p:nvPr/>
        </p:nvSpPr>
        <p:spPr>
          <a:xfrm>
            <a:off x="6134099" y="815547"/>
            <a:ext cx="6057901" cy="4801314"/>
          </a:xfrm>
          <a:prstGeom prst="rect">
            <a:avLst/>
          </a:prstGeom>
          <a:noFill/>
        </p:spPr>
        <p:txBody>
          <a:bodyPr wrap="square">
            <a:spAutoFit/>
          </a:bodyPr>
          <a:lstStyle/>
          <a:p>
            <a:pPr algn="just">
              <a:buNone/>
            </a:pPr>
            <a:r>
              <a:rPr lang="en-US" altLang="zh-CN" sz="1800" b="1" kern="100" dirty="0">
                <a:solidFill>
                  <a:srgbClr val="00B0F0"/>
                </a:solidFill>
                <a:effectLst/>
                <a:latin typeface="+mn-ea"/>
                <a:ea typeface="+mn-ea"/>
                <a:cs typeface="Times New Roman" panose="02020603050405020304" pitchFamily="18" charset="0"/>
              </a:rPr>
              <a:t>1.</a:t>
            </a:r>
            <a:r>
              <a:rPr lang="zh-CN" altLang="zh-CN" sz="1800" b="1" kern="100" dirty="0">
                <a:solidFill>
                  <a:srgbClr val="00B0F0"/>
                </a:solidFill>
                <a:effectLst/>
                <a:latin typeface="+mn-ea"/>
                <a:ea typeface="+mn-ea"/>
                <a:cs typeface="Times New Roman" panose="02020603050405020304" pitchFamily="18" charset="0"/>
              </a:rPr>
              <a:t>什么是偏差和方差，解释下泛化误差和偏差，方差之间的关系</a:t>
            </a:r>
            <a:endParaRPr lang="en-US" altLang="zh-CN" sz="1800" b="1" kern="100" dirty="0">
              <a:solidFill>
                <a:srgbClr val="00B0F0"/>
              </a:solidFill>
              <a:effectLst/>
              <a:latin typeface="+mn-ea"/>
              <a:ea typeface="+mn-ea"/>
              <a:cs typeface="Times New Roman" panose="02020603050405020304" pitchFamily="18" charset="0"/>
            </a:endParaRPr>
          </a:p>
          <a:p>
            <a:pPr algn="just">
              <a:buNone/>
            </a:pPr>
            <a:r>
              <a:rPr lang="zh-CN" altLang="en-US" sz="1800" kern="100" dirty="0">
                <a:effectLst/>
                <a:latin typeface="Calibri" panose="020F0502020204030204" pitchFamily="34" charset="0"/>
                <a:ea typeface="SimSun" panose="02010600030101010101" pitchFamily="2" charset="-122"/>
                <a:cs typeface="Times New Roman" panose="02020603050405020304" pitchFamily="18" charset="0"/>
              </a:rPr>
              <a:t>偏差：</a:t>
            </a:r>
            <a:r>
              <a:rPr lang="zh-CN" altLang="en-US" kern="100" dirty="0">
                <a:latin typeface="Calibri" panose="020F0502020204030204" pitchFamily="34" charset="0"/>
                <a:ea typeface="SimSun" panose="02010600030101010101" pitchFamily="2" charset="-122"/>
                <a:cs typeface="Times New Roman" panose="02020603050405020304" pitchFamily="18" charset="0"/>
              </a:rPr>
              <a:t>度量了学习算法的期望预测与真实结果的偏离程度，即刻画了学习算法本身的拟合能力。</a:t>
            </a:r>
            <a:endParaRPr lang="en-US" altLang="zh-CN" sz="1800" kern="100" dirty="0">
              <a:effectLst/>
              <a:latin typeface="Calibri" panose="020F0502020204030204" pitchFamily="34" charset="0"/>
              <a:ea typeface="SimSun" panose="02010600030101010101" pitchFamily="2" charset="-122"/>
              <a:cs typeface="Times New Roman" panose="02020603050405020304" pitchFamily="18" charset="0"/>
            </a:endParaRPr>
          </a:p>
          <a:p>
            <a:pPr algn="just">
              <a:buNone/>
            </a:pPr>
            <a:r>
              <a:rPr lang="zh-CN" altLang="en-US" sz="1800" kern="100" dirty="0">
                <a:effectLst/>
                <a:latin typeface="Calibri" panose="020F0502020204030204" pitchFamily="34" charset="0"/>
                <a:ea typeface="SimSun" panose="02010600030101010101" pitchFamily="2" charset="-122"/>
                <a:cs typeface="Times New Roman" panose="02020603050405020304" pitchFamily="18" charset="0"/>
              </a:rPr>
              <a:t>方差：度量了同样大小的训练集的变动所导致的学习性能 的变化，即刻画了数据扰动所造成的影响。</a:t>
            </a:r>
            <a:endParaRPr lang="en-US" altLang="zh-CN" sz="1800" kern="100" dirty="0">
              <a:effectLst/>
              <a:latin typeface="Calibri" panose="020F0502020204030204" pitchFamily="34" charset="0"/>
              <a:ea typeface="SimSun" panose="02010600030101010101" pitchFamily="2" charset="-122"/>
              <a:cs typeface="Times New Roman" panose="02020603050405020304" pitchFamily="18" charset="0"/>
            </a:endParaRPr>
          </a:p>
          <a:p>
            <a:pPr algn="just">
              <a:buNone/>
            </a:pPr>
            <a:r>
              <a:rPr lang="zh-CN" altLang="en-US" kern="100" dirty="0">
                <a:latin typeface="Calibri" panose="020F0502020204030204" pitchFamily="34" charset="0"/>
                <a:ea typeface="SimSun" panose="02010600030101010101" pitchFamily="2" charset="-122"/>
                <a:cs typeface="Times New Roman" panose="02020603050405020304" pitchFamily="18" charset="0"/>
              </a:rPr>
              <a:t>泛化误差：学习器在新样本上的误差。</a:t>
            </a:r>
            <a:endParaRPr lang="en-US" altLang="zh-CN" kern="100" dirty="0">
              <a:latin typeface="Calibri" panose="020F0502020204030204" pitchFamily="34" charset="0"/>
              <a:ea typeface="SimSun" panose="02010600030101010101" pitchFamily="2" charset="-122"/>
              <a:cs typeface="Times New Roman" panose="02020603050405020304" pitchFamily="18" charset="0"/>
            </a:endParaRPr>
          </a:p>
          <a:p>
            <a:pPr algn="just">
              <a:buNone/>
            </a:pPr>
            <a:endParaRPr lang="en-US" altLang="zh-CN" kern="100" dirty="0">
              <a:latin typeface="Calibri" panose="020F0502020204030204" pitchFamily="34" charset="0"/>
              <a:ea typeface="SimSun" panose="02010600030101010101" pitchFamily="2" charset="-122"/>
              <a:cs typeface="Times New Roman" panose="02020603050405020304" pitchFamily="18" charset="0"/>
            </a:endParaRPr>
          </a:p>
          <a:p>
            <a:pPr algn="just">
              <a:buNone/>
            </a:pPr>
            <a:r>
              <a:rPr lang="zh-CN" altLang="en-US" kern="100" dirty="0">
                <a:latin typeface="Calibri" panose="020F0502020204030204" pitchFamily="34" charset="0"/>
                <a:ea typeface="SimSun" panose="02010600030101010101" pitchFamily="2" charset="-122"/>
                <a:cs typeface="Times New Roman" panose="02020603050405020304" pitchFamily="18" charset="0"/>
              </a:rPr>
              <a:t>关系：泛化误差 </a:t>
            </a:r>
            <a:r>
              <a:rPr lang="en-US" altLang="zh-CN" kern="100" dirty="0">
                <a:latin typeface="Calibri" panose="020F0502020204030204" pitchFamily="34" charset="0"/>
                <a:ea typeface="SimSun" panose="02010600030101010101" pitchFamily="2" charset="-122"/>
                <a:cs typeface="Times New Roman" panose="02020603050405020304" pitchFamily="18" charset="0"/>
              </a:rPr>
              <a:t>= </a:t>
            </a:r>
            <a:r>
              <a:rPr lang="zh-CN" altLang="en-US" kern="100" dirty="0">
                <a:latin typeface="Calibri" panose="020F0502020204030204" pitchFamily="34" charset="0"/>
                <a:ea typeface="SimSun" panose="02010600030101010101" pitchFamily="2" charset="-122"/>
                <a:cs typeface="Times New Roman" panose="02020603050405020304" pitchFamily="18" charset="0"/>
              </a:rPr>
              <a:t>偏差</a:t>
            </a:r>
            <a:r>
              <a:rPr lang="en-US" altLang="zh-CN" kern="100" dirty="0">
                <a:latin typeface="Calibri" panose="020F0502020204030204" pitchFamily="34" charset="0"/>
                <a:ea typeface="SimSun" panose="02010600030101010101" pitchFamily="2" charset="-122"/>
                <a:cs typeface="Times New Roman" panose="02020603050405020304" pitchFamily="18" charset="0"/>
              </a:rPr>
              <a:t>² + </a:t>
            </a:r>
            <a:r>
              <a:rPr lang="zh-CN" altLang="en-US" kern="100" dirty="0">
                <a:latin typeface="Calibri" panose="020F0502020204030204" pitchFamily="34" charset="0"/>
                <a:ea typeface="SimSun" panose="02010600030101010101" pitchFamily="2" charset="-122"/>
                <a:cs typeface="Times New Roman" panose="02020603050405020304" pitchFamily="18" charset="0"/>
              </a:rPr>
              <a:t>方差 </a:t>
            </a:r>
            <a:r>
              <a:rPr lang="en-US" altLang="zh-CN" kern="100" dirty="0">
                <a:latin typeface="Calibri" panose="020F0502020204030204" pitchFamily="34" charset="0"/>
                <a:ea typeface="SimSun" panose="02010600030101010101" pitchFamily="2" charset="-122"/>
                <a:cs typeface="Times New Roman" panose="02020603050405020304" pitchFamily="18" charset="0"/>
              </a:rPr>
              <a:t>+ </a:t>
            </a:r>
            <a:r>
              <a:rPr lang="zh-CN" altLang="en-US" kern="100" dirty="0">
                <a:latin typeface="Calibri" panose="020F0502020204030204" pitchFamily="34" charset="0"/>
                <a:ea typeface="SimSun" panose="02010600030101010101" pitchFamily="2" charset="-122"/>
                <a:cs typeface="Times New Roman" panose="02020603050405020304" pitchFamily="18" charset="0"/>
              </a:rPr>
              <a:t>噪声</a:t>
            </a:r>
            <a:endParaRPr lang="en-US" altLang="zh-CN" kern="100" dirty="0">
              <a:latin typeface="Calibri" panose="020F0502020204030204" pitchFamily="34" charset="0"/>
              <a:ea typeface="SimSun" panose="02010600030101010101" pitchFamily="2" charset="-122"/>
              <a:cs typeface="Times New Roman" panose="02020603050405020304" pitchFamily="18" charset="0"/>
            </a:endParaRPr>
          </a:p>
          <a:p>
            <a:pPr algn="just">
              <a:buNone/>
            </a:pPr>
            <a:endParaRPr lang="en-US" altLang="zh-CN" kern="100" dirty="0">
              <a:latin typeface="Calibri" panose="020F0502020204030204" pitchFamily="34" charset="0"/>
              <a:ea typeface="SimSun" panose="02010600030101010101" pitchFamily="2" charset="-122"/>
              <a:cs typeface="Times New Roman" panose="02020603050405020304" pitchFamily="18" charset="0"/>
            </a:endParaRPr>
          </a:p>
          <a:p>
            <a:pPr algn="just">
              <a:buNone/>
            </a:pPr>
            <a:r>
              <a:rPr lang="zh-CN" altLang="en-US" kern="100" dirty="0">
                <a:latin typeface="Calibri" panose="020F0502020204030204" pitchFamily="34" charset="0"/>
                <a:ea typeface="SimSun" panose="02010600030101010101" pitchFamily="2" charset="-122"/>
                <a:cs typeface="Times New Roman" panose="02020603050405020304" pitchFamily="18" charset="0"/>
              </a:rPr>
              <a:t>训练不足时，学习器的拟合能力不足，数据扰动不足以使学习器产生显著变化，此时偏差主导了泛化误差；而随着训练程度增加，学习器拟合能力增强，数据扰动开始被学习到，方差逐渐主导泛化误差。</a:t>
            </a:r>
            <a:endParaRPr lang="en-US" altLang="zh-CN" kern="100" dirty="0">
              <a:latin typeface="Calibri" panose="020F0502020204030204" pitchFamily="34" charset="0"/>
              <a:ea typeface="SimSun" panose="02010600030101010101" pitchFamily="2" charset="-122"/>
              <a:cs typeface="Times New Roman" panose="02020603050405020304" pitchFamily="18" charset="0"/>
            </a:endParaRPr>
          </a:p>
          <a:p>
            <a:pPr algn="just">
              <a:buNone/>
            </a:pPr>
            <a:endParaRPr lang="en-US" altLang="zh-CN" sz="1800" kern="100" dirty="0">
              <a:effectLst/>
              <a:latin typeface="Calibri" panose="020F0502020204030204" pitchFamily="34" charset="0"/>
              <a:ea typeface="SimSun" panose="02010600030101010101" pitchFamily="2" charset="-122"/>
              <a:cs typeface="Times New Roman" panose="02020603050405020304" pitchFamily="18" charset="0"/>
            </a:endParaRPr>
          </a:p>
          <a:p>
            <a:pPr algn="just">
              <a:buNone/>
            </a:pPr>
            <a:r>
              <a:rPr lang="en-US" altLang="zh-CN" sz="1800" kern="100" dirty="0">
                <a:solidFill>
                  <a:srgbClr val="FF0000"/>
                </a:solidFill>
                <a:effectLst/>
                <a:latin typeface="Calibri" panose="020F0502020204030204" pitchFamily="34" charset="0"/>
                <a:ea typeface="SimSun" panose="02010600030101010101" pitchFamily="2" charset="-122"/>
                <a:cs typeface="Times New Roman" panose="02020603050405020304" pitchFamily="18" charset="0"/>
              </a:rPr>
              <a:t>P45-46</a:t>
            </a:r>
          </a:p>
          <a:p>
            <a:pPr algn="just">
              <a:buNone/>
            </a:pPr>
            <a:endParaRPr lang="zh-CN" altLang="zh-CN" sz="1800" kern="100" dirty="0">
              <a:effectLst/>
              <a:latin typeface="Calibri" panose="020F0502020204030204" pitchFamily="34" charset="0"/>
              <a:ea typeface="SimSun" panose="02010600030101010101" pitchFamily="2" charset="-122"/>
              <a:cs typeface="Times New Roman" panose="02020603050405020304" pitchFamily="18" charset="0"/>
            </a:endParaRPr>
          </a:p>
        </p:txBody>
      </p:sp>
      <p:cxnSp>
        <p:nvCxnSpPr>
          <p:cNvPr id="6" name="直接连接符 5">
            <a:extLst>
              <a:ext uri="{FF2B5EF4-FFF2-40B4-BE49-F238E27FC236}">
                <a16:creationId xmlns:a16="http://schemas.microsoft.com/office/drawing/2014/main" id="{08F21224-5DCC-64E9-9181-16C0672F3D53}"/>
              </a:ext>
            </a:extLst>
          </p:cNvPr>
          <p:cNvCxnSpPr>
            <a:cxnSpLocks/>
          </p:cNvCxnSpPr>
          <p:nvPr/>
        </p:nvCxnSpPr>
        <p:spPr>
          <a:xfrm>
            <a:off x="5884223" y="0"/>
            <a:ext cx="104388" cy="675706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594704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53FDC4-9052-5269-6CBF-E723DA04EFAF}"/>
            </a:ext>
          </a:extLst>
        </p:cNvPr>
        <p:cNvGrpSpPr/>
        <p:nvPr/>
      </p:nvGrpSpPr>
      <p:grpSpPr>
        <a:xfrm>
          <a:off x="0" y="0"/>
          <a:ext cx="0" cy="0"/>
          <a:chOff x="0" y="0"/>
          <a:chExt cx="0" cy="0"/>
        </a:xfrm>
      </p:grpSpPr>
      <p:sp>
        <p:nvSpPr>
          <p:cNvPr id="20" name="文本框">
            <a:extLst>
              <a:ext uri="{FF2B5EF4-FFF2-40B4-BE49-F238E27FC236}">
                <a16:creationId xmlns:a16="http://schemas.microsoft.com/office/drawing/2014/main" id="{095C1F9B-566B-5A83-1F40-E7A5668A0A15}"/>
              </a:ext>
            </a:extLst>
          </p:cNvPr>
          <p:cNvSpPr>
            <a:spLocks noGrp="1"/>
          </p:cNvSpPr>
          <p:nvPr>
            <p:ph type="title"/>
          </p:nvPr>
        </p:nvSpPr>
        <p:spPr>
          <a:xfrm>
            <a:off x="608400" y="608400"/>
            <a:ext cx="10969201" cy="705599"/>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marL="0" indent="0" algn="l">
              <a:lnSpc>
                <a:spcPct val="100000"/>
              </a:lnSpc>
              <a:spcBef>
                <a:spcPts val="0"/>
              </a:spcBef>
              <a:spcAft>
                <a:spcPts val="0"/>
              </a:spcAft>
              <a:buNone/>
            </a:pPr>
            <a:r>
              <a:rPr lang="zh-CN" altLang="en-US" sz="3600" b="1" i="0" u="none" strike="noStrike" kern="1200" cap="none" spc="300" baseline="0" dirty="0">
                <a:solidFill>
                  <a:srgbClr val="262626"/>
                </a:solidFill>
                <a:latin typeface="Arial" charset="0"/>
                <a:ea typeface="微软雅黑" charset="0"/>
                <a:cs typeface="Lucida Sans"/>
              </a:rPr>
              <a:t>题型</a:t>
            </a:r>
            <a:r>
              <a:rPr lang="en-US" altLang="zh-CN" dirty="0">
                <a:cs typeface="Lucida Sans"/>
              </a:rPr>
              <a:t>2</a:t>
            </a:r>
            <a:r>
              <a:rPr lang="en-US" altLang="zh-CN" sz="3600" b="1" i="0" u="none" strike="noStrike" kern="1200" cap="none" spc="300" baseline="0" dirty="0">
                <a:solidFill>
                  <a:srgbClr val="262626"/>
                </a:solidFill>
                <a:latin typeface="Arial" charset="0"/>
                <a:ea typeface="微软雅黑" charset="0"/>
                <a:cs typeface="Lucida Sans"/>
              </a:rPr>
              <a:t> </a:t>
            </a:r>
            <a:r>
              <a:rPr lang="zh-CN" altLang="en-US" sz="3600" b="1" i="0" u="none" strike="noStrike" kern="1200" cap="none" spc="300" baseline="0" dirty="0">
                <a:solidFill>
                  <a:srgbClr val="262626"/>
                </a:solidFill>
                <a:latin typeface="Arial" charset="0"/>
                <a:ea typeface="微软雅黑" charset="0"/>
                <a:cs typeface="Lucida Sans"/>
              </a:rPr>
              <a:t>：</a:t>
            </a:r>
            <a:r>
              <a:rPr lang="en-US" altLang="zh-CN" sz="3600" b="1" i="0" u="none" strike="noStrike" kern="1200" cap="none" spc="300" baseline="0" dirty="0">
                <a:solidFill>
                  <a:srgbClr val="262626"/>
                </a:solidFill>
                <a:latin typeface="Arial" charset="0"/>
                <a:ea typeface="微软雅黑" charset="0"/>
                <a:cs typeface="Lucida Sans"/>
              </a:rPr>
              <a:t> </a:t>
            </a:r>
            <a:r>
              <a:rPr lang="zh-CN" altLang="en-US" sz="3600" b="1" i="0" u="none" strike="noStrike" kern="1200" cap="none" spc="300" baseline="0" dirty="0">
                <a:solidFill>
                  <a:srgbClr val="262626"/>
                </a:solidFill>
                <a:latin typeface="Arial" charset="0"/>
                <a:ea typeface="微软雅黑" charset="0"/>
                <a:cs typeface="Lucida Sans"/>
              </a:rPr>
              <a:t>简答题</a:t>
            </a:r>
            <a:r>
              <a:rPr lang="en-US" altLang="zh-CN" sz="3600" b="1" i="0" u="none" strike="noStrike" kern="1200" cap="none" spc="300" baseline="0" dirty="0">
                <a:solidFill>
                  <a:srgbClr val="262626"/>
                </a:solidFill>
                <a:latin typeface="Arial" charset="0"/>
                <a:ea typeface="微软雅黑" charset="0"/>
                <a:cs typeface="Lucida Sans"/>
              </a:rPr>
              <a:t> </a:t>
            </a:r>
            <a:endParaRPr lang="zh-CN" altLang="en-US" sz="3600" b="1" i="0" u="none" strike="noStrike" kern="1200" cap="none" spc="300" baseline="0" dirty="0">
              <a:solidFill>
                <a:srgbClr val="262626"/>
              </a:solidFill>
              <a:latin typeface="Arial" charset="0"/>
              <a:ea typeface="微软雅黑" charset="0"/>
              <a:cs typeface="Lucida Sans"/>
            </a:endParaRP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330EB275-CD3A-CF7E-53BC-CDC2CE7A80D7}"/>
                  </a:ext>
                </a:extLst>
              </p:cNvPr>
              <p:cNvSpPr txBox="1"/>
              <p:nvPr/>
            </p:nvSpPr>
            <p:spPr>
              <a:xfrm>
                <a:off x="608400" y="1235035"/>
                <a:ext cx="10699667" cy="5589351"/>
              </a:xfrm>
              <a:prstGeom prst="rect">
                <a:avLst/>
              </a:prstGeom>
              <a:noFill/>
            </p:spPr>
            <p:txBody>
              <a:bodyPr wrap="square" rtlCol="0">
                <a:spAutoFit/>
              </a:bodyPr>
              <a:lstStyle/>
              <a:p>
                <a:r>
                  <a:rPr lang="en-US" altLang="zh-CN" b="1" dirty="0">
                    <a:solidFill>
                      <a:srgbClr val="00B0F0"/>
                    </a:solidFill>
                  </a:rPr>
                  <a:t>2.</a:t>
                </a:r>
                <a:r>
                  <a:rPr lang="zh-CN" altLang="zh-CN" b="1" dirty="0">
                    <a:solidFill>
                      <a:srgbClr val="00B0F0"/>
                    </a:solidFill>
                  </a:rPr>
                  <a:t>优化中的结构风险和经验风险是什么， 线性模型中的结构风险和经验风险</a:t>
                </a:r>
                <a:endParaRPr lang="en-US" altLang="zh-CN" b="1" dirty="0">
                  <a:solidFill>
                    <a:srgbClr val="00B0F0"/>
                  </a:solidFill>
                </a:endParaRPr>
              </a:p>
              <a:p>
                <a:r>
                  <a:rPr lang="zh-CN" altLang="en-US" dirty="0"/>
                  <a:t>经验风险：模型在</a:t>
                </a:r>
                <a:r>
                  <a:rPr lang="zh-CN" altLang="en-US" b="1" dirty="0"/>
                  <a:t>训练数据集</a:t>
                </a:r>
                <a:r>
                  <a:rPr lang="zh-CN" altLang="en-US" dirty="0"/>
                  <a:t>上的平均损失。它衡量模型对已知训练样本的拟合程度。</a:t>
                </a:r>
                <a:endParaRPr lang="en-US" altLang="zh-CN" dirty="0"/>
              </a:p>
              <a:p>
                <a:r>
                  <a:rPr lang="zh-CN" altLang="en-US" dirty="0"/>
                  <a:t>结构风险：在经验风险的基础上，加上</a:t>
                </a:r>
                <a:r>
                  <a:rPr lang="zh-CN" altLang="en-US" b="1" dirty="0"/>
                  <a:t>正则化项</a:t>
                </a:r>
                <a:r>
                  <a:rPr lang="zh-CN" altLang="en-US" dirty="0"/>
                  <a:t>（用于惩罚模型复杂度），目的是防止过拟合、提升泛化能力。</a:t>
                </a:r>
                <a:endParaRPr lang="en-US" altLang="zh-CN" dirty="0"/>
              </a:p>
              <a:p>
                <a:r>
                  <a:rPr lang="zh-CN" altLang="en-US" dirty="0"/>
                  <a:t>假设有线性模型 </a:t>
                </a:r>
                <a14:m>
                  <m:oMath xmlns:m="http://schemas.openxmlformats.org/officeDocument/2006/math">
                    <m:r>
                      <a:rPr lang="zh-CN" altLang="en-US" i="1">
                        <a:latin typeface="Cambria Math" panose="02040503050406030204" pitchFamily="18" charset="0"/>
                      </a:rPr>
                      <m:t>𝑓</m:t>
                    </m:r>
                    <m:d>
                      <m:dPr>
                        <m:ctrlPr>
                          <a:rPr lang="ar-AE" altLang="zh-CN" i="1">
                            <a:latin typeface="Cambria Math" panose="02040503050406030204" pitchFamily="18" charset="0"/>
                          </a:rPr>
                        </m:ctrlPr>
                      </m:dPr>
                      <m:e>
                        <m:r>
                          <a:rPr lang="zh-CN" altLang="ar-AE" i="1">
                            <a:latin typeface="Cambria Math" panose="02040503050406030204" pitchFamily="18" charset="0"/>
                          </a:rPr>
                          <m:t>𝑥</m:t>
                        </m:r>
                      </m:e>
                    </m:d>
                    <m:r>
                      <a:rPr lang="ar-AE" altLang="zh-CN">
                        <a:latin typeface="Cambria Math" panose="02040503050406030204" pitchFamily="18" charset="0"/>
                      </a:rPr>
                      <m:t>=</m:t>
                    </m:r>
                    <m:sSup>
                      <m:sSupPr>
                        <m:ctrlPr>
                          <a:rPr lang="ar-AE" altLang="zh-CN" i="1">
                            <a:latin typeface="Cambria Math" panose="02040503050406030204" pitchFamily="18" charset="0"/>
                          </a:rPr>
                        </m:ctrlPr>
                      </m:sSupPr>
                      <m:e>
                        <m:r>
                          <a:rPr lang="zh-CN" altLang="ar-AE" i="1">
                            <a:latin typeface="Cambria Math" panose="02040503050406030204" pitchFamily="18" charset="0"/>
                          </a:rPr>
                          <m:t>𝑤</m:t>
                        </m:r>
                      </m:e>
                      <m:sup>
                        <m:r>
                          <a:rPr lang="zh-CN" altLang="ar-AE" i="1">
                            <a:latin typeface="Cambria Math" panose="02040503050406030204" pitchFamily="18" charset="0"/>
                          </a:rPr>
                          <m:t>𝑇</m:t>
                        </m:r>
                      </m:sup>
                    </m:sSup>
                    <m:r>
                      <a:rPr lang="zh-CN" altLang="ar-AE" i="1">
                        <a:latin typeface="Cambria Math" panose="02040503050406030204" pitchFamily="18" charset="0"/>
                      </a:rPr>
                      <m:t>𝑥</m:t>
                    </m:r>
                    <m:r>
                      <a:rPr lang="ar-AE" altLang="zh-CN">
                        <a:latin typeface="Cambria Math" panose="02040503050406030204" pitchFamily="18" charset="0"/>
                      </a:rPr>
                      <m:t>+</m:t>
                    </m:r>
                    <m:r>
                      <a:rPr lang="zh-CN" altLang="ar-AE" i="1">
                        <a:latin typeface="Cambria Math" panose="02040503050406030204" pitchFamily="18" charset="0"/>
                      </a:rPr>
                      <m:t>𝑏</m:t>
                    </m:r>
                  </m:oMath>
                </a14:m>
                <a:r>
                  <a:rPr lang="zh-CN" altLang="ar-AE" dirty="0"/>
                  <a:t>，</a:t>
                </a:r>
                <a:r>
                  <a:rPr lang="zh-CN" altLang="en-US" dirty="0"/>
                  <a:t>损失函数为均方误差（</a:t>
                </a:r>
                <a:r>
                  <a:rPr lang="en-US" altLang="zh-CN" dirty="0"/>
                  <a:t>MSE</a:t>
                </a:r>
                <a:r>
                  <a:rPr lang="zh-CN" altLang="en-US" dirty="0"/>
                  <a:t>）</a:t>
                </a:r>
                <a:endParaRPr lang="en-US" altLang="zh-CN" dirty="0"/>
              </a:p>
              <a:p>
                <a:r>
                  <a:rPr lang="zh-CN" altLang="en-US" b="1" dirty="0"/>
                  <a:t>经验风险</a:t>
                </a:r>
                <a:r>
                  <a:rPr lang="zh-CN" altLang="en-US" dirty="0"/>
                  <a:t> </a:t>
                </a:r>
                <a:r>
                  <a:rPr lang="en-US" altLang="zh-CN" dirty="0"/>
                  <a:t>	</a:t>
                </a:r>
                <a14:m>
                  <m:oMath xmlns:m="http://schemas.openxmlformats.org/officeDocument/2006/math">
                    <m:f>
                      <m:fPr>
                        <m:ctrlPr>
                          <a:rPr lang="ar-AE" altLang="zh-CN" i="1">
                            <a:latin typeface="Cambria Math" panose="02040503050406030204" pitchFamily="18" charset="0"/>
                          </a:rPr>
                        </m:ctrlPr>
                      </m:fPr>
                      <m:num>
                        <m:r>
                          <a:rPr lang="ar-AE" altLang="zh-CN">
                            <a:latin typeface="Cambria Math" panose="02040503050406030204" pitchFamily="18" charset="0"/>
                          </a:rPr>
                          <m:t>1</m:t>
                        </m:r>
                      </m:num>
                      <m:den>
                        <m:r>
                          <a:rPr lang="zh-CN" altLang="ar-AE" i="1">
                            <a:latin typeface="Cambria Math" panose="02040503050406030204" pitchFamily="18" charset="0"/>
                          </a:rPr>
                          <m:t>𝑁</m:t>
                        </m:r>
                      </m:den>
                    </m:f>
                    <m:nary>
                      <m:naryPr>
                        <m:chr m:val="∑"/>
                        <m:grow m:val="on"/>
                        <m:ctrlPr>
                          <a:rPr lang="ar-AE" altLang="zh-CN" i="1">
                            <a:latin typeface="Cambria Math" panose="02040503050406030204" pitchFamily="18" charset="0"/>
                          </a:rPr>
                        </m:ctrlPr>
                      </m:naryPr>
                      <m:sub>
                        <m:r>
                          <a:rPr lang="zh-CN" altLang="ar-AE" i="1">
                            <a:latin typeface="Cambria Math" panose="02040503050406030204" pitchFamily="18" charset="0"/>
                          </a:rPr>
                          <m:t>𝑖</m:t>
                        </m:r>
                        <m:r>
                          <a:rPr lang="ar-AE" altLang="zh-CN">
                            <a:latin typeface="Cambria Math" panose="02040503050406030204" pitchFamily="18" charset="0"/>
                          </a:rPr>
                          <m:t>=</m:t>
                        </m:r>
                        <m:r>
                          <a:rPr lang="ar-AE" altLang="zh-CN">
                            <a:latin typeface="Cambria Math" panose="02040503050406030204" pitchFamily="18" charset="0"/>
                          </a:rPr>
                          <m:t>1</m:t>
                        </m:r>
                      </m:sub>
                      <m:sup>
                        <m:r>
                          <a:rPr lang="zh-CN" altLang="ar-AE" i="1">
                            <a:latin typeface="Cambria Math" panose="02040503050406030204" pitchFamily="18" charset="0"/>
                          </a:rPr>
                          <m:t>𝑁</m:t>
                        </m:r>
                      </m:sup>
                      <m:e>
                        <m:r>
                          <a:rPr lang="ar-AE" altLang="zh-CN">
                            <a:latin typeface="Cambria Math" panose="02040503050406030204" pitchFamily="18" charset="0"/>
                          </a:rPr>
                          <m:t>(</m:t>
                        </m:r>
                      </m:e>
                    </m:nary>
                    <m:d>
                      <m:dPr>
                        <m:begChr m:val=""/>
                        <m:endChr m:val=""/>
                        <m:ctrlPr>
                          <a:rPr lang="ar-AE" altLang="zh-CN" i="1">
                            <a:latin typeface="Cambria Math" panose="02040503050406030204" pitchFamily="18" charset="0"/>
                          </a:rPr>
                        </m:ctrlPr>
                      </m:dPr>
                      <m:e>
                        <m:sSub>
                          <m:sSubPr>
                            <m:ctrlPr>
                              <a:rPr lang="ar-AE" altLang="zh-CN" i="1">
                                <a:latin typeface="Cambria Math" panose="02040503050406030204" pitchFamily="18" charset="0"/>
                              </a:rPr>
                            </m:ctrlPr>
                          </m:sSubPr>
                          <m:e>
                            <m:r>
                              <a:rPr lang="zh-CN" altLang="ar-AE" i="1">
                                <a:latin typeface="Cambria Math" panose="02040503050406030204" pitchFamily="18" charset="0"/>
                              </a:rPr>
                              <m:t>𝑦</m:t>
                            </m:r>
                          </m:e>
                          <m:sub>
                            <m:r>
                              <a:rPr lang="zh-CN" altLang="ar-AE" i="1">
                                <a:latin typeface="Cambria Math" panose="02040503050406030204" pitchFamily="18" charset="0"/>
                              </a:rPr>
                              <m:t>𝑖</m:t>
                            </m:r>
                          </m:sub>
                        </m:sSub>
                        <m:r>
                          <a:rPr lang="ar-AE" altLang="zh-CN">
                            <a:latin typeface="Cambria Math" panose="02040503050406030204" pitchFamily="18" charset="0"/>
                          </a:rPr>
                          <m:t>−</m:t>
                        </m:r>
                        <m:d>
                          <m:dPr>
                            <m:ctrlPr>
                              <a:rPr lang="ar-AE" altLang="zh-CN" i="1">
                                <a:latin typeface="Cambria Math" panose="02040503050406030204" pitchFamily="18" charset="0"/>
                              </a:rPr>
                            </m:ctrlPr>
                          </m:dPr>
                          <m:e>
                            <m:sSup>
                              <m:sSupPr>
                                <m:ctrlPr>
                                  <a:rPr lang="ar-AE" altLang="zh-CN" i="1">
                                    <a:latin typeface="Cambria Math" panose="02040503050406030204" pitchFamily="18" charset="0"/>
                                  </a:rPr>
                                </m:ctrlPr>
                              </m:sSupPr>
                              <m:e>
                                <m:r>
                                  <a:rPr lang="zh-CN" altLang="ar-AE" i="1">
                                    <a:latin typeface="Cambria Math" panose="02040503050406030204" pitchFamily="18" charset="0"/>
                                  </a:rPr>
                                  <m:t>𝑤</m:t>
                                </m:r>
                              </m:e>
                              <m:sup>
                                <m:r>
                                  <a:rPr lang="zh-CN" altLang="ar-AE" i="1">
                                    <a:latin typeface="Cambria Math" panose="02040503050406030204" pitchFamily="18" charset="0"/>
                                  </a:rPr>
                                  <m:t>𝑇</m:t>
                                </m:r>
                              </m:sup>
                            </m:sSup>
                            <m:sSub>
                              <m:sSubPr>
                                <m:ctrlPr>
                                  <a:rPr lang="ar-AE" altLang="zh-CN" i="1">
                                    <a:latin typeface="Cambria Math" panose="02040503050406030204" pitchFamily="18" charset="0"/>
                                  </a:rPr>
                                </m:ctrlPr>
                              </m:sSubPr>
                              <m:e>
                                <m:r>
                                  <a:rPr lang="zh-CN" altLang="ar-AE" i="1">
                                    <a:latin typeface="Cambria Math" panose="02040503050406030204" pitchFamily="18" charset="0"/>
                                  </a:rPr>
                                  <m:t>𝑥</m:t>
                                </m:r>
                              </m:e>
                              <m:sub>
                                <m:r>
                                  <a:rPr lang="zh-CN" altLang="ar-AE" i="1">
                                    <a:latin typeface="Cambria Math" panose="02040503050406030204" pitchFamily="18" charset="0"/>
                                  </a:rPr>
                                  <m:t>𝑖</m:t>
                                </m:r>
                              </m:sub>
                            </m:sSub>
                            <m:r>
                              <a:rPr lang="ar-AE" altLang="zh-CN">
                                <a:latin typeface="Cambria Math" panose="02040503050406030204" pitchFamily="18" charset="0"/>
                              </a:rPr>
                              <m:t>+</m:t>
                            </m:r>
                            <m:r>
                              <a:rPr lang="zh-CN" altLang="ar-AE" i="1">
                                <a:latin typeface="Cambria Math" panose="02040503050406030204" pitchFamily="18" charset="0"/>
                              </a:rPr>
                              <m:t>𝑏</m:t>
                            </m:r>
                          </m:e>
                        </m:d>
                        <m:sSup>
                          <m:sSupPr>
                            <m:ctrlPr>
                              <a:rPr lang="ar-AE" altLang="zh-CN" i="1">
                                <a:latin typeface="Cambria Math" panose="02040503050406030204" pitchFamily="18" charset="0"/>
                              </a:rPr>
                            </m:ctrlPr>
                          </m:sSupPr>
                          <m:e>
                            <m:d>
                              <m:dPr>
                                <m:begChr m:val=""/>
                                <m:endChr m:val=""/>
                                <m:ctrlPr>
                                  <a:rPr lang="ar-AE" altLang="zh-CN" i="1">
                                    <a:latin typeface="Cambria Math" panose="02040503050406030204" pitchFamily="18" charset="0"/>
                                  </a:rPr>
                                </m:ctrlPr>
                              </m:dPr>
                              <m:e>
                                <m:r>
                                  <a:rPr lang="ar-AE" altLang="zh-CN">
                                    <a:latin typeface="Cambria Math" panose="02040503050406030204" pitchFamily="18" charset="0"/>
                                  </a:rPr>
                                  <m:t>)</m:t>
                                </m:r>
                              </m:e>
                            </m:d>
                          </m:e>
                          <m:sup>
                            <m:r>
                              <a:rPr lang="ar-AE" altLang="zh-CN">
                                <a:latin typeface="Cambria Math" panose="02040503050406030204" pitchFamily="18" charset="0"/>
                              </a:rPr>
                              <m:t>2</m:t>
                            </m:r>
                          </m:sup>
                        </m:sSup>
                      </m:e>
                    </m:d>
                  </m:oMath>
                </a14:m>
                <a:endParaRPr lang="en-US" altLang="zh-CN" dirty="0"/>
              </a:p>
              <a:p>
                <a:r>
                  <a:rPr lang="zh-CN" altLang="en-US" b="1" dirty="0"/>
                  <a:t>结构风险</a:t>
                </a:r>
                <a:r>
                  <a:rPr lang="zh-CN" altLang="en-US" dirty="0"/>
                  <a:t>（以</a:t>
                </a:r>
                <a:r>
                  <a:rPr lang="en-US" altLang="zh-CN" dirty="0"/>
                  <a:t>L2</a:t>
                </a:r>
                <a:r>
                  <a:rPr lang="zh-CN" altLang="en-US" dirty="0"/>
                  <a:t>正则项为例）</a:t>
                </a:r>
                <a14:m>
                  <m:oMath xmlns:m="http://schemas.openxmlformats.org/officeDocument/2006/math">
                    <m:r>
                      <a:rPr lang="zh-CN" altLang="ar-AE" i="1">
                        <a:latin typeface="Cambria Math" panose="02040503050406030204" pitchFamily="18" charset="0"/>
                      </a:rPr>
                      <m:t>𝜆</m:t>
                    </m:r>
                    <m:r>
                      <a:rPr lang="ar-AE" altLang="zh-CN">
                        <a:latin typeface="Cambria Math" panose="02040503050406030204" pitchFamily="18" charset="0"/>
                      </a:rPr>
                      <m:t>∥</m:t>
                    </m:r>
                    <m:r>
                      <a:rPr lang="zh-CN" altLang="ar-AE" i="1">
                        <a:latin typeface="Cambria Math" panose="02040503050406030204" pitchFamily="18" charset="0"/>
                      </a:rPr>
                      <m:t>𝑤</m:t>
                    </m:r>
                    <m:sSubSup>
                      <m:sSubSupPr>
                        <m:ctrlPr>
                          <a:rPr lang="ar-AE" altLang="zh-CN" i="1">
                            <a:latin typeface="Cambria Math" panose="02040503050406030204" pitchFamily="18" charset="0"/>
                          </a:rPr>
                        </m:ctrlPr>
                      </m:sSubSupPr>
                      <m:e>
                        <m:r>
                          <a:rPr lang="ar-AE" altLang="zh-CN">
                            <a:latin typeface="Cambria Math" panose="02040503050406030204" pitchFamily="18" charset="0"/>
                          </a:rPr>
                          <m:t>∥</m:t>
                        </m:r>
                      </m:e>
                      <m:sub>
                        <m:r>
                          <a:rPr lang="ar-AE" altLang="zh-CN">
                            <a:latin typeface="Cambria Math" panose="02040503050406030204" pitchFamily="18" charset="0"/>
                          </a:rPr>
                          <m:t>2</m:t>
                        </m:r>
                      </m:sub>
                      <m:sup>
                        <m:r>
                          <a:rPr lang="ar-AE" altLang="zh-CN">
                            <a:latin typeface="Cambria Math" panose="02040503050406030204" pitchFamily="18" charset="0"/>
                          </a:rPr>
                          <m:t>2</m:t>
                        </m:r>
                      </m:sup>
                    </m:sSubSup>
                  </m:oMath>
                </a14:m>
                <a:endParaRPr lang="en-US" altLang="zh-CN" b="1" dirty="0">
                  <a:solidFill>
                    <a:srgbClr val="00B0F0"/>
                  </a:solidFill>
                </a:endParaRPr>
              </a:p>
              <a:p>
                <a:r>
                  <a:rPr lang="en-US" altLang="zh-CN" b="1" dirty="0">
                    <a:solidFill>
                      <a:srgbClr val="FF0000"/>
                    </a:solidFill>
                  </a:rPr>
                  <a:t>p133</a:t>
                </a:r>
                <a:endParaRPr lang="zh-CN" altLang="zh-CN" b="1" dirty="0">
                  <a:solidFill>
                    <a:srgbClr val="00B0F0"/>
                  </a:solidFill>
                </a:endParaRPr>
              </a:p>
              <a:p>
                <a:r>
                  <a:rPr lang="en-US" altLang="zh-CN" b="1" dirty="0">
                    <a:solidFill>
                      <a:srgbClr val="00B0F0"/>
                    </a:solidFill>
                  </a:rPr>
                  <a:t>3.</a:t>
                </a:r>
                <a:r>
                  <a:rPr lang="zh-CN" altLang="zh-CN" b="1" dirty="0">
                    <a:solidFill>
                      <a:srgbClr val="00B0F0"/>
                    </a:solidFill>
                  </a:rPr>
                  <a:t>简述下</a:t>
                </a:r>
                <a:r>
                  <a:rPr lang="en-US" altLang="zh-CN" b="1" dirty="0">
                    <a:solidFill>
                      <a:srgbClr val="00B0F0"/>
                    </a:solidFill>
                  </a:rPr>
                  <a:t>bp</a:t>
                </a:r>
                <a:r>
                  <a:rPr lang="zh-CN" altLang="zh-CN" b="1" dirty="0">
                    <a:solidFill>
                      <a:srgbClr val="00B0F0"/>
                    </a:solidFill>
                  </a:rPr>
                  <a:t>神经网络的训练过程</a:t>
                </a:r>
                <a:endParaRPr lang="en-US" altLang="zh-CN" b="1" dirty="0">
                  <a:solidFill>
                    <a:srgbClr val="00B0F0"/>
                  </a:solidFill>
                </a:endParaRPr>
              </a:p>
              <a:p>
                <a:r>
                  <a:rPr lang="zh-CN" altLang="en-US" sz="1400" b="1" dirty="0"/>
                  <a:t>初始化网络</a:t>
                </a:r>
                <a:br>
                  <a:rPr lang="zh-CN" altLang="en-US" sz="1400" dirty="0"/>
                </a:br>
                <a:r>
                  <a:rPr lang="zh-CN" altLang="en-US" sz="1400" dirty="0"/>
                  <a:t>随机初始化各层神经元的权重 </a:t>
                </a:r>
                <a14:m>
                  <m:oMath xmlns:m="http://schemas.openxmlformats.org/officeDocument/2006/math">
                    <m:r>
                      <a:rPr lang="zh-CN" altLang="en-US" sz="1400" i="1">
                        <a:latin typeface="Cambria Math" panose="02040503050406030204" pitchFamily="18" charset="0"/>
                      </a:rPr>
                      <m:t>𝑤</m:t>
                    </m:r>
                  </m:oMath>
                </a14:m>
                <a:r>
                  <a:rPr lang="zh-CN" altLang="en-US" sz="1400" dirty="0"/>
                  <a:t> 和偏置 </a:t>
                </a:r>
                <a14:m>
                  <m:oMath xmlns:m="http://schemas.openxmlformats.org/officeDocument/2006/math">
                    <m:r>
                      <a:rPr lang="zh-CN" altLang="en-US" sz="1400" i="1">
                        <a:latin typeface="Cambria Math" panose="02040503050406030204" pitchFamily="18" charset="0"/>
                      </a:rPr>
                      <m:t>𝑏</m:t>
                    </m:r>
                  </m:oMath>
                </a14:m>
                <a:r>
                  <a:rPr lang="zh-CN" altLang="en-US" sz="1400" dirty="0"/>
                  <a:t>（通常取小的随机数）。</a:t>
                </a:r>
              </a:p>
              <a:p>
                <a:r>
                  <a:rPr lang="zh-CN" altLang="en-US" sz="1400" b="1" dirty="0"/>
                  <a:t>前向传播</a:t>
                </a:r>
                <a:br>
                  <a:rPr lang="zh-CN" altLang="en-US" sz="1400" dirty="0"/>
                </a:br>
                <a:r>
                  <a:rPr lang="zh-CN" altLang="en-US" sz="1400" dirty="0"/>
                  <a:t>将训练样本输入网络，逐层计算每个神经元的输出，直到得到最终预测值 </a:t>
                </a:r>
                <a14:m>
                  <m:oMath xmlns:m="http://schemas.openxmlformats.org/officeDocument/2006/math">
                    <m:acc>
                      <m:accPr>
                        <m:chr m:val="̂"/>
                        <m:ctrlPr>
                          <a:rPr lang="ar-AE" altLang="zh-CN" sz="1400" i="1">
                            <a:latin typeface="Cambria Math" panose="02040503050406030204" pitchFamily="18" charset="0"/>
                          </a:rPr>
                        </m:ctrlPr>
                      </m:accPr>
                      <m:e>
                        <m:r>
                          <a:rPr lang="zh-CN" altLang="ar-AE" sz="1400" i="1">
                            <a:latin typeface="Cambria Math" panose="02040503050406030204" pitchFamily="18" charset="0"/>
                          </a:rPr>
                          <m:t>𝑦</m:t>
                        </m:r>
                      </m:e>
                    </m:acc>
                  </m:oMath>
                </a14:m>
                <a:r>
                  <a:rPr lang="zh-CN" altLang="ar-AE" sz="1400" dirty="0"/>
                  <a:t>。</a:t>
                </a:r>
                <a:endParaRPr lang="en-US" altLang="zh-CN" sz="1400" dirty="0"/>
              </a:p>
              <a:p>
                <a:r>
                  <a:rPr lang="zh-CN" altLang="en-US" sz="1400" b="1" dirty="0"/>
                  <a:t>计算损失</a:t>
                </a:r>
                <a:br>
                  <a:rPr lang="zh-CN" altLang="en-US" sz="1400" dirty="0"/>
                </a:br>
                <a:r>
                  <a:rPr lang="zh-CN" altLang="en-US" sz="1400" dirty="0"/>
                  <a:t>根据预测值 </a:t>
                </a:r>
                <a14:m>
                  <m:oMath xmlns:m="http://schemas.openxmlformats.org/officeDocument/2006/math">
                    <m:acc>
                      <m:accPr>
                        <m:chr m:val="̂"/>
                        <m:ctrlPr>
                          <a:rPr lang="ar-AE" altLang="zh-CN" sz="1400" i="1">
                            <a:latin typeface="Cambria Math" panose="02040503050406030204" pitchFamily="18" charset="0"/>
                          </a:rPr>
                        </m:ctrlPr>
                      </m:accPr>
                      <m:e>
                        <m:r>
                          <a:rPr lang="zh-CN" altLang="ar-AE" sz="1400" i="1">
                            <a:latin typeface="Cambria Math" panose="02040503050406030204" pitchFamily="18" charset="0"/>
                          </a:rPr>
                          <m:t>𝑦</m:t>
                        </m:r>
                      </m:e>
                    </m:acc>
                  </m:oMath>
                </a14:m>
                <a:r>
                  <a:rPr lang="ar-AE" altLang="zh-CN" sz="1400" dirty="0"/>
                  <a:t> </a:t>
                </a:r>
                <a:r>
                  <a:rPr lang="zh-CN" altLang="en-US" sz="1400" dirty="0"/>
                  <a:t>与真实标签 </a:t>
                </a:r>
                <a14:m>
                  <m:oMath xmlns:m="http://schemas.openxmlformats.org/officeDocument/2006/math">
                    <m:r>
                      <a:rPr lang="zh-CN" altLang="en-US" sz="1400" i="1">
                        <a:latin typeface="Cambria Math" panose="02040503050406030204" pitchFamily="18" charset="0"/>
                      </a:rPr>
                      <m:t>𝑦</m:t>
                    </m:r>
                  </m:oMath>
                </a14:m>
                <a:r>
                  <a:rPr lang="zh-CN" altLang="en-US" sz="1400" dirty="0"/>
                  <a:t> 计算损失函数 </a:t>
                </a:r>
                <a14:m>
                  <m:oMath xmlns:m="http://schemas.openxmlformats.org/officeDocument/2006/math">
                    <m:r>
                      <a:rPr lang="zh-CN" altLang="en-US" sz="1400" i="1">
                        <a:latin typeface="Cambria Math" panose="02040503050406030204" pitchFamily="18" charset="0"/>
                      </a:rPr>
                      <m:t>𝐿</m:t>
                    </m:r>
                  </m:oMath>
                </a14:m>
                <a:r>
                  <a:rPr lang="zh-CN" altLang="en-US" sz="1400" dirty="0"/>
                  <a:t>（如均方误差或交叉熵）。</a:t>
                </a:r>
              </a:p>
              <a:p>
                <a:r>
                  <a:rPr lang="zh-CN" altLang="en-US" sz="1400" b="1" dirty="0"/>
                  <a:t>反向传播</a:t>
                </a:r>
                <a:br>
                  <a:rPr lang="zh-CN" altLang="en-US" sz="1400" dirty="0"/>
                </a:br>
                <a:r>
                  <a:rPr lang="zh-CN" altLang="en-US" sz="1400" dirty="0"/>
                  <a:t>从输出层向输入层反向计算损失函数对各层权重、偏置的梯度</a:t>
                </a:r>
                <a:endParaRPr lang="ar-AE" altLang="zh-CN" sz="1400" dirty="0"/>
              </a:p>
              <a:p>
                <a:r>
                  <a:rPr lang="zh-CN" altLang="en-US" sz="1400" b="1" dirty="0"/>
                  <a:t>更新参数</a:t>
                </a:r>
                <a:br>
                  <a:rPr lang="zh-CN" altLang="en-US" sz="1400" dirty="0"/>
                </a:br>
                <a:r>
                  <a:rPr lang="zh-CN" altLang="en-US" sz="1400" dirty="0"/>
                  <a:t>使用梯度下降（或其变体）更新权重和偏置：</a:t>
                </a:r>
                <a:endParaRPr lang="en-US" altLang="zh-CN" sz="1400" dirty="0"/>
              </a:p>
              <a:p>
                <a:r>
                  <a:rPr lang="zh-CN" altLang="en-US" sz="1400" b="1" dirty="0"/>
                  <a:t>重复迭代</a:t>
                </a:r>
                <a:br>
                  <a:rPr lang="zh-CN" altLang="en-US" sz="1400" dirty="0"/>
                </a:br>
                <a:r>
                  <a:rPr lang="zh-CN" altLang="en-US" sz="1400" dirty="0"/>
                  <a:t>对训练集中的所有样本（或按 </a:t>
                </a:r>
                <a:r>
                  <a:rPr lang="en-US" altLang="zh-CN" sz="1400" dirty="0"/>
                  <a:t>mini-batch</a:t>
                </a:r>
                <a:r>
                  <a:rPr lang="zh-CN" altLang="en-US" sz="1400" dirty="0"/>
                  <a:t>）重复步骤 </a:t>
                </a:r>
                <a:r>
                  <a:rPr lang="en-US" altLang="zh-CN" sz="1400" dirty="0"/>
                  <a:t>2-5</a:t>
                </a:r>
                <a:r>
                  <a:rPr lang="zh-CN" altLang="en-US" sz="1400" dirty="0"/>
                  <a:t>，直到损失收敛或达到预设轮数（</a:t>
                </a:r>
                <a:r>
                  <a:rPr lang="en-US" altLang="zh-CN" sz="1400" dirty="0"/>
                  <a:t>epoch</a:t>
                </a:r>
                <a:r>
                  <a:rPr lang="zh-CN" altLang="en-US" sz="1400" dirty="0"/>
                  <a:t>）。</a:t>
                </a:r>
                <a:endParaRPr lang="zh-CN" altLang="en-US" b="1" dirty="0">
                  <a:solidFill>
                    <a:srgbClr val="00B0F0"/>
                  </a:solidFill>
                </a:endParaRPr>
              </a:p>
              <a:p>
                <a:r>
                  <a:rPr lang="en-US" altLang="zh-CN" b="1" dirty="0">
                    <a:solidFill>
                      <a:srgbClr val="FF0000"/>
                    </a:solidFill>
                  </a:rPr>
                  <a:t>p104</a:t>
                </a:r>
                <a:endParaRPr lang="zh-CN" altLang="en-US" b="1" dirty="0">
                  <a:solidFill>
                    <a:srgbClr val="FF0000"/>
                  </a:solidFill>
                </a:endParaRPr>
              </a:p>
            </p:txBody>
          </p:sp>
        </mc:Choice>
        <mc:Fallback xmlns="">
          <p:sp>
            <p:nvSpPr>
              <p:cNvPr id="2" name="文本框 1">
                <a:extLst>
                  <a:ext uri="{FF2B5EF4-FFF2-40B4-BE49-F238E27FC236}">
                    <a16:creationId xmlns:a16="http://schemas.microsoft.com/office/drawing/2014/main" id="{330EB275-CD3A-CF7E-53BC-CDC2CE7A80D7}"/>
                  </a:ext>
                </a:extLst>
              </p:cNvPr>
              <p:cNvSpPr txBox="1">
                <a:spLocks noRot="1" noChangeAspect="1" noMove="1" noResize="1" noEditPoints="1" noAdjustHandles="1" noChangeArrowheads="1" noChangeShapeType="1" noTextEdit="1"/>
              </p:cNvSpPr>
              <p:nvPr/>
            </p:nvSpPr>
            <p:spPr>
              <a:xfrm>
                <a:off x="608400" y="1235035"/>
                <a:ext cx="10699667" cy="5589351"/>
              </a:xfrm>
              <a:prstGeom prst="rect">
                <a:avLst/>
              </a:prstGeom>
              <a:blipFill>
                <a:blip r:embed="rId2"/>
                <a:stretch>
                  <a:fillRect l="-513" t="-655" r="-456" b="-98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0914620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F5C852-41D3-A389-BF92-544D035CD46A}"/>
            </a:ext>
          </a:extLst>
        </p:cNvPr>
        <p:cNvGrpSpPr/>
        <p:nvPr/>
      </p:nvGrpSpPr>
      <p:grpSpPr>
        <a:xfrm>
          <a:off x="0" y="0"/>
          <a:ext cx="0" cy="0"/>
          <a:chOff x="0" y="0"/>
          <a:chExt cx="0" cy="0"/>
        </a:xfrm>
      </p:grpSpPr>
      <p:sp>
        <p:nvSpPr>
          <p:cNvPr id="20" name="文本框">
            <a:extLst>
              <a:ext uri="{FF2B5EF4-FFF2-40B4-BE49-F238E27FC236}">
                <a16:creationId xmlns:a16="http://schemas.microsoft.com/office/drawing/2014/main" id="{1AAB6014-88E0-DDBC-9E56-6430E110889B}"/>
              </a:ext>
            </a:extLst>
          </p:cNvPr>
          <p:cNvSpPr>
            <a:spLocks noGrp="1"/>
          </p:cNvSpPr>
          <p:nvPr>
            <p:ph type="title"/>
          </p:nvPr>
        </p:nvSpPr>
        <p:spPr>
          <a:xfrm>
            <a:off x="608400" y="608400"/>
            <a:ext cx="10969201" cy="705599"/>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marL="0" indent="0" algn="l">
              <a:lnSpc>
                <a:spcPct val="100000"/>
              </a:lnSpc>
              <a:spcBef>
                <a:spcPts val="0"/>
              </a:spcBef>
              <a:spcAft>
                <a:spcPts val="0"/>
              </a:spcAft>
              <a:buNone/>
            </a:pPr>
            <a:r>
              <a:rPr lang="zh-CN" altLang="en-US" sz="3600" b="1" i="0" u="none" strike="noStrike" kern="1200" cap="none" spc="300" baseline="0" dirty="0">
                <a:solidFill>
                  <a:srgbClr val="262626"/>
                </a:solidFill>
                <a:latin typeface="Arial" charset="0"/>
                <a:ea typeface="微软雅黑" charset="0"/>
                <a:cs typeface="Lucida Sans"/>
              </a:rPr>
              <a:t>题型</a:t>
            </a:r>
            <a:r>
              <a:rPr lang="en-US" altLang="zh-CN" dirty="0">
                <a:cs typeface="Lucida Sans"/>
              </a:rPr>
              <a:t>2</a:t>
            </a:r>
            <a:r>
              <a:rPr lang="en-US" altLang="zh-CN" sz="3600" b="1" i="0" u="none" strike="noStrike" kern="1200" cap="none" spc="300" baseline="0" dirty="0">
                <a:solidFill>
                  <a:srgbClr val="262626"/>
                </a:solidFill>
                <a:latin typeface="Arial" charset="0"/>
                <a:ea typeface="微软雅黑" charset="0"/>
                <a:cs typeface="Lucida Sans"/>
              </a:rPr>
              <a:t> </a:t>
            </a:r>
            <a:r>
              <a:rPr lang="zh-CN" altLang="en-US" sz="3600" b="1" i="0" u="none" strike="noStrike" kern="1200" cap="none" spc="300" baseline="0" dirty="0">
                <a:solidFill>
                  <a:srgbClr val="262626"/>
                </a:solidFill>
                <a:latin typeface="Arial" charset="0"/>
                <a:ea typeface="微软雅黑" charset="0"/>
                <a:cs typeface="Lucida Sans"/>
              </a:rPr>
              <a:t>：</a:t>
            </a:r>
            <a:r>
              <a:rPr lang="en-US" altLang="zh-CN" sz="3600" b="1" i="0" u="none" strike="noStrike" kern="1200" cap="none" spc="300" baseline="0" dirty="0">
                <a:solidFill>
                  <a:srgbClr val="262626"/>
                </a:solidFill>
                <a:latin typeface="Arial" charset="0"/>
                <a:ea typeface="微软雅黑" charset="0"/>
                <a:cs typeface="Lucida Sans"/>
              </a:rPr>
              <a:t> </a:t>
            </a:r>
            <a:r>
              <a:rPr lang="zh-CN" altLang="en-US" sz="3600" b="1" i="0" u="none" strike="noStrike" kern="1200" cap="none" spc="300" baseline="0" dirty="0">
                <a:solidFill>
                  <a:srgbClr val="262626"/>
                </a:solidFill>
                <a:latin typeface="Arial" charset="0"/>
                <a:ea typeface="微软雅黑" charset="0"/>
                <a:cs typeface="Lucida Sans"/>
              </a:rPr>
              <a:t>简答题</a:t>
            </a:r>
            <a:r>
              <a:rPr lang="en-US" altLang="zh-CN" sz="3600" b="1" i="0" u="none" strike="noStrike" kern="1200" cap="none" spc="300" baseline="0" dirty="0">
                <a:solidFill>
                  <a:srgbClr val="262626"/>
                </a:solidFill>
                <a:latin typeface="Arial" charset="0"/>
                <a:ea typeface="微软雅黑" charset="0"/>
                <a:cs typeface="Lucida Sans"/>
              </a:rPr>
              <a:t> </a:t>
            </a:r>
            <a:endParaRPr lang="zh-CN" altLang="en-US" sz="3600" b="1" i="0" u="none" strike="noStrike" kern="1200" cap="none" spc="300" baseline="0" dirty="0">
              <a:solidFill>
                <a:srgbClr val="262626"/>
              </a:solidFill>
              <a:latin typeface="Arial" charset="0"/>
              <a:ea typeface="微软雅黑" charset="0"/>
              <a:cs typeface="Lucida Sans"/>
            </a:endParaRP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7226832D-8B2F-BBC5-F3FB-CE37626967AD}"/>
                  </a:ext>
                </a:extLst>
              </p:cNvPr>
              <p:cNvSpPr txBox="1"/>
              <p:nvPr/>
            </p:nvSpPr>
            <p:spPr>
              <a:xfrm>
                <a:off x="743166" y="1573481"/>
                <a:ext cx="10699667" cy="2145459"/>
              </a:xfrm>
              <a:prstGeom prst="rect">
                <a:avLst/>
              </a:prstGeom>
              <a:noFill/>
            </p:spPr>
            <p:txBody>
              <a:bodyPr wrap="square" rtlCol="0">
                <a:spAutoFit/>
              </a:bodyPr>
              <a:lstStyle/>
              <a:p>
                <a:r>
                  <a:rPr lang="en-US" altLang="zh-CN" b="1" dirty="0">
                    <a:solidFill>
                      <a:srgbClr val="00B0F0"/>
                    </a:solidFill>
                  </a:rPr>
                  <a:t>4.</a:t>
                </a:r>
                <a:r>
                  <a:rPr lang="zh-CN" altLang="zh-CN" b="1" dirty="0">
                    <a:solidFill>
                      <a:srgbClr val="00B0F0"/>
                    </a:solidFill>
                  </a:rPr>
                  <a:t>说明支持向量机的基本原理</a:t>
                </a:r>
                <a:endParaRPr lang="en-US" altLang="zh-CN" b="1" dirty="0">
                  <a:solidFill>
                    <a:srgbClr val="00B0F0"/>
                  </a:solidFill>
                </a:endParaRPr>
              </a:p>
              <a:p>
                <a:r>
                  <a:rPr lang="zh-CN" altLang="en-US" dirty="0"/>
                  <a:t>在特征空间中寻找一个最优超平面，使得不同类别样本之间的</a:t>
                </a:r>
                <a:r>
                  <a:rPr lang="zh-CN" altLang="en-US" b="1" dirty="0"/>
                  <a:t>间隔最大化</a:t>
                </a:r>
                <a:r>
                  <a:rPr lang="zh-CN" altLang="en-US" dirty="0"/>
                  <a:t>，从而提升泛化能力。对于线性可分数据，通过硬间隔优化求解 </a:t>
                </a:r>
                <a14:m>
                  <m:oMath xmlns:m="http://schemas.openxmlformats.org/officeDocument/2006/math">
                    <m:func>
                      <m:funcPr>
                        <m:ctrlPr>
                          <a:rPr lang="zh-CN" altLang="en-US" i="1">
                            <a:latin typeface="Cambria Math" panose="02040503050406030204" pitchFamily="18" charset="0"/>
                          </a:rPr>
                        </m:ctrlPr>
                      </m:funcPr>
                      <m:fName>
                        <m:r>
                          <m:rPr>
                            <m:sty m:val="p"/>
                          </m:rPr>
                          <a:rPr lang="en-US" altLang="zh-CN">
                            <a:latin typeface="Cambria Math" panose="02040503050406030204" pitchFamily="18" charset="0"/>
                          </a:rPr>
                          <m:t>min</m:t>
                        </m:r>
                      </m:fName>
                      <m:e>
                        <m:f>
                          <m:fPr>
                            <m:ctrlPr>
                              <a:rPr lang="zh-CN" altLang="en-US" i="1">
                                <a:latin typeface="Cambria Math" panose="02040503050406030204" pitchFamily="18" charset="0"/>
                              </a:rPr>
                            </m:ctrlPr>
                          </m:fPr>
                          <m:num>
                            <m:r>
                              <a:rPr lang="en-US" altLang="zh-CN">
                                <a:latin typeface="Cambria Math" panose="02040503050406030204" pitchFamily="18" charset="0"/>
                              </a:rPr>
                              <m:t>1</m:t>
                            </m:r>
                          </m:num>
                          <m:den>
                            <m:r>
                              <a:rPr lang="en-US" altLang="zh-CN">
                                <a:latin typeface="Cambria Math" panose="02040503050406030204" pitchFamily="18" charset="0"/>
                              </a:rPr>
                              <m:t>2</m:t>
                            </m:r>
                          </m:den>
                        </m:f>
                      </m:e>
                    </m:func>
                    <m:r>
                      <a:rPr lang="zh-CN" altLang="en-US">
                        <a:latin typeface="Cambria Math" panose="02040503050406030204" pitchFamily="18" charset="0"/>
                      </a:rPr>
                      <m:t>∥</m:t>
                    </m:r>
                    <m:r>
                      <a:rPr lang="zh-CN" altLang="en-US" i="1">
                        <a:latin typeface="Cambria Math" panose="02040503050406030204" pitchFamily="18" charset="0"/>
                      </a:rPr>
                      <m:t>𝑤</m:t>
                    </m:r>
                    <m:sSup>
                      <m:sSupPr>
                        <m:ctrlPr>
                          <a:rPr lang="zh-CN" altLang="en-US" i="1">
                            <a:latin typeface="Cambria Math" panose="02040503050406030204" pitchFamily="18" charset="0"/>
                          </a:rPr>
                        </m:ctrlPr>
                      </m:sSupPr>
                      <m:e>
                        <m:r>
                          <a:rPr lang="zh-CN" altLang="en-US">
                            <a:latin typeface="Cambria Math" panose="02040503050406030204" pitchFamily="18" charset="0"/>
                          </a:rPr>
                          <m:t>∥</m:t>
                        </m:r>
                      </m:e>
                      <m:sup>
                        <m:r>
                          <a:rPr lang="en-US" altLang="zh-CN">
                            <a:latin typeface="Cambria Math" panose="02040503050406030204" pitchFamily="18" charset="0"/>
                          </a:rPr>
                          <m:t>2</m:t>
                        </m:r>
                      </m:sup>
                    </m:sSup>
                  </m:oMath>
                </a14:m>
                <a:r>
                  <a:rPr lang="zh-CN" altLang="en-US" dirty="0"/>
                  <a:t> 得到唯一超平面；对于线性不可分情况，引入软间隔和惩罚参数 </a:t>
                </a:r>
                <a14:m>
                  <m:oMath xmlns:m="http://schemas.openxmlformats.org/officeDocument/2006/math">
                    <m:r>
                      <a:rPr lang="zh-CN" altLang="en-US" i="1">
                        <a:latin typeface="Cambria Math" panose="02040503050406030204" pitchFamily="18" charset="0"/>
                      </a:rPr>
                      <m:t>𝐶</m:t>
                    </m:r>
                  </m:oMath>
                </a14:m>
                <a:r>
                  <a:rPr lang="zh-CN" altLang="en-US" dirty="0"/>
                  <a:t> 允许少量误分类；对于非线性问题，利用</a:t>
                </a:r>
                <a:r>
                  <a:rPr lang="zh-CN" altLang="en-US" b="1" dirty="0"/>
                  <a:t>核函数</a:t>
                </a:r>
                <a:r>
                  <a:rPr lang="zh-CN" altLang="en-US" dirty="0"/>
                  <a:t>将样本隐式映射到高维空间，使原本线性不可分的数据变得可分。最终决策函数仅由少数</a:t>
                </a:r>
                <a:r>
                  <a:rPr lang="zh-CN" altLang="en-US" b="1" dirty="0"/>
                  <a:t>支持向量</a:t>
                </a:r>
                <a:r>
                  <a:rPr lang="zh-CN" altLang="en-US" dirty="0"/>
                  <a:t>（位于间隔边界上的样本）决定，模型具有稀疏性和良好的鲁棒性。</a:t>
                </a:r>
                <a:endParaRPr lang="en-US" altLang="zh-CN" b="1" dirty="0">
                  <a:solidFill>
                    <a:srgbClr val="00B0F0"/>
                  </a:solidFill>
                </a:endParaRPr>
              </a:p>
              <a:p>
                <a:r>
                  <a:rPr lang="en-US" altLang="zh-CN" b="1" dirty="0">
                    <a:solidFill>
                      <a:srgbClr val="00B0F0"/>
                    </a:solidFill>
                  </a:rPr>
                  <a:t>P121-123</a:t>
                </a:r>
                <a:endParaRPr lang="zh-CN" altLang="zh-CN" b="1" dirty="0">
                  <a:solidFill>
                    <a:srgbClr val="00B0F0"/>
                  </a:solidFill>
                </a:endParaRPr>
              </a:p>
            </p:txBody>
          </p:sp>
        </mc:Choice>
        <mc:Fallback xmlns="">
          <p:sp>
            <p:nvSpPr>
              <p:cNvPr id="2" name="文本框 1">
                <a:extLst>
                  <a:ext uri="{FF2B5EF4-FFF2-40B4-BE49-F238E27FC236}">
                    <a16:creationId xmlns:a16="http://schemas.microsoft.com/office/drawing/2014/main" id="{7226832D-8B2F-BBC5-F3FB-CE37626967AD}"/>
                  </a:ext>
                </a:extLst>
              </p:cNvPr>
              <p:cNvSpPr txBox="1">
                <a:spLocks noRot="1" noChangeAspect="1" noMove="1" noResize="1" noEditPoints="1" noAdjustHandles="1" noChangeArrowheads="1" noChangeShapeType="1" noTextEdit="1"/>
              </p:cNvSpPr>
              <p:nvPr/>
            </p:nvSpPr>
            <p:spPr>
              <a:xfrm>
                <a:off x="743166" y="1573481"/>
                <a:ext cx="10699667" cy="2145459"/>
              </a:xfrm>
              <a:prstGeom prst="rect">
                <a:avLst/>
              </a:prstGeom>
              <a:blipFill>
                <a:blip r:embed="rId2"/>
                <a:stretch>
                  <a:fillRect l="-513" t="-1420" r="-456" b="-369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1276905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 name="文本框"/>
          <p:cNvSpPr>
            <a:spLocks noGrp="1"/>
          </p:cNvSpPr>
          <p:nvPr>
            <p:ph type="title"/>
          </p:nvPr>
        </p:nvSpPr>
        <p:spPr>
          <a:xfrm>
            <a:off x="608400" y="608400"/>
            <a:ext cx="10969201" cy="705599"/>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marL="0" indent="0" algn="l">
              <a:lnSpc>
                <a:spcPct val="100000"/>
              </a:lnSpc>
              <a:spcBef>
                <a:spcPts val="0"/>
              </a:spcBef>
              <a:spcAft>
                <a:spcPts val="0"/>
              </a:spcAft>
              <a:buNone/>
            </a:pPr>
            <a:r>
              <a:rPr lang="zh-CN" altLang="en-US" sz="3600" b="1" i="0" u="none" strike="noStrike" kern="1200" cap="none" spc="300" baseline="0" dirty="0">
                <a:solidFill>
                  <a:srgbClr val="262626"/>
                </a:solidFill>
                <a:latin typeface="Arial" charset="0"/>
                <a:ea typeface="微软雅黑" charset="0"/>
                <a:cs typeface="Lucida Sans"/>
              </a:rPr>
              <a:t>题型</a:t>
            </a:r>
            <a:r>
              <a:rPr lang="en-US" altLang="zh-CN" dirty="0">
                <a:cs typeface="Lucida Sans"/>
              </a:rPr>
              <a:t>3</a:t>
            </a:r>
            <a:r>
              <a:rPr lang="zh-CN" altLang="en-US" sz="3600" b="1" i="0" u="none" strike="noStrike" kern="1200" cap="none" spc="300" baseline="0" dirty="0">
                <a:solidFill>
                  <a:srgbClr val="262626"/>
                </a:solidFill>
                <a:latin typeface="Arial" charset="0"/>
                <a:ea typeface="微软雅黑" charset="0"/>
                <a:cs typeface="Lucida Sans"/>
              </a:rPr>
              <a:t>：</a:t>
            </a:r>
            <a:r>
              <a:rPr lang="en-US" altLang="zh-CN" sz="3600" b="1" i="0" u="none" strike="noStrike" kern="1200" cap="none" spc="300" baseline="0" dirty="0">
                <a:solidFill>
                  <a:srgbClr val="262626"/>
                </a:solidFill>
                <a:latin typeface="Arial" charset="0"/>
                <a:ea typeface="微软雅黑" charset="0"/>
                <a:cs typeface="Lucida Sans"/>
              </a:rPr>
              <a:t> </a:t>
            </a:r>
            <a:r>
              <a:rPr lang="zh-CN" altLang="en-US" sz="3600" b="1" i="0" u="none" strike="noStrike" kern="1200" cap="none" spc="300" baseline="0" dirty="0">
                <a:solidFill>
                  <a:srgbClr val="262626"/>
                </a:solidFill>
                <a:latin typeface="Arial" charset="0"/>
                <a:ea typeface="微软雅黑" charset="0"/>
                <a:cs typeface="Lucida Sans"/>
              </a:rPr>
              <a:t>计算题</a:t>
            </a:r>
          </a:p>
        </p:txBody>
      </p:sp>
      <p:sp>
        <p:nvSpPr>
          <p:cNvPr id="28" name="矩形"/>
          <p:cNvSpPr>
            <a:spLocks/>
          </p:cNvSpPr>
          <p:nvPr/>
        </p:nvSpPr>
        <p:spPr>
          <a:xfrm>
            <a:off x="731520" y="1988820"/>
            <a:ext cx="4063999" cy="2758440"/>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zh-CN" altLang="en-US" sz="1800" b="0" i="0" u="none" strike="noStrike" kern="1200" cap="none" spc="0" baseline="0">
                <a:solidFill>
                  <a:schemeClr val="tx1"/>
                </a:solidFill>
                <a:latin typeface="Arial" charset="0"/>
                <a:ea typeface="微软雅黑" charset="0"/>
                <a:cs typeface="Arial" charset="0"/>
              </a:rPr>
              <a:t>会考一些典型的算法，计算量很小</a:t>
            </a:r>
            <a:endParaRPr lang="en-US" altLang="zh-CN" sz="1800" b="0" i="0" u="none" strike="noStrike" kern="1200" cap="none" spc="0" baseline="0">
              <a:solidFill>
                <a:schemeClr val="tx1"/>
              </a:solidFill>
              <a:latin typeface="Arial" charset="0"/>
              <a:ea typeface="微软雅黑" charset="0"/>
              <a:cs typeface="Arial" charset="0"/>
            </a:endParaRPr>
          </a:p>
          <a:p>
            <a:pPr marL="0" indent="0" algn="l">
              <a:lnSpc>
                <a:spcPct val="100000"/>
              </a:lnSpc>
              <a:spcBef>
                <a:spcPts val="0"/>
              </a:spcBef>
              <a:spcAft>
                <a:spcPts val="0"/>
              </a:spcAft>
              <a:buNone/>
            </a:pPr>
            <a:endParaRPr lang="en-US" altLang="zh-CN" sz="1800" b="0" i="0" u="none" strike="noStrike" kern="1200" cap="none" spc="0" baseline="0">
              <a:solidFill>
                <a:schemeClr val="tx1"/>
              </a:solidFill>
              <a:latin typeface="Arial" charset="0"/>
              <a:ea typeface="微软雅黑" charset="0"/>
              <a:cs typeface="Arial" charset="0"/>
            </a:endParaRPr>
          </a:p>
          <a:p>
            <a:pPr marL="0" indent="0" algn="l">
              <a:lnSpc>
                <a:spcPct val="100000"/>
              </a:lnSpc>
              <a:spcBef>
                <a:spcPts val="0"/>
              </a:spcBef>
              <a:spcAft>
                <a:spcPts val="0"/>
              </a:spcAft>
              <a:buNone/>
            </a:pPr>
            <a:endParaRPr lang="en-US" altLang="zh-CN" sz="1800" b="0" i="0" u="none" strike="noStrike" kern="1200" cap="none" spc="0" baseline="0">
              <a:solidFill>
                <a:schemeClr val="tx1"/>
              </a:solidFill>
              <a:latin typeface="Arial" charset="0"/>
              <a:ea typeface="微软雅黑" charset="0"/>
              <a:cs typeface="Arial" charset="0"/>
            </a:endParaRPr>
          </a:p>
          <a:p>
            <a:pPr marL="0" indent="0" algn="l">
              <a:lnSpc>
                <a:spcPct val="100000"/>
              </a:lnSpc>
              <a:spcBef>
                <a:spcPts val="0"/>
              </a:spcBef>
              <a:spcAft>
                <a:spcPts val="0"/>
              </a:spcAft>
              <a:buNone/>
            </a:pPr>
            <a:r>
              <a:rPr lang="en-US" altLang="zh-CN" sz="1800" b="0" i="0" u="none" strike="noStrike" kern="1200" cap="none" spc="0" baseline="0">
                <a:solidFill>
                  <a:schemeClr val="tx1"/>
                </a:solidFill>
                <a:latin typeface="Arial" charset="0"/>
                <a:ea typeface="微软雅黑" charset="0"/>
                <a:cs typeface="Arial" charset="0"/>
                <a:sym typeface="微软雅黑" charset="0"/>
              </a:rPr>
              <a:t>K-means</a:t>
            </a:r>
          </a:p>
          <a:p>
            <a:pPr marL="0" indent="0" algn="l">
              <a:lnSpc>
                <a:spcPct val="100000"/>
              </a:lnSpc>
              <a:spcBef>
                <a:spcPts val="0"/>
              </a:spcBef>
              <a:spcAft>
                <a:spcPts val="0"/>
              </a:spcAft>
              <a:buNone/>
            </a:pPr>
            <a:r>
              <a:rPr lang="en-US" altLang="zh-CN" sz="1800" b="0" i="0" u="none" strike="noStrike" kern="1200" cap="none" spc="0" baseline="0">
                <a:solidFill>
                  <a:schemeClr val="tx1"/>
                </a:solidFill>
                <a:latin typeface="Arial" charset="0"/>
                <a:ea typeface="微软雅黑" charset="0"/>
                <a:cs typeface="Arial" charset="0"/>
                <a:sym typeface="微软雅黑" charset="0"/>
              </a:rPr>
              <a:t>K最邻近</a:t>
            </a:r>
          </a:p>
          <a:p>
            <a:pPr marL="0" indent="0" algn="l">
              <a:lnSpc>
                <a:spcPct val="100000"/>
              </a:lnSpc>
              <a:spcBef>
                <a:spcPts val="0"/>
              </a:spcBef>
              <a:spcAft>
                <a:spcPts val="0"/>
              </a:spcAft>
              <a:buNone/>
            </a:pPr>
            <a:r>
              <a:rPr lang="zh-CN" altLang="en-US" sz="1800" b="0" i="0" u="none" strike="noStrike" kern="1200" cap="none" spc="0" baseline="0">
                <a:solidFill>
                  <a:schemeClr val="tx1"/>
                </a:solidFill>
                <a:latin typeface="Arial" charset="0"/>
                <a:ea typeface="微软雅黑" charset="0"/>
                <a:cs typeface="Arial" charset="0"/>
                <a:sym typeface="微软雅黑" charset="0"/>
              </a:rPr>
              <a:t>线性（逻辑）回归算法</a:t>
            </a:r>
            <a:endParaRPr lang="en-US" altLang="zh-CN" sz="1800" b="0" i="0" u="none" strike="noStrike" kern="1200" cap="none" spc="0" baseline="0">
              <a:solidFill>
                <a:schemeClr val="tx1"/>
              </a:solidFill>
              <a:latin typeface="Arial" charset="0"/>
              <a:ea typeface="微软雅黑" charset="0"/>
              <a:cs typeface="Arial" charset="0"/>
              <a:sym typeface="微软雅黑" charset="0"/>
            </a:endParaRPr>
          </a:p>
          <a:p>
            <a:pPr marL="0" indent="0" algn="l">
              <a:lnSpc>
                <a:spcPct val="100000"/>
              </a:lnSpc>
              <a:spcBef>
                <a:spcPts val="0"/>
              </a:spcBef>
              <a:spcAft>
                <a:spcPts val="0"/>
              </a:spcAft>
              <a:buNone/>
            </a:pPr>
            <a:r>
              <a:rPr lang="zh-CN" altLang="en-US" sz="1800" b="0" i="0" u="none" strike="noStrike" kern="1200" cap="none" spc="0" baseline="0">
                <a:solidFill>
                  <a:schemeClr val="tx1"/>
                </a:solidFill>
                <a:latin typeface="Arial" charset="0"/>
                <a:ea typeface="微软雅黑" charset="0"/>
                <a:cs typeface="Arial" charset="0"/>
                <a:sym typeface="微软雅黑" charset="0"/>
              </a:rPr>
              <a:t>决策树算法</a:t>
            </a:r>
            <a:endParaRPr lang="en-US" altLang="zh-CN" sz="1800" b="0" i="0" u="none" strike="noStrike" kern="1200" cap="none" spc="0" baseline="0">
              <a:solidFill>
                <a:schemeClr val="tx1"/>
              </a:solidFill>
              <a:latin typeface="Arial" charset="0"/>
              <a:ea typeface="微软雅黑" charset="0"/>
              <a:cs typeface="Arial" charset="0"/>
              <a:sym typeface="微软雅黑" charset="0"/>
            </a:endParaRPr>
          </a:p>
          <a:p>
            <a:pPr marL="0" indent="0" algn="l">
              <a:lnSpc>
                <a:spcPct val="100000"/>
              </a:lnSpc>
              <a:spcBef>
                <a:spcPts val="0"/>
              </a:spcBef>
              <a:spcAft>
                <a:spcPts val="0"/>
              </a:spcAft>
              <a:buNone/>
            </a:pPr>
            <a:r>
              <a:rPr lang="en-US" altLang="zh-CN" sz="1800" b="0" i="0" u="none" strike="noStrike" kern="1200" cap="none" spc="0" baseline="0">
                <a:solidFill>
                  <a:schemeClr val="tx1"/>
                </a:solidFill>
                <a:latin typeface="Arial" charset="0"/>
                <a:ea typeface="微软雅黑" charset="0"/>
                <a:cs typeface="Arial" charset="0"/>
                <a:sym typeface="微软雅黑" charset="0"/>
              </a:rPr>
              <a:t>BP</a:t>
            </a:r>
            <a:r>
              <a:rPr lang="zh-CN" altLang="en-US" sz="1800" b="0" i="0" u="none" strike="noStrike" kern="1200" cap="none" spc="0" baseline="0">
                <a:solidFill>
                  <a:schemeClr val="tx1"/>
                </a:solidFill>
                <a:latin typeface="Arial" charset="0"/>
                <a:ea typeface="微软雅黑" charset="0"/>
                <a:cs typeface="Arial" charset="0"/>
                <a:sym typeface="微软雅黑" charset="0"/>
              </a:rPr>
              <a:t>算法</a:t>
            </a:r>
            <a:endParaRPr lang="en-US" altLang="zh-CN" sz="1800" b="0" i="0" u="none" strike="noStrike" kern="1200" cap="none" spc="0" baseline="0">
              <a:solidFill>
                <a:schemeClr val="tx1"/>
              </a:solidFill>
              <a:latin typeface="Arial" charset="0"/>
              <a:ea typeface="微软雅黑" charset="0"/>
              <a:cs typeface="Arial" charset="0"/>
              <a:sym typeface="微软雅黑" charset="0"/>
            </a:endParaRPr>
          </a:p>
          <a:p>
            <a:pPr marL="0" indent="0" algn="l">
              <a:lnSpc>
                <a:spcPct val="100000"/>
              </a:lnSpc>
              <a:spcBef>
                <a:spcPts val="0"/>
              </a:spcBef>
              <a:spcAft>
                <a:spcPts val="0"/>
              </a:spcAft>
              <a:buNone/>
            </a:pPr>
            <a:r>
              <a:rPr lang="zh-CN" altLang="en-US" sz="1800" b="0" i="0" u="none" strike="noStrike" kern="1200" cap="none" spc="0" baseline="0">
                <a:solidFill>
                  <a:schemeClr val="tx1"/>
                </a:solidFill>
                <a:latin typeface="Arial" charset="0"/>
                <a:ea typeface="微软雅黑" charset="0"/>
                <a:cs typeface="Arial" charset="0"/>
                <a:sym typeface="微软雅黑" charset="0"/>
              </a:rPr>
              <a:t>朴素贝叶斯</a:t>
            </a:r>
            <a:endParaRPr lang="en-US" altLang="zh-CN" sz="1800" b="0" i="0" u="none" strike="noStrike" kern="1200" cap="none" spc="0" baseline="0">
              <a:solidFill>
                <a:schemeClr val="tx1"/>
              </a:solidFill>
              <a:latin typeface="Arial" charset="0"/>
              <a:ea typeface="微软雅黑" charset="0"/>
              <a:cs typeface="Arial" charset="0"/>
            </a:endParaRPr>
          </a:p>
          <a:p>
            <a:pPr marL="0" indent="0" algn="l">
              <a:lnSpc>
                <a:spcPct val="100000"/>
              </a:lnSpc>
              <a:spcBef>
                <a:spcPts val="0"/>
              </a:spcBef>
              <a:spcAft>
                <a:spcPts val="0"/>
              </a:spcAft>
              <a:buNone/>
            </a:pPr>
            <a:endParaRPr lang="zh-CN" altLang="en-US" sz="1800" b="0" i="0" u="none" strike="noStrike" kern="1200" cap="none" spc="0" baseline="0">
              <a:solidFill>
                <a:schemeClr val="tx1"/>
              </a:solidFill>
              <a:latin typeface="Arial" charset="0"/>
              <a:ea typeface="微软雅黑" charset="0"/>
              <a:cs typeface="Arial" charset="0"/>
            </a:endParaRPr>
          </a:p>
        </p:txBody>
      </p:sp>
      <p:pic>
        <p:nvPicPr>
          <p:cNvPr id="29" name="图片"/>
          <p:cNvPicPr>
            <a:picLocks noChangeAspect="1"/>
          </p:cNvPicPr>
          <p:nvPr/>
        </p:nvPicPr>
        <p:blipFill>
          <a:blip r:embed="rId2" cstate="print"/>
          <a:stretch>
            <a:fillRect/>
          </a:stretch>
        </p:blipFill>
        <p:spPr>
          <a:xfrm>
            <a:off x="5445125" y="340995"/>
            <a:ext cx="5862954" cy="2872105"/>
          </a:xfrm>
          <a:prstGeom prst="rect">
            <a:avLst/>
          </a:prstGeom>
          <a:noFill/>
          <a:ln w="12700" cap="flat" cmpd="sng">
            <a:noFill/>
            <a:prstDash val="solid"/>
            <a:miter/>
          </a:ln>
        </p:spPr>
      </p:pic>
      <p:sp>
        <p:nvSpPr>
          <p:cNvPr id="30" name="直线"/>
          <p:cNvSpPr>
            <a:spLocks/>
          </p:cNvSpPr>
          <p:nvPr/>
        </p:nvSpPr>
        <p:spPr>
          <a:xfrm>
            <a:off x="4886325" y="101600"/>
            <a:ext cx="0" cy="6657340"/>
          </a:xfrm>
          <a:prstGeom prst="line">
            <a:avLst/>
          </a:prstGeom>
          <a:noFill/>
          <a:ln w="12700" cap="flat" cmpd="sng">
            <a:solidFill>
              <a:schemeClr val="tx1"/>
            </a:solidFill>
            <a:prstDash val="solid"/>
            <a:miter/>
          </a:ln>
        </p:spPr>
      </p:sp>
      <p:sp>
        <p:nvSpPr>
          <p:cNvPr id="31" name="矩形"/>
          <p:cNvSpPr>
            <a:spLocks/>
          </p:cNvSpPr>
          <p:nvPr/>
        </p:nvSpPr>
        <p:spPr>
          <a:xfrm>
            <a:off x="5600064" y="3287395"/>
            <a:ext cx="4063999" cy="1767839"/>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en-US" altLang="zh-CN" sz="1400" b="0" i="0" u="none" strike="noStrike" kern="1200" cap="none" spc="0" baseline="0">
                <a:solidFill>
                  <a:schemeClr val="tx1"/>
                </a:solidFill>
                <a:latin typeface="Arial" charset="0"/>
                <a:ea typeface="微软雅黑" charset="0"/>
                <a:cs typeface="Arial" charset="0"/>
              </a:rPr>
              <a:t>1. </a:t>
            </a:r>
            <a:r>
              <a:rPr lang="zh-CN" altLang="en-US" sz="1400" b="0" i="0" u="none" strike="noStrike" kern="1200" cap="none" spc="0" baseline="0">
                <a:solidFill>
                  <a:schemeClr val="tx1"/>
                </a:solidFill>
                <a:latin typeface="Arial" charset="0"/>
                <a:ea typeface="微软雅黑" charset="0"/>
                <a:cs typeface="Arial" charset="0"/>
              </a:rPr>
              <a:t>给神经网络拓扑图</a:t>
            </a:r>
            <a:endParaRPr lang="en-US" altLang="zh-CN" sz="1400" b="0" i="0" u="none" strike="noStrike" kern="1200" cap="none" spc="0" baseline="0">
              <a:solidFill>
                <a:schemeClr val="tx1"/>
              </a:solidFill>
              <a:latin typeface="Arial" charset="0"/>
              <a:ea typeface="微软雅黑" charset="0"/>
              <a:cs typeface="Arial" charset="0"/>
            </a:endParaRPr>
          </a:p>
          <a:p>
            <a:pPr marL="800100" lvl="1" indent="-342900" algn="l">
              <a:lnSpc>
                <a:spcPct val="100000"/>
              </a:lnSpc>
              <a:spcBef>
                <a:spcPts val="0"/>
              </a:spcBef>
              <a:spcAft>
                <a:spcPts val="0"/>
              </a:spcAft>
              <a:buClrTx/>
              <a:buAutoNum type="arabicPeriod"/>
            </a:pPr>
            <a:r>
              <a:rPr lang="zh-CN" altLang="en-US" sz="1400" b="0" i="0" u="none" strike="noStrike" kern="1200" cap="none" spc="0" baseline="0">
                <a:solidFill>
                  <a:schemeClr val="tx1"/>
                </a:solidFill>
                <a:latin typeface="Arial" charset="0"/>
                <a:ea typeface="微软雅黑" charset="0"/>
                <a:cs typeface="Arial" charset="0"/>
              </a:rPr>
              <a:t>几层神经网络</a:t>
            </a:r>
            <a:endParaRPr lang="en-US" altLang="zh-CN" sz="1400" b="0" i="0" u="none" strike="noStrike" kern="1200" cap="none" spc="0" baseline="0">
              <a:solidFill>
                <a:schemeClr val="tx1"/>
              </a:solidFill>
              <a:latin typeface="Arial" charset="0"/>
              <a:ea typeface="微软雅黑" charset="0"/>
              <a:cs typeface="Arial" charset="0"/>
            </a:endParaRPr>
          </a:p>
          <a:p>
            <a:pPr marL="800100" lvl="1" indent="-342900" algn="l">
              <a:lnSpc>
                <a:spcPct val="100000"/>
              </a:lnSpc>
              <a:spcBef>
                <a:spcPts val="0"/>
              </a:spcBef>
              <a:spcAft>
                <a:spcPts val="0"/>
              </a:spcAft>
              <a:buClrTx/>
              <a:buAutoNum type="arabicPeriod"/>
            </a:pPr>
            <a:r>
              <a:rPr lang="zh-CN" altLang="en-US" sz="1400" b="0" i="0" u="none" strike="noStrike" kern="1200" cap="none" spc="0" baseline="0">
                <a:solidFill>
                  <a:schemeClr val="tx1"/>
                </a:solidFill>
                <a:latin typeface="Arial" charset="0"/>
                <a:ea typeface="微软雅黑" charset="0"/>
                <a:cs typeface="Arial" charset="0"/>
              </a:rPr>
              <a:t>给输入，权重，算输出</a:t>
            </a:r>
            <a:endParaRPr lang="en-US" altLang="zh-CN" sz="1400" b="0" i="0" u="none" strike="noStrike" kern="1200" cap="none" spc="0" baseline="0">
              <a:solidFill>
                <a:schemeClr val="tx1"/>
              </a:solidFill>
              <a:latin typeface="Arial" charset="0"/>
              <a:ea typeface="微软雅黑" charset="0"/>
              <a:cs typeface="Arial" charset="0"/>
            </a:endParaRPr>
          </a:p>
          <a:p>
            <a:pPr marL="800100" lvl="1" indent="-342900" algn="l">
              <a:lnSpc>
                <a:spcPct val="100000"/>
              </a:lnSpc>
              <a:spcBef>
                <a:spcPts val="0"/>
              </a:spcBef>
              <a:spcAft>
                <a:spcPts val="0"/>
              </a:spcAft>
              <a:buClrTx/>
              <a:buAutoNum type="arabicPeriod"/>
            </a:pPr>
            <a:r>
              <a:rPr lang="zh-CN" altLang="en-US" sz="1400" b="0" i="0" u="none" strike="noStrike" kern="1200" cap="none" spc="0" baseline="0">
                <a:solidFill>
                  <a:schemeClr val="tx1"/>
                </a:solidFill>
                <a:latin typeface="Arial" charset="0"/>
                <a:ea typeface="微软雅黑" charset="0"/>
                <a:cs typeface="Arial" charset="0"/>
              </a:rPr>
              <a:t>反向传播不可能考计算</a:t>
            </a:r>
            <a:endParaRPr lang="en-US" altLang="zh-CN" sz="1400" b="0" i="0" u="none" strike="noStrike" kern="1200" cap="none" spc="0" baseline="0">
              <a:solidFill>
                <a:schemeClr val="tx1"/>
              </a:solidFill>
              <a:latin typeface="Arial" charset="0"/>
              <a:ea typeface="微软雅黑" charset="0"/>
              <a:cs typeface="Arial" charset="0"/>
            </a:endParaRPr>
          </a:p>
          <a:p>
            <a:pPr marL="0" indent="0" algn="l">
              <a:lnSpc>
                <a:spcPct val="100000"/>
              </a:lnSpc>
              <a:spcBef>
                <a:spcPts val="0"/>
              </a:spcBef>
              <a:spcAft>
                <a:spcPts val="0"/>
              </a:spcAft>
              <a:buNone/>
            </a:pPr>
            <a:r>
              <a:rPr lang="en-US" altLang="zh-CN" sz="1400" b="0" i="0" u="none" strike="noStrike" kern="1200" cap="none" spc="0" baseline="0">
                <a:solidFill>
                  <a:schemeClr val="tx1"/>
                </a:solidFill>
                <a:latin typeface="Arial" charset="0"/>
                <a:ea typeface="微软雅黑" charset="0"/>
                <a:cs typeface="Arial" charset="0"/>
              </a:rPr>
              <a:t>2. </a:t>
            </a:r>
            <a:r>
              <a:rPr lang="zh-CN" altLang="en-US" sz="1400" b="0" i="0" u="none" strike="noStrike" kern="1200" cap="none" spc="0" baseline="0">
                <a:solidFill>
                  <a:schemeClr val="tx1"/>
                </a:solidFill>
                <a:latin typeface="Arial" charset="0"/>
                <a:ea typeface="微软雅黑" charset="0"/>
                <a:cs typeface="Arial" charset="0"/>
              </a:rPr>
              <a:t>决策树</a:t>
            </a:r>
            <a:endParaRPr lang="en-US" altLang="zh-CN" sz="1400" b="0" i="0" u="none" strike="noStrike" kern="1200" cap="none" spc="0" baseline="0">
              <a:solidFill>
                <a:schemeClr val="tx1"/>
              </a:solidFill>
              <a:latin typeface="Arial" charset="0"/>
              <a:ea typeface="微软雅黑" charset="0"/>
              <a:cs typeface="Arial" charset="0"/>
            </a:endParaRPr>
          </a:p>
          <a:p>
            <a:pPr marL="800100" lvl="1" indent="-342900" algn="l">
              <a:lnSpc>
                <a:spcPct val="100000"/>
              </a:lnSpc>
              <a:spcBef>
                <a:spcPts val="0"/>
              </a:spcBef>
              <a:spcAft>
                <a:spcPts val="0"/>
              </a:spcAft>
              <a:buClrTx/>
              <a:buAutoNum type="arabicPeriod"/>
            </a:pPr>
            <a:r>
              <a:rPr lang="zh-CN" altLang="en-US" sz="1400" b="0" i="0" u="none" strike="noStrike" kern="1200" cap="none" spc="0" baseline="0">
                <a:solidFill>
                  <a:schemeClr val="tx1"/>
                </a:solidFill>
                <a:latin typeface="Arial" charset="0"/>
                <a:ea typeface="微软雅黑" charset="0"/>
                <a:cs typeface="Arial" charset="0"/>
              </a:rPr>
              <a:t>决策选择算法的计算（</a:t>
            </a:r>
            <a:r>
              <a:rPr lang="zh-CN" altLang="en-US" sz="1400" b="0" i="0" u="none" strike="noStrike" kern="1200" cap="none" spc="0" baseline="0">
                <a:solidFill>
                  <a:schemeClr val="tx1"/>
                </a:solidFill>
                <a:latin typeface="Arial" charset="0"/>
                <a:ea typeface="微软雅黑" charset="0"/>
                <a:cs typeface="Arial" charset="0"/>
                <a:sym typeface="微软雅黑" charset="0"/>
              </a:rPr>
              <a:t>基尼指数，增益率，信息增益</a:t>
            </a:r>
            <a:r>
              <a:rPr lang="zh-CN" altLang="en-US" sz="1400" b="0" i="0" u="none" strike="noStrike" kern="1200" cap="none" spc="0" baseline="0">
                <a:solidFill>
                  <a:schemeClr val="tx1"/>
                </a:solidFill>
                <a:latin typeface="Arial" charset="0"/>
                <a:ea typeface="微软雅黑" charset="0"/>
                <a:cs typeface="Arial" charset="0"/>
              </a:rPr>
              <a:t>）</a:t>
            </a:r>
            <a:endParaRPr lang="en-US" altLang="zh-CN" sz="1400" b="0" i="0" u="none" strike="noStrike" kern="1200" cap="none" spc="0" baseline="0">
              <a:solidFill>
                <a:schemeClr val="tx1"/>
              </a:solidFill>
              <a:latin typeface="Arial" charset="0"/>
              <a:ea typeface="微软雅黑" charset="0"/>
              <a:cs typeface="Arial" charset="0"/>
            </a:endParaRPr>
          </a:p>
          <a:p>
            <a:pPr marL="0" indent="0" algn="l">
              <a:lnSpc>
                <a:spcPct val="100000"/>
              </a:lnSpc>
              <a:spcBef>
                <a:spcPts val="0"/>
              </a:spcBef>
              <a:spcAft>
                <a:spcPts val="0"/>
              </a:spcAft>
              <a:buNone/>
            </a:pPr>
            <a:endParaRPr lang="zh-CN" altLang="en-US" sz="1400" b="0" i="0" u="none" strike="noStrike" kern="1200" cap="none" spc="0" baseline="0">
              <a:solidFill>
                <a:schemeClr val="tx1"/>
              </a:solidFill>
              <a:latin typeface="Arial" charset="0"/>
              <a:ea typeface="微软雅黑" charset="0"/>
              <a:cs typeface="Arial" charset="0"/>
            </a:endParaRPr>
          </a:p>
        </p:txBody>
      </p:sp>
      <p:pic>
        <p:nvPicPr>
          <p:cNvPr id="32" name="图片"/>
          <p:cNvPicPr>
            <a:picLocks noChangeAspect="1"/>
          </p:cNvPicPr>
          <p:nvPr/>
        </p:nvPicPr>
        <p:blipFill>
          <a:blip r:embed="rId3" cstate="print"/>
          <a:stretch>
            <a:fillRect/>
          </a:stretch>
        </p:blipFill>
        <p:spPr>
          <a:xfrm>
            <a:off x="9092565" y="3086735"/>
            <a:ext cx="2939414" cy="1773554"/>
          </a:xfrm>
          <a:prstGeom prst="rect">
            <a:avLst/>
          </a:prstGeom>
          <a:noFill/>
          <a:ln w="12700" cap="flat" cmpd="sng">
            <a:noFill/>
            <a:prstDash val="solid"/>
            <a:miter/>
          </a:ln>
        </p:spPr>
      </p:pic>
    </p:spTree>
    <p:extLst>
      <p:ext uri="{BB962C8B-B14F-4D97-AF65-F5344CB8AC3E}">
        <p14:creationId xmlns:p14="http://schemas.microsoft.com/office/powerpoint/2010/main" val="12644021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B601B6-4F8E-39A3-362E-74532B827AC4}"/>
            </a:ext>
          </a:extLst>
        </p:cNvPr>
        <p:cNvGrpSpPr/>
        <p:nvPr/>
      </p:nvGrpSpPr>
      <p:grpSpPr>
        <a:xfrm>
          <a:off x="0" y="0"/>
          <a:ext cx="0" cy="0"/>
          <a:chOff x="0" y="0"/>
          <a:chExt cx="0" cy="0"/>
        </a:xfrm>
      </p:grpSpPr>
      <p:sp>
        <p:nvSpPr>
          <p:cNvPr id="27" name="文本框">
            <a:extLst>
              <a:ext uri="{FF2B5EF4-FFF2-40B4-BE49-F238E27FC236}">
                <a16:creationId xmlns:a16="http://schemas.microsoft.com/office/drawing/2014/main" id="{D9D44954-D5AB-D740-3EA6-E59B85D1F52A}"/>
              </a:ext>
            </a:extLst>
          </p:cNvPr>
          <p:cNvSpPr>
            <a:spLocks noGrp="1"/>
          </p:cNvSpPr>
          <p:nvPr>
            <p:ph type="title"/>
          </p:nvPr>
        </p:nvSpPr>
        <p:spPr>
          <a:xfrm>
            <a:off x="608400" y="608400"/>
            <a:ext cx="10969201" cy="705599"/>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marL="0" indent="0" algn="l">
              <a:lnSpc>
                <a:spcPct val="100000"/>
              </a:lnSpc>
              <a:spcBef>
                <a:spcPts val="0"/>
              </a:spcBef>
              <a:spcAft>
                <a:spcPts val="0"/>
              </a:spcAft>
              <a:buNone/>
            </a:pPr>
            <a:r>
              <a:rPr lang="zh-CN" altLang="en-US" sz="3600" b="1" i="0" u="none" strike="noStrike" kern="1200" cap="none" spc="300" baseline="0" dirty="0">
                <a:solidFill>
                  <a:srgbClr val="262626"/>
                </a:solidFill>
                <a:latin typeface="Arial" charset="0"/>
                <a:ea typeface="微软雅黑" charset="0"/>
                <a:cs typeface="Lucida Sans"/>
              </a:rPr>
              <a:t>题型</a:t>
            </a:r>
            <a:r>
              <a:rPr lang="en-US" altLang="zh-CN" dirty="0">
                <a:cs typeface="Lucida Sans"/>
              </a:rPr>
              <a:t>3</a:t>
            </a:r>
            <a:r>
              <a:rPr lang="zh-CN" altLang="en-US" sz="3600" b="1" i="0" u="none" strike="noStrike" kern="1200" cap="none" spc="300" baseline="0" dirty="0">
                <a:solidFill>
                  <a:srgbClr val="262626"/>
                </a:solidFill>
                <a:latin typeface="Arial" charset="0"/>
                <a:ea typeface="微软雅黑" charset="0"/>
                <a:cs typeface="Lucida Sans"/>
              </a:rPr>
              <a:t>：</a:t>
            </a:r>
            <a:r>
              <a:rPr lang="en-US" altLang="zh-CN" sz="3600" b="1" i="0" u="none" strike="noStrike" kern="1200" cap="none" spc="300" baseline="0" dirty="0">
                <a:solidFill>
                  <a:srgbClr val="262626"/>
                </a:solidFill>
                <a:latin typeface="Arial" charset="0"/>
                <a:ea typeface="微软雅黑" charset="0"/>
                <a:cs typeface="Lucida Sans"/>
              </a:rPr>
              <a:t> </a:t>
            </a:r>
            <a:r>
              <a:rPr lang="zh-CN" altLang="en-US" sz="3600" b="1" i="0" u="none" strike="noStrike" kern="1200" cap="none" spc="300" baseline="0" dirty="0">
                <a:solidFill>
                  <a:srgbClr val="262626"/>
                </a:solidFill>
                <a:latin typeface="Arial" charset="0"/>
                <a:ea typeface="微软雅黑" charset="0"/>
                <a:cs typeface="Lucida Sans"/>
              </a:rPr>
              <a:t>计算题</a:t>
            </a:r>
          </a:p>
        </p:txBody>
      </p:sp>
      <p:sp>
        <p:nvSpPr>
          <p:cNvPr id="3" name="文本框 2">
            <a:extLst>
              <a:ext uri="{FF2B5EF4-FFF2-40B4-BE49-F238E27FC236}">
                <a16:creationId xmlns:a16="http://schemas.microsoft.com/office/drawing/2014/main" id="{606072FF-7D44-4454-DD15-05DDC0852AFA}"/>
              </a:ext>
            </a:extLst>
          </p:cNvPr>
          <p:cNvSpPr txBox="1"/>
          <p:nvPr/>
        </p:nvSpPr>
        <p:spPr>
          <a:xfrm>
            <a:off x="608400" y="1555921"/>
            <a:ext cx="6095010" cy="1754326"/>
          </a:xfrm>
          <a:prstGeom prst="rect">
            <a:avLst/>
          </a:prstGeom>
          <a:noFill/>
        </p:spPr>
        <p:txBody>
          <a:bodyPr wrap="square">
            <a:spAutoFit/>
          </a:bodyPr>
          <a:lstStyle/>
          <a:p>
            <a:pPr marL="342900" lvl="0" indent="-342900" algn="just">
              <a:buFont typeface="+mj-lt"/>
              <a:buAutoNum type="arabicPeriod"/>
              <a:tabLst>
                <a:tab pos="198120" algn="l"/>
              </a:tabLst>
            </a:pPr>
            <a:r>
              <a:rPr lang="zh-CN" altLang="zh-CN" sz="1800" kern="100" dirty="0">
                <a:effectLst/>
                <a:latin typeface="Calibri" panose="020F0502020204030204" pitchFamily="34" charset="0"/>
                <a:ea typeface="SimSun" panose="02010600030101010101" pitchFamily="2" charset="-122"/>
                <a:cs typeface="Times New Roman" panose="02020603050405020304" pitchFamily="18" charset="0"/>
              </a:rPr>
              <a:t>贝叶斯决策器计算</a:t>
            </a:r>
          </a:p>
          <a:p>
            <a:pPr algn="just">
              <a:buNone/>
            </a:pPr>
            <a:r>
              <a:rPr lang="zh-CN" altLang="zh-CN" sz="1800" kern="100" dirty="0">
                <a:effectLst/>
                <a:latin typeface="Calibri" panose="020F0502020204030204" pitchFamily="34" charset="0"/>
                <a:ea typeface="SimSun" panose="02010600030101010101" pitchFamily="2" charset="-122"/>
                <a:cs typeface="Times New Roman" panose="02020603050405020304" pitchFamily="18" charset="0"/>
              </a:rPr>
              <a:t>特征分为性别，</a:t>
            </a:r>
            <a:r>
              <a:rPr lang="en-US" altLang="zh-CN" sz="1800" kern="100" dirty="0">
                <a:effectLst/>
                <a:latin typeface="Calibri" panose="020F0502020204030204" pitchFamily="34" charset="0"/>
                <a:ea typeface="SimSun" panose="02010600030101010101" pitchFamily="2" charset="-122"/>
                <a:cs typeface="Times New Roman" panose="02020603050405020304" pitchFamily="18" charset="0"/>
              </a:rPr>
              <a:t>Male</a:t>
            </a:r>
            <a:r>
              <a:rPr lang="zh-CN" altLang="zh-CN" sz="1800" kern="100" dirty="0">
                <a:effectLst/>
                <a:latin typeface="Calibri" panose="020F0502020204030204" pitchFamily="34" charset="0"/>
                <a:ea typeface="SimSun" panose="02010600030101010101" pitchFamily="2" charset="-122"/>
                <a:cs typeface="Times New Roman" panose="02020603050405020304" pitchFamily="18" charset="0"/>
              </a:rPr>
              <a:t>和</a:t>
            </a:r>
            <a:r>
              <a:rPr lang="en-US" altLang="zh-CN" sz="1800" kern="100" dirty="0">
                <a:effectLst/>
                <a:latin typeface="Calibri" panose="020F0502020204030204" pitchFamily="34" charset="0"/>
                <a:ea typeface="SimSun" panose="02010600030101010101" pitchFamily="2" charset="-122"/>
                <a:cs typeface="Times New Roman" panose="02020603050405020304" pitchFamily="18" charset="0"/>
              </a:rPr>
              <a:t>Female</a:t>
            </a:r>
            <a:r>
              <a:rPr lang="zh-CN" altLang="zh-CN" sz="1800" kern="100" dirty="0">
                <a:effectLst/>
                <a:latin typeface="Calibri" panose="020F0502020204030204" pitchFamily="34" charset="0"/>
                <a:ea typeface="SimSun" panose="02010600030101010101" pitchFamily="2" charset="-122"/>
                <a:cs typeface="Times New Roman" panose="02020603050405020304" pitchFamily="18" charset="0"/>
              </a:rPr>
              <a:t>，</a:t>
            </a:r>
          </a:p>
          <a:p>
            <a:pPr algn="just">
              <a:buNone/>
            </a:pPr>
            <a:r>
              <a:rPr lang="zh-CN" altLang="zh-CN" sz="1800" kern="100" dirty="0">
                <a:effectLst/>
                <a:latin typeface="Calibri" panose="020F0502020204030204" pitchFamily="34" charset="0"/>
                <a:ea typeface="SimSun" panose="02010600030101010101" pitchFamily="2" charset="-122"/>
                <a:cs typeface="Times New Roman" panose="02020603050405020304" pitchFamily="18" charset="0"/>
              </a:rPr>
              <a:t>工资</a:t>
            </a:r>
            <a:r>
              <a:rPr lang="en-US" altLang="zh-CN" sz="1800" kern="100" dirty="0">
                <a:effectLst/>
                <a:latin typeface="Calibri" panose="020F0502020204030204" pitchFamily="34" charset="0"/>
                <a:ea typeface="SimSun" panose="02010600030101010101" pitchFamily="2" charset="-122"/>
                <a:cs typeface="Times New Roman" panose="02020603050405020304" pitchFamily="18" charset="0"/>
              </a:rPr>
              <a:t>,</a:t>
            </a:r>
            <a:r>
              <a:rPr lang="zh-CN" altLang="zh-CN" sz="1800" kern="100" dirty="0">
                <a:effectLst/>
                <a:latin typeface="Calibri" panose="020F0502020204030204" pitchFamily="34" charset="0"/>
                <a:ea typeface="SimSun" panose="02010600030101010101" pitchFamily="2" charset="-122"/>
                <a:cs typeface="Times New Roman" panose="02020603050405020304" pitchFamily="18" charset="0"/>
              </a:rPr>
              <a:t>小于等于</a:t>
            </a:r>
            <a:r>
              <a:rPr lang="en-US" altLang="zh-CN" sz="1800" kern="100" dirty="0">
                <a:effectLst/>
                <a:latin typeface="Calibri" panose="020F0502020204030204" pitchFamily="34" charset="0"/>
                <a:ea typeface="SimSun" panose="02010600030101010101" pitchFamily="2" charset="-122"/>
                <a:cs typeface="Times New Roman" panose="02020603050405020304" pitchFamily="18" charset="0"/>
              </a:rPr>
              <a:t>80</a:t>
            </a:r>
            <a:r>
              <a:rPr lang="zh-CN" altLang="zh-CN" sz="1800" kern="100" dirty="0">
                <a:effectLst/>
                <a:latin typeface="Calibri" panose="020F0502020204030204" pitchFamily="34" charset="0"/>
                <a:ea typeface="SimSun" panose="02010600030101010101" pitchFamily="2" charset="-122"/>
                <a:cs typeface="Times New Roman" panose="02020603050405020304" pitchFamily="18" charset="0"/>
              </a:rPr>
              <a:t>，大于</a:t>
            </a:r>
            <a:r>
              <a:rPr lang="en-US" altLang="zh-CN" sz="1800" kern="100" dirty="0">
                <a:effectLst/>
                <a:latin typeface="Calibri" panose="020F0502020204030204" pitchFamily="34" charset="0"/>
                <a:ea typeface="SimSun" panose="02010600030101010101" pitchFamily="2" charset="-122"/>
                <a:cs typeface="Times New Roman" panose="02020603050405020304" pitchFamily="18" charset="0"/>
              </a:rPr>
              <a:t>80</a:t>
            </a:r>
            <a:r>
              <a:rPr lang="zh-CN" altLang="zh-CN" sz="1800" kern="100" dirty="0">
                <a:effectLst/>
                <a:latin typeface="Calibri" panose="020F0502020204030204" pitchFamily="34" charset="0"/>
                <a:ea typeface="SimSun" panose="02010600030101010101" pitchFamily="2" charset="-122"/>
                <a:cs typeface="Times New Roman" panose="02020603050405020304" pitchFamily="18" charset="0"/>
              </a:rPr>
              <a:t>，</a:t>
            </a:r>
          </a:p>
          <a:p>
            <a:pPr algn="just">
              <a:buNone/>
            </a:pPr>
            <a:r>
              <a:rPr lang="zh-CN" altLang="zh-CN" sz="1800" kern="100" dirty="0">
                <a:effectLst/>
                <a:latin typeface="Calibri" panose="020F0502020204030204" pitchFamily="34" charset="0"/>
                <a:ea typeface="SimSun" panose="02010600030101010101" pitchFamily="2" charset="-122"/>
                <a:cs typeface="Times New Roman" panose="02020603050405020304" pitchFamily="18" charset="0"/>
              </a:rPr>
              <a:t>年龄</a:t>
            </a:r>
            <a:r>
              <a:rPr lang="en-US" altLang="zh-CN" sz="1800" kern="100" dirty="0">
                <a:effectLst/>
                <a:latin typeface="Calibri" panose="020F0502020204030204" pitchFamily="34" charset="0"/>
                <a:ea typeface="SimSun" panose="02010600030101010101" pitchFamily="2" charset="-122"/>
                <a:cs typeface="Times New Roman" panose="02020603050405020304" pitchFamily="18" charset="0"/>
              </a:rPr>
              <a:t>,</a:t>
            </a:r>
            <a:r>
              <a:rPr lang="zh-CN" altLang="zh-CN" sz="1800" kern="100" dirty="0">
                <a:effectLst/>
                <a:latin typeface="Calibri" panose="020F0502020204030204" pitchFamily="34" charset="0"/>
                <a:ea typeface="SimSun" panose="02010600030101010101" pitchFamily="2" charset="-122"/>
                <a:cs typeface="Times New Roman" panose="02020603050405020304" pitchFamily="18" charset="0"/>
              </a:rPr>
              <a:t>小于等于</a:t>
            </a:r>
            <a:r>
              <a:rPr lang="en-US" altLang="zh-CN" sz="1800" kern="100" dirty="0">
                <a:effectLst/>
                <a:latin typeface="Calibri" panose="020F0502020204030204" pitchFamily="34" charset="0"/>
                <a:ea typeface="SimSun" panose="02010600030101010101" pitchFamily="2" charset="-122"/>
                <a:cs typeface="Times New Roman" panose="02020603050405020304" pitchFamily="18" charset="0"/>
              </a:rPr>
              <a:t>30</a:t>
            </a:r>
            <a:r>
              <a:rPr lang="zh-CN" altLang="zh-CN" sz="1800" kern="100" dirty="0">
                <a:effectLst/>
                <a:latin typeface="Calibri" panose="020F0502020204030204" pitchFamily="34" charset="0"/>
                <a:ea typeface="SimSun" panose="02010600030101010101" pitchFamily="2" charset="-122"/>
                <a:cs typeface="Times New Roman" panose="02020603050405020304" pitchFamily="18" charset="0"/>
              </a:rPr>
              <a:t>，</a:t>
            </a:r>
            <a:r>
              <a:rPr lang="en-US" altLang="zh-CN" sz="1800" kern="100" dirty="0">
                <a:effectLst/>
                <a:latin typeface="Calibri" panose="020F0502020204030204" pitchFamily="34" charset="0"/>
                <a:ea typeface="SimSun" panose="02010600030101010101" pitchFamily="2" charset="-122"/>
                <a:cs typeface="Times New Roman" panose="02020603050405020304" pitchFamily="18" charset="0"/>
              </a:rPr>
              <a:t>31~50</a:t>
            </a:r>
            <a:r>
              <a:rPr lang="zh-CN" altLang="zh-CN" sz="1800" kern="100" dirty="0">
                <a:effectLst/>
                <a:latin typeface="Calibri" panose="020F0502020204030204" pitchFamily="34" charset="0"/>
                <a:ea typeface="SimSun" panose="02010600030101010101" pitchFamily="2" charset="-122"/>
                <a:cs typeface="Times New Roman" panose="02020603050405020304" pitchFamily="18" charset="0"/>
              </a:rPr>
              <a:t>，大于</a:t>
            </a:r>
            <a:r>
              <a:rPr lang="en-US" altLang="zh-CN" sz="1800" kern="100" dirty="0">
                <a:effectLst/>
                <a:latin typeface="Calibri" panose="020F0502020204030204" pitchFamily="34" charset="0"/>
                <a:ea typeface="SimSun" panose="02010600030101010101" pitchFamily="2" charset="-122"/>
                <a:cs typeface="Times New Roman" panose="02020603050405020304" pitchFamily="18" charset="0"/>
              </a:rPr>
              <a:t>50</a:t>
            </a:r>
            <a:r>
              <a:rPr lang="zh-CN" altLang="zh-CN" sz="1800" kern="100" dirty="0">
                <a:effectLst/>
                <a:latin typeface="Calibri" panose="020F0502020204030204" pitchFamily="34" charset="0"/>
                <a:ea typeface="SimSun" panose="02010600030101010101" pitchFamily="2" charset="-122"/>
                <a:cs typeface="Times New Roman" panose="02020603050405020304" pitchFamily="18" charset="0"/>
              </a:rPr>
              <a:t>，</a:t>
            </a:r>
          </a:p>
          <a:p>
            <a:pPr algn="just">
              <a:buNone/>
            </a:pPr>
            <a:r>
              <a:rPr lang="zh-CN" altLang="zh-CN" sz="1800" kern="100" dirty="0">
                <a:effectLst/>
                <a:latin typeface="Calibri" panose="020F0502020204030204" pitchFamily="34" charset="0"/>
                <a:ea typeface="SimSun" panose="02010600030101010101" pitchFamily="2" charset="-122"/>
                <a:cs typeface="Times New Roman" panose="02020603050405020304" pitchFamily="18" charset="0"/>
              </a:rPr>
              <a:t>类别是</a:t>
            </a:r>
            <a:r>
              <a:rPr lang="en-US" altLang="zh-CN" sz="1800" kern="100" dirty="0">
                <a:effectLst/>
                <a:latin typeface="Calibri" panose="020F0502020204030204" pitchFamily="34" charset="0"/>
                <a:ea typeface="SimSun" panose="02010600030101010101" pitchFamily="2" charset="-122"/>
                <a:cs typeface="Times New Roman" panose="02020603050405020304" pitchFamily="18" charset="0"/>
              </a:rPr>
              <a:t>Yes</a:t>
            </a:r>
            <a:r>
              <a:rPr lang="zh-CN" altLang="zh-CN" sz="1800" kern="100" dirty="0">
                <a:effectLst/>
                <a:latin typeface="Calibri" panose="020F0502020204030204" pitchFamily="34" charset="0"/>
                <a:ea typeface="SimSun" panose="02010600030101010101" pitchFamily="2" charset="-122"/>
                <a:cs typeface="Times New Roman" panose="02020603050405020304" pitchFamily="18" charset="0"/>
              </a:rPr>
              <a:t>或者</a:t>
            </a:r>
            <a:r>
              <a:rPr lang="en-US" altLang="zh-CN" sz="1800" kern="100" dirty="0">
                <a:effectLst/>
                <a:latin typeface="Calibri" panose="020F0502020204030204" pitchFamily="34" charset="0"/>
                <a:ea typeface="SimSun" panose="02010600030101010101" pitchFamily="2" charset="-122"/>
                <a:cs typeface="Times New Roman" panose="02020603050405020304" pitchFamily="18" charset="0"/>
              </a:rPr>
              <a:t>No</a:t>
            </a:r>
            <a:r>
              <a:rPr lang="zh-CN" altLang="zh-CN" sz="1800" kern="100" dirty="0">
                <a:effectLst/>
                <a:latin typeface="Calibri" panose="020F0502020204030204" pitchFamily="34" charset="0"/>
                <a:ea typeface="SimSun" panose="02010600030101010101" pitchFamily="2" charset="-122"/>
                <a:cs typeface="Times New Roman" panose="02020603050405020304" pitchFamily="18" charset="0"/>
              </a:rPr>
              <a:t>，</a:t>
            </a:r>
          </a:p>
          <a:p>
            <a:pPr algn="just">
              <a:buNone/>
            </a:pPr>
            <a:r>
              <a:rPr lang="zh-CN" altLang="zh-CN" sz="1800" kern="100" dirty="0">
                <a:effectLst/>
                <a:latin typeface="Calibri" panose="020F0502020204030204" pitchFamily="34" charset="0"/>
                <a:ea typeface="SimSun" panose="02010600030101010101" pitchFamily="2" charset="-122"/>
                <a:cs typeface="Times New Roman" panose="02020603050405020304" pitchFamily="18" charset="0"/>
              </a:rPr>
              <a:t>判断</a:t>
            </a:r>
            <a:r>
              <a:rPr lang="en-US" altLang="zh-CN" sz="1800" kern="100" dirty="0">
                <a:effectLst/>
                <a:latin typeface="Calibri" panose="020F0502020204030204" pitchFamily="34" charset="0"/>
                <a:ea typeface="SimSun" panose="02010600030101010101" pitchFamily="2" charset="-122"/>
                <a:cs typeface="Times New Roman" panose="02020603050405020304" pitchFamily="18" charset="0"/>
              </a:rPr>
              <a:t>Female</a:t>
            </a:r>
            <a:r>
              <a:rPr lang="zh-CN" altLang="zh-CN" sz="1800" kern="100" dirty="0">
                <a:effectLst/>
                <a:latin typeface="Calibri" panose="020F0502020204030204" pitchFamily="34" charset="0"/>
                <a:ea typeface="SimSun" panose="02010600030101010101" pitchFamily="2" charset="-122"/>
                <a:cs typeface="Times New Roman" panose="02020603050405020304" pitchFamily="18" charset="0"/>
              </a:rPr>
              <a:t>，</a:t>
            </a:r>
            <a:r>
              <a:rPr lang="en-US" altLang="zh-CN" sz="1800" kern="100" dirty="0">
                <a:effectLst/>
                <a:latin typeface="Calibri" panose="020F0502020204030204" pitchFamily="34" charset="0"/>
                <a:ea typeface="SimSun" panose="02010600030101010101" pitchFamily="2" charset="-122"/>
                <a:cs typeface="Times New Roman" panose="02020603050405020304" pitchFamily="18" charset="0"/>
              </a:rPr>
              <a:t>32</a:t>
            </a:r>
            <a:r>
              <a:rPr lang="zh-CN" altLang="zh-CN" sz="1800" kern="100" dirty="0">
                <a:effectLst/>
                <a:latin typeface="Calibri" panose="020F0502020204030204" pitchFamily="34" charset="0"/>
                <a:ea typeface="SimSun" panose="02010600030101010101" pitchFamily="2" charset="-122"/>
                <a:cs typeface="Times New Roman" panose="02020603050405020304" pitchFamily="18" charset="0"/>
              </a:rPr>
              <a:t>，</a:t>
            </a:r>
            <a:r>
              <a:rPr lang="en-US" altLang="zh-CN" sz="1800" kern="100" dirty="0">
                <a:effectLst/>
                <a:latin typeface="Calibri" panose="020F0502020204030204" pitchFamily="34" charset="0"/>
                <a:ea typeface="SimSun" panose="02010600030101010101" pitchFamily="2" charset="-122"/>
                <a:cs typeface="Times New Roman" panose="02020603050405020304" pitchFamily="18" charset="0"/>
              </a:rPr>
              <a:t>82</a:t>
            </a:r>
            <a:r>
              <a:rPr lang="zh-CN" altLang="zh-CN" sz="1800" kern="100" dirty="0">
                <a:effectLst/>
                <a:latin typeface="Calibri" panose="020F0502020204030204" pitchFamily="34" charset="0"/>
                <a:ea typeface="SimSun" panose="02010600030101010101" pitchFamily="2" charset="-122"/>
                <a:cs typeface="Times New Roman" panose="02020603050405020304" pitchFamily="18" charset="0"/>
              </a:rPr>
              <a:t>属于</a:t>
            </a:r>
            <a:r>
              <a:rPr lang="en-US" altLang="zh-CN" sz="1800" kern="100" dirty="0">
                <a:effectLst/>
                <a:latin typeface="Calibri" panose="020F0502020204030204" pitchFamily="34" charset="0"/>
                <a:ea typeface="SimSun" panose="02010600030101010101" pitchFamily="2" charset="-122"/>
                <a:cs typeface="Times New Roman" panose="02020603050405020304" pitchFamily="18" charset="0"/>
              </a:rPr>
              <a:t>Yes</a:t>
            </a:r>
            <a:r>
              <a:rPr lang="zh-CN" altLang="zh-CN" sz="1800" kern="100" dirty="0">
                <a:effectLst/>
                <a:latin typeface="Calibri" panose="020F0502020204030204" pitchFamily="34" charset="0"/>
                <a:ea typeface="SimSun" panose="02010600030101010101" pitchFamily="2" charset="-122"/>
                <a:cs typeface="Times New Roman" panose="02020603050405020304" pitchFamily="18" charset="0"/>
              </a:rPr>
              <a:t>还是</a:t>
            </a:r>
            <a:r>
              <a:rPr lang="en-US" altLang="zh-CN" sz="1800" kern="100" dirty="0">
                <a:effectLst/>
                <a:latin typeface="Calibri" panose="020F0502020204030204" pitchFamily="34" charset="0"/>
                <a:ea typeface="SimSun" panose="02010600030101010101" pitchFamily="2" charset="-122"/>
                <a:cs typeface="Times New Roman" panose="02020603050405020304" pitchFamily="18" charset="0"/>
              </a:rPr>
              <a:t>No</a:t>
            </a:r>
            <a:endParaRPr lang="zh-CN" altLang="zh-CN" sz="1800" kern="100" dirty="0">
              <a:effectLst/>
              <a:latin typeface="Calibri" panose="020F0502020204030204" pitchFamily="34" charset="0"/>
              <a:ea typeface="SimSun" panose="02010600030101010101" pitchFamily="2" charset="-122"/>
              <a:cs typeface="Times New Roman" panose="02020603050405020304" pitchFamily="18" charset="0"/>
            </a:endParaRPr>
          </a:p>
        </p:txBody>
      </p:sp>
      <p:graphicFrame>
        <p:nvGraphicFramePr>
          <p:cNvPr id="2" name="表格 1">
            <a:extLst>
              <a:ext uri="{FF2B5EF4-FFF2-40B4-BE49-F238E27FC236}">
                <a16:creationId xmlns:a16="http://schemas.microsoft.com/office/drawing/2014/main" id="{79376099-BB67-A635-B8C2-CA16A582A129}"/>
              </a:ext>
            </a:extLst>
          </p:cNvPr>
          <p:cNvGraphicFramePr>
            <a:graphicFrameLocks noGrp="1"/>
          </p:cNvGraphicFramePr>
          <p:nvPr/>
        </p:nvGraphicFramePr>
        <p:xfrm>
          <a:off x="5269078" y="1518684"/>
          <a:ext cx="6190612" cy="1828800"/>
        </p:xfrm>
        <a:graphic>
          <a:graphicData uri="http://schemas.openxmlformats.org/drawingml/2006/table">
            <a:tbl>
              <a:tblPr/>
              <a:tblGrid>
                <a:gridCol w="1547653">
                  <a:extLst>
                    <a:ext uri="{9D8B030D-6E8A-4147-A177-3AD203B41FA5}">
                      <a16:colId xmlns:a16="http://schemas.microsoft.com/office/drawing/2014/main" val="3727041045"/>
                    </a:ext>
                  </a:extLst>
                </a:gridCol>
                <a:gridCol w="1547653">
                  <a:extLst>
                    <a:ext uri="{9D8B030D-6E8A-4147-A177-3AD203B41FA5}">
                      <a16:colId xmlns:a16="http://schemas.microsoft.com/office/drawing/2014/main" val="1033380254"/>
                    </a:ext>
                  </a:extLst>
                </a:gridCol>
                <a:gridCol w="1547653">
                  <a:extLst>
                    <a:ext uri="{9D8B030D-6E8A-4147-A177-3AD203B41FA5}">
                      <a16:colId xmlns:a16="http://schemas.microsoft.com/office/drawing/2014/main" val="370597376"/>
                    </a:ext>
                  </a:extLst>
                </a:gridCol>
                <a:gridCol w="1547653">
                  <a:extLst>
                    <a:ext uri="{9D8B030D-6E8A-4147-A177-3AD203B41FA5}">
                      <a16:colId xmlns:a16="http://schemas.microsoft.com/office/drawing/2014/main" val="4284687511"/>
                    </a:ext>
                  </a:extLst>
                </a:gridCol>
              </a:tblGrid>
              <a:tr h="0">
                <a:tc>
                  <a:txBody>
                    <a:bodyPr/>
                    <a:lstStyle/>
                    <a:p>
                      <a:pPr>
                        <a:buNone/>
                      </a:pPr>
                      <a:r>
                        <a:rPr lang="zh-CN" altLang="en-US"/>
                        <a:t>特征</a:t>
                      </a:r>
                    </a:p>
                  </a:txBody>
                  <a:tcPr anchor="ctr">
                    <a:lnL>
                      <a:noFill/>
                    </a:lnL>
                    <a:lnR>
                      <a:noFill/>
                    </a:lnR>
                    <a:lnT>
                      <a:noFill/>
                    </a:lnT>
                    <a:lnB>
                      <a:noFill/>
                    </a:lnB>
                    <a:noFill/>
                  </a:tcPr>
                </a:tc>
                <a:tc>
                  <a:txBody>
                    <a:bodyPr/>
                    <a:lstStyle/>
                    <a:p>
                      <a:pPr>
                        <a:buNone/>
                      </a:pPr>
                      <a:r>
                        <a:rPr lang="zh-CN" altLang="en-US"/>
                        <a:t>取值</a:t>
                      </a:r>
                    </a:p>
                  </a:txBody>
                  <a:tcPr anchor="ctr">
                    <a:lnL>
                      <a:noFill/>
                    </a:lnL>
                    <a:lnR>
                      <a:noFill/>
                    </a:lnR>
                    <a:lnT>
                      <a:noFill/>
                    </a:lnT>
                    <a:lnB>
                      <a:noFill/>
                    </a:lnB>
                    <a:noFill/>
                  </a:tcPr>
                </a:tc>
                <a:tc>
                  <a:txBody>
                    <a:bodyPr/>
                    <a:lstStyle/>
                    <a:p>
                      <a:pPr algn="r">
                        <a:buNone/>
                      </a:pPr>
                      <a:r>
                        <a:rPr lang="en-US"/>
                        <a:t>Yes</a:t>
                      </a:r>
                    </a:p>
                  </a:txBody>
                  <a:tcPr anchor="ctr">
                    <a:lnL>
                      <a:noFill/>
                    </a:lnL>
                    <a:lnR>
                      <a:noFill/>
                    </a:lnR>
                    <a:lnT>
                      <a:noFill/>
                    </a:lnT>
                    <a:lnB>
                      <a:noFill/>
                    </a:lnB>
                    <a:noFill/>
                  </a:tcPr>
                </a:tc>
                <a:tc>
                  <a:txBody>
                    <a:bodyPr/>
                    <a:lstStyle/>
                    <a:p>
                      <a:pPr algn="r">
                        <a:buNone/>
                      </a:pPr>
                      <a:r>
                        <a:rPr lang="en-US"/>
                        <a:t>No</a:t>
                      </a:r>
                    </a:p>
                  </a:txBody>
                  <a:tcPr anchor="ctr">
                    <a:lnL>
                      <a:noFill/>
                    </a:lnL>
                    <a:lnR>
                      <a:noFill/>
                    </a:lnR>
                    <a:lnT>
                      <a:noFill/>
                    </a:lnT>
                    <a:lnB>
                      <a:noFill/>
                    </a:lnB>
                    <a:noFill/>
                  </a:tcPr>
                </a:tc>
                <a:extLst>
                  <a:ext uri="{0D108BD9-81ED-4DB2-BD59-A6C34878D82A}">
                    <a16:rowId xmlns:a16="http://schemas.microsoft.com/office/drawing/2014/main" val="2307758174"/>
                  </a:ext>
                </a:extLst>
              </a:tr>
              <a:tr h="0">
                <a:tc>
                  <a:txBody>
                    <a:bodyPr/>
                    <a:lstStyle/>
                    <a:p>
                      <a:pPr>
                        <a:buNone/>
                      </a:pPr>
                      <a:r>
                        <a:rPr lang="zh-CN" altLang="en-US"/>
                        <a:t>总数</a:t>
                      </a:r>
                    </a:p>
                  </a:txBody>
                  <a:tcPr anchor="ctr">
                    <a:lnL>
                      <a:noFill/>
                    </a:lnL>
                    <a:lnR>
                      <a:noFill/>
                    </a:lnR>
                    <a:lnT>
                      <a:noFill/>
                    </a:lnT>
                    <a:lnB>
                      <a:noFill/>
                    </a:lnB>
                    <a:noFill/>
                  </a:tcPr>
                </a:tc>
                <a:tc>
                  <a:txBody>
                    <a:bodyPr/>
                    <a:lstStyle/>
                    <a:p>
                      <a:pPr>
                        <a:buNone/>
                      </a:pPr>
                      <a:endParaRPr lang="zh-CN" altLang="en-US"/>
                    </a:p>
                  </a:txBody>
                  <a:tcPr anchor="ctr">
                    <a:lnL>
                      <a:noFill/>
                    </a:lnL>
                    <a:lnR>
                      <a:noFill/>
                    </a:lnR>
                    <a:lnT>
                      <a:noFill/>
                    </a:lnT>
                    <a:lnB>
                      <a:noFill/>
                    </a:lnB>
                    <a:noFill/>
                  </a:tcPr>
                </a:tc>
                <a:tc>
                  <a:txBody>
                    <a:bodyPr/>
                    <a:lstStyle/>
                    <a:p>
                      <a:pPr algn="r">
                        <a:buNone/>
                      </a:pPr>
                      <a:r>
                        <a:rPr lang="en-US" altLang="zh-CN"/>
                        <a:t>9</a:t>
                      </a:r>
                    </a:p>
                  </a:txBody>
                  <a:tcPr anchor="ctr">
                    <a:lnL>
                      <a:noFill/>
                    </a:lnL>
                    <a:lnR>
                      <a:noFill/>
                    </a:lnR>
                    <a:lnT>
                      <a:noFill/>
                    </a:lnT>
                    <a:lnB>
                      <a:noFill/>
                    </a:lnB>
                    <a:noFill/>
                  </a:tcPr>
                </a:tc>
                <a:tc>
                  <a:txBody>
                    <a:bodyPr/>
                    <a:lstStyle/>
                    <a:p>
                      <a:pPr algn="r">
                        <a:buNone/>
                      </a:pPr>
                      <a:r>
                        <a:rPr lang="en-US" altLang="zh-CN"/>
                        <a:t>5</a:t>
                      </a:r>
                    </a:p>
                  </a:txBody>
                  <a:tcPr anchor="ctr">
                    <a:lnL>
                      <a:noFill/>
                    </a:lnL>
                    <a:lnR>
                      <a:noFill/>
                    </a:lnR>
                    <a:lnT>
                      <a:noFill/>
                    </a:lnT>
                    <a:lnB>
                      <a:noFill/>
                    </a:lnB>
                    <a:noFill/>
                  </a:tcPr>
                </a:tc>
                <a:extLst>
                  <a:ext uri="{0D108BD9-81ED-4DB2-BD59-A6C34878D82A}">
                    <a16:rowId xmlns:a16="http://schemas.microsoft.com/office/drawing/2014/main" val="706730526"/>
                  </a:ext>
                </a:extLst>
              </a:tr>
              <a:tr h="0">
                <a:tc>
                  <a:txBody>
                    <a:bodyPr/>
                    <a:lstStyle/>
                    <a:p>
                      <a:pPr>
                        <a:buNone/>
                      </a:pPr>
                      <a:r>
                        <a:rPr lang="en-US"/>
                        <a:t>Sex</a:t>
                      </a:r>
                    </a:p>
                  </a:txBody>
                  <a:tcPr anchor="ctr">
                    <a:lnL>
                      <a:noFill/>
                    </a:lnL>
                    <a:lnR>
                      <a:noFill/>
                    </a:lnR>
                    <a:lnT>
                      <a:noFill/>
                    </a:lnT>
                    <a:lnB>
                      <a:noFill/>
                    </a:lnB>
                    <a:noFill/>
                  </a:tcPr>
                </a:tc>
                <a:tc>
                  <a:txBody>
                    <a:bodyPr/>
                    <a:lstStyle/>
                    <a:p>
                      <a:pPr>
                        <a:buNone/>
                      </a:pPr>
                      <a:r>
                        <a:rPr lang="en-US"/>
                        <a:t>Female</a:t>
                      </a:r>
                    </a:p>
                  </a:txBody>
                  <a:tcPr anchor="ctr">
                    <a:lnL>
                      <a:noFill/>
                    </a:lnL>
                    <a:lnR>
                      <a:noFill/>
                    </a:lnR>
                    <a:lnT>
                      <a:noFill/>
                    </a:lnT>
                    <a:lnB>
                      <a:noFill/>
                    </a:lnB>
                    <a:noFill/>
                  </a:tcPr>
                </a:tc>
                <a:tc>
                  <a:txBody>
                    <a:bodyPr/>
                    <a:lstStyle/>
                    <a:p>
                      <a:pPr algn="r">
                        <a:buNone/>
                      </a:pPr>
                      <a:r>
                        <a:rPr lang="en-US" altLang="zh-CN"/>
                        <a:t>5</a:t>
                      </a:r>
                    </a:p>
                  </a:txBody>
                  <a:tcPr anchor="ctr">
                    <a:lnL>
                      <a:noFill/>
                    </a:lnL>
                    <a:lnR>
                      <a:noFill/>
                    </a:lnR>
                    <a:lnT>
                      <a:noFill/>
                    </a:lnT>
                    <a:lnB>
                      <a:noFill/>
                    </a:lnB>
                    <a:noFill/>
                  </a:tcPr>
                </a:tc>
                <a:tc>
                  <a:txBody>
                    <a:bodyPr/>
                    <a:lstStyle/>
                    <a:p>
                      <a:pPr algn="r">
                        <a:buNone/>
                      </a:pPr>
                      <a:r>
                        <a:rPr lang="en-US" altLang="zh-CN"/>
                        <a:t>2</a:t>
                      </a:r>
                    </a:p>
                  </a:txBody>
                  <a:tcPr anchor="ctr">
                    <a:lnL>
                      <a:noFill/>
                    </a:lnL>
                    <a:lnR>
                      <a:noFill/>
                    </a:lnR>
                    <a:lnT>
                      <a:noFill/>
                    </a:lnT>
                    <a:lnB>
                      <a:noFill/>
                    </a:lnB>
                    <a:noFill/>
                  </a:tcPr>
                </a:tc>
                <a:extLst>
                  <a:ext uri="{0D108BD9-81ED-4DB2-BD59-A6C34878D82A}">
                    <a16:rowId xmlns:a16="http://schemas.microsoft.com/office/drawing/2014/main" val="515988395"/>
                  </a:ext>
                </a:extLst>
              </a:tr>
              <a:tr h="0">
                <a:tc>
                  <a:txBody>
                    <a:bodyPr/>
                    <a:lstStyle/>
                    <a:p>
                      <a:pPr>
                        <a:buNone/>
                      </a:pPr>
                      <a:r>
                        <a:rPr lang="en-US"/>
                        <a:t>Salary</a:t>
                      </a:r>
                    </a:p>
                  </a:txBody>
                  <a:tcPr anchor="ctr">
                    <a:lnL>
                      <a:noFill/>
                    </a:lnL>
                    <a:lnR>
                      <a:noFill/>
                    </a:lnR>
                    <a:lnT>
                      <a:noFill/>
                    </a:lnT>
                    <a:lnB>
                      <a:noFill/>
                    </a:lnB>
                    <a:noFill/>
                  </a:tcPr>
                </a:tc>
                <a:tc>
                  <a:txBody>
                    <a:bodyPr/>
                    <a:lstStyle/>
                    <a:p>
                      <a:pPr>
                        <a:buNone/>
                      </a:pPr>
                      <a:r>
                        <a:rPr lang="en-US" altLang="zh-CN" dirty="0"/>
                        <a:t>&gt;80</a:t>
                      </a:r>
                    </a:p>
                  </a:txBody>
                  <a:tcPr anchor="ctr">
                    <a:lnL>
                      <a:noFill/>
                    </a:lnL>
                    <a:lnR>
                      <a:noFill/>
                    </a:lnR>
                    <a:lnT>
                      <a:noFill/>
                    </a:lnT>
                    <a:lnB>
                      <a:noFill/>
                    </a:lnB>
                    <a:noFill/>
                  </a:tcPr>
                </a:tc>
                <a:tc>
                  <a:txBody>
                    <a:bodyPr/>
                    <a:lstStyle/>
                    <a:p>
                      <a:pPr algn="r">
                        <a:buNone/>
                      </a:pPr>
                      <a:r>
                        <a:rPr lang="en-US" altLang="zh-CN"/>
                        <a:t>3</a:t>
                      </a:r>
                    </a:p>
                  </a:txBody>
                  <a:tcPr anchor="ctr">
                    <a:lnL>
                      <a:noFill/>
                    </a:lnL>
                    <a:lnR>
                      <a:noFill/>
                    </a:lnR>
                    <a:lnT>
                      <a:noFill/>
                    </a:lnT>
                    <a:lnB>
                      <a:noFill/>
                    </a:lnB>
                    <a:noFill/>
                  </a:tcPr>
                </a:tc>
                <a:tc>
                  <a:txBody>
                    <a:bodyPr/>
                    <a:lstStyle/>
                    <a:p>
                      <a:pPr algn="r">
                        <a:buNone/>
                      </a:pPr>
                      <a:r>
                        <a:rPr lang="en-US" altLang="zh-CN"/>
                        <a:t>1</a:t>
                      </a:r>
                    </a:p>
                  </a:txBody>
                  <a:tcPr anchor="ctr">
                    <a:lnL>
                      <a:noFill/>
                    </a:lnL>
                    <a:lnR>
                      <a:noFill/>
                    </a:lnR>
                    <a:lnT>
                      <a:noFill/>
                    </a:lnT>
                    <a:lnB>
                      <a:noFill/>
                    </a:lnB>
                    <a:noFill/>
                  </a:tcPr>
                </a:tc>
                <a:extLst>
                  <a:ext uri="{0D108BD9-81ED-4DB2-BD59-A6C34878D82A}">
                    <a16:rowId xmlns:a16="http://schemas.microsoft.com/office/drawing/2014/main" val="823047629"/>
                  </a:ext>
                </a:extLst>
              </a:tr>
              <a:tr h="0">
                <a:tc>
                  <a:txBody>
                    <a:bodyPr/>
                    <a:lstStyle/>
                    <a:p>
                      <a:pPr>
                        <a:buNone/>
                      </a:pPr>
                      <a:r>
                        <a:rPr lang="en-US"/>
                        <a:t>Age</a:t>
                      </a:r>
                    </a:p>
                  </a:txBody>
                  <a:tcPr anchor="ctr">
                    <a:lnL>
                      <a:noFill/>
                    </a:lnL>
                    <a:lnR>
                      <a:noFill/>
                    </a:lnR>
                    <a:lnT>
                      <a:noFill/>
                    </a:lnT>
                    <a:lnB>
                      <a:noFill/>
                    </a:lnB>
                    <a:noFill/>
                  </a:tcPr>
                </a:tc>
                <a:tc>
                  <a:txBody>
                    <a:bodyPr/>
                    <a:lstStyle/>
                    <a:p>
                      <a:pPr>
                        <a:buNone/>
                      </a:pPr>
                      <a:r>
                        <a:rPr lang="en-US" dirty="0"/>
                        <a:t>31~50</a:t>
                      </a:r>
                    </a:p>
                  </a:txBody>
                  <a:tcPr anchor="ctr">
                    <a:lnL>
                      <a:noFill/>
                    </a:lnL>
                    <a:lnR>
                      <a:noFill/>
                    </a:lnR>
                    <a:lnT>
                      <a:noFill/>
                    </a:lnT>
                    <a:lnB>
                      <a:noFill/>
                    </a:lnB>
                    <a:noFill/>
                  </a:tcPr>
                </a:tc>
                <a:tc>
                  <a:txBody>
                    <a:bodyPr/>
                    <a:lstStyle/>
                    <a:p>
                      <a:pPr algn="r">
                        <a:buNone/>
                      </a:pPr>
                      <a:r>
                        <a:rPr lang="en-US" altLang="zh-CN"/>
                        <a:t>5</a:t>
                      </a:r>
                    </a:p>
                  </a:txBody>
                  <a:tcPr anchor="ctr">
                    <a:lnL>
                      <a:noFill/>
                    </a:lnL>
                    <a:lnR>
                      <a:noFill/>
                    </a:lnR>
                    <a:lnT>
                      <a:noFill/>
                    </a:lnT>
                    <a:lnB>
                      <a:noFill/>
                    </a:lnB>
                    <a:noFill/>
                  </a:tcPr>
                </a:tc>
                <a:tc>
                  <a:txBody>
                    <a:bodyPr/>
                    <a:lstStyle/>
                    <a:p>
                      <a:pPr algn="r">
                        <a:buNone/>
                      </a:pPr>
                      <a:r>
                        <a:rPr lang="en-US" altLang="zh-CN" dirty="0"/>
                        <a:t>1</a:t>
                      </a:r>
                    </a:p>
                  </a:txBody>
                  <a:tcPr anchor="ctr">
                    <a:lnL>
                      <a:noFill/>
                    </a:lnL>
                    <a:lnR>
                      <a:noFill/>
                    </a:lnR>
                    <a:lnT>
                      <a:noFill/>
                    </a:lnT>
                    <a:lnB>
                      <a:noFill/>
                    </a:lnB>
                    <a:noFill/>
                  </a:tcPr>
                </a:tc>
                <a:extLst>
                  <a:ext uri="{0D108BD9-81ED-4DB2-BD59-A6C34878D82A}">
                    <a16:rowId xmlns:a16="http://schemas.microsoft.com/office/drawing/2014/main" val="3507521844"/>
                  </a:ext>
                </a:extLst>
              </a:tr>
            </a:tbl>
          </a:graphicData>
        </a:graphic>
      </p:graphicFrame>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14AF9C38-FD43-D6CE-1904-C96A86ED55F1}"/>
                  </a:ext>
                </a:extLst>
              </p:cNvPr>
              <p:cNvSpPr txBox="1"/>
              <p:nvPr/>
            </p:nvSpPr>
            <p:spPr>
              <a:xfrm>
                <a:off x="608400" y="3788229"/>
                <a:ext cx="11528182" cy="2416495"/>
              </a:xfrm>
              <a:prstGeom prst="rect">
                <a:avLst/>
              </a:prstGeom>
              <a:noFill/>
            </p:spPr>
            <p:txBody>
              <a:bodyPr wrap="square" rtlCol="0">
                <a:spAutoFit/>
              </a:bodyPr>
              <a:lstStyle/>
              <a:p>
                <a:r>
                  <a:rPr lang="zh-CN" altLang="en-US" dirty="0"/>
                  <a:t>朴素贝叶斯分类规则为：</a:t>
                </a:r>
              </a:p>
              <a:p>
                <a:pPr/>
                <a14:m>
                  <m:oMathPara xmlns:m="http://schemas.openxmlformats.org/officeDocument/2006/math">
                    <m:oMathParaPr>
                      <m:jc m:val="centerGroup"/>
                    </m:oMathParaPr>
                    <m:oMath xmlns:m="http://schemas.openxmlformats.org/officeDocument/2006/math">
                      <m:acc>
                        <m:accPr>
                          <m:chr m:val="̂"/>
                          <m:ctrlPr>
                            <a:rPr lang="ar-AE" altLang="zh-CN" i="1">
                              <a:latin typeface="Cambria Math" panose="02040503050406030204" pitchFamily="18" charset="0"/>
                            </a:rPr>
                          </m:ctrlPr>
                        </m:accPr>
                        <m:e>
                          <m:r>
                            <a:rPr lang="zh-CN" altLang="ar-AE" i="1">
                              <a:latin typeface="Cambria Math" panose="02040503050406030204" pitchFamily="18" charset="0"/>
                            </a:rPr>
                            <m:t>𝑦</m:t>
                          </m:r>
                        </m:e>
                      </m:acc>
                      <m:r>
                        <a:rPr lang="ar-AE" altLang="zh-CN">
                          <a:latin typeface="Cambria Math" panose="02040503050406030204" pitchFamily="18" charset="0"/>
                        </a:rPr>
                        <m:t>=</m:t>
                      </m:r>
                      <m:func>
                        <m:funcPr>
                          <m:ctrlPr>
                            <a:rPr lang="ar-AE" altLang="zh-CN" i="1">
                              <a:latin typeface="Cambria Math" panose="02040503050406030204" pitchFamily="18" charset="0"/>
                            </a:rPr>
                          </m:ctrlPr>
                        </m:funcPr>
                        <m:fName>
                          <m:r>
                            <m:rPr>
                              <m:sty m:val="p"/>
                            </m:rPr>
                            <a:rPr lang="en-US" altLang="zh-CN">
                              <a:latin typeface="Cambria Math" panose="02040503050406030204" pitchFamily="18" charset="0"/>
                            </a:rPr>
                            <m:t>arg</m:t>
                          </m:r>
                        </m:fName>
                        <m:e>
                          <m:limLow>
                            <m:limLowPr>
                              <m:ctrlPr>
                                <a:rPr lang="ar-AE" altLang="zh-CN" i="1">
                                  <a:latin typeface="Cambria Math" panose="02040503050406030204" pitchFamily="18" charset="0"/>
                                </a:rPr>
                              </m:ctrlPr>
                            </m:limLowPr>
                            <m:e>
                              <m:r>
                                <a:rPr lang="en-US" altLang="zh-CN" b="0" i="1" smtClean="0">
                                  <a:latin typeface="Cambria Math" panose="02040503050406030204" pitchFamily="18" charset="0"/>
                                </a:rPr>
                                <m:t>𝑚𝑎𝑥</m:t>
                              </m:r>
                            </m:e>
                            <m:lim>
                              <m:r>
                                <a:rPr lang="zh-CN" altLang="ar-AE" i="1">
                                  <a:latin typeface="Cambria Math" panose="02040503050406030204" pitchFamily="18" charset="0"/>
                                </a:rPr>
                                <m:t>𝑐</m:t>
                              </m:r>
                            </m:lim>
                          </m:limLow>
                        </m:e>
                      </m:func>
                      <m:r>
                        <a:rPr lang="zh-CN" altLang="ar-AE" i="1">
                          <a:latin typeface="Cambria Math" panose="02040503050406030204" pitchFamily="18" charset="0"/>
                        </a:rPr>
                        <m:t>𝑃</m:t>
                      </m:r>
                      <m:d>
                        <m:dPr>
                          <m:ctrlPr>
                            <a:rPr lang="ar-AE" altLang="zh-CN" i="1">
                              <a:latin typeface="Cambria Math" panose="02040503050406030204" pitchFamily="18" charset="0"/>
                            </a:rPr>
                          </m:ctrlPr>
                        </m:dPr>
                        <m:e>
                          <m:r>
                            <a:rPr lang="zh-CN" altLang="ar-AE" i="1">
                              <a:latin typeface="Cambria Math" panose="02040503050406030204" pitchFamily="18" charset="0"/>
                            </a:rPr>
                            <m:t>𝑐</m:t>
                          </m:r>
                          <m:r>
                            <a:rPr lang="ar-AE" altLang="zh-CN">
                              <a:latin typeface="Cambria Math" panose="02040503050406030204" pitchFamily="18" charset="0"/>
                            </a:rPr>
                            <m:t>∣</m:t>
                          </m:r>
                          <m:r>
                            <a:rPr lang="zh-CN" altLang="ar-AE" i="1">
                              <a:latin typeface="Cambria Math" panose="02040503050406030204" pitchFamily="18" charset="0"/>
                            </a:rPr>
                            <m:t>𝑥</m:t>
                          </m:r>
                        </m:e>
                      </m:d>
                    </m:oMath>
                  </m:oMathPara>
                </a14:m>
                <a:endParaRPr lang="ar-AE" altLang="zh-CN" dirty="0"/>
              </a:p>
              <a:p>
                <a:r>
                  <a:rPr lang="zh-CN" altLang="en-US" dirty="0"/>
                  <a:t>由贝叶斯公式：</a:t>
                </a:r>
              </a:p>
              <a:p>
                <a:pPr/>
                <a14:m>
                  <m:oMathPara xmlns:m="http://schemas.openxmlformats.org/officeDocument/2006/math">
                    <m:oMathParaPr>
                      <m:jc m:val="centerGroup"/>
                    </m:oMathParaPr>
                    <m:oMath xmlns:m="http://schemas.openxmlformats.org/officeDocument/2006/math">
                      <m:r>
                        <a:rPr lang="zh-CN" altLang="en-US" i="1">
                          <a:latin typeface="Cambria Math" panose="02040503050406030204" pitchFamily="18" charset="0"/>
                        </a:rPr>
                        <m:t>𝑃</m:t>
                      </m:r>
                      <m:d>
                        <m:dPr>
                          <m:ctrlPr>
                            <a:rPr lang="ar-AE" altLang="zh-CN" i="1">
                              <a:latin typeface="Cambria Math" panose="02040503050406030204" pitchFamily="18" charset="0"/>
                            </a:rPr>
                          </m:ctrlPr>
                        </m:dPr>
                        <m:e>
                          <m:r>
                            <a:rPr lang="zh-CN" altLang="ar-AE" i="1">
                              <a:latin typeface="Cambria Math" panose="02040503050406030204" pitchFamily="18" charset="0"/>
                            </a:rPr>
                            <m:t>𝑐</m:t>
                          </m:r>
                          <m:r>
                            <a:rPr lang="ar-AE" altLang="zh-CN">
                              <a:latin typeface="Cambria Math" panose="02040503050406030204" pitchFamily="18" charset="0"/>
                            </a:rPr>
                            <m:t>∣</m:t>
                          </m:r>
                          <m:r>
                            <a:rPr lang="zh-CN" altLang="ar-AE" i="1">
                              <a:latin typeface="Cambria Math" panose="02040503050406030204" pitchFamily="18" charset="0"/>
                            </a:rPr>
                            <m:t>𝑥</m:t>
                          </m:r>
                        </m:e>
                      </m:d>
                      <m:r>
                        <a:rPr lang="ar-AE" altLang="zh-CN">
                          <a:latin typeface="Cambria Math" panose="02040503050406030204" pitchFamily="18" charset="0"/>
                        </a:rPr>
                        <m:t>=</m:t>
                      </m:r>
                      <m:f>
                        <m:fPr>
                          <m:ctrlPr>
                            <a:rPr lang="ar-AE" altLang="zh-CN" i="1">
                              <a:latin typeface="Cambria Math" panose="02040503050406030204" pitchFamily="18" charset="0"/>
                            </a:rPr>
                          </m:ctrlPr>
                        </m:fPr>
                        <m:num>
                          <m:r>
                            <a:rPr lang="zh-CN" altLang="ar-AE" i="1">
                              <a:latin typeface="Cambria Math" panose="02040503050406030204" pitchFamily="18" charset="0"/>
                            </a:rPr>
                            <m:t>𝑃</m:t>
                          </m:r>
                          <m:d>
                            <m:dPr>
                              <m:ctrlPr>
                                <a:rPr lang="ar-AE" altLang="zh-CN" i="1">
                                  <a:latin typeface="Cambria Math" panose="02040503050406030204" pitchFamily="18" charset="0"/>
                                </a:rPr>
                              </m:ctrlPr>
                            </m:dPr>
                            <m:e>
                              <m:r>
                                <a:rPr lang="zh-CN" altLang="ar-AE" i="1">
                                  <a:latin typeface="Cambria Math" panose="02040503050406030204" pitchFamily="18" charset="0"/>
                                </a:rPr>
                                <m:t>𝑐</m:t>
                              </m:r>
                            </m:e>
                          </m:d>
                          <m:r>
                            <a:rPr lang="zh-CN" altLang="ar-AE" i="1">
                              <a:latin typeface="Cambria Math" panose="02040503050406030204" pitchFamily="18" charset="0"/>
                            </a:rPr>
                            <m:t>𝑃</m:t>
                          </m:r>
                          <m:d>
                            <m:dPr>
                              <m:ctrlPr>
                                <a:rPr lang="ar-AE" altLang="zh-CN" i="1">
                                  <a:latin typeface="Cambria Math" panose="02040503050406030204" pitchFamily="18" charset="0"/>
                                </a:rPr>
                              </m:ctrlPr>
                            </m:dPr>
                            <m:e>
                              <m:r>
                                <a:rPr lang="zh-CN" altLang="ar-AE" i="1">
                                  <a:latin typeface="Cambria Math" panose="02040503050406030204" pitchFamily="18" charset="0"/>
                                </a:rPr>
                                <m:t>𝑥</m:t>
                              </m:r>
                              <m:r>
                                <a:rPr lang="ar-AE" altLang="zh-CN">
                                  <a:latin typeface="Cambria Math" panose="02040503050406030204" pitchFamily="18" charset="0"/>
                                </a:rPr>
                                <m:t>∣</m:t>
                              </m:r>
                              <m:r>
                                <a:rPr lang="zh-CN" altLang="ar-AE" i="1">
                                  <a:latin typeface="Cambria Math" panose="02040503050406030204" pitchFamily="18" charset="0"/>
                                </a:rPr>
                                <m:t>𝑐</m:t>
                              </m:r>
                            </m:e>
                          </m:d>
                        </m:num>
                        <m:den>
                          <m:r>
                            <a:rPr lang="zh-CN" altLang="ar-AE" i="1">
                              <a:latin typeface="Cambria Math" panose="02040503050406030204" pitchFamily="18" charset="0"/>
                            </a:rPr>
                            <m:t>𝑃</m:t>
                          </m:r>
                          <m:d>
                            <m:dPr>
                              <m:ctrlPr>
                                <a:rPr lang="ar-AE" altLang="zh-CN" i="1">
                                  <a:latin typeface="Cambria Math" panose="02040503050406030204" pitchFamily="18" charset="0"/>
                                </a:rPr>
                              </m:ctrlPr>
                            </m:dPr>
                            <m:e>
                              <m:r>
                                <a:rPr lang="zh-CN" altLang="ar-AE" i="1">
                                  <a:latin typeface="Cambria Math" panose="02040503050406030204" pitchFamily="18" charset="0"/>
                                </a:rPr>
                                <m:t>𝑥</m:t>
                              </m:r>
                            </m:e>
                          </m:d>
                        </m:den>
                      </m:f>
                    </m:oMath>
                  </m:oMathPara>
                </a14:m>
                <a:endParaRPr lang="ar-AE" altLang="zh-CN" dirty="0"/>
              </a:p>
              <a:p>
                <a:r>
                  <a:rPr lang="zh-CN" altLang="en-US" dirty="0"/>
                  <a:t>由于 </a:t>
                </a:r>
                <a:r>
                  <a:rPr lang="en-US" altLang="zh-CN" dirty="0"/>
                  <a:t>P(x) </a:t>
                </a:r>
                <a:r>
                  <a:rPr lang="zh-CN" altLang="en-US" dirty="0"/>
                  <a:t>对所有类别相同，只需比较：</a:t>
                </a:r>
              </a:p>
              <a:p>
                <a:pPr/>
                <a14:m>
                  <m:oMathPara xmlns:m="http://schemas.openxmlformats.org/officeDocument/2006/math">
                    <m:oMathParaPr>
                      <m:jc m:val="centerGroup"/>
                    </m:oMathParaPr>
                    <m:oMath xmlns:m="http://schemas.openxmlformats.org/officeDocument/2006/math">
                      <m:r>
                        <a:rPr lang="zh-CN" altLang="en-US" i="1">
                          <a:latin typeface="Cambria Math" panose="02040503050406030204" pitchFamily="18" charset="0"/>
                        </a:rPr>
                        <m:t>𝑃</m:t>
                      </m:r>
                      <m:d>
                        <m:dPr>
                          <m:ctrlPr>
                            <a:rPr lang="ar-AE" altLang="zh-CN" i="1">
                              <a:latin typeface="Cambria Math" panose="02040503050406030204" pitchFamily="18" charset="0"/>
                            </a:rPr>
                          </m:ctrlPr>
                        </m:dPr>
                        <m:e>
                          <m:r>
                            <a:rPr lang="zh-CN" altLang="ar-AE" i="1">
                              <a:latin typeface="Cambria Math" panose="02040503050406030204" pitchFamily="18" charset="0"/>
                            </a:rPr>
                            <m:t>𝑐</m:t>
                          </m:r>
                        </m:e>
                      </m:d>
                      <m:r>
                        <a:rPr lang="zh-CN" altLang="ar-AE" i="1">
                          <a:latin typeface="Cambria Math" panose="02040503050406030204" pitchFamily="18" charset="0"/>
                        </a:rPr>
                        <m:t>𝑃</m:t>
                      </m:r>
                      <m:d>
                        <m:dPr>
                          <m:ctrlPr>
                            <a:rPr lang="ar-AE" altLang="zh-CN" i="1">
                              <a:latin typeface="Cambria Math" panose="02040503050406030204" pitchFamily="18" charset="0"/>
                            </a:rPr>
                          </m:ctrlPr>
                        </m:dPr>
                        <m:e>
                          <m:r>
                            <a:rPr lang="zh-CN" altLang="ar-AE" i="1">
                              <a:latin typeface="Cambria Math" panose="02040503050406030204" pitchFamily="18" charset="0"/>
                            </a:rPr>
                            <m:t>𝑥</m:t>
                          </m:r>
                          <m:r>
                            <a:rPr lang="ar-AE" altLang="zh-CN">
                              <a:latin typeface="Cambria Math" panose="02040503050406030204" pitchFamily="18" charset="0"/>
                            </a:rPr>
                            <m:t>∣</m:t>
                          </m:r>
                          <m:r>
                            <a:rPr lang="zh-CN" altLang="ar-AE" i="1">
                              <a:latin typeface="Cambria Math" panose="02040503050406030204" pitchFamily="18" charset="0"/>
                            </a:rPr>
                            <m:t>𝑐</m:t>
                          </m:r>
                        </m:e>
                      </m:d>
                    </m:oMath>
                  </m:oMathPara>
                </a14:m>
                <a:endParaRPr lang="ar-AE" altLang="zh-CN" dirty="0"/>
              </a:p>
              <a:p>
                <a:endParaRPr lang="zh-CN" altLang="en-US" dirty="0"/>
              </a:p>
            </p:txBody>
          </p:sp>
        </mc:Choice>
        <mc:Fallback xmlns="">
          <p:sp>
            <p:nvSpPr>
              <p:cNvPr id="4" name="文本框 3">
                <a:extLst>
                  <a:ext uri="{FF2B5EF4-FFF2-40B4-BE49-F238E27FC236}">
                    <a16:creationId xmlns:a16="http://schemas.microsoft.com/office/drawing/2014/main" id="{14AF9C38-FD43-D6CE-1904-C96A86ED55F1}"/>
                  </a:ext>
                </a:extLst>
              </p:cNvPr>
              <p:cNvSpPr txBox="1">
                <a:spLocks noRot="1" noChangeAspect="1" noMove="1" noResize="1" noEditPoints="1" noAdjustHandles="1" noChangeArrowheads="1" noChangeShapeType="1" noTextEdit="1"/>
              </p:cNvSpPr>
              <p:nvPr/>
            </p:nvSpPr>
            <p:spPr>
              <a:xfrm>
                <a:off x="608400" y="3788229"/>
                <a:ext cx="11528182" cy="2416495"/>
              </a:xfrm>
              <a:prstGeom prst="rect">
                <a:avLst/>
              </a:prstGeom>
              <a:blipFill>
                <a:blip r:embed="rId2"/>
                <a:stretch>
                  <a:fillRect l="-476" t="-125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8421962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993670-690C-1FB4-C2D7-9F33E22FB9E7}"/>
            </a:ext>
          </a:extLst>
        </p:cNvPr>
        <p:cNvGrpSpPr/>
        <p:nvPr/>
      </p:nvGrpSpPr>
      <p:grpSpPr>
        <a:xfrm>
          <a:off x="0" y="0"/>
          <a:ext cx="0" cy="0"/>
          <a:chOff x="0" y="0"/>
          <a:chExt cx="0" cy="0"/>
        </a:xfrm>
      </p:grpSpPr>
      <p:sp>
        <p:nvSpPr>
          <p:cNvPr id="27" name="文本框">
            <a:extLst>
              <a:ext uri="{FF2B5EF4-FFF2-40B4-BE49-F238E27FC236}">
                <a16:creationId xmlns:a16="http://schemas.microsoft.com/office/drawing/2014/main" id="{753F70EB-3EFE-D20F-F0B0-2048F3B67E9B}"/>
              </a:ext>
            </a:extLst>
          </p:cNvPr>
          <p:cNvSpPr>
            <a:spLocks noGrp="1"/>
          </p:cNvSpPr>
          <p:nvPr>
            <p:ph type="title"/>
          </p:nvPr>
        </p:nvSpPr>
        <p:spPr>
          <a:xfrm>
            <a:off x="608400" y="608400"/>
            <a:ext cx="10969201" cy="705599"/>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marL="0" indent="0" algn="l">
              <a:lnSpc>
                <a:spcPct val="100000"/>
              </a:lnSpc>
              <a:spcBef>
                <a:spcPts val="0"/>
              </a:spcBef>
              <a:spcAft>
                <a:spcPts val="0"/>
              </a:spcAft>
              <a:buNone/>
            </a:pPr>
            <a:r>
              <a:rPr lang="zh-CN" altLang="en-US" sz="3600" b="1" i="0" u="none" strike="noStrike" kern="1200" cap="none" spc="300" baseline="0" dirty="0">
                <a:solidFill>
                  <a:srgbClr val="262626"/>
                </a:solidFill>
                <a:latin typeface="Arial" charset="0"/>
                <a:ea typeface="微软雅黑" charset="0"/>
                <a:cs typeface="Lucida Sans"/>
              </a:rPr>
              <a:t>题型</a:t>
            </a:r>
            <a:r>
              <a:rPr lang="en-US" altLang="zh-CN" dirty="0">
                <a:cs typeface="Lucida Sans"/>
              </a:rPr>
              <a:t>3</a:t>
            </a:r>
            <a:r>
              <a:rPr lang="zh-CN" altLang="en-US" sz="3600" b="1" i="0" u="none" strike="noStrike" kern="1200" cap="none" spc="300" baseline="0" dirty="0">
                <a:solidFill>
                  <a:srgbClr val="262626"/>
                </a:solidFill>
                <a:latin typeface="Arial" charset="0"/>
                <a:ea typeface="微软雅黑" charset="0"/>
                <a:cs typeface="Lucida Sans"/>
              </a:rPr>
              <a:t>：</a:t>
            </a:r>
            <a:r>
              <a:rPr lang="en-US" altLang="zh-CN" sz="3600" b="1" i="0" u="none" strike="noStrike" kern="1200" cap="none" spc="300" baseline="0" dirty="0">
                <a:solidFill>
                  <a:srgbClr val="262626"/>
                </a:solidFill>
                <a:latin typeface="Arial" charset="0"/>
                <a:ea typeface="微软雅黑" charset="0"/>
                <a:cs typeface="Lucida Sans"/>
              </a:rPr>
              <a:t> </a:t>
            </a:r>
            <a:r>
              <a:rPr lang="zh-CN" altLang="en-US" sz="3600" b="1" i="0" u="none" strike="noStrike" kern="1200" cap="none" spc="300" baseline="0" dirty="0">
                <a:solidFill>
                  <a:srgbClr val="262626"/>
                </a:solidFill>
                <a:latin typeface="Arial" charset="0"/>
                <a:ea typeface="微软雅黑" charset="0"/>
                <a:cs typeface="Lucida Sans"/>
              </a:rPr>
              <a:t>计算题</a:t>
            </a:r>
          </a:p>
        </p:txBody>
      </p:sp>
      <p:graphicFrame>
        <p:nvGraphicFramePr>
          <p:cNvPr id="2" name="表格 1">
            <a:extLst>
              <a:ext uri="{FF2B5EF4-FFF2-40B4-BE49-F238E27FC236}">
                <a16:creationId xmlns:a16="http://schemas.microsoft.com/office/drawing/2014/main" id="{75E4CBF9-9F86-591D-610C-4DFB1F9DAEB3}"/>
              </a:ext>
            </a:extLst>
          </p:cNvPr>
          <p:cNvGraphicFramePr>
            <a:graphicFrameLocks noGrp="1"/>
          </p:cNvGraphicFramePr>
          <p:nvPr>
            <p:extLst>
              <p:ext uri="{D42A27DB-BD31-4B8C-83A1-F6EECF244321}">
                <p14:modId xmlns:p14="http://schemas.microsoft.com/office/powerpoint/2010/main" val="393470200"/>
              </p:ext>
            </p:extLst>
          </p:nvPr>
        </p:nvGraphicFramePr>
        <p:xfrm>
          <a:off x="697078" y="1488995"/>
          <a:ext cx="4510252" cy="1371600"/>
        </p:xfrm>
        <a:graphic>
          <a:graphicData uri="http://schemas.openxmlformats.org/drawingml/2006/table">
            <a:tbl>
              <a:tblPr/>
              <a:tblGrid>
                <a:gridCol w="1127563">
                  <a:extLst>
                    <a:ext uri="{9D8B030D-6E8A-4147-A177-3AD203B41FA5}">
                      <a16:colId xmlns:a16="http://schemas.microsoft.com/office/drawing/2014/main" val="3727041045"/>
                    </a:ext>
                  </a:extLst>
                </a:gridCol>
                <a:gridCol w="1127563">
                  <a:extLst>
                    <a:ext uri="{9D8B030D-6E8A-4147-A177-3AD203B41FA5}">
                      <a16:colId xmlns:a16="http://schemas.microsoft.com/office/drawing/2014/main" val="1033380254"/>
                    </a:ext>
                  </a:extLst>
                </a:gridCol>
                <a:gridCol w="1127563">
                  <a:extLst>
                    <a:ext uri="{9D8B030D-6E8A-4147-A177-3AD203B41FA5}">
                      <a16:colId xmlns:a16="http://schemas.microsoft.com/office/drawing/2014/main" val="370597376"/>
                    </a:ext>
                  </a:extLst>
                </a:gridCol>
                <a:gridCol w="1127563">
                  <a:extLst>
                    <a:ext uri="{9D8B030D-6E8A-4147-A177-3AD203B41FA5}">
                      <a16:colId xmlns:a16="http://schemas.microsoft.com/office/drawing/2014/main" val="4284687511"/>
                    </a:ext>
                  </a:extLst>
                </a:gridCol>
              </a:tblGrid>
              <a:tr h="0">
                <a:tc>
                  <a:txBody>
                    <a:bodyPr/>
                    <a:lstStyle/>
                    <a:p>
                      <a:pPr>
                        <a:buNone/>
                      </a:pPr>
                      <a:r>
                        <a:rPr lang="zh-CN" altLang="en-US" sz="1200"/>
                        <a:t>特征</a:t>
                      </a:r>
                    </a:p>
                  </a:txBody>
                  <a:tcPr anchor="ctr">
                    <a:lnL>
                      <a:noFill/>
                    </a:lnL>
                    <a:lnR>
                      <a:noFill/>
                    </a:lnR>
                    <a:lnT>
                      <a:noFill/>
                    </a:lnT>
                    <a:lnB>
                      <a:noFill/>
                    </a:lnB>
                    <a:noFill/>
                  </a:tcPr>
                </a:tc>
                <a:tc>
                  <a:txBody>
                    <a:bodyPr/>
                    <a:lstStyle/>
                    <a:p>
                      <a:pPr>
                        <a:buNone/>
                      </a:pPr>
                      <a:r>
                        <a:rPr lang="zh-CN" altLang="en-US" sz="1200"/>
                        <a:t>取值</a:t>
                      </a:r>
                    </a:p>
                  </a:txBody>
                  <a:tcPr anchor="ctr">
                    <a:lnL>
                      <a:noFill/>
                    </a:lnL>
                    <a:lnR>
                      <a:noFill/>
                    </a:lnR>
                    <a:lnT>
                      <a:noFill/>
                    </a:lnT>
                    <a:lnB>
                      <a:noFill/>
                    </a:lnB>
                    <a:noFill/>
                  </a:tcPr>
                </a:tc>
                <a:tc>
                  <a:txBody>
                    <a:bodyPr/>
                    <a:lstStyle/>
                    <a:p>
                      <a:pPr algn="r">
                        <a:buNone/>
                      </a:pPr>
                      <a:r>
                        <a:rPr lang="en-US" sz="1200" dirty="0"/>
                        <a:t>Yes</a:t>
                      </a:r>
                    </a:p>
                  </a:txBody>
                  <a:tcPr anchor="ctr">
                    <a:lnL>
                      <a:noFill/>
                    </a:lnL>
                    <a:lnR>
                      <a:noFill/>
                    </a:lnR>
                    <a:lnT>
                      <a:noFill/>
                    </a:lnT>
                    <a:lnB>
                      <a:noFill/>
                    </a:lnB>
                    <a:noFill/>
                  </a:tcPr>
                </a:tc>
                <a:tc>
                  <a:txBody>
                    <a:bodyPr/>
                    <a:lstStyle/>
                    <a:p>
                      <a:pPr algn="r">
                        <a:buNone/>
                      </a:pPr>
                      <a:r>
                        <a:rPr lang="en-US" sz="1200"/>
                        <a:t>No</a:t>
                      </a:r>
                    </a:p>
                  </a:txBody>
                  <a:tcPr anchor="ctr">
                    <a:lnL>
                      <a:noFill/>
                    </a:lnL>
                    <a:lnR>
                      <a:noFill/>
                    </a:lnR>
                    <a:lnT>
                      <a:noFill/>
                    </a:lnT>
                    <a:lnB>
                      <a:noFill/>
                    </a:lnB>
                    <a:noFill/>
                  </a:tcPr>
                </a:tc>
                <a:extLst>
                  <a:ext uri="{0D108BD9-81ED-4DB2-BD59-A6C34878D82A}">
                    <a16:rowId xmlns:a16="http://schemas.microsoft.com/office/drawing/2014/main" val="2307758174"/>
                  </a:ext>
                </a:extLst>
              </a:tr>
              <a:tr h="0">
                <a:tc>
                  <a:txBody>
                    <a:bodyPr/>
                    <a:lstStyle/>
                    <a:p>
                      <a:pPr>
                        <a:buNone/>
                      </a:pPr>
                      <a:r>
                        <a:rPr lang="zh-CN" altLang="en-US" sz="1200"/>
                        <a:t>总数</a:t>
                      </a:r>
                    </a:p>
                  </a:txBody>
                  <a:tcPr anchor="ctr">
                    <a:lnL>
                      <a:noFill/>
                    </a:lnL>
                    <a:lnR>
                      <a:noFill/>
                    </a:lnR>
                    <a:lnT>
                      <a:noFill/>
                    </a:lnT>
                    <a:lnB>
                      <a:noFill/>
                    </a:lnB>
                    <a:noFill/>
                  </a:tcPr>
                </a:tc>
                <a:tc>
                  <a:txBody>
                    <a:bodyPr/>
                    <a:lstStyle/>
                    <a:p>
                      <a:pPr>
                        <a:buNone/>
                      </a:pPr>
                      <a:endParaRPr lang="zh-CN" altLang="en-US" sz="1200"/>
                    </a:p>
                  </a:txBody>
                  <a:tcPr anchor="ctr">
                    <a:lnL>
                      <a:noFill/>
                    </a:lnL>
                    <a:lnR>
                      <a:noFill/>
                    </a:lnR>
                    <a:lnT>
                      <a:noFill/>
                    </a:lnT>
                    <a:lnB>
                      <a:noFill/>
                    </a:lnB>
                    <a:noFill/>
                  </a:tcPr>
                </a:tc>
                <a:tc>
                  <a:txBody>
                    <a:bodyPr/>
                    <a:lstStyle/>
                    <a:p>
                      <a:pPr algn="r">
                        <a:buNone/>
                      </a:pPr>
                      <a:r>
                        <a:rPr lang="en-US" altLang="zh-CN" sz="1200"/>
                        <a:t>9</a:t>
                      </a:r>
                    </a:p>
                  </a:txBody>
                  <a:tcPr anchor="ctr">
                    <a:lnL>
                      <a:noFill/>
                    </a:lnL>
                    <a:lnR>
                      <a:noFill/>
                    </a:lnR>
                    <a:lnT>
                      <a:noFill/>
                    </a:lnT>
                    <a:lnB>
                      <a:noFill/>
                    </a:lnB>
                    <a:noFill/>
                  </a:tcPr>
                </a:tc>
                <a:tc>
                  <a:txBody>
                    <a:bodyPr/>
                    <a:lstStyle/>
                    <a:p>
                      <a:pPr algn="r">
                        <a:buNone/>
                      </a:pPr>
                      <a:r>
                        <a:rPr lang="en-US" altLang="zh-CN" sz="1200"/>
                        <a:t>5</a:t>
                      </a:r>
                    </a:p>
                  </a:txBody>
                  <a:tcPr anchor="ctr">
                    <a:lnL>
                      <a:noFill/>
                    </a:lnL>
                    <a:lnR>
                      <a:noFill/>
                    </a:lnR>
                    <a:lnT>
                      <a:noFill/>
                    </a:lnT>
                    <a:lnB>
                      <a:noFill/>
                    </a:lnB>
                    <a:noFill/>
                  </a:tcPr>
                </a:tc>
                <a:extLst>
                  <a:ext uri="{0D108BD9-81ED-4DB2-BD59-A6C34878D82A}">
                    <a16:rowId xmlns:a16="http://schemas.microsoft.com/office/drawing/2014/main" val="706730526"/>
                  </a:ext>
                </a:extLst>
              </a:tr>
              <a:tr h="0">
                <a:tc>
                  <a:txBody>
                    <a:bodyPr/>
                    <a:lstStyle/>
                    <a:p>
                      <a:pPr>
                        <a:buNone/>
                      </a:pPr>
                      <a:r>
                        <a:rPr lang="en-US" sz="1200"/>
                        <a:t>Sex</a:t>
                      </a:r>
                    </a:p>
                  </a:txBody>
                  <a:tcPr anchor="ctr">
                    <a:lnL>
                      <a:noFill/>
                    </a:lnL>
                    <a:lnR>
                      <a:noFill/>
                    </a:lnR>
                    <a:lnT>
                      <a:noFill/>
                    </a:lnT>
                    <a:lnB>
                      <a:noFill/>
                    </a:lnB>
                    <a:noFill/>
                  </a:tcPr>
                </a:tc>
                <a:tc>
                  <a:txBody>
                    <a:bodyPr/>
                    <a:lstStyle/>
                    <a:p>
                      <a:pPr>
                        <a:buNone/>
                      </a:pPr>
                      <a:r>
                        <a:rPr lang="en-US" sz="1200"/>
                        <a:t>Female</a:t>
                      </a:r>
                    </a:p>
                  </a:txBody>
                  <a:tcPr anchor="ctr">
                    <a:lnL>
                      <a:noFill/>
                    </a:lnL>
                    <a:lnR>
                      <a:noFill/>
                    </a:lnR>
                    <a:lnT>
                      <a:noFill/>
                    </a:lnT>
                    <a:lnB>
                      <a:noFill/>
                    </a:lnB>
                    <a:noFill/>
                  </a:tcPr>
                </a:tc>
                <a:tc>
                  <a:txBody>
                    <a:bodyPr/>
                    <a:lstStyle/>
                    <a:p>
                      <a:pPr algn="r">
                        <a:buNone/>
                      </a:pPr>
                      <a:r>
                        <a:rPr lang="en-US" altLang="zh-CN" sz="1200" dirty="0"/>
                        <a:t>5</a:t>
                      </a:r>
                    </a:p>
                  </a:txBody>
                  <a:tcPr anchor="ctr">
                    <a:lnL>
                      <a:noFill/>
                    </a:lnL>
                    <a:lnR>
                      <a:noFill/>
                    </a:lnR>
                    <a:lnT>
                      <a:noFill/>
                    </a:lnT>
                    <a:lnB>
                      <a:noFill/>
                    </a:lnB>
                    <a:noFill/>
                  </a:tcPr>
                </a:tc>
                <a:tc>
                  <a:txBody>
                    <a:bodyPr/>
                    <a:lstStyle/>
                    <a:p>
                      <a:pPr algn="r">
                        <a:buNone/>
                      </a:pPr>
                      <a:r>
                        <a:rPr lang="en-US" altLang="zh-CN" sz="1200"/>
                        <a:t>2</a:t>
                      </a:r>
                    </a:p>
                  </a:txBody>
                  <a:tcPr anchor="ctr">
                    <a:lnL>
                      <a:noFill/>
                    </a:lnL>
                    <a:lnR>
                      <a:noFill/>
                    </a:lnR>
                    <a:lnT>
                      <a:noFill/>
                    </a:lnT>
                    <a:lnB>
                      <a:noFill/>
                    </a:lnB>
                    <a:noFill/>
                  </a:tcPr>
                </a:tc>
                <a:extLst>
                  <a:ext uri="{0D108BD9-81ED-4DB2-BD59-A6C34878D82A}">
                    <a16:rowId xmlns:a16="http://schemas.microsoft.com/office/drawing/2014/main" val="515988395"/>
                  </a:ext>
                </a:extLst>
              </a:tr>
              <a:tr h="0">
                <a:tc>
                  <a:txBody>
                    <a:bodyPr/>
                    <a:lstStyle/>
                    <a:p>
                      <a:pPr>
                        <a:buNone/>
                      </a:pPr>
                      <a:r>
                        <a:rPr lang="en-US" sz="1200"/>
                        <a:t>Salary</a:t>
                      </a:r>
                    </a:p>
                  </a:txBody>
                  <a:tcPr anchor="ctr">
                    <a:lnL>
                      <a:noFill/>
                    </a:lnL>
                    <a:lnR>
                      <a:noFill/>
                    </a:lnR>
                    <a:lnT>
                      <a:noFill/>
                    </a:lnT>
                    <a:lnB>
                      <a:noFill/>
                    </a:lnB>
                    <a:noFill/>
                  </a:tcPr>
                </a:tc>
                <a:tc>
                  <a:txBody>
                    <a:bodyPr/>
                    <a:lstStyle/>
                    <a:p>
                      <a:pPr>
                        <a:buNone/>
                      </a:pPr>
                      <a:r>
                        <a:rPr lang="en-US" altLang="zh-CN" sz="1200" dirty="0"/>
                        <a:t>&gt;80</a:t>
                      </a:r>
                    </a:p>
                  </a:txBody>
                  <a:tcPr anchor="ctr">
                    <a:lnL>
                      <a:noFill/>
                    </a:lnL>
                    <a:lnR>
                      <a:noFill/>
                    </a:lnR>
                    <a:lnT>
                      <a:noFill/>
                    </a:lnT>
                    <a:lnB>
                      <a:noFill/>
                    </a:lnB>
                    <a:noFill/>
                  </a:tcPr>
                </a:tc>
                <a:tc>
                  <a:txBody>
                    <a:bodyPr/>
                    <a:lstStyle/>
                    <a:p>
                      <a:pPr algn="r">
                        <a:buNone/>
                      </a:pPr>
                      <a:r>
                        <a:rPr lang="en-US" altLang="zh-CN" sz="1200"/>
                        <a:t>3</a:t>
                      </a:r>
                    </a:p>
                  </a:txBody>
                  <a:tcPr anchor="ctr">
                    <a:lnL>
                      <a:noFill/>
                    </a:lnL>
                    <a:lnR>
                      <a:noFill/>
                    </a:lnR>
                    <a:lnT>
                      <a:noFill/>
                    </a:lnT>
                    <a:lnB>
                      <a:noFill/>
                    </a:lnB>
                    <a:noFill/>
                  </a:tcPr>
                </a:tc>
                <a:tc>
                  <a:txBody>
                    <a:bodyPr/>
                    <a:lstStyle/>
                    <a:p>
                      <a:pPr algn="r">
                        <a:buNone/>
                      </a:pPr>
                      <a:r>
                        <a:rPr lang="en-US" altLang="zh-CN" sz="1200"/>
                        <a:t>1</a:t>
                      </a:r>
                    </a:p>
                  </a:txBody>
                  <a:tcPr anchor="ctr">
                    <a:lnL>
                      <a:noFill/>
                    </a:lnL>
                    <a:lnR>
                      <a:noFill/>
                    </a:lnR>
                    <a:lnT>
                      <a:noFill/>
                    </a:lnT>
                    <a:lnB>
                      <a:noFill/>
                    </a:lnB>
                    <a:noFill/>
                  </a:tcPr>
                </a:tc>
                <a:extLst>
                  <a:ext uri="{0D108BD9-81ED-4DB2-BD59-A6C34878D82A}">
                    <a16:rowId xmlns:a16="http://schemas.microsoft.com/office/drawing/2014/main" val="823047629"/>
                  </a:ext>
                </a:extLst>
              </a:tr>
              <a:tr h="0">
                <a:tc>
                  <a:txBody>
                    <a:bodyPr/>
                    <a:lstStyle/>
                    <a:p>
                      <a:pPr>
                        <a:buNone/>
                      </a:pPr>
                      <a:r>
                        <a:rPr lang="en-US" sz="1200"/>
                        <a:t>Age</a:t>
                      </a:r>
                    </a:p>
                  </a:txBody>
                  <a:tcPr anchor="ctr">
                    <a:lnL>
                      <a:noFill/>
                    </a:lnL>
                    <a:lnR>
                      <a:noFill/>
                    </a:lnR>
                    <a:lnT>
                      <a:noFill/>
                    </a:lnT>
                    <a:lnB>
                      <a:noFill/>
                    </a:lnB>
                    <a:noFill/>
                  </a:tcPr>
                </a:tc>
                <a:tc>
                  <a:txBody>
                    <a:bodyPr/>
                    <a:lstStyle/>
                    <a:p>
                      <a:pPr>
                        <a:buNone/>
                      </a:pPr>
                      <a:r>
                        <a:rPr lang="en-US" sz="1200" dirty="0"/>
                        <a:t>31~50</a:t>
                      </a:r>
                    </a:p>
                  </a:txBody>
                  <a:tcPr anchor="ctr">
                    <a:lnL>
                      <a:noFill/>
                    </a:lnL>
                    <a:lnR>
                      <a:noFill/>
                    </a:lnR>
                    <a:lnT>
                      <a:noFill/>
                    </a:lnT>
                    <a:lnB>
                      <a:noFill/>
                    </a:lnB>
                    <a:noFill/>
                  </a:tcPr>
                </a:tc>
                <a:tc>
                  <a:txBody>
                    <a:bodyPr/>
                    <a:lstStyle/>
                    <a:p>
                      <a:pPr algn="r">
                        <a:buNone/>
                      </a:pPr>
                      <a:r>
                        <a:rPr lang="en-US" altLang="zh-CN" sz="1200"/>
                        <a:t>5</a:t>
                      </a:r>
                    </a:p>
                  </a:txBody>
                  <a:tcPr anchor="ctr">
                    <a:lnL>
                      <a:noFill/>
                    </a:lnL>
                    <a:lnR>
                      <a:noFill/>
                    </a:lnR>
                    <a:lnT>
                      <a:noFill/>
                    </a:lnT>
                    <a:lnB>
                      <a:noFill/>
                    </a:lnB>
                    <a:noFill/>
                  </a:tcPr>
                </a:tc>
                <a:tc>
                  <a:txBody>
                    <a:bodyPr/>
                    <a:lstStyle/>
                    <a:p>
                      <a:pPr algn="r">
                        <a:buNone/>
                      </a:pPr>
                      <a:r>
                        <a:rPr lang="en-US" altLang="zh-CN" sz="1200" dirty="0"/>
                        <a:t>1</a:t>
                      </a:r>
                    </a:p>
                  </a:txBody>
                  <a:tcPr anchor="ctr">
                    <a:lnL>
                      <a:noFill/>
                    </a:lnL>
                    <a:lnR>
                      <a:noFill/>
                    </a:lnR>
                    <a:lnT>
                      <a:noFill/>
                    </a:lnT>
                    <a:lnB>
                      <a:noFill/>
                    </a:lnB>
                    <a:noFill/>
                  </a:tcPr>
                </a:tc>
                <a:extLst>
                  <a:ext uri="{0D108BD9-81ED-4DB2-BD59-A6C34878D82A}">
                    <a16:rowId xmlns:a16="http://schemas.microsoft.com/office/drawing/2014/main" val="3507521844"/>
                  </a:ext>
                </a:extLst>
              </a:tr>
            </a:tbl>
          </a:graphicData>
        </a:graphic>
      </p:graphicFrame>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82B993B5-A71A-D167-9ACC-A3C33C324F7E}"/>
                  </a:ext>
                </a:extLst>
              </p:cNvPr>
              <p:cNvSpPr txBox="1"/>
              <p:nvPr/>
            </p:nvSpPr>
            <p:spPr>
              <a:xfrm>
                <a:off x="697078" y="3429000"/>
                <a:ext cx="6095010" cy="3183051"/>
              </a:xfrm>
              <a:prstGeom prst="rect">
                <a:avLst/>
              </a:prstGeom>
              <a:noFill/>
            </p:spPr>
            <p:txBody>
              <a:bodyPr wrap="square">
                <a:spAutoFit/>
              </a:bodyPr>
              <a:lstStyle/>
              <a:p>
                <a:pPr>
                  <a:buNone/>
                </a:pPr>
                <a:r>
                  <a:rPr lang="zh-CN" altLang="en-US" sz="1400" b="1" dirty="0"/>
                  <a:t>计算 </a:t>
                </a:r>
                <a:r>
                  <a:rPr lang="en-US" altLang="zh-CN" sz="1400" b="1" dirty="0"/>
                  <a:t>Yes </a:t>
                </a:r>
                <a:r>
                  <a:rPr lang="zh-CN" altLang="en-US" sz="1400" b="1" dirty="0"/>
                  <a:t>类</a:t>
                </a:r>
              </a:p>
              <a:p>
                <a:pPr>
                  <a:buNone/>
                </a:pPr>
                <a14:m>
                  <m:oMathPara xmlns:m="http://schemas.openxmlformats.org/officeDocument/2006/math">
                    <m:oMathParaPr>
                      <m:jc m:val="centerGroup"/>
                    </m:oMathParaPr>
                    <m:oMath xmlns:m="http://schemas.openxmlformats.org/officeDocument/2006/math">
                      <m:r>
                        <a:rPr lang="zh-CN" altLang="en-US" sz="1400" i="1">
                          <a:latin typeface="Cambria Math" panose="02040503050406030204" pitchFamily="18" charset="0"/>
                        </a:rPr>
                        <m:t>𝑃</m:t>
                      </m:r>
                      <m:d>
                        <m:dPr>
                          <m:ctrlPr>
                            <a:rPr lang="ar-AE" altLang="zh-CN" sz="1400" i="1">
                              <a:latin typeface="Cambria Math" panose="02040503050406030204" pitchFamily="18" charset="0"/>
                            </a:rPr>
                          </m:ctrlPr>
                        </m:dPr>
                        <m:e>
                          <m:r>
                            <a:rPr lang="zh-CN" altLang="ar-AE" sz="1400" i="1">
                              <a:latin typeface="Cambria Math" panose="02040503050406030204" pitchFamily="18" charset="0"/>
                            </a:rPr>
                            <m:t>𝑌𝑒𝑠</m:t>
                          </m:r>
                        </m:e>
                      </m:d>
                      <m:r>
                        <a:rPr lang="ar-AE" altLang="zh-CN" sz="1400" i="0">
                          <a:latin typeface="Cambria Math" panose="02040503050406030204" pitchFamily="18" charset="0"/>
                        </a:rPr>
                        <m:t>=</m:t>
                      </m:r>
                      <m:f>
                        <m:fPr>
                          <m:ctrlPr>
                            <a:rPr lang="ar-AE" altLang="zh-CN" sz="1400" i="1">
                              <a:latin typeface="Cambria Math" panose="02040503050406030204" pitchFamily="18" charset="0"/>
                            </a:rPr>
                          </m:ctrlPr>
                        </m:fPr>
                        <m:num>
                          <m:r>
                            <a:rPr lang="ar-AE" altLang="zh-CN" sz="1400" i="0">
                              <a:latin typeface="Cambria Math" panose="02040503050406030204" pitchFamily="18" charset="0"/>
                            </a:rPr>
                            <m:t>9</m:t>
                          </m:r>
                        </m:num>
                        <m:den>
                          <m:r>
                            <a:rPr lang="ar-AE" altLang="zh-CN" sz="1400" i="0">
                              <a:latin typeface="Cambria Math" panose="02040503050406030204" pitchFamily="18" charset="0"/>
                            </a:rPr>
                            <m:t>14</m:t>
                          </m:r>
                        </m:den>
                      </m:f>
                    </m:oMath>
                  </m:oMathPara>
                </a14:m>
                <a:endParaRPr lang="ar-AE" altLang="zh-CN" sz="1400" dirty="0"/>
              </a:p>
              <a:p>
                <a:pPr>
                  <a:buNone/>
                </a:pPr>
                <a14:m>
                  <m:oMathPara xmlns:m="http://schemas.openxmlformats.org/officeDocument/2006/math">
                    <m:oMathParaPr>
                      <m:jc m:val="centerGroup"/>
                    </m:oMathParaPr>
                    <m:oMath xmlns:m="http://schemas.openxmlformats.org/officeDocument/2006/math">
                      <m:r>
                        <a:rPr lang="zh-CN" altLang="ar-AE" sz="1400" i="1">
                          <a:latin typeface="Cambria Math" panose="02040503050406030204" pitchFamily="18" charset="0"/>
                        </a:rPr>
                        <m:t>𝑃</m:t>
                      </m:r>
                      <m:d>
                        <m:dPr>
                          <m:ctrlPr>
                            <a:rPr lang="ar-AE" altLang="zh-CN" sz="1400" i="1">
                              <a:latin typeface="Cambria Math" panose="02040503050406030204" pitchFamily="18" charset="0"/>
                            </a:rPr>
                          </m:ctrlPr>
                        </m:dPr>
                        <m:e>
                          <m:r>
                            <a:rPr lang="zh-CN" altLang="ar-AE" sz="1400" i="1">
                              <a:latin typeface="Cambria Math" panose="02040503050406030204" pitchFamily="18" charset="0"/>
                            </a:rPr>
                            <m:t>𝐹𝑒𝑚𝑎𝑙𝑒</m:t>
                          </m:r>
                          <m:r>
                            <a:rPr lang="ar-AE" altLang="zh-CN" sz="1400" i="0">
                              <a:latin typeface="Cambria Math" panose="02040503050406030204" pitchFamily="18" charset="0"/>
                            </a:rPr>
                            <m:t>∣</m:t>
                          </m:r>
                          <m:r>
                            <a:rPr lang="zh-CN" altLang="ar-AE" sz="1400" i="1">
                              <a:latin typeface="Cambria Math" panose="02040503050406030204" pitchFamily="18" charset="0"/>
                            </a:rPr>
                            <m:t>𝑌𝑒𝑠</m:t>
                          </m:r>
                        </m:e>
                      </m:d>
                      <m:r>
                        <a:rPr lang="ar-AE" altLang="zh-CN" sz="1400" i="0">
                          <a:latin typeface="Cambria Math" panose="02040503050406030204" pitchFamily="18" charset="0"/>
                        </a:rPr>
                        <m:t>=</m:t>
                      </m:r>
                      <m:f>
                        <m:fPr>
                          <m:ctrlPr>
                            <a:rPr lang="ar-AE" altLang="zh-CN" sz="1400" i="1">
                              <a:latin typeface="Cambria Math" panose="02040503050406030204" pitchFamily="18" charset="0"/>
                            </a:rPr>
                          </m:ctrlPr>
                        </m:fPr>
                        <m:num>
                          <m:r>
                            <a:rPr lang="ar-AE" altLang="zh-CN" sz="1400" i="0">
                              <a:latin typeface="Cambria Math" panose="02040503050406030204" pitchFamily="18" charset="0"/>
                            </a:rPr>
                            <m:t>5</m:t>
                          </m:r>
                        </m:num>
                        <m:den>
                          <m:r>
                            <a:rPr lang="ar-AE" altLang="zh-CN" sz="1400" i="0">
                              <a:latin typeface="Cambria Math" panose="02040503050406030204" pitchFamily="18" charset="0"/>
                            </a:rPr>
                            <m:t>9</m:t>
                          </m:r>
                        </m:den>
                      </m:f>
                    </m:oMath>
                  </m:oMathPara>
                </a14:m>
                <a:endParaRPr lang="ar-AE" altLang="zh-CN" sz="1400" dirty="0"/>
              </a:p>
              <a:p>
                <a:pPr>
                  <a:buNone/>
                </a:pPr>
                <a14:m>
                  <m:oMathPara xmlns:m="http://schemas.openxmlformats.org/officeDocument/2006/math">
                    <m:oMathParaPr>
                      <m:jc m:val="centerGroup"/>
                    </m:oMathParaPr>
                    <m:oMath xmlns:m="http://schemas.openxmlformats.org/officeDocument/2006/math">
                      <m:r>
                        <a:rPr lang="zh-CN" altLang="ar-AE" sz="1400" i="1">
                          <a:latin typeface="Cambria Math" panose="02040503050406030204" pitchFamily="18" charset="0"/>
                        </a:rPr>
                        <m:t>𝑃</m:t>
                      </m:r>
                      <m:d>
                        <m:dPr>
                          <m:ctrlPr>
                            <a:rPr lang="ar-AE" altLang="zh-CN" sz="1400" i="1">
                              <a:latin typeface="Cambria Math" panose="02040503050406030204" pitchFamily="18" charset="0"/>
                            </a:rPr>
                          </m:ctrlPr>
                        </m:dPr>
                        <m:e>
                          <m:r>
                            <a:rPr lang="ar-AE" altLang="zh-CN" sz="1400" i="0">
                              <a:latin typeface="Cambria Math" panose="02040503050406030204" pitchFamily="18" charset="0"/>
                            </a:rPr>
                            <m:t>&gt;</m:t>
                          </m:r>
                          <m:r>
                            <a:rPr lang="ar-AE" altLang="zh-CN" sz="1400" i="0">
                              <a:latin typeface="Cambria Math" panose="02040503050406030204" pitchFamily="18" charset="0"/>
                            </a:rPr>
                            <m:t>80</m:t>
                          </m:r>
                          <m:r>
                            <a:rPr lang="ar-AE" altLang="zh-CN" sz="1400" i="0">
                              <a:latin typeface="Cambria Math" panose="02040503050406030204" pitchFamily="18" charset="0"/>
                            </a:rPr>
                            <m:t>∣</m:t>
                          </m:r>
                          <m:r>
                            <a:rPr lang="zh-CN" altLang="ar-AE" sz="1400" i="1">
                              <a:latin typeface="Cambria Math" panose="02040503050406030204" pitchFamily="18" charset="0"/>
                            </a:rPr>
                            <m:t>𝑌𝑒𝑠</m:t>
                          </m:r>
                        </m:e>
                      </m:d>
                      <m:r>
                        <a:rPr lang="ar-AE" altLang="zh-CN" sz="1400" i="0">
                          <a:latin typeface="Cambria Math" panose="02040503050406030204" pitchFamily="18" charset="0"/>
                        </a:rPr>
                        <m:t>=</m:t>
                      </m:r>
                      <m:f>
                        <m:fPr>
                          <m:ctrlPr>
                            <a:rPr lang="ar-AE" altLang="zh-CN" sz="1400" i="1">
                              <a:latin typeface="Cambria Math" panose="02040503050406030204" pitchFamily="18" charset="0"/>
                            </a:rPr>
                          </m:ctrlPr>
                        </m:fPr>
                        <m:num>
                          <m:r>
                            <a:rPr lang="ar-AE" altLang="zh-CN" sz="1400" i="0">
                              <a:latin typeface="Cambria Math" panose="02040503050406030204" pitchFamily="18" charset="0"/>
                            </a:rPr>
                            <m:t>3</m:t>
                          </m:r>
                        </m:num>
                        <m:den>
                          <m:r>
                            <a:rPr lang="ar-AE" altLang="zh-CN" sz="1400" i="0">
                              <a:latin typeface="Cambria Math" panose="02040503050406030204" pitchFamily="18" charset="0"/>
                            </a:rPr>
                            <m:t>9</m:t>
                          </m:r>
                        </m:den>
                      </m:f>
                    </m:oMath>
                  </m:oMathPara>
                </a14:m>
                <a:endParaRPr lang="ar-AE" altLang="zh-CN" sz="1400" dirty="0"/>
              </a:p>
              <a:p>
                <a:pPr>
                  <a:buNone/>
                </a:pPr>
                <a14:m>
                  <m:oMathPara xmlns:m="http://schemas.openxmlformats.org/officeDocument/2006/math">
                    <m:oMathParaPr>
                      <m:jc m:val="centerGroup"/>
                    </m:oMathParaPr>
                    <m:oMath xmlns:m="http://schemas.openxmlformats.org/officeDocument/2006/math">
                      <m:r>
                        <a:rPr lang="zh-CN" altLang="ar-AE" sz="1400" i="1">
                          <a:latin typeface="Cambria Math" panose="02040503050406030204" pitchFamily="18" charset="0"/>
                        </a:rPr>
                        <m:t>𝑃</m:t>
                      </m:r>
                      <m:d>
                        <m:dPr>
                          <m:ctrlPr>
                            <a:rPr lang="ar-AE" altLang="zh-CN" sz="1400" i="1">
                              <a:latin typeface="Cambria Math" panose="02040503050406030204" pitchFamily="18" charset="0"/>
                            </a:rPr>
                          </m:ctrlPr>
                        </m:dPr>
                        <m:e>
                          <m:r>
                            <a:rPr lang="ar-AE" altLang="zh-CN" sz="1400" i="0">
                              <a:latin typeface="Cambria Math" panose="02040503050406030204" pitchFamily="18" charset="0"/>
                            </a:rPr>
                            <m:t>31</m:t>
                          </m:r>
                          <m:r>
                            <a:rPr lang="ar-AE" altLang="zh-CN" sz="1400" i="0">
                              <a:latin typeface="Cambria Math" panose="02040503050406030204" pitchFamily="18" charset="0"/>
                            </a:rPr>
                            <m:t>∼</m:t>
                          </m:r>
                          <m:r>
                            <a:rPr lang="ar-AE" altLang="zh-CN" sz="1400" i="0">
                              <a:latin typeface="Cambria Math" panose="02040503050406030204" pitchFamily="18" charset="0"/>
                            </a:rPr>
                            <m:t>50</m:t>
                          </m:r>
                          <m:r>
                            <a:rPr lang="ar-AE" altLang="zh-CN" sz="1400" i="0">
                              <a:latin typeface="Cambria Math" panose="02040503050406030204" pitchFamily="18" charset="0"/>
                            </a:rPr>
                            <m:t>∣</m:t>
                          </m:r>
                          <m:r>
                            <a:rPr lang="zh-CN" altLang="ar-AE" sz="1400" i="1">
                              <a:latin typeface="Cambria Math" panose="02040503050406030204" pitchFamily="18" charset="0"/>
                            </a:rPr>
                            <m:t>𝑌𝑒𝑠</m:t>
                          </m:r>
                        </m:e>
                      </m:d>
                      <m:r>
                        <a:rPr lang="ar-AE" altLang="zh-CN" sz="1400" i="0">
                          <a:latin typeface="Cambria Math" panose="02040503050406030204" pitchFamily="18" charset="0"/>
                        </a:rPr>
                        <m:t>=</m:t>
                      </m:r>
                      <m:f>
                        <m:fPr>
                          <m:ctrlPr>
                            <a:rPr lang="ar-AE" altLang="zh-CN" sz="1400" i="1">
                              <a:latin typeface="Cambria Math" panose="02040503050406030204" pitchFamily="18" charset="0"/>
                            </a:rPr>
                          </m:ctrlPr>
                        </m:fPr>
                        <m:num>
                          <m:r>
                            <a:rPr lang="ar-AE" altLang="zh-CN" sz="1400" i="0">
                              <a:latin typeface="Cambria Math" panose="02040503050406030204" pitchFamily="18" charset="0"/>
                            </a:rPr>
                            <m:t>5</m:t>
                          </m:r>
                        </m:num>
                        <m:den>
                          <m:r>
                            <a:rPr lang="ar-AE" altLang="zh-CN" sz="1400" i="0">
                              <a:latin typeface="Cambria Math" panose="02040503050406030204" pitchFamily="18" charset="0"/>
                            </a:rPr>
                            <m:t>9</m:t>
                          </m:r>
                        </m:den>
                      </m:f>
                    </m:oMath>
                  </m:oMathPara>
                </a14:m>
                <a:endParaRPr lang="en-US" altLang="zh-CN" sz="1400" dirty="0"/>
              </a:p>
              <a:p>
                <a:r>
                  <a:rPr lang="zh-CN" altLang="en-US" sz="1400" dirty="0"/>
                  <a:t>所以：</a:t>
                </a:r>
              </a:p>
              <a:p>
                <a:pPr/>
                <a14:m>
                  <m:oMathPara xmlns:m="http://schemas.openxmlformats.org/officeDocument/2006/math">
                    <m:oMathParaPr>
                      <m:jc m:val="centerGroup"/>
                    </m:oMathParaPr>
                    <m:oMath xmlns:m="http://schemas.openxmlformats.org/officeDocument/2006/math">
                      <m:r>
                        <a:rPr lang="zh-CN" altLang="en-US" sz="1400" i="1">
                          <a:latin typeface="Cambria Math" panose="02040503050406030204" pitchFamily="18" charset="0"/>
                        </a:rPr>
                        <m:t>𝑃</m:t>
                      </m:r>
                      <m:d>
                        <m:dPr>
                          <m:ctrlPr>
                            <a:rPr lang="ar-AE" altLang="zh-CN" sz="1400" i="1">
                              <a:latin typeface="Cambria Math" panose="02040503050406030204" pitchFamily="18" charset="0"/>
                            </a:rPr>
                          </m:ctrlPr>
                        </m:dPr>
                        <m:e>
                          <m:r>
                            <a:rPr lang="zh-CN" altLang="ar-AE" sz="1400" i="1">
                              <a:latin typeface="Cambria Math" panose="02040503050406030204" pitchFamily="18" charset="0"/>
                            </a:rPr>
                            <m:t>𝑌𝑒𝑠</m:t>
                          </m:r>
                        </m:e>
                      </m:d>
                      <m:r>
                        <a:rPr lang="zh-CN" altLang="ar-AE" sz="1400" i="1">
                          <a:latin typeface="Cambria Math" panose="02040503050406030204" pitchFamily="18" charset="0"/>
                        </a:rPr>
                        <m:t>𝑃</m:t>
                      </m:r>
                      <m:d>
                        <m:dPr>
                          <m:ctrlPr>
                            <a:rPr lang="ar-AE" altLang="zh-CN" sz="1400" i="1">
                              <a:latin typeface="Cambria Math" panose="02040503050406030204" pitchFamily="18" charset="0"/>
                            </a:rPr>
                          </m:ctrlPr>
                        </m:dPr>
                        <m:e>
                          <m:r>
                            <a:rPr lang="zh-CN" altLang="ar-AE" sz="1400" i="1">
                              <a:latin typeface="Cambria Math" panose="02040503050406030204" pitchFamily="18" charset="0"/>
                            </a:rPr>
                            <m:t>𝑥</m:t>
                          </m:r>
                          <m:r>
                            <a:rPr lang="ar-AE" altLang="zh-CN" sz="1400">
                              <a:latin typeface="Cambria Math" panose="02040503050406030204" pitchFamily="18" charset="0"/>
                            </a:rPr>
                            <m:t>∣</m:t>
                          </m:r>
                          <m:r>
                            <a:rPr lang="zh-CN" altLang="ar-AE" sz="1400" i="1">
                              <a:latin typeface="Cambria Math" panose="02040503050406030204" pitchFamily="18" charset="0"/>
                            </a:rPr>
                            <m:t>𝑌𝑒𝑠</m:t>
                          </m:r>
                        </m:e>
                      </m:d>
                      <m:r>
                        <a:rPr lang="ar-AE" altLang="zh-CN" sz="1400">
                          <a:latin typeface="Cambria Math" panose="02040503050406030204" pitchFamily="18" charset="0"/>
                        </a:rPr>
                        <m:t>=</m:t>
                      </m:r>
                      <m:f>
                        <m:fPr>
                          <m:ctrlPr>
                            <a:rPr lang="ar-AE" altLang="zh-CN" sz="1400" i="1">
                              <a:latin typeface="Cambria Math" panose="02040503050406030204" pitchFamily="18" charset="0"/>
                            </a:rPr>
                          </m:ctrlPr>
                        </m:fPr>
                        <m:num>
                          <m:r>
                            <a:rPr lang="ar-AE" altLang="zh-CN" sz="1400">
                              <a:latin typeface="Cambria Math" panose="02040503050406030204" pitchFamily="18" charset="0"/>
                            </a:rPr>
                            <m:t>9</m:t>
                          </m:r>
                        </m:num>
                        <m:den>
                          <m:r>
                            <a:rPr lang="ar-AE" altLang="zh-CN" sz="1400">
                              <a:latin typeface="Cambria Math" panose="02040503050406030204" pitchFamily="18" charset="0"/>
                            </a:rPr>
                            <m:t>14</m:t>
                          </m:r>
                        </m:den>
                      </m:f>
                      <m:r>
                        <a:rPr lang="ar-AE" altLang="zh-CN" sz="1400">
                          <a:latin typeface="Cambria Math" panose="02040503050406030204" pitchFamily="18" charset="0"/>
                        </a:rPr>
                        <m:t>×</m:t>
                      </m:r>
                      <m:f>
                        <m:fPr>
                          <m:ctrlPr>
                            <a:rPr lang="ar-AE" altLang="zh-CN" sz="1400" i="1">
                              <a:latin typeface="Cambria Math" panose="02040503050406030204" pitchFamily="18" charset="0"/>
                            </a:rPr>
                          </m:ctrlPr>
                        </m:fPr>
                        <m:num>
                          <m:r>
                            <a:rPr lang="ar-AE" altLang="zh-CN" sz="1400">
                              <a:latin typeface="Cambria Math" panose="02040503050406030204" pitchFamily="18" charset="0"/>
                            </a:rPr>
                            <m:t>5</m:t>
                          </m:r>
                        </m:num>
                        <m:den>
                          <m:r>
                            <a:rPr lang="ar-AE" altLang="zh-CN" sz="1400">
                              <a:latin typeface="Cambria Math" panose="02040503050406030204" pitchFamily="18" charset="0"/>
                            </a:rPr>
                            <m:t>9</m:t>
                          </m:r>
                        </m:den>
                      </m:f>
                      <m:r>
                        <a:rPr lang="ar-AE" altLang="zh-CN" sz="1400">
                          <a:latin typeface="Cambria Math" panose="02040503050406030204" pitchFamily="18" charset="0"/>
                        </a:rPr>
                        <m:t>×</m:t>
                      </m:r>
                      <m:f>
                        <m:fPr>
                          <m:ctrlPr>
                            <a:rPr lang="ar-AE" altLang="zh-CN" sz="1400" i="1">
                              <a:latin typeface="Cambria Math" panose="02040503050406030204" pitchFamily="18" charset="0"/>
                            </a:rPr>
                          </m:ctrlPr>
                        </m:fPr>
                        <m:num>
                          <m:r>
                            <a:rPr lang="ar-AE" altLang="zh-CN" sz="1400">
                              <a:latin typeface="Cambria Math" panose="02040503050406030204" pitchFamily="18" charset="0"/>
                            </a:rPr>
                            <m:t>3</m:t>
                          </m:r>
                        </m:num>
                        <m:den>
                          <m:r>
                            <a:rPr lang="ar-AE" altLang="zh-CN" sz="1400">
                              <a:latin typeface="Cambria Math" panose="02040503050406030204" pitchFamily="18" charset="0"/>
                            </a:rPr>
                            <m:t>9</m:t>
                          </m:r>
                        </m:den>
                      </m:f>
                      <m:r>
                        <a:rPr lang="ar-AE" altLang="zh-CN" sz="1400">
                          <a:latin typeface="Cambria Math" panose="02040503050406030204" pitchFamily="18" charset="0"/>
                        </a:rPr>
                        <m:t>×</m:t>
                      </m:r>
                      <m:f>
                        <m:fPr>
                          <m:ctrlPr>
                            <a:rPr lang="ar-AE" altLang="zh-CN" sz="1400" i="1">
                              <a:latin typeface="Cambria Math" panose="02040503050406030204" pitchFamily="18" charset="0"/>
                            </a:rPr>
                          </m:ctrlPr>
                        </m:fPr>
                        <m:num>
                          <m:r>
                            <a:rPr lang="ar-AE" altLang="zh-CN" sz="1400">
                              <a:latin typeface="Cambria Math" panose="02040503050406030204" pitchFamily="18" charset="0"/>
                            </a:rPr>
                            <m:t>5</m:t>
                          </m:r>
                        </m:num>
                        <m:den>
                          <m:r>
                            <a:rPr lang="ar-AE" altLang="zh-CN" sz="1400">
                              <a:latin typeface="Cambria Math" panose="02040503050406030204" pitchFamily="18" charset="0"/>
                            </a:rPr>
                            <m:t>9</m:t>
                          </m:r>
                        </m:den>
                      </m:f>
                    </m:oMath>
                  </m:oMathPara>
                </a14:m>
                <a:endParaRPr lang="ar-AE" altLang="zh-CN" sz="1400" dirty="0"/>
              </a:p>
              <a:p>
                <a:pPr/>
                <a14:m>
                  <m:oMathPara xmlns:m="http://schemas.openxmlformats.org/officeDocument/2006/math">
                    <m:oMathParaPr>
                      <m:jc m:val="centerGroup"/>
                    </m:oMathParaPr>
                    <m:oMath xmlns:m="http://schemas.openxmlformats.org/officeDocument/2006/math">
                      <m:r>
                        <a:rPr lang="ar-AE" altLang="zh-CN" sz="1400">
                          <a:latin typeface="Cambria Math" panose="02040503050406030204" pitchFamily="18" charset="0"/>
                        </a:rPr>
                        <m:t>=</m:t>
                      </m:r>
                      <m:f>
                        <m:fPr>
                          <m:ctrlPr>
                            <a:rPr lang="ar-AE" altLang="zh-CN" sz="1400" i="1">
                              <a:latin typeface="Cambria Math" panose="02040503050406030204" pitchFamily="18" charset="0"/>
                            </a:rPr>
                          </m:ctrlPr>
                        </m:fPr>
                        <m:num>
                          <m:r>
                            <a:rPr lang="ar-AE" altLang="zh-CN" sz="1400">
                              <a:latin typeface="Cambria Math" panose="02040503050406030204" pitchFamily="18" charset="0"/>
                            </a:rPr>
                            <m:t>25</m:t>
                          </m:r>
                        </m:num>
                        <m:den>
                          <m:r>
                            <a:rPr lang="ar-AE" altLang="zh-CN" sz="1400">
                              <a:latin typeface="Cambria Math" panose="02040503050406030204" pitchFamily="18" charset="0"/>
                            </a:rPr>
                            <m:t>378</m:t>
                          </m:r>
                        </m:den>
                      </m:f>
                      <m:r>
                        <a:rPr lang="ar-AE" altLang="zh-CN" sz="1400">
                          <a:latin typeface="Cambria Math" panose="02040503050406030204" pitchFamily="18" charset="0"/>
                        </a:rPr>
                        <m:t>≈</m:t>
                      </m:r>
                      <m:r>
                        <a:rPr lang="ar-AE" altLang="zh-CN" sz="1400">
                          <a:latin typeface="Cambria Math" panose="02040503050406030204" pitchFamily="18" charset="0"/>
                        </a:rPr>
                        <m:t>0</m:t>
                      </m:r>
                      <m:r>
                        <a:rPr lang="ar-AE" altLang="zh-CN" sz="1400">
                          <a:latin typeface="Cambria Math" panose="02040503050406030204" pitchFamily="18" charset="0"/>
                        </a:rPr>
                        <m:t>.</m:t>
                      </m:r>
                      <m:r>
                        <a:rPr lang="ar-AE" altLang="zh-CN" sz="1400">
                          <a:latin typeface="Cambria Math" panose="02040503050406030204" pitchFamily="18" charset="0"/>
                        </a:rPr>
                        <m:t>0661</m:t>
                      </m:r>
                    </m:oMath>
                  </m:oMathPara>
                </a14:m>
                <a:endParaRPr lang="ar-AE" altLang="zh-CN" sz="1400" dirty="0"/>
              </a:p>
              <a:p>
                <a:pPr>
                  <a:buNone/>
                </a:pPr>
                <a:endParaRPr lang="ar-AE" altLang="zh-CN" sz="1400" dirty="0"/>
              </a:p>
            </p:txBody>
          </p:sp>
        </mc:Choice>
        <mc:Fallback xmlns="">
          <p:sp>
            <p:nvSpPr>
              <p:cNvPr id="8" name="文本框 7">
                <a:extLst>
                  <a:ext uri="{FF2B5EF4-FFF2-40B4-BE49-F238E27FC236}">
                    <a16:creationId xmlns:a16="http://schemas.microsoft.com/office/drawing/2014/main" id="{82B993B5-A71A-D167-9ACC-A3C33C324F7E}"/>
                  </a:ext>
                </a:extLst>
              </p:cNvPr>
              <p:cNvSpPr txBox="1">
                <a:spLocks noRot="1" noChangeAspect="1" noMove="1" noResize="1" noEditPoints="1" noAdjustHandles="1" noChangeArrowheads="1" noChangeShapeType="1" noTextEdit="1"/>
              </p:cNvSpPr>
              <p:nvPr/>
            </p:nvSpPr>
            <p:spPr>
              <a:xfrm>
                <a:off x="697078" y="3429000"/>
                <a:ext cx="6095010" cy="3183051"/>
              </a:xfrm>
              <a:prstGeom prst="rect">
                <a:avLst/>
              </a:prstGeom>
              <a:blipFill>
                <a:blip r:embed="rId2"/>
                <a:stretch>
                  <a:fillRect l="-300" t="-575" b="-95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F6074773-1508-A5E5-348E-6F6AA7F27CC3}"/>
                  </a:ext>
                </a:extLst>
              </p:cNvPr>
              <p:cNvSpPr txBox="1"/>
              <p:nvPr/>
            </p:nvSpPr>
            <p:spPr>
              <a:xfrm>
                <a:off x="6186055" y="1504915"/>
                <a:ext cx="6095010" cy="4921604"/>
              </a:xfrm>
              <a:prstGeom prst="rect">
                <a:avLst/>
              </a:prstGeom>
              <a:noFill/>
            </p:spPr>
            <p:txBody>
              <a:bodyPr wrap="square">
                <a:spAutoFit/>
              </a:bodyPr>
              <a:lstStyle/>
              <a:p>
                <a:pPr>
                  <a:buNone/>
                </a:pPr>
                <a:r>
                  <a:rPr lang="zh-CN" altLang="en-US" b="1" dirty="0"/>
                  <a:t>计算 </a:t>
                </a:r>
                <a:r>
                  <a:rPr lang="en-US" altLang="zh-CN" b="1" dirty="0"/>
                  <a:t>No </a:t>
                </a:r>
                <a:r>
                  <a:rPr lang="zh-CN" altLang="en-US" b="1" dirty="0"/>
                  <a:t>类</a:t>
                </a:r>
              </a:p>
              <a:p>
                <a:pPr>
                  <a:buNone/>
                </a:pPr>
                <a14:m>
                  <m:oMathPara xmlns:m="http://schemas.openxmlformats.org/officeDocument/2006/math">
                    <m:oMathParaPr>
                      <m:jc m:val="centerGroup"/>
                    </m:oMathParaPr>
                    <m:oMath xmlns:m="http://schemas.openxmlformats.org/officeDocument/2006/math">
                      <m:r>
                        <a:rPr lang="zh-CN" altLang="en-US" i="1">
                          <a:latin typeface="Cambria Math" panose="02040503050406030204" pitchFamily="18" charset="0"/>
                        </a:rPr>
                        <m:t>𝑃</m:t>
                      </m:r>
                      <m:d>
                        <m:dPr>
                          <m:ctrlPr>
                            <a:rPr lang="ar-AE" altLang="zh-CN" i="1">
                              <a:latin typeface="Cambria Math" panose="02040503050406030204" pitchFamily="18" charset="0"/>
                            </a:rPr>
                          </m:ctrlPr>
                        </m:dPr>
                        <m:e>
                          <m:r>
                            <a:rPr lang="zh-CN" altLang="ar-AE" i="1">
                              <a:latin typeface="Cambria Math" panose="02040503050406030204" pitchFamily="18" charset="0"/>
                            </a:rPr>
                            <m:t>𝑁𝑜</m:t>
                          </m:r>
                        </m:e>
                      </m:d>
                      <m:r>
                        <a:rPr lang="ar-AE" altLang="zh-CN" i="0">
                          <a:latin typeface="Cambria Math" panose="02040503050406030204" pitchFamily="18" charset="0"/>
                        </a:rPr>
                        <m:t>=</m:t>
                      </m:r>
                      <m:f>
                        <m:fPr>
                          <m:ctrlPr>
                            <a:rPr lang="ar-AE" altLang="zh-CN" i="1">
                              <a:latin typeface="Cambria Math" panose="02040503050406030204" pitchFamily="18" charset="0"/>
                            </a:rPr>
                          </m:ctrlPr>
                        </m:fPr>
                        <m:num>
                          <m:r>
                            <a:rPr lang="ar-AE" altLang="zh-CN" i="0">
                              <a:latin typeface="Cambria Math" panose="02040503050406030204" pitchFamily="18" charset="0"/>
                            </a:rPr>
                            <m:t>5</m:t>
                          </m:r>
                        </m:num>
                        <m:den>
                          <m:r>
                            <a:rPr lang="ar-AE" altLang="zh-CN" i="0">
                              <a:latin typeface="Cambria Math" panose="02040503050406030204" pitchFamily="18" charset="0"/>
                            </a:rPr>
                            <m:t>14</m:t>
                          </m:r>
                        </m:den>
                      </m:f>
                    </m:oMath>
                  </m:oMathPara>
                </a14:m>
                <a:endParaRPr lang="ar-AE" altLang="zh-CN" dirty="0"/>
              </a:p>
              <a:p>
                <a:pPr>
                  <a:buNone/>
                </a:pPr>
                <a14:m>
                  <m:oMathPara xmlns:m="http://schemas.openxmlformats.org/officeDocument/2006/math">
                    <m:oMathParaPr>
                      <m:jc m:val="centerGroup"/>
                    </m:oMathParaPr>
                    <m:oMath xmlns:m="http://schemas.openxmlformats.org/officeDocument/2006/math">
                      <m:r>
                        <a:rPr lang="zh-CN" altLang="ar-AE" i="1">
                          <a:latin typeface="Cambria Math" panose="02040503050406030204" pitchFamily="18" charset="0"/>
                        </a:rPr>
                        <m:t>𝑃</m:t>
                      </m:r>
                      <m:d>
                        <m:dPr>
                          <m:ctrlPr>
                            <a:rPr lang="ar-AE" altLang="zh-CN" i="1">
                              <a:latin typeface="Cambria Math" panose="02040503050406030204" pitchFamily="18" charset="0"/>
                            </a:rPr>
                          </m:ctrlPr>
                        </m:dPr>
                        <m:e>
                          <m:r>
                            <a:rPr lang="zh-CN" altLang="ar-AE" i="1">
                              <a:latin typeface="Cambria Math" panose="02040503050406030204" pitchFamily="18" charset="0"/>
                            </a:rPr>
                            <m:t>𝐹𝑒𝑚𝑎𝑙𝑒</m:t>
                          </m:r>
                          <m:r>
                            <a:rPr lang="ar-AE" altLang="zh-CN" i="0">
                              <a:latin typeface="Cambria Math" panose="02040503050406030204" pitchFamily="18" charset="0"/>
                            </a:rPr>
                            <m:t>∣</m:t>
                          </m:r>
                          <m:r>
                            <a:rPr lang="zh-CN" altLang="ar-AE" i="1">
                              <a:latin typeface="Cambria Math" panose="02040503050406030204" pitchFamily="18" charset="0"/>
                            </a:rPr>
                            <m:t>𝑁𝑜</m:t>
                          </m:r>
                        </m:e>
                      </m:d>
                      <m:r>
                        <a:rPr lang="ar-AE" altLang="zh-CN" i="0">
                          <a:latin typeface="Cambria Math" panose="02040503050406030204" pitchFamily="18" charset="0"/>
                        </a:rPr>
                        <m:t>=</m:t>
                      </m:r>
                      <m:f>
                        <m:fPr>
                          <m:ctrlPr>
                            <a:rPr lang="ar-AE" altLang="zh-CN" i="1">
                              <a:latin typeface="Cambria Math" panose="02040503050406030204" pitchFamily="18" charset="0"/>
                            </a:rPr>
                          </m:ctrlPr>
                        </m:fPr>
                        <m:num>
                          <m:r>
                            <a:rPr lang="ar-AE" altLang="zh-CN" i="0">
                              <a:latin typeface="Cambria Math" panose="02040503050406030204" pitchFamily="18" charset="0"/>
                            </a:rPr>
                            <m:t>2</m:t>
                          </m:r>
                        </m:num>
                        <m:den>
                          <m:r>
                            <a:rPr lang="ar-AE" altLang="zh-CN" i="0">
                              <a:latin typeface="Cambria Math" panose="02040503050406030204" pitchFamily="18" charset="0"/>
                            </a:rPr>
                            <m:t>5</m:t>
                          </m:r>
                        </m:den>
                      </m:f>
                    </m:oMath>
                  </m:oMathPara>
                </a14:m>
                <a:endParaRPr lang="ar-AE" altLang="zh-CN" dirty="0"/>
              </a:p>
              <a:p>
                <a:pPr>
                  <a:buNone/>
                </a:pPr>
                <a14:m>
                  <m:oMathPara xmlns:m="http://schemas.openxmlformats.org/officeDocument/2006/math">
                    <m:oMathParaPr>
                      <m:jc m:val="centerGroup"/>
                    </m:oMathParaPr>
                    <m:oMath xmlns:m="http://schemas.openxmlformats.org/officeDocument/2006/math">
                      <m:r>
                        <a:rPr lang="zh-CN" altLang="ar-AE" i="1">
                          <a:latin typeface="Cambria Math" panose="02040503050406030204" pitchFamily="18" charset="0"/>
                        </a:rPr>
                        <m:t>𝑃</m:t>
                      </m:r>
                      <m:d>
                        <m:dPr>
                          <m:ctrlPr>
                            <a:rPr lang="ar-AE" altLang="zh-CN" i="1">
                              <a:latin typeface="Cambria Math" panose="02040503050406030204" pitchFamily="18" charset="0"/>
                            </a:rPr>
                          </m:ctrlPr>
                        </m:dPr>
                        <m:e>
                          <m:r>
                            <a:rPr lang="ar-AE" altLang="zh-CN" i="0">
                              <a:latin typeface="Cambria Math" panose="02040503050406030204" pitchFamily="18" charset="0"/>
                            </a:rPr>
                            <m:t>&gt;</m:t>
                          </m:r>
                          <m:r>
                            <a:rPr lang="ar-AE" altLang="zh-CN" i="0">
                              <a:latin typeface="Cambria Math" panose="02040503050406030204" pitchFamily="18" charset="0"/>
                            </a:rPr>
                            <m:t>80</m:t>
                          </m:r>
                          <m:r>
                            <a:rPr lang="ar-AE" altLang="zh-CN" i="0">
                              <a:latin typeface="Cambria Math" panose="02040503050406030204" pitchFamily="18" charset="0"/>
                            </a:rPr>
                            <m:t>∣</m:t>
                          </m:r>
                          <m:r>
                            <a:rPr lang="zh-CN" altLang="ar-AE" i="1">
                              <a:latin typeface="Cambria Math" panose="02040503050406030204" pitchFamily="18" charset="0"/>
                            </a:rPr>
                            <m:t>𝑁𝑜</m:t>
                          </m:r>
                        </m:e>
                      </m:d>
                      <m:r>
                        <a:rPr lang="ar-AE" altLang="zh-CN" i="0">
                          <a:latin typeface="Cambria Math" panose="02040503050406030204" pitchFamily="18" charset="0"/>
                        </a:rPr>
                        <m:t>=</m:t>
                      </m:r>
                      <m:f>
                        <m:fPr>
                          <m:ctrlPr>
                            <a:rPr lang="ar-AE" altLang="zh-CN" i="1">
                              <a:latin typeface="Cambria Math" panose="02040503050406030204" pitchFamily="18" charset="0"/>
                            </a:rPr>
                          </m:ctrlPr>
                        </m:fPr>
                        <m:num>
                          <m:r>
                            <a:rPr lang="ar-AE" altLang="zh-CN" i="0">
                              <a:latin typeface="Cambria Math" panose="02040503050406030204" pitchFamily="18" charset="0"/>
                            </a:rPr>
                            <m:t>1</m:t>
                          </m:r>
                        </m:num>
                        <m:den>
                          <m:r>
                            <a:rPr lang="ar-AE" altLang="zh-CN" i="0">
                              <a:latin typeface="Cambria Math" panose="02040503050406030204" pitchFamily="18" charset="0"/>
                            </a:rPr>
                            <m:t>5</m:t>
                          </m:r>
                        </m:den>
                      </m:f>
                    </m:oMath>
                  </m:oMathPara>
                </a14:m>
                <a:endParaRPr lang="ar-AE" altLang="zh-CN" dirty="0"/>
              </a:p>
              <a:p>
                <a:pPr>
                  <a:buNone/>
                </a:pPr>
                <a14:m>
                  <m:oMathPara xmlns:m="http://schemas.openxmlformats.org/officeDocument/2006/math">
                    <m:oMathParaPr>
                      <m:jc m:val="centerGroup"/>
                    </m:oMathParaPr>
                    <m:oMath xmlns:m="http://schemas.openxmlformats.org/officeDocument/2006/math">
                      <m:r>
                        <a:rPr lang="zh-CN" altLang="ar-AE" i="1">
                          <a:latin typeface="Cambria Math" panose="02040503050406030204" pitchFamily="18" charset="0"/>
                        </a:rPr>
                        <m:t>𝑃</m:t>
                      </m:r>
                      <m:d>
                        <m:dPr>
                          <m:ctrlPr>
                            <a:rPr lang="ar-AE" altLang="zh-CN" i="1">
                              <a:latin typeface="Cambria Math" panose="02040503050406030204" pitchFamily="18" charset="0"/>
                            </a:rPr>
                          </m:ctrlPr>
                        </m:dPr>
                        <m:e>
                          <m:r>
                            <a:rPr lang="ar-AE" altLang="zh-CN" i="0">
                              <a:latin typeface="Cambria Math" panose="02040503050406030204" pitchFamily="18" charset="0"/>
                            </a:rPr>
                            <m:t>31</m:t>
                          </m:r>
                          <m:r>
                            <a:rPr lang="ar-AE" altLang="zh-CN" i="0">
                              <a:latin typeface="Cambria Math" panose="02040503050406030204" pitchFamily="18" charset="0"/>
                            </a:rPr>
                            <m:t>∼</m:t>
                          </m:r>
                          <m:r>
                            <a:rPr lang="ar-AE" altLang="zh-CN" i="0">
                              <a:latin typeface="Cambria Math" panose="02040503050406030204" pitchFamily="18" charset="0"/>
                            </a:rPr>
                            <m:t>50</m:t>
                          </m:r>
                          <m:r>
                            <a:rPr lang="ar-AE" altLang="zh-CN" i="0">
                              <a:latin typeface="Cambria Math" panose="02040503050406030204" pitchFamily="18" charset="0"/>
                            </a:rPr>
                            <m:t>∣</m:t>
                          </m:r>
                          <m:r>
                            <a:rPr lang="zh-CN" altLang="ar-AE" i="1">
                              <a:latin typeface="Cambria Math" panose="02040503050406030204" pitchFamily="18" charset="0"/>
                            </a:rPr>
                            <m:t>𝑁𝑜</m:t>
                          </m:r>
                        </m:e>
                      </m:d>
                      <m:r>
                        <a:rPr lang="ar-AE" altLang="zh-CN" i="0">
                          <a:latin typeface="Cambria Math" panose="02040503050406030204" pitchFamily="18" charset="0"/>
                        </a:rPr>
                        <m:t>=</m:t>
                      </m:r>
                      <m:f>
                        <m:fPr>
                          <m:ctrlPr>
                            <a:rPr lang="ar-AE" altLang="zh-CN" i="1">
                              <a:latin typeface="Cambria Math" panose="02040503050406030204" pitchFamily="18" charset="0"/>
                            </a:rPr>
                          </m:ctrlPr>
                        </m:fPr>
                        <m:num>
                          <m:r>
                            <a:rPr lang="ar-AE" altLang="zh-CN" i="0">
                              <a:latin typeface="Cambria Math" panose="02040503050406030204" pitchFamily="18" charset="0"/>
                            </a:rPr>
                            <m:t>1</m:t>
                          </m:r>
                        </m:num>
                        <m:den>
                          <m:r>
                            <a:rPr lang="ar-AE" altLang="zh-CN" i="0">
                              <a:latin typeface="Cambria Math" panose="02040503050406030204" pitchFamily="18" charset="0"/>
                            </a:rPr>
                            <m:t>5</m:t>
                          </m:r>
                        </m:den>
                      </m:f>
                    </m:oMath>
                  </m:oMathPara>
                </a14:m>
                <a:endParaRPr lang="ar-AE" altLang="zh-CN" dirty="0"/>
              </a:p>
              <a:p>
                <a:pPr>
                  <a:buNone/>
                </a:pPr>
                <a:r>
                  <a:rPr lang="zh-CN" altLang="en-US" dirty="0"/>
                  <a:t>所以：</a:t>
                </a:r>
              </a:p>
              <a:p>
                <a:pPr>
                  <a:buNone/>
                </a:pPr>
                <a14:m>
                  <m:oMathPara xmlns:m="http://schemas.openxmlformats.org/officeDocument/2006/math">
                    <m:oMathParaPr>
                      <m:jc m:val="centerGroup"/>
                    </m:oMathParaPr>
                    <m:oMath xmlns:m="http://schemas.openxmlformats.org/officeDocument/2006/math">
                      <m:r>
                        <a:rPr lang="zh-CN" altLang="en-US" i="1">
                          <a:latin typeface="Cambria Math" panose="02040503050406030204" pitchFamily="18" charset="0"/>
                        </a:rPr>
                        <m:t>𝑃</m:t>
                      </m:r>
                      <m:d>
                        <m:dPr>
                          <m:ctrlPr>
                            <a:rPr lang="ar-AE" altLang="zh-CN" i="1">
                              <a:latin typeface="Cambria Math" panose="02040503050406030204" pitchFamily="18" charset="0"/>
                            </a:rPr>
                          </m:ctrlPr>
                        </m:dPr>
                        <m:e>
                          <m:r>
                            <a:rPr lang="zh-CN" altLang="ar-AE" i="1">
                              <a:latin typeface="Cambria Math" panose="02040503050406030204" pitchFamily="18" charset="0"/>
                            </a:rPr>
                            <m:t>𝑁𝑜</m:t>
                          </m:r>
                        </m:e>
                      </m:d>
                      <m:r>
                        <a:rPr lang="zh-CN" altLang="ar-AE" i="1">
                          <a:latin typeface="Cambria Math" panose="02040503050406030204" pitchFamily="18" charset="0"/>
                        </a:rPr>
                        <m:t>𝑃</m:t>
                      </m:r>
                      <m:d>
                        <m:dPr>
                          <m:ctrlPr>
                            <a:rPr lang="ar-AE" altLang="zh-CN" i="1">
                              <a:latin typeface="Cambria Math" panose="02040503050406030204" pitchFamily="18" charset="0"/>
                            </a:rPr>
                          </m:ctrlPr>
                        </m:dPr>
                        <m:e>
                          <m:r>
                            <a:rPr lang="zh-CN" altLang="ar-AE" i="1">
                              <a:latin typeface="Cambria Math" panose="02040503050406030204" pitchFamily="18" charset="0"/>
                            </a:rPr>
                            <m:t>𝑥</m:t>
                          </m:r>
                          <m:r>
                            <a:rPr lang="ar-AE" altLang="zh-CN" i="0">
                              <a:latin typeface="Cambria Math" panose="02040503050406030204" pitchFamily="18" charset="0"/>
                            </a:rPr>
                            <m:t>∣</m:t>
                          </m:r>
                          <m:r>
                            <a:rPr lang="zh-CN" altLang="ar-AE" i="1">
                              <a:latin typeface="Cambria Math" panose="02040503050406030204" pitchFamily="18" charset="0"/>
                            </a:rPr>
                            <m:t>𝑁𝑜</m:t>
                          </m:r>
                        </m:e>
                      </m:d>
                      <m:r>
                        <a:rPr lang="ar-AE" altLang="zh-CN" i="0">
                          <a:latin typeface="Cambria Math" panose="02040503050406030204" pitchFamily="18" charset="0"/>
                        </a:rPr>
                        <m:t>=</m:t>
                      </m:r>
                      <m:f>
                        <m:fPr>
                          <m:ctrlPr>
                            <a:rPr lang="ar-AE" altLang="zh-CN" i="1">
                              <a:latin typeface="Cambria Math" panose="02040503050406030204" pitchFamily="18" charset="0"/>
                            </a:rPr>
                          </m:ctrlPr>
                        </m:fPr>
                        <m:num>
                          <m:r>
                            <a:rPr lang="ar-AE" altLang="zh-CN" i="0">
                              <a:latin typeface="Cambria Math" panose="02040503050406030204" pitchFamily="18" charset="0"/>
                            </a:rPr>
                            <m:t>5</m:t>
                          </m:r>
                        </m:num>
                        <m:den>
                          <m:r>
                            <a:rPr lang="ar-AE" altLang="zh-CN" i="0">
                              <a:latin typeface="Cambria Math" panose="02040503050406030204" pitchFamily="18" charset="0"/>
                            </a:rPr>
                            <m:t>14</m:t>
                          </m:r>
                        </m:den>
                      </m:f>
                      <m:r>
                        <a:rPr lang="ar-AE" altLang="zh-CN" i="0">
                          <a:latin typeface="Cambria Math" panose="02040503050406030204" pitchFamily="18" charset="0"/>
                        </a:rPr>
                        <m:t>×</m:t>
                      </m:r>
                      <m:f>
                        <m:fPr>
                          <m:ctrlPr>
                            <a:rPr lang="ar-AE" altLang="zh-CN" i="1">
                              <a:latin typeface="Cambria Math" panose="02040503050406030204" pitchFamily="18" charset="0"/>
                            </a:rPr>
                          </m:ctrlPr>
                        </m:fPr>
                        <m:num>
                          <m:r>
                            <a:rPr lang="ar-AE" altLang="zh-CN" i="0">
                              <a:latin typeface="Cambria Math" panose="02040503050406030204" pitchFamily="18" charset="0"/>
                            </a:rPr>
                            <m:t>2</m:t>
                          </m:r>
                        </m:num>
                        <m:den>
                          <m:r>
                            <a:rPr lang="ar-AE" altLang="zh-CN" i="0">
                              <a:latin typeface="Cambria Math" panose="02040503050406030204" pitchFamily="18" charset="0"/>
                            </a:rPr>
                            <m:t>5</m:t>
                          </m:r>
                        </m:den>
                      </m:f>
                      <m:r>
                        <a:rPr lang="ar-AE" altLang="zh-CN" i="0">
                          <a:latin typeface="Cambria Math" panose="02040503050406030204" pitchFamily="18" charset="0"/>
                        </a:rPr>
                        <m:t>×</m:t>
                      </m:r>
                      <m:f>
                        <m:fPr>
                          <m:ctrlPr>
                            <a:rPr lang="ar-AE" altLang="zh-CN" i="1">
                              <a:latin typeface="Cambria Math" panose="02040503050406030204" pitchFamily="18" charset="0"/>
                            </a:rPr>
                          </m:ctrlPr>
                        </m:fPr>
                        <m:num>
                          <m:r>
                            <a:rPr lang="ar-AE" altLang="zh-CN" i="0">
                              <a:latin typeface="Cambria Math" panose="02040503050406030204" pitchFamily="18" charset="0"/>
                            </a:rPr>
                            <m:t>1</m:t>
                          </m:r>
                        </m:num>
                        <m:den>
                          <m:r>
                            <a:rPr lang="ar-AE" altLang="zh-CN" i="0">
                              <a:latin typeface="Cambria Math" panose="02040503050406030204" pitchFamily="18" charset="0"/>
                            </a:rPr>
                            <m:t>5</m:t>
                          </m:r>
                        </m:den>
                      </m:f>
                      <m:r>
                        <a:rPr lang="ar-AE" altLang="zh-CN" i="0">
                          <a:latin typeface="Cambria Math" panose="02040503050406030204" pitchFamily="18" charset="0"/>
                        </a:rPr>
                        <m:t>×</m:t>
                      </m:r>
                      <m:f>
                        <m:fPr>
                          <m:ctrlPr>
                            <a:rPr lang="ar-AE" altLang="zh-CN" i="1">
                              <a:latin typeface="Cambria Math" panose="02040503050406030204" pitchFamily="18" charset="0"/>
                            </a:rPr>
                          </m:ctrlPr>
                        </m:fPr>
                        <m:num>
                          <m:r>
                            <a:rPr lang="ar-AE" altLang="zh-CN" i="0">
                              <a:latin typeface="Cambria Math" panose="02040503050406030204" pitchFamily="18" charset="0"/>
                            </a:rPr>
                            <m:t>1</m:t>
                          </m:r>
                        </m:num>
                        <m:den>
                          <m:r>
                            <a:rPr lang="ar-AE" altLang="zh-CN" i="0">
                              <a:latin typeface="Cambria Math" panose="02040503050406030204" pitchFamily="18" charset="0"/>
                            </a:rPr>
                            <m:t>5</m:t>
                          </m:r>
                        </m:den>
                      </m:f>
                    </m:oMath>
                  </m:oMathPara>
                </a14:m>
                <a:endParaRPr lang="ar-AE" altLang="zh-CN" dirty="0"/>
              </a:p>
              <a:p>
                <a:pPr>
                  <a:buNone/>
                </a:pPr>
                <a14:m>
                  <m:oMathPara xmlns:m="http://schemas.openxmlformats.org/officeDocument/2006/math">
                    <m:oMathParaPr>
                      <m:jc m:val="centerGroup"/>
                    </m:oMathParaPr>
                    <m:oMath xmlns:m="http://schemas.openxmlformats.org/officeDocument/2006/math">
                      <m:r>
                        <a:rPr lang="ar-AE" altLang="zh-CN">
                          <a:latin typeface="Cambria Math" panose="02040503050406030204" pitchFamily="18" charset="0"/>
                        </a:rPr>
                        <m:t>=</m:t>
                      </m:r>
                      <m:f>
                        <m:fPr>
                          <m:ctrlPr>
                            <a:rPr lang="ar-AE" altLang="zh-CN" i="1">
                              <a:latin typeface="Cambria Math" panose="02040503050406030204" pitchFamily="18" charset="0"/>
                            </a:rPr>
                          </m:ctrlPr>
                        </m:fPr>
                        <m:num>
                          <m:r>
                            <a:rPr lang="ar-AE" altLang="zh-CN" i="0">
                              <a:latin typeface="Cambria Math" panose="02040503050406030204" pitchFamily="18" charset="0"/>
                            </a:rPr>
                            <m:t>1</m:t>
                          </m:r>
                        </m:num>
                        <m:den>
                          <m:r>
                            <a:rPr lang="ar-AE" altLang="zh-CN" i="0">
                              <a:latin typeface="Cambria Math" panose="02040503050406030204" pitchFamily="18" charset="0"/>
                            </a:rPr>
                            <m:t>175</m:t>
                          </m:r>
                        </m:den>
                      </m:f>
                      <m:r>
                        <a:rPr lang="ar-AE" altLang="zh-CN" i="0">
                          <a:latin typeface="Cambria Math" panose="02040503050406030204" pitchFamily="18" charset="0"/>
                        </a:rPr>
                        <m:t>≈</m:t>
                      </m:r>
                      <m:r>
                        <a:rPr lang="ar-AE" altLang="zh-CN" i="0">
                          <a:latin typeface="Cambria Math" panose="02040503050406030204" pitchFamily="18" charset="0"/>
                        </a:rPr>
                        <m:t>0</m:t>
                      </m:r>
                      <m:r>
                        <a:rPr lang="ar-AE" altLang="zh-CN" i="0">
                          <a:latin typeface="Cambria Math" panose="02040503050406030204" pitchFamily="18" charset="0"/>
                        </a:rPr>
                        <m:t>.</m:t>
                      </m:r>
                      <m:r>
                        <a:rPr lang="ar-AE" altLang="zh-CN" i="0">
                          <a:latin typeface="Cambria Math" panose="02040503050406030204" pitchFamily="18" charset="0"/>
                        </a:rPr>
                        <m:t>0057</m:t>
                      </m:r>
                    </m:oMath>
                  </m:oMathPara>
                </a14:m>
                <a:endParaRPr lang="ar-AE" altLang="zh-CN" dirty="0"/>
              </a:p>
              <a:p>
                <a:pPr>
                  <a:buNone/>
                </a:pPr>
                <a:r>
                  <a:rPr lang="zh-CN" altLang="en-US" dirty="0"/>
                  <a:t>因为：</a:t>
                </a:r>
              </a:p>
              <a:p>
                <a:pPr>
                  <a:buNone/>
                </a:pPr>
                <a14:m>
                  <m:oMathPara xmlns:m="http://schemas.openxmlformats.org/officeDocument/2006/math">
                    <m:oMathParaPr>
                      <m:jc m:val="centerGroup"/>
                    </m:oMathParaPr>
                    <m:oMath xmlns:m="http://schemas.openxmlformats.org/officeDocument/2006/math">
                      <m:r>
                        <a:rPr lang="en-US" altLang="zh-CN">
                          <a:latin typeface="Cambria Math" panose="02040503050406030204" pitchFamily="18" charset="0"/>
                        </a:rPr>
                        <m:t>0</m:t>
                      </m:r>
                      <m:r>
                        <a:rPr lang="en-US" altLang="zh-CN">
                          <a:latin typeface="Cambria Math" panose="02040503050406030204" pitchFamily="18" charset="0"/>
                        </a:rPr>
                        <m:t>.</m:t>
                      </m:r>
                      <m:r>
                        <a:rPr lang="en-US" altLang="zh-CN">
                          <a:latin typeface="Cambria Math" panose="02040503050406030204" pitchFamily="18" charset="0"/>
                        </a:rPr>
                        <m:t>0661</m:t>
                      </m:r>
                      <m:r>
                        <a:rPr lang="en-US" altLang="zh-CN" i="0">
                          <a:latin typeface="Cambria Math" panose="02040503050406030204" pitchFamily="18" charset="0"/>
                        </a:rPr>
                        <m:t>&gt;</m:t>
                      </m:r>
                      <m:r>
                        <a:rPr lang="en-US" altLang="zh-CN" i="0">
                          <a:latin typeface="Cambria Math" panose="02040503050406030204" pitchFamily="18" charset="0"/>
                        </a:rPr>
                        <m:t>0</m:t>
                      </m:r>
                      <m:r>
                        <a:rPr lang="en-US" altLang="zh-CN" i="0">
                          <a:latin typeface="Cambria Math" panose="02040503050406030204" pitchFamily="18" charset="0"/>
                        </a:rPr>
                        <m:t>.</m:t>
                      </m:r>
                      <m:r>
                        <a:rPr lang="en-US" altLang="zh-CN" i="0">
                          <a:latin typeface="Cambria Math" panose="02040503050406030204" pitchFamily="18" charset="0"/>
                        </a:rPr>
                        <m:t>0057</m:t>
                      </m:r>
                    </m:oMath>
                  </m:oMathPara>
                </a14:m>
                <a:endParaRPr lang="zh-CN" altLang="en-US" dirty="0"/>
              </a:p>
              <a:p>
                <a:pPr>
                  <a:buNone/>
                </a:pPr>
                <a:r>
                  <a:rPr lang="zh-CN" altLang="en-US" dirty="0"/>
                  <a:t>所以：</a:t>
                </a:r>
              </a:p>
              <a:p>
                <a:pPr>
                  <a:buNone/>
                </a:pPr>
                <a14:m>
                  <m:oMathPara xmlns:m="http://schemas.openxmlformats.org/officeDocument/2006/math">
                    <m:oMathParaPr>
                      <m:jc m:val="centerGroup"/>
                    </m:oMathParaPr>
                    <m:oMath xmlns:m="http://schemas.openxmlformats.org/officeDocument/2006/math">
                      <m:borderBox>
                        <m:borderBoxPr>
                          <m:ctrlPr>
                            <a:rPr lang="ar-AE" altLang="zh-CN" i="1">
                              <a:latin typeface="Cambria Math" panose="02040503050406030204" pitchFamily="18" charset="0"/>
                            </a:rPr>
                          </m:ctrlPr>
                        </m:borderBoxPr>
                        <m:e>
                          <m:r>
                            <a:rPr lang="zh-CN" altLang="ar-AE" i="1">
                              <a:latin typeface="Cambria Math" panose="02040503050406030204" pitchFamily="18" charset="0"/>
                            </a:rPr>
                            <m:t>𝑥</m:t>
                          </m:r>
                          <m:r>
                            <a:rPr lang="ar-AE" altLang="zh-CN" i="0">
                              <a:latin typeface="Cambria Math" panose="02040503050406030204" pitchFamily="18" charset="0"/>
                            </a:rPr>
                            <m:t>∈</m:t>
                          </m:r>
                          <m:r>
                            <a:rPr lang="zh-CN" altLang="ar-AE" i="1">
                              <a:latin typeface="Cambria Math" panose="02040503050406030204" pitchFamily="18" charset="0"/>
                            </a:rPr>
                            <m:t>𝑌𝑒𝑠</m:t>
                          </m:r>
                        </m:e>
                      </m:borderBox>
                    </m:oMath>
                  </m:oMathPara>
                </a14:m>
                <a:endParaRPr lang="ar-AE" altLang="zh-CN" dirty="0"/>
              </a:p>
            </p:txBody>
          </p:sp>
        </mc:Choice>
        <mc:Fallback xmlns="">
          <p:sp>
            <p:nvSpPr>
              <p:cNvPr id="10" name="文本框 9">
                <a:extLst>
                  <a:ext uri="{FF2B5EF4-FFF2-40B4-BE49-F238E27FC236}">
                    <a16:creationId xmlns:a16="http://schemas.microsoft.com/office/drawing/2014/main" id="{F6074773-1508-A5E5-348E-6F6AA7F27CC3}"/>
                  </a:ext>
                </a:extLst>
              </p:cNvPr>
              <p:cNvSpPr txBox="1">
                <a:spLocks noRot="1" noChangeAspect="1" noMove="1" noResize="1" noEditPoints="1" noAdjustHandles="1" noChangeArrowheads="1" noChangeShapeType="1" noTextEdit="1"/>
              </p:cNvSpPr>
              <p:nvPr/>
            </p:nvSpPr>
            <p:spPr>
              <a:xfrm>
                <a:off x="6186055" y="1504915"/>
                <a:ext cx="6095010" cy="4921604"/>
              </a:xfrm>
              <a:prstGeom prst="rect">
                <a:avLst/>
              </a:prstGeom>
              <a:blipFill>
                <a:blip r:embed="rId3"/>
                <a:stretch>
                  <a:fillRect l="-900" t="-743" b="-743"/>
                </a:stretch>
              </a:blipFill>
            </p:spPr>
            <p:txBody>
              <a:bodyPr/>
              <a:lstStyle/>
              <a:p>
                <a:r>
                  <a:rPr lang="zh-CN" altLang="en-US">
                    <a:noFill/>
                  </a:rPr>
                  <a:t> </a:t>
                </a:r>
              </a:p>
            </p:txBody>
          </p:sp>
        </mc:Fallback>
      </mc:AlternateContent>
      <p:cxnSp>
        <p:nvCxnSpPr>
          <p:cNvPr id="12" name="直接连接符 11">
            <a:extLst>
              <a:ext uri="{FF2B5EF4-FFF2-40B4-BE49-F238E27FC236}">
                <a16:creationId xmlns:a16="http://schemas.microsoft.com/office/drawing/2014/main" id="{C5AD8120-2A2E-99BF-37C4-51011649AD2B}"/>
              </a:ext>
            </a:extLst>
          </p:cNvPr>
          <p:cNvCxnSpPr>
            <a:cxnSpLocks/>
          </p:cNvCxnSpPr>
          <p:nvPr/>
        </p:nvCxnSpPr>
        <p:spPr>
          <a:xfrm>
            <a:off x="5688281" y="1313999"/>
            <a:ext cx="47501" cy="511252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278374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17A13B-D5BC-0EC7-35FA-4F07F6A44227}"/>
            </a:ext>
          </a:extLst>
        </p:cNvPr>
        <p:cNvGrpSpPr/>
        <p:nvPr/>
      </p:nvGrpSpPr>
      <p:grpSpPr>
        <a:xfrm>
          <a:off x="0" y="0"/>
          <a:ext cx="0" cy="0"/>
          <a:chOff x="0" y="0"/>
          <a:chExt cx="0" cy="0"/>
        </a:xfrm>
      </p:grpSpPr>
      <p:sp>
        <p:nvSpPr>
          <p:cNvPr id="27" name="文本框">
            <a:extLst>
              <a:ext uri="{FF2B5EF4-FFF2-40B4-BE49-F238E27FC236}">
                <a16:creationId xmlns:a16="http://schemas.microsoft.com/office/drawing/2014/main" id="{B6937C01-CE5A-7184-56D0-FDD39F47971A}"/>
              </a:ext>
            </a:extLst>
          </p:cNvPr>
          <p:cNvSpPr>
            <a:spLocks noGrp="1"/>
          </p:cNvSpPr>
          <p:nvPr>
            <p:ph type="title"/>
          </p:nvPr>
        </p:nvSpPr>
        <p:spPr>
          <a:xfrm>
            <a:off x="608400" y="608400"/>
            <a:ext cx="10969201" cy="705599"/>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marL="0" indent="0" algn="l">
              <a:lnSpc>
                <a:spcPct val="100000"/>
              </a:lnSpc>
              <a:spcBef>
                <a:spcPts val="0"/>
              </a:spcBef>
              <a:spcAft>
                <a:spcPts val="0"/>
              </a:spcAft>
              <a:buNone/>
            </a:pPr>
            <a:r>
              <a:rPr lang="zh-CN" altLang="en-US" sz="3600" b="1" i="0" u="none" strike="noStrike" kern="1200" cap="none" spc="300" baseline="0" dirty="0">
                <a:solidFill>
                  <a:srgbClr val="262626"/>
                </a:solidFill>
                <a:latin typeface="Arial" charset="0"/>
                <a:ea typeface="微软雅黑" charset="0"/>
                <a:cs typeface="Lucida Sans"/>
              </a:rPr>
              <a:t>题型</a:t>
            </a:r>
            <a:r>
              <a:rPr lang="en-US" altLang="zh-CN" dirty="0">
                <a:cs typeface="Lucida Sans"/>
              </a:rPr>
              <a:t>3</a:t>
            </a:r>
            <a:r>
              <a:rPr lang="zh-CN" altLang="en-US" sz="3600" b="1" i="0" u="none" strike="noStrike" kern="1200" cap="none" spc="300" baseline="0" dirty="0">
                <a:solidFill>
                  <a:srgbClr val="262626"/>
                </a:solidFill>
                <a:latin typeface="Arial" charset="0"/>
                <a:ea typeface="微软雅黑" charset="0"/>
                <a:cs typeface="Lucida Sans"/>
              </a:rPr>
              <a:t>：</a:t>
            </a:r>
            <a:r>
              <a:rPr lang="en-US" altLang="zh-CN" sz="3600" b="1" i="0" u="none" strike="noStrike" kern="1200" cap="none" spc="300" baseline="0" dirty="0">
                <a:solidFill>
                  <a:srgbClr val="262626"/>
                </a:solidFill>
                <a:latin typeface="Arial" charset="0"/>
                <a:ea typeface="微软雅黑" charset="0"/>
                <a:cs typeface="Lucida Sans"/>
              </a:rPr>
              <a:t> </a:t>
            </a:r>
            <a:r>
              <a:rPr lang="zh-CN" altLang="en-US" sz="3600" b="1" i="0" u="none" strike="noStrike" kern="1200" cap="none" spc="300" baseline="0" dirty="0">
                <a:solidFill>
                  <a:srgbClr val="262626"/>
                </a:solidFill>
                <a:latin typeface="Arial" charset="0"/>
                <a:ea typeface="微软雅黑" charset="0"/>
                <a:cs typeface="Lucida Sans"/>
              </a:rPr>
              <a:t>计算题</a:t>
            </a:r>
          </a:p>
        </p:txBody>
      </p:sp>
      <p:sp>
        <p:nvSpPr>
          <p:cNvPr id="4" name="文本框 3">
            <a:extLst>
              <a:ext uri="{FF2B5EF4-FFF2-40B4-BE49-F238E27FC236}">
                <a16:creationId xmlns:a16="http://schemas.microsoft.com/office/drawing/2014/main" id="{60FDC573-21BB-1F81-427B-8B666A5D5885}"/>
              </a:ext>
            </a:extLst>
          </p:cNvPr>
          <p:cNvSpPr txBox="1"/>
          <p:nvPr/>
        </p:nvSpPr>
        <p:spPr>
          <a:xfrm>
            <a:off x="608400" y="1716560"/>
            <a:ext cx="6095010" cy="1477328"/>
          </a:xfrm>
          <a:prstGeom prst="rect">
            <a:avLst/>
          </a:prstGeom>
          <a:noFill/>
        </p:spPr>
        <p:txBody>
          <a:bodyPr wrap="square">
            <a:spAutoFit/>
          </a:bodyPr>
          <a:lstStyle/>
          <a:p>
            <a:pPr algn="just">
              <a:buNone/>
            </a:pPr>
            <a:r>
              <a:rPr lang="en-US" altLang="zh-CN" sz="1800" kern="100" dirty="0">
                <a:effectLst/>
                <a:latin typeface="Calibri" panose="020F0502020204030204" pitchFamily="34" charset="0"/>
                <a:ea typeface="SimSun" panose="02010600030101010101" pitchFamily="2" charset="-122"/>
                <a:cs typeface="Times New Roman" panose="02020603050405020304" pitchFamily="18" charset="0"/>
              </a:rPr>
              <a:t>2.</a:t>
            </a:r>
            <a:r>
              <a:rPr lang="zh-CN" altLang="zh-CN" sz="1800" kern="100" dirty="0">
                <a:effectLst/>
                <a:latin typeface="Calibri" panose="020F0502020204030204" pitchFamily="34" charset="0"/>
                <a:ea typeface="SimSun" panose="02010600030101010101" pitchFamily="2" charset="-122"/>
                <a:cs typeface="Times New Roman" panose="02020603050405020304" pitchFamily="18" charset="0"/>
              </a:rPr>
              <a:t>分类回归计算</a:t>
            </a:r>
          </a:p>
          <a:p>
            <a:pPr algn="just">
              <a:buNone/>
            </a:pPr>
            <a:r>
              <a:rPr lang="zh-CN" altLang="zh-CN" sz="1800" kern="100" dirty="0">
                <a:effectLst/>
                <a:latin typeface="Calibri" panose="020F0502020204030204" pitchFamily="34" charset="0"/>
                <a:ea typeface="SimSun" panose="02010600030101010101" pitchFamily="2" charset="-122"/>
                <a:cs typeface="Times New Roman" panose="02020603050405020304" pitchFamily="18" charset="0"/>
              </a:rPr>
              <a:t>判断考试是否通过的特征是</a:t>
            </a:r>
            <a:r>
              <a:rPr lang="en-US" altLang="zh-CN" sz="1800" kern="100" dirty="0">
                <a:effectLst/>
                <a:latin typeface="Calibri" panose="020F0502020204030204" pitchFamily="34" charset="0"/>
                <a:ea typeface="SimSun" panose="02010600030101010101" pitchFamily="2" charset="-122"/>
                <a:cs typeface="Times New Roman" panose="02020603050405020304" pitchFamily="18" charset="0"/>
              </a:rPr>
              <a:t>X1</a:t>
            </a:r>
            <a:r>
              <a:rPr lang="zh-CN" altLang="zh-CN" sz="1800" kern="100" dirty="0">
                <a:effectLst/>
                <a:latin typeface="Calibri" panose="020F0502020204030204" pitchFamily="34" charset="0"/>
                <a:ea typeface="SimSun" panose="02010600030101010101" pitchFamily="2" charset="-122"/>
                <a:cs typeface="Times New Roman" panose="02020603050405020304" pitchFamily="18" charset="0"/>
              </a:rPr>
              <a:t>（学习时间），</a:t>
            </a:r>
            <a:r>
              <a:rPr lang="en-US" altLang="zh-CN" sz="1800" kern="100" dirty="0">
                <a:effectLst/>
                <a:latin typeface="Calibri" panose="020F0502020204030204" pitchFamily="34" charset="0"/>
                <a:ea typeface="SimSun" panose="02010600030101010101" pitchFamily="2" charset="-122"/>
                <a:cs typeface="Times New Roman" panose="02020603050405020304" pitchFamily="18" charset="0"/>
              </a:rPr>
              <a:t>X2</a:t>
            </a:r>
            <a:r>
              <a:rPr lang="zh-CN" altLang="zh-CN" sz="1800" kern="100" dirty="0">
                <a:effectLst/>
                <a:latin typeface="Calibri" panose="020F0502020204030204" pitchFamily="34" charset="0"/>
                <a:ea typeface="SimSun" panose="02010600030101010101" pitchFamily="2" charset="-122"/>
                <a:cs typeface="Times New Roman" panose="02020603050405020304" pitchFamily="18" charset="0"/>
              </a:rPr>
              <a:t>（做题数），对应的权重</a:t>
            </a:r>
            <a:r>
              <a:rPr lang="en-US" altLang="zh-CN" sz="1800" kern="100" dirty="0">
                <a:effectLst/>
                <a:latin typeface="Calibri" panose="020F0502020204030204" pitchFamily="34" charset="0"/>
                <a:ea typeface="SimSun" panose="02010600030101010101" pitchFamily="2" charset="-122"/>
                <a:cs typeface="Times New Roman" panose="02020603050405020304" pitchFamily="18" charset="0"/>
              </a:rPr>
              <a:t>w1</a:t>
            </a:r>
            <a:r>
              <a:rPr lang="zh-CN" altLang="zh-CN" sz="1800" kern="100" dirty="0">
                <a:effectLst/>
                <a:latin typeface="Calibri" panose="020F0502020204030204" pitchFamily="34" charset="0"/>
                <a:ea typeface="SimSun" panose="02010600030101010101" pitchFamily="2" charset="-122"/>
                <a:cs typeface="Times New Roman" panose="02020603050405020304" pitchFamily="18" charset="0"/>
              </a:rPr>
              <a:t>为</a:t>
            </a:r>
            <a:r>
              <a:rPr lang="en-US" altLang="zh-CN" sz="1800" kern="100" dirty="0">
                <a:effectLst/>
                <a:latin typeface="Calibri" panose="020F0502020204030204" pitchFamily="34" charset="0"/>
                <a:ea typeface="SimSun" panose="02010600030101010101" pitchFamily="2" charset="-122"/>
                <a:cs typeface="Times New Roman" panose="02020603050405020304" pitchFamily="18" charset="0"/>
              </a:rPr>
              <a:t>5</a:t>
            </a:r>
            <a:r>
              <a:rPr lang="zh-CN" altLang="zh-CN" sz="1800" kern="100" dirty="0">
                <a:effectLst/>
                <a:latin typeface="Calibri" panose="020F0502020204030204" pitchFamily="34" charset="0"/>
                <a:ea typeface="SimSun" panose="02010600030101010101" pitchFamily="2" charset="-122"/>
                <a:cs typeface="Times New Roman" panose="02020603050405020304" pitchFamily="18" charset="0"/>
              </a:rPr>
              <a:t>，</a:t>
            </a:r>
            <a:r>
              <a:rPr lang="en-US" altLang="zh-CN" sz="1800" kern="100" dirty="0">
                <a:effectLst/>
                <a:latin typeface="Calibri" panose="020F0502020204030204" pitchFamily="34" charset="0"/>
                <a:ea typeface="SimSun" panose="02010600030101010101" pitchFamily="2" charset="-122"/>
                <a:cs typeface="Times New Roman" panose="02020603050405020304" pitchFamily="18" charset="0"/>
              </a:rPr>
              <a:t>w2</a:t>
            </a:r>
            <a:r>
              <a:rPr lang="zh-CN" altLang="zh-CN" sz="1800" kern="100" dirty="0">
                <a:effectLst/>
                <a:latin typeface="Calibri" panose="020F0502020204030204" pitchFamily="34" charset="0"/>
                <a:ea typeface="SimSun" panose="02010600030101010101" pitchFamily="2" charset="-122"/>
                <a:cs typeface="Times New Roman" panose="02020603050405020304" pitchFamily="18" charset="0"/>
              </a:rPr>
              <a:t>为</a:t>
            </a:r>
            <a:r>
              <a:rPr lang="en-US" altLang="zh-CN" sz="1800" kern="100" dirty="0">
                <a:effectLst/>
                <a:latin typeface="Calibri" panose="020F0502020204030204" pitchFamily="34" charset="0"/>
                <a:ea typeface="SimSun" panose="02010600030101010101" pitchFamily="2" charset="-122"/>
                <a:cs typeface="Times New Roman" panose="02020603050405020304" pitchFamily="18" charset="0"/>
              </a:rPr>
              <a:t>0.1</a:t>
            </a:r>
            <a:r>
              <a:rPr lang="zh-CN" altLang="zh-CN" sz="1800" kern="100" dirty="0">
                <a:effectLst/>
                <a:latin typeface="Calibri" panose="020F0502020204030204" pitchFamily="34" charset="0"/>
                <a:ea typeface="SimSun" panose="02010600030101010101" pitchFamily="2" charset="-122"/>
                <a:cs typeface="Times New Roman" panose="02020603050405020304" pitchFamily="18" charset="0"/>
              </a:rPr>
              <a:t>，偏置</a:t>
            </a:r>
            <a:r>
              <a:rPr lang="en-US" altLang="zh-CN" sz="1800" kern="100" dirty="0">
                <a:effectLst/>
                <a:latin typeface="Calibri" panose="020F0502020204030204" pitchFamily="34" charset="0"/>
                <a:ea typeface="SimSun" panose="02010600030101010101" pitchFamily="2" charset="-122"/>
                <a:cs typeface="Times New Roman" panose="02020603050405020304" pitchFamily="18" charset="0"/>
              </a:rPr>
              <a:t>b</a:t>
            </a:r>
            <a:r>
              <a:rPr lang="zh-CN" altLang="zh-CN" sz="1800" kern="100" dirty="0">
                <a:effectLst/>
                <a:latin typeface="Calibri" panose="020F0502020204030204" pitchFamily="34" charset="0"/>
                <a:ea typeface="SimSun" panose="02010600030101010101" pitchFamily="2" charset="-122"/>
                <a:cs typeface="Times New Roman" panose="02020603050405020304" pitchFamily="18" charset="0"/>
              </a:rPr>
              <a:t>为</a:t>
            </a:r>
            <a:r>
              <a:rPr lang="en-US" altLang="zh-CN" sz="1800" kern="100" dirty="0">
                <a:effectLst/>
                <a:latin typeface="Calibri" panose="020F0502020204030204" pitchFamily="34" charset="0"/>
                <a:ea typeface="SimSun" panose="02010600030101010101" pitchFamily="2" charset="-122"/>
                <a:cs typeface="Times New Roman" panose="02020603050405020304" pitchFamily="18" charset="0"/>
              </a:rPr>
              <a:t>-2</a:t>
            </a:r>
            <a:r>
              <a:rPr lang="zh-CN" altLang="zh-CN" sz="1800" kern="100" dirty="0">
                <a:effectLst/>
                <a:latin typeface="Calibri" panose="020F0502020204030204" pitchFamily="34" charset="0"/>
                <a:ea typeface="SimSun" panose="02010600030101010101" pitchFamily="2" charset="-122"/>
                <a:cs typeface="Times New Roman" panose="02020603050405020304" pitchFamily="18" charset="0"/>
              </a:rPr>
              <a:t>，激活函数是</a:t>
            </a:r>
            <a:r>
              <a:rPr lang="en-US" altLang="zh-CN" sz="1800" kern="100" dirty="0">
                <a:effectLst/>
                <a:latin typeface="Calibri" panose="020F0502020204030204" pitchFamily="34" charset="0"/>
                <a:ea typeface="SimSun" panose="02010600030101010101" pitchFamily="2" charset="-122"/>
                <a:cs typeface="Times New Roman" panose="02020603050405020304" pitchFamily="18" charset="0"/>
              </a:rPr>
              <a:t>sigmoid</a:t>
            </a:r>
            <a:r>
              <a:rPr lang="zh-CN" altLang="zh-CN" sz="1800" kern="100" dirty="0">
                <a:effectLst/>
                <a:latin typeface="Calibri" panose="020F0502020204030204" pitchFamily="34" charset="0"/>
                <a:ea typeface="SimSun" panose="02010600030101010101" pitchFamily="2" charset="-122"/>
                <a:cs typeface="Times New Roman" panose="02020603050405020304" pitchFamily="18" charset="0"/>
              </a:rPr>
              <a:t>，决策阈值为</a:t>
            </a:r>
            <a:r>
              <a:rPr lang="en-US" altLang="zh-CN" sz="1800" kern="100" dirty="0">
                <a:effectLst/>
                <a:latin typeface="Calibri" panose="020F0502020204030204" pitchFamily="34" charset="0"/>
                <a:ea typeface="SimSun" panose="02010600030101010101" pitchFamily="2" charset="-122"/>
                <a:cs typeface="Times New Roman" panose="02020603050405020304" pitchFamily="18" charset="0"/>
              </a:rPr>
              <a:t>0.5</a:t>
            </a:r>
            <a:r>
              <a:rPr lang="zh-CN" altLang="zh-CN" sz="1800" kern="100" dirty="0">
                <a:effectLst/>
                <a:latin typeface="Calibri" panose="020F0502020204030204" pitchFamily="34" charset="0"/>
                <a:ea typeface="SimSun" panose="02010600030101010101" pitchFamily="2" charset="-122"/>
                <a:cs typeface="Times New Roman" panose="02020603050405020304" pitchFamily="18" charset="0"/>
              </a:rPr>
              <a:t>，问学习时间为</a:t>
            </a:r>
            <a:r>
              <a:rPr lang="en-US" altLang="zh-CN" sz="1800" kern="100" dirty="0">
                <a:effectLst/>
                <a:latin typeface="Calibri" panose="020F0502020204030204" pitchFamily="34" charset="0"/>
                <a:ea typeface="SimSun" panose="02010600030101010101" pitchFamily="2" charset="-122"/>
                <a:cs typeface="Times New Roman" panose="02020603050405020304" pitchFamily="18" charset="0"/>
              </a:rPr>
              <a:t>0.4</a:t>
            </a:r>
            <a:r>
              <a:rPr lang="zh-CN" altLang="zh-CN" sz="1800" kern="100" dirty="0">
                <a:effectLst/>
                <a:latin typeface="Calibri" panose="020F0502020204030204" pitchFamily="34" charset="0"/>
                <a:ea typeface="SimSun" panose="02010600030101010101" pitchFamily="2" charset="-122"/>
                <a:cs typeface="Times New Roman" panose="02020603050405020304" pitchFamily="18" charset="0"/>
              </a:rPr>
              <a:t>，做题数为</a:t>
            </a:r>
            <a:r>
              <a:rPr lang="en-US" altLang="zh-CN" sz="1800" kern="100" dirty="0">
                <a:effectLst/>
                <a:latin typeface="Calibri" panose="020F0502020204030204" pitchFamily="34" charset="0"/>
                <a:ea typeface="SimSun" panose="02010600030101010101" pitchFamily="2" charset="-122"/>
                <a:cs typeface="Times New Roman" panose="02020603050405020304" pitchFamily="18" charset="0"/>
              </a:rPr>
              <a:t>20</a:t>
            </a:r>
            <a:r>
              <a:rPr lang="zh-CN" altLang="zh-CN" sz="1800" kern="100" dirty="0">
                <a:effectLst/>
                <a:latin typeface="Calibri" panose="020F0502020204030204" pitchFamily="34" charset="0"/>
                <a:ea typeface="SimSun" panose="02010600030101010101" pitchFamily="2" charset="-122"/>
                <a:cs typeface="Times New Roman" panose="02020603050405020304" pitchFamily="18" charset="0"/>
              </a:rPr>
              <a:t>的学生能否通过考试（</a:t>
            </a:r>
            <a:r>
              <a:rPr lang="en-US" altLang="zh-CN" sz="1800" kern="100" dirty="0">
                <a:effectLst/>
                <a:latin typeface="Calibri" panose="020F0502020204030204" pitchFamily="34" charset="0"/>
                <a:ea typeface="SimSun" panose="02010600030101010101" pitchFamily="2" charset="-122"/>
                <a:cs typeface="Times New Roman" panose="02020603050405020304" pitchFamily="18" charset="0"/>
              </a:rPr>
              <a:t>e</a:t>
            </a:r>
            <a:r>
              <a:rPr lang="en-US" altLang="zh-CN" sz="1800" kern="100" baseline="30000" dirty="0">
                <a:effectLst/>
                <a:latin typeface="Calibri" panose="020F0502020204030204" pitchFamily="34" charset="0"/>
                <a:ea typeface="SimSun" panose="02010600030101010101" pitchFamily="2" charset="-122"/>
                <a:cs typeface="Times New Roman" panose="02020603050405020304" pitchFamily="18" charset="0"/>
              </a:rPr>
              <a:t>-2</a:t>
            </a:r>
            <a:r>
              <a:rPr lang="en-US" altLang="zh-CN" sz="1800" kern="100" dirty="0">
                <a:effectLst/>
                <a:latin typeface="Calibri" panose="020F0502020204030204" pitchFamily="34" charset="0"/>
                <a:ea typeface="SimSun" panose="02010600030101010101" pitchFamily="2" charset="-122"/>
                <a:cs typeface="Times New Roman" panose="02020603050405020304" pitchFamily="18" charset="0"/>
              </a:rPr>
              <a:t>=0.135</a:t>
            </a:r>
            <a:r>
              <a:rPr lang="zh-CN" altLang="zh-CN" sz="1800" kern="100" dirty="0">
                <a:effectLst/>
                <a:latin typeface="Calibri" panose="020F0502020204030204" pitchFamily="34" charset="0"/>
                <a:ea typeface="SimSun" panose="02010600030101010101" pitchFamily="2" charset="-122"/>
                <a:cs typeface="Times New Roman" panose="02020603050405020304" pitchFamily="18" charset="0"/>
              </a:rPr>
              <a:t>）</a:t>
            </a:r>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7BBA27FC-9DB0-A53B-22B8-005E14AD4BC3}"/>
                  </a:ext>
                </a:extLst>
              </p:cNvPr>
              <p:cNvSpPr txBox="1"/>
              <p:nvPr/>
            </p:nvSpPr>
            <p:spPr>
              <a:xfrm>
                <a:off x="684316" y="3525475"/>
                <a:ext cx="6518068" cy="2927533"/>
              </a:xfrm>
              <a:prstGeom prst="rect">
                <a:avLst/>
              </a:prstGeom>
              <a:noFill/>
            </p:spPr>
            <p:txBody>
              <a:bodyPr wrap="square">
                <a:spAutoFit/>
              </a:bodyPr>
              <a:lstStyle/>
              <a:p>
                <a:pPr>
                  <a:buNone/>
                </a:pPr>
                <a:r>
                  <a:rPr lang="zh-CN" altLang="en-US" dirty="0"/>
                  <a:t>代入数据：</a:t>
                </a:r>
              </a:p>
              <a:p>
                <a:pPr>
                  <a:buNone/>
                </a:pPr>
                <a14:m>
                  <m:oMathPara xmlns:m="http://schemas.openxmlformats.org/officeDocument/2006/math">
                    <m:oMathParaPr>
                      <m:jc m:val="centerGroup"/>
                    </m:oMathParaPr>
                    <m:oMath xmlns:m="http://schemas.openxmlformats.org/officeDocument/2006/math">
                      <m:r>
                        <a:rPr lang="zh-CN" altLang="en-US" i="1">
                          <a:latin typeface="Cambria Math" panose="02040503050406030204" pitchFamily="18" charset="0"/>
                        </a:rPr>
                        <m:t>𝑧</m:t>
                      </m:r>
                      <m:r>
                        <a:rPr lang="en-US" altLang="zh-CN" i="0">
                          <a:latin typeface="Cambria Math" panose="02040503050406030204" pitchFamily="18" charset="0"/>
                        </a:rPr>
                        <m:t>=</m:t>
                      </m:r>
                      <m:r>
                        <a:rPr lang="en-US" altLang="zh-CN" i="0">
                          <a:latin typeface="Cambria Math" panose="02040503050406030204" pitchFamily="18" charset="0"/>
                        </a:rPr>
                        <m:t>5</m:t>
                      </m:r>
                      <m:r>
                        <a:rPr lang="en-US" altLang="zh-CN" i="0">
                          <a:latin typeface="Cambria Math" panose="02040503050406030204" pitchFamily="18" charset="0"/>
                        </a:rPr>
                        <m:t>×</m:t>
                      </m:r>
                      <m:r>
                        <a:rPr lang="en-US" altLang="zh-CN" i="0">
                          <a:latin typeface="Cambria Math" panose="02040503050406030204" pitchFamily="18" charset="0"/>
                        </a:rPr>
                        <m:t>0</m:t>
                      </m:r>
                      <m:r>
                        <a:rPr lang="en-US" altLang="zh-CN" i="0">
                          <a:latin typeface="Cambria Math" panose="02040503050406030204" pitchFamily="18" charset="0"/>
                        </a:rPr>
                        <m:t>.</m:t>
                      </m:r>
                      <m:r>
                        <a:rPr lang="en-US" altLang="zh-CN" i="0">
                          <a:latin typeface="Cambria Math" panose="02040503050406030204" pitchFamily="18" charset="0"/>
                        </a:rPr>
                        <m:t>4</m:t>
                      </m:r>
                      <m:r>
                        <a:rPr lang="en-US" altLang="zh-CN" i="0">
                          <a:latin typeface="Cambria Math" panose="02040503050406030204" pitchFamily="18" charset="0"/>
                        </a:rPr>
                        <m:t>+</m:t>
                      </m:r>
                      <m:r>
                        <a:rPr lang="en-US" altLang="zh-CN" i="0">
                          <a:latin typeface="Cambria Math" panose="02040503050406030204" pitchFamily="18" charset="0"/>
                        </a:rPr>
                        <m:t>0</m:t>
                      </m:r>
                      <m:r>
                        <a:rPr lang="en-US" altLang="zh-CN" i="0">
                          <a:latin typeface="Cambria Math" panose="02040503050406030204" pitchFamily="18" charset="0"/>
                        </a:rPr>
                        <m:t>.</m:t>
                      </m:r>
                      <m:r>
                        <a:rPr lang="en-US" altLang="zh-CN" i="0">
                          <a:latin typeface="Cambria Math" panose="02040503050406030204" pitchFamily="18" charset="0"/>
                        </a:rPr>
                        <m:t>1</m:t>
                      </m:r>
                      <m:r>
                        <a:rPr lang="en-US" altLang="zh-CN" i="0">
                          <a:latin typeface="Cambria Math" panose="02040503050406030204" pitchFamily="18" charset="0"/>
                        </a:rPr>
                        <m:t>×</m:t>
                      </m:r>
                      <m:r>
                        <a:rPr lang="en-US" altLang="zh-CN" i="0">
                          <a:latin typeface="Cambria Math" panose="02040503050406030204" pitchFamily="18" charset="0"/>
                        </a:rPr>
                        <m:t>20</m:t>
                      </m:r>
                      <m:r>
                        <a:rPr lang="en-US" altLang="zh-CN" i="0">
                          <a:latin typeface="Cambria Math" panose="02040503050406030204" pitchFamily="18" charset="0"/>
                        </a:rPr>
                        <m:t>−</m:t>
                      </m:r>
                      <m:r>
                        <a:rPr lang="en-US" altLang="zh-CN" i="0">
                          <a:latin typeface="Cambria Math" panose="02040503050406030204" pitchFamily="18" charset="0"/>
                        </a:rPr>
                        <m:t>2</m:t>
                      </m:r>
                    </m:oMath>
                  </m:oMathPara>
                </a14:m>
                <a:endParaRPr lang="zh-CN" altLang="en-US" dirty="0"/>
              </a:p>
              <a:p>
                <a:pPr>
                  <a:buNone/>
                </a:pPr>
                <a14:m>
                  <m:oMathPara xmlns:m="http://schemas.openxmlformats.org/officeDocument/2006/math">
                    <m:oMathParaPr>
                      <m:jc m:val="centerGroup"/>
                    </m:oMathParaPr>
                    <m:oMath xmlns:m="http://schemas.openxmlformats.org/officeDocument/2006/math">
                      <m:r>
                        <a:rPr lang="zh-CN" altLang="en-US" i="1">
                          <a:latin typeface="Cambria Math" panose="02040503050406030204" pitchFamily="18" charset="0"/>
                        </a:rPr>
                        <m:t>𝑧</m:t>
                      </m:r>
                      <m:r>
                        <a:rPr lang="en-US" altLang="zh-CN" i="0">
                          <a:latin typeface="Cambria Math" panose="02040503050406030204" pitchFamily="18" charset="0"/>
                        </a:rPr>
                        <m:t>=</m:t>
                      </m:r>
                      <m:r>
                        <a:rPr lang="en-US" altLang="zh-CN" i="0">
                          <a:latin typeface="Cambria Math" panose="02040503050406030204" pitchFamily="18" charset="0"/>
                        </a:rPr>
                        <m:t>2</m:t>
                      </m:r>
                      <m:r>
                        <a:rPr lang="en-US" altLang="zh-CN" i="0">
                          <a:latin typeface="Cambria Math" panose="02040503050406030204" pitchFamily="18" charset="0"/>
                        </a:rPr>
                        <m:t>+</m:t>
                      </m:r>
                      <m:r>
                        <a:rPr lang="en-US" altLang="zh-CN" i="0">
                          <a:latin typeface="Cambria Math" panose="02040503050406030204" pitchFamily="18" charset="0"/>
                        </a:rPr>
                        <m:t>2</m:t>
                      </m:r>
                      <m:r>
                        <a:rPr lang="en-US" altLang="zh-CN" i="0">
                          <a:latin typeface="Cambria Math" panose="02040503050406030204" pitchFamily="18" charset="0"/>
                        </a:rPr>
                        <m:t>−</m:t>
                      </m:r>
                      <m:r>
                        <a:rPr lang="en-US" altLang="zh-CN" i="0">
                          <a:latin typeface="Cambria Math" panose="02040503050406030204" pitchFamily="18" charset="0"/>
                        </a:rPr>
                        <m:t>2</m:t>
                      </m:r>
                      <m:r>
                        <a:rPr lang="en-US" altLang="zh-CN" i="0">
                          <a:latin typeface="Cambria Math" panose="02040503050406030204" pitchFamily="18" charset="0"/>
                        </a:rPr>
                        <m:t>=</m:t>
                      </m:r>
                      <m:r>
                        <a:rPr lang="en-US" altLang="zh-CN" i="0">
                          <a:latin typeface="Cambria Math" panose="02040503050406030204" pitchFamily="18" charset="0"/>
                        </a:rPr>
                        <m:t>2</m:t>
                      </m:r>
                    </m:oMath>
                  </m:oMathPara>
                </a14:m>
                <a:endParaRPr lang="en-US" altLang="zh-CN" dirty="0"/>
              </a:p>
              <a:p>
                <a:r>
                  <a:rPr lang="zh-CN" altLang="en-US" dirty="0"/>
                  <a:t>计算 </a:t>
                </a:r>
                <a:r>
                  <a:rPr lang="en-US" altLang="zh-CN" dirty="0"/>
                  <a:t>sigmoid </a:t>
                </a:r>
                <a:r>
                  <a:rPr lang="zh-CN" altLang="en-US" dirty="0"/>
                  <a:t>输出：</a:t>
                </a:r>
              </a:p>
              <a:p>
                <a:pPr/>
                <a14:m>
                  <m:oMathPara xmlns:m="http://schemas.openxmlformats.org/officeDocument/2006/math">
                    <m:oMathParaPr>
                      <m:jc m:val="centerGroup"/>
                    </m:oMathParaPr>
                    <m:oMath xmlns:m="http://schemas.openxmlformats.org/officeDocument/2006/math">
                      <m:r>
                        <a:rPr lang="zh-CN" altLang="en-US" i="1">
                          <a:latin typeface="Cambria Math" panose="02040503050406030204" pitchFamily="18" charset="0"/>
                        </a:rPr>
                        <m:t>𝜎</m:t>
                      </m:r>
                      <m:d>
                        <m:dPr>
                          <m:ctrlPr>
                            <a:rPr lang="ar-AE" altLang="zh-CN" i="1">
                              <a:latin typeface="Cambria Math" panose="02040503050406030204" pitchFamily="18" charset="0"/>
                            </a:rPr>
                          </m:ctrlPr>
                        </m:dPr>
                        <m:e>
                          <m:r>
                            <a:rPr lang="zh-CN" altLang="ar-AE" i="1">
                              <a:latin typeface="Cambria Math" panose="02040503050406030204" pitchFamily="18" charset="0"/>
                            </a:rPr>
                            <m:t>𝑧</m:t>
                          </m:r>
                        </m:e>
                      </m:d>
                      <m:r>
                        <a:rPr lang="ar-AE" altLang="zh-CN">
                          <a:latin typeface="Cambria Math" panose="02040503050406030204" pitchFamily="18" charset="0"/>
                        </a:rPr>
                        <m:t>=</m:t>
                      </m:r>
                      <m:f>
                        <m:fPr>
                          <m:ctrlPr>
                            <a:rPr lang="ar-AE" altLang="zh-CN" i="1">
                              <a:latin typeface="Cambria Math" panose="02040503050406030204" pitchFamily="18" charset="0"/>
                            </a:rPr>
                          </m:ctrlPr>
                        </m:fPr>
                        <m:num>
                          <m:r>
                            <a:rPr lang="ar-AE" altLang="zh-CN">
                              <a:latin typeface="Cambria Math" panose="02040503050406030204" pitchFamily="18" charset="0"/>
                            </a:rPr>
                            <m:t>1</m:t>
                          </m:r>
                        </m:num>
                        <m:den>
                          <m:r>
                            <a:rPr lang="ar-AE" altLang="zh-CN">
                              <a:latin typeface="Cambria Math" panose="02040503050406030204" pitchFamily="18" charset="0"/>
                            </a:rPr>
                            <m:t>1</m:t>
                          </m:r>
                          <m:r>
                            <a:rPr lang="ar-AE" altLang="zh-CN">
                              <a:latin typeface="Cambria Math" panose="02040503050406030204" pitchFamily="18" charset="0"/>
                            </a:rPr>
                            <m:t>+</m:t>
                          </m:r>
                          <m:sSup>
                            <m:sSupPr>
                              <m:ctrlPr>
                                <a:rPr lang="ar-AE" altLang="zh-CN" i="1">
                                  <a:latin typeface="Cambria Math" panose="02040503050406030204" pitchFamily="18" charset="0"/>
                                </a:rPr>
                              </m:ctrlPr>
                            </m:sSupPr>
                            <m:e>
                              <m:r>
                                <a:rPr lang="zh-CN" altLang="ar-AE" i="1">
                                  <a:latin typeface="Cambria Math" panose="02040503050406030204" pitchFamily="18" charset="0"/>
                                </a:rPr>
                                <m:t>𝑒</m:t>
                              </m:r>
                            </m:e>
                            <m:sup>
                              <m:r>
                                <a:rPr lang="ar-AE" altLang="zh-CN">
                                  <a:latin typeface="Cambria Math" panose="02040503050406030204" pitchFamily="18" charset="0"/>
                                </a:rPr>
                                <m:t>−</m:t>
                              </m:r>
                              <m:r>
                                <a:rPr lang="zh-CN" altLang="ar-AE" i="1">
                                  <a:latin typeface="Cambria Math" panose="02040503050406030204" pitchFamily="18" charset="0"/>
                                </a:rPr>
                                <m:t>𝑧</m:t>
                              </m:r>
                            </m:sup>
                          </m:sSup>
                        </m:den>
                      </m:f>
                    </m:oMath>
                  </m:oMathPara>
                </a14:m>
                <a:endParaRPr lang="ar-AE" altLang="zh-CN" dirty="0"/>
              </a:p>
              <a:p>
                <a:pPr/>
                <a14:m>
                  <m:oMathPara xmlns:m="http://schemas.openxmlformats.org/officeDocument/2006/math">
                    <m:oMathParaPr>
                      <m:jc m:val="centerGroup"/>
                    </m:oMathParaPr>
                    <m:oMath xmlns:m="http://schemas.openxmlformats.org/officeDocument/2006/math">
                      <m:r>
                        <a:rPr lang="zh-CN" altLang="ar-AE" i="1">
                          <a:latin typeface="Cambria Math" panose="02040503050406030204" pitchFamily="18" charset="0"/>
                        </a:rPr>
                        <m:t>𝜎</m:t>
                      </m:r>
                      <m:d>
                        <m:dPr>
                          <m:ctrlPr>
                            <a:rPr lang="ar-AE" altLang="zh-CN" i="1">
                              <a:latin typeface="Cambria Math" panose="02040503050406030204" pitchFamily="18" charset="0"/>
                            </a:rPr>
                          </m:ctrlPr>
                        </m:dPr>
                        <m:e>
                          <m:r>
                            <a:rPr lang="ar-AE" altLang="zh-CN">
                              <a:latin typeface="Cambria Math" panose="02040503050406030204" pitchFamily="18" charset="0"/>
                            </a:rPr>
                            <m:t>2</m:t>
                          </m:r>
                        </m:e>
                      </m:d>
                      <m:r>
                        <a:rPr lang="ar-AE" altLang="zh-CN">
                          <a:latin typeface="Cambria Math" panose="02040503050406030204" pitchFamily="18" charset="0"/>
                        </a:rPr>
                        <m:t>=</m:t>
                      </m:r>
                      <m:f>
                        <m:fPr>
                          <m:ctrlPr>
                            <a:rPr lang="ar-AE" altLang="zh-CN" i="1">
                              <a:latin typeface="Cambria Math" panose="02040503050406030204" pitchFamily="18" charset="0"/>
                            </a:rPr>
                          </m:ctrlPr>
                        </m:fPr>
                        <m:num>
                          <m:r>
                            <a:rPr lang="ar-AE" altLang="zh-CN">
                              <a:latin typeface="Cambria Math" panose="02040503050406030204" pitchFamily="18" charset="0"/>
                            </a:rPr>
                            <m:t>1</m:t>
                          </m:r>
                        </m:num>
                        <m:den>
                          <m:r>
                            <a:rPr lang="ar-AE" altLang="zh-CN">
                              <a:latin typeface="Cambria Math" panose="02040503050406030204" pitchFamily="18" charset="0"/>
                            </a:rPr>
                            <m:t>1</m:t>
                          </m:r>
                          <m:r>
                            <a:rPr lang="ar-AE" altLang="zh-CN">
                              <a:latin typeface="Cambria Math" panose="02040503050406030204" pitchFamily="18" charset="0"/>
                            </a:rPr>
                            <m:t>+</m:t>
                          </m:r>
                          <m:sSup>
                            <m:sSupPr>
                              <m:ctrlPr>
                                <a:rPr lang="ar-AE" altLang="zh-CN" i="1">
                                  <a:latin typeface="Cambria Math" panose="02040503050406030204" pitchFamily="18" charset="0"/>
                                </a:rPr>
                              </m:ctrlPr>
                            </m:sSupPr>
                            <m:e>
                              <m:r>
                                <a:rPr lang="zh-CN" altLang="ar-AE" i="1">
                                  <a:latin typeface="Cambria Math" panose="02040503050406030204" pitchFamily="18" charset="0"/>
                                </a:rPr>
                                <m:t>𝑒</m:t>
                              </m:r>
                            </m:e>
                            <m:sup>
                              <m:r>
                                <a:rPr lang="ar-AE" altLang="zh-CN">
                                  <a:latin typeface="Cambria Math" panose="02040503050406030204" pitchFamily="18" charset="0"/>
                                </a:rPr>
                                <m:t>−</m:t>
                              </m:r>
                              <m:r>
                                <a:rPr lang="ar-AE" altLang="zh-CN">
                                  <a:latin typeface="Cambria Math" panose="02040503050406030204" pitchFamily="18" charset="0"/>
                                </a:rPr>
                                <m:t>2</m:t>
                              </m:r>
                            </m:sup>
                          </m:sSup>
                        </m:den>
                      </m:f>
                    </m:oMath>
                  </m:oMathPara>
                </a14:m>
                <a:endParaRPr lang="ar-AE" altLang="zh-CN" dirty="0"/>
              </a:p>
              <a:p>
                <a14:m>
                  <m:oMath xmlns:m="http://schemas.openxmlformats.org/officeDocument/2006/math">
                    <m:r>
                      <a:rPr lang="zh-CN" altLang="ar-AE" i="1">
                        <a:latin typeface="Cambria Math" panose="02040503050406030204" pitchFamily="18" charset="0"/>
                      </a:rPr>
                      <m:t>𝜎</m:t>
                    </m:r>
                    <m:d>
                      <m:dPr>
                        <m:ctrlPr>
                          <a:rPr lang="ar-AE" altLang="zh-CN" i="1">
                            <a:latin typeface="Cambria Math" panose="02040503050406030204" pitchFamily="18" charset="0"/>
                          </a:rPr>
                        </m:ctrlPr>
                      </m:dPr>
                      <m:e>
                        <m:r>
                          <a:rPr lang="ar-AE" altLang="zh-CN">
                            <a:latin typeface="Cambria Math" panose="02040503050406030204" pitchFamily="18" charset="0"/>
                          </a:rPr>
                          <m:t>2</m:t>
                        </m:r>
                      </m:e>
                    </m:d>
                    <m:r>
                      <a:rPr lang="ar-AE" altLang="zh-CN">
                        <a:latin typeface="Cambria Math" panose="02040503050406030204" pitchFamily="18" charset="0"/>
                      </a:rPr>
                      <m:t>=</m:t>
                    </m:r>
                    <m:f>
                      <m:fPr>
                        <m:ctrlPr>
                          <a:rPr lang="ar-AE" altLang="zh-CN" i="1">
                            <a:latin typeface="Cambria Math" panose="02040503050406030204" pitchFamily="18" charset="0"/>
                          </a:rPr>
                        </m:ctrlPr>
                      </m:fPr>
                      <m:num>
                        <m:r>
                          <a:rPr lang="ar-AE" altLang="zh-CN">
                            <a:latin typeface="Cambria Math" panose="02040503050406030204" pitchFamily="18" charset="0"/>
                          </a:rPr>
                          <m:t>1</m:t>
                        </m:r>
                      </m:num>
                      <m:den>
                        <m:r>
                          <a:rPr lang="ar-AE" altLang="zh-CN">
                            <a:latin typeface="Cambria Math" panose="02040503050406030204" pitchFamily="18" charset="0"/>
                          </a:rPr>
                          <m:t>1</m:t>
                        </m:r>
                        <m:r>
                          <a:rPr lang="ar-AE" altLang="zh-CN">
                            <a:latin typeface="Cambria Math" panose="02040503050406030204" pitchFamily="18" charset="0"/>
                          </a:rPr>
                          <m:t>+</m:t>
                        </m:r>
                        <m:r>
                          <a:rPr lang="ar-AE" altLang="zh-CN">
                            <a:latin typeface="Cambria Math" panose="02040503050406030204" pitchFamily="18" charset="0"/>
                          </a:rPr>
                          <m:t>0</m:t>
                        </m:r>
                        <m:r>
                          <a:rPr lang="ar-AE" altLang="zh-CN">
                            <a:latin typeface="Cambria Math" panose="02040503050406030204" pitchFamily="18" charset="0"/>
                          </a:rPr>
                          <m:t>.</m:t>
                        </m:r>
                        <m:r>
                          <a:rPr lang="ar-AE" altLang="zh-CN">
                            <a:latin typeface="Cambria Math" panose="02040503050406030204" pitchFamily="18" charset="0"/>
                          </a:rPr>
                          <m:t>135</m:t>
                        </m:r>
                      </m:den>
                    </m:f>
                  </m:oMath>
                </a14:m>
                <a:r>
                  <a:rPr lang="en-US" altLang="zh-CN" dirty="0"/>
                  <a:t>   </a:t>
                </a:r>
                <a:r>
                  <a:rPr lang="zh-CN" altLang="en-US" dirty="0"/>
                  <a:t>（显然大于</a:t>
                </a:r>
                <a:r>
                  <a:rPr lang="en-US" altLang="zh-CN" dirty="0"/>
                  <a:t>0.5)   </a:t>
                </a:r>
                <a:r>
                  <a:rPr lang="zh-CN" altLang="en-US" dirty="0"/>
                  <a:t>所以判断学生可以通过考试</a:t>
                </a:r>
                <a:endParaRPr lang="ar-AE" altLang="zh-CN" dirty="0"/>
              </a:p>
              <a:p>
                <a:pPr>
                  <a:buNone/>
                </a:pPr>
                <a:endParaRPr lang="zh-CN" altLang="en-US" dirty="0"/>
              </a:p>
            </p:txBody>
          </p:sp>
        </mc:Choice>
        <mc:Fallback xmlns="">
          <p:sp>
            <p:nvSpPr>
              <p:cNvPr id="3" name="文本框 2">
                <a:extLst>
                  <a:ext uri="{FF2B5EF4-FFF2-40B4-BE49-F238E27FC236}">
                    <a16:creationId xmlns:a16="http://schemas.microsoft.com/office/drawing/2014/main" id="{7BBA27FC-9DB0-A53B-22B8-005E14AD4BC3}"/>
                  </a:ext>
                </a:extLst>
              </p:cNvPr>
              <p:cNvSpPr txBox="1">
                <a:spLocks noRot="1" noChangeAspect="1" noMove="1" noResize="1" noEditPoints="1" noAdjustHandles="1" noChangeArrowheads="1" noChangeShapeType="1" noTextEdit="1"/>
              </p:cNvSpPr>
              <p:nvPr/>
            </p:nvSpPr>
            <p:spPr>
              <a:xfrm>
                <a:off x="684316" y="3525475"/>
                <a:ext cx="6518068" cy="2927533"/>
              </a:xfrm>
              <a:prstGeom prst="rect">
                <a:avLst/>
              </a:prstGeom>
              <a:blipFill>
                <a:blip r:embed="rId2"/>
                <a:stretch>
                  <a:fillRect l="-748" t="-104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0233101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69C0D2-D6AC-39F5-980E-D310CDE15A4D}"/>
            </a:ext>
          </a:extLst>
        </p:cNvPr>
        <p:cNvGrpSpPr/>
        <p:nvPr/>
      </p:nvGrpSpPr>
      <p:grpSpPr>
        <a:xfrm>
          <a:off x="0" y="0"/>
          <a:ext cx="0" cy="0"/>
          <a:chOff x="0" y="0"/>
          <a:chExt cx="0" cy="0"/>
        </a:xfrm>
      </p:grpSpPr>
      <p:sp>
        <p:nvSpPr>
          <p:cNvPr id="27" name="文本框">
            <a:extLst>
              <a:ext uri="{FF2B5EF4-FFF2-40B4-BE49-F238E27FC236}">
                <a16:creationId xmlns:a16="http://schemas.microsoft.com/office/drawing/2014/main" id="{AFC219A0-9D77-07AD-97BB-B3648C049C7F}"/>
              </a:ext>
            </a:extLst>
          </p:cNvPr>
          <p:cNvSpPr>
            <a:spLocks noGrp="1"/>
          </p:cNvSpPr>
          <p:nvPr>
            <p:ph type="title"/>
          </p:nvPr>
        </p:nvSpPr>
        <p:spPr>
          <a:xfrm>
            <a:off x="608400" y="608400"/>
            <a:ext cx="10969201" cy="705599"/>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marL="0" indent="0" algn="l">
              <a:lnSpc>
                <a:spcPct val="100000"/>
              </a:lnSpc>
              <a:spcBef>
                <a:spcPts val="0"/>
              </a:spcBef>
              <a:spcAft>
                <a:spcPts val="0"/>
              </a:spcAft>
              <a:buNone/>
            </a:pPr>
            <a:r>
              <a:rPr lang="zh-CN" altLang="en-US" sz="3600" b="1" i="0" u="none" strike="noStrike" kern="1200" cap="none" spc="300" baseline="0" dirty="0">
                <a:solidFill>
                  <a:srgbClr val="262626"/>
                </a:solidFill>
                <a:latin typeface="Arial" charset="0"/>
                <a:ea typeface="微软雅黑" charset="0"/>
                <a:cs typeface="Lucida Sans"/>
              </a:rPr>
              <a:t>题型</a:t>
            </a:r>
            <a:r>
              <a:rPr lang="en-US" altLang="zh-CN" dirty="0">
                <a:cs typeface="Lucida Sans"/>
              </a:rPr>
              <a:t>3</a:t>
            </a:r>
            <a:r>
              <a:rPr lang="zh-CN" altLang="en-US" sz="3600" b="1" i="0" u="none" strike="noStrike" kern="1200" cap="none" spc="300" baseline="0" dirty="0">
                <a:solidFill>
                  <a:srgbClr val="262626"/>
                </a:solidFill>
                <a:latin typeface="Arial" charset="0"/>
                <a:ea typeface="微软雅黑" charset="0"/>
                <a:cs typeface="Lucida Sans"/>
              </a:rPr>
              <a:t>：</a:t>
            </a:r>
            <a:r>
              <a:rPr lang="en-US" altLang="zh-CN" sz="3600" b="1" i="0" u="none" strike="noStrike" kern="1200" cap="none" spc="300" baseline="0" dirty="0">
                <a:solidFill>
                  <a:srgbClr val="262626"/>
                </a:solidFill>
                <a:latin typeface="Arial" charset="0"/>
                <a:ea typeface="微软雅黑" charset="0"/>
                <a:cs typeface="Lucida Sans"/>
              </a:rPr>
              <a:t> </a:t>
            </a:r>
            <a:r>
              <a:rPr lang="zh-CN" altLang="en-US" sz="3600" b="1" i="0" u="none" strike="noStrike" kern="1200" cap="none" spc="300" baseline="0" dirty="0">
                <a:solidFill>
                  <a:srgbClr val="262626"/>
                </a:solidFill>
                <a:latin typeface="Arial" charset="0"/>
                <a:ea typeface="微软雅黑" charset="0"/>
                <a:cs typeface="Lucida Sans"/>
              </a:rPr>
              <a:t>计算题</a:t>
            </a:r>
          </a:p>
        </p:txBody>
      </p:sp>
      <p:sp>
        <p:nvSpPr>
          <p:cNvPr id="4" name="文本框 3">
            <a:extLst>
              <a:ext uri="{FF2B5EF4-FFF2-40B4-BE49-F238E27FC236}">
                <a16:creationId xmlns:a16="http://schemas.microsoft.com/office/drawing/2014/main" id="{7349E95A-4353-626D-0D04-FCBBEC93FA4B}"/>
              </a:ext>
            </a:extLst>
          </p:cNvPr>
          <p:cNvSpPr txBox="1"/>
          <p:nvPr/>
        </p:nvSpPr>
        <p:spPr>
          <a:xfrm>
            <a:off x="608400" y="1378113"/>
            <a:ext cx="6095010" cy="1200329"/>
          </a:xfrm>
          <a:prstGeom prst="rect">
            <a:avLst/>
          </a:prstGeom>
          <a:noFill/>
        </p:spPr>
        <p:txBody>
          <a:bodyPr wrap="square">
            <a:spAutoFit/>
          </a:bodyPr>
          <a:lstStyle/>
          <a:p>
            <a:r>
              <a:rPr lang="en-US" altLang="zh-CN" dirty="0"/>
              <a:t> </a:t>
            </a:r>
            <a:endParaRPr lang="zh-CN" altLang="zh-CN" dirty="0"/>
          </a:p>
          <a:p>
            <a:r>
              <a:rPr lang="en-US" altLang="zh-CN" dirty="0"/>
              <a:t>3.</a:t>
            </a:r>
            <a:r>
              <a:rPr lang="zh-CN" altLang="zh-CN" dirty="0"/>
              <a:t>聚类计算</a:t>
            </a:r>
            <a:r>
              <a:rPr lang="en-US" altLang="zh-CN" dirty="0"/>
              <a:t> </a:t>
            </a:r>
            <a:r>
              <a:rPr lang="en-US" altLang="zh-CN" b="1" dirty="0">
                <a:solidFill>
                  <a:schemeClr val="accent6"/>
                </a:solidFill>
              </a:rPr>
              <a:t>p215</a:t>
            </a:r>
            <a:endParaRPr lang="zh-CN" altLang="zh-CN" b="1" dirty="0">
              <a:solidFill>
                <a:schemeClr val="accent6"/>
              </a:solidFill>
            </a:endParaRPr>
          </a:p>
          <a:p>
            <a:r>
              <a:rPr lang="zh-CN" altLang="zh-CN" dirty="0"/>
              <a:t>六个点（</a:t>
            </a:r>
            <a:r>
              <a:rPr lang="en-US" altLang="zh-CN" dirty="0"/>
              <a:t>1,2</a:t>
            </a:r>
            <a:r>
              <a:rPr lang="zh-CN" altLang="zh-CN" dirty="0"/>
              <a:t>）（</a:t>
            </a:r>
            <a:r>
              <a:rPr lang="en-US" altLang="zh-CN" dirty="0"/>
              <a:t>3,1</a:t>
            </a:r>
            <a:r>
              <a:rPr lang="zh-CN" altLang="zh-CN" dirty="0"/>
              <a:t>）（</a:t>
            </a:r>
            <a:r>
              <a:rPr lang="en-US" altLang="zh-CN" dirty="0"/>
              <a:t>5,8</a:t>
            </a:r>
            <a:r>
              <a:rPr lang="zh-CN" altLang="zh-CN" dirty="0"/>
              <a:t>）（</a:t>
            </a:r>
            <a:r>
              <a:rPr lang="en-US" altLang="zh-CN" dirty="0"/>
              <a:t>4,1</a:t>
            </a:r>
            <a:r>
              <a:rPr lang="zh-CN" altLang="zh-CN" dirty="0"/>
              <a:t>）（</a:t>
            </a:r>
            <a:r>
              <a:rPr lang="en-US" altLang="zh-CN" dirty="0"/>
              <a:t>4,5</a:t>
            </a:r>
            <a:r>
              <a:rPr lang="zh-CN" altLang="zh-CN" dirty="0"/>
              <a:t>）（</a:t>
            </a:r>
            <a:r>
              <a:rPr lang="en-US" altLang="zh-CN" dirty="0"/>
              <a:t>4,9</a:t>
            </a:r>
            <a:r>
              <a:rPr lang="zh-CN" altLang="zh-CN" dirty="0"/>
              <a:t>），聚为四类，用层次聚类</a:t>
            </a:r>
            <a:r>
              <a:rPr lang="en-US" altLang="zh-CN" dirty="0" err="1"/>
              <a:t>agnes</a:t>
            </a:r>
            <a:r>
              <a:rPr lang="zh-CN" altLang="zh-CN" dirty="0"/>
              <a:t>算法，写出聚类过程和聚类结果</a:t>
            </a:r>
          </a:p>
        </p:txBody>
      </p:sp>
      <p:pic>
        <p:nvPicPr>
          <p:cNvPr id="2" name="图片 1" descr="IMG_256">
            <a:extLst>
              <a:ext uri="{FF2B5EF4-FFF2-40B4-BE49-F238E27FC236}">
                <a16:creationId xmlns:a16="http://schemas.microsoft.com/office/drawing/2014/main" id="{BF963E18-5237-32E2-0DD9-C0E90FCF1CBA}"/>
              </a:ext>
            </a:extLst>
          </p:cNvPr>
          <p:cNvPicPr>
            <a:picLocks noChangeAspect="1"/>
          </p:cNvPicPr>
          <p:nvPr/>
        </p:nvPicPr>
        <p:blipFill>
          <a:blip r:embed="rId2"/>
          <a:stretch>
            <a:fillRect/>
          </a:stretch>
        </p:blipFill>
        <p:spPr>
          <a:xfrm>
            <a:off x="608400" y="2772294"/>
            <a:ext cx="3126703" cy="3724960"/>
          </a:xfrm>
          <a:prstGeom prst="rect">
            <a:avLst/>
          </a:prstGeom>
          <a:noFill/>
          <a:ln w="9525">
            <a:noFill/>
          </a:ln>
        </p:spPr>
      </p:pic>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E0A983C8-EA19-9A32-B3E7-2FCA3640778D}"/>
                  </a:ext>
                </a:extLst>
              </p:cNvPr>
              <p:cNvSpPr txBox="1"/>
              <p:nvPr/>
            </p:nvSpPr>
            <p:spPr>
              <a:xfrm>
                <a:off x="4199412" y="2828698"/>
                <a:ext cx="6095010" cy="4339842"/>
              </a:xfrm>
              <a:prstGeom prst="rect">
                <a:avLst/>
              </a:prstGeom>
              <a:noFill/>
            </p:spPr>
            <p:txBody>
              <a:bodyPr wrap="square">
                <a:spAutoFit/>
              </a:bodyPr>
              <a:lstStyle/>
              <a:p>
                <a:r>
                  <a:rPr lang="en-US" altLang="zh-CN" sz="1600" dirty="0"/>
                  <a:t>AGNES </a:t>
                </a:r>
                <a:r>
                  <a:rPr lang="zh-CN" altLang="en-US" sz="1600" dirty="0"/>
                  <a:t>是</a:t>
                </a:r>
                <a:r>
                  <a:rPr lang="zh-CN" altLang="en-US" sz="1600" b="1" dirty="0"/>
                  <a:t>自底向上</a:t>
                </a:r>
                <a:r>
                  <a:rPr lang="zh-CN" altLang="en-US" sz="1600" dirty="0"/>
                  <a:t>的层次聚类，初始时每个点单独成一类。</a:t>
                </a:r>
                <a:endParaRPr lang="en-US" altLang="zh-CN" sz="1600" dirty="0"/>
              </a:p>
              <a:p>
                <a:r>
                  <a:rPr lang="zh-CN" altLang="en-US" sz="1600" dirty="0"/>
                  <a:t>初始类别为：</a:t>
                </a:r>
              </a:p>
              <a:p>
                <a:pPr/>
                <a14:m>
                  <m:oMathPara xmlns:m="http://schemas.openxmlformats.org/officeDocument/2006/math">
                    <m:oMathParaPr>
                      <m:jc m:val="centerGroup"/>
                    </m:oMathParaPr>
                    <m:oMath xmlns:m="http://schemas.openxmlformats.org/officeDocument/2006/math">
                      <m:d>
                        <m:dPr>
                          <m:begChr m:val="{"/>
                          <m:endChr m:val="}"/>
                          <m:ctrlPr>
                            <a:rPr lang="ar-AE" altLang="zh-CN" i="1">
                              <a:latin typeface="Cambria Math" panose="02040503050406030204" pitchFamily="18" charset="0"/>
                            </a:rPr>
                          </m:ctrlPr>
                        </m:dPr>
                        <m:e>
                          <m:r>
                            <a:rPr lang="zh-CN" altLang="ar-AE" i="1">
                              <a:latin typeface="Cambria Math" panose="02040503050406030204" pitchFamily="18" charset="0"/>
                            </a:rPr>
                            <m:t>𝐴</m:t>
                          </m:r>
                        </m:e>
                      </m:d>
                      <m:r>
                        <a:rPr lang="ar-AE" altLang="zh-CN">
                          <a:latin typeface="Cambria Math" panose="02040503050406030204" pitchFamily="18" charset="0"/>
                        </a:rPr>
                        <m:t>,</m:t>
                      </m:r>
                      <m:d>
                        <m:dPr>
                          <m:begChr m:val="{"/>
                          <m:endChr m:val="}"/>
                          <m:ctrlPr>
                            <a:rPr lang="ar-AE" altLang="zh-CN" i="1">
                              <a:latin typeface="Cambria Math" panose="02040503050406030204" pitchFamily="18" charset="0"/>
                            </a:rPr>
                          </m:ctrlPr>
                        </m:dPr>
                        <m:e>
                          <m:r>
                            <a:rPr lang="zh-CN" altLang="ar-AE" i="1">
                              <a:latin typeface="Cambria Math" panose="02040503050406030204" pitchFamily="18" charset="0"/>
                            </a:rPr>
                            <m:t>𝐵</m:t>
                          </m:r>
                        </m:e>
                      </m:d>
                      <m:r>
                        <a:rPr lang="ar-AE" altLang="zh-CN">
                          <a:latin typeface="Cambria Math" panose="02040503050406030204" pitchFamily="18" charset="0"/>
                        </a:rPr>
                        <m:t>,</m:t>
                      </m:r>
                      <m:d>
                        <m:dPr>
                          <m:begChr m:val="{"/>
                          <m:endChr m:val="}"/>
                          <m:ctrlPr>
                            <a:rPr lang="ar-AE" altLang="zh-CN" i="1">
                              <a:latin typeface="Cambria Math" panose="02040503050406030204" pitchFamily="18" charset="0"/>
                            </a:rPr>
                          </m:ctrlPr>
                        </m:dPr>
                        <m:e>
                          <m:r>
                            <a:rPr lang="zh-CN" altLang="ar-AE" i="1">
                              <a:latin typeface="Cambria Math" panose="02040503050406030204" pitchFamily="18" charset="0"/>
                            </a:rPr>
                            <m:t>𝐶</m:t>
                          </m:r>
                        </m:e>
                      </m:d>
                      <m:r>
                        <a:rPr lang="ar-AE" altLang="zh-CN">
                          <a:latin typeface="Cambria Math" panose="02040503050406030204" pitchFamily="18" charset="0"/>
                        </a:rPr>
                        <m:t>,</m:t>
                      </m:r>
                      <m:d>
                        <m:dPr>
                          <m:begChr m:val="{"/>
                          <m:endChr m:val="}"/>
                          <m:ctrlPr>
                            <a:rPr lang="ar-AE" altLang="zh-CN" i="1">
                              <a:latin typeface="Cambria Math" panose="02040503050406030204" pitchFamily="18" charset="0"/>
                            </a:rPr>
                          </m:ctrlPr>
                        </m:dPr>
                        <m:e>
                          <m:r>
                            <a:rPr lang="zh-CN" altLang="ar-AE" i="1">
                              <a:latin typeface="Cambria Math" panose="02040503050406030204" pitchFamily="18" charset="0"/>
                            </a:rPr>
                            <m:t>𝐷</m:t>
                          </m:r>
                        </m:e>
                      </m:d>
                      <m:r>
                        <a:rPr lang="ar-AE" altLang="zh-CN">
                          <a:latin typeface="Cambria Math" panose="02040503050406030204" pitchFamily="18" charset="0"/>
                        </a:rPr>
                        <m:t>,</m:t>
                      </m:r>
                      <m:d>
                        <m:dPr>
                          <m:begChr m:val="{"/>
                          <m:endChr m:val="}"/>
                          <m:ctrlPr>
                            <a:rPr lang="ar-AE" altLang="zh-CN" i="1">
                              <a:latin typeface="Cambria Math" panose="02040503050406030204" pitchFamily="18" charset="0"/>
                            </a:rPr>
                          </m:ctrlPr>
                        </m:dPr>
                        <m:e>
                          <m:r>
                            <a:rPr lang="zh-CN" altLang="ar-AE" i="1">
                              <a:latin typeface="Cambria Math" panose="02040503050406030204" pitchFamily="18" charset="0"/>
                            </a:rPr>
                            <m:t>𝐸</m:t>
                          </m:r>
                        </m:e>
                      </m:d>
                      <m:r>
                        <a:rPr lang="ar-AE" altLang="zh-CN">
                          <a:latin typeface="Cambria Math" panose="02040503050406030204" pitchFamily="18" charset="0"/>
                        </a:rPr>
                        <m:t>,</m:t>
                      </m:r>
                      <m:d>
                        <m:dPr>
                          <m:begChr m:val="{"/>
                          <m:endChr m:val="}"/>
                          <m:ctrlPr>
                            <a:rPr lang="ar-AE" altLang="zh-CN" i="1">
                              <a:latin typeface="Cambria Math" panose="02040503050406030204" pitchFamily="18" charset="0"/>
                            </a:rPr>
                          </m:ctrlPr>
                        </m:dPr>
                        <m:e>
                          <m:r>
                            <a:rPr lang="zh-CN" altLang="ar-AE" i="1">
                              <a:latin typeface="Cambria Math" panose="02040503050406030204" pitchFamily="18" charset="0"/>
                            </a:rPr>
                            <m:t>𝐹</m:t>
                          </m:r>
                        </m:e>
                      </m:d>
                    </m:oMath>
                  </m:oMathPara>
                </a14:m>
                <a:endParaRPr lang="ar-AE" altLang="zh-CN" sz="1600" dirty="0"/>
              </a:p>
              <a:p>
                <a:r>
                  <a:rPr lang="zh-CN" altLang="en-US" sz="1600" dirty="0"/>
                  <a:t>目标是聚成 </a:t>
                </a:r>
                <a:r>
                  <a:rPr lang="en-US" altLang="zh-CN" sz="1600" dirty="0"/>
                  <a:t>4 </a:t>
                </a:r>
                <a:r>
                  <a:rPr lang="zh-CN" altLang="en-US" sz="1600" dirty="0"/>
                  <a:t>类，所以需要合并</a:t>
                </a:r>
                <a:r>
                  <a:rPr lang="en-US" altLang="zh-CN" sz="1600" dirty="0"/>
                  <a:t>2</a:t>
                </a:r>
                <a:r>
                  <a:rPr lang="zh-CN" altLang="en-US" sz="1600" dirty="0"/>
                  <a:t>次</a:t>
                </a:r>
                <a:endParaRPr lang="en-US" altLang="zh-CN" sz="1600" dirty="0"/>
              </a:p>
              <a:p>
                <a:r>
                  <a:rPr lang="zh-CN" altLang="en-US" sz="1600" dirty="0"/>
                  <a:t>欧氏距离公式：</a:t>
                </a:r>
              </a:p>
              <a:p>
                <a:pPr/>
                <a14:m>
                  <m:oMathPara xmlns:m="http://schemas.openxmlformats.org/officeDocument/2006/math">
                    <m:oMathParaPr>
                      <m:jc m:val="centerGroup"/>
                    </m:oMathParaPr>
                    <m:oMath xmlns:m="http://schemas.openxmlformats.org/officeDocument/2006/math">
                      <m:r>
                        <a:rPr lang="zh-CN" altLang="en-US" i="1">
                          <a:latin typeface="Cambria Math" panose="02040503050406030204" pitchFamily="18" charset="0"/>
                        </a:rPr>
                        <m:t>𝑑</m:t>
                      </m:r>
                      <m:r>
                        <a:rPr lang="en-US" altLang="zh-CN">
                          <a:latin typeface="Cambria Math" panose="02040503050406030204" pitchFamily="18" charset="0"/>
                        </a:rPr>
                        <m:t>=</m:t>
                      </m:r>
                      <m:rad>
                        <m:radPr>
                          <m:degHide m:val="on"/>
                          <m:ctrlPr>
                            <a:rPr lang="ar-AE" altLang="zh-CN" i="1">
                              <a:latin typeface="Cambria Math" panose="02040503050406030204" pitchFamily="18" charset="0"/>
                            </a:rPr>
                          </m:ctrlPr>
                        </m:radPr>
                        <m:deg/>
                        <m:e>
                          <m:sSup>
                            <m:sSupPr>
                              <m:ctrlPr>
                                <a:rPr lang="ar-AE" altLang="zh-CN" i="1">
                                  <a:latin typeface="Cambria Math" panose="02040503050406030204" pitchFamily="18" charset="0"/>
                                </a:rPr>
                              </m:ctrlPr>
                            </m:sSupPr>
                            <m:e>
                              <m:d>
                                <m:dPr>
                                  <m:ctrlPr>
                                    <a:rPr lang="ar-AE" altLang="zh-CN" i="1">
                                      <a:latin typeface="Cambria Math" panose="02040503050406030204" pitchFamily="18" charset="0"/>
                                    </a:rPr>
                                  </m:ctrlPr>
                                </m:dPr>
                                <m:e>
                                  <m:sSub>
                                    <m:sSubPr>
                                      <m:ctrlPr>
                                        <a:rPr lang="ar-AE" altLang="zh-CN" i="1">
                                          <a:latin typeface="Cambria Math" panose="02040503050406030204" pitchFamily="18" charset="0"/>
                                        </a:rPr>
                                      </m:ctrlPr>
                                    </m:sSubPr>
                                    <m:e>
                                      <m:r>
                                        <a:rPr lang="zh-CN" altLang="ar-AE" i="1">
                                          <a:latin typeface="Cambria Math" panose="02040503050406030204" pitchFamily="18" charset="0"/>
                                        </a:rPr>
                                        <m:t>𝑥</m:t>
                                      </m:r>
                                    </m:e>
                                    <m:sub>
                                      <m:r>
                                        <a:rPr lang="ar-AE" altLang="zh-CN">
                                          <a:latin typeface="Cambria Math" panose="02040503050406030204" pitchFamily="18" charset="0"/>
                                        </a:rPr>
                                        <m:t>1</m:t>
                                      </m:r>
                                    </m:sub>
                                  </m:sSub>
                                  <m:r>
                                    <a:rPr lang="ar-AE" altLang="zh-CN">
                                      <a:latin typeface="Cambria Math" panose="02040503050406030204" pitchFamily="18" charset="0"/>
                                    </a:rPr>
                                    <m:t>−</m:t>
                                  </m:r>
                                  <m:sSub>
                                    <m:sSubPr>
                                      <m:ctrlPr>
                                        <a:rPr lang="ar-AE" altLang="zh-CN" i="1">
                                          <a:latin typeface="Cambria Math" panose="02040503050406030204" pitchFamily="18" charset="0"/>
                                        </a:rPr>
                                      </m:ctrlPr>
                                    </m:sSubPr>
                                    <m:e>
                                      <m:r>
                                        <a:rPr lang="zh-CN" altLang="ar-AE" i="1">
                                          <a:latin typeface="Cambria Math" panose="02040503050406030204" pitchFamily="18" charset="0"/>
                                        </a:rPr>
                                        <m:t>𝑥</m:t>
                                      </m:r>
                                    </m:e>
                                    <m:sub>
                                      <m:r>
                                        <a:rPr lang="ar-AE" altLang="zh-CN">
                                          <a:latin typeface="Cambria Math" panose="02040503050406030204" pitchFamily="18" charset="0"/>
                                        </a:rPr>
                                        <m:t>2</m:t>
                                      </m:r>
                                    </m:sub>
                                  </m:sSub>
                                </m:e>
                              </m:d>
                            </m:e>
                            <m:sup>
                              <m:r>
                                <a:rPr lang="ar-AE" altLang="zh-CN">
                                  <a:latin typeface="Cambria Math" panose="02040503050406030204" pitchFamily="18" charset="0"/>
                                </a:rPr>
                                <m:t>2</m:t>
                              </m:r>
                            </m:sup>
                          </m:sSup>
                          <m:r>
                            <a:rPr lang="ar-AE" altLang="zh-CN">
                              <a:latin typeface="Cambria Math" panose="02040503050406030204" pitchFamily="18" charset="0"/>
                            </a:rPr>
                            <m:t>+</m:t>
                          </m:r>
                          <m:sSup>
                            <m:sSupPr>
                              <m:ctrlPr>
                                <a:rPr lang="ar-AE" altLang="zh-CN" i="1">
                                  <a:latin typeface="Cambria Math" panose="02040503050406030204" pitchFamily="18" charset="0"/>
                                </a:rPr>
                              </m:ctrlPr>
                            </m:sSupPr>
                            <m:e>
                              <m:d>
                                <m:dPr>
                                  <m:ctrlPr>
                                    <a:rPr lang="ar-AE" altLang="zh-CN" i="1">
                                      <a:latin typeface="Cambria Math" panose="02040503050406030204" pitchFamily="18" charset="0"/>
                                    </a:rPr>
                                  </m:ctrlPr>
                                </m:dPr>
                                <m:e>
                                  <m:sSub>
                                    <m:sSubPr>
                                      <m:ctrlPr>
                                        <a:rPr lang="ar-AE" altLang="zh-CN" i="1">
                                          <a:latin typeface="Cambria Math" panose="02040503050406030204" pitchFamily="18" charset="0"/>
                                        </a:rPr>
                                      </m:ctrlPr>
                                    </m:sSubPr>
                                    <m:e>
                                      <m:r>
                                        <a:rPr lang="zh-CN" altLang="ar-AE" i="1">
                                          <a:latin typeface="Cambria Math" panose="02040503050406030204" pitchFamily="18" charset="0"/>
                                        </a:rPr>
                                        <m:t>𝑦</m:t>
                                      </m:r>
                                    </m:e>
                                    <m:sub>
                                      <m:r>
                                        <a:rPr lang="ar-AE" altLang="zh-CN">
                                          <a:latin typeface="Cambria Math" panose="02040503050406030204" pitchFamily="18" charset="0"/>
                                        </a:rPr>
                                        <m:t>1</m:t>
                                      </m:r>
                                    </m:sub>
                                  </m:sSub>
                                  <m:r>
                                    <a:rPr lang="ar-AE" altLang="zh-CN">
                                      <a:latin typeface="Cambria Math" panose="02040503050406030204" pitchFamily="18" charset="0"/>
                                    </a:rPr>
                                    <m:t>−</m:t>
                                  </m:r>
                                  <m:sSub>
                                    <m:sSubPr>
                                      <m:ctrlPr>
                                        <a:rPr lang="ar-AE" altLang="zh-CN" i="1">
                                          <a:latin typeface="Cambria Math" panose="02040503050406030204" pitchFamily="18" charset="0"/>
                                        </a:rPr>
                                      </m:ctrlPr>
                                    </m:sSubPr>
                                    <m:e>
                                      <m:r>
                                        <a:rPr lang="zh-CN" altLang="ar-AE" i="1">
                                          <a:latin typeface="Cambria Math" panose="02040503050406030204" pitchFamily="18" charset="0"/>
                                        </a:rPr>
                                        <m:t>𝑦</m:t>
                                      </m:r>
                                    </m:e>
                                    <m:sub>
                                      <m:r>
                                        <a:rPr lang="ar-AE" altLang="zh-CN">
                                          <a:latin typeface="Cambria Math" panose="02040503050406030204" pitchFamily="18" charset="0"/>
                                        </a:rPr>
                                        <m:t>2</m:t>
                                      </m:r>
                                    </m:sub>
                                  </m:sSub>
                                </m:e>
                              </m:d>
                            </m:e>
                            <m:sup>
                              <m:r>
                                <a:rPr lang="ar-AE" altLang="zh-CN">
                                  <a:latin typeface="Cambria Math" panose="02040503050406030204" pitchFamily="18" charset="0"/>
                                </a:rPr>
                                <m:t>2</m:t>
                              </m:r>
                            </m:sup>
                          </m:sSup>
                        </m:e>
                      </m:rad>
                    </m:oMath>
                  </m:oMathPara>
                </a14:m>
                <a:endParaRPr lang="ar-AE" altLang="zh-CN" sz="1600" dirty="0"/>
              </a:p>
              <a:p>
                <a:r>
                  <a:rPr lang="zh-CN" altLang="en-US" sz="1600" dirty="0"/>
                  <a:t>第一次合并，计算可以得到最小的是</a:t>
                </a:r>
                <a:r>
                  <a:rPr lang="en-US" altLang="zh-CN" sz="1600" dirty="0"/>
                  <a:t>d(B,D)=1</a:t>
                </a:r>
                <a:r>
                  <a:rPr lang="zh-CN" altLang="en-US" sz="1600" dirty="0"/>
                  <a:t>，所以合并</a:t>
                </a:r>
                <a:r>
                  <a:rPr lang="en-US" altLang="zh-CN" sz="1600" dirty="0"/>
                  <a:t>B,D</a:t>
                </a:r>
              </a:p>
              <a:p>
                <a:r>
                  <a:rPr lang="zh-CN" altLang="en-US" sz="1600" dirty="0"/>
                  <a:t>此时类别为：</a:t>
                </a:r>
              </a:p>
              <a:p>
                <a:pPr/>
                <a14:m>
                  <m:oMathPara xmlns:m="http://schemas.openxmlformats.org/officeDocument/2006/math">
                    <m:oMathParaPr>
                      <m:jc m:val="centerGroup"/>
                    </m:oMathParaPr>
                    <m:oMath xmlns:m="http://schemas.openxmlformats.org/officeDocument/2006/math">
                      <m:d>
                        <m:dPr>
                          <m:begChr m:val="{"/>
                          <m:endChr m:val="}"/>
                          <m:ctrlPr>
                            <a:rPr lang="ar-AE" altLang="zh-CN" i="1">
                              <a:latin typeface="Cambria Math" panose="02040503050406030204" pitchFamily="18" charset="0"/>
                            </a:rPr>
                          </m:ctrlPr>
                        </m:dPr>
                        <m:e>
                          <m:r>
                            <a:rPr lang="zh-CN" altLang="ar-AE" i="1">
                              <a:latin typeface="Cambria Math" panose="02040503050406030204" pitchFamily="18" charset="0"/>
                            </a:rPr>
                            <m:t>𝐴</m:t>
                          </m:r>
                        </m:e>
                      </m:d>
                      <m:r>
                        <a:rPr lang="ar-AE" altLang="zh-CN">
                          <a:latin typeface="Cambria Math" panose="02040503050406030204" pitchFamily="18" charset="0"/>
                        </a:rPr>
                        <m:t>,</m:t>
                      </m:r>
                      <m:d>
                        <m:dPr>
                          <m:begChr m:val="{"/>
                          <m:endChr m:val="}"/>
                          <m:sepChr m:val=","/>
                          <m:ctrlPr>
                            <a:rPr lang="ar-AE" altLang="zh-CN" i="1">
                              <a:latin typeface="Cambria Math" panose="02040503050406030204" pitchFamily="18" charset="0"/>
                            </a:rPr>
                          </m:ctrlPr>
                        </m:dPr>
                        <m:e>
                          <m:r>
                            <a:rPr lang="zh-CN" altLang="ar-AE" i="1">
                              <a:latin typeface="Cambria Math" panose="02040503050406030204" pitchFamily="18" charset="0"/>
                            </a:rPr>
                            <m:t>𝐵</m:t>
                          </m:r>
                        </m:e>
                        <m:e>
                          <m:r>
                            <a:rPr lang="zh-CN" altLang="ar-AE" i="1">
                              <a:latin typeface="Cambria Math" panose="02040503050406030204" pitchFamily="18" charset="0"/>
                            </a:rPr>
                            <m:t>𝐷</m:t>
                          </m:r>
                        </m:e>
                      </m:d>
                      <m:r>
                        <a:rPr lang="ar-AE" altLang="zh-CN">
                          <a:latin typeface="Cambria Math" panose="02040503050406030204" pitchFamily="18" charset="0"/>
                        </a:rPr>
                        <m:t>,</m:t>
                      </m:r>
                      <m:d>
                        <m:dPr>
                          <m:begChr m:val="{"/>
                          <m:endChr m:val="}"/>
                          <m:ctrlPr>
                            <a:rPr lang="ar-AE" altLang="zh-CN" i="1">
                              <a:latin typeface="Cambria Math" panose="02040503050406030204" pitchFamily="18" charset="0"/>
                            </a:rPr>
                          </m:ctrlPr>
                        </m:dPr>
                        <m:e>
                          <m:r>
                            <a:rPr lang="zh-CN" altLang="ar-AE" i="1">
                              <a:latin typeface="Cambria Math" panose="02040503050406030204" pitchFamily="18" charset="0"/>
                            </a:rPr>
                            <m:t>𝐶</m:t>
                          </m:r>
                        </m:e>
                      </m:d>
                      <m:r>
                        <a:rPr lang="ar-AE" altLang="zh-CN">
                          <a:latin typeface="Cambria Math" panose="02040503050406030204" pitchFamily="18" charset="0"/>
                        </a:rPr>
                        <m:t>,</m:t>
                      </m:r>
                      <m:d>
                        <m:dPr>
                          <m:begChr m:val="{"/>
                          <m:endChr m:val="}"/>
                          <m:ctrlPr>
                            <a:rPr lang="ar-AE" altLang="zh-CN" i="1">
                              <a:latin typeface="Cambria Math" panose="02040503050406030204" pitchFamily="18" charset="0"/>
                            </a:rPr>
                          </m:ctrlPr>
                        </m:dPr>
                        <m:e>
                          <m:r>
                            <a:rPr lang="zh-CN" altLang="ar-AE" i="1">
                              <a:latin typeface="Cambria Math" panose="02040503050406030204" pitchFamily="18" charset="0"/>
                            </a:rPr>
                            <m:t>𝐸</m:t>
                          </m:r>
                        </m:e>
                      </m:d>
                      <m:r>
                        <a:rPr lang="ar-AE" altLang="zh-CN">
                          <a:latin typeface="Cambria Math" panose="02040503050406030204" pitchFamily="18" charset="0"/>
                        </a:rPr>
                        <m:t>,</m:t>
                      </m:r>
                      <m:d>
                        <m:dPr>
                          <m:begChr m:val="{"/>
                          <m:endChr m:val="}"/>
                          <m:ctrlPr>
                            <a:rPr lang="ar-AE" altLang="zh-CN" i="1">
                              <a:latin typeface="Cambria Math" panose="02040503050406030204" pitchFamily="18" charset="0"/>
                            </a:rPr>
                          </m:ctrlPr>
                        </m:dPr>
                        <m:e>
                          <m:r>
                            <a:rPr lang="zh-CN" altLang="ar-AE" i="1">
                              <a:latin typeface="Cambria Math" panose="02040503050406030204" pitchFamily="18" charset="0"/>
                            </a:rPr>
                            <m:t>𝐹</m:t>
                          </m:r>
                        </m:e>
                      </m:d>
                    </m:oMath>
                  </m:oMathPara>
                </a14:m>
                <a:endParaRPr lang="en-US" altLang="zh-CN" sz="1600" dirty="0"/>
              </a:p>
              <a:p>
                <a:r>
                  <a:rPr lang="zh-CN" altLang="en-US" sz="1600" dirty="0"/>
                  <a:t>第二次合并，剩下点之间最小距离是：</a:t>
                </a:r>
              </a:p>
              <a:p>
                <a:pPr/>
                <a14:m>
                  <m:oMathPara xmlns:m="http://schemas.openxmlformats.org/officeDocument/2006/math">
                    <m:oMathParaPr>
                      <m:jc m:val="centerGroup"/>
                    </m:oMathParaPr>
                    <m:oMath xmlns:m="http://schemas.openxmlformats.org/officeDocument/2006/math">
                      <m:r>
                        <a:rPr lang="zh-CN" altLang="en-US" i="1">
                          <a:latin typeface="Cambria Math" panose="02040503050406030204" pitchFamily="18" charset="0"/>
                        </a:rPr>
                        <m:t>𝑑</m:t>
                      </m:r>
                      <m:d>
                        <m:dPr>
                          <m:sepChr m:val=","/>
                          <m:ctrlPr>
                            <a:rPr lang="ar-AE" altLang="zh-CN" i="1">
                              <a:latin typeface="Cambria Math" panose="02040503050406030204" pitchFamily="18" charset="0"/>
                            </a:rPr>
                          </m:ctrlPr>
                        </m:dPr>
                        <m:e>
                          <m:r>
                            <a:rPr lang="zh-CN" altLang="ar-AE" i="1">
                              <a:latin typeface="Cambria Math" panose="02040503050406030204" pitchFamily="18" charset="0"/>
                            </a:rPr>
                            <m:t>𝐶</m:t>
                          </m:r>
                        </m:e>
                        <m:e>
                          <m:r>
                            <a:rPr lang="zh-CN" altLang="ar-AE" i="1">
                              <a:latin typeface="Cambria Math" panose="02040503050406030204" pitchFamily="18" charset="0"/>
                            </a:rPr>
                            <m:t>𝐹</m:t>
                          </m:r>
                        </m:e>
                      </m:d>
                      <m:r>
                        <a:rPr lang="ar-AE" altLang="zh-CN">
                          <a:latin typeface="Cambria Math" panose="02040503050406030204" pitchFamily="18" charset="0"/>
                        </a:rPr>
                        <m:t>=</m:t>
                      </m:r>
                      <m:rad>
                        <m:radPr>
                          <m:degHide m:val="on"/>
                          <m:ctrlPr>
                            <a:rPr lang="ar-AE" altLang="zh-CN" i="1">
                              <a:latin typeface="Cambria Math" panose="02040503050406030204" pitchFamily="18" charset="0"/>
                            </a:rPr>
                          </m:ctrlPr>
                        </m:radPr>
                        <m:deg/>
                        <m:e>
                          <m:r>
                            <a:rPr lang="ar-AE" altLang="zh-CN">
                              <a:latin typeface="Cambria Math" panose="02040503050406030204" pitchFamily="18" charset="0"/>
                            </a:rPr>
                            <m:t>2</m:t>
                          </m:r>
                        </m:e>
                      </m:rad>
                    </m:oMath>
                  </m:oMathPara>
                </a14:m>
                <a:endParaRPr lang="ar-AE" altLang="zh-CN" sz="1600" dirty="0"/>
              </a:p>
              <a:p>
                <a:r>
                  <a:rPr lang="zh-CN" altLang="en-US" sz="1600" dirty="0"/>
                  <a:t>所以合并</a:t>
                </a:r>
                <a:r>
                  <a:rPr lang="en-US" altLang="zh-CN" sz="1600" dirty="0"/>
                  <a:t>C,F</a:t>
                </a:r>
              </a:p>
              <a:p>
                <a:r>
                  <a:rPr lang="zh-CN" altLang="en-US" sz="1600" dirty="0"/>
                  <a:t>此时类别为：</a:t>
                </a:r>
              </a:p>
              <a:p>
                <a:pPr/>
                <a14:m>
                  <m:oMathPara xmlns:m="http://schemas.openxmlformats.org/officeDocument/2006/math">
                    <m:oMathParaPr>
                      <m:jc m:val="centerGroup"/>
                    </m:oMathParaPr>
                    <m:oMath xmlns:m="http://schemas.openxmlformats.org/officeDocument/2006/math">
                      <m:d>
                        <m:dPr>
                          <m:begChr m:val="{"/>
                          <m:endChr m:val="}"/>
                          <m:ctrlPr>
                            <a:rPr lang="ar-AE" altLang="zh-CN" i="1">
                              <a:latin typeface="Cambria Math" panose="02040503050406030204" pitchFamily="18" charset="0"/>
                            </a:rPr>
                          </m:ctrlPr>
                        </m:dPr>
                        <m:e>
                          <m:r>
                            <a:rPr lang="zh-CN" altLang="ar-AE" i="1">
                              <a:latin typeface="Cambria Math" panose="02040503050406030204" pitchFamily="18" charset="0"/>
                            </a:rPr>
                            <m:t>𝐴</m:t>
                          </m:r>
                        </m:e>
                      </m:d>
                      <m:r>
                        <a:rPr lang="ar-AE" altLang="zh-CN">
                          <a:latin typeface="Cambria Math" panose="02040503050406030204" pitchFamily="18" charset="0"/>
                        </a:rPr>
                        <m:t>,</m:t>
                      </m:r>
                      <m:d>
                        <m:dPr>
                          <m:begChr m:val="{"/>
                          <m:endChr m:val="}"/>
                          <m:sepChr m:val=","/>
                          <m:ctrlPr>
                            <a:rPr lang="ar-AE" altLang="zh-CN" i="1">
                              <a:latin typeface="Cambria Math" panose="02040503050406030204" pitchFamily="18" charset="0"/>
                            </a:rPr>
                          </m:ctrlPr>
                        </m:dPr>
                        <m:e>
                          <m:r>
                            <a:rPr lang="zh-CN" altLang="ar-AE" i="1">
                              <a:latin typeface="Cambria Math" panose="02040503050406030204" pitchFamily="18" charset="0"/>
                            </a:rPr>
                            <m:t>𝐵</m:t>
                          </m:r>
                        </m:e>
                        <m:e>
                          <m:r>
                            <a:rPr lang="zh-CN" altLang="ar-AE" i="1">
                              <a:latin typeface="Cambria Math" panose="02040503050406030204" pitchFamily="18" charset="0"/>
                            </a:rPr>
                            <m:t>𝐷</m:t>
                          </m:r>
                        </m:e>
                      </m:d>
                      <m:r>
                        <a:rPr lang="ar-AE" altLang="zh-CN">
                          <a:latin typeface="Cambria Math" panose="02040503050406030204" pitchFamily="18" charset="0"/>
                        </a:rPr>
                        <m:t>,</m:t>
                      </m:r>
                      <m:d>
                        <m:dPr>
                          <m:begChr m:val="{"/>
                          <m:endChr m:val="}"/>
                          <m:sepChr m:val=","/>
                          <m:ctrlPr>
                            <a:rPr lang="ar-AE" altLang="zh-CN" i="1">
                              <a:latin typeface="Cambria Math" panose="02040503050406030204" pitchFamily="18" charset="0"/>
                            </a:rPr>
                          </m:ctrlPr>
                        </m:dPr>
                        <m:e>
                          <m:r>
                            <a:rPr lang="zh-CN" altLang="ar-AE" i="1">
                              <a:latin typeface="Cambria Math" panose="02040503050406030204" pitchFamily="18" charset="0"/>
                            </a:rPr>
                            <m:t>𝐶</m:t>
                          </m:r>
                        </m:e>
                        <m:e>
                          <m:r>
                            <a:rPr lang="zh-CN" altLang="ar-AE" i="1">
                              <a:latin typeface="Cambria Math" panose="02040503050406030204" pitchFamily="18" charset="0"/>
                            </a:rPr>
                            <m:t>𝐹</m:t>
                          </m:r>
                        </m:e>
                      </m:d>
                      <m:r>
                        <a:rPr lang="ar-AE" altLang="zh-CN">
                          <a:latin typeface="Cambria Math" panose="02040503050406030204" pitchFamily="18" charset="0"/>
                        </a:rPr>
                        <m:t>,</m:t>
                      </m:r>
                      <m:d>
                        <m:dPr>
                          <m:begChr m:val="{"/>
                          <m:endChr m:val="}"/>
                          <m:ctrlPr>
                            <a:rPr lang="ar-AE" altLang="zh-CN" i="1">
                              <a:latin typeface="Cambria Math" panose="02040503050406030204" pitchFamily="18" charset="0"/>
                            </a:rPr>
                          </m:ctrlPr>
                        </m:dPr>
                        <m:e>
                          <m:r>
                            <a:rPr lang="zh-CN" altLang="ar-AE" i="1">
                              <a:latin typeface="Cambria Math" panose="02040503050406030204" pitchFamily="18" charset="0"/>
                            </a:rPr>
                            <m:t>𝐸</m:t>
                          </m:r>
                        </m:e>
                      </m:d>
                    </m:oMath>
                  </m:oMathPara>
                </a14:m>
                <a:endParaRPr lang="ar-AE" altLang="zh-CN" sz="1600" dirty="0"/>
              </a:p>
              <a:p>
                <a:r>
                  <a:rPr lang="zh-CN" altLang="en-US" sz="1600" dirty="0"/>
                  <a:t>已经得到 </a:t>
                </a:r>
                <a:r>
                  <a:rPr lang="en-US" altLang="zh-CN" sz="1600" dirty="0"/>
                  <a:t>4 </a:t>
                </a:r>
                <a:r>
                  <a:rPr lang="zh-CN" altLang="en-US" sz="1600" dirty="0"/>
                  <a:t>类，停止。</a:t>
                </a:r>
              </a:p>
              <a:p>
                <a:endParaRPr lang="en-US" altLang="zh-CN" sz="1600" dirty="0"/>
              </a:p>
            </p:txBody>
          </p:sp>
        </mc:Choice>
        <mc:Fallback xmlns="">
          <p:sp>
            <p:nvSpPr>
              <p:cNvPr id="5" name="文本框 4">
                <a:extLst>
                  <a:ext uri="{FF2B5EF4-FFF2-40B4-BE49-F238E27FC236}">
                    <a16:creationId xmlns:a16="http://schemas.microsoft.com/office/drawing/2014/main" id="{E0A983C8-EA19-9A32-B3E7-2FCA3640778D}"/>
                  </a:ext>
                </a:extLst>
              </p:cNvPr>
              <p:cNvSpPr txBox="1">
                <a:spLocks noRot="1" noChangeAspect="1" noMove="1" noResize="1" noEditPoints="1" noAdjustHandles="1" noChangeArrowheads="1" noChangeShapeType="1" noTextEdit="1"/>
              </p:cNvSpPr>
              <p:nvPr/>
            </p:nvSpPr>
            <p:spPr>
              <a:xfrm>
                <a:off x="4199412" y="2828698"/>
                <a:ext cx="6095010" cy="4339842"/>
              </a:xfrm>
              <a:prstGeom prst="rect">
                <a:avLst/>
              </a:prstGeom>
              <a:blipFill>
                <a:blip r:embed="rId3"/>
                <a:stretch>
                  <a:fillRect l="-600" t="-56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999993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3" name="文本框"/>
          <p:cNvSpPr>
            <a:spLocks noGrp="1"/>
          </p:cNvSpPr>
          <p:nvPr>
            <p:ph type="title"/>
          </p:nvPr>
        </p:nvSpPr>
        <p:spPr>
          <a:xfrm>
            <a:off x="608400" y="608400"/>
            <a:ext cx="10969201" cy="705599"/>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marL="0" indent="0" algn="l">
              <a:lnSpc>
                <a:spcPct val="100000"/>
              </a:lnSpc>
              <a:spcBef>
                <a:spcPts val="0"/>
              </a:spcBef>
              <a:spcAft>
                <a:spcPts val="0"/>
              </a:spcAft>
              <a:buNone/>
            </a:pPr>
            <a:r>
              <a:rPr lang="zh-CN" altLang="en-US" sz="3600" b="1" i="0" u="none" strike="noStrike" kern="1200" cap="none" spc="300" baseline="0" dirty="0">
                <a:solidFill>
                  <a:srgbClr val="262626"/>
                </a:solidFill>
                <a:latin typeface="Arial" charset="0"/>
                <a:ea typeface="微软雅黑" charset="0"/>
                <a:cs typeface="Lucida Sans"/>
              </a:rPr>
              <a:t>题型</a:t>
            </a:r>
            <a:r>
              <a:rPr lang="en-US" altLang="zh-CN" sz="3600" b="1" i="0" u="none" strike="noStrike" kern="1200" cap="none" spc="300" baseline="0" dirty="0">
                <a:solidFill>
                  <a:srgbClr val="262626"/>
                </a:solidFill>
                <a:latin typeface="Arial" charset="0"/>
                <a:ea typeface="微软雅黑" charset="0"/>
                <a:cs typeface="Lucida Sans"/>
              </a:rPr>
              <a:t>4</a:t>
            </a:r>
            <a:r>
              <a:rPr lang="zh-CN" altLang="en-US" sz="3600" b="1" i="0" u="none" strike="noStrike" kern="1200" cap="none" spc="300" baseline="0" dirty="0">
                <a:solidFill>
                  <a:srgbClr val="262626"/>
                </a:solidFill>
                <a:latin typeface="Arial" charset="0"/>
                <a:ea typeface="微软雅黑" charset="0"/>
                <a:cs typeface="Lucida Sans"/>
              </a:rPr>
              <a:t>：</a:t>
            </a:r>
            <a:r>
              <a:rPr lang="en-US" altLang="zh-CN" sz="3600" b="1" i="0" u="none" strike="noStrike" kern="1200" cap="none" spc="300" baseline="0" dirty="0">
                <a:solidFill>
                  <a:srgbClr val="262626"/>
                </a:solidFill>
                <a:latin typeface="Arial" charset="0"/>
                <a:ea typeface="微软雅黑" charset="0"/>
                <a:cs typeface="Lucida Sans"/>
              </a:rPr>
              <a:t> </a:t>
            </a:r>
            <a:r>
              <a:rPr lang="zh-CN" altLang="en-US" sz="3600" b="1" i="0" u="none" strike="noStrike" kern="1200" cap="none" spc="300" baseline="0" dirty="0">
                <a:solidFill>
                  <a:srgbClr val="262626"/>
                </a:solidFill>
                <a:latin typeface="Arial" charset="0"/>
                <a:ea typeface="微软雅黑" charset="0"/>
                <a:cs typeface="Lucida Sans"/>
              </a:rPr>
              <a:t>思考题</a:t>
            </a:r>
          </a:p>
        </p:txBody>
      </p:sp>
      <p:pic>
        <p:nvPicPr>
          <p:cNvPr id="34" name="图片"/>
          <p:cNvPicPr>
            <a:picLocks noChangeAspect="1"/>
          </p:cNvPicPr>
          <p:nvPr/>
        </p:nvPicPr>
        <p:blipFill>
          <a:blip r:embed="rId2" cstate="print"/>
          <a:stretch>
            <a:fillRect/>
          </a:stretch>
        </p:blipFill>
        <p:spPr>
          <a:xfrm>
            <a:off x="3728084" y="1444625"/>
            <a:ext cx="8039099" cy="1367155"/>
          </a:xfrm>
          <a:prstGeom prst="rect">
            <a:avLst/>
          </a:prstGeom>
          <a:noFill/>
          <a:ln w="12700" cap="flat" cmpd="sng">
            <a:noFill/>
            <a:prstDash val="solid"/>
            <a:miter/>
          </a:ln>
        </p:spPr>
      </p:pic>
      <p:sp>
        <p:nvSpPr>
          <p:cNvPr id="35" name="直线"/>
          <p:cNvSpPr>
            <a:spLocks/>
          </p:cNvSpPr>
          <p:nvPr/>
        </p:nvSpPr>
        <p:spPr>
          <a:xfrm>
            <a:off x="3819526" y="1313999"/>
            <a:ext cx="0" cy="5460874"/>
          </a:xfrm>
          <a:prstGeom prst="line">
            <a:avLst/>
          </a:prstGeom>
          <a:noFill/>
          <a:ln w="12700" cap="flat" cmpd="sng">
            <a:solidFill>
              <a:schemeClr val="tx1"/>
            </a:solidFill>
            <a:prstDash val="solid"/>
            <a:miter/>
          </a:ln>
        </p:spPr>
      </p:sp>
      <p:sp>
        <p:nvSpPr>
          <p:cNvPr id="36" name="矩形"/>
          <p:cNvSpPr>
            <a:spLocks/>
          </p:cNvSpPr>
          <p:nvPr/>
        </p:nvSpPr>
        <p:spPr>
          <a:xfrm>
            <a:off x="553622" y="1830303"/>
            <a:ext cx="3265904" cy="2585323"/>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zh-CN" altLang="en-US" sz="1800" b="0" i="0" u="none" strike="noStrike" kern="1200" cap="none" spc="0" baseline="0" dirty="0">
                <a:solidFill>
                  <a:schemeClr val="tx1"/>
                </a:solidFill>
                <a:latin typeface="Arial" charset="0"/>
                <a:ea typeface="微软雅黑" charset="0"/>
                <a:cs typeface="Arial" charset="0"/>
              </a:rPr>
              <a:t>其实和简答题没什么区别。</a:t>
            </a:r>
            <a:endParaRPr lang="en-US" altLang="zh-CN" sz="1800" b="0" i="0" u="none" strike="noStrike" kern="1200" cap="none" spc="0" baseline="0" dirty="0">
              <a:solidFill>
                <a:schemeClr val="tx1"/>
              </a:solidFill>
              <a:latin typeface="Arial" charset="0"/>
              <a:ea typeface="微软雅黑" charset="0"/>
              <a:cs typeface="Arial" charset="0"/>
            </a:endParaRPr>
          </a:p>
          <a:p>
            <a:pPr marL="0" indent="0" algn="l">
              <a:lnSpc>
                <a:spcPct val="100000"/>
              </a:lnSpc>
              <a:spcBef>
                <a:spcPts val="0"/>
              </a:spcBef>
              <a:spcAft>
                <a:spcPts val="0"/>
              </a:spcAft>
              <a:buNone/>
            </a:pPr>
            <a:r>
              <a:rPr lang="zh-CN" altLang="en-US" sz="1800" b="0" i="0" u="none" strike="noStrike" kern="1200" cap="none" spc="0" baseline="0" dirty="0">
                <a:solidFill>
                  <a:schemeClr val="tx1"/>
                </a:solidFill>
                <a:latin typeface="Arial" charset="0"/>
                <a:ea typeface="微软雅黑" charset="0"/>
                <a:cs typeface="Arial" charset="0"/>
              </a:rPr>
              <a:t>往年考的比较基础，去年考随机森林伪代码有点微微没想到，但是前几年考过决策树的伪代码，所以基本还是能写出来，这提醒我们对于教材涉及到的内容，即使是冷门考点，也要大概有个印象，不至于到考场什么也写不出来。</a:t>
            </a:r>
            <a:endParaRPr lang="en-US" altLang="zh-CN" sz="1800" b="0" i="0" u="none" strike="noStrike" kern="1200" cap="none" spc="0" baseline="0" dirty="0">
              <a:solidFill>
                <a:schemeClr val="tx1"/>
              </a:solidFill>
              <a:latin typeface="Arial" charset="0"/>
              <a:ea typeface="微软雅黑" charset="0"/>
              <a:cs typeface="Arial" charset="0"/>
            </a:endParaRPr>
          </a:p>
        </p:txBody>
      </p:sp>
      <p:sp>
        <p:nvSpPr>
          <p:cNvPr id="37" name="矩形"/>
          <p:cNvSpPr>
            <a:spLocks/>
          </p:cNvSpPr>
          <p:nvPr/>
        </p:nvSpPr>
        <p:spPr>
          <a:xfrm>
            <a:off x="4162425" y="4094480"/>
            <a:ext cx="4063999" cy="1139189"/>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en-US" altLang="zh-CN" sz="1400" b="0" i="0" u="none" strike="noStrike" kern="1200" cap="none" spc="0" baseline="0">
                <a:solidFill>
                  <a:schemeClr val="tx1"/>
                </a:solidFill>
                <a:latin typeface="Arial" charset="0"/>
                <a:ea typeface="微软雅黑" charset="0"/>
                <a:cs typeface="Arial" charset="0"/>
                <a:sym typeface="微软雅黑" charset="0"/>
              </a:rPr>
              <a:t>1. </a:t>
            </a:r>
            <a:r>
              <a:rPr lang="zh-CN" altLang="en-US" sz="1400" b="0" i="0" u="none" strike="noStrike" kern="1200" cap="none" spc="0" baseline="0">
                <a:solidFill>
                  <a:schemeClr val="tx1"/>
                </a:solidFill>
                <a:latin typeface="Arial" charset="0"/>
                <a:ea typeface="微软雅黑" charset="0"/>
                <a:cs typeface="Arial" charset="0"/>
                <a:sym typeface="微软雅黑" charset="0"/>
              </a:rPr>
              <a:t>评价指标</a:t>
            </a:r>
            <a:endParaRPr lang="en-US" altLang="zh-CN" sz="1400" b="0" i="0" u="none" strike="noStrike" kern="1200" cap="none" spc="0" baseline="0">
              <a:solidFill>
                <a:schemeClr val="tx1"/>
              </a:solidFill>
              <a:latin typeface="Arial" charset="0"/>
              <a:ea typeface="微软雅黑" charset="0"/>
              <a:cs typeface="Arial" charset="0"/>
            </a:endParaRPr>
          </a:p>
          <a:p>
            <a:pPr marL="800100" lvl="1" indent="-342900" algn="l">
              <a:lnSpc>
                <a:spcPct val="100000"/>
              </a:lnSpc>
              <a:spcBef>
                <a:spcPts val="0"/>
              </a:spcBef>
              <a:spcAft>
                <a:spcPts val="0"/>
              </a:spcAft>
              <a:buClrTx/>
              <a:buAutoNum type="arabicPeriod"/>
            </a:pPr>
            <a:r>
              <a:rPr lang="zh-CN" altLang="en-US" sz="1400" b="0" i="0" u="none" strike="noStrike" kern="1200" cap="none" spc="0" baseline="0">
                <a:solidFill>
                  <a:schemeClr val="tx1"/>
                </a:solidFill>
                <a:latin typeface="Arial" charset="0"/>
                <a:ea typeface="微软雅黑" charset="0"/>
                <a:cs typeface="Arial" charset="0"/>
                <a:sym typeface="微软雅黑" charset="0"/>
              </a:rPr>
              <a:t>给一个模型的分类结果，计算查全率、查准率。最后评价</a:t>
            </a:r>
            <a:endParaRPr lang="en-US" altLang="zh-CN" sz="1400" b="0" i="0" u="none" strike="noStrike" kern="1200" cap="none" spc="0" baseline="0">
              <a:solidFill>
                <a:schemeClr val="tx1"/>
              </a:solidFill>
              <a:latin typeface="Arial" charset="0"/>
              <a:ea typeface="微软雅黑" charset="0"/>
              <a:cs typeface="Arial" charset="0"/>
            </a:endParaRPr>
          </a:p>
          <a:p>
            <a:pPr marL="0" indent="0" algn="l">
              <a:lnSpc>
                <a:spcPct val="100000"/>
              </a:lnSpc>
              <a:spcBef>
                <a:spcPts val="0"/>
              </a:spcBef>
              <a:spcAft>
                <a:spcPts val="0"/>
              </a:spcAft>
              <a:buNone/>
            </a:pPr>
            <a:r>
              <a:rPr lang="en-US" altLang="zh-CN" sz="1400" b="0" i="0" u="none" strike="noStrike" kern="1200" cap="none" spc="0" baseline="0">
                <a:solidFill>
                  <a:schemeClr val="tx1"/>
                </a:solidFill>
                <a:latin typeface="Arial" charset="0"/>
                <a:ea typeface="微软雅黑" charset="0"/>
                <a:cs typeface="Arial" charset="0"/>
                <a:sym typeface="微软雅黑" charset="0"/>
              </a:rPr>
              <a:t>2. </a:t>
            </a:r>
            <a:r>
              <a:rPr lang="zh-CN" altLang="en-US" sz="1400" b="0" i="0" u="none" strike="noStrike" kern="1200" cap="none" spc="0" baseline="0">
                <a:solidFill>
                  <a:schemeClr val="tx1"/>
                </a:solidFill>
                <a:latin typeface="Arial" charset="0"/>
                <a:ea typeface="微软雅黑" charset="0"/>
                <a:cs typeface="Arial" charset="0"/>
                <a:sym typeface="微软雅黑" charset="0"/>
              </a:rPr>
              <a:t>朴素贝叶斯</a:t>
            </a:r>
            <a:endParaRPr lang="en-US" altLang="zh-CN" sz="1400" b="0" i="0" u="none" strike="noStrike" kern="1200" cap="none" spc="0" baseline="0">
              <a:solidFill>
                <a:schemeClr val="tx1"/>
              </a:solidFill>
              <a:latin typeface="Arial" charset="0"/>
              <a:ea typeface="微软雅黑" charset="0"/>
              <a:cs typeface="Arial" charset="0"/>
            </a:endParaRPr>
          </a:p>
          <a:p>
            <a:pPr marL="0" indent="0" algn="l">
              <a:lnSpc>
                <a:spcPct val="100000"/>
              </a:lnSpc>
              <a:spcBef>
                <a:spcPts val="0"/>
              </a:spcBef>
              <a:spcAft>
                <a:spcPts val="0"/>
              </a:spcAft>
              <a:buNone/>
            </a:pPr>
            <a:endParaRPr lang="zh-CN" altLang="en-US" sz="1400" b="0" i="0" u="none" strike="noStrike" kern="1200" cap="none" spc="0" baseline="0">
              <a:solidFill>
                <a:schemeClr val="tx1"/>
              </a:solidFill>
              <a:latin typeface="Arial" charset="0"/>
              <a:ea typeface="微软雅黑" charset="0"/>
              <a:cs typeface="Arial" charset="0"/>
            </a:endParaRPr>
          </a:p>
        </p:txBody>
      </p:sp>
    </p:spTree>
    <p:extLst>
      <p:ext uri="{BB962C8B-B14F-4D97-AF65-F5344CB8AC3E}">
        <p14:creationId xmlns:p14="http://schemas.microsoft.com/office/powerpoint/2010/main" val="945841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8AC1AA-F5D2-4C4C-92A7-0A14938D290B}"/>
            </a:ext>
          </a:extLst>
        </p:cNvPr>
        <p:cNvGrpSpPr/>
        <p:nvPr/>
      </p:nvGrpSpPr>
      <p:grpSpPr>
        <a:xfrm>
          <a:off x="0" y="0"/>
          <a:ext cx="0" cy="0"/>
          <a:chOff x="0" y="0"/>
          <a:chExt cx="0" cy="0"/>
        </a:xfrm>
      </p:grpSpPr>
      <p:sp>
        <p:nvSpPr>
          <p:cNvPr id="33" name="文本框">
            <a:extLst>
              <a:ext uri="{FF2B5EF4-FFF2-40B4-BE49-F238E27FC236}">
                <a16:creationId xmlns:a16="http://schemas.microsoft.com/office/drawing/2014/main" id="{2856274D-117C-5C63-D672-3992C274660E}"/>
              </a:ext>
            </a:extLst>
          </p:cNvPr>
          <p:cNvSpPr>
            <a:spLocks noGrp="1"/>
          </p:cNvSpPr>
          <p:nvPr>
            <p:ph type="title"/>
          </p:nvPr>
        </p:nvSpPr>
        <p:spPr>
          <a:xfrm>
            <a:off x="127449" y="0"/>
            <a:ext cx="10969201" cy="705599"/>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marL="0" indent="0" algn="l">
              <a:lnSpc>
                <a:spcPct val="100000"/>
              </a:lnSpc>
              <a:spcBef>
                <a:spcPts val="0"/>
              </a:spcBef>
              <a:spcAft>
                <a:spcPts val="0"/>
              </a:spcAft>
              <a:buNone/>
            </a:pPr>
            <a:r>
              <a:rPr lang="zh-CN" altLang="en-US" sz="3600" b="1" i="0" u="none" strike="noStrike" kern="1200" cap="none" spc="300" baseline="0" dirty="0">
                <a:solidFill>
                  <a:srgbClr val="262626"/>
                </a:solidFill>
                <a:latin typeface="Arial" charset="0"/>
                <a:ea typeface="微软雅黑" charset="0"/>
                <a:cs typeface="Lucida Sans"/>
              </a:rPr>
              <a:t>题型</a:t>
            </a:r>
            <a:r>
              <a:rPr lang="en-US" altLang="zh-CN" sz="3600" b="1" i="0" u="none" strike="noStrike" kern="1200" cap="none" spc="300" baseline="0" dirty="0">
                <a:solidFill>
                  <a:srgbClr val="262626"/>
                </a:solidFill>
                <a:latin typeface="Arial" charset="0"/>
                <a:ea typeface="微软雅黑" charset="0"/>
                <a:cs typeface="Lucida Sans"/>
              </a:rPr>
              <a:t>4</a:t>
            </a:r>
            <a:r>
              <a:rPr lang="zh-CN" altLang="en-US" sz="3600" b="1" i="0" u="none" strike="noStrike" kern="1200" cap="none" spc="300" baseline="0" dirty="0">
                <a:solidFill>
                  <a:srgbClr val="262626"/>
                </a:solidFill>
                <a:latin typeface="Arial" charset="0"/>
                <a:ea typeface="微软雅黑" charset="0"/>
                <a:cs typeface="Lucida Sans"/>
              </a:rPr>
              <a:t>：</a:t>
            </a:r>
            <a:r>
              <a:rPr lang="en-US" altLang="zh-CN" sz="3600" b="1" i="0" u="none" strike="noStrike" kern="1200" cap="none" spc="300" baseline="0" dirty="0">
                <a:solidFill>
                  <a:srgbClr val="262626"/>
                </a:solidFill>
                <a:latin typeface="Arial" charset="0"/>
                <a:ea typeface="微软雅黑" charset="0"/>
                <a:cs typeface="Lucida Sans"/>
              </a:rPr>
              <a:t> </a:t>
            </a:r>
            <a:r>
              <a:rPr lang="zh-CN" altLang="en-US" sz="3600" b="1" i="0" u="none" strike="noStrike" kern="1200" cap="none" spc="300" baseline="0" dirty="0">
                <a:solidFill>
                  <a:srgbClr val="262626"/>
                </a:solidFill>
                <a:latin typeface="Arial" charset="0"/>
                <a:ea typeface="微软雅黑" charset="0"/>
                <a:cs typeface="Lucida Sans"/>
              </a:rPr>
              <a:t>思考题</a:t>
            </a:r>
          </a:p>
        </p:txBody>
      </p:sp>
      <p:sp>
        <p:nvSpPr>
          <p:cNvPr id="2" name="文本框 1">
            <a:extLst>
              <a:ext uri="{FF2B5EF4-FFF2-40B4-BE49-F238E27FC236}">
                <a16:creationId xmlns:a16="http://schemas.microsoft.com/office/drawing/2014/main" id="{53B6544F-BD49-5039-6F7B-783AA5A2634B}"/>
              </a:ext>
            </a:extLst>
          </p:cNvPr>
          <p:cNvSpPr txBox="1"/>
          <p:nvPr/>
        </p:nvSpPr>
        <p:spPr>
          <a:xfrm>
            <a:off x="240265" y="705599"/>
            <a:ext cx="10221896" cy="1477328"/>
          </a:xfrm>
          <a:prstGeom prst="rect">
            <a:avLst/>
          </a:prstGeom>
          <a:noFill/>
        </p:spPr>
        <p:txBody>
          <a:bodyPr wrap="square" rtlCol="0">
            <a:spAutoFit/>
          </a:bodyPr>
          <a:lstStyle/>
          <a:p>
            <a:r>
              <a:rPr lang="zh-CN" altLang="zh-CN" dirty="0"/>
              <a:t>写出随机森林的伪代码，提升集成学习中个体学习器多样性有哪些方法，详细说明随机森林中运用了哪些方法来提升个体学习器多样性</a:t>
            </a:r>
            <a:r>
              <a:rPr lang="zh-CN" altLang="en-US" dirty="0"/>
              <a:t>（具体可以参考老师给的</a:t>
            </a:r>
            <a:r>
              <a:rPr lang="en-US" altLang="zh-CN" dirty="0"/>
              <a:t>ppt</a:t>
            </a:r>
            <a:r>
              <a:rPr lang="zh-CN" altLang="en-US" dirty="0"/>
              <a:t>或者</a:t>
            </a:r>
            <a:r>
              <a:rPr lang="en-US" altLang="zh-CN" dirty="0" err="1"/>
              <a:t>gpt</a:t>
            </a:r>
            <a:r>
              <a:rPr lang="zh-CN" altLang="en-US" dirty="0"/>
              <a:t>一下选简单的版本背，大概意思到了就可以，给分不会特别严格）</a:t>
            </a:r>
            <a:endParaRPr lang="en-US" altLang="zh-CN" dirty="0"/>
          </a:p>
          <a:p>
            <a:r>
              <a:rPr lang="en-US" altLang="zh-CN" dirty="0">
                <a:solidFill>
                  <a:schemeClr val="accent6"/>
                </a:solidFill>
              </a:rPr>
              <a:t>P179</a:t>
            </a:r>
            <a:endParaRPr lang="zh-CN" altLang="zh-CN" dirty="0">
              <a:solidFill>
                <a:schemeClr val="accent6"/>
              </a:solidFill>
            </a:endParaRPr>
          </a:p>
          <a:p>
            <a:endParaRPr lang="zh-CN" altLang="en-US" dirty="0"/>
          </a:p>
        </p:txBody>
      </p:sp>
      <p:sp>
        <p:nvSpPr>
          <p:cNvPr id="4" name="文本框 3">
            <a:extLst>
              <a:ext uri="{FF2B5EF4-FFF2-40B4-BE49-F238E27FC236}">
                <a16:creationId xmlns:a16="http://schemas.microsoft.com/office/drawing/2014/main" id="{B9728EDA-3058-D734-DC9E-1B6A376EAAD9}"/>
              </a:ext>
            </a:extLst>
          </p:cNvPr>
          <p:cNvSpPr txBox="1"/>
          <p:nvPr/>
        </p:nvSpPr>
        <p:spPr>
          <a:xfrm>
            <a:off x="240265" y="1953491"/>
            <a:ext cx="6476505" cy="2031325"/>
          </a:xfrm>
          <a:prstGeom prst="rect">
            <a:avLst/>
          </a:prstGeom>
          <a:noFill/>
        </p:spPr>
        <p:txBody>
          <a:bodyPr wrap="square">
            <a:spAutoFit/>
          </a:bodyPr>
          <a:lstStyle/>
          <a:p>
            <a:r>
              <a:rPr lang="zh-CN" altLang="en-US" sz="1400" dirty="0"/>
              <a:t>输入：</a:t>
            </a:r>
            <a:br>
              <a:rPr lang="zh-CN" altLang="en-US" sz="1400" dirty="0"/>
            </a:br>
            <a:r>
              <a:rPr lang="zh-CN" altLang="en-US" sz="1400" dirty="0"/>
              <a:t>训练集 </a:t>
            </a:r>
            <a:r>
              <a:rPr lang="en-US" altLang="zh-CN" sz="1400" dirty="0"/>
              <a:t>D</a:t>
            </a:r>
            <a:br>
              <a:rPr lang="en-US" altLang="zh-CN" sz="1400" dirty="0"/>
            </a:br>
            <a:r>
              <a:rPr lang="zh-CN" altLang="en-US" sz="1400" dirty="0"/>
              <a:t>决策树数量 </a:t>
            </a:r>
            <a:r>
              <a:rPr lang="en-US" altLang="zh-CN" sz="1400" dirty="0"/>
              <a:t>T</a:t>
            </a:r>
            <a:br>
              <a:rPr lang="en-US" altLang="zh-CN" sz="1400" dirty="0"/>
            </a:br>
            <a:r>
              <a:rPr lang="zh-CN" altLang="en-US" sz="1400" dirty="0"/>
              <a:t>每次划分时随机选择的特征数 </a:t>
            </a:r>
            <a:r>
              <a:rPr lang="en-US" altLang="zh-CN" sz="1400" dirty="0"/>
              <a:t>m</a:t>
            </a:r>
            <a:br>
              <a:rPr lang="en-US" altLang="zh-CN" sz="1400" dirty="0"/>
            </a:br>
            <a:br>
              <a:rPr lang="en-US" altLang="zh-CN" sz="1400" dirty="0"/>
            </a:br>
            <a:r>
              <a:rPr lang="zh-CN" altLang="en-US" sz="1400" dirty="0"/>
              <a:t>输出：</a:t>
            </a:r>
            <a:br>
              <a:rPr lang="zh-CN" altLang="en-US" sz="1400" dirty="0"/>
            </a:br>
            <a:r>
              <a:rPr lang="zh-CN" altLang="en-US" sz="1400" dirty="0"/>
              <a:t>随机森林模型 </a:t>
            </a:r>
            <a:r>
              <a:rPr lang="en-US" altLang="zh-CN" sz="1400" dirty="0"/>
              <a:t>H(x)</a:t>
            </a:r>
            <a:br>
              <a:rPr lang="en-US" altLang="zh-CN" sz="1400" dirty="0"/>
            </a:br>
            <a:br>
              <a:rPr lang="en-US" altLang="zh-CN" sz="1400" dirty="0"/>
            </a:br>
            <a:endParaRPr lang="zh-CN" altLang="en-US" sz="1400" dirty="0"/>
          </a:p>
        </p:txBody>
      </p:sp>
      <p:sp>
        <p:nvSpPr>
          <p:cNvPr id="7" name="文本框 6">
            <a:extLst>
              <a:ext uri="{FF2B5EF4-FFF2-40B4-BE49-F238E27FC236}">
                <a16:creationId xmlns:a16="http://schemas.microsoft.com/office/drawing/2014/main" id="{926DD9FD-18BE-9A5A-9858-3283CD2C298E}"/>
              </a:ext>
            </a:extLst>
          </p:cNvPr>
          <p:cNvSpPr txBox="1"/>
          <p:nvPr/>
        </p:nvSpPr>
        <p:spPr>
          <a:xfrm>
            <a:off x="350321" y="6444146"/>
            <a:ext cx="10539351" cy="369332"/>
          </a:xfrm>
          <a:prstGeom prst="rect">
            <a:avLst/>
          </a:prstGeom>
          <a:noFill/>
        </p:spPr>
        <p:txBody>
          <a:bodyPr wrap="square" rtlCol="0">
            <a:spAutoFit/>
          </a:bodyPr>
          <a:lstStyle/>
          <a:p>
            <a:r>
              <a:rPr lang="zh-CN" altLang="en-US" dirty="0"/>
              <a:t>提升个体学习器多样性：数据样本扰动，输入特征扰动，输出表示扰动，算法参数扰动</a:t>
            </a:r>
          </a:p>
        </p:txBody>
      </p:sp>
      <p:pic>
        <p:nvPicPr>
          <p:cNvPr id="9" name="图片 8">
            <a:extLst>
              <a:ext uri="{FF2B5EF4-FFF2-40B4-BE49-F238E27FC236}">
                <a16:creationId xmlns:a16="http://schemas.microsoft.com/office/drawing/2014/main" id="{6C41844F-CBFA-1A76-B1B6-5EB04096A563}"/>
              </a:ext>
            </a:extLst>
          </p:cNvPr>
          <p:cNvPicPr>
            <a:picLocks noChangeAspect="1"/>
          </p:cNvPicPr>
          <p:nvPr/>
        </p:nvPicPr>
        <p:blipFill>
          <a:blip r:embed="rId2"/>
          <a:srcRect r="7416"/>
          <a:stretch>
            <a:fillRect/>
          </a:stretch>
        </p:blipFill>
        <p:spPr>
          <a:xfrm>
            <a:off x="5445794" y="1525977"/>
            <a:ext cx="6746206" cy="4394473"/>
          </a:xfrm>
          <a:prstGeom prst="rect">
            <a:avLst/>
          </a:prstGeom>
        </p:spPr>
      </p:pic>
      <p:pic>
        <p:nvPicPr>
          <p:cNvPr id="11" name="图片 10">
            <a:extLst>
              <a:ext uri="{FF2B5EF4-FFF2-40B4-BE49-F238E27FC236}">
                <a16:creationId xmlns:a16="http://schemas.microsoft.com/office/drawing/2014/main" id="{A6B6BE65-65C9-64EF-7539-07BE0B27B8AE}"/>
              </a:ext>
            </a:extLst>
          </p:cNvPr>
          <p:cNvPicPr>
            <a:picLocks noChangeAspect="1"/>
          </p:cNvPicPr>
          <p:nvPr/>
        </p:nvPicPr>
        <p:blipFill>
          <a:blip r:embed="rId3"/>
          <a:stretch>
            <a:fillRect/>
          </a:stretch>
        </p:blipFill>
        <p:spPr>
          <a:xfrm>
            <a:off x="130341" y="3889169"/>
            <a:ext cx="5947082" cy="2535433"/>
          </a:xfrm>
          <a:prstGeom prst="rect">
            <a:avLst/>
          </a:prstGeom>
        </p:spPr>
      </p:pic>
    </p:spTree>
    <p:extLst>
      <p:ext uri="{BB962C8B-B14F-4D97-AF65-F5344CB8AC3E}">
        <p14:creationId xmlns:p14="http://schemas.microsoft.com/office/powerpoint/2010/main" val="11651036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1" name="矩形"/>
          <p:cNvSpPr>
            <a:spLocks/>
          </p:cNvSpPr>
          <p:nvPr/>
        </p:nvSpPr>
        <p:spPr>
          <a:xfrm>
            <a:off x="3524377" y="2628381"/>
            <a:ext cx="13493013" cy="705599"/>
          </a:xfrm>
          <a:prstGeom prst="rect">
            <a:avLst/>
          </a:prstGeom>
          <a:noFill/>
          <a:ln w="12700" cap="flat" cmpd="sng">
            <a:noFill/>
            <a:prstDash val="solid"/>
            <a:miter/>
          </a:ln>
        </p:spPr>
        <p:txBody>
          <a:bodyPr vert="horz" wrap="square" lIns="90000" tIns="46800" rIns="90000" bIns="46800" anchor="ctr" anchorCtr="0">
            <a:prstTxWarp prst="textNoShape">
              <a:avLst/>
            </a:prstTxWarp>
          </a:bodyPr>
          <a:lstStyle/>
          <a:p>
            <a:pPr marL="0" indent="0" algn="l" eaLnBrk="1" fontAlgn="auto" latinLnBrk="0" hangingPunct="1">
              <a:lnSpc>
                <a:spcPct val="100000"/>
              </a:lnSpc>
              <a:spcBef>
                <a:spcPts val="0"/>
              </a:spcBef>
              <a:spcAft>
                <a:spcPts val="0"/>
              </a:spcAft>
              <a:buNone/>
            </a:pPr>
            <a:r>
              <a:rPr lang="zh-CN" altLang="en-US" sz="6600" b="1" i="0" u="none" strike="noStrike" kern="1200" cap="none" spc="300" baseline="0" dirty="0">
                <a:solidFill>
                  <a:srgbClr val="262626"/>
                </a:solidFill>
                <a:latin typeface="Arial" charset="0"/>
                <a:ea typeface="微软雅黑" charset="0"/>
                <a:cs typeface="Arial" charset="0"/>
              </a:rPr>
              <a:t>资料分享</a:t>
            </a:r>
            <a:endParaRPr lang="en-US" altLang="zh-CN" sz="6600" b="1" i="0" u="none" strike="noStrike" kern="1200" cap="none" spc="300" baseline="0" dirty="0">
              <a:solidFill>
                <a:srgbClr val="262626"/>
              </a:solidFill>
              <a:latin typeface="Arial" charset="0"/>
              <a:ea typeface="微软雅黑" charset="0"/>
              <a:cs typeface="Arial" charset="0"/>
            </a:endParaRPr>
          </a:p>
        </p:txBody>
      </p:sp>
      <p:sp>
        <p:nvSpPr>
          <p:cNvPr id="2" name="文本框 1">
            <a:extLst>
              <a:ext uri="{FF2B5EF4-FFF2-40B4-BE49-F238E27FC236}">
                <a16:creationId xmlns:a16="http://schemas.microsoft.com/office/drawing/2014/main" id="{7B7F403A-1936-3563-545E-1BFC0EFC225D}"/>
              </a:ext>
            </a:extLst>
          </p:cNvPr>
          <p:cNvSpPr txBox="1"/>
          <p:nvPr/>
        </p:nvSpPr>
        <p:spPr>
          <a:xfrm>
            <a:off x="2876423" y="5189673"/>
            <a:ext cx="6309966" cy="646331"/>
          </a:xfrm>
          <a:prstGeom prst="rect">
            <a:avLst/>
          </a:prstGeom>
          <a:noFill/>
        </p:spPr>
        <p:txBody>
          <a:bodyPr wrap="square" rtlCol="0">
            <a:spAutoFit/>
          </a:bodyPr>
          <a:lstStyle/>
          <a:p>
            <a:r>
              <a:rPr lang="zh-CN" altLang="en-US" dirty="0"/>
              <a:t>资料大多来自于往届学长学姐的开源仓库，感恩前辈们</a:t>
            </a:r>
            <a:r>
              <a:rPr lang="en-US" altLang="zh-CN" dirty="0"/>
              <a:t>~</a:t>
            </a:r>
          </a:p>
          <a:p>
            <a:r>
              <a:rPr lang="zh-CN" altLang="en-US" dirty="0"/>
              <a:t>希望学弟学妹们也可以做回忆卷，把开源精神传递下去</a:t>
            </a:r>
            <a:r>
              <a:rPr lang="en-US" altLang="zh-CN" dirty="0"/>
              <a:t>~</a:t>
            </a:r>
            <a:endParaRPr lang="zh-CN" altLang="en-US" dirty="0"/>
          </a:p>
        </p:txBody>
      </p:sp>
    </p:spTree>
    <p:extLst>
      <p:ext uri="{BB962C8B-B14F-4D97-AF65-F5344CB8AC3E}">
        <p14:creationId xmlns:p14="http://schemas.microsoft.com/office/powerpoint/2010/main" val="20339456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5803CA-0C03-30C4-5E94-2C91FF13FF45}"/>
            </a:ext>
          </a:extLst>
        </p:cNvPr>
        <p:cNvGrpSpPr/>
        <p:nvPr/>
      </p:nvGrpSpPr>
      <p:grpSpPr>
        <a:xfrm>
          <a:off x="0" y="0"/>
          <a:ext cx="0" cy="0"/>
          <a:chOff x="0" y="0"/>
          <a:chExt cx="0" cy="0"/>
        </a:xfrm>
      </p:grpSpPr>
      <p:pic>
        <p:nvPicPr>
          <p:cNvPr id="4" name="图片 3">
            <a:extLst>
              <a:ext uri="{FF2B5EF4-FFF2-40B4-BE49-F238E27FC236}">
                <a16:creationId xmlns:a16="http://schemas.microsoft.com/office/drawing/2014/main" id="{11FBA6C1-AB8A-41C5-CC7F-36A7E27360E6}"/>
              </a:ext>
            </a:extLst>
          </p:cNvPr>
          <p:cNvPicPr>
            <a:picLocks noChangeAspect="1"/>
          </p:cNvPicPr>
          <p:nvPr/>
        </p:nvPicPr>
        <p:blipFill>
          <a:blip r:embed="rId2"/>
          <a:stretch>
            <a:fillRect/>
          </a:stretch>
        </p:blipFill>
        <p:spPr>
          <a:xfrm>
            <a:off x="4549985" y="3720492"/>
            <a:ext cx="3092029" cy="2638745"/>
          </a:xfrm>
          <a:prstGeom prst="rect">
            <a:avLst/>
          </a:prstGeom>
        </p:spPr>
      </p:pic>
      <p:sp>
        <p:nvSpPr>
          <p:cNvPr id="5" name="文本框 4">
            <a:extLst>
              <a:ext uri="{FF2B5EF4-FFF2-40B4-BE49-F238E27FC236}">
                <a16:creationId xmlns:a16="http://schemas.microsoft.com/office/drawing/2014/main" id="{40D0C769-2B97-1357-87F9-EBBDCAABFF39}"/>
              </a:ext>
            </a:extLst>
          </p:cNvPr>
          <p:cNvSpPr txBox="1"/>
          <p:nvPr/>
        </p:nvSpPr>
        <p:spPr>
          <a:xfrm>
            <a:off x="1990105" y="1425039"/>
            <a:ext cx="8211787" cy="1815882"/>
          </a:xfrm>
          <a:prstGeom prst="rect">
            <a:avLst/>
          </a:prstGeom>
          <a:noFill/>
        </p:spPr>
        <p:txBody>
          <a:bodyPr wrap="square" rtlCol="0">
            <a:spAutoFit/>
          </a:bodyPr>
          <a:lstStyle/>
          <a:p>
            <a:r>
              <a:rPr lang="zh-CN" altLang="en-US" sz="2800" b="1" dirty="0"/>
              <a:t>链接：</a:t>
            </a:r>
            <a:r>
              <a:rPr lang="en-US" altLang="zh-CN" sz="2800" b="1" dirty="0"/>
              <a:t>https://pan.baidu.com/s/1zlsHF0umfmnHiIE3zWo-4Q </a:t>
            </a:r>
            <a:r>
              <a:rPr lang="zh-CN" altLang="en-US" sz="2800" b="1" dirty="0"/>
              <a:t>提取码：</a:t>
            </a:r>
            <a:r>
              <a:rPr lang="en-US" altLang="zh-CN" sz="2800" b="1" dirty="0"/>
              <a:t>1010 --</a:t>
            </a:r>
            <a:r>
              <a:rPr lang="zh-CN" altLang="en-US" sz="2800" b="1" dirty="0"/>
              <a:t>来自百度网盘超级会员</a:t>
            </a:r>
            <a:r>
              <a:rPr lang="en-US" altLang="zh-CN" sz="2800" b="1" dirty="0"/>
              <a:t>V1</a:t>
            </a:r>
            <a:r>
              <a:rPr lang="zh-CN" altLang="en-US" sz="2800" b="1" dirty="0"/>
              <a:t>的分享</a:t>
            </a:r>
          </a:p>
        </p:txBody>
      </p:sp>
    </p:spTree>
    <p:extLst>
      <p:ext uri="{BB962C8B-B14F-4D97-AF65-F5344CB8AC3E}">
        <p14:creationId xmlns:p14="http://schemas.microsoft.com/office/powerpoint/2010/main" val="16673027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框"/>
          <p:cNvSpPr>
            <a:spLocks noGrp="1"/>
          </p:cNvSpPr>
          <p:nvPr>
            <p:ph type="ctrTitle"/>
          </p:nvPr>
        </p:nvSpPr>
        <p:spPr>
          <a:xfrm>
            <a:off x="1198800" y="914400"/>
            <a:ext cx="9799200" cy="2570400"/>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marL="0" indent="0" algn="ctr">
              <a:lnSpc>
                <a:spcPct val="100000"/>
              </a:lnSpc>
              <a:spcBef>
                <a:spcPts val="0"/>
              </a:spcBef>
              <a:spcAft>
                <a:spcPts val="0"/>
              </a:spcAft>
              <a:buNone/>
            </a:pPr>
            <a:r>
              <a:rPr lang="zh-CN" altLang="en-US" sz="6000" b="1" i="0" u="none" strike="noStrike" kern="1200" cap="none" spc="300" baseline="0" dirty="0">
                <a:solidFill>
                  <a:srgbClr val="262626"/>
                </a:solidFill>
                <a:latin typeface="Arial" charset="0"/>
                <a:ea typeface="微软雅黑" charset="0"/>
                <a:cs typeface="Lucida Sans"/>
              </a:rPr>
              <a:t>机器学习章节重点</a:t>
            </a:r>
          </a:p>
        </p:txBody>
      </p:sp>
      <p:sp>
        <p:nvSpPr>
          <p:cNvPr id="13" name="文本框"/>
          <p:cNvSpPr>
            <a:spLocks noGrp="1"/>
          </p:cNvSpPr>
          <p:nvPr>
            <p:ph type="subTitle" idx="1"/>
          </p:nvPr>
        </p:nvSpPr>
        <p:spPr>
          <a:xfrm>
            <a:off x="3454069" y="4184469"/>
            <a:ext cx="9799202" cy="1472399"/>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pPr marL="0" indent="0" algn="ctr">
              <a:lnSpc>
                <a:spcPct val="110000"/>
              </a:lnSpc>
              <a:spcBef>
                <a:spcPts val="0"/>
              </a:spcBef>
              <a:spcAft>
                <a:spcPts val="1000"/>
              </a:spcAft>
              <a:buNone/>
            </a:pPr>
            <a:r>
              <a:rPr lang="zh-CN" altLang="en-US" sz="2400" b="0" i="0" u="none" strike="noStrike" kern="1200" cap="none" spc="200" baseline="0" dirty="0">
                <a:solidFill>
                  <a:srgbClr val="595959"/>
                </a:solidFill>
                <a:latin typeface="Arial" charset="0"/>
                <a:ea typeface="微软雅黑" charset="0"/>
                <a:cs typeface="Lucida Sans"/>
              </a:rPr>
              <a:t>感谢</a:t>
            </a:r>
            <a:r>
              <a:rPr lang="en-US" altLang="zh-CN" sz="2400" b="0" i="0" u="none" strike="noStrike" kern="1200" cap="none" spc="200" baseline="0" dirty="0">
                <a:solidFill>
                  <a:srgbClr val="595959"/>
                </a:solidFill>
                <a:latin typeface="Arial" charset="0"/>
                <a:ea typeface="微软雅黑" charset="0"/>
                <a:cs typeface="Lucida Sans"/>
              </a:rPr>
              <a:t>2022</a:t>
            </a:r>
            <a:r>
              <a:rPr lang="zh-CN" altLang="en-US" sz="2400" b="0" i="0" u="none" strike="noStrike" kern="1200" cap="none" spc="200" baseline="0" dirty="0">
                <a:solidFill>
                  <a:srgbClr val="595959"/>
                </a:solidFill>
                <a:latin typeface="Arial" charset="0"/>
                <a:ea typeface="微软雅黑" charset="0"/>
                <a:cs typeface="Lucida Sans"/>
              </a:rPr>
              <a:t>级罗帆靖学长提供的资料</a:t>
            </a:r>
          </a:p>
        </p:txBody>
      </p:sp>
      <mc:AlternateContent xmlns:mc="http://schemas.openxmlformats.org/markup-compatibility/2006" xmlns:p14="http://schemas.microsoft.com/office/powerpoint/2010/main">
        <mc:Choice Requires="p14">
          <p:contentPart p14:bwMode="clr" r:id="rId2">
            <p14:nvContentPartPr>
              <p14:cNvPr id="116" name="HONOR Docs"/>
              <p14:cNvContentPartPr>
                <a14:cpLocks xmlns:a14="http://schemas.microsoft.com/office/drawing/2010/main" noSelect="1" noChangeArrowheads="1"/>
              </p14:cNvContentPartPr>
              <p14:nvPr/>
            </p14:nvContentPartPr>
            <p14:xfrm>
              <a:off x="10468407" y="528095"/>
              <a:ext cx="73560" cy="555502"/>
            </p14:xfrm>
          </p:contentPart>
        </mc:Choice>
        <mc:Fallback xmlns=""/>
      </mc:AlternateContent>
      <p:sp>
        <p:nvSpPr>
          <p:cNvPr id="2" name="文本框 1">
            <a:extLst>
              <a:ext uri="{FF2B5EF4-FFF2-40B4-BE49-F238E27FC236}">
                <a16:creationId xmlns:a16="http://schemas.microsoft.com/office/drawing/2014/main" id="{1EC73240-F65C-97FF-D033-B2BA35A7108A}"/>
              </a:ext>
            </a:extLst>
          </p:cNvPr>
          <p:cNvSpPr txBox="1"/>
          <p:nvPr/>
        </p:nvSpPr>
        <p:spPr>
          <a:xfrm>
            <a:off x="8116186" y="5332595"/>
            <a:ext cx="4006488" cy="369332"/>
          </a:xfrm>
          <a:prstGeom prst="rect">
            <a:avLst/>
          </a:prstGeom>
          <a:noFill/>
        </p:spPr>
        <p:txBody>
          <a:bodyPr wrap="square" rtlCol="0">
            <a:spAutoFit/>
          </a:bodyPr>
          <a:lstStyle/>
          <a:p>
            <a:r>
              <a:rPr lang="zh-CN" altLang="en-US" dirty="0"/>
              <a:t>前人栽树，后人乘凉这一块（</a:t>
            </a:r>
            <a:r>
              <a:rPr lang="en-US" altLang="zh-CN" dirty="0"/>
              <a:t>doge)</a:t>
            </a:r>
            <a:endParaRPr lang="zh-CN" altLang="en-US" dirty="0"/>
          </a:p>
        </p:txBody>
      </p:sp>
      <p:sp>
        <p:nvSpPr>
          <p:cNvPr id="4" name="文本框 3">
            <a:extLst>
              <a:ext uri="{FF2B5EF4-FFF2-40B4-BE49-F238E27FC236}">
                <a16:creationId xmlns:a16="http://schemas.microsoft.com/office/drawing/2014/main" id="{ECD00132-5D2E-310B-6EBC-5EB345E89771}"/>
              </a:ext>
            </a:extLst>
          </p:cNvPr>
          <p:cNvSpPr txBox="1"/>
          <p:nvPr/>
        </p:nvSpPr>
        <p:spPr>
          <a:xfrm>
            <a:off x="5745125" y="4828086"/>
            <a:ext cx="6627628" cy="369332"/>
          </a:xfrm>
          <a:prstGeom prst="rect">
            <a:avLst/>
          </a:prstGeom>
          <a:noFill/>
        </p:spPr>
        <p:txBody>
          <a:bodyPr wrap="square">
            <a:spAutoFit/>
          </a:bodyPr>
          <a:lstStyle/>
          <a:p>
            <a:pPr marL="0" indent="0" algn="l">
              <a:lnSpc>
                <a:spcPct val="100000"/>
              </a:lnSpc>
              <a:spcBef>
                <a:spcPts val="0"/>
              </a:spcBef>
              <a:spcAft>
                <a:spcPts val="0"/>
              </a:spcAft>
              <a:buNone/>
            </a:pPr>
            <a:r>
              <a:rPr lang="zh-CN" altLang="en-US" sz="1800" b="0" i="0" u="none" strike="noStrike" kern="1200" cap="none" spc="0" baseline="0" dirty="0">
                <a:solidFill>
                  <a:schemeClr val="tx1"/>
                </a:solidFill>
                <a:latin typeface="Arial" charset="0"/>
                <a:ea typeface="微软雅黑" charset="0"/>
                <a:cs typeface="Arial" charset="0"/>
              </a:rPr>
              <a:t>版权声明：使用了李金阳同学和何静媛老师的串讲</a:t>
            </a:r>
            <a:r>
              <a:rPr lang="en-US" altLang="zh-CN" sz="1800" b="0" i="0" u="none" strike="noStrike" kern="1200" cap="none" spc="0" baseline="0" dirty="0">
                <a:solidFill>
                  <a:schemeClr val="tx1"/>
                </a:solidFill>
                <a:latin typeface="Arial" charset="0"/>
                <a:ea typeface="微软雅黑" charset="0"/>
                <a:cs typeface="Arial" charset="0"/>
              </a:rPr>
              <a:t>PPT</a:t>
            </a:r>
            <a:endParaRPr lang="zh-CN" altLang="en-US" sz="1800" b="0" i="0" u="none" strike="noStrike" kern="1200" cap="none" spc="0" baseline="0" dirty="0">
              <a:solidFill>
                <a:schemeClr val="tx1"/>
              </a:solidFill>
              <a:latin typeface="Arial" charset="0"/>
              <a:ea typeface="微软雅黑" charset="0"/>
              <a:cs typeface="Arial" charset="0"/>
            </a:endParaRPr>
          </a:p>
        </p:txBody>
      </p:sp>
    </p:spTree>
    <p:extLst>
      <p:ext uri="{BB962C8B-B14F-4D97-AF65-F5344CB8AC3E}">
        <p14:creationId xmlns:p14="http://schemas.microsoft.com/office/powerpoint/2010/main" val="19834883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E7B348A7-6821-8F3C-99E4-4716E48BFCF8}"/>
              </a:ext>
            </a:extLst>
          </p:cNvPr>
          <p:cNvSpPr txBox="1"/>
          <p:nvPr/>
        </p:nvSpPr>
        <p:spPr>
          <a:xfrm>
            <a:off x="783264" y="1205022"/>
            <a:ext cx="10334848" cy="1668085"/>
          </a:xfrm>
          <a:prstGeom prst="rect">
            <a:avLst/>
          </a:prstGeom>
          <a:noFill/>
        </p:spPr>
        <p:txBody>
          <a:bodyPr wrap="square" rtlCol="0">
            <a:spAutoFit/>
          </a:bodyPr>
          <a:lstStyle/>
          <a:p>
            <a:pPr>
              <a:lnSpc>
                <a:spcPct val="200000"/>
              </a:lnSpc>
            </a:pPr>
            <a:r>
              <a:rPr lang="zh-CN" altLang="en-US" dirty="0"/>
              <a:t>声明在前：</a:t>
            </a:r>
            <a:r>
              <a:rPr lang="en-US" altLang="zh-CN" dirty="0"/>
              <a:t>ML</a:t>
            </a:r>
            <a:r>
              <a:rPr lang="zh-CN" altLang="en-US" dirty="0"/>
              <a:t>的知识我基本都忘了不少了（抱歉抱歉），但是什么是重点，考到什么难度我还是记得的，我一会迅速带大家过一遍各章重点（有些老师也会带学生过一遍），给大家留出时间</a:t>
            </a:r>
            <a:r>
              <a:rPr lang="en-US" altLang="zh-CN" dirty="0"/>
              <a:t>Q&amp;A</a:t>
            </a:r>
            <a:r>
              <a:rPr lang="zh-CN" altLang="en-US" dirty="0"/>
              <a:t>，大家想问什么知识考不考，考的有多深，随便问！</a:t>
            </a:r>
          </a:p>
        </p:txBody>
      </p:sp>
      <p:sp>
        <p:nvSpPr>
          <p:cNvPr id="3" name="文本框 2">
            <a:extLst>
              <a:ext uri="{FF2B5EF4-FFF2-40B4-BE49-F238E27FC236}">
                <a16:creationId xmlns:a16="http://schemas.microsoft.com/office/drawing/2014/main" id="{AF030C77-3D9F-FFC3-1800-B4C092D47EE1}"/>
              </a:ext>
            </a:extLst>
          </p:cNvPr>
          <p:cNvSpPr txBox="1"/>
          <p:nvPr/>
        </p:nvSpPr>
        <p:spPr>
          <a:xfrm>
            <a:off x="715926" y="3657600"/>
            <a:ext cx="11330601" cy="1670265"/>
          </a:xfrm>
          <a:prstGeom prst="rect">
            <a:avLst/>
          </a:prstGeom>
          <a:noFill/>
        </p:spPr>
        <p:txBody>
          <a:bodyPr wrap="square" rtlCol="0">
            <a:spAutoFit/>
          </a:bodyPr>
          <a:lstStyle/>
          <a:p>
            <a:pPr>
              <a:lnSpc>
                <a:spcPct val="200000"/>
              </a:lnSpc>
            </a:pPr>
            <a:r>
              <a:rPr lang="zh-CN" altLang="en-US" dirty="0"/>
              <a:t>我相信大家学东西都是天赋怪，这个时候</a:t>
            </a:r>
            <a:r>
              <a:rPr lang="en-US" altLang="zh-CN" dirty="0"/>
              <a:t>ML</a:t>
            </a:r>
            <a:r>
              <a:rPr lang="zh-CN" altLang="en-US" dirty="0"/>
              <a:t>肯定比我学的好，但是苦于没有往年题目和复习重点，所以我更多分享考试经验和复习经验，具体知识点我觉得没那么重要</a:t>
            </a:r>
            <a:endParaRPr lang="en-US" altLang="zh-CN" dirty="0"/>
          </a:p>
          <a:p>
            <a:pPr>
              <a:lnSpc>
                <a:spcPct val="200000"/>
              </a:lnSpc>
            </a:pPr>
            <a:r>
              <a:rPr lang="zh-CN" altLang="en-US" dirty="0"/>
              <a:t>所以如果各位同学有需要细讲的知识点，大家现在就提出来，我多讲一些</a:t>
            </a:r>
          </a:p>
        </p:txBody>
      </p:sp>
    </p:spTree>
    <p:extLst>
      <p:ext uri="{BB962C8B-B14F-4D97-AF65-F5344CB8AC3E}">
        <p14:creationId xmlns:p14="http://schemas.microsoft.com/office/powerpoint/2010/main" val="17394961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本框"/>
          <p:cNvSpPr>
            <a:spLocks noGrp="1"/>
          </p:cNvSpPr>
          <p:nvPr>
            <p:ph type="title"/>
          </p:nvPr>
        </p:nvSpPr>
        <p:spPr>
          <a:xfrm>
            <a:off x="608400" y="608400"/>
            <a:ext cx="10969201" cy="705599"/>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marL="0" indent="0" algn="l">
              <a:lnSpc>
                <a:spcPct val="100000"/>
              </a:lnSpc>
              <a:spcBef>
                <a:spcPts val="0"/>
              </a:spcBef>
              <a:spcAft>
                <a:spcPts val="0"/>
              </a:spcAft>
              <a:buNone/>
            </a:pPr>
            <a:r>
              <a:rPr lang="en-US" altLang="zh-CN" sz="3600" b="1" i="0" u="none" strike="noStrike" kern="1200" cap="none" spc="300" baseline="0">
                <a:solidFill>
                  <a:srgbClr val="262626"/>
                </a:solidFill>
                <a:latin typeface="Arial" charset="0"/>
                <a:ea typeface="微软雅黑" charset="0"/>
                <a:cs typeface="Lucida Sans"/>
              </a:rPr>
              <a:t>1. </a:t>
            </a:r>
            <a:r>
              <a:rPr lang="zh-CN" altLang="en-US" sz="3600" b="1" i="0" u="none" strike="noStrike" kern="1200" cap="none" spc="300" baseline="0">
                <a:solidFill>
                  <a:srgbClr val="262626"/>
                </a:solidFill>
                <a:latin typeface="Arial" charset="0"/>
                <a:ea typeface="微软雅黑" charset="0"/>
                <a:cs typeface="Lucida Sans"/>
              </a:rPr>
              <a:t>锐评考试</a:t>
            </a:r>
          </a:p>
        </p:txBody>
      </p:sp>
      <p:sp>
        <p:nvSpPr>
          <p:cNvPr id="19" name="矩形"/>
          <p:cNvSpPr>
            <a:spLocks/>
          </p:cNvSpPr>
          <p:nvPr/>
        </p:nvSpPr>
        <p:spPr>
          <a:xfrm>
            <a:off x="555798" y="1364653"/>
            <a:ext cx="11174169" cy="4821192"/>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285750" indent="-285750" algn="l">
              <a:lnSpc>
                <a:spcPct val="250000"/>
              </a:lnSpc>
              <a:spcBef>
                <a:spcPts val="0"/>
              </a:spcBef>
              <a:spcAft>
                <a:spcPts val="0"/>
              </a:spcAft>
              <a:buFont typeface="Arial" charset="0"/>
              <a:buChar char="•"/>
            </a:pPr>
            <a:r>
              <a:rPr lang="zh-CN" altLang="en-US" sz="1800" b="0" i="0" u="none" strike="noStrike" kern="1200" cap="none" spc="0" baseline="0" dirty="0">
                <a:solidFill>
                  <a:schemeClr val="tx1"/>
                </a:solidFill>
                <a:latin typeface="Arial" charset="0"/>
                <a:ea typeface="微软雅黑" charset="0"/>
                <a:cs typeface="Arial" charset="0"/>
              </a:rPr>
              <a:t>每一章基本上都会涉及，但是只会涉及每一章的基础知识。（对）</a:t>
            </a:r>
            <a:endParaRPr lang="en-US" altLang="zh-CN" sz="1800" b="0" i="0" u="none" strike="noStrike" kern="1200" cap="none" spc="0" baseline="0" dirty="0">
              <a:solidFill>
                <a:schemeClr val="tx1"/>
              </a:solidFill>
              <a:latin typeface="Arial" charset="0"/>
              <a:ea typeface="微软雅黑" charset="0"/>
              <a:cs typeface="Arial" charset="0"/>
            </a:endParaRPr>
          </a:p>
          <a:p>
            <a:pPr algn="l">
              <a:lnSpc>
                <a:spcPct val="250000"/>
              </a:lnSpc>
              <a:spcBef>
                <a:spcPts val="0"/>
              </a:spcBef>
              <a:spcAft>
                <a:spcPts val="0"/>
              </a:spcAft>
            </a:pPr>
            <a:r>
              <a:rPr lang="zh-CN" altLang="en-US" dirty="0">
                <a:latin typeface="Arial" charset="0"/>
                <a:ea typeface="微软雅黑" charset="0"/>
                <a:cs typeface="Arial" charset="0"/>
              </a:rPr>
              <a:t>建议尽快问清楚哪些章节要考哪些章节不考，老师那里问不清楚就去问别的班里的学生</a:t>
            </a:r>
            <a:endParaRPr lang="en-US" altLang="zh-CN" sz="1800" b="0" i="0" u="none" strike="noStrike" kern="1200" cap="none" spc="0" baseline="0" dirty="0">
              <a:solidFill>
                <a:schemeClr val="tx1"/>
              </a:solidFill>
              <a:latin typeface="Arial" charset="0"/>
              <a:ea typeface="微软雅黑" charset="0"/>
              <a:cs typeface="Arial" charset="0"/>
            </a:endParaRPr>
          </a:p>
          <a:p>
            <a:pPr marL="285750" indent="-285750" algn="l">
              <a:lnSpc>
                <a:spcPct val="250000"/>
              </a:lnSpc>
              <a:spcBef>
                <a:spcPts val="0"/>
              </a:spcBef>
              <a:spcAft>
                <a:spcPts val="0"/>
              </a:spcAft>
              <a:buFont typeface="Arial" charset="0"/>
              <a:buChar char="•"/>
            </a:pPr>
            <a:r>
              <a:rPr lang="en-US" altLang="zh-CN" sz="1800" b="0" i="0" u="none" strike="noStrike" kern="1200" cap="none" spc="0" baseline="0" dirty="0">
                <a:solidFill>
                  <a:schemeClr val="tx1"/>
                </a:solidFill>
                <a:latin typeface="Arial" charset="0"/>
                <a:ea typeface="微软雅黑" charset="0"/>
                <a:cs typeface="Arial" charset="0"/>
              </a:rPr>
              <a:t>Fake News</a:t>
            </a:r>
            <a:r>
              <a:rPr lang="zh-CN" altLang="en-US" sz="1800" b="0" i="0" u="none" strike="noStrike" kern="1200" cap="none" spc="0" baseline="0" dirty="0">
                <a:solidFill>
                  <a:schemeClr val="tx1"/>
                </a:solidFill>
                <a:latin typeface="Arial" charset="0"/>
                <a:ea typeface="微软雅黑" charset="0"/>
                <a:cs typeface="Arial" charset="0"/>
              </a:rPr>
              <a:t>：比较简单，半个小时就写完了可能。（罗学长那年是这样的）</a:t>
            </a:r>
            <a:endParaRPr lang="en-US" altLang="zh-CN" sz="1800" b="0" i="0" u="none" strike="noStrike" kern="1200" cap="none" spc="0" baseline="0" dirty="0">
              <a:solidFill>
                <a:schemeClr val="tx1"/>
              </a:solidFill>
              <a:latin typeface="Arial" charset="0"/>
              <a:ea typeface="微软雅黑" charset="0"/>
              <a:cs typeface="Arial" charset="0"/>
            </a:endParaRPr>
          </a:p>
          <a:p>
            <a:pPr algn="l">
              <a:lnSpc>
                <a:spcPct val="250000"/>
              </a:lnSpc>
              <a:spcBef>
                <a:spcPts val="0"/>
              </a:spcBef>
              <a:spcAft>
                <a:spcPts val="0"/>
              </a:spcAft>
            </a:pPr>
            <a:r>
              <a:rPr lang="zh-CN" altLang="en-US" sz="1800" b="0" i="0" u="none" strike="noStrike" kern="1200" cap="none" spc="0" baseline="0" dirty="0">
                <a:solidFill>
                  <a:schemeClr val="tx1"/>
                </a:solidFill>
                <a:latin typeface="Arial" charset="0"/>
                <a:ea typeface="微软雅黑" charset="0"/>
                <a:cs typeface="Arial" charset="0"/>
              </a:rPr>
              <a:t>去年对大多数人并非！ 当然你说你背诵能力超强全记住了那差不多，毕竟</a:t>
            </a:r>
            <a:r>
              <a:rPr lang="en-US" altLang="zh-CN" sz="1800" b="0" i="0" u="none" strike="noStrike" kern="1200" cap="none" spc="0" baseline="0" dirty="0">
                <a:solidFill>
                  <a:schemeClr val="tx1"/>
                </a:solidFill>
                <a:latin typeface="Arial" charset="0"/>
                <a:ea typeface="微软雅黑" charset="0"/>
                <a:cs typeface="Arial" charset="0"/>
              </a:rPr>
              <a:t>CQU</a:t>
            </a:r>
            <a:r>
              <a:rPr lang="zh-CN" altLang="en-US" sz="1800" b="0" i="0" u="none" strike="noStrike" kern="1200" cap="none" spc="0" baseline="0" dirty="0">
                <a:solidFill>
                  <a:schemeClr val="tx1"/>
                </a:solidFill>
                <a:latin typeface="Arial" charset="0"/>
                <a:ea typeface="微软雅黑" charset="0"/>
                <a:cs typeface="Arial" charset="0"/>
              </a:rPr>
              <a:t>的</a:t>
            </a:r>
            <a:r>
              <a:rPr lang="en-US" altLang="zh-CN" sz="1800" b="0" i="0" u="none" strike="noStrike" kern="1200" cap="none" spc="0" baseline="0" dirty="0">
                <a:solidFill>
                  <a:schemeClr val="tx1"/>
                </a:solidFill>
                <a:latin typeface="Arial" charset="0"/>
                <a:ea typeface="微软雅黑" charset="0"/>
                <a:cs typeface="Arial" charset="0"/>
              </a:rPr>
              <a:t>ML</a:t>
            </a:r>
            <a:r>
              <a:rPr lang="zh-CN" altLang="en-US" sz="1800" b="0" i="0" u="none" strike="noStrike" kern="1200" cap="none" spc="0" baseline="0" dirty="0">
                <a:solidFill>
                  <a:schemeClr val="tx1"/>
                </a:solidFill>
                <a:latin typeface="Arial" charset="0"/>
                <a:ea typeface="微软雅黑" charset="0"/>
                <a:cs typeface="Arial" charset="0"/>
              </a:rPr>
              <a:t>考的像语文</a:t>
            </a:r>
            <a:endParaRPr lang="en-US" altLang="zh-CN" sz="1800" b="0" i="0" u="none" strike="noStrike" kern="1200" cap="none" spc="0" baseline="0" dirty="0">
              <a:solidFill>
                <a:schemeClr val="tx1"/>
              </a:solidFill>
              <a:latin typeface="Arial" charset="0"/>
              <a:ea typeface="微软雅黑" charset="0"/>
              <a:cs typeface="Arial" charset="0"/>
            </a:endParaRPr>
          </a:p>
          <a:p>
            <a:pPr marL="285750" indent="-285750" algn="l">
              <a:lnSpc>
                <a:spcPct val="250000"/>
              </a:lnSpc>
              <a:spcBef>
                <a:spcPts val="0"/>
              </a:spcBef>
              <a:spcAft>
                <a:spcPts val="0"/>
              </a:spcAft>
              <a:buFont typeface="Arial" charset="0"/>
              <a:buChar char="•"/>
            </a:pPr>
            <a:r>
              <a:rPr lang="zh-CN" altLang="en-US" sz="1800" b="0" i="0" u="none" strike="noStrike" kern="1200" cap="none" spc="0" baseline="0" dirty="0">
                <a:solidFill>
                  <a:schemeClr val="tx1"/>
                </a:solidFill>
                <a:latin typeface="Arial" charset="0"/>
                <a:ea typeface="微软雅黑" charset="0"/>
                <a:cs typeface="Arial" charset="0"/>
              </a:rPr>
              <a:t>复习三天够了。（</a:t>
            </a:r>
            <a:r>
              <a:rPr lang="en-US" altLang="zh-CN" sz="1800" b="0" i="0" u="none" strike="noStrike" kern="1200" cap="none" spc="0" baseline="0" dirty="0">
                <a:solidFill>
                  <a:schemeClr val="tx1"/>
                </a:solidFill>
                <a:latin typeface="Arial" charset="0"/>
                <a:ea typeface="微软雅黑" charset="0"/>
                <a:cs typeface="Arial" charset="0"/>
              </a:rPr>
              <a:t>obviously not enough)   </a:t>
            </a:r>
            <a:r>
              <a:rPr lang="zh-CN" altLang="en-US" sz="1800" b="0" i="0" u="none" strike="noStrike" kern="1200" cap="none" spc="0" baseline="0" dirty="0">
                <a:solidFill>
                  <a:schemeClr val="tx1"/>
                </a:solidFill>
                <a:latin typeface="Arial" charset="0"/>
                <a:ea typeface="微软雅黑" charset="0"/>
                <a:cs typeface="Arial" charset="0"/>
              </a:rPr>
              <a:t>我个人感觉至少想要稳</a:t>
            </a:r>
            <a:r>
              <a:rPr lang="en-US" altLang="zh-CN" sz="1800" b="0" i="0" u="none" strike="noStrike" kern="1200" cap="none" spc="0" baseline="0" dirty="0">
                <a:solidFill>
                  <a:schemeClr val="tx1"/>
                </a:solidFill>
                <a:latin typeface="Arial" charset="0"/>
                <a:ea typeface="微软雅黑" charset="0"/>
                <a:cs typeface="Arial" charset="0"/>
              </a:rPr>
              <a:t>90+</a:t>
            </a:r>
            <a:r>
              <a:rPr lang="zh-CN" altLang="en-US" sz="1800" b="0" i="0" u="none" strike="noStrike" kern="1200" cap="none" spc="0" baseline="0" dirty="0">
                <a:solidFill>
                  <a:schemeClr val="tx1"/>
                </a:solidFill>
                <a:latin typeface="Arial" charset="0"/>
                <a:ea typeface="微软雅黑" charset="0"/>
                <a:cs typeface="Arial" charset="0"/>
              </a:rPr>
              <a:t>要多花点时间，但是一周也够了</a:t>
            </a:r>
            <a:endParaRPr lang="en-US" altLang="zh-CN" sz="1800" b="0" i="0" u="none" strike="noStrike" kern="1200" cap="none" spc="0" baseline="0" dirty="0">
              <a:solidFill>
                <a:schemeClr val="tx1"/>
              </a:solidFill>
              <a:latin typeface="Arial" charset="0"/>
              <a:ea typeface="微软雅黑" charset="0"/>
              <a:cs typeface="Arial" charset="0"/>
            </a:endParaRPr>
          </a:p>
          <a:p>
            <a:pPr marL="285750" indent="-285750" algn="l">
              <a:lnSpc>
                <a:spcPct val="250000"/>
              </a:lnSpc>
              <a:spcBef>
                <a:spcPts val="0"/>
              </a:spcBef>
              <a:spcAft>
                <a:spcPts val="0"/>
              </a:spcAft>
              <a:buFont typeface="Arial" charset="0"/>
              <a:buChar char="•"/>
            </a:pPr>
            <a:r>
              <a:rPr lang="zh-CN" altLang="en-US" sz="1800" b="0" i="0" u="none" strike="noStrike" kern="1200" cap="none" spc="0" baseline="0" dirty="0">
                <a:solidFill>
                  <a:schemeClr val="tx1"/>
                </a:solidFill>
                <a:latin typeface="Arial" charset="0"/>
                <a:ea typeface="微软雅黑" charset="0"/>
                <a:cs typeface="Arial" charset="0"/>
              </a:rPr>
              <a:t>别入迷西瓜书（大力支持这句话！） （西瓜书里面看不懂的就别看）</a:t>
            </a:r>
            <a:endParaRPr lang="en-US" altLang="zh-CN" sz="1800" b="0" i="0" u="none" strike="noStrike" kern="1200" cap="none" spc="0" baseline="0" dirty="0">
              <a:solidFill>
                <a:schemeClr val="tx1"/>
              </a:solidFill>
              <a:latin typeface="Arial" charset="0"/>
              <a:ea typeface="微软雅黑" charset="0"/>
              <a:cs typeface="Arial" charset="0"/>
            </a:endParaRPr>
          </a:p>
          <a:p>
            <a:pPr algn="l">
              <a:lnSpc>
                <a:spcPct val="250000"/>
              </a:lnSpc>
              <a:spcBef>
                <a:spcPts val="0"/>
              </a:spcBef>
              <a:spcAft>
                <a:spcPts val="0"/>
              </a:spcAft>
            </a:pPr>
            <a:r>
              <a:rPr lang="en-US" altLang="zh-CN" dirty="0">
                <a:latin typeface="Arial" charset="0"/>
                <a:ea typeface="微软雅黑" charset="0"/>
                <a:cs typeface="Arial" charset="0"/>
              </a:rPr>
              <a:t>Quote From </a:t>
            </a:r>
            <a:r>
              <a:rPr lang="zh-CN" altLang="en-US" sz="1800" b="0" i="0" u="none" strike="noStrike" kern="1200" cap="none" spc="0" baseline="0" dirty="0">
                <a:solidFill>
                  <a:schemeClr val="tx1"/>
                </a:solidFill>
                <a:latin typeface="Arial" charset="0"/>
                <a:ea typeface="微软雅黑" charset="0"/>
                <a:cs typeface="Arial" charset="0"/>
              </a:rPr>
              <a:t>我舍友：能完全看懂西瓜书的建议授数学学位</a:t>
            </a:r>
          </a:p>
        </p:txBody>
      </p:sp>
    </p:spTree>
    <p:extLst>
      <p:ext uri="{BB962C8B-B14F-4D97-AF65-F5344CB8AC3E}">
        <p14:creationId xmlns:p14="http://schemas.microsoft.com/office/powerpoint/2010/main" val="12664693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8EE4C9-5D6C-6C80-BB09-FD6F725B3EAC}"/>
            </a:ext>
          </a:extLst>
        </p:cNvPr>
        <p:cNvGrpSpPr/>
        <p:nvPr/>
      </p:nvGrpSpPr>
      <p:grpSpPr>
        <a:xfrm>
          <a:off x="0" y="0"/>
          <a:ext cx="0" cy="0"/>
          <a:chOff x="0" y="0"/>
          <a:chExt cx="0" cy="0"/>
        </a:xfrm>
      </p:grpSpPr>
      <p:sp>
        <p:nvSpPr>
          <p:cNvPr id="18" name="文本框">
            <a:extLst>
              <a:ext uri="{FF2B5EF4-FFF2-40B4-BE49-F238E27FC236}">
                <a16:creationId xmlns:a16="http://schemas.microsoft.com/office/drawing/2014/main" id="{57113AE6-FAB9-649C-D45A-B0C524F45914}"/>
              </a:ext>
            </a:extLst>
          </p:cNvPr>
          <p:cNvSpPr>
            <a:spLocks noGrp="1"/>
          </p:cNvSpPr>
          <p:nvPr>
            <p:ph type="title"/>
          </p:nvPr>
        </p:nvSpPr>
        <p:spPr>
          <a:xfrm>
            <a:off x="608400" y="608400"/>
            <a:ext cx="10969201" cy="705599"/>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marL="0" indent="0" algn="l">
              <a:lnSpc>
                <a:spcPct val="100000"/>
              </a:lnSpc>
              <a:spcBef>
                <a:spcPts val="0"/>
              </a:spcBef>
              <a:spcAft>
                <a:spcPts val="0"/>
              </a:spcAft>
              <a:buNone/>
            </a:pPr>
            <a:r>
              <a:rPr lang="en-US" altLang="zh-CN" sz="3600" b="1" i="0" u="none" strike="noStrike" kern="1200" cap="none" spc="300" baseline="0" dirty="0">
                <a:solidFill>
                  <a:srgbClr val="262626"/>
                </a:solidFill>
                <a:latin typeface="Arial" charset="0"/>
                <a:ea typeface="微软雅黑" charset="0"/>
                <a:cs typeface="Lucida Sans"/>
              </a:rPr>
              <a:t>1. </a:t>
            </a:r>
            <a:r>
              <a:rPr lang="zh-CN" altLang="en-US" sz="3600" b="1" i="0" u="none" strike="noStrike" kern="1200" cap="none" spc="300" baseline="0" dirty="0">
                <a:solidFill>
                  <a:srgbClr val="262626"/>
                </a:solidFill>
                <a:latin typeface="Arial" charset="0"/>
                <a:ea typeface="微软雅黑" charset="0"/>
                <a:cs typeface="Lucida Sans"/>
              </a:rPr>
              <a:t>锐评考试</a:t>
            </a:r>
          </a:p>
        </p:txBody>
      </p:sp>
      <p:sp>
        <p:nvSpPr>
          <p:cNvPr id="19" name="矩形">
            <a:extLst>
              <a:ext uri="{FF2B5EF4-FFF2-40B4-BE49-F238E27FC236}">
                <a16:creationId xmlns:a16="http://schemas.microsoft.com/office/drawing/2014/main" id="{F0C1FB0F-B4FE-3EB6-E243-B50D29569A2F}"/>
              </a:ext>
            </a:extLst>
          </p:cNvPr>
          <p:cNvSpPr>
            <a:spLocks/>
          </p:cNvSpPr>
          <p:nvPr/>
        </p:nvSpPr>
        <p:spPr>
          <a:xfrm>
            <a:off x="555798" y="1364653"/>
            <a:ext cx="11174169" cy="3886320"/>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algn="l">
              <a:lnSpc>
                <a:spcPct val="200000"/>
              </a:lnSpc>
              <a:spcBef>
                <a:spcPts val="0"/>
              </a:spcBef>
              <a:spcAft>
                <a:spcPts val="0"/>
              </a:spcAft>
            </a:pPr>
            <a:r>
              <a:rPr lang="zh-CN" altLang="en-US" dirty="0">
                <a:latin typeface="Arial" charset="0"/>
                <a:ea typeface="微软雅黑" charset="0"/>
                <a:cs typeface="Arial" charset="0"/>
              </a:rPr>
              <a:t>去年</a:t>
            </a:r>
            <a:r>
              <a:rPr lang="zh-CN" altLang="en-US" sz="1800" b="0" i="0" u="none" strike="noStrike" kern="1200" cap="none" spc="0" baseline="0" dirty="0">
                <a:solidFill>
                  <a:schemeClr val="tx1"/>
                </a:solidFill>
                <a:latin typeface="Arial" charset="0"/>
                <a:ea typeface="微软雅黑" charset="0"/>
                <a:cs typeface="Arial" charset="0"/>
              </a:rPr>
              <a:t>考试的新风向：</a:t>
            </a:r>
            <a:endParaRPr lang="en-US" altLang="zh-CN" dirty="0">
              <a:latin typeface="Arial" charset="0"/>
              <a:ea typeface="微软雅黑" charset="0"/>
              <a:cs typeface="Arial" charset="0"/>
            </a:endParaRPr>
          </a:p>
          <a:p>
            <a:pPr algn="l">
              <a:lnSpc>
                <a:spcPct val="200000"/>
              </a:lnSpc>
              <a:spcBef>
                <a:spcPts val="0"/>
              </a:spcBef>
              <a:spcAft>
                <a:spcPts val="0"/>
              </a:spcAft>
            </a:pPr>
            <a:r>
              <a:rPr lang="zh-CN" altLang="en-US" dirty="0">
                <a:latin typeface="Arial" charset="0"/>
                <a:ea typeface="微软雅黑" charset="0"/>
                <a:cs typeface="Arial" charset="0"/>
              </a:rPr>
              <a:t>开始考一些灵活应用，不全是可以从书上背下来就能直接写上去的</a:t>
            </a:r>
            <a:endParaRPr lang="en-US" altLang="zh-CN" dirty="0">
              <a:latin typeface="Arial" charset="0"/>
              <a:ea typeface="微软雅黑" charset="0"/>
              <a:cs typeface="Arial" charset="0"/>
            </a:endParaRPr>
          </a:p>
          <a:p>
            <a:pPr algn="l">
              <a:lnSpc>
                <a:spcPct val="200000"/>
              </a:lnSpc>
              <a:spcBef>
                <a:spcPts val="0"/>
              </a:spcBef>
              <a:spcAft>
                <a:spcPts val="0"/>
              </a:spcAft>
            </a:pPr>
            <a:r>
              <a:rPr lang="zh-CN" altLang="en-US" sz="1800" b="0" i="0" u="none" strike="noStrike" kern="1200" cap="none" spc="0" baseline="0" dirty="0">
                <a:solidFill>
                  <a:schemeClr val="tx1"/>
                </a:solidFill>
                <a:latin typeface="Arial" charset="0"/>
                <a:ea typeface="微软雅黑" charset="0"/>
                <a:cs typeface="Arial" charset="0"/>
              </a:rPr>
              <a:t>出现了模块拼接题目（随机森林）：书本上是没有的，需要把决策树伪代码和随机森林框架拼接在一起（好处是没有唯一的正确答案，对于伪代码细节不用深究）</a:t>
            </a:r>
            <a:endParaRPr lang="en-US" altLang="zh-CN" sz="1800" b="0" i="0" u="none" strike="noStrike" kern="1200" cap="none" spc="0" baseline="0" dirty="0">
              <a:solidFill>
                <a:schemeClr val="tx1"/>
              </a:solidFill>
              <a:latin typeface="Arial" charset="0"/>
              <a:ea typeface="微软雅黑" charset="0"/>
              <a:cs typeface="Arial" charset="0"/>
            </a:endParaRPr>
          </a:p>
          <a:p>
            <a:pPr algn="l">
              <a:lnSpc>
                <a:spcPct val="200000"/>
              </a:lnSpc>
              <a:spcBef>
                <a:spcPts val="0"/>
              </a:spcBef>
              <a:spcAft>
                <a:spcPts val="0"/>
              </a:spcAft>
            </a:pPr>
            <a:r>
              <a:rPr lang="zh-CN" altLang="en-US" dirty="0">
                <a:latin typeface="Arial" charset="0"/>
                <a:ea typeface="微软雅黑" charset="0"/>
                <a:cs typeface="Arial" charset="0"/>
              </a:rPr>
              <a:t>考的不全是大路边上的题目了（比如</a:t>
            </a:r>
            <a:r>
              <a:rPr lang="en-US" altLang="zh-CN" dirty="0" err="1">
                <a:latin typeface="Arial" charset="0"/>
                <a:ea typeface="微软雅黑" charset="0"/>
                <a:cs typeface="Arial" charset="0"/>
              </a:rPr>
              <a:t>agnes</a:t>
            </a:r>
            <a:r>
              <a:rPr lang="zh-CN" altLang="en-US" dirty="0">
                <a:latin typeface="Arial" charset="0"/>
                <a:ea typeface="微软雅黑" charset="0"/>
                <a:cs typeface="Arial" charset="0"/>
              </a:rPr>
              <a:t>聚类算法，位于第</a:t>
            </a:r>
            <a:r>
              <a:rPr lang="en-US" altLang="zh-CN" dirty="0">
                <a:latin typeface="Arial" charset="0"/>
                <a:ea typeface="微软雅黑" charset="0"/>
                <a:cs typeface="Arial" charset="0"/>
              </a:rPr>
              <a:t>9</a:t>
            </a:r>
            <a:r>
              <a:rPr lang="zh-CN" altLang="en-US" dirty="0">
                <a:latin typeface="Arial" charset="0"/>
                <a:ea typeface="微软雅黑" charset="0"/>
                <a:cs typeface="Arial" charset="0"/>
              </a:rPr>
              <a:t>章最后）：当时我们宿舍的人都只背了</a:t>
            </a:r>
            <a:r>
              <a:rPr lang="en-US" altLang="zh-CN" dirty="0" err="1">
                <a:latin typeface="Arial" charset="0"/>
                <a:ea typeface="微软雅黑" charset="0"/>
                <a:cs typeface="Arial" charset="0"/>
              </a:rPr>
              <a:t>Kmeans</a:t>
            </a:r>
            <a:r>
              <a:rPr lang="zh-CN" altLang="en-US" dirty="0">
                <a:latin typeface="Arial" charset="0"/>
                <a:ea typeface="微软雅黑" charset="0"/>
                <a:cs typeface="Arial" charset="0"/>
              </a:rPr>
              <a:t>，我当时在考场上自己边猜边写运气好写对了（大家别学我），一直磨到最后一分钟。如果提前见过或者背过就好了</a:t>
            </a:r>
            <a:endParaRPr lang="en-US" altLang="zh-CN" dirty="0">
              <a:latin typeface="Arial" charset="0"/>
              <a:ea typeface="微软雅黑" charset="0"/>
              <a:cs typeface="Arial" charset="0"/>
            </a:endParaRPr>
          </a:p>
        </p:txBody>
      </p:sp>
      <p:sp>
        <p:nvSpPr>
          <p:cNvPr id="2" name="文本框 1">
            <a:extLst>
              <a:ext uri="{FF2B5EF4-FFF2-40B4-BE49-F238E27FC236}">
                <a16:creationId xmlns:a16="http://schemas.microsoft.com/office/drawing/2014/main" id="{B0C554E1-B826-1785-DFE4-FBA718749B3D}"/>
              </a:ext>
            </a:extLst>
          </p:cNvPr>
          <p:cNvSpPr txBox="1"/>
          <p:nvPr/>
        </p:nvSpPr>
        <p:spPr>
          <a:xfrm>
            <a:off x="555798" y="5493347"/>
            <a:ext cx="10806545" cy="873894"/>
          </a:xfrm>
          <a:prstGeom prst="rect">
            <a:avLst/>
          </a:prstGeom>
          <a:noFill/>
        </p:spPr>
        <p:txBody>
          <a:bodyPr wrap="square" rtlCol="0">
            <a:spAutoFit/>
          </a:bodyPr>
          <a:lstStyle/>
          <a:p>
            <a:pPr>
              <a:lnSpc>
                <a:spcPct val="150000"/>
              </a:lnSpc>
            </a:pPr>
            <a:r>
              <a:rPr lang="zh-CN" altLang="en-US" dirty="0"/>
              <a:t>最低要求是：考试范围内的知识一定要都见过，脑子里大致能够想象出来干了什么，怎么干的，伪代码有哪里会是难写的</a:t>
            </a:r>
          </a:p>
        </p:txBody>
      </p:sp>
    </p:spTree>
    <p:extLst>
      <p:ext uri="{BB962C8B-B14F-4D97-AF65-F5344CB8AC3E}">
        <p14:creationId xmlns:p14="http://schemas.microsoft.com/office/powerpoint/2010/main" val="37796806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 name="图片"/>
          <p:cNvPicPr>
            <a:picLocks noChangeAspect="1"/>
          </p:cNvPicPr>
          <p:nvPr/>
        </p:nvPicPr>
        <p:blipFill>
          <a:blip r:embed="rId2" cstate="print"/>
          <a:srcRect l="8333" r="8333"/>
          <a:stretch>
            <a:fillRect/>
          </a:stretch>
        </p:blipFill>
        <p:spPr>
          <a:xfrm>
            <a:off x="-1" y="-1"/>
            <a:ext cx="12191999" cy="6857999"/>
          </a:xfrm>
          <a:prstGeom prst="rect">
            <a:avLst/>
          </a:prstGeom>
          <a:noFill/>
          <a:ln w="12700" cap="flat" cmpd="sng">
            <a:noFill/>
            <a:prstDash val="solid"/>
            <a:miter/>
          </a:ln>
        </p:spPr>
      </p:pic>
      <p:sp>
        <p:nvSpPr>
          <p:cNvPr id="44" name="矩形"/>
          <p:cNvSpPr>
            <a:spLocks/>
          </p:cNvSpPr>
          <p:nvPr/>
        </p:nvSpPr>
        <p:spPr>
          <a:xfrm>
            <a:off x="0" y="-130235"/>
            <a:ext cx="12192000" cy="6858000"/>
          </a:xfrm>
          <a:prstGeom prst="rect">
            <a:avLst/>
          </a:prstGeom>
          <a:gradFill rotWithShape="1">
            <a:gsLst>
              <a:gs pos="69000">
                <a:srgbClr val="FFFFFF">
                  <a:alpha val="100000"/>
                </a:srgbClr>
              </a:gs>
              <a:gs pos="0">
                <a:srgbClr val="FFFFFF">
                  <a:alpha val="20000"/>
                </a:srgbClr>
              </a:gs>
            </a:gsLst>
            <a:path path="circle">
              <a:fillToRect l="50000" t="50000" r="50000" b="50000"/>
            </a:path>
            <a:tileRect/>
          </a:gradFill>
          <a:ln w="12700" cap="flat" cmpd="sng">
            <a:noFill/>
            <a:prstDash val="solid"/>
            <a:round/>
          </a:ln>
        </p:spPr>
      </p:sp>
      <p:grpSp>
        <p:nvGrpSpPr>
          <p:cNvPr id="47" name="组合"/>
          <p:cNvGrpSpPr>
            <a:grpSpLocks/>
          </p:cNvGrpSpPr>
          <p:nvPr/>
        </p:nvGrpSpPr>
        <p:grpSpPr>
          <a:xfrm>
            <a:off x="597605" y="419986"/>
            <a:ext cx="2241328" cy="446286"/>
            <a:chOff x="597605" y="419986"/>
            <a:chExt cx="2241328" cy="446286"/>
          </a:xfrm>
        </p:grpSpPr>
        <p:sp>
          <p:nvSpPr>
            <p:cNvPr id="45" name="曲线"/>
            <p:cNvSpPr>
              <a:spLocks/>
            </p:cNvSpPr>
            <p:nvPr/>
          </p:nvSpPr>
          <p:spPr>
            <a:xfrm>
              <a:off x="597605" y="419986"/>
              <a:ext cx="446376" cy="446286"/>
            </a:xfrm>
            <a:custGeom>
              <a:avLst/>
              <a:gdLst>
                <a:gd name="T1" fmla="*/ 0 w 21600"/>
                <a:gd name="T2" fmla="*/ 0 h 21600"/>
                <a:gd name="T3" fmla="*/ 21600 w 21600"/>
                <a:gd name="T4" fmla="*/ 21600 h 21600"/>
              </a:gdLst>
              <a:ahLst/>
              <a:cxnLst/>
              <a:rect l="T1" t="T2" r="T3" b="T4"/>
              <a:pathLst>
                <a:path w="21600" h="21600">
                  <a:moveTo>
                    <a:pt x="2161" y="6747"/>
                  </a:moveTo>
                  <a:lnTo>
                    <a:pt x="2161" y="2158"/>
                  </a:lnTo>
                  <a:lnTo>
                    <a:pt x="6751" y="2158"/>
                  </a:lnTo>
                  <a:cubicBezTo>
                    <a:pt x="7122" y="2158"/>
                    <a:pt x="7424" y="1857"/>
                    <a:pt x="7424" y="1484"/>
                  </a:cubicBezTo>
                  <a:lnTo>
                    <a:pt x="7424" y="674"/>
                  </a:lnTo>
                  <a:cubicBezTo>
                    <a:pt x="7424" y="303"/>
                    <a:pt x="7122" y="2"/>
                    <a:pt x="6751" y="2"/>
                  </a:cubicBezTo>
                  <a:lnTo>
                    <a:pt x="520" y="2"/>
                  </a:lnTo>
                  <a:cubicBezTo>
                    <a:pt x="235" y="2"/>
                    <a:pt x="0" y="235"/>
                    <a:pt x="0" y="522"/>
                  </a:cubicBezTo>
                  <a:lnTo>
                    <a:pt x="0" y="6751"/>
                  </a:lnTo>
                  <a:cubicBezTo>
                    <a:pt x="0" y="7124"/>
                    <a:pt x="301" y="7426"/>
                    <a:pt x="674" y="7426"/>
                  </a:cubicBezTo>
                  <a:lnTo>
                    <a:pt x="1484" y="7426"/>
                  </a:lnTo>
                  <a:cubicBezTo>
                    <a:pt x="1859" y="7424"/>
                    <a:pt x="2161" y="7122"/>
                    <a:pt x="2161" y="6747"/>
                  </a:cubicBezTo>
                </a:path>
                <a:path w="21600" h="21600">
                  <a:moveTo>
                    <a:pt x="14850" y="2158"/>
                  </a:moveTo>
                  <a:lnTo>
                    <a:pt x="19441" y="2158"/>
                  </a:lnTo>
                  <a:lnTo>
                    <a:pt x="19441" y="6749"/>
                  </a:lnTo>
                  <a:cubicBezTo>
                    <a:pt x="19441" y="7122"/>
                    <a:pt x="19742" y="7424"/>
                    <a:pt x="20113" y="7424"/>
                  </a:cubicBezTo>
                  <a:lnTo>
                    <a:pt x="20923" y="7424"/>
                  </a:lnTo>
                  <a:cubicBezTo>
                    <a:pt x="21296" y="7424"/>
                    <a:pt x="21597" y="7122"/>
                    <a:pt x="21597" y="6749"/>
                  </a:cubicBezTo>
                  <a:lnTo>
                    <a:pt x="21597" y="520"/>
                  </a:lnTo>
                  <a:cubicBezTo>
                    <a:pt x="21597" y="233"/>
                    <a:pt x="21362" y="0"/>
                    <a:pt x="21077" y="0"/>
                  </a:cubicBezTo>
                  <a:lnTo>
                    <a:pt x="14850" y="0"/>
                  </a:lnTo>
                  <a:cubicBezTo>
                    <a:pt x="14477" y="0"/>
                    <a:pt x="14175" y="301"/>
                    <a:pt x="14175" y="672"/>
                  </a:cubicBezTo>
                  <a:lnTo>
                    <a:pt x="14175" y="1482"/>
                  </a:lnTo>
                  <a:cubicBezTo>
                    <a:pt x="14175" y="1854"/>
                    <a:pt x="14477" y="2158"/>
                    <a:pt x="14850" y="2158"/>
                  </a:cubicBezTo>
                </a:path>
                <a:path w="21600" h="21600">
                  <a:moveTo>
                    <a:pt x="6751" y="19438"/>
                  </a:moveTo>
                  <a:lnTo>
                    <a:pt x="2161" y="19438"/>
                  </a:lnTo>
                  <a:lnTo>
                    <a:pt x="2161" y="14848"/>
                  </a:lnTo>
                  <a:cubicBezTo>
                    <a:pt x="2161" y="14475"/>
                    <a:pt x="1859" y="14173"/>
                    <a:pt x="1486" y="14173"/>
                  </a:cubicBezTo>
                  <a:lnTo>
                    <a:pt x="676" y="14173"/>
                  </a:lnTo>
                  <a:cubicBezTo>
                    <a:pt x="303" y="14173"/>
                    <a:pt x="2" y="14475"/>
                    <a:pt x="2" y="14848"/>
                  </a:cubicBezTo>
                  <a:lnTo>
                    <a:pt x="2" y="21079"/>
                  </a:lnTo>
                  <a:cubicBezTo>
                    <a:pt x="2" y="21364"/>
                    <a:pt x="237" y="21599"/>
                    <a:pt x="522" y="21599"/>
                  </a:cubicBezTo>
                  <a:lnTo>
                    <a:pt x="6753" y="21599"/>
                  </a:lnTo>
                  <a:cubicBezTo>
                    <a:pt x="7126" y="21599"/>
                    <a:pt x="7428" y="21296"/>
                    <a:pt x="7428" y="20925"/>
                  </a:cubicBezTo>
                  <a:lnTo>
                    <a:pt x="7428" y="20115"/>
                  </a:lnTo>
                  <a:cubicBezTo>
                    <a:pt x="7424" y="19740"/>
                    <a:pt x="7122" y="19438"/>
                    <a:pt x="6751" y="19438"/>
                  </a:cubicBezTo>
                </a:path>
                <a:path w="21600" h="21600">
                  <a:moveTo>
                    <a:pt x="19441" y="14848"/>
                  </a:moveTo>
                  <a:lnTo>
                    <a:pt x="19441" y="19438"/>
                  </a:lnTo>
                  <a:lnTo>
                    <a:pt x="14850" y="19438"/>
                  </a:lnTo>
                  <a:cubicBezTo>
                    <a:pt x="14477" y="19438"/>
                    <a:pt x="14175" y="19740"/>
                    <a:pt x="14175" y="20113"/>
                  </a:cubicBezTo>
                  <a:lnTo>
                    <a:pt x="14175" y="20923"/>
                  </a:lnTo>
                  <a:cubicBezTo>
                    <a:pt x="14175" y="21293"/>
                    <a:pt x="14477" y="21595"/>
                    <a:pt x="14850" y="21595"/>
                  </a:cubicBezTo>
                  <a:lnTo>
                    <a:pt x="21079" y="21595"/>
                  </a:lnTo>
                  <a:cubicBezTo>
                    <a:pt x="21366" y="21595"/>
                    <a:pt x="21600" y="21362"/>
                    <a:pt x="21600" y="21075"/>
                  </a:cubicBezTo>
                  <a:lnTo>
                    <a:pt x="21600" y="14848"/>
                  </a:lnTo>
                  <a:cubicBezTo>
                    <a:pt x="21600" y="14475"/>
                    <a:pt x="21298" y="14173"/>
                    <a:pt x="20925" y="14173"/>
                  </a:cubicBezTo>
                  <a:lnTo>
                    <a:pt x="20117" y="14173"/>
                  </a:lnTo>
                  <a:cubicBezTo>
                    <a:pt x="19742" y="14173"/>
                    <a:pt x="19441" y="14475"/>
                    <a:pt x="19441" y="14848"/>
                  </a:cubicBezTo>
                  <a:close/>
                </a:path>
              </a:pathLst>
            </a:custGeom>
            <a:solidFill>
              <a:schemeClr val="accent1"/>
            </a:solidFill>
            <a:ln w="12700" cap="flat" cmpd="sng">
              <a:noFill/>
              <a:prstDash val="solid"/>
              <a:round/>
            </a:ln>
          </p:spPr>
        </p:sp>
        <p:sp>
          <p:nvSpPr>
            <p:cNvPr id="46" name="矩形"/>
            <p:cNvSpPr>
              <a:spLocks/>
            </p:cNvSpPr>
            <p:nvPr/>
          </p:nvSpPr>
          <p:spPr>
            <a:xfrm>
              <a:off x="1183388" y="458463"/>
              <a:ext cx="1655545" cy="358139"/>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zh-CN" altLang="en-US" sz="1800" b="0" i="0" u="none" strike="noStrike" kern="1200" cap="none" spc="0" baseline="0">
                  <a:solidFill>
                    <a:schemeClr val="tx1"/>
                  </a:solidFill>
                  <a:latin typeface="Arial" charset="0"/>
                  <a:ea typeface="微软雅黑" charset="0"/>
                  <a:cs typeface="微软雅黑" charset="0"/>
                  <a:sym typeface="Arial" charset="0"/>
                </a:rPr>
                <a:t>西瓜书</a:t>
              </a:r>
            </a:p>
          </p:txBody>
        </p:sp>
      </p:grpSp>
      <p:sp>
        <p:nvSpPr>
          <p:cNvPr id="48" name="矩形"/>
          <p:cNvSpPr>
            <a:spLocks/>
          </p:cNvSpPr>
          <p:nvPr/>
        </p:nvSpPr>
        <p:spPr>
          <a:xfrm>
            <a:off x="9856269" y="6284124"/>
            <a:ext cx="1828801" cy="368299"/>
          </a:xfrm>
          <a:prstGeom prst="rect">
            <a:avLst/>
          </a:prstGeom>
          <a:noFill/>
          <a:ln w="12700" cap="flat" cmpd="sng">
            <a:noFill/>
            <a:prstDash val="solid"/>
            <a:miter/>
          </a:ln>
        </p:spPr>
      </p:sp>
      <p:grpSp>
        <p:nvGrpSpPr>
          <p:cNvPr id="54" name="组合"/>
          <p:cNvGrpSpPr>
            <a:grpSpLocks/>
          </p:cNvGrpSpPr>
          <p:nvPr/>
        </p:nvGrpSpPr>
        <p:grpSpPr>
          <a:xfrm>
            <a:off x="10076426" y="458463"/>
            <a:ext cx="1608643" cy="250256"/>
            <a:chOff x="10076426" y="458463"/>
            <a:chExt cx="1608643" cy="250256"/>
          </a:xfrm>
        </p:grpSpPr>
        <p:sp>
          <p:nvSpPr>
            <p:cNvPr id="49" name="矩形"/>
            <p:cNvSpPr>
              <a:spLocks/>
            </p:cNvSpPr>
            <p:nvPr/>
          </p:nvSpPr>
          <p:spPr>
            <a:xfrm>
              <a:off x="10076426" y="458463"/>
              <a:ext cx="250255" cy="250256"/>
            </a:xfrm>
            <a:prstGeom prst="rect">
              <a:avLst/>
            </a:prstGeom>
            <a:solidFill>
              <a:srgbClr val="D9D9D9">
                <a:alpha val="60000"/>
              </a:srgbClr>
            </a:solidFill>
            <a:ln w="12700" cap="flat" cmpd="sng">
              <a:noFill/>
              <a:prstDash val="solid"/>
              <a:round/>
            </a:ln>
          </p:spPr>
        </p:sp>
        <p:sp>
          <p:nvSpPr>
            <p:cNvPr id="50" name="矩形"/>
            <p:cNvSpPr>
              <a:spLocks/>
            </p:cNvSpPr>
            <p:nvPr/>
          </p:nvSpPr>
          <p:spPr>
            <a:xfrm>
              <a:off x="10416023" y="458463"/>
              <a:ext cx="250255" cy="250256"/>
            </a:xfrm>
            <a:prstGeom prst="rect">
              <a:avLst/>
            </a:prstGeom>
            <a:solidFill>
              <a:srgbClr val="D9D9D9">
                <a:alpha val="60000"/>
              </a:srgbClr>
            </a:solidFill>
            <a:ln w="12700" cap="flat" cmpd="sng">
              <a:noFill/>
              <a:prstDash val="solid"/>
              <a:round/>
            </a:ln>
          </p:spPr>
        </p:sp>
        <p:sp>
          <p:nvSpPr>
            <p:cNvPr id="51" name="矩形"/>
            <p:cNvSpPr>
              <a:spLocks/>
            </p:cNvSpPr>
            <p:nvPr/>
          </p:nvSpPr>
          <p:spPr>
            <a:xfrm>
              <a:off x="10755621" y="458463"/>
              <a:ext cx="250255" cy="250256"/>
            </a:xfrm>
            <a:prstGeom prst="rect">
              <a:avLst/>
            </a:prstGeom>
            <a:solidFill>
              <a:srgbClr val="D9D9D9">
                <a:alpha val="60000"/>
              </a:srgbClr>
            </a:solidFill>
            <a:ln w="12700" cap="flat" cmpd="sng">
              <a:noFill/>
              <a:prstDash val="solid"/>
              <a:round/>
            </a:ln>
          </p:spPr>
        </p:sp>
        <p:sp>
          <p:nvSpPr>
            <p:cNvPr id="52" name="矩形"/>
            <p:cNvSpPr>
              <a:spLocks/>
            </p:cNvSpPr>
            <p:nvPr/>
          </p:nvSpPr>
          <p:spPr>
            <a:xfrm>
              <a:off x="11095216" y="458463"/>
              <a:ext cx="250255" cy="250256"/>
            </a:xfrm>
            <a:prstGeom prst="rect">
              <a:avLst/>
            </a:prstGeom>
            <a:solidFill>
              <a:srgbClr val="D9D9D9">
                <a:alpha val="60000"/>
              </a:srgbClr>
            </a:solidFill>
            <a:ln w="12700" cap="flat" cmpd="sng">
              <a:noFill/>
              <a:prstDash val="solid"/>
              <a:round/>
            </a:ln>
          </p:spPr>
        </p:sp>
        <p:sp>
          <p:nvSpPr>
            <p:cNvPr id="53" name="矩形"/>
            <p:cNvSpPr>
              <a:spLocks/>
            </p:cNvSpPr>
            <p:nvPr/>
          </p:nvSpPr>
          <p:spPr>
            <a:xfrm>
              <a:off x="11434814" y="458463"/>
              <a:ext cx="250255" cy="250256"/>
            </a:xfrm>
            <a:prstGeom prst="rect">
              <a:avLst/>
            </a:prstGeom>
            <a:solidFill>
              <a:srgbClr val="D9D9D9">
                <a:alpha val="60000"/>
              </a:srgbClr>
            </a:solidFill>
            <a:ln w="12700" cap="flat" cmpd="sng">
              <a:noFill/>
              <a:prstDash val="solid"/>
              <a:round/>
            </a:ln>
          </p:spPr>
        </p:sp>
      </p:grpSp>
      <p:sp>
        <p:nvSpPr>
          <p:cNvPr id="55" name="矩形"/>
          <p:cNvSpPr>
            <a:spLocks/>
          </p:cNvSpPr>
          <p:nvPr/>
        </p:nvSpPr>
        <p:spPr>
          <a:xfrm>
            <a:off x="1318259" y="929640"/>
            <a:ext cx="5617210" cy="5158740"/>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zh-CN" altLang="en-US" sz="1800" b="0" i="0" u="none" strike="noStrike" kern="1200" cap="none" spc="0" baseline="0">
                <a:solidFill>
                  <a:schemeClr val="tx1"/>
                </a:solidFill>
                <a:latin typeface="Arial" charset="0"/>
                <a:ea typeface="微软雅黑" charset="0"/>
                <a:cs typeface="Arial" charset="0"/>
              </a:rPr>
              <a:t>西瓜书的目录：</a:t>
            </a:r>
            <a:endParaRPr lang="en-US" altLang="zh-CN" sz="1800" b="0" i="0" u="none" strike="noStrike" kern="1200" cap="none" spc="0" baseline="0">
              <a:solidFill>
                <a:schemeClr val="tx1"/>
              </a:solidFill>
              <a:latin typeface="Arial" charset="0"/>
              <a:ea typeface="微软雅黑" charset="0"/>
              <a:cs typeface="Arial" charset="0"/>
            </a:endParaRPr>
          </a:p>
          <a:p>
            <a:pPr marL="0" indent="0" algn="l">
              <a:lnSpc>
                <a:spcPct val="100000"/>
              </a:lnSpc>
              <a:spcBef>
                <a:spcPts val="0"/>
              </a:spcBef>
              <a:spcAft>
                <a:spcPts val="0"/>
              </a:spcAft>
              <a:buNone/>
            </a:pPr>
            <a:endParaRPr lang="en-US" altLang="zh-CN" sz="1800" b="0" i="0" u="none" strike="noStrike" kern="1200" cap="none" spc="0" baseline="0">
              <a:solidFill>
                <a:schemeClr val="tx1"/>
              </a:solidFill>
              <a:latin typeface="Arial" charset="0"/>
              <a:ea typeface="微软雅黑" charset="0"/>
              <a:cs typeface="Arial" charset="0"/>
            </a:endParaRPr>
          </a:p>
          <a:p>
            <a:pPr marL="0" indent="0" algn="l">
              <a:lnSpc>
                <a:spcPct val="100000"/>
              </a:lnSpc>
              <a:spcBef>
                <a:spcPts val="0"/>
              </a:spcBef>
              <a:spcAft>
                <a:spcPts val="0"/>
              </a:spcAft>
              <a:buNone/>
            </a:pPr>
            <a:r>
              <a:rPr lang="en-US" altLang="zh-CN" sz="1800" b="0" i="0" u="none" strike="noStrike" kern="1200" cap="none" spc="0" baseline="0">
                <a:solidFill>
                  <a:schemeClr val="tx1"/>
                </a:solidFill>
                <a:latin typeface="Arial" charset="0"/>
                <a:ea typeface="微软雅黑" charset="0"/>
                <a:cs typeface="Arial" charset="0"/>
              </a:rPr>
              <a:t>1.</a:t>
            </a:r>
            <a:r>
              <a:rPr lang="zh-CN" altLang="en-US" sz="1800" b="0" i="0" u="none" strike="noStrike" kern="1200" cap="none" spc="0" baseline="0">
                <a:solidFill>
                  <a:schemeClr val="tx1"/>
                </a:solidFill>
                <a:latin typeface="Arial" charset="0"/>
                <a:ea typeface="微软雅黑" charset="0"/>
                <a:cs typeface="Arial" charset="0"/>
              </a:rPr>
              <a:t>绪论</a:t>
            </a:r>
            <a:endParaRPr lang="en-US" altLang="zh-CN" sz="1800" b="0" i="0" u="none" strike="noStrike" kern="1200" cap="none" spc="0" baseline="0">
              <a:solidFill>
                <a:schemeClr val="tx1"/>
              </a:solidFill>
              <a:latin typeface="Arial" charset="0"/>
              <a:ea typeface="微软雅黑" charset="0"/>
              <a:cs typeface="Arial" charset="0"/>
            </a:endParaRPr>
          </a:p>
          <a:p>
            <a:pPr marL="0" indent="0" algn="l">
              <a:lnSpc>
                <a:spcPct val="100000"/>
              </a:lnSpc>
              <a:spcBef>
                <a:spcPts val="0"/>
              </a:spcBef>
              <a:spcAft>
                <a:spcPts val="0"/>
              </a:spcAft>
              <a:buNone/>
            </a:pPr>
            <a:endParaRPr lang="en-US" altLang="zh-CN" sz="1800" b="0" i="0" u="none" strike="noStrike" kern="1200" cap="none" spc="0" baseline="0">
              <a:solidFill>
                <a:schemeClr val="tx1"/>
              </a:solidFill>
              <a:latin typeface="Arial" charset="0"/>
              <a:ea typeface="微软雅黑" charset="0"/>
              <a:cs typeface="Arial" charset="0"/>
            </a:endParaRPr>
          </a:p>
          <a:p>
            <a:pPr marL="0" indent="0" algn="l">
              <a:lnSpc>
                <a:spcPct val="100000"/>
              </a:lnSpc>
              <a:spcBef>
                <a:spcPts val="0"/>
              </a:spcBef>
              <a:spcAft>
                <a:spcPts val="0"/>
              </a:spcAft>
              <a:buNone/>
            </a:pPr>
            <a:r>
              <a:rPr lang="en-US" altLang="zh-CN" sz="1800" b="0" i="0" u="none" strike="noStrike" kern="1200" cap="none" spc="0" baseline="0">
                <a:solidFill>
                  <a:schemeClr val="tx1"/>
                </a:solidFill>
                <a:latin typeface="Arial" charset="0"/>
                <a:ea typeface="微软雅黑" charset="0"/>
                <a:cs typeface="Arial" charset="0"/>
              </a:rPr>
              <a:t>2.</a:t>
            </a:r>
            <a:r>
              <a:rPr lang="zh-CN" altLang="en-US" sz="1800" b="0" i="0" u="none" strike="noStrike" kern="1200" cap="none" spc="0" baseline="0">
                <a:solidFill>
                  <a:schemeClr val="tx1"/>
                </a:solidFill>
                <a:latin typeface="Arial" charset="0"/>
                <a:ea typeface="微软雅黑" charset="0"/>
                <a:cs typeface="Arial" charset="0"/>
              </a:rPr>
              <a:t>模型评估与选择</a:t>
            </a:r>
            <a:endParaRPr lang="en-US" altLang="zh-CN" sz="1800" b="0" i="0" u="none" strike="noStrike" kern="1200" cap="none" spc="0" baseline="0">
              <a:solidFill>
                <a:schemeClr val="tx1"/>
              </a:solidFill>
              <a:latin typeface="Arial" charset="0"/>
              <a:ea typeface="微软雅黑" charset="0"/>
              <a:cs typeface="Arial" charset="0"/>
            </a:endParaRPr>
          </a:p>
          <a:p>
            <a:pPr marL="0" indent="0" algn="l">
              <a:lnSpc>
                <a:spcPct val="100000"/>
              </a:lnSpc>
              <a:spcBef>
                <a:spcPts val="0"/>
              </a:spcBef>
              <a:spcAft>
                <a:spcPts val="0"/>
              </a:spcAft>
              <a:buNone/>
            </a:pPr>
            <a:endParaRPr lang="en-US" altLang="zh-CN" sz="1800" b="0" i="0" u="none" strike="noStrike" kern="1200" cap="none" spc="0" baseline="0">
              <a:solidFill>
                <a:schemeClr val="tx1"/>
              </a:solidFill>
              <a:latin typeface="Arial" charset="0"/>
              <a:ea typeface="微软雅黑" charset="0"/>
              <a:cs typeface="Arial" charset="0"/>
            </a:endParaRPr>
          </a:p>
          <a:p>
            <a:pPr marL="0" indent="0" algn="l">
              <a:lnSpc>
                <a:spcPct val="100000"/>
              </a:lnSpc>
              <a:spcBef>
                <a:spcPts val="0"/>
              </a:spcBef>
              <a:spcAft>
                <a:spcPts val="0"/>
              </a:spcAft>
              <a:buNone/>
            </a:pPr>
            <a:r>
              <a:rPr lang="en-US" altLang="zh-CN" sz="1800" b="0" i="0" u="none" strike="noStrike" kern="1200" cap="none" spc="0" baseline="0">
                <a:solidFill>
                  <a:schemeClr val="tx1"/>
                </a:solidFill>
                <a:latin typeface="Arial" charset="0"/>
                <a:ea typeface="微软雅黑" charset="0"/>
                <a:cs typeface="Arial" charset="0"/>
              </a:rPr>
              <a:t>3.</a:t>
            </a:r>
            <a:r>
              <a:rPr lang="zh-CN" altLang="en-US" sz="1800" b="0" i="0" u="none" strike="noStrike" kern="1200" cap="none" spc="0" baseline="0">
                <a:solidFill>
                  <a:schemeClr val="tx1"/>
                </a:solidFill>
                <a:latin typeface="Arial" charset="0"/>
                <a:ea typeface="微软雅黑" charset="0"/>
                <a:cs typeface="Arial" charset="0"/>
              </a:rPr>
              <a:t>线性模型</a:t>
            </a:r>
            <a:endParaRPr lang="en-US" altLang="zh-CN" sz="1800" b="0" i="0" u="none" strike="noStrike" kern="1200" cap="none" spc="0" baseline="0">
              <a:solidFill>
                <a:schemeClr val="tx1"/>
              </a:solidFill>
              <a:latin typeface="Arial" charset="0"/>
              <a:ea typeface="微软雅黑" charset="0"/>
              <a:cs typeface="Arial" charset="0"/>
            </a:endParaRPr>
          </a:p>
          <a:p>
            <a:pPr marL="0" indent="0" algn="l">
              <a:lnSpc>
                <a:spcPct val="100000"/>
              </a:lnSpc>
              <a:spcBef>
                <a:spcPts val="0"/>
              </a:spcBef>
              <a:spcAft>
                <a:spcPts val="0"/>
              </a:spcAft>
              <a:buNone/>
            </a:pPr>
            <a:endParaRPr lang="en-US" altLang="zh-CN" sz="1800" b="0" i="0" u="none" strike="noStrike" kern="1200" cap="none" spc="0" baseline="0">
              <a:solidFill>
                <a:schemeClr val="tx1"/>
              </a:solidFill>
              <a:latin typeface="Arial" charset="0"/>
              <a:ea typeface="微软雅黑" charset="0"/>
              <a:cs typeface="Arial" charset="0"/>
            </a:endParaRPr>
          </a:p>
          <a:p>
            <a:pPr marL="0" indent="0" algn="l">
              <a:lnSpc>
                <a:spcPct val="100000"/>
              </a:lnSpc>
              <a:spcBef>
                <a:spcPts val="0"/>
              </a:spcBef>
              <a:spcAft>
                <a:spcPts val="0"/>
              </a:spcAft>
              <a:buNone/>
            </a:pPr>
            <a:r>
              <a:rPr lang="en-US" altLang="zh-CN" sz="1800" b="0" i="0" u="none" strike="noStrike" kern="1200" cap="none" spc="0" baseline="0">
                <a:solidFill>
                  <a:schemeClr val="tx1"/>
                </a:solidFill>
                <a:latin typeface="Arial" charset="0"/>
                <a:ea typeface="微软雅黑" charset="0"/>
                <a:cs typeface="Arial" charset="0"/>
              </a:rPr>
              <a:t>4.</a:t>
            </a:r>
            <a:r>
              <a:rPr lang="zh-CN" altLang="en-US" sz="1800" b="0" i="0" u="none" strike="noStrike" kern="1200" cap="none" spc="0" baseline="0">
                <a:solidFill>
                  <a:schemeClr val="tx1"/>
                </a:solidFill>
                <a:latin typeface="Arial" charset="0"/>
                <a:ea typeface="微软雅黑" charset="0"/>
                <a:cs typeface="Arial" charset="0"/>
              </a:rPr>
              <a:t>决策树</a:t>
            </a:r>
            <a:endParaRPr lang="en-US" altLang="zh-CN" sz="1800" b="0" i="0" u="none" strike="noStrike" kern="1200" cap="none" spc="0" baseline="0">
              <a:solidFill>
                <a:schemeClr val="tx1"/>
              </a:solidFill>
              <a:latin typeface="Arial" charset="0"/>
              <a:ea typeface="微软雅黑" charset="0"/>
              <a:cs typeface="Arial" charset="0"/>
            </a:endParaRPr>
          </a:p>
          <a:p>
            <a:pPr marL="0" indent="0" algn="l">
              <a:lnSpc>
                <a:spcPct val="100000"/>
              </a:lnSpc>
              <a:spcBef>
                <a:spcPts val="0"/>
              </a:spcBef>
              <a:spcAft>
                <a:spcPts val="0"/>
              </a:spcAft>
              <a:buNone/>
            </a:pPr>
            <a:endParaRPr lang="en-US" altLang="zh-CN" sz="1800" b="0" i="0" u="none" strike="noStrike" kern="1200" cap="none" spc="0" baseline="0">
              <a:solidFill>
                <a:schemeClr val="tx1"/>
              </a:solidFill>
              <a:latin typeface="Arial" charset="0"/>
              <a:ea typeface="微软雅黑" charset="0"/>
              <a:cs typeface="Arial" charset="0"/>
            </a:endParaRPr>
          </a:p>
          <a:p>
            <a:pPr marL="0" indent="0" algn="l">
              <a:lnSpc>
                <a:spcPct val="100000"/>
              </a:lnSpc>
              <a:spcBef>
                <a:spcPts val="0"/>
              </a:spcBef>
              <a:spcAft>
                <a:spcPts val="0"/>
              </a:spcAft>
              <a:buNone/>
            </a:pPr>
            <a:r>
              <a:rPr lang="en-US" altLang="zh-CN" sz="1800" b="0" i="0" u="none" strike="noStrike" kern="1200" cap="none" spc="0" baseline="0">
                <a:solidFill>
                  <a:schemeClr val="tx1"/>
                </a:solidFill>
                <a:latin typeface="Arial" charset="0"/>
                <a:ea typeface="微软雅黑" charset="0"/>
                <a:cs typeface="Arial" charset="0"/>
              </a:rPr>
              <a:t>5.</a:t>
            </a:r>
            <a:r>
              <a:rPr lang="zh-CN" altLang="en-US" sz="1800" b="0" i="0" u="none" strike="noStrike" kern="1200" cap="none" spc="0" baseline="0">
                <a:solidFill>
                  <a:schemeClr val="tx1"/>
                </a:solidFill>
                <a:latin typeface="Arial" charset="0"/>
                <a:ea typeface="微软雅黑" charset="0"/>
                <a:cs typeface="Arial" charset="0"/>
              </a:rPr>
              <a:t>神经网络</a:t>
            </a:r>
            <a:endParaRPr lang="en-US" altLang="zh-CN" sz="1800" b="0" i="0" u="none" strike="noStrike" kern="1200" cap="none" spc="0" baseline="0">
              <a:solidFill>
                <a:schemeClr val="tx1"/>
              </a:solidFill>
              <a:latin typeface="Arial" charset="0"/>
              <a:ea typeface="微软雅黑" charset="0"/>
              <a:cs typeface="Arial" charset="0"/>
            </a:endParaRPr>
          </a:p>
          <a:p>
            <a:pPr marL="0" indent="0" algn="l">
              <a:lnSpc>
                <a:spcPct val="100000"/>
              </a:lnSpc>
              <a:spcBef>
                <a:spcPts val="0"/>
              </a:spcBef>
              <a:spcAft>
                <a:spcPts val="0"/>
              </a:spcAft>
              <a:buNone/>
            </a:pPr>
            <a:endParaRPr lang="en-US" altLang="zh-CN" sz="1800" b="0" i="0" u="none" strike="noStrike" kern="1200" cap="none" spc="0" baseline="0">
              <a:solidFill>
                <a:schemeClr val="tx1"/>
              </a:solidFill>
              <a:latin typeface="Arial" charset="0"/>
              <a:ea typeface="微软雅黑" charset="0"/>
              <a:cs typeface="Arial" charset="0"/>
            </a:endParaRPr>
          </a:p>
          <a:p>
            <a:pPr marL="0" indent="0" algn="l">
              <a:lnSpc>
                <a:spcPct val="100000"/>
              </a:lnSpc>
              <a:spcBef>
                <a:spcPts val="0"/>
              </a:spcBef>
              <a:spcAft>
                <a:spcPts val="0"/>
              </a:spcAft>
              <a:buNone/>
            </a:pPr>
            <a:r>
              <a:rPr lang="en-US" altLang="zh-CN" sz="1800" b="0" i="0" u="none" strike="noStrike" kern="1200" cap="none" spc="0" baseline="0">
                <a:solidFill>
                  <a:schemeClr val="tx1"/>
                </a:solidFill>
                <a:latin typeface="Arial" charset="0"/>
                <a:ea typeface="微软雅黑" charset="0"/>
                <a:cs typeface="Arial" charset="0"/>
              </a:rPr>
              <a:t>6.</a:t>
            </a:r>
            <a:r>
              <a:rPr lang="zh-CN" altLang="en-US" sz="1800" b="0" i="0" u="none" strike="noStrike" kern="1200" cap="none" spc="0" baseline="0">
                <a:solidFill>
                  <a:schemeClr val="tx1"/>
                </a:solidFill>
                <a:latin typeface="Arial" charset="0"/>
                <a:ea typeface="微软雅黑" charset="0"/>
                <a:cs typeface="Arial" charset="0"/>
              </a:rPr>
              <a:t>支持向量机</a:t>
            </a:r>
            <a:endParaRPr lang="en-US" altLang="zh-CN" sz="1800" b="0" i="0" u="none" strike="noStrike" kern="1200" cap="none" spc="0" baseline="0">
              <a:solidFill>
                <a:schemeClr val="tx1"/>
              </a:solidFill>
              <a:latin typeface="Arial" charset="0"/>
              <a:ea typeface="微软雅黑" charset="0"/>
              <a:cs typeface="Arial" charset="0"/>
            </a:endParaRPr>
          </a:p>
          <a:p>
            <a:pPr marL="0" indent="0" algn="l">
              <a:lnSpc>
                <a:spcPct val="100000"/>
              </a:lnSpc>
              <a:spcBef>
                <a:spcPts val="0"/>
              </a:spcBef>
              <a:spcAft>
                <a:spcPts val="0"/>
              </a:spcAft>
              <a:buNone/>
            </a:pPr>
            <a:endParaRPr lang="en-US" altLang="zh-CN" sz="1800" b="0" i="0" u="none" strike="noStrike" kern="1200" cap="none" spc="0" baseline="0">
              <a:solidFill>
                <a:schemeClr val="tx1"/>
              </a:solidFill>
              <a:latin typeface="Arial" charset="0"/>
              <a:ea typeface="微软雅黑" charset="0"/>
              <a:cs typeface="Arial" charset="0"/>
            </a:endParaRPr>
          </a:p>
          <a:p>
            <a:pPr marL="0" indent="0" algn="l">
              <a:lnSpc>
                <a:spcPct val="100000"/>
              </a:lnSpc>
              <a:spcBef>
                <a:spcPts val="0"/>
              </a:spcBef>
              <a:spcAft>
                <a:spcPts val="0"/>
              </a:spcAft>
              <a:buNone/>
            </a:pPr>
            <a:r>
              <a:rPr lang="en-US" altLang="zh-CN" sz="1800" b="0" i="0" u="none" strike="noStrike" kern="1200" cap="none" spc="0" baseline="0">
                <a:solidFill>
                  <a:schemeClr val="tx1"/>
                </a:solidFill>
                <a:latin typeface="Arial" charset="0"/>
                <a:ea typeface="微软雅黑" charset="0"/>
                <a:cs typeface="Arial" charset="0"/>
              </a:rPr>
              <a:t>7.</a:t>
            </a:r>
            <a:r>
              <a:rPr lang="zh-CN" altLang="en-US" sz="1800" b="0" i="0" u="none" strike="noStrike" kern="1200" cap="none" spc="0" baseline="0">
                <a:solidFill>
                  <a:schemeClr val="tx1"/>
                </a:solidFill>
                <a:latin typeface="Arial" charset="0"/>
                <a:ea typeface="微软雅黑" charset="0"/>
                <a:cs typeface="Arial" charset="0"/>
              </a:rPr>
              <a:t>贝叶斯分类器</a:t>
            </a:r>
            <a:endParaRPr lang="en-US" altLang="zh-CN" sz="1800" b="0" i="0" u="none" strike="noStrike" kern="1200" cap="none" spc="0" baseline="0">
              <a:solidFill>
                <a:schemeClr val="tx1"/>
              </a:solidFill>
              <a:latin typeface="Arial" charset="0"/>
              <a:ea typeface="微软雅黑" charset="0"/>
              <a:cs typeface="Arial" charset="0"/>
            </a:endParaRPr>
          </a:p>
          <a:p>
            <a:pPr marL="0" indent="0" algn="l">
              <a:lnSpc>
                <a:spcPct val="100000"/>
              </a:lnSpc>
              <a:spcBef>
                <a:spcPts val="0"/>
              </a:spcBef>
              <a:spcAft>
                <a:spcPts val="0"/>
              </a:spcAft>
              <a:buNone/>
            </a:pPr>
            <a:endParaRPr lang="en-US" altLang="zh-CN" sz="1800" b="0" i="0" u="none" strike="noStrike" kern="1200" cap="none" spc="0" baseline="0">
              <a:solidFill>
                <a:schemeClr val="tx1"/>
              </a:solidFill>
              <a:latin typeface="Arial" charset="0"/>
              <a:ea typeface="微软雅黑" charset="0"/>
              <a:cs typeface="Arial" charset="0"/>
            </a:endParaRPr>
          </a:p>
          <a:p>
            <a:pPr marL="0" indent="0" algn="l">
              <a:lnSpc>
                <a:spcPct val="100000"/>
              </a:lnSpc>
              <a:spcBef>
                <a:spcPts val="0"/>
              </a:spcBef>
              <a:spcAft>
                <a:spcPts val="0"/>
              </a:spcAft>
              <a:buNone/>
            </a:pPr>
            <a:r>
              <a:rPr lang="en-US" altLang="zh-CN" sz="1800" b="0" i="0" u="none" strike="noStrike" kern="1200" cap="none" spc="0" baseline="0">
                <a:solidFill>
                  <a:schemeClr val="tx1"/>
                </a:solidFill>
                <a:latin typeface="Arial" charset="0"/>
                <a:ea typeface="微软雅黑" charset="0"/>
                <a:cs typeface="Arial" charset="0"/>
              </a:rPr>
              <a:t>8.</a:t>
            </a:r>
            <a:r>
              <a:rPr lang="zh-CN" altLang="en-US" sz="1800" b="0" i="0" u="none" strike="noStrike" kern="1200" cap="none" spc="0" baseline="0">
                <a:solidFill>
                  <a:schemeClr val="tx1"/>
                </a:solidFill>
                <a:latin typeface="Arial" charset="0"/>
                <a:ea typeface="微软雅黑" charset="0"/>
                <a:cs typeface="Arial" charset="0"/>
              </a:rPr>
              <a:t>集成学习</a:t>
            </a:r>
            <a:endParaRPr lang="en-US" altLang="zh-CN" sz="1800" b="0" i="0" u="none" strike="noStrike" kern="1200" cap="none" spc="0" baseline="0">
              <a:solidFill>
                <a:schemeClr val="tx1"/>
              </a:solidFill>
              <a:latin typeface="Arial" charset="0"/>
              <a:ea typeface="微软雅黑" charset="0"/>
              <a:cs typeface="Arial" charset="0"/>
            </a:endParaRPr>
          </a:p>
          <a:p>
            <a:pPr marL="0" indent="0" algn="l">
              <a:lnSpc>
                <a:spcPct val="100000"/>
              </a:lnSpc>
              <a:spcBef>
                <a:spcPts val="0"/>
              </a:spcBef>
              <a:spcAft>
                <a:spcPts val="0"/>
              </a:spcAft>
              <a:buNone/>
            </a:pPr>
            <a:endParaRPr lang="en-US" altLang="zh-CN" sz="1800" b="0" i="0" u="none" strike="noStrike" kern="1200" cap="none" spc="0" baseline="0">
              <a:solidFill>
                <a:schemeClr val="tx1"/>
              </a:solidFill>
              <a:latin typeface="Arial" charset="0"/>
              <a:ea typeface="微软雅黑" charset="0"/>
              <a:cs typeface="Arial" charset="0"/>
            </a:endParaRPr>
          </a:p>
          <a:p>
            <a:pPr marL="0" indent="0" algn="l">
              <a:lnSpc>
                <a:spcPct val="100000"/>
              </a:lnSpc>
              <a:spcBef>
                <a:spcPts val="0"/>
              </a:spcBef>
              <a:spcAft>
                <a:spcPts val="0"/>
              </a:spcAft>
              <a:buNone/>
            </a:pPr>
            <a:r>
              <a:rPr lang="en-US" altLang="zh-CN" sz="1800" b="0" i="0" u="none" strike="noStrike" kern="1200" cap="none" spc="0" baseline="0">
                <a:solidFill>
                  <a:schemeClr val="tx1"/>
                </a:solidFill>
                <a:latin typeface="Arial" charset="0"/>
                <a:ea typeface="微软雅黑" charset="0"/>
                <a:cs typeface="Arial" charset="0"/>
              </a:rPr>
              <a:t>9.</a:t>
            </a:r>
            <a:r>
              <a:rPr lang="zh-CN" altLang="en-US" sz="1800" b="0" i="0" u="none" strike="noStrike" kern="1200" cap="none" spc="0" baseline="0">
                <a:solidFill>
                  <a:schemeClr val="tx1"/>
                </a:solidFill>
                <a:latin typeface="Arial" charset="0"/>
                <a:ea typeface="微软雅黑" charset="0"/>
                <a:cs typeface="Arial" charset="0"/>
              </a:rPr>
              <a:t>聚类</a:t>
            </a:r>
          </a:p>
        </p:txBody>
      </p:sp>
      <p:sp>
        <p:nvSpPr>
          <p:cNvPr id="56" name="矩形"/>
          <p:cNvSpPr>
            <a:spLocks/>
          </p:cNvSpPr>
          <p:nvPr/>
        </p:nvSpPr>
        <p:spPr>
          <a:xfrm>
            <a:off x="6691630" y="1501140"/>
            <a:ext cx="4063999" cy="923330"/>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en-US" altLang="zh-CN" sz="1800" b="0" i="0" u="none" strike="noStrike" kern="1200" cap="none" spc="0" baseline="0" dirty="0">
                <a:solidFill>
                  <a:schemeClr val="tx1"/>
                </a:solidFill>
                <a:latin typeface="Arial" charset="0"/>
                <a:ea typeface="微软雅黑" charset="0"/>
                <a:cs typeface="Arial" charset="0"/>
              </a:rPr>
              <a:t>10.</a:t>
            </a:r>
            <a:r>
              <a:rPr lang="zh-CN" altLang="en-US" sz="1800" b="0" i="0" u="none" strike="noStrike" kern="1200" cap="none" spc="0" baseline="0" dirty="0">
                <a:solidFill>
                  <a:schemeClr val="tx1"/>
                </a:solidFill>
                <a:latin typeface="Arial" charset="0"/>
                <a:ea typeface="微软雅黑" charset="0"/>
                <a:cs typeface="Arial" charset="0"/>
              </a:rPr>
              <a:t>降维与度量学习（我们那年没考）</a:t>
            </a:r>
            <a:endParaRPr lang="en-US" altLang="zh-CN" sz="1800" b="0" i="0" u="none" strike="noStrike" kern="1200" cap="none" spc="0" baseline="0" dirty="0">
              <a:solidFill>
                <a:schemeClr val="tx1"/>
              </a:solidFill>
              <a:latin typeface="Arial" charset="0"/>
              <a:ea typeface="微软雅黑" charset="0"/>
              <a:cs typeface="Arial" charset="0"/>
            </a:endParaRPr>
          </a:p>
          <a:p>
            <a:pPr marL="0" indent="0" algn="l">
              <a:lnSpc>
                <a:spcPct val="100000"/>
              </a:lnSpc>
              <a:spcBef>
                <a:spcPts val="0"/>
              </a:spcBef>
              <a:spcAft>
                <a:spcPts val="0"/>
              </a:spcAft>
              <a:buNone/>
            </a:pPr>
            <a:endParaRPr lang="en-US" altLang="zh-CN" sz="1800" b="0" i="0" u="none" strike="noStrike" kern="1200" cap="none" spc="0" baseline="0" dirty="0">
              <a:solidFill>
                <a:schemeClr val="tx1"/>
              </a:solidFill>
              <a:latin typeface="Arial" charset="0"/>
              <a:ea typeface="微软雅黑" charset="0"/>
              <a:cs typeface="Arial" charset="0"/>
            </a:endParaRPr>
          </a:p>
          <a:p>
            <a:pPr marL="0" indent="0" algn="l">
              <a:lnSpc>
                <a:spcPct val="100000"/>
              </a:lnSpc>
              <a:spcBef>
                <a:spcPts val="0"/>
              </a:spcBef>
              <a:spcAft>
                <a:spcPts val="0"/>
              </a:spcAft>
              <a:buNone/>
            </a:pPr>
            <a:endParaRPr lang="zh-CN" altLang="en-US" sz="1800" b="0" i="0" u="none" strike="noStrike" kern="1200" cap="none" spc="0" baseline="0" dirty="0">
              <a:solidFill>
                <a:schemeClr val="tx1"/>
              </a:solidFill>
              <a:latin typeface="Arial" charset="0"/>
              <a:ea typeface="微软雅黑" charset="0"/>
              <a:cs typeface="Arial" charset="0"/>
            </a:endParaRPr>
          </a:p>
        </p:txBody>
      </p:sp>
      <p:sp>
        <p:nvSpPr>
          <p:cNvPr id="2" name="文本框 1">
            <a:extLst>
              <a:ext uri="{FF2B5EF4-FFF2-40B4-BE49-F238E27FC236}">
                <a16:creationId xmlns:a16="http://schemas.microsoft.com/office/drawing/2014/main" id="{2D9A66EB-C919-10D3-D552-0FBD59B1487B}"/>
              </a:ext>
            </a:extLst>
          </p:cNvPr>
          <p:cNvSpPr txBox="1"/>
          <p:nvPr/>
        </p:nvSpPr>
        <p:spPr>
          <a:xfrm>
            <a:off x="6336733" y="2192810"/>
            <a:ext cx="4329545" cy="873894"/>
          </a:xfrm>
          <a:prstGeom prst="rect">
            <a:avLst/>
          </a:prstGeom>
          <a:noFill/>
        </p:spPr>
        <p:txBody>
          <a:bodyPr wrap="square" rtlCol="0">
            <a:spAutoFit/>
          </a:bodyPr>
          <a:lstStyle/>
          <a:p>
            <a:pPr>
              <a:lnSpc>
                <a:spcPct val="150000"/>
              </a:lnSpc>
            </a:pPr>
            <a:r>
              <a:rPr lang="zh-CN" altLang="en-US" dirty="0"/>
              <a:t>考试前一定一定问清楚考试范围是哪些！！选择大于努力！</a:t>
            </a:r>
          </a:p>
        </p:txBody>
      </p:sp>
    </p:spTree>
    <p:extLst>
      <p:ext uri="{BB962C8B-B14F-4D97-AF65-F5344CB8AC3E}">
        <p14:creationId xmlns:p14="http://schemas.microsoft.com/office/powerpoint/2010/main" val="1226159531"/>
      </p:ext>
    </p:extLst>
  </p:cSld>
  <p:clrMapOvr>
    <a:masterClrMapping/>
  </p:clrMapOvr>
  <p:transition spd="slow" advClick="0" advTm="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47"/>
                                        </p:tgtEl>
                                        <p:attrNameLst>
                                          <p:attrName>style.visibility</p:attrName>
                                        </p:attrNameLst>
                                      </p:cBhvr>
                                      <p:to>
                                        <p:strVal val="visible"/>
                                      </p:to>
                                    </p:set>
                                    <p:animEffect transition="in" filter="wipe(up)">
                                      <p:cBhvr>
                                        <p:cTn id="7" dur="500"/>
                                        <p:tgtEl>
                                          <p:spTgt spid="47"/>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54"/>
                                        </p:tgtEl>
                                        <p:attrNameLst>
                                          <p:attrName>style.visibility</p:attrName>
                                        </p:attrNameLst>
                                      </p:cBhvr>
                                      <p:to>
                                        <p:strVal val="visible"/>
                                      </p:to>
                                    </p:set>
                                    <p:animEffect transition="in" filter="wipe(up)">
                                      <p:cBhvr>
                                        <p:cTn id="11" dur="500"/>
                                        <p:tgtEl>
                                          <p:spTgt spid="54"/>
                                        </p:tgtEl>
                                      </p:cBhvr>
                                    </p:animEffect>
                                  </p:childTnLst>
                                </p:cTn>
                              </p:par>
                            </p:childTnLst>
                          </p:cTn>
                        </p:par>
                        <p:par>
                          <p:cTn id="12" fill="hold" nodeType="withGroup">
                            <p:stCondLst>
                              <p:cond delay="1000"/>
                            </p:stCondLst>
                            <p:childTnLst>
                              <p:par>
                                <p:cTn id="13" presetID="42" presetClass="entr" presetSubtype="0" fill="hold" grpId="0" nodeType="afterEffect">
                                  <p:stCondLst>
                                    <p:cond delay="0"/>
                                  </p:stCondLst>
                                  <p:childTnLst>
                                    <p:set>
                                      <p:cBhvr>
                                        <p:cTn id="14" dur="1" fill="hold">
                                          <p:stCondLst>
                                            <p:cond delay="0"/>
                                          </p:stCondLst>
                                        </p:cTn>
                                        <p:tgtEl>
                                          <p:spTgt spid="48"/>
                                        </p:tgtEl>
                                        <p:attrNameLst>
                                          <p:attrName>style.visibility</p:attrName>
                                        </p:attrNameLst>
                                      </p:cBhvr>
                                      <p:to>
                                        <p:strVal val="visible"/>
                                      </p:to>
                                    </p:set>
                                    <p:animEffect transition="in" filter="fade">
                                      <p:cBhvr>
                                        <p:cTn id="15" dur="1000"/>
                                        <p:tgtEl>
                                          <p:spTgt spid="48"/>
                                        </p:tgtEl>
                                      </p:cBhvr>
                                    </p:animEffect>
                                    <p:anim calcmode="lin" valueType="num">
                                      <p:cBhvr>
                                        <p:cTn id="16" dur="1000" fill="hold"/>
                                        <p:tgtEl>
                                          <p:spTgt spid="48"/>
                                        </p:tgtEl>
                                        <p:attrNameLst>
                                          <p:attrName>ppt_x</p:attrName>
                                        </p:attrNameLst>
                                      </p:cBhvr>
                                      <p:tavLst>
                                        <p:tav tm="0">
                                          <p:val>
                                            <p:strVal val="#ppt_x"/>
                                          </p:val>
                                        </p:tav>
                                        <p:tav tm="100000">
                                          <p:val>
                                            <p:strVal val="#ppt_x"/>
                                          </p:val>
                                        </p:tav>
                                      </p:tavLst>
                                    </p:anim>
                                    <p:anim calcmode="lin" valueType="num">
                                      <p:cBhvr>
                                        <p:cTn id="17" dur="1000" fill="hold"/>
                                        <p:tgtEl>
                                          <p:spTgt spid="4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animBg="1"/>
      <p:bldP spid="48" grpId="0" animBg="1"/>
      <p:bldP spid="54"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D04172-4C99-13A5-5FF7-7CC0A9E10AED}"/>
            </a:ext>
          </a:extLst>
        </p:cNvPr>
        <p:cNvGrpSpPr/>
        <p:nvPr/>
      </p:nvGrpSpPr>
      <p:grpSpPr>
        <a:xfrm>
          <a:off x="0" y="0"/>
          <a:ext cx="0" cy="0"/>
          <a:chOff x="0" y="0"/>
          <a:chExt cx="0" cy="0"/>
        </a:xfrm>
      </p:grpSpPr>
      <p:sp>
        <p:nvSpPr>
          <p:cNvPr id="18" name="文本框">
            <a:extLst>
              <a:ext uri="{FF2B5EF4-FFF2-40B4-BE49-F238E27FC236}">
                <a16:creationId xmlns:a16="http://schemas.microsoft.com/office/drawing/2014/main" id="{2C703C9D-FECC-C5BE-4755-B3E19307A675}"/>
              </a:ext>
            </a:extLst>
          </p:cNvPr>
          <p:cNvSpPr>
            <a:spLocks noGrp="1"/>
          </p:cNvSpPr>
          <p:nvPr>
            <p:ph type="title"/>
          </p:nvPr>
        </p:nvSpPr>
        <p:spPr>
          <a:xfrm>
            <a:off x="608400" y="608400"/>
            <a:ext cx="10969201" cy="705599"/>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marL="0" indent="0" algn="l">
              <a:lnSpc>
                <a:spcPct val="100000"/>
              </a:lnSpc>
              <a:spcBef>
                <a:spcPts val="0"/>
              </a:spcBef>
              <a:spcAft>
                <a:spcPts val="0"/>
              </a:spcAft>
              <a:buNone/>
            </a:pPr>
            <a:r>
              <a:rPr lang="zh-CN" altLang="en-US" dirty="0">
                <a:cs typeface="Lucida Sans"/>
              </a:rPr>
              <a:t>我理解的考与不考</a:t>
            </a:r>
            <a:endParaRPr lang="zh-CN" altLang="en-US" sz="3600" b="1" i="0" u="none" strike="noStrike" kern="1200" cap="none" spc="300" baseline="0" dirty="0">
              <a:solidFill>
                <a:srgbClr val="262626"/>
              </a:solidFill>
              <a:latin typeface="Arial" charset="0"/>
              <a:ea typeface="微软雅黑" charset="0"/>
              <a:cs typeface="Lucida Sans"/>
            </a:endParaRPr>
          </a:p>
        </p:txBody>
      </p:sp>
      <p:sp>
        <p:nvSpPr>
          <p:cNvPr id="2" name="文本框 1">
            <a:extLst>
              <a:ext uri="{FF2B5EF4-FFF2-40B4-BE49-F238E27FC236}">
                <a16:creationId xmlns:a16="http://schemas.microsoft.com/office/drawing/2014/main" id="{CC613BC3-7608-211F-5823-165947900A03}"/>
              </a:ext>
            </a:extLst>
          </p:cNvPr>
          <p:cNvSpPr txBox="1"/>
          <p:nvPr/>
        </p:nvSpPr>
        <p:spPr>
          <a:xfrm>
            <a:off x="471054" y="1551708"/>
            <a:ext cx="10023763" cy="4197880"/>
          </a:xfrm>
          <a:prstGeom prst="rect">
            <a:avLst/>
          </a:prstGeom>
          <a:noFill/>
        </p:spPr>
        <p:txBody>
          <a:bodyPr wrap="square" rtlCol="0">
            <a:spAutoFit/>
          </a:bodyPr>
          <a:lstStyle/>
          <a:p>
            <a:pPr>
              <a:lnSpc>
                <a:spcPct val="150000"/>
              </a:lnSpc>
            </a:pPr>
            <a:r>
              <a:rPr lang="zh-CN" altLang="en-US" dirty="0"/>
              <a:t>（免责声明）以下分析均为我个人一家之言，我不为其产生的一切后果负责：</a:t>
            </a:r>
            <a:endParaRPr lang="en-US" altLang="zh-CN" dirty="0"/>
          </a:p>
          <a:p>
            <a:pPr>
              <a:lnSpc>
                <a:spcPct val="150000"/>
              </a:lnSpc>
            </a:pPr>
            <a:endParaRPr lang="en-US" altLang="zh-CN" dirty="0"/>
          </a:p>
          <a:p>
            <a:pPr>
              <a:lnSpc>
                <a:spcPct val="150000"/>
              </a:lnSpc>
            </a:pPr>
            <a:r>
              <a:rPr lang="en-US" altLang="zh-CN" dirty="0"/>
              <a:t>CQU</a:t>
            </a:r>
            <a:r>
              <a:rPr lang="zh-CN" altLang="en-US" dirty="0"/>
              <a:t>考</a:t>
            </a:r>
            <a:r>
              <a:rPr lang="en-US" altLang="zh-CN" dirty="0"/>
              <a:t>ML</a:t>
            </a:r>
            <a:r>
              <a:rPr lang="zh-CN" altLang="en-US" dirty="0"/>
              <a:t>偏文科，不求你考场上灵光乍现，只求你博闻强志（背书好）</a:t>
            </a:r>
            <a:endParaRPr lang="en-US" altLang="zh-CN" dirty="0"/>
          </a:p>
          <a:p>
            <a:pPr marL="285750" indent="-285750">
              <a:lnSpc>
                <a:spcPct val="150000"/>
              </a:lnSpc>
              <a:buFont typeface="Arial" panose="020B0604020202020204" pitchFamily="34" charset="0"/>
              <a:buChar char="•"/>
            </a:pPr>
            <a:r>
              <a:rPr lang="zh-CN" altLang="en-US" dirty="0"/>
              <a:t>复杂的证明和推导极大概率不考</a:t>
            </a:r>
            <a:endParaRPr lang="en-US" altLang="zh-CN" dirty="0"/>
          </a:p>
          <a:p>
            <a:pPr marL="285750" indent="-285750">
              <a:lnSpc>
                <a:spcPct val="150000"/>
              </a:lnSpc>
              <a:buFont typeface="Arial" panose="020B0604020202020204" pitchFamily="34" charset="0"/>
              <a:buChar char="•"/>
            </a:pPr>
            <a:r>
              <a:rPr lang="zh-CN" altLang="en-US" dirty="0"/>
              <a:t>复杂的公式极大概率不考</a:t>
            </a:r>
            <a:endParaRPr lang="en-US" altLang="zh-CN" dirty="0"/>
          </a:p>
          <a:p>
            <a:pPr marL="285750" indent="-285750">
              <a:lnSpc>
                <a:spcPct val="150000"/>
              </a:lnSpc>
              <a:buFont typeface="Arial" panose="020B0604020202020204" pitchFamily="34" charset="0"/>
              <a:buChar char="•"/>
            </a:pPr>
            <a:r>
              <a:rPr lang="zh-CN" altLang="en-US" dirty="0"/>
              <a:t>能看懂的公式和结论都至少要有印象</a:t>
            </a:r>
            <a:endParaRPr lang="en-US" altLang="zh-CN" dirty="0"/>
          </a:p>
          <a:p>
            <a:pPr marL="285750" indent="-285750">
              <a:lnSpc>
                <a:spcPct val="150000"/>
              </a:lnSpc>
              <a:buFont typeface="Arial" panose="020B0604020202020204" pitchFamily="34" charset="0"/>
              <a:buChar char="•"/>
            </a:pPr>
            <a:r>
              <a:rPr lang="zh-CN" altLang="en-US" dirty="0"/>
              <a:t>凡是听过名字的公式，结论，概念必须非常熟悉，能够背课文</a:t>
            </a:r>
            <a:endParaRPr lang="en-US" altLang="zh-CN" dirty="0"/>
          </a:p>
          <a:p>
            <a:pPr>
              <a:lnSpc>
                <a:spcPct val="150000"/>
              </a:lnSpc>
            </a:pPr>
            <a:endParaRPr lang="en-US" altLang="zh-CN" dirty="0"/>
          </a:p>
          <a:p>
            <a:pPr>
              <a:lnSpc>
                <a:spcPct val="150000"/>
              </a:lnSpc>
            </a:pPr>
            <a:r>
              <a:rPr lang="zh-CN" altLang="en-US" dirty="0"/>
              <a:t>什么是复杂？</a:t>
            </a:r>
            <a:endParaRPr lang="en-US" altLang="zh-CN" dirty="0"/>
          </a:p>
          <a:p>
            <a:pPr>
              <a:lnSpc>
                <a:spcPct val="150000"/>
              </a:lnSpc>
            </a:pPr>
            <a:r>
              <a:rPr lang="en-US" altLang="zh-CN" dirty="0"/>
              <a:t>      </a:t>
            </a:r>
            <a:r>
              <a:rPr lang="zh-CN" altLang="en-US" dirty="0"/>
              <a:t>很简单，你一看就头大，不想读下去，难以理解的就是复杂的（比如</a:t>
            </a:r>
            <a:r>
              <a:rPr lang="en-US" altLang="zh-CN" dirty="0"/>
              <a:t>SVM</a:t>
            </a:r>
            <a:r>
              <a:rPr lang="zh-CN" altLang="en-US" dirty="0"/>
              <a:t>里面有很多这种公式）</a:t>
            </a:r>
          </a:p>
        </p:txBody>
      </p:sp>
      <p:sp>
        <p:nvSpPr>
          <p:cNvPr id="3" name="文本框 2">
            <a:extLst>
              <a:ext uri="{FF2B5EF4-FFF2-40B4-BE49-F238E27FC236}">
                <a16:creationId xmlns:a16="http://schemas.microsoft.com/office/drawing/2014/main" id="{A9663254-321D-6A06-21DE-46679573AA56}"/>
              </a:ext>
            </a:extLst>
          </p:cNvPr>
          <p:cNvSpPr txBox="1"/>
          <p:nvPr/>
        </p:nvSpPr>
        <p:spPr>
          <a:xfrm>
            <a:off x="471054" y="6064934"/>
            <a:ext cx="10023763" cy="369332"/>
          </a:xfrm>
          <a:prstGeom prst="rect">
            <a:avLst/>
          </a:prstGeom>
          <a:noFill/>
        </p:spPr>
        <p:txBody>
          <a:bodyPr wrap="square" rtlCol="0">
            <a:spAutoFit/>
          </a:bodyPr>
          <a:lstStyle/>
          <a:p>
            <a:r>
              <a:rPr lang="zh-CN" altLang="en-US" b="1" dirty="0">
                <a:solidFill>
                  <a:srgbClr val="FF0000"/>
                </a:solidFill>
              </a:rPr>
              <a:t>但是，</a:t>
            </a:r>
            <a:r>
              <a:rPr lang="en-US" altLang="zh-CN" b="1" dirty="0">
                <a:solidFill>
                  <a:srgbClr val="FF0000"/>
                </a:solidFill>
              </a:rPr>
              <a:t>Anything is Possible</a:t>
            </a:r>
            <a:r>
              <a:rPr lang="zh-CN" altLang="en-US" b="1" dirty="0">
                <a:solidFill>
                  <a:srgbClr val="FF0000"/>
                </a:solidFill>
              </a:rPr>
              <a:t>！一切都说不准</a:t>
            </a:r>
          </a:p>
        </p:txBody>
      </p:sp>
    </p:spTree>
    <p:extLst>
      <p:ext uri="{BB962C8B-B14F-4D97-AF65-F5344CB8AC3E}">
        <p14:creationId xmlns:p14="http://schemas.microsoft.com/office/powerpoint/2010/main" val="10691740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矩形"/>
          <p:cNvSpPr>
            <a:spLocks/>
          </p:cNvSpPr>
          <p:nvPr/>
        </p:nvSpPr>
        <p:spPr>
          <a:xfrm>
            <a:off x="3308984" y="1697355"/>
            <a:ext cx="6096000" cy="1091564"/>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en-US" altLang="zh-CN" sz="6600" b="0" i="0" u="none" strike="noStrike" kern="1200" cap="none" spc="0" baseline="0">
                <a:solidFill>
                  <a:schemeClr val="tx1"/>
                </a:solidFill>
                <a:latin typeface="Arial" charset="0"/>
                <a:ea typeface="微软雅黑" charset="0"/>
                <a:cs typeface="Arial" charset="0"/>
                <a:sym typeface="微软雅黑" charset="0"/>
              </a:rPr>
              <a:t>1.</a:t>
            </a:r>
            <a:r>
              <a:rPr lang="zh-CN" altLang="en-US" sz="6600" b="0" i="0" u="none" strike="noStrike" kern="1200" cap="none" spc="0" baseline="0">
                <a:solidFill>
                  <a:schemeClr val="tx1"/>
                </a:solidFill>
                <a:latin typeface="Arial" charset="0"/>
                <a:ea typeface="微软雅黑" charset="0"/>
                <a:cs typeface="Arial" charset="0"/>
                <a:sym typeface="微软雅黑" charset="0"/>
              </a:rPr>
              <a:t>绪论</a:t>
            </a:r>
          </a:p>
        </p:txBody>
      </p:sp>
    </p:spTree>
    <p:extLst>
      <p:ext uri="{BB962C8B-B14F-4D97-AF65-F5344CB8AC3E}">
        <p14:creationId xmlns:p14="http://schemas.microsoft.com/office/powerpoint/2010/main" val="850825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8" name="图片"/>
          <p:cNvPicPr>
            <a:picLocks noChangeAspect="1"/>
          </p:cNvPicPr>
          <p:nvPr/>
        </p:nvPicPr>
        <p:blipFill>
          <a:blip r:embed="rId2" cstate="print"/>
          <a:stretch>
            <a:fillRect/>
          </a:stretch>
        </p:blipFill>
        <p:spPr>
          <a:xfrm>
            <a:off x="293014" y="101723"/>
            <a:ext cx="8375833" cy="6460922"/>
          </a:xfrm>
          <a:prstGeom prst="rect">
            <a:avLst/>
          </a:prstGeom>
          <a:noFill/>
          <a:ln w="12700" cap="flat" cmpd="sng">
            <a:noFill/>
            <a:prstDash val="solid"/>
            <a:miter/>
          </a:ln>
        </p:spPr>
      </p:pic>
      <p:sp>
        <p:nvSpPr>
          <p:cNvPr id="59" name="矩形"/>
          <p:cNvSpPr>
            <a:spLocks/>
          </p:cNvSpPr>
          <p:nvPr/>
        </p:nvSpPr>
        <p:spPr>
          <a:xfrm>
            <a:off x="2585373" y="4667769"/>
            <a:ext cx="4063999" cy="645160"/>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zh-CN" altLang="en-US" sz="1800" b="0" i="0" u="none" strike="noStrike" kern="1200" cap="none" spc="0" baseline="0" dirty="0">
                <a:solidFill>
                  <a:schemeClr val="tx1"/>
                </a:solidFill>
                <a:latin typeface="Arial" charset="0"/>
                <a:ea typeface="微软雅黑" charset="0"/>
                <a:cs typeface="Arial" charset="0"/>
              </a:rPr>
              <a:t>分别有哪些算法</a:t>
            </a:r>
            <a:r>
              <a:rPr lang="en-US" altLang="zh-CN" sz="1800" b="0" i="0" u="none" strike="noStrike" kern="1200" cap="none" spc="0" baseline="0" dirty="0">
                <a:solidFill>
                  <a:schemeClr val="tx1"/>
                </a:solidFill>
                <a:latin typeface="Arial" charset="0"/>
                <a:ea typeface="微软雅黑" charset="0"/>
                <a:cs typeface="Arial" charset="0"/>
              </a:rPr>
              <a:t>?</a:t>
            </a:r>
          </a:p>
          <a:p>
            <a:pPr marL="0" indent="0" algn="l">
              <a:lnSpc>
                <a:spcPct val="100000"/>
              </a:lnSpc>
              <a:spcBef>
                <a:spcPts val="0"/>
              </a:spcBef>
              <a:spcAft>
                <a:spcPts val="0"/>
              </a:spcAft>
              <a:buNone/>
            </a:pPr>
            <a:endParaRPr lang="zh-CN" altLang="en-US" sz="1800" b="0" i="0" u="none" strike="noStrike" kern="1200" cap="none" spc="0" baseline="0" dirty="0">
              <a:solidFill>
                <a:schemeClr val="tx1"/>
              </a:solidFill>
              <a:latin typeface="Arial" charset="0"/>
              <a:ea typeface="微软雅黑" charset="0"/>
              <a:cs typeface="Arial" charset="0"/>
            </a:endParaRPr>
          </a:p>
        </p:txBody>
      </p:sp>
      <p:sp>
        <p:nvSpPr>
          <p:cNvPr id="3" name="文本框 2">
            <a:extLst>
              <a:ext uri="{FF2B5EF4-FFF2-40B4-BE49-F238E27FC236}">
                <a16:creationId xmlns:a16="http://schemas.microsoft.com/office/drawing/2014/main" id="{3DDDC38D-0EA8-67F4-1C0B-AD980F0A2684}"/>
              </a:ext>
            </a:extLst>
          </p:cNvPr>
          <p:cNvSpPr txBox="1"/>
          <p:nvPr/>
        </p:nvSpPr>
        <p:spPr>
          <a:xfrm>
            <a:off x="8796951" y="1464024"/>
            <a:ext cx="2993267" cy="1704954"/>
          </a:xfrm>
          <a:prstGeom prst="rect">
            <a:avLst/>
          </a:prstGeom>
          <a:noFill/>
        </p:spPr>
        <p:txBody>
          <a:bodyPr wrap="square">
            <a:spAutoFit/>
          </a:bodyPr>
          <a:lstStyle/>
          <a:p>
            <a:pPr marL="0" indent="0" algn="l">
              <a:lnSpc>
                <a:spcPct val="150000"/>
              </a:lnSpc>
              <a:spcBef>
                <a:spcPts val="0"/>
              </a:spcBef>
              <a:spcAft>
                <a:spcPts val="0"/>
              </a:spcAft>
              <a:buNone/>
            </a:pPr>
            <a:r>
              <a:rPr lang="zh-CN" altLang="en-US" sz="1800" b="0" i="0" u="none" strike="noStrike" kern="1200" cap="none" spc="0" baseline="0" dirty="0">
                <a:solidFill>
                  <a:schemeClr val="tx1"/>
                </a:solidFill>
                <a:latin typeface="Arial" charset="0"/>
                <a:ea typeface="微软雅黑" charset="0"/>
                <a:cs typeface="Arial" charset="0"/>
                <a:sym typeface="微软雅黑" charset="0"/>
              </a:rPr>
              <a:t>建议：想拿高分，第一章，从头到尾仔细看一遍西瓜书（一定是看书，</a:t>
            </a:r>
            <a:r>
              <a:rPr lang="en-US" altLang="zh-CN" sz="1800" b="0" i="0" u="none" strike="noStrike" kern="1200" cap="none" spc="0" baseline="0" dirty="0">
                <a:solidFill>
                  <a:schemeClr val="tx1"/>
                </a:solidFill>
                <a:latin typeface="Arial" charset="0"/>
                <a:ea typeface="微软雅黑" charset="0"/>
                <a:cs typeface="Arial" charset="0"/>
                <a:sym typeface="微软雅黑" charset="0"/>
              </a:rPr>
              <a:t>PPT</a:t>
            </a:r>
            <a:r>
              <a:rPr lang="zh-CN" altLang="en-US" sz="1800" b="0" i="0" u="none" strike="noStrike" kern="1200" cap="none" spc="0" baseline="0" dirty="0">
                <a:solidFill>
                  <a:schemeClr val="tx1"/>
                </a:solidFill>
                <a:latin typeface="Arial" charset="0"/>
                <a:ea typeface="微软雅黑" charset="0"/>
                <a:cs typeface="Arial" charset="0"/>
                <a:sym typeface="微软雅黑" charset="0"/>
              </a:rPr>
              <a:t>有些东西太简略）</a:t>
            </a:r>
          </a:p>
        </p:txBody>
      </p:sp>
      <p:sp>
        <p:nvSpPr>
          <p:cNvPr id="63" name="矩形"/>
          <p:cNvSpPr>
            <a:spLocks/>
          </p:cNvSpPr>
          <p:nvPr/>
        </p:nvSpPr>
        <p:spPr>
          <a:xfrm>
            <a:off x="5131896" y="4990349"/>
            <a:ext cx="7073901" cy="3139321"/>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285750" indent="-285750" algn="l">
              <a:lnSpc>
                <a:spcPct val="150000"/>
              </a:lnSpc>
              <a:spcBef>
                <a:spcPts val="0"/>
              </a:spcBef>
              <a:spcAft>
                <a:spcPts val="0"/>
              </a:spcAft>
              <a:buFont typeface="Arial" charset="0"/>
              <a:buChar char="•"/>
            </a:pPr>
            <a:r>
              <a:rPr lang="zh-CN" altLang="en-US" sz="1800" b="1" i="0" u="none" strike="noStrike" kern="1200" cap="none" spc="0" baseline="0" dirty="0">
                <a:solidFill>
                  <a:schemeClr val="tx1"/>
                </a:solidFill>
                <a:latin typeface="Arial" charset="0"/>
                <a:ea typeface="微软雅黑" charset="0"/>
                <a:cs typeface="Arial" charset="0"/>
              </a:rPr>
              <a:t>🌟：注意几个空间：假设空间、版本空间、样本空间、属性空间</a:t>
            </a:r>
            <a:endParaRPr lang="en-US" altLang="zh-CN" sz="1800" b="1" i="0" u="none" strike="noStrike" kern="1200" cap="none" spc="0" baseline="0" dirty="0">
              <a:solidFill>
                <a:schemeClr val="tx1"/>
              </a:solidFill>
              <a:latin typeface="Arial" charset="0"/>
              <a:ea typeface="微软雅黑" charset="0"/>
              <a:cs typeface="Arial" charset="0"/>
            </a:endParaRPr>
          </a:p>
          <a:p>
            <a:pPr marL="285750" indent="-285750" algn="l">
              <a:lnSpc>
                <a:spcPct val="150000"/>
              </a:lnSpc>
              <a:spcBef>
                <a:spcPts val="0"/>
              </a:spcBef>
              <a:spcAft>
                <a:spcPts val="0"/>
              </a:spcAft>
              <a:buFont typeface="Arial" charset="0"/>
              <a:buChar char="•"/>
            </a:pPr>
            <a:r>
              <a:rPr lang="zh-CN" altLang="en-US" sz="1800" b="0" i="0" u="none" strike="noStrike" kern="1200" cap="none" spc="0" baseline="0" dirty="0">
                <a:solidFill>
                  <a:schemeClr val="tx1"/>
                </a:solidFill>
                <a:latin typeface="Arial" charset="0"/>
                <a:ea typeface="微软雅黑" charset="0"/>
                <a:cs typeface="Arial" charset="0"/>
                <a:sym typeface="微软雅黑" charset="0"/>
              </a:rPr>
              <a:t>归纳偏好，奥卡姆剃刀：若有多个假设与观察一致，则选择最简单的那个</a:t>
            </a:r>
            <a:endParaRPr lang="en-US" altLang="zh-CN" sz="1800" b="1" i="0" u="none" strike="noStrike" kern="1200" cap="none" spc="0" baseline="0" dirty="0">
              <a:solidFill>
                <a:schemeClr val="tx1"/>
              </a:solidFill>
              <a:latin typeface="Arial" charset="0"/>
              <a:ea typeface="微软雅黑" charset="0"/>
              <a:cs typeface="Arial" charset="0"/>
            </a:endParaRPr>
          </a:p>
          <a:p>
            <a:pPr marL="285750" indent="-285750" algn="l">
              <a:lnSpc>
                <a:spcPct val="150000"/>
              </a:lnSpc>
              <a:spcBef>
                <a:spcPts val="0"/>
              </a:spcBef>
              <a:spcAft>
                <a:spcPts val="0"/>
              </a:spcAft>
              <a:buFont typeface="Arial" charset="0"/>
              <a:buChar char="•"/>
            </a:pPr>
            <a:r>
              <a:rPr lang="zh-CN" altLang="en-US" sz="1800" b="0" i="0" u="none" strike="noStrike" kern="1200" cap="none" spc="0" baseline="0" dirty="0">
                <a:solidFill>
                  <a:schemeClr val="tx1"/>
                </a:solidFill>
                <a:latin typeface="Arial" charset="0"/>
                <a:ea typeface="微软雅黑" charset="0"/>
                <a:cs typeface="Arial" charset="0"/>
                <a:sym typeface="微软雅黑" charset="0"/>
              </a:rPr>
              <a:t>没有免费午餐定理：没有一种算法能够在所有问题上都表现最好</a:t>
            </a:r>
            <a:endParaRPr lang="en-US" altLang="zh-CN" sz="1800" b="0" i="0" u="none" strike="noStrike" kern="1200" cap="none" spc="0" baseline="0" dirty="0">
              <a:solidFill>
                <a:schemeClr val="tx1"/>
              </a:solidFill>
              <a:latin typeface="Arial" charset="0"/>
              <a:ea typeface="微软雅黑" charset="0"/>
              <a:cs typeface="Arial" charset="0"/>
              <a:sym typeface="微软雅黑" charset="0"/>
            </a:endParaRPr>
          </a:p>
          <a:p>
            <a:pPr marL="0" indent="0" algn="l">
              <a:lnSpc>
                <a:spcPct val="100000"/>
              </a:lnSpc>
              <a:spcBef>
                <a:spcPts val="0"/>
              </a:spcBef>
              <a:spcAft>
                <a:spcPts val="0"/>
              </a:spcAft>
              <a:buNone/>
            </a:pPr>
            <a:endParaRPr lang="en-US" altLang="zh-CN" sz="1800" b="0" i="0" u="none" strike="noStrike" kern="1200" cap="none" spc="0" baseline="0" dirty="0">
              <a:solidFill>
                <a:schemeClr val="tx1"/>
              </a:solidFill>
              <a:latin typeface="Arial" charset="0"/>
              <a:ea typeface="微软雅黑" charset="0"/>
              <a:cs typeface="Arial" charset="0"/>
              <a:sym typeface="微软雅黑" charset="0"/>
            </a:endParaRPr>
          </a:p>
          <a:p>
            <a:pPr marL="0" indent="0" algn="l">
              <a:lnSpc>
                <a:spcPct val="100000"/>
              </a:lnSpc>
              <a:spcBef>
                <a:spcPts val="0"/>
              </a:spcBef>
              <a:spcAft>
                <a:spcPts val="0"/>
              </a:spcAft>
              <a:buNone/>
            </a:pPr>
            <a:endParaRPr lang="en-US" altLang="zh-CN" sz="1800" b="0" i="0" u="none" strike="noStrike" kern="1200" cap="none" spc="0" baseline="0" dirty="0">
              <a:solidFill>
                <a:schemeClr val="tx1"/>
              </a:solidFill>
              <a:latin typeface="Arial" charset="0"/>
              <a:ea typeface="微软雅黑" charset="0"/>
              <a:cs typeface="Arial" charset="0"/>
              <a:sym typeface="微软雅黑" charset="0"/>
            </a:endParaRPr>
          </a:p>
          <a:p>
            <a:pPr marL="0" indent="0" algn="l">
              <a:lnSpc>
                <a:spcPct val="100000"/>
              </a:lnSpc>
              <a:spcBef>
                <a:spcPts val="0"/>
              </a:spcBef>
              <a:spcAft>
                <a:spcPts val="0"/>
              </a:spcAft>
              <a:buNone/>
            </a:pPr>
            <a:endParaRPr lang="en-US" altLang="zh-CN" sz="1800" b="0" i="0" u="none" strike="noStrike" kern="1200" cap="none" spc="0" baseline="0" dirty="0">
              <a:solidFill>
                <a:schemeClr val="tx1"/>
              </a:solidFill>
              <a:latin typeface="Arial" charset="0"/>
              <a:ea typeface="微软雅黑" charset="0"/>
              <a:cs typeface="Arial" charset="0"/>
              <a:sym typeface="微软雅黑" charset="0"/>
            </a:endParaRPr>
          </a:p>
          <a:p>
            <a:pPr marL="0" indent="0" algn="l">
              <a:lnSpc>
                <a:spcPct val="100000"/>
              </a:lnSpc>
              <a:spcBef>
                <a:spcPts val="0"/>
              </a:spcBef>
              <a:spcAft>
                <a:spcPts val="0"/>
              </a:spcAft>
              <a:buNone/>
            </a:pPr>
            <a:endParaRPr lang="en-US" altLang="zh-CN" sz="1800" b="0" i="0" u="none" strike="noStrike" kern="1200" cap="none" spc="0" baseline="0" dirty="0">
              <a:solidFill>
                <a:schemeClr val="tx1"/>
              </a:solidFill>
              <a:latin typeface="Arial" charset="0"/>
              <a:ea typeface="微软雅黑" charset="0"/>
              <a:cs typeface="Arial" charset="0"/>
              <a:sym typeface="微软雅黑" charset="0"/>
            </a:endParaRPr>
          </a:p>
          <a:p>
            <a:pPr marL="0" indent="0" algn="l">
              <a:lnSpc>
                <a:spcPct val="100000"/>
              </a:lnSpc>
              <a:spcBef>
                <a:spcPts val="0"/>
              </a:spcBef>
              <a:spcAft>
                <a:spcPts val="0"/>
              </a:spcAft>
              <a:buNone/>
            </a:pPr>
            <a:endParaRPr lang="en-US" altLang="zh-CN" sz="1800" b="0" i="0" u="none" strike="noStrike" kern="1200" cap="none" spc="0" baseline="0" dirty="0">
              <a:solidFill>
                <a:schemeClr val="tx1"/>
              </a:solidFill>
              <a:latin typeface="Arial" charset="0"/>
              <a:ea typeface="微软雅黑" charset="0"/>
              <a:cs typeface="Arial" charset="0"/>
              <a:sym typeface="微软雅黑" charset="0"/>
            </a:endParaRPr>
          </a:p>
        </p:txBody>
      </p:sp>
    </p:spTree>
    <p:extLst>
      <p:ext uri="{BB962C8B-B14F-4D97-AF65-F5344CB8AC3E}">
        <p14:creationId xmlns:p14="http://schemas.microsoft.com/office/powerpoint/2010/main" val="145736300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 name="矩形"/>
          <p:cNvSpPr>
            <a:spLocks/>
          </p:cNvSpPr>
          <p:nvPr/>
        </p:nvSpPr>
        <p:spPr>
          <a:xfrm>
            <a:off x="3081020" y="2642235"/>
            <a:ext cx="6096000" cy="829944"/>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en-US" altLang="zh-CN" sz="4800" b="0" i="0" u="none" strike="noStrike" kern="1200" cap="none" spc="0" baseline="0">
                <a:solidFill>
                  <a:schemeClr val="tx1"/>
                </a:solidFill>
                <a:latin typeface="Arial" charset="0"/>
                <a:ea typeface="微软雅黑" charset="0"/>
                <a:cs typeface="Arial" charset="0"/>
                <a:sym typeface="微软雅黑" charset="0"/>
              </a:rPr>
              <a:t>2.</a:t>
            </a:r>
            <a:r>
              <a:rPr lang="zh-CN" altLang="en-US" sz="4800" b="0" i="0" u="none" strike="noStrike" kern="1200" cap="none" spc="0" baseline="0">
                <a:solidFill>
                  <a:schemeClr val="tx1"/>
                </a:solidFill>
                <a:latin typeface="Arial" charset="0"/>
                <a:ea typeface="微软雅黑" charset="0"/>
                <a:cs typeface="Arial" charset="0"/>
                <a:sym typeface="微软雅黑" charset="0"/>
              </a:rPr>
              <a:t>模型评估与选择</a:t>
            </a:r>
          </a:p>
        </p:txBody>
      </p:sp>
    </p:spTree>
    <p:extLst>
      <p:ext uri="{BB962C8B-B14F-4D97-AF65-F5344CB8AC3E}">
        <p14:creationId xmlns:p14="http://schemas.microsoft.com/office/powerpoint/2010/main" val="165354185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5" name="图片"/>
          <p:cNvPicPr>
            <a:picLocks noChangeAspect="1"/>
          </p:cNvPicPr>
          <p:nvPr/>
        </p:nvPicPr>
        <p:blipFill>
          <a:blip r:embed="rId2" cstate="print"/>
          <a:stretch>
            <a:fillRect/>
          </a:stretch>
        </p:blipFill>
        <p:spPr>
          <a:xfrm>
            <a:off x="1470660" y="0"/>
            <a:ext cx="8596630" cy="7153275"/>
          </a:xfrm>
          <a:prstGeom prst="rect">
            <a:avLst/>
          </a:prstGeom>
          <a:noFill/>
          <a:ln w="12700" cap="flat" cmpd="sng">
            <a:noFill/>
            <a:prstDash val="solid"/>
            <a:miter/>
          </a:ln>
        </p:spPr>
      </p:pic>
    </p:spTree>
    <p:extLst>
      <p:ext uri="{BB962C8B-B14F-4D97-AF65-F5344CB8AC3E}">
        <p14:creationId xmlns:p14="http://schemas.microsoft.com/office/powerpoint/2010/main" val="179581072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6" name="图片"/>
          <p:cNvPicPr>
            <a:picLocks noChangeAspect="1"/>
          </p:cNvPicPr>
          <p:nvPr/>
        </p:nvPicPr>
        <p:blipFill>
          <a:blip r:embed="rId2" cstate="print"/>
          <a:stretch>
            <a:fillRect/>
          </a:stretch>
        </p:blipFill>
        <p:spPr>
          <a:xfrm>
            <a:off x="1818005" y="0"/>
            <a:ext cx="8555990" cy="6883399"/>
          </a:xfrm>
          <a:prstGeom prst="rect">
            <a:avLst/>
          </a:prstGeom>
          <a:noFill/>
          <a:ln w="12700" cap="flat" cmpd="sng">
            <a:noFill/>
            <a:prstDash val="solid"/>
            <a:miter/>
          </a:ln>
        </p:spPr>
      </p:pic>
    </p:spTree>
    <p:extLst>
      <p:ext uri="{BB962C8B-B14F-4D97-AF65-F5344CB8AC3E}">
        <p14:creationId xmlns:p14="http://schemas.microsoft.com/office/powerpoint/2010/main" val="60310225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矩形"/>
          <p:cNvSpPr>
            <a:spLocks/>
          </p:cNvSpPr>
          <p:nvPr/>
        </p:nvSpPr>
        <p:spPr>
          <a:xfrm>
            <a:off x="340995" y="350520"/>
            <a:ext cx="9720581" cy="5863144"/>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zh-CN" altLang="en-US" sz="1800" b="1" i="0" u="none" strike="noStrike" kern="1200" cap="none" spc="0" baseline="0" dirty="0">
                <a:solidFill>
                  <a:srgbClr val="FF0000"/>
                </a:solidFill>
                <a:latin typeface="Arial" charset="0"/>
                <a:ea typeface="微软雅黑" charset="0"/>
                <a:cs typeface="Arial" charset="0"/>
              </a:rPr>
              <a:t>性能度量：这是这一章的关键点</a:t>
            </a:r>
            <a:endParaRPr lang="en-US" altLang="zh-CN" sz="1800" b="1" i="0" u="none" strike="noStrike" kern="1200" cap="none" spc="0" baseline="0" dirty="0">
              <a:solidFill>
                <a:srgbClr val="FF0000"/>
              </a:solidFill>
              <a:latin typeface="Arial" charset="0"/>
              <a:ea typeface="微软雅黑" charset="0"/>
              <a:cs typeface="Arial" charset="0"/>
            </a:endParaRPr>
          </a:p>
          <a:p>
            <a:pPr marL="0" indent="0" algn="l">
              <a:lnSpc>
                <a:spcPct val="100000"/>
              </a:lnSpc>
              <a:spcBef>
                <a:spcPts val="0"/>
              </a:spcBef>
              <a:spcAft>
                <a:spcPts val="0"/>
              </a:spcAft>
              <a:buNone/>
            </a:pPr>
            <a:endParaRPr lang="en-US" altLang="zh-CN" sz="1800" b="1" i="0" u="none" strike="noStrike" kern="1200" cap="none" spc="0" baseline="0" dirty="0">
              <a:solidFill>
                <a:schemeClr val="tx1"/>
              </a:solidFill>
              <a:latin typeface="Arial" charset="0"/>
              <a:ea typeface="微软雅黑" charset="0"/>
              <a:cs typeface="Arial" charset="0"/>
            </a:endParaRPr>
          </a:p>
          <a:p>
            <a:pPr marL="0" indent="0" algn="l">
              <a:lnSpc>
                <a:spcPct val="100000"/>
              </a:lnSpc>
              <a:spcBef>
                <a:spcPts val="0"/>
              </a:spcBef>
              <a:spcAft>
                <a:spcPts val="0"/>
              </a:spcAft>
              <a:buNone/>
            </a:pPr>
            <a:r>
              <a:rPr lang="en-US" altLang="zh-CN" sz="1800" b="1" i="0" u="none" strike="noStrike" kern="1200" cap="none" spc="0" baseline="0" dirty="0">
                <a:solidFill>
                  <a:schemeClr val="tx1"/>
                </a:solidFill>
                <a:latin typeface="Arial" charset="0"/>
                <a:ea typeface="微软雅黑" charset="0"/>
                <a:cs typeface="Arial" charset="0"/>
              </a:rPr>
              <a:t>1. </a:t>
            </a:r>
            <a:r>
              <a:rPr lang="en-US" altLang="zh-CN" sz="1800" b="1" i="0" u="none" strike="noStrike" kern="1200" cap="none" spc="0" baseline="0" dirty="0" err="1">
                <a:solidFill>
                  <a:schemeClr val="tx1"/>
                </a:solidFill>
                <a:latin typeface="Arial" charset="0"/>
                <a:ea typeface="微软雅黑" charset="0"/>
                <a:cs typeface="Arial" charset="0"/>
              </a:rPr>
              <a:t>回归任务往往使用均方误差MSE</a:t>
            </a:r>
            <a:endParaRPr lang="en-US" altLang="zh-CN" sz="1800" b="1" i="0" u="none" strike="noStrike" kern="1200" cap="none" spc="0" baseline="0" dirty="0">
              <a:solidFill>
                <a:schemeClr val="tx1"/>
              </a:solidFill>
              <a:latin typeface="Arial" charset="0"/>
              <a:ea typeface="微软雅黑" charset="0"/>
              <a:cs typeface="Arial" charset="0"/>
            </a:endParaRPr>
          </a:p>
          <a:p>
            <a:pPr marL="0" indent="0" algn="l">
              <a:lnSpc>
                <a:spcPct val="100000"/>
              </a:lnSpc>
              <a:spcBef>
                <a:spcPts val="0"/>
              </a:spcBef>
              <a:spcAft>
                <a:spcPts val="0"/>
              </a:spcAft>
              <a:buNone/>
            </a:pPr>
            <a:endParaRPr lang="en-US" altLang="zh-CN" sz="1800" b="1" i="0" u="none" strike="noStrike" kern="1200" cap="none" spc="0" baseline="0" dirty="0">
              <a:solidFill>
                <a:schemeClr val="tx1"/>
              </a:solidFill>
              <a:latin typeface="Arial" charset="0"/>
              <a:ea typeface="微软雅黑" charset="0"/>
              <a:cs typeface="Arial" charset="0"/>
            </a:endParaRPr>
          </a:p>
          <a:p>
            <a:pPr marL="0" indent="0" algn="l">
              <a:lnSpc>
                <a:spcPct val="100000"/>
              </a:lnSpc>
              <a:spcBef>
                <a:spcPts val="0"/>
              </a:spcBef>
              <a:spcAft>
                <a:spcPts val="0"/>
              </a:spcAft>
              <a:buNone/>
            </a:pPr>
            <a:r>
              <a:rPr lang="en-US" altLang="zh-CN" sz="1800" b="1" i="0" u="none" strike="noStrike" kern="1200" cap="none" spc="0" baseline="0" dirty="0">
                <a:solidFill>
                  <a:schemeClr val="tx1"/>
                </a:solidFill>
                <a:latin typeface="Arial" charset="0"/>
                <a:ea typeface="微软雅黑" charset="0"/>
                <a:cs typeface="Arial" charset="0"/>
              </a:rPr>
              <a:t>2.分类任务一般使用错误率和精度（分对样本占样本总数的比例）</a:t>
            </a:r>
          </a:p>
          <a:p>
            <a:pPr marL="0" indent="0" algn="l">
              <a:lnSpc>
                <a:spcPct val="100000"/>
              </a:lnSpc>
              <a:spcBef>
                <a:spcPts val="0"/>
              </a:spcBef>
              <a:spcAft>
                <a:spcPts val="0"/>
              </a:spcAft>
              <a:buNone/>
            </a:pPr>
            <a:endParaRPr lang="en-US" altLang="zh-CN" sz="1800" b="1" i="0" u="none" strike="noStrike" kern="1200" cap="none" spc="0" baseline="0" dirty="0">
              <a:solidFill>
                <a:schemeClr val="tx1"/>
              </a:solidFill>
              <a:latin typeface="Arial" charset="0"/>
              <a:ea typeface="微软雅黑" charset="0"/>
              <a:cs typeface="Arial" charset="0"/>
            </a:endParaRPr>
          </a:p>
          <a:p>
            <a:pPr marL="0" indent="0" algn="l">
              <a:lnSpc>
                <a:spcPct val="100000"/>
              </a:lnSpc>
              <a:spcBef>
                <a:spcPts val="0"/>
              </a:spcBef>
              <a:spcAft>
                <a:spcPts val="0"/>
              </a:spcAft>
              <a:buNone/>
            </a:pPr>
            <a:r>
              <a:rPr lang="zh-CN" altLang="en-US" sz="1800" b="1" i="0" u="none" strike="noStrike" kern="1200" cap="none" spc="0" baseline="0" dirty="0">
                <a:solidFill>
                  <a:schemeClr val="tx1"/>
                </a:solidFill>
                <a:latin typeface="Arial" charset="0"/>
                <a:ea typeface="微软雅黑" charset="0"/>
                <a:cs typeface="Arial" charset="0"/>
              </a:rPr>
              <a:t>其他性能指标，在不同情况下会不同的用到：</a:t>
            </a:r>
            <a:endParaRPr lang="en-US" altLang="zh-CN" sz="1800" b="1" i="0" u="none" strike="noStrike" kern="1200" cap="none" spc="0" baseline="0" dirty="0">
              <a:solidFill>
                <a:schemeClr val="tx1"/>
              </a:solidFill>
              <a:latin typeface="Arial" charset="0"/>
              <a:ea typeface="微软雅黑" charset="0"/>
              <a:cs typeface="Arial" charset="0"/>
            </a:endParaRPr>
          </a:p>
          <a:p>
            <a:pPr marL="0" indent="0" algn="l">
              <a:lnSpc>
                <a:spcPct val="100000"/>
              </a:lnSpc>
              <a:spcBef>
                <a:spcPts val="0"/>
              </a:spcBef>
              <a:spcAft>
                <a:spcPts val="0"/>
              </a:spcAft>
              <a:buNone/>
            </a:pPr>
            <a:endParaRPr lang="en-US" altLang="zh-CN" sz="1800" b="1" i="0" u="none" strike="noStrike" kern="1200" cap="none" spc="0" baseline="0" dirty="0">
              <a:solidFill>
                <a:schemeClr val="tx1"/>
              </a:solidFill>
              <a:latin typeface="Arial" charset="0"/>
              <a:ea typeface="微软雅黑" charset="0"/>
              <a:cs typeface="Arial" charset="0"/>
            </a:endParaRPr>
          </a:p>
          <a:p>
            <a:pPr marL="457200" lvl="1" indent="0" algn="l">
              <a:lnSpc>
                <a:spcPct val="100000"/>
              </a:lnSpc>
              <a:spcBef>
                <a:spcPts val="0"/>
              </a:spcBef>
              <a:spcAft>
                <a:spcPts val="0"/>
              </a:spcAft>
              <a:buNone/>
            </a:pPr>
            <a:r>
              <a:rPr lang="en-US" altLang="zh-CN" sz="1800" b="1" i="0" u="none" strike="noStrike" kern="1200" cap="none" spc="0" baseline="0" dirty="0">
                <a:solidFill>
                  <a:schemeClr val="tx1"/>
                </a:solidFill>
                <a:latin typeface="Arial" charset="0"/>
                <a:ea typeface="微软雅黑" charset="0"/>
                <a:cs typeface="Arial" charset="0"/>
              </a:rPr>
              <a:t>1. </a:t>
            </a:r>
            <a:r>
              <a:rPr lang="zh-CN" altLang="en-US" sz="1800" b="1" i="0" u="none" strike="noStrike" kern="1200" cap="none" spc="0" baseline="0" dirty="0">
                <a:solidFill>
                  <a:schemeClr val="tx1"/>
                </a:solidFill>
                <a:latin typeface="Arial" charset="0"/>
                <a:ea typeface="微软雅黑" charset="0"/>
                <a:cs typeface="Arial" charset="0"/>
              </a:rPr>
              <a:t>查全率：查的全不全，正例有没有全部被预测出来</a:t>
            </a:r>
            <a:endParaRPr lang="en-US" altLang="zh-CN" sz="1800" b="1" i="0" u="none" strike="noStrike" kern="1200" cap="none" spc="0" baseline="0" dirty="0">
              <a:solidFill>
                <a:schemeClr val="tx1"/>
              </a:solidFill>
              <a:latin typeface="Arial" charset="0"/>
              <a:ea typeface="微软雅黑" charset="0"/>
              <a:cs typeface="Arial" charset="0"/>
            </a:endParaRPr>
          </a:p>
          <a:p>
            <a:pPr marL="457200" lvl="1" indent="0" algn="l">
              <a:lnSpc>
                <a:spcPct val="100000"/>
              </a:lnSpc>
              <a:spcBef>
                <a:spcPts val="0"/>
              </a:spcBef>
              <a:spcAft>
                <a:spcPts val="0"/>
              </a:spcAft>
              <a:buNone/>
            </a:pPr>
            <a:r>
              <a:rPr lang="en-US" altLang="zh-CN" sz="1800" b="1" i="0" u="none" strike="noStrike" kern="1200" cap="none" spc="0" baseline="0" dirty="0">
                <a:solidFill>
                  <a:schemeClr val="tx1"/>
                </a:solidFill>
                <a:latin typeface="Arial" charset="0"/>
                <a:ea typeface="微软雅黑" charset="0"/>
                <a:cs typeface="Arial" charset="0"/>
              </a:rPr>
              <a:t>2. </a:t>
            </a:r>
            <a:r>
              <a:rPr lang="zh-CN" altLang="en-US" sz="1800" b="1" i="0" u="none" strike="noStrike" kern="1200" cap="none" spc="0" baseline="0" dirty="0">
                <a:solidFill>
                  <a:schemeClr val="tx1"/>
                </a:solidFill>
                <a:latin typeface="Arial" charset="0"/>
                <a:ea typeface="微软雅黑" charset="0"/>
                <a:cs typeface="Arial" charset="0"/>
              </a:rPr>
              <a:t>查准率：查的准不准，预测出来是正例中的真正例的比率</a:t>
            </a:r>
            <a:endParaRPr lang="en-US" altLang="zh-CN" sz="1800" b="1" i="0" u="none" strike="noStrike" kern="1200" cap="none" spc="0" baseline="0" dirty="0">
              <a:solidFill>
                <a:schemeClr val="tx1"/>
              </a:solidFill>
              <a:latin typeface="Arial" charset="0"/>
              <a:ea typeface="微软雅黑" charset="0"/>
              <a:cs typeface="Arial" charset="0"/>
            </a:endParaRPr>
          </a:p>
          <a:p>
            <a:pPr marL="457200" lvl="1" indent="0" algn="l">
              <a:lnSpc>
                <a:spcPct val="100000"/>
              </a:lnSpc>
              <a:spcBef>
                <a:spcPts val="0"/>
              </a:spcBef>
              <a:spcAft>
                <a:spcPts val="0"/>
              </a:spcAft>
              <a:buNone/>
            </a:pPr>
            <a:r>
              <a:rPr lang="en-US" altLang="zh-CN" sz="1600" b="1" i="0" u="none" strike="noStrike" kern="1200" cap="none" spc="0" baseline="0" dirty="0">
                <a:solidFill>
                  <a:schemeClr val="tx1"/>
                </a:solidFill>
                <a:latin typeface="Arial" charset="0"/>
                <a:ea typeface="微软雅黑" charset="0"/>
                <a:cs typeface="Arial" charset="0"/>
                <a:sym typeface="微软雅黑" charset="0"/>
              </a:rPr>
              <a:t>3. </a:t>
            </a:r>
            <a:r>
              <a:rPr lang="zh-CN" altLang="en-US" sz="1600" b="1" i="0" u="none" strike="noStrike" kern="1200" cap="none" spc="0" baseline="0" dirty="0">
                <a:solidFill>
                  <a:schemeClr val="tx1"/>
                </a:solidFill>
                <a:latin typeface="Arial" charset="0"/>
                <a:ea typeface="微软雅黑" charset="0"/>
                <a:cs typeface="Arial" charset="0"/>
                <a:sym typeface="微软雅黑" charset="0"/>
              </a:rPr>
              <a:t>混淆矩阵</a:t>
            </a:r>
            <a:endParaRPr lang="en-US" altLang="zh-CN" sz="1600" b="1" i="0" u="none" strike="noStrike" kern="1200" cap="none" spc="0" baseline="0" dirty="0">
              <a:solidFill>
                <a:schemeClr val="tx1"/>
              </a:solidFill>
              <a:latin typeface="Arial" charset="0"/>
              <a:ea typeface="微软雅黑" charset="0"/>
              <a:cs typeface="Arial" charset="0"/>
              <a:sym typeface="微软雅黑" charset="0"/>
            </a:endParaRPr>
          </a:p>
          <a:p>
            <a:pPr marL="457200" lvl="1" indent="0" algn="l">
              <a:lnSpc>
                <a:spcPct val="100000"/>
              </a:lnSpc>
              <a:spcBef>
                <a:spcPts val="0"/>
              </a:spcBef>
              <a:spcAft>
                <a:spcPts val="0"/>
              </a:spcAft>
              <a:buNone/>
            </a:pPr>
            <a:r>
              <a:rPr lang="en-US" altLang="zh-CN" sz="1600" b="1" i="0" u="none" strike="noStrike" kern="1200" cap="none" spc="0" baseline="0" dirty="0">
                <a:solidFill>
                  <a:schemeClr val="tx1"/>
                </a:solidFill>
                <a:latin typeface="Arial" charset="0"/>
                <a:ea typeface="微软雅黑" charset="0"/>
                <a:cs typeface="Arial" charset="0"/>
                <a:sym typeface="微软雅黑" charset="0"/>
              </a:rPr>
              <a:t>4. P-</a:t>
            </a:r>
            <a:r>
              <a:rPr lang="en-US" altLang="zh-CN" sz="1600" b="1" i="0" u="none" strike="noStrike" kern="1200" cap="none" spc="0" baseline="0" dirty="0" err="1">
                <a:solidFill>
                  <a:schemeClr val="tx1"/>
                </a:solidFill>
                <a:latin typeface="Arial" charset="0"/>
                <a:ea typeface="微软雅黑" charset="0"/>
                <a:cs typeface="Arial" charset="0"/>
                <a:sym typeface="微软雅黑" charset="0"/>
              </a:rPr>
              <a:t>R曲线</a:t>
            </a:r>
            <a:r>
              <a:rPr lang="zh-CN" altLang="en-US" sz="1600" b="1" i="0" u="none" strike="noStrike" kern="1200" cap="none" spc="0" baseline="0" dirty="0">
                <a:solidFill>
                  <a:schemeClr val="tx1"/>
                </a:solidFill>
                <a:latin typeface="Arial" charset="0"/>
                <a:ea typeface="微软雅黑" charset="0"/>
                <a:cs typeface="Arial" charset="0"/>
                <a:sym typeface="微软雅黑" charset="0"/>
              </a:rPr>
              <a:t>（得注意一下，可能会考绘制过程）</a:t>
            </a:r>
            <a:endParaRPr lang="en-US" altLang="zh-CN" sz="1600" b="1" i="0" u="none" strike="noStrike" kern="1200" cap="none" spc="0" baseline="0" dirty="0">
              <a:solidFill>
                <a:schemeClr val="tx1"/>
              </a:solidFill>
              <a:latin typeface="Arial" charset="0"/>
              <a:ea typeface="微软雅黑" charset="0"/>
              <a:cs typeface="Arial" charset="0"/>
              <a:sym typeface="微软雅黑" charset="0"/>
            </a:endParaRPr>
          </a:p>
          <a:p>
            <a:pPr marL="457200" lvl="1" indent="0" algn="l">
              <a:lnSpc>
                <a:spcPct val="100000"/>
              </a:lnSpc>
              <a:spcBef>
                <a:spcPts val="0"/>
              </a:spcBef>
              <a:spcAft>
                <a:spcPts val="0"/>
              </a:spcAft>
              <a:buNone/>
            </a:pPr>
            <a:r>
              <a:rPr lang="en-US" altLang="zh-CN" sz="1600" b="1" i="0" u="none" strike="noStrike" kern="1200" cap="none" spc="0" baseline="0" dirty="0">
                <a:solidFill>
                  <a:schemeClr val="tx1"/>
                </a:solidFill>
                <a:latin typeface="Arial" charset="0"/>
                <a:ea typeface="微软雅黑" charset="0"/>
                <a:cs typeface="Arial" charset="0"/>
                <a:sym typeface="微软雅黑" charset="0"/>
              </a:rPr>
              <a:t>5. F1</a:t>
            </a:r>
            <a:r>
              <a:rPr lang="zh-CN" altLang="en-US" sz="1600" b="1" i="0" u="none" strike="noStrike" kern="1200" cap="none" spc="0" baseline="0" dirty="0">
                <a:solidFill>
                  <a:schemeClr val="tx1"/>
                </a:solidFill>
                <a:latin typeface="Arial" charset="0"/>
                <a:ea typeface="微软雅黑" charset="0"/>
                <a:cs typeface="Arial" charset="0"/>
                <a:sym typeface="微软雅黑" charset="0"/>
              </a:rPr>
              <a:t>度量</a:t>
            </a:r>
            <a:endParaRPr lang="en-US" altLang="zh-CN" sz="1600" b="1" i="0" u="none" strike="noStrike" kern="1200" cap="none" spc="0" baseline="0" dirty="0">
              <a:solidFill>
                <a:schemeClr val="tx1"/>
              </a:solidFill>
              <a:latin typeface="Arial" charset="0"/>
              <a:ea typeface="微软雅黑" charset="0"/>
              <a:cs typeface="Arial" charset="0"/>
              <a:sym typeface="微软雅黑" charset="0"/>
            </a:endParaRPr>
          </a:p>
          <a:p>
            <a:pPr marL="457200" lvl="1" indent="0" algn="l">
              <a:lnSpc>
                <a:spcPct val="100000"/>
              </a:lnSpc>
              <a:spcBef>
                <a:spcPts val="0"/>
              </a:spcBef>
              <a:spcAft>
                <a:spcPts val="0"/>
              </a:spcAft>
              <a:buNone/>
            </a:pPr>
            <a:r>
              <a:rPr lang="en-US" altLang="zh-CN" sz="1600" b="1" i="0" u="none" strike="noStrike" kern="1200" cap="none" spc="0" baseline="0" dirty="0">
                <a:solidFill>
                  <a:schemeClr val="tx1"/>
                </a:solidFill>
                <a:latin typeface="Arial" charset="0"/>
                <a:ea typeface="微软雅黑" charset="0"/>
                <a:cs typeface="Arial" charset="0"/>
                <a:sym typeface="微软雅黑" charset="0"/>
              </a:rPr>
              <a:t>6. </a:t>
            </a:r>
            <a:r>
              <a:rPr lang="en-US" altLang="zh-CN" sz="1600" b="1" i="0" u="none" strike="noStrike" kern="1200" cap="none" spc="0" baseline="0" dirty="0" err="1">
                <a:solidFill>
                  <a:schemeClr val="tx1"/>
                </a:solidFill>
                <a:latin typeface="Arial" charset="0"/>
                <a:ea typeface="微软雅黑" charset="0"/>
                <a:cs typeface="Arial" charset="0"/>
                <a:sym typeface="微软雅黑" charset="0"/>
              </a:rPr>
              <a:t>ROC和AUC</a:t>
            </a:r>
            <a:r>
              <a:rPr lang="zh-CN" altLang="en-US" sz="1600" b="1" i="0" u="none" strike="noStrike" kern="1200" cap="none" spc="0" baseline="0" dirty="0">
                <a:solidFill>
                  <a:schemeClr val="tx1"/>
                </a:solidFill>
                <a:latin typeface="Arial" charset="0"/>
                <a:ea typeface="微软雅黑" charset="0"/>
                <a:cs typeface="Arial" charset="0"/>
                <a:sym typeface="微软雅黑" charset="0"/>
              </a:rPr>
              <a:t>（绘制过程也看一下，</a:t>
            </a:r>
            <a:r>
              <a:rPr lang="en-US" altLang="zh-CN" sz="1600" b="1" i="0" u="none" strike="noStrike" kern="1200" cap="none" spc="0" baseline="0" dirty="0">
                <a:solidFill>
                  <a:schemeClr val="tx1"/>
                </a:solidFill>
                <a:latin typeface="Arial" charset="0"/>
                <a:ea typeface="微软雅黑" charset="0"/>
                <a:cs typeface="Arial" charset="0"/>
                <a:sym typeface="微软雅黑" charset="0"/>
              </a:rPr>
              <a:t>AUC</a:t>
            </a:r>
            <a:r>
              <a:rPr lang="zh-CN" altLang="en-US" sz="1600" b="1" i="0" u="none" strike="noStrike" kern="1200" cap="none" spc="0" baseline="0" dirty="0">
                <a:solidFill>
                  <a:schemeClr val="tx1"/>
                </a:solidFill>
                <a:latin typeface="Arial" charset="0"/>
                <a:ea typeface="微软雅黑" charset="0"/>
                <a:cs typeface="Arial" charset="0"/>
                <a:sym typeface="微软雅黑" charset="0"/>
              </a:rPr>
              <a:t>是什么？）</a:t>
            </a:r>
            <a:endParaRPr lang="en-US" altLang="zh-CN" sz="1600" b="1" i="0" u="none" strike="noStrike" kern="1200" cap="none" spc="0" baseline="0" dirty="0">
              <a:solidFill>
                <a:schemeClr val="tx1"/>
              </a:solidFill>
              <a:latin typeface="Arial" charset="0"/>
              <a:ea typeface="微软雅黑" charset="0"/>
              <a:cs typeface="Arial" charset="0"/>
              <a:sym typeface="微软雅黑" charset="0"/>
            </a:endParaRPr>
          </a:p>
          <a:p>
            <a:pPr marL="457200" lvl="1" indent="457200" algn="l">
              <a:lnSpc>
                <a:spcPct val="100000"/>
              </a:lnSpc>
              <a:spcBef>
                <a:spcPts val="0"/>
              </a:spcBef>
              <a:spcAft>
                <a:spcPts val="0"/>
              </a:spcAft>
              <a:buNone/>
            </a:pPr>
            <a:r>
              <a:rPr lang="en-US" altLang="zh-CN" sz="1600" b="1" i="0" u="none" strike="noStrike" kern="1200" cap="none" spc="0" baseline="0" dirty="0" err="1">
                <a:solidFill>
                  <a:srgbClr val="FF0000"/>
                </a:solidFill>
                <a:latin typeface="Arial" charset="0"/>
                <a:ea typeface="微软雅黑" charset="0"/>
                <a:cs typeface="Arial" charset="0"/>
                <a:sym typeface="微软雅黑" charset="0"/>
              </a:rPr>
              <a:t>ROC曲线关注的主要是模型对正例和负例的判别能力</a:t>
            </a:r>
            <a:r>
              <a:rPr lang="en-US" altLang="zh-CN" sz="1600" b="1" i="0" u="none" strike="noStrike" kern="1200" cap="none" spc="0" baseline="0" dirty="0">
                <a:solidFill>
                  <a:srgbClr val="FF0000"/>
                </a:solidFill>
                <a:latin typeface="Arial" charset="0"/>
                <a:ea typeface="微软雅黑" charset="0"/>
                <a:cs typeface="Arial" charset="0"/>
                <a:sym typeface="微软雅黑" charset="0"/>
              </a:rPr>
              <a:t>；</a:t>
            </a:r>
          </a:p>
          <a:p>
            <a:pPr marL="457200" lvl="1" indent="457200" algn="l">
              <a:lnSpc>
                <a:spcPct val="100000"/>
              </a:lnSpc>
              <a:spcBef>
                <a:spcPts val="0"/>
              </a:spcBef>
              <a:spcAft>
                <a:spcPts val="0"/>
              </a:spcAft>
              <a:buNone/>
            </a:pPr>
            <a:r>
              <a:rPr lang="en-US" altLang="zh-CN" sz="1600" b="1" i="0" u="none" strike="noStrike" kern="1200" cap="none" spc="0" baseline="0" dirty="0" err="1">
                <a:solidFill>
                  <a:srgbClr val="FF0000"/>
                </a:solidFill>
                <a:latin typeface="Arial" charset="0"/>
                <a:ea typeface="微软雅黑" charset="0"/>
                <a:cs typeface="Arial" charset="0"/>
                <a:sym typeface="微软雅黑" charset="0"/>
              </a:rPr>
              <a:t>PR曲线关注的是模型在正例中的准确率和召回率之间的权衡</a:t>
            </a:r>
            <a:r>
              <a:rPr lang="en-US" altLang="zh-CN" sz="1600" b="1" i="0" u="none" strike="noStrike" kern="1200" cap="none" spc="0" baseline="0" dirty="0">
                <a:solidFill>
                  <a:srgbClr val="FF0000"/>
                </a:solidFill>
                <a:latin typeface="Arial" charset="0"/>
                <a:ea typeface="微软雅黑" charset="0"/>
                <a:cs typeface="Arial" charset="0"/>
                <a:sym typeface="微软雅黑" charset="0"/>
              </a:rPr>
              <a:t>；</a:t>
            </a:r>
          </a:p>
          <a:p>
            <a:pPr marL="0" indent="0" algn="l">
              <a:lnSpc>
                <a:spcPct val="150000"/>
              </a:lnSpc>
              <a:spcBef>
                <a:spcPts val="0"/>
              </a:spcBef>
              <a:spcAft>
                <a:spcPts val="0"/>
              </a:spcAft>
              <a:buNone/>
            </a:pPr>
            <a:r>
              <a:rPr lang="en-US" altLang="zh-CN" sz="1800" b="0" i="0" u="none" strike="noStrike" kern="1200" cap="none" spc="0" baseline="0" dirty="0">
                <a:solidFill>
                  <a:schemeClr val="tx1"/>
                </a:solidFill>
                <a:latin typeface="Arial" charset="0"/>
                <a:ea typeface="微软雅黑" charset="0"/>
                <a:cs typeface="Arial" charset="0"/>
                <a:sym typeface="微软雅黑" charset="0"/>
              </a:rPr>
              <a:t>3.偏差和</a:t>
            </a:r>
            <a:r>
              <a:rPr lang="zh-CN" altLang="en-US" sz="1800" b="0" i="0" u="none" strike="noStrike" kern="1200" cap="none" spc="0" baseline="0" dirty="0">
                <a:solidFill>
                  <a:schemeClr val="tx1"/>
                </a:solidFill>
                <a:latin typeface="Arial" charset="0"/>
                <a:ea typeface="微软雅黑" charset="0"/>
                <a:cs typeface="Arial" charset="0"/>
                <a:sym typeface="微软雅黑" charset="0"/>
              </a:rPr>
              <a:t>方差：</a:t>
            </a:r>
            <a:endParaRPr lang="en-US" altLang="zh-CN" sz="1800" b="0" i="0" u="none" strike="noStrike" kern="1200" cap="none" spc="0" baseline="0" dirty="0">
              <a:solidFill>
                <a:schemeClr val="tx1"/>
              </a:solidFill>
              <a:latin typeface="Arial" charset="0"/>
              <a:ea typeface="微软雅黑" charset="0"/>
              <a:cs typeface="Arial" charset="0"/>
              <a:sym typeface="微软雅黑" charset="0"/>
            </a:endParaRPr>
          </a:p>
          <a:p>
            <a:pPr marL="0" indent="457200" algn="l">
              <a:lnSpc>
                <a:spcPct val="150000"/>
              </a:lnSpc>
              <a:spcBef>
                <a:spcPts val="0"/>
              </a:spcBef>
              <a:spcAft>
                <a:spcPts val="0"/>
              </a:spcAft>
              <a:buNone/>
            </a:pPr>
            <a:r>
              <a:rPr lang="zh-CN" altLang="en-US" sz="1800" b="0" i="0" u="none" strike="noStrike" kern="1200" cap="none" spc="0" baseline="0" dirty="0">
                <a:solidFill>
                  <a:schemeClr val="tx1"/>
                </a:solidFill>
                <a:latin typeface="Arial" charset="0"/>
                <a:ea typeface="微软雅黑" charset="0"/>
                <a:cs typeface="Arial" charset="0"/>
                <a:sym typeface="微软雅黑" charset="0"/>
              </a:rPr>
              <a:t>偏差（bias）是模型对简化假设的倾向，高偏差表现为欠拟合。</a:t>
            </a:r>
            <a:endParaRPr lang="en-US" altLang="zh-CN" sz="1800" b="0" i="0" u="none" strike="noStrike" kern="1200" cap="none" spc="0" baseline="0" dirty="0">
              <a:solidFill>
                <a:schemeClr val="tx1"/>
              </a:solidFill>
              <a:latin typeface="Arial" charset="0"/>
              <a:ea typeface="微软雅黑" charset="0"/>
              <a:cs typeface="Arial" charset="0"/>
              <a:sym typeface="微软雅黑" charset="0"/>
            </a:endParaRPr>
          </a:p>
          <a:p>
            <a:pPr marL="0" indent="457200" algn="l">
              <a:lnSpc>
                <a:spcPct val="150000"/>
              </a:lnSpc>
              <a:spcBef>
                <a:spcPts val="0"/>
              </a:spcBef>
              <a:spcAft>
                <a:spcPts val="0"/>
              </a:spcAft>
              <a:buNone/>
            </a:pPr>
            <a:r>
              <a:rPr lang="zh-CN" altLang="en-US" sz="1800" b="0" i="0" u="none" strike="noStrike" kern="1200" cap="none" spc="0" baseline="0" dirty="0">
                <a:solidFill>
                  <a:schemeClr val="tx1"/>
                </a:solidFill>
                <a:latin typeface="Arial" charset="0"/>
                <a:ea typeface="微软雅黑" charset="0"/>
                <a:cs typeface="Arial" charset="0"/>
                <a:sym typeface="微软雅黑" charset="0"/>
              </a:rPr>
              <a:t>方差（Variance）是指模型对训练集上的小波动过度敏感的倾向，高方差表现为欠拟合</a:t>
            </a:r>
            <a:endParaRPr lang="en-US" altLang="zh-CN" sz="1800" b="0" i="0" u="none" strike="noStrike" kern="1200" cap="none" spc="0" baseline="0" dirty="0">
              <a:solidFill>
                <a:schemeClr val="tx1"/>
              </a:solidFill>
              <a:latin typeface="Arial" charset="0"/>
              <a:ea typeface="微软雅黑" charset="0"/>
              <a:cs typeface="Arial" charset="0"/>
              <a:sym typeface="微软雅黑" charset="0"/>
            </a:endParaRPr>
          </a:p>
          <a:p>
            <a:pPr marL="0" indent="457200" algn="l">
              <a:lnSpc>
                <a:spcPct val="100000"/>
              </a:lnSpc>
              <a:spcBef>
                <a:spcPts val="0"/>
              </a:spcBef>
              <a:spcAft>
                <a:spcPts val="0"/>
              </a:spcAft>
              <a:buNone/>
            </a:pPr>
            <a:endParaRPr lang="zh-CN" altLang="en-US" sz="1800" b="0" i="0" u="none" strike="noStrike" kern="1200" cap="none" spc="0" baseline="0" dirty="0">
              <a:solidFill>
                <a:schemeClr val="tx1"/>
              </a:solidFill>
              <a:latin typeface="Arial" charset="0"/>
              <a:ea typeface="微软雅黑" charset="0"/>
              <a:cs typeface="Arial" charset="0"/>
              <a:sym typeface="微软雅黑" charset="0"/>
            </a:endParaRPr>
          </a:p>
        </p:txBody>
      </p:sp>
      <p:pic>
        <p:nvPicPr>
          <p:cNvPr id="68" name="图片"/>
          <p:cNvPicPr>
            <a:picLocks noChangeAspect="1"/>
          </p:cNvPicPr>
          <p:nvPr/>
        </p:nvPicPr>
        <p:blipFill>
          <a:blip r:embed="rId2" cstate="print"/>
          <a:stretch>
            <a:fillRect/>
          </a:stretch>
        </p:blipFill>
        <p:spPr>
          <a:xfrm>
            <a:off x="7365365" y="342900"/>
            <a:ext cx="4419600" cy="3086100"/>
          </a:xfrm>
          <a:prstGeom prst="rect">
            <a:avLst/>
          </a:prstGeom>
          <a:noFill/>
          <a:ln w="12700" cap="flat" cmpd="sng">
            <a:noFill/>
            <a:prstDash val="solid"/>
            <a:miter/>
          </a:ln>
        </p:spPr>
      </p:pic>
      <p:pic>
        <p:nvPicPr>
          <p:cNvPr id="69" name="图片"/>
          <p:cNvPicPr>
            <a:picLocks noChangeAspect="1"/>
          </p:cNvPicPr>
          <p:nvPr/>
        </p:nvPicPr>
        <p:blipFill>
          <a:blip r:embed="rId3" cstate="print"/>
          <a:stretch>
            <a:fillRect/>
          </a:stretch>
        </p:blipFill>
        <p:spPr>
          <a:xfrm>
            <a:off x="6278245" y="3564890"/>
            <a:ext cx="5796280" cy="800100"/>
          </a:xfrm>
          <a:prstGeom prst="rect">
            <a:avLst/>
          </a:prstGeom>
          <a:noFill/>
          <a:ln w="12700" cap="flat" cmpd="sng">
            <a:noFill/>
            <a:prstDash val="solid"/>
            <a:miter/>
          </a:ln>
        </p:spPr>
      </p:pic>
    </p:spTree>
    <p:extLst>
      <p:ext uri="{BB962C8B-B14F-4D97-AF65-F5344CB8AC3E}">
        <p14:creationId xmlns:p14="http://schemas.microsoft.com/office/powerpoint/2010/main" val="23914070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矩形"/>
          <p:cNvSpPr>
            <a:spLocks/>
          </p:cNvSpPr>
          <p:nvPr/>
        </p:nvSpPr>
        <p:spPr>
          <a:xfrm>
            <a:off x="4590415" y="2851150"/>
            <a:ext cx="6096000" cy="706755"/>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en-US" altLang="zh-CN" sz="4000" b="0" i="0" u="none" strike="noStrike" kern="1200" cap="none" spc="0" baseline="0">
                <a:solidFill>
                  <a:schemeClr val="tx1"/>
                </a:solidFill>
                <a:latin typeface="Arial" charset="0"/>
                <a:ea typeface="微软雅黑" charset="0"/>
                <a:cs typeface="Arial" charset="0"/>
                <a:sym typeface="微软雅黑" charset="0"/>
              </a:rPr>
              <a:t>3.</a:t>
            </a:r>
            <a:r>
              <a:rPr lang="zh-CN" altLang="en-US" sz="4000" b="0" i="0" u="none" strike="noStrike" kern="1200" cap="none" spc="0" baseline="0">
                <a:solidFill>
                  <a:schemeClr val="tx1"/>
                </a:solidFill>
                <a:latin typeface="Arial" charset="0"/>
                <a:ea typeface="微软雅黑" charset="0"/>
                <a:cs typeface="Arial" charset="0"/>
                <a:sym typeface="微软雅黑" charset="0"/>
              </a:rPr>
              <a:t>线性模型</a:t>
            </a:r>
          </a:p>
        </p:txBody>
      </p:sp>
      <p:sp>
        <p:nvSpPr>
          <p:cNvPr id="71" name="矩形"/>
          <p:cNvSpPr>
            <a:spLocks/>
          </p:cNvSpPr>
          <p:nvPr/>
        </p:nvSpPr>
        <p:spPr>
          <a:xfrm>
            <a:off x="6040755" y="5267325"/>
            <a:ext cx="4063999" cy="368299"/>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zh-CN" altLang="en-US" sz="1800" b="0" i="0" u="none" strike="noStrike" kern="1200" cap="none" spc="0" baseline="0">
                <a:solidFill>
                  <a:schemeClr val="tx1"/>
                </a:solidFill>
                <a:latin typeface="Arial" charset="0"/>
                <a:ea typeface="微软雅黑" charset="0"/>
                <a:cs typeface="Arial" charset="0"/>
              </a:rPr>
              <a:t>从这之后就正常了</a:t>
            </a:r>
          </a:p>
        </p:txBody>
      </p:sp>
    </p:spTree>
    <p:extLst>
      <p:ext uri="{BB962C8B-B14F-4D97-AF65-F5344CB8AC3E}">
        <p14:creationId xmlns:p14="http://schemas.microsoft.com/office/powerpoint/2010/main" val="35891738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 name="矩形"/>
          <p:cNvSpPr>
            <a:spLocks/>
          </p:cNvSpPr>
          <p:nvPr/>
        </p:nvSpPr>
        <p:spPr>
          <a:xfrm>
            <a:off x="636962" y="749300"/>
            <a:ext cx="8373110" cy="5077460"/>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en-US" altLang="zh-CN" sz="1800" b="0" i="0" u="none" strike="noStrike" kern="1200" cap="none" spc="0" baseline="0" dirty="0">
                <a:solidFill>
                  <a:schemeClr val="tx1"/>
                </a:solidFill>
                <a:latin typeface="Arial" charset="0"/>
                <a:ea typeface="微软雅黑" charset="0"/>
                <a:cs typeface="Arial" charset="0"/>
              </a:rPr>
              <a:t>1. </a:t>
            </a:r>
            <a:r>
              <a:rPr lang="zh-CN" altLang="en-US" sz="1800" b="0" i="0" u="none" strike="noStrike" kern="1200" cap="none" spc="0" baseline="0" dirty="0">
                <a:solidFill>
                  <a:schemeClr val="tx1"/>
                </a:solidFill>
                <a:latin typeface="Arial" charset="0"/>
                <a:ea typeface="微软雅黑" charset="0"/>
                <a:cs typeface="Arial" charset="0"/>
              </a:rPr>
              <a:t>线性回归</a:t>
            </a:r>
            <a:endParaRPr lang="en-US" altLang="zh-CN" sz="1800" b="0" i="0" u="none" strike="noStrike" kern="1200" cap="none" spc="0" baseline="0" dirty="0">
              <a:solidFill>
                <a:schemeClr val="tx1"/>
              </a:solidFill>
              <a:latin typeface="Arial" charset="0"/>
              <a:ea typeface="微软雅黑" charset="0"/>
              <a:cs typeface="Arial" charset="0"/>
            </a:endParaRPr>
          </a:p>
          <a:p>
            <a:pPr marL="285750" indent="-285750" algn="l">
              <a:lnSpc>
                <a:spcPct val="100000"/>
              </a:lnSpc>
              <a:spcBef>
                <a:spcPts val="0"/>
              </a:spcBef>
              <a:spcAft>
                <a:spcPts val="0"/>
              </a:spcAft>
              <a:buFont typeface="Arial" charset="0"/>
              <a:buChar char="•"/>
            </a:pPr>
            <a:r>
              <a:rPr lang="zh-CN" altLang="en-US" sz="1800" b="0" i="0" u="none" strike="noStrike" kern="1200" cap="none" spc="0" baseline="0" dirty="0">
                <a:solidFill>
                  <a:schemeClr val="tx1"/>
                </a:solidFill>
                <a:latin typeface="Arial" charset="0"/>
                <a:ea typeface="微软雅黑" charset="0"/>
                <a:cs typeface="Arial" charset="0"/>
              </a:rPr>
              <a:t>目标：学得一个线性模型以尽可能准确地预测实值输出标记</a:t>
            </a:r>
            <a:endParaRPr lang="en-US" altLang="zh-CN" sz="1800" b="0" i="0" u="none" strike="noStrike" kern="1200" cap="none" spc="0" baseline="0" dirty="0">
              <a:solidFill>
                <a:schemeClr val="tx1"/>
              </a:solidFill>
              <a:latin typeface="Arial" charset="0"/>
              <a:ea typeface="微软雅黑" charset="0"/>
              <a:cs typeface="Arial" charset="0"/>
            </a:endParaRPr>
          </a:p>
          <a:p>
            <a:pPr marL="285750" indent="-285750" algn="l">
              <a:lnSpc>
                <a:spcPct val="100000"/>
              </a:lnSpc>
              <a:spcBef>
                <a:spcPts val="0"/>
              </a:spcBef>
              <a:spcAft>
                <a:spcPts val="0"/>
              </a:spcAft>
              <a:buFont typeface="Arial" charset="0"/>
              <a:buChar char="•"/>
            </a:pPr>
            <a:r>
              <a:rPr lang="zh-CN" altLang="en-US" sz="1800" b="0" i="0" u="none" strike="noStrike" kern="1200" cap="none" spc="0" baseline="0" dirty="0">
                <a:solidFill>
                  <a:schemeClr val="tx1"/>
                </a:solidFill>
                <a:latin typeface="Arial" charset="0"/>
                <a:ea typeface="微软雅黑" charset="0"/>
                <a:cs typeface="Arial" charset="0"/>
              </a:rPr>
              <a:t>模型求解：基于最小化MSE来进行模型求解的方法叫做</a:t>
            </a:r>
            <a:r>
              <a:rPr lang="en-US" altLang="zh-CN" sz="1800" b="0" i="0" u="none" strike="noStrike" kern="1200" cap="none" spc="0" baseline="0" dirty="0">
                <a:solidFill>
                  <a:schemeClr val="tx1"/>
                </a:solidFill>
                <a:latin typeface="Arial" charset="0"/>
                <a:ea typeface="微软雅黑" charset="0"/>
                <a:cs typeface="Arial" charset="0"/>
              </a:rPr>
              <a:t> </a:t>
            </a:r>
            <a:r>
              <a:rPr lang="zh-CN" altLang="en-US" sz="1800" b="1" i="0" u="none" strike="noStrike" kern="1200" cap="none" spc="0" baseline="0" dirty="0">
                <a:solidFill>
                  <a:schemeClr val="tx1"/>
                </a:solidFill>
                <a:latin typeface="Arial" charset="0"/>
                <a:ea typeface="微软雅黑" charset="0"/>
                <a:cs typeface="Arial" charset="0"/>
              </a:rPr>
              <a:t>最小二乘法</a:t>
            </a:r>
            <a:r>
              <a:rPr lang="zh-CN" altLang="en-US" sz="1800" b="0" i="0" u="none" strike="noStrike" kern="1200" cap="none" spc="0" baseline="0" dirty="0">
                <a:solidFill>
                  <a:schemeClr val="tx1"/>
                </a:solidFill>
                <a:latin typeface="Arial" charset="0"/>
                <a:ea typeface="微软雅黑" charset="0"/>
                <a:cs typeface="Arial" charset="0"/>
              </a:rPr>
              <a:t>。</a:t>
            </a:r>
            <a:endParaRPr lang="en-US" altLang="zh-CN" sz="1800" b="0" i="0" u="none" strike="noStrike" kern="1200" cap="none" spc="0" baseline="0" dirty="0">
              <a:solidFill>
                <a:schemeClr val="tx1"/>
              </a:solidFill>
              <a:latin typeface="Arial" charset="0"/>
              <a:ea typeface="微软雅黑" charset="0"/>
              <a:cs typeface="Arial" charset="0"/>
            </a:endParaRPr>
          </a:p>
          <a:p>
            <a:pPr marL="285750" indent="-285750" algn="l">
              <a:lnSpc>
                <a:spcPct val="100000"/>
              </a:lnSpc>
              <a:spcBef>
                <a:spcPts val="0"/>
              </a:spcBef>
              <a:spcAft>
                <a:spcPts val="0"/>
              </a:spcAft>
              <a:buFont typeface="Arial" charset="0"/>
              <a:buChar char="•"/>
            </a:pPr>
            <a:r>
              <a:rPr lang="zh-CN" altLang="en-US" sz="1800" b="0" i="0" u="none" strike="noStrike" kern="1200" cap="none" spc="0" baseline="0" dirty="0">
                <a:solidFill>
                  <a:schemeClr val="tx1"/>
                </a:solidFill>
                <a:latin typeface="Arial" charset="0"/>
                <a:ea typeface="微软雅黑" charset="0"/>
                <a:cs typeface="Arial" charset="0"/>
              </a:rPr>
              <a:t>在线性回归中，最小二乘法就是试图找到一条直线，使得所有样本到直线上的欧氏距离之和最小。</a:t>
            </a:r>
            <a:endParaRPr lang="en-US" altLang="zh-CN" sz="1800" b="0" i="0" u="none" strike="noStrike" kern="1200" cap="none" spc="0" baseline="0" dirty="0">
              <a:solidFill>
                <a:schemeClr val="tx1"/>
              </a:solidFill>
              <a:latin typeface="Arial" charset="0"/>
              <a:ea typeface="微软雅黑" charset="0"/>
              <a:cs typeface="Arial" charset="0"/>
            </a:endParaRPr>
          </a:p>
          <a:p>
            <a:pPr marL="742950" lvl="1" indent="-285750" algn="l">
              <a:lnSpc>
                <a:spcPct val="100000"/>
              </a:lnSpc>
              <a:spcBef>
                <a:spcPts val="0"/>
              </a:spcBef>
              <a:spcAft>
                <a:spcPts val="0"/>
              </a:spcAft>
              <a:buFont typeface="Arial" charset="0"/>
              <a:buChar char="•"/>
            </a:pPr>
            <a:r>
              <a:rPr lang="zh-CN" altLang="en-US" sz="1800" b="0" i="0" u="none" strike="noStrike" kern="1200" cap="none" spc="0" baseline="0" dirty="0">
                <a:solidFill>
                  <a:schemeClr val="tx1"/>
                </a:solidFill>
                <a:latin typeface="Arial" charset="0"/>
                <a:ea typeface="微软雅黑" charset="0"/>
                <a:cs typeface="Arial" charset="0"/>
              </a:rPr>
              <a:t>这里有个很有意思的事情，怎么求出</a:t>
            </a:r>
            <a:r>
              <a:rPr lang="en-US" altLang="zh-CN" sz="1800" b="0" i="0" u="none" strike="noStrike" kern="1200" cap="none" spc="0" baseline="0" dirty="0">
                <a:solidFill>
                  <a:schemeClr val="tx1"/>
                </a:solidFill>
                <a:latin typeface="Arial" charset="0"/>
                <a:ea typeface="微软雅黑" charset="0"/>
                <a:cs typeface="Arial" charset="0"/>
              </a:rPr>
              <a:t>w</a:t>
            </a:r>
            <a:r>
              <a:rPr lang="zh-CN" altLang="en-US" sz="1800" b="0" i="0" u="none" strike="noStrike" kern="1200" cap="none" spc="0" baseline="0" dirty="0">
                <a:solidFill>
                  <a:schemeClr val="tx1"/>
                </a:solidFill>
                <a:latin typeface="Arial" charset="0"/>
                <a:ea typeface="微软雅黑" charset="0"/>
                <a:cs typeface="Arial" charset="0"/>
              </a:rPr>
              <a:t>和</a:t>
            </a:r>
            <a:r>
              <a:rPr lang="en-US" altLang="zh-CN" sz="1800" b="0" i="0" u="none" strike="noStrike" kern="1200" cap="none" spc="0" baseline="0" dirty="0">
                <a:solidFill>
                  <a:schemeClr val="tx1"/>
                </a:solidFill>
                <a:latin typeface="Arial" charset="0"/>
                <a:ea typeface="微软雅黑" charset="0"/>
                <a:cs typeface="Arial" charset="0"/>
              </a:rPr>
              <a:t>x</a:t>
            </a:r>
            <a:r>
              <a:rPr lang="zh-CN" altLang="en-US" sz="1800" b="0" i="0" u="none" strike="noStrike" kern="1200" cap="none" spc="0" baseline="0" dirty="0">
                <a:solidFill>
                  <a:schemeClr val="tx1"/>
                </a:solidFill>
                <a:latin typeface="Arial" charset="0"/>
                <a:ea typeface="微软雅黑" charset="0"/>
                <a:cs typeface="Arial" charset="0"/>
              </a:rPr>
              <a:t>？</a:t>
            </a:r>
            <a:endParaRPr lang="en-US" altLang="zh-CN" sz="1800" b="0" i="0" u="none" strike="noStrike" kern="1200" cap="none" spc="0" baseline="0" dirty="0">
              <a:solidFill>
                <a:schemeClr val="tx1"/>
              </a:solidFill>
              <a:latin typeface="Arial" charset="0"/>
              <a:ea typeface="微软雅黑" charset="0"/>
              <a:cs typeface="Arial" charset="0"/>
            </a:endParaRPr>
          </a:p>
          <a:p>
            <a:pPr marL="0" indent="0" algn="l">
              <a:lnSpc>
                <a:spcPct val="100000"/>
              </a:lnSpc>
              <a:spcBef>
                <a:spcPts val="0"/>
              </a:spcBef>
              <a:spcAft>
                <a:spcPts val="0"/>
              </a:spcAft>
              <a:buNone/>
            </a:pPr>
            <a:endParaRPr lang="en-US" altLang="zh-CN" sz="1800" b="0" i="0" u="none" strike="noStrike" kern="1200" cap="none" spc="0" baseline="0" dirty="0">
              <a:solidFill>
                <a:schemeClr val="tx1"/>
              </a:solidFill>
              <a:latin typeface="Arial" charset="0"/>
              <a:ea typeface="微软雅黑" charset="0"/>
              <a:cs typeface="Arial" charset="0"/>
            </a:endParaRPr>
          </a:p>
          <a:p>
            <a:pPr marL="0" indent="0" algn="l">
              <a:lnSpc>
                <a:spcPct val="100000"/>
              </a:lnSpc>
              <a:spcBef>
                <a:spcPts val="0"/>
              </a:spcBef>
              <a:spcAft>
                <a:spcPts val="0"/>
              </a:spcAft>
              <a:buNone/>
            </a:pPr>
            <a:r>
              <a:rPr lang="en-US" altLang="zh-CN" sz="1800" b="0" i="0" u="none" strike="noStrike" kern="1200" cap="none" spc="0" baseline="0" dirty="0">
                <a:solidFill>
                  <a:schemeClr val="tx1"/>
                </a:solidFill>
                <a:latin typeface="Arial" charset="0"/>
                <a:ea typeface="微软雅黑" charset="0"/>
                <a:cs typeface="Arial" charset="0"/>
              </a:rPr>
              <a:t>2.逻辑回归</a:t>
            </a:r>
            <a:r>
              <a:rPr lang="zh-CN" altLang="en-US" sz="1800" b="0" i="0" u="none" strike="noStrike" kern="1200" cap="none" spc="0" baseline="0" dirty="0">
                <a:solidFill>
                  <a:schemeClr val="tx1"/>
                </a:solidFill>
                <a:latin typeface="Arial" charset="0"/>
                <a:ea typeface="微软雅黑" charset="0"/>
                <a:cs typeface="Arial" charset="0"/>
              </a:rPr>
              <a:t>（</a:t>
            </a:r>
            <a:r>
              <a:rPr lang="zh-CN" altLang="en-US" sz="1800" b="0" i="0" u="none" strike="noStrike" kern="1200" cap="none" spc="0" baseline="0" dirty="0">
                <a:solidFill>
                  <a:schemeClr val="tx1"/>
                </a:solidFill>
                <a:latin typeface="方正粗黑宋简体" pitchFamily="2" charset="-122"/>
                <a:ea typeface="方正粗黑宋简体" pitchFamily="2" charset="-122"/>
                <a:cs typeface="Arial" charset="0"/>
                <a:sym typeface="微软雅黑" charset="0"/>
              </a:rPr>
              <a:t>线性几率回归</a:t>
            </a:r>
            <a:r>
              <a:rPr lang="zh-CN" altLang="en-US" sz="1800" b="0" i="0" u="none" strike="noStrike" kern="1200" cap="none" spc="0" baseline="0" dirty="0">
                <a:solidFill>
                  <a:schemeClr val="tx1"/>
                </a:solidFill>
                <a:latin typeface="Arial" charset="0"/>
                <a:ea typeface="微软雅黑" charset="0"/>
                <a:cs typeface="Arial" charset="0"/>
              </a:rPr>
              <a:t>）：</a:t>
            </a:r>
            <a:endParaRPr lang="en-US" altLang="zh-CN" sz="1800" b="0" i="0" u="none" strike="noStrike" kern="1200" cap="none" spc="0" baseline="0" dirty="0">
              <a:solidFill>
                <a:schemeClr val="tx1"/>
              </a:solidFill>
              <a:latin typeface="Arial" charset="0"/>
              <a:ea typeface="微软雅黑" charset="0"/>
              <a:cs typeface="Arial" charset="0"/>
            </a:endParaRPr>
          </a:p>
          <a:p>
            <a:pPr marL="285750" indent="-285750" algn="l">
              <a:lnSpc>
                <a:spcPct val="100000"/>
              </a:lnSpc>
              <a:spcBef>
                <a:spcPts val="0"/>
              </a:spcBef>
              <a:spcAft>
                <a:spcPts val="0"/>
              </a:spcAft>
              <a:buFont typeface="Arial" charset="0"/>
              <a:buChar char="•"/>
            </a:pPr>
            <a:r>
              <a:rPr lang="zh-CN" altLang="en-US" sz="1800" b="0" i="0" u="none" strike="noStrike" kern="1200" cap="none" spc="0" baseline="0" dirty="0">
                <a:solidFill>
                  <a:schemeClr val="tx1"/>
                </a:solidFill>
                <a:latin typeface="Arial" charset="0"/>
                <a:ea typeface="微软雅黑" charset="0"/>
                <a:cs typeface="Arial" charset="0"/>
              </a:rPr>
              <a:t>一种线性分类模型，使用一个线性函数将输入特征的加权和映射到一个概率值。通常使用逻辑函数（如Sigmoid函数）对线性加权和进行非线性变换，将结果限制在0到1之间，表示样本属于某个类别的概率。</a:t>
            </a:r>
            <a:endParaRPr lang="en-US" altLang="zh-CN" sz="1800" b="0" i="0" u="none" strike="noStrike" kern="1200" cap="none" spc="0" baseline="0" dirty="0">
              <a:solidFill>
                <a:schemeClr val="tx1"/>
              </a:solidFill>
              <a:latin typeface="Arial" charset="0"/>
              <a:ea typeface="微软雅黑" charset="0"/>
              <a:cs typeface="Arial" charset="0"/>
            </a:endParaRPr>
          </a:p>
          <a:p>
            <a:pPr marL="285750" indent="-285750" algn="l">
              <a:lnSpc>
                <a:spcPct val="100000"/>
              </a:lnSpc>
              <a:spcBef>
                <a:spcPts val="0"/>
              </a:spcBef>
              <a:spcAft>
                <a:spcPts val="0"/>
              </a:spcAft>
              <a:buFont typeface="Arial" charset="0"/>
              <a:buChar char="•"/>
            </a:pPr>
            <a:r>
              <a:rPr lang="zh-CN" altLang="en-US" sz="1800" b="0" i="0" u="none" strike="noStrike" kern="1200" cap="none" spc="0" baseline="0" dirty="0">
                <a:solidFill>
                  <a:schemeClr val="tx1"/>
                </a:solidFill>
                <a:latin typeface="Arial" charset="0"/>
                <a:ea typeface="微软雅黑" charset="0"/>
                <a:cs typeface="Arial" charset="0"/>
              </a:rPr>
              <a:t>损失函数：使用交叉熵，度量逻辑回归模型的预测值与实际标签之间的差异。</a:t>
            </a:r>
            <a:endParaRPr lang="en-US" altLang="zh-CN" sz="1800" b="0" i="0" u="none" strike="noStrike" kern="1200" cap="none" spc="0" baseline="0" dirty="0">
              <a:solidFill>
                <a:schemeClr val="tx1"/>
              </a:solidFill>
              <a:latin typeface="Arial" charset="0"/>
              <a:ea typeface="微软雅黑" charset="0"/>
              <a:cs typeface="Arial" charset="0"/>
            </a:endParaRPr>
          </a:p>
          <a:p>
            <a:pPr marL="285750" indent="-285750" algn="l">
              <a:lnSpc>
                <a:spcPct val="100000"/>
              </a:lnSpc>
              <a:spcBef>
                <a:spcPts val="0"/>
              </a:spcBef>
              <a:spcAft>
                <a:spcPts val="0"/>
              </a:spcAft>
              <a:buFont typeface="Arial" charset="0"/>
              <a:buChar char="•"/>
            </a:pPr>
            <a:endParaRPr lang="en-US" altLang="zh-CN" sz="1800" b="0" i="0" u="none" strike="noStrike" kern="1200" cap="none" spc="0" baseline="0" dirty="0">
              <a:solidFill>
                <a:schemeClr val="tx1"/>
              </a:solidFill>
              <a:latin typeface="Arial" charset="0"/>
              <a:ea typeface="微软雅黑" charset="0"/>
              <a:cs typeface="Arial" charset="0"/>
            </a:endParaRPr>
          </a:p>
          <a:p>
            <a:pPr marL="0" indent="0" algn="l">
              <a:lnSpc>
                <a:spcPct val="100000"/>
              </a:lnSpc>
              <a:spcBef>
                <a:spcPts val="0"/>
              </a:spcBef>
              <a:spcAft>
                <a:spcPts val="0"/>
              </a:spcAft>
              <a:buNone/>
            </a:pPr>
            <a:r>
              <a:rPr lang="en-US" altLang="zh-CN" sz="1800" b="0" i="0" u="none" strike="noStrike" kern="1200" cap="none" spc="0" baseline="0" dirty="0">
                <a:solidFill>
                  <a:schemeClr val="tx1"/>
                </a:solidFill>
                <a:latin typeface="Arial" charset="0"/>
                <a:ea typeface="微软雅黑" charset="0"/>
                <a:cs typeface="Arial" charset="0"/>
              </a:rPr>
              <a:t>3. </a:t>
            </a:r>
            <a:r>
              <a:rPr lang="zh-CN" altLang="en-US" sz="1800" b="0" i="0" u="none" strike="noStrike" kern="1200" cap="none" spc="0" baseline="0" dirty="0">
                <a:solidFill>
                  <a:schemeClr val="tx1"/>
                </a:solidFill>
                <a:latin typeface="Arial" charset="0"/>
                <a:ea typeface="微软雅黑" charset="0"/>
                <a:cs typeface="Arial" charset="0"/>
              </a:rPr>
              <a:t>多分类学习（将二分类分类器改装为多分类分类器）</a:t>
            </a:r>
            <a:endParaRPr lang="en-US" altLang="zh-CN" sz="1800" b="0" i="0" u="none" strike="noStrike" kern="1200" cap="none" spc="0" baseline="0" dirty="0">
              <a:solidFill>
                <a:schemeClr val="tx1"/>
              </a:solidFill>
              <a:latin typeface="Arial" charset="0"/>
              <a:ea typeface="微软雅黑" charset="0"/>
              <a:cs typeface="Arial" charset="0"/>
            </a:endParaRPr>
          </a:p>
          <a:p>
            <a:pPr marL="285750" indent="-285750" algn="l">
              <a:lnSpc>
                <a:spcPct val="100000"/>
              </a:lnSpc>
              <a:spcBef>
                <a:spcPts val="0"/>
              </a:spcBef>
              <a:spcAft>
                <a:spcPts val="0"/>
              </a:spcAft>
              <a:buFont typeface="Arial" charset="0"/>
              <a:buChar char="•"/>
            </a:pPr>
            <a:r>
              <a:rPr lang="zh-CN" altLang="en-US" sz="1800" b="0" i="0" u="none" strike="noStrike" kern="1200" cap="none" spc="0" baseline="0" dirty="0">
                <a:solidFill>
                  <a:schemeClr val="tx1"/>
                </a:solidFill>
                <a:latin typeface="Arial" charset="0"/>
                <a:ea typeface="微软雅黑" charset="0"/>
                <a:cs typeface="Arial" charset="0"/>
              </a:rPr>
              <a:t>常见的策略OvO,OvR,MvM。</a:t>
            </a:r>
            <a:endParaRPr lang="en-US" altLang="zh-CN" sz="1800" b="0" i="0" u="none" strike="noStrike" kern="1200" cap="none" spc="0" baseline="0" dirty="0">
              <a:solidFill>
                <a:schemeClr val="tx1"/>
              </a:solidFill>
              <a:latin typeface="Arial" charset="0"/>
              <a:ea typeface="微软雅黑" charset="0"/>
              <a:cs typeface="Arial" charset="0"/>
            </a:endParaRPr>
          </a:p>
          <a:p>
            <a:pPr marL="285750" indent="-285750" algn="l">
              <a:lnSpc>
                <a:spcPct val="100000"/>
              </a:lnSpc>
              <a:spcBef>
                <a:spcPts val="0"/>
              </a:spcBef>
              <a:spcAft>
                <a:spcPts val="0"/>
              </a:spcAft>
              <a:buFont typeface="Arial" charset="0"/>
              <a:buChar char="•"/>
            </a:pPr>
            <a:endParaRPr lang="en-US" altLang="zh-CN" sz="1800" b="0" i="0" u="none" strike="noStrike" kern="1200" cap="none" spc="0" baseline="0" dirty="0">
              <a:solidFill>
                <a:schemeClr val="tx1"/>
              </a:solidFill>
              <a:latin typeface="Arial" charset="0"/>
              <a:ea typeface="微软雅黑" charset="0"/>
              <a:cs typeface="Arial" charset="0"/>
            </a:endParaRPr>
          </a:p>
          <a:p>
            <a:pPr marL="0" indent="0" algn="l">
              <a:lnSpc>
                <a:spcPct val="100000"/>
              </a:lnSpc>
              <a:spcBef>
                <a:spcPts val="0"/>
              </a:spcBef>
              <a:spcAft>
                <a:spcPts val="0"/>
              </a:spcAft>
              <a:buNone/>
            </a:pPr>
            <a:r>
              <a:rPr lang="en-US" altLang="zh-CN" sz="1800" b="0" i="0" u="none" strike="noStrike" kern="1200" cap="none" spc="0" baseline="0" dirty="0">
                <a:solidFill>
                  <a:schemeClr val="tx1"/>
                </a:solidFill>
                <a:latin typeface="Arial" charset="0"/>
                <a:ea typeface="微软雅黑" charset="0"/>
                <a:cs typeface="Arial" charset="0"/>
              </a:rPr>
              <a:t>4.</a:t>
            </a:r>
            <a:r>
              <a:rPr lang="zh-CN" altLang="en-US" sz="1800" b="0" i="0" u="none" strike="noStrike" kern="1200" cap="none" spc="0" baseline="0" dirty="0">
                <a:solidFill>
                  <a:schemeClr val="tx1"/>
                </a:solidFill>
                <a:latin typeface="Arial" charset="0"/>
                <a:ea typeface="微软雅黑" charset="0"/>
                <a:cs typeface="Arial" charset="0"/>
              </a:rPr>
              <a:t>类别不平衡问题：</a:t>
            </a:r>
            <a:endParaRPr lang="en-US" altLang="zh-CN" sz="1800" b="0" i="0" u="none" strike="noStrike" kern="1200" cap="none" spc="0" baseline="0" dirty="0">
              <a:solidFill>
                <a:schemeClr val="tx1"/>
              </a:solidFill>
              <a:latin typeface="Arial" charset="0"/>
              <a:ea typeface="微软雅黑" charset="0"/>
              <a:cs typeface="Arial" charset="0"/>
            </a:endParaRPr>
          </a:p>
          <a:p>
            <a:pPr marL="285750" indent="-285750" algn="l">
              <a:lnSpc>
                <a:spcPct val="100000"/>
              </a:lnSpc>
              <a:spcBef>
                <a:spcPts val="0"/>
              </a:spcBef>
              <a:spcAft>
                <a:spcPts val="0"/>
              </a:spcAft>
              <a:buFont typeface="Arial" charset="0"/>
              <a:buChar char="•"/>
            </a:pPr>
            <a:r>
              <a:rPr lang="zh-CN" altLang="en-US" sz="1800" b="0" i="0" u="none" strike="noStrike" kern="1200" cap="none" spc="0" baseline="0" dirty="0">
                <a:solidFill>
                  <a:schemeClr val="tx1"/>
                </a:solidFill>
                <a:latin typeface="Arial" charset="0"/>
                <a:ea typeface="微软雅黑" charset="0"/>
                <a:cs typeface="Arial" charset="0"/>
              </a:rPr>
              <a:t>欠采样（注意EasyEnsemble）和过采样（重复采样、插值法）</a:t>
            </a:r>
          </a:p>
        </p:txBody>
      </p:sp>
      <p:pic>
        <p:nvPicPr>
          <p:cNvPr id="73" name="图片"/>
          <p:cNvPicPr>
            <a:picLocks noChangeAspect="1"/>
          </p:cNvPicPr>
          <p:nvPr/>
        </p:nvPicPr>
        <p:blipFill>
          <a:blip r:embed="rId2" cstate="print"/>
          <a:stretch>
            <a:fillRect/>
          </a:stretch>
        </p:blipFill>
        <p:spPr>
          <a:xfrm>
            <a:off x="8313420" y="855345"/>
            <a:ext cx="3100704" cy="676275"/>
          </a:xfrm>
          <a:prstGeom prst="rect">
            <a:avLst/>
          </a:prstGeom>
          <a:noFill/>
          <a:ln w="12700" cap="flat" cmpd="sng">
            <a:noFill/>
            <a:prstDash val="solid"/>
            <a:miter/>
          </a:ln>
        </p:spPr>
      </p:pic>
      <p:pic>
        <p:nvPicPr>
          <p:cNvPr id="74" name="图片"/>
          <p:cNvPicPr>
            <a:picLocks noChangeAspect="1"/>
          </p:cNvPicPr>
          <p:nvPr/>
        </p:nvPicPr>
        <p:blipFill>
          <a:blip r:embed="rId3" cstate="print"/>
          <a:stretch>
            <a:fillRect/>
          </a:stretch>
        </p:blipFill>
        <p:spPr>
          <a:xfrm>
            <a:off x="8103870" y="86995"/>
            <a:ext cx="3576955" cy="662305"/>
          </a:xfrm>
          <a:prstGeom prst="rect">
            <a:avLst/>
          </a:prstGeom>
          <a:noFill/>
          <a:ln w="12700" cap="flat" cmpd="sng">
            <a:noFill/>
            <a:prstDash val="solid"/>
            <a:miter/>
          </a:ln>
        </p:spPr>
      </p:pic>
      <p:pic>
        <p:nvPicPr>
          <p:cNvPr id="75" name="图片"/>
          <p:cNvPicPr>
            <a:picLocks noChangeAspect="1"/>
          </p:cNvPicPr>
          <p:nvPr/>
        </p:nvPicPr>
        <p:blipFill>
          <a:blip r:embed="rId4" cstate="print"/>
          <a:stretch>
            <a:fillRect/>
          </a:stretch>
        </p:blipFill>
        <p:spPr>
          <a:xfrm>
            <a:off x="7783194" y="2219960"/>
            <a:ext cx="4038600" cy="576580"/>
          </a:xfrm>
          <a:prstGeom prst="rect">
            <a:avLst/>
          </a:prstGeom>
          <a:noFill/>
          <a:ln w="12700" cap="flat" cmpd="sng">
            <a:noFill/>
            <a:prstDash val="solid"/>
            <a:miter/>
          </a:ln>
        </p:spPr>
      </p:pic>
    </p:spTree>
    <p:extLst>
      <p:ext uri="{BB962C8B-B14F-4D97-AF65-F5344CB8AC3E}">
        <p14:creationId xmlns:p14="http://schemas.microsoft.com/office/powerpoint/2010/main" val="179159108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6" name="图片"/>
          <p:cNvPicPr>
            <a:picLocks noChangeAspect="1"/>
          </p:cNvPicPr>
          <p:nvPr/>
        </p:nvPicPr>
        <p:blipFill>
          <a:blip r:embed="rId2" cstate="print"/>
          <a:stretch>
            <a:fillRect/>
          </a:stretch>
        </p:blipFill>
        <p:spPr>
          <a:xfrm>
            <a:off x="1308735" y="664210"/>
            <a:ext cx="8932544" cy="5669280"/>
          </a:xfrm>
          <a:prstGeom prst="rect">
            <a:avLst/>
          </a:prstGeom>
          <a:noFill/>
          <a:ln w="12700" cap="flat" cmpd="sng">
            <a:noFill/>
            <a:prstDash val="solid"/>
            <a:miter/>
          </a:ln>
        </p:spPr>
      </p:pic>
    </p:spTree>
    <p:extLst>
      <p:ext uri="{BB962C8B-B14F-4D97-AF65-F5344CB8AC3E}">
        <p14:creationId xmlns:p14="http://schemas.microsoft.com/office/powerpoint/2010/main" val="202795575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矩形"/>
          <p:cNvSpPr>
            <a:spLocks/>
          </p:cNvSpPr>
          <p:nvPr/>
        </p:nvSpPr>
        <p:spPr>
          <a:xfrm>
            <a:off x="4201160" y="2755900"/>
            <a:ext cx="6096000" cy="706755"/>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en-US" altLang="zh-CN" sz="4000" b="0" i="0" u="none" strike="noStrike" kern="1200" cap="none" spc="0" baseline="0">
                <a:solidFill>
                  <a:schemeClr val="tx1"/>
                </a:solidFill>
                <a:latin typeface="Arial" charset="0"/>
                <a:ea typeface="微软雅黑" charset="0"/>
                <a:cs typeface="Arial" charset="0"/>
                <a:sym typeface="微软雅黑" charset="0"/>
              </a:rPr>
              <a:t>4.</a:t>
            </a:r>
            <a:r>
              <a:rPr lang="zh-CN" altLang="en-US" sz="4000" b="0" i="0" u="none" strike="noStrike" kern="1200" cap="none" spc="0" baseline="0">
                <a:solidFill>
                  <a:schemeClr val="tx1"/>
                </a:solidFill>
                <a:latin typeface="Arial" charset="0"/>
                <a:ea typeface="微软雅黑" charset="0"/>
                <a:cs typeface="Arial" charset="0"/>
                <a:sym typeface="微软雅黑" charset="0"/>
              </a:rPr>
              <a:t>决策树</a:t>
            </a:r>
          </a:p>
        </p:txBody>
      </p:sp>
    </p:spTree>
    <p:extLst>
      <p:ext uri="{BB962C8B-B14F-4D97-AF65-F5344CB8AC3E}">
        <p14:creationId xmlns:p14="http://schemas.microsoft.com/office/powerpoint/2010/main" val="102741216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矩形"/>
          <p:cNvSpPr>
            <a:spLocks/>
          </p:cNvSpPr>
          <p:nvPr/>
        </p:nvSpPr>
        <p:spPr>
          <a:xfrm>
            <a:off x="471805" y="477519"/>
            <a:ext cx="10860405" cy="5169535"/>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285750" indent="-285750" algn="l">
              <a:lnSpc>
                <a:spcPct val="100000"/>
              </a:lnSpc>
              <a:spcBef>
                <a:spcPts val="0"/>
              </a:spcBef>
              <a:spcAft>
                <a:spcPts val="0"/>
              </a:spcAft>
              <a:buFont typeface="Arial" charset="0"/>
              <a:buChar char="•"/>
            </a:pPr>
            <a:r>
              <a:rPr lang="zh-CN" altLang="en-US" sz="1800" b="0" i="1" u="none" strike="noStrike" kern="1200" cap="none" spc="0" baseline="0">
                <a:solidFill>
                  <a:schemeClr val="tx1"/>
                </a:solidFill>
                <a:latin typeface="Arial" charset="0"/>
                <a:ea typeface="微软雅黑" charset="0"/>
                <a:cs typeface="Arial" charset="0"/>
              </a:rPr>
              <a:t>决策树是一种强方差模型，我们需要时时刻刻注意过拟合问题</a:t>
            </a:r>
            <a:endParaRPr lang="en-US" altLang="zh-CN" sz="1800" b="0" i="1" u="none" strike="noStrike" kern="1200" cap="none" spc="0" baseline="0">
              <a:solidFill>
                <a:schemeClr val="tx1"/>
              </a:solidFill>
              <a:latin typeface="Arial" charset="0"/>
              <a:ea typeface="微软雅黑" charset="0"/>
              <a:cs typeface="Arial" charset="0"/>
            </a:endParaRPr>
          </a:p>
          <a:p>
            <a:pPr marL="285750" indent="-285750" algn="l">
              <a:lnSpc>
                <a:spcPct val="100000"/>
              </a:lnSpc>
              <a:spcBef>
                <a:spcPts val="0"/>
              </a:spcBef>
              <a:spcAft>
                <a:spcPts val="0"/>
              </a:spcAft>
              <a:buFont typeface="Arial" charset="0"/>
              <a:buChar char="•"/>
            </a:pPr>
            <a:endParaRPr lang="en-US" altLang="zh-CN" sz="1800" b="0" i="1" u="none" strike="noStrike" kern="1200" cap="none" spc="0" baseline="0">
              <a:solidFill>
                <a:schemeClr val="tx1"/>
              </a:solidFill>
              <a:latin typeface="Arial" charset="0"/>
              <a:ea typeface="微软雅黑" charset="0"/>
              <a:cs typeface="Arial" charset="0"/>
            </a:endParaRPr>
          </a:p>
          <a:p>
            <a:pPr marL="285750" indent="-285750" algn="l">
              <a:lnSpc>
                <a:spcPct val="100000"/>
              </a:lnSpc>
              <a:spcBef>
                <a:spcPts val="0"/>
              </a:spcBef>
              <a:spcAft>
                <a:spcPts val="0"/>
              </a:spcAft>
              <a:buFont typeface="Arial" charset="0"/>
              <a:buChar char="•"/>
            </a:pPr>
            <a:endParaRPr lang="en-US" altLang="zh-CN" sz="1800" b="0" i="1" u="none" strike="noStrike" kern="1200" cap="none" spc="0" baseline="0">
              <a:solidFill>
                <a:schemeClr val="tx1"/>
              </a:solidFill>
              <a:latin typeface="Arial" charset="0"/>
              <a:ea typeface="微软雅黑" charset="0"/>
              <a:cs typeface="Arial" charset="0"/>
            </a:endParaRPr>
          </a:p>
          <a:p>
            <a:pPr marL="0" indent="0" algn="l">
              <a:lnSpc>
                <a:spcPct val="100000"/>
              </a:lnSpc>
              <a:spcBef>
                <a:spcPts val="0"/>
              </a:spcBef>
              <a:spcAft>
                <a:spcPts val="0"/>
              </a:spcAft>
              <a:buNone/>
            </a:pPr>
            <a:r>
              <a:rPr lang="en-US" altLang="zh-CN" sz="1800" b="0" i="0" u="none" strike="noStrike" kern="1200" cap="none" spc="0" baseline="0">
                <a:solidFill>
                  <a:schemeClr val="tx1"/>
                </a:solidFill>
                <a:latin typeface="Arial" charset="0"/>
                <a:ea typeface="微软雅黑" charset="0"/>
                <a:cs typeface="Arial" charset="0"/>
              </a:rPr>
              <a:t>1. </a:t>
            </a:r>
            <a:r>
              <a:rPr lang="zh-CN" altLang="en-US" sz="1800" b="0" i="0" u="none" strike="noStrike" kern="1200" cap="none" spc="0" baseline="0">
                <a:solidFill>
                  <a:schemeClr val="tx1"/>
                </a:solidFill>
                <a:latin typeface="Arial" charset="0"/>
                <a:ea typeface="微软雅黑" charset="0"/>
                <a:cs typeface="Arial" charset="0"/>
              </a:rPr>
              <a:t>一定得看决策树算法，不看就寄</a:t>
            </a:r>
            <a:endParaRPr lang="en-US" altLang="zh-CN" sz="1800" b="0" i="0" u="none" strike="noStrike" kern="1200" cap="none" spc="0" baseline="0">
              <a:solidFill>
                <a:schemeClr val="tx1"/>
              </a:solidFill>
              <a:latin typeface="Arial" charset="0"/>
              <a:ea typeface="微软雅黑" charset="0"/>
              <a:cs typeface="Arial" charset="0"/>
            </a:endParaRPr>
          </a:p>
          <a:p>
            <a:pPr marL="0" indent="0" algn="l">
              <a:lnSpc>
                <a:spcPct val="100000"/>
              </a:lnSpc>
              <a:spcBef>
                <a:spcPts val="0"/>
              </a:spcBef>
              <a:spcAft>
                <a:spcPts val="0"/>
              </a:spcAft>
              <a:buNone/>
            </a:pPr>
            <a:r>
              <a:rPr lang="en-US" altLang="zh-CN" sz="1800" b="0" i="0" u="none" strike="noStrike" kern="1200" cap="none" spc="0" baseline="0">
                <a:solidFill>
                  <a:schemeClr val="tx1"/>
                </a:solidFill>
                <a:latin typeface="Arial" charset="0"/>
                <a:ea typeface="微软雅黑" charset="0"/>
                <a:cs typeface="Arial" charset="0"/>
              </a:rPr>
              <a:t>2. </a:t>
            </a:r>
            <a:r>
              <a:rPr lang="zh-CN" altLang="en-US" sz="1800" b="0" i="0" u="none" strike="noStrike" kern="1200" cap="none" spc="0" baseline="0">
                <a:solidFill>
                  <a:schemeClr val="tx1"/>
                </a:solidFill>
                <a:latin typeface="Arial" charset="0"/>
                <a:ea typeface="微软雅黑" charset="0"/>
                <a:cs typeface="Arial" charset="0"/>
              </a:rPr>
              <a:t>划分选择：</a:t>
            </a:r>
            <a:endParaRPr lang="en-US" altLang="zh-CN" sz="1800" b="0" i="0" u="none" strike="noStrike" kern="1200" cap="none" spc="0" baseline="0">
              <a:solidFill>
                <a:schemeClr val="tx1"/>
              </a:solidFill>
              <a:latin typeface="Arial" charset="0"/>
              <a:ea typeface="微软雅黑" charset="0"/>
              <a:cs typeface="Arial" charset="0"/>
            </a:endParaRPr>
          </a:p>
          <a:p>
            <a:pPr marL="0" indent="457200" algn="l">
              <a:lnSpc>
                <a:spcPct val="100000"/>
              </a:lnSpc>
              <a:spcBef>
                <a:spcPts val="0"/>
              </a:spcBef>
              <a:spcAft>
                <a:spcPts val="0"/>
              </a:spcAft>
              <a:buNone/>
            </a:pPr>
            <a:r>
              <a:rPr lang="zh-CN" altLang="en-US" sz="1600" b="0" i="0" u="none" strike="noStrike" kern="1200" cap="none" spc="0" baseline="0">
                <a:solidFill>
                  <a:schemeClr val="tx1"/>
                </a:solidFill>
                <a:latin typeface="Arial" charset="0"/>
                <a:ea typeface="微软雅黑" charset="0"/>
                <a:cs typeface="Arial" charset="0"/>
              </a:rPr>
              <a:t>我们希望决策树的分支节点所包含的样本尽可能属于同一类别，即“纯度”越来越高，划分选择往往有以下几种方式：</a:t>
            </a:r>
            <a:endParaRPr lang="en-US" altLang="zh-CN" sz="1600" b="0" i="0" u="none" strike="noStrike" kern="1200" cap="none" spc="0" baseline="0">
              <a:solidFill>
                <a:schemeClr val="tx1"/>
              </a:solidFill>
              <a:latin typeface="Arial" charset="0"/>
              <a:ea typeface="微软雅黑" charset="0"/>
              <a:cs typeface="Arial" charset="0"/>
            </a:endParaRPr>
          </a:p>
          <a:p>
            <a:pPr marL="800100" lvl="1" indent="-342900" algn="l">
              <a:lnSpc>
                <a:spcPct val="100000"/>
              </a:lnSpc>
              <a:spcBef>
                <a:spcPts val="0"/>
              </a:spcBef>
              <a:spcAft>
                <a:spcPts val="0"/>
              </a:spcAft>
              <a:buClrTx/>
              <a:buAutoNum type="alphaLcParenR"/>
            </a:pPr>
            <a:r>
              <a:rPr lang="zh-CN" altLang="en-US" sz="1600" b="0" i="0" u="none" strike="noStrike" kern="1200" cap="none" spc="0" baseline="0">
                <a:solidFill>
                  <a:schemeClr val="tx1"/>
                </a:solidFill>
                <a:latin typeface="Arial" charset="0"/>
                <a:ea typeface="微软雅黑" charset="0"/>
                <a:cs typeface="Arial" charset="0"/>
              </a:rPr>
              <a:t>信息增益（基于信息熵）</a:t>
            </a:r>
            <a:endParaRPr lang="en-US" altLang="zh-CN" sz="1600" b="0" i="0" u="none" strike="noStrike" kern="1200" cap="none" spc="0" baseline="0">
              <a:solidFill>
                <a:schemeClr val="tx1"/>
              </a:solidFill>
              <a:latin typeface="Arial" charset="0"/>
              <a:ea typeface="微软雅黑" charset="0"/>
              <a:cs typeface="Arial" charset="0"/>
            </a:endParaRPr>
          </a:p>
          <a:p>
            <a:pPr marL="800100" lvl="1" indent="-342900" algn="l">
              <a:lnSpc>
                <a:spcPct val="100000"/>
              </a:lnSpc>
              <a:spcBef>
                <a:spcPts val="0"/>
              </a:spcBef>
              <a:spcAft>
                <a:spcPts val="0"/>
              </a:spcAft>
              <a:buClrTx/>
              <a:buAutoNum type="alphaLcParenR"/>
            </a:pPr>
            <a:r>
              <a:rPr lang="zh-CN" altLang="en-US" sz="1600" b="0" i="0" u="none" strike="noStrike" kern="1200" cap="none" spc="0" baseline="0">
                <a:solidFill>
                  <a:schemeClr val="tx1"/>
                </a:solidFill>
                <a:latin typeface="Arial" charset="0"/>
                <a:ea typeface="微软雅黑" charset="0"/>
                <a:cs typeface="Arial" charset="0"/>
              </a:rPr>
              <a:t>增益率</a:t>
            </a:r>
            <a:endParaRPr lang="en-US" altLang="zh-CN" sz="1600" b="0" i="0" u="none" strike="noStrike" kern="1200" cap="none" spc="0" baseline="0">
              <a:solidFill>
                <a:schemeClr val="tx1"/>
              </a:solidFill>
              <a:latin typeface="Arial" charset="0"/>
              <a:ea typeface="微软雅黑" charset="0"/>
              <a:cs typeface="Arial" charset="0"/>
            </a:endParaRPr>
          </a:p>
          <a:p>
            <a:pPr marL="800100" lvl="1" indent="-342900" algn="l">
              <a:lnSpc>
                <a:spcPct val="100000"/>
              </a:lnSpc>
              <a:spcBef>
                <a:spcPts val="0"/>
              </a:spcBef>
              <a:spcAft>
                <a:spcPts val="0"/>
              </a:spcAft>
              <a:buClrTx/>
              <a:buAutoNum type="alphaLcParenR"/>
            </a:pPr>
            <a:r>
              <a:rPr lang="zh-CN" altLang="en-US" sz="1600" b="0" i="0" u="none" strike="noStrike" kern="1200" cap="none" spc="0" baseline="0">
                <a:solidFill>
                  <a:schemeClr val="tx1"/>
                </a:solidFill>
                <a:latin typeface="Arial" charset="0"/>
                <a:ea typeface="微软雅黑" charset="0"/>
                <a:cs typeface="Arial" charset="0"/>
              </a:rPr>
              <a:t>基尼系数</a:t>
            </a:r>
            <a:r>
              <a:rPr lang="en-US" altLang="zh-CN" sz="1600" b="0" i="0" u="none" strike="noStrike" kern="1200" cap="none" spc="0" baseline="0">
                <a:solidFill>
                  <a:schemeClr val="tx1"/>
                </a:solidFill>
                <a:latin typeface="Arial" charset="0"/>
                <a:ea typeface="微软雅黑" charset="0"/>
                <a:cs typeface="Arial" charset="0"/>
              </a:rPr>
              <a:t> </a:t>
            </a:r>
            <a:r>
              <a:rPr lang="zh-CN" altLang="en-US" sz="1600" b="0" i="0" u="none" strike="noStrike" kern="1200" cap="none" spc="0" baseline="0">
                <a:solidFill>
                  <a:schemeClr val="tx1"/>
                </a:solidFill>
                <a:latin typeface="Arial" charset="0"/>
                <a:ea typeface="微软雅黑" charset="0"/>
                <a:cs typeface="Arial" charset="0"/>
              </a:rPr>
              <a:t>（直观来说，基尼系数就是随机在集合中取两个，两个不是一个类的期望。Gini越小说明其不是一个类的概率越小，说明越纯净。）</a:t>
            </a:r>
            <a:endParaRPr lang="en-US" altLang="zh-CN" sz="1600" b="0" i="0" u="none" strike="noStrike" kern="1200" cap="none" spc="0" baseline="0">
              <a:solidFill>
                <a:schemeClr val="tx1"/>
              </a:solidFill>
              <a:latin typeface="Arial" charset="0"/>
              <a:ea typeface="微软雅黑" charset="0"/>
              <a:cs typeface="Arial" charset="0"/>
            </a:endParaRPr>
          </a:p>
          <a:p>
            <a:pPr marL="457200" lvl="1" indent="0" algn="l">
              <a:lnSpc>
                <a:spcPct val="100000"/>
              </a:lnSpc>
              <a:spcBef>
                <a:spcPts val="0"/>
              </a:spcBef>
              <a:spcAft>
                <a:spcPts val="0"/>
              </a:spcAft>
              <a:buNone/>
            </a:pPr>
            <a:r>
              <a:rPr lang="zh-CN" altLang="en-US" sz="1600" b="0" i="0" u="none" strike="noStrike" kern="1200" cap="none" spc="0" baseline="0">
                <a:solidFill>
                  <a:schemeClr val="tx1"/>
                </a:solidFill>
                <a:latin typeface="Arial" charset="0"/>
                <a:ea typeface="微软雅黑" charset="0"/>
                <a:cs typeface="Arial" charset="0"/>
              </a:rPr>
              <a:t>基于三种方式的决策树构建都得看。</a:t>
            </a:r>
            <a:endParaRPr lang="en-US" altLang="zh-CN" sz="1600" b="0" i="0" u="none" strike="noStrike" kern="1200" cap="none" spc="0" baseline="0">
              <a:solidFill>
                <a:schemeClr val="tx1"/>
              </a:solidFill>
              <a:latin typeface="Arial" charset="0"/>
              <a:ea typeface="微软雅黑" charset="0"/>
              <a:cs typeface="Arial" charset="0"/>
            </a:endParaRPr>
          </a:p>
          <a:p>
            <a:pPr marL="457200" lvl="1" indent="0" algn="l">
              <a:lnSpc>
                <a:spcPct val="100000"/>
              </a:lnSpc>
              <a:spcBef>
                <a:spcPts val="0"/>
              </a:spcBef>
              <a:spcAft>
                <a:spcPts val="0"/>
              </a:spcAft>
              <a:buNone/>
            </a:pPr>
            <a:endParaRPr lang="en-US" altLang="zh-CN" sz="1600" b="0" i="0" u="none" strike="noStrike" kern="1200" cap="none" spc="0" baseline="0">
              <a:solidFill>
                <a:schemeClr val="tx1"/>
              </a:solidFill>
              <a:latin typeface="Arial" charset="0"/>
              <a:ea typeface="微软雅黑" charset="0"/>
              <a:cs typeface="Arial" charset="0"/>
            </a:endParaRPr>
          </a:p>
          <a:p>
            <a:pPr marL="0" indent="0" algn="l">
              <a:lnSpc>
                <a:spcPct val="100000"/>
              </a:lnSpc>
              <a:spcBef>
                <a:spcPts val="0"/>
              </a:spcBef>
              <a:spcAft>
                <a:spcPts val="0"/>
              </a:spcAft>
              <a:buNone/>
            </a:pPr>
            <a:r>
              <a:rPr lang="en-US" altLang="zh-CN" sz="1600" b="0" i="0" u="none" strike="noStrike" kern="1200" cap="none" spc="0" baseline="0">
                <a:solidFill>
                  <a:schemeClr val="tx1"/>
                </a:solidFill>
                <a:latin typeface="Arial" charset="0"/>
                <a:ea typeface="微软雅黑" charset="0"/>
                <a:cs typeface="Arial" charset="0"/>
              </a:rPr>
              <a:t>3. 剪枝处理</a:t>
            </a:r>
            <a:r>
              <a:rPr lang="zh-CN" altLang="en-US" sz="1600" b="0" i="0" u="none" strike="noStrike" kern="1200" cap="none" spc="0" baseline="0">
                <a:solidFill>
                  <a:schemeClr val="tx1"/>
                </a:solidFill>
                <a:latin typeface="Arial" charset="0"/>
                <a:ea typeface="微软雅黑" charset="0"/>
                <a:cs typeface="Arial" charset="0"/>
              </a:rPr>
              <a:t>（两种处理的优劣得看看，不看要寄）</a:t>
            </a:r>
            <a:endParaRPr lang="en-US" altLang="zh-CN" sz="1600" b="0" i="0" u="none" strike="noStrike" kern="1200" cap="none" spc="0" baseline="0">
              <a:solidFill>
                <a:schemeClr val="tx1"/>
              </a:solidFill>
              <a:latin typeface="Arial" charset="0"/>
              <a:ea typeface="微软雅黑" charset="0"/>
              <a:cs typeface="Arial" charset="0"/>
            </a:endParaRPr>
          </a:p>
          <a:p>
            <a:pPr marL="0" indent="457200" algn="l">
              <a:lnSpc>
                <a:spcPct val="100000"/>
              </a:lnSpc>
              <a:spcBef>
                <a:spcPts val="0"/>
              </a:spcBef>
              <a:spcAft>
                <a:spcPts val="0"/>
              </a:spcAft>
              <a:buNone/>
            </a:pPr>
            <a:r>
              <a:rPr lang="zh-CN" altLang="en-US" sz="1600" b="0" i="0" u="none" strike="noStrike" kern="1200" cap="none" spc="0" baseline="0">
                <a:solidFill>
                  <a:srgbClr val="FF0000"/>
                </a:solidFill>
                <a:latin typeface="Arial" charset="0"/>
                <a:ea typeface="微软雅黑" charset="0"/>
                <a:cs typeface="Arial" charset="0"/>
              </a:rPr>
              <a:t>此时引入了一个东西叫做“验证集”，他与测试集的区别主要是，测试集在训练的全程对于学习器来说是不可见的。而验证集的作用是辅助训练。</a:t>
            </a:r>
            <a:endParaRPr lang="en-US" altLang="zh-CN" sz="1600" b="0" i="0" u="none" strike="noStrike" kern="1200" cap="none" spc="0" baseline="0">
              <a:solidFill>
                <a:srgbClr val="FF0000"/>
              </a:solidFill>
              <a:latin typeface="Arial" charset="0"/>
              <a:ea typeface="微软雅黑" charset="0"/>
              <a:cs typeface="Arial" charset="0"/>
            </a:endParaRPr>
          </a:p>
          <a:p>
            <a:pPr marL="800100" lvl="1" indent="-342900" algn="l">
              <a:lnSpc>
                <a:spcPct val="100000"/>
              </a:lnSpc>
              <a:spcBef>
                <a:spcPts val="0"/>
              </a:spcBef>
              <a:spcAft>
                <a:spcPts val="0"/>
              </a:spcAft>
              <a:buClrTx/>
              <a:buAutoNum type="alphaLcParenR"/>
            </a:pPr>
            <a:r>
              <a:rPr lang="zh-CN" altLang="en-US" sz="1600" b="0" i="0" u="none" strike="noStrike" kern="1200" cap="none" spc="0" baseline="0">
                <a:solidFill>
                  <a:schemeClr val="tx1"/>
                </a:solidFill>
                <a:latin typeface="Arial" charset="0"/>
                <a:ea typeface="微软雅黑" charset="0"/>
                <a:cs typeface="Arial" charset="0"/>
              </a:rPr>
              <a:t>预剪枝（其实就是在划分每一个节点的时候通过验证集判断一下精度是否提升，从而决定是否要划分）</a:t>
            </a:r>
            <a:endParaRPr lang="en-US" altLang="zh-CN" sz="1600" b="0" i="0" u="none" strike="noStrike" kern="1200" cap="none" spc="0" baseline="0">
              <a:solidFill>
                <a:schemeClr val="tx1"/>
              </a:solidFill>
              <a:latin typeface="Arial" charset="0"/>
              <a:ea typeface="微软雅黑" charset="0"/>
              <a:cs typeface="Arial" charset="0"/>
            </a:endParaRPr>
          </a:p>
          <a:p>
            <a:pPr marL="800100" lvl="1" indent="-342900" algn="l">
              <a:lnSpc>
                <a:spcPct val="100000"/>
              </a:lnSpc>
              <a:spcBef>
                <a:spcPts val="0"/>
              </a:spcBef>
              <a:spcAft>
                <a:spcPts val="0"/>
              </a:spcAft>
              <a:buClrTx/>
              <a:buAutoNum type="alphaLcParenR"/>
            </a:pPr>
            <a:r>
              <a:rPr lang="zh-CN" altLang="en-US" sz="1600" b="0" i="0" u="none" strike="noStrike" kern="1200" cap="none" spc="0" baseline="0">
                <a:solidFill>
                  <a:schemeClr val="tx1"/>
                </a:solidFill>
                <a:latin typeface="Arial" charset="0"/>
                <a:ea typeface="微软雅黑" charset="0"/>
                <a:cs typeface="Arial" charset="0"/>
              </a:rPr>
              <a:t>后剪枝（自底而上进行剪枝）</a:t>
            </a:r>
            <a:endParaRPr lang="en-US" altLang="zh-CN" sz="1600" b="0" i="0" u="none" strike="noStrike" kern="1200" cap="none" spc="0" baseline="0">
              <a:solidFill>
                <a:schemeClr val="tx1"/>
              </a:solidFill>
              <a:latin typeface="Arial" charset="0"/>
              <a:ea typeface="微软雅黑" charset="0"/>
              <a:cs typeface="Arial" charset="0"/>
            </a:endParaRPr>
          </a:p>
          <a:p>
            <a:pPr marL="0" indent="0" algn="l">
              <a:lnSpc>
                <a:spcPct val="100000"/>
              </a:lnSpc>
              <a:spcBef>
                <a:spcPts val="0"/>
              </a:spcBef>
              <a:spcAft>
                <a:spcPts val="0"/>
              </a:spcAft>
              <a:buNone/>
            </a:pPr>
            <a:r>
              <a:rPr lang="en-US" altLang="zh-CN" sz="1600" b="0" i="0" u="none" strike="noStrike" kern="1200" cap="none" spc="0" baseline="0">
                <a:solidFill>
                  <a:schemeClr val="tx1"/>
                </a:solidFill>
                <a:latin typeface="Arial" charset="0"/>
                <a:ea typeface="微软雅黑" charset="0"/>
                <a:cs typeface="Arial" charset="0"/>
              </a:rPr>
              <a:t>4.连续值处理</a:t>
            </a:r>
            <a:r>
              <a:rPr lang="zh-CN" altLang="en-US" sz="1600" b="0" i="0" u="none" strike="noStrike" kern="1200" cap="none" spc="0" baseline="0">
                <a:solidFill>
                  <a:schemeClr val="tx1"/>
                </a:solidFill>
                <a:latin typeface="Arial" charset="0"/>
                <a:ea typeface="微软雅黑" charset="0"/>
                <a:cs typeface="Arial" charset="0"/>
              </a:rPr>
              <a:t>（离散化、离散桶化）</a:t>
            </a:r>
            <a:endParaRPr lang="en-US" altLang="zh-CN" sz="1600" b="0" i="0" u="none" strike="noStrike" kern="1200" cap="none" spc="0" baseline="0">
              <a:solidFill>
                <a:schemeClr val="tx1"/>
              </a:solidFill>
              <a:latin typeface="Arial" charset="0"/>
              <a:ea typeface="微软雅黑" charset="0"/>
              <a:cs typeface="Arial" charset="0"/>
            </a:endParaRPr>
          </a:p>
          <a:p>
            <a:pPr marL="0" indent="0" algn="l">
              <a:lnSpc>
                <a:spcPct val="100000"/>
              </a:lnSpc>
              <a:spcBef>
                <a:spcPts val="0"/>
              </a:spcBef>
              <a:spcAft>
                <a:spcPts val="0"/>
              </a:spcAft>
              <a:buNone/>
            </a:pPr>
            <a:r>
              <a:rPr lang="en-US" altLang="zh-CN" sz="1600" b="0" i="0" u="none" strike="noStrike" kern="1200" cap="none" spc="0" baseline="0">
                <a:solidFill>
                  <a:schemeClr val="tx1"/>
                </a:solidFill>
                <a:latin typeface="Arial" charset="0"/>
                <a:ea typeface="微软雅黑" charset="0"/>
                <a:cs typeface="Arial" charset="0"/>
              </a:rPr>
              <a:t>5.</a:t>
            </a:r>
            <a:r>
              <a:rPr lang="zh-CN" altLang="en-US" sz="1600" b="0" i="0" u="none" strike="noStrike" kern="1200" cap="none" spc="0" baseline="0">
                <a:solidFill>
                  <a:schemeClr val="tx1"/>
                </a:solidFill>
                <a:latin typeface="Arial" charset="0"/>
                <a:ea typeface="微软雅黑" charset="0"/>
                <a:cs typeface="Arial" charset="0"/>
              </a:rPr>
              <a:t>缺失值处理（1.去除样本2.去除特征3.众数填补4.平均值填补。）</a:t>
            </a:r>
          </a:p>
        </p:txBody>
      </p:sp>
    </p:spTree>
    <p:extLst>
      <p:ext uri="{BB962C8B-B14F-4D97-AF65-F5344CB8AC3E}">
        <p14:creationId xmlns:p14="http://schemas.microsoft.com/office/powerpoint/2010/main" val="10735057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 name="矩形"/>
          <p:cNvSpPr>
            <a:spLocks/>
          </p:cNvSpPr>
          <p:nvPr/>
        </p:nvSpPr>
        <p:spPr>
          <a:xfrm>
            <a:off x="3631565" y="2741929"/>
            <a:ext cx="6096000" cy="645160"/>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en-US" altLang="zh-CN" sz="3600" b="0" i="0" u="none" strike="noStrike" kern="1200" cap="none" spc="0" baseline="0">
                <a:solidFill>
                  <a:schemeClr val="tx1"/>
                </a:solidFill>
                <a:latin typeface="Arial" charset="0"/>
                <a:ea typeface="微软雅黑" charset="0"/>
                <a:cs typeface="Arial" charset="0"/>
                <a:sym typeface="微软雅黑" charset="0"/>
              </a:rPr>
              <a:t>5.</a:t>
            </a:r>
            <a:r>
              <a:rPr lang="zh-CN" altLang="en-US" sz="3600" b="0" i="0" u="none" strike="noStrike" kern="1200" cap="none" spc="0" baseline="0">
                <a:solidFill>
                  <a:schemeClr val="tx1"/>
                </a:solidFill>
                <a:latin typeface="Arial" charset="0"/>
                <a:ea typeface="微软雅黑" charset="0"/>
                <a:cs typeface="Arial" charset="0"/>
                <a:sym typeface="微软雅黑" charset="0"/>
              </a:rPr>
              <a:t>神经网络</a:t>
            </a:r>
          </a:p>
        </p:txBody>
      </p:sp>
    </p:spTree>
    <p:extLst>
      <p:ext uri="{BB962C8B-B14F-4D97-AF65-F5344CB8AC3E}">
        <p14:creationId xmlns:p14="http://schemas.microsoft.com/office/powerpoint/2010/main" val="59711326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0" name="图片"/>
          <p:cNvPicPr>
            <a:picLocks noChangeAspect="1"/>
          </p:cNvPicPr>
          <p:nvPr/>
        </p:nvPicPr>
        <p:blipFill>
          <a:blip r:embed="rId2" cstate="print"/>
          <a:stretch>
            <a:fillRect/>
          </a:stretch>
        </p:blipFill>
        <p:spPr>
          <a:xfrm>
            <a:off x="5963802" y="914843"/>
            <a:ext cx="6020754" cy="3312368"/>
          </a:xfrm>
          <a:prstGeom prst="rect">
            <a:avLst/>
          </a:prstGeom>
          <a:noFill/>
          <a:ln w="12700" cap="flat" cmpd="sng">
            <a:solidFill>
              <a:srgbClr val="000000"/>
            </a:solidFill>
            <a:prstDash val="solid"/>
            <a:round/>
          </a:ln>
        </p:spPr>
      </p:pic>
      <p:sp>
        <p:nvSpPr>
          <p:cNvPr id="81" name="矩形"/>
          <p:cNvSpPr>
            <a:spLocks/>
          </p:cNvSpPr>
          <p:nvPr/>
        </p:nvSpPr>
        <p:spPr>
          <a:xfrm>
            <a:off x="706119" y="844550"/>
            <a:ext cx="5133572" cy="5078313"/>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en-US" altLang="zh-CN" sz="1800" b="0" i="0" u="none" strike="noStrike" kern="1200" cap="none" spc="0" baseline="0" dirty="0">
                <a:solidFill>
                  <a:schemeClr val="tx1"/>
                </a:solidFill>
                <a:latin typeface="Arial" charset="0"/>
                <a:ea typeface="微软雅黑" charset="0"/>
                <a:cs typeface="Arial" charset="0"/>
              </a:rPr>
              <a:t>1. </a:t>
            </a:r>
            <a:r>
              <a:rPr lang="zh-CN" altLang="en-US" sz="1800" b="0" i="0" u="none" strike="noStrike" kern="1200" cap="none" spc="0" baseline="0" dirty="0">
                <a:solidFill>
                  <a:schemeClr val="tx1"/>
                </a:solidFill>
                <a:latin typeface="Arial" charset="0"/>
                <a:ea typeface="微软雅黑" charset="0"/>
                <a:cs typeface="Arial" charset="0"/>
              </a:rPr>
              <a:t>前向传播</a:t>
            </a:r>
            <a:endParaRPr lang="en-US" altLang="zh-CN" sz="1800" b="0" i="0" u="none" strike="noStrike" kern="1200" cap="none" spc="0" baseline="0" dirty="0">
              <a:solidFill>
                <a:schemeClr val="tx1"/>
              </a:solidFill>
              <a:latin typeface="Arial" charset="0"/>
              <a:ea typeface="微软雅黑" charset="0"/>
              <a:cs typeface="Arial" charset="0"/>
            </a:endParaRPr>
          </a:p>
          <a:p>
            <a:pPr marL="0" indent="0" algn="l">
              <a:lnSpc>
                <a:spcPct val="100000"/>
              </a:lnSpc>
              <a:spcBef>
                <a:spcPts val="0"/>
              </a:spcBef>
              <a:spcAft>
                <a:spcPts val="0"/>
              </a:spcAft>
              <a:buNone/>
            </a:pPr>
            <a:r>
              <a:rPr lang="en-US" altLang="zh-CN" sz="1800" b="0" i="0" u="none" strike="noStrike" kern="1200" cap="none" spc="0" baseline="0" dirty="0">
                <a:solidFill>
                  <a:schemeClr val="tx1"/>
                </a:solidFill>
                <a:latin typeface="Arial" charset="0"/>
                <a:ea typeface="微软雅黑" charset="0"/>
                <a:cs typeface="Arial" charset="0"/>
              </a:rPr>
              <a:t>2. </a:t>
            </a:r>
            <a:r>
              <a:rPr lang="zh-CN" altLang="en-US" sz="1800" b="0" i="0" u="none" strike="noStrike" kern="1200" cap="none" spc="0" baseline="0" dirty="0">
                <a:solidFill>
                  <a:schemeClr val="tx1"/>
                </a:solidFill>
                <a:latin typeface="Arial" charset="0"/>
                <a:ea typeface="微软雅黑" charset="0"/>
                <a:cs typeface="Arial" charset="0"/>
              </a:rPr>
              <a:t>反向传播</a:t>
            </a:r>
            <a:r>
              <a:rPr lang="en-US" altLang="zh-CN" sz="1800" b="0" i="0" u="none" strike="noStrike" kern="1200" cap="none" spc="0" baseline="0" dirty="0">
                <a:solidFill>
                  <a:schemeClr val="tx1"/>
                </a:solidFill>
                <a:latin typeface="Arial" charset="0"/>
                <a:ea typeface="微软雅黑" charset="0"/>
                <a:cs typeface="Arial" charset="0"/>
              </a:rPr>
              <a:t>BP</a:t>
            </a:r>
          </a:p>
          <a:p>
            <a:pPr marL="0" indent="0" algn="l">
              <a:lnSpc>
                <a:spcPct val="100000"/>
              </a:lnSpc>
              <a:spcBef>
                <a:spcPts val="0"/>
              </a:spcBef>
              <a:spcAft>
                <a:spcPts val="0"/>
              </a:spcAft>
              <a:buNone/>
            </a:pPr>
            <a:r>
              <a:rPr lang="en-US" altLang="zh-CN" sz="1800" b="0" i="0" u="none" strike="noStrike" kern="1200" cap="none" spc="0" baseline="0" dirty="0">
                <a:solidFill>
                  <a:schemeClr val="tx1"/>
                </a:solidFill>
                <a:latin typeface="Arial" charset="0"/>
                <a:ea typeface="微软雅黑" charset="0"/>
                <a:cs typeface="Arial" charset="0"/>
                <a:sym typeface="微软雅黑" charset="0"/>
              </a:rPr>
              <a:t>3. </a:t>
            </a:r>
            <a:r>
              <a:rPr lang="zh-CN" altLang="en-US" sz="1800" b="0" i="0" u="none" strike="noStrike" kern="1200" cap="none" spc="0" baseline="0" dirty="0">
                <a:solidFill>
                  <a:schemeClr val="tx1"/>
                </a:solidFill>
                <a:latin typeface="Arial" charset="0"/>
                <a:ea typeface="微软雅黑" charset="0"/>
                <a:cs typeface="Arial" charset="0"/>
                <a:sym typeface="微软雅黑" charset="0"/>
              </a:rPr>
              <a:t>激活函数</a:t>
            </a:r>
            <a:r>
              <a:rPr lang="en-US" altLang="zh-CN" sz="1800" b="0" i="0" u="none" strike="noStrike" kern="1200" cap="none" spc="0" baseline="0" dirty="0">
                <a:solidFill>
                  <a:schemeClr val="tx1"/>
                </a:solidFill>
                <a:latin typeface="Arial" charset="0"/>
                <a:ea typeface="微软雅黑" charset="0"/>
                <a:cs typeface="Arial" charset="0"/>
                <a:sym typeface="微软雅黑" charset="0"/>
              </a:rPr>
              <a:t>sigmoid</a:t>
            </a:r>
            <a:r>
              <a:rPr lang="zh-CN" altLang="en-US" sz="1800" b="0" i="0" u="none" strike="noStrike" kern="1200" cap="none" spc="0" baseline="0" dirty="0">
                <a:solidFill>
                  <a:schemeClr val="tx1"/>
                </a:solidFill>
                <a:latin typeface="Arial" charset="0"/>
                <a:ea typeface="微软雅黑" charset="0"/>
                <a:cs typeface="Arial" charset="0"/>
                <a:sym typeface="微软雅黑" charset="0"/>
              </a:rPr>
              <a:t>，</a:t>
            </a:r>
            <a:r>
              <a:rPr lang="en-US" altLang="zh-CN" sz="1800" b="0" i="0" u="none" strike="noStrike" kern="1200" cap="none" spc="0" baseline="0" dirty="0" err="1">
                <a:solidFill>
                  <a:schemeClr val="tx1"/>
                </a:solidFill>
                <a:latin typeface="Arial" charset="0"/>
                <a:ea typeface="微软雅黑" charset="0"/>
                <a:cs typeface="Arial" charset="0"/>
                <a:sym typeface="微软雅黑" charset="0"/>
              </a:rPr>
              <a:t>softmax</a:t>
            </a:r>
            <a:endParaRPr lang="en-US" altLang="zh-CN" sz="1800" b="0" i="0" u="none" strike="noStrike" kern="1200" cap="none" spc="0" baseline="0" dirty="0">
              <a:solidFill>
                <a:schemeClr val="tx1"/>
              </a:solidFill>
              <a:latin typeface="Arial" charset="0"/>
              <a:ea typeface="微软雅黑" charset="0"/>
              <a:cs typeface="Arial" charset="0"/>
            </a:endParaRPr>
          </a:p>
          <a:p>
            <a:pPr marL="0" indent="0" algn="l">
              <a:lnSpc>
                <a:spcPct val="100000"/>
              </a:lnSpc>
              <a:spcBef>
                <a:spcPts val="0"/>
              </a:spcBef>
              <a:spcAft>
                <a:spcPts val="0"/>
              </a:spcAft>
              <a:buNone/>
            </a:pPr>
            <a:endParaRPr lang="en-US" altLang="zh-CN" sz="1800" b="0" i="0" u="none" strike="noStrike" kern="1200" cap="none" spc="0" baseline="0" dirty="0">
              <a:solidFill>
                <a:schemeClr val="tx1"/>
              </a:solidFill>
              <a:latin typeface="Arial" charset="0"/>
              <a:ea typeface="微软雅黑" charset="0"/>
              <a:cs typeface="Arial" charset="0"/>
            </a:endParaRPr>
          </a:p>
          <a:p>
            <a:pPr marL="0" indent="0" algn="l">
              <a:lnSpc>
                <a:spcPct val="100000"/>
              </a:lnSpc>
              <a:spcBef>
                <a:spcPts val="0"/>
              </a:spcBef>
              <a:spcAft>
                <a:spcPts val="0"/>
              </a:spcAft>
              <a:buNone/>
            </a:pPr>
            <a:endParaRPr lang="en-US" altLang="zh-CN" sz="1800" b="0" i="0" u="none" strike="noStrike" kern="1200" cap="none" spc="0" baseline="0" dirty="0">
              <a:solidFill>
                <a:schemeClr val="tx1"/>
              </a:solidFill>
              <a:latin typeface="Arial" charset="0"/>
              <a:ea typeface="微软雅黑" charset="0"/>
              <a:cs typeface="Arial" charset="0"/>
            </a:endParaRPr>
          </a:p>
          <a:p>
            <a:pPr marL="0" indent="0" algn="l">
              <a:lnSpc>
                <a:spcPct val="100000"/>
              </a:lnSpc>
              <a:spcBef>
                <a:spcPts val="0"/>
              </a:spcBef>
              <a:spcAft>
                <a:spcPts val="0"/>
              </a:spcAft>
              <a:buNone/>
            </a:pPr>
            <a:endParaRPr lang="en-US" altLang="zh-CN" sz="1800" b="0" i="0" u="none" strike="noStrike" kern="1200" cap="none" spc="0" baseline="0" dirty="0">
              <a:solidFill>
                <a:schemeClr val="tx1"/>
              </a:solidFill>
              <a:latin typeface="Arial" charset="0"/>
              <a:ea typeface="微软雅黑" charset="0"/>
              <a:cs typeface="Arial" charset="0"/>
            </a:endParaRPr>
          </a:p>
          <a:p>
            <a:pPr marL="0" indent="0" algn="l">
              <a:lnSpc>
                <a:spcPct val="100000"/>
              </a:lnSpc>
              <a:spcBef>
                <a:spcPts val="0"/>
              </a:spcBef>
              <a:spcAft>
                <a:spcPts val="0"/>
              </a:spcAft>
              <a:buNone/>
            </a:pPr>
            <a:r>
              <a:rPr lang="en-US" altLang="zh-CN" sz="1800" b="0" i="0" u="none" strike="noStrike" kern="1200" cap="none" spc="0" baseline="0" dirty="0">
                <a:solidFill>
                  <a:schemeClr val="tx1"/>
                </a:solidFill>
                <a:latin typeface="Arial" charset="0"/>
                <a:ea typeface="微软雅黑" charset="0"/>
                <a:cs typeface="Arial" charset="0"/>
              </a:rPr>
              <a:t>4.</a:t>
            </a:r>
            <a:r>
              <a:rPr lang="zh-CN" altLang="en-US" sz="1800" b="0" i="0" u="none" strike="noStrike" kern="1200" cap="none" spc="0" baseline="0" dirty="0">
                <a:solidFill>
                  <a:schemeClr val="tx1"/>
                </a:solidFill>
                <a:latin typeface="Arial" charset="0"/>
                <a:ea typeface="微软雅黑" charset="0"/>
                <a:cs typeface="Arial" charset="0"/>
              </a:rPr>
              <a:t>过拟合问题：</a:t>
            </a:r>
            <a:endParaRPr lang="en-US" altLang="zh-CN" sz="1800" b="0" i="0" u="none" strike="noStrike" kern="1200" cap="none" spc="0" baseline="0" dirty="0">
              <a:solidFill>
                <a:schemeClr val="tx1"/>
              </a:solidFill>
              <a:latin typeface="Arial" charset="0"/>
              <a:ea typeface="微软雅黑" charset="0"/>
              <a:cs typeface="Arial" charset="0"/>
            </a:endParaRPr>
          </a:p>
          <a:p>
            <a:pPr marL="285750" indent="-285750" algn="l">
              <a:lnSpc>
                <a:spcPct val="100000"/>
              </a:lnSpc>
              <a:spcBef>
                <a:spcPts val="0"/>
              </a:spcBef>
              <a:spcAft>
                <a:spcPts val="0"/>
              </a:spcAft>
              <a:buFont typeface="Arial" charset="0"/>
              <a:buChar char="•"/>
            </a:pPr>
            <a:r>
              <a:rPr lang="zh-CN" altLang="en-US" sz="1800" b="0" i="0" u="none" strike="noStrike" kern="1200" cap="none" spc="0" baseline="0" dirty="0">
                <a:solidFill>
                  <a:schemeClr val="tx1"/>
                </a:solidFill>
                <a:latin typeface="Arial" charset="0"/>
                <a:ea typeface="微软雅黑" charset="0"/>
                <a:cs typeface="Arial" charset="0"/>
              </a:rPr>
              <a:t>早停</a:t>
            </a:r>
            <a:endParaRPr lang="en-US" altLang="zh-CN" sz="1800" b="0" i="0" u="none" strike="noStrike" kern="1200" cap="none" spc="0" baseline="0" dirty="0">
              <a:solidFill>
                <a:schemeClr val="tx1"/>
              </a:solidFill>
              <a:latin typeface="Arial" charset="0"/>
              <a:ea typeface="微软雅黑" charset="0"/>
              <a:cs typeface="Arial" charset="0"/>
            </a:endParaRPr>
          </a:p>
          <a:p>
            <a:pPr marL="285750" indent="-285750" algn="l">
              <a:lnSpc>
                <a:spcPct val="100000"/>
              </a:lnSpc>
              <a:spcBef>
                <a:spcPts val="0"/>
              </a:spcBef>
              <a:spcAft>
                <a:spcPts val="0"/>
              </a:spcAft>
              <a:buFont typeface="Arial" charset="0"/>
              <a:buChar char="•"/>
            </a:pPr>
            <a:r>
              <a:rPr lang="zh-CN" altLang="en-US" sz="1800" b="0" i="0" u="none" strike="noStrike" kern="1200" cap="none" spc="0" baseline="0" dirty="0">
                <a:solidFill>
                  <a:schemeClr val="tx1"/>
                </a:solidFill>
                <a:latin typeface="Arial" charset="0"/>
                <a:ea typeface="微软雅黑" charset="0"/>
                <a:cs typeface="Arial" charset="0"/>
              </a:rPr>
              <a:t>正则化</a:t>
            </a:r>
            <a:endParaRPr lang="en-US" altLang="zh-CN" sz="1800" b="0" i="0" u="none" strike="noStrike" kern="1200" cap="none" spc="0" baseline="0" dirty="0">
              <a:solidFill>
                <a:schemeClr val="tx1"/>
              </a:solidFill>
              <a:latin typeface="Arial" charset="0"/>
              <a:ea typeface="微软雅黑" charset="0"/>
              <a:cs typeface="Arial" charset="0"/>
            </a:endParaRPr>
          </a:p>
          <a:p>
            <a:pPr marL="285750" indent="-285750" algn="l">
              <a:lnSpc>
                <a:spcPct val="100000"/>
              </a:lnSpc>
              <a:spcBef>
                <a:spcPts val="0"/>
              </a:spcBef>
              <a:spcAft>
                <a:spcPts val="0"/>
              </a:spcAft>
              <a:buFont typeface="Arial" charset="0"/>
              <a:buChar char="•"/>
            </a:pPr>
            <a:endParaRPr lang="en-US" altLang="zh-CN" sz="1800" b="0" i="0" u="none" strike="noStrike" kern="1200" cap="none" spc="0" baseline="0" dirty="0">
              <a:solidFill>
                <a:schemeClr val="tx1"/>
              </a:solidFill>
              <a:latin typeface="Arial" charset="0"/>
              <a:ea typeface="微软雅黑" charset="0"/>
              <a:cs typeface="Arial" charset="0"/>
            </a:endParaRPr>
          </a:p>
          <a:p>
            <a:pPr marL="285750" indent="-285750" algn="l">
              <a:lnSpc>
                <a:spcPct val="100000"/>
              </a:lnSpc>
              <a:spcBef>
                <a:spcPts val="0"/>
              </a:spcBef>
              <a:spcAft>
                <a:spcPts val="0"/>
              </a:spcAft>
              <a:buFont typeface="Arial" charset="0"/>
              <a:buChar char="•"/>
            </a:pPr>
            <a:endParaRPr lang="en-US" altLang="zh-CN" sz="1800" b="0" i="0" u="none" strike="noStrike" kern="1200" cap="none" spc="0" baseline="0" dirty="0">
              <a:solidFill>
                <a:schemeClr val="tx1"/>
              </a:solidFill>
              <a:latin typeface="Arial" charset="0"/>
              <a:ea typeface="微软雅黑" charset="0"/>
              <a:cs typeface="Arial" charset="0"/>
            </a:endParaRPr>
          </a:p>
          <a:p>
            <a:pPr marL="285750" indent="-285750" algn="l">
              <a:lnSpc>
                <a:spcPct val="100000"/>
              </a:lnSpc>
              <a:spcBef>
                <a:spcPts val="0"/>
              </a:spcBef>
              <a:spcAft>
                <a:spcPts val="0"/>
              </a:spcAft>
              <a:buFont typeface="Arial" charset="0"/>
              <a:buChar char="•"/>
            </a:pPr>
            <a:endParaRPr lang="en-US" altLang="zh-CN" sz="1800" b="0" i="0" u="none" strike="noStrike" kern="1200" cap="none" spc="0" baseline="0" dirty="0">
              <a:solidFill>
                <a:schemeClr val="tx1"/>
              </a:solidFill>
              <a:latin typeface="Arial" charset="0"/>
              <a:ea typeface="微软雅黑" charset="0"/>
              <a:cs typeface="Arial" charset="0"/>
            </a:endParaRPr>
          </a:p>
          <a:p>
            <a:pPr marL="285750" indent="-285750" algn="l">
              <a:lnSpc>
                <a:spcPct val="100000"/>
              </a:lnSpc>
              <a:spcBef>
                <a:spcPts val="0"/>
              </a:spcBef>
              <a:spcAft>
                <a:spcPts val="0"/>
              </a:spcAft>
              <a:buFont typeface="Arial" charset="0"/>
              <a:buChar char="•"/>
            </a:pPr>
            <a:r>
              <a:rPr lang="zh-CN" altLang="en-US" sz="1800" b="0" i="0" u="none" strike="noStrike" kern="1200" cap="none" spc="0" baseline="0" dirty="0">
                <a:solidFill>
                  <a:schemeClr val="tx1"/>
                </a:solidFill>
                <a:latin typeface="Arial" charset="0"/>
                <a:ea typeface="微软雅黑" charset="0"/>
                <a:cs typeface="Arial" charset="0"/>
              </a:rPr>
              <a:t>这一章考：多层感知机的概念。</a:t>
            </a:r>
            <a:endParaRPr lang="en-US" altLang="zh-CN" sz="1800" b="0" i="0" u="none" strike="noStrike" kern="1200" cap="none" spc="0" baseline="0" dirty="0">
              <a:solidFill>
                <a:schemeClr val="tx1"/>
              </a:solidFill>
              <a:latin typeface="Arial" charset="0"/>
              <a:ea typeface="微软雅黑" charset="0"/>
              <a:cs typeface="Arial" charset="0"/>
            </a:endParaRPr>
          </a:p>
          <a:p>
            <a:pPr marL="285750" indent="-285750" algn="l">
              <a:lnSpc>
                <a:spcPct val="100000"/>
              </a:lnSpc>
              <a:spcBef>
                <a:spcPts val="0"/>
              </a:spcBef>
              <a:spcAft>
                <a:spcPts val="0"/>
              </a:spcAft>
              <a:buFont typeface="Arial" charset="0"/>
              <a:buChar char="•"/>
            </a:pPr>
            <a:r>
              <a:rPr lang="zh-CN" altLang="en-US" sz="1800" b="0" i="0" u="none" strike="noStrike" kern="1200" cap="none" spc="0" baseline="0" dirty="0">
                <a:solidFill>
                  <a:schemeClr val="tx1"/>
                </a:solidFill>
                <a:latin typeface="Arial" charset="0"/>
                <a:ea typeface="微软雅黑" charset="0"/>
                <a:cs typeface="Arial" charset="0"/>
              </a:rPr>
              <a:t>前向传播。</a:t>
            </a:r>
            <a:endParaRPr lang="en-US" altLang="zh-CN" sz="1800" b="0" i="0" u="none" strike="noStrike" kern="1200" cap="none" spc="0" baseline="0" dirty="0">
              <a:solidFill>
                <a:schemeClr val="tx1"/>
              </a:solidFill>
              <a:latin typeface="Arial" charset="0"/>
              <a:ea typeface="微软雅黑" charset="0"/>
              <a:cs typeface="Arial" charset="0"/>
            </a:endParaRPr>
          </a:p>
          <a:p>
            <a:pPr marL="285750" indent="-285750" algn="l">
              <a:lnSpc>
                <a:spcPct val="100000"/>
              </a:lnSpc>
              <a:spcBef>
                <a:spcPts val="0"/>
              </a:spcBef>
              <a:spcAft>
                <a:spcPts val="0"/>
              </a:spcAft>
              <a:buFont typeface="Arial" charset="0"/>
              <a:buChar char="•"/>
            </a:pPr>
            <a:r>
              <a:rPr lang="zh-CN" altLang="en-US" sz="1800" b="0" i="0" u="none" strike="noStrike" kern="1200" cap="none" spc="0" baseline="0" dirty="0">
                <a:solidFill>
                  <a:schemeClr val="tx1"/>
                </a:solidFill>
                <a:latin typeface="Arial" charset="0"/>
                <a:ea typeface="微软雅黑" charset="0"/>
                <a:cs typeface="Arial" charset="0"/>
              </a:rPr>
              <a:t>反向传播。</a:t>
            </a:r>
            <a:endParaRPr lang="en-US" altLang="zh-CN" sz="1800" b="0" i="0" u="none" strike="noStrike" kern="1200" cap="none" spc="0" baseline="0" dirty="0">
              <a:solidFill>
                <a:schemeClr val="tx1"/>
              </a:solidFill>
              <a:latin typeface="Arial" charset="0"/>
              <a:ea typeface="微软雅黑" charset="0"/>
              <a:cs typeface="Arial" charset="0"/>
            </a:endParaRPr>
          </a:p>
          <a:p>
            <a:pPr marL="285750" indent="-285750" algn="l">
              <a:lnSpc>
                <a:spcPct val="100000"/>
              </a:lnSpc>
              <a:spcBef>
                <a:spcPts val="0"/>
              </a:spcBef>
              <a:spcAft>
                <a:spcPts val="0"/>
              </a:spcAft>
              <a:buFont typeface="Arial" charset="0"/>
              <a:buChar char="•"/>
            </a:pPr>
            <a:r>
              <a:rPr lang="zh-CN" altLang="en-US" sz="1800" b="1" i="0" u="none" strike="noStrike" kern="1200" cap="none" spc="0" baseline="0" dirty="0">
                <a:solidFill>
                  <a:schemeClr val="tx1"/>
                </a:solidFill>
                <a:latin typeface="Arial" charset="0"/>
                <a:ea typeface="微软雅黑" charset="0"/>
                <a:cs typeface="Arial" charset="0"/>
              </a:rPr>
              <a:t>别看西瓜书（不清楚罗学长什么意思，我当时是看了）</a:t>
            </a:r>
            <a:endParaRPr lang="en-US" altLang="zh-CN" sz="1800" b="1" i="0" u="none" strike="noStrike" kern="1200" cap="none" spc="0" baseline="0" dirty="0">
              <a:solidFill>
                <a:schemeClr val="tx1"/>
              </a:solidFill>
              <a:latin typeface="Arial" charset="0"/>
              <a:ea typeface="微软雅黑" charset="0"/>
              <a:cs typeface="Arial" charset="0"/>
            </a:endParaRPr>
          </a:p>
          <a:p>
            <a:pPr marL="0" indent="0" algn="l">
              <a:lnSpc>
                <a:spcPct val="100000"/>
              </a:lnSpc>
              <a:spcBef>
                <a:spcPts val="0"/>
              </a:spcBef>
              <a:spcAft>
                <a:spcPts val="0"/>
              </a:spcAft>
              <a:buNone/>
            </a:pPr>
            <a:endParaRPr lang="zh-CN" altLang="en-US" sz="1800" b="1" i="0" u="none" strike="noStrike" kern="1200" cap="none" spc="0" baseline="0" dirty="0">
              <a:solidFill>
                <a:schemeClr val="tx1"/>
              </a:solidFill>
              <a:latin typeface="Arial" charset="0"/>
              <a:ea typeface="微软雅黑" charset="0"/>
              <a:cs typeface="Arial" charset="0"/>
            </a:endParaRPr>
          </a:p>
        </p:txBody>
      </p:sp>
    </p:spTree>
    <p:extLst>
      <p:ext uri="{BB962C8B-B14F-4D97-AF65-F5344CB8AC3E}">
        <p14:creationId xmlns:p14="http://schemas.microsoft.com/office/powerpoint/2010/main" val="59756988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矩形"/>
          <p:cNvSpPr>
            <a:spLocks/>
          </p:cNvSpPr>
          <p:nvPr/>
        </p:nvSpPr>
        <p:spPr>
          <a:xfrm>
            <a:off x="3479800" y="2252980"/>
            <a:ext cx="6096000" cy="645160"/>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en-US" altLang="zh-CN" sz="3600" b="0" i="0" u="none" strike="noStrike" kern="1200" cap="none" spc="0" baseline="0">
                <a:solidFill>
                  <a:schemeClr val="tx1"/>
                </a:solidFill>
                <a:latin typeface="Arial" charset="0"/>
                <a:ea typeface="微软雅黑" charset="0"/>
                <a:cs typeface="Arial" charset="0"/>
                <a:sym typeface="微软雅黑" charset="0"/>
              </a:rPr>
              <a:t>6.</a:t>
            </a:r>
            <a:r>
              <a:rPr lang="zh-CN" altLang="en-US" sz="3600" b="0" i="0" u="none" strike="noStrike" kern="1200" cap="none" spc="0" baseline="0">
                <a:solidFill>
                  <a:schemeClr val="tx1"/>
                </a:solidFill>
                <a:latin typeface="Arial" charset="0"/>
                <a:ea typeface="微软雅黑" charset="0"/>
                <a:cs typeface="Arial" charset="0"/>
                <a:sym typeface="微软雅黑" charset="0"/>
              </a:rPr>
              <a:t>支持向量机</a:t>
            </a:r>
          </a:p>
        </p:txBody>
      </p:sp>
    </p:spTree>
    <p:extLst>
      <p:ext uri="{BB962C8B-B14F-4D97-AF65-F5344CB8AC3E}">
        <p14:creationId xmlns:p14="http://schemas.microsoft.com/office/powerpoint/2010/main" val="52129039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3" name="图片"/>
          <p:cNvPicPr>
            <a:picLocks noChangeAspect="1"/>
          </p:cNvPicPr>
          <p:nvPr/>
        </p:nvPicPr>
        <p:blipFill>
          <a:blip r:embed="rId2" cstate="print"/>
          <a:stretch>
            <a:fillRect/>
          </a:stretch>
        </p:blipFill>
        <p:spPr>
          <a:xfrm>
            <a:off x="6172673" y="3111814"/>
            <a:ext cx="5129213" cy="2364581"/>
          </a:xfrm>
          <a:prstGeom prst="rect">
            <a:avLst/>
          </a:prstGeom>
          <a:noFill/>
          <a:ln w="12700" cap="flat" cmpd="sng">
            <a:noFill/>
            <a:prstDash val="solid"/>
            <a:miter/>
          </a:ln>
        </p:spPr>
      </p:pic>
      <p:sp>
        <p:nvSpPr>
          <p:cNvPr id="84" name="矩形"/>
          <p:cNvSpPr>
            <a:spLocks/>
          </p:cNvSpPr>
          <p:nvPr/>
        </p:nvSpPr>
        <p:spPr>
          <a:xfrm>
            <a:off x="544830" y="455295"/>
            <a:ext cx="7133590" cy="2861310"/>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en-US" altLang="zh-CN" sz="1800" b="0" i="0" u="none" strike="noStrike" kern="1200" cap="none" spc="0" baseline="0" dirty="0">
                <a:solidFill>
                  <a:schemeClr val="tx1"/>
                </a:solidFill>
                <a:latin typeface="Arial" charset="0"/>
                <a:ea typeface="微软雅黑" charset="0"/>
                <a:cs typeface="Arial" charset="0"/>
              </a:rPr>
              <a:t>1.</a:t>
            </a:r>
            <a:r>
              <a:rPr lang="zh-CN" altLang="en-US" sz="1800" b="0" i="0" u="none" strike="noStrike" kern="1200" cap="none" spc="0" baseline="0" dirty="0">
                <a:solidFill>
                  <a:schemeClr val="tx1"/>
                </a:solidFill>
                <a:latin typeface="Arial" charset="0"/>
                <a:ea typeface="微软雅黑" charset="0"/>
                <a:cs typeface="Arial" charset="0"/>
              </a:rPr>
              <a:t>理解支持向量机在做什么？</a:t>
            </a:r>
            <a:endParaRPr lang="en-US" altLang="zh-CN" sz="1800" b="0" i="0" u="none" strike="noStrike" kern="1200" cap="none" spc="0" baseline="0" dirty="0">
              <a:solidFill>
                <a:schemeClr val="tx1"/>
              </a:solidFill>
              <a:latin typeface="Arial" charset="0"/>
              <a:ea typeface="微软雅黑" charset="0"/>
              <a:cs typeface="Arial" charset="0"/>
            </a:endParaRPr>
          </a:p>
          <a:p>
            <a:pPr marL="0" indent="0" algn="l">
              <a:lnSpc>
                <a:spcPct val="100000"/>
              </a:lnSpc>
              <a:spcBef>
                <a:spcPts val="0"/>
              </a:spcBef>
              <a:spcAft>
                <a:spcPts val="0"/>
              </a:spcAft>
              <a:buNone/>
            </a:pPr>
            <a:endParaRPr lang="en-US" altLang="zh-CN" sz="1800" b="0" i="0" u="none" strike="noStrike" kern="1200" cap="none" spc="0" baseline="0" dirty="0">
              <a:solidFill>
                <a:schemeClr val="tx1"/>
              </a:solidFill>
              <a:latin typeface="Arial" charset="0"/>
              <a:ea typeface="微软雅黑" charset="0"/>
              <a:cs typeface="Arial" charset="0"/>
            </a:endParaRPr>
          </a:p>
          <a:p>
            <a:pPr marL="0" indent="0" algn="l">
              <a:lnSpc>
                <a:spcPct val="100000"/>
              </a:lnSpc>
              <a:spcBef>
                <a:spcPts val="0"/>
              </a:spcBef>
              <a:spcAft>
                <a:spcPts val="0"/>
              </a:spcAft>
              <a:buNone/>
            </a:pPr>
            <a:endParaRPr lang="en-US" altLang="zh-CN" sz="1800" b="0" i="0" u="none" strike="noStrike" kern="1200" cap="none" spc="0" baseline="0" dirty="0">
              <a:solidFill>
                <a:schemeClr val="tx1"/>
              </a:solidFill>
              <a:latin typeface="Arial" charset="0"/>
              <a:ea typeface="微软雅黑" charset="0"/>
              <a:cs typeface="Arial" charset="0"/>
            </a:endParaRPr>
          </a:p>
          <a:p>
            <a:pPr marL="0" indent="0" algn="l">
              <a:lnSpc>
                <a:spcPct val="100000"/>
              </a:lnSpc>
              <a:spcBef>
                <a:spcPts val="0"/>
              </a:spcBef>
              <a:spcAft>
                <a:spcPts val="0"/>
              </a:spcAft>
              <a:buNone/>
            </a:pPr>
            <a:r>
              <a:rPr lang="en-US" altLang="zh-CN" sz="1800" b="0" i="0" u="none" strike="noStrike" kern="1200" cap="none" spc="0" baseline="0" dirty="0">
                <a:solidFill>
                  <a:schemeClr val="tx1"/>
                </a:solidFill>
                <a:latin typeface="Arial" charset="0"/>
                <a:ea typeface="微软雅黑" charset="0"/>
                <a:cs typeface="Arial" charset="0"/>
              </a:rPr>
              <a:t>2. </a:t>
            </a:r>
            <a:r>
              <a:rPr lang="zh-CN" altLang="en-US" sz="1800" b="0" i="0" u="none" strike="noStrike" kern="1200" cap="none" spc="0" baseline="0" dirty="0">
                <a:solidFill>
                  <a:schemeClr val="tx1"/>
                </a:solidFill>
                <a:latin typeface="Arial" charset="0"/>
                <a:ea typeface="微软雅黑" charset="0"/>
                <a:cs typeface="Arial" charset="0"/>
                <a:sym typeface="微软雅黑" charset="0"/>
              </a:rPr>
              <a:t>超平面，支持向量和间隔的定义</a:t>
            </a:r>
            <a:endParaRPr lang="en-US" altLang="zh-CN" sz="1800" b="0" i="0" u="none" strike="noStrike" kern="1200" cap="none" spc="0" baseline="0" dirty="0">
              <a:solidFill>
                <a:schemeClr val="tx1"/>
              </a:solidFill>
              <a:latin typeface="Arial" charset="0"/>
              <a:ea typeface="微软雅黑" charset="0"/>
              <a:cs typeface="Arial" charset="0"/>
              <a:sym typeface="微软雅黑" charset="0"/>
            </a:endParaRPr>
          </a:p>
          <a:p>
            <a:pPr marL="0" indent="0" algn="l">
              <a:lnSpc>
                <a:spcPct val="100000"/>
              </a:lnSpc>
              <a:spcBef>
                <a:spcPts val="0"/>
              </a:spcBef>
              <a:spcAft>
                <a:spcPts val="0"/>
              </a:spcAft>
              <a:buNone/>
            </a:pPr>
            <a:endParaRPr lang="en-US" altLang="zh-CN" sz="1800" b="0" i="0" u="none" strike="noStrike" kern="1200" cap="none" spc="0" baseline="0" dirty="0">
              <a:solidFill>
                <a:schemeClr val="tx1"/>
              </a:solidFill>
              <a:latin typeface="Arial" charset="0"/>
              <a:ea typeface="微软雅黑" charset="0"/>
              <a:cs typeface="Arial" charset="0"/>
              <a:sym typeface="微软雅黑" charset="0"/>
            </a:endParaRPr>
          </a:p>
          <a:p>
            <a:pPr marL="285750" indent="-285750" algn="l">
              <a:lnSpc>
                <a:spcPct val="100000"/>
              </a:lnSpc>
              <a:spcBef>
                <a:spcPts val="0"/>
              </a:spcBef>
              <a:spcAft>
                <a:spcPts val="0"/>
              </a:spcAft>
              <a:buFont typeface="Arial" charset="0"/>
              <a:buChar char="•"/>
            </a:pPr>
            <a:r>
              <a:rPr lang="zh-CN" altLang="en-US" sz="1800" b="0" i="0" u="none" strike="noStrike" kern="1200" cap="none" spc="0" baseline="0" dirty="0">
                <a:solidFill>
                  <a:schemeClr val="tx1"/>
                </a:solidFill>
                <a:latin typeface="Arial" charset="0"/>
                <a:ea typeface="微软雅黑" charset="0"/>
                <a:cs typeface="Arial" charset="0"/>
              </a:rPr>
              <a:t>间隔是指从</a:t>
            </a:r>
            <a:r>
              <a:rPr lang="zh-CN" altLang="en-US" sz="1800" b="1" i="0" u="none" strike="noStrike" kern="1200" cap="none" spc="0" baseline="0" dirty="0">
                <a:solidFill>
                  <a:schemeClr val="tx1"/>
                </a:solidFill>
                <a:latin typeface="Arial" charset="0"/>
                <a:ea typeface="微软雅黑" charset="0"/>
                <a:cs typeface="Arial" charset="0"/>
              </a:rPr>
              <a:t>超平面</a:t>
            </a:r>
            <a:r>
              <a:rPr lang="zh-CN" altLang="en-US" sz="1800" b="0" i="0" u="none" strike="noStrike" kern="1200" cap="none" spc="0" baseline="0" dirty="0">
                <a:solidFill>
                  <a:schemeClr val="tx1"/>
                </a:solidFill>
                <a:latin typeface="Arial" charset="0"/>
                <a:ea typeface="微软雅黑" charset="0"/>
                <a:cs typeface="Arial" charset="0"/>
              </a:rPr>
              <a:t>到</a:t>
            </a:r>
            <a:r>
              <a:rPr lang="zh-CN" altLang="en-US" sz="1800" b="1" i="0" u="none" strike="noStrike" kern="1200" cap="none" spc="0" baseline="0" dirty="0">
                <a:solidFill>
                  <a:schemeClr val="tx1"/>
                </a:solidFill>
                <a:latin typeface="Arial" charset="0"/>
                <a:ea typeface="微软雅黑" charset="0"/>
                <a:cs typeface="Arial" charset="0"/>
              </a:rPr>
              <a:t>最近的训练数据点</a:t>
            </a:r>
            <a:r>
              <a:rPr lang="zh-CN" altLang="en-US" sz="1800" b="0" i="0" u="none" strike="noStrike" kern="1200" cap="none" spc="0" baseline="0" dirty="0">
                <a:solidFill>
                  <a:schemeClr val="tx1"/>
                </a:solidFill>
                <a:latin typeface="Arial" charset="0"/>
                <a:ea typeface="微软雅黑" charset="0"/>
                <a:cs typeface="Arial" charset="0"/>
              </a:rPr>
              <a:t>（即</a:t>
            </a:r>
            <a:r>
              <a:rPr lang="zh-CN" altLang="en-US" sz="1800" b="1" i="0" u="none" strike="noStrike" kern="1200" cap="none" spc="0" baseline="0" dirty="0">
                <a:solidFill>
                  <a:schemeClr val="tx1"/>
                </a:solidFill>
                <a:latin typeface="Arial" charset="0"/>
                <a:ea typeface="微软雅黑" charset="0"/>
                <a:cs typeface="Arial" charset="0"/>
              </a:rPr>
              <a:t>支持向量</a:t>
            </a:r>
            <a:r>
              <a:rPr lang="zh-CN" altLang="en-US" sz="1800" b="0" i="0" u="none" strike="noStrike" kern="1200" cap="none" spc="0" baseline="0" dirty="0">
                <a:solidFill>
                  <a:schemeClr val="tx1"/>
                </a:solidFill>
                <a:latin typeface="Arial" charset="0"/>
                <a:ea typeface="微软雅黑" charset="0"/>
                <a:cs typeface="Arial" charset="0"/>
              </a:rPr>
              <a:t>）的距离。在 SVM 中，目标是找到一个能够最大化间隔的超平面。这个超平面可以把两类样本很好很好的分开</a:t>
            </a:r>
            <a:endParaRPr lang="en-US" altLang="zh-CN" sz="1800" b="0" i="0" u="none" strike="noStrike" kern="1200" cap="none" spc="0" baseline="0" dirty="0">
              <a:solidFill>
                <a:schemeClr val="tx1"/>
              </a:solidFill>
              <a:latin typeface="Arial" charset="0"/>
              <a:ea typeface="微软雅黑" charset="0"/>
              <a:cs typeface="Arial" charset="0"/>
            </a:endParaRPr>
          </a:p>
          <a:p>
            <a:pPr marL="285750" indent="-285750" algn="l">
              <a:lnSpc>
                <a:spcPct val="100000"/>
              </a:lnSpc>
              <a:spcBef>
                <a:spcPts val="0"/>
              </a:spcBef>
              <a:spcAft>
                <a:spcPts val="0"/>
              </a:spcAft>
              <a:buFont typeface="Arial" charset="0"/>
              <a:buChar char="•"/>
            </a:pPr>
            <a:endParaRPr lang="en-US" altLang="zh-CN" sz="1800" b="0" i="0" u="none" strike="noStrike" kern="1200" cap="none" spc="0" baseline="0" dirty="0">
              <a:solidFill>
                <a:schemeClr val="tx1"/>
              </a:solidFill>
              <a:latin typeface="Arial" charset="0"/>
              <a:ea typeface="微软雅黑" charset="0"/>
              <a:cs typeface="Arial" charset="0"/>
            </a:endParaRPr>
          </a:p>
          <a:p>
            <a:pPr marL="0" indent="0" algn="l">
              <a:lnSpc>
                <a:spcPct val="100000"/>
              </a:lnSpc>
              <a:spcBef>
                <a:spcPts val="0"/>
              </a:spcBef>
              <a:spcAft>
                <a:spcPts val="0"/>
              </a:spcAft>
              <a:buNone/>
            </a:pPr>
            <a:r>
              <a:rPr lang="en-US" altLang="zh-CN" sz="1800" b="0" i="0" u="none" strike="noStrike" kern="1200" cap="none" spc="0" baseline="0" dirty="0">
                <a:solidFill>
                  <a:schemeClr val="tx1"/>
                </a:solidFill>
                <a:latin typeface="Arial" charset="0"/>
                <a:ea typeface="微软雅黑" charset="0"/>
                <a:cs typeface="Arial" charset="0"/>
              </a:rPr>
              <a:t>3. </a:t>
            </a:r>
            <a:r>
              <a:rPr lang="zh-CN" altLang="en-US" sz="1800" b="0" i="0" u="none" strike="noStrike" kern="1200" cap="none" spc="0" baseline="0" dirty="0">
                <a:solidFill>
                  <a:schemeClr val="tx1"/>
                </a:solidFill>
                <a:latin typeface="Arial" charset="0"/>
                <a:ea typeface="微软雅黑" charset="0"/>
                <a:cs typeface="Arial" charset="0"/>
              </a:rPr>
              <a:t>核函数是什么？</a:t>
            </a:r>
          </a:p>
        </p:txBody>
      </p:sp>
      <p:sp>
        <p:nvSpPr>
          <p:cNvPr id="85" name="矩形"/>
          <p:cNvSpPr>
            <a:spLocks/>
          </p:cNvSpPr>
          <p:nvPr/>
        </p:nvSpPr>
        <p:spPr>
          <a:xfrm>
            <a:off x="544830" y="4645542"/>
            <a:ext cx="4063999" cy="646331"/>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zh-CN" altLang="en-US" sz="1800" b="1" i="0" u="none" strike="noStrike" kern="1200" cap="none" spc="0" baseline="0" dirty="0">
                <a:solidFill>
                  <a:srgbClr val="FF0000"/>
                </a:solidFill>
                <a:latin typeface="Arial" charset="0"/>
                <a:ea typeface="微软雅黑" charset="0"/>
                <a:cs typeface="Arial" charset="0"/>
              </a:rPr>
              <a:t>这一章</a:t>
            </a:r>
            <a:r>
              <a:rPr lang="zh-CN" altLang="en-US" b="1" dirty="0">
                <a:solidFill>
                  <a:srgbClr val="FF0000"/>
                </a:solidFill>
                <a:latin typeface="Arial" charset="0"/>
                <a:ea typeface="微软雅黑" charset="0"/>
                <a:cs typeface="Arial" charset="0"/>
              </a:rPr>
              <a:t>考的比较少</a:t>
            </a:r>
            <a:r>
              <a:rPr lang="zh-CN" altLang="en-US" sz="1800" b="1" i="0" u="none" strike="noStrike" kern="1200" cap="none" spc="0" baseline="0" dirty="0">
                <a:solidFill>
                  <a:srgbClr val="FF0000"/>
                </a:solidFill>
                <a:latin typeface="Arial" charset="0"/>
                <a:ea typeface="微软雅黑" charset="0"/>
                <a:cs typeface="Arial" charset="0"/>
              </a:rPr>
              <a:t>，但是经常会简述概念和思想，无需深究公式</a:t>
            </a:r>
          </a:p>
        </p:txBody>
      </p:sp>
    </p:spTree>
    <p:extLst>
      <p:ext uri="{BB962C8B-B14F-4D97-AF65-F5344CB8AC3E}">
        <p14:creationId xmlns:p14="http://schemas.microsoft.com/office/powerpoint/2010/main" val="99571204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矩形"/>
          <p:cNvSpPr>
            <a:spLocks/>
          </p:cNvSpPr>
          <p:nvPr/>
        </p:nvSpPr>
        <p:spPr>
          <a:xfrm>
            <a:off x="3384550" y="2822575"/>
            <a:ext cx="6096000" cy="706755"/>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en-US" altLang="zh-CN" sz="4000" b="0" i="0" u="none" strike="noStrike" kern="1200" cap="none" spc="0" baseline="0">
                <a:solidFill>
                  <a:schemeClr val="tx1"/>
                </a:solidFill>
                <a:latin typeface="Arial" charset="0"/>
                <a:ea typeface="微软雅黑" charset="0"/>
                <a:cs typeface="Arial" charset="0"/>
                <a:sym typeface="微软雅黑" charset="0"/>
              </a:rPr>
              <a:t>7.</a:t>
            </a:r>
            <a:r>
              <a:rPr lang="zh-CN" altLang="en-US" sz="4000" b="0" i="0" u="none" strike="noStrike" kern="1200" cap="none" spc="0" baseline="0">
                <a:solidFill>
                  <a:schemeClr val="tx1"/>
                </a:solidFill>
                <a:latin typeface="Arial" charset="0"/>
                <a:ea typeface="微软雅黑" charset="0"/>
                <a:cs typeface="Arial" charset="0"/>
                <a:sym typeface="微软雅黑" charset="0"/>
              </a:rPr>
              <a:t>贝叶斯分类器</a:t>
            </a:r>
          </a:p>
        </p:txBody>
      </p:sp>
    </p:spTree>
    <p:extLst>
      <p:ext uri="{BB962C8B-B14F-4D97-AF65-F5344CB8AC3E}">
        <p14:creationId xmlns:p14="http://schemas.microsoft.com/office/powerpoint/2010/main" val="48120734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矩形"/>
          <p:cNvSpPr>
            <a:spLocks/>
          </p:cNvSpPr>
          <p:nvPr/>
        </p:nvSpPr>
        <p:spPr>
          <a:xfrm>
            <a:off x="616585" y="573405"/>
            <a:ext cx="10608311" cy="5044330"/>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zh-CN" altLang="en-US" sz="1800" b="0" i="1" u="none" strike="noStrike" kern="1200" cap="none" spc="0" baseline="0" dirty="0">
                <a:solidFill>
                  <a:schemeClr val="tx1"/>
                </a:solidFill>
                <a:latin typeface="Arial" charset="0"/>
                <a:ea typeface="微软雅黑" charset="0"/>
                <a:cs typeface="Arial" charset="0"/>
              </a:rPr>
              <a:t>这是一种基于贝叶斯定理的机器学习方法。</a:t>
            </a:r>
            <a:endParaRPr lang="en-US" altLang="zh-CN" sz="1800" b="0" i="1" u="none" strike="noStrike" kern="1200" cap="none" spc="0" baseline="0" dirty="0">
              <a:solidFill>
                <a:schemeClr val="tx1"/>
              </a:solidFill>
              <a:latin typeface="Arial" charset="0"/>
              <a:ea typeface="微软雅黑" charset="0"/>
              <a:cs typeface="Arial" charset="0"/>
            </a:endParaRPr>
          </a:p>
          <a:p>
            <a:pPr marL="0" indent="0" algn="l">
              <a:lnSpc>
                <a:spcPct val="100000"/>
              </a:lnSpc>
              <a:spcBef>
                <a:spcPts val="0"/>
              </a:spcBef>
              <a:spcAft>
                <a:spcPts val="0"/>
              </a:spcAft>
              <a:buNone/>
            </a:pPr>
            <a:endParaRPr lang="en-US" altLang="zh-CN" sz="1800" b="0" i="0" u="none" strike="noStrike" kern="1200" cap="none" spc="0" baseline="0" dirty="0">
              <a:solidFill>
                <a:schemeClr val="tx1"/>
              </a:solidFill>
              <a:latin typeface="Arial" charset="0"/>
              <a:ea typeface="微软雅黑" charset="0"/>
              <a:cs typeface="Arial" charset="0"/>
            </a:endParaRPr>
          </a:p>
          <a:p>
            <a:pPr marL="0" indent="0" algn="l">
              <a:lnSpc>
                <a:spcPct val="100000"/>
              </a:lnSpc>
              <a:spcBef>
                <a:spcPts val="0"/>
              </a:spcBef>
              <a:spcAft>
                <a:spcPts val="0"/>
              </a:spcAft>
              <a:buNone/>
            </a:pPr>
            <a:r>
              <a:rPr lang="zh-CN" altLang="en-US" sz="1800" b="0" i="0" u="none" strike="noStrike" kern="1200" cap="none" spc="0" baseline="0" dirty="0">
                <a:solidFill>
                  <a:schemeClr val="tx1"/>
                </a:solidFill>
                <a:latin typeface="Arial" charset="0"/>
                <a:ea typeface="微软雅黑" charset="0"/>
                <a:cs typeface="Arial" charset="0"/>
              </a:rPr>
              <a:t>相关的几个概念：</a:t>
            </a:r>
            <a:endParaRPr lang="en-US" altLang="zh-CN" sz="1800" b="0" i="0" u="none" strike="noStrike" kern="1200" cap="none" spc="0" baseline="0" dirty="0">
              <a:solidFill>
                <a:schemeClr val="tx1"/>
              </a:solidFill>
              <a:latin typeface="Arial" charset="0"/>
              <a:ea typeface="微软雅黑" charset="0"/>
              <a:cs typeface="Arial" charset="0"/>
            </a:endParaRPr>
          </a:p>
          <a:p>
            <a:pPr marL="285750" indent="-285750" algn="l">
              <a:lnSpc>
                <a:spcPct val="125000"/>
              </a:lnSpc>
              <a:spcBef>
                <a:spcPts val="0"/>
              </a:spcBef>
              <a:spcAft>
                <a:spcPts val="0"/>
              </a:spcAft>
              <a:buFont typeface="Arial" charset="0"/>
              <a:buChar char="•"/>
            </a:pPr>
            <a:r>
              <a:rPr lang="zh-CN" altLang="en-US" sz="1800" b="0" i="0" u="none" strike="noStrike" kern="1200" cap="none" spc="0" baseline="0" dirty="0">
                <a:solidFill>
                  <a:schemeClr val="tx1"/>
                </a:solidFill>
                <a:latin typeface="Arial" charset="0"/>
                <a:ea typeface="微软雅黑" charset="0"/>
                <a:cs typeface="Arial" charset="0"/>
              </a:rPr>
              <a:t>先验：根据若干年的统计（经验）或者气候（常识），某地方下雨的概率；机器学习中一般指的是训练集中的Label的概率。</a:t>
            </a:r>
            <a:endParaRPr lang="en-US" altLang="zh-CN" sz="1800" b="0" i="0" u="none" strike="noStrike" kern="1200" cap="none" spc="0" baseline="0" dirty="0">
              <a:solidFill>
                <a:schemeClr val="tx1"/>
              </a:solidFill>
              <a:latin typeface="Arial" charset="0"/>
              <a:ea typeface="微软雅黑" charset="0"/>
              <a:cs typeface="Arial" charset="0"/>
            </a:endParaRPr>
          </a:p>
          <a:p>
            <a:pPr marL="285750" indent="-285750" algn="l">
              <a:lnSpc>
                <a:spcPct val="125000"/>
              </a:lnSpc>
              <a:spcBef>
                <a:spcPts val="0"/>
              </a:spcBef>
              <a:spcAft>
                <a:spcPts val="0"/>
              </a:spcAft>
              <a:buFont typeface="Arial" charset="0"/>
              <a:buChar char="•"/>
            </a:pPr>
            <a:r>
              <a:rPr lang="zh-CN" altLang="en-US" sz="1800" b="0" i="0" u="none" strike="noStrike" kern="1200" cap="none" spc="0" baseline="0" dirty="0">
                <a:solidFill>
                  <a:schemeClr val="tx1"/>
                </a:solidFill>
                <a:latin typeface="Arial" charset="0"/>
                <a:ea typeface="微软雅黑" charset="0"/>
                <a:cs typeface="Arial" charset="0"/>
              </a:rPr>
              <a:t>后验：根据天上有乌云（原因或者证据/观察数据），下雨（结果）的概率；机器学习中一般是需要求的东西（知道一系列特征，求其属于某某类别的概率）</a:t>
            </a:r>
            <a:endParaRPr lang="en-US" altLang="zh-CN" sz="1800" b="0" i="0" u="none" strike="noStrike" kern="1200" cap="none" spc="0" baseline="0" dirty="0">
              <a:solidFill>
                <a:schemeClr val="tx1"/>
              </a:solidFill>
              <a:latin typeface="Arial" charset="0"/>
              <a:ea typeface="微软雅黑" charset="0"/>
              <a:cs typeface="Arial" charset="0"/>
            </a:endParaRPr>
          </a:p>
          <a:p>
            <a:pPr marL="457200" lvl="1" indent="0" algn="l">
              <a:lnSpc>
                <a:spcPct val="125000"/>
              </a:lnSpc>
              <a:spcBef>
                <a:spcPts val="0"/>
              </a:spcBef>
              <a:spcAft>
                <a:spcPts val="0"/>
              </a:spcAft>
              <a:buNone/>
            </a:pPr>
            <a:endParaRPr lang="en-US" altLang="zh-CN" sz="1800" b="0" i="0" u="none" strike="noStrike" kern="1200" cap="none" spc="0" baseline="0" dirty="0">
              <a:solidFill>
                <a:schemeClr val="tx1"/>
              </a:solidFill>
              <a:latin typeface="Arial" charset="0"/>
              <a:ea typeface="微软雅黑" charset="0"/>
              <a:cs typeface="Arial" charset="0"/>
            </a:endParaRPr>
          </a:p>
          <a:p>
            <a:pPr marL="0" indent="0" algn="l">
              <a:lnSpc>
                <a:spcPct val="125000"/>
              </a:lnSpc>
              <a:spcBef>
                <a:spcPts val="0"/>
              </a:spcBef>
              <a:spcAft>
                <a:spcPts val="0"/>
              </a:spcAft>
              <a:buNone/>
            </a:pPr>
            <a:r>
              <a:rPr lang="zh-CN" altLang="en-US" sz="1800" b="0" i="0" u="none" strike="noStrike" kern="1200" cap="none" spc="0" baseline="0" dirty="0">
                <a:solidFill>
                  <a:schemeClr val="tx1"/>
                </a:solidFill>
                <a:latin typeface="Arial" charset="0"/>
                <a:ea typeface="微软雅黑" charset="0"/>
                <a:cs typeface="Arial" charset="0"/>
              </a:rPr>
              <a:t>贝叶斯分类器和其他分类器（比如逻辑回归）的区别是什么？</a:t>
            </a:r>
            <a:endParaRPr lang="en-US" altLang="zh-CN" sz="1800" b="0" i="0" u="none" strike="noStrike" kern="1200" cap="none" spc="0" baseline="0" dirty="0">
              <a:solidFill>
                <a:schemeClr val="tx1"/>
              </a:solidFill>
              <a:latin typeface="Arial" charset="0"/>
              <a:ea typeface="微软雅黑" charset="0"/>
              <a:cs typeface="Arial" charset="0"/>
            </a:endParaRPr>
          </a:p>
          <a:p>
            <a:pPr marL="0" indent="0" algn="l">
              <a:lnSpc>
                <a:spcPct val="125000"/>
              </a:lnSpc>
              <a:spcBef>
                <a:spcPts val="0"/>
              </a:spcBef>
              <a:spcAft>
                <a:spcPts val="0"/>
              </a:spcAft>
              <a:buNone/>
            </a:pPr>
            <a:endParaRPr lang="en-US" altLang="zh-CN" sz="1800" b="0" i="0" u="none" strike="noStrike" kern="1200" cap="none" spc="0" baseline="0" dirty="0">
              <a:solidFill>
                <a:schemeClr val="tx1"/>
              </a:solidFill>
              <a:latin typeface="Arial" charset="0"/>
              <a:ea typeface="微软雅黑" charset="0"/>
              <a:cs typeface="Arial" charset="0"/>
            </a:endParaRPr>
          </a:p>
          <a:p>
            <a:pPr marL="0" indent="457200" algn="l">
              <a:lnSpc>
                <a:spcPct val="125000"/>
              </a:lnSpc>
              <a:spcBef>
                <a:spcPts val="0"/>
              </a:spcBef>
              <a:spcAft>
                <a:spcPts val="0"/>
              </a:spcAft>
              <a:buNone/>
            </a:pPr>
            <a:r>
              <a:rPr lang="zh-CN" altLang="en-US" sz="1800" b="0" i="0" u="none" strike="noStrike" kern="1200" cap="none" spc="0" baseline="0" dirty="0">
                <a:solidFill>
                  <a:schemeClr val="tx1"/>
                </a:solidFill>
                <a:latin typeface="Arial" charset="0"/>
                <a:ea typeface="微软雅黑" charset="0"/>
                <a:cs typeface="Arial" charset="0"/>
              </a:rPr>
              <a:t>朴素贝叶斯分类器本身是没有需要学习的参数的，其训练的阶段与其他的分类器不同，其并非一个最优化的问题，其在训练的过程只需要根据训练的样本统计先验概率和条件概率（似然）即可。贝叶斯分类器更像是一种统计方法，只是用机器来辅助运算。</a:t>
            </a:r>
            <a:endParaRPr lang="en-US" altLang="zh-CN" sz="1800" b="0" i="0" u="none" strike="noStrike" kern="1200" cap="none" spc="0" baseline="0" dirty="0">
              <a:solidFill>
                <a:schemeClr val="tx1"/>
              </a:solidFill>
              <a:latin typeface="Arial" charset="0"/>
              <a:ea typeface="微软雅黑" charset="0"/>
              <a:cs typeface="Arial" charset="0"/>
            </a:endParaRPr>
          </a:p>
          <a:p>
            <a:pPr marL="0" indent="457200" algn="l">
              <a:lnSpc>
                <a:spcPct val="125000"/>
              </a:lnSpc>
              <a:spcBef>
                <a:spcPts val="0"/>
              </a:spcBef>
              <a:spcAft>
                <a:spcPts val="0"/>
              </a:spcAft>
              <a:buNone/>
            </a:pPr>
            <a:endParaRPr lang="en-US" altLang="zh-CN" dirty="0">
              <a:latin typeface="Arial" charset="0"/>
              <a:ea typeface="微软雅黑" charset="0"/>
              <a:cs typeface="Arial" charset="0"/>
            </a:endParaRPr>
          </a:p>
          <a:p>
            <a:pPr marL="0" indent="457200" algn="l">
              <a:lnSpc>
                <a:spcPct val="125000"/>
              </a:lnSpc>
              <a:spcBef>
                <a:spcPts val="0"/>
              </a:spcBef>
              <a:spcAft>
                <a:spcPts val="0"/>
              </a:spcAft>
              <a:buNone/>
            </a:pPr>
            <a:r>
              <a:rPr lang="zh-CN" altLang="en-US" b="1" dirty="0">
                <a:solidFill>
                  <a:srgbClr val="FF0000"/>
                </a:solidFill>
                <a:latin typeface="Arial" charset="0"/>
                <a:ea typeface="微软雅黑" charset="0"/>
                <a:cs typeface="Arial" charset="0"/>
              </a:rPr>
              <a:t>这一章的重点是计算题！！</a:t>
            </a:r>
            <a:endParaRPr lang="en-US" altLang="zh-CN" sz="1800" b="1" i="0" u="none" strike="noStrike" kern="1200" cap="none" spc="0" baseline="0" dirty="0">
              <a:solidFill>
                <a:srgbClr val="FF0000"/>
              </a:solidFill>
              <a:latin typeface="Arial" charset="0"/>
              <a:ea typeface="微软雅黑" charset="0"/>
              <a:cs typeface="Arial" charset="0"/>
            </a:endParaRPr>
          </a:p>
        </p:txBody>
      </p:sp>
    </p:spTree>
    <p:extLst>
      <p:ext uri="{BB962C8B-B14F-4D97-AF65-F5344CB8AC3E}">
        <p14:creationId xmlns:p14="http://schemas.microsoft.com/office/powerpoint/2010/main" val="194421918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 name="图片"/>
          <p:cNvPicPr>
            <a:picLocks noChangeAspect="1"/>
          </p:cNvPicPr>
          <p:nvPr/>
        </p:nvPicPr>
        <p:blipFill>
          <a:blip r:embed="rId2" cstate="print"/>
          <a:stretch>
            <a:fillRect/>
          </a:stretch>
        </p:blipFill>
        <p:spPr>
          <a:xfrm>
            <a:off x="1463040" y="45720"/>
            <a:ext cx="8763000" cy="6891655"/>
          </a:xfrm>
          <a:prstGeom prst="rect">
            <a:avLst/>
          </a:prstGeom>
          <a:noFill/>
          <a:ln w="12700" cap="flat" cmpd="sng">
            <a:noFill/>
            <a:prstDash val="solid"/>
            <a:miter/>
          </a:ln>
        </p:spPr>
      </p:pic>
      <p:pic>
        <p:nvPicPr>
          <p:cNvPr id="89" name="图片"/>
          <p:cNvPicPr>
            <a:picLocks noChangeAspect="1"/>
          </p:cNvPicPr>
          <p:nvPr/>
        </p:nvPicPr>
        <p:blipFill>
          <a:blip r:embed="rId3" cstate="print"/>
          <a:stretch>
            <a:fillRect/>
          </a:stretch>
        </p:blipFill>
        <p:spPr>
          <a:xfrm>
            <a:off x="6885940" y="443230"/>
            <a:ext cx="4629785" cy="1971675"/>
          </a:xfrm>
          <a:prstGeom prst="rect">
            <a:avLst/>
          </a:prstGeom>
          <a:noFill/>
          <a:ln w="12700" cap="flat" cmpd="sng">
            <a:noFill/>
            <a:prstDash val="solid"/>
            <a:miter/>
          </a:ln>
        </p:spPr>
      </p:pic>
      <p:sp>
        <p:nvSpPr>
          <p:cNvPr id="90" name="矩形"/>
          <p:cNvSpPr>
            <a:spLocks/>
          </p:cNvSpPr>
          <p:nvPr/>
        </p:nvSpPr>
        <p:spPr>
          <a:xfrm>
            <a:off x="10941685" y="4485005"/>
            <a:ext cx="4064000" cy="368300"/>
          </a:xfrm>
          <a:prstGeom prst="rect">
            <a:avLst/>
          </a:prstGeom>
          <a:noFill/>
          <a:ln w="12700" cap="flat" cmpd="sng">
            <a:noFill/>
            <a:prstDash val="solid"/>
            <a:miter/>
          </a:ln>
        </p:spPr>
      </p:sp>
    </p:spTree>
    <p:extLst>
      <p:ext uri="{BB962C8B-B14F-4D97-AF65-F5344CB8AC3E}">
        <p14:creationId xmlns:p14="http://schemas.microsoft.com/office/powerpoint/2010/main" val="70920812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 name="矩形"/>
          <p:cNvSpPr>
            <a:spLocks/>
          </p:cNvSpPr>
          <p:nvPr/>
        </p:nvSpPr>
        <p:spPr>
          <a:xfrm>
            <a:off x="1245235" y="949325"/>
            <a:ext cx="4063999" cy="368300"/>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en-US" altLang="zh-CN" sz="1800" b="0" i="0" u="none" strike="noStrike" kern="1200" cap="none" spc="0" baseline="0" dirty="0">
                <a:solidFill>
                  <a:schemeClr val="tx1"/>
                </a:solidFill>
                <a:latin typeface="Arial" charset="0"/>
                <a:ea typeface="微软雅黑" charset="0"/>
                <a:cs typeface="Arial" charset="0"/>
              </a:rPr>
              <a:t>EM</a:t>
            </a:r>
            <a:r>
              <a:rPr lang="zh-CN" altLang="en-US" sz="1800" b="0" i="0" u="none" strike="noStrike" kern="1200" cap="none" spc="0" baseline="0" dirty="0">
                <a:solidFill>
                  <a:schemeClr val="tx1"/>
                </a:solidFill>
                <a:latin typeface="Arial" charset="0"/>
                <a:ea typeface="微软雅黑" charset="0"/>
                <a:cs typeface="Arial" charset="0"/>
              </a:rPr>
              <a:t>算法</a:t>
            </a:r>
          </a:p>
        </p:txBody>
      </p:sp>
      <p:sp>
        <p:nvSpPr>
          <p:cNvPr id="2" name="文本框 1">
            <a:extLst>
              <a:ext uri="{FF2B5EF4-FFF2-40B4-BE49-F238E27FC236}">
                <a16:creationId xmlns:a16="http://schemas.microsoft.com/office/drawing/2014/main" id="{46057C55-D43C-0E03-6293-34C21B0D64A1}"/>
              </a:ext>
            </a:extLst>
          </p:cNvPr>
          <p:cNvSpPr txBox="1"/>
          <p:nvPr/>
        </p:nvSpPr>
        <p:spPr>
          <a:xfrm>
            <a:off x="1245235" y="1773382"/>
            <a:ext cx="7488382" cy="369332"/>
          </a:xfrm>
          <a:prstGeom prst="rect">
            <a:avLst/>
          </a:prstGeom>
          <a:noFill/>
        </p:spPr>
        <p:txBody>
          <a:bodyPr wrap="square" rtlCol="0">
            <a:spAutoFit/>
          </a:bodyPr>
          <a:lstStyle/>
          <a:p>
            <a:r>
              <a:rPr lang="zh-CN" altLang="en-US" dirty="0"/>
              <a:t>好像没考过，但是也要了解一下</a:t>
            </a:r>
          </a:p>
        </p:txBody>
      </p:sp>
    </p:spTree>
    <p:extLst>
      <p:ext uri="{BB962C8B-B14F-4D97-AF65-F5344CB8AC3E}">
        <p14:creationId xmlns:p14="http://schemas.microsoft.com/office/powerpoint/2010/main" val="105244173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 name="矩形"/>
          <p:cNvSpPr>
            <a:spLocks/>
          </p:cNvSpPr>
          <p:nvPr/>
        </p:nvSpPr>
        <p:spPr>
          <a:xfrm>
            <a:off x="2964180" y="2530475"/>
            <a:ext cx="4064000" cy="645160"/>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zh-CN" altLang="en-US" sz="3600" b="0" i="0" u="none" strike="noStrike" kern="1200" cap="none" spc="0" baseline="0">
                <a:solidFill>
                  <a:schemeClr val="tx1"/>
                </a:solidFill>
                <a:latin typeface="Arial" charset="0"/>
                <a:ea typeface="微软雅黑" charset="0"/>
                <a:cs typeface="Arial" charset="0"/>
                <a:sym typeface="微软雅黑" charset="0"/>
              </a:rPr>
              <a:t>第八章：集成学习</a:t>
            </a:r>
          </a:p>
        </p:txBody>
      </p:sp>
    </p:spTree>
    <p:extLst>
      <p:ext uri="{BB962C8B-B14F-4D97-AF65-F5344CB8AC3E}">
        <p14:creationId xmlns:p14="http://schemas.microsoft.com/office/powerpoint/2010/main" val="66268136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 name="矩形"/>
          <p:cNvSpPr>
            <a:spLocks/>
          </p:cNvSpPr>
          <p:nvPr/>
        </p:nvSpPr>
        <p:spPr>
          <a:xfrm>
            <a:off x="547255" y="692150"/>
            <a:ext cx="11339945" cy="5078313"/>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l">
              <a:lnSpc>
                <a:spcPct val="150000"/>
              </a:lnSpc>
              <a:spcBef>
                <a:spcPts val="0"/>
              </a:spcBef>
              <a:spcAft>
                <a:spcPts val="0"/>
              </a:spcAft>
              <a:buNone/>
            </a:pPr>
            <a:r>
              <a:rPr lang="zh-CN" altLang="en-US" sz="1800" b="0" i="1" u="none" strike="noStrike" kern="1200" cap="none" spc="0" baseline="0" dirty="0">
                <a:solidFill>
                  <a:schemeClr val="tx1"/>
                </a:solidFill>
                <a:latin typeface="Arial" charset="0"/>
                <a:ea typeface="微软雅黑" charset="0"/>
                <a:cs typeface="Arial" charset="0"/>
                <a:sym typeface="微软雅黑" charset="0"/>
              </a:rPr>
              <a:t>要获得好的集成，个体学习器应该</a:t>
            </a:r>
            <a:r>
              <a:rPr lang="en-US" altLang="zh-CN" sz="1800" b="0" i="1" u="none" strike="noStrike" kern="1200" cap="none" spc="0" baseline="0" dirty="0">
                <a:solidFill>
                  <a:schemeClr val="tx1"/>
                </a:solidFill>
                <a:latin typeface="Arial" charset="0"/>
                <a:ea typeface="微软雅黑" charset="0"/>
                <a:cs typeface="Arial" charset="0"/>
                <a:sym typeface="微软雅黑" charset="0"/>
              </a:rPr>
              <a:t>“</a:t>
            </a:r>
            <a:r>
              <a:rPr lang="zh-CN" altLang="en-US" sz="1800" b="0" i="1" u="none" strike="noStrike" kern="1200" cap="none" spc="0" baseline="0" dirty="0">
                <a:solidFill>
                  <a:schemeClr val="tx1"/>
                </a:solidFill>
                <a:latin typeface="Arial" charset="0"/>
                <a:ea typeface="微软雅黑" charset="0"/>
                <a:cs typeface="Arial" charset="0"/>
                <a:sym typeface="微软雅黑" charset="0"/>
              </a:rPr>
              <a:t>好而不同</a:t>
            </a:r>
            <a:r>
              <a:rPr lang="en-US" altLang="zh-CN" sz="1800" b="0" i="1" u="none" strike="noStrike" kern="1200" cap="none" spc="0" baseline="0" dirty="0">
                <a:solidFill>
                  <a:schemeClr val="tx1"/>
                </a:solidFill>
                <a:latin typeface="Arial" charset="0"/>
                <a:ea typeface="微软雅黑" charset="0"/>
                <a:cs typeface="Arial" charset="0"/>
                <a:sym typeface="微软雅黑" charset="0"/>
              </a:rPr>
              <a:t>”</a:t>
            </a:r>
            <a:r>
              <a:rPr lang="zh-CN" altLang="en-US" sz="1800" b="0" i="1" u="none" strike="noStrike" kern="1200" cap="none" spc="0" baseline="0" dirty="0">
                <a:solidFill>
                  <a:schemeClr val="tx1"/>
                </a:solidFill>
                <a:latin typeface="Arial" charset="0"/>
                <a:ea typeface="微软雅黑" charset="0"/>
                <a:cs typeface="Arial" charset="0"/>
                <a:sym typeface="微软雅黑" charset="0"/>
              </a:rPr>
              <a:t>。个体学习器性能不能太坏，学习器之间要有差异</a:t>
            </a:r>
            <a:endParaRPr lang="en-US" altLang="zh-CN" sz="1800" b="0" i="1" u="none" strike="noStrike" kern="1200" cap="none" spc="0" baseline="0" dirty="0">
              <a:solidFill>
                <a:schemeClr val="tx1"/>
              </a:solidFill>
              <a:latin typeface="Arial" charset="0"/>
              <a:ea typeface="微软雅黑" charset="0"/>
              <a:cs typeface="Arial" charset="0"/>
              <a:sym typeface="微软雅黑" charset="0"/>
            </a:endParaRPr>
          </a:p>
          <a:p>
            <a:pPr marL="0" indent="0" algn="l">
              <a:lnSpc>
                <a:spcPct val="150000"/>
              </a:lnSpc>
              <a:spcBef>
                <a:spcPts val="0"/>
              </a:spcBef>
              <a:spcAft>
                <a:spcPts val="0"/>
              </a:spcAft>
              <a:buNone/>
            </a:pPr>
            <a:endParaRPr lang="en-US" altLang="zh-CN" i="1" dirty="0">
              <a:latin typeface="Arial" charset="0"/>
              <a:ea typeface="微软雅黑" charset="0"/>
              <a:cs typeface="Arial" charset="0"/>
            </a:endParaRPr>
          </a:p>
          <a:p>
            <a:pPr marL="0" indent="0" algn="l">
              <a:lnSpc>
                <a:spcPct val="150000"/>
              </a:lnSpc>
              <a:spcBef>
                <a:spcPts val="0"/>
              </a:spcBef>
              <a:spcAft>
                <a:spcPts val="0"/>
              </a:spcAft>
              <a:buNone/>
            </a:pPr>
            <a:endParaRPr lang="en-US" altLang="zh-CN" sz="1800" b="0" i="1" u="none" strike="noStrike" kern="1200" cap="none" spc="0" baseline="0" dirty="0">
              <a:solidFill>
                <a:schemeClr val="tx1"/>
              </a:solidFill>
              <a:latin typeface="Arial" charset="0"/>
              <a:ea typeface="微软雅黑" charset="0"/>
              <a:cs typeface="Arial" charset="0"/>
            </a:endParaRPr>
          </a:p>
          <a:p>
            <a:pPr marL="0" indent="0" algn="l">
              <a:lnSpc>
                <a:spcPct val="150000"/>
              </a:lnSpc>
              <a:spcBef>
                <a:spcPts val="0"/>
              </a:spcBef>
              <a:spcAft>
                <a:spcPts val="0"/>
              </a:spcAft>
              <a:buNone/>
            </a:pPr>
            <a:r>
              <a:rPr lang="zh-CN" altLang="en-US" sz="1800" b="0" i="0" u="none" strike="noStrike" kern="1200" cap="none" spc="0" baseline="0" dirty="0">
                <a:solidFill>
                  <a:schemeClr val="tx1"/>
                </a:solidFill>
                <a:latin typeface="Arial" charset="0"/>
                <a:ea typeface="微软雅黑" charset="0"/>
                <a:cs typeface="Arial" charset="0"/>
              </a:rPr>
              <a:t>集成学习有两个主要的问题需要解决，第一是如何得到若干个 个体学习器，第二是如何选择一种结合策略，将这些个体学习器集合成一个强学习器</a:t>
            </a:r>
            <a:endParaRPr lang="en-US" altLang="zh-CN" sz="1800" b="0" i="0" u="none" strike="noStrike" kern="1200" cap="none" spc="0" baseline="0" dirty="0">
              <a:solidFill>
                <a:schemeClr val="tx1"/>
              </a:solidFill>
              <a:latin typeface="Arial" charset="0"/>
              <a:ea typeface="微软雅黑" charset="0"/>
              <a:cs typeface="Arial" charset="0"/>
            </a:endParaRPr>
          </a:p>
          <a:p>
            <a:pPr marL="0" indent="0" algn="l">
              <a:lnSpc>
                <a:spcPct val="150000"/>
              </a:lnSpc>
              <a:spcBef>
                <a:spcPts val="0"/>
              </a:spcBef>
              <a:spcAft>
                <a:spcPts val="0"/>
              </a:spcAft>
              <a:buNone/>
            </a:pPr>
            <a:r>
              <a:rPr lang="zh-CN" altLang="en-US" sz="1800" b="0" i="0" u="none" strike="noStrike" kern="1200" cap="none" spc="0" baseline="0" dirty="0">
                <a:solidFill>
                  <a:schemeClr val="tx1"/>
                </a:solidFill>
                <a:latin typeface="Arial" charset="0"/>
                <a:ea typeface="微软雅黑" charset="0"/>
                <a:cs typeface="Arial" charset="0"/>
              </a:rPr>
              <a:t>目前的集成学习分为两大类：</a:t>
            </a:r>
            <a:endParaRPr lang="en-US" altLang="zh-CN" sz="1800" b="0" i="0" u="none" strike="noStrike" kern="1200" cap="none" spc="0" baseline="0" dirty="0">
              <a:solidFill>
                <a:schemeClr val="tx1"/>
              </a:solidFill>
              <a:latin typeface="Arial" charset="0"/>
              <a:ea typeface="微软雅黑" charset="0"/>
              <a:cs typeface="Arial" charset="0"/>
            </a:endParaRPr>
          </a:p>
          <a:p>
            <a:pPr marL="0" indent="0" algn="l">
              <a:lnSpc>
                <a:spcPct val="150000"/>
              </a:lnSpc>
              <a:spcBef>
                <a:spcPts val="0"/>
              </a:spcBef>
              <a:spcAft>
                <a:spcPts val="0"/>
              </a:spcAft>
              <a:buNone/>
            </a:pPr>
            <a:endParaRPr lang="en-US" altLang="zh-CN" sz="1800" b="0" i="0" u="none" strike="noStrike" kern="1200" cap="none" spc="0" baseline="0" dirty="0">
              <a:solidFill>
                <a:schemeClr val="tx1"/>
              </a:solidFill>
              <a:latin typeface="Arial" charset="0"/>
              <a:ea typeface="微软雅黑" charset="0"/>
              <a:cs typeface="Arial" charset="0"/>
            </a:endParaRPr>
          </a:p>
          <a:p>
            <a:pPr marL="0" indent="457200" algn="l">
              <a:lnSpc>
                <a:spcPct val="150000"/>
              </a:lnSpc>
              <a:spcBef>
                <a:spcPts val="0"/>
              </a:spcBef>
              <a:spcAft>
                <a:spcPts val="0"/>
              </a:spcAft>
              <a:buNone/>
            </a:pPr>
            <a:r>
              <a:rPr lang="en-US" altLang="zh-CN" sz="1800" b="0" i="0" u="none" strike="noStrike" kern="1200" cap="none" spc="0" baseline="0" dirty="0">
                <a:solidFill>
                  <a:schemeClr val="tx1"/>
                </a:solidFill>
                <a:latin typeface="Arial" charset="0"/>
                <a:ea typeface="微软雅黑" charset="0"/>
                <a:cs typeface="Arial" charset="0"/>
              </a:rPr>
              <a:t>1. </a:t>
            </a:r>
            <a:r>
              <a:rPr lang="en-US" altLang="zh-CN" sz="1800" b="0" i="0" u="none" strike="noStrike" kern="1200" cap="none" spc="0" baseline="0" dirty="0" err="1">
                <a:solidFill>
                  <a:schemeClr val="tx1"/>
                </a:solidFill>
                <a:latin typeface="Arial" charset="0"/>
                <a:ea typeface="微软雅黑" charset="0"/>
                <a:cs typeface="Arial" charset="0"/>
              </a:rPr>
              <a:t>第一种是个体之间存在强依赖关系，一系列的学习器都需要通过串行产生</a:t>
            </a:r>
            <a:r>
              <a:rPr lang="zh-CN" altLang="en-US" sz="1800" b="0" i="0" u="none" strike="noStrike" kern="1200" cap="none" spc="0" baseline="0" dirty="0">
                <a:solidFill>
                  <a:schemeClr val="tx1"/>
                </a:solidFill>
                <a:latin typeface="Arial" charset="0"/>
                <a:ea typeface="微软雅黑" charset="0"/>
                <a:cs typeface="Arial" charset="0"/>
              </a:rPr>
              <a:t>，试图提升单个个体的能力，代表算法为boosting系列（</a:t>
            </a:r>
            <a:r>
              <a:rPr lang="en-US" altLang="zh-CN" sz="1800" b="1" i="0" u="none" strike="noStrike" kern="1200" cap="none" spc="0" baseline="0" dirty="0" err="1">
                <a:solidFill>
                  <a:schemeClr val="tx1"/>
                </a:solidFill>
                <a:latin typeface="Arial" charset="0"/>
                <a:ea typeface="微软雅黑" charset="0"/>
                <a:cs typeface="Arial" charset="0"/>
              </a:rPr>
              <a:t>Adaboost</a:t>
            </a:r>
            <a:r>
              <a:rPr lang="zh-CN" altLang="en-US" sz="1800" b="0" i="0" u="none" strike="noStrike" kern="1200" cap="none" spc="0" baseline="0" dirty="0">
                <a:solidFill>
                  <a:schemeClr val="tx1"/>
                </a:solidFill>
                <a:latin typeface="Arial" charset="0"/>
                <a:ea typeface="微软雅黑" charset="0"/>
                <a:cs typeface="Arial" charset="0"/>
              </a:rPr>
              <a:t>）</a:t>
            </a:r>
            <a:endParaRPr lang="en-US" altLang="zh-CN" sz="1800" b="0" i="0" u="none" strike="noStrike" kern="1200" cap="none" spc="0" baseline="0" dirty="0">
              <a:solidFill>
                <a:schemeClr val="tx1"/>
              </a:solidFill>
              <a:latin typeface="Arial" charset="0"/>
              <a:ea typeface="微软雅黑" charset="0"/>
              <a:cs typeface="Arial" charset="0"/>
            </a:endParaRPr>
          </a:p>
          <a:p>
            <a:pPr marL="0" indent="457200" algn="l">
              <a:lnSpc>
                <a:spcPct val="150000"/>
              </a:lnSpc>
              <a:spcBef>
                <a:spcPts val="0"/>
              </a:spcBef>
              <a:spcAft>
                <a:spcPts val="0"/>
              </a:spcAft>
              <a:buNone/>
            </a:pPr>
            <a:r>
              <a:rPr lang="en-US" altLang="zh-CN" sz="1800" b="0" i="0" u="none" strike="noStrike" kern="1200" cap="none" spc="0" baseline="0" dirty="0">
                <a:solidFill>
                  <a:schemeClr val="tx1"/>
                </a:solidFill>
                <a:latin typeface="Arial" charset="0"/>
                <a:ea typeface="微软雅黑" charset="0"/>
                <a:cs typeface="Arial" charset="0"/>
              </a:rPr>
              <a:t>2. </a:t>
            </a:r>
            <a:r>
              <a:rPr lang="zh-CN" altLang="en-US" sz="1800" b="0" i="0" u="none" strike="noStrike" kern="1200" cap="none" spc="0" baseline="0" dirty="0">
                <a:solidFill>
                  <a:schemeClr val="tx1"/>
                </a:solidFill>
                <a:latin typeface="Arial" charset="0"/>
                <a:ea typeface="微软雅黑" charset="0"/>
                <a:cs typeface="Arial" charset="0"/>
              </a:rPr>
              <a:t>第二种是个体之间不存在强依赖关系，一系列的学习器并行产生，代表算法为</a:t>
            </a:r>
            <a:r>
              <a:rPr lang="zh-CN" altLang="en-US" sz="1800" b="1" i="0" u="none" strike="noStrike" kern="1200" cap="none" spc="0" baseline="0" dirty="0">
                <a:solidFill>
                  <a:schemeClr val="tx1"/>
                </a:solidFill>
                <a:latin typeface="Arial" charset="0"/>
                <a:ea typeface="微软雅黑" charset="0"/>
                <a:cs typeface="Arial" charset="0"/>
              </a:rPr>
              <a:t>bagging</a:t>
            </a:r>
            <a:r>
              <a:rPr lang="zh-CN" altLang="en-US" sz="1800" b="0" i="0" u="none" strike="noStrike" kern="1200" cap="none" spc="0" baseline="0" dirty="0">
                <a:solidFill>
                  <a:schemeClr val="tx1"/>
                </a:solidFill>
                <a:latin typeface="Arial" charset="0"/>
                <a:ea typeface="微软雅黑" charset="0"/>
                <a:cs typeface="Arial" charset="0"/>
              </a:rPr>
              <a:t>系列（</a:t>
            </a:r>
            <a:r>
              <a:rPr lang="zh-CN" altLang="en-US" sz="1800" b="1" i="0" u="none" strike="noStrike" kern="1200" cap="none" spc="0" baseline="0" dirty="0">
                <a:solidFill>
                  <a:schemeClr val="tx1"/>
                </a:solidFill>
                <a:latin typeface="Arial" charset="0"/>
                <a:ea typeface="微软雅黑" charset="0"/>
                <a:cs typeface="Arial" charset="0"/>
              </a:rPr>
              <a:t>随机森林</a:t>
            </a:r>
            <a:r>
              <a:rPr lang="zh-CN" altLang="en-US" sz="1800" b="0" i="0" u="none" strike="noStrike" kern="1200" cap="none" spc="0" baseline="0" dirty="0">
                <a:solidFill>
                  <a:schemeClr val="tx1"/>
                </a:solidFill>
                <a:latin typeface="Arial" charset="0"/>
                <a:ea typeface="微软雅黑" charset="0"/>
                <a:cs typeface="Arial" charset="0"/>
              </a:rPr>
              <a:t>）</a:t>
            </a:r>
            <a:endParaRPr lang="en-US" altLang="zh-CN" sz="1800" b="0" i="0" u="none" strike="noStrike" kern="1200" cap="none" spc="0" baseline="0" dirty="0">
              <a:solidFill>
                <a:schemeClr val="tx1"/>
              </a:solidFill>
              <a:latin typeface="Arial" charset="0"/>
              <a:ea typeface="微软雅黑" charset="0"/>
              <a:cs typeface="Arial" charset="0"/>
            </a:endParaRPr>
          </a:p>
          <a:p>
            <a:pPr marL="0" indent="457200" algn="l">
              <a:lnSpc>
                <a:spcPct val="100000"/>
              </a:lnSpc>
              <a:spcBef>
                <a:spcPts val="0"/>
              </a:spcBef>
              <a:spcAft>
                <a:spcPts val="0"/>
              </a:spcAft>
              <a:buNone/>
            </a:pPr>
            <a:endParaRPr lang="en-US" altLang="zh-CN" sz="1800" b="0" i="0" u="none" strike="noStrike" kern="1200" cap="none" spc="0" baseline="0" dirty="0">
              <a:solidFill>
                <a:schemeClr val="tx1"/>
              </a:solidFill>
              <a:latin typeface="Arial" charset="0"/>
              <a:ea typeface="微软雅黑" charset="0"/>
              <a:cs typeface="Arial" charset="0"/>
            </a:endParaRPr>
          </a:p>
          <a:p>
            <a:pPr marL="0" indent="457200" algn="l">
              <a:lnSpc>
                <a:spcPct val="100000"/>
              </a:lnSpc>
              <a:spcBef>
                <a:spcPts val="0"/>
              </a:spcBef>
              <a:spcAft>
                <a:spcPts val="0"/>
              </a:spcAft>
              <a:buNone/>
            </a:pPr>
            <a:endParaRPr lang="en-US" altLang="zh-CN" sz="1800" b="0" i="0" u="none" strike="noStrike" kern="1200" cap="none" spc="0" baseline="0" dirty="0">
              <a:solidFill>
                <a:schemeClr val="tx1"/>
              </a:solidFill>
              <a:latin typeface="Arial" charset="0"/>
              <a:ea typeface="微软雅黑" charset="0"/>
              <a:cs typeface="Arial" charset="0"/>
            </a:endParaRPr>
          </a:p>
          <a:p>
            <a:pPr marL="0" indent="0" algn="l">
              <a:lnSpc>
                <a:spcPct val="100000"/>
              </a:lnSpc>
              <a:spcBef>
                <a:spcPts val="0"/>
              </a:spcBef>
              <a:spcAft>
                <a:spcPts val="0"/>
              </a:spcAft>
              <a:buNone/>
            </a:pPr>
            <a:endParaRPr lang="zh-CN" altLang="en-US" sz="1800" b="0" i="0" u="none" strike="noStrike" kern="1200" cap="none" spc="0" baseline="0" dirty="0">
              <a:solidFill>
                <a:schemeClr val="tx1"/>
              </a:solidFill>
              <a:latin typeface="Arial" charset="0"/>
              <a:ea typeface="微软雅黑" charset="0"/>
              <a:cs typeface="Arial" charset="0"/>
            </a:endParaRPr>
          </a:p>
        </p:txBody>
      </p:sp>
    </p:spTree>
    <p:extLst>
      <p:ext uri="{BB962C8B-B14F-4D97-AF65-F5344CB8AC3E}">
        <p14:creationId xmlns:p14="http://schemas.microsoft.com/office/powerpoint/2010/main" val="121030135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 name="矩形"/>
          <p:cNvSpPr>
            <a:spLocks/>
          </p:cNvSpPr>
          <p:nvPr/>
        </p:nvSpPr>
        <p:spPr>
          <a:xfrm>
            <a:off x="1242695" y="648970"/>
            <a:ext cx="6096000" cy="583564"/>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en-US" altLang="zh-CN" sz="3200" b="1" i="0" u="none" strike="noStrike" kern="1200" cap="none" spc="0" baseline="0">
                <a:solidFill>
                  <a:schemeClr val="tx1"/>
                </a:solidFill>
                <a:latin typeface="Arial" charset="0"/>
                <a:ea typeface="微软雅黑" charset="0"/>
                <a:cs typeface="Arial" charset="0"/>
              </a:rPr>
              <a:t>Boosting</a:t>
            </a:r>
            <a:endParaRPr lang="zh-CN" altLang="en-US" sz="3200" b="1" i="0" u="none" strike="noStrike" kern="1200" cap="none" spc="0" baseline="0">
              <a:solidFill>
                <a:schemeClr val="tx1"/>
              </a:solidFill>
              <a:latin typeface="Arial" charset="0"/>
              <a:ea typeface="微软雅黑" charset="0"/>
              <a:cs typeface="Arial" charset="0"/>
            </a:endParaRPr>
          </a:p>
        </p:txBody>
      </p:sp>
      <p:sp>
        <p:nvSpPr>
          <p:cNvPr id="95" name="矩形"/>
          <p:cNvSpPr>
            <a:spLocks/>
          </p:cNvSpPr>
          <p:nvPr/>
        </p:nvSpPr>
        <p:spPr>
          <a:xfrm>
            <a:off x="963930" y="1420495"/>
            <a:ext cx="8973185" cy="1476375"/>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en-US" altLang="zh-CN" sz="1800" b="0" i="0" u="none" strike="noStrike" kern="1200" cap="none" spc="0" baseline="0">
                <a:solidFill>
                  <a:schemeClr val="tx1"/>
                </a:solidFill>
                <a:latin typeface="仿宋" charset="-122"/>
                <a:ea typeface="仿宋" charset="-122"/>
                <a:cs typeface="仿宋" charset="-122"/>
              </a:rPr>
              <a:t>Boosting是一族可以将</a:t>
            </a:r>
            <a:r>
              <a:rPr lang="zh-CN" altLang="en-US" sz="1800" b="1" i="0" u="none" strike="noStrike" kern="1200" cap="none" spc="0" baseline="0">
                <a:solidFill>
                  <a:srgbClr val="FF0000"/>
                </a:solidFill>
                <a:latin typeface="仿宋" charset="-122"/>
                <a:ea typeface="仿宋" charset="-122"/>
                <a:cs typeface="仿宋" charset="-122"/>
              </a:rPr>
              <a:t>弱学习器</a:t>
            </a:r>
            <a:r>
              <a:rPr lang="zh-CN" altLang="en-US" sz="1800" b="0" i="0" u="none" strike="noStrike" kern="1200" cap="none" spc="0" baseline="0">
                <a:solidFill>
                  <a:schemeClr val="tx1"/>
                </a:solidFill>
                <a:latin typeface="仿宋" charset="-122"/>
                <a:ea typeface="仿宋" charset="-122"/>
                <a:cs typeface="仿宋" charset="-122"/>
              </a:rPr>
              <a:t>提升为</a:t>
            </a:r>
            <a:r>
              <a:rPr lang="zh-CN" altLang="en-US" sz="1800" b="1" i="0" u="none" strike="noStrike" kern="1200" cap="none" spc="0" baseline="0">
                <a:solidFill>
                  <a:srgbClr val="FF0000"/>
                </a:solidFill>
                <a:latin typeface="仿宋" charset="-122"/>
                <a:ea typeface="仿宋" charset="-122"/>
                <a:cs typeface="仿宋" charset="-122"/>
              </a:rPr>
              <a:t>强学习器</a:t>
            </a:r>
            <a:r>
              <a:rPr lang="zh-CN" altLang="en-US" sz="1800" b="0" i="0" u="none" strike="noStrike" kern="1200" cap="none" spc="0" baseline="0">
                <a:solidFill>
                  <a:schemeClr val="tx1"/>
                </a:solidFill>
                <a:latin typeface="仿宋" charset="-122"/>
                <a:ea typeface="仿宋" charset="-122"/>
                <a:cs typeface="仿宋" charset="-122"/>
              </a:rPr>
              <a:t>的算法。</a:t>
            </a:r>
            <a:endParaRPr lang="en-US" altLang="zh-CN" sz="1800" b="0" i="0" u="none" strike="noStrike" kern="1200" cap="none" spc="0" baseline="0">
              <a:solidFill>
                <a:schemeClr val="tx1"/>
              </a:solidFill>
              <a:latin typeface="仿宋" charset="-122"/>
              <a:ea typeface="仿宋" charset="-122"/>
              <a:cs typeface="仿宋" charset="-122"/>
            </a:endParaRPr>
          </a:p>
          <a:p>
            <a:pPr marL="0" indent="0" algn="l">
              <a:lnSpc>
                <a:spcPct val="100000"/>
              </a:lnSpc>
              <a:spcBef>
                <a:spcPts val="0"/>
              </a:spcBef>
              <a:spcAft>
                <a:spcPts val="0"/>
              </a:spcAft>
              <a:buNone/>
            </a:pPr>
            <a:r>
              <a:rPr lang="zh-CN" altLang="en-US" sz="1800" b="0" i="0" u="none" strike="noStrike" kern="1200" cap="none" spc="0" baseline="0">
                <a:solidFill>
                  <a:schemeClr val="tx1"/>
                </a:solidFill>
                <a:latin typeface="仿宋" charset="-122"/>
                <a:ea typeface="仿宋" charset="-122"/>
                <a:cs typeface="仿宋" charset="-122"/>
              </a:rPr>
              <a:t>工作机制大致为：先从初始训练集中训练出一个基学习器，再根据基学习器的表现对训练样本分布进行调整，使得先前基学习器做错的训练样本在后续收到更多的关注，然后基于调整后的样本训练下一个基学习器；如此重复进行，知道基学习器的数目达到了事先指定的值T，最终再将这T个基学习器进行加权组合。</a:t>
            </a:r>
          </a:p>
        </p:txBody>
      </p:sp>
      <p:pic>
        <p:nvPicPr>
          <p:cNvPr id="96" name="图片"/>
          <p:cNvPicPr>
            <a:picLocks noChangeAspect="1"/>
          </p:cNvPicPr>
          <p:nvPr/>
        </p:nvPicPr>
        <p:blipFill>
          <a:blip r:embed="rId2" cstate="print"/>
          <a:stretch>
            <a:fillRect/>
          </a:stretch>
        </p:blipFill>
        <p:spPr>
          <a:xfrm>
            <a:off x="3174365" y="3004819"/>
            <a:ext cx="4862830" cy="3371850"/>
          </a:xfrm>
          <a:prstGeom prst="rect">
            <a:avLst/>
          </a:prstGeom>
          <a:noFill/>
          <a:ln w="12700" cap="flat" cmpd="sng">
            <a:noFill/>
            <a:prstDash val="solid"/>
            <a:miter/>
          </a:ln>
        </p:spPr>
      </p:pic>
      <p:sp>
        <p:nvSpPr>
          <p:cNvPr id="2" name="文本框 1">
            <a:extLst>
              <a:ext uri="{FF2B5EF4-FFF2-40B4-BE49-F238E27FC236}">
                <a16:creationId xmlns:a16="http://schemas.microsoft.com/office/drawing/2014/main" id="{E5A50552-C5E6-3BDF-FC5C-929C2C5B9FA9}"/>
              </a:ext>
            </a:extLst>
          </p:cNvPr>
          <p:cNvSpPr txBox="1"/>
          <p:nvPr/>
        </p:nvSpPr>
        <p:spPr>
          <a:xfrm>
            <a:off x="9192491" y="3429000"/>
            <a:ext cx="2514600" cy="923330"/>
          </a:xfrm>
          <a:prstGeom prst="rect">
            <a:avLst/>
          </a:prstGeom>
          <a:noFill/>
        </p:spPr>
        <p:txBody>
          <a:bodyPr wrap="square" rtlCol="0">
            <a:spAutoFit/>
          </a:bodyPr>
          <a:lstStyle/>
          <a:p>
            <a:r>
              <a:rPr lang="zh-CN" altLang="en-US" dirty="0"/>
              <a:t>公式复杂，而且好像没考过伪代码，但是概念要清楚</a:t>
            </a:r>
          </a:p>
        </p:txBody>
      </p:sp>
      <p:sp>
        <p:nvSpPr>
          <p:cNvPr id="3" name="文本框 2">
            <a:extLst>
              <a:ext uri="{FF2B5EF4-FFF2-40B4-BE49-F238E27FC236}">
                <a16:creationId xmlns:a16="http://schemas.microsoft.com/office/drawing/2014/main" id="{28F1F6AA-531D-44D0-A222-D142DB22D032}"/>
              </a:ext>
            </a:extLst>
          </p:cNvPr>
          <p:cNvSpPr txBox="1"/>
          <p:nvPr/>
        </p:nvSpPr>
        <p:spPr>
          <a:xfrm>
            <a:off x="4384964" y="706582"/>
            <a:ext cx="4585854" cy="369332"/>
          </a:xfrm>
          <a:prstGeom prst="rect">
            <a:avLst/>
          </a:prstGeom>
          <a:noFill/>
        </p:spPr>
        <p:txBody>
          <a:bodyPr wrap="square" rtlCol="0">
            <a:spAutoFit/>
          </a:bodyPr>
          <a:lstStyle/>
          <a:p>
            <a:r>
              <a:rPr lang="en-US" altLang="zh-CN" dirty="0"/>
              <a:t>Boosting</a:t>
            </a:r>
            <a:r>
              <a:rPr lang="zh-CN" altLang="en-US" dirty="0"/>
              <a:t>包含</a:t>
            </a:r>
            <a:r>
              <a:rPr lang="en-US" altLang="zh-CN" dirty="0"/>
              <a:t>AdaBoost, GBDT, XGBOOST</a:t>
            </a:r>
            <a:r>
              <a:rPr lang="zh-CN" altLang="en-US" dirty="0"/>
              <a:t>等</a:t>
            </a:r>
          </a:p>
        </p:txBody>
      </p:sp>
    </p:spTree>
    <p:extLst>
      <p:ext uri="{BB962C8B-B14F-4D97-AF65-F5344CB8AC3E}">
        <p14:creationId xmlns:p14="http://schemas.microsoft.com/office/powerpoint/2010/main" val="32803127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 name="矩形"/>
          <p:cNvSpPr>
            <a:spLocks/>
          </p:cNvSpPr>
          <p:nvPr/>
        </p:nvSpPr>
        <p:spPr>
          <a:xfrm>
            <a:off x="1242695" y="648970"/>
            <a:ext cx="6096000" cy="583564"/>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en-US" altLang="zh-CN" sz="3200" b="1" i="0" u="none" strike="noStrike" kern="1200" cap="none" spc="0" baseline="0">
                <a:solidFill>
                  <a:schemeClr val="tx1"/>
                </a:solidFill>
                <a:latin typeface="Arial" charset="0"/>
                <a:ea typeface="微软雅黑" charset="0"/>
                <a:cs typeface="Arial" charset="0"/>
                <a:sym typeface="微软雅黑" charset="0"/>
              </a:rPr>
              <a:t>Bagging</a:t>
            </a:r>
            <a:endParaRPr lang="zh-CN" altLang="en-US" sz="3200" b="1" i="0" u="none" strike="noStrike" kern="1200" cap="none" spc="0" baseline="0">
              <a:solidFill>
                <a:schemeClr val="tx1"/>
              </a:solidFill>
              <a:latin typeface="Arial" charset="0"/>
              <a:ea typeface="微软雅黑" charset="0"/>
              <a:cs typeface="Arial" charset="0"/>
            </a:endParaRPr>
          </a:p>
        </p:txBody>
      </p:sp>
      <p:sp>
        <p:nvSpPr>
          <p:cNvPr id="98" name="矩形"/>
          <p:cNvSpPr>
            <a:spLocks/>
          </p:cNvSpPr>
          <p:nvPr/>
        </p:nvSpPr>
        <p:spPr>
          <a:xfrm>
            <a:off x="928370" y="1520190"/>
            <a:ext cx="9544050" cy="3415030"/>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457200" algn="l">
              <a:lnSpc>
                <a:spcPct val="100000"/>
              </a:lnSpc>
              <a:spcBef>
                <a:spcPts val="0"/>
              </a:spcBef>
              <a:spcAft>
                <a:spcPts val="0"/>
              </a:spcAft>
              <a:buNone/>
            </a:pPr>
            <a:r>
              <a:rPr lang="zh-CN" altLang="en-US" sz="1800" b="0" i="0" u="none" strike="noStrike" kern="1200" cap="none" spc="0" baseline="0" dirty="0">
                <a:solidFill>
                  <a:schemeClr val="tx1"/>
                </a:solidFill>
                <a:latin typeface="仿宋" charset="-122"/>
                <a:ea typeface="仿宋" charset="-122"/>
                <a:cs typeface="仿宋" charset="-122"/>
              </a:rPr>
              <a:t>欲得到泛化性能较好的集成模型，集成中的各个个体应该尽量独立，虽然”独立“在现实条件中无法做到，但可以设法使得基学习器之间有较大的差异。采样。</a:t>
            </a:r>
            <a:endParaRPr lang="en-US" altLang="zh-CN" sz="1800" b="0" i="0" u="none" strike="noStrike" kern="1200" cap="none" spc="0" baseline="0" dirty="0">
              <a:solidFill>
                <a:schemeClr val="tx1"/>
              </a:solidFill>
              <a:latin typeface="仿宋" charset="-122"/>
              <a:ea typeface="仿宋" charset="-122"/>
              <a:cs typeface="仿宋" charset="-122"/>
            </a:endParaRPr>
          </a:p>
          <a:p>
            <a:pPr marL="0" indent="457200" algn="l">
              <a:lnSpc>
                <a:spcPct val="100000"/>
              </a:lnSpc>
              <a:spcBef>
                <a:spcPts val="0"/>
              </a:spcBef>
              <a:spcAft>
                <a:spcPts val="0"/>
              </a:spcAft>
              <a:buNone/>
            </a:pPr>
            <a:r>
              <a:rPr lang="en-US" altLang="zh-CN" sz="1800" b="0" i="0" u="none" strike="noStrike" kern="1200" cap="none" spc="0" baseline="0" dirty="0" err="1">
                <a:solidFill>
                  <a:schemeClr val="tx1"/>
                </a:solidFill>
                <a:latin typeface="仿宋" charset="-122"/>
                <a:ea typeface="仿宋" charset="-122"/>
                <a:cs typeface="仿宋" charset="-122"/>
              </a:rPr>
              <a:t>Bagging（这个名字是由Bootstrap</a:t>
            </a:r>
            <a:r>
              <a:rPr lang="en-US" altLang="zh-CN" sz="1800" b="0" i="0" u="none" strike="noStrike" kern="1200" cap="none" spc="0" baseline="0" dirty="0">
                <a:solidFill>
                  <a:schemeClr val="tx1"/>
                </a:solidFill>
                <a:latin typeface="仿宋" charset="-122"/>
                <a:ea typeface="仿宋" charset="-122"/>
                <a:cs typeface="仿宋" charset="-122"/>
              </a:rPr>
              <a:t> </a:t>
            </a:r>
            <a:r>
              <a:rPr lang="en-US" altLang="zh-CN" sz="1800" b="0" i="0" u="none" strike="noStrike" kern="1200" cap="none" spc="0" baseline="0" dirty="0" err="1">
                <a:solidFill>
                  <a:schemeClr val="tx1"/>
                </a:solidFill>
                <a:latin typeface="仿宋" charset="-122"/>
                <a:ea typeface="仿宋" charset="-122"/>
                <a:cs typeface="仿宋" charset="-122"/>
              </a:rPr>
              <a:t>AGGregatING缩写而来的</a:t>
            </a:r>
            <a:r>
              <a:rPr lang="en-US" altLang="zh-CN" sz="1800" b="0" i="0" u="none" strike="noStrike" kern="1200" cap="none" spc="0" baseline="0" dirty="0">
                <a:solidFill>
                  <a:schemeClr val="tx1"/>
                </a:solidFill>
                <a:latin typeface="仿宋" charset="-122"/>
                <a:ea typeface="仿宋" charset="-122"/>
                <a:cs typeface="仿宋" charset="-122"/>
              </a:rPr>
              <a:t>）。</a:t>
            </a:r>
            <a:r>
              <a:rPr lang="en-US" altLang="zh-CN" sz="1800" b="0" i="0" u="none" strike="noStrike" kern="1200" cap="none" spc="0" baseline="0" dirty="0" err="1">
                <a:solidFill>
                  <a:schemeClr val="tx1"/>
                </a:solidFill>
                <a:latin typeface="仿宋" charset="-122"/>
                <a:ea typeface="仿宋" charset="-122"/>
                <a:cs typeface="仿宋" charset="-122"/>
              </a:rPr>
              <a:t>其具体做法很简单：给定包含m个样本的训练集，我们先随机取出一个样本放入采样集中，再把该样本放回（使得下次采样仍然可以被选中</a:t>
            </a:r>
            <a:r>
              <a:rPr lang="en-US" altLang="zh-CN" sz="1800" b="0" i="0" u="none" strike="noStrike" kern="1200" cap="none" spc="0" baseline="0" dirty="0">
                <a:solidFill>
                  <a:schemeClr val="tx1"/>
                </a:solidFill>
                <a:latin typeface="仿宋" charset="-122"/>
                <a:ea typeface="仿宋" charset="-122"/>
                <a:cs typeface="仿宋" charset="-122"/>
              </a:rPr>
              <a:t>），这样经过m此采样，我们可以得到含m个样本的采样集。照这样，我们可以采样出T个含m个训练样本的采样集，然后基于每个采样集训练出一个基学习器。</a:t>
            </a:r>
          </a:p>
          <a:p>
            <a:pPr marL="0" indent="457200" algn="l">
              <a:lnSpc>
                <a:spcPct val="100000"/>
              </a:lnSpc>
              <a:spcBef>
                <a:spcPts val="0"/>
              </a:spcBef>
              <a:spcAft>
                <a:spcPts val="0"/>
              </a:spcAft>
              <a:buNone/>
            </a:pPr>
            <a:endParaRPr lang="en-US" altLang="zh-CN" sz="1800" b="0" i="0" u="none" strike="noStrike" kern="1200" cap="none" spc="0" baseline="0" dirty="0">
              <a:solidFill>
                <a:schemeClr val="tx1"/>
              </a:solidFill>
              <a:latin typeface="仿宋" charset="-122"/>
              <a:ea typeface="仿宋" charset="-122"/>
              <a:cs typeface="仿宋" charset="-122"/>
            </a:endParaRPr>
          </a:p>
          <a:p>
            <a:pPr marL="0" indent="457200" algn="l">
              <a:lnSpc>
                <a:spcPct val="100000"/>
              </a:lnSpc>
              <a:spcBef>
                <a:spcPts val="0"/>
              </a:spcBef>
              <a:spcAft>
                <a:spcPts val="0"/>
              </a:spcAft>
              <a:buNone/>
            </a:pPr>
            <a:r>
              <a:rPr lang="zh-CN" altLang="en-US" sz="1800" b="1" i="0" u="none" strike="noStrike" kern="1200" cap="none" spc="0" baseline="0" dirty="0">
                <a:solidFill>
                  <a:srgbClr val="FF0000"/>
                </a:solidFill>
                <a:latin typeface="仿宋" charset="-122"/>
                <a:ea typeface="仿宋" charset="-122"/>
                <a:cs typeface="仿宋" charset="-122"/>
              </a:rPr>
              <a:t>随机森林RF（Bagging族中重要的算法）</a:t>
            </a:r>
            <a:endParaRPr lang="en-US" altLang="zh-CN" sz="1800" b="1" i="0" u="none" strike="noStrike" kern="1200" cap="none" spc="0" baseline="0" dirty="0">
              <a:solidFill>
                <a:srgbClr val="FF0000"/>
              </a:solidFill>
              <a:latin typeface="仿宋" charset="-122"/>
              <a:ea typeface="仿宋" charset="-122"/>
              <a:cs typeface="仿宋" charset="-122"/>
            </a:endParaRPr>
          </a:p>
          <a:p>
            <a:pPr marL="0" indent="457200" algn="l">
              <a:lnSpc>
                <a:spcPct val="100000"/>
              </a:lnSpc>
              <a:spcBef>
                <a:spcPts val="0"/>
              </a:spcBef>
              <a:spcAft>
                <a:spcPts val="0"/>
              </a:spcAft>
              <a:buNone/>
            </a:pPr>
            <a:endParaRPr lang="en-US" altLang="zh-CN" sz="1800" b="0" i="0" u="none" strike="noStrike" kern="1200" cap="none" spc="0" baseline="0" dirty="0">
              <a:solidFill>
                <a:srgbClr val="FF0000"/>
              </a:solidFill>
              <a:latin typeface="仿宋" charset="-122"/>
              <a:ea typeface="仿宋" charset="-122"/>
              <a:cs typeface="仿宋" charset="-122"/>
            </a:endParaRPr>
          </a:p>
          <a:p>
            <a:pPr marL="0" indent="457200" algn="l">
              <a:lnSpc>
                <a:spcPct val="100000"/>
              </a:lnSpc>
              <a:spcBef>
                <a:spcPts val="0"/>
              </a:spcBef>
              <a:spcAft>
                <a:spcPts val="0"/>
              </a:spcAft>
              <a:buNone/>
            </a:pPr>
            <a:r>
              <a:rPr lang="zh-CN" altLang="en-US" sz="1800" b="0" i="0" u="none" strike="noStrike" kern="1200" cap="none" spc="0" baseline="0" dirty="0">
                <a:solidFill>
                  <a:schemeClr val="tx1"/>
                </a:solidFill>
                <a:latin typeface="仿宋" charset="-122"/>
                <a:ea typeface="仿宋" charset="-122"/>
                <a:cs typeface="仿宋" charset="-122"/>
              </a:rPr>
              <a:t>什么Bagging要与DT相结合？</a:t>
            </a:r>
            <a:endParaRPr lang="en-US" altLang="zh-CN" sz="1800" b="0" i="0" u="none" strike="noStrike" kern="1200" cap="none" spc="0" baseline="0" dirty="0">
              <a:solidFill>
                <a:schemeClr val="tx1"/>
              </a:solidFill>
              <a:latin typeface="仿宋" charset="-122"/>
              <a:ea typeface="仿宋" charset="-122"/>
              <a:cs typeface="仿宋" charset="-122"/>
            </a:endParaRPr>
          </a:p>
          <a:p>
            <a:pPr marL="0" indent="457200" algn="l">
              <a:lnSpc>
                <a:spcPct val="100000"/>
              </a:lnSpc>
              <a:spcBef>
                <a:spcPts val="0"/>
              </a:spcBef>
              <a:spcAft>
                <a:spcPts val="0"/>
              </a:spcAft>
              <a:buNone/>
            </a:pPr>
            <a:r>
              <a:rPr lang="zh-CN" altLang="en-US" sz="1800" b="0" i="0" u="none" strike="noStrike" kern="1200" cap="none" spc="0" baseline="0" dirty="0">
                <a:solidFill>
                  <a:schemeClr val="tx1"/>
                </a:solidFill>
                <a:latin typeface="仿宋" charset="-122"/>
                <a:ea typeface="仿宋" charset="-122"/>
                <a:cs typeface="仿宋" charset="-122"/>
              </a:rPr>
              <a:t>不仅仅如此，随机森林还多做了一点工作，选特征。</a:t>
            </a:r>
            <a:endParaRPr lang="en-US" altLang="zh-CN" sz="1800" b="0" i="0" u="none" strike="noStrike" kern="1200" cap="none" spc="0" baseline="0" dirty="0">
              <a:solidFill>
                <a:schemeClr val="tx1"/>
              </a:solidFill>
              <a:latin typeface="仿宋" charset="-122"/>
              <a:ea typeface="仿宋" charset="-122"/>
              <a:cs typeface="仿宋" charset="-122"/>
            </a:endParaRPr>
          </a:p>
          <a:p>
            <a:pPr marL="0" indent="457200" algn="l">
              <a:lnSpc>
                <a:spcPct val="100000"/>
              </a:lnSpc>
              <a:spcBef>
                <a:spcPts val="0"/>
              </a:spcBef>
              <a:spcAft>
                <a:spcPts val="0"/>
              </a:spcAft>
              <a:buNone/>
            </a:pPr>
            <a:endParaRPr lang="zh-CN" altLang="en-US" sz="1800" b="0" i="0" u="none" strike="noStrike" kern="1200" cap="none" spc="0" baseline="0" dirty="0">
              <a:solidFill>
                <a:schemeClr val="tx1"/>
              </a:solidFill>
              <a:latin typeface="仿宋" charset="-122"/>
              <a:ea typeface="仿宋" charset="-122"/>
              <a:cs typeface="仿宋" charset="-122"/>
            </a:endParaRPr>
          </a:p>
        </p:txBody>
      </p:sp>
      <p:sp>
        <p:nvSpPr>
          <p:cNvPr id="2" name="文本框 1">
            <a:extLst>
              <a:ext uri="{FF2B5EF4-FFF2-40B4-BE49-F238E27FC236}">
                <a16:creationId xmlns:a16="http://schemas.microsoft.com/office/drawing/2014/main" id="{9E1A75F4-B6DC-2DD3-FF0F-C8433C602E80}"/>
              </a:ext>
            </a:extLst>
          </p:cNvPr>
          <p:cNvSpPr txBox="1"/>
          <p:nvPr/>
        </p:nvSpPr>
        <p:spPr>
          <a:xfrm>
            <a:off x="983673" y="5433168"/>
            <a:ext cx="5112327" cy="369332"/>
          </a:xfrm>
          <a:prstGeom prst="rect">
            <a:avLst/>
          </a:prstGeom>
          <a:noFill/>
        </p:spPr>
        <p:txBody>
          <a:bodyPr wrap="square" rtlCol="0">
            <a:spAutoFit/>
          </a:bodyPr>
          <a:lstStyle/>
          <a:p>
            <a:r>
              <a:rPr lang="en-US" altLang="zh-CN" b="1" dirty="0">
                <a:solidFill>
                  <a:srgbClr val="FF0000"/>
                </a:solidFill>
              </a:rPr>
              <a:t>Bagging</a:t>
            </a:r>
            <a:r>
              <a:rPr lang="zh-CN" altLang="en-US" b="1" dirty="0">
                <a:solidFill>
                  <a:srgbClr val="FF0000"/>
                </a:solidFill>
              </a:rPr>
              <a:t>相对简单，考察频繁</a:t>
            </a:r>
          </a:p>
        </p:txBody>
      </p:sp>
    </p:spTree>
    <p:extLst>
      <p:ext uri="{BB962C8B-B14F-4D97-AF65-F5344CB8AC3E}">
        <p14:creationId xmlns:p14="http://schemas.microsoft.com/office/powerpoint/2010/main" val="208233240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 name="矩形"/>
          <p:cNvSpPr>
            <a:spLocks/>
          </p:cNvSpPr>
          <p:nvPr/>
        </p:nvSpPr>
        <p:spPr>
          <a:xfrm>
            <a:off x="1273810" y="1120775"/>
            <a:ext cx="4063999" cy="368299"/>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zh-CN" altLang="en-US" sz="1800" b="0" i="0" u="none" strike="noStrike" kern="1200" cap="none" spc="0" baseline="0">
                <a:solidFill>
                  <a:schemeClr val="tx1"/>
                </a:solidFill>
                <a:latin typeface="Arial" charset="0"/>
                <a:ea typeface="微软雅黑" charset="0"/>
                <a:cs typeface="Arial" charset="0"/>
              </a:rPr>
              <a:t>回到如何结合的问题。</a:t>
            </a:r>
          </a:p>
        </p:txBody>
      </p:sp>
      <p:pic>
        <p:nvPicPr>
          <p:cNvPr id="100" name="图片"/>
          <p:cNvPicPr>
            <a:picLocks noChangeAspect="1"/>
          </p:cNvPicPr>
          <p:nvPr/>
        </p:nvPicPr>
        <p:blipFill>
          <a:blip r:embed="rId2" cstate="print"/>
          <a:stretch>
            <a:fillRect/>
          </a:stretch>
        </p:blipFill>
        <p:spPr>
          <a:xfrm>
            <a:off x="1185545" y="1833245"/>
            <a:ext cx="9039225" cy="4352925"/>
          </a:xfrm>
          <a:prstGeom prst="rect">
            <a:avLst/>
          </a:prstGeom>
          <a:noFill/>
          <a:ln w="12700" cap="flat" cmpd="sng">
            <a:noFill/>
            <a:prstDash val="solid"/>
            <a:miter/>
          </a:ln>
        </p:spPr>
      </p:pic>
      <p:sp>
        <p:nvSpPr>
          <p:cNvPr id="101" name="矩形"/>
          <p:cNvSpPr>
            <a:spLocks/>
          </p:cNvSpPr>
          <p:nvPr/>
        </p:nvSpPr>
        <p:spPr>
          <a:xfrm>
            <a:off x="4306570" y="5674360"/>
            <a:ext cx="4063999" cy="368299"/>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zh-CN" altLang="en-US" sz="1800" b="1" i="0" u="none" strike="noStrike" kern="1200" cap="none" spc="0" baseline="0" dirty="0">
                <a:solidFill>
                  <a:srgbClr val="FF0000"/>
                </a:solidFill>
                <a:latin typeface="Arial" charset="0"/>
                <a:ea typeface="微软雅黑" charset="0"/>
                <a:cs typeface="Arial" charset="0"/>
              </a:rPr>
              <a:t>看一眼就行</a:t>
            </a:r>
          </a:p>
        </p:txBody>
      </p:sp>
    </p:spTree>
    <p:extLst>
      <p:ext uri="{BB962C8B-B14F-4D97-AF65-F5344CB8AC3E}">
        <p14:creationId xmlns:p14="http://schemas.microsoft.com/office/powerpoint/2010/main" val="164430278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 name="矩形"/>
          <p:cNvSpPr>
            <a:spLocks/>
          </p:cNvSpPr>
          <p:nvPr/>
        </p:nvSpPr>
        <p:spPr>
          <a:xfrm>
            <a:off x="4053205" y="2987040"/>
            <a:ext cx="6096000" cy="706755"/>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zh-CN" altLang="en-US" sz="4000" b="1" i="0" u="none" strike="noStrike" kern="1200" cap="none" spc="0" baseline="0">
                <a:solidFill>
                  <a:schemeClr val="tx1"/>
                </a:solidFill>
                <a:latin typeface="方正粗黑宋简体" pitchFamily="2" charset="-122"/>
                <a:ea typeface="方正粗黑宋简体" pitchFamily="2" charset="-122"/>
                <a:cs typeface="Arial" charset="0"/>
                <a:sym typeface="微软雅黑" charset="0"/>
              </a:rPr>
              <a:t>第</a:t>
            </a:r>
            <a:r>
              <a:rPr lang="en-US" altLang="zh-CN" sz="4000" b="1" i="0" u="none" strike="noStrike" kern="1200" cap="none" spc="0" baseline="0">
                <a:solidFill>
                  <a:schemeClr val="tx1"/>
                </a:solidFill>
                <a:latin typeface="方正粗黑宋简体" pitchFamily="2" charset="-122"/>
                <a:ea typeface="方正粗黑宋简体" pitchFamily="2" charset="-122"/>
                <a:cs typeface="Arial" charset="0"/>
                <a:sym typeface="微软雅黑" charset="0"/>
              </a:rPr>
              <a:t>9</a:t>
            </a:r>
            <a:r>
              <a:rPr lang="zh-CN" altLang="en-US" sz="4000" b="1" i="0" u="none" strike="noStrike" kern="1200" cap="none" spc="0" baseline="0">
                <a:solidFill>
                  <a:schemeClr val="tx1"/>
                </a:solidFill>
                <a:latin typeface="方正粗黑宋简体" pitchFamily="2" charset="-122"/>
                <a:ea typeface="方正粗黑宋简体" pitchFamily="2" charset="-122"/>
                <a:cs typeface="Arial" charset="0"/>
                <a:sym typeface="微软雅黑" charset="0"/>
              </a:rPr>
              <a:t>章  聚类</a:t>
            </a:r>
          </a:p>
        </p:txBody>
      </p:sp>
    </p:spTree>
    <p:extLst>
      <p:ext uri="{BB962C8B-B14F-4D97-AF65-F5344CB8AC3E}">
        <p14:creationId xmlns:p14="http://schemas.microsoft.com/office/powerpoint/2010/main" val="34597121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 name="矩形"/>
          <p:cNvSpPr>
            <a:spLocks/>
          </p:cNvSpPr>
          <p:nvPr/>
        </p:nvSpPr>
        <p:spPr>
          <a:xfrm>
            <a:off x="1268730" y="744854"/>
            <a:ext cx="9995015" cy="4801314"/>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l">
              <a:lnSpc>
                <a:spcPct val="150000"/>
              </a:lnSpc>
              <a:spcBef>
                <a:spcPts val="0"/>
              </a:spcBef>
              <a:spcAft>
                <a:spcPts val="0"/>
              </a:spcAft>
              <a:buNone/>
            </a:pPr>
            <a:r>
              <a:rPr lang="en-US" altLang="zh-CN" sz="1800" b="0" i="0" u="none" strike="noStrike" kern="1200" cap="none" spc="0" baseline="0" dirty="0">
                <a:solidFill>
                  <a:schemeClr val="tx1"/>
                </a:solidFill>
                <a:latin typeface="Arial" charset="0"/>
                <a:ea typeface="微软雅黑" charset="0"/>
                <a:cs typeface="Arial" charset="0"/>
              </a:rPr>
              <a:t>1. </a:t>
            </a:r>
            <a:r>
              <a:rPr lang="zh-CN" altLang="en-US" sz="1800" b="0" i="0" u="none" strike="noStrike" kern="1200" cap="none" spc="0" baseline="0" dirty="0">
                <a:solidFill>
                  <a:schemeClr val="tx1"/>
                </a:solidFill>
                <a:latin typeface="Arial" charset="0"/>
                <a:ea typeface="微软雅黑" charset="0"/>
                <a:cs typeface="Arial" charset="0"/>
              </a:rPr>
              <a:t>监督学习和无监督学习</a:t>
            </a:r>
            <a:endParaRPr lang="en-US" altLang="zh-CN" sz="1800" b="0" i="0" u="none" strike="noStrike" kern="1200" cap="none" spc="0" baseline="0" dirty="0">
              <a:solidFill>
                <a:schemeClr val="tx1"/>
              </a:solidFill>
              <a:latin typeface="Arial" charset="0"/>
              <a:ea typeface="微软雅黑" charset="0"/>
              <a:cs typeface="Arial" charset="0"/>
            </a:endParaRPr>
          </a:p>
          <a:p>
            <a:pPr marL="0" indent="0" algn="l">
              <a:lnSpc>
                <a:spcPct val="150000"/>
              </a:lnSpc>
              <a:spcBef>
                <a:spcPts val="0"/>
              </a:spcBef>
              <a:spcAft>
                <a:spcPts val="0"/>
              </a:spcAft>
              <a:buNone/>
            </a:pPr>
            <a:r>
              <a:rPr lang="en-US" altLang="zh-CN" sz="1800" b="0" i="0" u="none" strike="noStrike" kern="1200" cap="none" spc="0" baseline="0" dirty="0">
                <a:solidFill>
                  <a:schemeClr val="tx1"/>
                </a:solidFill>
                <a:latin typeface="Arial" charset="0"/>
                <a:ea typeface="微软雅黑" charset="0"/>
                <a:cs typeface="Arial" charset="0"/>
              </a:rPr>
              <a:t>2. </a:t>
            </a:r>
            <a:r>
              <a:rPr lang="zh-CN" altLang="en-US" sz="1800" b="0" i="0" u="none" strike="noStrike" kern="1200" cap="none" spc="0" baseline="0" dirty="0">
                <a:solidFill>
                  <a:schemeClr val="tx1"/>
                </a:solidFill>
                <a:latin typeface="Arial" charset="0"/>
                <a:ea typeface="微软雅黑" charset="0"/>
                <a:cs typeface="Arial" charset="0"/>
              </a:rPr>
              <a:t>性能度量</a:t>
            </a:r>
            <a:r>
              <a:rPr lang="en-US" altLang="zh-CN" sz="1800" b="0" i="0" u="none" strike="noStrike" kern="1200" cap="none" spc="0" baseline="0" dirty="0">
                <a:solidFill>
                  <a:schemeClr val="tx1"/>
                </a:solidFill>
                <a:latin typeface="Arial" charset="0"/>
                <a:ea typeface="微软雅黑" charset="0"/>
                <a:cs typeface="Arial" charset="0"/>
              </a:rPr>
              <a:t> </a:t>
            </a:r>
            <a:r>
              <a:rPr lang="zh-CN" altLang="en-US" sz="1800" b="0" i="0" u="none" strike="noStrike" kern="1200" cap="none" spc="0" baseline="0" dirty="0">
                <a:solidFill>
                  <a:schemeClr val="tx1"/>
                </a:solidFill>
                <a:latin typeface="Arial" charset="0"/>
                <a:ea typeface="微软雅黑" charset="0"/>
                <a:cs typeface="Arial" charset="0"/>
              </a:rPr>
              <a:t>（簇内相似度高，簇间相似度低）、指标</a:t>
            </a:r>
            <a:endParaRPr lang="en-US" altLang="zh-CN" sz="1800" b="0" i="0" u="none" strike="noStrike" kern="1200" cap="none" spc="0" baseline="0" dirty="0">
              <a:solidFill>
                <a:schemeClr val="tx1"/>
              </a:solidFill>
              <a:latin typeface="Arial" charset="0"/>
              <a:ea typeface="微软雅黑" charset="0"/>
              <a:cs typeface="Arial" charset="0"/>
            </a:endParaRPr>
          </a:p>
          <a:p>
            <a:pPr marL="0" indent="0" algn="l">
              <a:lnSpc>
                <a:spcPct val="150000"/>
              </a:lnSpc>
              <a:spcBef>
                <a:spcPts val="0"/>
              </a:spcBef>
              <a:spcAft>
                <a:spcPts val="0"/>
              </a:spcAft>
              <a:buNone/>
            </a:pPr>
            <a:r>
              <a:rPr lang="en-US" altLang="zh-CN" sz="1800" b="0" i="0" u="none" strike="noStrike" kern="1200" cap="none" spc="0" baseline="0" dirty="0">
                <a:solidFill>
                  <a:schemeClr val="tx1"/>
                </a:solidFill>
                <a:latin typeface="Arial" charset="0"/>
                <a:ea typeface="微软雅黑" charset="0"/>
                <a:cs typeface="Arial" charset="0"/>
              </a:rPr>
              <a:t>3. </a:t>
            </a:r>
            <a:r>
              <a:rPr lang="en-US" altLang="zh-CN" sz="1800" b="0" i="0" u="none" strike="noStrike" kern="1200" cap="none" spc="0" baseline="0" dirty="0" err="1">
                <a:solidFill>
                  <a:schemeClr val="tx1"/>
                </a:solidFill>
                <a:latin typeface="Arial" charset="0"/>
                <a:ea typeface="微软雅黑" charset="0"/>
                <a:cs typeface="Arial" charset="0"/>
              </a:rPr>
              <a:t>距离计算</a:t>
            </a:r>
            <a:endParaRPr lang="en-US" altLang="zh-CN" sz="1800" b="0" i="0" u="none" strike="noStrike" kern="1200" cap="none" spc="0" baseline="0" dirty="0">
              <a:solidFill>
                <a:schemeClr val="tx1"/>
              </a:solidFill>
              <a:latin typeface="Arial" charset="0"/>
              <a:ea typeface="微软雅黑" charset="0"/>
              <a:cs typeface="Arial" charset="0"/>
            </a:endParaRPr>
          </a:p>
          <a:p>
            <a:pPr marL="742950" lvl="1" indent="-285750" algn="l">
              <a:lnSpc>
                <a:spcPct val="150000"/>
              </a:lnSpc>
              <a:spcBef>
                <a:spcPts val="0"/>
              </a:spcBef>
              <a:spcAft>
                <a:spcPts val="0"/>
              </a:spcAft>
              <a:buFont typeface="Arial" charset="0"/>
              <a:buChar char="•"/>
            </a:pPr>
            <a:r>
              <a:rPr lang="zh-CN" altLang="en-US" sz="1800" b="0" i="0" u="none" strike="noStrike" kern="1200" cap="none" spc="0" baseline="0" dirty="0">
                <a:solidFill>
                  <a:schemeClr val="tx1"/>
                </a:solidFill>
                <a:latin typeface="Arial" charset="0"/>
                <a:ea typeface="微软雅黑" charset="0"/>
                <a:cs typeface="Arial" charset="0"/>
              </a:rPr>
              <a:t>有序属性：曼哈顿举例、欧氏、明可夫斯基</a:t>
            </a:r>
            <a:endParaRPr lang="en-US" altLang="zh-CN" sz="1800" b="0" i="0" u="none" strike="noStrike" kern="1200" cap="none" spc="0" baseline="0" dirty="0">
              <a:solidFill>
                <a:schemeClr val="tx1"/>
              </a:solidFill>
              <a:latin typeface="Arial" charset="0"/>
              <a:ea typeface="微软雅黑" charset="0"/>
              <a:cs typeface="Arial" charset="0"/>
            </a:endParaRPr>
          </a:p>
          <a:p>
            <a:pPr marL="742950" lvl="1" indent="-285750" algn="l">
              <a:lnSpc>
                <a:spcPct val="150000"/>
              </a:lnSpc>
              <a:spcBef>
                <a:spcPts val="0"/>
              </a:spcBef>
              <a:spcAft>
                <a:spcPts val="0"/>
              </a:spcAft>
              <a:buFont typeface="Arial" charset="0"/>
              <a:buChar char="•"/>
            </a:pPr>
            <a:r>
              <a:rPr lang="zh-CN" altLang="en-US" sz="1800" b="0" i="0" u="none" strike="noStrike" kern="1200" cap="none" spc="0" baseline="0" dirty="0">
                <a:solidFill>
                  <a:schemeClr val="tx1"/>
                </a:solidFill>
                <a:latin typeface="Arial" charset="0"/>
                <a:ea typeface="微软雅黑" charset="0"/>
                <a:cs typeface="Arial" charset="0"/>
              </a:rPr>
              <a:t>无序属性</a:t>
            </a:r>
            <a:endParaRPr lang="en-US" altLang="zh-CN" sz="1800" b="0" i="0" u="none" strike="noStrike" kern="1200" cap="none" spc="0" baseline="0" dirty="0">
              <a:solidFill>
                <a:schemeClr val="tx1"/>
              </a:solidFill>
              <a:latin typeface="Arial" charset="0"/>
              <a:ea typeface="微软雅黑" charset="0"/>
              <a:cs typeface="Arial" charset="0"/>
            </a:endParaRPr>
          </a:p>
          <a:p>
            <a:pPr marL="0" indent="0" algn="l">
              <a:lnSpc>
                <a:spcPct val="150000"/>
              </a:lnSpc>
              <a:spcBef>
                <a:spcPts val="0"/>
              </a:spcBef>
              <a:spcAft>
                <a:spcPts val="0"/>
              </a:spcAft>
              <a:buNone/>
            </a:pPr>
            <a:r>
              <a:rPr lang="en-US" altLang="zh-CN" sz="1800" b="0" i="0" u="none" strike="noStrike" kern="1200" cap="none" spc="0" baseline="0" dirty="0">
                <a:solidFill>
                  <a:schemeClr val="tx1"/>
                </a:solidFill>
                <a:latin typeface="Arial" charset="0"/>
                <a:ea typeface="微软雅黑" charset="0"/>
                <a:cs typeface="Arial" charset="0"/>
              </a:rPr>
              <a:t>4.K均值(</a:t>
            </a:r>
            <a:r>
              <a:rPr lang="en-US" altLang="zh-CN" dirty="0" err="1">
                <a:latin typeface="Arial" charset="0"/>
                <a:ea typeface="微软雅黑" charset="0"/>
                <a:cs typeface="Arial" charset="0"/>
              </a:rPr>
              <a:t>Kmeans</a:t>
            </a:r>
            <a:r>
              <a:rPr lang="en-US" altLang="zh-CN" dirty="0">
                <a:latin typeface="Arial" charset="0"/>
                <a:ea typeface="微软雅黑" charset="0"/>
                <a:cs typeface="Arial" charset="0"/>
              </a:rPr>
              <a:t>)    </a:t>
            </a:r>
            <a:r>
              <a:rPr lang="en-US" altLang="zh-CN" sz="1800" b="0" i="0" u="none" strike="noStrike" kern="1200" cap="none" spc="0" baseline="0" dirty="0" err="1">
                <a:solidFill>
                  <a:schemeClr val="tx1"/>
                </a:solidFill>
                <a:latin typeface="Arial" charset="0"/>
                <a:ea typeface="微软雅黑" charset="0"/>
                <a:cs typeface="Arial" charset="0"/>
              </a:rPr>
              <a:t>注意不是K近邻，K近邻是分类</a:t>
            </a:r>
            <a:endParaRPr lang="en-US" altLang="zh-CN" sz="1800" b="0" i="0" u="none" strike="noStrike" kern="1200" cap="none" spc="0" baseline="0" dirty="0">
              <a:solidFill>
                <a:schemeClr val="tx1"/>
              </a:solidFill>
              <a:latin typeface="Arial" charset="0"/>
              <a:ea typeface="微软雅黑" charset="0"/>
              <a:cs typeface="Arial" charset="0"/>
            </a:endParaRPr>
          </a:p>
          <a:p>
            <a:pPr marL="0" indent="457200" algn="l">
              <a:lnSpc>
                <a:spcPct val="150000"/>
              </a:lnSpc>
              <a:spcBef>
                <a:spcPts val="0"/>
              </a:spcBef>
              <a:spcAft>
                <a:spcPts val="0"/>
              </a:spcAft>
              <a:buNone/>
            </a:pPr>
            <a:r>
              <a:rPr lang="zh-CN" altLang="en-US" sz="1800" b="0" i="0" u="none" strike="noStrike" kern="1200" cap="none" spc="0" baseline="0" dirty="0">
                <a:solidFill>
                  <a:schemeClr val="tx1"/>
                </a:solidFill>
                <a:latin typeface="Arial" charset="0"/>
                <a:ea typeface="微软雅黑" charset="0"/>
                <a:cs typeface="Arial" charset="0"/>
              </a:rPr>
              <a:t>步骤：</a:t>
            </a:r>
            <a:endParaRPr lang="en-US" altLang="zh-CN" sz="1800" b="0" i="0" u="none" strike="noStrike" kern="1200" cap="none" spc="0" baseline="0" dirty="0">
              <a:solidFill>
                <a:schemeClr val="tx1"/>
              </a:solidFill>
              <a:latin typeface="Arial" charset="0"/>
              <a:ea typeface="微软雅黑" charset="0"/>
              <a:cs typeface="Arial" charset="0"/>
            </a:endParaRPr>
          </a:p>
          <a:p>
            <a:pPr marL="0" indent="457200" algn="l">
              <a:lnSpc>
                <a:spcPct val="150000"/>
              </a:lnSpc>
              <a:spcBef>
                <a:spcPts val="0"/>
              </a:spcBef>
              <a:spcAft>
                <a:spcPts val="0"/>
              </a:spcAft>
              <a:buNone/>
            </a:pPr>
            <a:r>
              <a:rPr lang="en-US" altLang="zh-CN" sz="1800" b="0" i="0" u="none" strike="noStrike" kern="1200" cap="none" spc="0" baseline="0" dirty="0">
                <a:solidFill>
                  <a:schemeClr val="tx1"/>
                </a:solidFill>
                <a:latin typeface="Arial" charset="0"/>
                <a:ea typeface="微软雅黑" charset="0"/>
                <a:cs typeface="Arial" charset="0"/>
              </a:rPr>
              <a:t>1. </a:t>
            </a:r>
            <a:r>
              <a:rPr lang="en-US" altLang="zh-CN" sz="1800" b="0" i="0" u="none" strike="noStrike" kern="1200" cap="none" spc="0" baseline="0" dirty="0" err="1">
                <a:solidFill>
                  <a:schemeClr val="tx1"/>
                </a:solidFill>
                <a:latin typeface="Arial" charset="0"/>
                <a:ea typeface="微软雅黑" charset="0"/>
                <a:cs typeface="Arial" charset="0"/>
              </a:rPr>
              <a:t>随机选取样本作为初始均值向量（初始值：k</a:t>
            </a:r>
            <a:r>
              <a:rPr lang="en-US" altLang="zh-CN" sz="1800" b="0" i="0" u="none" strike="noStrike" kern="1200" cap="none" spc="0" baseline="0" dirty="0">
                <a:solidFill>
                  <a:schemeClr val="tx1"/>
                </a:solidFill>
                <a:latin typeface="Arial" charset="0"/>
                <a:ea typeface="微软雅黑" charset="0"/>
                <a:cs typeface="Arial" charset="0"/>
              </a:rPr>
              <a:t> </a:t>
            </a:r>
            <a:r>
              <a:rPr lang="en-US" altLang="zh-CN" sz="1800" b="0" i="0" u="none" strike="noStrike" kern="1200" cap="none" spc="0" baseline="0" dirty="0" err="1">
                <a:solidFill>
                  <a:schemeClr val="tx1"/>
                </a:solidFill>
                <a:latin typeface="Arial" charset="0"/>
                <a:ea typeface="微软雅黑" charset="0"/>
                <a:cs typeface="Arial" charset="0"/>
              </a:rPr>
              <a:t>的值【即几个簇</a:t>
            </a:r>
            <a:r>
              <a:rPr lang="en-US" altLang="zh-CN" sz="1800" b="0" i="0" u="none" strike="noStrike" kern="1200" cap="none" spc="0" baseline="0" dirty="0">
                <a:solidFill>
                  <a:schemeClr val="tx1"/>
                </a:solidFill>
                <a:latin typeface="Arial" charset="0"/>
                <a:ea typeface="微软雅黑" charset="0"/>
                <a:cs typeface="Arial" charset="0"/>
              </a:rPr>
              <a:t>】）</a:t>
            </a:r>
          </a:p>
          <a:p>
            <a:pPr marL="0" indent="457200" algn="l">
              <a:lnSpc>
                <a:spcPct val="150000"/>
              </a:lnSpc>
              <a:spcBef>
                <a:spcPts val="0"/>
              </a:spcBef>
              <a:spcAft>
                <a:spcPts val="0"/>
              </a:spcAft>
              <a:buNone/>
            </a:pPr>
            <a:r>
              <a:rPr lang="en-US" altLang="zh-CN" sz="1800" b="0" i="0" u="none" strike="noStrike" kern="1200" cap="none" spc="0" baseline="0" dirty="0">
                <a:solidFill>
                  <a:schemeClr val="tx1"/>
                </a:solidFill>
                <a:latin typeface="Arial" charset="0"/>
                <a:ea typeface="微软雅黑" charset="0"/>
                <a:cs typeface="Arial" charset="0"/>
              </a:rPr>
              <a:t>2. </a:t>
            </a:r>
            <a:r>
              <a:rPr lang="en-US" altLang="zh-CN" sz="1800" b="0" i="0" u="none" strike="noStrike" kern="1200" cap="none" spc="0" baseline="0" dirty="0" err="1">
                <a:solidFill>
                  <a:schemeClr val="tx1"/>
                </a:solidFill>
                <a:latin typeface="Arial" charset="0"/>
                <a:ea typeface="微软雅黑" charset="0"/>
                <a:cs typeface="Arial" charset="0"/>
              </a:rPr>
              <a:t>分别计算每个样本点到均值向量的距离，距离哪个近就属于哪个聚类</a:t>
            </a:r>
            <a:endParaRPr lang="en-US" altLang="zh-CN" sz="1800" b="0" i="0" u="none" strike="noStrike" kern="1200" cap="none" spc="0" baseline="0" dirty="0">
              <a:solidFill>
                <a:schemeClr val="tx1"/>
              </a:solidFill>
              <a:latin typeface="Arial" charset="0"/>
              <a:ea typeface="微软雅黑" charset="0"/>
              <a:cs typeface="Arial" charset="0"/>
            </a:endParaRPr>
          </a:p>
          <a:p>
            <a:pPr marL="0" indent="457200" algn="l">
              <a:lnSpc>
                <a:spcPct val="150000"/>
              </a:lnSpc>
              <a:spcBef>
                <a:spcPts val="0"/>
              </a:spcBef>
              <a:spcAft>
                <a:spcPts val="0"/>
              </a:spcAft>
              <a:buNone/>
            </a:pPr>
            <a:r>
              <a:rPr lang="en-US" altLang="zh-CN" sz="1800" b="0" i="0" u="none" strike="noStrike" kern="1200" cap="none" spc="0" baseline="0" dirty="0">
                <a:solidFill>
                  <a:schemeClr val="tx1"/>
                </a:solidFill>
                <a:latin typeface="Arial" charset="0"/>
                <a:ea typeface="微软雅黑" charset="0"/>
                <a:cs typeface="Arial" charset="0"/>
              </a:rPr>
              <a:t>3. 通过2计算出来的划分，重新计算均值向量（中心点，直接平均出来）</a:t>
            </a:r>
          </a:p>
          <a:p>
            <a:pPr marL="0" indent="457200" algn="l">
              <a:lnSpc>
                <a:spcPct val="100000"/>
              </a:lnSpc>
              <a:spcBef>
                <a:spcPts val="0"/>
              </a:spcBef>
              <a:spcAft>
                <a:spcPts val="0"/>
              </a:spcAft>
              <a:buNone/>
            </a:pPr>
            <a:endParaRPr lang="en-US" altLang="zh-CN" sz="1800" b="0" i="0" u="none" strike="noStrike" kern="1200" cap="none" spc="0" baseline="0" dirty="0">
              <a:solidFill>
                <a:schemeClr val="tx1"/>
              </a:solidFill>
              <a:latin typeface="Arial" charset="0"/>
              <a:ea typeface="微软雅黑" charset="0"/>
              <a:cs typeface="Arial" charset="0"/>
            </a:endParaRPr>
          </a:p>
          <a:p>
            <a:pPr marL="0" indent="457200" algn="l">
              <a:lnSpc>
                <a:spcPct val="100000"/>
              </a:lnSpc>
              <a:spcBef>
                <a:spcPts val="0"/>
              </a:spcBef>
              <a:spcAft>
                <a:spcPts val="0"/>
              </a:spcAft>
              <a:buNone/>
            </a:pPr>
            <a:r>
              <a:rPr lang="zh-CN" altLang="en-US" sz="1800" b="1" i="0" u="none" strike="noStrike" kern="1200" cap="none" spc="0" baseline="0" dirty="0">
                <a:solidFill>
                  <a:srgbClr val="FF0000"/>
                </a:solidFill>
                <a:latin typeface="Arial" charset="0"/>
                <a:ea typeface="微软雅黑" charset="0"/>
                <a:cs typeface="Arial" charset="0"/>
              </a:rPr>
              <a:t>聚类算法因为简单，所以非常容易考</a:t>
            </a:r>
          </a:p>
        </p:txBody>
      </p:sp>
    </p:spTree>
    <p:extLst>
      <p:ext uri="{BB962C8B-B14F-4D97-AF65-F5344CB8AC3E}">
        <p14:creationId xmlns:p14="http://schemas.microsoft.com/office/powerpoint/2010/main" val="48657046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EB40D7-353F-F019-3542-DA10C92F9106}"/>
            </a:ext>
          </a:extLst>
        </p:cNvPr>
        <p:cNvGrpSpPr/>
        <p:nvPr/>
      </p:nvGrpSpPr>
      <p:grpSpPr>
        <a:xfrm>
          <a:off x="0" y="0"/>
          <a:ext cx="0" cy="0"/>
          <a:chOff x="0" y="0"/>
          <a:chExt cx="0" cy="0"/>
        </a:xfrm>
      </p:grpSpPr>
      <p:sp>
        <p:nvSpPr>
          <p:cNvPr id="103" name="矩形">
            <a:extLst>
              <a:ext uri="{FF2B5EF4-FFF2-40B4-BE49-F238E27FC236}">
                <a16:creationId xmlns:a16="http://schemas.microsoft.com/office/drawing/2014/main" id="{ABAE955F-DC4D-76E6-A5C6-910B0667B9D7}"/>
              </a:ext>
            </a:extLst>
          </p:cNvPr>
          <p:cNvSpPr>
            <a:spLocks/>
          </p:cNvSpPr>
          <p:nvPr/>
        </p:nvSpPr>
        <p:spPr>
          <a:xfrm>
            <a:off x="1098492" y="1312890"/>
            <a:ext cx="9995015" cy="5442516"/>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l">
              <a:lnSpc>
                <a:spcPct val="150000"/>
              </a:lnSpc>
              <a:spcBef>
                <a:spcPts val="0"/>
              </a:spcBef>
              <a:spcAft>
                <a:spcPts val="0"/>
              </a:spcAft>
              <a:buNone/>
            </a:pPr>
            <a:r>
              <a:rPr lang="zh-CN" altLang="en-US" sz="1800" b="0" i="0" u="none" strike="noStrike" kern="1200" cap="none" spc="0" baseline="0" dirty="0">
                <a:solidFill>
                  <a:schemeClr val="tx1"/>
                </a:solidFill>
                <a:latin typeface="Arial" charset="0"/>
                <a:ea typeface="微软雅黑" charset="0"/>
                <a:cs typeface="Arial" charset="0"/>
              </a:rPr>
              <a:t>这里我下一个暴论，今年聚类依旧是重点（去年考了</a:t>
            </a:r>
            <a:r>
              <a:rPr lang="en-US" altLang="zh-CN" dirty="0" err="1">
                <a:latin typeface="Arial" charset="0"/>
                <a:ea typeface="微软雅黑" charset="0"/>
                <a:cs typeface="Arial" charset="0"/>
              </a:rPr>
              <a:t>agnes</a:t>
            </a:r>
            <a:r>
              <a:rPr lang="zh-CN" altLang="en-US" dirty="0">
                <a:latin typeface="Arial" charset="0"/>
                <a:ea typeface="微软雅黑" charset="0"/>
                <a:cs typeface="Arial" charset="0"/>
              </a:rPr>
              <a:t>），我依旧对这句话不负责</a:t>
            </a:r>
            <a:endParaRPr lang="en-US" altLang="zh-CN" dirty="0">
              <a:latin typeface="Arial" charset="0"/>
              <a:ea typeface="微软雅黑" charset="0"/>
              <a:cs typeface="Arial" charset="0"/>
            </a:endParaRPr>
          </a:p>
          <a:p>
            <a:pPr marL="0" indent="0" algn="l">
              <a:lnSpc>
                <a:spcPct val="150000"/>
              </a:lnSpc>
              <a:spcBef>
                <a:spcPts val="0"/>
              </a:spcBef>
              <a:spcAft>
                <a:spcPts val="0"/>
              </a:spcAft>
              <a:buNone/>
            </a:pPr>
            <a:r>
              <a:rPr lang="zh-CN" altLang="en-US" dirty="0">
                <a:latin typeface="Arial" charset="0"/>
                <a:ea typeface="微软雅黑" charset="0"/>
                <a:cs typeface="Arial" charset="0"/>
              </a:rPr>
              <a:t>（最后没考别来找我）</a:t>
            </a:r>
            <a:endParaRPr lang="en-US" altLang="zh-CN" dirty="0">
              <a:latin typeface="Arial" charset="0"/>
              <a:ea typeface="微软雅黑" charset="0"/>
              <a:cs typeface="Arial" charset="0"/>
            </a:endParaRPr>
          </a:p>
          <a:p>
            <a:pPr marL="0" indent="0" algn="l">
              <a:lnSpc>
                <a:spcPct val="150000"/>
              </a:lnSpc>
              <a:spcBef>
                <a:spcPts val="0"/>
              </a:spcBef>
              <a:spcAft>
                <a:spcPts val="0"/>
              </a:spcAft>
              <a:buNone/>
            </a:pPr>
            <a:endParaRPr lang="en-US" altLang="zh-CN" sz="1800" b="0" i="0" u="none" strike="noStrike" kern="1200" cap="none" spc="0" baseline="0" dirty="0">
              <a:solidFill>
                <a:schemeClr val="tx1"/>
              </a:solidFill>
              <a:latin typeface="Arial" charset="0"/>
              <a:ea typeface="微软雅黑" charset="0"/>
              <a:cs typeface="Arial" charset="0"/>
            </a:endParaRPr>
          </a:p>
          <a:p>
            <a:pPr marL="0" indent="0" algn="l">
              <a:lnSpc>
                <a:spcPct val="150000"/>
              </a:lnSpc>
              <a:spcBef>
                <a:spcPts val="0"/>
              </a:spcBef>
              <a:spcAft>
                <a:spcPts val="0"/>
              </a:spcAft>
              <a:buNone/>
            </a:pPr>
            <a:r>
              <a:rPr lang="zh-CN" altLang="en-US" dirty="0">
                <a:latin typeface="Arial" charset="0"/>
                <a:ea typeface="微软雅黑" charset="0"/>
                <a:cs typeface="Arial" charset="0"/>
              </a:rPr>
              <a:t>聚类是最容易出计算题的类型了，而且一种聚类算法好不好考察，大家一眼就能看出来</a:t>
            </a:r>
            <a:endParaRPr lang="en-US" altLang="zh-CN" dirty="0">
              <a:latin typeface="Arial" charset="0"/>
              <a:ea typeface="微软雅黑" charset="0"/>
              <a:cs typeface="Arial" charset="0"/>
            </a:endParaRPr>
          </a:p>
          <a:p>
            <a:pPr marL="0" indent="0" algn="l">
              <a:lnSpc>
                <a:spcPct val="150000"/>
              </a:lnSpc>
              <a:spcBef>
                <a:spcPts val="0"/>
              </a:spcBef>
              <a:spcAft>
                <a:spcPts val="0"/>
              </a:spcAft>
              <a:buNone/>
            </a:pPr>
            <a:r>
              <a:rPr lang="zh-CN" altLang="en-US" sz="1800" b="0" i="0" u="none" strike="noStrike" kern="1200" cap="none" spc="0" baseline="0" dirty="0">
                <a:solidFill>
                  <a:schemeClr val="tx1"/>
                </a:solidFill>
                <a:latin typeface="Arial" charset="0"/>
                <a:ea typeface="微软雅黑" charset="0"/>
                <a:cs typeface="Arial" charset="0"/>
              </a:rPr>
              <a:t>对于能够用手算模拟聚类过程的算法一定要自己出题自己做</a:t>
            </a:r>
            <a:endParaRPr lang="en-US" altLang="zh-CN" sz="1800" b="0" i="0" u="none" strike="noStrike" kern="1200" cap="none" spc="0" baseline="0" dirty="0">
              <a:solidFill>
                <a:schemeClr val="tx1"/>
              </a:solidFill>
              <a:latin typeface="Arial" charset="0"/>
              <a:ea typeface="微软雅黑" charset="0"/>
              <a:cs typeface="Arial" charset="0"/>
            </a:endParaRPr>
          </a:p>
          <a:p>
            <a:pPr marL="0" indent="0" algn="l">
              <a:lnSpc>
                <a:spcPct val="150000"/>
              </a:lnSpc>
              <a:spcBef>
                <a:spcPts val="0"/>
              </a:spcBef>
              <a:spcAft>
                <a:spcPts val="0"/>
              </a:spcAft>
              <a:buNone/>
            </a:pPr>
            <a:endParaRPr lang="en-US" altLang="zh-CN" dirty="0">
              <a:latin typeface="Arial" charset="0"/>
              <a:ea typeface="微软雅黑" charset="0"/>
              <a:cs typeface="Arial" charset="0"/>
            </a:endParaRPr>
          </a:p>
          <a:p>
            <a:pPr marL="0" indent="0" algn="l">
              <a:lnSpc>
                <a:spcPct val="150000"/>
              </a:lnSpc>
              <a:spcBef>
                <a:spcPts val="0"/>
              </a:spcBef>
              <a:spcAft>
                <a:spcPts val="0"/>
              </a:spcAft>
              <a:buNone/>
            </a:pPr>
            <a:r>
              <a:rPr lang="zh-CN" altLang="en-US" sz="1800" b="0" i="0" u="none" strike="noStrike" kern="1200" cap="none" spc="0" baseline="0" dirty="0">
                <a:solidFill>
                  <a:schemeClr val="tx1"/>
                </a:solidFill>
                <a:latin typeface="Arial" charset="0"/>
                <a:ea typeface="微软雅黑" charset="0"/>
                <a:cs typeface="Arial" charset="0"/>
              </a:rPr>
              <a:t>聚类真的不难，但是就怕没见过考到了</a:t>
            </a:r>
            <a:endParaRPr lang="en-US" altLang="zh-CN" sz="1800" b="0" i="0" u="none" strike="noStrike" kern="1200" cap="none" spc="0" baseline="0" dirty="0">
              <a:solidFill>
                <a:schemeClr val="tx1"/>
              </a:solidFill>
              <a:latin typeface="Arial" charset="0"/>
              <a:ea typeface="微软雅黑" charset="0"/>
              <a:cs typeface="Arial" charset="0"/>
            </a:endParaRPr>
          </a:p>
          <a:p>
            <a:pPr marL="0" indent="0" algn="l">
              <a:lnSpc>
                <a:spcPct val="150000"/>
              </a:lnSpc>
              <a:spcBef>
                <a:spcPts val="0"/>
              </a:spcBef>
              <a:spcAft>
                <a:spcPts val="0"/>
              </a:spcAft>
              <a:buNone/>
            </a:pPr>
            <a:endParaRPr lang="en-US" altLang="zh-CN" dirty="0">
              <a:latin typeface="Arial" charset="0"/>
              <a:ea typeface="微软雅黑" charset="0"/>
              <a:cs typeface="Arial" charset="0"/>
            </a:endParaRPr>
          </a:p>
          <a:p>
            <a:pPr marL="0" indent="0" algn="l">
              <a:lnSpc>
                <a:spcPct val="150000"/>
              </a:lnSpc>
              <a:spcBef>
                <a:spcPts val="0"/>
              </a:spcBef>
              <a:spcAft>
                <a:spcPts val="0"/>
              </a:spcAft>
              <a:buNone/>
            </a:pPr>
            <a:endParaRPr lang="en-US" altLang="zh-CN" sz="1800" b="0" i="0" u="none" strike="noStrike" kern="1200" cap="none" spc="0" baseline="0" dirty="0">
              <a:solidFill>
                <a:schemeClr val="tx1"/>
              </a:solidFill>
              <a:latin typeface="Arial" charset="0"/>
              <a:ea typeface="微软雅黑" charset="0"/>
              <a:cs typeface="Arial" charset="0"/>
            </a:endParaRPr>
          </a:p>
          <a:p>
            <a:pPr marL="0" indent="0" algn="l">
              <a:lnSpc>
                <a:spcPct val="150000"/>
              </a:lnSpc>
              <a:spcBef>
                <a:spcPts val="0"/>
              </a:spcBef>
              <a:spcAft>
                <a:spcPts val="0"/>
              </a:spcAft>
              <a:buNone/>
            </a:pPr>
            <a:endParaRPr lang="en-US" altLang="zh-CN" dirty="0">
              <a:latin typeface="Arial" charset="0"/>
              <a:ea typeface="微软雅黑" charset="0"/>
              <a:cs typeface="Arial" charset="0"/>
            </a:endParaRPr>
          </a:p>
          <a:p>
            <a:pPr marL="0" indent="0" algn="l">
              <a:lnSpc>
                <a:spcPct val="150000"/>
              </a:lnSpc>
              <a:spcBef>
                <a:spcPts val="0"/>
              </a:spcBef>
              <a:spcAft>
                <a:spcPts val="0"/>
              </a:spcAft>
              <a:buNone/>
            </a:pPr>
            <a:endParaRPr lang="en-US" altLang="zh-CN" sz="1800" b="0" i="0" u="none" strike="noStrike" kern="1200" cap="none" spc="0" baseline="0" dirty="0">
              <a:solidFill>
                <a:schemeClr val="tx1"/>
              </a:solidFill>
              <a:latin typeface="Arial" charset="0"/>
              <a:ea typeface="微软雅黑" charset="0"/>
              <a:cs typeface="Arial" charset="0"/>
            </a:endParaRPr>
          </a:p>
          <a:p>
            <a:pPr marL="0" indent="0" algn="l">
              <a:lnSpc>
                <a:spcPct val="150000"/>
              </a:lnSpc>
              <a:spcBef>
                <a:spcPts val="0"/>
              </a:spcBef>
              <a:spcAft>
                <a:spcPts val="0"/>
              </a:spcAft>
              <a:buNone/>
            </a:pPr>
            <a:endParaRPr lang="en-US" altLang="zh-CN" dirty="0">
              <a:latin typeface="Arial" charset="0"/>
              <a:ea typeface="微软雅黑" charset="0"/>
              <a:cs typeface="Arial" charset="0"/>
            </a:endParaRPr>
          </a:p>
          <a:p>
            <a:pPr marL="0" indent="0" algn="l">
              <a:lnSpc>
                <a:spcPct val="150000"/>
              </a:lnSpc>
              <a:spcBef>
                <a:spcPts val="0"/>
              </a:spcBef>
              <a:spcAft>
                <a:spcPts val="0"/>
              </a:spcAft>
              <a:buNone/>
            </a:pPr>
            <a:endParaRPr lang="zh-CN" altLang="en-US" sz="1800" b="0" i="0" u="none" strike="noStrike" kern="1200" cap="none" spc="0" baseline="0" dirty="0">
              <a:solidFill>
                <a:schemeClr val="tx1"/>
              </a:solidFill>
              <a:latin typeface="Arial" charset="0"/>
              <a:ea typeface="微软雅黑" charset="0"/>
              <a:cs typeface="Arial" charset="0"/>
            </a:endParaRPr>
          </a:p>
        </p:txBody>
      </p:sp>
    </p:spTree>
    <p:extLst>
      <p:ext uri="{BB962C8B-B14F-4D97-AF65-F5344CB8AC3E}">
        <p14:creationId xmlns:p14="http://schemas.microsoft.com/office/powerpoint/2010/main" val="207310607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3FF9A626-6672-4F7C-95C9-4589DBD72594}"/>
              </a:ext>
            </a:extLst>
          </p:cNvPr>
          <p:cNvPicPr>
            <a:picLocks noChangeAspect="1"/>
          </p:cNvPicPr>
          <p:nvPr/>
        </p:nvPicPr>
        <p:blipFill>
          <a:blip r:embed="rId2"/>
          <a:stretch>
            <a:fillRect/>
          </a:stretch>
        </p:blipFill>
        <p:spPr>
          <a:xfrm>
            <a:off x="1287103" y="1669865"/>
            <a:ext cx="7220958" cy="581106"/>
          </a:xfrm>
          <a:prstGeom prst="rect">
            <a:avLst/>
          </a:prstGeom>
        </p:spPr>
      </p:pic>
      <p:pic>
        <p:nvPicPr>
          <p:cNvPr id="7" name="图片 6">
            <a:extLst>
              <a:ext uri="{FF2B5EF4-FFF2-40B4-BE49-F238E27FC236}">
                <a16:creationId xmlns:a16="http://schemas.microsoft.com/office/drawing/2014/main" id="{AA35EA62-E202-F520-D1F0-F009CDC84012}"/>
              </a:ext>
            </a:extLst>
          </p:cNvPr>
          <p:cNvPicPr>
            <a:picLocks noChangeAspect="1"/>
          </p:cNvPicPr>
          <p:nvPr/>
        </p:nvPicPr>
        <p:blipFill>
          <a:blip r:embed="rId3"/>
          <a:stretch>
            <a:fillRect/>
          </a:stretch>
        </p:blipFill>
        <p:spPr>
          <a:xfrm>
            <a:off x="1287103" y="2657865"/>
            <a:ext cx="6801799" cy="600159"/>
          </a:xfrm>
          <a:prstGeom prst="rect">
            <a:avLst/>
          </a:prstGeom>
        </p:spPr>
      </p:pic>
      <p:pic>
        <p:nvPicPr>
          <p:cNvPr id="9" name="图片 8">
            <a:extLst>
              <a:ext uri="{FF2B5EF4-FFF2-40B4-BE49-F238E27FC236}">
                <a16:creationId xmlns:a16="http://schemas.microsoft.com/office/drawing/2014/main" id="{E1444DFF-6FE7-A1ED-FD71-3687A1992614}"/>
              </a:ext>
            </a:extLst>
          </p:cNvPr>
          <p:cNvPicPr>
            <a:picLocks noChangeAspect="1"/>
          </p:cNvPicPr>
          <p:nvPr/>
        </p:nvPicPr>
        <p:blipFill>
          <a:blip r:embed="rId4"/>
          <a:stretch>
            <a:fillRect/>
          </a:stretch>
        </p:blipFill>
        <p:spPr>
          <a:xfrm>
            <a:off x="1287103" y="3664918"/>
            <a:ext cx="8992855" cy="485843"/>
          </a:xfrm>
          <a:prstGeom prst="rect">
            <a:avLst/>
          </a:prstGeom>
        </p:spPr>
      </p:pic>
      <p:sp>
        <p:nvSpPr>
          <p:cNvPr id="10" name="文本框 9">
            <a:extLst>
              <a:ext uri="{FF2B5EF4-FFF2-40B4-BE49-F238E27FC236}">
                <a16:creationId xmlns:a16="http://schemas.microsoft.com/office/drawing/2014/main" id="{FDDBD206-31C7-C048-4A3B-E7A16DA045F2}"/>
              </a:ext>
            </a:extLst>
          </p:cNvPr>
          <p:cNvSpPr txBox="1"/>
          <p:nvPr/>
        </p:nvSpPr>
        <p:spPr>
          <a:xfrm>
            <a:off x="658091" y="381000"/>
            <a:ext cx="5590309" cy="646331"/>
          </a:xfrm>
          <a:prstGeom prst="rect">
            <a:avLst/>
          </a:prstGeom>
          <a:noFill/>
        </p:spPr>
        <p:txBody>
          <a:bodyPr wrap="square" rtlCol="0">
            <a:spAutoFit/>
          </a:bodyPr>
          <a:lstStyle/>
          <a:p>
            <a:r>
              <a:rPr lang="en-US" altLang="zh-CN" sz="3600" b="1" dirty="0"/>
              <a:t>321</a:t>
            </a:r>
            <a:r>
              <a:rPr lang="zh-CN" altLang="en-US" sz="3600" b="1" dirty="0"/>
              <a:t>给家人们上上链接</a:t>
            </a:r>
          </a:p>
        </p:txBody>
      </p:sp>
      <p:sp>
        <p:nvSpPr>
          <p:cNvPr id="11" name="文本框 10">
            <a:extLst>
              <a:ext uri="{FF2B5EF4-FFF2-40B4-BE49-F238E27FC236}">
                <a16:creationId xmlns:a16="http://schemas.microsoft.com/office/drawing/2014/main" id="{D5DC77FE-C892-EC47-9519-85A6AA6D506D}"/>
              </a:ext>
            </a:extLst>
          </p:cNvPr>
          <p:cNvSpPr txBox="1"/>
          <p:nvPr/>
        </p:nvSpPr>
        <p:spPr>
          <a:xfrm>
            <a:off x="1287103" y="4687393"/>
            <a:ext cx="5049982" cy="369332"/>
          </a:xfrm>
          <a:prstGeom prst="rect">
            <a:avLst/>
          </a:prstGeom>
          <a:noFill/>
        </p:spPr>
        <p:txBody>
          <a:bodyPr wrap="square" rtlCol="0">
            <a:spAutoFit/>
          </a:bodyPr>
          <a:lstStyle/>
          <a:p>
            <a:r>
              <a:rPr lang="zh-CN" altLang="en-US" dirty="0"/>
              <a:t>优秀学长的复习资料</a:t>
            </a:r>
          </a:p>
        </p:txBody>
      </p:sp>
    </p:spTree>
    <p:extLst>
      <p:ext uri="{BB962C8B-B14F-4D97-AF65-F5344CB8AC3E}">
        <p14:creationId xmlns:p14="http://schemas.microsoft.com/office/powerpoint/2010/main" val="253206581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B41650A3-1AA4-B079-5017-6AA870C0E461}"/>
              </a:ext>
            </a:extLst>
          </p:cNvPr>
          <p:cNvSpPr txBox="1"/>
          <p:nvPr/>
        </p:nvSpPr>
        <p:spPr>
          <a:xfrm>
            <a:off x="1946563" y="2251363"/>
            <a:ext cx="8666018" cy="830997"/>
          </a:xfrm>
          <a:prstGeom prst="rect">
            <a:avLst/>
          </a:prstGeom>
          <a:noFill/>
        </p:spPr>
        <p:txBody>
          <a:bodyPr wrap="square" rtlCol="0">
            <a:spAutoFit/>
          </a:bodyPr>
          <a:lstStyle/>
          <a:p>
            <a:r>
              <a:rPr lang="zh-CN" altLang="en-US" sz="4800" dirty="0"/>
              <a:t>祝同学们在考试中获得佳绩！</a:t>
            </a:r>
          </a:p>
        </p:txBody>
      </p:sp>
    </p:spTree>
    <p:extLst>
      <p:ext uri="{BB962C8B-B14F-4D97-AF65-F5344CB8AC3E}">
        <p14:creationId xmlns:p14="http://schemas.microsoft.com/office/powerpoint/2010/main" val="43688774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矩形"/>
          <p:cNvSpPr>
            <a:spLocks/>
          </p:cNvSpPr>
          <p:nvPr/>
        </p:nvSpPr>
        <p:spPr>
          <a:xfrm>
            <a:off x="3860165" y="3039745"/>
            <a:ext cx="4063999" cy="645160"/>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zh-CN" altLang="en-US" sz="3600" b="0" i="0" u="none" strike="noStrike" kern="1200" cap="none" spc="0" baseline="0">
                <a:solidFill>
                  <a:schemeClr val="tx1"/>
                </a:solidFill>
                <a:latin typeface="Arial" charset="0"/>
                <a:ea typeface="微软雅黑" charset="0"/>
                <a:cs typeface="Arial" charset="0"/>
              </a:rPr>
              <a:t>给几个题目：</a:t>
            </a:r>
          </a:p>
        </p:txBody>
      </p:sp>
    </p:spTree>
    <p:extLst>
      <p:ext uri="{BB962C8B-B14F-4D97-AF65-F5344CB8AC3E}">
        <p14:creationId xmlns:p14="http://schemas.microsoft.com/office/powerpoint/2010/main" val="23209103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5" name="图片"/>
          <p:cNvPicPr>
            <a:picLocks noChangeAspect="1"/>
          </p:cNvPicPr>
          <p:nvPr/>
        </p:nvPicPr>
        <p:blipFill>
          <a:blip r:embed="rId2" cstate="print"/>
          <a:stretch>
            <a:fillRect/>
          </a:stretch>
        </p:blipFill>
        <p:spPr>
          <a:xfrm>
            <a:off x="1214928" y="227965"/>
            <a:ext cx="9081771" cy="6402070"/>
          </a:xfrm>
          <a:prstGeom prst="rect">
            <a:avLst/>
          </a:prstGeom>
          <a:noFill/>
          <a:ln w="12700" cap="flat" cmpd="sng">
            <a:noFill/>
            <a:prstDash val="solid"/>
            <a:miter/>
          </a:ln>
        </p:spPr>
      </p:pic>
    </p:spTree>
    <p:extLst>
      <p:ext uri="{BB962C8B-B14F-4D97-AF65-F5344CB8AC3E}">
        <p14:creationId xmlns:p14="http://schemas.microsoft.com/office/powerpoint/2010/main" val="208531360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6" name="图片"/>
          <p:cNvPicPr>
            <a:picLocks noChangeAspect="1"/>
          </p:cNvPicPr>
          <p:nvPr/>
        </p:nvPicPr>
        <p:blipFill>
          <a:blip r:embed="rId2" cstate="print"/>
          <a:stretch>
            <a:fillRect/>
          </a:stretch>
        </p:blipFill>
        <p:spPr>
          <a:xfrm>
            <a:off x="1268730" y="948055"/>
            <a:ext cx="9377680" cy="4819650"/>
          </a:xfrm>
          <a:prstGeom prst="rect">
            <a:avLst/>
          </a:prstGeom>
          <a:noFill/>
          <a:ln w="12700" cap="flat" cmpd="sng">
            <a:noFill/>
            <a:prstDash val="solid"/>
            <a:miter/>
          </a:ln>
        </p:spPr>
      </p:pic>
    </p:spTree>
    <p:extLst>
      <p:ext uri="{BB962C8B-B14F-4D97-AF65-F5344CB8AC3E}">
        <p14:creationId xmlns:p14="http://schemas.microsoft.com/office/powerpoint/2010/main" val="9810794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7" name="图片"/>
          <p:cNvPicPr>
            <a:picLocks noChangeAspect="1"/>
          </p:cNvPicPr>
          <p:nvPr/>
        </p:nvPicPr>
        <p:blipFill>
          <a:blip r:embed="rId2" cstate="print"/>
          <a:stretch>
            <a:fillRect/>
          </a:stretch>
        </p:blipFill>
        <p:spPr>
          <a:xfrm>
            <a:off x="747395" y="1154430"/>
            <a:ext cx="10696575" cy="4548505"/>
          </a:xfrm>
          <a:prstGeom prst="rect">
            <a:avLst/>
          </a:prstGeom>
          <a:noFill/>
          <a:ln w="12700" cap="flat" cmpd="sng">
            <a:noFill/>
            <a:prstDash val="solid"/>
            <a:miter/>
          </a:ln>
        </p:spPr>
      </p:pic>
    </p:spTree>
    <p:extLst>
      <p:ext uri="{BB962C8B-B14F-4D97-AF65-F5344CB8AC3E}">
        <p14:creationId xmlns:p14="http://schemas.microsoft.com/office/powerpoint/2010/main" val="201715153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8" name="图片"/>
          <p:cNvPicPr>
            <a:picLocks noChangeAspect="1"/>
          </p:cNvPicPr>
          <p:nvPr/>
        </p:nvPicPr>
        <p:blipFill>
          <a:blip r:embed="rId2" cstate="print"/>
          <a:stretch>
            <a:fillRect/>
          </a:stretch>
        </p:blipFill>
        <p:spPr>
          <a:xfrm>
            <a:off x="802005" y="699770"/>
            <a:ext cx="10587356" cy="5591174"/>
          </a:xfrm>
          <a:prstGeom prst="rect">
            <a:avLst/>
          </a:prstGeom>
          <a:noFill/>
          <a:ln w="12700" cap="flat" cmpd="sng">
            <a:noFill/>
            <a:prstDash val="solid"/>
            <a:miter/>
          </a:ln>
        </p:spPr>
      </p:pic>
    </p:spTree>
    <p:extLst>
      <p:ext uri="{BB962C8B-B14F-4D97-AF65-F5344CB8AC3E}">
        <p14:creationId xmlns:p14="http://schemas.microsoft.com/office/powerpoint/2010/main" val="17865905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9" name="图片"/>
          <p:cNvPicPr>
            <a:picLocks noChangeAspect="1"/>
          </p:cNvPicPr>
          <p:nvPr/>
        </p:nvPicPr>
        <p:blipFill>
          <a:blip r:embed="rId2" cstate="print"/>
          <a:stretch>
            <a:fillRect/>
          </a:stretch>
        </p:blipFill>
        <p:spPr>
          <a:xfrm>
            <a:off x="930910" y="581025"/>
            <a:ext cx="10330180" cy="5886450"/>
          </a:xfrm>
          <a:prstGeom prst="rect">
            <a:avLst/>
          </a:prstGeom>
          <a:noFill/>
          <a:ln w="12700" cap="flat" cmpd="sng">
            <a:noFill/>
            <a:prstDash val="solid"/>
            <a:miter/>
          </a:ln>
        </p:spPr>
      </p:pic>
    </p:spTree>
    <p:extLst>
      <p:ext uri="{BB962C8B-B14F-4D97-AF65-F5344CB8AC3E}">
        <p14:creationId xmlns:p14="http://schemas.microsoft.com/office/powerpoint/2010/main" val="152616414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0" name="图片"/>
          <p:cNvPicPr>
            <a:picLocks noChangeAspect="1"/>
          </p:cNvPicPr>
          <p:nvPr/>
        </p:nvPicPr>
        <p:blipFill>
          <a:blip r:embed="rId2" cstate="print"/>
          <a:stretch>
            <a:fillRect/>
          </a:stretch>
        </p:blipFill>
        <p:spPr>
          <a:xfrm>
            <a:off x="1466215" y="633094"/>
            <a:ext cx="10436225" cy="2000249"/>
          </a:xfrm>
          <a:prstGeom prst="rect">
            <a:avLst/>
          </a:prstGeom>
          <a:noFill/>
          <a:ln w="12700" cap="flat" cmpd="sng">
            <a:noFill/>
            <a:prstDash val="solid"/>
            <a:miter/>
          </a:ln>
        </p:spPr>
      </p:pic>
    </p:spTree>
    <p:extLst>
      <p:ext uri="{BB962C8B-B14F-4D97-AF65-F5344CB8AC3E}">
        <p14:creationId xmlns:p14="http://schemas.microsoft.com/office/powerpoint/2010/main" val="99245782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 name="矩形"/>
          <p:cNvSpPr>
            <a:spLocks/>
          </p:cNvSpPr>
          <p:nvPr/>
        </p:nvSpPr>
        <p:spPr>
          <a:xfrm>
            <a:off x="4330700" y="2829559"/>
            <a:ext cx="4063999" cy="1198880"/>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zh-CN" altLang="en-US" sz="3600" b="0" i="0" u="none" strike="noStrike" kern="1200" cap="none" spc="0" baseline="0">
                <a:solidFill>
                  <a:schemeClr val="tx1"/>
                </a:solidFill>
                <a:latin typeface="Arial" charset="0"/>
                <a:ea typeface="微软雅黑" charset="0"/>
                <a:cs typeface="Arial" charset="0"/>
              </a:rPr>
              <a:t>大的来了</a:t>
            </a:r>
            <a:endParaRPr lang="en-US" altLang="zh-CN" sz="3600" b="0" i="0" u="none" strike="noStrike" kern="1200" cap="none" spc="0" baseline="0">
              <a:solidFill>
                <a:schemeClr val="tx1"/>
              </a:solidFill>
              <a:latin typeface="Arial" charset="0"/>
              <a:ea typeface="微软雅黑" charset="0"/>
              <a:cs typeface="Arial" charset="0"/>
            </a:endParaRPr>
          </a:p>
          <a:p>
            <a:pPr marL="0" indent="0" algn="l">
              <a:lnSpc>
                <a:spcPct val="100000"/>
              </a:lnSpc>
              <a:spcBef>
                <a:spcPts val="0"/>
              </a:spcBef>
              <a:spcAft>
                <a:spcPts val="0"/>
              </a:spcAft>
              <a:buNone/>
            </a:pPr>
            <a:endParaRPr lang="zh-CN" altLang="en-US" sz="3600" b="0" i="0" u="none" strike="noStrike" kern="1200" cap="none" spc="0" baseline="0">
              <a:solidFill>
                <a:schemeClr val="tx1"/>
              </a:solidFill>
              <a:latin typeface="Arial" charset="0"/>
              <a:ea typeface="微软雅黑" charset="0"/>
              <a:cs typeface="Arial" charset="0"/>
            </a:endParaRPr>
          </a:p>
        </p:txBody>
      </p:sp>
    </p:spTree>
    <p:extLst>
      <p:ext uri="{BB962C8B-B14F-4D97-AF65-F5344CB8AC3E}">
        <p14:creationId xmlns:p14="http://schemas.microsoft.com/office/powerpoint/2010/main" val="94497013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 name="图片"/>
          <p:cNvPicPr>
            <a:picLocks noChangeAspect="1"/>
          </p:cNvPicPr>
          <p:nvPr/>
        </p:nvPicPr>
        <p:blipFill>
          <a:blip r:embed="rId2" cstate="print"/>
          <a:stretch>
            <a:fillRect/>
          </a:stretch>
        </p:blipFill>
        <p:spPr>
          <a:xfrm>
            <a:off x="1895475" y="873760"/>
            <a:ext cx="8401050" cy="5110480"/>
          </a:xfrm>
          <a:prstGeom prst="rect">
            <a:avLst/>
          </a:prstGeom>
          <a:noFill/>
          <a:ln w="12700" cap="flat" cmpd="sng">
            <a:noFill/>
            <a:prstDash val="solid"/>
            <a:miter/>
          </a:ln>
        </p:spPr>
      </p:pic>
    </p:spTree>
    <p:extLst>
      <p:ext uri="{BB962C8B-B14F-4D97-AF65-F5344CB8AC3E}">
        <p14:creationId xmlns:p14="http://schemas.microsoft.com/office/powerpoint/2010/main" val="143239886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3" name="图片"/>
          <p:cNvPicPr>
            <a:picLocks noChangeAspect="1"/>
          </p:cNvPicPr>
          <p:nvPr/>
        </p:nvPicPr>
        <p:blipFill>
          <a:blip r:embed="rId2" cstate="print"/>
          <a:stretch>
            <a:fillRect/>
          </a:stretch>
        </p:blipFill>
        <p:spPr>
          <a:xfrm>
            <a:off x="2376170" y="733425"/>
            <a:ext cx="7439025" cy="5391150"/>
          </a:xfrm>
          <a:prstGeom prst="rect">
            <a:avLst/>
          </a:prstGeom>
          <a:noFill/>
          <a:ln w="12700" cap="flat" cmpd="sng">
            <a:noFill/>
            <a:prstDash val="solid"/>
            <a:miter/>
          </a:ln>
        </p:spPr>
      </p:pic>
    </p:spTree>
    <p:extLst>
      <p:ext uri="{BB962C8B-B14F-4D97-AF65-F5344CB8AC3E}">
        <p14:creationId xmlns:p14="http://schemas.microsoft.com/office/powerpoint/2010/main" val="288589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4" name="图片"/>
          <p:cNvPicPr>
            <a:picLocks noChangeAspect="1"/>
          </p:cNvPicPr>
          <p:nvPr/>
        </p:nvPicPr>
        <p:blipFill>
          <a:blip r:embed="rId2" cstate="print"/>
          <a:stretch>
            <a:fillRect/>
          </a:stretch>
        </p:blipFill>
        <p:spPr>
          <a:xfrm>
            <a:off x="2128520" y="459105"/>
            <a:ext cx="7934325" cy="5939155"/>
          </a:xfrm>
          <a:prstGeom prst="rect">
            <a:avLst/>
          </a:prstGeom>
          <a:noFill/>
          <a:ln w="12700" cap="flat" cmpd="sng">
            <a:noFill/>
            <a:prstDash val="solid"/>
            <a:miter/>
          </a:ln>
        </p:spPr>
      </p:pic>
    </p:spTree>
    <p:extLst>
      <p:ext uri="{BB962C8B-B14F-4D97-AF65-F5344CB8AC3E}">
        <p14:creationId xmlns:p14="http://schemas.microsoft.com/office/powerpoint/2010/main" val="111809188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5" name="图片"/>
          <p:cNvPicPr>
            <a:picLocks noChangeAspect="1"/>
          </p:cNvPicPr>
          <p:nvPr/>
        </p:nvPicPr>
        <p:blipFill>
          <a:blip r:embed="rId2" cstate="print"/>
          <a:stretch>
            <a:fillRect/>
          </a:stretch>
        </p:blipFill>
        <p:spPr>
          <a:xfrm>
            <a:off x="2007234" y="1264285"/>
            <a:ext cx="8177529" cy="4329430"/>
          </a:xfrm>
          <a:prstGeom prst="rect">
            <a:avLst/>
          </a:prstGeom>
          <a:noFill/>
          <a:ln w="12700" cap="flat" cmpd="sng">
            <a:noFill/>
            <a:prstDash val="solid"/>
            <a:miter/>
          </a:ln>
        </p:spPr>
      </p:pic>
    </p:spTree>
    <p:extLst>
      <p:ext uri="{BB962C8B-B14F-4D97-AF65-F5344CB8AC3E}">
        <p14:creationId xmlns:p14="http://schemas.microsoft.com/office/powerpoint/2010/main" val="561302531"/>
      </p:ext>
    </p:extLst>
  </p:cSld>
  <p:clrMapOvr>
    <a:masterClrMapping/>
  </p:clrMapOvr>
</p:sld>
</file>

<file path=ppt/theme/theme1.xml><?xml version="1.0" encoding="utf-8"?>
<a:theme xmlns:a="http://schemas.openxmlformats.org/drawingml/2006/main" name="WPS">
  <a:themeElements>
    <a:clrScheme name="WPS">
      <a:dk1>
        <a:srgbClr val="000000"/>
      </a:dk1>
      <a:lt1>
        <a:srgbClr val="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
        <a:ea typeface=""/>
        <a:cs typeface=""/>
      </a:majorFont>
      <a:minorFont>
        <a:latin typeface=""/>
        <a:ea typeface=""/>
        <a:cs typeface=""/>
      </a:minorFont>
    </a:fontScheme>
    <a:fmtScheme name="WPS">
      <a:fillStyleLst>
        <a:solidFill>
          <a:schemeClr val="phClr"/>
        </a:solidFill>
        <a:gradFill/>
        <a:gradFill/>
      </a:fillStyleLst>
      <a:lnStyleLst>
        <a:ln/>
        <a:ln/>
        <a:ln/>
      </a:lnStyleLst>
      <a:effectStyleLst>
        <a:effectStyle>
          <a:effectLst/>
        </a:effectStyle>
        <a:effectStyle>
          <a:effectLst/>
        </a:effectStyle>
        <a:effectStyle>
          <a:effectLst/>
        </a:effectStyle>
      </a:effectStyleLst>
      <a:bgFillStyleLst>
        <a:solidFill>
          <a:schemeClr val="phClr"/>
        </a:solidFill>
        <a:gradFill/>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Normal.eit</Template>
  <TotalTime>211</TotalTime>
  <Words>4260</Words>
  <Application>Microsoft Office PowerPoint</Application>
  <PresentationFormat>宽屏</PresentationFormat>
  <Paragraphs>402</Paragraphs>
  <Slides>62</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62</vt:i4>
      </vt:variant>
    </vt:vector>
  </HeadingPairs>
  <TitlesOfParts>
    <vt:vector size="71" baseType="lpstr">
      <vt:lpstr>Droid Sans</vt:lpstr>
      <vt:lpstr>方正粗黑宋简体</vt:lpstr>
      <vt:lpstr>仿宋</vt:lpstr>
      <vt:lpstr>Arial</vt:lpstr>
      <vt:lpstr>Calibri</vt:lpstr>
      <vt:lpstr>Cambria Math</vt:lpstr>
      <vt:lpstr>Lucida Sans</vt:lpstr>
      <vt:lpstr>Wingdings</vt:lpstr>
      <vt:lpstr>WPS</vt:lpstr>
      <vt:lpstr>机器学习朋辈辅导</vt:lpstr>
      <vt:lpstr>1. 去年考试情况</vt:lpstr>
      <vt:lpstr>题型1 ： 选择题 </vt:lpstr>
      <vt:lpstr>题型2 ： 简答题 </vt:lpstr>
      <vt:lpstr>题型2 ： 简答题 </vt:lpstr>
      <vt:lpstr>题型2 ： 简答题 </vt:lpstr>
      <vt:lpstr>题型3： 计算题</vt:lpstr>
      <vt:lpstr>题型3： 计算题</vt:lpstr>
      <vt:lpstr>题型3： 计算题</vt:lpstr>
      <vt:lpstr>题型3： 计算题</vt:lpstr>
      <vt:lpstr>题型3： 计算题</vt:lpstr>
      <vt:lpstr>题型4： 思考题</vt:lpstr>
      <vt:lpstr>题型4： 思考题</vt:lpstr>
      <vt:lpstr>PowerPoint 演示文稿</vt:lpstr>
      <vt:lpstr>PowerPoint 演示文稿</vt:lpstr>
      <vt:lpstr>机器学习章节重点</vt:lpstr>
      <vt:lpstr>PowerPoint 演示文稿</vt:lpstr>
      <vt:lpstr>1. 锐评考试</vt:lpstr>
      <vt:lpstr>1. 锐评考试</vt:lpstr>
      <vt:lpstr>PowerPoint 演示文稿</vt:lpstr>
      <vt:lpstr>我理解的考与不考</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cp:lastModifiedBy>Peter Yuan</cp:lastModifiedBy>
  <cp:revision>250</cp:revision>
  <dcterms:created xsi:type="dcterms:W3CDTF">2019-06-19T02:08:00Z</dcterms:created>
  <dcterms:modified xsi:type="dcterms:W3CDTF">2026-06-04T09:35:01Z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2052-12.1.0.16729</vt:lpwstr>
  </property>
  <property fmtid="{D5CDD505-2E9C-101B-9397-08002B2CF9AE}" pid="3" name="ICV">
    <vt:lpwstr>4F706479B29545988A52F6ADD87C0293_11</vt:lpwstr>
  </property>
</Properties>
</file>