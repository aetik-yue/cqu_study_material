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xml" ContentType="application/vnd.openxmlformats-officedocument.presentationml.tags+xml"/>
  <Override PartName="/ppt/notesSlides/notesSlide12.xml" ContentType="application/vnd.openxmlformats-officedocument.presentationml.notesSlide+xml"/>
  <Override PartName="/ppt/tags/tag2.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948" r:id="rId2"/>
  </p:sldMasterIdLst>
  <p:notesMasterIdLst>
    <p:notesMasterId r:id="rId33"/>
  </p:notesMasterIdLst>
  <p:handoutMasterIdLst>
    <p:handoutMasterId r:id="rId34"/>
  </p:handoutMasterIdLst>
  <p:sldIdLst>
    <p:sldId id="257" r:id="rId3"/>
    <p:sldId id="789" r:id="rId4"/>
    <p:sldId id="838" r:id="rId5"/>
    <p:sldId id="864" r:id="rId6"/>
    <p:sldId id="865" r:id="rId7"/>
    <p:sldId id="866" r:id="rId8"/>
    <p:sldId id="861" r:id="rId9"/>
    <p:sldId id="859" r:id="rId10"/>
    <p:sldId id="258" r:id="rId11"/>
    <p:sldId id="315" r:id="rId12"/>
    <p:sldId id="331" r:id="rId13"/>
    <p:sldId id="332" r:id="rId14"/>
    <p:sldId id="333" r:id="rId15"/>
    <p:sldId id="334" r:id="rId16"/>
    <p:sldId id="336" r:id="rId17"/>
    <p:sldId id="338" r:id="rId18"/>
    <p:sldId id="867" r:id="rId19"/>
    <p:sldId id="1021" r:id="rId20"/>
    <p:sldId id="1022" r:id="rId21"/>
    <p:sldId id="439" r:id="rId22"/>
    <p:sldId id="436" r:id="rId23"/>
    <p:sldId id="437" r:id="rId24"/>
    <p:sldId id="441" r:id="rId25"/>
    <p:sldId id="340" r:id="rId26"/>
    <p:sldId id="442" r:id="rId27"/>
    <p:sldId id="444" r:id="rId28"/>
    <p:sldId id="445" r:id="rId29"/>
    <p:sldId id="322" r:id="rId30"/>
    <p:sldId id="438" r:id="rId31"/>
    <p:sldId id="619" r:id="rId32"/>
  </p:sldIdLst>
  <p:sldSz cx="9144000" cy="6858000" type="screen4x3"/>
  <p:notesSz cx="9144000" cy="6858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94614" autoAdjust="0"/>
  </p:normalViewPr>
  <p:slideViewPr>
    <p:cSldViewPr>
      <p:cViewPr varScale="1">
        <p:scale>
          <a:sx n="82" d="100"/>
          <a:sy n="82" d="100"/>
        </p:scale>
        <p:origin x="888"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68" d="100"/>
          <a:sy n="68" d="100"/>
        </p:scale>
        <p:origin x="-1810" y="-62"/>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16F1F154-D08B-4637-BD6B-EE69DBEDFA2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73F24782-B8CC-4BB5-84E6-002BAC732084}"/>
              </a:ext>
            </a:extLst>
          </p:cNvPr>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081DFCA3-140D-47A9-812B-EF4671D077DA}" type="datetimeFigureOut">
              <a:rPr lang="zh-CN" altLang="en-US"/>
              <a:pPr>
                <a:defRPr/>
              </a:pPr>
              <a:t>2026/3/2</a:t>
            </a:fld>
            <a:endParaRPr lang="zh-CN" altLang="en-US"/>
          </a:p>
        </p:txBody>
      </p:sp>
      <p:sp>
        <p:nvSpPr>
          <p:cNvPr id="4" name="页脚占位符 3">
            <a:extLst>
              <a:ext uri="{FF2B5EF4-FFF2-40B4-BE49-F238E27FC236}">
                <a16:creationId xmlns:a16="http://schemas.microsoft.com/office/drawing/2014/main" id="{DB747B93-988F-4543-BD9C-1C7CB3B58114}"/>
              </a:ext>
            </a:extLst>
          </p:cNvPr>
          <p:cNvSpPr>
            <a:spLocks noGrp="1"/>
          </p:cNvSpPr>
          <p:nvPr>
            <p:ph type="ftr" sz="quarter" idx="2"/>
          </p:nvPr>
        </p:nvSpPr>
        <p:spPr>
          <a:xfrm>
            <a:off x="0" y="6513513"/>
            <a:ext cx="3962400" cy="3429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5" name="灯片编号占位符 4">
            <a:extLst>
              <a:ext uri="{FF2B5EF4-FFF2-40B4-BE49-F238E27FC236}">
                <a16:creationId xmlns:a16="http://schemas.microsoft.com/office/drawing/2014/main" id="{BD722FE9-DBFB-41DB-83A5-159F33A862E4}"/>
              </a:ext>
            </a:extLst>
          </p:cNvPr>
          <p:cNvSpPr>
            <a:spLocks noGrp="1"/>
          </p:cNvSpPr>
          <p:nvPr>
            <p:ph type="sldNum" sz="quarter" idx="3"/>
          </p:nvPr>
        </p:nvSpPr>
        <p:spPr>
          <a:xfrm>
            <a:off x="5180013" y="6513513"/>
            <a:ext cx="3962400" cy="3429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274AB649-9B77-47B4-86AE-79A195B7BF2A}"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BDCBF277-B712-400F-957F-39A8A840EED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D931A883-E5D4-4659-8BCA-E5DCFAE454B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822AF62D-6F31-46D6-B269-0F8F56C4162E}" type="datetimeFigureOut">
              <a:rPr lang="zh-CN" altLang="en-US"/>
              <a:pPr>
                <a:defRPr/>
              </a:pPr>
              <a:t>2026/3/2</a:t>
            </a:fld>
            <a:endParaRPr lang="zh-CN" altLang="en-US"/>
          </a:p>
        </p:txBody>
      </p:sp>
      <p:sp>
        <p:nvSpPr>
          <p:cNvPr id="4" name="幻灯片图像占位符 3">
            <a:extLst>
              <a:ext uri="{FF2B5EF4-FFF2-40B4-BE49-F238E27FC236}">
                <a16:creationId xmlns:a16="http://schemas.microsoft.com/office/drawing/2014/main" id="{5F41D5C3-29C3-4D18-A73E-68E70946BD1C}"/>
              </a:ext>
            </a:extLst>
          </p:cNvPr>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4E8581BB-C447-4235-AF25-DF5DD22191EA}"/>
              </a:ext>
            </a:extLst>
          </p:cNvPr>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BC2BF2D4-077B-491A-A12A-DA192A4FE69B}"/>
              </a:ext>
            </a:extLst>
          </p:cNvPr>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8E56B28C-60B8-44BD-9F27-BF4F6458E97E}"/>
              </a:ext>
            </a:extLst>
          </p:cNvPr>
          <p:cNvSpPr>
            <a:spLocks noGrp="1"/>
          </p:cNvSpPr>
          <p:nvPr>
            <p:ph type="sldNum" sz="quarter" idx="5"/>
          </p:nvPr>
        </p:nvSpPr>
        <p:spPr>
          <a:xfrm>
            <a:off x="5180013" y="6513513"/>
            <a:ext cx="3962400" cy="3429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942E71B-E9B3-4820-B67A-F8BCFD290363}"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D01A8CA-9D3D-4C4D-8CDD-E6DF20BF1131}"/>
              </a:ext>
            </a:extLst>
          </p:cNvPr>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defTabSz="973138">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defTabSz="973138">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defTabSz="973138">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defTabSz="973138">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defTabSz="973138">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kumimoji="1" lang="en-US" altLang="zh-CN" sz="1300">
                <a:latin typeface="Times New Roman" panose="02020603050405020304" pitchFamily="18" charset="0"/>
              </a:rPr>
              <a:t>高等代数</a:t>
            </a:r>
          </a:p>
        </p:txBody>
      </p:sp>
      <p:sp>
        <p:nvSpPr>
          <p:cNvPr id="6147" name="Rectangle 3">
            <a:extLst>
              <a:ext uri="{FF2B5EF4-FFF2-40B4-BE49-F238E27FC236}">
                <a16:creationId xmlns:a16="http://schemas.microsoft.com/office/drawing/2014/main" id="{9908787A-D443-429F-A574-148DE50B38AD}"/>
              </a:ext>
            </a:extLst>
          </p:cNvPr>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defTabSz="973138">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defTabSz="973138">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defTabSz="973138">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defTabSz="973138">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defTabSz="973138">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778746E7-4F05-4954-A5D7-6CD18FB744FA}" type="datetime1">
              <a:rPr kumimoji="1" lang="zh-CN" altLang="en-US" sz="1300" smtClean="0">
                <a:latin typeface="Times New Roman" panose="02020603050405020304" pitchFamily="18" charset="0"/>
              </a:rPr>
              <a:pPr fontAlgn="base">
                <a:spcBef>
                  <a:spcPct val="0"/>
                </a:spcBef>
                <a:spcAft>
                  <a:spcPct val="0"/>
                </a:spcAft>
              </a:pPr>
              <a:t>2026/3/2</a:t>
            </a:fld>
            <a:endParaRPr kumimoji="1" lang="en-US" altLang="zh-CN" sz="1300">
              <a:latin typeface="Times New Roman" panose="02020603050405020304" pitchFamily="18" charset="0"/>
            </a:endParaRPr>
          </a:p>
        </p:txBody>
      </p:sp>
      <p:sp>
        <p:nvSpPr>
          <p:cNvPr id="6148" name="Rectangle 7">
            <a:extLst>
              <a:ext uri="{FF2B5EF4-FFF2-40B4-BE49-F238E27FC236}">
                <a16:creationId xmlns:a16="http://schemas.microsoft.com/office/drawing/2014/main" id="{B8131C3E-0544-4AEA-AB54-2E5CF4AE25D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3138">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defTabSz="973138">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defTabSz="973138">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defTabSz="973138">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defTabSz="973138">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89C7525-4BD0-4163-98A5-F7837A3EE5AC}" type="slidenum">
              <a:rPr kumimoji="1" lang="en-US" altLang="zh-CN" sz="1300" smtClean="0">
                <a:latin typeface="Times New Roman" panose="02020603050405020304" pitchFamily="18" charset="0"/>
              </a:rPr>
              <a:pPr>
                <a:spcBef>
                  <a:spcPct val="0"/>
                </a:spcBef>
              </a:pPr>
              <a:t>1</a:t>
            </a:fld>
            <a:endParaRPr kumimoji="1" lang="en-US" altLang="zh-CN" sz="1300">
              <a:latin typeface="Times New Roman" panose="02020603050405020304" pitchFamily="18" charset="0"/>
            </a:endParaRPr>
          </a:p>
        </p:txBody>
      </p:sp>
      <p:sp>
        <p:nvSpPr>
          <p:cNvPr id="6149" name="Rectangle 2">
            <a:extLst>
              <a:ext uri="{FF2B5EF4-FFF2-40B4-BE49-F238E27FC236}">
                <a16:creationId xmlns:a16="http://schemas.microsoft.com/office/drawing/2014/main" id="{4E4FE87F-CDE4-460E-881D-9ED4C3D8116E}"/>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6150" name="Rectangle 3">
            <a:extLst>
              <a:ext uri="{FF2B5EF4-FFF2-40B4-BE49-F238E27FC236}">
                <a16:creationId xmlns:a16="http://schemas.microsoft.com/office/drawing/2014/main" id="{3E528532-329A-4864-9D0A-64808B13A79B}"/>
              </a:ext>
            </a:extLst>
          </p:cNvPr>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r>
              <a:rPr lang="zh-CN" altLang="en-US"/>
              <a:t>重庆大学</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444F810-1253-45B3-AE2D-7766756D6BD8}" type="slidenum">
              <a:rPr lang="zh-CN" altLang="en-US" smtClean="0"/>
              <a:t>2</a:t>
            </a:fld>
            <a:endParaRPr lang="zh-CN" altLang="en-US"/>
          </a:p>
        </p:txBody>
      </p:sp>
    </p:spTree>
    <p:extLst>
      <p:ext uri="{BB962C8B-B14F-4D97-AF65-F5344CB8AC3E}">
        <p14:creationId xmlns:p14="http://schemas.microsoft.com/office/powerpoint/2010/main" val="1060209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444F810-1253-45B3-AE2D-7766756D6BD8}" type="slidenum">
              <a:rPr lang="zh-CN" altLang="en-US" smtClean="0"/>
              <a:t>3</a:t>
            </a:fld>
            <a:endParaRPr lang="zh-CN" altLang="en-US"/>
          </a:p>
        </p:txBody>
      </p:sp>
    </p:spTree>
    <p:extLst>
      <p:ext uri="{BB962C8B-B14F-4D97-AF65-F5344CB8AC3E}">
        <p14:creationId xmlns:p14="http://schemas.microsoft.com/office/powerpoint/2010/main" val="852558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444F810-1253-45B3-AE2D-7766756D6BD8}" type="slidenum">
              <a:rPr lang="zh-CN" altLang="en-US" smtClean="0"/>
              <a:t>4</a:t>
            </a:fld>
            <a:endParaRPr lang="zh-CN" altLang="en-US"/>
          </a:p>
        </p:txBody>
      </p:sp>
    </p:spTree>
    <p:extLst>
      <p:ext uri="{BB962C8B-B14F-4D97-AF65-F5344CB8AC3E}">
        <p14:creationId xmlns:p14="http://schemas.microsoft.com/office/powerpoint/2010/main" val="1385636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444F810-1253-45B3-AE2D-7766756D6BD8}" type="slidenum">
              <a:rPr lang="zh-CN" altLang="en-US" smtClean="0"/>
              <a:t>7</a:t>
            </a:fld>
            <a:endParaRPr lang="zh-CN" altLang="en-US"/>
          </a:p>
        </p:txBody>
      </p:sp>
    </p:spTree>
    <p:extLst>
      <p:ext uri="{BB962C8B-B14F-4D97-AF65-F5344CB8AC3E}">
        <p14:creationId xmlns:p14="http://schemas.microsoft.com/office/powerpoint/2010/main" val="1581689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444F810-1253-45B3-AE2D-7766756D6BD8}" type="slidenum">
              <a:rPr lang="zh-CN" altLang="en-US" smtClean="0"/>
              <a:t>8</a:t>
            </a:fld>
            <a:endParaRPr lang="zh-CN" altLang="en-US"/>
          </a:p>
        </p:txBody>
      </p:sp>
    </p:spTree>
    <p:extLst>
      <p:ext uri="{BB962C8B-B14F-4D97-AF65-F5344CB8AC3E}">
        <p14:creationId xmlns:p14="http://schemas.microsoft.com/office/powerpoint/2010/main" val="2561321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DD982A9-5E02-48A1-96E2-36AE38A9E7D5}"/>
              </a:ext>
            </a:extLst>
          </p:cNvPr>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defTabSz="973138">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defTabSz="973138">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defTabSz="973138">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defTabSz="973138">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defTabSz="973138">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kumimoji="1" lang="en-US" altLang="zh-CN" sz="1300">
                <a:latin typeface="Times New Roman" panose="02020603050405020304" pitchFamily="18" charset="0"/>
              </a:rPr>
              <a:t>高等代数</a:t>
            </a:r>
          </a:p>
        </p:txBody>
      </p:sp>
      <p:sp>
        <p:nvSpPr>
          <p:cNvPr id="12291" name="Rectangle 3">
            <a:extLst>
              <a:ext uri="{FF2B5EF4-FFF2-40B4-BE49-F238E27FC236}">
                <a16:creationId xmlns:a16="http://schemas.microsoft.com/office/drawing/2014/main" id="{BB2D036D-A015-497D-A941-6AA03F0068FE}"/>
              </a:ext>
            </a:extLst>
          </p:cNvPr>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defTabSz="973138">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defTabSz="973138">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defTabSz="973138">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defTabSz="973138">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defTabSz="973138">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CB63EE0D-A2F6-4340-BF26-91E6EF2476B8}" type="datetime1">
              <a:rPr kumimoji="1" lang="zh-CN" altLang="en-US" sz="1300" smtClean="0">
                <a:latin typeface="Times New Roman" panose="02020603050405020304" pitchFamily="18" charset="0"/>
              </a:rPr>
              <a:pPr fontAlgn="base">
                <a:spcBef>
                  <a:spcPct val="0"/>
                </a:spcBef>
                <a:spcAft>
                  <a:spcPct val="0"/>
                </a:spcAft>
              </a:pPr>
              <a:t>2026/3/2</a:t>
            </a:fld>
            <a:endParaRPr kumimoji="1" lang="en-US" altLang="zh-CN" sz="1300">
              <a:latin typeface="Times New Roman" panose="02020603050405020304" pitchFamily="18" charset="0"/>
            </a:endParaRPr>
          </a:p>
        </p:txBody>
      </p:sp>
      <p:sp>
        <p:nvSpPr>
          <p:cNvPr id="12292" name="Rectangle 7">
            <a:extLst>
              <a:ext uri="{FF2B5EF4-FFF2-40B4-BE49-F238E27FC236}">
                <a16:creationId xmlns:a16="http://schemas.microsoft.com/office/drawing/2014/main" id="{1F5A9F09-0D46-442C-B44C-6AFEEB24347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3138">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defTabSz="973138">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defTabSz="973138">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defTabSz="973138">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defTabSz="973138">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defTabSz="973138"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5B12B025-9860-401E-B5C6-D8511E97DB0D}" type="slidenum">
              <a:rPr kumimoji="1" lang="en-US" altLang="zh-CN" sz="1300" smtClean="0">
                <a:latin typeface="Times New Roman" panose="02020603050405020304" pitchFamily="18" charset="0"/>
              </a:rPr>
              <a:pPr>
                <a:spcBef>
                  <a:spcPct val="0"/>
                </a:spcBef>
              </a:pPr>
              <a:t>10</a:t>
            </a:fld>
            <a:endParaRPr kumimoji="1" lang="en-US" altLang="zh-CN" sz="1300">
              <a:latin typeface="Times New Roman" panose="02020603050405020304" pitchFamily="18" charset="0"/>
            </a:endParaRPr>
          </a:p>
        </p:txBody>
      </p:sp>
      <p:sp>
        <p:nvSpPr>
          <p:cNvPr id="12293" name="Rectangle 2">
            <a:extLst>
              <a:ext uri="{FF2B5EF4-FFF2-40B4-BE49-F238E27FC236}">
                <a16:creationId xmlns:a16="http://schemas.microsoft.com/office/drawing/2014/main" id="{7BD8AAAD-5528-4021-AC18-5931D989EBB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4" name="Rectangle 3">
            <a:extLst>
              <a:ext uri="{FF2B5EF4-FFF2-40B4-BE49-F238E27FC236}">
                <a16:creationId xmlns:a16="http://schemas.microsoft.com/office/drawing/2014/main" id="{790700FD-795C-4BC0-B86D-95C8F9544CA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42E71B-E9B3-4820-B67A-F8BCFD290363}" type="slidenum">
              <a:rPr lang="zh-CN" altLang="en-US" smtClean="0"/>
              <a:pPr>
                <a:defRPr/>
              </a:pPr>
              <a:t>11</a:t>
            </a:fld>
            <a:endParaRPr lang="zh-CN" altLang="en-US"/>
          </a:p>
        </p:txBody>
      </p:sp>
    </p:spTree>
    <p:extLst>
      <p:ext uri="{BB962C8B-B14F-4D97-AF65-F5344CB8AC3E}">
        <p14:creationId xmlns:p14="http://schemas.microsoft.com/office/powerpoint/2010/main" val="941421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444F810-1253-45B3-AE2D-7766756D6BD8}" type="slidenum">
              <a:rPr lang="zh-CN" altLang="en-US" smtClean="0"/>
              <a:t>17</a:t>
            </a:fld>
            <a:endParaRPr lang="zh-CN" altLang="en-US"/>
          </a:p>
        </p:txBody>
      </p:sp>
    </p:spTree>
    <p:extLst>
      <p:ext uri="{BB962C8B-B14F-4D97-AF65-F5344CB8AC3E}">
        <p14:creationId xmlns:p14="http://schemas.microsoft.com/office/powerpoint/2010/main" val="3941129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00" dirty="0">
              <a:effectLst/>
              <a:latin typeface="宋体" panose="02010600030101010101" pitchFamily="2" charset="-122"/>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BD78A78C-2506-A146-B482-9E8B29C350E9}" type="slidenum">
              <a:rPr kumimoji="1" lang="zh-CN" altLang="en-US" smtClean="0"/>
              <a:pPr/>
              <a:t>18</a:t>
            </a:fld>
            <a:endParaRPr kumimoji="1" lang="zh-CN" altLang="en-US"/>
          </a:p>
        </p:txBody>
      </p:sp>
    </p:spTree>
    <p:extLst>
      <p:ext uri="{BB962C8B-B14F-4D97-AF65-F5344CB8AC3E}">
        <p14:creationId xmlns:p14="http://schemas.microsoft.com/office/powerpoint/2010/main" val="28561599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444F810-1253-45B3-AE2D-7766756D6BD8}" type="slidenum">
              <a:rPr lang="zh-CN" altLang="en-US" smtClean="0"/>
              <a:t>19</a:t>
            </a:fld>
            <a:endParaRPr lang="zh-CN" altLang="en-US"/>
          </a:p>
        </p:txBody>
      </p:sp>
    </p:spTree>
    <p:extLst>
      <p:ext uri="{BB962C8B-B14F-4D97-AF65-F5344CB8AC3E}">
        <p14:creationId xmlns:p14="http://schemas.microsoft.com/office/powerpoint/2010/main" val="23299000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99F1821F-28C8-426F-8379-369E64FCD6B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备注占位符 2">
            <a:extLst>
              <a:ext uri="{FF2B5EF4-FFF2-40B4-BE49-F238E27FC236}">
                <a16:creationId xmlns:a16="http://schemas.microsoft.com/office/drawing/2014/main" id="{6D3DEDC0-4F96-4C7C-8279-AAD63DB1BA8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2532" name="灯片编号占位符 3">
            <a:extLst>
              <a:ext uri="{FF2B5EF4-FFF2-40B4-BE49-F238E27FC236}">
                <a16:creationId xmlns:a16="http://schemas.microsoft.com/office/drawing/2014/main" id="{FECD3221-D167-47AB-82D7-33F9C120C69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D2974CDD-952B-447E-8958-F6F445162EA7}" type="slidenum">
              <a:rPr lang="zh-CN" altLang="en-US" smtClean="0"/>
              <a:pPr/>
              <a:t>21</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4F8B8865-6DBA-4896-AC40-DC31BCCF89A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a:extLst>
              <a:ext uri="{FF2B5EF4-FFF2-40B4-BE49-F238E27FC236}">
                <a16:creationId xmlns:a16="http://schemas.microsoft.com/office/drawing/2014/main" id="{D1B7F25D-83D9-4932-BDBA-9E6802B1D5C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4580" name="灯片编号占位符 3">
            <a:extLst>
              <a:ext uri="{FF2B5EF4-FFF2-40B4-BE49-F238E27FC236}">
                <a16:creationId xmlns:a16="http://schemas.microsoft.com/office/drawing/2014/main" id="{8C36C830-A164-4A01-8573-02AEB50AB75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6E1A77FC-283C-4675-A30F-0E3110104882}" type="slidenum">
              <a:rPr lang="zh-CN" altLang="en-US" smtClean="0"/>
              <a:pPr/>
              <a:t>22</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42E71B-E9B3-4820-B67A-F8BCFD290363}" type="slidenum">
              <a:rPr lang="zh-CN" altLang="en-US" smtClean="0"/>
              <a:pPr>
                <a:defRPr/>
              </a:pPr>
              <a:t>24</a:t>
            </a:fld>
            <a:endParaRPr lang="zh-CN" altLang="en-US"/>
          </a:p>
        </p:txBody>
      </p:sp>
    </p:spTree>
    <p:extLst>
      <p:ext uri="{BB962C8B-B14F-4D97-AF65-F5344CB8AC3E}">
        <p14:creationId xmlns:p14="http://schemas.microsoft.com/office/powerpoint/2010/main" val="8502322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a:extLst>
              <a:ext uri="{FF2B5EF4-FFF2-40B4-BE49-F238E27FC236}">
                <a16:creationId xmlns:a16="http://schemas.microsoft.com/office/drawing/2014/main" id="{BBE10E6A-9C59-4207-8FD9-4EFF49DBF4B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备注占位符 2">
            <a:extLst>
              <a:ext uri="{FF2B5EF4-FFF2-40B4-BE49-F238E27FC236}">
                <a16:creationId xmlns:a16="http://schemas.microsoft.com/office/drawing/2014/main" id="{CAD40DBD-155F-4ED5-81E8-E36015E1FA6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7652" name="灯片编号占位符 3">
            <a:extLst>
              <a:ext uri="{FF2B5EF4-FFF2-40B4-BE49-F238E27FC236}">
                <a16:creationId xmlns:a16="http://schemas.microsoft.com/office/drawing/2014/main" id="{B87D9E22-C9CF-4980-A378-700A558D672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5CBB66F-D005-4ABC-A2BF-F855707F8B2D}" type="slidenum">
              <a:rPr lang="zh-CN" altLang="en-US" smtClean="0"/>
              <a:pPr/>
              <a:t>28</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50000"/>
              </a:spcBef>
              <a:spcAft>
                <a:spcPct val="0"/>
              </a:spcAft>
              <a:buClr>
                <a:srgbClr val="0066CC"/>
              </a:buClr>
              <a:buSzTx/>
              <a:buFont typeface="Wingdings" panose="05000000000000000000" pitchFamily="2" charset="2"/>
              <a:buNone/>
              <a:tabLst/>
              <a:defRPr/>
            </a:pPr>
            <a:fld id="{F444F810-1253-45B3-AE2D-7766756D6BD8}" type="slidenum">
              <a:rPr kumimoji="0" lang="zh-CN" altLang="en-US" sz="1200" b="1" i="0" u="none" strike="noStrike" kern="1200" cap="none" spc="0" normalizeH="0" baseline="0" noProof="0" smtClean="0">
                <a:ln>
                  <a:noFill/>
                </a:ln>
                <a:solidFill>
                  <a:prstClr val="black"/>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
                  <a:srgbClr val="0066CC"/>
                </a:buClr>
                <a:buSzTx/>
                <a:buFont typeface="Wingdings" panose="05000000000000000000" pitchFamily="2" charset="2"/>
                <a:buNone/>
                <a:tabLst/>
                <a:defRPr/>
              </a:pPr>
              <a:t>30</a:t>
            </a:fld>
            <a:endParaRPr kumimoji="0" lang="zh-CN" altLang="en-US" sz="12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p:txBody>
      </p:sp>
    </p:spTree>
    <p:extLst>
      <p:ext uri="{BB962C8B-B14F-4D97-AF65-F5344CB8AC3E}">
        <p14:creationId xmlns:p14="http://schemas.microsoft.com/office/powerpoint/2010/main" val="4127593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7"/>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BA0259C8-C7EE-4156-9DC0-3109D38887C8}"/>
              </a:ext>
            </a:extLst>
          </p:cNvPr>
          <p:cNvSpPr>
            <a:spLocks noGrp="1"/>
          </p:cNvSpPr>
          <p:nvPr>
            <p:ph type="dt" sz="half" idx="10"/>
          </p:nvPr>
        </p:nvSpPr>
        <p:spPr/>
        <p:txBody>
          <a:bodyPr/>
          <a:lstStyle>
            <a:lvl1pPr>
              <a:defRPr/>
            </a:lvl1pPr>
          </a:lstStyle>
          <a:p>
            <a:pPr>
              <a:defRPr/>
            </a:pPr>
            <a:fld id="{053C517D-F1EF-450D-A68B-03ED621FDC53}" type="datetimeFigureOut">
              <a:rPr lang="zh-CN" altLang="en-US"/>
              <a:pPr>
                <a:defRPr/>
              </a:pPr>
              <a:t>2026/3/2</a:t>
            </a:fld>
            <a:endParaRPr lang="zh-CN" altLang="en-US"/>
          </a:p>
        </p:txBody>
      </p:sp>
      <p:sp>
        <p:nvSpPr>
          <p:cNvPr id="5" name="页脚占位符 4">
            <a:extLst>
              <a:ext uri="{FF2B5EF4-FFF2-40B4-BE49-F238E27FC236}">
                <a16:creationId xmlns:a16="http://schemas.microsoft.com/office/drawing/2014/main" id="{3C562696-FBBC-4EB8-9EBD-19EE2BB47515}"/>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C0E1A01-6584-4619-AB08-FD6FEFF096AF}"/>
              </a:ext>
            </a:extLst>
          </p:cNvPr>
          <p:cNvSpPr>
            <a:spLocks noGrp="1"/>
          </p:cNvSpPr>
          <p:nvPr>
            <p:ph type="sldNum" sz="quarter" idx="12"/>
          </p:nvPr>
        </p:nvSpPr>
        <p:spPr/>
        <p:txBody>
          <a:bodyPr/>
          <a:lstStyle>
            <a:lvl1pPr>
              <a:defRPr/>
            </a:lvl1pPr>
          </a:lstStyle>
          <a:p>
            <a:pPr>
              <a:defRPr/>
            </a:pPr>
            <a:fld id="{F4094204-A637-4043-9CC7-987AF444C4F4}" type="slidenum">
              <a:rPr lang="zh-CN" altLang="en-US"/>
              <a:pPr>
                <a:defRPr/>
              </a:pPr>
              <a:t>‹#›</a:t>
            </a:fld>
            <a:endParaRPr lang="zh-CN" altLang="en-US"/>
          </a:p>
        </p:txBody>
      </p:sp>
    </p:spTree>
    <p:extLst>
      <p:ext uri="{BB962C8B-B14F-4D97-AF65-F5344CB8AC3E}">
        <p14:creationId xmlns:p14="http://schemas.microsoft.com/office/powerpoint/2010/main" val="819006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64ECD5CD-4A9C-42BE-9B3F-0ABDA58F33AB}"/>
              </a:ext>
            </a:extLst>
          </p:cNvPr>
          <p:cNvSpPr>
            <a:spLocks noGrp="1"/>
          </p:cNvSpPr>
          <p:nvPr>
            <p:ph type="dt" sz="half" idx="10"/>
          </p:nvPr>
        </p:nvSpPr>
        <p:spPr/>
        <p:txBody>
          <a:bodyPr/>
          <a:lstStyle>
            <a:lvl1pPr>
              <a:defRPr/>
            </a:lvl1pPr>
          </a:lstStyle>
          <a:p>
            <a:pPr>
              <a:defRPr/>
            </a:pPr>
            <a:fld id="{0C08AD0D-2896-4BF3-923E-FFF8221B046F}" type="datetimeFigureOut">
              <a:rPr lang="zh-CN" altLang="en-US"/>
              <a:pPr>
                <a:defRPr/>
              </a:pPr>
              <a:t>2026/3/2</a:t>
            </a:fld>
            <a:endParaRPr lang="zh-CN" altLang="en-US"/>
          </a:p>
        </p:txBody>
      </p:sp>
      <p:sp>
        <p:nvSpPr>
          <p:cNvPr id="5" name="页脚占位符 4">
            <a:extLst>
              <a:ext uri="{FF2B5EF4-FFF2-40B4-BE49-F238E27FC236}">
                <a16:creationId xmlns:a16="http://schemas.microsoft.com/office/drawing/2014/main" id="{A3BE9E60-15CC-4A0A-B209-61423A3C2F39}"/>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944ABA8-1820-4B9B-8398-8FE5EBFF2F45}"/>
              </a:ext>
            </a:extLst>
          </p:cNvPr>
          <p:cNvSpPr>
            <a:spLocks noGrp="1"/>
          </p:cNvSpPr>
          <p:nvPr>
            <p:ph type="sldNum" sz="quarter" idx="12"/>
          </p:nvPr>
        </p:nvSpPr>
        <p:spPr/>
        <p:txBody>
          <a:bodyPr/>
          <a:lstStyle>
            <a:lvl1pPr>
              <a:defRPr/>
            </a:lvl1pPr>
          </a:lstStyle>
          <a:p>
            <a:pPr>
              <a:defRPr/>
            </a:pPr>
            <a:fld id="{5C03C437-6D35-4DF2-9DDF-16D33DE3BB70}" type="slidenum">
              <a:rPr lang="zh-CN" altLang="en-US"/>
              <a:pPr>
                <a:defRPr/>
              </a:pPr>
              <a:t>‹#›</a:t>
            </a:fld>
            <a:endParaRPr lang="zh-CN" altLang="en-US"/>
          </a:p>
        </p:txBody>
      </p:sp>
    </p:spTree>
    <p:extLst>
      <p:ext uri="{BB962C8B-B14F-4D97-AF65-F5344CB8AC3E}">
        <p14:creationId xmlns:p14="http://schemas.microsoft.com/office/powerpoint/2010/main" val="2487465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B513924-75A6-4FB4-87F0-175FBDEB6CD1}"/>
              </a:ext>
            </a:extLst>
          </p:cNvPr>
          <p:cNvSpPr>
            <a:spLocks noGrp="1"/>
          </p:cNvSpPr>
          <p:nvPr>
            <p:ph type="dt" sz="half" idx="10"/>
          </p:nvPr>
        </p:nvSpPr>
        <p:spPr/>
        <p:txBody>
          <a:bodyPr/>
          <a:lstStyle>
            <a:lvl1pPr>
              <a:defRPr/>
            </a:lvl1pPr>
          </a:lstStyle>
          <a:p>
            <a:pPr>
              <a:defRPr/>
            </a:pPr>
            <a:fld id="{413F5F9B-25E3-46A1-98D1-D8DF1644CD11}" type="datetimeFigureOut">
              <a:rPr lang="zh-CN" altLang="en-US"/>
              <a:pPr>
                <a:defRPr/>
              </a:pPr>
              <a:t>2026/3/2</a:t>
            </a:fld>
            <a:endParaRPr lang="zh-CN" altLang="en-US"/>
          </a:p>
        </p:txBody>
      </p:sp>
      <p:sp>
        <p:nvSpPr>
          <p:cNvPr id="5" name="页脚占位符 4">
            <a:extLst>
              <a:ext uri="{FF2B5EF4-FFF2-40B4-BE49-F238E27FC236}">
                <a16:creationId xmlns:a16="http://schemas.microsoft.com/office/drawing/2014/main" id="{A62A2985-7505-4F1A-88BD-AC95D4F9C358}"/>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2394F377-6737-4278-BE4F-1C7BE8311EE3}"/>
              </a:ext>
            </a:extLst>
          </p:cNvPr>
          <p:cNvSpPr>
            <a:spLocks noGrp="1"/>
          </p:cNvSpPr>
          <p:nvPr>
            <p:ph type="sldNum" sz="quarter" idx="12"/>
          </p:nvPr>
        </p:nvSpPr>
        <p:spPr/>
        <p:txBody>
          <a:bodyPr/>
          <a:lstStyle>
            <a:lvl1pPr>
              <a:defRPr/>
            </a:lvl1pPr>
          </a:lstStyle>
          <a:p>
            <a:pPr>
              <a:defRPr/>
            </a:pPr>
            <a:fld id="{6BCEA479-BF3B-473D-BBE0-F05445F3474A}" type="slidenum">
              <a:rPr lang="zh-CN" altLang="en-US"/>
              <a:pPr>
                <a:defRPr/>
              </a:pPr>
              <a:t>‹#›</a:t>
            </a:fld>
            <a:endParaRPr lang="zh-CN" altLang="en-US"/>
          </a:p>
        </p:txBody>
      </p:sp>
    </p:spTree>
    <p:extLst>
      <p:ext uri="{BB962C8B-B14F-4D97-AF65-F5344CB8AC3E}">
        <p14:creationId xmlns:p14="http://schemas.microsoft.com/office/powerpoint/2010/main" val="2867425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20880CC9-7971-4098-B87F-8480BDBD0DFD}"/>
              </a:ext>
            </a:extLst>
          </p:cNvPr>
          <p:cNvSpPr>
            <a:spLocks noGrp="1"/>
          </p:cNvSpPr>
          <p:nvPr>
            <p:ph type="dt" sz="half" idx="10"/>
          </p:nvPr>
        </p:nvSpPr>
        <p:spPr/>
        <p:txBody>
          <a:bodyPr/>
          <a:lstStyle>
            <a:lvl1pPr>
              <a:defRPr/>
            </a:lvl1pPr>
          </a:lstStyle>
          <a:p>
            <a:pPr>
              <a:defRPr/>
            </a:pPr>
            <a:fld id="{B2CBB680-830C-4A88-AF9D-51D5BB13C0CE}" type="datetimeFigureOut">
              <a:rPr lang="zh-CN" altLang="en-US"/>
              <a:pPr>
                <a:defRPr/>
              </a:pPr>
              <a:t>2026/3/2</a:t>
            </a:fld>
            <a:endParaRPr lang="zh-CN" altLang="en-US"/>
          </a:p>
        </p:txBody>
      </p:sp>
      <p:sp>
        <p:nvSpPr>
          <p:cNvPr id="6" name="页脚占位符 4">
            <a:extLst>
              <a:ext uri="{FF2B5EF4-FFF2-40B4-BE49-F238E27FC236}">
                <a16:creationId xmlns:a16="http://schemas.microsoft.com/office/drawing/2014/main" id="{2AE3D943-B121-407E-916D-9FAD9F38AE58}"/>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22CF24BB-C6B9-4C32-9E47-C86D43E7CCD0}"/>
              </a:ext>
            </a:extLst>
          </p:cNvPr>
          <p:cNvSpPr>
            <a:spLocks noGrp="1"/>
          </p:cNvSpPr>
          <p:nvPr>
            <p:ph type="sldNum" sz="quarter" idx="12"/>
          </p:nvPr>
        </p:nvSpPr>
        <p:spPr/>
        <p:txBody>
          <a:bodyPr/>
          <a:lstStyle>
            <a:lvl1pPr>
              <a:defRPr/>
            </a:lvl1pPr>
          </a:lstStyle>
          <a:p>
            <a:pPr>
              <a:defRPr/>
            </a:pPr>
            <a:fld id="{91F71099-1BE1-4EC4-99FA-0E8A4EF43A17}" type="slidenum">
              <a:rPr lang="zh-CN" altLang="en-US"/>
              <a:pPr>
                <a:defRPr/>
              </a:pPr>
              <a:t>‹#›</a:t>
            </a:fld>
            <a:endParaRPr lang="zh-CN" altLang="en-US"/>
          </a:p>
        </p:txBody>
      </p:sp>
    </p:spTree>
    <p:extLst>
      <p:ext uri="{BB962C8B-B14F-4D97-AF65-F5344CB8AC3E}">
        <p14:creationId xmlns:p14="http://schemas.microsoft.com/office/powerpoint/2010/main" val="3343344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8CE374B4-C9E2-4251-B199-E4EB7F5E42B1}"/>
              </a:ext>
            </a:extLst>
          </p:cNvPr>
          <p:cNvSpPr>
            <a:spLocks noGrp="1"/>
          </p:cNvSpPr>
          <p:nvPr>
            <p:ph type="dt" sz="half" idx="10"/>
          </p:nvPr>
        </p:nvSpPr>
        <p:spPr/>
        <p:txBody>
          <a:bodyPr/>
          <a:lstStyle>
            <a:lvl1pPr>
              <a:defRPr/>
            </a:lvl1pPr>
          </a:lstStyle>
          <a:p>
            <a:pPr>
              <a:defRPr/>
            </a:pPr>
            <a:fld id="{0D29C6AF-5792-4C28-AF80-D5340AE435B0}" type="datetimeFigureOut">
              <a:rPr lang="zh-CN" altLang="en-US"/>
              <a:pPr>
                <a:defRPr/>
              </a:pPr>
              <a:t>2026/3/2</a:t>
            </a:fld>
            <a:endParaRPr lang="zh-CN" altLang="en-US"/>
          </a:p>
        </p:txBody>
      </p:sp>
      <p:sp>
        <p:nvSpPr>
          <p:cNvPr id="8" name="页脚占位符 4">
            <a:extLst>
              <a:ext uri="{FF2B5EF4-FFF2-40B4-BE49-F238E27FC236}">
                <a16:creationId xmlns:a16="http://schemas.microsoft.com/office/drawing/2014/main" id="{E9B58D44-811D-4457-B664-5138E3841E88}"/>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0A1AC865-3AD2-427E-AFE6-3583B2CEC9B6}"/>
              </a:ext>
            </a:extLst>
          </p:cNvPr>
          <p:cNvSpPr>
            <a:spLocks noGrp="1"/>
          </p:cNvSpPr>
          <p:nvPr>
            <p:ph type="sldNum" sz="quarter" idx="12"/>
          </p:nvPr>
        </p:nvSpPr>
        <p:spPr/>
        <p:txBody>
          <a:bodyPr/>
          <a:lstStyle>
            <a:lvl1pPr>
              <a:defRPr/>
            </a:lvl1pPr>
          </a:lstStyle>
          <a:p>
            <a:pPr>
              <a:defRPr/>
            </a:pPr>
            <a:fld id="{DE48EC19-AA48-483B-9C69-7C29A53F1D62}" type="slidenum">
              <a:rPr lang="zh-CN" altLang="en-US"/>
              <a:pPr>
                <a:defRPr/>
              </a:pPr>
              <a:t>‹#›</a:t>
            </a:fld>
            <a:endParaRPr lang="zh-CN" altLang="en-US"/>
          </a:p>
        </p:txBody>
      </p:sp>
    </p:spTree>
    <p:extLst>
      <p:ext uri="{BB962C8B-B14F-4D97-AF65-F5344CB8AC3E}">
        <p14:creationId xmlns:p14="http://schemas.microsoft.com/office/powerpoint/2010/main" val="3549895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D4571941-D6AA-47A6-B45C-08C11357B850}"/>
              </a:ext>
            </a:extLst>
          </p:cNvPr>
          <p:cNvSpPr>
            <a:spLocks noGrp="1"/>
          </p:cNvSpPr>
          <p:nvPr>
            <p:ph type="dt" sz="half" idx="10"/>
          </p:nvPr>
        </p:nvSpPr>
        <p:spPr/>
        <p:txBody>
          <a:bodyPr/>
          <a:lstStyle>
            <a:lvl1pPr>
              <a:defRPr/>
            </a:lvl1pPr>
          </a:lstStyle>
          <a:p>
            <a:pPr>
              <a:defRPr/>
            </a:pPr>
            <a:fld id="{38ACEB95-638D-4867-89C1-C84FCA55FD02}" type="datetimeFigureOut">
              <a:rPr lang="zh-CN" altLang="en-US"/>
              <a:pPr>
                <a:defRPr/>
              </a:pPr>
              <a:t>2026/3/2</a:t>
            </a:fld>
            <a:endParaRPr lang="zh-CN" altLang="en-US"/>
          </a:p>
        </p:txBody>
      </p:sp>
      <p:sp>
        <p:nvSpPr>
          <p:cNvPr id="4" name="页脚占位符 4">
            <a:extLst>
              <a:ext uri="{FF2B5EF4-FFF2-40B4-BE49-F238E27FC236}">
                <a16:creationId xmlns:a16="http://schemas.microsoft.com/office/drawing/2014/main" id="{BE81DE41-E008-427E-A0EB-9D01D03BFCDB}"/>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894AE7B3-31F8-4E8C-BB75-7A3F0EC815D9}"/>
              </a:ext>
            </a:extLst>
          </p:cNvPr>
          <p:cNvSpPr>
            <a:spLocks noGrp="1"/>
          </p:cNvSpPr>
          <p:nvPr>
            <p:ph type="sldNum" sz="quarter" idx="12"/>
          </p:nvPr>
        </p:nvSpPr>
        <p:spPr/>
        <p:txBody>
          <a:bodyPr/>
          <a:lstStyle>
            <a:lvl1pPr>
              <a:defRPr/>
            </a:lvl1pPr>
          </a:lstStyle>
          <a:p>
            <a:pPr>
              <a:defRPr/>
            </a:pPr>
            <a:fld id="{3BD03AD1-CBA7-43A5-BDAB-D2A6671AEF2A}" type="slidenum">
              <a:rPr lang="zh-CN" altLang="en-US"/>
              <a:pPr>
                <a:defRPr/>
              </a:pPr>
              <a:t>‹#›</a:t>
            </a:fld>
            <a:endParaRPr lang="zh-CN" altLang="en-US"/>
          </a:p>
        </p:txBody>
      </p:sp>
    </p:spTree>
    <p:extLst>
      <p:ext uri="{BB962C8B-B14F-4D97-AF65-F5344CB8AC3E}">
        <p14:creationId xmlns:p14="http://schemas.microsoft.com/office/powerpoint/2010/main" val="2816883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182AB05-0F02-4448-AA3F-1E48E8443E8A}"/>
              </a:ext>
            </a:extLst>
          </p:cNvPr>
          <p:cNvSpPr>
            <a:spLocks noGrp="1"/>
          </p:cNvSpPr>
          <p:nvPr>
            <p:ph type="dt" sz="half" idx="10"/>
          </p:nvPr>
        </p:nvSpPr>
        <p:spPr/>
        <p:txBody>
          <a:bodyPr/>
          <a:lstStyle>
            <a:lvl1pPr>
              <a:defRPr/>
            </a:lvl1pPr>
          </a:lstStyle>
          <a:p>
            <a:pPr>
              <a:defRPr/>
            </a:pPr>
            <a:fld id="{B883964D-015F-45A6-BBB8-525A43BB96E4}" type="datetimeFigureOut">
              <a:rPr lang="zh-CN" altLang="en-US"/>
              <a:pPr>
                <a:defRPr/>
              </a:pPr>
              <a:t>2026/3/2</a:t>
            </a:fld>
            <a:endParaRPr lang="zh-CN" altLang="en-US"/>
          </a:p>
        </p:txBody>
      </p:sp>
      <p:sp>
        <p:nvSpPr>
          <p:cNvPr id="3" name="页脚占位符 4">
            <a:extLst>
              <a:ext uri="{FF2B5EF4-FFF2-40B4-BE49-F238E27FC236}">
                <a16:creationId xmlns:a16="http://schemas.microsoft.com/office/drawing/2014/main" id="{CDEBB7F7-48E2-4D51-996D-99CFA564FDC1}"/>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4A9F14A0-6B8E-4251-9D5B-A21946D8CD22}"/>
              </a:ext>
            </a:extLst>
          </p:cNvPr>
          <p:cNvSpPr>
            <a:spLocks noGrp="1"/>
          </p:cNvSpPr>
          <p:nvPr>
            <p:ph type="sldNum" sz="quarter" idx="12"/>
          </p:nvPr>
        </p:nvSpPr>
        <p:spPr/>
        <p:txBody>
          <a:bodyPr/>
          <a:lstStyle>
            <a:lvl1pPr>
              <a:defRPr/>
            </a:lvl1pPr>
          </a:lstStyle>
          <a:p>
            <a:pPr>
              <a:defRPr/>
            </a:pPr>
            <a:fld id="{DDDA8CA2-A1CB-4473-A6CD-72E4CDDC229B}" type="slidenum">
              <a:rPr lang="zh-CN" altLang="en-US"/>
              <a:pPr>
                <a:defRPr/>
              </a:pPr>
              <a:t>‹#›</a:t>
            </a:fld>
            <a:endParaRPr lang="zh-CN" altLang="en-US"/>
          </a:p>
        </p:txBody>
      </p:sp>
    </p:spTree>
    <p:extLst>
      <p:ext uri="{BB962C8B-B14F-4D97-AF65-F5344CB8AC3E}">
        <p14:creationId xmlns:p14="http://schemas.microsoft.com/office/powerpoint/2010/main" val="3325645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87165CD9-A9F8-4E14-B869-E12DC6348616}"/>
              </a:ext>
            </a:extLst>
          </p:cNvPr>
          <p:cNvSpPr>
            <a:spLocks noGrp="1"/>
          </p:cNvSpPr>
          <p:nvPr>
            <p:ph type="dt" sz="half" idx="10"/>
          </p:nvPr>
        </p:nvSpPr>
        <p:spPr/>
        <p:txBody>
          <a:bodyPr/>
          <a:lstStyle>
            <a:lvl1pPr>
              <a:defRPr/>
            </a:lvl1pPr>
          </a:lstStyle>
          <a:p>
            <a:pPr>
              <a:defRPr/>
            </a:pPr>
            <a:fld id="{B9E1E904-1879-477D-A111-3DA566B9A543}" type="datetimeFigureOut">
              <a:rPr lang="zh-CN" altLang="en-US"/>
              <a:pPr>
                <a:defRPr/>
              </a:pPr>
              <a:t>2026/3/2</a:t>
            </a:fld>
            <a:endParaRPr lang="zh-CN" altLang="en-US"/>
          </a:p>
        </p:txBody>
      </p:sp>
      <p:sp>
        <p:nvSpPr>
          <p:cNvPr id="6" name="页脚占位符 4">
            <a:extLst>
              <a:ext uri="{FF2B5EF4-FFF2-40B4-BE49-F238E27FC236}">
                <a16:creationId xmlns:a16="http://schemas.microsoft.com/office/drawing/2014/main" id="{6FEB713F-8388-465C-A6A3-E3AF8B630C3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BB7237E4-351C-408F-B400-C4ACC19C0794}"/>
              </a:ext>
            </a:extLst>
          </p:cNvPr>
          <p:cNvSpPr>
            <a:spLocks noGrp="1"/>
          </p:cNvSpPr>
          <p:nvPr>
            <p:ph type="sldNum" sz="quarter" idx="12"/>
          </p:nvPr>
        </p:nvSpPr>
        <p:spPr/>
        <p:txBody>
          <a:bodyPr/>
          <a:lstStyle>
            <a:lvl1pPr>
              <a:defRPr/>
            </a:lvl1pPr>
          </a:lstStyle>
          <a:p>
            <a:pPr>
              <a:defRPr/>
            </a:pPr>
            <a:fld id="{99DE49F4-97E0-4BE7-BD10-8E3DF8F88B7B}" type="slidenum">
              <a:rPr lang="zh-CN" altLang="en-US"/>
              <a:pPr>
                <a:defRPr/>
              </a:pPr>
              <a:t>‹#›</a:t>
            </a:fld>
            <a:endParaRPr lang="zh-CN" altLang="en-US"/>
          </a:p>
        </p:txBody>
      </p:sp>
    </p:spTree>
    <p:extLst>
      <p:ext uri="{BB962C8B-B14F-4D97-AF65-F5344CB8AC3E}">
        <p14:creationId xmlns:p14="http://schemas.microsoft.com/office/powerpoint/2010/main" val="1179324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ECA3C3AB-5D7A-472A-91E7-79B6F6C2D109}"/>
              </a:ext>
            </a:extLst>
          </p:cNvPr>
          <p:cNvSpPr>
            <a:spLocks noGrp="1"/>
          </p:cNvSpPr>
          <p:nvPr>
            <p:ph type="dt" sz="half" idx="10"/>
          </p:nvPr>
        </p:nvSpPr>
        <p:spPr/>
        <p:txBody>
          <a:bodyPr/>
          <a:lstStyle>
            <a:lvl1pPr>
              <a:defRPr/>
            </a:lvl1pPr>
          </a:lstStyle>
          <a:p>
            <a:pPr>
              <a:defRPr/>
            </a:pPr>
            <a:fld id="{E2F26D2F-F923-4410-AEB6-AD53FFFD4FFF}" type="datetimeFigureOut">
              <a:rPr lang="zh-CN" altLang="en-US"/>
              <a:pPr>
                <a:defRPr/>
              </a:pPr>
              <a:t>2026/3/2</a:t>
            </a:fld>
            <a:endParaRPr lang="zh-CN" altLang="en-US"/>
          </a:p>
        </p:txBody>
      </p:sp>
      <p:sp>
        <p:nvSpPr>
          <p:cNvPr id="6" name="页脚占位符 4">
            <a:extLst>
              <a:ext uri="{FF2B5EF4-FFF2-40B4-BE49-F238E27FC236}">
                <a16:creationId xmlns:a16="http://schemas.microsoft.com/office/drawing/2014/main" id="{5FABE7F1-1CC2-408E-B868-6C222099C0BD}"/>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E7347EC8-EAD4-4D9F-B832-88008A8D5C8D}"/>
              </a:ext>
            </a:extLst>
          </p:cNvPr>
          <p:cNvSpPr>
            <a:spLocks noGrp="1"/>
          </p:cNvSpPr>
          <p:nvPr>
            <p:ph type="sldNum" sz="quarter" idx="12"/>
          </p:nvPr>
        </p:nvSpPr>
        <p:spPr/>
        <p:txBody>
          <a:bodyPr/>
          <a:lstStyle>
            <a:lvl1pPr>
              <a:defRPr/>
            </a:lvl1pPr>
          </a:lstStyle>
          <a:p>
            <a:pPr>
              <a:defRPr/>
            </a:pPr>
            <a:fld id="{9C997849-179C-4BF5-8A5B-F91223F744E8}" type="slidenum">
              <a:rPr lang="zh-CN" altLang="en-US"/>
              <a:pPr>
                <a:defRPr/>
              </a:pPr>
              <a:t>‹#›</a:t>
            </a:fld>
            <a:endParaRPr lang="zh-CN" altLang="en-US"/>
          </a:p>
        </p:txBody>
      </p:sp>
    </p:spTree>
    <p:extLst>
      <p:ext uri="{BB962C8B-B14F-4D97-AF65-F5344CB8AC3E}">
        <p14:creationId xmlns:p14="http://schemas.microsoft.com/office/powerpoint/2010/main" val="3757372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AD7936C-15CE-4AAB-848B-6D270D7375DD}"/>
              </a:ext>
            </a:extLst>
          </p:cNvPr>
          <p:cNvSpPr>
            <a:spLocks noGrp="1"/>
          </p:cNvSpPr>
          <p:nvPr>
            <p:ph type="dt" sz="half" idx="10"/>
          </p:nvPr>
        </p:nvSpPr>
        <p:spPr/>
        <p:txBody>
          <a:bodyPr/>
          <a:lstStyle>
            <a:lvl1pPr>
              <a:defRPr/>
            </a:lvl1pPr>
          </a:lstStyle>
          <a:p>
            <a:pPr>
              <a:defRPr/>
            </a:pPr>
            <a:fld id="{B5AC7AC8-BDAF-459E-A39D-6ECCEBA31388}" type="datetimeFigureOut">
              <a:rPr lang="zh-CN" altLang="en-US"/>
              <a:pPr>
                <a:defRPr/>
              </a:pPr>
              <a:t>2026/3/2</a:t>
            </a:fld>
            <a:endParaRPr lang="zh-CN" altLang="en-US"/>
          </a:p>
        </p:txBody>
      </p:sp>
      <p:sp>
        <p:nvSpPr>
          <p:cNvPr id="5" name="页脚占位符 4">
            <a:extLst>
              <a:ext uri="{FF2B5EF4-FFF2-40B4-BE49-F238E27FC236}">
                <a16:creationId xmlns:a16="http://schemas.microsoft.com/office/drawing/2014/main" id="{EED9C6D5-B12F-401F-97BA-2B556388BCCF}"/>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22483FAA-5398-41B1-AE28-EE41BB0F15C3}"/>
              </a:ext>
            </a:extLst>
          </p:cNvPr>
          <p:cNvSpPr>
            <a:spLocks noGrp="1"/>
          </p:cNvSpPr>
          <p:nvPr>
            <p:ph type="sldNum" sz="quarter" idx="12"/>
          </p:nvPr>
        </p:nvSpPr>
        <p:spPr/>
        <p:txBody>
          <a:bodyPr/>
          <a:lstStyle>
            <a:lvl1pPr>
              <a:defRPr/>
            </a:lvl1pPr>
          </a:lstStyle>
          <a:p>
            <a:pPr>
              <a:defRPr/>
            </a:pPr>
            <a:fld id="{AA73592C-DF7F-4F25-95AD-A0D5EFEFC057}" type="slidenum">
              <a:rPr lang="zh-CN" altLang="en-US"/>
              <a:pPr>
                <a:defRPr/>
              </a:pPr>
              <a:t>‹#›</a:t>
            </a:fld>
            <a:endParaRPr lang="zh-CN" altLang="en-US"/>
          </a:p>
        </p:txBody>
      </p:sp>
    </p:spTree>
    <p:extLst>
      <p:ext uri="{BB962C8B-B14F-4D97-AF65-F5344CB8AC3E}">
        <p14:creationId xmlns:p14="http://schemas.microsoft.com/office/powerpoint/2010/main" val="579073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40"/>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894C623-0ADE-484A-BE33-E702B35822D4}"/>
              </a:ext>
            </a:extLst>
          </p:cNvPr>
          <p:cNvSpPr>
            <a:spLocks noGrp="1"/>
          </p:cNvSpPr>
          <p:nvPr>
            <p:ph type="dt" sz="half" idx="10"/>
          </p:nvPr>
        </p:nvSpPr>
        <p:spPr/>
        <p:txBody>
          <a:bodyPr/>
          <a:lstStyle>
            <a:lvl1pPr>
              <a:defRPr/>
            </a:lvl1pPr>
          </a:lstStyle>
          <a:p>
            <a:pPr>
              <a:defRPr/>
            </a:pPr>
            <a:fld id="{57DA897F-8DA0-4D46-8DD8-2287ABC8EEC1}" type="datetimeFigureOut">
              <a:rPr lang="zh-CN" altLang="en-US"/>
              <a:pPr>
                <a:defRPr/>
              </a:pPr>
              <a:t>2026/3/2</a:t>
            </a:fld>
            <a:endParaRPr lang="zh-CN" altLang="en-US"/>
          </a:p>
        </p:txBody>
      </p:sp>
      <p:sp>
        <p:nvSpPr>
          <p:cNvPr id="5" name="页脚占位符 4">
            <a:extLst>
              <a:ext uri="{FF2B5EF4-FFF2-40B4-BE49-F238E27FC236}">
                <a16:creationId xmlns:a16="http://schemas.microsoft.com/office/drawing/2014/main" id="{40C84BD7-9901-416C-95BF-36949573D301}"/>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FF5E8AF4-C2BC-4E32-9DB3-E8FB1A1C9C6C}"/>
              </a:ext>
            </a:extLst>
          </p:cNvPr>
          <p:cNvSpPr>
            <a:spLocks noGrp="1"/>
          </p:cNvSpPr>
          <p:nvPr>
            <p:ph type="sldNum" sz="quarter" idx="12"/>
          </p:nvPr>
        </p:nvSpPr>
        <p:spPr/>
        <p:txBody>
          <a:bodyPr/>
          <a:lstStyle>
            <a:lvl1pPr>
              <a:defRPr/>
            </a:lvl1pPr>
          </a:lstStyle>
          <a:p>
            <a:pPr>
              <a:defRPr/>
            </a:pPr>
            <a:fld id="{76D54C32-A54F-443A-900C-0AC299C29E82}" type="slidenum">
              <a:rPr lang="zh-CN" altLang="en-US"/>
              <a:pPr>
                <a:defRPr/>
              </a:pPr>
              <a:t>‹#›</a:t>
            </a:fld>
            <a:endParaRPr lang="zh-CN" altLang="en-US"/>
          </a:p>
        </p:txBody>
      </p:sp>
    </p:spTree>
    <p:extLst>
      <p:ext uri="{BB962C8B-B14F-4D97-AF65-F5344CB8AC3E}">
        <p14:creationId xmlns:p14="http://schemas.microsoft.com/office/powerpoint/2010/main" val="41828682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A4E221A7-0730-4633-B4BD-24B39355CC5D}"/>
              </a:ext>
            </a:extLst>
          </p:cNvPr>
          <p:cNvSpPr>
            <a:spLocks noGrp="1" noChangeArrowheads="1"/>
          </p:cNvSpPr>
          <p:nvPr>
            <p:ph type="dt" sz="half" idx="10"/>
          </p:nvPr>
        </p:nvSpPr>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78DCF6A7-B355-459E-B60A-77FF55BDCAAC}"/>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483CACA6-08B1-457A-9623-D84272E7D764}"/>
              </a:ext>
            </a:extLst>
          </p:cNvPr>
          <p:cNvSpPr>
            <a:spLocks noGrp="1" noChangeArrowheads="1"/>
          </p:cNvSpPr>
          <p:nvPr>
            <p:ph type="sldNum" sz="quarter" idx="12"/>
          </p:nvPr>
        </p:nvSpPr>
        <p:spPr/>
        <p:txBody>
          <a:bodyPr/>
          <a:lstStyle>
            <a:lvl1pPr>
              <a:defRPr/>
            </a:lvl1pPr>
          </a:lstStyle>
          <a:p>
            <a:pPr>
              <a:defRPr/>
            </a:pPr>
            <a:fld id="{97C3CAD6-A1E2-4004-850D-629E47C74569}" type="slidenum">
              <a:rPr lang="en-US" altLang="zh-CN"/>
              <a:pPr>
                <a:defRPr/>
              </a:pPr>
              <a:t>‹#›</a:t>
            </a:fld>
            <a:endParaRPr lang="en-US" altLang="zh-CN"/>
          </a:p>
        </p:txBody>
      </p:sp>
    </p:spTree>
    <p:extLst>
      <p:ext uri="{BB962C8B-B14F-4D97-AF65-F5344CB8AC3E}">
        <p14:creationId xmlns:p14="http://schemas.microsoft.com/office/powerpoint/2010/main" val="16481395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zh-CN" dirty="0"/>
          </a:p>
        </p:txBody>
      </p:sp>
      <p:sp>
        <p:nvSpPr>
          <p:cNvPr id="3" name="Footer Placeholder 2"/>
          <p:cNvSpPr>
            <a:spLocks noGrp="1"/>
          </p:cNvSpPr>
          <p:nvPr>
            <p:ph type="ftr" sz="quarter" idx="11"/>
          </p:nvPr>
        </p:nvSpPr>
        <p:spPr/>
        <p:txBody>
          <a:bodyPr/>
          <a:lstStyle/>
          <a:p>
            <a:pPr>
              <a:defRPr/>
            </a:pPr>
            <a:endParaRPr lang="en-US" altLang="zh-CN"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67545" y="6564313"/>
            <a:ext cx="702077" cy="278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descr="cquppt11.pn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6858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858000" y="0"/>
            <a:ext cx="2286000" cy="6872240"/>
          </a:xfrm>
          <a:prstGeom prst="rect">
            <a:avLst/>
          </a:prstGeom>
        </p:spPr>
      </p:pic>
    </p:spTree>
    <p:extLst>
      <p:ext uri="{BB962C8B-B14F-4D97-AF65-F5344CB8AC3E}">
        <p14:creationId xmlns:p14="http://schemas.microsoft.com/office/powerpoint/2010/main" val="222100219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016690" y="6414790"/>
            <a:ext cx="2057400" cy="365125"/>
          </a:xfrm>
        </p:spPr>
        <p:txBody>
          <a:bodyPr/>
          <a:lstStyle>
            <a:lvl1pPr>
              <a:defRPr sz="600">
                <a:solidFill>
                  <a:schemeClr val="tx1"/>
                </a:solidFill>
                <a:latin typeface="Times New Roman" panose="02020603050405020304" pitchFamily="18" charset="0"/>
                <a:cs typeface="Times New Roman" panose="02020603050405020304" pitchFamily="18" charset="0"/>
              </a:defRPr>
            </a:lvl1pPr>
          </a:lstStyle>
          <a:p>
            <a:fld id="{48F63A3B-78C7-47BE-AE5E-E10140E04643}" type="slidenum">
              <a:rPr lang="en-US" smtClean="0"/>
              <a:pPr/>
              <a:t>‹#›</a:t>
            </a:fld>
            <a:endParaRPr lang="en-US" dirty="0"/>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45389" y="260648"/>
            <a:ext cx="702077" cy="278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直线连接符 6"/>
          <p:cNvCxnSpPr/>
          <p:nvPr userDrawn="1"/>
        </p:nvCxnSpPr>
        <p:spPr bwMode="auto">
          <a:xfrm>
            <a:off x="468306" y="714422"/>
            <a:ext cx="8262156" cy="0"/>
          </a:xfrm>
          <a:prstGeom prst="line">
            <a:avLst/>
          </a:prstGeom>
          <a:solidFill>
            <a:schemeClr val="accent1"/>
          </a:solidFill>
          <a:ln w="38100" cap="flat" cmpd="sng" algn="ctr">
            <a:solidFill>
              <a:srgbClr val="0064C8"/>
            </a:solidFill>
            <a:prstDash val="solid"/>
            <a:round/>
            <a:headEnd type="none" w="med" len="med"/>
            <a:tailEnd type="none" w="med" len="med"/>
          </a:ln>
          <a:effectLst/>
        </p:spPr>
      </p:cxnSp>
    </p:spTree>
    <p:extLst>
      <p:ext uri="{BB962C8B-B14F-4D97-AF65-F5344CB8AC3E}">
        <p14:creationId xmlns:p14="http://schemas.microsoft.com/office/powerpoint/2010/main" val="343156511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图片 6">
            <a:extLst>
              <a:ext uri="{FF2B5EF4-FFF2-40B4-BE49-F238E27FC236}">
                <a16:creationId xmlns:a16="http://schemas.microsoft.com/office/drawing/2014/main" id="{C7E279F9-4D1D-41C2-B594-847DFD60A4AC}"/>
              </a:ext>
            </a:extLst>
          </p:cNvPr>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62000" y="571500"/>
            <a:ext cx="7620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标题占位符 1">
            <a:extLst>
              <a:ext uri="{FF2B5EF4-FFF2-40B4-BE49-F238E27FC236}">
                <a16:creationId xmlns:a16="http://schemas.microsoft.com/office/drawing/2014/main" id="{764418EE-8BFB-4E4C-AAF1-C4099A235923}"/>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8" name="文本占位符 2">
            <a:extLst>
              <a:ext uri="{FF2B5EF4-FFF2-40B4-BE49-F238E27FC236}">
                <a16:creationId xmlns:a16="http://schemas.microsoft.com/office/drawing/2014/main" id="{829A604F-10BF-4619-82BD-2A4750A6231C}"/>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D1BEE02-6019-452C-A6F6-3A0A8D13C996}"/>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3B7BE501-E7B6-47ED-A922-6C02EB619C18}" type="datetimeFigureOut">
              <a:rPr lang="zh-CN" altLang="en-US"/>
              <a:pPr>
                <a:defRPr/>
              </a:pPr>
              <a:t>2026/3/2</a:t>
            </a:fld>
            <a:endParaRPr lang="zh-CN" altLang="en-US"/>
          </a:p>
        </p:txBody>
      </p:sp>
      <p:sp>
        <p:nvSpPr>
          <p:cNvPr id="5" name="页脚占位符 4">
            <a:extLst>
              <a:ext uri="{FF2B5EF4-FFF2-40B4-BE49-F238E27FC236}">
                <a16:creationId xmlns:a16="http://schemas.microsoft.com/office/drawing/2014/main" id="{F7F54BB4-FEDF-41F9-BBFC-5687461F6767}"/>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A4F037EF-6145-49C6-93ED-FCFAE075395B}"/>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5F1DB772-2744-4267-A0B6-7B9C40C910D0}" type="slidenum">
              <a:rPr lang="zh-CN" altLang="en-US"/>
              <a:pPr>
                <a:defRPr/>
              </a:pPr>
              <a:t>‹#›</a:t>
            </a:fld>
            <a:endParaRPr lang="zh-CN" altLang="en-US"/>
          </a:p>
        </p:txBody>
      </p:sp>
      <p:pic>
        <p:nvPicPr>
          <p:cNvPr id="1032" name="图片 7">
            <a:extLst>
              <a:ext uri="{FF2B5EF4-FFF2-40B4-BE49-F238E27FC236}">
                <a16:creationId xmlns:a16="http://schemas.microsoft.com/office/drawing/2014/main" id="{C1A97169-7106-41F3-916B-B51B6D3967A5}"/>
              </a:ext>
            </a:extLst>
          </p:cNvPr>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387350"/>
            <a:ext cx="9144000"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36" r:id="rId1"/>
    <p:sldLayoutId id="2147483937" r:id="rId2"/>
    <p:sldLayoutId id="2147483938" r:id="rId3"/>
    <p:sldLayoutId id="2147483939" r:id="rId4"/>
    <p:sldLayoutId id="2147483940" r:id="rId5"/>
    <p:sldLayoutId id="2147483941" r:id="rId6"/>
    <p:sldLayoutId id="2147483942" r:id="rId7"/>
    <p:sldLayoutId id="2147483943" r:id="rId8"/>
    <p:sldLayoutId id="2147483944" r:id="rId9"/>
    <p:sldLayoutId id="2147483945" r:id="rId10"/>
    <p:sldLayoutId id="2147483946" r:id="rId11"/>
    <p:sldLayoutId id="2147483947"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dirty="0"/>
          </a:p>
        </p:txBody>
      </p:sp>
      <p:sp>
        <p:nvSpPr>
          <p:cNvPr id="7" name="Slide Number Placeholder 3"/>
          <p:cNvSpPr txBox="1">
            <a:spLocks/>
          </p:cNvSpPr>
          <p:nvPr userDrawn="1"/>
        </p:nvSpPr>
        <p:spPr>
          <a:xfrm>
            <a:off x="7085489" y="6597353"/>
            <a:ext cx="2057400" cy="365125"/>
          </a:xfrm>
          <a:prstGeom prst="rect">
            <a:avLst/>
          </a:prstGeom>
        </p:spPr>
        <p:txBody>
          <a:bodyPr/>
          <a:lstStyle>
            <a:defPPr>
              <a:defRPr lang="zh-CN"/>
            </a:defPPr>
            <a:lvl1pPr algn="l" rtl="0" eaLnBrk="0" fontAlgn="base" hangingPunct="0">
              <a:spcBef>
                <a:spcPct val="0"/>
              </a:spcBef>
              <a:spcAft>
                <a:spcPct val="0"/>
              </a:spcAft>
              <a:defRPr sz="2000" b="1" kern="1200">
                <a:solidFill>
                  <a:srgbClr val="FF0000"/>
                </a:solidFill>
                <a:latin typeface="Times New Roman" panose="02020603050405020304" pitchFamily="18" charset="0"/>
                <a:ea typeface="宋体" panose="02010600030101010101" pitchFamily="2" charset="-122"/>
                <a:cs typeface="Times New Roman" panose="02020603050405020304" pitchFamily="18" charset="0"/>
              </a:defRPr>
            </a:lvl1pPr>
            <a:lvl2pPr marL="4572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9pPr>
          </a:lstStyle>
          <a:p>
            <a:pPr algn="r"/>
            <a:fld id="{48F63A3B-78C7-47BE-AE5E-E10140E04643}" type="slidenum">
              <a:rPr lang="en-US" sz="750" smtClean="0">
                <a:solidFill>
                  <a:schemeClr val="tx1"/>
                </a:solidFill>
              </a:rPr>
              <a:pPr algn="r"/>
              <a:t>‹#›</a:t>
            </a:fld>
            <a:endParaRPr lang="en-US" sz="750" dirty="0">
              <a:solidFill>
                <a:schemeClr val="tx1"/>
              </a:solidFill>
            </a:endParaRPr>
          </a:p>
        </p:txBody>
      </p:sp>
    </p:spTree>
    <p:extLst>
      <p:ext uri="{BB962C8B-B14F-4D97-AF65-F5344CB8AC3E}">
        <p14:creationId xmlns:p14="http://schemas.microsoft.com/office/powerpoint/2010/main" val="750114188"/>
      </p:ext>
    </p:extLst>
  </p:cSld>
  <p:clrMap bg1="lt1" tx1="dk1" bg2="lt2" tx2="dk2" accent1="accent1" accent2="accent2" accent3="accent3" accent4="accent4" accent5="accent5" accent6="accent6" hlink="hlink" folHlink="folHlink"/>
  <p:sldLayoutIdLst>
    <p:sldLayoutId id="2147483949" r:id="rId1"/>
    <p:sldLayoutId id="2147483950" r:id="rId2"/>
  </p:sldLayoutIdLst>
  <p:transition>
    <p:fade/>
  </p:transition>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jpe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hyperlink" Target="http://www.cs.cmu.edu/~epxing/Class/10701/index.html" TargetMode="Externa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mailto:chenziyu@cqu.edu.cn"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hyperlink" Target="http://cs.nju.edu.cn/zhouzh/"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27.jpeg"/><Relationship Id="rId13" Type="http://schemas.openxmlformats.org/officeDocument/2006/relationships/image" Target="../media/image32.jpeg"/><Relationship Id="rId3" Type="http://schemas.openxmlformats.org/officeDocument/2006/relationships/image" Target="../media/image22.jpeg"/><Relationship Id="rId7" Type="http://schemas.openxmlformats.org/officeDocument/2006/relationships/image" Target="../media/image26.jpeg"/><Relationship Id="rId12" Type="http://schemas.openxmlformats.org/officeDocument/2006/relationships/image" Target="../media/image31.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5.jpeg"/><Relationship Id="rId11" Type="http://schemas.openxmlformats.org/officeDocument/2006/relationships/image" Target="../media/image30.jpeg"/><Relationship Id="rId5" Type="http://schemas.openxmlformats.org/officeDocument/2006/relationships/image" Target="../media/image24.png"/><Relationship Id="rId10" Type="http://schemas.openxmlformats.org/officeDocument/2006/relationships/image" Target="../media/image29.jpeg"/><Relationship Id="rId4" Type="http://schemas.openxmlformats.org/officeDocument/2006/relationships/image" Target="../media/image23.jpeg"/><Relationship Id="rId9" Type="http://schemas.openxmlformats.org/officeDocument/2006/relationships/image" Target="../media/image28.jpeg"/><Relationship Id="rId14" Type="http://schemas.openxmlformats.org/officeDocument/2006/relationships/image" Target="../media/image33.jpeg"/></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8.png"/><Relationship Id="rId4" Type="http://schemas.openxmlformats.org/officeDocument/2006/relationships/notesSlide" Target="../notesSlides/notesSlide1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3">
            <a:extLst>
              <a:ext uri="{FF2B5EF4-FFF2-40B4-BE49-F238E27FC236}">
                <a16:creationId xmlns:a16="http://schemas.microsoft.com/office/drawing/2014/main" id="{010FA458-7200-4009-A108-DFB16957AE27}"/>
              </a:ext>
            </a:extLst>
          </p:cNvPr>
          <p:cNvSpPr>
            <a:spLocks noGrp="1"/>
          </p:cNvSpPr>
          <p:nvPr>
            <p:ph type="sldNum" sz="quarter" idx="12"/>
          </p:nvPr>
        </p:nvSpPr>
        <p:spPr bwMode="auto">
          <a:xfrm>
            <a:off x="6578600" y="63023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5FBF6100-4DD5-48A8-90C7-8C1632C7AE22}" type="slidenum">
              <a:rPr kumimoji="1" lang="en-US" altLang="zh-CN" sz="1400" smtClean="0">
                <a:latin typeface="Times New Roman" panose="02020603050405020304" pitchFamily="18" charset="0"/>
              </a:rPr>
              <a:pPr>
                <a:spcBef>
                  <a:spcPct val="0"/>
                </a:spcBef>
                <a:buFontTx/>
                <a:buNone/>
              </a:pPr>
              <a:t>1</a:t>
            </a:fld>
            <a:endParaRPr kumimoji="1" lang="en-US" altLang="zh-CN" sz="1400">
              <a:latin typeface="Times New Roman" panose="02020603050405020304" pitchFamily="18" charset="0"/>
            </a:endParaRPr>
          </a:p>
        </p:txBody>
      </p:sp>
      <p:sp>
        <p:nvSpPr>
          <p:cNvPr id="94211" name="Text Box 3">
            <a:extLst>
              <a:ext uri="{FF2B5EF4-FFF2-40B4-BE49-F238E27FC236}">
                <a16:creationId xmlns:a16="http://schemas.microsoft.com/office/drawing/2014/main" id="{1180118F-0F9B-44F4-8C1A-78D508EB7A89}"/>
              </a:ext>
            </a:extLst>
          </p:cNvPr>
          <p:cNvSpPr txBox="1">
            <a:spLocks noChangeArrowheads="1"/>
          </p:cNvSpPr>
          <p:nvPr/>
        </p:nvSpPr>
        <p:spPr bwMode="auto">
          <a:xfrm>
            <a:off x="468313" y="3573463"/>
            <a:ext cx="822960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kumimoji="1" lang="zh-CN" altLang="en-US" sz="4000" b="1">
                <a:latin typeface="宋体" panose="02010600030101010101" pitchFamily="2" charset="-122"/>
              </a:rPr>
              <a:t>课程介绍</a:t>
            </a:r>
            <a:endParaRPr kumimoji="1" lang="zh-CN" altLang="en-US" sz="3600" b="1">
              <a:latin typeface="楷体_GB2312"/>
              <a:ea typeface="楷体_GB2312"/>
              <a:cs typeface="楷体_GB2312"/>
            </a:endParaRPr>
          </a:p>
        </p:txBody>
      </p:sp>
      <p:sp>
        <p:nvSpPr>
          <p:cNvPr id="5124" name="Text Box 4">
            <a:extLst>
              <a:ext uri="{FF2B5EF4-FFF2-40B4-BE49-F238E27FC236}">
                <a16:creationId xmlns:a16="http://schemas.microsoft.com/office/drawing/2014/main" id="{84260868-6AAC-43C8-A32C-83B235E5F9F0}"/>
              </a:ext>
            </a:extLst>
          </p:cNvPr>
          <p:cNvSpPr txBox="1">
            <a:spLocks noChangeArrowheads="1"/>
          </p:cNvSpPr>
          <p:nvPr/>
        </p:nvSpPr>
        <p:spPr bwMode="auto">
          <a:xfrm>
            <a:off x="457200" y="1736725"/>
            <a:ext cx="8229600"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kumimoji="1" lang="en-US" altLang="zh-CN" sz="4400" b="1" dirty="0">
                <a:latin typeface="Monotype Corsiva" panose="03010101010201010101" pitchFamily="66" charset="0"/>
              </a:rPr>
              <a:t>《</a:t>
            </a:r>
            <a:r>
              <a:rPr kumimoji="1" lang="zh-CN" altLang="en-US" sz="4400" b="1" dirty="0">
                <a:latin typeface="Monotype Corsiva" panose="03010101010201010101" pitchFamily="66" charset="0"/>
              </a:rPr>
              <a:t>机器学习</a:t>
            </a:r>
            <a:r>
              <a:rPr kumimoji="1" lang="en-US" altLang="zh-CN" sz="4400" b="1" dirty="0">
                <a:latin typeface="Monotype Corsiva" panose="03010101010201010101" pitchFamily="66" charset="0"/>
              </a:rPr>
              <a:t>》</a:t>
            </a:r>
            <a:br>
              <a:rPr kumimoji="1" lang="en-US" altLang="zh-CN" sz="4400" b="1" dirty="0">
                <a:latin typeface="Monotype Corsiva" panose="03010101010201010101" pitchFamily="66" charset="0"/>
              </a:rPr>
            </a:br>
            <a:r>
              <a:rPr kumimoji="1" lang="en-US" altLang="zh-CN" sz="4400" b="1" dirty="0">
                <a:latin typeface="Monotype Corsiva" panose="03010101010201010101" pitchFamily="66" charset="0"/>
              </a:rPr>
              <a:t>Machine Learning</a:t>
            </a:r>
          </a:p>
        </p:txBody>
      </p:sp>
      <p:sp>
        <p:nvSpPr>
          <p:cNvPr id="5125" name="Text Box 18">
            <a:extLst>
              <a:ext uri="{FF2B5EF4-FFF2-40B4-BE49-F238E27FC236}">
                <a16:creationId xmlns:a16="http://schemas.microsoft.com/office/drawing/2014/main" id="{D2CB22B5-00BE-49EC-93A1-107A76F4713F}"/>
              </a:ext>
            </a:extLst>
          </p:cNvPr>
          <p:cNvSpPr txBox="1">
            <a:spLocks noChangeArrowheads="1"/>
          </p:cNvSpPr>
          <p:nvPr/>
        </p:nvSpPr>
        <p:spPr bwMode="auto">
          <a:xfrm>
            <a:off x="468313" y="4941888"/>
            <a:ext cx="82296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GB" sz="2800" b="1">
                <a:latin typeface="楷体" panose="02010609060101010101" pitchFamily="49" charset="-122"/>
                <a:ea typeface="楷体" panose="02010609060101010101" pitchFamily="49" charset="-122"/>
                <a:cs typeface="楷体_GB2312"/>
              </a:rPr>
              <a:t>重庆大学计算机学院</a:t>
            </a:r>
            <a:endParaRPr kumimoji="1" lang="en-US" altLang="zh-CN" sz="2800" b="1">
              <a:latin typeface="楷体" panose="02010609060101010101" pitchFamily="49" charset="-122"/>
              <a:ea typeface="楷体" panose="02010609060101010101" pitchFamily="49" charset="-122"/>
              <a:cs typeface="楷体_GB2312"/>
            </a:endParaRPr>
          </a:p>
          <a:p>
            <a:pPr algn="ctr" eaLnBrk="1" hangingPunct="1">
              <a:spcBef>
                <a:spcPct val="0"/>
              </a:spcBef>
              <a:buFontTx/>
              <a:buNone/>
            </a:pPr>
            <a:r>
              <a:rPr kumimoji="1" lang="zh-CN" altLang="en-US" sz="2800" b="1">
                <a:latin typeface="楷体" panose="02010609060101010101" pitchFamily="49" charset="-122"/>
                <a:ea typeface="楷体" panose="02010609060101010101" pitchFamily="49" charset="-122"/>
                <a:cs typeface="楷体_GB2312"/>
              </a:rPr>
              <a:t>陈自郁</a:t>
            </a:r>
            <a:endParaRPr kumimoji="1" lang="en-US" altLang="zh-CN" sz="2800" b="1">
              <a:latin typeface="楷体" panose="02010609060101010101" pitchFamily="49" charset="-122"/>
              <a:ea typeface="楷体" panose="02010609060101010101" pitchFamily="49" charset="-122"/>
              <a:cs typeface="楷体_GB2312"/>
            </a:endParaRPr>
          </a:p>
        </p:txBody>
      </p:sp>
      <p:sp>
        <p:nvSpPr>
          <p:cNvPr id="3" name="文本框 2">
            <a:extLst>
              <a:ext uri="{FF2B5EF4-FFF2-40B4-BE49-F238E27FC236}">
                <a16:creationId xmlns:a16="http://schemas.microsoft.com/office/drawing/2014/main" id="{22108A18-1572-D342-7148-3EDEEDDCA642}"/>
              </a:ext>
            </a:extLst>
          </p:cNvPr>
          <p:cNvSpPr txBox="1"/>
          <p:nvPr/>
        </p:nvSpPr>
        <p:spPr>
          <a:xfrm>
            <a:off x="1763688" y="929773"/>
            <a:ext cx="6228184" cy="584775"/>
          </a:xfrm>
          <a:prstGeom prst="rect">
            <a:avLst/>
          </a:prstGeom>
          <a:noFill/>
        </p:spPr>
        <p:txBody>
          <a:bodyPr wrap="square">
            <a:spAutoFit/>
          </a:bodyPr>
          <a:lstStyle/>
          <a:p>
            <a:r>
              <a:rPr lang="zh-CN" altLang="en-US" sz="3200" b="1" dirty="0"/>
              <a:t>重庆大学计算机专业核心课程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4211"/>
                                        </p:tgtEl>
                                        <p:attrNameLst>
                                          <p:attrName>style.visibility</p:attrName>
                                        </p:attrNameLst>
                                      </p:cBhvr>
                                      <p:to>
                                        <p:strVal val="visible"/>
                                      </p:to>
                                    </p:set>
                                    <p:animEffect transition="in" filter="box(in)">
                                      <p:cBhvr>
                                        <p:cTn id="7" dur="500"/>
                                        <p:tgtEl>
                                          <p:spTgt spid="94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8260EBA5-E936-48D5-8B3A-0161C54E5671}"/>
              </a:ext>
            </a:extLst>
          </p:cNvPr>
          <p:cNvSpPr/>
          <p:nvPr/>
        </p:nvSpPr>
        <p:spPr>
          <a:xfrm>
            <a:off x="899592" y="1495984"/>
            <a:ext cx="1762021" cy="461665"/>
          </a:xfrm>
          <a:prstGeom prst="rect">
            <a:avLst/>
          </a:prstGeom>
        </p:spPr>
        <p:txBody>
          <a:bodyPr wrap="none">
            <a:spAutoFit/>
          </a:bodyPr>
          <a:lstStyle/>
          <a:p>
            <a:pPr marL="342900" indent="-342900" eaLnBrk="1" hangingPunct="1">
              <a:spcBef>
                <a:spcPct val="50000"/>
              </a:spcBef>
              <a:buClr>
                <a:srgbClr val="FF0000"/>
              </a:buClr>
              <a:buFont typeface="Wingdings" panose="05000000000000000000" pitchFamily="2" charset="2"/>
              <a:buChar char="p"/>
            </a:pPr>
            <a:r>
              <a:rPr kumimoji="1" lang="zh-CN" altLang="en-US" sz="2400" b="1" dirty="0">
                <a:latin typeface="楷体" panose="02010609060101010101" pitchFamily="49" charset="-122"/>
                <a:ea typeface="楷体" panose="02010609060101010101" pitchFamily="49" charset="-122"/>
              </a:rPr>
              <a:t>基本信息</a:t>
            </a:r>
          </a:p>
        </p:txBody>
      </p:sp>
      <p:sp>
        <p:nvSpPr>
          <p:cNvPr id="21" name="文本框 20">
            <a:extLst>
              <a:ext uri="{FF2B5EF4-FFF2-40B4-BE49-F238E27FC236}">
                <a16:creationId xmlns:a16="http://schemas.microsoft.com/office/drawing/2014/main" id="{D5F00E41-921B-4B0A-A14B-559E86573407}"/>
              </a:ext>
            </a:extLst>
          </p:cNvPr>
          <p:cNvSpPr txBox="1"/>
          <p:nvPr/>
        </p:nvSpPr>
        <p:spPr>
          <a:xfrm>
            <a:off x="1331640" y="1964342"/>
            <a:ext cx="7128792" cy="2617640"/>
          </a:xfrm>
          <a:prstGeom prst="rect">
            <a:avLst/>
          </a:prstGeom>
          <a:noFill/>
        </p:spPr>
        <p:txBody>
          <a:bodyPr wrap="square" rtlCol="0">
            <a:spAutoFit/>
          </a:bodyPr>
          <a:lstStyle/>
          <a:p>
            <a:pPr marL="257175" indent="-257175">
              <a:lnSpc>
                <a:spcPct val="150000"/>
              </a:lnSpc>
              <a:spcBef>
                <a:spcPts val="0"/>
              </a:spcBef>
              <a:buClr>
                <a:srgbClr val="FF0000"/>
              </a:buClr>
              <a:buFont typeface="Wingdings" panose="05000000000000000000" pitchFamily="2" charset="2"/>
              <a:buChar char="n"/>
            </a:pPr>
            <a:r>
              <a:rPr kumimoji="1" lang="zh-CN" altLang="en-US" sz="2400" b="1" dirty="0">
                <a:latin typeface="楷体" panose="02010609060101010101" pitchFamily="49" charset="-122"/>
                <a:ea typeface="楷体" panose="02010609060101010101" pitchFamily="49" charset="-122"/>
              </a:rPr>
              <a:t>课程名称：</a:t>
            </a:r>
            <a:r>
              <a:rPr lang="zh-CN" altLang="en-US" sz="2200" dirty="0">
                <a:solidFill>
                  <a:srgbClr val="003399"/>
                </a:solidFill>
                <a:latin typeface="楷体" panose="02010609060101010101" pitchFamily="49" charset="-122"/>
                <a:ea typeface="楷体" panose="02010609060101010101" pitchFamily="49" charset="-122"/>
                <a:cs typeface="Times New Roman" panose="02020603050405020304" pitchFamily="18" charset="0"/>
              </a:rPr>
              <a:t>机器学习</a:t>
            </a:r>
            <a:endParaRPr lang="en-US" altLang="zh-CN" sz="2200" dirty="0">
              <a:solidFill>
                <a:srgbClr val="003399"/>
              </a:solidFill>
              <a:latin typeface="楷体" panose="02010609060101010101" pitchFamily="49" charset="-122"/>
              <a:ea typeface="楷体" panose="02010609060101010101" pitchFamily="49" charset="-122"/>
              <a:cs typeface="Times New Roman" panose="02020603050405020304" pitchFamily="18" charset="0"/>
            </a:endParaRPr>
          </a:p>
          <a:p>
            <a:pPr marL="257175" indent="-257175">
              <a:lnSpc>
                <a:spcPct val="150000"/>
              </a:lnSpc>
              <a:spcBef>
                <a:spcPts val="0"/>
              </a:spcBef>
              <a:buClr>
                <a:srgbClr val="FF0000"/>
              </a:buClr>
              <a:buFont typeface="Wingdings" panose="05000000000000000000" pitchFamily="2" charset="2"/>
              <a:buChar char="n"/>
            </a:pPr>
            <a:r>
              <a:rPr lang="zh-CN" altLang="en-US" sz="2200" dirty="0">
                <a:latin typeface="楷体" panose="02010609060101010101" pitchFamily="49" charset="-122"/>
                <a:ea typeface="楷体" panose="02010609060101010101" pitchFamily="49" charset="-122"/>
                <a:cs typeface="Times New Roman" panose="02020603050405020304" pitchFamily="18" charset="0"/>
              </a:rPr>
              <a:t>学时学分</a:t>
            </a:r>
            <a:r>
              <a:rPr lang="zh-CN" altLang="en-US" sz="2200" dirty="0">
                <a:solidFill>
                  <a:srgbClr val="003399"/>
                </a:solidFill>
                <a:latin typeface="楷体" panose="02010609060101010101" pitchFamily="49" charset="-122"/>
                <a:ea typeface="楷体" panose="02010609060101010101" pitchFamily="49" charset="-122"/>
                <a:cs typeface="Times New Roman" panose="02020603050405020304" pitchFamily="18" charset="0"/>
              </a:rPr>
              <a:t>：</a:t>
            </a:r>
            <a:r>
              <a:rPr lang="en-US" altLang="zh-CN" sz="22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3</a:t>
            </a:r>
            <a:r>
              <a:rPr lang="zh-CN" altLang="en-US" sz="2200" dirty="0">
                <a:solidFill>
                  <a:srgbClr val="003399"/>
                </a:solidFill>
                <a:latin typeface="楷体" panose="02010609060101010101" pitchFamily="49" charset="-122"/>
                <a:ea typeface="楷体" panose="02010609060101010101" pitchFamily="49" charset="-122"/>
                <a:cs typeface="Times New Roman" panose="02020603050405020304" pitchFamily="18" charset="0"/>
              </a:rPr>
              <a:t>学分，</a:t>
            </a:r>
            <a:r>
              <a:rPr lang="en-US" altLang="zh-CN" sz="22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56</a:t>
            </a:r>
            <a:r>
              <a:rPr lang="zh-CN" altLang="en-US" sz="2200" dirty="0">
                <a:solidFill>
                  <a:srgbClr val="003399"/>
                </a:solidFill>
                <a:latin typeface="楷体" panose="02010609060101010101" pitchFamily="49" charset="-122"/>
                <a:ea typeface="楷体" panose="02010609060101010101" pitchFamily="49" charset="-122"/>
                <a:cs typeface="Times New Roman" panose="02020603050405020304" pitchFamily="18" charset="0"/>
              </a:rPr>
              <a:t>学时</a:t>
            </a:r>
            <a:r>
              <a:rPr lang="zh-CN" altLang="en-US" sz="2200" dirty="0">
                <a:latin typeface="楷体" panose="02010609060101010101" pitchFamily="49" charset="-122"/>
                <a:ea typeface="楷体" panose="02010609060101010101" pitchFamily="49" charset="-122"/>
                <a:cs typeface="Times New Roman" panose="02020603050405020304" pitchFamily="18" charset="0"/>
              </a:rPr>
              <a:t>（其中：理论</a:t>
            </a:r>
            <a:r>
              <a:rPr lang="en-US" altLang="zh-CN" sz="22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40</a:t>
            </a:r>
            <a:r>
              <a:rPr lang="zh-CN" altLang="en-US" sz="2200" dirty="0">
                <a:solidFill>
                  <a:srgbClr val="003399"/>
                </a:solidFill>
                <a:latin typeface="楷体" panose="02010609060101010101" pitchFamily="49" charset="-122"/>
                <a:ea typeface="楷体" panose="02010609060101010101" pitchFamily="49" charset="-122"/>
                <a:cs typeface="Times New Roman" panose="02020603050405020304" pitchFamily="18" charset="0"/>
              </a:rPr>
              <a:t>学时</a:t>
            </a:r>
            <a:r>
              <a:rPr lang="zh-CN" altLang="en-US" sz="2200" dirty="0">
                <a:latin typeface="楷体" panose="02010609060101010101" pitchFamily="49" charset="-122"/>
                <a:ea typeface="楷体" panose="02010609060101010101" pitchFamily="49" charset="-122"/>
                <a:cs typeface="Times New Roman" panose="02020603050405020304" pitchFamily="18" charset="0"/>
              </a:rPr>
              <a:t>、实验课</a:t>
            </a:r>
            <a:r>
              <a:rPr lang="en-US" altLang="zh-CN" sz="22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16</a:t>
            </a:r>
            <a:r>
              <a:rPr lang="zh-CN" altLang="en-US" sz="2200" dirty="0">
                <a:solidFill>
                  <a:srgbClr val="003399"/>
                </a:solidFill>
                <a:latin typeface="楷体" panose="02010609060101010101" pitchFamily="49" charset="-122"/>
                <a:ea typeface="楷体" panose="02010609060101010101" pitchFamily="49" charset="-122"/>
                <a:cs typeface="Times New Roman" panose="02020603050405020304" pitchFamily="18" charset="0"/>
              </a:rPr>
              <a:t>学时</a:t>
            </a:r>
            <a:r>
              <a:rPr lang="zh-CN" altLang="en-US" sz="2200" dirty="0">
                <a:latin typeface="楷体" panose="02010609060101010101" pitchFamily="49" charset="-122"/>
                <a:ea typeface="楷体" panose="02010609060101010101" pitchFamily="49" charset="-122"/>
                <a:cs typeface="Times New Roman" panose="02020603050405020304" pitchFamily="18" charset="0"/>
              </a:rPr>
              <a:t>）</a:t>
            </a:r>
            <a:endParaRPr lang="en-US" altLang="zh-CN" sz="2200" dirty="0">
              <a:latin typeface="楷体" panose="02010609060101010101" pitchFamily="49" charset="-122"/>
              <a:ea typeface="楷体" panose="02010609060101010101" pitchFamily="49" charset="-122"/>
              <a:cs typeface="Times New Roman" panose="02020603050405020304" pitchFamily="18" charset="0"/>
            </a:endParaRPr>
          </a:p>
          <a:p>
            <a:pPr marL="257175" indent="-257175">
              <a:lnSpc>
                <a:spcPct val="150000"/>
              </a:lnSpc>
              <a:spcBef>
                <a:spcPts val="0"/>
              </a:spcBef>
              <a:buClr>
                <a:srgbClr val="FF0000"/>
              </a:buClr>
              <a:buFont typeface="Wingdings" panose="05000000000000000000" pitchFamily="2" charset="2"/>
              <a:buChar char="n"/>
            </a:pPr>
            <a:r>
              <a:rPr lang="zh-CN" altLang="en-US" sz="2200" dirty="0">
                <a:latin typeface="楷体" panose="02010609060101010101" pitchFamily="49" charset="-122"/>
                <a:ea typeface="楷体" panose="02010609060101010101" pitchFamily="49" charset="-122"/>
                <a:cs typeface="Times New Roman" panose="02020603050405020304" pitchFamily="18" charset="0"/>
              </a:rPr>
              <a:t>课程性质：</a:t>
            </a:r>
            <a:r>
              <a:rPr lang="zh-CN" altLang="en-US" sz="2200" dirty="0">
                <a:solidFill>
                  <a:srgbClr val="003399"/>
                </a:solidFill>
                <a:latin typeface="楷体" panose="02010609060101010101" pitchFamily="49" charset="-122"/>
                <a:ea typeface="楷体" panose="02010609060101010101" pitchFamily="49" charset="-122"/>
                <a:cs typeface="Times New Roman" panose="02020603050405020304" pitchFamily="18" charset="0"/>
              </a:rPr>
              <a:t>专业课必修课</a:t>
            </a:r>
            <a:endParaRPr lang="en-US" altLang="zh-CN" sz="2200" dirty="0">
              <a:solidFill>
                <a:srgbClr val="003399"/>
              </a:solidFill>
              <a:latin typeface="楷体" panose="02010609060101010101" pitchFamily="49" charset="-122"/>
              <a:ea typeface="楷体" panose="02010609060101010101" pitchFamily="49" charset="-122"/>
              <a:cs typeface="Times New Roman" panose="02020603050405020304" pitchFamily="18" charset="0"/>
            </a:endParaRPr>
          </a:p>
          <a:p>
            <a:pPr marL="257175" indent="-257175">
              <a:lnSpc>
                <a:spcPct val="150000"/>
              </a:lnSpc>
              <a:spcBef>
                <a:spcPts val="0"/>
              </a:spcBef>
              <a:buClr>
                <a:srgbClr val="FF0000"/>
              </a:buClr>
              <a:buFont typeface="Wingdings" panose="05000000000000000000" pitchFamily="2" charset="2"/>
              <a:buChar char="n"/>
            </a:pPr>
            <a:r>
              <a:rPr lang="zh-CN" altLang="en-US" sz="2200" dirty="0">
                <a:latin typeface="楷体" panose="02010609060101010101" pitchFamily="49" charset="-122"/>
                <a:ea typeface="楷体" panose="02010609060101010101" pitchFamily="49" charset="-122"/>
                <a:cs typeface="Times New Roman" panose="02020603050405020304" pitchFamily="18" charset="0"/>
              </a:rPr>
              <a:t>适合专业：计算机科学与技术、信息安全</a:t>
            </a:r>
            <a:endParaRPr lang="en-US" altLang="zh-CN" sz="220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26" name="文本框 25"/>
          <p:cNvSpPr txBox="1"/>
          <p:nvPr/>
        </p:nvSpPr>
        <p:spPr>
          <a:xfrm>
            <a:off x="821318" y="763015"/>
            <a:ext cx="1950481" cy="523220"/>
          </a:xfrm>
          <a:prstGeom prst="rect">
            <a:avLst/>
          </a:prstGeom>
          <a:noFill/>
        </p:spPr>
        <p:txBody>
          <a:bodyPr wrap="square" rtlCol="0">
            <a:spAutoFit/>
          </a:bodyPr>
          <a:lstStyle/>
          <a:p>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教学大纲</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39684055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8260EBA5-E936-48D5-8B3A-0161C54E5671}"/>
              </a:ext>
            </a:extLst>
          </p:cNvPr>
          <p:cNvSpPr/>
          <p:nvPr/>
        </p:nvSpPr>
        <p:spPr>
          <a:xfrm>
            <a:off x="827584" y="1338877"/>
            <a:ext cx="1762021" cy="461665"/>
          </a:xfrm>
          <a:prstGeom prst="rect">
            <a:avLst/>
          </a:prstGeom>
        </p:spPr>
        <p:txBody>
          <a:bodyPr wrap="none">
            <a:spAutoFit/>
          </a:bodyPr>
          <a:lstStyle/>
          <a:p>
            <a:pPr marL="342900" indent="-342900" eaLnBrk="1" hangingPunct="1">
              <a:spcBef>
                <a:spcPct val="50000"/>
              </a:spcBef>
              <a:buClr>
                <a:srgbClr val="FF0000"/>
              </a:buClr>
              <a:buFont typeface="Wingdings" panose="05000000000000000000" pitchFamily="2" charset="2"/>
              <a:buChar char="p"/>
            </a:pPr>
            <a:r>
              <a:rPr kumimoji="1" lang="zh-CN" altLang="en-US" sz="2400" b="1" dirty="0">
                <a:latin typeface="楷体" panose="02010609060101010101" pitchFamily="49" charset="-122"/>
                <a:ea typeface="楷体" panose="02010609060101010101" pitchFamily="49" charset="-122"/>
              </a:rPr>
              <a:t>采用教材</a:t>
            </a:r>
          </a:p>
        </p:txBody>
      </p:sp>
      <p:sp>
        <p:nvSpPr>
          <p:cNvPr id="26" name="文本框 25"/>
          <p:cNvSpPr txBox="1"/>
          <p:nvPr/>
        </p:nvSpPr>
        <p:spPr>
          <a:xfrm>
            <a:off x="683568" y="655454"/>
            <a:ext cx="1710725" cy="523220"/>
          </a:xfrm>
          <a:prstGeom prst="rect">
            <a:avLst/>
          </a:prstGeom>
          <a:noFill/>
        </p:spPr>
        <p:txBody>
          <a:bodyPr wrap="none" rtlCol="0">
            <a:spAutoFit/>
          </a:bodyPr>
          <a:lstStyle/>
          <a:p>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教学大纲</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AutoShape 2" descr="https://img14.360buyimg.com/n0/jfs/t1/183313/1/11039/331116/60d42966Eb1320178/ef6628487a98583b.jpg.avif"/>
          <p:cNvSpPr>
            <a:spLocks noChangeAspect="1" noChangeArrowheads="1"/>
          </p:cNvSpPr>
          <p:nvPr/>
        </p:nvSpPr>
        <p:spPr bwMode="auto">
          <a:xfrm>
            <a:off x="116681" y="74890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zh-CN" altLang="en-US"/>
          </a:p>
        </p:txBody>
      </p:sp>
      <p:pic>
        <p:nvPicPr>
          <p:cNvPr id="11" name="图片 10">
            <a:extLst>
              <a:ext uri="{FF2B5EF4-FFF2-40B4-BE49-F238E27FC236}">
                <a16:creationId xmlns:a16="http://schemas.microsoft.com/office/drawing/2014/main" id="{BD94CDEF-5302-4487-89C3-1CD053036DE4}"/>
              </a:ext>
            </a:extLst>
          </p:cNvPr>
          <p:cNvPicPr>
            <a:picLocks noChangeAspect="1"/>
          </p:cNvPicPr>
          <p:nvPr/>
        </p:nvPicPr>
        <p:blipFill>
          <a:blip r:embed="rId3"/>
          <a:stretch>
            <a:fillRect/>
          </a:stretch>
        </p:blipFill>
        <p:spPr>
          <a:xfrm>
            <a:off x="953598" y="2024844"/>
            <a:ext cx="2592288" cy="2612153"/>
          </a:xfrm>
          <a:prstGeom prst="rect">
            <a:avLst/>
          </a:prstGeom>
        </p:spPr>
      </p:pic>
      <p:sp>
        <p:nvSpPr>
          <p:cNvPr id="13" name="文本框 12">
            <a:extLst>
              <a:ext uri="{FF2B5EF4-FFF2-40B4-BE49-F238E27FC236}">
                <a16:creationId xmlns:a16="http://schemas.microsoft.com/office/drawing/2014/main" id="{8AA9ACCC-FC04-41C9-B053-E33C24AEE644}"/>
              </a:ext>
            </a:extLst>
          </p:cNvPr>
          <p:cNvSpPr txBox="1"/>
          <p:nvPr/>
        </p:nvSpPr>
        <p:spPr>
          <a:xfrm>
            <a:off x="539552" y="4703242"/>
            <a:ext cx="3996443" cy="1477328"/>
          </a:xfrm>
          <a:prstGeom prst="rect">
            <a:avLst/>
          </a:prstGeom>
          <a:noFill/>
        </p:spPr>
        <p:txBody>
          <a:bodyPr wrap="square">
            <a:spAutoFit/>
          </a:bodyPr>
          <a:lstStyle/>
          <a:p>
            <a:pPr eaLnBrk="1" hangingPunct="1">
              <a:spcBef>
                <a:spcPct val="50000"/>
              </a:spcBef>
            </a:pPr>
            <a:r>
              <a:rPr lang="zh-CN" altLang="en-US" b="1" dirty="0">
                <a:solidFill>
                  <a:srgbClr val="0000FF"/>
                </a:solidFill>
                <a:latin typeface="楷体" panose="02010609060101010101" pitchFamily="49" charset="-122"/>
                <a:ea typeface="楷体" panose="02010609060101010101" pitchFamily="49" charset="-122"/>
                <a:cs typeface="Times New Roman" panose="02020603050405020304" pitchFamily="18" charset="0"/>
              </a:rPr>
              <a:t>机器学习：</a:t>
            </a:r>
            <a:r>
              <a:rPr lang="zh-CN" altLang="en-US" dirty="0">
                <a:latin typeface="楷体" panose="02010609060101010101" pitchFamily="49" charset="-122"/>
                <a:ea typeface="楷体" panose="02010609060101010101" pitchFamily="49" charset="-122"/>
                <a:cs typeface="Times New Roman" panose="02020603050405020304" pitchFamily="18" charset="0"/>
              </a:rPr>
              <a:t>周志华</a:t>
            </a:r>
            <a:r>
              <a:rPr lang="en-US" altLang="zh-CN" dirty="0">
                <a:latin typeface="楷体" panose="02010609060101010101" pitchFamily="49" charset="-122"/>
                <a:ea typeface="楷体" panose="02010609060101010101" pitchFamily="49" charset="-122"/>
                <a:cs typeface="Times New Roman" panose="02020603050405020304" pitchFamily="18" charset="0"/>
              </a:rPr>
              <a:t>, </a:t>
            </a:r>
            <a:r>
              <a:rPr lang="zh-CN" altLang="en-US" dirty="0">
                <a:latin typeface="楷体" panose="02010609060101010101" pitchFamily="49" charset="-122"/>
                <a:ea typeface="楷体" panose="02010609060101010101" pitchFamily="49" charset="-122"/>
                <a:cs typeface="Times New Roman" panose="02020603050405020304" pitchFamily="18" charset="0"/>
              </a:rPr>
              <a:t>清华大学出版社</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pPr eaLnBrk="1" hangingPunct="1">
              <a:spcBef>
                <a:spcPct val="50000"/>
              </a:spcBef>
            </a:pPr>
            <a:r>
              <a:rPr lang="zh-CN" altLang="en-US" dirty="0">
                <a:latin typeface="楷体" panose="02010609060101010101" pitchFamily="49" charset="-122"/>
                <a:ea typeface="楷体" panose="02010609060101010101" pitchFamily="49" charset="-122"/>
                <a:cs typeface="Times New Roman" panose="02020603050405020304" pitchFamily="18" charset="0"/>
              </a:rPr>
              <a:t>机器学习公式解析：</a:t>
            </a:r>
          </a:p>
          <a:p>
            <a:pPr eaLnBrk="1" hangingPunct="1">
              <a:spcBef>
                <a:spcPct val="50000"/>
              </a:spcBef>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https://datawhalechina.github.io/pumpkin-book/#/</a:t>
            </a:r>
          </a:p>
        </p:txBody>
      </p:sp>
      <p:sp>
        <p:nvSpPr>
          <p:cNvPr id="15" name="Text Box 3">
            <a:extLst>
              <a:ext uri="{FF2B5EF4-FFF2-40B4-BE49-F238E27FC236}">
                <a16:creationId xmlns:a16="http://schemas.microsoft.com/office/drawing/2014/main" id="{C73B6615-E88B-49FC-8A61-A61C4D1E211E}"/>
              </a:ext>
            </a:extLst>
          </p:cNvPr>
          <p:cNvSpPr txBox="1"/>
          <p:nvPr/>
        </p:nvSpPr>
        <p:spPr>
          <a:xfrm>
            <a:off x="4821374" y="4672900"/>
            <a:ext cx="3996444" cy="646331"/>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ts val="0"/>
              </a:spcBef>
              <a:buNone/>
            </a:pPr>
            <a:r>
              <a:rPr lang="zh-CN" altLang="en-US" sz="1800" dirty="0">
                <a:solidFill>
                  <a:srgbClr val="0000FF"/>
                </a:solidFill>
                <a:latin typeface="楷体" panose="02010609060101010101" pitchFamily="49" charset="-122"/>
                <a:ea typeface="楷体" panose="02010609060101010101" pitchFamily="49" charset="-122"/>
                <a:cs typeface="Times New Roman" panose="02020603050405020304" pitchFamily="18" charset="0"/>
              </a:rPr>
              <a:t>机器学习方法</a:t>
            </a:r>
            <a:r>
              <a:rPr lang="zh-CN" altLang="en-US" sz="1800" dirty="0">
                <a:latin typeface="楷体" panose="02010609060101010101" pitchFamily="49" charset="-122"/>
                <a:ea typeface="楷体" panose="02010609060101010101" pitchFamily="49" charset="-122"/>
                <a:cs typeface="Times New Roman" panose="02020603050405020304" pitchFamily="18" charset="0"/>
              </a:rPr>
              <a:t>：</a:t>
            </a:r>
            <a:r>
              <a:rPr lang="en-US" altLang="zh-CN" sz="1800" dirty="0">
                <a:latin typeface="楷体" panose="02010609060101010101" pitchFamily="49" charset="-122"/>
                <a:ea typeface="楷体" panose="02010609060101010101" pitchFamily="49" charset="-122"/>
                <a:cs typeface="Times New Roman" panose="02020603050405020304" pitchFamily="18" charset="0"/>
              </a:rPr>
              <a:t> </a:t>
            </a:r>
            <a:r>
              <a:rPr lang="zh-CN" altLang="en-US" sz="1800" dirty="0">
                <a:latin typeface="楷体" panose="02010609060101010101" pitchFamily="49" charset="-122"/>
                <a:ea typeface="楷体" panose="02010609060101010101" pitchFamily="49" charset="-122"/>
                <a:cs typeface="Times New Roman" panose="02020603050405020304" pitchFamily="18" charset="0"/>
              </a:rPr>
              <a:t>李航 ，清华大学出版社， </a:t>
            </a:r>
            <a:r>
              <a:rPr lang="en-US" altLang="zh-CN" sz="1800" dirty="0">
                <a:latin typeface="楷体" panose="02010609060101010101" pitchFamily="49" charset="-122"/>
                <a:ea typeface="楷体" panose="02010609060101010101" pitchFamily="49" charset="-122"/>
                <a:cs typeface="Times New Roman" panose="02020603050405020304" pitchFamily="18" charset="0"/>
              </a:rPr>
              <a:t>2022.03</a:t>
            </a:r>
          </a:p>
        </p:txBody>
      </p:sp>
      <p:pic>
        <p:nvPicPr>
          <p:cNvPr id="16" name="Picture 2">
            <a:extLst>
              <a:ext uri="{FF2B5EF4-FFF2-40B4-BE49-F238E27FC236}">
                <a16:creationId xmlns:a16="http://schemas.microsoft.com/office/drawing/2014/main" id="{91B94E16-1B78-4230-9652-8FBE7040C15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21374" y="2097925"/>
            <a:ext cx="1836204" cy="248508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a:extLst>
              <a:ext uri="{FF2B5EF4-FFF2-40B4-BE49-F238E27FC236}">
                <a16:creationId xmlns:a16="http://schemas.microsoft.com/office/drawing/2014/main" id="{82EDF4FA-375E-49AF-9EFB-AB6458E885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39838" y="2078851"/>
            <a:ext cx="2504162" cy="2504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254170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8260EBA5-E936-48D5-8B3A-0161C54E5671}"/>
              </a:ext>
            </a:extLst>
          </p:cNvPr>
          <p:cNvSpPr/>
          <p:nvPr/>
        </p:nvSpPr>
        <p:spPr>
          <a:xfrm>
            <a:off x="681841" y="1452570"/>
            <a:ext cx="2387192" cy="461665"/>
          </a:xfrm>
          <a:prstGeom prst="rect">
            <a:avLst/>
          </a:prstGeom>
        </p:spPr>
        <p:txBody>
          <a:bodyPr wrap="none">
            <a:spAutoFit/>
          </a:bodyPr>
          <a:lstStyle/>
          <a:p>
            <a:pPr marL="342900" indent="-342900" eaLnBrk="1" hangingPunct="1">
              <a:spcBef>
                <a:spcPct val="50000"/>
              </a:spcBef>
              <a:buClr>
                <a:srgbClr val="FF0000"/>
              </a:buClr>
              <a:buFont typeface="Wingdings" panose="05000000000000000000" pitchFamily="2" charset="2"/>
              <a:buChar char="p"/>
            </a:pPr>
            <a:r>
              <a:rPr kumimoji="1" lang="zh-CN" altLang="en-US" sz="2400" b="1" dirty="0">
                <a:latin typeface="楷体" panose="02010609060101010101" pitchFamily="49" charset="-122"/>
                <a:ea typeface="楷体" panose="02010609060101010101" pitchFamily="49" charset="-122"/>
              </a:rPr>
              <a:t>其他参考教材</a:t>
            </a:r>
          </a:p>
        </p:txBody>
      </p:sp>
      <p:sp>
        <p:nvSpPr>
          <p:cNvPr id="26" name="文本框 25"/>
          <p:cNvSpPr txBox="1"/>
          <p:nvPr/>
        </p:nvSpPr>
        <p:spPr>
          <a:xfrm>
            <a:off x="725003" y="769755"/>
            <a:ext cx="1710725" cy="523220"/>
          </a:xfrm>
          <a:prstGeom prst="rect">
            <a:avLst/>
          </a:prstGeom>
          <a:noFill/>
        </p:spPr>
        <p:txBody>
          <a:bodyPr wrap="none" rtlCol="0">
            <a:spAutoFit/>
          </a:bodyPr>
          <a:lstStyle/>
          <a:p>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教学大纲</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AutoShape 2" descr="https://img14.360buyimg.com/n0/jfs/t1/183313/1/11039/331116/60d42966Eb1320178/ef6628487a98583b.jpg.avif"/>
          <p:cNvSpPr>
            <a:spLocks noChangeAspect="1" noChangeArrowheads="1"/>
          </p:cNvSpPr>
          <p:nvPr/>
        </p:nvSpPr>
        <p:spPr bwMode="auto">
          <a:xfrm>
            <a:off x="116681" y="74890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zh-CN" altLang="en-US"/>
          </a:p>
        </p:txBody>
      </p:sp>
      <p:pic>
        <p:nvPicPr>
          <p:cNvPr id="10" name="Picture 4" descr="shupi">
            <a:extLst>
              <a:ext uri="{FF2B5EF4-FFF2-40B4-BE49-F238E27FC236}">
                <a16:creationId xmlns:a16="http://schemas.microsoft.com/office/drawing/2014/main" id="{85F4D881-BED7-464C-BB3B-0C4517FC2732}"/>
              </a:ext>
            </a:extLst>
          </p:cNvPr>
          <p:cNvPicPr>
            <a:picLocks noChangeAspect="1"/>
          </p:cNvPicPr>
          <p:nvPr/>
        </p:nvPicPr>
        <p:blipFill>
          <a:blip r:embed="rId3"/>
          <a:stretch>
            <a:fillRect/>
          </a:stretch>
        </p:blipFill>
        <p:spPr>
          <a:xfrm>
            <a:off x="413538" y="2048435"/>
            <a:ext cx="1952141" cy="2758750"/>
          </a:xfrm>
          <a:prstGeom prst="rect">
            <a:avLst/>
          </a:prstGeom>
          <a:noFill/>
          <a:ln w="9525">
            <a:noFill/>
          </a:ln>
        </p:spPr>
      </p:pic>
      <p:pic>
        <p:nvPicPr>
          <p:cNvPr id="12" name="图片 2">
            <a:extLst>
              <a:ext uri="{FF2B5EF4-FFF2-40B4-BE49-F238E27FC236}">
                <a16:creationId xmlns:a16="http://schemas.microsoft.com/office/drawing/2014/main" id="{F5E7666F-052D-417B-B405-7BFF278E9F53}"/>
              </a:ext>
            </a:extLst>
          </p:cNvPr>
          <p:cNvPicPr>
            <a:picLocks noChangeAspect="1"/>
          </p:cNvPicPr>
          <p:nvPr/>
        </p:nvPicPr>
        <p:blipFill>
          <a:blip r:embed="rId4"/>
          <a:stretch>
            <a:fillRect/>
          </a:stretch>
        </p:blipFill>
        <p:spPr>
          <a:xfrm>
            <a:off x="4510596" y="2048435"/>
            <a:ext cx="2165237" cy="2758750"/>
          </a:xfrm>
          <a:prstGeom prst="rect">
            <a:avLst/>
          </a:prstGeom>
          <a:noFill/>
          <a:ln w="9525">
            <a:noFill/>
          </a:ln>
        </p:spPr>
      </p:pic>
      <p:pic>
        <p:nvPicPr>
          <p:cNvPr id="14" name="图片 1">
            <a:extLst>
              <a:ext uri="{FF2B5EF4-FFF2-40B4-BE49-F238E27FC236}">
                <a16:creationId xmlns:a16="http://schemas.microsoft.com/office/drawing/2014/main" id="{EAD3BBA2-F69B-48CD-85F1-778E632EF835}"/>
              </a:ext>
            </a:extLst>
          </p:cNvPr>
          <p:cNvPicPr>
            <a:picLocks noChangeAspect="1"/>
          </p:cNvPicPr>
          <p:nvPr/>
        </p:nvPicPr>
        <p:blipFill>
          <a:blip r:embed="rId5"/>
          <a:stretch>
            <a:fillRect/>
          </a:stretch>
        </p:blipFill>
        <p:spPr>
          <a:xfrm>
            <a:off x="2431567" y="2048435"/>
            <a:ext cx="2000188" cy="2758750"/>
          </a:xfrm>
          <a:prstGeom prst="rect">
            <a:avLst/>
          </a:prstGeom>
          <a:noFill/>
          <a:ln w="9525">
            <a:noFill/>
          </a:ln>
        </p:spPr>
      </p:pic>
      <p:pic>
        <p:nvPicPr>
          <p:cNvPr id="19" name="图片 1">
            <a:extLst>
              <a:ext uri="{FF2B5EF4-FFF2-40B4-BE49-F238E27FC236}">
                <a16:creationId xmlns:a16="http://schemas.microsoft.com/office/drawing/2014/main" id="{DD7413D5-11D2-4DD0-B8E1-A12BB734A75C}"/>
              </a:ext>
            </a:extLst>
          </p:cNvPr>
          <p:cNvPicPr>
            <a:picLocks noChangeAspect="1"/>
          </p:cNvPicPr>
          <p:nvPr/>
        </p:nvPicPr>
        <p:blipFill>
          <a:blip r:embed="rId6"/>
          <a:stretch>
            <a:fillRect/>
          </a:stretch>
        </p:blipFill>
        <p:spPr>
          <a:xfrm>
            <a:off x="6778551" y="2048434"/>
            <a:ext cx="2148883" cy="2758750"/>
          </a:xfrm>
          <a:prstGeom prst="rect">
            <a:avLst/>
          </a:prstGeom>
          <a:noFill/>
          <a:ln w="9525">
            <a:noFill/>
          </a:ln>
        </p:spPr>
      </p:pic>
    </p:spTree>
    <p:extLst>
      <p:ext uri="{BB962C8B-B14F-4D97-AF65-F5344CB8AC3E}">
        <p14:creationId xmlns:p14="http://schemas.microsoft.com/office/powerpoint/2010/main" val="282687645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FDD93-BC30-6689-29E4-93055D360E4D}"/>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CE682496-92BA-A955-0B8C-A92EA53BB2C8}"/>
              </a:ext>
            </a:extLst>
          </p:cNvPr>
          <p:cNvSpPr>
            <a:spLocks noGrp="1"/>
          </p:cNvSpPr>
          <p:nvPr>
            <p:ph/>
          </p:nvPr>
        </p:nvSpPr>
        <p:spPr>
          <a:xfrm>
            <a:off x="685800" y="609600"/>
            <a:ext cx="4822304" cy="5486400"/>
          </a:xfrm>
        </p:spPr>
        <p:txBody>
          <a:bodyPr/>
          <a:lstStyle/>
          <a:p>
            <a:pPr eaLnBrk="1" hangingPunct="1">
              <a:spcBef>
                <a:spcPct val="50000"/>
              </a:spcBef>
              <a:buNone/>
            </a:pPr>
            <a:endParaRPr kumimoji="1" lang="en-US" altLang="zh-CN" sz="2400" b="1" dirty="0">
              <a:latin typeface="楷体" panose="02010609060101010101" pitchFamily="49" charset="-122"/>
              <a:ea typeface="楷体" panose="02010609060101010101" pitchFamily="49" charset="-122"/>
              <a:cs typeface="楷体_GB2312"/>
              <a:sym typeface="Symbol" panose="05050102010706020507" pitchFamily="18" charset="2"/>
            </a:endParaRPr>
          </a:p>
          <a:p>
            <a:pPr eaLnBrk="1" hangingPunct="1">
              <a:spcBef>
                <a:spcPct val="50000"/>
              </a:spcBef>
              <a:buClr>
                <a:srgbClr val="FF0000"/>
              </a:buClr>
              <a:buFont typeface="Wingdings" panose="05000000000000000000" pitchFamily="2" charset="2"/>
              <a:buChar char="p"/>
            </a:pPr>
            <a:r>
              <a:rPr kumimoji="1" lang="zh-CN" altLang="en-US" sz="2400" b="1" dirty="0">
                <a:latin typeface="楷体" panose="02010609060101010101" pitchFamily="49" charset="-122"/>
                <a:ea typeface="楷体" panose="02010609060101010101" pitchFamily="49" charset="-122"/>
                <a:cs typeface="楷体_GB2312"/>
                <a:sym typeface="Symbol" panose="05050102010706020507" pitchFamily="18" charset="2"/>
              </a:rPr>
              <a:t>进阶学习教材</a:t>
            </a:r>
            <a:endParaRPr kumimoji="1" lang="en-US" altLang="zh-CN" sz="2400" b="1" dirty="0">
              <a:latin typeface="楷体" panose="02010609060101010101" pitchFamily="49" charset="-122"/>
              <a:ea typeface="楷体" panose="02010609060101010101" pitchFamily="49" charset="-122"/>
              <a:cs typeface="楷体_GB2312"/>
              <a:sym typeface="Symbol" panose="05050102010706020507" pitchFamily="18" charset="2"/>
            </a:endParaRPr>
          </a:p>
          <a:p>
            <a:pPr marL="457200" indent="-457200" eaLnBrk="1" hangingPunct="1">
              <a:spcBef>
                <a:spcPct val="50000"/>
              </a:spcBef>
              <a:buAutoNum type="arabicPeriod"/>
            </a:pPr>
            <a:r>
              <a:rPr kumimoji="1" lang="en-US" altLang="zh-CN"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Deep Learning: </a:t>
            </a:r>
            <a:r>
              <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Ian</a:t>
            </a:r>
            <a:r>
              <a:rPr kumimoji="1" lang="zh-CN" altLang="en-US" sz="20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 </a:t>
            </a:r>
            <a:r>
              <a:rPr kumimoji="1" lang="en-US" altLang="zh-CN" sz="2000" dirty="0" err="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Goodfellow</a:t>
            </a:r>
            <a:r>
              <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 </a:t>
            </a:r>
            <a:r>
              <a:rPr kumimoji="1" lang="en-US" altLang="zh-CN" sz="2000" dirty="0" err="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Yoshua</a:t>
            </a:r>
            <a:r>
              <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 </a:t>
            </a:r>
            <a:r>
              <a:rPr kumimoji="1" lang="en-US" altLang="zh-CN" sz="2000" dirty="0" err="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Bengio</a:t>
            </a:r>
            <a:r>
              <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 et al.</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中翻本</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深度学习</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赵申剑等译</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人民邮电出版社</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北京</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2017.</a:t>
            </a:r>
          </a:p>
          <a:p>
            <a:pPr marL="457200" indent="-457200" eaLnBrk="1" hangingPunct="1">
              <a:spcBef>
                <a:spcPct val="50000"/>
              </a:spcBef>
              <a:buAutoNum type="arabicPeriod"/>
            </a:pPr>
            <a:endPar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endParaRPr>
          </a:p>
          <a:p>
            <a:pPr marL="457200" indent="-457200" eaLnBrk="1" hangingPunct="1">
              <a:spcBef>
                <a:spcPct val="50000"/>
              </a:spcBef>
              <a:buAutoNum type="arabicPeriod"/>
            </a:pPr>
            <a:r>
              <a:rPr kumimoji="1" lang="en-US" altLang="zh-CN"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Reinforcement Learning: </a:t>
            </a:r>
            <a:r>
              <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Richard S. Sutton, et al.</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中翻本</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强化学习</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俞凯等译</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电子工业出版社</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北京</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2019.</a:t>
            </a:r>
            <a:endParaRPr kumimoji="1" lang="zh-CN" altLang="en-US" sz="20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endParaRPr>
          </a:p>
        </p:txBody>
      </p:sp>
      <p:pic>
        <p:nvPicPr>
          <p:cNvPr id="3" name="图片 2">
            <a:extLst>
              <a:ext uri="{FF2B5EF4-FFF2-40B4-BE49-F238E27FC236}">
                <a16:creationId xmlns:a16="http://schemas.microsoft.com/office/drawing/2014/main" id="{BB4C5BD5-52BA-B0EA-131E-D02D91FC92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8259" y="571872"/>
            <a:ext cx="2780928" cy="2780928"/>
          </a:xfrm>
          <a:prstGeom prst="rect">
            <a:avLst/>
          </a:prstGeom>
        </p:spPr>
      </p:pic>
      <p:pic>
        <p:nvPicPr>
          <p:cNvPr id="4" name="图片 3">
            <a:extLst>
              <a:ext uri="{FF2B5EF4-FFF2-40B4-BE49-F238E27FC236}">
                <a16:creationId xmlns:a16="http://schemas.microsoft.com/office/drawing/2014/main" id="{8FE122B7-666A-CBD6-CB95-9FC6F649E0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0113" y="3575720"/>
            <a:ext cx="2520280" cy="2520280"/>
          </a:xfrm>
          <a:prstGeom prst="rect">
            <a:avLst/>
          </a:prstGeom>
        </p:spPr>
      </p:pic>
      <p:sp>
        <p:nvSpPr>
          <p:cNvPr id="5" name="文本框 4">
            <a:extLst>
              <a:ext uri="{FF2B5EF4-FFF2-40B4-BE49-F238E27FC236}">
                <a16:creationId xmlns:a16="http://schemas.microsoft.com/office/drawing/2014/main" id="{90296BFE-2A25-6A5D-3A5D-A56023CB4270}"/>
              </a:ext>
            </a:extLst>
          </p:cNvPr>
          <p:cNvSpPr txBox="1"/>
          <p:nvPr/>
        </p:nvSpPr>
        <p:spPr>
          <a:xfrm>
            <a:off x="710140" y="571872"/>
            <a:ext cx="1710725" cy="523220"/>
          </a:xfrm>
          <a:prstGeom prst="rect">
            <a:avLst/>
          </a:prstGeom>
          <a:noFill/>
        </p:spPr>
        <p:txBody>
          <a:bodyPr wrap="none" rtlCol="0">
            <a:spAutoFit/>
          </a:bodyPr>
          <a:lstStyle/>
          <a:p>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教学大纲</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165173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98AF6-E312-5DA3-353C-7B43D249236F}"/>
            </a:ext>
          </a:extLst>
        </p:cNvPr>
        <p:cNvGrpSpPr/>
        <p:nvPr/>
      </p:nvGrpSpPr>
      <p:grpSpPr>
        <a:xfrm>
          <a:off x="0" y="0"/>
          <a:ext cx="0" cy="0"/>
          <a:chOff x="0" y="0"/>
          <a:chExt cx="0" cy="0"/>
        </a:xfrm>
      </p:grpSpPr>
      <p:sp>
        <p:nvSpPr>
          <p:cNvPr id="10242" name="灯片编号占位符 4">
            <a:extLst>
              <a:ext uri="{FF2B5EF4-FFF2-40B4-BE49-F238E27FC236}">
                <a16:creationId xmlns:a16="http://schemas.microsoft.com/office/drawing/2014/main" id="{35297FE3-3729-E42B-B4C7-1DDE07180DD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949190CC-3E4F-4917-88FA-2F954888ED54}" type="slidenum">
              <a:rPr lang="en-US" altLang="zh-CN" sz="1200" smtClean="0">
                <a:solidFill>
                  <a:srgbClr val="898989"/>
                </a:solidFill>
              </a:rPr>
              <a:pPr>
                <a:spcBef>
                  <a:spcPct val="0"/>
                </a:spcBef>
                <a:buFontTx/>
                <a:buNone/>
              </a:pPr>
              <a:t>6</a:t>
            </a:fld>
            <a:endParaRPr lang="en-US" altLang="zh-CN" sz="1200">
              <a:solidFill>
                <a:srgbClr val="898989"/>
              </a:solidFill>
            </a:endParaRPr>
          </a:p>
        </p:txBody>
      </p:sp>
      <p:sp>
        <p:nvSpPr>
          <p:cNvPr id="884740" name="Text Box 4">
            <a:extLst>
              <a:ext uri="{FF2B5EF4-FFF2-40B4-BE49-F238E27FC236}">
                <a16:creationId xmlns:a16="http://schemas.microsoft.com/office/drawing/2014/main" id="{44BF82AC-E0F4-D5FE-1C0B-60FC1A1BE02A}"/>
              </a:ext>
            </a:extLst>
          </p:cNvPr>
          <p:cNvSpPr txBox="1">
            <a:spLocks noChangeArrowheads="1"/>
          </p:cNvSpPr>
          <p:nvPr/>
        </p:nvSpPr>
        <p:spPr bwMode="auto">
          <a:xfrm>
            <a:off x="812800" y="1354138"/>
            <a:ext cx="7646988" cy="575542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sz="2400" b="1" dirty="0">
                <a:latin typeface="楷体" panose="02010609060101010101" pitchFamily="49" charset="-122"/>
                <a:ea typeface="楷体" panose="02010609060101010101" pitchFamily="49" charset="-122"/>
                <a:cs typeface="楷体_GB2312"/>
              </a:rPr>
              <a:t>网络资源：</a:t>
            </a:r>
          </a:p>
          <a:p>
            <a:pPr eaLnBrk="1" hangingPunct="1">
              <a:spcBef>
                <a:spcPct val="50000"/>
              </a:spcBef>
              <a:buFontTx/>
              <a:buNone/>
            </a:pPr>
            <a:r>
              <a:rPr kumimoji="1" lang="en-US" altLang="zh-CN" sz="2000" dirty="0">
                <a:latin typeface="幼圆" panose="02010509060101010101" pitchFamily="49" charset="-122"/>
                <a:ea typeface="幼圆" panose="02010509060101010101" pitchFamily="49" charset="-122"/>
                <a:cs typeface="楷体_GB2312"/>
              </a:rPr>
              <a:t>• </a:t>
            </a:r>
            <a:r>
              <a:rPr kumimoji="1"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中文</a:t>
            </a:r>
            <a:r>
              <a:rPr kumimoji="1" lang="en-US" altLang="zh-CN" sz="2000"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kumimoji="1" lang="zh-CN" altLang="en-US" sz="2000"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授课材料</a:t>
            </a:r>
            <a:r>
              <a:rPr kumimoji="1" lang="zh-CN" altLang="en-US" sz="2000" dirty="0">
                <a:latin typeface="Times New Roman" panose="02020603050405020304" pitchFamily="18" charset="0"/>
                <a:ea typeface="楷体" panose="02010609060101010101" pitchFamily="49" charset="-122"/>
                <a:cs typeface="Times New Roman" panose="02020603050405020304" pitchFamily="18" charset="0"/>
              </a:rPr>
              <a:t>	授课 </a:t>
            </a:r>
            <a:r>
              <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rPr>
              <a:t>Slides</a:t>
            </a:r>
          </a:p>
          <a:p>
            <a:pPr eaLnBrk="1" hangingPunct="1">
              <a:spcBef>
                <a:spcPct val="0"/>
              </a:spcBef>
              <a:buFontTx/>
              <a:buNone/>
            </a:pPr>
            <a:r>
              <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kumimoji="1" lang="zh-CN" altLang="en-US"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重庆大学：机器学习 课程介绍</a:t>
            </a:r>
            <a:r>
              <a:rPr kumimoji="1"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2018.PPT</a:t>
            </a:r>
          </a:p>
          <a:p>
            <a:pPr eaLnBrk="1" hangingPunct="1">
              <a:spcBef>
                <a:spcPct val="0"/>
              </a:spcBef>
              <a:buFontTx/>
              <a:buNone/>
            </a:pPr>
            <a:r>
              <a:rPr kumimoji="1"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kumimoji="1" lang="zh-CN" altLang="en-US"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南京大学周志华教授提供</a:t>
            </a:r>
            <a:r>
              <a:rPr kumimoji="1"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PPT</a:t>
            </a:r>
            <a:r>
              <a:rPr kumimoji="1" lang="zh-CN" altLang="en-US"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：课件使用许可协议！</a:t>
            </a:r>
            <a:endParaRPr kumimoji="1"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eaLnBrk="1" hangingPunct="1">
              <a:spcBef>
                <a:spcPct val="0"/>
              </a:spcBef>
              <a:buFontTx/>
              <a:buNone/>
            </a:pPr>
            <a:endParaRPr kumimoji="1" lang="en-US" altLang="zh-CN" sz="2000"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spcBef>
                <a:spcPct val="50000"/>
              </a:spcBef>
              <a:buFontTx/>
              <a:buNone/>
            </a:pPr>
            <a:r>
              <a:rPr kumimoji="1" lang="en-US" altLang="zh-CN" sz="2000" b="1" dirty="0">
                <a:latin typeface="Times New Roman" panose="02020603050405020304" pitchFamily="18" charset="0"/>
                <a:ea typeface="楷体" panose="02010609060101010101" pitchFamily="49" charset="-122"/>
                <a:cs typeface="Times New Roman" panose="02020603050405020304" pitchFamily="18" charset="0"/>
              </a:rPr>
              <a:t>• </a:t>
            </a:r>
            <a:r>
              <a:rPr kumimoji="1" lang="zh-CN" altLang="en-US" sz="2000"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英文</a:t>
            </a:r>
            <a:r>
              <a:rPr kumimoji="1" lang="en-US" altLang="zh-CN" sz="2000"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kumimoji="1" lang="zh-CN" altLang="en-US" sz="2000"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授课课件</a:t>
            </a:r>
            <a:r>
              <a:rPr kumimoji="1" lang="en-US" altLang="zh-CN" sz="2000"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000" b="1" dirty="0">
                <a:latin typeface="Times New Roman" panose="02020603050405020304" pitchFamily="18" charset="0"/>
                <a:ea typeface="楷体" panose="02010609060101010101" pitchFamily="49" charset="-122"/>
                <a:cs typeface="Times New Roman" panose="02020603050405020304" pitchFamily="18" charset="0"/>
              </a:rPr>
              <a:t>Introduction to Machine Learning</a:t>
            </a:r>
            <a:endParaRPr kumimoji="1" lang="en-US" altLang="zh-CN" sz="2000"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p>
            <a:pPr eaLnBrk="1" hangingPunct="1">
              <a:spcBef>
                <a:spcPct val="50000"/>
              </a:spcBef>
              <a:buFontTx/>
              <a:buNone/>
            </a:pPr>
            <a:r>
              <a:rPr kumimoji="1" lang="en-US" altLang="zh-CN" sz="2000"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rPr>
              <a:t>Mitchell CCS-CMU-Spring 2015</a:t>
            </a:r>
            <a:r>
              <a:rPr kumimoji="1"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hlinkClick r:id="rId2"/>
              </a:rPr>
              <a:t>http://www.cs.cmu.edu/~epxing/Class/10701/index.html</a:t>
            </a:r>
            <a:endPar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spcBef>
                <a:spcPct val="50000"/>
              </a:spcBef>
              <a:buFontTx/>
              <a:buNone/>
            </a:pPr>
            <a:endParaRPr kumimoji="1" lang="en-US" altLang="zh-CN" sz="2400" b="1"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a:p>
            <a:pPr eaLnBrk="1" hangingPunct="1">
              <a:spcBef>
                <a:spcPct val="50000"/>
              </a:spcBef>
              <a:buFontTx/>
              <a:buNone/>
            </a:pPr>
            <a:r>
              <a:rPr kumimoji="1" lang="zh-CN" altLang="en-US" sz="2000" b="1" dirty="0">
                <a:latin typeface="Times New Roman" panose="02020603050405020304" pitchFamily="18" charset="0"/>
                <a:ea typeface="楷体" panose="02010609060101010101" pitchFamily="49" charset="-122"/>
                <a:cs typeface="Times New Roman" panose="02020603050405020304" pitchFamily="18" charset="0"/>
              </a:rPr>
              <a:t>吴恩达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Andrew Ng </a:t>
            </a:r>
            <a:r>
              <a:rPr kumimoji="1" lang="en-US" altLang="zh-CN" sz="2000" b="1" dirty="0">
                <a:latin typeface="Times New Roman" panose="02020603050405020304" pitchFamily="18" charset="0"/>
                <a:ea typeface="楷体" panose="02010609060101010101" pitchFamily="49" charset="-122"/>
                <a:cs typeface="Times New Roman" panose="02020603050405020304" pitchFamily="18" charset="0"/>
              </a:rPr>
              <a:t>Machine Learning Coursera </a:t>
            </a:r>
            <a:r>
              <a:rPr kumimoji="1" lang="zh-CN" altLang="en-US" sz="2000" b="1" dirty="0">
                <a:latin typeface="Times New Roman" panose="02020603050405020304" pitchFamily="18" charset="0"/>
                <a:ea typeface="楷体" panose="02010609060101010101" pitchFamily="49" charset="-122"/>
                <a:cs typeface="Times New Roman" panose="02020603050405020304" pitchFamily="18" charset="0"/>
              </a:rPr>
              <a:t>网易云课程 </a:t>
            </a:r>
            <a:r>
              <a:rPr kumimoji="1" lang="en-US" altLang="zh-CN" sz="2000" b="1" dirty="0">
                <a:latin typeface="Times New Roman" panose="02020603050405020304" pitchFamily="18" charset="0"/>
                <a:ea typeface="楷体" panose="02010609060101010101" pitchFamily="49" charset="-122"/>
                <a:cs typeface="Times New Roman" panose="02020603050405020304" pitchFamily="18" charset="0"/>
              </a:rPr>
              <a:t>B</a:t>
            </a:r>
            <a:r>
              <a:rPr kumimoji="1" lang="zh-CN" altLang="en-US" sz="2000" b="1" dirty="0">
                <a:latin typeface="Times New Roman" panose="02020603050405020304" pitchFamily="18" charset="0"/>
                <a:ea typeface="楷体" panose="02010609060101010101" pitchFamily="49" charset="-122"/>
                <a:cs typeface="Times New Roman" panose="02020603050405020304" pitchFamily="18" charset="0"/>
              </a:rPr>
              <a:t>站</a:t>
            </a:r>
            <a:endParaRPr kumimoji="1" lang="en-US" altLang="zh-CN" sz="2000"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spcBef>
                <a:spcPct val="50000"/>
              </a:spcBef>
              <a:buFontTx/>
              <a:buNone/>
            </a:pPr>
            <a:r>
              <a:rPr kumimoji="1" lang="zh-CN" altLang="en-US" sz="2000" b="1" dirty="0">
                <a:latin typeface="Times New Roman" panose="02020603050405020304" pitchFamily="18" charset="0"/>
                <a:ea typeface="楷体" panose="02010609060101010101" pitchFamily="49" charset="-122"/>
                <a:cs typeface="Times New Roman" panose="02020603050405020304" pitchFamily="18" charset="0"/>
              </a:rPr>
              <a:t>强化学习：可关注</a:t>
            </a:r>
            <a:r>
              <a:rPr kumimoji="1" lang="en-US" altLang="zh-CN" sz="2000" b="1" dirty="0">
                <a:latin typeface="Times New Roman" panose="02020603050405020304" pitchFamily="18" charset="0"/>
                <a:ea typeface="楷体" panose="02010609060101010101" pitchFamily="49" charset="-122"/>
                <a:cs typeface="Times New Roman" panose="02020603050405020304" pitchFamily="18" charset="0"/>
              </a:rPr>
              <a:t>RLCN</a:t>
            </a:r>
            <a:r>
              <a:rPr kumimoji="1" lang="zh-CN" altLang="en-US" sz="2000" b="1" dirty="0">
                <a:latin typeface="Times New Roman" panose="02020603050405020304" pitchFamily="18" charset="0"/>
                <a:ea typeface="楷体" panose="02010609060101010101" pitchFamily="49" charset="-122"/>
                <a:cs typeface="Times New Roman" panose="02020603050405020304" pitchFamily="18" charset="0"/>
              </a:rPr>
              <a:t>（微信公众号）</a:t>
            </a:r>
            <a:endParaRPr kumimoji="1" lang="en-US" altLang="zh-CN" sz="2000"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spcBef>
                <a:spcPct val="50000"/>
              </a:spcBef>
              <a:buFontTx/>
              <a:buNone/>
            </a:pPr>
            <a:r>
              <a:rPr kumimoji="1" lang="en-US" altLang="zh-CN" sz="2000" b="1" dirty="0">
                <a:latin typeface="Times New Roman" panose="02020603050405020304" pitchFamily="18" charset="0"/>
                <a:ea typeface="楷体" panose="02010609060101010101" pitchFamily="49" charset="-122"/>
                <a:cs typeface="Times New Roman" panose="02020603050405020304" pitchFamily="18" charset="0"/>
              </a:rPr>
              <a:t>                     http://rlchina.org/</a:t>
            </a:r>
          </a:p>
          <a:p>
            <a:pPr eaLnBrk="1" hangingPunct="1">
              <a:spcBef>
                <a:spcPct val="50000"/>
              </a:spcBef>
              <a:buFontTx/>
              <a:buNone/>
            </a:pPr>
            <a:r>
              <a:rPr kumimoji="1" lang="en-US" altLang="zh-CN" sz="2000" b="1" dirty="0">
                <a:latin typeface="Times New Roman" panose="02020603050405020304" pitchFamily="18" charset="0"/>
                <a:ea typeface="楷体" panose="02010609060101010101" pitchFamily="49" charset="-122"/>
                <a:cs typeface="Times New Roman" panose="02020603050405020304" pitchFamily="18" charset="0"/>
              </a:rPr>
              <a:t>             </a:t>
            </a:r>
            <a:r>
              <a:rPr kumimoji="1" lang="zh-CN" altLang="en-US" sz="2000" b="1" dirty="0">
                <a:latin typeface="Times New Roman" panose="02020603050405020304" pitchFamily="18" charset="0"/>
                <a:ea typeface="楷体" panose="02010609060101010101" pitchFamily="49" charset="-122"/>
                <a:cs typeface="Times New Roman" panose="02020603050405020304" pitchFamily="18" charset="0"/>
              </a:rPr>
              <a:t> </a:t>
            </a:r>
            <a:endParaRPr kumimoji="1" lang="en-US" altLang="zh-CN" sz="20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文本框 1">
            <a:extLst>
              <a:ext uri="{FF2B5EF4-FFF2-40B4-BE49-F238E27FC236}">
                <a16:creationId xmlns:a16="http://schemas.microsoft.com/office/drawing/2014/main" id="{481B7CAC-150D-7784-FFFA-606367AECE14}"/>
              </a:ext>
            </a:extLst>
          </p:cNvPr>
          <p:cNvSpPr txBox="1"/>
          <p:nvPr/>
        </p:nvSpPr>
        <p:spPr>
          <a:xfrm>
            <a:off x="710140" y="571872"/>
            <a:ext cx="1710725" cy="523220"/>
          </a:xfrm>
          <a:prstGeom prst="rect">
            <a:avLst/>
          </a:prstGeom>
          <a:noFill/>
        </p:spPr>
        <p:txBody>
          <a:bodyPr wrap="none" rtlCol="0">
            <a:spAutoFit/>
          </a:bodyPr>
          <a:lstStyle/>
          <a:p>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教学大纲</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3464393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474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8474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8474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84740">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84740">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84740">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84740">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84740">
                                            <p:txEl>
                                              <p:pRg st="9" end="9"/>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84740">
                                            <p:txEl>
                                              <p:pRg st="10" end="1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8474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4740"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a:extLst>
              <a:ext uri="{FF2B5EF4-FFF2-40B4-BE49-F238E27FC236}">
                <a16:creationId xmlns:a16="http://schemas.microsoft.com/office/drawing/2014/main" id="{EF4928F2-1FF6-4BBE-ADEE-C714789321E4}"/>
              </a:ext>
            </a:extLst>
          </p:cNvPr>
          <p:cNvSpPr/>
          <p:nvPr/>
        </p:nvSpPr>
        <p:spPr>
          <a:xfrm>
            <a:off x="755576" y="4591484"/>
            <a:ext cx="7992888" cy="1195778"/>
          </a:xfrm>
          <a:prstGeom prst="roundRect">
            <a:avLst>
              <a:gd name="adj" fmla="val 9013"/>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楷体" panose="02010609060101010101" pitchFamily="49" charset="-122"/>
              <a:ea typeface="楷体" panose="02010609060101010101" pitchFamily="49" charset="-122"/>
            </a:endParaRPr>
          </a:p>
        </p:txBody>
      </p:sp>
      <p:sp>
        <p:nvSpPr>
          <p:cNvPr id="8" name="矩形: 圆角 7">
            <a:extLst>
              <a:ext uri="{FF2B5EF4-FFF2-40B4-BE49-F238E27FC236}">
                <a16:creationId xmlns:a16="http://schemas.microsoft.com/office/drawing/2014/main" id="{524A5AB1-823F-47DC-9AAB-8567D5E4B9A7}"/>
              </a:ext>
            </a:extLst>
          </p:cNvPr>
          <p:cNvSpPr/>
          <p:nvPr/>
        </p:nvSpPr>
        <p:spPr>
          <a:xfrm>
            <a:off x="521550" y="1914448"/>
            <a:ext cx="8154906" cy="1407284"/>
          </a:xfrm>
          <a:prstGeom prst="roundRect">
            <a:avLst>
              <a:gd name="adj" fmla="val 9013"/>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8260EBA5-E936-48D5-8B3A-0161C54E5671}"/>
              </a:ext>
            </a:extLst>
          </p:cNvPr>
          <p:cNvSpPr/>
          <p:nvPr/>
        </p:nvSpPr>
        <p:spPr>
          <a:xfrm>
            <a:off x="671322" y="4221088"/>
            <a:ext cx="1689886" cy="461665"/>
          </a:xfrm>
          <a:prstGeom prst="rect">
            <a:avLst/>
          </a:prstGeom>
        </p:spPr>
        <p:txBody>
          <a:bodyPr wrap="none">
            <a:spAutoFit/>
          </a:bodyPr>
          <a:lstStyle/>
          <a:p>
            <a:pPr marL="267891" indent="-267891">
              <a:buClr>
                <a:srgbClr val="FF0000"/>
              </a:buClr>
              <a:buFont typeface="Wingdings" panose="05000000000000000000" pitchFamily="2" charset="2"/>
              <a:buChar char="p"/>
            </a:pPr>
            <a:r>
              <a:rPr lang="zh-CN" altLang="en-US" sz="2400" b="1" dirty="0">
                <a:latin typeface="楷体" panose="02010609060101010101" pitchFamily="49" charset="-122"/>
                <a:ea typeface="楷体" panose="02010609060101010101" pitchFamily="49" charset="-122"/>
              </a:rPr>
              <a:t>教学环节</a:t>
            </a:r>
          </a:p>
        </p:txBody>
      </p:sp>
      <p:sp>
        <p:nvSpPr>
          <p:cNvPr id="26" name="文本框 25"/>
          <p:cNvSpPr txBox="1"/>
          <p:nvPr/>
        </p:nvSpPr>
        <p:spPr>
          <a:xfrm>
            <a:off x="683568" y="739376"/>
            <a:ext cx="1710725" cy="523220"/>
          </a:xfrm>
          <a:prstGeom prst="rect">
            <a:avLst/>
          </a:prstGeom>
          <a:noFill/>
        </p:spPr>
        <p:txBody>
          <a:bodyPr wrap="none" rtlCol="0">
            <a:spAutoFit/>
          </a:bodyPr>
          <a:lstStyle/>
          <a:p>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教学大纲</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AutoShape 2" descr="https://img14.360buyimg.com/n0/jfs/t1/183313/1/11039/331116/60d42966Eb1320178/ef6628487a98583b.jpg.avif"/>
          <p:cNvSpPr>
            <a:spLocks noChangeAspect="1" noChangeArrowheads="1"/>
          </p:cNvSpPr>
          <p:nvPr/>
        </p:nvSpPr>
        <p:spPr bwMode="auto">
          <a:xfrm>
            <a:off x="116681" y="74890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zh-CN" altLang="en-US"/>
          </a:p>
        </p:txBody>
      </p:sp>
      <p:sp>
        <p:nvSpPr>
          <p:cNvPr id="63" name="文本框 62">
            <a:extLst>
              <a:ext uri="{FF2B5EF4-FFF2-40B4-BE49-F238E27FC236}">
                <a16:creationId xmlns:a16="http://schemas.microsoft.com/office/drawing/2014/main" id="{D5F00E41-921B-4B0A-A14B-559E86573407}"/>
              </a:ext>
            </a:extLst>
          </p:cNvPr>
          <p:cNvSpPr txBox="1"/>
          <p:nvPr/>
        </p:nvSpPr>
        <p:spPr>
          <a:xfrm>
            <a:off x="971600" y="4650822"/>
            <a:ext cx="4158462" cy="1116588"/>
          </a:xfrm>
          <a:prstGeom prst="rect">
            <a:avLst/>
          </a:prstGeom>
          <a:noFill/>
        </p:spPr>
        <p:txBody>
          <a:bodyPr wrap="square" rtlCol="0">
            <a:spAutoFit/>
          </a:bodyPr>
          <a:lstStyle/>
          <a:p>
            <a:pPr marL="257175" indent="-257175">
              <a:lnSpc>
                <a:spcPct val="200000"/>
              </a:lnSpc>
              <a:spcBef>
                <a:spcPts val="0"/>
              </a:spcBef>
              <a:buClr>
                <a:srgbClr val="FF0000"/>
              </a:buClr>
              <a:buFont typeface="+mj-lt"/>
              <a:buAutoNum type="arabicPeriod"/>
            </a:pPr>
            <a:r>
              <a:rPr lang="zh-CN" altLang="en-US" b="1" dirty="0">
                <a:solidFill>
                  <a:srgbClr val="003399"/>
                </a:solidFill>
                <a:latin typeface="楷体" panose="02010609060101010101" pitchFamily="49" charset="-122"/>
                <a:ea typeface="楷体" panose="02010609060101010101" pitchFamily="49" charset="-122"/>
                <a:cs typeface="Times New Roman" panose="02020603050405020304" pitchFamily="18" charset="0"/>
              </a:rPr>
              <a:t>理论教学      </a:t>
            </a:r>
            <a:r>
              <a:rPr lang="en-US" altLang="zh-CN" b="1" dirty="0">
                <a:latin typeface="楷体" panose="02010609060101010101" pitchFamily="49" charset="-122"/>
                <a:ea typeface="楷体" panose="02010609060101010101" pitchFamily="49" charset="-122"/>
                <a:cs typeface="Times New Roman" panose="02020603050405020304" pitchFamily="18" charset="0"/>
              </a:rPr>
              <a:t>40</a:t>
            </a:r>
            <a:r>
              <a:rPr lang="zh-CN" altLang="en-US" b="1" dirty="0">
                <a:latin typeface="楷体" panose="02010609060101010101" pitchFamily="49" charset="-122"/>
                <a:ea typeface="楷体" panose="02010609060101010101" pitchFamily="49" charset="-122"/>
                <a:cs typeface="Times New Roman" panose="02020603050405020304" pitchFamily="18" charset="0"/>
              </a:rPr>
              <a:t>学时</a:t>
            </a:r>
            <a:endParaRPr lang="en-US" altLang="zh-CN" b="1" dirty="0">
              <a:latin typeface="楷体" panose="02010609060101010101" pitchFamily="49" charset="-122"/>
              <a:ea typeface="楷体" panose="02010609060101010101" pitchFamily="49" charset="-122"/>
              <a:cs typeface="Times New Roman" panose="02020603050405020304" pitchFamily="18" charset="0"/>
            </a:endParaRPr>
          </a:p>
          <a:p>
            <a:pPr marL="257175" indent="-257175">
              <a:lnSpc>
                <a:spcPct val="200000"/>
              </a:lnSpc>
              <a:spcBef>
                <a:spcPts val="0"/>
              </a:spcBef>
              <a:buClr>
                <a:srgbClr val="FF0000"/>
              </a:buClr>
              <a:buFont typeface="+mj-lt"/>
              <a:buAutoNum type="arabicPeriod"/>
            </a:pPr>
            <a:r>
              <a:rPr lang="zh-CN" altLang="en-US" b="1" dirty="0">
                <a:solidFill>
                  <a:srgbClr val="003399"/>
                </a:solidFill>
                <a:latin typeface="楷体" panose="02010609060101010101" pitchFamily="49" charset="-122"/>
                <a:ea typeface="楷体" panose="02010609060101010101" pitchFamily="49" charset="-122"/>
                <a:cs typeface="Times New Roman" panose="02020603050405020304" pitchFamily="18" charset="0"/>
              </a:rPr>
              <a:t>课程实验      </a:t>
            </a:r>
            <a:r>
              <a:rPr lang="en-US" altLang="zh-CN" b="1" dirty="0">
                <a:latin typeface="楷体" panose="02010609060101010101" pitchFamily="49" charset="-122"/>
                <a:ea typeface="楷体" panose="02010609060101010101" pitchFamily="49" charset="-122"/>
                <a:cs typeface="Times New Roman" panose="02020603050405020304" pitchFamily="18" charset="0"/>
              </a:rPr>
              <a:t>16</a:t>
            </a:r>
            <a:r>
              <a:rPr lang="zh-CN" altLang="en-US" b="1" dirty="0">
                <a:latin typeface="楷体" panose="02010609060101010101" pitchFamily="49" charset="-122"/>
                <a:ea typeface="楷体" panose="02010609060101010101" pitchFamily="49" charset="-122"/>
                <a:cs typeface="Times New Roman" panose="02020603050405020304" pitchFamily="18" charset="0"/>
              </a:rPr>
              <a:t>学时（</a:t>
            </a:r>
            <a:r>
              <a:rPr lang="en-US" altLang="zh-CN" b="1" dirty="0">
                <a:latin typeface="楷体" panose="02010609060101010101" pitchFamily="49" charset="-122"/>
                <a:ea typeface="楷体" panose="02010609060101010101" pitchFamily="49" charset="-122"/>
                <a:cs typeface="Times New Roman" panose="02020603050405020304" pitchFamily="18" charset="0"/>
              </a:rPr>
              <a:t>4</a:t>
            </a:r>
            <a:r>
              <a:rPr lang="zh-CN" altLang="en-US" b="1" dirty="0">
                <a:latin typeface="楷体" panose="02010609060101010101" pitchFamily="49" charset="-122"/>
                <a:ea typeface="楷体" panose="02010609060101010101" pitchFamily="49" charset="-122"/>
                <a:cs typeface="Times New Roman" panose="02020603050405020304" pitchFamily="18" charset="0"/>
              </a:rPr>
              <a:t>次实验）</a:t>
            </a:r>
            <a:endParaRPr lang="en-US" altLang="zh-CN" b="1" dirty="0">
              <a:latin typeface="楷体" panose="02010609060101010101" pitchFamily="49" charset="-122"/>
              <a:ea typeface="楷体"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C8F0BAB9-3575-4DDC-82DA-B95B040D2BAF}"/>
              </a:ext>
            </a:extLst>
          </p:cNvPr>
          <p:cNvSpPr/>
          <p:nvPr/>
        </p:nvSpPr>
        <p:spPr>
          <a:xfrm>
            <a:off x="575557" y="1497266"/>
            <a:ext cx="1689886" cy="461665"/>
          </a:xfrm>
          <a:prstGeom prst="rect">
            <a:avLst/>
          </a:prstGeom>
        </p:spPr>
        <p:txBody>
          <a:bodyPr wrap="none">
            <a:spAutoFit/>
          </a:bodyPr>
          <a:lstStyle/>
          <a:p>
            <a:pPr marL="267891" indent="-267891">
              <a:buClr>
                <a:srgbClr val="FF0000"/>
              </a:buClr>
              <a:buFont typeface="Wingdings" panose="05000000000000000000" pitchFamily="2" charset="2"/>
              <a:buChar char="p"/>
            </a:pPr>
            <a:r>
              <a:rPr lang="zh-CN" altLang="en-US" sz="2400" b="1" dirty="0">
                <a:latin typeface="楷体" panose="02010609060101010101" pitchFamily="49" charset="-122"/>
                <a:ea typeface="楷体" panose="02010609060101010101" pitchFamily="49" charset="-122"/>
              </a:rPr>
              <a:t>教学目标</a:t>
            </a:r>
          </a:p>
        </p:txBody>
      </p:sp>
      <p:sp>
        <p:nvSpPr>
          <p:cNvPr id="7" name="文本框 6">
            <a:extLst>
              <a:ext uri="{FF2B5EF4-FFF2-40B4-BE49-F238E27FC236}">
                <a16:creationId xmlns:a16="http://schemas.microsoft.com/office/drawing/2014/main" id="{993E23C5-FFC2-42AE-BD88-B381ADA4B328}"/>
              </a:ext>
            </a:extLst>
          </p:cNvPr>
          <p:cNvSpPr txBox="1"/>
          <p:nvPr/>
        </p:nvSpPr>
        <p:spPr>
          <a:xfrm>
            <a:off x="755576" y="1999642"/>
            <a:ext cx="8100900" cy="2120709"/>
          </a:xfrm>
          <a:prstGeom prst="rect">
            <a:avLst/>
          </a:prstGeom>
          <a:noFill/>
        </p:spPr>
        <p:txBody>
          <a:bodyPr wrap="square" rtlCol="0">
            <a:spAutoFit/>
          </a:bodyPr>
          <a:lstStyle/>
          <a:p>
            <a:pPr indent="338138" algn="just">
              <a:lnSpc>
                <a:spcPct val="150000"/>
              </a:lnSpc>
            </a:pPr>
            <a:r>
              <a:rPr lang="zh-CN" altLang="en-US" b="1" dirty="0">
                <a:latin typeface="楷体" panose="02010609060101010101" pitchFamily="49" charset="-122"/>
                <a:ea typeface="楷体" panose="02010609060101010101" pitchFamily="49" charset="-122"/>
                <a:cs typeface="Times New Roman" panose="02020603050405020304" pitchFamily="18" charset="0"/>
              </a:rPr>
              <a:t>机器学习是以概率论、统计学、信息论、计算理论等为基础的计算机应用理论学科，也是人工智能、数据挖掘等领域的基础学科</a:t>
            </a:r>
            <a:endParaRPr lang="en-US" altLang="zh-CN" b="1" dirty="0">
              <a:latin typeface="楷体" panose="02010609060101010101" pitchFamily="49" charset="-122"/>
              <a:ea typeface="楷体" panose="02010609060101010101" pitchFamily="49" charset="-122"/>
              <a:cs typeface="Times New Roman" panose="02020603050405020304" pitchFamily="18" charset="0"/>
            </a:endParaRPr>
          </a:p>
          <a:p>
            <a:pPr indent="338138" algn="just">
              <a:lnSpc>
                <a:spcPct val="150000"/>
              </a:lnSpc>
            </a:pPr>
            <a:r>
              <a:rPr lang="zh-CN" altLang="en-US" b="1" dirty="0">
                <a:latin typeface="楷体" panose="02010609060101010101" pitchFamily="49" charset="-122"/>
                <a:ea typeface="楷体" panose="02010609060101010101" pitchFamily="49" charset="-122"/>
                <a:cs typeface="Times New Roman" panose="02020603050405020304" pitchFamily="18" charset="0"/>
              </a:rPr>
              <a:t>掌握经典的机器学习算法的思想、原理；掌握线性模型、决策树、神经网络、支持向量机、贝叶斯、集成学习、聚类等不同算法、模型的评价指标；能够编程实践解决分类、回归、聚类等实际工程问题</a:t>
            </a:r>
            <a:r>
              <a:rPr lang="zh-CN" altLang="zh-CN" b="1" dirty="0">
                <a:latin typeface="楷体" panose="02010609060101010101" pitchFamily="49" charset="-122"/>
                <a:ea typeface="楷体" panose="02010609060101010101" pitchFamily="49" charset="-122"/>
                <a:cs typeface="Times New Roman" panose="02020603050405020304" pitchFamily="18" charset="0"/>
              </a:rPr>
              <a:t>。</a:t>
            </a:r>
            <a:endParaRPr lang="en-US" altLang="zh-CN" b="1" dirty="0">
              <a:latin typeface="楷体" panose="02010609060101010101" pitchFamily="49" charset="-122"/>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57857764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8260EBA5-E936-48D5-8B3A-0161C54E5671}"/>
              </a:ext>
            </a:extLst>
          </p:cNvPr>
          <p:cNvSpPr/>
          <p:nvPr/>
        </p:nvSpPr>
        <p:spPr>
          <a:xfrm>
            <a:off x="683568" y="1473850"/>
            <a:ext cx="1689886" cy="461665"/>
          </a:xfrm>
          <a:prstGeom prst="rect">
            <a:avLst/>
          </a:prstGeom>
        </p:spPr>
        <p:txBody>
          <a:bodyPr wrap="none">
            <a:spAutoFit/>
          </a:bodyPr>
          <a:lstStyle/>
          <a:p>
            <a:pPr marL="267891" indent="-267891">
              <a:buClr>
                <a:srgbClr val="FF0000"/>
              </a:buClr>
              <a:buFont typeface="Wingdings" panose="05000000000000000000" pitchFamily="2" charset="2"/>
              <a:buChar char="p"/>
            </a:pPr>
            <a:r>
              <a:rPr lang="zh-CN" altLang="en-US" sz="2400" b="1" dirty="0">
                <a:latin typeface="楷体" panose="02010609060101010101" pitchFamily="49" charset="-122"/>
                <a:ea typeface="楷体" panose="02010609060101010101" pitchFamily="49" charset="-122"/>
              </a:rPr>
              <a:t>理论教学</a:t>
            </a:r>
          </a:p>
        </p:txBody>
      </p:sp>
      <p:sp>
        <p:nvSpPr>
          <p:cNvPr id="26" name="文本框 25"/>
          <p:cNvSpPr txBox="1"/>
          <p:nvPr/>
        </p:nvSpPr>
        <p:spPr>
          <a:xfrm>
            <a:off x="755576" y="705766"/>
            <a:ext cx="1710725" cy="523220"/>
          </a:xfrm>
          <a:prstGeom prst="rect">
            <a:avLst/>
          </a:prstGeom>
          <a:noFill/>
        </p:spPr>
        <p:txBody>
          <a:bodyPr wrap="none" rtlCol="0">
            <a:spAutoFit/>
          </a:bodyPr>
          <a:lstStyle/>
          <a:p>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教学大纲</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AutoShape 2" descr="https://img14.360buyimg.com/n0/jfs/t1/183313/1/11039/331116/60d42966Eb1320178/ef6628487a98583b.jpg.avif"/>
          <p:cNvSpPr>
            <a:spLocks noChangeAspect="1" noChangeArrowheads="1"/>
          </p:cNvSpPr>
          <p:nvPr/>
        </p:nvSpPr>
        <p:spPr bwMode="auto">
          <a:xfrm>
            <a:off x="116681" y="74890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zh-CN" altLang="en-US"/>
          </a:p>
        </p:txBody>
      </p:sp>
      <p:graphicFrame>
        <p:nvGraphicFramePr>
          <p:cNvPr id="63" name="表格 62">
            <a:extLst>
              <a:ext uri="{FF2B5EF4-FFF2-40B4-BE49-F238E27FC236}">
                <a16:creationId xmlns:a16="http://schemas.microsoft.com/office/drawing/2014/main" id="{11C42764-BA3B-4E1D-8716-66B62EB9783D}"/>
              </a:ext>
            </a:extLst>
          </p:cNvPr>
          <p:cNvGraphicFramePr>
            <a:graphicFrameLocks noGrp="1"/>
          </p:cNvGraphicFramePr>
          <p:nvPr>
            <p:extLst>
              <p:ext uri="{D42A27DB-BD31-4B8C-83A1-F6EECF244321}">
                <p14:modId xmlns:p14="http://schemas.microsoft.com/office/powerpoint/2010/main" val="3949483243"/>
              </p:ext>
            </p:extLst>
          </p:nvPr>
        </p:nvGraphicFramePr>
        <p:xfrm>
          <a:off x="774466" y="2132857"/>
          <a:ext cx="3780420" cy="2400300"/>
        </p:xfrm>
        <a:graphic>
          <a:graphicData uri="http://schemas.openxmlformats.org/drawingml/2006/table">
            <a:tbl>
              <a:tblPr firstRow="1" bandRow="1">
                <a:tableStyleId>{5C22544A-7EE6-4342-B048-85BDC9FD1C3A}</a:tableStyleId>
              </a:tblPr>
              <a:tblGrid>
                <a:gridCol w="617636">
                  <a:extLst>
                    <a:ext uri="{9D8B030D-6E8A-4147-A177-3AD203B41FA5}">
                      <a16:colId xmlns:a16="http://schemas.microsoft.com/office/drawing/2014/main" val="3812683560"/>
                    </a:ext>
                  </a:extLst>
                </a:gridCol>
                <a:gridCol w="1767629">
                  <a:extLst>
                    <a:ext uri="{9D8B030D-6E8A-4147-A177-3AD203B41FA5}">
                      <a16:colId xmlns:a16="http://schemas.microsoft.com/office/drawing/2014/main" val="802530891"/>
                    </a:ext>
                  </a:extLst>
                </a:gridCol>
                <a:gridCol w="1395155">
                  <a:extLst>
                    <a:ext uri="{9D8B030D-6E8A-4147-A177-3AD203B41FA5}">
                      <a16:colId xmlns:a16="http://schemas.microsoft.com/office/drawing/2014/main" val="3609246120"/>
                    </a:ext>
                  </a:extLst>
                </a:gridCol>
              </a:tblGrid>
              <a:tr h="316321">
                <a:tc>
                  <a:txBody>
                    <a:bodyPr/>
                    <a:lstStyle/>
                    <a:p>
                      <a:pPr algn="ctr"/>
                      <a:r>
                        <a:rPr lang="zh-CN" altLang="en-US" sz="1800" dirty="0">
                          <a:latin typeface="楷体" panose="02010609060101010101" pitchFamily="49" charset="-122"/>
                          <a:ea typeface="楷体" panose="02010609060101010101" pitchFamily="49" charset="-122"/>
                          <a:cs typeface="Times New Roman" panose="02020603050405020304" pitchFamily="18" charset="0"/>
                        </a:rPr>
                        <a:t>序号</a:t>
                      </a:r>
                    </a:p>
                  </a:txBody>
                  <a:tcPr marL="68580" marR="68580" marT="34290" marB="34290" anchor="ctr" anchorCtr="1"/>
                </a:tc>
                <a:tc>
                  <a:txBody>
                    <a:bodyPr/>
                    <a:lstStyle/>
                    <a:p>
                      <a:pPr algn="ctr"/>
                      <a:r>
                        <a:rPr lang="zh-CN" altLang="en-US" sz="1800" dirty="0">
                          <a:latin typeface="楷体" panose="02010609060101010101" pitchFamily="49" charset="-122"/>
                          <a:ea typeface="楷体" panose="02010609060101010101" pitchFamily="49" charset="-122"/>
                          <a:cs typeface="Times New Roman" panose="02020603050405020304" pitchFamily="18" charset="0"/>
                        </a:rPr>
                        <a:t>教学内容</a:t>
                      </a:r>
                    </a:p>
                  </a:txBody>
                  <a:tcPr marL="68580" marR="68580" marT="34290" marB="34290" anchor="ctr" anchorCtr="1"/>
                </a:tc>
                <a:tc>
                  <a:txBody>
                    <a:bodyPr/>
                    <a:lstStyle/>
                    <a:p>
                      <a:pPr algn="ctr"/>
                      <a:r>
                        <a:rPr lang="zh-CN" altLang="en-US" sz="1800" dirty="0">
                          <a:latin typeface="楷体" panose="02010609060101010101" pitchFamily="49" charset="-122"/>
                          <a:ea typeface="楷体" panose="02010609060101010101" pitchFamily="49" charset="-122"/>
                          <a:cs typeface="Times New Roman" panose="02020603050405020304" pitchFamily="18" charset="0"/>
                        </a:rPr>
                        <a:t>理论学时</a:t>
                      </a:r>
                      <a:endParaRPr lang="en-US" altLang="zh-CN"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extLst>
                  <a:ext uri="{0D108BD9-81ED-4DB2-BD59-A6C34878D82A}">
                    <a16:rowId xmlns:a16="http://schemas.microsoft.com/office/drawing/2014/main" val="3387894681"/>
                  </a:ext>
                </a:extLst>
              </a:tr>
              <a:tr h="316321">
                <a:tc>
                  <a:txBody>
                    <a:bodyPr/>
                    <a:lstStyle/>
                    <a:p>
                      <a:pPr algn="ctr"/>
                      <a:r>
                        <a:rPr lang="en-US" altLang="zh-CN" sz="1800" dirty="0">
                          <a:latin typeface="楷体" panose="02010609060101010101" pitchFamily="49" charset="-122"/>
                          <a:ea typeface="楷体" panose="02010609060101010101" pitchFamily="49" charset="-122"/>
                          <a:cs typeface="Times New Roman" panose="02020603050405020304" pitchFamily="18" charset="0"/>
                        </a:rPr>
                        <a:t>1</a:t>
                      </a: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tc>
                  <a:txBody>
                    <a:bodyPr/>
                    <a:lstStyle/>
                    <a:p>
                      <a:pPr algn="ctr"/>
                      <a:r>
                        <a:rPr lang="zh-CN" altLang="en-US" sz="1800" dirty="0">
                          <a:latin typeface="楷体" panose="02010609060101010101" pitchFamily="49" charset="-122"/>
                          <a:ea typeface="楷体" panose="02010609060101010101" pitchFamily="49" charset="-122"/>
                          <a:cs typeface="Times New Roman" panose="02020603050405020304" pitchFamily="18" charset="0"/>
                        </a:rPr>
                        <a:t>机器学习基础</a:t>
                      </a:r>
                    </a:p>
                  </a:txBody>
                  <a:tcPr marL="68580" marR="68580" marT="34290" marB="34290" anchor="ctr" anchorCtr="1"/>
                </a:tc>
                <a:tc>
                  <a:txBody>
                    <a:bodyPr/>
                    <a:lstStyle/>
                    <a:p>
                      <a:pPr algn="ctr"/>
                      <a:r>
                        <a:rPr lang="en-US" altLang="zh-CN" sz="1800" dirty="0">
                          <a:latin typeface="楷体" panose="02010609060101010101" pitchFamily="49" charset="-122"/>
                          <a:ea typeface="楷体" panose="02010609060101010101" pitchFamily="49" charset="-122"/>
                          <a:cs typeface="Times New Roman" panose="02020603050405020304" pitchFamily="18" charset="0"/>
                        </a:rPr>
                        <a:t>4</a:t>
                      </a: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extLst>
                  <a:ext uri="{0D108BD9-81ED-4DB2-BD59-A6C34878D82A}">
                    <a16:rowId xmlns:a16="http://schemas.microsoft.com/office/drawing/2014/main" val="990107305"/>
                  </a:ext>
                </a:extLst>
              </a:tr>
              <a:tr h="316321">
                <a:tc>
                  <a:txBody>
                    <a:bodyPr/>
                    <a:lstStyle/>
                    <a:p>
                      <a:pPr algn="ctr"/>
                      <a:r>
                        <a:rPr lang="en-US" altLang="zh-CN" sz="1800" dirty="0">
                          <a:latin typeface="楷体" panose="02010609060101010101" pitchFamily="49" charset="-122"/>
                          <a:ea typeface="楷体" panose="02010609060101010101" pitchFamily="49" charset="-122"/>
                          <a:cs typeface="Times New Roman" panose="02020603050405020304" pitchFamily="18" charset="0"/>
                        </a:rPr>
                        <a:t>2</a:t>
                      </a: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tc>
                  <a:txBody>
                    <a:bodyPr/>
                    <a:lstStyle/>
                    <a:p>
                      <a:pPr algn="ctr"/>
                      <a:r>
                        <a:rPr lang="zh-CN" altLang="en-US" sz="1800" dirty="0">
                          <a:latin typeface="楷体" panose="02010609060101010101" pitchFamily="49" charset="-122"/>
                          <a:ea typeface="楷体" panose="02010609060101010101" pitchFamily="49" charset="-122"/>
                          <a:cs typeface="Times New Roman" panose="02020603050405020304" pitchFamily="18" charset="0"/>
                        </a:rPr>
                        <a:t>监督学习算法</a:t>
                      </a:r>
                    </a:p>
                  </a:txBody>
                  <a:tcPr marL="68580" marR="68580" marT="34290" marB="34290" anchor="ctr" anchorCtr="1"/>
                </a:tc>
                <a:tc>
                  <a:txBody>
                    <a:bodyPr/>
                    <a:lstStyle/>
                    <a:p>
                      <a:pPr algn="ctr"/>
                      <a:r>
                        <a:rPr lang="en-US" altLang="zh-CN" sz="1800" dirty="0">
                          <a:latin typeface="楷体" panose="02010609060101010101" pitchFamily="49" charset="-122"/>
                          <a:ea typeface="楷体" panose="02010609060101010101" pitchFamily="49" charset="-122"/>
                          <a:cs typeface="Times New Roman" panose="02020603050405020304" pitchFamily="18" charset="0"/>
                        </a:rPr>
                        <a:t>14</a:t>
                      </a: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extLst>
                  <a:ext uri="{0D108BD9-81ED-4DB2-BD59-A6C34878D82A}">
                    <a16:rowId xmlns:a16="http://schemas.microsoft.com/office/drawing/2014/main" val="1074409154"/>
                  </a:ext>
                </a:extLst>
              </a:tr>
              <a:tr h="316321">
                <a:tc>
                  <a:txBody>
                    <a:bodyPr/>
                    <a:lstStyle/>
                    <a:p>
                      <a:pPr algn="ctr"/>
                      <a:r>
                        <a:rPr lang="en-US" altLang="zh-CN" sz="1800" dirty="0">
                          <a:latin typeface="楷体" panose="02010609060101010101" pitchFamily="49" charset="-122"/>
                          <a:ea typeface="楷体" panose="02010609060101010101" pitchFamily="49" charset="-122"/>
                          <a:cs typeface="Times New Roman" panose="02020603050405020304" pitchFamily="18" charset="0"/>
                        </a:rPr>
                        <a:t>3</a:t>
                      </a: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tc>
                  <a:txBody>
                    <a:bodyPr/>
                    <a:lstStyle/>
                    <a:p>
                      <a:pPr algn="ctr"/>
                      <a:r>
                        <a:rPr lang="zh-CN" altLang="en-US" sz="1800" dirty="0">
                          <a:latin typeface="楷体" panose="02010609060101010101" pitchFamily="49" charset="-122"/>
                          <a:ea typeface="楷体" panose="02010609060101010101" pitchFamily="49" charset="-122"/>
                          <a:cs typeface="Times New Roman" panose="02020603050405020304" pitchFamily="18" charset="0"/>
                        </a:rPr>
                        <a:t>无监督学习算法</a:t>
                      </a:r>
                    </a:p>
                  </a:txBody>
                  <a:tcPr marL="68580" marR="68580" marT="34290" marB="34290" anchor="ctr" anchorCtr="1"/>
                </a:tc>
                <a:tc>
                  <a:txBody>
                    <a:bodyPr/>
                    <a:lstStyle/>
                    <a:p>
                      <a:pPr algn="ctr"/>
                      <a:r>
                        <a:rPr lang="en-US" altLang="zh-CN" sz="1800" dirty="0">
                          <a:latin typeface="楷体" panose="02010609060101010101" pitchFamily="49" charset="-122"/>
                          <a:ea typeface="楷体" panose="02010609060101010101" pitchFamily="49" charset="-122"/>
                          <a:cs typeface="Times New Roman" panose="02020603050405020304" pitchFamily="18" charset="0"/>
                        </a:rPr>
                        <a:t>14</a:t>
                      </a: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extLst>
                  <a:ext uri="{0D108BD9-81ED-4DB2-BD59-A6C34878D82A}">
                    <a16:rowId xmlns:a16="http://schemas.microsoft.com/office/drawing/2014/main" val="1398890721"/>
                  </a:ext>
                </a:extLst>
              </a:tr>
              <a:tr h="316321">
                <a:tc>
                  <a:txBody>
                    <a:bodyPr/>
                    <a:lstStyle/>
                    <a:p>
                      <a:pPr algn="ctr"/>
                      <a:r>
                        <a:rPr lang="en-US" altLang="zh-CN" sz="1800" dirty="0">
                          <a:latin typeface="楷体" panose="02010609060101010101" pitchFamily="49" charset="-122"/>
                          <a:ea typeface="楷体" panose="02010609060101010101" pitchFamily="49" charset="-122"/>
                          <a:cs typeface="Times New Roman" panose="02020603050405020304" pitchFamily="18" charset="0"/>
                        </a:rPr>
                        <a:t>4</a:t>
                      </a: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tc>
                  <a:txBody>
                    <a:bodyPr/>
                    <a:lstStyle/>
                    <a:p>
                      <a:pPr algn="ctr"/>
                      <a:r>
                        <a:rPr lang="zh-CN" altLang="en-US" sz="1800" dirty="0">
                          <a:latin typeface="楷体" panose="02010609060101010101" pitchFamily="49" charset="-122"/>
                          <a:ea typeface="楷体" panose="02010609060101010101" pitchFamily="49" charset="-122"/>
                          <a:cs typeface="Times New Roman" panose="02020603050405020304" pitchFamily="18" charset="0"/>
                        </a:rPr>
                        <a:t>深度学习</a:t>
                      </a:r>
                    </a:p>
                  </a:txBody>
                  <a:tcPr marL="68580" marR="68580" marT="34290" marB="34290" anchor="ctr" anchorCtr="1"/>
                </a:tc>
                <a:tc>
                  <a:txBody>
                    <a:bodyPr/>
                    <a:lstStyle/>
                    <a:p>
                      <a:pPr algn="ctr"/>
                      <a:r>
                        <a:rPr lang="en-US" altLang="zh-CN" sz="1800" dirty="0">
                          <a:latin typeface="楷体" panose="02010609060101010101" pitchFamily="49" charset="-122"/>
                          <a:ea typeface="楷体" panose="02010609060101010101" pitchFamily="49" charset="-122"/>
                          <a:cs typeface="Times New Roman" panose="02020603050405020304" pitchFamily="18" charset="0"/>
                        </a:rPr>
                        <a:t>6</a:t>
                      </a: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extLst>
                  <a:ext uri="{0D108BD9-81ED-4DB2-BD59-A6C34878D82A}">
                    <a16:rowId xmlns:a16="http://schemas.microsoft.com/office/drawing/2014/main" val="2053276870"/>
                  </a:ext>
                </a:extLst>
              </a:tr>
              <a:tr h="316321">
                <a:tc>
                  <a:txBody>
                    <a:bodyPr/>
                    <a:lstStyle/>
                    <a:p>
                      <a:pPr algn="ctr"/>
                      <a:r>
                        <a:rPr lang="en-US" altLang="zh-CN" sz="1800" dirty="0">
                          <a:latin typeface="楷体" panose="02010609060101010101" pitchFamily="49" charset="-122"/>
                          <a:ea typeface="楷体" panose="02010609060101010101" pitchFamily="49" charset="-122"/>
                          <a:cs typeface="Times New Roman" panose="02020603050405020304" pitchFamily="18" charset="0"/>
                        </a:rPr>
                        <a:t>5</a:t>
                      </a: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tc>
                  <a:txBody>
                    <a:bodyPr/>
                    <a:lstStyle/>
                    <a:p>
                      <a:pPr algn="ctr"/>
                      <a:r>
                        <a:rPr lang="zh-CN" altLang="en-US" sz="1800" dirty="0">
                          <a:latin typeface="楷体" panose="02010609060101010101" pitchFamily="49" charset="-122"/>
                          <a:ea typeface="楷体" panose="02010609060101010101" pitchFamily="49" charset="-122"/>
                          <a:cs typeface="Times New Roman" panose="02020603050405020304" pitchFamily="18" charset="0"/>
                        </a:rPr>
                        <a:t>习题课和讨论课</a:t>
                      </a:r>
                    </a:p>
                  </a:txBody>
                  <a:tcPr marL="68580" marR="68580" marT="34290" marB="34290" anchor="ctr" anchorCtr="1"/>
                </a:tc>
                <a:tc>
                  <a:txBody>
                    <a:bodyPr/>
                    <a:lstStyle/>
                    <a:p>
                      <a:pPr algn="ctr"/>
                      <a:r>
                        <a:rPr lang="en-US" altLang="zh-CN" sz="1800" dirty="0">
                          <a:latin typeface="楷体" panose="02010609060101010101" pitchFamily="49" charset="-122"/>
                          <a:ea typeface="楷体" panose="02010609060101010101" pitchFamily="49" charset="-122"/>
                          <a:cs typeface="Times New Roman" panose="02020603050405020304" pitchFamily="18" charset="0"/>
                        </a:rPr>
                        <a:t>2</a:t>
                      </a: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extLst>
                  <a:ext uri="{0D108BD9-81ED-4DB2-BD59-A6C34878D82A}">
                    <a16:rowId xmlns:a16="http://schemas.microsoft.com/office/drawing/2014/main" val="845279707"/>
                  </a:ext>
                </a:extLst>
              </a:tr>
              <a:tr h="316321">
                <a:tc>
                  <a:txBody>
                    <a:bodyPr/>
                    <a:lstStyle/>
                    <a:p>
                      <a:pPr algn="ct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tc>
                  <a:txBody>
                    <a:bodyPr/>
                    <a:lstStyle/>
                    <a:p>
                      <a:pPr algn="ctr"/>
                      <a:r>
                        <a:rPr lang="zh-CN" altLang="en-US" sz="1800" dirty="0">
                          <a:latin typeface="楷体" panose="02010609060101010101" pitchFamily="49" charset="-122"/>
                          <a:ea typeface="楷体" panose="02010609060101010101" pitchFamily="49" charset="-122"/>
                          <a:cs typeface="Times New Roman" panose="02020603050405020304" pitchFamily="18" charset="0"/>
                        </a:rPr>
                        <a:t>合计</a:t>
                      </a:r>
                    </a:p>
                  </a:txBody>
                  <a:tcPr marL="68580" marR="68580" marT="34290" marB="34290" anchor="ctr" anchorCtr="1"/>
                </a:tc>
                <a:tc>
                  <a:txBody>
                    <a:bodyPr/>
                    <a:lstStyle/>
                    <a:p>
                      <a:pPr algn="ctr"/>
                      <a:r>
                        <a:rPr lang="en-US" altLang="zh-CN" sz="1800" b="1" dirty="0">
                          <a:solidFill>
                            <a:srgbClr val="C00000"/>
                          </a:solidFill>
                          <a:latin typeface="楷体" panose="02010609060101010101" pitchFamily="49" charset="-122"/>
                          <a:ea typeface="楷体" panose="02010609060101010101" pitchFamily="49" charset="-122"/>
                          <a:cs typeface="Times New Roman" panose="02020603050405020304" pitchFamily="18" charset="0"/>
                        </a:rPr>
                        <a:t>40 </a:t>
                      </a:r>
                      <a:r>
                        <a:rPr lang="zh-CN" altLang="en-US" sz="1800" b="1" dirty="0">
                          <a:solidFill>
                            <a:srgbClr val="C00000"/>
                          </a:solidFill>
                          <a:latin typeface="楷体" panose="02010609060101010101" pitchFamily="49" charset="-122"/>
                          <a:ea typeface="楷体" panose="02010609060101010101" pitchFamily="49" charset="-122"/>
                          <a:cs typeface="Times New Roman" panose="02020603050405020304" pitchFamily="18" charset="0"/>
                        </a:rPr>
                        <a:t>学时</a:t>
                      </a:r>
                    </a:p>
                  </a:txBody>
                  <a:tcPr marL="68580" marR="68580" marT="34290" marB="34290" anchor="ctr" anchorCtr="1"/>
                </a:tc>
                <a:extLst>
                  <a:ext uri="{0D108BD9-81ED-4DB2-BD59-A6C34878D82A}">
                    <a16:rowId xmlns:a16="http://schemas.microsoft.com/office/drawing/2014/main" val="1388358609"/>
                  </a:ext>
                </a:extLst>
              </a:tr>
            </a:tbl>
          </a:graphicData>
        </a:graphic>
      </p:graphicFrame>
      <p:sp>
        <p:nvSpPr>
          <p:cNvPr id="64" name="矩形 63">
            <a:extLst>
              <a:ext uri="{FF2B5EF4-FFF2-40B4-BE49-F238E27FC236}">
                <a16:creationId xmlns:a16="http://schemas.microsoft.com/office/drawing/2014/main" id="{506E8011-67B0-4575-950C-560E3263ACB2}"/>
              </a:ext>
            </a:extLst>
          </p:cNvPr>
          <p:cNvSpPr/>
          <p:nvPr/>
        </p:nvSpPr>
        <p:spPr>
          <a:xfrm>
            <a:off x="5148064" y="1566183"/>
            <a:ext cx="1689886" cy="461665"/>
          </a:xfrm>
          <a:prstGeom prst="rect">
            <a:avLst/>
          </a:prstGeom>
        </p:spPr>
        <p:txBody>
          <a:bodyPr wrap="none">
            <a:spAutoFit/>
          </a:bodyPr>
          <a:lstStyle/>
          <a:p>
            <a:pPr marL="267891" indent="-267891">
              <a:buClr>
                <a:srgbClr val="FF0000"/>
              </a:buClr>
              <a:buFont typeface="Wingdings" panose="05000000000000000000" pitchFamily="2" charset="2"/>
              <a:buChar char="p"/>
            </a:pPr>
            <a:r>
              <a:rPr lang="zh-CN" altLang="en-US" sz="2400" b="1" dirty="0">
                <a:latin typeface="楷体" panose="02010609060101010101" pitchFamily="49" charset="-122"/>
                <a:ea typeface="楷体" panose="02010609060101010101" pitchFamily="49" charset="-122"/>
              </a:rPr>
              <a:t>实验教学</a:t>
            </a:r>
          </a:p>
        </p:txBody>
      </p:sp>
      <p:graphicFrame>
        <p:nvGraphicFramePr>
          <p:cNvPr id="65" name="表格 64">
            <a:extLst>
              <a:ext uri="{FF2B5EF4-FFF2-40B4-BE49-F238E27FC236}">
                <a16:creationId xmlns:a16="http://schemas.microsoft.com/office/drawing/2014/main" id="{FE131565-BC83-4641-AB24-6E545285CB7C}"/>
              </a:ext>
            </a:extLst>
          </p:cNvPr>
          <p:cNvGraphicFramePr>
            <a:graphicFrameLocks noGrp="1"/>
          </p:cNvGraphicFramePr>
          <p:nvPr>
            <p:extLst>
              <p:ext uri="{D42A27DB-BD31-4B8C-83A1-F6EECF244321}">
                <p14:modId xmlns:p14="http://schemas.microsoft.com/office/powerpoint/2010/main" val="2010699692"/>
              </p:ext>
            </p:extLst>
          </p:nvPr>
        </p:nvGraphicFramePr>
        <p:xfrm>
          <a:off x="5219907" y="2132856"/>
          <a:ext cx="3780421" cy="2331720"/>
        </p:xfrm>
        <a:graphic>
          <a:graphicData uri="http://schemas.openxmlformats.org/drawingml/2006/table">
            <a:tbl>
              <a:tblPr firstRow="1" bandRow="1">
                <a:tableStyleId>{5C22544A-7EE6-4342-B048-85BDC9FD1C3A}</a:tableStyleId>
              </a:tblPr>
              <a:tblGrid>
                <a:gridCol w="617636">
                  <a:extLst>
                    <a:ext uri="{9D8B030D-6E8A-4147-A177-3AD203B41FA5}">
                      <a16:colId xmlns:a16="http://schemas.microsoft.com/office/drawing/2014/main" val="3812683560"/>
                    </a:ext>
                  </a:extLst>
                </a:gridCol>
                <a:gridCol w="2065716">
                  <a:extLst>
                    <a:ext uri="{9D8B030D-6E8A-4147-A177-3AD203B41FA5}">
                      <a16:colId xmlns:a16="http://schemas.microsoft.com/office/drawing/2014/main" val="802530891"/>
                    </a:ext>
                  </a:extLst>
                </a:gridCol>
                <a:gridCol w="1097069">
                  <a:extLst>
                    <a:ext uri="{9D8B030D-6E8A-4147-A177-3AD203B41FA5}">
                      <a16:colId xmlns:a16="http://schemas.microsoft.com/office/drawing/2014/main" val="3609246120"/>
                    </a:ext>
                  </a:extLst>
                </a:gridCol>
              </a:tblGrid>
              <a:tr h="316321">
                <a:tc>
                  <a:txBody>
                    <a:bodyPr/>
                    <a:lstStyle/>
                    <a:p>
                      <a:pPr algn="ctr"/>
                      <a:r>
                        <a:rPr lang="zh-CN" altLang="en-US" sz="1800" dirty="0">
                          <a:latin typeface="楷体" panose="02010609060101010101" pitchFamily="49" charset="-122"/>
                          <a:ea typeface="楷体" panose="02010609060101010101" pitchFamily="49" charset="-122"/>
                          <a:cs typeface="Times New Roman" panose="02020603050405020304" pitchFamily="18" charset="0"/>
                        </a:rPr>
                        <a:t>序号</a:t>
                      </a:r>
                    </a:p>
                  </a:txBody>
                  <a:tcPr marL="68580" marR="68580" marT="34290" marB="34290" anchor="ctr" anchorCtr="1"/>
                </a:tc>
                <a:tc>
                  <a:txBody>
                    <a:bodyPr/>
                    <a:lstStyle/>
                    <a:p>
                      <a:pPr algn="ctr"/>
                      <a:r>
                        <a:rPr lang="zh-CN" altLang="en-US" sz="1800" dirty="0">
                          <a:latin typeface="楷体" panose="02010609060101010101" pitchFamily="49" charset="-122"/>
                          <a:ea typeface="楷体" panose="02010609060101010101" pitchFamily="49" charset="-122"/>
                          <a:cs typeface="Times New Roman" panose="02020603050405020304" pitchFamily="18" charset="0"/>
                        </a:rPr>
                        <a:t>实验一</a:t>
                      </a:r>
                    </a:p>
                  </a:txBody>
                  <a:tcPr marL="68580" marR="68580" marT="34290" marB="34290" anchor="ctr" anchorCtr="1"/>
                </a:tc>
                <a:tc>
                  <a:txBody>
                    <a:bodyPr/>
                    <a:lstStyle/>
                    <a:p>
                      <a:pPr algn="ctr"/>
                      <a:r>
                        <a:rPr lang="zh-CN" altLang="en-US" sz="1800" dirty="0">
                          <a:latin typeface="楷体" panose="02010609060101010101" pitchFamily="49" charset="-122"/>
                          <a:ea typeface="楷体" panose="02010609060101010101" pitchFamily="49" charset="-122"/>
                          <a:cs typeface="Times New Roman" panose="02020603050405020304" pitchFamily="18" charset="0"/>
                        </a:rPr>
                        <a:t>实验学时</a:t>
                      </a:r>
                      <a:endParaRPr lang="en-US" altLang="zh-CN"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extLst>
                  <a:ext uri="{0D108BD9-81ED-4DB2-BD59-A6C34878D82A}">
                    <a16:rowId xmlns:a16="http://schemas.microsoft.com/office/drawing/2014/main" val="3387894681"/>
                  </a:ext>
                </a:extLst>
              </a:tr>
              <a:tr h="316321">
                <a:tc>
                  <a:txBody>
                    <a:bodyPr/>
                    <a:lstStyle/>
                    <a:p>
                      <a:pPr algn="ctr"/>
                      <a:r>
                        <a:rPr lang="en-US" altLang="zh-CN" sz="1800" dirty="0">
                          <a:latin typeface="楷体" panose="02010609060101010101" pitchFamily="49" charset="-122"/>
                          <a:ea typeface="楷体" panose="02010609060101010101" pitchFamily="49" charset="-122"/>
                          <a:cs typeface="Times New Roman" panose="02020603050405020304" pitchFamily="18" charset="0"/>
                        </a:rPr>
                        <a:t>1</a:t>
                      </a: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tc>
                  <a:txBody>
                    <a:bodyPr/>
                    <a:lstStyle/>
                    <a:p>
                      <a:pPr algn="ctr"/>
                      <a:r>
                        <a:rPr lang="zh-CN" altLang="en-US" sz="1800" dirty="0">
                          <a:latin typeface="楷体" panose="02010609060101010101" pitchFamily="49" charset="-122"/>
                          <a:ea typeface="楷体" panose="02010609060101010101" pitchFamily="49" charset="-122"/>
                          <a:cs typeface="Times New Roman" panose="02020603050405020304" pitchFamily="18" charset="0"/>
                        </a:rPr>
                        <a:t>线性模型算法实践</a:t>
                      </a:r>
                    </a:p>
                  </a:txBody>
                  <a:tcPr marL="68580" marR="68580" marT="34290" marB="34290" anchor="ctr" anchorCtr="1"/>
                </a:tc>
                <a:tc>
                  <a:txBody>
                    <a:bodyPr/>
                    <a:lstStyle/>
                    <a:p>
                      <a:pPr algn="ctr"/>
                      <a:r>
                        <a:rPr lang="en-US" altLang="zh-CN" sz="1800" dirty="0">
                          <a:latin typeface="楷体" panose="02010609060101010101" pitchFamily="49" charset="-122"/>
                          <a:ea typeface="楷体" panose="02010609060101010101" pitchFamily="49" charset="-122"/>
                          <a:cs typeface="Times New Roman" panose="02020603050405020304" pitchFamily="18" charset="0"/>
                        </a:rPr>
                        <a:t>4</a:t>
                      </a: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extLst>
                  <a:ext uri="{0D108BD9-81ED-4DB2-BD59-A6C34878D82A}">
                    <a16:rowId xmlns:a16="http://schemas.microsoft.com/office/drawing/2014/main" val="990107305"/>
                  </a:ext>
                </a:extLst>
              </a:tr>
              <a:tr h="316321">
                <a:tc>
                  <a:txBody>
                    <a:bodyPr/>
                    <a:lstStyle/>
                    <a:p>
                      <a:pPr algn="ctr"/>
                      <a:r>
                        <a:rPr lang="en-US" altLang="zh-CN" sz="1800" dirty="0">
                          <a:latin typeface="楷体" panose="02010609060101010101" pitchFamily="49" charset="-122"/>
                          <a:ea typeface="楷体" panose="02010609060101010101" pitchFamily="49" charset="-122"/>
                          <a:cs typeface="Times New Roman" panose="02020603050405020304" pitchFamily="18" charset="0"/>
                        </a:rPr>
                        <a:t>2</a:t>
                      </a: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tc>
                  <a:txBody>
                    <a:bodyPr/>
                    <a:lstStyle/>
                    <a:p>
                      <a:pPr algn="ctr"/>
                      <a:r>
                        <a:rPr lang="en-US" altLang="zh-CN" sz="1800" dirty="0">
                          <a:latin typeface="楷体" panose="02010609060101010101" pitchFamily="49" charset="-122"/>
                          <a:ea typeface="楷体" panose="02010609060101010101" pitchFamily="49" charset="-122"/>
                          <a:cs typeface="Times New Roman" panose="02020603050405020304" pitchFamily="18" charset="0"/>
                        </a:rPr>
                        <a:t>BP</a:t>
                      </a:r>
                      <a:r>
                        <a:rPr lang="zh-CN" altLang="en-US" sz="1800" dirty="0">
                          <a:latin typeface="楷体" panose="02010609060101010101" pitchFamily="49" charset="-122"/>
                          <a:ea typeface="楷体" panose="02010609060101010101" pitchFamily="49" charset="-122"/>
                          <a:cs typeface="Times New Roman" panose="02020603050405020304" pitchFamily="18" charset="0"/>
                        </a:rPr>
                        <a:t>算法实践</a:t>
                      </a:r>
                    </a:p>
                  </a:txBody>
                  <a:tcPr marL="68580" marR="68580" marT="34290" marB="34290" anchor="ctr" anchorCtr="1"/>
                </a:tc>
                <a:tc>
                  <a:txBody>
                    <a:bodyPr/>
                    <a:lstStyle/>
                    <a:p>
                      <a:pPr algn="ctr"/>
                      <a:r>
                        <a:rPr lang="en-US" altLang="zh-CN" sz="1800" dirty="0">
                          <a:latin typeface="楷体" panose="02010609060101010101" pitchFamily="49" charset="-122"/>
                          <a:ea typeface="楷体" panose="02010609060101010101" pitchFamily="49" charset="-122"/>
                          <a:cs typeface="Times New Roman" panose="02020603050405020304" pitchFamily="18" charset="0"/>
                        </a:rPr>
                        <a:t>4</a:t>
                      </a: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extLst>
                  <a:ext uri="{0D108BD9-81ED-4DB2-BD59-A6C34878D82A}">
                    <a16:rowId xmlns:a16="http://schemas.microsoft.com/office/drawing/2014/main" val="1074409154"/>
                  </a:ext>
                </a:extLst>
              </a:tr>
              <a:tr h="316321">
                <a:tc>
                  <a:txBody>
                    <a:bodyPr/>
                    <a:lstStyle/>
                    <a:p>
                      <a:pPr algn="ctr"/>
                      <a:r>
                        <a:rPr lang="en-US" altLang="zh-CN" sz="1800" dirty="0">
                          <a:latin typeface="楷体" panose="02010609060101010101" pitchFamily="49" charset="-122"/>
                          <a:ea typeface="楷体" panose="02010609060101010101" pitchFamily="49" charset="-122"/>
                          <a:cs typeface="Times New Roman" panose="02020603050405020304" pitchFamily="18" charset="0"/>
                        </a:rPr>
                        <a:t>3</a:t>
                      </a: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tc>
                  <a:txBody>
                    <a:bodyPr/>
                    <a:lstStyle/>
                    <a:p>
                      <a:pPr algn="ctr"/>
                      <a:r>
                        <a:rPr lang="zh-CN" altLang="en-US" sz="1800" dirty="0">
                          <a:latin typeface="楷体" panose="02010609060101010101" pitchFamily="49" charset="-122"/>
                          <a:ea typeface="楷体" panose="02010609060101010101" pitchFamily="49" charset="-122"/>
                          <a:cs typeface="Times New Roman" panose="02020603050405020304" pitchFamily="18" charset="0"/>
                        </a:rPr>
                        <a:t>决策树、回归算法实践</a:t>
                      </a:r>
                    </a:p>
                  </a:txBody>
                  <a:tcPr marL="68580" marR="68580" marT="34290" marB="34290" anchor="ctr" anchorCtr="1"/>
                </a:tc>
                <a:tc>
                  <a:txBody>
                    <a:bodyPr/>
                    <a:lstStyle/>
                    <a:p>
                      <a:pPr algn="ctr"/>
                      <a:r>
                        <a:rPr lang="en-US" altLang="zh-CN" sz="1800" dirty="0">
                          <a:latin typeface="楷体" panose="02010609060101010101" pitchFamily="49" charset="-122"/>
                          <a:ea typeface="楷体" panose="02010609060101010101" pitchFamily="49" charset="-122"/>
                          <a:cs typeface="Times New Roman" panose="02020603050405020304" pitchFamily="18" charset="0"/>
                        </a:rPr>
                        <a:t>4</a:t>
                      </a: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extLst>
                  <a:ext uri="{0D108BD9-81ED-4DB2-BD59-A6C34878D82A}">
                    <a16:rowId xmlns:a16="http://schemas.microsoft.com/office/drawing/2014/main" val="1398890721"/>
                  </a:ext>
                </a:extLst>
              </a:tr>
              <a:tr h="316321">
                <a:tc>
                  <a:txBody>
                    <a:bodyPr/>
                    <a:lstStyle/>
                    <a:p>
                      <a:pPr algn="ctr"/>
                      <a:r>
                        <a:rPr lang="en-US" altLang="zh-CN" sz="1800" dirty="0">
                          <a:latin typeface="楷体" panose="02010609060101010101" pitchFamily="49" charset="-122"/>
                          <a:ea typeface="楷体" panose="02010609060101010101" pitchFamily="49" charset="-122"/>
                          <a:cs typeface="Times New Roman" panose="02020603050405020304" pitchFamily="18" charset="0"/>
                        </a:rPr>
                        <a:t>4</a:t>
                      </a: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tc>
                  <a:txBody>
                    <a:bodyPr/>
                    <a:lstStyle/>
                    <a:p>
                      <a:pPr algn="ctr"/>
                      <a:r>
                        <a:rPr lang="zh-CN" altLang="en-US" sz="1800" dirty="0">
                          <a:latin typeface="楷体" panose="02010609060101010101" pitchFamily="49" charset="-122"/>
                          <a:ea typeface="楷体" panose="02010609060101010101" pitchFamily="49" charset="-122"/>
                          <a:cs typeface="Times New Roman" panose="02020603050405020304" pitchFamily="18" charset="0"/>
                        </a:rPr>
                        <a:t>分类算法扩展实验</a:t>
                      </a:r>
                    </a:p>
                  </a:txBody>
                  <a:tcPr marL="68580" marR="68580" marT="34290" marB="34290" anchor="ctr" anchorCtr="1"/>
                </a:tc>
                <a:tc>
                  <a:txBody>
                    <a:bodyPr/>
                    <a:lstStyle/>
                    <a:p>
                      <a:pPr algn="ctr"/>
                      <a:r>
                        <a:rPr lang="en-US" altLang="zh-CN" sz="1800" dirty="0">
                          <a:latin typeface="楷体" panose="02010609060101010101" pitchFamily="49" charset="-122"/>
                          <a:ea typeface="楷体" panose="02010609060101010101" pitchFamily="49" charset="-122"/>
                          <a:cs typeface="Times New Roman" panose="02020603050405020304" pitchFamily="18" charset="0"/>
                        </a:rPr>
                        <a:t>4</a:t>
                      </a: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extLst>
                  <a:ext uri="{0D108BD9-81ED-4DB2-BD59-A6C34878D82A}">
                    <a16:rowId xmlns:a16="http://schemas.microsoft.com/office/drawing/2014/main" val="2053276870"/>
                  </a:ext>
                </a:extLst>
              </a:tr>
              <a:tr h="316321">
                <a:tc>
                  <a:txBody>
                    <a:bodyPr/>
                    <a:lstStyle/>
                    <a:p>
                      <a:pPr algn="ct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90" marB="34290" anchor="ctr" anchorCtr="1"/>
                </a:tc>
                <a:tc>
                  <a:txBody>
                    <a:bodyPr/>
                    <a:lstStyle/>
                    <a:p>
                      <a:pPr algn="ctr"/>
                      <a:r>
                        <a:rPr lang="zh-CN" altLang="en-US" sz="1800" dirty="0">
                          <a:latin typeface="楷体" panose="02010609060101010101" pitchFamily="49" charset="-122"/>
                          <a:ea typeface="楷体" panose="02010609060101010101" pitchFamily="49" charset="-122"/>
                          <a:cs typeface="Times New Roman" panose="02020603050405020304" pitchFamily="18" charset="0"/>
                        </a:rPr>
                        <a:t>合计</a:t>
                      </a:r>
                    </a:p>
                  </a:txBody>
                  <a:tcPr marL="68580" marR="68580" marT="34290" marB="34290" anchor="ctr" anchorCtr="1"/>
                </a:tc>
                <a:tc>
                  <a:txBody>
                    <a:bodyPr/>
                    <a:lstStyle/>
                    <a:p>
                      <a:pPr algn="ctr"/>
                      <a:r>
                        <a:rPr lang="en-US" altLang="zh-CN" sz="1800" b="1" dirty="0">
                          <a:solidFill>
                            <a:srgbClr val="C00000"/>
                          </a:solidFill>
                          <a:latin typeface="楷体" panose="02010609060101010101" pitchFamily="49" charset="-122"/>
                          <a:ea typeface="楷体" panose="02010609060101010101" pitchFamily="49" charset="-122"/>
                          <a:cs typeface="Times New Roman" panose="02020603050405020304" pitchFamily="18" charset="0"/>
                        </a:rPr>
                        <a:t>16 </a:t>
                      </a:r>
                      <a:r>
                        <a:rPr lang="zh-CN" altLang="en-US" sz="1800" b="1" dirty="0">
                          <a:solidFill>
                            <a:srgbClr val="C00000"/>
                          </a:solidFill>
                          <a:latin typeface="楷体" panose="02010609060101010101" pitchFamily="49" charset="-122"/>
                          <a:ea typeface="楷体" panose="02010609060101010101" pitchFamily="49" charset="-122"/>
                          <a:cs typeface="Times New Roman" panose="02020603050405020304" pitchFamily="18" charset="0"/>
                        </a:rPr>
                        <a:t>学时</a:t>
                      </a:r>
                    </a:p>
                  </a:txBody>
                  <a:tcPr marL="68580" marR="68580" marT="34290" marB="34290" anchor="ctr" anchorCtr="1"/>
                </a:tc>
                <a:extLst>
                  <a:ext uri="{0D108BD9-81ED-4DB2-BD59-A6C34878D82A}">
                    <a16:rowId xmlns:a16="http://schemas.microsoft.com/office/drawing/2014/main" val="1388358609"/>
                  </a:ext>
                </a:extLst>
              </a:tr>
            </a:tbl>
          </a:graphicData>
        </a:graphic>
      </p:graphicFrame>
      <p:sp>
        <p:nvSpPr>
          <p:cNvPr id="66" name="文本框 65">
            <a:extLst>
              <a:ext uri="{FF2B5EF4-FFF2-40B4-BE49-F238E27FC236}">
                <a16:creationId xmlns:a16="http://schemas.microsoft.com/office/drawing/2014/main" id="{C1E15B56-76C6-4D79-A2FD-053753D855D8}"/>
              </a:ext>
            </a:extLst>
          </p:cNvPr>
          <p:cNvSpPr txBox="1"/>
          <p:nvPr/>
        </p:nvSpPr>
        <p:spPr>
          <a:xfrm>
            <a:off x="5219907" y="4569584"/>
            <a:ext cx="4572000" cy="400110"/>
          </a:xfrm>
          <a:prstGeom prst="rect">
            <a:avLst/>
          </a:prstGeom>
          <a:noFill/>
        </p:spPr>
        <p:txBody>
          <a:bodyPr wrap="square">
            <a:spAutoFit/>
          </a:bodyPr>
          <a:lstStyle/>
          <a:p>
            <a:r>
              <a:rPr lang="zh-CN" altLang="zh-CN" sz="2000" b="1" kern="100" dirty="0">
                <a:solidFill>
                  <a:srgbClr val="000000"/>
                </a:solidFill>
                <a:latin typeface="楷体" panose="02010609060101010101" pitchFamily="49" charset="-122"/>
                <a:ea typeface="楷体" panose="02010609060101010101" pitchFamily="49" charset="-122"/>
                <a:cs typeface="Times New Roman" panose="02020603050405020304" pitchFamily="18" charset="0"/>
              </a:rPr>
              <a:t>华为云平台</a:t>
            </a:r>
            <a:r>
              <a:rPr lang="en-US" altLang="zh-CN" sz="2000" b="1" kern="100" dirty="0">
                <a:solidFill>
                  <a:srgbClr val="000000"/>
                </a:solidFill>
                <a:latin typeface="楷体" panose="02010609060101010101" pitchFamily="49" charset="-122"/>
                <a:ea typeface="楷体" panose="02010609060101010101" pitchFamily="49" charset="-122"/>
                <a:cs typeface="Times New Roman" panose="02020603050405020304" pitchFamily="18" charset="0"/>
              </a:rPr>
              <a:t>:</a:t>
            </a:r>
            <a:r>
              <a:rPr lang="en-US" altLang="zh-CN" sz="2000" b="1" kern="100" dirty="0" err="1">
                <a:solidFill>
                  <a:srgbClr val="000000"/>
                </a:solidFill>
                <a:latin typeface="楷体" panose="02010609060101010101" pitchFamily="49" charset="-122"/>
                <a:ea typeface="楷体" panose="02010609060101010101" pitchFamily="49" charset="-122"/>
                <a:cs typeface="Times New Roman" panose="02020603050405020304" pitchFamily="18" charset="0"/>
              </a:rPr>
              <a:t>ModelArts</a:t>
            </a:r>
            <a:r>
              <a:rPr lang="zh-CN" altLang="zh-CN" sz="2000" b="1" kern="100" dirty="0">
                <a:solidFill>
                  <a:srgbClr val="000000"/>
                </a:solidFill>
                <a:latin typeface="楷体" panose="02010609060101010101" pitchFamily="49" charset="-122"/>
                <a:ea typeface="楷体" panose="02010609060101010101" pitchFamily="49" charset="-122"/>
                <a:cs typeface="Times New Roman" panose="02020603050405020304" pitchFamily="18" charset="0"/>
              </a:rPr>
              <a:t>环境</a:t>
            </a:r>
            <a:endParaRPr lang="zh-CN" altLang="en-US" sz="2000" b="1" dirty="0">
              <a:latin typeface="楷体" panose="02010609060101010101" pitchFamily="49" charset="-122"/>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47344976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4">
            <a:extLst>
              <a:ext uri="{FF2B5EF4-FFF2-40B4-BE49-F238E27FC236}">
                <a16:creationId xmlns:a16="http://schemas.microsoft.com/office/drawing/2014/main" id="{7491D7A3-A14E-4B91-A503-63BA4048F03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942DE442-AAA9-412F-9F4A-53EFDDF388B3}" type="slidenum">
              <a:rPr kumimoji="1" lang="en-US" altLang="zh-CN" sz="1400" smtClean="0">
                <a:latin typeface="Times New Roman" panose="02020603050405020304" pitchFamily="18" charset="0"/>
              </a:rPr>
              <a:pPr>
                <a:spcBef>
                  <a:spcPct val="0"/>
                </a:spcBef>
                <a:buFontTx/>
                <a:buNone/>
              </a:pPr>
              <a:t>9</a:t>
            </a:fld>
            <a:endParaRPr kumimoji="1" lang="en-US" altLang="zh-CN" sz="1400">
              <a:latin typeface="Times New Roman" panose="02020603050405020304" pitchFamily="18" charset="0"/>
            </a:endParaRPr>
          </a:p>
        </p:txBody>
      </p:sp>
      <p:sp>
        <p:nvSpPr>
          <p:cNvPr id="7171" name="Text Box 3">
            <a:extLst>
              <a:ext uri="{FF2B5EF4-FFF2-40B4-BE49-F238E27FC236}">
                <a16:creationId xmlns:a16="http://schemas.microsoft.com/office/drawing/2014/main" id="{CCDA621E-18DF-4AB4-9467-52B04943FEEA}"/>
              </a:ext>
            </a:extLst>
          </p:cNvPr>
          <p:cNvSpPr txBox="1">
            <a:spLocks noChangeArrowheads="1"/>
          </p:cNvSpPr>
          <p:nvPr/>
        </p:nvSpPr>
        <p:spPr bwMode="auto">
          <a:xfrm>
            <a:off x="706438" y="515938"/>
            <a:ext cx="8135937" cy="57943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b="1">
                <a:latin typeface="黑体" panose="02010609060101010101" pitchFamily="49" charset="-122"/>
                <a:ea typeface="黑体" panose="02010609060101010101" pitchFamily="49" charset="-122"/>
                <a:cs typeface="楷体_GB2312"/>
              </a:rPr>
              <a:t>预备知识</a:t>
            </a:r>
            <a:endParaRPr kumimoji="1" lang="zh-CN" altLang="en-US" b="1">
              <a:latin typeface="黑体" panose="02010609060101010101" pitchFamily="49" charset="-122"/>
              <a:ea typeface="黑体" panose="02010609060101010101" pitchFamily="49" charset="-122"/>
              <a:cs typeface="楷体_GB2312"/>
              <a:sym typeface="Symbol" panose="05050102010706020507" pitchFamily="18" charset="2"/>
            </a:endParaRPr>
          </a:p>
        </p:txBody>
      </p:sp>
      <p:sp>
        <p:nvSpPr>
          <p:cNvPr id="868356" name="Text Box 4">
            <a:extLst>
              <a:ext uri="{FF2B5EF4-FFF2-40B4-BE49-F238E27FC236}">
                <a16:creationId xmlns:a16="http://schemas.microsoft.com/office/drawing/2014/main" id="{3D243A3C-C716-4B24-B09C-9CE69A1DDC22}"/>
              </a:ext>
            </a:extLst>
          </p:cNvPr>
          <p:cNvSpPr txBox="1">
            <a:spLocks noChangeArrowheads="1"/>
          </p:cNvSpPr>
          <p:nvPr/>
        </p:nvSpPr>
        <p:spPr bwMode="auto">
          <a:xfrm>
            <a:off x="706438" y="1154113"/>
            <a:ext cx="8351837" cy="5047536"/>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914400" indent="-45720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FF0000"/>
              </a:buClr>
              <a:buFont typeface="Wingdings" panose="05000000000000000000" pitchFamily="2" charset="2"/>
              <a:buChar char="p"/>
            </a:pPr>
            <a:r>
              <a:rPr kumimoji="1" lang="zh-CN" altLang="en-US" sz="2800" b="1" dirty="0">
                <a:latin typeface="楷体" panose="02010609060101010101" pitchFamily="49" charset="-122"/>
                <a:ea typeface="楷体" panose="02010609060101010101" pitchFamily="49" charset="-122"/>
                <a:cs typeface="Times New Roman" panose="02020603050405020304" pitchFamily="18" charset="0"/>
              </a:rPr>
              <a:t>先修课程 </a:t>
            </a:r>
          </a:p>
          <a:p>
            <a:pPr lvl="1" eaLnBrk="1" hangingPunct="1">
              <a:spcBef>
                <a:spcPct val="50000"/>
              </a:spcBef>
              <a:buClr>
                <a:srgbClr val="FF0000"/>
              </a:buClr>
              <a:buFont typeface="Arial" panose="020B0604020202020204" pitchFamily="34" charset="0"/>
              <a:buChar char="•"/>
            </a:pPr>
            <a:r>
              <a:rPr kumimoji="1" lang="zh-CN" altLang="en-US" sz="2400" dirty="0">
                <a:latin typeface="楷体" panose="02010609060101010101" pitchFamily="49" charset="-122"/>
                <a:ea typeface="楷体" panose="02010609060101010101" pitchFamily="49" charset="-122"/>
                <a:cs typeface="Times New Roman" panose="02020603050405020304" pitchFamily="18" charset="0"/>
              </a:rPr>
              <a:t>高等数学</a:t>
            </a:r>
            <a:r>
              <a:rPr kumimoji="1"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kumimoji="1" lang="zh-CN" altLang="en-US" sz="2400" dirty="0">
                <a:latin typeface="楷体" panose="02010609060101010101" pitchFamily="49" charset="-122"/>
                <a:ea typeface="楷体" panose="02010609060101010101" pitchFamily="49" charset="-122"/>
                <a:cs typeface="Times New Roman" panose="02020603050405020304" pitchFamily="18" charset="0"/>
              </a:rPr>
              <a:t>概率论与数理统计</a:t>
            </a:r>
            <a:r>
              <a:rPr kumimoji="1"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kumimoji="1" lang="zh-CN" altLang="en-US" sz="2400" dirty="0">
                <a:latin typeface="楷体" panose="02010609060101010101" pitchFamily="49" charset="-122"/>
                <a:ea typeface="楷体" panose="02010609060101010101" pitchFamily="49" charset="-122"/>
                <a:cs typeface="Times New Roman" panose="02020603050405020304" pitchFamily="18" charset="0"/>
              </a:rPr>
              <a:t>统计推断</a:t>
            </a:r>
            <a:r>
              <a:rPr kumimoji="1" lang="en-US" altLang="zh-CN" sz="2400" dirty="0">
                <a:latin typeface="楷体" panose="02010609060101010101" pitchFamily="49" charset="-122"/>
                <a:ea typeface="楷体" panose="02010609060101010101" pitchFamily="49" charset="-122"/>
                <a:cs typeface="Times New Roman" panose="02020603050405020304" pitchFamily="18" charset="0"/>
              </a:rPr>
              <a:t>)</a:t>
            </a:r>
          </a:p>
          <a:p>
            <a:pPr lvl="1" eaLnBrk="1" hangingPunct="1">
              <a:spcBef>
                <a:spcPct val="50000"/>
              </a:spcBef>
              <a:buClr>
                <a:srgbClr val="FF0000"/>
              </a:buClr>
              <a:buFont typeface="Arial" panose="020B0604020202020204" pitchFamily="34" charset="0"/>
              <a:buChar char="•"/>
            </a:pPr>
            <a:r>
              <a:rPr kumimoji="1" lang="zh-CN" altLang="en-US" sz="2400" dirty="0">
                <a:latin typeface="楷体" panose="02010609060101010101" pitchFamily="49" charset="-122"/>
                <a:ea typeface="楷体" panose="02010609060101010101" pitchFamily="49" charset="-122"/>
                <a:cs typeface="Times New Roman" panose="02020603050405020304" pitchFamily="18" charset="0"/>
              </a:rPr>
              <a:t>数据结构</a:t>
            </a:r>
            <a:endParaRPr kumimoji="1" lang="en-US" altLang="zh-CN" sz="2400" dirty="0">
              <a:latin typeface="楷体" panose="02010609060101010101" pitchFamily="49" charset="-122"/>
              <a:ea typeface="楷体" panose="02010609060101010101" pitchFamily="49" charset="-122"/>
              <a:cs typeface="Times New Roman" panose="02020603050405020304" pitchFamily="18" charset="0"/>
            </a:endParaRPr>
          </a:p>
          <a:p>
            <a:pPr lvl="1" eaLnBrk="1" hangingPunct="1">
              <a:spcBef>
                <a:spcPct val="50000"/>
              </a:spcBef>
              <a:buClr>
                <a:srgbClr val="FF0000"/>
              </a:buClr>
              <a:buFont typeface="Arial" panose="020B0604020202020204" pitchFamily="34" charset="0"/>
              <a:buChar char="•"/>
            </a:pPr>
            <a:r>
              <a:rPr kumimoji="1" lang="zh-CN" altLang="en-US" sz="2400" dirty="0">
                <a:latin typeface="楷体" panose="02010609060101010101" pitchFamily="49" charset="-122"/>
                <a:ea typeface="楷体" panose="02010609060101010101" pitchFamily="49" charset="-122"/>
                <a:cs typeface="Times New Roman" panose="02020603050405020304" pitchFamily="18" charset="0"/>
              </a:rPr>
              <a:t>算法分析与设计</a:t>
            </a:r>
          </a:p>
          <a:p>
            <a:pPr eaLnBrk="1" hangingPunct="1">
              <a:spcBef>
                <a:spcPct val="50000"/>
              </a:spcBef>
              <a:buClr>
                <a:srgbClr val="FF0000"/>
              </a:buClr>
              <a:buFont typeface="Wingdings" panose="05000000000000000000" pitchFamily="2" charset="2"/>
              <a:buChar char="p"/>
            </a:pPr>
            <a:r>
              <a:rPr kumimoji="1" lang="zh-CN" altLang="en-US" sz="2800" b="1" dirty="0">
                <a:latin typeface="楷体" panose="02010609060101010101" pitchFamily="49" charset="-122"/>
                <a:ea typeface="楷体" panose="02010609060101010101" pitchFamily="49" charset="-122"/>
                <a:cs typeface="Times New Roman" panose="02020603050405020304" pitchFamily="18" charset="0"/>
              </a:rPr>
              <a:t>相关课程</a:t>
            </a:r>
          </a:p>
          <a:p>
            <a:pPr lvl="1" eaLnBrk="1" hangingPunct="1">
              <a:spcBef>
                <a:spcPct val="50000"/>
              </a:spcBef>
              <a:buClr>
                <a:srgbClr val="FF0000"/>
              </a:buClr>
              <a:buFont typeface="Arial" panose="020B0604020202020204" pitchFamily="34" charset="0"/>
              <a:buChar char="•"/>
            </a:pPr>
            <a:r>
              <a:rPr kumimoji="1" lang="zh-CN" altLang="en-US" sz="2400" dirty="0">
                <a:latin typeface="楷体" panose="02010609060101010101" pitchFamily="49" charset="-122"/>
                <a:ea typeface="楷体" panose="02010609060101010101" pitchFamily="49" charset="-122"/>
                <a:cs typeface="Times New Roman" panose="02020603050405020304" pitchFamily="18" charset="0"/>
              </a:rPr>
              <a:t>人工智能</a:t>
            </a:r>
            <a:endParaRPr kumimoji="1" lang="en-US" altLang="zh-CN" sz="2400" dirty="0">
              <a:latin typeface="楷体" panose="02010609060101010101" pitchFamily="49" charset="-122"/>
              <a:ea typeface="楷体" panose="02010609060101010101" pitchFamily="49" charset="-122"/>
              <a:cs typeface="Times New Roman" panose="02020603050405020304" pitchFamily="18" charset="0"/>
            </a:endParaRPr>
          </a:p>
          <a:p>
            <a:pPr lvl="1" eaLnBrk="1" hangingPunct="1">
              <a:spcBef>
                <a:spcPct val="50000"/>
              </a:spcBef>
              <a:buClr>
                <a:srgbClr val="FF0000"/>
              </a:buClr>
              <a:buFont typeface="Arial" panose="020B0604020202020204" pitchFamily="34" charset="0"/>
              <a:buChar char="•"/>
            </a:pPr>
            <a:r>
              <a:rPr kumimoji="1" lang="zh-CN" altLang="en-US" sz="2400" dirty="0">
                <a:latin typeface="楷体" panose="02010609060101010101" pitchFamily="49" charset="-122"/>
                <a:ea typeface="楷体" panose="02010609060101010101" pitchFamily="49" charset="-122"/>
                <a:cs typeface="Times New Roman" panose="02020603050405020304" pitchFamily="18" charset="0"/>
              </a:rPr>
              <a:t>模式识别</a:t>
            </a:r>
            <a:endParaRPr kumimoji="1" lang="en-US" altLang="zh-CN" sz="2400" dirty="0">
              <a:latin typeface="楷体" panose="02010609060101010101" pitchFamily="49" charset="-122"/>
              <a:ea typeface="楷体" panose="02010609060101010101" pitchFamily="49" charset="-122"/>
              <a:cs typeface="Times New Roman" panose="02020603050405020304" pitchFamily="18" charset="0"/>
            </a:endParaRPr>
          </a:p>
          <a:p>
            <a:pPr lvl="1" eaLnBrk="1" hangingPunct="1">
              <a:spcBef>
                <a:spcPct val="50000"/>
              </a:spcBef>
              <a:buClr>
                <a:srgbClr val="FF0000"/>
              </a:buClr>
              <a:buFont typeface="Arial" panose="020B0604020202020204" pitchFamily="34" charset="0"/>
              <a:buChar char="•"/>
            </a:pPr>
            <a:r>
              <a:rPr kumimoji="1" lang="zh-CN" altLang="en-US" sz="2400" dirty="0">
                <a:latin typeface="楷体" panose="02010609060101010101" pitchFamily="49" charset="-122"/>
                <a:ea typeface="楷体" panose="02010609060101010101" pitchFamily="49" charset="-122"/>
                <a:cs typeface="Times New Roman" panose="02020603050405020304" pitchFamily="18" charset="0"/>
              </a:rPr>
              <a:t>数据挖掘</a:t>
            </a:r>
            <a:endParaRPr kumimoji="1" lang="en-US" altLang="zh-CN" sz="2400" dirty="0">
              <a:latin typeface="楷体" panose="02010609060101010101" pitchFamily="49" charset="-122"/>
              <a:ea typeface="楷体" panose="02010609060101010101" pitchFamily="49" charset="-122"/>
              <a:cs typeface="Times New Roman" panose="02020603050405020304" pitchFamily="18" charset="0"/>
            </a:endParaRPr>
          </a:p>
          <a:p>
            <a:pPr lvl="1" eaLnBrk="1" hangingPunct="1">
              <a:spcBef>
                <a:spcPct val="50000"/>
              </a:spcBef>
              <a:buClr>
                <a:srgbClr val="FF0000"/>
              </a:buClr>
              <a:buFont typeface="Arial" panose="020B0604020202020204" pitchFamily="34" charset="0"/>
              <a:buChar char="•"/>
            </a:pPr>
            <a:r>
              <a:rPr kumimoji="1" lang="zh-CN" altLang="en-US" sz="2400" dirty="0">
                <a:latin typeface="楷体" panose="02010609060101010101" pitchFamily="49" charset="-122"/>
                <a:ea typeface="楷体" panose="02010609060101010101" pitchFamily="49" charset="-122"/>
                <a:cs typeface="Times New Roman" panose="02020603050405020304" pitchFamily="18" charset="0"/>
              </a:rPr>
              <a:t>深度学习</a:t>
            </a:r>
            <a:endParaRPr kumimoji="1" lang="en-US" altLang="zh-CN" sz="2400" dirty="0">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835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6835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6835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6835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68356">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68356">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68356">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68356">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6835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8356" grpId="0" build="allAtOnce"/>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4">
            <a:extLst>
              <a:ext uri="{FF2B5EF4-FFF2-40B4-BE49-F238E27FC236}">
                <a16:creationId xmlns:a16="http://schemas.microsoft.com/office/drawing/2014/main" id="{D3A026C4-F7B3-455D-8409-EE800BAFF16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4BB42C7C-6EB2-4849-9CA4-783BF4E762FA}" type="slidenum">
              <a:rPr kumimoji="1" lang="en-US" altLang="zh-CN" sz="1400" smtClean="0">
                <a:latin typeface="Times New Roman" panose="02020603050405020304" pitchFamily="18" charset="0"/>
              </a:rPr>
              <a:pPr>
                <a:spcBef>
                  <a:spcPct val="0"/>
                </a:spcBef>
                <a:buFontTx/>
                <a:buNone/>
              </a:pPr>
              <a:t>10</a:t>
            </a:fld>
            <a:endParaRPr kumimoji="1" lang="en-US" altLang="zh-CN" sz="1400">
              <a:latin typeface="Times New Roman" panose="02020603050405020304" pitchFamily="18" charset="0"/>
            </a:endParaRPr>
          </a:p>
        </p:txBody>
      </p:sp>
      <p:sp>
        <p:nvSpPr>
          <p:cNvPr id="11267" name="Text Box 3">
            <a:extLst>
              <a:ext uri="{FF2B5EF4-FFF2-40B4-BE49-F238E27FC236}">
                <a16:creationId xmlns:a16="http://schemas.microsoft.com/office/drawing/2014/main" id="{A797628E-D641-41DC-8511-3686F1781188}"/>
              </a:ext>
            </a:extLst>
          </p:cNvPr>
          <p:cNvSpPr txBox="1">
            <a:spLocks noChangeArrowheads="1"/>
          </p:cNvSpPr>
          <p:nvPr/>
        </p:nvSpPr>
        <p:spPr bwMode="auto">
          <a:xfrm>
            <a:off x="684213" y="542925"/>
            <a:ext cx="8135937" cy="57943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b="1">
                <a:latin typeface="黑体" panose="02010609060101010101" pitchFamily="49" charset="-122"/>
                <a:ea typeface="黑体" panose="02010609060101010101" pitchFamily="49" charset="-122"/>
                <a:cs typeface="楷体_GB2312"/>
              </a:rPr>
              <a:t>成绩评定</a:t>
            </a:r>
            <a:endParaRPr kumimoji="1" lang="zh-CN" altLang="en-US" b="1">
              <a:latin typeface="黑体" panose="02010609060101010101" pitchFamily="49" charset="-122"/>
              <a:ea typeface="黑体" panose="02010609060101010101" pitchFamily="49" charset="-122"/>
              <a:cs typeface="楷体_GB2312"/>
              <a:sym typeface="Symbol" panose="05050102010706020507" pitchFamily="18" charset="2"/>
            </a:endParaRPr>
          </a:p>
        </p:txBody>
      </p:sp>
      <p:sp>
        <p:nvSpPr>
          <p:cNvPr id="11268" name="Text Box 4">
            <a:extLst>
              <a:ext uri="{FF2B5EF4-FFF2-40B4-BE49-F238E27FC236}">
                <a16:creationId xmlns:a16="http://schemas.microsoft.com/office/drawing/2014/main" id="{DF0FB2B5-927B-4658-9A3C-3FAF765B2E43}"/>
              </a:ext>
            </a:extLst>
          </p:cNvPr>
          <p:cNvSpPr txBox="1">
            <a:spLocks noChangeArrowheads="1"/>
          </p:cNvSpPr>
          <p:nvPr/>
        </p:nvSpPr>
        <p:spPr bwMode="auto">
          <a:xfrm>
            <a:off x="684213" y="1225550"/>
            <a:ext cx="8351837" cy="375443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914400" indent="-45720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Clr>
                <a:srgbClr val="FF0000"/>
              </a:buClr>
              <a:buFont typeface="Wingdings" panose="05000000000000000000" pitchFamily="2" charset="2"/>
              <a:buChar char="p"/>
            </a:pPr>
            <a:r>
              <a:rPr kumimoji="1" lang="zh-CN" altLang="en-US" sz="2800" b="1">
                <a:latin typeface="楷体" panose="02010609060101010101" pitchFamily="49" charset="-122"/>
                <a:ea typeface="楷体" panose="02010609060101010101" pitchFamily="49" charset="-122"/>
              </a:rPr>
              <a:t>成绩构成</a:t>
            </a:r>
          </a:p>
          <a:p>
            <a:pPr eaLnBrk="1" hangingPunct="1">
              <a:spcBef>
                <a:spcPct val="50000"/>
              </a:spcBef>
              <a:buFont typeface="Wingdings" panose="05000000000000000000" pitchFamily="2" charset="2"/>
              <a:buNone/>
            </a:pPr>
            <a:r>
              <a:rPr kumimoji="1" lang="zh-CN" altLang="en-US" sz="2000">
                <a:latin typeface="幼圆" panose="02010509060101010101" pitchFamily="49" charset="-122"/>
                <a:ea typeface="幼圆" panose="02010509060101010101" pitchFamily="49" charset="-122"/>
              </a:rPr>
              <a:t>	</a:t>
            </a:r>
            <a:endParaRPr kumimoji="1" lang="en-US" altLang="zh-CN" sz="2000">
              <a:latin typeface="幼圆" panose="02010509060101010101" pitchFamily="49" charset="-122"/>
              <a:ea typeface="幼圆" panose="02010509060101010101" pitchFamily="49" charset="-122"/>
            </a:endParaRPr>
          </a:p>
          <a:p>
            <a:pPr eaLnBrk="1" hangingPunct="1">
              <a:spcBef>
                <a:spcPct val="50000"/>
              </a:spcBef>
              <a:buFont typeface="Wingdings" panose="05000000000000000000" pitchFamily="2" charset="2"/>
              <a:buNone/>
            </a:pPr>
            <a:endParaRPr kumimoji="1" lang="en-US" altLang="zh-CN" sz="2000" b="1">
              <a:latin typeface="幼圆" panose="02010509060101010101" pitchFamily="49" charset="-122"/>
              <a:ea typeface="幼圆" panose="02010509060101010101" pitchFamily="49" charset="-122"/>
            </a:endParaRPr>
          </a:p>
          <a:p>
            <a:pPr eaLnBrk="1" hangingPunct="1">
              <a:spcBef>
                <a:spcPct val="50000"/>
              </a:spcBef>
              <a:buFont typeface="Wingdings" panose="05000000000000000000" pitchFamily="2" charset="2"/>
              <a:buNone/>
            </a:pPr>
            <a:endParaRPr kumimoji="1" lang="en-US" altLang="zh-CN" sz="2000" b="1">
              <a:latin typeface="幼圆" panose="02010509060101010101" pitchFamily="49" charset="-122"/>
              <a:ea typeface="幼圆" panose="02010509060101010101" pitchFamily="49" charset="-122"/>
            </a:endParaRPr>
          </a:p>
          <a:p>
            <a:pPr eaLnBrk="1" hangingPunct="1">
              <a:spcBef>
                <a:spcPct val="50000"/>
              </a:spcBef>
              <a:buFont typeface="Wingdings" panose="05000000000000000000" pitchFamily="2" charset="2"/>
              <a:buNone/>
            </a:pPr>
            <a:endParaRPr kumimoji="1" lang="en-US" altLang="zh-CN" sz="2000" b="1">
              <a:latin typeface="幼圆" panose="02010509060101010101" pitchFamily="49" charset="-122"/>
              <a:ea typeface="幼圆" panose="02010509060101010101" pitchFamily="49" charset="-122"/>
            </a:endParaRPr>
          </a:p>
          <a:p>
            <a:pPr eaLnBrk="1" hangingPunct="1">
              <a:spcBef>
                <a:spcPct val="50000"/>
              </a:spcBef>
              <a:buFont typeface="Wingdings" panose="05000000000000000000" pitchFamily="2" charset="2"/>
              <a:buNone/>
            </a:pPr>
            <a:endParaRPr kumimoji="1" lang="en-US" altLang="zh-CN" sz="2000" b="1">
              <a:latin typeface="幼圆" panose="02010509060101010101" pitchFamily="49" charset="-122"/>
              <a:ea typeface="幼圆" panose="02010509060101010101" pitchFamily="49" charset="-122"/>
            </a:endParaRPr>
          </a:p>
          <a:p>
            <a:pPr eaLnBrk="1" hangingPunct="1">
              <a:spcBef>
                <a:spcPct val="50000"/>
              </a:spcBef>
              <a:buFont typeface="Wingdings" panose="05000000000000000000" pitchFamily="2" charset="2"/>
              <a:buNone/>
            </a:pPr>
            <a:endParaRPr kumimoji="1" lang="en-US" altLang="zh-CN" sz="2000" b="1">
              <a:latin typeface="幼圆" panose="02010509060101010101" pitchFamily="49" charset="-122"/>
              <a:ea typeface="幼圆" panose="02010509060101010101" pitchFamily="49" charset="-122"/>
            </a:endParaRPr>
          </a:p>
          <a:p>
            <a:pPr lvl="1" eaLnBrk="1" hangingPunct="1">
              <a:spcBef>
                <a:spcPct val="50000"/>
              </a:spcBef>
              <a:buFontTx/>
              <a:buNone/>
            </a:pPr>
            <a:endParaRPr kumimoji="1" lang="en-US" altLang="zh-CN" sz="2000">
              <a:latin typeface="幼圆" panose="02010509060101010101" pitchFamily="49" charset="-122"/>
              <a:ea typeface="幼圆" panose="02010509060101010101" pitchFamily="49" charset="-122"/>
            </a:endParaRPr>
          </a:p>
        </p:txBody>
      </p:sp>
      <p:graphicFrame>
        <p:nvGraphicFramePr>
          <p:cNvPr id="2" name="表格 1">
            <a:extLst>
              <a:ext uri="{FF2B5EF4-FFF2-40B4-BE49-F238E27FC236}">
                <a16:creationId xmlns:a16="http://schemas.microsoft.com/office/drawing/2014/main" id="{F6E6ABA9-571D-4985-BA5B-A623CC43F9E5}"/>
              </a:ext>
            </a:extLst>
          </p:cNvPr>
          <p:cNvGraphicFramePr>
            <a:graphicFrameLocks noGrp="1"/>
          </p:cNvGraphicFramePr>
          <p:nvPr>
            <p:extLst>
              <p:ext uri="{D42A27DB-BD31-4B8C-83A1-F6EECF244321}">
                <p14:modId xmlns:p14="http://schemas.microsoft.com/office/powerpoint/2010/main" val="1001462043"/>
              </p:ext>
            </p:extLst>
          </p:nvPr>
        </p:nvGraphicFramePr>
        <p:xfrm>
          <a:off x="930275" y="1924050"/>
          <a:ext cx="7643812" cy="2438399"/>
        </p:xfrm>
        <a:graphic>
          <a:graphicData uri="http://schemas.openxmlformats.org/drawingml/2006/table">
            <a:tbl>
              <a:tblPr firstRow="1" firstCol="1" bandRow="1">
                <a:tableStyleId>{5C22544A-7EE6-4342-B048-85BDC9FD1C3A}</a:tableStyleId>
              </a:tblPr>
              <a:tblGrid>
                <a:gridCol w="2547428">
                  <a:extLst>
                    <a:ext uri="{9D8B030D-6E8A-4147-A177-3AD203B41FA5}">
                      <a16:colId xmlns:a16="http://schemas.microsoft.com/office/drawing/2014/main" val="20000"/>
                    </a:ext>
                  </a:extLst>
                </a:gridCol>
                <a:gridCol w="2925800">
                  <a:extLst>
                    <a:ext uri="{9D8B030D-6E8A-4147-A177-3AD203B41FA5}">
                      <a16:colId xmlns:a16="http://schemas.microsoft.com/office/drawing/2014/main" val="20001"/>
                    </a:ext>
                  </a:extLst>
                </a:gridCol>
                <a:gridCol w="2170584">
                  <a:extLst>
                    <a:ext uri="{9D8B030D-6E8A-4147-A177-3AD203B41FA5}">
                      <a16:colId xmlns:a16="http://schemas.microsoft.com/office/drawing/2014/main" val="20002"/>
                    </a:ext>
                  </a:extLst>
                </a:gridCol>
              </a:tblGrid>
              <a:tr h="600221">
                <a:tc>
                  <a:txBody>
                    <a:bodyPr/>
                    <a:lstStyle/>
                    <a:p>
                      <a:pPr algn="ctr">
                        <a:lnSpc>
                          <a:spcPct val="150000"/>
                        </a:lnSpc>
                        <a:spcAft>
                          <a:spcPts val="0"/>
                        </a:spcAft>
                      </a:pPr>
                      <a:r>
                        <a:rPr lang="zh-CN" sz="2200" kern="100" dirty="0">
                          <a:effectLst/>
                          <a:latin typeface="楷体" panose="02010609060101010101" pitchFamily="49" charset="-122"/>
                          <a:ea typeface="楷体" panose="02010609060101010101" pitchFamily="49" charset="-122"/>
                        </a:rPr>
                        <a:t>考核方式</a:t>
                      </a:r>
                    </a:p>
                  </a:txBody>
                  <a:tcPr marL="68594" marR="68594" marT="0" marB="0"/>
                </a:tc>
                <a:tc>
                  <a:txBody>
                    <a:bodyPr/>
                    <a:lstStyle/>
                    <a:p>
                      <a:pPr algn="ctr">
                        <a:lnSpc>
                          <a:spcPct val="150000"/>
                        </a:lnSpc>
                        <a:spcAft>
                          <a:spcPts val="0"/>
                        </a:spcAft>
                      </a:pPr>
                      <a:r>
                        <a:rPr lang="zh-CN" sz="2200" kern="100" dirty="0">
                          <a:effectLst/>
                          <a:latin typeface="楷体" panose="02010609060101010101" pitchFamily="49" charset="-122"/>
                          <a:ea typeface="楷体" panose="02010609060101010101" pitchFamily="49" charset="-122"/>
                        </a:rPr>
                        <a:t>总分</a:t>
                      </a:r>
                    </a:p>
                  </a:txBody>
                  <a:tcPr marL="68594" marR="68594" marT="0" marB="0"/>
                </a:tc>
                <a:tc>
                  <a:txBody>
                    <a:bodyPr/>
                    <a:lstStyle/>
                    <a:p>
                      <a:pPr algn="ctr">
                        <a:lnSpc>
                          <a:spcPct val="150000"/>
                        </a:lnSpc>
                        <a:spcAft>
                          <a:spcPts val="0"/>
                        </a:spcAft>
                      </a:pPr>
                      <a:r>
                        <a:rPr lang="zh-CN" sz="2200" kern="100" dirty="0">
                          <a:effectLst/>
                          <a:latin typeface="楷体" panose="02010609060101010101" pitchFamily="49" charset="-122"/>
                          <a:ea typeface="楷体" panose="02010609060101010101" pitchFamily="49" charset="-122"/>
                        </a:rPr>
                        <a:t>占总成绩的比例</a:t>
                      </a:r>
                    </a:p>
                  </a:txBody>
                  <a:tcPr marL="68594" marR="68594" marT="0" marB="0"/>
                </a:tc>
                <a:extLst>
                  <a:ext uri="{0D108BD9-81ED-4DB2-BD59-A6C34878D82A}">
                    <a16:rowId xmlns:a16="http://schemas.microsoft.com/office/drawing/2014/main" val="10000"/>
                  </a:ext>
                </a:extLst>
              </a:tr>
              <a:tr h="637736">
                <a:tc>
                  <a:txBody>
                    <a:bodyPr/>
                    <a:lstStyle/>
                    <a:p>
                      <a:pPr algn="l">
                        <a:lnSpc>
                          <a:spcPct val="200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zh-CN" altLang="en-US" sz="2200" kern="100" dirty="0">
                          <a:effectLst/>
                          <a:latin typeface="楷体" panose="02010609060101010101" pitchFamily="49" charset="-122"/>
                          <a:ea typeface="楷体" panose="02010609060101010101" pitchFamily="49" charset="-122"/>
                        </a:rPr>
                        <a:t>期末考试</a:t>
                      </a:r>
                      <a:endParaRPr lang="zh-CN" sz="2200" kern="100" dirty="0">
                        <a:effectLst/>
                        <a:latin typeface="楷体" panose="02010609060101010101" pitchFamily="49" charset="-122"/>
                        <a:ea typeface="楷体" panose="02010609060101010101" pitchFamily="49" charset="-122"/>
                      </a:endParaRPr>
                    </a:p>
                  </a:txBody>
                  <a:tcPr marL="68594" marR="68594" marT="0" marB="0"/>
                </a:tc>
                <a:tc>
                  <a:txBody>
                    <a:bodyPr/>
                    <a:lstStyle/>
                    <a:p>
                      <a:pPr algn="ctr">
                        <a:lnSpc>
                          <a:spcPct val="200000"/>
                        </a:lnSpc>
                        <a:spcAft>
                          <a:spcPts val="0"/>
                        </a:spcAft>
                      </a:pPr>
                      <a:r>
                        <a:rPr lang="en-US" sz="2200" kern="100" dirty="0">
                          <a:effectLst/>
                          <a:latin typeface="Times New Roman" panose="02020603050405020304" pitchFamily="18" charset="0"/>
                          <a:ea typeface="楷体" panose="02010609060101010101" pitchFamily="49" charset="-122"/>
                          <a:cs typeface="Times New Roman" panose="02020603050405020304" pitchFamily="18" charset="0"/>
                        </a:rPr>
                        <a:t>100</a:t>
                      </a:r>
                      <a:r>
                        <a:rPr lang="zh-CN" sz="2200" kern="100" dirty="0">
                          <a:effectLst/>
                          <a:latin typeface="Times New Roman" panose="02020603050405020304" pitchFamily="18" charset="0"/>
                          <a:ea typeface="楷体" panose="02010609060101010101" pitchFamily="49" charset="-122"/>
                          <a:cs typeface="Times New Roman" panose="02020603050405020304" pitchFamily="18" charset="0"/>
                        </a:rPr>
                        <a:t>分</a:t>
                      </a:r>
                    </a:p>
                  </a:txBody>
                  <a:tcPr marL="68594" marR="68594" marT="0" marB="0"/>
                </a:tc>
                <a:tc>
                  <a:txBody>
                    <a:bodyPr/>
                    <a:lstStyle/>
                    <a:p>
                      <a:pPr algn="ctr">
                        <a:lnSpc>
                          <a:spcPct val="200000"/>
                        </a:lnSpc>
                        <a:spcAft>
                          <a:spcPts val="0"/>
                        </a:spcAft>
                      </a:pPr>
                      <a:r>
                        <a:rPr lang="en-US" sz="2200" kern="100" dirty="0">
                          <a:effectLst/>
                          <a:latin typeface="Times New Roman" panose="02020603050405020304" pitchFamily="18" charset="0"/>
                          <a:ea typeface="楷体" panose="02010609060101010101" pitchFamily="49" charset="-122"/>
                          <a:cs typeface="Times New Roman" panose="02020603050405020304" pitchFamily="18" charset="0"/>
                        </a:rPr>
                        <a:t>60%</a:t>
                      </a:r>
                      <a:endParaRPr lang="zh-CN" sz="220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94" marR="68594" marT="0" marB="0"/>
                </a:tc>
                <a:extLst>
                  <a:ext uri="{0D108BD9-81ED-4DB2-BD59-A6C34878D82A}">
                    <a16:rowId xmlns:a16="http://schemas.microsoft.com/office/drawing/2014/main" val="10001"/>
                  </a:ext>
                </a:extLst>
              </a:tr>
              <a:tr h="600221">
                <a:tc>
                  <a:txBody>
                    <a:bodyPr/>
                    <a:lstStyle/>
                    <a:p>
                      <a:pPr algn="just">
                        <a:lnSpc>
                          <a:spcPct val="200000"/>
                        </a:lnSpc>
                        <a:spcAft>
                          <a:spcPts val="0"/>
                        </a:spcAft>
                      </a:pPr>
                      <a:r>
                        <a:rPr lang="zh-CN" sz="2200" kern="100">
                          <a:effectLst/>
                          <a:latin typeface="楷体" panose="02010609060101010101" pitchFamily="49" charset="-122"/>
                          <a:ea typeface="楷体" panose="02010609060101010101" pitchFamily="49" charset="-122"/>
                        </a:rPr>
                        <a:t>实验项目</a:t>
                      </a:r>
                    </a:p>
                  </a:txBody>
                  <a:tcPr marL="68594" marR="68594" marT="0" marB="0"/>
                </a:tc>
                <a:tc>
                  <a:txBody>
                    <a:bodyPr/>
                    <a:lstStyle/>
                    <a:p>
                      <a:pPr algn="ctr">
                        <a:lnSpc>
                          <a:spcPct val="200000"/>
                        </a:lnSpc>
                        <a:spcAft>
                          <a:spcPts val="0"/>
                        </a:spcAft>
                      </a:pPr>
                      <a:r>
                        <a:rPr lang="en-US" sz="2200" kern="100" dirty="0">
                          <a:effectLst/>
                          <a:latin typeface="Times New Roman" panose="02020603050405020304" pitchFamily="18" charset="0"/>
                          <a:ea typeface="楷体" panose="02010609060101010101" pitchFamily="49" charset="-122"/>
                          <a:cs typeface="Times New Roman" panose="02020603050405020304" pitchFamily="18" charset="0"/>
                        </a:rPr>
                        <a:t>30</a:t>
                      </a:r>
                      <a:r>
                        <a:rPr lang="zh-CN" sz="2200" kern="100" dirty="0">
                          <a:effectLst/>
                          <a:latin typeface="Times New Roman" panose="02020603050405020304" pitchFamily="18" charset="0"/>
                          <a:ea typeface="楷体" panose="02010609060101010101" pitchFamily="49" charset="-122"/>
                          <a:cs typeface="Times New Roman" panose="02020603050405020304" pitchFamily="18" charset="0"/>
                        </a:rPr>
                        <a:t>分，共</a:t>
                      </a:r>
                      <a:r>
                        <a:rPr lang="en-US" sz="2200" kern="100" dirty="0">
                          <a:effectLst/>
                          <a:latin typeface="Times New Roman" panose="02020603050405020304" pitchFamily="18" charset="0"/>
                          <a:ea typeface="楷体" panose="02010609060101010101" pitchFamily="49" charset="-122"/>
                          <a:cs typeface="Times New Roman" panose="02020603050405020304" pitchFamily="18" charset="0"/>
                        </a:rPr>
                        <a:t>4</a:t>
                      </a:r>
                      <a:r>
                        <a:rPr lang="zh-CN" sz="2200" kern="100" dirty="0">
                          <a:effectLst/>
                          <a:latin typeface="Times New Roman" panose="02020603050405020304" pitchFamily="18" charset="0"/>
                          <a:ea typeface="楷体" panose="02010609060101010101" pitchFamily="49" charset="-122"/>
                          <a:cs typeface="Times New Roman" panose="02020603050405020304" pitchFamily="18" charset="0"/>
                        </a:rPr>
                        <a:t>个项目</a:t>
                      </a:r>
                    </a:p>
                  </a:txBody>
                  <a:tcPr marL="68594" marR="68594" marT="0" marB="0"/>
                </a:tc>
                <a:tc>
                  <a:txBody>
                    <a:bodyPr/>
                    <a:lstStyle/>
                    <a:p>
                      <a:pPr algn="ctr">
                        <a:lnSpc>
                          <a:spcPct val="200000"/>
                        </a:lnSpc>
                        <a:spcAft>
                          <a:spcPts val="0"/>
                        </a:spcAft>
                      </a:pPr>
                      <a:r>
                        <a:rPr lang="en-US" sz="2200" kern="100" dirty="0">
                          <a:effectLst/>
                          <a:latin typeface="Times New Roman" panose="02020603050405020304" pitchFamily="18" charset="0"/>
                          <a:ea typeface="楷体" panose="02010609060101010101" pitchFamily="49" charset="-122"/>
                          <a:cs typeface="Times New Roman" panose="02020603050405020304" pitchFamily="18" charset="0"/>
                        </a:rPr>
                        <a:t>30%</a:t>
                      </a:r>
                      <a:endParaRPr lang="zh-CN" sz="220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94" marR="68594" marT="0" marB="0"/>
                </a:tc>
                <a:extLst>
                  <a:ext uri="{0D108BD9-81ED-4DB2-BD59-A6C34878D82A}">
                    <a16:rowId xmlns:a16="http://schemas.microsoft.com/office/drawing/2014/main" val="10002"/>
                  </a:ext>
                </a:extLst>
              </a:tr>
              <a:tr h="600221">
                <a:tc>
                  <a:txBody>
                    <a:bodyPr/>
                    <a:lstStyle/>
                    <a:p>
                      <a:pPr algn="just">
                        <a:lnSpc>
                          <a:spcPct val="200000"/>
                        </a:lnSpc>
                        <a:spcAft>
                          <a:spcPts val="0"/>
                        </a:spcAft>
                      </a:pPr>
                      <a:r>
                        <a:rPr lang="zh-CN" sz="2200" kern="100" dirty="0">
                          <a:effectLst/>
                          <a:latin typeface="楷体" panose="02010609060101010101" pitchFamily="49" charset="-122"/>
                          <a:ea typeface="楷体" panose="02010609060101010101" pitchFamily="49" charset="-122"/>
                        </a:rPr>
                        <a:t>作业及课堂讨论</a:t>
                      </a:r>
                      <a:r>
                        <a:rPr lang="zh-CN" altLang="en-US" sz="2200" kern="100" dirty="0">
                          <a:effectLst/>
                          <a:latin typeface="楷体" panose="02010609060101010101" pitchFamily="49" charset="-122"/>
                          <a:ea typeface="楷体" panose="02010609060101010101" pitchFamily="49" charset="-122"/>
                        </a:rPr>
                        <a:t>等</a:t>
                      </a:r>
                      <a:endParaRPr lang="zh-CN" sz="2200" kern="100" dirty="0">
                        <a:effectLst/>
                        <a:latin typeface="楷体" panose="02010609060101010101" pitchFamily="49" charset="-122"/>
                        <a:ea typeface="楷体" panose="02010609060101010101" pitchFamily="49" charset="-122"/>
                      </a:endParaRPr>
                    </a:p>
                  </a:txBody>
                  <a:tcPr marL="68594" marR="68594" marT="0" marB="0"/>
                </a:tc>
                <a:tc>
                  <a:txBody>
                    <a:bodyPr/>
                    <a:lstStyle/>
                    <a:p>
                      <a:pPr algn="ctr">
                        <a:lnSpc>
                          <a:spcPct val="200000"/>
                        </a:lnSpc>
                        <a:spcAft>
                          <a:spcPts val="0"/>
                        </a:spcAft>
                      </a:pPr>
                      <a:r>
                        <a:rPr lang="en-US" sz="2200" kern="100">
                          <a:effectLst/>
                          <a:latin typeface="Times New Roman" panose="02020603050405020304" pitchFamily="18" charset="0"/>
                          <a:ea typeface="楷体" panose="02010609060101010101" pitchFamily="49" charset="-122"/>
                          <a:cs typeface="Times New Roman" panose="02020603050405020304" pitchFamily="18" charset="0"/>
                        </a:rPr>
                        <a:t>10</a:t>
                      </a:r>
                      <a:r>
                        <a:rPr lang="zh-CN" sz="2200" kern="100">
                          <a:effectLst/>
                          <a:latin typeface="Times New Roman" panose="02020603050405020304" pitchFamily="18" charset="0"/>
                          <a:ea typeface="楷体" panose="02010609060101010101" pitchFamily="49" charset="-122"/>
                          <a:cs typeface="Times New Roman" panose="02020603050405020304" pitchFamily="18" charset="0"/>
                        </a:rPr>
                        <a:t>分 </a:t>
                      </a:r>
                    </a:p>
                  </a:txBody>
                  <a:tcPr marL="68594" marR="68594" marT="0" marB="0"/>
                </a:tc>
                <a:tc>
                  <a:txBody>
                    <a:bodyPr/>
                    <a:lstStyle/>
                    <a:p>
                      <a:pPr algn="ctr">
                        <a:lnSpc>
                          <a:spcPct val="200000"/>
                        </a:lnSpc>
                        <a:spcAft>
                          <a:spcPts val="0"/>
                        </a:spcAft>
                      </a:pPr>
                      <a:r>
                        <a:rPr lang="en-US" sz="2200" kern="100" dirty="0">
                          <a:effectLst/>
                          <a:latin typeface="Times New Roman" panose="02020603050405020304" pitchFamily="18" charset="0"/>
                          <a:ea typeface="楷体" panose="02010609060101010101" pitchFamily="49" charset="-122"/>
                          <a:cs typeface="Times New Roman" panose="02020603050405020304" pitchFamily="18" charset="0"/>
                        </a:rPr>
                        <a:t>10%</a:t>
                      </a:r>
                      <a:endParaRPr lang="zh-CN" sz="220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94" marR="68594" marT="0" marB="0"/>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FAE686D-B6BC-4ECD-9CCC-A6F39C136629}"/>
              </a:ext>
            </a:extLst>
          </p:cNvPr>
          <p:cNvSpPr>
            <a:spLocks noGrp="1"/>
          </p:cNvSpPr>
          <p:nvPr>
            <p:ph/>
          </p:nvPr>
        </p:nvSpPr>
        <p:spPr/>
        <p:txBody>
          <a:bodyPr/>
          <a:lstStyle/>
          <a:p>
            <a:pPr marL="457200" indent="-457200" eaLnBrk="1" hangingPunct="1">
              <a:spcBef>
                <a:spcPct val="50000"/>
              </a:spcBef>
              <a:buFont typeface="Arial" panose="020B0604020202020204" pitchFamily="34" charset="0"/>
              <a:buNone/>
              <a:defRPr/>
            </a:pPr>
            <a:r>
              <a:rPr kumimoji="1" lang="zh-CN" altLang="en-US" b="1" dirty="0">
                <a:latin typeface="黑体" panose="02010609060101010101" pitchFamily="49" charset="-122"/>
                <a:ea typeface="黑体" panose="02010609060101010101" pitchFamily="49" charset="-122"/>
              </a:rPr>
              <a:t>课程教学平台</a:t>
            </a:r>
            <a:endParaRPr kumimoji="1" lang="en-US" altLang="zh-CN" b="1" dirty="0">
              <a:latin typeface="黑体" panose="02010609060101010101" pitchFamily="49" charset="-122"/>
              <a:ea typeface="黑体" panose="02010609060101010101" pitchFamily="49" charset="-122"/>
            </a:endParaRPr>
          </a:p>
          <a:p>
            <a:pPr eaLnBrk="1" hangingPunct="1">
              <a:buClr>
                <a:srgbClr val="FF0000"/>
              </a:buClr>
              <a:buFont typeface="Wingdings" panose="05000000000000000000" pitchFamily="2" charset="2"/>
              <a:buChar char="p"/>
              <a:defRPr/>
            </a:pPr>
            <a:r>
              <a:rPr lang="zh-CN" altLang="en-US" sz="2800" b="1" dirty="0">
                <a:solidFill>
                  <a:schemeClr val="tx1">
                    <a:lumMod val="85000"/>
                    <a:lumOff val="15000"/>
                  </a:schemeClr>
                </a:solidFill>
                <a:latin typeface="楷体" panose="02010609060101010101" pitchFamily="49" charset="-122"/>
                <a:ea typeface="楷体" panose="02010609060101010101" pitchFamily="49" charset="-122"/>
              </a:rPr>
              <a:t> 作业交互</a:t>
            </a:r>
          </a:p>
          <a:p>
            <a:pPr marL="0" indent="0">
              <a:buFont typeface="Arial" panose="020B0604020202020204" pitchFamily="34" charset="0"/>
              <a:buNone/>
              <a:defRPr/>
            </a:pPr>
            <a:r>
              <a:rPr lang="zh-CN" altLang="en-US" b="1" dirty="0">
                <a:solidFill>
                  <a:schemeClr val="tx1">
                    <a:lumMod val="85000"/>
                    <a:lumOff val="15000"/>
                  </a:schemeClr>
                </a:solidFill>
                <a:latin typeface="Times New Roman" panose="02020603050405020304" pitchFamily="18" charset="0"/>
                <a:ea typeface="黑体" panose="02010609060101010101" pitchFamily="2" charset="-122"/>
              </a:rPr>
              <a:t>	</a:t>
            </a:r>
            <a:r>
              <a:rPr lang="en-US" altLang="zh-CN" sz="2400" dirty="0">
                <a:solidFill>
                  <a:schemeClr val="tx1">
                    <a:lumMod val="85000"/>
                    <a:lumOff val="15000"/>
                  </a:schemeClr>
                </a:solidFill>
                <a:latin typeface="Times New Roman" panose="02020603050405020304" pitchFamily="18" charset="0"/>
                <a:ea typeface="黑体" panose="02010609060101010101" pitchFamily="2" charset="-122"/>
                <a:cs typeface="Times New Roman" panose="02020603050405020304" pitchFamily="18" charset="0"/>
              </a:rPr>
              <a:t>Sakai</a:t>
            </a:r>
            <a:r>
              <a:rPr lang="zh-CN" altLang="en-US" sz="2400" dirty="0">
                <a:solidFill>
                  <a:schemeClr val="tx1">
                    <a:lumMod val="85000"/>
                    <a:lumOff val="15000"/>
                  </a:schemeClr>
                </a:solidFill>
                <a:latin typeface="Times New Roman" panose="02020603050405020304" pitchFamily="18" charset="0"/>
                <a:ea typeface="黑体" panose="02010609060101010101" pitchFamily="2" charset="-122"/>
                <a:cs typeface="Times New Roman" panose="02020603050405020304" pitchFamily="18" charset="0"/>
              </a:rPr>
              <a:t>：</a:t>
            </a:r>
            <a:r>
              <a:rPr lang="en-US" altLang="zh-CN" sz="2400" dirty="0">
                <a:solidFill>
                  <a:schemeClr val="tx1">
                    <a:lumMod val="85000"/>
                    <a:lumOff val="15000"/>
                  </a:schemeClr>
                </a:solidFill>
                <a:latin typeface="Times New Roman" panose="02020603050405020304" pitchFamily="18" charset="0"/>
                <a:ea typeface="黑体" panose="02010609060101010101" pitchFamily="2" charset="-122"/>
                <a:cs typeface="Times New Roman" panose="02020603050405020304" pitchFamily="18" charset="0"/>
              </a:rPr>
              <a:t>sakai.cqu.edu.cn</a:t>
            </a:r>
            <a:endParaRPr lang="zh-CN" altLang="en-US" sz="2400" dirty="0">
              <a:solidFill>
                <a:schemeClr val="tx1">
                  <a:lumMod val="85000"/>
                  <a:lumOff val="15000"/>
                </a:schemeClr>
              </a:solidFill>
              <a:latin typeface="Times New Roman" panose="02020603050405020304" pitchFamily="18" charset="0"/>
              <a:ea typeface="黑体" panose="02010609060101010101" pitchFamily="2" charset="-122"/>
            </a:endParaRPr>
          </a:p>
          <a:p>
            <a:pPr>
              <a:buNone/>
              <a:defRPr/>
            </a:pPr>
            <a:r>
              <a:rPr lang="zh-CN" altLang="en-US" dirty="0">
                <a:solidFill>
                  <a:schemeClr val="tx1">
                    <a:lumMod val="85000"/>
                    <a:lumOff val="15000"/>
                  </a:schemeClr>
                </a:solidFill>
                <a:latin typeface="Times New Roman" panose="02020603050405020304" pitchFamily="18" charset="0"/>
                <a:ea typeface="黑体" panose="02010609060101010101" pitchFamily="2" charset="-122"/>
              </a:rPr>
              <a:t>         </a:t>
            </a:r>
            <a:r>
              <a:rPr lang="en-US" altLang="zh-CN" sz="2800" dirty="0">
                <a:solidFill>
                  <a:schemeClr val="tx1">
                    <a:lumMod val="85000"/>
                    <a:lumOff val="15000"/>
                  </a:schemeClr>
                </a:solidFill>
                <a:latin typeface="Times New Roman" panose="02020603050405020304" pitchFamily="18" charset="0"/>
                <a:ea typeface="楷体" panose="02010609060101010101" pitchFamily="49" charset="-122"/>
                <a:cs typeface="Times New Roman" panose="02020603050405020304" pitchFamily="18" charset="0"/>
              </a:rPr>
              <a:t>QQ</a:t>
            </a:r>
            <a:r>
              <a:rPr lang="zh-CN" altLang="en-US" sz="2800" dirty="0">
                <a:solidFill>
                  <a:schemeClr val="tx1">
                    <a:lumMod val="85000"/>
                    <a:lumOff val="15000"/>
                  </a:schemeClr>
                </a:solidFill>
                <a:latin typeface="Times New Roman" panose="02020603050405020304" pitchFamily="18" charset="0"/>
                <a:ea typeface="楷体" panose="02010609060101010101" pitchFamily="49" charset="-122"/>
                <a:cs typeface="Times New Roman" panose="02020603050405020304" pitchFamily="18" charset="0"/>
              </a:rPr>
              <a:t>群</a:t>
            </a:r>
            <a:r>
              <a:rPr lang="zh-CN" altLang="en-US" dirty="0">
                <a:solidFill>
                  <a:schemeClr val="tx1">
                    <a:lumMod val="85000"/>
                    <a:lumOff val="15000"/>
                  </a:schemeClr>
                </a:solidFill>
                <a:latin typeface="Times New Roman" panose="02020603050405020304" pitchFamily="18" charset="0"/>
                <a:ea typeface="黑体" panose="02010609060101010101" pitchFamily="2" charset="-122"/>
              </a:rPr>
              <a:t>：</a:t>
            </a:r>
            <a:r>
              <a:rPr lang="en-US" altLang="zh-CN" dirty="0">
                <a:solidFill>
                  <a:schemeClr val="tx1">
                    <a:lumMod val="85000"/>
                    <a:lumOff val="15000"/>
                  </a:schemeClr>
                </a:solidFill>
                <a:latin typeface="Times New Roman" panose="02020603050405020304" pitchFamily="18" charset="0"/>
                <a:ea typeface="黑体" panose="02010609060101010101" pitchFamily="2" charset="-122"/>
              </a:rPr>
              <a:t>1087634167</a:t>
            </a:r>
            <a:endParaRPr lang="zh-CN" altLang="en-US" dirty="0">
              <a:solidFill>
                <a:schemeClr val="tx1">
                  <a:lumMod val="85000"/>
                  <a:lumOff val="15000"/>
                </a:schemeClr>
              </a:solidFill>
              <a:latin typeface="Times New Roman" panose="02020603050405020304" pitchFamily="18" charset="0"/>
              <a:ea typeface="黑体" panose="02010609060101010101" pitchFamily="2" charset="-122"/>
            </a:endParaRPr>
          </a:p>
          <a:p>
            <a:pPr eaLnBrk="1" hangingPunct="1">
              <a:buClr>
                <a:srgbClr val="FF0000"/>
              </a:buClr>
              <a:buFont typeface="Wingdings" panose="05000000000000000000" pitchFamily="2" charset="2"/>
              <a:buChar char="p"/>
              <a:defRPr/>
            </a:pPr>
            <a:r>
              <a:rPr lang="zh-CN" altLang="en-US" sz="2800" b="1" dirty="0">
                <a:solidFill>
                  <a:schemeClr val="tx1">
                    <a:lumMod val="85000"/>
                    <a:lumOff val="15000"/>
                  </a:schemeClr>
                </a:solidFill>
                <a:latin typeface="楷体" panose="02010609060101010101" pitchFamily="49" charset="-122"/>
                <a:ea typeface="楷体" panose="02010609060101010101" pitchFamily="49" charset="-122"/>
              </a:rPr>
              <a:t> 助教</a:t>
            </a:r>
          </a:p>
          <a:p>
            <a:pPr marL="457200" lvl="1" indent="0" eaLnBrk="1" hangingPunct="1">
              <a:buNone/>
              <a:defRPr/>
            </a:pPr>
            <a:r>
              <a:rPr lang="zh-CN" altLang="en-US" b="1" dirty="0">
                <a:solidFill>
                  <a:schemeClr val="tx1">
                    <a:lumMod val="85000"/>
                    <a:lumOff val="15000"/>
                  </a:schemeClr>
                </a:solidFill>
                <a:latin typeface="楷体" panose="02010609060101010101" pitchFamily="49" charset="-122"/>
                <a:ea typeface="楷体" panose="02010609060101010101" pitchFamily="49" charset="-122"/>
              </a:rPr>
              <a:t>  宋子阳 </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QQ</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1638165137</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buClr>
                <a:srgbClr val="FF0000"/>
              </a:buClr>
              <a:buFont typeface="Wingdings" panose="05000000000000000000" pitchFamily="2" charset="2"/>
              <a:buChar char="p"/>
              <a:defRPr/>
            </a:pPr>
            <a:r>
              <a:rPr lang="zh-CN" altLang="en-US" sz="2800" b="1" dirty="0">
                <a:solidFill>
                  <a:schemeClr val="tx1">
                    <a:lumMod val="85000"/>
                    <a:lumOff val="15000"/>
                  </a:schemeClr>
                </a:solidFill>
                <a:latin typeface="楷体" panose="02010609060101010101" pitchFamily="49" charset="-122"/>
                <a:ea typeface="楷体" panose="02010609060101010101" pitchFamily="49" charset="-122"/>
              </a:rPr>
              <a:t> 教师</a:t>
            </a:r>
          </a:p>
          <a:p>
            <a:pPr marL="457200" lvl="1" indent="0" eaLnBrk="1" hangingPunct="1">
              <a:buFont typeface="Arial" panose="020B0604020202020204" pitchFamily="34" charset="0"/>
              <a:buNone/>
              <a:defRPr/>
            </a:pPr>
            <a:r>
              <a:rPr lang="zh-CN" altLang="en-US" b="1" dirty="0">
                <a:solidFill>
                  <a:schemeClr val="tx1">
                    <a:lumMod val="85000"/>
                    <a:lumOff val="15000"/>
                  </a:schemeClr>
                </a:solidFill>
                <a:latin typeface="Times New Roman" panose="02020603050405020304" pitchFamily="18" charset="0"/>
                <a:ea typeface="黑体" panose="02010609060101010101" pitchFamily="2" charset="-122"/>
              </a:rPr>
              <a:t>	</a:t>
            </a:r>
            <a:r>
              <a:rPr lang="zh-CN" altLang="en-US" sz="3200" b="1" dirty="0">
                <a:solidFill>
                  <a:schemeClr val="tx1">
                    <a:lumMod val="85000"/>
                    <a:lumOff val="15000"/>
                  </a:schemeClr>
                </a:solidFill>
                <a:latin typeface="楷体" panose="02010609060101010101" pitchFamily="49" charset="-122"/>
                <a:ea typeface="楷体" panose="02010609060101010101" pitchFamily="49" charset="-122"/>
              </a:rPr>
              <a:t>陈自郁</a:t>
            </a:r>
            <a:r>
              <a:rPr lang="zh-CN" altLang="en-US" dirty="0">
                <a:solidFill>
                  <a:schemeClr val="tx1">
                    <a:lumMod val="85000"/>
                    <a:lumOff val="15000"/>
                  </a:schemeClr>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solidFill>
                  <a:schemeClr val="tx1">
                    <a:lumMod val="85000"/>
                    <a:lumOff val="15000"/>
                  </a:schemeClr>
                </a:solidFill>
                <a:latin typeface="Times New Roman" panose="02020603050405020304" pitchFamily="18" charset="0"/>
                <a:ea typeface="楷体" panose="02010609060101010101" pitchFamily="49" charset="-122"/>
                <a:cs typeface="Times New Roman" panose="02020603050405020304" pitchFamily="18" charset="0"/>
                <a:hlinkClick r:id="rId3"/>
              </a:rPr>
              <a:t>chenziyu@cqu.edu.cn</a:t>
            </a:r>
            <a:endParaRPr lang="en-US" altLang="zh-CN" dirty="0">
              <a:solidFill>
                <a:schemeClr val="tx1">
                  <a:lumMod val="85000"/>
                  <a:lumOff val="15000"/>
                </a:schemeClr>
              </a:solidFill>
              <a:latin typeface="Times New Roman" panose="02020603050405020304" pitchFamily="18" charset="0"/>
              <a:ea typeface="楷体" panose="02010609060101010101" pitchFamily="49" charset="-122"/>
              <a:cs typeface="Times New Roman" panose="02020603050405020304" pitchFamily="18" charset="0"/>
            </a:endParaRPr>
          </a:p>
          <a:p>
            <a:pPr marL="457200" lvl="1" indent="0" eaLnBrk="1" hangingPunct="1">
              <a:buFont typeface="Arial" panose="020B0604020202020204" pitchFamily="34" charset="0"/>
              <a:buNone/>
              <a:defRPr/>
            </a:pPr>
            <a:r>
              <a:rPr lang="en-US" altLang="zh-CN" dirty="0">
                <a:solidFill>
                  <a:schemeClr val="tx1">
                    <a:lumMod val="85000"/>
                    <a:lumOff val="15000"/>
                  </a:schemeClr>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QQ</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3998620</a:t>
            </a:r>
            <a:endParaRPr lang="zh-CN" altLang="en-US" dirty="0">
              <a:solidFill>
                <a:schemeClr val="tx1">
                  <a:lumMod val="85000"/>
                  <a:lumOff val="15000"/>
                </a:schemeClr>
              </a:solidFill>
              <a:latin typeface="Times New Roman" panose="02020603050405020304" pitchFamily="18" charset="0"/>
              <a:ea typeface="楷体" panose="02010609060101010101" pitchFamily="49" charset="-122"/>
              <a:cs typeface="Times New Roman" panose="02020603050405020304" pitchFamily="18" charset="0"/>
            </a:endParaRPr>
          </a:p>
          <a:p>
            <a:pPr marL="457200" indent="-457200" eaLnBrk="1" hangingPunct="1">
              <a:spcBef>
                <a:spcPct val="50000"/>
              </a:spcBef>
              <a:buFont typeface="Arial" panose="020B0604020202020204" pitchFamily="34" charset="0"/>
              <a:buNone/>
              <a:defRPr/>
            </a:pPr>
            <a:endParaRPr kumimoji="1" lang="zh-CN" altLang="en-US" b="1" dirty="0">
              <a:latin typeface="黑体" panose="02010609060101010101" pitchFamily="49" charset="-122"/>
              <a:ea typeface="黑体" panose="02010609060101010101" pitchFamily="49" charset="-122"/>
            </a:endParaRPr>
          </a:p>
        </p:txBody>
      </p:sp>
      <p:pic>
        <p:nvPicPr>
          <p:cNvPr id="5" name="图片 4">
            <a:extLst>
              <a:ext uri="{FF2B5EF4-FFF2-40B4-BE49-F238E27FC236}">
                <a16:creationId xmlns:a16="http://schemas.microsoft.com/office/drawing/2014/main" id="{65DEC146-14B8-F926-769E-102F7288939D}"/>
              </a:ext>
            </a:extLst>
          </p:cNvPr>
          <p:cNvPicPr>
            <a:picLocks noChangeAspect="1"/>
          </p:cNvPicPr>
          <p:nvPr/>
        </p:nvPicPr>
        <p:blipFill>
          <a:blip r:embed="rId4"/>
          <a:stretch>
            <a:fillRect/>
          </a:stretch>
        </p:blipFill>
        <p:spPr>
          <a:xfrm>
            <a:off x="5652120" y="762000"/>
            <a:ext cx="3024336" cy="37631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a:extLst>
              <a:ext uri="{FF2B5EF4-FFF2-40B4-BE49-F238E27FC236}">
                <a16:creationId xmlns:a16="http://schemas.microsoft.com/office/drawing/2014/main" id="{6D6B0A59-DB85-4530-8EB1-B4D7AB7B704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49DB9B9-8739-4164-8BB8-E620BC0DE2A8}" type="slidenum">
              <a:rPr kumimoji="1" lang="en-US" altLang="zh-CN" sz="1400" smtClean="0">
                <a:latin typeface="Times New Roman" panose="02020603050405020304" pitchFamily="18" charset="0"/>
              </a:rPr>
              <a:pPr>
                <a:spcBef>
                  <a:spcPct val="0"/>
                </a:spcBef>
                <a:buFontTx/>
                <a:buNone/>
              </a:pPr>
              <a:t>12</a:t>
            </a:fld>
            <a:endParaRPr kumimoji="1" lang="en-US" altLang="zh-CN" sz="1400">
              <a:latin typeface="Times New Roman" panose="02020603050405020304" pitchFamily="18" charset="0"/>
            </a:endParaRPr>
          </a:p>
        </p:txBody>
      </p:sp>
      <p:pic>
        <p:nvPicPr>
          <p:cNvPr id="14339" name="图片 1">
            <a:extLst>
              <a:ext uri="{FF2B5EF4-FFF2-40B4-BE49-F238E27FC236}">
                <a16:creationId xmlns:a16="http://schemas.microsoft.com/office/drawing/2014/main" id="{ACC6E605-128E-456D-9A60-EF9BD9703E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2719388"/>
            <a:ext cx="5618163" cy="318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7811" name="Rectangle 3">
            <a:extLst>
              <a:ext uri="{FF2B5EF4-FFF2-40B4-BE49-F238E27FC236}">
                <a16:creationId xmlns:a16="http://schemas.microsoft.com/office/drawing/2014/main" id="{CAF2E95F-B1D5-4CA6-AF13-AA6EE7E83ADB}"/>
              </a:ext>
            </a:extLst>
          </p:cNvPr>
          <p:cNvSpPr>
            <a:spLocks noGrp="1" noChangeArrowheads="1"/>
          </p:cNvSpPr>
          <p:nvPr>
            <p:ph type="body" idx="1"/>
          </p:nvPr>
        </p:nvSpPr>
        <p:spPr>
          <a:xfrm>
            <a:off x="863600" y="1412875"/>
            <a:ext cx="7416800" cy="1231900"/>
          </a:xfrm>
        </p:spPr>
        <p:txBody>
          <a:bodyPr/>
          <a:lstStyle/>
          <a:p>
            <a:pPr eaLnBrk="1" hangingPunct="1">
              <a:lnSpc>
                <a:spcPct val="80000"/>
              </a:lnSpc>
              <a:buClr>
                <a:srgbClr val="FF0000"/>
              </a:buClr>
              <a:buFont typeface="Wingdings" panose="05000000000000000000" pitchFamily="2" charset="2"/>
              <a:buChar char="p"/>
              <a:defRPr/>
            </a:pP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人工智能（</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Artificial Intelligence</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AI</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marL="0" indent="0" eaLnBrk="1" hangingPunct="1">
              <a:lnSpc>
                <a:spcPct val="80000"/>
              </a:lnSpc>
              <a:buClr>
                <a:srgbClr val="FF0000"/>
              </a:buClr>
              <a:buFont typeface="Arial" panose="020B0604020202020204" pitchFamily="34" charset="0"/>
              <a:buNone/>
              <a:defRPr/>
            </a:pP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研究、开发用于模拟、延伸和扩展人的智能的理论方法、技术及应用系统的一门技术科学</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eaLnBrk="1" hangingPunct="1">
              <a:lnSpc>
                <a:spcPct val="80000"/>
              </a:lnSpc>
              <a:buClr>
                <a:srgbClr val="FF0000"/>
              </a:buClr>
              <a:buFont typeface="Arial" panose="020B0604020202020204" pitchFamily="34" charset="0"/>
              <a:buNone/>
              <a:defRPr/>
            </a:pP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     </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341" name="Text Box 4">
            <a:extLst>
              <a:ext uri="{FF2B5EF4-FFF2-40B4-BE49-F238E27FC236}">
                <a16:creationId xmlns:a16="http://schemas.microsoft.com/office/drawing/2014/main" id="{DE0061C2-654F-41AA-90E7-5B7D8AEB9000}"/>
              </a:ext>
            </a:extLst>
          </p:cNvPr>
          <p:cNvSpPr txBox="1">
            <a:spLocks noChangeArrowheads="1"/>
          </p:cNvSpPr>
          <p:nvPr/>
        </p:nvSpPr>
        <p:spPr bwMode="auto">
          <a:xfrm>
            <a:off x="684213" y="620713"/>
            <a:ext cx="8134350" cy="57943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b="1">
                <a:latin typeface="黑体" panose="02010609060101010101" pitchFamily="49" charset="-122"/>
                <a:ea typeface="黑体" panose="02010609060101010101" pitchFamily="49" charset="-122"/>
                <a:cs typeface="楷体_GB2312"/>
              </a:rPr>
              <a:t>人工智能与机器学习（</a:t>
            </a:r>
            <a:r>
              <a:rPr kumimoji="1" lang="en-US" altLang="zh-CN" b="1">
                <a:latin typeface="黑体" panose="02010609060101010101" pitchFamily="49" charset="-122"/>
                <a:ea typeface="黑体" panose="02010609060101010101" pitchFamily="49" charset="-122"/>
                <a:cs typeface="楷体_GB2312"/>
              </a:rPr>
              <a:t>1</a:t>
            </a:r>
            <a:r>
              <a:rPr kumimoji="1" lang="zh-CN" altLang="en-US" b="1">
                <a:latin typeface="黑体" panose="02010609060101010101" pitchFamily="49" charset="-122"/>
                <a:ea typeface="黑体" panose="02010609060101010101" pitchFamily="49" charset="-122"/>
                <a:cs typeface="楷体_GB2312"/>
              </a:rPr>
              <a:t>）</a:t>
            </a:r>
          </a:p>
        </p:txBody>
      </p:sp>
      <p:sp>
        <p:nvSpPr>
          <p:cNvPr id="9" name="文本框 8">
            <a:extLst>
              <a:ext uri="{FF2B5EF4-FFF2-40B4-BE49-F238E27FC236}">
                <a16:creationId xmlns:a16="http://schemas.microsoft.com/office/drawing/2014/main" id="{DB2E2647-4FD2-4FDB-B1C7-E1BBA622D967}"/>
              </a:ext>
            </a:extLst>
          </p:cNvPr>
          <p:cNvSpPr txBox="1"/>
          <p:nvPr/>
        </p:nvSpPr>
        <p:spPr>
          <a:xfrm>
            <a:off x="1655676" y="6127553"/>
            <a:ext cx="5832648" cy="369332"/>
          </a:xfrm>
          <a:prstGeom prst="rect">
            <a:avLst/>
          </a:prstGeom>
          <a:noFill/>
        </p:spPr>
        <p:txBody>
          <a:bodyPr wrap="square">
            <a:spAutoFit/>
          </a:bodyPr>
          <a:lstStyle/>
          <a:p>
            <a:r>
              <a:rPr lang="zh-CN" altLang="en-US" dirty="0">
                <a:latin typeface="楷体" panose="02010609060101010101" pitchFamily="49" charset="-122"/>
                <a:ea typeface="楷体" panose="02010609060101010101" pitchFamily="49" charset="-122"/>
              </a:rPr>
              <a:t>图片来自：人工智能的现状与未来</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机器人大讲堂</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a:extLst>
              <a:ext uri="{FF2B5EF4-FFF2-40B4-BE49-F238E27FC236}">
                <a16:creationId xmlns:a16="http://schemas.microsoft.com/office/drawing/2014/main" id="{5DF90400-BC0E-4FCC-9FBD-8FA26E09D10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1AC86959-2F7E-485D-820E-F487DEFBCA7E}" type="slidenum">
              <a:rPr kumimoji="1" lang="en-US" altLang="zh-CN" sz="1400" smtClean="0">
                <a:latin typeface="Times New Roman" panose="02020603050405020304" pitchFamily="18" charset="0"/>
              </a:rPr>
              <a:pPr>
                <a:spcBef>
                  <a:spcPct val="0"/>
                </a:spcBef>
                <a:buFontTx/>
                <a:buNone/>
              </a:pPr>
              <a:t>13</a:t>
            </a:fld>
            <a:endParaRPr kumimoji="1" lang="en-US" altLang="zh-CN" sz="1400">
              <a:latin typeface="Times New Roman" panose="02020603050405020304" pitchFamily="18" charset="0"/>
            </a:endParaRPr>
          </a:p>
        </p:txBody>
      </p:sp>
      <p:sp>
        <p:nvSpPr>
          <p:cNvPr id="887811" name="Rectangle 3">
            <a:extLst>
              <a:ext uri="{FF2B5EF4-FFF2-40B4-BE49-F238E27FC236}">
                <a16:creationId xmlns:a16="http://schemas.microsoft.com/office/drawing/2014/main" id="{4538EA53-6DC9-4511-995B-E40667615B8A}"/>
              </a:ext>
            </a:extLst>
          </p:cNvPr>
          <p:cNvSpPr>
            <a:spLocks noGrp="1"/>
          </p:cNvSpPr>
          <p:nvPr>
            <p:ph type="body" idx="1"/>
          </p:nvPr>
        </p:nvSpPr>
        <p:spPr>
          <a:xfrm>
            <a:off x="863600" y="1412875"/>
            <a:ext cx="7416800" cy="1231900"/>
          </a:xfrm>
        </p:spPr>
        <p:txBody>
          <a:bodyPr/>
          <a:lstStyle/>
          <a:p>
            <a:pPr eaLnBrk="1" hangingPunct="1">
              <a:lnSpc>
                <a:spcPct val="80000"/>
              </a:lnSpc>
              <a:buClr>
                <a:srgbClr val="FF0000"/>
              </a:buClr>
              <a:buFont typeface="Wingdings" panose="05000000000000000000" pitchFamily="2" charset="2"/>
              <a:buChar char="p"/>
            </a:pPr>
            <a:r>
              <a:rPr lang="zh-CN" altLang="en-US" sz="2800">
                <a:latin typeface="Times New Roman" panose="02020603050405020304" pitchFamily="18" charset="0"/>
                <a:ea typeface="楷体" panose="02010609060101010101" pitchFamily="49" charset="-122"/>
                <a:cs typeface="Times New Roman" panose="02020603050405020304" pitchFamily="18" charset="0"/>
              </a:rPr>
              <a:t> 机器学习（</a:t>
            </a:r>
            <a:r>
              <a:rPr lang="en-US" altLang="zh-CN" sz="2800">
                <a:latin typeface="Times New Roman" panose="02020603050405020304" pitchFamily="18" charset="0"/>
                <a:ea typeface="楷体" panose="02010609060101010101" pitchFamily="49" charset="-122"/>
                <a:cs typeface="Times New Roman" panose="02020603050405020304" pitchFamily="18" charset="0"/>
              </a:rPr>
              <a:t>Machine Learning</a:t>
            </a:r>
            <a:r>
              <a:rPr lang="zh-CN" altLang="en-US" sz="280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800">
              <a:latin typeface="Times New Roman" panose="02020603050405020304" pitchFamily="18" charset="0"/>
              <a:ea typeface="楷体" panose="02010609060101010101" pitchFamily="49" charset="-122"/>
              <a:cs typeface="Times New Roman" panose="02020603050405020304" pitchFamily="18" charset="0"/>
            </a:endParaRPr>
          </a:p>
          <a:p>
            <a:pPr marL="914400" lvl="1" indent="-457200" eaLnBrk="1" hangingPunct="1">
              <a:spcBef>
                <a:spcPct val="50000"/>
              </a:spcBef>
              <a:buClr>
                <a:srgbClr val="FF0000"/>
              </a:buClr>
              <a:buFont typeface="Arial" panose="020B0604020202020204" pitchFamily="34" charset="0"/>
              <a:buChar char="•"/>
            </a:pPr>
            <a:r>
              <a:rPr kumimoji="1" lang="zh-CN" altLang="en-US" sz="2400">
                <a:latin typeface="楷体" panose="02010609060101010101" pitchFamily="49" charset="-122"/>
                <a:ea typeface="楷体" panose="02010609060101010101" pitchFamily="49" charset="-122"/>
                <a:cs typeface="Times New Roman" panose="02020603050405020304" pitchFamily="18" charset="0"/>
              </a:rPr>
              <a:t>从数据中自动分析获得规律，并利用规律对未知数据进行预测的算法</a:t>
            </a:r>
            <a:endParaRPr kumimoji="1" lang="en-US" altLang="zh-CN" sz="2400">
              <a:latin typeface="楷体" panose="02010609060101010101" pitchFamily="49" charset="-122"/>
              <a:ea typeface="楷体" panose="02010609060101010101" pitchFamily="49" charset="-122"/>
              <a:cs typeface="Times New Roman" panose="02020603050405020304" pitchFamily="18" charset="0"/>
            </a:endParaRPr>
          </a:p>
          <a:p>
            <a:pPr marL="914400" lvl="1" indent="-457200" eaLnBrk="1" hangingPunct="1">
              <a:spcBef>
                <a:spcPct val="50000"/>
              </a:spcBef>
              <a:buClr>
                <a:srgbClr val="FF0000"/>
              </a:buClr>
              <a:buFont typeface="Arial" panose="020B0604020202020204" pitchFamily="34" charset="0"/>
              <a:buChar char="•"/>
            </a:pPr>
            <a:r>
              <a:rPr kumimoji="1" lang="zh-CN" altLang="en-US" sz="2400">
                <a:latin typeface="楷体" panose="02010609060101010101" pitchFamily="49" charset="-122"/>
                <a:ea typeface="楷体" panose="02010609060101010101" pitchFamily="49" charset="-122"/>
                <a:cs typeface="Times New Roman" panose="02020603050405020304" pitchFamily="18" charset="0"/>
              </a:rPr>
              <a:t>人工智能的核心研究内容</a:t>
            </a:r>
          </a:p>
          <a:p>
            <a:pPr marL="914400" lvl="1" indent="-457200" eaLnBrk="1" hangingPunct="1">
              <a:spcBef>
                <a:spcPct val="50000"/>
              </a:spcBef>
              <a:buClr>
                <a:srgbClr val="FF0000"/>
              </a:buClr>
              <a:buFont typeface="Arial" panose="020B0604020202020204" pitchFamily="34" charset="0"/>
              <a:buChar char="•"/>
            </a:pPr>
            <a:r>
              <a:rPr kumimoji="1" lang="zh-CN" altLang="en-US" sz="2400">
                <a:latin typeface="楷体" panose="02010609060101010101" pitchFamily="49" charset="-122"/>
                <a:ea typeface="楷体" panose="02010609060101010101" pitchFamily="49" charset="-122"/>
                <a:cs typeface="Times New Roman" panose="02020603050405020304" pitchFamily="18" charset="0"/>
              </a:rPr>
              <a:t>机器学习已经广泛应用于人工智能的各个分支</a:t>
            </a:r>
          </a:p>
          <a:p>
            <a:pPr marL="914400" lvl="1" indent="-457200" eaLnBrk="1" hangingPunct="1">
              <a:spcBef>
                <a:spcPct val="50000"/>
              </a:spcBef>
              <a:buClr>
                <a:srgbClr val="FF0000"/>
              </a:buClr>
              <a:buFont typeface="Arial" panose="020B0604020202020204" pitchFamily="34" charset="0"/>
              <a:buChar char="•"/>
            </a:pPr>
            <a:r>
              <a:rPr kumimoji="1" lang="zh-CN" altLang="en-US" sz="2400">
                <a:latin typeface="楷体" panose="02010609060101010101" pitchFamily="49" charset="-122"/>
                <a:ea typeface="楷体" panose="02010609060101010101" pitchFamily="49" charset="-122"/>
                <a:cs typeface="Times New Roman" panose="02020603050405020304" pitchFamily="18" charset="0"/>
              </a:rPr>
              <a:t>不具有学习能力的系统很难称得上是一个智能系统</a:t>
            </a:r>
          </a:p>
          <a:p>
            <a:pPr marL="914400" lvl="1" indent="-457200" eaLnBrk="1" hangingPunct="1">
              <a:lnSpc>
                <a:spcPct val="80000"/>
              </a:lnSpc>
              <a:spcBef>
                <a:spcPct val="50000"/>
              </a:spcBef>
              <a:buClr>
                <a:srgbClr val="FF0000"/>
              </a:buClr>
              <a:buFont typeface="Arial" panose="020B0604020202020204" pitchFamily="34" charset="0"/>
              <a:buChar char="•"/>
            </a:pPr>
            <a:endParaRPr kumimoji="1" lang="en-US" altLang="zh-CN" sz="2400">
              <a:latin typeface="楷体" panose="02010609060101010101" pitchFamily="49" charset="-122"/>
              <a:ea typeface="楷体" panose="02010609060101010101" pitchFamily="49" charset="-122"/>
              <a:cs typeface="Times New Roman" panose="02020603050405020304" pitchFamily="18" charset="0"/>
            </a:endParaRPr>
          </a:p>
        </p:txBody>
      </p:sp>
      <p:sp>
        <p:nvSpPr>
          <p:cNvPr id="15364" name="Text Box 4">
            <a:extLst>
              <a:ext uri="{FF2B5EF4-FFF2-40B4-BE49-F238E27FC236}">
                <a16:creationId xmlns:a16="http://schemas.microsoft.com/office/drawing/2014/main" id="{E005D8D1-E2FB-457B-814A-5AD0FF26CB42}"/>
              </a:ext>
            </a:extLst>
          </p:cNvPr>
          <p:cNvSpPr txBox="1">
            <a:spLocks noChangeArrowheads="1"/>
          </p:cNvSpPr>
          <p:nvPr/>
        </p:nvSpPr>
        <p:spPr bwMode="auto">
          <a:xfrm>
            <a:off x="684213" y="620713"/>
            <a:ext cx="8134350" cy="57943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b="1">
                <a:latin typeface="黑体" panose="02010609060101010101" pitchFamily="49" charset="-122"/>
                <a:ea typeface="黑体" panose="02010609060101010101" pitchFamily="49" charset="-122"/>
                <a:cs typeface="楷体_GB2312"/>
              </a:rPr>
              <a:t>人工智能与机器学习（</a:t>
            </a:r>
            <a:r>
              <a:rPr kumimoji="1" lang="en-US" altLang="zh-CN" b="1">
                <a:latin typeface="黑体" panose="02010609060101010101" pitchFamily="49" charset="-122"/>
                <a:ea typeface="黑体" panose="02010609060101010101" pitchFamily="49" charset="-122"/>
                <a:cs typeface="楷体_GB2312"/>
              </a:rPr>
              <a:t>2</a:t>
            </a:r>
            <a:r>
              <a:rPr kumimoji="1" lang="zh-CN" altLang="en-US" b="1">
                <a:latin typeface="黑体" panose="02010609060101010101" pitchFamily="49" charset="-122"/>
                <a:ea typeface="黑体" panose="02010609060101010101" pitchFamily="49" charset="-122"/>
                <a:cs typeface="楷体_GB231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87811">
                                            <p:txEl>
                                              <p:pRg st="0" end="0"/>
                                            </p:txEl>
                                          </p:spTgt>
                                        </p:tgtEl>
                                        <p:attrNameLst>
                                          <p:attrName>style.visibility</p:attrName>
                                        </p:attrNameLst>
                                      </p:cBhvr>
                                      <p:to>
                                        <p:strVal val="visible"/>
                                      </p:to>
                                    </p:set>
                                    <p:animEffect transition="in" filter="blinds(horizontal)">
                                      <p:cBhvr>
                                        <p:cTn id="7" dur="500"/>
                                        <p:tgtEl>
                                          <p:spTgt spid="887811">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87811">
                                            <p:txEl>
                                              <p:pRg st="1" end="1"/>
                                            </p:txEl>
                                          </p:spTgt>
                                        </p:tgtEl>
                                        <p:attrNameLst>
                                          <p:attrName>style.visibility</p:attrName>
                                        </p:attrNameLst>
                                      </p:cBhvr>
                                      <p:to>
                                        <p:strVal val="visible"/>
                                      </p:to>
                                    </p:set>
                                    <p:animEffect transition="in" filter="blinds(horizontal)">
                                      <p:cBhvr>
                                        <p:cTn id="10" dur="500"/>
                                        <p:tgtEl>
                                          <p:spTgt spid="887811">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87811">
                                            <p:txEl>
                                              <p:pRg st="2" end="2"/>
                                            </p:txEl>
                                          </p:spTgt>
                                        </p:tgtEl>
                                        <p:attrNameLst>
                                          <p:attrName>style.visibility</p:attrName>
                                        </p:attrNameLst>
                                      </p:cBhvr>
                                      <p:to>
                                        <p:strVal val="visible"/>
                                      </p:to>
                                    </p:set>
                                    <p:animEffect transition="in" filter="blinds(horizontal)">
                                      <p:cBhvr>
                                        <p:cTn id="13" dur="500"/>
                                        <p:tgtEl>
                                          <p:spTgt spid="887811">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887811">
                                            <p:txEl>
                                              <p:pRg st="3" end="3"/>
                                            </p:txEl>
                                          </p:spTgt>
                                        </p:tgtEl>
                                        <p:attrNameLst>
                                          <p:attrName>style.visibility</p:attrName>
                                        </p:attrNameLst>
                                      </p:cBhvr>
                                      <p:to>
                                        <p:strVal val="visible"/>
                                      </p:to>
                                    </p:set>
                                    <p:animEffect transition="in" filter="blinds(horizontal)">
                                      <p:cBhvr>
                                        <p:cTn id="16" dur="500"/>
                                        <p:tgtEl>
                                          <p:spTgt spid="887811">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887811">
                                            <p:txEl>
                                              <p:pRg st="4" end="4"/>
                                            </p:txEl>
                                          </p:spTgt>
                                        </p:tgtEl>
                                        <p:attrNameLst>
                                          <p:attrName>style.visibility</p:attrName>
                                        </p:attrNameLst>
                                      </p:cBhvr>
                                      <p:to>
                                        <p:strVal val="visible"/>
                                      </p:to>
                                    </p:set>
                                    <p:animEffect transition="in" filter="blinds(horizontal)">
                                      <p:cBhvr>
                                        <p:cTn id="19" dur="500"/>
                                        <p:tgtEl>
                                          <p:spTgt spid="8878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781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a:extLst>
              <a:ext uri="{FF2B5EF4-FFF2-40B4-BE49-F238E27FC236}">
                <a16:creationId xmlns:a16="http://schemas.microsoft.com/office/drawing/2014/main" id="{57ED7820-D255-4D5A-BB2C-78EA164FDBA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1FEE3427-67C4-4E41-9CE9-0CF48AC7D418}" type="slidenum">
              <a:rPr kumimoji="1" lang="en-US" altLang="zh-CN" sz="1400" smtClean="0">
                <a:latin typeface="Times New Roman" panose="02020603050405020304" pitchFamily="18" charset="0"/>
              </a:rPr>
              <a:pPr>
                <a:spcBef>
                  <a:spcPct val="0"/>
                </a:spcBef>
                <a:buFontTx/>
                <a:buNone/>
              </a:pPr>
              <a:t>14</a:t>
            </a:fld>
            <a:endParaRPr kumimoji="1" lang="en-US" altLang="zh-CN" sz="1400">
              <a:latin typeface="Times New Roman" panose="02020603050405020304" pitchFamily="18" charset="0"/>
            </a:endParaRPr>
          </a:p>
        </p:txBody>
      </p:sp>
      <p:sp>
        <p:nvSpPr>
          <p:cNvPr id="887811" name="Rectangle 3">
            <a:extLst>
              <a:ext uri="{FF2B5EF4-FFF2-40B4-BE49-F238E27FC236}">
                <a16:creationId xmlns:a16="http://schemas.microsoft.com/office/drawing/2014/main" id="{E9E380D1-A2C5-4C71-8063-6C09E7F6FD4B}"/>
              </a:ext>
            </a:extLst>
          </p:cNvPr>
          <p:cNvSpPr>
            <a:spLocks noGrp="1"/>
          </p:cNvSpPr>
          <p:nvPr>
            <p:ph type="body" idx="1"/>
          </p:nvPr>
        </p:nvSpPr>
        <p:spPr>
          <a:xfrm>
            <a:off x="863600" y="1412875"/>
            <a:ext cx="7416800" cy="1231900"/>
          </a:xfrm>
        </p:spPr>
        <p:txBody>
          <a:bodyPr/>
          <a:lstStyle/>
          <a:p>
            <a:pPr eaLnBrk="1" hangingPunct="1">
              <a:lnSpc>
                <a:spcPct val="80000"/>
              </a:lnSpc>
              <a:buClr>
                <a:srgbClr val="FF0000"/>
              </a:buClr>
              <a:buFont typeface="Wingdings" panose="05000000000000000000" pitchFamily="2" charset="2"/>
              <a:buChar char="p"/>
            </a:pPr>
            <a:r>
              <a:rPr lang="zh-CN" altLang="en-US" sz="2800">
                <a:latin typeface="Times New Roman" panose="02020603050405020304" pitchFamily="18" charset="0"/>
                <a:ea typeface="楷体" panose="02010609060101010101" pitchFamily="49" charset="-122"/>
                <a:cs typeface="Times New Roman" panose="02020603050405020304" pitchFamily="18" charset="0"/>
              </a:rPr>
              <a:t> 人工智能、机器学习和深度学习的关系</a:t>
            </a:r>
            <a:endParaRPr lang="en-US" altLang="zh-CN" sz="2800">
              <a:latin typeface="Times New Roman" panose="02020603050405020304" pitchFamily="18" charset="0"/>
              <a:ea typeface="楷体" panose="02010609060101010101" pitchFamily="49" charset="-122"/>
              <a:cs typeface="Times New Roman" panose="02020603050405020304" pitchFamily="18" charset="0"/>
            </a:endParaRPr>
          </a:p>
          <a:p>
            <a:pPr marL="457200" lvl="1" indent="0" eaLnBrk="1" hangingPunct="1">
              <a:lnSpc>
                <a:spcPct val="80000"/>
              </a:lnSpc>
              <a:spcBef>
                <a:spcPct val="50000"/>
              </a:spcBef>
              <a:buClr>
                <a:srgbClr val="FF0000"/>
              </a:buClr>
              <a:buFont typeface="Arial" panose="020B0604020202020204" pitchFamily="34" charset="0"/>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人工智能</a:t>
            </a:r>
            <a:r>
              <a:rPr lang="en-US" altLang="zh-CN" sz="2400">
                <a:latin typeface="Times New Roman" panose="02020603050405020304" pitchFamily="18" charset="0"/>
                <a:ea typeface="楷体" panose="02010609060101010101" pitchFamily="49" charset="-122"/>
                <a:cs typeface="Times New Roman" panose="02020603050405020304" pitchFamily="18" charset="0"/>
              </a:rPr>
              <a:t>&gt;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机器学习</a:t>
            </a:r>
            <a:r>
              <a:rPr lang="en-US" altLang="zh-CN" sz="2400">
                <a:latin typeface="Times New Roman" panose="02020603050405020304" pitchFamily="18" charset="0"/>
                <a:ea typeface="楷体" panose="02010609060101010101" pitchFamily="49" charset="-122"/>
                <a:cs typeface="Times New Roman" panose="02020603050405020304" pitchFamily="18" charset="0"/>
              </a:rPr>
              <a:t>&gt;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深度学习</a:t>
            </a:r>
            <a:endParaRPr kumimoji="1" lang="en-US" altLang="zh-CN" sz="2400">
              <a:latin typeface="楷体" panose="02010609060101010101" pitchFamily="49" charset="-122"/>
              <a:ea typeface="楷体" panose="02010609060101010101" pitchFamily="49" charset="-122"/>
            </a:endParaRPr>
          </a:p>
        </p:txBody>
      </p:sp>
      <p:sp>
        <p:nvSpPr>
          <p:cNvPr id="16388" name="Text Box 4">
            <a:extLst>
              <a:ext uri="{FF2B5EF4-FFF2-40B4-BE49-F238E27FC236}">
                <a16:creationId xmlns:a16="http://schemas.microsoft.com/office/drawing/2014/main" id="{2BEF83B4-938C-4228-90F9-A602F56D81BD}"/>
              </a:ext>
            </a:extLst>
          </p:cNvPr>
          <p:cNvSpPr txBox="1">
            <a:spLocks noChangeArrowheads="1"/>
          </p:cNvSpPr>
          <p:nvPr/>
        </p:nvSpPr>
        <p:spPr bwMode="auto">
          <a:xfrm>
            <a:off x="684213" y="620713"/>
            <a:ext cx="8134350" cy="57943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b="1">
                <a:latin typeface="黑体" panose="02010609060101010101" pitchFamily="49" charset="-122"/>
                <a:ea typeface="黑体" panose="02010609060101010101" pitchFamily="49" charset="-122"/>
                <a:cs typeface="楷体_GB2312"/>
              </a:rPr>
              <a:t>人工智能与机器学习（</a:t>
            </a:r>
            <a:r>
              <a:rPr kumimoji="1" lang="en-US" altLang="zh-CN" b="1">
                <a:latin typeface="黑体" panose="02010609060101010101" pitchFamily="49" charset="-122"/>
                <a:ea typeface="黑体" panose="02010609060101010101" pitchFamily="49" charset="-122"/>
                <a:cs typeface="楷体_GB2312"/>
              </a:rPr>
              <a:t>3</a:t>
            </a:r>
            <a:r>
              <a:rPr kumimoji="1" lang="zh-CN" altLang="en-US" b="1">
                <a:latin typeface="黑体" panose="02010609060101010101" pitchFamily="49" charset="-122"/>
                <a:ea typeface="黑体" panose="02010609060101010101" pitchFamily="49" charset="-122"/>
                <a:cs typeface="楷体_GB2312"/>
              </a:rPr>
              <a:t>）</a:t>
            </a:r>
          </a:p>
        </p:txBody>
      </p:sp>
      <p:pic>
        <p:nvPicPr>
          <p:cNvPr id="16389" name="图片 1">
            <a:extLst>
              <a:ext uri="{FF2B5EF4-FFF2-40B4-BE49-F238E27FC236}">
                <a16:creationId xmlns:a16="http://schemas.microsoft.com/office/drawing/2014/main" id="{2C55871A-A893-40AA-8C8D-785DA1E3CD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5563" y="2457450"/>
            <a:ext cx="6492875"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323D148B-08C9-4D93-AC6F-49F2E7951A6A}"/>
              </a:ext>
            </a:extLst>
          </p:cNvPr>
          <p:cNvSpPr txBox="1"/>
          <p:nvPr/>
        </p:nvSpPr>
        <p:spPr>
          <a:xfrm>
            <a:off x="1835064" y="5691371"/>
            <a:ext cx="5832648" cy="369332"/>
          </a:xfrm>
          <a:prstGeom prst="rect">
            <a:avLst/>
          </a:prstGeom>
          <a:noFill/>
        </p:spPr>
        <p:txBody>
          <a:bodyPr wrap="square">
            <a:spAutoFit/>
          </a:bodyPr>
          <a:lstStyle/>
          <a:p>
            <a:r>
              <a:rPr lang="zh-CN" altLang="en-US" dirty="0">
                <a:latin typeface="楷体" panose="02010609060101010101" pitchFamily="49" charset="-122"/>
                <a:ea typeface="楷体" panose="02010609060101010101" pitchFamily="49" charset="-122"/>
              </a:rPr>
              <a:t>图片来自：人工智能的现状与未来</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机器人大讲堂</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87811">
                                            <p:txEl>
                                              <p:pRg st="0" end="0"/>
                                            </p:txEl>
                                          </p:spTgt>
                                        </p:tgtEl>
                                        <p:attrNameLst>
                                          <p:attrName>style.visibility</p:attrName>
                                        </p:attrNameLst>
                                      </p:cBhvr>
                                      <p:to>
                                        <p:strVal val="visible"/>
                                      </p:to>
                                    </p:set>
                                    <p:animEffect transition="in" filter="blinds(horizontal)">
                                      <p:cBhvr>
                                        <p:cTn id="7" dur="500"/>
                                        <p:tgtEl>
                                          <p:spTgt spid="887811">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87811">
                                            <p:txEl>
                                              <p:pRg st="1" end="1"/>
                                            </p:txEl>
                                          </p:spTgt>
                                        </p:tgtEl>
                                        <p:attrNameLst>
                                          <p:attrName>style.visibility</p:attrName>
                                        </p:attrNameLst>
                                      </p:cBhvr>
                                      <p:to>
                                        <p:strVal val="visible"/>
                                      </p:to>
                                    </p:set>
                                    <p:animEffect transition="in" filter="blinds(horizontal)">
                                      <p:cBhvr>
                                        <p:cTn id="10" dur="500"/>
                                        <p:tgtEl>
                                          <p:spTgt spid="8878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781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a:extLst>
              <a:ext uri="{FF2B5EF4-FFF2-40B4-BE49-F238E27FC236}">
                <a16:creationId xmlns:a16="http://schemas.microsoft.com/office/drawing/2014/main" id="{A0558354-52E2-4779-81FB-FBA552E9839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6BC3501-82F9-4822-BA8D-6F2D6E0D27C2}" type="slidenum">
              <a:rPr kumimoji="1" lang="en-US" altLang="zh-CN" sz="1400" smtClean="0">
                <a:latin typeface="Times New Roman" panose="02020603050405020304" pitchFamily="18" charset="0"/>
              </a:rPr>
              <a:pPr>
                <a:spcBef>
                  <a:spcPct val="0"/>
                </a:spcBef>
                <a:buFontTx/>
                <a:buNone/>
              </a:pPr>
              <a:t>15</a:t>
            </a:fld>
            <a:endParaRPr kumimoji="1" lang="en-US" altLang="zh-CN" sz="1400">
              <a:latin typeface="Times New Roman" panose="02020603050405020304" pitchFamily="18" charset="0"/>
            </a:endParaRPr>
          </a:p>
        </p:txBody>
      </p:sp>
      <p:sp>
        <p:nvSpPr>
          <p:cNvPr id="17411" name="Text Box 4">
            <a:extLst>
              <a:ext uri="{FF2B5EF4-FFF2-40B4-BE49-F238E27FC236}">
                <a16:creationId xmlns:a16="http://schemas.microsoft.com/office/drawing/2014/main" id="{7D82F467-66D4-4900-8D91-D15999BFC231}"/>
              </a:ext>
            </a:extLst>
          </p:cNvPr>
          <p:cNvSpPr txBox="1">
            <a:spLocks noChangeArrowheads="1"/>
          </p:cNvSpPr>
          <p:nvPr/>
        </p:nvSpPr>
        <p:spPr bwMode="auto">
          <a:xfrm>
            <a:off x="684213" y="620713"/>
            <a:ext cx="8134350" cy="57943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b="1">
                <a:latin typeface="黑体" panose="02010609060101010101" pitchFamily="49" charset="-122"/>
                <a:ea typeface="黑体" panose="02010609060101010101" pitchFamily="49" charset="-122"/>
                <a:cs typeface="楷体_GB2312"/>
              </a:rPr>
              <a:t>人类学习与机器学习</a:t>
            </a:r>
          </a:p>
        </p:txBody>
      </p:sp>
      <p:pic>
        <p:nvPicPr>
          <p:cNvPr id="17412" name="图片 3">
            <a:extLst>
              <a:ext uri="{FF2B5EF4-FFF2-40B4-BE49-F238E27FC236}">
                <a16:creationId xmlns:a16="http://schemas.microsoft.com/office/drawing/2014/main" id="{5D6F42C9-A659-4CCA-9C80-09E44789E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550" y="1557338"/>
            <a:ext cx="3794125" cy="302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图片 4">
            <a:extLst>
              <a:ext uri="{FF2B5EF4-FFF2-40B4-BE49-F238E27FC236}">
                <a16:creationId xmlns:a16="http://schemas.microsoft.com/office/drawing/2014/main" id="{81EF7B07-A5CE-4824-93E4-4205DD9B76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2488" y="1649413"/>
            <a:ext cx="4302125" cy="293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8B7FC3D7-0652-4C26-B7D4-477740E68B0E}"/>
              </a:ext>
            </a:extLst>
          </p:cNvPr>
          <p:cNvSpPr txBox="1"/>
          <p:nvPr/>
        </p:nvSpPr>
        <p:spPr>
          <a:xfrm>
            <a:off x="745357" y="4977496"/>
            <a:ext cx="8219256" cy="338554"/>
          </a:xfrm>
          <a:prstGeom prst="rect">
            <a:avLst/>
          </a:prstGeom>
          <a:noFill/>
        </p:spPr>
        <p:txBody>
          <a:bodyPr wrap="square">
            <a:spAutoFit/>
          </a:bodyPr>
          <a:lstStyle/>
          <a:p>
            <a:pPr algn="l"/>
            <a:r>
              <a:rPr lang="zh-CN" altLang="en-US" sz="1600" b="0" i="0" dirty="0">
                <a:effectLst/>
                <a:latin typeface="楷体" panose="02010609060101010101" pitchFamily="49" charset="-122"/>
                <a:ea typeface="楷体" panose="02010609060101010101" pitchFamily="49" charset="-122"/>
              </a:rPr>
              <a:t>参考：字节跳动人工智能实验室总监李航：</a:t>
            </a:r>
            <a:r>
              <a:rPr lang="en-US" altLang="zh-CN" sz="1600" b="0" i="0" dirty="0">
                <a:effectLst/>
                <a:latin typeface="楷体" panose="02010609060101010101" pitchFamily="49" charset="-122"/>
                <a:ea typeface="楷体" panose="02010609060101010101" pitchFamily="49" charset="-122"/>
              </a:rPr>
              <a:t>《</a:t>
            </a:r>
            <a:r>
              <a:rPr lang="zh-CN" altLang="en-US" sz="1600" b="0" i="0" dirty="0">
                <a:effectLst/>
                <a:latin typeface="楷体" panose="02010609060101010101" pitchFamily="49" charset="-122"/>
                <a:ea typeface="楷体" panose="02010609060101010101" pitchFamily="49" charset="-122"/>
              </a:rPr>
              <a:t>人类学习与机器学习</a:t>
            </a:r>
            <a:r>
              <a:rPr lang="en-US" altLang="zh-CN" sz="1600" b="0" i="0" dirty="0">
                <a:effectLst/>
                <a:latin typeface="楷体" panose="02010609060101010101" pitchFamily="49" charset="-122"/>
                <a:ea typeface="楷体" panose="02010609060101010101" pitchFamily="49" charset="-122"/>
              </a:rPr>
              <a:t>》@</a:t>
            </a:r>
            <a:r>
              <a:rPr lang="zh-CN" altLang="en-US" sz="1600" b="0" i="0" dirty="0">
                <a:effectLst/>
                <a:latin typeface="楷体" panose="02010609060101010101" pitchFamily="49" charset="-122"/>
                <a:ea typeface="楷体" panose="02010609060101010101" pitchFamily="49" charset="-122"/>
              </a:rPr>
              <a:t> </a:t>
            </a:r>
            <a:r>
              <a:rPr lang="zh-CN" altLang="en-US" sz="1600" b="0" i="0" u="none" strike="noStrike" dirty="0">
                <a:effectLst/>
                <a:latin typeface="楷体" panose="02010609060101010101" pitchFamily="49" charset="-122"/>
                <a:ea typeface="楷体" panose="02010609060101010101" pitchFamily="49" charset="-122"/>
              </a:rPr>
              <a:t>伯禹人工智能学院</a:t>
            </a:r>
            <a:endParaRPr lang="en-US" altLang="zh-CN" sz="1600" b="0" i="0" dirty="0">
              <a:effectLst/>
              <a:latin typeface="楷体" panose="02010609060101010101" pitchFamily="49" charset="-122"/>
              <a:ea typeface="楷体" panose="02010609060101010101" pitchFamily="49"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a:extLst>
              <a:ext uri="{FF2B5EF4-FFF2-40B4-BE49-F238E27FC236}">
                <a16:creationId xmlns:a16="http://schemas.microsoft.com/office/drawing/2014/main" id="{CBBD9809-2CC4-42C3-B564-FAC6896E758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12A9DEA-C3F6-4401-A5BF-3745117890AB}" type="slidenum">
              <a:rPr kumimoji="1" lang="en-US" altLang="zh-CN" sz="1400" smtClean="0">
                <a:latin typeface="Times New Roman" panose="02020603050405020304" pitchFamily="18" charset="0"/>
              </a:rPr>
              <a:pPr>
                <a:spcBef>
                  <a:spcPct val="0"/>
                </a:spcBef>
                <a:buFontTx/>
                <a:buNone/>
              </a:pPr>
              <a:t>16</a:t>
            </a:fld>
            <a:endParaRPr kumimoji="1" lang="en-US" altLang="zh-CN" sz="1400">
              <a:latin typeface="Times New Roman" panose="02020603050405020304" pitchFamily="18" charset="0"/>
            </a:endParaRPr>
          </a:p>
        </p:txBody>
      </p:sp>
      <p:sp>
        <p:nvSpPr>
          <p:cNvPr id="887811" name="Rectangle 3">
            <a:extLst>
              <a:ext uri="{FF2B5EF4-FFF2-40B4-BE49-F238E27FC236}">
                <a16:creationId xmlns:a16="http://schemas.microsoft.com/office/drawing/2014/main" id="{E67925BF-BD9D-4849-975B-B00461AA9122}"/>
              </a:ext>
            </a:extLst>
          </p:cNvPr>
          <p:cNvSpPr>
            <a:spLocks noGrp="1"/>
          </p:cNvSpPr>
          <p:nvPr>
            <p:ph type="body" idx="1"/>
          </p:nvPr>
        </p:nvSpPr>
        <p:spPr>
          <a:xfrm>
            <a:off x="1042988" y="1700213"/>
            <a:ext cx="7416800" cy="1231900"/>
          </a:xfrm>
        </p:spPr>
        <p:txBody>
          <a:bodyPr/>
          <a:lstStyle/>
          <a:p>
            <a:pPr eaLnBrk="1" hangingPunct="1">
              <a:lnSpc>
                <a:spcPct val="80000"/>
              </a:lnSpc>
              <a:buClr>
                <a:srgbClr val="FF0000"/>
              </a:buClr>
              <a:buFont typeface="Wingdings" panose="05000000000000000000" pitchFamily="2" charset="2"/>
              <a:buChar char="p"/>
              <a:defRPr/>
            </a:pP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 监督学习（</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supervised learning</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80000"/>
              </a:lnSpc>
              <a:buClr>
                <a:srgbClr val="FF0000"/>
              </a:buClr>
              <a:buFont typeface="Wingdings" panose="05000000000000000000" pitchFamily="2" charset="2"/>
              <a:buChar char="p"/>
              <a:defRPr/>
            </a:pP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80000"/>
              </a:lnSpc>
              <a:buClr>
                <a:srgbClr val="FF0000"/>
              </a:buClr>
              <a:buFont typeface="Wingdings" panose="05000000000000000000" pitchFamily="2" charset="2"/>
              <a:buChar char="p"/>
              <a:defRPr/>
            </a:pP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 无监督学习（</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unsupervised learning</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80000"/>
              </a:lnSpc>
              <a:buClr>
                <a:srgbClr val="FF0000"/>
              </a:buClr>
              <a:buFont typeface="Wingdings" panose="05000000000000000000" pitchFamily="2" charset="2"/>
              <a:buChar char="p"/>
              <a:defRPr/>
            </a:pP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80000"/>
              </a:lnSpc>
              <a:buClr>
                <a:srgbClr val="FF0000"/>
              </a:buClr>
              <a:buFont typeface="Wingdings" panose="05000000000000000000" pitchFamily="2" charset="2"/>
              <a:buChar char="p"/>
              <a:defRPr/>
            </a:pP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 强化学习（</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reinforcement learning</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80000"/>
              </a:lnSpc>
              <a:buClr>
                <a:srgbClr val="FF0000"/>
              </a:buClr>
              <a:buFont typeface="Wingdings" panose="05000000000000000000" pitchFamily="2" charset="2"/>
              <a:buChar char="p"/>
              <a:defRPr/>
            </a:pP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buClr>
                <a:srgbClr val="FF0000"/>
              </a:buClr>
              <a:buFont typeface="Wingdings" panose="05000000000000000000" pitchFamily="2" charset="2"/>
              <a:buChar char="p"/>
              <a:defRPr/>
            </a:pP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半监督学习（</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semi- supervised learning </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）和主动学习（</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active learning</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marL="0" indent="0" eaLnBrk="1" hangingPunct="1">
              <a:buClr>
                <a:srgbClr val="FF0000"/>
              </a:buClr>
              <a:buFont typeface="Arial" panose="020B0604020202020204" pitchFamily="34" charset="0"/>
              <a:buNone/>
              <a:defRPr/>
            </a:pP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80000"/>
              </a:lnSpc>
              <a:buClr>
                <a:srgbClr val="FF0000"/>
              </a:buClr>
              <a:buFont typeface="Wingdings" panose="05000000000000000000" pitchFamily="2" charset="2"/>
              <a:buChar char="p"/>
              <a:defRPr/>
            </a:pP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marL="0" indent="0" eaLnBrk="1" hangingPunct="1">
              <a:lnSpc>
                <a:spcPct val="80000"/>
              </a:lnSpc>
              <a:buClr>
                <a:srgbClr val="FF0000"/>
              </a:buClr>
              <a:buFont typeface="Arial" panose="020B0604020202020204" pitchFamily="34" charset="0"/>
              <a:buNone/>
              <a:defRPr/>
            </a:pPr>
            <a:r>
              <a:rPr kumimoji="1" lang="en-US" altLang="zh-CN" sz="2800" dirty="0">
                <a:latin typeface="Times New Roman" panose="02020603050405020304" pitchFamily="18" charset="0"/>
                <a:ea typeface="楷体" panose="02010609060101010101" pitchFamily="49" charset="-122"/>
                <a:cs typeface="Times New Roman" panose="02020603050405020304" pitchFamily="18" charset="0"/>
              </a:rPr>
              <a:t>      </a:t>
            </a:r>
            <a:endParaRPr kumimoji="1" lang="en-US" altLang="zh-CN" sz="2400" dirty="0">
              <a:latin typeface="楷体" panose="02010609060101010101" pitchFamily="49" charset="-122"/>
              <a:ea typeface="楷体" panose="02010609060101010101" pitchFamily="49" charset="-122"/>
            </a:endParaRPr>
          </a:p>
        </p:txBody>
      </p:sp>
      <p:sp>
        <p:nvSpPr>
          <p:cNvPr id="18436" name="Text Box 4">
            <a:extLst>
              <a:ext uri="{FF2B5EF4-FFF2-40B4-BE49-F238E27FC236}">
                <a16:creationId xmlns:a16="http://schemas.microsoft.com/office/drawing/2014/main" id="{EB81EA09-BA58-4C02-A7E1-E64004DF3351}"/>
              </a:ext>
            </a:extLst>
          </p:cNvPr>
          <p:cNvSpPr txBox="1">
            <a:spLocks noChangeArrowheads="1"/>
          </p:cNvSpPr>
          <p:nvPr/>
        </p:nvSpPr>
        <p:spPr bwMode="auto">
          <a:xfrm>
            <a:off x="684213" y="620713"/>
            <a:ext cx="8134350" cy="57943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b="1">
                <a:latin typeface="黑体" panose="02010609060101010101" pitchFamily="49" charset="-122"/>
                <a:ea typeface="黑体" panose="02010609060101010101" pitchFamily="49" charset="-122"/>
                <a:cs typeface="楷体_GB2312"/>
              </a:rPr>
              <a:t>机器学习分类</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87811">
                                            <p:txEl>
                                              <p:pRg st="0" end="0"/>
                                            </p:txEl>
                                          </p:spTgt>
                                        </p:tgtEl>
                                        <p:attrNameLst>
                                          <p:attrName>style.visibility</p:attrName>
                                        </p:attrNameLst>
                                      </p:cBhvr>
                                      <p:to>
                                        <p:strVal val="visible"/>
                                      </p:to>
                                    </p:set>
                                    <p:animEffect transition="in" filter="blinds(horizontal)">
                                      <p:cBhvr>
                                        <p:cTn id="7" dur="500"/>
                                        <p:tgtEl>
                                          <p:spTgt spid="8878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87811">
                                            <p:txEl>
                                              <p:pRg st="2" end="2"/>
                                            </p:txEl>
                                          </p:spTgt>
                                        </p:tgtEl>
                                        <p:attrNameLst>
                                          <p:attrName>style.visibility</p:attrName>
                                        </p:attrNameLst>
                                      </p:cBhvr>
                                      <p:to>
                                        <p:strVal val="visible"/>
                                      </p:to>
                                    </p:set>
                                    <p:animEffect transition="in" filter="blinds(horizontal)">
                                      <p:cBhvr>
                                        <p:cTn id="12" dur="500"/>
                                        <p:tgtEl>
                                          <p:spTgt spid="88781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87811">
                                            <p:txEl>
                                              <p:pRg st="4" end="4"/>
                                            </p:txEl>
                                          </p:spTgt>
                                        </p:tgtEl>
                                        <p:attrNameLst>
                                          <p:attrName>style.visibility</p:attrName>
                                        </p:attrNameLst>
                                      </p:cBhvr>
                                      <p:to>
                                        <p:strVal val="visible"/>
                                      </p:to>
                                    </p:set>
                                    <p:animEffect transition="in" filter="blinds(horizontal)">
                                      <p:cBhvr>
                                        <p:cTn id="17" dur="500"/>
                                        <p:tgtEl>
                                          <p:spTgt spid="887811">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87811">
                                            <p:txEl>
                                              <p:pRg st="6" end="6"/>
                                            </p:txEl>
                                          </p:spTgt>
                                        </p:tgtEl>
                                        <p:attrNameLst>
                                          <p:attrName>style.visibility</p:attrName>
                                        </p:attrNameLst>
                                      </p:cBhvr>
                                      <p:to>
                                        <p:strVal val="visible"/>
                                      </p:to>
                                    </p:set>
                                    <p:animEffect transition="in" filter="blinds(horizontal)">
                                      <p:cBhvr>
                                        <p:cTn id="22" dur="500"/>
                                        <p:tgtEl>
                                          <p:spTgt spid="887811">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87811">
                                            <p:txEl>
                                              <p:pRg st="9" end="9"/>
                                            </p:txEl>
                                          </p:spTgt>
                                        </p:tgtEl>
                                        <p:attrNameLst>
                                          <p:attrName>style.visibility</p:attrName>
                                        </p:attrNameLst>
                                      </p:cBhvr>
                                      <p:to>
                                        <p:strVal val="visible"/>
                                      </p:to>
                                    </p:set>
                                    <p:animEffect transition="in" filter="blinds(horizontal)">
                                      <p:cBhvr>
                                        <p:cTn id="27" dur="500"/>
                                        <p:tgtEl>
                                          <p:spTgt spid="88781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781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755576" y="655454"/>
            <a:ext cx="1620957" cy="523220"/>
          </a:xfrm>
          <a:prstGeom prst="rect">
            <a:avLst/>
          </a:prstGeom>
          <a:noFill/>
        </p:spPr>
        <p:txBody>
          <a:bodyPr wrap="none" rtlCol="0">
            <a:spAutoFit/>
          </a:bodyPr>
          <a:lstStyle/>
          <a:p>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知名学者</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AutoShape 2" descr="https://img14.360buyimg.com/n0/jfs/t1/183313/1/11039/331116/60d42966Eb1320178/ef6628487a98583b.jpg.avif"/>
          <p:cNvSpPr>
            <a:spLocks noChangeAspect="1" noChangeArrowheads="1"/>
          </p:cNvSpPr>
          <p:nvPr/>
        </p:nvSpPr>
        <p:spPr bwMode="auto">
          <a:xfrm>
            <a:off x="116681" y="74890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zh-CN" altLang="en-US"/>
          </a:p>
        </p:txBody>
      </p:sp>
      <p:pic>
        <p:nvPicPr>
          <p:cNvPr id="8" name="Picture 7" descr="http://h.hiphotos.baidu.com/baike/w%3D268%3Bg%3D0/sign=d2603d9a92ef76c6d0d2fc2da52d9ac7/2f738bd4b31c870196365d5d257f9e2f0608ff8d.jpg">
            <a:extLst>
              <a:ext uri="{FF2B5EF4-FFF2-40B4-BE49-F238E27FC236}">
                <a16:creationId xmlns:a16="http://schemas.microsoft.com/office/drawing/2014/main" id="{3256E9A8-6002-4812-8F38-618BFE2EDDEA}"/>
              </a:ext>
            </a:extLst>
          </p:cNvPr>
          <p:cNvPicPr>
            <a:picLocks noChangeAspect="1"/>
          </p:cNvPicPr>
          <p:nvPr/>
        </p:nvPicPr>
        <p:blipFill>
          <a:blip r:embed="rId3"/>
          <a:stretch>
            <a:fillRect/>
          </a:stretch>
        </p:blipFill>
        <p:spPr>
          <a:xfrm>
            <a:off x="7380312" y="1479946"/>
            <a:ext cx="1296591" cy="1949054"/>
          </a:xfrm>
          <a:prstGeom prst="rect">
            <a:avLst/>
          </a:prstGeom>
          <a:noFill/>
          <a:ln w="9525">
            <a:noFill/>
          </a:ln>
        </p:spPr>
      </p:pic>
      <p:sp>
        <p:nvSpPr>
          <p:cNvPr id="10" name="Text Box 4">
            <a:extLst>
              <a:ext uri="{FF2B5EF4-FFF2-40B4-BE49-F238E27FC236}">
                <a16:creationId xmlns:a16="http://schemas.microsoft.com/office/drawing/2014/main" id="{9C35B8B2-948D-4D84-A6FC-159D25A1B4E5}"/>
              </a:ext>
            </a:extLst>
          </p:cNvPr>
          <p:cNvSpPr txBox="1"/>
          <p:nvPr/>
        </p:nvSpPr>
        <p:spPr>
          <a:xfrm>
            <a:off x="611560" y="1450534"/>
            <a:ext cx="6263879" cy="452431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lvl="0" eaLnBrk="1" hangingPunct="1">
              <a:spcBef>
                <a:spcPct val="50000"/>
              </a:spcBef>
              <a:buFont typeface="Wingdings" panose="05000000000000000000" pitchFamily="2" charset="2"/>
              <a:buChar char="l"/>
            </a:pPr>
            <a:r>
              <a:rPr lang="zh-CN" altLang="en-US" sz="1800" dirty="0">
                <a:solidFill>
                  <a:schemeClr val="tx2"/>
                </a:solidFill>
                <a:latin typeface="楷体" panose="02010609060101010101" pitchFamily="49" charset="-122"/>
                <a:ea typeface="楷体" panose="02010609060101010101" pitchFamily="49" charset="-122"/>
                <a:cs typeface="Times New Roman" panose="02020603050405020304" pitchFamily="18" charset="0"/>
              </a:rPr>
              <a:t>周志华，</a:t>
            </a:r>
            <a:r>
              <a:rPr lang="zh-CN" altLang="en-US" sz="1800" dirty="0">
                <a:latin typeface="楷体" panose="02010609060101010101" pitchFamily="49" charset="-122"/>
                <a:ea typeface="楷体" panose="02010609060101010101" pitchFamily="49" charset="-122"/>
                <a:cs typeface="Times New Roman" panose="02020603050405020304" pitchFamily="18" charset="0"/>
              </a:rPr>
              <a:t>南京大学副校长 教授，博导，副主任</a:t>
            </a:r>
            <a:endParaRPr lang="en-US" altLang="zh-CN" sz="1800" dirty="0">
              <a:latin typeface="楷体" panose="02010609060101010101" pitchFamily="49" charset="-122"/>
              <a:ea typeface="楷体" panose="02010609060101010101" pitchFamily="49" charset="-122"/>
              <a:cs typeface="Times New Roman" panose="02020603050405020304" pitchFamily="18" charset="0"/>
            </a:endParaRPr>
          </a:p>
          <a:p>
            <a:pPr lvl="0">
              <a:spcBef>
                <a:spcPct val="50000"/>
              </a:spcBef>
              <a:buFont typeface="Wingdings" panose="05000000000000000000" pitchFamily="2" charset="2"/>
              <a:buChar char="l"/>
            </a:pPr>
            <a:r>
              <a:rPr lang="zh-CN" altLang="en-US" sz="1800" dirty="0">
                <a:latin typeface="楷体" panose="02010609060101010101" pitchFamily="49" charset="-122"/>
                <a:ea typeface="楷体" panose="02010609060101010101" pitchFamily="49" charset="-122"/>
                <a:cs typeface="Times New Roman" panose="02020603050405020304" pitchFamily="18" charset="0"/>
              </a:rPr>
              <a:t>国家杰出青年科学基金；教育部长江学者特聘教授</a:t>
            </a:r>
            <a:endParaRPr lang="en-US" altLang="zh-CN" sz="1800" dirty="0">
              <a:latin typeface="楷体" panose="02010609060101010101" pitchFamily="49" charset="-122"/>
              <a:ea typeface="楷体" panose="02010609060101010101" pitchFamily="49" charset="-122"/>
              <a:cs typeface="Times New Roman" panose="02020603050405020304" pitchFamily="18" charset="0"/>
            </a:endParaRPr>
          </a:p>
          <a:p>
            <a:pPr lvl="0">
              <a:spcBef>
                <a:spcPct val="50000"/>
              </a:spcBef>
              <a:buFont typeface="Wingdings" panose="05000000000000000000" pitchFamily="2" charset="2"/>
              <a:buChar char="l"/>
            </a:pPr>
            <a:r>
              <a:rPr lang="zh-CN" altLang="en-US" sz="1800" dirty="0">
                <a:latin typeface="楷体" panose="02010609060101010101" pitchFamily="49" charset="-122"/>
                <a:ea typeface="楷体" panose="02010609060101010101" pitchFamily="49" charset="-122"/>
                <a:cs typeface="Times New Roman" panose="02020603050405020304" pitchFamily="18" charset="0"/>
              </a:rPr>
              <a:t>机器学习与数据挖掘研究所 </a:t>
            </a:r>
            <a:r>
              <a:rPr lang="en-US" altLang="zh-CN" sz="1800" dirty="0">
                <a:latin typeface="楷体" panose="02010609060101010101" pitchFamily="49" charset="-122"/>
                <a:ea typeface="楷体" panose="02010609060101010101" pitchFamily="49" charset="-122"/>
                <a:cs typeface="Times New Roman" panose="02020603050405020304" pitchFamily="18" charset="0"/>
              </a:rPr>
              <a:t>(LAMDA) </a:t>
            </a:r>
            <a:r>
              <a:rPr lang="zh-CN" altLang="en-US" sz="1800" dirty="0">
                <a:latin typeface="楷体" panose="02010609060101010101" pitchFamily="49" charset="-122"/>
                <a:ea typeface="楷体" panose="02010609060101010101" pitchFamily="49" charset="-122"/>
                <a:cs typeface="Times New Roman" panose="02020603050405020304" pitchFamily="18" charset="0"/>
              </a:rPr>
              <a:t>所长</a:t>
            </a:r>
            <a:endParaRPr lang="en-US" altLang="zh-CN" sz="1800" dirty="0">
              <a:latin typeface="楷体" panose="02010609060101010101" pitchFamily="49" charset="-122"/>
              <a:ea typeface="楷体" panose="02010609060101010101" pitchFamily="49" charset="-122"/>
              <a:cs typeface="Times New Roman" panose="02020603050405020304" pitchFamily="18" charset="0"/>
            </a:endParaRPr>
          </a:p>
          <a:p>
            <a:pPr lvl="0">
              <a:spcBef>
                <a:spcPct val="50000"/>
              </a:spcBef>
              <a:buFont typeface="Wingdings" panose="05000000000000000000" pitchFamily="2" charset="2"/>
              <a:buChar char="l"/>
            </a:pPr>
            <a:r>
              <a:rPr lang="zh-CN" altLang="en-US" sz="1800" dirty="0">
                <a:solidFill>
                  <a:schemeClr val="tx2"/>
                </a:solidFill>
                <a:latin typeface="楷体" panose="02010609060101010101" pitchFamily="49" charset="-122"/>
                <a:ea typeface="楷体" panose="02010609060101010101" pitchFamily="49" charset="-122"/>
                <a:cs typeface="Times New Roman" panose="02020603050405020304" pitchFamily="18" charset="0"/>
              </a:rPr>
              <a:t>研究方向：</a:t>
            </a:r>
            <a:r>
              <a:rPr lang="zh-CN" altLang="en-US" sz="1800" dirty="0">
                <a:latin typeface="楷体" panose="02010609060101010101" pitchFamily="49" charset="-122"/>
                <a:ea typeface="楷体" panose="02010609060101010101" pitchFamily="49" charset="-122"/>
                <a:cs typeface="Times New Roman" panose="02020603050405020304" pitchFamily="18" charset="0"/>
              </a:rPr>
              <a:t>从事人工智能核心的机器学习理论与方法研究，做出了原创性、引领性成果 </a:t>
            </a:r>
            <a:r>
              <a:rPr lang="en-US" altLang="zh-CN" sz="1800" dirty="0">
                <a:latin typeface="楷体" panose="02010609060101010101" pitchFamily="49" charset="-122"/>
                <a:ea typeface="楷体" panose="02010609060101010101" pitchFamily="49" charset="-122"/>
                <a:cs typeface="Times New Roman" panose="02020603050405020304" pitchFamily="18" charset="0"/>
                <a:hlinkClick r:id="rId4">
                  <a:extLst>
                    <a:ext uri="{A12FA001-AC4F-418D-AE19-62706E023703}">
                      <ahyp:hlinkClr xmlns:ahyp="http://schemas.microsoft.com/office/drawing/2018/hyperlinkcolor" val="tx"/>
                    </a:ext>
                  </a:extLst>
                </a:hlinkClick>
              </a:rPr>
              <a:t>http://cs.nju.edu.cn/zhouzh/</a:t>
            </a:r>
            <a:endParaRPr lang="en-US" altLang="zh-CN" sz="1800" dirty="0">
              <a:latin typeface="楷体" panose="02010609060101010101" pitchFamily="49" charset="-122"/>
              <a:ea typeface="楷体" panose="02010609060101010101" pitchFamily="49" charset="-122"/>
              <a:cs typeface="Times New Roman" panose="02020603050405020304" pitchFamily="18" charset="0"/>
            </a:endParaRPr>
          </a:p>
          <a:p>
            <a:pPr lvl="0">
              <a:spcBef>
                <a:spcPct val="50000"/>
              </a:spcBef>
              <a:buFont typeface="Wingdings" panose="05000000000000000000" pitchFamily="2" charset="2"/>
              <a:buChar char="l"/>
            </a:pPr>
            <a:r>
              <a:rPr lang="zh-CN" altLang="en-US" sz="1800" dirty="0">
                <a:latin typeface="楷体" panose="02010609060101010101" pitchFamily="49" charset="-122"/>
                <a:ea typeface="楷体" panose="02010609060101010101" pitchFamily="49" charset="-122"/>
                <a:cs typeface="Times New Roman" panose="02020603050405020304" pitchFamily="18" charset="0"/>
              </a:rPr>
              <a:t>国际学术影响：</a:t>
            </a:r>
            <a:endParaRPr lang="en-US" altLang="zh-CN" sz="1800" dirty="0">
              <a:latin typeface="楷体" panose="02010609060101010101" pitchFamily="49" charset="-122"/>
              <a:ea typeface="楷体" panose="02010609060101010101" pitchFamily="49" charset="-122"/>
              <a:cs typeface="Times New Roman" panose="02020603050405020304" pitchFamily="18" charset="0"/>
            </a:endParaRPr>
          </a:p>
          <a:p>
            <a:pPr>
              <a:spcBef>
                <a:spcPct val="50000"/>
              </a:spcBef>
              <a:buNone/>
            </a:pPr>
            <a:r>
              <a:rPr lang="en-US" altLang="zh-CN" sz="1800" dirty="0">
                <a:latin typeface="楷体" panose="02010609060101010101" pitchFamily="49" charset="-122"/>
                <a:ea typeface="楷体" panose="02010609060101010101" pitchFamily="49" charset="-122"/>
                <a:cs typeface="Times New Roman" panose="02020603050405020304" pitchFamily="18" charset="0"/>
              </a:rPr>
              <a:t>	</a:t>
            </a:r>
            <a:r>
              <a:rPr lang="zh-CN" altLang="en-US" sz="1800" dirty="0">
                <a:latin typeface="楷体" panose="02010609060101010101" pitchFamily="49" charset="-122"/>
                <a:ea typeface="楷体" panose="02010609060101010101" pitchFamily="49" charset="-122"/>
                <a:cs typeface="Times New Roman" panose="02020603050405020304" pitchFamily="18" charset="0"/>
              </a:rPr>
              <a:t>欧洲科学院院士、计算机学会</a:t>
            </a:r>
            <a:r>
              <a:rPr lang="en-US" altLang="zh-CN" sz="1800" dirty="0">
                <a:latin typeface="楷体" panose="02010609060101010101" pitchFamily="49" charset="-122"/>
                <a:ea typeface="楷体" panose="02010609060101010101" pitchFamily="49" charset="-122"/>
                <a:cs typeface="Times New Roman" panose="02020603050405020304" pitchFamily="18" charset="0"/>
              </a:rPr>
              <a:t>(ACM) </a:t>
            </a:r>
            <a:r>
              <a:rPr lang="zh-CN" altLang="en-US" sz="1800" dirty="0">
                <a:latin typeface="楷体" panose="02010609060101010101" pitchFamily="49" charset="-122"/>
                <a:ea typeface="楷体" panose="02010609060101010101" pitchFamily="49" charset="-122"/>
                <a:cs typeface="Times New Roman" panose="02020603050405020304" pitchFamily="18" charset="0"/>
              </a:rPr>
              <a:t>杰出科学家，国际人工智能学会 </a:t>
            </a:r>
            <a:r>
              <a:rPr lang="en-US" altLang="zh-CN" sz="1800" dirty="0">
                <a:latin typeface="楷体" panose="02010609060101010101" pitchFamily="49" charset="-122"/>
                <a:ea typeface="楷体" panose="02010609060101010101" pitchFamily="49" charset="-122"/>
                <a:cs typeface="Times New Roman" panose="02020603050405020304" pitchFamily="18" charset="0"/>
              </a:rPr>
              <a:t>(AAAI) </a:t>
            </a:r>
            <a:r>
              <a:rPr lang="zh-CN" altLang="en-US" sz="1800" dirty="0">
                <a:latin typeface="楷体" panose="02010609060101010101" pitchFamily="49" charset="-122"/>
                <a:ea typeface="楷体" panose="02010609060101010101" pitchFamily="49" charset="-122"/>
                <a:cs typeface="Times New Roman" panose="02020603050405020304" pitchFamily="18" charset="0"/>
              </a:rPr>
              <a:t>、国际电气电子工程师学会 </a:t>
            </a:r>
            <a:r>
              <a:rPr lang="en-US" altLang="zh-CN" sz="1800" dirty="0">
                <a:latin typeface="楷体" panose="02010609060101010101" pitchFamily="49" charset="-122"/>
                <a:ea typeface="楷体" panose="02010609060101010101" pitchFamily="49" charset="-122"/>
                <a:cs typeface="Times New Roman" panose="02020603050405020304" pitchFamily="18" charset="0"/>
              </a:rPr>
              <a:t>(IEEE) </a:t>
            </a:r>
            <a:r>
              <a:rPr lang="zh-CN" altLang="en-US" sz="1800" dirty="0">
                <a:latin typeface="楷体" panose="02010609060101010101" pitchFamily="49" charset="-122"/>
                <a:ea typeface="楷体" panose="02010609060101010101" pitchFamily="49" charset="-122"/>
                <a:cs typeface="Times New Roman" panose="02020603050405020304" pitchFamily="18" charset="0"/>
              </a:rPr>
              <a:t>、国际模式识别学会 </a:t>
            </a:r>
            <a:r>
              <a:rPr lang="en-US" altLang="zh-CN" sz="1800" dirty="0">
                <a:latin typeface="楷体" panose="02010609060101010101" pitchFamily="49" charset="-122"/>
                <a:ea typeface="楷体" panose="02010609060101010101" pitchFamily="49" charset="-122"/>
                <a:cs typeface="Times New Roman" panose="02020603050405020304" pitchFamily="18" charset="0"/>
              </a:rPr>
              <a:t>(IAPR)</a:t>
            </a:r>
            <a:r>
              <a:rPr lang="zh-CN" altLang="en-US" sz="1800" dirty="0">
                <a:latin typeface="楷体" panose="02010609060101010101" pitchFamily="49" charset="-122"/>
                <a:ea typeface="楷体" panose="02010609060101010101" pitchFamily="49" charset="-122"/>
                <a:cs typeface="Times New Roman" panose="02020603050405020304" pitchFamily="18" charset="0"/>
              </a:rPr>
              <a:t>、国际工程技术学会 </a:t>
            </a:r>
            <a:r>
              <a:rPr lang="en-US" altLang="zh-CN" sz="1800" dirty="0">
                <a:latin typeface="楷体" panose="02010609060101010101" pitchFamily="49" charset="-122"/>
                <a:ea typeface="楷体" panose="02010609060101010101" pitchFamily="49" charset="-122"/>
                <a:cs typeface="Times New Roman" panose="02020603050405020304" pitchFamily="18" charset="0"/>
              </a:rPr>
              <a:t>(IET/IEE)</a:t>
            </a:r>
            <a:r>
              <a:rPr lang="zh-CN" altLang="en-US" sz="1800" dirty="0">
                <a:latin typeface="楷体" panose="02010609060101010101" pitchFamily="49" charset="-122"/>
                <a:ea typeface="楷体" panose="02010609060101010101" pitchFamily="49" charset="-122"/>
                <a:cs typeface="Times New Roman" panose="02020603050405020304" pitchFamily="18" charset="0"/>
              </a:rPr>
              <a:t>、中国计算机学会等学会的会士 </a:t>
            </a:r>
            <a:r>
              <a:rPr lang="en-US" altLang="zh-CN" sz="1800" dirty="0">
                <a:latin typeface="楷体" panose="02010609060101010101" pitchFamily="49" charset="-122"/>
                <a:ea typeface="楷体" panose="02010609060101010101" pitchFamily="49" charset="-122"/>
                <a:cs typeface="Times New Roman" panose="02020603050405020304" pitchFamily="18" charset="0"/>
              </a:rPr>
              <a:t>(Fellow)</a:t>
            </a:r>
            <a:endParaRPr lang="zh-CN" altLang="en-US" sz="1800" dirty="0">
              <a:latin typeface="楷体" panose="02010609060101010101" pitchFamily="49" charset="-122"/>
              <a:ea typeface="楷体" panose="02010609060101010101" pitchFamily="49" charset="-122"/>
              <a:cs typeface="Times New Roman" panose="02020603050405020304" pitchFamily="18" charset="0"/>
            </a:endParaRPr>
          </a:p>
          <a:p>
            <a:pPr>
              <a:spcBef>
                <a:spcPct val="50000"/>
              </a:spcBef>
              <a:buNone/>
            </a:pPr>
            <a:endParaRPr lang="en-US" altLang="zh-CN" sz="1500" dirty="0">
              <a:latin typeface="幼圆" panose="02010509060101010101" pitchFamily="49" charset="-122"/>
              <a:ea typeface="幼圆" panose="02010509060101010101" pitchFamily="49" charset="-122"/>
            </a:endParaRPr>
          </a:p>
          <a:p>
            <a:pPr>
              <a:spcBef>
                <a:spcPct val="50000"/>
              </a:spcBef>
              <a:buNone/>
            </a:pPr>
            <a:endParaRPr lang="en-US" altLang="zh-CN" sz="1500" dirty="0">
              <a:latin typeface="幼圆" panose="02010509060101010101" pitchFamily="49" charset="-122"/>
              <a:ea typeface="幼圆" panose="02010509060101010101" pitchFamily="49" charset="-122"/>
            </a:endParaRPr>
          </a:p>
        </p:txBody>
      </p:sp>
      <p:sp>
        <p:nvSpPr>
          <p:cNvPr id="11" name="文本框 10">
            <a:extLst>
              <a:ext uri="{FF2B5EF4-FFF2-40B4-BE49-F238E27FC236}">
                <a16:creationId xmlns:a16="http://schemas.microsoft.com/office/drawing/2014/main" id="{720596F4-A78A-4259-8629-B0BCFEF93350}"/>
              </a:ext>
            </a:extLst>
          </p:cNvPr>
          <p:cNvSpPr txBox="1"/>
          <p:nvPr/>
        </p:nvSpPr>
        <p:spPr>
          <a:xfrm>
            <a:off x="7002270" y="3483007"/>
            <a:ext cx="2214246" cy="646331"/>
          </a:xfrm>
          <a:prstGeom prst="rect">
            <a:avLst/>
          </a:prstGeom>
          <a:noFill/>
        </p:spPr>
        <p:txBody>
          <a:bodyPr wrap="square">
            <a:spAutoFit/>
          </a:bodyPr>
          <a:lstStyle/>
          <a:p>
            <a:pPr marL="342900" indent="-342900" algn="ctr" eaLnBrk="1" hangingPunct="1">
              <a:spcBef>
                <a:spcPts val="0"/>
              </a:spcBef>
            </a:pP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周志华</a:t>
            </a:r>
            <a:endPar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ctr" eaLnBrk="1" hangingPunct="1">
              <a:spcBef>
                <a:spcPts val="0"/>
              </a:spcBef>
            </a:pP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中科院院士（</a:t>
            </a:r>
            <a:r>
              <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2025</a:t>
            </a: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55856860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50">
            <a:extLst>
              <a:ext uri="{FF2B5EF4-FFF2-40B4-BE49-F238E27FC236}">
                <a16:creationId xmlns:a16="http://schemas.microsoft.com/office/drawing/2014/main" id="{22D08EA8-5B79-4567-A268-BD4BD8727B8D}"/>
              </a:ext>
            </a:extLst>
          </p:cNvPr>
          <p:cNvSpPr>
            <a:spLocks noChangeArrowheads="1"/>
          </p:cNvSpPr>
          <p:nvPr/>
        </p:nvSpPr>
        <p:spPr bwMode="auto">
          <a:xfrm>
            <a:off x="755576" y="1182844"/>
            <a:ext cx="1872208" cy="508404"/>
          </a:xfrm>
          <a:prstGeom prst="roundRect">
            <a:avLst>
              <a:gd name="adj" fmla="val 7616"/>
            </a:avLst>
          </a:prstGeom>
          <a:solidFill>
            <a:srgbClr val="002FA7"/>
          </a:solidFill>
          <a:ln>
            <a:noFill/>
          </a:ln>
        </p:spPr>
        <p:txBody>
          <a:bodyPr anchor="ctr"/>
          <a:lstStyle/>
          <a:p>
            <a:pPr algn="ctr" eaLnBrk="1" hangingPunct="1"/>
            <a:r>
              <a:rPr lang="zh-CN" altLang="en-US" sz="2000" b="1" dirty="0">
                <a:solidFill>
                  <a:schemeClr val="bg1"/>
                </a:solidFill>
                <a:latin typeface="楷体" panose="02010609060101010101" pitchFamily="49" charset="-122"/>
                <a:ea typeface="楷体" panose="02010609060101010101" pitchFamily="49" charset="-122"/>
                <a:cs typeface="Times New Roman" panose="02020603050405020304" pitchFamily="18" charset="0"/>
              </a:rPr>
              <a:t>获得诺贝尔奖</a:t>
            </a:r>
          </a:p>
        </p:txBody>
      </p:sp>
      <p:pic>
        <p:nvPicPr>
          <p:cNvPr id="7" name="图片 6">
            <a:extLst>
              <a:ext uri="{FF2B5EF4-FFF2-40B4-BE49-F238E27FC236}">
                <a16:creationId xmlns:a16="http://schemas.microsoft.com/office/drawing/2014/main" id="{C4D25C56-215A-4277-9F7A-9E9016674AD2}"/>
              </a:ext>
            </a:extLst>
          </p:cNvPr>
          <p:cNvPicPr>
            <a:picLocks noChangeAspect="1"/>
          </p:cNvPicPr>
          <p:nvPr/>
        </p:nvPicPr>
        <p:blipFill>
          <a:blip r:embed="rId3"/>
          <a:stretch>
            <a:fillRect/>
          </a:stretch>
        </p:blipFill>
        <p:spPr>
          <a:xfrm>
            <a:off x="2869932" y="1495302"/>
            <a:ext cx="3404136" cy="3391861"/>
          </a:xfrm>
          <a:prstGeom prst="rect">
            <a:avLst/>
          </a:prstGeom>
        </p:spPr>
      </p:pic>
      <p:sp>
        <p:nvSpPr>
          <p:cNvPr id="14" name="文本框 13">
            <a:extLst>
              <a:ext uri="{FF2B5EF4-FFF2-40B4-BE49-F238E27FC236}">
                <a16:creationId xmlns:a16="http://schemas.microsoft.com/office/drawing/2014/main" id="{C6B5A74C-0FA6-49EE-8A37-EABF1D563C0E}"/>
              </a:ext>
            </a:extLst>
          </p:cNvPr>
          <p:cNvSpPr txBox="1"/>
          <p:nvPr/>
        </p:nvSpPr>
        <p:spPr>
          <a:xfrm>
            <a:off x="683568" y="4995174"/>
            <a:ext cx="8316924" cy="1289712"/>
          </a:xfrm>
          <a:prstGeom prst="rect">
            <a:avLst/>
          </a:prstGeom>
          <a:solidFill>
            <a:schemeClr val="bg1">
              <a:lumMod val="95000"/>
            </a:schemeClr>
          </a:solidFill>
        </p:spPr>
        <p:txBody>
          <a:bodyPr wrap="square">
            <a:spAutoFit/>
          </a:bodyPr>
          <a:lstStyle>
            <a:defPPr>
              <a:defRPr lang="zh-CN"/>
            </a:defPPr>
            <a:lvl1pPr marL="285750" indent="-285750">
              <a:lnSpc>
                <a:spcPct val="150000"/>
              </a:lnSpc>
              <a:buFont typeface="Wingdings" panose="05000000000000000000" pitchFamily="2" charset="2"/>
              <a:buChar char="n"/>
              <a:defRPr b="0">
                <a:latin typeface="Times New Roman" panose="02020603050405020304" pitchFamily="18" charset="0"/>
                <a:ea typeface="微软雅黑" panose="020B0503020204020204" pitchFamily="34" charset="-122"/>
                <a:cs typeface="Times New Roman" panose="02020603050405020304" pitchFamily="18" charset="0"/>
              </a:defRPr>
            </a:lvl1pPr>
          </a:lstStyle>
          <a:p>
            <a:pPr marL="0" indent="0">
              <a:buNone/>
            </a:pPr>
            <a:r>
              <a:rPr lang="en-US" altLang="zh-CN" b="1" dirty="0">
                <a:latin typeface="楷体" panose="02010609060101010101" pitchFamily="49" charset="-122"/>
                <a:ea typeface="楷体" panose="02010609060101010101" pitchFamily="49" charset="-122"/>
              </a:rPr>
              <a:t>2024</a:t>
            </a:r>
            <a:r>
              <a:rPr lang="zh-CN" altLang="en-US" b="1" dirty="0">
                <a:latin typeface="楷体" panose="02010609060101010101" pitchFamily="49" charset="-122"/>
                <a:ea typeface="楷体" panose="02010609060101010101" pitchFamily="49" charset="-122"/>
              </a:rPr>
              <a:t>年诺贝尔物理学奖授予约翰</a:t>
            </a:r>
            <a:r>
              <a:rPr lang="en-US" altLang="zh-CN" b="1" dirty="0">
                <a:latin typeface="楷体" panose="02010609060101010101" pitchFamily="49" charset="-122"/>
                <a:ea typeface="楷体" panose="02010609060101010101" pitchFamily="49" charset="-122"/>
              </a:rPr>
              <a:t>·J·</a:t>
            </a:r>
            <a:r>
              <a:rPr lang="zh-CN" altLang="en-US" b="1" dirty="0">
                <a:solidFill>
                  <a:srgbClr val="002FA7"/>
                </a:solidFill>
                <a:latin typeface="楷体" panose="02010609060101010101" pitchFamily="49" charset="-122"/>
                <a:ea typeface="楷体" panose="02010609060101010101" pitchFamily="49" charset="-122"/>
              </a:rPr>
              <a:t>霍普菲尔德</a:t>
            </a:r>
            <a:r>
              <a:rPr lang="zh-CN" altLang="en-US" b="1" dirty="0">
                <a:latin typeface="楷体" panose="02010609060101010101" pitchFamily="49" charset="-122"/>
                <a:ea typeface="楷体" panose="02010609060101010101" pitchFamily="49" charset="-122"/>
              </a:rPr>
              <a:t>（</a:t>
            </a:r>
            <a:r>
              <a:rPr lang="en-US" altLang="zh-CN" b="1" dirty="0">
                <a:latin typeface="楷体" panose="02010609060101010101" pitchFamily="49" charset="-122"/>
                <a:ea typeface="楷体" panose="02010609060101010101" pitchFamily="49" charset="-122"/>
              </a:rPr>
              <a:t>John J. Hopfield</a:t>
            </a:r>
            <a:r>
              <a:rPr lang="zh-CN" altLang="en-US" b="1" dirty="0">
                <a:latin typeface="楷体" panose="02010609060101010101" pitchFamily="49" charset="-122"/>
                <a:ea typeface="楷体" panose="02010609060101010101" pitchFamily="49" charset="-122"/>
              </a:rPr>
              <a:t>）和杰弗里</a:t>
            </a:r>
            <a:r>
              <a:rPr lang="en-US" altLang="zh-CN" b="1" dirty="0">
                <a:latin typeface="楷体" panose="02010609060101010101" pitchFamily="49" charset="-122"/>
                <a:ea typeface="楷体" panose="02010609060101010101" pitchFamily="49" charset="-122"/>
              </a:rPr>
              <a:t>·E·</a:t>
            </a:r>
            <a:r>
              <a:rPr lang="zh-CN" altLang="en-US" b="1" dirty="0">
                <a:solidFill>
                  <a:srgbClr val="002FA7"/>
                </a:solidFill>
                <a:latin typeface="楷体" panose="02010609060101010101" pitchFamily="49" charset="-122"/>
                <a:ea typeface="楷体" panose="02010609060101010101" pitchFamily="49" charset="-122"/>
              </a:rPr>
              <a:t>辛顿</a:t>
            </a:r>
            <a:r>
              <a:rPr lang="zh-CN" altLang="en-US" b="1" dirty="0">
                <a:latin typeface="楷体" panose="02010609060101010101" pitchFamily="49" charset="-122"/>
                <a:ea typeface="楷体" panose="02010609060101010101" pitchFamily="49" charset="-122"/>
              </a:rPr>
              <a:t>（</a:t>
            </a:r>
            <a:r>
              <a:rPr lang="en-US" altLang="zh-CN" b="1" dirty="0">
                <a:latin typeface="楷体" panose="02010609060101010101" pitchFamily="49" charset="-122"/>
                <a:ea typeface="楷体" panose="02010609060101010101" pitchFamily="49" charset="-122"/>
              </a:rPr>
              <a:t>Geoffrey E. </a:t>
            </a:r>
            <a:r>
              <a:rPr lang="en-US" altLang="zh-CN" b="1" dirty="0">
                <a:solidFill>
                  <a:srgbClr val="C00000"/>
                </a:solidFill>
                <a:latin typeface="楷体" panose="02010609060101010101" pitchFamily="49" charset="-122"/>
                <a:ea typeface="楷体" panose="02010609060101010101" pitchFamily="49" charset="-122"/>
              </a:rPr>
              <a:t>Hinton</a:t>
            </a:r>
            <a:r>
              <a:rPr lang="zh-CN" altLang="en-US" b="1" dirty="0">
                <a:latin typeface="楷体" panose="02010609060101010101" pitchFamily="49" charset="-122"/>
                <a:ea typeface="楷体" panose="02010609060101010101" pitchFamily="49" charset="-122"/>
              </a:rPr>
              <a:t>），以表彰他们“</a:t>
            </a:r>
            <a:r>
              <a:rPr lang="zh-CN" altLang="en-US" b="1" dirty="0">
                <a:solidFill>
                  <a:srgbClr val="C00000"/>
                </a:solidFill>
                <a:latin typeface="楷体" panose="02010609060101010101" pitchFamily="49" charset="-122"/>
                <a:ea typeface="楷体" panose="02010609060101010101" pitchFamily="49" charset="-122"/>
              </a:rPr>
              <a:t>在实现使用人工神经网络进行机器学习方面的基础性发现和发明</a:t>
            </a:r>
            <a:r>
              <a:rPr lang="zh-CN" altLang="en-US" b="1" dirty="0">
                <a:latin typeface="楷体" panose="02010609060101010101" pitchFamily="49" charset="-122"/>
                <a:ea typeface="楷体" panose="02010609060101010101" pitchFamily="49" charset="-122"/>
              </a:rPr>
              <a:t>。 “</a:t>
            </a:r>
          </a:p>
        </p:txBody>
      </p:sp>
      <p:sp>
        <p:nvSpPr>
          <p:cNvPr id="6" name="文本框 5">
            <a:extLst>
              <a:ext uri="{FF2B5EF4-FFF2-40B4-BE49-F238E27FC236}">
                <a16:creationId xmlns:a16="http://schemas.microsoft.com/office/drawing/2014/main" id="{87F86520-4AB9-4491-83A6-B3732D66757E}"/>
              </a:ext>
            </a:extLst>
          </p:cNvPr>
          <p:cNvSpPr txBox="1"/>
          <p:nvPr/>
        </p:nvSpPr>
        <p:spPr>
          <a:xfrm>
            <a:off x="682350" y="573114"/>
            <a:ext cx="1620957" cy="523220"/>
          </a:xfrm>
          <a:prstGeom prst="rect">
            <a:avLst/>
          </a:prstGeom>
          <a:noFill/>
        </p:spPr>
        <p:txBody>
          <a:bodyPr wrap="none" rtlCol="0">
            <a:spAutoFit/>
          </a:bodyPr>
          <a:lstStyle/>
          <a:p>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知名学者</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793417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686668" y="632750"/>
            <a:ext cx="1620957" cy="523220"/>
          </a:xfrm>
          <a:prstGeom prst="rect">
            <a:avLst/>
          </a:prstGeom>
          <a:noFill/>
        </p:spPr>
        <p:txBody>
          <a:bodyPr wrap="none" rtlCol="0">
            <a:spAutoFit/>
          </a:bodyPr>
          <a:lstStyle/>
          <a:p>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知名学者</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AutoShape 2" descr="https://img14.360buyimg.com/n0/jfs/t1/183313/1/11039/331116/60d42966Eb1320178/ef6628487a98583b.jpg.avif"/>
          <p:cNvSpPr>
            <a:spLocks noChangeAspect="1" noChangeArrowheads="1"/>
          </p:cNvSpPr>
          <p:nvPr/>
        </p:nvSpPr>
        <p:spPr bwMode="auto">
          <a:xfrm>
            <a:off x="116681" y="74890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zh-CN" altLang="en-US"/>
          </a:p>
        </p:txBody>
      </p:sp>
      <p:sp>
        <p:nvSpPr>
          <p:cNvPr id="7" name="矩形: 圆角 6">
            <a:extLst>
              <a:ext uri="{FF2B5EF4-FFF2-40B4-BE49-F238E27FC236}">
                <a16:creationId xmlns:a16="http://schemas.microsoft.com/office/drawing/2014/main" id="{5B529A74-295F-49E9-91E7-69F70F417C6A}"/>
              </a:ext>
            </a:extLst>
          </p:cNvPr>
          <p:cNvSpPr/>
          <p:nvPr/>
        </p:nvSpPr>
        <p:spPr>
          <a:xfrm>
            <a:off x="539552" y="1268760"/>
            <a:ext cx="3852159" cy="2372309"/>
          </a:xfrm>
          <a:prstGeom prst="roundRect">
            <a:avLst>
              <a:gd name="adj" fmla="val 1283"/>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Picture 4" descr="Geoffrey Hinton – Facts – 2024 - NobelPrize.org">
            <a:extLst>
              <a:ext uri="{FF2B5EF4-FFF2-40B4-BE49-F238E27FC236}">
                <a16:creationId xmlns:a16="http://schemas.microsoft.com/office/drawing/2014/main" id="{9F32E107-05AE-4AEB-931B-0B9553E82D6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23077"/>
          <a:stretch/>
        </p:blipFill>
        <p:spPr bwMode="auto">
          <a:xfrm>
            <a:off x="786128" y="1589027"/>
            <a:ext cx="936104" cy="108012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2" name="矩形 11">
            <a:extLst>
              <a:ext uri="{FF2B5EF4-FFF2-40B4-BE49-F238E27FC236}">
                <a16:creationId xmlns:a16="http://schemas.microsoft.com/office/drawing/2014/main" id="{FC74A863-29DD-446C-B3CE-895F87FFE3E4}"/>
              </a:ext>
            </a:extLst>
          </p:cNvPr>
          <p:cNvSpPr/>
          <p:nvPr/>
        </p:nvSpPr>
        <p:spPr>
          <a:xfrm>
            <a:off x="660113" y="2687556"/>
            <a:ext cx="1098123" cy="323165"/>
          </a:xfrm>
          <a:prstGeom prst="rect">
            <a:avLst/>
          </a:prstGeom>
        </p:spPr>
        <p:txBody>
          <a:bodyPr wrap="square" lIns="0" tIns="0" rIns="0" bIns="0" anchor="ctr" anchorCtr="0">
            <a:spAutoFit/>
          </a:bodyPr>
          <a:lstStyle/>
          <a:p>
            <a:pPr algn="ctr"/>
            <a:r>
              <a:rPr lang="en-US" altLang="zh-CN" sz="1050" dirty="0">
                <a:solidFill>
                  <a:srgbClr val="1F1F1F"/>
                </a:solidFill>
                <a:latin typeface="微软雅黑" panose="020B0503020204020204" pitchFamily="34" charset="-122"/>
                <a:ea typeface="微软雅黑" panose="020B0503020204020204" pitchFamily="34" charset="-122"/>
              </a:rPr>
              <a:t>Geoffrey Hinton</a:t>
            </a:r>
          </a:p>
          <a:p>
            <a:pPr algn="ctr"/>
            <a:r>
              <a:rPr lang="zh-CN" altLang="en-US" sz="1050" dirty="0">
                <a:latin typeface="微软雅黑" panose="020B0503020204020204" pitchFamily="34" charset="-122"/>
                <a:ea typeface="微软雅黑" panose="020B0503020204020204" pitchFamily="34" charset="-122"/>
              </a:rPr>
              <a:t>杰弗里</a:t>
            </a:r>
            <a:r>
              <a:rPr lang="en-US" altLang="zh-CN" sz="1050" dirty="0">
                <a:latin typeface="微软雅黑" panose="020B0503020204020204" pitchFamily="34" charset="-122"/>
                <a:ea typeface="微软雅黑" panose="020B0503020204020204" pitchFamily="34" charset="-122"/>
              </a:rPr>
              <a:t>·</a:t>
            </a:r>
            <a:r>
              <a:rPr lang="zh-CN" altLang="en-US" sz="1050" dirty="0">
                <a:latin typeface="微软雅黑" panose="020B0503020204020204" pitchFamily="34" charset="-122"/>
                <a:ea typeface="微软雅黑" panose="020B0503020204020204" pitchFamily="34" charset="-122"/>
              </a:rPr>
              <a:t>欣顿</a:t>
            </a:r>
            <a:endParaRPr lang="en-US" altLang="zh-CN" sz="1050" dirty="0">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DBED2FDD-6099-47B7-9353-EE8B022DB040}"/>
              </a:ext>
            </a:extLst>
          </p:cNvPr>
          <p:cNvSpPr/>
          <p:nvPr/>
        </p:nvSpPr>
        <p:spPr>
          <a:xfrm>
            <a:off x="598298" y="3056769"/>
            <a:ext cx="1221752" cy="553998"/>
          </a:xfrm>
          <a:prstGeom prst="rect">
            <a:avLst/>
          </a:prstGeom>
        </p:spPr>
        <p:txBody>
          <a:bodyPr wrap="square" lIns="0" tIns="0" rIns="0" bIns="0">
            <a:spAutoFit/>
          </a:bodyPr>
          <a:lstStyle/>
          <a:p>
            <a:pPr algn="just"/>
            <a:r>
              <a:rPr lang="zh-CN" altLang="en-US" sz="900" dirty="0">
                <a:latin typeface="微软雅黑" panose="020B0503020204020204" pitchFamily="34" charset="-122"/>
                <a:ea typeface="微软雅黑" panose="020B0503020204020204" pitchFamily="34" charset="-122"/>
              </a:rPr>
              <a:t>“深度学习之父”；提出反向传播用于神经网络；</a:t>
            </a:r>
            <a:r>
              <a:rPr lang="en-US" altLang="zh-CN" sz="900" dirty="0">
                <a:latin typeface="微软雅黑" panose="020B0503020204020204" pitchFamily="34" charset="-122"/>
                <a:ea typeface="微软雅黑" panose="020B0503020204020204" pitchFamily="34" charset="-122"/>
              </a:rPr>
              <a:t>2012</a:t>
            </a:r>
            <a:r>
              <a:rPr lang="zh-CN" altLang="en-US" sz="900" dirty="0">
                <a:latin typeface="微软雅黑" panose="020B0503020204020204" pitchFamily="34" charset="-122"/>
                <a:ea typeface="微软雅黑" panose="020B0503020204020204" pitchFamily="34" charset="-122"/>
              </a:rPr>
              <a:t>年</a:t>
            </a:r>
            <a:r>
              <a:rPr lang="en-US" altLang="zh-CN" sz="900" dirty="0" err="1">
                <a:latin typeface="微软雅黑" panose="020B0503020204020204" pitchFamily="34" charset="-122"/>
                <a:ea typeface="微软雅黑" panose="020B0503020204020204" pitchFamily="34" charset="-122"/>
              </a:rPr>
              <a:t>AlexNet</a:t>
            </a:r>
            <a:r>
              <a:rPr lang="zh-CN" altLang="en-US" sz="900" dirty="0">
                <a:latin typeface="微软雅黑" panose="020B0503020204020204" pitchFamily="34" charset="-122"/>
                <a:ea typeface="微软雅黑" panose="020B0503020204020204" pitchFamily="34" charset="-122"/>
              </a:rPr>
              <a:t>引爆深度学习革命</a:t>
            </a:r>
          </a:p>
        </p:txBody>
      </p:sp>
      <p:pic>
        <p:nvPicPr>
          <p:cNvPr id="14" name="Picture 6" descr="https://upload.wikimedia.org/wikipedia/commons/thumb/8/8e/Laura_Chaubard_%26_Yann_Le_Cun_-_2024_%2853814052697%29_%28cropped%29.jpg/250px-Laura_Chaubard_%26_Yann_Le_Cun_-_2024_%2853814052697%29_%28cropped%29.jpg">
            <a:extLst>
              <a:ext uri="{FF2B5EF4-FFF2-40B4-BE49-F238E27FC236}">
                <a16:creationId xmlns:a16="http://schemas.microsoft.com/office/drawing/2014/main" id="{A8D541F6-629C-4A56-B6D8-5105FE070A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6169" y="1589027"/>
            <a:ext cx="854525" cy="108012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5" name="矩形 14">
            <a:extLst>
              <a:ext uri="{FF2B5EF4-FFF2-40B4-BE49-F238E27FC236}">
                <a16:creationId xmlns:a16="http://schemas.microsoft.com/office/drawing/2014/main" id="{7C85E504-94D1-4A1A-A62F-7C75E8DE5FFF}"/>
              </a:ext>
            </a:extLst>
          </p:cNvPr>
          <p:cNvSpPr/>
          <p:nvPr/>
        </p:nvSpPr>
        <p:spPr>
          <a:xfrm>
            <a:off x="2067551" y="2687556"/>
            <a:ext cx="883143" cy="323165"/>
          </a:xfrm>
          <a:prstGeom prst="rect">
            <a:avLst/>
          </a:prstGeom>
        </p:spPr>
        <p:txBody>
          <a:bodyPr wrap="square" lIns="0" tIns="0" rIns="0" bIns="0" anchor="ctr" anchorCtr="0">
            <a:spAutoFit/>
          </a:bodyPr>
          <a:lstStyle/>
          <a:p>
            <a:pPr algn="ctr"/>
            <a:r>
              <a:rPr lang="en-US" altLang="zh-CN" sz="1050" dirty="0">
                <a:solidFill>
                  <a:srgbClr val="1F1F1F"/>
                </a:solidFill>
                <a:latin typeface="微软雅黑" panose="020B0503020204020204" pitchFamily="34" charset="-122"/>
                <a:ea typeface="微软雅黑" panose="020B0503020204020204" pitchFamily="34" charset="-122"/>
              </a:rPr>
              <a:t>Yann </a:t>
            </a:r>
            <a:r>
              <a:rPr lang="en-US" altLang="zh-CN" sz="1050" dirty="0" err="1">
                <a:solidFill>
                  <a:srgbClr val="1F1F1F"/>
                </a:solidFill>
                <a:latin typeface="微软雅黑" panose="020B0503020204020204" pitchFamily="34" charset="-122"/>
                <a:ea typeface="微软雅黑" panose="020B0503020204020204" pitchFamily="34" charset="-122"/>
              </a:rPr>
              <a:t>LeCun</a:t>
            </a:r>
            <a:endParaRPr lang="en-US" altLang="zh-CN" sz="1050" dirty="0">
              <a:solidFill>
                <a:srgbClr val="1F1F1F"/>
              </a:solidFill>
              <a:latin typeface="微软雅黑" panose="020B0503020204020204" pitchFamily="34" charset="-122"/>
              <a:ea typeface="微软雅黑" panose="020B0503020204020204" pitchFamily="34" charset="-122"/>
            </a:endParaRPr>
          </a:p>
          <a:p>
            <a:pPr algn="ctr"/>
            <a:r>
              <a:rPr lang="zh-CN" altLang="en-US" sz="1050" dirty="0">
                <a:latin typeface="微软雅黑" panose="020B0503020204020204" pitchFamily="34" charset="-122"/>
                <a:ea typeface="微软雅黑" panose="020B0503020204020204" pitchFamily="34" charset="-122"/>
              </a:rPr>
              <a:t>杨立昆</a:t>
            </a:r>
            <a:endParaRPr lang="en-US" altLang="zh-CN" sz="1050" dirty="0">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7055A281-A3CA-4FA0-9973-0766928CB24F}"/>
              </a:ext>
            </a:extLst>
          </p:cNvPr>
          <p:cNvSpPr/>
          <p:nvPr/>
        </p:nvSpPr>
        <p:spPr>
          <a:xfrm>
            <a:off x="1988157" y="3056769"/>
            <a:ext cx="1026114" cy="553998"/>
          </a:xfrm>
          <a:prstGeom prst="rect">
            <a:avLst/>
          </a:prstGeom>
        </p:spPr>
        <p:txBody>
          <a:bodyPr wrap="square" lIns="0" tIns="0" rIns="0" bIns="0">
            <a:spAutoFit/>
          </a:bodyPr>
          <a:lstStyle/>
          <a:p>
            <a:pPr algn="just"/>
            <a:r>
              <a:rPr lang="zh-CN" altLang="en-US" sz="900" dirty="0">
                <a:latin typeface="微软雅黑" panose="020B0503020204020204" pitchFamily="34" charset="-122"/>
                <a:ea typeface="微软雅黑" panose="020B0503020204020204" pitchFamily="34" charset="-122"/>
              </a:rPr>
              <a:t>卷积神经网络</a:t>
            </a:r>
            <a:r>
              <a:rPr lang="en-US" altLang="zh-CN" sz="900" dirty="0">
                <a:latin typeface="微软雅黑" panose="020B0503020204020204" pitchFamily="34" charset="-122"/>
                <a:ea typeface="微软雅黑" panose="020B0503020204020204" pitchFamily="34" charset="-122"/>
              </a:rPr>
              <a:t>CNN</a:t>
            </a:r>
            <a:r>
              <a:rPr lang="zh-CN" altLang="en-US" sz="900" dirty="0">
                <a:latin typeface="微软雅黑" panose="020B0503020204020204" pitchFamily="34" charset="-122"/>
                <a:ea typeface="微软雅黑" panose="020B0503020204020204" pitchFamily="34" charset="-122"/>
              </a:rPr>
              <a:t>的先驱；</a:t>
            </a:r>
            <a:r>
              <a:rPr lang="en-US" altLang="zh-CN" sz="900" dirty="0" err="1">
                <a:latin typeface="微软雅黑" panose="020B0503020204020204" pitchFamily="34" charset="-122"/>
                <a:ea typeface="微软雅黑" panose="020B0503020204020204" pitchFamily="34" charset="-122"/>
              </a:rPr>
              <a:t>LeNet</a:t>
            </a:r>
            <a:r>
              <a:rPr lang="zh-CN" altLang="en-US" sz="900" dirty="0">
                <a:latin typeface="微软雅黑" panose="020B0503020204020204" pitchFamily="34" charset="-122"/>
                <a:ea typeface="微软雅黑" panose="020B0503020204020204" pitchFamily="34" charset="-122"/>
              </a:rPr>
              <a:t>；</a:t>
            </a:r>
            <a:r>
              <a:rPr lang="en-US" altLang="zh-CN" sz="900" dirty="0">
                <a:latin typeface="微软雅黑" panose="020B0503020204020204" pitchFamily="34" charset="-122"/>
                <a:ea typeface="微软雅黑" panose="020B0503020204020204" pitchFamily="34" charset="-122"/>
              </a:rPr>
              <a:t>Facebook</a:t>
            </a:r>
            <a:r>
              <a:rPr lang="zh-CN" altLang="en-US" sz="900" dirty="0">
                <a:latin typeface="微软雅黑" panose="020B0503020204020204" pitchFamily="34" charset="-122"/>
                <a:ea typeface="微软雅黑" panose="020B0503020204020204" pitchFamily="34" charset="-122"/>
              </a:rPr>
              <a:t>首席</a:t>
            </a:r>
            <a:r>
              <a:rPr lang="en-US" altLang="zh-CN" sz="900" dirty="0">
                <a:latin typeface="微软雅黑" panose="020B0503020204020204" pitchFamily="34" charset="-122"/>
                <a:ea typeface="微软雅黑" panose="020B0503020204020204" pitchFamily="34" charset="-122"/>
              </a:rPr>
              <a:t>AI</a:t>
            </a:r>
            <a:r>
              <a:rPr lang="zh-CN" altLang="en-US" sz="900" dirty="0">
                <a:latin typeface="微软雅黑" panose="020B0503020204020204" pitchFamily="34" charset="-122"/>
                <a:ea typeface="微软雅黑" panose="020B0503020204020204" pitchFamily="34" charset="-122"/>
              </a:rPr>
              <a:t>科学家</a:t>
            </a:r>
          </a:p>
        </p:txBody>
      </p:sp>
      <p:pic>
        <p:nvPicPr>
          <p:cNvPr id="17" name="Picture 6">
            <a:extLst>
              <a:ext uri="{FF2B5EF4-FFF2-40B4-BE49-F238E27FC236}">
                <a16:creationId xmlns:a16="http://schemas.microsoft.com/office/drawing/2014/main" id="{9BF44410-0BC3-403B-B6D8-86C72FD04187}"/>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3384443" y="1589028"/>
            <a:ext cx="854525" cy="108012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矩形 17">
            <a:extLst>
              <a:ext uri="{FF2B5EF4-FFF2-40B4-BE49-F238E27FC236}">
                <a16:creationId xmlns:a16="http://schemas.microsoft.com/office/drawing/2014/main" id="{41FA4F74-AF8F-4DD1-B401-0E24D19F5631}"/>
              </a:ext>
            </a:extLst>
          </p:cNvPr>
          <p:cNvSpPr/>
          <p:nvPr/>
        </p:nvSpPr>
        <p:spPr>
          <a:xfrm>
            <a:off x="3292248" y="2687556"/>
            <a:ext cx="1010297" cy="323165"/>
          </a:xfrm>
          <a:prstGeom prst="rect">
            <a:avLst/>
          </a:prstGeom>
        </p:spPr>
        <p:txBody>
          <a:bodyPr wrap="square" lIns="0" tIns="0" rIns="0" bIns="0" anchor="ctr" anchorCtr="0">
            <a:spAutoFit/>
          </a:bodyPr>
          <a:lstStyle/>
          <a:p>
            <a:pPr algn="ctr"/>
            <a:r>
              <a:rPr lang="en-US" altLang="zh-CN" sz="1050" dirty="0" err="1">
                <a:solidFill>
                  <a:srgbClr val="1F1F1F"/>
                </a:solidFill>
                <a:latin typeface="微软雅黑" panose="020B0503020204020204" pitchFamily="34" charset="-122"/>
                <a:ea typeface="微软雅黑" panose="020B0503020204020204" pitchFamily="34" charset="-122"/>
              </a:rPr>
              <a:t>Yoshua</a:t>
            </a:r>
            <a:r>
              <a:rPr lang="en-US" altLang="zh-CN" sz="1050" dirty="0">
                <a:solidFill>
                  <a:srgbClr val="1F1F1F"/>
                </a:solidFill>
                <a:latin typeface="微软雅黑" panose="020B0503020204020204" pitchFamily="34" charset="-122"/>
                <a:ea typeface="微软雅黑" panose="020B0503020204020204" pitchFamily="34" charset="-122"/>
              </a:rPr>
              <a:t> </a:t>
            </a:r>
            <a:r>
              <a:rPr lang="en-US" altLang="zh-CN" sz="1050" dirty="0" err="1">
                <a:solidFill>
                  <a:srgbClr val="1F1F1F"/>
                </a:solidFill>
                <a:latin typeface="微软雅黑" panose="020B0503020204020204" pitchFamily="34" charset="-122"/>
                <a:ea typeface="微软雅黑" panose="020B0503020204020204" pitchFamily="34" charset="-122"/>
              </a:rPr>
              <a:t>Bengio</a:t>
            </a:r>
            <a:endParaRPr lang="en-US" altLang="zh-CN" sz="1050" dirty="0">
              <a:solidFill>
                <a:srgbClr val="1F1F1F"/>
              </a:solidFill>
              <a:latin typeface="微软雅黑" panose="020B0503020204020204" pitchFamily="34" charset="-122"/>
              <a:ea typeface="微软雅黑" panose="020B0503020204020204" pitchFamily="34" charset="-122"/>
            </a:endParaRPr>
          </a:p>
          <a:p>
            <a:pPr algn="ctr"/>
            <a:r>
              <a:rPr lang="zh-CN" altLang="en-US" sz="1050" dirty="0">
                <a:latin typeface="微软雅黑" panose="020B0503020204020204" pitchFamily="34" charset="-122"/>
                <a:ea typeface="微软雅黑" panose="020B0503020204020204" pitchFamily="34" charset="-122"/>
              </a:rPr>
              <a:t>约书亚</a:t>
            </a:r>
            <a:r>
              <a:rPr lang="en-US" altLang="zh-CN" sz="1050" dirty="0">
                <a:latin typeface="微软雅黑" panose="020B0503020204020204" pitchFamily="34" charset="-122"/>
                <a:ea typeface="微软雅黑" panose="020B0503020204020204" pitchFamily="34" charset="-122"/>
              </a:rPr>
              <a:t>·</a:t>
            </a:r>
            <a:r>
              <a:rPr lang="zh-CN" altLang="en-US" sz="1050" dirty="0">
                <a:latin typeface="微软雅黑" panose="020B0503020204020204" pitchFamily="34" charset="-122"/>
                <a:ea typeface="微软雅黑" panose="020B0503020204020204" pitchFamily="34" charset="-122"/>
              </a:rPr>
              <a:t>本吉奥</a:t>
            </a:r>
            <a:endParaRPr lang="en-US" altLang="zh-CN" sz="1050" dirty="0">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8745518A-974A-425B-B2DC-50594910533C}"/>
              </a:ext>
            </a:extLst>
          </p:cNvPr>
          <p:cNvSpPr/>
          <p:nvPr/>
        </p:nvSpPr>
        <p:spPr>
          <a:xfrm>
            <a:off x="3276431" y="3056770"/>
            <a:ext cx="1026114" cy="276999"/>
          </a:xfrm>
          <a:prstGeom prst="rect">
            <a:avLst/>
          </a:prstGeom>
        </p:spPr>
        <p:txBody>
          <a:bodyPr wrap="square" lIns="0" tIns="0" rIns="0" bIns="0">
            <a:spAutoFit/>
          </a:bodyPr>
          <a:lstStyle/>
          <a:p>
            <a:pPr algn="just"/>
            <a:r>
              <a:rPr lang="zh-CN" altLang="en-US" sz="900" dirty="0">
                <a:latin typeface="微软雅黑" panose="020B0503020204020204" pitchFamily="34" charset="-122"/>
                <a:ea typeface="微软雅黑" panose="020B0503020204020204" pitchFamily="34" charset="-122"/>
              </a:rPr>
              <a:t>研究序列建模、生成模型（如</a:t>
            </a:r>
            <a:r>
              <a:rPr lang="en-US" altLang="zh-CN" sz="900" dirty="0">
                <a:latin typeface="微软雅黑" panose="020B0503020204020204" pitchFamily="34" charset="-122"/>
                <a:ea typeface="微软雅黑" panose="020B0503020204020204" pitchFamily="34" charset="-122"/>
              </a:rPr>
              <a:t>VAE</a:t>
            </a:r>
            <a:r>
              <a:rPr lang="zh-CN" altLang="en-US" sz="900" dirty="0">
                <a:latin typeface="微软雅黑" panose="020B0503020204020204" pitchFamily="34" charset="-122"/>
                <a:ea typeface="微软雅黑" panose="020B0503020204020204" pitchFamily="34" charset="-122"/>
              </a:rPr>
              <a:t>）等</a:t>
            </a:r>
          </a:p>
        </p:txBody>
      </p:sp>
      <p:sp>
        <p:nvSpPr>
          <p:cNvPr id="20" name="矩形 19">
            <a:extLst>
              <a:ext uri="{FF2B5EF4-FFF2-40B4-BE49-F238E27FC236}">
                <a16:creationId xmlns:a16="http://schemas.microsoft.com/office/drawing/2014/main" id="{966ECA34-E10E-4774-93F8-121B2583D60B}"/>
              </a:ext>
            </a:extLst>
          </p:cNvPr>
          <p:cNvSpPr/>
          <p:nvPr/>
        </p:nvSpPr>
        <p:spPr>
          <a:xfrm>
            <a:off x="660114" y="1320189"/>
            <a:ext cx="3706070" cy="215444"/>
          </a:xfrm>
          <a:prstGeom prst="rect">
            <a:avLst/>
          </a:prstGeom>
        </p:spPr>
        <p:txBody>
          <a:bodyPr wrap="square" lIns="0" tIns="0" rIns="0" bIns="0" anchor="ctr" anchorCtr="0">
            <a:spAutoFit/>
          </a:bodyPr>
          <a:lstStyle/>
          <a:p>
            <a:pPr algn="ctr"/>
            <a:r>
              <a:rPr lang="zh-CN" altLang="en-US" sz="1400" b="1" dirty="0">
                <a:solidFill>
                  <a:srgbClr val="1F1F1F"/>
                </a:solidFill>
                <a:latin typeface="微软雅黑" panose="020B0503020204020204" pitchFamily="34" charset="-122"/>
                <a:ea typeface="微软雅黑" panose="020B0503020204020204" pitchFamily="34" charset="-122"/>
              </a:rPr>
              <a:t>深度学习“</a:t>
            </a:r>
            <a:r>
              <a:rPr lang="zh-CN" altLang="en-US" sz="1400" b="1" dirty="0">
                <a:solidFill>
                  <a:srgbClr val="FF0000"/>
                </a:solidFill>
                <a:latin typeface="微软雅黑" panose="020B0503020204020204" pitchFamily="34" charset="-122"/>
                <a:ea typeface="微软雅黑" panose="020B0503020204020204" pitchFamily="34" charset="-122"/>
              </a:rPr>
              <a:t>三巨头</a:t>
            </a:r>
            <a:r>
              <a:rPr lang="zh-CN" altLang="en-US" sz="1400" b="1" dirty="0">
                <a:solidFill>
                  <a:srgbClr val="1F1F1F"/>
                </a:solidFill>
                <a:latin typeface="微软雅黑" panose="020B0503020204020204" pitchFamily="34" charset="-122"/>
                <a:ea typeface="微软雅黑" panose="020B0503020204020204" pitchFamily="34" charset="-122"/>
              </a:rPr>
              <a:t>”  </a:t>
            </a:r>
            <a:r>
              <a:rPr lang="en-US" altLang="zh-CN" sz="1400" b="1" dirty="0">
                <a:solidFill>
                  <a:srgbClr val="1F1F1F"/>
                </a:solidFill>
                <a:latin typeface="微软雅黑" panose="020B0503020204020204" pitchFamily="34" charset="-122"/>
                <a:ea typeface="微软雅黑" panose="020B0503020204020204" pitchFamily="34" charset="-122"/>
              </a:rPr>
              <a:t>2018</a:t>
            </a:r>
            <a:r>
              <a:rPr lang="zh-CN" altLang="en-US" sz="1400" b="1" dirty="0">
                <a:solidFill>
                  <a:srgbClr val="1F1F1F"/>
                </a:solidFill>
                <a:latin typeface="微软雅黑" panose="020B0503020204020204" pitchFamily="34" charset="-122"/>
                <a:ea typeface="微软雅黑" panose="020B0503020204020204" pitchFamily="34" charset="-122"/>
              </a:rPr>
              <a:t>年共同荣获</a:t>
            </a:r>
            <a:r>
              <a:rPr lang="zh-CN" altLang="en-US" sz="1400" b="1" dirty="0">
                <a:solidFill>
                  <a:srgbClr val="FF0000"/>
                </a:solidFill>
                <a:latin typeface="微软雅黑" panose="020B0503020204020204" pitchFamily="34" charset="-122"/>
                <a:ea typeface="微软雅黑" panose="020B0503020204020204" pitchFamily="34" charset="-122"/>
              </a:rPr>
              <a:t>图灵奖</a:t>
            </a:r>
            <a:endParaRPr lang="en-US" altLang="zh-CN" sz="1400" b="1" dirty="0">
              <a:solidFill>
                <a:srgbClr val="FF0000"/>
              </a:solidFill>
              <a:latin typeface="微软雅黑" panose="020B0503020204020204" pitchFamily="34" charset="-122"/>
              <a:ea typeface="微软雅黑" panose="020B0503020204020204" pitchFamily="34" charset="-122"/>
            </a:endParaRPr>
          </a:p>
        </p:txBody>
      </p:sp>
      <p:pic>
        <p:nvPicPr>
          <p:cNvPr id="21" name="Picture 6">
            <a:extLst>
              <a:ext uri="{FF2B5EF4-FFF2-40B4-BE49-F238E27FC236}">
                <a16:creationId xmlns:a16="http://schemas.microsoft.com/office/drawing/2014/main" id="{C20B160C-1F78-4373-981D-14D277AA855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4798170" y="1589028"/>
            <a:ext cx="879707" cy="108012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2" name="矩形 21">
            <a:extLst>
              <a:ext uri="{FF2B5EF4-FFF2-40B4-BE49-F238E27FC236}">
                <a16:creationId xmlns:a16="http://schemas.microsoft.com/office/drawing/2014/main" id="{982F539D-B950-4C4E-9365-A4C9766F8ACF}"/>
              </a:ext>
            </a:extLst>
          </p:cNvPr>
          <p:cNvSpPr/>
          <p:nvPr/>
        </p:nvSpPr>
        <p:spPr>
          <a:xfrm>
            <a:off x="4718566" y="2687556"/>
            <a:ext cx="1010297" cy="323165"/>
          </a:xfrm>
          <a:prstGeom prst="rect">
            <a:avLst/>
          </a:prstGeom>
        </p:spPr>
        <p:txBody>
          <a:bodyPr wrap="square" lIns="0" tIns="0" rIns="0" bIns="0" anchor="ctr" anchorCtr="0">
            <a:spAutoFit/>
          </a:bodyPr>
          <a:lstStyle/>
          <a:p>
            <a:pPr algn="ctr"/>
            <a:r>
              <a:rPr lang="en-US" altLang="zh-CN" sz="1050" dirty="0">
                <a:solidFill>
                  <a:srgbClr val="1F1F1F"/>
                </a:solidFill>
                <a:latin typeface="微软雅黑" panose="020B0503020204020204" pitchFamily="34" charset="-122"/>
                <a:ea typeface="微软雅黑" panose="020B0503020204020204" pitchFamily="34" charset="-122"/>
              </a:rPr>
              <a:t>Andrew Ng</a:t>
            </a:r>
          </a:p>
          <a:p>
            <a:pPr algn="ctr"/>
            <a:r>
              <a:rPr lang="zh-CN" altLang="en-US" sz="1050" dirty="0">
                <a:latin typeface="微软雅黑" panose="020B0503020204020204" pitchFamily="34" charset="-122"/>
                <a:ea typeface="微软雅黑" panose="020B0503020204020204" pitchFamily="34" charset="-122"/>
              </a:rPr>
              <a:t>吴恩达</a:t>
            </a:r>
            <a:endParaRPr lang="en-US" altLang="zh-CN" sz="1050" dirty="0">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A7D21CE8-9A40-4C31-9C26-BBC55125334B}"/>
              </a:ext>
            </a:extLst>
          </p:cNvPr>
          <p:cNvSpPr/>
          <p:nvPr/>
        </p:nvSpPr>
        <p:spPr>
          <a:xfrm>
            <a:off x="4702749" y="3056769"/>
            <a:ext cx="1026114" cy="553998"/>
          </a:xfrm>
          <a:prstGeom prst="rect">
            <a:avLst/>
          </a:prstGeom>
        </p:spPr>
        <p:txBody>
          <a:bodyPr wrap="square" lIns="0" tIns="0" rIns="0" bIns="0">
            <a:spAutoFit/>
          </a:bodyPr>
          <a:lstStyle/>
          <a:p>
            <a:pPr algn="just"/>
            <a:r>
              <a:rPr lang="zh-CN" altLang="en-US" sz="900" dirty="0">
                <a:latin typeface="微软雅黑" panose="020B0503020204020204" pitchFamily="34" charset="-122"/>
                <a:ea typeface="微软雅黑" panose="020B0503020204020204" pitchFamily="34" charset="-122"/>
              </a:rPr>
              <a:t>斯坦福教授；创办</a:t>
            </a:r>
            <a:r>
              <a:rPr lang="en-US" altLang="zh-CN" sz="900" dirty="0">
                <a:latin typeface="微软雅黑" panose="020B0503020204020204" pitchFamily="34" charset="-122"/>
                <a:ea typeface="微软雅黑" panose="020B0503020204020204" pitchFamily="34" charset="-122"/>
              </a:rPr>
              <a:t>Google Brain</a:t>
            </a:r>
            <a:r>
              <a:rPr lang="zh-CN" altLang="en-US" sz="900" dirty="0">
                <a:latin typeface="微软雅黑" panose="020B0503020204020204" pitchFamily="34" charset="-122"/>
                <a:ea typeface="微软雅黑" panose="020B0503020204020204" pitchFamily="34" charset="-122"/>
              </a:rPr>
              <a:t>与</a:t>
            </a:r>
            <a:r>
              <a:rPr lang="en-US" altLang="zh-CN" sz="900" dirty="0">
                <a:latin typeface="微软雅黑" panose="020B0503020204020204" pitchFamily="34" charset="-122"/>
                <a:ea typeface="微软雅黑" panose="020B0503020204020204" pitchFamily="34" charset="-122"/>
              </a:rPr>
              <a:t>Coursera</a:t>
            </a:r>
            <a:r>
              <a:rPr lang="zh-CN" altLang="en-US" sz="900" dirty="0">
                <a:latin typeface="微软雅黑" panose="020B0503020204020204" pitchFamily="34" charset="-122"/>
                <a:ea typeface="微软雅黑" panose="020B0503020204020204" pitchFamily="34" charset="-122"/>
              </a:rPr>
              <a:t>；推动在线教育与</a:t>
            </a:r>
            <a:r>
              <a:rPr lang="en-US" altLang="zh-CN" sz="900" dirty="0">
                <a:latin typeface="微软雅黑" panose="020B0503020204020204" pitchFamily="34" charset="-122"/>
                <a:ea typeface="微软雅黑" panose="020B0503020204020204" pitchFamily="34" charset="-122"/>
              </a:rPr>
              <a:t>AI</a:t>
            </a:r>
            <a:r>
              <a:rPr lang="zh-CN" altLang="en-US" sz="900" dirty="0">
                <a:latin typeface="微软雅黑" panose="020B0503020204020204" pitchFamily="34" charset="-122"/>
                <a:ea typeface="微软雅黑" panose="020B0503020204020204" pitchFamily="34" charset="-122"/>
              </a:rPr>
              <a:t>普及</a:t>
            </a:r>
          </a:p>
        </p:txBody>
      </p:sp>
      <p:pic>
        <p:nvPicPr>
          <p:cNvPr id="24" name="Picture 6">
            <a:extLst>
              <a:ext uri="{FF2B5EF4-FFF2-40B4-BE49-F238E27FC236}">
                <a16:creationId xmlns:a16="http://schemas.microsoft.com/office/drawing/2014/main" id="{7574A151-061A-449E-9332-4E0A4C147B8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6257098" y="1589028"/>
            <a:ext cx="849840" cy="108012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5" name="矩形 24">
            <a:extLst>
              <a:ext uri="{FF2B5EF4-FFF2-40B4-BE49-F238E27FC236}">
                <a16:creationId xmlns:a16="http://schemas.microsoft.com/office/drawing/2014/main" id="{B40E241A-95F5-449D-9F03-A7C230489AAC}"/>
              </a:ext>
            </a:extLst>
          </p:cNvPr>
          <p:cNvSpPr/>
          <p:nvPr/>
        </p:nvSpPr>
        <p:spPr>
          <a:xfrm>
            <a:off x="6039901" y="2687556"/>
            <a:ext cx="1255617" cy="323165"/>
          </a:xfrm>
          <a:prstGeom prst="rect">
            <a:avLst/>
          </a:prstGeom>
        </p:spPr>
        <p:txBody>
          <a:bodyPr wrap="square" lIns="0" tIns="0" rIns="0" bIns="0" anchor="ctr" anchorCtr="0">
            <a:spAutoFit/>
          </a:bodyPr>
          <a:lstStyle/>
          <a:p>
            <a:pPr algn="ctr"/>
            <a:r>
              <a:rPr lang="en-US" altLang="zh-CN" sz="1050" dirty="0">
                <a:solidFill>
                  <a:srgbClr val="1F1F1F"/>
                </a:solidFill>
                <a:latin typeface="微软雅黑" panose="020B0503020204020204" pitchFamily="34" charset="-122"/>
                <a:ea typeface="微软雅黑" panose="020B0503020204020204" pitchFamily="34" charset="-122"/>
              </a:rPr>
              <a:t>Ian Goodfellow</a:t>
            </a:r>
          </a:p>
          <a:p>
            <a:pPr algn="ctr"/>
            <a:r>
              <a:rPr lang="zh-CN" altLang="en-US" sz="1050" dirty="0">
                <a:latin typeface="微软雅黑" panose="020B0503020204020204" pitchFamily="34" charset="-122"/>
                <a:ea typeface="微软雅黑" panose="020B0503020204020204" pitchFamily="34" charset="-122"/>
              </a:rPr>
              <a:t>伊恩</a:t>
            </a:r>
            <a:r>
              <a:rPr lang="en-US" altLang="zh-CN" sz="1050" dirty="0">
                <a:latin typeface="微软雅黑" panose="020B0503020204020204" pitchFamily="34" charset="-122"/>
                <a:ea typeface="微软雅黑" panose="020B0503020204020204" pitchFamily="34" charset="-122"/>
              </a:rPr>
              <a:t>·</a:t>
            </a:r>
            <a:r>
              <a:rPr lang="zh-CN" altLang="en-US" sz="1050" dirty="0">
                <a:latin typeface="微软雅黑" panose="020B0503020204020204" pitchFamily="34" charset="-122"/>
                <a:ea typeface="微软雅黑" panose="020B0503020204020204" pitchFamily="34" charset="-122"/>
              </a:rPr>
              <a:t>古德费洛</a:t>
            </a:r>
            <a:endParaRPr lang="en-US" altLang="zh-CN" sz="1050" dirty="0">
              <a:latin typeface="微软雅黑" panose="020B0503020204020204" pitchFamily="34" charset="-122"/>
              <a:ea typeface="微软雅黑" panose="020B0503020204020204" pitchFamily="34" charset="-122"/>
            </a:endParaRPr>
          </a:p>
        </p:txBody>
      </p:sp>
      <p:sp>
        <p:nvSpPr>
          <p:cNvPr id="27" name="矩形 26">
            <a:extLst>
              <a:ext uri="{FF2B5EF4-FFF2-40B4-BE49-F238E27FC236}">
                <a16:creationId xmlns:a16="http://schemas.microsoft.com/office/drawing/2014/main" id="{B962E009-BD20-4413-B168-821903C78E87}"/>
              </a:ext>
            </a:extLst>
          </p:cNvPr>
          <p:cNvSpPr/>
          <p:nvPr/>
        </p:nvSpPr>
        <p:spPr>
          <a:xfrm>
            <a:off x="6146744" y="3056769"/>
            <a:ext cx="1026114" cy="415498"/>
          </a:xfrm>
          <a:prstGeom prst="rect">
            <a:avLst/>
          </a:prstGeom>
        </p:spPr>
        <p:txBody>
          <a:bodyPr wrap="square" lIns="0" tIns="0" rIns="0" bIns="0">
            <a:spAutoFit/>
          </a:bodyPr>
          <a:lstStyle/>
          <a:p>
            <a:pPr algn="just"/>
            <a:r>
              <a:rPr lang="en-US" altLang="zh-CN" sz="900" dirty="0">
                <a:latin typeface="微软雅黑" panose="020B0503020204020204" pitchFamily="34" charset="-122"/>
                <a:ea typeface="微软雅黑" panose="020B0503020204020204" pitchFamily="34" charset="-122"/>
              </a:rPr>
              <a:t>GAN</a:t>
            </a:r>
            <a:r>
              <a:rPr lang="zh-CN" altLang="en-US" sz="900" dirty="0">
                <a:latin typeface="微软雅黑" panose="020B0503020204020204" pitchFamily="34" charset="-122"/>
                <a:ea typeface="微软雅黑" panose="020B0503020204020204" pitchFamily="34" charset="-122"/>
              </a:rPr>
              <a:t>（生成对抗网络）发明人；推动生成式</a:t>
            </a:r>
            <a:r>
              <a:rPr lang="en-US" altLang="zh-CN" sz="900" dirty="0">
                <a:latin typeface="微软雅黑" panose="020B0503020204020204" pitchFamily="34" charset="-122"/>
                <a:ea typeface="微软雅黑" panose="020B0503020204020204" pitchFamily="34" charset="-122"/>
              </a:rPr>
              <a:t>AI</a:t>
            </a:r>
            <a:r>
              <a:rPr lang="zh-CN" altLang="en-US" sz="900" dirty="0">
                <a:latin typeface="微软雅黑" panose="020B0503020204020204" pitchFamily="34" charset="-122"/>
                <a:ea typeface="微软雅黑" panose="020B0503020204020204" pitchFamily="34" charset="-122"/>
              </a:rPr>
              <a:t>的发展</a:t>
            </a:r>
          </a:p>
        </p:txBody>
      </p:sp>
      <p:sp>
        <p:nvSpPr>
          <p:cNvPr id="28" name="矩形 27">
            <a:extLst>
              <a:ext uri="{FF2B5EF4-FFF2-40B4-BE49-F238E27FC236}">
                <a16:creationId xmlns:a16="http://schemas.microsoft.com/office/drawing/2014/main" id="{EFA72FCE-6BBC-4DA1-9F3E-70049EAE7E97}"/>
              </a:ext>
            </a:extLst>
          </p:cNvPr>
          <p:cNvSpPr/>
          <p:nvPr/>
        </p:nvSpPr>
        <p:spPr>
          <a:xfrm>
            <a:off x="7367436" y="2687556"/>
            <a:ext cx="1484684" cy="323165"/>
          </a:xfrm>
          <a:prstGeom prst="rect">
            <a:avLst/>
          </a:prstGeom>
        </p:spPr>
        <p:txBody>
          <a:bodyPr wrap="square" lIns="0" tIns="0" rIns="0" bIns="0" anchor="ctr" anchorCtr="0">
            <a:spAutoFit/>
          </a:bodyPr>
          <a:lstStyle/>
          <a:p>
            <a:pPr algn="ctr"/>
            <a:r>
              <a:rPr lang="en-US" altLang="zh-CN" sz="1050" dirty="0">
                <a:solidFill>
                  <a:srgbClr val="1F1F1F"/>
                </a:solidFill>
                <a:latin typeface="微软雅黑" panose="020B0503020204020204" pitchFamily="34" charset="-122"/>
                <a:ea typeface="微软雅黑" panose="020B0503020204020204" pitchFamily="34" charset="-122"/>
              </a:rPr>
              <a:t>Jürgen </a:t>
            </a:r>
            <a:r>
              <a:rPr lang="en-US" altLang="zh-CN" sz="1050" dirty="0" err="1">
                <a:solidFill>
                  <a:srgbClr val="1F1F1F"/>
                </a:solidFill>
                <a:latin typeface="微软雅黑" panose="020B0503020204020204" pitchFamily="34" charset="-122"/>
                <a:ea typeface="微软雅黑" panose="020B0503020204020204" pitchFamily="34" charset="-122"/>
              </a:rPr>
              <a:t>Schmidhuber</a:t>
            </a:r>
            <a:endParaRPr lang="en-US" altLang="zh-CN" sz="1050" dirty="0">
              <a:solidFill>
                <a:srgbClr val="1F1F1F"/>
              </a:solidFill>
              <a:latin typeface="微软雅黑" panose="020B0503020204020204" pitchFamily="34" charset="-122"/>
              <a:ea typeface="微软雅黑" panose="020B0503020204020204" pitchFamily="34" charset="-122"/>
            </a:endParaRPr>
          </a:p>
          <a:p>
            <a:pPr algn="ctr"/>
            <a:r>
              <a:rPr lang="zh-CN" altLang="en-US" sz="1050" dirty="0">
                <a:latin typeface="微软雅黑" panose="020B0503020204020204" pitchFamily="34" charset="-122"/>
                <a:ea typeface="微软雅黑" panose="020B0503020204020204" pitchFamily="34" charset="-122"/>
              </a:rPr>
              <a:t>于尔根</a:t>
            </a:r>
            <a:r>
              <a:rPr lang="en-US" altLang="zh-CN" sz="1050" dirty="0">
                <a:latin typeface="微软雅黑" panose="020B0503020204020204" pitchFamily="34" charset="-122"/>
                <a:ea typeface="微软雅黑" panose="020B0503020204020204" pitchFamily="34" charset="-122"/>
              </a:rPr>
              <a:t>·</a:t>
            </a:r>
            <a:r>
              <a:rPr lang="zh-CN" altLang="en-US" sz="1050" dirty="0">
                <a:latin typeface="微软雅黑" panose="020B0503020204020204" pitchFamily="34" charset="-122"/>
                <a:ea typeface="微软雅黑" panose="020B0503020204020204" pitchFamily="34" charset="-122"/>
              </a:rPr>
              <a:t>施密德胡伯</a:t>
            </a:r>
            <a:endParaRPr lang="en-US" altLang="zh-CN" sz="1050" dirty="0">
              <a:latin typeface="微软雅黑" panose="020B0503020204020204" pitchFamily="34" charset="-122"/>
              <a:ea typeface="微软雅黑" panose="020B0503020204020204" pitchFamily="34" charset="-122"/>
            </a:endParaRPr>
          </a:p>
        </p:txBody>
      </p:sp>
      <p:sp>
        <p:nvSpPr>
          <p:cNvPr id="29" name="矩形 28">
            <a:extLst>
              <a:ext uri="{FF2B5EF4-FFF2-40B4-BE49-F238E27FC236}">
                <a16:creationId xmlns:a16="http://schemas.microsoft.com/office/drawing/2014/main" id="{C3812ADA-E0BD-4DBB-95BA-284151194B78}"/>
              </a:ext>
            </a:extLst>
          </p:cNvPr>
          <p:cNvSpPr/>
          <p:nvPr/>
        </p:nvSpPr>
        <p:spPr>
          <a:xfrm>
            <a:off x="7588812" y="3056769"/>
            <a:ext cx="1026114" cy="553998"/>
          </a:xfrm>
          <a:prstGeom prst="rect">
            <a:avLst/>
          </a:prstGeom>
        </p:spPr>
        <p:txBody>
          <a:bodyPr wrap="square" lIns="0" tIns="0" rIns="0" bIns="0">
            <a:spAutoFit/>
          </a:bodyPr>
          <a:lstStyle/>
          <a:p>
            <a:pPr algn="just"/>
            <a:r>
              <a:rPr lang="en-US" altLang="zh-CN" sz="900" dirty="0">
                <a:latin typeface="微软雅黑" panose="020B0503020204020204" pitchFamily="34" charset="-122"/>
                <a:ea typeface="微软雅黑" panose="020B0503020204020204" pitchFamily="34" charset="-122"/>
              </a:rPr>
              <a:t>LSTM</a:t>
            </a:r>
            <a:r>
              <a:rPr lang="zh-CN" altLang="en-US" sz="900" dirty="0">
                <a:latin typeface="微软雅黑" panose="020B0503020204020204" pitchFamily="34" charset="-122"/>
                <a:ea typeface="微软雅黑" panose="020B0503020204020204" pitchFamily="34" charset="-122"/>
              </a:rPr>
              <a:t>（长短期记忆网络）联合发明人，用于自然语言处理等领域</a:t>
            </a:r>
          </a:p>
        </p:txBody>
      </p:sp>
      <p:pic>
        <p:nvPicPr>
          <p:cNvPr id="30" name="Picture 8" descr="https://spaice.esa.int/wp-content/uploads/2024/04/jschmidhuber2.jpeg">
            <a:extLst>
              <a:ext uri="{FF2B5EF4-FFF2-40B4-BE49-F238E27FC236}">
                <a16:creationId xmlns:a16="http://schemas.microsoft.com/office/drawing/2014/main" id="{67CDE1B2-66C7-4965-A028-735C1706DF9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538924" y="1589028"/>
            <a:ext cx="1122125" cy="108012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1" name="Picture 4">
            <a:extLst>
              <a:ext uri="{FF2B5EF4-FFF2-40B4-BE49-F238E27FC236}">
                <a16:creationId xmlns:a16="http://schemas.microsoft.com/office/drawing/2014/main" id="{3F38F729-DFF2-4A2B-B803-97DA1047F22C}"/>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tretch>
            <a:fillRect/>
          </a:stretch>
        </p:blipFill>
        <p:spPr bwMode="auto">
          <a:xfrm>
            <a:off x="858207" y="3737899"/>
            <a:ext cx="791945" cy="108012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2" name="矩形 31">
            <a:extLst>
              <a:ext uri="{FF2B5EF4-FFF2-40B4-BE49-F238E27FC236}">
                <a16:creationId xmlns:a16="http://schemas.microsoft.com/office/drawing/2014/main" id="{780270EF-2552-4424-B644-D2B4B8648F36}"/>
              </a:ext>
            </a:extLst>
          </p:cNvPr>
          <p:cNvSpPr/>
          <p:nvPr/>
        </p:nvSpPr>
        <p:spPr>
          <a:xfrm>
            <a:off x="598298" y="4836428"/>
            <a:ext cx="1221752" cy="323165"/>
          </a:xfrm>
          <a:prstGeom prst="rect">
            <a:avLst/>
          </a:prstGeom>
        </p:spPr>
        <p:txBody>
          <a:bodyPr wrap="square" lIns="0" tIns="0" rIns="0" bIns="0" anchor="ctr" anchorCtr="0">
            <a:spAutoFit/>
          </a:bodyPr>
          <a:lstStyle/>
          <a:p>
            <a:pPr algn="ctr"/>
            <a:r>
              <a:rPr lang="en-US" altLang="zh-CN" sz="1050" dirty="0">
                <a:solidFill>
                  <a:srgbClr val="1F1F1F"/>
                </a:solidFill>
                <a:latin typeface="微软雅黑" panose="020B0503020204020204" pitchFamily="34" charset="-122"/>
                <a:ea typeface="微软雅黑" panose="020B0503020204020204" pitchFamily="34" charset="-122"/>
              </a:rPr>
              <a:t>Michael I. Jordan</a:t>
            </a:r>
          </a:p>
          <a:p>
            <a:pPr algn="ctr"/>
            <a:r>
              <a:rPr lang="zh-CN" altLang="en-US" sz="1050" dirty="0">
                <a:latin typeface="微软雅黑" panose="020B0503020204020204" pitchFamily="34" charset="-122"/>
                <a:ea typeface="微软雅黑" panose="020B0503020204020204" pitchFamily="34" charset="-122"/>
              </a:rPr>
              <a:t>迈克尔</a:t>
            </a:r>
            <a:r>
              <a:rPr lang="en-US" altLang="zh-CN" sz="1050" dirty="0">
                <a:latin typeface="微软雅黑" panose="020B0503020204020204" pitchFamily="34" charset="-122"/>
                <a:ea typeface="微软雅黑" panose="020B0503020204020204" pitchFamily="34" charset="-122"/>
              </a:rPr>
              <a:t>·</a:t>
            </a:r>
            <a:r>
              <a:rPr lang="zh-CN" altLang="en-US" sz="1050" dirty="0">
                <a:latin typeface="微软雅黑" panose="020B0503020204020204" pitchFamily="34" charset="-122"/>
                <a:ea typeface="微软雅黑" panose="020B0503020204020204" pitchFamily="34" charset="-122"/>
              </a:rPr>
              <a:t>乔丹</a:t>
            </a:r>
            <a:endParaRPr lang="en-US" altLang="zh-CN" sz="1050" dirty="0">
              <a:latin typeface="微软雅黑" panose="020B0503020204020204" pitchFamily="34" charset="-122"/>
              <a:ea typeface="微软雅黑" panose="020B0503020204020204" pitchFamily="34" charset="-122"/>
            </a:endParaRPr>
          </a:p>
        </p:txBody>
      </p:sp>
      <p:sp>
        <p:nvSpPr>
          <p:cNvPr id="33" name="矩形 32">
            <a:extLst>
              <a:ext uri="{FF2B5EF4-FFF2-40B4-BE49-F238E27FC236}">
                <a16:creationId xmlns:a16="http://schemas.microsoft.com/office/drawing/2014/main" id="{5C17D9B0-A796-48A0-8EBD-D8773D7F9EE4}"/>
              </a:ext>
            </a:extLst>
          </p:cNvPr>
          <p:cNvSpPr/>
          <p:nvPr/>
        </p:nvSpPr>
        <p:spPr>
          <a:xfrm>
            <a:off x="660113" y="5205641"/>
            <a:ext cx="1098123" cy="553998"/>
          </a:xfrm>
          <a:prstGeom prst="rect">
            <a:avLst/>
          </a:prstGeom>
        </p:spPr>
        <p:txBody>
          <a:bodyPr wrap="square" lIns="0" tIns="0" rIns="0" bIns="0">
            <a:spAutoFit/>
          </a:bodyPr>
          <a:lstStyle/>
          <a:p>
            <a:pPr algn="just"/>
            <a:r>
              <a:rPr lang="zh-CN" altLang="en-US" sz="900" dirty="0">
                <a:latin typeface="微软雅黑" panose="020B0503020204020204" pitchFamily="34" charset="-122"/>
                <a:ea typeface="微软雅黑" panose="020B0503020204020204" pitchFamily="34" charset="-122"/>
              </a:rPr>
              <a:t>统计机器学习奠基人之一；贝叶斯网络、</a:t>
            </a:r>
            <a:r>
              <a:rPr lang="en-US" altLang="zh-CN" sz="900" dirty="0">
                <a:latin typeface="微软雅黑" panose="020B0503020204020204" pitchFamily="34" charset="-122"/>
                <a:ea typeface="微软雅黑" panose="020B0503020204020204" pitchFamily="34" charset="-122"/>
              </a:rPr>
              <a:t>EM</a:t>
            </a:r>
            <a:r>
              <a:rPr lang="zh-CN" altLang="en-US" sz="900" dirty="0">
                <a:latin typeface="微软雅黑" panose="020B0503020204020204" pitchFamily="34" charset="-122"/>
                <a:ea typeface="微软雅黑" panose="020B0503020204020204" pitchFamily="34" charset="-122"/>
              </a:rPr>
              <a:t>算法、推荐系统理论发展</a:t>
            </a:r>
          </a:p>
        </p:txBody>
      </p:sp>
      <p:pic>
        <p:nvPicPr>
          <p:cNvPr id="34" name="Picture 6">
            <a:extLst>
              <a:ext uri="{FF2B5EF4-FFF2-40B4-BE49-F238E27FC236}">
                <a16:creationId xmlns:a16="http://schemas.microsoft.com/office/drawing/2014/main" id="{776D30C5-8E2A-4DEA-893B-2A2AFC1F51F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tretch>
            <a:fillRect/>
          </a:stretch>
        </p:blipFill>
        <p:spPr bwMode="auto">
          <a:xfrm>
            <a:off x="2096169" y="3737899"/>
            <a:ext cx="890499" cy="108012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5" name="矩形 34">
            <a:extLst>
              <a:ext uri="{FF2B5EF4-FFF2-40B4-BE49-F238E27FC236}">
                <a16:creationId xmlns:a16="http://schemas.microsoft.com/office/drawing/2014/main" id="{EE42625A-4241-4137-83FF-198582F77E3C}"/>
              </a:ext>
            </a:extLst>
          </p:cNvPr>
          <p:cNvSpPr/>
          <p:nvPr/>
        </p:nvSpPr>
        <p:spPr>
          <a:xfrm>
            <a:off x="2067551" y="4836428"/>
            <a:ext cx="883143" cy="323165"/>
          </a:xfrm>
          <a:prstGeom prst="rect">
            <a:avLst/>
          </a:prstGeom>
        </p:spPr>
        <p:txBody>
          <a:bodyPr wrap="square" lIns="0" tIns="0" rIns="0" bIns="0" anchor="ctr" anchorCtr="0">
            <a:spAutoFit/>
          </a:bodyPr>
          <a:lstStyle/>
          <a:p>
            <a:pPr algn="ctr"/>
            <a:r>
              <a:rPr lang="en-US" altLang="zh-CN" sz="1050" dirty="0">
                <a:solidFill>
                  <a:srgbClr val="1F1F1F"/>
                </a:solidFill>
                <a:latin typeface="微软雅黑" panose="020B0503020204020204" pitchFamily="34" charset="-122"/>
                <a:ea typeface="微软雅黑" panose="020B0503020204020204" pitchFamily="34" charset="-122"/>
              </a:rPr>
              <a:t>Fei-Fei Li</a:t>
            </a:r>
          </a:p>
          <a:p>
            <a:pPr algn="ctr"/>
            <a:r>
              <a:rPr lang="zh-CN" altLang="en-US" sz="1050" dirty="0">
                <a:latin typeface="微软雅黑" panose="020B0503020204020204" pitchFamily="34" charset="-122"/>
                <a:ea typeface="微软雅黑" panose="020B0503020204020204" pitchFamily="34" charset="-122"/>
              </a:rPr>
              <a:t>李飞飞</a:t>
            </a:r>
            <a:endParaRPr lang="en-US" altLang="zh-CN" sz="1050" dirty="0">
              <a:latin typeface="微软雅黑" panose="020B0503020204020204" pitchFamily="34" charset="-122"/>
              <a:ea typeface="微软雅黑" panose="020B0503020204020204" pitchFamily="34" charset="-122"/>
            </a:endParaRPr>
          </a:p>
        </p:txBody>
      </p:sp>
      <p:sp>
        <p:nvSpPr>
          <p:cNvPr id="36" name="矩形 35">
            <a:extLst>
              <a:ext uri="{FF2B5EF4-FFF2-40B4-BE49-F238E27FC236}">
                <a16:creationId xmlns:a16="http://schemas.microsoft.com/office/drawing/2014/main" id="{6EEBF7D6-192A-4AA7-83AA-2E3A23031DBB}"/>
              </a:ext>
            </a:extLst>
          </p:cNvPr>
          <p:cNvSpPr/>
          <p:nvPr/>
        </p:nvSpPr>
        <p:spPr>
          <a:xfrm>
            <a:off x="1988157" y="5205641"/>
            <a:ext cx="1026114" cy="553998"/>
          </a:xfrm>
          <a:prstGeom prst="rect">
            <a:avLst/>
          </a:prstGeom>
        </p:spPr>
        <p:txBody>
          <a:bodyPr wrap="square" lIns="0" tIns="0" rIns="0" bIns="0">
            <a:spAutoFit/>
          </a:bodyPr>
          <a:lstStyle/>
          <a:p>
            <a:pPr algn="just"/>
            <a:r>
              <a:rPr lang="zh-CN" altLang="en-US" sz="900" dirty="0">
                <a:latin typeface="微软雅黑" panose="020B0503020204020204" pitchFamily="34" charset="-122"/>
                <a:ea typeface="微软雅黑" panose="020B0503020204020204" pitchFamily="34" charset="-122"/>
              </a:rPr>
              <a:t>创建</a:t>
            </a:r>
            <a:r>
              <a:rPr lang="en-US" altLang="zh-CN" sz="900" dirty="0">
                <a:latin typeface="微软雅黑" panose="020B0503020204020204" pitchFamily="34" charset="-122"/>
                <a:ea typeface="微软雅黑" panose="020B0503020204020204" pitchFamily="34" charset="-122"/>
              </a:rPr>
              <a:t>ImageNet</a:t>
            </a:r>
            <a:r>
              <a:rPr lang="zh-CN" altLang="en-US" sz="900" dirty="0">
                <a:latin typeface="微软雅黑" panose="020B0503020204020204" pitchFamily="34" charset="-122"/>
                <a:ea typeface="微软雅黑" panose="020B0503020204020204" pitchFamily="34" charset="-122"/>
              </a:rPr>
              <a:t>项目，引领视觉</a:t>
            </a:r>
            <a:r>
              <a:rPr lang="en-US" altLang="zh-CN" sz="900" dirty="0">
                <a:latin typeface="微软雅黑" panose="020B0503020204020204" pitchFamily="34" charset="-122"/>
                <a:ea typeface="微软雅黑" panose="020B0503020204020204" pitchFamily="34" charset="-122"/>
              </a:rPr>
              <a:t>AI</a:t>
            </a:r>
            <a:r>
              <a:rPr lang="zh-CN" altLang="en-US" sz="900" dirty="0">
                <a:latin typeface="微软雅黑" panose="020B0503020204020204" pitchFamily="34" charset="-122"/>
                <a:ea typeface="微软雅黑" panose="020B0503020204020204" pitchFamily="34" charset="-122"/>
              </a:rPr>
              <a:t>发展；推动</a:t>
            </a:r>
            <a:r>
              <a:rPr lang="en-US" altLang="zh-CN" sz="900" dirty="0">
                <a:latin typeface="微软雅黑" panose="020B0503020204020204" pitchFamily="34" charset="-122"/>
                <a:ea typeface="微软雅黑" panose="020B0503020204020204" pitchFamily="34" charset="-122"/>
              </a:rPr>
              <a:t>AI</a:t>
            </a:r>
            <a:r>
              <a:rPr lang="zh-CN" altLang="en-US" sz="900" dirty="0">
                <a:latin typeface="微软雅黑" panose="020B0503020204020204" pitchFamily="34" charset="-122"/>
                <a:ea typeface="微软雅黑" panose="020B0503020204020204" pitchFamily="34" charset="-122"/>
              </a:rPr>
              <a:t>伦理与医疗</a:t>
            </a:r>
            <a:r>
              <a:rPr lang="en-US" altLang="zh-CN" sz="900" dirty="0">
                <a:latin typeface="微软雅黑" panose="020B0503020204020204" pitchFamily="34" charset="-122"/>
                <a:ea typeface="微软雅黑" panose="020B0503020204020204" pitchFamily="34" charset="-122"/>
              </a:rPr>
              <a:t>AI</a:t>
            </a:r>
            <a:r>
              <a:rPr lang="zh-CN" altLang="en-US" sz="900" dirty="0">
                <a:latin typeface="微软雅黑" panose="020B0503020204020204" pitchFamily="34" charset="-122"/>
                <a:ea typeface="微软雅黑" panose="020B0503020204020204" pitchFamily="34" charset="-122"/>
              </a:rPr>
              <a:t>研究</a:t>
            </a:r>
          </a:p>
        </p:txBody>
      </p:sp>
      <p:pic>
        <p:nvPicPr>
          <p:cNvPr id="37" name="Picture 6">
            <a:extLst>
              <a:ext uri="{FF2B5EF4-FFF2-40B4-BE49-F238E27FC236}">
                <a16:creationId xmlns:a16="http://schemas.microsoft.com/office/drawing/2014/main" id="{C5838C27-B6D3-42C2-8F11-5C648B526F1C}"/>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tretch>
            <a:fillRect/>
          </a:stretch>
        </p:blipFill>
        <p:spPr bwMode="auto">
          <a:xfrm>
            <a:off x="3334655" y="3737899"/>
            <a:ext cx="900590" cy="108011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8" name="矩形 37">
            <a:extLst>
              <a:ext uri="{FF2B5EF4-FFF2-40B4-BE49-F238E27FC236}">
                <a16:creationId xmlns:a16="http://schemas.microsoft.com/office/drawing/2014/main" id="{F56E3B70-6040-4A80-9787-607382BD48AC}"/>
              </a:ext>
            </a:extLst>
          </p:cNvPr>
          <p:cNvSpPr/>
          <p:nvPr/>
        </p:nvSpPr>
        <p:spPr>
          <a:xfrm>
            <a:off x="3228610" y="4836428"/>
            <a:ext cx="1137573" cy="323165"/>
          </a:xfrm>
          <a:prstGeom prst="rect">
            <a:avLst/>
          </a:prstGeom>
        </p:spPr>
        <p:txBody>
          <a:bodyPr wrap="square" lIns="0" tIns="0" rIns="0" bIns="0" anchor="ctr" anchorCtr="0">
            <a:spAutoFit/>
          </a:bodyPr>
          <a:lstStyle/>
          <a:p>
            <a:pPr algn="ctr"/>
            <a:r>
              <a:rPr lang="en-US" altLang="zh-CN" sz="1050" dirty="0">
                <a:solidFill>
                  <a:srgbClr val="1F1F1F"/>
                </a:solidFill>
                <a:latin typeface="微软雅黑" panose="020B0503020204020204" pitchFamily="34" charset="-122"/>
                <a:ea typeface="微软雅黑" panose="020B0503020204020204" pitchFamily="34" charset="-122"/>
              </a:rPr>
              <a:t>Sebastian </a:t>
            </a:r>
            <a:r>
              <a:rPr lang="en-US" altLang="zh-CN" sz="1050" dirty="0" err="1">
                <a:solidFill>
                  <a:srgbClr val="1F1F1F"/>
                </a:solidFill>
                <a:latin typeface="微软雅黑" panose="020B0503020204020204" pitchFamily="34" charset="-122"/>
                <a:ea typeface="微软雅黑" panose="020B0503020204020204" pitchFamily="34" charset="-122"/>
              </a:rPr>
              <a:t>Thrun</a:t>
            </a:r>
            <a:endParaRPr lang="en-US" altLang="zh-CN" sz="1050" dirty="0">
              <a:solidFill>
                <a:srgbClr val="1F1F1F"/>
              </a:solidFill>
              <a:latin typeface="微软雅黑" panose="020B0503020204020204" pitchFamily="34" charset="-122"/>
              <a:ea typeface="微软雅黑" panose="020B0503020204020204" pitchFamily="34" charset="-122"/>
            </a:endParaRPr>
          </a:p>
          <a:p>
            <a:pPr algn="ctr"/>
            <a:r>
              <a:rPr lang="zh-CN" altLang="en-US" sz="1050" dirty="0">
                <a:latin typeface="微软雅黑" panose="020B0503020204020204" pitchFamily="34" charset="-122"/>
                <a:ea typeface="微软雅黑" panose="020B0503020204020204" pitchFamily="34" charset="-122"/>
              </a:rPr>
              <a:t>塞巴斯蒂安</a:t>
            </a:r>
            <a:r>
              <a:rPr lang="en-US" altLang="zh-CN" sz="1050" dirty="0">
                <a:latin typeface="微软雅黑" panose="020B0503020204020204" pitchFamily="34" charset="-122"/>
                <a:ea typeface="微软雅黑" panose="020B0503020204020204" pitchFamily="34" charset="-122"/>
              </a:rPr>
              <a:t>·</a:t>
            </a:r>
            <a:r>
              <a:rPr lang="zh-CN" altLang="en-US" sz="1050" dirty="0">
                <a:latin typeface="微软雅黑" panose="020B0503020204020204" pitchFamily="34" charset="-122"/>
                <a:ea typeface="微软雅黑" panose="020B0503020204020204" pitchFamily="34" charset="-122"/>
              </a:rPr>
              <a:t>特龙</a:t>
            </a:r>
            <a:endParaRPr lang="en-US" altLang="zh-CN" sz="1050" dirty="0">
              <a:latin typeface="微软雅黑" panose="020B0503020204020204" pitchFamily="34" charset="-122"/>
              <a:ea typeface="微软雅黑" panose="020B0503020204020204" pitchFamily="34" charset="-122"/>
            </a:endParaRPr>
          </a:p>
        </p:txBody>
      </p:sp>
      <p:sp>
        <p:nvSpPr>
          <p:cNvPr id="39" name="矩形 38">
            <a:extLst>
              <a:ext uri="{FF2B5EF4-FFF2-40B4-BE49-F238E27FC236}">
                <a16:creationId xmlns:a16="http://schemas.microsoft.com/office/drawing/2014/main" id="{F25F6958-1EAB-42D8-873F-B347602087FF}"/>
              </a:ext>
            </a:extLst>
          </p:cNvPr>
          <p:cNvSpPr/>
          <p:nvPr/>
        </p:nvSpPr>
        <p:spPr>
          <a:xfrm>
            <a:off x="3276431" y="5205641"/>
            <a:ext cx="1026114" cy="553998"/>
          </a:xfrm>
          <a:prstGeom prst="rect">
            <a:avLst/>
          </a:prstGeom>
        </p:spPr>
        <p:txBody>
          <a:bodyPr wrap="square" lIns="0" tIns="0" rIns="0" bIns="0">
            <a:spAutoFit/>
          </a:bodyPr>
          <a:lstStyle/>
          <a:p>
            <a:pPr algn="just"/>
            <a:r>
              <a:rPr lang="zh-CN" altLang="en-US" sz="900" dirty="0">
                <a:latin typeface="微软雅黑" panose="020B0503020204020204" pitchFamily="34" charset="-122"/>
                <a:ea typeface="微软雅黑" panose="020B0503020204020204" pitchFamily="34" charset="-122"/>
              </a:rPr>
              <a:t>自动驾驶先驱；领导</a:t>
            </a:r>
            <a:r>
              <a:rPr lang="en-US" altLang="zh-CN" sz="900" dirty="0">
                <a:latin typeface="微软雅黑" panose="020B0503020204020204" pitchFamily="34" charset="-122"/>
                <a:ea typeface="微软雅黑" panose="020B0503020204020204" pitchFamily="34" charset="-122"/>
              </a:rPr>
              <a:t>Google</a:t>
            </a:r>
            <a:r>
              <a:rPr lang="zh-CN" altLang="en-US" sz="900" dirty="0">
                <a:latin typeface="微软雅黑" panose="020B0503020204020204" pitchFamily="34" charset="-122"/>
                <a:ea typeface="微软雅黑" panose="020B0503020204020204" pitchFamily="34" charset="-122"/>
              </a:rPr>
              <a:t>自动驾驶项目；创办</a:t>
            </a:r>
            <a:r>
              <a:rPr lang="en-US" altLang="zh-CN" sz="900" dirty="0">
                <a:latin typeface="微软雅黑" panose="020B0503020204020204" pitchFamily="34" charset="-122"/>
                <a:ea typeface="微软雅黑" panose="020B0503020204020204" pitchFamily="34" charset="-122"/>
              </a:rPr>
              <a:t>Udacity</a:t>
            </a:r>
            <a:r>
              <a:rPr lang="zh-CN" altLang="en-US" sz="900" dirty="0">
                <a:latin typeface="微软雅黑" panose="020B0503020204020204" pitchFamily="34" charset="-122"/>
                <a:ea typeface="微软雅黑" panose="020B0503020204020204" pitchFamily="34" charset="-122"/>
              </a:rPr>
              <a:t>在线教育平台</a:t>
            </a:r>
          </a:p>
        </p:txBody>
      </p:sp>
      <p:pic>
        <p:nvPicPr>
          <p:cNvPr id="40" name="Picture 6">
            <a:extLst>
              <a:ext uri="{FF2B5EF4-FFF2-40B4-BE49-F238E27FC236}">
                <a16:creationId xmlns:a16="http://schemas.microsoft.com/office/drawing/2014/main" id="{2FC97460-A519-4478-BDBA-14C384A45461}"/>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tretch>
            <a:fillRect/>
          </a:stretch>
        </p:blipFill>
        <p:spPr bwMode="auto">
          <a:xfrm>
            <a:off x="4805578" y="3737899"/>
            <a:ext cx="864891" cy="108011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1" name="矩形 40">
            <a:extLst>
              <a:ext uri="{FF2B5EF4-FFF2-40B4-BE49-F238E27FC236}">
                <a16:creationId xmlns:a16="http://schemas.microsoft.com/office/drawing/2014/main" id="{4ABFD2BB-5056-45FE-80D7-48250D979390}"/>
              </a:ext>
            </a:extLst>
          </p:cNvPr>
          <p:cNvSpPr/>
          <p:nvPr/>
        </p:nvSpPr>
        <p:spPr>
          <a:xfrm>
            <a:off x="4663298" y="4836428"/>
            <a:ext cx="1120832" cy="323165"/>
          </a:xfrm>
          <a:prstGeom prst="rect">
            <a:avLst/>
          </a:prstGeom>
        </p:spPr>
        <p:txBody>
          <a:bodyPr wrap="square" lIns="0" tIns="0" rIns="0" bIns="0" anchor="ctr" anchorCtr="0">
            <a:spAutoFit/>
          </a:bodyPr>
          <a:lstStyle/>
          <a:p>
            <a:pPr algn="ctr"/>
            <a:r>
              <a:rPr lang="en-US" altLang="zh-CN" sz="1050" dirty="0" err="1">
                <a:solidFill>
                  <a:srgbClr val="1F1F1F"/>
                </a:solidFill>
                <a:latin typeface="微软雅黑" panose="020B0503020204020204" pitchFamily="34" charset="-122"/>
                <a:ea typeface="微软雅黑" panose="020B0503020204020204" pitchFamily="34" charset="-122"/>
              </a:rPr>
              <a:t>Demis</a:t>
            </a:r>
            <a:r>
              <a:rPr lang="en-US" altLang="zh-CN" sz="1050" dirty="0">
                <a:solidFill>
                  <a:srgbClr val="1F1F1F"/>
                </a:solidFill>
                <a:latin typeface="微软雅黑" panose="020B0503020204020204" pitchFamily="34" charset="-122"/>
                <a:ea typeface="微软雅黑" panose="020B0503020204020204" pitchFamily="34" charset="-122"/>
              </a:rPr>
              <a:t> Hassabis</a:t>
            </a:r>
          </a:p>
          <a:p>
            <a:pPr algn="ctr"/>
            <a:r>
              <a:rPr lang="zh-CN" altLang="en-US" sz="1050" dirty="0">
                <a:latin typeface="微软雅黑" panose="020B0503020204020204" pitchFamily="34" charset="-122"/>
                <a:ea typeface="微软雅黑" panose="020B0503020204020204" pitchFamily="34" charset="-122"/>
              </a:rPr>
              <a:t>杰米斯</a:t>
            </a:r>
            <a:r>
              <a:rPr lang="en-US" altLang="zh-CN" sz="1050" dirty="0">
                <a:latin typeface="微软雅黑" panose="020B0503020204020204" pitchFamily="34" charset="-122"/>
                <a:ea typeface="微软雅黑" panose="020B0503020204020204" pitchFamily="34" charset="-122"/>
              </a:rPr>
              <a:t>·</a:t>
            </a:r>
            <a:r>
              <a:rPr lang="zh-CN" altLang="en-US" sz="1050" dirty="0">
                <a:latin typeface="微软雅黑" panose="020B0503020204020204" pitchFamily="34" charset="-122"/>
                <a:ea typeface="微软雅黑" panose="020B0503020204020204" pitchFamily="34" charset="-122"/>
              </a:rPr>
              <a:t>哈萨比斯</a:t>
            </a:r>
            <a:endParaRPr lang="en-US" altLang="zh-CN" sz="1050" dirty="0">
              <a:latin typeface="微软雅黑" panose="020B0503020204020204" pitchFamily="34" charset="-122"/>
              <a:ea typeface="微软雅黑" panose="020B0503020204020204" pitchFamily="34" charset="-122"/>
            </a:endParaRPr>
          </a:p>
        </p:txBody>
      </p:sp>
      <p:sp>
        <p:nvSpPr>
          <p:cNvPr id="42" name="矩形 41">
            <a:extLst>
              <a:ext uri="{FF2B5EF4-FFF2-40B4-BE49-F238E27FC236}">
                <a16:creationId xmlns:a16="http://schemas.microsoft.com/office/drawing/2014/main" id="{0D8056AC-BFDC-4A70-A9DD-ECEBEBA64879}"/>
              </a:ext>
            </a:extLst>
          </p:cNvPr>
          <p:cNvSpPr/>
          <p:nvPr/>
        </p:nvSpPr>
        <p:spPr>
          <a:xfrm>
            <a:off x="4702749" y="5205641"/>
            <a:ext cx="1026114" cy="553998"/>
          </a:xfrm>
          <a:prstGeom prst="rect">
            <a:avLst/>
          </a:prstGeom>
        </p:spPr>
        <p:txBody>
          <a:bodyPr wrap="square" lIns="0" tIns="0" rIns="0" bIns="0">
            <a:spAutoFit/>
          </a:bodyPr>
          <a:lstStyle/>
          <a:p>
            <a:pPr algn="just"/>
            <a:r>
              <a:rPr lang="en-US" altLang="zh-CN" sz="900" dirty="0">
                <a:latin typeface="微软雅黑" panose="020B0503020204020204" pitchFamily="34" charset="-122"/>
                <a:ea typeface="微软雅黑" panose="020B0503020204020204" pitchFamily="34" charset="-122"/>
              </a:rPr>
              <a:t>DeepMind</a:t>
            </a:r>
            <a:r>
              <a:rPr lang="zh-CN" altLang="en-US" sz="900" dirty="0">
                <a:latin typeface="微软雅黑" panose="020B0503020204020204" pitchFamily="34" charset="-122"/>
                <a:ea typeface="微软雅黑" panose="020B0503020204020204" pitchFamily="34" charset="-122"/>
              </a:rPr>
              <a:t>联合创始人；</a:t>
            </a:r>
            <a:r>
              <a:rPr lang="en-US" altLang="zh-CN" sz="900" dirty="0">
                <a:latin typeface="微软雅黑" panose="020B0503020204020204" pitchFamily="34" charset="-122"/>
                <a:ea typeface="微软雅黑" panose="020B0503020204020204" pitchFamily="34" charset="-122"/>
              </a:rPr>
              <a:t>AlphaGo</a:t>
            </a:r>
            <a:r>
              <a:rPr lang="zh-CN" altLang="en-US" sz="900" dirty="0">
                <a:latin typeface="微软雅黑" panose="020B0503020204020204" pitchFamily="34" charset="-122"/>
                <a:ea typeface="微软雅黑" panose="020B0503020204020204" pitchFamily="34" charset="-122"/>
              </a:rPr>
              <a:t>、</a:t>
            </a:r>
            <a:r>
              <a:rPr lang="en-US" altLang="zh-CN" sz="900" dirty="0" err="1">
                <a:latin typeface="微软雅黑" panose="020B0503020204020204" pitchFamily="34" charset="-122"/>
                <a:ea typeface="微软雅黑" panose="020B0503020204020204" pitchFamily="34" charset="-122"/>
              </a:rPr>
              <a:t>AlphaFold</a:t>
            </a:r>
            <a:r>
              <a:rPr lang="en-US" altLang="zh-CN" sz="900" dirty="0">
                <a:latin typeface="微软雅黑" panose="020B0503020204020204" pitchFamily="34" charset="-122"/>
                <a:ea typeface="微软雅黑" panose="020B0503020204020204" pitchFamily="34" charset="-122"/>
              </a:rPr>
              <a:t> </a:t>
            </a:r>
            <a:r>
              <a:rPr lang="zh-CN" altLang="en-US" sz="900" dirty="0">
                <a:latin typeface="微软雅黑" panose="020B0503020204020204" pitchFamily="34" charset="-122"/>
                <a:ea typeface="微软雅黑" panose="020B0503020204020204" pitchFamily="34" charset="-122"/>
              </a:rPr>
              <a:t>等突破性项目领导者</a:t>
            </a:r>
          </a:p>
        </p:txBody>
      </p:sp>
      <p:pic>
        <p:nvPicPr>
          <p:cNvPr id="43" name="Picture 6">
            <a:extLst>
              <a:ext uri="{FF2B5EF4-FFF2-40B4-BE49-F238E27FC236}">
                <a16:creationId xmlns:a16="http://schemas.microsoft.com/office/drawing/2014/main" id="{4D4A7A84-FC1C-4392-960E-BA0B0F60CEA0}"/>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tretch>
            <a:fillRect/>
          </a:stretch>
        </p:blipFill>
        <p:spPr bwMode="auto">
          <a:xfrm>
            <a:off x="6268057" y="3737899"/>
            <a:ext cx="827924" cy="108011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4" name="矩形 43">
            <a:extLst>
              <a:ext uri="{FF2B5EF4-FFF2-40B4-BE49-F238E27FC236}">
                <a16:creationId xmlns:a16="http://schemas.microsoft.com/office/drawing/2014/main" id="{E28FF17D-234D-455F-9B7F-57BB43BB592B}"/>
              </a:ext>
            </a:extLst>
          </p:cNvPr>
          <p:cNvSpPr/>
          <p:nvPr/>
        </p:nvSpPr>
        <p:spPr>
          <a:xfrm>
            <a:off x="6039901" y="4836428"/>
            <a:ext cx="1255617" cy="323165"/>
          </a:xfrm>
          <a:prstGeom prst="rect">
            <a:avLst/>
          </a:prstGeom>
        </p:spPr>
        <p:txBody>
          <a:bodyPr wrap="square" lIns="0" tIns="0" rIns="0" bIns="0" anchor="ctr" anchorCtr="0">
            <a:spAutoFit/>
          </a:bodyPr>
          <a:lstStyle/>
          <a:p>
            <a:pPr algn="ctr"/>
            <a:r>
              <a:rPr lang="en-US" altLang="zh-CN" sz="1050" dirty="0" err="1">
                <a:solidFill>
                  <a:srgbClr val="1F1F1F"/>
                </a:solidFill>
                <a:latin typeface="微软雅黑" panose="020B0503020204020204" pitchFamily="34" charset="-122"/>
                <a:ea typeface="微软雅黑" panose="020B0503020204020204" pitchFamily="34" charset="-122"/>
              </a:rPr>
              <a:t>Kaiming</a:t>
            </a:r>
            <a:r>
              <a:rPr lang="en-US" altLang="zh-CN" sz="1050" dirty="0">
                <a:solidFill>
                  <a:srgbClr val="1F1F1F"/>
                </a:solidFill>
                <a:latin typeface="微软雅黑" panose="020B0503020204020204" pitchFamily="34" charset="-122"/>
                <a:ea typeface="微软雅黑" panose="020B0503020204020204" pitchFamily="34" charset="-122"/>
              </a:rPr>
              <a:t> He</a:t>
            </a:r>
          </a:p>
          <a:p>
            <a:pPr algn="ctr"/>
            <a:r>
              <a:rPr lang="zh-CN" altLang="en-US" sz="1050" dirty="0">
                <a:latin typeface="微软雅黑" panose="020B0503020204020204" pitchFamily="34" charset="-122"/>
                <a:ea typeface="微软雅黑" panose="020B0503020204020204" pitchFamily="34" charset="-122"/>
              </a:rPr>
              <a:t>何恺明</a:t>
            </a:r>
            <a:endParaRPr lang="en-US" altLang="zh-CN" sz="1050" dirty="0">
              <a:latin typeface="微软雅黑" panose="020B0503020204020204" pitchFamily="34" charset="-122"/>
              <a:ea typeface="微软雅黑" panose="020B0503020204020204" pitchFamily="34" charset="-122"/>
            </a:endParaRPr>
          </a:p>
        </p:txBody>
      </p:sp>
      <p:sp>
        <p:nvSpPr>
          <p:cNvPr id="45" name="矩形 44">
            <a:extLst>
              <a:ext uri="{FF2B5EF4-FFF2-40B4-BE49-F238E27FC236}">
                <a16:creationId xmlns:a16="http://schemas.microsoft.com/office/drawing/2014/main" id="{076FB541-3A3E-42D9-817A-FF7F99CB64E3}"/>
              </a:ext>
            </a:extLst>
          </p:cNvPr>
          <p:cNvSpPr/>
          <p:nvPr/>
        </p:nvSpPr>
        <p:spPr>
          <a:xfrm>
            <a:off x="6146744" y="5205641"/>
            <a:ext cx="1026114" cy="553998"/>
          </a:xfrm>
          <a:prstGeom prst="rect">
            <a:avLst/>
          </a:prstGeom>
        </p:spPr>
        <p:txBody>
          <a:bodyPr wrap="square" lIns="0" tIns="0" rIns="0" bIns="0">
            <a:spAutoFit/>
          </a:bodyPr>
          <a:lstStyle/>
          <a:p>
            <a:pPr algn="just"/>
            <a:r>
              <a:rPr lang="zh-CN" altLang="en-US" sz="900" dirty="0">
                <a:latin typeface="微软雅黑" panose="020B0503020204020204" pitchFamily="34" charset="-122"/>
                <a:ea typeface="微软雅黑" panose="020B0503020204020204" pitchFamily="34" charset="-122"/>
              </a:rPr>
              <a:t>提出 </a:t>
            </a:r>
            <a:r>
              <a:rPr lang="en-US" altLang="zh-CN" sz="900" dirty="0" err="1">
                <a:latin typeface="微软雅黑" panose="020B0503020204020204" pitchFamily="34" charset="-122"/>
                <a:ea typeface="微软雅黑" panose="020B0503020204020204" pitchFamily="34" charset="-122"/>
              </a:rPr>
              <a:t>ResNet</a:t>
            </a:r>
            <a:r>
              <a:rPr lang="zh-CN" altLang="en-US" sz="900" dirty="0">
                <a:latin typeface="微软雅黑" panose="020B0503020204020204" pitchFamily="34" charset="-122"/>
                <a:ea typeface="微软雅黑" panose="020B0503020204020204" pitchFamily="34" charset="-122"/>
              </a:rPr>
              <a:t>（残差网络），</a:t>
            </a:r>
            <a:r>
              <a:rPr lang="en-US" altLang="zh-CN" sz="900" dirty="0">
                <a:latin typeface="微软雅黑" panose="020B0503020204020204" pitchFamily="34" charset="-122"/>
                <a:ea typeface="微软雅黑" panose="020B0503020204020204" pitchFamily="34" charset="-122"/>
              </a:rPr>
              <a:t>ImageNet</a:t>
            </a:r>
            <a:r>
              <a:rPr lang="zh-CN" altLang="en-US" sz="900" dirty="0">
                <a:latin typeface="微软雅黑" panose="020B0503020204020204" pitchFamily="34" charset="-122"/>
                <a:ea typeface="微软雅黑" panose="020B0503020204020204" pitchFamily="34" charset="-122"/>
              </a:rPr>
              <a:t>冠军模型；推动了计算机视觉发展</a:t>
            </a:r>
          </a:p>
        </p:txBody>
      </p:sp>
      <p:sp>
        <p:nvSpPr>
          <p:cNvPr id="46" name="矩形 45">
            <a:extLst>
              <a:ext uri="{FF2B5EF4-FFF2-40B4-BE49-F238E27FC236}">
                <a16:creationId xmlns:a16="http://schemas.microsoft.com/office/drawing/2014/main" id="{1DD75161-4F91-4EBC-A4EA-B095A9797515}"/>
              </a:ext>
            </a:extLst>
          </p:cNvPr>
          <p:cNvSpPr/>
          <p:nvPr/>
        </p:nvSpPr>
        <p:spPr>
          <a:xfrm>
            <a:off x="7367436" y="4836428"/>
            <a:ext cx="1484684" cy="323165"/>
          </a:xfrm>
          <a:prstGeom prst="rect">
            <a:avLst/>
          </a:prstGeom>
        </p:spPr>
        <p:txBody>
          <a:bodyPr wrap="square" lIns="0" tIns="0" rIns="0" bIns="0" anchor="ctr" anchorCtr="0">
            <a:spAutoFit/>
          </a:bodyPr>
          <a:lstStyle/>
          <a:p>
            <a:pPr algn="ctr"/>
            <a:r>
              <a:rPr lang="en-US" altLang="zh-CN" sz="1050" dirty="0">
                <a:solidFill>
                  <a:srgbClr val="1F1F1F"/>
                </a:solidFill>
                <a:latin typeface="微软雅黑" panose="020B0503020204020204" pitchFamily="34" charset="-122"/>
                <a:ea typeface="微软雅黑" panose="020B0503020204020204" pitchFamily="34" charset="-122"/>
              </a:rPr>
              <a:t>David Silver</a:t>
            </a:r>
          </a:p>
          <a:p>
            <a:pPr algn="ctr"/>
            <a:r>
              <a:rPr lang="zh-CN" altLang="en-US" sz="1050" dirty="0">
                <a:latin typeface="微软雅黑" panose="020B0503020204020204" pitchFamily="34" charset="-122"/>
                <a:ea typeface="微软雅黑" panose="020B0503020204020204" pitchFamily="34" charset="-122"/>
              </a:rPr>
              <a:t>大卫</a:t>
            </a:r>
            <a:r>
              <a:rPr lang="en-US" altLang="zh-CN" sz="1050" dirty="0">
                <a:latin typeface="微软雅黑" panose="020B0503020204020204" pitchFamily="34" charset="-122"/>
                <a:ea typeface="微软雅黑" panose="020B0503020204020204" pitchFamily="34" charset="-122"/>
              </a:rPr>
              <a:t>·</a:t>
            </a:r>
            <a:r>
              <a:rPr lang="zh-CN" altLang="en-US" sz="1050" dirty="0">
                <a:latin typeface="微软雅黑" panose="020B0503020204020204" pitchFamily="34" charset="-122"/>
                <a:ea typeface="微软雅黑" panose="020B0503020204020204" pitchFamily="34" charset="-122"/>
              </a:rPr>
              <a:t>席尔瓦</a:t>
            </a:r>
            <a:endParaRPr lang="en-US" altLang="zh-CN" sz="1050" dirty="0">
              <a:latin typeface="微软雅黑" panose="020B0503020204020204" pitchFamily="34" charset="-122"/>
              <a:ea typeface="微软雅黑" panose="020B0503020204020204" pitchFamily="34" charset="-122"/>
            </a:endParaRPr>
          </a:p>
        </p:txBody>
      </p:sp>
      <p:sp>
        <p:nvSpPr>
          <p:cNvPr id="47" name="矩形 46">
            <a:extLst>
              <a:ext uri="{FF2B5EF4-FFF2-40B4-BE49-F238E27FC236}">
                <a16:creationId xmlns:a16="http://schemas.microsoft.com/office/drawing/2014/main" id="{0B213A67-B1C8-4E99-B90F-081BC6785ACC}"/>
              </a:ext>
            </a:extLst>
          </p:cNvPr>
          <p:cNvSpPr/>
          <p:nvPr/>
        </p:nvSpPr>
        <p:spPr>
          <a:xfrm>
            <a:off x="7464770" y="5205641"/>
            <a:ext cx="1274198" cy="553998"/>
          </a:xfrm>
          <a:prstGeom prst="rect">
            <a:avLst/>
          </a:prstGeom>
        </p:spPr>
        <p:txBody>
          <a:bodyPr wrap="square" lIns="0" tIns="0" rIns="0" bIns="0">
            <a:spAutoFit/>
          </a:bodyPr>
          <a:lstStyle/>
          <a:p>
            <a:pPr algn="just"/>
            <a:r>
              <a:rPr lang="en-US" altLang="zh-CN" sz="900" dirty="0">
                <a:latin typeface="微软雅黑" panose="020B0503020204020204" pitchFamily="34" charset="-122"/>
                <a:ea typeface="微软雅黑" panose="020B0503020204020204" pitchFamily="34" charset="-122"/>
              </a:rPr>
              <a:t>DeepMind</a:t>
            </a:r>
            <a:r>
              <a:rPr lang="zh-CN" altLang="en-US" sz="900" dirty="0">
                <a:latin typeface="微软雅黑" panose="020B0503020204020204" pitchFamily="34" charset="-122"/>
                <a:ea typeface="微软雅黑" panose="020B0503020204020204" pitchFamily="34" charset="-122"/>
              </a:rPr>
              <a:t>首席研究员，主导开发了 </a:t>
            </a:r>
            <a:r>
              <a:rPr lang="en-US" altLang="zh-CN" sz="900" dirty="0">
                <a:latin typeface="微软雅黑" panose="020B0503020204020204" pitchFamily="34" charset="-122"/>
                <a:ea typeface="微软雅黑" panose="020B0503020204020204" pitchFamily="34" charset="-122"/>
              </a:rPr>
              <a:t>AlphaGo</a:t>
            </a:r>
            <a:r>
              <a:rPr lang="zh-CN" altLang="en-US" sz="900" dirty="0">
                <a:latin typeface="微软雅黑" panose="020B0503020204020204" pitchFamily="34" charset="-122"/>
                <a:ea typeface="微软雅黑" panose="020B0503020204020204" pitchFamily="34" charset="-122"/>
              </a:rPr>
              <a:t>、</a:t>
            </a:r>
            <a:r>
              <a:rPr lang="en-US" altLang="zh-CN" sz="900" dirty="0" err="1">
                <a:latin typeface="微软雅黑" panose="020B0503020204020204" pitchFamily="34" charset="-122"/>
                <a:ea typeface="微软雅黑" panose="020B0503020204020204" pitchFamily="34" charset="-122"/>
              </a:rPr>
              <a:t>AlphaZero</a:t>
            </a:r>
            <a:r>
              <a:rPr lang="en-US" altLang="zh-CN" sz="900" dirty="0">
                <a:latin typeface="微软雅黑" panose="020B0503020204020204" pitchFamily="34" charset="-122"/>
                <a:ea typeface="微软雅黑" panose="020B0503020204020204" pitchFamily="34" charset="-122"/>
              </a:rPr>
              <a:t> </a:t>
            </a:r>
            <a:r>
              <a:rPr lang="zh-CN" altLang="en-US" sz="900" dirty="0">
                <a:latin typeface="微软雅黑" panose="020B0503020204020204" pitchFamily="34" charset="-122"/>
                <a:ea typeface="微软雅黑" panose="020B0503020204020204" pitchFamily="34" charset="-122"/>
              </a:rPr>
              <a:t>和 </a:t>
            </a:r>
            <a:r>
              <a:rPr lang="en-US" altLang="zh-CN" sz="900" dirty="0" err="1">
                <a:latin typeface="微软雅黑" panose="020B0503020204020204" pitchFamily="34" charset="-122"/>
                <a:ea typeface="微软雅黑" panose="020B0503020204020204" pitchFamily="34" charset="-122"/>
              </a:rPr>
              <a:t>MuZero</a:t>
            </a:r>
            <a:r>
              <a:rPr lang="en-US" altLang="zh-CN" sz="900" dirty="0">
                <a:latin typeface="微软雅黑" panose="020B0503020204020204" pitchFamily="34" charset="-122"/>
                <a:ea typeface="微软雅黑" panose="020B0503020204020204" pitchFamily="34" charset="-122"/>
              </a:rPr>
              <a:t> </a:t>
            </a:r>
            <a:r>
              <a:rPr lang="zh-CN" altLang="en-US" sz="900" dirty="0">
                <a:latin typeface="微软雅黑" panose="020B0503020204020204" pitchFamily="34" charset="-122"/>
                <a:ea typeface="微软雅黑" panose="020B0503020204020204" pitchFamily="34" charset="-122"/>
              </a:rPr>
              <a:t>等强化学习系统</a:t>
            </a:r>
          </a:p>
        </p:txBody>
      </p:sp>
      <p:pic>
        <p:nvPicPr>
          <p:cNvPr id="48" name="Picture 8">
            <a:extLst>
              <a:ext uri="{FF2B5EF4-FFF2-40B4-BE49-F238E27FC236}">
                <a16:creationId xmlns:a16="http://schemas.microsoft.com/office/drawing/2014/main" id="{D3712056-2456-4479-BC27-132928C541A4}"/>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tretch>
            <a:fillRect/>
          </a:stretch>
        </p:blipFill>
        <p:spPr bwMode="auto">
          <a:xfrm>
            <a:off x="7637643" y="3737899"/>
            <a:ext cx="924688" cy="108012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6835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txBox="1">
            <a:spLocks noGrp="1"/>
          </p:cNvSpPr>
          <p:nvPr>
            <p:ph type="sldNum" sz="quarter" idx="12"/>
          </p:nvPr>
        </p:nvSpPr>
        <p:spPr>
          <a:noFill/>
          <a:ln>
            <a:noFill/>
          </a:ln>
        </p:spPr>
        <p:txBody>
          <a:bodyPr anchor="ctr"/>
          <a:lstStyle/>
          <a:p>
            <a:pPr marL="0" indent="0" algn="r" eaLnBrk="1" hangingPunct="1">
              <a:spcBef>
                <a:spcPct val="0"/>
              </a:spcBef>
              <a:buFontTx/>
              <a:buNone/>
            </a:pPr>
            <a:fld id="{9A0DB2DC-4C9A-4742-B13C-FB6460FD3503}" type="slidenum">
              <a:rPr lang="en-US" altLang="zh-CN" sz="1400" dirty="0">
                <a:latin typeface="Times New Roman" panose="02020603050405020304" pitchFamily="18" charset="0"/>
              </a:rPr>
              <a:t>20</a:t>
            </a:fld>
            <a:endParaRPr lang="en-US" altLang="zh-CN" sz="1400" dirty="0">
              <a:latin typeface="Times New Roman" panose="02020603050405020304" pitchFamily="18" charset="0"/>
            </a:endParaRPr>
          </a:p>
        </p:txBody>
      </p:sp>
      <p:sp>
        <p:nvSpPr>
          <p:cNvPr id="20483" name="Text Box 4"/>
          <p:cNvSpPr txBox="1"/>
          <p:nvPr/>
        </p:nvSpPr>
        <p:spPr>
          <a:xfrm>
            <a:off x="684213" y="620713"/>
            <a:ext cx="8134350" cy="57943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457200" lvl="0" indent="-457200" eaLnBrk="1" hangingPunct="1">
              <a:spcBef>
                <a:spcPct val="50000"/>
              </a:spcBef>
              <a:buFontTx/>
              <a:buNone/>
            </a:pPr>
            <a:r>
              <a:rPr lang="zh-CN" altLang="en-US" b="1" dirty="0">
                <a:latin typeface="黑体" panose="02010609060101010101" pitchFamily="49" charset="-122"/>
                <a:ea typeface="黑体" panose="02010609060101010101" pitchFamily="49" charset="-122"/>
              </a:rPr>
              <a:t>机器学习的应用成果（</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a:t>
            </a:r>
          </a:p>
        </p:txBody>
      </p:sp>
      <p:sp>
        <p:nvSpPr>
          <p:cNvPr id="8" name="文本框 7"/>
          <p:cNvSpPr txBox="1"/>
          <p:nvPr/>
        </p:nvSpPr>
        <p:spPr>
          <a:xfrm>
            <a:off x="827088" y="1287463"/>
            <a:ext cx="7345363" cy="523875"/>
          </a:xfrm>
          <a:prstGeom prst="rect">
            <a:avLst/>
          </a:prstGeom>
          <a:noFill/>
        </p:spPr>
        <p:txBody>
          <a:bodyPr wrap="square">
            <a:spAutoFit/>
          </a:bodyPr>
          <a:lstStyle/>
          <a:p>
            <a:pPr marL="457200" marR="0" indent="-457200" defTabSz="914400">
              <a:buClr>
                <a:srgbClr val="FF0000"/>
              </a:buClr>
              <a:buSzTx/>
              <a:buFont typeface="Wingdings" panose="05000000000000000000" pitchFamily="2" charset="2"/>
              <a:buChar char="p"/>
              <a:defRPr/>
            </a:pPr>
            <a:r>
              <a:rPr kumimoji="1" lang="en-US" altLang="zh-CN" sz="2800" b="1" kern="0" cap="none" spc="0" normalizeH="0" baseline="0" noProof="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AlphaGo Zero</a:t>
            </a:r>
            <a:r>
              <a:rPr kumimoji="1" lang="zh-CN" altLang="en-US" sz="2800" b="1" kern="0" cap="none" spc="0" normalizeH="0" baseline="0" noProof="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：新的潘多拉魔盒被开启</a:t>
            </a:r>
            <a:endParaRPr kumimoji="0" lang="zh-CN" altLang="en-US" kern="1200" cap="none" spc="0" normalizeH="0" baseline="0" noProof="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内容占位符 3"/>
          <p:cNvSpPr>
            <a:spLocks noGrp="1"/>
          </p:cNvSpPr>
          <p:nvPr>
            <p:ph idx="1"/>
          </p:nvPr>
        </p:nvSpPr>
        <p:spPr>
          <a:xfrm>
            <a:off x="539552" y="1851025"/>
            <a:ext cx="8278693" cy="1527175"/>
          </a:xfrm>
        </p:spPr>
        <p:txBody>
          <a:bodyPr vert="horz" wrap="square" lIns="91440" tIns="45720" rIns="91440" bIns="45720" numCol="1" anchor="t" anchorCtr="0" compatLnSpc="1">
            <a:noAutofit/>
          </a:bodyPr>
          <a:lstStyle/>
          <a:p>
            <a:pPr marL="342900" marR="0" lvl="0" indent="-342900" algn="just" defTabSz="914400" rtl="0" eaLnBrk="0" fontAlgn="base" latinLnBrk="0" hangingPunct="0">
              <a:lnSpc>
                <a:spcPct val="100000"/>
              </a:lnSpc>
              <a:spcBef>
                <a:spcPct val="20000"/>
              </a:spcBef>
              <a:spcAft>
                <a:spcPct val="0"/>
              </a:spcAft>
              <a:buClr>
                <a:srgbClr val="FF0000"/>
              </a:buClr>
              <a:buSzTx/>
              <a:buFont typeface="Arial" panose="020B0604020202020204" pitchFamily="34" charset="0"/>
              <a:buChar char="•"/>
              <a:defRPr/>
            </a:pP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2017</a:t>
            </a:r>
            <a:r>
              <a:rPr kumimoji="0"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年</a:t>
            </a:r>
            <a:r>
              <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10</a:t>
            </a:r>
            <a:r>
              <a:rPr kumimoji="0"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月</a:t>
            </a:r>
            <a:r>
              <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18</a:t>
            </a:r>
            <a:r>
              <a:rPr kumimoji="0"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日，位于英国伦敦的</a:t>
            </a:r>
            <a:r>
              <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DeepMind</a:t>
            </a:r>
            <a:r>
              <a:rPr kumimoji="0"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团队公布了</a:t>
            </a:r>
            <a:r>
              <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AlphaGo Zero</a:t>
            </a:r>
            <a:r>
              <a:rPr kumimoji="0"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，使得AlphaGo再次登上世界顶级科学杂志——《</a:t>
            </a:r>
            <a:r>
              <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Nature</a:t>
            </a:r>
            <a:r>
              <a:rPr kumimoji="0"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 团队称，AlphaGo Zero的水平已经超过之前所有版本的AlphaGo。AlphaGo Zero与前三代最大的不同是它采用最新的强化学习技术，能从空白状态学起，在无任何人类输入的条件下，迅速自学围棋。</a:t>
            </a:r>
          </a:p>
          <a:p>
            <a:pPr marL="342900" marR="0" lvl="0" indent="-342900" algn="just" defTabSz="914400" rtl="0" eaLnBrk="0" fontAlgn="base" latinLnBrk="0" hangingPunct="0">
              <a:lnSpc>
                <a:spcPct val="100000"/>
              </a:lnSpc>
              <a:spcBef>
                <a:spcPct val="20000"/>
              </a:spcBef>
              <a:spcAft>
                <a:spcPct val="0"/>
              </a:spcAft>
              <a:buClr>
                <a:srgbClr val="FF0000"/>
              </a:buClr>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342900" marR="0" lvl="0" indent="-342900" algn="just" defTabSz="914400" rtl="0" eaLnBrk="0" fontAlgn="base" latinLnBrk="0" hangingPunct="0">
              <a:lnSpc>
                <a:spcPct val="100000"/>
              </a:lnSpc>
              <a:spcBef>
                <a:spcPct val="20000"/>
              </a:spcBef>
              <a:spcAft>
                <a:spcPct val="0"/>
              </a:spcAft>
              <a:buClr>
                <a:srgbClr val="FF0000"/>
              </a:buClr>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just" defTabSz="914400" rtl="0" eaLnBrk="0" fontAlgn="base" latinLnBrk="0" hangingPunct="0">
              <a:lnSpc>
                <a:spcPct val="100000"/>
              </a:lnSpc>
              <a:spcBef>
                <a:spcPct val="20000"/>
              </a:spcBef>
              <a:spcAft>
                <a:spcPct val="0"/>
              </a:spcAft>
              <a:buClr>
                <a:srgbClr val="FF0000"/>
              </a:buClr>
              <a:buSzTx/>
              <a:buFont typeface="Arial" panose="020B0604020202020204" pitchFamily="34" charset="0"/>
              <a:buNone/>
              <a:defRPr/>
            </a:pPr>
            <a:endPar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0" marR="0" lvl="0" indent="0" algn="just" defTabSz="914400" rtl="0" eaLnBrk="0" fontAlgn="base" latinLnBrk="0" hangingPunct="0">
              <a:lnSpc>
                <a:spcPct val="100000"/>
              </a:lnSpc>
              <a:spcBef>
                <a:spcPct val="20000"/>
              </a:spcBef>
              <a:spcAft>
                <a:spcPct val="0"/>
              </a:spcAft>
              <a:buClr>
                <a:srgbClr val="FF0000"/>
              </a:buClr>
              <a:buSzTx/>
              <a:buFont typeface="Arial" panose="020B0604020202020204" pitchFamily="34" charset="0"/>
              <a:buNone/>
              <a:defRPr/>
            </a:pPr>
            <a:endPar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742950" marR="0" lvl="1" indent="-285750" algn="just" defTabSz="914400" rtl="0" eaLnBrk="0" fontAlgn="base" latinLnBrk="0" hangingPunct="0">
              <a:lnSpc>
                <a:spcPct val="100000"/>
              </a:lnSpc>
              <a:spcBef>
                <a:spcPct val="20000"/>
              </a:spcBef>
              <a:spcAft>
                <a:spcPct val="0"/>
              </a:spcAft>
              <a:buClr>
                <a:srgbClr val="FF0000"/>
              </a:buClr>
              <a:buSzTx/>
              <a:buFont typeface="Arial" panose="020B0604020202020204" pitchFamily="34" charset="0"/>
              <a:buChar char="–"/>
              <a:defRPr/>
            </a:pPr>
            <a:endParaRPr kumimoji="0" lang="en-US" altLang="zh-CN" sz="16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5607" name="内容占位符 2"/>
          <p:cNvSpPr>
            <a:spLocks noGrp="1"/>
          </p:cNvSpPr>
          <p:nvPr/>
        </p:nvSpPr>
        <p:spPr>
          <a:xfrm>
            <a:off x="107504" y="3602355"/>
            <a:ext cx="5112567" cy="199390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914400" lvl="1" indent="-457200">
              <a:spcBef>
                <a:spcPct val="0"/>
              </a:spcBef>
              <a:buClr>
                <a:srgbClr val="FF0000"/>
              </a:buClr>
              <a:buChar char="•"/>
            </a:pPr>
            <a:r>
              <a:rPr lang="zh-CN" altLang="en-US" sz="2000" dirty="0">
                <a:latin typeface="Times New Roman" panose="02020603050405020304" pitchFamily="18" charset="0"/>
                <a:ea typeface="楷体" panose="02010609060101010101" pitchFamily="49" charset="-122"/>
              </a:rPr>
              <a:t>关键技术：</a:t>
            </a:r>
            <a:endParaRPr lang="en-US" altLang="zh-CN" sz="2000" dirty="0">
              <a:latin typeface="Times New Roman" panose="02020603050405020304" pitchFamily="18" charset="0"/>
              <a:ea typeface="楷体" panose="02010609060101010101" pitchFamily="49" charset="-122"/>
            </a:endParaRPr>
          </a:p>
          <a:p>
            <a:pPr marL="1304925" lvl="2" indent="-394970" algn="just">
              <a:buClr>
                <a:srgbClr val="CC0000"/>
              </a:buClr>
              <a:buFont typeface="Wingdings" panose="05000000000000000000" pitchFamily="2" charset="2"/>
              <a:buChar char="ü"/>
            </a:pPr>
            <a:r>
              <a:rPr lang="zh-CN" altLang="en-US" sz="1800" dirty="0">
                <a:latin typeface="Times New Roman" panose="02020603050405020304" pitchFamily="18" charset="0"/>
                <a:ea typeface="华文楷体" panose="02010600040101010101" pitchFamily="2" charset="-122"/>
                <a:cs typeface="Times New Roman" panose="02020603050405020304" pitchFamily="18" charset="0"/>
              </a:rPr>
              <a:t>蒙特卡洛树搜索（</a:t>
            </a:r>
            <a:r>
              <a:rPr lang="en-US" altLang="zh-CN" sz="1800" dirty="0">
                <a:latin typeface="Times New Roman" panose="02020603050405020304" pitchFamily="18" charset="0"/>
                <a:ea typeface="华文楷体" panose="02010600040101010101" pitchFamily="2" charset="-122"/>
                <a:cs typeface="Times New Roman" panose="02020603050405020304" pitchFamily="18" charset="0"/>
              </a:rPr>
              <a:t>Monte Carlo tree search</a:t>
            </a:r>
            <a:r>
              <a:rPr lang="zh-CN" altLang="en-US" sz="1800" dirty="0">
                <a:latin typeface="Times New Roman" panose="02020603050405020304" pitchFamily="18" charset="0"/>
                <a:ea typeface="华文楷体" panose="02010600040101010101" pitchFamily="2" charset="-122"/>
                <a:cs typeface="Times New Roman" panose="02020603050405020304" pitchFamily="18" charset="0"/>
              </a:rPr>
              <a:t>）</a:t>
            </a:r>
          </a:p>
          <a:p>
            <a:pPr marL="1304925" lvl="2" indent="-394970" algn="just">
              <a:buClr>
                <a:srgbClr val="CC0000"/>
              </a:buClr>
              <a:buFont typeface="Wingdings" panose="05000000000000000000" pitchFamily="2" charset="2"/>
              <a:buChar char="ü"/>
            </a:pPr>
            <a:r>
              <a:rPr lang="zh-CN" altLang="en-US" sz="1800" dirty="0">
                <a:latin typeface="Times New Roman" panose="02020603050405020304" pitchFamily="18" charset="0"/>
                <a:ea typeface="华文楷体" panose="02010600040101010101" pitchFamily="2" charset="-122"/>
                <a:cs typeface="Times New Roman" panose="02020603050405020304" pitchFamily="18" charset="0"/>
              </a:rPr>
              <a:t>强化学习（</a:t>
            </a:r>
            <a:r>
              <a:rPr lang="en-US" altLang="zh-CN" sz="1800" dirty="0">
                <a:latin typeface="Times New Roman" panose="02020603050405020304" pitchFamily="18" charset="0"/>
                <a:ea typeface="华文楷体" panose="02010600040101010101" pitchFamily="2" charset="-122"/>
                <a:cs typeface="Times New Roman" panose="02020603050405020304" pitchFamily="18" charset="0"/>
              </a:rPr>
              <a:t>Reinforcement Learning</a:t>
            </a:r>
            <a:r>
              <a:rPr lang="zh-CN" altLang="en-US" sz="1800" dirty="0">
                <a:latin typeface="Times New Roman" panose="02020603050405020304" pitchFamily="18" charset="0"/>
                <a:ea typeface="华文楷体" panose="02010600040101010101" pitchFamily="2" charset="-122"/>
                <a:cs typeface="Times New Roman" panose="02020603050405020304" pitchFamily="18" charset="0"/>
              </a:rPr>
              <a:t>）</a:t>
            </a:r>
          </a:p>
          <a:p>
            <a:pPr marL="1304925" lvl="2" indent="-394970" algn="just">
              <a:buClr>
                <a:srgbClr val="CC0000"/>
              </a:buClr>
              <a:buFont typeface="Wingdings" panose="05000000000000000000" pitchFamily="2" charset="2"/>
              <a:buChar char="ü"/>
            </a:pPr>
            <a:r>
              <a:rPr lang="zh-CN" altLang="en-US" sz="1800" dirty="0">
                <a:latin typeface="Times New Roman" panose="02020603050405020304" pitchFamily="18" charset="0"/>
                <a:ea typeface="华文楷体" panose="02010600040101010101" pitchFamily="2" charset="-122"/>
                <a:cs typeface="Times New Roman" panose="02020603050405020304" pitchFamily="18" charset="0"/>
              </a:rPr>
              <a:t>深度残差神经网络（</a:t>
            </a:r>
            <a:r>
              <a:rPr lang="en-US" altLang="zh-CN" sz="1800" dirty="0">
                <a:latin typeface="Times New Roman" panose="02020603050405020304" pitchFamily="18" charset="0"/>
                <a:ea typeface="华文楷体" panose="02010600040101010101" pitchFamily="2" charset="-122"/>
                <a:cs typeface="Times New Roman" panose="02020603050405020304" pitchFamily="18" charset="0"/>
              </a:rPr>
              <a:t>Residual Neural Network</a:t>
            </a:r>
            <a:r>
              <a:rPr lang="zh-CN" altLang="en-US" sz="1800" dirty="0">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6" name="文本框 5"/>
          <p:cNvSpPr txBox="1"/>
          <p:nvPr/>
        </p:nvSpPr>
        <p:spPr>
          <a:xfrm>
            <a:off x="827088" y="5638202"/>
            <a:ext cx="7659370" cy="953135"/>
          </a:xfrm>
          <a:prstGeom prst="rect">
            <a:avLst/>
          </a:prstGeom>
          <a:noFill/>
        </p:spPr>
        <p:txBody>
          <a:bodyPr wrap="square" rtlCol="0" anchor="t">
            <a:spAutoFit/>
          </a:bodyPr>
          <a:lstStyle/>
          <a:p>
            <a:r>
              <a:rPr lang="en-US" altLang="zh-CN" sz="1400" dirty="0">
                <a:latin typeface="Times New Roman" panose="02020603050405020304" pitchFamily="18" charset="0"/>
                <a:cs typeface="Times New Roman" panose="02020603050405020304" pitchFamily="18" charset="0"/>
                <a:sym typeface="+mn-ea"/>
              </a:rPr>
              <a:t>Silver D , Schrittwieser J , Simonyan K , et al. Mastering the game of Go without human knowledge[J]. Nature, 2017, 550(7676):354-359.</a:t>
            </a:r>
          </a:p>
          <a:p>
            <a:r>
              <a:rPr lang="zh-CN" altLang="en-US" sz="1400" dirty="0">
                <a:latin typeface="Times New Roman" panose="02020603050405020304" pitchFamily="18" charset="0"/>
                <a:cs typeface="Times New Roman" panose="02020603050405020304" pitchFamily="18" charset="0"/>
                <a:sym typeface="+mn-ea"/>
              </a:rPr>
              <a:t>参考内容：</a:t>
            </a:r>
            <a:r>
              <a:rPr lang="en-US" altLang="zh-CN" sz="1400" i="1" dirty="0">
                <a:latin typeface="Times New Roman" panose="02020603050405020304" pitchFamily="18" charset="0"/>
                <a:cs typeface="Times New Roman" panose="02020603050405020304" pitchFamily="18" charset="0"/>
                <a:sym typeface="+mn-ea"/>
              </a:rPr>
              <a:t>http://www.gongboshi.com/news/show-htm-itemid-281312.html</a:t>
            </a:r>
          </a:p>
          <a:p>
            <a:r>
              <a:rPr lang="en-US" altLang="zh-CN" sz="1400" i="1" dirty="0">
                <a:latin typeface="Times New Roman" panose="02020603050405020304" pitchFamily="18" charset="0"/>
                <a:cs typeface="Times New Roman" panose="02020603050405020304" pitchFamily="18" charset="0"/>
                <a:sym typeface="+mn-ea"/>
              </a:rPr>
              <a:t>                   https://tse4-mm.cn.bing.net/th/id/OIP.xEZ5bm6ZVCvix_mIp1Da6QHaD4?pid=Api&amp;rs=1</a:t>
            </a:r>
          </a:p>
        </p:txBody>
      </p:sp>
      <p:pic>
        <p:nvPicPr>
          <p:cNvPr id="10" name="图片 9"/>
          <p:cNvPicPr>
            <a:picLocks noChangeAspect="1"/>
          </p:cNvPicPr>
          <p:nvPr/>
        </p:nvPicPr>
        <p:blipFill>
          <a:blip r:embed="rId2"/>
          <a:srcRect l="8083" r="3745"/>
          <a:stretch>
            <a:fillRect/>
          </a:stretch>
        </p:blipFill>
        <p:spPr>
          <a:xfrm>
            <a:off x="5358471" y="3460152"/>
            <a:ext cx="3486150" cy="2068830"/>
          </a:xfrm>
          <a:prstGeom prst="rect">
            <a:avLst/>
          </a:prstGeom>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6F7E3812-A0B5-4B61-8B01-FFAB3874F125}"/>
              </a:ext>
            </a:extLst>
          </p:cNvPr>
          <p:cNvSpPr>
            <a:spLocks noGrp="1"/>
          </p:cNvSpPr>
          <p:nvPr>
            <p:ph type="title"/>
          </p:nvPr>
        </p:nvSpPr>
        <p:spPr>
          <a:xfrm>
            <a:off x="741363" y="1098550"/>
            <a:ext cx="8534400" cy="611188"/>
          </a:xfrm>
        </p:spPr>
        <p:txBody>
          <a:bodyPr/>
          <a:lstStyle/>
          <a:p>
            <a:pPr marL="457200" indent="-457200" algn="l">
              <a:buClr>
                <a:srgbClr val="FF0000"/>
              </a:buClr>
              <a:buFont typeface="Wingdings" panose="05000000000000000000" pitchFamily="2" charset="2"/>
              <a:buChar char="p"/>
            </a:pP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Pluribus</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AI</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攻陷德扑</a:t>
            </a:r>
          </a:p>
        </p:txBody>
      </p:sp>
      <p:sp>
        <p:nvSpPr>
          <p:cNvPr id="3" name="内容占位符 2">
            <a:extLst>
              <a:ext uri="{FF2B5EF4-FFF2-40B4-BE49-F238E27FC236}">
                <a16:creationId xmlns:a16="http://schemas.microsoft.com/office/drawing/2014/main" id="{289E0493-2C20-4AF1-84C3-B7B6B1162FF0}"/>
              </a:ext>
            </a:extLst>
          </p:cNvPr>
          <p:cNvSpPr>
            <a:spLocks noGrp="1"/>
          </p:cNvSpPr>
          <p:nvPr>
            <p:ph idx="1"/>
          </p:nvPr>
        </p:nvSpPr>
        <p:spPr>
          <a:xfrm>
            <a:off x="741363" y="1851025"/>
            <a:ext cx="7767637" cy="1527175"/>
          </a:xfrm>
        </p:spPr>
        <p:txBody>
          <a:bodyPr>
            <a:noAutofit/>
          </a:bodyPr>
          <a:lstStyle/>
          <a:p>
            <a:pPr algn="just">
              <a:buClr>
                <a:srgbClr val="FF0000"/>
              </a:buClr>
              <a:defRPr/>
            </a:pPr>
            <a:r>
              <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mn-ea"/>
              </a:rPr>
              <a:t>在无限制德州扑克六人对决的比赛中，德扑</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rPr>
              <a:t>AI Pluribus</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mn-ea"/>
              </a:rPr>
              <a:t>成功战胜了五名专家级人类玩家。</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rPr>
              <a:t>Pluribus</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mn-ea"/>
              </a:rPr>
              <a:t>由</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rPr>
              <a:t>Facebook</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mn-ea"/>
              </a:rPr>
              <a:t>与卡耐基梅隆大学共同开发，实现了前辈 </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sym typeface="+mn-ea"/>
              </a:rPr>
              <a:t>Libratus</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mn-ea"/>
              </a:rPr>
              <a:t>（冷扑大师）未能完成的任务。该研究继</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sym typeface="+mn-ea"/>
              </a:rPr>
              <a:t>Libratus</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mn-ea"/>
              </a:rPr>
              <a:t>的论文后再次登上了</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rPr>
              <a:t>《Science》</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mn-ea"/>
              </a:rPr>
              <a:t>杂志。</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algn="just">
              <a:buClr>
                <a:srgbClr val="FF0000"/>
              </a:buClr>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algn="just">
              <a:buClr>
                <a:srgbClr val="FF0000"/>
              </a:buClr>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algn="just">
              <a:buClr>
                <a:srgbClr val="FF0000"/>
              </a:buClr>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algn="just">
              <a:buClr>
                <a:srgbClr val="FF0000"/>
              </a:buClr>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marL="0" indent="0" algn="just">
              <a:buClr>
                <a:srgbClr val="FF0000"/>
              </a:buClr>
              <a:buFont typeface="Arial" panose="020B0604020202020204" pitchFamily="34" charset="0"/>
              <a:buNone/>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marL="0" indent="0" algn="just">
              <a:buClr>
                <a:srgbClr val="FF0000"/>
              </a:buClr>
              <a:buFont typeface="Arial" panose="020B0604020202020204" pitchFamily="34" charset="0"/>
              <a:buNone/>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1" algn="just">
              <a:buClr>
                <a:srgbClr val="FF0000"/>
              </a:buClr>
              <a:defRPr/>
            </a:pPr>
            <a:endParaRPr lang="en-US" altLang="zh-CN"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9" name="Rectangle 7">
            <a:extLst>
              <a:ext uri="{FF2B5EF4-FFF2-40B4-BE49-F238E27FC236}">
                <a16:creationId xmlns:a16="http://schemas.microsoft.com/office/drawing/2014/main" id="{0A76AD6D-0BAD-4216-954E-8130262C0AAE}"/>
              </a:ext>
            </a:extLst>
          </p:cNvPr>
          <p:cNvSpPr>
            <a:spLocks noChangeArrowheads="1"/>
          </p:cNvSpPr>
          <p:nvPr/>
        </p:nvSpPr>
        <p:spPr bwMode="auto">
          <a:xfrm>
            <a:off x="0" y="1028700"/>
            <a:ext cx="138113" cy="276225"/>
          </a:xfrm>
          <a:prstGeom prst="rect">
            <a:avLst/>
          </a:prstGeom>
          <a:noFill/>
          <a:ln>
            <a:noFill/>
          </a:ln>
          <a:effectLst/>
        </p:spPr>
        <p:txBody>
          <a:bodyPr wrap="none" lIns="68580" tIns="34290" rIns="68580" bIns="34290" anchor="ctr">
            <a:spAutoFit/>
          </a:bodyPr>
          <a:lstStyle/>
          <a:p>
            <a:pPr>
              <a:defRPr/>
            </a:pPr>
            <a:endParaRPr lang="zh-CN" altLang="en-US" sz="1350"/>
          </a:p>
        </p:txBody>
      </p:sp>
      <p:sp>
        <p:nvSpPr>
          <p:cNvPr id="21509" name="文本框 5">
            <a:extLst>
              <a:ext uri="{FF2B5EF4-FFF2-40B4-BE49-F238E27FC236}">
                <a16:creationId xmlns:a16="http://schemas.microsoft.com/office/drawing/2014/main" id="{DC402611-22DF-42F1-A7AC-4709F3A5EC01}"/>
              </a:ext>
            </a:extLst>
          </p:cNvPr>
          <p:cNvSpPr txBox="1">
            <a:spLocks noChangeArrowheads="1"/>
          </p:cNvSpPr>
          <p:nvPr/>
        </p:nvSpPr>
        <p:spPr bwMode="auto">
          <a:xfrm>
            <a:off x="468313" y="5891213"/>
            <a:ext cx="82708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400">
                <a:latin typeface="Times New Roman" panose="02020603050405020304" pitchFamily="18" charset="0"/>
                <a:cs typeface="Times New Roman" panose="02020603050405020304" pitchFamily="18" charset="0"/>
              </a:rPr>
              <a:t>Brown N , Sandholm T . Superhuman AI for multiplayer poker[J]. Science, 2019, 365(6456):eaay2400.</a:t>
            </a:r>
          </a:p>
          <a:p>
            <a:pPr>
              <a:spcBef>
                <a:spcPct val="0"/>
              </a:spcBef>
              <a:buFontTx/>
              <a:buNone/>
            </a:pPr>
            <a:r>
              <a:rPr lang="zh-CN" altLang="en-US" sz="1400">
                <a:latin typeface="Times New Roman" panose="02020603050405020304" pitchFamily="18" charset="0"/>
                <a:cs typeface="Times New Roman" panose="02020603050405020304" pitchFamily="18" charset="0"/>
                <a:sym typeface="+mn-ea"/>
              </a:rPr>
              <a:t>参考内容；</a:t>
            </a:r>
            <a:r>
              <a:rPr lang="en-US" altLang="zh-CN" sz="1400" i="1">
                <a:latin typeface="Times New Roman" panose="02020603050405020304" pitchFamily="18" charset="0"/>
                <a:cs typeface="Times New Roman" panose="02020603050405020304" pitchFamily="18" charset="0"/>
              </a:rPr>
              <a:t>https://www.nature.com/articles/d41586-019-02156-9</a:t>
            </a:r>
            <a:endParaRPr lang="en-US" altLang="zh-CN" sz="1400">
              <a:latin typeface="Times New Roman" panose="02020603050405020304" pitchFamily="18" charset="0"/>
              <a:cs typeface="Times New Roman" panose="02020603050405020304" pitchFamily="18" charset="0"/>
              <a:sym typeface="+mn-ea"/>
            </a:endParaRPr>
          </a:p>
        </p:txBody>
      </p:sp>
      <p:sp>
        <p:nvSpPr>
          <p:cNvPr id="21510" name="AutoShape 2" descr="https://mmbiz.qpic.cn/mmbiz_jpg/KmXPKA19gWibK8zGEpa12k8aQVnzUmwcVnqyBdsjMasdg86ibRzgmtgovnWwopLcyxzSjriaDSWLDau20WvCUibmvA/640?wx_fmt=jpeg&amp;tp=webp&amp;wxfrom=5&amp;wx_lazy=1&amp;wx_co=1">
            <a:extLst>
              <a:ext uri="{FF2B5EF4-FFF2-40B4-BE49-F238E27FC236}">
                <a16:creationId xmlns:a16="http://schemas.microsoft.com/office/drawing/2014/main" id="{43A01DF1-D987-46CF-BE58-A2DCFEDB44DC}"/>
              </a:ext>
            </a:extLst>
          </p:cNvPr>
          <p:cNvSpPr>
            <a:spLocks noChangeAspect="1" noChangeArrowheads="1"/>
          </p:cNvSpPr>
          <p:nvPr/>
        </p:nvSpPr>
        <p:spPr bwMode="auto">
          <a:xfrm>
            <a:off x="4419600" y="358616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endParaRPr lang="zh-CN" altLang="en-US" sz="1800"/>
          </a:p>
        </p:txBody>
      </p:sp>
      <p:pic>
        <p:nvPicPr>
          <p:cNvPr id="21511" name="图片 8">
            <a:extLst>
              <a:ext uri="{FF2B5EF4-FFF2-40B4-BE49-F238E27FC236}">
                <a16:creationId xmlns:a16="http://schemas.microsoft.com/office/drawing/2014/main" id="{6FF9B2D7-CD8A-48EA-8D7D-2AB53B6860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8375" y="3292475"/>
            <a:ext cx="37846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2" name="Text Box 4">
            <a:extLst>
              <a:ext uri="{FF2B5EF4-FFF2-40B4-BE49-F238E27FC236}">
                <a16:creationId xmlns:a16="http://schemas.microsoft.com/office/drawing/2014/main" id="{386802C9-1C41-45D0-8154-A83A4233114A}"/>
              </a:ext>
            </a:extLst>
          </p:cNvPr>
          <p:cNvSpPr txBox="1">
            <a:spLocks noChangeArrowheads="1"/>
          </p:cNvSpPr>
          <p:nvPr/>
        </p:nvSpPr>
        <p:spPr bwMode="auto">
          <a:xfrm>
            <a:off x="604838" y="458788"/>
            <a:ext cx="8134350" cy="57943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b="1">
                <a:latin typeface="黑体" panose="02010609060101010101" pitchFamily="49" charset="-122"/>
                <a:ea typeface="黑体" panose="02010609060101010101" pitchFamily="49" charset="-122"/>
                <a:cs typeface="楷体_GB2312"/>
              </a:rPr>
              <a:t>机器学习的应用成果（</a:t>
            </a:r>
            <a:r>
              <a:rPr kumimoji="1" lang="en-US" altLang="zh-CN" b="1">
                <a:latin typeface="黑体" panose="02010609060101010101" pitchFamily="49" charset="-122"/>
                <a:ea typeface="黑体" panose="02010609060101010101" pitchFamily="49" charset="-122"/>
                <a:cs typeface="楷体_GB2312"/>
              </a:rPr>
              <a:t>2</a:t>
            </a:r>
            <a:r>
              <a:rPr kumimoji="1" lang="zh-CN" altLang="en-US" b="1">
                <a:latin typeface="黑体" panose="02010609060101010101" pitchFamily="49" charset="-122"/>
                <a:ea typeface="黑体" panose="02010609060101010101" pitchFamily="49" charset="-122"/>
                <a:cs typeface="楷体_GB2312"/>
              </a:rPr>
              <a:t>）</a:t>
            </a:r>
          </a:p>
        </p:txBody>
      </p:sp>
      <p:sp>
        <p:nvSpPr>
          <p:cNvPr id="21513" name="内容占位符 2">
            <a:extLst>
              <a:ext uri="{FF2B5EF4-FFF2-40B4-BE49-F238E27FC236}">
                <a16:creationId xmlns:a16="http://schemas.microsoft.com/office/drawing/2014/main" id="{2C5EEAE3-1895-4FE2-8F7F-3E1E289F8305}"/>
              </a:ext>
            </a:extLst>
          </p:cNvPr>
          <p:cNvSpPr>
            <a:spLocks noGrp="1" noChangeArrowheads="1"/>
          </p:cNvSpPr>
          <p:nvPr/>
        </p:nvSpPr>
        <p:spPr bwMode="auto">
          <a:xfrm>
            <a:off x="279400" y="3738563"/>
            <a:ext cx="4498975" cy="199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914400" indent="-45720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304925" indent="-395288">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3065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93913" indent="-39846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511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30083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655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9227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lvl="1">
              <a:spcBef>
                <a:spcPct val="0"/>
              </a:spcBef>
              <a:buClr>
                <a:srgbClr val="FF0000"/>
              </a:buClr>
              <a:buFont typeface="Arial" panose="020B0604020202020204" pitchFamily="34" charset="0"/>
              <a:buChar char="•"/>
            </a:pP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关键技术：</a:t>
            </a: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lvl="2" algn="just">
              <a:buClr>
                <a:srgbClr val="CC0000"/>
              </a:buClr>
              <a:buFont typeface="Wingdings" panose="05000000000000000000" pitchFamily="2" charset="2"/>
              <a:buChar char="ü"/>
            </a:pPr>
            <a:r>
              <a:rPr kumimoji="1" lang="zh-CN" altLang="en-US" sz="2000" dirty="0">
                <a:latin typeface="华文楷体" panose="02010600040101010101" pitchFamily="2" charset="-122"/>
                <a:ea typeface="华文楷体" panose="02010600040101010101" pitchFamily="2" charset="-122"/>
                <a:cs typeface="Times New Roman" panose="02020603050405020304" pitchFamily="18" charset="0"/>
              </a:rPr>
              <a:t>深度强化学习（</a:t>
            </a:r>
            <a:r>
              <a:rPr kumimoji="1" lang="en-US" altLang="zh-CN" sz="2000" dirty="0">
                <a:latin typeface="华文楷体" panose="02010600040101010101" pitchFamily="2" charset="-122"/>
                <a:ea typeface="华文楷体" panose="02010600040101010101" pitchFamily="2" charset="-122"/>
                <a:cs typeface="Times New Roman" panose="02020603050405020304" pitchFamily="18" charset="0"/>
              </a:rPr>
              <a:t>Deep Reinforcement Learning</a:t>
            </a:r>
            <a:r>
              <a:rPr kumimoji="1" lang="zh-CN" altLang="en-US" sz="2000" dirty="0">
                <a:latin typeface="华文楷体" panose="02010600040101010101" pitchFamily="2" charset="-122"/>
                <a:ea typeface="华文楷体" panose="02010600040101010101" pitchFamily="2" charset="-122"/>
                <a:cs typeface="Times New Roman" panose="02020603050405020304" pitchFamily="18" charset="0"/>
              </a:rPr>
              <a:t>）</a:t>
            </a:r>
          </a:p>
          <a:p>
            <a:pPr lvl="2" algn="just">
              <a:buClr>
                <a:srgbClr val="CC0000"/>
              </a:buClr>
              <a:buFont typeface="Wingdings" panose="05000000000000000000" pitchFamily="2" charset="2"/>
              <a:buChar char="ü"/>
            </a:pPr>
            <a:r>
              <a:rPr kumimoji="1" lang="zh-CN" altLang="en-US" sz="2000" dirty="0">
                <a:latin typeface="华文楷体" panose="02010600040101010101" pitchFamily="2" charset="-122"/>
                <a:ea typeface="华文楷体" panose="02010600040101010101" pitchFamily="2" charset="-122"/>
                <a:cs typeface="Times New Roman" panose="02020603050405020304" pitchFamily="18" charset="0"/>
              </a:rPr>
              <a:t>博弈论（ </a:t>
            </a:r>
            <a:r>
              <a:rPr kumimoji="1" lang="en-US" altLang="zh-CN" sz="2000" dirty="0">
                <a:latin typeface="华文楷体" panose="02010600040101010101" pitchFamily="2" charset="-122"/>
                <a:ea typeface="华文楷体" panose="02010600040101010101" pitchFamily="2" charset="-122"/>
                <a:cs typeface="Times New Roman" panose="02020603050405020304" pitchFamily="18" charset="0"/>
              </a:rPr>
              <a:t>Game Theory</a:t>
            </a:r>
            <a:r>
              <a:rPr kumimoji="1" lang="zh-CN" altLang="en-US" sz="2000" dirty="0">
                <a:latin typeface="华文楷体" panose="02010600040101010101" pitchFamily="2" charset="-122"/>
                <a:ea typeface="华文楷体" panose="02010600040101010101" pitchFamily="2" charset="-122"/>
                <a:cs typeface="Times New Roman" panose="02020603050405020304" pitchFamily="18" charset="0"/>
              </a:rPr>
              <a:t>）</a:t>
            </a:r>
            <a:endParaRPr kumimoji="1" lang="en-US" altLang="zh-CN" sz="2000" dirty="0">
              <a:latin typeface="华文楷体" panose="02010600040101010101" pitchFamily="2" charset="-122"/>
              <a:ea typeface="华文楷体" panose="02010600040101010101" pitchFamily="2" charset="-122"/>
              <a:cs typeface="Times New Roman" panose="02020603050405020304" pitchFamily="18" charset="0"/>
            </a:endParaRPr>
          </a:p>
          <a:p>
            <a:pPr lvl="3">
              <a:buClr>
                <a:srgbClr val="CC0000"/>
              </a:buClr>
              <a:buFont typeface="Wingdings" panose="05000000000000000000" pitchFamily="2" charset="2"/>
              <a:buNone/>
            </a:pPr>
            <a:endParaRPr kumimoji="1" lang="en-US" altLang="zh-CN" sz="16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ransition spd="slow" advTm="44605"/>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91A97-F58F-42E5-A2BC-7C42F70B1BBC}"/>
              </a:ext>
            </a:extLst>
          </p:cNvPr>
          <p:cNvSpPr>
            <a:spLocks noGrp="1"/>
          </p:cNvSpPr>
          <p:nvPr>
            <p:ph type="title"/>
          </p:nvPr>
        </p:nvSpPr>
        <p:spPr>
          <a:xfrm>
            <a:off x="741363" y="1098550"/>
            <a:ext cx="8534400" cy="611188"/>
          </a:xfrm>
        </p:spPr>
        <p:txBody>
          <a:bodyPr>
            <a:noAutofit/>
          </a:bodyPr>
          <a:lstStyle/>
          <a:p>
            <a:pPr marL="457200" indent="-457200" algn="l">
              <a:buClr>
                <a:srgbClr val="FF0000"/>
              </a:buClr>
              <a:buFont typeface="Wingdings" panose="05000000000000000000" pitchFamily="2" charset="2"/>
              <a:buChar char="p"/>
              <a:defRPr/>
            </a:pPr>
            <a:r>
              <a:rPr kumimoji="1" lang="en-US" altLang="zh-CN" sz="2800" b="1"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AlphaStar</a:t>
            </a:r>
            <a:r>
              <a:rPr kumimoji="1" lang="zh-CN" altLang="en-US"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：星际争霸</a:t>
            </a:r>
            <a:r>
              <a:rPr kumimoji="1" lang="en-US" altLang="zh-CN"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AI</a:t>
            </a:r>
            <a:r>
              <a:rPr kumimoji="1" lang="zh-CN" altLang="en-US"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登上</a:t>
            </a:r>
            <a:r>
              <a:rPr kumimoji="1" lang="en-US" altLang="zh-CN"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Nature</a:t>
            </a:r>
            <a:endParaRPr lang="zh-CN" altLang="en-US" sz="28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3555" name="内容占位符 2">
            <a:extLst>
              <a:ext uri="{FF2B5EF4-FFF2-40B4-BE49-F238E27FC236}">
                <a16:creationId xmlns:a16="http://schemas.microsoft.com/office/drawing/2014/main" id="{998233AB-A52B-4DE7-A493-3066A7E70437}"/>
              </a:ext>
            </a:extLst>
          </p:cNvPr>
          <p:cNvSpPr>
            <a:spLocks noGrp="1"/>
          </p:cNvSpPr>
          <p:nvPr>
            <p:ph idx="1"/>
          </p:nvPr>
        </p:nvSpPr>
        <p:spPr>
          <a:xfrm>
            <a:off x="841375" y="1727200"/>
            <a:ext cx="7766050" cy="1528763"/>
          </a:xfrm>
        </p:spPr>
        <p:txBody>
          <a:bodyPr/>
          <a:lstStyle/>
          <a:p>
            <a:pPr algn="just">
              <a:buClr>
                <a:srgbClr val="FF0000"/>
              </a:buClr>
            </a:pPr>
            <a:r>
              <a:rPr lang="en-US" altLang="zh-CN" sz="2000" dirty="0" err="1">
                <a:latin typeface="华文楷体" panose="02010600040101010101" pitchFamily="2" charset="-122"/>
                <a:ea typeface="华文楷体" panose="02010600040101010101" pitchFamily="2" charset="-122"/>
                <a:cs typeface="Times New Roman" panose="02020603050405020304" pitchFamily="18" charset="0"/>
                <a:sym typeface="+mn-ea"/>
              </a:rPr>
              <a:t>AlphaStar</a:t>
            </a:r>
            <a:r>
              <a:rPr lang="en-US" altLang="zh-CN" sz="2000" dirty="0">
                <a:latin typeface="华文楷体" panose="02010600040101010101" pitchFamily="2" charset="-122"/>
                <a:ea typeface="华文楷体" panose="02010600040101010101" pitchFamily="2" charset="-122"/>
                <a:cs typeface="Times New Roman" panose="02020603050405020304" pitchFamily="18" charset="0"/>
                <a:sym typeface="+mn-ea"/>
              </a:rPr>
              <a:t> </a:t>
            </a:r>
            <a:r>
              <a:rPr lang="zh-CN" altLang="en-US" sz="2000" dirty="0">
                <a:latin typeface="华文楷体" panose="02010600040101010101" pitchFamily="2" charset="-122"/>
                <a:ea typeface="华文楷体" panose="02010600040101010101" pitchFamily="2" charset="-122"/>
                <a:cs typeface="Times New Roman" panose="02020603050405020304" pitchFamily="18" charset="0"/>
                <a:sym typeface="+mn-ea"/>
              </a:rPr>
              <a:t>是有史以来第一个在无限制情况下达到主流电子竞技游戏顶级水准的 </a:t>
            </a:r>
            <a:r>
              <a:rPr lang="en-US" altLang="zh-CN" sz="2000" dirty="0">
                <a:latin typeface="华文楷体" panose="02010600040101010101" pitchFamily="2" charset="-122"/>
                <a:ea typeface="华文楷体" panose="02010600040101010101" pitchFamily="2" charset="-122"/>
                <a:cs typeface="Times New Roman" panose="02020603050405020304" pitchFamily="18" charset="0"/>
                <a:sym typeface="+mn-ea"/>
              </a:rPr>
              <a:t>AI</a:t>
            </a:r>
            <a:r>
              <a:rPr lang="zh-CN" altLang="en-US" sz="2000" dirty="0">
                <a:latin typeface="华文楷体" panose="02010600040101010101" pitchFamily="2" charset="-122"/>
                <a:ea typeface="华文楷体" panose="02010600040101010101" pitchFamily="2" charset="-122"/>
                <a:cs typeface="Times New Roman" panose="02020603050405020304" pitchFamily="18" charset="0"/>
                <a:sym typeface="+mn-ea"/>
              </a:rPr>
              <a:t>，它在星际争霸 </a:t>
            </a:r>
            <a:r>
              <a:rPr lang="en-US" altLang="zh-CN" sz="2000" dirty="0">
                <a:latin typeface="华文楷体" panose="02010600040101010101" pitchFamily="2" charset="-122"/>
                <a:ea typeface="华文楷体" panose="02010600040101010101" pitchFamily="2" charset="-122"/>
                <a:cs typeface="Times New Roman" panose="02020603050405020304" pitchFamily="18" charset="0"/>
                <a:sym typeface="+mn-ea"/>
              </a:rPr>
              <a:t>2 </a:t>
            </a:r>
            <a:r>
              <a:rPr lang="zh-CN" altLang="en-US" sz="2000" dirty="0">
                <a:latin typeface="华文楷体" panose="02010600040101010101" pitchFamily="2" charset="-122"/>
                <a:ea typeface="华文楷体" panose="02010600040101010101" pitchFamily="2" charset="-122"/>
                <a:cs typeface="Times New Roman" panose="02020603050405020304" pitchFamily="18" charset="0"/>
                <a:sym typeface="+mn-ea"/>
              </a:rPr>
              <a:t>上达到了最高的宗师（</a:t>
            </a:r>
            <a:r>
              <a:rPr lang="en-US" altLang="zh-CN" sz="2000" dirty="0">
                <a:latin typeface="华文楷体" panose="02010600040101010101" pitchFamily="2" charset="-122"/>
                <a:ea typeface="华文楷体" panose="02010600040101010101" pitchFamily="2" charset="-122"/>
                <a:cs typeface="Times New Roman" panose="02020603050405020304" pitchFamily="18" charset="0"/>
                <a:sym typeface="+mn-ea"/>
              </a:rPr>
              <a:t> Grandmaster </a:t>
            </a:r>
            <a:r>
              <a:rPr lang="zh-CN" altLang="en-US" sz="2000" dirty="0">
                <a:latin typeface="华文楷体" panose="02010600040101010101" pitchFamily="2" charset="-122"/>
                <a:ea typeface="华文楷体" panose="02010600040101010101" pitchFamily="2" charset="-122"/>
                <a:cs typeface="Times New Roman" panose="02020603050405020304" pitchFamily="18" charset="0"/>
                <a:sym typeface="+mn-ea"/>
              </a:rPr>
              <a:t>）段位。虽然还是打不过世界第一人类选手 </a:t>
            </a:r>
            <a:r>
              <a:rPr lang="en-US" altLang="zh-CN" sz="2000" dirty="0" err="1">
                <a:latin typeface="华文楷体" panose="02010600040101010101" pitchFamily="2" charset="-122"/>
                <a:ea typeface="华文楷体" panose="02010600040101010101" pitchFamily="2" charset="-122"/>
                <a:cs typeface="Times New Roman" panose="02020603050405020304" pitchFamily="18" charset="0"/>
                <a:sym typeface="+mn-ea"/>
              </a:rPr>
              <a:t>Serral</a:t>
            </a:r>
            <a:r>
              <a:rPr lang="zh-CN" altLang="en-US" sz="2000" dirty="0">
                <a:latin typeface="华文楷体" panose="02010600040101010101" pitchFamily="2" charset="-122"/>
                <a:ea typeface="华文楷体" panose="02010600040101010101" pitchFamily="2" charset="-122"/>
                <a:cs typeface="Times New Roman" panose="02020603050405020304" pitchFamily="18" charset="0"/>
                <a:sym typeface="+mn-ea"/>
              </a:rPr>
              <a:t>，但 </a:t>
            </a:r>
            <a:r>
              <a:rPr lang="en-US" altLang="zh-CN" sz="2000" dirty="0" err="1">
                <a:latin typeface="华文楷体" panose="02010600040101010101" pitchFamily="2" charset="-122"/>
                <a:ea typeface="华文楷体" panose="02010600040101010101" pitchFamily="2" charset="-122"/>
                <a:cs typeface="Times New Roman" panose="02020603050405020304" pitchFamily="18" charset="0"/>
                <a:sym typeface="+mn-ea"/>
              </a:rPr>
              <a:t>AlphaStar</a:t>
            </a:r>
            <a:r>
              <a:rPr lang="en-US" altLang="zh-CN" sz="2000" dirty="0">
                <a:latin typeface="华文楷体" panose="02010600040101010101" pitchFamily="2" charset="-122"/>
                <a:ea typeface="华文楷体" panose="02010600040101010101" pitchFamily="2" charset="-122"/>
                <a:cs typeface="Times New Roman" panose="02020603050405020304" pitchFamily="18" charset="0"/>
                <a:sym typeface="+mn-ea"/>
              </a:rPr>
              <a:t> </a:t>
            </a:r>
            <a:r>
              <a:rPr lang="zh-CN" altLang="en-US" sz="2000" dirty="0">
                <a:latin typeface="华文楷体" panose="02010600040101010101" pitchFamily="2" charset="-122"/>
                <a:ea typeface="华文楷体" panose="02010600040101010101" pitchFamily="2" charset="-122"/>
                <a:cs typeface="Times New Roman" panose="02020603050405020304" pitchFamily="18" charset="0"/>
                <a:sym typeface="+mn-ea"/>
              </a:rPr>
              <a:t>已经登上了 </a:t>
            </a:r>
            <a:r>
              <a:rPr lang="en-US" altLang="zh-CN" sz="2000" dirty="0">
                <a:latin typeface="华文楷体" panose="02010600040101010101" pitchFamily="2" charset="-122"/>
                <a:ea typeface="华文楷体" panose="02010600040101010101" pitchFamily="2" charset="-122"/>
                <a:cs typeface="Times New Roman" panose="02020603050405020304" pitchFamily="18" charset="0"/>
                <a:sym typeface="+mn-ea"/>
              </a:rPr>
              <a:t>Nature</a:t>
            </a:r>
            <a:r>
              <a:rPr lang="zh-CN" altLang="en-US" sz="2000" dirty="0">
                <a:latin typeface="华文楷体" panose="02010600040101010101" pitchFamily="2" charset="-122"/>
                <a:ea typeface="华文楷体" panose="02010600040101010101" pitchFamily="2" charset="-122"/>
                <a:cs typeface="Times New Roman" panose="02020603050405020304" pitchFamily="18" charset="0"/>
                <a:sym typeface="+mn-ea"/>
              </a:rPr>
              <a:t>。</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algn="just">
              <a:buClr>
                <a:srgbClr val="FF0000"/>
              </a:buCl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algn="just">
              <a:buClr>
                <a:srgbClr val="FF0000"/>
              </a:buCl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algn="just">
              <a:buClr>
                <a:srgbClr val="FF0000"/>
              </a:buCl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algn="just">
              <a:buClr>
                <a:srgbClr val="FF0000"/>
              </a:buCl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algn="just">
              <a:buClr>
                <a:srgbClr val="FF0000"/>
              </a:buClr>
              <a:buFont typeface="Arial" panose="020B0604020202020204" pitchFamily="34" charset="0"/>
              <a:buNone/>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algn="just">
              <a:buClr>
                <a:srgbClr val="FF0000"/>
              </a:buClr>
              <a:buFont typeface="Arial" panose="020B0604020202020204" pitchFamily="34" charset="0"/>
              <a:buNone/>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1" algn="just">
              <a:buClr>
                <a:srgbClr val="FF0000"/>
              </a:buClr>
            </a:pPr>
            <a:endParaRPr lang="en-US" altLang="zh-CN"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9" name="Rectangle 7">
            <a:extLst>
              <a:ext uri="{FF2B5EF4-FFF2-40B4-BE49-F238E27FC236}">
                <a16:creationId xmlns:a16="http://schemas.microsoft.com/office/drawing/2014/main" id="{754FCBF3-C285-409A-B79E-03DF195C6B12}"/>
              </a:ext>
            </a:extLst>
          </p:cNvPr>
          <p:cNvSpPr>
            <a:spLocks noChangeArrowheads="1"/>
          </p:cNvSpPr>
          <p:nvPr/>
        </p:nvSpPr>
        <p:spPr bwMode="auto">
          <a:xfrm>
            <a:off x="0" y="1028700"/>
            <a:ext cx="138113" cy="276225"/>
          </a:xfrm>
          <a:prstGeom prst="rect">
            <a:avLst/>
          </a:prstGeom>
          <a:noFill/>
          <a:ln>
            <a:noFill/>
          </a:ln>
          <a:effectLst/>
        </p:spPr>
        <p:txBody>
          <a:bodyPr wrap="none" lIns="68580" tIns="34290" rIns="68580" bIns="34290" anchor="ctr">
            <a:spAutoFit/>
          </a:bodyPr>
          <a:lstStyle/>
          <a:p>
            <a:pPr>
              <a:defRPr/>
            </a:pPr>
            <a:endParaRPr lang="zh-CN" altLang="en-US" sz="1350"/>
          </a:p>
        </p:txBody>
      </p:sp>
      <p:sp>
        <p:nvSpPr>
          <p:cNvPr id="23557" name="AutoShape 2" descr="https://mmbiz.qpic.cn/mmbiz_jpg/KmXPKA19gWibK8zGEpa12k8aQVnzUmwcVnqyBdsjMasdg86ibRzgmtgovnWwopLcyxzSjriaDSWLDau20WvCUibmvA/640?wx_fmt=jpeg&amp;tp=webp&amp;wxfrom=5&amp;wx_lazy=1&amp;wx_co=1">
            <a:extLst>
              <a:ext uri="{FF2B5EF4-FFF2-40B4-BE49-F238E27FC236}">
                <a16:creationId xmlns:a16="http://schemas.microsoft.com/office/drawing/2014/main" id="{B989C168-9091-4F75-BA18-FF404DA2E01A}"/>
              </a:ext>
            </a:extLst>
          </p:cNvPr>
          <p:cNvSpPr>
            <a:spLocks noChangeAspect="1" noChangeArrowheads="1"/>
          </p:cNvSpPr>
          <p:nvPr/>
        </p:nvSpPr>
        <p:spPr bwMode="auto">
          <a:xfrm>
            <a:off x="4419600" y="358616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endParaRPr lang="zh-CN" altLang="en-US" sz="1800"/>
          </a:p>
        </p:txBody>
      </p:sp>
      <p:sp>
        <p:nvSpPr>
          <p:cNvPr id="23558" name="Text Box 4">
            <a:extLst>
              <a:ext uri="{FF2B5EF4-FFF2-40B4-BE49-F238E27FC236}">
                <a16:creationId xmlns:a16="http://schemas.microsoft.com/office/drawing/2014/main" id="{15F2F71E-4DBA-4739-9C22-50F099C13195}"/>
              </a:ext>
            </a:extLst>
          </p:cNvPr>
          <p:cNvSpPr txBox="1">
            <a:spLocks noChangeArrowheads="1"/>
          </p:cNvSpPr>
          <p:nvPr/>
        </p:nvSpPr>
        <p:spPr bwMode="auto">
          <a:xfrm>
            <a:off x="604838" y="458788"/>
            <a:ext cx="8134350" cy="57943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b="1">
                <a:latin typeface="黑体" panose="02010609060101010101" pitchFamily="49" charset="-122"/>
                <a:ea typeface="黑体" panose="02010609060101010101" pitchFamily="49" charset="-122"/>
                <a:cs typeface="楷体_GB2312"/>
              </a:rPr>
              <a:t>机器学习的应用成果（</a:t>
            </a:r>
            <a:r>
              <a:rPr kumimoji="1" lang="en-US" altLang="zh-CN" b="1">
                <a:latin typeface="黑体" panose="02010609060101010101" pitchFamily="49" charset="-122"/>
                <a:ea typeface="黑体" panose="02010609060101010101" pitchFamily="49" charset="-122"/>
                <a:cs typeface="楷体_GB2312"/>
              </a:rPr>
              <a:t>3</a:t>
            </a:r>
            <a:r>
              <a:rPr kumimoji="1" lang="zh-CN" altLang="en-US" b="1">
                <a:latin typeface="黑体" panose="02010609060101010101" pitchFamily="49" charset="-122"/>
                <a:ea typeface="黑体" panose="02010609060101010101" pitchFamily="49" charset="-122"/>
                <a:cs typeface="楷体_GB2312"/>
              </a:rPr>
              <a:t>）</a:t>
            </a:r>
          </a:p>
        </p:txBody>
      </p:sp>
      <p:sp>
        <p:nvSpPr>
          <p:cNvPr id="23559" name="内容占位符 2">
            <a:extLst>
              <a:ext uri="{FF2B5EF4-FFF2-40B4-BE49-F238E27FC236}">
                <a16:creationId xmlns:a16="http://schemas.microsoft.com/office/drawing/2014/main" id="{D2ED2BFF-A139-4166-A927-59396DE44441}"/>
              </a:ext>
            </a:extLst>
          </p:cNvPr>
          <p:cNvSpPr>
            <a:spLocks noGrp="1" noChangeArrowheads="1"/>
          </p:cNvSpPr>
          <p:nvPr/>
        </p:nvSpPr>
        <p:spPr bwMode="auto">
          <a:xfrm>
            <a:off x="398463" y="3192463"/>
            <a:ext cx="4498975" cy="199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914400" indent="-45720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304925" indent="-395288">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3065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93913" indent="-39846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511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30083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655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9227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lvl="1">
              <a:spcBef>
                <a:spcPct val="0"/>
              </a:spcBef>
              <a:buClr>
                <a:srgbClr val="FF0000"/>
              </a:buClr>
              <a:buFont typeface="Arial" panose="020B0604020202020204" pitchFamily="34" charset="0"/>
              <a:buChar char="•"/>
            </a:pPr>
            <a:r>
              <a:rPr kumimoji="1" lang="zh-CN" altLang="en-US" sz="2000" dirty="0">
                <a:latin typeface="Times New Roman" panose="02020603050405020304" pitchFamily="18" charset="0"/>
                <a:ea typeface="楷体" panose="02010609060101010101" pitchFamily="49" charset="-122"/>
                <a:cs typeface="Times New Roman" panose="02020603050405020304" pitchFamily="18" charset="0"/>
              </a:rPr>
              <a:t>关键技术：</a:t>
            </a:r>
            <a:endPar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2" algn="just">
              <a:buClr>
                <a:srgbClr val="CC0000"/>
              </a:buClr>
              <a:buFont typeface="Wingdings" panose="05000000000000000000" pitchFamily="2" charset="2"/>
              <a:buChar char="ü"/>
            </a:pPr>
            <a:r>
              <a:rPr kumimoji="1" lang="zh-CN" altLang="en-US" sz="1800" dirty="0">
                <a:latin typeface="华文楷体" panose="02010600040101010101" pitchFamily="2" charset="-122"/>
                <a:ea typeface="华文楷体" panose="02010600040101010101" pitchFamily="2" charset="-122"/>
                <a:cs typeface="Times New Roman" panose="02020603050405020304" pitchFamily="18" charset="0"/>
              </a:rPr>
              <a:t>多智能体强化学习（</a:t>
            </a:r>
            <a:r>
              <a:rPr kumimoji="1" lang="en-US" altLang="zh-CN" sz="1800" dirty="0">
                <a:latin typeface="华文楷体" panose="02010600040101010101" pitchFamily="2" charset="-122"/>
                <a:ea typeface="华文楷体" panose="02010600040101010101" pitchFamily="2" charset="-122"/>
                <a:cs typeface="Times New Roman" panose="02020603050405020304" pitchFamily="18" charset="0"/>
              </a:rPr>
              <a:t>Multi-agent Reinforcement Learning</a:t>
            </a:r>
            <a:r>
              <a:rPr kumimoji="1" lang="zh-CN" altLang="en-US" sz="1800" dirty="0">
                <a:latin typeface="华文楷体" panose="02010600040101010101" pitchFamily="2" charset="-122"/>
                <a:ea typeface="华文楷体" panose="02010600040101010101" pitchFamily="2" charset="-122"/>
                <a:cs typeface="Times New Roman" panose="02020603050405020304" pitchFamily="18" charset="0"/>
              </a:rPr>
              <a:t>）</a:t>
            </a:r>
          </a:p>
          <a:p>
            <a:pPr lvl="2" algn="just">
              <a:buClr>
                <a:srgbClr val="CC0000"/>
              </a:buClr>
              <a:buFont typeface="Wingdings" panose="05000000000000000000" pitchFamily="2" charset="2"/>
              <a:buChar char="ü"/>
            </a:pPr>
            <a:r>
              <a:rPr kumimoji="1" lang="zh-CN" altLang="en-US" sz="1800" dirty="0">
                <a:latin typeface="华文楷体" panose="02010600040101010101" pitchFamily="2" charset="-122"/>
                <a:ea typeface="华文楷体" panose="02010600040101010101" pitchFamily="2" charset="-122"/>
                <a:cs typeface="Times New Roman" panose="02020603050405020304" pitchFamily="18" charset="0"/>
              </a:rPr>
              <a:t>自回归模型（ </a:t>
            </a:r>
            <a:r>
              <a:rPr kumimoji="1" lang="en-US" altLang="zh-CN" sz="1800" dirty="0">
                <a:latin typeface="华文楷体" panose="02010600040101010101" pitchFamily="2" charset="-122"/>
                <a:ea typeface="华文楷体" panose="02010600040101010101" pitchFamily="2" charset="-122"/>
                <a:cs typeface="Times New Roman" panose="02020603050405020304" pitchFamily="18" charset="0"/>
              </a:rPr>
              <a:t>Autoregressive Models </a:t>
            </a:r>
            <a:r>
              <a:rPr kumimoji="1" lang="zh-CN" altLang="en-US" sz="1800" dirty="0">
                <a:latin typeface="华文楷体" panose="02010600040101010101" pitchFamily="2" charset="-122"/>
                <a:ea typeface="华文楷体" panose="02010600040101010101" pitchFamily="2" charset="-122"/>
                <a:cs typeface="Times New Roman" panose="02020603050405020304" pitchFamily="18" charset="0"/>
              </a:rPr>
              <a:t>）</a:t>
            </a:r>
          </a:p>
          <a:p>
            <a:pPr lvl="2" algn="just">
              <a:buClr>
                <a:srgbClr val="CC0000"/>
              </a:buClr>
              <a:buFont typeface="Wingdings" panose="05000000000000000000" pitchFamily="2" charset="2"/>
              <a:buChar char="ü"/>
            </a:pPr>
            <a:r>
              <a:rPr kumimoji="1" lang="zh-CN" altLang="en-US" sz="1800" dirty="0">
                <a:latin typeface="华文楷体" panose="02010600040101010101" pitchFamily="2" charset="-122"/>
                <a:ea typeface="华文楷体" panose="02010600040101010101" pitchFamily="2" charset="-122"/>
                <a:cs typeface="Times New Roman" panose="02020603050405020304" pitchFamily="18" charset="0"/>
              </a:rPr>
              <a:t>图卷积神经网络（ </a:t>
            </a:r>
            <a:r>
              <a:rPr kumimoji="1" lang="en-US" altLang="zh-CN" sz="1800" dirty="0">
                <a:latin typeface="华文楷体" panose="02010600040101010101" pitchFamily="2" charset="-122"/>
                <a:ea typeface="华文楷体" panose="02010600040101010101" pitchFamily="2" charset="-122"/>
                <a:cs typeface="Times New Roman" panose="02020603050405020304" pitchFamily="18" charset="0"/>
              </a:rPr>
              <a:t>Graph Convolutional Network </a:t>
            </a:r>
            <a:r>
              <a:rPr kumimoji="1" lang="zh-CN" altLang="en-US" sz="1800" dirty="0">
                <a:latin typeface="华文楷体" panose="02010600040101010101" pitchFamily="2" charset="-122"/>
                <a:ea typeface="华文楷体" panose="02010600040101010101" pitchFamily="2" charset="-122"/>
                <a:cs typeface="Times New Roman" panose="02020603050405020304" pitchFamily="18" charset="0"/>
              </a:rPr>
              <a:t>）</a:t>
            </a:r>
          </a:p>
          <a:p>
            <a:pPr lvl="3">
              <a:buClr>
                <a:srgbClr val="CC0000"/>
              </a:buClr>
              <a:buFont typeface="Wingdings" panose="05000000000000000000" pitchFamily="2" charset="2"/>
              <a:buNone/>
            </a:pPr>
            <a:endParaRPr kumimoji="1" lang="en-US" altLang="zh-CN" sz="1600" dirty="0">
              <a:latin typeface="Times New Roman" panose="02020603050405020304" pitchFamily="18" charset="0"/>
              <a:cs typeface="Times New Roman" panose="02020603050405020304" pitchFamily="18" charset="0"/>
            </a:endParaRPr>
          </a:p>
        </p:txBody>
      </p:sp>
      <p:pic>
        <p:nvPicPr>
          <p:cNvPr id="23560" name="图片 9">
            <a:extLst>
              <a:ext uri="{FF2B5EF4-FFF2-40B4-BE49-F238E27FC236}">
                <a16:creationId xmlns:a16="http://schemas.microsoft.com/office/drawing/2014/main" id="{E1D0335D-05E6-49B2-82FB-FE79CE1A53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4613" y="3254375"/>
            <a:ext cx="3763962" cy="179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1" name="文本框 11">
            <a:extLst>
              <a:ext uri="{FF2B5EF4-FFF2-40B4-BE49-F238E27FC236}">
                <a16:creationId xmlns:a16="http://schemas.microsoft.com/office/drawing/2014/main" id="{F8A4B71A-F5CE-4ED9-ACED-0DABB78332B5}"/>
              </a:ext>
            </a:extLst>
          </p:cNvPr>
          <p:cNvSpPr txBox="1">
            <a:spLocks noChangeArrowheads="1"/>
          </p:cNvSpPr>
          <p:nvPr/>
        </p:nvSpPr>
        <p:spPr bwMode="auto">
          <a:xfrm>
            <a:off x="500063" y="5661025"/>
            <a:ext cx="862488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400">
                <a:solidFill>
                  <a:srgbClr val="000000"/>
                </a:solidFill>
                <a:latin typeface="Times New Roman" panose="02020603050405020304" pitchFamily="18" charset="0"/>
                <a:cs typeface="Times New Roman" panose="02020603050405020304" pitchFamily="18" charset="0"/>
                <a:sym typeface="+mn-ea"/>
              </a:rPr>
              <a:t>Vinyals O , Babuschkin I , Czarnecki W M , et al. Grandmaster level in StarCraft II using multi-agent reinforcement learning[J]. Nature, 2019, 575(7782).</a:t>
            </a:r>
            <a:endParaRPr lang="en-US" altLang="zh-CN" sz="1400">
              <a:solidFill>
                <a:srgbClr val="000000"/>
              </a:solidFill>
              <a:latin typeface="Times New Roman" panose="02020603050405020304" pitchFamily="18" charset="0"/>
              <a:cs typeface="Times New Roman" panose="02020603050405020304" pitchFamily="18" charset="0"/>
            </a:endParaRPr>
          </a:p>
          <a:p>
            <a:pPr>
              <a:spcBef>
                <a:spcPct val="0"/>
              </a:spcBef>
              <a:buFontTx/>
              <a:buNone/>
            </a:pPr>
            <a:r>
              <a:rPr lang="zh-CN" altLang="en-US" sz="1400">
                <a:solidFill>
                  <a:srgbClr val="000000"/>
                </a:solidFill>
                <a:latin typeface="Times New Roman" panose="02020603050405020304" pitchFamily="18" charset="0"/>
                <a:cs typeface="Times New Roman" panose="02020603050405020304" pitchFamily="18" charset="0"/>
                <a:sym typeface="+mn-ea"/>
              </a:rPr>
              <a:t>参考内容：</a:t>
            </a:r>
            <a:r>
              <a:rPr lang="en-US" altLang="zh-CN" sz="1400">
                <a:solidFill>
                  <a:srgbClr val="000000"/>
                </a:solidFill>
                <a:latin typeface="Times New Roman" panose="02020603050405020304" pitchFamily="18" charset="0"/>
                <a:cs typeface="Times New Roman" panose="02020603050405020304" pitchFamily="18" charset="0"/>
                <a:sym typeface="+mn-ea"/>
              </a:rPr>
              <a:t> https://deepmind.com/research/open-source/alphastar-resources</a:t>
            </a:r>
          </a:p>
        </p:txBody>
      </p:sp>
    </p:spTree>
    <p:custDataLst>
      <p:tags r:id="rId1"/>
    </p:custDataLst>
  </p:cSld>
  <p:clrMapOvr>
    <a:masterClrMapping/>
  </p:clrMapOvr>
  <p:transition spd="slow" advTm="44605"/>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683568" y="764704"/>
            <a:ext cx="8487483" cy="4320487"/>
          </a:xfrm>
          <a:prstGeom prst="rect">
            <a:avLst/>
          </a:prstGeom>
        </p:spPr>
      </p:pic>
      <p:sp>
        <p:nvSpPr>
          <p:cNvPr id="5" name="矩形 4"/>
          <p:cNvSpPr/>
          <p:nvPr/>
        </p:nvSpPr>
        <p:spPr>
          <a:xfrm>
            <a:off x="6300192" y="5301208"/>
            <a:ext cx="2064989" cy="338554"/>
          </a:xfrm>
          <a:prstGeom prst="rect">
            <a:avLst/>
          </a:prstGeom>
        </p:spPr>
        <p:txBody>
          <a:bodyPr wrap="none">
            <a:spAutoFit/>
          </a:bodyPr>
          <a:lstStyle/>
          <a:p>
            <a:r>
              <a:rPr lang="zh-CN" altLang="en-US" sz="1600" dirty="0">
                <a:latin typeface="楷体" panose="02010609060101010101" pitchFamily="49" charset="-122"/>
                <a:ea typeface="楷体" panose="02010609060101010101" pitchFamily="49" charset="-122"/>
              </a:rPr>
              <a:t>来源：</a:t>
            </a:r>
            <a:r>
              <a:rPr lang="en-US" altLang="zh-CN" sz="1600" dirty="0" err="1">
                <a:latin typeface="Times New Roman" panose="02020603050405020304" pitchFamily="18" charset="0"/>
                <a:ea typeface="楷体" panose="02010609060101010101" pitchFamily="49" charset="-122"/>
                <a:cs typeface="Times New Roman" panose="02020603050405020304" pitchFamily="18" charset="0"/>
              </a:rPr>
              <a:t>RLChina</a:t>
            </a:r>
            <a:r>
              <a:rPr lang="en-US" altLang="zh-CN" sz="1600" dirty="0">
                <a:latin typeface="楷体" panose="02010609060101010101" pitchFamily="49" charset="-122"/>
                <a:ea typeface="楷体" panose="02010609060101010101" pitchFamily="49" charset="-122"/>
              </a:rPr>
              <a:t>@</a:t>
            </a:r>
            <a:r>
              <a:rPr lang="zh-CN" altLang="en-US" sz="1600" dirty="0">
                <a:latin typeface="楷体" panose="02010609060101010101" pitchFamily="49" charset="-122"/>
                <a:ea typeface="楷体" panose="02010609060101010101" pitchFamily="49" charset="-122"/>
              </a:rPr>
              <a:t>刘霁</a:t>
            </a:r>
          </a:p>
        </p:txBody>
      </p:sp>
    </p:spTree>
    <p:extLst>
      <p:ext uri="{BB962C8B-B14F-4D97-AF65-F5344CB8AC3E}">
        <p14:creationId xmlns:p14="http://schemas.microsoft.com/office/powerpoint/2010/main" val="1737619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a:extLst>
              <a:ext uri="{FF2B5EF4-FFF2-40B4-BE49-F238E27FC236}">
                <a16:creationId xmlns:a16="http://schemas.microsoft.com/office/drawing/2014/main" id="{0675B052-3F0D-4171-BEF6-A2BCDB969E7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41B63B22-0994-4859-96F6-ED3A34FB20E9}" type="slidenum">
              <a:rPr kumimoji="1" lang="en-US" altLang="zh-CN" sz="1400" smtClean="0">
                <a:latin typeface="Times New Roman" panose="02020603050405020304" pitchFamily="18" charset="0"/>
              </a:rPr>
              <a:pPr>
                <a:spcBef>
                  <a:spcPct val="0"/>
                </a:spcBef>
                <a:buFontTx/>
                <a:buNone/>
              </a:pPr>
              <a:t>24</a:t>
            </a:fld>
            <a:endParaRPr kumimoji="1" lang="en-US" altLang="zh-CN" sz="1400" dirty="0">
              <a:latin typeface="Times New Roman" panose="02020603050405020304" pitchFamily="18" charset="0"/>
            </a:endParaRPr>
          </a:p>
        </p:txBody>
      </p:sp>
      <p:sp>
        <p:nvSpPr>
          <p:cNvPr id="25603" name="Text Box 4">
            <a:extLst>
              <a:ext uri="{FF2B5EF4-FFF2-40B4-BE49-F238E27FC236}">
                <a16:creationId xmlns:a16="http://schemas.microsoft.com/office/drawing/2014/main" id="{AE58C553-FECA-4E1F-B0DC-2F56D7F433F6}"/>
              </a:ext>
            </a:extLst>
          </p:cNvPr>
          <p:cNvSpPr txBox="1">
            <a:spLocks noChangeArrowheads="1"/>
          </p:cNvSpPr>
          <p:nvPr/>
        </p:nvSpPr>
        <p:spPr bwMode="auto">
          <a:xfrm>
            <a:off x="684213" y="620713"/>
            <a:ext cx="8134350" cy="57943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b="1">
                <a:latin typeface="黑体" panose="02010609060101010101" pitchFamily="49" charset="-122"/>
                <a:ea typeface="黑体" panose="02010609060101010101" pitchFamily="49" charset="-122"/>
                <a:cs typeface="楷体_GB2312"/>
              </a:rPr>
              <a:t>机器学习的应用成果（</a:t>
            </a:r>
            <a:r>
              <a:rPr kumimoji="1" lang="en-US" altLang="zh-CN" b="1">
                <a:latin typeface="黑体" panose="02010609060101010101" pitchFamily="49" charset="-122"/>
                <a:ea typeface="黑体" panose="02010609060101010101" pitchFamily="49" charset="-122"/>
                <a:cs typeface="楷体_GB2312"/>
              </a:rPr>
              <a:t>4</a:t>
            </a:r>
            <a:r>
              <a:rPr kumimoji="1" lang="zh-CN" altLang="en-US" b="1">
                <a:latin typeface="黑体" panose="02010609060101010101" pitchFamily="49" charset="-122"/>
                <a:ea typeface="黑体" panose="02010609060101010101" pitchFamily="49" charset="-122"/>
                <a:cs typeface="楷体_GB2312"/>
              </a:rPr>
              <a:t>）</a:t>
            </a:r>
          </a:p>
        </p:txBody>
      </p:sp>
      <p:sp>
        <p:nvSpPr>
          <p:cNvPr id="8" name="文本框 7">
            <a:extLst>
              <a:ext uri="{FF2B5EF4-FFF2-40B4-BE49-F238E27FC236}">
                <a16:creationId xmlns:a16="http://schemas.microsoft.com/office/drawing/2014/main" id="{61217E52-6202-4049-9C50-0720AD15C695}"/>
              </a:ext>
            </a:extLst>
          </p:cNvPr>
          <p:cNvSpPr txBox="1"/>
          <p:nvPr/>
        </p:nvSpPr>
        <p:spPr>
          <a:xfrm>
            <a:off x="827088" y="1287463"/>
            <a:ext cx="7705725" cy="523220"/>
          </a:xfrm>
          <a:prstGeom prst="rect">
            <a:avLst/>
          </a:prstGeom>
          <a:noFill/>
        </p:spPr>
        <p:txBody>
          <a:bodyPr>
            <a:spAutoFit/>
          </a:bodyPr>
          <a:lstStyle/>
          <a:p>
            <a:pPr marL="457200" indent="-457200">
              <a:buClr>
                <a:srgbClr val="FF0000"/>
              </a:buClr>
              <a:buFont typeface="Wingdings" panose="05000000000000000000" pitchFamily="2" charset="2"/>
              <a:buChar char="p"/>
              <a:defRPr/>
            </a:pPr>
            <a:r>
              <a:rPr kumimoji="1" lang="en-US" altLang="zh-CN"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GPT-4</a:t>
            </a:r>
            <a:r>
              <a:rPr kumimoji="1" lang="zh-CN" altLang="en-US"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：人工智能的里程碑式跨越发展</a:t>
            </a:r>
            <a:endParaRPr kumimoji="1" lang="en-US" altLang="zh-CN"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5606" name="内容占位符 2">
            <a:extLst>
              <a:ext uri="{FF2B5EF4-FFF2-40B4-BE49-F238E27FC236}">
                <a16:creationId xmlns:a16="http://schemas.microsoft.com/office/drawing/2014/main" id="{9A35F547-1902-4EB3-BC82-AD28BE11735F}"/>
              </a:ext>
            </a:extLst>
          </p:cNvPr>
          <p:cNvSpPr>
            <a:spLocks noGrp="1" noChangeArrowheads="1"/>
          </p:cNvSpPr>
          <p:nvPr/>
        </p:nvSpPr>
        <p:spPr bwMode="auto">
          <a:xfrm>
            <a:off x="3957638" y="3943766"/>
            <a:ext cx="4729162" cy="211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914400" indent="-45720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304925" indent="-395288">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3065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93913" indent="-39846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511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30083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655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9227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lvl="1">
              <a:spcBef>
                <a:spcPct val="0"/>
              </a:spcBef>
              <a:buClr>
                <a:srgbClr val="FF0000"/>
              </a:buClr>
              <a:buFont typeface="Arial" panose="020B0604020202020204" pitchFamily="34" charset="0"/>
              <a:buChar char="•"/>
            </a:pPr>
            <a:r>
              <a:rPr kumimoji="1" lang="zh-CN" altLang="en-US" sz="2000" dirty="0">
                <a:latin typeface="Times New Roman" panose="02020603050405020304" pitchFamily="18" charset="0"/>
                <a:ea typeface="楷体" panose="02010609060101010101" pitchFamily="49" charset="-122"/>
                <a:cs typeface="Times New Roman" panose="02020603050405020304" pitchFamily="18" charset="0"/>
              </a:rPr>
              <a:t>关键技术：</a:t>
            </a:r>
            <a:endPar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2" algn="just">
              <a:buClr>
                <a:srgbClr val="CC0000"/>
              </a:buClr>
              <a:buFont typeface="Wingdings" panose="05000000000000000000" pitchFamily="2" charset="2"/>
              <a:buChar char="ü"/>
            </a:pPr>
            <a:r>
              <a:rPr kumimoji="1" lang="en-US" altLang="zh-CN" sz="1800" dirty="0">
                <a:latin typeface="华文楷体" panose="02010600040101010101" pitchFamily="2" charset="-122"/>
                <a:ea typeface="华文楷体" panose="02010600040101010101" pitchFamily="2" charset="-122"/>
                <a:cs typeface="Times New Roman" panose="02020603050405020304" pitchFamily="18" charset="0"/>
              </a:rPr>
              <a:t>Reinforcement Learning from Human Feedback</a:t>
            </a:r>
            <a:r>
              <a:rPr kumimoji="1" lang="zh-CN" altLang="en-US" sz="1800" dirty="0">
                <a:latin typeface="华文楷体" panose="02010600040101010101" pitchFamily="2" charset="-122"/>
                <a:ea typeface="华文楷体" panose="02010600040101010101" pitchFamily="2" charset="-122"/>
                <a:cs typeface="Times New Roman" panose="02020603050405020304" pitchFamily="18" charset="0"/>
              </a:rPr>
              <a:t>（人类反馈强化学习）</a:t>
            </a:r>
          </a:p>
          <a:p>
            <a:pPr lvl="2" algn="just">
              <a:buClr>
                <a:srgbClr val="CC0000"/>
              </a:buClr>
              <a:buFont typeface="Wingdings" panose="05000000000000000000" pitchFamily="2" charset="2"/>
              <a:buChar char="ü"/>
            </a:pPr>
            <a:r>
              <a:rPr kumimoji="1" lang="en-US" altLang="zh-CN" sz="1800" dirty="0">
                <a:latin typeface="华文楷体" panose="02010600040101010101" pitchFamily="2" charset="-122"/>
                <a:ea typeface="华文楷体" panose="02010600040101010101" pitchFamily="2" charset="-122"/>
                <a:cs typeface="Times New Roman" panose="02020603050405020304" pitchFamily="18" charset="0"/>
              </a:rPr>
              <a:t>Supervised Fine-Tuning</a:t>
            </a:r>
            <a:r>
              <a:rPr kumimoji="1" lang="zh-CN" altLang="en-US" sz="1800" dirty="0">
                <a:latin typeface="华文楷体" panose="02010600040101010101" pitchFamily="2" charset="-122"/>
                <a:ea typeface="华文楷体" panose="02010600040101010101" pitchFamily="2" charset="-122"/>
                <a:cs typeface="Times New Roman" panose="02020603050405020304" pitchFamily="18" charset="0"/>
              </a:rPr>
              <a:t>（有监督微调模型）</a:t>
            </a:r>
            <a:endParaRPr kumimoji="1" lang="en-US" altLang="zh-CN" sz="1800" dirty="0">
              <a:latin typeface="华文楷体" panose="02010600040101010101" pitchFamily="2" charset="-122"/>
              <a:ea typeface="华文楷体" panose="02010600040101010101" pitchFamily="2" charset="-122"/>
              <a:cs typeface="Times New Roman" panose="02020603050405020304" pitchFamily="18" charset="0"/>
            </a:endParaRPr>
          </a:p>
          <a:p>
            <a:pPr lvl="3">
              <a:buClr>
                <a:srgbClr val="CC0000"/>
              </a:buClr>
              <a:buFont typeface="Wingdings" panose="05000000000000000000" pitchFamily="2" charset="2"/>
              <a:buNone/>
            </a:pPr>
            <a:endParaRPr kumimoji="1" lang="en-US" altLang="zh-CN" sz="16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8BF73917-FBD4-45E0-A5DF-704C64C7AEF8}"/>
              </a:ext>
            </a:extLst>
          </p:cNvPr>
          <p:cNvSpPr txBox="1"/>
          <p:nvPr/>
        </p:nvSpPr>
        <p:spPr>
          <a:xfrm>
            <a:off x="689696" y="6289675"/>
            <a:ext cx="7899400" cy="276225"/>
          </a:xfrm>
          <a:prstGeom prst="rect">
            <a:avLst/>
          </a:prstGeom>
          <a:noFill/>
        </p:spPr>
        <p:txBody>
          <a:bodyPr>
            <a:spAutoFit/>
          </a:bodyPr>
          <a:lstStyle/>
          <a:p>
            <a:pPr>
              <a:defRPr/>
            </a:pPr>
            <a:r>
              <a:rPr lang="zh-CN" altLang="en-US" sz="1200" dirty="0">
                <a:latin typeface="+mn-lt"/>
                <a:sym typeface="+mn-ea"/>
              </a:rPr>
              <a:t>参考内容：</a:t>
            </a:r>
            <a:r>
              <a:rPr lang="en-US" altLang="zh-CN" sz="1200" i="1" dirty="0"/>
              <a:t>https://www.bilibili.com/video/BV1954y1K7fU/</a:t>
            </a:r>
          </a:p>
        </p:txBody>
      </p:sp>
      <p:pic>
        <p:nvPicPr>
          <p:cNvPr id="4" name="1053548774-1-192">
            <a:hlinkClick r:id="" action="ppaction://media"/>
            <a:extLst>
              <a:ext uri="{FF2B5EF4-FFF2-40B4-BE49-F238E27FC236}">
                <a16:creationId xmlns:a16="http://schemas.microsoft.com/office/drawing/2014/main" id="{9DE65D7C-55F0-A2DF-84FA-237D2FEB8EC5}"/>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403648" y="4246297"/>
            <a:ext cx="2949380" cy="1654418"/>
          </a:xfrm>
          <a:prstGeom prst="rect">
            <a:avLst/>
          </a:prstGeom>
        </p:spPr>
      </p:pic>
      <p:sp>
        <p:nvSpPr>
          <p:cNvPr id="5" name="内容占位符 2">
            <a:extLst>
              <a:ext uri="{FF2B5EF4-FFF2-40B4-BE49-F238E27FC236}">
                <a16:creationId xmlns:a16="http://schemas.microsoft.com/office/drawing/2014/main" id="{DBD36711-8BD3-8534-2BBB-9089B752980A}"/>
              </a:ext>
            </a:extLst>
          </p:cNvPr>
          <p:cNvSpPr>
            <a:spLocks noGrp="1"/>
          </p:cNvSpPr>
          <p:nvPr>
            <p:ph idx="1"/>
          </p:nvPr>
        </p:nvSpPr>
        <p:spPr>
          <a:xfrm>
            <a:off x="937935" y="1979960"/>
            <a:ext cx="7767637" cy="1930451"/>
          </a:xfrm>
        </p:spPr>
        <p:txBody>
          <a:bodyPr>
            <a:noAutofit/>
          </a:bodyPr>
          <a:lstStyle/>
          <a:p>
            <a:pPr algn="just">
              <a:buClr>
                <a:srgbClr val="FF0000"/>
              </a:buClr>
              <a:defRPr/>
            </a:pPr>
            <a:r>
              <a:rPr lang="en-US" altLang="zh-CN"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GPT-4</a:t>
            </a:r>
            <a:r>
              <a:rPr lang="zh-CN" altLang="en-US"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Generative Pretrained Transformer-4</a:t>
            </a:r>
            <a:r>
              <a:rPr lang="zh-CN" altLang="en-US"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）是 </a:t>
            </a:r>
            <a:r>
              <a:rPr lang="en-US" altLang="zh-CN"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OpenAI </a:t>
            </a:r>
            <a:r>
              <a:rPr lang="zh-CN" altLang="en-US"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开发的最新最强大的多模态语言模型，能够接受图像和文本输入并产生文本输出。</a:t>
            </a:r>
            <a:r>
              <a:rPr lang="en-US" altLang="zh-CN"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GPT-4 </a:t>
            </a:r>
            <a:r>
              <a:rPr lang="zh-CN" altLang="en-US"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是一个基于 </a:t>
            </a:r>
            <a:r>
              <a:rPr lang="en-US" altLang="zh-CN"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Transformer </a:t>
            </a:r>
            <a:r>
              <a:rPr lang="zh-CN" altLang="en-US"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风格的预训练模型，用于预测文档中的下一个</a:t>
            </a:r>
            <a:r>
              <a:rPr lang="en-US" altLang="zh-CN"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token</a:t>
            </a:r>
            <a:r>
              <a:rPr lang="zh-CN" altLang="en-US"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，使用公开可用数据（如互联网数据）和第三方提供商授权的数据，利用人类反馈的强化学习对模型进行微调。</a:t>
            </a:r>
          </a:p>
          <a:p>
            <a:pPr algn="just">
              <a:buClr>
                <a:srgbClr val="FF0000"/>
              </a:buClr>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algn="just">
              <a:buClr>
                <a:srgbClr val="FF0000"/>
              </a:buClr>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marL="0" indent="0" algn="just">
              <a:buClr>
                <a:srgbClr val="FF0000"/>
              </a:buClr>
              <a:buFont typeface="Arial" panose="020B0604020202020204" pitchFamily="34" charset="0"/>
              <a:buNone/>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marL="0" indent="0" algn="just">
              <a:buClr>
                <a:srgbClr val="FF0000"/>
              </a:buClr>
              <a:buFont typeface="Arial" panose="020B0604020202020204" pitchFamily="34" charset="0"/>
              <a:buNone/>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1" algn="just">
              <a:buClr>
                <a:srgbClr val="FF0000"/>
              </a:buClr>
              <a:defRPr/>
            </a:pPr>
            <a:endParaRPr lang="en-US" altLang="zh-CN" sz="1600"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872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4"/>
                </p:tgtEl>
              </p:cMediaNode>
            </p:vide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B7405-CD77-CFAF-EA10-DFB9F3162E00}"/>
            </a:ext>
          </a:extLst>
        </p:cNvPr>
        <p:cNvGrpSpPr/>
        <p:nvPr/>
      </p:nvGrpSpPr>
      <p:grpSpPr>
        <a:xfrm>
          <a:off x="0" y="0"/>
          <a:ext cx="0" cy="0"/>
          <a:chOff x="0" y="0"/>
          <a:chExt cx="0" cy="0"/>
        </a:xfrm>
      </p:grpSpPr>
      <p:sp>
        <p:nvSpPr>
          <p:cNvPr id="25602" name="灯片编号占位符 5">
            <a:extLst>
              <a:ext uri="{FF2B5EF4-FFF2-40B4-BE49-F238E27FC236}">
                <a16:creationId xmlns:a16="http://schemas.microsoft.com/office/drawing/2014/main" id="{AE7560DB-A1E8-0ED0-2D43-13BD9AE5261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41B63B22-0994-4859-96F6-ED3A34FB20E9}" type="slidenum">
              <a:rPr kumimoji="1" lang="en-US" altLang="zh-CN" sz="1400" smtClean="0">
                <a:latin typeface="Times New Roman" panose="02020603050405020304" pitchFamily="18" charset="0"/>
              </a:rPr>
              <a:pPr>
                <a:spcBef>
                  <a:spcPct val="0"/>
                </a:spcBef>
                <a:buFontTx/>
                <a:buNone/>
              </a:pPr>
              <a:t>25</a:t>
            </a:fld>
            <a:endParaRPr kumimoji="1" lang="en-US" altLang="zh-CN" sz="1400">
              <a:latin typeface="Times New Roman" panose="02020603050405020304" pitchFamily="18" charset="0"/>
            </a:endParaRPr>
          </a:p>
        </p:txBody>
      </p:sp>
      <p:sp>
        <p:nvSpPr>
          <p:cNvPr id="25603" name="Text Box 4">
            <a:extLst>
              <a:ext uri="{FF2B5EF4-FFF2-40B4-BE49-F238E27FC236}">
                <a16:creationId xmlns:a16="http://schemas.microsoft.com/office/drawing/2014/main" id="{4B0BB699-F8C3-D758-27BF-0AEDB2A6A1CE}"/>
              </a:ext>
            </a:extLst>
          </p:cNvPr>
          <p:cNvSpPr txBox="1">
            <a:spLocks noChangeArrowheads="1"/>
          </p:cNvSpPr>
          <p:nvPr/>
        </p:nvSpPr>
        <p:spPr bwMode="auto">
          <a:xfrm>
            <a:off x="684213" y="620713"/>
            <a:ext cx="8134350" cy="57943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b="1" dirty="0">
                <a:latin typeface="黑体" panose="02010609060101010101" pitchFamily="49" charset="-122"/>
                <a:ea typeface="黑体" panose="02010609060101010101" pitchFamily="49" charset="-122"/>
                <a:cs typeface="楷体_GB2312"/>
              </a:rPr>
              <a:t>机器学习的应用成果（</a:t>
            </a:r>
            <a:r>
              <a:rPr kumimoji="1" lang="en-US" altLang="zh-CN" b="1" dirty="0">
                <a:latin typeface="黑体" panose="02010609060101010101" pitchFamily="49" charset="-122"/>
                <a:ea typeface="黑体" panose="02010609060101010101" pitchFamily="49" charset="-122"/>
                <a:cs typeface="楷体_GB2312"/>
              </a:rPr>
              <a:t>5</a:t>
            </a:r>
            <a:r>
              <a:rPr kumimoji="1" lang="zh-CN" altLang="en-US" b="1" dirty="0">
                <a:latin typeface="黑体" panose="02010609060101010101" pitchFamily="49" charset="-122"/>
                <a:ea typeface="黑体" panose="02010609060101010101" pitchFamily="49" charset="-122"/>
                <a:cs typeface="楷体_GB2312"/>
              </a:rPr>
              <a:t>）</a:t>
            </a:r>
          </a:p>
        </p:txBody>
      </p:sp>
      <p:sp>
        <p:nvSpPr>
          <p:cNvPr id="8" name="文本框 7">
            <a:extLst>
              <a:ext uri="{FF2B5EF4-FFF2-40B4-BE49-F238E27FC236}">
                <a16:creationId xmlns:a16="http://schemas.microsoft.com/office/drawing/2014/main" id="{940BCDD3-5ACE-721D-CD59-7D5A602B4D09}"/>
              </a:ext>
            </a:extLst>
          </p:cNvPr>
          <p:cNvSpPr txBox="1"/>
          <p:nvPr/>
        </p:nvSpPr>
        <p:spPr>
          <a:xfrm>
            <a:off x="827088" y="1287463"/>
            <a:ext cx="7705725" cy="523220"/>
          </a:xfrm>
          <a:prstGeom prst="rect">
            <a:avLst/>
          </a:prstGeom>
          <a:noFill/>
        </p:spPr>
        <p:txBody>
          <a:bodyPr wrap="square">
            <a:spAutoFit/>
          </a:bodyPr>
          <a:lstStyle/>
          <a:p>
            <a:pPr marL="457200" indent="-457200">
              <a:buClr>
                <a:srgbClr val="FF0000"/>
              </a:buClr>
              <a:buFont typeface="Wingdings" panose="05000000000000000000" pitchFamily="2" charset="2"/>
              <a:buChar char="p"/>
              <a:defRPr/>
            </a:pPr>
            <a:r>
              <a:rPr kumimoji="1" lang="en-US" altLang="zh-CN"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Sora</a:t>
            </a:r>
            <a:r>
              <a:rPr kumimoji="1" lang="zh-CN" altLang="en-US"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AI</a:t>
            </a:r>
            <a:r>
              <a:rPr kumimoji="1" lang="zh-CN" altLang="en-US"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视频生成模型</a:t>
            </a:r>
            <a:endParaRPr kumimoji="1" lang="en-US" altLang="zh-CN"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5606" name="内容占位符 2">
            <a:extLst>
              <a:ext uri="{FF2B5EF4-FFF2-40B4-BE49-F238E27FC236}">
                <a16:creationId xmlns:a16="http://schemas.microsoft.com/office/drawing/2014/main" id="{17667C5D-284A-E641-3DE2-A876A3BC4941}"/>
              </a:ext>
            </a:extLst>
          </p:cNvPr>
          <p:cNvSpPr>
            <a:spLocks noGrp="1" noChangeArrowheads="1"/>
          </p:cNvSpPr>
          <p:nvPr/>
        </p:nvSpPr>
        <p:spPr bwMode="auto">
          <a:xfrm>
            <a:off x="3714593" y="3284296"/>
            <a:ext cx="5276225" cy="2663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914400" indent="-45720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304925" indent="-395288">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3065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93913" indent="-39846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511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30083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655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9227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lvl="1">
              <a:spcBef>
                <a:spcPct val="0"/>
              </a:spcBef>
              <a:buClr>
                <a:srgbClr val="FF0000"/>
              </a:buClr>
              <a:buFont typeface="Arial" panose="020B0604020202020204" pitchFamily="34" charset="0"/>
              <a:buChar char="•"/>
            </a:pPr>
            <a:r>
              <a:rPr kumimoji="1" lang="zh-CN" altLang="en-US" sz="2000" dirty="0">
                <a:latin typeface="Times New Roman" panose="02020603050405020304" pitchFamily="18" charset="0"/>
                <a:ea typeface="楷体" panose="02010609060101010101" pitchFamily="49" charset="-122"/>
                <a:cs typeface="Times New Roman" panose="02020603050405020304" pitchFamily="18" charset="0"/>
              </a:rPr>
              <a:t>关键技术：</a:t>
            </a:r>
            <a:endPar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2" algn="just">
              <a:buClr>
                <a:srgbClr val="CC0000"/>
              </a:buClr>
              <a:buFont typeface="Wingdings" panose="05000000000000000000" pitchFamily="2" charset="2"/>
              <a:buChar char="ü"/>
            </a:pPr>
            <a:r>
              <a:rPr kumimoji="1" lang="en-US" altLang="zh-CN" sz="1800" dirty="0">
                <a:latin typeface="华文楷体" panose="02010600040101010101" pitchFamily="2" charset="-122"/>
                <a:ea typeface="华文楷体" panose="02010600040101010101" pitchFamily="2" charset="-122"/>
                <a:cs typeface="Times New Roman" panose="02020603050405020304" pitchFamily="18" charset="0"/>
              </a:rPr>
              <a:t>Diffusion </a:t>
            </a:r>
            <a:r>
              <a:rPr kumimoji="1" lang="zh-CN" altLang="en-US" sz="1800" dirty="0">
                <a:latin typeface="华文楷体" panose="02010600040101010101" pitchFamily="2" charset="-122"/>
                <a:ea typeface="华文楷体" panose="02010600040101010101" pitchFamily="2" charset="-122"/>
                <a:cs typeface="Times New Roman" panose="02020603050405020304" pitchFamily="18" charset="0"/>
              </a:rPr>
              <a:t>Transformer </a:t>
            </a:r>
            <a:r>
              <a:rPr kumimoji="1" lang="en-US" altLang="zh-CN" sz="1800" dirty="0">
                <a:latin typeface="华文楷体" panose="02010600040101010101" pitchFamily="2" charset="-122"/>
                <a:ea typeface="华文楷体" panose="02010600040101010101" pitchFamily="2" charset="-122"/>
                <a:cs typeface="Times New Roman" panose="02020603050405020304" pitchFamily="18" charset="0"/>
              </a:rPr>
              <a:t>Model</a:t>
            </a:r>
            <a:r>
              <a:rPr kumimoji="1" lang="zh-CN" altLang="en-US" sz="1800" dirty="0">
                <a:latin typeface="华文楷体" panose="02010600040101010101" pitchFamily="2" charset="-122"/>
                <a:ea typeface="华文楷体" panose="02010600040101010101" pitchFamily="2" charset="-122"/>
                <a:cs typeface="Times New Roman" panose="02020603050405020304" pitchFamily="18" charset="0"/>
              </a:rPr>
              <a:t>（扩散型变换器模型）</a:t>
            </a:r>
          </a:p>
          <a:p>
            <a:pPr lvl="2" algn="just">
              <a:buClr>
                <a:srgbClr val="CC0000"/>
              </a:buClr>
              <a:buFont typeface="Wingdings" panose="05000000000000000000" pitchFamily="2" charset="2"/>
              <a:buChar char="ü"/>
            </a:pPr>
            <a:r>
              <a:rPr kumimoji="1" lang="en-US" altLang="zh-CN" sz="1800" dirty="0">
                <a:latin typeface="华文楷体" panose="02010600040101010101" pitchFamily="2" charset="-122"/>
                <a:ea typeface="华文楷体" panose="02010600040101010101" pitchFamily="2" charset="-122"/>
                <a:cs typeface="Times New Roman" panose="02020603050405020304" pitchFamily="18" charset="0"/>
              </a:rPr>
              <a:t>Turning visual data into patches</a:t>
            </a:r>
            <a:r>
              <a:rPr kumimoji="1" lang="zh-CN" altLang="en-US" sz="1800" dirty="0">
                <a:latin typeface="华文楷体" panose="02010600040101010101" pitchFamily="2" charset="-122"/>
                <a:ea typeface="华文楷体" panose="02010600040101010101" pitchFamily="2" charset="-122"/>
                <a:cs typeface="Times New Roman" panose="02020603050405020304" pitchFamily="18" charset="0"/>
              </a:rPr>
              <a:t>（将视觉数据转化为补丁）</a:t>
            </a:r>
            <a:endParaRPr kumimoji="1" lang="en-US" altLang="zh-CN" sz="1800" dirty="0">
              <a:latin typeface="华文楷体" panose="02010600040101010101" pitchFamily="2" charset="-122"/>
              <a:ea typeface="华文楷体" panose="02010600040101010101" pitchFamily="2" charset="-122"/>
              <a:cs typeface="Times New Roman" panose="02020603050405020304" pitchFamily="18" charset="0"/>
            </a:endParaRPr>
          </a:p>
          <a:p>
            <a:pPr lvl="2" algn="just">
              <a:buClr>
                <a:srgbClr val="CC0000"/>
              </a:buClr>
              <a:buFont typeface="Wingdings" panose="05000000000000000000" pitchFamily="2" charset="2"/>
              <a:buChar char="ü"/>
            </a:pPr>
            <a:r>
              <a:rPr kumimoji="1" lang="en-US" altLang="zh-CN" sz="1800" dirty="0">
                <a:latin typeface="华文楷体" panose="02010600040101010101" pitchFamily="2" charset="-122"/>
                <a:ea typeface="华文楷体" panose="02010600040101010101" pitchFamily="2" charset="-122"/>
                <a:cs typeface="Times New Roman" panose="02020603050405020304" pitchFamily="18" charset="0"/>
              </a:rPr>
              <a:t>Video compression network</a:t>
            </a:r>
            <a:r>
              <a:rPr kumimoji="1" lang="zh-CN" altLang="en-US" sz="1800" dirty="0">
                <a:latin typeface="华文楷体" panose="02010600040101010101" pitchFamily="2" charset="-122"/>
                <a:ea typeface="华文楷体" panose="02010600040101010101" pitchFamily="2" charset="-122"/>
                <a:cs typeface="Times New Roman" panose="02020603050405020304" pitchFamily="18" charset="0"/>
              </a:rPr>
              <a:t>（视频压缩网络）</a:t>
            </a:r>
            <a:endParaRPr kumimoji="1" lang="en-US" altLang="zh-CN" sz="1800" dirty="0">
              <a:latin typeface="华文楷体" panose="02010600040101010101" pitchFamily="2" charset="-122"/>
              <a:ea typeface="华文楷体" panose="02010600040101010101" pitchFamily="2" charset="-122"/>
              <a:cs typeface="Times New Roman" panose="02020603050405020304" pitchFamily="18" charset="0"/>
            </a:endParaRPr>
          </a:p>
          <a:p>
            <a:pPr lvl="2" algn="just">
              <a:buClr>
                <a:srgbClr val="CC0000"/>
              </a:buClr>
              <a:buFont typeface="Wingdings" panose="05000000000000000000" pitchFamily="2" charset="2"/>
              <a:buChar char="ü"/>
            </a:pPr>
            <a:r>
              <a:rPr kumimoji="1" lang="en-US" altLang="zh-CN" sz="1800" dirty="0">
                <a:latin typeface="华文楷体" panose="02010600040101010101" pitchFamily="2" charset="-122"/>
                <a:ea typeface="华文楷体" panose="02010600040101010101" pitchFamily="2" charset="-122"/>
                <a:cs typeface="Times New Roman" panose="02020603050405020304" pitchFamily="18" charset="0"/>
              </a:rPr>
              <a:t>Spacetime Latent Patches</a:t>
            </a:r>
            <a:r>
              <a:rPr kumimoji="1" lang="zh-CN" altLang="en-US" sz="1800" dirty="0">
                <a:latin typeface="华文楷体" panose="02010600040101010101" pitchFamily="2" charset="-122"/>
                <a:ea typeface="华文楷体" panose="02010600040101010101" pitchFamily="2" charset="-122"/>
                <a:cs typeface="Times New Roman" panose="02020603050405020304" pitchFamily="18" charset="0"/>
              </a:rPr>
              <a:t>（时空潜在补丁）</a:t>
            </a:r>
            <a:endParaRPr kumimoji="1" lang="en-US" altLang="zh-CN" sz="1800" dirty="0">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3" name="文本框 2">
            <a:extLst>
              <a:ext uri="{FF2B5EF4-FFF2-40B4-BE49-F238E27FC236}">
                <a16:creationId xmlns:a16="http://schemas.microsoft.com/office/drawing/2014/main" id="{315F07E4-44EB-E894-BBE3-8ACDDF281A1F}"/>
              </a:ext>
            </a:extLst>
          </p:cNvPr>
          <p:cNvSpPr txBox="1"/>
          <p:nvPr/>
        </p:nvSpPr>
        <p:spPr>
          <a:xfrm>
            <a:off x="689696" y="6289675"/>
            <a:ext cx="7997104" cy="276999"/>
          </a:xfrm>
          <a:prstGeom prst="rect">
            <a:avLst/>
          </a:prstGeom>
          <a:noFill/>
        </p:spPr>
        <p:txBody>
          <a:bodyPr wrap="square">
            <a:spAutoFit/>
          </a:bodyPr>
          <a:lstStyle/>
          <a:p>
            <a:pPr>
              <a:defRPr/>
            </a:pPr>
            <a:r>
              <a:rPr lang="zh-CN" altLang="en-US" sz="1200" dirty="0">
                <a:latin typeface="+mn-lt"/>
                <a:sym typeface="+mn-ea"/>
              </a:rPr>
              <a:t>参考内容：</a:t>
            </a:r>
            <a:r>
              <a:rPr lang="en-US" altLang="zh-CN" sz="1200" dirty="0">
                <a:latin typeface="+mn-lt"/>
                <a:sym typeface="+mn-ea"/>
              </a:rPr>
              <a:t>https://www.bilibili.com/video/BV1hp421d7LD/</a:t>
            </a:r>
            <a:endParaRPr lang="en-US" altLang="zh-CN" sz="1200" i="1" dirty="0"/>
          </a:p>
        </p:txBody>
      </p:sp>
      <p:sp>
        <p:nvSpPr>
          <p:cNvPr id="6" name="内容占位符 2">
            <a:extLst>
              <a:ext uri="{FF2B5EF4-FFF2-40B4-BE49-F238E27FC236}">
                <a16:creationId xmlns:a16="http://schemas.microsoft.com/office/drawing/2014/main" id="{0BA11712-2030-7CE4-FD08-61E79B8C7C0E}"/>
              </a:ext>
            </a:extLst>
          </p:cNvPr>
          <p:cNvSpPr>
            <a:spLocks noGrp="1"/>
          </p:cNvSpPr>
          <p:nvPr>
            <p:ph idx="1"/>
          </p:nvPr>
        </p:nvSpPr>
        <p:spPr>
          <a:xfrm>
            <a:off x="901015" y="1496429"/>
            <a:ext cx="8015876" cy="1877441"/>
          </a:xfrm>
        </p:spPr>
        <p:txBody>
          <a:bodyPr>
            <a:noAutofit/>
          </a:bodyPr>
          <a:lstStyle/>
          <a:p>
            <a:pPr algn="just">
              <a:buClr>
                <a:srgbClr val="FF0000"/>
              </a:buClr>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algn="just">
              <a:buClr>
                <a:srgbClr val="FF0000"/>
              </a:buClr>
              <a:defRPr/>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rPr>
              <a:t>Sora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mn-ea"/>
              </a:rPr>
              <a:t>是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rPr>
              <a:t>OpenAI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mn-ea"/>
              </a:rPr>
              <a:t>开发的</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rPr>
              <a:t>AI</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mn-ea"/>
              </a:rPr>
              <a:t>视频生成模型，它能够根据用户提供的文本描述生成高质量视频。</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rPr>
              <a:t>Sora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mn-ea"/>
              </a:rPr>
              <a:t>采用了 </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sym typeface="+mn-ea"/>
              </a:rPr>
              <a:t>DiT</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rPr>
              <a:t>Diffusion Transformer</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mn-ea"/>
              </a:rPr>
              <a:t>）架构，结合了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rPr>
              <a:t>Diffusion Model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mn-ea"/>
              </a:rPr>
              <a:t>和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rPr>
              <a:t>Transformer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mn-ea"/>
              </a:rPr>
              <a:t>的方法，能够将随机噪声逐渐转化为有意义的图像或视频内容。</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a:p>
            <a:pPr algn="just">
              <a:buClr>
                <a:srgbClr val="FF0000"/>
              </a:buClr>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marL="0" indent="0" algn="just">
              <a:buClr>
                <a:srgbClr val="FF0000"/>
              </a:buClr>
              <a:buFont typeface="Arial" panose="020B0604020202020204" pitchFamily="34" charset="0"/>
              <a:buNone/>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marL="0" indent="0" algn="just">
              <a:buClr>
                <a:srgbClr val="FF0000"/>
              </a:buClr>
              <a:buFont typeface="Arial" panose="020B0604020202020204" pitchFamily="34" charset="0"/>
              <a:buNone/>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1" algn="just">
              <a:buClr>
                <a:srgbClr val="FF0000"/>
              </a:buClr>
              <a:defRPr/>
            </a:pPr>
            <a:endParaRPr lang="en-US" altLang="zh-CN" sz="16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7" name="1441510861-1-16">
            <a:hlinkClick r:id="" action="ppaction://media"/>
            <a:extLst>
              <a:ext uri="{FF2B5EF4-FFF2-40B4-BE49-F238E27FC236}">
                <a16:creationId xmlns:a16="http://schemas.microsoft.com/office/drawing/2014/main" id="{3B108FB1-2856-69D3-DF3C-EAD995B13F8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115616" y="3713066"/>
            <a:ext cx="3133539" cy="1895708"/>
          </a:xfrm>
          <a:prstGeom prst="rect">
            <a:avLst/>
          </a:prstGeom>
        </p:spPr>
      </p:pic>
    </p:spTree>
    <p:extLst>
      <p:ext uri="{BB962C8B-B14F-4D97-AF65-F5344CB8AC3E}">
        <p14:creationId xmlns:p14="http://schemas.microsoft.com/office/powerpoint/2010/main" val="37292844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410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B7405-CD77-CFAF-EA10-DFB9F3162E00}"/>
            </a:ext>
          </a:extLst>
        </p:cNvPr>
        <p:cNvGrpSpPr/>
        <p:nvPr/>
      </p:nvGrpSpPr>
      <p:grpSpPr>
        <a:xfrm>
          <a:off x="0" y="0"/>
          <a:ext cx="0" cy="0"/>
          <a:chOff x="0" y="0"/>
          <a:chExt cx="0" cy="0"/>
        </a:xfrm>
      </p:grpSpPr>
      <p:sp>
        <p:nvSpPr>
          <p:cNvPr id="25602" name="灯片编号占位符 5">
            <a:extLst>
              <a:ext uri="{FF2B5EF4-FFF2-40B4-BE49-F238E27FC236}">
                <a16:creationId xmlns:a16="http://schemas.microsoft.com/office/drawing/2014/main" id="{AE7560DB-A1E8-0ED0-2D43-13BD9AE5261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41B63B22-0994-4859-96F6-ED3A34FB20E9}" type="slidenum">
              <a:rPr kumimoji="1" lang="en-US" altLang="zh-CN" sz="1400" smtClean="0">
                <a:latin typeface="Times New Roman" panose="02020603050405020304" pitchFamily="18" charset="0"/>
              </a:rPr>
              <a:pPr>
                <a:spcBef>
                  <a:spcPct val="0"/>
                </a:spcBef>
                <a:buFontTx/>
                <a:buNone/>
              </a:pPr>
              <a:t>26</a:t>
            </a:fld>
            <a:endParaRPr kumimoji="1" lang="en-US" altLang="zh-CN" sz="1400">
              <a:latin typeface="Times New Roman" panose="02020603050405020304" pitchFamily="18" charset="0"/>
            </a:endParaRPr>
          </a:p>
        </p:txBody>
      </p:sp>
      <p:sp>
        <p:nvSpPr>
          <p:cNvPr id="25603" name="Text Box 4">
            <a:extLst>
              <a:ext uri="{FF2B5EF4-FFF2-40B4-BE49-F238E27FC236}">
                <a16:creationId xmlns:a16="http://schemas.microsoft.com/office/drawing/2014/main" id="{4B0BB699-F8C3-D758-27BF-0AEDB2A6A1CE}"/>
              </a:ext>
            </a:extLst>
          </p:cNvPr>
          <p:cNvSpPr txBox="1">
            <a:spLocks noChangeArrowheads="1"/>
          </p:cNvSpPr>
          <p:nvPr/>
        </p:nvSpPr>
        <p:spPr bwMode="auto">
          <a:xfrm>
            <a:off x="684213" y="620713"/>
            <a:ext cx="8134350" cy="57943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b="1" dirty="0">
                <a:latin typeface="黑体" panose="02010609060101010101" pitchFamily="49" charset="-122"/>
                <a:ea typeface="黑体" panose="02010609060101010101" pitchFamily="49" charset="-122"/>
                <a:cs typeface="楷体_GB2312"/>
              </a:rPr>
              <a:t>机器学习的应用成果（</a:t>
            </a:r>
            <a:r>
              <a:rPr kumimoji="1" lang="en-US" altLang="zh-CN" b="1" dirty="0">
                <a:latin typeface="黑体" panose="02010609060101010101" pitchFamily="49" charset="-122"/>
                <a:ea typeface="黑体" panose="02010609060101010101" pitchFamily="49" charset="-122"/>
                <a:cs typeface="楷体_GB2312"/>
              </a:rPr>
              <a:t>6</a:t>
            </a:r>
            <a:r>
              <a:rPr kumimoji="1" lang="zh-CN" altLang="en-US" b="1" dirty="0">
                <a:latin typeface="黑体" panose="02010609060101010101" pitchFamily="49" charset="-122"/>
                <a:ea typeface="黑体" panose="02010609060101010101" pitchFamily="49" charset="-122"/>
                <a:cs typeface="楷体_GB2312"/>
              </a:rPr>
              <a:t>）</a:t>
            </a:r>
          </a:p>
        </p:txBody>
      </p:sp>
      <p:sp>
        <p:nvSpPr>
          <p:cNvPr id="8" name="文本框 7">
            <a:extLst>
              <a:ext uri="{FF2B5EF4-FFF2-40B4-BE49-F238E27FC236}">
                <a16:creationId xmlns:a16="http://schemas.microsoft.com/office/drawing/2014/main" id="{940BCDD3-5ACE-721D-CD59-7D5A602B4D09}"/>
              </a:ext>
            </a:extLst>
          </p:cNvPr>
          <p:cNvSpPr txBox="1"/>
          <p:nvPr/>
        </p:nvSpPr>
        <p:spPr>
          <a:xfrm>
            <a:off x="827088" y="1287463"/>
            <a:ext cx="7705725" cy="523220"/>
          </a:xfrm>
          <a:prstGeom prst="rect">
            <a:avLst/>
          </a:prstGeom>
          <a:noFill/>
        </p:spPr>
        <p:txBody>
          <a:bodyPr wrap="square">
            <a:spAutoFit/>
          </a:bodyPr>
          <a:lstStyle/>
          <a:p>
            <a:pPr marL="457200" indent="-457200">
              <a:buClr>
                <a:srgbClr val="FF0000"/>
              </a:buClr>
              <a:buFont typeface="Wingdings" panose="05000000000000000000" pitchFamily="2" charset="2"/>
              <a:buChar char="p"/>
              <a:defRPr/>
            </a:pPr>
            <a:r>
              <a:rPr kumimoji="1" lang="en-US" altLang="zh-CN" sz="2800" b="1"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DeepSeek</a:t>
            </a:r>
            <a:r>
              <a:rPr kumimoji="1" lang="zh-CN" altLang="en-US"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：中国的</a:t>
            </a:r>
            <a:r>
              <a:rPr kumimoji="1" lang="en-US" altLang="zh-CN"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AI</a:t>
            </a:r>
            <a:r>
              <a:rPr kumimoji="1" lang="zh-CN" altLang="en-US"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大模型</a:t>
            </a:r>
            <a:endParaRPr kumimoji="1" lang="en-US" altLang="zh-CN"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内容占位符 2">
            <a:extLst>
              <a:ext uri="{FF2B5EF4-FFF2-40B4-BE49-F238E27FC236}">
                <a16:creationId xmlns:a16="http://schemas.microsoft.com/office/drawing/2014/main" id="{0BA11712-2030-7CE4-FD08-61E79B8C7C0E}"/>
              </a:ext>
            </a:extLst>
          </p:cNvPr>
          <p:cNvSpPr>
            <a:spLocks noGrp="1"/>
          </p:cNvSpPr>
          <p:nvPr>
            <p:ph idx="1"/>
          </p:nvPr>
        </p:nvSpPr>
        <p:spPr>
          <a:xfrm>
            <a:off x="901015" y="1496429"/>
            <a:ext cx="8015876" cy="1877441"/>
          </a:xfrm>
        </p:spPr>
        <p:txBody>
          <a:bodyPr>
            <a:noAutofit/>
          </a:bodyPr>
          <a:lstStyle/>
          <a:p>
            <a:pPr algn="just">
              <a:buClr>
                <a:srgbClr val="FF0000"/>
              </a:buClr>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lvl="0" algn="just" hangingPunct="1">
              <a:buClr>
                <a:srgbClr val="FF0000"/>
              </a:buClr>
              <a:defRPr/>
            </a:pPr>
            <a:r>
              <a:rPr lang="en-US" altLang="zh-CN" sz="2000" dirty="0" err="1">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DeepSeek</a:t>
            </a:r>
            <a:r>
              <a:rPr lang="zh-CN" altLang="en-US"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是幻方量化旗下</a:t>
            </a:r>
            <a:r>
              <a:rPr lang="en-US" altLang="zh-CN"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AI</a:t>
            </a:r>
            <a:r>
              <a:rPr lang="zh-CN" altLang="en-US"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公司深度求索研发的大模型。目前混合专家模型（</a:t>
            </a:r>
            <a:r>
              <a:rPr lang="en-US" altLang="zh-CN"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MOE</a:t>
            </a:r>
            <a:r>
              <a:rPr lang="zh-CN" altLang="en-US"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V3</a:t>
            </a:r>
            <a:r>
              <a:rPr lang="zh-CN" altLang="en-US"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、思维链 </a:t>
            </a:r>
            <a:r>
              <a:rPr lang="en-US" altLang="zh-CN"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2000" dirty="0" err="1">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CoT</a:t>
            </a:r>
            <a:r>
              <a:rPr lang="en-US" altLang="zh-CN"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 </a:t>
            </a:r>
            <a:r>
              <a:rPr lang="zh-CN" altLang="en-US"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模型</a:t>
            </a:r>
            <a:r>
              <a:rPr lang="en-US" altLang="zh-CN"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R1</a:t>
            </a:r>
            <a:r>
              <a:rPr lang="zh-CN" altLang="en-US"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均已开源。评估结果表明，它们在性能上超越了其他开源模型，并能够与主流闭源模型相媲美。</a:t>
            </a:r>
            <a:endParaRPr lang="zh-CN" altLang="en-US"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gn="just">
              <a:buClr>
                <a:srgbClr val="FF0000"/>
              </a:buClr>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marL="0" indent="0" algn="just">
              <a:buClr>
                <a:srgbClr val="FF0000"/>
              </a:buClr>
              <a:buFont typeface="Arial" panose="020B0604020202020204" pitchFamily="34" charset="0"/>
              <a:buNone/>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marL="0" indent="0" algn="just">
              <a:buClr>
                <a:srgbClr val="FF0000"/>
              </a:buClr>
              <a:buFont typeface="Arial" panose="020B0604020202020204" pitchFamily="34" charset="0"/>
              <a:buNone/>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1" algn="just">
              <a:buClr>
                <a:srgbClr val="FF0000"/>
              </a:buClr>
              <a:defRPr/>
            </a:pPr>
            <a:endParaRPr lang="en-US" altLang="zh-CN"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内容占位符 2">
            <a:extLst>
              <a:ext uri="{FF2B5EF4-FFF2-40B4-BE49-F238E27FC236}">
                <a16:creationId xmlns:a16="http://schemas.microsoft.com/office/drawing/2014/main" id="{17667C5D-284A-E641-3DE2-A876A3BC4941}"/>
              </a:ext>
            </a:extLst>
          </p:cNvPr>
          <p:cNvSpPr>
            <a:spLocks noGrp="1" noChangeArrowheads="1"/>
          </p:cNvSpPr>
          <p:nvPr/>
        </p:nvSpPr>
        <p:spPr bwMode="auto">
          <a:xfrm>
            <a:off x="3714593" y="3084962"/>
            <a:ext cx="5276225" cy="2838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914400" indent="-45720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304925" indent="-395288">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3065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93913" indent="-39846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511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30083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655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9227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lvl="1" eaLnBrk="0" fontAlgn="base" hangingPunct="0">
              <a:spcBef>
                <a:spcPct val="0"/>
              </a:spcBef>
              <a:spcAft>
                <a:spcPct val="0"/>
              </a:spcAft>
              <a:buClr>
                <a:srgbClr val="FF0000"/>
              </a:buClr>
              <a:buFont typeface="Arial" panose="020B0604020202020204" pitchFamily="34" charset="0"/>
              <a:buChar char="•"/>
            </a:pPr>
            <a:r>
              <a:rPr kumimoji="1" lang="zh-CN" altLang="en-US"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关键技术：</a:t>
            </a:r>
            <a:endParaRPr kumimoji="1" lang="en-US" altLang="zh-CN"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lvl="2" algn="just" eaLnBrk="0" fontAlgn="base" hangingPunct="0">
              <a:spcAft>
                <a:spcPct val="0"/>
              </a:spcAft>
              <a:buClr>
                <a:srgbClr val="CC0000"/>
              </a:buClr>
              <a:buFont typeface="Wingdings" panose="05000000000000000000" pitchFamily="2" charset="2"/>
              <a:buChar char="ü"/>
            </a:pPr>
            <a:r>
              <a:rPr kumimoji="1" lang="zh-CN" altLang="en-US"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无辅助损失的负载均衡策略；</a:t>
            </a:r>
            <a:endParaRPr kumimoji="1" lang="en-US" altLang="zh-CN"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endParaRPr>
          </a:p>
          <a:p>
            <a:pPr lvl="2" algn="just" eaLnBrk="0" fontAlgn="base" hangingPunct="0">
              <a:spcAft>
                <a:spcPct val="0"/>
              </a:spcAft>
              <a:buClr>
                <a:srgbClr val="CC0000"/>
              </a:buClr>
              <a:buFont typeface="Wingdings" panose="05000000000000000000" pitchFamily="2" charset="2"/>
              <a:buChar char="ü"/>
            </a:pPr>
            <a:r>
              <a:rPr kumimoji="1" lang="zh-CN" altLang="en-US"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多 </a:t>
            </a:r>
            <a:r>
              <a:rPr kumimoji="1" lang="en-US" altLang="zh-CN"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token </a:t>
            </a:r>
            <a:r>
              <a:rPr kumimoji="1" lang="zh-CN" altLang="en-US"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预测</a:t>
            </a:r>
            <a:r>
              <a:rPr kumimoji="1" lang="en-US" altLang="zh-CN"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(MTP)</a:t>
            </a:r>
            <a:r>
              <a:rPr kumimoji="1" lang="zh-CN" altLang="en-US"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训练目标；</a:t>
            </a:r>
            <a:endParaRPr kumimoji="1" lang="en-US" altLang="zh-CN"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endParaRPr>
          </a:p>
          <a:p>
            <a:pPr lvl="2" algn="just" eaLnBrk="0" fontAlgn="base" hangingPunct="0">
              <a:spcAft>
                <a:spcPct val="0"/>
              </a:spcAft>
              <a:buClr>
                <a:srgbClr val="CC0000"/>
              </a:buClr>
              <a:buFont typeface="Wingdings" panose="05000000000000000000" pitchFamily="2" charset="2"/>
              <a:buChar char="ü"/>
            </a:pPr>
            <a:r>
              <a:rPr kumimoji="1" lang="en-US" altLang="zh-CN"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 FP8 </a:t>
            </a:r>
            <a:r>
              <a:rPr kumimoji="1" lang="zh-CN" altLang="en-US"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混合精度训练框架；</a:t>
            </a:r>
            <a:endParaRPr kumimoji="1" lang="en-US" altLang="zh-CN"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endParaRPr>
          </a:p>
          <a:p>
            <a:pPr lvl="2" algn="just" eaLnBrk="0" fontAlgn="base" hangingPunct="0">
              <a:spcAft>
                <a:spcPct val="0"/>
              </a:spcAft>
              <a:buClr>
                <a:srgbClr val="CC0000"/>
              </a:buClr>
              <a:buFont typeface="Wingdings" panose="05000000000000000000" pitchFamily="2" charset="2"/>
              <a:buChar char="ü"/>
            </a:pPr>
            <a:r>
              <a:rPr kumimoji="1" lang="zh-CN" altLang="en-US"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突破了训练中的通信瓶颈；</a:t>
            </a:r>
            <a:endParaRPr kumimoji="1" lang="en-US" altLang="zh-CN"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endParaRPr>
          </a:p>
          <a:p>
            <a:pPr lvl="2" algn="just" eaLnBrk="0" fontAlgn="base" hangingPunct="0">
              <a:spcAft>
                <a:spcPct val="0"/>
              </a:spcAft>
              <a:buClr>
                <a:srgbClr val="CC0000"/>
              </a:buClr>
              <a:buFont typeface="Wingdings" panose="05000000000000000000" pitchFamily="2" charset="2"/>
              <a:buChar char="ü"/>
            </a:pPr>
            <a:r>
              <a:rPr kumimoji="1" lang="zh-CN" altLang="en-US"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创新知识蒸馏方法，将思维链 </a:t>
            </a:r>
            <a:r>
              <a:rPr kumimoji="1" lang="en-US" altLang="zh-CN"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a:t>
            </a:r>
            <a:r>
              <a:rPr kumimoji="1" lang="en-US" altLang="zh-CN" sz="1800" dirty="0" err="1">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CoT</a:t>
            </a:r>
            <a:r>
              <a:rPr kumimoji="1" lang="en-US" altLang="zh-CN"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 </a:t>
            </a:r>
            <a:r>
              <a:rPr kumimoji="1" lang="zh-CN" altLang="en-US"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模型（特别是 </a:t>
            </a:r>
            <a:r>
              <a:rPr kumimoji="1" lang="en-US" altLang="zh-CN" sz="1800" dirty="0" err="1">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DeepSeek</a:t>
            </a:r>
            <a:r>
              <a:rPr kumimoji="1" lang="en-US" altLang="zh-CN"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 R1</a:t>
            </a:r>
            <a:r>
              <a:rPr kumimoji="1" lang="zh-CN" altLang="en-US"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）的推理能力转移到标准模型中。</a:t>
            </a:r>
            <a:endParaRPr kumimoji="1" lang="en-US" altLang="zh-CN"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endParaRPr>
          </a:p>
        </p:txBody>
      </p:sp>
      <p:pic>
        <p:nvPicPr>
          <p:cNvPr id="10" name="Picture 2" descr="接入DeepSeek 央企“AI+”行动提速|上海证券报">
            <a:extLst>
              <a:ext uri="{FF2B5EF4-FFF2-40B4-BE49-F238E27FC236}">
                <a16:creationId xmlns:a16="http://schemas.microsoft.com/office/drawing/2014/main" id="{67184305-9FDD-88B2-92E3-386FB2DE03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3379990"/>
            <a:ext cx="3075517" cy="1779406"/>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315F07E4-44EB-E894-BBE3-8ACDDF281A1F}"/>
              </a:ext>
            </a:extLst>
          </p:cNvPr>
          <p:cNvSpPr txBox="1"/>
          <p:nvPr/>
        </p:nvSpPr>
        <p:spPr>
          <a:xfrm>
            <a:off x="1209750" y="5721612"/>
            <a:ext cx="7997104" cy="646331"/>
          </a:xfrm>
          <a:prstGeom prst="rect">
            <a:avLst/>
          </a:prstGeom>
          <a:noFill/>
        </p:spPr>
        <p:txBody>
          <a:bodyPr wrap="square">
            <a:spAutoFit/>
          </a:bodyPr>
          <a:lstStyle/>
          <a:p>
            <a:pPr eaLnBrk="0" fontAlgn="base" hangingPunct="0">
              <a:spcBef>
                <a:spcPct val="0"/>
              </a:spcBef>
              <a:spcAft>
                <a:spcPct val="0"/>
              </a:spcAft>
              <a:defRPr/>
            </a:pPr>
            <a:r>
              <a:rPr lang="zh-CN" altLang="en-US" sz="1200" dirty="0">
                <a:solidFill>
                  <a:prstClr val="black"/>
                </a:solidFill>
                <a:latin typeface="Calibri"/>
                <a:ea typeface="宋体" panose="02010600030101010101" pitchFamily="2" charset="-122"/>
                <a:sym typeface="+mn-ea"/>
              </a:rPr>
              <a:t>参考内容：</a:t>
            </a:r>
            <a:endParaRPr lang="en-US" altLang="zh-CN" sz="1200" dirty="0">
              <a:solidFill>
                <a:prstClr val="black"/>
              </a:solidFill>
              <a:latin typeface="Calibri"/>
              <a:ea typeface="宋体" panose="02010600030101010101" pitchFamily="2" charset="-122"/>
              <a:sym typeface="+mn-ea"/>
            </a:endParaRPr>
          </a:p>
          <a:p>
            <a:pPr eaLnBrk="0" fontAlgn="base" hangingPunct="0">
              <a:spcBef>
                <a:spcPct val="0"/>
              </a:spcBef>
              <a:spcAft>
                <a:spcPct val="0"/>
              </a:spcAft>
              <a:defRPr/>
            </a:pPr>
            <a:r>
              <a:rPr lang="en-US" altLang="zh-CN" sz="1200" dirty="0">
                <a:sym typeface="+mn-ea"/>
              </a:rPr>
              <a:t>https://github.com/deepseek-ai/DeepSeek-V3</a:t>
            </a:r>
          </a:p>
          <a:p>
            <a:pPr eaLnBrk="0" fontAlgn="base" hangingPunct="0">
              <a:spcBef>
                <a:spcPct val="0"/>
              </a:spcBef>
              <a:spcAft>
                <a:spcPct val="0"/>
              </a:spcAft>
              <a:defRPr/>
            </a:pPr>
            <a:r>
              <a:rPr lang="en-US" altLang="zh-CN" sz="1200" dirty="0"/>
              <a:t>https://github.com/deepseek-ai/DeepSeek-R1</a:t>
            </a:r>
          </a:p>
        </p:txBody>
      </p:sp>
      <p:sp>
        <p:nvSpPr>
          <p:cNvPr id="2" name="文本框 1"/>
          <p:cNvSpPr txBox="1"/>
          <p:nvPr/>
        </p:nvSpPr>
        <p:spPr>
          <a:xfrm>
            <a:off x="4427984" y="5721612"/>
            <a:ext cx="4488907" cy="923330"/>
          </a:xfrm>
          <a:prstGeom prst="rect">
            <a:avLst/>
          </a:prstGeom>
          <a:noFill/>
        </p:spPr>
        <p:txBody>
          <a:bodyPr wrap="square" rtlCol="0">
            <a:spAutoFit/>
          </a:bodyPr>
          <a:lstStyle/>
          <a:p>
            <a:r>
              <a:rPr lang="en-US" altLang="zh-CN" dirty="0" err="1">
                <a:latin typeface="Times New Roman" panose="02020603050405020304" pitchFamily="18" charset="0"/>
                <a:cs typeface="Times New Roman" panose="02020603050405020304" pitchFamily="18" charset="0"/>
              </a:rPr>
              <a:t>DeepSeek</a:t>
            </a:r>
            <a:r>
              <a:rPr lang="zh-CN" altLang="en-US" dirty="0">
                <a:latin typeface="Times New Roman" panose="02020603050405020304" pitchFamily="18" charset="0"/>
                <a:cs typeface="Times New Roman" panose="02020603050405020304" pitchFamily="18" charset="0"/>
              </a:rPr>
              <a:t>：</a:t>
            </a:r>
            <a:r>
              <a:rPr lang="zh-CN" altLang="en-US" dirty="0"/>
              <a:t>“通过</a:t>
            </a:r>
            <a:r>
              <a:rPr lang="zh-CN" altLang="en-US" b="1" dirty="0"/>
              <a:t>算法</a:t>
            </a:r>
            <a:r>
              <a:rPr lang="en-US" altLang="zh-CN" b="1" dirty="0"/>
              <a:t>-</a:t>
            </a:r>
            <a:r>
              <a:rPr lang="zh-CN" altLang="en-US" b="1" dirty="0"/>
              <a:t>硬件</a:t>
            </a:r>
            <a:r>
              <a:rPr lang="en-US" altLang="zh-CN" b="1" dirty="0"/>
              <a:t>-</a:t>
            </a:r>
            <a:r>
              <a:rPr lang="zh-CN" altLang="en-US" b="1" dirty="0"/>
              <a:t>数据协同优化</a:t>
            </a:r>
            <a:r>
              <a:rPr lang="zh-CN" altLang="en-US" dirty="0"/>
              <a:t>，在保持架构兼容性的同时，显著提升性能与实用性”。</a:t>
            </a:r>
          </a:p>
        </p:txBody>
      </p:sp>
    </p:spTree>
    <p:extLst>
      <p:ext uri="{BB962C8B-B14F-4D97-AF65-F5344CB8AC3E}">
        <p14:creationId xmlns:p14="http://schemas.microsoft.com/office/powerpoint/2010/main" val="9801939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80676-86A5-6CA6-E687-0F0FE974B52A}"/>
            </a:ext>
          </a:extLst>
        </p:cNvPr>
        <p:cNvGrpSpPr/>
        <p:nvPr/>
      </p:nvGrpSpPr>
      <p:grpSpPr>
        <a:xfrm>
          <a:off x="0" y="0"/>
          <a:ext cx="0" cy="0"/>
          <a:chOff x="0" y="0"/>
          <a:chExt cx="0" cy="0"/>
        </a:xfrm>
      </p:grpSpPr>
      <p:sp>
        <p:nvSpPr>
          <p:cNvPr id="25602" name="灯片编号占位符 5">
            <a:extLst>
              <a:ext uri="{FF2B5EF4-FFF2-40B4-BE49-F238E27FC236}">
                <a16:creationId xmlns:a16="http://schemas.microsoft.com/office/drawing/2014/main" id="{E9753508-5FA6-90C5-2E93-3ADBB227269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41B63B22-0994-4859-96F6-ED3A34FB20E9}" type="slidenum">
              <a:rPr kumimoji="1" lang="en-US" altLang="zh-CN" sz="1400" smtClean="0">
                <a:latin typeface="Times New Roman" panose="02020603050405020304" pitchFamily="18" charset="0"/>
              </a:rPr>
              <a:pPr>
                <a:spcBef>
                  <a:spcPct val="0"/>
                </a:spcBef>
                <a:buFontTx/>
                <a:buNone/>
              </a:pPr>
              <a:t>27</a:t>
            </a:fld>
            <a:endParaRPr kumimoji="1" lang="en-US" altLang="zh-CN" sz="1400">
              <a:latin typeface="Times New Roman" panose="02020603050405020304" pitchFamily="18" charset="0"/>
            </a:endParaRPr>
          </a:p>
        </p:txBody>
      </p:sp>
      <p:sp>
        <p:nvSpPr>
          <p:cNvPr id="25603" name="Text Box 4">
            <a:extLst>
              <a:ext uri="{FF2B5EF4-FFF2-40B4-BE49-F238E27FC236}">
                <a16:creationId xmlns:a16="http://schemas.microsoft.com/office/drawing/2014/main" id="{F8C3E7AC-C323-BDEE-598F-FF75552552F1}"/>
              </a:ext>
            </a:extLst>
          </p:cNvPr>
          <p:cNvSpPr txBox="1">
            <a:spLocks noChangeArrowheads="1"/>
          </p:cNvSpPr>
          <p:nvPr/>
        </p:nvSpPr>
        <p:spPr bwMode="auto">
          <a:xfrm>
            <a:off x="684213" y="620713"/>
            <a:ext cx="8134350" cy="57943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zh-CN" altLang="en-US" b="1" dirty="0">
                <a:latin typeface="黑体" panose="02010609060101010101" pitchFamily="49" charset="-122"/>
                <a:ea typeface="黑体" panose="02010609060101010101" pitchFamily="49" charset="-122"/>
                <a:cs typeface="楷体_GB2312"/>
              </a:rPr>
              <a:t>机器学习的应用成果（</a:t>
            </a:r>
            <a:r>
              <a:rPr kumimoji="1" lang="en-US" altLang="zh-CN" b="1" dirty="0">
                <a:latin typeface="黑体" panose="02010609060101010101" pitchFamily="49" charset="-122"/>
                <a:ea typeface="黑体" panose="02010609060101010101" pitchFamily="49" charset="-122"/>
                <a:cs typeface="楷体_GB2312"/>
              </a:rPr>
              <a:t>7</a:t>
            </a:r>
            <a:r>
              <a:rPr kumimoji="1" lang="zh-CN" altLang="en-US" b="1" dirty="0">
                <a:latin typeface="黑体" panose="02010609060101010101" pitchFamily="49" charset="-122"/>
                <a:ea typeface="黑体" panose="02010609060101010101" pitchFamily="49" charset="-122"/>
                <a:cs typeface="楷体_GB2312"/>
              </a:rPr>
              <a:t>）</a:t>
            </a:r>
          </a:p>
        </p:txBody>
      </p:sp>
      <p:sp>
        <p:nvSpPr>
          <p:cNvPr id="8" name="文本框 7">
            <a:extLst>
              <a:ext uri="{FF2B5EF4-FFF2-40B4-BE49-F238E27FC236}">
                <a16:creationId xmlns:a16="http://schemas.microsoft.com/office/drawing/2014/main" id="{2948EC74-6752-2066-CBE2-0AAB30BE6D27}"/>
              </a:ext>
            </a:extLst>
          </p:cNvPr>
          <p:cNvSpPr txBox="1"/>
          <p:nvPr/>
        </p:nvSpPr>
        <p:spPr>
          <a:xfrm>
            <a:off x="827088" y="1287463"/>
            <a:ext cx="7705725" cy="523220"/>
          </a:xfrm>
          <a:prstGeom prst="rect">
            <a:avLst/>
          </a:prstGeom>
          <a:noFill/>
        </p:spPr>
        <p:txBody>
          <a:bodyPr wrap="square">
            <a:spAutoFit/>
          </a:bodyPr>
          <a:lstStyle/>
          <a:p>
            <a:pPr marL="457200" indent="-457200">
              <a:buClr>
                <a:srgbClr val="FF0000"/>
              </a:buClr>
              <a:buFont typeface="Wingdings" panose="05000000000000000000" pitchFamily="2" charset="2"/>
              <a:buChar char="p"/>
              <a:defRPr/>
            </a:pPr>
            <a:r>
              <a:rPr kumimoji="1" lang="en-US" altLang="zh-CN" sz="2800" b="1"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Seedance</a:t>
            </a:r>
            <a:r>
              <a:rPr kumimoji="1" lang="en-US" altLang="zh-CN"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2.0</a:t>
            </a:r>
            <a:r>
              <a:rPr kumimoji="1" lang="zh-CN" altLang="en-US"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：中国的</a:t>
            </a:r>
            <a:r>
              <a:rPr kumimoji="1" lang="en-US" altLang="zh-CN"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AI</a:t>
            </a:r>
            <a:r>
              <a:rPr kumimoji="1" lang="zh-CN" altLang="en-US"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视频生成模型</a:t>
            </a:r>
            <a:endParaRPr kumimoji="1" lang="en-US" altLang="zh-CN" sz="28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内容占位符 2">
            <a:extLst>
              <a:ext uri="{FF2B5EF4-FFF2-40B4-BE49-F238E27FC236}">
                <a16:creationId xmlns:a16="http://schemas.microsoft.com/office/drawing/2014/main" id="{4FDC7E97-9478-E0F6-76D1-908F821011EF}"/>
              </a:ext>
            </a:extLst>
          </p:cNvPr>
          <p:cNvSpPr>
            <a:spLocks noGrp="1"/>
          </p:cNvSpPr>
          <p:nvPr>
            <p:ph idx="1"/>
          </p:nvPr>
        </p:nvSpPr>
        <p:spPr>
          <a:xfrm>
            <a:off x="901015" y="1496429"/>
            <a:ext cx="8015876" cy="1877441"/>
          </a:xfrm>
        </p:spPr>
        <p:txBody>
          <a:bodyPr>
            <a:noAutofit/>
          </a:bodyPr>
          <a:lstStyle/>
          <a:p>
            <a:pPr algn="just">
              <a:buClr>
                <a:srgbClr val="FF0000"/>
              </a:buClr>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lvl="0" algn="just" hangingPunct="1">
              <a:buClr>
                <a:srgbClr val="FF0000"/>
              </a:buClr>
              <a:defRPr/>
            </a:pPr>
            <a:r>
              <a:rPr lang="en-US" altLang="zh-CN" sz="2000" dirty="0" err="1">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Seedance</a:t>
            </a:r>
            <a:r>
              <a:rPr lang="en-US" altLang="zh-CN"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 2.0</a:t>
            </a:r>
            <a:r>
              <a:rPr lang="zh-CN" altLang="en-US"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是字节跳动推出的</a:t>
            </a:r>
            <a:r>
              <a:rPr lang="en-US" altLang="zh-CN"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AI</a:t>
            </a:r>
            <a:r>
              <a:rPr lang="zh-CN" altLang="en-US"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视频生成模型，可根据文本或图像创建电影级视频。其核心技术突破聚焦于解决行业长期存在的音画不同步、叙事连贯性差和生成随机性高等核心痛点，标志着</a:t>
            </a:r>
            <a:r>
              <a:rPr lang="en-US" altLang="zh-CN"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AI</a:t>
            </a:r>
            <a:r>
              <a:rPr lang="zh-CN" altLang="en-US"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sym typeface="+mn-ea"/>
              </a:rPr>
              <a:t>视频生成从“素材制作”向“工业化内容生产”的范式转变。</a:t>
            </a:r>
            <a:endParaRPr lang="zh-CN" altLang="en-US"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gn="just">
              <a:buClr>
                <a:srgbClr val="FF0000"/>
              </a:buClr>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marL="0" indent="0" algn="just">
              <a:buClr>
                <a:srgbClr val="FF0000"/>
              </a:buClr>
              <a:buFont typeface="Arial" panose="020B0604020202020204" pitchFamily="34" charset="0"/>
              <a:buNone/>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marL="0" indent="0" algn="just">
              <a:buClr>
                <a:srgbClr val="FF0000"/>
              </a:buClr>
              <a:buFont typeface="Arial" panose="020B0604020202020204" pitchFamily="34" charset="0"/>
              <a:buNone/>
              <a:defRPr/>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1" algn="just">
              <a:buClr>
                <a:srgbClr val="FF0000"/>
              </a:buClr>
              <a:defRPr/>
            </a:pPr>
            <a:endParaRPr lang="en-US" altLang="zh-CN"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内容占位符 2">
            <a:extLst>
              <a:ext uri="{FF2B5EF4-FFF2-40B4-BE49-F238E27FC236}">
                <a16:creationId xmlns:a16="http://schemas.microsoft.com/office/drawing/2014/main" id="{AB417DF2-E7B0-771E-3D01-C3432ADC89F0}"/>
              </a:ext>
            </a:extLst>
          </p:cNvPr>
          <p:cNvSpPr>
            <a:spLocks noGrp="1" noChangeArrowheads="1"/>
          </p:cNvSpPr>
          <p:nvPr/>
        </p:nvSpPr>
        <p:spPr bwMode="auto">
          <a:xfrm>
            <a:off x="4243060" y="3320648"/>
            <a:ext cx="4747758" cy="20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914400" indent="-45720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304925" indent="-395288">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3065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93913" indent="-39846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511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30083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655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922713" indent="-39846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lvl="1" eaLnBrk="0" fontAlgn="base" hangingPunct="0">
              <a:spcBef>
                <a:spcPct val="0"/>
              </a:spcBef>
              <a:spcAft>
                <a:spcPct val="0"/>
              </a:spcAft>
              <a:buClr>
                <a:srgbClr val="FF0000"/>
              </a:buClr>
              <a:buFont typeface="Arial" panose="020B0604020202020204" pitchFamily="34" charset="0"/>
              <a:buChar char="•"/>
            </a:pPr>
            <a:r>
              <a:rPr kumimoji="1" lang="zh-CN" altLang="en-US"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关键技术：</a:t>
            </a:r>
            <a:endParaRPr kumimoji="1" lang="en-US" altLang="zh-CN" sz="20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lvl="2" algn="just" eaLnBrk="0" fontAlgn="base" hangingPunct="0">
              <a:spcAft>
                <a:spcPct val="0"/>
              </a:spcAft>
              <a:buClr>
                <a:srgbClr val="CC0000"/>
              </a:buClr>
              <a:buFont typeface="Wingdings" panose="05000000000000000000" pitchFamily="2" charset="2"/>
              <a:buChar char="ü"/>
            </a:pPr>
            <a:r>
              <a:rPr kumimoji="1" lang="zh-CN" altLang="en-US"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双分支扩散变换器架构（</a:t>
            </a:r>
            <a:r>
              <a:rPr kumimoji="1" lang="en-US" altLang="zh-CN"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Dual-branch Diffusion Transformer, DBT</a:t>
            </a:r>
            <a:r>
              <a:rPr kumimoji="1" lang="zh-CN" altLang="en-US"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a:t>
            </a:r>
            <a:endParaRPr kumimoji="1" lang="en-US" altLang="zh-CN"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endParaRPr>
          </a:p>
          <a:p>
            <a:pPr lvl="2" algn="just" eaLnBrk="0" fontAlgn="base" hangingPunct="0">
              <a:spcAft>
                <a:spcPct val="0"/>
              </a:spcAft>
              <a:buClr>
                <a:srgbClr val="CC0000"/>
              </a:buClr>
              <a:buFont typeface="Wingdings" panose="05000000000000000000" pitchFamily="2" charset="2"/>
              <a:buChar char="ü"/>
            </a:pPr>
            <a:r>
              <a:rPr kumimoji="1" lang="zh-CN" altLang="en-US"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导演级多镜头叙事能力‌；</a:t>
            </a:r>
            <a:endParaRPr kumimoji="1" lang="en-US" altLang="zh-CN"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endParaRPr>
          </a:p>
          <a:p>
            <a:pPr lvl="2" algn="just" eaLnBrk="0" fontAlgn="base" hangingPunct="0">
              <a:spcAft>
                <a:spcPct val="0"/>
              </a:spcAft>
              <a:buClr>
                <a:srgbClr val="CC0000"/>
              </a:buClr>
              <a:buFont typeface="Wingdings" panose="05000000000000000000" pitchFamily="2" charset="2"/>
              <a:buChar char="ü"/>
            </a:pPr>
            <a:r>
              <a:rPr kumimoji="1" lang="zh-CN" altLang="en-US"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多模态混合输入与精准控制‌；</a:t>
            </a:r>
            <a:endParaRPr kumimoji="1" lang="en-US" altLang="zh-CN"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endParaRPr>
          </a:p>
          <a:p>
            <a:pPr lvl="2" algn="just" eaLnBrk="0" fontAlgn="base" hangingPunct="0">
              <a:spcAft>
                <a:spcPct val="0"/>
              </a:spcAft>
              <a:buClr>
                <a:srgbClr val="CC0000"/>
              </a:buClr>
              <a:buFont typeface="Wingdings" panose="05000000000000000000" pitchFamily="2" charset="2"/>
              <a:buChar char="ü"/>
            </a:pPr>
            <a:r>
              <a:rPr kumimoji="1" lang="zh-CN" altLang="en-US"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高效稳定的工业化生成。</a:t>
            </a:r>
            <a:endParaRPr kumimoji="1" lang="en-US" altLang="zh-CN" sz="1800"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62EB7026-8A79-1F69-B840-D23EB572FB01}"/>
              </a:ext>
            </a:extLst>
          </p:cNvPr>
          <p:cNvSpPr txBox="1"/>
          <p:nvPr/>
        </p:nvSpPr>
        <p:spPr>
          <a:xfrm>
            <a:off x="1209750" y="5721612"/>
            <a:ext cx="7997104" cy="369332"/>
          </a:xfrm>
          <a:prstGeom prst="rect">
            <a:avLst/>
          </a:prstGeom>
          <a:noFill/>
        </p:spPr>
        <p:txBody>
          <a:bodyPr wrap="square">
            <a:spAutoFit/>
          </a:bodyPr>
          <a:lstStyle/>
          <a:p>
            <a:pPr eaLnBrk="0" fontAlgn="base" hangingPunct="0">
              <a:spcBef>
                <a:spcPct val="0"/>
              </a:spcBef>
              <a:spcAft>
                <a:spcPct val="0"/>
              </a:spcAft>
              <a:defRPr/>
            </a:pPr>
            <a:r>
              <a:rPr lang="en-US" altLang="zh-CN" dirty="0">
                <a:latin typeface="Times New Roman" panose="02020603050405020304" pitchFamily="18" charset="0"/>
                <a:cs typeface="Times New Roman" panose="02020603050405020304" pitchFamily="18" charset="0"/>
              </a:rPr>
              <a:t>https://jimeng.jianying.com/</a:t>
            </a:r>
          </a:p>
        </p:txBody>
      </p:sp>
      <p:pic>
        <p:nvPicPr>
          <p:cNvPr id="4" name="图片 3">
            <a:extLst>
              <a:ext uri="{FF2B5EF4-FFF2-40B4-BE49-F238E27FC236}">
                <a16:creationId xmlns:a16="http://schemas.microsoft.com/office/drawing/2014/main" id="{9A530D0D-1B17-90CE-FC49-5BD6387A1700}"/>
              </a:ext>
            </a:extLst>
          </p:cNvPr>
          <p:cNvPicPr>
            <a:picLocks noChangeAspect="1"/>
          </p:cNvPicPr>
          <p:nvPr/>
        </p:nvPicPr>
        <p:blipFill>
          <a:blip r:embed="rId2"/>
          <a:stretch>
            <a:fillRect/>
          </a:stretch>
        </p:blipFill>
        <p:spPr>
          <a:xfrm>
            <a:off x="1176545" y="3611842"/>
            <a:ext cx="3732408" cy="1680092"/>
          </a:xfrm>
          <a:prstGeom prst="rect">
            <a:avLst/>
          </a:prstGeom>
        </p:spPr>
      </p:pic>
    </p:spTree>
    <p:extLst>
      <p:ext uri="{BB962C8B-B14F-4D97-AF65-F5344CB8AC3E}">
        <p14:creationId xmlns:p14="http://schemas.microsoft.com/office/powerpoint/2010/main" val="87757464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BF45E89D-74C7-44F6-B59E-2DA15244E669}"/>
              </a:ext>
            </a:extLst>
          </p:cNvPr>
          <p:cNvSpPr>
            <a:spLocks noGrp="1"/>
          </p:cNvSpPr>
          <p:nvPr>
            <p:ph type="title"/>
          </p:nvPr>
        </p:nvSpPr>
        <p:spPr>
          <a:xfrm>
            <a:off x="611188" y="404813"/>
            <a:ext cx="8229600" cy="1143000"/>
          </a:xfrm>
        </p:spPr>
        <p:txBody>
          <a:bodyPr/>
          <a:lstStyle/>
          <a:p>
            <a:pPr algn="l"/>
            <a:r>
              <a:rPr kumimoji="1" lang="zh-CN" altLang="en-US" sz="3200" b="1">
                <a:solidFill>
                  <a:srgbClr val="000000"/>
                </a:solidFill>
                <a:latin typeface="黑体" panose="02010609060101010101" pitchFamily="49" charset="-122"/>
                <a:ea typeface="黑体" panose="02010609060101010101" pitchFamily="49" charset="-122"/>
                <a:cs typeface="楷体_GB2312"/>
              </a:rPr>
              <a:t>机器学习领域重要会议和期刊</a:t>
            </a:r>
            <a:endParaRPr lang="zh-CN" altLang="en-US" sz="3200">
              <a:ea typeface="黑体" panose="02010609060101010101" pitchFamily="49" charset="-122"/>
              <a:cs typeface="楷体_GB2312"/>
            </a:endParaRPr>
          </a:p>
        </p:txBody>
      </p:sp>
      <p:sp>
        <p:nvSpPr>
          <p:cNvPr id="26627" name="内容占位符 2">
            <a:extLst>
              <a:ext uri="{FF2B5EF4-FFF2-40B4-BE49-F238E27FC236}">
                <a16:creationId xmlns:a16="http://schemas.microsoft.com/office/drawing/2014/main" id="{304F50C1-0189-4162-AADB-8468274A839D}"/>
              </a:ext>
            </a:extLst>
          </p:cNvPr>
          <p:cNvSpPr txBox="1">
            <a:spLocks noChangeArrowheads="1"/>
          </p:cNvSpPr>
          <p:nvPr/>
        </p:nvSpPr>
        <p:spPr bwMode="auto">
          <a:xfrm>
            <a:off x="527050" y="1628775"/>
            <a:ext cx="8616950" cy="437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6800"/>
          <a:lstStyle>
            <a:lvl1pPr marL="228600" indent="-358775">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685800" indent="-358775">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358775">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358775">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358775">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3587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3587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3587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3587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ts val="1000"/>
              </a:spcBef>
              <a:buClr>
                <a:srgbClr val="FF0000"/>
              </a:buClr>
              <a:buFont typeface="Wingdings" panose="05000000000000000000" pitchFamily="2" charset="2"/>
              <a:buChar char="p"/>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机器学习顶级会议：国际神经信息处理系统会议</a:t>
            </a:r>
            <a:r>
              <a:rPr lang="en-US" altLang="zh-CN" sz="24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err="1">
                <a:solidFill>
                  <a:srgbClr val="C00000"/>
                </a:solidFill>
                <a:latin typeface="Times New Roman" panose="02020603050405020304" pitchFamily="18" charset="0"/>
                <a:ea typeface="楷体" panose="02010609060101010101" pitchFamily="49" charset="-122"/>
                <a:cs typeface="Times New Roman" panose="02020603050405020304" pitchFamily="18" charset="0"/>
              </a:rPr>
              <a:t>NeurIPS</a:t>
            </a:r>
            <a:r>
              <a:rPr lang="en-US" altLang="zh-CN" sz="24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国际机器学习会议</a:t>
            </a:r>
            <a:r>
              <a:rPr lang="en-US" altLang="zh-CN" sz="24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(ICML)</a:t>
            </a:r>
            <a:r>
              <a:rPr lang="zh-CN" altLang="en-US" sz="24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International Conference on Learning Representations</a:t>
            </a:r>
            <a:r>
              <a:rPr lang="zh-CN" altLang="en-US" sz="24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ICLR</a:t>
            </a:r>
            <a:r>
              <a:rPr lang="zh-CN" altLang="en-US" sz="24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期刊：</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Journal of Machine Learning Research(JMLR), Machine Learning(ML), IEEE T-NN</a:t>
            </a:r>
          </a:p>
          <a:p>
            <a:pPr eaLnBrk="1" hangingPunct="1">
              <a:lnSpc>
                <a:spcPct val="120000"/>
              </a:lnSpc>
              <a:spcBef>
                <a:spcPts val="1000"/>
              </a:spcBef>
              <a:buClr>
                <a:srgbClr val="FF0000"/>
              </a:buClr>
              <a:buFont typeface="Wingdings" panose="05000000000000000000" pitchFamily="2" charset="2"/>
              <a:buChar char="p"/>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人工智能顶级会议：</a:t>
            </a:r>
            <a:r>
              <a:rPr lang="en-US" altLang="zh-CN" sz="24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IJCAI</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AAAI</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期刊</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:AIJ</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JAIR</a:t>
            </a:r>
          </a:p>
          <a:p>
            <a:pPr eaLnBrk="1" hangingPunct="1">
              <a:lnSpc>
                <a:spcPct val="120000"/>
              </a:lnSpc>
              <a:spcBef>
                <a:spcPts val="1000"/>
              </a:spcBef>
              <a:buClr>
                <a:srgbClr val="FF0000"/>
              </a:buClr>
              <a:buFont typeface="Wingdings" panose="05000000000000000000" pitchFamily="2" charset="2"/>
              <a:buChar char="p"/>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计算机视觉和模式识别顶级会议：</a:t>
            </a:r>
            <a:r>
              <a:rPr lang="en-US" altLang="zh-CN" sz="24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CVPR</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ICCV, ECCV;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期刊：</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IEEE T-PAMI, IJCV, IEEE T-IP</a:t>
            </a:r>
          </a:p>
          <a:p>
            <a:pPr eaLnBrk="1" hangingPunct="1">
              <a:lnSpc>
                <a:spcPct val="120000"/>
              </a:lnSpc>
              <a:spcBef>
                <a:spcPts val="1000"/>
              </a:spcBef>
              <a:buClr>
                <a:srgbClr val="FF0000"/>
              </a:buClr>
              <a:buFont typeface="Wingdings" panose="05000000000000000000" pitchFamily="2" charset="2"/>
              <a:buChar char="p"/>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自然语言处理顶级会议：</a:t>
            </a:r>
            <a:r>
              <a:rPr lang="en-US" altLang="zh-CN" sz="24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ACL</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期刊：</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Computational Linguistics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和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Transactions of ACL</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TACL</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br>
              <a:rPr lang="en-US" altLang="zh-CN" sz="2000" dirty="0">
                <a:latin typeface="Times New Roman" panose="02020603050405020304" pitchFamily="18" charset="0"/>
                <a:ea typeface="楷体" panose="02010609060101010101" pitchFamily="49" charset="-122"/>
                <a:cs typeface="Times New Roman" panose="02020603050405020304" pitchFamily="18" charset="0"/>
              </a:rPr>
            </a:b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6628" name="灯片编号占位符 5">
            <a:extLst>
              <a:ext uri="{FF2B5EF4-FFF2-40B4-BE49-F238E27FC236}">
                <a16:creationId xmlns:a16="http://schemas.microsoft.com/office/drawing/2014/main" id="{5A733CDE-D369-460B-B6CE-8DBCA183408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A672003-E854-4EAB-A24C-7AF8FE22B3DF}" type="slidenum">
              <a:rPr kumimoji="1" lang="en-US" altLang="zh-CN" sz="1400" smtClean="0">
                <a:latin typeface="Times New Roman" panose="02020603050405020304" pitchFamily="18" charset="0"/>
              </a:rPr>
              <a:pPr>
                <a:spcBef>
                  <a:spcPct val="0"/>
                </a:spcBef>
                <a:buFontTx/>
                <a:buNone/>
              </a:pPr>
              <a:t>28</a:t>
            </a:fld>
            <a:endParaRPr kumimoji="1" lang="en-US" altLang="zh-CN" sz="1400">
              <a:latin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65451C8A-9AC7-473B-8F2A-F52FE69C67F5}"/>
              </a:ext>
            </a:extLst>
          </p:cNvPr>
          <p:cNvSpPr>
            <a:spLocks noGrp="1"/>
          </p:cNvSpPr>
          <p:nvPr>
            <p:ph type="title"/>
          </p:nvPr>
        </p:nvSpPr>
        <p:spPr>
          <a:xfrm>
            <a:off x="611188" y="404813"/>
            <a:ext cx="8229600" cy="1143000"/>
          </a:xfrm>
        </p:spPr>
        <p:txBody>
          <a:bodyPr/>
          <a:lstStyle/>
          <a:p>
            <a:pPr algn="l"/>
            <a:r>
              <a:rPr kumimoji="1" lang="zh-CN" altLang="en-US" sz="3200" b="1">
                <a:solidFill>
                  <a:srgbClr val="000000"/>
                </a:solidFill>
                <a:latin typeface="黑体" panose="02010609060101010101" pitchFamily="49" charset="-122"/>
                <a:ea typeface="黑体" panose="02010609060101010101" pitchFamily="49" charset="-122"/>
                <a:cs typeface="楷体_GB2312"/>
              </a:rPr>
              <a:t>机器学习编程语言框架和工具</a:t>
            </a:r>
            <a:endParaRPr lang="zh-CN" altLang="en-US" sz="3200">
              <a:ea typeface="黑体" panose="02010609060101010101" pitchFamily="49" charset="-122"/>
              <a:cs typeface="楷体_GB2312"/>
            </a:endParaRPr>
          </a:p>
        </p:txBody>
      </p:sp>
      <p:sp>
        <p:nvSpPr>
          <p:cNvPr id="25603" name="内容占位符 2">
            <a:extLst>
              <a:ext uri="{FF2B5EF4-FFF2-40B4-BE49-F238E27FC236}">
                <a16:creationId xmlns:a16="http://schemas.microsoft.com/office/drawing/2014/main" id="{05D29377-CEC3-4DE8-BFC4-217E6E5AA145}"/>
              </a:ext>
            </a:extLst>
          </p:cNvPr>
          <p:cNvSpPr txBox="1">
            <a:spLocks noChangeArrowheads="1"/>
          </p:cNvSpPr>
          <p:nvPr/>
        </p:nvSpPr>
        <p:spPr bwMode="auto">
          <a:xfrm>
            <a:off x="611188" y="1239838"/>
            <a:ext cx="8524875" cy="4378325"/>
          </a:xfrm>
          <a:prstGeom prst="rect">
            <a:avLst/>
          </a:prstGeom>
          <a:noFill/>
          <a:ln>
            <a:noFill/>
          </a:ln>
        </p:spPr>
        <p:txBody>
          <a:bodyPr tIns="46800"/>
          <a:lstStyle>
            <a:lvl1pPr marL="228600" indent="-358775">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685800" indent="-358775">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358775">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358775">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358775">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3587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3587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3587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3587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ts val="600"/>
              </a:spcBef>
              <a:buClr>
                <a:srgbClr val="FF0000"/>
              </a:buClr>
              <a:buFont typeface="Wingdings" panose="05000000000000000000" pitchFamily="2" charset="2"/>
              <a:buChar char="p"/>
              <a:defRPr/>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TensorFlow</a:t>
            </a:r>
          </a:p>
          <a:p>
            <a:pPr marL="0" indent="0" eaLnBrk="1" hangingPunct="1">
              <a:spcBef>
                <a:spcPts val="600"/>
              </a:spcBef>
              <a:buClr>
                <a:srgbClr val="FF0000"/>
              </a:buClr>
              <a:buFont typeface="Arial" panose="020B0604020202020204" pitchFamily="34" charset="0"/>
              <a:buNone/>
              <a:defRPr/>
            </a:pP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    谷歌广泛使用的机器学习框架，旨在处理训练机器学习模型时所需要的数值计算，能够在</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CPU</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GPU</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和专用芯片</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比如谷歌的张量处理单元即</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TPU)</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之间划分计算任务。</a:t>
            </a:r>
          </a:p>
          <a:p>
            <a:pPr eaLnBrk="1" hangingPunct="1">
              <a:spcBef>
                <a:spcPts val="600"/>
              </a:spcBef>
              <a:buClr>
                <a:srgbClr val="FF0000"/>
              </a:buClr>
              <a:buFont typeface="Wingdings" panose="05000000000000000000" pitchFamily="2" charset="2"/>
              <a:buChar char="p"/>
              <a:defRPr/>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scikit-learn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err="1">
                <a:latin typeface="Times New Roman" panose="02020603050405020304" pitchFamily="18" charset="0"/>
                <a:ea typeface="楷体" panose="02010609060101010101" pitchFamily="49" charset="-122"/>
                <a:cs typeface="Times New Roman" panose="02020603050405020304" pitchFamily="18" charset="0"/>
              </a:rPr>
              <a:t>Sklearn</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eaLnBrk="1" hangingPunct="1">
              <a:spcBef>
                <a:spcPts val="600"/>
              </a:spcBef>
              <a:buClr>
                <a:srgbClr val="FF0000"/>
              </a:buClr>
              <a:buFont typeface="Arial" panose="020B0604020202020204" pitchFamily="34" charset="0"/>
              <a:buNone/>
              <a:defRPr/>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用于数据挖掘和数据分析的一种流行</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Python</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库，使用了众多机器学习算法。</a:t>
            </a:r>
          </a:p>
          <a:p>
            <a:pPr eaLnBrk="1" hangingPunct="1">
              <a:spcBef>
                <a:spcPts val="600"/>
              </a:spcBef>
              <a:buClr>
                <a:srgbClr val="FF0000"/>
              </a:buClr>
              <a:buFont typeface="Wingdings" panose="05000000000000000000" pitchFamily="2" charset="2"/>
              <a:buChar char="p"/>
              <a:defRPr/>
            </a:pPr>
            <a:r>
              <a:rPr lang="en-US" altLang="zh-CN" sz="2400" dirty="0" err="1">
                <a:latin typeface="Times New Roman" panose="02020603050405020304" pitchFamily="18" charset="0"/>
                <a:ea typeface="楷体" panose="02010609060101010101" pitchFamily="49" charset="-122"/>
                <a:cs typeface="Times New Roman" panose="02020603050405020304" pitchFamily="18" charset="0"/>
              </a:rPr>
              <a:t>Pytorch</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eaLnBrk="1" hangingPunct="1">
              <a:spcBef>
                <a:spcPts val="600"/>
              </a:spcBef>
              <a:buClr>
                <a:srgbClr val="FF0000"/>
              </a:buClr>
              <a:buFont typeface="Arial" panose="020B0604020202020204" pitchFamily="34" charset="0"/>
              <a:buNone/>
              <a:defRPr/>
            </a:pP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     一种开源深度学习框架，学起来比</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TensorFlow</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等与之竞争的框架更容易，旨在用于机器学习管道的每个阶段。</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spcBef>
                <a:spcPts val="600"/>
              </a:spcBef>
              <a:buClr>
                <a:srgbClr val="FF0000"/>
              </a:buClr>
              <a:buFont typeface="Wingdings" panose="05000000000000000000" pitchFamily="2" charset="2"/>
              <a:buChar char="p"/>
              <a:defRPr/>
            </a:pPr>
            <a:r>
              <a:rPr lang="en-US" altLang="zh-CN" sz="2400" dirty="0" err="1">
                <a:latin typeface="Times New Roman" panose="02020603050405020304" pitchFamily="18" charset="0"/>
                <a:ea typeface="楷体" panose="02010609060101010101" pitchFamily="49" charset="-122"/>
                <a:cs typeface="Times New Roman" panose="02020603050405020304" pitchFamily="18" charset="0"/>
              </a:rPr>
              <a:t>Keras</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eaLnBrk="1" hangingPunct="1">
              <a:spcBef>
                <a:spcPts val="600"/>
              </a:spcBef>
              <a:buClr>
                <a:srgbClr val="FF0000"/>
              </a:buClr>
              <a:buFont typeface="Arial" panose="020B0604020202020204" pitchFamily="34" charset="0"/>
              <a:buNone/>
              <a:defRPr/>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dirty="0">
                <a:latin typeface="楷体" panose="02010609060101010101" pitchFamily="49" charset="-122"/>
                <a:ea typeface="楷体" panose="02010609060101010101" pitchFamily="49" charset="-122"/>
                <a:cs typeface="Times New Roman" panose="02020603050405020304" pitchFamily="18" charset="0"/>
              </a:rPr>
              <a:t>这种深度学习框架用于处理神经网络</a:t>
            </a:r>
            <a:r>
              <a:rPr lang="en-US" altLang="zh-CN" sz="2000" dirty="0">
                <a:latin typeface="楷体" panose="02010609060101010101" pitchFamily="49" charset="-122"/>
                <a:ea typeface="楷体" panose="02010609060101010101" pitchFamily="49" charset="-122"/>
                <a:cs typeface="Times New Roman" panose="02020603050405020304" pitchFamily="18" charset="0"/>
              </a:rPr>
              <a:t>(</a:t>
            </a:r>
            <a:r>
              <a:rPr lang="zh-CN" altLang="en-US" sz="2000" dirty="0">
                <a:latin typeface="楷体" panose="02010609060101010101" pitchFamily="49" charset="-122"/>
                <a:ea typeface="楷体" panose="02010609060101010101" pitchFamily="49" charset="-122"/>
                <a:cs typeface="Times New Roman" panose="02020603050405020304" pitchFamily="18" charset="0"/>
              </a:rPr>
              <a:t>支持深度学习的受大脑启发的数学模型</a:t>
            </a:r>
            <a:r>
              <a:rPr lang="en-US" altLang="zh-CN" sz="2000" dirty="0">
                <a:latin typeface="楷体" panose="02010609060101010101" pitchFamily="49" charset="-122"/>
                <a:ea typeface="楷体" panose="02010609060101010101" pitchFamily="49" charset="-122"/>
                <a:cs typeface="Times New Roman" panose="02020603050405020304" pitchFamily="18" charset="0"/>
              </a:rPr>
              <a:t>)</a:t>
            </a:r>
            <a:r>
              <a:rPr lang="zh-CN" altLang="en-US" sz="2000" dirty="0">
                <a:latin typeface="楷体" panose="02010609060101010101" pitchFamily="49" charset="-122"/>
                <a:ea typeface="楷体" panose="02010609060101010101" pitchFamily="49" charset="-122"/>
                <a:cs typeface="Times New Roman" panose="02020603050405020304" pitchFamily="18" charset="0"/>
              </a:rPr>
              <a:t>，旨在比与之竞争的框架更易于使用。</a:t>
            </a:r>
            <a:endParaRPr lang="en-US" altLang="zh-CN" sz="200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28676" name="灯片编号占位符 5">
            <a:extLst>
              <a:ext uri="{FF2B5EF4-FFF2-40B4-BE49-F238E27FC236}">
                <a16:creationId xmlns:a16="http://schemas.microsoft.com/office/drawing/2014/main" id="{FE073BAB-EA71-451F-A1CE-6D066FE49F2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6D0FEBB-6438-4ABF-99C0-535D531FA9F4}" type="slidenum">
              <a:rPr kumimoji="1" lang="en-US" altLang="zh-CN" sz="1400" smtClean="0">
                <a:latin typeface="Times New Roman" panose="02020603050405020304" pitchFamily="18" charset="0"/>
              </a:rPr>
              <a:pPr>
                <a:spcBef>
                  <a:spcPct val="0"/>
                </a:spcBef>
                <a:buFontTx/>
                <a:buNone/>
              </a:pPr>
              <a:t>29</a:t>
            </a:fld>
            <a:endParaRPr kumimoji="1" lang="en-US" altLang="zh-CN" sz="1400">
              <a:latin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txBox="1"/>
          <p:nvPr/>
        </p:nvSpPr>
        <p:spPr bwMode="auto">
          <a:xfrm>
            <a:off x="1" y="3285616"/>
            <a:ext cx="9143999" cy="3572384"/>
          </a:xfrm>
          <a:prstGeom prst="rect">
            <a:avLst/>
          </a:prstGeom>
          <a:solidFill>
            <a:srgbClr val="045CA2">
              <a:alpha val="82000"/>
            </a:srgbClr>
          </a:solidFill>
          <a:ln w="9525">
            <a:noFill/>
            <a:miter lim="800000"/>
          </a:ln>
          <a:effectLst>
            <a:outerShdw dist="50800" dir="2700000" sx="3999" sy="3999" algn="tl" rotWithShape="0">
              <a:srgbClr val="025AA0">
                <a:alpha val="54999"/>
              </a:srgbClr>
            </a:outerShdw>
          </a:effectLst>
        </p:spPr>
        <p:txBody>
          <a:bodyPr anchor="ctr"/>
          <a:lstStyle/>
          <a:p>
            <a:pPr algn="ctr" defTabSz="685800">
              <a:defRPr/>
            </a:pPr>
            <a:endParaRPr lang="en-US" altLang="zh-CN" sz="1500" b="1" dirty="0">
              <a:solidFill>
                <a:prstClr val="white"/>
              </a:solidFill>
              <a:latin typeface="宋体" panose="02010600030101010101" pitchFamily="2" charset="-122"/>
              <a:ea typeface="黑体" panose="02010609060101010101" pitchFamily="49" charset="-122"/>
            </a:endParaRPr>
          </a:p>
          <a:p>
            <a:pPr algn="ctr" defTabSz="685800">
              <a:defRPr/>
            </a:pPr>
            <a:endParaRPr lang="en-US" altLang="zh-CN" sz="1500" b="1" dirty="0">
              <a:solidFill>
                <a:prstClr val="white"/>
              </a:solidFill>
              <a:latin typeface="宋体" panose="02010600030101010101" pitchFamily="2" charset="-122"/>
              <a:ea typeface="黑体" panose="02010609060101010101" pitchFamily="49" charset="-122"/>
            </a:endParaRPr>
          </a:p>
          <a:p>
            <a:pPr algn="ctr" defTabSz="685800">
              <a:defRPr/>
            </a:pPr>
            <a:endParaRPr lang="en-US" altLang="zh-CN" sz="1500" b="1" dirty="0">
              <a:solidFill>
                <a:prstClr val="white"/>
              </a:solidFill>
              <a:latin typeface="宋体" panose="02010600030101010101" pitchFamily="2" charset="-122"/>
              <a:ea typeface="黑体" panose="02010609060101010101" pitchFamily="49" charset="-122"/>
            </a:endParaRPr>
          </a:p>
          <a:p>
            <a:pPr algn="ctr" defTabSz="685800">
              <a:defRPr/>
            </a:pPr>
            <a:endParaRPr lang="en-US" altLang="zh-CN" sz="1500" b="1" dirty="0">
              <a:solidFill>
                <a:prstClr val="white"/>
              </a:solidFill>
              <a:latin typeface="宋体" panose="02010600030101010101" pitchFamily="2" charset="-122"/>
              <a:ea typeface="黑体" panose="02010609060101010101" pitchFamily="49" charset="-122"/>
            </a:endParaRPr>
          </a:p>
          <a:p>
            <a:pPr algn="ctr" defTabSz="685800">
              <a:defRPr/>
            </a:pPr>
            <a:endParaRPr lang="zh-CN" altLang="en-US" sz="1500" b="1" dirty="0">
              <a:solidFill>
                <a:prstClr val="white"/>
              </a:solidFill>
              <a:latin typeface="宋体" panose="02010600030101010101" pitchFamily="2" charset="-122"/>
              <a:ea typeface="黑体" panose="02010609060101010101" pitchFamily="49" charset="-122"/>
            </a:endParaRPr>
          </a:p>
        </p:txBody>
      </p:sp>
      <p:sp>
        <p:nvSpPr>
          <p:cNvPr id="5" name="标题 2"/>
          <p:cNvSpPr txBox="1"/>
          <p:nvPr/>
        </p:nvSpPr>
        <p:spPr>
          <a:xfrm>
            <a:off x="0" y="2888940"/>
            <a:ext cx="9144000" cy="1242138"/>
          </a:xfrm>
          <a:prstGeom prst="rect">
            <a:avLst/>
          </a:prstGeom>
          <a:solidFill>
            <a:srgbClr val="42B9EF">
              <a:alpha val="88000"/>
            </a:srgbClr>
          </a:solidFill>
          <a:effectLst>
            <a:outerShdw dist="50800" dir="2700000" sx="3999" sy="3999" algn="tl" rotWithShape="0">
              <a:srgbClr val="025AA0">
                <a:alpha val="54999"/>
              </a:srgbClr>
            </a:outerShdw>
          </a:effectLst>
        </p:spPr>
        <p:txBody>
          <a:bodyPr vert="horz" lIns="68580" tIns="34290" rIns="68580" bIns="3429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685800" fontAlgn="auto">
              <a:spcAft>
                <a:spcPts val="0"/>
              </a:spcAft>
              <a:defRPr/>
            </a:pPr>
            <a:endParaRPr kumimoji="1" lang="zh-CN" altLang="en-US" sz="2700" spc="75" dirty="0">
              <a:solidFill>
                <a:prstClr val="white"/>
              </a:solidFill>
              <a:latin typeface="Cambria" panose="02040503050406030204"/>
              <a:ea typeface="黑体" panose="02010609060101010101" pitchFamily="49" charset="-122"/>
            </a:endParaRPr>
          </a:p>
        </p:txBody>
      </p:sp>
      <p:sp>
        <p:nvSpPr>
          <p:cNvPr id="2" name="文本框 1"/>
          <p:cNvSpPr txBox="1"/>
          <p:nvPr/>
        </p:nvSpPr>
        <p:spPr>
          <a:xfrm>
            <a:off x="-1422" y="3013720"/>
            <a:ext cx="9143999" cy="1015663"/>
          </a:xfrm>
          <a:prstGeom prst="rect">
            <a:avLst/>
          </a:prstGeom>
          <a:noFill/>
        </p:spPr>
        <p:txBody>
          <a:bodyPr wrap="square" rtlCol="0">
            <a:spAutoFit/>
          </a:bodyPr>
          <a:lstStyle/>
          <a:p>
            <a:pPr algn="ctr" defTabSz="685800"/>
            <a:r>
              <a:rPr lang="en-US" altLang="zh-CN" sz="3000" b="1"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THANKS</a:t>
            </a:r>
          </a:p>
          <a:p>
            <a:pPr algn="ctr" defTabSz="685800"/>
            <a:r>
              <a:rPr lang="zh-CN" altLang="en-US" sz="3000" b="1"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祝学习快乐！</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35.9|3.8"/>
</p:tagLst>
</file>

<file path=ppt/tags/tag2.xml><?xml version="1.0" encoding="utf-8"?>
<p:tagLst xmlns:a="http://schemas.openxmlformats.org/drawingml/2006/main" xmlns:r="http://schemas.openxmlformats.org/officeDocument/2006/relationships" xmlns:p="http://schemas.openxmlformats.org/presentationml/2006/main">
  <p:tag name="TIMING" val="|35.9|3.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0_默认设计模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8422</TotalTime>
  <Words>2501</Words>
  <Application>Microsoft Office PowerPoint</Application>
  <PresentationFormat>全屏显示(4:3)</PresentationFormat>
  <Paragraphs>349</Paragraphs>
  <Slides>30</Slides>
  <Notes>16</Notes>
  <HiddenSlides>0</HiddenSlides>
  <MMClips>2</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30</vt:i4>
      </vt:variant>
    </vt:vector>
  </HeadingPairs>
  <TitlesOfParts>
    <vt:vector size="46" baseType="lpstr">
      <vt:lpstr>黑体</vt:lpstr>
      <vt:lpstr>华文楷体</vt:lpstr>
      <vt:lpstr>楷体</vt:lpstr>
      <vt:lpstr>楷体_GB2312</vt:lpstr>
      <vt:lpstr>宋体</vt:lpstr>
      <vt:lpstr>微软雅黑</vt:lpstr>
      <vt:lpstr>幼圆</vt:lpstr>
      <vt:lpstr>Arial</vt:lpstr>
      <vt:lpstr>Calibri</vt:lpstr>
      <vt:lpstr>Calibri Light</vt:lpstr>
      <vt:lpstr>Cambria</vt:lpstr>
      <vt:lpstr>Monotype Corsiva</vt:lpstr>
      <vt:lpstr>Times New Roman</vt:lpstr>
      <vt:lpstr>Wingdings</vt:lpstr>
      <vt:lpstr>Office 主题</vt:lpstr>
      <vt:lpstr>20_默认设计模板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Pluribus：AI攻陷德扑</vt:lpstr>
      <vt:lpstr>AlphaStar：星际争霸AI登上Nature</vt:lpstr>
      <vt:lpstr>PowerPoint 演示文稿</vt:lpstr>
      <vt:lpstr>PowerPoint 演示文稿</vt:lpstr>
      <vt:lpstr>PowerPoint 演示文稿</vt:lpstr>
      <vt:lpstr>PowerPoint 演示文稿</vt:lpstr>
      <vt:lpstr>PowerPoint 演示文稿</vt:lpstr>
      <vt:lpstr>机器学习领域重要会议和期刊</vt:lpstr>
      <vt:lpstr>机器学习编程语言框架和工具</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ZSHE</dc:creator>
  <cp:lastModifiedBy>yx</cp:lastModifiedBy>
  <cp:revision>197</cp:revision>
  <dcterms:created xsi:type="dcterms:W3CDTF">2016-05-18T01:14:48Z</dcterms:created>
  <dcterms:modified xsi:type="dcterms:W3CDTF">2026-03-02T06:45:40Z</dcterms:modified>
</cp:coreProperties>
</file>