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7" r:id="rId2"/>
    <p:sldId id="440" r:id="rId3"/>
    <p:sldId id="441" r:id="rId4"/>
    <p:sldId id="442" r:id="rId5"/>
    <p:sldId id="338" r:id="rId6"/>
    <p:sldId id="456" r:id="rId7"/>
    <p:sldId id="443" r:id="rId8"/>
    <p:sldId id="444" r:id="rId9"/>
    <p:sldId id="453" r:id="rId10"/>
    <p:sldId id="445" r:id="rId11"/>
    <p:sldId id="452" r:id="rId12"/>
    <p:sldId id="446" r:id="rId13"/>
    <p:sldId id="447" r:id="rId14"/>
    <p:sldId id="455" r:id="rId15"/>
    <p:sldId id="457" r:id="rId16"/>
    <p:sldId id="448" r:id="rId17"/>
    <p:sldId id="458" r:id="rId18"/>
    <p:sldId id="449" r:id="rId19"/>
    <p:sldId id="454" r:id="rId20"/>
    <p:sldId id="459" r:id="rId21"/>
  </p:sldIdLst>
  <p:sldSz cx="9144000" cy="6858000" type="screen4x3"/>
  <p:notesSz cx="9144000" cy="6858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23" autoAdjust="0"/>
    <p:restoredTop sz="94614" autoAdjust="0"/>
  </p:normalViewPr>
  <p:slideViewPr>
    <p:cSldViewPr>
      <p:cViewPr varScale="1">
        <p:scale>
          <a:sx n="83" d="100"/>
          <a:sy n="83" d="100"/>
        </p:scale>
        <p:origin x="87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8" d="100"/>
          <a:sy n="68" d="100"/>
        </p:scale>
        <p:origin x="-1810" y="-62"/>
      </p:cViewPr>
      <p:guideLst>
        <p:guide orient="horz" pos="2160"/>
        <p:guide pos="28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16F1F154-D08B-4637-BD6B-EE69DBEDFA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3F24782-B8CC-4BB5-84E6-002BAC7320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81DFCA3-140D-47A9-812B-EF4671D077DA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B747B93-988F-4543-BD9C-1C7CB3B5811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722FE9-DBFB-41DB-83A5-159F33A862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274AB649-9B77-47B4-86AE-79A195B7BF2A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DCBF277-B712-400F-957F-39A8A840EE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931A883-E5D4-4659-8BCA-E5DCFAE454B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822AF62D-6F31-46D6-B269-0F8F56C4162E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4" name="幻灯片图像占位符 3">
            <a:extLst>
              <a:ext uri="{FF2B5EF4-FFF2-40B4-BE49-F238E27FC236}">
                <a16:creationId xmlns:a16="http://schemas.microsoft.com/office/drawing/2014/main" id="{5F41D5C3-29C3-4D18-A73E-68E70946BD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>
            <a:extLst>
              <a:ext uri="{FF2B5EF4-FFF2-40B4-BE49-F238E27FC236}">
                <a16:creationId xmlns:a16="http://schemas.microsoft.com/office/drawing/2014/main" id="{4E8581BB-C447-4235-AF25-DF5DD22191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2BF2D4-077B-491A-A12A-DA192A4FE69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56B28C-60B8-44BD-9F27-BF4F6458E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E942E71B-E9B3-4820-B67A-F8BCFD29036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D01A8CA-9D3D-4C4D-8CDD-E6DF20BF113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1300">
                <a:latin typeface="Times New Roman" panose="02020603050405020304" pitchFamily="18" charset="0"/>
              </a:rPr>
              <a:t>高等代数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08787A-D443-429F-A574-148DE50B38AD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778746E7-4F05-4954-A5D7-6CD18FB744FA}" type="datetime1">
              <a:rPr kumimoji="1" lang="zh-CN" altLang="en-US" sz="1300" smtClean="0">
                <a:latin typeface="Times New Roman" panose="02020603050405020304" pitchFamily="18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2026/6/2</a:t>
            </a:fld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6148" name="Rectangle 7">
            <a:extLst>
              <a:ext uri="{FF2B5EF4-FFF2-40B4-BE49-F238E27FC236}">
                <a16:creationId xmlns:a16="http://schemas.microsoft.com/office/drawing/2014/main" id="{B8131C3E-0544-4AEA-AB54-2E5CF4AE25D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89C7525-4BD0-4163-98A5-F7837A3EE5AC}" type="slidenum">
              <a:rPr kumimoji="1" lang="en-US" altLang="zh-CN" sz="13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</a:pPr>
              <a:t>1</a:t>
            </a:fld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6149" name="Rectangle 2">
            <a:extLst>
              <a:ext uri="{FF2B5EF4-FFF2-40B4-BE49-F238E27FC236}">
                <a16:creationId xmlns:a16="http://schemas.microsoft.com/office/drawing/2014/main" id="{4E4FE87F-CDE4-460E-881D-9ED4C3D8116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150" name="Rectangle 3">
            <a:extLst>
              <a:ext uri="{FF2B5EF4-FFF2-40B4-BE49-F238E27FC236}">
                <a16:creationId xmlns:a16="http://schemas.microsoft.com/office/drawing/2014/main" id="{3E528532-329A-4864-9D0A-64808B13A7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zh-CN" altLang="en-US"/>
              <a:t>重庆大学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DDD982A9-5E02-48A1-96E2-36AE38A9E7D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1300">
                <a:latin typeface="Times New Roman" panose="02020603050405020304" pitchFamily="18" charset="0"/>
              </a:rPr>
              <a:t>高等代数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BB2D036D-A015-497D-A941-6AA03F0068FE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CB63EE0D-A2F6-4340-BF26-91E6EF2476B8}" type="datetime1">
              <a:rPr kumimoji="1" lang="zh-CN" altLang="en-US" sz="1300" smtClean="0">
                <a:latin typeface="Times New Roman" panose="02020603050405020304" pitchFamily="18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2026/6/2</a:t>
            </a:fld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12292" name="Rectangle 7">
            <a:extLst>
              <a:ext uri="{FF2B5EF4-FFF2-40B4-BE49-F238E27FC236}">
                <a16:creationId xmlns:a16="http://schemas.microsoft.com/office/drawing/2014/main" id="{1F5A9F09-0D46-442C-B44C-6AFEEB24347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138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1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5B12B025-9860-401E-B5C6-D8511E97DB0D}" type="slidenum">
              <a:rPr kumimoji="1" lang="en-US" altLang="zh-CN" sz="13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</a:pPr>
              <a:t>2</a:t>
            </a:fld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12293" name="Rectangle 2">
            <a:extLst>
              <a:ext uri="{FF2B5EF4-FFF2-40B4-BE49-F238E27FC236}">
                <a16:creationId xmlns:a16="http://schemas.microsoft.com/office/drawing/2014/main" id="{7BD8AAAD-5528-4021-AC18-5931D989EBB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2294" name="Rectangle 3">
            <a:extLst>
              <a:ext uri="{FF2B5EF4-FFF2-40B4-BE49-F238E27FC236}">
                <a16:creationId xmlns:a16="http://schemas.microsoft.com/office/drawing/2014/main" id="{790700FD-795C-4BC0-B86D-95C8F9544C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942E71B-E9B3-4820-B67A-F8BCFD290363}" type="slidenum">
              <a:rPr lang="zh-CN" altLang="en-US" smtClean="0"/>
              <a:pPr>
                <a:defRPr/>
              </a:pPr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4584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942E71B-E9B3-4820-B67A-F8BCFD290363}" type="slidenum">
              <a:rPr lang="zh-CN" altLang="en-US" smtClean="0"/>
              <a:pPr>
                <a:defRPr/>
              </a:pPr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20695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942E71B-E9B3-4820-B67A-F8BCFD290363}" type="slidenum">
              <a:rPr lang="zh-CN" altLang="en-US" smtClean="0"/>
              <a:pPr>
                <a:defRPr/>
              </a:pPr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1586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0259C8-C7EE-4156-9DC0-3109D3888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3C517D-F1EF-450D-A68B-03ED621FDC53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C562696-FBBC-4EB8-9EBD-19EE2BB47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0E1A01-6584-4619-AB08-FD6FEFF09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094204-A637-4043-9CC7-987AF444C4F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9006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CD5CD-4A9C-42BE-9B3F-0ABDA58F3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08AD0D-2896-4BF3-923E-FFF8221B046F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BE9E60-15CC-4A0A-B209-61423A3C2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44ABA8-1820-4B9B-8398-8FE5EBFF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03C437-6D35-4DF2-9DDF-16D33DE3BB7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7465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513924-75A6-4FB4-87F0-175FBDEB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3F5F9B-25E3-46A1-98D1-D8DF1644CD11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2A2985-7505-4F1A-88BD-AC95D4F9C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94F377-6737-4278-BE4F-1C7BE8311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CEA479-BF3B-473D-BBE0-F05445F3474A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7425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20880CC9-7971-4098-B87F-8480BDBD0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BB680-830C-4A88-AF9D-51D5BB13C0CE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2AE3D943-B121-407E-916D-9FAD9F38A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22CF24BB-C6B9-4C32-9E47-C86D43E7C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F71099-1BE1-4EC4-99FA-0E8A4EF43A17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3344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3">
            <a:extLst>
              <a:ext uri="{FF2B5EF4-FFF2-40B4-BE49-F238E27FC236}">
                <a16:creationId xmlns:a16="http://schemas.microsoft.com/office/drawing/2014/main" id="{8CE374B4-C9E2-4251-B199-E4EB7F5E4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9C6AF-5792-4C28-AF80-D5340AE435B0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8" name="页脚占位符 4">
            <a:extLst>
              <a:ext uri="{FF2B5EF4-FFF2-40B4-BE49-F238E27FC236}">
                <a16:creationId xmlns:a16="http://schemas.microsoft.com/office/drawing/2014/main" id="{E9B58D44-811D-4457-B664-5138E3841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5">
            <a:extLst>
              <a:ext uri="{FF2B5EF4-FFF2-40B4-BE49-F238E27FC236}">
                <a16:creationId xmlns:a16="http://schemas.microsoft.com/office/drawing/2014/main" id="{0A1AC865-3AD2-427E-AFE6-3583B2CE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48EC19-AA48-483B-9C69-7C29A53F1D62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9895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D4571941-D6AA-47A6-B45C-08C11357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ACEB95-638D-4867-89C1-C84FCA55FD02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BE81DE41-E008-427E-A0EB-9D01D03BF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894AE7B3-31F8-4E8C-BB75-7A3F0EC8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D03AD1-CBA7-43A5-BDAB-D2A6671AEF2A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6883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>
            <a:extLst>
              <a:ext uri="{FF2B5EF4-FFF2-40B4-BE49-F238E27FC236}">
                <a16:creationId xmlns:a16="http://schemas.microsoft.com/office/drawing/2014/main" id="{0182AB05-0F02-4448-AA3F-1E48E8443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883964D-015F-45A6-BBB8-525A43BB96E4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3" name="页脚占位符 4">
            <a:extLst>
              <a:ext uri="{FF2B5EF4-FFF2-40B4-BE49-F238E27FC236}">
                <a16:creationId xmlns:a16="http://schemas.microsoft.com/office/drawing/2014/main" id="{CDEBB7F7-48E2-4D51-996D-99CFA564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4A9F14A0-6B8E-4251-9D5B-A21946D8C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DA8CA2-A1CB-4473-A6CD-72E4CDDC229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5645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87165CD9-A9F8-4E14-B869-E12DC6348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E1E904-1879-477D-A111-3DA566B9A543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6FEB713F-8388-465C-A6A3-E3AF8B630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BB7237E4-351C-408F-B400-C4ACC19C0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DE49F4-97E0-4BE7-BD10-8E3DF8F88B7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932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ECA3C3AB-5D7A-472A-91E7-79B6F6C2D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F26D2F-F923-4410-AEB6-AD53FFFD4FFF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5FABE7F1-1CC2-408E-B868-6C222099C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E7347EC8-EAD4-4D9F-B832-88008A8D5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997849-179C-4BF5-8A5B-F91223F744E8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7372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D7936C-15CE-4AAB-848B-6D270D737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AC7AC8-BDAF-459E-A39D-6ECCEBA31388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D9C6D5-B12F-401F-97BA-2B556388B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483FAA-5398-41B1-AE28-EE41BB0F1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73592C-DF7F-4F25-95AD-A0D5EFEFC057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073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94C623-0ADE-484A-BE33-E702B3582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DA897F-8DA0-4D46-8DD8-2287ABC8EEC1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C84BD7-9901-416C-95BF-36949573D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5E8AF4-C2BC-4E32-9DB3-E8FB1A1C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D54C32-A54F-443A-900C-0AC299C29E82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8682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685800" y="609600"/>
            <a:ext cx="7772400" cy="54864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A4E221A7-0730-4633-B4BD-24B39355CC5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78DCF6A7-B355-459E-B60A-77FF55BDCAA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483CACA6-08B1-457A-9623-D84272E7D76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C3CAD6-A1E2-4004-850D-629E47C7456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48139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图片 6">
            <a:extLst>
              <a:ext uri="{FF2B5EF4-FFF2-40B4-BE49-F238E27FC236}">
                <a16:creationId xmlns:a16="http://schemas.microsoft.com/office/drawing/2014/main" id="{C7E279F9-4D1D-41C2-B594-847DFD60A4A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571500"/>
            <a:ext cx="7620000" cy="571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标题占位符 1">
            <a:extLst>
              <a:ext uri="{FF2B5EF4-FFF2-40B4-BE49-F238E27FC236}">
                <a16:creationId xmlns:a16="http://schemas.microsoft.com/office/drawing/2014/main" id="{764418EE-8BFB-4E4C-AAF1-C4099A23592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8" name="文本占位符 2">
            <a:extLst>
              <a:ext uri="{FF2B5EF4-FFF2-40B4-BE49-F238E27FC236}">
                <a16:creationId xmlns:a16="http://schemas.microsoft.com/office/drawing/2014/main" id="{829A604F-10BF-4619-82BD-2A4750A6231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1BEE02-6019-452C-A6F6-3A0A8D13C9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B7BE501-E7B6-47ED-A922-6C02EB619C18}" type="datetimeFigureOut">
              <a:rPr lang="zh-CN" altLang="en-US"/>
              <a:pPr>
                <a:defRPr/>
              </a:pPr>
              <a:t>2026/6/2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F54BB4-FEDF-41F9-BBFC-5687461F67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F037EF-6145-49C6-93ED-FCFAE07539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5F1DB772-2744-4267-A0B6-7B9C40C910D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pic>
        <p:nvPicPr>
          <p:cNvPr id="1032" name="图片 7">
            <a:extLst>
              <a:ext uri="{FF2B5EF4-FFF2-40B4-BE49-F238E27FC236}">
                <a16:creationId xmlns:a16="http://schemas.microsoft.com/office/drawing/2014/main" id="{C1A97169-7106-41F3-916B-B51B6D3967A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7350"/>
            <a:ext cx="9144000" cy="655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36" r:id="rId1"/>
    <p:sldLayoutId id="2147483937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44" r:id="rId9"/>
    <p:sldLayoutId id="2147483945" r:id="rId10"/>
    <p:sldLayoutId id="2147483946" r:id="rId11"/>
    <p:sldLayoutId id="2147483947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oleObject" Target="../embeddings/oleObject1.bin"/><Relationship Id="rId7" Type="http://schemas.openxmlformats.org/officeDocument/2006/relationships/image" Target="../media/image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6.png"/><Relationship Id="rId4" Type="http://schemas.openxmlformats.org/officeDocument/2006/relationships/image" Target="../media/image5.wmf"/><Relationship Id="rId9" Type="http://schemas.openxmlformats.org/officeDocument/2006/relationships/image" Target="../media/image8.w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wmf"/></Relationships>
</file>

<file path=ppt/slides/_rels/slide11.xml.rels><?xml version="1.0" encoding="UTF-8" standalone="yes"?>
<Relationships xmlns="http://schemas.openxmlformats.org/package/2006/relationships"><Relationship Id="rId39" Type="http://schemas.openxmlformats.org/officeDocument/2006/relationships/oleObject" Target="../embeddings/oleObject6.bin"/><Relationship Id="rId51" Type="http://schemas.openxmlformats.org/officeDocument/2006/relationships/image" Target="../media/image20.png"/><Relationship Id="rId34" Type="http://schemas.openxmlformats.org/officeDocument/2006/relationships/image" Target="../media/image104.png"/><Relationship Id="rId42" Type="http://schemas.openxmlformats.org/officeDocument/2006/relationships/image" Target="../media/image15.wmf"/><Relationship Id="rId47" Type="http://schemas.openxmlformats.org/officeDocument/2006/relationships/oleObject" Target="../embeddings/oleObject10.bin"/><Relationship Id="rId50" Type="http://schemas.openxmlformats.org/officeDocument/2006/relationships/image" Target="../media/image19.wmf"/><Relationship Id="rId38" Type="http://schemas.openxmlformats.org/officeDocument/2006/relationships/image" Target="../media/image13.png"/><Relationship Id="rId46" Type="http://schemas.openxmlformats.org/officeDocument/2006/relationships/image" Target="../media/image17.wmf"/><Relationship Id="rId2" Type="http://schemas.openxmlformats.org/officeDocument/2006/relationships/image" Target="../media/image11.png"/><Relationship Id="rId29" Type="http://schemas.openxmlformats.org/officeDocument/2006/relationships/oleObject" Target="../embeddings/oleObject5.bin"/><Relationship Id="rId41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Relationship Id="rId37" Type="http://schemas.openxmlformats.org/officeDocument/2006/relationships/image" Target="../media/image12.wmf"/><Relationship Id="rId32" Type="http://schemas.openxmlformats.org/officeDocument/2006/relationships/image" Target="../media/image103.png"/><Relationship Id="rId40" Type="http://schemas.openxmlformats.org/officeDocument/2006/relationships/image" Target="../media/image14.wmf"/><Relationship Id="rId45" Type="http://schemas.openxmlformats.org/officeDocument/2006/relationships/oleObject" Target="../embeddings/oleObject9.bin"/><Relationship Id="rId36" Type="http://schemas.openxmlformats.org/officeDocument/2006/relationships/oleObject" Target="../embeddings/oleObject5.bin"/><Relationship Id="rId49" Type="http://schemas.openxmlformats.org/officeDocument/2006/relationships/oleObject" Target="../embeddings/oleObject11.bin"/><Relationship Id="rId31" Type="http://schemas.openxmlformats.org/officeDocument/2006/relationships/image" Target="../media/image102.png"/><Relationship Id="rId44" Type="http://schemas.openxmlformats.org/officeDocument/2006/relationships/image" Target="../media/image16.wmf"/><Relationship Id="rId35" Type="http://schemas.openxmlformats.org/officeDocument/2006/relationships/image" Target="../media/image105.png"/><Relationship Id="rId30" Type="http://schemas.openxmlformats.org/officeDocument/2006/relationships/image" Target="../media/image12.wmf"/><Relationship Id="rId43" Type="http://schemas.openxmlformats.org/officeDocument/2006/relationships/oleObject" Target="../embeddings/oleObject8.bin"/><Relationship Id="rId48" Type="http://schemas.openxmlformats.org/officeDocument/2006/relationships/image" Target="../media/image18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.bin"/><Relationship Id="rId3" Type="http://schemas.openxmlformats.org/officeDocument/2006/relationships/image" Target="../media/image23.wmf"/><Relationship Id="rId7" Type="http://schemas.openxmlformats.org/officeDocument/2006/relationships/image" Target="../media/image25.wmf"/><Relationship Id="rId12" Type="http://schemas.openxmlformats.org/officeDocument/2006/relationships/image" Target="../media/image28.png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.bin"/><Relationship Id="rId11" Type="http://schemas.openxmlformats.org/officeDocument/2006/relationships/image" Target="../media/image27.wmf"/><Relationship Id="rId5" Type="http://schemas.openxmlformats.org/officeDocument/2006/relationships/image" Target="../media/image24.wmf"/><Relationship Id="rId10" Type="http://schemas.openxmlformats.org/officeDocument/2006/relationships/oleObject" Target="../embeddings/oleObject16.bin"/><Relationship Id="rId4" Type="http://schemas.openxmlformats.org/officeDocument/2006/relationships/oleObject" Target="../embeddings/oleObject13.bin"/><Relationship Id="rId9" Type="http://schemas.openxmlformats.org/officeDocument/2006/relationships/image" Target="../media/image26.w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w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tif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灯片编号占位符 3">
            <a:extLst>
              <a:ext uri="{FF2B5EF4-FFF2-40B4-BE49-F238E27FC236}">
                <a16:creationId xmlns:a16="http://schemas.microsoft.com/office/drawing/2014/main" id="{010FA458-7200-4009-A108-DFB16957A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78600" y="6302375"/>
            <a:ext cx="21336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FBF6100-4DD5-48A8-90C7-8C1632C7AE22}" type="slidenum">
              <a:rPr kumimoji="1" lang="en-US" altLang="zh-CN" sz="14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  <a:buFontTx/>
                <a:buNone/>
              </a:pPr>
              <a:t>1</a:t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94211" name="Text Box 3">
            <a:extLst>
              <a:ext uri="{FF2B5EF4-FFF2-40B4-BE49-F238E27FC236}">
                <a16:creationId xmlns:a16="http://schemas.microsoft.com/office/drawing/2014/main" id="{1180118F-0F9B-44F4-8C1A-78D508EB7A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3573463"/>
            <a:ext cx="8229600" cy="71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zh-CN" altLang="en-US" sz="4000" b="1" dirty="0">
                <a:latin typeface="宋体" panose="02010600030101010101" pitchFamily="2" charset="-122"/>
              </a:rPr>
              <a:t>课程复习</a:t>
            </a:r>
            <a:endParaRPr kumimoji="1" lang="zh-CN" altLang="en-US" sz="3600" b="1" dirty="0">
              <a:latin typeface="楷体_GB2312"/>
              <a:ea typeface="楷体_GB2312"/>
              <a:cs typeface="楷体_GB2312"/>
            </a:endParaRPr>
          </a:p>
        </p:txBody>
      </p:sp>
      <p:sp>
        <p:nvSpPr>
          <p:cNvPr id="5124" name="Text Box 4">
            <a:extLst>
              <a:ext uri="{FF2B5EF4-FFF2-40B4-BE49-F238E27FC236}">
                <a16:creationId xmlns:a16="http://schemas.microsoft.com/office/drawing/2014/main" id="{84260868-6AAC-43C8-A32C-83B235E5F9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736725"/>
            <a:ext cx="8229600" cy="1446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en-US" altLang="zh-CN" sz="4400" b="1">
                <a:latin typeface="Monotype Corsiva" panose="03010101010201010101" pitchFamily="66" charset="0"/>
              </a:rPr>
              <a:t>《</a:t>
            </a:r>
            <a:r>
              <a:rPr kumimoji="1" lang="zh-CN" altLang="en-US" sz="4400" b="1">
                <a:latin typeface="Monotype Corsiva" panose="03010101010201010101" pitchFamily="66" charset="0"/>
              </a:rPr>
              <a:t>机器学习基础</a:t>
            </a:r>
            <a:r>
              <a:rPr kumimoji="1" lang="en-US" altLang="zh-CN" sz="4400" b="1">
                <a:latin typeface="Monotype Corsiva" panose="03010101010201010101" pitchFamily="66" charset="0"/>
              </a:rPr>
              <a:t>》</a:t>
            </a:r>
            <a:br>
              <a:rPr kumimoji="1" lang="en-US" altLang="zh-CN" sz="4400" b="1">
                <a:latin typeface="Monotype Corsiva" panose="03010101010201010101" pitchFamily="66" charset="0"/>
              </a:rPr>
            </a:br>
            <a:r>
              <a:rPr kumimoji="1" lang="en-US" altLang="zh-CN" sz="4400" b="1">
                <a:latin typeface="Monotype Corsiva" panose="03010101010201010101" pitchFamily="66" charset="0"/>
              </a:rPr>
              <a:t>Foundations of Machine Learning</a:t>
            </a:r>
          </a:p>
        </p:txBody>
      </p:sp>
      <p:sp>
        <p:nvSpPr>
          <p:cNvPr id="5125" name="Text Box 18">
            <a:extLst>
              <a:ext uri="{FF2B5EF4-FFF2-40B4-BE49-F238E27FC236}">
                <a16:creationId xmlns:a16="http://schemas.microsoft.com/office/drawing/2014/main" id="{D2CB22B5-00BE-49EC-93A1-107A76F471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4941888"/>
            <a:ext cx="82296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kumimoji="1" lang="zh-CN" altLang="en-GB" sz="2800" b="1" dirty="0">
                <a:latin typeface="楷体" panose="02010609060101010101" pitchFamily="49" charset="-122"/>
                <a:ea typeface="楷体" panose="02010609060101010101" pitchFamily="49" charset="-122"/>
                <a:cs typeface="楷体_GB2312"/>
              </a:rPr>
              <a:t>重庆大学计算机学院</a:t>
            </a:r>
            <a:endParaRPr kumimoji="1" lang="en-US" altLang="zh-CN" sz="2800" b="1" dirty="0">
              <a:latin typeface="楷体" panose="02010609060101010101" pitchFamily="49" charset="-122"/>
              <a:ea typeface="楷体" panose="02010609060101010101" pitchFamily="49" charset="-122"/>
              <a:cs typeface="楷体_GB231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94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2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灯片编号占位符 4">
            <a:extLst>
              <a:ext uri="{FF2B5EF4-FFF2-40B4-BE49-F238E27FC236}">
                <a16:creationId xmlns:a16="http://schemas.microsoft.com/office/drawing/2014/main" id="{D3A026C4-F7B3-455D-8409-EE800BAF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BB42C7C-6EB2-4849-9CA4-783BF4E762FA}" type="slidenum">
              <a:rPr kumimoji="1" lang="en-US" altLang="zh-CN" sz="14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  <a:buFontTx/>
                <a:buNone/>
              </a:pPr>
              <a:t>2</a:t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11267" name="Text Box 3">
            <a:extLst>
              <a:ext uri="{FF2B5EF4-FFF2-40B4-BE49-F238E27FC236}">
                <a16:creationId xmlns:a16="http://schemas.microsoft.com/office/drawing/2014/main" id="{A797628E-D641-41DC-8511-3686F17811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542925"/>
            <a:ext cx="8135937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成绩评定</a:t>
            </a:r>
            <a:endParaRPr kumimoji="1"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楷体_GB2312"/>
              <a:sym typeface="Symbol" panose="05050102010706020507" pitchFamily="18" charset="2"/>
            </a:endParaRPr>
          </a:p>
        </p:txBody>
      </p:sp>
      <p:sp>
        <p:nvSpPr>
          <p:cNvPr id="11268" name="Text Box 4">
            <a:extLst>
              <a:ext uri="{FF2B5EF4-FFF2-40B4-BE49-F238E27FC236}">
                <a16:creationId xmlns:a16="http://schemas.microsoft.com/office/drawing/2014/main" id="{DF0FB2B5-927B-4658-9A3C-3FAF765B2E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225550"/>
            <a:ext cx="8351837" cy="5878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914400" indent="-4572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>
                <a:srgbClr val="FF0000"/>
              </a:buClr>
              <a:buFont typeface="Wingdings" panose="05000000000000000000" pitchFamily="2" charset="2"/>
              <a:buChar char="p"/>
            </a:pPr>
            <a:r>
              <a:rPr kumimoji="1"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成绩构成</a:t>
            </a: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	</a:t>
            </a:r>
            <a:endParaRPr kumimoji="1" lang="en-US" altLang="zh-CN" sz="2000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endParaRPr kumimoji="1" lang="en-US" altLang="zh-CN" sz="2000" b="1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endParaRPr kumimoji="1" lang="en-US" altLang="zh-CN" sz="2000" b="1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endParaRPr kumimoji="1" lang="en-US" altLang="zh-CN" sz="2000" b="1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endParaRPr kumimoji="1" lang="en-US" altLang="zh-CN" sz="2000" b="1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Clr>
                <a:srgbClr val="FF0000"/>
              </a:buClr>
              <a:buFont typeface="Wingdings" panose="05000000000000000000" pitchFamily="2" charset="2"/>
              <a:buChar char="p"/>
            </a:pPr>
            <a:r>
              <a:rPr kumimoji="1"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题型</a:t>
            </a:r>
            <a:endParaRPr kumimoji="1" lang="en-US" altLang="zh-CN" sz="28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eaLnBrk="1" hangingPunct="1">
              <a:spcBef>
                <a:spcPct val="50000"/>
              </a:spcBef>
              <a:buClr>
                <a:srgbClr val="FF0000"/>
              </a:buClr>
              <a:buNone/>
            </a:pPr>
            <a:r>
              <a:rPr kumimoji="1"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   单项选择题、简答题、计算题、思考题</a:t>
            </a:r>
            <a:endParaRPr kumimoji="1" lang="en-US" altLang="zh-CN" sz="24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ct val="50000"/>
              </a:spcBef>
              <a:buClr>
                <a:srgbClr val="FF0000"/>
              </a:buClr>
              <a:buFont typeface="Wingdings" panose="05000000000000000000" pitchFamily="2" charset="2"/>
              <a:buChar char="p"/>
            </a:pPr>
            <a:r>
              <a:rPr kumimoji="1"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考试方式</a:t>
            </a:r>
            <a:endParaRPr kumimoji="1" lang="en-US" altLang="zh-CN" sz="28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eaLnBrk="1" hangingPunct="1">
              <a:spcBef>
                <a:spcPct val="50000"/>
              </a:spcBef>
              <a:buClr>
                <a:srgbClr val="FF0000"/>
              </a:buClr>
              <a:buNone/>
            </a:pPr>
            <a:r>
              <a:rPr kumimoji="1"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   </a:t>
            </a:r>
            <a:r>
              <a:rPr kumimoji="1" lang="zh-CN" altLang="en-US" sz="2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闭卷</a:t>
            </a:r>
            <a:r>
              <a:rPr kumimoji="1"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考试（不能带计算器等电子设备）</a:t>
            </a:r>
            <a:endParaRPr kumimoji="1" lang="en-US" altLang="zh-CN" sz="24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1" eaLnBrk="1" hangingPunct="1">
              <a:spcBef>
                <a:spcPct val="50000"/>
              </a:spcBef>
              <a:buFontTx/>
              <a:buNone/>
            </a:pPr>
            <a:endParaRPr kumimoji="1" lang="en-US" altLang="zh-CN" sz="2000" dirty="0"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6E6ABA9-571D-4985-BA5B-A623CC43F9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6040134"/>
              </p:ext>
            </p:extLst>
          </p:nvPr>
        </p:nvGraphicFramePr>
        <p:xfrm>
          <a:off x="930275" y="1924050"/>
          <a:ext cx="7643812" cy="18381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47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0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22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考核方式</a:t>
                      </a: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总分</a:t>
                      </a: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占总成绩的比例</a:t>
                      </a:r>
                    </a:p>
                  </a:txBody>
                  <a:tcPr marL="68594" marR="68594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736"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zh-CN" sz="2200" kern="10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课堂教学</a:t>
                      </a: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100</a:t>
                      </a:r>
                      <a:r>
                        <a:rPr lang="zh-CN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分</a:t>
                      </a: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60%</a:t>
                      </a:r>
                      <a:endParaRPr lang="zh-CN" sz="2200" kern="100" dirty="0"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94" marR="68594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221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实验项目</a:t>
                      </a:r>
                      <a:r>
                        <a:rPr lang="en-US" alt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+</a:t>
                      </a:r>
                      <a:r>
                        <a:rPr kumimoji="0" lang="zh-CN" altLang="en-US" sz="22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+mn-cs"/>
                        </a:rPr>
                        <a:t>作业</a:t>
                      </a:r>
                      <a:endParaRPr lang="zh-CN" sz="2200" kern="100" dirty="0"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30</a:t>
                      </a:r>
                      <a:r>
                        <a:rPr lang="zh-CN" alt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分</a:t>
                      </a:r>
                      <a:r>
                        <a:rPr lang="en-US" altLang="zh-CN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+10</a:t>
                      </a:r>
                      <a:r>
                        <a:rPr lang="zh-CN" alt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分</a:t>
                      </a:r>
                      <a:endParaRPr lang="zh-CN" sz="2200" kern="100" dirty="0"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40%</a:t>
                      </a:r>
                      <a:endParaRPr lang="zh-CN" sz="2200" kern="100" dirty="0"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94" marR="68594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灯片编号占位符 4">
            <a:extLst>
              <a:ext uri="{FF2B5EF4-FFF2-40B4-BE49-F238E27FC236}">
                <a16:creationId xmlns:a16="http://schemas.microsoft.com/office/drawing/2014/main" id="{17E635D5-556F-4781-A1B5-F34536FBE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2DB4BF9-AF1A-4419-86C3-EEDB9647A9DB}" type="slidenum">
              <a:rPr kumimoji="1" lang="en-US" altLang="zh-CN" sz="1400">
                <a:latin typeface="Times New Roman" panose="02020603050405020304" pitchFamily="18" charset="0"/>
              </a:rPr>
              <a:pPr>
                <a:spcBef>
                  <a:spcPct val="0"/>
                </a:spcBef>
                <a:buFontTx/>
                <a:buNone/>
              </a:pPr>
              <a:t>3</a:t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25604" name="Text Box 6">
            <a:extLst>
              <a:ext uri="{FF2B5EF4-FFF2-40B4-BE49-F238E27FC236}">
                <a16:creationId xmlns:a16="http://schemas.microsoft.com/office/drawing/2014/main" id="{6E9DF6B3-7770-494F-9AB9-19E6CE2A1E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527843"/>
            <a:ext cx="8135937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本课程主要考试范围</a:t>
            </a:r>
          </a:p>
        </p:txBody>
      </p:sp>
      <p:sp>
        <p:nvSpPr>
          <p:cNvPr id="843783" name="Text Box 7">
            <a:extLst>
              <a:ext uri="{FF2B5EF4-FFF2-40B4-BE49-F238E27FC236}">
                <a16:creationId xmlns:a16="http://schemas.microsoft.com/office/drawing/2014/main" id="{6DA05D3F-8AF1-4369-AAF6-DBCD6A2887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076726"/>
            <a:ext cx="8352283" cy="51655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Font typeface="Arial" pitchFamily="34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1pPr>
            <a:lvl2pPr marL="742950" indent="-285750" eaLnBrk="0" hangingPunct="0">
              <a:spcBef>
                <a:spcPct val="20000"/>
              </a:spcBef>
              <a:buFont typeface="Arial" pitchFamily="34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2pPr>
            <a:lvl3pPr marL="1143000" indent="-228600" eaLnBrk="0" hangingPunct="0">
              <a:spcBef>
                <a:spcPct val="20000"/>
              </a:spcBef>
              <a:buFont typeface="Arial" pitchFamily="34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3pPr>
            <a:lvl4pPr marL="1600200" indent="-228600" eaLnBrk="0" hangingPunct="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4pPr>
            <a:lvl5pPr marL="2057400" indent="-228600" eaLnBrk="0" hangingPunct="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 typeface="Arial" pitchFamily="34" charset="0"/>
              <a:buNone/>
              <a:defRPr/>
            </a:pPr>
            <a:r>
              <a:rPr kumimoji="1"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主要参照</a:t>
            </a:r>
            <a:r>
              <a:rPr kumimoji="1"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kumimoji="1"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周志华的专著</a:t>
            </a:r>
            <a:r>
              <a:rPr kumimoji="1"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《</a:t>
            </a:r>
            <a:r>
              <a:rPr kumimoji="1"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机器学习</a:t>
            </a:r>
            <a:r>
              <a:rPr kumimoji="1"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》</a:t>
            </a:r>
            <a:r>
              <a:rPr kumimoji="1"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，主要章节内容如下：</a:t>
            </a:r>
            <a:endParaRPr kumimoji="1" lang="zh-CN" altLang="en-US" sz="2400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绪论</a:t>
            </a:r>
            <a:endParaRPr kumimoji="1" lang="zh-CN" altLang="en-US" sz="20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</a:t>
            </a:r>
            <a:r>
              <a:rPr kumimoji="1" lang="zh-CN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学习模型评估与选择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线性模型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 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决策树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 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神经网络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 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支持向量机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贝叶斯分类器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集成学习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聚类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降维与度量学习（不包括流行学习和度量学习）</a:t>
            </a:r>
            <a:endParaRPr kumimoji="1" lang="en-US" altLang="zh-CN" sz="2000" dirty="0">
              <a:solidFill>
                <a:schemeClr val="bg1">
                  <a:lumMod val="95000"/>
                </a:schemeClr>
              </a:solidFill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95990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378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140301"/>
            <a:ext cx="21336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  <a:buFontTx/>
                <a:buNone/>
              </a:pPr>
              <a:t>4</a:t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4326" y="920452"/>
            <a:ext cx="8062987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什么是机器学习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“假设用𝑃来评估计算机程序在某任务类𝑇上的性能，若一个程序通过利用经验𝐸在𝑇中任务上获得了性能改善，则我们就说关于𝑇和𝑃，该程序对𝐸进行了学习”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监督学习（</a:t>
            </a:r>
            <a:r>
              <a:rPr lang="en-US" altLang="zh-CN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supervised learning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无监督学习（</a:t>
            </a:r>
            <a:r>
              <a:rPr lang="en-US" altLang="zh-CN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unsupervised learning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分类和回归问题及区别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泛化能力：假设样本独立同分布（</a:t>
            </a:r>
            <a:r>
              <a:rPr lang="en-US" altLang="zh-CN" sz="2600" b="1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i.i.d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概念学习：假设空间和版本空间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归纳偏好（奥卡姆剃刀）和没有免费的午餐定理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历史：推理期</a:t>
            </a:r>
            <a:r>
              <a:rPr lang="en-US" altLang="zh-CN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知识期</a:t>
            </a:r>
            <a:r>
              <a:rPr lang="en-US" altLang="zh-CN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学习期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404664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1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章：绪论</a:t>
            </a:r>
          </a:p>
        </p:txBody>
      </p:sp>
    </p:spTree>
    <p:extLst>
      <p:ext uri="{BB962C8B-B14F-4D97-AF65-F5344CB8AC3E}">
        <p14:creationId xmlns:p14="http://schemas.microsoft.com/office/powerpoint/2010/main" val="89540987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8878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  <a:buFontTx/>
                <a:buNone/>
              </a:pPr>
              <a:t>5</a:t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576" y="1340768"/>
            <a:ext cx="7416800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过拟合和欠拟合以及相应的解决方案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评估方法：泛化性能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）留出法（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）交叉验证法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）自助法（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4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）调参与最终模型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性能度量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比较检验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偏差与方差：偏差、方差和噪声解释；偏差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方差窘境（与泛化误差的关系）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620713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2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章：模型评估与选择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2132856"/>
            <a:ext cx="3616849" cy="26642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0522556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55576" y="692696"/>
            <a:ext cx="7920880" cy="29731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性能度量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457200" indent="-45720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回归任务：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均方误差（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MSE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、平均绝对误差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457200" indent="-45720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分类任务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914400" lvl="1" indent="-457200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ü"/>
              <a:defRPr/>
            </a:pP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错误率、精度、查准率、查全率（混淆矩阵）</a:t>
            </a: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914400" lvl="1" indent="-457200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ü"/>
              <a:defRPr/>
            </a:pP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P-R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曲线（查准率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查全率）、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ROC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曲线（真正类率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假正类率）、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AUC</a:t>
            </a:r>
          </a:p>
        </p:txBody>
      </p:sp>
      <p:pic>
        <p:nvPicPr>
          <p:cNvPr id="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3789040"/>
            <a:ext cx="5760640" cy="20606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7369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  <a:buFontTx/>
                <a:buNone/>
              </a:pPr>
              <a:t>7</a:t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9592" y="1340768"/>
            <a:ext cx="7416800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线性回归（最小二乘法）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二分类任务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对数几率回归（极大似然法）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线性判别分析（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LDA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）（监督降维技术）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多分类学习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一对一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一对其余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多对多（纠错输出码，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ECOC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类别不平衡问题：欠采样、过采样、再缩放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620713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3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章：线性模型</a:t>
            </a:r>
          </a:p>
        </p:txBody>
      </p:sp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11501050"/>
              </p:ext>
            </p:extLst>
          </p:nvPr>
        </p:nvGraphicFramePr>
        <p:xfrm>
          <a:off x="4211960" y="726281"/>
          <a:ext cx="2170113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3" imgW="1096200" imgH="186840" progId="Equation.Ribbit">
                  <p:embed/>
                </p:oleObj>
              </mc:Choice>
              <mc:Fallback>
                <p:oleObj name="Formula" r:id="rId3" imgW="1096200" imgH="186840" progId="Equation.Ribbit">
                  <p:embed/>
                  <p:pic>
                    <p:nvPicPr>
                      <p:cNvPr id="6" name="对象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11960" y="726281"/>
                        <a:ext cx="2170113" cy="368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112" y="2219738"/>
            <a:ext cx="2284422" cy="705860"/>
          </a:xfrm>
          <a:prstGeom prst="rect">
            <a:avLst/>
          </a:prstGeom>
        </p:spPr>
      </p:pic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85593413"/>
              </p:ext>
            </p:extLst>
          </p:nvPr>
        </p:nvGraphicFramePr>
        <p:xfrm>
          <a:off x="7264021" y="2895020"/>
          <a:ext cx="1422779" cy="6266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6" imgW="839520" imgH="379800" progId="Equation.Ribbit">
                  <p:embed/>
                </p:oleObj>
              </mc:Choice>
              <mc:Fallback>
                <p:oleObj name="Formula" r:id="rId6" imgW="839520" imgH="379800" progId="Equation.Ribbit">
                  <p:embed/>
                  <p:pic>
                    <p:nvPicPr>
                      <p:cNvPr id="5" name="对象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64021" y="2895020"/>
                        <a:ext cx="1422779" cy="62666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0882007"/>
              </p:ext>
            </p:extLst>
          </p:nvPr>
        </p:nvGraphicFramePr>
        <p:xfrm>
          <a:off x="5673535" y="1618580"/>
          <a:ext cx="2301875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8" imgW="1158480" imgH="344520" progId="Equation.Ribbit">
                  <p:embed/>
                </p:oleObj>
              </mc:Choice>
              <mc:Fallback>
                <p:oleObj name="Formula" r:id="rId8" imgW="1158480" imgH="344520" progId="Equation.Ribbit">
                  <p:embed/>
                  <p:pic>
                    <p:nvPicPr>
                      <p:cNvPr id="5" name="对象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73535" y="1618580"/>
                        <a:ext cx="2301875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938075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8878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  <a:buFontTx/>
                <a:buNone/>
              </a:pPr>
              <a:t>8</a:t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7584" y="1200150"/>
            <a:ext cx="7416800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经典的属性划分方法：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信息增益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ID3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信息增益率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C4.5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基尼指数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CART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剪枝处理：“过拟合”的解决手段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预剪枝（优缺点）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后剪枝（优缺点）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连续与缺失值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多变量决策树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回归树</a:t>
            </a: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637" y="548680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4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章：决策树</a:t>
            </a:r>
          </a:p>
        </p:txBody>
      </p:sp>
    </p:spTree>
    <p:extLst>
      <p:ext uri="{BB962C8B-B14F-4D97-AF65-F5344CB8AC3E}">
        <p14:creationId xmlns:p14="http://schemas.microsoft.com/office/powerpoint/2010/main" val="224918022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8878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1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476672"/>
            <a:ext cx="6768752" cy="6119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95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3600" y="1218443"/>
            <a:ext cx="7416800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感知机与多层网络</a:t>
            </a: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多层前馈神经网络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误差逆传播算法（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BP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）：标准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BP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和累计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BP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梯度下降优化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缓解过拟合的策略：早停和正则化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全局最小与局部极小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其他常用神经网络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深度学习（特征学习）：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预训练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+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微调和权共享；常用的激活函数：</a:t>
            </a:r>
            <a:r>
              <a:rPr lang="en-US" altLang="zh-CN" sz="2800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ReLU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620713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5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章：神经网络</a:t>
            </a:r>
          </a:p>
        </p:txBody>
      </p:sp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73565080"/>
              </p:ext>
            </p:extLst>
          </p:nvPr>
        </p:nvGraphicFramePr>
        <p:xfrm>
          <a:off x="6300192" y="5995987"/>
          <a:ext cx="2247900" cy="360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3" imgW="1098720" imgH="176760" progId="Equation.Ribbit">
                  <p:embed/>
                </p:oleObj>
              </mc:Choice>
              <mc:Fallback>
                <p:oleObj name="Formula" r:id="rId3" imgW="1098720" imgH="176760" progId="Equation.Ribbit">
                  <p:embed/>
                  <p:pic>
                    <p:nvPicPr>
                      <p:cNvPr id="5" name="对象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00192" y="5995987"/>
                        <a:ext cx="2247900" cy="3603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7838862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878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1E984C5-FC8E-4733-9E4F-3AA81FAE2DE6}"/>
              </a:ext>
            </a:extLst>
          </p:cNvPr>
          <p:cNvSpPr txBox="1"/>
          <p:nvPr/>
        </p:nvSpPr>
        <p:spPr>
          <a:xfrm>
            <a:off x="1493911" y="4311524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step1: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step2: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B05B5981-53D3-47BF-A784-C65E7BD5193A}"/>
              </a:ext>
            </a:extLst>
          </p:cNvPr>
          <p:cNvGrpSpPr/>
          <p:nvPr/>
        </p:nvGrpSpPr>
        <p:grpSpPr>
          <a:xfrm>
            <a:off x="867298" y="1008588"/>
            <a:ext cx="4896543" cy="3240360"/>
            <a:chOff x="5216329" y="1304248"/>
            <a:chExt cx="3806904" cy="2099235"/>
          </a:xfrm>
        </p:grpSpPr>
        <p:pic>
          <p:nvPicPr>
            <p:cNvPr id="7" name="内容占位符 4">
              <a:extLst>
                <a:ext uri="{FF2B5EF4-FFF2-40B4-BE49-F238E27FC236}">
                  <a16:creationId xmlns:a16="http://schemas.microsoft.com/office/drawing/2014/main" id="{46E07B98-6F9B-424C-8323-6E51591F1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16329" y="1304248"/>
              <a:ext cx="3806904" cy="209923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4B9DE688-7EA0-4F44-BDAD-26B2C6D5E593}"/>
                    </a:ext>
                  </a:extLst>
                </p:cNvPr>
                <p:cNvSpPr txBox="1"/>
                <p:nvPr/>
              </p:nvSpPr>
              <p:spPr>
                <a:xfrm flipH="1">
                  <a:off x="7684115" y="2509658"/>
                  <a:ext cx="341300" cy="24622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/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7B52B133-7052-4221-94ED-E689B3B9DD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684115" y="2509658"/>
                  <a:ext cx="341300" cy="246221"/>
                </a:xfrm>
                <a:prstGeom prst="rect">
                  <a:avLst/>
                </a:prstGeom>
                <a:blipFill>
                  <a:blip r:embed="rId34"/>
                  <a:stretch>
                    <a:fillRect l="-4082" r="-2041" b="-2564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3CAB6489-8B18-45E3-8E34-DE8C42F23A1F}"/>
                    </a:ext>
                  </a:extLst>
                </p:cNvPr>
                <p:cNvSpPr txBox="1"/>
                <p:nvPr/>
              </p:nvSpPr>
              <p:spPr>
                <a:xfrm flipH="1">
                  <a:off x="7676711" y="1712145"/>
                  <a:ext cx="341300" cy="26904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600" i="1" dirty="0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0BBA0DFF-2E67-4C96-9F65-BC7A5D0B2C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676711" y="1712145"/>
                  <a:ext cx="341300" cy="269048"/>
                </a:xfrm>
                <a:prstGeom prst="rect">
                  <a:avLst/>
                </a:prstGeom>
                <a:blipFill>
                  <a:blip r:embed="rId35"/>
                  <a:stretch>
                    <a:fillRect l="-12245" b="-3095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2198D79E-F43F-4581-813E-05EBDBCCD914}"/>
              </a:ext>
            </a:extLst>
          </p:cNvPr>
          <p:cNvGrpSpPr/>
          <p:nvPr/>
        </p:nvGrpSpPr>
        <p:grpSpPr>
          <a:xfrm>
            <a:off x="2448346" y="4297378"/>
            <a:ext cx="3779837" cy="371475"/>
            <a:chOff x="1420894" y="1868744"/>
            <a:chExt cx="3779837" cy="371475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1" name="对象 10">
                  <a:extLst>
                    <a:ext uri="{FF2B5EF4-FFF2-40B4-BE49-F238E27FC236}">
                      <a16:creationId xmlns:a16="http://schemas.microsoft.com/office/drawing/2014/main" id="{2471456B-1D8D-4B61-A8C3-F6BA4A9B749A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696915239"/>
                    </p:ext>
                  </p:extLst>
                </p:nvPr>
              </p:nvGraphicFramePr>
              <p:xfrm>
                <a:off x="1420894" y="1868744"/>
                <a:ext cx="3779837" cy="37147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Formula" r:id="rId36" imgW="2106000" imgH="208440" progId="Equation.Ribbit">
                        <p:embed/>
                      </p:oleObj>
                    </mc:Choice>
                    <mc:Fallback>
                      <p:oleObj name="Formula" r:id="rId36" imgW="2106000" imgH="208440" progId="Equation.Ribbit">
                        <p:embed/>
                        <p:pic>
                          <p:nvPicPr>
                            <p:cNvPr id="12" name="对象 11"/>
                            <p:cNvPicPr/>
                            <p:nvPr/>
                          </p:nvPicPr>
                          <p:blipFill>
                            <a:blip r:embed="rId37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420894" y="1868744"/>
                              <a:ext cx="3779837" cy="371475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2" name="对象 11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427485303"/>
                    </p:ext>
                  </p:extLst>
                </p:nvPr>
              </p:nvGraphicFramePr>
              <p:xfrm>
                <a:off x="1420894" y="1868744"/>
                <a:ext cx="3779837" cy="37147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24309" name="Formula" r:id="rId29" imgW="2106000" imgH="208440" progId="Equation.Ribbit">
                        <p:embed/>
                      </p:oleObj>
                    </mc:Choice>
                    <mc:Fallback>
                      <p:oleObj name="Formula" r:id="rId29" imgW="2106000" imgH="208440" progId="Equation.Ribbit">
                        <p:embed/>
                        <p:pic>
                          <p:nvPicPr>
                            <p:cNvPr id="0" name=""/>
                            <p:cNvPicPr/>
                            <p:nvPr/>
                          </p:nvPicPr>
                          <p:blipFill>
                            <a:blip r:embed="rId3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420894" y="1868744"/>
                              <a:ext cx="3779837" cy="371475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0F7C284A-2ECB-40DC-A16B-1D9FF899DC27}"/>
                    </a:ext>
                  </a:extLst>
                </p:cNvPr>
                <p:cNvSpPr txBox="1"/>
                <p:nvPr/>
              </p:nvSpPr>
              <p:spPr>
                <a:xfrm>
                  <a:off x="3356663" y="1876378"/>
                  <a:ext cx="285061" cy="307777"/>
                </a:xfrm>
                <a:prstGeom prst="rect">
                  <a:avLst/>
                </a:prstGeom>
                <a:solidFill>
                  <a:sysClr val="window" lastClr="FFFFFF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kumimoji="0" lang="en-US" altLang="zh-CN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/>
                    <a:ea typeface="幼圆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1B2896D3-9EB2-4176-84BE-9231717A92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6663" y="1876378"/>
                  <a:ext cx="285061" cy="307777"/>
                </a:xfrm>
                <a:prstGeom prst="rect">
                  <a:avLst/>
                </a:prstGeom>
                <a:blipFill>
                  <a:blip r:embed="rId31"/>
                  <a:stretch>
                    <a:fillRect l="-23913" r="-19565" b="-22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C74FC439-2274-458B-A7B7-E1021A25EFDD}"/>
                    </a:ext>
                  </a:extLst>
                </p:cNvPr>
                <p:cNvSpPr txBox="1"/>
                <p:nvPr/>
              </p:nvSpPr>
              <p:spPr>
                <a:xfrm>
                  <a:off x="2275057" y="1895610"/>
                  <a:ext cx="285061" cy="307777"/>
                </a:xfrm>
                <a:prstGeom prst="rect">
                  <a:avLst/>
                </a:prstGeom>
                <a:solidFill>
                  <a:sysClr val="window" lastClr="FFFFFF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kumimoji="0" lang="en-US" altLang="zh-CN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/>
                    <a:ea typeface="幼圆"/>
                  </a:endParaRPr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D1E556CC-9A5A-4C51-BED0-EE9144F0D6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057" y="1895610"/>
                  <a:ext cx="285061" cy="307777"/>
                </a:xfrm>
                <a:prstGeom prst="rect">
                  <a:avLst/>
                </a:prstGeom>
                <a:blipFill>
                  <a:blip r:embed="rId32"/>
                  <a:stretch>
                    <a:fillRect l="-21277" r="-17021" b="-22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E7C9C964-180F-4881-A9AA-2A3435CC2C04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448346" y="4847887"/>
            <a:ext cx="3240360" cy="401113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24A66FBA-D0CB-4D11-8822-14B52854CF8C}"/>
              </a:ext>
            </a:extLst>
          </p:cNvPr>
          <p:cNvSpPr txBox="1"/>
          <p:nvPr/>
        </p:nvSpPr>
        <p:spPr>
          <a:xfrm>
            <a:off x="729714" y="507253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权重：   、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lang="zh-CN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   阈值：  、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		</a:t>
            </a:r>
          </a:p>
        </p:txBody>
      </p:sp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EF4DBBB7-3120-477F-A000-3A32FC06EF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43801431"/>
              </p:ext>
            </p:extLst>
          </p:nvPr>
        </p:nvGraphicFramePr>
        <p:xfrm>
          <a:off x="1403648" y="614068"/>
          <a:ext cx="396192" cy="2718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39" imgW="177840" imgH="119520" progId="Equation.Ribbit">
                  <p:embed/>
                </p:oleObj>
              </mc:Choice>
              <mc:Fallback>
                <p:oleObj name="Formula" r:id="rId39" imgW="177840" imgH="119520" progId="Equation.Ribbit">
                  <p:embed/>
                  <p:pic>
                    <p:nvPicPr>
                      <p:cNvPr id="17" name="对象 16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403648" y="614068"/>
                        <a:ext cx="396192" cy="2718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7780210C-26E5-4151-BCEF-5626D35874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89219821"/>
              </p:ext>
            </p:extLst>
          </p:nvPr>
        </p:nvGraphicFramePr>
        <p:xfrm>
          <a:off x="1954633" y="598403"/>
          <a:ext cx="493713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41" imgW="219960" imgH="133560" progId="Equation.Ribbit">
                  <p:embed/>
                </p:oleObj>
              </mc:Choice>
              <mc:Fallback>
                <p:oleObj name="Formula" r:id="rId41" imgW="219960" imgH="133560" progId="Equation.Ribbit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954633" y="598403"/>
                        <a:ext cx="493713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E9635BD2-BEA3-44EB-A7BE-532C3AD844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758827"/>
              </p:ext>
            </p:extLst>
          </p:nvPr>
        </p:nvGraphicFramePr>
        <p:xfrm>
          <a:off x="3315570" y="585670"/>
          <a:ext cx="224128" cy="3287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43" imgW="119520" imgH="174240" progId="Equation.Ribbit">
                  <p:embed/>
                </p:oleObj>
              </mc:Choice>
              <mc:Fallback>
                <p:oleObj name="Formula" r:id="rId43" imgW="119520" imgH="174240" progId="Equation.Ribbit">
                  <p:embed/>
                  <p:pic>
                    <p:nvPicPr>
                      <p:cNvPr id="11" name="对象 10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315570" y="585670"/>
                        <a:ext cx="224128" cy="3287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D1F58B69-33ED-4EED-BADC-5D7A15F150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31158"/>
              </p:ext>
            </p:extLst>
          </p:nvPr>
        </p:nvGraphicFramePr>
        <p:xfrm>
          <a:off x="3740121" y="585670"/>
          <a:ext cx="322263" cy="269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45" imgW="147600" imgH="122040" progId="Equation.Ribbit">
                  <p:embed/>
                </p:oleObj>
              </mc:Choice>
              <mc:Fallback>
                <p:oleObj name="Formula" r:id="rId45" imgW="147600" imgH="122040" progId="Equation.Ribbit">
                  <p:embed/>
                  <p:pic>
                    <p:nvPicPr>
                      <p:cNvPr id="15" name="对象 14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3740121" y="585670"/>
                        <a:ext cx="322263" cy="269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>
            <a:extLst>
              <a:ext uri="{FF2B5EF4-FFF2-40B4-BE49-F238E27FC236}">
                <a16:creationId xmlns:a16="http://schemas.microsoft.com/office/drawing/2014/main" id="{E2B7F0EE-6FDC-4062-B6C1-25F1FAF7B49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61829140"/>
              </p:ext>
            </p:extLst>
          </p:nvPr>
        </p:nvGraphicFramePr>
        <p:xfrm>
          <a:off x="4247864" y="614068"/>
          <a:ext cx="4497423" cy="3038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47" imgW="2608920" imgH="176760" progId="Equation.Ribbit">
                  <p:embed/>
                </p:oleObj>
              </mc:Choice>
              <mc:Fallback>
                <p:oleObj name="Formula" r:id="rId47" imgW="2608920" imgH="176760" progId="Equation.Ribbit">
                  <p:embed/>
                  <p:pic>
                    <p:nvPicPr>
                      <p:cNvPr id="22" name="对象 21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4247864" y="614068"/>
                        <a:ext cx="4497423" cy="3038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文本框 22">
            <a:extLst>
              <a:ext uri="{FF2B5EF4-FFF2-40B4-BE49-F238E27FC236}">
                <a16:creationId xmlns:a16="http://schemas.microsoft.com/office/drawing/2014/main" id="{3FFBB9B9-7717-43B1-B55F-21DCD3A14C71}"/>
              </a:ext>
            </a:extLst>
          </p:cNvPr>
          <p:cNvSpPr txBox="1"/>
          <p:nvPr/>
        </p:nvSpPr>
        <p:spPr>
          <a:xfrm>
            <a:off x="1493911" y="542803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step3: </a:t>
            </a:r>
            <a:endParaRPr lang="zh-CN" altLang="en-US" dirty="0"/>
          </a:p>
        </p:txBody>
      </p:sp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AFB753A7-6141-4428-BF0B-6B4581F92F2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23342896"/>
              </p:ext>
            </p:extLst>
          </p:nvPr>
        </p:nvGraphicFramePr>
        <p:xfrm>
          <a:off x="2409002" y="5413889"/>
          <a:ext cx="2379022" cy="37735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49" imgW="1482120" imgH="235080" progId="Equation.Ribbit">
                  <p:embed/>
                </p:oleObj>
              </mc:Choice>
              <mc:Fallback>
                <p:oleObj name="Formula" r:id="rId49" imgW="1482120" imgH="235080" progId="Equation.Ribbit">
                  <p:embed/>
                  <p:pic>
                    <p:nvPicPr>
                      <p:cNvPr id="21" name="对象 20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2409002" y="5413889"/>
                        <a:ext cx="2379022" cy="37735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7" name="组合 26">
            <a:extLst>
              <a:ext uri="{FF2B5EF4-FFF2-40B4-BE49-F238E27FC236}">
                <a16:creationId xmlns:a16="http://schemas.microsoft.com/office/drawing/2014/main" id="{F50344AC-4D6B-45A0-82E9-9D3B9B5B8BE5}"/>
              </a:ext>
            </a:extLst>
          </p:cNvPr>
          <p:cNvGrpSpPr/>
          <p:nvPr/>
        </p:nvGrpSpPr>
        <p:grpSpPr>
          <a:xfrm>
            <a:off x="1646116" y="5938885"/>
            <a:ext cx="3136737" cy="610094"/>
            <a:chOff x="1201527" y="5984421"/>
            <a:chExt cx="3136737" cy="610094"/>
          </a:xfrm>
        </p:grpSpPr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E956A502-76B5-4234-AFE7-E569806D8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1"/>
            <a:stretch>
              <a:fillRect/>
            </a:stretch>
          </p:blipFill>
          <p:spPr>
            <a:xfrm>
              <a:off x="1662565" y="5984421"/>
              <a:ext cx="2675699" cy="610094"/>
            </a:xfrm>
            <a:prstGeom prst="rect">
              <a:avLst/>
            </a:prstGeom>
          </p:spPr>
        </p:pic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3897B4E1-1ED7-43D4-9DD6-F700F7CE6AE1}"/>
                </a:ext>
              </a:extLst>
            </p:cNvPr>
            <p:cNvSpPr txBox="1"/>
            <p:nvPr/>
          </p:nvSpPr>
          <p:spPr>
            <a:xfrm>
              <a:off x="1201527" y="6059266"/>
              <a:ext cx="7531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(x)=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8266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12A9DEA-C3F6-4401-A5BF-3745117890AB}" type="slidenum">
              <a:rPr kumimoji="1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1" lang="en-US" altLang="zh-C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544" y="620713"/>
            <a:ext cx="8928992" cy="1440135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支持向量机：最大化间隔与支持向量的稀疏性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对偶问题和序列最小化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SMO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算法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核函数：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通过向高维空间映射解决线性不可分的问题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软间隔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：允许支持向量机在一些样本上不满足约束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正则化：结构风险和经验风险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支持向量回归和核方法（模型总可以表示成核函数的线性组合）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620713"/>
            <a:ext cx="813435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6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章：支持向量机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1700808"/>
            <a:ext cx="6048672" cy="141358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61" y="4781600"/>
            <a:ext cx="3158002" cy="719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1721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12A9DEA-C3F6-4401-A5BF-3745117890AB}" type="slidenum">
              <a:rPr kumimoji="1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1" lang="en-US" altLang="zh-C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0946" y="607079"/>
            <a:ext cx="7416800" cy="1735956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贝叶斯决策论：</a:t>
            </a: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贝叶斯最优分类器</a:t>
            </a:r>
            <a:endParaRPr lang="en-US" altLang="zh-CN" sz="2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判别式模型：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决策树，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BP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神经网络，支持向量机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给定   ，通过直接建模           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, 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来预测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生成式模型：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贝叶斯分类器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先对联合概率分布          建模，再由此获得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贝叶斯定理：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极大似然估计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朴素贝叶斯分类器和拉普拉斯修正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半朴素贝叶斯分类器和贝叶斯网（吉布斯采样）</a:t>
            </a:r>
            <a:endParaRPr lang="en-US" altLang="zh-CN" sz="2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EM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算法</a:t>
            </a: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：对模型中的隐变量做参数估计</a:t>
            </a:r>
            <a:endParaRPr lang="en-US" altLang="zh-CN" sz="2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620713"/>
            <a:ext cx="813435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7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章：贝叶斯分类器</a:t>
            </a:r>
          </a:p>
        </p:txBody>
      </p: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9BEB6148-F99D-4AD0-A85C-9C1995DCE3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3909205"/>
              </p:ext>
            </p:extLst>
          </p:nvPr>
        </p:nvGraphicFramePr>
        <p:xfrm>
          <a:off x="2339752" y="2485082"/>
          <a:ext cx="184150" cy="223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2" imgW="97920" imgH="120960" progId="Equation.Ribbit">
                  <p:embed/>
                </p:oleObj>
              </mc:Choice>
              <mc:Fallback>
                <p:oleObj name="Formula" r:id="rId2" imgW="97920" imgH="120960" progId="Equation.Ribbit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339752" y="2485082"/>
                        <a:ext cx="184150" cy="2238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C4CC4F8E-5A4D-45BF-AC23-B7843D1D138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6031666"/>
              </p:ext>
            </p:extLst>
          </p:nvPr>
        </p:nvGraphicFramePr>
        <p:xfrm>
          <a:off x="4751388" y="2420888"/>
          <a:ext cx="760896" cy="265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4" imgW="505800" imgH="177840" progId="Equation.Ribbit">
                  <p:embed/>
                </p:oleObj>
              </mc:Choice>
              <mc:Fallback>
                <p:oleObj name="Formula" r:id="rId4" imgW="505800" imgH="177840" progId="Equation.Ribbit">
                  <p:embed/>
                  <p:pic>
                    <p:nvPicPr>
                      <p:cNvPr id="19" name="对象 1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751388" y="2420888"/>
                        <a:ext cx="760896" cy="265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0B0D8C4E-DDC4-4F7D-B916-19B13F95D74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4410512"/>
              </p:ext>
            </p:extLst>
          </p:nvPr>
        </p:nvGraphicFramePr>
        <p:xfrm>
          <a:off x="6732240" y="2503390"/>
          <a:ext cx="10795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6" imgW="71280" imgH="119520" progId="Equation.Ribbit">
                  <p:embed/>
                </p:oleObj>
              </mc:Choice>
              <mc:Fallback>
                <p:oleObj name="Formula" r:id="rId6" imgW="71280" imgH="119520" progId="Equation.Ribbit">
                  <p:embed/>
                  <p:pic>
                    <p:nvPicPr>
                      <p:cNvPr id="21" name="对象 20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732240" y="2503390"/>
                        <a:ext cx="10795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EFE116A0-F2A1-4DE6-B85E-81F3C903590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9188973"/>
              </p:ext>
            </p:extLst>
          </p:nvPr>
        </p:nvGraphicFramePr>
        <p:xfrm>
          <a:off x="4118009" y="3501008"/>
          <a:ext cx="666750" cy="261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8" imgW="444600" imgH="176760" progId="Equation.Ribbit">
                  <p:embed/>
                </p:oleObj>
              </mc:Choice>
              <mc:Fallback>
                <p:oleObj name="Formula" r:id="rId8" imgW="444600" imgH="176760" progId="Equation.Ribbit">
                  <p:embed/>
                  <p:pic>
                    <p:nvPicPr>
                      <p:cNvPr id="22" name="对象 21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18009" y="3501008"/>
                        <a:ext cx="666750" cy="2619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D552B986-D18F-4D39-92B1-1D7EDB8887E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3164089"/>
              </p:ext>
            </p:extLst>
          </p:nvPr>
        </p:nvGraphicFramePr>
        <p:xfrm>
          <a:off x="7452320" y="3501008"/>
          <a:ext cx="760896" cy="265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4" imgW="505800" imgH="177840" progId="Equation.Ribbit">
                  <p:embed/>
                </p:oleObj>
              </mc:Choice>
              <mc:Fallback>
                <p:oleObj name="Formula" r:id="rId4" imgW="505800" imgH="177840" progId="Equation.Ribbit">
                  <p:embed/>
                  <p:pic>
                    <p:nvPicPr>
                      <p:cNvPr id="23" name="对象 22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52320" y="3501008"/>
                        <a:ext cx="760896" cy="265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531842E4-5311-4E3F-A0E5-91D5ABDAD8B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1568209"/>
              </p:ext>
            </p:extLst>
          </p:nvPr>
        </p:nvGraphicFramePr>
        <p:xfrm>
          <a:off x="3635896" y="3936551"/>
          <a:ext cx="2660719" cy="6546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10" imgW="1543320" imgH="382320" progId="Equation.Ribbit">
                  <p:embed/>
                </p:oleObj>
              </mc:Choice>
              <mc:Fallback>
                <p:oleObj name="Formula" r:id="rId10" imgW="1543320" imgH="382320" progId="Equation.Ribbit">
                  <p:embed/>
                  <p:pic>
                    <p:nvPicPr>
                      <p:cNvPr id="21" name="对象 20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635896" y="3936551"/>
                        <a:ext cx="2660719" cy="6546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5294" y="1102060"/>
            <a:ext cx="2793003" cy="656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2697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03477E-A237-4894-86ED-EA77CDD737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620688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例子：假定某种疾病很稀少，每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100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万人只有一人患病。还假定有一种化验很有效，如果一个人患此病，则化验结果为阳性的可能性为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99%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。然而，这种化验是不完美的，在健康人身上化验结果为阳性的可能性是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1/1000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。假定来了一位新患者，其化验结果为阳性。利用贝叶斯法则计算该患者患此疾病的概率有多大？</a:t>
            </a: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6" y="2900276"/>
            <a:ext cx="6782388" cy="385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215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620688"/>
            <a:ext cx="7920880" cy="80490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719B10E-3693-46FD-BE07-C955AAC15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72" y="1425597"/>
            <a:ext cx="4420866" cy="3024336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6689" y="1436778"/>
            <a:ext cx="3855484" cy="1293964"/>
          </a:xfrm>
          <a:prstGeom prst="rect">
            <a:avLst/>
          </a:prstGeom>
        </p:spPr>
      </p:pic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3501538"/>
              </p:ext>
            </p:extLst>
          </p:nvPr>
        </p:nvGraphicFramePr>
        <p:xfrm>
          <a:off x="971600" y="4460395"/>
          <a:ext cx="3744416" cy="7944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rmula" r:id="rId5" imgW="2173320" imgH="463680" progId="Equation.Ribbit">
                  <p:embed/>
                </p:oleObj>
              </mc:Choice>
              <mc:Fallback>
                <p:oleObj name="Formula" r:id="rId5" imgW="2173320" imgH="463680" progId="Equation.Ribbit">
                  <p:embed/>
                  <p:pic>
                    <p:nvPicPr>
                      <p:cNvPr id="10" name="对象 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71600" y="4460395"/>
                        <a:ext cx="3744416" cy="79444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7"/>
          <a:srcRect t="1" b="45990"/>
          <a:stretch/>
        </p:blipFill>
        <p:spPr>
          <a:xfrm>
            <a:off x="833754" y="3039004"/>
            <a:ext cx="4151115" cy="280735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8C38D148-C6D1-421E-B652-168895F9FFB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54466"/>
          <a:stretch/>
        </p:blipFill>
        <p:spPr>
          <a:xfrm>
            <a:off x="5061881" y="3090743"/>
            <a:ext cx="3910405" cy="221878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76" y="3713763"/>
            <a:ext cx="6984776" cy="3144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657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12A9DEA-C3F6-4401-A5BF-3745117890AB}" type="slidenum">
              <a:rPr kumimoji="1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1" lang="en-US" altLang="zh-C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576" y="692696"/>
            <a:ext cx="8351019" cy="1735956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集成学习基本原理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：好而不同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Boosting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2800" b="1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Adaboost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GBDT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en-US" altLang="zh-CN" sz="2800" b="1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Xgboost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Bagging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与随机森林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Boosting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和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Bagging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区别： 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Boosting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关注降低偏差；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Bagging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主要关注降低方差</a:t>
            </a: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结合策略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平均法、投票法、学习法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多样性 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–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多样性增强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457200" lvl="1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数据样本扰动、输入属性扰动、输出表示扰动、算法参数扰动</a:t>
            </a:r>
          </a:p>
          <a:p>
            <a:pPr marL="457200" lvl="1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3386" y="548680"/>
            <a:ext cx="813435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8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章：集成学习</a:t>
            </a:r>
          </a:p>
        </p:txBody>
      </p:sp>
    </p:spTree>
    <p:extLst>
      <p:ext uri="{BB962C8B-B14F-4D97-AF65-F5344CB8AC3E}">
        <p14:creationId xmlns:p14="http://schemas.microsoft.com/office/powerpoint/2010/main" val="156159158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3501008"/>
            <a:ext cx="6287214" cy="2759711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467544" y="4437112"/>
            <a:ext cx="10081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Bagging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</a:t>
            </a:r>
            <a:endParaRPr lang="zh-CN" altLang="en-US" b="1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5656" y="620688"/>
            <a:ext cx="6071190" cy="2592288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258778" y="1948855"/>
            <a:ext cx="121687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Boosting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307462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>
            <a:extLst>
              <a:ext uri="{FF2B5EF4-FFF2-40B4-BE49-F238E27FC236}">
                <a16:creationId xmlns:a16="http://schemas.microsoft.com/office/drawing/2014/main" id="{CBBD9809-2CC4-42C3-B564-FAC6896E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12A9DEA-C3F6-4401-A5BF-3745117890AB}" type="slidenum">
              <a:rPr kumimoji="1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1" lang="en-US" altLang="zh-C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87811" name="Rectangle 3">
            <a:extLst>
              <a:ext uri="{FF2B5EF4-FFF2-40B4-BE49-F238E27FC236}">
                <a16:creationId xmlns:a16="http://schemas.microsoft.com/office/drawing/2014/main" id="{E67925BF-BD9D-4849-975B-B00461AA9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3600" y="980728"/>
            <a:ext cx="7416800" cy="1735956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聚类：无监督学习方法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性能度量和距离计算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原型聚类：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均值算法、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学习向量量化算法、高斯混合聚类算法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密度聚类：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DBSCAN</a:t>
            </a: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层次聚类：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AGNES</a:t>
            </a: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EB81EA09-BA58-4C02-A7E1-E64004DF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620713"/>
            <a:ext cx="813435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9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章：聚类</a:t>
            </a:r>
          </a:p>
        </p:txBody>
      </p:sp>
    </p:spTree>
    <p:extLst>
      <p:ext uri="{BB962C8B-B14F-4D97-AF65-F5344CB8AC3E}">
        <p14:creationId xmlns:p14="http://schemas.microsoft.com/office/powerpoint/2010/main" val="199351253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:\Users\lamda\Desktop\figures\kmeans_al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623" y="764704"/>
            <a:ext cx="7375365" cy="576064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34560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64E2C8-B25A-CA62-6AF3-8E1229BB4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943978"/>
            <a:ext cx="8229600" cy="288032"/>
          </a:xfrm>
        </p:spPr>
        <p:txBody>
          <a:bodyPr/>
          <a:lstStyle/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tabLst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10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章：降维与度量学习</a:t>
            </a:r>
            <a:b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5B9AD9-BAF5-AEF0-BD5B-7484DCFE1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1087994"/>
            <a:ext cx="8229600" cy="4525963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近邻学习：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密采样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低维嵌入：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维数灾难、降维的原因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多维缩放（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MDS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）：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主成分分析（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PCA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最近重构性和最大可分性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7FFA5907-AC84-83E3-BF0E-6EDD7569CE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0096" y="3501008"/>
            <a:ext cx="7092528" cy="3218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868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4551</TotalTime>
  <Words>1029</Words>
  <Application>Microsoft Office PowerPoint</Application>
  <PresentationFormat>全屏显示(4:3)</PresentationFormat>
  <Paragraphs>222</Paragraphs>
  <Slides>20</Slides>
  <Notes>5</Notes>
  <HiddenSlides>0</HiddenSlides>
  <MMClips>0</MMClips>
  <ScaleCrop>false</ScaleCrop>
  <HeadingPairs>
    <vt:vector size="8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4" baseType="lpstr">
      <vt:lpstr>黑体</vt:lpstr>
      <vt:lpstr>楷体</vt:lpstr>
      <vt:lpstr>楷体_GB2312</vt:lpstr>
      <vt:lpstr>宋体</vt:lpstr>
      <vt:lpstr>幼圆</vt:lpstr>
      <vt:lpstr>Arial</vt:lpstr>
      <vt:lpstr>Calibri</vt:lpstr>
      <vt:lpstr>Cambria Math</vt:lpstr>
      <vt:lpstr>Monotype Corsiva</vt:lpstr>
      <vt:lpstr>Times New Roman</vt:lpstr>
      <vt:lpstr>Verdana</vt:lpstr>
      <vt:lpstr>Wingdings</vt:lpstr>
      <vt:lpstr>Office 主题</vt:lpstr>
      <vt:lpstr>Formula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第10章：降维与度量学习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ZSHE</dc:creator>
  <cp:lastModifiedBy>3998620@qq.com</cp:lastModifiedBy>
  <cp:revision>256</cp:revision>
  <dcterms:created xsi:type="dcterms:W3CDTF">2016-05-18T01:14:48Z</dcterms:created>
  <dcterms:modified xsi:type="dcterms:W3CDTF">2026-06-02T14:02:29Z</dcterms:modified>
</cp:coreProperties>
</file>