
<file path=[Content_Types].xml><?xml version="1.0" encoding="utf-8"?>
<Types xmlns="http://schemas.openxmlformats.org/package/2006/content-types">
  <Default Extension="png" ContentType="image/png"/>
  <Default Extension="bin" ContentType="application/vnd.openxmlformats-officedocument.oleObject"/>
  <Default Extension="emf" ContentType="image/x-emf"/>
  <Default Extension="wmf" ContentType="image/x-wmf"/>
  <Default Extension="jpeg" ContentType="image/jpeg"/>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handoutMasterIdLst>
    <p:handoutMasterId r:id="rId54"/>
  </p:handoutMasterIdLst>
  <p:sldIdLst>
    <p:sldId id="257" r:id="rId2"/>
    <p:sldId id="319" r:id="rId3"/>
    <p:sldId id="258" r:id="rId4"/>
    <p:sldId id="346" r:id="rId5"/>
    <p:sldId id="374" r:id="rId6"/>
    <p:sldId id="375" r:id="rId7"/>
    <p:sldId id="376" r:id="rId8"/>
    <p:sldId id="320" r:id="rId9"/>
    <p:sldId id="321" r:id="rId10"/>
    <p:sldId id="322" r:id="rId11"/>
    <p:sldId id="348" r:id="rId12"/>
    <p:sldId id="347" r:id="rId13"/>
    <p:sldId id="349" r:id="rId14"/>
    <p:sldId id="324" r:id="rId15"/>
    <p:sldId id="325" r:id="rId16"/>
    <p:sldId id="326" r:id="rId17"/>
    <p:sldId id="327" r:id="rId18"/>
    <p:sldId id="355" r:id="rId19"/>
    <p:sldId id="350" r:id="rId20"/>
    <p:sldId id="377" r:id="rId21"/>
    <p:sldId id="329" r:id="rId22"/>
    <p:sldId id="384" r:id="rId23"/>
    <p:sldId id="358" r:id="rId24"/>
    <p:sldId id="385" r:id="rId25"/>
    <p:sldId id="356" r:id="rId26"/>
    <p:sldId id="351" r:id="rId27"/>
    <p:sldId id="331" r:id="rId28"/>
    <p:sldId id="332" r:id="rId29"/>
    <p:sldId id="333" r:id="rId30"/>
    <p:sldId id="334" r:id="rId31"/>
    <p:sldId id="335" r:id="rId32"/>
    <p:sldId id="379" r:id="rId33"/>
    <p:sldId id="367" r:id="rId34"/>
    <p:sldId id="352" r:id="rId35"/>
    <p:sldId id="337" r:id="rId36"/>
    <p:sldId id="338" r:id="rId37"/>
    <p:sldId id="339" r:id="rId38"/>
    <p:sldId id="368" r:id="rId39"/>
    <p:sldId id="353" r:id="rId40"/>
    <p:sldId id="341" r:id="rId41"/>
    <p:sldId id="342" r:id="rId42"/>
    <p:sldId id="373" r:id="rId43"/>
    <p:sldId id="354" r:id="rId44"/>
    <p:sldId id="359" r:id="rId45"/>
    <p:sldId id="360" r:id="rId46"/>
    <p:sldId id="361" r:id="rId47"/>
    <p:sldId id="362" r:id="rId48"/>
    <p:sldId id="363" r:id="rId49"/>
    <p:sldId id="364" r:id="rId50"/>
    <p:sldId id="365" r:id="rId51"/>
    <p:sldId id="316" r:id="rId52"/>
  </p:sldIdLst>
  <p:sldSz cx="9144000" cy="6858000" type="screen4x3"/>
  <p:notesSz cx="9144000" cy="6858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160">
          <p15:clr>
            <a:srgbClr val="A4A3A4"/>
          </p15:clr>
        </p15:guide>
        <p15:guide id="2" pos="288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yx" initials="y" lastIdx="0" clrIdx="0">
    <p:extLst>
      <p:ext uri="{19B8F6BF-5375-455C-9EA6-DF929625EA0E}">
        <p15:presenceInfo xmlns:p15="http://schemas.microsoft.com/office/powerpoint/2012/main" userId="yx"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FF"/>
    <a:srgbClr val="0000FF"/>
    <a:srgbClr val="0D0D8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aximized">
    <p:restoredLeft sz="15620"/>
    <p:restoredTop sz="94614" autoAdjust="0"/>
  </p:normalViewPr>
  <p:slideViewPr>
    <p:cSldViewPr>
      <p:cViewPr varScale="1">
        <p:scale>
          <a:sx n="80" d="100"/>
          <a:sy n="80" d="100"/>
        </p:scale>
        <p:origin x="960" y="96"/>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0"/>
    </p:cViewPr>
  </p:sorterViewPr>
  <p:notesViewPr>
    <p:cSldViewPr>
      <p:cViewPr varScale="1">
        <p:scale>
          <a:sx n="68" d="100"/>
          <a:sy n="68" d="100"/>
        </p:scale>
        <p:origin x="-1810" y="-62"/>
      </p:cViewPr>
      <p:guideLst>
        <p:guide orient="horz" pos="2160"/>
        <p:guide pos="288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34.wmf"/><Relationship Id="rId2" Type="http://schemas.openxmlformats.org/officeDocument/2006/relationships/image" Target="../media/image33.wmf"/><Relationship Id="rId1" Type="http://schemas.openxmlformats.org/officeDocument/2006/relationships/image" Target="../media/image32.wmf"/><Relationship Id="rId5" Type="http://schemas.openxmlformats.org/officeDocument/2006/relationships/image" Target="../media/image36.wmf"/><Relationship Id="rId4" Type="http://schemas.openxmlformats.org/officeDocument/2006/relationships/image" Target="../media/image35.w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38.w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41.w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4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5179484" y="0"/>
            <a:ext cx="3962400" cy="342900"/>
          </a:xfrm>
          <a:prstGeom prst="rect">
            <a:avLst/>
          </a:prstGeom>
        </p:spPr>
        <p:txBody>
          <a:bodyPr vert="horz" lIns="91440" tIns="45720" rIns="91440" bIns="45720" rtlCol="0"/>
          <a:lstStyle>
            <a:lvl1pPr algn="r">
              <a:defRPr sz="1200"/>
            </a:lvl1pPr>
          </a:lstStyle>
          <a:p>
            <a:fld id="{626E299B-63A7-4D5D-8B1C-0F591CF6F3B0}" type="datetimeFigureOut">
              <a:rPr lang="zh-CN" altLang="en-US" smtClean="0"/>
              <a:t>2025/2/20</a:t>
            </a:fld>
            <a:endParaRPr lang="zh-CN" altLang="en-US"/>
          </a:p>
        </p:txBody>
      </p:sp>
      <p:sp>
        <p:nvSpPr>
          <p:cNvPr id="4" name="页脚占位符 3"/>
          <p:cNvSpPr>
            <a:spLocks noGrp="1"/>
          </p:cNvSpPr>
          <p:nvPr>
            <p:ph type="ftr" sz="quarter" idx="2"/>
          </p:nvPr>
        </p:nvSpPr>
        <p:spPr>
          <a:xfrm>
            <a:off x="0" y="6513910"/>
            <a:ext cx="3962400" cy="342900"/>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5179484" y="6513910"/>
            <a:ext cx="3962400" cy="342900"/>
          </a:xfrm>
          <a:prstGeom prst="rect">
            <a:avLst/>
          </a:prstGeom>
        </p:spPr>
        <p:txBody>
          <a:bodyPr vert="horz" lIns="91440" tIns="45720" rIns="91440" bIns="45720" rtlCol="0" anchor="b"/>
          <a:lstStyle>
            <a:lvl1pPr algn="r">
              <a:defRPr sz="1200"/>
            </a:lvl1pPr>
          </a:lstStyle>
          <a:p>
            <a:fld id="{52017061-97E9-43D1-90DF-17EAAD8DCF3F}" type="slidenum">
              <a:rPr lang="zh-CN" altLang="en-US" smtClean="0"/>
              <a:t>‹#›</a:t>
            </a:fld>
            <a:endParaRPr lang="zh-CN" altLang="en-US"/>
          </a:p>
        </p:txBody>
      </p:sp>
    </p:spTree>
    <p:extLst>
      <p:ext uri="{BB962C8B-B14F-4D97-AF65-F5344CB8AC3E}">
        <p14:creationId xmlns:p14="http://schemas.microsoft.com/office/powerpoint/2010/main" val="144369142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2D078651-23C7-450B-A21A-2D0BBC9DF73C}" type="datetimeFigureOut">
              <a:rPr lang="zh-CN" altLang="en-US" smtClean="0"/>
              <a:t>2025/2/20</a:t>
            </a:fld>
            <a:endParaRPr lang="zh-CN" altLang="en-US"/>
          </a:p>
        </p:txBody>
      </p:sp>
      <p:sp>
        <p:nvSpPr>
          <p:cNvPr id="4" name="幻灯片图像占位符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8A01C4B7-2712-4B4B-872C-DFA7D5FBE8ED}" type="slidenum">
              <a:rPr lang="zh-CN" altLang="en-US" smtClean="0"/>
              <a:t>‹#›</a:t>
            </a:fld>
            <a:endParaRPr lang="zh-CN" altLang="en-US"/>
          </a:p>
        </p:txBody>
      </p:sp>
    </p:spTree>
    <p:extLst>
      <p:ext uri="{BB962C8B-B14F-4D97-AF65-F5344CB8AC3E}">
        <p14:creationId xmlns:p14="http://schemas.microsoft.com/office/powerpoint/2010/main" val="2060865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ChangeArrowheads="1"/>
          </p:cNvSpPr>
          <p:nvPr>
            <p:ph type="hdr" sz="quarter" idx="4294967295"/>
          </p:nvPr>
        </p:nvSpPr>
        <p:spPr bwMode="auto">
          <a:xfrm>
            <a:off x="0" y="0"/>
            <a:ext cx="3970852" cy="3191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73138">
              <a:defRPr>
                <a:solidFill>
                  <a:schemeClr val="tx1"/>
                </a:solidFill>
                <a:latin typeface="Arial" charset="0"/>
                <a:ea typeface="宋体" charset="-122"/>
              </a:defRPr>
            </a:lvl1pPr>
            <a:lvl2pPr marL="742950" indent="-285750" defTabSz="973138">
              <a:defRPr>
                <a:solidFill>
                  <a:schemeClr val="tx1"/>
                </a:solidFill>
                <a:latin typeface="Arial" charset="0"/>
                <a:ea typeface="宋体" charset="-122"/>
              </a:defRPr>
            </a:lvl2pPr>
            <a:lvl3pPr marL="1143000" indent="-228600" defTabSz="973138">
              <a:defRPr>
                <a:solidFill>
                  <a:schemeClr val="tx1"/>
                </a:solidFill>
                <a:latin typeface="Arial" charset="0"/>
                <a:ea typeface="宋体" charset="-122"/>
              </a:defRPr>
            </a:lvl3pPr>
            <a:lvl4pPr marL="1600200" indent="-228600" defTabSz="973138">
              <a:defRPr>
                <a:solidFill>
                  <a:schemeClr val="tx1"/>
                </a:solidFill>
                <a:latin typeface="Arial" charset="0"/>
                <a:ea typeface="宋体" charset="-122"/>
              </a:defRPr>
            </a:lvl4pPr>
            <a:lvl5pPr marL="2057400" indent="-228600" defTabSz="973138">
              <a:defRPr>
                <a:solidFill>
                  <a:schemeClr val="tx1"/>
                </a:solidFill>
                <a:latin typeface="Arial" charset="0"/>
                <a:ea typeface="宋体" charset="-122"/>
              </a:defRPr>
            </a:lvl5pPr>
            <a:lvl6pPr marL="2514600" indent="-228600" defTabSz="973138" eaLnBrk="0" fontAlgn="base" hangingPunct="0">
              <a:spcBef>
                <a:spcPct val="0"/>
              </a:spcBef>
              <a:spcAft>
                <a:spcPct val="0"/>
              </a:spcAft>
              <a:defRPr>
                <a:solidFill>
                  <a:schemeClr val="tx1"/>
                </a:solidFill>
                <a:latin typeface="Arial" charset="0"/>
                <a:ea typeface="宋体" charset="-122"/>
              </a:defRPr>
            </a:lvl6pPr>
            <a:lvl7pPr marL="2971800" indent="-228600" defTabSz="973138" eaLnBrk="0" fontAlgn="base" hangingPunct="0">
              <a:spcBef>
                <a:spcPct val="0"/>
              </a:spcBef>
              <a:spcAft>
                <a:spcPct val="0"/>
              </a:spcAft>
              <a:defRPr>
                <a:solidFill>
                  <a:schemeClr val="tx1"/>
                </a:solidFill>
                <a:latin typeface="Arial" charset="0"/>
                <a:ea typeface="宋体" charset="-122"/>
              </a:defRPr>
            </a:lvl7pPr>
            <a:lvl8pPr marL="3429000" indent="-228600" defTabSz="973138" eaLnBrk="0" fontAlgn="base" hangingPunct="0">
              <a:spcBef>
                <a:spcPct val="0"/>
              </a:spcBef>
              <a:spcAft>
                <a:spcPct val="0"/>
              </a:spcAft>
              <a:defRPr>
                <a:solidFill>
                  <a:schemeClr val="tx1"/>
                </a:solidFill>
                <a:latin typeface="Arial" charset="0"/>
                <a:ea typeface="宋体" charset="-122"/>
              </a:defRPr>
            </a:lvl8pPr>
            <a:lvl9pPr marL="3886200" indent="-228600" defTabSz="973138" eaLnBrk="0" fontAlgn="base" hangingPunct="0">
              <a:spcBef>
                <a:spcPct val="0"/>
              </a:spcBef>
              <a:spcAft>
                <a:spcPct val="0"/>
              </a:spcAft>
              <a:defRPr>
                <a:solidFill>
                  <a:schemeClr val="tx1"/>
                </a:solidFill>
                <a:latin typeface="Arial" charset="0"/>
                <a:ea typeface="宋体" charset="-122"/>
              </a:defRPr>
            </a:lvl9pPr>
          </a:lstStyle>
          <a:p>
            <a:r>
              <a:rPr lang="en-US" altLang="zh-CN">
                <a:latin typeface="Times New Roman" pitchFamily="18" charset="0"/>
              </a:rPr>
              <a:t>高等代数</a:t>
            </a:r>
          </a:p>
        </p:txBody>
      </p:sp>
      <p:sp>
        <p:nvSpPr>
          <p:cNvPr id="65539" name="Rectangle 3"/>
          <p:cNvSpPr>
            <a:spLocks noGrp="1" noChangeArrowheads="1"/>
          </p:cNvSpPr>
          <p:nvPr>
            <p:ph type="dt" sz="quarter" idx="4294967295"/>
          </p:nvPr>
        </p:nvSpPr>
        <p:spPr bwMode="auto">
          <a:xfrm>
            <a:off x="5224268" y="0"/>
            <a:ext cx="3968806" cy="3191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73138">
              <a:defRPr>
                <a:solidFill>
                  <a:schemeClr val="tx1"/>
                </a:solidFill>
                <a:latin typeface="Arial" charset="0"/>
                <a:ea typeface="宋体" charset="-122"/>
              </a:defRPr>
            </a:lvl1pPr>
            <a:lvl2pPr marL="742950" indent="-285750" defTabSz="973138">
              <a:defRPr>
                <a:solidFill>
                  <a:schemeClr val="tx1"/>
                </a:solidFill>
                <a:latin typeface="Arial" charset="0"/>
                <a:ea typeface="宋体" charset="-122"/>
              </a:defRPr>
            </a:lvl2pPr>
            <a:lvl3pPr marL="1143000" indent="-228600" defTabSz="973138">
              <a:defRPr>
                <a:solidFill>
                  <a:schemeClr val="tx1"/>
                </a:solidFill>
                <a:latin typeface="Arial" charset="0"/>
                <a:ea typeface="宋体" charset="-122"/>
              </a:defRPr>
            </a:lvl3pPr>
            <a:lvl4pPr marL="1600200" indent="-228600" defTabSz="973138">
              <a:defRPr>
                <a:solidFill>
                  <a:schemeClr val="tx1"/>
                </a:solidFill>
                <a:latin typeface="Arial" charset="0"/>
                <a:ea typeface="宋体" charset="-122"/>
              </a:defRPr>
            </a:lvl4pPr>
            <a:lvl5pPr marL="2057400" indent="-228600" defTabSz="973138">
              <a:defRPr>
                <a:solidFill>
                  <a:schemeClr val="tx1"/>
                </a:solidFill>
                <a:latin typeface="Arial" charset="0"/>
                <a:ea typeface="宋体" charset="-122"/>
              </a:defRPr>
            </a:lvl5pPr>
            <a:lvl6pPr marL="2514600" indent="-228600" defTabSz="973138" eaLnBrk="0" fontAlgn="base" hangingPunct="0">
              <a:spcBef>
                <a:spcPct val="0"/>
              </a:spcBef>
              <a:spcAft>
                <a:spcPct val="0"/>
              </a:spcAft>
              <a:defRPr>
                <a:solidFill>
                  <a:schemeClr val="tx1"/>
                </a:solidFill>
                <a:latin typeface="Arial" charset="0"/>
                <a:ea typeface="宋体" charset="-122"/>
              </a:defRPr>
            </a:lvl6pPr>
            <a:lvl7pPr marL="2971800" indent="-228600" defTabSz="973138" eaLnBrk="0" fontAlgn="base" hangingPunct="0">
              <a:spcBef>
                <a:spcPct val="0"/>
              </a:spcBef>
              <a:spcAft>
                <a:spcPct val="0"/>
              </a:spcAft>
              <a:defRPr>
                <a:solidFill>
                  <a:schemeClr val="tx1"/>
                </a:solidFill>
                <a:latin typeface="Arial" charset="0"/>
                <a:ea typeface="宋体" charset="-122"/>
              </a:defRPr>
            </a:lvl7pPr>
            <a:lvl8pPr marL="3429000" indent="-228600" defTabSz="973138" eaLnBrk="0" fontAlgn="base" hangingPunct="0">
              <a:spcBef>
                <a:spcPct val="0"/>
              </a:spcBef>
              <a:spcAft>
                <a:spcPct val="0"/>
              </a:spcAft>
              <a:defRPr>
                <a:solidFill>
                  <a:schemeClr val="tx1"/>
                </a:solidFill>
                <a:latin typeface="Arial" charset="0"/>
                <a:ea typeface="宋体" charset="-122"/>
              </a:defRPr>
            </a:lvl8pPr>
            <a:lvl9pPr marL="3886200" indent="-228600" defTabSz="973138" eaLnBrk="0" fontAlgn="base" hangingPunct="0">
              <a:spcBef>
                <a:spcPct val="0"/>
              </a:spcBef>
              <a:spcAft>
                <a:spcPct val="0"/>
              </a:spcAft>
              <a:defRPr>
                <a:solidFill>
                  <a:schemeClr val="tx1"/>
                </a:solidFill>
                <a:latin typeface="Arial" charset="0"/>
                <a:ea typeface="宋体" charset="-122"/>
              </a:defRPr>
            </a:lvl9pPr>
          </a:lstStyle>
          <a:p>
            <a:fld id="{BDB1B57B-F05E-4A1C-B6E7-FF5E2CF9A28F}" type="datetime1">
              <a:rPr lang="zh-CN" altLang="en-US">
                <a:latin typeface="Times New Roman" pitchFamily="18" charset="0"/>
              </a:rPr>
              <a:pPr/>
              <a:t>2025/2/20</a:t>
            </a:fld>
            <a:endParaRPr lang="en-US" altLang="zh-CN">
              <a:latin typeface="Times New Roman" pitchFamily="18" charset="0"/>
            </a:endParaRPr>
          </a:p>
        </p:txBody>
      </p:sp>
      <p:sp>
        <p:nvSpPr>
          <p:cNvPr id="65540" name="Rectangle 7"/>
          <p:cNvSpPr>
            <a:spLocks noGrp="1" noChangeArrowheads="1"/>
          </p:cNvSpPr>
          <p:nvPr>
            <p:ph type="sldNum" sz="quarter" idx="4294967295"/>
          </p:nvPr>
        </p:nvSpPr>
        <p:spPr bwMode="auto">
          <a:xfrm>
            <a:off x="5224268" y="6492070"/>
            <a:ext cx="3968806" cy="37337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73138">
              <a:defRPr>
                <a:solidFill>
                  <a:schemeClr val="tx1"/>
                </a:solidFill>
                <a:latin typeface="Arial" charset="0"/>
                <a:ea typeface="宋体" charset="-122"/>
              </a:defRPr>
            </a:lvl1pPr>
            <a:lvl2pPr marL="742950" indent="-285750" defTabSz="973138">
              <a:defRPr>
                <a:solidFill>
                  <a:schemeClr val="tx1"/>
                </a:solidFill>
                <a:latin typeface="Arial" charset="0"/>
                <a:ea typeface="宋体" charset="-122"/>
              </a:defRPr>
            </a:lvl2pPr>
            <a:lvl3pPr marL="1143000" indent="-228600" defTabSz="973138">
              <a:defRPr>
                <a:solidFill>
                  <a:schemeClr val="tx1"/>
                </a:solidFill>
                <a:latin typeface="Arial" charset="0"/>
                <a:ea typeface="宋体" charset="-122"/>
              </a:defRPr>
            </a:lvl3pPr>
            <a:lvl4pPr marL="1600200" indent="-228600" defTabSz="973138">
              <a:defRPr>
                <a:solidFill>
                  <a:schemeClr val="tx1"/>
                </a:solidFill>
                <a:latin typeface="Arial" charset="0"/>
                <a:ea typeface="宋体" charset="-122"/>
              </a:defRPr>
            </a:lvl4pPr>
            <a:lvl5pPr marL="2057400" indent="-228600" defTabSz="973138">
              <a:defRPr>
                <a:solidFill>
                  <a:schemeClr val="tx1"/>
                </a:solidFill>
                <a:latin typeface="Arial" charset="0"/>
                <a:ea typeface="宋体" charset="-122"/>
              </a:defRPr>
            </a:lvl5pPr>
            <a:lvl6pPr marL="2514600" indent="-228600" defTabSz="973138" eaLnBrk="0" fontAlgn="base" hangingPunct="0">
              <a:spcBef>
                <a:spcPct val="0"/>
              </a:spcBef>
              <a:spcAft>
                <a:spcPct val="0"/>
              </a:spcAft>
              <a:defRPr>
                <a:solidFill>
                  <a:schemeClr val="tx1"/>
                </a:solidFill>
                <a:latin typeface="Arial" charset="0"/>
                <a:ea typeface="宋体" charset="-122"/>
              </a:defRPr>
            </a:lvl6pPr>
            <a:lvl7pPr marL="2971800" indent="-228600" defTabSz="973138" eaLnBrk="0" fontAlgn="base" hangingPunct="0">
              <a:spcBef>
                <a:spcPct val="0"/>
              </a:spcBef>
              <a:spcAft>
                <a:spcPct val="0"/>
              </a:spcAft>
              <a:defRPr>
                <a:solidFill>
                  <a:schemeClr val="tx1"/>
                </a:solidFill>
                <a:latin typeface="Arial" charset="0"/>
                <a:ea typeface="宋体" charset="-122"/>
              </a:defRPr>
            </a:lvl7pPr>
            <a:lvl8pPr marL="3429000" indent="-228600" defTabSz="973138" eaLnBrk="0" fontAlgn="base" hangingPunct="0">
              <a:spcBef>
                <a:spcPct val="0"/>
              </a:spcBef>
              <a:spcAft>
                <a:spcPct val="0"/>
              </a:spcAft>
              <a:defRPr>
                <a:solidFill>
                  <a:schemeClr val="tx1"/>
                </a:solidFill>
                <a:latin typeface="Arial" charset="0"/>
                <a:ea typeface="宋体" charset="-122"/>
              </a:defRPr>
            </a:lvl8pPr>
            <a:lvl9pPr marL="3886200" indent="-228600" defTabSz="973138" eaLnBrk="0" fontAlgn="base" hangingPunct="0">
              <a:spcBef>
                <a:spcPct val="0"/>
              </a:spcBef>
              <a:spcAft>
                <a:spcPct val="0"/>
              </a:spcAft>
              <a:defRPr>
                <a:solidFill>
                  <a:schemeClr val="tx1"/>
                </a:solidFill>
                <a:latin typeface="Arial" charset="0"/>
                <a:ea typeface="宋体" charset="-122"/>
              </a:defRPr>
            </a:lvl9pPr>
          </a:lstStyle>
          <a:p>
            <a:fld id="{47C93D8E-CE9A-442A-B2E7-0DC8182FE48B}" type="slidenum">
              <a:rPr lang="en-US" altLang="zh-CN">
                <a:latin typeface="Times New Roman" pitchFamily="18" charset="0"/>
              </a:rPr>
              <a:pPr/>
              <a:t>1</a:t>
            </a:fld>
            <a:endParaRPr lang="en-US" altLang="zh-CN">
              <a:latin typeface="Times New Roman" pitchFamily="18" charset="0"/>
            </a:endParaRPr>
          </a:p>
        </p:txBody>
      </p:sp>
      <p:sp>
        <p:nvSpPr>
          <p:cNvPr id="65541" name="Rectangle 2"/>
          <p:cNvSpPr>
            <a:spLocks noGrp="1" noRot="1" noChangeAspect="1" noChangeArrowheads="1" noTextEdit="1"/>
          </p:cNvSpPr>
          <p:nvPr>
            <p:ph type="sldImg"/>
          </p:nvPr>
        </p:nvSpPr>
        <p:spPr bwMode="auto">
          <a:xfrm>
            <a:off x="2897188" y="533400"/>
            <a:ext cx="3403600" cy="2552700"/>
          </a:xfrm>
          <a:solidFill>
            <a:srgbClr val="FFFFFF"/>
          </a:solidFill>
          <a:ln>
            <a:solidFill>
              <a:srgbClr val="000000"/>
            </a:solidFill>
            <a:miter lim="800000"/>
            <a:headEnd/>
            <a:tailEnd/>
          </a:ln>
        </p:spPr>
      </p:sp>
      <p:sp>
        <p:nvSpPr>
          <p:cNvPr id="65542" name="Rectangle 3"/>
          <p:cNvSpPr>
            <a:spLocks noGrp="1" noChangeArrowheads="1"/>
          </p:cNvSpPr>
          <p:nvPr>
            <p:ph type="body" idx="1"/>
          </p:nvPr>
        </p:nvSpPr>
        <p:spPr bwMode="auto">
          <a:xfrm>
            <a:off x="1253416" y="3246566"/>
            <a:ext cx="6686243" cy="3085941"/>
          </a:xfrm>
          <a:prstGeom prst="rect">
            <a:avLst/>
          </a:prstGeom>
          <a:solidFill>
            <a:srgbClr val="FFFFFF"/>
          </a:solidFill>
          <a:ln>
            <a:solidFill>
              <a:srgbClr val="000000"/>
            </a:solidFill>
            <a:miter lim="800000"/>
            <a:headEnd/>
            <a:tailEnd/>
          </a:ln>
        </p:spPr>
        <p:txBody>
          <a:bodyPr/>
          <a:lstStyle/>
          <a:p>
            <a:pPr eaLnBrk="1" hangingPunct="1"/>
            <a:r>
              <a:rPr lang="zh-CN" altLang="en-US">
                <a:ea typeface="宋体" charset="-122"/>
              </a:rPr>
              <a:t>重庆大学</a:t>
            </a:r>
          </a:p>
        </p:txBody>
      </p:sp>
    </p:spTree>
    <p:extLst>
      <p:ext uri="{BB962C8B-B14F-4D97-AF65-F5344CB8AC3E}">
        <p14:creationId xmlns:p14="http://schemas.microsoft.com/office/powerpoint/2010/main" val="35093844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8A01C4B7-2712-4B4B-872C-DFA7D5FBE8ED}" type="slidenum">
              <a:rPr lang="zh-CN" altLang="en-US" smtClean="0"/>
              <a:t>2</a:t>
            </a:fld>
            <a:endParaRPr lang="zh-CN" altLang="en-US"/>
          </a:p>
        </p:txBody>
      </p:sp>
    </p:spTree>
    <p:extLst>
      <p:ext uri="{BB962C8B-B14F-4D97-AF65-F5344CB8AC3E}">
        <p14:creationId xmlns:p14="http://schemas.microsoft.com/office/powerpoint/2010/main" val="34463468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3"/>
          <p:cNvSpPr>
            <a:spLocks noGrp="1" noChangeArrowheads="1"/>
          </p:cNvSpPr>
          <p:nvPr>
            <p:ph type="dt" sz="quarter" idx="4294967295"/>
          </p:nvPr>
        </p:nvSpPr>
        <p:spPr bwMode="auto">
          <a:xfrm>
            <a:off x="5224268" y="0"/>
            <a:ext cx="3968806" cy="3191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73138">
              <a:defRPr>
                <a:solidFill>
                  <a:schemeClr val="tx1"/>
                </a:solidFill>
                <a:latin typeface="Arial" charset="0"/>
                <a:ea typeface="宋体" charset="-122"/>
              </a:defRPr>
            </a:lvl1pPr>
            <a:lvl2pPr marL="742950" indent="-285750" defTabSz="973138">
              <a:defRPr>
                <a:solidFill>
                  <a:schemeClr val="tx1"/>
                </a:solidFill>
                <a:latin typeface="Arial" charset="0"/>
                <a:ea typeface="宋体" charset="-122"/>
              </a:defRPr>
            </a:lvl2pPr>
            <a:lvl3pPr marL="1143000" indent="-228600" defTabSz="973138">
              <a:defRPr>
                <a:solidFill>
                  <a:schemeClr val="tx1"/>
                </a:solidFill>
                <a:latin typeface="Arial" charset="0"/>
                <a:ea typeface="宋体" charset="-122"/>
              </a:defRPr>
            </a:lvl3pPr>
            <a:lvl4pPr marL="1600200" indent="-228600" defTabSz="973138">
              <a:defRPr>
                <a:solidFill>
                  <a:schemeClr val="tx1"/>
                </a:solidFill>
                <a:latin typeface="Arial" charset="0"/>
                <a:ea typeface="宋体" charset="-122"/>
              </a:defRPr>
            </a:lvl4pPr>
            <a:lvl5pPr marL="2057400" indent="-228600" defTabSz="973138">
              <a:defRPr>
                <a:solidFill>
                  <a:schemeClr val="tx1"/>
                </a:solidFill>
                <a:latin typeface="Arial" charset="0"/>
                <a:ea typeface="宋体" charset="-122"/>
              </a:defRPr>
            </a:lvl5pPr>
            <a:lvl6pPr marL="2514600" indent="-228600" defTabSz="973138" eaLnBrk="0" fontAlgn="base" hangingPunct="0">
              <a:spcBef>
                <a:spcPct val="0"/>
              </a:spcBef>
              <a:spcAft>
                <a:spcPct val="0"/>
              </a:spcAft>
              <a:defRPr>
                <a:solidFill>
                  <a:schemeClr val="tx1"/>
                </a:solidFill>
                <a:latin typeface="Arial" charset="0"/>
                <a:ea typeface="宋体" charset="-122"/>
              </a:defRPr>
            </a:lvl6pPr>
            <a:lvl7pPr marL="2971800" indent="-228600" defTabSz="973138" eaLnBrk="0" fontAlgn="base" hangingPunct="0">
              <a:spcBef>
                <a:spcPct val="0"/>
              </a:spcBef>
              <a:spcAft>
                <a:spcPct val="0"/>
              </a:spcAft>
              <a:defRPr>
                <a:solidFill>
                  <a:schemeClr val="tx1"/>
                </a:solidFill>
                <a:latin typeface="Arial" charset="0"/>
                <a:ea typeface="宋体" charset="-122"/>
              </a:defRPr>
            </a:lvl7pPr>
            <a:lvl8pPr marL="3429000" indent="-228600" defTabSz="973138" eaLnBrk="0" fontAlgn="base" hangingPunct="0">
              <a:spcBef>
                <a:spcPct val="0"/>
              </a:spcBef>
              <a:spcAft>
                <a:spcPct val="0"/>
              </a:spcAft>
              <a:defRPr>
                <a:solidFill>
                  <a:schemeClr val="tx1"/>
                </a:solidFill>
                <a:latin typeface="Arial" charset="0"/>
                <a:ea typeface="宋体" charset="-122"/>
              </a:defRPr>
            </a:lvl8pPr>
            <a:lvl9pPr marL="3886200" indent="-228600" defTabSz="973138" eaLnBrk="0" fontAlgn="base" hangingPunct="0">
              <a:spcBef>
                <a:spcPct val="0"/>
              </a:spcBef>
              <a:spcAft>
                <a:spcPct val="0"/>
              </a:spcAft>
              <a:defRPr>
                <a:solidFill>
                  <a:schemeClr val="tx1"/>
                </a:solidFill>
                <a:latin typeface="Arial" charset="0"/>
                <a:ea typeface="宋体" charset="-122"/>
              </a:defRPr>
            </a:lvl9pPr>
          </a:lstStyle>
          <a:p>
            <a:fld id="{78A255C3-7DCA-4E4A-96DA-DB2FB0703FD1}" type="datetime1">
              <a:rPr lang="zh-CN" altLang="en-US">
                <a:latin typeface="Times New Roman" pitchFamily="18" charset="0"/>
              </a:rPr>
              <a:pPr/>
              <a:t>2025/2/20</a:t>
            </a:fld>
            <a:endParaRPr lang="en-US" altLang="zh-CN">
              <a:latin typeface="Times New Roman" pitchFamily="18" charset="0"/>
            </a:endParaRPr>
          </a:p>
        </p:txBody>
      </p:sp>
      <p:sp>
        <p:nvSpPr>
          <p:cNvPr id="66563" name="Rectangle 7"/>
          <p:cNvSpPr>
            <a:spLocks noGrp="1" noChangeArrowheads="1"/>
          </p:cNvSpPr>
          <p:nvPr>
            <p:ph type="sldNum" sz="quarter" idx="4294967295"/>
          </p:nvPr>
        </p:nvSpPr>
        <p:spPr bwMode="auto">
          <a:xfrm>
            <a:off x="5224268" y="6492070"/>
            <a:ext cx="3968806" cy="37337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73138">
              <a:defRPr>
                <a:solidFill>
                  <a:schemeClr val="tx1"/>
                </a:solidFill>
                <a:latin typeface="Arial" charset="0"/>
                <a:ea typeface="宋体" charset="-122"/>
              </a:defRPr>
            </a:lvl1pPr>
            <a:lvl2pPr marL="742950" indent="-285750" defTabSz="973138">
              <a:defRPr>
                <a:solidFill>
                  <a:schemeClr val="tx1"/>
                </a:solidFill>
                <a:latin typeface="Arial" charset="0"/>
                <a:ea typeface="宋体" charset="-122"/>
              </a:defRPr>
            </a:lvl2pPr>
            <a:lvl3pPr marL="1143000" indent="-228600" defTabSz="973138">
              <a:defRPr>
                <a:solidFill>
                  <a:schemeClr val="tx1"/>
                </a:solidFill>
                <a:latin typeface="Arial" charset="0"/>
                <a:ea typeface="宋体" charset="-122"/>
              </a:defRPr>
            </a:lvl3pPr>
            <a:lvl4pPr marL="1600200" indent="-228600" defTabSz="973138">
              <a:defRPr>
                <a:solidFill>
                  <a:schemeClr val="tx1"/>
                </a:solidFill>
                <a:latin typeface="Arial" charset="0"/>
                <a:ea typeface="宋体" charset="-122"/>
              </a:defRPr>
            </a:lvl4pPr>
            <a:lvl5pPr marL="2057400" indent="-228600" defTabSz="973138">
              <a:defRPr>
                <a:solidFill>
                  <a:schemeClr val="tx1"/>
                </a:solidFill>
                <a:latin typeface="Arial" charset="0"/>
                <a:ea typeface="宋体" charset="-122"/>
              </a:defRPr>
            </a:lvl5pPr>
            <a:lvl6pPr marL="2514600" indent="-228600" defTabSz="973138" eaLnBrk="0" fontAlgn="base" hangingPunct="0">
              <a:spcBef>
                <a:spcPct val="0"/>
              </a:spcBef>
              <a:spcAft>
                <a:spcPct val="0"/>
              </a:spcAft>
              <a:defRPr>
                <a:solidFill>
                  <a:schemeClr val="tx1"/>
                </a:solidFill>
                <a:latin typeface="Arial" charset="0"/>
                <a:ea typeface="宋体" charset="-122"/>
              </a:defRPr>
            </a:lvl6pPr>
            <a:lvl7pPr marL="2971800" indent="-228600" defTabSz="973138" eaLnBrk="0" fontAlgn="base" hangingPunct="0">
              <a:spcBef>
                <a:spcPct val="0"/>
              </a:spcBef>
              <a:spcAft>
                <a:spcPct val="0"/>
              </a:spcAft>
              <a:defRPr>
                <a:solidFill>
                  <a:schemeClr val="tx1"/>
                </a:solidFill>
                <a:latin typeface="Arial" charset="0"/>
                <a:ea typeface="宋体" charset="-122"/>
              </a:defRPr>
            </a:lvl7pPr>
            <a:lvl8pPr marL="3429000" indent="-228600" defTabSz="973138" eaLnBrk="0" fontAlgn="base" hangingPunct="0">
              <a:spcBef>
                <a:spcPct val="0"/>
              </a:spcBef>
              <a:spcAft>
                <a:spcPct val="0"/>
              </a:spcAft>
              <a:defRPr>
                <a:solidFill>
                  <a:schemeClr val="tx1"/>
                </a:solidFill>
                <a:latin typeface="Arial" charset="0"/>
                <a:ea typeface="宋体" charset="-122"/>
              </a:defRPr>
            </a:lvl8pPr>
            <a:lvl9pPr marL="3886200" indent="-228600" defTabSz="973138" eaLnBrk="0" fontAlgn="base" hangingPunct="0">
              <a:spcBef>
                <a:spcPct val="0"/>
              </a:spcBef>
              <a:spcAft>
                <a:spcPct val="0"/>
              </a:spcAft>
              <a:defRPr>
                <a:solidFill>
                  <a:schemeClr val="tx1"/>
                </a:solidFill>
                <a:latin typeface="Arial" charset="0"/>
                <a:ea typeface="宋体" charset="-122"/>
              </a:defRPr>
            </a:lvl9pPr>
          </a:lstStyle>
          <a:p>
            <a:fld id="{C04D5238-98A0-422D-8EBF-FC2E0F3DDDCC}" type="slidenum">
              <a:rPr lang="en-US" altLang="zh-CN">
                <a:latin typeface="Times New Roman" pitchFamily="18" charset="0"/>
              </a:rPr>
              <a:pPr/>
              <a:t>3</a:t>
            </a:fld>
            <a:endParaRPr lang="en-US" altLang="zh-CN">
              <a:latin typeface="Times New Roman" pitchFamily="18" charset="0"/>
            </a:endParaRPr>
          </a:p>
        </p:txBody>
      </p:sp>
      <p:sp>
        <p:nvSpPr>
          <p:cNvPr id="66564" name="Rectangle 2"/>
          <p:cNvSpPr>
            <a:spLocks noGrp="1" noRot="1" noChangeAspect="1" noChangeArrowheads="1" noTextEdit="1"/>
          </p:cNvSpPr>
          <p:nvPr>
            <p:ph type="sldImg"/>
          </p:nvPr>
        </p:nvSpPr>
        <p:spPr bwMode="auto">
          <a:xfrm>
            <a:off x="2857500" y="514350"/>
            <a:ext cx="3430588" cy="257175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6565" name="Rectangle 3"/>
          <p:cNvSpPr>
            <a:spLocks noGrp="1" noChangeArrowheads="1"/>
          </p:cNvSpPr>
          <p:nvPr>
            <p:ph type="body" idx="1"/>
          </p:nvPr>
        </p:nvSpPr>
        <p:spPr bwMode="auto">
          <a:xfrm>
            <a:off x="1218655" y="3257204"/>
            <a:ext cx="6706691" cy="3085941"/>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a:ea typeface="宋体" charset="-122"/>
            </a:endParaRPr>
          </a:p>
        </p:txBody>
      </p:sp>
    </p:spTree>
    <p:extLst>
      <p:ext uri="{BB962C8B-B14F-4D97-AF65-F5344CB8AC3E}">
        <p14:creationId xmlns:p14="http://schemas.microsoft.com/office/powerpoint/2010/main" val="7953707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3474" name="幻灯片图像占位符 873473"/>
          <p:cNvSpPr>
            <a:spLocks noGrp="1" noRot="1" noChangeAspect="1" noTextEdit="1"/>
          </p:cNvSpPr>
          <p:nvPr>
            <p:ph type="sldImg"/>
          </p:nvPr>
        </p:nvSpPr>
        <p:spPr>
          <a:xfrm>
            <a:off x="2857500" y="514350"/>
            <a:ext cx="3430588" cy="2571750"/>
          </a:xfrm>
          <a:ln/>
        </p:spPr>
      </p:sp>
      <p:sp>
        <p:nvSpPr>
          <p:cNvPr id="873475" name="文本占位符 873474"/>
          <p:cNvSpPr>
            <a:spLocks noGrp="1"/>
          </p:cNvSpPr>
          <p:nvPr>
            <p:ph type="body" idx="1"/>
          </p:nvPr>
        </p:nvSpPr>
        <p:spPr>
          <a:xfrm>
            <a:off x="1218655" y="3257204"/>
            <a:ext cx="6706691" cy="3085941"/>
          </a:xfrm>
          <a:ln/>
        </p:spPr>
        <p:txBody>
          <a:bodyPr lIns="97393" tIns="48696" rIns="97393" bIns="48696"/>
          <a:lstStyle/>
          <a:p>
            <a:pPr lvl="0"/>
            <a:endParaRPr dirty="0"/>
          </a:p>
        </p:txBody>
      </p:sp>
      <p:sp>
        <p:nvSpPr>
          <p:cNvPr id="2" name="页眉占位符 1"/>
          <p:cNvSpPr>
            <a:spLocks noGrp="1"/>
          </p:cNvSpPr>
          <p:nvPr>
            <p:ph type="hdr" sz="quarter" idx="2"/>
          </p:nvPr>
        </p:nvSpPr>
        <p:spPr/>
        <p:txBody>
          <a:bodyPr/>
          <a:lstStyle/>
          <a:p>
            <a:pPr lvl="0" defTabSz="973455"/>
            <a:r>
              <a:rPr lang="zh-CN" sz="1300" dirty="0"/>
              <a:t>高等代数</a:t>
            </a:r>
          </a:p>
        </p:txBody>
      </p:sp>
      <p:sp>
        <p:nvSpPr>
          <p:cNvPr id="3" name="日期占位符 2"/>
          <p:cNvSpPr>
            <a:spLocks noGrp="1"/>
          </p:cNvSpPr>
          <p:nvPr>
            <p:ph type="dt" idx="3"/>
          </p:nvPr>
        </p:nvSpPr>
        <p:spPr/>
        <p:txBody>
          <a:bodyPr/>
          <a:lstStyle/>
          <a:p>
            <a:pPr lvl="0" algn="r" defTabSz="973455"/>
            <a:fld id="{BB962C8B-B14F-4D97-AF65-F5344CB8AC3E}" type="datetime1">
              <a:rPr lang="zh-CN" altLang="en-US" sz="1300" dirty="0"/>
              <a:t>2025/2/20</a:t>
            </a:fld>
            <a:endParaRPr lang="zh-CN" altLang="en-US" sz="1300" dirty="0"/>
          </a:p>
        </p:txBody>
      </p:sp>
      <p:sp>
        <p:nvSpPr>
          <p:cNvPr id="4" name="灯片编号占位符 3"/>
          <p:cNvSpPr>
            <a:spLocks noGrp="1"/>
          </p:cNvSpPr>
          <p:nvPr>
            <p:ph type="sldNum" sz="quarter" idx="4"/>
          </p:nvPr>
        </p:nvSpPr>
        <p:spPr/>
        <p:txBody>
          <a:bodyPr/>
          <a:lstStyle/>
          <a:p>
            <a:pPr lvl="0" algn="r" defTabSz="973455"/>
            <a:fld id="{9A0DB2DC-4C9A-4742-B13C-FB6460FD3503}" type="slidenum">
              <a:rPr lang="en-US" altLang="zh-CN" sz="1300" dirty="0"/>
              <a:t>4</a:t>
            </a:fld>
            <a:endParaRPr lang="zh-CN" sz="1300" dirty="0"/>
          </a:p>
        </p:txBody>
      </p:sp>
    </p:spTree>
    <p:extLst>
      <p:ext uri="{BB962C8B-B14F-4D97-AF65-F5344CB8AC3E}">
        <p14:creationId xmlns:p14="http://schemas.microsoft.com/office/powerpoint/2010/main" val="3198118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3474" name="幻灯片图像占位符 873473"/>
          <p:cNvSpPr>
            <a:spLocks noGrp="1" noRot="1" noChangeAspect="1" noTextEdit="1"/>
          </p:cNvSpPr>
          <p:nvPr>
            <p:ph type="sldImg"/>
          </p:nvPr>
        </p:nvSpPr>
        <p:spPr>
          <a:xfrm>
            <a:off x="2857500" y="514350"/>
            <a:ext cx="3430588" cy="2571750"/>
          </a:xfrm>
          <a:ln/>
        </p:spPr>
      </p:sp>
      <p:sp>
        <p:nvSpPr>
          <p:cNvPr id="873475" name="文本占位符 873474"/>
          <p:cNvSpPr>
            <a:spLocks noGrp="1"/>
          </p:cNvSpPr>
          <p:nvPr>
            <p:ph type="body" idx="1"/>
          </p:nvPr>
        </p:nvSpPr>
        <p:spPr>
          <a:xfrm>
            <a:off x="1218655" y="3257204"/>
            <a:ext cx="6706691" cy="3085941"/>
          </a:xfrm>
          <a:ln/>
        </p:spPr>
        <p:txBody>
          <a:bodyPr lIns="97393" tIns="48696" rIns="97393" bIns="48696"/>
          <a:lstStyle/>
          <a:p>
            <a:pPr lvl="0"/>
            <a:endParaRPr dirty="0"/>
          </a:p>
        </p:txBody>
      </p:sp>
      <p:sp>
        <p:nvSpPr>
          <p:cNvPr id="2" name="页眉占位符 1"/>
          <p:cNvSpPr>
            <a:spLocks noGrp="1"/>
          </p:cNvSpPr>
          <p:nvPr>
            <p:ph type="hdr" sz="quarter" idx="2"/>
          </p:nvPr>
        </p:nvSpPr>
        <p:spPr/>
        <p:txBody>
          <a:bodyPr/>
          <a:lstStyle/>
          <a:p>
            <a:pPr lvl="0" defTabSz="973455"/>
            <a:r>
              <a:rPr lang="zh-CN" sz="1300" dirty="0"/>
              <a:t>高等代数</a:t>
            </a:r>
          </a:p>
        </p:txBody>
      </p:sp>
      <p:sp>
        <p:nvSpPr>
          <p:cNvPr id="3" name="日期占位符 2"/>
          <p:cNvSpPr>
            <a:spLocks noGrp="1"/>
          </p:cNvSpPr>
          <p:nvPr>
            <p:ph type="dt" idx="3"/>
          </p:nvPr>
        </p:nvSpPr>
        <p:spPr/>
        <p:txBody>
          <a:bodyPr/>
          <a:lstStyle/>
          <a:p>
            <a:pPr lvl="0" algn="r" defTabSz="973455"/>
            <a:fld id="{BB962C8B-B14F-4D97-AF65-F5344CB8AC3E}" type="datetime1">
              <a:rPr lang="zh-CN" altLang="en-US" sz="1300" dirty="0"/>
              <a:t>2025/2/20</a:t>
            </a:fld>
            <a:endParaRPr lang="zh-CN" altLang="en-US" sz="1300" dirty="0"/>
          </a:p>
        </p:txBody>
      </p:sp>
      <p:sp>
        <p:nvSpPr>
          <p:cNvPr id="4" name="灯片编号占位符 3"/>
          <p:cNvSpPr>
            <a:spLocks noGrp="1"/>
          </p:cNvSpPr>
          <p:nvPr>
            <p:ph type="sldNum" sz="quarter" idx="4"/>
          </p:nvPr>
        </p:nvSpPr>
        <p:spPr/>
        <p:txBody>
          <a:bodyPr/>
          <a:lstStyle/>
          <a:p>
            <a:pPr lvl="0" algn="r" defTabSz="973455"/>
            <a:fld id="{9A0DB2DC-4C9A-4742-B13C-FB6460FD3503}" type="slidenum">
              <a:rPr lang="en-US" altLang="zh-CN" sz="1300" dirty="0"/>
              <a:t>12</a:t>
            </a:fld>
            <a:endParaRPr lang="zh-CN" sz="1300" dirty="0"/>
          </a:p>
        </p:txBody>
      </p:sp>
    </p:spTree>
    <p:extLst>
      <p:ext uri="{BB962C8B-B14F-4D97-AF65-F5344CB8AC3E}">
        <p14:creationId xmlns:p14="http://schemas.microsoft.com/office/powerpoint/2010/main" val="17734794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3474" name="幻灯片图像占位符 873473"/>
          <p:cNvSpPr>
            <a:spLocks noGrp="1" noRot="1" noChangeAspect="1" noTextEdit="1"/>
          </p:cNvSpPr>
          <p:nvPr>
            <p:ph type="sldImg"/>
          </p:nvPr>
        </p:nvSpPr>
        <p:spPr>
          <a:xfrm>
            <a:off x="2857500" y="514350"/>
            <a:ext cx="3430588" cy="2571750"/>
          </a:xfrm>
          <a:ln/>
        </p:spPr>
      </p:sp>
      <p:sp>
        <p:nvSpPr>
          <p:cNvPr id="873475" name="文本占位符 873474"/>
          <p:cNvSpPr>
            <a:spLocks noGrp="1"/>
          </p:cNvSpPr>
          <p:nvPr>
            <p:ph type="body" idx="1"/>
          </p:nvPr>
        </p:nvSpPr>
        <p:spPr>
          <a:xfrm>
            <a:off x="1218655" y="3257204"/>
            <a:ext cx="6706691" cy="3085941"/>
          </a:xfrm>
          <a:ln/>
        </p:spPr>
        <p:txBody>
          <a:bodyPr lIns="97393" tIns="48696" rIns="97393" bIns="48696"/>
          <a:lstStyle/>
          <a:p>
            <a:pPr lvl="0"/>
            <a:endParaRPr dirty="0"/>
          </a:p>
        </p:txBody>
      </p:sp>
      <p:sp>
        <p:nvSpPr>
          <p:cNvPr id="2" name="页眉占位符 1"/>
          <p:cNvSpPr>
            <a:spLocks noGrp="1"/>
          </p:cNvSpPr>
          <p:nvPr>
            <p:ph type="hdr" sz="quarter" idx="2"/>
          </p:nvPr>
        </p:nvSpPr>
        <p:spPr/>
        <p:txBody>
          <a:bodyPr/>
          <a:lstStyle/>
          <a:p>
            <a:pPr lvl="0" defTabSz="973455"/>
            <a:r>
              <a:rPr lang="zh-CN" sz="1300" dirty="0"/>
              <a:t>高等代数</a:t>
            </a:r>
          </a:p>
        </p:txBody>
      </p:sp>
      <p:sp>
        <p:nvSpPr>
          <p:cNvPr id="3" name="日期占位符 2"/>
          <p:cNvSpPr>
            <a:spLocks noGrp="1"/>
          </p:cNvSpPr>
          <p:nvPr>
            <p:ph type="dt" idx="3"/>
          </p:nvPr>
        </p:nvSpPr>
        <p:spPr/>
        <p:txBody>
          <a:bodyPr/>
          <a:lstStyle/>
          <a:p>
            <a:pPr lvl="0" algn="r" defTabSz="973455"/>
            <a:fld id="{BB962C8B-B14F-4D97-AF65-F5344CB8AC3E}" type="datetime1">
              <a:rPr lang="zh-CN" altLang="en-US" sz="1300" dirty="0"/>
              <a:t>2025/2/20</a:t>
            </a:fld>
            <a:endParaRPr lang="zh-CN" altLang="en-US" sz="1300" dirty="0"/>
          </a:p>
        </p:txBody>
      </p:sp>
      <p:sp>
        <p:nvSpPr>
          <p:cNvPr id="4" name="灯片编号占位符 3"/>
          <p:cNvSpPr>
            <a:spLocks noGrp="1"/>
          </p:cNvSpPr>
          <p:nvPr>
            <p:ph type="sldNum" sz="quarter" idx="4"/>
          </p:nvPr>
        </p:nvSpPr>
        <p:spPr/>
        <p:txBody>
          <a:bodyPr/>
          <a:lstStyle/>
          <a:p>
            <a:pPr lvl="0" algn="r" defTabSz="973455"/>
            <a:fld id="{9A0DB2DC-4C9A-4742-B13C-FB6460FD3503}" type="slidenum">
              <a:rPr lang="en-US" altLang="zh-CN" sz="1300" dirty="0"/>
              <a:t>18</a:t>
            </a:fld>
            <a:endParaRPr lang="zh-CN" sz="1300" dirty="0"/>
          </a:p>
        </p:txBody>
      </p:sp>
    </p:spTree>
    <p:extLst>
      <p:ext uri="{BB962C8B-B14F-4D97-AF65-F5344CB8AC3E}">
        <p14:creationId xmlns:p14="http://schemas.microsoft.com/office/powerpoint/2010/main" val="14842612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3474" name="幻灯片图像占位符 873473"/>
          <p:cNvSpPr>
            <a:spLocks noGrp="1" noRot="1" noChangeAspect="1" noTextEdit="1"/>
          </p:cNvSpPr>
          <p:nvPr>
            <p:ph type="sldImg"/>
          </p:nvPr>
        </p:nvSpPr>
        <p:spPr>
          <a:xfrm>
            <a:off x="2857500" y="514350"/>
            <a:ext cx="3430588" cy="2571750"/>
          </a:xfrm>
          <a:ln/>
        </p:spPr>
      </p:sp>
      <p:sp>
        <p:nvSpPr>
          <p:cNvPr id="873475" name="文本占位符 873474"/>
          <p:cNvSpPr>
            <a:spLocks noGrp="1"/>
          </p:cNvSpPr>
          <p:nvPr>
            <p:ph type="body" idx="1"/>
          </p:nvPr>
        </p:nvSpPr>
        <p:spPr>
          <a:xfrm>
            <a:off x="1218655" y="3257204"/>
            <a:ext cx="6706691" cy="3085941"/>
          </a:xfrm>
          <a:ln/>
        </p:spPr>
        <p:txBody>
          <a:bodyPr lIns="97393" tIns="48696" rIns="97393" bIns="48696"/>
          <a:lstStyle/>
          <a:p>
            <a:pPr lvl="0"/>
            <a:endParaRPr dirty="0"/>
          </a:p>
        </p:txBody>
      </p:sp>
      <p:sp>
        <p:nvSpPr>
          <p:cNvPr id="2" name="页眉占位符 1"/>
          <p:cNvSpPr>
            <a:spLocks noGrp="1"/>
          </p:cNvSpPr>
          <p:nvPr>
            <p:ph type="hdr" sz="quarter" idx="2"/>
          </p:nvPr>
        </p:nvSpPr>
        <p:spPr/>
        <p:txBody>
          <a:bodyPr/>
          <a:lstStyle/>
          <a:p>
            <a:pPr lvl="0" defTabSz="973455"/>
            <a:r>
              <a:rPr lang="zh-CN" sz="1300" dirty="0"/>
              <a:t>高等代数</a:t>
            </a:r>
          </a:p>
        </p:txBody>
      </p:sp>
      <p:sp>
        <p:nvSpPr>
          <p:cNvPr id="3" name="日期占位符 2"/>
          <p:cNvSpPr>
            <a:spLocks noGrp="1"/>
          </p:cNvSpPr>
          <p:nvPr>
            <p:ph type="dt" idx="3"/>
          </p:nvPr>
        </p:nvSpPr>
        <p:spPr/>
        <p:txBody>
          <a:bodyPr/>
          <a:lstStyle/>
          <a:p>
            <a:pPr lvl="0" algn="r" defTabSz="973455"/>
            <a:fld id="{BB962C8B-B14F-4D97-AF65-F5344CB8AC3E}" type="datetime1">
              <a:rPr lang="zh-CN" altLang="en-US" sz="1300" dirty="0"/>
              <a:t>2025/2/20</a:t>
            </a:fld>
            <a:endParaRPr lang="zh-CN" altLang="en-US" sz="1300" dirty="0"/>
          </a:p>
        </p:txBody>
      </p:sp>
      <p:sp>
        <p:nvSpPr>
          <p:cNvPr id="4" name="灯片编号占位符 3"/>
          <p:cNvSpPr>
            <a:spLocks noGrp="1"/>
          </p:cNvSpPr>
          <p:nvPr>
            <p:ph type="sldNum" sz="quarter" idx="4"/>
          </p:nvPr>
        </p:nvSpPr>
        <p:spPr/>
        <p:txBody>
          <a:bodyPr/>
          <a:lstStyle/>
          <a:p>
            <a:pPr lvl="0" algn="r" defTabSz="973455"/>
            <a:fld id="{9A0DB2DC-4C9A-4742-B13C-FB6460FD3503}" type="slidenum">
              <a:rPr lang="en-US" altLang="zh-CN" sz="1300" dirty="0"/>
              <a:t>23</a:t>
            </a:fld>
            <a:endParaRPr lang="zh-CN" sz="1300" dirty="0"/>
          </a:p>
        </p:txBody>
      </p:sp>
    </p:spTree>
    <p:extLst>
      <p:ext uri="{BB962C8B-B14F-4D97-AF65-F5344CB8AC3E}">
        <p14:creationId xmlns:p14="http://schemas.microsoft.com/office/powerpoint/2010/main" val="24020734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3474" name="幻灯片图像占位符 873473"/>
          <p:cNvSpPr>
            <a:spLocks noGrp="1" noRot="1" noChangeAspect="1" noTextEdit="1"/>
          </p:cNvSpPr>
          <p:nvPr>
            <p:ph type="sldImg"/>
          </p:nvPr>
        </p:nvSpPr>
        <p:spPr>
          <a:xfrm>
            <a:off x="2857500" y="514350"/>
            <a:ext cx="3430588" cy="2571750"/>
          </a:xfrm>
          <a:ln/>
        </p:spPr>
      </p:sp>
      <p:sp>
        <p:nvSpPr>
          <p:cNvPr id="873475" name="文本占位符 873474"/>
          <p:cNvSpPr>
            <a:spLocks noGrp="1"/>
          </p:cNvSpPr>
          <p:nvPr>
            <p:ph type="body" idx="1"/>
          </p:nvPr>
        </p:nvSpPr>
        <p:spPr>
          <a:xfrm>
            <a:off x="1218655" y="3257204"/>
            <a:ext cx="6706691" cy="3085941"/>
          </a:xfrm>
          <a:ln/>
        </p:spPr>
        <p:txBody>
          <a:bodyPr lIns="97393" tIns="48696" rIns="97393" bIns="48696"/>
          <a:lstStyle/>
          <a:p>
            <a:pPr lvl="0"/>
            <a:endParaRPr dirty="0"/>
          </a:p>
        </p:txBody>
      </p:sp>
      <p:sp>
        <p:nvSpPr>
          <p:cNvPr id="2" name="页眉占位符 1"/>
          <p:cNvSpPr>
            <a:spLocks noGrp="1"/>
          </p:cNvSpPr>
          <p:nvPr>
            <p:ph type="hdr" sz="quarter" idx="2"/>
          </p:nvPr>
        </p:nvSpPr>
        <p:spPr/>
        <p:txBody>
          <a:bodyPr/>
          <a:lstStyle/>
          <a:p>
            <a:pPr lvl="0" defTabSz="973455"/>
            <a:r>
              <a:rPr lang="zh-CN" sz="1300" dirty="0"/>
              <a:t>高等代数</a:t>
            </a:r>
          </a:p>
        </p:txBody>
      </p:sp>
      <p:sp>
        <p:nvSpPr>
          <p:cNvPr id="3" name="日期占位符 2"/>
          <p:cNvSpPr>
            <a:spLocks noGrp="1"/>
          </p:cNvSpPr>
          <p:nvPr>
            <p:ph type="dt" idx="3"/>
          </p:nvPr>
        </p:nvSpPr>
        <p:spPr/>
        <p:txBody>
          <a:bodyPr/>
          <a:lstStyle/>
          <a:p>
            <a:pPr lvl="0" algn="r" defTabSz="973455"/>
            <a:fld id="{BB962C8B-B14F-4D97-AF65-F5344CB8AC3E}" type="datetime1">
              <a:rPr lang="zh-CN" altLang="en-US" sz="1300" dirty="0"/>
              <a:t>2025/2/20</a:t>
            </a:fld>
            <a:endParaRPr lang="zh-CN" altLang="en-US" sz="1300" dirty="0"/>
          </a:p>
        </p:txBody>
      </p:sp>
      <p:sp>
        <p:nvSpPr>
          <p:cNvPr id="4" name="灯片编号占位符 3"/>
          <p:cNvSpPr>
            <a:spLocks noGrp="1"/>
          </p:cNvSpPr>
          <p:nvPr>
            <p:ph type="sldNum" sz="quarter" idx="4"/>
          </p:nvPr>
        </p:nvSpPr>
        <p:spPr/>
        <p:txBody>
          <a:bodyPr/>
          <a:lstStyle/>
          <a:p>
            <a:pPr lvl="0" algn="r" defTabSz="973455"/>
            <a:fld id="{9A0DB2DC-4C9A-4742-B13C-FB6460FD3503}" type="slidenum">
              <a:rPr lang="en-US" altLang="zh-CN" sz="1300" dirty="0"/>
              <a:t>25</a:t>
            </a:fld>
            <a:endParaRPr lang="zh-CN" sz="1300" dirty="0"/>
          </a:p>
        </p:txBody>
      </p:sp>
    </p:spTree>
    <p:extLst>
      <p:ext uri="{BB962C8B-B14F-4D97-AF65-F5344CB8AC3E}">
        <p14:creationId xmlns:p14="http://schemas.microsoft.com/office/powerpoint/2010/main" val="8353190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3474" name="幻灯片图像占位符 873473"/>
          <p:cNvSpPr>
            <a:spLocks noGrp="1" noRot="1" noChangeAspect="1" noTextEdit="1"/>
          </p:cNvSpPr>
          <p:nvPr>
            <p:ph type="sldImg"/>
          </p:nvPr>
        </p:nvSpPr>
        <p:spPr>
          <a:xfrm>
            <a:off x="2857500" y="514350"/>
            <a:ext cx="3430588" cy="2571750"/>
          </a:xfrm>
          <a:ln/>
        </p:spPr>
      </p:sp>
      <p:sp>
        <p:nvSpPr>
          <p:cNvPr id="873475" name="文本占位符 873474"/>
          <p:cNvSpPr>
            <a:spLocks noGrp="1"/>
          </p:cNvSpPr>
          <p:nvPr>
            <p:ph type="body" idx="1"/>
          </p:nvPr>
        </p:nvSpPr>
        <p:spPr>
          <a:xfrm>
            <a:off x="1218655" y="3257204"/>
            <a:ext cx="6706691" cy="3085941"/>
          </a:xfrm>
          <a:ln/>
        </p:spPr>
        <p:txBody>
          <a:bodyPr lIns="97393" tIns="48696" rIns="97393" bIns="48696"/>
          <a:lstStyle/>
          <a:p>
            <a:pPr lvl="0"/>
            <a:endParaRPr dirty="0"/>
          </a:p>
        </p:txBody>
      </p:sp>
      <p:sp>
        <p:nvSpPr>
          <p:cNvPr id="2" name="页眉占位符 1"/>
          <p:cNvSpPr>
            <a:spLocks noGrp="1"/>
          </p:cNvSpPr>
          <p:nvPr>
            <p:ph type="hdr" sz="quarter" idx="2"/>
          </p:nvPr>
        </p:nvSpPr>
        <p:spPr/>
        <p:txBody>
          <a:bodyPr/>
          <a:lstStyle/>
          <a:p>
            <a:pPr lvl="0" defTabSz="973455"/>
            <a:r>
              <a:rPr lang="zh-CN" sz="1300" dirty="0"/>
              <a:t>高等代数</a:t>
            </a:r>
          </a:p>
        </p:txBody>
      </p:sp>
      <p:sp>
        <p:nvSpPr>
          <p:cNvPr id="3" name="日期占位符 2"/>
          <p:cNvSpPr>
            <a:spLocks noGrp="1"/>
          </p:cNvSpPr>
          <p:nvPr>
            <p:ph type="dt" idx="3"/>
          </p:nvPr>
        </p:nvSpPr>
        <p:spPr/>
        <p:txBody>
          <a:bodyPr/>
          <a:lstStyle/>
          <a:p>
            <a:pPr lvl="0" algn="r" defTabSz="973455"/>
            <a:fld id="{BB962C8B-B14F-4D97-AF65-F5344CB8AC3E}" type="datetime1">
              <a:rPr lang="zh-CN" altLang="en-US" sz="1300" dirty="0"/>
              <a:t>2025/2/20</a:t>
            </a:fld>
            <a:endParaRPr lang="zh-CN" altLang="en-US" sz="1300" dirty="0"/>
          </a:p>
        </p:txBody>
      </p:sp>
      <p:sp>
        <p:nvSpPr>
          <p:cNvPr id="4" name="灯片编号占位符 3"/>
          <p:cNvSpPr>
            <a:spLocks noGrp="1"/>
          </p:cNvSpPr>
          <p:nvPr>
            <p:ph type="sldNum" sz="quarter" idx="4"/>
          </p:nvPr>
        </p:nvSpPr>
        <p:spPr/>
        <p:txBody>
          <a:bodyPr/>
          <a:lstStyle/>
          <a:p>
            <a:pPr lvl="0" algn="r" defTabSz="973455"/>
            <a:fld id="{9A0DB2DC-4C9A-4742-B13C-FB6460FD3503}" type="slidenum">
              <a:rPr lang="en-US" altLang="zh-CN" sz="1300" dirty="0"/>
              <a:t>33</a:t>
            </a:fld>
            <a:endParaRPr lang="zh-CN" sz="1300" dirty="0"/>
          </a:p>
        </p:txBody>
      </p:sp>
    </p:spTree>
    <p:extLst>
      <p:ext uri="{BB962C8B-B14F-4D97-AF65-F5344CB8AC3E}">
        <p14:creationId xmlns:p14="http://schemas.microsoft.com/office/powerpoint/2010/main" val="6653770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3474" name="幻灯片图像占位符 873473"/>
          <p:cNvSpPr>
            <a:spLocks noGrp="1" noRot="1" noChangeAspect="1" noTextEdit="1"/>
          </p:cNvSpPr>
          <p:nvPr>
            <p:ph type="sldImg"/>
          </p:nvPr>
        </p:nvSpPr>
        <p:spPr>
          <a:xfrm>
            <a:off x="2857500" y="514350"/>
            <a:ext cx="3430588" cy="2571750"/>
          </a:xfrm>
          <a:ln/>
        </p:spPr>
      </p:sp>
      <p:sp>
        <p:nvSpPr>
          <p:cNvPr id="873475" name="文本占位符 873474"/>
          <p:cNvSpPr>
            <a:spLocks noGrp="1"/>
          </p:cNvSpPr>
          <p:nvPr>
            <p:ph type="body" idx="1"/>
          </p:nvPr>
        </p:nvSpPr>
        <p:spPr>
          <a:xfrm>
            <a:off x="1218655" y="3257204"/>
            <a:ext cx="6706691" cy="3085941"/>
          </a:xfrm>
          <a:ln/>
        </p:spPr>
        <p:txBody>
          <a:bodyPr lIns="97393" tIns="48696" rIns="97393" bIns="48696"/>
          <a:lstStyle/>
          <a:p>
            <a:pPr lvl="0"/>
            <a:endParaRPr dirty="0"/>
          </a:p>
        </p:txBody>
      </p:sp>
      <p:sp>
        <p:nvSpPr>
          <p:cNvPr id="2" name="页眉占位符 1"/>
          <p:cNvSpPr>
            <a:spLocks noGrp="1"/>
          </p:cNvSpPr>
          <p:nvPr>
            <p:ph type="hdr" sz="quarter" idx="2"/>
          </p:nvPr>
        </p:nvSpPr>
        <p:spPr/>
        <p:txBody>
          <a:bodyPr/>
          <a:lstStyle/>
          <a:p>
            <a:pPr lvl="0" defTabSz="973455"/>
            <a:r>
              <a:rPr lang="zh-CN" sz="1300" dirty="0"/>
              <a:t>高等代数</a:t>
            </a:r>
          </a:p>
        </p:txBody>
      </p:sp>
      <p:sp>
        <p:nvSpPr>
          <p:cNvPr id="3" name="日期占位符 2"/>
          <p:cNvSpPr>
            <a:spLocks noGrp="1"/>
          </p:cNvSpPr>
          <p:nvPr>
            <p:ph type="dt" idx="3"/>
          </p:nvPr>
        </p:nvSpPr>
        <p:spPr/>
        <p:txBody>
          <a:bodyPr/>
          <a:lstStyle/>
          <a:p>
            <a:pPr lvl="0" algn="r" defTabSz="973455"/>
            <a:fld id="{BB962C8B-B14F-4D97-AF65-F5344CB8AC3E}" type="datetime1">
              <a:rPr lang="zh-CN" altLang="en-US" sz="1300" dirty="0"/>
              <a:t>2025/2/20</a:t>
            </a:fld>
            <a:endParaRPr lang="zh-CN" altLang="en-US" sz="1300" dirty="0"/>
          </a:p>
        </p:txBody>
      </p:sp>
      <p:sp>
        <p:nvSpPr>
          <p:cNvPr id="4" name="灯片编号占位符 3"/>
          <p:cNvSpPr>
            <a:spLocks noGrp="1"/>
          </p:cNvSpPr>
          <p:nvPr>
            <p:ph type="sldNum" sz="quarter" idx="4"/>
          </p:nvPr>
        </p:nvSpPr>
        <p:spPr/>
        <p:txBody>
          <a:bodyPr/>
          <a:lstStyle/>
          <a:p>
            <a:pPr lvl="0" algn="r" defTabSz="973455"/>
            <a:fld id="{9A0DB2DC-4C9A-4742-B13C-FB6460FD3503}" type="slidenum">
              <a:rPr lang="en-US" altLang="zh-CN" sz="1300" dirty="0"/>
              <a:t>38</a:t>
            </a:fld>
            <a:endParaRPr lang="zh-CN" sz="1300" dirty="0"/>
          </a:p>
        </p:txBody>
      </p:sp>
    </p:spTree>
    <p:extLst>
      <p:ext uri="{BB962C8B-B14F-4D97-AF65-F5344CB8AC3E}">
        <p14:creationId xmlns:p14="http://schemas.microsoft.com/office/powerpoint/2010/main" val="2151833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hdr" sz="quarter" idx="4294967295"/>
          </p:nvPr>
        </p:nvSpPr>
        <p:spPr bwMode="auto">
          <a:xfrm>
            <a:off x="0" y="0"/>
            <a:ext cx="3970852" cy="3191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73138">
              <a:defRPr>
                <a:solidFill>
                  <a:schemeClr val="tx1"/>
                </a:solidFill>
                <a:latin typeface="Arial" charset="0"/>
                <a:ea typeface="宋体" charset="-122"/>
              </a:defRPr>
            </a:lvl1pPr>
            <a:lvl2pPr marL="742950" indent="-285750" defTabSz="973138">
              <a:defRPr>
                <a:solidFill>
                  <a:schemeClr val="tx1"/>
                </a:solidFill>
                <a:latin typeface="Arial" charset="0"/>
                <a:ea typeface="宋体" charset="-122"/>
              </a:defRPr>
            </a:lvl2pPr>
            <a:lvl3pPr marL="1143000" indent="-228600" defTabSz="973138">
              <a:defRPr>
                <a:solidFill>
                  <a:schemeClr val="tx1"/>
                </a:solidFill>
                <a:latin typeface="Arial" charset="0"/>
                <a:ea typeface="宋体" charset="-122"/>
              </a:defRPr>
            </a:lvl3pPr>
            <a:lvl4pPr marL="1600200" indent="-228600" defTabSz="973138">
              <a:defRPr>
                <a:solidFill>
                  <a:schemeClr val="tx1"/>
                </a:solidFill>
                <a:latin typeface="Arial" charset="0"/>
                <a:ea typeface="宋体" charset="-122"/>
              </a:defRPr>
            </a:lvl4pPr>
            <a:lvl5pPr marL="2057400" indent="-228600" defTabSz="973138">
              <a:defRPr>
                <a:solidFill>
                  <a:schemeClr val="tx1"/>
                </a:solidFill>
                <a:latin typeface="Arial" charset="0"/>
                <a:ea typeface="宋体" charset="-122"/>
              </a:defRPr>
            </a:lvl5pPr>
            <a:lvl6pPr marL="2514600" indent="-228600" defTabSz="973138" eaLnBrk="0" fontAlgn="base" hangingPunct="0">
              <a:spcBef>
                <a:spcPct val="0"/>
              </a:spcBef>
              <a:spcAft>
                <a:spcPct val="0"/>
              </a:spcAft>
              <a:defRPr>
                <a:solidFill>
                  <a:schemeClr val="tx1"/>
                </a:solidFill>
                <a:latin typeface="Arial" charset="0"/>
                <a:ea typeface="宋体" charset="-122"/>
              </a:defRPr>
            </a:lvl6pPr>
            <a:lvl7pPr marL="2971800" indent="-228600" defTabSz="973138" eaLnBrk="0" fontAlgn="base" hangingPunct="0">
              <a:spcBef>
                <a:spcPct val="0"/>
              </a:spcBef>
              <a:spcAft>
                <a:spcPct val="0"/>
              </a:spcAft>
              <a:defRPr>
                <a:solidFill>
                  <a:schemeClr val="tx1"/>
                </a:solidFill>
                <a:latin typeface="Arial" charset="0"/>
                <a:ea typeface="宋体" charset="-122"/>
              </a:defRPr>
            </a:lvl7pPr>
            <a:lvl8pPr marL="3429000" indent="-228600" defTabSz="973138" eaLnBrk="0" fontAlgn="base" hangingPunct="0">
              <a:spcBef>
                <a:spcPct val="0"/>
              </a:spcBef>
              <a:spcAft>
                <a:spcPct val="0"/>
              </a:spcAft>
              <a:defRPr>
                <a:solidFill>
                  <a:schemeClr val="tx1"/>
                </a:solidFill>
                <a:latin typeface="Arial" charset="0"/>
                <a:ea typeface="宋体" charset="-122"/>
              </a:defRPr>
            </a:lvl8pPr>
            <a:lvl9pPr marL="3886200" indent="-228600" defTabSz="973138" eaLnBrk="0" fontAlgn="base" hangingPunct="0">
              <a:spcBef>
                <a:spcPct val="0"/>
              </a:spcBef>
              <a:spcAft>
                <a:spcPct val="0"/>
              </a:spcAft>
              <a:defRPr>
                <a:solidFill>
                  <a:schemeClr val="tx1"/>
                </a:solidFill>
                <a:latin typeface="Arial" charset="0"/>
                <a:ea typeface="宋体" charset="-122"/>
              </a:defRPr>
            </a:lvl9pPr>
          </a:lstStyle>
          <a:p>
            <a:r>
              <a:rPr lang="en-US" altLang="zh-CN">
                <a:latin typeface="Times New Roman" pitchFamily="18" charset="0"/>
              </a:rPr>
              <a:t>高等代数</a:t>
            </a:r>
          </a:p>
        </p:txBody>
      </p:sp>
      <p:sp>
        <p:nvSpPr>
          <p:cNvPr id="72707" name="Rectangle 3"/>
          <p:cNvSpPr>
            <a:spLocks noGrp="1" noChangeArrowheads="1"/>
          </p:cNvSpPr>
          <p:nvPr>
            <p:ph type="dt" sz="quarter" idx="4294967295"/>
          </p:nvPr>
        </p:nvSpPr>
        <p:spPr bwMode="auto">
          <a:xfrm>
            <a:off x="5224268" y="0"/>
            <a:ext cx="3968806" cy="3191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73138">
              <a:defRPr>
                <a:solidFill>
                  <a:schemeClr val="tx1"/>
                </a:solidFill>
                <a:latin typeface="Arial" charset="0"/>
                <a:ea typeface="宋体" charset="-122"/>
              </a:defRPr>
            </a:lvl1pPr>
            <a:lvl2pPr marL="742950" indent="-285750" defTabSz="973138">
              <a:defRPr>
                <a:solidFill>
                  <a:schemeClr val="tx1"/>
                </a:solidFill>
                <a:latin typeface="Arial" charset="0"/>
                <a:ea typeface="宋体" charset="-122"/>
              </a:defRPr>
            </a:lvl2pPr>
            <a:lvl3pPr marL="1143000" indent="-228600" defTabSz="973138">
              <a:defRPr>
                <a:solidFill>
                  <a:schemeClr val="tx1"/>
                </a:solidFill>
                <a:latin typeface="Arial" charset="0"/>
                <a:ea typeface="宋体" charset="-122"/>
              </a:defRPr>
            </a:lvl3pPr>
            <a:lvl4pPr marL="1600200" indent="-228600" defTabSz="973138">
              <a:defRPr>
                <a:solidFill>
                  <a:schemeClr val="tx1"/>
                </a:solidFill>
                <a:latin typeface="Arial" charset="0"/>
                <a:ea typeface="宋体" charset="-122"/>
              </a:defRPr>
            </a:lvl4pPr>
            <a:lvl5pPr marL="2057400" indent="-228600" defTabSz="973138">
              <a:defRPr>
                <a:solidFill>
                  <a:schemeClr val="tx1"/>
                </a:solidFill>
                <a:latin typeface="Arial" charset="0"/>
                <a:ea typeface="宋体" charset="-122"/>
              </a:defRPr>
            </a:lvl5pPr>
            <a:lvl6pPr marL="2514600" indent="-228600" defTabSz="973138" eaLnBrk="0" fontAlgn="base" hangingPunct="0">
              <a:spcBef>
                <a:spcPct val="0"/>
              </a:spcBef>
              <a:spcAft>
                <a:spcPct val="0"/>
              </a:spcAft>
              <a:defRPr>
                <a:solidFill>
                  <a:schemeClr val="tx1"/>
                </a:solidFill>
                <a:latin typeface="Arial" charset="0"/>
                <a:ea typeface="宋体" charset="-122"/>
              </a:defRPr>
            </a:lvl6pPr>
            <a:lvl7pPr marL="2971800" indent="-228600" defTabSz="973138" eaLnBrk="0" fontAlgn="base" hangingPunct="0">
              <a:spcBef>
                <a:spcPct val="0"/>
              </a:spcBef>
              <a:spcAft>
                <a:spcPct val="0"/>
              </a:spcAft>
              <a:defRPr>
                <a:solidFill>
                  <a:schemeClr val="tx1"/>
                </a:solidFill>
                <a:latin typeface="Arial" charset="0"/>
                <a:ea typeface="宋体" charset="-122"/>
              </a:defRPr>
            </a:lvl7pPr>
            <a:lvl8pPr marL="3429000" indent="-228600" defTabSz="973138" eaLnBrk="0" fontAlgn="base" hangingPunct="0">
              <a:spcBef>
                <a:spcPct val="0"/>
              </a:spcBef>
              <a:spcAft>
                <a:spcPct val="0"/>
              </a:spcAft>
              <a:defRPr>
                <a:solidFill>
                  <a:schemeClr val="tx1"/>
                </a:solidFill>
                <a:latin typeface="Arial" charset="0"/>
                <a:ea typeface="宋体" charset="-122"/>
              </a:defRPr>
            </a:lvl8pPr>
            <a:lvl9pPr marL="3886200" indent="-228600" defTabSz="973138" eaLnBrk="0" fontAlgn="base" hangingPunct="0">
              <a:spcBef>
                <a:spcPct val="0"/>
              </a:spcBef>
              <a:spcAft>
                <a:spcPct val="0"/>
              </a:spcAft>
              <a:defRPr>
                <a:solidFill>
                  <a:schemeClr val="tx1"/>
                </a:solidFill>
                <a:latin typeface="Arial" charset="0"/>
                <a:ea typeface="宋体" charset="-122"/>
              </a:defRPr>
            </a:lvl9pPr>
          </a:lstStyle>
          <a:p>
            <a:fld id="{8E544B3E-E743-4222-90D8-C76DCD6348C0}" type="datetime1">
              <a:rPr lang="zh-CN" altLang="en-US">
                <a:latin typeface="Times New Roman" pitchFamily="18" charset="0"/>
              </a:rPr>
              <a:pPr/>
              <a:t>2025/2/20</a:t>
            </a:fld>
            <a:endParaRPr lang="en-US" altLang="zh-CN">
              <a:latin typeface="Times New Roman" pitchFamily="18" charset="0"/>
            </a:endParaRPr>
          </a:p>
        </p:txBody>
      </p:sp>
      <p:sp>
        <p:nvSpPr>
          <p:cNvPr id="72708" name="Rectangle 7"/>
          <p:cNvSpPr>
            <a:spLocks noGrp="1" noChangeArrowheads="1"/>
          </p:cNvSpPr>
          <p:nvPr>
            <p:ph type="sldNum" sz="quarter" idx="4294967295"/>
          </p:nvPr>
        </p:nvSpPr>
        <p:spPr bwMode="auto">
          <a:xfrm>
            <a:off x="5224268" y="6492070"/>
            <a:ext cx="3968806" cy="37337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73138">
              <a:defRPr>
                <a:solidFill>
                  <a:schemeClr val="tx1"/>
                </a:solidFill>
                <a:latin typeface="Arial" charset="0"/>
                <a:ea typeface="宋体" charset="-122"/>
              </a:defRPr>
            </a:lvl1pPr>
            <a:lvl2pPr marL="742950" indent="-285750" defTabSz="973138">
              <a:defRPr>
                <a:solidFill>
                  <a:schemeClr val="tx1"/>
                </a:solidFill>
                <a:latin typeface="Arial" charset="0"/>
                <a:ea typeface="宋体" charset="-122"/>
              </a:defRPr>
            </a:lvl2pPr>
            <a:lvl3pPr marL="1143000" indent="-228600" defTabSz="973138">
              <a:defRPr>
                <a:solidFill>
                  <a:schemeClr val="tx1"/>
                </a:solidFill>
                <a:latin typeface="Arial" charset="0"/>
                <a:ea typeface="宋体" charset="-122"/>
              </a:defRPr>
            </a:lvl3pPr>
            <a:lvl4pPr marL="1600200" indent="-228600" defTabSz="973138">
              <a:defRPr>
                <a:solidFill>
                  <a:schemeClr val="tx1"/>
                </a:solidFill>
                <a:latin typeface="Arial" charset="0"/>
                <a:ea typeface="宋体" charset="-122"/>
              </a:defRPr>
            </a:lvl4pPr>
            <a:lvl5pPr marL="2057400" indent="-228600" defTabSz="973138">
              <a:defRPr>
                <a:solidFill>
                  <a:schemeClr val="tx1"/>
                </a:solidFill>
                <a:latin typeface="Arial" charset="0"/>
                <a:ea typeface="宋体" charset="-122"/>
              </a:defRPr>
            </a:lvl5pPr>
            <a:lvl6pPr marL="2514600" indent="-228600" defTabSz="973138" eaLnBrk="0" fontAlgn="base" hangingPunct="0">
              <a:spcBef>
                <a:spcPct val="0"/>
              </a:spcBef>
              <a:spcAft>
                <a:spcPct val="0"/>
              </a:spcAft>
              <a:defRPr>
                <a:solidFill>
                  <a:schemeClr val="tx1"/>
                </a:solidFill>
                <a:latin typeface="Arial" charset="0"/>
                <a:ea typeface="宋体" charset="-122"/>
              </a:defRPr>
            </a:lvl6pPr>
            <a:lvl7pPr marL="2971800" indent="-228600" defTabSz="973138" eaLnBrk="0" fontAlgn="base" hangingPunct="0">
              <a:spcBef>
                <a:spcPct val="0"/>
              </a:spcBef>
              <a:spcAft>
                <a:spcPct val="0"/>
              </a:spcAft>
              <a:defRPr>
                <a:solidFill>
                  <a:schemeClr val="tx1"/>
                </a:solidFill>
                <a:latin typeface="Arial" charset="0"/>
                <a:ea typeface="宋体" charset="-122"/>
              </a:defRPr>
            </a:lvl7pPr>
            <a:lvl8pPr marL="3429000" indent="-228600" defTabSz="973138" eaLnBrk="0" fontAlgn="base" hangingPunct="0">
              <a:spcBef>
                <a:spcPct val="0"/>
              </a:spcBef>
              <a:spcAft>
                <a:spcPct val="0"/>
              </a:spcAft>
              <a:defRPr>
                <a:solidFill>
                  <a:schemeClr val="tx1"/>
                </a:solidFill>
                <a:latin typeface="Arial" charset="0"/>
                <a:ea typeface="宋体" charset="-122"/>
              </a:defRPr>
            </a:lvl8pPr>
            <a:lvl9pPr marL="3886200" indent="-228600" defTabSz="973138" eaLnBrk="0" fontAlgn="base" hangingPunct="0">
              <a:spcBef>
                <a:spcPct val="0"/>
              </a:spcBef>
              <a:spcAft>
                <a:spcPct val="0"/>
              </a:spcAft>
              <a:defRPr>
                <a:solidFill>
                  <a:schemeClr val="tx1"/>
                </a:solidFill>
                <a:latin typeface="Arial" charset="0"/>
                <a:ea typeface="宋体" charset="-122"/>
              </a:defRPr>
            </a:lvl9pPr>
          </a:lstStyle>
          <a:p>
            <a:fld id="{8DFB577A-6646-45E2-BDB9-71ED2D9D3224}" type="slidenum">
              <a:rPr lang="en-US" altLang="zh-CN">
                <a:latin typeface="Times New Roman" pitchFamily="18" charset="0"/>
              </a:rPr>
              <a:pPr/>
              <a:t>42</a:t>
            </a:fld>
            <a:endParaRPr lang="en-US" altLang="zh-CN">
              <a:latin typeface="Times New Roman" pitchFamily="18" charset="0"/>
            </a:endParaRPr>
          </a:p>
        </p:txBody>
      </p:sp>
      <p:sp>
        <p:nvSpPr>
          <p:cNvPr id="72709" name="Rectangle 2"/>
          <p:cNvSpPr>
            <a:spLocks noGrp="1" noRot="1" noChangeAspect="1" noChangeArrowheads="1" noTextEdit="1"/>
          </p:cNvSpPr>
          <p:nvPr>
            <p:ph type="sldImg"/>
          </p:nvPr>
        </p:nvSpPr>
        <p:spPr bwMode="auto">
          <a:xfrm>
            <a:off x="2857500" y="514350"/>
            <a:ext cx="3430588" cy="257175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72710" name="Rectangle 3"/>
          <p:cNvSpPr>
            <a:spLocks noGrp="1" noChangeArrowheads="1"/>
          </p:cNvSpPr>
          <p:nvPr>
            <p:ph type="body" idx="1"/>
          </p:nvPr>
        </p:nvSpPr>
        <p:spPr bwMode="auto">
          <a:xfrm>
            <a:off x="1218655" y="3257204"/>
            <a:ext cx="6706691" cy="3085941"/>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a:ea typeface="宋体" charset="-122"/>
            </a:endParaRPr>
          </a:p>
        </p:txBody>
      </p:sp>
    </p:spTree>
    <p:extLst>
      <p:ext uri="{BB962C8B-B14F-4D97-AF65-F5344CB8AC3E}">
        <p14:creationId xmlns:p14="http://schemas.microsoft.com/office/powerpoint/2010/main" val="6167823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9730" name="幻灯片图像占位符 969729"/>
          <p:cNvSpPr>
            <a:spLocks noGrp="1" noRot="1" noChangeAspect="1" noTextEdit="1"/>
          </p:cNvSpPr>
          <p:nvPr>
            <p:ph type="sldImg"/>
          </p:nvPr>
        </p:nvSpPr>
        <p:spPr>
          <a:xfrm>
            <a:off x="2857500" y="514350"/>
            <a:ext cx="3430588" cy="2571750"/>
          </a:xfrm>
          <a:ln/>
        </p:spPr>
      </p:sp>
      <p:sp>
        <p:nvSpPr>
          <p:cNvPr id="969731" name="文本占位符 969730"/>
          <p:cNvSpPr>
            <a:spLocks noGrp="1"/>
          </p:cNvSpPr>
          <p:nvPr>
            <p:ph type="body" idx="1"/>
          </p:nvPr>
        </p:nvSpPr>
        <p:spPr>
          <a:xfrm>
            <a:off x="1218655" y="3257204"/>
            <a:ext cx="6706691" cy="3085941"/>
          </a:xfrm>
          <a:ln/>
        </p:spPr>
        <p:txBody>
          <a:bodyPr lIns="97393" tIns="48696" rIns="97393" bIns="48696"/>
          <a:lstStyle/>
          <a:p>
            <a:pPr lvl="0"/>
            <a:endParaRPr dirty="0"/>
          </a:p>
        </p:txBody>
      </p:sp>
      <p:sp>
        <p:nvSpPr>
          <p:cNvPr id="2" name="页眉占位符 1"/>
          <p:cNvSpPr>
            <a:spLocks noGrp="1"/>
          </p:cNvSpPr>
          <p:nvPr>
            <p:ph type="hdr" sz="quarter" idx="2"/>
          </p:nvPr>
        </p:nvSpPr>
        <p:spPr/>
        <p:txBody>
          <a:bodyPr/>
          <a:lstStyle/>
          <a:p>
            <a:pPr lvl="0" defTabSz="973455"/>
            <a:r>
              <a:rPr lang="zh-CN" sz="1300" dirty="0"/>
              <a:t>高等代数</a:t>
            </a:r>
          </a:p>
        </p:txBody>
      </p:sp>
      <p:sp>
        <p:nvSpPr>
          <p:cNvPr id="3" name="日期占位符 2"/>
          <p:cNvSpPr>
            <a:spLocks noGrp="1"/>
          </p:cNvSpPr>
          <p:nvPr>
            <p:ph type="dt" idx="3"/>
          </p:nvPr>
        </p:nvSpPr>
        <p:spPr/>
        <p:txBody>
          <a:bodyPr/>
          <a:lstStyle/>
          <a:p>
            <a:pPr lvl="0" algn="r" defTabSz="973455"/>
            <a:fld id="{BB962C8B-B14F-4D97-AF65-F5344CB8AC3E}" type="datetime1">
              <a:rPr lang="zh-CN" altLang="en-US" sz="1300" dirty="0"/>
              <a:t>2025/2/20</a:t>
            </a:fld>
            <a:endParaRPr lang="zh-CN" altLang="en-US" sz="1300" dirty="0"/>
          </a:p>
        </p:txBody>
      </p:sp>
      <p:sp>
        <p:nvSpPr>
          <p:cNvPr id="4" name="灯片编号占位符 3"/>
          <p:cNvSpPr>
            <a:spLocks noGrp="1"/>
          </p:cNvSpPr>
          <p:nvPr>
            <p:ph type="sldNum" sz="quarter" idx="4"/>
          </p:nvPr>
        </p:nvSpPr>
        <p:spPr/>
        <p:txBody>
          <a:bodyPr/>
          <a:lstStyle/>
          <a:p>
            <a:pPr lvl="0" algn="r" defTabSz="973455"/>
            <a:fld id="{9A0DB2DC-4C9A-4742-B13C-FB6460FD3503}" type="slidenum">
              <a:rPr lang="en-US" altLang="zh-CN" sz="1300" dirty="0"/>
              <a:t>44</a:t>
            </a:fld>
            <a:endParaRPr lang="zh-CN" sz="1300" dirty="0"/>
          </a:p>
        </p:txBody>
      </p:sp>
    </p:spTree>
    <p:extLst>
      <p:ext uri="{BB962C8B-B14F-4D97-AF65-F5344CB8AC3E}">
        <p14:creationId xmlns:p14="http://schemas.microsoft.com/office/powerpoint/2010/main" val="8355683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5"/>
            <a:ext cx="7772400" cy="1470025"/>
          </a:xfrm>
        </p:spPr>
        <p:txBody>
          <a:bodyPr/>
          <a:lstStyle/>
          <a:p>
            <a:r>
              <a:rPr lang="zh-CN" altLang="en-US"/>
              <a:t>单击此处编辑母版标题样式</a:t>
            </a:r>
          </a:p>
        </p:txBody>
      </p:sp>
      <p:sp>
        <p:nvSpPr>
          <p:cNvPr id="3" name="副标题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CN" altLang="en-US"/>
              <a:t>单击此处编辑母版副标题样式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2025/2/20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2025/2/20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2025/2/20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2025/2/20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530820CF-B880-4189-942D-D702A7CBA730}" type="datetimeFigureOut">
              <a:rPr lang="zh-CN" altLang="en-US" smtClean="0"/>
              <a:t>2025/2/20</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530820CF-B880-4189-942D-D702A7CBA730}" type="datetimeFigureOut">
              <a:rPr lang="zh-CN" altLang="en-US" smtClean="0"/>
              <a:t>2025/2/20</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530820CF-B880-4189-942D-D702A7CBA730}" type="datetimeFigureOut">
              <a:rPr lang="zh-CN" altLang="en-US" smtClean="0"/>
              <a:t>2025/2/20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2025/2/20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2025/2/20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2025/2/20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8"/>
            <a:ext cx="2057400" cy="585152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457200" y="274638"/>
            <a:ext cx="6019800" cy="585152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2025/2/20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762476" y="571857"/>
            <a:ext cx="7619048" cy="5714286"/>
          </a:xfrm>
          <a:prstGeom prst="rect">
            <a:avLst/>
          </a:prstGeom>
        </p:spPr>
      </p:pic>
      <p:sp>
        <p:nvSpPr>
          <p:cNvPr id="2" name="标题占位符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30820CF-B880-4189-942D-D702A7CBA730}" type="datetimeFigureOut">
              <a:rPr lang="zh-CN" altLang="en-US" smtClean="0"/>
              <a:t>2025/2/20</a:t>
            </a:fld>
            <a:endParaRPr lang="zh-CN" altLang="en-US"/>
          </a:p>
        </p:txBody>
      </p:sp>
      <p:sp>
        <p:nvSpPr>
          <p:cNvPr id="5" name="页脚占位符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913308-F349-4B6D-A68A-DD1791B4A57B}" type="slidenum">
              <a:rPr lang="zh-CN" altLang="en-US" smtClean="0"/>
              <a:t>‹#›</a:t>
            </a:fld>
            <a:endParaRPr lang="zh-CN" altLang="en-US"/>
          </a:p>
        </p:txBody>
      </p:sp>
      <p:pic>
        <p:nvPicPr>
          <p:cNvPr id="8" name="图片 7"/>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0" y="-387424"/>
            <a:ext cx="9144000" cy="6552728"/>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5.wmf"/><Relationship Id="rId7" Type="http://schemas.openxmlformats.org/officeDocument/2006/relationships/image" Target="../media/image7.wmf"/><Relationship Id="rId2" Type="http://schemas.openxmlformats.org/officeDocument/2006/relationships/slideLayout" Target="../slideLayouts/slideLayout6.xml"/><Relationship Id="rId1" Type="http://schemas.openxmlformats.org/officeDocument/2006/relationships/vmlDrawing" Target="../drawings/vmlDrawing1.vml"/><Relationship Id="rId6" Type="http://schemas.openxmlformats.org/officeDocument/2006/relationships/image" Target="../media/image4.emf"/><Relationship Id="rId5" Type="http://schemas.openxmlformats.org/officeDocument/2006/relationships/oleObject" Target="../embeddings/oleObject1.bin"/><Relationship Id="rId4" Type="http://schemas.openxmlformats.org/officeDocument/2006/relationships/image" Target="../media/image6.wmf"/></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8.png"/><Relationship Id="rId1" Type="http://schemas.openxmlformats.org/officeDocument/2006/relationships/slideLayout" Target="../slideLayouts/slideLayout4.xml"/><Relationship Id="rId4" Type="http://schemas.openxmlformats.org/officeDocument/2006/relationships/image" Target="../media/image160.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4.xml"/><Relationship Id="rId5" Type="http://schemas.openxmlformats.org/officeDocument/2006/relationships/image" Target="../media/image19.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3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8" Type="http://schemas.openxmlformats.org/officeDocument/2006/relationships/image" Target="../media/image34.wmf"/><Relationship Id="rId3" Type="http://schemas.openxmlformats.org/officeDocument/2006/relationships/oleObject" Target="../embeddings/oleObject2.bin"/><Relationship Id="rId7" Type="http://schemas.openxmlformats.org/officeDocument/2006/relationships/oleObject" Target="../embeddings/oleObject4.bin"/><Relationship Id="rId12" Type="http://schemas.openxmlformats.org/officeDocument/2006/relationships/image" Target="../media/image36.wmf"/><Relationship Id="rId2" Type="http://schemas.openxmlformats.org/officeDocument/2006/relationships/slideLayout" Target="../slideLayouts/slideLayout2.xml"/><Relationship Id="rId1" Type="http://schemas.openxmlformats.org/officeDocument/2006/relationships/vmlDrawing" Target="../drawings/vmlDrawing2.vml"/><Relationship Id="rId6" Type="http://schemas.openxmlformats.org/officeDocument/2006/relationships/image" Target="../media/image33.wmf"/><Relationship Id="rId11" Type="http://schemas.openxmlformats.org/officeDocument/2006/relationships/oleObject" Target="../embeddings/oleObject6.bin"/><Relationship Id="rId5" Type="http://schemas.openxmlformats.org/officeDocument/2006/relationships/oleObject" Target="../embeddings/oleObject3.bin"/><Relationship Id="rId10" Type="http://schemas.openxmlformats.org/officeDocument/2006/relationships/image" Target="../media/image35.wmf"/><Relationship Id="rId4" Type="http://schemas.openxmlformats.org/officeDocument/2006/relationships/image" Target="../media/image32.wmf"/><Relationship Id="rId9" Type="http://schemas.openxmlformats.org/officeDocument/2006/relationships/oleObject" Target="../embeddings/oleObject5.bin"/></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Layout" Target="../slideLayouts/slideLayout7.xml"/><Relationship Id="rId1" Type="http://schemas.openxmlformats.org/officeDocument/2006/relationships/vmlDrawing" Target="../drawings/vmlDrawing3.vml"/><Relationship Id="rId4" Type="http://schemas.openxmlformats.org/officeDocument/2006/relationships/image" Target="../media/image38.wmf"/></Relationships>
</file>

<file path=ppt/slides/_rels/slide4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Layout" Target="../slideLayouts/slideLayout7.xml"/><Relationship Id="rId1" Type="http://schemas.openxmlformats.org/officeDocument/2006/relationships/vmlDrawing" Target="../drawings/vmlDrawing4.vml"/><Relationship Id="rId4" Type="http://schemas.openxmlformats.org/officeDocument/2006/relationships/image" Target="../media/image41.wmf"/></Relationships>
</file>

<file path=ppt/slides/_rels/slide50.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Layout" Target="../slideLayouts/slideLayout7.xml"/><Relationship Id="rId1" Type="http://schemas.openxmlformats.org/officeDocument/2006/relationships/vmlDrawing" Target="../drawings/vmlDrawing5.vml"/><Relationship Id="rId4" Type="http://schemas.openxmlformats.org/officeDocument/2006/relationships/image" Target="../media/image42.wmf"/></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灯片编号占位符 5"/>
          <p:cNvSpPr>
            <a:spLocks noGrp="1"/>
          </p:cNvSpPr>
          <p:nvPr>
            <p:ph type="sldNum" sz="quarter" idx="12"/>
          </p:nvPr>
        </p:nvSpPr>
        <p:spPr/>
        <p:txBody>
          <a:bodyPr/>
          <a:lstStyle/>
          <a:p>
            <a:pPr>
              <a:defRPr/>
            </a:pPr>
            <a:fld id="{E5E464A9-7234-46D5-84B6-8E871538E384}" type="slidenum">
              <a:rPr lang="en-US" altLang="zh-CN"/>
              <a:pPr>
                <a:defRPr/>
              </a:pPr>
              <a:t>1</a:t>
            </a:fld>
            <a:endParaRPr lang="en-US" altLang="zh-CN"/>
          </a:p>
        </p:txBody>
      </p:sp>
      <p:sp>
        <p:nvSpPr>
          <p:cNvPr id="3076" name="Rectangle 19"/>
          <p:cNvSpPr>
            <a:spLocks noGrp="1" noChangeArrowheads="1"/>
          </p:cNvSpPr>
          <p:nvPr>
            <p:ph type="title"/>
          </p:nvPr>
        </p:nvSpPr>
        <p:spPr>
          <a:xfrm>
            <a:off x="684213" y="836613"/>
            <a:ext cx="7772400" cy="1800225"/>
          </a:xfrm>
        </p:spPr>
        <p:txBody>
          <a:bodyPr/>
          <a:lstStyle/>
          <a:p>
            <a:pPr eaLnBrk="1" hangingPunct="1"/>
            <a:r>
              <a:rPr lang="zh-CN" altLang="en-US" b="1" dirty="0">
                <a:solidFill>
                  <a:srgbClr val="00B050"/>
                </a:solidFill>
              </a:rPr>
              <a:t>机器学习</a:t>
            </a:r>
            <a:br>
              <a:rPr lang="zh-CN" altLang="en-US" b="1" dirty="0">
                <a:solidFill>
                  <a:srgbClr val="00B050"/>
                </a:solidFill>
              </a:rPr>
            </a:br>
            <a:r>
              <a:rPr lang="zh-CN" altLang="en-US" sz="2000" b="1" dirty="0">
                <a:solidFill>
                  <a:srgbClr val="00B050"/>
                </a:solidFill>
              </a:rPr>
              <a:t/>
            </a:r>
            <a:br>
              <a:rPr lang="zh-CN" altLang="en-US" sz="2000" b="1" dirty="0">
                <a:solidFill>
                  <a:srgbClr val="00B050"/>
                </a:solidFill>
              </a:rPr>
            </a:br>
            <a:r>
              <a:rPr lang="en-US" altLang="zh-CN" b="1" dirty="0">
                <a:solidFill>
                  <a:srgbClr val="00B050"/>
                </a:solidFill>
              </a:rPr>
              <a:t>Machine Learning</a:t>
            </a:r>
          </a:p>
        </p:txBody>
      </p:sp>
      <p:sp>
        <p:nvSpPr>
          <p:cNvPr id="94230" name="Rectangle 22"/>
          <p:cNvSpPr>
            <a:spLocks noChangeArrowheads="1"/>
          </p:cNvSpPr>
          <p:nvPr/>
        </p:nvSpPr>
        <p:spPr bwMode="auto">
          <a:xfrm>
            <a:off x="685800" y="3211513"/>
            <a:ext cx="7772400" cy="865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342900" indent="-342900" algn="ctr" eaLnBrk="1" hangingPunct="1">
              <a:lnSpc>
                <a:spcPct val="90000"/>
              </a:lnSpc>
              <a:spcBef>
                <a:spcPct val="20000"/>
              </a:spcBef>
            </a:pPr>
            <a:r>
              <a:rPr kumimoji="1" lang="zh-CN" altLang="en-US" sz="4400" b="1" dirty="0">
                <a:latin typeface="Times New Roman" pitchFamily="18" charset="0"/>
              </a:rPr>
              <a:t>第</a:t>
            </a:r>
            <a:r>
              <a:rPr kumimoji="1" lang="en-US" altLang="zh-CN" sz="4400" b="1" dirty="0">
                <a:latin typeface="Times New Roman" pitchFamily="18" charset="0"/>
              </a:rPr>
              <a:t>1</a:t>
            </a:r>
            <a:r>
              <a:rPr kumimoji="1" lang="zh-CN" altLang="en-US" sz="4400" b="1" dirty="0">
                <a:latin typeface="Times New Roman" pitchFamily="18" charset="0"/>
              </a:rPr>
              <a:t>章 绪论</a:t>
            </a:r>
          </a:p>
        </p:txBody>
      </p:sp>
      <p:sp>
        <p:nvSpPr>
          <p:cNvPr id="3078" name="Text Box 24"/>
          <p:cNvSpPr txBox="1">
            <a:spLocks noChangeArrowheads="1"/>
          </p:cNvSpPr>
          <p:nvPr/>
        </p:nvSpPr>
        <p:spPr bwMode="auto">
          <a:xfrm>
            <a:off x="2195736" y="4797152"/>
            <a:ext cx="4895775" cy="523220"/>
          </a:xfrm>
          <a:prstGeom prst="rect">
            <a:avLst/>
          </a:prstGeom>
          <a:noFill/>
          <a:ln>
            <a:noFill/>
          </a:ln>
          <a:effectLst/>
        </p:spPr>
        <p:txBody>
          <a:bodyPr wrap="square">
            <a:spAutoFit/>
          </a:bodyPr>
          <a:lstStyle>
            <a:lvl1pPr>
              <a:defRPr>
                <a:solidFill>
                  <a:schemeClr val="tx1"/>
                </a:solidFill>
                <a:latin typeface="Arial" charset="0"/>
                <a:ea typeface="宋体" charset="-122"/>
              </a:defRPr>
            </a:lvl1pPr>
            <a:lvl2pPr marL="742950" indent="-285750">
              <a:defRPr>
                <a:solidFill>
                  <a:schemeClr val="tx1"/>
                </a:solidFill>
                <a:latin typeface="Arial" charset="0"/>
                <a:ea typeface="宋体" charset="-122"/>
              </a:defRPr>
            </a:lvl2pPr>
            <a:lvl3pPr marL="1143000" indent="-228600">
              <a:defRPr>
                <a:solidFill>
                  <a:schemeClr val="tx1"/>
                </a:solidFill>
                <a:latin typeface="Arial" charset="0"/>
                <a:ea typeface="宋体" charset="-122"/>
              </a:defRPr>
            </a:lvl3pPr>
            <a:lvl4pPr marL="1600200" indent="-228600">
              <a:defRPr>
                <a:solidFill>
                  <a:schemeClr val="tx1"/>
                </a:solidFill>
                <a:latin typeface="Arial" charset="0"/>
                <a:ea typeface="宋体" charset="-122"/>
              </a:defRPr>
            </a:lvl4pPr>
            <a:lvl5pPr marL="2057400" indent="-22860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hangingPunct="1"/>
            <a:r>
              <a:rPr kumimoji="1" lang="zh-CN" altLang="en-GB" sz="2800" b="1" dirty="0">
                <a:latin typeface="楷体_GB2312" pitchFamily="49" charset="-122"/>
                <a:ea typeface="楷体_GB2312" pitchFamily="49" charset="-122"/>
              </a:rPr>
              <a:t>重庆大学计算机学院</a:t>
            </a:r>
            <a:endParaRPr kumimoji="1" lang="en-US" altLang="zh-CN" sz="2800" b="1" dirty="0">
              <a:latin typeface="Times New Roman" pitchFamily="18" charset="0"/>
            </a:endParaRPr>
          </a:p>
        </p:txBody>
      </p:sp>
    </p:spTree>
    <p:extLst>
      <p:ext uri="{BB962C8B-B14F-4D97-AF65-F5344CB8AC3E}">
        <p14:creationId xmlns:p14="http://schemas.microsoft.com/office/powerpoint/2010/main" val="408477222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42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4230"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413792"/>
            <a:ext cx="8229600" cy="1143000"/>
          </a:xfrm>
        </p:spPr>
        <p:txBody>
          <a:bodyPr>
            <a:normAutofit/>
          </a:bodyPr>
          <a:lstStyle/>
          <a:p>
            <a:r>
              <a:rPr kumimoji="1" lang="zh-CN" altLang="en-US" b="1" dirty="0">
                <a:solidFill>
                  <a:schemeClr val="tx2"/>
                </a:solidFill>
                <a:latin typeface="Times New Roman" pitchFamily="18" charset="0"/>
                <a:ea typeface="+mn-ea"/>
                <a:cs typeface="+mn-cs"/>
              </a:rPr>
              <a:t>大 纲</a:t>
            </a:r>
          </a:p>
        </p:txBody>
      </p:sp>
      <p:sp>
        <p:nvSpPr>
          <p:cNvPr id="3" name="内容占位符 2"/>
          <p:cNvSpPr>
            <a:spLocks noGrp="1"/>
          </p:cNvSpPr>
          <p:nvPr>
            <p:ph idx="1"/>
          </p:nvPr>
        </p:nvSpPr>
        <p:spPr>
          <a:xfrm>
            <a:off x="1043608" y="1700808"/>
            <a:ext cx="6480720" cy="4432483"/>
          </a:xfrm>
        </p:spPr>
        <p:txBody>
          <a:bodyPr>
            <a:normAutofit/>
          </a:bodyPr>
          <a:lstStyle/>
          <a:p>
            <a:pPr>
              <a:lnSpc>
                <a:spcPts val="3000"/>
              </a:lnSpc>
              <a:buClr>
                <a:srgbClr val="00B050"/>
              </a:buClr>
              <a:buFont typeface="Wingdings" panose="05000000000000000000" pitchFamily="2" charset="2"/>
              <a:buChar char="p"/>
            </a:pPr>
            <a:r>
              <a:rPr lang="zh-CN" altLang="en-US" sz="2400" b="1" dirty="0">
                <a:solidFill>
                  <a:srgbClr val="0000FF"/>
                </a:solidFill>
              </a:rPr>
              <a:t>引言</a:t>
            </a:r>
            <a:endParaRPr lang="en-US" altLang="zh-CN" sz="2400" b="1" dirty="0">
              <a:solidFill>
                <a:srgbClr val="0000FF"/>
              </a:solidFill>
            </a:endParaRPr>
          </a:p>
          <a:p>
            <a:pPr>
              <a:lnSpc>
                <a:spcPts val="3000"/>
              </a:lnSpc>
              <a:buClr>
                <a:srgbClr val="00B050"/>
              </a:buClr>
              <a:buFont typeface="Wingdings" panose="05000000000000000000" pitchFamily="2" charset="2"/>
              <a:buChar char="p"/>
            </a:pPr>
            <a:r>
              <a:rPr lang="zh-CN" altLang="en-US" sz="2400" b="1" dirty="0"/>
              <a:t>基本术语</a:t>
            </a:r>
            <a:endParaRPr lang="en-US" altLang="zh-CN" sz="2400" b="1" dirty="0"/>
          </a:p>
          <a:p>
            <a:pPr>
              <a:lnSpc>
                <a:spcPts val="3000"/>
              </a:lnSpc>
              <a:buClr>
                <a:srgbClr val="00B050"/>
              </a:buClr>
              <a:buFont typeface="Wingdings" panose="05000000000000000000" pitchFamily="2" charset="2"/>
              <a:buChar char="p"/>
            </a:pPr>
            <a:r>
              <a:rPr lang="zh-CN" altLang="en-US" sz="2400" b="1" dirty="0"/>
              <a:t>假设空间</a:t>
            </a:r>
            <a:endParaRPr lang="en-US" altLang="zh-CN" sz="2400" b="1" dirty="0"/>
          </a:p>
          <a:p>
            <a:pPr>
              <a:lnSpc>
                <a:spcPts val="3000"/>
              </a:lnSpc>
              <a:buClr>
                <a:srgbClr val="00B050"/>
              </a:buClr>
              <a:buFont typeface="Wingdings" panose="05000000000000000000" pitchFamily="2" charset="2"/>
              <a:buChar char="p"/>
            </a:pPr>
            <a:r>
              <a:rPr lang="zh-CN" altLang="en-US" sz="2400" b="1" dirty="0"/>
              <a:t>归纳偏好</a:t>
            </a:r>
            <a:endParaRPr lang="en-US" altLang="zh-CN" sz="2400" b="1" dirty="0"/>
          </a:p>
          <a:p>
            <a:pPr>
              <a:lnSpc>
                <a:spcPts val="3000"/>
              </a:lnSpc>
              <a:buClr>
                <a:srgbClr val="00B050"/>
              </a:buClr>
              <a:buFont typeface="Wingdings" panose="05000000000000000000" pitchFamily="2" charset="2"/>
              <a:buChar char="p"/>
            </a:pPr>
            <a:r>
              <a:rPr lang="zh-CN" altLang="en-US" sz="2400" b="1" dirty="0"/>
              <a:t>发展历程</a:t>
            </a:r>
            <a:endParaRPr lang="en-US" altLang="zh-CN" sz="2400" b="1" dirty="0"/>
          </a:p>
          <a:p>
            <a:pPr>
              <a:lnSpc>
                <a:spcPts val="3000"/>
              </a:lnSpc>
              <a:buClr>
                <a:srgbClr val="00B050"/>
              </a:buClr>
              <a:buFont typeface="Wingdings" panose="05000000000000000000" pitchFamily="2" charset="2"/>
              <a:buChar char="p"/>
            </a:pPr>
            <a:r>
              <a:rPr lang="zh-CN" altLang="en-US" sz="2400" b="1" dirty="0"/>
              <a:t>应用现状</a:t>
            </a:r>
            <a:endParaRPr lang="en-US" altLang="zh-CN" sz="2400" b="1" dirty="0"/>
          </a:p>
          <a:p>
            <a:pPr>
              <a:lnSpc>
                <a:spcPts val="3000"/>
              </a:lnSpc>
              <a:buClr>
                <a:srgbClr val="00B050"/>
              </a:buClr>
              <a:buFont typeface="Wingdings" panose="05000000000000000000" pitchFamily="2" charset="2"/>
              <a:buChar char="p"/>
            </a:pPr>
            <a:r>
              <a:rPr lang="zh-CN" altLang="en-US" sz="2400" b="1" dirty="0"/>
              <a:t>阅读材料</a:t>
            </a:r>
            <a:endParaRPr lang="en-US" altLang="zh-CN" sz="2400" b="1" dirty="0"/>
          </a:p>
        </p:txBody>
      </p:sp>
    </p:spTree>
    <p:extLst>
      <p:ext uri="{BB962C8B-B14F-4D97-AF65-F5344CB8AC3E}">
        <p14:creationId xmlns:p14="http://schemas.microsoft.com/office/powerpoint/2010/main" val="207978060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灯片编号占位符 5"/>
          <p:cNvSpPr>
            <a:spLocks noGrp="1"/>
          </p:cNvSpPr>
          <p:nvPr>
            <p:ph type="sldNum" sz="quarter" idx="4294967295"/>
          </p:nvPr>
        </p:nvSpPr>
        <p:spPr/>
        <p:txBody>
          <a:bodyPr/>
          <a:lstStyle/>
          <a:p>
            <a:pPr>
              <a:defRPr/>
            </a:pPr>
            <a:fld id="{520941F8-BE11-4E99-B436-2915EBE92F10}" type="slidenum">
              <a:rPr lang="en-US" altLang="zh-CN"/>
              <a:pPr>
                <a:defRPr/>
              </a:pPr>
              <a:t>3</a:t>
            </a:fld>
            <a:endParaRPr lang="en-US" altLang="zh-CN"/>
          </a:p>
        </p:txBody>
      </p:sp>
      <p:sp>
        <p:nvSpPr>
          <p:cNvPr id="4099" name="Rectangle 2"/>
          <p:cNvSpPr>
            <a:spLocks noChangeArrowheads="1"/>
          </p:cNvSpPr>
          <p:nvPr/>
        </p:nvSpPr>
        <p:spPr bwMode="auto">
          <a:xfrm>
            <a:off x="685800" y="609600"/>
            <a:ext cx="77724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algn="ctr" eaLnBrk="1" hangingPunct="1"/>
            <a:r>
              <a:rPr kumimoji="1" lang="en-US" altLang="zh-CN" sz="4400" dirty="0">
                <a:solidFill>
                  <a:schemeClr val="tx2"/>
                </a:solidFill>
                <a:latin typeface="Times New Roman" pitchFamily="18" charset="0"/>
              </a:rPr>
              <a:t>Outlook</a:t>
            </a:r>
          </a:p>
        </p:txBody>
      </p:sp>
      <p:sp>
        <p:nvSpPr>
          <p:cNvPr id="899075" name="Rectangle 3"/>
          <p:cNvSpPr>
            <a:spLocks noChangeArrowheads="1"/>
          </p:cNvSpPr>
          <p:nvPr/>
        </p:nvSpPr>
        <p:spPr bwMode="auto">
          <a:xfrm>
            <a:off x="710812" y="1484784"/>
            <a:ext cx="8037652" cy="43926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342900" indent="-342900" eaLnBrk="1" hangingPunct="1">
              <a:lnSpc>
                <a:spcPct val="90000"/>
              </a:lnSpc>
              <a:spcBef>
                <a:spcPct val="20000"/>
              </a:spcBef>
              <a:buFontTx/>
              <a:buChar char="•"/>
            </a:pPr>
            <a:r>
              <a:rPr kumimoji="1" lang="zh-CN" altLang="en-US" sz="2800" b="1" dirty="0">
                <a:latin typeface="Times New Roman" pitchFamily="18" charset="0"/>
              </a:rPr>
              <a:t>什么是机器学习</a:t>
            </a:r>
          </a:p>
          <a:p>
            <a:pPr marL="342900" indent="-342900" eaLnBrk="1" hangingPunct="1">
              <a:lnSpc>
                <a:spcPct val="90000"/>
              </a:lnSpc>
              <a:spcBef>
                <a:spcPct val="20000"/>
              </a:spcBef>
            </a:pPr>
            <a:r>
              <a:rPr kumimoji="1" lang="zh-CN" altLang="en-US" sz="2800" b="1" dirty="0">
                <a:latin typeface="Times New Roman" pitchFamily="18" charset="0"/>
              </a:rPr>
              <a:t>	</a:t>
            </a:r>
            <a:r>
              <a:rPr kumimoji="1" lang="zh-CN" altLang="en-US" b="1" dirty="0"/>
              <a:t>研究原则</a:t>
            </a:r>
            <a:r>
              <a:rPr kumimoji="1" lang="en-US" altLang="zh-CN" b="1" dirty="0"/>
              <a:t>-</a:t>
            </a:r>
            <a:r>
              <a:rPr kumimoji="1" lang="zh-CN" altLang="en-US" b="1" dirty="0"/>
              <a:t>方法</a:t>
            </a:r>
            <a:r>
              <a:rPr kumimoji="1" lang="en-US" altLang="zh-CN" b="1" dirty="0"/>
              <a:t>-</a:t>
            </a:r>
            <a:r>
              <a:rPr kumimoji="1" lang="zh-CN" altLang="en-US" b="1" dirty="0"/>
              <a:t>算法：利用经验积累，学习预测自动提高解决问题的性能</a:t>
            </a:r>
          </a:p>
          <a:p>
            <a:pPr marL="342900" indent="-342900" eaLnBrk="1" hangingPunct="1">
              <a:lnSpc>
                <a:spcPct val="90000"/>
              </a:lnSpc>
              <a:spcBef>
                <a:spcPts val="1000"/>
              </a:spcBef>
              <a:buFontTx/>
              <a:buChar char="•"/>
            </a:pPr>
            <a:r>
              <a:rPr kumimoji="1" lang="zh-CN" altLang="en-US" sz="2800" b="1" dirty="0">
                <a:latin typeface="Times New Roman" pitchFamily="18" charset="0"/>
              </a:rPr>
              <a:t>学习问题的标准描述</a:t>
            </a:r>
          </a:p>
          <a:p>
            <a:pPr marL="342900" indent="-342900" eaLnBrk="1" hangingPunct="1">
              <a:lnSpc>
                <a:spcPct val="90000"/>
              </a:lnSpc>
              <a:spcBef>
                <a:spcPct val="20000"/>
              </a:spcBef>
            </a:pPr>
            <a:r>
              <a:rPr kumimoji="1" lang="zh-CN" altLang="en-US" b="1" dirty="0"/>
              <a:t>	三个特征：任务</a:t>
            </a:r>
            <a:r>
              <a:rPr kumimoji="1" lang="en-US" altLang="zh-CN" b="1" dirty="0"/>
              <a:t>T</a:t>
            </a:r>
            <a:r>
              <a:rPr kumimoji="1" lang="zh-CN" altLang="en-US" b="1" dirty="0"/>
              <a:t>、性能标准</a:t>
            </a:r>
            <a:r>
              <a:rPr kumimoji="1" lang="en-US" altLang="zh-CN" b="1" dirty="0"/>
              <a:t>P</a:t>
            </a:r>
            <a:r>
              <a:rPr kumimoji="1" lang="zh-CN" altLang="en-US" b="1" dirty="0"/>
              <a:t>、训练经验</a:t>
            </a:r>
            <a:r>
              <a:rPr kumimoji="1" lang="en-US" altLang="zh-CN" b="1" dirty="0"/>
              <a:t>E </a:t>
            </a:r>
          </a:p>
          <a:p>
            <a:pPr marL="342900" indent="-342900" eaLnBrk="1" hangingPunct="1">
              <a:lnSpc>
                <a:spcPct val="90000"/>
              </a:lnSpc>
              <a:spcBef>
                <a:spcPts val="1000"/>
              </a:spcBef>
              <a:buFontTx/>
              <a:buChar char="•"/>
            </a:pPr>
            <a:r>
              <a:rPr kumimoji="1" lang="zh-CN" altLang="en-US" sz="2800" b="1" dirty="0">
                <a:latin typeface="Times New Roman" pitchFamily="18" charset="0"/>
              </a:rPr>
              <a:t>设计一个学习系统</a:t>
            </a:r>
          </a:p>
          <a:p>
            <a:pPr marL="342900" indent="-342900" eaLnBrk="1" hangingPunct="1">
              <a:lnSpc>
                <a:spcPct val="90000"/>
              </a:lnSpc>
              <a:spcBef>
                <a:spcPct val="20000"/>
              </a:spcBef>
            </a:pPr>
            <a:r>
              <a:rPr kumimoji="1" lang="zh-CN" altLang="en-US" b="1" dirty="0"/>
              <a:t>	四个通用模块：执行系统、鉴定器、泛化器、实验生成器</a:t>
            </a:r>
          </a:p>
          <a:p>
            <a:pPr marL="342900" indent="-342900" eaLnBrk="1" hangingPunct="1">
              <a:lnSpc>
                <a:spcPct val="90000"/>
              </a:lnSpc>
              <a:spcBef>
                <a:spcPts val="1000"/>
              </a:spcBef>
              <a:buFontTx/>
              <a:buChar char="•"/>
            </a:pPr>
            <a:r>
              <a:rPr kumimoji="1" lang="zh-CN" altLang="en-US" sz="2800" b="1" dirty="0">
                <a:latin typeface="Times New Roman" pitchFamily="18" charset="0"/>
              </a:rPr>
              <a:t>机器学习的一个观点</a:t>
            </a:r>
          </a:p>
          <a:p>
            <a:pPr marL="342900" indent="-342900" eaLnBrk="1" hangingPunct="1">
              <a:lnSpc>
                <a:spcPct val="90000"/>
              </a:lnSpc>
              <a:spcBef>
                <a:spcPct val="20000"/>
              </a:spcBef>
            </a:pPr>
            <a:r>
              <a:rPr kumimoji="1" lang="zh-CN" altLang="en-US" b="1" dirty="0"/>
              <a:t>	机器学习问题	</a:t>
            </a:r>
            <a:r>
              <a:rPr kumimoji="1" lang="zh-CN" altLang="en-US" b="1" dirty="0">
                <a:sym typeface="Symbol" pitchFamily="18" charset="2"/>
              </a:rPr>
              <a:t> </a:t>
            </a:r>
            <a:r>
              <a:rPr kumimoji="1" lang="zh-CN" altLang="en-US" b="1" dirty="0"/>
              <a:t>搜索问题（搜索策略</a:t>
            </a:r>
            <a:r>
              <a:rPr kumimoji="1" lang="en-US" altLang="zh-CN" b="1" dirty="0"/>
              <a:t>+</a:t>
            </a:r>
            <a:r>
              <a:rPr kumimoji="1" lang="zh-CN" altLang="en-US" b="1" dirty="0"/>
              <a:t>搜索空间的结构）</a:t>
            </a:r>
          </a:p>
          <a:p>
            <a:pPr marL="342900" indent="-342900" eaLnBrk="1" hangingPunct="1">
              <a:lnSpc>
                <a:spcPct val="90000"/>
              </a:lnSpc>
              <a:spcBef>
                <a:spcPts val="1000"/>
              </a:spcBef>
              <a:buFontTx/>
              <a:buChar char="•"/>
            </a:pPr>
            <a:r>
              <a:rPr kumimoji="1" lang="zh-CN" altLang="en-US" sz="2800" b="1" dirty="0">
                <a:latin typeface="Times New Roman" pitchFamily="18" charset="0"/>
              </a:rPr>
              <a:t>机器学习问题</a:t>
            </a:r>
          </a:p>
          <a:p>
            <a:pPr marL="342900" indent="-342900" eaLnBrk="1" hangingPunct="1">
              <a:lnSpc>
                <a:spcPct val="90000"/>
              </a:lnSpc>
              <a:spcBef>
                <a:spcPct val="20000"/>
              </a:spcBef>
            </a:pPr>
            <a:r>
              <a:rPr kumimoji="1" lang="zh-CN" altLang="en-US" b="1" dirty="0"/>
              <a:t>	算法性能、训练数据充足性、先验知识正确性、训练经验选择策略、</a:t>
            </a:r>
          </a:p>
          <a:p>
            <a:pPr marL="342900" indent="-342900" eaLnBrk="1" hangingPunct="1">
              <a:lnSpc>
                <a:spcPct val="90000"/>
              </a:lnSpc>
              <a:spcBef>
                <a:spcPct val="20000"/>
              </a:spcBef>
            </a:pPr>
            <a:r>
              <a:rPr kumimoji="1" lang="zh-CN" altLang="en-US" b="1" dirty="0"/>
              <a:t>	目标假设类型选择等</a:t>
            </a:r>
          </a:p>
        </p:txBody>
      </p:sp>
    </p:spTree>
    <p:extLst>
      <p:ext uri="{BB962C8B-B14F-4D97-AF65-F5344CB8AC3E}">
        <p14:creationId xmlns:p14="http://schemas.microsoft.com/office/powerpoint/2010/main" val="414234802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990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9075"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2450" name="矩形 872449"/>
          <p:cNvSpPr/>
          <p:nvPr/>
        </p:nvSpPr>
        <p:spPr>
          <a:xfrm>
            <a:off x="685800" y="609600"/>
            <a:ext cx="7772400" cy="1143000"/>
          </a:xfrm>
          <a:prstGeom prst="rect">
            <a:avLst/>
          </a:prstGeom>
          <a:noFill/>
          <a:ln w="9525">
            <a:noFill/>
          </a:ln>
        </p:spPr>
        <p:txBody>
          <a:bodyPr anchor="ctr"/>
          <a:lstStyle/>
          <a:p>
            <a:pPr lvl="0" algn="ctr" eaLnBrk="1" hangingPunct="1"/>
            <a:r>
              <a:rPr lang="zh-CN" altLang="en-US" sz="4400" b="1" dirty="0">
                <a:solidFill>
                  <a:schemeClr val="tx2"/>
                </a:solidFill>
                <a:latin typeface="Times New Roman" panose="02020603050405020304" pitchFamily="18" charset="0"/>
                <a:ea typeface="宋体" panose="02010600030101010101" pitchFamily="2" charset="-122"/>
              </a:rPr>
              <a:t>什么是机器学习</a:t>
            </a:r>
          </a:p>
        </p:txBody>
      </p:sp>
      <p:sp>
        <p:nvSpPr>
          <p:cNvPr id="872451" name="矩形 872450"/>
          <p:cNvSpPr/>
          <p:nvPr/>
        </p:nvSpPr>
        <p:spPr>
          <a:xfrm>
            <a:off x="685800" y="1752600"/>
            <a:ext cx="7772400" cy="4544144"/>
          </a:xfrm>
          <a:prstGeom prst="rect">
            <a:avLst/>
          </a:prstGeom>
          <a:noFill/>
          <a:ln w="9525">
            <a:noFill/>
          </a:ln>
        </p:spPr>
        <p:txBody>
          <a:bodyPr/>
          <a:lstStyle/>
          <a:p>
            <a:pPr marL="457200" lvl="0" indent="-457200" eaLnBrk="1" hangingPunct="1">
              <a:lnSpc>
                <a:spcPct val="90000"/>
              </a:lnSpc>
              <a:spcBef>
                <a:spcPct val="20000"/>
              </a:spcBef>
              <a:buChar char="•"/>
            </a:pPr>
            <a:r>
              <a:rPr lang="zh-CN" altLang="en-US" sz="2800" b="1" dirty="0">
                <a:latin typeface="Times New Roman" panose="02020603050405020304" pitchFamily="18" charset="0"/>
                <a:ea typeface="宋体" panose="02010600030101010101" pitchFamily="2" charset="-122"/>
              </a:rPr>
              <a:t>什么是机器学习？</a:t>
            </a:r>
            <a:endParaRPr lang="en-US" altLang="zh-CN" sz="2800" b="1" dirty="0">
              <a:latin typeface="Times New Roman" panose="02020603050405020304" pitchFamily="18" charset="0"/>
              <a:ea typeface="宋体" panose="02010600030101010101" pitchFamily="2" charset="-122"/>
            </a:endParaRPr>
          </a:p>
          <a:p>
            <a:pPr marL="914400" lvl="1" indent="-457200" eaLnBrk="1" hangingPunct="1">
              <a:lnSpc>
                <a:spcPct val="90000"/>
              </a:lnSpc>
              <a:spcBef>
                <a:spcPct val="20000"/>
              </a:spcBef>
              <a:buClrTx/>
              <a:buFont typeface="Tahoma" panose="020B0604030504040204" pitchFamily="34" charset="0"/>
              <a:buChar char="−"/>
            </a:pPr>
            <a:r>
              <a:rPr lang="zh-CN" altLang="en-US" sz="2400" b="1" dirty="0">
                <a:latin typeface="Arial" panose="020B0604020202020204" pitchFamily="34" charset="0"/>
                <a:ea typeface="宋体" panose="02010600030101010101" pitchFamily="2" charset="-122"/>
              </a:rPr>
              <a:t>经典定义：利用经验改善系统自身的性能</a:t>
            </a:r>
          </a:p>
          <a:p>
            <a:pPr marL="914400" lvl="1" indent="-457200" eaLnBrk="1" hangingPunct="1">
              <a:lnSpc>
                <a:spcPct val="90000"/>
              </a:lnSpc>
              <a:spcBef>
                <a:spcPct val="20000"/>
              </a:spcBef>
              <a:buClrTx/>
              <a:buFont typeface="Tahoma" panose="020B0604030504040204" pitchFamily="34" charset="0"/>
              <a:buChar char="−"/>
            </a:pPr>
            <a:r>
              <a:rPr lang="zh-CN" altLang="en-US" sz="2400" b="1" dirty="0">
                <a:latin typeface="Times New Roman" panose="02020603050405020304" pitchFamily="18" charset="0"/>
                <a:ea typeface="宋体" panose="02010600030101010101" pitchFamily="2" charset="-122"/>
              </a:rPr>
              <a:t>计算机程序（算法）如何随着经验积累自动提高性能、系统自我改进的过程。</a:t>
            </a:r>
            <a:endParaRPr lang="en-US" altLang="zh-CN" sz="2400" b="1" dirty="0">
              <a:latin typeface="Times New Roman" panose="02020603050405020304" pitchFamily="18" charset="0"/>
              <a:ea typeface="宋体" panose="02010600030101010101" pitchFamily="2" charset="-122"/>
            </a:endParaRPr>
          </a:p>
          <a:p>
            <a:pPr marL="914400" lvl="1" indent="-457200">
              <a:lnSpc>
                <a:spcPct val="90000"/>
              </a:lnSpc>
              <a:spcBef>
                <a:spcPct val="20000"/>
              </a:spcBef>
              <a:buFont typeface="Tahoma" panose="020B0604030504040204" pitchFamily="34" charset="0"/>
              <a:buChar char="−"/>
            </a:pPr>
            <a:r>
              <a:rPr lang="en-US" altLang="zh-CN" sz="2400" b="1" dirty="0">
                <a:latin typeface="Times New Roman" panose="02020603050405020304" pitchFamily="18" charset="0"/>
                <a:ea typeface="宋体" panose="02010600030101010101" pitchFamily="2" charset="-122"/>
              </a:rPr>
              <a:t>Study of principles, methods, and algorithms that</a:t>
            </a:r>
          </a:p>
          <a:p>
            <a:pPr marL="1371600" lvl="2" indent="-457200">
              <a:lnSpc>
                <a:spcPct val="90000"/>
              </a:lnSpc>
              <a:spcBef>
                <a:spcPct val="20000"/>
              </a:spcBef>
              <a:buFont typeface="Wingdings" panose="05000000000000000000" pitchFamily="2" charset="2"/>
              <a:buChar char="©"/>
            </a:pPr>
            <a:r>
              <a:rPr lang="en-US" altLang="zh-CN" sz="2400" b="1" dirty="0">
                <a:latin typeface="Times New Roman" panose="02020603050405020304" pitchFamily="18" charset="0"/>
                <a:ea typeface="宋体" panose="02010600030101010101" pitchFamily="2" charset="-122"/>
              </a:rPr>
              <a:t>improve their performance</a:t>
            </a:r>
          </a:p>
          <a:p>
            <a:pPr marL="1371600" lvl="2" indent="-457200">
              <a:lnSpc>
                <a:spcPct val="90000"/>
              </a:lnSpc>
              <a:spcBef>
                <a:spcPct val="20000"/>
              </a:spcBef>
              <a:buFont typeface="Wingdings" panose="05000000000000000000" pitchFamily="2" charset="2"/>
              <a:buChar char="©"/>
            </a:pPr>
            <a:r>
              <a:rPr lang="en-US" altLang="zh-CN" sz="2400" b="1" dirty="0">
                <a:latin typeface="Times New Roman" panose="02020603050405020304" pitchFamily="18" charset="0"/>
                <a:ea typeface="宋体" panose="02010600030101010101" pitchFamily="2" charset="-122"/>
              </a:rPr>
              <a:t>at some task</a:t>
            </a:r>
          </a:p>
          <a:p>
            <a:pPr marL="1371600" lvl="2" indent="-457200">
              <a:lnSpc>
                <a:spcPct val="90000"/>
              </a:lnSpc>
              <a:spcBef>
                <a:spcPct val="20000"/>
              </a:spcBef>
              <a:buFont typeface="Wingdings" panose="05000000000000000000" pitchFamily="2" charset="2"/>
              <a:buChar char="©"/>
            </a:pPr>
            <a:r>
              <a:rPr lang="en-US" altLang="zh-CN" sz="2400" b="1" dirty="0">
                <a:latin typeface="Times New Roman" panose="02020603050405020304" pitchFamily="18" charset="0"/>
                <a:ea typeface="宋体" panose="02010600030101010101" pitchFamily="2" charset="-122"/>
              </a:rPr>
              <a:t>with experience</a:t>
            </a:r>
          </a:p>
          <a:p>
            <a:pPr marL="914400" lvl="1" indent="-457200">
              <a:lnSpc>
                <a:spcPct val="90000"/>
              </a:lnSpc>
              <a:spcBef>
                <a:spcPct val="20000"/>
              </a:spcBef>
              <a:buFont typeface="Tahoma" panose="020B0604030504040204" pitchFamily="34" charset="0"/>
              <a:buChar char="−"/>
            </a:pPr>
            <a:r>
              <a:rPr lang="zh-CN" altLang="en-US" sz="2400" b="1" dirty="0">
                <a:latin typeface="Times New Roman" panose="02020603050405020304" pitchFamily="18" charset="0"/>
                <a:ea typeface="宋体" panose="02010600030101010101" pitchFamily="2" charset="-122"/>
              </a:rPr>
              <a:t>任务</a:t>
            </a:r>
            <a:endParaRPr lang="en-US" altLang="zh-CN" sz="2400" b="1" dirty="0">
              <a:latin typeface="Times New Roman" panose="02020603050405020304" pitchFamily="18" charset="0"/>
              <a:ea typeface="宋体" panose="02010600030101010101" pitchFamily="2" charset="-122"/>
            </a:endParaRPr>
          </a:p>
          <a:p>
            <a:pPr marL="1371600" lvl="2" indent="-457200">
              <a:lnSpc>
                <a:spcPct val="90000"/>
              </a:lnSpc>
              <a:spcBef>
                <a:spcPct val="20000"/>
              </a:spcBef>
              <a:buFont typeface="Wingdings" panose="05000000000000000000" pitchFamily="2" charset="2"/>
              <a:buChar char="©"/>
            </a:pPr>
            <a:r>
              <a:rPr lang="zh-CN" altLang="en-US" sz="2400" b="1" dirty="0"/>
              <a:t>通过计算手段，利用经验改善系统性能</a:t>
            </a:r>
            <a:endParaRPr lang="en-US" altLang="zh-CN" sz="2400" b="1" dirty="0"/>
          </a:p>
          <a:p>
            <a:pPr marL="1371600" lvl="2" indent="-457200">
              <a:lnSpc>
                <a:spcPct val="90000"/>
              </a:lnSpc>
              <a:spcBef>
                <a:spcPct val="20000"/>
              </a:spcBef>
              <a:buFont typeface="Wingdings" panose="05000000000000000000" pitchFamily="2" charset="2"/>
              <a:buChar char="©"/>
            </a:pPr>
            <a:r>
              <a:rPr lang="zh-CN" altLang="en-US" sz="2400" b="1" dirty="0"/>
              <a:t>从数据中产生“模型”，对新情况给出判断</a:t>
            </a:r>
          </a:p>
          <a:p>
            <a:pPr marL="1371600" lvl="2" indent="-457200">
              <a:lnSpc>
                <a:spcPct val="90000"/>
              </a:lnSpc>
              <a:spcBef>
                <a:spcPct val="20000"/>
              </a:spcBef>
              <a:buFont typeface="Wingdings" panose="05000000000000000000" pitchFamily="2" charset="2"/>
              <a:buChar char="©"/>
            </a:pPr>
            <a:endParaRPr lang="en-US" altLang="zh-CN" sz="2400" b="1" dirty="0">
              <a:latin typeface="Times New Roman" panose="02020603050405020304" pitchFamily="18" charset="0"/>
              <a:ea typeface="宋体" panose="02010600030101010101" pitchFamily="2" charset="-122"/>
            </a:endParaRPr>
          </a:p>
        </p:txBody>
      </p:sp>
      <p:sp>
        <p:nvSpPr>
          <p:cNvPr id="2" name="灯片编号占位符 1"/>
          <p:cNvSpPr>
            <a:spLocks noGrp="1"/>
          </p:cNvSpPr>
          <p:nvPr>
            <p:ph type="sldNum" sz="quarter" idx="12"/>
          </p:nvPr>
        </p:nvSpPr>
        <p:spPr/>
        <p:txBody>
          <a:bodyPr/>
          <a:lstStyle/>
          <a:p>
            <a:pPr lvl="0"/>
            <a:fld id="{9A0DB2DC-4C9A-4742-B13C-FB6460FD3503}" type="slidenum">
              <a:rPr lang="en-US" altLang="zh-CN" dirty="0"/>
              <a:t>4</a:t>
            </a:fld>
            <a:endParaRPr lang="zh-CN"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724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245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灯片编号占位符 5"/>
          <p:cNvSpPr>
            <a:spLocks noGrp="1"/>
          </p:cNvSpPr>
          <p:nvPr>
            <p:ph type="sldNum" sz="quarter" idx="12"/>
          </p:nvPr>
        </p:nvSpPr>
        <p:spPr/>
        <p:txBody>
          <a:bodyPr/>
          <a:lstStyle/>
          <a:p>
            <a:pPr>
              <a:defRPr/>
            </a:pPr>
            <a:fld id="{9DB29FC6-D6CE-438D-BBD3-50A30E550844}" type="slidenum">
              <a:rPr lang="en-US" altLang="zh-CN"/>
              <a:pPr>
                <a:defRPr/>
              </a:pPr>
              <a:t>5</a:t>
            </a:fld>
            <a:endParaRPr lang="en-US" altLang="zh-CN"/>
          </a:p>
        </p:txBody>
      </p:sp>
      <p:sp>
        <p:nvSpPr>
          <p:cNvPr id="13315" name="Rectangle 2"/>
          <p:cNvSpPr>
            <a:spLocks noGrp="1" noChangeArrowheads="1"/>
          </p:cNvSpPr>
          <p:nvPr>
            <p:ph type="title"/>
          </p:nvPr>
        </p:nvSpPr>
        <p:spPr/>
        <p:txBody>
          <a:bodyPr/>
          <a:lstStyle/>
          <a:p>
            <a:pPr eaLnBrk="1" hangingPunct="1"/>
            <a:r>
              <a:rPr lang="zh-CN" altLang="en-US" b="1" dirty="0"/>
              <a:t>学习问题的标准描述</a:t>
            </a:r>
          </a:p>
        </p:txBody>
      </p:sp>
      <p:sp>
        <p:nvSpPr>
          <p:cNvPr id="875523" name="Rectangle 3"/>
          <p:cNvSpPr>
            <a:spLocks noGrp="1" noChangeArrowheads="1"/>
          </p:cNvSpPr>
          <p:nvPr>
            <p:ph type="body" idx="1"/>
          </p:nvPr>
        </p:nvSpPr>
        <p:spPr/>
        <p:txBody>
          <a:bodyPr/>
          <a:lstStyle/>
          <a:p>
            <a:pPr eaLnBrk="1" hangingPunct="1"/>
            <a:r>
              <a:rPr lang="zh-CN" altLang="en-US" b="1" dirty="0"/>
              <a:t>学习的定义</a:t>
            </a:r>
          </a:p>
          <a:p>
            <a:pPr lvl="1" eaLnBrk="1" hangingPunct="1"/>
            <a:r>
              <a:rPr lang="zh-CN" altLang="en-US" b="1" dirty="0"/>
              <a:t>学习：如果一个针对任务</a:t>
            </a:r>
            <a:r>
              <a:rPr lang="en-US" altLang="zh-CN" b="1" dirty="0"/>
              <a:t>T</a:t>
            </a:r>
            <a:r>
              <a:rPr lang="zh-CN" altLang="en-US" b="1" dirty="0"/>
              <a:t>的计算机程序，用</a:t>
            </a:r>
            <a:r>
              <a:rPr lang="en-US" altLang="zh-CN" b="1" dirty="0"/>
              <a:t>P</a:t>
            </a:r>
            <a:r>
              <a:rPr lang="zh-CN" altLang="en-US" b="1" dirty="0"/>
              <a:t>衡量的性能根据经验</a:t>
            </a:r>
            <a:r>
              <a:rPr lang="en-US" altLang="zh-CN" b="1" dirty="0"/>
              <a:t>E</a:t>
            </a:r>
            <a:r>
              <a:rPr lang="zh-CN" altLang="en-US" b="1" dirty="0"/>
              <a:t>而自我完善，则称此计算机程序在从经验</a:t>
            </a:r>
            <a:r>
              <a:rPr lang="en-US" altLang="zh-CN" b="1" dirty="0"/>
              <a:t>E</a:t>
            </a:r>
            <a:r>
              <a:rPr lang="zh-CN" altLang="en-US" b="1" dirty="0"/>
              <a:t>中学习。</a:t>
            </a:r>
          </a:p>
          <a:p>
            <a:pPr lvl="1" eaLnBrk="1" hangingPunct="1"/>
            <a:r>
              <a:rPr lang="zh-CN" altLang="en-US" b="1" dirty="0"/>
              <a:t>三个特征：</a:t>
            </a:r>
          </a:p>
          <a:p>
            <a:pPr lvl="2" eaLnBrk="1" hangingPunct="1"/>
            <a:r>
              <a:rPr lang="zh-CN" altLang="en-US" b="1" dirty="0"/>
              <a:t>某类任务</a:t>
            </a:r>
            <a:r>
              <a:rPr lang="en-US" altLang="zh-CN" b="1" dirty="0"/>
              <a:t>T</a:t>
            </a:r>
            <a:r>
              <a:rPr lang="zh-CN" altLang="en-US" b="1" dirty="0"/>
              <a:t>：</a:t>
            </a:r>
            <a:r>
              <a:rPr lang="en-US" altLang="zh-CN" b="1" dirty="0"/>
              <a:t>Task</a:t>
            </a:r>
          </a:p>
          <a:p>
            <a:pPr lvl="2" eaLnBrk="1" hangingPunct="1"/>
            <a:r>
              <a:rPr lang="zh-CN" altLang="en-US" b="1" dirty="0"/>
              <a:t>性能</a:t>
            </a:r>
            <a:r>
              <a:rPr lang="en-US" altLang="zh-CN" b="1" dirty="0"/>
              <a:t>P</a:t>
            </a:r>
            <a:r>
              <a:rPr lang="zh-CN" altLang="en-US" b="1" dirty="0"/>
              <a:t>：</a:t>
            </a:r>
            <a:r>
              <a:rPr lang="en-US" altLang="zh-CN" b="1" dirty="0"/>
              <a:t>Performance</a:t>
            </a:r>
          </a:p>
          <a:p>
            <a:pPr lvl="2" eaLnBrk="1" hangingPunct="1"/>
            <a:r>
              <a:rPr lang="zh-CN" altLang="en-US" b="1" dirty="0"/>
              <a:t>经验</a:t>
            </a:r>
            <a:r>
              <a:rPr lang="en-US" altLang="zh-CN" b="1" dirty="0"/>
              <a:t>E</a:t>
            </a:r>
            <a:r>
              <a:rPr lang="zh-CN" altLang="en-US" b="1" dirty="0"/>
              <a:t>：</a:t>
            </a:r>
            <a:r>
              <a:rPr lang="en-US" altLang="zh-CN" b="1" dirty="0"/>
              <a:t>Experience or Examples</a:t>
            </a:r>
          </a:p>
        </p:txBody>
      </p:sp>
    </p:spTree>
    <p:extLst>
      <p:ext uri="{BB962C8B-B14F-4D97-AF65-F5344CB8AC3E}">
        <p14:creationId xmlns:p14="http://schemas.microsoft.com/office/powerpoint/2010/main" val="189392659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7552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7552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7552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7552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7552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7552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552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灯片编号占位符 5"/>
          <p:cNvSpPr>
            <a:spLocks noGrp="1"/>
          </p:cNvSpPr>
          <p:nvPr>
            <p:ph type="sldNum" sz="quarter" idx="12"/>
          </p:nvPr>
        </p:nvSpPr>
        <p:spPr/>
        <p:txBody>
          <a:bodyPr/>
          <a:lstStyle/>
          <a:p>
            <a:pPr>
              <a:defRPr/>
            </a:pPr>
            <a:fld id="{A6120D62-6DB5-4617-A7F9-818F973B270B}" type="slidenum">
              <a:rPr lang="en-US" altLang="zh-CN"/>
              <a:pPr>
                <a:defRPr/>
              </a:pPr>
              <a:t>6</a:t>
            </a:fld>
            <a:endParaRPr lang="en-US" altLang="zh-CN"/>
          </a:p>
        </p:txBody>
      </p:sp>
      <p:sp>
        <p:nvSpPr>
          <p:cNvPr id="14339" name="Rectangle 2"/>
          <p:cNvSpPr>
            <a:spLocks noGrp="1" noChangeArrowheads="1"/>
          </p:cNvSpPr>
          <p:nvPr>
            <p:ph type="title"/>
          </p:nvPr>
        </p:nvSpPr>
        <p:spPr/>
        <p:txBody>
          <a:bodyPr/>
          <a:lstStyle/>
          <a:p>
            <a:pPr eaLnBrk="1" hangingPunct="1"/>
            <a:r>
              <a:rPr lang="zh-CN" altLang="en-US" b="1" dirty="0"/>
              <a:t>学习问题的定义</a:t>
            </a:r>
          </a:p>
        </p:txBody>
      </p:sp>
      <p:sp>
        <p:nvSpPr>
          <p:cNvPr id="905219" name="Rectangle 3"/>
          <p:cNvSpPr>
            <a:spLocks noGrp="1" noChangeArrowheads="1"/>
          </p:cNvSpPr>
          <p:nvPr>
            <p:ph type="body" idx="1"/>
          </p:nvPr>
        </p:nvSpPr>
        <p:spPr/>
        <p:txBody>
          <a:bodyPr/>
          <a:lstStyle/>
          <a:p>
            <a:pPr eaLnBrk="1" hangingPunct="1">
              <a:lnSpc>
                <a:spcPct val="90000"/>
              </a:lnSpc>
            </a:pPr>
            <a:r>
              <a:rPr lang="zh-CN" altLang="en-US" b="1" dirty="0"/>
              <a:t>西洋跳棋学习问题</a:t>
            </a:r>
          </a:p>
          <a:p>
            <a:pPr lvl="1" eaLnBrk="1" hangingPunct="1">
              <a:lnSpc>
                <a:spcPct val="90000"/>
              </a:lnSpc>
            </a:pPr>
            <a:r>
              <a:rPr lang="en-US" altLang="zh-CN" b="1" dirty="0"/>
              <a:t>T</a:t>
            </a:r>
            <a:r>
              <a:rPr lang="zh-CN" altLang="en-US" b="1" dirty="0"/>
              <a:t>，下棋比赛</a:t>
            </a:r>
          </a:p>
          <a:p>
            <a:pPr lvl="1" eaLnBrk="1" hangingPunct="1">
              <a:lnSpc>
                <a:spcPct val="90000"/>
              </a:lnSpc>
            </a:pPr>
            <a:r>
              <a:rPr lang="en-US" altLang="zh-CN" b="1" dirty="0"/>
              <a:t>P</a:t>
            </a:r>
            <a:r>
              <a:rPr lang="zh-CN" altLang="en-US" b="1" dirty="0"/>
              <a:t>，比赛成绩（或赢棋能力，击败对手的百分比）</a:t>
            </a:r>
          </a:p>
          <a:p>
            <a:pPr lvl="1" eaLnBrk="1" hangingPunct="1">
              <a:lnSpc>
                <a:spcPct val="90000"/>
              </a:lnSpc>
            </a:pPr>
            <a:r>
              <a:rPr lang="zh-CN" altLang="en-US" b="1" dirty="0"/>
              <a:t> </a:t>
            </a:r>
            <a:r>
              <a:rPr lang="en-US" altLang="zh-CN" b="1" dirty="0"/>
              <a:t>E</a:t>
            </a:r>
            <a:r>
              <a:rPr lang="zh-CN" altLang="en-US" b="1" dirty="0"/>
              <a:t>，和自己下棋</a:t>
            </a:r>
          </a:p>
          <a:p>
            <a:pPr eaLnBrk="1" hangingPunct="1">
              <a:lnSpc>
                <a:spcPct val="90000"/>
              </a:lnSpc>
            </a:pPr>
            <a:r>
              <a:rPr lang="zh-CN" altLang="en-US" b="1" dirty="0"/>
              <a:t>手写识别学习问题</a:t>
            </a:r>
          </a:p>
          <a:p>
            <a:pPr eaLnBrk="1" hangingPunct="1">
              <a:lnSpc>
                <a:spcPct val="90000"/>
              </a:lnSpc>
            </a:pPr>
            <a:r>
              <a:rPr lang="zh-CN" altLang="en-US" b="1" dirty="0"/>
              <a:t>机器人驾驶学习问题</a:t>
            </a:r>
          </a:p>
          <a:p>
            <a:pPr lvl="1" eaLnBrk="1" hangingPunct="1">
              <a:lnSpc>
                <a:spcPct val="90000"/>
              </a:lnSpc>
              <a:buFont typeface="Wingdings" pitchFamily="2" charset="2"/>
              <a:buChar char="Ä"/>
            </a:pPr>
            <a:r>
              <a:rPr lang="zh-CN" altLang="en-US" b="1" dirty="0"/>
              <a:t> </a:t>
            </a:r>
          </a:p>
        </p:txBody>
      </p:sp>
    </p:spTree>
    <p:extLst>
      <p:ext uri="{BB962C8B-B14F-4D97-AF65-F5344CB8AC3E}">
        <p14:creationId xmlns:p14="http://schemas.microsoft.com/office/powerpoint/2010/main" val="400997235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521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0521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0521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05219">
                                            <p:txEl>
                                              <p:pRg st="3" end="3"/>
                                            </p:txEl>
                                          </p:spTgt>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05219">
                                            <p:txEl>
                                              <p:pRg st="4" end="4"/>
                                            </p:txEl>
                                          </p:spTgt>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05219">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0521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5219"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灯片编号占位符 5"/>
          <p:cNvSpPr>
            <a:spLocks noGrp="1"/>
          </p:cNvSpPr>
          <p:nvPr>
            <p:ph type="sldNum" sz="quarter" idx="12"/>
          </p:nvPr>
        </p:nvSpPr>
        <p:spPr/>
        <p:txBody>
          <a:bodyPr/>
          <a:lstStyle/>
          <a:p>
            <a:pPr>
              <a:defRPr/>
            </a:pPr>
            <a:fld id="{BF975CCD-5E74-4B8F-919E-9BAB15CDBE8E}" type="slidenum">
              <a:rPr lang="en-US" altLang="zh-CN"/>
              <a:pPr>
                <a:defRPr/>
              </a:pPr>
              <a:t>7</a:t>
            </a:fld>
            <a:endParaRPr lang="en-US" altLang="zh-CN"/>
          </a:p>
        </p:txBody>
      </p:sp>
      <p:sp>
        <p:nvSpPr>
          <p:cNvPr id="15364" name="Rectangle 4"/>
          <p:cNvSpPr>
            <a:spLocks noChangeArrowheads="1"/>
          </p:cNvSpPr>
          <p:nvPr/>
        </p:nvSpPr>
        <p:spPr bwMode="auto">
          <a:xfrm>
            <a:off x="457200" y="533400"/>
            <a:ext cx="8229600" cy="5715000"/>
          </a:xfrm>
          <a:prstGeom prst="rect">
            <a:avLst/>
          </a:prstGeom>
          <a:noFill/>
          <a:ln w="9525" cap="rnd">
            <a:solidFill>
              <a:schemeClr val="folHlink"/>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5365"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23728" y="631825"/>
            <a:ext cx="4719637" cy="56165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92305744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t>机器学习</a:t>
            </a:r>
            <a:r>
              <a:rPr lang="en-US" altLang="zh-CN" b="1" dirty="0"/>
              <a:t>@Zhou</a:t>
            </a:r>
            <a:endParaRPr lang="zh-CN" altLang="en-US" b="1" dirty="0"/>
          </a:p>
        </p:txBody>
      </p:sp>
      <mc:AlternateContent xmlns:mc="http://schemas.openxmlformats.org/markup-compatibility/2006" xmlns:a14="http://schemas.microsoft.com/office/drawing/2010/main">
        <mc:Choice Requires="a14">
          <p:sp>
            <p:nvSpPr>
              <p:cNvPr id="5" name="内容占位符 2"/>
              <p:cNvSpPr txBox="1">
                <a:spLocks/>
              </p:cNvSpPr>
              <p:nvPr/>
            </p:nvSpPr>
            <p:spPr>
              <a:xfrm>
                <a:off x="946107" y="1585888"/>
                <a:ext cx="7528194" cy="1855431"/>
              </a:xfrm>
              <a:prstGeom prst="rect">
                <a:avLst/>
              </a:prstGeom>
            </p:spPr>
            <p:txBody>
              <a:bodyPr vert="horz" lIns="91440" tIns="46800" rIns="91440" bIns="45720" rtlCol="0">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zh-CN" altLang="en-US" sz="2200" b="1" dirty="0"/>
                  <a:t>“假设用</a:t>
                </a:r>
                <a14:m>
                  <m:oMath xmlns:m="http://schemas.openxmlformats.org/officeDocument/2006/math">
                    <m:r>
                      <a:rPr lang="en-US" altLang="zh-CN" sz="2200" b="1" i="1" smtClean="0">
                        <a:latin typeface="Cambria Math"/>
                      </a:rPr>
                      <m:t>𝑷</m:t>
                    </m:r>
                  </m:oMath>
                </a14:m>
                <a:r>
                  <a:rPr lang="zh-CN" altLang="en-US" sz="2200" b="1" dirty="0"/>
                  <a:t>来评估计算机程序在某任务类</a:t>
                </a:r>
                <a14:m>
                  <m:oMath xmlns:m="http://schemas.openxmlformats.org/officeDocument/2006/math">
                    <m:r>
                      <a:rPr lang="en-US" altLang="zh-CN" sz="2200" b="1" i="1" smtClean="0">
                        <a:latin typeface="Cambria Math"/>
                      </a:rPr>
                      <m:t>𝑻</m:t>
                    </m:r>
                  </m:oMath>
                </a14:m>
                <a:r>
                  <a:rPr lang="zh-CN" altLang="en-US" sz="2200" b="1" dirty="0"/>
                  <a:t>上的性能，若一个程序通过利用经验</a:t>
                </a:r>
                <a14:m>
                  <m:oMath xmlns:m="http://schemas.openxmlformats.org/officeDocument/2006/math">
                    <m:r>
                      <a:rPr lang="en-US" altLang="zh-CN" sz="2200" b="1" i="1" smtClean="0">
                        <a:latin typeface="Cambria Math"/>
                      </a:rPr>
                      <m:t>𝑬</m:t>
                    </m:r>
                  </m:oMath>
                </a14:m>
                <a:r>
                  <a:rPr lang="zh-CN" altLang="en-US" sz="2200" b="1" dirty="0"/>
                  <a:t>在</a:t>
                </a:r>
                <a14:m>
                  <m:oMath xmlns:m="http://schemas.openxmlformats.org/officeDocument/2006/math">
                    <m:r>
                      <a:rPr lang="en-US" altLang="zh-CN" sz="2200" b="1" i="1" smtClean="0">
                        <a:latin typeface="Cambria Math"/>
                      </a:rPr>
                      <m:t>𝑻</m:t>
                    </m:r>
                  </m:oMath>
                </a14:m>
                <a:r>
                  <a:rPr lang="zh-CN" altLang="en-US" sz="2200" b="1" dirty="0"/>
                  <a:t>中任务上获得了性能改善，则我们就说关于</a:t>
                </a:r>
                <a14:m>
                  <m:oMath xmlns:m="http://schemas.openxmlformats.org/officeDocument/2006/math">
                    <m:r>
                      <a:rPr lang="en-US" altLang="zh-CN" sz="2200" b="1" i="1">
                        <a:latin typeface="Cambria Math"/>
                      </a:rPr>
                      <m:t>𝑻</m:t>
                    </m:r>
                  </m:oMath>
                </a14:m>
                <a:r>
                  <a:rPr lang="zh-CN" altLang="en-US" sz="2200" b="1" dirty="0"/>
                  <a:t>和</a:t>
                </a:r>
                <a14:m>
                  <m:oMath xmlns:m="http://schemas.openxmlformats.org/officeDocument/2006/math">
                    <m:r>
                      <a:rPr lang="en-US" altLang="zh-CN" sz="2200" b="1" i="1">
                        <a:latin typeface="Cambria Math"/>
                      </a:rPr>
                      <m:t>𝑷</m:t>
                    </m:r>
                  </m:oMath>
                </a14:m>
                <a:r>
                  <a:rPr lang="zh-CN" altLang="en-US" sz="2200" b="1" dirty="0"/>
                  <a:t>，该程序对</a:t>
                </a:r>
                <a14:m>
                  <m:oMath xmlns:m="http://schemas.openxmlformats.org/officeDocument/2006/math">
                    <m:r>
                      <a:rPr lang="en-US" altLang="zh-CN" sz="2200" b="1" i="1" smtClean="0">
                        <a:latin typeface="Cambria Math"/>
                      </a:rPr>
                      <m:t>𝑬</m:t>
                    </m:r>
                  </m:oMath>
                </a14:m>
                <a:r>
                  <a:rPr lang="zh-CN" altLang="en-US" sz="2200" b="1" dirty="0"/>
                  <a:t>进行了学习”</a:t>
                </a:r>
              </a:p>
            </p:txBody>
          </p:sp>
        </mc:Choice>
        <mc:Fallback xmlns="">
          <p:sp>
            <p:nvSpPr>
              <p:cNvPr id="5" name="内容占位符 2"/>
              <p:cNvSpPr txBox="1">
                <a:spLocks noRot="1" noChangeAspect="1" noMove="1" noResize="1" noEditPoints="1" noAdjustHandles="1" noChangeArrowheads="1" noChangeShapeType="1" noTextEdit="1"/>
              </p:cNvSpPr>
              <p:nvPr/>
            </p:nvSpPr>
            <p:spPr>
              <a:xfrm>
                <a:off x="946107" y="1585888"/>
                <a:ext cx="7528194" cy="1855431"/>
              </a:xfrm>
              <a:prstGeom prst="rect">
                <a:avLst/>
              </a:prstGeom>
              <a:blipFill>
                <a:blip r:embed="rId2"/>
                <a:stretch>
                  <a:fillRect l="-1053" t="-2951"/>
                </a:stretch>
              </a:blipFill>
            </p:spPr>
            <p:txBody>
              <a:bodyPr/>
              <a:lstStyle/>
              <a:p>
                <a:r>
                  <a:rPr lang="zh-CN" altLang="en-US">
                    <a:noFill/>
                  </a:rPr>
                  <a:t> </a:t>
                </a:r>
              </a:p>
            </p:txBody>
          </p:sp>
        </mc:Fallback>
      </mc:AlternateContent>
      <p:sp>
        <p:nvSpPr>
          <p:cNvPr id="6" name="内容占位符 2"/>
          <p:cNvSpPr>
            <a:spLocks noGrp="1"/>
          </p:cNvSpPr>
          <p:nvPr/>
        </p:nvSpPr>
        <p:spPr>
          <a:xfrm>
            <a:off x="958986" y="3491246"/>
            <a:ext cx="7257735" cy="1089574"/>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tx2"/>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rgbClr val="023A9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rgbClr val="023A9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rgbClr val="023A9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b="1" dirty="0"/>
              <a:t>机器学习致力于研究如何通过计算的手段，利用经验来改善系统自身的性能，从而在计算机上从数据中产生“模型”，用于对新的情况给出判断。</a:t>
            </a:r>
          </a:p>
        </p:txBody>
      </p:sp>
    </p:spTree>
    <p:extLst>
      <p:ext uri="{BB962C8B-B14F-4D97-AF65-F5344CB8AC3E}">
        <p14:creationId xmlns:p14="http://schemas.microsoft.com/office/powerpoint/2010/main" val="6085778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b="1" dirty="0"/>
              <a:t>机器学习与数据挖掘</a:t>
            </a:r>
          </a:p>
        </p:txBody>
      </p:sp>
      <p:grpSp>
        <p:nvGrpSpPr>
          <p:cNvPr id="12" name="组合 11"/>
          <p:cNvGrpSpPr/>
          <p:nvPr/>
        </p:nvGrpSpPr>
        <p:grpSpPr>
          <a:xfrm>
            <a:off x="1038747" y="1924329"/>
            <a:ext cx="7108303" cy="2797771"/>
            <a:chOff x="891420" y="1589480"/>
            <a:chExt cx="7108303" cy="2797771"/>
          </a:xfrm>
        </p:grpSpPr>
        <p:sp>
          <p:nvSpPr>
            <p:cNvPr id="4" name="文本框 3"/>
            <p:cNvSpPr txBox="1"/>
            <p:nvPr/>
          </p:nvSpPr>
          <p:spPr>
            <a:xfrm>
              <a:off x="3134138" y="1589480"/>
              <a:ext cx="2526483" cy="769441"/>
            </a:xfrm>
            <a:prstGeom prst="rect">
              <a:avLst/>
            </a:prstGeom>
            <a:ln w="38100">
              <a:solidFill>
                <a:schemeClr val="accent4"/>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zh-CN" altLang="en-US" sz="4400" b="1" dirty="0">
                  <a:solidFill>
                    <a:srgbClr val="00B050"/>
                  </a:solidFill>
                </a:rPr>
                <a:t>数据挖掘</a:t>
              </a:r>
            </a:p>
          </p:txBody>
        </p:sp>
        <p:sp>
          <p:nvSpPr>
            <p:cNvPr id="6" name="文本框 5"/>
            <p:cNvSpPr txBox="1"/>
            <p:nvPr/>
          </p:nvSpPr>
          <p:spPr>
            <a:xfrm>
              <a:off x="1319171" y="3617810"/>
              <a:ext cx="2526483" cy="769441"/>
            </a:xfrm>
            <a:prstGeom prst="rect">
              <a:avLst/>
            </a:prstGeom>
            <a:ln w="38100"/>
          </p:spPr>
          <p:style>
            <a:lnRef idx="2">
              <a:schemeClr val="accent5"/>
            </a:lnRef>
            <a:fillRef idx="1">
              <a:schemeClr val="lt1"/>
            </a:fillRef>
            <a:effectRef idx="0">
              <a:schemeClr val="accent5"/>
            </a:effectRef>
            <a:fontRef idx="minor">
              <a:schemeClr val="dk1"/>
            </a:fontRef>
          </p:style>
          <p:txBody>
            <a:bodyPr wrap="square" rtlCol="0">
              <a:spAutoFit/>
            </a:bodyPr>
            <a:lstStyle/>
            <a:p>
              <a:pPr algn="ctr"/>
              <a:r>
                <a:rPr lang="zh-CN" altLang="en-US" sz="4400" b="1" dirty="0">
                  <a:solidFill>
                    <a:schemeClr val="accent5"/>
                  </a:solidFill>
                </a:rPr>
                <a:t>机器学习</a:t>
              </a:r>
            </a:p>
          </p:txBody>
        </p:sp>
        <p:sp>
          <p:nvSpPr>
            <p:cNvPr id="7" name="文本框 6"/>
            <p:cNvSpPr txBox="1"/>
            <p:nvPr/>
          </p:nvSpPr>
          <p:spPr>
            <a:xfrm>
              <a:off x="4921766" y="3617810"/>
              <a:ext cx="2526483" cy="769441"/>
            </a:xfrm>
            <a:prstGeom prst="rect">
              <a:avLst/>
            </a:prstGeom>
            <a:ln w="38100">
              <a:solidFill>
                <a:schemeClr val="accent3"/>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zh-CN" altLang="en-US" sz="4400" b="1" dirty="0">
                  <a:solidFill>
                    <a:schemeClr val="accent3"/>
                  </a:solidFill>
                </a:rPr>
                <a:t>数据库</a:t>
              </a:r>
            </a:p>
          </p:txBody>
        </p:sp>
        <p:sp>
          <p:nvSpPr>
            <p:cNvPr id="8" name="下箭头 7"/>
            <p:cNvSpPr/>
            <p:nvPr/>
          </p:nvSpPr>
          <p:spPr>
            <a:xfrm rot="10800000">
              <a:off x="3222802" y="2531165"/>
              <a:ext cx="622852" cy="914400"/>
            </a:xfrm>
            <a:prstGeom prst="downArrow">
              <a:avLst/>
            </a:prstGeom>
            <a:noFill/>
            <a:ln w="381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9" name="下箭头 8"/>
            <p:cNvSpPr/>
            <p:nvPr/>
          </p:nvSpPr>
          <p:spPr>
            <a:xfrm rot="10800000">
              <a:off x="4807608" y="2531165"/>
              <a:ext cx="622852" cy="914400"/>
            </a:xfrm>
            <a:prstGeom prst="downArrow">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0" name="文本框 9"/>
            <p:cNvSpPr txBox="1"/>
            <p:nvPr/>
          </p:nvSpPr>
          <p:spPr>
            <a:xfrm>
              <a:off x="891420" y="2811820"/>
              <a:ext cx="2339102" cy="523220"/>
            </a:xfrm>
            <a:prstGeom prst="rect">
              <a:avLst/>
            </a:prstGeom>
            <a:noFill/>
          </p:spPr>
          <p:txBody>
            <a:bodyPr wrap="none" rtlCol="0">
              <a:spAutoFit/>
            </a:bodyPr>
            <a:lstStyle/>
            <a:p>
              <a:r>
                <a:rPr lang="zh-CN" altLang="en-US" sz="2800" b="1" dirty="0">
                  <a:solidFill>
                    <a:schemeClr val="accent5"/>
                  </a:solidFill>
                </a:rPr>
                <a:t>数据分析技术</a:t>
              </a:r>
            </a:p>
          </p:txBody>
        </p:sp>
        <p:sp>
          <p:nvSpPr>
            <p:cNvPr id="11" name="文本框 10"/>
            <p:cNvSpPr txBox="1"/>
            <p:nvPr/>
          </p:nvSpPr>
          <p:spPr>
            <a:xfrm>
              <a:off x="5660621" y="2833782"/>
              <a:ext cx="2339102" cy="523220"/>
            </a:xfrm>
            <a:prstGeom prst="rect">
              <a:avLst/>
            </a:prstGeom>
            <a:noFill/>
          </p:spPr>
          <p:txBody>
            <a:bodyPr wrap="none" rtlCol="0">
              <a:spAutoFit/>
            </a:bodyPr>
            <a:lstStyle/>
            <a:p>
              <a:r>
                <a:rPr lang="zh-CN" altLang="en-US" sz="2800" b="1" dirty="0">
                  <a:solidFill>
                    <a:schemeClr val="accent3"/>
                  </a:solidFill>
                </a:rPr>
                <a:t>数据管理技术</a:t>
              </a:r>
            </a:p>
          </p:txBody>
        </p:sp>
      </p:grpSp>
    </p:spTree>
    <p:extLst>
      <p:ext uri="{BB962C8B-B14F-4D97-AF65-F5344CB8AC3E}">
        <p14:creationId xmlns:p14="http://schemas.microsoft.com/office/powerpoint/2010/main" val="425455345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b="1" dirty="0"/>
              <a:t>典型的机器学习过程</a:t>
            </a:r>
          </a:p>
        </p:txBody>
      </p:sp>
      <p:sp>
        <p:nvSpPr>
          <p:cNvPr id="3" name="Line 2"/>
          <p:cNvSpPr>
            <a:spLocks noChangeShapeType="1"/>
          </p:cNvSpPr>
          <p:nvPr/>
        </p:nvSpPr>
        <p:spPr bwMode="auto">
          <a:xfrm>
            <a:off x="6877050" y="3005758"/>
            <a:ext cx="790575" cy="1079500"/>
          </a:xfrm>
          <a:prstGeom prst="line">
            <a:avLst/>
          </a:prstGeom>
          <a:noFill/>
          <a:ln w="22225">
            <a:solidFill>
              <a:srgbClr val="FF66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base">
              <a:spcBef>
                <a:spcPct val="0"/>
              </a:spcBef>
              <a:spcAft>
                <a:spcPct val="0"/>
              </a:spcAft>
            </a:pPr>
            <a:endParaRPr lang="zh-CN" altLang="en-US" sz="2400">
              <a:solidFill>
                <a:srgbClr val="000000"/>
              </a:solidFill>
              <a:latin typeface="Times New Roman" pitchFamily="18" charset="0"/>
            </a:endParaRPr>
          </a:p>
        </p:txBody>
      </p:sp>
      <p:sp>
        <p:nvSpPr>
          <p:cNvPr id="4" name="Line 3"/>
          <p:cNvSpPr>
            <a:spLocks noChangeShapeType="1"/>
          </p:cNvSpPr>
          <p:nvPr/>
        </p:nvSpPr>
        <p:spPr bwMode="auto">
          <a:xfrm flipV="1">
            <a:off x="5867400" y="3005758"/>
            <a:ext cx="936625" cy="1152525"/>
          </a:xfrm>
          <a:prstGeom prst="line">
            <a:avLst/>
          </a:prstGeom>
          <a:noFill/>
          <a:ln w="22225">
            <a:solidFill>
              <a:srgbClr val="FF66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base">
              <a:spcBef>
                <a:spcPct val="0"/>
              </a:spcBef>
              <a:spcAft>
                <a:spcPct val="0"/>
              </a:spcAft>
            </a:pPr>
            <a:endParaRPr lang="zh-CN" altLang="en-US" sz="2400">
              <a:solidFill>
                <a:srgbClr val="000000"/>
              </a:solidFill>
              <a:latin typeface="Times New Roman" pitchFamily="18" charset="0"/>
            </a:endParaRPr>
          </a:p>
        </p:txBody>
      </p:sp>
      <p:grpSp>
        <p:nvGrpSpPr>
          <p:cNvPr id="5" name="Group 4"/>
          <p:cNvGrpSpPr>
            <a:grpSpLocks/>
          </p:cNvGrpSpPr>
          <p:nvPr/>
        </p:nvGrpSpPr>
        <p:grpSpPr bwMode="auto">
          <a:xfrm>
            <a:off x="5216530" y="2140569"/>
            <a:ext cx="3478215" cy="1622425"/>
            <a:chOff x="3216" y="2912"/>
            <a:chExt cx="2191" cy="1022"/>
          </a:xfrm>
        </p:grpSpPr>
        <p:sp>
          <p:nvSpPr>
            <p:cNvPr id="6" name="Rectangle 5"/>
            <p:cNvSpPr>
              <a:spLocks noChangeArrowheads="1"/>
            </p:cNvSpPr>
            <p:nvPr/>
          </p:nvSpPr>
          <p:spPr bwMode="auto">
            <a:xfrm>
              <a:off x="3216" y="3526"/>
              <a:ext cx="2191" cy="408"/>
            </a:xfrm>
            <a:prstGeom prst="rect">
              <a:avLst/>
            </a:prstGeom>
            <a:ln>
              <a:headEnd/>
              <a:tailEnd/>
            </a:ln>
          </p:spPr>
          <p:style>
            <a:lnRef idx="0">
              <a:schemeClr val="accent5"/>
            </a:lnRef>
            <a:fillRef idx="3">
              <a:schemeClr val="accent5"/>
            </a:fillRef>
            <a:effectRef idx="3">
              <a:schemeClr val="accent5"/>
            </a:effectRef>
            <a:fontRef idx="minor">
              <a:schemeClr val="lt1"/>
            </a:fontRef>
          </p:style>
          <p:txBody>
            <a:bodyPr wrap="square" lIns="92075" tIns="46038" rIns="92075" bIns="46038"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zh-CN" altLang="en-US" b="0" i="0" u="none" strike="noStrike" kern="0" cap="none" spc="0" normalizeH="0" baseline="0" noProof="0" dirty="0">
                  <a:ln>
                    <a:noFill/>
                  </a:ln>
                  <a:solidFill>
                    <a:schemeClr val="bg1"/>
                  </a:solidFill>
                  <a:effectLst/>
                  <a:uLnTx/>
                  <a:uFillTx/>
                  <a:latin typeface="Palatino Linotype" pitchFamily="18" charset="0"/>
                  <a:ea typeface="幼圆" pitchFamily="49" charset="-122"/>
                  <a:cs typeface="Verdana" pitchFamily="34" charset="0"/>
                </a:rPr>
                <a:t>决策树，神经网络，支持向量机，</a:t>
              </a:r>
              <a:r>
                <a:rPr kumimoji="1" lang="en-US" altLang="zh-CN" b="0" i="0" u="none" strike="noStrike" kern="0" cap="none" spc="0" normalizeH="0" baseline="0" noProof="0" dirty="0">
                  <a:ln>
                    <a:noFill/>
                  </a:ln>
                  <a:solidFill>
                    <a:schemeClr val="bg1"/>
                  </a:solidFill>
                  <a:effectLst/>
                  <a:uLnTx/>
                  <a:uFillTx/>
                  <a:latin typeface="Verdana" panose="020B0604030504040204" pitchFamily="34" charset="0"/>
                  <a:ea typeface="Verdana" panose="020B0604030504040204" pitchFamily="34" charset="0"/>
                  <a:cs typeface="Verdana" panose="020B0604030504040204" pitchFamily="34" charset="0"/>
                </a:rPr>
                <a:t>Boosting</a:t>
              </a:r>
              <a:r>
                <a:rPr kumimoji="1" lang="zh-CN" altLang="en-US" b="0" i="0" u="none" strike="noStrike" kern="0" cap="none" spc="0" normalizeH="0" baseline="0" noProof="0" dirty="0">
                  <a:ln>
                    <a:noFill/>
                  </a:ln>
                  <a:solidFill>
                    <a:schemeClr val="bg1"/>
                  </a:solidFill>
                  <a:effectLst/>
                  <a:uLnTx/>
                  <a:uFillTx/>
                  <a:latin typeface="Palatino Linotype" pitchFamily="18" charset="0"/>
                  <a:ea typeface="幼圆" pitchFamily="49" charset="-122"/>
                  <a:cs typeface="Verdana" pitchFamily="34" charset="0"/>
                </a:rPr>
                <a:t>，贝叶斯网络，</a:t>
              </a:r>
              <a:r>
                <a:rPr kumimoji="1" lang="en-US" altLang="zh-CN" b="0" i="0" u="none" strike="noStrike" kern="0" cap="none" spc="0" normalizeH="0" baseline="0" noProof="0" dirty="0">
                  <a:ln>
                    <a:noFill/>
                  </a:ln>
                  <a:solidFill>
                    <a:schemeClr val="bg1"/>
                  </a:solidFill>
                  <a:effectLst/>
                  <a:uLnTx/>
                  <a:uFillTx/>
                  <a:latin typeface="Palatino Linotype" pitchFamily="18" charset="0"/>
                  <a:ea typeface="Verdana" pitchFamily="34" charset="0"/>
                  <a:cs typeface="Verdana" pitchFamily="34" charset="0"/>
                </a:rPr>
                <a:t>……</a:t>
              </a:r>
            </a:p>
          </p:txBody>
        </p:sp>
        <p:pic>
          <p:nvPicPr>
            <p:cNvPr id="7" name="Picture 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36" y="2912"/>
              <a:ext cx="671"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 name="Rectangle 7"/>
            <p:cNvSpPr>
              <a:spLocks noChangeArrowheads="1"/>
            </p:cNvSpPr>
            <p:nvPr/>
          </p:nvSpPr>
          <p:spPr bwMode="auto">
            <a:xfrm>
              <a:off x="4044" y="3132"/>
              <a:ext cx="442" cy="2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spAutoFit/>
            </a:bodyPr>
            <a:lstStyle/>
            <a:p>
              <a:pPr marL="0" marR="0" lvl="0" indent="0" algn="ctr" defTabSz="914400" eaLnBrk="1" fontAlgn="base" latinLnBrk="0" hangingPunct="1">
                <a:lnSpc>
                  <a:spcPct val="80000"/>
                </a:lnSpc>
                <a:spcBef>
                  <a:spcPct val="0"/>
                </a:spcBef>
                <a:spcAft>
                  <a:spcPct val="0"/>
                </a:spcAft>
                <a:buClrTx/>
                <a:buSzTx/>
                <a:buFontTx/>
                <a:buNone/>
                <a:tabLst/>
                <a:defRPr/>
              </a:pPr>
              <a:r>
                <a:rPr kumimoji="1" lang="zh-CN" altLang="en-US" sz="2000" b="1" i="0" u="none" strike="noStrike" kern="0" cap="none" spc="0" normalizeH="0" baseline="0" noProof="0" dirty="0">
                  <a:ln>
                    <a:noFill/>
                  </a:ln>
                  <a:solidFill>
                    <a:srgbClr val="000000"/>
                  </a:solidFill>
                  <a:effectLst/>
                  <a:uLnTx/>
                  <a:uFillTx/>
                  <a:latin typeface="幼圆" pitchFamily="49" charset="-122"/>
                  <a:ea typeface="幼圆" pitchFamily="49" charset="-122"/>
                </a:rPr>
                <a:t>模型</a:t>
              </a:r>
              <a:endParaRPr kumimoji="1" lang="en-US" altLang="zh-CN" sz="2000" b="1" i="0" u="none" strike="noStrike" kern="0" cap="none" spc="0" normalizeH="0" baseline="0" noProof="0" dirty="0">
                <a:ln>
                  <a:noFill/>
                </a:ln>
                <a:solidFill>
                  <a:srgbClr val="000000"/>
                </a:solidFill>
                <a:effectLst/>
                <a:uLnTx/>
                <a:uFillTx/>
                <a:latin typeface="幼圆" pitchFamily="49" charset="-122"/>
                <a:ea typeface="幼圆" pitchFamily="49" charset="-122"/>
              </a:endParaRPr>
            </a:p>
          </p:txBody>
        </p:sp>
        <p:sp>
          <p:nvSpPr>
            <p:cNvPr id="9" name="Line 8"/>
            <p:cNvSpPr>
              <a:spLocks noChangeShapeType="1"/>
            </p:cNvSpPr>
            <p:nvPr/>
          </p:nvSpPr>
          <p:spPr bwMode="auto">
            <a:xfrm flipH="1">
              <a:off x="3264" y="3312"/>
              <a:ext cx="624" cy="210"/>
            </a:xfrm>
            <a:prstGeom prst="line">
              <a:avLst/>
            </a:prstGeom>
            <a:noFill/>
            <a:ln w="12700">
              <a:solidFill>
                <a:srgbClr val="0000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zh-CN" altLang="en-US" sz="2400" b="0" i="0" u="none" strike="noStrike" kern="0" cap="none" spc="0" normalizeH="0" baseline="0" noProof="0">
                <a:ln>
                  <a:noFill/>
                </a:ln>
                <a:solidFill>
                  <a:srgbClr val="000000"/>
                </a:solidFill>
                <a:effectLst/>
                <a:uLnTx/>
                <a:uFillTx/>
                <a:latin typeface="Times New Roman" pitchFamily="18" charset="0"/>
              </a:endParaRPr>
            </a:p>
          </p:txBody>
        </p:sp>
        <p:sp>
          <p:nvSpPr>
            <p:cNvPr id="10" name="Line 9"/>
            <p:cNvSpPr>
              <a:spLocks noChangeShapeType="1"/>
            </p:cNvSpPr>
            <p:nvPr/>
          </p:nvSpPr>
          <p:spPr bwMode="auto">
            <a:xfrm>
              <a:off x="4656" y="3336"/>
              <a:ext cx="672" cy="192"/>
            </a:xfrm>
            <a:prstGeom prst="line">
              <a:avLst/>
            </a:prstGeom>
            <a:noFill/>
            <a:ln w="12700">
              <a:solidFill>
                <a:srgbClr val="0000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zh-CN" altLang="en-US" sz="2400" b="0" i="0" u="none" strike="noStrike" kern="0" cap="none" spc="0" normalizeH="0" baseline="0" noProof="0">
                <a:ln>
                  <a:noFill/>
                </a:ln>
                <a:solidFill>
                  <a:srgbClr val="000000"/>
                </a:solidFill>
                <a:effectLst/>
                <a:uLnTx/>
                <a:uFillTx/>
                <a:latin typeface="Times New Roman" pitchFamily="18" charset="0"/>
              </a:endParaRPr>
            </a:p>
          </p:txBody>
        </p:sp>
      </p:grpSp>
      <p:grpSp>
        <p:nvGrpSpPr>
          <p:cNvPr id="11" name="Group 10"/>
          <p:cNvGrpSpPr>
            <a:grpSpLocks/>
          </p:cNvGrpSpPr>
          <p:nvPr/>
        </p:nvGrpSpPr>
        <p:grpSpPr bwMode="auto">
          <a:xfrm>
            <a:off x="285428" y="2068411"/>
            <a:ext cx="4070346" cy="2813051"/>
            <a:chOff x="203" y="1903"/>
            <a:chExt cx="2564" cy="1772"/>
          </a:xfrm>
        </p:grpSpPr>
        <p:grpSp>
          <p:nvGrpSpPr>
            <p:cNvPr id="12" name="Group 11"/>
            <p:cNvGrpSpPr>
              <a:grpSpLocks/>
            </p:cNvGrpSpPr>
            <p:nvPr/>
          </p:nvGrpSpPr>
          <p:grpSpPr bwMode="auto">
            <a:xfrm>
              <a:off x="203" y="1903"/>
              <a:ext cx="2479" cy="1772"/>
              <a:chOff x="203" y="1903"/>
              <a:chExt cx="2479" cy="1772"/>
            </a:xfrm>
          </p:grpSpPr>
          <p:pic>
            <p:nvPicPr>
              <p:cNvPr id="15"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50" y="1903"/>
                <a:ext cx="637" cy="51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 name="Rectangle 13"/>
              <p:cNvSpPr>
                <a:spLocks noChangeArrowheads="1"/>
              </p:cNvSpPr>
              <p:nvPr/>
            </p:nvSpPr>
            <p:spPr bwMode="auto">
              <a:xfrm>
                <a:off x="1020" y="2085"/>
                <a:ext cx="658" cy="2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zh-CN" altLang="en-US" sz="1600" b="1" i="0" u="none" strike="noStrike" kern="0" cap="none" spc="0" normalizeH="0" baseline="0" noProof="0" dirty="0">
                    <a:ln>
                      <a:noFill/>
                    </a:ln>
                    <a:solidFill>
                      <a:srgbClr val="000000"/>
                    </a:solidFill>
                    <a:effectLst/>
                    <a:uLnTx/>
                    <a:uFillTx/>
                    <a:latin typeface="幼圆" pitchFamily="49" charset="-122"/>
                    <a:ea typeface="幼圆" pitchFamily="49" charset="-122"/>
                  </a:rPr>
                  <a:t>训练数据</a:t>
                </a:r>
                <a:endParaRPr kumimoji="1" lang="en-US" altLang="zh-CN" sz="1600" b="1" i="0" u="none" strike="noStrike" kern="0" cap="none" spc="0" normalizeH="0" baseline="0" noProof="0" dirty="0">
                  <a:ln>
                    <a:noFill/>
                  </a:ln>
                  <a:solidFill>
                    <a:srgbClr val="000000"/>
                  </a:solidFill>
                  <a:effectLst/>
                  <a:uLnTx/>
                  <a:uFillTx/>
                  <a:latin typeface="幼圆" pitchFamily="49" charset="-122"/>
                  <a:ea typeface="幼圆" pitchFamily="49" charset="-122"/>
                </a:endParaRPr>
              </a:p>
            </p:txBody>
          </p:sp>
          <p:graphicFrame>
            <p:nvGraphicFramePr>
              <p:cNvPr id="17" name="Object 14"/>
              <p:cNvGraphicFramePr>
                <a:graphicFrameLocks/>
              </p:cNvGraphicFramePr>
              <p:nvPr>
                <p:extLst>
                  <p:ext uri="{D42A27DB-BD31-4B8C-83A1-F6EECF244321}">
                    <p14:modId xmlns:p14="http://schemas.microsoft.com/office/powerpoint/2010/main" val="533625534"/>
                  </p:ext>
                </p:extLst>
              </p:nvPr>
            </p:nvGraphicFramePr>
            <p:xfrm>
              <a:off x="203" y="2547"/>
              <a:ext cx="2479" cy="1128"/>
            </p:xfrm>
            <a:graphic>
              <a:graphicData uri="http://schemas.openxmlformats.org/presentationml/2006/ole">
                <mc:AlternateContent xmlns:mc="http://schemas.openxmlformats.org/markup-compatibility/2006">
                  <mc:Choice xmlns:v="urn:schemas-microsoft-com:vml" Requires="v">
                    <p:oleObj spid="_x0000_s4193" name="工作表" r:id="rId5" imgW="4629275" imgH="1895609" progId="Excel.Sheet.8">
                      <p:embed/>
                    </p:oleObj>
                  </mc:Choice>
                  <mc:Fallback>
                    <p:oleObj name="工作表" r:id="rId5" imgW="4629275" imgH="1895609" progId="Excel.Sheet.8">
                      <p:embed/>
                      <p:pic>
                        <p:nvPicPr>
                          <p:cNvPr id="0" name=""/>
                          <p:cNvPicPr>
                            <a:picLocks noChangeArrowheads="1"/>
                          </p:cNvPicPr>
                          <p:nvPr/>
                        </p:nvPicPr>
                        <p:blipFill>
                          <a:blip r:embed="rId6"/>
                          <a:srcRect/>
                          <a:stretch>
                            <a:fillRect/>
                          </a:stretch>
                        </p:blipFill>
                        <p:spPr bwMode="auto">
                          <a:xfrm>
                            <a:off x="203" y="2547"/>
                            <a:ext cx="2479" cy="1128"/>
                          </a:xfrm>
                          <a:prstGeom prst="rect">
                            <a:avLst/>
                          </a:prstGeom>
                          <a:noFill/>
                          <a:ln>
                            <a:noFill/>
                          </a:ln>
                          <a:effectLst/>
                        </p:spPr>
                      </p:pic>
                    </p:oleObj>
                  </mc:Fallback>
                </mc:AlternateContent>
              </a:graphicData>
            </a:graphic>
          </p:graphicFrame>
          <p:sp>
            <p:nvSpPr>
              <p:cNvPr id="18" name="Line 15"/>
              <p:cNvSpPr>
                <a:spLocks noChangeShapeType="1"/>
              </p:cNvSpPr>
              <p:nvPr/>
            </p:nvSpPr>
            <p:spPr bwMode="auto">
              <a:xfrm flipH="1">
                <a:off x="295" y="2273"/>
                <a:ext cx="720" cy="250"/>
              </a:xfrm>
              <a:prstGeom prst="line">
                <a:avLst/>
              </a:prstGeom>
              <a:noFill/>
              <a:ln w="12700">
                <a:solidFill>
                  <a:srgbClr val="0000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zh-CN" altLang="en-US" sz="2400" b="0" i="0" u="none" strike="noStrike" kern="0" cap="none" spc="0" normalizeH="0" baseline="0" noProof="0">
                  <a:ln>
                    <a:noFill/>
                  </a:ln>
                  <a:solidFill>
                    <a:srgbClr val="000000"/>
                  </a:solidFill>
                  <a:effectLst/>
                  <a:uLnTx/>
                  <a:uFillTx/>
                  <a:latin typeface="Times New Roman" pitchFamily="18" charset="0"/>
                </a:endParaRPr>
              </a:p>
            </p:txBody>
          </p:sp>
          <p:sp>
            <p:nvSpPr>
              <p:cNvPr id="19" name="Line 16"/>
              <p:cNvSpPr>
                <a:spLocks noChangeShapeType="1"/>
              </p:cNvSpPr>
              <p:nvPr/>
            </p:nvSpPr>
            <p:spPr bwMode="auto">
              <a:xfrm>
                <a:off x="1735" y="2273"/>
                <a:ext cx="816" cy="250"/>
              </a:xfrm>
              <a:prstGeom prst="line">
                <a:avLst/>
              </a:prstGeom>
              <a:noFill/>
              <a:ln w="12700">
                <a:solidFill>
                  <a:srgbClr val="0000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zh-CN" altLang="en-US" sz="2400" b="0" i="0" u="none" strike="noStrike" kern="0" cap="none" spc="0" normalizeH="0" baseline="0" noProof="0">
                  <a:ln>
                    <a:noFill/>
                  </a:ln>
                  <a:solidFill>
                    <a:srgbClr val="000000"/>
                  </a:solidFill>
                  <a:effectLst/>
                  <a:uLnTx/>
                  <a:uFillTx/>
                  <a:latin typeface="Times New Roman" pitchFamily="18" charset="0"/>
                </a:endParaRPr>
              </a:p>
            </p:txBody>
          </p:sp>
        </p:grpSp>
        <p:sp>
          <p:nvSpPr>
            <p:cNvPr id="13" name="Text Box 17"/>
            <p:cNvSpPr txBox="1">
              <a:spLocks noChangeArrowheads="1"/>
            </p:cNvSpPr>
            <p:nvPr/>
          </p:nvSpPr>
          <p:spPr bwMode="auto">
            <a:xfrm>
              <a:off x="2041" y="1921"/>
              <a:ext cx="726" cy="3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2400">
                  <a:solidFill>
                    <a:schemeClr val="tx1"/>
                  </a:solidFill>
                  <a:latin typeface="Times New Roman" pitchFamily="18" charset="0"/>
                  <a:ea typeface="宋体" pitchFamily="2" charset="-122"/>
                </a:defRPr>
              </a:lvl1pPr>
              <a:lvl2pPr marL="742950" indent="-285750" eaLnBrk="0" hangingPunct="0">
                <a:defRPr sz="2400">
                  <a:solidFill>
                    <a:schemeClr val="tx1"/>
                  </a:solidFill>
                  <a:latin typeface="Times New Roman" pitchFamily="18" charset="0"/>
                  <a:ea typeface="宋体" pitchFamily="2" charset="-122"/>
                </a:defRPr>
              </a:lvl2pPr>
              <a:lvl3pPr marL="1143000" indent="-228600" eaLnBrk="0" hangingPunct="0">
                <a:defRPr sz="2400">
                  <a:solidFill>
                    <a:schemeClr val="tx1"/>
                  </a:solidFill>
                  <a:latin typeface="Times New Roman" pitchFamily="18" charset="0"/>
                  <a:ea typeface="宋体" pitchFamily="2" charset="-122"/>
                </a:defRPr>
              </a:lvl3pPr>
              <a:lvl4pPr marL="1600200" indent="-228600" eaLnBrk="0" hangingPunct="0">
                <a:defRPr sz="2400">
                  <a:solidFill>
                    <a:schemeClr val="tx1"/>
                  </a:solidFill>
                  <a:latin typeface="Times New Roman" pitchFamily="18" charset="0"/>
                  <a:ea typeface="宋体" pitchFamily="2" charset="-122"/>
                </a:defRPr>
              </a:lvl4pPr>
              <a:lvl5pPr marL="2057400" indent="-228600" eaLnBrk="0" hangingPunct="0">
                <a:defRPr sz="2400">
                  <a:solidFill>
                    <a:schemeClr val="tx1"/>
                  </a:solidFill>
                  <a:latin typeface="Times New Roman" pitchFamily="18" charset="0"/>
                  <a:ea typeface="宋体" pitchFamily="2" charset="-122"/>
                </a:defRPr>
              </a:lvl5pPr>
              <a:lvl6pPr marL="2514600" indent="-228600" eaLnBrk="0" fontAlgn="base" hangingPunct="0">
                <a:spcBef>
                  <a:spcPct val="0"/>
                </a:spcBef>
                <a:spcAft>
                  <a:spcPct val="0"/>
                </a:spcAft>
                <a:defRPr sz="2400">
                  <a:solidFill>
                    <a:schemeClr val="tx1"/>
                  </a:solidFill>
                  <a:latin typeface="Times New Roman" pitchFamily="18" charset="0"/>
                  <a:ea typeface="宋体" pitchFamily="2" charset="-122"/>
                </a:defRPr>
              </a:lvl6pPr>
              <a:lvl7pPr marL="2971800" indent="-228600" eaLnBrk="0" fontAlgn="base" hangingPunct="0">
                <a:spcBef>
                  <a:spcPct val="0"/>
                </a:spcBef>
                <a:spcAft>
                  <a:spcPct val="0"/>
                </a:spcAft>
                <a:defRPr sz="2400">
                  <a:solidFill>
                    <a:schemeClr val="tx1"/>
                  </a:solidFill>
                  <a:latin typeface="Times New Roman" pitchFamily="18" charset="0"/>
                  <a:ea typeface="宋体" pitchFamily="2" charset="-122"/>
                </a:defRPr>
              </a:lvl7pPr>
              <a:lvl8pPr marL="3429000" indent="-228600" eaLnBrk="0" fontAlgn="base" hangingPunct="0">
                <a:spcBef>
                  <a:spcPct val="0"/>
                </a:spcBef>
                <a:spcAft>
                  <a:spcPct val="0"/>
                </a:spcAft>
                <a:defRPr sz="2400">
                  <a:solidFill>
                    <a:schemeClr val="tx1"/>
                  </a:solidFill>
                  <a:latin typeface="Times New Roman" pitchFamily="18" charset="0"/>
                  <a:ea typeface="宋体" pitchFamily="2" charset="-122"/>
                </a:defRPr>
              </a:lvl8pPr>
              <a:lvl9pPr marL="3886200" indent="-228600" eaLnBrk="0" fontAlgn="base" hangingPunct="0">
                <a:spcBef>
                  <a:spcPct val="0"/>
                </a:spcBef>
                <a:spcAft>
                  <a:spcPct val="0"/>
                </a:spcAft>
                <a:defRPr sz="2400">
                  <a:solidFill>
                    <a:schemeClr val="tx1"/>
                  </a:solidFill>
                  <a:latin typeface="Times New Roman" pitchFamily="18" charset="0"/>
                  <a:ea typeface="宋体" pitchFamily="2" charset="-122"/>
                </a:defRPr>
              </a:lvl9pPr>
            </a:lstStyle>
            <a:p>
              <a:pPr marL="0" marR="0" lvl="0" indent="0" defTabSz="914400" eaLnBrk="1" fontAlgn="base" latinLnBrk="0" hangingPunct="1">
                <a:lnSpc>
                  <a:spcPct val="100000"/>
                </a:lnSpc>
                <a:spcBef>
                  <a:spcPct val="50000"/>
                </a:spcBef>
                <a:spcAft>
                  <a:spcPct val="0"/>
                </a:spcAft>
                <a:buClrTx/>
                <a:buSzTx/>
                <a:buFontTx/>
                <a:buNone/>
                <a:tabLst/>
                <a:defRPr/>
              </a:pPr>
              <a:r>
                <a:rPr kumimoji="0" lang="zh-CN" altLang="en-US" sz="1600" b="1" i="0" u="none" strike="noStrike" kern="0" cap="none" spc="0" normalizeH="0" baseline="0" noProof="0" dirty="0">
                  <a:ln>
                    <a:noFill/>
                  </a:ln>
                  <a:solidFill>
                    <a:schemeClr val="tx2"/>
                  </a:solidFill>
                  <a:effectLst/>
                  <a:uLnTx/>
                  <a:uFillTx/>
                  <a:latin typeface="幼圆" pitchFamily="49" charset="-122"/>
                  <a:ea typeface="幼圆" pitchFamily="49" charset="-122"/>
                </a:rPr>
                <a:t>类别标记</a:t>
              </a:r>
              <a:r>
                <a:rPr kumimoji="0" lang="zh-CN" altLang="en-US" sz="1600" b="1" i="0" u="none" strike="noStrike" kern="0" cap="none" spc="0" normalizeH="0" baseline="0" noProof="0" dirty="0">
                  <a:ln>
                    <a:noFill/>
                  </a:ln>
                  <a:solidFill>
                    <a:schemeClr val="tx2"/>
                  </a:solidFill>
                  <a:effectLst/>
                  <a:uLnTx/>
                  <a:uFillTx/>
                  <a:latin typeface="Palatino Linotype" pitchFamily="18" charset="0"/>
                  <a:ea typeface="宋体" pitchFamily="2" charset="-122"/>
                </a:rPr>
                <a:t>（</a:t>
              </a:r>
              <a:r>
                <a:rPr kumimoji="0" lang="en-US" altLang="zh-CN" sz="1600" b="1" i="1" u="none" strike="noStrike" kern="0" cap="none" spc="0" normalizeH="0" baseline="0" noProof="0" dirty="0">
                  <a:ln>
                    <a:noFill/>
                  </a:ln>
                  <a:solidFill>
                    <a:schemeClr val="tx2"/>
                  </a:solidFill>
                  <a:effectLst/>
                  <a:uLnTx/>
                  <a:uFillTx/>
                  <a:latin typeface="Palatino Linotype" pitchFamily="18" charset="0"/>
                  <a:ea typeface="宋体" pitchFamily="2" charset="-122"/>
                </a:rPr>
                <a:t>label</a:t>
              </a:r>
              <a:r>
                <a:rPr kumimoji="0" lang="zh-CN" altLang="en-US" sz="1600" b="1" i="0" u="none" strike="noStrike" kern="0" cap="none" spc="0" normalizeH="0" baseline="0" noProof="0" dirty="0">
                  <a:ln>
                    <a:noFill/>
                  </a:ln>
                  <a:solidFill>
                    <a:schemeClr val="tx2"/>
                  </a:solidFill>
                  <a:effectLst/>
                  <a:uLnTx/>
                  <a:uFillTx/>
                  <a:latin typeface="Palatino Linotype" pitchFamily="18" charset="0"/>
                  <a:ea typeface="宋体" pitchFamily="2" charset="-122"/>
                </a:rPr>
                <a:t>）</a:t>
              </a:r>
              <a:endParaRPr kumimoji="0" lang="en-US" altLang="zh-CN" sz="1600" b="1" i="0" u="none" strike="noStrike" kern="0" cap="none" spc="0" normalizeH="0" baseline="0" noProof="0" dirty="0">
                <a:ln>
                  <a:noFill/>
                </a:ln>
                <a:solidFill>
                  <a:schemeClr val="tx2"/>
                </a:solidFill>
                <a:effectLst/>
                <a:uLnTx/>
                <a:uFillTx/>
                <a:latin typeface="Palatino Linotype" pitchFamily="18" charset="0"/>
                <a:ea typeface="宋体" pitchFamily="2" charset="-122"/>
              </a:endParaRPr>
            </a:p>
          </p:txBody>
        </p:sp>
        <p:sp>
          <p:nvSpPr>
            <p:cNvPr id="14" name="Line 18"/>
            <p:cNvSpPr>
              <a:spLocks noChangeShapeType="1"/>
            </p:cNvSpPr>
            <p:nvPr/>
          </p:nvSpPr>
          <p:spPr bwMode="auto">
            <a:xfrm flipH="1">
              <a:off x="2347" y="2251"/>
              <a:ext cx="57" cy="287"/>
            </a:xfrm>
            <a:prstGeom prst="line">
              <a:avLst/>
            </a:prstGeom>
            <a:noFill/>
            <a:ln w="25400">
              <a:solidFill>
                <a:schemeClr val="accent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zh-CN" altLang="en-US" sz="2400" b="0" i="0" u="none" strike="noStrike" kern="0" cap="none" spc="0" normalizeH="0" baseline="0" noProof="0">
                <a:ln>
                  <a:noFill/>
                </a:ln>
                <a:solidFill>
                  <a:srgbClr val="000000"/>
                </a:solidFill>
                <a:effectLst/>
                <a:uLnTx/>
                <a:uFillTx/>
                <a:latin typeface="Times New Roman" pitchFamily="18" charset="0"/>
              </a:endParaRPr>
            </a:p>
          </p:txBody>
        </p:sp>
      </p:grpSp>
      <p:grpSp>
        <p:nvGrpSpPr>
          <p:cNvPr id="20" name="Group 19"/>
          <p:cNvGrpSpPr>
            <a:grpSpLocks/>
          </p:cNvGrpSpPr>
          <p:nvPr/>
        </p:nvGrpSpPr>
        <p:grpSpPr bwMode="auto">
          <a:xfrm>
            <a:off x="4211640" y="2573958"/>
            <a:ext cx="1260476" cy="647700"/>
            <a:chOff x="2653" y="2115"/>
            <a:chExt cx="794" cy="408"/>
          </a:xfrm>
        </p:grpSpPr>
        <p:sp>
          <p:nvSpPr>
            <p:cNvPr id="21" name="Text Box 20"/>
            <p:cNvSpPr txBox="1">
              <a:spLocks noChangeArrowheads="1"/>
            </p:cNvSpPr>
            <p:nvPr/>
          </p:nvSpPr>
          <p:spPr bwMode="auto">
            <a:xfrm>
              <a:off x="2676" y="2115"/>
              <a:ext cx="771"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sz="2400">
                  <a:solidFill>
                    <a:schemeClr val="tx1"/>
                  </a:solidFill>
                  <a:latin typeface="Times New Roman" pitchFamily="18" charset="0"/>
                  <a:ea typeface="宋体" pitchFamily="2" charset="-122"/>
                </a:defRPr>
              </a:lvl1pPr>
              <a:lvl2pPr marL="742950" indent="-285750" eaLnBrk="0" hangingPunct="0">
                <a:defRPr sz="2400">
                  <a:solidFill>
                    <a:schemeClr val="tx1"/>
                  </a:solidFill>
                  <a:latin typeface="Times New Roman" pitchFamily="18" charset="0"/>
                  <a:ea typeface="宋体" pitchFamily="2" charset="-122"/>
                </a:defRPr>
              </a:lvl2pPr>
              <a:lvl3pPr marL="1143000" indent="-228600" eaLnBrk="0" hangingPunct="0">
                <a:defRPr sz="2400">
                  <a:solidFill>
                    <a:schemeClr val="tx1"/>
                  </a:solidFill>
                  <a:latin typeface="Times New Roman" pitchFamily="18" charset="0"/>
                  <a:ea typeface="宋体" pitchFamily="2" charset="-122"/>
                </a:defRPr>
              </a:lvl3pPr>
              <a:lvl4pPr marL="1600200" indent="-228600" eaLnBrk="0" hangingPunct="0">
                <a:defRPr sz="2400">
                  <a:solidFill>
                    <a:schemeClr val="tx1"/>
                  </a:solidFill>
                  <a:latin typeface="Times New Roman" pitchFamily="18" charset="0"/>
                  <a:ea typeface="宋体" pitchFamily="2" charset="-122"/>
                </a:defRPr>
              </a:lvl4pPr>
              <a:lvl5pPr marL="2057400" indent="-228600" eaLnBrk="0" hangingPunct="0">
                <a:defRPr sz="2400">
                  <a:solidFill>
                    <a:schemeClr val="tx1"/>
                  </a:solidFill>
                  <a:latin typeface="Times New Roman" pitchFamily="18" charset="0"/>
                  <a:ea typeface="宋体" pitchFamily="2" charset="-122"/>
                </a:defRPr>
              </a:lvl5pPr>
              <a:lvl6pPr marL="2514600" indent="-228600" eaLnBrk="0" fontAlgn="base" hangingPunct="0">
                <a:spcBef>
                  <a:spcPct val="0"/>
                </a:spcBef>
                <a:spcAft>
                  <a:spcPct val="0"/>
                </a:spcAft>
                <a:defRPr sz="2400">
                  <a:solidFill>
                    <a:schemeClr val="tx1"/>
                  </a:solidFill>
                  <a:latin typeface="Times New Roman" pitchFamily="18" charset="0"/>
                  <a:ea typeface="宋体" pitchFamily="2" charset="-122"/>
                </a:defRPr>
              </a:lvl6pPr>
              <a:lvl7pPr marL="2971800" indent="-228600" eaLnBrk="0" fontAlgn="base" hangingPunct="0">
                <a:spcBef>
                  <a:spcPct val="0"/>
                </a:spcBef>
                <a:spcAft>
                  <a:spcPct val="0"/>
                </a:spcAft>
                <a:defRPr sz="2400">
                  <a:solidFill>
                    <a:schemeClr val="tx1"/>
                  </a:solidFill>
                  <a:latin typeface="Times New Roman" pitchFamily="18" charset="0"/>
                  <a:ea typeface="宋体" pitchFamily="2" charset="-122"/>
                </a:defRPr>
              </a:lvl7pPr>
              <a:lvl8pPr marL="3429000" indent="-228600" eaLnBrk="0" fontAlgn="base" hangingPunct="0">
                <a:spcBef>
                  <a:spcPct val="0"/>
                </a:spcBef>
                <a:spcAft>
                  <a:spcPct val="0"/>
                </a:spcAft>
                <a:defRPr sz="2400">
                  <a:solidFill>
                    <a:schemeClr val="tx1"/>
                  </a:solidFill>
                  <a:latin typeface="Times New Roman" pitchFamily="18" charset="0"/>
                  <a:ea typeface="宋体" pitchFamily="2" charset="-122"/>
                </a:defRPr>
              </a:lvl8pPr>
              <a:lvl9pPr marL="3886200" indent="-228600" eaLnBrk="0" fontAlgn="base" hangingPunct="0">
                <a:spcBef>
                  <a:spcPct val="0"/>
                </a:spcBef>
                <a:spcAft>
                  <a:spcPct val="0"/>
                </a:spcAft>
                <a:defRPr sz="2400">
                  <a:solidFill>
                    <a:schemeClr val="tx1"/>
                  </a:solidFill>
                  <a:latin typeface="Times New Roman" pitchFamily="18" charset="0"/>
                  <a:ea typeface="宋体" pitchFamily="2" charset="-122"/>
                </a:defRPr>
              </a:lvl9pPr>
            </a:lstStyle>
            <a:p>
              <a:pPr marL="0" marR="0" lvl="0" indent="0" defTabSz="914400" eaLnBrk="1" fontAlgn="base" latinLnBrk="0" hangingPunct="1">
                <a:lnSpc>
                  <a:spcPct val="100000"/>
                </a:lnSpc>
                <a:spcBef>
                  <a:spcPct val="50000"/>
                </a:spcBef>
                <a:spcAft>
                  <a:spcPct val="0"/>
                </a:spcAft>
                <a:buClrTx/>
                <a:buSzTx/>
                <a:buFontTx/>
                <a:buNone/>
                <a:tabLst/>
                <a:defRPr/>
              </a:pPr>
              <a:r>
                <a:rPr kumimoji="0" lang="zh-CN" altLang="en-US" sz="1800" b="1" i="0" u="none" strike="noStrike" kern="0" cap="none" spc="0" normalizeH="0" baseline="0" noProof="0" dirty="0">
                  <a:ln>
                    <a:noFill/>
                  </a:ln>
                  <a:solidFill>
                    <a:srgbClr val="000000"/>
                  </a:solidFill>
                  <a:effectLst/>
                  <a:uLnTx/>
                  <a:uFillTx/>
                  <a:latin typeface="幼圆" pitchFamily="49" charset="-122"/>
                  <a:ea typeface="幼圆" pitchFamily="49" charset="-122"/>
                </a:rPr>
                <a:t>训练</a:t>
              </a:r>
              <a:endParaRPr kumimoji="0" lang="en-US" altLang="zh-CN" sz="1800" b="1" i="0" u="none" strike="noStrike" kern="0" cap="none" spc="0" normalizeH="0" baseline="0" noProof="0" dirty="0">
                <a:ln>
                  <a:noFill/>
                </a:ln>
                <a:solidFill>
                  <a:srgbClr val="000000"/>
                </a:solidFill>
                <a:effectLst/>
                <a:uLnTx/>
                <a:uFillTx/>
                <a:latin typeface="幼圆" pitchFamily="49" charset="-122"/>
                <a:ea typeface="幼圆" pitchFamily="49" charset="-122"/>
              </a:endParaRPr>
            </a:p>
          </p:txBody>
        </p:sp>
        <p:sp>
          <p:nvSpPr>
            <p:cNvPr id="22" name="AutoShape 21"/>
            <p:cNvSpPr>
              <a:spLocks noChangeArrowheads="1"/>
            </p:cNvSpPr>
            <p:nvPr/>
          </p:nvSpPr>
          <p:spPr bwMode="auto">
            <a:xfrm>
              <a:off x="2653" y="2341"/>
              <a:ext cx="589" cy="182"/>
            </a:xfrm>
            <a:prstGeom prst="rightArrow">
              <a:avLst>
                <a:gd name="adj1" fmla="val 50000"/>
                <a:gd name="adj2" fmla="val 80907"/>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zh-CN" altLang="en-US" sz="2400" b="0" i="0" u="none" strike="noStrike" kern="0" cap="none" spc="0" normalizeH="0" baseline="0" noProof="0">
                <a:ln>
                  <a:noFill/>
                </a:ln>
                <a:solidFill>
                  <a:srgbClr val="000000"/>
                </a:solidFill>
                <a:effectLst/>
                <a:uLnTx/>
                <a:uFillTx/>
                <a:latin typeface="Times New Roman" pitchFamily="18" charset="0"/>
              </a:endParaRPr>
            </a:p>
          </p:txBody>
        </p:sp>
      </p:grpSp>
      <p:sp>
        <p:nvSpPr>
          <p:cNvPr id="23" name="Text Box 22"/>
          <p:cNvSpPr txBox="1">
            <a:spLocks noChangeArrowheads="1"/>
          </p:cNvSpPr>
          <p:nvPr/>
        </p:nvSpPr>
        <p:spPr bwMode="auto">
          <a:xfrm>
            <a:off x="7308850" y="4137645"/>
            <a:ext cx="863600" cy="379413"/>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a:spAutoFit/>
          </a:bodyPr>
          <a:lstStyle>
            <a:lvl1pPr eaLnBrk="0" hangingPunct="0">
              <a:defRPr sz="2400">
                <a:solidFill>
                  <a:schemeClr val="tx1"/>
                </a:solidFill>
                <a:latin typeface="Times New Roman" pitchFamily="18" charset="0"/>
                <a:ea typeface="宋体" pitchFamily="2" charset="-122"/>
              </a:defRPr>
            </a:lvl1pPr>
            <a:lvl2pPr marL="742950" indent="-285750" eaLnBrk="0" hangingPunct="0">
              <a:defRPr sz="2400">
                <a:solidFill>
                  <a:schemeClr val="tx1"/>
                </a:solidFill>
                <a:latin typeface="Times New Roman" pitchFamily="18" charset="0"/>
                <a:ea typeface="宋体" pitchFamily="2" charset="-122"/>
              </a:defRPr>
            </a:lvl2pPr>
            <a:lvl3pPr marL="1143000" indent="-228600" eaLnBrk="0" hangingPunct="0">
              <a:defRPr sz="2400">
                <a:solidFill>
                  <a:schemeClr val="tx1"/>
                </a:solidFill>
                <a:latin typeface="Times New Roman" pitchFamily="18" charset="0"/>
                <a:ea typeface="宋体" pitchFamily="2" charset="-122"/>
              </a:defRPr>
            </a:lvl3pPr>
            <a:lvl4pPr marL="1600200" indent="-228600" eaLnBrk="0" hangingPunct="0">
              <a:defRPr sz="2400">
                <a:solidFill>
                  <a:schemeClr val="tx1"/>
                </a:solidFill>
                <a:latin typeface="Times New Roman" pitchFamily="18" charset="0"/>
                <a:ea typeface="宋体" pitchFamily="2" charset="-122"/>
              </a:defRPr>
            </a:lvl4pPr>
            <a:lvl5pPr marL="2057400" indent="-228600" eaLnBrk="0" hangingPunct="0">
              <a:defRPr sz="2400">
                <a:solidFill>
                  <a:schemeClr val="tx1"/>
                </a:solidFill>
                <a:latin typeface="Times New Roman" pitchFamily="18" charset="0"/>
                <a:ea typeface="宋体" pitchFamily="2" charset="-122"/>
              </a:defRPr>
            </a:lvl5pPr>
            <a:lvl6pPr marL="2514600" indent="-228600" eaLnBrk="0" fontAlgn="base" hangingPunct="0">
              <a:spcBef>
                <a:spcPct val="0"/>
              </a:spcBef>
              <a:spcAft>
                <a:spcPct val="0"/>
              </a:spcAft>
              <a:defRPr sz="2400">
                <a:solidFill>
                  <a:schemeClr val="tx1"/>
                </a:solidFill>
                <a:latin typeface="Times New Roman" pitchFamily="18" charset="0"/>
                <a:ea typeface="宋体" pitchFamily="2" charset="-122"/>
              </a:defRPr>
            </a:lvl6pPr>
            <a:lvl7pPr marL="2971800" indent="-228600" eaLnBrk="0" fontAlgn="base" hangingPunct="0">
              <a:spcBef>
                <a:spcPct val="0"/>
              </a:spcBef>
              <a:spcAft>
                <a:spcPct val="0"/>
              </a:spcAft>
              <a:defRPr sz="2400">
                <a:solidFill>
                  <a:schemeClr val="tx1"/>
                </a:solidFill>
                <a:latin typeface="Times New Roman" pitchFamily="18" charset="0"/>
                <a:ea typeface="宋体" pitchFamily="2" charset="-122"/>
              </a:defRPr>
            </a:lvl7pPr>
            <a:lvl8pPr marL="3429000" indent="-228600" eaLnBrk="0" fontAlgn="base" hangingPunct="0">
              <a:spcBef>
                <a:spcPct val="0"/>
              </a:spcBef>
              <a:spcAft>
                <a:spcPct val="0"/>
              </a:spcAft>
              <a:defRPr sz="2400">
                <a:solidFill>
                  <a:schemeClr val="tx1"/>
                </a:solidFill>
                <a:latin typeface="Times New Roman" pitchFamily="18" charset="0"/>
                <a:ea typeface="宋体" pitchFamily="2" charset="-122"/>
              </a:defRPr>
            </a:lvl8pPr>
            <a:lvl9pPr marL="3886200" indent="-228600" eaLnBrk="0" fontAlgn="base" hangingPunct="0">
              <a:spcBef>
                <a:spcPct val="0"/>
              </a:spcBef>
              <a:spcAft>
                <a:spcPct val="0"/>
              </a:spcAft>
              <a:defRPr sz="2400">
                <a:solidFill>
                  <a:schemeClr val="tx1"/>
                </a:solidFill>
                <a:latin typeface="Times New Roman" pitchFamily="18" charset="0"/>
                <a:ea typeface="宋体" pitchFamily="2" charset="-122"/>
              </a:defRPr>
            </a:lvl9pPr>
          </a:lstStyle>
          <a:p>
            <a:pPr eaLnBrk="1" fontAlgn="base" hangingPunct="1">
              <a:spcBef>
                <a:spcPct val="50000"/>
              </a:spcBef>
              <a:spcAft>
                <a:spcPct val="0"/>
              </a:spcAft>
            </a:pPr>
            <a:r>
              <a:rPr kumimoji="1" lang="en-US" altLang="zh-CN" sz="1800" b="1" dirty="0">
                <a:solidFill>
                  <a:schemeClr val="bg1"/>
                </a:solidFill>
                <a:latin typeface="Palatino Linotype" pitchFamily="18" charset="0"/>
              </a:rPr>
              <a:t>? = </a:t>
            </a:r>
            <a:r>
              <a:rPr kumimoji="1" lang="zh-CN" altLang="en-US" sz="1800" b="1" dirty="0">
                <a:solidFill>
                  <a:schemeClr val="bg1"/>
                </a:solidFill>
                <a:latin typeface="幼圆" panose="02010509060101010101" pitchFamily="49" charset="-122"/>
                <a:ea typeface="幼圆" panose="02010509060101010101" pitchFamily="49" charset="-122"/>
              </a:rPr>
              <a:t>是</a:t>
            </a:r>
            <a:endParaRPr kumimoji="1" lang="en-US" altLang="zh-CN" sz="1800" b="1" i="1" dirty="0">
              <a:solidFill>
                <a:schemeClr val="bg1"/>
              </a:solidFill>
              <a:latin typeface="幼圆" panose="02010509060101010101" pitchFamily="49" charset="-122"/>
              <a:ea typeface="幼圆" panose="02010509060101010101" pitchFamily="49" charset="-122"/>
            </a:endParaRPr>
          </a:p>
        </p:txBody>
      </p:sp>
      <p:grpSp>
        <p:nvGrpSpPr>
          <p:cNvPr id="24" name="Group 23"/>
          <p:cNvGrpSpPr>
            <a:grpSpLocks/>
          </p:cNvGrpSpPr>
          <p:nvPr/>
        </p:nvGrpSpPr>
        <p:grpSpPr bwMode="auto">
          <a:xfrm>
            <a:off x="4322765" y="4229721"/>
            <a:ext cx="4227514" cy="1793876"/>
            <a:chOff x="2723" y="3158"/>
            <a:chExt cx="2663" cy="1130"/>
          </a:xfrm>
        </p:grpSpPr>
        <p:grpSp>
          <p:nvGrpSpPr>
            <p:cNvPr id="25" name="Group 24"/>
            <p:cNvGrpSpPr>
              <a:grpSpLocks/>
            </p:cNvGrpSpPr>
            <p:nvPr/>
          </p:nvGrpSpPr>
          <p:grpSpPr bwMode="auto">
            <a:xfrm>
              <a:off x="2723" y="3158"/>
              <a:ext cx="1944" cy="613"/>
              <a:chOff x="4050" y="3094"/>
              <a:chExt cx="1944" cy="613"/>
            </a:xfrm>
          </p:grpSpPr>
          <p:grpSp>
            <p:nvGrpSpPr>
              <p:cNvPr id="28" name="Group 25"/>
              <p:cNvGrpSpPr>
                <a:grpSpLocks/>
              </p:cNvGrpSpPr>
              <p:nvPr/>
            </p:nvGrpSpPr>
            <p:grpSpPr bwMode="auto">
              <a:xfrm>
                <a:off x="4595" y="3094"/>
                <a:ext cx="768" cy="296"/>
                <a:chOff x="4175" y="2008"/>
                <a:chExt cx="1137" cy="514"/>
              </a:xfrm>
            </p:grpSpPr>
            <p:pic>
              <p:nvPicPr>
                <p:cNvPr id="32" name="Picture 26"/>
                <p:cNvPicPr>
                  <a:picLocks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187" y="2008"/>
                  <a:ext cx="1122" cy="5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3" name="Rectangle 27"/>
                <p:cNvSpPr>
                  <a:spLocks noChangeArrowheads="1"/>
                </p:cNvSpPr>
                <p:nvPr/>
              </p:nvSpPr>
              <p:spPr bwMode="auto">
                <a:xfrm>
                  <a:off x="4175" y="2109"/>
                  <a:ext cx="1137" cy="3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zh-CN" altLang="en-US" sz="1600" b="1" i="0" u="none" strike="noStrike" kern="0" cap="none" spc="0" normalizeH="0" baseline="0" noProof="0" dirty="0">
                      <a:ln>
                        <a:noFill/>
                      </a:ln>
                      <a:solidFill>
                        <a:srgbClr val="000000"/>
                      </a:solidFill>
                      <a:effectLst/>
                      <a:uLnTx/>
                      <a:uFillTx/>
                      <a:latin typeface="幼圆" pitchFamily="49" charset="-122"/>
                      <a:ea typeface="幼圆" pitchFamily="49" charset="-122"/>
                    </a:rPr>
                    <a:t>新数据样本</a:t>
                  </a:r>
                  <a:endParaRPr kumimoji="1" lang="en-US" altLang="zh-CN" sz="1600" b="1" i="0" u="none" strike="noStrike" kern="0" cap="none" spc="0" normalizeH="0" baseline="0" noProof="0" dirty="0">
                    <a:ln>
                      <a:noFill/>
                    </a:ln>
                    <a:solidFill>
                      <a:srgbClr val="000000"/>
                    </a:solidFill>
                    <a:effectLst/>
                    <a:uLnTx/>
                    <a:uFillTx/>
                    <a:latin typeface="幼圆" pitchFamily="49" charset="-122"/>
                    <a:ea typeface="幼圆" pitchFamily="49" charset="-122"/>
                  </a:endParaRPr>
                </a:p>
              </p:txBody>
            </p:sp>
          </p:grpSp>
          <p:sp>
            <p:nvSpPr>
              <p:cNvPr id="29" name="Rectangle 28"/>
              <p:cNvSpPr>
                <a:spLocks noChangeArrowheads="1"/>
              </p:cNvSpPr>
              <p:nvPr/>
            </p:nvSpPr>
            <p:spPr bwMode="auto">
              <a:xfrm>
                <a:off x="4050" y="3493"/>
                <a:ext cx="1944" cy="214"/>
              </a:xfrm>
              <a:prstGeom prst="rect">
                <a:avLst/>
              </a:prstGeom>
              <a:ln>
                <a:headEnd/>
                <a:tailEnd/>
              </a:ln>
            </p:spPr>
            <p:style>
              <a:lnRef idx="0">
                <a:schemeClr val="accent4"/>
              </a:lnRef>
              <a:fillRef idx="3">
                <a:schemeClr val="accent4"/>
              </a:fillRef>
              <a:effectRef idx="3">
                <a:schemeClr val="accent4"/>
              </a:effectRef>
              <a:fontRef idx="minor">
                <a:schemeClr val="lt1"/>
              </a:fontRef>
            </p:style>
            <p:txBody>
              <a:bodyPr wrap="square" lIns="92075" tIns="46038" rIns="92075" bIns="46038">
                <a:spAutoFit/>
              </a:body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altLang="zh-CN" sz="1600" b="0" i="0" u="none" strike="noStrike" kern="0" cap="none" spc="0" normalizeH="0" baseline="0" noProof="0" dirty="0">
                    <a:ln>
                      <a:noFill/>
                    </a:ln>
                    <a:solidFill>
                      <a:schemeClr val="bg1"/>
                    </a:solidFill>
                    <a:effectLst/>
                    <a:uLnTx/>
                    <a:uFillTx/>
                    <a:latin typeface="+mj-ea"/>
                    <a:ea typeface="+mj-ea"/>
                  </a:rPr>
                  <a:t>(</a:t>
                </a:r>
                <a:r>
                  <a:rPr kumimoji="1" lang="zh-CN" altLang="en-US" sz="1600" b="0" i="0" u="none" strike="noStrike" kern="0" cap="none" spc="0" normalizeH="0" baseline="0" noProof="0" dirty="0">
                    <a:ln>
                      <a:noFill/>
                    </a:ln>
                    <a:solidFill>
                      <a:schemeClr val="bg1"/>
                    </a:solidFill>
                    <a:effectLst/>
                    <a:uLnTx/>
                    <a:uFillTx/>
                    <a:latin typeface="+mj-ea"/>
                    <a:ea typeface="+mj-ea"/>
                  </a:rPr>
                  <a:t>刘二</a:t>
                </a:r>
                <a:r>
                  <a:rPr kumimoji="1" lang="en-US" altLang="zh-CN" sz="1600" b="0" i="0" u="none" strike="noStrike" kern="0" cap="none" spc="0" normalizeH="0" baseline="0" noProof="0" dirty="0">
                    <a:ln>
                      <a:noFill/>
                    </a:ln>
                    <a:solidFill>
                      <a:schemeClr val="bg1"/>
                    </a:solidFill>
                    <a:effectLst/>
                    <a:uLnTx/>
                    <a:uFillTx/>
                    <a:latin typeface="+mj-ea"/>
                    <a:ea typeface="+mj-ea"/>
                  </a:rPr>
                  <a:t>, </a:t>
                </a:r>
                <a:r>
                  <a:rPr kumimoji="1" lang="zh-CN" altLang="en-US" sz="1600" b="0" i="0" u="none" strike="noStrike" kern="0" cap="none" spc="0" normalizeH="0" baseline="0" noProof="0" dirty="0">
                    <a:ln>
                      <a:noFill/>
                    </a:ln>
                    <a:solidFill>
                      <a:schemeClr val="bg1"/>
                    </a:solidFill>
                    <a:effectLst/>
                    <a:uLnTx/>
                    <a:uFillTx/>
                    <a:latin typeface="+mj-ea"/>
                    <a:ea typeface="+mj-ea"/>
                  </a:rPr>
                  <a:t>公务员</a:t>
                </a:r>
                <a:r>
                  <a:rPr kumimoji="1" lang="en-US" altLang="zh-CN" sz="1600" b="0" i="0" u="none" strike="noStrike" kern="0" cap="none" spc="0" normalizeH="0" baseline="0" noProof="0" dirty="0">
                    <a:ln>
                      <a:noFill/>
                    </a:ln>
                    <a:solidFill>
                      <a:schemeClr val="bg1"/>
                    </a:solidFill>
                    <a:effectLst/>
                    <a:uLnTx/>
                    <a:uFillTx/>
                    <a:latin typeface="+mj-ea"/>
                    <a:ea typeface="+mj-ea"/>
                  </a:rPr>
                  <a:t>, 8</a:t>
                </a:r>
                <a:r>
                  <a:rPr kumimoji="1" lang="zh-CN" altLang="en-US" sz="1600" b="0" i="0" u="none" strike="noStrike" kern="0" cap="none" spc="0" normalizeH="0" baseline="0" noProof="0" dirty="0">
                    <a:ln>
                      <a:noFill/>
                    </a:ln>
                    <a:solidFill>
                      <a:schemeClr val="bg1"/>
                    </a:solidFill>
                    <a:effectLst/>
                    <a:uLnTx/>
                    <a:uFillTx/>
                    <a:latin typeface="+mj-ea"/>
                    <a:ea typeface="+mj-ea"/>
                  </a:rPr>
                  <a:t>万</a:t>
                </a:r>
                <a:r>
                  <a:rPr kumimoji="1" lang="en-US" altLang="zh-CN" sz="1600" b="0" i="0" u="none" strike="noStrike" kern="0" cap="none" spc="0" normalizeH="0" baseline="0" noProof="0" dirty="0">
                    <a:ln>
                      <a:noFill/>
                    </a:ln>
                    <a:solidFill>
                      <a:schemeClr val="bg1"/>
                    </a:solidFill>
                    <a:effectLst/>
                    <a:uLnTx/>
                    <a:uFillTx/>
                    <a:latin typeface="+mj-ea"/>
                    <a:ea typeface="+mj-ea"/>
                  </a:rPr>
                  <a:t>, …,  ?)</a:t>
                </a:r>
              </a:p>
            </p:txBody>
          </p:sp>
          <p:sp>
            <p:nvSpPr>
              <p:cNvPr id="30" name="Line 29"/>
              <p:cNvSpPr>
                <a:spLocks noChangeShapeType="1"/>
              </p:cNvSpPr>
              <p:nvPr/>
            </p:nvSpPr>
            <p:spPr bwMode="auto">
              <a:xfrm flipH="1">
                <a:off x="4275" y="3334"/>
                <a:ext cx="306" cy="144"/>
              </a:xfrm>
              <a:prstGeom prst="line">
                <a:avLst/>
              </a:prstGeom>
              <a:noFill/>
              <a:ln w="12700">
                <a:solidFill>
                  <a:srgbClr val="0000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zh-CN" altLang="en-US" sz="2400" b="0" i="0" u="none" strike="noStrike" kern="0" cap="none" spc="0" normalizeH="0" baseline="0" noProof="0">
                  <a:ln>
                    <a:noFill/>
                  </a:ln>
                  <a:solidFill>
                    <a:srgbClr val="000000"/>
                  </a:solidFill>
                  <a:effectLst/>
                  <a:uLnTx/>
                  <a:uFillTx/>
                  <a:latin typeface="Times New Roman" pitchFamily="18" charset="0"/>
                </a:endParaRPr>
              </a:p>
            </p:txBody>
          </p:sp>
          <p:sp>
            <p:nvSpPr>
              <p:cNvPr id="31" name="Line 30"/>
              <p:cNvSpPr>
                <a:spLocks noChangeShapeType="1"/>
              </p:cNvSpPr>
              <p:nvPr/>
            </p:nvSpPr>
            <p:spPr bwMode="auto">
              <a:xfrm>
                <a:off x="5362" y="3334"/>
                <a:ext cx="297" cy="144"/>
              </a:xfrm>
              <a:prstGeom prst="line">
                <a:avLst/>
              </a:prstGeom>
              <a:noFill/>
              <a:ln w="12700">
                <a:solidFill>
                  <a:srgbClr val="0000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zh-CN" altLang="en-US" sz="2400" b="0" i="0" u="none" strike="noStrike" kern="0" cap="none" spc="0" normalizeH="0" baseline="0" noProof="0">
                  <a:ln>
                    <a:noFill/>
                  </a:ln>
                  <a:solidFill>
                    <a:srgbClr val="000000"/>
                  </a:solidFill>
                  <a:effectLst/>
                  <a:uLnTx/>
                  <a:uFillTx/>
                  <a:latin typeface="Times New Roman" pitchFamily="18" charset="0"/>
                </a:endParaRPr>
              </a:p>
            </p:txBody>
          </p:sp>
        </p:grpSp>
        <p:sp>
          <p:nvSpPr>
            <p:cNvPr id="26" name="Line 31"/>
            <p:cNvSpPr>
              <a:spLocks noChangeShapeType="1"/>
            </p:cNvSpPr>
            <p:nvPr/>
          </p:nvSpPr>
          <p:spPr bwMode="auto">
            <a:xfrm>
              <a:off x="4416" y="3771"/>
              <a:ext cx="322" cy="330"/>
            </a:xfrm>
            <a:prstGeom prst="line">
              <a:avLst/>
            </a:prstGeom>
            <a:noFill/>
            <a:ln w="25400">
              <a:solidFill>
                <a:schemeClr val="accent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zh-CN" altLang="en-US" sz="2400" b="0" i="0" u="none" strike="noStrike" kern="0" cap="none" spc="0" normalizeH="0" baseline="0" noProof="0">
                <a:ln>
                  <a:noFill/>
                </a:ln>
                <a:solidFill>
                  <a:srgbClr val="000000"/>
                </a:solidFill>
                <a:effectLst/>
                <a:uLnTx/>
                <a:uFillTx/>
                <a:latin typeface="Times New Roman" pitchFamily="18" charset="0"/>
              </a:endParaRPr>
            </a:p>
          </p:txBody>
        </p:sp>
        <p:sp>
          <p:nvSpPr>
            <p:cNvPr id="27" name="Text Box 32"/>
            <p:cNvSpPr txBox="1">
              <a:spLocks noChangeArrowheads="1"/>
            </p:cNvSpPr>
            <p:nvPr/>
          </p:nvSpPr>
          <p:spPr bwMode="auto">
            <a:xfrm>
              <a:off x="4738" y="3920"/>
              <a:ext cx="648" cy="368"/>
            </a:xfrm>
            <a:prstGeom prst="rect">
              <a:avLst/>
            </a:prstGeom>
            <a:noFill/>
            <a:ln w="12700">
              <a:solidFill>
                <a:schemeClr val="accent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2400">
                  <a:solidFill>
                    <a:schemeClr val="tx1"/>
                  </a:solidFill>
                  <a:latin typeface="Times New Roman" pitchFamily="18" charset="0"/>
                  <a:ea typeface="宋体" pitchFamily="2" charset="-122"/>
                </a:defRPr>
              </a:lvl1pPr>
              <a:lvl2pPr marL="742950" indent="-285750" eaLnBrk="0" hangingPunct="0">
                <a:defRPr sz="2400">
                  <a:solidFill>
                    <a:schemeClr val="tx1"/>
                  </a:solidFill>
                  <a:latin typeface="Times New Roman" pitchFamily="18" charset="0"/>
                  <a:ea typeface="宋体" pitchFamily="2" charset="-122"/>
                </a:defRPr>
              </a:lvl2pPr>
              <a:lvl3pPr marL="1143000" indent="-228600" eaLnBrk="0" hangingPunct="0">
                <a:defRPr sz="2400">
                  <a:solidFill>
                    <a:schemeClr val="tx1"/>
                  </a:solidFill>
                  <a:latin typeface="Times New Roman" pitchFamily="18" charset="0"/>
                  <a:ea typeface="宋体" pitchFamily="2" charset="-122"/>
                </a:defRPr>
              </a:lvl3pPr>
              <a:lvl4pPr marL="1600200" indent="-228600" eaLnBrk="0" hangingPunct="0">
                <a:defRPr sz="2400">
                  <a:solidFill>
                    <a:schemeClr val="tx1"/>
                  </a:solidFill>
                  <a:latin typeface="Times New Roman" pitchFamily="18" charset="0"/>
                  <a:ea typeface="宋体" pitchFamily="2" charset="-122"/>
                </a:defRPr>
              </a:lvl4pPr>
              <a:lvl5pPr marL="2057400" indent="-228600" eaLnBrk="0" hangingPunct="0">
                <a:defRPr sz="2400">
                  <a:solidFill>
                    <a:schemeClr val="tx1"/>
                  </a:solidFill>
                  <a:latin typeface="Times New Roman" pitchFamily="18" charset="0"/>
                  <a:ea typeface="宋体" pitchFamily="2" charset="-122"/>
                </a:defRPr>
              </a:lvl5pPr>
              <a:lvl6pPr marL="2514600" indent="-228600" eaLnBrk="0" fontAlgn="base" hangingPunct="0">
                <a:spcBef>
                  <a:spcPct val="0"/>
                </a:spcBef>
                <a:spcAft>
                  <a:spcPct val="0"/>
                </a:spcAft>
                <a:defRPr sz="2400">
                  <a:solidFill>
                    <a:schemeClr val="tx1"/>
                  </a:solidFill>
                  <a:latin typeface="Times New Roman" pitchFamily="18" charset="0"/>
                  <a:ea typeface="宋体" pitchFamily="2" charset="-122"/>
                </a:defRPr>
              </a:lvl6pPr>
              <a:lvl7pPr marL="2971800" indent="-228600" eaLnBrk="0" fontAlgn="base" hangingPunct="0">
                <a:spcBef>
                  <a:spcPct val="0"/>
                </a:spcBef>
                <a:spcAft>
                  <a:spcPct val="0"/>
                </a:spcAft>
                <a:defRPr sz="2400">
                  <a:solidFill>
                    <a:schemeClr val="tx1"/>
                  </a:solidFill>
                  <a:latin typeface="Times New Roman" pitchFamily="18" charset="0"/>
                  <a:ea typeface="宋体" pitchFamily="2" charset="-122"/>
                </a:defRPr>
              </a:lvl7pPr>
              <a:lvl8pPr marL="3429000" indent="-228600" eaLnBrk="0" fontAlgn="base" hangingPunct="0">
                <a:spcBef>
                  <a:spcPct val="0"/>
                </a:spcBef>
                <a:spcAft>
                  <a:spcPct val="0"/>
                </a:spcAft>
                <a:defRPr sz="2400">
                  <a:solidFill>
                    <a:schemeClr val="tx1"/>
                  </a:solidFill>
                  <a:latin typeface="Times New Roman" pitchFamily="18" charset="0"/>
                  <a:ea typeface="宋体" pitchFamily="2" charset="-122"/>
                </a:defRPr>
              </a:lvl8pPr>
              <a:lvl9pPr marL="3886200" indent="-228600" eaLnBrk="0" fontAlgn="base" hangingPunct="0">
                <a:spcBef>
                  <a:spcPct val="0"/>
                </a:spcBef>
                <a:spcAft>
                  <a:spcPct val="0"/>
                </a:spcAft>
                <a:defRPr sz="2400">
                  <a:solidFill>
                    <a:schemeClr val="tx1"/>
                  </a:solidFill>
                  <a:latin typeface="Times New Roman" pitchFamily="18" charset="0"/>
                  <a:ea typeface="宋体" pitchFamily="2" charset="-122"/>
                </a:defRPr>
              </a:lvl9pPr>
            </a:lstStyle>
            <a:p>
              <a:pPr marL="0" marR="0" lvl="0" indent="0" algn="ctr" defTabSz="914400" eaLnBrk="1" fontAlgn="base" latinLnBrk="0" hangingPunct="1">
                <a:lnSpc>
                  <a:spcPct val="100000"/>
                </a:lnSpc>
                <a:spcBef>
                  <a:spcPct val="50000"/>
                </a:spcBef>
                <a:spcAft>
                  <a:spcPct val="0"/>
                </a:spcAft>
                <a:buClrTx/>
                <a:buSzTx/>
                <a:buFontTx/>
                <a:buNone/>
                <a:tabLst/>
                <a:defRPr/>
              </a:pPr>
              <a:r>
                <a:rPr kumimoji="0" lang="zh-CN" altLang="en-US" sz="1600" b="1" i="0" u="none" strike="noStrike" kern="0" cap="none" spc="0" normalizeH="0" baseline="0" noProof="0" dirty="0">
                  <a:ln>
                    <a:noFill/>
                  </a:ln>
                  <a:solidFill>
                    <a:schemeClr val="tx2"/>
                  </a:solidFill>
                  <a:effectLst/>
                  <a:uLnTx/>
                  <a:uFillTx/>
                  <a:latin typeface="幼圆" pitchFamily="49" charset="-122"/>
                  <a:ea typeface="幼圆" pitchFamily="49" charset="-122"/>
                </a:rPr>
                <a:t>类别标记未知</a:t>
              </a:r>
              <a:endParaRPr kumimoji="0" lang="en-US" altLang="zh-CN" sz="1600" b="1" i="0" u="none" strike="noStrike" kern="0" cap="none" spc="0" normalizeH="0" baseline="0" noProof="0" dirty="0">
                <a:ln>
                  <a:noFill/>
                </a:ln>
                <a:solidFill>
                  <a:schemeClr val="tx2"/>
                </a:solidFill>
                <a:effectLst/>
                <a:uLnTx/>
                <a:uFillTx/>
                <a:latin typeface="幼圆" pitchFamily="49" charset="-122"/>
                <a:ea typeface="幼圆" pitchFamily="49" charset="-122"/>
              </a:endParaRPr>
            </a:p>
          </p:txBody>
        </p:sp>
      </p:grpSp>
      <p:sp>
        <p:nvSpPr>
          <p:cNvPr id="34" name="AutoShape 33"/>
          <p:cNvSpPr>
            <a:spLocks/>
          </p:cNvSpPr>
          <p:nvPr/>
        </p:nvSpPr>
        <p:spPr bwMode="auto">
          <a:xfrm>
            <a:off x="4679953" y="1421433"/>
            <a:ext cx="4348137" cy="401637"/>
          </a:xfrm>
          <a:prstGeom prst="borderCallout1">
            <a:avLst>
              <a:gd name="adj1" fmla="val 46245"/>
              <a:gd name="adj2" fmla="val -2861"/>
              <a:gd name="adj3" fmla="val 294356"/>
              <a:gd name="adj4" fmla="val -14490"/>
            </a:avLst>
          </a:prstGeom>
          <a:ln>
            <a:headEnd/>
            <a:tailEnd/>
          </a:ln>
        </p:spPr>
        <p:style>
          <a:lnRef idx="0">
            <a:schemeClr val="accent3"/>
          </a:lnRef>
          <a:fillRef idx="3">
            <a:schemeClr val="accent3"/>
          </a:fillRef>
          <a:effectRef idx="3">
            <a:schemeClr val="accent3"/>
          </a:effectRef>
          <a:fontRef idx="minor">
            <a:schemeClr val="lt1"/>
          </a:fontRef>
        </p:style>
        <p:txBody>
          <a:bodyPr/>
          <a:lstStyle/>
          <a:p>
            <a:pPr marL="0" marR="0" lvl="0" indent="0" defTabSz="914400" eaLnBrk="1" fontAlgn="base" latinLnBrk="0" hangingPunct="1">
              <a:lnSpc>
                <a:spcPct val="100000"/>
              </a:lnSpc>
              <a:spcBef>
                <a:spcPct val="0"/>
              </a:spcBef>
              <a:spcAft>
                <a:spcPct val="0"/>
              </a:spcAft>
              <a:buClrTx/>
              <a:buSzTx/>
              <a:buFontTx/>
              <a:buNone/>
              <a:tabLst/>
              <a:defRPr/>
            </a:pPr>
            <a:r>
              <a:rPr kumimoji="0" lang="zh-CN" altLang="en-US" sz="1800" b="1" i="0" u="none" strike="noStrike" kern="0" cap="none" spc="0" normalizeH="0" baseline="0" noProof="0" dirty="0">
                <a:ln>
                  <a:noFill/>
                </a:ln>
                <a:solidFill>
                  <a:schemeClr val="bg1"/>
                </a:solidFill>
                <a:effectLst/>
                <a:uLnTx/>
                <a:uFillTx/>
                <a:latin typeface="Palatino Linotype" pitchFamily="18" charset="0"/>
                <a:ea typeface="幼圆" pitchFamily="49" charset="-122"/>
              </a:rPr>
              <a:t>使用学习算法</a:t>
            </a:r>
            <a:r>
              <a:rPr kumimoji="0" lang="zh-CN" altLang="en-US" sz="1800" b="1" i="0" u="none" strike="noStrike" kern="0" cap="none" spc="0" normalizeH="0" baseline="0" noProof="0" dirty="0">
                <a:ln>
                  <a:noFill/>
                </a:ln>
                <a:solidFill>
                  <a:schemeClr val="bg1"/>
                </a:solidFill>
                <a:effectLst/>
                <a:uLnTx/>
                <a:uFillTx/>
                <a:latin typeface="Verdana" panose="020B0604030504040204" pitchFamily="34" charset="0"/>
                <a:ea typeface="幼圆" pitchFamily="49" charset="-122"/>
                <a:cs typeface="Verdana" panose="020B0604030504040204" pitchFamily="34" charset="0"/>
              </a:rPr>
              <a:t>（</a:t>
            </a:r>
            <a:r>
              <a:rPr kumimoji="0" lang="en-US" altLang="zh-CN" sz="1800" b="1" i="1" u="none" strike="noStrike" kern="0" cap="none" spc="0" normalizeH="0" baseline="0" noProof="0" dirty="0">
                <a:ln>
                  <a:noFill/>
                </a:ln>
                <a:solidFill>
                  <a:schemeClr val="bg1"/>
                </a:solidFill>
                <a:effectLst/>
                <a:uLnTx/>
                <a:uFillTx/>
                <a:latin typeface="Verdana" panose="020B0604030504040204" pitchFamily="34" charset="0"/>
                <a:ea typeface="Verdana" panose="020B0604030504040204" pitchFamily="34" charset="0"/>
                <a:cs typeface="Verdana" panose="020B0604030504040204" pitchFamily="34" charset="0"/>
              </a:rPr>
              <a:t>learning algorithm</a:t>
            </a:r>
            <a:r>
              <a:rPr kumimoji="0" lang="zh-CN" altLang="en-US" sz="1800" b="1" i="0" u="none" strike="noStrike" kern="0" cap="none" spc="0" normalizeH="0" baseline="0" noProof="0" dirty="0">
                <a:ln>
                  <a:noFill/>
                </a:ln>
                <a:solidFill>
                  <a:schemeClr val="bg1"/>
                </a:solidFill>
                <a:effectLst/>
                <a:uLnTx/>
                <a:uFillTx/>
                <a:latin typeface="Verdana" panose="020B0604030504040204" pitchFamily="34" charset="0"/>
                <a:ea typeface="幼圆" pitchFamily="49" charset="-122"/>
                <a:cs typeface="Verdana" panose="020B0604030504040204" pitchFamily="34" charset="0"/>
              </a:rPr>
              <a:t>）</a:t>
            </a:r>
            <a:endParaRPr kumimoji="0" lang="en-US" altLang="zh-CN" sz="1800" b="1" i="0" u="none" strike="noStrike" kern="0" cap="none" spc="0" normalizeH="0" baseline="0" noProof="0" dirty="0">
              <a:ln>
                <a:noFill/>
              </a:ln>
              <a:solidFill>
                <a:schemeClr val="bg1"/>
              </a:solidFill>
              <a:effectLst/>
              <a:uLnTx/>
              <a:uFillTx/>
              <a:latin typeface="Verdana" panose="020B0604030504040204" pitchFamily="34" charset="0"/>
              <a:ea typeface="Verdana" panose="020B0604030504040204" pitchFamily="34" charset="0"/>
              <a:cs typeface="Verdana" panose="020B0604030504040204" pitchFamily="34" charset="0"/>
            </a:endParaRPr>
          </a:p>
        </p:txBody>
      </p:sp>
    </p:spTree>
    <p:extLst>
      <p:ext uri="{BB962C8B-B14F-4D97-AF65-F5344CB8AC3E}">
        <p14:creationId xmlns:p14="http://schemas.microsoft.com/office/powerpoint/2010/main" val="37801951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wipe(left)">
                                      <p:cBhvr>
                                        <p:cTn id="7" dur="750"/>
                                        <p:tgtEl>
                                          <p:spTgt spid="20"/>
                                        </p:tgtEl>
                                      </p:cBhvr>
                                    </p:animEffect>
                                  </p:childTnLst>
                                </p:cTn>
                              </p:par>
                            </p:childTnLst>
                          </p:cTn>
                        </p:par>
                        <p:par>
                          <p:cTn id="8" fill="hold">
                            <p:stCondLst>
                              <p:cond delay="750"/>
                            </p:stCondLst>
                            <p:childTnLst>
                              <p:par>
                                <p:cTn id="9" presetID="22" presetClass="entr" presetSubtype="8" fill="hold" grpId="0" nodeType="after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wipe(left)">
                                      <p:cBhvr>
                                        <p:cTn id="11" dur="1000"/>
                                        <p:tgtEl>
                                          <p:spTgt spid="34"/>
                                        </p:tgtEl>
                                      </p:cBhvr>
                                    </p:animEffect>
                                  </p:childTnLst>
                                </p:cTn>
                              </p:par>
                            </p:childTnLst>
                          </p:cTn>
                        </p:par>
                        <p:par>
                          <p:cTn id="12" fill="hold">
                            <p:stCondLst>
                              <p:cond delay="1750"/>
                            </p:stCondLst>
                            <p:childTnLst>
                              <p:par>
                                <p:cTn id="13" presetID="22" presetClass="entr" presetSubtype="8"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5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nodeType="click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wipe(up)">
                                      <p:cBhvr>
                                        <p:cTn id="20" dur="500"/>
                                        <p:tgtEl>
                                          <p:spTgt spid="24"/>
                                        </p:tgtEl>
                                      </p:cBhvr>
                                    </p:animEffect>
                                  </p:childTnLst>
                                </p:cTn>
                              </p:par>
                            </p:childTnLst>
                          </p:cTn>
                        </p:par>
                        <p:par>
                          <p:cTn id="21" fill="hold">
                            <p:stCondLst>
                              <p:cond delay="500"/>
                            </p:stCondLst>
                            <p:childTnLst>
                              <p:par>
                                <p:cTn id="22" presetID="22" presetClass="entr" presetSubtype="4" fill="hold" grpId="0" nodeType="afterEffect">
                                  <p:stCondLst>
                                    <p:cond delay="500"/>
                                  </p:stCondLst>
                                  <p:childTnLst>
                                    <p:set>
                                      <p:cBhvr>
                                        <p:cTn id="23" dur="1" fill="hold">
                                          <p:stCondLst>
                                            <p:cond delay="0"/>
                                          </p:stCondLst>
                                        </p:cTn>
                                        <p:tgtEl>
                                          <p:spTgt spid="4"/>
                                        </p:tgtEl>
                                        <p:attrNameLst>
                                          <p:attrName>style.visibility</p:attrName>
                                        </p:attrNameLst>
                                      </p:cBhvr>
                                      <p:to>
                                        <p:strVal val="visible"/>
                                      </p:to>
                                    </p:set>
                                    <p:animEffect transition="in" filter="wipe(down)">
                                      <p:cBhvr>
                                        <p:cTn id="24" dur="500"/>
                                        <p:tgtEl>
                                          <p:spTgt spid="4"/>
                                        </p:tgtEl>
                                      </p:cBhvr>
                                    </p:animEffect>
                                  </p:childTnLst>
                                </p:cTn>
                              </p:par>
                            </p:childTnLst>
                          </p:cTn>
                        </p:par>
                        <p:par>
                          <p:cTn id="25" fill="hold">
                            <p:stCondLst>
                              <p:cond delay="1500"/>
                            </p:stCondLst>
                            <p:childTnLst>
                              <p:par>
                                <p:cTn id="26" presetID="22" presetClass="entr" presetSubtype="1" fill="hold" grpId="0" nodeType="afterEffect">
                                  <p:stCondLst>
                                    <p:cond delay="500"/>
                                  </p:stCondLst>
                                  <p:childTnLst>
                                    <p:set>
                                      <p:cBhvr>
                                        <p:cTn id="27" dur="1" fill="hold">
                                          <p:stCondLst>
                                            <p:cond delay="0"/>
                                          </p:stCondLst>
                                        </p:cTn>
                                        <p:tgtEl>
                                          <p:spTgt spid="3"/>
                                        </p:tgtEl>
                                        <p:attrNameLst>
                                          <p:attrName>style.visibility</p:attrName>
                                        </p:attrNameLst>
                                      </p:cBhvr>
                                      <p:to>
                                        <p:strVal val="visible"/>
                                      </p:to>
                                    </p:set>
                                    <p:animEffect transition="in" filter="wipe(up)">
                                      <p:cBhvr>
                                        <p:cTn id="28" dur="500"/>
                                        <p:tgtEl>
                                          <p:spTgt spid="3"/>
                                        </p:tgtEl>
                                      </p:cBhvr>
                                    </p:animEffect>
                                  </p:childTnLst>
                                </p:cTn>
                              </p:par>
                            </p:childTnLst>
                          </p:cTn>
                        </p:par>
                        <p:par>
                          <p:cTn id="29" fill="hold">
                            <p:stCondLst>
                              <p:cond delay="2500"/>
                            </p:stCondLst>
                            <p:childTnLst>
                              <p:par>
                                <p:cTn id="30" presetID="22" presetClass="entr" presetSubtype="8" fill="hold" grpId="0" nodeType="afterEffect">
                                  <p:stCondLst>
                                    <p:cond delay="50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23" grpId="0" animBg="1"/>
      <p:bldP spid="3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b="1" dirty="0"/>
              <a:t>西瓜问题：机器学习实例</a:t>
            </a:r>
          </a:p>
        </p:txBody>
      </p:sp>
      <p:sp>
        <p:nvSpPr>
          <p:cNvPr id="6" name="文本占位符 2"/>
          <p:cNvSpPr txBox="1">
            <a:spLocks/>
          </p:cNvSpPr>
          <p:nvPr/>
        </p:nvSpPr>
        <p:spPr>
          <a:xfrm>
            <a:off x="683568" y="1268760"/>
            <a:ext cx="7056784" cy="457200"/>
          </a:xfrm>
          <a:prstGeom prst="rect">
            <a:avLst/>
          </a:prstGeom>
        </p:spPr>
        <p:txBody>
          <a:bodyPr>
            <a:normAutofit fontScale="85000" lnSpcReduction="20000"/>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zh-CN" altLang="en-US" b="1" dirty="0"/>
              <a:t>实例：</a:t>
            </a:r>
            <a:r>
              <a:rPr lang="zh-CN" altLang="en-US" b="1" dirty="0">
                <a:solidFill>
                  <a:srgbClr val="FF0000"/>
                </a:solidFill>
              </a:rPr>
              <a:t>西瓜数据集</a:t>
            </a:r>
            <a:r>
              <a:rPr lang="en-US" altLang="zh-CN" b="1" dirty="0">
                <a:solidFill>
                  <a:srgbClr val="FF0000"/>
                </a:solidFill>
              </a:rPr>
              <a:t>1.0  </a:t>
            </a:r>
            <a:r>
              <a:rPr lang="zh-CN" altLang="en-US" b="1" dirty="0">
                <a:solidFill>
                  <a:srgbClr val="FF0000"/>
                </a:solidFill>
              </a:rPr>
              <a:t>表</a:t>
            </a:r>
            <a:r>
              <a:rPr lang="en-US" altLang="zh-CN" b="1" dirty="0">
                <a:solidFill>
                  <a:srgbClr val="FF0000"/>
                </a:solidFill>
              </a:rPr>
              <a:t>1.1@p4</a:t>
            </a:r>
            <a:endParaRPr lang="zh-CN" altLang="en-US" b="1" dirty="0">
              <a:solidFill>
                <a:srgbClr val="FF0000"/>
              </a:solidFill>
            </a:endParaRPr>
          </a:p>
        </p:txBody>
      </p:sp>
      <p:grpSp>
        <p:nvGrpSpPr>
          <p:cNvPr id="8" name="组合 7">
            <a:extLst>
              <a:ext uri="{FF2B5EF4-FFF2-40B4-BE49-F238E27FC236}">
                <a16:creationId xmlns:a16="http://schemas.microsoft.com/office/drawing/2014/main" id="{0111D911-19C3-4DEC-8D04-543BEB9FA428}"/>
              </a:ext>
            </a:extLst>
          </p:cNvPr>
          <p:cNvGrpSpPr/>
          <p:nvPr/>
        </p:nvGrpSpPr>
        <p:grpSpPr>
          <a:xfrm>
            <a:off x="1115616" y="1844824"/>
            <a:ext cx="7146144" cy="3815522"/>
            <a:chOff x="1115616" y="1844824"/>
            <a:chExt cx="7146144" cy="3815522"/>
          </a:xfrm>
        </p:grpSpPr>
        <p:grpSp>
          <p:nvGrpSpPr>
            <p:cNvPr id="9" name="组合 8">
              <a:extLst>
                <a:ext uri="{FF2B5EF4-FFF2-40B4-BE49-F238E27FC236}">
                  <a16:creationId xmlns:a16="http://schemas.microsoft.com/office/drawing/2014/main" id="{110871C5-FC2A-4A5A-8AC4-02181432AEE8}"/>
                </a:ext>
              </a:extLst>
            </p:cNvPr>
            <p:cNvGrpSpPr/>
            <p:nvPr/>
          </p:nvGrpSpPr>
          <p:grpSpPr>
            <a:xfrm>
              <a:off x="1115616" y="1844824"/>
              <a:ext cx="7146144" cy="3815522"/>
              <a:chOff x="2303748" y="2498116"/>
              <a:chExt cx="4524908" cy="1897123"/>
            </a:xfrm>
          </p:grpSpPr>
          <p:pic>
            <p:nvPicPr>
              <p:cNvPr id="11" name="Picture 2" descr="D:\老板的书\1.1.png">
                <a:extLst>
                  <a:ext uri="{FF2B5EF4-FFF2-40B4-BE49-F238E27FC236}">
                    <a16:creationId xmlns:a16="http://schemas.microsoft.com/office/drawing/2014/main" id="{EE5C9077-FAD1-493D-945E-47D09498255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03748" y="2498116"/>
                <a:ext cx="4513921" cy="1512168"/>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5" descr="C:\Users\sylar\Desktop\1.2.png">
                <a:extLst>
                  <a:ext uri="{FF2B5EF4-FFF2-40B4-BE49-F238E27FC236}">
                    <a16:creationId xmlns:a16="http://schemas.microsoft.com/office/drawing/2014/main" id="{8D44EA6A-0CAB-48B1-8680-E06DFF762E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19525" y="4050134"/>
                <a:ext cx="4509131" cy="345105"/>
              </a:xfrm>
              <a:prstGeom prst="rect">
                <a:avLst/>
              </a:prstGeom>
              <a:noFill/>
              <a:extLst>
                <a:ext uri="{909E8E84-426E-40DD-AFC4-6F175D3DCCD1}">
                  <a14:hiddenFill xmlns:a14="http://schemas.microsoft.com/office/drawing/2010/main">
                    <a:solidFill>
                      <a:srgbClr val="FFFFFF"/>
                    </a:solidFill>
                  </a14:hiddenFill>
                </a:ext>
              </a:extLst>
            </p:spPr>
          </p:pic>
        </p:grpSp>
        <p:sp>
          <p:nvSpPr>
            <p:cNvPr id="10" name="TextBox 3">
              <a:extLst>
                <a:ext uri="{FF2B5EF4-FFF2-40B4-BE49-F238E27FC236}">
                  <a16:creationId xmlns:a16="http://schemas.microsoft.com/office/drawing/2014/main" id="{BAA74268-D468-4205-AF97-D249A0A316CC}"/>
                </a:ext>
              </a:extLst>
            </p:cNvPr>
            <p:cNvSpPr txBox="1"/>
            <p:nvPr/>
          </p:nvSpPr>
          <p:spPr>
            <a:xfrm>
              <a:off x="5724128" y="3180804"/>
              <a:ext cx="1008112" cy="430887"/>
            </a:xfrm>
            <a:prstGeom prst="rect">
              <a:avLst/>
            </a:prstGeom>
            <a:solidFill>
              <a:schemeClr val="bg1"/>
            </a:solidFill>
          </p:spPr>
          <p:txBody>
            <a:bodyPr wrap="square" rtlCol="0">
              <a:spAutoFit/>
            </a:bodyPr>
            <a:lstStyle/>
            <a:p>
              <a:r>
                <a:rPr lang="zh-CN" altLang="en-US" sz="2200" b="1" dirty="0">
                  <a:latin typeface="楷体" panose="02010609060101010101" pitchFamily="49" charset="-122"/>
                  <a:ea typeface="楷体" panose="02010609060101010101" pitchFamily="49" charset="-122"/>
                </a:rPr>
                <a:t>浊响</a:t>
              </a:r>
            </a:p>
          </p:txBody>
        </p:sp>
      </p:grpSp>
    </p:spTree>
    <p:extLst>
      <p:ext uri="{BB962C8B-B14F-4D97-AF65-F5344CB8AC3E}">
        <p14:creationId xmlns:p14="http://schemas.microsoft.com/office/powerpoint/2010/main" val="16952611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2450" name="矩形 872449"/>
          <p:cNvSpPr/>
          <p:nvPr/>
        </p:nvSpPr>
        <p:spPr>
          <a:xfrm>
            <a:off x="685800" y="609600"/>
            <a:ext cx="7772400" cy="1143000"/>
          </a:xfrm>
          <a:prstGeom prst="rect">
            <a:avLst/>
          </a:prstGeom>
          <a:noFill/>
          <a:ln w="9525">
            <a:noFill/>
          </a:ln>
        </p:spPr>
        <p:txBody>
          <a:bodyPr anchor="ctr"/>
          <a:lstStyle/>
          <a:p>
            <a:pPr lvl="0" algn="ctr" eaLnBrk="1" hangingPunct="1"/>
            <a:r>
              <a:rPr lang="zh-CN" altLang="en-US" sz="4400" b="1" dirty="0">
                <a:solidFill>
                  <a:srgbClr val="0000FF"/>
                </a:solidFill>
                <a:latin typeface="Times New Roman" panose="02020603050405020304" pitchFamily="18" charset="0"/>
                <a:ea typeface="宋体" panose="02010600030101010101" pitchFamily="2" charset="-122"/>
              </a:rPr>
              <a:t>机器学习</a:t>
            </a:r>
            <a:r>
              <a:rPr lang="en-US" altLang="zh-CN" sz="4400" b="1" dirty="0">
                <a:solidFill>
                  <a:srgbClr val="0000FF"/>
                </a:solidFill>
                <a:latin typeface="Times New Roman" panose="02020603050405020304" pitchFamily="18" charset="0"/>
                <a:ea typeface="宋体" panose="02010600030101010101" pitchFamily="2" charset="-122"/>
              </a:rPr>
              <a:t>-</a:t>
            </a:r>
            <a:r>
              <a:rPr lang="zh-CN" altLang="en-US" sz="4400" b="1" dirty="0">
                <a:solidFill>
                  <a:srgbClr val="0000FF"/>
                </a:solidFill>
                <a:latin typeface="Times New Roman" panose="02020603050405020304" pitchFamily="18" charset="0"/>
                <a:ea typeface="宋体" panose="02010600030101010101" pitchFamily="2" charset="-122"/>
              </a:rPr>
              <a:t>观点</a:t>
            </a:r>
          </a:p>
        </p:txBody>
      </p:sp>
      <p:sp>
        <p:nvSpPr>
          <p:cNvPr id="872451" name="矩形 872450"/>
          <p:cNvSpPr/>
          <p:nvPr/>
        </p:nvSpPr>
        <p:spPr>
          <a:xfrm>
            <a:off x="685800" y="1812206"/>
            <a:ext cx="7772400" cy="4544144"/>
          </a:xfrm>
          <a:prstGeom prst="rect">
            <a:avLst/>
          </a:prstGeom>
          <a:noFill/>
          <a:ln w="9525">
            <a:noFill/>
          </a:ln>
        </p:spPr>
        <p:txBody>
          <a:bodyPr/>
          <a:lstStyle/>
          <a:p>
            <a:pPr marL="457200" lvl="0" indent="-457200" eaLnBrk="1" hangingPunct="1">
              <a:lnSpc>
                <a:spcPct val="90000"/>
              </a:lnSpc>
              <a:spcBef>
                <a:spcPct val="20000"/>
              </a:spcBef>
              <a:buChar char="•"/>
            </a:pPr>
            <a:r>
              <a:rPr lang="zh-CN" altLang="en-US" sz="2800" b="1" dirty="0">
                <a:latin typeface="Times New Roman" panose="02020603050405020304" pitchFamily="18" charset="0"/>
                <a:ea typeface="宋体" panose="02010600030101010101" pitchFamily="2" charset="-122"/>
              </a:rPr>
              <a:t>西瓜问题</a:t>
            </a:r>
            <a:endParaRPr lang="en-US" altLang="zh-CN" sz="2800" b="1" dirty="0">
              <a:latin typeface="Times New Roman" panose="02020603050405020304" pitchFamily="18" charset="0"/>
              <a:ea typeface="宋体" panose="02010600030101010101" pitchFamily="2" charset="-122"/>
            </a:endParaRPr>
          </a:p>
          <a:p>
            <a:pPr marL="914400" lvl="1" indent="-457200" eaLnBrk="1" hangingPunct="1">
              <a:lnSpc>
                <a:spcPct val="90000"/>
              </a:lnSpc>
              <a:spcBef>
                <a:spcPct val="20000"/>
              </a:spcBef>
              <a:buClrTx/>
              <a:buFont typeface="Tahoma" panose="020B0604030504040204" pitchFamily="34" charset="0"/>
              <a:buChar char="−"/>
            </a:pPr>
            <a:r>
              <a:rPr lang="zh-CN" altLang="en-US" sz="2400" b="1" dirty="0">
                <a:latin typeface="Arial" panose="020B0604020202020204" pitchFamily="34" charset="0"/>
                <a:ea typeface="宋体" panose="02010600030101010101" pitchFamily="2" charset="-122"/>
              </a:rPr>
              <a:t>任务：学方法，选西瓜：皮薄肉厚瓤甜</a:t>
            </a:r>
            <a:r>
              <a:rPr lang="en-US" altLang="zh-CN" sz="2400" b="1" dirty="0">
                <a:latin typeface="Arial" panose="020B0604020202020204" pitchFamily="34" charset="0"/>
                <a:ea typeface="宋体" panose="02010600030101010101" pitchFamily="2" charset="-122"/>
              </a:rPr>
              <a:t>-</a:t>
            </a:r>
            <a:r>
              <a:rPr lang="zh-CN" altLang="en-US" sz="2400" b="1" dirty="0">
                <a:latin typeface="Arial" panose="020B0604020202020204" pitchFamily="34" charset="0"/>
                <a:ea typeface="宋体" panose="02010600030101010101" pitchFamily="2" charset="-122"/>
              </a:rPr>
              <a:t>爽</a:t>
            </a:r>
          </a:p>
          <a:p>
            <a:pPr marL="914400" lvl="1" indent="-457200">
              <a:lnSpc>
                <a:spcPct val="90000"/>
              </a:lnSpc>
              <a:spcBef>
                <a:spcPct val="20000"/>
              </a:spcBef>
              <a:buFont typeface="Tahoma" panose="020B0604030504040204" pitchFamily="34" charset="0"/>
              <a:buChar char="−"/>
            </a:pPr>
            <a:r>
              <a:rPr lang="zh-CN" altLang="en-US" sz="2400" b="1" dirty="0">
                <a:latin typeface="Times New Roman" panose="02020603050405020304" pitchFamily="18" charset="0"/>
                <a:ea typeface="宋体" panose="02010600030101010101" pitchFamily="2" charset="-122"/>
              </a:rPr>
              <a:t>人脑：凭经验，作判断</a:t>
            </a:r>
            <a:endParaRPr lang="en-US" altLang="zh-CN" sz="2400" b="1" dirty="0">
              <a:latin typeface="Times New Roman" panose="02020603050405020304" pitchFamily="18" charset="0"/>
              <a:ea typeface="宋体" panose="02010600030101010101" pitchFamily="2" charset="-122"/>
            </a:endParaRPr>
          </a:p>
          <a:p>
            <a:pPr marL="914400" lvl="1" indent="-457200">
              <a:lnSpc>
                <a:spcPct val="90000"/>
              </a:lnSpc>
              <a:spcBef>
                <a:spcPct val="20000"/>
              </a:spcBef>
              <a:buFont typeface="Tahoma" panose="020B0604030504040204" pitchFamily="34" charset="0"/>
              <a:buChar char="−"/>
            </a:pPr>
            <a:r>
              <a:rPr lang="zh-CN" altLang="en-US" sz="2400" b="1" dirty="0">
                <a:latin typeface="Times New Roman" panose="02020603050405020304" pitchFamily="18" charset="0"/>
                <a:ea typeface="宋体" panose="02010600030101010101" pitchFamily="2" charset="-122"/>
              </a:rPr>
              <a:t>算法：用数据，建模型</a:t>
            </a:r>
            <a:endParaRPr lang="en-US" altLang="zh-CN" sz="2400" b="1" dirty="0">
              <a:latin typeface="Times New Roman" panose="02020603050405020304" pitchFamily="18" charset="0"/>
              <a:ea typeface="宋体" panose="02010600030101010101" pitchFamily="2" charset="-122"/>
            </a:endParaRPr>
          </a:p>
          <a:p>
            <a:pPr marL="914400" lvl="1" indent="-457200">
              <a:lnSpc>
                <a:spcPct val="90000"/>
              </a:lnSpc>
              <a:spcBef>
                <a:spcPct val="20000"/>
              </a:spcBef>
              <a:buFont typeface="Tahoma" panose="020B0604030504040204" pitchFamily="34" charset="0"/>
              <a:buChar char="−"/>
            </a:pPr>
            <a:r>
              <a:rPr lang="zh-CN" altLang="en-US" sz="2400" b="1" dirty="0">
                <a:latin typeface="Times New Roman" panose="02020603050405020304" pitchFamily="18" charset="0"/>
                <a:ea typeface="宋体" panose="02010600030101010101" pitchFamily="2" charset="-122"/>
              </a:rPr>
              <a:t>模型：数据中学到的结果</a:t>
            </a:r>
            <a:endParaRPr lang="en-US" altLang="zh-CN" sz="2400" b="1" dirty="0">
              <a:latin typeface="Times New Roman" panose="02020603050405020304" pitchFamily="18" charset="0"/>
              <a:ea typeface="宋体" panose="02010600030101010101" pitchFamily="2" charset="-122"/>
            </a:endParaRPr>
          </a:p>
          <a:p>
            <a:pPr marL="1371600" lvl="2" indent="-457200">
              <a:lnSpc>
                <a:spcPct val="90000"/>
              </a:lnSpc>
              <a:spcBef>
                <a:spcPct val="20000"/>
              </a:spcBef>
              <a:buFont typeface="Tahoma" panose="020B0604030504040204" pitchFamily="34" charset="0"/>
              <a:buChar char="−"/>
            </a:pPr>
            <a:r>
              <a:rPr lang="zh-CN" altLang="en-US" sz="2400" b="1" dirty="0">
                <a:latin typeface="Times New Roman" panose="02020603050405020304" pitchFamily="18" charset="0"/>
                <a:ea typeface="宋体" panose="02010600030101010101" pitchFamily="2" charset="-122"/>
              </a:rPr>
              <a:t>模型全、模式偏</a:t>
            </a:r>
            <a:endParaRPr lang="en-US" altLang="zh-CN" sz="2400" b="1" dirty="0">
              <a:latin typeface="Times New Roman" panose="02020603050405020304" pitchFamily="18" charset="0"/>
              <a:ea typeface="宋体" panose="02010600030101010101" pitchFamily="2" charset="-122"/>
            </a:endParaRPr>
          </a:p>
          <a:p>
            <a:pPr marL="1371600" lvl="2" indent="-457200">
              <a:lnSpc>
                <a:spcPct val="90000"/>
              </a:lnSpc>
              <a:spcBef>
                <a:spcPct val="20000"/>
              </a:spcBef>
              <a:buFont typeface="Tahoma" panose="020B0604030504040204" pitchFamily="34" charset="0"/>
              <a:buChar char="−"/>
            </a:pPr>
            <a:r>
              <a:rPr lang="zh-CN" altLang="en-US" sz="2400" b="1" dirty="0">
                <a:latin typeface="Times New Roman" panose="02020603050405020304" pitchFamily="18" charset="0"/>
                <a:ea typeface="宋体" panose="02010600030101010101" pitchFamily="2" charset="-122"/>
              </a:rPr>
              <a:t>文献</a:t>
            </a:r>
            <a:endParaRPr lang="en-US" altLang="zh-CN" sz="2400" b="1" dirty="0">
              <a:latin typeface="Times New Roman" panose="02020603050405020304" pitchFamily="18" charset="0"/>
              <a:ea typeface="宋体" panose="02010600030101010101" pitchFamily="2" charset="-122"/>
            </a:endParaRPr>
          </a:p>
          <a:p>
            <a:pPr marL="1828800" lvl="3" indent="-457200">
              <a:lnSpc>
                <a:spcPct val="90000"/>
              </a:lnSpc>
              <a:spcBef>
                <a:spcPct val="20000"/>
              </a:spcBef>
              <a:buFont typeface="Tahoma" panose="020B0604030504040204" pitchFamily="34" charset="0"/>
              <a:buChar char="−"/>
            </a:pPr>
            <a:r>
              <a:rPr lang="zh-CN" altLang="en-US" sz="2400" b="1" dirty="0">
                <a:latin typeface="Times New Roman" panose="02020603050405020304" pitchFamily="18" charset="0"/>
                <a:ea typeface="宋体" panose="02010600030101010101" pitchFamily="2" charset="-122"/>
              </a:rPr>
              <a:t>模型：全局性结果（一棵决策树）</a:t>
            </a:r>
            <a:r>
              <a:rPr lang="en-US" altLang="zh-CN" sz="2400" b="1" dirty="0">
                <a:latin typeface="Times New Roman" panose="02020603050405020304" pitchFamily="18" charset="0"/>
                <a:ea typeface="宋体" panose="02010600030101010101" pitchFamily="2" charset="-122"/>
              </a:rPr>
              <a:t>…</a:t>
            </a:r>
            <a:r>
              <a:rPr lang="zh-CN" altLang="en-US" sz="2400" b="1" dirty="0">
                <a:solidFill>
                  <a:srgbClr val="0000FF"/>
                </a:solidFill>
                <a:latin typeface="Times New Roman" panose="02020603050405020304" pitchFamily="18" charset="0"/>
                <a:ea typeface="宋体" panose="02010600030101010101" pitchFamily="2" charset="-122"/>
              </a:rPr>
              <a:t>好瓜</a:t>
            </a:r>
            <a:endParaRPr lang="en-US" altLang="zh-CN" sz="2400" b="1" dirty="0">
              <a:solidFill>
                <a:srgbClr val="0000FF"/>
              </a:solidFill>
              <a:latin typeface="Times New Roman" panose="02020603050405020304" pitchFamily="18" charset="0"/>
              <a:ea typeface="宋体" panose="02010600030101010101" pitchFamily="2" charset="-122"/>
            </a:endParaRPr>
          </a:p>
          <a:p>
            <a:pPr marL="1828800" lvl="3" indent="-457200">
              <a:lnSpc>
                <a:spcPct val="90000"/>
              </a:lnSpc>
              <a:spcBef>
                <a:spcPct val="20000"/>
              </a:spcBef>
              <a:buFont typeface="Tahoma" panose="020B0604030504040204" pitchFamily="34" charset="0"/>
              <a:buChar char="−"/>
            </a:pPr>
            <a:r>
              <a:rPr lang="zh-CN" altLang="en-US" sz="2400" b="1" dirty="0">
                <a:latin typeface="Times New Roman" panose="02020603050405020304" pitchFamily="18" charset="0"/>
                <a:ea typeface="宋体" panose="02010600030101010101" pitchFamily="2" charset="-122"/>
              </a:rPr>
              <a:t>模式：局部性结果（一条规则）</a:t>
            </a:r>
            <a:r>
              <a:rPr lang="en-US" altLang="zh-CN" sz="2400" b="1" dirty="0">
                <a:latin typeface="Times New Roman" panose="02020603050405020304" pitchFamily="18" charset="0"/>
                <a:ea typeface="宋体" panose="02010600030101010101" pitchFamily="2" charset="-122"/>
              </a:rPr>
              <a:t>…</a:t>
            </a:r>
            <a:r>
              <a:rPr lang="zh-CN" altLang="en-US" sz="2400" b="1" dirty="0">
                <a:solidFill>
                  <a:srgbClr val="0000FF"/>
                </a:solidFill>
                <a:latin typeface="Times New Roman" panose="02020603050405020304" pitchFamily="18" charset="0"/>
                <a:ea typeface="宋体" panose="02010600030101010101" pitchFamily="2" charset="-122"/>
              </a:rPr>
              <a:t>好瓜？</a:t>
            </a:r>
            <a:endParaRPr lang="en-US" altLang="zh-CN" sz="2400" b="1" dirty="0">
              <a:solidFill>
                <a:srgbClr val="0000FF"/>
              </a:solidFill>
              <a:latin typeface="Times New Roman" panose="02020603050405020304" pitchFamily="18" charset="0"/>
              <a:ea typeface="宋体" panose="02010600030101010101" pitchFamily="2" charset="-122"/>
            </a:endParaRPr>
          </a:p>
        </p:txBody>
      </p:sp>
      <p:sp>
        <p:nvSpPr>
          <p:cNvPr id="2" name="灯片编号占位符 1"/>
          <p:cNvSpPr>
            <a:spLocks noGrp="1"/>
          </p:cNvSpPr>
          <p:nvPr>
            <p:ph type="sldNum" sz="quarter" idx="12"/>
          </p:nvPr>
        </p:nvSpPr>
        <p:spPr/>
        <p:txBody>
          <a:bodyPr/>
          <a:lstStyle/>
          <a:p>
            <a:pPr lvl="0"/>
            <a:fld id="{9A0DB2DC-4C9A-4742-B13C-FB6460FD3503}" type="slidenum">
              <a:rPr lang="en-US" altLang="zh-CN" dirty="0"/>
              <a:t>12</a:t>
            </a:fld>
            <a:endParaRPr lang="zh-CN" dirty="0"/>
          </a:p>
        </p:txBody>
      </p:sp>
    </p:spTree>
    <p:extLst>
      <p:ext uri="{BB962C8B-B14F-4D97-AF65-F5344CB8AC3E}">
        <p14:creationId xmlns:p14="http://schemas.microsoft.com/office/powerpoint/2010/main" val="2941930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724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2451"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t>大纲</a:t>
            </a:r>
          </a:p>
        </p:txBody>
      </p:sp>
      <p:sp>
        <p:nvSpPr>
          <p:cNvPr id="3" name="内容占位符 2"/>
          <p:cNvSpPr>
            <a:spLocks noGrp="1"/>
          </p:cNvSpPr>
          <p:nvPr>
            <p:ph idx="1"/>
          </p:nvPr>
        </p:nvSpPr>
        <p:spPr>
          <a:xfrm>
            <a:off x="1331640" y="980728"/>
            <a:ext cx="6480720" cy="5795773"/>
          </a:xfrm>
        </p:spPr>
        <p:txBody>
          <a:bodyPr>
            <a:normAutofit/>
          </a:bodyPr>
          <a:lstStyle/>
          <a:p>
            <a:pPr>
              <a:lnSpc>
                <a:spcPts val="2600"/>
              </a:lnSpc>
              <a:buClr>
                <a:srgbClr val="00B050"/>
              </a:buClr>
              <a:buFont typeface="Wingdings" panose="05000000000000000000" pitchFamily="2" charset="2"/>
              <a:buChar char="p"/>
            </a:pPr>
            <a:r>
              <a:rPr lang="zh-CN" altLang="en-US" sz="2400" b="1" dirty="0"/>
              <a:t>引言</a:t>
            </a:r>
            <a:endParaRPr lang="en-US" altLang="zh-CN" sz="2400" b="1" dirty="0"/>
          </a:p>
          <a:p>
            <a:pPr>
              <a:lnSpc>
                <a:spcPts val="2600"/>
              </a:lnSpc>
              <a:buClr>
                <a:srgbClr val="00B050"/>
              </a:buClr>
              <a:buFont typeface="Wingdings" panose="05000000000000000000" pitchFamily="2" charset="2"/>
              <a:buChar char="p"/>
            </a:pPr>
            <a:endParaRPr lang="en-US" altLang="zh-CN" sz="2400" b="1" dirty="0">
              <a:solidFill>
                <a:srgbClr val="0000FF"/>
              </a:solidFill>
            </a:endParaRPr>
          </a:p>
          <a:p>
            <a:pPr>
              <a:lnSpc>
                <a:spcPts val="2600"/>
              </a:lnSpc>
              <a:buClr>
                <a:srgbClr val="00B050"/>
              </a:buClr>
              <a:buFont typeface="Wingdings" panose="05000000000000000000" pitchFamily="2" charset="2"/>
              <a:buChar char="p"/>
            </a:pPr>
            <a:r>
              <a:rPr lang="zh-CN" altLang="en-US" sz="2400" b="1" dirty="0">
                <a:solidFill>
                  <a:srgbClr val="0000FF"/>
                </a:solidFill>
              </a:rPr>
              <a:t>基本术语</a:t>
            </a:r>
            <a:endParaRPr lang="en-US" altLang="zh-CN" sz="2400" b="1" dirty="0">
              <a:solidFill>
                <a:srgbClr val="0000FF"/>
              </a:solidFill>
            </a:endParaRPr>
          </a:p>
          <a:p>
            <a:pPr>
              <a:lnSpc>
                <a:spcPts val="2600"/>
              </a:lnSpc>
              <a:buClr>
                <a:srgbClr val="00B050"/>
              </a:buClr>
              <a:buFont typeface="Wingdings" panose="05000000000000000000" pitchFamily="2" charset="2"/>
              <a:buChar char="p"/>
            </a:pPr>
            <a:endParaRPr lang="en-US" altLang="zh-CN" sz="2400" b="1" dirty="0"/>
          </a:p>
          <a:p>
            <a:pPr>
              <a:lnSpc>
                <a:spcPts val="2600"/>
              </a:lnSpc>
              <a:buClr>
                <a:srgbClr val="00B050"/>
              </a:buClr>
              <a:buFont typeface="Wingdings" panose="05000000000000000000" pitchFamily="2" charset="2"/>
              <a:buChar char="p"/>
            </a:pPr>
            <a:r>
              <a:rPr lang="zh-CN" altLang="en-US" sz="2400" b="1" dirty="0"/>
              <a:t>假设空间</a:t>
            </a:r>
            <a:endParaRPr lang="en-US" altLang="zh-CN" sz="2400" b="1" dirty="0"/>
          </a:p>
          <a:p>
            <a:pPr>
              <a:lnSpc>
                <a:spcPts val="2600"/>
              </a:lnSpc>
              <a:buClr>
                <a:srgbClr val="00B050"/>
              </a:buClr>
              <a:buFont typeface="Wingdings" panose="05000000000000000000" pitchFamily="2" charset="2"/>
              <a:buChar char="p"/>
            </a:pPr>
            <a:endParaRPr lang="en-US" altLang="zh-CN" sz="2400" b="1" dirty="0"/>
          </a:p>
          <a:p>
            <a:pPr>
              <a:lnSpc>
                <a:spcPts val="2600"/>
              </a:lnSpc>
              <a:buClr>
                <a:srgbClr val="00B050"/>
              </a:buClr>
              <a:buFont typeface="Wingdings" panose="05000000000000000000" pitchFamily="2" charset="2"/>
              <a:buChar char="p"/>
            </a:pPr>
            <a:r>
              <a:rPr lang="zh-CN" altLang="en-US" sz="2400" b="1" dirty="0"/>
              <a:t>归纳偏好</a:t>
            </a:r>
            <a:endParaRPr lang="en-US" altLang="zh-CN" sz="2400" b="1" dirty="0"/>
          </a:p>
          <a:p>
            <a:pPr>
              <a:lnSpc>
                <a:spcPts val="2600"/>
              </a:lnSpc>
              <a:buClr>
                <a:srgbClr val="00B050"/>
              </a:buClr>
              <a:buFont typeface="Wingdings" panose="05000000000000000000" pitchFamily="2" charset="2"/>
              <a:buChar char="p"/>
            </a:pPr>
            <a:endParaRPr lang="en-US" altLang="zh-CN" sz="2400" b="1" dirty="0"/>
          </a:p>
          <a:p>
            <a:pPr>
              <a:lnSpc>
                <a:spcPts val="2600"/>
              </a:lnSpc>
              <a:buClr>
                <a:srgbClr val="00B050"/>
              </a:buClr>
              <a:buFont typeface="Wingdings" panose="05000000000000000000" pitchFamily="2" charset="2"/>
              <a:buChar char="p"/>
            </a:pPr>
            <a:r>
              <a:rPr lang="zh-CN" altLang="en-US" sz="2400" b="1" dirty="0"/>
              <a:t>发展历程</a:t>
            </a:r>
            <a:endParaRPr lang="en-US" altLang="zh-CN" sz="2400" b="1" dirty="0"/>
          </a:p>
          <a:p>
            <a:pPr>
              <a:lnSpc>
                <a:spcPts val="2600"/>
              </a:lnSpc>
              <a:buClr>
                <a:srgbClr val="00B050"/>
              </a:buClr>
              <a:buFont typeface="Wingdings" panose="05000000000000000000" pitchFamily="2" charset="2"/>
              <a:buChar char="p"/>
            </a:pPr>
            <a:endParaRPr lang="en-US" altLang="zh-CN" sz="2400" b="1" dirty="0"/>
          </a:p>
          <a:p>
            <a:pPr>
              <a:lnSpc>
                <a:spcPts val="2600"/>
              </a:lnSpc>
              <a:buClr>
                <a:srgbClr val="00B050"/>
              </a:buClr>
              <a:buFont typeface="Wingdings" panose="05000000000000000000" pitchFamily="2" charset="2"/>
              <a:buChar char="p"/>
            </a:pPr>
            <a:r>
              <a:rPr lang="zh-CN" altLang="en-US" sz="2400" b="1" dirty="0"/>
              <a:t>应用现状</a:t>
            </a:r>
            <a:endParaRPr lang="en-US" altLang="zh-CN" sz="2400" b="1" dirty="0"/>
          </a:p>
          <a:p>
            <a:pPr>
              <a:lnSpc>
                <a:spcPts val="2600"/>
              </a:lnSpc>
              <a:buClr>
                <a:srgbClr val="00B050"/>
              </a:buClr>
              <a:buFont typeface="Wingdings" panose="05000000000000000000" pitchFamily="2" charset="2"/>
              <a:buChar char="p"/>
            </a:pPr>
            <a:endParaRPr lang="en-US" altLang="zh-CN" sz="2400" b="1" dirty="0"/>
          </a:p>
        </p:txBody>
      </p:sp>
    </p:spTree>
    <p:extLst>
      <p:ext uri="{BB962C8B-B14F-4D97-AF65-F5344CB8AC3E}">
        <p14:creationId xmlns:p14="http://schemas.microsoft.com/office/powerpoint/2010/main" val="255950423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b="1" dirty="0"/>
              <a:t>基本术语</a:t>
            </a:r>
            <a:r>
              <a:rPr lang="en-US" altLang="zh-CN" b="1" dirty="0"/>
              <a:t>-</a:t>
            </a:r>
            <a:r>
              <a:rPr lang="zh-CN" altLang="en-US" b="1" dirty="0"/>
              <a:t>数据</a:t>
            </a:r>
          </a:p>
        </p:txBody>
      </p:sp>
      <p:grpSp>
        <p:nvGrpSpPr>
          <p:cNvPr id="5" name="组合 4"/>
          <p:cNvGrpSpPr/>
          <p:nvPr/>
        </p:nvGrpSpPr>
        <p:grpSpPr>
          <a:xfrm>
            <a:off x="491181" y="1124744"/>
            <a:ext cx="7128792" cy="3528392"/>
            <a:chOff x="939224" y="1877235"/>
            <a:chExt cx="6402186" cy="3052328"/>
          </a:xfrm>
        </p:grpSpPr>
        <p:grpSp>
          <p:nvGrpSpPr>
            <p:cNvPr id="4" name="组合 3"/>
            <p:cNvGrpSpPr/>
            <p:nvPr/>
          </p:nvGrpSpPr>
          <p:grpSpPr>
            <a:xfrm>
              <a:off x="1026765" y="3344949"/>
              <a:ext cx="1028075" cy="292875"/>
              <a:chOff x="1026765" y="3344949"/>
              <a:chExt cx="1028075" cy="292875"/>
            </a:xfrm>
          </p:grpSpPr>
          <p:cxnSp>
            <p:nvCxnSpPr>
              <p:cNvPr id="15" name="直接箭头连接符 14"/>
              <p:cNvCxnSpPr/>
              <p:nvPr/>
            </p:nvCxnSpPr>
            <p:spPr bwMode="auto">
              <a:xfrm flipH="1" flipV="1">
                <a:off x="1704680" y="3514226"/>
                <a:ext cx="350160" cy="2"/>
              </a:xfrm>
              <a:prstGeom prst="straightConnector1">
                <a:avLst/>
              </a:prstGeom>
              <a:noFill/>
              <a:ln w="28575" cap="flat" cmpd="sng" algn="ctr">
                <a:solidFill>
                  <a:srgbClr val="800000">
                    <a:lumMod val="40000"/>
                    <a:lumOff val="60000"/>
                  </a:srgbClr>
                </a:solidFill>
                <a:prstDash val="solid"/>
                <a:headEnd type="none" w="med" len="med"/>
                <a:tailEnd type="arrow"/>
              </a:ln>
              <a:effectLst/>
            </p:spPr>
          </p:cxnSp>
          <p:sp>
            <p:nvSpPr>
              <p:cNvPr id="18" name="TextBox 18"/>
              <p:cNvSpPr txBox="1"/>
              <p:nvPr/>
            </p:nvSpPr>
            <p:spPr>
              <a:xfrm>
                <a:off x="1026765" y="3344949"/>
                <a:ext cx="852995" cy="292875"/>
              </a:xfrm>
              <a:prstGeom prst="rect">
                <a:avLst/>
              </a:prstGeom>
              <a:noFill/>
            </p:spPr>
            <p:txBody>
              <a:bodyPr wrap="square" rtlCol="0">
                <a:spAutoFit/>
              </a:bodyPr>
              <a:lstStyle/>
              <a:p>
                <a:pPr marL="0" marR="0" lvl="0" indent="0" defTabSz="914400" eaLnBrk="1" fontAlgn="base" latinLnBrk="0" hangingPunct="1">
                  <a:lnSpc>
                    <a:spcPct val="100000"/>
                  </a:lnSpc>
                  <a:spcBef>
                    <a:spcPct val="0"/>
                  </a:spcBef>
                  <a:spcAft>
                    <a:spcPct val="0"/>
                  </a:spcAft>
                  <a:buClrTx/>
                  <a:buSzTx/>
                  <a:buFontTx/>
                  <a:buNone/>
                  <a:tabLst/>
                  <a:defRPr/>
                </a:pPr>
                <a:r>
                  <a:rPr kumimoji="0" lang="zh-CN" altLang="en-US" sz="1600" b="1" i="0" u="none" strike="noStrike" kern="0" cap="none" spc="0" normalizeH="0" baseline="0" noProof="0" dirty="0">
                    <a:ln>
                      <a:noFill/>
                    </a:ln>
                    <a:solidFill>
                      <a:schemeClr val="accent4"/>
                    </a:solidFill>
                    <a:effectLst/>
                    <a:uLnTx/>
                    <a:uFillTx/>
                    <a:latin typeface="Verdana" pitchFamily="34" charset="0"/>
                    <a:cs typeface="Verdana" pitchFamily="34" charset="0"/>
                  </a:rPr>
                  <a:t>训练集</a:t>
                </a:r>
              </a:p>
            </p:txBody>
          </p:sp>
        </p:grpSp>
        <p:grpSp>
          <p:nvGrpSpPr>
            <p:cNvPr id="3" name="组合 2"/>
            <p:cNvGrpSpPr/>
            <p:nvPr/>
          </p:nvGrpSpPr>
          <p:grpSpPr>
            <a:xfrm>
              <a:off x="939224" y="4539409"/>
              <a:ext cx="1028075" cy="292875"/>
              <a:chOff x="1387693" y="4396047"/>
              <a:chExt cx="1028075" cy="292875"/>
            </a:xfrm>
          </p:grpSpPr>
          <p:cxnSp>
            <p:nvCxnSpPr>
              <p:cNvPr id="20" name="直接箭头连接符 19"/>
              <p:cNvCxnSpPr/>
              <p:nvPr/>
            </p:nvCxnSpPr>
            <p:spPr bwMode="auto">
              <a:xfrm flipH="1" flipV="1">
                <a:off x="2065608" y="4565324"/>
                <a:ext cx="350160" cy="2"/>
              </a:xfrm>
              <a:prstGeom prst="straightConnector1">
                <a:avLst/>
              </a:prstGeom>
              <a:noFill/>
              <a:ln w="28575" cap="flat" cmpd="sng" algn="ctr">
                <a:solidFill>
                  <a:srgbClr val="800000">
                    <a:lumMod val="40000"/>
                    <a:lumOff val="60000"/>
                  </a:srgbClr>
                </a:solidFill>
                <a:prstDash val="solid"/>
                <a:headEnd type="none" w="med" len="med"/>
                <a:tailEnd type="arrow"/>
              </a:ln>
              <a:effectLst/>
            </p:spPr>
          </p:cxnSp>
          <p:sp>
            <p:nvSpPr>
              <p:cNvPr id="21" name="TextBox 18"/>
              <p:cNvSpPr txBox="1"/>
              <p:nvPr/>
            </p:nvSpPr>
            <p:spPr>
              <a:xfrm>
                <a:off x="1387693" y="4396047"/>
                <a:ext cx="852995" cy="292875"/>
              </a:xfrm>
              <a:prstGeom prst="rect">
                <a:avLst/>
              </a:prstGeom>
              <a:noFill/>
            </p:spPr>
            <p:txBody>
              <a:bodyPr wrap="square" rtlCol="0">
                <a:spAutoFit/>
              </a:bodyPr>
              <a:lstStyle/>
              <a:p>
                <a:pPr marL="0" marR="0" lvl="0" indent="0" defTabSz="914400" eaLnBrk="1" fontAlgn="base" latinLnBrk="0" hangingPunct="1">
                  <a:lnSpc>
                    <a:spcPct val="100000"/>
                  </a:lnSpc>
                  <a:spcBef>
                    <a:spcPct val="0"/>
                  </a:spcBef>
                  <a:spcAft>
                    <a:spcPct val="0"/>
                  </a:spcAft>
                  <a:buClrTx/>
                  <a:buSzTx/>
                  <a:buFontTx/>
                  <a:buNone/>
                  <a:tabLst/>
                  <a:defRPr/>
                </a:pPr>
                <a:r>
                  <a:rPr kumimoji="0" lang="zh-CN" altLang="en-US" sz="1600" b="1" i="0" u="none" strike="noStrike" kern="0" cap="none" spc="0" normalizeH="0" baseline="0" noProof="0" dirty="0">
                    <a:ln>
                      <a:noFill/>
                    </a:ln>
                    <a:solidFill>
                      <a:schemeClr val="accent4"/>
                    </a:solidFill>
                    <a:effectLst/>
                    <a:uLnTx/>
                    <a:uFillTx/>
                    <a:latin typeface="Verdana" pitchFamily="34" charset="0"/>
                    <a:cs typeface="Verdana" pitchFamily="34" charset="0"/>
                  </a:rPr>
                  <a:t>测试集</a:t>
                </a:r>
              </a:p>
            </p:txBody>
          </p:sp>
        </p:grpSp>
        <p:cxnSp>
          <p:nvCxnSpPr>
            <p:cNvPr id="22" name="直接箭头连接符 21"/>
            <p:cNvCxnSpPr/>
            <p:nvPr/>
          </p:nvCxnSpPr>
          <p:spPr bwMode="auto">
            <a:xfrm flipV="1">
              <a:off x="3679791" y="2247461"/>
              <a:ext cx="0" cy="210015"/>
            </a:xfrm>
            <a:prstGeom prst="straightConnector1">
              <a:avLst/>
            </a:prstGeom>
            <a:noFill/>
            <a:ln w="28575" cap="flat" cmpd="sng" algn="ctr">
              <a:solidFill>
                <a:srgbClr val="800000">
                  <a:lumMod val="40000"/>
                  <a:lumOff val="60000"/>
                </a:srgbClr>
              </a:solidFill>
              <a:prstDash val="solid"/>
              <a:headEnd type="none" w="med" len="med"/>
              <a:tailEnd type="arrow"/>
            </a:ln>
            <a:effectLst/>
          </p:spPr>
        </p:cxnSp>
        <p:sp>
          <p:nvSpPr>
            <p:cNvPr id="24" name="TextBox 18"/>
            <p:cNvSpPr txBox="1"/>
            <p:nvPr/>
          </p:nvSpPr>
          <p:spPr>
            <a:xfrm>
              <a:off x="3353872" y="1886199"/>
              <a:ext cx="685800" cy="292875"/>
            </a:xfrm>
            <a:prstGeom prst="rect">
              <a:avLst/>
            </a:prstGeom>
            <a:noFill/>
          </p:spPr>
          <p:txBody>
            <a:bodyPr wrap="square" rtlCol="0">
              <a:spAutoFit/>
            </a:bodyPr>
            <a:lstStyle/>
            <a:p>
              <a:pPr marL="0" marR="0" lvl="0" indent="0" defTabSz="914400" eaLnBrk="1" fontAlgn="base" latinLnBrk="0" hangingPunct="1">
                <a:lnSpc>
                  <a:spcPct val="100000"/>
                </a:lnSpc>
                <a:spcBef>
                  <a:spcPct val="0"/>
                </a:spcBef>
                <a:spcAft>
                  <a:spcPct val="0"/>
                </a:spcAft>
                <a:buClrTx/>
                <a:buSzTx/>
                <a:buFontTx/>
                <a:buNone/>
                <a:tabLst/>
                <a:defRPr/>
              </a:pPr>
              <a:r>
                <a:rPr kumimoji="0" lang="zh-CN" altLang="en-US" sz="1600" b="1" i="0" u="none" strike="noStrike" kern="0" cap="none" spc="0" normalizeH="0" baseline="0" noProof="0" dirty="0">
                  <a:ln>
                    <a:noFill/>
                  </a:ln>
                  <a:solidFill>
                    <a:schemeClr val="accent4"/>
                  </a:solidFill>
                  <a:effectLst/>
                  <a:uLnTx/>
                  <a:uFillTx/>
                  <a:latin typeface="Verdana" pitchFamily="34" charset="0"/>
                  <a:cs typeface="Verdana" pitchFamily="34" charset="0"/>
                </a:rPr>
                <a:t>特征</a:t>
              </a:r>
            </a:p>
          </p:txBody>
        </p:sp>
        <p:cxnSp>
          <p:nvCxnSpPr>
            <p:cNvPr id="26" name="直接箭头连接符 25"/>
            <p:cNvCxnSpPr/>
            <p:nvPr/>
          </p:nvCxnSpPr>
          <p:spPr bwMode="auto">
            <a:xfrm flipV="1">
              <a:off x="6766295" y="2290144"/>
              <a:ext cx="0" cy="210015"/>
            </a:xfrm>
            <a:prstGeom prst="straightConnector1">
              <a:avLst/>
            </a:prstGeom>
            <a:noFill/>
            <a:ln w="28575" cap="flat" cmpd="sng" algn="ctr">
              <a:solidFill>
                <a:srgbClr val="800000">
                  <a:lumMod val="40000"/>
                  <a:lumOff val="60000"/>
                </a:srgbClr>
              </a:solidFill>
              <a:prstDash val="solid"/>
              <a:headEnd type="none" w="med" len="med"/>
              <a:tailEnd type="arrow"/>
            </a:ln>
            <a:effectLst/>
          </p:spPr>
        </p:cxnSp>
        <p:sp>
          <p:nvSpPr>
            <p:cNvPr id="27" name="TextBox 18"/>
            <p:cNvSpPr txBox="1"/>
            <p:nvPr/>
          </p:nvSpPr>
          <p:spPr>
            <a:xfrm>
              <a:off x="6440376" y="1877235"/>
              <a:ext cx="685800" cy="292875"/>
            </a:xfrm>
            <a:prstGeom prst="rect">
              <a:avLst/>
            </a:prstGeom>
            <a:noFill/>
          </p:spPr>
          <p:txBody>
            <a:bodyPr wrap="square" rtlCol="0">
              <a:spAutoFit/>
            </a:bodyPr>
            <a:lstStyle/>
            <a:p>
              <a:pPr marL="0" marR="0" lvl="0" indent="0" defTabSz="914400" eaLnBrk="1" fontAlgn="base" latinLnBrk="0" hangingPunct="1">
                <a:lnSpc>
                  <a:spcPct val="100000"/>
                </a:lnSpc>
                <a:spcBef>
                  <a:spcPct val="0"/>
                </a:spcBef>
                <a:spcAft>
                  <a:spcPct val="0"/>
                </a:spcAft>
                <a:buClrTx/>
                <a:buSzTx/>
                <a:buFontTx/>
                <a:buNone/>
                <a:tabLst/>
                <a:defRPr/>
              </a:pPr>
              <a:r>
                <a:rPr lang="zh-CN" altLang="en-US" sz="1600" b="1" kern="0" dirty="0">
                  <a:solidFill>
                    <a:schemeClr val="accent4"/>
                  </a:solidFill>
                  <a:latin typeface="Verdana" pitchFamily="34" charset="0"/>
                  <a:cs typeface="Verdana" pitchFamily="34" charset="0"/>
                </a:rPr>
                <a:t>标记</a:t>
              </a:r>
              <a:endParaRPr kumimoji="0" lang="zh-CN" altLang="en-US" sz="1600" b="1" i="0" u="none" strike="noStrike" kern="0" cap="none" spc="0" normalizeH="0" baseline="0" noProof="0" dirty="0">
                <a:ln>
                  <a:noFill/>
                </a:ln>
                <a:solidFill>
                  <a:schemeClr val="accent4"/>
                </a:solidFill>
                <a:effectLst/>
                <a:uLnTx/>
                <a:uFillTx/>
                <a:latin typeface="Verdana" pitchFamily="34" charset="0"/>
                <a:cs typeface="Verdana" pitchFamily="34" charset="0"/>
              </a:endParaRPr>
            </a:p>
          </p:txBody>
        </p:sp>
        <p:grpSp>
          <p:nvGrpSpPr>
            <p:cNvPr id="19" name="组合 18"/>
            <p:cNvGrpSpPr/>
            <p:nvPr/>
          </p:nvGrpSpPr>
          <p:grpSpPr>
            <a:xfrm>
              <a:off x="2168593" y="2546397"/>
              <a:ext cx="5172817" cy="2383166"/>
              <a:chOff x="1953367" y="2480042"/>
              <a:chExt cx="5172817" cy="2383166"/>
            </a:xfrm>
          </p:grpSpPr>
          <p:grpSp>
            <p:nvGrpSpPr>
              <p:cNvPr id="23" name="组合 22"/>
              <p:cNvGrpSpPr/>
              <p:nvPr/>
            </p:nvGrpSpPr>
            <p:grpSpPr>
              <a:xfrm>
                <a:off x="1953367" y="2480042"/>
                <a:ext cx="5172817" cy="2383166"/>
                <a:chOff x="2303748" y="2498116"/>
                <a:chExt cx="4513921" cy="1861768"/>
              </a:xfrm>
            </p:grpSpPr>
            <p:pic>
              <p:nvPicPr>
                <p:cNvPr id="28" name="Picture 2" descr="D:\老板的书\1.1.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03748" y="2498116"/>
                  <a:ext cx="4513921" cy="1512168"/>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5" descr="C:\Users\sylar\Desktop\1.2.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05363" y="4014779"/>
                  <a:ext cx="4509131" cy="345105"/>
                </a:xfrm>
                <a:prstGeom prst="rect">
                  <a:avLst/>
                </a:prstGeom>
                <a:noFill/>
                <a:extLst>
                  <a:ext uri="{909E8E84-426E-40DD-AFC4-6F175D3DCCD1}">
                    <a14:hiddenFill xmlns:a14="http://schemas.microsoft.com/office/drawing/2010/main">
                      <a:solidFill>
                        <a:srgbClr val="FFFFFF"/>
                      </a:solidFill>
                    </a14:hiddenFill>
                  </a:ext>
                </a:extLst>
              </p:spPr>
            </p:pic>
          </p:grpSp>
          <p:pic>
            <p:nvPicPr>
              <p:cNvPr id="25" name="Picture 2" descr="D:\老板的书\1.1.png"/>
              <p:cNvPicPr>
                <a:picLocks noChangeAspect="1" noChangeArrowheads="1"/>
              </p:cNvPicPr>
              <p:nvPr/>
            </p:nvPicPr>
            <p:blipFill rotWithShape="1">
              <a:blip r:embed="rId2">
                <a:extLst>
                  <a:ext uri="{28A0092B-C50C-407E-A947-70E740481C1C}">
                    <a14:useLocalDpi xmlns:a14="http://schemas.microsoft.com/office/drawing/2010/main" val="0"/>
                  </a:ext>
                </a:extLst>
              </a:blip>
              <a:srcRect l="64642" t="24136" r="24508" b="60878"/>
              <a:stretch/>
            </p:blipFill>
            <p:spPr bwMode="auto">
              <a:xfrm>
                <a:off x="5307974" y="3278618"/>
                <a:ext cx="561252" cy="290085"/>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6" name="文本框 5">
            <a:extLst>
              <a:ext uri="{FF2B5EF4-FFF2-40B4-BE49-F238E27FC236}">
                <a16:creationId xmlns:a16="http://schemas.microsoft.com/office/drawing/2014/main" id="{E8769529-817B-4179-BD47-9C47FD7ABC11}"/>
              </a:ext>
            </a:extLst>
          </p:cNvPr>
          <p:cNvSpPr txBox="1"/>
          <p:nvPr/>
        </p:nvSpPr>
        <p:spPr>
          <a:xfrm>
            <a:off x="1246035" y="4935955"/>
            <a:ext cx="6912768" cy="369332"/>
          </a:xfrm>
          <a:prstGeom prst="rect">
            <a:avLst/>
          </a:prstGeom>
          <a:noFill/>
        </p:spPr>
        <p:txBody>
          <a:bodyPr wrap="square" rtlCol="0">
            <a:spAutoFit/>
          </a:bodyPr>
          <a:lstStyle/>
          <a:p>
            <a:r>
              <a:rPr lang="zh-CN" altLang="en-US" b="1" dirty="0"/>
              <a:t>示例（样本）</a:t>
            </a:r>
            <a:r>
              <a:rPr lang="en-US" altLang="zh-CN" b="1" dirty="0"/>
              <a:t>1 </a:t>
            </a:r>
            <a:r>
              <a:rPr lang="zh-CN" altLang="en-US" b="1" dirty="0"/>
              <a:t>：（（色泽</a:t>
            </a:r>
            <a:r>
              <a:rPr lang="en-US" altLang="zh-CN" b="1" dirty="0"/>
              <a:t>=</a:t>
            </a:r>
            <a:r>
              <a:rPr lang="zh-CN" altLang="en-US" b="1" dirty="0"/>
              <a:t>青绿；根蒂</a:t>
            </a:r>
            <a:r>
              <a:rPr lang="en-US" altLang="zh-CN" b="1" dirty="0"/>
              <a:t>=</a:t>
            </a:r>
            <a:r>
              <a:rPr lang="zh-CN" altLang="en-US" b="1" dirty="0"/>
              <a:t>蜷缩；敲声</a:t>
            </a:r>
            <a:r>
              <a:rPr lang="en-US" altLang="zh-CN" b="1" dirty="0"/>
              <a:t>=</a:t>
            </a:r>
            <a:r>
              <a:rPr lang="zh-CN" altLang="en-US" b="1" dirty="0"/>
              <a:t>浊响），好瓜）</a:t>
            </a:r>
          </a:p>
        </p:txBody>
      </p:sp>
      <p:sp>
        <p:nvSpPr>
          <p:cNvPr id="7" name="文本框 6">
            <a:extLst>
              <a:ext uri="{FF2B5EF4-FFF2-40B4-BE49-F238E27FC236}">
                <a16:creationId xmlns:a16="http://schemas.microsoft.com/office/drawing/2014/main" id="{D3FB7359-9C8E-4945-8FAF-7865A05B3EFD}"/>
              </a:ext>
            </a:extLst>
          </p:cNvPr>
          <p:cNvSpPr txBox="1"/>
          <p:nvPr/>
        </p:nvSpPr>
        <p:spPr>
          <a:xfrm>
            <a:off x="1343511" y="5412401"/>
            <a:ext cx="5147239" cy="369332"/>
          </a:xfrm>
          <a:prstGeom prst="rect">
            <a:avLst/>
          </a:prstGeom>
          <a:noFill/>
        </p:spPr>
        <p:txBody>
          <a:bodyPr wrap="square" rtlCol="0">
            <a:spAutoFit/>
          </a:bodyPr>
          <a:lstStyle/>
          <a:p>
            <a:r>
              <a:rPr lang="en-US" altLang="zh-CN" b="1" i="1" dirty="0">
                <a:latin typeface="Times New Roman" panose="02020603050405020304" pitchFamily="18" charset="0"/>
                <a:cs typeface="Times New Roman" panose="02020603050405020304" pitchFamily="18" charset="0"/>
              </a:rPr>
              <a:t>d</a:t>
            </a:r>
            <a:r>
              <a:rPr lang="en-US" altLang="zh-CN" b="1" dirty="0">
                <a:latin typeface="Times New Roman" panose="02020603050405020304" pitchFamily="18" charset="0"/>
                <a:cs typeface="Times New Roman" panose="02020603050405020304" pitchFamily="18" charset="0"/>
              </a:rPr>
              <a:t> : </a:t>
            </a:r>
            <a:r>
              <a:rPr lang="zh-CN" altLang="en-US" b="1" dirty="0">
                <a:latin typeface="Times New Roman" panose="02020603050405020304" pitchFamily="18" charset="0"/>
                <a:cs typeface="Times New Roman" panose="02020603050405020304" pitchFamily="18" charset="0"/>
              </a:rPr>
              <a:t>为样本的维度</a:t>
            </a:r>
          </a:p>
        </p:txBody>
      </p:sp>
    </p:spTree>
    <p:extLst>
      <p:ext uri="{BB962C8B-B14F-4D97-AF65-F5344CB8AC3E}">
        <p14:creationId xmlns:p14="http://schemas.microsoft.com/office/powerpoint/2010/main" val="62850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b="1" dirty="0"/>
              <a:t>基本术语</a:t>
            </a:r>
            <a:r>
              <a:rPr lang="en-US" altLang="zh-CN" b="1" dirty="0"/>
              <a:t>-</a:t>
            </a:r>
            <a:r>
              <a:rPr lang="zh-CN" altLang="en-US" b="1" dirty="0"/>
              <a:t>任务</a:t>
            </a:r>
          </a:p>
        </p:txBody>
      </p:sp>
      <p:sp>
        <p:nvSpPr>
          <p:cNvPr id="9" name="内容占位符 2"/>
          <p:cNvSpPr txBox="1">
            <a:spLocks/>
          </p:cNvSpPr>
          <p:nvPr/>
        </p:nvSpPr>
        <p:spPr>
          <a:xfrm>
            <a:off x="937324" y="1704744"/>
            <a:ext cx="5851102" cy="3225475"/>
          </a:xfrm>
          <a:prstGeom prst="rect">
            <a:avLst/>
          </a:prstGeom>
        </p:spPr>
        <p:txBody>
          <a:bodyPr/>
          <a:lstStyle>
            <a:lvl1pPr marL="342900" indent="-342900" algn="l" defTabSz="457200" rtl="0" eaLnBrk="1" latinLnBrk="0" hangingPunct="1">
              <a:spcBef>
                <a:spcPct val="20000"/>
              </a:spcBef>
              <a:spcAft>
                <a:spcPts val="600"/>
              </a:spcAft>
              <a:buClr>
                <a:schemeClr val="accent1"/>
              </a:buClr>
              <a:buFont typeface="Wingdings 2" charset="2"/>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accent1"/>
              </a:buClr>
              <a:buFont typeface="Wingdings 2" charset="2"/>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accent1"/>
              </a:buClr>
              <a:buFont typeface="Wingdings 2" charset="2"/>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a:lstStyle>
          <a:p>
            <a:pPr>
              <a:buFont typeface="Wingdings" pitchFamily="2" charset="2"/>
              <a:buChar char="p"/>
            </a:pPr>
            <a:r>
              <a:rPr lang="zh-CN" altLang="en-US" sz="2200" b="1" dirty="0"/>
              <a:t>预测目标：</a:t>
            </a:r>
            <a:endParaRPr lang="en-US" altLang="zh-CN" sz="2200" b="1" dirty="0">
              <a:solidFill>
                <a:srgbClr val="FF0000"/>
              </a:solidFill>
            </a:endParaRPr>
          </a:p>
          <a:p>
            <a:pPr lvl="1"/>
            <a:r>
              <a:rPr lang="zh-CN" altLang="en-US" sz="2000" b="1" dirty="0">
                <a:solidFill>
                  <a:srgbClr val="FF0000"/>
                </a:solidFill>
              </a:rPr>
              <a:t>分类</a:t>
            </a:r>
            <a:r>
              <a:rPr lang="en-US" altLang="zh-CN" sz="2000" b="1" dirty="0">
                <a:solidFill>
                  <a:srgbClr val="FF0000"/>
                </a:solidFill>
              </a:rPr>
              <a:t>:</a:t>
            </a:r>
            <a:r>
              <a:rPr lang="zh-CN" altLang="en-US" sz="2000" b="1" dirty="0">
                <a:solidFill>
                  <a:srgbClr val="FF0000"/>
                </a:solidFill>
              </a:rPr>
              <a:t>离散值</a:t>
            </a:r>
            <a:endParaRPr lang="en-US" altLang="zh-CN" sz="2000" b="1" dirty="0">
              <a:solidFill>
                <a:srgbClr val="FF0000"/>
              </a:solidFill>
            </a:endParaRPr>
          </a:p>
          <a:p>
            <a:pPr lvl="2"/>
            <a:r>
              <a:rPr lang="zh-CN" altLang="en-US" sz="1800" b="1" dirty="0"/>
              <a:t>二分类</a:t>
            </a:r>
            <a:r>
              <a:rPr lang="en-US" altLang="zh-CN" sz="1800" b="1" dirty="0"/>
              <a:t>:</a:t>
            </a:r>
            <a:r>
              <a:rPr lang="zh-CN" altLang="en-US" sz="1800" b="1" dirty="0"/>
              <a:t>好瓜</a:t>
            </a:r>
            <a:r>
              <a:rPr lang="en-US" altLang="zh-CN" sz="1800" b="1" dirty="0"/>
              <a:t>;</a:t>
            </a:r>
            <a:r>
              <a:rPr lang="zh-CN" altLang="en-US" sz="1800" b="1" dirty="0"/>
              <a:t>坏瓜</a:t>
            </a:r>
            <a:endParaRPr lang="en-US" altLang="zh-CN" sz="1800" b="1" dirty="0"/>
          </a:p>
          <a:p>
            <a:pPr lvl="2"/>
            <a:r>
              <a:rPr lang="zh-CN" altLang="en-US" sz="1800" b="1" dirty="0"/>
              <a:t>多分类</a:t>
            </a:r>
            <a:r>
              <a:rPr lang="en-US" altLang="zh-CN" sz="1800" b="1" dirty="0"/>
              <a:t>:</a:t>
            </a:r>
            <a:r>
              <a:rPr lang="zh-CN" altLang="en-US" sz="1800" b="1" dirty="0"/>
              <a:t>冬瓜</a:t>
            </a:r>
            <a:r>
              <a:rPr lang="en-US" altLang="zh-CN" sz="1800" b="1" dirty="0"/>
              <a:t>;</a:t>
            </a:r>
            <a:r>
              <a:rPr lang="zh-CN" altLang="en-US" sz="1800" b="1" dirty="0"/>
              <a:t>南瓜</a:t>
            </a:r>
            <a:r>
              <a:rPr lang="en-US" altLang="zh-CN" sz="1800" b="1" dirty="0"/>
              <a:t>;</a:t>
            </a:r>
            <a:r>
              <a:rPr lang="zh-CN" altLang="en-US" sz="1800" b="1" dirty="0"/>
              <a:t>西瓜 </a:t>
            </a:r>
            <a:endParaRPr lang="en-US" altLang="zh-CN" sz="1800" b="1" dirty="0"/>
          </a:p>
          <a:p>
            <a:pPr lvl="1"/>
            <a:r>
              <a:rPr lang="zh-CN" altLang="en-US" sz="2000" b="1" dirty="0"/>
              <a:t>回归</a:t>
            </a:r>
            <a:r>
              <a:rPr lang="en-US" altLang="zh-CN" sz="2000" b="1" dirty="0"/>
              <a:t>:</a:t>
            </a:r>
            <a:r>
              <a:rPr lang="zh-CN" altLang="en-US" sz="2000" b="1" dirty="0"/>
              <a:t>连续值</a:t>
            </a:r>
            <a:endParaRPr lang="en-US" altLang="zh-CN" sz="2000" b="1" dirty="0"/>
          </a:p>
          <a:p>
            <a:pPr marL="457200" lvl="1" indent="0">
              <a:buNone/>
            </a:pPr>
            <a:r>
              <a:rPr lang="zh-CN" altLang="en-US" sz="2000" b="1" dirty="0"/>
              <a:t>           瓜的成熟度或价格</a:t>
            </a:r>
            <a:endParaRPr lang="en-US" altLang="zh-CN" sz="2000" b="1" dirty="0"/>
          </a:p>
          <a:p>
            <a:pPr lvl="1"/>
            <a:r>
              <a:rPr lang="zh-CN" altLang="en-US" sz="2000" b="1" dirty="0"/>
              <a:t>聚类</a:t>
            </a:r>
            <a:r>
              <a:rPr lang="en-US" altLang="zh-CN" sz="2000" b="1" dirty="0"/>
              <a:t>:</a:t>
            </a:r>
            <a:r>
              <a:rPr lang="zh-CN" altLang="en-US" sz="2000" b="1" dirty="0"/>
              <a:t>无标记信息</a:t>
            </a:r>
            <a:endParaRPr lang="en-US" altLang="zh-CN" sz="2000" b="1" dirty="0"/>
          </a:p>
          <a:p>
            <a:pPr lvl="1"/>
            <a:endParaRPr lang="en-US" altLang="zh-CN" sz="1800" b="1" dirty="0"/>
          </a:p>
        </p:txBody>
      </p:sp>
      <p:pic>
        <p:nvPicPr>
          <p:cNvPr id="2" name="图片 1">
            <a:extLst>
              <a:ext uri="{FF2B5EF4-FFF2-40B4-BE49-F238E27FC236}">
                <a16:creationId xmlns:a16="http://schemas.microsoft.com/office/drawing/2014/main" id="{5A103F5B-1344-40AB-A8C4-A554B2FACD3E}"/>
              </a:ext>
            </a:extLst>
          </p:cNvPr>
          <p:cNvPicPr>
            <a:picLocks noChangeAspect="1"/>
          </p:cNvPicPr>
          <p:nvPr/>
        </p:nvPicPr>
        <p:blipFill>
          <a:blip r:embed="rId2"/>
          <a:stretch>
            <a:fillRect/>
          </a:stretch>
        </p:blipFill>
        <p:spPr>
          <a:xfrm>
            <a:off x="4572000" y="1916832"/>
            <a:ext cx="3932261" cy="1234547"/>
          </a:xfrm>
          <a:prstGeom prst="rect">
            <a:avLst/>
          </a:prstGeom>
        </p:spPr>
      </p:pic>
      <p:pic>
        <p:nvPicPr>
          <p:cNvPr id="4" name="图片 3">
            <a:extLst>
              <a:ext uri="{FF2B5EF4-FFF2-40B4-BE49-F238E27FC236}">
                <a16:creationId xmlns:a16="http://schemas.microsoft.com/office/drawing/2014/main" id="{EF90BDCA-7FDF-48D0-A256-6F169E2EE1BE}"/>
              </a:ext>
            </a:extLst>
          </p:cNvPr>
          <p:cNvPicPr>
            <a:picLocks noChangeAspect="1"/>
          </p:cNvPicPr>
          <p:nvPr/>
        </p:nvPicPr>
        <p:blipFill>
          <a:blip r:embed="rId3"/>
          <a:stretch>
            <a:fillRect/>
          </a:stretch>
        </p:blipFill>
        <p:spPr>
          <a:xfrm>
            <a:off x="4572000" y="3151379"/>
            <a:ext cx="3741744" cy="1310754"/>
          </a:xfrm>
          <a:prstGeom prst="rect">
            <a:avLst/>
          </a:prstGeom>
        </p:spPr>
      </p:pic>
      <p:pic>
        <p:nvPicPr>
          <p:cNvPr id="5" name="图片 4">
            <a:extLst>
              <a:ext uri="{FF2B5EF4-FFF2-40B4-BE49-F238E27FC236}">
                <a16:creationId xmlns:a16="http://schemas.microsoft.com/office/drawing/2014/main" id="{6F6FCCE5-46FB-4A95-BBAF-9F51123F7053}"/>
              </a:ext>
            </a:extLst>
          </p:cNvPr>
          <p:cNvPicPr>
            <a:picLocks noChangeAspect="1"/>
          </p:cNvPicPr>
          <p:nvPr/>
        </p:nvPicPr>
        <p:blipFill>
          <a:blip r:embed="rId4"/>
          <a:stretch>
            <a:fillRect/>
          </a:stretch>
        </p:blipFill>
        <p:spPr>
          <a:xfrm>
            <a:off x="1835696" y="4827381"/>
            <a:ext cx="3696020" cy="1204064"/>
          </a:xfrm>
          <a:prstGeom prst="rect">
            <a:avLst/>
          </a:prstGeom>
        </p:spPr>
      </p:pic>
      <p:sp>
        <p:nvSpPr>
          <p:cNvPr id="6" name="文本框 5">
            <a:extLst>
              <a:ext uri="{FF2B5EF4-FFF2-40B4-BE49-F238E27FC236}">
                <a16:creationId xmlns:a16="http://schemas.microsoft.com/office/drawing/2014/main" id="{795BC417-369D-4A5B-B8B9-B0A1CA19BE40}"/>
              </a:ext>
            </a:extLst>
          </p:cNvPr>
          <p:cNvSpPr txBox="1"/>
          <p:nvPr/>
        </p:nvSpPr>
        <p:spPr>
          <a:xfrm>
            <a:off x="6430088" y="6031445"/>
            <a:ext cx="2390384" cy="338554"/>
          </a:xfrm>
          <a:prstGeom prst="rect">
            <a:avLst/>
          </a:prstGeom>
          <a:noFill/>
        </p:spPr>
        <p:txBody>
          <a:bodyPr wrap="square" rtlCol="0">
            <a:spAutoFit/>
          </a:bodyPr>
          <a:lstStyle/>
          <a:p>
            <a:r>
              <a:rPr lang="zh-CN" altLang="en-US" sz="1600" dirty="0"/>
              <a:t>图片来自：知乎</a:t>
            </a:r>
            <a:r>
              <a:rPr lang="en-US" altLang="zh-CN" sz="1600" dirty="0"/>
              <a:t>@Lori</a:t>
            </a:r>
            <a:endParaRPr lang="zh-CN" altLang="en-US" sz="1600" dirty="0"/>
          </a:p>
        </p:txBody>
      </p:sp>
    </p:spTree>
    <p:extLst>
      <p:ext uri="{BB962C8B-B14F-4D97-AF65-F5344CB8AC3E}">
        <p14:creationId xmlns:p14="http://schemas.microsoft.com/office/powerpoint/2010/main" val="140540229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b="1" dirty="0"/>
              <a:t>基本术语</a:t>
            </a:r>
            <a:r>
              <a:rPr lang="en-US" altLang="zh-CN" b="1" dirty="0"/>
              <a:t>-</a:t>
            </a:r>
            <a:r>
              <a:rPr lang="zh-CN" altLang="en-US" b="1" dirty="0"/>
              <a:t>任务</a:t>
            </a:r>
          </a:p>
        </p:txBody>
      </p:sp>
      <p:sp>
        <p:nvSpPr>
          <p:cNvPr id="6" name="内容占位符 2"/>
          <p:cNvSpPr txBox="1">
            <a:spLocks/>
          </p:cNvSpPr>
          <p:nvPr/>
        </p:nvSpPr>
        <p:spPr>
          <a:xfrm>
            <a:off x="904613" y="1479327"/>
            <a:ext cx="6430465" cy="4086586"/>
          </a:xfrm>
          <a:prstGeom prst="rect">
            <a:avLst/>
          </a:prstGeom>
        </p:spPr>
        <p:txBody>
          <a:bodyPr/>
          <a:lstStyle>
            <a:lvl1pPr marL="342900" indent="-342900" algn="l" defTabSz="457200" rtl="0" eaLnBrk="1" latinLnBrk="0" hangingPunct="1">
              <a:spcBef>
                <a:spcPct val="20000"/>
              </a:spcBef>
              <a:spcAft>
                <a:spcPts val="600"/>
              </a:spcAft>
              <a:buClr>
                <a:schemeClr val="accent1"/>
              </a:buClr>
              <a:buFont typeface="Wingdings 2" charset="2"/>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accent1"/>
              </a:buClr>
              <a:buFont typeface="Wingdings 2" charset="2"/>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accent1"/>
              </a:buClr>
              <a:buFont typeface="Wingdings 2" charset="2"/>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a:lstStyle>
          <a:p>
            <a:pPr>
              <a:buFont typeface="Wingdings" pitchFamily="2" charset="2"/>
              <a:buChar char="p"/>
            </a:pPr>
            <a:r>
              <a:rPr lang="zh-CN" altLang="en-US" sz="2200" b="1" dirty="0"/>
              <a:t>有无标记信息</a:t>
            </a:r>
            <a:endParaRPr lang="en-US" altLang="zh-CN" sz="2200" b="1" dirty="0"/>
          </a:p>
          <a:p>
            <a:pPr lvl="1"/>
            <a:r>
              <a:rPr lang="zh-CN" altLang="en-US" sz="2000" b="1" dirty="0"/>
              <a:t>监督学习：分类、回归</a:t>
            </a:r>
            <a:endParaRPr lang="en-US" altLang="zh-CN" sz="2000" b="1" dirty="0"/>
          </a:p>
          <a:p>
            <a:pPr lvl="1"/>
            <a:r>
              <a:rPr lang="zh-CN" altLang="en-US" sz="2000" b="1" dirty="0"/>
              <a:t>无监督学习：聚类</a:t>
            </a:r>
            <a:endParaRPr lang="en-US" altLang="zh-CN" sz="2000" b="1" dirty="0"/>
          </a:p>
          <a:p>
            <a:pPr lvl="1"/>
            <a:r>
              <a:rPr lang="zh-CN" altLang="en-US" sz="2000" b="1" dirty="0"/>
              <a:t>半监督学习或主动学习：两者结合</a:t>
            </a:r>
            <a:endParaRPr lang="en-US" altLang="zh-CN" sz="2000" b="1" dirty="0"/>
          </a:p>
          <a:p>
            <a:pPr marL="457200" lvl="1" indent="0">
              <a:buNone/>
            </a:pPr>
            <a:endParaRPr lang="en-US" altLang="zh-CN" sz="1800" b="1" dirty="0"/>
          </a:p>
        </p:txBody>
      </p:sp>
      <p:pic>
        <p:nvPicPr>
          <p:cNvPr id="2" name="图片 1">
            <a:extLst>
              <a:ext uri="{FF2B5EF4-FFF2-40B4-BE49-F238E27FC236}">
                <a16:creationId xmlns:a16="http://schemas.microsoft.com/office/drawing/2014/main" id="{675A6F11-09FA-4CC2-B5AF-B055020C65B4}"/>
              </a:ext>
            </a:extLst>
          </p:cNvPr>
          <p:cNvPicPr>
            <a:picLocks noChangeAspect="1"/>
          </p:cNvPicPr>
          <p:nvPr/>
        </p:nvPicPr>
        <p:blipFill>
          <a:blip r:embed="rId2"/>
          <a:stretch>
            <a:fillRect/>
          </a:stretch>
        </p:blipFill>
        <p:spPr>
          <a:xfrm>
            <a:off x="1547664" y="3227963"/>
            <a:ext cx="2694179" cy="2399639"/>
          </a:xfrm>
          <a:prstGeom prst="rect">
            <a:avLst/>
          </a:prstGeom>
        </p:spPr>
      </p:pic>
      <p:sp>
        <p:nvSpPr>
          <p:cNvPr id="4" name="文本框 3">
            <a:extLst>
              <a:ext uri="{FF2B5EF4-FFF2-40B4-BE49-F238E27FC236}">
                <a16:creationId xmlns:a16="http://schemas.microsoft.com/office/drawing/2014/main" id="{9EBFD161-38FA-4A7B-A7B8-BEE1E33993DA}"/>
              </a:ext>
            </a:extLst>
          </p:cNvPr>
          <p:cNvSpPr txBox="1"/>
          <p:nvPr/>
        </p:nvSpPr>
        <p:spPr>
          <a:xfrm>
            <a:off x="6430088" y="6031445"/>
            <a:ext cx="2390384" cy="338554"/>
          </a:xfrm>
          <a:prstGeom prst="rect">
            <a:avLst/>
          </a:prstGeom>
          <a:noFill/>
        </p:spPr>
        <p:txBody>
          <a:bodyPr wrap="square" rtlCol="0">
            <a:spAutoFit/>
          </a:bodyPr>
          <a:lstStyle/>
          <a:p>
            <a:r>
              <a:rPr lang="zh-CN" altLang="en-US" sz="1600" dirty="0"/>
              <a:t>图片来自：知乎</a:t>
            </a:r>
            <a:r>
              <a:rPr lang="en-US" altLang="zh-CN" sz="1600" dirty="0"/>
              <a:t>@Lori</a:t>
            </a:r>
            <a:endParaRPr lang="zh-CN" altLang="en-US" sz="1600" dirty="0"/>
          </a:p>
        </p:txBody>
      </p:sp>
    </p:spTree>
    <p:extLst>
      <p:ext uri="{BB962C8B-B14F-4D97-AF65-F5344CB8AC3E}">
        <p14:creationId xmlns:p14="http://schemas.microsoft.com/office/powerpoint/2010/main" val="230195381"/>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b="1" dirty="0"/>
              <a:t>基本术语</a:t>
            </a:r>
            <a:r>
              <a:rPr lang="en-US" altLang="zh-CN" b="1" dirty="0"/>
              <a:t>-</a:t>
            </a:r>
            <a:r>
              <a:rPr lang="zh-CN" altLang="en-US" b="1" dirty="0"/>
              <a:t>泛化能力</a:t>
            </a:r>
          </a:p>
        </p:txBody>
      </p:sp>
      <p:sp>
        <p:nvSpPr>
          <p:cNvPr id="2" name="TextBox 1"/>
          <p:cNvSpPr txBox="1"/>
          <p:nvPr/>
        </p:nvSpPr>
        <p:spPr>
          <a:xfrm>
            <a:off x="1053548" y="1490870"/>
            <a:ext cx="7478892" cy="1405193"/>
          </a:xfrm>
          <a:prstGeom prst="rect">
            <a:avLst/>
          </a:prstGeom>
          <a:noFill/>
        </p:spPr>
        <p:txBody>
          <a:bodyPr wrap="square" rtlCol="0">
            <a:spAutoFit/>
          </a:bodyPr>
          <a:lstStyle/>
          <a:p>
            <a:pPr marL="285750" lvl="6" indent="-285750">
              <a:lnSpc>
                <a:spcPct val="150000"/>
              </a:lnSpc>
              <a:buClr>
                <a:srgbClr val="00B050"/>
              </a:buClr>
              <a:buFont typeface="Wingdings" panose="05000000000000000000" pitchFamily="2" charset="2"/>
              <a:buChar char="p"/>
            </a:pPr>
            <a:r>
              <a:rPr lang="zh-CN" altLang="en-US" sz="2000" b="1" dirty="0">
                <a:latin typeface="幼圆" panose="02010509060101010101" pitchFamily="49" charset="-122"/>
                <a:ea typeface="幼圆" panose="02010509060101010101" pitchFamily="49" charset="-122"/>
              </a:rPr>
              <a:t>机器学习的目标是使得学到的模型能很好的适用于“新样本”</a:t>
            </a:r>
            <a:r>
              <a:rPr lang="en-US" altLang="zh-CN" sz="2000" b="1" dirty="0">
                <a:latin typeface="幼圆" panose="02010509060101010101" pitchFamily="49" charset="-122"/>
                <a:ea typeface="幼圆" panose="02010509060101010101" pitchFamily="49" charset="-122"/>
              </a:rPr>
              <a:t>,</a:t>
            </a:r>
          </a:p>
          <a:p>
            <a:pPr marL="0" lvl="6">
              <a:lnSpc>
                <a:spcPct val="150000"/>
              </a:lnSpc>
            </a:pPr>
            <a:r>
              <a:rPr lang="zh-CN" altLang="en-US" sz="2000" b="1" dirty="0">
                <a:latin typeface="幼圆" panose="02010509060101010101" pitchFamily="49" charset="-122"/>
                <a:ea typeface="幼圆" panose="02010509060101010101" pitchFamily="49" charset="-122"/>
              </a:rPr>
              <a:t>而不仅仅是训练集合，我们称模型适用于新样本的能力为泛化</a:t>
            </a:r>
            <a:r>
              <a:rPr lang="en-US" altLang="zh-CN" sz="2000" b="1" dirty="0">
                <a:latin typeface="幼圆" panose="02010509060101010101" pitchFamily="49" charset="-122"/>
                <a:ea typeface="幼圆" panose="02010509060101010101" pitchFamily="49" charset="-122"/>
              </a:rPr>
              <a:t>(generalization)</a:t>
            </a:r>
            <a:r>
              <a:rPr lang="zh-CN" altLang="en-US" sz="2000" b="1" dirty="0">
                <a:latin typeface="幼圆" panose="02010509060101010101" pitchFamily="49" charset="-122"/>
                <a:ea typeface="幼圆" panose="02010509060101010101" pitchFamily="49" charset="-122"/>
              </a:rPr>
              <a:t>能力。</a:t>
            </a:r>
          </a:p>
        </p:txBody>
      </p:sp>
      <p:grpSp>
        <p:nvGrpSpPr>
          <p:cNvPr id="4" name="组合 3"/>
          <p:cNvGrpSpPr/>
          <p:nvPr/>
        </p:nvGrpSpPr>
        <p:grpSpPr>
          <a:xfrm>
            <a:off x="1076741" y="3087598"/>
            <a:ext cx="7478892" cy="1405193"/>
            <a:chOff x="1205948" y="2970649"/>
            <a:chExt cx="7106478" cy="1365343"/>
          </a:xfrm>
        </p:grpSpPr>
        <p:sp>
          <p:nvSpPr>
            <p:cNvPr id="5" name="TextBox 4"/>
            <p:cNvSpPr txBox="1"/>
            <p:nvPr/>
          </p:nvSpPr>
          <p:spPr>
            <a:xfrm>
              <a:off x="1205948" y="2970649"/>
              <a:ext cx="7106478" cy="1365343"/>
            </a:xfrm>
            <a:prstGeom prst="rect">
              <a:avLst/>
            </a:prstGeom>
            <a:noFill/>
          </p:spPr>
          <p:txBody>
            <a:bodyPr wrap="square" rtlCol="0">
              <a:spAutoFit/>
            </a:bodyPr>
            <a:lstStyle>
              <a:defPPr>
                <a:defRPr lang="zh-CN"/>
              </a:defPPr>
              <a:lvl7pPr marL="285750" lvl="6" indent="-285750">
                <a:buClr>
                  <a:srgbClr val="00B050"/>
                </a:buClr>
                <a:buFont typeface="Wingdings" panose="05000000000000000000" pitchFamily="2" charset="2"/>
                <a:buChar char="p"/>
                <a:defRPr>
                  <a:latin typeface="幼圆" panose="02010509060101010101" pitchFamily="49" charset="-122"/>
                  <a:ea typeface="幼圆" panose="02010509060101010101" pitchFamily="49" charset="-122"/>
                </a:defRPr>
              </a:lvl7pPr>
            </a:lstStyle>
            <a:p>
              <a:pPr lvl="6">
                <a:lnSpc>
                  <a:spcPct val="150000"/>
                </a:lnSpc>
              </a:pPr>
              <a:r>
                <a:rPr lang="zh-CN" altLang="en-US" sz="2000" b="1" dirty="0"/>
                <a:t>通常假设样本空间中的样本服从一个未知分布  </a:t>
              </a:r>
              <a:r>
                <a:rPr lang="en-US" altLang="zh-CN" sz="2000" b="1" dirty="0"/>
                <a:t> ,</a:t>
              </a:r>
              <a:r>
                <a:rPr lang="zh-CN" altLang="en-US" sz="2000" b="1" dirty="0"/>
                <a:t>样本从这个分布中独立获得，即“独立同分布”</a:t>
              </a:r>
              <a:r>
                <a:rPr lang="en-US" altLang="zh-CN" sz="2000" b="1" dirty="0"/>
                <a:t>(</a:t>
              </a:r>
              <a:r>
                <a:rPr lang="en-US" altLang="zh-CN" sz="2000" b="1" dirty="0" err="1"/>
                <a:t>i.i.d</a:t>
              </a:r>
              <a:r>
                <a:rPr lang="en-US" altLang="zh-CN" sz="2000" b="1" dirty="0"/>
                <a:t>)</a:t>
              </a:r>
              <a:r>
                <a:rPr lang="zh-CN" altLang="en-US" sz="2000" b="1" dirty="0"/>
                <a:t>。一般而言训练样本越多越有可能通过学习获得强泛化能力的模型</a:t>
              </a:r>
            </a:p>
          </p:txBody>
        </p:sp>
        <p:pic>
          <p:nvPicPr>
            <p:cNvPr id="819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2985" y="3162437"/>
              <a:ext cx="279864" cy="209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Tree>
    <p:extLst>
      <p:ext uri="{BB962C8B-B14F-4D97-AF65-F5344CB8AC3E}">
        <p14:creationId xmlns:p14="http://schemas.microsoft.com/office/powerpoint/2010/main" val="2680991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2450" name="矩形 872449"/>
          <p:cNvSpPr/>
          <p:nvPr/>
        </p:nvSpPr>
        <p:spPr>
          <a:xfrm>
            <a:off x="685800" y="609600"/>
            <a:ext cx="7772400" cy="1143000"/>
          </a:xfrm>
          <a:prstGeom prst="rect">
            <a:avLst/>
          </a:prstGeom>
          <a:noFill/>
          <a:ln w="9525">
            <a:noFill/>
          </a:ln>
        </p:spPr>
        <p:txBody>
          <a:bodyPr anchor="ctr"/>
          <a:lstStyle/>
          <a:p>
            <a:pPr lvl="0" algn="ctr" eaLnBrk="1" hangingPunct="1"/>
            <a:r>
              <a:rPr lang="zh-CN" altLang="en-US" sz="4400" b="1" dirty="0">
                <a:solidFill>
                  <a:srgbClr val="0000FF"/>
                </a:solidFill>
                <a:latin typeface="Times New Roman" panose="02020603050405020304" pitchFamily="18" charset="0"/>
                <a:ea typeface="宋体" panose="02010600030101010101" pitchFamily="2" charset="-122"/>
              </a:rPr>
              <a:t>基本术语</a:t>
            </a:r>
            <a:r>
              <a:rPr lang="en-US" altLang="zh-CN" sz="4400" b="1" dirty="0">
                <a:solidFill>
                  <a:srgbClr val="0000FF"/>
                </a:solidFill>
                <a:latin typeface="Times New Roman" panose="02020603050405020304" pitchFamily="18" charset="0"/>
                <a:ea typeface="宋体" panose="02010600030101010101" pitchFamily="2" charset="-122"/>
              </a:rPr>
              <a:t>-</a:t>
            </a:r>
            <a:r>
              <a:rPr lang="zh-CN" altLang="en-US" sz="4400" b="1" dirty="0">
                <a:solidFill>
                  <a:srgbClr val="0000FF"/>
                </a:solidFill>
                <a:latin typeface="Times New Roman" panose="02020603050405020304" pitchFamily="18" charset="0"/>
                <a:ea typeface="宋体" panose="02010600030101010101" pitchFamily="2" charset="-122"/>
              </a:rPr>
              <a:t>小结</a:t>
            </a:r>
          </a:p>
        </p:txBody>
      </p:sp>
      <p:sp>
        <p:nvSpPr>
          <p:cNvPr id="872451" name="矩形 872450"/>
          <p:cNvSpPr/>
          <p:nvPr/>
        </p:nvSpPr>
        <p:spPr>
          <a:xfrm>
            <a:off x="914400" y="1658892"/>
            <a:ext cx="7772400" cy="4544144"/>
          </a:xfrm>
          <a:prstGeom prst="rect">
            <a:avLst/>
          </a:prstGeom>
          <a:noFill/>
          <a:ln w="9525">
            <a:noFill/>
          </a:ln>
        </p:spPr>
        <p:txBody>
          <a:bodyPr/>
          <a:lstStyle/>
          <a:p>
            <a:pPr marL="457200" lvl="0" indent="-457200" eaLnBrk="1" hangingPunct="1">
              <a:lnSpc>
                <a:spcPct val="90000"/>
              </a:lnSpc>
              <a:spcBef>
                <a:spcPct val="20000"/>
              </a:spcBef>
              <a:buChar char="•"/>
            </a:pPr>
            <a:r>
              <a:rPr lang="en-US" altLang="zh-CN" sz="2800" b="1" dirty="0">
                <a:latin typeface="Times New Roman" panose="02020603050405020304" pitchFamily="18" charset="0"/>
                <a:ea typeface="宋体" panose="02010600030101010101" pitchFamily="2" charset="-122"/>
              </a:rPr>
              <a:t>=		</a:t>
            </a:r>
            <a:r>
              <a:rPr lang="zh-CN" altLang="en-US" sz="2800" b="1" dirty="0">
                <a:latin typeface="Times New Roman" panose="02020603050405020304" pitchFamily="18" charset="0"/>
                <a:ea typeface="宋体" panose="02010600030101010101" pitchFamily="2" charset="-122"/>
              </a:rPr>
              <a:t>用符号，来赋值</a:t>
            </a:r>
            <a:endParaRPr lang="en-US" altLang="zh-CN" sz="2800" b="1" dirty="0">
              <a:latin typeface="Times New Roman" panose="02020603050405020304" pitchFamily="18" charset="0"/>
              <a:ea typeface="宋体" panose="02010600030101010101" pitchFamily="2" charset="-122"/>
            </a:endParaRPr>
          </a:p>
          <a:p>
            <a:pPr marL="457200" lvl="0" indent="-457200" eaLnBrk="1" hangingPunct="1">
              <a:lnSpc>
                <a:spcPct val="90000"/>
              </a:lnSpc>
              <a:spcBef>
                <a:spcPct val="20000"/>
              </a:spcBef>
              <a:buChar char="•"/>
            </a:pPr>
            <a:r>
              <a:rPr lang="zh-CN" altLang="en-US" sz="2800" b="1" dirty="0">
                <a:latin typeface="Times New Roman" panose="02020603050405020304" pitchFamily="18" charset="0"/>
                <a:ea typeface="宋体" panose="02010600030101010101" pitchFamily="2" charset="-122"/>
              </a:rPr>
              <a:t>数据</a:t>
            </a:r>
            <a:r>
              <a:rPr lang="en-US" altLang="zh-CN" sz="2800" b="1" dirty="0">
                <a:latin typeface="Times New Roman" panose="02020603050405020304" pitchFamily="18" charset="0"/>
                <a:ea typeface="宋体" panose="02010600030101010101" pitchFamily="2" charset="-122"/>
              </a:rPr>
              <a:t>	</a:t>
            </a:r>
            <a:r>
              <a:rPr lang="zh-CN" altLang="en-US" sz="2800" b="1" dirty="0">
                <a:latin typeface="Times New Roman" panose="02020603050405020304" pitchFamily="18" charset="0"/>
                <a:ea typeface="宋体" panose="02010600030101010101" pitchFamily="2" charset="-122"/>
              </a:rPr>
              <a:t>数据集，看示例</a:t>
            </a:r>
            <a:endParaRPr lang="en-US" altLang="zh-CN" sz="2800" b="1" dirty="0">
              <a:latin typeface="Times New Roman" panose="02020603050405020304" pitchFamily="18" charset="0"/>
              <a:ea typeface="宋体" panose="02010600030101010101" pitchFamily="2" charset="-122"/>
            </a:endParaRPr>
          </a:p>
          <a:p>
            <a:pPr marL="457200" lvl="0" indent="-457200" eaLnBrk="1" hangingPunct="1">
              <a:lnSpc>
                <a:spcPct val="90000"/>
              </a:lnSpc>
              <a:spcBef>
                <a:spcPct val="20000"/>
              </a:spcBef>
              <a:buChar char="•"/>
            </a:pPr>
            <a:r>
              <a:rPr lang="zh-CN" altLang="en-US" sz="2800" b="1" dirty="0">
                <a:latin typeface="Times New Roman" panose="02020603050405020304" pitchFamily="18" charset="0"/>
                <a:ea typeface="宋体" panose="02010600030101010101" pitchFamily="2" charset="-122"/>
              </a:rPr>
              <a:t>特征</a:t>
            </a:r>
            <a:r>
              <a:rPr lang="en-US" altLang="zh-CN" sz="2800" b="1" dirty="0">
                <a:latin typeface="Times New Roman" panose="02020603050405020304" pitchFamily="18" charset="0"/>
                <a:ea typeface="宋体" panose="02010600030101010101" pitchFamily="2" charset="-122"/>
              </a:rPr>
              <a:t>	</a:t>
            </a:r>
            <a:r>
              <a:rPr lang="zh-CN" altLang="en-US" sz="2800" b="1" dirty="0">
                <a:latin typeface="Times New Roman" panose="02020603050405020304" pitchFamily="18" charset="0"/>
                <a:ea typeface="宋体" panose="02010600030101010101" pitchFamily="2" charset="-122"/>
              </a:rPr>
              <a:t>属性值，张空间</a:t>
            </a:r>
            <a:endParaRPr lang="en-US" altLang="zh-CN" sz="2800" b="1" dirty="0">
              <a:latin typeface="Times New Roman" panose="02020603050405020304" pitchFamily="18" charset="0"/>
              <a:ea typeface="宋体" panose="02010600030101010101" pitchFamily="2" charset="-122"/>
            </a:endParaRPr>
          </a:p>
          <a:p>
            <a:pPr marL="457200" lvl="0" indent="-457200" eaLnBrk="1" hangingPunct="1">
              <a:lnSpc>
                <a:spcPct val="90000"/>
              </a:lnSpc>
              <a:spcBef>
                <a:spcPct val="20000"/>
              </a:spcBef>
              <a:buChar char="•"/>
            </a:pPr>
            <a:r>
              <a:rPr lang="en-US" altLang="zh-CN" sz="2800" b="1" dirty="0">
                <a:latin typeface="Times New Roman" panose="02020603050405020304" pitchFamily="18" charset="0"/>
                <a:ea typeface="宋体" panose="02010600030101010101" pitchFamily="2" charset="-122"/>
              </a:rPr>
              <a:t>d		</a:t>
            </a:r>
            <a:r>
              <a:rPr lang="zh-CN" altLang="en-US" sz="2800" b="1" dirty="0">
                <a:latin typeface="Times New Roman" panose="02020603050405020304" pitchFamily="18" charset="0"/>
                <a:ea typeface="宋体" panose="02010600030101010101" pitchFamily="2" charset="-122"/>
              </a:rPr>
              <a:t>特征数，是维度</a:t>
            </a:r>
            <a:endParaRPr lang="en-US" altLang="zh-CN" sz="2800" b="1" dirty="0">
              <a:latin typeface="Times New Roman" panose="02020603050405020304" pitchFamily="18" charset="0"/>
              <a:ea typeface="宋体" panose="02010600030101010101" pitchFamily="2" charset="-122"/>
            </a:endParaRPr>
          </a:p>
          <a:p>
            <a:pPr marL="457200" lvl="0" indent="-457200" eaLnBrk="1" hangingPunct="1">
              <a:lnSpc>
                <a:spcPct val="90000"/>
              </a:lnSpc>
              <a:spcBef>
                <a:spcPct val="20000"/>
              </a:spcBef>
              <a:buChar char="•"/>
            </a:pPr>
            <a:r>
              <a:rPr lang="zh-CN" altLang="en-US" sz="2800" b="1" dirty="0">
                <a:latin typeface="Times New Roman" panose="02020603050405020304" pitchFamily="18" charset="0"/>
                <a:ea typeface="宋体" panose="02010600030101010101" pitchFamily="2" charset="-122"/>
              </a:rPr>
              <a:t>逼近</a:t>
            </a:r>
            <a:r>
              <a:rPr lang="en-US" altLang="zh-CN" sz="2800" b="1" dirty="0">
                <a:latin typeface="Times New Roman" panose="02020603050405020304" pitchFamily="18" charset="0"/>
                <a:ea typeface="宋体" panose="02010600030101010101" pitchFamily="2" charset="-122"/>
              </a:rPr>
              <a:t>	</a:t>
            </a:r>
            <a:r>
              <a:rPr lang="zh-CN" altLang="en-US" sz="2800" b="1" dirty="0">
                <a:latin typeface="Times New Roman" panose="02020603050405020304" pitchFamily="18" charset="0"/>
                <a:ea typeface="宋体" panose="02010600030101010101" pitchFamily="2" charset="-122"/>
              </a:rPr>
              <a:t>训练集，学习器</a:t>
            </a:r>
            <a:endParaRPr lang="en-US" altLang="zh-CN" sz="2800" b="1" dirty="0">
              <a:latin typeface="Times New Roman" panose="02020603050405020304" pitchFamily="18" charset="0"/>
              <a:ea typeface="宋体" panose="02010600030101010101" pitchFamily="2" charset="-122"/>
            </a:endParaRPr>
          </a:p>
          <a:p>
            <a:pPr marL="457200" lvl="0" indent="-457200" eaLnBrk="1" hangingPunct="1">
              <a:lnSpc>
                <a:spcPct val="90000"/>
              </a:lnSpc>
              <a:spcBef>
                <a:spcPct val="20000"/>
              </a:spcBef>
              <a:buChar char="•"/>
            </a:pPr>
            <a:r>
              <a:rPr lang="zh-CN" altLang="en-US" sz="2800" b="1" dirty="0">
                <a:latin typeface="Times New Roman" panose="02020603050405020304" pitchFamily="18" charset="0"/>
                <a:ea typeface="宋体" panose="02010600030101010101" pitchFamily="2" charset="-122"/>
              </a:rPr>
              <a:t>决策</a:t>
            </a:r>
            <a:r>
              <a:rPr lang="en-US" altLang="zh-CN" sz="2800" b="1" dirty="0">
                <a:latin typeface="Times New Roman" panose="02020603050405020304" pitchFamily="18" charset="0"/>
                <a:ea typeface="宋体" panose="02010600030101010101" pitchFamily="2" charset="-122"/>
              </a:rPr>
              <a:t>	</a:t>
            </a:r>
            <a:r>
              <a:rPr lang="zh-CN" altLang="en-US" sz="2800" b="1" dirty="0">
                <a:latin typeface="Times New Roman" panose="02020603050405020304" pitchFamily="18" charset="0"/>
                <a:ea typeface="宋体" panose="02010600030101010101" pitchFamily="2" charset="-122"/>
              </a:rPr>
              <a:t>带标记，二分类</a:t>
            </a:r>
            <a:endParaRPr lang="en-US" altLang="zh-CN" sz="2800" b="1" dirty="0">
              <a:latin typeface="Times New Roman" panose="02020603050405020304" pitchFamily="18" charset="0"/>
              <a:ea typeface="宋体" panose="02010600030101010101" pitchFamily="2" charset="-122"/>
            </a:endParaRPr>
          </a:p>
          <a:p>
            <a:pPr marL="457200" lvl="0" indent="-457200" eaLnBrk="1" hangingPunct="1">
              <a:lnSpc>
                <a:spcPct val="90000"/>
              </a:lnSpc>
              <a:spcBef>
                <a:spcPct val="20000"/>
              </a:spcBef>
              <a:buChar char="•"/>
            </a:pPr>
            <a:r>
              <a:rPr lang="zh-CN" altLang="en-US" sz="2800" b="1" dirty="0">
                <a:latin typeface="Times New Roman" panose="02020603050405020304" pitchFamily="18" charset="0"/>
                <a:ea typeface="宋体" panose="02010600030101010101" pitchFamily="2" charset="-122"/>
              </a:rPr>
              <a:t>预测</a:t>
            </a:r>
            <a:r>
              <a:rPr lang="en-US" altLang="zh-CN" sz="2800" b="1" dirty="0">
                <a:latin typeface="Times New Roman" panose="02020603050405020304" pitchFamily="18" charset="0"/>
                <a:ea typeface="宋体" panose="02010600030101010101" pitchFamily="2" charset="-122"/>
              </a:rPr>
              <a:t>	</a:t>
            </a:r>
            <a:r>
              <a:rPr lang="zh-CN" altLang="en-US" sz="2800" b="1" dirty="0">
                <a:latin typeface="Times New Roman" panose="02020603050405020304" pitchFamily="18" charset="0"/>
                <a:ea typeface="宋体" panose="02010600030101010101" pitchFamily="2" charset="-122"/>
              </a:rPr>
              <a:t>连续值，求回归</a:t>
            </a:r>
            <a:endParaRPr lang="en-US" altLang="zh-CN" sz="2800" b="1" dirty="0">
              <a:latin typeface="Times New Roman" panose="02020603050405020304" pitchFamily="18" charset="0"/>
              <a:ea typeface="宋体" panose="02010600030101010101" pitchFamily="2" charset="-122"/>
            </a:endParaRPr>
          </a:p>
          <a:p>
            <a:pPr marL="457200" lvl="0" indent="-457200" eaLnBrk="1" hangingPunct="1">
              <a:lnSpc>
                <a:spcPct val="90000"/>
              </a:lnSpc>
              <a:spcBef>
                <a:spcPct val="20000"/>
              </a:spcBef>
              <a:buChar char="•"/>
            </a:pPr>
            <a:r>
              <a:rPr lang="zh-CN" altLang="en-US" sz="2800" b="1" dirty="0">
                <a:latin typeface="Times New Roman" panose="02020603050405020304" pitchFamily="18" charset="0"/>
                <a:ea typeface="宋体" panose="02010600030101010101" pitchFamily="2" charset="-122"/>
              </a:rPr>
              <a:t>评估</a:t>
            </a:r>
            <a:r>
              <a:rPr lang="en-US" altLang="zh-CN" sz="2800" b="1" dirty="0">
                <a:latin typeface="Times New Roman" panose="02020603050405020304" pitchFamily="18" charset="0"/>
                <a:ea typeface="宋体" panose="02010600030101010101" pitchFamily="2" charset="-122"/>
              </a:rPr>
              <a:t>	</a:t>
            </a:r>
            <a:r>
              <a:rPr lang="zh-CN" altLang="en-US" sz="2800" b="1" dirty="0">
                <a:latin typeface="Times New Roman" panose="02020603050405020304" pitchFamily="18" charset="0"/>
                <a:ea typeface="宋体" panose="02010600030101010101" pitchFamily="2" charset="-122"/>
              </a:rPr>
              <a:t>求精度，须测试</a:t>
            </a:r>
            <a:endParaRPr lang="en-US" altLang="zh-CN" sz="2800" b="1" dirty="0">
              <a:latin typeface="Times New Roman" panose="02020603050405020304" pitchFamily="18" charset="0"/>
              <a:ea typeface="宋体" panose="02010600030101010101" pitchFamily="2" charset="-122"/>
            </a:endParaRPr>
          </a:p>
          <a:p>
            <a:pPr marL="457200" lvl="0" indent="-457200" eaLnBrk="1" hangingPunct="1">
              <a:lnSpc>
                <a:spcPct val="90000"/>
              </a:lnSpc>
              <a:spcBef>
                <a:spcPct val="20000"/>
              </a:spcBef>
              <a:buChar char="•"/>
            </a:pPr>
            <a:r>
              <a:rPr lang="zh-CN" altLang="en-US" sz="2800" b="1" dirty="0">
                <a:latin typeface="Times New Roman" panose="02020603050405020304" pitchFamily="18" charset="0"/>
                <a:ea typeface="宋体" panose="02010600030101010101" pitchFamily="2" charset="-122"/>
              </a:rPr>
              <a:t>推广</a:t>
            </a:r>
            <a:r>
              <a:rPr lang="en-US" altLang="zh-CN" sz="2800" b="1" dirty="0">
                <a:latin typeface="Times New Roman" panose="02020603050405020304" pitchFamily="18" charset="0"/>
                <a:ea typeface="宋体" panose="02010600030101010101" pitchFamily="2" charset="-122"/>
              </a:rPr>
              <a:t>	</a:t>
            </a:r>
            <a:r>
              <a:rPr lang="zh-CN" altLang="en-US" sz="2800" b="1" dirty="0">
                <a:latin typeface="Times New Roman" panose="02020603050405020304" pitchFamily="18" charset="0"/>
                <a:ea typeface="宋体" panose="02010600030101010101" pitchFamily="2" charset="-122"/>
              </a:rPr>
              <a:t>新样本，泛化力</a:t>
            </a:r>
            <a:endParaRPr lang="en-US" altLang="zh-CN" sz="2800" b="1" dirty="0">
              <a:latin typeface="Times New Roman" panose="02020603050405020304" pitchFamily="18" charset="0"/>
              <a:ea typeface="宋体" panose="02010600030101010101" pitchFamily="2" charset="-122"/>
            </a:endParaRPr>
          </a:p>
          <a:p>
            <a:pPr marL="457200" lvl="0" indent="-457200" eaLnBrk="1" hangingPunct="1">
              <a:lnSpc>
                <a:spcPct val="90000"/>
              </a:lnSpc>
              <a:spcBef>
                <a:spcPct val="20000"/>
              </a:spcBef>
              <a:buChar char="•"/>
            </a:pPr>
            <a:r>
              <a:rPr lang="zh-CN" altLang="en-US" sz="2800" b="1" dirty="0">
                <a:latin typeface="Times New Roman" panose="02020603050405020304" pitchFamily="18" charset="0"/>
                <a:ea typeface="宋体" panose="02010600030101010101" pitchFamily="2" charset="-122"/>
              </a:rPr>
              <a:t>独立</a:t>
            </a:r>
            <a:r>
              <a:rPr lang="en-US" altLang="zh-CN" sz="2800" b="1" dirty="0">
                <a:latin typeface="Times New Roman" panose="02020603050405020304" pitchFamily="18" charset="0"/>
                <a:ea typeface="宋体" panose="02010600030101010101" pitchFamily="2" charset="-122"/>
              </a:rPr>
              <a:t>	</a:t>
            </a:r>
            <a:r>
              <a:rPr lang="zh-CN" altLang="en-US" sz="2800" b="1" dirty="0">
                <a:latin typeface="Times New Roman" panose="02020603050405020304" pitchFamily="18" charset="0"/>
                <a:ea typeface="宋体" panose="02010600030101010101" pitchFamily="2" charset="-122"/>
              </a:rPr>
              <a:t>一致性，同分布</a:t>
            </a:r>
            <a:endParaRPr lang="en-US" altLang="zh-CN" sz="2800" b="1" dirty="0">
              <a:latin typeface="Times New Roman" panose="02020603050405020304" pitchFamily="18" charset="0"/>
              <a:ea typeface="宋体" panose="02010600030101010101" pitchFamily="2" charset="-122"/>
            </a:endParaRPr>
          </a:p>
        </p:txBody>
      </p:sp>
      <p:sp>
        <p:nvSpPr>
          <p:cNvPr id="2" name="灯片编号占位符 1"/>
          <p:cNvSpPr>
            <a:spLocks noGrp="1"/>
          </p:cNvSpPr>
          <p:nvPr>
            <p:ph type="sldNum" sz="quarter" idx="12"/>
          </p:nvPr>
        </p:nvSpPr>
        <p:spPr/>
        <p:txBody>
          <a:bodyPr/>
          <a:lstStyle/>
          <a:p>
            <a:pPr lvl="0"/>
            <a:fld id="{9A0DB2DC-4C9A-4742-B13C-FB6460FD3503}" type="slidenum">
              <a:rPr lang="en-US" altLang="zh-CN" dirty="0"/>
              <a:t>18</a:t>
            </a:fld>
            <a:endParaRPr lang="zh-CN" dirty="0"/>
          </a:p>
        </p:txBody>
      </p:sp>
    </p:spTree>
    <p:extLst>
      <p:ext uri="{BB962C8B-B14F-4D97-AF65-F5344CB8AC3E}">
        <p14:creationId xmlns:p14="http://schemas.microsoft.com/office/powerpoint/2010/main" val="1138275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724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2451"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t>大纲</a:t>
            </a:r>
          </a:p>
        </p:txBody>
      </p:sp>
      <p:sp>
        <p:nvSpPr>
          <p:cNvPr id="3" name="内容占位符 2"/>
          <p:cNvSpPr>
            <a:spLocks noGrp="1"/>
          </p:cNvSpPr>
          <p:nvPr>
            <p:ph idx="1"/>
          </p:nvPr>
        </p:nvSpPr>
        <p:spPr>
          <a:xfrm>
            <a:off x="1331640" y="980728"/>
            <a:ext cx="6480720" cy="5795773"/>
          </a:xfrm>
        </p:spPr>
        <p:txBody>
          <a:bodyPr>
            <a:normAutofit/>
          </a:bodyPr>
          <a:lstStyle/>
          <a:p>
            <a:pPr>
              <a:lnSpc>
                <a:spcPts val="2600"/>
              </a:lnSpc>
              <a:buClr>
                <a:srgbClr val="00B050"/>
              </a:buClr>
              <a:buFont typeface="Wingdings" panose="05000000000000000000" pitchFamily="2" charset="2"/>
              <a:buChar char="p"/>
            </a:pPr>
            <a:r>
              <a:rPr lang="zh-CN" altLang="en-US" sz="2400" b="1" dirty="0"/>
              <a:t>引言</a:t>
            </a:r>
            <a:endParaRPr lang="en-US" altLang="zh-CN" sz="2400" b="1" dirty="0"/>
          </a:p>
          <a:p>
            <a:pPr>
              <a:lnSpc>
                <a:spcPts val="2600"/>
              </a:lnSpc>
              <a:buClr>
                <a:srgbClr val="00B050"/>
              </a:buClr>
              <a:buFont typeface="Wingdings" panose="05000000000000000000" pitchFamily="2" charset="2"/>
              <a:buChar char="p"/>
            </a:pPr>
            <a:endParaRPr lang="en-US" altLang="zh-CN" sz="2400" b="1" dirty="0"/>
          </a:p>
          <a:p>
            <a:pPr>
              <a:lnSpc>
                <a:spcPts val="2600"/>
              </a:lnSpc>
              <a:buClr>
                <a:srgbClr val="00B050"/>
              </a:buClr>
              <a:buFont typeface="Wingdings" panose="05000000000000000000" pitchFamily="2" charset="2"/>
              <a:buChar char="p"/>
            </a:pPr>
            <a:r>
              <a:rPr lang="zh-CN" altLang="en-US" sz="2400" b="1" dirty="0"/>
              <a:t>基本术语</a:t>
            </a:r>
            <a:endParaRPr lang="en-US" altLang="zh-CN" sz="2400" b="1" dirty="0"/>
          </a:p>
          <a:p>
            <a:pPr>
              <a:lnSpc>
                <a:spcPts val="2600"/>
              </a:lnSpc>
              <a:buClr>
                <a:srgbClr val="00B050"/>
              </a:buClr>
              <a:buFont typeface="Wingdings" panose="05000000000000000000" pitchFamily="2" charset="2"/>
              <a:buChar char="p"/>
            </a:pPr>
            <a:endParaRPr lang="en-US" altLang="zh-CN" sz="2400" b="1" dirty="0">
              <a:solidFill>
                <a:srgbClr val="0000FF"/>
              </a:solidFill>
            </a:endParaRPr>
          </a:p>
          <a:p>
            <a:pPr>
              <a:lnSpc>
                <a:spcPts val="2600"/>
              </a:lnSpc>
              <a:buClr>
                <a:srgbClr val="00B050"/>
              </a:buClr>
              <a:buFont typeface="Wingdings" panose="05000000000000000000" pitchFamily="2" charset="2"/>
              <a:buChar char="p"/>
            </a:pPr>
            <a:r>
              <a:rPr lang="zh-CN" altLang="en-US" sz="2400" b="1" dirty="0">
                <a:solidFill>
                  <a:srgbClr val="0000FF"/>
                </a:solidFill>
              </a:rPr>
              <a:t>假设空间</a:t>
            </a:r>
            <a:endParaRPr lang="en-US" altLang="zh-CN" sz="2400" b="1" dirty="0">
              <a:solidFill>
                <a:srgbClr val="0000FF"/>
              </a:solidFill>
            </a:endParaRPr>
          </a:p>
          <a:p>
            <a:pPr>
              <a:lnSpc>
                <a:spcPts val="2600"/>
              </a:lnSpc>
              <a:buClr>
                <a:srgbClr val="00B050"/>
              </a:buClr>
              <a:buFont typeface="Wingdings" panose="05000000000000000000" pitchFamily="2" charset="2"/>
              <a:buChar char="p"/>
            </a:pPr>
            <a:endParaRPr lang="en-US" altLang="zh-CN" sz="2400" b="1" dirty="0"/>
          </a:p>
          <a:p>
            <a:pPr>
              <a:lnSpc>
                <a:spcPts val="2600"/>
              </a:lnSpc>
              <a:buClr>
                <a:srgbClr val="00B050"/>
              </a:buClr>
              <a:buFont typeface="Wingdings" panose="05000000000000000000" pitchFamily="2" charset="2"/>
              <a:buChar char="p"/>
            </a:pPr>
            <a:r>
              <a:rPr lang="zh-CN" altLang="en-US" sz="2400" b="1" dirty="0"/>
              <a:t>归纳偏好</a:t>
            </a:r>
            <a:endParaRPr lang="en-US" altLang="zh-CN" sz="2400" b="1" dirty="0"/>
          </a:p>
          <a:p>
            <a:pPr>
              <a:lnSpc>
                <a:spcPts val="2600"/>
              </a:lnSpc>
              <a:buClr>
                <a:srgbClr val="00B050"/>
              </a:buClr>
              <a:buFont typeface="Wingdings" panose="05000000000000000000" pitchFamily="2" charset="2"/>
              <a:buChar char="p"/>
            </a:pPr>
            <a:endParaRPr lang="en-US" altLang="zh-CN" sz="2400" b="1" dirty="0"/>
          </a:p>
          <a:p>
            <a:pPr>
              <a:lnSpc>
                <a:spcPts val="2600"/>
              </a:lnSpc>
              <a:buClr>
                <a:srgbClr val="00B050"/>
              </a:buClr>
              <a:buFont typeface="Wingdings" panose="05000000000000000000" pitchFamily="2" charset="2"/>
              <a:buChar char="p"/>
            </a:pPr>
            <a:r>
              <a:rPr lang="zh-CN" altLang="en-US" sz="2400" b="1" dirty="0"/>
              <a:t>发展历程</a:t>
            </a:r>
            <a:endParaRPr lang="en-US" altLang="zh-CN" sz="2400" b="1" dirty="0"/>
          </a:p>
          <a:p>
            <a:pPr>
              <a:lnSpc>
                <a:spcPts val="2600"/>
              </a:lnSpc>
              <a:buClr>
                <a:srgbClr val="00B050"/>
              </a:buClr>
              <a:buFont typeface="Wingdings" panose="05000000000000000000" pitchFamily="2" charset="2"/>
              <a:buChar char="p"/>
            </a:pPr>
            <a:endParaRPr lang="en-US" altLang="zh-CN" sz="2400" b="1" dirty="0"/>
          </a:p>
          <a:p>
            <a:pPr>
              <a:lnSpc>
                <a:spcPts val="2600"/>
              </a:lnSpc>
              <a:buClr>
                <a:srgbClr val="00B050"/>
              </a:buClr>
              <a:buFont typeface="Wingdings" panose="05000000000000000000" pitchFamily="2" charset="2"/>
              <a:buChar char="p"/>
            </a:pPr>
            <a:r>
              <a:rPr lang="zh-CN" altLang="en-US" sz="2400" b="1" dirty="0"/>
              <a:t>应用现状</a:t>
            </a:r>
            <a:endParaRPr lang="en-US" altLang="zh-CN" sz="2400" b="1" dirty="0"/>
          </a:p>
          <a:p>
            <a:pPr marL="0" indent="0">
              <a:lnSpc>
                <a:spcPts val="2600"/>
              </a:lnSpc>
              <a:buClr>
                <a:srgbClr val="00B050"/>
              </a:buClr>
              <a:buNone/>
            </a:pPr>
            <a:endParaRPr lang="en-US" altLang="zh-CN" sz="2400" b="1" dirty="0"/>
          </a:p>
        </p:txBody>
      </p:sp>
    </p:spTree>
    <p:extLst>
      <p:ext uri="{BB962C8B-B14F-4D97-AF65-F5344CB8AC3E}">
        <p14:creationId xmlns:p14="http://schemas.microsoft.com/office/powerpoint/2010/main" val="3363173815"/>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332656"/>
            <a:ext cx="8229600" cy="1143000"/>
          </a:xfrm>
        </p:spPr>
        <p:txBody>
          <a:bodyPr/>
          <a:lstStyle/>
          <a:p>
            <a:r>
              <a:rPr lang="zh-CN" altLang="en-US" b="1" dirty="0"/>
              <a:t>假设空间</a:t>
            </a:r>
          </a:p>
        </p:txBody>
      </p:sp>
      <p:sp>
        <p:nvSpPr>
          <p:cNvPr id="5" name="矩形 4"/>
          <p:cNvSpPr/>
          <p:nvPr/>
        </p:nvSpPr>
        <p:spPr>
          <a:xfrm>
            <a:off x="685800" y="1693168"/>
            <a:ext cx="7772400" cy="4544144"/>
          </a:xfrm>
          <a:prstGeom prst="rect">
            <a:avLst/>
          </a:prstGeom>
          <a:noFill/>
          <a:ln w="9525">
            <a:noFill/>
          </a:ln>
        </p:spPr>
        <p:txBody>
          <a:bodyPr/>
          <a:lstStyle/>
          <a:p>
            <a:pPr marL="457200" lvl="0" indent="-457200" eaLnBrk="1" hangingPunct="1">
              <a:lnSpc>
                <a:spcPct val="90000"/>
              </a:lnSpc>
              <a:spcBef>
                <a:spcPct val="20000"/>
              </a:spcBef>
              <a:buChar char="•"/>
            </a:pPr>
            <a:r>
              <a:rPr lang="zh-CN" altLang="en-US" sz="2800" b="1" dirty="0">
                <a:latin typeface="幼圆" panose="02010509060101010101" pitchFamily="49" charset="-122"/>
                <a:ea typeface="幼圆" panose="02010509060101010101" pitchFamily="49" charset="-122"/>
              </a:rPr>
              <a:t>假设空间：</a:t>
            </a:r>
            <a:endParaRPr lang="en-US" altLang="zh-CN" sz="2800" b="1" dirty="0">
              <a:latin typeface="幼圆" panose="02010509060101010101" pitchFamily="49" charset="-122"/>
              <a:ea typeface="幼圆" panose="02010509060101010101" pitchFamily="49" charset="-122"/>
            </a:endParaRPr>
          </a:p>
          <a:p>
            <a:pPr marL="914400" lvl="1" indent="-457200">
              <a:lnSpc>
                <a:spcPct val="90000"/>
              </a:lnSpc>
              <a:spcBef>
                <a:spcPct val="20000"/>
              </a:spcBef>
              <a:buChar char="•"/>
            </a:pPr>
            <a:r>
              <a:rPr lang="zh-CN" altLang="en-US" sz="2800" b="1" dirty="0">
                <a:latin typeface="幼圆" panose="02010509060101010101" pitchFamily="49" charset="-122"/>
                <a:ea typeface="幼圆" panose="02010509060101010101" pitchFamily="49" charset="-122"/>
              </a:rPr>
              <a:t>把学习过程看成在</a:t>
            </a:r>
            <a:r>
              <a:rPr lang="zh-CN" altLang="en-US" sz="2800" b="1" dirty="0">
                <a:solidFill>
                  <a:srgbClr val="00B050"/>
                </a:solidFill>
                <a:latin typeface="幼圆" panose="02010509060101010101" pitchFamily="49" charset="-122"/>
                <a:ea typeface="幼圆" panose="02010509060101010101" pitchFamily="49" charset="-122"/>
              </a:rPr>
              <a:t>所有假设构成的空间</a:t>
            </a:r>
            <a:r>
              <a:rPr lang="zh-CN" altLang="en-US" sz="2800" b="1" dirty="0">
                <a:latin typeface="幼圆" panose="02010509060101010101" pitchFamily="49" charset="-122"/>
                <a:ea typeface="幼圆" panose="02010509060101010101" pitchFamily="49" charset="-122"/>
              </a:rPr>
              <a:t>中进行搜索的过程，搜索目标是找到所有与训练集</a:t>
            </a:r>
            <a:r>
              <a:rPr lang="en-US" altLang="zh-CN" sz="2800" b="1" dirty="0">
                <a:latin typeface="幼圆" panose="02010509060101010101" pitchFamily="49" charset="-122"/>
                <a:ea typeface="幼圆" panose="02010509060101010101" pitchFamily="49" charset="-122"/>
              </a:rPr>
              <a:t>fit</a:t>
            </a:r>
            <a:r>
              <a:rPr lang="zh-CN" altLang="en-US" sz="2800" b="1" dirty="0">
                <a:latin typeface="幼圆" panose="02010509060101010101" pitchFamily="49" charset="-122"/>
                <a:ea typeface="幼圆" panose="02010509060101010101" pitchFamily="49" charset="-122"/>
              </a:rPr>
              <a:t>的假设</a:t>
            </a:r>
            <a:r>
              <a:rPr lang="en-US" altLang="zh-CN" sz="2800" b="1" dirty="0">
                <a:latin typeface="幼圆" panose="02010509060101010101" pitchFamily="49" charset="-122"/>
                <a:ea typeface="幼圆" panose="02010509060101010101" pitchFamily="49" charset="-122"/>
              </a:rPr>
              <a:t>,</a:t>
            </a:r>
            <a:r>
              <a:rPr lang="zh-CN" altLang="en-US" sz="2800" b="1" dirty="0">
                <a:latin typeface="幼圆" panose="02010509060101010101" pitchFamily="49" charset="-122"/>
                <a:ea typeface="幼圆" panose="02010509060101010101" pitchFamily="49" charset="-122"/>
              </a:rPr>
              <a:t>即能够将训练集中瓜正确判断的假设。</a:t>
            </a:r>
            <a:endParaRPr lang="en-US" altLang="zh-CN" sz="2800" b="1" dirty="0">
              <a:latin typeface="幼圆" panose="02010509060101010101" pitchFamily="49" charset="-122"/>
              <a:ea typeface="幼圆" panose="02010509060101010101" pitchFamily="49" charset="-122"/>
            </a:endParaRPr>
          </a:p>
          <a:p>
            <a:pPr marL="914400" lvl="1" indent="-457200">
              <a:lnSpc>
                <a:spcPct val="90000"/>
              </a:lnSpc>
              <a:spcBef>
                <a:spcPct val="20000"/>
              </a:spcBef>
              <a:buChar char="•"/>
            </a:pPr>
            <a:r>
              <a:rPr lang="zh-CN" altLang="en-US" sz="2800" b="1" dirty="0">
                <a:latin typeface="幼圆" panose="02010509060101010101" pitchFamily="49" charset="-122"/>
                <a:ea typeface="幼圆" panose="02010509060101010101" pitchFamily="49" charset="-122"/>
              </a:rPr>
              <a:t>假设的表示一旦确定，假设空间及其规模大小就确定了。</a:t>
            </a:r>
            <a:endParaRPr lang="en-US" altLang="zh-CN" sz="2800" b="1" dirty="0">
              <a:latin typeface="幼圆" panose="02010509060101010101" pitchFamily="49" charset="-122"/>
              <a:ea typeface="幼圆" panose="02010509060101010101" pitchFamily="49" charset="-122"/>
            </a:endParaRPr>
          </a:p>
          <a:p>
            <a:pPr lvl="0">
              <a:lnSpc>
                <a:spcPct val="90000"/>
              </a:lnSpc>
              <a:spcBef>
                <a:spcPct val="20000"/>
              </a:spcBef>
            </a:pPr>
            <a:endParaRPr lang="en-US" altLang="zh-CN" sz="2000" b="1" dirty="0">
              <a:latin typeface="幼圆" panose="02010509060101010101" pitchFamily="49" charset="-122"/>
              <a:ea typeface="幼圆" panose="02010509060101010101" pitchFamily="49" charset="-122"/>
            </a:endParaRPr>
          </a:p>
          <a:p>
            <a:pPr marL="457200" lvl="0" indent="-457200" eaLnBrk="1" hangingPunct="1">
              <a:lnSpc>
                <a:spcPct val="90000"/>
              </a:lnSpc>
              <a:spcBef>
                <a:spcPct val="20000"/>
              </a:spcBef>
              <a:buChar char="•"/>
            </a:pPr>
            <a:endParaRPr lang="en-US" altLang="zh-CN" sz="2000" b="1" dirty="0">
              <a:latin typeface="幼圆" panose="02010509060101010101" pitchFamily="49" charset="-122"/>
              <a:ea typeface="幼圆" panose="02010509060101010101" pitchFamily="49" charset="-122"/>
            </a:endParaRPr>
          </a:p>
          <a:p>
            <a:pPr marL="457200" lvl="0" indent="-457200" eaLnBrk="1" hangingPunct="1">
              <a:lnSpc>
                <a:spcPct val="90000"/>
              </a:lnSpc>
              <a:spcBef>
                <a:spcPct val="20000"/>
              </a:spcBef>
              <a:buChar char="•"/>
            </a:pPr>
            <a:endParaRPr lang="en-US" altLang="zh-CN" sz="2000" b="1" dirty="0">
              <a:latin typeface="幼圆" panose="02010509060101010101" pitchFamily="49" charset="-122"/>
              <a:ea typeface="幼圆" panose="02010509060101010101" pitchFamily="49" charset="-122"/>
            </a:endParaRPr>
          </a:p>
        </p:txBody>
      </p:sp>
    </p:spTree>
    <p:extLst>
      <p:ext uri="{BB962C8B-B14F-4D97-AF65-F5344CB8AC3E}">
        <p14:creationId xmlns:p14="http://schemas.microsoft.com/office/powerpoint/2010/main" val="1297283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algn="l"/>
            <a:r>
              <a:rPr lang="zh-CN" altLang="en-US" b="1" dirty="0"/>
              <a:t>  假设空间</a:t>
            </a:r>
          </a:p>
        </p:txBody>
      </p:sp>
      <p:grpSp>
        <p:nvGrpSpPr>
          <p:cNvPr id="3" name="组合 2"/>
          <p:cNvGrpSpPr/>
          <p:nvPr/>
        </p:nvGrpSpPr>
        <p:grpSpPr>
          <a:xfrm>
            <a:off x="1907705" y="1196753"/>
            <a:ext cx="4680520" cy="1512168"/>
            <a:chOff x="1754501" y="1628800"/>
            <a:chExt cx="5172817" cy="1935659"/>
          </a:xfrm>
        </p:grpSpPr>
        <p:pic>
          <p:nvPicPr>
            <p:cNvPr id="12" name="Picture 2" descr="D:\老板的书\1.1.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54501" y="1628800"/>
              <a:ext cx="5172817" cy="1935659"/>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D:\老板的书\1.1.png"/>
            <p:cNvPicPr>
              <a:picLocks noChangeAspect="1" noChangeArrowheads="1"/>
            </p:cNvPicPr>
            <p:nvPr/>
          </p:nvPicPr>
          <p:blipFill rotWithShape="1">
            <a:blip r:embed="rId2">
              <a:extLst>
                <a:ext uri="{28A0092B-C50C-407E-A947-70E740481C1C}">
                  <a14:useLocalDpi xmlns:a14="http://schemas.microsoft.com/office/drawing/2010/main" val="0"/>
                </a:ext>
              </a:extLst>
            </a:blip>
            <a:srcRect l="64642" t="24136" r="24508" b="60878"/>
            <a:stretch/>
          </p:blipFill>
          <p:spPr bwMode="auto">
            <a:xfrm>
              <a:off x="5109108" y="2427376"/>
              <a:ext cx="561252" cy="290085"/>
            </a:xfrm>
            <a:prstGeom prst="rect">
              <a:avLst/>
            </a:prstGeom>
            <a:noFill/>
            <a:extLst>
              <a:ext uri="{909E8E84-426E-40DD-AFC4-6F175D3DCCD1}">
                <a14:hiddenFill xmlns:a14="http://schemas.microsoft.com/office/drawing/2010/main">
                  <a:solidFill>
                    <a:srgbClr val="FFFFFF"/>
                  </a:solidFill>
                </a14:hiddenFill>
              </a:ext>
            </a:extLst>
          </p:spPr>
        </p:pic>
      </p:grpSp>
      <p:pic>
        <p:nvPicPr>
          <p:cNvPr id="4" name="图片 3"/>
          <p:cNvPicPr>
            <a:picLocks noChangeAspect="1"/>
          </p:cNvPicPr>
          <p:nvPr/>
        </p:nvPicPr>
        <p:blipFill>
          <a:blip r:embed="rId3"/>
          <a:stretch>
            <a:fillRect/>
          </a:stretch>
        </p:blipFill>
        <p:spPr>
          <a:xfrm>
            <a:off x="107504" y="2852936"/>
            <a:ext cx="9034462" cy="3743869"/>
          </a:xfrm>
          <a:prstGeom prst="rect">
            <a:avLst/>
          </a:prstGeom>
        </p:spPr>
      </p:pic>
      <mc:AlternateContent xmlns:mc="http://schemas.openxmlformats.org/markup-compatibility/2006" xmlns:a14="http://schemas.microsoft.com/office/drawing/2010/main">
        <mc:Choice Requires="a14">
          <p:sp>
            <p:nvSpPr>
              <p:cNvPr id="5" name="Rectangle 3">
                <a:extLst>
                  <a:ext uri="{FF2B5EF4-FFF2-40B4-BE49-F238E27FC236}">
                    <a16:creationId xmlns:a16="http://schemas.microsoft.com/office/drawing/2014/main" id="{BDA4A26A-E81F-43E5-B7DE-4CC0B6334213}"/>
                  </a:ext>
                </a:extLst>
              </p:cNvPr>
              <p:cNvSpPr>
                <a:spLocks noChangeArrowheads="1"/>
              </p:cNvSpPr>
              <p:nvPr/>
            </p:nvSpPr>
            <p:spPr bwMode="auto">
              <a:xfrm>
                <a:off x="3851920" y="592883"/>
                <a:ext cx="5169180" cy="566041"/>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charset="0"/>
                  <a:buChar char="•"/>
                  <a:defRPr sz="3200">
                    <a:solidFill>
                      <a:schemeClr val="tx1"/>
                    </a:solidFill>
                    <a:latin typeface="Calibri" pitchFamily="34" charset="0"/>
                    <a:ea typeface="宋体" charset="-122"/>
                  </a:defRPr>
                </a:lvl1pPr>
                <a:lvl2pPr marL="742950" indent="-285750">
                  <a:spcBef>
                    <a:spcPct val="20000"/>
                  </a:spcBef>
                  <a:buFont typeface="Arial" charset="0"/>
                  <a:buChar char="–"/>
                  <a:defRPr sz="2800">
                    <a:solidFill>
                      <a:schemeClr val="tx1"/>
                    </a:solidFill>
                    <a:latin typeface="Calibri" pitchFamily="34" charset="0"/>
                    <a:ea typeface="宋体" charset="-122"/>
                  </a:defRPr>
                </a:lvl2pPr>
                <a:lvl3pPr marL="1143000" indent="-228600">
                  <a:spcBef>
                    <a:spcPct val="20000"/>
                  </a:spcBef>
                  <a:buFont typeface="Arial" charset="0"/>
                  <a:buChar char="•"/>
                  <a:defRPr sz="2400">
                    <a:solidFill>
                      <a:schemeClr val="tx1"/>
                    </a:solidFill>
                    <a:latin typeface="Calibri" pitchFamily="34" charset="0"/>
                    <a:ea typeface="宋体" charset="-122"/>
                  </a:defRPr>
                </a:lvl3pPr>
                <a:lvl4pPr marL="1600200" indent="-228600">
                  <a:spcBef>
                    <a:spcPct val="20000"/>
                  </a:spcBef>
                  <a:buFont typeface="Arial" charset="0"/>
                  <a:buChar char="–"/>
                  <a:defRPr sz="2000">
                    <a:solidFill>
                      <a:schemeClr val="tx1"/>
                    </a:solidFill>
                    <a:latin typeface="Calibri" pitchFamily="34" charset="0"/>
                    <a:ea typeface="宋体" charset="-122"/>
                  </a:defRPr>
                </a:lvl4pPr>
                <a:lvl5pPr marL="2057400" indent="-228600">
                  <a:spcBef>
                    <a:spcPct val="20000"/>
                  </a:spcBef>
                  <a:buFont typeface="Arial" charset="0"/>
                  <a:buChar char="»"/>
                  <a:defRPr sz="2000">
                    <a:solidFill>
                      <a:schemeClr val="tx1"/>
                    </a:solidFill>
                    <a:latin typeface="Calibri" pitchFamily="34" charset="0"/>
                    <a:ea typeface="宋体"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9pPr>
              </a:lstStyle>
              <a:p>
                <a:pPr marL="0" indent="0" algn="ctr">
                  <a:lnSpc>
                    <a:spcPts val="3200"/>
                  </a:lnSpc>
                  <a:buNone/>
                </a:pPr>
                <a:r>
                  <a:rPr lang="en-US" altLang="zh-CN" sz="2200" b="1" dirty="0">
                    <a:solidFill>
                      <a:srgbClr val="C30D23"/>
                    </a:solidFill>
                    <a:latin typeface="幼圆" panose="02010509060101010101" pitchFamily="49" charset="-122"/>
                    <a:ea typeface="幼圆" panose="02010509060101010101" pitchFamily="49" charset="-122"/>
                  </a:rPr>
                  <a:t>(</a:t>
                </a:r>
                <a:r>
                  <a:rPr lang="zh-CN" altLang="en-US" sz="2200" b="1" dirty="0">
                    <a:solidFill>
                      <a:srgbClr val="C30D23"/>
                    </a:solidFill>
                    <a:latin typeface="幼圆" panose="02010509060101010101" pitchFamily="49" charset="-122"/>
                    <a:ea typeface="幼圆" panose="02010509060101010101" pitchFamily="49" charset="-122"/>
                  </a:rPr>
                  <a:t>色泽</a:t>
                </a:r>
                <a:r>
                  <a:rPr lang="en-US" altLang="zh-CN" sz="2200" b="1" dirty="0">
                    <a:solidFill>
                      <a:srgbClr val="C30D23"/>
                    </a:solidFill>
                    <a:latin typeface="幼圆" panose="02010509060101010101" pitchFamily="49" charset="-122"/>
                    <a:ea typeface="幼圆" panose="02010509060101010101" pitchFamily="49" charset="-122"/>
                  </a:rPr>
                  <a:t>=?)</a:t>
                </a:r>
                <a14:m>
                  <m:oMath xmlns:m="http://schemas.openxmlformats.org/officeDocument/2006/math">
                    <m:r>
                      <a:rPr lang="en-US" altLang="zh-CN" sz="2200" b="1" i="1" smtClean="0">
                        <a:solidFill>
                          <a:srgbClr val="C30D23"/>
                        </a:solidFill>
                        <a:latin typeface="Cambria Math"/>
                        <a:ea typeface="Cambria Math"/>
                      </a:rPr>
                      <m:t>⋀</m:t>
                    </m:r>
                    <m:r>
                      <m:rPr>
                        <m:nor/>
                      </m:rPr>
                      <a:rPr lang="en-US" altLang="zh-CN" sz="2200" b="1" dirty="0">
                        <a:solidFill>
                          <a:srgbClr val="C30D23"/>
                        </a:solidFill>
                        <a:latin typeface="幼圆" panose="02010509060101010101" pitchFamily="49" charset="-122"/>
                        <a:ea typeface="幼圆" panose="02010509060101010101" pitchFamily="49" charset="-122"/>
                      </a:rPr>
                      <m:t>(</m:t>
                    </m:r>
                    <m:r>
                      <m:rPr>
                        <m:nor/>
                      </m:rPr>
                      <a:rPr lang="zh-CN" altLang="en-US" sz="2200" b="1" dirty="0">
                        <a:solidFill>
                          <a:srgbClr val="C30D23"/>
                        </a:solidFill>
                        <a:latin typeface="幼圆" panose="02010509060101010101" pitchFamily="49" charset="-122"/>
                        <a:ea typeface="幼圆" panose="02010509060101010101" pitchFamily="49" charset="-122"/>
                      </a:rPr>
                      <m:t>根蒂</m:t>
                    </m:r>
                    <m:r>
                      <m:rPr>
                        <m:nor/>
                      </m:rPr>
                      <a:rPr lang="en-US" altLang="zh-CN" sz="2200" b="1" dirty="0">
                        <a:solidFill>
                          <a:srgbClr val="C30D23"/>
                        </a:solidFill>
                        <a:latin typeface="幼圆" panose="02010509060101010101" pitchFamily="49" charset="-122"/>
                        <a:ea typeface="幼圆" panose="02010509060101010101" pitchFamily="49" charset="-122"/>
                      </a:rPr>
                      <m:t>=?)</m:t>
                    </m:r>
                    <m:r>
                      <a:rPr lang="en-US" altLang="zh-CN" sz="2200" b="1" i="1">
                        <a:solidFill>
                          <a:srgbClr val="C30D23"/>
                        </a:solidFill>
                        <a:latin typeface="Cambria Math"/>
                        <a:ea typeface="Cambria Math"/>
                      </a:rPr>
                      <m:t>⋀</m:t>
                    </m:r>
                  </m:oMath>
                </a14:m>
                <a:r>
                  <a:rPr lang="en-US" altLang="zh-CN" sz="2200" b="1" dirty="0">
                    <a:solidFill>
                      <a:srgbClr val="C30D23"/>
                    </a:solidFill>
                    <a:latin typeface="幼圆" panose="02010509060101010101" pitchFamily="49" charset="-122"/>
                    <a:ea typeface="幼圆" panose="02010509060101010101" pitchFamily="49" charset="-122"/>
                  </a:rPr>
                  <a:t>(</a:t>
                </a:r>
                <a:r>
                  <a:rPr lang="zh-CN" altLang="en-US" sz="2200" b="1" dirty="0">
                    <a:solidFill>
                      <a:srgbClr val="C30D23"/>
                    </a:solidFill>
                    <a:latin typeface="幼圆" panose="02010509060101010101" pitchFamily="49" charset="-122"/>
                    <a:ea typeface="幼圆" panose="02010509060101010101" pitchFamily="49" charset="-122"/>
                  </a:rPr>
                  <a:t>敲声</a:t>
                </a:r>
                <a:r>
                  <a:rPr lang="en-US" altLang="zh-CN" sz="2200" b="1" dirty="0">
                    <a:solidFill>
                      <a:srgbClr val="C30D23"/>
                    </a:solidFill>
                    <a:latin typeface="幼圆" panose="02010509060101010101" pitchFamily="49" charset="-122"/>
                    <a:ea typeface="幼圆" panose="02010509060101010101" pitchFamily="49" charset="-122"/>
                  </a:rPr>
                  <a:t>=?)</a:t>
                </a:r>
                <a14:m>
                  <m:oMath xmlns:m="http://schemas.openxmlformats.org/officeDocument/2006/math">
                    <m:r>
                      <a:rPr lang="en-US" altLang="zh-CN" sz="2200" b="1" i="1" smtClean="0">
                        <a:solidFill>
                          <a:srgbClr val="C30D23"/>
                        </a:solidFill>
                        <a:latin typeface="Cambria Math"/>
                        <a:ea typeface="Cambria Math"/>
                      </a:rPr>
                      <m:t>↔</m:t>
                    </m:r>
                  </m:oMath>
                </a14:m>
                <a:r>
                  <a:rPr lang="zh-CN" altLang="en-US" sz="2200" b="1" dirty="0">
                    <a:solidFill>
                      <a:srgbClr val="C30D23"/>
                    </a:solidFill>
                    <a:latin typeface="幼圆" panose="02010509060101010101" pitchFamily="49" charset="-122"/>
                    <a:ea typeface="幼圆" panose="02010509060101010101" pitchFamily="49" charset="-122"/>
                  </a:rPr>
                  <a:t>好瓜</a:t>
                </a:r>
                <a:endParaRPr lang="zh-CN" altLang="en-US" sz="2200" i="0" dirty="0">
                  <a:latin typeface="幼圆" panose="02010509060101010101" pitchFamily="49" charset="-122"/>
                  <a:ea typeface="幼圆" panose="02010509060101010101" pitchFamily="49" charset="-122"/>
                </a:endParaRPr>
              </a:p>
            </p:txBody>
          </p:sp>
        </mc:Choice>
        <mc:Fallback xmlns="">
          <p:sp>
            <p:nvSpPr>
              <p:cNvPr id="5" name="Rectangle 3">
                <a:extLst>
                  <a:ext uri="{FF2B5EF4-FFF2-40B4-BE49-F238E27FC236}">
                    <a16:creationId xmlns:a16="http://schemas.microsoft.com/office/drawing/2014/main" id="{BDA4A26A-E81F-43E5-B7DE-4CC0B6334213}"/>
                  </a:ext>
                </a:extLst>
              </p:cNvPr>
              <p:cNvSpPr>
                <a:spLocks noRot="1" noChangeAspect="1" noMove="1" noResize="1" noEditPoints="1" noAdjustHandles="1" noChangeArrowheads="1" noChangeShapeType="1" noTextEdit="1"/>
              </p:cNvSpPr>
              <p:nvPr/>
            </p:nvSpPr>
            <p:spPr bwMode="auto">
              <a:xfrm>
                <a:off x="3851920" y="592883"/>
                <a:ext cx="5169180" cy="566041"/>
              </a:xfrm>
              <a:prstGeom prst="rect">
                <a:avLst/>
              </a:prstGeom>
              <a:blipFill>
                <a:blip r:embed="rId4"/>
                <a:stretch>
                  <a:fillRect t="-1010"/>
                </a:stretch>
              </a:blipFill>
              <a:ln w="38100"/>
            </p:spPr>
            <p:txBody>
              <a:bodyPr/>
              <a:lstStyle/>
              <a:p>
                <a:r>
                  <a:rPr lang="zh-CN" altLang="en-US">
                    <a:noFill/>
                  </a:rPr>
                  <a:t> </a:t>
                </a:r>
              </a:p>
            </p:txBody>
          </p:sp>
        </mc:Fallback>
      </mc:AlternateContent>
    </p:spTree>
    <p:extLst>
      <p:ext uri="{BB962C8B-B14F-4D97-AF65-F5344CB8AC3E}">
        <p14:creationId xmlns:p14="http://schemas.microsoft.com/office/powerpoint/2010/main" val="2994227390"/>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2"/>
          <a:stretch>
            <a:fillRect/>
          </a:stretch>
        </p:blipFill>
        <p:spPr>
          <a:xfrm>
            <a:off x="107504" y="325219"/>
            <a:ext cx="3140254" cy="6497960"/>
          </a:xfrm>
          <a:prstGeom prst="rect">
            <a:avLst/>
          </a:prstGeom>
        </p:spPr>
      </p:pic>
      <p:pic>
        <p:nvPicPr>
          <p:cNvPr id="6" name="图片 5"/>
          <p:cNvPicPr>
            <a:picLocks noChangeAspect="1"/>
          </p:cNvPicPr>
          <p:nvPr/>
        </p:nvPicPr>
        <p:blipFill>
          <a:blip r:embed="rId3"/>
          <a:stretch>
            <a:fillRect/>
          </a:stretch>
        </p:blipFill>
        <p:spPr>
          <a:xfrm>
            <a:off x="3347864" y="224644"/>
            <a:ext cx="2814541" cy="6598535"/>
          </a:xfrm>
          <a:prstGeom prst="rect">
            <a:avLst/>
          </a:prstGeom>
        </p:spPr>
      </p:pic>
      <p:pic>
        <p:nvPicPr>
          <p:cNvPr id="7" name="图片 6"/>
          <p:cNvPicPr>
            <a:picLocks noChangeAspect="1"/>
          </p:cNvPicPr>
          <p:nvPr/>
        </p:nvPicPr>
        <p:blipFill>
          <a:blip r:embed="rId4"/>
          <a:stretch>
            <a:fillRect/>
          </a:stretch>
        </p:blipFill>
        <p:spPr>
          <a:xfrm>
            <a:off x="6182325" y="476672"/>
            <a:ext cx="2961675" cy="3315097"/>
          </a:xfrm>
          <a:prstGeom prst="rect">
            <a:avLst/>
          </a:prstGeom>
        </p:spPr>
      </p:pic>
      <p:pic>
        <p:nvPicPr>
          <p:cNvPr id="8" name="图片 7"/>
          <p:cNvPicPr>
            <a:picLocks noChangeAspect="1"/>
          </p:cNvPicPr>
          <p:nvPr/>
        </p:nvPicPr>
        <p:blipFill>
          <a:blip r:embed="rId5"/>
          <a:stretch>
            <a:fillRect/>
          </a:stretch>
        </p:blipFill>
        <p:spPr>
          <a:xfrm>
            <a:off x="6182325" y="4581128"/>
            <a:ext cx="2726652" cy="389522"/>
          </a:xfrm>
          <a:prstGeom prst="rect">
            <a:avLst/>
          </a:prstGeom>
        </p:spPr>
      </p:pic>
    </p:spTree>
    <p:extLst>
      <p:ext uri="{BB962C8B-B14F-4D97-AF65-F5344CB8AC3E}">
        <p14:creationId xmlns:p14="http://schemas.microsoft.com/office/powerpoint/2010/main" val="1276700744"/>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2450" name="矩形 872449"/>
          <p:cNvSpPr/>
          <p:nvPr/>
        </p:nvSpPr>
        <p:spPr>
          <a:xfrm>
            <a:off x="685800" y="504609"/>
            <a:ext cx="7772400" cy="1143000"/>
          </a:xfrm>
          <a:prstGeom prst="rect">
            <a:avLst/>
          </a:prstGeom>
          <a:noFill/>
          <a:ln w="9525">
            <a:noFill/>
          </a:ln>
        </p:spPr>
        <p:txBody>
          <a:bodyPr anchor="ctr"/>
          <a:lstStyle/>
          <a:p>
            <a:pPr lvl="0" algn="ctr" eaLnBrk="1" hangingPunct="1"/>
            <a:r>
              <a:rPr lang="zh-CN" altLang="en-US" sz="4400" b="1" dirty="0">
                <a:latin typeface="Times New Roman" panose="02020603050405020304" pitchFamily="18" charset="0"/>
                <a:ea typeface="宋体" panose="02010600030101010101" pitchFamily="2" charset="-122"/>
              </a:rPr>
              <a:t>版本空间</a:t>
            </a:r>
          </a:p>
        </p:txBody>
      </p:sp>
      <p:sp>
        <p:nvSpPr>
          <p:cNvPr id="872451" name="矩形 872450"/>
          <p:cNvSpPr/>
          <p:nvPr/>
        </p:nvSpPr>
        <p:spPr>
          <a:xfrm>
            <a:off x="685800" y="1647393"/>
            <a:ext cx="7772400" cy="4544144"/>
          </a:xfrm>
          <a:prstGeom prst="rect">
            <a:avLst/>
          </a:prstGeom>
          <a:noFill/>
          <a:ln w="9525">
            <a:noFill/>
          </a:ln>
        </p:spPr>
        <p:txBody>
          <a:bodyPr/>
          <a:lstStyle/>
          <a:p>
            <a:pPr marL="457200" lvl="0" indent="-457200" eaLnBrk="1" hangingPunct="1">
              <a:lnSpc>
                <a:spcPct val="90000"/>
              </a:lnSpc>
              <a:spcBef>
                <a:spcPct val="20000"/>
              </a:spcBef>
              <a:buChar char="•"/>
            </a:pPr>
            <a:r>
              <a:rPr lang="zh-CN" altLang="en-US" sz="2800" b="1" dirty="0">
                <a:latin typeface="Times New Roman" panose="02020603050405020304" pitchFamily="18" charset="0"/>
                <a:ea typeface="宋体" panose="02010600030101010101" pitchFamily="2" charset="-122"/>
              </a:rPr>
              <a:t>版本空间：</a:t>
            </a:r>
            <a:endParaRPr lang="en-US" altLang="zh-CN" sz="2800" b="1" dirty="0">
              <a:latin typeface="Times New Roman" panose="02020603050405020304" pitchFamily="18" charset="0"/>
              <a:ea typeface="宋体" panose="02010600030101010101" pitchFamily="2" charset="-122"/>
            </a:endParaRPr>
          </a:p>
          <a:p>
            <a:pPr marL="914400" lvl="1" indent="-457200">
              <a:lnSpc>
                <a:spcPct val="90000"/>
              </a:lnSpc>
              <a:spcBef>
                <a:spcPct val="20000"/>
              </a:spcBef>
              <a:buChar char="•"/>
            </a:pPr>
            <a:r>
              <a:rPr lang="zh-CN" altLang="en-US" sz="2800" b="1" dirty="0">
                <a:latin typeface="Times New Roman" panose="02020603050405020304" pitchFamily="18" charset="0"/>
                <a:ea typeface="宋体" panose="02010600030101010101" pitchFamily="2" charset="-122"/>
              </a:rPr>
              <a:t>与</a:t>
            </a:r>
            <a:r>
              <a:rPr lang="zh-CN" altLang="en-US" sz="2800" b="1" dirty="0">
                <a:solidFill>
                  <a:srgbClr val="C00000"/>
                </a:solidFill>
                <a:latin typeface="Times New Roman" panose="02020603050405020304" pitchFamily="18" charset="0"/>
                <a:ea typeface="宋体" panose="02010600030101010101" pitchFamily="2" charset="-122"/>
              </a:rPr>
              <a:t>训练数据一致</a:t>
            </a:r>
            <a:r>
              <a:rPr lang="zh-CN" altLang="en-US" sz="2800" b="1" dirty="0">
                <a:latin typeface="Times New Roman" panose="02020603050405020304" pitchFamily="18" charset="0"/>
                <a:ea typeface="宋体" panose="02010600030101010101" pitchFamily="2" charset="-122"/>
              </a:rPr>
              <a:t>的假设集合</a:t>
            </a:r>
            <a:endParaRPr lang="en-US" altLang="zh-CN" sz="2800" b="1" dirty="0">
              <a:latin typeface="Times New Roman" panose="02020603050405020304" pitchFamily="18" charset="0"/>
              <a:ea typeface="宋体" panose="02010600030101010101" pitchFamily="2" charset="-122"/>
            </a:endParaRPr>
          </a:p>
          <a:p>
            <a:pPr lvl="0">
              <a:lnSpc>
                <a:spcPct val="90000"/>
              </a:lnSpc>
              <a:spcBef>
                <a:spcPct val="20000"/>
              </a:spcBef>
            </a:pPr>
            <a:r>
              <a:rPr lang="en-US" altLang="zh-CN" sz="2000" b="1" dirty="0">
                <a:latin typeface="Times New Roman" panose="02020603050405020304" pitchFamily="18" charset="0"/>
                <a:ea typeface="宋体" panose="02010600030101010101" pitchFamily="2" charset="-122"/>
              </a:rPr>
              <a:t>(</a:t>
            </a:r>
            <a:r>
              <a:rPr lang="zh-CN" altLang="en-US" sz="2000" b="1" dirty="0">
                <a:latin typeface="Times New Roman" panose="02020603050405020304" pitchFamily="18" charset="0"/>
                <a:ea typeface="宋体" panose="02010600030101010101" pitchFamily="2" charset="-122"/>
              </a:rPr>
              <a:t>色泽</a:t>
            </a:r>
            <a:r>
              <a:rPr lang="en-US" altLang="zh-CN" sz="2000" b="1" dirty="0">
                <a:latin typeface="Times New Roman" panose="02020603050405020304" pitchFamily="18" charset="0"/>
                <a:ea typeface="宋体" panose="02010600030101010101" pitchFamily="2" charset="-122"/>
              </a:rPr>
              <a:t>=*,</a:t>
            </a:r>
            <a:r>
              <a:rPr lang="zh-CN" altLang="en-US" sz="2000" b="1" dirty="0">
                <a:latin typeface="Times New Roman" panose="02020603050405020304" pitchFamily="18" charset="0"/>
                <a:ea typeface="宋体" panose="02010600030101010101" pitchFamily="2" charset="-122"/>
              </a:rPr>
              <a:t>根蒂</a:t>
            </a:r>
            <a:r>
              <a:rPr lang="en-US" altLang="zh-CN" sz="2000" b="1" dirty="0">
                <a:latin typeface="Times New Roman" panose="02020603050405020304" pitchFamily="18" charset="0"/>
                <a:ea typeface="宋体" panose="02010600030101010101" pitchFamily="2" charset="-122"/>
              </a:rPr>
              <a:t>=</a:t>
            </a:r>
            <a:r>
              <a:rPr lang="zh-CN" altLang="en-US" sz="2000" b="1" dirty="0">
                <a:latin typeface="Times New Roman" panose="02020603050405020304" pitchFamily="18" charset="0"/>
                <a:ea typeface="宋体" panose="02010600030101010101" pitchFamily="2" charset="-122"/>
              </a:rPr>
              <a:t>蜷缩，</a:t>
            </a:r>
            <a:r>
              <a:rPr lang="zh-CN" altLang="en-US" sz="2000" b="1" dirty="0">
                <a:solidFill>
                  <a:srgbClr val="0000FF"/>
                </a:solidFill>
                <a:latin typeface="Times New Roman" panose="02020603050405020304" pitchFamily="18" charset="0"/>
                <a:ea typeface="宋体" panose="02010600030101010101" pitchFamily="2" charset="-122"/>
              </a:rPr>
              <a:t>敲声</a:t>
            </a:r>
            <a:r>
              <a:rPr lang="en-US" altLang="zh-CN" sz="2000" b="1" dirty="0">
                <a:solidFill>
                  <a:srgbClr val="0000FF"/>
                </a:solidFill>
                <a:latin typeface="Times New Roman" panose="02020603050405020304" pitchFamily="18" charset="0"/>
                <a:ea typeface="宋体" panose="02010600030101010101" pitchFamily="2" charset="-122"/>
              </a:rPr>
              <a:t>=</a:t>
            </a:r>
            <a:r>
              <a:rPr lang="zh-CN" altLang="en-US" sz="2000" b="1" dirty="0">
                <a:solidFill>
                  <a:srgbClr val="0000FF"/>
                </a:solidFill>
                <a:latin typeface="Times New Roman" panose="02020603050405020304" pitchFamily="18" charset="0"/>
                <a:ea typeface="宋体" panose="02010600030101010101" pitchFamily="2" charset="-122"/>
              </a:rPr>
              <a:t>*</a:t>
            </a:r>
            <a:r>
              <a:rPr lang="en-US" altLang="zh-CN" sz="2000" b="1" dirty="0">
                <a:latin typeface="Times New Roman" panose="02020603050405020304" pitchFamily="18" charset="0"/>
                <a:ea typeface="宋体" panose="02010600030101010101" pitchFamily="2" charset="-122"/>
              </a:rPr>
              <a:t>) (</a:t>
            </a:r>
            <a:r>
              <a:rPr lang="zh-CN" altLang="en-US" sz="2000" b="1" dirty="0">
                <a:latin typeface="Times New Roman" panose="02020603050405020304" pitchFamily="18" charset="0"/>
                <a:ea typeface="宋体" panose="02010600030101010101" pitchFamily="2" charset="-122"/>
              </a:rPr>
              <a:t>色泽</a:t>
            </a:r>
            <a:r>
              <a:rPr lang="en-US" altLang="zh-CN" sz="2000" b="1" dirty="0">
                <a:latin typeface="Times New Roman" panose="02020603050405020304" pitchFamily="18" charset="0"/>
                <a:ea typeface="宋体" panose="02010600030101010101" pitchFamily="2" charset="-122"/>
              </a:rPr>
              <a:t>=*,</a:t>
            </a:r>
            <a:r>
              <a:rPr lang="zh-CN" altLang="en-US" sz="2000" b="1" dirty="0">
                <a:solidFill>
                  <a:srgbClr val="0000FF"/>
                </a:solidFill>
                <a:latin typeface="Times New Roman" panose="02020603050405020304" pitchFamily="18" charset="0"/>
                <a:ea typeface="宋体" panose="02010600030101010101" pitchFamily="2" charset="-122"/>
              </a:rPr>
              <a:t>根蒂</a:t>
            </a:r>
            <a:r>
              <a:rPr lang="en-US" altLang="zh-CN" sz="2000" b="1" dirty="0">
                <a:solidFill>
                  <a:srgbClr val="0000FF"/>
                </a:solidFill>
                <a:latin typeface="Times New Roman" panose="02020603050405020304" pitchFamily="18" charset="0"/>
                <a:ea typeface="宋体" panose="02010600030101010101" pitchFamily="2" charset="-122"/>
              </a:rPr>
              <a:t>=</a:t>
            </a:r>
            <a:r>
              <a:rPr lang="zh-CN" altLang="en-US" sz="2000" b="1" dirty="0">
                <a:solidFill>
                  <a:srgbClr val="0000FF"/>
                </a:solidFill>
                <a:latin typeface="Times New Roman" panose="02020603050405020304" pitchFamily="18" charset="0"/>
                <a:ea typeface="宋体" panose="02010600030101010101" pitchFamily="2" charset="-122"/>
              </a:rPr>
              <a:t>*</a:t>
            </a:r>
            <a:r>
              <a:rPr lang="zh-CN" altLang="en-US" sz="2000" b="1" dirty="0">
                <a:latin typeface="Times New Roman" panose="02020603050405020304" pitchFamily="18" charset="0"/>
                <a:ea typeface="宋体" panose="02010600030101010101" pitchFamily="2" charset="-122"/>
              </a:rPr>
              <a:t>，敲声</a:t>
            </a:r>
            <a:r>
              <a:rPr lang="en-US" altLang="zh-CN" sz="2000" b="1" dirty="0">
                <a:latin typeface="Times New Roman" panose="02020603050405020304" pitchFamily="18" charset="0"/>
                <a:ea typeface="宋体" panose="02010600030101010101" pitchFamily="2" charset="-122"/>
              </a:rPr>
              <a:t>=</a:t>
            </a:r>
            <a:r>
              <a:rPr lang="zh-CN" altLang="en-US" sz="2000" b="1" dirty="0">
                <a:latin typeface="Times New Roman" panose="02020603050405020304" pitchFamily="18" charset="0"/>
                <a:ea typeface="宋体" panose="02010600030101010101" pitchFamily="2" charset="-122"/>
              </a:rPr>
              <a:t>浊响</a:t>
            </a:r>
            <a:r>
              <a:rPr lang="en-US" altLang="zh-CN" sz="2000" b="1" dirty="0">
                <a:latin typeface="Times New Roman" panose="02020603050405020304" pitchFamily="18" charset="0"/>
                <a:ea typeface="宋体" panose="02010600030101010101" pitchFamily="2" charset="-122"/>
              </a:rPr>
              <a:t>) </a:t>
            </a:r>
          </a:p>
          <a:p>
            <a:pPr lvl="0">
              <a:lnSpc>
                <a:spcPct val="90000"/>
              </a:lnSpc>
              <a:spcBef>
                <a:spcPct val="20000"/>
              </a:spcBef>
            </a:pPr>
            <a:r>
              <a:rPr lang="en-US" altLang="zh-CN" sz="2000" b="1" dirty="0">
                <a:latin typeface="Times New Roman" panose="02020603050405020304" pitchFamily="18" charset="0"/>
                <a:ea typeface="宋体" panose="02010600030101010101" pitchFamily="2" charset="-122"/>
              </a:rPr>
              <a:t>			</a:t>
            </a:r>
            <a:r>
              <a:rPr lang="en-US" altLang="zh-CN" sz="2000" b="1" dirty="0">
                <a:latin typeface="Times New Roman" panose="02020603050405020304" pitchFamily="18" charset="0"/>
                <a:ea typeface="宋体" panose="02010600030101010101" pitchFamily="2" charset="-122"/>
                <a:sym typeface="Symbol"/>
              </a:rPr>
              <a:t>		</a:t>
            </a:r>
            <a:endParaRPr lang="en-US" altLang="zh-CN" sz="2000" b="1" dirty="0">
              <a:latin typeface="Times New Roman" panose="02020603050405020304" pitchFamily="18" charset="0"/>
              <a:ea typeface="宋体" panose="02010600030101010101" pitchFamily="2" charset="-122"/>
            </a:endParaRPr>
          </a:p>
          <a:p>
            <a:pPr lvl="0" algn="ctr">
              <a:lnSpc>
                <a:spcPct val="90000"/>
              </a:lnSpc>
              <a:spcBef>
                <a:spcPct val="20000"/>
              </a:spcBef>
            </a:pPr>
            <a:r>
              <a:rPr lang="en-US" altLang="zh-CN" sz="2000" b="1" dirty="0">
                <a:latin typeface="Times New Roman" panose="02020603050405020304" pitchFamily="18" charset="0"/>
                <a:ea typeface="宋体" panose="02010600030101010101" pitchFamily="2" charset="-122"/>
              </a:rPr>
              <a:t>(</a:t>
            </a:r>
            <a:r>
              <a:rPr lang="zh-CN" altLang="en-US" sz="2000" b="1" dirty="0">
                <a:latin typeface="Times New Roman" panose="02020603050405020304" pitchFamily="18" charset="0"/>
                <a:ea typeface="宋体" panose="02010600030101010101" pitchFamily="2" charset="-122"/>
              </a:rPr>
              <a:t>色泽</a:t>
            </a:r>
            <a:r>
              <a:rPr lang="en-US" altLang="zh-CN" sz="2000" b="1" dirty="0">
                <a:latin typeface="Times New Roman" panose="02020603050405020304" pitchFamily="18" charset="0"/>
                <a:ea typeface="宋体" panose="02010600030101010101" pitchFamily="2" charset="-122"/>
              </a:rPr>
              <a:t>=*,</a:t>
            </a:r>
            <a:r>
              <a:rPr lang="zh-CN" altLang="en-US" sz="2000" b="1" dirty="0">
                <a:latin typeface="Times New Roman" panose="02020603050405020304" pitchFamily="18" charset="0"/>
                <a:ea typeface="宋体" panose="02010600030101010101" pitchFamily="2" charset="-122"/>
              </a:rPr>
              <a:t>根蒂</a:t>
            </a:r>
            <a:r>
              <a:rPr lang="en-US" altLang="zh-CN" sz="2000" b="1" dirty="0">
                <a:latin typeface="Times New Roman" panose="02020603050405020304" pitchFamily="18" charset="0"/>
                <a:ea typeface="宋体" panose="02010600030101010101" pitchFamily="2" charset="-122"/>
              </a:rPr>
              <a:t>=</a:t>
            </a:r>
            <a:r>
              <a:rPr lang="zh-CN" altLang="en-US" sz="2000" b="1" dirty="0">
                <a:latin typeface="Times New Roman" panose="02020603050405020304" pitchFamily="18" charset="0"/>
                <a:ea typeface="宋体" panose="02010600030101010101" pitchFamily="2" charset="-122"/>
              </a:rPr>
              <a:t>蜷缩，敲声</a:t>
            </a:r>
            <a:r>
              <a:rPr lang="en-US" altLang="zh-CN" sz="2000" b="1" dirty="0">
                <a:latin typeface="Times New Roman" panose="02020603050405020304" pitchFamily="18" charset="0"/>
                <a:ea typeface="宋体" panose="02010600030101010101" pitchFamily="2" charset="-122"/>
              </a:rPr>
              <a:t>=</a:t>
            </a:r>
            <a:r>
              <a:rPr lang="zh-CN" altLang="en-US" sz="2000" b="1" dirty="0">
                <a:latin typeface="Times New Roman" panose="02020603050405020304" pitchFamily="18" charset="0"/>
                <a:ea typeface="宋体" panose="02010600030101010101" pitchFamily="2" charset="-122"/>
              </a:rPr>
              <a:t>浊响</a:t>
            </a:r>
            <a:r>
              <a:rPr lang="en-US" altLang="zh-CN" sz="2000" b="1" dirty="0">
                <a:latin typeface="Times New Roman" panose="02020603050405020304" pitchFamily="18" charset="0"/>
                <a:ea typeface="宋体" panose="02010600030101010101" pitchFamily="2" charset="-122"/>
              </a:rPr>
              <a:t>)</a:t>
            </a:r>
          </a:p>
          <a:p>
            <a:pPr marL="457200" lvl="0" indent="-457200" eaLnBrk="1" hangingPunct="1">
              <a:lnSpc>
                <a:spcPct val="90000"/>
              </a:lnSpc>
              <a:spcBef>
                <a:spcPct val="20000"/>
              </a:spcBef>
              <a:buChar char="•"/>
            </a:pPr>
            <a:endParaRPr lang="en-US" altLang="zh-CN" sz="2000" b="1" dirty="0">
              <a:latin typeface="Times New Roman" panose="02020603050405020304" pitchFamily="18" charset="0"/>
              <a:ea typeface="宋体" panose="02010600030101010101" pitchFamily="2" charset="-122"/>
            </a:endParaRPr>
          </a:p>
          <a:p>
            <a:pPr marL="457200" lvl="0" indent="-457200" eaLnBrk="1" hangingPunct="1">
              <a:lnSpc>
                <a:spcPct val="90000"/>
              </a:lnSpc>
              <a:spcBef>
                <a:spcPct val="20000"/>
              </a:spcBef>
              <a:buChar char="•"/>
            </a:pPr>
            <a:endParaRPr lang="en-US" altLang="zh-CN" sz="2000" b="1" dirty="0">
              <a:latin typeface="Times New Roman" panose="02020603050405020304" pitchFamily="18" charset="0"/>
              <a:ea typeface="宋体" panose="02010600030101010101" pitchFamily="2" charset="-122"/>
            </a:endParaRPr>
          </a:p>
          <a:p>
            <a:pPr marL="457200" lvl="0" indent="-457200" eaLnBrk="1" hangingPunct="1">
              <a:lnSpc>
                <a:spcPct val="90000"/>
              </a:lnSpc>
              <a:spcBef>
                <a:spcPct val="20000"/>
              </a:spcBef>
              <a:buChar char="•"/>
            </a:pPr>
            <a:endParaRPr lang="en-US" altLang="zh-CN" sz="2000" b="1" dirty="0">
              <a:latin typeface="Times New Roman" panose="02020603050405020304" pitchFamily="18" charset="0"/>
              <a:ea typeface="宋体" panose="02010600030101010101" pitchFamily="2" charset="-122"/>
            </a:endParaRPr>
          </a:p>
        </p:txBody>
      </p:sp>
      <p:sp>
        <p:nvSpPr>
          <p:cNvPr id="2" name="灯片编号占位符 1"/>
          <p:cNvSpPr>
            <a:spLocks noGrp="1"/>
          </p:cNvSpPr>
          <p:nvPr>
            <p:ph type="sldNum" sz="quarter" idx="12"/>
          </p:nvPr>
        </p:nvSpPr>
        <p:spPr/>
        <p:txBody>
          <a:bodyPr/>
          <a:lstStyle/>
          <a:p>
            <a:pPr lvl="0"/>
            <a:fld id="{9A0DB2DC-4C9A-4742-B13C-FB6460FD3503}" type="slidenum">
              <a:rPr lang="en-US" altLang="zh-CN" dirty="0"/>
              <a:t>23</a:t>
            </a:fld>
            <a:endParaRPr lang="zh-CN" dirty="0"/>
          </a:p>
        </p:txBody>
      </p:sp>
      <mc:AlternateContent xmlns:mc="http://schemas.openxmlformats.org/markup-compatibility/2006" xmlns:a14="http://schemas.microsoft.com/office/drawing/2010/main">
        <mc:Choice Requires="a14">
          <p:sp>
            <p:nvSpPr>
              <p:cNvPr id="9" name="Rectangle 3"/>
              <p:cNvSpPr>
                <a:spLocks noChangeArrowheads="1"/>
              </p:cNvSpPr>
              <p:nvPr/>
            </p:nvSpPr>
            <p:spPr bwMode="auto">
              <a:xfrm>
                <a:off x="2195736" y="5877272"/>
                <a:ext cx="5169180" cy="566041"/>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charset="0"/>
                  <a:buChar char="•"/>
                  <a:defRPr sz="3200">
                    <a:solidFill>
                      <a:schemeClr val="tx1"/>
                    </a:solidFill>
                    <a:latin typeface="Calibri" pitchFamily="34" charset="0"/>
                    <a:ea typeface="宋体" charset="-122"/>
                  </a:defRPr>
                </a:lvl1pPr>
                <a:lvl2pPr marL="742950" indent="-285750">
                  <a:spcBef>
                    <a:spcPct val="20000"/>
                  </a:spcBef>
                  <a:buFont typeface="Arial" charset="0"/>
                  <a:buChar char="–"/>
                  <a:defRPr sz="2800">
                    <a:solidFill>
                      <a:schemeClr val="tx1"/>
                    </a:solidFill>
                    <a:latin typeface="Calibri" pitchFamily="34" charset="0"/>
                    <a:ea typeface="宋体" charset="-122"/>
                  </a:defRPr>
                </a:lvl2pPr>
                <a:lvl3pPr marL="1143000" indent="-228600">
                  <a:spcBef>
                    <a:spcPct val="20000"/>
                  </a:spcBef>
                  <a:buFont typeface="Arial" charset="0"/>
                  <a:buChar char="•"/>
                  <a:defRPr sz="2400">
                    <a:solidFill>
                      <a:schemeClr val="tx1"/>
                    </a:solidFill>
                    <a:latin typeface="Calibri" pitchFamily="34" charset="0"/>
                    <a:ea typeface="宋体" charset="-122"/>
                  </a:defRPr>
                </a:lvl3pPr>
                <a:lvl4pPr marL="1600200" indent="-228600">
                  <a:spcBef>
                    <a:spcPct val="20000"/>
                  </a:spcBef>
                  <a:buFont typeface="Arial" charset="0"/>
                  <a:buChar char="–"/>
                  <a:defRPr sz="2000">
                    <a:solidFill>
                      <a:schemeClr val="tx1"/>
                    </a:solidFill>
                    <a:latin typeface="Calibri" pitchFamily="34" charset="0"/>
                    <a:ea typeface="宋体" charset="-122"/>
                  </a:defRPr>
                </a:lvl4pPr>
                <a:lvl5pPr marL="2057400" indent="-228600">
                  <a:spcBef>
                    <a:spcPct val="20000"/>
                  </a:spcBef>
                  <a:buFont typeface="Arial" charset="0"/>
                  <a:buChar char="»"/>
                  <a:defRPr sz="2000">
                    <a:solidFill>
                      <a:schemeClr val="tx1"/>
                    </a:solidFill>
                    <a:latin typeface="Calibri" pitchFamily="34" charset="0"/>
                    <a:ea typeface="宋体"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9pPr>
              </a:lstStyle>
              <a:p>
                <a:pPr marL="0" indent="0" algn="ctr">
                  <a:lnSpc>
                    <a:spcPts val="3200"/>
                  </a:lnSpc>
                  <a:buNone/>
                </a:pPr>
                <a:r>
                  <a:rPr lang="en-US" altLang="zh-CN" sz="2200" b="1" dirty="0">
                    <a:solidFill>
                      <a:srgbClr val="C30D23"/>
                    </a:solidFill>
                    <a:latin typeface="幼圆" panose="02010509060101010101" pitchFamily="49" charset="-122"/>
                    <a:ea typeface="幼圆" panose="02010509060101010101" pitchFamily="49" charset="-122"/>
                  </a:rPr>
                  <a:t>(</a:t>
                </a:r>
                <a:r>
                  <a:rPr lang="zh-CN" altLang="en-US" sz="2200" b="1" dirty="0">
                    <a:solidFill>
                      <a:srgbClr val="C30D23"/>
                    </a:solidFill>
                    <a:latin typeface="幼圆" panose="02010509060101010101" pitchFamily="49" charset="-122"/>
                    <a:ea typeface="幼圆" panose="02010509060101010101" pitchFamily="49" charset="-122"/>
                  </a:rPr>
                  <a:t>色泽</a:t>
                </a:r>
                <a:r>
                  <a:rPr lang="en-US" altLang="zh-CN" sz="2200" b="1" dirty="0">
                    <a:solidFill>
                      <a:srgbClr val="C30D23"/>
                    </a:solidFill>
                    <a:latin typeface="幼圆" panose="02010509060101010101" pitchFamily="49" charset="-122"/>
                    <a:ea typeface="幼圆" panose="02010509060101010101" pitchFamily="49" charset="-122"/>
                  </a:rPr>
                  <a:t>=?)</a:t>
                </a:r>
                <a14:m>
                  <m:oMath xmlns:m="http://schemas.openxmlformats.org/officeDocument/2006/math">
                    <m:r>
                      <a:rPr lang="en-US" altLang="zh-CN" sz="2200" b="1" i="1" smtClean="0">
                        <a:solidFill>
                          <a:srgbClr val="C30D23"/>
                        </a:solidFill>
                        <a:latin typeface="Cambria Math"/>
                        <a:ea typeface="Cambria Math"/>
                      </a:rPr>
                      <m:t>⋀</m:t>
                    </m:r>
                    <m:r>
                      <m:rPr>
                        <m:nor/>
                      </m:rPr>
                      <a:rPr lang="en-US" altLang="zh-CN" sz="2200" b="1" dirty="0">
                        <a:solidFill>
                          <a:srgbClr val="C30D23"/>
                        </a:solidFill>
                        <a:latin typeface="幼圆" panose="02010509060101010101" pitchFamily="49" charset="-122"/>
                        <a:ea typeface="幼圆" panose="02010509060101010101" pitchFamily="49" charset="-122"/>
                      </a:rPr>
                      <m:t>(</m:t>
                    </m:r>
                    <m:r>
                      <m:rPr>
                        <m:nor/>
                      </m:rPr>
                      <a:rPr lang="zh-CN" altLang="en-US" sz="2200" b="1" dirty="0">
                        <a:solidFill>
                          <a:srgbClr val="C30D23"/>
                        </a:solidFill>
                        <a:latin typeface="幼圆" panose="02010509060101010101" pitchFamily="49" charset="-122"/>
                        <a:ea typeface="幼圆" panose="02010509060101010101" pitchFamily="49" charset="-122"/>
                      </a:rPr>
                      <m:t>根蒂</m:t>
                    </m:r>
                    <m:r>
                      <m:rPr>
                        <m:nor/>
                      </m:rPr>
                      <a:rPr lang="en-US" altLang="zh-CN" sz="2200" b="1" dirty="0">
                        <a:solidFill>
                          <a:srgbClr val="C30D23"/>
                        </a:solidFill>
                        <a:latin typeface="幼圆" panose="02010509060101010101" pitchFamily="49" charset="-122"/>
                        <a:ea typeface="幼圆" panose="02010509060101010101" pitchFamily="49" charset="-122"/>
                      </a:rPr>
                      <m:t>=?)</m:t>
                    </m:r>
                    <m:r>
                      <a:rPr lang="en-US" altLang="zh-CN" sz="2200" b="1" i="1">
                        <a:solidFill>
                          <a:srgbClr val="C30D23"/>
                        </a:solidFill>
                        <a:latin typeface="Cambria Math"/>
                        <a:ea typeface="Cambria Math"/>
                      </a:rPr>
                      <m:t>⋀</m:t>
                    </m:r>
                  </m:oMath>
                </a14:m>
                <a:r>
                  <a:rPr lang="en-US" altLang="zh-CN" sz="2200" b="1" dirty="0">
                    <a:solidFill>
                      <a:srgbClr val="C30D23"/>
                    </a:solidFill>
                    <a:latin typeface="幼圆" panose="02010509060101010101" pitchFamily="49" charset="-122"/>
                    <a:ea typeface="幼圆" panose="02010509060101010101" pitchFamily="49" charset="-122"/>
                  </a:rPr>
                  <a:t>(</a:t>
                </a:r>
                <a:r>
                  <a:rPr lang="zh-CN" altLang="en-US" sz="2200" b="1" dirty="0">
                    <a:solidFill>
                      <a:srgbClr val="C30D23"/>
                    </a:solidFill>
                    <a:latin typeface="幼圆" panose="02010509060101010101" pitchFamily="49" charset="-122"/>
                    <a:ea typeface="幼圆" panose="02010509060101010101" pitchFamily="49" charset="-122"/>
                  </a:rPr>
                  <a:t>敲声</a:t>
                </a:r>
                <a:r>
                  <a:rPr lang="en-US" altLang="zh-CN" sz="2200" b="1" dirty="0">
                    <a:solidFill>
                      <a:srgbClr val="C30D23"/>
                    </a:solidFill>
                    <a:latin typeface="幼圆" panose="02010509060101010101" pitchFamily="49" charset="-122"/>
                    <a:ea typeface="幼圆" panose="02010509060101010101" pitchFamily="49" charset="-122"/>
                  </a:rPr>
                  <a:t>=?)</a:t>
                </a:r>
                <a14:m>
                  <m:oMath xmlns:m="http://schemas.openxmlformats.org/officeDocument/2006/math">
                    <m:r>
                      <a:rPr lang="en-US" altLang="zh-CN" sz="2200" b="1" i="1" smtClean="0">
                        <a:solidFill>
                          <a:srgbClr val="C30D23"/>
                        </a:solidFill>
                        <a:latin typeface="Cambria Math"/>
                        <a:ea typeface="Cambria Math"/>
                      </a:rPr>
                      <m:t>↔</m:t>
                    </m:r>
                  </m:oMath>
                </a14:m>
                <a:r>
                  <a:rPr lang="zh-CN" altLang="en-US" sz="2200" b="1" dirty="0">
                    <a:solidFill>
                      <a:srgbClr val="C30D23"/>
                    </a:solidFill>
                    <a:latin typeface="幼圆" panose="02010509060101010101" pitchFamily="49" charset="-122"/>
                    <a:ea typeface="幼圆" panose="02010509060101010101" pitchFamily="49" charset="-122"/>
                  </a:rPr>
                  <a:t>好瓜</a:t>
                </a:r>
                <a:endParaRPr lang="zh-CN" altLang="en-US" sz="2200" i="0" dirty="0">
                  <a:latin typeface="幼圆" panose="02010509060101010101" pitchFamily="49" charset="-122"/>
                  <a:ea typeface="幼圆" panose="02010509060101010101" pitchFamily="49" charset="-122"/>
                </a:endParaRPr>
              </a:p>
            </p:txBody>
          </p:sp>
        </mc:Choice>
        <mc:Fallback xmlns="">
          <p:sp>
            <p:nvSpPr>
              <p:cNvPr id="9" name="Rectangle 3"/>
              <p:cNvSpPr>
                <a:spLocks noRot="1" noChangeAspect="1" noMove="1" noResize="1" noEditPoints="1" noAdjustHandles="1" noChangeArrowheads="1" noChangeShapeType="1" noTextEdit="1"/>
              </p:cNvSpPr>
              <p:nvPr/>
            </p:nvSpPr>
            <p:spPr bwMode="auto">
              <a:xfrm>
                <a:off x="2195736" y="5877272"/>
                <a:ext cx="5169180" cy="566041"/>
              </a:xfrm>
              <a:prstGeom prst="rect">
                <a:avLst/>
              </a:prstGeom>
              <a:blipFill rotWithShape="0">
                <a:blip r:embed="rId3"/>
                <a:stretch>
                  <a:fillRect t="-2020"/>
                </a:stretch>
              </a:blipFill>
              <a:ln w="38100"/>
              <a:extLst/>
            </p:spPr>
            <p:txBody>
              <a:bodyPr/>
              <a:lstStyle/>
              <a:p>
                <a:r>
                  <a:rPr lang="zh-CN" altLang="en-US">
                    <a:noFill/>
                  </a:rPr>
                  <a:t> </a:t>
                </a:r>
              </a:p>
            </p:txBody>
          </p:sp>
        </mc:Fallback>
      </mc:AlternateContent>
      <p:grpSp>
        <p:nvGrpSpPr>
          <p:cNvPr id="11" name="组合 10"/>
          <p:cNvGrpSpPr/>
          <p:nvPr/>
        </p:nvGrpSpPr>
        <p:grpSpPr>
          <a:xfrm>
            <a:off x="1979712" y="3717032"/>
            <a:ext cx="5544616" cy="2069122"/>
            <a:chOff x="1754501" y="1628800"/>
            <a:chExt cx="5172817" cy="1935659"/>
          </a:xfrm>
        </p:grpSpPr>
        <p:pic>
          <p:nvPicPr>
            <p:cNvPr id="12" name="Picture 2" descr="D:\老板的书\1.1.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54501" y="1628800"/>
              <a:ext cx="5172817" cy="1935659"/>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D:\老板的书\1.1.png"/>
            <p:cNvPicPr>
              <a:picLocks noChangeAspect="1" noChangeArrowheads="1"/>
            </p:cNvPicPr>
            <p:nvPr/>
          </p:nvPicPr>
          <p:blipFill rotWithShape="1">
            <a:blip r:embed="rId4">
              <a:extLst>
                <a:ext uri="{28A0092B-C50C-407E-A947-70E740481C1C}">
                  <a14:useLocalDpi xmlns:a14="http://schemas.microsoft.com/office/drawing/2010/main" val="0"/>
                </a:ext>
              </a:extLst>
            </a:blip>
            <a:srcRect l="64642" t="24136" r="24508" b="60878"/>
            <a:stretch/>
          </p:blipFill>
          <p:spPr bwMode="auto">
            <a:xfrm>
              <a:off x="5109108" y="2427376"/>
              <a:ext cx="561252" cy="290085"/>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690662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724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2451"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0" y="1556792"/>
            <a:ext cx="9144000" cy="2267177"/>
          </a:xfrm>
          <a:prstGeom prst="rect">
            <a:avLst/>
          </a:prstGeom>
        </p:spPr>
      </p:pic>
      <p:pic>
        <p:nvPicPr>
          <p:cNvPr id="5" name="图片 4"/>
          <p:cNvPicPr>
            <a:picLocks noChangeAspect="1"/>
          </p:cNvPicPr>
          <p:nvPr/>
        </p:nvPicPr>
        <p:blipFill>
          <a:blip r:embed="rId3"/>
          <a:stretch>
            <a:fillRect/>
          </a:stretch>
        </p:blipFill>
        <p:spPr>
          <a:xfrm>
            <a:off x="107504" y="4149080"/>
            <a:ext cx="3190875" cy="495300"/>
          </a:xfrm>
          <a:prstGeom prst="rect">
            <a:avLst/>
          </a:prstGeom>
        </p:spPr>
      </p:pic>
      <p:pic>
        <p:nvPicPr>
          <p:cNvPr id="6" name="图片 5"/>
          <p:cNvPicPr>
            <a:picLocks noChangeAspect="1"/>
          </p:cNvPicPr>
          <p:nvPr/>
        </p:nvPicPr>
        <p:blipFill>
          <a:blip r:embed="rId4"/>
          <a:stretch>
            <a:fillRect/>
          </a:stretch>
        </p:blipFill>
        <p:spPr>
          <a:xfrm>
            <a:off x="3275856" y="4192259"/>
            <a:ext cx="5686425" cy="428625"/>
          </a:xfrm>
          <a:prstGeom prst="rect">
            <a:avLst/>
          </a:prstGeom>
        </p:spPr>
      </p:pic>
    </p:spTree>
    <p:extLst>
      <p:ext uri="{BB962C8B-B14F-4D97-AF65-F5344CB8AC3E}">
        <p14:creationId xmlns:p14="http://schemas.microsoft.com/office/powerpoint/2010/main" val="145776956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2450" name="矩形 872449"/>
          <p:cNvSpPr/>
          <p:nvPr/>
        </p:nvSpPr>
        <p:spPr>
          <a:xfrm>
            <a:off x="796512" y="434116"/>
            <a:ext cx="7772400" cy="1143000"/>
          </a:xfrm>
          <a:prstGeom prst="rect">
            <a:avLst/>
          </a:prstGeom>
          <a:noFill/>
          <a:ln w="9525">
            <a:noFill/>
          </a:ln>
        </p:spPr>
        <p:txBody>
          <a:bodyPr anchor="ctr"/>
          <a:lstStyle/>
          <a:p>
            <a:pPr lvl="0" algn="ctr" eaLnBrk="1" hangingPunct="1"/>
            <a:r>
              <a:rPr lang="zh-CN" altLang="en-US" sz="4400" b="1" dirty="0">
                <a:solidFill>
                  <a:srgbClr val="0000FF"/>
                </a:solidFill>
                <a:latin typeface="Times New Roman" panose="02020603050405020304" pitchFamily="18" charset="0"/>
                <a:ea typeface="宋体" panose="02010600030101010101" pitchFamily="2" charset="-122"/>
              </a:rPr>
              <a:t>假设空间</a:t>
            </a:r>
            <a:r>
              <a:rPr lang="en-US" altLang="zh-CN" sz="4400" b="1" dirty="0">
                <a:solidFill>
                  <a:srgbClr val="0000FF"/>
                </a:solidFill>
                <a:latin typeface="Times New Roman" panose="02020603050405020304" pitchFamily="18" charset="0"/>
                <a:ea typeface="宋体" panose="02010600030101010101" pitchFamily="2" charset="-122"/>
              </a:rPr>
              <a:t>-</a:t>
            </a:r>
            <a:r>
              <a:rPr lang="zh-CN" altLang="en-US" sz="4400" b="1" dirty="0">
                <a:solidFill>
                  <a:srgbClr val="0000FF"/>
                </a:solidFill>
                <a:latin typeface="Times New Roman" panose="02020603050405020304" pitchFamily="18" charset="0"/>
                <a:ea typeface="宋体" panose="02010600030101010101" pitchFamily="2" charset="-122"/>
              </a:rPr>
              <a:t>小结</a:t>
            </a:r>
          </a:p>
        </p:txBody>
      </p:sp>
      <p:sp>
        <p:nvSpPr>
          <p:cNvPr id="872451" name="矩形 872450"/>
          <p:cNvSpPr/>
          <p:nvPr/>
        </p:nvSpPr>
        <p:spPr>
          <a:xfrm>
            <a:off x="800100" y="1556792"/>
            <a:ext cx="7772400" cy="4544144"/>
          </a:xfrm>
          <a:prstGeom prst="rect">
            <a:avLst/>
          </a:prstGeom>
          <a:noFill/>
          <a:ln w="9525">
            <a:noFill/>
          </a:ln>
        </p:spPr>
        <p:txBody>
          <a:bodyPr/>
          <a:lstStyle/>
          <a:p>
            <a:pPr marL="457200" lvl="0" indent="-457200" eaLnBrk="1" hangingPunct="1">
              <a:lnSpc>
                <a:spcPct val="90000"/>
              </a:lnSpc>
              <a:spcBef>
                <a:spcPct val="20000"/>
              </a:spcBef>
              <a:buChar char="•"/>
            </a:pPr>
            <a:r>
              <a:rPr lang="zh-CN" altLang="en-US" sz="2800" b="1" dirty="0">
                <a:latin typeface="Times New Roman" panose="02020603050405020304" pitchFamily="18" charset="0"/>
                <a:ea typeface="宋体" panose="02010600030101010101" pitchFamily="2" charset="-122"/>
              </a:rPr>
              <a:t>归纳</a:t>
            </a:r>
            <a:r>
              <a:rPr lang="en-US" altLang="zh-CN" sz="2800" b="1" dirty="0">
                <a:latin typeface="Times New Roman" panose="02020603050405020304" pitchFamily="18" charset="0"/>
                <a:ea typeface="宋体" panose="02010600030101010101" pitchFamily="2" charset="-122"/>
              </a:rPr>
              <a:t>-</a:t>
            </a:r>
            <a:r>
              <a:rPr lang="zh-CN" altLang="en-US" sz="2800" b="1" dirty="0">
                <a:latin typeface="Times New Roman" panose="02020603050405020304" pitchFamily="18" charset="0"/>
                <a:ea typeface="宋体" panose="02010600030101010101" pitchFamily="2" charset="-122"/>
              </a:rPr>
              <a:t>泛化</a:t>
            </a:r>
            <a:endParaRPr lang="en-US" altLang="zh-CN" sz="2800" b="1" dirty="0">
              <a:latin typeface="Times New Roman" panose="02020603050405020304" pitchFamily="18" charset="0"/>
              <a:ea typeface="宋体" panose="02010600030101010101" pitchFamily="2" charset="-122"/>
            </a:endParaRPr>
          </a:p>
          <a:p>
            <a:pPr marL="457200" lvl="0" indent="-457200" eaLnBrk="1" hangingPunct="1">
              <a:lnSpc>
                <a:spcPct val="90000"/>
              </a:lnSpc>
              <a:spcBef>
                <a:spcPct val="20000"/>
              </a:spcBef>
              <a:buChar char="•"/>
            </a:pPr>
            <a:r>
              <a:rPr lang="zh-CN" altLang="en-US" sz="2800" b="1" dirty="0">
                <a:latin typeface="Times New Roman" panose="02020603050405020304" pitchFamily="18" charset="0"/>
                <a:ea typeface="宋体" panose="02010600030101010101" pitchFamily="2" charset="-122"/>
              </a:rPr>
              <a:t>样例学习</a:t>
            </a:r>
            <a:r>
              <a:rPr lang="en-US" altLang="zh-CN" sz="2800" b="1" dirty="0">
                <a:latin typeface="Times New Roman" panose="02020603050405020304" pitchFamily="18" charset="0"/>
                <a:ea typeface="宋体" panose="02010600030101010101" pitchFamily="2" charset="-122"/>
              </a:rPr>
              <a:t>-</a:t>
            </a:r>
            <a:r>
              <a:rPr lang="zh-CN" altLang="en-US" sz="2800" b="1" dirty="0">
                <a:latin typeface="Times New Roman" panose="02020603050405020304" pitchFamily="18" charset="0"/>
                <a:ea typeface="宋体" panose="02010600030101010101" pitchFamily="2" charset="-122"/>
              </a:rPr>
              <a:t>归纳学习</a:t>
            </a:r>
            <a:endParaRPr lang="en-US" altLang="zh-CN" sz="2800" b="1" dirty="0">
              <a:latin typeface="Times New Roman" panose="02020603050405020304" pitchFamily="18" charset="0"/>
              <a:ea typeface="宋体" panose="02010600030101010101" pitchFamily="2" charset="-122"/>
            </a:endParaRPr>
          </a:p>
          <a:p>
            <a:pPr marL="457200" lvl="0" indent="-457200" eaLnBrk="1" hangingPunct="1">
              <a:lnSpc>
                <a:spcPct val="90000"/>
              </a:lnSpc>
              <a:spcBef>
                <a:spcPct val="20000"/>
              </a:spcBef>
              <a:buChar char="•"/>
            </a:pPr>
            <a:r>
              <a:rPr lang="zh-CN" altLang="en-US" sz="2800" b="1" dirty="0">
                <a:latin typeface="Times New Roman" panose="02020603050405020304" pitchFamily="18" charset="0"/>
                <a:ea typeface="宋体" panose="02010600030101010101" pitchFamily="2" charset="-122"/>
              </a:rPr>
              <a:t>样例数据，学习概念</a:t>
            </a:r>
            <a:endParaRPr lang="en-US" altLang="zh-CN" sz="2800" b="1" dirty="0">
              <a:latin typeface="Times New Roman" panose="02020603050405020304" pitchFamily="18" charset="0"/>
              <a:ea typeface="宋体" panose="02010600030101010101" pitchFamily="2" charset="-122"/>
            </a:endParaRPr>
          </a:p>
          <a:p>
            <a:pPr marL="457200" lvl="0" indent="-457200" eaLnBrk="1" hangingPunct="1">
              <a:lnSpc>
                <a:spcPct val="90000"/>
              </a:lnSpc>
              <a:spcBef>
                <a:spcPct val="20000"/>
              </a:spcBef>
              <a:buChar char="•"/>
            </a:pPr>
            <a:r>
              <a:rPr lang="zh-CN" altLang="en-US" sz="2800" b="1" dirty="0">
                <a:latin typeface="Times New Roman" panose="02020603050405020304" pitchFamily="18" charset="0"/>
                <a:ea typeface="宋体" panose="02010600030101010101" pitchFamily="2" charset="-122"/>
              </a:rPr>
              <a:t>概念学习，布尔表示</a:t>
            </a:r>
            <a:endParaRPr lang="en-US" altLang="zh-CN" sz="2800" b="1" dirty="0">
              <a:latin typeface="Times New Roman" panose="02020603050405020304" pitchFamily="18" charset="0"/>
              <a:ea typeface="宋体" panose="02010600030101010101" pitchFamily="2" charset="-122"/>
            </a:endParaRPr>
          </a:p>
          <a:p>
            <a:pPr marL="914400" lvl="1" indent="-457200">
              <a:lnSpc>
                <a:spcPct val="90000"/>
              </a:lnSpc>
              <a:spcBef>
                <a:spcPct val="20000"/>
              </a:spcBef>
              <a:buChar char="•"/>
            </a:pPr>
            <a:r>
              <a:rPr lang="zh-CN" altLang="en-US" sz="2800" b="1" dirty="0">
                <a:latin typeface="Times New Roman" panose="02020603050405020304" pitchFamily="18" charset="0"/>
                <a:ea typeface="宋体" panose="02010600030101010101" pitchFamily="2" charset="-122"/>
              </a:rPr>
              <a:t>假设定，空间成；取合取，量加一；</a:t>
            </a:r>
            <a:endParaRPr lang="en-US" altLang="zh-CN" sz="2800" b="1" dirty="0">
              <a:latin typeface="Times New Roman" panose="02020603050405020304" pitchFamily="18" charset="0"/>
              <a:ea typeface="宋体" panose="02010600030101010101" pitchFamily="2" charset="-122"/>
            </a:endParaRPr>
          </a:p>
          <a:p>
            <a:pPr lvl="1" algn="ctr">
              <a:lnSpc>
                <a:spcPct val="90000"/>
              </a:lnSpc>
              <a:spcBef>
                <a:spcPct val="20000"/>
              </a:spcBef>
            </a:pPr>
            <a:r>
              <a:rPr lang="zh-CN" altLang="zh-CN" sz="2800" b="1" dirty="0">
                <a:latin typeface="Times New Roman" panose="02020603050405020304" pitchFamily="18" charset="0"/>
                <a:ea typeface="宋体" panose="02010600030101010101" pitchFamily="2" charset="-122"/>
                <a:sym typeface="Symbol"/>
              </a:rPr>
              <a:t></a:t>
            </a:r>
            <a:r>
              <a:rPr lang="en-US" altLang="zh-CN" sz="2800" b="1" baseline="-25000" dirty="0" err="1">
                <a:latin typeface="Times New Roman" panose="02020603050405020304" pitchFamily="18" charset="0"/>
                <a:ea typeface="宋体" panose="02010600030101010101" pitchFamily="2" charset="-122"/>
                <a:sym typeface="Symbol"/>
              </a:rPr>
              <a:t>i</a:t>
            </a:r>
            <a:r>
              <a:rPr lang="en-US" altLang="zh-CN" sz="2800" b="1" baseline="-25000" dirty="0">
                <a:latin typeface="Times New Roman" panose="02020603050405020304" pitchFamily="18" charset="0"/>
                <a:ea typeface="宋体" panose="02010600030101010101" pitchFamily="2" charset="-122"/>
                <a:sym typeface="Symbol"/>
              </a:rPr>
              <a:t>=1…d</a:t>
            </a:r>
            <a:r>
              <a:rPr lang="en-US" altLang="zh-CN" sz="2800" b="1" dirty="0">
                <a:latin typeface="Times New Roman" panose="02020603050405020304" pitchFamily="18" charset="0"/>
                <a:ea typeface="宋体" panose="02010600030101010101" pitchFamily="2" charset="-122"/>
                <a:sym typeface="Symbol"/>
              </a:rPr>
              <a:t>(</a:t>
            </a:r>
            <a:r>
              <a:rPr lang="en-US" altLang="zh-CN" sz="2800" b="1" i="1" dirty="0">
                <a:latin typeface="Times New Roman" panose="02020603050405020304" pitchFamily="18" charset="0"/>
                <a:ea typeface="宋体" panose="02010600030101010101" pitchFamily="2" charset="-122"/>
                <a:sym typeface="Symbol"/>
              </a:rPr>
              <a:t>k</a:t>
            </a:r>
            <a:r>
              <a:rPr lang="en-US" altLang="zh-CN" sz="2800" b="1" i="1" baseline="-25000" dirty="0">
                <a:latin typeface="Times New Roman" panose="02020603050405020304" pitchFamily="18" charset="0"/>
                <a:ea typeface="宋体" panose="02010600030101010101" pitchFamily="2" charset="-122"/>
                <a:sym typeface="Symbol"/>
              </a:rPr>
              <a:t>i</a:t>
            </a:r>
            <a:r>
              <a:rPr lang="en-US" altLang="zh-CN" sz="2800" b="1" dirty="0">
                <a:latin typeface="Times New Roman" panose="02020603050405020304" pitchFamily="18" charset="0"/>
                <a:ea typeface="宋体" panose="02010600030101010101" pitchFamily="2" charset="-122"/>
                <a:sym typeface="Symbol"/>
              </a:rPr>
              <a:t>+1)+1</a:t>
            </a:r>
            <a:endParaRPr lang="en-US" altLang="zh-CN" sz="2800" b="1" dirty="0">
              <a:latin typeface="Times New Roman" panose="02020603050405020304" pitchFamily="18" charset="0"/>
              <a:ea typeface="宋体" panose="02010600030101010101" pitchFamily="2" charset="-122"/>
            </a:endParaRPr>
          </a:p>
          <a:p>
            <a:pPr marL="914400" lvl="1" indent="-457200">
              <a:lnSpc>
                <a:spcPct val="90000"/>
              </a:lnSpc>
              <a:spcBef>
                <a:spcPct val="20000"/>
              </a:spcBef>
              <a:buChar char="•"/>
            </a:pPr>
            <a:r>
              <a:rPr lang="zh-CN" altLang="en-US" sz="2800" b="1" dirty="0">
                <a:latin typeface="Times New Roman" panose="02020603050405020304" pitchFamily="18" charset="0"/>
                <a:ea typeface="宋体" panose="02010600030101010101" pitchFamily="2" charset="-122"/>
              </a:rPr>
              <a:t>取*，实则亡；两极端，全</a:t>
            </a:r>
            <a:r>
              <a:rPr lang="en-US" altLang="zh-CN" sz="2800" b="1" dirty="0">
                <a:latin typeface="Times New Roman" panose="02020603050405020304" pitchFamily="18" charset="0"/>
                <a:ea typeface="宋体" panose="02010600030101010101" pitchFamily="2" charset="-122"/>
              </a:rPr>
              <a:t>*</a:t>
            </a:r>
            <a:r>
              <a:rPr lang="en-US" altLang="zh-CN" sz="2800" b="1" dirty="0">
                <a:latin typeface="Times New Roman" panose="02020603050405020304" pitchFamily="18" charset="0"/>
                <a:ea typeface="宋体" panose="02010600030101010101" pitchFamily="2" charset="-122"/>
                <a:sym typeface="Symbol"/>
              </a:rPr>
              <a:t></a:t>
            </a:r>
          </a:p>
          <a:p>
            <a:pPr marL="457200" lvl="0" indent="-457200" eaLnBrk="1" hangingPunct="1">
              <a:lnSpc>
                <a:spcPct val="90000"/>
              </a:lnSpc>
              <a:spcBef>
                <a:spcPct val="20000"/>
              </a:spcBef>
              <a:buChar char="•"/>
            </a:pPr>
            <a:r>
              <a:rPr lang="zh-CN" altLang="en-US" sz="2800" b="1" dirty="0">
                <a:latin typeface="Times New Roman" panose="02020603050405020304" pitchFamily="18" charset="0"/>
                <a:ea typeface="宋体" panose="02010600030101010101" pitchFamily="2" charset="-122"/>
              </a:rPr>
              <a:t>概念学习：</a:t>
            </a:r>
            <a:endParaRPr lang="en-US" altLang="zh-CN" sz="2800" b="1" dirty="0">
              <a:latin typeface="Times New Roman" panose="02020603050405020304" pitchFamily="18" charset="0"/>
              <a:ea typeface="宋体" panose="02010600030101010101" pitchFamily="2" charset="-122"/>
            </a:endParaRPr>
          </a:p>
          <a:p>
            <a:pPr marL="914400" lvl="1" indent="-457200">
              <a:lnSpc>
                <a:spcPct val="90000"/>
              </a:lnSpc>
              <a:spcBef>
                <a:spcPct val="20000"/>
              </a:spcBef>
              <a:buChar char="•"/>
            </a:pPr>
            <a:r>
              <a:rPr lang="zh-CN" altLang="en-US" sz="2800" b="1" dirty="0">
                <a:latin typeface="Times New Roman" panose="02020603050405020304" pitchFamily="18" charset="0"/>
                <a:ea typeface="宋体" panose="02010600030101010101" pitchFamily="2" charset="-122"/>
              </a:rPr>
              <a:t>已知：假设空间</a:t>
            </a:r>
            <a:endParaRPr lang="en-US" altLang="zh-CN" sz="2800" b="1" dirty="0">
              <a:latin typeface="Times New Roman" panose="02020603050405020304" pitchFamily="18" charset="0"/>
              <a:ea typeface="宋体" panose="02010600030101010101" pitchFamily="2" charset="-122"/>
            </a:endParaRPr>
          </a:p>
          <a:p>
            <a:pPr marL="914400" lvl="1" indent="-457200">
              <a:lnSpc>
                <a:spcPct val="90000"/>
              </a:lnSpc>
              <a:spcBef>
                <a:spcPct val="20000"/>
              </a:spcBef>
              <a:buChar char="•"/>
            </a:pPr>
            <a:r>
              <a:rPr lang="zh-CN" altLang="en-US" sz="2800" b="1" dirty="0">
                <a:latin typeface="Times New Roman" panose="02020603050405020304" pitchFamily="18" charset="0"/>
                <a:ea typeface="宋体" panose="02010600030101010101" pitchFamily="2" charset="-122"/>
              </a:rPr>
              <a:t>寻找：版本空间</a:t>
            </a:r>
            <a:endParaRPr lang="en-US" altLang="zh-CN" sz="2800" b="1" dirty="0">
              <a:latin typeface="Times New Roman" panose="02020603050405020304" pitchFamily="18" charset="0"/>
              <a:ea typeface="宋体" panose="02010600030101010101" pitchFamily="2" charset="-122"/>
            </a:endParaRPr>
          </a:p>
          <a:p>
            <a:pPr marL="457200" lvl="0" indent="-457200" eaLnBrk="1" hangingPunct="1">
              <a:lnSpc>
                <a:spcPct val="90000"/>
              </a:lnSpc>
              <a:spcBef>
                <a:spcPct val="20000"/>
              </a:spcBef>
              <a:buChar char="•"/>
            </a:pPr>
            <a:endParaRPr lang="en-US" altLang="zh-CN" sz="2800" b="1" dirty="0">
              <a:latin typeface="Times New Roman" panose="02020603050405020304" pitchFamily="18" charset="0"/>
              <a:ea typeface="宋体" panose="02010600030101010101" pitchFamily="2" charset="-122"/>
            </a:endParaRPr>
          </a:p>
          <a:p>
            <a:pPr marL="457200" lvl="0" indent="-457200" eaLnBrk="1" hangingPunct="1">
              <a:lnSpc>
                <a:spcPct val="90000"/>
              </a:lnSpc>
              <a:spcBef>
                <a:spcPct val="20000"/>
              </a:spcBef>
              <a:buChar char="•"/>
            </a:pPr>
            <a:endParaRPr lang="en-US" altLang="zh-CN" sz="2800" b="1" dirty="0">
              <a:latin typeface="Times New Roman" panose="02020603050405020304" pitchFamily="18" charset="0"/>
              <a:ea typeface="宋体" panose="02010600030101010101" pitchFamily="2" charset="-122"/>
            </a:endParaRPr>
          </a:p>
          <a:p>
            <a:pPr marL="457200" lvl="0" indent="-457200" eaLnBrk="1" hangingPunct="1">
              <a:lnSpc>
                <a:spcPct val="90000"/>
              </a:lnSpc>
              <a:spcBef>
                <a:spcPct val="20000"/>
              </a:spcBef>
              <a:buChar char="•"/>
            </a:pPr>
            <a:endParaRPr lang="en-US" altLang="zh-CN" sz="2800" b="1" dirty="0">
              <a:latin typeface="Times New Roman" panose="02020603050405020304" pitchFamily="18" charset="0"/>
              <a:ea typeface="宋体" panose="02010600030101010101" pitchFamily="2" charset="-122"/>
            </a:endParaRPr>
          </a:p>
          <a:p>
            <a:pPr marL="457200" lvl="0" indent="-457200" eaLnBrk="1" hangingPunct="1">
              <a:lnSpc>
                <a:spcPct val="90000"/>
              </a:lnSpc>
              <a:spcBef>
                <a:spcPct val="20000"/>
              </a:spcBef>
              <a:buChar char="•"/>
            </a:pPr>
            <a:endParaRPr lang="en-US" altLang="zh-CN" sz="2800" b="1" dirty="0">
              <a:latin typeface="Times New Roman" panose="02020603050405020304" pitchFamily="18" charset="0"/>
              <a:ea typeface="宋体" panose="02010600030101010101" pitchFamily="2" charset="-122"/>
            </a:endParaRPr>
          </a:p>
        </p:txBody>
      </p:sp>
      <p:sp>
        <p:nvSpPr>
          <p:cNvPr id="2" name="灯片编号占位符 1"/>
          <p:cNvSpPr>
            <a:spLocks noGrp="1"/>
          </p:cNvSpPr>
          <p:nvPr>
            <p:ph type="sldNum" sz="quarter" idx="12"/>
          </p:nvPr>
        </p:nvSpPr>
        <p:spPr/>
        <p:txBody>
          <a:bodyPr/>
          <a:lstStyle/>
          <a:p>
            <a:pPr lvl="0"/>
            <a:fld id="{9A0DB2DC-4C9A-4742-B13C-FB6460FD3503}" type="slidenum">
              <a:rPr lang="en-US" altLang="zh-CN" dirty="0"/>
              <a:t>25</a:t>
            </a:fld>
            <a:endParaRPr lang="zh-CN" dirty="0"/>
          </a:p>
        </p:txBody>
      </p:sp>
    </p:spTree>
    <p:extLst>
      <p:ext uri="{BB962C8B-B14F-4D97-AF65-F5344CB8AC3E}">
        <p14:creationId xmlns:p14="http://schemas.microsoft.com/office/powerpoint/2010/main" val="17524693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724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2451"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t>大纲</a:t>
            </a:r>
          </a:p>
        </p:txBody>
      </p:sp>
      <p:sp>
        <p:nvSpPr>
          <p:cNvPr id="3" name="内容占位符 2"/>
          <p:cNvSpPr>
            <a:spLocks noGrp="1"/>
          </p:cNvSpPr>
          <p:nvPr>
            <p:ph idx="1"/>
          </p:nvPr>
        </p:nvSpPr>
        <p:spPr>
          <a:xfrm>
            <a:off x="1331640" y="980728"/>
            <a:ext cx="6480720" cy="5795773"/>
          </a:xfrm>
        </p:spPr>
        <p:txBody>
          <a:bodyPr>
            <a:normAutofit/>
          </a:bodyPr>
          <a:lstStyle/>
          <a:p>
            <a:pPr>
              <a:lnSpc>
                <a:spcPts val="2600"/>
              </a:lnSpc>
              <a:buClr>
                <a:srgbClr val="00B050"/>
              </a:buClr>
              <a:buFont typeface="Wingdings" panose="05000000000000000000" pitchFamily="2" charset="2"/>
              <a:buChar char="p"/>
            </a:pPr>
            <a:r>
              <a:rPr lang="zh-CN" altLang="en-US" sz="2400" b="1" dirty="0"/>
              <a:t>引言</a:t>
            </a:r>
            <a:endParaRPr lang="en-US" altLang="zh-CN" sz="2400" b="1" dirty="0"/>
          </a:p>
          <a:p>
            <a:pPr>
              <a:lnSpc>
                <a:spcPts val="2600"/>
              </a:lnSpc>
              <a:buClr>
                <a:srgbClr val="00B050"/>
              </a:buClr>
              <a:buFont typeface="Wingdings" panose="05000000000000000000" pitchFamily="2" charset="2"/>
              <a:buChar char="p"/>
            </a:pPr>
            <a:endParaRPr lang="en-US" altLang="zh-CN" sz="2400" b="1" dirty="0"/>
          </a:p>
          <a:p>
            <a:pPr>
              <a:lnSpc>
                <a:spcPts val="2600"/>
              </a:lnSpc>
              <a:buClr>
                <a:srgbClr val="00B050"/>
              </a:buClr>
              <a:buFont typeface="Wingdings" panose="05000000000000000000" pitchFamily="2" charset="2"/>
              <a:buChar char="p"/>
            </a:pPr>
            <a:r>
              <a:rPr lang="zh-CN" altLang="en-US" sz="2400" b="1" dirty="0"/>
              <a:t>基本术语</a:t>
            </a:r>
            <a:endParaRPr lang="en-US" altLang="zh-CN" sz="2400" b="1" dirty="0"/>
          </a:p>
          <a:p>
            <a:pPr>
              <a:lnSpc>
                <a:spcPts val="2600"/>
              </a:lnSpc>
              <a:buClr>
                <a:srgbClr val="00B050"/>
              </a:buClr>
              <a:buFont typeface="Wingdings" panose="05000000000000000000" pitchFamily="2" charset="2"/>
              <a:buChar char="p"/>
            </a:pPr>
            <a:endParaRPr lang="en-US" altLang="zh-CN" sz="2400" b="1" dirty="0"/>
          </a:p>
          <a:p>
            <a:pPr>
              <a:lnSpc>
                <a:spcPts val="2600"/>
              </a:lnSpc>
              <a:buClr>
                <a:srgbClr val="00B050"/>
              </a:buClr>
              <a:buFont typeface="Wingdings" panose="05000000000000000000" pitchFamily="2" charset="2"/>
              <a:buChar char="p"/>
            </a:pPr>
            <a:r>
              <a:rPr lang="zh-CN" altLang="en-US" sz="2400" b="1" dirty="0"/>
              <a:t>假设空间</a:t>
            </a:r>
            <a:endParaRPr lang="en-US" altLang="zh-CN" sz="2400" b="1" dirty="0"/>
          </a:p>
          <a:p>
            <a:pPr>
              <a:lnSpc>
                <a:spcPts val="2600"/>
              </a:lnSpc>
              <a:buClr>
                <a:srgbClr val="00B050"/>
              </a:buClr>
              <a:buFont typeface="Wingdings" panose="05000000000000000000" pitchFamily="2" charset="2"/>
              <a:buChar char="p"/>
            </a:pPr>
            <a:endParaRPr lang="en-US" altLang="zh-CN" sz="2400" b="1" dirty="0"/>
          </a:p>
          <a:p>
            <a:pPr>
              <a:lnSpc>
                <a:spcPts val="2600"/>
              </a:lnSpc>
              <a:buClr>
                <a:srgbClr val="00B050"/>
              </a:buClr>
              <a:buFont typeface="Wingdings" panose="05000000000000000000" pitchFamily="2" charset="2"/>
              <a:buChar char="p"/>
            </a:pPr>
            <a:r>
              <a:rPr lang="zh-CN" altLang="en-US" sz="2400" b="1" dirty="0">
                <a:solidFill>
                  <a:srgbClr val="0000FF"/>
                </a:solidFill>
              </a:rPr>
              <a:t>归纳偏好</a:t>
            </a:r>
            <a:endParaRPr lang="en-US" altLang="zh-CN" sz="2400" b="1" dirty="0">
              <a:solidFill>
                <a:srgbClr val="0000FF"/>
              </a:solidFill>
            </a:endParaRPr>
          </a:p>
          <a:p>
            <a:pPr>
              <a:lnSpc>
                <a:spcPts val="2600"/>
              </a:lnSpc>
              <a:buClr>
                <a:srgbClr val="00B050"/>
              </a:buClr>
              <a:buFont typeface="Wingdings" panose="05000000000000000000" pitchFamily="2" charset="2"/>
              <a:buChar char="p"/>
            </a:pPr>
            <a:endParaRPr lang="en-US" altLang="zh-CN" sz="2400" b="1" dirty="0"/>
          </a:p>
          <a:p>
            <a:pPr>
              <a:lnSpc>
                <a:spcPts val="2600"/>
              </a:lnSpc>
              <a:buClr>
                <a:srgbClr val="00B050"/>
              </a:buClr>
              <a:buFont typeface="Wingdings" panose="05000000000000000000" pitchFamily="2" charset="2"/>
              <a:buChar char="p"/>
            </a:pPr>
            <a:r>
              <a:rPr lang="zh-CN" altLang="en-US" sz="2400" b="1" dirty="0"/>
              <a:t>发展历程</a:t>
            </a:r>
            <a:endParaRPr lang="en-US" altLang="zh-CN" sz="2400" b="1" dirty="0"/>
          </a:p>
          <a:p>
            <a:pPr>
              <a:lnSpc>
                <a:spcPts val="2600"/>
              </a:lnSpc>
              <a:buClr>
                <a:srgbClr val="00B050"/>
              </a:buClr>
              <a:buFont typeface="Wingdings" panose="05000000000000000000" pitchFamily="2" charset="2"/>
              <a:buChar char="p"/>
            </a:pPr>
            <a:endParaRPr lang="en-US" altLang="zh-CN" sz="2400" b="1" dirty="0"/>
          </a:p>
          <a:p>
            <a:pPr>
              <a:lnSpc>
                <a:spcPts val="2600"/>
              </a:lnSpc>
              <a:buClr>
                <a:srgbClr val="00B050"/>
              </a:buClr>
              <a:buFont typeface="Wingdings" panose="05000000000000000000" pitchFamily="2" charset="2"/>
              <a:buChar char="p"/>
            </a:pPr>
            <a:r>
              <a:rPr lang="zh-CN" altLang="en-US" sz="2400" b="1" dirty="0"/>
              <a:t>应用现状</a:t>
            </a:r>
            <a:endParaRPr lang="en-US" altLang="zh-CN" sz="2400" b="1" dirty="0"/>
          </a:p>
          <a:p>
            <a:pPr>
              <a:lnSpc>
                <a:spcPts val="2600"/>
              </a:lnSpc>
              <a:buClr>
                <a:srgbClr val="00B050"/>
              </a:buClr>
              <a:buFont typeface="Wingdings" panose="05000000000000000000" pitchFamily="2" charset="2"/>
              <a:buChar char="p"/>
            </a:pPr>
            <a:endParaRPr lang="en-US" altLang="zh-CN" sz="2400" b="1" dirty="0"/>
          </a:p>
          <a:p>
            <a:pPr>
              <a:lnSpc>
                <a:spcPts val="2600"/>
              </a:lnSpc>
              <a:buClr>
                <a:srgbClr val="00B050"/>
              </a:buClr>
              <a:buFont typeface="Wingdings" panose="05000000000000000000" pitchFamily="2" charset="2"/>
              <a:buChar char="p"/>
            </a:pPr>
            <a:r>
              <a:rPr lang="zh-CN" altLang="en-US" sz="2400" b="1" dirty="0"/>
              <a:t>阅读材料</a:t>
            </a:r>
          </a:p>
        </p:txBody>
      </p:sp>
    </p:spTree>
    <p:extLst>
      <p:ext uri="{BB962C8B-B14F-4D97-AF65-F5344CB8AC3E}">
        <p14:creationId xmlns:p14="http://schemas.microsoft.com/office/powerpoint/2010/main" val="3363173815"/>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t>归纳偏好</a:t>
            </a:r>
          </a:p>
        </p:txBody>
      </p:sp>
      <mc:AlternateContent xmlns:mc="http://schemas.openxmlformats.org/markup-compatibility/2006" xmlns:a14="http://schemas.microsoft.com/office/drawing/2010/main">
        <mc:Choice Requires="a14">
          <p:sp>
            <p:nvSpPr>
              <p:cNvPr id="3" name="内容占位符 2"/>
              <p:cNvSpPr>
                <a:spLocks noGrp="1"/>
              </p:cNvSpPr>
              <p:nvPr>
                <p:ph idx="1"/>
              </p:nvPr>
            </p:nvSpPr>
            <p:spPr>
              <a:xfrm>
                <a:off x="1189315" y="1503328"/>
                <a:ext cx="6551037" cy="1744239"/>
              </a:xfrm>
            </p:spPr>
            <p:txBody>
              <a:bodyPr>
                <a:normAutofit fontScale="85000" lnSpcReduction="20000"/>
              </a:bodyPr>
              <a:lstStyle/>
              <a:p>
                <a:pPr lvl="1">
                  <a:buClr>
                    <a:srgbClr val="00B050"/>
                  </a:buClr>
                  <a:buFont typeface="Wingdings" panose="05000000000000000000" pitchFamily="2" charset="2"/>
                  <a:buChar char="p"/>
                </a:pPr>
                <a:r>
                  <a:rPr lang="zh-CN" altLang="en-US" b="1" dirty="0">
                    <a:latin typeface="幼圆" panose="02010509060101010101" pitchFamily="49" charset="-122"/>
                    <a:ea typeface="幼圆" panose="02010509060101010101" pitchFamily="49" charset="-122"/>
                  </a:rPr>
                  <a:t>推断：</a:t>
                </a:r>
                <a:endParaRPr lang="en-US" altLang="zh-CN" b="1" dirty="0">
                  <a:latin typeface="幼圆" panose="02010509060101010101" pitchFamily="49" charset="-122"/>
                  <a:ea typeface="幼圆" panose="02010509060101010101" pitchFamily="49" charset="-122"/>
                </a:endParaRPr>
              </a:p>
              <a:p>
                <a:pPr marL="457200" lvl="1" indent="0">
                  <a:buNone/>
                </a:pPr>
                <a:r>
                  <a:rPr lang="zh-CN" altLang="en-US" b="1" dirty="0">
                    <a:latin typeface="幼圆" panose="02010509060101010101" pitchFamily="49" charset="-122"/>
                    <a:ea typeface="幼圆" panose="02010509060101010101" pitchFamily="49" charset="-122"/>
                  </a:rPr>
                  <a:t>新样本</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色泽</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青绿；</a:t>
                </a:r>
                <a14:m>
                  <m:oMath xmlns:m="http://schemas.openxmlformats.org/officeDocument/2006/math">
                    <m:r>
                      <m:rPr>
                        <m:nor/>
                      </m:rPr>
                      <a:rPr lang="zh-CN" altLang="en-US" b="1" dirty="0">
                        <a:latin typeface="幼圆" panose="02010509060101010101" pitchFamily="49" charset="-122"/>
                        <a:ea typeface="幼圆" panose="02010509060101010101" pitchFamily="49" charset="-122"/>
                      </a:rPr>
                      <m:t>根蒂</m:t>
                    </m:r>
                    <m:r>
                      <m:rPr>
                        <m:nor/>
                      </m:rPr>
                      <a:rPr lang="en-US" altLang="zh-CN" b="1" dirty="0">
                        <a:latin typeface="幼圆" panose="02010509060101010101" pitchFamily="49" charset="-122"/>
                        <a:ea typeface="幼圆" panose="02010509060101010101" pitchFamily="49" charset="-122"/>
                      </a:rPr>
                      <m:t>=</m:t>
                    </m:r>
                    <m:r>
                      <a:rPr lang="zh-CN" altLang="en-US" b="1" dirty="0">
                        <a:latin typeface="Cambria Math"/>
                      </a:rPr>
                      <m:t>蜷缩；</m:t>
                    </m:r>
                  </m:oMath>
                </a14:m>
                <a:r>
                  <a:rPr lang="zh-CN" altLang="en-US" b="1" dirty="0">
                    <a:latin typeface="幼圆" panose="02010509060101010101" pitchFamily="49" charset="-122"/>
                    <a:ea typeface="幼圆" panose="02010509060101010101" pitchFamily="49" charset="-122"/>
                  </a:rPr>
                  <a:t>敲声</a:t>
                </a:r>
                <a:r>
                  <a:rPr lang="en-US" altLang="zh-CN" b="1" dirty="0">
                    <a:latin typeface="幼圆" panose="02010509060101010101" pitchFamily="49" charset="-122"/>
                    <a:ea typeface="幼圆" panose="02010509060101010101" pitchFamily="49" charset="-122"/>
                  </a:rPr>
                  <a:t>=</a:t>
                </a:r>
                <a:r>
                  <a:rPr lang="zh-CN" altLang="en-US" b="1" dirty="0">
                    <a:latin typeface="幼圆" panose="02010509060101010101" pitchFamily="49" charset="-122"/>
                    <a:ea typeface="幼圆" panose="02010509060101010101" pitchFamily="49" charset="-122"/>
                  </a:rPr>
                  <a:t>沉闷</a:t>
                </a:r>
                <a:r>
                  <a:rPr lang="en-US" altLang="zh-CN" b="1" dirty="0">
                    <a:latin typeface="幼圆" panose="02010509060101010101" pitchFamily="49" charset="-122"/>
                    <a:ea typeface="幼圆" panose="02010509060101010101" pitchFamily="49" charset="-122"/>
                  </a:rPr>
                  <a:t>)</a:t>
                </a:r>
              </a:p>
              <a:p>
                <a:pPr marL="457200" lvl="1" indent="0">
                  <a:buNone/>
                </a:pPr>
                <a:r>
                  <a:rPr lang="zh-CN" altLang="en-US" b="1" dirty="0">
                    <a:latin typeface="幼圆" panose="02010509060101010101" pitchFamily="49" charset="-122"/>
                    <a:ea typeface="幼圆" panose="02010509060101010101" pitchFamily="49" charset="-122"/>
                  </a:rPr>
                  <a:t>假设空间中有三个与训练集一致的假设，但他们对</a:t>
                </a:r>
                <a:r>
                  <a:rPr lang="en-US" altLang="zh-CN" b="1" dirty="0">
                    <a:latin typeface="幼圆" panose="02010509060101010101" pitchFamily="49" charset="-122"/>
                    <a:ea typeface="幼圆" panose="02010509060101010101" pitchFamily="49" charset="-122"/>
                  </a:rPr>
                  <a:t>(</a:t>
                </a:r>
                <a:r>
                  <a:rPr lang="zh-CN" altLang="en-US" b="1" dirty="0">
                    <a:solidFill>
                      <a:schemeClr val="tx1"/>
                    </a:solidFill>
                    <a:latin typeface="幼圆" panose="02010509060101010101" pitchFamily="49" charset="-122"/>
                    <a:ea typeface="幼圆" panose="02010509060101010101" pitchFamily="49" charset="-122"/>
                  </a:rPr>
                  <a:t>色泽</a:t>
                </a:r>
                <a:r>
                  <a:rPr lang="en-US" altLang="zh-CN" b="1" dirty="0">
                    <a:solidFill>
                      <a:schemeClr val="tx1"/>
                    </a:solidFill>
                    <a:latin typeface="幼圆" panose="02010509060101010101" pitchFamily="49" charset="-122"/>
                    <a:ea typeface="幼圆" panose="02010509060101010101" pitchFamily="49" charset="-122"/>
                  </a:rPr>
                  <a:t>=</a:t>
                </a:r>
                <a:r>
                  <a:rPr lang="zh-CN" altLang="en-US" b="1" dirty="0">
                    <a:solidFill>
                      <a:schemeClr val="tx1"/>
                    </a:solidFill>
                    <a:latin typeface="幼圆" panose="02010509060101010101" pitchFamily="49" charset="-122"/>
                    <a:ea typeface="幼圆" panose="02010509060101010101" pitchFamily="49" charset="-122"/>
                  </a:rPr>
                  <a:t>青绿</a:t>
                </a:r>
                <a:r>
                  <a:rPr lang="zh-CN" altLang="en-US" b="1" dirty="0">
                    <a:latin typeface="幼圆" panose="02010509060101010101" pitchFamily="49" charset="-122"/>
                    <a:ea typeface="幼圆" panose="02010509060101010101" pitchFamily="49" charset="-122"/>
                  </a:rPr>
                  <a:t>；</a:t>
                </a:r>
                <a14:m>
                  <m:oMath xmlns:m="http://schemas.openxmlformats.org/officeDocument/2006/math">
                    <m:r>
                      <m:rPr>
                        <m:nor/>
                      </m:rPr>
                      <a:rPr lang="zh-CN" altLang="en-US" b="1" dirty="0">
                        <a:latin typeface="幼圆" panose="02010509060101010101" pitchFamily="49" charset="-122"/>
                        <a:ea typeface="幼圆" panose="02010509060101010101" pitchFamily="49" charset="-122"/>
                      </a:rPr>
                      <m:t>根蒂</m:t>
                    </m:r>
                    <m:r>
                      <m:rPr>
                        <m:nor/>
                      </m:rPr>
                      <a:rPr lang="en-US" altLang="zh-CN" b="1" dirty="0">
                        <a:latin typeface="幼圆" panose="02010509060101010101" pitchFamily="49" charset="-122"/>
                        <a:ea typeface="幼圆" panose="02010509060101010101" pitchFamily="49" charset="-122"/>
                      </a:rPr>
                      <m:t>=</m:t>
                    </m:r>
                    <m:r>
                      <a:rPr lang="zh-CN" altLang="en-US" b="1" dirty="0">
                        <a:latin typeface="Cambria Math"/>
                      </a:rPr>
                      <m:t>蜷缩；</m:t>
                    </m:r>
                  </m:oMath>
                </a14:m>
                <a:r>
                  <a:rPr lang="zh-CN" altLang="en-US" b="1" dirty="0">
                    <a:latin typeface="幼圆" panose="02010509060101010101" pitchFamily="49" charset="-122"/>
                    <a:ea typeface="幼圆" panose="02010509060101010101" pitchFamily="49" charset="-122"/>
                  </a:rPr>
                  <a:t>敲</a:t>
                </a:r>
                <a:r>
                  <a:rPr lang="zh-CN" altLang="en-US" b="1" dirty="0">
                    <a:solidFill>
                      <a:schemeClr val="tx1"/>
                    </a:solidFill>
                    <a:latin typeface="幼圆" panose="02010509060101010101" pitchFamily="49" charset="-122"/>
                    <a:ea typeface="幼圆" panose="02010509060101010101" pitchFamily="49" charset="-122"/>
                  </a:rPr>
                  <a:t>声</a:t>
                </a:r>
                <a:r>
                  <a:rPr lang="en-US" altLang="zh-CN" b="1" dirty="0">
                    <a:solidFill>
                      <a:schemeClr val="tx1"/>
                    </a:solidFill>
                    <a:latin typeface="幼圆" panose="02010509060101010101" pitchFamily="49" charset="-122"/>
                    <a:ea typeface="幼圆" panose="02010509060101010101" pitchFamily="49" charset="-122"/>
                  </a:rPr>
                  <a:t>=</a:t>
                </a:r>
                <a:r>
                  <a:rPr lang="zh-CN" altLang="en-US" b="1" dirty="0">
                    <a:solidFill>
                      <a:schemeClr val="tx1"/>
                    </a:solidFill>
                    <a:latin typeface="幼圆" panose="02010509060101010101" pitchFamily="49" charset="-122"/>
                    <a:ea typeface="幼圆" panose="02010509060101010101" pitchFamily="49" charset="-122"/>
                  </a:rPr>
                  <a:t>沉闷</a:t>
                </a:r>
                <a:r>
                  <a:rPr lang="en-US" altLang="zh-CN" b="1" dirty="0">
                    <a:solidFill>
                      <a:schemeClr val="tx1"/>
                    </a:solidFill>
                    <a:latin typeface="幼圆" panose="02010509060101010101" pitchFamily="49" charset="-122"/>
                    <a:ea typeface="幼圆" panose="02010509060101010101" pitchFamily="49" charset="-122"/>
                  </a:rPr>
                  <a:t>)</a:t>
                </a:r>
                <a:r>
                  <a:rPr lang="zh-CN" altLang="en-US" b="1" dirty="0">
                    <a:solidFill>
                      <a:schemeClr val="tx1"/>
                    </a:solidFill>
                    <a:latin typeface="幼圆" panose="02010509060101010101" pitchFamily="49" charset="-122"/>
                    <a:ea typeface="幼圆" panose="02010509060101010101" pitchFamily="49" charset="-122"/>
                  </a:rPr>
                  <a:t>的瓜会预测出不同的结果：</a:t>
                </a:r>
                <a:endParaRPr lang="zh-CN" altLang="en-US" b="1" dirty="0">
                  <a:latin typeface="幼圆" panose="02010509060101010101" pitchFamily="49" charset="-122"/>
                  <a:ea typeface="幼圆" panose="02010509060101010101" pitchFamily="49" charset="-122"/>
                </a:endParaRPr>
              </a:p>
            </p:txBody>
          </p:sp>
        </mc:Choice>
        <mc:Fallback xmlns="">
          <p:sp>
            <p:nvSpPr>
              <p:cNvPr id="3" name="内容占位符 2"/>
              <p:cNvSpPr>
                <a:spLocks noGrp="1" noRot="1" noChangeAspect="1" noMove="1" noResize="1" noEditPoints="1" noAdjustHandles="1" noChangeArrowheads="1" noChangeShapeType="1" noTextEdit="1"/>
              </p:cNvSpPr>
              <p:nvPr>
                <p:ph idx="1"/>
              </p:nvPr>
            </p:nvSpPr>
            <p:spPr>
              <a:xfrm>
                <a:off x="1189315" y="1503328"/>
                <a:ext cx="6551037" cy="1744239"/>
              </a:xfrm>
              <a:blipFill>
                <a:blip r:embed="rId2"/>
                <a:stretch>
                  <a:fillRect t="-6993" r="-3814" b="-5594"/>
                </a:stretch>
              </a:blipFill>
            </p:spPr>
            <p:txBody>
              <a:bodyPr/>
              <a:lstStyle/>
              <a:p>
                <a:r>
                  <a:rPr lang="zh-CN" altLang="en-US">
                    <a:noFill/>
                  </a:rPr>
                  <a:t> </a:t>
                </a:r>
              </a:p>
            </p:txBody>
          </p:sp>
        </mc:Fallback>
      </mc:AlternateContent>
      <p:pic>
        <p:nvPicPr>
          <p:cNvPr id="8"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40682" y="3649267"/>
            <a:ext cx="5026040" cy="136766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1" name="内容占位符 2"/>
          <p:cNvSpPr txBox="1">
            <a:spLocks/>
          </p:cNvSpPr>
          <p:nvPr/>
        </p:nvSpPr>
        <p:spPr>
          <a:xfrm>
            <a:off x="2206487" y="4149080"/>
            <a:ext cx="1620078" cy="338695"/>
          </a:xfrm>
          <a:prstGeom prst="rect">
            <a:avLst/>
          </a:prstGeom>
          <a:effectLst>
            <a:outerShdw blurRad="50800" dir="14400000">
              <a:srgbClr val="000000">
                <a:alpha val="40000"/>
              </a:srgbClr>
            </a:outerShdw>
          </a:effectLst>
        </p:spPr>
        <p:txBody>
          <a:bodyPr vert="horz" lIns="91440" tIns="45720" rIns="91440" bIns="45720" rtlCol="0" anchor="ctr">
            <a:normAutofit/>
          </a:bodyPr>
          <a:lstStyle>
            <a:lvl1pPr marL="342900" indent="-342900" algn="l" defTabSz="457200" rtl="0" eaLnBrk="1" latinLnBrk="0" hangingPunct="1">
              <a:spcBef>
                <a:spcPct val="20000"/>
              </a:spcBef>
              <a:spcAft>
                <a:spcPts val="600"/>
              </a:spcAft>
              <a:buClr>
                <a:schemeClr val="accent1"/>
              </a:buClr>
              <a:buFont typeface="Wingdings 2" charset="2"/>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accent1"/>
              </a:buClr>
              <a:buFont typeface="Wingdings 2" charset="2"/>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accent1"/>
              </a:buClr>
              <a:buFont typeface="Wingdings 2" charset="2"/>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a:lstStyle>
          <a:p>
            <a:pPr marL="457200" lvl="1" indent="0" algn="ctr">
              <a:buFont typeface="Wingdings 2" charset="2"/>
              <a:buNone/>
            </a:pPr>
            <a:r>
              <a:rPr lang="zh-CN" altLang="en-US" dirty="0">
                <a:solidFill>
                  <a:srgbClr val="00B050"/>
                </a:solidFill>
              </a:rPr>
              <a:t>好瓜</a:t>
            </a:r>
          </a:p>
        </p:txBody>
      </p:sp>
      <p:grpSp>
        <p:nvGrpSpPr>
          <p:cNvPr id="4" name="组合 3"/>
          <p:cNvGrpSpPr/>
          <p:nvPr/>
        </p:nvGrpSpPr>
        <p:grpSpPr>
          <a:xfrm>
            <a:off x="5131884" y="4164117"/>
            <a:ext cx="1623393" cy="800973"/>
            <a:chOff x="5131884" y="2923910"/>
            <a:chExt cx="1623393" cy="800973"/>
          </a:xfrm>
        </p:grpSpPr>
        <p:sp>
          <p:nvSpPr>
            <p:cNvPr id="12" name="内容占位符 2"/>
            <p:cNvSpPr txBox="1">
              <a:spLocks/>
            </p:cNvSpPr>
            <p:nvPr/>
          </p:nvSpPr>
          <p:spPr>
            <a:xfrm>
              <a:off x="5131884" y="2923910"/>
              <a:ext cx="1620078" cy="338695"/>
            </a:xfrm>
            <a:prstGeom prst="rect">
              <a:avLst/>
            </a:prstGeom>
            <a:effectLst>
              <a:outerShdw blurRad="50800" dir="14400000">
                <a:srgbClr val="000000">
                  <a:alpha val="40000"/>
                </a:srgbClr>
              </a:outerShdw>
            </a:effectLst>
          </p:spPr>
          <p:txBody>
            <a:bodyPr vert="horz" lIns="91440" tIns="45720" rIns="91440" bIns="45720" rtlCol="0" anchor="ctr">
              <a:normAutofit/>
            </a:bodyPr>
            <a:lstStyle>
              <a:lvl1pPr marL="342900" indent="-342900" algn="l" defTabSz="457200" rtl="0" eaLnBrk="1" latinLnBrk="0" hangingPunct="1">
                <a:spcBef>
                  <a:spcPct val="20000"/>
                </a:spcBef>
                <a:spcAft>
                  <a:spcPts val="600"/>
                </a:spcAft>
                <a:buClr>
                  <a:schemeClr val="accent1"/>
                </a:buClr>
                <a:buFont typeface="Wingdings 2" charset="2"/>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accent1"/>
                </a:buClr>
                <a:buFont typeface="Wingdings 2" charset="2"/>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accent1"/>
                </a:buClr>
                <a:buFont typeface="Wingdings 2" charset="2"/>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a:lstStyle>
            <a:p>
              <a:pPr marL="457200" lvl="1" indent="0" algn="ctr">
                <a:buFont typeface="Wingdings 2" charset="2"/>
                <a:buNone/>
              </a:pPr>
              <a:r>
                <a:rPr lang="zh-CN" altLang="en-US" dirty="0">
                  <a:solidFill>
                    <a:srgbClr val="FF0000"/>
                  </a:solidFill>
                </a:rPr>
                <a:t>坏瓜</a:t>
              </a:r>
            </a:p>
          </p:txBody>
        </p:sp>
        <p:sp>
          <p:nvSpPr>
            <p:cNvPr id="14" name="内容占位符 2"/>
            <p:cNvSpPr txBox="1">
              <a:spLocks/>
            </p:cNvSpPr>
            <p:nvPr/>
          </p:nvSpPr>
          <p:spPr>
            <a:xfrm>
              <a:off x="5135199" y="3386188"/>
              <a:ext cx="1620078" cy="338695"/>
            </a:xfrm>
            <a:prstGeom prst="rect">
              <a:avLst/>
            </a:prstGeom>
            <a:effectLst>
              <a:outerShdw blurRad="50800" dir="14400000">
                <a:srgbClr val="000000">
                  <a:alpha val="40000"/>
                </a:srgbClr>
              </a:outerShdw>
            </a:effectLst>
          </p:spPr>
          <p:txBody>
            <a:bodyPr vert="horz" lIns="91440" tIns="45720" rIns="91440" bIns="45720" rtlCol="0" anchor="ctr">
              <a:normAutofit/>
            </a:bodyPr>
            <a:lstStyle>
              <a:lvl1pPr marL="342900" indent="-342900" algn="l" defTabSz="457200" rtl="0" eaLnBrk="1" latinLnBrk="0" hangingPunct="1">
                <a:spcBef>
                  <a:spcPct val="20000"/>
                </a:spcBef>
                <a:spcAft>
                  <a:spcPts val="600"/>
                </a:spcAft>
                <a:buClr>
                  <a:schemeClr val="accent1"/>
                </a:buClr>
                <a:buFont typeface="Wingdings 2" charset="2"/>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accent1"/>
                </a:buClr>
                <a:buFont typeface="Wingdings 2" charset="2"/>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accent1"/>
                </a:buClr>
                <a:buFont typeface="Wingdings 2" charset="2"/>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a:lstStyle>
            <a:p>
              <a:pPr marL="457200" lvl="1" indent="0" algn="ctr">
                <a:buFont typeface="Wingdings 2" charset="2"/>
                <a:buNone/>
              </a:pPr>
              <a:r>
                <a:rPr lang="zh-CN" altLang="en-US" dirty="0">
                  <a:solidFill>
                    <a:srgbClr val="FF0000"/>
                  </a:solidFill>
                </a:rPr>
                <a:t>坏瓜</a:t>
              </a:r>
            </a:p>
          </p:txBody>
        </p:sp>
      </p:grpSp>
      <p:sp>
        <p:nvSpPr>
          <p:cNvPr id="15" name="Rectangle 3"/>
          <p:cNvSpPr>
            <a:spLocks noChangeArrowheads="1"/>
          </p:cNvSpPr>
          <p:nvPr/>
        </p:nvSpPr>
        <p:spPr bwMode="auto">
          <a:xfrm>
            <a:off x="2803152" y="5449247"/>
            <a:ext cx="3501100" cy="500033"/>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charset="0"/>
              <a:buChar char="•"/>
              <a:defRPr sz="3200">
                <a:solidFill>
                  <a:schemeClr val="tx1"/>
                </a:solidFill>
                <a:latin typeface="Calibri" pitchFamily="34" charset="0"/>
                <a:ea typeface="宋体" charset="-122"/>
              </a:defRPr>
            </a:lvl1pPr>
            <a:lvl2pPr marL="742950" indent="-285750">
              <a:spcBef>
                <a:spcPct val="20000"/>
              </a:spcBef>
              <a:buFont typeface="Arial" charset="0"/>
              <a:buChar char="–"/>
              <a:defRPr sz="2800">
                <a:solidFill>
                  <a:schemeClr val="tx1"/>
                </a:solidFill>
                <a:latin typeface="Calibri" pitchFamily="34" charset="0"/>
                <a:ea typeface="宋体" charset="-122"/>
              </a:defRPr>
            </a:lvl2pPr>
            <a:lvl3pPr marL="1143000" indent="-228600">
              <a:spcBef>
                <a:spcPct val="20000"/>
              </a:spcBef>
              <a:buFont typeface="Arial" charset="0"/>
              <a:buChar char="•"/>
              <a:defRPr sz="2400">
                <a:solidFill>
                  <a:schemeClr val="tx1"/>
                </a:solidFill>
                <a:latin typeface="Calibri" pitchFamily="34" charset="0"/>
                <a:ea typeface="宋体" charset="-122"/>
              </a:defRPr>
            </a:lvl3pPr>
            <a:lvl4pPr marL="1600200" indent="-228600">
              <a:spcBef>
                <a:spcPct val="20000"/>
              </a:spcBef>
              <a:buFont typeface="Arial" charset="0"/>
              <a:buChar char="–"/>
              <a:defRPr sz="2000">
                <a:solidFill>
                  <a:schemeClr val="tx1"/>
                </a:solidFill>
                <a:latin typeface="Calibri" pitchFamily="34" charset="0"/>
                <a:ea typeface="宋体" charset="-122"/>
              </a:defRPr>
            </a:lvl4pPr>
            <a:lvl5pPr marL="2057400" indent="-228600">
              <a:spcBef>
                <a:spcPct val="20000"/>
              </a:spcBef>
              <a:buFont typeface="Arial" charset="0"/>
              <a:buChar char="»"/>
              <a:defRPr sz="2000">
                <a:solidFill>
                  <a:schemeClr val="tx1"/>
                </a:solidFill>
                <a:latin typeface="Calibri" pitchFamily="34" charset="0"/>
                <a:ea typeface="宋体"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9pPr>
          </a:lstStyle>
          <a:p>
            <a:pPr marL="0" indent="0">
              <a:lnSpc>
                <a:spcPts val="3200"/>
              </a:lnSpc>
              <a:buNone/>
            </a:pPr>
            <a:r>
              <a:rPr lang="zh-CN" altLang="en-US" sz="2000" b="1" dirty="0">
                <a:solidFill>
                  <a:srgbClr val="C30D23"/>
                </a:solidFill>
                <a:latin typeface="幼圆" panose="02010509060101010101" pitchFamily="49" charset="-122"/>
                <a:ea typeface="幼圆" panose="02010509060101010101" pitchFamily="49" charset="-122"/>
              </a:rPr>
              <a:t>选取哪个假设作为学习模式？</a:t>
            </a:r>
            <a:endParaRPr lang="en-US" altLang="zh-CN" sz="2000" b="1" dirty="0">
              <a:solidFill>
                <a:srgbClr val="C30D23"/>
              </a:solidFill>
              <a:latin typeface="幼圆" panose="02010509060101010101" pitchFamily="49" charset="-122"/>
              <a:ea typeface="幼圆" panose="02010509060101010101" pitchFamily="49" charset="-122"/>
            </a:endParaRPr>
          </a:p>
        </p:txBody>
      </p:sp>
    </p:spTree>
    <p:extLst>
      <p:ext uri="{BB962C8B-B14F-4D97-AF65-F5344CB8AC3E}">
        <p14:creationId xmlns:p14="http://schemas.microsoft.com/office/powerpoint/2010/main" val="2662068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anim calcmode="lin" valueType="num">
                                      <p:cBhvr>
                                        <p:cTn id="8" dur="1000" fill="hold"/>
                                        <p:tgtEl>
                                          <p:spTgt spid="11"/>
                                        </p:tgtEl>
                                        <p:attrNameLst>
                                          <p:attrName>ppt_x</p:attrName>
                                        </p:attrNameLst>
                                      </p:cBhvr>
                                      <p:tavLst>
                                        <p:tav tm="0">
                                          <p:val>
                                            <p:strVal val="#ppt_x"/>
                                          </p:val>
                                        </p:tav>
                                        <p:tav tm="100000">
                                          <p:val>
                                            <p:strVal val="#ppt_x"/>
                                          </p:val>
                                        </p:tav>
                                      </p:tavLst>
                                    </p:anim>
                                    <p:anim calcmode="lin" valueType="num">
                                      <p:cBhvr>
                                        <p:cTn id="9"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anim calcmode="lin" valueType="num">
                                      <p:cBhvr>
                                        <p:cTn id="15" dur="1000" fill="hold"/>
                                        <p:tgtEl>
                                          <p:spTgt spid="4"/>
                                        </p:tgtEl>
                                        <p:attrNameLst>
                                          <p:attrName>ppt_x</p:attrName>
                                        </p:attrNameLst>
                                      </p:cBhvr>
                                      <p:tavLst>
                                        <p:tav tm="0">
                                          <p:val>
                                            <p:strVal val="#ppt_x"/>
                                          </p:val>
                                        </p:tav>
                                        <p:tav tm="100000">
                                          <p:val>
                                            <p:strVal val="#ppt_x"/>
                                          </p:val>
                                        </p:tav>
                                      </p:tavLst>
                                    </p:anim>
                                    <p:anim calcmode="lin" valueType="num">
                                      <p:cBhvr>
                                        <p:cTn id="1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1000"/>
                                        <p:tgtEl>
                                          <p:spTgt spid="15"/>
                                        </p:tgtEl>
                                      </p:cBhvr>
                                    </p:animEffect>
                                    <p:anim calcmode="lin" valueType="num">
                                      <p:cBhvr>
                                        <p:cTn id="22" dur="1000" fill="hold"/>
                                        <p:tgtEl>
                                          <p:spTgt spid="15"/>
                                        </p:tgtEl>
                                        <p:attrNameLst>
                                          <p:attrName>ppt_x</p:attrName>
                                        </p:attrNameLst>
                                      </p:cBhvr>
                                      <p:tavLst>
                                        <p:tav tm="0">
                                          <p:val>
                                            <p:strVal val="#ppt_x"/>
                                          </p:val>
                                        </p:tav>
                                        <p:tav tm="100000">
                                          <p:val>
                                            <p:strVal val="#ppt_x"/>
                                          </p:val>
                                        </p:tav>
                                      </p:tavLst>
                                    </p:anim>
                                    <p:anim calcmode="lin" valueType="num">
                                      <p:cBhvr>
                                        <p:cTn id="23"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5"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t>归纳偏好</a:t>
            </a:r>
          </a:p>
        </p:txBody>
      </p:sp>
      <p:sp>
        <p:nvSpPr>
          <p:cNvPr id="13" name="内容占位符 2"/>
          <p:cNvSpPr txBox="1">
            <a:spLocks/>
          </p:cNvSpPr>
          <p:nvPr/>
        </p:nvSpPr>
        <p:spPr>
          <a:xfrm>
            <a:off x="1138763" y="1124744"/>
            <a:ext cx="2137093" cy="1800200"/>
          </a:xfrm>
          <a:prstGeom prst="rect">
            <a:avLst/>
          </a:prstGeom>
        </p:spPr>
        <p:txBody>
          <a:bodyPr vert="horz" lIns="91440" tIns="46800" rIns="91440" bIns="45720" rtlCol="0">
            <a:normAutofit fontScale="92500"/>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ts val="3200"/>
              </a:lnSpc>
              <a:buClr>
                <a:srgbClr val="00B050"/>
              </a:buClr>
              <a:buFont typeface="Wingdings" panose="05000000000000000000" pitchFamily="2" charset="2"/>
              <a:buChar char="p"/>
            </a:pPr>
            <a:r>
              <a:rPr lang="zh-CN" altLang="en-US" sz="2200" b="1" dirty="0">
                <a:latin typeface="幼圆" panose="02010509060101010101" pitchFamily="49" charset="-122"/>
                <a:ea typeface="幼圆" panose="02010509060101010101" pitchFamily="49" charset="-122"/>
              </a:rPr>
              <a:t>学习过程中对某种类型假设的偏好称作归纳偏好</a:t>
            </a:r>
          </a:p>
        </p:txBody>
      </p:sp>
      <p:pic>
        <p:nvPicPr>
          <p:cNvPr id="4101" name="Picture 5"/>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47864" y="1251146"/>
            <a:ext cx="4248472" cy="23298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TextBox 5"/>
          <p:cNvSpPr txBox="1"/>
          <p:nvPr/>
        </p:nvSpPr>
        <p:spPr>
          <a:xfrm>
            <a:off x="3848385" y="2997249"/>
            <a:ext cx="970149" cy="307777"/>
          </a:xfrm>
          <a:prstGeom prst="rect">
            <a:avLst/>
          </a:prstGeom>
          <a:noFill/>
        </p:spPr>
        <p:txBody>
          <a:bodyPr wrap="square" rtlCol="0">
            <a:spAutoFit/>
          </a:bodyPr>
          <a:lstStyle/>
          <a:p>
            <a:pPr fontAlgn="base">
              <a:spcBef>
                <a:spcPct val="0"/>
              </a:spcBef>
              <a:spcAft>
                <a:spcPct val="0"/>
              </a:spcAft>
            </a:pPr>
            <a:r>
              <a:rPr lang="en-US" altLang="zh-CN" sz="1400" b="1" dirty="0">
                <a:latin typeface="Verdana" panose="020B0604030504040204" pitchFamily="34" charset="0"/>
                <a:cs typeface="Verdana" panose="020B0604030504040204" pitchFamily="34" charset="0"/>
              </a:rPr>
              <a:t>A or </a:t>
            </a:r>
            <a:r>
              <a:rPr lang="en-US" altLang="zh-CN" sz="1400" b="1" dirty="0">
                <a:solidFill>
                  <a:srgbClr val="FF0000"/>
                </a:solidFill>
                <a:latin typeface="Verdana" panose="020B0604030504040204" pitchFamily="34" charset="0"/>
                <a:cs typeface="Verdana" panose="020B0604030504040204" pitchFamily="34" charset="0"/>
              </a:rPr>
              <a:t>B?</a:t>
            </a:r>
            <a:r>
              <a:rPr lang="zh-CN" altLang="en-US" sz="1400" dirty="0">
                <a:latin typeface="Verdana" panose="020B0604030504040204" pitchFamily="34" charset="0"/>
                <a:cs typeface="Verdana" panose="020B0604030504040204" pitchFamily="34" charset="0"/>
              </a:rPr>
              <a:t>？</a:t>
            </a:r>
          </a:p>
        </p:txBody>
      </p:sp>
      <p:pic>
        <p:nvPicPr>
          <p:cNvPr id="4103" name="Picture 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33332" y="3757436"/>
            <a:ext cx="7628170" cy="28800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4913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1000"/>
                                        <p:tgtEl>
                                          <p:spTgt spid="17"/>
                                        </p:tgtEl>
                                      </p:cBhvr>
                                    </p:animEffect>
                                    <p:anim calcmode="lin" valueType="num">
                                      <p:cBhvr>
                                        <p:cTn id="8" dur="1000" fill="hold"/>
                                        <p:tgtEl>
                                          <p:spTgt spid="17"/>
                                        </p:tgtEl>
                                        <p:attrNameLst>
                                          <p:attrName>ppt_x</p:attrName>
                                        </p:attrNameLst>
                                      </p:cBhvr>
                                      <p:tavLst>
                                        <p:tav tm="0">
                                          <p:val>
                                            <p:strVal val="#ppt_x"/>
                                          </p:val>
                                        </p:tav>
                                        <p:tav tm="100000">
                                          <p:val>
                                            <p:strVal val="#ppt_x"/>
                                          </p:val>
                                        </p:tav>
                                      </p:tavLst>
                                    </p:anim>
                                    <p:anim calcmode="lin" valueType="num">
                                      <p:cBhvr>
                                        <p:cTn id="9"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4103"/>
                                        </p:tgtEl>
                                        <p:attrNameLst>
                                          <p:attrName>style.visibility</p:attrName>
                                        </p:attrNameLst>
                                      </p:cBhvr>
                                      <p:to>
                                        <p:strVal val="visible"/>
                                      </p:to>
                                    </p:set>
                                    <p:animEffect transition="in" filter="fade">
                                      <p:cBhvr>
                                        <p:cTn id="14" dur="1000"/>
                                        <p:tgtEl>
                                          <p:spTgt spid="4103"/>
                                        </p:tgtEl>
                                      </p:cBhvr>
                                    </p:animEffect>
                                    <p:anim calcmode="lin" valueType="num">
                                      <p:cBhvr>
                                        <p:cTn id="15" dur="1000" fill="hold"/>
                                        <p:tgtEl>
                                          <p:spTgt spid="4103"/>
                                        </p:tgtEl>
                                        <p:attrNameLst>
                                          <p:attrName>ppt_x</p:attrName>
                                        </p:attrNameLst>
                                      </p:cBhvr>
                                      <p:tavLst>
                                        <p:tav tm="0">
                                          <p:val>
                                            <p:strVal val="#ppt_x"/>
                                          </p:val>
                                        </p:tav>
                                        <p:tav tm="100000">
                                          <p:val>
                                            <p:strVal val="#ppt_x"/>
                                          </p:val>
                                        </p:tav>
                                      </p:tavLst>
                                    </p:anim>
                                    <p:anim calcmode="lin" valueType="num">
                                      <p:cBhvr>
                                        <p:cTn id="16" dur="1000" fill="hold"/>
                                        <p:tgtEl>
                                          <p:spTgt spid="410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t>归纳偏好</a:t>
            </a:r>
          </a:p>
        </p:txBody>
      </p:sp>
      <p:sp>
        <p:nvSpPr>
          <p:cNvPr id="4" name="内容占位符 2"/>
          <p:cNvSpPr txBox="1">
            <a:spLocks/>
          </p:cNvSpPr>
          <p:nvPr/>
        </p:nvSpPr>
        <p:spPr>
          <a:xfrm>
            <a:off x="827584" y="1658347"/>
            <a:ext cx="7704856" cy="1512168"/>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latin typeface="幼圆" panose="02010509060101010101" pitchFamily="49" charset="-122"/>
              </a:rPr>
              <a:t>偏好</a:t>
            </a:r>
            <a:r>
              <a:rPr lang="zh-CN" altLang="en-US" dirty="0">
                <a:latin typeface="幼圆" panose="02010509060101010101" pitchFamily="49" charset="-122"/>
              </a:rPr>
              <a:t>：归纳偏好可看作学习算法自身在一个可能很庞大的假设空间中对假设进行选择的启发式或“价值观”</a:t>
            </a:r>
            <a:r>
              <a:rPr lang="en-US" altLang="zh-CN" dirty="0">
                <a:latin typeface="幼圆" panose="02010509060101010101" pitchFamily="49" charset="-122"/>
              </a:rPr>
              <a:t>.</a:t>
            </a:r>
            <a:endParaRPr lang="zh-CN" altLang="en-US" dirty="0">
              <a:latin typeface="幼圆" panose="02010509060101010101" pitchFamily="49" charset="-122"/>
            </a:endParaRPr>
          </a:p>
        </p:txBody>
      </p:sp>
      <p:sp>
        <p:nvSpPr>
          <p:cNvPr id="5" name="内容占位符 2"/>
          <p:cNvSpPr txBox="1">
            <a:spLocks/>
          </p:cNvSpPr>
          <p:nvPr/>
        </p:nvSpPr>
        <p:spPr>
          <a:xfrm>
            <a:off x="850777" y="2963687"/>
            <a:ext cx="7704856" cy="1512168"/>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latin typeface="幼圆" panose="02010509060101010101" pitchFamily="49" charset="-122"/>
              </a:rPr>
              <a:t>基本原则</a:t>
            </a:r>
            <a:r>
              <a:rPr lang="zh-CN" altLang="en-US" dirty="0">
                <a:latin typeface="幼圆" panose="02010509060101010101" pitchFamily="49" charset="-122"/>
              </a:rPr>
              <a:t>：“奥卡姆剃刀”是一种常用的、自然科学研究中最基本的原则，即“若有多个假设与观察一致，选最简单的那个”</a:t>
            </a:r>
            <a:r>
              <a:rPr lang="en-US" altLang="zh-CN" dirty="0">
                <a:latin typeface="幼圆" panose="02010509060101010101" pitchFamily="49" charset="-122"/>
              </a:rPr>
              <a:t>.</a:t>
            </a:r>
            <a:endParaRPr lang="zh-CN" altLang="en-US" dirty="0">
              <a:latin typeface="幼圆" panose="02010509060101010101" pitchFamily="49" charset="-122"/>
            </a:endParaRPr>
          </a:p>
        </p:txBody>
      </p:sp>
      <p:sp>
        <p:nvSpPr>
          <p:cNvPr id="6" name="内容占位符 2"/>
          <p:cNvSpPr txBox="1">
            <a:spLocks/>
          </p:cNvSpPr>
          <p:nvPr/>
        </p:nvSpPr>
        <p:spPr>
          <a:xfrm>
            <a:off x="827584" y="4365104"/>
            <a:ext cx="7704856" cy="1512168"/>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800100" lvl="1" indent="-342900">
              <a:buClr>
                <a:srgbClr val="00B050"/>
              </a:buClr>
              <a:buFont typeface="Wingdings" panose="05000000000000000000" pitchFamily="2" charset="2"/>
              <a:buChar char="p"/>
            </a:pPr>
            <a:r>
              <a:rPr lang="zh-CN" altLang="en-US" b="1" dirty="0">
                <a:latin typeface="幼圆" panose="02010509060101010101" pitchFamily="49" charset="-122"/>
              </a:rPr>
              <a:t>假设影响</a:t>
            </a:r>
            <a:r>
              <a:rPr lang="zh-CN" altLang="en-US" dirty="0">
                <a:latin typeface="幼圆" panose="02010509060101010101" pitchFamily="49" charset="-122"/>
              </a:rPr>
              <a:t>：具体的现实问题中，学习算法本身所做的假设是否成立，也即算法的归纳偏好是否与问题本身匹配，大多数时候直接决定了算法能否取得好的性能</a:t>
            </a:r>
            <a:r>
              <a:rPr lang="en-US" altLang="zh-CN" dirty="0">
                <a:latin typeface="幼圆" panose="02010509060101010101" pitchFamily="49" charset="-122"/>
              </a:rPr>
              <a:t>.</a:t>
            </a:r>
            <a:endParaRPr lang="zh-CN" altLang="en-US" dirty="0">
              <a:latin typeface="幼圆" panose="02010509060101010101" pitchFamily="49" charset="-122"/>
            </a:endParaRPr>
          </a:p>
        </p:txBody>
      </p:sp>
    </p:spTree>
    <p:extLst>
      <p:ext uri="{BB962C8B-B14F-4D97-AF65-F5344CB8AC3E}">
        <p14:creationId xmlns:p14="http://schemas.microsoft.com/office/powerpoint/2010/main" val="215616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1000"/>
                                        <p:tgtEl>
                                          <p:spTgt spid="6"/>
                                        </p:tgtEl>
                                      </p:cBhvr>
                                    </p:animEffect>
                                    <p:anim calcmode="lin" valueType="num">
                                      <p:cBhvr>
                                        <p:cTn id="15" dur="1000" fill="hold"/>
                                        <p:tgtEl>
                                          <p:spTgt spid="6"/>
                                        </p:tgtEl>
                                        <p:attrNameLst>
                                          <p:attrName>ppt_x</p:attrName>
                                        </p:attrNameLst>
                                      </p:cBhvr>
                                      <p:tavLst>
                                        <p:tav tm="0">
                                          <p:val>
                                            <p:strVal val="#ppt_x"/>
                                          </p:val>
                                        </p:tav>
                                        <p:tav tm="100000">
                                          <p:val>
                                            <p:strVal val="#ppt_x"/>
                                          </p:val>
                                        </p:tav>
                                      </p:tavLst>
                                    </p:anim>
                                    <p:anim calcmode="lin" valueType="num">
                                      <p:cBhvr>
                                        <p:cTn id="16"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b="1" dirty="0" err="1"/>
              <a:t>NoFreeLunch</a:t>
            </a:r>
            <a:endParaRPr lang="zh-CN" altLang="en-US" b="1" dirty="0"/>
          </a:p>
        </p:txBody>
      </p:sp>
      <p:sp>
        <p:nvSpPr>
          <p:cNvPr id="6" name="内容占位符 2"/>
          <p:cNvSpPr txBox="1">
            <a:spLocks/>
          </p:cNvSpPr>
          <p:nvPr/>
        </p:nvSpPr>
        <p:spPr>
          <a:xfrm>
            <a:off x="313220" y="1940479"/>
            <a:ext cx="8616950" cy="1201053"/>
          </a:xfrm>
          <a:prstGeom prst="rect">
            <a:avLst/>
          </a:prstGeom>
        </p:spPr>
        <p:txBody>
          <a:bodyPr vert="horz" lIns="91440" tIns="46800" rIns="91440" bIns="45720" rtlCol="0">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fontAlgn="base">
              <a:spcBef>
                <a:spcPct val="20000"/>
              </a:spcBef>
              <a:spcAft>
                <a:spcPct val="0"/>
              </a:spcAft>
              <a:buClr>
                <a:srgbClr val="339933"/>
              </a:buClr>
              <a:buSzPct val="65000"/>
            </a:pPr>
            <a:r>
              <a:rPr lang="zh-CN" altLang="en-US" sz="2200" b="1" kern="0" dirty="0">
                <a:solidFill>
                  <a:srgbClr val="000000"/>
                </a:solidFill>
                <a:latin typeface="幼圆" pitchFamily="49" charset="-122"/>
                <a:ea typeface="幼圆" pitchFamily="49" charset="-122"/>
                <a:cs typeface="Verdana" panose="020B0604030504040204" pitchFamily="34" charset="0"/>
              </a:rPr>
              <a:t>没有免费的午餐定理：</a:t>
            </a:r>
            <a:endParaRPr lang="en-US" altLang="zh-CN" sz="2200" b="1" kern="0" dirty="0">
              <a:solidFill>
                <a:srgbClr val="000000"/>
              </a:solidFill>
              <a:latin typeface="幼圆" pitchFamily="49" charset="-122"/>
              <a:ea typeface="幼圆" pitchFamily="49" charset="-122"/>
              <a:cs typeface="Verdana" panose="020B0604030504040204" pitchFamily="34" charset="0"/>
            </a:endParaRPr>
          </a:p>
          <a:p>
            <a:pPr fontAlgn="base">
              <a:spcBef>
                <a:spcPct val="20000"/>
              </a:spcBef>
              <a:spcAft>
                <a:spcPct val="0"/>
              </a:spcAft>
              <a:buClr>
                <a:srgbClr val="339933"/>
              </a:buClr>
              <a:buSzPct val="65000"/>
            </a:pPr>
            <a:r>
              <a:rPr lang="zh-CN" altLang="en-US" sz="2200" b="1" kern="0" dirty="0">
                <a:solidFill>
                  <a:srgbClr val="000000"/>
                </a:solidFill>
                <a:latin typeface="幼圆" pitchFamily="49" charset="-122"/>
                <a:ea typeface="幼圆" pitchFamily="49" charset="-122"/>
                <a:cs typeface="Verdana" panose="020B0604030504040204" pitchFamily="34" charset="0"/>
              </a:rPr>
              <a:t>一个算法 </a:t>
            </a:r>
            <a:r>
              <a:rPr lang="zh-CN" altLang="en-US" sz="2200" b="1" i="1" kern="0" dirty="0">
                <a:solidFill>
                  <a:srgbClr val="000000"/>
                </a:solidFill>
                <a:latin typeface="幼圆" pitchFamily="49" charset="-122"/>
                <a:ea typeface="幼圆" pitchFamily="49" charset="-122"/>
                <a:cs typeface="Verdana" panose="020B0604030504040204" pitchFamily="34" charset="0"/>
                <a:sym typeface="Symbol"/>
              </a:rPr>
              <a:t></a:t>
            </a:r>
            <a:r>
              <a:rPr lang="en-US" altLang="zh-CN" sz="2200" b="1" i="1" kern="0" baseline="-25000" dirty="0">
                <a:solidFill>
                  <a:srgbClr val="000000"/>
                </a:solidFill>
                <a:latin typeface="幼圆" pitchFamily="49" charset="-122"/>
                <a:ea typeface="幼圆" pitchFamily="49" charset="-122"/>
                <a:cs typeface="Verdana" panose="020B0604030504040204" pitchFamily="34" charset="0"/>
                <a:sym typeface="Symbol"/>
              </a:rPr>
              <a:t>a</a:t>
            </a:r>
            <a:r>
              <a:rPr lang="zh-CN" altLang="en-US" sz="2200" b="1" kern="0" dirty="0">
                <a:solidFill>
                  <a:srgbClr val="000000"/>
                </a:solidFill>
                <a:latin typeface="幼圆" pitchFamily="49" charset="-122"/>
                <a:ea typeface="幼圆" pitchFamily="49" charset="-122"/>
                <a:cs typeface="Verdana" panose="020B0604030504040204" pitchFamily="34" charset="0"/>
              </a:rPr>
              <a:t>  如果在某些问题上比另一个算法</a:t>
            </a:r>
            <a:r>
              <a:rPr lang="zh-CN" altLang="en-US" sz="2200" b="1" i="1" kern="0" dirty="0">
                <a:solidFill>
                  <a:srgbClr val="000000"/>
                </a:solidFill>
                <a:latin typeface="幼圆" pitchFamily="49" charset="-122"/>
                <a:ea typeface="幼圆" pitchFamily="49" charset="-122"/>
                <a:cs typeface="Verdana" panose="020B0604030504040204" pitchFamily="34" charset="0"/>
                <a:sym typeface="Symbol"/>
              </a:rPr>
              <a:t></a:t>
            </a:r>
            <a:r>
              <a:rPr lang="en-US" altLang="zh-CN" sz="2200" b="1" i="1" kern="0" baseline="-25000" dirty="0">
                <a:solidFill>
                  <a:srgbClr val="000000"/>
                </a:solidFill>
                <a:latin typeface="幼圆" pitchFamily="49" charset="-122"/>
                <a:ea typeface="幼圆" pitchFamily="49" charset="-122"/>
                <a:cs typeface="Verdana" panose="020B0604030504040204" pitchFamily="34" charset="0"/>
                <a:sym typeface="Symbol"/>
              </a:rPr>
              <a:t>b </a:t>
            </a:r>
            <a:r>
              <a:rPr lang="zh-CN" altLang="en-US" sz="2200" b="1" kern="0" dirty="0">
                <a:solidFill>
                  <a:srgbClr val="000000"/>
                </a:solidFill>
                <a:latin typeface="幼圆" pitchFamily="49" charset="-122"/>
                <a:ea typeface="幼圆" pitchFamily="49" charset="-122"/>
                <a:cs typeface="Verdana" panose="020B0604030504040204" pitchFamily="34" charset="0"/>
              </a:rPr>
              <a:t>好，必然存在另一些问题，</a:t>
            </a:r>
            <a:r>
              <a:rPr lang="zh-CN" altLang="en-US" sz="2200" b="1" i="1" kern="0" dirty="0">
                <a:solidFill>
                  <a:srgbClr val="000000"/>
                </a:solidFill>
                <a:latin typeface="幼圆" pitchFamily="49" charset="-122"/>
                <a:ea typeface="幼圆" pitchFamily="49" charset="-122"/>
                <a:cs typeface="Verdana" panose="020B0604030504040204" pitchFamily="34" charset="0"/>
                <a:sym typeface="Symbol"/>
              </a:rPr>
              <a:t> </a:t>
            </a:r>
            <a:r>
              <a:rPr lang="en-US" altLang="zh-CN" sz="2200" b="1" i="1" kern="0" baseline="-25000" dirty="0">
                <a:solidFill>
                  <a:srgbClr val="000000"/>
                </a:solidFill>
                <a:latin typeface="幼圆" pitchFamily="49" charset="-122"/>
                <a:ea typeface="幼圆" pitchFamily="49" charset="-122"/>
                <a:cs typeface="Verdana" panose="020B0604030504040204" pitchFamily="34" charset="0"/>
                <a:sym typeface="Symbol"/>
              </a:rPr>
              <a:t>b</a:t>
            </a:r>
            <a:r>
              <a:rPr lang="en-US" altLang="zh-CN" sz="2200" b="1" kern="0" dirty="0">
                <a:solidFill>
                  <a:srgbClr val="000000"/>
                </a:solidFill>
                <a:latin typeface="幼圆" pitchFamily="49" charset="-122"/>
                <a:ea typeface="幼圆" pitchFamily="49" charset="-122"/>
                <a:cs typeface="Verdana" panose="020B0604030504040204" pitchFamily="34" charset="0"/>
              </a:rPr>
              <a:t> </a:t>
            </a:r>
            <a:r>
              <a:rPr lang="zh-CN" altLang="en-US" sz="2200" b="1" kern="0" dirty="0">
                <a:solidFill>
                  <a:srgbClr val="000000"/>
                </a:solidFill>
                <a:latin typeface="幼圆" pitchFamily="49" charset="-122"/>
                <a:ea typeface="幼圆" pitchFamily="49" charset="-122"/>
                <a:cs typeface="Verdana" panose="020B0604030504040204" pitchFamily="34" charset="0"/>
              </a:rPr>
              <a:t>比</a:t>
            </a:r>
            <a:r>
              <a:rPr lang="zh-CN" altLang="en-US" sz="2200" b="1" i="1" kern="0" dirty="0">
                <a:solidFill>
                  <a:srgbClr val="000000"/>
                </a:solidFill>
                <a:latin typeface="幼圆" pitchFamily="49" charset="-122"/>
                <a:ea typeface="幼圆" pitchFamily="49" charset="-122"/>
                <a:cs typeface="Verdana" panose="020B0604030504040204" pitchFamily="34" charset="0"/>
                <a:sym typeface="Symbol"/>
              </a:rPr>
              <a:t></a:t>
            </a:r>
            <a:r>
              <a:rPr lang="en-US" altLang="zh-CN" sz="2200" b="1" i="1" kern="0" baseline="-25000" dirty="0">
                <a:solidFill>
                  <a:srgbClr val="000000"/>
                </a:solidFill>
                <a:latin typeface="幼圆" pitchFamily="49" charset="-122"/>
                <a:ea typeface="幼圆" pitchFamily="49" charset="-122"/>
                <a:cs typeface="Verdana" panose="020B0604030504040204" pitchFamily="34" charset="0"/>
                <a:sym typeface="Symbol"/>
              </a:rPr>
              <a:t>a </a:t>
            </a:r>
            <a:r>
              <a:rPr lang="zh-CN" altLang="en-US" sz="2200" b="1" kern="0" dirty="0">
                <a:solidFill>
                  <a:srgbClr val="000000"/>
                </a:solidFill>
                <a:latin typeface="幼圆" pitchFamily="49" charset="-122"/>
                <a:ea typeface="幼圆" pitchFamily="49" charset="-122"/>
                <a:cs typeface="Verdana" panose="020B0604030504040204" pitchFamily="34" charset="0"/>
              </a:rPr>
              <a:t>好</a:t>
            </a:r>
            <a:r>
              <a:rPr lang="en-US" altLang="zh-CN" sz="2200" b="1" kern="0" dirty="0">
                <a:solidFill>
                  <a:srgbClr val="000000"/>
                </a:solidFill>
                <a:latin typeface="幼圆" pitchFamily="49" charset="-122"/>
                <a:ea typeface="幼圆" pitchFamily="49" charset="-122"/>
                <a:cs typeface="Verdana" panose="020B0604030504040204" pitchFamily="34" charset="0"/>
              </a:rPr>
              <a:t>,</a:t>
            </a:r>
            <a:r>
              <a:rPr lang="zh-CN" altLang="en-US" sz="2200" b="1" kern="0" dirty="0">
                <a:solidFill>
                  <a:srgbClr val="000000"/>
                </a:solidFill>
                <a:latin typeface="幼圆" pitchFamily="49" charset="-122"/>
                <a:ea typeface="幼圆" pitchFamily="49" charset="-122"/>
                <a:cs typeface="Verdana" panose="020B0604030504040204" pitchFamily="34" charset="0"/>
              </a:rPr>
              <a:t>也即没有免费的午餐定理。</a:t>
            </a:r>
          </a:p>
        </p:txBody>
      </p:sp>
      <p:grpSp>
        <p:nvGrpSpPr>
          <p:cNvPr id="4" name="组合 3"/>
          <p:cNvGrpSpPr/>
          <p:nvPr/>
        </p:nvGrpSpPr>
        <p:grpSpPr>
          <a:xfrm>
            <a:off x="313220" y="3572414"/>
            <a:ext cx="8616950" cy="3046260"/>
            <a:chOff x="465620" y="3335815"/>
            <a:chExt cx="8616950" cy="3046260"/>
          </a:xfrm>
        </p:grpSpPr>
        <p:sp>
          <p:nvSpPr>
            <p:cNvPr id="20" name="内容占位符 2"/>
            <p:cNvSpPr txBox="1">
              <a:spLocks/>
            </p:cNvSpPr>
            <p:nvPr/>
          </p:nvSpPr>
          <p:spPr>
            <a:xfrm>
              <a:off x="465620" y="3335815"/>
              <a:ext cx="8616950" cy="3046260"/>
            </a:xfrm>
            <a:prstGeom prst="rect">
              <a:avLst/>
            </a:prstGeom>
          </p:spPr>
          <p:txBody>
            <a:bodyPr vert="horz" lIns="91440" tIns="46800" rIns="91440" bIns="45720" rtlCol="0">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fontAlgn="base">
                <a:spcBef>
                  <a:spcPct val="20000"/>
                </a:spcBef>
                <a:spcAft>
                  <a:spcPct val="0"/>
                </a:spcAft>
                <a:buClr>
                  <a:srgbClr val="339933"/>
                </a:buClr>
                <a:buSzPct val="65000"/>
              </a:pPr>
              <a:r>
                <a:rPr lang="zh-CN" altLang="en-US" sz="2000" kern="0" dirty="0">
                  <a:solidFill>
                    <a:srgbClr val="000000"/>
                  </a:solidFill>
                  <a:latin typeface="幼圆" pitchFamily="49" charset="-122"/>
                  <a:ea typeface="幼圆" pitchFamily="49" charset="-122"/>
                  <a:cs typeface="Verdana" panose="020B0604030504040204" pitchFamily="34" charset="0"/>
                </a:rPr>
                <a:t>简单起见，假设样本空间 </a:t>
              </a:r>
              <a:r>
                <a:rPr lang="zh-CN" altLang="en-US" sz="2000" kern="0" dirty="0">
                  <a:solidFill>
                    <a:srgbClr val="000000"/>
                  </a:solidFill>
                  <a:latin typeface="幼圆" pitchFamily="49" charset="-122"/>
                  <a:ea typeface="幼圆" pitchFamily="49" charset="-122"/>
                  <a:cs typeface="Verdana" panose="020B0604030504040204" pitchFamily="34" charset="0"/>
                  <a:sym typeface="Symbol"/>
                </a:rPr>
                <a:t></a:t>
              </a:r>
              <a:r>
                <a:rPr lang="zh-CN" altLang="en-US" sz="2000" kern="0" dirty="0">
                  <a:solidFill>
                    <a:srgbClr val="000000"/>
                  </a:solidFill>
                  <a:latin typeface="幼圆" pitchFamily="49" charset="-122"/>
                  <a:ea typeface="幼圆" pitchFamily="49" charset="-122"/>
                  <a:cs typeface="Verdana" panose="020B0604030504040204" pitchFamily="34" charset="0"/>
                </a:rPr>
                <a:t>  和假设空间 </a:t>
              </a:r>
              <a:r>
                <a:rPr lang="zh-CN" altLang="en-US" sz="2000" i="1" kern="0" dirty="0">
                  <a:solidFill>
                    <a:srgbClr val="000000"/>
                  </a:solidFill>
                  <a:latin typeface="幼圆" pitchFamily="49" charset="-122"/>
                  <a:ea typeface="幼圆" pitchFamily="49" charset="-122"/>
                  <a:cs typeface="Verdana" panose="020B0604030504040204" pitchFamily="34" charset="0"/>
                  <a:sym typeface="Symbol"/>
                </a:rPr>
                <a:t></a:t>
              </a:r>
              <a:r>
                <a:rPr lang="zh-CN" altLang="en-US" sz="2000" kern="0" dirty="0">
                  <a:solidFill>
                    <a:srgbClr val="000000"/>
                  </a:solidFill>
                  <a:latin typeface="幼圆" pitchFamily="49" charset="-122"/>
                  <a:ea typeface="幼圆" pitchFamily="49" charset="-122"/>
                  <a:cs typeface="Verdana" panose="020B0604030504040204" pitchFamily="34" charset="0"/>
                </a:rPr>
                <a:t> 离散</a:t>
              </a:r>
              <a:r>
                <a:rPr lang="en-US" altLang="zh-CN" sz="2000" kern="0" dirty="0">
                  <a:solidFill>
                    <a:srgbClr val="000000"/>
                  </a:solidFill>
                  <a:latin typeface="幼圆" pitchFamily="49" charset="-122"/>
                  <a:ea typeface="幼圆" pitchFamily="49" charset="-122"/>
                  <a:cs typeface="Verdana" panose="020B0604030504040204" pitchFamily="34" charset="0"/>
                </a:rPr>
                <a:t>,</a:t>
              </a:r>
              <a:r>
                <a:rPr lang="zh-CN" altLang="en-US" sz="2000" kern="0" dirty="0">
                  <a:solidFill>
                    <a:srgbClr val="000000"/>
                  </a:solidFill>
                  <a:latin typeface="幼圆" pitchFamily="49" charset="-122"/>
                  <a:ea typeface="幼圆" pitchFamily="49" charset="-122"/>
                  <a:cs typeface="Verdana" panose="020B0604030504040204" pitchFamily="34" charset="0"/>
                </a:rPr>
                <a:t>令</a:t>
              </a:r>
              <a:r>
                <a:rPr lang="en-US" altLang="zh-CN" sz="2000" i="1" kern="0" dirty="0">
                  <a:solidFill>
                    <a:srgbClr val="000000"/>
                  </a:solidFill>
                  <a:latin typeface="幼圆" pitchFamily="49" charset="-122"/>
                  <a:ea typeface="幼圆" pitchFamily="49" charset="-122"/>
                  <a:cs typeface="Verdana" panose="020B0604030504040204" pitchFamily="34" charset="0"/>
                </a:rPr>
                <a:t>P</a:t>
              </a:r>
              <a:r>
                <a:rPr lang="en-US" altLang="zh-CN" sz="2000" kern="0" dirty="0">
                  <a:solidFill>
                    <a:srgbClr val="000000"/>
                  </a:solidFill>
                  <a:latin typeface="幼圆" pitchFamily="49" charset="-122"/>
                  <a:ea typeface="幼圆" pitchFamily="49" charset="-122"/>
                  <a:cs typeface="Verdana" panose="020B0604030504040204" pitchFamily="34" charset="0"/>
                </a:rPr>
                <a:t>(</a:t>
              </a:r>
              <a:r>
                <a:rPr lang="en-US" altLang="zh-CN" sz="2000" i="1" kern="0" dirty="0" err="1">
                  <a:solidFill>
                    <a:srgbClr val="000000"/>
                  </a:solidFill>
                  <a:latin typeface="幼圆" pitchFamily="49" charset="-122"/>
                  <a:ea typeface="幼圆" pitchFamily="49" charset="-122"/>
                  <a:cs typeface="Verdana" panose="020B0604030504040204" pitchFamily="34" charset="0"/>
                </a:rPr>
                <a:t>h</a:t>
              </a:r>
              <a:r>
                <a:rPr lang="en-US" altLang="zh-CN" sz="2000" kern="0" dirty="0" err="1">
                  <a:solidFill>
                    <a:srgbClr val="000000"/>
                  </a:solidFill>
                  <a:latin typeface="幼圆" pitchFamily="49" charset="-122"/>
                  <a:ea typeface="幼圆" pitchFamily="49" charset="-122"/>
                  <a:cs typeface="Verdana" panose="020B0604030504040204" pitchFamily="34" charset="0"/>
                </a:rPr>
                <a:t>|</a:t>
              </a:r>
              <a:r>
                <a:rPr lang="en-US" altLang="zh-CN" sz="2000" i="1" kern="0" dirty="0" err="1">
                  <a:solidFill>
                    <a:srgbClr val="000000"/>
                  </a:solidFill>
                  <a:latin typeface="幼圆" pitchFamily="49" charset="-122"/>
                  <a:ea typeface="幼圆" pitchFamily="49" charset="-122"/>
                  <a:cs typeface="Verdana" panose="020B0604030504040204" pitchFamily="34" charset="0"/>
                </a:rPr>
                <a:t>X,L</a:t>
              </a:r>
              <a:r>
                <a:rPr lang="en-US" altLang="zh-CN" sz="2000" i="1" kern="0" baseline="-25000" dirty="0" err="1">
                  <a:solidFill>
                    <a:srgbClr val="000000"/>
                  </a:solidFill>
                  <a:latin typeface="幼圆" pitchFamily="49" charset="-122"/>
                  <a:ea typeface="幼圆" pitchFamily="49" charset="-122"/>
                  <a:cs typeface="Verdana" panose="020B0604030504040204" pitchFamily="34" charset="0"/>
                </a:rPr>
                <a:t>a</a:t>
              </a:r>
              <a:r>
                <a:rPr lang="en-US" altLang="zh-CN" sz="2000" kern="0" dirty="0">
                  <a:solidFill>
                    <a:srgbClr val="000000"/>
                  </a:solidFill>
                  <a:latin typeface="幼圆" pitchFamily="49" charset="-122"/>
                  <a:ea typeface="幼圆" pitchFamily="49" charset="-122"/>
                  <a:cs typeface="Verdana" panose="020B0604030504040204" pitchFamily="34" charset="0"/>
                </a:rPr>
                <a:t>)</a:t>
              </a:r>
              <a:r>
                <a:rPr lang="zh-CN" altLang="en-US" sz="2000" kern="0" dirty="0">
                  <a:solidFill>
                    <a:srgbClr val="000000"/>
                  </a:solidFill>
                  <a:latin typeface="幼圆" pitchFamily="49" charset="-122"/>
                  <a:ea typeface="幼圆" pitchFamily="49" charset="-122"/>
                  <a:cs typeface="Verdana" panose="020B0604030504040204" pitchFamily="34" charset="0"/>
                </a:rPr>
                <a:t>代表算法</a:t>
              </a:r>
              <a:r>
                <a:rPr lang="en-US" altLang="zh-CN" sz="2000" b="1" i="1" kern="0" dirty="0">
                  <a:solidFill>
                    <a:srgbClr val="0000FF"/>
                  </a:solidFill>
                  <a:latin typeface="幼圆" pitchFamily="49" charset="-122"/>
                  <a:ea typeface="幼圆" pitchFamily="49" charset="-122"/>
                  <a:cs typeface="Verdana" panose="020B0604030504040204" pitchFamily="34" charset="0"/>
                </a:rPr>
                <a:t>L</a:t>
              </a:r>
              <a:r>
                <a:rPr lang="en-US" altLang="zh-CN" sz="2000" b="1" i="1" kern="0" baseline="-25000" dirty="0">
                  <a:solidFill>
                    <a:srgbClr val="0000FF"/>
                  </a:solidFill>
                  <a:latin typeface="幼圆" pitchFamily="49" charset="-122"/>
                  <a:ea typeface="幼圆" pitchFamily="49" charset="-122"/>
                  <a:cs typeface="Verdana" panose="020B0604030504040204" pitchFamily="34" charset="0"/>
                </a:rPr>
                <a:t>a</a:t>
              </a:r>
              <a:r>
                <a:rPr lang="en-US" altLang="zh-CN" sz="2000" i="1" kern="0" baseline="-25000" dirty="0">
                  <a:solidFill>
                    <a:srgbClr val="000000"/>
                  </a:solidFill>
                  <a:latin typeface="幼圆" pitchFamily="49" charset="-122"/>
                  <a:ea typeface="幼圆" pitchFamily="49" charset="-122"/>
                  <a:cs typeface="Verdana" panose="020B0604030504040204" pitchFamily="34" charset="0"/>
                </a:rPr>
                <a:t> </a:t>
              </a:r>
              <a:r>
                <a:rPr lang="zh-CN" altLang="en-US" sz="2000" kern="0" dirty="0">
                  <a:solidFill>
                    <a:srgbClr val="000000"/>
                  </a:solidFill>
                  <a:latin typeface="幼圆" pitchFamily="49" charset="-122"/>
                  <a:ea typeface="幼圆" pitchFamily="49" charset="-122"/>
                  <a:cs typeface="Verdana" panose="020B0604030504040204" pitchFamily="34" charset="0"/>
                </a:rPr>
                <a:t>基于训练数据</a:t>
              </a:r>
              <a:r>
                <a:rPr lang="en-US" altLang="zh-CN" sz="2000" i="1" kern="0" dirty="0">
                  <a:solidFill>
                    <a:srgbClr val="000000"/>
                  </a:solidFill>
                  <a:latin typeface="幼圆" pitchFamily="49" charset="-122"/>
                  <a:ea typeface="幼圆" pitchFamily="49" charset="-122"/>
                  <a:cs typeface="Verdana" panose="020B0604030504040204" pitchFamily="34" charset="0"/>
                </a:rPr>
                <a:t>X </a:t>
              </a:r>
              <a:r>
                <a:rPr lang="zh-CN" altLang="en-US" sz="2000" kern="0" dirty="0">
                  <a:solidFill>
                    <a:srgbClr val="000000"/>
                  </a:solidFill>
                  <a:latin typeface="幼圆" pitchFamily="49" charset="-122"/>
                  <a:ea typeface="幼圆" pitchFamily="49" charset="-122"/>
                  <a:cs typeface="Verdana" panose="020B0604030504040204" pitchFamily="34" charset="0"/>
                </a:rPr>
                <a:t>产生假设</a:t>
              </a:r>
              <a:r>
                <a:rPr lang="en-US" altLang="zh-CN" sz="2000" i="1" kern="0" dirty="0">
                  <a:solidFill>
                    <a:srgbClr val="000000"/>
                  </a:solidFill>
                  <a:latin typeface="幼圆" pitchFamily="49" charset="-122"/>
                  <a:ea typeface="幼圆" pitchFamily="49" charset="-122"/>
                  <a:cs typeface="Verdana" panose="020B0604030504040204" pitchFamily="34" charset="0"/>
                </a:rPr>
                <a:t>h </a:t>
              </a:r>
              <a:r>
                <a:rPr lang="zh-CN" altLang="en-US" sz="2000" kern="0" dirty="0">
                  <a:solidFill>
                    <a:srgbClr val="000000"/>
                  </a:solidFill>
                  <a:latin typeface="幼圆" pitchFamily="49" charset="-122"/>
                  <a:ea typeface="幼圆" pitchFamily="49" charset="-122"/>
                  <a:cs typeface="Verdana" panose="020B0604030504040204" pitchFamily="34" charset="0"/>
                </a:rPr>
                <a:t>的概率，在令</a:t>
              </a:r>
              <a:r>
                <a:rPr lang="en-US" altLang="zh-CN" sz="2000" i="1" kern="0" dirty="0">
                  <a:solidFill>
                    <a:srgbClr val="000000"/>
                  </a:solidFill>
                  <a:latin typeface="幼圆" pitchFamily="49" charset="-122"/>
                  <a:ea typeface="幼圆" pitchFamily="49" charset="-122"/>
                  <a:cs typeface="Verdana" panose="020B0604030504040204" pitchFamily="34" charset="0"/>
                </a:rPr>
                <a:t>f</a:t>
              </a:r>
              <a:r>
                <a:rPr lang="zh-CN" altLang="en-US" sz="2000" kern="0" dirty="0">
                  <a:solidFill>
                    <a:srgbClr val="000000"/>
                  </a:solidFill>
                  <a:latin typeface="幼圆" pitchFamily="49" charset="-122"/>
                  <a:ea typeface="幼圆" pitchFamily="49" charset="-122"/>
                  <a:cs typeface="Verdana" panose="020B0604030504040204" pitchFamily="34" charset="0"/>
                </a:rPr>
                <a:t>代表要学的目标函数，在训练</a:t>
              </a:r>
              <a:r>
                <a:rPr lang="zh-CN" altLang="en-US" sz="2000" kern="0" dirty="0">
                  <a:solidFill>
                    <a:srgbClr val="0000FF"/>
                  </a:solidFill>
                  <a:latin typeface="幼圆" pitchFamily="49" charset="-122"/>
                  <a:ea typeface="幼圆" pitchFamily="49" charset="-122"/>
                  <a:cs typeface="Verdana" panose="020B0604030504040204" pitchFamily="34" charset="0"/>
                </a:rPr>
                <a:t>集</a:t>
              </a:r>
              <a:r>
                <a:rPr lang="en-US" altLang="zh-CN" sz="2000" i="1" kern="0" dirty="0">
                  <a:solidFill>
                    <a:srgbClr val="000000"/>
                  </a:solidFill>
                  <a:latin typeface="幼圆" pitchFamily="49" charset="-122"/>
                  <a:ea typeface="幼圆" pitchFamily="49" charset="-122"/>
                  <a:cs typeface="Verdana" panose="020B0604030504040204" pitchFamily="34" charset="0"/>
                </a:rPr>
                <a:t>X</a:t>
              </a:r>
              <a:r>
                <a:rPr lang="zh-CN" altLang="en-US" sz="2000" kern="0" dirty="0">
                  <a:solidFill>
                    <a:srgbClr val="0000FF"/>
                  </a:solidFill>
                  <a:latin typeface="幼圆" pitchFamily="49" charset="-122"/>
                  <a:ea typeface="幼圆" pitchFamily="49" charset="-122"/>
                  <a:cs typeface="Verdana" panose="020B0604030504040204" pitchFamily="34" charset="0"/>
                </a:rPr>
                <a:t>之外</a:t>
              </a:r>
              <a:r>
                <a:rPr lang="zh-CN" altLang="en-US" sz="2000" kern="0" dirty="0">
                  <a:solidFill>
                    <a:srgbClr val="000000"/>
                  </a:solidFill>
                  <a:latin typeface="幼圆" pitchFamily="49" charset="-122"/>
                  <a:ea typeface="幼圆" pitchFamily="49" charset="-122"/>
                  <a:cs typeface="Verdana" panose="020B0604030504040204" pitchFamily="34" charset="0"/>
                </a:rPr>
                <a:t>所有样本上的总误差为</a:t>
              </a:r>
              <a:endParaRPr lang="en-US" altLang="zh-CN" sz="2000" kern="0" dirty="0">
                <a:solidFill>
                  <a:srgbClr val="000000"/>
                </a:solidFill>
                <a:latin typeface="幼圆" pitchFamily="49" charset="-122"/>
                <a:ea typeface="幼圆" pitchFamily="49" charset="-122"/>
                <a:cs typeface="Verdana" panose="020B0604030504040204" pitchFamily="34" charset="0"/>
              </a:endParaRPr>
            </a:p>
            <a:p>
              <a:pPr fontAlgn="base">
                <a:spcBef>
                  <a:spcPct val="20000"/>
                </a:spcBef>
                <a:spcAft>
                  <a:spcPct val="0"/>
                </a:spcAft>
                <a:buClr>
                  <a:srgbClr val="339933"/>
                </a:buClr>
                <a:buSzPct val="65000"/>
              </a:pPr>
              <a:endParaRPr lang="en-US" altLang="zh-CN" sz="2000" kern="0" dirty="0">
                <a:solidFill>
                  <a:srgbClr val="000000"/>
                </a:solidFill>
                <a:latin typeface="幼圆" pitchFamily="49" charset="-122"/>
                <a:ea typeface="幼圆" pitchFamily="49" charset="-122"/>
                <a:cs typeface="Verdana" panose="020B0604030504040204" pitchFamily="34" charset="0"/>
              </a:endParaRPr>
            </a:p>
            <a:p>
              <a:pPr fontAlgn="base">
                <a:spcBef>
                  <a:spcPct val="20000"/>
                </a:spcBef>
                <a:spcAft>
                  <a:spcPct val="0"/>
                </a:spcAft>
                <a:buClr>
                  <a:srgbClr val="339933"/>
                </a:buClr>
                <a:buSzPct val="65000"/>
              </a:pPr>
              <a:endParaRPr lang="en-US" altLang="zh-CN" sz="2000" kern="0" dirty="0">
                <a:solidFill>
                  <a:srgbClr val="000000"/>
                </a:solidFill>
                <a:latin typeface="幼圆" pitchFamily="49" charset="-122"/>
                <a:ea typeface="幼圆" pitchFamily="49" charset="-122"/>
                <a:cs typeface="Verdana" panose="020B0604030504040204" pitchFamily="34" charset="0"/>
              </a:endParaRPr>
            </a:p>
            <a:p>
              <a:pPr fontAlgn="base">
                <a:spcBef>
                  <a:spcPct val="20000"/>
                </a:spcBef>
                <a:spcAft>
                  <a:spcPct val="0"/>
                </a:spcAft>
                <a:buClr>
                  <a:srgbClr val="339933"/>
                </a:buClr>
                <a:buSzPct val="65000"/>
              </a:pPr>
              <a:endParaRPr lang="en-US" altLang="zh-CN" sz="2000" kern="0" dirty="0">
                <a:solidFill>
                  <a:srgbClr val="000000"/>
                </a:solidFill>
                <a:latin typeface="幼圆" pitchFamily="49" charset="-122"/>
                <a:ea typeface="幼圆" pitchFamily="49" charset="-122"/>
                <a:cs typeface="Verdana" panose="020B0604030504040204" pitchFamily="34" charset="0"/>
              </a:endParaRPr>
            </a:p>
            <a:p>
              <a:pPr fontAlgn="base">
                <a:spcBef>
                  <a:spcPct val="20000"/>
                </a:spcBef>
                <a:spcAft>
                  <a:spcPct val="0"/>
                </a:spcAft>
                <a:buClr>
                  <a:srgbClr val="339933"/>
                </a:buClr>
                <a:buSzPct val="65000"/>
              </a:pPr>
              <a:r>
                <a:rPr lang="en-US" altLang="zh-CN" sz="2000" kern="0" dirty="0">
                  <a:solidFill>
                    <a:srgbClr val="000000"/>
                  </a:solidFill>
                  <a:latin typeface="幼圆" pitchFamily="49" charset="-122"/>
                  <a:ea typeface="幼圆" pitchFamily="49" charset="-122"/>
                  <a:cs typeface="Verdana" panose="020B0604030504040204" pitchFamily="34" charset="0"/>
                </a:rPr>
                <a:t>                Ⅱ(·)</a:t>
              </a:r>
              <a:r>
                <a:rPr lang="zh-CN" altLang="en-US" sz="2000" kern="0" dirty="0">
                  <a:solidFill>
                    <a:srgbClr val="000000"/>
                  </a:solidFill>
                  <a:latin typeface="幼圆" pitchFamily="49" charset="-122"/>
                  <a:ea typeface="幼圆" pitchFamily="49" charset="-122"/>
                  <a:cs typeface="Verdana" panose="020B0604030504040204" pitchFamily="34" charset="0"/>
                </a:rPr>
                <a:t>为指示函数，若</a:t>
              </a:r>
              <a:r>
                <a:rPr lang="en-US" altLang="zh-CN" sz="2000" kern="0" dirty="0">
                  <a:solidFill>
                    <a:srgbClr val="000000"/>
                  </a:solidFill>
                  <a:latin typeface="幼圆" pitchFamily="49" charset="-122"/>
                  <a:ea typeface="幼圆" pitchFamily="49" charset="-122"/>
                  <a:cs typeface="Verdana" panose="020B0604030504040204" pitchFamily="34" charset="0"/>
                </a:rPr>
                <a:t>·</a:t>
              </a:r>
              <a:r>
                <a:rPr lang="zh-CN" altLang="en-US" sz="2000" kern="0" dirty="0">
                  <a:solidFill>
                    <a:srgbClr val="000000"/>
                  </a:solidFill>
                  <a:latin typeface="幼圆" pitchFamily="49" charset="-122"/>
                  <a:ea typeface="幼圆" pitchFamily="49" charset="-122"/>
                  <a:cs typeface="Verdana" panose="020B0604030504040204" pitchFamily="34" charset="0"/>
                </a:rPr>
                <a:t>为真取值</a:t>
              </a:r>
              <a:r>
                <a:rPr lang="en-US" altLang="zh-CN" sz="2000" kern="0" dirty="0">
                  <a:solidFill>
                    <a:srgbClr val="000000"/>
                  </a:solidFill>
                  <a:latin typeface="幼圆" pitchFamily="49" charset="-122"/>
                  <a:ea typeface="幼圆" pitchFamily="49" charset="-122"/>
                  <a:cs typeface="Verdana" panose="020B0604030504040204" pitchFamily="34" charset="0"/>
                </a:rPr>
                <a:t>1</a:t>
              </a:r>
              <a:r>
                <a:rPr lang="zh-CN" altLang="en-US" sz="2000" kern="0" dirty="0">
                  <a:solidFill>
                    <a:srgbClr val="000000"/>
                  </a:solidFill>
                  <a:latin typeface="幼圆" pitchFamily="49" charset="-122"/>
                  <a:ea typeface="幼圆" pitchFamily="49" charset="-122"/>
                  <a:cs typeface="Verdana" panose="020B0604030504040204" pitchFamily="34" charset="0"/>
                </a:rPr>
                <a:t>，否则取值</a:t>
              </a:r>
              <a:r>
                <a:rPr lang="en-US" altLang="zh-CN" sz="2000" kern="0" dirty="0">
                  <a:solidFill>
                    <a:srgbClr val="000000"/>
                  </a:solidFill>
                  <a:latin typeface="幼圆" pitchFamily="49" charset="-122"/>
                  <a:ea typeface="幼圆" pitchFamily="49" charset="-122"/>
                  <a:cs typeface="Verdana" panose="020B0604030504040204" pitchFamily="34" charset="0"/>
                </a:rPr>
                <a:t>0</a:t>
              </a:r>
              <a:endParaRPr lang="zh-CN" altLang="en-US" sz="2000" kern="0" dirty="0">
                <a:solidFill>
                  <a:srgbClr val="000000"/>
                </a:solidFill>
                <a:latin typeface="幼圆" pitchFamily="49" charset="-122"/>
                <a:ea typeface="幼圆" pitchFamily="49" charset="-122"/>
                <a:cs typeface="Verdana" panose="020B0604030504040204" pitchFamily="34" charset="0"/>
              </a:endParaRPr>
            </a:p>
          </p:txBody>
        </p:sp>
        <p:pic>
          <p:nvPicPr>
            <p:cNvPr id="5127" name="Picture 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350" y="4513597"/>
              <a:ext cx="6897221" cy="5955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Tree>
    <p:extLst>
      <p:ext uri="{BB962C8B-B14F-4D97-AF65-F5344CB8AC3E}">
        <p14:creationId xmlns:p14="http://schemas.microsoft.com/office/powerpoint/2010/main" val="36271855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b="1" dirty="0" err="1"/>
              <a:t>NoFreeLunch</a:t>
            </a:r>
            <a:endParaRPr lang="zh-CN" altLang="en-US" b="1" dirty="0"/>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6023" y="2134244"/>
            <a:ext cx="5515307" cy="26819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8" name="Rectangle 3"/>
          <p:cNvSpPr txBox="1">
            <a:spLocks noChangeArrowheads="1"/>
          </p:cNvSpPr>
          <p:nvPr/>
        </p:nvSpPr>
        <p:spPr bwMode="auto">
          <a:xfrm>
            <a:off x="707548" y="1311965"/>
            <a:ext cx="7382904" cy="12821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fontAlgn="base">
              <a:spcBef>
                <a:spcPct val="20000"/>
              </a:spcBef>
              <a:spcAft>
                <a:spcPct val="0"/>
              </a:spcAft>
              <a:buClr>
                <a:schemeClr val="accent1"/>
              </a:buClr>
              <a:buSzPct val="65000"/>
              <a:buFont typeface="Wingdings" pitchFamily="2" charset="2"/>
              <a:buChar char="n"/>
              <a:defRPr sz="3000">
                <a:solidFill>
                  <a:schemeClr val="tx1"/>
                </a:solidFill>
                <a:latin typeface="+mn-lt"/>
                <a:ea typeface="+mn-ea"/>
                <a:cs typeface="+mn-cs"/>
              </a:defRPr>
            </a:lvl1pPr>
            <a:lvl2pPr marL="669925" indent="-325438" algn="l" rtl="0" fontAlgn="base">
              <a:spcBef>
                <a:spcPct val="20000"/>
              </a:spcBef>
              <a:spcAft>
                <a:spcPct val="0"/>
              </a:spcAft>
              <a:buClr>
                <a:schemeClr val="accent2"/>
              </a:buClr>
              <a:buSzPct val="60000"/>
              <a:buFont typeface="Wingdings" pitchFamily="2" charset="2"/>
              <a:buChar char="q"/>
              <a:defRPr sz="2600">
                <a:solidFill>
                  <a:schemeClr val="tx1"/>
                </a:solidFill>
                <a:latin typeface="+mn-lt"/>
                <a:ea typeface="+mn-ea"/>
              </a:defRPr>
            </a:lvl2pPr>
            <a:lvl3pPr marL="1022350" indent="-350838" algn="l" rtl="0" fontAlgn="base">
              <a:spcBef>
                <a:spcPct val="20000"/>
              </a:spcBef>
              <a:spcAft>
                <a:spcPct val="0"/>
              </a:spcAft>
              <a:buClr>
                <a:schemeClr val="accent1"/>
              </a:buClr>
              <a:buSzPct val="65000"/>
              <a:buFont typeface="Wingdings" pitchFamily="2" charset="2"/>
              <a:buChar char="n"/>
              <a:defRPr sz="2200">
                <a:solidFill>
                  <a:schemeClr val="tx1"/>
                </a:solidFill>
                <a:latin typeface="+mn-lt"/>
                <a:ea typeface="+mn-ea"/>
              </a:defRPr>
            </a:lvl3pPr>
            <a:lvl4pPr marL="1339850" indent="-315913" algn="l" rtl="0" fontAlgn="base">
              <a:spcBef>
                <a:spcPct val="20000"/>
              </a:spcBef>
              <a:spcAft>
                <a:spcPct val="0"/>
              </a:spcAft>
              <a:buClr>
                <a:schemeClr val="accent2"/>
              </a:buClr>
              <a:buSzPct val="70000"/>
              <a:buFont typeface="Wingdings" pitchFamily="2" charset="2"/>
              <a:buChar char="q"/>
              <a:defRPr sz="2000">
                <a:solidFill>
                  <a:schemeClr val="tx1"/>
                </a:solidFill>
                <a:latin typeface="+mn-lt"/>
                <a:ea typeface="+mn-ea"/>
              </a:defRPr>
            </a:lvl4pPr>
            <a:lvl5pPr marL="1681163" indent="-339725" algn="l" rtl="0" fontAlgn="base">
              <a:spcBef>
                <a:spcPct val="20000"/>
              </a:spcBef>
              <a:spcAft>
                <a:spcPct val="0"/>
              </a:spcAft>
              <a:buClr>
                <a:schemeClr val="accent1"/>
              </a:buClr>
              <a:buSzPct val="75000"/>
              <a:buFont typeface="Wingdings" pitchFamily="2" charset="2"/>
              <a:buChar char="§"/>
              <a:defRPr sz="2000">
                <a:solidFill>
                  <a:schemeClr val="tx1"/>
                </a:solidFill>
                <a:latin typeface="+mn-lt"/>
                <a:ea typeface="+mn-ea"/>
              </a:defRPr>
            </a:lvl5pPr>
            <a:lvl6pPr marL="2138363" indent="-339725" algn="l" rtl="0" fontAlgn="base">
              <a:spcBef>
                <a:spcPct val="20000"/>
              </a:spcBef>
              <a:spcAft>
                <a:spcPct val="0"/>
              </a:spcAft>
              <a:buClr>
                <a:schemeClr val="accent1"/>
              </a:buClr>
              <a:buSzPct val="75000"/>
              <a:buFont typeface="Wingdings" pitchFamily="2" charset="2"/>
              <a:buChar char="§"/>
              <a:defRPr sz="2000">
                <a:solidFill>
                  <a:schemeClr val="tx1"/>
                </a:solidFill>
                <a:latin typeface="+mn-lt"/>
                <a:ea typeface="+mn-ea"/>
              </a:defRPr>
            </a:lvl6pPr>
            <a:lvl7pPr marL="2595563" indent="-339725" algn="l" rtl="0" fontAlgn="base">
              <a:spcBef>
                <a:spcPct val="20000"/>
              </a:spcBef>
              <a:spcAft>
                <a:spcPct val="0"/>
              </a:spcAft>
              <a:buClr>
                <a:schemeClr val="accent1"/>
              </a:buClr>
              <a:buSzPct val="75000"/>
              <a:buFont typeface="Wingdings" pitchFamily="2" charset="2"/>
              <a:buChar char="§"/>
              <a:defRPr sz="2000">
                <a:solidFill>
                  <a:schemeClr val="tx1"/>
                </a:solidFill>
                <a:latin typeface="+mn-lt"/>
                <a:ea typeface="+mn-ea"/>
              </a:defRPr>
            </a:lvl7pPr>
            <a:lvl8pPr marL="3052763" indent="-339725" algn="l" rtl="0" fontAlgn="base">
              <a:spcBef>
                <a:spcPct val="20000"/>
              </a:spcBef>
              <a:spcAft>
                <a:spcPct val="0"/>
              </a:spcAft>
              <a:buClr>
                <a:schemeClr val="accent1"/>
              </a:buClr>
              <a:buSzPct val="75000"/>
              <a:buFont typeface="Wingdings" pitchFamily="2" charset="2"/>
              <a:buChar char="§"/>
              <a:defRPr sz="2000">
                <a:solidFill>
                  <a:schemeClr val="tx1"/>
                </a:solidFill>
                <a:latin typeface="+mn-lt"/>
                <a:ea typeface="+mn-ea"/>
              </a:defRPr>
            </a:lvl8pPr>
            <a:lvl9pPr marL="3509963" indent="-339725" algn="l" rtl="0" fontAlgn="base">
              <a:spcBef>
                <a:spcPct val="20000"/>
              </a:spcBef>
              <a:spcAft>
                <a:spcPct val="0"/>
              </a:spcAft>
              <a:buClr>
                <a:schemeClr val="accent1"/>
              </a:buClr>
              <a:buSzPct val="75000"/>
              <a:buFont typeface="Wingdings" pitchFamily="2" charset="2"/>
              <a:buChar char="§"/>
              <a:defRPr sz="2000">
                <a:solidFill>
                  <a:schemeClr val="tx1"/>
                </a:solidFill>
                <a:latin typeface="+mn-lt"/>
                <a:ea typeface="+mn-ea"/>
              </a:defRPr>
            </a:lvl9pPr>
          </a:lstStyle>
          <a:p>
            <a:pPr marL="0" indent="0">
              <a:buClr>
                <a:srgbClr val="339933"/>
              </a:buClr>
              <a:buFont typeface="Wingdings" pitchFamily="2" charset="2"/>
              <a:buNone/>
            </a:pPr>
            <a:r>
              <a:rPr lang="zh-CN" altLang="en-US" sz="2000" b="1" kern="0" dirty="0">
                <a:solidFill>
                  <a:srgbClr val="000000"/>
                </a:solidFill>
                <a:latin typeface="幼圆" pitchFamily="49" charset="-122"/>
                <a:ea typeface="幼圆" pitchFamily="49" charset="-122"/>
                <a:cs typeface="Verdana" panose="020B0604030504040204" pitchFamily="34" charset="0"/>
              </a:rPr>
              <a:t>考虑二分类问题，目标函数可以为任何函数         ，函数空间为        ，对所有可能目标</a:t>
            </a:r>
            <a:r>
              <a:rPr lang="en-US" altLang="zh-CN" sz="2000" b="1" kern="0" dirty="0">
                <a:solidFill>
                  <a:srgbClr val="000000"/>
                </a:solidFill>
                <a:latin typeface="幼圆" pitchFamily="49" charset="-122"/>
                <a:ea typeface="幼圆" pitchFamily="49" charset="-122"/>
                <a:cs typeface="Verdana" panose="020B0604030504040204" pitchFamily="34" charset="0"/>
              </a:rPr>
              <a:t>f</a:t>
            </a:r>
            <a:r>
              <a:rPr lang="zh-CN" altLang="en-US" sz="2000" b="1" kern="0" dirty="0">
                <a:solidFill>
                  <a:srgbClr val="000000"/>
                </a:solidFill>
                <a:latin typeface="幼圆" pitchFamily="49" charset="-122"/>
                <a:ea typeface="幼圆" pitchFamily="49" charset="-122"/>
                <a:cs typeface="Verdana" panose="020B0604030504040204" pitchFamily="34" charset="0"/>
              </a:rPr>
              <a:t>按均匀分布对误差求和</a:t>
            </a:r>
            <a:r>
              <a:rPr lang="en-US" altLang="zh-CN" sz="2000" b="1" kern="0" dirty="0">
                <a:solidFill>
                  <a:srgbClr val="000000"/>
                </a:solidFill>
                <a:latin typeface="幼圆" pitchFamily="49" charset="-122"/>
                <a:ea typeface="幼圆" pitchFamily="49" charset="-122"/>
                <a:cs typeface="Verdana" panose="020B0604030504040204" pitchFamily="34" charset="0"/>
              </a:rPr>
              <a:t>,</a:t>
            </a:r>
            <a:r>
              <a:rPr lang="zh-CN" altLang="en-US" sz="2000" b="1" kern="0" dirty="0">
                <a:solidFill>
                  <a:srgbClr val="000000"/>
                </a:solidFill>
                <a:latin typeface="幼圆" pitchFamily="49" charset="-122"/>
                <a:ea typeface="幼圆" pitchFamily="49" charset="-122"/>
                <a:cs typeface="Verdana" panose="020B0604030504040204" pitchFamily="34" charset="0"/>
              </a:rPr>
              <a:t>有：</a:t>
            </a:r>
            <a:endParaRPr lang="en-US" altLang="zh-CN" sz="2000" b="1" kern="0" dirty="0">
              <a:solidFill>
                <a:srgbClr val="000000"/>
              </a:solidFill>
              <a:latin typeface="幼圆" pitchFamily="49" charset="-122"/>
              <a:ea typeface="幼圆" pitchFamily="49" charset="-122"/>
              <a:cs typeface="Verdana" panose="020B0604030504040204" pitchFamily="34" charset="0"/>
            </a:endParaRPr>
          </a:p>
        </p:txBody>
      </p:sp>
      <p:sp>
        <p:nvSpPr>
          <p:cNvPr id="19" name="Rectangle 3"/>
          <p:cNvSpPr txBox="1">
            <a:spLocks noChangeArrowheads="1"/>
          </p:cNvSpPr>
          <p:nvPr/>
        </p:nvSpPr>
        <p:spPr bwMode="auto">
          <a:xfrm>
            <a:off x="4632031" y="4337341"/>
            <a:ext cx="2812376" cy="39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fontAlgn="base">
              <a:spcBef>
                <a:spcPct val="20000"/>
              </a:spcBef>
              <a:spcAft>
                <a:spcPct val="0"/>
              </a:spcAft>
              <a:buClr>
                <a:schemeClr val="accent1"/>
              </a:buClr>
              <a:buSzPct val="65000"/>
              <a:buFont typeface="Wingdings" pitchFamily="2" charset="2"/>
              <a:buChar char="n"/>
              <a:defRPr sz="3000">
                <a:solidFill>
                  <a:schemeClr val="tx1"/>
                </a:solidFill>
                <a:latin typeface="+mn-lt"/>
                <a:ea typeface="+mn-ea"/>
                <a:cs typeface="+mn-cs"/>
              </a:defRPr>
            </a:lvl1pPr>
            <a:lvl2pPr marL="669925" indent="-325438" algn="l" rtl="0" fontAlgn="base">
              <a:spcBef>
                <a:spcPct val="20000"/>
              </a:spcBef>
              <a:spcAft>
                <a:spcPct val="0"/>
              </a:spcAft>
              <a:buClr>
                <a:schemeClr val="accent2"/>
              </a:buClr>
              <a:buSzPct val="60000"/>
              <a:buFont typeface="Wingdings" pitchFamily="2" charset="2"/>
              <a:buChar char="q"/>
              <a:defRPr sz="2600">
                <a:solidFill>
                  <a:schemeClr val="tx1"/>
                </a:solidFill>
                <a:latin typeface="+mn-lt"/>
                <a:ea typeface="+mn-ea"/>
              </a:defRPr>
            </a:lvl2pPr>
            <a:lvl3pPr marL="1022350" indent="-350838" algn="l" rtl="0" fontAlgn="base">
              <a:spcBef>
                <a:spcPct val="20000"/>
              </a:spcBef>
              <a:spcAft>
                <a:spcPct val="0"/>
              </a:spcAft>
              <a:buClr>
                <a:schemeClr val="accent1"/>
              </a:buClr>
              <a:buSzPct val="65000"/>
              <a:buFont typeface="Wingdings" pitchFamily="2" charset="2"/>
              <a:buChar char="n"/>
              <a:defRPr sz="2200">
                <a:solidFill>
                  <a:schemeClr val="tx1"/>
                </a:solidFill>
                <a:latin typeface="+mn-lt"/>
                <a:ea typeface="+mn-ea"/>
              </a:defRPr>
            </a:lvl3pPr>
            <a:lvl4pPr marL="1339850" indent="-315913" algn="l" rtl="0" fontAlgn="base">
              <a:spcBef>
                <a:spcPct val="20000"/>
              </a:spcBef>
              <a:spcAft>
                <a:spcPct val="0"/>
              </a:spcAft>
              <a:buClr>
                <a:schemeClr val="accent2"/>
              </a:buClr>
              <a:buSzPct val="70000"/>
              <a:buFont typeface="Wingdings" pitchFamily="2" charset="2"/>
              <a:buChar char="q"/>
              <a:defRPr sz="2000">
                <a:solidFill>
                  <a:schemeClr val="tx1"/>
                </a:solidFill>
                <a:latin typeface="+mn-lt"/>
                <a:ea typeface="+mn-ea"/>
              </a:defRPr>
            </a:lvl4pPr>
            <a:lvl5pPr marL="1681163" indent="-339725" algn="l" rtl="0" fontAlgn="base">
              <a:spcBef>
                <a:spcPct val="20000"/>
              </a:spcBef>
              <a:spcAft>
                <a:spcPct val="0"/>
              </a:spcAft>
              <a:buClr>
                <a:schemeClr val="accent1"/>
              </a:buClr>
              <a:buSzPct val="75000"/>
              <a:buFont typeface="Wingdings" pitchFamily="2" charset="2"/>
              <a:buChar char="§"/>
              <a:defRPr sz="2000">
                <a:solidFill>
                  <a:schemeClr val="tx1"/>
                </a:solidFill>
                <a:latin typeface="+mn-lt"/>
                <a:ea typeface="+mn-ea"/>
              </a:defRPr>
            </a:lvl5pPr>
            <a:lvl6pPr marL="2138363" indent="-339725" algn="l" rtl="0" fontAlgn="base">
              <a:spcBef>
                <a:spcPct val="20000"/>
              </a:spcBef>
              <a:spcAft>
                <a:spcPct val="0"/>
              </a:spcAft>
              <a:buClr>
                <a:schemeClr val="accent1"/>
              </a:buClr>
              <a:buSzPct val="75000"/>
              <a:buFont typeface="Wingdings" pitchFamily="2" charset="2"/>
              <a:buChar char="§"/>
              <a:defRPr sz="2000">
                <a:solidFill>
                  <a:schemeClr val="tx1"/>
                </a:solidFill>
                <a:latin typeface="+mn-lt"/>
                <a:ea typeface="+mn-ea"/>
              </a:defRPr>
            </a:lvl6pPr>
            <a:lvl7pPr marL="2595563" indent="-339725" algn="l" rtl="0" fontAlgn="base">
              <a:spcBef>
                <a:spcPct val="20000"/>
              </a:spcBef>
              <a:spcAft>
                <a:spcPct val="0"/>
              </a:spcAft>
              <a:buClr>
                <a:schemeClr val="accent1"/>
              </a:buClr>
              <a:buSzPct val="75000"/>
              <a:buFont typeface="Wingdings" pitchFamily="2" charset="2"/>
              <a:buChar char="§"/>
              <a:defRPr sz="2000">
                <a:solidFill>
                  <a:schemeClr val="tx1"/>
                </a:solidFill>
                <a:latin typeface="+mn-lt"/>
                <a:ea typeface="+mn-ea"/>
              </a:defRPr>
            </a:lvl7pPr>
            <a:lvl8pPr marL="3052763" indent="-339725" algn="l" rtl="0" fontAlgn="base">
              <a:spcBef>
                <a:spcPct val="20000"/>
              </a:spcBef>
              <a:spcAft>
                <a:spcPct val="0"/>
              </a:spcAft>
              <a:buClr>
                <a:schemeClr val="accent1"/>
              </a:buClr>
              <a:buSzPct val="75000"/>
              <a:buFont typeface="Wingdings" pitchFamily="2" charset="2"/>
              <a:buChar char="§"/>
              <a:defRPr sz="2000">
                <a:solidFill>
                  <a:schemeClr val="tx1"/>
                </a:solidFill>
                <a:latin typeface="+mn-lt"/>
                <a:ea typeface="+mn-ea"/>
              </a:defRPr>
            </a:lvl8pPr>
            <a:lvl9pPr marL="3509963" indent="-339725" algn="l" rtl="0" fontAlgn="base">
              <a:spcBef>
                <a:spcPct val="20000"/>
              </a:spcBef>
              <a:spcAft>
                <a:spcPct val="0"/>
              </a:spcAft>
              <a:buClr>
                <a:schemeClr val="accent1"/>
              </a:buClr>
              <a:buSzPct val="75000"/>
              <a:buFont typeface="Wingdings" pitchFamily="2" charset="2"/>
              <a:buChar char="§"/>
              <a:defRPr sz="2000">
                <a:solidFill>
                  <a:schemeClr val="tx1"/>
                </a:solidFill>
                <a:latin typeface="+mn-lt"/>
                <a:ea typeface="+mn-ea"/>
              </a:defRPr>
            </a:lvl9pPr>
          </a:lstStyle>
          <a:p>
            <a:pPr marL="0" indent="0">
              <a:buClr>
                <a:srgbClr val="339933"/>
              </a:buClr>
              <a:buFont typeface="Wingdings" pitchFamily="2" charset="2"/>
              <a:buNone/>
            </a:pPr>
            <a:r>
              <a:rPr lang="zh-CN" altLang="en-US" sz="1800" b="1" kern="0" dirty="0">
                <a:solidFill>
                  <a:srgbClr val="FF0000"/>
                </a:solidFill>
                <a:latin typeface="幼圆" pitchFamily="49" charset="-122"/>
                <a:ea typeface="幼圆" pitchFamily="49" charset="-122"/>
                <a:cs typeface="Verdana" panose="020B0604030504040204" pitchFamily="34" charset="0"/>
              </a:rPr>
              <a:t>总误差与学习算法无关！</a:t>
            </a:r>
            <a:endParaRPr lang="en-US" altLang="zh-CN" sz="1800" b="1" kern="0" dirty="0">
              <a:solidFill>
                <a:srgbClr val="FF0000"/>
              </a:solidFill>
              <a:latin typeface="幼圆" pitchFamily="49" charset="-122"/>
              <a:ea typeface="幼圆" pitchFamily="49" charset="-122"/>
              <a:cs typeface="Verdana" panose="020B0604030504040204" pitchFamily="34" charset="0"/>
            </a:endParaRPr>
          </a:p>
        </p:txBody>
      </p:sp>
      <p:pic>
        <p:nvPicPr>
          <p:cNvPr id="6146"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60793" y="1429165"/>
            <a:ext cx="1038182" cy="2283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47" name="Picture 3"/>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335782" y="1650141"/>
            <a:ext cx="832252" cy="3029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 name="图片 2"/>
          <p:cNvPicPr>
            <a:picLocks noChangeAspect="1"/>
          </p:cNvPicPr>
          <p:nvPr/>
        </p:nvPicPr>
        <p:blipFill>
          <a:blip r:embed="rId5"/>
          <a:stretch>
            <a:fillRect/>
          </a:stretch>
        </p:blipFill>
        <p:spPr>
          <a:xfrm>
            <a:off x="0" y="5220906"/>
            <a:ext cx="9144000" cy="1359935"/>
          </a:xfrm>
          <a:prstGeom prst="rect">
            <a:avLst/>
          </a:prstGeom>
        </p:spPr>
      </p:pic>
      <p:sp>
        <p:nvSpPr>
          <p:cNvPr id="4" name="矩形 3"/>
          <p:cNvSpPr/>
          <p:nvPr/>
        </p:nvSpPr>
        <p:spPr>
          <a:xfrm>
            <a:off x="0" y="5085184"/>
            <a:ext cx="9144000" cy="158417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9035917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122"/>
                                        </p:tgtEl>
                                        <p:attrNameLst>
                                          <p:attrName>style.visibility</p:attrName>
                                        </p:attrNameLst>
                                      </p:cBhvr>
                                      <p:to>
                                        <p:strVal val="visible"/>
                                      </p:to>
                                    </p:set>
                                    <p:animEffect transition="in" filter="fade">
                                      <p:cBhvr>
                                        <p:cTn id="7" dur="1000"/>
                                        <p:tgtEl>
                                          <p:spTgt spid="5122"/>
                                        </p:tgtEl>
                                      </p:cBhvr>
                                    </p:animEffect>
                                    <p:anim calcmode="lin" valueType="num">
                                      <p:cBhvr>
                                        <p:cTn id="8" dur="1000" fill="hold"/>
                                        <p:tgtEl>
                                          <p:spTgt spid="5122"/>
                                        </p:tgtEl>
                                        <p:attrNameLst>
                                          <p:attrName>ppt_x</p:attrName>
                                        </p:attrNameLst>
                                      </p:cBhvr>
                                      <p:tavLst>
                                        <p:tav tm="0">
                                          <p:val>
                                            <p:strVal val="#ppt_x"/>
                                          </p:val>
                                        </p:tav>
                                        <p:tav tm="100000">
                                          <p:val>
                                            <p:strVal val="#ppt_x"/>
                                          </p:val>
                                        </p:tav>
                                      </p:tavLst>
                                    </p:anim>
                                    <p:anim calcmode="lin" valueType="num">
                                      <p:cBhvr>
                                        <p:cTn id="9" dur="1000" fill="hold"/>
                                        <p:tgtEl>
                                          <p:spTgt spid="512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1000"/>
                                        <p:tgtEl>
                                          <p:spTgt spid="19"/>
                                        </p:tgtEl>
                                      </p:cBhvr>
                                    </p:animEffect>
                                    <p:anim calcmode="lin" valueType="num">
                                      <p:cBhvr>
                                        <p:cTn id="15" dur="1000" fill="hold"/>
                                        <p:tgtEl>
                                          <p:spTgt spid="19"/>
                                        </p:tgtEl>
                                        <p:attrNameLst>
                                          <p:attrName>ppt_x</p:attrName>
                                        </p:attrNameLst>
                                      </p:cBhvr>
                                      <p:tavLst>
                                        <p:tav tm="0">
                                          <p:val>
                                            <p:strVal val="#ppt_x"/>
                                          </p:val>
                                        </p:tav>
                                        <p:tav tm="100000">
                                          <p:val>
                                            <p:strVal val="#ppt_x"/>
                                          </p:val>
                                        </p:tav>
                                      </p:tavLst>
                                    </p:anim>
                                    <p:anim calcmode="lin" valueType="num">
                                      <p:cBhvr>
                                        <p:cTn id="16"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b="1" dirty="0" err="1"/>
              <a:t>NoFreeLunch</a:t>
            </a:r>
            <a:endParaRPr lang="zh-CN" altLang="en-US" b="1" dirty="0"/>
          </a:p>
        </p:txBody>
      </p:sp>
      <mc:AlternateContent xmlns:mc="http://schemas.openxmlformats.org/markup-compatibility/2006" xmlns:a14="http://schemas.microsoft.com/office/drawing/2010/main">
        <mc:Choice Requires="a14">
          <p:sp>
            <p:nvSpPr>
              <p:cNvPr id="18" name="Rectangle 3"/>
              <p:cNvSpPr txBox="1">
                <a:spLocks noChangeArrowheads="1"/>
              </p:cNvSpPr>
              <p:nvPr/>
            </p:nvSpPr>
            <p:spPr bwMode="auto">
              <a:xfrm>
                <a:off x="457200" y="1417638"/>
                <a:ext cx="9108504" cy="3816424"/>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fontAlgn="base">
                  <a:spcBef>
                    <a:spcPct val="20000"/>
                  </a:spcBef>
                  <a:spcAft>
                    <a:spcPct val="0"/>
                  </a:spcAft>
                  <a:buClr>
                    <a:schemeClr val="accent1"/>
                  </a:buClr>
                  <a:buSzPct val="65000"/>
                  <a:buFont typeface="Wingdings" pitchFamily="2" charset="2"/>
                  <a:buChar char="n"/>
                  <a:defRPr sz="3000">
                    <a:solidFill>
                      <a:schemeClr val="tx1"/>
                    </a:solidFill>
                    <a:latin typeface="+mn-lt"/>
                    <a:ea typeface="+mn-ea"/>
                    <a:cs typeface="+mn-cs"/>
                  </a:defRPr>
                </a:lvl1pPr>
                <a:lvl2pPr marL="669925" indent="-325438" algn="l" rtl="0" fontAlgn="base">
                  <a:spcBef>
                    <a:spcPct val="20000"/>
                  </a:spcBef>
                  <a:spcAft>
                    <a:spcPct val="0"/>
                  </a:spcAft>
                  <a:buClr>
                    <a:schemeClr val="accent2"/>
                  </a:buClr>
                  <a:buSzPct val="60000"/>
                  <a:buFont typeface="Wingdings" pitchFamily="2" charset="2"/>
                  <a:buChar char="q"/>
                  <a:defRPr sz="2600">
                    <a:solidFill>
                      <a:schemeClr val="tx1"/>
                    </a:solidFill>
                    <a:latin typeface="+mn-lt"/>
                    <a:ea typeface="+mn-ea"/>
                  </a:defRPr>
                </a:lvl2pPr>
                <a:lvl3pPr marL="1022350" indent="-350838" algn="l" rtl="0" fontAlgn="base">
                  <a:spcBef>
                    <a:spcPct val="20000"/>
                  </a:spcBef>
                  <a:spcAft>
                    <a:spcPct val="0"/>
                  </a:spcAft>
                  <a:buClr>
                    <a:schemeClr val="accent1"/>
                  </a:buClr>
                  <a:buSzPct val="65000"/>
                  <a:buFont typeface="Wingdings" pitchFamily="2" charset="2"/>
                  <a:buChar char="n"/>
                  <a:defRPr sz="2200">
                    <a:solidFill>
                      <a:schemeClr val="tx1"/>
                    </a:solidFill>
                    <a:latin typeface="+mn-lt"/>
                    <a:ea typeface="+mn-ea"/>
                  </a:defRPr>
                </a:lvl3pPr>
                <a:lvl4pPr marL="1339850" indent="-315913" algn="l" rtl="0" fontAlgn="base">
                  <a:spcBef>
                    <a:spcPct val="20000"/>
                  </a:spcBef>
                  <a:spcAft>
                    <a:spcPct val="0"/>
                  </a:spcAft>
                  <a:buClr>
                    <a:schemeClr val="accent2"/>
                  </a:buClr>
                  <a:buSzPct val="70000"/>
                  <a:buFont typeface="Wingdings" pitchFamily="2" charset="2"/>
                  <a:buChar char="q"/>
                  <a:defRPr sz="2000">
                    <a:solidFill>
                      <a:schemeClr val="tx1"/>
                    </a:solidFill>
                    <a:latin typeface="+mn-lt"/>
                    <a:ea typeface="+mn-ea"/>
                  </a:defRPr>
                </a:lvl4pPr>
                <a:lvl5pPr marL="1681163" indent="-339725" algn="l" rtl="0" fontAlgn="base">
                  <a:spcBef>
                    <a:spcPct val="20000"/>
                  </a:spcBef>
                  <a:spcAft>
                    <a:spcPct val="0"/>
                  </a:spcAft>
                  <a:buClr>
                    <a:schemeClr val="accent1"/>
                  </a:buClr>
                  <a:buSzPct val="75000"/>
                  <a:buFont typeface="Wingdings" pitchFamily="2" charset="2"/>
                  <a:buChar char="§"/>
                  <a:defRPr sz="2000">
                    <a:solidFill>
                      <a:schemeClr val="tx1"/>
                    </a:solidFill>
                    <a:latin typeface="+mn-lt"/>
                    <a:ea typeface="+mn-ea"/>
                  </a:defRPr>
                </a:lvl5pPr>
                <a:lvl6pPr marL="2138363" indent="-339725" algn="l" rtl="0" fontAlgn="base">
                  <a:spcBef>
                    <a:spcPct val="20000"/>
                  </a:spcBef>
                  <a:spcAft>
                    <a:spcPct val="0"/>
                  </a:spcAft>
                  <a:buClr>
                    <a:schemeClr val="accent1"/>
                  </a:buClr>
                  <a:buSzPct val="75000"/>
                  <a:buFont typeface="Wingdings" pitchFamily="2" charset="2"/>
                  <a:buChar char="§"/>
                  <a:defRPr sz="2000">
                    <a:solidFill>
                      <a:schemeClr val="tx1"/>
                    </a:solidFill>
                    <a:latin typeface="+mn-lt"/>
                    <a:ea typeface="+mn-ea"/>
                  </a:defRPr>
                </a:lvl6pPr>
                <a:lvl7pPr marL="2595563" indent="-339725" algn="l" rtl="0" fontAlgn="base">
                  <a:spcBef>
                    <a:spcPct val="20000"/>
                  </a:spcBef>
                  <a:spcAft>
                    <a:spcPct val="0"/>
                  </a:spcAft>
                  <a:buClr>
                    <a:schemeClr val="accent1"/>
                  </a:buClr>
                  <a:buSzPct val="75000"/>
                  <a:buFont typeface="Wingdings" pitchFamily="2" charset="2"/>
                  <a:buChar char="§"/>
                  <a:defRPr sz="2000">
                    <a:solidFill>
                      <a:schemeClr val="tx1"/>
                    </a:solidFill>
                    <a:latin typeface="+mn-lt"/>
                    <a:ea typeface="+mn-ea"/>
                  </a:defRPr>
                </a:lvl7pPr>
                <a:lvl8pPr marL="3052763" indent="-339725" algn="l" rtl="0" fontAlgn="base">
                  <a:spcBef>
                    <a:spcPct val="20000"/>
                  </a:spcBef>
                  <a:spcAft>
                    <a:spcPct val="0"/>
                  </a:spcAft>
                  <a:buClr>
                    <a:schemeClr val="accent1"/>
                  </a:buClr>
                  <a:buSzPct val="75000"/>
                  <a:buFont typeface="Wingdings" pitchFamily="2" charset="2"/>
                  <a:buChar char="§"/>
                  <a:defRPr sz="2000">
                    <a:solidFill>
                      <a:schemeClr val="tx1"/>
                    </a:solidFill>
                    <a:latin typeface="+mn-lt"/>
                    <a:ea typeface="+mn-ea"/>
                  </a:defRPr>
                </a:lvl8pPr>
                <a:lvl9pPr marL="3509963" indent="-339725" algn="l" rtl="0" fontAlgn="base">
                  <a:spcBef>
                    <a:spcPct val="20000"/>
                  </a:spcBef>
                  <a:spcAft>
                    <a:spcPct val="0"/>
                  </a:spcAft>
                  <a:buClr>
                    <a:schemeClr val="accent1"/>
                  </a:buClr>
                  <a:buSzPct val="75000"/>
                  <a:buFont typeface="Wingdings" pitchFamily="2" charset="2"/>
                  <a:buChar char="§"/>
                  <a:defRPr sz="2000">
                    <a:solidFill>
                      <a:schemeClr val="tx1"/>
                    </a:solidFill>
                    <a:latin typeface="+mn-lt"/>
                    <a:ea typeface="+mn-ea"/>
                  </a:defRPr>
                </a:lvl9pPr>
              </a:lstStyle>
              <a:p>
                <a:pPr marL="457200" lvl="1" indent="0">
                  <a:buNone/>
                </a:pPr>
                <a:r>
                  <a:rPr lang="zh-CN" altLang="en-US" sz="2400" b="1" dirty="0">
                    <a:latin typeface="幼圆" panose="02010509060101010101" pitchFamily="49" charset="-122"/>
                    <a:ea typeface="幼圆" panose="02010509060101010101" pitchFamily="49" charset="-122"/>
                  </a:rPr>
                  <a:t>假设</a:t>
                </a:r>
                <a:r>
                  <a:rPr lang="en-US" altLang="zh-CN" sz="2400" b="1" dirty="0">
                    <a:latin typeface="幼圆" panose="02010509060101010101" pitchFamily="49" charset="-122"/>
                    <a:ea typeface="幼圆" panose="02010509060101010101" pitchFamily="49" charset="-122"/>
                  </a:rPr>
                  <a:t>1</a:t>
                </a:r>
                <a:r>
                  <a:rPr lang="zh-CN" altLang="en-US" sz="2400" b="1" dirty="0">
                    <a:latin typeface="幼圆" panose="02010509060101010101" pitchFamily="49" charset="-122"/>
                    <a:ea typeface="幼圆" panose="02010509060101010101" pitchFamily="49" charset="-122"/>
                  </a:rPr>
                  <a:t>：好瓜</a:t>
                </a:r>
                <a:r>
                  <a:rPr lang="en-US" altLang="zh-CN" sz="2400" b="1" dirty="0">
                    <a:latin typeface="幼圆" panose="02010509060101010101" pitchFamily="49" charset="-122"/>
                    <a:ea typeface="幼圆" panose="02010509060101010101" pitchFamily="49" charset="-122"/>
                  </a:rPr>
                  <a:t>←→(</a:t>
                </a:r>
                <a:r>
                  <a:rPr lang="zh-CN" altLang="en-US" sz="2400" b="1" dirty="0">
                    <a:latin typeface="幼圆" panose="02010509060101010101" pitchFamily="49" charset="-122"/>
                    <a:ea typeface="幼圆" panose="02010509060101010101" pitchFamily="49" charset="-122"/>
                  </a:rPr>
                  <a:t>色泽</a:t>
                </a:r>
                <a:r>
                  <a:rPr lang="en-US" altLang="zh-CN" sz="2400" b="1" dirty="0">
                    <a:latin typeface="幼圆" panose="02010509060101010101" pitchFamily="49" charset="-122"/>
                    <a:ea typeface="幼圆" panose="02010509060101010101" pitchFamily="49" charset="-122"/>
                  </a:rPr>
                  <a:t>=*</a:t>
                </a:r>
                <a:r>
                  <a:rPr lang="zh-CN" altLang="en-US" sz="2400" b="1" dirty="0">
                    <a:latin typeface="幼圆" panose="02010509060101010101" pitchFamily="49" charset="-122"/>
                    <a:ea typeface="幼圆" panose="02010509060101010101" pitchFamily="49" charset="-122"/>
                  </a:rPr>
                  <a:t>；</a:t>
                </a:r>
                <a14:m>
                  <m:oMath xmlns:m="http://schemas.openxmlformats.org/officeDocument/2006/math">
                    <m:r>
                      <m:rPr>
                        <m:nor/>
                      </m:rPr>
                      <a:rPr lang="zh-CN" altLang="en-US" sz="2400" b="1" dirty="0">
                        <a:latin typeface="幼圆" panose="02010509060101010101" pitchFamily="49" charset="-122"/>
                        <a:ea typeface="幼圆" panose="02010509060101010101" pitchFamily="49" charset="-122"/>
                      </a:rPr>
                      <m:t>根蒂</m:t>
                    </m:r>
                    <m:r>
                      <m:rPr>
                        <m:nor/>
                      </m:rPr>
                      <a:rPr lang="en-US" altLang="zh-CN" sz="2400" b="1" dirty="0">
                        <a:latin typeface="幼圆" panose="02010509060101010101" pitchFamily="49" charset="-122"/>
                        <a:ea typeface="幼圆" panose="02010509060101010101" pitchFamily="49" charset="-122"/>
                      </a:rPr>
                      <m:t>=</m:t>
                    </m:r>
                    <m:r>
                      <a:rPr lang="zh-CN" altLang="en-US" sz="2400" b="1" dirty="0">
                        <a:latin typeface="Cambria Math"/>
                      </a:rPr>
                      <m:t>蜷缩；</m:t>
                    </m:r>
                  </m:oMath>
                </a14:m>
                <a:r>
                  <a:rPr lang="zh-CN" altLang="en-US" sz="2400" b="1" dirty="0">
                    <a:latin typeface="幼圆" panose="02010509060101010101" pitchFamily="49" charset="-122"/>
                    <a:ea typeface="幼圆" panose="02010509060101010101" pitchFamily="49" charset="-122"/>
                  </a:rPr>
                  <a:t>敲声</a:t>
                </a:r>
                <a:r>
                  <a:rPr lang="en-US" altLang="zh-CN" sz="2400" b="1" dirty="0">
                    <a:latin typeface="幼圆" panose="02010509060101010101" pitchFamily="49" charset="-122"/>
                    <a:ea typeface="幼圆" panose="02010509060101010101" pitchFamily="49" charset="-122"/>
                  </a:rPr>
                  <a:t>=</a:t>
                </a:r>
                <a:r>
                  <a:rPr lang="zh-CN" altLang="en-US" sz="2400" b="1" dirty="0">
                    <a:latin typeface="幼圆" panose="02010509060101010101" pitchFamily="49" charset="-122"/>
                    <a:ea typeface="幼圆" panose="02010509060101010101" pitchFamily="49" charset="-122"/>
                  </a:rPr>
                  <a:t>浊响</a:t>
                </a:r>
                <a:r>
                  <a:rPr lang="en-US" altLang="zh-CN" sz="2400" b="1" dirty="0">
                    <a:latin typeface="幼圆" panose="02010509060101010101" pitchFamily="49" charset="-122"/>
                    <a:ea typeface="幼圆" panose="02010509060101010101" pitchFamily="49" charset="-122"/>
                  </a:rPr>
                  <a:t>)</a:t>
                </a:r>
              </a:p>
              <a:p>
                <a:pPr marL="457200" lvl="1" indent="0">
                  <a:buNone/>
                </a:pPr>
                <a:r>
                  <a:rPr lang="zh-CN" altLang="en-US" sz="2400" b="1" dirty="0">
                    <a:latin typeface="幼圆" panose="02010509060101010101" pitchFamily="49" charset="-122"/>
                    <a:ea typeface="幼圆" panose="02010509060101010101" pitchFamily="49" charset="-122"/>
                  </a:rPr>
                  <a:t>假设</a:t>
                </a:r>
                <a:r>
                  <a:rPr lang="en-US" altLang="zh-CN" sz="2400" b="1" dirty="0">
                    <a:latin typeface="幼圆" panose="02010509060101010101" pitchFamily="49" charset="-122"/>
                    <a:ea typeface="幼圆" panose="02010509060101010101" pitchFamily="49" charset="-122"/>
                  </a:rPr>
                  <a:t>2</a:t>
                </a:r>
                <a:r>
                  <a:rPr lang="zh-CN" altLang="en-US" sz="2400" b="1" dirty="0">
                    <a:latin typeface="幼圆" panose="02010509060101010101" pitchFamily="49" charset="-122"/>
                    <a:ea typeface="幼圆" panose="02010509060101010101" pitchFamily="49" charset="-122"/>
                  </a:rPr>
                  <a:t>：好瓜</a:t>
                </a:r>
                <a:r>
                  <a:rPr lang="en-US" altLang="zh-CN" sz="2400" b="1" dirty="0">
                    <a:latin typeface="幼圆" panose="02010509060101010101" pitchFamily="49" charset="-122"/>
                    <a:ea typeface="幼圆" panose="02010509060101010101" pitchFamily="49" charset="-122"/>
                  </a:rPr>
                  <a:t>←→(</a:t>
                </a:r>
                <a:r>
                  <a:rPr lang="zh-CN" altLang="en-US" sz="2400" b="1" dirty="0">
                    <a:latin typeface="幼圆" panose="02010509060101010101" pitchFamily="49" charset="-122"/>
                    <a:ea typeface="幼圆" panose="02010509060101010101" pitchFamily="49" charset="-122"/>
                  </a:rPr>
                  <a:t>色泽</a:t>
                </a:r>
                <a:r>
                  <a:rPr lang="en-US" altLang="zh-CN" sz="2400" b="1" dirty="0">
                    <a:latin typeface="幼圆" panose="02010509060101010101" pitchFamily="49" charset="-122"/>
                    <a:ea typeface="幼圆" panose="02010509060101010101" pitchFamily="49" charset="-122"/>
                  </a:rPr>
                  <a:t>=*</a:t>
                </a:r>
                <a:r>
                  <a:rPr lang="zh-CN" altLang="en-US" sz="2400" b="1" dirty="0">
                    <a:latin typeface="幼圆" panose="02010509060101010101" pitchFamily="49" charset="-122"/>
                    <a:ea typeface="幼圆" panose="02010509060101010101" pitchFamily="49" charset="-122"/>
                  </a:rPr>
                  <a:t>；</a:t>
                </a:r>
                <a14:m>
                  <m:oMath xmlns:m="http://schemas.openxmlformats.org/officeDocument/2006/math">
                    <m:r>
                      <m:rPr>
                        <m:nor/>
                      </m:rPr>
                      <a:rPr lang="zh-CN" altLang="en-US" sz="2400" b="1" dirty="0">
                        <a:latin typeface="幼圆" panose="02010509060101010101" pitchFamily="49" charset="-122"/>
                        <a:ea typeface="幼圆" panose="02010509060101010101" pitchFamily="49" charset="-122"/>
                      </a:rPr>
                      <m:t>根蒂</m:t>
                    </m:r>
                    <m:r>
                      <m:rPr>
                        <m:nor/>
                      </m:rPr>
                      <a:rPr lang="en-US" altLang="zh-CN" sz="2400" b="1" dirty="0">
                        <a:latin typeface="幼圆" panose="02010509060101010101" pitchFamily="49" charset="-122"/>
                        <a:ea typeface="幼圆" panose="02010509060101010101" pitchFamily="49" charset="-122"/>
                      </a:rPr>
                      <m:t>=</m:t>
                    </m:r>
                    <m:r>
                      <a:rPr lang="zh-CN" altLang="en-US" sz="2400" b="1" i="1" dirty="0">
                        <a:latin typeface="Cambria Math" panose="02040503050406030204" pitchFamily="18" charset="0"/>
                      </a:rPr>
                      <m:t>硬挺</m:t>
                    </m:r>
                    <m:r>
                      <a:rPr lang="zh-CN" altLang="en-US" sz="2400" b="1" dirty="0">
                        <a:latin typeface="Cambria Math"/>
                      </a:rPr>
                      <m:t>；</m:t>
                    </m:r>
                  </m:oMath>
                </a14:m>
                <a:r>
                  <a:rPr lang="zh-CN" altLang="en-US" sz="2400" b="1" dirty="0">
                    <a:latin typeface="幼圆" panose="02010509060101010101" pitchFamily="49" charset="-122"/>
                    <a:ea typeface="幼圆" panose="02010509060101010101" pitchFamily="49" charset="-122"/>
                  </a:rPr>
                  <a:t>敲声</a:t>
                </a:r>
                <a:r>
                  <a:rPr lang="en-US" altLang="zh-CN" sz="2400" b="1" dirty="0">
                    <a:latin typeface="幼圆" panose="02010509060101010101" pitchFamily="49" charset="-122"/>
                    <a:ea typeface="幼圆" panose="02010509060101010101" pitchFamily="49" charset="-122"/>
                  </a:rPr>
                  <a:t>=</a:t>
                </a:r>
                <a:r>
                  <a:rPr lang="zh-CN" altLang="en-US" sz="2400" b="1" dirty="0">
                    <a:latin typeface="幼圆" panose="02010509060101010101" pitchFamily="49" charset="-122"/>
                    <a:ea typeface="幼圆" panose="02010509060101010101" pitchFamily="49" charset="-122"/>
                  </a:rPr>
                  <a:t>清脆</a:t>
                </a:r>
                <a:r>
                  <a:rPr lang="en-US" altLang="zh-CN" sz="2400" b="1" dirty="0">
                    <a:latin typeface="幼圆" panose="02010509060101010101" pitchFamily="49" charset="-122"/>
                    <a:ea typeface="幼圆" panose="02010509060101010101" pitchFamily="49" charset="-122"/>
                  </a:rPr>
                  <a:t>)</a:t>
                </a:r>
              </a:p>
              <a:p>
                <a:pPr marL="457200" lvl="1" indent="0">
                  <a:buNone/>
                </a:pPr>
                <a:r>
                  <a:rPr lang="en-US" altLang="zh-CN" sz="2400" b="1" dirty="0">
                    <a:latin typeface="幼圆" panose="02010509060101010101" pitchFamily="49" charset="-122"/>
                    <a:ea typeface="幼圆" panose="02010509060101010101" pitchFamily="49" charset="-122"/>
                  </a:rPr>
                  <a:t>NFL</a:t>
                </a:r>
                <a:r>
                  <a:rPr lang="zh-CN" altLang="en-US" sz="2400" b="1" dirty="0">
                    <a:latin typeface="幼圆" panose="02010509060101010101" pitchFamily="49" charset="-122"/>
                    <a:ea typeface="幼圆" panose="02010509060101010101" pitchFamily="49" charset="-122"/>
                  </a:rPr>
                  <a:t>定理假设了</a:t>
                </a:r>
                <a:r>
                  <a:rPr lang="en-US" altLang="zh-CN" sz="2400" b="1" dirty="0">
                    <a:latin typeface="幼圆" panose="02010509060101010101" pitchFamily="49" charset="-122"/>
                    <a:ea typeface="幼圆" panose="02010509060101010101" pitchFamily="49" charset="-122"/>
                  </a:rPr>
                  <a:t>f</a:t>
                </a:r>
                <a:r>
                  <a:rPr lang="zh-CN" altLang="en-US" sz="2400" b="1" dirty="0">
                    <a:latin typeface="幼圆" panose="02010509060101010101" pitchFamily="49" charset="-122"/>
                    <a:ea typeface="幼圆" panose="02010509060101010101" pitchFamily="49" charset="-122"/>
                  </a:rPr>
                  <a:t>的均匀分布，认为两者同样好。</a:t>
                </a:r>
                <a:endParaRPr lang="en-US" altLang="zh-CN" sz="2400" b="1" dirty="0">
                  <a:latin typeface="幼圆" panose="02010509060101010101" pitchFamily="49" charset="-122"/>
                  <a:ea typeface="幼圆" panose="02010509060101010101" pitchFamily="49" charset="-122"/>
                </a:endParaRPr>
              </a:p>
              <a:p>
                <a:pPr marL="457200" lvl="1" indent="0">
                  <a:buNone/>
                </a:pPr>
                <a:endParaRPr lang="en-US" altLang="zh-CN" sz="2400" b="1" dirty="0">
                  <a:latin typeface="幼圆" panose="02010509060101010101" pitchFamily="49" charset="-122"/>
                  <a:ea typeface="幼圆" panose="02010509060101010101" pitchFamily="49" charset="-122"/>
                </a:endParaRPr>
              </a:p>
              <a:p>
                <a:pPr marL="457200" lvl="1" indent="0">
                  <a:buNone/>
                </a:pPr>
                <a:r>
                  <a:rPr lang="zh-CN" altLang="en-US" sz="2400" b="1" dirty="0">
                    <a:latin typeface="幼圆" panose="02010509060101010101" pitchFamily="49" charset="-122"/>
                    <a:ea typeface="幼圆" panose="02010509060101010101" pitchFamily="49" charset="-122"/>
                  </a:rPr>
                  <a:t>对于好瓜</a:t>
                </a:r>
                <a:r>
                  <a:rPr lang="en-US" altLang="zh-CN" sz="2400" b="1" dirty="0">
                    <a:latin typeface="幼圆" panose="02010509060101010101" pitchFamily="49" charset="-122"/>
                    <a:ea typeface="幼圆" panose="02010509060101010101" pitchFamily="49" charset="-122"/>
                  </a:rPr>
                  <a:t>(</a:t>
                </a:r>
                <a:r>
                  <a:rPr lang="zh-CN" altLang="en-US" sz="2400" b="1" dirty="0">
                    <a:latin typeface="幼圆" panose="02010509060101010101" pitchFamily="49" charset="-122"/>
                    <a:ea typeface="幼圆" panose="02010509060101010101" pitchFamily="49" charset="-122"/>
                  </a:rPr>
                  <a:t>色泽</a:t>
                </a:r>
                <a:r>
                  <a:rPr lang="en-US" altLang="zh-CN" sz="2400" b="1" dirty="0">
                    <a:latin typeface="幼圆" panose="02010509060101010101" pitchFamily="49" charset="-122"/>
                    <a:ea typeface="幼圆" panose="02010509060101010101" pitchFamily="49" charset="-122"/>
                  </a:rPr>
                  <a:t>=</a:t>
                </a:r>
                <a:r>
                  <a:rPr lang="zh-CN" altLang="en-US" sz="2400" b="1" dirty="0">
                    <a:latin typeface="幼圆" panose="02010509060101010101" pitchFamily="49" charset="-122"/>
                    <a:ea typeface="幼圆" panose="02010509060101010101" pitchFamily="49" charset="-122"/>
                  </a:rPr>
                  <a:t>青绿；</a:t>
                </a:r>
                <a14:m>
                  <m:oMath xmlns:m="http://schemas.openxmlformats.org/officeDocument/2006/math">
                    <m:r>
                      <m:rPr>
                        <m:nor/>
                      </m:rPr>
                      <a:rPr lang="zh-CN" altLang="en-US" sz="2400" b="1" dirty="0">
                        <a:latin typeface="幼圆" panose="02010509060101010101" pitchFamily="49" charset="-122"/>
                        <a:ea typeface="幼圆" panose="02010509060101010101" pitchFamily="49" charset="-122"/>
                      </a:rPr>
                      <m:t>根蒂</m:t>
                    </m:r>
                    <m:r>
                      <m:rPr>
                        <m:nor/>
                      </m:rPr>
                      <a:rPr lang="en-US" altLang="zh-CN" sz="2400" b="1" dirty="0">
                        <a:latin typeface="幼圆" panose="02010509060101010101" pitchFamily="49" charset="-122"/>
                        <a:ea typeface="幼圆" panose="02010509060101010101" pitchFamily="49" charset="-122"/>
                      </a:rPr>
                      <m:t>=</m:t>
                    </m:r>
                    <m:r>
                      <a:rPr lang="zh-CN" altLang="en-US" sz="2400" b="1" dirty="0">
                        <a:latin typeface="Cambria Math"/>
                      </a:rPr>
                      <m:t>蜷缩；</m:t>
                    </m:r>
                  </m:oMath>
                </a14:m>
                <a:r>
                  <a:rPr lang="zh-CN" altLang="en-US" sz="2400" b="1" dirty="0">
                    <a:latin typeface="幼圆" panose="02010509060101010101" pitchFamily="49" charset="-122"/>
                    <a:ea typeface="幼圆" panose="02010509060101010101" pitchFamily="49" charset="-122"/>
                  </a:rPr>
                  <a:t>敲声</a:t>
                </a:r>
                <a:r>
                  <a:rPr lang="en-US" altLang="zh-CN" sz="2400" b="1" dirty="0">
                    <a:latin typeface="幼圆" panose="02010509060101010101" pitchFamily="49" charset="-122"/>
                    <a:ea typeface="幼圆" panose="02010509060101010101" pitchFamily="49" charset="-122"/>
                  </a:rPr>
                  <a:t>=</a:t>
                </a:r>
                <a:r>
                  <a:rPr lang="zh-CN" altLang="en-US" sz="2400" b="1" dirty="0">
                    <a:latin typeface="幼圆" panose="02010509060101010101" pitchFamily="49" charset="-122"/>
                    <a:ea typeface="幼圆" panose="02010509060101010101" pitchFamily="49" charset="-122"/>
                  </a:rPr>
                  <a:t>浊响</a:t>
                </a:r>
                <a:r>
                  <a:rPr lang="en-US" altLang="zh-CN" sz="2400" b="1" dirty="0">
                    <a:latin typeface="幼圆" panose="02010509060101010101" pitchFamily="49" charset="-122"/>
                    <a:ea typeface="幼圆" panose="02010509060101010101" pitchFamily="49" charset="-122"/>
                  </a:rPr>
                  <a:t>)</a:t>
                </a:r>
                <a:r>
                  <a:rPr lang="zh-CN" altLang="en-US" sz="2400" b="1" dirty="0">
                    <a:latin typeface="幼圆" panose="02010509060101010101" pitchFamily="49" charset="-122"/>
                    <a:ea typeface="幼圆" panose="02010509060101010101" pitchFamily="49" charset="-122"/>
                  </a:rPr>
                  <a:t>，假设</a:t>
                </a:r>
                <a:r>
                  <a:rPr lang="en-US" altLang="zh-CN" sz="2400" b="1" dirty="0">
                    <a:latin typeface="幼圆" panose="02010509060101010101" pitchFamily="49" charset="-122"/>
                    <a:ea typeface="幼圆" panose="02010509060101010101" pitchFamily="49" charset="-122"/>
                  </a:rPr>
                  <a:t>1</a:t>
                </a:r>
                <a:r>
                  <a:rPr lang="zh-CN" altLang="en-US" sz="2400" b="1" dirty="0">
                    <a:latin typeface="幼圆" panose="02010509060101010101" pitchFamily="49" charset="-122"/>
                    <a:ea typeface="幼圆" panose="02010509060101010101" pitchFamily="49" charset="-122"/>
                  </a:rPr>
                  <a:t>好；</a:t>
                </a:r>
                <a:endParaRPr lang="en-US" altLang="zh-CN" sz="2400" b="1" dirty="0">
                  <a:latin typeface="幼圆" panose="02010509060101010101" pitchFamily="49" charset="-122"/>
                  <a:ea typeface="幼圆" panose="02010509060101010101" pitchFamily="49" charset="-122"/>
                </a:endParaRPr>
              </a:p>
              <a:p>
                <a:pPr marL="457200" lvl="1" indent="0">
                  <a:buNone/>
                </a:pPr>
                <a:endParaRPr lang="en-US" altLang="zh-CN" sz="2400" b="1" dirty="0">
                  <a:latin typeface="幼圆" panose="02010509060101010101" pitchFamily="49" charset="-122"/>
                  <a:ea typeface="幼圆" panose="02010509060101010101" pitchFamily="49" charset="-122"/>
                </a:endParaRPr>
              </a:p>
              <a:p>
                <a:pPr marL="457200" lvl="1" indent="0">
                  <a:buNone/>
                </a:pPr>
                <a:r>
                  <a:rPr lang="zh-CN" altLang="en-US" sz="2400" b="1" dirty="0">
                    <a:latin typeface="幼圆" panose="02010509060101010101" pitchFamily="49" charset="-122"/>
                    <a:ea typeface="幼圆" panose="02010509060101010101" pitchFamily="49" charset="-122"/>
                  </a:rPr>
                  <a:t>对于好瓜</a:t>
                </a:r>
                <a:r>
                  <a:rPr lang="en-US" altLang="zh-CN" sz="2400" b="1" dirty="0">
                    <a:latin typeface="幼圆" panose="02010509060101010101" pitchFamily="49" charset="-122"/>
                    <a:ea typeface="幼圆" panose="02010509060101010101" pitchFamily="49" charset="-122"/>
                  </a:rPr>
                  <a:t>(</a:t>
                </a:r>
                <a:r>
                  <a:rPr lang="zh-CN" altLang="en-US" sz="2400" b="1" dirty="0">
                    <a:latin typeface="幼圆" panose="02010509060101010101" pitchFamily="49" charset="-122"/>
                    <a:ea typeface="幼圆" panose="02010509060101010101" pitchFamily="49" charset="-122"/>
                  </a:rPr>
                  <a:t>色泽</a:t>
                </a:r>
                <a:r>
                  <a:rPr lang="en-US" altLang="zh-CN" sz="2400" b="1" dirty="0">
                    <a:latin typeface="幼圆" panose="02010509060101010101" pitchFamily="49" charset="-122"/>
                    <a:ea typeface="幼圆" panose="02010509060101010101" pitchFamily="49" charset="-122"/>
                  </a:rPr>
                  <a:t>=</a:t>
                </a:r>
                <a:r>
                  <a:rPr lang="zh-CN" altLang="en-US" sz="2400" b="1" dirty="0">
                    <a:latin typeface="幼圆" panose="02010509060101010101" pitchFamily="49" charset="-122"/>
                    <a:ea typeface="幼圆" panose="02010509060101010101" pitchFamily="49" charset="-122"/>
                  </a:rPr>
                  <a:t>乌黑；</a:t>
                </a:r>
                <a14:m>
                  <m:oMath xmlns:m="http://schemas.openxmlformats.org/officeDocument/2006/math">
                    <m:r>
                      <m:rPr>
                        <m:nor/>
                      </m:rPr>
                      <a:rPr lang="zh-CN" altLang="en-US" sz="2400" b="1" dirty="0">
                        <a:latin typeface="幼圆" panose="02010509060101010101" pitchFamily="49" charset="-122"/>
                        <a:ea typeface="幼圆" panose="02010509060101010101" pitchFamily="49" charset="-122"/>
                      </a:rPr>
                      <m:t>根蒂</m:t>
                    </m:r>
                    <m:r>
                      <m:rPr>
                        <m:nor/>
                      </m:rPr>
                      <a:rPr lang="en-US" altLang="zh-CN" sz="2400" b="1" dirty="0">
                        <a:latin typeface="幼圆" panose="02010509060101010101" pitchFamily="49" charset="-122"/>
                        <a:ea typeface="幼圆" panose="02010509060101010101" pitchFamily="49" charset="-122"/>
                      </a:rPr>
                      <m:t>=</m:t>
                    </m:r>
                    <m:r>
                      <a:rPr lang="zh-CN" altLang="en-US" sz="2400" b="1" i="1" dirty="0">
                        <a:latin typeface="Cambria Math" panose="02040503050406030204" pitchFamily="18" charset="0"/>
                        <a:ea typeface="幼圆" panose="02010509060101010101" pitchFamily="49" charset="-122"/>
                      </a:rPr>
                      <m:t>硬挺</m:t>
                    </m:r>
                    <m:r>
                      <a:rPr lang="zh-CN" altLang="en-US" sz="2400" b="1" dirty="0">
                        <a:latin typeface="Cambria Math"/>
                      </a:rPr>
                      <m:t>；</m:t>
                    </m:r>
                  </m:oMath>
                </a14:m>
                <a:r>
                  <a:rPr lang="zh-CN" altLang="en-US" sz="2400" b="1" dirty="0">
                    <a:latin typeface="幼圆" panose="02010509060101010101" pitchFamily="49" charset="-122"/>
                    <a:ea typeface="幼圆" panose="02010509060101010101" pitchFamily="49" charset="-122"/>
                  </a:rPr>
                  <a:t>敲声</a:t>
                </a:r>
                <a:r>
                  <a:rPr lang="en-US" altLang="zh-CN" sz="2400" b="1" dirty="0">
                    <a:latin typeface="幼圆" panose="02010509060101010101" pitchFamily="49" charset="-122"/>
                    <a:ea typeface="幼圆" panose="02010509060101010101" pitchFamily="49" charset="-122"/>
                  </a:rPr>
                  <a:t>=</a:t>
                </a:r>
                <a:r>
                  <a:rPr lang="zh-CN" altLang="en-US" sz="2400" b="1" dirty="0">
                    <a:latin typeface="幼圆" panose="02010509060101010101" pitchFamily="49" charset="-122"/>
                    <a:ea typeface="幼圆" panose="02010509060101010101" pitchFamily="49" charset="-122"/>
                  </a:rPr>
                  <a:t>清脆</a:t>
                </a:r>
                <a:r>
                  <a:rPr lang="en-US" altLang="zh-CN" sz="2400" b="1" dirty="0">
                    <a:latin typeface="幼圆" panose="02010509060101010101" pitchFamily="49" charset="-122"/>
                    <a:ea typeface="幼圆" panose="02010509060101010101" pitchFamily="49" charset="-122"/>
                  </a:rPr>
                  <a:t>)</a:t>
                </a:r>
                <a:r>
                  <a:rPr lang="zh-CN" altLang="en-US" sz="2400" b="1" dirty="0">
                    <a:latin typeface="幼圆" panose="02010509060101010101" pitchFamily="49" charset="-122"/>
                    <a:ea typeface="幼圆" panose="02010509060101010101" pitchFamily="49" charset="-122"/>
                  </a:rPr>
                  <a:t>，假设</a:t>
                </a:r>
                <a:r>
                  <a:rPr lang="en-US" altLang="zh-CN" sz="2400" b="1" dirty="0">
                    <a:latin typeface="幼圆" panose="02010509060101010101" pitchFamily="49" charset="-122"/>
                    <a:ea typeface="幼圆" panose="02010509060101010101" pitchFamily="49" charset="-122"/>
                  </a:rPr>
                  <a:t>2</a:t>
                </a:r>
                <a:r>
                  <a:rPr lang="zh-CN" altLang="en-US" sz="2400" b="1" dirty="0">
                    <a:latin typeface="幼圆" panose="02010509060101010101" pitchFamily="49" charset="-122"/>
                    <a:ea typeface="幼圆" panose="02010509060101010101" pitchFamily="49" charset="-122"/>
                  </a:rPr>
                  <a:t>好；</a:t>
                </a:r>
                <a:endParaRPr lang="en-US" altLang="zh-CN" sz="2400" b="1" dirty="0">
                  <a:latin typeface="幼圆" panose="02010509060101010101" pitchFamily="49" charset="-122"/>
                  <a:ea typeface="幼圆" panose="02010509060101010101" pitchFamily="49" charset="-122"/>
                </a:endParaRPr>
              </a:p>
              <a:p>
                <a:pPr marL="457200" lvl="1" indent="0">
                  <a:buNone/>
                </a:pPr>
                <a:r>
                  <a:rPr lang="zh-CN" altLang="en-US" sz="2400" b="1" dirty="0">
                    <a:latin typeface="幼圆" panose="02010509060101010101" pitchFamily="49" charset="-122"/>
                    <a:ea typeface="幼圆" panose="02010509060101010101" pitchFamily="49" charset="-122"/>
                  </a:rPr>
                  <a:t>但是，</a:t>
                </a:r>
                <a:r>
                  <a:rPr lang="en-US" altLang="zh-CN" sz="2400" b="1" dirty="0">
                    <a:latin typeface="幼圆" panose="02010509060101010101" pitchFamily="49" charset="-122"/>
                    <a:ea typeface="幼圆" panose="02010509060101010101" pitchFamily="49" charset="-122"/>
                  </a:rPr>
                  <a:t> (</a:t>
                </a:r>
                <a14:m>
                  <m:oMath xmlns:m="http://schemas.openxmlformats.org/officeDocument/2006/math">
                    <m:r>
                      <m:rPr>
                        <m:nor/>
                      </m:rPr>
                      <a:rPr lang="zh-CN" altLang="en-US" sz="2400" b="1" dirty="0">
                        <a:latin typeface="幼圆" panose="02010509060101010101" pitchFamily="49" charset="-122"/>
                        <a:ea typeface="幼圆" panose="02010509060101010101" pitchFamily="49" charset="-122"/>
                      </a:rPr>
                      <m:t>根蒂</m:t>
                    </m:r>
                    <m:r>
                      <m:rPr>
                        <m:nor/>
                      </m:rPr>
                      <a:rPr lang="en-US" altLang="zh-CN" sz="2400" b="1" dirty="0">
                        <a:latin typeface="幼圆" panose="02010509060101010101" pitchFamily="49" charset="-122"/>
                        <a:ea typeface="幼圆" panose="02010509060101010101" pitchFamily="49" charset="-122"/>
                      </a:rPr>
                      <m:t>=</m:t>
                    </m:r>
                    <m:r>
                      <a:rPr lang="zh-CN" altLang="en-US" sz="2400" b="1" dirty="0">
                        <a:latin typeface="Cambria Math"/>
                      </a:rPr>
                      <m:t>蜷缩；</m:t>
                    </m:r>
                  </m:oMath>
                </a14:m>
                <a:r>
                  <a:rPr lang="zh-CN" altLang="en-US" sz="2400" b="1" dirty="0">
                    <a:latin typeface="幼圆" panose="02010509060101010101" pitchFamily="49" charset="-122"/>
                    <a:ea typeface="幼圆" panose="02010509060101010101" pitchFamily="49" charset="-122"/>
                  </a:rPr>
                  <a:t>敲声</a:t>
                </a:r>
                <a:r>
                  <a:rPr lang="en-US" altLang="zh-CN" sz="2400" b="1" dirty="0">
                    <a:latin typeface="幼圆" panose="02010509060101010101" pitchFamily="49" charset="-122"/>
                    <a:ea typeface="幼圆" panose="02010509060101010101" pitchFamily="49" charset="-122"/>
                  </a:rPr>
                  <a:t>=</a:t>
                </a:r>
                <a:r>
                  <a:rPr lang="zh-CN" altLang="en-US" sz="2400" b="1" dirty="0">
                    <a:latin typeface="幼圆" panose="02010509060101010101" pitchFamily="49" charset="-122"/>
                    <a:ea typeface="幼圆" panose="02010509060101010101" pitchFamily="49" charset="-122"/>
                  </a:rPr>
                  <a:t>浊响</a:t>
                </a:r>
                <a:r>
                  <a:rPr lang="en-US" altLang="zh-CN" sz="2400" b="1" dirty="0">
                    <a:latin typeface="幼圆" panose="02010509060101010101" pitchFamily="49" charset="-122"/>
                    <a:ea typeface="幼圆" panose="02010509060101010101" pitchFamily="49" charset="-122"/>
                  </a:rPr>
                  <a:t>)</a:t>
                </a:r>
                <a:r>
                  <a:rPr lang="zh-CN" altLang="en-US" sz="2400" b="1" dirty="0">
                    <a:latin typeface="幼圆" panose="02010509060101010101" pitchFamily="49" charset="-122"/>
                    <a:ea typeface="幼圆" panose="02010509060101010101" pitchFamily="49" charset="-122"/>
                  </a:rPr>
                  <a:t>的好瓜很常见，而</a:t>
                </a:r>
                <a14:m>
                  <m:oMath xmlns:m="http://schemas.openxmlformats.org/officeDocument/2006/math">
                    <m:r>
                      <a:rPr lang="en-US" altLang="zh-CN" sz="2400" b="1" i="0" dirty="0" smtClean="0">
                        <a:latin typeface="Cambria Math" panose="02040503050406030204" pitchFamily="18" charset="0"/>
                        <a:ea typeface="幼圆" panose="02010509060101010101" pitchFamily="49" charset="-122"/>
                      </a:rPr>
                      <m:t>(</m:t>
                    </m:r>
                    <m:r>
                      <m:rPr>
                        <m:nor/>
                      </m:rPr>
                      <a:rPr lang="zh-CN" altLang="en-US" sz="2400" b="1" dirty="0">
                        <a:latin typeface="幼圆" panose="02010509060101010101" pitchFamily="49" charset="-122"/>
                        <a:ea typeface="幼圆" panose="02010509060101010101" pitchFamily="49" charset="-122"/>
                      </a:rPr>
                      <m:t>根蒂</m:t>
                    </m:r>
                    <m:r>
                      <m:rPr>
                        <m:nor/>
                      </m:rPr>
                      <a:rPr lang="en-US" altLang="zh-CN" sz="2400" b="1" dirty="0">
                        <a:latin typeface="幼圆" panose="02010509060101010101" pitchFamily="49" charset="-122"/>
                        <a:ea typeface="幼圆" panose="02010509060101010101" pitchFamily="49" charset="-122"/>
                      </a:rPr>
                      <m:t>=</m:t>
                    </m:r>
                    <m:r>
                      <a:rPr lang="zh-CN" altLang="en-US" sz="2400" b="1" i="1" dirty="0">
                        <a:latin typeface="Cambria Math" panose="02040503050406030204" pitchFamily="18" charset="0"/>
                        <a:ea typeface="幼圆" panose="02010509060101010101" pitchFamily="49" charset="-122"/>
                      </a:rPr>
                      <m:t>硬挺</m:t>
                    </m:r>
                    <m:r>
                      <a:rPr lang="zh-CN" altLang="en-US" sz="2400" b="1" dirty="0">
                        <a:latin typeface="Cambria Math"/>
                      </a:rPr>
                      <m:t>；</m:t>
                    </m:r>
                  </m:oMath>
                </a14:m>
                <a:r>
                  <a:rPr lang="zh-CN" altLang="en-US" sz="2400" b="1" dirty="0">
                    <a:latin typeface="幼圆" panose="02010509060101010101" pitchFamily="49" charset="-122"/>
                    <a:ea typeface="幼圆" panose="02010509060101010101" pitchFamily="49" charset="-122"/>
                  </a:rPr>
                  <a:t>敲声</a:t>
                </a:r>
                <a:r>
                  <a:rPr lang="en-US" altLang="zh-CN" sz="2400" b="1" dirty="0">
                    <a:latin typeface="幼圆" panose="02010509060101010101" pitchFamily="49" charset="-122"/>
                    <a:ea typeface="幼圆" panose="02010509060101010101" pitchFamily="49" charset="-122"/>
                  </a:rPr>
                  <a:t>=</a:t>
                </a:r>
                <a:r>
                  <a:rPr lang="zh-CN" altLang="en-US" sz="2400" b="1" dirty="0">
                    <a:latin typeface="幼圆" panose="02010509060101010101" pitchFamily="49" charset="-122"/>
                    <a:ea typeface="幼圆" panose="02010509060101010101" pitchFamily="49" charset="-122"/>
                  </a:rPr>
                  <a:t>清脆</a:t>
                </a:r>
                <a:r>
                  <a:rPr lang="en-US" altLang="zh-CN" sz="2400" b="1" dirty="0">
                    <a:latin typeface="幼圆" panose="02010509060101010101" pitchFamily="49" charset="-122"/>
                    <a:ea typeface="幼圆" panose="02010509060101010101" pitchFamily="49" charset="-122"/>
                  </a:rPr>
                  <a:t>)</a:t>
                </a:r>
                <a:r>
                  <a:rPr lang="zh-CN" altLang="en-US" sz="2400" b="1" dirty="0">
                    <a:latin typeface="幼圆" panose="02010509060101010101" pitchFamily="49" charset="-122"/>
                    <a:ea typeface="幼圆" panose="02010509060101010101" pitchFamily="49" charset="-122"/>
                  </a:rPr>
                  <a:t>的好瓜罕见，甚至不存在。</a:t>
                </a:r>
                <a:endParaRPr lang="en-US" altLang="zh-CN" sz="2400" b="1" dirty="0">
                  <a:latin typeface="幼圆" panose="02010509060101010101" pitchFamily="49" charset="-122"/>
                  <a:ea typeface="幼圆" panose="02010509060101010101" pitchFamily="49" charset="-122"/>
                </a:endParaRPr>
              </a:p>
              <a:p>
                <a:pPr marL="457200" lvl="1" indent="0">
                  <a:buNone/>
                </a:pPr>
                <a:endParaRPr lang="en-US" altLang="zh-CN" sz="2400" b="1" dirty="0">
                  <a:latin typeface="幼圆" panose="02010509060101010101" pitchFamily="49" charset="-122"/>
                  <a:ea typeface="幼圆" panose="02010509060101010101" pitchFamily="49" charset="-122"/>
                </a:endParaRPr>
              </a:p>
              <a:p>
                <a:pPr marL="457200" lvl="1" indent="0">
                  <a:buNone/>
                </a:pPr>
                <a:endParaRPr lang="zh-CN" altLang="en-US" sz="2400" b="1" dirty="0">
                  <a:latin typeface="幼圆" panose="02010509060101010101" pitchFamily="49" charset="-122"/>
                  <a:ea typeface="幼圆" panose="02010509060101010101" pitchFamily="49" charset="-122"/>
                </a:endParaRPr>
              </a:p>
              <a:p>
                <a:pPr marL="0" indent="0">
                  <a:buClr>
                    <a:srgbClr val="339933"/>
                  </a:buClr>
                  <a:buFont typeface="Wingdings" pitchFamily="2" charset="2"/>
                  <a:buNone/>
                </a:pPr>
                <a:endParaRPr lang="en-US" altLang="zh-CN" sz="2400" b="1" kern="0" dirty="0">
                  <a:solidFill>
                    <a:srgbClr val="000000"/>
                  </a:solidFill>
                  <a:latin typeface="幼圆" pitchFamily="49" charset="-122"/>
                  <a:ea typeface="幼圆" pitchFamily="49" charset="-122"/>
                  <a:cs typeface="Verdana" panose="020B0604030504040204" pitchFamily="34" charset="0"/>
                </a:endParaRPr>
              </a:p>
            </p:txBody>
          </p:sp>
        </mc:Choice>
        <mc:Fallback xmlns="">
          <p:sp>
            <p:nvSpPr>
              <p:cNvPr id="18" name="Rectangle 3"/>
              <p:cNvSpPr txBox="1">
                <a:spLocks noRot="1" noChangeAspect="1" noMove="1" noResize="1" noEditPoints="1" noAdjustHandles="1" noChangeArrowheads="1" noChangeShapeType="1" noTextEdit="1"/>
              </p:cNvSpPr>
              <p:nvPr/>
            </p:nvSpPr>
            <p:spPr bwMode="auto">
              <a:xfrm>
                <a:off x="457200" y="1417638"/>
                <a:ext cx="9108504" cy="3816424"/>
              </a:xfrm>
              <a:prstGeom prst="rect">
                <a:avLst/>
              </a:prstGeom>
              <a:blipFill>
                <a:blip r:embed="rId2"/>
                <a:stretch>
                  <a:fillRect t="-1757" b="-527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a:noFill/>
                  </a:rPr>
                  <a:t> </a:t>
                </a:r>
              </a:p>
            </p:txBody>
          </p:sp>
        </mc:Fallback>
      </mc:AlternateContent>
    </p:spTree>
    <p:extLst>
      <p:ext uri="{BB962C8B-B14F-4D97-AF65-F5344CB8AC3E}">
        <p14:creationId xmlns:p14="http://schemas.microsoft.com/office/powerpoint/2010/main" val="636303520"/>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2450" name="矩形 872449"/>
          <p:cNvSpPr/>
          <p:nvPr/>
        </p:nvSpPr>
        <p:spPr>
          <a:xfrm>
            <a:off x="685800" y="609600"/>
            <a:ext cx="7772400" cy="1143000"/>
          </a:xfrm>
          <a:prstGeom prst="rect">
            <a:avLst/>
          </a:prstGeom>
          <a:noFill/>
          <a:ln w="9525">
            <a:noFill/>
          </a:ln>
        </p:spPr>
        <p:txBody>
          <a:bodyPr anchor="ctr"/>
          <a:lstStyle/>
          <a:p>
            <a:pPr lvl="0" algn="ctr" eaLnBrk="1" hangingPunct="1"/>
            <a:r>
              <a:rPr lang="zh-CN" altLang="en-US" sz="4400" b="1" dirty="0">
                <a:solidFill>
                  <a:srgbClr val="0000FF"/>
                </a:solidFill>
                <a:latin typeface="Times New Roman" panose="02020603050405020304" pitchFamily="18" charset="0"/>
                <a:ea typeface="宋体" panose="02010600030101010101" pitchFamily="2" charset="-122"/>
              </a:rPr>
              <a:t>没有免费的午餐</a:t>
            </a:r>
            <a:r>
              <a:rPr lang="en-US" altLang="zh-CN" sz="4400" b="1" dirty="0">
                <a:solidFill>
                  <a:srgbClr val="0000FF"/>
                </a:solidFill>
                <a:latin typeface="Times New Roman" panose="02020603050405020304" pitchFamily="18" charset="0"/>
                <a:ea typeface="宋体" panose="02010600030101010101" pitchFamily="2" charset="-122"/>
              </a:rPr>
              <a:t>-</a:t>
            </a:r>
            <a:r>
              <a:rPr lang="zh-CN" altLang="en-US" sz="4400" b="1" dirty="0">
                <a:solidFill>
                  <a:srgbClr val="0000FF"/>
                </a:solidFill>
                <a:latin typeface="Times New Roman" panose="02020603050405020304" pitchFamily="18" charset="0"/>
                <a:ea typeface="宋体" panose="02010600030101010101" pitchFamily="2" charset="-122"/>
              </a:rPr>
              <a:t>启发</a:t>
            </a:r>
          </a:p>
        </p:txBody>
      </p:sp>
      <p:sp>
        <p:nvSpPr>
          <p:cNvPr id="872451" name="矩形 872450"/>
          <p:cNvSpPr/>
          <p:nvPr/>
        </p:nvSpPr>
        <p:spPr>
          <a:xfrm>
            <a:off x="685800" y="1981200"/>
            <a:ext cx="7772400" cy="4544144"/>
          </a:xfrm>
          <a:prstGeom prst="rect">
            <a:avLst/>
          </a:prstGeom>
          <a:noFill/>
          <a:ln w="9525">
            <a:noFill/>
          </a:ln>
        </p:spPr>
        <p:txBody>
          <a:bodyPr/>
          <a:lstStyle/>
          <a:p>
            <a:pPr marL="457200" lvl="0" indent="-457200" eaLnBrk="1" hangingPunct="1">
              <a:lnSpc>
                <a:spcPct val="90000"/>
              </a:lnSpc>
              <a:spcBef>
                <a:spcPct val="20000"/>
              </a:spcBef>
              <a:buChar char="•"/>
            </a:pPr>
            <a:r>
              <a:rPr lang="zh-CN" altLang="en-US" sz="2400" b="1" dirty="0">
                <a:latin typeface="幼圆" panose="02010509060101010101" pitchFamily="49" charset="-122"/>
                <a:ea typeface="幼圆" panose="02010509060101010101" pitchFamily="49" charset="-122"/>
              </a:rPr>
              <a:t>对于任意的固定训练集</a:t>
            </a:r>
            <a:r>
              <a:rPr lang="en-US" altLang="zh-CN" sz="2400" b="1" dirty="0">
                <a:latin typeface="幼圆" panose="02010509060101010101" pitchFamily="49" charset="-122"/>
                <a:ea typeface="幼圆" panose="02010509060101010101" pitchFamily="49" charset="-122"/>
              </a:rPr>
              <a:t>X</a:t>
            </a:r>
            <a:r>
              <a:rPr lang="zh-CN" altLang="en-US" sz="2400" b="1" dirty="0">
                <a:latin typeface="幼圆" panose="02010509060101010101" pitchFamily="49" charset="-122"/>
                <a:ea typeface="幼圆" panose="02010509060101010101" pitchFamily="49" charset="-122"/>
              </a:rPr>
              <a:t>，对于所有的目标函数</a:t>
            </a:r>
            <a:r>
              <a:rPr lang="en-US" altLang="zh-CN" sz="2400" b="1" dirty="0">
                <a:latin typeface="幼圆" panose="02010509060101010101" pitchFamily="49" charset="-122"/>
                <a:ea typeface="幼圆" panose="02010509060101010101" pitchFamily="49" charset="-122"/>
              </a:rPr>
              <a:t>f</a:t>
            </a:r>
            <a:r>
              <a:rPr lang="zh-CN" altLang="en-US" sz="2400" b="1" dirty="0">
                <a:latin typeface="幼圆" panose="02010509060101010101" pitchFamily="49" charset="-122"/>
                <a:ea typeface="幼圆" panose="02010509060101010101" pitchFamily="49" charset="-122"/>
              </a:rPr>
              <a:t>（问题）求平均（均匀分布），所有学习算法的训练集外误差之期望值相同。</a:t>
            </a:r>
            <a:endParaRPr lang="en-US" altLang="zh-CN" sz="2400" b="1" dirty="0">
              <a:latin typeface="幼圆" panose="02010509060101010101" pitchFamily="49" charset="-122"/>
              <a:ea typeface="幼圆" panose="02010509060101010101" pitchFamily="49" charset="-122"/>
            </a:endParaRPr>
          </a:p>
          <a:p>
            <a:pPr marL="457200" lvl="0" indent="-457200" eaLnBrk="1" hangingPunct="1">
              <a:lnSpc>
                <a:spcPct val="90000"/>
              </a:lnSpc>
              <a:spcBef>
                <a:spcPct val="20000"/>
              </a:spcBef>
              <a:buChar char="•"/>
            </a:pPr>
            <a:endParaRPr lang="en-US" altLang="zh-CN" sz="2400" b="1" dirty="0">
              <a:latin typeface="幼圆" panose="02010509060101010101" pitchFamily="49" charset="-122"/>
              <a:ea typeface="幼圆" panose="02010509060101010101" pitchFamily="49" charset="-122"/>
            </a:endParaRPr>
          </a:p>
          <a:p>
            <a:pPr>
              <a:buClr>
                <a:srgbClr val="339933"/>
              </a:buClr>
            </a:pPr>
            <a:r>
              <a:rPr lang="zh-CN" altLang="en-US" sz="2400" b="1" kern="0" dirty="0">
                <a:solidFill>
                  <a:srgbClr val="C00000"/>
                </a:solidFill>
                <a:latin typeface="幼圆" panose="02010509060101010101" pitchFamily="49" charset="-122"/>
                <a:ea typeface="幼圆" panose="02010509060101010101" pitchFamily="49" charset="-122"/>
                <a:cs typeface="Verdana" panose="020B0604030504040204" pitchFamily="34" charset="0"/>
              </a:rPr>
              <a:t>   实际问题中，并非所有问题出现的可能性都相同</a:t>
            </a:r>
            <a:endParaRPr lang="en-US" altLang="zh-CN" sz="2400" b="1" kern="0" dirty="0">
              <a:solidFill>
                <a:srgbClr val="C00000"/>
              </a:solidFill>
              <a:latin typeface="幼圆" panose="02010509060101010101" pitchFamily="49" charset="-122"/>
              <a:ea typeface="幼圆" panose="02010509060101010101" pitchFamily="49" charset="-122"/>
              <a:cs typeface="Verdana" panose="020B0604030504040204" pitchFamily="34" charset="0"/>
            </a:endParaRPr>
          </a:p>
          <a:p>
            <a:pPr>
              <a:buClr>
                <a:srgbClr val="339933"/>
              </a:buClr>
            </a:pPr>
            <a:r>
              <a:rPr lang="zh-CN" altLang="en-US" sz="2400" b="1" kern="0" dirty="0">
                <a:solidFill>
                  <a:srgbClr val="C00000"/>
                </a:solidFill>
                <a:latin typeface="幼圆" panose="02010509060101010101" pitchFamily="49" charset="-122"/>
                <a:ea typeface="幼圆" panose="02010509060101010101" pitchFamily="49" charset="-122"/>
                <a:cs typeface="Verdana" panose="020B0604030504040204" pitchFamily="34" charset="0"/>
              </a:rPr>
              <a:t>脱离具体问题，空谈“什么学习算法更好”毫无意义</a:t>
            </a:r>
            <a:r>
              <a:rPr lang="en-US" altLang="zh-CN" sz="2400" b="1" kern="0" dirty="0">
                <a:solidFill>
                  <a:srgbClr val="C00000"/>
                </a:solidFill>
                <a:latin typeface="幼圆" panose="02010509060101010101" pitchFamily="49" charset="-122"/>
                <a:ea typeface="幼圆" panose="02010509060101010101" pitchFamily="49" charset="-122"/>
                <a:cs typeface="Verdana" panose="020B0604030504040204" pitchFamily="34" charset="0"/>
              </a:rPr>
              <a:t>.</a:t>
            </a:r>
            <a:r>
              <a:rPr lang="zh-CN" altLang="en-US" sz="2400" b="1" kern="0" dirty="0">
                <a:solidFill>
                  <a:srgbClr val="C00000"/>
                </a:solidFill>
                <a:latin typeface="幼圆" panose="02010509060101010101" pitchFamily="49" charset="-122"/>
                <a:ea typeface="幼圆" panose="02010509060101010101" pitchFamily="49" charset="-122"/>
                <a:cs typeface="Verdana" panose="020B0604030504040204" pitchFamily="34" charset="0"/>
              </a:rPr>
              <a:t>要讨论算法的优劣，必须要针对具体的学习问题。</a:t>
            </a:r>
            <a:endParaRPr lang="en-US" altLang="zh-CN" sz="2400" b="1" kern="0" dirty="0">
              <a:solidFill>
                <a:srgbClr val="C00000"/>
              </a:solidFill>
              <a:latin typeface="幼圆" panose="02010509060101010101" pitchFamily="49" charset="-122"/>
              <a:ea typeface="幼圆" panose="02010509060101010101" pitchFamily="49" charset="-122"/>
              <a:cs typeface="Verdana" panose="020B0604030504040204" pitchFamily="34" charset="0"/>
            </a:endParaRPr>
          </a:p>
          <a:p>
            <a:pPr marL="457200" lvl="0" indent="-457200" eaLnBrk="1" hangingPunct="1">
              <a:lnSpc>
                <a:spcPct val="90000"/>
              </a:lnSpc>
              <a:spcBef>
                <a:spcPct val="20000"/>
              </a:spcBef>
              <a:buChar char="•"/>
            </a:pPr>
            <a:endParaRPr lang="en-US" altLang="zh-CN" sz="2400" b="1" dirty="0">
              <a:solidFill>
                <a:srgbClr val="C00000"/>
              </a:solidFill>
              <a:latin typeface="幼圆" panose="02010509060101010101" pitchFamily="49" charset="-122"/>
              <a:ea typeface="幼圆" panose="02010509060101010101" pitchFamily="49" charset="-122"/>
            </a:endParaRPr>
          </a:p>
          <a:p>
            <a:pPr marL="457200" lvl="0" indent="-457200" eaLnBrk="1" hangingPunct="1">
              <a:lnSpc>
                <a:spcPct val="90000"/>
              </a:lnSpc>
              <a:spcBef>
                <a:spcPct val="20000"/>
              </a:spcBef>
              <a:buChar char="•"/>
            </a:pPr>
            <a:r>
              <a:rPr lang="zh-CN" altLang="en-US" sz="2400" b="1" dirty="0">
                <a:solidFill>
                  <a:srgbClr val="C00000"/>
                </a:solidFill>
                <a:latin typeface="幼圆" panose="02010509060101010101" pitchFamily="49" charset="-122"/>
                <a:ea typeface="幼圆" panose="02010509060101010101" pitchFamily="49" charset="-122"/>
              </a:rPr>
              <a:t>学习算法自身的归纳偏好与问题是否匹配，会起决定性作用</a:t>
            </a:r>
            <a:endParaRPr lang="en-US" altLang="zh-CN" sz="2400" b="1" dirty="0">
              <a:solidFill>
                <a:srgbClr val="C00000"/>
              </a:solidFill>
              <a:latin typeface="幼圆" panose="02010509060101010101" pitchFamily="49" charset="-122"/>
              <a:ea typeface="幼圆" panose="02010509060101010101" pitchFamily="49" charset="-122"/>
            </a:endParaRPr>
          </a:p>
          <a:p>
            <a:pPr marL="457200" lvl="0" indent="-457200" eaLnBrk="1" hangingPunct="1">
              <a:lnSpc>
                <a:spcPct val="90000"/>
              </a:lnSpc>
              <a:spcBef>
                <a:spcPct val="20000"/>
              </a:spcBef>
              <a:buChar char="•"/>
            </a:pPr>
            <a:endParaRPr lang="en-US" altLang="zh-CN" sz="2400" b="1" dirty="0">
              <a:latin typeface="幼圆" panose="02010509060101010101" pitchFamily="49" charset="-122"/>
              <a:ea typeface="幼圆" panose="02010509060101010101" pitchFamily="49" charset="-122"/>
            </a:endParaRPr>
          </a:p>
          <a:p>
            <a:pPr marL="457200" lvl="0" indent="-457200" eaLnBrk="1" hangingPunct="1">
              <a:lnSpc>
                <a:spcPct val="90000"/>
              </a:lnSpc>
              <a:spcBef>
                <a:spcPct val="20000"/>
              </a:spcBef>
              <a:buChar char="•"/>
            </a:pPr>
            <a:endParaRPr lang="en-US" altLang="zh-CN" sz="2400" b="1" dirty="0">
              <a:latin typeface="幼圆" panose="02010509060101010101" pitchFamily="49" charset="-122"/>
              <a:ea typeface="幼圆" panose="02010509060101010101" pitchFamily="49" charset="-122"/>
            </a:endParaRPr>
          </a:p>
        </p:txBody>
      </p:sp>
      <p:sp>
        <p:nvSpPr>
          <p:cNvPr id="2" name="灯片编号占位符 1"/>
          <p:cNvSpPr>
            <a:spLocks noGrp="1"/>
          </p:cNvSpPr>
          <p:nvPr>
            <p:ph type="sldNum" sz="quarter" idx="12"/>
          </p:nvPr>
        </p:nvSpPr>
        <p:spPr/>
        <p:txBody>
          <a:bodyPr/>
          <a:lstStyle/>
          <a:p>
            <a:pPr lvl="0"/>
            <a:fld id="{9A0DB2DC-4C9A-4742-B13C-FB6460FD3503}" type="slidenum">
              <a:rPr lang="en-US" altLang="zh-CN" dirty="0"/>
              <a:t>33</a:t>
            </a:fld>
            <a:endParaRPr lang="zh-CN" dirty="0"/>
          </a:p>
        </p:txBody>
      </p:sp>
    </p:spTree>
    <p:extLst>
      <p:ext uri="{BB962C8B-B14F-4D97-AF65-F5344CB8AC3E}">
        <p14:creationId xmlns:p14="http://schemas.microsoft.com/office/powerpoint/2010/main" val="31054541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724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2451"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t>大纲</a:t>
            </a:r>
          </a:p>
        </p:txBody>
      </p:sp>
      <p:sp>
        <p:nvSpPr>
          <p:cNvPr id="3" name="内容占位符 2"/>
          <p:cNvSpPr>
            <a:spLocks noGrp="1"/>
          </p:cNvSpPr>
          <p:nvPr>
            <p:ph idx="1"/>
          </p:nvPr>
        </p:nvSpPr>
        <p:spPr>
          <a:xfrm>
            <a:off x="1331640" y="980728"/>
            <a:ext cx="6480720" cy="5795773"/>
          </a:xfrm>
        </p:spPr>
        <p:txBody>
          <a:bodyPr>
            <a:normAutofit/>
          </a:bodyPr>
          <a:lstStyle/>
          <a:p>
            <a:pPr>
              <a:lnSpc>
                <a:spcPts val="26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引言</a:t>
            </a: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基本术语</a:t>
            </a: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假设空间</a:t>
            </a: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归纳偏好</a:t>
            </a: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r>
              <a:rPr lang="zh-CN" altLang="en-US" sz="2400" b="1" dirty="0">
                <a:solidFill>
                  <a:srgbClr val="0000FF"/>
                </a:solidFill>
                <a:latin typeface="幼圆" panose="02010509060101010101" pitchFamily="49" charset="-122"/>
                <a:ea typeface="幼圆" panose="02010509060101010101" pitchFamily="49" charset="-122"/>
              </a:rPr>
              <a:t>发展历程</a:t>
            </a:r>
            <a:endParaRPr lang="en-US" altLang="zh-CN" sz="2400" b="1" dirty="0">
              <a:solidFill>
                <a:srgbClr val="0000FF"/>
              </a:solidFill>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应用现状</a:t>
            </a:r>
            <a:endParaRPr lang="en-US" altLang="zh-CN" sz="2400" b="1" dirty="0">
              <a:latin typeface="幼圆" panose="02010509060101010101" pitchFamily="49" charset="-122"/>
              <a:ea typeface="幼圆" panose="02010509060101010101" pitchFamily="49" charset="-122"/>
            </a:endParaRPr>
          </a:p>
          <a:p>
            <a:pPr marL="0" indent="0">
              <a:lnSpc>
                <a:spcPts val="2600"/>
              </a:lnSpc>
              <a:buClr>
                <a:srgbClr val="00B050"/>
              </a:buClr>
              <a:buNone/>
            </a:pPr>
            <a:endParaRPr lang="en-US" altLang="zh-CN" sz="2400" b="1" dirty="0">
              <a:latin typeface="幼圆" panose="02010509060101010101" pitchFamily="49" charset="-122"/>
              <a:ea typeface="幼圆" panose="02010509060101010101" pitchFamily="49" charset="-122"/>
            </a:endParaRPr>
          </a:p>
        </p:txBody>
      </p:sp>
    </p:spTree>
    <p:extLst>
      <p:ext uri="{BB962C8B-B14F-4D97-AF65-F5344CB8AC3E}">
        <p14:creationId xmlns:p14="http://schemas.microsoft.com/office/powerpoint/2010/main" val="3363173815"/>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t>发展历程</a:t>
            </a:r>
          </a:p>
        </p:txBody>
      </p:sp>
      <p:sp>
        <p:nvSpPr>
          <p:cNvPr id="5" name="内容占位符 2"/>
          <p:cNvSpPr txBox="1">
            <a:spLocks/>
          </p:cNvSpPr>
          <p:nvPr/>
        </p:nvSpPr>
        <p:spPr>
          <a:xfrm>
            <a:off x="427258" y="1700808"/>
            <a:ext cx="8616950" cy="4378601"/>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10000"/>
              </a:lnSpc>
              <a:buClr>
                <a:srgbClr val="00B050"/>
              </a:buClr>
            </a:pPr>
            <a:r>
              <a:rPr lang="zh-CN" altLang="en-US" b="1" dirty="0">
                <a:solidFill>
                  <a:srgbClr val="023A91"/>
                </a:solidFill>
              </a:rPr>
              <a:t>推理期：</a:t>
            </a:r>
            <a:endParaRPr lang="en-US" altLang="zh-CN" b="1" dirty="0">
              <a:solidFill>
                <a:srgbClr val="023A91"/>
              </a:solidFill>
            </a:endParaRPr>
          </a:p>
          <a:p>
            <a:pPr lvl="1">
              <a:lnSpc>
                <a:spcPct val="110000"/>
              </a:lnSpc>
              <a:buClr>
                <a:srgbClr val="00B050"/>
              </a:buClr>
            </a:pPr>
            <a:r>
              <a:rPr lang="en-US" altLang="zh-CN" b="1" dirty="0">
                <a:latin typeface="幼圆" pitchFamily="49" charset="-122"/>
              </a:rPr>
              <a:t>A. Newell</a:t>
            </a:r>
            <a:r>
              <a:rPr lang="zh-CN" altLang="en-US" b="1" dirty="0">
                <a:latin typeface="幼圆" pitchFamily="49" charset="-122"/>
              </a:rPr>
              <a:t>和</a:t>
            </a:r>
            <a:r>
              <a:rPr lang="en-US" altLang="zh-CN" b="1" dirty="0">
                <a:latin typeface="幼圆" pitchFamily="49" charset="-122"/>
              </a:rPr>
              <a:t>H. Simon</a:t>
            </a:r>
            <a:r>
              <a:rPr lang="zh-CN" altLang="en-US" b="1" dirty="0">
                <a:latin typeface="幼圆" pitchFamily="49" charset="-122"/>
              </a:rPr>
              <a:t>的“逻辑理论家”</a:t>
            </a:r>
            <a:r>
              <a:rPr lang="en-US" altLang="zh-CN" b="1" dirty="0">
                <a:latin typeface="幼圆" pitchFamily="49" charset="-122"/>
              </a:rPr>
              <a:t>(Logic Theorist)</a:t>
            </a:r>
            <a:r>
              <a:rPr lang="zh-CN" altLang="en-US" b="1" dirty="0">
                <a:latin typeface="幼圆" pitchFamily="49" charset="-122"/>
              </a:rPr>
              <a:t>程序以及伺候的“通用问题求解”</a:t>
            </a:r>
            <a:r>
              <a:rPr lang="en-US" altLang="zh-CN" b="1" dirty="0">
                <a:latin typeface="幼圆" pitchFamily="49" charset="-122"/>
              </a:rPr>
              <a:t>(General Problem Solving)</a:t>
            </a:r>
            <a:r>
              <a:rPr lang="zh-CN" altLang="en-US" b="1" dirty="0">
                <a:latin typeface="幼圆" pitchFamily="49" charset="-122"/>
              </a:rPr>
              <a:t>程序等在当时取得了令人振奋的结果。</a:t>
            </a:r>
            <a:r>
              <a:rPr lang="zh-CN" altLang="en-US" b="1" dirty="0">
                <a:solidFill>
                  <a:srgbClr val="C00000"/>
                </a:solidFill>
                <a:latin typeface="幼圆" pitchFamily="49" charset="-122"/>
              </a:rPr>
              <a:t>发现逻辑推理无法实现人工智能。</a:t>
            </a:r>
            <a:endParaRPr lang="en-US" altLang="zh-CN" b="1" dirty="0">
              <a:solidFill>
                <a:srgbClr val="C00000"/>
              </a:solidFill>
              <a:latin typeface="幼圆" pitchFamily="49" charset="-122"/>
            </a:endParaRPr>
          </a:p>
          <a:p>
            <a:pPr lvl="1">
              <a:lnSpc>
                <a:spcPct val="110000"/>
              </a:lnSpc>
              <a:buClr>
                <a:srgbClr val="00B050"/>
              </a:buClr>
            </a:pPr>
            <a:r>
              <a:rPr lang="en-US" altLang="zh-CN" b="1" dirty="0">
                <a:latin typeface="幼圆" pitchFamily="49" charset="-122"/>
              </a:rPr>
              <a:t>2006</a:t>
            </a:r>
            <a:r>
              <a:rPr lang="zh-CN" altLang="en-US" b="1" dirty="0">
                <a:latin typeface="幼圆" pitchFamily="49" charset="-122"/>
              </a:rPr>
              <a:t>年卡耐基梅隆大学宣告成立第一个“机器学习系”，机器学习奠基人之一</a:t>
            </a:r>
            <a:r>
              <a:rPr lang="en-US" altLang="zh-CN" b="1" dirty="0" err="1">
                <a:latin typeface="幼圆" pitchFamily="49" charset="-122"/>
              </a:rPr>
              <a:t>T.Mitchell</a:t>
            </a:r>
            <a:r>
              <a:rPr lang="zh-CN" altLang="en-US" b="1" dirty="0">
                <a:latin typeface="幼圆" pitchFamily="49" charset="-122"/>
              </a:rPr>
              <a:t>教授任系主任。</a:t>
            </a:r>
            <a:endParaRPr lang="en-US" altLang="zh-CN" b="1" dirty="0">
              <a:latin typeface="幼圆" pitchFamily="49" charset="-122"/>
            </a:endParaRPr>
          </a:p>
          <a:p>
            <a:pPr>
              <a:lnSpc>
                <a:spcPct val="110000"/>
              </a:lnSpc>
              <a:buClr>
                <a:srgbClr val="00B050"/>
              </a:buClr>
            </a:pPr>
            <a:r>
              <a:rPr lang="zh-CN" altLang="en-US" b="1" dirty="0">
                <a:solidFill>
                  <a:srgbClr val="023A91"/>
                </a:solidFill>
              </a:rPr>
              <a:t>知识期：</a:t>
            </a:r>
            <a:endParaRPr lang="en-US" altLang="zh-CN" b="1" dirty="0">
              <a:solidFill>
                <a:srgbClr val="023A91"/>
              </a:solidFill>
            </a:endParaRPr>
          </a:p>
          <a:p>
            <a:pPr lvl="1">
              <a:lnSpc>
                <a:spcPct val="110000"/>
              </a:lnSpc>
              <a:buClr>
                <a:srgbClr val="00B050"/>
              </a:buClr>
            </a:pPr>
            <a:r>
              <a:rPr lang="zh-CN" altLang="en-US" b="1" dirty="0"/>
              <a:t>大量专家系统问世，在很多应用领域取得大量成果；</a:t>
            </a:r>
            <a:endParaRPr lang="en-US" altLang="zh-CN" b="1" dirty="0"/>
          </a:p>
          <a:p>
            <a:pPr lvl="1">
              <a:lnSpc>
                <a:spcPct val="110000"/>
              </a:lnSpc>
              <a:buClr>
                <a:srgbClr val="00B050"/>
              </a:buClr>
            </a:pPr>
            <a:r>
              <a:rPr lang="zh-CN" altLang="en-US" b="1" dirty="0"/>
              <a:t>但是由人来总结知识再教给计算机相当困难。</a:t>
            </a:r>
            <a:endParaRPr lang="en-US" altLang="zh-CN" b="1" dirty="0"/>
          </a:p>
          <a:p>
            <a:pPr lvl="1">
              <a:lnSpc>
                <a:spcPct val="110000"/>
              </a:lnSpc>
              <a:buClr>
                <a:srgbClr val="00B050"/>
              </a:buClr>
            </a:pPr>
            <a:r>
              <a:rPr lang="zh-CN" altLang="en-US" b="1" dirty="0">
                <a:solidFill>
                  <a:srgbClr val="C00000"/>
                </a:solidFill>
              </a:rPr>
              <a:t>希望机器能够自己学习知识。</a:t>
            </a:r>
          </a:p>
        </p:txBody>
      </p:sp>
    </p:spTree>
    <p:extLst>
      <p:ext uri="{BB962C8B-B14F-4D97-AF65-F5344CB8AC3E}">
        <p14:creationId xmlns:p14="http://schemas.microsoft.com/office/powerpoint/2010/main" val="2307385881"/>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t>发展历程</a:t>
            </a:r>
          </a:p>
        </p:txBody>
      </p:sp>
      <p:sp>
        <p:nvSpPr>
          <p:cNvPr id="5" name="内容占位符 2"/>
          <p:cNvSpPr txBox="1">
            <a:spLocks/>
          </p:cNvSpPr>
          <p:nvPr/>
        </p:nvSpPr>
        <p:spPr>
          <a:xfrm>
            <a:off x="611560" y="1556792"/>
            <a:ext cx="8616950" cy="4378601"/>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10000"/>
              </a:lnSpc>
              <a:buClr>
                <a:srgbClr val="00B050"/>
              </a:buClr>
            </a:pPr>
            <a:r>
              <a:rPr lang="zh-CN" altLang="en-US" b="1" dirty="0">
                <a:solidFill>
                  <a:srgbClr val="023A91"/>
                </a:solidFill>
              </a:rPr>
              <a:t>学习期</a:t>
            </a:r>
            <a:r>
              <a:rPr lang="en-US" altLang="zh-CN" b="1" dirty="0">
                <a:solidFill>
                  <a:srgbClr val="023A91"/>
                </a:solidFill>
              </a:rPr>
              <a:t>(</a:t>
            </a:r>
            <a:r>
              <a:rPr lang="zh-CN" altLang="en-US" b="1" dirty="0">
                <a:solidFill>
                  <a:srgbClr val="023A91"/>
                </a:solidFill>
              </a:rPr>
              <a:t>从样例中学习</a:t>
            </a:r>
            <a:r>
              <a:rPr lang="en-US" altLang="zh-CN" b="1" dirty="0">
                <a:solidFill>
                  <a:srgbClr val="023A91"/>
                </a:solidFill>
              </a:rPr>
              <a:t>)</a:t>
            </a:r>
            <a:r>
              <a:rPr lang="zh-CN" altLang="en-US" b="1" dirty="0">
                <a:solidFill>
                  <a:srgbClr val="023A91"/>
                </a:solidFill>
              </a:rPr>
              <a:t>：</a:t>
            </a:r>
            <a:endParaRPr lang="en-US" altLang="zh-CN" b="1" dirty="0">
              <a:solidFill>
                <a:srgbClr val="023A91"/>
              </a:solidFill>
            </a:endParaRPr>
          </a:p>
          <a:p>
            <a:pPr lvl="1">
              <a:lnSpc>
                <a:spcPct val="110000"/>
              </a:lnSpc>
              <a:buClr>
                <a:srgbClr val="00B050"/>
              </a:buClr>
            </a:pPr>
            <a:r>
              <a:rPr lang="zh-CN" altLang="en-US" b="1" dirty="0"/>
              <a:t>符号主义学习（产生明确的概念）</a:t>
            </a:r>
            <a:endParaRPr lang="en-US" altLang="zh-CN" b="1" dirty="0"/>
          </a:p>
          <a:p>
            <a:pPr lvl="2">
              <a:lnSpc>
                <a:spcPct val="110000"/>
              </a:lnSpc>
              <a:buClr>
                <a:srgbClr val="00B050"/>
              </a:buClr>
            </a:pPr>
            <a:r>
              <a:rPr lang="zh-CN" altLang="en-US" b="1" dirty="0"/>
              <a:t>决策树：以信息论为基础，最小化信息熵，模拟了人类对概念进行判定的树形流程</a:t>
            </a:r>
            <a:endParaRPr lang="en-US" altLang="zh-CN" b="1" dirty="0"/>
          </a:p>
          <a:p>
            <a:pPr lvl="2">
              <a:lnSpc>
                <a:spcPct val="110000"/>
              </a:lnSpc>
              <a:buClr>
                <a:srgbClr val="00B050"/>
              </a:buClr>
            </a:pPr>
            <a:r>
              <a:rPr lang="zh-CN" altLang="en-US" b="1" dirty="0"/>
              <a:t>基于逻辑的学习：</a:t>
            </a:r>
            <a:r>
              <a:rPr lang="zh-CN" altLang="en-US" b="1"/>
              <a:t>使用</a:t>
            </a:r>
            <a:r>
              <a:rPr lang="zh-CN" altLang="en-US" b="1" smtClean="0"/>
              <a:t>一些逻辑</a:t>
            </a:r>
            <a:r>
              <a:rPr lang="zh-CN" altLang="en-US" b="1" dirty="0"/>
              <a:t>进行知识表示，通过修改扩充逻辑表达式对数据进行归纳</a:t>
            </a:r>
            <a:r>
              <a:rPr lang="en-US" altLang="zh-CN" b="1" dirty="0"/>
              <a:t>(prolog)</a:t>
            </a:r>
            <a:endParaRPr lang="en-US" altLang="zh-CN" b="1" dirty="0">
              <a:solidFill>
                <a:srgbClr val="023A91"/>
              </a:solidFill>
            </a:endParaRPr>
          </a:p>
          <a:p>
            <a:pPr lvl="1">
              <a:lnSpc>
                <a:spcPct val="110000"/>
              </a:lnSpc>
              <a:buClr>
                <a:srgbClr val="00B050"/>
              </a:buClr>
            </a:pPr>
            <a:r>
              <a:rPr lang="zh-CN" altLang="en-US" b="1" dirty="0"/>
              <a:t>连接主义学习（黑箱）</a:t>
            </a:r>
            <a:endParaRPr lang="en-US" altLang="zh-CN" b="1" dirty="0"/>
          </a:p>
          <a:p>
            <a:pPr lvl="2">
              <a:lnSpc>
                <a:spcPct val="110000"/>
              </a:lnSpc>
              <a:buClr>
                <a:srgbClr val="00B050"/>
              </a:buClr>
            </a:pPr>
            <a:r>
              <a:rPr lang="zh-CN" altLang="en-US" b="1" dirty="0">
                <a:latin typeface="幼圆" pitchFamily="49" charset="-122"/>
              </a:rPr>
              <a:t>神经网络</a:t>
            </a:r>
            <a:r>
              <a:rPr lang="en-US" altLang="zh-CN" b="1" dirty="0">
                <a:latin typeface="幼圆" pitchFamily="49" charset="-122"/>
              </a:rPr>
              <a:t>(1986</a:t>
            </a:r>
            <a:r>
              <a:rPr lang="zh-CN" altLang="en-US" b="1" dirty="0">
                <a:latin typeface="幼圆" pitchFamily="49" charset="-122"/>
              </a:rPr>
              <a:t>年</a:t>
            </a:r>
            <a:r>
              <a:rPr lang="en-US" altLang="zh-CN" b="1" dirty="0" err="1">
                <a:latin typeface="幼圆" pitchFamily="49" charset="-122"/>
              </a:rPr>
              <a:t>D.E.Rumelhart</a:t>
            </a:r>
            <a:r>
              <a:rPr lang="zh-CN" altLang="en-US" b="1" dirty="0">
                <a:latin typeface="幼圆" pitchFamily="49" charset="-122"/>
              </a:rPr>
              <a:t>提出</a:t>
            </a:r>
            <a:r>
              <a:rPr lang="en-US" altLang="zh-CN" b="1" dirty="0">
                <a:latin typeface="幼圆" pitchFamily="49" charset="-122"/>
              </a:rPr>
              <a:t>BP</a:t>
            </a:r>
            <a:r>
              <a:rPr lang="zh-CN" altLang="en-US" b="1" dirty="0">
                <a:latin typeface="幼圆" pitchFamily="49" charset="-122"/>
              </a:rPr>
              <a:t>算法</a:t>
            </a:r>
            <a:r>
              <a:rPr lang="en-US" altLang="zh-CN" b="1" dirty="0">
                <a:latin typeface="幼圆" pitchFamily="49" charset="-122"/>
              </a:rPr>
              <a:t>)</a:t>
            </a:r>
          </a:p>
          <a:p>
            <a:pPr lvl="1">
              <a:lnSpc>
                <a:spcPct val="110000"/>
              </a:lnSpc>
              <a:buClr>
                <a:srgbClr val="00B050"/>
              </a:buClr>
            </a:pPr>
            <a:r>
              <a:rPr lang="zh-CN" altLang="en-US" b="1" dirty="0"/>
              <a:t>统计学习</a:t>
            </a:r>
            <a:endParaRPr lang="en-US" altLang="zh-CN" b="1" dirty="0"/>
          </a:p>
          <a:p>
            <a:pPr lvl="2">
              <a:lnSpc>
                <a:spcPct val="110000"/>
              </a:lnSpc>
              <a:buClr>
                <a:srgbClr val="00B050"/>
              </a:buClr>
            </a:pPr>
            <a:r>
              <a:rPr lang="zh-CN" altLang="en-US" b="1" dirty="0"/>
              <a:t>支持向量机及核方法</a:t>
            </a:r>
            <a:r>
              <a:rPr lang="en-US" altLang="zh-CN" b="1" dirty="0"/>
              <a:t>(1998V.N.Vapnik</a:t>
            </a:r>
            <a:r>
              <a:rPr lang="zh-CN" altLang="en-US" b="1" dirty="0"/>
              <a:t>提出统计学习理论</a:t>
            </a:r>
            <a:r>
              <a:rPr lang="en-US" altLang="zh-CN" b="1" dirty="0"/>
              <a:t>)</a:t>
            </a:r>
          </a:p>
        </p:txBody>
      </p:sp>
    </p:spTree>
    <p:extLst>
      <p:ext uri="{BB962C8B-B14F-4D97-AF65-F5344CB8AC3E}">
        <p14:creationId xmlns:p14="http://schemas.microsoft.com/office/powerpoint/2010/main" val="1234557656"/>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t>发展历程</a:t>
            </a:r>
          </a:p>
        </p:txBody>
      </p:sp>
      <p:cxnSp>
        <p:nvCxnSpPr>
          <p:cNvPr id="5" name="直接箭头连接符 4"/>
          <p:cNvCxnSpPr/>
          <p:nvPr/>
        </p:nvCxnSpPr>
        <p:spPr>
          <a:xfrm>
            <a:off x="830118" y="3102303"/>
            <a:ext cx="7603794" cy="2"/>
          </a:xfrm>
          <a:prstGeom prst="straightConnector1">
            <a:avLst/>
          </a:prstGeom>
          <a:ln w="15875" cmpd="sng">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6" name="直接连接符 5"/>
          <p:cNvCxnSpPr/>
          <p:nvPr/>
        </p:nvCxnSpPr>
        <p:spPr>
          <a:xfrm rot="5400000">
            <a:off x="1639571" y="3062722"/>
            <a:ext cx="79166"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7" name="对象 6"/>
          <p:cNvGraphicFramePr>
            <a:graphicFrameLocks noChangeAspect="1"/>
          </p:cNvGraphicFramePr>
          <p:nvPr>
            <p:extLst>
              <p:ext uri="{D42A27DB-BD31-4B8C-83A1-F6EECF244321}">
                <p14:modId xmlns:p14="http://schemas.microsoft.com/office/powerpoint/2010/main" val="2439293063"/>
              </p:ext>
            </p:extLst>
          </p:nvPr>
        </p:nvGraphicFramePr>
        <p:xfrm>
          <a:off x="1503513" y="3101984"/>
          <a:ext cx="303571" cy="307210"/>
        </p:xfrm>
        <a:graphic>
          <a:graphicData uri="http://schemas.openxmlformats.org/presentationml/2006/ole">
            <mc:AlternateContent xmlns:mc="http://schemas.openxmlformats.org/markup-compatibility/2006">
              <mc:Choice xmlns:v="urn:schemas-microsoft-com:vml" Requires="v">
                <p:oleObj spid="_x0000_s5607" name="Equation" r:id="rId3" imgW="203040" imgH="177480" progId="Equation.DSMT4">
                  <p:embed/>
                </p:oleObj>
              </mc:Choice>
              <mc:Fallback>
                <p:oleObj name="Equation" r:id="rId3" imgW="203040" imgH="177480" progId="Equation.DSMT4">
                  <p:embed/>
                  <p:pic>
                    <p:nvPicPr>
                      <p:cNvPr id="0" name=""/>
                      <p:cNvPicPr/>
                      <p:nvPr/>
                    </p:nvPicPr>
                    <p:blipFill>
                      <a:blip r:embed="rId4"/>
                      <a:stretch>
                        <a:fillRect/>
                      </a:stretch>
                    </p:blipFill>
                    <p:spPr>
                      <a:xfrm>
                        <a:off x="1503513" y="3101984"/>
                        <a:ext cx="303571" cy="307210"/>
                      </a:xfrm>
                      <a:prstGeom prst="rect">
                        <a:avLst/>
                      </a:prstGeom>
                    </p:spPr>
                  </p:pic>
                </p:oleObj>
              </mc:Fallback>
            </mc:AlternateContent>
          </a:graphicData>
        </a:graphic>
      </p:graphicFrame>
      <p:cxnSp>
        <p:nvCxnSpPr>
          <p:cNvPr id="8" name="直接连接符 7"/>
          <p:cNvCxnSpPr/>
          <p:nvPr/>
        </p:nvCxnSpPr>
        <p:spPr>
          <a:xfrm rot="5400000">
            <a:off x="7208642" y="3062722"/>
            <a:ext cx="79166"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9" name="对象 8"/>
          <p:cNvGraphicFramePr>
            <a:graphicFrameLocks noChangeAspect="1"/>
          </p:cNvGraphicFramePr>
          <p:nvPr>
            <p:extLst>
              <p:ext uri="{D42A27DB-BD31-4B8C-83A1-F6EECF244321}">
                <p14:modId xmlns:p14="http://schemas.microsoft.com/office/powerpoint/2010/main" val="807854319"/>
              </p:ext>
            </p:extLst>
          </p:nvPr>
        </p:nvGraphicFramePr>
        <p:xfrm>
          <a:off x="7095792" y="3102305"/>
          <a:ext cx="304866" cy="307210"/>
        </p:xfrm>
        <a:graphic>
          <a:graphicData uri="http://schemas.openxmlformats.org/presentationml/2006/ole">
            <mc:AlternateContent xmlns:mc="http://schemas.openxmlformats.org/markup-compatibility/2006">
              <mc:Choice xmlns:v="urn:schemas-microsoft-com:vml" Requires="v">
                <p:oleObj spid="_x0000_s5608" name="Equation" r:id="rId5" imgW="203040" imgH="177480" progId="Equation.DSMT4">
                  <p:embed/>
                </p:oleObj>
              </mc:Choice>
              <mc:Fallback>
                <p:oleObj name="Equation" r:id="rId5" imgW="203040" imgH="177480" progId="Equation.DSMT4">
                  <p:embed/>
                  <p:pic>
                    <p:nvPicPr>
                      <p:cNvPr id="0" name=""/>
                      <p:cNvPicPr>
                        <a:picLocks noChangeAspect="1" noChangeArrowheads="1"/>
                      </p:cNvPicPr>
                      <p:nvPr/>
                    </p:nvPicPr>
                    <p:blipFill>
                      <a:blip r:embed="rId6"/>
                      <a:srcRect/>
                      <a:stretch>
                        <a:fillRect/>
                      </a:stretch>
                    </p:blipFill>
                    <p:spPr bwMode="auto">
                      <a:xfrm>
                        <a:off x="7095792" y="3102305"/>
                        <a:ext cx="304866" cy="307210"/>
                      </a:xfrm>
                      <a:prstGeom prst="rect">
                        <a:avLst/>
                      </a:prstGeom>
                      <a:noFill/>
                      <a:ln>
                        <a:noFill/>
                      </a:ln>
                    </p:spPr>
                  </p:pic>
                </p:oleObj>
              </mc:Fallback>
            </mc:AlternateContent>
          </a:graphicData>
        </a:graphic>
      </p:graphicFrame>
      <p:cxnSp>
        <p:nvCxnSpPr>
          <p:cNvPr id="10" name="直接连接符 9"/>
          <p:cNvCxnSpPr/>
          <p:nvPr/>
        </p:nvCxnSpPr>
        <p:spPr>
          <a:xfrm rot="5400000">
            <a:off x="4482963" y="3054561"/>
            <a:ext cx="79166"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11" name="对象 10"/>
          <p:cNvGraphicFramePr>
            <a:graphicFrameLocks noChangeAspect="1"/>
          </p:cNvGraphicFramePr>
          <p:nvPr>
            <p:extLst>
              <p:ext uri="{D42A27DB-BD31-4B8C-83A1-F6EECF244321}">
                <p14:modId xmlns:p14="http://schemas.microsoft.com/office/powerpoint/2010/main" val="180391256"/>
              </p:ext>
            </p:extLst>
          </p:nvPr>
        </p:nvGraphicFramePr>
        <p:xfrm>
          <a:off x="4380111" y="3101984"/>
          <a:ext cx="286753" cy="307210"/>
        </p:xfrm>
        <a:graphic>
          <a:graphicData uri="http://schemas.openxmlformats.org/presentationml/2006/ole">
            <mc:AlternateContent xmlns:mc="http://schemas.openxmlformats.org/markup-compatibility/2006">
              <mc:Choice xmlns:v="urn:schemas-microsoft-com:vml" Requires="v">
                <p:oleObj spid="_x0000_s5609" name="Equation" r:id="rId7" imgW="190440" imgH="177480" progId="Equation.DSMT4">
                  <p:embed/>
                </p:oleObj>
              </mc:Choice>
              <mc:Fallback>
                <p:oleObj name="Equation" r:id="rId7" imgW="190440" imgH="177480" progId="Equation.DSMT4">
                  <p:embed/>
                  <p:pic>
                    <p:nvPicPr>
                      <p:cNvPr id="0" name=""/>
                      <p:cNvPicPr>
                        <a:picLocks noChangeAspect="1" noChangeArrowheads="1"/>
                      </p:cNvPicPr>
                      <p:nvPr/>
                    </p:nvPicPr>
                    <p:blipFill>
                      <a:blip r:embed="rId8"/>
                      <a:srcRect/>
                      <a:stretch>
                        <a:fillRect/>
                      </a:stretch>
                    </p:blipFill>
                    <p:spPr bwMode="auto">
                      <a:xfrm>
                        <a:off x="4380111" y="3101984"/>
                        <a:ext cx="286753" cy="3072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cxnSp>
        <p:nvCxnSpPr>
          <p:cNvPr id="12" name="直接连接符 11"/>
          <p:cNvCxnSpPr/>
          <p:nvPr/>
        </p:nvCxnSpPr>
        <p:spPr>
          <a:xfrm rot="5400000">
            <a:off x="3151824" y="3062722"/>
            <a:ext cx="79166"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rot="5400000">
            <a:off x="5977109" y="3053702"/>
            <a:ext cx="79166"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14" name="对象 13"/>
          <p:cNvGraphicFramePr>
            <a:graphicFrameLocks noChangeAspect="1"/>
          </p:cNvGraphicFramePr>
          <p:nvPr>
            <p:extLst>
              <p:ext uri="{D42A27DB-BD31-4B8C-83A1-F6EECF244321}">
                <p14:modId xmlns:p14="http://schemas.microsoft.com/office/powerpoint/2010/main" val="1564562939"/>
              </p:ext>
            </p:extLst>
          </p:nvPr>
        </p:nvGraphicFramePr>
        <p:xfrm>
          <a:off x="3038976" y="3102305"/>
          <a:ext cx="304866" cy="307210"/>
        </p:xfrm>
        <a:graphic>
          <a:graphicData uri="http://schemas.openxmlformats.org/presentationml/2006/ole">
            <mc:AlternateContent xmlns:mc="http://schemas.openxmlformats.org/markup-compatibility/2006">
              <mc:Choice xmlns:v="urn:schemas-microsoft-com:vml" Requires="v">
                <p:oleObj spid="_x0000_s5610" name="Equation" r:id="rId9" imgW="203040" imgH="177480" progId="Equation.DSMT4">
                  <p:embed/>
                </p:oleObj>
              </mc:Choice>
              <mc:Fallback>
                <p:oleObj name="Equation" r:id="rId9" imgW="203040" imgH="177480" progId="Equation.DSMT4">
                  <p:embed/>
                  <p:pic>
                    <p:nvPicPr>
                      <p:cNvPr id="0" name=""/>
                      <p:cNvPicPr>
                        <a:picLocks noChangeAspect="1" noChangeArrowheads="1"/>
                      </p:cNvPicPr>
                      <p:nvPr/>
                    </p:nvPicPr>
                    <p:blipFill>
                      <a:blip r:embed="rId10"/>
                      <a:srcRect/>
                      <a:stretch>
                        <a:fillRect/>
                      </a:stretch>
                    </p:blipFill>
                    <p:spPr bwMode="auto">
                      <a:xfrm>
                        <a:off x="3038976" y="3102305"/>
                        <a:ext cx="304866" cy="3072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5" name="对象 14"/>
          <p:cNvGraphicFramePr>
            <a:graphicFrameLocks noChangeAspect="1"/>
          </p:cNvGraphicFramePr>
          <p:nvPr>
            <p:extLst>
              <p:ext uri="{D42A27DB-BD31-4B8C-83A1-F6EECF244321}">
                <p14:modId xmlns:p14="http://schemas.microsoft.com/office/powerpoint/2010/main" val="518703092"/>
              </p:ext>
            </p:extLst>
          </p:nvPr>
        </p:nvGraphicFramePr>
        <p:xfrm>
          <a:off x="5874251" y="3101984"/>
          <a:ext cx="286755" cy="307210"/>
        </p:xfrm>
        <a:graphic>
          <a:graphicData uri="http://schemas.openxmlformats.org/presentationml/2006/ole">
            <mc:AlternateContent xmlns:mc="http://schemas.openxmlformats.org/markup-compatibility/2006">
              <mc:Choice xmlns:v="urn:schemas-microsoft-com:vml" Requires="v">
                <p:oleObj spid="_x0000_s5611" name="Equation" r:id="rId11" imgW="190440" imgH="177480" progId="Equation.DSMT4">
                  <p:embed/>
                </p:oleObj>
              </mc:Choice>
              <mc:Fallback>
                <p:oleObj name="Equation" r:id="rId11" imgW="190440" imgH="177480" progId="Equation.DSMT4">
                  <p:embed/>
                  <p:pic>
                    <p:nvPicPr>
                      <p:cNvPr id="0" name=""/>
                      <p:cNvPicPr>
                        <a:picLocks noChangeAspect="1" noChangeArrowheads="1"/>
                      </p:cNvPicPr>
                      <p:nvPr/>
                    </p:nvPicPr>
                    <p:blipFill>
                      <a:blip r:embed="rId12"/>
                      <a:srcRect/>
                      <a:stretch>
                        <a:fillRect/>
                      </a:stretch>
                    </p:blipFill>
                    <p:spPr bwMode="auto">
                      <a:xfrm>
                        <a:off x="5874251" y="3101984"/>
                        <a:ext cx="286755" cy="307210"/>
                      </a:xfrm>
                      <a:prstGeom prst="rect">
                        <a:avLst/>
                      </a:prstGeom>
                      <a:noFill/>
                      <a:ln>
                        <a:noFill/>
                      </a:ln>
                    </p:spPr>
                  </p:pic>
                </p:oleObj>
              </mc:Fallback>
            </mc:AlternateContent>
          </a:graphicData>
        </a:graphic>
      </p:graphicFrame>
      <p:sp>
        <p:nvSpPr>
          <p:cNvPr id="16" name="右大括号 15"/>
          <p:cNvSpPr/>
          <p:nvPr/>
        </p:nvSpPr>
        <p:spPr>
          <a:xfrm rot="16200000">
            <a:off x="1770699" y="1485445"/>
            <a:ext cx="720003" cy="2410041"/>
          </a:xfrm>
          <a:prstGeom prst="rightBrace">
            <a:avLst>
              <a:gd name="adj1" fmla="val 8333"/>
              <a:gd name="adj2" fmla="val 51609"/>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7" name="文本框 53"/>
          <p:cNvSpPr txBox="1"/>
          <p:nvPr/>
        </p:nvSpPr>
        <p:spPr>
          <a:xfrm>
            <a:off x="1692118" y="1828764"/>
            <a:ext cx="877164" cy="369331"/>
          </a:xfrm>
          <a:prstGeom prst="rect">
            <a:avLst/>
          </a:prstGeom>
          <a:noFill/>
        </p:spPr>
        <p:txBody>
          <a:bodyPr vert="horz" wrap="none" rtlCol="0">
            <a:spAutoFit/>
          </a:bodyPr>
          <a:lstStyle/>
          <a:p>
            <a:r>
              <a:rPr lang="zh-CN" altLang="en-US" b="1" dirty="0">
                <a:latin typeface="Times New Roman" panose="02020603050405020304" pitchFamily="18" charset="0"/>
                <a:ea typeface="华文楷体" panose="02010600040101010101" pitchFamily="2" charset="-122"/>
                <a:cs typeface="Times New Roman" panose="02020603050405020304" pitchFamily="18" charset="0"/>
              </a:rPr>
              <a:t>推理期</a:t>
            </a:r>
          </a:p>
        </p:txBody>
      </p:sp>
      <p:sp>
        <p:nvSpPr>
          <p:cNvPr id="18" name="右大括号 17"/>
          <p:cNvSpPr/>
          <p:nvPr/>
        </p:nvSpPr>
        <p:spPr>
          <a:xfrm rot="16200000">
            <a:off x="3786096" y="2326830"/>
            <a:ext cx="720001" cy="771013"/>
          </a:xfrm>
          <a:prstGeom prst="rightBrace">
            <a:avLst>
              <a:gd name="adj1" fmla="val 8333"/>
              <a:gd name="adj2" fmla="val 51609"/>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9" name="文本框 53"/>
          <p:cNvSpPr txBox="1"/>
          <p:nvPr/>
        </p:nvSpPr>
        <p:spPr>
          <a:xfrm>
            <a:off x="3707905" y="1835533"/>
            <a:ext cx="877164" cy="369331"/>
          </a:xfrm>
          <a:prstGeom prst="rect">
            <a:avLst/>
          </a:prstGeom>
          <a:noFill/>
        </p:spPr>
        <p:txBody>
          <a:bodyPr vert="horz" wrap="none" rtlCol="0">
            <a:spAutoFit/>
          </a:bodyPr>
          <a:lstStyle/>
          <a:p>
            <a:r>
              <a:rPr lang="zh-CN" altLang="en-US" b="1" dirty="0">
                <a:latin typeface="Times New Roman" panose="02020603050405020304" pitchFamily="18" charset="0"/>
                <a:ea typeface="华文楷体" panose="02010600040101010101" pitchFamily="2" charset="-122"/>
                <a:cs typeface="Times New Roman" panose="02020603050405020304" pitchFamily="18" charset="0"/>
              </a:rPr>
              <a:t>知识期</a:t>
            </a:r>
          </a:p>
        </p:txBody>
      </p:sp>
      <p:sp>
        <p:nvSpPr>
          <p:cNvPr id="20" name="右大括号 19"/>
          <p:cNvSpPr/>
          <p:nvPr/>
        </p:nvSpPr>
        <p:spPr>
          <a:xfrm rot="16200000">
            <a:off x="5955637" y="1000465"/>
            <a:ext cx="720001" cy="3367244"/>
          </a:xfrm>
          <a:prstGeom prst="rightBrace">
            <a:avLst>
              <a:gd name="adj1" fmla="val 8333"/>
              <a:gd name="adj2" fmla="val 51609"/>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1" name="文本框 53"/>
          <p:cNvSpPr txBox="1"/>
          <p:nvPr/>
        </p:nvSpPr>
        <p:spPr>
          <a:xfrm>
            <a:off x="5940152" y="1907541"/>
            <a:ext cx="877164" cy="369331"/>
          </a:xfrm>
          <a:prstGeom prst="rect">
            <a:avLst/>
          </a:prstGeom>
          <a:noFill/>
        </p:spPr>
        <p:txBody>
          <a:bodyPr vert="horz" wrap="none" rtlCol="0">
            <a:spAutoFit/>
          </a:bodyPr>
          <a:lstStyle/>
          <a:p>
            <a:r>
              <a:rPr lang="zh-CN" altLang="en-US" b="1" dirty="0">
                <a:latin typeface="Times New Roman" panose="02020603050405020304" pitchFamily="18" charset="0"/>
                <a:ea typeface="华文楷体" panose="02010600040101010101" pitchFamily="2" charset="-122"/>
                <a:cs typeface="Times New Roman" panose="02020603050405020304" pitchFamily="18" charset="0"/>
              </a:rPr>
              <a:t>学习期</a:t>
            </a:r>
          </a:p>
        </p:txBody>
      </p:sp>
      <p:cxnSp>
        <p:nvCxnSpPr>
          <p:cNvPr id="22" name="直接连接符 21"/>
          <p:cNvCxnSpPr/>
          <p:nvPr/>
        </p:nvCxnSpPr>
        <p:spPr>
          <a:xfrm flipV="1">
            <a:off x="4285604" y="3210207"/>
            <a:ext cx="562368" cy="408450"/>
          </a:xfrm>
          <a:prstGeom prst="line">
            <a:avLst/>
          </a:prstGeom>
          <a:ln>
            <a:solidFill>
              <a:schemeClr val="tx1"/>
            </a:solidFill>
            <a:tailEnd type="stealth"/>
          </a:ln>
        </p:spPr>
        <p:style>
          <a:lnRef idx="1">
            <a:schemeClr val="accent1"/>
          </a:lnRef>
          <a:fillRef idx="0">
            <a:schemeClr val="accent1"/>
          </a:fillRef>
          <a:effectRef idx="0">
            <a:schemeClr val="accent1"/>
          </a:effectRef>
          <a:fontRef idx="minor">
            <a:schemeClr val="tx1"/>
          </a:fontRef>
        </p:style>
      </p:cxnSp>
      <p:sp>
        <p:nvSpPr>
          <p:cNvPr id="23" name="文本框 53"/>
          <p:cNvSpPr txBox="1"/>
          <p:nvPr/>
        </p:nvSpPr>
        <p:spPr>
          <a:xfrm>
            <a:off x="1201959" y="3618657"/>
            <a:ext cx="5888274" cy="369331"/>
          </a:xfrm>
          <a:prstGeom prst="rect">
            <a:avLst/>
          </a:prstGeom>
          <a:noFill/>
        </p:spPr>
        <p:txBody>
          <a:bodyPr vert="horz" wrap="square" rtlCol="0">
            <a:spAutoFit/>
          </a:bodyPr>
          <a:lstStyle/>
          <a:p>
            <a:r>
              <a:rPr lang="zh-CN" altLang="en-US" b="1" dirty="0">
                <a:latin typeface="Times New Roman" panose="02020603050405020304" pitchFamily="18" charset="0"/>
                <a:ea typeface="华文楷体" panose="02010600040101010101" pitchFamily="2" charset="-122"/>
                <a:cs typeface="Times New Roman" panose="02020603050405020304" pitchFamily="18" charset="0"/>
              </a:rPr>
              <a:t>符号主义学习：决策树和基于逻辑的学习</a:t>
            </a:r>
          </a:p>
        </p:txBody>
      </p:sp>
      <p:cxnSp>
        <p:nvCxnSpPr>
          <p:cNvPr id="24" name="直接连接符 23"/>
          <p:cNvCxnSpPr/>
          <p:nvPr/>
        </p:nvCxnSpPr>
        <p:spPr>
          <a:xfrm flipV="1">
            <a:off x="4847973" y="3210207"/>
            <a:ext cx="851208" cy="923701"/>
          </a:xfrm>
          <a:prstGeom prst="line">
            <a:avLst/>
          </a:prstGeom>
          <a:ln>
            <a:solidFill>
              <a:schemeClr val="tx1"/>
            </a:solidFill>
            <a:tailEnd type="stealth"/>
          </a:ln>
        </p:spPr>
        <p:style>
          <a:lnRef idx="1">
            <a:schemeClr val="accent1"/>
          </a:lnRef>
          <a:fillRef idx="0">
            <a:schemeClr val="accent1"/>
          </a:fillRef>
          <a:effectRef idx="0">
            <a:schemeClr val="accent1"/>
          </a:effectRef>
          <a:fontRef idx="minor">
            <a:schemeClr val="tx1"/>
          </a:fontRef>
        </p:style>
      </p:cxnSp>
      <p:sp>
        <p:nvSpPr>
          <p:cNvPr id="25" name="文本框 53"/>
          <p:cNvSpPr txBox="1"/>
          <p:nvPr/>
        </p:nvSpPr>
        <p:spPr>
          <a:xfrm>
            <a:off x="2455183" y="4133908"/>
            <a:ext cx="3660841" cy="369331"/>
          </a:xfrm>
          <a:prstGeom prst="rect">
            <a:avLst/>
          </a:prstGeom>
          <a:noFill/>
        </p:spPr>
        <p:txBody>
          <a:bodyPr vert="horz" wrap="square" rtlCol="0">
            <a:spAutoFit/>
          </a:bodyPr>
          <a:lstStyle/>
          <a:p>
            <a:r>
              <a:rPr lang="zh-CN" altLang="en-US" b="1" dirty="0">
                <a:latin typeface="Times New Roman" panose="02020603050405020304" pitchFamily="18" charset="0"/>
                <a:ea typeface="华文楷体" panose="02010600040101010101" pitchFamily="2" charset="-122"/>
                <a:cs typeface="Times New Roman" panose="02020603050405020304" pitchFamily="18" charset="0"/>
              </a:rPr>
              <a:t>连接主义学习：基于神经网络</a:t>
            </a:r>
          </a:p>
        </p:txBody>
      </p:sp>
      <p:cxnSp>
        <p:nvCxnSpPr>
          <p:cNvPr id="26" name="直接连接符 25"/>
          <p:cNvCxnSpPr/>
          <p:nvPr/>
        </p:nvCxnSpPr>
        <p:spPr>
          <a:xfrm flipV="1">
            <a:off x="5825956" y="3210207"/>
            <a:ext cx="857520" cy="1493222"/>
          </a:xfrm>
          <a:prstGeom prst="line">
            <a:avLst/>
          </a:prstGeom>
          <a:ln>
            <a:solidFill>
              <a:schemeClr val="tx1"/>
            </a:solidFill>
            <a:tailEnd type="stealth"/>
          </a:ln>
        </p:spPr>
        <p:style>
          <a:lnRef idx="1">
            <a:schemeClr val="accent1"/>
          </a:lnRef>
          <a:fillRef idx="0">
            <a:schemeClr val="accent1"/>
          </a:fillRef>
          <a:effectRef idx="0">
            <a:schemeClr val="accent1"/>
          </a:effectRef>
          <a:fontRef idx="minor">
            <a:schemeClr val="tx1"/>
          </a:fontRef>
        </p:style>
      </p:cxnSp>
      <p:sp>
        <p:nvSpPr>
          <p:cNvPr id="27" name="文本框 53"/>
          <p:cNvSpPr txBox="1"/>
          <p:nvPr/>
        </p:nvSpPr>
        <p:spPr>
          <a:xfrm>
            <a:off x="3084256" y="4637962"/>
            <a:ext cx="4236658" cy="369331"/>
          </a:xfrm>
          <a:prstGeom prst="rect">
            <a:avLst/>
          </a:prstGeom>
          <a:noFill/>
        </p:spPr>
        <p:txBody>
          <a:bodyPr vert="horz" wrap="square" rtlCol="0">
            <a:spAutoFit/>
          </a:bodyPr>
          <a:lstStyle/>
          <a:p>
            <a:r>
              <a:rPr lang="zh-CN" altLang="en-US" b="1" dirty="0">
                <a:latin typeface="Times New Roman" panose="02020603050405020304" pitchFamily="18" charset="0"/>
                <a:ea typeface="华文楷体" panose="02010600040101010101" pitchFamily="2" charset="-122"/>
                <a:cs typeface="Times New Roman" panose="02020603050405020304" pitchFamily="18" charset="0"/>
              </a:rPr>
              <a:t>统计学习：支持向量机和核方法</a:t>
            </a:r>
          </a:p>
        </p:txBody>
      </p:sp>
      <p:cxnSp>
        <p:nvCxnSpPr>
          <p:cNvPr id="28" name="直接连接符 27"/>
          <p:cNvCxnSpPr/>
          <p:nvPr/>
        </p:nvCxnSpPr>
        <p:spPr>
          <a:xfrm flipV="1">
            <a:off x="6876255" y="3143542"/>
            <a:ext cx="889319" cy="1926471"/>
          </a:xfrm>
          <a:prstGeom prst="line">
            <a:avLst/>
          </a:prstGeom>
          <a:ln>
            <a:solidFill>
              <a:schemeClr val="tx1"/>
            </a:solidFill>
            <a:tailEnd type="stealth"/>
          </a:ln>
        </p:spPr>
        <p:style>
          <a:lnRef idx="1">
            <a:schemeClr val="accent1"/>
          </a:lnRef>
          <a:fillRef idx="0">
            <a:schemeClr val="accent1"/>
          </a:fillRef>
          <a:effectRef idx="0">
            <a:schemeClr val="accent1"/>
          </a:effectRef>
          <a:fontRef idx="minor">
            <a:schemeClr val="tx1"/>
          </a:fontRef>
        </p:style>
      </p:cxnSp>
      <p:sp>
        <p:nvSpPr>
          <p:cNvPr id="29" name="文本框 53"/>
          <p:cNvSpPr txBox="1"/>
          <p:nvPr/>
        </p:nvSpPr>
        <p:spPr>
          <a:xfrm>
            <a:off x="4997576" y="5070011"/>
            <a:ext cx="3534864" cy="369331"/>
          </a:xfrm>
          <a:prstGeom prst="rect">
            <a:avLst/>
          </a:prstGeom>
          <a:noFill/>
        </p:spPr>
        <p:txBody>
          <a:bodyPr vert="horz" wrap="square" rtlCol="0">
            <a:spAutoFit/>
          </a:bodyPr>
          <a:lstStyle/>
          <a:p>
            <a:r>
              <a:rPr lang="zh-CN" altLang="en-US" b="1" dirty="0">
                <a:latin typeface="Times New Roman" panose="02020603050405020304" pitchFamily="18" charset="0"/>
                <a:ea typeface="华文楷体" panose="02010600040101010101" pitchFamily="2" charset="-122"/>
                <a:cs typeface="Times New Roman" panose="02020603050405020304" pitchFamily="18" charset="0"/>
              </a:rPr>
              <a:t>连接主义学习：深度学习</a:t>
            </a:r>
          </a:p>
        </p:txBody>
      </p:sp>
    </p:spTree>
    <p:extLst>
      <p:ext uri="{BB962C8B-B14F-4D97-AF65-F5344CB8AC3E}">
        <p14:creationId xmlns:p14="http://schemas.microsoft.com/office/powerpoint/2010/main" val="911577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00"/>
                                        <p:tgtEl>
                                          <p:spTgt spid="1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500"/>
                                        <p:tgtEl>
                                          <p:spTgt spid="2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500"/>
                                        <p:tgtEl>
                                          <p:spTgt spid="2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00"/>
                                        <p:tgtEl>
                                          <p:spTgt spid="23"/>
                                        </p:tgtEl>
                                      </p:cBhvr>
                                    </p:animEffect>
                                  </p:childTnLst>
                                </p:cTn>
                              </p:par>
                              <p:par>
                                <p:cTn id="32" presetID="10" presetClass="entr" presetSubtype="0" fill="hold"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500"/>
                                        <p:tgtEl>
                                          <p:spTgt spid="22"/>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00"/>
                                        <p:tgtEl>
                                          <p:spTgt spid="2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500"/>
                                        <p:tgtEl>
                                          <p:spTgt spid="27"/>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500"/>
                                        <p:tgtEl>
                                          <p:spTgt spid="2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p:bldP spid="18" grpId="0" animBg="1"/>
      <p:bldP spid="19" grpId="0"/>
      <p:bldP spid="20" grpId="0" animBg="1"/>
      <p:bldP spid="21" grpId="0"/>
      <p:bldP spid="23" grpId="0"/>
      <p:bldP spid="25" grpId="0"/>
      <p:bldP spid="27" grpId="0"/>
      <p:bldP spid="29"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2450" name="矩形 872449"/>
          <p:cNvSpPr/>
          <p:nvPr/>
        </p:nvSpPr>
        <p:spPr>
          <a:xfrm>
            <a:off x="685800" y="609600"/>
            <a:ext cx="7772400" cy="1143000"/>
          </a:xfrm>
          <a:prstGeom prst="rect">
            <a:avLst/>
          </a:prstGeom>
          <a:noFill/>
          <a:ln w="9525">
            <a:noFill/>
          </a:ln>
        </p:spPr>
        <p:txBody>
          <a:bodyPr anchor="ctr"/>
          <a:lstStyle/>
          <a:p>
            <a:pPr lvl="0" algn="ctr" eaLnBrk="1" hangingPunct="1"/>
            <a:r>
              <a:rPr lang="zh-CN" altLang="en-US" sz="4400" b="1" dirty="0">
                <a:solidFill>
                  <a:srgbClr val="0000FF"/>
                </a:solidFill>
                <a:latin typeface="幼圆" panose="02010509060101010101" pitchFamily="49" charset="-122"/>
                <a:ea typeface="幼圆" panose="02010509060101010101" pitchFamily="49" charset="-122"/>
              </a:rPr>
              <a:t>发展历程</a:t>
            </a:r>
            <a:r>
              <a:rPr lang="en-US" altLang="zh-CN" sz="4400" b="1" dirty="0">
                <a:solidFill>
                  <a:srgbClr val="0000FF"/>
                </a:solidFill>
                <a:latin typeface="幼圆" panose="02010509060101010101" pitchFamily="49" charset="-122"/>
                <a:ea typeface="幼圆" panose="02010509060101010101" pitchFamily="49" charset="-122"/>
              </a:rPr>
              <a:t>-</a:t>
            </a:r>
            <a:r>
              <a:rPr lang="zh-CN" altLang="en-US" sz="4400" b="1" dirty="0">
                <a:solidFill>
                  <a:srgbClr val="0000FF"/>
                </a:solidFill>
                <a:latin typeface="幼圆" panose="02010509060101010101" pitchFamily="49" charset="-122"/>
                <a:ea typeface="幼圆" panose="02010509060101010101" pitchFamily="49" charset="-122"/>
              </a:rPr>
              <a:t>小结</a:t>
            </a:r>
          </a:p>
        </p:txBody>
      </p:sp>
      <p:sp>
        <p:nvSpPr>
          <p:cNvPr id="872451" name="矩形 872450"/>
          <p:cNvSpPr/>
          <p:nvPr/>
        </p:nvSpPr>
        <p:spPr>
          <a:xfrm>
            <a:off x="685800" y="1981200"/>
            <a:ext cx="7772400" cy="4544144"/>
          </a:xfrm>
          <a:prstGeom prst="rect">
            <a:avLst/>
          </a:prstGeom>
          <a:noFill/>
          <a:ln w="9525">
            <a:noFill/>
          </a:ln>
        </p:spPr>
        <p:txBody>
          <a:bodyPr/>
          <a:lstStyle/>
          <a:p>
            <a:pPr marL="457200" lvl="0" indent="-457200" eaLnBrk="1" hangingPunct="1">
              <a:lnSpc>
                <a:spcPct val="90000"/>
              </a:lnSpc>
              <a:spcBef>
                <a:spcPct val="20000"/>
              </a:spcBef>
              <a:buChar char="•"/>
            </a:pPr>
            <a:r>
              <a:rPr lang="zh-CN" altLang="en-US" sz="2000" b="1" dirty="0">
                <a:latin typeface="幼圆" panose="02010509060101010101" pitchFamily="49" charset="-122"/>
                <a:ea typeface="幼圆" panose="02010509060101010101" pitchFamily="49" charset="-122"/>
              </a:rPr>
              <a:t>推理期</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逻辑理论家</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知识期</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专家系统</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学习期</a:t>
            </a:r>
            <a:endParaRPr lang="en-US" altLang="zh-CN" sz="2000" b="1" dirty="0">
              <a:latin typeface="幼圆" panose="02010509060101010101" pitchFamily="49" charset="-122"/>
              <a:ea typeface="幼圆" panose="02010509060101010101" pitchFamily="49" charset="-122"/>
            </a:endParaRPr>
          </a:p>
          <a:p>
            <a:pPr marL="457200" lvl="0" indent="-457200" eaLnBrk="1" hangingPunct="1">
              <a:lnSpc>
                <a:spcPct val="90000"/>
              </a:lnSpc>
              <a:spcBef>
                <a:spcPct val="20000"/>
              </a:spcBef>
              <a:buChar char="•"/>
            </a:pPr>
            <a:r>
              <a:rPr lang="zh-CN" altLang="en-US" sz="2000" b="1" dirty="0">
                <a:latin typeface="幼圆" panose="02010509060101010101" pitchFamily="49" charset="-122"/>
                <a:ea typeface="幼圆" panose="02010509060101010101" pitchFamily="49" charset="-122"/>
              </a:rPr>
              <a:t>学习期</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百花期</a:t>
            </a:r>
            <a:r>
              <a:rPr lang="en-US" altLang="zh-CN" sz="2000" b="1" dirty="0">
                <a:latin typeface="幼圆" panose="02010509060101010101" pitchFamily="49" charset="-122"/>
                <a:ea typeface="幼圆" panose="02010509060101010101" pitchFamily="49" charset="-122"/>
              </a:rPr>
              <a:t>(1980-</a:t>
            </a:r>
            <a:r>
              <a:rPr lang="zh-CN" altLang="en-US" sz="2000" b="1" dirty="0">
                <a:latin typeface="幼圆" panose="02010509060101010101" pitchFamily="49" charset="-122"/>
                <a:ea typeface="幼圆" panose="02010509060101010101" pitchFamily="49" charset="-122"/>
              </a:rPr>
              <a:t>今</a:t>
            </a:r>
            <a:r>
              <a:rPr lang="en-US" altLang="zh-CN" sz="2000" b="1" dirty="0">
                <a:latin typeface="幼圆" panose="02010509060101010101" pitchFamily="49" charset="-122"/>
                <a:ea typeface="幼圆" panose="02010509060101010101" pitchFamily="49" charset="-122"/>
              </a:rPr>
              <a:t>)</a:t>
            </a:r>
            <a:r>
              <a:rPr lang="zh-CN" altLang="en-US" sz="2000" b="1" dirty="0">
                <a:latin typeface="幼圆" panose="02010509060101010101" pitchFamily="49" charset="-122"/>
                <a:ea typeface="幼圆" panose="02010509060101010101" pitchFamily="49" charset="-122"/>
              </a:rPr>
              <a:t>：独立学科</a:t>
            </a:r>
            <a:endParaRPr lang="en-US" altLang="zh-CN" sz="2000" b="1" dirty="0">
              <a:latin typeface="幼圆" panose="02010509060101010101" pitchFamily="49" charset="-122"/>
              <a:ea typeface="幼圆" panose="02010509060101010101" pitchFamily="49" charset="-122"/>
            </a:endParaRPr>
          </a:p>
          <a:p>
            <a:pPr marL="914400" lvl="1" indent="-457200">
              <a:lnSpc>
                <a:spcPct val="90000"/>
              </a:lnSpc>
              <a:spcBef>
                <a:spcPct val="20000"/>
              </a:spcBef>
              <a:buChar char="•"/>
            </a:pPr>
            <a:r>
              <a:rPr lang="zh-CN" altLang="en-US" sz="2000" b="1" dirty="0">
                <a:latin typeface="幼圆" panose="02010509060101010101" pitchFamily="49" charset="-122"/>
                <a:ea typeface="幼圆" panose="02010509060101010101" pitchFamily="49" charset="-122"/>
              </a:rPr>
              <a:t>会议、期刊、研究</a:t>
            </a:r>
            <a:endParaRPr lang="en-US" altLang="zh-CN" sz="2000" b="1" dirty="0">
              <a:latin typeface="幼圆" panose="02010509060101010101" pitchFamily="49" charset="-122"/>
              <a:ea typeface="幼圆" panose="02010509060101010101" pitchFamily="49" charset="-122"/>
            </a:endParaRPr>
          </a:p>
          <a:p>
            <a:pPr marL="914400" lvl="1" indent="-457200">
              <a:lnSpc>
                <a:spcPct val="90000"/>
              </a:lnSpc>
              <a:spcBef>
                <a:spcPct val="20000"/>
              </a:spcBef>
              <a:buFontTx/>
              <a:buChar char="•"/>
            </a:pPr>
            <a:r>
              <a:rPr lang="zh-CN" altLang="en-US" sz="2000" b="1" dirty="0">
                <a:latin typeface="幼圆" panose="02010509060101010101" pitchFamily="49" charset="-122"/>
                <a:ea typeface="幼圆" panose="02010509060101010101" pitchFamily="49" charset="-122"/>
              </a:rPr>
              <a:t>归纳学习：从样例中学习</a:t>
            </a:r>
            <a:endParaRPr lang="en-US" altLang="zh-CN" sz="2000" b="1" dirty="0">
              <a:latin typeface="幼圆" panose="02010509060101010101" pitchFamily="49" charset="-122"/>
              <a:ea typeface="幼圆" panose="02010509060101010101" pitchFamily="49" charset="-122"/>
            </a:endParaRPr>
          </a:p>
          <a:p>
            <a:pPr marL="1371600" lvl="2" indent="-457200">
              <a:lnSpc>
                <a:spcPct val="90000"/>
              </a:lnSpc>
              <a:spcBef>
                <a:spcPct val="20000"/>
              </a:spcBef>
              <a:buFontTx/>
              <a:buChar char="•"/>
            </a:pPr>
            <a:r>
              <a:rPr lang="zh-CN" altLang="en-US" sz="2000" b="1" dirty="0">
                <a:latin typeface="幼圆" panose="02010509060101010101" pitchFamily="49" charset="-122"/>
                <a:ea typeface="幼圆" panose="02010509060101010101" pitchFamily="49" charset="-122"/>
              </a:rPr>
              <a:t>研究最多，影响最广</a:t>
            </a:r>
            <a:endParaRPr lang="en-US" altLang="zh-CN" sz="2000" b="1" dirty="0">
              <a:latin typeface="幼圆" panose="02010509060101010101" pitchFamily="49" charset="-122"/>
              <a:ea typeface="幼圆" panose="02010509060101010101" pitchFamily="49" charset="-122"/>
            </a:endParaRPr>
          </a:p>
          <a:p>
            <a:pPr marL="457200" lvl="0" indent="-457200" eaLnBrk="1" hangingPunct="1">
              <a:lnSpc>
                <a:spcPct val="90000"/>
              </a:lnSpc>
              <a:spcBef>
                <a:spcPct val="20000"/>
              </a:spcBef>
              <a:buChar char="•"/>
            </a:pPr>
            <a:r>
              <a:rPr lang="zh-CN" altLang="en-US" sz="2000" b="1" dirty="0">
                <a:latin typeface="幼圆" panose="02010509060101010101" pitchFamily="49" charset="-122"/>
                <a:ea typeface="幼圆" panose="02010509060101010101" pitchFamily="49" charset="-122"/>
              </a:rPr>
              <a:t>符号主义、连接主义、统计学习、深度学习</a:t>
            </a:r>
            <a:endParaRPr lang="en-US" altLang="zh-CN" sz="2000" b="1" dirty="0">
              <a:latin typeface="幼圆" panose="02010509060101010101" pitchFamily="49" charset="-122"/>
              <a:ea typeface="幼圆" panose="02010509060101010101" pitchFamily="49" charset="-122"/>
            </a:endParaRPr>
          </a:p>
          <a:p>
            <a:pPr marL="457200" lvl="0" indent="-457200" eaLnBrk="1" hangingPunct="1">
              <a:lnSpc>
                <a:spcPct val="90000"/>
              </a:lnSpc>
              <a:spcBef>
                <a:spcPct val="20000"/>
              </a:spcBef>
              <a:buChar char="•"/>
            </a:pPr>
            <a:r>
              <a:rPr lang="zh-CN" altLang="en-US" sz="2000" b="1" dirty="0">
                <a:latin typeface="幼圆" panose="02010509060101010101" pitchFamily="49" charset="-122"/>
                <a:ea typeface="幼圆" panose="02010509060101010101" pitchFamily="49" charset="-122"/>
              </a:rPr>
              <a:t>神经网络：</a:t>
            </a:r>
            <a:endParaRPr lang="en-US" altLang="zh-CN" sz="2000" b="1" dirty="0">
              <a:latin typeface="幼圆" panose="02010509060101010101" pitchFamily="49" charset="-122"/>
              <a:ea typeface="幼圆" panose="02010509060101010101" pitchFamily="49" charset="-122"/>
            </a:endParaRPr>
          </a:p>
          <a:p>
            <a:pPr marL="914400" lvl="1" indent="-457200">
              <a:lnSpc>
                <a:spcPct val="90000"/>
              </a:lnSpc>
              <a:spcBef>
                <a:spcPct val="20000"/>
              </a:spcBef>
              <a:buChar char="•"/>
            </a:pPr>
            <a:r>
              <a:rPr lang="en-US" altLang="zh-CN" sz="2000" b="1" dirty="0">
                <a:latin typeface="幼圆" panose="02010509060101010101" pitchFamily="49" charset="-122"/>
                <a:ea typeface="幼圆" panose="02010509060101010101" pitchFamily="49" charset="-122"/>
              </a:rPr>
              <a:t>50</a:t>
            </a:r>
            <a:r>
              <a:rPr lang="zh-CN" altLang="en-US" sz="2000" b="1" dirty="0">
                <a:latin typeface="幼圆" panose="02010509060101010101" pitchFamily="49" charset="-122"/>
                <a:ea typeface="幼圆" panose="02010509060101010101" pitchFamily="49" charset="-122"/>
              </a:rPr>
              <a:t>巨大发展</a:t>
            </a:r>
            <a:r>
              <a:rPr lang="en-US" altLang="zh-CN" sz="2000" b="1" dirty="0">
                <a:latin typeface="幼圆" panose="02010509060101010101" pitchFamily="49" charset="-122"/>
                <a:ea typeface="幼圆" panose="02010509060101010101" pitchFamily="49" charset="-122"/>
              </a:rPr>
              <a:t>-I</a:t>
            </a:r>
            <a:r>
              <a:rPr lang="zh-CN" altLang="en-US" sz="2000" b="1" dirty="0">
                <a:latin typeface="幼圆" panose="02010509060101010101" pitchFamily="49" charset="-122"/>
                <a:ea typeface="幼圆" panose="02010509060101010101" pitchFamily="49" charset="-122"/>
              </a:rPr>
              <a:t>，</a:t>
            </a:r>
            <a:r>
              <a:rPr lang="en-US" altLang="zh-CN" sz="2000" b="1" dirty="0">
                <a:latin typeface="幼圆" panose="02010509060101010101" pitchFamily="49" charset="-122"/>
                <a:ea typeface="幼圆" panose="02010509060101010101" pitchFamily="49" charset="-122"/>
              </a:rPr>
              <a:t>60</a:t>
            </a:r>
            <a:r>
              <a:rPr lang="zh-CN" altLang="en-US" sz="2000" b="1" dirty="0">
                <a:latin typeface="幼圆" panose="02010509060101010101" pitchFamily="49" charset="-122"/>
                <a:ea typeface="幼圆" panose="02010509060101010101" pitchFamily="49" charset="-122"/>
              </a:rPr>
              <a:t>困惑期，</a:t>
            </a:r>
            <a:r>
              <a:rPr lang="en-US" altLang="zh-CN" sz="2000" b="1" dirty="0">
                <a:latin typeface="幼圆" panose="02010509060101010101" pitchFamily="49" charset="-122"/>
                <a:ea typeface="幼圆" panose="02010509060101010101" pitchFamily="49" charset="-122"/>
              </a:rPr>
              <a:t>80</a:t>
            </a:r>
            <a:r>
              <a:rPr lang="zh-CN" altLang="en-US" sz="2000" b="1" dirty="0">
                <a:latin typeface="幼圆" panose="02010509060101010101" pitchFamily="49" charset="-122"/>
                <a:ea typeface="幼圆" panose="02010509060101010101" pitchFamily="49" charset="-122"/>
              </a:rPr>
              <a:t>中期走红</a:t>
            </a:r>
            <a:r>
              <a:rPr lang="en-US" altLang="zh-CN" sz="2000" b="1" dirty="0">
                <a:latin typeface="幼圆" panose="02010509060101010101" pitchFamily="49" charset="-122"/>
                <a:ea typeface="幼圆" panose="02010509060101010101" pitchFamily="49" charset="-122"/>
              </a:rPr>
              <a:t>II</a:t>
            </a:r>
          </a:p>
          <a:p>
            <a:pPr marL="914400" lvl="1" indent="-457200">
              <a:lnSpc>
                <a:spcPct val="90000"/>
              </a:lnSpc>
              <a:spcBef>
                <a:spcPct val="20000"/>
              </a:spcBef>
              <a:buChar char="•"/>
            </a:pPr>
            <a:r>
              <a:rPr lang="en-US" altLang="zh-CN" sz="2000" b="1" dirty="0">
                <a:latin typeface="幼圆" panose="02010509060101010101" pitchFamily="49" charset="-122"/>
                <a:ea typeface="幼圆" panose="02010509060101010101" pitchFamily="49" charset="-122"/>
              </a:rPr>
              <a:t>2010</a:t>
            </a:r>
            <a:r>
              <a:rPr lang="zh-CN" altLang="en-US" sz="2000" b="1" dirty="0">
                <a:latin typeface="幼圆" panose="02010509060101010101" pitchFamily="49" charset="-122"/>
                <a:ea typeface="幼圆" panose="02010509060101010101" pitchFamily="49" charset="-122"/>
              </a:rPr>
              <a:t>深度学习</a:t>
            </a:r>
            <a:r>
              <a:rPr lang="en-US" altLang="zh-CN" sz="2000" b="1" dirty="0">
                <a:latin typeface="幼圆" panose="02010509060101010101" pitchFamily="49" charset="-122"/>
                <a:ea typeface="幼圆" panose="02010509060101010101" pitchFamily="49" charset="-122"/>
              </a:rPr>
              <a:t>II+</a:t>
            </a:r>
          </a:p>
          <a:p>
            <a:pPr marL="914400" lvl="1" indent="-457200">
              <a:lnSpc>
                <a:spcPct val="90000"/>
              </a:lnSpc>
              <a:spcBef>
                <a:spcPct val="20000"/>
              </a:spcBef>
              <a:buChar char="•"/>
            </a:pPr>
            <a:r>
              <a:rPr lang="zh-CN" altLang="en-US" sz="2000" b="1" dirty="0">
                <a:latin typeface="幼圆" panose="02010509060101010101" pitchFamily="49" charset="-122"/>
                <a:ea typeface="幼圆" panose="02010509060101010101" pitchFamily="49" charset="-122"/>
              </a:rPr>
              <a:t>一春又一春：试错性、手工调参、计算存储能力</a:t>
            </a:r>
            <a:endParaRPr lang="en-US" altLang="zh-CN" sz="2000" b="1" dirty="0">
              <a:latin typeface="幼圆" panose="02010509060101010101" pitchFamily="49" charset="-122"/>
              <a:ea typeface="幼圆" panose="02010509060101010101" pitchFamily="49" charset="-122"/>
            </a:endParaRPr>
          </a:p>
        </p:txBody>
      </p:sp>
      <p:sp>
        <p:nvSpPr>
          <p:cNvPr id="2" name="灯片编号占位符 1"/>
          <p:cNvSpPr>
            <a:spLocks noGrp="1"/>
          </p:cNvSpPr>
          <p:nvPr>
            <p:ph type="sldNum" sz="quarter" idx="12"/>
          </p:nvPr>
        </p:nvSpPr>
        <p:spPr/>
        <p:txBody>
          <a:bodyPr/>
          <a:lstStyle/>
          <a:p>
            <a:pPr lvl="0"/>
            <a:fld id="{9A0DB2DC-4C9A-4742-B13C-FB6460FD3503}" type="slidenum">
              <a:rPr lang="en-US" altLang="zh-CN" dirty="0"/>
              <a:t>38</a:t>
            </a:fld>
            <a:endParaRPr lang="zh-CN" dirty="0"/>
          </a:p>
        </p:txBody>
      </p:sp>
    </p:spTree>
    <p:extLst>
      <p:ext uri="{BB962C8B-B14F-4D97-AF65-F5344CB8AC3E}">
        <p14:creationId xmlns:p14="http://schemas.microsoft.com/office/powerpoint/2010/main" val="2285817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724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2451"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t>大纲</a:t>
            </a:r>
          </a:p>
        </p:txBody>
      </p:sp>
      <p:sp>
        <p:nvSpPr>
          <p:cNvPr id="3" name="内容占位符 2"/>
          <p:cNvSpPr>
            <a:spLocks noGrp="1"/>
          </p:cNvSpPr>
          <p:nvPr>
            <p:ph idx="1"/>
          </p:nvPr>
        </p:nvSpPr>
        <p:spPr>
          <a:xfrm>
            <a:off x="1331640" y="980728"/>
            <a:ext cx="6480720" cy="5795773"/>
          </a:xfrm>
        </p:spPr>
        <p:txBody>
          <a:bodyPr>
            <a:normAutofit/>
          </a:bodyPr>
          <a:lstStyle/>
          <a:p>
            <a:pPr>
              <a:lnSpc>
                <a:spcPts val="26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引言</a:t>
            </a: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基本术语</a:t>
            </a: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假设空间</a:t>
            </a: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归纳偏好</a:t>
            </a: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发展历程</a:t>
            </a: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r>
              <a:rPr lang="zh-CN" altLang="en-US" sz="2400" b="1" dirty="0">
                <a:solidFill>
                  <a:srgbClr val="0000FF"/>
                </a:solidFill>
                <a:latin typeface="幼圆" panose="02010509060101010101" pitchFamily="49" charset="-122"/>
                <a:ea typeface="幼圆" panose="02010509060101010101" pitchFamily="49" charset="-122"/>
              </a:rPr>
              <a:t>应用现状</a:t>
            </a:r>
            <a:endParaRPr lang="en-US" altLang="zh-CN" sz="2400" b="1" dirty="0">
              <a:solidFill>
                <a:srgbClr val="0000FF"/>
              </a:solidFill>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endParaRPr lang="en-US" altLang="zh-CN" sz="2400" b="1" dirty="0">
              <a:latin typeface="幼圆" panose="02010509060101010101" pitchFamily="49" charset="-122"/>
              <a:ea typeface="幼圆" panose="02010509060101010101" pitchFamily="49" charset="-122"/>
            </a:endParaRPr>
          </a:p>
        </p:txBody>
      </p:sp>
    </p:spTree>
    <p:extLst>
      <p:ext uri="{BB962C8B-B14F-4D97-AF65-F5344CB8AC3E}">
        <p14:creationId xmlns:p14="http://schemas.microsoft.com/office/powerpoint/2010/main" val="336317381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b="1" dirty="0">
                <a:latin typeface="幼圆" panose="02010509060101010101" pitchFamily="49" charset="-122"/>
                <a:ea typeface="幼圆" panose="02010509060101010101" pitchFamily="49" charset="-122"/>
              </a:rPr>
              <a:t>应用现状</a:t>
            </a:r>
          </a:p>
        </p:txBody>
      </p:sp>
      <p:sp>
        <p:nvSpPr>
          <p:cNvPr id="3" name="内容占位符 2"/>
          <p:cNvSpPr>
            <a:spLocks noGrp="1"/>
          </p:cNvSpPr>
          <p:nvPr>
            <p:ph idx="1"/>
          </p:nvPr>
        </p:nvSpPr>
        <p:spPr>
          <a:xfrm>
            <a:off x="444577" y="1417638"/>
            <a:ext cx="8616950" cy="4378601"/>
          </a:xfrm>
        </p:spPr>
        <p:txBody>
          <a:bodyPr>
            <a:normAutofit/>
          </a:bodyPr>
          <a:lstStyle/>
          <a:p>
            <a:r>
              <a:rPr lang="zh-CN" altLang="en-US" sz="2400" b="1" dirty="0">
                <a:solidFill>
                  <a:srgbClr val="023A91"/>
                </a:solidFill>
                <a:latin typeface="幼圆" pitchFamily="49" charset="-122"/>
                <a:ea typeface="幼圆" panose="02010509060101010101" pitchFamily="49" charset="-122"/>
              </a:rPr>
              <a:t>计算机领域最活跃的研究分支之一：</a:t>
            </a:r>
            <a:endParaRPr lang="en-US" altLang="zh-CN" sz="2400" b="1" dirty="0">
              <a:solidFill>
                <a:srgbClr val="023A91"/>
              </a:solidFill>
              <a:latin typeface="幼圆" pitchFamily="49" charset="-122"/>
              <a:ea typeface="幼圆" panose="02010509060101010101" pitchFamily="49" charset="-122"/>
            </a:endParaRPr>
          </a:p>
          <a:p>
            <a:pPr lvl="1"/>
            <a:r>
              <a:rPr lang="en-US" altLang="zh-CN" sz="2400" b="1" dirty="0">
                <a:latin typeface="幼圆" pitchFamily="49" charset="-122"/>
                <a:ea typeface="幼圆" panose="02010509060101010101" pitchFamily="49" charset="-122"/>
              </a:rPr>
              <a:t>NASA_JPL</a:t>
            </a:r>
            <a:r>
              <a:rPr lang="zh-CN" altLang="en-US" sz="2400" b="1" dirty="0">
                <a:latin typeface="幼圆" pitchFamily="49" charset="-122"/>
                <a:ea typeface="幼圆" panose="02010509060101010101" pitchFamily="49" charset="-122"/>
              </a:rPr>
              <a:t>科学家在</a:t>
            </a:r>
            <a:r>
              <a:rPr lang="en-US" altLang="zh-CN" sz="2400" b="1" dirty="0">
                <a:latin typeface="幼圆" pitchFamily="49" charset="-122"/>
                <a:ea typeface="幼圆" panose="02010509060101010101" pitchFamily="49" charset="-122"/>
              </a:rPr>
              <a:t>Science</a:t>
            </a:r>
            <a:r>
              <a:rPr lang="zh-CN" altLang="en-US" sz="2400" b="1" dirty="0">
                <a:latin typeface="幼圆" pitchFamily="49" charset="-122"/>
                <a:ea typeface="幼圆" panose="02010509060101010101" pitchFamily="49" charset="-122"/>
              </a:rPr>
              <a:t>撰文指出机器学习对科学研究起到越来越大的</a:t>
            </a:r>
            <a:r>
              <a:rPr lang="zh-CN" altLang="en-US" sz="2400" b="1" dirty="0">
                <a:solidFill>
                  <a:srgbClr val="0000FF"/>
                </a:solidFill>
                <a:latin typeface="幼圆" pitchFamily="49" charset="-122"/>
                <a:ea typeface="幼圆" panose="02010509060101010101" pitchFamily="49" charset="-122"/>
              </a:rPr>
              <a:t>支撑作用</a:t>
            </a:r>
            <a:endParaRPr lang="en-US" altLang="zh-CN" sz="2400" b="1" dirty="0">
              <a:solidFill>
                <a:srgbClr val="0000FF"/>
              </a:solidFill>
              <a:latin typeface="幼圆" pitchFamily="49" charset="-122"/>
              <a:ea typeface="幼圆" panose="02010509060101010101" pitchFamily="49" charset="-122"/>
            </a:endParaRPr>
          </a:p>
          <a:p>
            <a:pPr lvl="1">
              <a:lnSpc>
                <a:spcPct val="110000"/>
              </a:lnSpc>
            </a:pPr>
            <a:r>
              <a:rPr lang="en-US" altLang="zh-CN" sz="2400" b="1" dirty="0">
                <a:latin typeface="幼圆" pitchFamily="49" charset="-122"/>
                <a:ea typeface="幼圆" panose="02010509060101010101" pitchFamily="49" charset="-122"/>
              </a:rPr>
              <a:t>DARPA</a:t>
            </a:r>
            <a:r>
              <a:rPr lang="zh-CN" altLang="en-US" sz="2400" b="1" dirty="0">
                <a:latin typeface="幼圆" pitchFamily="49" charset="-122"/>
                <a:ea typeface="幼圆" panose="02010509060101010101" pitchFamily="49" charset="-122"/>
              </a:rPr>
              <a:t>启动</a:t>
            </a:r>
            <a:r>
              <a:rPr lang="en-US" altLang="zh-CN" sz="2400" b="1" dirty="0">
                <a:latin typeface="幼圆" pitchFamily="49" charset="-122"/>
                <a:ea typeface="幼圆" panose="02010509060101010101" pitchFamily="49" charset="-122"/>
              </a:rPr>
              <a:t>PAL</a:t>
            </a:r>
            <a:r>
              <a:rPr lang="zh-CN" altLang="en-US" sz="2400" b="1" dirty="0">
                <a:latin typeface="幼圆" pitchFamily="49" charset="-122"/>
                <a:ea typeface="幼圆" panose="02010509060101010101" pitchFamily="49" charset="-122"/>
              </a:rPr>
              <a:t>计划，将机器学习的重要性提高到</a:t>
            </a:r>
            <a:r>
              <a:rPr lang="zh-CN" altLang="en-US" sz="2400" b="1" dirty="0">
                <a:solidFill>
                  <a:srgbClr val="0000FF"/>
                </a:solidFill>
                <a:latin typeface="幼圆" pitchFamily="49" charset="-122"/>
                <a:ea typeface="幼圆" panose="02010509060101010101" pitchFamily="49" charset="-122"/>
              </a:rPr>
              <a:t>国家安全</a:t>
            </a:r>
            <a:r>
              <a:rPr lang="zh-CN" altLang="en-US" sz="2400" b="1" dirty="0">
                <a:latin typeface="幼圆" pitchFamily="49" charset="-122"/>
                <a:ea typeface="幼圆" panose="02010509060101010101" pitchFamily="49" charset="-122"/>
              </a:rPr>
              <a:t>的高度来考虑</a:t>
            </a:r>
            <a:endParaRPr lang="en-US" altLang="zh-CN" sz="2400" b="1" dirty="0">
              <a:latin typeface="幼圆" pitchFamily="49" charset="-122"/>
              <a:ea typeface="幼圆" panose="02010509060101010101" pitchFamily="49" charset="-122"/>
            </a:endParaRPr>
          </a:p>
          <a:p>
            <a:pPr marL="325800" lvl="1" indent="0">
              <a:lnSpc>
                <a:spcPct val="110000"/>
              </a:lnSpc>
              <a:buNone/>
            </a:pPr>
            <a:endParaRPr lang="en-US" altLang="zh-CN" sz="2400" b="1" dirty="0">
              <a:latin typeface="幼圆" pitchFamily="49" charset="-122"/>
              <a:ea typeface="幼圆" panose="02010509060101010101" pitchFamily="49" charset="-122"/>
            </a:endParaRPr>
          </a:p>
          <a:p>
            <a:pPr>
              <a:lnSpc>
                <a:spcPct val="110000"/>
              </a:lnSpc>
            </a:pPr>
            <a:r>
              <a:rPr lang="zh-CN" altLang="en-US" sz="2400" b="1" dirty="0">
                <a:solidFill>
                  <a:srgbClr val="023A91"/>
                </a:solidFill>
                <a:latin typeface="幼圆" pitchFamily="49" charset="-122"/>
                <a:ea typeface="幼圆" panose="02010509060101010101" pitchFamily="49" charset="-122"/>
              </a:rPr>
              <a:t>与普通人的生活密切相关：</a:t>
            </a:r>
            <a:endParaRPr lang="en-US" altLang="zh-CN" sz="2400" b="1" dirty="0">
              <a:solidFill>
                <a:srgbClr val="023A91"/>
              </a:solidFill>
              <a:latin typeface="幼圆" pitchFamily="49" charset="-122"/>
              <a:ea typeface="幼圆" panose="02010509060101010101" pitchFamily="49" charset="-122"/>
            </a:endParaRPr>
          </a:p>
          <a:p>
            <a:pPr lvl="1">
              <a:lnSpc>
                <a:spcPct val="110000"/>
              </a:lnSpc>
            </a:pPr>
            <a:r>
              <a:rPr lang="zh-CN" altLang="en-US" sz="2400" b="1" dirty="0">
                <a:latin typeface="幼圆" pitchFamily="49" charset="-122"/>
                <a:ea typeface="幼圆" panose="02010509060101010101" pitchFamily="49" charset="-122"/>
              </a:rPr>
              <a:t>天气预报、能源勘探、环境监测、搜索引擎、自动驾驶汽车等</a:t>
            </a:r>
            <a:endParaRPr lang="en-US" altLang="zh-CN" sz="2400" b="1" dirty="0">
              <a:latin typeface="幼圆" pitchFamily="49" charset="-122"/>
              <a:ea typeface="幼圆" panose="02010509060101010101" pitchFamily="49" charset="-122"/>
            </a:endParaRPr>
          </a:p>
        </p:txBody>
      </p:sp>
    </p:spTree>
    <p:extLst>
      <p:ext uri="{BB962C8B-B14F-4D97-AF65-F5344CB8AC3E}">
        <p14:creationId xmlns:p14="http://schemas.microsoft.com/office/powerpoint/2010/main" val="3171189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23900" y="276574"/>
            <a:ext cx="8229600" cy="1143000"/>
          </a:xfrm>
        </p:spPr>
        <p:txBody>
          <a:bodyPr>
            <a:normAutofit/>
          </a:bodyPr>
          <a:lstStyle/>
          <a:p>
            <a:r>
              <a:rPr lang="zh-CN" altLang="en-US" b="1" dirty="0">
                <a:latin typeface="幼圆" panose="02010509060101010101" pitchFamily="49" charset="-122"/>
                <a:ea typeface="幼圆" panose="02010509060101010101" pitchFamily="49" charset="-122"/>
              </a:rPr>
              <a:t>应用现状</a:t>
            </a:r>
          </a:p>
        </p:txBody>
      </p:sp>
      <p:sp>
        <p:nvSpPr>
          <p:cNvPr id="3" name="内容占位符 2"/>
          <p:cNvSpPr>
            <a:spLocks noGrp="1"/>
          </p:cNvSpPr>
          <p:nvPr>
            <p:ph idx="1"/>
          </p:nvPr>
        </p:nvSpPr>
        <p:spPr>
          <a:xfrm>
            <a:off x="527050" y="1268760"/>
            <a:ext cx="8616950" cy="4378601"/>
          </a:xfrm>
        </p:spPr>
        <p:txBody>
          <a:bodyPr>
            <a:noAutofit/>
          </a:bodyPr>
          <a:lstStyle/>
          <a:p>
            <a:pPr>
              <a:lnSpc>
                <a:spcPct val="110000"/>
              </a:lnSpc>
            </a:pPr>
            <a:r>
              <a:rPr lang="zh-CN" altLang="en-US" sz="2400" b="1" dirty="0">
                <a:solidFill>
                  <a:srgbClr val="023A91"/>
                </a:solidFill>
                <a:latin typeface="幼圆" pitchFamily="49" charset="-122"/>
                <a:ea typeface="幼圆" panose="02010509060101010101" pitchFamily="49" charset="-122"/>
              </a:rPr>
              <a:t>影响到人类社会的政治生活：</a:t>
            </a:r>
            <a:endParaRPr lang="en-US" altLang="zh-CN" sz="2400" b="1" dirty="0">
              <a:solidFill>
                <a:srgbClr val="023A91"/>
              </a:solidFill>
              <a:latin typeface="幼圆" pitchFamily="49" charset="-122"/>
              <a:ea typeface="幼圆" panose="02010509060101010101" pitchFamily="49" charset="-122"/>
            </a:endParaRPr>
          </a:p>
          <a:p>
            <a:pPr lvl="1">
              <a:lnSpc>
                <a:spcPct val="110000"/>
              </a:lnSpc>
            </a:pPr>
            <a:r>
              <a:rPr lang="en-US" altLang="zh-CN" sz="2400" b="1" dirty="0">
                <a:latin typeface="幼圆" pitchFamily="49" charset="-122"/>
                <a:ea typeface="幼圆" panose="02010509060101010101" pitchFamily="49" charset="-122"/>
              </a:rPr>
              <a:t>2012</a:t>
            </a:r>
            <a:r>
              <a:rPr lang="zh-CN" altLang="en-US" sz="2400" b="1" dirty="0">
                <a:latin typeface="幼圆" pitchFamily="49" charset="-122"/>
                <a:ea typeface="幼圆" panose="02010509060101010101" pitchFamily="49" charset="-122"/>
              </a:rPr>
              <a:t>美国大选期间奥巴马麾下的机器学习团队，对社交网络等各类数据进行分析，为其提示下一步的</a:t>
            </a:r>
            <a:r>
              <a:rPr lang="zh-CN" altLang="en-US" sz="2400" b="1" dirty="0">
                <a:solidFill>
                  <a:srgbClr val="0000FF"/>
                </a:solidFill>
                <a:latin typeface="幼圆" pitchFamily="49" charset="-122"/>
                <a:ea typeface="幼圆" panose="02010509060101010101" pitchFamily="49" charset="-122"/>
              </a:rPr>
              <a:t>竞选行动</a:t>
            </a:r>
            <a:r>
              <a:rPr lang="zh-CN" altLang="en-US" sz="2400" b="1" dirty="0">
                <a:latin typeface="幼圆" pitchFamily="49" charset="-122"/>
                <a:ea typeface="幼圆" panose="02010509060101010101" pitchFamily="49" charset="-122"/>
              </a:rPr>
              <a:t>。</a:t>
            </a:r>
            <a:endParaRPr lang="en-US" altLang="zh-CN" sz="2400" b="1" dirty="0">
              <a:latin typeface="幼圆" pitchFamily="49" charset="-122"/>
              <a:ea typeface="幼圆" panose="02010509060101010101" pitchFamily="49" charset="-122"/>
            </a:endParaRPr>
          </a:p>
          <a:p>
            <a:pPr>
              <a:lnSpc>
                <a:spcPct val="110000"/>
              </a:lnSpc>
            </a:pPr>
            <a:endParaRPr lang="en-US" altLang="zh-CN" sz="2400" b="1" dirty="0">
              <a:solidFill>
                <a:srgbClr val="023A91"/>
              </a:solidFill>
              <a:latin typeface="幼圆" pitchFamily="49" charset="-122"/>
              <a:ea typeface="幼圆" panose="02010509060101010101" pitchFamily="49" charset="-122"/>
            </a:endParaRPr>
          </a:p>
          <a:p>
            <a:pPr>
              <a:lnSpc>
                <a:spcPct val="110000"/>
              </a:lnSpc>
            </a:pPr>
            <a:r>
              <a:rPr lang="zh-CN" altLang="en-US" sz="2400" b="1" dirty="0">
                <a:solidFill>
                  <a:srgbClr val="023A91"/>
                </a:solidFill>
                <a:latin typeface="幼圆" pitchFamily="49" charset="-122"/>
                <a:ea typeface="幼圆" panose="02010509060101010101" pitchFamily="49" charset="-122"/>
              </a:rPr>
              <a:t>具有自然科学探索色彩：</a:t>
            </a:r>
            <a:endParaRPr lang="en-US" altLang="zh-CN" sz="2400" b="1" dirty="0">
              <a:solidFill>
                <a:srgbClr val="023A91"/>
              </a:solidFill>
              <a:latin typeface="幼圆" pitchFamily="49" charset="-122"/>
              <a:ea typeface="幼圆" panose="02010509060101010101" pitchFamily="49" charset="-122"/>
            </a:endParaRPr>
          </a:p>
          <a:p>
            <a:pPr lvl="1">
              <a:lnSpc>
                <a:spcPct val="110000"/>
              </a:lnSpc>
            </a:pPr>
            <a:r>
              <a:rPr lang="en-US" altLang="zh-CN" sz="2400" b="1" dirty="0" err="1">
                <a:latin typeface="幼圆" pitchFamily="49" charset="-122"/>
                <a:ea typeface="幼圆" panose="02010509060101010101" pitchFamily="49" charset="-122"/>
              </a:rPr>
              <a:t>P.Kanerva</a:t>
            </a:r>
            <a:r>
              <a:rPr lang="zh-CN" altLang="en-US" sz="2400" b="1" dirty="0">
                <a:latin typeface="幼圆" pitchFamily="49" charset="-122"/>
                <a:ea typeface="幼圆" panose="02010509060101010101" pitchFamily="49" charset="-122"/>
              </a:rPr>
              <a:t>在二十世纪八十年代中期提出</a:t>
            </a:r>
            <a:r>
              <a:rPr lang="en-US" altLang="zh-CN" sz="2400" b="1" dirty="0">
                <a:latin typeface="幼圆" pitchFamily="49" charset="-122"/>
                <a:ea typeface="幼圆" panose="02010509060101010101" pitchFamily="49" charset="-122"/>
              </a:rPr>
              <a:t>SDM(Sparse Distributed Memory)</a:t>
            </a:r>
            <a:r>
              <a:rPr lang="zh-CN" altLang="en-US" sz="2400" b="1" dirty="0">
                <a:latin typeface="幼圆" pitchFamily="49" charset="-122"/>
                <a:ea typeface="幼圆" panose="02010509060101010101" pitchFamily="49" charset="-122"/>
              </a:rPr>
              <a:t>模型时并没有刻意模仿脑生理结构，但后来神经科学的研究发现，</a:t>
            </a:r>
            <a:r>
              <a:rPr lang="en-US" altLang="zh-CN" sz="2400" b="1" dirty="0">
                <a:latin typeface="幼圆" pitchFamily="49" charset="-122"/>
                <a:ea typeface="幼圆" panose="02010509060101010101" pitchFamily="49" charset="-122"/>
              </a:rPr>
              <a:t>SDM</a:t>
            </a:r>
            <a:r>
              <a:rPr lang="zh-CN" altLang="en-US" sz="2400" b="1" dirty="0">
                <a:latin typeface="幼圆" pitchFamily="49" charset="-122"/>
                <a:ea typeface="幼圆" panose="02010509060101010101" pitchFamily="49" charset="-122"/>
              </a:rPr>
              <a:t>的稀疏编码机制在视觉、听觉、嗅觉功能的脑皮层中广泛存在，促进理解“</a:t>
            </a:r>
            <a:r>
              <a:rPr lang="zh-CN" altLang="en-US" sz="2400" b="1" dirty="0">
                <a:solidFill>
                  <a:srgbClr val="0000FF"/>
                </a:solidFill>
                <a:latin typeface="幼圆" pitchFamily="49" charset="-122"/>
                <a:ea typeface="幼圆" panose="02010509060101010101" pitchFamily="49" charset="-122"/>
              </a:rPr>
              <a:t>人类如何学习</a:t>
            </a:r>
            <a:r>
              <a:rPr lang="zh-CN" altLang="en-US" sz="2400" b="1" dirty="0">
                <a:latin typeface="幼圆" pitchFamily="49" charset="-122"/>
                <a:ea typeface="幼圆" panose="02010509060101010101" pitchFamily="49" charset="-122"/>
              </a:rPr>
              <a:t>”</a:t>
            </a:r>
            <a:endParaRPr lang="en-US" altLang="zh-CN" sz="2400" b="1" dirty="0">
              <a:latin typeface="幼圆" pitchFamily="49" charset="-122"/>
              <a:ea typeface="幼圆" panose="02010509060101010101" pitchFamily="49" charset="-122"/>
            </a:endParaRPr>
          </a:p>
        </p:txBody>
      </p:sp>
    </p:spTree>
    <p:extLst>
      <p:ext uri="{BB962C8B-B14F-4D97-AF65-F5344CB8AC3E}">
        <p14:creationId xmlns:p14="http://schemas.microsoft.com/office/powerpoint/2010/main" val="28441452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灯片编号占位符 5"/>
          <p:cNvSpPr>
            <a:spLocks noGrp="1"/>
          </p:cNvSpPr>
          <p:nvPr>
            <p:ph type="sldNum" sz="quarter" idx="4294967295"/>
          </p:nvPr>
        </p:nvSpPr>
        <p:spPr/>
        <p:txBody>
          <a:bodyPr/>
          <a:lstStyle/>
          <a:p>
            <a:pPr>
              <a:defRPr/>
            </a:pPr>
            <a:fld id="{E1F278E8-8AF7-44B3-BA69-E0E3E9B4952E}" type="slidenum">
              <a:rPr lang="en-US" altLang="zh-CN"/>
              <a:pPr>
                <a:defRPr/>
              </a:pPr>
              <a:t>42</a:t>
            </a:fld>
            <a:endParaRPr lang="en-US" altLang="zh-CN"/>
          </a:p>
        </p:txBody>
      </p:sp>
      <p:sp>
        <p:nvSpPr>
          <p:cNvPr id="10243" name="Rectangle 2"/>
          <p:cNvSpPr>
            <a:spLocks noChangeArrowheads="1"/>
          </p:cNvSpPr>
          <p:nvPr/>
        </p:nvSpPr>
        <p:spPr bwMode="auto">
          <a:xfrm>
            <a:off x="685800" y="609600"/>
            <a:ext cx="77724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algn="ctr" eaLnBrk="1" hangingPunct="1"/>
            <a:r>
              <a:rPr kumimoji="1" lang="zh-CN" altLang="en-US" sz="4400" b="1" dirty="0">
                <a:solidFill>
                  <a:schemeClr val="tx2"/>
                </a:solidFill>
                <a:latin typeface="Times New Roman" pitchFamily="18" charset="0"/>
              </a:rPr>
              <a:t>机器学习成功应用</a:t>
            </a:r>
          </a:p>
        </p:txBody>
      </p:sp>
      <p:sp>
        <p:nvSpPr>
          <p:cNvPr id="903171" name="Rectangle 3"/>
          <p:cNvSpPr>
            <a:spLocks noChangeArrowheads="1"/>
          </p:cNvSpPr>
          <p:nvPr/>
        </p:nvSpPr>
        <p:spPr bwMode="auto">
          <a:xfrm>
            <a:off x="685800" y="1909763"/>
            <a:ext cx="7772400" cy="42560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342900" indent="-342900" eaLnBrk="1" hangingPunct="1">
              <a:lnSpc>
                <a:spcPct val="90000"/>
              </a:lnSpc>
              <a:spcBef>
                <a:spcPct val="20000"/>
              </a:spcBef>
              <a:buFontTx/>
              <a:buChar char="•"/>
            </a:pPr>
            <a:r>
              <a:rPr kumimoji="1" lang="zh-CN" altLang="en-US" sz="2800" b="1" dirty="0">
                <a:latin typeface="Times New Roman" pitchFamily="18" charset="0"/>
              </a:rPr>
              <a:t>成功应用</a:t>
            </a:r>
          </a:p>
          <a:p>
            <a:pPr marL="742950" lvl="1" indent="-285750" eaLnBrk="1" hangingPunct="1">
              <a:lnSpc>
                <a:spcPct val="90000"/>
              </a:lnSpc>
              <a:spcBef>
                <a:spcPct val="20000"/>
              </a:spcBef>
              <a:buFont typeface="Tahoma" pitchFamily="34" charset="0"/>
              <a:buChar char="−"/>
            </a:pPr>
            <a:r>
              <a:rPr kumimoji="1" lang="zh-CN" altLang="en-US" sz="2400" b="1" dirty="0">
                <a:latin typeface="Times New Roman" pitchFamily="18" charset="0"/>
              </a:rPr>
              <a:t>语音识别</a:t>
            </a:r>
          </a:p>
          <a:p>
            <a:pPr marL="1143000" lvl="2" indent="-228600" eaLnBrk="1" hangingPunct="1">
              <a:lnSpc>
                <a:spcPct val="90000"/>
              </a:lnSpc>
              <a:spcBef>
                <a:spcPct val="20000"/>
              </a:spcBef>
              <a:buFont typeface="Wingdings" pitchFamily="2" charset="2"/>
              <a:buChar char="©"/>
            </a:pPr>
            <a:r>
              <a:rPr kumimoji="1" lang="zh-CN" altLang="en-US" sz="2000" b="1" dirty="0">
                <a:latin typeface="Times New Roman" pitchFamily="18" charset="0"/>
              </a:rPr>
              <a:t>语音识别：词汇识别</a:t>
            </a:r>
            <a:r>
              <a:rPr kumimoji="1" lang="en-US" altLang="zh-CN" sz="2000" b="1" dirty="0">
                <a:latin typeface="Times New Roman" pitchFamily="18" charset="0"/>
              </a:rPr>
              <a:t>—NN, HMM</a:t>
            </a:r>
          </a:p>
          <a:p>
            <a:pPr marL="1143000" lvl="2" indent="-228600" eaLnBrk="1" hangingPunct="1">
              <a:lnSpc>
                <a:spcPct val="90000"/>
              </a:lnSpc>
              <a:spcBef>
                <a:spcPct val="20000"/>
              </a:spcBef>
              <a:buFont typeface="Wingdings" pitchFamily="2" charset="2"/>
              <a:buChar char="©"/>
            </a:pPr>
            <a:r>
              <a:rPr kumimoji="1" lang="zh-CN" altLang="en-US" sz="2000" b="1" dirty="0">
                <a:latin typeface="Times New Roman" pitchFamily="18" charset="0"/>
              </a:rPr>
              <a:t>说话人识别</a:t>
            </a:r>
            <a:r>
              <a:rPr kumimoji="1" lang="en-US" altLang="zh-CN" sz="2000" b="1" dirty="0">
                <a:latin typeface="Times New Roman" pitchFamily="18" charset="0"/>
              </a:rPr>
              <a:t>(</a:t>
            </a:r>
            <a:r>
              <a:rPr kumimoji="1" lang="zh-CN" altLang="en-US" sz="2000" b="1" dirty="0">
                <a:latin typeface="Times New Roman" pitchFamily="18" charset="0"/>
              </a:rPr>
              <a:t>麦克风、背景噪音识别</a:t>
            </a:r>
            <a:r>
              <a:rPr kumimoji="1" lang="en-US" altLang="zh-CN" sz="2000" b="1" dirty="0">
                <a:latin typeface="Times New Roman" pitchFamily="18" charset="0"/>
              </a:rPr>
              <a:t>)</a:t>
            </a:r>
            <a:r>
              <a:rPr kumimoji="1" lang="zh-CN" altLang="en-US" sz="2000" b="1" dirty="0">
                <a:latin typeface="Times New Roman" pitchFamily="18" charset="0"/>
              </a:rPr>
              <a:t>：环境分类</a:t>
            </a:r>
            <a:r>
              <a:rPr kumimoji="1" lang="en-US" altLang="zh-CN" sz="2000" b="1" dirty="0">
                <a:latin typeface="Times New Roman" pitchFamily="18" charset="0"/>
              </a:rPr>
              <a:t>—</a:t>
            </a:r>
            <a:r>
              <a:rPr kumimoji="1" lang="zh-CN" altLang="en-US" sz="2000" b="1" dirty="0">
                <a:latin typeface="Times New Roman" pitchFamily="18" charset="0"/>
              </a:rPr>
              <a:t>分类器</a:t>
            </a:r>
          </a:p>
          <a:p>
            <a:pPr marL="742950" lvl="1" indent="-285750" eaLnBrk="1" hangingPunct="1">
              <a:lnSpc>
                <a:spcPct val="90000"/>
              </a:lnSpc>
              <a:spcBef>
                <a:spcPct val="20000"/>
              </a:spcBef>
              <a:buFont typeface="Tahoma" pitchFamily="34" charset="0"/>
              <a:buChar char="−"/>
            </a:pPr>
            <a:r>
              <a:rPr kumimoji="1" lang="zh-CN" altLang="en-US" sz="2400" b="1" dirty="0">
                <a:latin typeface="Times New Roman" pitchFamily="18" charset="0"/>
              </a:rPr>
              <a:t>计算机视觉</a:t>
            </a:r>
            <a:endParaRPr kumimoji="1" lang="en-US" altLang="zh-CN" sz="2400" b="1" dirty="0">
              <a:latin typeface="Times New Roman" pitchFamily="18" charset="0"/>
            </a:endParaRPr>
          </a:p>
          <a:p>
            <a:pPr marL="742950" lvl="1" indent="-285750" eaLnBrk="1" hangingPunct="1">
              <a:lnSpc>
                <a:spcPct val="90000"/>
              </a:lnSpc>
              <a:spcBef>
                <a:spcPct val="20000"/>
              </a:spcBef>
              <a:buFont typeface="Tahoma" pitchFamily="34" charset="0"/>
              <a:buChar char="−"/>
            </a:pPr>
            <a:r>
              <a:rPr kumimoji="1" lang="en-US" altLang="zh-CN" sz="2400" b="1" dirty="0">
                <a:latin typeface="Times New Roman" pitchFamily="18" charset="0"/>
              </a:rPr>
              <a:t>    </a:t>
            </a:r>
            <a:r>
              <a:rPr kumimoji="1" lang="zh-CN" altLang="en-US" sz="2000" b="1" dirty="0">
                <a:latin typeface="Times New Roman" pitchFamily="18" charset="0"/>
              </a:rPr>
              <a:t>驾驶指令：环境识别</a:t>
            </a:r>
            <a:r>
              <a:rPr kumimoji="1" lang="zh-CN" altLang="en-US" sz="2000" b="1" dirty="0">
                <a:latin typeface="Times New Roman" pitchFamily="18" charset="0"/>
                <a:sym typeface="Symbol" pitchFamily="18" charset="2"/>
              </a:rPr>
              <a:t>特征选择目标假设</a:t>
            </a:r>
            <a:r>
              <a:rPr kumimoji="1" lang="en-US" altLang="zh-CN" sz="2000" b="1" dirty="0">
                <a:latin typeface="Times New Roman" pitchFamily="18" charset="0"/>
                <a:sym typeface="Symbol" pitchFamily="18" charset="2"/>
              </a:rPr>
              <a:t>(</a:t>
            </a:r>
            <a:r>
              <a:rPr kumimoji="1" lang="zh-CN" altLang="en-US" sz="2000" b="1" dirty="0">
                <a:latin typeface="Times New Roman" pitchFamily="18" charset="0"/>
                <a:sym typeface="Symbol" pitchFamily="18" charset="2"/>
              </a:rPr>
              <a:t>方向、速度</a:t>
            </a:r>
            <a:r>
              <a:rPr kumimoji="1" lang="en-US" altLang="zh-CN" sz="2000" b="1" dirty="0">
                <a:latin typeface="Times New Roman" pitchFamily="18" charset="0"/>
                <a:sym typeface="Symbol" pitchFamily="18" charset="2"/>
              </a:rPr>
              <a:t>)</a:t>
            </a:r>
            <a:endParaRPr kumimoji="1" lang="zh-CN" altLang="zh-CN" sz="2000" b="1" dirty="0">
              <a:latin typeface="Times New Roman" pitchFamily="18" charset="0"/>
              <a:sym typeface="Symbol" pitchFamily="18" charset="2"/>
            </a:endParaRPr>
          </a:p>
          <a:p>
            <a:pPr marL="742950" lvl="1" indent="-285750" eaLnBrk="1" hangingPunct="1">
              <a:lnSpc>
                <a:spcPct val="90000"/>
              </a:lnSpc>
              <a:spcBef>
                <a:spcPct val="20000"/>
              </a:spcBef>
              <a:buFont typeface="Tahoma" pitchFamily="34" charset="0"/>
              <a:buChar char="−"/>
            </a:pPr>
            <a:r>
              <a:rPr kumimoji="1" lang="zh-CN" altLang="en-US" sz="2400" b="1" dirty="0">
                <a:latin typeface="Times New Roman" pitchFamily="18" charset="0"/>
              </a:rPr>
              <a:t>自然语言处理</a:t>
            </a:r>
          </a:p>
          <a:p>
            <a:pPr marL="1143000" lvl="2" indent="-228600" eaLnBrk="1" hangingPunct="1">
              <a:lnSpc>
                <a:spcPct val="90000"/>
              </a:lnSpc>
              <a:spcBef>
                <a:spcPct val="20000"/>
              </a:spcBef>
              <a:buFont typeface="Wingdings" pitchFamily="2" charset="2"/>
              <a:buChar char="©"/>
            </a:pPr>
            <a:r>
              <a:rPr kumimoji="1" lang="zh-CN" altLang="en-US" sz="2000" b="1" dirty="0">
                <a:latin typeface="Times New Roman" pitchFamily="18" charset="0"/>
              </a:rPr>
              <a:t>数字图像处理：分割、特征选择、分类、识别、理解等</a:t>
            </a:r>
          </a:p>
          <a:p>
            <a:pPr marL="742950" lvl="1" indent="-285750" eaLnBrk="1" hangingPunct="1">
              <a:lnSpc>
                <a:spcPct val="90000"/>
              </a:lnSpc>
              <a:spcBef>
                <a:spcPct val="20000"/>
              </a:spcBef>
              <a:buFont typeface="Tahoma" pitchFamily="34" charset="0"/>
              <a:buChar char="−"/>
            </a:pPr>
            <a:r>
              <a:rPr kumimoji="1" lang="zh-CN" altLang="en-US" sz="2400" b="1" dirty="0">
                <a:latin typeface="Times New Roman" pitchFamily="18" charset="0"/>
              </a:rPr>
              <a:t>人机博弈</a:t>
            </a:r>
          </a:p>
          <a:p>
            <a:pPr marL="1143000" lvl="2" indent="-228600" eaLnBrk="1" hangingPunct="1">
              <a:lnSpc>
                <a:spcPct val="90000"/>
              </a:lnSpc>
              <a:spcBef>
                <a:spcPct val="20000"/>
              </a:spcBef>
              <a:buFont typeface="Wingdings" pitchFamily="2" charset="2"/>
              <a:buChar char="©"/>
            </a:pPr>
            <a:r>
              <a:rPr kumimoji="1" lang="zh-CN" altLang="en-US" sz="2000" b="1" dirty="0">
                <a:latin typeface="Times New Roman" pitchFamily="18" charset="0"/>
              </a:rPr>
              <a:t>围棋</a:t>
            </a:r>
            <a:endParaRPr kumimoji="1" lang="en-US" altLang="zh-CN" sz="2400" b="1" dirty="0">
              <a:latin typeface="Times New Roman" pitchFamily="18" charset="0"/>
            </a:endParaRPr>
          </a:p>
          <a:p>
            <a:pPr marL="1143000" lvl="2" indent="-228600" eaLnBrk="1" hangingPunct="1">
              <a:lnSpc>
                <a:spcPct val="90000"/>
              </a:lnSpc>
              <a:spcBef>
                <a:spcPct val="20000"/>
              </a:spcBef>
              <a:buFont typeface="Wingdings" pitchFamily="2" charset="2"/>
              <a:buChar char="©"/>
            </a:pPr>
            <a:r>
              <a:rPr kumimoji="1" lang="zh-CN" altLang="en-US" sz="2400" b="1" dirty="0">
                <a:latin typeface="Times New Roman" pitchFamily="18" charset="0"/>
              </a:rPr>
              <a:t>星际争霸</a:t>
            </a:r>
            <a:r>
              <a:rPr kumimoji="1" lang="en-US" altLang="zh-CN" sz="2400" b="1" dirty="0">
                <a:latin typeface="Times New Roman" pitchFamily="18" charset="0"/>
              </a:rPr>
              <a:t>2</a:t>
            </a:r>
          </a:p>
        </p:txBody>
      </p:sp>
    </p:spTree>
    <p:extLst>
      <p:ext uri="{BB962C8B-B14F-4D97-AF65-F5344CB8AC3E}">
        <p14:creationId xmlns:p14="http://schemas.microsoft.com/office/powerpoint/2010/main" val="72879421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31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3171"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b="1" dirty="0"/>
              <a:t>大纲</a:t>
            </a:r>
          </a:p>
        </p:txBody>
      </p:sp>
      <p:sp>
        <p:nvSpPr>
          <p:cNvPr id="3" name="内容占位符 2"/>
          <p:cNvSpPr>
            <a:spLocks noGrp="1"/>
          </p:cNvSpPr>
          <p:nvPr>
            <p:ph idx="1"/>
          </p:nvPr>
        </p:nvSpPr>
        <p:spPr>
          <a:xfrm>
            <a:off x="1331640" y="980728"/>
            <a:ext cx="6480720" cy="5795773"/>
          </a:xfrm>
        </p:spPr>
        <p:txBody>
          <a:bodyPr>
            <a:normAutofit/>
          </a:bodyPr>
          <a:lstStyle/>
          <a:p>
            <a:pPr>
              <a:lnSpc>
                <a:spcPts val="26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引言</a:t>
            </a: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基本术语</a:t>
            </a: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假设空间</a:t>
            </a: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归纳偏好</a:t>
            </a: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发展历程</a:t>
            </a: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endParaRPr lang="en-US" altLang="zh-CN" sz="2400" b="1" dirty="0">
              <a:latin typeface="幼圆" panose="02010509060101010101" pitchFamily="49" charset="-122"/>
              <a:ea typeface="幼圆" panose="02010509060101010101" pitchFamily="49" charset="-122"/>
            </a:endParaRPr>
          </a:p>
          <a:p>
            <a:pPr>
              <a:lnSpc>
                <a:spcPts val="2600"/>
              </a:lnSpc>
              <a:buClr>
                <a:srgbClr val="00B050"/>
              </a:buClr>
              <a:buFont typeface="Wingdings" panose="05000000000000000000" pitchFamily="2" charset="2"/>
              <a:buChar char="p"/>
            </a:pPr>
            <a:r>
              <a:rPr lang="zh-CN" altLang="en-US" sz="2400" b="1" dirty="0">
                <a:latin typeface="幼圆" panose="02010509060101010101" pitchFamily="49" charset="-122"/>
                <a:ea typeface="幼圆" panose="02010509060101010101" pitchFamily="49" charset="-122"/>
              </a:rPr>
              <a:t>应用现状</a:t>
            </a:r>
            <a:endParaRPr lang="en-US" altLang="zh-CN" sz="2400" b="1" dirty="0">
              <a:latin typeface="幼圆" panose="02010509060101010101" pitchFamily="49" charset="-122"/>
              <a:ea typeface="幼圆" panose="02010509060101010101" pitchFamily="49" charset="-122"/>
            </a:endParaRPr>
          </a:p>
          <a:p>
            <a:pPr marL="0" indent="0">
              <a:lnSpc>
                <a:spcPts val="2600"/>
              </a:lnSpc>
              <a:buClr>
                <a:srgbClr val="00B050"/>
              </a:buClr>
              <a:buNone/>
            </a:pPr>
            <a:endParaRPr lang="en-US" altLang="zh-CN" sz="2400" b="1" dirty="0">
              <a:latin typeface="幼圆" panose="02010509060101010101" pitchFamily="49" charset="-122"/>
              <a:ea typeface="幼圆" panose="02010509060101010101" pitchFamily="49" charset="-122"/>
            </a:endParaRPr>
          </a:p>
        </p:txBody>
      </p:sp>
    </p:spTree>
    <p:extLst>
      <p:ext uri="{BB962C8B-B14F-4D97-AF65-F5344CB8AC3E}">
        <p14:creationId xmlns:p14="http://schemas.microsoft.com/office/powerpoint/2010/main" val="33631738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8706" name="矩形 968705"/>
          <p:cNvSpPr/>
          <p:nvPr/>
        </p:nvSpPr>
        <p:spPr>
          <a:xfrm>
            <a:off x="685800" y="476250"/>
            <a:ext cx="7772400" cy="1143000"/>
          </a:xfrm>
          <a:prstGeom prst="rect">
            <a:avLst/>
          </a:prstGeom>
          <a:noFill/>
          <a:ln w="9525">
            <a:noFill/>
          </a:ln>
        </p:spPr>
        <p:txBody>
          <a:bodyPr anchor="ctr"/>
          <a:lstStyle/>
          <a:p>
            <a:pPr lvl="0" algn="ctr" eaLnBrk="1" hangingPunct="1"/>
            <a:r>
              <a:rPr lang="zh-CN" altLang="en-US" sz="4400" b="1" dirty="0">
                <a:solidFill>
                  <a:schemeClr val="tx2"/>
                </a:solidFill>
                <a:latin typeface="Times New Roman" panose="02020603050405020304" pitchFamily="18" charset="0"/>
                <a:ea typeface="宋体" panose="02010600030101010101" pitchFamily="2" charset="-122"/>
              </a:rPr>
              <a:t>机器学习挑战性问题</a:t>
            </a:r>
          </a:p>
        </p:txBody>
      </p:sp>
      <p:sp>
        <p:nvSpPr>
          <p:cNvPr id="968707" name="矩形 968706"/>
          <p:cNvSpPr/>
          <p:nvPr/>
        </p:nvSpPr>
        <p:spPr>
          <a:xfrm>
            <a:off x="611188" y="1484313"/>
            <a:ext cx="7921625" cy="5373687"/>
          </a:xfrm>
          <a:prstGeom prst="rect">
            <a:avLst/>
          </a:prstGeom>
          <a:noFill/>
          <a:ln w="9525">
            <a:noFill/>
          </a:ln>
        </p:spPr>
        <p:txBody>
          <a:bodyPr/>
          <a:lstStyle/>
          <a:p>
            <a:pPr marL="457200" lvl="0" indent="-457200" eaLnBrk="1" hangingPunct="1">
              <a:lnSpc>
                <a:spcPct val="90000"/>
              </a:lnSpc>
              <a:spcBef>
                <a:spcPct val="20000"/>
              </a:spcBef>
              <a:buChar char="•"/>
            </a:pPr>
            <a:r>
              <a:rPr lang="zh-CN" altLang="en-US" sz="2400" b="1" dirty="0">
                <a:latin typeface="Times New Roman" panose="02020603050405020304" pitchFamily="18" charset="0"/>
                <a:ea typeface="宋体" panose="02010600030101010101" pitchFamily="2" charset="-122"/>
              </a:rPr>
              <a:t>泛化能力</a:t>
            </a:r>
          </a:p>
          <a:p>
            <a:pPr marL="914400" lvl="1" indent="-457200" eaLnBrk="1" hangingPunct="1">
              <a:lnSpc>
                <a:spcPct val="90000"/>
              </a:lnSpc>
              <a:spcBef>
                <a:spcPct val="20000"/>
              </a:spcBef>
              <a:buClrTx/>
              <a:buFont typeface="Tahoma" panose="020B0604030504040204" pitchFamily="34" charset="0"/>
              <a:buChar char="−"/>
            </a:pPr>
            <a:r>
              <a:rPr lang="zh-CN" altLang="en-US" sz="2000" b="1" dirty="0">
                <a:latin typeface="Arial" panose="020B0604020202020204" pitchFamily="34" charset="0"/>
                <a:ea typeface="宋体" panose="02010600030101010101" pitchFamily="2" charset="-122"/>
              </a:rPr>
              <a:t>提高泛化能力是永远的追求，</a:t>
            </a:r>
          </a:p>
          <a:p>
            <a:pPr marL="914400" lvl="1" indent="-457200" eaLnBrk="1" hangingPunct="1">
              <a:lnSpc>
                <a:spcPct val="90000"/>
              </a:lnSpc>
              <a:spcBef>
                <a:spcPct val="20000"/>
              </a:spcBef>
              <a:buClrTx/>
              <a:buFont typeface="Tahoma" panose="020B0604030504040204" pitchFamily="34" charset="0"/>
              <a:buChar char="−"/>
            </a:pPr>
            <a:r>
              <a:rPr lang="en-US" altLang="zh-CN" sz="2000" b="1" dirty="0">
                <a:solidFill>
                  <a:srgbClr val="000000"/>
                </a:solidFill>
                <a:latin typeface="Arial" panose="020B0604020202020204" pitchFamily="34" charset="0"/>
                <a:ea typeface="宋体" panose="02010600030101010101" pitchFamily="2" charset="-122"/>
              </a:rPr>
              <a:t>SVM</a:t>
            </a:r>
            <a:r>
              <a:rPr lang="zh-CN" altLang="en-US" sz="2000" b="1" dirty="0">
                <a:solidFill>
                  <a:srgbClr val="000000"/>
                </a:solidFill>
                <a:latin typeface="Arial" panose="020B0604020202020204" pitchFamily="34" charset="0"/>
                <a:ea typeface="宋体" panose="02010600030101010101" pitchFamily="2" charset="-122"/>
              </a:rPr>
              <a:t>、 </a:t>
            </a:r>
            <a:r>
              <a:rPr lang="en-US" altLang="zh-CN" sz="2000" b="1" dirty="0">
                <a:solidFill>
                  <a:srgbClr val="000000"/>
                </a:solidFill>
                <a:latin typeface="Arial" panose="020B0604020202020204" pitchFamily="34" charset="0"/>
                <a:ea typeface="宋体" panose="02010600030101010101" pitchFamily="2" charset="-122"/>
              </a:rPr>
              <a:t>ensemble learning</a:t>
            </a:r>
            <a:r>
              <a:rPr lang="zh-CN" altLang="en-US" sz="2000" b="1" dirty="0">
                <a:solidFill>
                  <a:srgbClr val="000000"/>
                </a:solidFill>
                <a:latin typeface="Arial" panose="020B0604020202020204" pitchFamily="34" charset="0"/>
                <a:ea typeface="宋体" panose="02010600030101010101" pitchFamily="2" charset="-122"/>
              </a:rPr>
              <a:t>、？</a:t>
            </a:r>
            <a:endParaRPr lang="zh-CN" altLang="en-US" sz="2000" b="1" dirty="0">
              <a:latin typeface="Times New Roman" panose="02020603050405020304" pitchFamily="18" charset="0"/>
              <a:ea typeface="宋体" panose="02010600030101010101" pitchFamily="2" charset="-122"/>
            </a:endParaRPr>
          </a:p>
          <a:p>
            <a:pPr marL="457200" lvl="0" indent="-457200" eaLnBrk="1" hangingPunct="1">
              <a:lnSpc>
                <a:spcPct val="90000"/>
              </a:lnSpc>
              <a:spcBef>
                <a:spcPct val="20000"/>
              </a:spcBef>
              <a:buChar char="•"/>
            </a:pPr>
            <a:r>
              <a:rPr lang="zh-CN" altLang="en-US" sz="2400" b="1" dirty="0">
                <a:latin typeface="Times New Roman" panose="02020603050405020304" pitchFamily="18" charset="0"/>
                <a:ea typeface="宋体" panose="02010600030101010101" pitchFamily="2" charset="-122"/>
              </a:rPr>
              <a:t>速度</a:t>
            </a:r>
          </a:p>
          <a:p>
            <a:pPr marL="914400" lvl="1" indent="-457200" eaLnBrk="1" hangingPunct="1">
              <a:lnSpc>
                <a:spcPct val="90000"/>
              </a:lnSpc>
              <a:spcBef>
                <a:spcPct val="20000"/>
              </a:spcBef>
              <a:buClrTx/>
              <a:buFont typeface="Tahoma" panose="020B0604030504040204" pitchFamily="34" charset="0"/>
              <a:buChar char="−"/>
            </a:pPr>
            <a:r>
              <a:rPr lang="zh-CN" altLang="en-US" sz="2000" b="1" dirty="0">
                <a:latin typeface="Arial" panose="020B0604020202020204" pitchFamily="34" charset="0"/>
                <a:ea typeface="宋体" panose="02010600030101010101" pitchFamily="2" charset="-122"/>
              </a:rPr>
              <a:t>加快速度也是永远的追求</a:t>
            </a:r>
          </a:p>
          <a:p>
            <a:pPr marL="914400" lvl="1" indent="-457200" eaLnBrk="1" hangingPunct="1">
              <a:lnSpc>
                <a:spcPct val="90000"/>
              </a:lnSpc>
              <a:spcBef>
                <a:spcPct val="20000"/>
              </a:spcBef>
              <a:buClrTx/>
              <a:buFont typeface="Tahoma" panose="020B0604030504040204" pitchFamily="34" charset="0"/>
              <a:buChar char="−"/>
            </a:pPr>
            <a:r>
              <a:rPr lang="zh-CN" altLang="en-US" sz="2000" b="1" dirty="0">
                <a:latin typeface="Arial" panose="020B0604020202020204" pitchFamily="34" charset="0"/>
                <a:ea typeface="宋体" panose="02010600030101010101" pitchFamily="2" charset="-122"/>
              </a:rPr>
              <a:t>训练快、测试也快？</a:t>
            </a:r>
          </a:p>
          <a:p>
            <a:pPr marL="457200" lvl="0" indent="-457200" eaLnBrk="1" hangingPunct="1">
              <a:lnSpc>
                <a:spcPct val="90000"/>
              </a:lnSpc>
              <a:spcBef>
                <a:spcPct val="20000"/>
              </a:spcBef>
              <a:buChar char="•"/>
            </a:pPr>
            <a:r>
              <a:rPr lang="zh-CN" altLang="en-US" sz="2400" b="1" dirty="0">
                <a:latin typeface="Times New Roman" panose="02020603050405020304" pitchFamily="18" charset="0"/>
                <a:ea typeface="宋体" panose="02010600030101010101" pitchFamily="2" charset="-122"/>
              </a:rPr>
              <a:t>可理解性</a:t>
            </a:r>
          </a:p>
          <a:p>
            <a:pPr marL="914400" lvl="1" indent="-457200" eaLnBrk="1" hangingPunct="1">
              <a:lnSpc>
                <a:spcPct val="90000"/>
              </a:lnSpc>
              <a:spcBef>
                <a:spcPct val="20000"/>
              </a:spcBef>
              <a:buClrTx/>
              <a:buFont typeface="Tahoma" panose="020B0604030504040204" pitchFamily="34" charset="0"/>
              <a:buChar char="−"/>
            </a:pPr>
            <a:r>
              <a:rPr lang="zh-CN" altLang="zh-CN" sz="2000" b="1" dirty="0">
                <a:solidFill>
                  <a:srgbClr val="000000"/>
                </a:solidFill>
                <a:latin typeface="Arial" panose="020B0604020202020204" pitchFamily="34" charset="0"/>
                <a:ea typeface="宋体" panose="02010600030101010101" pitchFamily="2" charset="-122"/>
              </a:rPr>
              <a:t>目前强大的技术几乎都是 “黑盒子” </a:t>
            </a:r>
            <a:endParaRPr lang="zh-CN" altLang="en-US" sz="2000" b="1" dirty="0">
              <a:solidFill>
                <a:srgbClr val="000000"/>
              </a:solidFill>
              <a:latin typeface="Arial" panose="020B0604020202020204" pitchFamily="34" charset="0"/>
              <a:ea typeface="宋体" panose="02010600030101010101" pitchFamily="2" charset="-122"/>
            </a:endParaRPr>
          </a:p>
          <a:p>
            <a:pPr marL="914400" lvl="1" indent="-457200" eaLnBrk="1" hangingPunct="1">
              <a:lnSpc>
                <a:spcPct val="90000"/>
              </a:lnSpc>
              <a:spcBef>
                <a:spcPct val="20000"/>
              </a:spcBef>
              <a:buClrTx/>
              <a:buFont typeface="Tahoma" panose="020B0604030504040204" pitchFamily="34" charset="0"/>
              <a:buChar char="−"/>
            </a:pPr>
            <a:r>
              <a:rPr lang="zh-CN" altLang="en-US" sz="2000" b="1" dirty="0">
                <a:latin typeface="Arial" panose="020B0604020202020204" pitchFamily="34" charset="0"/>
                <a:ea typeface="宋体" panose="02010600030101010101" pitchFamily="2" charset="-122"/>
              </a:rPr>
              <a:t>“黑盒子” </a:t>
            </a:r>
            <a:r>
              <a:rPr lang="en-US" altLang="zh-CN" sz="2000" b="1" dirty="0">
                <a:latin typeface="Arial" panose="020B0604020202020204" pitchFamily="34" charset="0"/>
                <a:ea typeface="宋体" panose="02010600030101010101" pitchFamily="2" charset="-122"/>
                <a:sym typeface="Symbol" panose="05050102010706020507" pitchFamily="18" charset="2"/>
              </a:rPr>
              <a:t> </a:t>
            </a:r>
            <a:r>
              <a:rPr lang="en-US" altLang="zh-CN" sz="2000" b="1" dirty="0">
                <a:latin typeface="Arial" panose="020B0604020202020204" pitchFamily="34" charset="0"/>
                <a:ea typeface="宋体" panose="02010600030101010101" pitchFamily="2" charset="-122"/>
              </a:rPr>
              <a:t>“</a:t>
            </a:r>
            <a:r>
              <a:rPr lang="zh-CN" altLang="en-US" sz="2000" b="1" dirty="0">
                <a:latin typeface="Arial" panose="020B0604020202020204" pitchFamily="34" charset="0"/>
                <a:ea typeface="宋体" panose="02010600030101010101" pitchFamily="2" charset="-122"/>
              </a:rPr>
              <a:t>白盒子”？</a:t>
            </a:r>
          </a:p>
          <a:p>
            <a:pPr marL="457200" lvl="0" indent="-457200" eaLnBrk="1" hangingPunct="1">
              <a:lnSpc>
                <a:spcPct val="90000"/>
              </a:lnSpc>
              <a:spcBef>
                <a:spcPct val="20000"/>
              </a:spcBef>
              <a:buChar char="•"/>
            </a:pPr>
            <a:r>
              <a:rPr lang="zh-CN" altLang="en-US" sz="2400" b="1" dirty="0">
                <a:latin typeface="Times New Roman" panose="02020603050405020304" pitchFamily="18" charset="0"/>
                <a:ea typeface="宋体" panose="02010600030101010101" pitchFamily="2" charset="-122"/>
              </a:rPr>
              <a:t>数据利用能力</a:t>
            </a:r>
          </a:p>
          <a:p>
            <a:pPr marL="914400" lvl="1" indent="-457200" eaLnBrk="1" hangingPunct="1">
              <a:lnSpc>
                <a:spcPct val="90000"/>
              </a:lnSpc>
              <a:spcBef>
                <a:spcPct val="20000"/>
              </a:spcBef>
              <a:buClrTx/>
              <a:buFont typeface="Tahoma" panose="020B0604030504040204" pitchFamily="34" charset="0"/>
              <a:buChar char="−"/>
            </a:pPr>
            <a:r>
              <a:rPr lang="zh-CN" altLang="zh-CN" sz="2000" b="1" dirty="0">
                <a:solidFill>
                  <a:srgbClr val="000000"/>
                </a:solidFill>
                <a:latin typeface="Arial" panose="020B0604020202020204" pitchFamily="34" charset="0"/>
                <a:ea typeface="宋体" panose="02010600030101010101" pitchFamily="2" charset="-122"/>
              </a:rPr>
              <a:t>机器学习技术</a:t>
            </a:r>
            <a:r>
              <a:rPr lang="zh-CN" altLang="en-US" sz="2000" b="1" dirty="0">
                <a:solidFill>
                  <a:srgbClr val="000000"/>
                </a:solidFill>
                <a:latin typeface="Arial" panose="020B0604020202020204" pitchFamily="34" charset="0"/>
                <a:ea typeface="宋体" panose="02010600030101010101" pitchFamily="2" charset="-122"/>
              </a:rPr>
              <a:t>：</a:t>
            </a:r>
            <a:r>
              <a:rPr lang="zh-CN" altLang="zh-CN" sz="2000" b="1" dirty="0">
                <a:solidFill>
                  <a:srgbClr val="000000"/>
                </a:solidFill>
                <a:latin typeface="Arial" panose="020B0604020202020204" pitchFamily="34" charset="0"/>
                <a:ea typeface="宋体" panose="02010600030101010101" pitchFamily="2" charset="-122"/>
              </a:rPr>
              <a:t>有标记数据进行学习</a:t>
            </a:r>
            <a:endParaRPr lang="zh-CN" altLang="en-US" sz="2000" b="1" dirty="0">
              <a:solidFill>
                <a:srgbClr val="000000"/>
              </a:solidFill>
              <a:latin typeface="Arial" panose="020B0604020202020204" pitchFamily="34" charset="0"/>
              <a:ea typeface="宋体" panose="02010600030101010101" pitchFamily="2" charset="-122"/>
            </a:endParaRPr>
          </a:p>
          <a:p>
            <a:pPr marL="914400" lvl="1" indent="-457200" eaLnBrk="1" hangingPunct="1">
              <a:lnSpc>
                <a:spcPct val="90000"/>
              </a:lnSpc>
              <a:spcBef>
                <a:spcPct val="20000"/>
              </a:spcBef>
              <a:buClrTx/>
              <a:buFont typeface="Tahoma" panose="020B0604030504040204" pitchFamily="34" charset="0"/>
              <a:buChar char="−"/>
            </a:pPr>
            <a:r>
              <a:rPr lang="zh-CN" altLang="en-US" sz="2000" b="1" dirty="0">
                <a:solidFill>
                  <a:srgbClr val="000000"/>
                </a:solidFill>
                <a:latin typeface="Arial" panose="020B0604020202020204" pitchFamily="34" charset="0"/>
                <a:ea typeface="宋体" panose="02010600030101010101" pitchFamily="2" charset="-122"/>
              </a:rPr>
              <a:t>能否通吃：没有标记数据、“坏”数据（噪声</a:t>
            </a:r>
            <a:r>
              <a:rPr lang="en-US" altLang="zh-CN" sz="2000" b="1" dirty="0">
                <a:solidFill>
                  <a:srgbClr val="000000"/>
                </a:solidFill>
                <a:latin typeface="Arial" panose="020B0604020202020204" pitchFamily="34" charset="0"/>
                <a:ea typeface="宋体" panose="02010600030101010101" pitchFamily="2" charset="-122"/>
              </a:rPr>
              <a:t>-</a:t>
            </a:r>
            <a:r>
              <a:rPr lang="zh-CN" altLang="en-US" sz="2000" b="1" dirty="0">
                <a:solidFill>
                  <a:srgbClr val="000000"/>
                </a:solidFill>
                <a:latin typeface="Arial" panose="020B0604020202020204" pitchFamily="34" charset="0"/>
                <a:ea typeface="宋体" panose="02010600030101010101" pitchFamily="2" charset="-122"/>
              </a:rPr>
              <a:t>缺损</a:t>
            </a:r>
            <a:r>
              <a:rPr lang="en-US" altLang="zh-CN" sz="2000" b="1" dirty="0">
                <a:solidFill>
                  <a:srgbClr val="000000"/>
                </a:solidFill>
                <a:latin typeface="Arial" panose="020B0604020202020204" pitchFamily="34" charset="0"/>
                <a:ea typeface="宋体" panose="02010600030101010101" pitchFamily="2" charset="-122"/>
              </a:rPr>
              <a:t>-</a:t>
            </a:r>
            <a:r>
              <a:rPr lang="zh-CN" altLang="en-US" sz="2000" b="1" dirty="0">
                <a:solidFill>
                  <a:srgbClr val="000000"/>
                </a:solidFill>
                <a:latin typeface="Arial" panose="020B0604020202020204" pitchFamily="34" charset="0"/>
                <a:ea typeface="宋体" panose="02010600030101010101" pitchFamily="2" charset="-122"/>
              </a:rPr>
              <a:t>不一致）</a:t>
            </a:r>
          </a:p>
          <a:p>
            <a:pPr marL="457200" lvl="0" indent="-457200" eaLnBrk="1" hangingPunct="1">
              <a:lnSpc>
                <a:spcPct val="90000"/>
              </a:lnSpc>
              <a:spcBef>
                <a:spcPct val="20000"/>
              </a:spcBef>
              <a:buChar char="•"/>
            </a:pPr>
            <a:r>
              <a:rPr lang="zh-CN" altLang="en-US" sz="2400" b="1" dirty="0">
                <a:latin typeface="Times New Roman" panose="02020603050405020304" pitchFamily="18" charset="0"/>
                <a:ea typeface="宋体" panose="02010600030101010101" pitchFamily="2" charset="-122"/>
              </a:rPr>
              <a:t>代价敏感</a:t>
            </a:r>
          </a:p>
          <a:p>
            <a:pPr marL="914400" lvl="1" indent="-457200" eaLnBrk="1" hangingPunct="1">
              <a:lnSpc>
                <a:spcPct val="90000"/>
              </a:lnSpc>
              <a:spcBef>
                <a:spcPct val="20000"/>
              </a:spcBef>
              <a:buClrTx/>
              <a:buFont typeface="Tahoma" panose="020B0604030504040204" pitchFamily="34" charset="0"/>
              <a:buChar char="−"/>
            </a:pPr>
            <a:r>
              <a:rPr lang="zh-CN" altLang="zh-CN" sz="2000" b="1" dirty="0">
                <a:solidFill>
                  <a:srgbClr val="000000"/>
                </a:solidFill>
                <a:latin typeface="Arial" panose="020B0604020202020204" pitchFamily="34" charset="0"/>
                <a:ea typeface="宋体" panose="02010600030101010101" pitchFamily="2" charset="-122"/>
              </a:rPr>
              <a:t>降低错误率</a:t>
            </a:r>
            <a:r>
              <a:rPr lang="zh-CN" altLang="en-US" sz="2000" b="1" dirty="0">
                <a:solidFill>
                  <a:srgbClr val="000000"/>
                </a:solidFill>
                <a:latin typeface="Arial" panose="020B0604020202020204" pitchFamily="34" charset="0"/>
                <a:ea typeface="宋体" panose="02010600030101010101" pitchFamily="2" charset="-122"/>
              </a:rPr>
              <a:t>：错误没有区别：</a:t>
            </a:r>
            <a:r>
              <a:rPr lang="zh-CN" altLang="zh-CN" sz="2000" b="1" dirty="0">
                <a:solidFill>
                  <a:srgbClr val="000000"/>
                </a:solidFill>
                <a:latin typeface="Arial" panose="020B0604020202020204" pitchFamily="34" charset="0"/>
                <a:ea typeface="宋体" panose="02010600030101010101" pitchFamily="2" charset="-122"/>
              </a:rPr>
              <a:t>“好”当“坏”“坏”当“好”</a:t>
            </a:r>
            <a:endParaRPr lang="zh-CN" altLang="en-US" sz="2000" b="1" dirty="0">
              <a:solidFill>
                <a:srgbClr val="000000"/>
              </a:solidFill>
              <a:latin typeface="Arial" panose="020B0604020202020204" pitchFamily="34" charset="0"/>
              <a:ea typeface="宋体" panose="02010600030101010101" pitchFamily="2" charset="-122"/>
            </a:endParaRPr>
          </a:p>
          <a:p>
            <a:pPr marL="914400" lvl="1" indent="-457200" eaLnBrk="1" hangingPunct="1">
              <a:lnSpc>
                <a:spcPct val="90000"/>
              </a:lnSpc>
              <a:spcBef>
                <a:spcPct val="20000"/>
              </a:spcBef>
              <a:buClrTx/>
              <a:buFont typeface="Tahoma" panose="020B0604030504040204" pitchFamily="34" charset="0"/>
              <a:buChar char="−"/>
            </a:pPr>
            <a:r>
              <a:rPr lang="zh-CN" altLang="en-US" sz="1800" b="1" dirty="0">
                <a:solidFill>
                  <a:srgbClr val="000000"/>
                </a:solidFill>
                <a:latin typeface="Arial" panose="020B0604020202020204" pitchFamily="34" charset="0"/>
                <a:ea typeface="宋体" panose="02010600030101010101" pitchFamily="2" charset="-122"/>
              </a:rPr>
              <a:t>趋利避害：</a:t>
            </a:r>
            <a:r>
              <a:rPr lang="zh-CN" altLang="zh-CN" sz="2000" b="1" dirty="0">
                <a:solidFill>
                  <a:srgbClr val="000000"/>
                </a:solidFill>
                <a:latin typeface="Arial" panose="020B0604020202020204" pitchFamily="34" charset="0"/>
                <a:ea typeface="宋体" panose="02010600030101010101" pitchFamily="2" charset="-122"/>
              </a:rPr>
              <a:t>错误代价</a:t>
            </a:r>
            <a:r>
              <a:rPr lang="zh-CN" altLang="en-US" sz="2000" b="1" dirty="0">
                <a:solidFill>
                  <a:srgbClr val="000000"/>
                </a:solidFill>
                <a:latin typeface="Arial" panose="020B0604020202020204" pitchFamily="34" charset="0"/>
                <a:ea typeface="宋体" panose="02010600030101010101" pitchFamily="2" charset="-122"/>
              </a:rPr>
              <a:t>可能</a:t>
            </a:r>
            <a:r>
              <a:rPr lang="zh-CN" altLang="zh-CN" sz="2000" b="1" dirty="0">
                <a:solidFill>
                  <a:srgbClr val="000000"/>
                </a:solidFill>
                <a:latin typeface="Arial" panose="020B0604020202020204" pitchFamily="34" charset="0"/>
                <a:ea typeface="宋体" panose="02010600030101010101" pitchFamily="2" charset="-122"/>
              </a:rPr>
              <a:t>不一样</a:t>
            </a:r>
            <a:r>
              <a:rPr lang="zh-CN" altLang="en-US" sz="2000" b="1" dirty="0">
                <a:solidFill>
                  <a:srgbClr val="000000"/>
                </a:solidFill>
                <a:latin typeface="Arial" panose="020B0604020202020204" pitchFamily="34" charset="0"/>
                <a:ea typeface="宋体" panose="02010600030101010101" pitchFamily="2" charset="-122"/>
              </a:rPr>
              <a:t>，如何 “趋利避害”？</a:t>
            </a:r>
          </a:p>
        </p:txBody>
      </p:sp>
      <p:sp>
        <p:nvSpPr>
          <p:cNvPr id="2" name="灯片编号占位符 1"/>
          <p:cNvSpPr>
            <a:spLocks noGrp="1"/>
          </p:cNvSpPr>
          <p:nvPr>
            <p:ph type="sldNum" sz="quarter" idx="12"/>
          </p:nvPr>
        </p:nvSpPr>
        <p:spPr/>
        <p:txBody>
          <a:bodyPr/>
          <a:lstStyle/>
          <a:p>
            <a:pPr lvl="0"/>
            <a:fld id="{9A0DB2DC-4C9A-4742-B13C-FB6460FD3503}" type="slidenum">
              <a:rPr lang="en-US" altLang="zh-CN" dirty="0"/>
              <a:t>44</a:t>
            </a:fld>
            <a:endParaRPr lang="zh-CN"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687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8707"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0754" name="矩形 970753"/>
          <p:cNvSpPr/>
          <p:nvPr/>
        </p:nvSpPr>
        <p:spPr>
          <a:xfrm>
            <a:off x="684213" y="1628775"/>
            <a:ext cx="7848600" cy="4608513"/>
          </a:xfrm>
          <a:prstGeom prst="rect">
            <a:avLst/>
          </a:prstGeom>
          <a:noFill/>
          <a:ln w="9525">
            <a:noFill/>
          </a:ln>
        </p:spPr>
        <p:txBody>
          <a:bodyPr/>
          <a:lstStyle>
            <a:lvl1pPr marL="342900" lvl="0" indent="-342900" algn="l" defTabSz="914400" eaLnBrk="1" fontAlgn="base" latinLnBrk="0" hangingPunct="1">
              <a:lnSpc>
                <a:spcPct val="100000"/>
              </a:lnSpc>
              <a:spcBef>
                <a:spcPct val="20000"/>
              </a:spcBef>
              <a:spcAft>
                <a:spcPct val="0"/>
              </a:spcAft>
              <a:buChar char="•"/>
              <a:defRPr sz="3200" b="0" i="0" u="none" kern="1200" baseline="0">
                <a:solidFill>
                  <a:schemeClr val="tx1"/>
                </a:solidFill>
                <a:latin typeface="Times New Roman" panose="02020603050405020304" pitchFamily="18" charset="0"/>
                <a:ea typeface="宋体" panose="02010600030101010101" pitchFamily="2" charset="-122"/>
              </a:defRPr>
            </a:lvl1pPr>
            <a:lvl2pPr marL="742950" lvl="1" indent="-285750" algn="l" defTabSz="914400" eaLnBrk="1" fontAlgn="base" latinLnBrk="0" hangingPunct="1">
              <a:lnSpc>
                <a:spcPct val="100000"/>
              </a:lnSpc>
              <a:spcBef>
                <a:spcPct val="20000"/>
              </a:spcBef>
              <a:spcAft>
                <a:spcPct val="0"/>
              </a:spcAft>
              <a:buChar char="–"/>
              <a:defRPr sz="2800" b="0" i="0" u="none" kern="1200" baseline="0">
                <a:solidFill>
                  <a:schemeClr val="tx1"/>
                </a:solidFill>
                <a:latin typeface="+mn-lt"/>
                <a:ea typeface="+mn-ea"/>
                <a:cs typeface="+mn-cs"/>
              </a:defRPr>
            </a:lvl2pPr>
            <a:lvl3pPr marL="1143000" lvl="2" indent="-228600" algn="l" defTabSz="914400" eaLnBrk="1" fontAlgn="base" latinLnBrk="0" hangingPunct="1">
              <a:lnSpc>
                <a:spcPct val="100000"/>
              </a:lnSpc>
              <a:spcBef>
                <a:spcPct val="20000"/>
              </a:spcBef>
              <a:spcAft>
                <a:spcPct val="0"/>
              </a:spcAft>
              <a:buChar char="•"/>
              <a:defRPr sz="2400" b="0" i="0" u="none" kern="1200" baseline="0">
                <a:solidFill>
                  <a:schemeClr val="tx1"/>
                </a:solidFill>
                <a:latin typeface="+mn-lt"/>
                <a:ea typeface="+mn-ea"/>
                <a:cs typeface="+mn-cs"/>
              </a:defRPr>
            </a:lvl3pPr>
            <a:lvl4pPr marL="1600200" lvl="3"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4pPr>
            <a:lvl5pPr marL="2057400" lvl="4"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5pPr>
          </a:lstStyle>
          <a:p>
            <a:pPr lvl="0" algn="just">
              <a:buClrTx/>
              <a:buChar char="•"/>
            </a:pPr>
            <a:r>
              <a:rPr lang="zh-CN" altLang="en-US" sz="2800" dirty="0">
                <a:solidFill>
                  <a:srgbClr val="0000FF"/>
                </a:solidFill>
                <a:ea typeface="黑体" panose="02010609060101010101" pitchFamily="2" charset="-122"/>
              </a:rPr>
              <a:t>共性问题：</a:t>
            </a:r>
          </a:p>
          <a:p>
            <a:pPr lvl="1" algn="just">
              <a:lnSpc>
                <a:spcPct val="70000"/>
              </a:lnSpc>
              <a:spcBef>
                <a:spcPct val="50000"/>
              </a:spcBef>
              <a:buClrTx/>
              <a:buFont typeface="Tahoma" panose="020B0604030504040204" pitchFamily="34" charset="0"/>
              <a:buChar char="−"/>
            </a:pPr>
            <a:r>
              <a:rPr lang="zh-CN" altLang="en-US" sz="2400" dirty="0">
                <a:solidFill>
                  <a:srgbClr val="000000"/>
                </a:solidFill>
                <a:ea typeface="黑体" panose="02010609060101010101" pitchFamily="2" charset="-122"/>
              </a:rPr>
              <a:t>几乎所有的领域，都希望越准越好。</a:t>
            </a:r>
          </a:p>
          <a:p>
            <a:pPr lvl="0" algn="just">
              <a:lnSpc>
                <a:spcPct val="70000"/>
              </a:lnSpc>
              <a:spcBef>
                <a:spcPct val="70000"/>
              </a:spcBef>
            </a:pPr>
            <a:r>
              <a:rPr lang="zh-CN" altLang="en-US" sz="2800" dirty="0">
                <a:solidFill>
                  <a:srgbClr val="0000FF"/>
                </a:solidFill>
                <a:ea typeface="黑体" panose="02010609060101010101" pitchFamily="2" charset="-122"/>
              </a:rPr>
              <a:t>提高泛化能力是永远的追求</a:t>
            </a:r>
            <a:endParaRPr lang="zh-CN" altLang="zh-CN" sz="2800" dirty="0">
              <a:solidFill>
                <a:srgbClr val="0000FF"/>
              </a:solidFill>
              <a:ea typeface="黑体" panose="02010609060101010101" pitchFamily="2" charset="-122"/>
            </a:endParaRPr>
          </a:p>
          <a:p>
            <a:pPr lvl="1" algn="just">
              <a:spcBef>
                <a:spcPct val="80000"/>
              </a:spcBef>
              <a:buClrTx/>
              <a:buFont typeface="Tahoma" panose="020B0604030504040204" pitchFamily="34" charset="0"/>
              <a:buChar char="−"/>
            </a:pPr>
            <a:r>
              <a:rPr lang="zh-CN" altLang="zh-CN" sz="2400" dirty="0">
                <a:solidFill>
                  <a:srgbClr val="000000"/>
                </a:solidFill>
                <a:ea typeface="黑体" panose="02010609060101010101" pitchFamily="2" charset="-122"/>
              </a:rPr>
              <a:t>目前泛化能力最强的技术：</a:t>
            </a:r>
            <a:endParaRPr lang="zh-CN" altLang="en-US" sz="2400" dirty="0">
              <a:solidFill>
                <a:srgbClr val="000000"/>
              </a:solidFill>
              <a:ea typeface="黑体" panose="02010609060101010101" pitchFamily="2" charset="-122"/>
            </a:endParaRPr>
          </a:p>
          <a:p>
            <a:pPr lvl="2" algn="just">
              <a:spcBef>
                <a:spcPct val="80000"/>
              </a:spcBef>
              <a:buClrTx/>
              <a:buFont typeface="Wingdings" panose="05000000000000000000" pitchFamily="2" charset="2"/>
              <a:buChar char="Ø"/>
            </a:pPr>
            <a:r>
              <a:rPr lang="zh-CN" altLang="en-US" sz="2000" dirty="0">
                <a:solidFill>
                  <a:srgbClr val="000000"/>
                </a:solidFill>
                <a:ea typeface="黑体" panose="02010609060101010101" pitchFamily="2" charset="-122"/>
              </a:rPr>
              <a:t> </a:t>
            </a:r>
            <a:r>
              <a:rPr lang="zh-CN" altLang="zh-CN" sz="2000" dirty="0">
                <a:solidFill>
                  <a:srgbClr val="000000"/>
                </a:solidFill>
                <a:ea typeface="黑体" panose="02010609060101010101" pitchFamily="2" charset="-122"/>
              </a:rPr>
              <a:t>支持向量机</a:t>
            </a:r>
            <a:r>
              <a:rPr lang="en-US" altLang="zh-CN" sz="2000" dirty="0">
                <a:solidFill>
                  <a:srgbClr val="000000"/>
                </a:solidFill>
                <a:ea typeface="黑体" panose="02010609060101010101" pitchFamily="2" charset="-122"/>
              </a:rPr>
              <a:t>(SVM)</a:t>
            </a:r>
            <a:r>
              <a:rPr lang="zh-CN" altLang="en-US" sz="2000" dirty="0">
                <a:solidFill>
                  <a:srgbClr val="000000"/>
                </a:solidFill>
                <a:ea typeface="黑体" panose="02010609060101010101" pitchFamily="2" charset="-122"/>
              </a:rPr>
              <a:t>：		</a:t>
            </a:r>
            <a:r>
              <a:rPr lang="zh-CN" altLang="zh-CN" dirty="0">
                <a:solidFill>
                  <a:srgbClr val="008000"/>
                </a:solidFill>
                <a:ea typeface="黑体" panose="02010609060101010101" pitchFamily="2" charset="-122"/>
              </a:rPr>
              <a:t>产生途径：理论-&gt;实践</a:t>
            </a:r>
            <a:endParaRPr lang="zh-CN" altLang="en-US" dirty="0">
              <a:solidFill>
                <a:srgbClr val="008000"/>
              </a:solidFill>
              <a:ea typeface="黑体" panose="02010609060101010101" pitchFamily="2" charset="-122"/>
            </a:endParaRPr>
          </a:p>
          <a:p>
            <a:pPr lvl="2" algn="just">
              <a:spcBef>
                <a:spcPct val="80000"/>
              </a:spcBef>
              <a:buClrTx/>
              <a:buFont typeface="Wingdings" panose="05000000000000000000" pitchFamily="2" charset="2"/>
              <a:buChar char="Ø"/>
            </a:pPr>
            <a:r>
              <a:rPr lang="zh-CN" altLang="en-US" sz="2000" dirty="0">
                <a:solidFill>
                  <a:srgbClr val="000000"/>
                </a:solidFill>
                <a:ea typeface="黑体" panose="02010609060101010101" pitchFamily="2" charset="-122"/>
              </a:rPr>
              <a:t> </a:t>
            </a:r>
            <a:r>
              <a:rPr lang="zh-CN" altLang="zh-CN" sz="2000" dirty="0">
                <a:solidFill>
                  <a:srgbClr val="000000"/>
                </a:solidFill>
                <a:ea typeface="黑体" panose="02010609060101010101" pitchFamily="2" charset="-122"/>
              </a:rPr>
              <a:t>集成学习</a:t>
            </a:r>
            <a:r>
              <a:rPr lang="en-US" altLang="zh-CN" sz="2000" dirty="0">
                <a:solidFill>
                  <a:srgbClr val="000000"/>
                </a:solidFill>
                <a:ea typeface="黑体" panose="02010609060101010101" pitchFamily="2" charset="-122"/>
              </a:rPr>
              <a:t>(Ensemble Learning)</a:t>
            </a:r>
            <a:r>
              <a:rPr lang="zh-CN" altLang="en-US" sz="2000" dirty="0">
                <a:solidFill>
                  <a:srgbClr val="000000"/>
                </a:solidFill>
                <a:ea typeface="黑体" panose="02010609060101010101" pitchFamily="2" charset="-122"/>
              </a:rPr>
              <a:t>：</a:t>
            </a:r>
            <a:r>
              <a:rPr lang="zh-CN" altLang="zh-CN" dirty="0">
                <a:solidFill>
                  <a:srgbClr val="008000"/>
                </a:solidFill>
                <a:ea typeface="黑体" panose="02010609060101010101" pitchFamily="2" charset="-122"/>
              </a:rPr>
              <a:t>产生途径：实践-&gt;理论</a:t>
            </a:r>
            <a:endParaRPr lang="zh-CN" altLang="en-US" dirty="0">
              <a:solidFill>
                <a:srgbClr val="008000"/>
              </a:solidFill>
              <a:ea typeface="黑体" panose="02010609060101010101" pitchFamily="2" charset="-122"/>
            </a:endParaRPr>
          </a:p>
          <a:p>
            <a:pPr lvl="0" algn="just">
              <a:buClrTx/>
              <a:buChar char="•"/>
            </a:pPr>
            <a:r>
              <a:rPr lang="zh-CN" altLang="en-US" sz="2800" dirty="0">
                <a:solidFill>
                  <a:srgbClr val="0000FF"/>
                </a:solidFill>
                <a:ea typeface="黑体" panose="02010609060101010101" pitchFamily="2" charset="-122"/>
              </a:rPr>
              <a:t>第一个挑战问题：</a:t>
            </a:r>
          </a:p>
          <a:p>
            <a:pPr lvl="1" algn="just">
              <a:spcBef>
                <a:spcPct val="50000"/>
              </a:spcBef>
              <a:buClrTx/>
              <a:buFont typeface="Tahoma" panose="020B0604030504040204" pitchFamily="34" charset="0"/>
              <a:buChar char="−"/>
            </a:pPr>
            <a:r>
              <a:rPr lang="zh-CN" altLang="en-US" sz="2400" dirty="0">
                <a:solidFill>
                  <a:srgbClr val="000000"/>
                </a:solidFill>
                <a:ea typeface="黑体" panose="02010609060101010101" pitchFamily="2" charset="-122"/>
              </a:rPr>
              <a:t>能否更“准”？如果能，会从哪儿来？</a:t>
            </a:r>
            <a:endParaRPr lang="zh-CN" altLang="en-US" sz="2400">
              <a:solidFill>
                <a:srgbClr val="000000"/>
              </a:solidFill>
              <a:ea typeface="黑体" panose="02010609060101010101" pitchFamily="2" charset="-122"/>
            </a:endParaRPr>
          </a:p>
        </p:txBody>
      </p:sp>
      <p:sp>
        <p:nvSpPr>
          <p:cNvPr id="970755" name="矩形 970754"/>
          <p:cNvSpPr/>
          <p:nvPr/>
        </p:nvSpPr>
        <p:spPr>
          <a:xfrm>
            <a:off x="457200" y="533400"/>
            <a:ext cx="8229600" cy="5715000"/>
          </a:xfrm>
          <a:prstGeom prst="rect">
            <a:avLst/>
          </a:prstGeom>
          <a:noFill/>
          <a:ln w="9525" cap="rnd" cmpd="sng">
            <a:solidFill>
              <a:schemeClr val="folHlink"/>
            </a:solidFill>
            <a:prstDash val="sysDot"/>
            <a:miter/>
            <a:headEnd type="none" w="med" len="med"/>
            <a:tailEnd type="none" w="med" len="med"/>
          </a:ln>
        </p:spPr>
        <p:txBody>
          <a:bodyPr/>
          <a:lstStyle/>
          <a:p>
            <a:endParaRPr lang="zh-CN" altLang="en-US"/>
          </a:p>
        </p:txBody>
      </p:sp>
      <p:sp>
        <p:nvSpPr>
          <p:cNvPr id="970756" name="矩形 970755"/>
          <p:cNvSpPr/>
          <p:nvPr/>
        </p:nvSpPr>
        <p:spPr>
          <a:xfrm>
            <a:off x="685800" y="609600"/>
            <a:ext cx="7772400" cy="1143000"/>
          </a:xfrm>
          <a:prstGeom prst="rect">
            <a:avLst/>
          </a:prstGeom>
          <a:noFill/>
          <a:ln w="9525">
            <a:noFill/>
          </a:ln>
        </p:spPr>
        <p:txBody>
          <a:bodyPr anchor="ctr"/>
          <a:lstStyle/>
          <a:p>
            <a:pPr lvl="0" algn="ctr" eaLnBrk="1" hangingPunct="1">
              <a:spcBef>
                <a:spcPct val="50000"/>
              </a:spcBef>
            </a:pPr>
            <a:r>
              <a:rPr lang="zh-CN" altLang="en-US" sz="4400" b="1" dirty="0">
                <a:solidFill>
                  <a:schemeClr val="tx2"/>
                </a:solidFill>
                <a:latin typeface="Times New Roman" panose="02020603050405020304" pitchFamily="18" charset="0"/>
                <a:ea typeface="宋体" panose="02010600030101010101" pitchFamily="2" charset="-122"/>
              </a:rPr>
              <a:t>挑战问题</a:t>
            </a:r>
            <a:r>
              <a:rPr lang="en-US" altLang="zh-CN" sz="4400" b="1" dirty="0">
                <a:solidFill>
                  <a:schemeClr val="tx2"/>
                </a:solidFill>
                <a:latin typeface="Times New Roman" panose="02020603050405020304" pitchFamily="18" charset="0"/>
                <a:ea typeface="宋体" panose="02010600030101010101" pitchFamily="2" charset="-122"/>
              </a:rPr>
              <a:t>-1</a:t>
            </a:r>
            <a:r>
              <a:rPr lang="zh-CN" altLang="en-US" sz="4400" b="1" dirty="0">
                <a:solidFill>
                  <a:schemeClr val="tx2"/>
                </a:solidFill>
                <a:latin typeface="Times New Roman" panose="02020603050405020304" pitchFamily="18" charset="0"/>
                <a:ea typeface="宋体" panose="02010600030101010101" pitchFamily="2" charset="-122"/>
              </a:rPr>
              <a:t>：</a:t>
            </a:r>
            <a:r>
              <a:rPr lang="zh-CN" altLang="en-US" sz="4400" b="1" dirty="0">
                <a:solidFill>
                  <a:srgbClr val="FF0000"/>
                </a:solidFill>
                <a:latin typeface="Times New Roman" panose="02020603050405020304" pitchFamily="18" charset="0"/>
                <a:ea typeface="宋体" panose="02010600030101010101" pitchFamily="2" charset="-122"/>
              </a:rPr>
              <a:t>泛化能力</a:t>
            </a:r>
          </a:p>
        </p:txBody>
      </p:sp>
      <p:pic>
        <p:nvPicPr>
          <p:cNvPr id="970757" name="图片 970756"/>
          <p:cNvPicPr>
            <a:picLocks noChangeAspect="1"/>
          </p:cNvPicPr>
          <p:nvPr/>
        </p:nvPicPr>
        <p:blipFill>
          <a:blip r:embed="rId2"/>
          <a:stretch>
            <a:fillRect/>
          </a:stretch>
        </p:blipFill>
        <p:spPr>
          <a:xfrm>
            <a:off x="7308850" y="1844675"/>
            <a:ext cx="1295400" cy="2124075"/>
          </a:xfrm>
          <a:prstGeom prst="rect">
            <a:avLst/>
          </a:prstGeom>
          <a:noFill/>
          <a:ln w="9525">
            <a:noFill/>
          </a:ln>
        </p:spPr>
      </p:pic>
      <p:sp>
        <p:nvSpPr>
          <p:cNvPr id="2" name="灯片编号占位符 1"/>
          <p:cNvSpPr>
            <a:spLocks noGrp="1"/>
          </p:cNvSpPr>
          <p:nvPr>
            <p:ph type="sldNum" sz="quarter" idx="12"/>
          </p:nvPr>
        </p:nvSpPr>
        <p:spPr/>
        <p:txBody>
          <a:bodyPr/>
          <a:lstStyle/>
          <a:p>
            <a:pPr lvl="0"/>
            <a:fld id="{9A0DB2DC-4C9A-4742-B13C-FB6460FD3503}" type="slidenum">
              <a:rPr lang="en-US" altLang="zh-CN" dirty="0"/>
              <a:t>45</a:t>
            </a:fld>
            <a:endParaRPr lang="zh-CN"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7075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 presetClass="entr" presetSubtype="10" fill="hold" nodeType="clickEffect">
                                  <p:stCondLst>
                                    <p:cond delay="0"/>
                                  </p:stCondLst>
                                  <p:childTnLst>
                                    <p:set>
                                      <p:cBhvr>
                                        <p:cTn id="10" dur="1" fill="hold">
                                          <p:stCondLst>
                                            <p:cond delay="0"/>
                                          </p:stCondLst>
                                        </p:cTn>
                                        <p:tgtEl>
                                          <p:spTgt spid="970757"/>
                                        </p:tgtEl>
                                        <p:attrNameLst>
                                          <p:attrName>style.visibility</p:attrName>
                                        </p:attrNameLst>
                                      </p:cBhvr>
                                      <p:to>
                                        <p:strVal val="visible"/>
                                      </p:to>
                                    </p:set>
                                    <p:animEffect transition="in" filter="blinds(horizontal)">
                                      <p:cBhvr>
                                        <p:cTn id="11" dur="500"/>
                                        <p:tgtEl>
                                          <p:spTgt spid="9707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0754"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1778" name="矩形 971777"/>
          <p:cNvSpPr/>
          <p:nvPr/>
        </p:nvSpPr>
        <p:spPr>
          <a:xfrm>
            <a:off x="611188" y="1628775"/>
            <a:ext cx="8075612" cy="4608513"/>
          </a:xfrm>
          <a:prstGeom prst="rect">
            <a:avLst/>
          </a:prstGeom>
          <a:noFill/>
          <a:ln w="9525">
            <a:noFill/>
          </a:ln>
        </p:spPr>
        <p:txBody>
          <a:bodyPr/>
          <a:lstStyle>
            <a:lvl1pPr marL="342900" lvl="0" indent="-342900" algn="l" defTabSz="914400" eaLnBrk="1" fontAlgn="base" latinLnBrk="0" hangingPunct="1">
              <a:lnSpc>
                <a:spcPct val="100000"/>
              </a:lnSpc>
              <a:spcBef>
                <a:spcPct val="20000"/>
              </a:spcBef>
              <a:spcAft>
                <a:spcPct val="0"/>
              </a:spcAft>
              <a:buChar char="•"/>
              <a:defRPr sz="3200" b="0" i="0" u="none" kern="1200" baseline="0">
                <a:solidFill>
                  <a:schemeClr val="tx1"/>
                </a:solidFill>
                <a:latin typeface="Times New Roman" panose="02020603050405020304" pitchFamily="18" charset="0"/>
                <a:ea typeface="宋体" panose="02010600030101010101" pitchFamily="2" charset="-122"/>
              </a:defRPr>
            </a:lvl1pPr>
            <a:lvl2pPr marL="742950" lvl="1" indent="-285750" algn="l" defTabSz="914400" eaLnBrk="1" fontAlgn="base" latinLnBrk="0" hangingPunct="1">
              <a:lnSpc>
                <a:spcPct val="100000"/>
              </a:lnSpc>
              <a:spcBef>
                <a:spcPct val="20000"/>
              </a:spcBef>
              <a:spcAft>
                <a:spcPct val="0"/>
              </a:spcAft>
              <a:buChar char="–"/>
              <a:defRPr sz="2800" b="0" i="0" u="none" kern="1200" baseline="0">
                <a:solidFill>
                  <a:schemeClr val="tx1"/>
                </a:solidFill>
                <a:latin typeface="+mn-lt"/>
                <a:ea typeface="+mn-ea"/>
                <a:cs typeface="+mn-cs"/>
              </a:defRPr>
            </a:lvl2pPr>
            <a:lvl3pPr marL="1143000" lvl="2" indent="-228600" algn="l" defTabSz="914400" eaLnBrk="1" fontAlgn="base" latinLnBrk="0" hangingPunct="1">
              <a:lnSpc>
                <a:spcPct val="100000"/>
              </a:lnSpc>
              <a:spcBef>
                <a:spcPct val="20000"/>
              </a:spcBef>
              <a:spcAft>
                <a:spcPct val="0"/>
              </a:spcAft>
              <a:buChar char="•"/>
              <a:defRPr sz="2400" b="0" i="0" u="none" kern="1200" baseline="0">
                <a:solidFill>
                  <a:schemeClr val="tx1"/>
                </a:solidFill>
                <a:latin typeface="+mn-lt"/>
                <a:ea typeface="+mn-ea"/>
                <a:cs typeface="+mn-cs"/>
              </a:defRPr>
            </a:lvl3pPr>
            <a:lvl4pPr marL="1600200" lvl="3"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4pPr>
            <a:lvl5pPr marL="2057400" lvl="4"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5pPr>
          </a:lstStyle>
          <a:p>
            <a:pPr lvl="0" algn="just">
              <a:buClrTx/>
              <a:buChar char="•"/>
            </a:pPr>
            <a:r>
              <a:rPr lang="zh-CN" altLang="en-US" sz="2800" dirty="0">
                <a:solidFill>
                  <a:srgbClr val="0000FF"/>
                </a:solidFill>
                <a:ea typeface="黑体" panose="02010609060101010101" pitchFamily="2" charset="-122"/>
              </a:rPr>
              <a:t>共性问题：</a:t>
            </a:r>
          </a:p>
          <a:p>
            <a:pPr lvl="1" algn="just">
              <a:lnSpc>
                <a:spcPct val="70000"/>
              </a:lnSpc>
              <a:spcBef>
                <a:spcPct val="50000"/>
              </a:spcBef>
              <a:buClrTx/>
              <a:buFont typeface="Tahoma" panose="020B0604030504040204" pitchFamily="34" charset="0"/>
              <a:buChar char="−"/>
            </a:pPr>
            <a:r>
              <a:rPr lang="zh-CN" altLang="en-US" sz="2400" dirty="0">
                <a:solidFill>
                  <a:srgbClr val="000000"/>
                </a:solidFill>
                <a:ea typeface="黑体" panose="02010609060101010101" pitchFamily="2" charset="-122"/>
              </a:rPr>
              <a:t>几乎所有的领域，都希望越快越好。</a:t>
            </a:r>
          </a:p>
          <a:p>
            <a:pPr lvl="0" algn="just">
              <a:lnSpc>
                <a:spcPct val="70000"/>
              </a:lnSpc>
              <a:spcBef>
                <a:spcPct val="70000"/>
              </a:spcBef>
            </a:pPr>
            <a:r>
              <a:rPr lang="zh-CN" altLang="en-US" sz="2800" dirty="0">
                <a:solidFill>
                  <a:srgbClr val="0000FF"/>
                </a:solidFill>
                <a:ea typeface="黑体" panose="02010609060101010101" pitchFamily="2" charset="-122"/>
              </a:rPr>
              <a:t>加快速度也是永远的追求</a:t>
            </a:r>
            <a:endParaRPr lang="zh-CN" altLang="zh-CN" sz="2800" dirty="0">
              <a:solidFill>
                <a:srgbClr val="0000FF"/>
              </a:solidFill>
              <a:ea typeface="黑体" panose="02010609060101010101" pitchFamily="2" charset="-122"/>
            </a:endParaRPr>
          </a:p>
          <a:p>
            <a:pPr lvl="1" algn="just">
              <a:spcBef>
                <a:spcPct val="80000"/>
              </a:spcBef>
              <a:buClrTx/>
              <a:buFont typeface="Tahoma" panose="020B0604030504040204" pitchFamily="34" charset="0"/>
              <a:buChar char="−"/>
            </a:pPr>
            <a:r>
              <a:rPr lang="zh-CN" altLang="zh-CN" sz="2400" dirty="0">
                <a:solidFill>
                  <a:srgbClr val="000000"/>
                </a:solidFill>
                <a:ea typeface="黑体" panose="02010609060101010101" pitchFamily="2" charset="-122"/>
              </a:rPr>
              <a:t>“训练速度” vs. “测试速度：</a:t>
            </a:r>
            <a:endParaRPr lang="zh-CN" altLang="en-US" sz="2400" dirty="0">
              <a:solidFill>
                <a:srgbClr val="000000"/>
              </a:solidFill>
              <a:ea typeface="黑体" panose="02010609060101010101" pitchFamily="2" charset="-122"/>
            </a:endParaRPr>
          </a:p>
          <a:p>
            <a:pPr lvl="2" algn="just">
              <a:spcBef>
                <a:spcPct val="80000"/>
              </a:spcBef>
              <a:buClrTx/>
              <a:buFont typeface="Wingdings" panose="05000000000000000000" pitchFamily="2" charset="2"/>
              <a:buChar char="Ø"/>
            </a:pPr>
            <a:r>
              <a:rPr lang="zh-CN" altLang="en-US" sz="2000" dirty="0">
                <a:solidFill>
                  <a:srgbClr val="000000"/>
                </a:solidFill>
                <a:ea typeface="黑体" panose="02010609060101010101" pitchFamily="2" charset="-122"/>
              </a:rPr>
              <a:t> </a:t>
            </a:r>
            <a:r>
              <a:rPr lang="zh-CN" altLang="zh-CN" sz="2000" dirty="0">
                <a:solidFill>
                  <a:srgbClr val="000000"/>
                </a:solidFill>
                <a:ea typeface="黑体" panose="02010609060101010101" pitchFamily="2" charset="-122"/>
              </a:rPr>
              <a:t>训练速度快的往往测试速度慢：k近邻</a:t>
            </a:r>
            <a:endParaRPr lang="zh-CN" altLang="en-US" sz="2000" dirty="0">
              <a:solidFill>
                <a:srgbClr val="000000"/>
              </a:solidFill>
              <a:ea typeface="黑体" panose="02010609060101010101" pitchFamily="2" charset="-122"/>
            </a:endParaRPr>
          </a:p>
          <a:p>
            <a:pPr lvl="2" algn="just">
              <a:spcBef>
                <a:spcPct val="80000"/>
              </a:spcBef>
              <a:buClrTx/>
              <a:buFont typeface="Wingdings" panose="05000000000000000000" pitchFamily="2" charset="2"/>
              <a:buChar char="Ø"/>
            </a:pPr>
            <a:r>
              <a:rPr lang="zh-CN" altLang="en-US" sz="2000" dirty="0">
                <a:solidFill>
                  <a:srgbClr val="000000"/>
                </a:solidFill>
                <a:ea typeface="黑体" panose="02010609060101010101" pitchFamily="2" charset="-122"/>
              </a:rPr>
              <a:t> </a:t>
            </a:r>
            <a:r>
              <a:rPr lang="zh-CN" altLang="zh-CN" sz="2000" dirty="0">
                <a:solidFill>
                  <a:srgbClr val="000000"/>
                </a:solidFill>
                <a:ea typeface="黑体" panose="02010609060101010101" pitchFamily="2" charset="-122"/>
              </a:rPr>
              <a:t>测试</a:t>
            </a:r>
            <a:r>
              <a:rPr lang="zh-CN" altLang="zh-CN" sz="2000" dirty="0" smtClean="0">
                <a:solidFill>
                  <a:srgbClr val="000000"/>
                </a:solidFill>
                <a:ea typeface="黑体" panose="02010609060101010101" pitchFamily="2" charset="-122"/>
              </a:rPr>
              <a:t>速度快的</a:t>
            </a:r>
            <a:r>
              <a:rPr lang="zh-CN" altLang="zh-CN" sz="2000" dirty="0">
                <a:solidFill>
                  <a:srgbClr val="000000"/>
                </a:solidFill>
                <a:ea typeface="黑体" panose="02010609060101010101" pitchFamily="2" charset="-122"/>
              </a:rPr>
              <a:t>往往训练速度慢：神经网络</a:t>
            </a:r>
            <a:endParaRPr lang="zh-CN" altLang="en-US" sz="2000" dirty="0">
              <a:solidFill>
                <a:srgbClr val="000000"/>
              </a:solidFill>
              <a:ea typeface="黑体" panose="02010609060101010101" pitchFamily="2" charset="-122"/>
            </a:endParaRPr>
          </a:p>
          <a:p>
            <a:pPr lvl="0" algn="just">
              <a:buClrTx/>
              <a:buChar char="•"/>
            </a:pPr>
            <a:r>
              <a:rPr lang="zh-CN" altLang="en-US" sz="2800" dirty="0">
                <a:solidFill>
                  <a:srgbClr val="0000FF"/>
                </a:solidFill>
                <a:ea typeface="黑体" panose="02010609060101010101" pitchFamily="2" charset="-122"/>
              </a:rPr>
              <a:t>第二个挑战问题：</a:t>
            </a:r>
          </a:p>
          <a:p>
            <a:pPr lvl="1" algn="just">
              <a:lnSpc>
                <a:spcPct val="50000"/>
              </a:lnSpc>
              <a:spcBef>
                <a:spcPct val="50000"/>
              </a:spcBef>
              <a:buClrTx/>
              <a:buFont typeface="Tahoma" panose="020B0604030504040204" pitchFamily="34" charset="0"/>
              <a:buChar char="−"/>
            </a:pPr>
            <a:r>
              <a:rPr lang="zh-CN" altLang="en-US" sz="2400" dirty="0">
                <a:solidFill>
                  <a:srgbClr val="000000"/>
                </a:solidFill>
                <a:ea typeface="黑体" panose="02010609060101010101" pitchFamily="2" charset="-122"/>
              </a:rPr>
              <a:t>能否更“快”？能做到“训练快”、“测试也快”吗？</a:t>
            </a:r>
          </a:p>
          <a:p>
            <a:pPr lvl="1" algn="just">
              <a:lnSpc>
                <a:spcPct val="50000"/>
              </a:lnSpc>
              <a:spcBef>
                <a:spcPct val="50000"/>
              </a:spcBef>
              <a:buClrTx/>
              <a:buFont typeface="Tahoma" panose="020B0604030504040204" pitchFamily="34" charset="0"/>
              <a:buChar char="−"/>
            </a:pPr>
            <a:r>
              <a:rPr lang="zh-CN" altLang="en-US" sz="2400" dirty="0">
                <a:solidFill>
                  <a:srgbClr val="000000"/>
                </a:solidFill>
                <a:ea typeface="黑体" panose="02010609060101010101" pitchFamily="2" charset="-122"/>
              </a:rPr>
              <a:t>如果能，如何做？</a:t>
            </a:r>
          </a:p>
        </p:txBody>
      </p:sp>
      <p:sp>
        <p:nvSpPr>
          <p:cNvPr id="971780" name="矩形 971779"/>
          <p:cNvSpPr/>
          <p:nvPr/>
        </p:nvSpPr>
        <p:spPr>
          <a:xfrm>
            <a:off x="685800" y="609600"/>
            <a:ext cx="7772400" cy="1143000"/>
          </a:xfrm>
          <a:prstGeom prst="rect">
            <a:avLst/>
          </a:prstGeom>
          <a:noFill/>
          <a:ln w="9525">
            <a:noFill/>
          </a:ln>
        </p:spPr>
        <p:txBody>
          <a:bodyPr anchor="ctr"/>
          <a:lstStyle/>
          <a:p>
            <a:pPr lvl="0" algn="ctr" eaLnBrk="1" hangingPunct="1">
              <a:spcBef>
                <a:spcPct val="50000"/>
              </a:spcBef>
            </a:pPr>
            <a:r>
              <a:rPr lang="zh-CN" altLang="en-US" sz="4400" b="1" dirty="0">
                <a:solidFill>
                  <a:schemeClr val="tx2"/>
                </a:solidFill>
                <a:latin typeface="Times New Roman" panose="02020603050405020304" pitchFamily="18" charset="0"/>
                <a:ea typeface="宋体" panose="02010600030101010101" pitchFamily="2" charset="-122"/>
              </a:rPr>
              <a:t>挑战问题</a:t>
            </a:r>
            <a:r>
              <a:rPr lang="en-US" altLang="zh-CN" sz="4400" b="1" dirty="0">
                <a:solidFill>
                  <a:schemeClr val="tx2"/>
                </a:solidFill>
                <a:latin typeface="Times New Roman" panose="02020603050405020304" pitchFamily="18" charset="0"/>
                <a:ea typeface="宋体" panose="02010600030101010101" pitchFamily="2" charset="-122"/>
              </a:rPr>
              <a:t>-2</a:t>
            </a:r>
            <a:r>
              <a:rPr lang="zh-CN" altLang="en-US" sz="4400" b="1" dirty="0">
                <a:solidFill>
                  <a:schemeClr val="tx2"/>
                </a:solidFill>
                <a:latin typeface="Times New Roman" panose="02020603050405020304" pitchFamily="18" charset="0"/>
                <a:ea typeface="宋体" panose="02010600030101010101" pitchFamily="2" charset="-122"/>
              </a:rPr>
              <a:t>：</a:t>
            </a:r>
            <a:r>
              <a:rPr lang="zh-CN" altLang="en-US" sz="4400" b="1" dirty="0">
                <a:solidFill>
                  <a:srgbClr val="FF0000"/>
                </a:solidFill>
                <a:latin typeface="Times New Roman" panose="02020603050405020304" pitchFamily="18" charset="0"/>
                <a:ea typeface="宋体" panose="02010600030101010101" pitchFamily="2" charset="-122"/>
              </a:rPr>
              <a:t>速度</a:t>
            </a:r>
          </a:p>
        </p:txBody>
      </p:sp>
      <p:graphicFrame>
        <p:nvGraphicFramePr>
          <p:cNvPr id="971781" name="对象 971780"/>
          <p:cNvGraphicFramePr/>
          <p:nvPr/>
        </p:nvGraphicFramePr>
        <p:xfrm>
          <a:off x="7397750" y="2781300"/>
          <a:ext cx="1135063" cy="2481263"/>
        </p:xfrm>
        <a:graphic>
          <a:graphicData uri="http://schemas.openxmlformats.org/presentationml/2006/ole">
            <mc:AlternateContent xmlns:mc="http://schemas.openxmlformats.org/markup-compatibility/2006">
              <mc:Choice xmlns:v="urn:schemas-microsoft-com:vml" Requires="v">
                <p:oleObj spid="_x0000_s7249" r:id="rId3" imgW="2765425" imgH="6043930" progId="MS_ClipArt_Gallery.2">
                  <p:embed/>
                </p:oleObj>
              </mc:Choice>
              <mc:Fallback>
                <p:oleObj r:id="rId3" imgW="2765425" imgH="6043930" progId="MS_ClipArt_Gallery.2">
                  <p:embed/>
                  <p:pic>
                    <p:nvPicPr>
                      <p:cNvPr id="0" name=""/>
                      <p:cNvPicPr/>
                      <p:nvPr/>
                    </p:nvPicPr>
                    <p:blipFill>
                      <a:blip r:embed="rId4"/>
                      <a:stretch>
                        <a:fillRect/>
                      </a:stretch>
                    </p:blipFill>
                    <p:spPr>
                      <a:xfrm>
                        <a:off x="7397750" y="2781300"/>
                        <a:ext cx="1135063" cy="2481263"/>
                      </a:xfrm>
                      <a:prstGeom prst="rect">
                        <a:avLst/>
                      </a:prstGeom>
                      <a:noFill/>
                      <a:ln w="38100">
                        <a:noFill/>
                        <a:miter/>
                      </a:ln>
                    </p:spPr>
                  </p:pic>
                </p:oleObj>
              </mc:Fallback>
            </mc:AlternateContent>
          </a:graphicData>
        </a:graphic>
      </p:graphicFrame>
      <p:sp>
        <p:nvSpPr>
          <p:cNvPr id="2" name="灯片编号占位符 1"/>
          <p:cNvSpPr>
            <a:spLocks noGrp="1"/>
          </p:cNvSpPr>
          <p:nvPr>
            <p:ph type="sldNum" sz="quarter" idx="12"/>
          </p:nvPr>
        </p:nvSpPr>
        <p:spPr/>
        <p:txBody>
          <a:bodyPr/>
          <a:lstStyle/>
          <a:p>
            <a:pPr lvl="0"/>
            <a:fld id="{9A0DB2DC-4C9A-4742-B13C-FB6460FD3503}" type="slidenum">
              <a:rPr lang="en-US" altLang="zh-CN" dirty="0"/>
              <a:t>46</a:t>
            </a:fld>
            <a:endParaRPr lang="zh-CN"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7177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 presetClass="entr" presetSubtype="10" fill="hold" nodeType="clickEffect">
                                  <p:stCondLst>
                                    <p:cond delay="0"/>
                                  </p:stCondLst>
                                  <p:childTnLst>
                                    <p:set>
                                      <p:cBhvr>
                                        <p:cTn id="10" dur="1" fill="hold">
                                          <p:stCondLst>
                                            <p:cond delay="0"/>
                                          </p:stCondLst>
                                        </p:cTn>
                                        <p:tgtEl>
                                          <p:spTgt spid="971781"/>
                                        </p:tgtEl>
                                        <p:attrNameLst>
                                          <p:attrName>style.visibility</p:attrName>
                                        </p:attrNameLst>
                                      </p:cBhvr>
                                      <p:to>
                                        <p:strVal val="visible"/>
                                      </p:to>
                                    </p:set>
                                    <p:animEffect transition="in" filter="blinds(horizontal)">
                                      <p:cBhvr>
                                        <p:cTn id="11" dur="500"/>
                                        <p:tgtEl>
                                          <p:spTgt spid="9717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1778"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02" name="矩形 972801"/>
          <p:cNvSpPr/>
          <p:nvPr/>
        </p:nvSpPr>
        <p:spPr>
          <a:xfrm>
            <a:off x="611188" y="1628775"/>
            <a:ext cx="8209284" cy="4608513"/>
          </a:xfrm>
          <a:prstGeom prst="rect">
            <a:avLst/>
          </a:prstGeom>
          <a:noFill/>
          <a:ln w="9525">
            <a:noFill/>
          </a:ln>
        </p:spPr>
        <p:txBody>
          <a:bodyPr/>
          <a:lstStyle>
            <a:lvl1pPr marL="342900" lvl="0" indent="-342900" algn="l" defTabSz="914400" eaLnBrk="1" fontAlgn="base" latinLnBrk="0" hangingPunct="1">
              <a:lnSpc>
                <a:spcPct val="100000"/>
              </a:lnSpc>
              <a:spcBef>
                <a:spcPct val="20000"/>
              </a:spcBef>
              <a:spcAft>
                <a:spcPct val="0"/>
              </a:spcAft>
              <a:buChar char="•"/>
              <a:defRPr sz="3200" b="0" i="0" u="none" kern="1200" baseline="0">
                <a:solidFill>
                  <a:schemeClr val="tx1"/>
                </a:solidFill>
                <a:latin typeface="Times New Roman" panose="02020603050405020304" pitchFamily="18" charset="0"/>
                <a:ea typeface="宋体" panose="02010600030101010101" pitchFamily="2" charset="-122"/>
              </a:defRPr>
            </a:lvl1pPr>
            <a:lvl2pPr marL="742950" lvl="1" indent="-285750" algn="l" defTabSz="914400" eaLnBrk="1" fontAlgn="base" latinLnBrk="0" hangingPunct="1">
              <a:lnSpc>
                <a:spcPct val="100000"/>
              </a:lnSpc>
              <a:spcBef>
                <a:spcPct val="20000"/>
              </a:spcBef>
              <a:spcAft>
                <a:spcPct val="0"/>
              </a:spcAft>
              <a:buChar char="–"/>
              <a:defRPr sz="2800" b="0" i="0" u="none" kern="1200" baseline="0">
                <a:solidFill>
                  <a:schemeClr val="tx1"/>
                </a:solidFill>
                <a:latin typeface="+mn-lt"/>
                <a:ea typeface="+mn-ea"/>
                <a:cs typeface="+mn-cs"/>
              </a:defRPr>
            </a:lvl2pPr>
            <a:lvl3pPr marL="1143000" lvl="2" indent="-228600" algn="l" defTabSz="914400" eaLnBrk="1" fontAlgn="base" latinLnBrk="0" hangingPunct="1">
              <a:lnSpc>
                <a:spcPct val="100000"/>
              </a:lnSpc>
              <a:spcBef>
                <a:spcPct val="20000"/>
              </a:spcBef>
              <a:spcAft>
                <a:spcPct val="0"/>
              </a:spcAft>
              <a:buChar char="•"/>
              <a:defRPr sz="2400" b="0" i="0" u="none" kern="1200" baseline="0">
                <a:solidFill>
                  <a:schemeClr val="tx1"/>
                </a:solidFill>
                <a:latin typeface="+mn-lt"/>
                <a:ea typeface="+mn-ea"/>
                <a:cs typeface="+mn-cs"/>
              </a:defRPr>
            </a:lvl3pPr>
            <a:lvl4pPr marL="1600200" lvl="3"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4pPr>
            <a:lvl5pPr marL="2057400" lvl="4"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5pPr>
          </a:lstStyle>
          <a:p>
            <a:pPr lvl="0" algn="just">
              <a:buClrTx/>
              <a:buChar char="•"/>
            </a:pPr>
            <a:r>
              <a:rPr lang="zh-CN" altLang="en-US" sz="2800" dirty="0">
                <a:solidFill>
                  <a:srgbClr val="0000FF"/>
                </a:solidFill>
                <a:ea typeface="黑体" panose="02010609060101010101" pitchFamily="2" charset="-122"/>
              </a:rPr>
              <a:t>共性问题：</a:t>
            </a:r>
          </a:p>
          <a:p>
            <a:pPr lvl="1" algn="just">
              <a:lnSpc>
                <a:spcPct val="70000"/>
              </a:lnSpc>
              <a:spcBef>
                <a:spcPct val="50000"/>
              </a:spcBef>
              <a:buClrTx/>
              <a:buFont typeface="Tahoma" panose="020B0604030504040204" pitchFamily="34" charset="0"/>
              <a:buChar char="−"/>
            </a:pPr>
            <a:r>
              <a:rPr lang="zh-CN" altLang="en-US" sz="2400" dirty="0">
                <a:solidFill>
                  <a:srgbClr val="000000"/>
                </a:solidFill>
                <a:ea typeface="黑体" panose="02010609060101010101" pitchFamily="2" charset="-122"/>
              </a:rPr>
              <a:t>绝大多数领域希望有“可理解性”。诊断、地震预测</a:t>
            </a:r>
          </a:p>
          <a:p>
            <a:pPr lvl="0" algn="just">
              <a:lnSpc>
                <a:spcPct val="70000"/>
              </a:lnSpc>
              <a:spcBef>
                <a:spcPct val="70000"/>
              </a:spcBef>
            </a:pPr>
            <a:r>
              <a:rPr lang="zh-CN" altLang="zh-CN" sz="2800" dirty="0">
                <a:solidFill>
                  <a:srgbClr val="0000FF"/>
                </a:solidFill>
                <a:ea typeface="黑体" panose="02010609060101010101" pitchFamily="2" charset="-122"/>
              </a:rPr>
              <a:t>目前强大的技术几乎都是“黑盒子”</a:t>
            </a:r>
            <a:endParaRPr lang="zh-CN" altLang="en-US" sz="2800" dirty="0">
              <a:solidFill>
                <a:srgbClr val="0000FF"/>
              </a:solidFill>
              <a:ea typeface="黑体" panose="02010609060101010101" pitchFamily="2" charset="-122"/>
            </a:endParaRPr>
          </a:p>
          <a:p>
            <a:pPr lvl="1" algn="just">
              <a:lnSpc>
                <a:spcPct val="70000"/>
              </a:lnSpc>
              <a:spcBef>
                <a:spcPct val="70000"/>
              </a:spcBef>
            </a:pPr>
            <a:r>
              <a:rPr lang="zh-CN" altLang="zh-CN" sz="2400" dirty="0">
                <a:solidFill>
                  <a:srgbClr val="000000"/>
                </a:solidFill>
                <a:ea typeface="黑体" panose="02010609060101010101" pitchFamily="2" charset="-122"/>
              </a:rPr>
              <a:t>神经网络、支持向量机、集成学习</a:t>
            </a:r>
            <a:endParaRPr lang="zh-CN" altLang="en-US" sz="2400" dirty="0">
              <a:solidFill>
                <a:srgbClr val="000000"/>
              </a:solidFill>
              <a:ea typeface="黑体" panose="02010609060101010101" pitchFamily="2" charset="-122"/>
            </a:endParaRPr>
          </a:p>
          <a:p>
            <a:pPr lvl="1" algn="just">
              <a:lnSpc>
                <a:spcPct val="70000"/>
              </a:lnSpc>
              <a:spcBef>
                <a:spcPct val="70000"/>
              </a:spcBef>
            </a:pPr>
            <a:r>
              <a:rPr lang="zh-CN" altLang="en-US" sz="2400" dirty="0">
                <a:solidFill>
                  <a:srgbClr val="000000"/>
                </a:solidFill>
                <a:ea typeface="黑体" panose="02010609060101010101" pitchFamily="2" charset="-122"/>
              </a:rPr>
              <a:t>“黑盒子”能满足需要吗？</a:t>
            </a:r>
          </a:p>
          <a:p>
            <a:pPr lvl="0" algn="just">
              <a:buClrTx/>
              <a:buChar char="•"/>
            </a:pPr>
            <a:r>
              <a:rPr lang="zh-CN" altLang="en-US" sz="2800" dirty="0">
                <a:solidFill>
                  <a:srgbClr val="0000FF"/>
                </a:solidFill>
                <a:ea typeface="黑体" panose="02010609060101010101" pitchFamily="2" charset="-122"/>
              </a:rPr>
              <a:t>第三个挑战问题：</a:t>
            </a:r>
          </a:p>
          <a:p>
            <a:pPr lvl="1" algn="just">
              <a:lnSpc>
                <a:spcPct val="70000"/>
              </a:lnSpc>
              <a:spcBef>
                <a:spcPct val="70000"/>
              </a:spcBef>
              <a:buClrTx/>
              <a:buFont typeface="Tahoma" panose="020B0604030504040204" pitchFamily="34" charset="0"/>
              <a:buChar char="−"/>
            </a:pPr>
            <a:r>
              <a:rPr lang="zh-CN" altLang="en-US" sz="2400" dirty="0">
                <a:solidFill>
                  <a:srgbClr val="000000"/>
                </a:solidFill>
                <a:ea typeface="黑体" panose="02010609060101010101" pitchFamily="2" charset="-122"/>
              </a:rPr>
              <a:t>能否产生“白盒子”？</a:t>
            </a:r>
          </a:p>
          <a:p>
            <a:pPr lvl="1" algn="just">
              <a:lnSpc>
                <a:spcPct val="70000"/>
              </a:lnSpc>
              <a:spcBef>
                <a:spcPct val="70000"/>
              </a:spcBef>
              <a:buClrTx/>
              <a:buFont typeface="Tahoma" panose="020B0604030504040204" pitchFamily="34" charset="0"/>
              <a:buChar char="−"/>
            </a:pPr>
            <a:r>
              <a:rPr lang="zh-CN" altLang="en-US" sz="2400" dirty="0">
                <a:solidFill>
                  <a:srgbClr val="000000"/>
                </a:solidFill>
                <a:ea typeface="黑体" panose="02010609060101010101" pitchFamily="2" charset="-122"/>
              </a:rPr>
              <a:t>是和“黑盒子”完全不同的东西？</a:t>
            </a:r>
          </a:p>
          <a:p>
            <a:pPr lvl="1" algn="just">
              <a:lnSpc>
                <a:spcPct val="70000"/>
              </a:lnSpc>
              <a:spcBef>
                <a:spcPct val="70000"/>
              </a:spcBef>
              <a:buClrTx/>
              <a:buFont typeface="Tahoma" panose="020B0604030504040204" pitchFamily="34" charset="0"/>
              <a:buChar char="−"/>
            </a:pPr>
            <a:r>
              <a:rPr lang="zh-CN" altLang="en-US" sz="2400" dirty="0">
                <a:solidFill>
                  <a:srgbClr val="000000"/>
                </a:solidFill>
                <a:ea typeface="黑体" panose="02010609060101010101" pitchFamily="2" charset="-122"/>
              </a:rPr>
              <a:t>还是从“黑盒子”变出来？</a:t>
            </a:r>
          </a:p>
        </p:txBody>
      </p:sp>
      <p:sp>
        <p:nvSpPr>
          <p:cNvPr id="972804" name="矩形 972803"/>
          <p:cNvSpPr/>
          <p:nvPr/>
        </p:nvSpPr>
        <p:spPr>
          <a:xfrm>
            <a:off x="685800" y="609600"/>
            <a:ext cx="7772400" cy="1143000"/>
          </a:xfrm>
          <a:prstGeom prst="rect">
            <a:avLst/>
          </a:prstGeom>
          <a:noFill/>
          <a:ln w="9525">
            <a:noFill/>
          </a:ln>
        </p:spPr>
        <p:txBody>
          <a:bodyPr anchor="ctr"/>
          <a:lstStyle/>
          <a:p>
            <a:pPr lvl="0" algn="ctr" eaLnBrk="1" hangingPunct="1">
              <a:spcBef>
                <a:spcPct val="50000"/>
              </a:spcBef>
            </a:pPr>
            <a:r>
              <a:rPr lang="zh-CN" altLang="en-US" sz="4400" b="1" dirty="0">
                <a:solidFill>
                  <a:schemeClr val="tx2"/>
                </a:solidFill>
                <a:latin typeface="Times New Roman" panose="02020603050405020304" pitchFamily="18" charset="0"/>
                <a:ea typeface="宋体" panose="02010600030101010101" pitchFamily="2" charset="-122"/>
              </a:rPr>
              <a:t>挑战问题</a:t>
            </a:r>
            <a:r>
              <a:rPr lang="en-US" altLang="zh-CN" sz="4400" b="1" dirty="0">
                <a:solidFill>
                  <a:schemeClr val="tx2"/>
                </a:solidFill>
                <a:latin typeface="Times New Roman" panose="02020603050405020304" pitchFamily="18" charset="0"/>
                <a:ea typeface="宋体" panose="02010600030101010101" pitchFamily="2" charset="-122"/>
              </a:rPr>
              <a:t>-3</a:t>
            </a:r>
            <a:r>
              <a:rPr lang="zh-CN" altLang="en-US" sz="4400" b="1" dirty="0">
                <a:solidFill>
                  <a:schemeClr val="tx2"/>
                </a:solidFill>
                <a:latin typeface="Times New Roman" panose="02020603050405020304" pitchFamily="18" charset="0"/>
                <a:ea typeface="宋体" panose="02010600030101010101" pitchFamily="2" charset="-122"/>
              </a:rPr>
              <a:t>：</a:t>
            </a:r>
            <a:r>
              <a:rPr lang="zh-CN" altLang="en-US" sz="4400" b="1" dirty="0">
                <a:solidFill>
                  <a:srgbClr val="FF0000"/>
                </a:solidFill>
                <a:latin typeface="Times New Roman" panose="02020603050405020304" pitchFamily="18" charset="0"/>
                <a:ea typeface="宋体" panose="02010600030101010101" pitchFamily="2" charset="-122"/>
              </a:rPr>
              <a:t>可理解性</a:t>
            </a:r>
          </a:p>
        </p:txBody>
      </p:sp>
      <p:pic>
        <p:nvPicPr>
          <p:cNvPr id="972805" name="图片 972804"/>
          <p:cNvPicPr>
            <a:picLocks noChangeAspect="1"/>
          </p:cNvPicPr>
          <p:nvPr/>
        </p:nvPicPr>
        <p:blipFill>
          <a:blip r:embed="rId2"/>
          <a:stretch>
            <a:fillRect/>
          </a:stretch>
        </p:blipFill>
        <p:spPr>
          <a:xfrm>
            <a:off x="6877050" y="3933825"/>
            <a:ext cx="1219200" cy="1219200"/>
          </a:xfrm>
          <a:prstGeom prst="rect">
            <a:avLst/>
          </a:prstGeom>
          <a:noFill/>
          <a:ln w="9525">
            <a:noFill/>
          </a:ln>
        </p:spPr>
      </p:pic>
      <p:sp>
        <p:nvSpPr>
          <p:cNvPr id="2" name="灯片编号占位符 1"/>
          <p:cNvSpPr>
            <a:spLocks noGrp="1"/>
          </p:cNvSpPr>
          <p:nvPr>
            <p:ph type="sldNum" sz="quarter" idx="12"/>
          </p:nvPr>
        </p:nvSpPr>
        <p:spPr/>
        <p:txBody>
          <a:bodyPr/>
          <a:lstStyle/>
          <a:p>
            <a:pPr lvl="0"/>
            <a:fld id="{9A0DB2DC-4C9A-4742-B13C-FB6460FD3503}" type="slidenum">
              <a:rPr lang="en-US" altLang="zh-CN" dirty="0"/>
              <a:t>47</a:t>
            </a:fld>
            <a:endParaRPr lang="zh-CN"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7280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 presetClass="entr" presetSubtype="10" fill="hold" nodeType="clickEffect">
                                  <p:stCondLst>
                                    <p:cond delay="0"/>
                                  </p:stCondLst>
                                  <p:childTnLst>
                                    <p:set>
                                      <p:cBhvr>
                                        <p:cTn id="10" dur="1" fill="hold">
                                          <p:stCondLst>
                                            <p:cond delay="0"/>
                                          </p:stCondLst>
                                        </p:cTn>
                                        <p:tgtEl>
                                          <p:spTgt spid="972805"/>
                                        </p:tgtEl>
                                        <p:attrNameLst>
                                          <p:attrName>style.visibility</p:attrName>
                                        </p:attrNameLst>
                                      </p:cBhvr>
                                      <p:to>
                                        <p:strVal val="visible"/>
                                      </p:to>
                                    </p:set>
                                    <p:animEffect transition="in" filter="blinds(horizontal)">
                                      <p:cBhvr>
                                        <p:cTn id="11" dur="500"/>
                                        <p:tgtEl>
                                          <p:spTgt spid="9728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2802"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3826" name="矩形 973825"/>
          <p:cNvSpPr/>
          <p:nvPr/>
        </p:nvSpPr>
        <p:spPr>
          <a:xfrm>
            <a:off x="611188" y="1628775"/>
            <a:ext cx="7848600" cy="4608513"/>
          </a:xfrm>
          <a:prstGeom prst="rect">
            <a:avLst/>
          </a:prstGeom>
          <a:noFill/>
          <a:ln w="9525">
            <a:noFill/>
          </a:ln>
        </p:spPr>
        <p:txBody>
          <a:bodyPr/>
          <a:lstStyle>
            <a:lvl1pPr marL="342900" lvl="0" indent="-342900" algn="l" defTabSz="914400" eaLnBrk="1" fontAlgn="base" latinLnBrk="0" hangingPunct="1">
              <a:lnSpc>
                <a:spcPct val="100000"/>
              </a:lnSpc>
              <a:spcBef>
                <a:spcPct val="20000"/>
              </a:spcBef>
              <a:spcAft>
                <a:spcPct val="0"/>
              </a:spcAft>
              <a:buChar char="•"/>
              <a:defRPr sz="3200" b="0" i="0" u="none" kern="1200" baseline="0">
                <a:solidFill>
                  <a:schemeClr val="tx1"/>
                </a:solidFill>
                <a:latin typeface="Times New Roman" panose="02020603050405020304" pitchFamily="18" charset="0"/>
                <a:ea typeface="宋体" panose="02010600030101010101" pitchFamily="2" charset="-122"/>
              </a:defRPr>
            </a:lvl1pPr>
            <a:lvl2pPr marL="742950" lvl="1" indent="-285750" algn="l" defTabSz="914400" eaLnBrk="1" fontAlgn="base" latinLnBrk="0" hangingPunct="1">
              <a:lnSpc>
                <a:spcPct val="100000"/>
              </a:lnSpc>
              <a:spcBef>
                <a:spcPct val="20000"/>
              </a:spcBef>
              <a:spcAft>
                <a:spcPct val="0"/>
              </a:spcAft>
              <a:buChar char="–"/>
              <a:defRPr sz="2800" b="0" i="0" u="none" kern="1200" baseline="0">
                <a:solidFill>
                  <a:schemeClr val="tx1"/>
                </a:solidFill>
                <a:latin typeface="+mn-lt"/>
                <a:ea typeface="+mn-ea"/>
                <a:cs typeface="+mn-cs"/>
              </a:defRPr>
            </a:lvl2pPr>
            <a:lvl3pPr marL="1143000" lvl="2" indent="-228600" algn="l" defTabSz="914400" eaLnBrk="1" fontAlgn="base" latinLnBrk="0" hangingPunct="1">
              <a:lnSpc>
                <a:spcPct val="100000"/>
              </a:lnSpc>
              <a:spcBef>
                <a:spcPct val="20000"/>
              </a:spcBef>
              <a:spcAft>
                <a:spcPct val="0"/>
              </a:spcAft>
              <a:buChar char="•"/>
              <a:defRPr sz="2400" b="0" i="0" u="none" kern="1200" baseline="0">
                <a:solidFill>
                  <a:schemeClr val="tx1"/>
                </a:solidFill>
                <a:latin typeface="+mn-lt"/>
                <a:ea typeface="+mn-ea"/>
                <a:cs typeface="+mn-cs"/>
              </a:defRPr>
            </a:lvl3pPr>
            <a:lvl4pPr marL="1600200" lvl="3"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4pPr>
            <a:lvl5pPr marL="2057400" lvl="4"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5pPr>
          </a:lstStyle>
          <a:p>
            <a:pPr lvl="0" algn="just">
              <a:buClrTx/>
              <a:buChar char="•"/>
            </a:pPr>
            <a:r>
              <a:rPr lang="zh-CN" altLang="en-US" sz="2800" dirty="0">
                <a:solidFill>
                  <a:srgbClr val="0000FF"/>
                </a:solidFill>
                <a:ea typeface="黑体" panose="02010609060101010101" pitchFamily="2" charset="-122"/>
              </a:rPr>
              <a:t>共性问题：</a:t>
            </a:r>
          </a:p>
          <a:p>
            <a:pPr lvl="1" algn="just">
              <a:lnSpc>
                <a:spcPct val="70000"/>
              </a:lnSpc>
              <a:spcBef>
                <a:spcPct val="50000"/>
              </a:spcBef>
              <a:buClrTx/>
              <a:buFont typeface="Tahoma" panose="020B0604030504040204" pitchFamily="34" charset="0"/>
              <a:buChar char="−"/>
            </a:pPr>
            <a:r>
              <a:rPr lang="zh-CN" altLang="zh-CN" sz="2400" dirty="0">
                <a:solidFill>
                  <a:srgbClr val="000000"/>
                </a:solidFill>
                <a:ea typeface="黑体" panose="02010609060101010101" pitchFamily="2" charset="-122"/>
              </a:rPr>
              <a:t>传统的机器学习技术 </a:t>
            </a:r>
            <a:r>
              <a:rPr lang="zh-CN" altLang="zh-CN" sz="2400" dirty="0">
                <a:solidFill>
                  <a:srgbClr val="000000"/>
                </a:solidFill>
                <a:ea typeface="黑体" panose="02010609060101010101" pitchFamily="2" charset="-122"/>
                <a:sym typeface="Symbol" panose="05050102010706020507" pitchFamily="18" charset="2"/>
              </a:rPr>
              <a:t></a:t>
            </a:r>
            <a:r>
              <a:rPr lang="zh-CN" altLang="en-US" sz="2400" dirty="0">
                <a:solidFill>
                  <a:srgbClr val="000000"/>
                </a:solidFill>
                <a:ea typeface="黑体" panose="02010609060101010101" pitchFamily="2" charset="-122"/>
                <a:sym typeface="Symbol" panose="05050102010706020507" pitchFamily="18" charset="2"/>
              </a:rPr>
              <a:t> </a:t>
            </a:r>
            <a:r>
              <a:rPr lang="zh-CN" altLang="zh-CN" sz="2400" dirty="0">
                <a:solidFill>
                  <a:srgbClr val="000000"/>
                </a:solidFill>
                <a:ea typeface="黑体" panose="02010609060101010101" pitchFamily="2" charset="-122"/>
              </a:rPr>
              <a:t>对有标记数据进行学习</a:t>
            </a:r>
            <a:endParaRPr lang="zh-CN" altLang="en-US" sz="2400" dirty="0">
              <a:solidFill>
                <a:srgbClr val="000000"/>
              </a:solidFill>
              <a:ea typeface="黑体" panose="02010609060101010101" pitchFamily="2" charset="-122"/>
            </a:endParaRPr>
          </a:p>
          <a:p>
            <a:pPr lvl="1" algn="just">
              <a:lnSpc>
                <a:spcPct val="70000"/>
              </a:lnSpc>
              <a:spcBef>
                <a:spcPct val="50000"/>
              </a:spcBef>
              <a:buClrTx/>
              <a:buFont typeface="Tahoma" panose="020B0604030504040204" pitchFamily="34" charset="0"/>
              <a:buChar char="−"/>
            </a:pPr>
            <a:r>
              <a:rPr lang="zh-CN" altLang="zh-CN" sz="2400" dirty="0">
                <a:solidFill>
                  <a:srgbClr val="000000"/>
                </a:solidFill>
                <a:ea typeface="黑体" panose="02010609060101010101" pitchFamily="2" charset="-122"/>
              </a:rPr>
              <a:t>容易获得大量未标记数据</a:t>
            </a:r>
            <a:r>
              <a:rPr lang="zh-CN" altLang="en-US" sz="2400" dirty="0">
                <a:solidFill>
                  <a:srgbClr val="000000"/>
                </a:solidFill>
                <a:ea typeface="黑体" panose="02010609060101010101" pitchFamily="2" charset="-122"/>
              </a:rPr>
              <a:t>。医学图像、垃圾邮件</a:t>
            </a:r>
          </a:p>
          <a:p>
            <a:pPr lvl="1" algn="just">
              <a:lnSpc>
                <a:spcPct val="70000"/>
              </a:lnSpc>
              <a:spcBef>
                <a:spcPct val="50000"/>
              </a:spcBef>
              <a:buClrTx/>
              <a:buFont typeface="Tahoma" panose="020B0604030504040204" pitchFamily="34" charset="0"/>
              <a:buChar char="−"/>
            </a:pPr>
            <a:r>
              <a:rPr lang="zh-CN" altLang="zh-CN" sz="2400" dirty="0">
                <a:solidFill>
                  <a:srgbClr val="000000"/>
                </a:solidFill>
                <a:ea typeface="黑体" panose="02010609060101010101" pitchFamily="2" charset="-122"/>
              </a:rPr>
              <a:t>在绝大多数领域中都会遇到“坏”数据，只有“坏”数据</a:t>
            </a:r>
            <a:endParaRPr lang="zh-CN" altLang="en-US" sz="2400" dirty="0">
              <a:solidFill>
                <a:srgbClr val="000000"/>
              </a:solidFill>
              <a:ea typeface="黑体" panose="02010609060101010101" pitchFamily="2" charset="-122"/>
            </a:endParaRPr>
          </a:p>
          <a:p>
            <a:pPr lvl="0" algn="just">
              <a:lnSpc>
                <a:spcPct val="70000"/>
              </a:lnSpc>
              <a:spcBef>
                <a:spcPct val="70000"/>
              </a:spcBef>
            </a:pPr>
            <a:r>
              <a:rPr lang="zh-CN" altLang="en-US" sz="2800" dirty="0">
                <a:solidFill>
                  <a:srgbClr val="0000FF"/>
                </a:solidFill>
                <a:ea typeface="黑体" panose="02010609060101010101" pitchFamily="2" charset="-122"/>
              </a:rPr>
              <a:t>没有标记的数据、“坏”数据就没用的吗？</a:t>
            </a:r>
          </a:p>
          <a:p>
            <a:pPr lvl="1" algn="just">
              <a:lnSpc>
                <a:spcPct val="70000"/>
              </a:lnSpc>
              <a:spcBef>
                <a:spcPct val="70000"/>
              </a:spcBef>
            </a:pPr>
            <a:r>
              <a:rPr lang="zh-CN" altLang="zh-CN" sz="2400" dirty="0">
                <a:solidFill>
                  <a:srgbClr val="000000"/>
                </a:solidFill>
                <a:ea typeface="黑体" panose="02010609060101010101" pitchFamily="2" charset="-122"/>
              </a:rPr>
              <a:t>“坏”数据</a:t>
            </a:r>
            <a:r>
              <a:rPr lang="zh-CN" altLang="en-US" sz="2400" dirty="0">
                <a:solidFill>
                  <a:srgbClr val="000000"/>
                </a:solidFill>
                <a:ea typeface="黑体" panose="02010609060101010101" pitchFamily="2" charset="-122"/>
              </a:rPr>
              <a:t>：</a:t>
            </a:r>
            <a:r>
              <a:rPr lang="zh-CN" altLang="zh-CN" sz="2400" dirty="0">
                <a:solidFill>
                  <a:srgbClr val="000000"/>
                </a:solidFill>
                <a:ea typeface="黑体" panose="02010609060101010101" pitchFamily="2" charset="-122"/>
              </a:rPr>
              <a:t>大量噪音、属性缺失、不一致、……</a:t>
            </a:r>
            <a:endParaRPr lang="zh-CN" altLang="en-US" sz="2400">
              <a:solidFill>
                <a:srgbClr val="000000"/>
              </a:solidFill>
              <a:ea typeface="黑体" panose="02010609060101010101" pitchFamily="2" charset="-122"/>
            </a:endParaRPr>
          </a:p>
          <a:p>
            <a:pPr lvl="1" algn="just">
              <a:lnSpc>
                <a:spcPct val="70000"/>
              </a:lnSpc>
              <a:spcBef>
                <a:spcPct val="70000"/>
              </a:spcBef>
            </a:pPr>
            <a:r>
              <a:rPr lang="zh-CN" altLang="zh-CN" sz="2400" dirty="0">
                <a:solidFill>
                  <a:srgbClr val="000000"/>
                </a:solidFill>
                <a:ea typeface="黑体" panose="02010609060101010101" pitchFamily="2" charset="-122"/>
              </a:rPr>
              <a:t>传统的“坏”数据处理方式</a:t>
            </a:r>
            <a:r>
              <a:rPr lang="zh-CN" altLang="en-US" sz="2400" dirty="0">
                <a:solidFill>
                  <a:srgbClr val="000000"/>
                </a:solidFill>
                <a:ea typeface="黑体" panose="02010609060101010101" pitchFamily="2" charset="-122"/>
              </a:rPr>
              <a:t>：</a:t>
            </a:r>
            <a:r>
              <a:rPr lang="zh-CN" altLang="zh-CN" sz="2400" dirty="0">
                <a:solidFill>
                  <a:srgbClr val="000000"/>
                </a:solidFill>
                <a:ea typeface="黑体" panose="02010609060101010101" pitchFamily="2" charset="-122"/>
              </a:rPr>
              <a:t>“扔掉”</a:t>
            </a:r>
            <a:endParaRPr lang="zh-CN" altLang="en-US" sz="2400" dirty="0">
              <a:solidFill>
                <a:srgbClr val="000000"/>
              </a:solidFill>
              <a:ea typeface="黑体" panose="02010609060101010101" pitchFamily="2" charset="-122"/>
            </a:endParaRPr>
          </a:p>
          <a:p>
            <a:pPr lvl="0" algn="just">
              <a:buClrTx/>
              <a:buChar char="•"/>
            </a:pPr>
            <a:r>
              <a:rPr lang="zh-CN" altLang="en-US" sz="2800" dirty="0">
                <a:solidFill>
                  <a:srgbClr val="0000FF"/>
                </a:solidFill>
                <a:ea typeface="黑体" panose="02010609060101010101" pitchFamily="2" charset="-122"/>
              </a:rPr>
              <a:t>第四个挑战问题：</a:t>
            </a:r>
          </a:p>
          <a:p>
            <a:pPr lvl="1" algn="just">
              <a:lnSpc>
                <a:spcPct val="70000"/>
              </a:lnSpc>
              <a:spcBef>
                <a:spcPct val="70000"/>
              </a:spcBef>
              <a:buClrTx/>
              <a:buFont typeface="Tahoma" panose="020B0604030504040204" pitchFamily="34" charset="0"/>
              <a:buChar char="−"/>
            </a:pPr>
            <a:r>
              <a:rPr lang="zh-CN" altLang="en-US" sz="2400" dirty="0">
                <a:solidFill>
                  <a:srgbClr val="000000"/>
                </a:solidFill>
                <a:ea typeface="黑体" panose="02010609060101010101" pitchFamily="2" charset="-122"/>
              </a:rPr>
              <a:t>能否 “通吃”？如何“吃”？ </a:t>
            </a:r>
          </a:p>
        </p:txBody>
      </p:sp>
      <p:sp>
        <p:nvSpPr>
          <p:cNvPr id="973828" name="矩形 973827"/>
          <p:cNvSpPr/>
          <p:nvPr/>
        </p:nvSpPr>
        <p:spPr>
          <a:xfrm>
            <a:off x="685800" y="609600"/>
            <a:ext cx="7772400" cy="1143000"/>
          </a:xfrm>
          <a:prstGeom prst="rect">
            <a:avLst/>
          </a:prstGeom>
          <a:noFill/>
          <a:ln w="9525">
            <a:noFill/>
          </a:ln>
        </p:spPr>
        <p:txBody>
          <a:bodyPr anchor="ctr"/>
          <a:lstStyle/>
          <a:p>
            <a:pPr lvl="0" algn="ctr" eaLnBrk="1" hangingPunct="1">
              <a:spcBef>
                <a:spcPct val="50000"/>
              </a:spcBef>
            </a:pPr>
            <a:r>
              <a:rPr lang="zh-CN" altLang="en-US" sz="4400" b="1" dirty="0">
                <a:solidFill>
                  <a:schemeClr val="tx2"/>
                </a:solidFill>
                <a:latin typeface="Times New Roman" panose="02020603050405020304" pitchFamily="18" charset="0"/>
                <a:ea typeface="宋体" panose="02010600030101010101" pitchFamily="2" charset="-122"/>
              </a:rPr>
              <a:t>挑战问题</a:t>
            </a:r>
            <a:r>
              <a:rPr lang="en-US" altLang="zh-CN" sz="4400" b="1" dirty="0">
                <a:solidFill>
                  <a:schemeClr val="tx2"/>
                </a:solidFill>
                <a:latin typeface="Times New Roman" panose="02020603050405020304" pitchFamily="18" charset="0"/>
                <a:ea typeface="宋体" panose="02010600030101010101" pitchFamily="2" charset="-122"/>
              </a:rPr>
              <a:t>-4</a:t>
            </a:r>
            <a:r>
              <a:rPr lang="zh-CN" altLang="en-US" sz="4400" b="1" dirty="0">
                <a:solidFill>
                  <a:schemeClr val="tx2"/>
                </a:solidFill>
                <a:latin typeface="Times New Roman" panose="02020603050405020304" pitchFamily="18" charset="0"/>
                <a:ea typeface="宋体" panose="02010600030101010101" pitchFamily="2" charset="-122"/>
              </a:rPr>
              <a:t>：</a:t>
            </a:r>
            <a:r>
              <a:rPr lang="zh-CN" altLang="en-US" sz="4400" b="1" dirty="0">
                <a:solidFill>
                  <a:srgbClr val="FF0000"/>
                </a:solidFill>
                <a:latin typeface="Times New Roman" panose="02020603050405020304" pitchFamily="18" charset="0"/>
                <a:ea typeface="宋体" panose="02010600030101010101" pitchFamily="2" charset="-122"/>
              </a:rPr>
              <a:t>数据利用能力</a:t>
            </a:r>
          </a:p>
        </p:txBody>
      </p:sp>
      <p:pic>
        <p:nvPicPr>
          <p:cNvPr id="973829" name="图片 973828"/>
          <p:cNvPicPr>
            <a:picLocks noChangeAspect="1"/>
          </p:cNvPicPr>
          <p:nvPr/>
        </p:nvPicPr>
        <p:blipFill>
          <a:blip r:embed="rId2"/>
          <a:stretch>
            <a:fillRect/>
          </a:stretch>
        </p:blipFill>
        <p:spPr>
          <a:xfrm>
            <a:off x="7088188" y="4724400"/>
            <a:ext cx="1371600" cy="1371600"/>
          </a:xfrm>
          <a:prstGeom prst="rect">
            <a:avLst/>
          </a:prstGeom>
          <a:noFill/>
          <a:ln w="9525">
            <a:noFill/>
          </a:ln>
        </p:spPr>
      </p:pic>
      <p:sp>
        <p:nvSpPr>
          <p:cNvPr id="2" name="灯片编号占位符 1"/>
          <p:cNvSpPr>
            <a:spLocks noGrp="1"/>
          </p:cNvSpPr>
          <p:nvPr>
            <p:ph type="sldNum" sz="quarter" idx="12"/>
          </p:nvPr>
        </p:nvSpPr>
        <p:spPr/>
        <p:txBody>
          <a:bodyPr/>
          <a:lstStyle/>
          <a:p>
            <a:pPr lvl="0"/>
            <a:fld id="{9A0DB2DC-4C9A-4742-B13C-FB6460FD3503}" type="slidenum">
              <a:rPr lang="en-US" altLang="zh-CN" dirty="0"/>
              <a:t>48</a:t>
            </a:fld>
            <a:endParaRPr lang="zh-CN"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738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5" presetClass="entr" presetSubtype="10" fill="hold" nodeType="clickEffect">
                                  <p:stCondLst>
                                    <p:cond delay="0"/>
                                  </p:stCondLst>
                                  <p:childTnLst>
                                    <p:set>
                                      <p:cBhvr>
                                        <p:cTn id="10" dur="1" fill="hold">
                                          <p:stCondLst>
                                            <p:cond delay="0"/>
                                          </p:stCondLst>
                                        </p:cTn>
                                        <p:tgtEl>
                                          <p:spTgt spid="973829"/>
                                        </p:tgtEl>
                                        <p:attrNameLst>
                                          <p:attrName>style.visibility</p:attrName>
                                        </p:attrNameLst>
                                      </p:cBhvr>
                                      <p:to>
                                        <p:strVal val="visible"/>
                                      </p:to>
                                    </p:set>
                                    <p:animEffect transition="in" filter="checkerboard(across)">
                                      <p:cBhvr>
                                        <p:cTn id="11" dur="500"/>
                                        <p:tgtEl>
                                          <p:spTgt spid="9738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3826"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4850" name="矩形 974849"/>
          <p:cNvSpPr/>
          <p:nvPr/>
        </p:nvSpPr>
        <p:spPr>
          <a:xfrm>
            <a:off x="611188" y="1484313"/>
            <a:ext cx="7921625" cy="4752975"/>
          </a:xfrm>
          <a:prstGeom prst="rect">
            <a:avLst/>
          </a:prstGeom>
          <a:noFill/>
          <a:ln w="9525">
            <a:noFill/>
          </a:ln>
        </p:spPr>
        <p:txBody>
          <a:bodyPr/>
          <a:lstStyle>
            <a:lvl1pPr marL="342900" lvl="0" indent="-342900" algn="l" defTabSz="914400" eaLnBrk="1" fontAlgn="base" latinLnBrk="0" hangingPunct="1">
              <a:lnSpc>
                <a:spcPct val="100000"/>
              </a:lnSpc>
              <a:spcBef>
                <a:spcPct val="20000"/>
              </a:spcBef>
              <a:spcAft>
                <a:spcPct val="0"/>
              </a:spcAft>
              <a:buChar char="•"/>
              <a:defRPr sz="3200" b="0" i="0" u="none" kern="1200" baseline="0">
                <a:solidFill>
                  <a:schemeClr val="tx1"/>
                </a:solidFill>
                <a:latin typeface="Times New Roman" panose="02020603050405020304" pitchFamily="18" charset="0"/>
                <a:ea typeface="宋体" panose="02010600030101010101" pitchFamily="2" charset="-122"/>
              </a:defRPr>
            </a:lvl1pPr>
            <a:lvl2pPr marL="742950" lvl="1" indent="-285750" algn="l" defTabSz="914400" eaLnBrk="1" fontAlgn="base" latinLnBrk="0" hangingPunct="1">
              <a:lnSpc>
                <a:spcPct val="100000"/>
              </a:lnSpc>
              <a:spcBef>
                <a:spcPct val="20000"/>
              </a:spcBef>
              <a:spcAft>
                <a:spcPct val="0"/>
              </a:spcAft>
              <a:buChar char="–"/>
              <a:defRPr sz="2800" b="0" i="0" u="none" kern="1200" baseline="0">
                <a:solidFill>
                  <a:schemeClr val="tx1"/>
                </a:solidFill>
                <a:latin typeface="+mn-lt"/>
                <a:ea typeface="+mn-ea"/>
                <a:cs typeface="+mn-cs"/>
              </a:defRPr>
            </a:lvl2pPr>
            <a:lvl3pPr marL="1143000" lvl="2" indent="-228600" algn="l" defTabSz="914400" eaLnBrk="1" fontAlgn="base" latinLnBrk="0" hangingPunct="1">
              <a:lnSpc>
                <a:spcPct val="100000"/>
              </a:lnSpc>
              <a:spcBef>
                <a:spcPct val="20000"/>
              </a:spcBef>
              <a:spcAft>
                <a:spcPct val="0"/>
              </a:spcAft>
              <a:buChar char="•"/>
              <a:defRPr sz="2400" b="0" i="0" u="none" kern="1200" baseline="0">
                <a:solidFill>
                  <a:schemeClr val="tx1"/>
                </a:solidFill>
                <a:latin typeface="+mn-lt"/>
                <a:ea typeface="+mn-ea"/>
                <a:cs typeface="+mn-cs"/>
              </a:defRPr>
            </a:lvl3pPr>
            <a:lvl4pPr marL="1600200" lvl="3"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4pPr>
            <a:lvl5pPr marL="2057400" lvl="4"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5pPr>
          </a:lstStyle>
          <a:p>
            <a:pPr lvl="0" algn="just">
              <a:buClrTx/>
              <a:buChar char="•"/>
            </a:pPr>
            <a:r>
              <a:rPr lang="zh-CN" altLang="en-US" sz="2800" dirty="0">
                <a:solidFill>
                  <a:srgbClr val="0000FF"/>
                </a:solidFill>
                <a:ea typeface="黑体" panose="02010609060101010101" pitchFamily="2" charset="-122"/>
              </a:rPr>
              <a:t>共性问题：</a:t>
            </a:r>
          </a:p>
          <a:p>
            <a:pPr lvl="1" algn="just">
              <a:lnSpc>
                <a:spcPct val="70000"/>
              </a:lnSpc>
              <a:spcBef>
                <a:spcPct val="50000"/>
              </a:spcBef>
              <a:buClrTx/>
              <a:buFont typeface="Tahoma" panose="020B0604030504040204" pitchFamily="34" charset="0"/>
              <a:buChar char="−"/>
            </a:pPr>
            <a:r>
              <a:rPr lang="zh-CN" altLang="zh-CN" sz="2400" dirty="0">
                <a:solidFill>
                  <a:srgbClr val="000000"/>
                </a:solidFill>
                <a:ea typeface="黑体" panose="02010609060101010101" pitchFamily="2" charset="-122"/>
              </a:rPr>
              <a:t>目前的</a:t>
            </a:r>
            <a:r>
              <a:rPr lang="zh-CN" altLang="zh-CN" sz="2400">
                <a:solidFill>
                  <a:srgbClr val="000000"/>
                </a:solidFill>
                <a:ea typeface="黑体" panose="02010609060101010101" pitchFamily="2" charset="-122"/>
              </a:rPr>
              <a:t>机器学习</a:t>
            </a:r>
            <a:r>
              <a:rPr lang="zh-CN" altLang="zh-CN" sz="2400" smtClean="0">
                <a:solidFill>
                  <a:srgbClr val="000000"/>
                </a:solidFill>
                <a:ea typeface="黑体" panose="02010609060101010101" pitchFamily="2" charset="-122"/>
              </a:rPr>
              <a:t>技术</a:t>
            </a:r>
            <a:r>
              <a:rPr lang="zh-CN" altLang="en-US" sz="2400" smtClean="0">
                <a:solidFill>
                  <a:srgbClr val="000000"/>
                </a:solidFill>
                <a:ea typeface="黑体" panose="02010609060101010101" pitchFamily="2" charset="-122"/>
              </a:rPr>
              <a:t> </a:t>
            </a:r>
            <a:r>
              <a:rPr lang="zh-CN" altLang="zh-CN" sz="2400" dirty="0">
                <a:solidFill>
                  <a:srgbClr val="000000"/>
                </a:solidFill>
                <a:ea typeface="黑体" panose="02010609060101010101" pitchFamily="2" charset="-122"/>
                <a:sym typeface="Symbol" panose="05050102010706020507" pitchFamily="18" charset="2"/>
              </a:rPr>
              <a:t></a:t>
            </a:r>
            <a:r>
              <a:rPr lang="zh-CN" altLang="en-US" sz="2400" dirty="0">
                <a:solidFill>
                  <a:srgbClr val="000000"/>
                </a:solidFill>
                <a:ea typeface="黑体" panose="02010609060101010101" pitchFamily="2" charset="-122"/>
                <a:sym typeface="Symbol" panose="05050102010706020507" pitchFamily="18" charset="2"/>
              </a:rPr>
              <a:t> </a:t>
            </a:r>
            <a:r>
              <a:rPr lang="zh-CN" altLang="zh-CN" sz="2400" dirty="0">
                <a:solidFill>
                  <a:srgbClr val="000000"/>
                </a:solidFill>
                <a:ea typeface="黑体" panose="02010609060101010101" pitchFamily="2" charset="-122"/>
              </a:rPr>
              <a:t>降低错误率</a:t>
            </a:r>
            <a:endParaRPr lang="zh-CN" altLang="en-US" sz="2400" dirty="0">
              <a:solidFill>
                <a:srgbClr val="000000"/>
              </a:solidFill>
              <a:ea typeface="黑体" panose="02010609060101010101" pitchFamily="2" charset="-122"/>
            </a:endParaRPr>
          </a:p>
          <a:p>
            <a:pPr lvl="1" algn="just">
              <a:lnSpc>
                <a:spcPct val="70000"/>
              </a:lnSpc>
              <a:spcBef>
                <a:spcPct val="50000"/>
              </a:spcBef>
              <a:buClrTx/>
              <a:buFont typeface="Tahoma" panose="020B0604030504040204" pitchFamily="34" charset="0"/>
              <a:buChar char="−"/>
            </a:pPr>
            <a:r>
              <a:rPr lang="zh-CN" altLang="zh-CN" sz="2400" dirty="0">
                <a:solidFill>
                  <a:srgbClr val="000000"/>
                </a:solidFill>
                <a:ea typeface="黑体" panose="02010609060101010101" pitchFamily="2" charset="-122"/>
              </a:rPr>
              <a:t>大多数领域中的错误代价都不一样</a:t>
            </a:r>
            <a:r>
              <a:rPr lang="zh-CN" altLang="en-US" sz="2400" dirty="0">
                <a:solidFill>
                  <a:srgbClr val="000000"/>
                </a:solidFill>
                <a:ea typeface="黑体" panose="02010609060101010101" pitchFamily="2" charset="-122"/>
              </a:rPr>
              <a:t>：</a:t>
            </a:r>
          </a:p>
          <a:p>
            <a:pPr lvl="2" algn="just">
              <a:lnSpc>
                <a:spcPct val="70000"/>
              </a:lnSpc>
              <a:spcBef>
                <a:spcPct val="50000"/>
              </a:spcBef>
              <a:buClrTx/>
              <a:buFont typeface="Tahoma" panose="020B0604030504040204" pitchFamily="34" charset="0"/>
              <a:buChar char="−"/>
            </a:pPr>
            <a:r>
              <a:rPr lang="zh-CN" altLang="en-US" sz="2000" dirty="0">
                <a:solidFill>
                  <a:srgbClr val="000000"/>
                </a:solidFill>
                <a:ea typeface="黑体" panose="02010609060101010101" pitchFamily="2" charset="-122"/>
              </a:rPr>
              <a:t> 入侵检测、 癌症诊断</a:t>
            </a:r>
          </a:p>
          <a:p>
            <a:pPr lvl="0" algn="just">
              <a:lnSpc>
                <a:spcPct val="70000"/>
              </a:lnSpc>
              <a:spcBef>
                <a:spcPct val="70000"/>
              </a:spcBef>
            </a:pPr>
            <a:r>
              <a:rPr lang="zh-CN" altLang="en-US" sz="2800" dirty="0">
                <a:solidFill>
                  <a:srgbClr val="0000FF"/>
                </a:solidFill>
                <a:ea typeface="黑体" panose="02010609060101010101" pitchFamily="2" charset="-122"/>
              </a:rPr>
              <a:t>“错误”是没有区别的吗？</a:t>
            </a:r>
          </a:p>
          <a:p>
            <a:pPr lvl="1" algn="just">
              <a:lnSpc>
                <a:spcPct val="70000"/>
              </a:lnSpc>
              <a:spcBef>
                <a:spcPct val="50000"/>
              </a:spcBef>
              <a:buClrTx/>
              <a:buFont typeface="Tahoma" panose="020B0604030504040204" pitchFamily="34" charset="0"/>
              <a:buChar char="−"/>
            </a:pPr>
            <a:r>
              <a:rPr lang="zh-CN" altLang="zh-CN" sz="2400" dirty="0">
                <a:solidFill>
                  <a:srgbClr val="000000"/>
                </a:solidFill>
                <a:ea typeface="黑体" panose="02010609060101010101" pitchFamily="2" charset="-122"/>
              </a:rPr>
              <a:t>把“好”当成“坏”</a:t>
            </a:r>
            <a:endParaRPr lang="zh-CN" altLang="en-US" sz="2400" dirty="0">
              <a:solidFill>
                <a:srgbClr val="000000"/>
              </a:solidFill>
              <a:ea typeface="黑体" panose="02010609060101010101" pitchFamily="2" charset="-122"/>
            </a:endParaRPr>
          </a:p>
          <a:p>
            <a:pPr lvl="1" algn="just">
              <a:lnSpc>
                <a:spcPct val="70000"/>
              </a:lnSpc>
              <a:spcBef>
                <a:spcPct val="50000"/>
              </a:spcBef>
              <a:buClrTx/>
              <a:buFont typeface="Tahoma" panose="020B0604030504040204" pitchFamily="34" charset="0"/>
              <a:buChar char="−"/>
            </a:pPr>
            <a:r>
              <a:rPr lang="zh-CN" altLang="zh-CN" sz="2400" dirty="0">
                <a:solidFill>
                  <a:srgbClr val="000000"/>
                </a:solidFill>
                <a:ea typeface="黑体" panose="02010609060101010101" pitchFamily="2" charset="-122"/>
              </a:rPr>
              <a:t>把“坏”当成“好”</a:t>
            </a:r>
            <a:endParaRPr lang="zh-CN" altLang="en-US" sz="2400" dirty="0">
              <a:solidFill>
                <a:srgbClr val="000000"/>
              </a:solidFill>
              <a:ea typeface="黑体" panose="02010609060101010101" pitchFamily="2" charset="-122"/>
            </a:endParaRPr>
          </a:p>
          <a:p>
            <a:pPr lvl="0" algn="just">
              <a:buClrTx/>
              <a:buChar char="•"/>
            </a:pPr>
            <a:r>
              <a:rPr lang="zh-CN" altLang="en-US" sz="2800" dirty="0">
                <a:solidFill>
                  <a:srgbClr val="0000FF"/>
                </a:solidFill>
                <a:ea typeface="黑体" panose="02010609060101010101" pitchFamily="2" charset="-122"/>
              </a:rPr>
              <a:t>第五个挑战问题：</a:t>
            </a:r>
          </a:p>
          <a:p>
            <a:pPr lvl="1" algn="just">
              <a:lnSpc>
                <a:spcPct val="70000"/>
              </a:lnSpc>
              <a:spcBef>
                <a:spcPct val="70000"/>
              </a:spcBef>
              <a:buClrTx/>
              <a:buFont typeface="Tahoma" panose="020B0604030504040204" pitchFamily="34" charset="0"/>
              <a:buChar char="−"/>
            </a:pPr>
            <a:r>
              <a:rPr lang="zh-CN" altLang="en-US" sz="2400" dirty="0">
                <a:solidFill>
                  <a:srgbClr val="000000"/>
                </a:solidFill>
                <a:ea typeface="黑体" panose="02010609060101010101" pitchFamily="2" charset="-122"/>
              </a:rPr>
              <a:t>能否“趋利避害”？ </a:t>
            </a:r>
          </a:p>
          <a:p>
            <a:pPr lvl="1" algn="just">
              <a:lnSpc>
                <a:spcPct val="70000"/>
              </a:lnSpc>
              <a:spcBef>
                <a:spcPct val="70000"/>
              </a:spcBef>
              <a:buClrTx/>
              <a:buFont typeface="Tahoma" panose="020B0604030504040204" pitchFamily="34" charset="0"/>
              <a:buChar char="−"/>
            </a:pPr>
            <a:r>
              <a:rPr lang="zh-CN" altLang="en-US" sz="2400" dirty="0">
                <a:solidFill>
                  <a:srgbClr val="000000"/>
                </a:solidFill>
                <a:ea typeface="黑体" panose="02010609060101010101" pitchFamily="2" charset="-122"/>
              </a:rPr>
              <a:t>在总错误率较低的基础上，如何“趋”、“避”？</a:t>
            </a:r>
          </a:p>
        </p:txBody>
      </p:sp>
      <p:sp>
        <p:nvSpPr>
          <p:cNvPr id="974852" name="矩形 974851"/>
          <p:cNvSpPr/>
          <p:nvPr/>
        </p:nvSpPr>
        <p:spPr>
          <a:xfrm>
            <a:off x="651886" y="506388"/>
            <a:ext cx="7772400" cy="1143000"/>
          </a:xfrm>
          <a:prstGeom prst="rect">
            <a:avLst/>
          </a:prstGeom>
          <a:noFill/>
          <a:ln w="9525">
            <a:noFill/>
          </a:ln>
        </p:spPr>
        <p:txBody>
          <a:bodyPr anchor="ctr"/>
          <a:lstStyle/>
          <a:p>
            <a:pPr lvl="0" algn="ctr" eaLnBrk="1" hangingPunct="1">
              <a:spcBef>
                <a:spcPct val="50000"/>
              </a:spcBef>
            </a:pPr>
            <a:r>
              <a:rPr lang="zh-CN" altLang="en-US" sz="4400" b="1" dirty="0">
                <a:solidFill>
                  <a:schemeClr val="tx2"/>
                </a:solidFill>
                <a:latin typeface="Times New Roman" panose="02020603050405020304" pitchFamily="18" charset="0"/>
                <a:ea typeface="宋体" panose="02010600030101010101" pitchFamily="2" charset="-122"/>
              </a:rPr>
              <a:t>挑战问题</a:t>
            </a:r>
            <a:r>
              <a:rPr lang="en-US" altLang="zh-CN" sz="4400" b="1" dirty="0">
                <a:solidFill>
                  <a:schemeClr val="tx2"/>
                </a:solidFill>
                <a:latin typeface="Times New Roman" panose="02020603050405020304" pitchFamily="18" charset="0"/>
                <a:ea typeface="宋体" panose="02010600030101010101" pitchFamily="2" charset="-122"/>
              </a:rPr>
              <a:t>-5</a:t>
            </a:r>
            <a:r>
              <a:rPr lang="zh-CN" altLang="en-US" sz="4400" b="1" dirty="0">
                <a:solidFill>
                  <a:schemeClr val="tx2"/>
                </a:solidFill>
                <a:latin typeface="Times New Roman" panose="02020603050405020304" pitchFamily="18" charset="0"/>
                <a:ea typeface="宋体" panose="02010600030101010101" pitchFamily="2" charset="-122"/>
              </a:rPr>
              <a:t>：</a:t>
            </a:r>
            <a:r>
              <a:rPr lang="zh-CN" altLang="en-US" sz="4400" b="1" dirty="0">
                <a:solidFill>
                  <a:srgbClr val="FF0000"/>
                </a:solidFill>
                <a:latin typeface="Times New Roman" panose="02020603050405020304" pitchFamily="18" charset="0"/>
                <a:ea typeface="宋体" panose="02010600030101010101" pitchFamily="2" charset="-122"/>
              </a:rPr>
              <a:t>代价敏感</a:t>
            </a:r>
          </a:p>
        </p:txBody>
      </p:sp>
      <p:grpSp>
        <p:nvGrpSpPr>
          <p:cNvPr id="974853" name="组合 974852"/>
          <p:cNvGrpSpPr/>
          <p:nvPr/>
        </p:nvGrpSpPr>
        <p:grpSpPr>
          <a:xfrm>
            <a:off x="4313238" y="4043363"/>
            <a:ext cx="1987550" cy="609600"/>
            <a:chOff x="2928" y="2160"/>
            <a:chExt cx="1252" cy="384"/>
          </a:xfrm>
        </p:grpSpPr>
        <p:sp>
          <p:nvSpPr>
            <p:cNvPr id="974854" name="右大括号 974853"/>
            <p:cNvSpPr/>
            <p:nvPr/>
          </p:nvSpPr>
          <p:spPr>
            <a:xfrm>
              <a:off x="2928" y="2160"/>
              <a:ext cx="192" cy="384"/>
            </a:xfrm>
            <a:prstGeom prst="rightBrace">
              <a:avLst>
                <a:gd name="adj1" fmla="val 16666"/>
                <a:gd name="adj2" fmla="val 50000"/>
              </a:avLst>
            </a:prstGeom>
            <a:noFill/>
            <a:ln w="15875" cap="flat" cmpd="sng">
              <a:solidFill>
                <a:srgbClr val="000000"/>
              </a:solidFill>
              <a:prstDash val="solid"/>
              <a:miter/>
              <a:headEnd type="none" w="med" len="med"/>
              <a:tailEnd type="none" w="med" len="med"/>
            </a:ln>
          </p:spPr>
          <p:txBody>
            <a:bodyPr/>
            <a:lstStyle/>
            <a:p>
              <a:endParaRPr lang="zh-CN" altLang="en-US"/>
            </a:p>
          </p:txBody>
        </p:sp>
        <p:sp>
          <p:nvSpPr>
            <p:cNvPr id="974855" name="文本框 974854"/>
            <p:cNvSpPr txBox="1"/>
            <p:nvPr/>
          </p:nvSpPr>
          <p:spPr>
            <a:xfrm>
              <a:off x="3168" y="2169"/>
              <a:ext cx="1012" cy="327"/>
            </a:xfrm>
            <a:prstGeom prst="rect">
              <a:avLst/>
            </a:prstGeom>
            <a:noFill/>
            <a:ln w="9525">
              <a:noFill/>
            </a:ln>
          </p:spPr>
          <p:txBody>
            <a:bodyPr wrap="none">
              <a:spAutoFit/>
            </a:bodyPr>
            <a:lstStyle/>
            <a:p>
              <a:pPr lvl="0" eaLnBrk="1" hangingPunct="1">
                <a:spcBef>
                  <a:spcPct val="50000"/>
                </a:spcBef>
              </a:pPr>
              <a:r>
                <a:rPr lang="zh-CN" altLang="en-US" sz="2800" dirty="0">
                  <a:solidFill>
                    <a:srgbClr val="000000"/>
                  </a:solidFill>
                  <a:latin typeface="Tahoma" panose="020B0604030504040204" pitchFamily="34" charset="0"/>
                  <a:ea typeface="黑体" panose="02010609060101010101" pitchFamily="2" charset="-122"/>
                </a:rPr>
                <a:t>一样吗？</a:t>
              </a:r>
              <a:endParaRPr lang="zh-CN" altLang="en-US" sz="2800">
                <a:solidFill>
                  <a:srgbClr val="000000"/>
                </a:solidFill>
                <a:latin typeface="Tahoma" panose="020B0604030504040204" pitchFamily="34" charset="0"/>
                <a:ea typeface="黑体" panose="02010609060101010101" pitchFamily="2" charset="-122"/>
              </a:endParaRPr>
            </a:p>
          </p:txBody>
        </p:sp>
      </p:grpSp>
      <p:graphicFrame>
        <p:nvGraphicFramePr>
          <p:cNvPr id="974856" name="对象 974855"/>
          <p:cNvGraphicFramePr/>
          <p:nvPr/>
        </p:nvGraphicFramePr>
        <p:xfrm>
          <a:off x="6734175" y="3222625"/>
          <a:ext cx="1752600" cy="1646238"/>
        </p:xfrm>
        <a:graphic>
          <a:graphicData uri="http://schemas.openxmlformats.org/presentationml/2006/ole">
            <mc:AlternateContent xmlns:mc="http://schemas.openxmlformats.org/markup-compatibility/2006">
              <mc:Choice xmlns:v="urn:schemas-microsoft-com:vml" Requires="v">
                <p:oleObj spid="_x0000_s8272" r:id="rId3" imgW="3764280" imgH="3535680" progId="MS_ClipArt_Gallery.2">
                  <p:embed/>
                </p:oleObj>
              </mc:Choice>
              <mc:Fallback>
                <p:oleObj r:id="rId3" imgW="3764280" imgH="3535680" progId="MS_ClipArt_Gallery.2">
                  <p:embed/>
                  <p:pic>
                    <p:nvPicPr>
                      <p:cNvPr id="0" name=""/>
                      <p:cNvPicPr/>
                      <p:nvPr/>
                    </p:nvPicPr>
                    <p:blipFill>
                      <a:blip r:embed="rId4"/>
                      <a:stretch>
                        <a:fillRect/>
                      </a:stretch>
                    </p:blipFill>
                    <p:spPr>
                      <a:xfrm>
                        <a:off x="6734175" y="3222625"/>
                        <a:ext cx="1752600" cy="1646238"/>
                      </a:xfrm>
                      <a:prstGeom prst="rect">
                        <a:avLst/>
                      </a:prstGeom>
                      <a:noFill/>
                      <a:ln w="38100">
                        <a:noFill/>
                        <a:miter/>
                      </a:ln>
                    </p:spPr>
                  </p:pic>
                </p:oleObj>
              </mc:Fallback>
            </mc:AlternateContent>
          </a:graphicData>
        </a:graphic>
      </p:graphicFrame>
      <p:sp>
        <p:nvSpPr>
          <p:cNvPr id="2" name="灯片编号占位符 1"/>
          <p:cNvSpPr>
            <a:spLocks noGrp="1"/>
          </p:cNvSpPr>
          <p:nvPr>
            <p:ph type="sldNum" sz="quarter" idx="12"/>
          </p:nvPr>
        </p:nvSpPr>
        <p:spPr/>
        <p:txBody>
          <a:bodyPr/>
          <a:lstStyle/>
          <a:p>
            <a:pPr lvl="0"/>
            <a:fld id="{9A0DB2DC-4C9A-4742-B13C-FB6460FD3503}" type="slidenum">
              <a:rPr lang="en-US" altLang="zh-CN" dirty="0"/>
              <a:t>49</a:t>
            </a:fld>
            <a:endParaRPr lang="zh-CN"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7485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7485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3" presetClass="entr" presetSubtype="10" fill="hold" nodeType="clickEffect">
                                  <p:stCondLst>
                                    <p:cond delay="0"/>
                                  </p:stCondLst>
                                  <p:childTnLst>
                                    <p:set>
                                      <p:cBhvr>
                                        <p:cTn id="14" dur="1" fill="hold">
                                          <p:stCondLst>
                                            <p:cond delay="0"/>
                                          </p:stCondLst>
                                        </p:cTn>
                                        <p:tgtEl>
                                          <p:spTgt spid="974856"/>
                                        </p:tgtEl>
                                        <p:attrNameLst>
                                          <p:attrName>style.visibility</p:attrName>
                                        </p:attrNameLst>
                                      </p:cBhvr>
                                      <p:to>
                                        <p:strVal val="visible"/>
                                      </p:to>
                                    </p:set>
                                    <p:animEffect transition="in" filter="blinds(horizontal)">
                                      <p:cBhvr>
                                        <p:cTn id="15" dur="500"/>
                                        <p:tgtEl>
                                          <p:spTgt spid="9748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4850"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75874" name="对象 975873"/>
          <p:cNvGraphicFramePr/>
          <p:nvPr/>
        </p:nvGraphicFramePr>
        <p:xfrm>
          <a:off x="6732588" y="3141663"/>
          <a:ext cx="1827212" cy="2968625"/>
        </p:xfrm>
        <a:graphic>
          <a:graphicData uri="http://schemas.openxmlformats.org/presentationml/2006/ole">
            <mc:AlternateContent xmlns:mc="http://schemas.openxmlformats.org/markup-compatibility/2006">
              <mc:Choice xmlns:v="urn:schemas-microsoft-com:vml" Requires="v">
                <p:oleObj spid="_x0000_s9296" r:id="rId3" imgW="3467100" imgH="5632450" progId="MS_ClipArt_Gallery.2">
                  <p:embed/>
                </p:oleObj>
              </mc:Choice>
              <mc:Fallback>
                <p:oleObj r:id="rId3" imgW="3467100" imgH="5632450" progId="MS_ClipArt_Gallery.2">
                  <p:embed/>
                  <p:pic>
                    <p:nvPicPr>
                      <p:cNvPr id="0" name=""/>
                      <p:cNvPicPr/>
                      <p:nvPr/>
                    </p:nvPicPr>
                    <p:blipFill>
                      <a:blip r:embed="rId4"/>
                      <a:stretch>
                        <a:fillRect/>
                      </a:stretch>
                    </p:blipFill>
                    <p:spPr>
                      <a:xfrm>
                        <a:off x="6732588" y="3141663"/>
                        <a:ext cx="1827212" cy="2968625"/>
                      </a:xfrm>
                      <a:prstGeom prst="rect">
                        <a:avLst/>
                      </a:prstGeom>
                      <a:noFill/>
                      <a:ln w="38100">
                        <a:noFill/>
                        <a:miter/>
                      </a:ln>
                    </p:spPr>
                  </p:pic>
                </p:oleObj>
              </mc:Fallback>
            </mc:AlternateContent>
          </a:graphicData>
        </a:graphic>
      </p:graphicFrame>
      <p:sp>
        <p:nvSpPr>
          <p:cNvPr id="975875" name="矩形 975874"/>
          <p:cNvSpPr/>
          <p:nvPr/>
        </p:nvSpPr>
        <p:spPr>
          <a:xfrm>
            <a:off x="539750" y="1774825"/>
            <a:ext cx="7488238" cy="1366838"/>
          </a:xfrm>
          <a:prstGeom prst="rect">
            <a:avLst/>
          </a:prstGeom>
          <a:noFill/>
          <a:ln w="9525">
            <a:noFill/>
          </a:ln>
        </p:spPr>
        <p:txBody>
          <a:bodyPr/>
          <a:lstStyle>
            <a:lvl1pPr marL="342900" lvl="0" indent="-342900" algn="l" defTabSz="914400" eaLnBrk="1" fontAlgn="base" latinLnBrk="0" hangingPunct="1">
              <a:lnSpc>
                <a:spcPct val="100000"/>
              </a:lnSpc>
              <a:spcBef>
                <a:spcPct val="20000"/>
              </a:spcBef>
              <a:spcAft>
                <a:spcPct val="0"/>
              </a:spcAft>
              <a:buChar char="•"/>
              <a:defRPr sz="3200" b="0" i="0" u="none" kern="1200" baseline="0">
                <a:solidFill>
                  <a:schemeClr val="tx1"/>
                </a:solidFill>
                <a:latin typeface="Times New Roman" panose="02020603050405020304" pitchFamily="18" charset="0"/>
                <a:ea typeface="宋体" panose="02010600030101010101" pitchFamily="2" charset="-122"/>
              </a:defRPr>
            </a:lvl1pPr>
            <a:lvl2pPr marL="742950" lvl="1" indent="-285750" algn="l" defTabSz="914400" eaLnBrk="1" fontAlgn="base" latinLnBrk="0" hangingPunct="1">
              <a:lnSpc>
                <a:spcPct val="100000"/>
              </a:lnSpc>
              <a:spcBef>
                <a:spcPct val="20000"/>
              </a:spcBef>
              <a:spcAft>
                <a:spcPct val="0"/>
              </a:spcAft>
              <a:buChar char="–"/>
              <a:defRPr sz="2800" b="0" i="0" u="none" kern="1200" baseline="0">
                <a:solidFill>
                  <a:schemeClr val="tx1"/>
                </a:solidFill>
                <a:latin typeface="+mn-lt"/>
                <a:ea typeface="+mn-ea"/>
                <a:cs typeface="+mn-cs"/>
              </a:defRPr>
            </a:lvl2pPr>
            <a:lvl3pPr marL="1143000" lvl="2" indent="-228600" algn="l" defTabSz="914400" eaLnBrk="1" fontAlgn="base" latinLnBrk="0" hangingPunct="1">
              <a:lnSpc>
                <a:spcPct val="100000"/>
              </a:lnSpc>
              <a:spcBef>
                <a:spcPct val="20000"/>
              </a:spcBef>
              <a:spcAft>
                <a:spcPct val="0"/>
              </a:spcAft>
              <a:buChar char="•"/>
              <a:defRPr sz="2400" b="0" i="0" u="none" kern="1200" baseline="0">
                <a:solidFill>
                  <a:schemeClr val="tx1"/>
                </a:solidFill>
                <a:latin typeface="+mn-lt"/>
                <a:ea typeface="+mn-ea"/>
                <a:cs typeface="+mn-cs"/>
              </a:defRPr>
            </a:lvl3pPr>
            <a:lvl4pPr marL="1600200" lvl="3"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4pPr>
            <a:lvl5pPr marL="2057400" lvl="4"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5pPr>
          </a:lstStyle>
          <a:p>
            <a:pPr lvl="1" algn="just">
              <a:lnSpc>
                <a:spcPct val="120000"/>
              </a:lnSpc>
              <a:spcBef>
                <a:spcPct val="0"/>
              </a:spcBef>
              <a:buClrTx/>
              <a:buChar char="•"/>
            </a:pPr>
            <a:r>
              <a:rPr lang="en-US" altLang="zh-CN" dirty="0">
                <a:solidFill>
                  <a:srgbClr val="0000FF"/>
                </a:solidFill>
                <a:ea typeface="黑体" panose="02010609060101010101" pitchFamily="2" charset="-122"/>
              </a:rPr>
              <a:t> </a:t>
            </a:r>
            <a:r>
              <a:rPr lang="zh-CN" altLang="en-US" dirty="0">
                <a:solidFill>
                  <a:srgbClr val="0000FF"/>
                </a:solidFill>
                <a:ea typeface="黑体" panose="02010609060101010101" pitchFamily="2" charset="-122"/>
              </a:rPr>
              <a:t>在任何一个挑战问题上取得突破性进展，都可能成为对机器学习的重要贡献</a:t>
            </a:r>
          </a:p>
        </p:txBody>
      </p:sp>
      <p:sp>
        <p:nvSpPr>
          <p:cNvPr id="975877" name="矩形 975876"/>
          <p:cNvSpPr/>
          <p:nvPr/>
        </p:nvSpPr>
        <p:spPr>
          <a:xfrm>
            <a:off x="685800" y="609600"/>
            <a:ext cx="7772400" cy="1143000"/>
          </a:xfrm>
          <a:prstGeom prst="rect">
            <a:avLst/>
          </a:prstGeom>
          <a:noFill/>
          <a:ln w="9525">
            <a:noFill/>
          </a:ln>
        </p:spPr>
        <p:txBody>
          <a:bodyPr anchor="ctr"/>
          <a:lstStyle/>
          <a:p>
            <a:pPr lvl="0" algn="ctr" eaLnBrk="1" hangingPunct="1">
              <a:spcBef>
                <a:spcPct val="50000"/>
              </a:spcBef>
            </a:pPr>
            <a:r>
              <a:rPr lang="zh-CN" altLang="en-US" sz="4400" b="1" dirty="0">
                <a:solidFill>
                  <a:schemeClr val="tx2"/>
                </a:solidFill>
                <a:latin typeface="Times New Roman" panose="02020603050405020304" pitchFamily="18" charset="0"/>
                <a:ea typeface="宋体" panose="02010600030101010101" pitchFamily="2" charset="-122"/>
              </a:rPr>
              <a:t>挑战问题：</a:t>
            </a:r>
            <a:r>
              <a:rPr lang="en-US" altLang="zh-CN" sz="4400" b="1" dirty="0">
                <a:solidFill>
                  <a:srgbClr val="FF0000"/>
                </a:solidFill>
                <a:latin typeface="Times New Roman" panose="02020603050405020304" pitchFamily="18" charset="0"/>
                <a:ea typeface="宋体" panose="02010600030101010101" pitchFamily="2" charset="-122"/>
              </a:rPr>
              <a:t>More ……</a:t>
            </a:r>
          </a:p>
        </p:txBody>
      </p:sp>
      <p:sp>
        <p:nvSpPr>
          <p:cNvPr id="2" name="灯片编号占位符 1"/>
          <p:cNvSpPr>
            <a:spLocks noGrp="1"/>
          </p:cNvSpPr>
          <p:nvPr>
            <p:ph type="sldNum" sz="quarter" idx="12"/>
          </p:nvPr>
        </p:nvSpPr>
        <p:spPr/>
        <p:txBody>
          <a:bodyPr/>
          <a:lstStyle/>
          <a:p>
            <a:pPr lvl="0"/>
            <a:fld id="{9A0DB2DC-4C9A-4742-B13C-FB6460FD3503}" type="slidenum">
              <a:rPr lang="en-US" altLang="zh-CN" dirty="0"/>
              <a:t>50</a:t>
            </a:fld>
            <a:endParaRPr lang="zh-CN"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975874"/>
                                        </p:tgtEl>
                                        <p:attrNameLst>
                                          <p:attrName>style.visibility</p:attrName>
                                        </p:attrNameLst>
                                      </p:cBhvr>
                                      <p:to>
                                        <p:strVal val="visible"/>
                                      </p:to>
                                    </p:set>
                                    <p:animEffect transition="in" filter="checkerboard(across)">
                                      <p:cBhvr>
                                        <p:cTn id="7" dur="500"/>
                                        <p:tgtEl>
                                          <p:spTgt spid="9758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灯片编号占位符 5"/>
          <p:cNvSpPr>
            <a:spLocks noGrp="1"/>
          </p:cNvSpPr>
          <p:nvPr>
            <p:ph type="sldNum" sz="quarter" idx="12"/>
          </p:nvPr>
        </p:nvSpPr>
        <p:spPr/>
        <p:txBody>
          <a:bodyPr/>
          <a:lstStyle/>
          <a:p>
            <a:pPr>
              <a:defRPr/>
            </a:pPr>
            <a:fld id="{1741C9A2-FD19-4D7F-9511-EE260AF67FB3}" type="slidenum">
              <a:rPr lang="en-US" altLang="zh-CN"/>
              <a:pPr>
                <a:defRPr/>
              </a:pPr>
              <a:t>51</a:t>
            </a:fld>
            <a:endParaRPr lang="en-US" altLang="zh-CN"/>
          </a:p>
        </p:txBody>
      </p:sp>
      <p:sp>
        <p:nvSpPr>
          <p:cNvPr id="63491" name="Rectangle 2"/>
          <p:cNvSpPr>
            <a:spLocks noGrp="1" noChangeArrowheads="1"/>
          </p:cNvSpPr>
          <p:nvPr>
            <p:ph type="title"/>
          </p:nvPr>
        </p:nvSpPr>
        <p:spPr/>
        <p:txBody>
          <a:bodyPr/>
          <a:lstStyle/>
          <a:p>
            <a:pPr eaLnBrk="1" hangingPunct="1"/>
            <a:r>
              <a:rPr lang="zh-CN" altLang="en-US" b="1" dirty="0"/>
              <a:t>思考题 </a:t>
            </a:r>
            <a:r>
              <a:rPr lang="en-US" altLang="zh-CN" b="1" dirty="0"/>
              <a:t>|</a:t>
            </a:r>
            <a:r>
              <a:rPr lang="zh-CN" altLang="en-US" b="1" dirty="0"/>
              <a:t>第一章</a:t>
            </a:r>
          </a:p>
        </p:txBody>
      </p:sp>
      <p:sp>
        <p:nvSpPr>
          <p:cNvPr id="917507" name="Rectangle 3"/>
          <p:cNvSpPr>
            <a:spLocks noGrp="1" noChangeArrowheads="1"/>
          </p:cNvSpPr>
          <p:nvPr>
            <p:ph type="body" idx="1"/>
          </p:nvPr>
        </p:nvSpPr>
        <p:spPr/>
        <p:txBody>
          <a:bodyPr/>
          <a:lstStyle/>
          <a:p>
            <a:pPr eaLnBrk="1" hangingPunct="1"/>
            <a:r>
              <a:rPr lang="zh-CN" altLang="en-US" b="1" dirty="0"/>
              <a:t>习题：</a:t>
            </a:r>
            <a:r>
              <a:rPr lang="en-US" altLang="zh-CN" b="1" dirty="0"/>
              <a:t>Page 19:  1.1-1.5		</a:t>
            </a:r>
            <a:r>
              <a:rPr lang="zh-CN" altLang="en-US" b="1" dirty="0"/>
              <a:t>选择</a:t>
            </a:r>
            <a:r>
              <a:rPr lang="en-US" altLang="zh-CN" b="1" dirty="0"/>
              <a:t>3</a:t>
            </a:r>
            <a:r>
              <a:rPr lang="zh-CN" altLang="en-US" b="1" dirty="0"/>
              <a:t>个完成</a:t>
            </a:r>
            <a:endParaRPr lang="en-US" altLang="zh-CN" b="1" dirty="0"/>
          </a:p>
          <a:p>
            <a:pPr eaLnBrk="1" hangingPunct="1"/>
            <a:r>
              <a:rPr lang="zh-CN" altLang="en-US" b="1" dirty="0"/>
              <a:t>思考题：</a:t>
            </a:r>
          </a:p>
          <a:p>
            <a:pPr lvl="1" eaLnBrk="1" hangingPunct="1"/>
            <a:r>
              <a:rPr lang="zh-CN" altLang="en-US" b="1" dirty="0">
                <a:solidFill>
                  <a:srgbClr val="0000FF"/>
                </a:solidFill>
              </a:rPr>
              <a:t>机器学习的最新动态？</a:t>
            </a:r>
            <a:endParaRPr lang="en-US" altLang="zh-CN" b="1" dirty="0">
              <a:solidFill>
                <a:srgbClr val="0000FF"/>
              </a:solidFill>
            </a:endParaRPr>
          </a:p>
          <a:p>
            <a:pPr lvl="1" eaLnBrk="1" hangingPunct="1"/>
            <a:r>
              <a:rPr lang="en-US" altLang="zh-CN" b="1" dirty="0" err="1">
                <a:solidFill>
                  <a:srgbClr val="0000FF"/>
                </a:solidFill>
              </a:rPr>
              <a:t>AlphaGo</a:t>
            </a:r>
            <a:r>
              <a:rPr lang="zh-CN" altLang="en-US" b="1" dirty="0">
                <a:solidFill>
                  <a:srgbClr val="0000FF"/>
                </a:solidFill>
              </a:rPr>
              <a:t>，</a:t>
            </a:r>
            <a:r>
              <a:rPr lang="en-US" altLang="zh-CN" b="1" dirty="0" err="1">
                <a:solidFill>
                  <a:srgbClr val="0000FF"/>
                </a:solidFill>
              </a:rPr>
              <a:t>AlphaZero</a:t>
            </a:r>
            <a:r>
              <a:rPr lang="en-US" altLang="zh-CN" b="1" dirty="0">
                <a:solidFill>
                  <a:srgbClr val="0000FF"/>
                </a:solidFill>
              </a:rPr>
              <a:t> </a:t>
            </a:r>
            <a:r>
              <a:rPr lang="zh-CN" altLang="en-US" b="1" dirty="0">
                <a:solidFill>
                  <a:srgbClr val="0000FF"/>
                </a:solidFill>
              </a:rPr>
              <a:t>的故事和思考？</a:t>
            </a:r>
            <a:endParaRPr lang="en-US" altLang="zh-CN" b="1" dirty="0">
              <a:solidFill>
                <a:srgbClr val="0000FF"/>
              </a:solidFill>
            </a:endParaRPr>
          </a:p>
          <a:p>
            <a:pPr lvl="1" eaLnBrk="1" hangingPunct="1"/>
            <a:r>
              <a:rPr lang="zh-CN" altLang="en-US" b="1" dirty="0">
                <a:solidFill>
                  <a:srgbClr val="0000FF"/>
                </a:solidFill>
              </a:rPr>
              <a:t>机器学习：是什么？</a:t>
            </a:r>
          </a:p>
          <a:p>
            <a:pPr lvl="2" eaLnBrk="1" hangingPunct="1"/>
            <a:r>
              <a:rPr lang="zh-CN" altLang="en-US" b="1" dirty="0"/>
              <a:t>与数据挖掘对比</a:t>
            </a:r>
          </a:p>
          <a:p>
            <a:pPr lvl="2" eaLnBrk="1" hangingPunct="1"/>
            <a:r>
              <a:rPr lang="zh-CN" altLang="en-US" b="1" dirty="0"/>
              <a:t>思考概念词语的解释</a:t>
            </a:r>
          </a:p>
          <a:p>
            <a:pPr lvl="2" eaLnBrk="1" hangingPunct="1"/>
            <a:r>
              <a:rPr lang="zh-CN" altLang="en-US" b="1" dirty="0"/>
              <a:t>借助网络信息</a:t>
            </a:r>
            <a:r>
              <a:rPr lang="en-US" altLang="zh-CN" b="1" dirty="0"/>
              <a:t>-</a:t>
            </a:r>
            <a:r>
              <a:rPr lang="zh-CN" altLang="en-US" b="1" dirty="0"/>
              <a:t>词典、百科词典、维基百科等</a:t>
            </a:r>
          </a:p>
          <a:p>
            <a:pPr lvl="2" eaLnBrk="1" hangingPunct="1"/>
            <a:r>
              <a:rPr lang="zh-CN" altLang="en-US" b="1" dirty="0"/>
              <a:t>给出精炼的结构化回答要点（信息含量</a:t>
            </a:r>
            <a:r>
              <a:rPr lang="en-US" altLang="zh-CN" b="1" dirty="0"/>
              <a:t>-</a:t>
            </a:r>
            <a:r>
              <a:rPr lang="zh-CN" altLang="en-US" b="1" dirty="0"/>
              <a:t>高）</a:t>
            </a:r>
          </a:p>
          <a:p>
            <a:pPr lvl="1" eaLnBrk="1" hangingPunct="1"/>
            <a:endParaRPr lang="en-US" altLang="zh-CN" b="1" dirty="0"/>
          </a:p>
        </p:txBody>
      </p:sp>
    </p:spTree>
    <p:extLst>
      <p:ext uri="{BB962C8B-B14F-4D97-AF65-F5344CB8AC3E}">
        <p14:creationId xmlns:p14="http://schemas.microsoft.com/office/powerpoint/2010/main" val="198815317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17507">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17507">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17507">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17507">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17507">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17507">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17507">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17507">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1750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17507" grpId="0" build="p"/>
    </p:bldLst>
  </p:timing>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1698</TotalTime>
  <Words>2877</Words>
  <Application>Microsoft Office PowerPoint</Application>
  <PresentationFormat>全屏显示(4:3)</PresentationFormat>
  <Paragraphs>459</Paragraphs>
  <Slides>51</Slides>
  <Notes>12</Notes>
  <HiddenSlides>0</HiddenSlides>
  <MMClips>0</MMClips>
  <ScaleCrop>false</ScaleCrop>
  <HeadingPairs>
    <vt:vector size="8" baseType="variant">
      <vt:variant>
        <vt:lpstr>已用的字体</vt:lpstr>
      </vt:variant>
      <vt:variant>
        <vt:i4>16</vt:i4>
      </vt:variant>
      <vt:variant>
        <vt:lpstr>主题</vt:lpstr>
      </vt:variant>
      <vt:variant>
        <vt:i4>1</vt:i4>
      </vt:variant>
      <vt:variant>
        <vt:lpstr>嵌入 OLE 服务器</vt:lpstr>
      </vt:variant>
      <vt:variant>
        <vt:i4>3</vt:i4>
      </vt:variant>
      <vt:variant>
        <vt:lpstr>幻灯片标题</vt:lpstr>
      </vt:variant>
      <vt:variant>
        <vt:i4>51</vt:i4>
      </vt:variant>
    </vt:vector>
  </HeadingPairs>
  <TitlesOfParts>
    <vt:vector size="71" baseType="lpstr">
      <vt:lpstr>黑体</vt:lpstr>
      <vt:lpstr>华文楷体</vt:lpstr>
      <vt:lpstr>楷体</vt:lpstr>
      <vt:lpstr>楷体_GB2312</vt:lpstr>
      <vt:lpstr>宋体</vt:lpstr>
      <vt:lpstr>幼圆</vt:lpstr>
      <vt:lpstr>Arial</vt:lpstr>
      <vt:lpstr>Calibri</vt:lpstr>
      <vt:lpstr>Cambria Math</vt:lpstr>
      <vt:lpstr>Palatino Linotype</vt:lpstr>
      <vt:lpstr>Symbol</vt:lpstr>
      <vt:lpstr>Tahoma</vt:lpstr>
      <vt:lpstr>Times New Roman</vt:lpstr>
      <vt:lpstr>Verdana</vt:lpstr>
      <vt:lpstr>Wingdings</vt:lpstr>
      <vt:lpstr>Wingdings 2</vt:lpstr>
      <vt:lpstr>Office 主题</vt:lpstr>
      <vt:lpstr>工作表</vt:lpstr>
      <vt:lpstr>Equation</vt:lpstr>
      <vt:lpstr>MS_ClipArt_Gallery.2</vt:lpstr>
      <vt:lpstr>机器学习  Machine Learning</vt:lpstr>
      <vt:lpstr>大 纲</vt:lpstr>
      <vt:lpstr>PowerPoint 演示文稿</vt:lpstr>
      <vt:lpstr>PowerPoint 演示文稿</vt:lpstr>
      <vt:lpstr>学习问题的标准描述</vt:lpstr>
      <vt:lpstr>学习问题的定义</vt:lpstr>
      <vt:lpstr>PowerPoint 演示文稿</vt:lpstr>
      <vt:lpstr>机器学习@Zhou</vt:lpstr>
      <vt:lpstr>机器学习与数据挖掘</vt:lpstr>
      <vt:lpstr>典型的机器学习过程</vt:lpstr>
      <vt:lpstr>西瓜问题：机器学习实例</vt:lpstr>
      <vt:lpstr>PowerPoint 演示文稿</vt:lpstr>
      <vt:lpstr>大纲</vt:lpstr>
      <vt:lpstr>基本术语-数据</vt:lpstr>
      <vt:lpstr>基本术语-任务</vt:lpstr>
      <vt:lpstr>基本术语-任务</vt:lpstr>
      <vt:lpstr>基本术语-泛化能力</vt:lpstr>
      <vt:lpstr>PowerPoint 演示文稿</vt:lpstr>
      <vt:lpstr>大纲</vt:lpstr>
      <vt:lpstr>假设空间</vt:lpstr>
      <vt:lpstr>  假设空间</vt:lpstr>
      <vt:lpstr>PowerPoint 演示文稿</vt:lpstr>
      <vt:lpstr>PowerPoint 演示文稿</vt:lpstr>
      <vt:lpstr>PowerPoint 演示文稿</vt:lpstr>
      <vt:lpstr>PowerPoint 演示文稿</vt:lpstr>
      <vt:lpstr>大纲</vt:lpstr>
      <vt:lpstr>归纳偏好</vt:lpstr>
      <vt:lpstr>归纳偏好</vt:lpstr>
      <vt:lpstr>归纳偏好</vt:lpstr>
      <vt:lpstr>NoFreeLunch</vt:lpstr>
      <vt:lpstr>NoFreeLunch</vt:lpstr>
      <vt:lpstr>NoFreeLunch</vt:lpstr>
      <vt:lpstr>PowerPoint 演示文稿</vt:lpstr>
      <vt:lpstr>大纲</vt:lpstr>
      <vt:lpstr>发展历程</vt:lpstr>
      <vt:lpstr>发展历程</vt:lpstr>
      <vt:lpstr>发展历程</vt:lpstr>
      <vt:lpstr>PowerPoint 演示文稿</vt:lpstr>
      <vt:lpstr>大纲</vt:lpstr>
      <vt:lpstr>应用现状</vt:lpstr>
      <vt:lpstr>应用现状</vt:lpstr>
      <vt:lpstr>PowerPoint 演示文稿</vt:lpstr>
      <vt:lpstr>大纲</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思考题 |第一章</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ZSHE</dc:creator>
  <cp:lastModifiedBy>yx</cp:lastModifiedBy>
  <cp:revision>113</cp:revision>
  <cp:lastPrinted>2016-05-18T04:44:22Z</cp:lastPrinted>
  <dcterms:created xsi:type="dcterms:W3CDTF">2016-05-18T01:14:48Z</dcterms:created>
  <dcterms:modified xsi:type="dcterms:W3CDTF">2025-02-20T13:35:16Z</dcterms:modified>
</cp:coreProperties>
</file>