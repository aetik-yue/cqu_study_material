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tiff" ContentType="image/tif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4"/>
  </p:handoutMasterIdLst>
  <p:sldIdLst>
    <p:sldId id="257" r:id="rId3"/>
    <p:sldId id="440" r:id="rId5"/>
    <p:sldId id="441" r:id="rId6"/>
    <p:sldId id="442" r:id="rId7"/>
    <p:sldId id="338" r:id="rId8"/>
    <p:sldId id="456" r:id="rId9"/>
    <p:sldId id="443" r:id="rId10"/>
    <p:sldId id="444" r:id="rId11"/>
    <p:sldId id="453" r:id="rId12"/>
    <p:sldId id="445" r:id="rId13"/>
    <p:sldId id="452" r:id="rId14"/>
    <p:sldId id="446" r:id="rId15"/>
    <p:sldId id="447" r:id="rId16"/>
    <p:sldId id="455" r:id="rId17"/>
    <p:sldId id="457" r:id="rId18"/>
    <p:sldId id="448" r:id="rId19"/>
    <p:sldId id="458" r:id="rId20"/>
    <p:sldId id="449" r:id="rId21"/>
    <p:sldId id="454" r:id="rId22"/>
    <p:sldId id="459" r:id="rId23"/>
  </p:sldIdLst>
  <p:sldSz cx="9144000" cy="6858000" type="screen4x3"/>
  <p:notesSz cx="9144000" cy="6858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23" autoAdjust="0"/>
    <p:restoredTop sz="94614" autoAdjust="0"/>
  </p:normalViewPr>
  <p:slideViewPr>
    <p:cSldViewPr showGuides="1">
      <p:cViewPr varScale="1">
        <p:scale>
          <a:sx n="83" d="100"/>
          <a:sy n="83" d="100"/>
        </p:scale>
        <p:origin x="876" y="72"/>
      </p:cViewPr>
      <p:guideLst>
        <p:guide orient="horz" pos="2160"/>
        <p:guide pos="2857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8" d="100"/>
          <a:sy n="68" d="100"/>
        </p:scale>
        <p:origin x="-1810" y="-62"/>
      </p:cViewPr>
      <p:guideLst>
        <p:guide orient="horz" pos="2160"/>
        <p:guide pos="285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image" Target="../media/image7.wmf"/><Relationship Id="rId1" Type="http://schemas.openxmlformats.org/officeDocument/2006/relationships/image" Target="../media/image5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wmf"/></Relationships>
</file>

<file path=ppt/drawings/_rels/vmlDrawing3.vml.rels><?xml version="1.0" encoding="UTF-8" standalone="yes"?>
<Relationships xmlns="http://schemas.openxmlformats.org/package/2006/relationships"><Relationship Id="rId7" Type="http://schemas.openxmlformats.org/officeDocument/2006/relationships/image" Target="../media/image22.wmf"/><Relationship Id="rId6" Type="http://schemas.openxmlformats.org/officeDocument/2006/relationships/image" Target="../media/image21.wmf"/><Relationship Id="rId5" Type="http://schemas.openxmlformats.org/officeDocument/2006/relationships/image" Target="../media/image20.wmf"/><Relationship Id="rId4" Type="http://schemas.openxmlformats.org/officeDocument/2006/relationships/image" Target="../media/image19.wmf"/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4.wmf"/></Relationships>
</file>

<file path=ppt/drawings/_rels/vmlDrawing4.vml.rels><?xml version="1.0" encoding="UTF-8" standalone="yes"?>
<Relationships xmlns="http://schemas.openxmlformats.org/package/2006/relationships"><Relationship Id="rId5" Type="http://schemas.openxmlformats.org/officeDocument/2006/relationships/image" Target="../media/image30.wmf"/><Relationship Id="rId4" Type="http://schemas.openxmlformats.org/officeDocument/2006/relationships/image" Target="../media/image29.wmf"/><Relationship Id="rId3" Type="http://schemas.openxmlformats.org/officeDocument/2006/relationships/image" Target="../media/image28.wmf"/><Relationship Id="rId2" Type="http://schemas.openxmlformats.org/officeDocument/2006/relationships/image" Target="../media/image27.wmf"/><Relationship Id="rId1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6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1DFCA3-140D-47A9-812B-EF4671D077DA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74AB649-9B77-47B4-86AE-79A195B7BF2A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822AF62D-6F31-46D6-B269-0F8F56C4162E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E942E71B-E9B3-4820-B67A-F8BCFD290363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1300">
                <a:latin typeface="Times New Roman" panose="02020603050405020304" pitchFamily="18" charset="0"/>
              </a:rPr>
              <a:t>高等代数</a:t>
            </a:r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778746E7-4F05-4954-A5D7-6CD18FB744FA}" type="datetime1">
              <a:rPr kumimoji="1" lang="zh-CN" altLang="en-US" sz="1300" smtClean="0">
                <a:latin typeface="Times New Roman" panose="02020603050405020304" pitchFamily="18" charset="0"/>
              </a:rPr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614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489C7525-4BD0-4163-98A5-F7837A3EE5AC}" type="slidenum">
              <a:rPr kumimoji="1" lang="en-US" altLang="zh-CN" sz="1300" smtClean="0">
                <a:latin typeface="Times New Roman" panose="02020603050405020304" pitchFamily="18" charset="0"/>
              </a:rPr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614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6150" name="Rectangle 3"/>
          <p:cNvSpPr>
            <a:spLocks noGrp="1" noChangeArrowheads="1"/>
          </p:cNvSpPr>
          <p:nvPr>
            <p:ph type="body" idx="1"/>
          </p:nvPr>
        </p:nvSpPr>
        <p:spPr bwMode="auto"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r>
              <a:rPr lang="zh-CN" altLang="en-US"/>
              <a:t>重庆大学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1300">
                <a:latin typeface="Times New Roman" panose="02020603050405020304" pitchFamily="18" charset="0"/>
              </a:rPr>
              <a:t>高等代数</a:t>
            </a:r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CB63EE0D-A2F6-4340-BF26-91E6EF2476B8}" type="datetime1">
              <a:rPr kumimoji="1" lang="zh-CN" altLang="en-US" sz="1300" smtClean="0">
                <a:latin typeface="Times New Roman" panose="02020603050405020304" pitchFamily="18" charset="0"/>
              </a:rPr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1229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defTabSz="973455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97345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</a:pPr>
            <a:fld id="{5B12B025-9860-401E-B5C6-D8511E97DB0D}" type="slidenum">
              <a:rPr kumimoji="1" lang="en-US" altLang="zh-CN" sz="1300" smtClean="0">
                <a:latin typeface="Times New Roman" panose="02020603050405020304" pitchFamily="18" charset="0"/>
              </a:rPr>
            </a:fld>
            <a:endParaRPr kumimoji="1" lang="en-US" altLang="zh-CN" sz="1300">
              <a:latin typeface="Times New Roman" panose="02020603050405020304" pitchFamily="18" charset="0"/>
            </a:endParaRPr>
          </a:p>
        </p:txBody>
      </p:sp>
      <p:sp>
        <p:nvSpPr>
          <p:cNvPr id="122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zh-CN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942E71B-E9B3-4820-B67A-F8BCFD29036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3C517D-F1EF-450D-A68B-03ED621FDC53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094204-A637-4043-9CC7-987AF444C4F4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08AD0D-2896-4BF3-923E-FFF8221B046F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03C437-6D35-4DF2-9DDF-16D33DE3BB70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3F5F9B-25E3-46A1-98D1-D8DF1644CD11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CEA479-BF3B-473D-BBE0-F05445F3474A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BB680-830C-4A88-AF9D-51D5BB13C0CE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F71099-1BE1-4EC4-99FA-0E8A4EF43A17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9C6AF-5792-4C28-AF80-D5340AE435B0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48EC19-AA48-483B-9C69-7C29A53F1D62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ACEB95-638D-4867-89C1-C84FCA55FD02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D03AD1-CBA7-43A5-BDAB-D2A6671AEF2A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883964D-015F-45A6-BBB8-525A43BB96E4}" type="datetimeFigureOut">
              <a:rPr lang="zh-CN" altLang="en-US"/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DA8CA2-A1CB-4473-A6CD-72E4CDDC229B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E1E904-1879-477D-A111-3DA566B9A543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DE49F4-97E0-4BE7-BD10-8E3DF8F88B7B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F26D2F-F923-4410-AEB6-AD53FFFD4FFF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997849-179C-4BF5-8A5B-F91223F744E8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AC7AC8-BDAF-459E-A39D-6ECCEBA3138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73592C-DF7F-4F25-95AD-A0D5EFEFC057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DA897F-8DA0-4D46-8DD8-2287ABC8EEC1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D54C32-A54F-443A-900C-0AC299C29E82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685800" y="609600"/>
            <a:ext cx="7772400" cy="54864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C3CAD6-A1E2-4004-850D-629E47C74569}" type="slidenum">
              <a:rPr lang="en-US" altLang="zh-CN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image" Target="../media/image2.png"/><Relationship Id="rId13" Type="http://schemas.openxmlformats.org/officeDocument/2006/relationships/image" Target="../media/image1.pn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图片 6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71500"/>
            <a:ext cx="7620000" cy="571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标题占位符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8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B7BE501-E7B6-47ED-A922-6C02EB619C1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F1DB772-2744-4267-A0B6-7B9C40C910D0}" type="slidenum">
              <a:rPr lang="zh-CN" altLang="en-US"/>
            </a:fld>
            <a:endParaRPr lang="zh-CN" altLang="en-US"/>
          </a:p>
        </p:txBody>
      </p:sp>
      <p:pic>
        <p:nvPicPr>
          <p:cNvPr id="1032" name="图片 7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7350"/>
            <a:ext cx="9144000" cy="655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vmlDrawing" Target="../drawings/vmlDrawing1.v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.wmf"/><Relationship Id="rId6" Type="http://schemas.openxmlformats.org/officeDocument/2006/relationships/oleObject" Target="../embeddings/oleObject3.bin"/><Relationship Id="rId5" Type="http://schemas.openxmlformats.org/officeDocument/2006/relationships/image" Target="../media/image7.wmf"/><Relationship Id="rId4" Type="http://schemas.openxmlformats.org/officeDocument/2006/relationships/oleObject" Target="../embeddings/oleObject2.bin"/><Relationship Id="rId3" Type="http://schemas.openxmlformats.org/officeDocument/2006/relationships/image" Target="../media/image6.png"/><Relationship Id="rId2" Type="http://schemas.openxmlformats.org/officeDocument/2006/relationships/image" Target="../media/image5.wmf"/><Relationship Id="rId10" Type="http://schemas.openxmlformats.org/officeDocument/2006/relationships/notesSlide" Target="../notesSlides/notesSlide3.xml"/><Relationship Id="rId1" Type="http://schemas.openxmlformats.org/officeDocument/2006/relationships/oleObject" Target="../embeddings/oleObject1.bin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wmf"/><Relationship Id="rId1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wmf"/><Relationship Id="rId8" Type="http://schemas.openxmlformats.org/officeDocument/2006/relationships/oleObject" Target="../embeddings/oleObject6.bin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wmf"/><Relationship Id="rId4" Type="http://schemas.openxmlformats.org/officeDocument/2006/relationships/oleObject" Target="../embeddings/oleObject5.bin"/><Relationship Id="rId3" Type="http://schemas.openxmlformats.org/officeDocument/2006/relationships/image" Target="../media/image13.png"/><Relationship Id="rId22" Type="http://schemas.openxmlformats.org/officeDocument/2006/relationships/vmlDrawing" Target="../drawings/vmlDrawing3.vml"/><Relationship Id="rId21" Type="http://schemas.openxmlformats.org/officeDocument/2006/relationships/slideLayout" Target="../slideLayouts/slideLayout2.xml"/><Relationship Id="rId20" Type="http://schemas.openxmlformats.org/officeDocument/2006/relationships/image" Target="../media/image23.png"/><Relationship Id="rId2" Type="http://schemas.openxmlformats.org/officeDocument/2006/relationships/image" Target="../media/image12.png"/><Relationship Id="rId19" Type="http://schemas.openxmlformats.org/officeDocument/2006/relationships/image" Target="../media/image22.wmf"/><Relationship Id="rId18" Type="http://schemas.openxmlformats.org/officeDocument/2006/relationships/oleObject" Target="../embeddings/oleObject11.bin"/><Relationship Id="rId17" Type="http://schemas.openxmlformats.org/officeDocument/2006/relationships/image" Target="../media/image21.wmf"/><Relationship Id="rId16" Type="http://schemas.openxmlformats.org/officeDocument/2006/relationships/oleObject" Target="../embeddings/oleObject10.bin"/><Relationship Id="rId15" Type="http://schemas.openxmlformats.org/officeDocument/2006/relationships/image" Target="../media/image20.wmf"/><Relationship Id="rId14" Type="http://schemas.openxmlformats.org/officeDocument/2006/relationships/oleObject" Target="../embeddings/oleObject9.bin"/><Relationship Id="rId13" Type="http://schemas.openxmlformats.org/officeDocument/2006/relationships/image" Target="../media/image19.wmf"/><Relationship Id="rId12" Type="http://schemas.openxmlformats.org/officeDocument/2006/relationships/oleObject" Target="../embeddings/oleObject8.bin"/><Relationship Id="rId11" Type="http://schemas.openxmlformats.org/officeDocument/2006/relationships/image" Target="../media/image18.wmf"/><Relationship Id="rId10" Type="http://schemas.openxmlformats.org/officeDocument/2006/relationships/oleObject" Target="../embeddings/oleObject7.bin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6.bin"/><Relationship Id="rId8" Type="http://schemas.openxmlformats.org/officeDocument/2006/relationships/image" Target="../media/image29.wmf"/><Relationship Id="rId7" Type="http://schemas.openxmlformats.org/officeDocument/2006/relationships/oleObject" Target="../embeddings/oleObject15.bin"/><Relationship Id="rId6" Type="http://schemas.openxmlformats.org/officeDocument/2006/relationships/image" Target="../media/image28.w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27.wmf"/><Relationship Id="rId3" Type="http://schemas.openxmlformats.org/officeDocument/2006/relationships/oleObject" Target="../embeddings/oleObject13.bin"/><Relationship Id="rId2" Type="http://schemas.openxmlformats.org/officeDocument/2006/relationships/image" Target="../media/image26.wmf"/><Relationship Id="rId14" Type="http://schemas.openxmlformats.org/officeDocument/2006/relationships/vmlDrawing" Target="../drawings/vmlDrawing4.vml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1.png"/><Relationship Id="rId11" Type="http://schemas.openxmlformats.org/officeDocument/2006/relationships/image" Target="../media/image30.wmf"/><Relationship Id="rId10" Type="http://schemas.openxmlformats.org/officeDocument/2006/relationships/oleObject" Target="../embeddings/oleObject17.bin"/><Relationship Id="rId1" Type="http://schemas.openxmlformats.org/officeDocument/2006/relationships/oleObject" Target="../embeddings/oleObject1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vmlDrawing" Target="../drawings/vmlDrawing5.v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38.png"/><Relationship Id="rId6" Type="http://schemas.openxmlformats.org/officeDocument/2006/relationships/image" Target="../media/image37.png"/><Relationship Id="rId5" Type="http://schemas.openxmlformats.org/officeDocument/2006/relationships/image" Target="../media/image36.wmf"/><Relationship Id="rId4" Type="http://schemas.openxmlformats.org/officeDocument/2006/relationships/oleObject" Target="../embeddings/oleObject18.bin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tif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1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6578600" y="6302375"/>
            <a:ext cx="21336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FBF6100-4DD5-48A8-90C7-8C1632C7AE22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94211" name="Text Box 3"/>
          <p:cNvSpPr txBox="1">
            <a:spLocks noChangeArrowheads="1"/>
          </p:cNvSpPr>
          <p:nvPr/>
        </p:nvSpPr>
        <p:spPr bwMode="auto">
          <a:xfrm>
            <a:off x="468313" y="3573463"/>
            <a:ext cx="8229600" cy="71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zh-CN" altLang="en-US" sz="4000" b="1" dirty="0">
                <a:latin typeface="宋体" panose="02010600030101010101" pitchFamily="2" charset="-122"/>
              </a:rPr>
              <a:t>课程复习</a:t>
            </a:r>
            <a:endParaRPr kumimoji="1" lang="zh-CN" altLang="en-US" sz="3600" b="1" dirty="0"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457200" y="1736725"/>
            <a:ext cx="8229600" cy="1446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en-US" altLang="zh-CN" sz="4400" b="1">
                <a:latin typeface="Monotype Corsiva" panose="03010101010201010101" pitchFamily="66" charset="0"/>
              </a:rPr>
              <a:t>《</a:t>
            </a:r>
            <a:r>
              <a:rPr kumimoji="1" lang="zh-CN" altLang="en-US" sz="4400" b="1">
                <a:latin typeface="Monotype Corsiva" panose="03010101010201010101" pitchFamily="66" charset="0"/>
              </a:rPr>
              <a:t>机器学习基础</a:t>
            </a:r>
            <a:r>
              <a:rPr kumimoji="1" lang="en-US" altLang="zh-CN" sz="4400" b="1">
                <a:latin typeface="Monotype Corsiva" panose="03010101010201010101" pitchFamily="66" charset="0"/>
              </a:rPr>
              <a:t>》</a:t>
            </a:r>
            <a:br>
              <a:rPr kumimoji="1" lang="en-US" altLang="zh-CN" sz="4400" b="1">
                <a:latin typeface="Monotype Corsiva" panose="03010101010201010101" pitchFamily="66" charset="0"/>
              </a:rPr>
            </a:br>
            <a:r>
              <a:rPr kumimoji="1" lang="en-US" altLang="zh-CN" sz="4400" b="1">
                <a:latin typeface="Monotype Corsiva" panose="03010101010201010101" pitchFamily="66" charset="0"/>
              </a:rPr>
              <a:t>Foundations of Machine Learning</a:t>
            </a:r>
            <a:endParaRPr kumimoji="1" lang="en-US" altLang="zh-CN" sz="4400" b="1">
              <a:latin typeface="Monotype Corsiva" panose="03010101010201010101" pitchFamily="66" charset="0"/>
            </a:endParaRPr>
          </a:p>
        </p:txBody>
      </p:sp>
      <p:sp>
        <p:nvSpPr>
          <p:cNvPr id="5125" name="Text Box 18"/>
          <p:cNvSpPr txBox="1">
            <a:spLocks noChangeArrowheads="1"/>
          </p:cNvSpPr>
          <p:nvPr/>
        </p:nvSpPr>
        <p:spPr bwMode="auto">
          <a:xfrm>
            <a:off x="468313" y="4941888"/>
            <a:ext cx="82296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kumimoji="1" lang="zh-CN" altLang="en-GB" sz="2800" b="1" dirty="0"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重庆大学计算机学院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94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灯片编号占位符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BB42C7C-6EB2-4849-9CA4-783BF4E762FA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684213" y="542925"/>
            <a:ext cx="813593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成绩评定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  <a:sym typeface="Symbol" panose="05050102010706020507" pitchFamily="18" charset="2"/>
            </a:endParaRP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684213" y="1225550"/>
            <a:ext cx="8351837" cy="5878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914400" indent="-4572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成绩构成</a:t>
            </a:r>
            <a:endParaRPr kumimoji="1" lang="zh-CN" altLang="en-US" sz="28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	</a:t>
            </a:r>
            <a:endParaRPr kumimoji="1" lang="en-US" altLang="zh-CN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Font typeface="Wingdings" panose="05000000000000000000" pitchFamily="2" charset="2"/>
              <a:buNone/>
            </a:pPr>
            <a:endParaRPr kumimoji="1" lang="en-US" altLang="zh-CN" sz="2000" b="1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题型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eaLnBrk="1" hangingPunct="1">
              <a:spcBef>
                <a:spcPct val="50000"/>
              </a:spcBef>
              <a:buClr>
                <a:srgbClr val="FF0000"/>
              </a:buClr>
              <a:buNone/>
            </a:pPr>
            <a:r>
              <a:rPr kumimoji="1"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   单项选择题、简答题、计算题、思考题</a:t>
            </a:r>
            <a:endParaRPr kumimoji="1" lang="en-US" altLang="zh-CN" sz="24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ct val="50000"/>
              </a:spcBef>
              <a:buClr>
                <a:srgbClr val="FF0000"/>
              </a:buClr>
              <a:buFont typeface="Wingdings" panose="05000000000000000000" pitchFamily="2" charset="2"/>
              <a:buChar char="p"/>
            </a:pPr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考试方式</a:t>
            </a:r>
            <a:endParaRPr kumimoji="1" lang="en-US" altLang="zh-CN" sz="28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indent="0" eaLnBrk="1" hangingPunct="1">
              <a:spcBef>
                <a:spcPct val="50000"/>
              </a:spcBef>
              <a:buClr>
                <a:srgbClr val="FF0000"/>
              </a:buClr>
              <a:buNone/>
            </a:pPr>
            <a:r>
              <a:rPr kumimoji="1"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   </a:t>
            </a:r>
            <a:r>
              <a:rPr kumimoji="1" lang="zh-CN" altLang="en-US" sz="2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闭卷</a:t>
            </a:r>
            <a:r>
              <a:rPr kumimoji="1"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考试（不能带计算器等电子设备）</a:t>
            </a:r>
            <a:endParaRPr kumimoji="1" lang="en-US" altLang="zh-CN" sz="24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lvl="1" eaLnBrk="1" hangingPunct="1">
              <a:spcBef>
                <a:spcPct val="50000"/>
              </a:spcBef>
              <a:buFontTx/>
              <a:buNone/>
            </a:pPr>
            <a:endParaRPr kumimoji="1" lang="en-US" altLang="zh-CN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930275" y="1924050"/>
          <a:ext cx="7643812" cy="18381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7428"/>
                <a:gridCol w="2925800"/>
                <a:gridCol w="2170584"/>
              </a:tblGrid>
              <a:tr h="60022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考核方式</a:t>
                      </a:r>
                      <a:endParaRPr lang="zh-CN" sz="2200" kern="100" dirty="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总分</a:t>
                      </a:r>
                      <a:endParaRPr lang="zh-CN" sz="2200" kern="100" dirty="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占总成绩的比例</a:t>
                      </a:r>
                      <a:endParaRPr lang="zh-CN" sz="2200" kern="100" dirty="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</a:tr>
              <a:tr h="637736">
                <a:tc>
                  <a:txBody>
                    <a:bodyPr/>
                    <a:lstStyle/>
                    <a:p>
                      <a:pPr algn="l">
                        <a:lnSpc>
                          <a:spcPct val="200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zh-CN" sz="2200" kern="10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课堂教学</a:t>
                      </a:r>
                      <a:endParaRPr lang="zh-CN" sz="2200" kern="10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100</a:t>
                      </a:r>
                      <a:r>
                        <a:rPr 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60%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</a:tr>
              <a:tr h="600221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实验项目</a:t>
                      </a:r>
                      <a:r>
                        <a:rPr lang="en-US" altLang="zh-CN" sz="2200" kern="100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+</a:t>
                      </a:r>
                      <a:r>
                        <a:rPr kumimoji="0" lang="zh-CN" altLang="en-US" sz="22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楷体" panose="02010609060101010101" pitchFamily="49" charset="-122"/>
                          <a:ea typeface="楷体" panose="02010609060101010101" pitchFamily="49" charset="-122"/>
                          <a:cs typeface="+mn-cs"/>
                        </a:rPr>
                        <a:t>作业</a:t>
                      </a:r>
                      <a:endParaRPr lang="zh-CN" sz="2200" kern="100" dirty="0"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30</a:t>
                      </a:r>
                      <a:r>
                        <a:rPr lang="zh-CN" alt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  <a:r>
                        <a:rPr lang="en-US" altLang="zh-CN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+10</a:t>
                      </a:r>
                      <a:r>
                        <a:rPr lang="zh-CN" alt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分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Times New Roman" panose="02020603050405020304" pitchFamily="18" charset="0"/>
                          <a:ea typeface="楷体" panose="02010609060101010101" pitchFamily="49" charset="-122"/>
                          <a:cs typeface="Times New Roman" panose="02020603050405020304" pitchFamily="18" charset="0"/>
                        </a:rPr>
                        <a:t>40%</a:t>
                      </a:r>
                      <a:endParaRPr lang="zh-CN" sz="2200" kern="100" dirty="0">
                        <a:effectLst/>
                        <a:latin typeface="Times New Roman" panose="02020603050405020304" pitchFamily="18" charset="0"/>
                        <a:ea typeface="楷体" panose="0201060906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68594" marR="68594" marT="0" marB="0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灯片编号占位符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DB4BF9-AF1A-4419-86C3-EEDB9647A9DB}" type="slidenum">
              <a:rPr kumimoji="1" lang="en-US" altLang="zh-CN" sz="140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684213" y="527843"/>
            <a:ext cx="8135937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本课程主要考试范围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sp>
        <p:nvSpPr>
          <p:cNvPr id="843783" name="Text Box 7"/>
          <p:cNvSpPr txBox="1">
            <a:spLocks noChangeArrowheads="1"/>
          </p:cNvSpPr>
          <p:nvPr/>
        </p:nvSpPr>
        <p:spPr bwMode="auto">
          <a:xfrm>
            <a:off x="684213" y="1076726"/>
            <a:ext cx="8352283" cy="51655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 typeface="Arial" panose="020B0604020202020204" pitchFamily="34" charset="0"/>
              <a:buNone/>
              <a:defRPr/>
            </a:pP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   主要参照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周志华的专著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《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机器学习</a:t>
            </a:r>
            <a:r>
              <a:rPr kumimoji="1" lang="en-US" altLang="zh-CN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》</a:t>
            </a:r>
            <a:r>
              <a:rPr kumimoji="1" lang="zh-CN" altLang="en-US" sz="2400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，主要章节内容如下：</a:t>
            </a:r>
            <a:endParaRPr kumimoji="1" lang="zh-CN" altLang="en-US" sz="2400" dirty="0"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绪论</a:t>
            </a:r>
            <a:endParaRPr kumimoji="1" lang="zh-CN" altLang="en-US" sz="20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</a:t>
            </a:r>
            <a:r>
              <a:rPr kumimoji="1" lang="zh-CN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学习模型评估与选择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线性模型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决策树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神经网络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  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支持向量机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贝叶斯分类器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集成学习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 聚类</a:t>
            </a:r>
            <a:endParaRPr kumimoji="1" lang="en-US" altLang="zh-CN" sz="2400" dirty="0">
              <a:solidFill>
                <a:srgbClr val="0000FF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eaLnBrk="1" hangingPunct="1">
              <a:spcBef>
                <a:spcPts val="500"/>
              </a:spcBef>
              <a:buFontTx/>
              <a:buNone/>
              <a:defRPr/>
            </a:pP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</a:t>
            </a:r>
            <a:r>
              <a:rPr kumimoji="1" lang="en-US" altLang="zh-CN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  <a:r>
              <a:rPr kumimoji="1" lang="zh-CN" altLang="en-US" sz="2400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章 降维与度量学习（不包括流行学习和度量学习）</a:t>
            </a:r>
            <a:endParaRPr kumimoji="1" lang="en-US" altLang="zh-CN" sz="2000" dirty="0">
              <a:solidFill>
                <a:schemeClr val="bg1">
                  <a:lumMod val="95000"/>
                </a:schemeClr>
              </a:solidFill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378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140301"/>
            <a:ext cx="21336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714326" y="920452"/>
            <a:ext cx="8062987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什么是机器学习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“假设用𝑃来评估计算机程序在某任务类𝑇上的性能，若一个程序通过利用经验𝐸在𝑇中任务上获得了性能改善，则我们就说关于𝑇和𝑃，该程序对𝐸进行了学习”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监督学习（</a:t>
            </a: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supervised learning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无监督学习（</a:t>
            </a: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unsupervised learning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分类和回归问题及区别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泛化能力：假设样本独立同分布（归纳偏好（奥卡姆剃刀）和没有免费的午餐定理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历史：推理期</a:t>
            </a:r>
            <a:r>
              <a:rPr lang="en-US" altLang="zh-CN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知识期</a:t>
            </a:r>
            <a:r>
              <a:rPr lang="en-US" altLang="zh-CN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学习期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404664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1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章：绪论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755576" y="1340768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过拟合和欠拟合以及相应的解决方案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评估方法：泛化性能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）留出法（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）交叉验证法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）自助法（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4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）调参与最终模型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比较检验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偏差与方差：偏差、方差和噪声解释；偏差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方差窘境（与泛化误差的关系）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2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章：模型评估与选择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2132856"/>
            <a:ext cx="3616849" cy="26642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55576" y="692696"/>
            <a:ext cx="7920880" cy="29731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indent="-45720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回归任务：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均方误差（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MSE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、平均绝对误差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indent="-45720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分类任务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914400" lvl="1" indent="-457200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ü"/>
              <a:defRPr/>
            </a:pP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错误率、精度、查准率、查全率（混淆矩阵）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914400" lvl="1" indent="-457200"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ü"/>
              <a:defRPr/>
            </a:pP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P-R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曲线（查准率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查全率）、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ROC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曲线（真正类率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假正类率）、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AUC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3" name="Picture 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3789040"/>
            <a:ext cx="5760640" cy="20606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899592" y="1340768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线性回归（最小二乘法）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二分类任务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对数几率回归（极大似然法）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线性判别分析（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LDA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）（监督降维技术）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多分类学习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一对一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一对其余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多对多（纠错输出码，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ECOC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类别不平衡问题：欠采样、过采样、再缩放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3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章：线性模型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4211960" y="726281"/>
          <a:ext cx="2170113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1096010" imgH="186690" progId="Equation.Ribbit">
                  <p:embed/>
                </p:oleObj>
              </mc:Choice>
              <mc:Fallback>
                <p:oleObj name="Formula" r:id="rId1" imgW="1096010" imgH="186690" progId="Equation.Ribbit">
                  <p:embed/>
                  <p:pic>
                    <p:nvPicPr>
                      <p:cNvPr id="0" name="对象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1960" y="726281"/>
                        <a:ext cx="2170113" cy="36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112" y="2219738"/>
            <a:ext cx="2284422" cy="705860"/>
          </a:xfrm>
          <a:prstGeom prst="rect">
            <a:avLst/>
          </a:prstGeom>
        </p:spPr>
      </p:pic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7264021" y="2895020"/>
          <a:ext cx="1422779" cy="6266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4" imgW="839470" imgH="379730" progId="Equation.Ribbit">
                  <p:embed/>
                </p:oleObj>
              </mc:Choice>
              <mc:Fallback>
                <p:oleObj name="Formula" r:id="rId4" imgW="839470" imgH="379730" progId="Equation.Ribbit">
                  <p:embed/>
                  <p:pic>
                    <p:nvPicPr>
                      <p:cNvPr id="0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64021" y="2895020"/>
                        <a:ext cx="1422779" cy="62666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5673535" y="1618580"/>
          <a:ext cx="2301875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Formula" r:id="rId6" imgW="1158240" imgH="344170" progId="Equation.Ribbit">
                  <p:embed/>
                </p:oleObj>
              </mc:Choice>
              <mc:Fallback>
                <p:oleObj name="Formula" r:id="rId6" imgW="1158240" imgH="344170" progId="Equation.Ribbit">
                  <p:embed/>
                  <p:pic>
                    <p:nvPicPr>
                      <p:cNvPr id="0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3535" y="1618580"/>
                        <a:ext cx="2301875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827584" y="1200150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经典的属性划分方法：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信息增益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ID3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信息增益率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C4.5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基尼指数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CART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剪枝处理：“过拟合”的解决手段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预剪枝（优缺点）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后剪枝（优缺点）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连续与缺失值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多变量决策树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回归树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798637" y="548680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4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章：决策树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8878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11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476672"/>
            <a:ext cx="6768752" cy="6119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12A9DEA-C3F6-4401-A5BF-3745117890AB}" type="slidenum">
              <a:rPr kumimoji="1" lang="en-US" altLang="zh-CN" sz="1400" smtClean="0">
                <a:latin typeface="Times New Roman" panose="02020603050405020304" pitchFamily="18" charset="0"/>
              </a:rPr>
            </a:fld>
            <a:endParaRPr kumimoji="1" lang="en-US" altLang="zh-CN" sz="1400">
              <a:latin typeface="Times New Roman" panose="02020603050405020304" pitchFamily="18" charset="0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863600" y="1218443"/>
            <a:ext cx="7416800" cy="1231900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感知机与多层网络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多层前馈神经网络</a:t>
            </a: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误差逆传播算法（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）：标准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和累计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梯度下降优化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缓解过拟合的策略：早停和正则化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全局最小与局部极小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其他常用神经网络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深度学习（特征学习）：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预训练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+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微调和权共享；常用的激活函数：</a:t>
            </a:r>
            <a:r>
              <a:rPr lang="en-US" altLang="zh-CN" sz="28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ReLU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zh-CN" altLang="en-US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5</a:t>
            </a:r>
            <a:r>
              <a:rPr kumimoji="1" lang="zh-CN" altLang="en-US" b="1" dirty="0"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章：神经网络</a:t>
            </a:r>
            <a:endParaRPr kumimoji="1" lang="zh-CN" altLang="en-US" b="1" dirty="0"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6300192" y="5995987"/>
          <a:ext cx="2247900" cy="360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8239125" imgH="1323975" progId="Equation.Ribbit">
                  <p:embed/>
                </p:oleObj>
              </mc:Choice>
              <mc:Fallback>
                <p:oleObj name="Formula" r:id="rId1" imgW="8239125" imgH="1323975" progId="Equation.Ribbit">
                  <p:embed/>
                  <p:pic>
                    <p:nvPicPr>
                      <p:cNvPr id="0" name="对象 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300192" y="5995987"/>
                        <a:ext cx="2247900" cy="360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87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887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887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93911" y="4311524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step1: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step2: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867298" y="1008588"/>
            <a:ext cx="4896543" cy="3240360"/>
            <a:chOff x="5216329" y="1304248"/>
            <a:chExt cx="3806904" cy="2099235"/>
          </a:xfrm>
        </p:grpSpPr>
        <p:pic>
          <p:nvPicPr>
            <p:cNvPr id="7" name="内容占位符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5216329" y="1304248"/>
              <a:ext cx="3806904" cy="209923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文本框 7"/>
                <p:cNvSpPr txBox="1"/>
                <p:nvPr/>
              </p:nvSpPr>
              <p:spPr>
                <a:xfrm flipH="1">
                  <a:off x="7684115" y="2509658"/>
                  <a:ext cx="341300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8" name="文本框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684115" y="2509658"/>
                  <a:ext cx="341300" cy="24622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文本框 8"/>
                <p:cNvSpPr txBox="1"/>
                <p:nvPr/>
              </p:nvSpPr>
              <p:spPr>
                <a:xfrm flipH="1">
                  <a:off x="7676711" y="1712145"/>
                  <a:ext cx="341300" cy="26904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zh-CN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600" i="1" dirty="0"/>
                </a:p>
              </p:txBody>
            </p:sp>
          </mc:Choice>
          <mc:Fallback>
            <p:sp>
              <p:nvSpPr>
                <p:cNvPr id="9" name="文本框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676711" y="1712145"/>
                  <a:ext cx="341300" cy="26904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组合 9"/>
          <p:cNvGrpSpPr/>
          <p:nvPr/>
        </p:nvGrpSpPr>
        <p:grpSpPr>
          <a:xfrm>
            <a:off x="2448346" y="4297378"/>
            <a:ext cx="3779837" cy="371475"/>
            <a:chOff x="1420894" y="1868744"/>
            <a:chExt cx="3779837" cy="371475"/>
          </a:xfrm>
        </p:grpSpPr>
        <p:graphicFrame>
          <p:nvGraphicFramePr>
            <p:cNvPr id="11" name="对象 10"/>
            <p:cNvGraphicFramePr>
              <a:graphicFrameLocks noChangeAspect="1"/>
            </p:cNvGraphicFramePr>
            <p:nvPr/>
          </p:nvGraphicFramePr>
          <p:xfrm>
            <a:off x="1420894" y="1868744"/>
            <a:ext cx="3779837" cy="371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7941" name="Formula" r:id="rId4" imgW="15792450" imgH="1562100" progId="Equation.Ribbit">
                    <p:embed/>
                  </p:oleObj>
                </mc:Choice>
                <mc:Fallback>
                  <p:oleObj name="Formula" r:id="rId4" imgW="15792450" imgH="1562100" progId="Equation.Ribbit">
                    <p:embed/>
                    <p:pic>
                      <p:nvPicPr>
                        <p:cNvPr id="0" name="对象 11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420894" y="1868744"/>
                          <a:ext cx="3779837" cy="3714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文本框 11"/>
                <p:cNvSpPr txBox="1"/>
                <p:nvPr/>
              </p:nvSpPr>
              <p:spPr>
                <a:xfrm>
                  <a:off x="3356663" y="1876378"/>
                  <a:ext cx="285061" cy="307777"/>
                </a:xfrm>
                <a:prstGeom prst="rect">
                  <a:avLst/>
                </a:prstGeom>
                <a:solidFill>
                  <a:sysClr val="window" lastClr="FFFFFF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/>
                    <a:ea typeface="幼圆" panose="02010509060101010101" pitchFamily="49" charset="-122"/>
                  </a:endParaRPr>
                </a:p>
              </p:txBody>
            </p:sp>
          </mc:Choice>
          <mc:Fallback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6663" y="1876378"/>
                  <a:ext cx="285061" cy="307777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2275057" y="1895610"/>
                  <a:ext cx="285061" cy="307777"/>
                </a:xfrm>
                <a:prstGeom prst="rect">
                  <a:avLst/>
                </a:prstGeom>
                <a:solidFill>
                  <a:sysClr val="window" lastClr="FFFFFF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/>
                    <a:ea typeface="幼圆" panose="02010509060101010101" pitchFamily="49" charset="-122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057" y="1895610"/>
                  <a:ext cx="285061" cy="307777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4" name="图片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48346" y="4847887"/>
            <a:ext cx="3240360" cy="401113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729714" y="507253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权重：   、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</a:t>
            </a:r>
            <a:r>
              <a:rPr lang="zh-CN" altLang="en-US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   阈值：  、</a:t>
            </a:r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 		</a:t>
            </a:r>
            <a:endParaRPr lang="en-US" altLang="zh-CN" sz="18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graphicFrame>
        <p:nvGraphicFramePr>
          <p:cNvPr id="17" name="对象 16"/>
          <p:cNvGraphicFramePr>
            <a:graphicFrameLocks noChangeAspect="1"/>
          </p:cNvGraphicFramePr>
          <p:nvPr/>
        </p:nvGraphicFramePr>
        <p:xfrm>
          <a:off x="1403648" y="614068"/>
          <a:ext cx="396192" cy="2718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8" imgW="1333500" imgH="895350" progId="Equation.Ribbit">
                  <p:embed/>
                </p:oleObj>
              </mc:Choice>
              <mc:Fallback>
                <p:oleObj name="Formula" r:id="rId8" imgW="1333500" imgH="895350" progId="Equation.Ribbit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403648" y="614068"/>
                        <a:ext cx="396192" cy="2718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/>
          <p:cNvGraphicFramePr>
            <a:graphicFrameLocks noChangeAspect="1"/>
          </p:cNvGraphicFramePr>
          <p:nvPr/>
        </p:nvGraphicFramePr>
        <p:xfrm>
          <a:off x="1954633" y="598403"/>
          <a:ext cx="493713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10" imgW="1647825" imgH="1000125" progId="Equation.Ribbit">
                  <p:embed/>
                </p:oleObj>
              </mc:Choice>
              <mc:Fallback>
                <p:oleObj name="Formula" r:id="rId10" imgW="1647825" imgH="1000125" progId="Equation.Ribbit">
                  <p:embed/>
                  <p:pic>
                    <p:nvPicPr>
                      <p:cNvPr id="0" name="对象 19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954633" y="598403"/>
                        <a:ext cx="493713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/>
          <p:cNvGraphicFramePr>
            <a:graphicFrameLocks noChangeAspect="1"/>
          </p:cNvGraphicFramePr>
          <p:nvPr/>
        </p:nvGraphicFramePr>
        <p:xfrm>
          <a:off x="3315570" y="585670"/>
          <a:ext cx="224128" cy="3287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Formula" r:id="rId12" imgW="895350" imgH="1304925" progId="Equation.Ribbit">
                  <p:embed/>
                </p:oleObj>
              </mc:Choice>
              <mc:Fallback>
                <p:oleObj name="Formula" r:id="rId12" imgW="895350" imgH="1304925" progId="Equation.Ribbit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3315570" y="585670"/>
                        <a:ext cx="224128" cy="3287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/>
          <p:cNvGraphicFramePr>
            <a:graphicFrameLocks noChangeAspect="1"/>
          </p:cNvGraphicFramePr>
          <p:nvPr/>
        </p:nvGraphicFramePr>
        <p:xfrm>
          <a:off x="3740121" y="585670"/>
          <a:ext cx="322263" cy="269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" name="Formula" r:id="rId14" imgW="1104900" imgH="914400" progId="Equation.Ribbit">
                  <p:embed/>
                </p:oleObj>
              </mc:Choice>
              <mc:Fallback>
                <p:oleObj name="Formula" r:id="rId14" imgW="1104900" imgH="914400" progId="Equation.Ribbit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3740121" y="585670"/>
                        <a:ext cx="322263" cy="269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对象 20"/>
          <p:cNvGraphicFramePr>
            <a:graphicFrameLocks noChangeAspect="1"/>
          </p:cNvGraphicFramePr>
          <p:nvPr/>
        </p:nvGraphicFramePr>
        <p:xfrm>
          <a:off x="4247864" y="614068"/>
          <a:ext cx="4497423" cy="3038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" name="Formula" r:id="rId16" imgW="19564350" imgH="1323975" progId="Equation.Ribbit">
                  <p:embed/>
                </p:oleObj>
              </mc:Choice>
              <mc:Fallback>
                <p:oleObj name="Formula" r:id="rId16" imgW="19564350" imgH="1323975" progId="Equation.Ribbit">
                  <p:embed/>
                  <p:pic>
                    <p:nvPicPr>
                      <p:cNvPr id="0" name="对象 2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4247864" y="614068"/>
                        <a:ext cx="4497423" cy="3038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文本框 22"/>
          <p:cNvSpPr txBox="1"/>
          <p:nvPr/>
        </p:nvSpPr>
        <p:spPr>
          <a:xfrm>
            <a:off x="1493911" y="542803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黑体" panose="02010609060101010101" pitchFamily="49" charset="-122"/>
                <a:ea typeface="黑体" panose="02010609060101010101" pitchFamily="49" charset="-122"/>
              </a:rPr>
              <a:t>step3: </a:t>
            </a:r>
            <a:endParaRPr lang="zh-CN" altLang="en-US" dirty="0"/>
          </a:p>
        </p:txBody>
      </p:sp>
      <p:graphicFrame>
        <p:nvGraphicFramePr>
          <p:cNvPr id="24" name="对象 23"/>
          <p:cNvGraphicFramePr>
            <a:graphicFrameLocks noChangeAspect="1"/>
          </p:cNvGraphicFramePr>
          <p:nvPr/>
        </p:nvGraphicFramePr>
        <p:xfrm>
          <a:off x="2409002" y="5413889"/>
          <a:ext cx="2379022" cy="3773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" name="Formula" r:id="rId18" imgW="11115675" imgH="1762125" progId="Equation.Ribbit">
                  <p:embed/>
                </p:oleObj>
              </mc:Choice>
              <mc:Fallback>
                <p:oleObj name="Formula" r:id="rId18" imgW="11115675" imgH="1762125" progId="Equation.Ribbit">
                  <p:embed/>
                  <p:pic>
                    <p:nvPicPr>
                      <p:cNvPr id="0" name="对象 20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2409002" y="5413889"/>
                        <a:ext cx="2379022" cy="37735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7" name="组合 26"/>
          <p:cNvGrpSpPr/>
          <p:nvPr/>
        </p:nvGrpSpPr>
        <p:grpSpPr>
          <a:xfrm>
            <a:off x="1646116" y="5938885"/>
            <a:ext cx="3136737" cy="610094"/>
            <a:chOff x="1201527" y="5984421"/>
            <a:chExt cx="3136737" cy="610094"/>
          </a:xfrm>
        </p:grpSpPr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662565" y="5984421"/>
              <a:ext cx="2675699" cy="610094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1201527" y="6059266"/>
              <a:ext cx="7531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(x)=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467544" y="620713"/>
            <a:ext cx="8928992" cy="1440135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支持向量机：最大化间隔与支持向量的稀疏性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对偶问题和序列最小化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SMO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算法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核函数：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通过向高维空间映射解决线性不可分的问题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软间隔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：允许支持向量机在一些样本上不满足约束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正则化：结构风险和经验风险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支持向量回归和核方法（模型总可以表示成核函数的线性组合）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6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章：支持向量机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9632" y="1700808"/>
            <a:ext cx="6048672" cy="141358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61" y="4781600"/>
            <a:ext cx="3158002" cy="71939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830946" y="607079"/>
            <a:ext cx="7416800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贝叶斯决策论：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贝叶斯最优分类器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判别式模型：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决策树，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BP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神经网络，支持向量机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给定   ，通过直接建模            </a:t>
            </a:r>
            <a:r>
              <a:rPr lang="en-US" altLang="zh-CN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, 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来预测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生成式模型：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贝叶斯分类器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先对联合概率分布          建模，再由此获得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贝叶斯定理：</a:t>
            </a:r>
            <a:endParaRPr lang="zh-CN" altLang="en-US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极大似然估计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朴素贝叶斯分类器和拉普拉斯修正</a:t>
            </a:r>
            <a:endParaRPr lang="en-US" altLang="zh-CN" sz="26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半朴素贝叶斯分类器和贝叶斯网（吉布斯采样）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EM</a:t>
            </a:r>
            <a:r>
              <a:rPr lang="zh-CN" altLang="en-US" sz="26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算法</a:t>
            </a:r>
            <a:r>
              <a:rPr lang="zh-CN" altLang="en-US" sz="26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：对模型中的隐变量做参数估计</a:t>
            </a:r>
            <a:endParaRPr lang="en-US" altLang="zh-CN" sz="2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7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章：贝叶斯分类器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2339752" y="2485082"/>
          <a:ext cx="184150" cy="223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1" imgW="733425" imgH="904875" progId="Equation.Ribbit">
                  <p:embed/>
                </p:oleObj>
              </mc:Choice>
              <mc:Fallback>
                <p:oleObj name="Formula" r:id="rId1" imgW="733425" imgH="904875" progId="Equation.Ribbit">
                  <p:embed/>
                  <p:pic>
                    <p:nvPicPr>
                      <p:cNvPr id="0" name="对象 19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339752" y="2485082"/>
                        <a:ext cx="184150" cy="2238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4751388" y="2420888"/>
          <a:ext cx="760896" cy="265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Formula" r:id="rId3" imgW="3790950" imgH="1333500" progId="Equation.Ribbit">
                  <p:embed/>
                </p:oleObj>
              </mc:Choice>
              <mc:Fallback>
                <p:oleObj name="Formula" r:id="rId3" imgW="3790950" imgH="1333500" progId="Equation.Ribbit">
                  <p:embed/>
                  <p:pic>
                    <p:nvPicPr>
                      <p:cNvPr id="0" name="对象 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51388" y="2420888"/>
                        <a:ext cx="760896" cy="265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732240" y="2503390"/>
          <a:ext cx="10795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Formula" r:id="rId5" imgW="533400" imgH="895350" progId="Equation.Ribbit">
                  <p:embed/>
                </p:oleObj>
              </mc:Choice>
              <mc:Fallback>
                <p:oleObj name="Formula" r:id="rId5" imgW="533400" imgH="895350" progId="Equation.Ribbit">
                  <p:embed/>
                  <p:pic>
                    <p:nvPicPr>
                      <p:cNvPr id="0" name="对象 2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732240" y="2503390"/>
                        <a:ext cx="10795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4118009" y="3501008"/>
          <a:ext cx="666750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Formula" r:id="rId7" imgW="3333750" imgH="1323975" progId="Equation.Ribbit">
                  <p:embed/>
                </p:oleObj>
              </mc:Choice>
              <mc:Fallback>
                <p:oleObj name="Formula" r:id="rId7" imgW="3333750" imgH="1323975" progId="Equation.Ribbit">
                  <p:embed/>
                  <p:pic>
                    <p:nvPicPr>
                      <p:cNvPr id="0" name="对象 2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118009" y="3501008"/>
                        <a:ext cx="666750" cy="2619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7452320" y="3501008"/>
          <a:ext cx="760896" cy="265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Formula" r:id="rId9" imgW="3790950" imgH="1333500" progId="Equation.Ribbit">
                  <p:embed/>
                </p:oleObj>
              </mc:Choice>
              <mc:Fallback>
                <p:oleObj name="Formula" r:id="rId9" imgW="3790950" imgH="1333500" progId="Equation.Ribbit">
                  <p:embed/>
                  <p:pic>
                    <p:nvPicPr>
                      <p:cNvPr id="0" name="对象 2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52320" y="3501008"/>
                        <a:ext cx="760896" cy="265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3635896" y="3936551"/>
          <a:ext cx="2660719" cy="6546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Formula" r:id="rId10" imgW="11572875" imgH="2867025" progId="Equation.Ribbit">
                  <p:embed/>
                </p:oleObj>
              </mc:Choice>
              <mc:Fallback>
                <p:oleObj name="Formula" r:id="rId10" imgW="11572875" imgH="2867025" progId="Equation.Ribbit">
                  <p:embed/>
                  <p:pic>
                    <p:nvPicPr>
                      <p:cNvPr id="0" name="对象 20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3635896" y="3936551"/>
                        <a:ext cx="2660719" cy="6546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图片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5294" y="1102060"/>
            <a:ext cx="2793003" cy="656188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60" y="62068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例子：假定某种疾病很稀少，每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100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万人只有一人患病。还假定有一种化验很有效，如果一个人患此病，则化验结果为阳性的可能性为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99%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。然而，这种化验是不完美的，在健康人身上化验结果为阳性的可能性是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1/1000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。假定来了一位新患者，其化验结果为阳性。利用贝叶斯法则计算该患者患此疾病的概率有多大？</a:t>
            </a:r>
            <a:endParaRPr lang="zh-CN" altLang="en-US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616" y="2900276"/>
            <a:ext cx="6782388" cy="38560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576" y="620688"/>
            <a:ext cx="7920880" cy="804909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72" y="1425597"/>
            <a:ext cx="4420866" cy="3024336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6689" y="1436778"/>
            <a:ext cx="3855484" cy="1293964"/>
          </a:xfrm>
          <a:prstGeom prst="rect">
            <a:avLst/>
          </a:prstGeom>
        </p:spPr>
      </p:pic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971600" y="4460395"/>
          <a:ext cx="3744416" cy="7944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41" name="Formula" r:id="rId4" imgW="16297275" imgH="3476625" progId="Equation.Ribbit">
                  <p:embed/>
                </p:oleObj>
              </mc:Choice>
              <mc:Fallback>
                <p:oleObj name="Formula" r:id="rId4" imgW="16297275" imgH="3476625" progId="Equation.Ribbit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71600" y="4460395"/>
                        <a:ext cx="3744416" cy="7944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6"/>
          <a:srcRect t="1" b="45990"/>
          <a:stretch>
            <a:fillRect/>
          </a:stretch>
        </p:blipFill>
        <p:spPr>
          <a:xfrm>
            <a:off x="833754" y="3039004"/>
            <a:ext cx="4151115" cy="280735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6"/>
          <a:srcRect t="54466"/>
          <a:stretch>
            <a:fillRect/>
          </a:stretch>
        </p:blipFill>
        <p:spPr>
          <a:xfrm>
            <a:off x="5061881" y="3090743"/>
            <a:ext cx="3910405" cy="221878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76" y="3713763"/>
            <a:ext cx="6984776" cy="31442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755576" y="692696"/>
            <a:ext cx="8351019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集成学习基本原理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：好而不同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2800" b="1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Adaboost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GBDT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en-US" altLang="zh-CN" sz="2800" b="1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Xgboost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与随机森林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和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区别： 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Boosting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关注降低偏差；</a:t>
            </a: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Bagging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主要关注降低方差</a:t>
            </a: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结合策略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平均法、投票法、学习法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多样性 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–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多样性增强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lvl="1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数据样本扰动、输入属性扰动、输出表示扰动、算法参数扰动</a:t>
            </a:r>
            <a:endParaRPr lang="zh-CN" altLang="en-US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457200" lvl="1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4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583386" y="548680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8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章：集成学习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672" y="3501008"/>
            <a:ext cx="6287214" cy="275971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467544" y="4437112"/>
            <a:ext cx="10081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Bagging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endParaRPr lang="zh-CN" altLang="en-US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620688"/>
            <a:ext cx="6071190" cy="2592288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58778" y="1948855"/>
            <a:ext cx="121687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黑体" panose="02010609060101010101" pitchFamily="49" charset="-122"/>
                <a:ea typeface="黑体" panose="02010609060101010101" pitchFamily="49" charset="-122"/>
              </a:rPr>
              <a:t>Boosting</a:t>
            </a:r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算法</a:t>
            </a:r>
            <a:endParaRPr lang="zh-CN" altLang="en-US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灯片编号占位符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12A9DEA-C3F6-4401-A5BF-3745117890AB}" type="slidenum">
              <a:rPr kumimoji="1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1" lang="en-US" altLang="zh-CN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87811" name="Rectangle 3"/>
          <p:cNvSpPr>
            <a:spLocks noGrp="1"/>
          </p:cNvSpPr>
          <p:nvPr>
            <p:ph type="body" idx="1"/>
          </p:nvPr>
        </p:nvSpPr>
        <p:spPr>
          <a:xfrm>
            <a:off x="863600" y="980728"/>
            <a:ext cx="7416800" cy="1735956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聚类：无监督学习方法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性能度量和距离计算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原型聚类：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defRPr/>
            </a:pPr>
            <a:r>
              <a:rPr lang="en-US" altLang="zh-CN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均值算法、</a:t>
            </a:r>
            <a:r>
              <a:rPr lang="zh-CN" altLang="en-US" sz="24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学习向量量化算法、高斯混合聚类算法</a:t>
            </a:r>
            <a:endParaRPr lang="en-US" altLang="zh-CN" sz="24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密度聚类：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DBSCAN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层次聚类：</a:t>
            </a:r>
            <a:r>
              <a:rPr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AGNES</a:t>
            </a: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None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marL="0" indent="0" eaLnBrk="1" hangingPunct="1">
              <a:lnSpc>
                <a:spcPct val="120000"/>
              </a:lnSpc>
              <a:buClr>
                <a:srgbClr val="FF0000"/>
              </a:buClr>
              <a:buFont typeface="Arial" panose="020B0604020202020204" pitchFamily="34" charset="0"/>
              <a:buNone/>
              <a:defRPr/>
            </a:pPr>
            <a:r>
              <a:rPr kumimoji="1" lang="en-US" altLang="zh-CN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 </a:t>
            </a:r>
            <a:endParaRPr kumimoji="1" lang="en-US" altLang="zh-CN" sz="24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4213" y="620713"/>
            <a:ext cx="813435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hlink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9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章：聚类</a:t>
            </a:r>
            <a:endParaRPr kumimoji="1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楷体_GB231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878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7811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:\Users\lamda\Desktop\figures\kmeans_algo.pn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1187623" y="764704"/>
            <a:ext cx="7375365" cy="576064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83568" y="943978"/>
            <a:ext cx="8229600" cy="288032"/>
          </a:xfrm>
        </p:spPr>
        <p:txBody>
          <a:bodyPr/>
          <a:lstStyle/>
          <a:p>
            <a:pPr marL="457200" marR="0" lvl="0" indent="-45720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defRPr/>
            </a:pP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第</a:t>
            </a:r>
            <a:r>
              <a:rPr kumimoji="1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10</a:t>
            </a:r>
            <a: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  <a:t>章：降维与度量学习</a:t>
            </a:r>
            <a:br>
              <a:rPr kumimoji="1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楷体_GB2312"/>
              </a:rPr>
            </a:b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60" y="1087994"/>
            <a:ext cx="8229600" cy="4525963"/>
          </a:xfrm>
        </p:spPr>
        <p:txBody>
          <a:bodyPr/>
          <a:lstStyle/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近邻学习：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密采样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低维嵌入：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维数灾难、降维的原因</a:t>
            </a:r>
            <a:endParaRPr lang="en-US" altLang="zh-CN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多维缩放（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MDS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</a:t>
            </a:r>
            <a:endParaRPr lang="en-US" altLang="zh-CN" sz="2800" b="1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  <a:buClr>
                <a:srgbClr val="FF0000"/>
              </a:buClr>
              <a:buFont typeface="Wingdings" panose="05000000000000000000" pitchFamily="2" charset="2"/>
              <a:buChar char="p"/>
              <a:defRPr/>
            </a:pP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主成分分析（</a:t>
            </a:r>
            <a:r>
              <a:rPr lang="en-US" altLang="zh-CN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PCA</a:t>
            </a:r>
            <a:r>
              <a:rPr lang="zh-CN" altLang="en-US" sz="28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）：</a:t>
            </a:r>
            <a:r>
              <a:rPr lang="zh-CN" altLang="en-US" sz="28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最近重构性和最大可分性</a:t>
            </a:r>
            <a:endParaRPr lang="zh-CN" altLang="en-US" sz="28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pic>
        <p:nvPicPr>
          <p:cNvPr id="4" name="Picture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096" y="3501008"/>
            <a:ext cx="7092528" cy="3218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1943</Words>
  <Application>WPS 演示</Application>
  <PresentationFormat>全屏显示(4:3)</PresentationFormat>
  <Paragraphs>267</Paragraphs>
  <Slides>20</Slides>
  <Notes>5</Notes>
  <HiddenSlides>0</HiddenSlides>
  <MMClips>0</MMClips>
  <ScaleCrop>false</ScaleCrop>
  <HeadingPairs>
    <vt:vector size="8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18</vt:i4>
      </vt:variant>
      <vt:variant>
        <vt:lpstr>幻灯片标题</vt:lpstr>
      </vt:variant>
      <vt:variant>
        <vt:i4>20</vt:i4>
      </vt:variant>
    </vt:vector>
  </HeadingPairs>
  <TitlesOfParts>
    <vt:vector size="61" baseType="lpstr">
      <vt:lpstr>Arial</vt:lpstr>
      <vt:lpstr>宋体</vt:lpstr>
      <vt:lpstr>Wingdings</vt:lpstr>
      <vt:lpstr>Calibri</vt:lpstr>
      <vt:lpstr>Times New Roman</vt:lpstr>
      <vt:lpstr>楷体_GB2312</vt:lpstr>
      <vt:lpstr>新宋体</vt:lpstr>
      <vt:lpstr>Monotype Corsiva</vt:lpstr>
      <vt:lpstr>楷体</vt:lpstr>
      <vt:lpstr>黑体</vt:lpstr>
      <vt:lpstr>Symbol</vt:lpstr>
      <vt:lpstr>幼圆</vt:lpstr>
      <vt:lpstr>微软雅黑</vt:lpstr>
      <vt:lpstr>Arial Unicode MS</vt:lpstr>
      <vt:lpstr>Cambria Math</vt:lpstr>
      <vt:lpstr>Verdana</vt:lpstr>
      <vt:lpstr>Symbol</vt:lpstr>
      <vt:lpstr>Verdana</vt:lpstr>
      <vt:lpstr>Wingdings</vt:lpstr>
      <vt:lpstr>楷体_GB2312</vt:lpstr>
      <vt:lpstr>BatangChe</vt:lpstr>
      <vt:lpstr>方正楷体_GB2312</vt:lpstr>
      <vt:lpstr>Office 主题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Equation.Ribbit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第10章：降维与度量学习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ZSHE</dc:creator>
  <cp:lastModifiedBy>O₂</cp:lastModifiedBy>
  <cp:revision>258</cp:revision>
  <dcterms:created xsi:type="dcterms:W3CDTF">2016-05-18T01:14:00Z</dcterms:created>
  <dcterms:modified xsi:type="dcterms:W3CDTF">2026-06-18T05:03:59Z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1338888A261F4995A8B6C50A21BEEC7C_12</vt:lpwstr>
  </property>
</Properties>
</file>