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90" r:id="rId5"/>
    <p:sldId id="286" r:id="rId6"/>
    <p:sldId id="316" r:id="rId7"/>
    <p:sldId id="321" r:id="rId8"/>
    <p:sldId id="287" r:id="rId9"/>
    <p:sldId id="320" r:id="rId10"/>
    <p:sldId id="323" r:id="rId11"/>
    <p:sldId id="288" r:id="rId12"/>
    <p:sldId id="318" r:id="rId13"/>
    <p:sldId id="262" r:id="rId14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>
          <p15:clr>
            <a:srgbClr val="A4A3A4"/>
          </p15:clr>
        </p15:guide>
        <p15:guide id="2" pos="29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DC2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67" d="100"/>
          <a:sy n="67" d="100"/>
        </p:scale>
        <p:origin x="604" y="52"/>
      </p:cViewPr>
      <p:guideLst>
        <p:guide orient="horz" pos="2238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D2A48B96-639E-45A3-A0BA-2464DFDB1FAA}" type="datetimeFigureOut">
              <a:rPr lang="zh-CN" altLang="en-US"/>
              <a:t>2020/11/23</a:t>
            </a:fld>
            <a:endParaRPr lang="zh-CN" altLang="en-US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2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6976D73-17CA-4760-B422-B34695BA10B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473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0722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7A513-6667-4894-AEBC-03F90F9FC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66C5B2-03BB-47AC-A9DE-40CD3DBEF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990C4-1422-40E7-813A-E6A94F7B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E00CE-F4B2-47DB-B518-ECC73768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C6161A-3632-4471-BBC9-DE7F1476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E044F-DA5F-4DCE-8183-BE4C7DCA0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21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1A82E-A5D2-4420-9A01-9A1DA8E21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BF43FF-91E4-4E19-B8F1-9447C50F4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5C9A1-DBD2-4BFC-9B0B-0F36EDF8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ADC5F-124B-4F4E-9869-FE88F360C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161FCD-5862-4F15-A576-5016F43A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21950-ADD1-4E4C-B2E1-0C8E716A0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42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D6CB3-A727-4671-B1D0-5D7868BC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72D4EB-1982-42B8-A4D9-9316323D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A0439-DE99-45A9-9144-00C0F615B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7C9D7-5B99-4B7C-AF16-DCCE2A7E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9F151C-43D5-4946-A1EA-1CFBACE2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C212-20E7-4D0A-BC76-271F0EB96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3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2AADA-7492-4839-82F3-3E02BA12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8CF8B-CBC3-4B2F-91EB-13A02A861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3B037F-7C7C-4523-8459-21385170B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E8BF04-696F-4CB3-9152-749C7459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A87A2-2F99-4799-9822-1F45F651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DB773B-02A7-4781-AFB9-23C5ABE2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A1E1-B83E-4431-92B8-76A1331AF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84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5B645-854D-448D-BA1A-3C2DEE82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1D556-7426-4FDE-8E4A-2ADF44DB3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F1FBC1-1629-48FD-A04F-24661AF2D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950C57-015D-483D-8353-3774E54A3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404F5C-2B03-45CA-8D34-9330872AE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13BBAD-DC9B-4807-8149-C5A800D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68F3B6-A54D-4232-A571-320757BD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CF568B-884F-4E2B-AC0F-EBCF8322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E03DE-F333-41A4-B4BF-CDDC22F296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38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71626-6BE6-4439-ABB9-5561A4E9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D61BE5-CE68-4312-81D3-2F2673E3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90AB66-7993-4926-9706-DB087CE0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7DAC53-7C54-4B3C-83E1-AC954622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82CAC-C5BE-4E7C-9FC1-281F73ED7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58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6CE2A8-11ED-4087-84DC-52A335FD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67131B-78AE-4DEE-974D-66C5FB8BF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218A8F-01BD-4AFE-9D00-D4B957D7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A2B9F-D07A-4DBA-BB80-B3B8D828CD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05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C5114-1BB4-47FF-AEFE-A935EF87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23759-4F36-4A79-9FA5-258FE2996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8ED87C-BC9E-4A61-887D-5A57C35B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0C6341-800A-4664-BB91-102E0EAF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1ABD00-8919-415E-8D36-D69C48F9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E8A35A-8F8E-46E4-BC01-C1AE07A0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0795B-1A1C-4981-818A-0D4F07D1F5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16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520C3-13A5-4237-8391-594C2848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FBD5D5-799B-4C24-A24A-B4540AFED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18F61B-7D82-4961-945F-5D400E9B7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860501-42E1-4E19-AF81-A8CF56F3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BC1D9F-D4CC-4686-8B0A-AF534A90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F18065-40D3-49CB-9653-5347AF6F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2C6B-E79F-4147-9E8A-AED034C90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1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7E199-1D6E-469F-AD50-871782BE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F293C4-5067-4754-8DAC-10F11704A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EE433-71C5-4F94-A926-1521097D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C2880D-D099-40A7-A0B6-915DF5EC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68E9D0-C105-4B23-BE4E-BA7A0907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0795B-1A1C-4981-818A-0D4F07D1F5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67F779-197A-41E5-A101-E9085A291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6DC51F-5F67-4DF1-9CE9-4A3A00C61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0FA330-A6DE-4038-AFE9-CDD0EB96F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3A84D1-6F50-4ECE-907A-3DFEC495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41A7F-90DB-4CEE-9689-31129481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0795B-1A1C-4981-818A-0D4F07D1F5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39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417A58-994B-4808-93C2-BDAB98A7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266106-C796-4F48-9E7D-DF6E5086D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225598-6AF8-4922-9C97-0462D4F3D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455434-662C-47F9-B5D1-57C8BF162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8FA3A-D492-497F-B1A0-BCAC2EEA9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0795B-1A1C-4981-818A-0D4F07D1F5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13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201295" y="222250"/>
            <a:ext cx="11790680" cy="64135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57480" y="189865"/>
            <a:ext cx="11878945" cy="6478905"/>
          </a:xfrm>
          <a:prstGeom prst="rect">
            <a:avLst/>
          </a:prstGeom>
          <a:solidFill>
            <a:schemeClr val="tx1">
              <a:lumMod val="95000"/>
              <a:lumOff val="5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00343" y="3524250"/>
            <a:ext cx="11790362" cy="2425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01295" y="3666490"/>
            <a:ext cx="1179004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基于大数据方法的</a:t>
            </a: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中文手写数字分类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838518" y="5388928"/>
            <a:ext cx="10355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朱海龙， 罗越， 姚语涵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4292600" y="371475"/>
            <a:ext cx="36068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8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675063" y="936625"/>
            <a:ext cx="4841875" cy="266700"/>
            <a:chOff x="3674825" y="4038512"/>
            <a:chExt cx="4842351" cy="267784"/>
          </a:xfrm>
        </p:grpSpPr>
        <p:sp>
          <p:nvSpPr>
            <p:cNvPr id="21" name="任意多边形 20"/>
            <p:cNvSpPr/>
            <p:nvPr/>
          </p:nvSpPr>
          <p:spPr>
            <a:xfrm>
              <a:off x="6026143" y="4038512"/>
              <a:ext cx="139714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4100" name="组合 22"/>
            <p:cNvGrpSpPr/>
            <p:nvPr/>
          </p:nvGrpSpPr>
          <p:grpSpPr bwMode="auto">
            <a:xfrm flipV="1">
              <a:off x="3674825" y="4074839"/>
              <a:ext cx="4842351" cy="45719"/>
              <a:chOff x="3394710" y="4250530"/>
              <a:chExt cx="5392103" cy="0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6267551" y="4295731"/>
                <a:ext cx="2519262" cy="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3394710" y="4295731"/>
                <a:ext cx="2519261" cy="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922020" y="1831340"/>
            <a:ext cx="10380980" cy="3952240"/>
            <a:chOff x="1452" y="2884"/>
            <a:chExt cx="16348" cy="6224"/>
          </a:xfrm>
          <a:blipFill rotWithShape="1">
            <a:blip r:embed="rId2"/>
            <a:stretch>
              <a:fillRect/>
            </a:stretch>
          </a:blipFill>
        </p:grpSpPr>
        <p:sp>
          <p:nvSpPr>
            <p:cNvPr id="10" name="矩形 9"/>
            <p:cNvSpPr/>
            <p:nvPr/>
          </p:nvSpPr>
          <p:spPr>
            <a:xfrm>
              <a:off x="1452" y="2884"/>
              <a:ext cx="3903" cy="6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1" name="矩形 10"/>
            <p:cNvSpPr/>
            <p:nvPr/>
          </p:nvSpPr>
          <p:spPr>
            <a:xfrm>
              <a:off x="5598" y="2884"/>
              <a:ext cx="3903" cy="6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2" name="矩形 11"/>
            <p:cNvSpPr/>
            <p:nvPr/>
          </p:nvSpPr>
          <p:spPr>
            <a:xfrm>
              <a:off x="9743" y="2884"/>
              <a:ext cx="3903" cy="6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3" name="矩形 12"/>
            <p:cNvSpPr/>
            <p:nvPr/>
          </p:nvSpPr>
          <p:spPr>
            <a:xfrm>
              <a:off x="13898" y="2884"/>
              <a:ext cx="3903" cy="6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15" name="矩形 14"/>
          <p:cNvSpPr/>
          <p:nvPr/>
        </p:nvSpPr>
        <p:spPr>
          <a:xfrm>
            <a:off x="943432" y="1831022"/>
            <a:ext cx="2478087" cy="395128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6" name="矩形 15"/>
          <p:cNvSpPr/>
          <p:nvPr/>
        </p:nvSpPr>
        <p:spPr>
          <a:xfrm>
            <a:off x="3567113" y="1831975"/>
            <a:ext cx="2478087" cy="395128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7" name="矩形 16"/>
          <p:cNvSpPr/>
          <p:nvPr/>
        </p:nvSpPr>
        <p:spPr>
          <a:xfrm>
            <a:off x="6186488" y="1831975"/>
            <a:ext cx="2478087" cy="395128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8" name="矩形 17"/>
          <p:cNvSpPr/>
          <p:nvPr/>
        </p:nvSpPr>
        <p:spPr>
          <a:xfrm>
            <a:off x="8824913" y="1831975"/>
            <a:ext cx="2478087" cy="395128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2663825" y="1831340"/>
            <a:ext cx="736600" cy="15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</a:rPr>
              <a:t>Part.01</a:t>
            </a:r>
          </a:p>
        </p:txBody>
      </p:sp>
      <p:sp>
        <p:nvSpPr>
          <p:cNvPr id="25" name="文本框 24"/>
          <p:cNvSpPr txBox="1">
            <a:spLocks noChangeArrowheads="1"/>
          </p:cNvSpPr>
          <p:nvPr/>
        </p:nvSpPr>
        <p:spPr bwMode="auto">
          <a:xfrm>
            <a:off x="1700530" y="1831340"/>
            <a:ext cx="921385" cy="395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 工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296535" y="1832610"/>
            <a:ext cx="736600" cy="15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</a:rPr>
              <a:t>Part.02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333240" y="1832610"/>
            <a:ext cx="921385" cy="395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 具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7941310" y="1831340"/>
            <a:ext cx="736600" cy="15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</a:rPr>
              <a:t>Part.03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976070" y="1831340"/>
            <a:ext cx="923330" cy="395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10567035" y="1832610"/>
            <a:ext cx="736600" cy="15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3600" b="1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</a:rPr>
              <a:t>Part.04</a:t>
            </a:r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9601795" y="1832610"/>
            <a:ext cx="923330" cy="395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-6985" y="1155065"/>
            <a:ext cx="12198985" cy="456692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51900" y="1136650"/>
            <a:ext cx="2479675" cy="4584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905875" y="1818640"/>
            <a:ext cx="1776413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Part.01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029700" y="2383790"/>
            <a:ext cx="1225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27783" y="3137853"/>
            <a:ext cx="23272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 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648167" y="285750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分工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759200" y="1068388"/>
            <a:ext cx="4673600" cy="231775"/>
            <a:chOff x="3399949" y="4067540"/>
            <a:chExt cx="5392103" cy="267784"/>
          </a:xfrm>
        </p:grpSpPr>
        <p:sp>
          <p:nvSpPr>
            <p:cNvPr id="35" name="任意多边形 34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8220" name="组合 35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直接连接符 16"/>
          <p:cNvCxnSpPr/>
          <p:nvPr/>
        </p:nvCxnSpPr>
        <p:spPr>
          <a:xfrm>
            <a:off x="490855" y="2181860"/>
            <a:ext cx="15240" cy="267652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<p:cNvSpPr txBox="1">
            <a:spLocks noChangeArrowheads="1"/>
          </p:cNvSpPr>
          <p:nvPr/>
        </p:nvSpPr>
        <p:spPr bwMode="auto">
          <a:xfrm>
            <a:off x="742315" y="2419350"/>
            <a:ext cx="1985645" cy="521970"/>
          </a:xfrm>
          <a:prstGeom prst="rect">
            <a:avLst/>
          </a:prstGeom>
          <a:solidFill>
            <a:srgbClr val="0070C0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罗越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4372610" y="2181860"/>
            <a:ext cx="24765" cy="268351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<p:cNvSpPr txBox="1">
            <a:spLocks noChangeArrowheads="1"/>
          </p:cNvSpPr>
          <p:nvPr/>
        </p:nvSpPr>
        <p:spPr bwMode="auto">
          <a:xfrm>
            <a:off x="4648835" y="2419350"/>
            <a:ext cx="1985645" cy="521970"/>
          </a:xfrm>
          <a:prstGeom prst="rect">
            <a:avLst/>
          </a:prstGeom>
          <a:solidFill>
            <a:srgbClr val="0070C0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朱海龙</a:t>
            </a: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8267700" y="2190115"/>
            <a:ext cx="11430" cy="270383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<p:cNvSpPr txBox="1">
            <a:spLocks noChangeArrowheads="1"/>
          </p:cNvSpPr>
          <p:nvPr/>
        </p:nvSpPr>
        <p:spPr bwMode="auto">
          <a:xfrm>
            <a:off x="8539480" y="2419350"/>
            <a:ext cx="1986280" cy="521970"/>
          </a:xfrm>
          <a:prstGeom prst="rect">
            <a:avLst/>
          </a:prstGeom>
          <a:solidFill>
            <a:srgbClr val="0070C0">
              <a:alpha val="9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姚语涵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742315" y="3293110"/>
            <a:ext cx="3890645" cy="1261745"/>
            <a:chOff x="1169" y="4353"/>
            <a:chExt cx="6127" cy="1987"/>
          </a:xfrm>
        </p:grpSpPr>
        <p:sp>
          <p:nvSpPr>
            <p:cNvPr id="43" name="矩形: 圆角 30"/>
            <p:cNvSpPr/>
            <p:nvPr/>
          </p:nvSpPr>
          <p:spPr>
            <a:xfrm>
              <a:off x="1169" y="4473"/>
              <a:ext cx="631" cy="632"/>
            </a:xfrm>
            <a:prstGeom prst="roundRect">
              <a:avLst>
                <a:gd name="adj" fmla="val 825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文本框 43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  <p:cNvSpPr txBox="1">
              <a:spLocks noChangeArrowheads="1"/>
            </p:cNvSpPr>
            <p:nvPr/>
          </p:nvSpPr>
          <p:spPr bwMode="auto">
            <a:xfrm>
              <a:off x="2116" y="4353"/>
              <a:ext cx="5180" cy="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数据预处理</a:t>
              </a:r>
            </a:p>
          </p:txBody>
        </p:sp>
        <p:sp>
          <p:nvSpPr>
            <p:cNvPr id="45" name="矩形: 圆角 30"/>
            <p:cNvSpPr/>
            <p:nvPr/>
          </p:nvSpPr>
          <p:spPr>
            <a:xfrm>
              <a:off x="1169" y="5590"/>
              <a:ext cx="631" cy="632"/>
            </a:xfrm>
            <a:prstGeom prst="roundRect">
              <a:avLst>
                <a:gd name="adj" fmla="val 825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文本框 45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  <p:cNvSpPr txBox="1">
              <a:spLocks noChangeArrowheads="1"/>
            </p:cNvSpPr>
            <p:nvPr/>
          </p:nvSpPr>
          <p:spPr bwMode="auto">
            <a:xfrm>
              <a:off x="2116" y="5470"/>
              <a:ext cx="5180" cy="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PPT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制作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648835" y="3369945"/>
            <a:ext cx="3890645" cy="1261745"/>
            <a:chOff x="7319" y="4473"/>
            <a:chExt cx="6127" cy="1987"/>
          </a:xfrm>
        </p:grpSpPr>
        <p:sp>
          <p:nvSpPr>
            <p:cNvPr id="47" name="矩形: 圆角 30"/>
            <p:cNvSpPr/>
            <p:nvPr/>
          </p:nvSpPr>
          <p:spPr>
            <a:xfrm>
              <a:off x="7319" y="4593"/>
              <a:ext cx="631" cy="632"/>
            </a:xfrm>
            <a:prstGeom prst="roundRect">
              <a:avLst>
                <a:gd name="adj" fmla="val 825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8" name="文本框 47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  <p:cNvSpPr txBox="1">
              <a:spLocks noChangeArrowheads="1"/>
            </p:cNvSpPr>
            <p:nvPr/>
          </p:nvSpPr>
          <p:spPr bwMode="auto">
            <a:xfrm>
              <a:off x="8266" y="4473"/>
              <a:ext cx="5180" cy="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项目总设计</a:t>
              </a:r>
            </a:p>
          </p:txBody>
        </p:sp>
        <p:sp>
          <p:nvSpPr>
            <p:cNvPr id="49" name="矩形: 圆角 30"/>
            <p:cNvSpPr/>
            <p:nvPr/>
          </p:nvSpPr>
          <p:spPr>
            <a:xfrm>
              <a:off x="7319" y="5710"/>
              <a:ext cx="631" cy="632"/>
            </a:xfrm>
            <a:prstGeom prst="roundRect">
              <a:avLst>
                <a:gd name="adj" fmla="val 825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0" name="文本框 49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  <p:cNvSpPr txBox="1">
              <a:spLocks noChangeArrowheads="1"/>
            </p:cNvSpPr>
            <p:nvPr/>
          </p:nvSpPr>
          <p:spPr bwMode="auto">
            <a:xfrm>
              <a:off x="8266" y="5590"/>
              <a:ext cx="5180" cy="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算法设计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8539480" y="3369310"/>
            <a:ext cx="3890645" cy="1261745"/>
            <a:chOff x="13490" y="4353"/>
            <a:chExt cx="6127" cy="1987"/>
          </a:xfrm>
        </p:grpSpPr>
        <p:sp>
          <p:nvSpPr>
            <p:cNvPr id="51" name="矩形: 圆角 30"/>
            <p:cNvSpPr/>
            <p:nvPr/>
          </p:nvSpPr>
          <p:spPr>
            <a:xfrm>
              <a:off x="13490" y="4473"/>
              <a:ext cx="631" cy="632"/>
            </a:xfrm>
            <a:prstGeom prst="roundRect">
              <a:avLst>
                <a:gd name="adj" fmla="val 825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2" name="文本框 51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  <p:cNvSpPr txBox="1">
              <a:spLocks noChangeArrowheads="1"/>
            </p:cNvSpPr>
            <p:nvPr/>
          </p:nvSpPr>
          <p:spPr bwMode="auto">
            <a:xfrm>
              <a:off x="14437" y="4353"/>
              <a:ext cx="5180" cy="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数据可视化与测试</a:t>
              </a:r>
            </a:p>
          </p:txBody>
        </p:sp>
        <p:sp>
          <p:nvSpPr>
            <p:cNvPr id="53" name="矩形: 圆角 30"/>
            <p:cNvSpPr/>
            <p:nvPr/>
          </p:nvSpPr>
          <p:spPr>
            <a:xfrm>
              <a:off x="13490" y="5590"/>
              <a:ext cx="631" cy="632"/>
            </a:xfrm>
            <a:prstGeom prst="roundRect">
              <a:avLst>
                <a:gd name="adj" fmla="val 825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4" name="文本框 53" descr="e7d195523061f1c066b07af569392582e34b383e870941e45A9F265A01B343BAB71AA68CCD0631A7B7DE1272822047E4CBFC978F0A03706D738F6232142EC909A232ED66B5EC504804C64D3B242CD4B5FC2DA3AE84CA9B465C225B24ED0F6BE1C9F01A31FC114B1CE460667A0F96FEB01B7CD686B75F8231A79223F2FD5CDA837DB1C710F46EF6DCE6486984DC98502B"/>
            <p:cNvSpPr txBox="1">
              <a:spLocks noChangeArrowheads="1"/>
            </p:cNvSpPr>
            <p:nvPr/>
          </p:nvSpPr>
          <p:spPr bwMode="auto">
            <a:xfrm>
              <a:off x="14437" y="5470"/>
              <a:ext cx="5180" cy="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PPT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制作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0" grpId="0" animBg="1"/>
      <p:bldP spid="24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-14605" y="1154430"/>
            <a:ext cx="12198985" cy="456692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51900" y="1136650"/>
            <a:ext cx="2479675" cy="4584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905875" y="1818640"/>
            <a:ext cx="1776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Part.02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029700" y="2383790"/>
            <a:ext cx="1225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27783" y="3137853"/>
            <a:ext cx="23272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 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5648167" y="285750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工具</a:t>
            </a:r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3733800" y="969963"/>
            <a:ext cx="4673600" cy="231775"/>
            <a:chOff x="3399949" y="4067540"/>
            <a:chExt cx="5392103" cy="267784"/>
          </a:xfrm>
        </p:grpSpPr>
        <p:sp>
          <p:nvSpPr>
            <p:cNvPr id="37" name="任意多边形 36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22532" name="组合 37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矩形: 圆角 30"/>
          <p:cNvSpPr/>
          <p:nvPr/>
        </p:nvSpPr>
        <p:spPr>
          <a:xfrm>
            <a:off x="1464945" y="2155825"/>
            <a:ext cx="4453255" cy="2977515"/>
          </a:xfrm>
          <a:prstGeom prst="roundRect">
            <a:avLst>
              <a:gd name="adj" fmla="val 8256"/>
            </a:avLst>
          </a:prstGeom>
          <a:solidFill>
            <a:srgbClr val="0070C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: 圆角 30"/>
          <p:cNvSpPr/>
          <p:nvPr/>
        </p:nvSpPr>
        <p:spPr>
          <a:xfrm>
            <a:off x="6223000" y="2155825"/>
            <a:ext cx="4453255" cy="2977515"/>
          </a:xfrm>
          <a:prstGeom prst="roundRect">
            <a:avLst>
              <a:gd name="adj" fmla="val 8256"/>
            </a:avLst>
          </a:prstGeom>
          <a:solidFill>
            <a:srgbClr val="0070C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464310" y="3318510"/>
            <a:ext cx="445325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Hadoop+Spark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完全分布式部署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2C6E0E0-BFD3-4D7A-9FD8-BBB3E994DF4B}"/>
              </a:ext>
            </a:extLst>
          </p:cNvPr>
          <p:cNvSpPr/>
          <p:nvPr/>
        </p:nvSpPr>
        <p:spPr>
          <a:xfrm>
            <a:off x="7718518" y="2457450"/>
            <a:ext cx="1462218" cy="7048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Master</a:t>
            </a: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DD21710-618B-4C8F-A500-9D5B408D142B}"/>
              </a:ext>
            </a:extLst>
          </p:cNvPr>
          <p:cNvSpPr/>
          <p:nvPr/>
        </p:nvSpPr>
        <p:spPr>
          <a:xfrm>
            <a:off x="6305550" y="4162425"/>
            <a:ext cx="1190625" cy="7048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Slave1</a:t>
            </a:r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018D651-BBDB-4CB9-B384-BAC39B154D20}"/>
              </a:ext>
            </a:extLst>
          </p:cNvPr>
          <p:cNvSpPr/>
          <p:nvPr/>
        </p:nvSpPr>
        <p:spPr>
          <a:xfrm>
            <a:off x="9274305" y="4239934"/>
            <a:ext cx="1190625" cy="7048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Slave2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964A5B4-AF46-4CF9-A76C-CD126E18DE5C}"/>
              </a:ext>
            </a:extLst>
          </p:cNvPr>
          <p:cNvCxnSpPr>
            <a:cxnSpLocks/>
            <a:stCxn id="3" idx="3"/>
            <a:endCxn id="14" idx="7"/>
          </p:cNvCxnSpPr>
          <p:nvPr/>
        </p:nvCxnSpPr>
        <p:spPr>
          <a:xfrm flipH="1">
            <a:off x="7321812" y="3059077"/>
            <a:ext cx="610843" cy="1206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3FC09EA-2723-4168-BB43-66882DF8656A}"/>
              </a:ext>
            </a:extLst>
          </p:cNvPr>
          <p:cNvCxnSpPr>
            <a:cxnSpLocks/>
            <a:stCxn id="3" idx="5"/>
            <a:endCxn id="15" idx="0"/>
          </p:cNvCxnSpPr>
          <p:nvPr/>
        </p:nvCxnSpPr>
        <p:spPr>
          <a:xfrm>
            <a:off x="8966599" y="3059077"/>
            <a:ext cx="903019" cy="11808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5648167" y="285750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工具</a:t>
            </a:r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3733800" y="969963"/>
            <a:ext cx="4673600" cy="231775"/>
            <a:chOff x="3399949" y="4067540"/>
            <a:chExt cx="5392103" cy="267784"/>
          </a:xfrm>
        </p:grpSpPr>
        <p:sp>
          <p:nvSpPr>
            <p:cNvPr id="37" name="任意多边形 36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22532" name="组合 37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矩形: 圆角 30"/>
          <p:cNvSpPr/>
          <p:nvPr/>
        </p:nvSpPr>
        <p:spPr>
          <a:xfrm>
            <a:off x="1464945" y="2155825"/>
            <a:ext cx="4453255" cy="2977515"/>
          </a:xfrm>
          <a:prstGeom prst="roundRect">
            <a:avLst>
              <a:gd name="adj" fmla="val 8256"/>
            </a:avLst>
          </a:prstGeom>
          <a:solidFill>
            <a:srgbClr val="0070C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: 圆角 30"/>
          <p:cNvSpPr/>
          <p:nvPr/>
        </p:nvSpPr>
        <p:spPr>
          <a:xfrm>
            <a:off x="6223000" y="2155825"/>
            <a:ext cx="4453255" cy="2977515"/>
          </a:xfrm>
          <a:prstGeom prst="roundRect">
            <a:avLst>
              <a:gd name="adj" fmla="val 8256"/>
            </a:avLst>
          </a:prstGeom>
          <a:solidFill>
            <a:srgbClr val="0070C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464310" y="3318510"/>
            <a:ext cx="44532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SparkML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223000" y="3318510"/>
            <a:ext cx="44532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SparkDL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- </a:t>
            </a:r>
            <a:r>
              <a:rPr lang="en-US" altLang="zh-CN" sz="2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PipeLine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9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-6985" y="1136650"/>
            <a:ext cx="12198985" cy="45847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51900" y="1136650"/>
            <a:ext cx="2479675" cy="4584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905875" y="1818640"/>
            <a:ext cx="1776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Part.03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029700" y="2383790"/>
            <a:ext cx="1225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27783" y="3137853"/>
            <a:ext cx="23272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464265" y="285750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数据集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748405" y="952818"/>
            <a:ext cx="4673600" cy="231775"/>
            <a:chOff x="3399949" y="4067540"/>
            <a:chExt cx="5392103" cy="267784"/>
          </a:xfrm>
        </p:grpSpPr>
        <p:sp>
          <p:nvSpPr>
            <p:cNvPr id="35" name="任意多边形 34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8220" name="组合 35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3080228" y="1778298"/>
            <a:ext cx="4185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数据集：中文手写数字数据集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pic>
        <p:nvPicPr>
          <p:cNvPr id="3" name="图片 2" descr="Locate{1,1,1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4165600"/>
            <a:ext cx="1440000" cy="1440000"/>
          </a:xfrm>
          <a:prstGeom prst="rect">
            <a:avLst/>
          </a:prstGeom>
        </p:spPr>
      </p:pic>
      <p:pic>
        <p:nvPicPr>
          <p:cNvPr id="6" name="图片 5" descr="Locate{1,1,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965" y="4165600"/>
            <a:ext cx="1440000" cy="1440000"/>
          </a:xfrm>
          <a:prstGeom prst="rect">
            <a:avLst/>
          </a:prstGeom>
        </p:spPr>
      </p:pic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080228" y="3037463"/>
            <a:ext cx="59025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内容：15,000 张中文手写数字的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.jpg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图像</a:t>
            </a:r>
          </a:p>
        </p:txBody>
      </p:sp>
      <p:pic>
        <p:nvPicPr>
          <p:cNvPr id="10" name="图片 9" descr="Locate{1,1,3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370" y="4165600"/>
            <a:ext cx="1440000" cy="144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D2DF8E-979B-431B-B67B-37A7D1DD25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775" y="4165600"/>
            <a:ext cx="1440000" cy="144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CBE9B5A-C121-42F6-8B9C-08F00E22A9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180" y="4165600"/>
            <a:ext cx="1440001" cy="1440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A0EEDB6-3284-4F66-8FFE-51C972B52551}"/>
              </a:ext>
            </a:extLst>
          </p:cNvPr>
          <p:cNvSpPr txBox="1"/>
          <p:nvPr/>
        </p:nvSpPr>
        <p:spPr>
          <a:xfrm>
            <a:off x="3080228" y="2410103"/>
            <a:ext cx="519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来源：纽卡斯尔大学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4FCF36E-8586-4543-98E3-DFC6E6571949}"/>
              </a:ext>
            </a:extLst>
          </p:cNvPr>
          <p:cNvSpPr txBox="1"/>
          <p:nvPr/>
        </p:nvSpPr>
        <p:spPr>
          <a:xfrm>
            <a:off x="2292805" y="6087406"/>
            <a:ext cx="761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https://data.ncl.ac.uk/articles/Handwritten_Chinese_Numbers/10280831/1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464265" y="285750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数据集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748405" y="952818"/>
            <a:ext cx="4673600" cy="231775"/>
            <a:chOff x="3399949" y="4067540"/>
            <a:chExt cx="5392103" cy="267784"/>
          </a:xfrm>
        </p:grpSpPr>
        <p:sp>
          <p:nvSpPr>
            <p:cNvPr id="35" name="任意多边形 34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8220" name="组合 35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1222384" y="1612562"/>
            <a:ext cx="264687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分类任务的难点：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buClrTx/>
              <a:buSzTx/>
              <a:buFontTx/>
            </a:pP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1.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中文的复杂性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buClrTx/>
              <a:buSzTx/>
              <a:buFontTx/>
            </a:pP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字的大小不一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buClrTx/>
              <a:buSzTx/>
              <a:buFontTx/>
            </a:pP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字的位置不同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AD2DF8E-979B-431B-B67B-37A7D1DD2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162" y="1679575"/>
            <a:ext cx="1440000" cy="144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6C559E7-6BA0-420F-8BC5-AF2507841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163" y="4165599"/>
            <a:ext cx="1439999" cy="14399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5B39898-964B-47BE-99DF-3199A8B0EF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350" y="1679577"/>
            <a:ext cx="1440000" cy="143999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5C150F4-37F2-4E5D-AC2A-7AC6D6492B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350" y="4165599"/>
            <a:ext cx="1440000" cy="1439998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8E78F14-1DD8-46E6-B72F-FAA67C0F3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4" y="4035937"/>
            <a:ext cx="387798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实验：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buClrTx/>
              <a:buSzTx/>
              <a:buFontTx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直接使用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SVM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大数据算法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buClrTx/>
              <a:buSzTx/>
              <a:buFontTx/>
            </a:pP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minst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数据集准确率：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98%</a:t>
            </a:r>
          </a:p>
          <a:p>
            <a:pPr>
              <a:buClrTx/>
              <a:buSzTx/>
              <a:buFontTx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本数据集准确率：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45%</a:t>
            </a:r>
          </a:p>
        </p:txBody>
      </p:sp>
    </p:spTree>
    <p:extLst>
      <p:ext uri="{BB962C8B-B14F-4D97-AF65-F5344CB8AC3E}">
        <p14:creationId xmlns:p14="http://schemas.microsoft.com/office/powerpoint/2010/main" val="313011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-6985" y="1136650"/>
            <a:ext cx="12198985" cy="45847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51900" y="1136650"/>
            <a:ext cx="2479675" cy="4584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905875" y="1818640"/>
            <a:ext cx="1776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Part.04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029700" y="2383790"/>
            <a:ext cx="1225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27783" y="3137853"/>
            <a:ext cx="23272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080347" y="285750"/>
            <a:ext cx="20297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方法 </a:t>
            </a:r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– 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流程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748405" y="952818"/>
            <a:ext cx="4673600" cy="231775"/>
            <a:chOff x="3399949" y="4067540"/>
            <a:chExt cx="5392103" cy="267784"/>
          </a:xfrm>
        </p:grpSpPr>
        <p:sp>
          <p:nvSpPr>
            <p:cNvPr id="35" name="任意多边形 34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8220" name="组合 35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组合 40"/>
          <p:cNvGrpSpPr/>
          <p:nvPr/>
        </p:nvGrpSpPr>
        <p:grpSpPr>
          <a:xfrm>
            <a:off x="6211570" y="4094480"/>
            <a:ext cx="1976400" cy="1854200"/>
            <a:chOff x="8376" y="4070"/>
            <a:chExt cx="2446" cy="2445"/>
          </a:xfrm>
        </p:grpSpPr>
        <p:sp>
          <p:nvSpPr>
            <p:cNvPr id="14" name="矩形: 圆角 18"/>
            <p:cNvSpPr/>
            <p:nvPr/>
          </p:nvSpPr>
          <p:spPr>
            <a:xfrm>
              <a:off x="8376" y="4070"/>
              <a:ext cx="2445" cy="2445"/>
            </a:xfrm>
            <a:prstGeom prst="roundRect">
              <a:avLst>
                <a:gd name="adj" fmla="val 8256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矩形 9"/>
            <p:cNvSpPr>
              <a:spLocks noChangeArrowheads="1"/>
            </p:cNvSpPr>
            <p:nvPr/>
          </p:nvSpPr>
          <p:spPr bwMode="auto">
            <a:xfrm>
              <a:off x="8377" y="4569"/>
              <a:ext cx="2445" cy="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搭建传统的数据模型SVM、KNN进行分类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9013825" y="4053840"/>
            <a:ext cx="1976400" cy="1854323"/>
            <a:chOff x="12853" y="4071"/>
            <a:chExt cx="2445" cy="2445"/>
          </a:xfrm>
        </p:grpSpPr>
        <p:sp>
          <p:nvSpPr>
            <p:cNvPr id="36" name="矩形: 圆角 18"/>
            <p:cNvSpPr/>
            <p:nvPr/>
          </p:nvSpPr>
          <p:spPr>
            <a:xfrm>
              <a:off x="12853" y="4071"/>
              <a:ext cx="2445" cy="2445"/>
            </a:xfrm>
            <a:prstGeom prst="roundRect">
              <a:avLst>
                <a:gd name="adj" fmla="val 825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" name="矩形 9"/>
            <p:cNvSpPr>
              <a:spLocks noChangeArrowheads="1"/>
            </p:cNvSpPr>
            <p:nvPr/>
          </p:nvSpPr>
          <p:spPr bwMode="auto">
            <a:xfrm>
              <a:off x="12853" y="4624"/>
              <a:ext cx="2445" cy="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数据可视化</a:t>
              </a:r>
            </a:p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与模型泛化能力测试</a:t>
              </a:r>
            </a:p>
          </p:txBody>
        </p:sp>
      </p:grpSp>
      <p:cxnSp>
        <p:nvCxnSpPr>
          <p:cNvPr id="44" name="肘形连接符 43"/>
          <p:cNvCxnSpPr/>
          <p:nvPr/>
        </p:nvCxnSpPr>
        <p:spPr>
          <a:xfrm>
            <a:off x="5417820" y="2765425"/>
            <a:ext cx="4584065" cy="1288415"/>
          </a:xfrm>
          <a:prstGeom prst="bentConnector2">
            <a:avLst/>
          </a:prstGeom>
          <a:ln w="254000">
            <a:solidFill>
              <a:schemeClr val="bg1">
                <a:lumMod val="65000"/>
              </a:schemeClr>
            </a:solidFill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5417820" y="4973955"/>
            <a:ext cx="794385" cy="6350"/>
          </a:xfrm>
          <a:prstGeom prst="straightConnector1">
            <a:avLst/>
          </a:prstGeom>
          <a:ln w="254000">
            <a:solidFill>
              <a:schemeClr val="bg1">
                <a:lumMod val="65000"/>
              </a:schemeClr>
            </a:solidFill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8187690" y="4980305"/>
            <a:ext cx="826135" cy="0"/>
          </a:xfrm>
          <a:prstGeom prst="straightConnector1">
            <a:avLst/>
          </a:prstGeom>
          <a:ln w="254000">
            <a:solidFill>
              <a:schemeClr val="bg1">
                <a:lumMod val="65000"/>
              </a:schemeClr>
            </a:solidFill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2795270" y="4046855"/>
            <a:ext cx="2622550" cy="1852930"/>
            <a:chOff x="4402" y="6373"/>
            <a:chExt cx="4130" cy="2918"/>
          </a:xfrm>
        </p:grpSpPr>
        <p:grpSp>
          <p:nvGrpSpPr>
            <p:cNvPr id="3" name="组合 2"/>
            <p:cNvGrpSpPr/>
            <p:nvPr/>
          </p:nvGrpSpPr>
          <p:grpSpPr>
            <a:xfrm>
              <a:off x="5420" y="6373"/>
              <a:ext cx="3112" cy="2919"/>
              <a:chOff x="10192" y="2883"/>
              <a:chExt cx="2446" cy="2445"/>
            </a:xfrm>
          </p:grpSpPr>
          <p:sp>
            <p:nvSpPr>
              <p:cNvPr id="19" name="矩形: 圆角 18"/>
              <p:cNvSpPr/>
              <p:nvPr/>
            </p:nvSpPr>
            <p:spPr>
              <a:xfrm>
                <a:off x="10193" y="2883"/>
                <a:ext cx="2445" cy="2445"/>
              </a:xfrm>
              <a:prstGeom prst="roundRect">
                <a:avLst>
                  <a:gd name="adj" fmla="val 8256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noProof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8197" name="矩形 9"/>
              <p:cNvSpPr>
                <a:spLocks noChangeArrowheads="1"/>
              </p:cNvSpPr>
              <p:nvPr/>
            </p:nvSpPr>
            <p:spPr bwMode="auto">
              <a:xfrm>
                <a:off x="10192" y="3052"/>
                <a:ext cx="2446" cy="6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宋体" panose="02010600030101010101" pitchFamily="2" charset="-122"/>
                  </a:rPr>
                  <a:t>数据预处理</a:t>
                </a:r>
              </a:p>
            </p:txBody>
          </p:sp>
        </p:grpSp>
        <p:sp>
          <p:nvSpPr>
            <p:cNvPr id="42" name="文本框 41"/>
            <p:cNvSpPr txBox="1"/>
            <p:nvPr/>
          </p:nvSpPr>
          <p:spPr>
            <a:xfrm>
              <a:off x="5752" y="7492"/>
              <a:ext cx="2445" cy="15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使用HOG方法将数据进行变换</a:t>
              </a:r>
            </a:p>
          </p:txBody>
        </p:sp>
        <p:sp>
          <p:nvSpPr>
            <p:cNvPr id="51" name="右箭头 50"/>
            <p:cNvSpPr/>
            <p:nvPr/>
          </p:nvSpPr>
          <p:spPr>
            <a:xfrm>
              <a:off x="4402" y="7491"/>
              <a:ext cx="1019" cy="713"/>
            </a:xfrm>
            <a:prstGeom prst="rightArrow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795270" y="1822450"/>
            <a:ext cx="2622550" cy="1854200"/>
            <a:chOff x="4402" y="2870"/>
            <a:chExt cx="4130" cy="2920"/>
          </a:xfrm>
        </p:grpSpPr>
        <p:grpSp>
          <p:nvGrpSpPr>
            <p:cNvPr id="40" name="组合 39"/>
            <p:cNvGrpSpPr/>
            <p:nvPr/>
          </p:nvGrpSpPr>
          <p:grpSpPr>
            <a:xfrm>
              <a:off x="5418" y="2870"/>
              <a:ext cx="3114" cy="2921"/>
              <a:chOff x="4528" y="4070"/>
              <a:chExt cx="2445" cy="2445"/>
            </a:xfrm>
          </p:grpSpPr>
          <p:sp>
            <p:nvSpPr>
              <p:cNvPr id="11" name="矩形: 圆角 18"/>
              <p:cNvSpPr/>
              <p:nvPr/>
            </p:nvSpPr>
            <p:spPr>
              <a:xfrm>
                <a:off x="4528" y="4070"/>
                <a:ext cx="2445" cy="2445"/>
              </a:xfrm>
              <a:prstGeom prst="roundRect">
                <a:avLst>
                  <a:gd name="adj" fmla="val 8256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noProof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3" name="矩形 9"/>
              <p:cNvSpPr>
                <a:spLocks noChangeArrowheads="1"/>
              </p:cNvSpPr>
              <p:nvPr/>
            </p:nvSpPr>
            <p:spPr bwMode="auto">
              <a:xfrm>
                <a:off x="4528" y="4847"/>
                <a:ext cx="2445" cy="9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宋体" panose="02010600030101010101" pitchFamily="2" charset="-122"/>
                  </a:rPr>
                  <a:t>搭建深度卷积神经网络进行分类</a:t>
                </a:r>
              </a:p>
            </p:txBody>
          </p:sp>
        </p:grpSp>
        <p:sp>
          <p:nvSpPr>
            <p:cNvPr id="52" name="右箭头 51"/>
            <p:cNvSpPr/>
            <p:nvPr/>
          </p:nvSpPr>
          <p:spPr>
            <a:xfrm>
              <a:off x="4402" y="3974"/>
              <a:ext cx="1019" cy="713"/>
            </a:xfrm>
            <a:prstGeom prst="rightArrow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1403827" y="2454275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路线一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1403827" y="4722495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路线二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3" grpId="0"/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 bwMode="auto">
          <a:xfrm>
            <a:off x="3684588" y="5656263"/>
            <a:ext cx="4841875" cy="266700"/>
            <a:chOff x="3674825" y="4038512"/>
            <a:chExt cx="4842351" cy="267784"/>
          </a:xfrm>
        </p:grpSpPr>
        <p:sp>
          <p:nvSpPr>
            <p:cNvPr id="21" name="任意多边形 20"/>
            <p:cNvSpPr/>
            <p:nvPr/>
          </p:nvSpPr>
          <p:spPr>
            <a:xfrm>
              <a:off x="6026143" y="4038512"/>
              <a:ext cx="139714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29701" name="组合 22"/>
            <p:cNvGrpSpPr/>
            <p:nvPr/>
          </p:nvGrpSpPr>
          <p:grpSpPr bwMode="auto">
            <a:xfrm flipV="1">
              <a:off x="3674825" y="4074839"/>
              <a:ext cx="4842351" cy="45719"/>
              <a:chOff x="3394710" y="4250530"/>
              <a:chExt cx="5392103" cy="0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6267551" y="4295732"/>
                <a:ext cx="2519262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3394710" y="4295732"/>
                <a:ext cx="2519261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 bright="-18000" contrast="-18000"/>
          </a:blip>
          <a:stretch>
            <a:fillRect/>
          </a:stretch>
        </p:blipFill>
        <p:spPr>
          <a:xfrm>
            <a:off x="200660" y="222250"/>
            <a:ext cx="11790680" cy="64135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66370" y="189865"/>
            <a:ext cx="11878945" cy="6478905"/>
          </a:xfrm>
          <a:prstGeom prst="rect">
            <a:avLst/>
          </a:prstGeom>
          <a:solidFill>
            <a:schemeClr val="tx1">
              <a:lumMod val="95000"/>
              <a:lumOff val="5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2464435" y="3023870"/>
            <a:ext cx="7283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感谢倾听，欢迎提问！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100,&quot;width&quot;:1856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224</Words>
  <Application>Microsoft Office PowerPoint</Application>
  <PresentationFormat>宽屏</PresentationFormat>
  <Paragraphs>63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方正姚体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/>
  <dc:description>锐旗设计；https://9ppt.taobao.com</dc:description>
  <cp:lastModifiedBy/>
  <cp:revision>17</cp:revision>
  <dcterms:created xsi:type="dcterms:W3CDTF">2017-10-19T03:01:00Z</dcterms:created>
  <dcterms:modified xsi:type="dcterms:W3CDTF">2020-11-23T11:30:03Z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