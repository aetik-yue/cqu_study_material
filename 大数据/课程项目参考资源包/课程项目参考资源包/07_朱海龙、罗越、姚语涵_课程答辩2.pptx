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1.xml" ContentType="application/vnd.openxmlformats-officedocument.presentationml.tags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>
  <p:sldMasterIdLst>
    <p:sldMasterId id="2147483659" r:id="rId1"/>
  </p:sldMasterIdLst>
  <p:notesMasterIdLst>
    <p:notesMasterId r:id="rId17"/>
  </p:notesMasterIdLst>
  <p:sldIdLst>
    <p:sldId id="256" r:id="rId2"/>
    <p:sldId id="257" r:id="rId3"/>
    <p:sldId id="258" r:id="rId4"/>
    <p:sldId id="290" r:id="rId5"/>
    <p:sldId id="286" r:id="rId6"/>
    <p:sldId id="316" r:id="rId7"/>
    <p:sldId id="327" r:id="rId8"/>
    <p:sldId id="325" r:id="rId9"/>
    <p:sldId id="326" r:id="rId10"/>
    <p:sldId id="287" r:id="rId11"/>
    <p:sldId id="324" r:id="rId12"/>
    <p:sldId id="320" r:id="rId13"/>
    <p:sldId id="288" r:id="rId14"/>
    <p:sldId id="318" r:id="rId15"/>
    <p:sldId id="262" r:id="rId16"/>
  </p:sldIdLst>
  <p:sldSz cx="12192000" cy="6858000"/>
  <p:notesSz cx="7104063" cy="10234613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38">
          <p15:clr>
            <a:srgbClr val="A4A3A4"/>
          </p15:clr>
        </p15:guide>
        <p15:guide id="2" pos="2904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作者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6A6A6"/>
    <a:srgbClr val="DC2F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 autoAdjust="0"/>
  </p:normalViewPr>
  <p:slideViewPr>
    <p:cSldViewPr snapToGrid="0">
      <p:cViewPr varScale="1">
        <p:scale>
          <a:sx n="67" d="100"/>
          <a:sy n="67" d="100"/>
        </p:scale>
        <p:origin x="604" y="52"/>
      </p:cViewPr>
      <p:guideLst>
        <p:guide orient="horz" pos="2238"/>
        <p:guide pos="290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6" cy="72006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commentAuthors" Target="commentAuthors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defRPr sz="1200" noProof="1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defRPr sz="1200" noProof="1" smtClean="0">
                <a:latin typeface="+mn-lt"/>
                <a:ea typeface="+mn-ea"/>
              </a:defRPr>
            </a:lvl1pPr>
          </a:lstStyle>
          <a:p>
            <a:fld id="{D2A48B96-639E-45A3-A0BA-2464DFDB1FAA}" type="datetimeFigureOut">
              <a:rPr lang="zh-CN" altLang="en-US"/>
              <a:t>2020/11/30</a:t>
            </a:fld>
            <a:endParaRPr lang="zh-CN" altLang="en-US"/>
          </a:p>
        </p:txBody>
      </p:sp>
      <p:sp>
        <p:nvSpPr>
          <p:cNvPr id="2052" name="幻灯片图像占位符 3"/>
          <p:cNvSpPr>
            <a:spLocks noGrp="1" noRot="1" noChangeAspect="1" noChangeArrowheads="1"/>
          </p:cNvSpPr>
          <p:nvPr>
            <p:ph type="sldImg" idx="4294967295"/>
          </p:nvPr>
        </p:nvSpPr>
        <p:spPr bwMode="auto">
          <a:xfrm>
            <a:off x="481013" y="1279525"/>
            <a:ext cx="6140450" cy="3454400"/>
          </a:xfrm>
          <a:prstGeom prst="rect">
            <a:avLst/>
          </a:prstGeom>
          <a:noFill/>
          <a:ln w="12700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053" name="备注占位符 4"/>
          <p:cNvSpPr>
            <a:spLocks noGrp="1" noChangeArrowheads="1"/>
          </p:cNvSpPr>
          <p:nvPr>
            <p:ph type="body" sz="quarter" idx="9"/>
          </p:nvPr>
        </p:nvSpPr>
        <p:spPr bwMode="auto">
          <a:xfrm>
            <a:off x="709613" y="4926013"/>
            <a:ext cx="5683250" cy="4029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0263"/>
            <a:ext cx="3078163" cy="5143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defRPr sz="1200" noProof="1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4313" y="9720263"/>
            <a:ext cx="3078162" cy="5143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defRPr sz="1200" noProof="1" smtClean="0">
                <a:latin typeface="+mn-lt"/>
                <a:ea typeface="+mn-ea"/>
              </a:defRPr>
            </a:lvl1pPr>
          </a:lstStyle>
          <a:p>
            <a:fld id="{46976D73-17CA-4760-B422-B34695BA10B0}" type="slidenum">
              <a:rPr lang="zh-CN" altLang="en-US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4294967295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9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1031377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4294967295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9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4294967295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9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1" name="幻灯片图像占位符 1"/>
          <p:cNvSpPr>
            <a:spLocks noGrp="1" noRot="1" noChangeAspect="1" noChangeArrowheads="1"/>
          </p:cNvSpPr>
          <p:nvPr>
            <p:ph type="sldImg" idx="4294967295"/>
          </p:nvPr>
        </p:nvSpPr>
        <p:spPr>
          <a:ln>
            <a:miter lim="800000"/>
          </a:ln>
        </p:spPr>
      </p:sp>
      <p:sp>
        <p:nvSpPr>
          <p:cNvPr id="30722" name="文本占位符 2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887A513-6667-4894-AEBC-03F90F9FCE1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366C5B2-03BB-47AC-A9DE-40CD3DBEF0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15990C4-1422-40E7-813A-E6A94F7B90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  <a:t>2020/11/30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C6E00CE-F4B2-47DB-B518-ECC7376882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7C6161A-3632-4471-BBC9-DE7F147605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9E044F-DA5F-4DCE-8183-BE4C7DCA044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262114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D11A82E-A5D2-4420-9A01-9A1DA8E212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EBF43FF-91E4-4E19-B8F1-9447C50F49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845C9A1-DBD2-4BFC-9B0B-0F36EDF828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  <a:t>2020/11/30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BCADC5F-124B-4F4E-9869-FE88F360C1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4161FCD-5862-4F15-A576-5016F43A86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821950-ADD1-4E4C-B2E1-0C8E716A0BE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014222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B0D6CB3-A727-4671-B1D0-5D7868BC3D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E72D4EB-1982-42B8-A4D9-9316323D94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80A0439-DE99-45A9-9144-00C0F615BA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  <a:t>2020/11/30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927C9D7-5B99-4B7C-AF16-DCCE2A7E8E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29F151C-43D5-4946-A1EA-1CFBACE2F4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9C212-20E7-4D0A-BC76-271F0EB96F3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70374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8F2AADA-7492-4839-82F3-3E02BA12A8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408CF8B-CBC3-4B2F-91EB-13A02A86114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23B037F-7C7C-4523-8459-21385170BE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8E8BF04-696F-4CB3-9152-749C745960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  <a:t>2020/11/30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65A87A2-2F99-4799-9822-1F45F65105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EDB773B-02A7-4781-AFB9-23C5ABE298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B0A1E1-B83E-4431-92B8-76A1331AFD6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258497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025B645-854D-448D-BA1A-3C2DEE823E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DA1D556-7426-4FDE-8E4A-2ADF44DB39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AF1FBC1-1629-48FD-A04F-24661AF2DC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C3950C57-015D-483D-8353-3774E54A3C4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A9404F5C-2B03-45CA-8D34-9330872AE68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0713BBAD-DC9B-4807-8149-C5A800D09D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  <a:t>2020/11/30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8A68F3B6-A54D-4232-A571-320757BD9A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EACF568B-884F-4E2B-AC0F-EBCF832288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3E03DE-F333-41A4-B4BF-CDDC22F2961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113882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A871626-6BE6-4439-ABB9-5561A4E9BC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47D61BE5-CE68-4312-81D3-2F2673E32E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  <a:t>2020/11/30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CC90AB66-7993-4926-9706-DB087CE01A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897DAC53-7C54-4B3C-83E1-AC9546225B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482CAC-C5BE-4E7C-9FC1-281F73ED7D2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815888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7A6CE2A8-11ED-4087-84DC-52A335FDCE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  <a:t>2020/11/30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C667131B-78AE-4DEE-974D-66C5FB8BF4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8218A8F-01BD-4AFE-9D00-D4B957D775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6A2B9F-D07A-4DBA-BB80-B3B8D828CD6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750581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86C5114-1BB4-47FF-AEFE-A935EF87C9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5023759-4F36-4A79-9FA5-258FE29967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0B8ED87C-BC9E-4A61-887D-5A57C35BDBC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30C6341-800A-4664-BB91-102E0EAF7E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  <a:t>2020/11/30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31ABD00-8919-415E-8D36-D69C48F96F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FE8A35A-8F8E-46E4-BC01-C1AE07A042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0795B-1A1C-4981-818A-0D4F07D1F58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781652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E520C3-13A5-4237-8391-594C2848EA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62FBD5D5-799B-4C24-A24A-B4540AFEDB7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618F61B-7D82-4961-945F-5D400E9B7B2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4860501-42E1-4E19-AF81-A8CF56F362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  <a:t>2020/11/30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0BC1D9F-D4CC-4686-8B0A-AF534A90E1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4F18065-40D3-49CB-9653-5347AF6F58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592C6B-E79F-4147-9E8A-AED034C9014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26143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0C7E199-1D6E-469F-AD50-871782BE44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BAF293C4-5067-4754-8DAC-10F11704AC4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4AEE433-71C5-4F94-A926-1521097DD1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  <a:t>2020/11/30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6C2880D-D099-40A7-A0B6-915DF5EC70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168E9D0-C105-4B23-BE4E-BA7A0907D6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0795B-1A1C-4981-818A-0D4F07D1F58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274663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5967F779-197A-41E5-A101-E9085A291E5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E6DC51F-5F67-4DF1-9CE9-4A3A00C6150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70FA330-A6DE-4038-AFE9-CDD0EB96F7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  <a:t>2020/11/30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33A84D1-6F50-4ECE-907A-3DFEC495C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8641A7F-90DB-4CEE-9689-31129481A8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0795B-1A1C-4981-818A-0D4F07D1F58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25394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B5417A58-994B-4808-93C2-BDAB98A7CC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7266106-C796-4F48-9E7D-DF6E5086D8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F225598-6AF8-4922-9C97-0462D4F3D67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F288E0-7875-42C4-84C8-98DBBD3BF4D2}" type="datetimeFigureOut">
              <a:rPr lang="zh-CN" altLang="en-US" smtClean="0"/>
              <a:t>2020/11/30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B455434-662C-47F9-B5D1-57C8BF16220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438FA3A-D492-497F-B1A0-BCAC2EEA980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0795B-1A1C-4981-818A-0D4F07D1F58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691383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gi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/>
          <p:cNvPicPr>
            <a:picLocks noChangeAspect="1"/>
          </p:cNvPicPr>
          <p:nvPr/>
        </p:nvPicPr>
        <p:blipFill>
          <a:blip r:embed="rId2">
            <a:lum bright="-18000" contrast="-18000"/>
          </a:blip>
          <a:stretch>
            <a:fillRect/>
          </a:stretch>
        </p:blipFill>
        <p:spPr>
          <a:xfrm>
            <a:off x="201295" y="222250"/>
            <a:ext cx="11790680" cy="6413500"/>
          </a:xfrm>
          <a:prstGeom prst="rect">
            <a:avLst/>
          </a:prstGeom>
        </p:spPr>
      </p:pic>
      <p:sp>
        <p:nvSpPr>
          <p:cNvPr id="12" name="矩形 11"/>
          <p:cNvSpPr/>
          <p:nvPr/>
        </p:nvSpPr>
        <p:spPr>
          <a:xfrm>
            <a:off x="157480" y="189865"/>
            <a:ext cx="11878945" cy="6478905"/>
          </a:xfrm>
          <a:prstGeom prst="rect">
            <a:avLst/>
          </a:prstGeom>
          <a:solidFill>
            <a:schemeClr val="tx1">
              <a:lumMod val="95000"/>
              <a:lumOff val="5000"/>
              <a:alpha val="24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矩形 1"/>
          <p:cNvSpPr/>
          <p:nvPr/>
        </p:nvSpPr>
        <p:spPr>
          <a:xfrm>
            <a:off x="200343" y="3524250"/>
            <a:ext cx="11790362" cy="2425700"/>
          </a:xfrm>
          <a:prstGeom prst="rect">
            <a:avLst/>
          </a:prstGeom>
          <a:solidFill>
            <a:srgbClr val="0070C0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/>
            <a:endParaRPr lang="zh-CN" altLang="en-US" noProof="1">
              <a:solidFill>
                <a:srgbClr val="FF0000"/>
              </a:solidFill>
            </a:endParaRPr>
          </a:p>
        </p:txBody>
      </p:sp>
      <p:sp>
        <p:nvSpPr>
          <p:cNvPr id="3" name="文本框 2"/>
          <p:cNvSpPr txBox="1">
            <a:spLocks noChangeArrowheads="1"/>
          </p:cNvSpPr>
          <p:nvPr/>
        </p:nvSpPr>
        <p:spPr bwMode="auto">
          <a:xfrm>
            <a:off x="201295" y="3666490"/>
            <a:ext cx="11790045" cy="1568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ctr"/>
            <a:r>
              <a:rPr lang="zh-CN" altLang="en-US" sz="4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基于大数据方法的</a:t>
            </a:r>
          </a:p>
          <a:p>
            <a:pPr algn="ctr"/>
            <a:r>
              <a:rPr lang="zh-CN" altLang="en-US" sz="4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中文手写数字分类</a:t>
            </a:r>
          </a:p>
        </p:txBody>
      </p:sp>
      <p:sp>
        <p:nvSpPr>
          <p:cNvPr id="9" name="文本框 8"/>
          <p:cNvSpPr txBox="1">
            <a:spLocks noChangeArrowheads="1"/>
          </p:cNvSpPr>
          <p:nvPr/>
        </p:nvSpPr>
        <p:spPr bwMode="auto">
          <a:xfrm>
            <a:off x="838518" y="5388928"/>
            <a:ext cx="10355262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/>
            <a:r>
              <a:rPr lang="zh-CN" altLang="en-US" sz="24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朱海龙， 罗越， 姚语涵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>
            <a:spLocks noChangeArrowheads="1"/>
          </p:cNvSpPr>
          <p:nvPr/>
        </p:nvSpPr>
        <p:spPr bwMode="auto">
          <a:xfrm>
            <a:off x="4292600" y="371475"/>
            <a:ext cx="3606800" cy="547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/>
            <a:r>
              <a:rPr lang="en-US" altLang="zh-CN" sz="2800" b="1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CONTENTS</a:t>
            </a:r>
          </a:p>
        </p:txBody>
      </p:sp>
      <p:grpSp>
        <p:nvGrpSpPr>
          <p:cNvPr id="5" name="组合 4"/>
          <p:cNvGrpSpPr/>
          <p:nvPr/>
        </p:nvGrpSpPr>
        <p:grpSpPr bwMode="auto">
          <a:xfrm>
            <a:off x="3675063" y="936625"/>
            <a:ext cx="4841875" cy="266700"/>
            <a:chOff x="3674825" y="4038512"/>
            <a:chExt cx="4842351" cy="267784"/>
          </a:xfrm>
        </p:grpSpPr>
        <p:sp>
          <p:nvSpPr>
            <p:cNvPr id="21" name="任意多边形 20"/>
            <p:cNvSpPr/>
            <p:nvPr/>
          </p:nvSpPr>
          <p:spPr>
            <a:xfrm>
              <a:off x="6026143" y="4038512"/>
              <a:ext cx="139714" cy="267784"/>
            </a:xfrm>
            <a:custGeom>
              <a:avLst/>
              <a:gdLst>
                <a:gd name="connsiteX0" fmla="*/ 69402 w 138804"/>
                <a:gd name="connsiteY0" fmla="*/ 0 h 267784"/>
                <a:gd name="connsiteX1" fmla="*/ 138804 w 138804"/>
                <a:gd name="connsiteY1" fmla="*/ 78286 h 267784"/>
                <a:gd name="connsiteX2" fmla="*/ 69402 w 138804"/>
                <a:gd name="connsiteY2" fmla="*/ 267784 h 267784"/>
                <a:gd name="connsiteX3" fmla="*/ 0 w 138804"/>
                <a:gd name="connsiteY3" fmla="*/ 78286 h 2677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8804" h="267784">
                  <a:moveTo>
                    <a:pt x="69402" y="0"/>
                  </a:moveTo>
                  <a:lnTo>
                    <a:pt x="138804" y="78286"/>
                  </a:lnTo>
                  <a:lnTo>
                    <a:pt x="69402" y="267784"/>
                  </a:lnTo>
                  <a:lnTo>
                    <a:pt x="0" y="78286"/>
                  </a:lnTo>
                  <a:close/>
                </a:path>
              </a:pathLst>
            </a:cu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/>
              <a:endParaRPr lang="zh-CN" altLang="en-US" noProof="1">
                <a:cs typeface="+mn-ea"/>
                <a:sym typeface="+mn-lt"/>
              </a:endParaRPr>
            </a:p>
          </p:txBody>
        </p:sp>
        <p:grpSp>
          <p:nvGrpSpPr>
            <p:cNvPr id="4100" name="组合 22"/>
            <p:cNvGrpSpPr/>
            <p:nvPr/>
          </p:nvGrpSpPr>
          <p:grpSpPr bwMode="auto">
            <a:xfrm flipV="1">
              <a:off x="3674825" y="4074839"/>
              <a:ext cx="4842351" cy="45719"/>
              <a:chOff x="3394710" y="4250530"/>
              <a:chExt cx="5392103" cy="0"/>
            </a:xfrm>
          </p:grpSpPr>
          <p:cxnSp>
            <p:nvCxnSpPr>
              <p:cNvPr id="19" name="直接连接符 18"/>
              <p:cNvCxnSpPr/>
              <p:nvPr/>
            </p:nvCxnSpPr>
            <p:spPr>
              <a:xfrm>
                <a:off x="6267551" y="4295731"/>
                <a:ext cx="2519262" cy="0"/>
              </a:xfrm>
              <a:prstGeom prst="line">
                <a:avLst/>
              </a:prstGeom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直接连接符 21"/>
              <p:cNvCxnSpPr/>
              <p:nvPr/>
            </p:nvCxnSpPr>
            <p:spPr>
              <a:xfrm>
                <a:off x="3394710" y="4295731"/>
                <a:ext cx="2519261" cy="0"/>
              </a:xfrm>
              <a:prstGeom prst="line">
                <a:avLst/>
              </a:prstGeom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4" name="组合 13"/>
          <p:cNvGrpSpPr/>
          <p:nvPr/>
        </p:nvGrpSpPr>
        <p:grpSpPr>
          <a:xfrm>
            <a:off x="922020" y="1831340"/>
            <a:ext cx="10380980" cy="3952240"/>
            <a:chOff x="1452" y="2884"/>
            <a:chExt cx="16348" cy="6224"/>
          </a:xfrm>
          <a:blipFill rotWithShape="1">
            <a:blip r:embed="rId2"/>
            <a:stretch>
              <a:fillRect/>
            </a:stretch>
          </a:blipFill>
        </p:grpSpPr>
        <p:sp>
          <p:nvSpPr>
            <p:cNvPr id="10" name="矩形 9"/>
            <p:cNvSpPr/>
            <p:nvPr/>
          </p:nvSpPr>
          <p:spPr>
            <a:xfrm>
              <a:off x="1452" y="2884"/>
              <a:ext cx="3903" cy="6224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/>
              <a:endParaRPr lang="zh-CN" altLang="en-US" noProof="1"/>
            </a:p>
          </p:txBody>
        </p:sp>
        <p:sp>
          <p:nvSpPr>
            <p:cNvPr id="11" name="矩形 10"/>
            <p:cNvSpPr/>
            <p:nvPr/>
          </p:nvSpPr>
          <p:spPr>
            <a:xfrm>
              <a:off x="5598" y="2884"/>
              <a:ext cx="3903" cy="6224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/>
              <a:endParaRPr lang="zh-CN" altLang="en-US" noProof="1"/>
            </a:p>
          </p:txBody>
        </p:sp>
        <p:sp>
          <p:nvSpPr>
            <p:cNvPr id="12" name="矩形 11"/>
            <p:cNvSpPr/>
            <p:nvPr/>
          </p:nvSpPr>
          <p:spPr>
            <a:xfrm>
              <a:off x="9743" y="2884"/>
              <a:ext cx="3903" cy="6224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/>
              <a:endParaRPr lang="zh-CN" altLang="en-US" noProof="1"/>
            </a:p>
          </p:txBody>
        </p:sp>
        <p:sp>
          <p:nvSpPr>
            <p:cNvPr id="13" name="矩形 12"/>
            <p:cNvSpPr/>
            <p:nvPr/>
          </p:nvSpPr>
          <p:spPr>
            <a:xfrm>
              <a:off x="13898" y="2884"/>
              <a:ext cx="3903" cy="6224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/>
              <a:endParaRPr lang="zh-CN" altLang="en-US" noProof="1"/>
            </a:p>
          </p:txBody>
        </p:sp>
      </p:grpSp>
      <p:sp>
        <p:nvSpPr>
          <p:cNvPr id="15" name="矩形 14"/>
          <p:cNvSpPr/>
          <p:nvPr/>
        </p:nvSpPr>
        <p:spPr>
          <a:xfrm>
            <a:off x="943432" y="1831022"/>
            <a:ext cx="2478087" cy="3951288"/>
          </a:xfrm>
          <a:prstGeom prst="rect">
            <a:avLst/>
          </a:prstGeom>
          <a:solidFill>
            <a:srgbClr val="0070C0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/>
            <a:endParaRPr lang="zh-CN" altLang="en-US" noProof="1"/>
          </a:p>
        </p:txBody>
      </p:sp>
      <p:sp>
        <p:nvSpPr>
          <p:cNvPr id="16" name="矩形 15"/>
          <p:cNvSpPr/>
          <p:nvPr/>
        </p:nvSpPr>
        <p:spPr>
          <a:xfrm>
            <a:off x="3567113" y="1831975"/>
            <a:ext cx="2478087" cy="3951288"/>
          </a:xfrm>
          <a:prstGeom prst="rect">
            <a:avLst/>
          </a:prstGeom>
          <a:solidFill>
            <a:srgbClr val="0070C0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/>
            <a:endParaRPr lang="zh-CN" altLang="en-US" noProof="1"/>
          </a:p>
        </p:txBody>
      </p:sp>
      <p:sp>
        <p:nvSpPr>
          <p:cNvPr id="17" name="矩形 16"/>
          <p:cNvSpPr/>
          <p:nvPr/>
        </p:nvSpPr>
        <p:spPr>
          <a:xfrm>
            <a:off x="6186488" y="1831975"/>
            <a:ext cx="2478087" cy="3951288"/>
          </a:xfrm>
          <a:prstGeom prst="rect">
            <a:avLst/>
          </a:prstGeom>
          <a:solidFill>
            <a:srgbClr val="0070C0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/>
            <a:endParaRPr lang="zh-CN" altLang="en-US" noProof="1"/>
          </a:p>
        </p:txBody>
      </p:sp>
      <p:sp>
        <p:nvSpPr>
          <p:cNvPr id="18" name="矩形 17"/>
          <p:cNvSpPr/>
          <p:nvPr/>
        </p:nvSpPr>
        <p:spPr>
          <a:xfrm>
            <a:off x="8824913" y="1831975"/>
            <a:ext cx="2478087" cy="3951288"/>
          </a:xfrm>
          <a:prstGeom prst="rect">
            <a:avLst/>
          </a:prstGeom>
          <a:solidFill>
            <a:srgbClr val="0070C0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/>
            <a:endParaRPr lang="zh-CN" altLang="en-US" noProof="1"/>
          </a:p>
        </p:txBody>
      </p:sp>
      <p:sp>
        <p:nvSpPr>
          <p:cNvPr id="24" name="文本框 23"/>
          <p:cNvSpPr txBox="1">
            <a:spLocks noChangeArrowheads="1"/>
          </p:cNvSpPr>
          <p:nvPr/>
        </p:nvSpPr>
        <p:spPr bwMode="auto">
          <a:xfrm>
            <a:off x="2663825" y="1831340"/>
            <a:ext cx="736600" cy="15913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eaVert" wrap="square">
            <a:spAutoFit/>
          </a:bodyPr>
          <a:lstStyle/>
          <a:p>
            <a:pPr algn="ctr"/>
            <a:r>
              <a:rPr lang="en-US" altLang="zh-CN" sz="3600" b="1" dirty="0">
                <a:solidFill>
                  <a:schemeClr val="bg1"/>
                </a:solidFill>
                <a:latin typeface="方正姚体" panose="02010601030101010101" charset="-122"/>
                <a:ea typeface="方正姚体" panose="02010601030101010101" charset="-122"/>
              </a:rPr>
              <a:t>Part.01</a:t>
            </a:r>
          </a:p>
        </p:txBody>
      </p:sp>
      <p:sp>
        <p:nvSpPr>
          <p:cNvPr id="25" name="文本框 24"/>
          <p:cNvSpPr txBox="1">
            <a:spLocks noChangeArrowheads="1"/>
          </p:cNvSpPr>
          <p:nvPr/>
        </p:nvSpPr>
        <p:spPr bwMode="auto">
          <a:xfrm>
            <a:off x="1698585" y="1831340"/>
            <a:ext cx="923330" cy="3950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eaVert" wrap="square">
            <a:spAutoFit/>
          </a:bodyPr>
          <a:lstStyle/>
          <a:p>
            <a:pPr algn="ctr"/>
            <a:r>
              <a:rPr lang="zh-CN" altLang="en-US" sz="4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可视化</a:t>
            </a:r>
          </a:p>
        </p:txBody>
      </p:sp>
      <p:sp>
        <p:nvSpPr>
          <p:cNvPr id="2" name="文本框 1"/>
          <p:cNvSpPr txBox="1">
            <a:spLocks noChangeArrowheads="1"/>
          </p:cNvSpPr>
          <p:nvPr/>
        </p:nvSpPr>
        <p:spPr bwMode="auto">
          <a:xfrm>
            <a:off x="5296535" y="1832610"/>
            <a:ext cx="736600" cy="15913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eaVert" wrap="square">
            <a:spAutoFit/>
          </a:bodyPr>
          <a:lstStyle/>
          <a:p>
            <a:pPr algn="ctr"/>
            <a:r>
              <a:rPr lang="en-US" altLang="zh-CN" sz="3600" b="1" dirty="0">
                <a:solidFill>
                  <a:schemeClr val="bg1"/>
                </a:solidFill>
                <a:latin typeface="方正姚体" panose="02010601030101010101" charset="-122"/>
                <a:ea typeface="方正姚体" panose="02010601030101010101" charset="-122"/>
              </a:rPr>
              <a:t>Part.02</a:t>
            </a:r>
          </a:p>
        </p:txBody>
      </p:sp>
      <p:sp>
        <p:nvSpPr>
          <p:cNvPr id="3" name="文本框 2"/>
          <p:cNvSpPr txBox="1">
            <a:spLocks noChangeArrowheads="1"/>
          </p:cNvSpPr>
          <p:nvPr/>
        </p:nvSpPr>
        <p:spPr bwMode="auto">
          <a:xfrm>
            <a:off x="4331295" y="1832610"/>
            <a:ext cx="923330" cy="3950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eaVert" wrap="square">
            <a:spAutoFit/>
          </a:bodyPr>
          <a:lstStyle/>
          <a:p>
            <a:pPr algn="ctr"/>
            <a:r>
              <a:rPr lang="zh-CN" altLang="en-US" sz="4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训练</a:t>
            </a:r>
          </a:p>
        </p:txBody>
      </p:sp>
      <p:sp>
        <p:nvSpPr>
          <p:cNvPr id="7" name="文本框 6"/>
          <p:cNvSpPr txBox="1">
            <a:spLocks noChangeArrowheads="1"/>
          </p:cNvSpPr>
          <p:nvPr/>
        </p:nvSpPr>
        <p:spPr bwMode="auto">
          <a:xfrm>
            <a:off x="7941310" y="1831340"/>
            <a:ext cx="736600" cy="15913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eaVert" wrap="square">
            <a:spAutoFit/>
          </a:bodyPr>
          <a:lstStyle/>
          <a:p>
            <a:pPr algn="ctr"/>
            <a:r>
              <a:rPr lang="en-US" altLang="zh-CN" sz="3600" b="1" dirty="0">
                <a:solidFill>
                  <a:schemeClr val="bg1"/>
                </a:solidFill>
                <a:latin typeface="方正姚体" panose="02010601030101010101" charset="-122"/>
                <a:ea typeface="方正姚体" panose="02010601030101010101" charset="-122"/>
              </a:rPr>
              <a:t>Part.03</a:t>
            </a:r>
          </a:p>
        </p:txBody>
      </p:sp>
      <p:sp>
        <p:nvSpPr>
          <p:cNvPr id="8" name="文本框 7"/>
          <p:cNvSpPr txBox="1">
            <a:spLocks noChangeArrowheads="1"/>
          </p:cNvSpPr>
          <p:nvPr/>
        </p:nvSpPr>
        <p:spPr bwMode="auto">
          <a:xfrm>
            <a:off x="6976070" y="1831340"/>
            <a:ext cx="923330" cy="3950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eaVert" wrap="square">
            <a:spAutoFit/>
          </a:bodyPr>
          <a:lstStyle/>
          <a:p>
            <a:pPr algn="ctr"/>
            <a:r>
              <a:rPr lang="zh-CN" altLang="en-US" sz="4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应用</a:t>
            </a:r>
          </a:p>
        </p:txBody>
      </p:sp>
      <p:sp>
        <p:nvSpPr>
          <p:cNvPr id="9" name="文本框 8"/>
          <p:cNvSpPr txBox="1">
            <a:spLocks noChangeArrowheads="1"/>
          </p:cNvSpPr>
          <p:nvPr/>
        </p:nvSpPr>
        <p:spPr bwMode="auto">
          <a:xfrm>
            <a:off x="10567035" y="1832610"/>
            <a:ext cx="736600" cy="15913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eaVert" wrap="square">
            <a:spAutoFit/>
          </a:bodyPr>
          <a:lstStyle/>
          <a:p>
            <a:pPr algn="ctr"/>
            <a:r>
              <a:rPr lang="en-US" altLang="zh-CN" sz="3600" b="1">
                <a:solidFill>
                  <a:schemeClr val="bg1"/>
                </a:solidFill>
                <a:latin typeface="方正姚体" panose="02010601030101010101" charset="-122"/>
                <a:ea typeface="方正姚体" panose="02010601030101010101" charset="-122"/>
              </a:rPr>
              <a:t>Part.04</a:t>
            </a:r>
          </a:p>
        </p:txBody>
      </p:sp>
      <p:sp>
        <p:nvSpPr>
          <p:cNvPr id="20" name="文本框 19"/>
          <p:cNvSpPr txBox="1">
            <a:spLocks noChangeArrowheads="1"/>
          </p:cNvSpPr>
          <p:nvPr/>
        </p:nvSpPr>
        <p:spPr bwMode="auto">
          <a:xfrm>
            <a:off x="9601795" y="1832610"/>
            <a:ext cx="923330" cy="3950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eaVert" wrap="square">
            <a:spAutoFit/>
          </a:bodyPr>
          <a:lstStyle/>
          <a:p>
            <a:pPr algn="ctr"/>
            <a:r>
              <a:rPr lang="zh-CN" altLang="en-US" sz="4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心得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/>
          <p:cNvPicPr>
            <a:picLocks noChangeAspect="1"/>
          </p:cNvPicPr>
          <p:nvPr/>
        </p:nvPicPr>
        <p:blipFill>
          <a:blip r:embed="rId2">
            <a:lum bright="-18000" contrast="-18000"/>
          </a:blip>
          <a:stretch>
            <a:fillRect/>
          </a:stretch>
        </p:blipFill>
        <p:spPr>
          <a:xfrm>
            <a:off x="-6985" y="1155065"/>
            <a:ext cx="12198985" cy="4566920"/>
          </a:xfrm>
          <a:prstGeom prst="rect">
            <a:avLst/>
          </a:prstGeom>
        </p:spPr>
      </p:pic>
      <p:sp>
        <p:nvSpPr>
          <p:cNvPr id="18" name="矩形 17"/>
          <p:cNvSpPr/>
          <p:nvPr/>
        </p:nvSpPr>
        <p:spPr>
          <a:xfrm>
            <a:off x="8851900" y="1136650"/>
            <a:ext cx="2479675" cy="4584700"/>
          </a:xfrm>
          <a:prstGeom prst="rect">
            <a:avLst/>
          </a:prstGeom>
          <a:solidFill>
            <a:srgbClr val="0070C0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/>
            <a:endParaRPr lang="zh-CN" altLang="en-US" noProof="1"/>
          </a:p>
        </p:txBody>
      </p:sp>
      <p:sp>
        <p:nvSpPr>
          <p:cNvPr id="6" name="文本框 5"/>
          <p:cNvSpPr txBox="1">
            <a:spLocks noChangeArrowheads="1"/>
          </p:cNvSpPr>
          <p:nvPr/>
        </p:nvSpPr>
        <p:spPr bwMode="auto">
          <a:xfrm>
            <a:off x="8905875" y="1818640"/>
            <a:ext cx="1776413" cy="547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Part.01</a:t>
            </a:r>
          </a:p>
        </p:txBody>
      </p:sp>
      <p:cxnSp>
        <p:nvCxnSpPr>
          <p:cNvPr id="7" name="直接连接符 6"/>
          <p:cNvCxnSpPr/>
          <p:nvPr/>
        </p:nvCxnSpPr>
        <p:spPr>
          <a:xfrm>
            <a:off x="9029700" y="2383790"/>
            <a:ext cx="1225550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框 7"/>
          <p:cNvSpPr txBox="1">
            <a:spLocks noChangeArrowheads="1"/>
          </p:cNvSpPr>
          <p:nvPr/>
        </p:nvSpPr>
        <p:spPr bwMode="auto">
          <a:xfrm>
            <a:off x="8927783" y="3137853"/>
            <a:ext cx="2327275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/>
            <a:r>
              <a:rPr lang="zh-CN" altLang="en-US" sz="4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可视化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>
            <a:spLocks noChangeArrowheads="1"/>
          </p:cNvSpPr>
          <p:nvPr/>
        </p:nvSpPr>
        <p:spPr bwMode="auto">
          <a:xfrm>
            <a:off x="4551355" y="285750"/>
            <a:ext cx="3087705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zh-CN" altLang="en-US" sz="28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可视化</a:t>
            </a:r>
            <a:r>
              <a:rPr lang="en-US" altLang="zh-CN" sz="28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-TSNE</a:t>
            </a:r>
            <a:r>
              <a:rPr lang="zh-CN" altLang="en-US" sz="28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降维</a:t>
            </a:r>
          </a:p>
        </p:txBody>
      </p:sp>
      <p:grpSp>
        <p:nvGrpSpPr>
          <p:cNvPr id="5" name="组合 4"/>
          <p:cNvGrpSpPr/>
          <p:nvPr/>
        </p:nvGrpSpPr>
        <p:grpSpPr bwMode="auto">
          <a:xfrm>
            <a:off x="3759200" y="1068388"/>
            <a:ext cx="4673600" cy="231775"/>
            <a:chOff x="3399949" y="4067540"/>
            <a:chExt cx="5392103" cy="267784"/>
          </a:xfrm>
        </p:grpSpPr>
        <p:sp>
          <p:nvSpPr>
            <p:cNvPr id="35" name="任意多边形 34"/>
            <p:cNvSpPr/>
            <p:nvPr/>
          </p:nvSpPr>
          <p:spPr>
            <a:xfrm>
              <a:off x="6026401" y="4067540"/>
              <a:ext cx="139198" cy="267784"/>
            </a:xfrm>
            <a:custGeom>
              <a:avLst/>
              <a:gdLst>
                <a:gd name="connsiteX0" fmla="*/ 69402 w 138804"/>
                <a:gd name="connsiteY0" fmla="*/ 0 h 267784"/>
                <a:gd name="connsiteX1" fmla="*/ 138804 w 138804"/>
                <a:gd name="connsiteY1" fmla="*/ 78286 h 267784"/>
                <a:gd name="connsiteX2" fmla="*/ 69402 w 138804"/>
                <a:gd name="connsiteY2" fmla="*/ 267784 h 267784"/>
                <a:gd name="connsiteX3" fmla="*/ 0 w 138804"/>
                <a:gd name="connsiteY3" fmla="*/ 78286 h 2677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8804" h="267784">
                  <a:moveTo>
                    <a:pt x="69402" y="0"/>
                  </a:moveTo>
                  <a:lnTo>
                    <a:pt x="138804" y="78286"/>
                  </a:lnTo>
                  <a:lnTo>
                    <a:pt x="69402" y="267784"/>
                  </a:lnTo>
                  <a:lnTo>
                    <a:pt x="0" y="78286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/>
              <a:endParaRPr lang="zh-CN" altLang="en-US" noProof="1">
                <a:cs typeface="+mn-ea"/>
                <a:sym typeface="+mn-lt"/>
              </a:endParaRPr>
            </a:p>
          </p:txBody>
        </p:sp>
        <p:grpSp>
          <p:nvGrpSpPr>
            <p:cNvPr id="8220" name="组合 35"/>
            <p:cNvGrpSpPr/>
            <p:nvPr/>
          </p:nvGrpSpPr>
          <p:grpSpPr bwMode="auto">
            <a:xfrm>
              <a:off x="3399949" y="4149586"/>
              <a:ext cx="5392103" cy="0"/>
              <a:chOff x="3394710" y="4250530"/>
              <a:chExt cx="5392103" cy="0"/>
            </a:xfrm>
          </p:grpSpPr>
          <p:cxnSp>
            <p:nvCxnSpPr>
              <p:cNvPr id="37" name="直接连接符 36"/>
              <p:cNvCxnSpPr/>
              <p:nvPr/>
            </p:nvCxnSpPr>
            <p:spPr>
              <a:xfrm>
                <a:off x="6266591" y="4250954"/>
                <a:ext cx="2520222" cy="0"/>
              </a:xfrm>
              <a:prstGeom prst="line">
                <a:avLst/>
              </a:prstGeom>
              <a:ln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直接连接符 37"/>
              <p:cNvCxnSpPr/>
              <p:nvPr/>
            </p:nvCxnSpPr>
            <p:spPr>
              <a:xfrm>
                <a:off x="3394710" y="4250954"/>
                <a:ext cx="2520222" cy="0"/>
              </a:xfrm>
              <a:prstGeom prst="line">
                <a:avLst/>
              </a:prstGeom>
              <a:ln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pic>
        <p:nvPicPr>
          <p:cNvPr id="3" name="图片 2">
            <a:extLst>
              <a:ext uri="{FF2B5EF4-FFF2-40B4-BE49-F238E27FC236}">
                <a16:creationId xmlns:a16="http://schemas.microsoft.com/office/drawing/2014/main" id="{30EA495B-78FD-4EC8-BE17-A66E0B0C43F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61956" y="1900566"/>
            <a:ext cx="4899824" cy="3644244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6B27F026-3DC9-41EF-9E84-814F9DC73CB0}"/>
              </a:ext>
            </a:extLst>
          </p:cNvPr>
          <p:cNvSpPr txBox="1"/>
          <p:nvPr/>
        </p:nvSpPr>
        <p:spPr>
          <a:xfrm>
            <a:off x="7435456" y="5718175"/>
            <a:ext cx="35528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提取</a:t>
            </a:r>
            <a:r>
              <a:rPr lang="en-US" altLang="zh-CN" dirty="0"/>
              <a:t>hog</a:t>
            </a:r>
            <a:r>
              <a:rPr lang="zh-CN" altLang="en-US" dirty="0"/>
              <a:t>特征后的中文手写数据集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4EA569F2-9CBC-4A6E-B7E0-05EAE0425B6B}"/>
              </a:ext>
            </a:extLst>
          </p:cNvPr>
          <p:cNvSpPr txBox="1"/>
          <p:nvPr/>
        </p:nvSpPr>
        <p:spPr>
          <a:xfrm>
            <a:off x="1695450" y="5712858"/>
            <a:ext cx="32420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原始的中文手写数据集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32472970-C28B-46DD-AA5D-48387C692881}"/>
              </a:ext>
            </a:extLst>
          </p:cNvPr>
          <p:cNvSpPr txBox="1"/>
          <p:nvPr/>
        </p:nvSpPr>
        <p:spPr>
          <a:xfrm>
            <a:off x="2267744" y="1559581"/>
            <a:ext cx="76549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对原始数据集和提取了</a:t>
            </a:r>
            <a:r>
              <a:rPr lang="en-US" altLang="zh-CN" dirty="0"/>
              <a:t>hog</a:t>
            </a:r>
            <a:r>
              <a:rPr lang="zh-CN" altLang="en-US" dirty="0"/>
              <a:t>特征的数据集进行</a:t>
            </a:r>
            <a:r>
              <a:rPr lang="en-US" altLang="zh-CN" dirty="0"/>
              <a:t>TSNE</a:t>
            </a:r>
            <a:r>
              <a:rPr lang="zh-CN" altLang="en-US" dirty="0"/>
              <a:t>降维，从</a:t>
            </a:r>
            <a:r>
              <a:rPr lang="en-US" altLang="zh-CN" dirty="0"/>
              <a:t>4096</a:t>
            </a:r>
            <a:r>
              <a:rPr lang="zh-CN" altLang="en-US" dirty="0"/>
              <a:t>维降到</a:t>
            </a:r>
            <a:r>
              <a:rPr lang="en-US" altLang="zh-CN" dirty="0"/>
              <a:t>2</a:t>
            </a:r>
            <a:r>
              <a:rPr lang="zh-CN" altLang="en-US" dirty="0"/>
              <a:t>维</a:t>
            </a: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17014600-B867-48F0-868D-6EDA170031B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8633" y="1900566"/>
            <a:ext cx="5055976" cy="379198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/>
          <p:cNvPicPr>
            <a:picLocks noChangeAspect="1"/>
          </p:cNvPicPr>
          <p:nvPr/>
        </p:nvPicPr>
        <p:blipFill>
          <a:blip r:embed="rId2">
            <a:lum bright="-18000" contrast="-18000"/>
          </a:blip>
          <a:stretch>
            <a:fillRect/>
          </a:stretch>
        </p:blipFill>
        <p:spPr>
          <a:xfrm>
            <a:off x="-14605" y="1154430"/>
            <a:ext cx="12198985" cy="4566920"/>
          </a:xfrm>
          <a:prstGeom prst="rect">
            <a:avLst/>
          </a:prstGeom>
        </p:spPr>
      </p:pic>
      <p:sp>
        <p:nvSpPr>
          <p:cNvPr id="18" name="矩形 17"/>
          <p:cNvSpPr/>
          <p:nvPr/>
        </p:nvSpPr>
        <p:spPr>
          <a:xfrm>
            <a:off x="8851900" y="1136650"/>
            <a:ext cx="2479675" cy="4584700"/>
          </a:xfrm>
          <a:prstGeom prst="rect">
            <a:avLst/>
          </a:prstGeom>
          <a:solidFill>
            <a:srgbClr val="0070C0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/>
            <a:endParaRPr lang="zh-CN" altLang="en-US" noProof="1"/>
          </a:p>
        </p:txBody>
      </p:sp>
      <p:sp>
        <p:nvSpPr>
          <p:cNvPr id="6" name="文本框 5"/>
          <p:cNvSpPr txBox="1">
            <a:spLocks noChangeArrowheads="1"/>
          </p:cNvSpPr>
          <p:nvPr/>
        </p:nvSpPr>
        <p:spPr bwMode="auto">
          <a:xfrm>
            <a:off x="8905875" y="1818640"/>
            <a:ext cx="1776413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altLang="zh-CN" sz="28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Part.02</a:t>
            </a:r>
          </a:p>
        </p:txBody>
      </p:sp>
      <p:cxnSp>
        <p:nvCxnSpPr>
          <p:cNvPr id="7" name="直接连接符 6"/>
          <p:cNvCxnSpPr/>
          <p:nvPr/>
        </p:nvCxnSpPr>
        <p:spPr>
          <a:xfrm>
            <a:off x="9029700" y="2383790"/>
            <a:ext cx="1225550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框 7"/>
          <p:cNvSpPr txBox="1">
            <a:spLocks noChangeArrowheads="1"/>
          </p:cNvSpPr>
          <p:nvPr/>
        </p:nvSpPr>
        <p:spPr bwMode="auto">
          <a:xfrm>
            <a:off x="8927783" y="3137853"/>
            <a:ext cx="2327275" cy="8299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/>
            <a:r>
              <a:rPr lang="zh-CN" altLang="en-US" sz="4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训练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文本框 23"/>
          <p:cNvSpPr txBox="1">
            <a:spLocks noChangeArrowheads="1"/>
          </p:cNvSpPr>
          <p:nvPr/>
        </p:nvSpPr>
        <p:spPr bwMode="auto">
          <a:xfrm>
            <a:off x="4736503" y="285750"/>
            <a:ext cx="2717412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zh-CN" altLang="en-US" sz="28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训练</a:t>
            </a:r>
            <a:r>
              <a:rPr lang="en-US" altLang="zh-CN" sz="28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1-</a:t>
            </a:r>
            <a:r>
              <a:rPr lang="zh-CN" altLang="en-US" sz="28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深度模型</a:t>
            </a:r>
          </a:p>
        </p:txBody>
      </p:sp>
      <p:grpSp>
        <p:nvGrpSpPr>
          <p:cNvPr id="25" name="组合 24"/>
          <p:cNvGrpSpPr/>
          <p:nvPr/>
        </p:nvGrpSpPr>
        <p:grpSpPr bwMode="auto">
          <a:xfrm>
            <a:off x="3733800" y="969963"/>
            <a:ext cx="4673600" cy="231775"/>
            <a:chOff x="3399949" y="4067540"/>
            <a:chExt cx="5392103" cy="267784"/>
          </a:xfrm>
        </p:grpSpPr>
        <p:sp>
          <p:nvSpPr>
            <p:cNvPr id="37" name="任意多边形 36"/>
            <p:cNvSpPr/>
            <p:nvPr/>
          </p:nvSpPr>
          <p:spPr>
            <a:xfrm>
              <a:off x="6026401" y="4067540"/>
              <a:ext cx="139198" cy="267784"/>
            </a:xfrm>
            <a:custGeom>
              <a:avLst/>
              <a:gdLst>
                <a:gd name="connsiteX0" fmla="*/ 69402 w 138804"/>
                <a:gd name="connsiteY0" fmla="*/ 0 h 267784"/>
                <a:gd name="connsiteX1" fmla="*/ 138804 w 138804"/>
                <a:gd name="connsiteY1" fmla="*/ 78286 h 267784"/>
                <a:gd name="connsiteX2" fmla="*/ 69402 w 138804"/>
                <a:gd name="connsiteY2" fmla="*/ 267784 h 267784"/>
                <a:gd name="connsiteX3" fmla="*/ 0 w 138804"/>
                <a:gd name="connsiteY3" fmla="*/ 78286 h 2677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8804" h="267784">
                  <a:moveTo>
                    <a:pt x="69402" y="0"/>
                  </a:moveTo>
                  <a:lnTo>
                    <a:pt x="138804" y="78286"/>
                  </a:lnTo>
                  <a:lnTo>
                    <a:pt x="69402" y="267784"/>
                  </a:lnTo>
                  <a:lnTo>
                    <a:pt x="0" y="78286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/>
              <a:endParaRPr lang="zh-CN" altLang="en-US" noProof="1">
                <a:cs typeface="+mn-ea"/>
                <a:sym typeface="+mn-lt"/>
              </a:endParaRPr>
            </a:p>
          </p:txBody>
        </p:sp>
        <p:grpSp>
          <p:nvGrpSpPr>
            <p:cNvPr id="22532" name="组合 37"/>
            <p:cNvGrpSpPr/>
            <p:nvPr/>
          </p:nvGrpSpPr>
          <p:grpSpPr bwMode="auto">
            <a:xfrm>
              <a:off x="3399949" y="4149586"/>
              <a:ext cx="5392103" cy="0"/>
              <a:chOff x="3394710" y="4250530"/>
              <a:chExt cx="5392103" cy="0"/>
            </a:xfrm>
          </p:grpSpPr>
          <p:cxnSp>
            <p:nvCxnSpPr>
              <p:cNvPr id="39" name="直接连接符 38"/>
              <p:cNvCxnSpPr/>
              <p:nvPr/>
            </p:nvCxnSpPr>
            <p:spPr>
              <a:xfrm>
                <a:off x="6266591" y="4250954"/>
                <a:ext cx="2520222" cy="0"/>
              </a:xfrm>
              <a:prstGeom prst="line">
                <a:avLst/>
              </a:prstGeom>
              <a:ln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直接连接符 39"/>
              <p:cNvCxnSpPr/>
              <p:nvPr/>
            </p:nvCxnSpPr>
            <p:spPr>
              <a:xfrm>
                <a:off x="3394710" y="4250954"/>
                <a:ext cx="2520222" cy="0"/>
              </a:xfrm>
              <a:prstGeom prst="line">
                <a:avLst/>
              </a:prstGeom>
              <a:ln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pic>
        <p:nvPicPr>
          <p:cNvPr id="2" name="图片 1">
            <a:extLst>
              <a:ext uri="{FF2B5EF4-FFF2-40B4-BE49-F238E27FC236}">
                <a16:creationId xmlns:a16="http://schemas.microsoft.com/office/drawing/2014/main" id="{83587185-BD9B-43FF-81BD-DBCBBE38E3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9010" y="2049642"/>
            <a:ext cx="6665730" cy="3838395"/>
          </a:xfrm>
          <a:prstGeom prst="rect">
            <a:avLst/>
          </a:prstGeom>
        </p:spPr>
      </p:pic>
      <p:sp>
        <p:nvSpPr>
          <p:cNvPr id="4" name="椭圆 3">
            <a:extLst>
              <a:ext uri="{FF2B5EF4-FFF2-40B4-BE49-F238E27FC236}">
                <a16:creationId xmlns:a16="http://schemas.microsoft.com/office/drawing/2014/main" id="{164C0BA4-730C-4E5D-9A7A-083CC5020704}"/>
              </a:ext>
            </a:extLst>
          </p:cNvPr>
          <p:cNvSpPr/>
          <p:nvPr/>
        </p:nvSpPr>
        <p:spPr>
          <a:xfrm>
            <a:off x="7777156" y="1921081"/>
            <a:ext cx="1362075" cy="847720"/>
          </a:xfrm>
          <a:prstGeom prst="ellipse">
            <a:avLst/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err="1"/>
              <a:t>Keras</a:t>
            </a:r>
            <a:endParaRPr lang="zh-CN" altLang="en-US" dirty="0"/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3615EC92-388C-4F24-A208-B7A04CEF10AA}"/>
              </a:ext>
            </a:extLst>
          </p:cNvPr>
          <p:cNvSpPr/>
          <p:nvPr/>
        </p:nvSpPr>
        <p:spPr>
          <a:xfrm>
            <a:off x="7581894" y="3229181"/>
            <a:ext cx="1752603" cy="847720"/>
          </a:xfrm>
          <a:prstGeom prst="ellipse">
            <a:avLst/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err="1"/>
              <a:t>tensorflow</a:t>
            </a:r>
            <a:endParaRPr lang="zh-CN" altLang="en-US" dirty="0"/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8077D999-8AA9-4A01-ABE7-029141995E93}"/>
              </a:ext>
            </a:extLst>
          </p:cNvPr>
          <p:cNvSpPr/>
          <p:nvPr/>
        </p:nvSpPr>
        <p:spPr>
          <a:xfrm>
            <a:off x="7679526" y="4346679"/>
            <a:ext cx="1557337" cy="847720"/>
          </a:xfrm>
          <a:prstGeom prst="ellipse">
            <a:avLst/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err="1"/>
              <a:t>pytorch</a:t>
            </a:r>
            <a:endParaRPr lang="zh-CN" altLang="en-US" dirty="0"/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4BFC318E-304D-4A6D-A87D-9B675C14BE91}"/>
              </a:ext>
            </a:extLst>
          </p:cNvPr>
          <p:cNvSpPr/>
          <p:nvPr/>
        </p:nvSpPr>
        <p:spPr>
          <a:xfrm>
            <a:off x="7777157" y="5465866"/>
            <a:ext cx="1362074" cy="847720"/>
          </a:xfrm>
          <a:prstGeom prst="ellipse">
            <a:avLst/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err="1"/>
              <a:t>MxNet</a:t>
            </a:r>
            <a:endParaRPr lang="zh-CN" altLang="en-US" dirty="0"/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E3291C4B-4CE7-4737-84AD-D1555358ED99}"/>
              </a:ext>
            </a:extLst>
          </p:cNvPr>
          <p:cNvSpPr/>
          <p:nvPr/>
        </p:nvSpPr>
        <p:spPr>
          <a:xfrm>
            <a:off x="10277475" y="1841907"/>
            <a:ext cx="1495425" cy="1006068"/>
          </a:xfrm>
          <a:prstGeom prst="ellipse">
            <a:avLst/>
          </a:prstGeo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err="1"/>
              <a:t>elephas</a:t>
            </a:r>
            <a:endParaRPr lang="zh-CN" altLang="en-US" dirty="0"/>
          </a:p>
        </p:txBody>
      </p:sp>
      <p:sp>
        <p:nvSpPr>
          <p:cNvPr id="15" name="椭圆 14">
            <a:extLst>
              <a:ext uri="{FF2B5EF4-FFF2-40B4-BE49-F238E27FC236}">
                <a16:creationId xmlns:a16="http://schemas.microsoft.com/office/drawing/2014/main" id="{5F1A6B8A-4342-44E7-A860-CC434ED14B1D}"/>
              </a:ext>
            </a:extLst>
          </p:cNvPr>
          <p:cNvSpPr/>
          <p:nvPr/>
        </p:nvSpPr>
        <p:spPr>
          <a:xfrm>
            <a:off x="10006012" y="3967263"/>
            <a:ext cx="2038350" cy="1606551"/>
          </a:xfrm>
          <a:prstGeom prst="ellipse">
            <a:avLst/>
          </a:prstGeo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err="1"/>
              <a:t>Sparkdl</a:t>
            </a:r>
            <a:r>
              <a:rPr lang="en-US" altLang="zh-CN" dirty="0"/>
              <a:t>-</a:t>
            </a:r>
          </a:p>
          <a:p>
            <a:pPr algn="ctr"/>
            <a:r>
              <a:rPr lang="en-US" altLang="zh-CN" dirty="0" err="1"/>
              <a:t>horovod</a:t>
            </a:r>
            <a:endParaRPr lang="zh-CN" altLang="en-US" dirty="0"/>
          </a:p>
        </p:txBody>
      </p:sp>
      <p:cxnSp>
        <p:nvCxnSpPr>
          <p:cNvPr id="7" name="直接箭头连接符 6">
            <a:extLst>
              <a:ext uri="{FF2B5EF4-FFF2-40B4-BE49-F238E27FC236}">
                <a16:creationId xmlns:a16="http://schemas.microsoft.com/office/drawing/2014/main" id="{04F0A249-501F-4CD5-B5DA-94091351E1C8}"/>
              </a:ext>
            </a:extLst>
          </p:cNvPr>
          <p:cNvCxnSpPr>
            <a:stCxn id="11" idx="6"/>
            <a:endCxn id="15" idx="1"/>
          </p:cNvCxnSpPr>
          <p:nvPr/>
        </p:nvCxnSpPr>
        <p:spPr>
          <a:xfrm>
            <a:off x="9334497" y="3653041"/>
            <a:ext cx="970024" cy="54949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直接箭头连接符 8">
            <a:extLst>
              <a:ext uri="{FF2B5EF4-FFF2-40B4-BE49-F238E27FC236}">
                <a16:creationId xmlns:a16="http://schemas.microsoft.com/office/drawing/2014/main" id="{2E5AF295-3DF4-493E-AEAC-3558574A962F}"/>
              </a:ext>
            </a:extLst>
          </p:cNvPr>
          <p:cNvCxnSpPr>
            <a:stCxn id="12" idx="6"/>
            <a:endCxn id="15" idx="2"/>
          </p:cNvCxnSpPr>
          <p:nvPr/>
        </p:nvCxnSpPr>
        <p:spPr>
          <a:xfrm>
            <a:off x="9236863" y="4770539"/>
            <a:ext cx="76914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直接箭头连接符 16">
            <a:extLst>
              <a:ext uri="{FF2B5EF4-FFF2-40B4-BE49-F238E27FC236}">
                <a16:creationId xmlns:a16="http://schemas.microsoft.com/office/drawing/2014/main" id="{924522CF-907F-4F59-AA29-7D2E09BC71AA}"/>
              </a:ext>
            </a:extLst>
          </p:cNvPr>
          <p:cNvCxnSpPr>
            <a:stCxn id="13" idx="6"/>
            <a:endCxn id="15" idx="3"/>
          </p:cNvCxnSpPr>
          <p:nvPr/>
        </p:nvCxnSpPr>
        <p:spPr>
          <a:xfrm flipV="1">
            <a:off x="9139231" y="5338540"/>
            <a:ext cx="1165290" cy="55118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直接箭头连接符 18">
            <a:extLst>
              <a:ext uri="{FF2B5EF4-FFF2-40B4-BE49-F238E27FC236}">
                <a16:creationId xmlns:a16="http://schemas.microsoft.com/office/drawing/2014/main" id="{60024EB3-BEE0-4962-90AD-04218A47A4AE}"/>
              </a:ext>
            </a:extLst>
          </p:cNvPr>
          <p:cNvCxnSpPr>
            <a:stCxn id="4" idx="6"/>
            <a:endCxn id="5" idx="2"/>
          </p:cNvCxnSpPr>
          <p:nvPr/>
        </p:nvCxnSpPr>
        <p:spPr>
          <a:xfrm>
            <a:off x="9139231" y="2344941"/>
            <a:ext cx="113824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1" name="文本框 20">
            <a:extLst>
              <a:ext uri="{FF2B5EF4-FFF2-40B4-BE49-F238E27FC236}">
                <a16:creationId xmlns:a16="http://schemas.microsoft.com/office/drawing/2014/main" id="{FEF1C5EF-9E7B-4740-AA82-4F515DD047F7}"/>
              </a:ext>
            </a:extLst>
          </p:cNvPr>
          <p:cNvSpPr txBox="1"/>
          <p:nvPr/>
        </p:nvSpPr>
        <p:spPr>
          <a:xfrm>
            <a:off x="7679522" y="1407608"/>
            <a:ext cx="15573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常规深度框架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0E696B5-DD96-43C9-B823-64FDFBAFEA7E}"/>
              </a:ext>
            </a:extLst>
          </p:cNvPr>
          <p:cNvSpPr txBox="1"/>
          <p:nvPr/>
        </p:nvSpPr>
        <p:spPr>
          <a:xfrm>
            <a:off x="10304521" y="1373241"/>
            <a:ext cx="15573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分布式版本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文本框 23"/>
          <p:cNvSpPr txBox="1">
            <a:spLocks noChangeArrowheads="1"/>
          </p:cNvSpPr>
          <p:nvPr/>
        </p:nvSpPr>
        <p:spPr bwMode="auto">
          <a:xfrm>
            <a:off x="4736503" y="285750"/>
            <a:ext cx="2717412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zh-CN" altLang="en-US" sz="28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训练</a:t>
            </a:r>
            <a:r>
              <a:rPr lang="en-US" altLang="zh-CN" sz="28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1-</a:t>
            </a:r>
            <a:r>
              <a:rPr lang="zh-CN" altLang="en-US" sz="28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深度模型</a:t>
            </a:r>
          </a:p>
        </p:txBody>
      </p:sp>
      <p:grpSp>
        <p:nvGrpSpPr>
          <p:cNvPr id="25" name="组合 24"/>
          <p:cNvGrpSpPr/>
          <p:nvPr/>
        </p:nvGrpSpPr>
        <p:grpSpPr bwMode="auto">
          <a:xfrm>
            <a:off x="3733800" y="969963"/>
            <a:ext cx="4673600" cy="231775"/>
            <a:chOff x="3399949" y="4067540"/>
            <a:chExt cx="5392103" cy="267784"/>
          </a:xfrm>
        </p:grpSpPr>
        <p:sp>
          <p:nvSpPr>
            <p:cNvPr id="37" name="任意多边形 36"/>
            <p:cNvSpPr/>
            <p:nvPr/>
          </p:nvSpPr>
          <p:spPr>
            <a:xfrm>
              <a:off x="6026401" y="4067540"/>
              <a:ext cx="139198" cy="267784"/>
            </a:xfrm>
            <a:custGeom>
              <a:avLst/>
              <a:gdLst>
                <a:gd name="connsiteX0" fmla="*/ 69402 w 138804"/>
                <a:gd name="connsiteY0" fmla="*/ 0 h 267784"/>
                <a:gd name="connsiteX1" fmla="*/ 138804 w 138804"/>
                <a:gd name="connsiteY1" fmla="*/ 78286 h 267784"/>
                <a:gd name="connsiteX2" fmla="*/ 69402 w 138804"/>
                <a:gd name="connsiteY2" fmla="*/ 267784 h 267784"/>
                <a:gd name="connsiteX3" fmla="*/ 0 w 138804"/>
                <a:gd name="connsiteY3" fmla="*/ 78286 h 2677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8804" h="267784">
                  <a:moveTo>
                    <a:pt x="69402" y="0"/>
                  </a:moveTo>
                  <a:lnTo>
                    <a:pt x="138804" y="78286"/>
                  </a:lnTo>
                  <a:lnTo>
                    <a:pt x="69402" y="267784"/>
                  </a:lnTo>
                  <a:lnTo>
                    <a:pt x="0" y="78286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/>
              <a:endParaRPr lang="zh-CN" altLang="en-US" noProof="1">
                <a:cs typeface="+mn-ea"/>
                <a:sym typeface="+mn-lt"/>
              </a:endParaRPr>
            </a:p>
          </p:txBody>
        </p:sp>
        <p:grpSp>
          <p:nvGrpSpPr>
            <p:cNvPr id="22532" name="组合 37"/>
            <p:cNvGrpSpPr/>
            <p:nvPr/>
          </p:nvGrpSpPr>
          <p:grpSpPr bwMode="auto">
            <a:xfrm>
              <a:off x="3399949" y="4149586"/>
              <a:ext cx="5392103" cy="0"/>
              <a:chOff x="3394710" y="4250530"/>
              <a:chExt cx="5392103" cy="0"/>
            </a:xfrm>
          </p:grpSpPr>
          <p:cxnSp>
            <p:nvCxnSpPr>
              <p:cNvPr id="39" name="直接连接符 38"/>
              <p:cNvCxnSpPr/>
              <p:nvPr/>
            </p:nvCxnSpPr>
            <p:spPr>
              <a:xfrm>
                <a:off x="6266591" y="4250954"/>
                <a:ext cx="2520222" cy="0"/>
              </a:xfrm>
              <a:prstGeom prst="line">
                <a:avLst/>
              </a:prstGeom>
              <a:ln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直接连接符 39"/>
              <p:cNvCxnSpPr/>
              <p:nvPr/>
            </p:nvCxnSpPr>
            <p:spPr>
              <a:xfrm>
                <a:off x="3394710" y="4250954"/>
                <a:ext cx="2520222" cy="0"/>
              </a:xfrm>
              <a:prstGeom prst="line">
                <a:avLst/>
              </a:prstGeom>
              <a:ln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pic>
        <p:nvPicPr>
          <p:cNvPr id="2" name="图片 1">
            <a:extLst>
              <a:ext uri="{FF2B5EF4-FFF2-40B4-BE49-F238E27FC236}">
                <a16:creationId xmlns:a16="http://schemas.microsoft.com/office/drawing/2014/main" id="{24E09CBE-D373-4470-9FB4-75BFAC73EA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053" y="1577843"/>
            <a:ext cx="4343535" cy="2360617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1503DB06-C19C-4EF6-B383-42871F3C48DC}"/>
              </a:ext>
            </a:extLst>
          </p:cNvPr>
          <p:cNvSpPr txBox="1"/>
          <p:nvPr/>
        </p:nvSpPr>
        <p:spPr>
          <a:xfrm>
            <a:off x="638175" y="1115808"/>
            <a:ext cx="39136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建立</a:t>
            </a:r>
            <a:r>
              <a:rPr lang="zh-CN" altLang="en-US"/>
              <a:t>基本模型：卷积神经网络</a:t>
            </a:r>
            <a:r>
              <a:rPr lang="en-US" altLang="zh-CN"/>
              <a:t>LeNet5</a:t>
            </a:r>
            <a:endParaRPr lang="zh-CN" alt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42D40CC2-5688-4B4A-AE1F-B5F058CF6B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209" y="2034214"/>
            <a:ext cx="5880402" cy="1447874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B3DD30AA-81E7-497D-9F63-47C5BA9A4D29}"/>
              </a:ext>
            </a:extLst>
          </p:cNvPr>
          <p:cNvSpPr txBox="1"/>
          <p:nvPr/>
        </p:nvSpPr>
        <p:spPr>
          <a:xfrm>
            <a:off x="6740107" y="1353141"/>
            <a:ext cx="45906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方法</a:t>
            </a:r>
            <a:r>
              <a:rPr lang="en-US" altLang="zh-CN"/>
              <a:t>1.</a:t>
            </a:r>
            <a:r>
              <a:rPr lang="zh-CN" altLang="en-US"/>
              <a:t>使用</a:t>
            </a:r>
            <a:r>
              <a:rPr lang="en-US" altLang="zh-CN"/>
              <a:t>elephas</a:t>
            </a:r>
            <a:r>
              <a:rPr lang="zh-CN" altLang="en-US" dirty="0"/>
              <a:t>转化为</a:t>
            </a:r>
            <a:r>
              <a:rPr lang="en-US" altLang="zh-CN" dirty="0" err="1"/>
              <a:t>sparkmodel</a:t>
            </a:r>
            <a:r>
              <a:rPr lang="zh-CN" altLang="en-US" dirty="0"/>
              <a:t>并训练</a:t>
            </a:r>
          </a:p>
        </p:txBody>
      </p:sp>
      <p:cxnSp>
        <p:nvCxnSpPr>
          <p:cNvPr id="7" name="直接箭头连接符 6">
            <a:extLst>
              <a:ext uri="{FF2B5EF4-FFF2-40B4-BE49-F238E27FC236}">
                <a16:creationId xmlns:a16="http://schemas.microsoft.com/office/drawing/2014/main" id="{0F185C4B-99C7-42FA-B30E-AE37AC0CB91D}"/>
              </a:ext>
            </a:extLst>
          </p:cNvPr>
          <p:cNvCxnSpPr>
            <a:stCxn id="2" idx="3"/>
            <a:endCxn id="4" idx="1"/>
          </p:cNvCxnSpPr>
          <p:nvPr/>
        </p:nvCxnSpPr>
        <p:spPr>
          <a:xfrm flipV="1">
            <a:off x="4906588" y="2758151"/>
            <a:ext cx="1188621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9" name="图片 8">
            <a:extLst>
              <a:ext uri="{FF2B5EF4-FFF2-40B4-BE49-F238E27FC236}">
                <a16:creationId xmlns:a16="http://schemas.microsoft.com/office/drawing/2014/main" id="{EEE7E702-A2AE-4D84-90CB-B7EA61A2252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48450" y="3677397"/>
            <a:ext cx="3941963" cy="3095273"/>
          </a:xfrm>
          <a:prstGeom prst="rect">
            <a:avLst/>
          </a:prstGeom>
        </p:spPr>
      </p:pic>
      <p:cxnSp>
        <p:nvCxnSpPr>
          <p:cNvPr id="17" name="连接符: 肘形 16">
            <a:extLst>
              <a:ext uri="{FF2B5EF4-FFF2-40B4-BE49-F238E27FC236}">
                <a16:creationId xmlns:a16="http://schemas.microsoft.com/office/drawing/2014/main" id="{1DAC41A4-5E2A-40FA-9094-17BE3C1871C8}"/>
              </a:ext>
            </a:extLst>
          </p:cNvPr>
          <p:cNvCxnSpPr>
            <a:cxnSpLocks/>
          </p:cNvCxnSpPr>
          <p:nvPr/>
        </p:nvCxnSpPr>
        <p:spPr>
          <a:xfrm rot="16200000" flipH="1">
            <a:off x="4048349" y="2624932"/>
            <a:ext cx="1286574" cy="3913629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文本框 17">
            <a:extLst>
              <a:ext uri="{FF2B5EF4-FFF2-40B4-BE49-F238E27FC236}">
                <a16:creationId xmlns:a16="http://schemas.microsoft.com/office/drawing/2014/main" id="{CDA89F2D-FA48-41CB-A387-54CB54DE81A4}"/>
              </a:ext>
            </a:extLst>
          </p:cNvPr>
          <p:cNvSpPr txBox="1"/>
          <p:nvPr/>
        </p:nvSpPr>
        <p:spPr>
          <a:xfrm>
            <a:off x="2760663" y="4770936"/>
            <a:ext cx="38877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方法</a:t>
            </a:r>
            <a:r>
              <a:rPr lang="en-US" altLang="zh-CN"/>
              <a:t>2.</a:t>
            </a:r>
            <a:r>
              <a:rPr lang="zh-CN" altLang="en-US"/>
              <a:t>使用</a:t>
            </a:r>
            <a:r>
              <a:rPr lang="en-US" altLang="zh-CN"/>
              <a:t>horovod</a:t>
            </a:r>
            <a:r>
              <a:rPr lang="zh-CN" altLang="en-US"/>
              <a:t>调度</a:t>
            </a:r>
            <a:r>
              <a:rPr lang="en-US" altLang="zh-CN"/>
              <a:t>gpu</a:t>
            </a:r>
            <a:r>
              <a:rPr lang="zh-CN" altLang="en-US"/>
              <a:t>集群训练</a:t>
            </a:r>
            <a:endParaRPr lang="zh-CN" altLang="en-US" dirty="0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C111D075-4B7C-4883-999F-EC7822BB3F31}"/>
              </a:ext>
            </a:extLst>
          </p:cNvPr>
          <p:cNvSpPr txBox="1"/>
          <p:nvPr/>
        </p:nvSpPr>
        <p:spPr>
          <a:xfrm>
            <a:off x="638175" y="6029325"/>
            <a:ext cx="39136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训练结果：准确率</a:t>
            </a:r>
            <a:r>
              <a:rPr lang="en-US" altLang="zh-CN"/>
              <a:t>98%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888454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文本框 23"/>
          <p:cNvSpPr txBox="1">
            <a:spLocks noChangeArrowheads="1"/>
          </p:cNvSpPr>
          <p:nvPr/>
        </p:nvSpPr>
        <p:spPr bwMode="auto">
          <a:xfrm>
            <a:off x="4736504" y="285750"/>
            <a:ext cx="2717411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zh-CN" altLang="en-US" sz="28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训练</a:t>
            </a:r>
            <a:r>
              <a:rPr lang="en-US" altLang="zh-CN" sz="28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2-</a:t>
            </a:r>
            <a:r>
              <a:rPr lang="zh-CN" altLang="en-US" sz="28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特征提取</a:t>
            </a:r>
          </a:p>
        </p:txBody>
      </p:sp>
      <p:grpSp>
        <p:nvGrpSpPr>
          <p:cNvPr id="25" name="组合 24"/>
          <p:cNvGrpSpPr/>
          <p:nvPr/>
        </p:nvGrpSpPr>
        <p:grpSpPr bwMode="auto">
          <a:xfrm>
            <a:off x="3733800" y="969963"/>
            <a:ext cx="4673600" cy="231775"/>
            <a:chOff x="3399949" y="4067540"/>
            <a:chExt cx="5392103" cy="267784"/>
          </a:xfrm>
        </p:grpSpPr>
        <p:sp>
          <p:nvSpPr>
            <p:cNvPr id="37" name="任意多边形 36"/>
            <p:cNvSpPr/>
            <p:nvPr/>
          </p:nvSpPr>
          <p:spPr>
            <a:xfrm>
              <a:off x="6026401" y="4067540"/>
              <a:ext cx="139198" cy="267784"/>
            </a:xfrm>
            <a:custGeom>
              <a:avLst/>
              <a:gdLst>
                <a:gd name="connsiteX0" fmla="*/ 69402 w 138804"/>
                <a:gd name="connsiteY0" fmla="*/ 0 h 267784"/>
                <a:gd name="connsiteX1" fmla="*/ 138804 w 138804"/>
                <a:gd name="connsiteY1" fmla="*/ 78286 h 267784"/>
                <a:gd name="connsiteX2" fmla="*/ 69402 w 138804"/>
                <a:gd name="connsiteY2" fmla="*/ 267784 h 267784"/>
                <a:gd name="connsiteX3" fmla="*/ 0 w 138804"/>
                <a:gd name="connsiteY3" fmla="*/ 78286 h 2677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8804" h="267784">
                  <a:moveTo>
                    <a:pt x="69402" y="0"/>
                  </a:moveTo>
                  <a:lnTo>
                    <a:pt x="138804" y="78286"/>
                  </a:lnTo>
                  <a:lnTo>
                    <a:pt x="69402" y="267784"/>
                  </a:lnTo>
                  <a:lnTo>
                    <a:pt x="0" y="78286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/>
              <a:endParaRPr lang="zh-CN" altLang="en-US" noProof="1">
                <a:cs typeface="+mn-ea"/>
                <a:sym typeface="+mn-lt"/>
              </a:endParaRPr>
            </a:p>
          </p:txBody>
        </p:sp>
        <p:grpSp>
          <p:nvGrpSpPr>
            <p:cNvPr id="22532" name="组合 37"/>
            <p:cNvGrpSpPr/>
            <p:nvPr/>
          </p:nvGrpSpPr>
          <p:grpSpPr bwMode="auto">
            <a:xfrm>
              <a:off x="3399949" y="4149586"/>
              <a:ext cx="5392103" cy="0"/>
              <a:chOff x="3394710" y="4250530"/>
              <a:chExt cx="5392103" cy="0"/>
            </a:xfrm>
          </p:grpSpPr>
          <p:cxnSp>
            <p:nvCxnSpPr>
              <p:cNvPr id="39" name="直接连接符 38"/>
              <p:cNvCxnSpPr/>
              <p:nvPr/>
            </p:nvCxnSpPr>
            <p:spPr>
              <a:xfrm>
                <a:off x="6266591" y="4250954"/>
                <a:ext cx="2520222" cy="0"/>
              </a:xfrm>
              <a:prstGeom prst="line">
                <a:avLst/>
              </a:prstGeom>
              <a:ln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直接连接符 39"/>
              <p:cNvCxnSpPr/>
              <p:nvPr/>
            </p:nvCxnSpPr>
            <p:spPr>
              <a:xfrm>
                <a:off x="3394710" y="4250954"/>
                <a:ext cx="2520222" cy="0"/>
              </a:xfrm>
              <a:prstGeom prst="line">
                <a:avLst/>
              </a:prstGeom>
              <a:ln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pic>
        <p:nvPicPr>
          <p:cNvPr id="2" name="图片 1">
            <a:extLst>
              <a:ext uri="{FF2B5EF4-FFF2-40B4-BE49-F238E27FC236}">
                <a16:creationId xmlns:a16="http://schemas.microsoft.com/office/drawing/2014/main" id="{C4B363D5-A52D-47C1-BAC3-1420596579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352" y="2909067"/>
            <a:ext cx="4624457" cy="2506715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EDFD93D9-F728-4725-8A22-FA39F3AB84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70600" y="3101267"/>
            <a:ext cx="5812851" cy="1931816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A0FE8831-F67D-4F81-B84D-1D9E596A5DC0}"/>
              </a:ext>
            </a:extLst>
          </p:cNvPr>
          <p:cNvSpPr txBox="1"/>
          <p:nvPr/>
        </p:nvSpPr>
        <p:spPr>
          <a:xfrm>
            <a:off x="1478030" y="1795724"/>
            <a:ext cx="27051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使用</a:t>
            </a:r>
            <a:r>
              <a:rPr lang="en-US" altLang="zh-CN" dirty="0" err="1"/>
              <a:t>opencv</a:t>
            </a:r>
            <a:r>
              <a:rPr lang="zh-CN" altLang="en-US" dirty="0"/>
              <a:t>提取</a:t>
            </a:r>
            <a:r>
              <a:rPr lang="en-US" altLang="zh-CN" dirty="0"/>
              <a:t>hog</a:t>
            </a:r>
            <a:r>
              <a:rPr lang="zh-CN" altLang="en-US" dirty="0"/>
              <a:t>特征</a:t>
            </a:r>
            <a:endParaRPr lang="en-US" altLang="zh-CN" dirty="0"/>
          </a:p>
          <a:p>
            <a:r>
              <a:rPr lang="zh-CN" altLang="en-US" dirty="0"/>
              <a:t>下面是提取时的参数设置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C709C0A0-88AA-45B8-AB30-21BA59B04E70}"/>
              </a:ext>
            </a:extLst>
          </p:cNvPr>
          <p:cNvSpPr txBox="1"/>
          <p:nvPr/>
        </p:nvSpPr>
        <p:spPr>
          <a:xfrm>
            <a:off x="7776875" y="2444574"/>
            <a:ext cx="2400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获取</a:t>
            </a:r>
            <a:r>
              <a:rPr lang="en-US" altLang="zh-CN" dirty="0" err="1"/>
              <a:t>rdd</a:t>
            </a:r>
            <a:r>
              <a:rPr lang="zh-CN" altLang="en-US" dirty="0"/>
              <a:t>数据并训练</a:t>
            </a:r>
          </a:p>
        </p:txBody>
      </p:sp>
    </p:spTree>
    <p:extLst>
      <p:ext uri="{BB962C8B-B14F-4D97-AF65-F5344CB8AC3E}">
        <p14:creationId xmlns:p14="http://schemas.microsoft.com/office/powerpoint/2010/main" val="10445798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文本框 23"/>
          <p:cNvSpPr txBox="1">
            <a:spLocks noChangeArrowheads="1"/>
          </p:cNvSpPr>
          <p:nvPr/>
        </p:nvSpPr>
        <p:spPr bwMode="auto">
          <a:xfrm>
            <a:off x="4736503" y="285750"/>
            <a:ext cx="2717411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zh-CN" altLang="en-US" sz="28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训练</a:t>
            </a:r>
            <a:r>
              <a:rPr lang="en-US" altLang="zh-CN" sz="28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2-</a:t>
            </a:r>
            <a:r>
              <a:rPr lang="zh-CN" altLang="en-US" sz="28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模型训练</a:t>
            </a:r>
          </a:p>
        </p:txBody>
      </p:sp>
      <p:grpSp>
        <p:nvGrpSpPr>
          <p:cNvPr id="25" name="组合 24"/>
          <p:cNvGrpSpPr/>
          <p:nvPr/>
        </p:nvGrpSpPr>
        <p:grpSpPr bwMode="auto">
          <a:xfrm>
            <a:off x="3733800" y="969963"/>
            <a:ext cx="4673600" cy="231775"/>
            <a:chOff x="3399949" y="4067540"/>
            <a:chExt cx="5392103" cy="267784"/>
          </a:xfrm>
        </p:grpSpPr>
        <p:sp>
          <p:nvSpPr>
            <p:cNvPr id="37" name="任意多边形 36"/>
            <p:cNvSpPr/>
            <p:nvPr/>
          </p:nvSpPr>
          <p:spPr>
            <a:xfrm>
              <a:off x="6026401" y="4067540"/>
              <a:ext cx="139198" cy="267784"/>
            </a:xfrm>
            <a:custGeom>
              <a:avLst/>
              <a:gdLst>
                <a:gd name="connsiteX0" fmla="*/ 69402 w 138804"/>
                <a:gd name="connsiteY0" fmla="*/ 0 h 267784"/>
                <a:gd name="connsiteX1" fmla="*/ 138804 w 138804"/>
                <a:gd name="connsiteY1" fmla="*/ 78286 h 267784"/>
                <a:gd name="connsiteX2" fmla="*/ 69402 w 138804"/>
                <a:gd name="connsiteY2" fmla="*/ 267784 h 267784"/>
                <a:gd name="connsiteX3" fmla="*/ 0 w 138804"/>
                <a:gd name="connsiteY3" fmla="*/ 78286 h 2677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8804" h="267784">
                  <a:moveTo>
                    <a:pt x="69402" y="0"/>
                  </a:moveTo>
                  <a:lnTo>
                    <a:pt x="138804" y="78286"/>
                  </a:lnTo>
                  <a:lnTo>
                    <a:pt x="69402" y="267784"/>
                  </a:lnTo>
                  <a:lnTo>
                    <a:pt x="0" y="78286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/>
              <a:endParaRPr lang="zh-CN" altLang="en-US" noProof="1">
                <a:cs typeface="+mn-ea"/>
                <a:sym typeface="+mn-lt"/>
              </a:endParaRPr>
            </a:p>
          </p:txBody>
        </p:sp>
        <p:grpSp>
          <p:nvGrpSpPr>
            <p:cNvPr id="22532" name="组合 37"/>
            <p:cNvGrpSpPr/>
            <p:nvPr/>
          </p:nvGrpSpPr>
          <p:grpSpPr bwMode="auto">
            <a:xfrm>
              <a:off x="3399949" y="4149586"/>
              <a:ext cx="5392103" cy="0"/>
              <a:chOff x="3394710" y="4250530"/>
              <a:chExt cx="5392103" cy="0"/>
            </a:xfrm>
          </p:grpSpPr>
          <p:cxnSp>
            <p:nvCxnSpPr>
              <p:cNvPr id="39" name="直接连接符 38"/>
              <p:cNvCxnSpPr/>
              <p:nvPr/>
            </p:nvCxnSpPr>
            <p:spPr>
              <a:xfrm>
                <a:off x="6266591" y="4250954"/>
                <a:ext cx="2520222" cy="0"/>
              </a:xfrm>
              <a:prstGeom prst="line">
                <a:avLst/>
              </a:prstGeom>
              <a:ln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直接连接符 39"/>
              <p:cNvCxnSpPr/>
              <p:nvPr/>
            </p:nvCxnSpPr>
            <p:spPr>
              <a:xfrm>
                <a:off x="3394710" y="4250954"/>
                <a:ext cx="2520222" cy="0"/>
              </a:xfrm>
              <a:prstGeom prst="line">
                <a:avLst/>
              </a:prstGeom>
              <a:ln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pic>
        <p:nvPicPr>
          <p:cNvPr id="4" name="图片 3">
            <a:extLst>
              <a:ext uri="{FF2B5EF4-FFF2-40B4-BE49-F238E27FC236}">
                <a16:creationId xmlns:a16="http://schemas.microsoft.com/office/drawing/2014/main" id="{21E2DD2E-5ECB-491B-8B48-F8C58EBC49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75573" y="1169670"/>
            <a:ext cx="6556682" cy="2947371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20ECD3E1-848D-4C67-8B12-E82996E59D3F}"/>
              </a:ext>
            </a:extLst>
          </p:cNvPr>
          <p:cNvSpPr txBox="1"/>
          <p:nvPr/>
        </p:nvSpPr>
        <p:spPr>
          <a:xfrm>
            <a:off x="590550" y="1824800"/>
            <a:ext cx="280987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err="1"/>
              <a:t>SparkUI</a:t>
            </a:r>
            <a:r>
              <a:rPr lang="en-US" altLang="zh-CN" dirty="0"/>
              <a:t>:</a:t>
            </a:r>
            <a:r>
              <a:rPr lang="zh-CN" altLang="en-US" dirty="0"/>
              <a:t>可以显示计算过程，以及各任务的情况，用户可以动态观察，一般在</a:t>
            </a:r>
            <a:r>
              <a:rPr lang="en-US" altLang="zh-CN" dirty="0"/>
              <a:t>4040</a:t>
            </a:r>
            <a:r>
              <a:rPr lang="zh-CN" altLang="en-US" dirty="0"/>
              <a:t>端口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FBEFDD49-8F4B-426A-B2AB-01903885D940}"/>
              </a:ext>
            </a:extLst>
          </p:cNvPr>
          <p:cNvSpPr txBox="1"/>
          <p:nvPr/>
        </p:nvSpPr>
        <p:spPr>
          <a:xfrm>
            <a:off x="447675" y="5189275"/>
            <a:ext cx="280987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以逻辑回归模型，</a:t>
            </a:r>
            <a:r>
              <a:rPr lang="en-US" altLang="zh-CN" dirty="0"/>
              <a:t>LBFGS</a:t>
            </a:r>
            <a:r>
              <a:rPr lang="zh-CN" altLang="en-US" dirty="0"/>
              <a:t>求解方法为例</a:t>
            </a:r>
            <a:endParaRPr lang="en-US" altLang="zh-CN" dirty="0"/>
          </a:p>
          <a:p>
            <a:r>
              <a:rPr lang="zh-CN" altLang="en-US" dirty="0"/>
              <a:t>命令行输出：准确率</a:t>
            </a:r>
            <a:r>
              <a:rPr lang="en-US" altLang="zh-CN" dirty="0"/>
              <a:t>81%</a:t>
            </a:r>
            <a:endParaRPr lang="zh-CN" altLang="en-US" dirty="0"/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9F8AD613-F73C-4A88-90E5-5E358AF562D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67200" y="4477741"/>
            <a:ext cx="7029449" cy="18988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60082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/>
          <p:cNvPicPr>
            <a:picLocks noChangeAspect="1"/>
          </p:cNvPicPr>
          <p:nvPr/>
        </p:nvPicPr>
        <p:blipFill>
          <a:blip r:embed="rId2">
            <a:lum bright="-18000" contrast="-18000"/>
          </a:blip>
          <a:stretch>
            <a:fillRect/>
          </a:stretch>
        </p:blipFill>
        <p:spPr>
          <a:xfrm>
            <a:off x="-6985" y="1136650"/>
            <a:ext cx="12198985" cy="4584700"/>
          </a:xfrm>
          <a:prstGeom prst="rect">
            <a:avLst/>
          </a:prstGeom>
        </p:spPr>
      </p:pic>
      <p:sp>
        <p:nvSpPr>
          <p:cNvPr id="18" name="矩形 17"/>
          <p:cNvSpPr/>
          <p:nvPr/>
        </p:nvSpPr>
        <p:spPr>
          <a:xfrm>
            <a:off x="8851900" y="1136650"/>
            <a:ext cx="2479675" cy="4584700"/>
          </a:xfrm>
          <a:prstGeom prst="rect">
            <a:avLst/>
          </a:prstGeom>
          <a:solidFill>
            <a:srgbClr val="0070C0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/>
            <a:endParaRPr lang="zh-CN" altLang="en-US" noProof="1"/>
          </a:p>
        </p:txBody>
      </p:sp>
      <p:sp>
        <p:nvSpPr>
          <p:cNvPr id="6" name="文本框 5"/>
          <p:cNvSpPr txBox="1">
            <a:spLocks noChangeArrowheads="1"/>
          </p:cNvSpPr>
          <p:nvPr/>
        </p:nvSpPr>
        <p:spPr bwMode="auto">
          <a:xfrm>
            <a:off x="8905875" y="1818640"/>
            <a:ext cx="1776413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altLang="zh-CN" sz="28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Part.03</a:t>
            </a:r>
          </a:p>
        </p:txBody>
      </p:sp>
      <p:cxnSp>
        <p:nvCxnSpPr>
          <p:cNvPr id="7" name="直接连接符 6"/>
          <p:cNvCxnSpPr/>
          <p:nvPr/>
        </p:nvCxnSpPr>
        <p:spPr>
          <a:xfrm>
            <a:off x="9029700" y="2383790"/>
            <a:ext cx="1225550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框 7"/>
          <p:cNvSpPr txBox="1">
            <a:spLocks noChangeArrowheads="1"/>
          </p:cNvSpPr>
          <p:nvPr/>
        </p:nvSpPr>
        <p:spPr bwMode="auto">
          <a:xfrm>
            <a:off x="8927783" y="3137853"/>
            <a:ext cx="2327275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/>
            <a:r>
              <a:rPr lang="zh-CN" altLang="en-US" sz="4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应用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>
            <a:spLocks noChangeArrowheads="1"/>
          </p:cNvSpPr>
          <p:nvPr/>
        </p:nvSpPr>
        <p:spPr bwMode="auto">
          <a:xfrm>
            <a:off x="5643801" y="285750"/>
            <a:ext cx="902811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algn="ctr">
              <a:buClrTx/>
              <a:buSzTx/>
              <a:buFontTx/>
            </a:pPr>
            <a:r>
              <a:rPr lang="zh-CN" altLang="en-US" sz="28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应用</a:t>
            </a:r>
          </a:p>
        </p:txBody>
      </p:sp>
      <p:grpSp>
        <p:nvGrpSpPr>
          <p:cNvPr id="5" name="组合 4"/>
          <p:cNvGrpSpPr/>
          <p:nvPr/>
        </p:nvGrpSpPr>
        <p:grpSpPr bwMode="auto">
          <a:xfrm>
            <a:off x="3748405" y="952818"/>
            <a:ext cx="4673600" cy="231775"/>
            <a:chOff x="3399949" y="4067540"/>
            <a:chExt cx="5392103" cy="267784"/>
          </a:xfrm>
        </p:grpSpPr>
        <p:sp>
          <p:nvSpPr>
            <p:cNvPr id="35" name="任意多边形 34"/>
            <p:cNvSpPr/>
            <p:nvPr/>
          </p:nvSpPr>
          <p:spPr>
            <a:xfrm>
              <a:off x="6026401" y="4067540"/>
              <a:ext cx="139198" cy="267784"/>
            </a:xfrm>
            <a:custGeom>
              <a:avLst/>
              <a:gdLst>
                <a:gd name="connsiteX0" fmla="*/ 69402 w 138804"/>
                <a:gd name="connsiteY0" fmla="*/ 0 h 267784"/>
                <a:gd name="connsiteX1" fmla="*/ 138804 w 138804"/>
                <a:gd name="connsiteY1" fmla="*/ 78286 h 267784"/>
                <a:gd name="connsiteX2" fmla="*/ 69402 w 138804"/>
                <a:gd name="connsiteY2" fmla="*/ 267784 h 267784"/>
                <a:gd name="connsiteX3" fmla="*/ 0 w 138804"/>
                <a:gd name="connsiteY3" fmla="*/ 78286 h 2677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8804" h="267784">
                  <a:moveTo>
                    <a:pt x="69402" y="0"/>
                  </a:moveTo>
                  <a:lnTo>
                    <a:pt x="138804" y="78286"/>
                  </a:lnTo>
                  <a:lnTo>
                    <a:pt x="69402" y="267784"/>
                  </a:lnTo>
                  <a:lnTo>
                    <a:pt x="0" y="78286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/>
              <a:endParaRPr lang="zh-CN" altLang="en-US" noProof="1">
                <a:cs typeface="+mn-ea"/>
                <a:sym typeface="+mn-lt"/>
              </a:endParaRPr>
            </a:p>
          </p:txBody>
        </p:sp>
        <p:grpSp>
          <p:nvGrpSpPr>
            <p:cNvPr id="8220" name="组合 35"/>
            <p:cNvGrpSpPr/>
            <p:nvPr/>
          </p:nvGrpSpPr>
          <p:grpSpPr bwMode="auto">
            <a:xfrm>
              <a:off x="3399949" y="4149586"/>
              <a:ext cx="5392103" cy="0"/>
              <a:chOff x="3394710" y="4250530"/>
              <a:chExt cx="5392103" cy="0"/>
            </a:xfrm>
          </p:grpSpPr>
          <p:cxnSp>
            <p:nvCxnSpPr>
              <p:cNvPr id="37" name="直接连接符 36"/>
              <p:cNvCxnSpPr/>
              <p:nvPr/>
            </p:nvCxnSpPr>
            <p:spPr>
              <a:xfrm>
                <a:off x="6266591" y="4250954"/>
                <a:ext cx="2520222" cy="0"/>
              </a:xfrm>
              <a:prstGeom prst="line">
                <a:avLst/>
              </a:prstGeom>
              <a:ln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直接连接符 37"/>
              <p:cNvCxnSpPr/>
              <p:nvPr/>
            </p:nvCxnSpPr>
            <p:spPr>
              <a:xfrm>
                <a:off x="3394710" y="4250954"/>
                <a:ext cx="2520222" cy="0"/>
              </a:xfrm>
              <a:prstGeom prst="line">
                <a:avLst/>
              </a:prstGeom>
              <a:ln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" name="矩形: 圆角 1">
            <a:extLst>
              <a:ext uri="{FF2B5EF4-FFF2-40B4-BE49-F238E27FC236}">
                <a16:creationId xmlns:a16="http://schemas.microsoft.com/office/drawing/2014/main" id="{6C5D7EFF-226B-4AE4-899A-D2925DB132E0}"/>
              </a:ext>
            </a:extLst>
          </p:cNvPr>
          <p:cNvSpPr/>
          <p:nvPr/>
        </p:nvSpPr>
        <p:spPr>
          <a:xfrm>
            <a:off x="781362" y="1914524"/>
            <a:ext cx="2333625" cy="176212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err="1"/>
              <a:t>Haddop+Spark</a:t>
            </a:r>
            <a:r>
              <a:rPr lang="zh-CN" altLang="en-US" dirty="0"/>
              <a:t>集群</a:t>
            </a:r>
            <a:endParaRPr lang="en-US" altLang="zh-CN" dirty="0"/>
          </a:p>
          <a:p>
            <a:pPr algn="ctr"/>
            <a:r>
              <a:rPr lang="zh-CN" altLang="en-US" dirty="0"/>
              <a:t>训练识别模型</a:t>
            </a:r>
          </a:p>
        </p:txBody>
      </p:sp>
      <p:sp>
        <p:nvSpPr>
          <p:cNvPr id="10" name="箭头: 下 9">
            <a:extLst>
              <a:ext uri="{FF2B5EF4-FFF2-40B4-BE49-F238E27FC236}">
                <a16:creationId xmlns:a16="http://schemas.microsoft.com/office/drawing/2014/main" id="{D88590BD-D6BB-4505-BFE0-989685F9AC97}"/>
              </a:ext>
            </a:extLst>
          </p:cNvPr>
          <p:cNvSpPr/>
          <p:nvPr/>
        </p:nvSpPr>
        <p:spPr>
          <a:xfrm>
            <a:off x="1485900" y="3676649"/>
            <a:ext cx="790575" cy="1685926"/>
          </a:xfrm>
          <a:prstGeom prst="downArrow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F0C8A285-AD96-4A14-BC7B-B947D9EFA964}"/>
              </a:ext>
            </a:extLst>
          </p:cNvPr>
          <p:cNvSpPr/>
          <p:nvPr/>
        </p:nvSpPr>
        <p:spPr>
          <a:xfrm>
            <a:off x="493075" y="5381623"/>
            <a:ext cx="2776224" cy="67627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存储模型到文件系统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698018CA-F6B4-4D64-B560-4D09E462B064}"/>
              </a:ext>
            </a:extLst>
          </p:cNvPr>
          <p:cNvSpPr/>
          <p:nvPr/>
        </p:nvSpPr>
        <p:spPr>
          <a:xfrm>
            <a:off x="8845866" y="5400671"/>
            <a:ext cx="2446020" cy="67627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从文件中读出模型</a:t>
            </a: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E3E9C852-CF28-43D0-923C-B31990D07583}"/>
              </a:ext>
            </a:extLst>
          </p:cNvPr>
          <p:cNvSpPr/>
          <p:nvPr/>
        </p:nvSpPr>
        <p:spPr>
          <a:xfrm>
            <a:off x="8573608" y="1990723"/>
            <a:ext cx="2990538" cy="168592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Web</a:t>
            </a:r>
            <a:r>
              <a:rPr lang="zh-CN" altLang="en-US" dirty="0"/>
              <a:t>接口：</a:t>
            </a:r>
            <a:r>
              <a:rPr lang="en-US" altLang="zh-CN" dirty="0"/>
              <a:t>Django</a:t>
            </a:r>
            <a:endParaRPr lang="zh-CN" altLang="en-US" dirty="0"/>
          </a:p>
        </p:txBody>
      </p:sp>
      <p:sp>
        <p:nvSpPr>
          <p:cNvPr id="16" name="箭头: 上 15">
            <a:extLst>
              <a:ext uri="{FF2B5EF4-FFF2-40B4-BE49-F238E27FC236}">
                <a16:creationId xmlns:a16="http://schemas.microsoft.com/office/drawing/2014/main" id="{E8A098C5-10E5-4D3F-8CCB-B4E86A6E8AE7}"/>
              </a:ext>
            </a:extLst>
          </p:cNvPr>
          <p:cNvSpPr/>
          <p:nvPr/>
        </p:nvSpPr>
        <p:spPr>
          <a:xfrm>
            <a:off x="9673589" y="3695697"/>
            <a:ext cx="790575" cy="1685926"/>
          </a:xfrm>
          <a:prstGeom prst="upArrow">
            <a:avLst/>
          </a:prstGeom>
          <a:solidFill>
            <a:srgbClr val="A6A6A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5D46214C-E4D6-4EDA-B5CF-3162736CAE49}"/>
              </a:ext>
            </a:extLst>
          </p:cNvPr>
          <p:cNvSpPr txBox="1"/>
          <p:nvPr/>
        </p:nvSpPr>
        <p:spPr>
          <a:xfrm>
            <a:off x="1310000" y="1080710"/>
            <a:ext cx="14287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Arial Black" panose="020B0A04020102020204" pitchFamily="34" charset="0"/>
              </a:rPr>
              <a:t>分布式模式</a:t>
            </a:r>
            <a:endParaRPr lang="en-US" altLang="zh-CN" dirty="0">
              <a:latin typeface="Arial Black" panose="020B0A04020102020204" pitchFamily="34" charset="0"/>
            </a:endParaRPr>
          </a:p>
          <a:p>
            <a:r>
              <a:rPr lang="zh-CN" altLang="en-US" dirty="0">
                <a:latin typeface="Arial Black" panose="020B0A04020102020204" pitchFamily="34" charset="0"/>
              </a:rPr>
              <a:t>分布式训练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AFB2B6A4-0E89-42FB-980A-BBE90EDAD243}"/>
              </a:ext>
            </a:extLst>
          </p:cNvPr>
          <p:cNvSpPr txBox="1"/>
          <p:nvPr/>
        </p:nvSpPr>
        <p:spPr>
          <a:xfrm>
            <a:off x="8949689" y="1086840"/>
            <a:ext cx="18573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Spark local</a:t>
            </a:r>
            <a:r>
              <a:rPr lang="zh-CN" altLang="en-US" dirty="0"/>
              <a:t>模式</a:t>
            </a:r>
            <a:endParaRPr lang="en-US" altLang="zh-CN" dirty="0"/>
          </a:p>
          <a:p>
            <a:r>
              <a:rPr lang="zh-CN" altLang="en-US" dirty="0"/>
              <a:t>单机导入模型</a:t>
            </a:r>
          </a:p>
        </p:txBody>
      </p:sp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2A66D134-9E1A-4FA3-B0D8-981B5B136D62}"/>
              </a:ext>
            </a:extLst>
          </p:cNvPr>
          <p:cNvCxnSpPr>
            <a:stCxn id="12" idx="3"/>
            <a:endCxn id="14" idx="1"/>
          </p:cNvCxnSpPr>
          <p:nvPr/>
        </p:nvCxnSpPr>
        <p:spPr>
          <a:xfrm>
            <a:off x="3269299" y="5719761"/>
            <a:ext cx="5576567" cy="1904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1" name="文本框 20">
            <a:extLst>
              <a:ext uri="{FF2B5EF4-FFF2-40B4-BE49-F238E27FC236}">
                <a16:creationId xmlns:a16="http://schemas.microsoft.com/office/drawing/2014/main" id="{A0153D59-2D1D-4CE3-83C7-B077309B5E53}"/>
              </a:ext>
            </a:extLst>
          </p:cNvPr>
          <p:cNvSpPr txBox="1"/>
          <p:nvPr/>
        </p:nvSpPr>
        <p:spPr>
          <a:xfrm>
            <a:off x="5401627" y="5350429"/>
            <a:ext cx="16719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存储或传输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AD9EDDBF-E5A7-425E-BFDE-FD1EE4502C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20839" y="2102774"/>
            <a:ext cx="4216947" cy="26025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78914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>
            <a:spLocks noChangeArrowheads="1"/>
          </p:cNvSpPr>
          <p:nvPr/>
        </p:nvSpPr>
        <p:spPr bwMode="auto">
          <a:xfrm>
            <a:off x="5643801" y="285750"/>
            <a:ext cx="902811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algn="ctr">
              <a:buClrTx/>
              <a:buSzTx/>
              <a:buFontTx/>
            </a:pPr>
            <a:r>
              <a:rPr lang="zh-CN" altLang="en-US" sz="28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应用</a:t>
            </a:r>
          </a:p>
        </p:txBody>
      </p:sp>
      <p:grpSp>
        <p:nvGrpSpPr>
          <p:cNvPr id="5" name="组合 4"/>
          <p:cNvGrpSpPr/>
          <p:nvPr/>
        </p:nvGrpSpPr>
        <p:grpSpPr bwMode="auto">
          <a:xfrm>
            <a:off x="3748405" y="952818"/>
            <a:ext cx="4673600" cy="231775"/>
            <a:chOff x="3399949" y="4067540"/>
            <a:chExt cx="5392103" cy="267784"/>
          </a:xfrm>
        </p:grpSpPr>
        <p:sp>
          <p:nvSpPr>
            <p:cNvPr id="35" name="任意多边形 34"/>
            <p:cNvSpPr/>
            <p:nvPr/>
          </p:nvSpPr>
          <p:spPr>
            <a:xfrm>
              <a:off x="6026401" y="4067540"/>
              <a:ext cx="139198" cy="267784"/>
            </a:xfrm>
            <a:custGeom>
              <a:avLst/>
              <a:gdLst>
                <a:gd name="connsiteX0" fmla="*/ 69402 w 138804"/>
                <a:gd name="connsiteY0" fmla="*/ 0 h 267784"/>
                <a:gd name="connsiteX1" fmla="*/ 138804 w 138804"/>
                <a:gd name="connsiteY1" fmla="*/ 78286 h 267784"/>
                <a:gd name="connsiteX2" fmla="*/ 69402 w 138804"/>
                <a:gd name="connsiteY2" fmla="*/ 267784 h 267784"/>
                <a:gd name="connsiteX3" fmla="*/ 0 w 138804"/>
                <a:gd name="connsiteY3" fmla="*/ 78286 h 2677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8804" h="267784">
                  <a:moveTo>
                    <a:pt x="69402" y="0"/>
                  </a:moveTo>
                  <a:lnTo>
                    <a:pt x="138804" y="78286"/>
                  </a:lnTo>
                  <a:lnTo>
                    <a:pt x="69402" y="267784"/>
                  </a:lnTo>
                  <a:lnTo>
                    <a:pt x="0" y="78286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/>
              <a:endParaRPr lang="zh-CN" altLang="en-US" noProof="1">
                <a:cs typeface="+mn-ea"/>
                <a:sym typeface="+mn-lt"/>
              </a:endParaRPr>
            </a:p>
          </p:txBody>
        </p:sp>
        <p:grpSp>
          <p:nvGrpSpPr>
            <p:cNvPr id="8220" name="组合 35"/>
            <p:cNvGrpSpPr/>
            <p:nvPr/>
          </p:nvGrpSpPr>
          <p:grpSpPr bwMode="auto">
            <a:xfrm>
              <a:off x="3399949" y="4149586"/>
              <a:ext cx="5392103" cy="0"/>
              <a:chOff x="3394710" y="4250530"/>
              <a:chExt cx="5392103" cy="0"/>
            </a:xfrm>
          </p:grpSpPr>
          <p:cxnSp>
            <p:nvCxnSpPr>
              <p:cNvPr id="37" name="直接连接符 36"/>
              <p:cNvCxnSpPr/>
              <p:nvPr/>
            </p:nvCxnSpPr>
            <p:spPr>
              <a:xfrm>
                <a:off x="6266591" y="4250954"/>
                <a:ext cx="2520222" cy="0"/>
              </a:xfrm>
              <a:prstGeom prst="line">
                <a:avLst/>
              </a:prstGeom>
              <a:ln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直接连接符 37"/>
              <p:cNvCxnSpPr/>
              <p:nvPr/>
            </p:nvCxnSpPr>
            <p:spPr>
              <a:xfrm>
                <a:off x="3394710" y="4250954"/>
                <a:ext cx="2520222" cy="0"/>
              </a:xfrm>
              <a:prstGeom prst="line">
                <a:avLst/>
              </a:prstGeom>
              <a:ln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pic>
        <p:nvPicPr>
          <p:cNvPr id="9" name="图片 8">
            <a:extLst>
              <a:ext uri="{FF2B5EF4-FFF2-40B4-BE49-F238E27FC236}">
                <a16:creationId xmlns:a16="http://schemas.microsoft.com/office/drawing/2014/main" id="{1CE9F109-DCD3-4997-99EE-AF37B7F8018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1666" y="1435100"/>
            <a:ext cx="9228667" cy="519112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/>
          <p:cNvPicPr>
            <a:picLocks noChangeAspect="1"/>
          </p:cNvPicPr>
          <p:nvPr/>
        </p:nvPicPr>
        <p:blipFill>
          <a:blip r:embed="rId2">
            <a:lum bright="-18000" contrast="-18000"/>
          </a:blip>
          <a:stretch>
            <a:fillRect/>
          </a:stretch>
        </p:blipFill>
        <p:spPr>
          <a:xfrm>
            <a:off x="-6985" y="1136650"/>
            <a:ext cx="12198985" cy="4584700"/>
          </a:xfrm>
          <a:prstGeom prst="rect">
            <a:avLst/>
          </a:prstGeom>
        </p:spPr>
      </p:pic>
      <p:sp>
        <p:nvSpPr>
          <p:cNvPr id="18" name="矩形 17"/>
          <p:cNvSpPr/>
          <p:nvPr/>
        </p:nvSpPr>
        <p:spPr>
          <a:xfrm>
            <a:off x="8851900" y="1136650"/>
            <a:ext cx="2479675" cy="4584700"/>
          </a:xfrm>
          <a:prstGeom prst="rect">
            <a:avLst/>
          </a:prstGeom>
          <a:solidFill>
            <a:srgbClr val="0070C0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/>
            <a:endParaRPr lang="zh-CN" altLang="en-US" noProof="1"/>
          </a:p>
        </p:txBody>
      </p:sp>
      <p:sp>
        <p:nvSpPr>
          <p:cNvPr id="6" name="文本框 5"/>
          <p:cNvSpPr txBox="1">
            <a:spLocks noChangeArrowheads="1"/>
          </p:cNvSpPr>
          <p:nvPr/>
        </p:nvSpPr>
        <p:spPr bwMode="auto">
          <a:xfrm>
            <a:off x="8905875" y="1818640"/>
            <a:ext cx="1776413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altLang="zh-CN" sz="28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Part.04</a:t>
            </a:r>
          </a:p>
        </p:txBody>
      </p:sp>
      <p:cxnSp>
        <p:nvCxnSpPr>
          <p:cNvPr id="7" name="直接连接符 6"/>
          <p:cNvCxnSpPr/>
          <p:nvPr/>
        </p:nvCxnSpPr>
        <p:spPr>
          <a:xfrm>
            <a:off x="9029700" y="2383790"/>
            <a:ext cx="1225550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框 7"/>
          <p:cNvSpPr txBox="1">
            <a:spLocks noChangeArrowheads="1"/>
          </p:cNvSpPr>
          <p:nvPr/>
        </p:nvSpPr>
        <p:spPr bwMode="auto">
          <a:xfrm>
            <a:off x="8927783" y="3137853"/>
            <a:ext cx="2327275" cy="8299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/>
            <a:r>
              <a:rPr lang="zh-CN" altLang="en-US" sz="4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心得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>
            <a:spLocks noChangeArrowheads="1"/>
          </p:cNvSpPr>
          <p:nvPr/>
        </p:nvSpPr>
        <p:spPr bwMode="auto">
          <a:xfrm>
            <a:off x="5284729" y="285750"/>
            <a:ext cx="1620958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algn="ctr">
              <a:buClrTx/>
              <a:buSzTx/>
              <a:buFontTx/>
            </a:pPr>
            <a:r>
              <a:rPr lang="zh-CN" altLang="en-US" sz="28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心得体会</a:t>
            </a:r>
          </a:p>
        </p:txBody>
      </p:sp>
      <p:grpSp>
        <p:nvGrpSpPr>
          <p:cNvPr id="5" name="组合 4"/>
          <p:cNvGrpSpPr/>
          <p:nvPr/>
        </p:nvGrpSpPr>
        <p:grpSpPr bwMode="auto">
          <a:xfrm>
            <a:off x="3748405" y="952818"/>
            <a:ext cx="4673600" cy="231775"/>
            <a:chOff x="3399949" y="4067540"/>
            <a:chExt cx="5392103" cy="267784"/>
          </a:xfrm>
        </p:grpSpPr>
        <p:sp>
          <p:nvSpPr>
            <p:cNvPr id="35" name="任意多边形 34"/>
            <p:cNvSpPr/>
            <p:nvPr/>
          </p:nvSpPr>
          <p:spPr>
            <a:xfrm>
              <a:off x="6026401" y="4067540"/>
              <a:ext cx="139198" cy="267784"/>
            </a:xfrm>
            <a:custGeom>
              <a:avLst/>
              <a:gdLst>
                <a:gd name="connsiteX0" fmla="*/ 69402 w 138804"/>
                <a:gd name="connsiteY0" fmla="*/ 0 h 267784"/>
                <a:gd name="connsiteX1" fmla="*/ 138804 w 138804"/>
                <a:gd name="connsiteY1" fmla="*/ 78286 h 267784"/>
                <a:gd name="connsiteX2" fmla="*/ 69402 w 138804"/>
                <a:gd name="connsiteY2" fmla="*/ 267784 h 267784"/>
                <a:gd name="connsiteX3" fmla="*/ 0 w 138804"/>
                <a:gd name="connsiteY3" fmla="*/ 78286 h 2677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8804" h="267784">
                  <a:moveTo>
                    <a:pt x="69402" y="0"/>
                  </a:moveTo>
                  <a:lnTo>
                    <a:pt x="138804" y="78286"/>
                  </a:lnTo>
                  <a:lnTo>
                    <a:pt x="69402" y="267784"/>
                  </a:lnTo>
                  <a:lnTo>
                    <a:pt x="0" y="78286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/>
              <a:endParaRPr lang="zh-CN" altLang="en-US" noProof="1">
                <a:cs typeface="+mn-ea"/>
                <a:sym typeface="+mn-lt"/>
              </a:endParaRPr>
            </a:p>
          </p:txBody>
        </p:sp>
        <p:grpSp>
          <p:nvGrpSpPr>
            <p:cNvPr id="8220" name="组合 35"/>
            <p:cNvGrpSpPr/>
            <p:nvPr/>
          </p:nvGrpSpPr>
          <p:grpSpPr bwMode="auto">
            <a:xfrm>
              <a:off x="3399949" y="4149586"/>
              <a:ext cx="5392103" cy="0"/>
              <a:chOff x="3394710" y="4250530"/>
              <a:chExt cx="5392103" cy="0"/>
            </a:xfrm>
          </p:grpSpPr>
          <p:cxnSp>
            <p:nvCxnSpPr>
              <p:cNvPr id="37" name="直接连接符 36"/>
              <p:cNvCxnSpPr/>
              <p:nvPr/>
            </p:nvCxnSpPr>
            <p:spPr>
              <a:xfrm>
                <a:off x="6266591" y="4250954"/>
                <a:ext cx="2520222" cy="0"/>
              </a:xfrm>
              <a:prstGeom prst="line">
                <a:avLst/>
              </a:prstGeom>
              <a:ln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直接连接符 37"/>
              <p:cNvCxnSpPr/>
              <p:nvPr/>
            </p:nvCxnSpPr>
            <p:spPr>
              <a:xfrm>
                <a:off x="3394710" y="4250954"/>
                <a:ext cx="2520222" cy="0"/>
              </a:xfrm>
              <a:prstGeom prst="line">
                <a:avLst/>
              </a:prstGeom>
              <a:ln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" name="文本框 1">
            <a:extLst>
              <a:ext uri="{FF2B5EF4-FFF2-40B4-BE49-F238E27FC236}">
                <a16:creationId xmlns:a16="http://schemas.microsoft.com/office/drawing/2014/main" id="{C02DDA07-45F4-4676-AE35-D5952136441D}"/>
              </a:ext>
            </a:extLst>
          </p:cNvPr>
          <p:cNvSpPr txBox="1"/>
          <p:nvPr/>
        </p:nvSpPr>
        <p:spPr>
          <a:xfrm>
            <a:off x="2127566" y="2086948"/>
            <a:ext cx="71497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1.</a:t>
            </a:r>
            <a:r>
              <a:rPr lang="zh-CN" altLang="en-US" dirty="0"/>
              <a:t>完整的体验了从数据集获取，到算法处理，再到应用的大数据流程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5FD4BB56-147B-4AA4-BFDB-B86900CA00C2}"/>
              </a:ext>
            </a:extLst>
          </p:cNvPr>
          <p:cNvSpPr txBox="1"/>
          <p:nvPr/>
        </p:nvSpPr>
        <p:spPr>
          <a:xfrm>
            <a:off x="2127566" y="3859303"/>
            <a:ext cx="69913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2.</a:t>
            </a:r>
            <a:r>
              <a:rPr lang="zh-CN" altLang="en-US" dirty="0"/>
              <a:t>了解了各种常规算法以及深度学习算法到分布式版本的转化途径</a:t>
            </a:r>
          </a:p>
        </p:txBody>
      </p:sp>
      <p:grpSp>
        <p:nvGrpSpPr>
          <p:cNvPr id="34" name="组合 33">
            <a:extLst>
              <a:ext uri="{FF2B5EF4-FFF2-40B4-BE49-F238E27FC236}">
                <a16:creationId xmlns:a16="http://schemas.microsoft.com/office/drawing/2014/main" id="{6BE7F0C3-A5BB-419F-8481-F29DBDDAF752}"/>
              </a:ext>
            </a:extLst>
          </p:cNvPr>
          <p:cNvGrpSpPr/>
          <p:nvPr/>
        </p:nvGrpSpPr>
        <p:grpSpPr>
          <a:xfrm>
            <a:off x="688022" y="1328441"/>
            <a:ext cx="10794365" cy="1517015"/>
            <a:chOff x="1316" y="1382"/>
            <a:chExt cx="16999" cy="2389"/>
          </a:xfrm>
        </p:grpSpPr>
        <p:sp>
          <p:nvSpPr>
            <p:cNvPr id="39" name="Freeform 7">
              <a:extLst>
                <a:ext uri="{FF2B5EF4-FFF2-40B4-BE49-F238E27FC236}">
                  <a16:creationId xmlns:a16="http://schemas.microsoft.com/office/drawing/2014/main" id="{2BB497D1-5BDD-4AE4-9EB9-3EACCA9470F2}"/>
                </a:ext>
              </a:extLst>
            </p:cNvPr>
            <p:cNvSpPr/>
            <p:nvPr/>
          </p:nvSpPr>
          <p:spPr>
            <a:xfrm>
              <a:off x="1316" y="1382"/>
              <a:ext cx="16991" cy="2389"/>
            </a:xfrm>
            <a:prstGeom prst="round2SameRect">
              <a:avLst/>
            </a:prstGeom>
            <a:solidFill>
              <a:srgbClr val="FFFFFF">
                <a:alpha val="0"/>
              </a:srgbClr>
            </a:solidFill>
            <a:ln w="28575" cmpd="sng">
              <a:solidFill>
                <a:srgbClr val="5B9BD5"/>
              </a:solidFill>
              <a:prstDash val="solid"/>
              <a:miter/>
            </a:ln>
          </p:spPr>
          <p:txBody>
            <a:bodyPr lIns="133945" rIns="133945" rtlCol="0" anchor="ctr"/>
            <a:lstStyle/>
            <a:p>
              <a:pPr algn="l"/>
              <a:endParaRPr lang="en-US" sz="1160"/>
            </a:p>
          </p:txBody>
        </p:sp>
        <p:sp>
          <p:nvSpPr>
            <p:cNvPr id="40" name="圆角矩形 1">
              <a:extLst>
                <a:ext uri="{FF2B5EF4-FFF2-40B4-BE49-F238E27FC236}">
                  <a16:creationId xmlns:a16="http://schemas.microsoft.com/office/drawing/2014/main" id="{1B578154-B0C3-4412-85C4-CD3E8FFC3F3B}"/>
                </a:ext>
              </a:extLst>
            </p:cNvPr>
            <p:cNvSpPr/>
            <p:nvPr/>
          </p:nvSpPr>
          <p:spPr>
            <a:xfrm>
              <a:off x="1316" y="1382"/>
              <a:ext cx="16999" cy="641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41" name="组合 40">
            <a:extLst>
              <a:ext uri="{FF2B5EF4-FFF2-40B4-BE49-F238E27FC236}">
                <a16:creationId xmlns:a16="http://schemas.microsoft.com/office/drawing/2014/main" id="{20C987EA-9394-4148-8310-7B432AF3B52E}"/>
              </a:ext>
            </a:extLst>
          </p:cNvPr>
          <p:cNvGrpSpPr/>
          <p:nvPr/>
        </p:nvGrpSpPr>
        <p:grpSpPr>
          <a:xfrm>
            <a:off x="677862" y="5055235"/>
            <a:ext cx="10794365" cy="1517015"/>
            <a:chOff x="1316" y="1382"/>
            <a:chExt cx="16999" cy="2389"/>
          </a:xfrm>
        </p:grpSpPr>
        <p:sp>
          <p:nvSpPr>
            <p:cNvPr id="42" name="Freeform 7">
              <a:extLst>
                <a:ext uri="{FF2B5EF4-FFF2-40B4-BE49-F238E27FC236}">
                  <a16:creationId xmlns:a16="http://schemas.microsoft.com/office/drawing/2014/main" id="{D3E514A3-9A6A-461E-B6D7-E9A1BF121022}"/>
                </a:ext>
              </a:extLst>
            </p:cNvPr>
            <p:cNvSpPr/>
            <p:nvPr/>
          </p:nvSpPr>
          <p:spPr>
            <a:xfrm>
              <a:off x="1316" y="1382"/>
              <a:ext cx="16991" cy="2389"/>
            </a:xfrm>
            <a:prstGeom prst="round2SameRect">
              <a:avLst/>
            </a:prstGeom>
            <a:solidFill>
              <a:srgbClr val="FFFFFF">
                <a:alpha val="0"/>
              </a:srgbClr>
            </a:solidFill>
            <a:ln w="28575" cmpd="sng">
              <a:solidFill>
                <a:srgbClr val="5B9BD5"/>
              </a:solidFill>
              <a:prstDash val="solid"/>
              <a:miter/>
            </a:ln>
          </p:spPr>
          <p:txBody>
            <a:bodyPr lIns="133945" rIns="133945" rtlCol="0" anchor="ctr"/>
            <a:lstStyle/>
            <a:p>
              <a:pPr algn="l"/>
              <a:endParaRPr lang="en-US" sz="1160"/>
            </a:p>
          </p:txBody>
        </p:sp>
        <p:sp>
          <p:nvSpPr>
            <p:cNvPr id="43" name="圆角矩形 1">
              <a:extLst>
                <a:ext uri="{FF2B5EF4-FFF2-40B4-BE49-F238E27FC236}">
                  <a16:creationId xmlns:a16="http://schemas.microsoft.com/office/drawing/2014/main" id="{C0874FE6-796E-4EE8-A0D0-A29FC20160F0}"/>
                </a:ext>
              </a:extLst>
            </p:cNvPr>
            <p:cNvSpPr/>
            <p:nvPr/>
          </p:nvSpPr>
          <p:spPr>
            <a:xfrm>
              <a:off x="1316" y="1382"/>
              <a:ext cx="16999" cy="641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44" name="组合 43">
            <a:extLst>
              <a:ext uri="{FF2B5EF4-FFF2-40B4-BE49-F238E27FC236}">
                <a16:creationId xmlns:a16="http://schemas.microsoft.com/office/drawing/2014/main" id="{63474B4D-70B3-41EC-8EE9-A6019ED4DF35}"/>
              </a:ext>
            </a:extLst>
          </p:cNvPr>
          <p:cNvGrpSpPr/>
          <p:nvPr/>
        </p:nvGrpSpPr>
        <p:grpSpPr>
          <a:xfrm>
            <a:off x="677862" y="3169046"/>
            <a:ext cx="10794365" cy="1517015"/>
            <a:chOff x="1316" y="1382"/>
            <a:chExt cx="16999" cy="2389"/>
          </a:xfrm>
        </p:grpSpPr>
        <p:sp>
          <p:nvSpPr>
            <p:cNvPr id="45" name="Freeform 7">
              <a:extLst>
                <a:ext uri="{FF2B5EF4-FFF2-40B4-BE49-F238E27FC236}">
                  <a16:creationId xmlns:a16="http://schemas.microsoft.com/office/drawing/2014/main" id="{0742B8FF-E6F7-480C-B95E-AFF62F336B3E}"/>
                </a:ext>
              </a:extLst>
            </p:cNvPr>
            <p:cNvSpPr/>
            <p:nvPr/>
          </p:nvSpPr>
          <p:spPr>
            <a:xfrm>
              <a:off x="1316" y="1382"/>
              <a:ext cx="16991" cy="2389"/>
            </a:xfrm>
            <a:prstGeom prst="round2SameRect">
              <a:avLst/>
            </a:prstGeom>
            <a:solidFill>
              <a:srgbClr val="FFFFFF">
                <a:alpha val="0"/>
              </a:srgbClr>
            </a:solidFill>
            <a:ln w="28575" cmpd="sng">
              <a:solidFill>
                <a:srgbClr val="5B9BD5"/>
              </a:solidFill>
              <a:prstDash val="solid"/>
              <a:miter/>
            </a:ln>
          </p:spPr>
          <p:txBody>
            <a:bodyPr lIns="133945" rIns="133945" rtlCol="0" anchor="ctr"/>
            <a:lstStyle/>
            <a:p>
              <a:pPr algn="l"/>
              <a:endParaRPr lang="en-US" sz="1160" dirty="0"/>
            </a:p>
          </p:txBody>
        </p:sp>
        <p:sp>
          <p:nvSpPr>
            <p:cNvPr id="46" name="圆角矩形 1">
              <a:extLst>
                <a:ext uri="{FF2B5EF4-FFF2-40B4-BE49-F238E27FC236}">
                  <a16:creationId xmlns:a16="http://schemas.microsoft.com/office/drawing/2014/main" id="{9AD33EBC-242B-47CD-B86E-11C5869E4315}"/>
                </a:ext>
              </a:extLst>
            </p:cNvPr>
            <p:cNvSpPr/>
            <p:nvPr/>
          </p:nvSpPr>
          <p:spPr>
            <a:xfrm>
              <a:off x="1316" y="1382"/>
              <a:ext cx="16999" cy="641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180435E-43A7-48F4-8E53-A68184D270A6}"/>
              </a:ext>
            </a:extLst>
          </p:cNvPr>
          <p:cNvSpPr txBox="1"/>
          <p:nvPr/>
        </p:nvSpPr>
        <p:spPr>
          <a:xfrm>
            <a:off x="2127566" y="5833744"/>
            <a:ext cx="71497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3.</a:t>
            </a:r>
            <a:r>
              <a:rPr lang="zh-CN" altLang="en-US" dirty="0"/>
              <a:t>在与挖矿病毒的斗智斗勇中学习了</a:t>
            </a:r>
            <a:r>
              <a:rPr lang="en-US" altLang="zh-CN" dirty="0" err="1"/>
              <a:t>linux</a:t>
            </a:r>
            <a:r>
              <a:rPr lang="zh-CN" altLang="en-US" dirty="0"/>
              <a:t>服务器的运维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/>
          <p:cNvGrpSpPr/>
          <p:nvPr/>
        </p:nvGrpSpPr>
        <p:grpSpPr bwMode="auto">
          <a:xfrm>
            <a:off x="3684588" y="5656263"/>
            <a:ext cx="4841875" cy="266700"/>
            <a:chOff x="3674825" y="4038512"/>
            <a:chExt cx="4842351" cy="267784"/>
          </a:xfrm>
        </p:grpSpPr>
        <p:sp>
          <p:nvSpPr>
            <p:cNvPr id="21" name="任意多边形 20"/>
            <p:cNvSpPr/>
            <p:nvPr/>
          </p:nvSpPr>
          <p:spPr>
            <a:xfrm>
              <a:off x="6026143" y="4038512"/>
              <a:ext cx="139714" cy="267784"/>
            </a:xfrm>
            <a:custGeom>
              <a:avLst/>
              <a:gdLst>
                <a:gd name="connsiteX0" fmla="*/ 69402 w 138804"/>
                <a:gd name="connsiteY0" fmla="*/ 0 h 267784"/>
                <a:gd name="connsiteX1" fmla="*/ 138804 w 138804"/>
                <a:gd name="connsiteY1" fmla="*/ 78286 h 267784"/>
                <a:gd name="connsiteX2" fmla="*/ 69402 w 138804"/>
                <a:gd name="connsiteY2" fmla="*/ 267784 h 267784"/>
                <a:gd name="connsiteX3" fmla="*/ 0 w 138804"/>
                <a:gd name="connsiteY3" fmla="*/ 78286 h 2677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8804" h="267784">
                  <a:moveTo>
                    <a:pt x="69402" y="0"/>
                  </a:moveTo>
                  <a:lnTo>
                    <a:pt x="138804" y="78286"/>
                  </a:lnTo>
                  <a:lnTo>
                    <a:pt x="69402" y="267784"/>
                  </a:lnTo>
                  <a:lnTo>
                    <a:pt x="0" y="7828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/>
              <a:endParaRPr lang="zh-CN" altLang="en-US" noProof="1">
                <a:cs typeface="+mn-ea"/>
                <a:sym typeface="+mn-lt"/>
              </a:endParaRPr>
            </a:p>
          </p:txBody>
        </p:sp>
        <p:grpSp>
          <p:nvGrpSpPr>
            <p:cNvPr id="29701" name="组合 22"/>
            <p:cNvGrpSpPr/>
            <p:nvPr/>
          </p:nvGrpSpPr>
          <p:grpSpPr bwMode="auto">
            <a:xfrm flipV="1">
              <a:off x="3674825" y="4074839"/>
              <a:ext cx="4842351" cy="45719"/>
              <a:chOff x="3394710" y="4250530"/>
              <a:chExt cx="5392103" cy="0"/>
            </a:xfrm>
          </p:grpSpPr>
          <p:cxnSp>
            <p:nvCxnSpPr>
              <p:cNvPr id="19" name="直接连接符 18"/>
              <p:cNvCxnSpPr/>
              <p:nvPr/>
            </p:nvCxnSpPr>
            <p:spPr>
              <a:xfrm>
                <a:off x="6267551" y="4295732"/>
                <a:ext cx="2519262" cy="0"/>
              </a:xfrm>
              <a:prstGeom prst="line">
                <a:avLst/>
              </a:prstGeom>
              <a:ln w="1270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直接连接符 21"/>
              <p:cNvCxnSpPr/>
              <p:nvPr/>
            </p:nvCxnSpPr>
            <p:spPr>
              <a:xfrm>
                <a:off x="3394710" y="4295732"/>
                <a:ext cx="2519261" cy="0"/>
              </a:xfrm>
              <a:prstGeom prst="line">
                <a:avLst/>
              </a:prstGeom>
              <a:ln w="1270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pic>
        <p:nvPicPr>
          <p:cNvPr id="11" name="图片 10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>
            <a:lum bright="-18000" contrast="-18000"/>
          </a:blip>
          <a:stretch>
            <a:fillRect/>
          </a:stretch>
        </p:blipFill>
        <p:spPr>
          <a:xfrm>
            <a:off x="200660" y="222250"/>
            <a:ext cx="11790680" cy="6413500"/>
          </a:xfrm>
          <a:prstGeom prst="rect">
            <a:avLst/>
          </a:prstGeom>
        </p:spPr>
      </p:pic>
      <p:sp>
        <p:nvSpPr>
          <p:cNvPr id="12" name="矩形 11"/>
          <p:cNvSpPr/>
          <p:nvPr/>
        </p:nvSpPr>
        <p:spPr>
          <a:xfrm>
            <a:off x="166370" y="189865"/>
            <a:ext cx="11878945" cy="6478905"/>
          </a:xfrm>
          <a:prstGeom prst="rect">
            <a:avLst/>
          </a:prstGeom>
          <a:solidFill>
            <a:schemeClr val="tx1">
              <a:lumMod val="95000"/>
              <a:lumOff val="5000"/>
              <a:alpha val="24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/>
          <p:cNvSpPr txBox="1">
            <a:spLocks noChangeArrowheads="1"/>
          </p:cNvSpPr>
          <p:nvPr/>
        </p:nvSpPr>
        <p:spPr bwMode="auto">
          <a:xfrm>
            <a:off x="2464435" y="3023870"/>
            <a:ext cx="7283450" cy="768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/>
            <a:r>
              <a:rPr lang="zh-CN" altLang="en-US" sz="44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感谢倾听，欢迎提问！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LACING_PICTURE_USER_VIEWPORT" val="{&quot;height&quot;:10100,&quot;width&quot;:18568}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307</Words>
  <Application>Microsoft Office PowerPoint</Application>
  <PresentationFormat>宽屏</PresentationFormat>
  <Paragraphs>64</Paragraphs>
  <Slides>15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23" baseType="lpstr">
      <vt:lpstr>等线</vt:lpstr>
      <vt:lpstr>等线 Light</vt:lpstr>
      <vt:lpstr>方正姚体</vt:lpstr>
      <vt:lpstr>微软雅黑</vt:lpstr>
      <vt:lpstr>Arial</vt:lpstr>
      <vt:lpstr>Arial Black</vt:lpstr>
      <vt:lpstr>Calibri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锐旗设计；https://9ppt.taobao.com</dc:title>
  <dc:creator/>
  <dc:description>锐旗设计；https://9ppt.taobao.com</dc:description>
  <cp:lastModifiedBy/>
  <cp:revision>17</cp:revision>
  <dcterms:created xsi:type="dcterms:W3CDTF">2017-10-19T03:01:00Z</dcterms:created>
  <dcterms:modified xsi:type="dcterms:W3CDTF">2020-11-30T11:29:50Z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2052-11.1.0.10132</vt:lpwstr>
  </property>
</Properties>
</file>